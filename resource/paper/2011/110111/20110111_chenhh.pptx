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Default Extension="vml" ContentType="application/vnd.openxmlformats-officedocument.vmlDrawing"/>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diagrams/colors2.xml" ContentType="application/vnd.openxmlformats-officedocument.drawingml.diagramColors+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Override PartName="/ppt/diagrams/quickStyle1.xml" ContentType="application/vnd.openxmlformats-officedocument.drawingml.diagramStyl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338" r:id="rId4"/>
    <p:sldId id="258" r:id="rId5"/>
    <p:sldId id="310" r:id="rId6"/>
    <p:sldId id="339" r:id="rId7"/>
    <p:sldId id="340" r:id="rId8"/>
    <p:sldId id="332" r:id="rId9"/>
    <p:sldId id="333" r:id="rId10"/>
    <p:sldId id="311" r:id="rId11"/>
    <p:sldId id="312" r:id="rId12"/>
    <p:sldId id="313" r:id="rId13"/>
    <p:sldId id="319" r:id="rId14"/>
    <p:sldId id="314" r:id="rId15"/>
    <p:sldId id="315" r:id="rId16"/>
    <p:sldId id="316" r:id="rId17"/>
    <p:sldId id="317" r:id="rId18"/>
    <p:sldId id="320" r:id="rId19"/>
    <p:sldId id="321" r:id="rId20"/>
    <p:sldId id="323" r:id="rId21"/>
    <p:sldId id="324" r:id="rId22"/>
    <p:sldId id="325" r:id="rId23"/>
    <p:sldId id="326" r:id="rId24"/>
    <p:sldId id="327" r:id="rId25"/>
    <p:sldId id="328" r:id="rId26"/>
    <p:sldId id="329" r:id="rId27"/>
    <p:sldId id="330" r:id="rId28"/>
    <p:sldId id="331" r:id="rId29"/>
    <p:sldId id="335" r:id="rId30"/>
    <p:sldId id="336" r:id="rId31"/>
    <p:sldId id="337" r:id="rId32"/>
    <p:sldId id="334" r:id="rId33"/>
    <p:sldId id="309" r:id="rId34"/>
    <p:sldId id="322" r:id="rId3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p:clrMru>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1E171933-4619-4E11-9A3F-F7608DF75F80}" styleName="中等深淺樣式 1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7292A2E-F333-43FB-9621-5CBBE7FDCDCB}" styleName="淺色樣式 2 - 輔色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D083AE6-46FA-4A59-8FB0-9F97EB10719F}" styleName="淺色樣式 3 - 輔色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2" d="100"/>
          <a:sy n="102" d="100"/>
        </p:scale>
        <p:origin x="-234"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1B81D9-77CF-4CBD-A58C-639332EA5EBE}"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zh-TW" altLang="en-US"/>
        </a:p>
      </dgm:t>
    </dgm:pt>
    <dgm:pt modelId="{72C8F22F-B680-46C7-8497-544E2267874B}">
      <dgm:prSet phldrT="[文字]"/>
      <dgm:spPr/>
      <dgm:t>
        <a:bodyPr/>
        <a:lstStyle/>
        <a:p>
          <a:r>
            <a:rPr lang="en-US" altLang="zh-TW" b="1" dirty="0" smtClean="0">
              <a:solidFill>
                <a:srgbClr val="002060"/>
              </a:solidFill>
              <a:latin typeface="Times New Roman" pitchFamily="18" charset="0"/>
              <a:cs typeface="Times New Roman" pitchFamily="18" charset="0"/>
            </a:rPr>
            <a:t>1</a:t>
          </a:r>
          <a:endParaRPr lang="zh-TW" altLang="en-US" b="1" dirty="0">
            <a:solidFill>
              <a:srgbClr val="002060"/>
            </a:solidFill>
            <a:latin typeface="Times New Roman" pitchFamily="18" charset="0"/>
            <a:cs typeface="Times New Roman" pitchFamily="18" charset="0"/>
          </a:endParaRPr>
        </a:p>
      </dgm:t>
    </dgm:pt>
    <dgm:pt modelId="{3120EDEA-01BB-4366-8049-F5A7F9A12E25}" type="parTrans" cxnId="{0AA63A50-7F17-4732-B292-B3938CCB0A73}">
      <dgm:prSet/>
      <dgm:spPr/>
      <dgm:t>
        <a:bodyPr/>
        <a:lstStyle/>
        <a:p>
          <a:endParaRPr lang="zh-TW" altLang="en-US"/>
        </a:p>
      </dgm:t>
    </dgm:pt>
    <dgm:pt modelId="{AA8A5317-919A-4E08-9057-731BEBB83751}" type="sibTrans" cxnId="{0AA63A50-7F17-4732-B292-B3938CCB0A73}">
      <dgm:prSet/>
      <dgm:spPr/>
      <dgm:t>
        <a:bodyPr/>
        <a:lstStyle/>
        <a:p>
          <a:endParaRPr lang="zh-TW" altLang="en-US"/>
        </a:p>
      </dgm:t>
    </dgm:pt>
    <dgm:pt modelId="{0995B7CE-432D-478E-86AF-CE1397EC7E4A}">
      <dgm:prSet phldrT="[文字]" custT="1"/>
      <dgm:spPr/>
      <dgm:t>
        <a:bodyPr/>
        <a:lstStyle/>
        <a:p>
          <a:r>
            <a:rPr lang="zh-TW" altLang="en-US" sz="1800" b="1" i="0" baseline="0" dirty="0" smtClean="0">
              <a:solidFill>
                <a:srgbClr val="FF0000"/>
              </a:solidFill>
              <a:latin typeface="微軟正黑體" pitchFamily="34" charset="-120"/>
              <a:ea typeface="微軟正黑體" pitchFamily="34" charset="-120"/>
            </a:rPr>
            <a:t>進行資料轉換</a:t>
          </a:r>
          <a:endParaRPr lang="zh-TW" altLang="en-US" sz="1800" b="1" i="0" baseline="0" dirty="0">
            <a:solidFill>
              <a:srgbClr val="FF0000"/>
            </a:solidFill>
            <a:latin typeface="微軟正黑體" pitchFamily="34" charset="-120"/>
            <a:ea typeface="微軟正黑體" pitchFamily="34" charset="-120"/>
          </a:endParaRPr>
        </a:p>
      </dgm:t>
    </dgm:pt>
    <dgm:pt modelId="{1541EE04-9847-4286-B8A5-A97B757E97B0}" type="parTrans" cxnId="{92B7DB6D-CEFD-4B6C-AB9C-5DA28570218E}">
      <dgm:prSet/>
      <dgm:spPr/>
      <dgm:t>
        <a:bodyPr/>
        <a:lstStyle/>
        <a:p>
          <a:endParaRPr lang="zh-TW" altLang="en-US"/>
        </a:p>
      </dgm:t>
    </dgm:pt>
    <dgm:pt modelId="{2C8F4D60-6E3F-4567-B054-A6A1A275F59A}" type="sibTrans" cxnId="{92B7DB6D-CEFD-4B6C-AB9C-5DA28570218E}">
      <dgm:prSet/>
      <dgm:spPr/>
      <dgm:t>
        <a:bodyPr/>
        <a:lstStyle/>
        <a:p>
          <a:endParaRPr lang="zh-TW" altLang="en-US"/>
        </a:p>
      </dgm:t>
    </dgm:pt>
    <dgm:pt modelId="{C3924DBC-2542-482D-84D9-967C0C60551D}">
      <dgm:prSet phldrT="[文字]" custT="1"/>
      <dgm:spPr/>
      <dgm:t>
        <a:bodyPr/>
        <a:lstStyle/>
        <a:p>
          <a:r>
            <a:rPr lang="zh-TW" altLang="en-US" sz="1800" b="0" i="0" baseline="0" dirty="0" smtClean="0">
              <a:latin typeface="微軟正黑體" pitchFamily="34" charset="-120"/>
              <a:ea typeface="微軟正黑體" pitchFamily="34" charset="-120"/>
            </a:rPr>
            <a:t>由於</a:t>
          </a:r>
          <a:r>
            <a:rPr lang="en-US" altLang="zh-TW" sz="1800" b="0" i="0" baseline="0" dirty="0" smtClean="0">
              <a:latin typeface="微軟正黑體" pitchFamily="34" charset="-120"/>
              <a:ea typeface="微軟正黑體" pitchFamily="34" charset="-120"/>
            </a:rPr>
            <a:t>RST</a:t>
          </a:r>
          <a:r>
            <a:rPr lang="zh-TW" altLang="en-US" sz="1800" b="0" i="0" baseline="0" dirty="0" smtClean="0">
              <a:latin typeface="微軟正黑體" pitchFamily="34" charset="-120"/>
              <a:ea typeface="微軟正黑體" pitchFamily="34" charset="-120"/>
            </a:rPr>
            <a:t>分析資料不拘泥形式，為了方便矩陣運算，則需將資料變數一律轉換成量化型式。</a:t>
          </a:r>
          <a:endParaRPr lang="zh-TW" altLang="en-US" sz="1800" b="0" i="0" baseline="0" dirty="0">
            <a:latin typeface="微軟正黑體" pitchFamily="34" charset="-120"/>
            <a:ea typeface="微軟正黑體" pitchFamily="34" charset="-120"/>
          </a:endParaRPr>
        </a:p>
      </dgm:t>
    </dgm:pt>
    <dgm:pt modelId="{7E705B74-071A-4FD8-8B00-BD9026429EFB}" type="parTrans" cxnId="{AB05C376-431C-4DD0-8167-0B2ECDFECDD1}">
      <dgm:prSet/>
      <dgm:spPr/>
      <dgm:t>
        <a:bodyPr/>
        <a:lstStyle/>
        <a:p>
          <a:endParaRPr lang="zh-TW" altLang="en-US"/>
        </a:p>
      </dgm:t>
    </dgm:pt>
    <dgm:pt modelId="{80EDCB24-C0F7-4562-BCFA-4B908239E1FE}" type="sibTrans" cxnId="{AB05C376-431C-4DD0-8167-0B2ECDFECDD1}">
      <dgm:prSet/>
      <dgm:spPr/>
      <dgm:t>
        <a:bodyPr/>
        <a:lstStyle/>
        <a:p>
          <a:endParaRPr lang="zh-TW" altLang="en-US"/>
        </a:p>
      </dgm:t>
    </dgm:pt>
    <dgm:pt modelId="{E96F919C-9AB4-4242-A608-49327262AD42}">
      <dgm:prSet phldrT="[文字]"/>
      <dgm:spPr/>
      <dgm:t>
        <a:bodyPr/>
        <a:lstStyle/>
        <a:p>
          <a:r>
            <a:rPr lang="en-US" altLang="zh-TW" b="1" dirty="0" smtClean="0">
              <a:solidFill>
                <a:srgbClr val="002060"/>
              </a:solidFill>
              <a:latin typeface="Times New Roman" pitchFamily="18" charset="0"/>
              <a:cs typeface="Times New Roman" pitchFamily="18" charset="0"/>
            </a:rPr>
            <a:t>2</a:t>
          </a:r>
          <a:endParaRPr lang="zh-TW" altLang="en-US" b="1" dirty="0">
            <a:solidFill>
              <a:srgbClr val="002060"/>
            </a:solidFill>
            <a:latin typeface="Times New Roman" pitchFamily="18" charset="0"/>
            <a:cs typeface="Times New Roman" pitchFamily="18" charset="0"/>
          </a:endParaRPr>
        </a:p>
      </dgm:t>
    </dgm:pt>
    <dgm:pt modelId="{362922C6-6961-4BB1-8449-C9F0EBF36EEB}" type="parTrans" cxnId="{F124DDFB-C693-4220-A691-38D7E12C08E0}">
      <dgm:prSet/>
      <dgm:spPr/>
      <dgm:t>
        <a:bodyPr/>
        <a:lstStyle/>
        <a:p>
          <a:endParaRPr lang="zh-TW" altLang="en-US"/>
        </a:p>
      </dgm:t>
    </dgm:pt>
    <dgm:pt modelId="{61CACA27-B6C9-4736-82FF-49E219D783B1}" type="sibTrans" cxnId="{F124DDFB-C693-4220-A691-38D7E12C08E0}">
      <dgm:prSet/>
      <dgm:spPr/>
      <dgm:t>
        <a:bodyPr/>
        <a:lstStyle/>
        <a:p>
          <a:endParaRPr lang="zh-TW" altLang="en-US"/>
        </a:p>
      </dgm:t>
    </dgm:pt>
    <dgm:pt modelId="{22069682-BDF9-4276-8B41-B7BD155641EB}">
      <dgm:prSet phldrT="[文字]"/>
      <dgm:spPr/>
      <dgm:t>
        <a:bodyPr/>
        <a:lstStyle/>
        <a:p>
          <a:r>
            <a:rPr lang="zh-TW" altLang="en-US" b="1" i="0" baseline="0" dirty="0" smtClean="0">
              <a:solidFill>
                <a:srgbClr val="FF0000"/>
              </a:solidFill>
              <a:latin typeface="微軟正黑體" pitchFamily="34" charset="-120"/>
              <a:ea typeface="微軟正黑體" pitchFamily="34" charset="-120"/>
            </a:rPr>
            <a:t>建立資訊系統 </a:t>
          </a:r>
          <a:r>
            <a:rPr lang="en-US" altLang="zh-TW" b="1" i="0" baseline="0" dirty="0" smtClean="0">
              <a:solidFill>
                <a:srgbClr val="FF0000"/>
              </a:solidFill>
              <a:latin typeface="微軟正黑體" pitchFamily="34" charset="-120"/>
              <a:ea typeface="微軟正黑體" pitchFamily="34" charset="-120"/>
            </a:rPr>
            <a:t>(</a:t>
          </a:r>
          <a:r>
            <a:rPr lang="en-US" altLang="zh-TW" b="1" i="1" baseline="0" dirty="0" smtClean="0">
              <a:solidFill>
                <a:srgbClr val="FF0000"/>
              </a:solidFill>
              <a:latin typeface="微軟正黑體" pitchFamily="34" charset="-120"/>
              <a:ea typeface="微軟正黑體" pitchFamily="34" charset="-120"/>
            </a:rPr>
            <a:t>Information System</a:t>
          </a:r>
          <a:r>
            <a:rPr lang="en-US" altLang="zh-TW" b="1" i="0" baseline="0" dirty="0" smtClean="0">
              <a:solidFill>
                <a:srgbClr val="FF0000"/>
              </a:solidFill>
              <a:latin typeface="微軟正黑體" pitchFamily="34" charset="-120"/>
              <a:ea typeface="微軟正黑體" pitchFamily="34" charset="-120"/>
            </a:rPr>
            <a:t>)</a:t>
          </a:r>
          <a:endParaRPr lang="zh-TW" altLang="en-US" b="1" i="0" baseline="0" dirty="0">
            <a:solidFill>
              <a:srgbClr val="FF0000"/>
            </a:solidFill>
            <a:latin typeface="微軟正黑體" pitchFamily="34" charset="-120"/>
            <a:ea typeface="微軟正黑體" pitchFamily="34" charset="-120"/>
          </a:endParaRPr>
        </a:p>
      </dgm:t>
    </dgm:pt>
    <dgm:pt modelId="{BC2FDEB6-6F27-4863-AB14-5BD9B7F51D98}" type="parTrans" cxnId="{0B9C72DD-9DDE-4289-A798-B7CEBBA18F92}">
      <dgm:prSet/>
      <dgm:spPr/>
      <dgm:t>
        <a:bodyPr/>
        <a:lstStyle/>
        <a:p>
          <a:endParaRPr lang="zh-TW" altLang="en-US"/>
        </a:p>
      </dgm:t>
    </dgm:pt>
    <dgm:pt modelId="{6E1AA707-6F23-4535-BE19-33DB3A380A6E}" type="sibTrans" cxnId="{0B9C72DD-9DDE-4289-A798-B7CEBBA18F92}">
      <dgm:prSet/>
      <dgm:spPr/>
      <dgm:t>
        <a:bodyPr/>
        <a:lstStyle/>
        <a:p>
          <a:endParaRPr lang="zh-TW" altLang="en-US"/>
        </a:p>
      </dgm:t>
    </dgm:pt>
    <dgm:pt modelId="{5BA12A84-19CD-4114-A345-963341F3B1B5}">
      <dgm:prSet phldrT="[文字]"/>
      <dgm:spPr/>
      <dgm:t>
        <a:bodyPr/>
        <a:lstStyle/>
        <a:p>
          <a:r>
            <a:rPr lang="zh-TW" altLang="en-US" b="0" i="0" baseline="0" dirty="0" smtClean="0">
              <a:latin typeface="微軟正黑體" pitchFamily="34" charset="-120"/>
              <a:ea typeface="微軟正黑體" pitchFamily="34" charset="-120"/>
            </a:rPr>
            <a:t>資訊系統是由所有欲分析的資料所組成的總表。</a:t>
          </a:r>
          <a:endParaRPr lang="zh-TW" altLang="en-US" b="0" i="0" baseline="0" dirty="0">
            <a:latin typeface="微軟正黑體" pitchFamily="34" charset="-120"/>
            <a:ea typeface="微軟正黑體" pitchFamily="34" charset="-120"/>
          </a:endParaRPr>
        </a:p>
      </dgm:t>
    </dgm:pt>
    <dgm:pt modelId="{A96E774D-A4D7-4249-A6CA-45D6B75677F0}" type="parTrans" cxnId="{64C4778C-66CB-454D-A6E9-95E18172E8DE}">
      <dgm:prSet/>
      <dgm:spPr/>
      <dgm:t>
        <a:bodyPr/>
        <a:lstStyle/>
        <a:p>
          <a:endParaRPr lang="zh-TW" altLang="en-US"/>
        </a:p>
      </dgm:t>
    </dgm:pt>
    <dgm:pt modelId="{82242824-B261-4976-812D-96A46F76D442}" type="sibTrans" cxnId="{64C4778C-66CB-454D-A6E9-95E18172E8DE}">
      <dgm:prSet/>
      <dgm:spPr/>
      <dgm:t>
        <a:bodyPr/>
        <a:lstStyle/>
        <a:p>
          <a:endParaRPr lang="zh-TW" altLang="en-US"/>
        </a:p>
      </dgm:t>
    </dgm:pt>
    <dgm:pt modelId="{572325EC-63CB-4173-AA1E-3656BE2F2AB3}">
      <dgm:prSet phldrT="[文字]"/>
      <dgm:spPr/>
      <dgm:t>
        <a:bodyPr/>
        <a:lstStyle/>
        <a:p>
          <a:r>
            <a:rPr lang="en-US" altLang="zh-TW" b="1" dirty="0" smtClean="0">
              <a:solidFill>
                <a:srgbClr val="002060"/>
              </a:solidFill>
              <a:latin typeface="Times New Roman" pitchFamily="18" charset="0"/>
              <a:cs typeface="Times New Roman" pitchFamily="18" charset="0"/>
            </a:rPr>
            <a:t>3</a:t>
          </a:r>
          <a:endParaRPr lang="zh-TW" altLang="en-US" b="1" dirty="0">
            <a:solidFill>
              <a:srgbClr val="002060"/>
            </a:solidFill>
            <a:latin typeface="Times New Roman" pitchFamily="18" charset="0"/>
            <a:cs typeface="Times New Roman" pitchFamily="18" charset="0"/>
          </a:endParaRPr>
        </a:p>
      </dgm:t>
    </dgm:pt>
    <dgm:pt modelId="{4C59E6F3-F36B-4648-ACE7-D596F5A77D5A}" type="parTrans" cxnId="{4643A2C9-D431-406D-83E2-2B3733C1FBDA}">
      <dgm:prSet/>
      <dgm:spPr/>
      <dgm:t>
        <a:bodyPr/>
        <a:lstStyle/>
        <a:p>
          <a:endParaRPr lang="zh-TW" altLang="en-US"/>
        </a:p>
      </dgm:t>
    </dgm:pt>
    <dgm:pt modelId="{35F6228C-9AF5-4E4B-97D4-16CEA4997EA7}" type="sibTrans" cxnId="{4643A2C9-D431-406D-83E2-2B3733C1FBDA}">
      <dgm:prSet/>
      <dgm:spPr/>
      <dgm:t>
        <a:bodyPr/>
        <a:lstStyle/>
        <a:p>
          <a:endParaRPr lang="zh-TW" altLang="en-US"/>
        </a:p>
      </dgm:t>
    </dgm:pt>
    <dgm:pt modelId="{EE7A4219-6937-41F6-AD6F-3F933E47FFE4}">
      <dgm:prSet phldrT="[文字]"/>
      <dgm:spPr/>
      <dgm:t>
        <a:bodyPr/>
        <a:lstStyle/>
        <a:p>
          <a:r>
            <a:rPr lang="zh-TW" altLang="en-US" b="1" i="0" baseline="0" dirty="0" smtClean="0">
              <a:solidFill>
                <a:srgbClr val="FF0000"/>
              </a:solidFill>
              <a:latin typeface="微軟正黑體" pitchFamily="34" charset="-120"/>
              <a:ea typeface="微軟正黑體" pitchFamily="34" charset="-120"/>
            </a:rPr>
            <a:t>找出不可區分關係 </a:t>
          </a:r>
          <a:r>
            <a:rPr lang="en-US" altLang="zh-TW" b="1" i="0" baseline="0" dirty="0" smtClean="0">
              <a:solidFill>
                <a:srgbClr val="FF0000"/>
              </a:solidFill>
              <a:latin typeface="微軟正黑體" pitchFamily="34" charset="-120"/>
              <a:ea typeface="微軟正黑體" pitchFamily="34" charset="-120"/>
            </a:rPr>
            <a:t>(</a:t>
          </a:r>
          <a:r>
            <a:rPr lang="en-US" altLang="zh-TW" b="1" i="1" baseline="0" dirty="0" err="1" smtClean="0">
              <a:solidFill>
                <a:srgbClr val="FF0000"/>
              </a:solidFill>
              <a:latin typeface="微軟正黑體" pitchFamily="34" charset="-120"/>
              <a:ea typeface="微軟正黑體" pitchFamily="34" charset="-120"/>
            </a:rPr>
            <a:t>Indiscernibility</a:t>
          </a:r>
          <a:r>
            <a:rPr lang="en-US" altLang="zh-TW" b="1" i="1" baseline="0" dirty="0" smtClean="0">
              <a:solidFill>
                <a:srgbClr val="FF0000"/>
              </a:solidFill>
              <a:latin typeface="微軟正黑體" pitchFamily="34" charset="-120"/>
              <a:ea typeface="微軟正黑體" pitchFamily="34" charset="-120"/>
            </a:rPr>
            <a:t> Relation</a:t>
          </a:r>
          <a:r>
            <a:rPr lang="en-US" altLang="zh-TW" b="1" i="0" baseline="0" dirty="0" smtClean="0">
              <a:solidFill>
                <a:srgbClr val="FF0000"/>
              </a:solidFill>
              <a:latin typeface="微軟正黑體" pitchFamily="34" charset="-120"/>
              <a:ea typeface="微軟正黑體" pitchFamily="34" charset="-120"/>
            </a:rPr>
            <a:t>)</a:t>
          </a:r>
          <a:endParaRPr lang="zh-TW" altLang="en-US" b="1" i="0" baseline="0" dirty="0">
            <a:solidFill>
              <a:srgbClr val="FF0000"/>
            </a:solidFill>
            <a:latin typeface="微軟正黑體" pitchFamily="34" charset="-120"/>
            <a:ea typeface="微軟正黑體" pitchFamily="34" charset="-120"/>
          </a:endParaRPr>
        </a:p>
      </dgm:t>
    </dgm:pt>
    <dgm:pt modelId="{13FF46F7-96B9-4CDA-8585-DC8F4DF96AE8}" type="parTrans" cxnId="{169153E9-C8CF-4AB1-9D7C-23D38F3CD9B8}">
      <dgm:prSet/>
      <dgm:spPr/>
      <dgm:t>
        <a:bodyPr/>
        <a:lstStyle/>
        <a:p>
          <a:endParaRPr lang="zh-TW" altLang="en-US"/>
        </a:p>
      </dgm:t>
    </dgm:pt>
    <dgm:pt modelId="{CE89E5B2-EB39-47FD-9842-F8D6D3EAF853}" type="sibTrans" cxnId="{169153E9-C8CF-4AB1-9D7C-23D38F3CD9B8}">
      <dgm:prSet/>
      <dgm:spPr/>
      <dgm:t>
        <a:bodyPr/>
        <a:lstStyle/>
        <a:p>
          <a:endParaRPr lang="zh-TW" altLang="en-US"/>
        </a:p>
      </dgm:t>
    </dgm:pt>
    <dgm:pt modelId="{6BCEAACC-7074-475C-8F47-0FFC5A96EF7F}">
      <dgm:prSet phldrT="[文字]"/>
      <dgm:spPr/>
      <dgm:t>
        <a:bodyPr/>
        <a:lstStyle/>
        <a:p>
          <a:r>
            <a:rPr lang="zh-TW" altLang="en-US" b="0" i="0" baseline="0" dirty="0" smtClean="0">
              <a:latin typeface="微軟正黑體" pitchFamily="34" charset="-120"/>
              <a:ea typeface="微軟正黑體" pitchFamily="34" charset="-120"/>
            </a:rPr>
            <a:t>以屬性刪減及尋找核心屬性，找出所有可能最小的屬性集。</a:t>
          </a:r>
          <a:endParaRPr lang="zh-TW" altLang="en-US" b="0" i="0" baseline="0" dirty="0">
            <a:latin typeface="微軟正黑體" pitchFamily="34" charset="-120"/>
            <a:ea typeface="微軟正黑體" pitchFamily="34" charset="-120"/>
          </a:endParaRPr>
        </a:p>
      </dgm:t>
    </dgm:pt>
    <dgm:pt modelId="{E5E4692E-F122-4C37-A2EC-C28F116ED9A8}" type="parTrans" cxnId="{B01811B5-9D1F-4CAA-97C6-C130C716F1C5}">
      <dgm:prSet/>
      <dgm:spPr/>
      <dgm:t>
        <a:bodyPr/>
        <a:lstStyle/>
        <a:p>
          <a:endParaRPr lang="zh-TW" altLang="en-US"/>
        </a:p>
      </dgm:t>
    </dgm:pt>
    <dgm:pt modelId="{A40128D1-B216-4A65-B4B5-22E4F5C5CF61}" type="sibTrans" cxnId="{B01811B5-9D1F-4CAA-97C6-C130C716F1C5}">
      <dgm:prSet/>
      <dgm:spPr/>
      <dgm:t>
        <a:bodyPr/>
        <a:lstStyle/>
        <a:p>
          <a:endParaRPr lang="zh-TW" altLang="en-US"/>
        </a:p>
      </dgm:t>
    </dgm:pt>
    <dgm:pt modelId="{B72D9A02-088C-4390-A965-EF4EFC259339}" type="pres">
      <dgm:prSet presAssocID="{561B81D9-77CF-4CBD-A58C-639332EA5EBE}" presName="linearFlow" presStyleCnt="0">
        <dgm:presLayoutVars>
          <dgm:dir/>
          <dgm:animLvl val="lvl"/>
          <dgm:resizeHandles val="exact"/>
        </dgm:presLayoutVars>
      </dgm:prSet>
      <dgm:spPr/>
      <dgm:t>
        <a:bodyPr/>
        <a:lstStyle/>
        <a:p>
          <a:endParaRPr lang="zh-TW" altLang="en-US"/>
        </a:p>
      </dgm:t>
    </dgm:pt>
    <dgm:pt modelId="{4B713C4B-1E31-4254-83C1-B95D832755E6}" type="pres">
      <dgm:prSet presAssocID="{72C8F22F-B680-46C7-8497-544E2267874B}" presName="composite" presStyleCnt="0"/>
      <dgm:spPr/>
    </dgm:pt>
    <dgm:pt modelId="{DBC54AD6-AAD4-44D8-B344-ABFD6C29C260}" type="pres">
      <dgm:prSet presAssocID="{72C8F22F-B680-46C7-8497-544E2267874B}" presName="parentText" presStyleLbl="alignNode1" presStyleIdx="0" presStyleCnt="3">
        <dgm:presLayoutVars>
          <dgm:chMax val="1"/>
          <dgm:bulletEnabled val="1"/>
        </dgm:presLayoutVars>
      </dgm:prSet>
      <dgm:spPr/>
      <dgm:t>
        <a:bodyPr/>
        <a:lstStyle/>
        <a:p>
          <a:endParaRPr lang="zh-TW" altLang="en-US"/>
        </a:p>
      </dgm:t>
    </dgm:pt>
    <dgm:pt modelId="{F5C9DC62-B25F-45A7-9449-3A5A9A1F3049}" type="pres">
      <dgm:prSet presAssocID="{72C8F22F-B680-46C7-8497-544E2267874B}" presName="descendantText" presStyleLbl="alignAcc1" presStyleIdx="0" presStyleCnt="3">
        <dgm:presLayoutVars>
          <dgm:bulletEnabled val="1"/>
        </dgm:presLayoutVars>
      </dgm:prSet>
      <dgm:spPr/>
      <dgm:t>
        <a:bodyPr/>
        <a:lstStyle/>
        <a:p>
          <a:endParaRPr lang="zh-TW" altLang="en-US"/>
        </a:p>
      </dgm:t>
    </dgm:pt>
    <dgm:pt modelId="{1822442D-9131-4A76-A9CC-7108C5B7BD56}" type="pres">
      <dgm:prSet presAssocID="{AA8A5317-919A-4E08-9057-731BEBB83751}" presName="sp" presStyleCnt="0"/>
      <dgm:spPr/>
    </dgm:pt>
    <dgm:pt modelId="{9DBB1112-A15A-468A-9295-950691451025}" type="pres">
      <dgm:prSet presAssocID="{E96F919C-9AB4-4242-A608-49327262AD42}" presName="composite" presStyleCnt="0"/>
      <dgm:spPr/>
    </dgm:pt>
    <dgm:pt modelId="{5EFA4FA4-033F-4851-85D6-DA907D0D4A3B}" type="pres">
      <dgm:prSet presAssocID="{E96F919C-9AB4-4242-A608-49327262AD42}" presName="parentText" presStyleLbl="alignNode1" presStyleIdx="1" presStyleCnt="3">
        <dgm:presLayoutVars>
          <dgm:chMax val="1"/>
          <dgm:bulletEnabled val="1"/>
        </dgm:presLayoutVars>
      </dgm:prSet>
      <dgm:spPr/>
      <dgm:t>
        <a:bodyPr/>
        <a:lstStyle/>
        <a:p>
          <a:endParaRPr lang="zh-TW" altLang="en-US"/>
        </a:p>
      </dgm:t>
    </dgm:pt>
    <dgm:pt modelId="{B085DFD7-06FF-4512-AE91-A5E02299DA91}" type="pres">
      <dgm:prSet presAssocID="{E96F919C-9AB4-4242-A608-49327262AD42}" presName="descendantText" presStyleLbl="alignAcc1" presStyleIdx="1" presStyleCnt="3">
        <dgm:presLayoutVars>
          <dgm:bulletEnabled val="1"/>
        </dgm:presLayoutVars>
      </dgm:prSet>
      <dgm:spPr/>
      <dgm:t>
        <a:bodyPr/>
        <a:lstStyle/>
        <a:p>
          <a:endParaRPr lang="zh-TW" altLang="en-US"/>
        </a:p>
      </dgm:t>
    </dgm:pt>
    <dgm:pt modelId="{94A62F0E-CD3F-418A-AC15-D187EB8E1490}" type="pres">
      <dgm:prSet presAssocID="{61CACA27-B6C9-4736-82FF-49E219D783B1}" presName="sp" presStyleCnt="0"/>
      <dgm:spPr/>
    </dgm:pt>
    <dgm:pt modelId="{CDDC730C-F342-4FC9-9562-AB193BB6EDFF}" type="pres">
      <dgm:prSet presAssocID="{572325EC-63CB-4173-AA1E-3656BE2F2AB3}" presName="composite" presStyleCnt="0"/>
      <dgm:spPr/>
    </dgm:pt>
    <dgm:pt modelId="{4E9D730D-5C9B-48B0-8A4F-5FDF5256DDB1}" type="pres">
      <dgm:prSet presAssocID="{572325EC-63CB-4173-AA1E-3656BE2F2AB3}" presName="parentText" presStyleLbl="alignNode1" presStyleIdx="2" presStyleCnt="3">
        <dgm:presLayoutVars>
          <dgm:chMax val="1"/>
          <dgm:bulletEnabled val="1"/>
        </dgm:presLayoutVars>
      </dgm:prSet>
      <dgm:spPr/>
      <dgm:t>
        <a:bodyPr/>
        <a:lstStyle/>
        <a:p>
          <a:endParaRPr lang="zh-TW" altLang="en-US"/>
        </a:p>
      </dgm:t>
    </dgm:pt>
    <dgm:pt modelId="{66C07835-2A1B-4E38-B5BD-7F7EA438BF3C}" type="pres">
      <dgm:prSet presAssocID="{572325EC-63CB-4173-AA1E-3656BE2F2AB3}" presName="descendantText" presStyleLbl="alignAcc1" presStyleIdx="2" presStyleCnt="3">
        <dgm:presLayoutVars>
          <dgm:bulletEnabled val="1"/>
        </dgm:presLayoutVars>
      </dgm:prSet>
      <dgm:spPr/>
      <dgm:t>
        <a:bodyPr/>
        <a:lstStyle/>
        <a:p>
          <a:endParaRPr lang="zh-TW" altLang="en-US"/>
        </a:p>
      </dgm:t>
    </dgm:pt>
  </dgm:ptLst>
  <dgm:cxnLst>
    <dgm:cxn modelId="{A38EC502-C8F7-484D-93FA-37F1F04D10EF}" type="presOf" srcId="{561B81D9-77CF-4CBD-A58C-639332EA5EBE}" destId="{B72D9A02-088C-4390-A965-EF4EFC259339}" srcOrd="0" destOrd="0" presId="urn:microsoft.com/office/officeart/2005/8/layout/chevron2"/>
    <dgm:cxn modelId="{9F7DF1B4-8CAA-41C4-9687-3EE7C13CE640}" type="presOf" srcId="{5BA12A84-19CD-4114-A345-963341F3B1B5}" destId="{B085DFD7-06FF-4512-AE91-A5E02299DA91}" srcOrd="0" destOrd="1" presId="urn:microsoft.com/office/officeart/2005/8/layout/chevron2"/>
    <dgm:cxn modelId="{4643A2C9-D431-406D-83E2-2B3733C1FBDA}" srcId="{561B81D9-77CF-4CBD-A58C-639332EA5EBE}" destId="{572325EC-63CB-4173-AA1E-3656BE2F2AB3}" srcOrd="2" destOrd="0" parTransId="{4C59E6F3-F36B-4648-ACE7-D596F5A77D5A}" sibTransId="{35F6228C-9AF5-4E4B-97D4-16CEA4997EA7}"/>
    <dgm:cxn modelId="{169153E9-C8CF-4AB1-9D7C-23D38F3CD9B8}" srcId="{572325EC-63CB-4173-AA1E-3656BE2F2AB3}" destId="{EE7A4219-6937-41F6-AD6F-3F933E47FFE4}" srcOrd="0" destOrd="0" parTransId="{13FF46F7-96B9-4CDA-8585-DC8F4DF96AE8}" sibTransId="{CE89E5B2-EB39-47FD-9842-F8D6D3EAF853}"/>
    <dgm:cxn modelId="{BD178832-DFD0-4242-A68E-F70796BD8ADA}" type="presOf" srcId="{C3924DBC-2542-482D-84D9-967C0C60551D}" destId="{F5C9DC62-B25F-45A7-9449-3A5A9A1F3049}" srcOrd="0" destOrd="1" presId="urn:microsoft.com/office/officeart/2005/8/layout/chevron2"/>
    <dgm:cxn modelId="{AB05C376-431C-4DD0-8167-0B2ECDFECDD1}" srcId="{72C8F22F-B680-46C7-8497-544E2267874B}" destId="{C3924DBC-2542-482D-84D9-967C0C60551D}" srcOrd="1" destOrd="0" parTransId="{7E705B74-071A-4FD8-8B00-BD9026429EFB}" sibTransId="{80EDCB24-C0F7-4562-BCFA-4B908239E1FE}"/>
    <dgm:cxn modelId="{92B7DB6D-CEFD-4B6C-AB9C-5DA28570218E}" srcId="{72C8F22F-B680-46C7-8497-544E2267874B}" destId="{0995B7CE-432D-478E-86AF-CE1397EC7E4A}" srcOrd="0" destOrd="0" parTransId="{1541EE04-9847-4286-B8A5-A97B757E97B0}" sibTransId="{2C8F4D60-6E3F-4567-B054-A6A1A275F59A}"/>
    <dgm:cxn modelId="{34CFCD5B-33BD-4730-B1BE-29CBC49B8BB8}" type="presOf" srcId="{E96F919C-9AB4-4242-A608-49327262AD42}" destId="{5EFA4FA4-033F-4851-85D6-DA907D0D4A3B}" srcOrd="0" destOrd="0" presId="urn:microsoft.com/office/officeart/2005/8/layout/chevron2"/>
    <dgm:cxn modelId="{28FBDEE1-EE98-401E-9450-FB30E8ED4FCF}" type="presOf" srcId="{572325EC-63CB-4173-AA1E-3656BE2F2AB3}" destId="{4E9D730D-5C9B-48B0-8A4F-5FDF5256DDB1}" srcOrd="0" destOrd="0" presId="urn:microsoft.com/office/officeart/2005/8/layout/chevron2"/>
    <dgm:cxn modelId="{AC1853BD-BFF9-4D0F-892E-711E023606BD}" type="presOf" srcId="{72C8F22F-B680-46C7-8497-544E2267874B}" destId="{DBC54AD6-AAD4-44D8-B344-ABFD6C29C260}" srcOrd="0" destOrd="0" presId="urn:microsoft.com/office/officeart/2005/8/layout/chevron2"/>
    <dgm:cxn modelId="{64C4778C-66CB-454D-A6E9-95E18172E8DE}" srcId="{E96F919C-9AB4-4242-A608-49327262AD42}" destId="{5BA12A84-19CD-4114-A345-963341F3B1B5}" srcOrd="1" destOrd="0" parTransId="{A96E774D-A4D7-4249-A6CA-45D6B75677F0}" sibTransId="{82242824-B261-4976-812D-96A46F76D442}"/>
    <dgm:cxn modelId="{5B473793-959F-4742-A359-6F1F60123E15}" type="presOf" srcId="{0995B7CE-432D-478E-86AF-CE1397EC7E4A}" destId="{F5C9DC62-B25F-45A7-9449-3A5A9A1F3049}" srcOrd="0" destOrd="0" presId="urn:microsoft.com/office/officeart/2005/8/layout/chevron2"/>
    <dgm:cxn modelId="{B01811B5-9D1F-4CAA-97C6-C130C716F1C5}" srcId="{572325EC-63CB-4173-AA1E-3656BE2F2AB3}" destId="{6BCEAACC-7074-475C-8F47-0FFC5A96EF7F}" srcOrd="1" destOrd="0" parTransId="{E5E4692E-F122-4C37-A2EC-C28F116ED9A8}" sibTransId="{A40128D1-B216-4A65-B4B5-22E4F5C5CF61}"/>
    <dgm:cxn modelId="{9CBCC492-176C-4BA5-B34B-91B670031FD8}" type="presOf" srcId="{6BCEAACC-7074-475C-8F47-0FFC5A96EF7F}" destId="{66C07835-2A1B-4E38-B5BD-7F7EA438BF3C}" srcOrd="0" destOrd="1" presId="urn:microsoft.com/office/officeart/2005/8/layout/chevron2"/>
    <dgm:cxn modelId="{0F8ACCBE-1CF2-47C9-B7C5-8FAFAF69FE4A}" type="presOf" srcId="{22069682-BDF9-4276-8B41-B7BD155641EB}" destId="{B085DFD7-06FF-4512-AE91-A5E02299DA91}" srcOrd="0" destOrd="0" presId="urn:microsoft.com/office/officeart/2005/8/layout/chevron2"/>
    <dgm:cxn modelId="{0AA63A50-7F17-4732-B292-B3938CCB0A73}" srcId="{561B81D9-77CF-4CBD-A58C-639332EA5EBE}" destId="{72C8F22F-B680-46C7-8497-544E2267874B}" srcOrd="0" destOrd="0" parTransId="{3120EDEA-01BB-4366-8049-F5A7F9A12E25}" sibTransId="{AA8A5317-919A-4E08-9057-731BEBB83751}"/>
    <dgm:cxn modelId="{F124DDFB-C693-4220-A691-38D7E12C08E0}" srcId="{561B81D9-77CF-4CBD-A58C-639332EA5EBE}" destId="{E96F919C-9AB4-4242-A608-49327262AD42}" srcOrd="1" destOrd="0" parTransId="{362922C6-6961-4BB1-8449-C9F0EBF36EEB}" sibTransId="{61CACA27-B6C9-4736-82FF-49E219D783B1}"/>
    <dgm:cxn modelId="{C35DB94F-2DDE-4B7C-85F9-2DC001B37BAB}" type="presOf" srcId="{EE7A4219-6937-41F6-AD6F-3F933E47FFE4}" destId="{66C07835-2A1B-4E38-B5BD-7F7EA438BF3C}" srcOrd="0" destOrd="0" presId="urn:microsoft.com/office/officeart/2005/8/layout/chevron2"/>
    <dgm:cxn modelId="{0B9C72DD-9DDE-4289-A798-B7CEBBA18F92}" srcId="{E96F919C-9AB4-4242-A608-49327262AD42}" destId="{22069682-BDF9-4276-8B41-B7BD155641EB}" srcOrd="0" destOrd="0" parTransId="{BC2FDEB6-6F27-4863-AB14-5BD9B7F51D98}" sibTransId="{6E1AA707-6F23-4535-BE19-33DB3A380A6E}"/>
    <dgm:cxn modelId="{C97DADBB-8182-4BC8-8E7A-7EC61276D0D4}" type="presParOf" srcId="{B72D9A02-088C-4390-A965-EF4EFC259339}" destId="{4B713C4B-1E31-4254-83C1-B95D832755E6}" srcOrd="0" destOrd="0" presId="urn:microsoft.com/office/officeart/2005/8/layout/chevron2"/>
    <dgm:cxn modelId="{6CB64053-555F-4AE9-959B-059A7D10F738}" type="presParOf" srcId="{4B713C4B-1E31-4254-83C1-B95D832755E6}" destId="{DBC54AD6-AAD4-44D8-B344-ABFD6C29C260}" srcOrd="0" destOrd="0" presId="urn:microsoft.com/office/officeart/2005/8/layout/chevron2"/>
    <dgm:cxn modelId="{9E3E9199-0961-4D84-8E8D-84FC0805B4DB}" type="presParOf" srcId="{4B713C4B-1E31-4254-83C1-B95D832755E6}" destId="{F5C9DC62-B25F-45A7-9449-3A5A9A1F3049}" srcOrd="1" destOrd="0" presId="urn:microsoft.com/office/officeart/2005/8/layout/chevron2"/>
    <dgm:cxn modelId="{0749032D-835E-45C6-BCEE-638FD671AE7A}" type="presParOf" srcId="{B72D9A02-088C-4390-A965-EF4EFC259339}" destId="{1822442D-9131-4A76-A9CC-7108C5B7BD56}" srcOrd="1" destOrd="0" presId="urn:microsoft.com/office/officeart/2005/8/layout/chevron2"/>
    <dgm:cxn modelId="{125F5620-3155-4EE3-9740-896D1FCFF708}" type="presParOf" srcId="{B72D9A02-088C-4390-A965-EF4EFC259339}" destId="{9DBB1112-A15A-468A-9295-950691451025}" srcOrd="2" destOrd="0" presId="urn:microsoft.com/office/officeart/2005/8/layout/chevron2"/>
    <dgm:cxn modelId="{AE526929-CD64-4DFE-AAAE-0BCB85C77EE9}" type="presParOf" srcId="{9DBB1112-A15A-468A-9295-950691451025}" destId="{5EFA4FA4-033F-4851-85D6-DA907D0D4A3B}" srcOrd="0" destOrd="0" presId="urn:microsoft.com/office/officeart/2005/8/layout/chevron2"/>
    <dgm:cxn modelId="{7D41249E-3740-4150-ADE3-912105EAAFA4}" type="presParOf" srcId="{9DBB1112-A15A-468A-9295-950691451025}" destId="{B085DFD7-06FF-4512-AE91-A5E02299DA91}" srcOrd="1" destOrd="0" presId="urn:microsoft.com/office/officeart/2005/8/layout/chevron2"/>
    <dgm:cxn modelId="{DCE32025-36F8-4BAD-BFEE-F3B9A0F35AA3}" type="presParOf" srcId="{B72D9A02-088C-4390-A965-EF4EFC259339}" destId="{94A62F0E-CD3F-418A-AC15-D187EB8E1490}" srcOrd="3" destOrd="0" presId="urn:microsoft.com/office/officeart/2005/8/layout/chevron2"/>
    <dgm:cxn modelId="{6B9C14C2-A87E-4C03-9936-82590C6F0D70}" type="presParOf" srcId="{B72D9A02-088C-4390-A965-EF4EFC259339}" destId="{CDDC730C-F342-4FC9-9562-AB193BB6EDFF}" srcOrd="4" destOrd="0" presId="urn:microsoft.com/office/officeart/2005/8/layout/chevron2"/>
    <dgm:cxn modelId="{4E934C72-2E78-4E86-9EFF-A9BC7D09F8EB}" type="presParOf" srcId="{CDDC730C-F342-4FC9-9562-AB193BB6EDFF}" destId="{4E9D730D-5C9B-48B0-8A4F-5FDF5256DDB1}" srcOrd="0" destOrd="0" presId="urn:microsoft.com/office/officeart/2005/8/layout/chevron2"/>
    <dgm:cxn modelId="{2E5CCCDF-2978-43BB-9696-46F1C643AB5C}" type="presParOf" srcId="{CDDC730C-F342-4FC9-9562-AB193BB6EDFF}" destId="{66C07835-2A1B-4E38-B5BD-7F7EA438BF3C}" srcOrd="1" destOrd="0" presId="urn:microsoft.com/office/officeart/2005/8/layout/chevron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61B81D9-77CF-4CBD-A58C-639332EA5EBE}"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zh-TW" altLang="en-US"/>
        </a:p>
      </dgm:t>
    </dgm:pt>
    <dgm:pt modelId="{72C8F22F-B680-46C7-8497-544E2267874B}">
      <dgm:prSet phldrT="[文字]"/>
      <dgm:spPr/>
      <dgm:t>
        <a:bodyPr/>
        <a:lstStyle/>
        <a:p>
          <a:r>
            <a:rPr lang="en-US" altLang="zh-TW" b="1" dirty="0" smtClean="0">
              <a:solidFill>
                <a:srgbClr val="002060"/>
              </a:solidFill>
              <a:latin typeface="Times New Roman" pitchFamily="18" charset="0"/>
              <a:cs typeface="Times New Roman" pitchFamily="18" charset="0"/>
            </a:rPr>
            <a:t>4</a:t>
          </a:r>
          <a:endParaRPr lang="zh-TW" altLang="en-US" b="1" dirty="0">
            <a:solidFill>
              <a:srgbClr val="002060"/>
            </a:solidFill>
            <a:latin typeface="Times New Roman" pitchFamily="18" charset="0"/>
            <a:cs typeface="Times New Roman" pitchFamily="18" charset="0"/>
          </a:endParaRPr>
        </a:p>
      </dgm:t>
    </dgm:pt>
    <dgm:pt modelId="{3120EDEA-01BB-4366-8049-F5A7F9A12E25}" type="parTrans" cxnId="{0AA63A50-7F17-4732-B292-B3938CCB0A73}">
      <dgm:prSet/>
      <dgm:spPr/>
      <dgm:t>
        <a:bodyPr/>
        <a:lstStyle/>
        <a:p>
          <a:endParaRPr lang="zh-TW" altLang="en-US"/>
        </a:p>
      </dgm:t>
    </dgm:pt>
    <dgm:pt modelId="{AA8A5317-919A-4E08-9057-731BEBB83751}" type="sibTrans" cxnId="{0AA63A50-7F17-4732-B292-B3938CCB0A73}">
      <dgm:prSet/>
      <dgm:spPr/>
      <dgm:t>
        <a:bodyPr/>
        <a:lstStyle/>
        <a:p>
          <a:endParaRPr lang="zh-TW" altLang="en-US"/>
        </a:p>
      </dgm:t>
    </dgm:pt>
    <dgm:pt modelId="{0995B7CE-432D-478E-86AF-CE1397EC7E4A}">
      <dgm:prSet phldrT="[文字]" custT="1"/>
      <dgm:spPr/>
      <dgm:t>
        <a:bodyPr/>
        <a:lstStyle/>
        <a:p>
          <a:r>
            <a:rPr lang="zh-TW" altLang="en-US" sz="1800" b="1" dirty="0" smtClean="0">
              <a:solidFill>
                <a:srgbClr val="FF0000"/>
              </a:solidFill>
              <a:latin typeface="微軟正黑體" pitchFamily="34" charset="-120"/>
              <a:ea typeface="微軟正黑體" pitchFamily="34" charset="-120"/>
            </a:rPr>
            <a:t>求取上下限近似集 </a:t>
          </a:r>
          <a:r>
            <a:rPr lang="en-US" altLang="zh-TW" sz="1800" b="1" dirty="0" smtClean="0">
              <a:solidFill>
                <a:srgbClr val="FF0000"/>
              </a:solidFill>
              <a:latin typeface="微軟正黑體" pitchFamily="34" charset="-120"/>
              <a:ea typeface="微軟正黑體" pitchFamily="34" charset="-120"/>
            </a:rPr>
            <a:t>(</a:t>
          </a:r>
          <a:r>
            <a:rPr lang="en-US" altLang="zh-TW" sz="1800" b="1" i="1" dirty="0" smtClean="0">
              <a:solidFill>
                <a:srgbClr val="FF0000"/>
              </a:solidFill>
              <a:latin typeface="微軟正黑體" pitchFamily="34" charset="-120"/>
              <a:ea typeface="微軟正黑體" pitchFamily="34" charset="-120"/>
            </a:rPr>
            <a:t>Lower and Upper Approximations</a:t>
          </a:r>
          <a:r>
            <a:rPr lang="en-US" altLang="zh-TW" sz="1800" b="1" dirty="0" smtClean="0">
              <a:solidFill>
                <a:srgbClr val="FF0000"/>
              </a:solidFill>
              <a:latin typeface="微軟正黑體" pitchFamily="34" charset="-120"/>
              <a:ea typeface="微軟正黑體" pitchFamily="34" charset="-120"/>
            </a:rPr>
            <a:t>)</a:t>
          </a:r>
          <a:endParaRPr lang="zh-TW" altLang="en-US" sz="1800" b="1" dirty="0">
            <a:solidFill>
              <a:srgbClr val="FF0000"/>
            </a:solidFill>
            <a:latin typeface="微軟正黑體" pitchFamily="34" charset="-120"/>
            <a:ea typeface="微軟正黑體" pitchFamily="34" charset="-120"/>
          </a:endParaRPr>
        </a:p>
      </dgm:t>
    </dgm:pt>
    <dgm:pt modelId="{1541EE04-9847-4286-B8A5-A97B757E97B0}" type="parTrans" cxnId="{92B7DB6D-CEFD-4B6C-AB9C-5DA28570218E}">
      <dgm:prSet/>
      <dgm:spPr/>
      <dgm:t>
        <a:bodyPr/>
        <a:lstStyle/>
        <a:p>
          <a:endParaRPr lang="zh-TW" altLang="en-US"/>
        </a:p>
      </dgm:t>
    </dgm:pt>
    <dgm:pt modelId="{2C8F4D60-6E3F-4567-B054-A6A1A275F59A}" type="sibTrans" cxnId="{92B7DB6D-CEFD-4B6C-AB9C-5DA28570218E}">
      <dgm:prSet/>
      <dgm:spPr/>
      <dgm:t>
        <a:bodyPr/>
        <a:lstStyle/>
        <a:p>
          <a:endParaRPr lang="zh-TW" altLang="en-US"/>
        </a:p>
      </dgm:t>
    </dgm:pt>
    <dgm:pt modelId="{C3924DBC-2542-482D-84D9-967C0C60551D}">
      <dgm:prSet phldrT="[文字]" custT="1"/>
      <dgm:spPr/>
      <dgm:t>
        <a:bodyPr/>
        <a:lstStyle/>
        <a:p>
          <a:r>
            <a:rPr lang="zh-TW" altLang="en-US" sz="1800" dirty="0" smtClean="0">
              <a:latin typeface="微軟正黑體" pitchFamily="34" charset="-120"/>
              <a:ea typeface="微軟正黑體" pitchFamily="34" charset="-120"/>
            </a:rPr>
            <a:t>在</a:t>
          </a:r>
          <a:r>
            <a:rPr lang="en-US" altLang="zh-TW" sz="1800" dirty="0" smtClean="0">
              <a:latin typeface="微軟正黑體" pitchFamily="34" charset="-120"/>
              <a:ea typeface="微軟正黑體" pitchFamily="34" charset="-120"/>
            </a:rPr>
            <a:t>RST</a:t>
          </a:r>
          <a:r>
            <a:rPr lang="zh-TW" altLang="en-US" sz="1800" dirty="0" smtClean="0">
              <a:latin typeface="微軟正黑體" pitchFamily="34" charset="-120"/>
              <a:ea typeface="微軟正黑體" pitchFamily="34" charset="-120"/>
            </a:rPr>
            <a:t>分析過程中發生分類不一致的情形時，即可藉由上下限近似集來處理、解決這類的問題。</a:t>
          </a:r>
          <a:endParaRPr lang="zh-TW" altLang="en-US" sz="1800" dirty="0">
            <a:latin typeface="微軟正黑體" pitchFamily="34" charset="-120"/>
            <a:ea typeface="微軟正黑體" pitchFamily="34" charset="-120"/>
          </a:endParaRPr>
        </a:p>
      </dgm:t>
    </dgm:pt>
    <dgm:pt modelId="{7E705B74-071A-4FD8-8B00-BD9026429EFB}" type="parTrans" cxnId="{AB05C376-431C-4DD0-8167-0B2ECDFECDD1}">
      <dgm:prSet/>
      <dgm:spPr/>
      <dgm:t>
        <a:bodyPr/>
        <a:lstStyle/>
        <a:p>
          <a:endParaRPr lang="zh-TW" altLang="en-US"/>
        </a:p>
      </dgm:t>
    </dgm:pt>
    <dgm:pt modelId="{80EDCB24-C0F7-4562-BCFA-4B908239E1FE}" type="sibTrans" cxnId="{AB05C376-431C-4DD0-8167-0B2ECDFECDD1}">
      <dgm:prSet/>
      <dgm:spPr/>
      <dgm:t>
        <a:bodyPr/>
        <a:lstStyle/>
        <a:p>
          <a:endParaRPr lang="zh-TW" altLang="en-US"/>
        </a:p>
      </dgm:t>
    </dgm:pt>
    <dgm:pt modelId="{E96F919C-9AB4-4242-A608-49327262AD42}">
      <dgm:prSet phldrT="[文字]"/>
      <dgm:spPr/>
      <dgm:t>
        <a:bodyPr/>
        <a:lstStyle/>
        <a:p>
          <a:r>
            <a:rPr lang="en-US" altLang="zh-TW" b="1" dirty="0" smtClean="0">
              <a:solidFill>
                <a:srgbClr val="002060"/>
              </a:solidFill>
              <a:latin typeface="Times New Roman" pitchFamily="18" charset="0"/>
              <a:cs typeface="Times New Roman" pitchFamily="18" charset="0"/>
            </a:rPr>
            <a:t>5</a:t>
          </a:r>
          <a:endParaRPr lang="zh-TW" altLang="en-US" b="1" dirty="0">
            <a:solidFill>
              <a:srgbClr val="002060"/>
            </a:solidFill>
            <a:latin typeface="Times New Roman" pitchFamily="18" charset="0"/>
            <a:cs typeface="Times New Roman" pitchFamily="18" charset="0"/>
          </a:endParaRPr>
        </a:p>
      </dgm:t>
    </dgm:pt>
    <dgm:pt modelId="{362922C6-6961-4BB1-8449-C9F0EBF36EEB}" type="parTrans" cxnId="{F124DDFB-C693-4220-A691-38D7E12C08E0}">
      <dgm:prSet/>
      <dgm:spPr/>
      <dgm:t>
        <a:bodyPr/>
        <a:lstStyle/>
        <a:p>
          <a:endParaRPr lang="zh-TW" altLang="en-US"/>
        </a:p>
      </dgm:t>
    </dgm:pt>
    <dgm:pt modelId="{61CACA27-B6C9-4736-82FF-49E219D783B1}" type="sibTrans" cxnId="{F124DDFB-C693-4220-A691-38D7E12C08E0}">
      <dgm:prSet/>
      <dgm:spPr/>
      <dgm:t>
        <a:bodyPr/>
        <a:lstStyle/>
        <a:p>
          <a:endParaRPr lang="zh-TW" altLang="en-US"/>
        </a:p>
      </dgm:t>
    </dgm:pt>
    <dgm:pt modelId="{22069682-BDF9-4276-8B41-B7BD155641EB}">
      <dgm:prSet phldrT="[文字]" custT="1"/>
      <dgm:spPr/>
      <dgm:t>
        <a:bodyPr/>
        <a:lstStyle/>
        <a:p>
          <a:r>
            <a:rPr lang="zh-TW" altLang="en-US" sz="1800" b="1" dirty="0" smtClean="0">
              <a:solidFill>
                <a:srgbClr val="FF0000"/>
              </a:solidFill>
              <a:latin typeface="微軟正黑體" pitchFamily="34" charset="-120"/>
              <a:ea typeface="微軟正黑體" pitchFamily="34" charset="-120"/>
            </a:rPr>
            <a:t>進行屬性的刪減與核心 </a:t>
          </a:r>
          <a:r>
            <a:rPr lang="en-US" altLang="zh-TW" sz="1800" b="1" dirty="0" smtClean="0">
              <a:solidFill>
                <a:srgbClr val="FF0000"/>
              </a:solidFill>
              <a:latin typeface="微軟正黑體" pitchFamily="34" charset="-120"/>
              <a:ea typeface="微軟正黑體" pitchFamily="34" charset="-120"/>
            </a:rPr>
            <a:t>(</a:t>
          </a:r>
          <a:r>
            <a:rPr lang="en-US" altLang="zh-TW" sz="1800" b="1" i="1" dirty="0" smtClean="0">
              <a:solidFill>
                <a:srgbClr val="FF0000"/>
              </a:solidFill>
              <a:latin typeface="微軟正黑體" pitchFamily="34" charset="-120"/>
              <a:ea typeface="微軟正黑體" pitchFamily="34" charset="-120"/>
            </a:rPr>
            <a:t>Core and </a:t>
          </a:r>
          <a:r>
            <a:rPr lang="en-US" altLang="zh-TW" sz="1800" b="1" i="1" dirty="0" err="1" smtClean="0">
              <a:solidFill>
                <a:srgbClr val="FF0000"/>
              </a:solidFill>
              <a:latin typeface="微軟正黑體" pitchFamily="34" charset="-120"/>
              <a:ea typeface="微軟正黑體" pitchFamily="34" charset="-120"/>
            </a:rPr>
            <a:t>Reduct</a:t>
          </a:r>
          <a:r>
            <a:rPr lang="en-US" altLang="zh-TW" sz="1800" b="1" i="1" dirty="0" smtClean="0">
              <a:solidFill>
                <a:srgbClr val="FF0000"/>
              </a:solidFill>
              <a:latin typeface="微軟正黑體" pitchFamily="34" charset="-120"/>
              <a:ea typeface="微軟正黑體" pitchFamily="34" charset="-120"/>
            </a:rPr>
            <a:t> of Attributes</a:t>
          </a:r>
          <a:r>
            <a:rPr lang="en-US" altLang="zh-TW" sz="1800" b="1" dirty="0" smtClean="0">
              <a:solidFill>
                <a:srgbClr val="FF0000"/>
              </a:solidFill>
              <a:latin typeface="微軟正黑體" pitchFamily="34" charset="-120"/>
              <a:ea typeface="微軟正黑體" pitchFamily="34" charset="-120"/>
            </a:rPr>
            <a:t>)</a:t>
          </a:r>
          <a:endParaRPr lang="zh-TW" altLang="en-US" sz="1800" b="1" dirty="0">
            <a:solidFill>
              <a:srgbClr val="FF0000"/>
            </a:solidFill>
            <a:latin typeface="微軟正黑體" pitchFamily="34" charset="-120"/>
            <a:ea typeface="微軟正黑體" pitchFamily="34" charset="-120"/>
          </a:endParaRPr>
        </a:p>
      </dgm:t>
    </dgm:pt>
    <dgm:pt modelId="{BC2FDEB6-6F27-4863-AB14-5BD9B7F51D98}" type="parTrans" cxnId="{0B9C72DD-9DDE-4289-A798-B7CEBBA18F92}">
      <dgm:prSet/>
      <dgm:spPr/>
      <dgm:t>
        <a:bodyPr/>
        <a:lstStyle/>
        <a:p>
          <a:endParaRPr lang="zh-TW" altLang="en-US"/>
        </a:p>
      </dgm:t>
    </dgm:pt>
    <dgm:pt modelId="{6E1AA707-6F23-4535-BE19-33DB3A380A6E}" type="sibTrans" cxnId="{0B9C72DD-9DDE-4289-A798-B7CEBBA18F92}">
      <dgm:prSet/>
      <dgm:spPr/>
      <dgm:t>
        <a:bodyPr/>
        <a:lstStyle/>
        <a:p>
          <a:endParaRPr lang="zh-TW" altLang="en-US"/>
        </a:p>
      </dgm:t>
    </dgm:pt>
    <dgm:pt modelId="{5BA12A84-19CD-4114-A345-963341F3B1B5}">
      <dgm:prSet phldrT="[文字]" custT="1"/>
      <dgm:spPr/>
      <dgm:t>
        <a:bodyPr/>
        <a:lstStyle/>
        <a:p>
          <a:r>
            <a:rPr lang="zh-TW" altLang="en-US" sz="1800" dirty="0" smtClean="0">
              <a:latin typeface="微軟正黑體" pitchFamily="34" charset="-120"/>
              <a:ea typeface="微軟正黑體" pitchFamily="34" charset="-120"/>
            </a:rPr>
            <a:t>找出可以解釋整體屬性集合之所有最小的屬性子集合，並挖掘不可或缺的屬性集合。</a:t>
          </a:r>
          <a:endParaRPr lang="zh-TW" altLang="en-US" sz="1800" dirty="0">
            <a:latin typeface="微軟正黑體" pitchFamily="34" charset="-120"/>
            <a:ea typeface="微軟正黑體" pitchFamily="34" charset="-120"/>
          </a:endParaRPr>
        </a:p>
      </dgm:t>
    </dgm:pt>
    <dgm:pt modelId="{A96E774D-A4D7-4249-A6CA-45D6B75677F0}" type="parTrans" cxnId="{64C4778C-66CB-454D-A6E9-95E18172E8DE}">
      <dgm:prSet/>
      <dgm:spPr/>
      <dgm:t>
        <a:bodyPr/>
        <a:lstStyle/>
        <a:p>
          <a:endParaRPr lang="zh-TW" altLang="en-US"/>
        </a:p>
      </dgm:t>
    </dgm:pt>
    <dgm:pt modelId="{82242824-B261-4976-812D-96A46F76D442}" type="sibTrans" cxnId="{64C4778C-66CB-454D-A6E9-95E18172E8DE}">
      <dgm:prSet/>
      <dgm:spPr/>
      <dgm:t>
        <a:bodyPr/>
        <a:lstStyle/>
        <a:p>
          <a:endParaRPr lang="zh-TW" altLang="en-US"/>
        </a:p>
      </dgm:t>
    </dgm:pt>
    <dgm:pt modelId="{572325EC-63CB-4173-AA1E-3656BE2F2AB3}">
      <dgm:prSet phldrT="[文字]"/>
      <dgm:spPr/>
      <dgm:t>
        <a:bodyPr/>
        <a:lstStyle/>
        <a:p>
          <a:r>
            <a:rPr lang="en-US" altLang="zh-TW" b="1" dirty="0" smtClean="0">
              <a:solidFill>
                <a:srgbClr val="002060"/>
              </a:solidFill>
              <a:latin typeface="Times New Roman" pitchFamily="18" charset="0"/>
              <a:cs typeface="Times New Roman" pitchFamily="18" charset="0"/>
            </a:rPr>
            <a:t>6</a:t>
          </a:r>
          <a:endParaRPr lang="zh-TW" altLang="en-US" b="1" dirty="0">
            <a:solidFill>
              <a:srgbClr val="002060"/>
            </a:solidFill>
            <a:latin typeface="Times New Roman" pitchFamily="18" charset="0"/>
            <a:cs typeface="Times New Roman" pitchFamily="18" charset="0"/>
          </a:endParaRPr>
        </a:p>
      </dgm:t>
    </dgm:pt>
    <dgm:pt modelId="{4C59E6F3-F36B-4648-ACE7-D596F5A77D5A}" type="parTrans" cxnId="{4643A2C9-D431-406D-83E2-2B3733C1FBDA}">
      <dgm:prSet/>
      <dgm:spPr/>
      <dgm:t>
        <a:bodyPr/>
        <a:lstStyle/>
        <a:p>
          <a:endParaRPr lang="zh-TW" altLang="en-US"/>
        </a:p>
      </dgm:t>
    </dgm:pt>
    <dgm:pt modelId="{35F6228C-9AF5-4E4B-97D4-16CEA4997EA7}" type="sibTrans" cxnId="{4643A2C9-D431-406D-83E2-2B3733C1FBDA}">
      <dgm:prSet/>
      <dgm:spPr/>
      <dgm:t>
        <a:bodyPr/>
        <a:lstStyle/>
        <a:p>
          <a:endParaRPr lang="zh-TW" altLang="en-US"/>
        </a:p>
      </dgm:t>
    </dgm:pt>
    <dgm:pt modelId="{EE7A4219-6937-41F6-AD6F-3F933E47FFE4}">
      <dgm:prSet phldrT="[文字]" custT="1"/>
      <dgm:spPr/>
      <dgm:t>
        <a:bodyPr/>
        <a:lstStyle/>
        <a:p>
          <a:r>
            <a:rPr lang="zh-TW" altLang="en-US" sz="1800" b="1" dirty="0" smtClean="0">
              <a:solidFill>
                <a:srgbClr val="FF0000"/>
              </a:solidFill>
              <a:latin typeface="微軟正黑體" pitchFamily="34" charset="-120"/>
              <a:ea typeface="微軟正黑體" pitchFamily="34" charset="-120"/>
            </a:rPr>
            <a:t>進行決策規則 </a:t>
          </a:r>
          <a:r>
            <a:rPr lang="en-US" altLang="zh-TW" sz="1800" b="1" dirty="0" smtClean="0">
              <a:solidFill>
                <a:srgbClr val="FF0000"/>
              </a:solidFill>
              <a:latin typeface="微軟正黑體" pitchFamily="34" charset="-120"/>
              <a:ea typeface="微軟正黑體" pitchFamily="34" charset="-120"/>
            </a:rPr>
            <a:t>(</a:t>
          </a:r>
          <a:r>
            <a:rPr lang="en-US" altLang="zh-TW" sz="1800" b="1" i="1" dirty="0" smtClean="0">
              <a:solidFill>
                <a:srgbClr val="FF0000"/>
              </a:solidFill>
              <a:latin typeface="微軟正黑體" pitchFamily="34" charset="-120"/>
              <a:ea typeface="微軟正黑體" pitchFamily="34" charset="-120"/>
            </a:rPr>
            <a:t>Decision Rules</a:t>
          </a:r>
          <a:r>
            <a:rPr lang="en-US" altLang="zh-TW" sz="1800" b="1" dirty="0" smtClean="0">
              <a:solidFill>
                <a:srgbClr val="FF0000"/>
              </a:solidFill>
              <a:latin typeface="微軟正黑體" pitchFamily="34" charset="-120"/>
              <a:ea typeface="微軟正黑體" pitchFamily="34" charset="-120"/>
            </a:rPr>
            <a:t>)</a:t>
          </a:r>
          <a:endParaRPr lang="zh-TW" altLang="en-US" sz="1800" b="1" dirty="0">
            <a:solidFill>
              <a:srgbClr val="FF0000"/>
            </a:solidFill>
            <a:latin typeface="微軟正黑體" pitchFamily="34" charset="-120"/>
            <a:ea typeface="微軟正黑體" pitchFamily="34" charset="-120"/>
          </a:endParaRPr>
        </a:p>
      </dgm:t>
    </dgm:pt>
    <dgm:pt modelId="{13FF46F7-96B9-4CDA-8585-DC8F4DF96AE8}" type="parTrans" cxnId="{169153E9-C8CF-4AB1-9D7C-23D38F3CD9B8}">
      <dgm:prSet/>
      <dgm:spPr/>
      <dgm:t>
        <a:bodyPr/>
        <a:lstStyle/>
        <a:p>
          <a:endParaRPr lang="zh-TW" altLang="en-US"/>
        </a:p>
      </dgm:t>
    </dgm:pt>
    <dgm:pt modelId="{CE89E5B2-EB39-47FD-9842-F8D6D3EAF853}" type="sibTrans" cxnId="{169153E9-C8CF-4AB1-9D7C-23D38F3CD9B8}">
      <dgm:prSet/>
      <dgm:spPr/>
      <dgm:t>
        <a:bodyPr/>
        <a:lstStyle/>
        <a:p>
          <a:endParaRPr lang="zh-TW" altLang="en-US"/>
        </a:p>
      </dgm:t>
    </dgm:pt>
    <dgm:pt modelId="{6BCEAACC-7074-475C-8F47-0FFC5A96EF7F}">
      <dgm:prSet phldrT="[文字]" custT="1"/>
      <dgm:spPr/>
      <dgm:t>
        <a:bodyPr/>
        <a:lstStyle/>
        <a:p>
          <a:r>
            <a:rPr lang="zh-TW" altLang="en-US" sz="1800" dirty="0" smtClean="0">
              <a:latin typeface="微軟正黑體" pitchFamily="34" charset="-120"/>
              <a:ea typeface="微軟正黑體" pitchFamily="34" charset="-120"/>
            </a:rPr>
            <a:t>計算各項規則的強度，作為當條件屬性相同而分類結果不同的決策規則，應選擇何項決策規則進行預測或歸納的依據。</a:t>
          </a:r>
          <a:endParaRPr lang="zh-TW" altLang="en-US" sz="1800" dirty="0">
            <a:latin typeface="微軟正黑體" pitchFamily="34" charset="-120"/>
            <a:ea typeface="微軟正黑體" pitchFamily="34" charset="-120"/>
          </a:endParaRPr>
        </a:p>
      </dgm:t>
    </dgm:pt>
    <dgm:pt modelId="{E5E4692E-F122-4C37-A2EC-C28F116ED9A8}" type="parTrans" cxnId="{B01811B5-9D1F-4CAA-97C6-C130C716F1C5}">
      <dgm:prSet/>
      <dgm:spPr/>
      <dgm:t>
        <a:bodyPr/>
        <a:lstStyle/>
        <a:p>
          <a:endParaRPr lang="zh-TW" altLang="en-US"/>
        </a:p>
      </dgm:t>
    </dgm:pt>
    <dgm:pt modelId="{A40128D1-B216-4A65-B4B5-22E4F5C5CF61}" type="sibTrans" cxnId="{B01811B5-9D1F-4CAA-97C6-C130C716F1C5}">
      <dgm:prSet/>
      <dgm:spPr/>
      <dgm:t>
        <a:bodyPr/>
        <a:lstStyle/>
        <a:p>
          <a:endParaRPr lang="zh-TW" altLang="en-US"/>
        </a:p>
      </dgm:t>
    </dgm:pt>
    <dgm:pt modelId="{B72D9A02-088C-4390-A965-EF4EFC259339}" type="pres">
      <dgm:prSet presAssocID="{561B81D9-77CF-4CBD-A58C-639332EA5EBE}" presName="linearFlow" presStyleCnt="0">
        <dgm:presLayoutVars>
          <dgm:dir/>
          <dgm:animLvl val="lvl"/>
          <dgm:resizeHandles val="exact"/>
        </dgm:presLayoutVars>
      </dgm:prSet>
      <dgm:spPr/>
      <dgm:t>
        <a:bodyPr/>
        <a:lstStyle/>
        <a:p>
          <a:endParaRPr lang="zh-TW" altLang="en-US"/>
        </a:p>
      </dgm:t>
    </dgm:pt>
    <dgm:pt modelId="{4B713C4B-1E31-4254-83C1-B95D832755E6}" type="pres">
      <dgm:prSet presAssocID="{72C8F22F-B680-46C7-8497-544E2267874B}" presName="composite" presStyleCnt="0"/>
      <dgm:spPr/>
    </dgm:pt>
    <dgm:pt modelId="{DBC54AD6-AAD4-44D8-B344-ABFD6C29C260}" type="pres">
      <dgm:prSet presAssocID="{72C8F22F-B680-46C7-8497-544E2267874B}" presName="parentText" presStyleLbl="alignNode1" presStyleIdx="0" presStyleCnt="3">
        <dgm:presLayoutVars>
          <dgm:chMax val="1"/>
          <dgm:bulletEnabled val="1"/>
        </dgm:presLayoutVars>
      </dgm:prSet>
      <dgm:spPr/>
      <dgm:t>
        <a:bodyPr/>
        <a:lstStyle/>
        <a:p>
          <a:endParaRPr lang="zh-TW" altLang="en-US"/>
        </a:p>
      </dgm:t>
    </dgm:pt>
    <dgm:pt modelId="{F5C9DC62-B25F-45A7-9449-3A5A9A1F3049}" type="pres">
      <dgm:prSet presAssocID="{72C8F22F-B680-46C7-8497-544E2267874B}" presName="descendantText" presStyleLbl="alignAcc1" presStyleIdx="0" presStyleCnt="3">
        <dgm:presLayoutVars>
          <dgm:bulletEnabled val="1"/>
        </dgm:presLayoutVars>
      </dgm:prSet>
      <dgm:spPr/>
      <dgm:t>
        <a:bodyPr/>
        <a:lstStyle/>
        <a:p>
          <a:endParaRPr lang="zh-TW" altLang="en-US"/>
        </a:p>
      </dgm:t>
    </dgm:pt>
    <dgm:pt modelId="{1822442D-9131-4A76-A9CC-7108C5B7BD56}" type="pres">
      <dgm:prSet presAssocID="{AA8A5317-919A-4E08-9057-731BEBB83751}" presName="sp" presStyleCnt="0"/>
      <dgm:spPr/>
    </dgm:pt>
    <dgm:pt modelId="{9DBB1112-A15A-468A-9295-950691451025}" type="pres">
      <dgm:prSet presAssocID="{E96F919C-9AB4-4242-A608-49327262AD42}" presName="composite" presStyleCnt="0"/>
      <dgm:spPr/>
    </dgm:pt>
    <dgm:pt modelId="{5EFA4FA4-033F-4851-85D6-DA907D0D4A3B}" type="pres">
      <dgm:prSet presAssocID="{E96F919C-9AB4-4242-A608-49327262AD42}" presName="parentText" presStyleLbl="alignNode1" presStyleIdx="1" presStyleCnt="3">
        <dgm:presLayoutVars>
          <dgm:chMax val="1"/>
          <dgm:bulletEnabled val="1"/>
        </dgm:presLayoutVars>
      </dgm:prSet>
      <dgm:spPr/>
      <dgm:t>
        <a:bodyPr/>
        <a:lstStyle/>
        <a:p>
          <a:endParaRPr lang="zh-TW" altLang="en-US"/>
        </a:p>
      </dgm:t>
    </dgm:pt>
    <dgm:pt modelId="{B085DFD7-06FF-4512-AE91-A5E02299DA91}" type="pres">
      <dgm:prSet presAssocID="{E96F919C-9AB4-4242-A608-49327262AD42}" presName="descendantText" presStyleLbl="alignAcc1" presStyleIdx="1" presStyleCnt="3">
        <dgm:presLayoutVars>
          <dgm:bulletEnabled val="1"/>
        </dgm:presLayoutVars>
      </dgm:prSet>
      <dgm:spPr/>
      <dgm:t>
        <a:bodyPr/>
        <a:lstStyle/>
        <a:p>
          <a:endParaRPr lang="zh-TW" altLang="en-US"/>
        </a:p>
      </dgm:t>
    </dgm:pt>
    <dgm:pt modelId="{94A62F0E-CD3F-418A-AC15-D187EB8E1490}" type="pres">
      <dgm:prSet presAssocID="{61CACA27-B6C9-4736-82FF-49E219D783B1}" presName="sp" presStyleCnt="0"/>
      <dgm:spPr/>
    </dgm:pt>
    <dgm:pt modelId="{CDDC730C-F342-4FC9-9562-AB193BB6EDFF}" type="pres">
      <dgm:prSet presAssocID="{572325EC-63CB-4173-AA1E-3656BE2F2AB3}" presName="composite" presStyleCnt="0"/>
      <dgm:spPr/>
    </dgm:pt>
    <dgm:pt modelId="{4E9D730D-5C9B-48B0-8A4F-5FDF5256DDB1}" type="pres">
      <dgm:prSet presAssocID="{572325EC-63CB-4173-AA1E-3656BE2F2AB3}" presName="parentText" presStyleLbl="alignNode1" presStyleIdx="2" presStyleCnt="3">
        <dgm:presLayoutVars>
          <dgm:chMax val="1"/>
          <dgm:bulletEnabled val="1"/>
        </dgm:presLayoutVars>
      </dgm:prSet>
      <dgm:spPr/>
      <dgm:t>
        <a:bodyPr/>
        <a:lstStyle/>
        <a:p>
          <a:endParaRPr lang="zh-TW" altLang="en-US"/>
        </a:p>
      </dgm:t>
    </dgm:pt>
    <dgm:pt modelId="{66C07835-2A1B-4E38-B5BD-7F7EA438BF3C}" type="pres">
      <dgm:prSet presAssocID="{572325EC-63CB-4173-AA1E-3656BE2F2AB3}" presName="descendantText" presStyleLbl="alignAcc1" presStyleIdx="2" presStyleCnt="3">
        <dgm:presLayoutVars>
          <dgm:bulletEnabled val="1"/>
        </dgm:presLayoutVars>
      </dgm:prSet>
      <dgm:spPr/>
      <dgm:t>
        <a:bodyPr/>
        <a:lstStyle/>
        <a:p>
          <a:endParaRPr lang="zh-TW" altLang="en-US"/>
        </a:p>
      </dgm:t>
    </dgm:pt>
  </dgm:ptLst>
  <dgm:cxnLst>
    <dgm:cxn modelId="{3C242548-23A1-44D2-B287-00C609DBD54C}" type="presOf" srcId="{C3924DBC-2542-482D-84D9-967C0C60551D}" destId="{F5C9DC62-B25F-45A7-9449-3A5A9A1F3049}" srcOrd="0" destOrd="1" presId="urn:microsoft.com/office/officeart/2005/8/layout/chevron2"/>
    <dgm:cxn modelId="{690BF231-9316-4382-B955-B292C2A68F84}" type="presOf" srcId="{6BCEAACC-7074-475C-8F47-0FFC5A96EF7F}" destId="{66C07835-2A1B-4E38-B5BD-7F7EA438BF3C}" srcOrd="0" destOrd="1" presId="urn:microsoft.com/office/officeart/2005/8/layout/chevron2"/>
    <dgm:cxn modelId="{2754FC66-4A1E-486A-B9AC-63414C787A01}" type="presOf" srcId="{EE7A4219-6937-41F6-AD6F-3F933E47FFE4}" destId="{66C07835-2A1B-4E38-B5BD-7F7EA438BF3C}" srcOrd="0" destOrd="0" presId="urn:microsoft.com/office/officeart/2005/8/layout/chevron2"/>
    <dgm:cxn modelId="{E8EC0F36-6AA4-4C30-BE91-FEDEA021AB65}" type="presOf" srcId="{22069682-BDF9-4276-8B41-B7BD155641EB}" destId="{B085DFD7-06FF-4512-AE91-A5E02299DA91}" srcOrd="0" destOrd="0" presId="urn:microsoft.com/office/officeart/2005/8/layout/chevron2"/>
    <dgm:cxn modelId="{4643A2C9-D431-406D-83E2-2B3733C1FBDA}" srcId="{561B81D9-77CF-4CBD-A58C-639332EA5EBE}" destId="{572325EC-63CB-4173-AA1E-3656BE2F2AB3}" srcOrd="2" destOrd="0" parTransId="{4C59E6F3-F36B-4648-ACE7-D596F5A77D5A}" sibTransId="{35F6228C-9AF5-4E4B-97D4-16CEA4997EA7}"/>
    <dgm:cxn modelId="{169153E9-C8CF-4AB1-9D7C-23D38F3CD9B8}" srcId="{572325EC-63CB-4173-AA1E-3656BE2F2AB3}" destId="{EE7A4219-6937-41F6-AD6F-3F933E47FFE4}" srcOrd="0" destOrd="0" parTransId="{13FF46F7-96B9-4CDA-8585-DC8F4DF96AE8}" sibTransId="{CE89E5B2-EB39-47FD-9842-F8D6D3EAF853}"/>
    <dgm:cxn modelId="{8E7F0B62-979C-4820-9486-C55FD0719DBE}" type="presOf" srcId="{572325EC-63CB-4173-AA1E-3656BE2F2AB3}" destId="{4E9D730D-5C9B-48B0-8A4F-5FDF5256DDB1}" srcOrd="0" destOrd="0" presId="urn:microsoft.com/office/officeart/2005/8/layout/chevron2"/>
    <dgm:cxn modelId="{65875310-4443-40EF-AB2B-CDF5AE6C3DC0}" type="presOf" srcId="{0995B7CE-432D-478E-86AF-CE1397EC7E4A}" destId="{F5C9DC62-B25F-45A7-9449-3A5A9A1F3049}" srcOrd="0" destOrd="0" presId="urn:microsoft.com/office/officeart/2005/8/layout/chevron2"/>
    <dgm:cxn modelId="{AB05C376-431C-4DD0-8167-0B2ECDFECDD1}" srcId="{72C8F22F-B680-46C7-8497-544E2267874B}" destId="{C3924DBC-2542-482D-84D9-967C0C60551D}" srcOrd="1" destOrd="0" parTransId="{7E705B74-071A-4FD8-8B00-BD9026429EFB}" sibTransId="{80EDCB24-C0F7-4562-BCFA-4B908239E1FE}"/>
    <dgm:cxn modelId="{817728A5-8CBF-4B8C-8738-844B298B4D0C}" type="presOf" srcId="{72C8F22F-B680-46C7-8497-544E2267874B}" destId="{DBC54AD6-AAD4-44D8-B344-ABFD6C29C260}" srcOrd="0" destOrd="0" presId="urn:microsoft.com/office/officeart/2005/8/layout/chevron2"/>
    <dgm:cxn modelId="{92B7DB6D-CEFD-4B6C-AB9C-5DA28570218E}" srcId="{72C8F22F-B680-46C7-8497-544E2267874B}" destId="{0995B7CE-432D-478E-86AF-CE1397EC7E4A}" srcOrd="0" destOrd="0" parTransId="{1541EE04-9847-4286-B8A5-A97B757E97B0}" sibTransId="{2C8F4D60-6E3F-4567-B054-A6A1A275F59A}"/>
    <dgm:cxn modelId="{64C4778C-66CB-454D-A6E9-95E18172E8DE}" srcId="{E96F919C-9AB4-4242-A608-49327262AD42}" destId="{5BA12A84-19CD-4114-A345-963341F3B1B5}" srcOrd="1" destOrd="0" parTransId="{A96E774D-A4D7-4249-A6CA-45D6B75677F0}" sibTransId="{82242824-B261-4976-812D-96A46F76D442}"/>
    <dgm:cxn modelId="{07C3A5FA-5097-4EB1-A42B-B31289CCC06D}" type="presOf" srcId="{5BA12A84-19CD-4114-A345-963341F3B1B5}" destId="{B085DFD7-06FF-4512-AE91-A5E02299DA91}" srcOrd="0" destOrd="1" presId="urn:microsoft.com/office/officeart/2005/8/layout/chevron2"/>
    <dgm:cxn modelId="{D1899E3C-5074-465C-84E2-45C47698B55F}" type="presOf" srcId="{E96F919C-9AB4-4242-A608-49327262AD42}" destId="{5EFA4FA4-033F-4851-85D6-DA907D0D4A3B}" srcOrd="0" destOrd="0" presId="urn:microsoft.com/office/officeart/2005/8/layout/chevron2"/>
    <dgm:cxn modelId="{B01811B5-9D1F-4CAA-97C6-C130C716F1C5}" srcId="{572325EC-63CB-4173-AA1E-3656BE2F2AB3}" destId="{6BCEAACC-7074-475C-8F47-0FFC5A96EF7F}" srcOrd="1" destOrd="0" parTransId="{E5E4692E-F122-4C37-A2EC-C28F116ED9A8}" sibTransId="{A40128D1-B216-4A65-B4B5-22E4F5C5CF61}"/>
    <dgm:cxn modelId="{23B28422-3F0F-4F78-A7A4-B584F7ACD69C}" type="presOf" srcId="{561B81D9-77CF-4CBD-A58C-639332EA5EBE}" destId="{B72D9A02-088C-4390-A965-EF4EFC259339}" srcOrd="0" destOrd="0" presId="urn:microsoft.com/office/officeart/2005/8/layout/chevron2"/>
    <dgm:cxn modelId="{0AA63A50-7F17-4732-B292-B3938CCB0A73}" srcId="{561B81D9-77CF-4CBD-A58C-639332EA5EBE}" destId="{72C8F22F-B680-46C7-8497-544E2267874B}" srcOrd="0" destOrd="0" parTransId="{3120EDEA-01BB-4366-8049-F5A7F9A12E25}" sibTransId="{AA8A5317-919A-4E08-9057-731BEBB83751}"/>
    <dgm:cxn modelId="{F124DDFB-C693-4220-A691-38D7E12C08E0}" srcId="{561B81D9-77CF-4CBD-A58C-639332EA5EBE}" destId="{E96F919C-9AB4-4242-A608-49327262AD42}" srcOrd="1" destOrd="0" parTransId="{362922C6-6961-4BB1-8449-C9F0EBF36EEB}" sibTransId="{61CACA27-B6C9-4736-82FF-49E219D783B1}"/>
    <dgm:cxn modelId="{0B9C72DD-9DDE-4289-A798-B7CEBBA18F92}" srcId="{E96F919C-9AB4-4242-A608-49327262AD42}" destId="{22069682-BDF9-4276-8B41-B7BD155641EB}" srcOrd="0" destOrd="0" parTransId="{BC2FDEB6-6F27-4863-AB14-5BD9B7F51D98}" sibTransId="{6E1AA707-6F23-4535-BE19-33DB3A380A6E}"/>
    <dgm:cxn modelId="{09136D87-5026-4E0B-83AA-9535C8E6955B}" type="presParOf" srcId="{B72D9A02-088C-4390-A965-EF4EFC259339}" destId="{4B713C4B-1E31-4254-83C1-B95D832755E6}" srcOrd="0" destOrd="0" presId="urn:microsoft.com/office/officeart/2005/8/layout/chevron2"/>
    <dgm:cxn modelId="{C78B70C6-1475-4AF7-8943-31F733B788A6}" type="presParOf" srcId="{4B713C4B-1E31-4254-83C1-B95D832755E6}" destId="{DBC54AD6-AAD4-44D8-B344-ABFD6C29C260}" srcOrd="0" destOrd="0" presId="urn:microsoft.com/office/officeart/2005/8/layout/chevron2"/>
    <dgm:cxn modelId="{17D704D0-E08A-496B-A916-EE3D450961E5}" type="presParOf" srcId="{4B713C4B-1E31-4254-83C1-B95D832755E6}" destId="{F5C9DC62-B25F-45A7-9449-3A5A9A1F3049}" srcOrd="1" destOrd="0" presId="urn:microsoft.com/office/officeart/2005/8/layout/chevron2"/>
    <dgm:cxn modelId="{60C251DF-42DB-4A1D-AE4D-CDE4FA8B6FA9}" type="presParOf" srcId="{B72D9A02-088C-4390-A965-EF4EFC259339}" destId="{1822442D-9131-4A76-A9CC-7108C5B7BD56}" srcOrd="1" destOrd="0" presId="urn:microsoft.com/office/officeart/2005/8/layout/chevron2"/>
    <dgm:cxn modelId="{2DC799E4-CA77-40C1-BA70-85E573E38CC4}" type="presParOf" srcId="{B72D9A02-088C-4390-A965-EF4EFC259339}" destId="{9DBB1112-A15A-468A-9295-950691451025}" srcOrd="2" destOrd="0" presId="urn:microsoft.com/office/officeart/2005/8/layout/chevron2"/>
    <dgm:cxn modelId="{0D17AE59-1242-4A61-AFD4-D0A768BED9BC}" type="presParOf" srcId="{9DBB1112-A15A-468A-9295-950691451025}" destId="{5EFA4FA4-033F-4851-85D6-DA907D0D4A3B}" srcOrd="0" destOrd="0" presId="urn:microsoft.com/office/officeart/2005/8/layout/chevron2"/>
    <dgm:cxn modelId="{0F28B38D-F3B2-4897-8A0C-81EF8D635095}" type="presParOf" srcId="{9DBB1112-A15A-468A-9295-950691451025}" destId="{B085DFD7-06FF-4512-AE91-A5E02299DA91}" srcOrd="1" destOrd="0" presId="urn:microsoft.com/office/officeart/2005/8/layout/chevron2"/>
    <dgm:cxn modelId="{8786775F-7F32-4D7C-9891-7E10BB0EAAFB}" type="presParOf" srcId="{B72D9A02-088C-4390-A965-EF4EFC259339}" destId="{94A62F0E-CD3F-418A-AC15-D187EB8E1490}" srcOrd="3" destOrd="0" presId="urn:microsoft.com/office/officeart/2005/8/layout/chevron2"/>
    <dgm:cxn modelId="{725E5581-0960-4D79-915A-E87871189E89}" type="presParOf" srcId="{B72D9A02-088C-4390-A965-EF4EFC259339}" destId="{CDDC730C-F342-4FC9-9562-AB193BB6EDFF}" srcOrd="4" destOrd="0" presId="urn:microsoft.com/office/officeart/2005/8/layout/chevron2"/>
    <dgm:cxn modelId="{F84E793A-CEF3-4C69-89E1-F5818A8F0E94}" type="presParOf" srcId="{CDDC730C-F342-4FC9-9562-AB193BB6EDFF}" destId="{4E9D730D-5C9B-48B0-8A4F-5FDF5256DDB1}" srcOrd="0" destOrd="0" presId="urn:microsoft.com/office/officeart/2005/8/layout/chevron2"/>
    <dgm:cxn modelId="{C1067327-AB64-4303-8057-8662E0EFBDCD}" type="presParOf" srcId="{CDDC730C-F342-4FC9-9562-AB193BB6EDFF}" destId="{66C07835-2A1B-4E38-B5BD-7F7EA438BF3C}" srcOrd="1" destOrd="0" presId="urn:microsoft.com/office/officeart/2005/8/layout/chevron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BC54AD6-AAD4-44D8-B344-ABFD6C29C260}">
      <dsp:nvSpPr>
        <dsp:cNvPr id="0" name=""/>
        <dsp:cNvSpPr/>
      </dsp:nvSpPr>
      <dsp:spPr>
        <a:xfrm rot="5400000">
          <a:off x="-250121" y="254820"/>
          <a:ext cx="1667474" cy="116723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1511300">
            <a:lnSpc>
              <a:spcPct val="90000"/>
            </a:lnSpc>
            <a:spcBef>
              <a:spcPct val="0"/>
            </a:spcBef>
            <a:spcAft>
              <a:spcPct val="35000"/>
            </a:spcAft>
          </a:pPr>
          <a:r>
            <a:rPr lang="en-US" altLang="zh-TW" sz="3400" b="1" kern="1200" dirty="0" smtClean="0">
              <a:solidFill>
                <a:srgbClr val="002060"/>
              </a:solidFill>
              <a:latin typeface="Times New Roman" pitchFamily="18" charset="0"/>
              <a:cs typeface="Times New Roman" pitchFamily="18" charset="0"/>
            </a:rPr>
            <a:t>1</a:t>
          </a:r>
          <a:endParaRPr lang="zh-TW" altLang="en-US" sz="3400" b="1" kern="1200" dirty="0">
            <a:solidFill>
              <a:srgbClr val="002060"/>
            </a:solidFill>
            <a:latin typeface="Times New Roman" pitchFamily="18" charset="0"/>
            <a:cs typeface="Times New Roman" pitchFamily="18" charset="0"/>
          </a:endParaRPr>
        </a:p>
      </dsp:txBody>
      <dsp:txXfrm rot="5400000">
        <a:off x="-250121" y="254820"/>
        <a:ext cx="1667474" cy="1167231"/>
      </dsp:txXfrm>
    </dsp:sp>
    <dsp:sp modelId="{F5C9DC62-B25F-45A7-9449-3A5A9A1F3049}">
      <dsp:nvSpPr>
        <dsp:cNvPr id="0" name=""/>
        <dsp:cNvSpPr/>
      </dsp:nvSpPr>
      <dsp:spPr>
        <a:xfrm rot="5400000">
          <a:off x="4156486" y="-2984555"/>
          <a:ext cx="1083858" cy="706236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zh-TW" altLang="en-US" sz="1800" b="1" i="0" kern="1200" baseline="0" dirty="0" smtClean="0">
              <a:solidFill>
                <a:srgbClr val="FF0000"/>
              </a:solidFill>
              <a:latin typeface="微軟正黑體" pitchFamily="34" charset="-120"/>
              <a:ea typeface="微軟正黑體" pitchFamily="34" charset="-120"/>
            </a:rPr>
            <a:t>進行資料轉換</a:t>
          </a:r>
          <a:endParaRPr lang="zh-TW" altLang="en-US" sz="1800" b="1" i="0" kern="1200" baseline="0" dirty="0">
            <a:solidFill>
              <a:srgbClr val="FF0000"/>
            </a:solidFill>
            <a:latin typeface="微軟正黑體" pitchFamily="34" charset="-120"/>
            <a:ea typeface="微軟正黑體" pitchFamily="34" charset="-120"/>
          </a:endParaRPr>
        </a:p>
        <a:p>
          <a:pPr marL="171450" lvl="1" indent="-171450" algn="l" defTabSz="800100">
            <a:lnSpc>
              <a:spcPct val="90000"/>
            </a:lnSpc>
            <a:spcBef>
              <a:spcPct val="0"/>
            </a:spcBef>
            <a:spcAft>
              <a:spcPct val="15000"/>
            </a:spcAft>
            <a:buChar char="••"/>
          </a:pPr>
          <a:r>
            <a:rPr lang="zh-TW" altLang="en-US" sz="1800" b="0" i="0" kern="1200" baseline="0" dirty="0" smtClean="0">
              <a:latin typeface="微軟正黑體" pitchFamily="34" charset="-120"/>
              <a:ea typeface="微軟正黑體" pitchFamily="34" charset="-120"/>
            </a:rPr>
            <a:t>由於</a:t>
          </a:r>
          <a:r>
            <a:rPr lang="en-US" altLang="zh-TW" sz="1800" b="0" i="0" kern="1200" baseline="0" dirty="0" smtClean="0">
              <a:latin typeface="微軟正黑體" pitchFamily="34" charset="-120"/>
              <a:ea typeface="微軟正黑體" pitchFamily="34" charset="-120"/>
            </a:rPr>
            <a:t>RST</a:t>
          </a:r>
          <a:r>
            <a:rPr lang="zh-TW" altLang="en-US" sz="1800" b="0" i="0" kern="1200" baseline="0" dirty="0" smtClean="0">
              <a:latin typeface="微軟正黑體" pitchFamily="34" charset="-120"/>
              <a:ea typeface="微軟正黑體" pitchFamily="34" charset="-120"/>
            </a:rPr>
            <a:t>分析資料不拘泥形式，為了方便矩陣運算，則需將資料變數一律轉換成量化型式。</a:t>
          </a:r>
          <a:endParaRPr lang="zh-TW" altLang="en-US" sz="1800" b="0" i="0" kern="1200" baseline="0" dirty="0">
            <a:latin typeface="微軟正黑體" pitchFamily="34" charset="-120"/>
            <a:ea typeface="微軟正黑體" pitchFamily="34" charset="-120"/>
          </a:endParaRPr>
        </a:p>
      </dsp:txBody>
      <dsp:txXfrm rot="5400000">
        <a:off x="4156486" y="-2984555"/>
        <a:ext cx="1083858" cy="7062368"/>
      </dsp:txXfrm>
    </dsp:sp>
    <dsp:sp modelId="{5EFA4FA4-033F-4851-85D6-DA907D0D4A3B}">
      <dsp:nvSpPr>
        <dsp:cNvPr id="0" name=""/>
        <dsp:cNvSpPr/>
      </dsp:nvSpPr>
      <dsp:spPr>
        <a:xfrm rot="5400000">
          <a:off x="-250121" y="1729188"/>
          <a:ext cx="1667474" cy="116723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1511300">
            <a:lnSpc>
              <a:spcPct val="90000"/>
            </a:lnSpc>
            <a:spcBef>
              <a:spcPct val="0"/>
            </a:spcBef>
            <a:spcAft>
              <a:spcPct val="35000"/>
            </a:spcAft>
          </a:pPr>
          <a:r>
            <a:rPr lang="en-US" altLang="zh-TW" sz="3400" b="1" kern="1200" dirty="0" smtClean="0">
              <a:solidFill>
                <a:srgbClr val="002060"/>
              </a:solidFill>
              <a:latin typeface="Times New Roman" pitchFamily="18" charset="0"/>
              <a:cs typeface="Times New Roman" pitchFamily="18" charset="0"/>
            </a:rPr>
            <a:t>2</a:t>
          </a:r>
          <a:endParaRPr lang="zh-TW" altLang="en-US" sz="3400" b="1" kern="1200" dirty="0">
            <a:solidFill>
              <a:srgbClr val="002060"/>
            </a:solidFill>
            <a:latin typeface="Times New Roman" pitchFamily="18" charset="0"/>
            <a:cs typeface="Times New Roman" pitchFamily="18" charset="0"/>
          </a:endParaRPr>
        </a:p>
      </dsp:txBody>
      <dsp:txXfrm rot="5400000">
        <a:off x="-250121" y="1729188"/>
        <a:ext cx="1667474" cy="1167231"/>
      </dsp:txXfrm>
    </dsp:sp>
    <dsp:sp modelId="{B085DFD7-06FF-4512-AE91-A5E02299DA91}">
      <dsp:nvSpPr>
        <dsp:cNvPr id="0" name=""/>
        <dsp:cNvSpPr/>
      </dsp:nvSpPr>
      <dsp:spPr>
        <a:xfrm rot="5400000">
          <a:off x="4156486" y="-1510187"/>
          <a:ext cx="1083858" cy="706236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zh-TW" altLang="en-US" sz="2000" b="1" i="0" kern="1200" baseline="0" dirty="0" smtClean="0">
              <a:solidFill>
                <a:srgbClr val="FF0000"/>
              </a:solidFill>
              <a:latin typeface="微軟正黑體" pitchFamily="34" charset="-120"/>
              <a:ea typeface="微軟正黑體" pitchFamily="34" charset="-120"/>
            </a:rPr>
            <a:t>建立資訊系統 </a:t>
          </a:r>
          <a:r>
            <a:rPr lang="en-US" altLang="zh-TW" sz="2000" b="1" i="0" kern="1200" baseline="0" dirty="0" smtClean="0">
              <a:solidFill>
                <a:srgbClr val="FF0000"/>
              </a:solidFill>
              <a:latin typeface="微軟正黑體" pitchFamily="34" charset="-120"/>
              <a:ea typeface="微軟正黑體" pitchFamily="34" charset="-120"/>
            </a:rPr>
            <a:t>(</a:t>
          </a:r>
          <a:r>
            <a:rPr lang="en-US" altLang="zh-TW" sz="2000" b="1" i="1" kern="1200" baseline="0" dirty="0" smtClean="0">
              <a:solidFill>
                <a:srgbClr val="FF0000"/>
              </a:solidFill>
              <a:latin typeface="微軟正黑體" pitchFamily="34" charset="-120"/>
              <a:ea typeface="微軟正黑體" pitchFamily="34" charset="-120"/>
            </a:rPr>
            <a:t>Information System</a:t>
          </a:r>
          <a:r>
            <a:rPr lang="en-US" altLang="zh-TW" sz="2000" b="1" i="0" kern="1200" baseline="0" dirty="0" smtClean="0">
              <a:solidFill>
                <a:srgbClr val="FF0000"/>
              </a:solidFill>
              <a:latin typeface="微軟正黑體" pitchFamily="34" charset="-120"/>
              <a:ea typeface="微軟正黑體" pitchFamily="34" charset="-120"/>
            </a:rPr>
            <a:t>)</a:t>
          </a:r>
          <a:endParaRPr lang="zh-TW" altLang="en-US" sz="2000" b="1" i="0" kern="1200" baseline="0" dirty="0">
            <a:solidFill>
              <a:srgbClr val="FF0000"/>
            </a:solidFill>
            <a:latin typeface="微軟正黑體" pitchFamily="34" charset="-120"/>
            <a:ea typeface="微軟正黑體" pitchFamily="34" charset="-120"/>
          </a:endParaRPr>
        </a:p>
        <a:p>
          <a:pPr marL="228600" lvl="1" indent="-228600" algn="l" defTabSz="889000">
            <a:lnSpc>
              <a:spcPct val="90000"/>
            </a:lnSpc>
            <a:spcBef>
              <a:spcPct val="0"/>
            </a:spcBef>
            <a:spcAft>
              <a:spcPct val="15000"/>
            </a:spcAft>
            <a:buChar char="••"/>
          </a:pPr>
          <a:r>
            <a:rPr lang="zh-TW" altLang="en-US" sz="2000" b="0" i="0" kern="1200" baseline="0" dirty="0" smtClean="0">
              <a:latin typeface="微軟正黑體" pitchFamily="34" charset="-120"/>
              <a:ea typeface="微軟正黑體" pitchFamily="34" charset="-120"/>
            </a:rPr>
            <a:t>資訊系統是由所有欲分析的資料所組成的總表。</a:t>
          </a:r>
          <a:endParaRPr lang="zh-TW" altLang="en-US" sz="2000" b="0" i="0" kern="1200" baseline="0" dirty="0">
            <a:latin typeface="微軟正黑體" pitchFamily="34" charset="-120"/>
            <a:ea typeface="微軟正黑體" pitchFamily="34" charset="-120"/>
          </a:endParaRPr>
        </a:p>
      </dsp:txBody>
      <dsp:txXfrm rot="5400000">
        <a:off x="4156486" y="-1510187"/>
        <a:ext cx="1083858" cy="7062368"/>
      </dsp:txXfrm>
    </dsp:sp>
    <dsp:sp modelId="{4E9D730D-5C9B-48B0-8A4F-5FDF5256DDB1}">
      <dsp:nvSpPr>
        <dsp:cNvPr id="0" name=""/>
        <dsp:cNvSpPr/>
      </dsp:nvSpPr>
      <dsp:spPr>
        <a:xfrm rot="5400000">
          <a:off x="-250121" y="3203556"/>
          <a:ext cx="1667474" cy="116723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1511300">
            <a:lnSpc>
              <a:spcPct val="90000"/>
            </a:lnSpc>
            <a:spcBef>
              <a:spcPct val="0"/>
            </a:spcBef>
            <a:spcAft>
              <a:spcPct val="35000"/>
            </a:spcAft>
          </a:pPr>
          <a:r>
            <a:rPr lang="en-US" altLang="zh-TW" sz="3400" b="1" kern="1200" dirty="0" smtClean="0">
              <a:solidFill>
                <a:srgbClr val="002060"/>
              </a:solidFill>
              <a:latin typeface="Times New Roman" pitchFamily="18" charset="0"/>
              <a:cs typeface="Times New Roman" pitchFamily="18" charset="0"/>
            </a:rPr>
            <a:t>3</a:t>
          </a:r>
          <a:endParaRPr lang="zh-TW" altLang="en-US" sz="3400" b="1" kern="1200" dirty="0">
            <a:solidFill>
              <a:srgbClr val="002060"/>
            </a:solidFill>
            <a:latin typeface="Times New Roman" pitchFamily="18" charset="0"/>
            <a:cs typeface="Times New Roman" pitchFamily="18" charset="0"/>
          </a:endParaRPr>
        </a:p>
      </dsp:txBody>
      <dsp:txXfrm rot="5400000">
        <a:off x="-250121" y="3203556"/>
        <a:ext cx="1667474" cy="1167231"/>
      </dsp:txXfrm>
    </dsp:sp>
    <dsp:sp modelId="{66C07835-2A1B-4E38-B5BD-7F7EA438BF3C}">
      <dsp:nvSpPr>
        <dsp:cNvPr id="0" name=""/>
        <dsp:cNvSpPr/>
      </dsp:nvSpPr>
      <dsp:spPr>
        <a:xfrm rot="5400000">
          <a:off x="4156486" y="-35819"/>
          <a:ext cx="1083858" cy="706236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zh-TW" altLang="en-US" sz="2000" b="1" i="0" kern="1200" baseline="0" dirty="0" smtClean="0">
              <a:solidFill>
                <a:srgbClr val="FF0000"/>
              </a:solidFill>
              <a:latin typeface="微軟正黑體" pitchFamily="34" charset="-120"/>
              <a:ea typeface="微軟正黑體" pitchFamily="34" charset="-120"/>
            </a:rPr>
            <a:t>找出不可區分關係 </a:t>
          </a:r>
          <a:r>
            <a:rPr lang="en-US" altLang="zh-TW" sz="2000" b="1" i="0" kern="1200" baseline="0" dirty="0" smtClean="0">
              <a:solidFill>
                <a:srgbClr val="FF0000"/>
              </a:solidFill>
              <a:latin typeface="微軟正黑體" pitchFamily="34" charset="-120"/>
              <a:ea typeface="微軟正黑體" pitchFamily="34" charset="-120"/>
            </a:rPr>
            <a:t>(</a:t>
          </a:r>
          <a:r>
            <a:rPr lang="en-US" altLang="zh-TW" sz="2000" b="1" i="1" kern="1200" baseline="0" dirty="0" err="1" smtClean="0">
              <a:solidFill>
                <a:srgbClr val="FF0000"/>
              </a:solidFill>
              <a:latin typeface="微軟正黑體" pitchFamily="34" charset="-120"/>
              <a:ea typeface="微軟正黑體" pitchFamily="34" charset="-120"/>
            </a:rPr>
            <a:t>Indiscernibility</a:t>
          </a:r>
          <a:r>
            <a:rPr lang="en-US" altLang="zh-TW" sz="2000" b="1" i="1" kern="1200" baseline="0" dirty="0" smtClean="0">
              <a:solidFill>
                <a:srgbClr val="FF0000"/>
              </a:solidFill>
              <a:latin typeface="微軟正黑體" pitchFamily="34" charset="-120"/>
              <a:ea typeface="微軟正黑體" pitchFamily="34" charset="-120"/>
            </a:rPr>
            <a:t> Relation</a:t>
          </a:r>
          <a:r>
            <a:rPr lang="en-US" altLang="zh-TW" sz="2000" b="1" i="0" kern="1200" baseline="0" dirty="0" smtClean="0">
              <a:solidFill>
                <a:srgbClr val="FF0000"/>
              </a:solidFill>
              <a:latin typeface="微軟正黑體" pitchFamily="34" charset="-120"/>
              <a:ea typeface="微軟正黑體" pitchFamily="34" charset="-120"/>
            </a:rPr>
            <a:t>)</a:t>
          </a:r>
          <a:endParaRPr lang="zh-TW" altLang="en-US" sz="2000" b="1" i="0" kern="1200" baseline="0" dirty="0">
            <a:solidFill>
              <a:srgbClr val="FF0000"/>
            </a:solidFill>
            <a:latin typeface="微軟正黑體" pitchFamily="34" charset="-120"/>
            <a:ea typeface="微軟正黑體" pitchFamily="34" charset="-120"/>
          </a:endParaRPr>
        </a:p>
        <a:p>
          <a:pPr marL="228600" lvl="1" indent="-228600" algn="l" defTabSz="889000">
            <a:lnSpc>
              <a:spcPct val="90000"/>
            </a:lnSpc>
            <a:spcBef>
              <a:spcPct val="0"/>
            </a:spcBef>
            <a:spcAft>
              <a:spcPct val="15000"/>
            </a:spcAft>
            <a:buChar char="••"/>
          </a:pPr>
          <a:r>
            <a:rPr lang="zh-TW" altLang="en-US" sz="2000" b="0" i="0" kern="1200" baseline="0" dirty="0" smtClean="0">
              <a:latin typeface="微軟正黑體" pitchFamily="34" charset="-120"/>
              <a:ea typeface="微軟正黑體" pitchFamily="34" charset="-120"/>
            </a:rPr>
            <a:t>以屬性刪減及尋找核心屬性，找出所有可能最小的屬性集。</a:t>
          </a:r>
          <a:endParaRPr lang="zh-TW" altLang="en-US" sz="2000" b="0" i="0" kern="1200" baseline="0" dirty="0">
            <a:latin typeface="微軟正黑體" pitchFamily="34" charset="-120"/>
            <a:ea typeface="微軟正黑體" pitchFamily="34" charset="-120"/>
          </a:endParaRPr>
        </a:p>
      </dsp:txBody>
      <dsp:txXfrm rot="5400000">
        <a:off x="4156486" y="-35819"/>
        <a:ext cx="1083858" cy="7062368"/>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BC54AD6-AAD4-44D8-B344-ABFD6C29C260}">
      <dsp:nvSpPr>
        <dsp:cNvPr id="0" name=""/>
        <dsp:cNvSpPr/>
      </dsp:nvSpPr>
      <dsp:spPr>
        <a:xfrm rot="5400000">
          <a:off x="-250121" y="254820"/>
          <a:ext cx="1667474" cy="116723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1511300">
            <a:lnSpc>
              <a:spcPct val="90000"/>
            </a:lnSpc>
            <a:spcBef>
              <a:spcPct val="0"/>
            </a:spcBef>
            <a:spcAft>
              <a:spcPct val="35000"/>
            </a:spcAft>
          </a:pPr>
          <a:r>
            <a:rPr lang="en-US" altLang="zh-TW" sz="3400" b="1" kern="1200" dirty="0" smtClean="0">
              <a:solidFill>
                <a:srgbClr val="002060"/>
              </a:solidFill>
              <a:latin typeface="Times New Roman" pitchFamily="18" charset="0"/>
              <a:cs typeface="Times New Roman" pitchFamily="18" charset="0"/>
            </a:rPr>
            <a:t>4</a:t>
          </a:r>
          <a:endParaRPr lang="zh-TW" altLang="en-US" sz="3400" b="1" kern="1200" dirty="0">
            <a:solidFill>
              <a:srgbClr val="002060"/>
            </a:solidFill>
            <a:latin typeface="Times New Roman" pitchFamily="18" charset="0"/>
            <a:cs typeface="Times New Roman" pitchFamily="18" charset="0"/>
          </a:endParaRPr>
        </a:p>
      </dsp:txBody>
      <dsp:txXfrm rot="5400000">
        <a:off x="-250121" y="254820"/>
        <a:ext cx="1667474" cy="1167231"/>
      </dsp:txXfrm>
    </dsp:sp>
    <dsp:sp modelId="{F5C9DC62-B25F-45A7-9449-3A5A9A1F3049}">
      <dsp:nvSpPr>
        <dsp:cNvPr id="0" name=""/>
        <dsp:cNvSpPr/>
      </dsp:nvSpPr>
      <dsp:spPr>
        <a:xfrm rot="5400000">
          <a:off x="4156486" y="-2984555"/>
          <a:ext cx="1083858" cy="706236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zh-TW" altLang="en-US" sz="1800" b="1" kern="1200" dirty="0" smtClean="0">
              <a:solidFill>
                <a:srgbClr val="FF0000"/>
              </a:solidFill>
              <a:latin typeface="微軟正黑體" pitchFamily="34" charset="-120"/>
              <a:ea typeface="微軟正黑體" pitchFamily="34" charset="-120"/>
            </a:rPr>
            <a:t>求取上下限近似集 </a:t>
          </a:r>
          <a:r>
            <a:rPr lang="en-US" altLang="zh-TW" sz="1800" b="1" kern="1200" dirty="0" smtClean="0">
              <a:solidFill>
                <a:srgbClr val="FF0000"/>
              </a:solidFill>
              <a:latin typeface="微軟正黑體" pitchFamily="34" charset="-120"/>
              <a:ea typeface="微軟正黑體" pitchFamily="34" charset="-120"/>
            </a:rPr>
            <a:t>(</a:t>
          </a:r>
          <a:r>
            <a:rPr lang="en-US" altLang="zh-TW" sz="1800" b="1" i="1" kern="1200" dirty="0" smtClean="0">
              <a:solidFill>
                <a:srgbClr val="FF0000"/>
              </a:solidFill>
              <a:latin typeface="微軟正黑體" pitchFamily="34" charset="-120"/>
              <a:ea typeface="微軟正黑體" pitchFamily="34" charset="-120"/>
            </a:rPr>
            <a:t>Lower and Upper Approximations</a:t>
          </a:r>
          <a:r>
            <a:rPr lang="en-US" altLang="zh-TW" sz="1800" b="1" kern="1200" dirty="0" smtClean="0">
              <a:solidFill>
                <a:srgbClr val="FF0000"/>
              </a:solidFill>
              <a:latin typeface="微軟正黑體" pitchFamily="34" charset="-120"/>
              <a:ea typeface="微軟正黑體" pitchFamily="34" charset="-120"/>
            </a:rPr>
            <a:t>)</a:t>
          </a:r>
          <a:endParaRPr lang="zh-TW" altLang="en-US" sz="1800" b="1" kern="1200" dirty="0">
            <a:solidFill>
              <a:srgbClr val="FF0000"/>
            </a:solidFill>
            <a:latin typeface="微軟正黑體" pitchFamily="34" charset="-120"/>
            <a:ea typeface="微軟正黑體" pitchFamily="34" charset="-120"/>
          </a:endParaRPr>
        </a:p>
        <a:p>
          <a:pPr marL="171450" lvl="1" indent="-171450" algn="l" defTabSz="800100">
            <a:lnSpc>
              <a:spcPct val="90000"/>
            </a:lnSpc>
            <a:spcBef>
              <a:spcPct val="0"/>
            </a:spcBef>
            <a:spcAft>
              <a:spcPct val="15000"/>
            </a:spcAft>
            <a:buChar char="••"/>
          </a:pPr>
          <a:r>
            <a:rPr lang="zh-TW" altLang="en-US" sz="1800" kern="1200" dirty="0" smtClean="0">
              <a:latin typeface="微軟正黑體" pitchFamily="34" charset="-120"/>
              <a:ea typeface="微軟正黑體" pitchFamily="34" charset="-120"/>
            </a:rPr>
            <a:t>在</a:t>
          </a:r>
          <a:r>
            <a:rPr lang="en-US" altLang="zh-TW" sz="1800" kern="1200" dirty="0" smtClean="0">
              <a:latin typeface="微軟正黑體" pitchFamily="34" charset="-120"/>
              <a:ea typeface="微軟正黑體" pitchFamily="34" charset="-120"/>
            </a:rPr>
            <a:t>RST</a:t>
          </a:r>
          <a:r>
            <a:rPr lang="zh-TW" altLang="en-US" sz="1800" kern="1200" dirty="0" smtClean="0">
              <a:latin typeface="微軟正黑體" pitchFamily="34" charset="-120"/>
              <a:ea typeface="微軟正黑體" pitchFamily="34" charset="-120"/>
            </a:rPr>
            <a:t>分析過程中發生分類不一致的情形時，即可藉由上下限近似集來處理、解決這類的問題。</a:t>
          </a:r>
          <a:endParaRPr lang="zh-TW" altLang="en-US" sz="1800" kern="1200" dirty="0">
            <a:latin typeface="微軟正黑體" pitchFamily="34" charset="-120"/>
            <a:ea typeface="微軟正黑體" pitchFamily="34" charset="-120"/>
          </a:endParaRPr>
        </a:p>
      </dsp:txBody>
      <dsp:txXfrm rot="5400000">
        <a:off x="4156486" y="-2984555"/>
        <a:ext cx="1083858" cy="7062368"/>
      </dsp:txXfrm>
    </dsp:sp>
    <dsp:sp modelId="{5EFA4FA4-033F-4851-85D6-DA907D0D4A3B}">
      <dsp:nvSpPr>
        <dsp:cNvPr id="0" name=""/>
        <dsp:cNvSpPr/>
      </dsp:nvSpPr>
      <dsp:spPr>
        <a:xfrm rot="5400000">
          <a:off x="-250121" y="1729188"/>
          <a:ext cx="1667474" cy="116723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1511300">
            <a:lnSpc>
              <a:spcPct val="90000"/>
            </a:lnSpc>
            <a:spcBef>
              <a:spcPct val="0"/>
            </a:spcBef>
            <a:spcAft>
              <a:spcPct val="35000"/>
            </a:spcAft>
          </a:pPr>
          <a:r>
            <a:rPr lang="en-US" altLang="zh-TW" sz="3400" b="1" kern="1200" dirty="0" smtClean="0">
              <a:solidFill>
                <a:srgbClr val="002060"/>
              </a:solidFill>
              <a:latin typeface="Times New Roman" pitchFamily="18" charset="0"/>
              <a:cs typeface="Times New Roman" pitchFamily="18" charset="0"/>
            </a:rPr>
            <a:t>5</a:t>
          </a:r>
          <a:endParaRPr lang="zh-TW" altLang="en-US" sz="3400" b="1" kern="1200" dirty="0">
            <a:solidFill>
              <a:srgbClr val="002060"/>
            </a:solidFill>
            <a:latin typeface="Times New Roman" pitchFamily="18" charset="0"/>
            <a:cs typeface="Times New Roman" pitchFamily="18" charset="0"/>
          </a:endParaRPr>
        </a:p>
      </dsp:txBody>
      <dsp:txXfrm rot="5400000">
        <a:off x="-250121" y="1729188"/>
        <a:ext cx="1667474" cy="1167231"/>
      </dsp:txXfrm>
    </dsp:sp>
    <dsp:sp modelId="{B085DFD7-06FF-4512-AE91-A5E02299DA91}">
      <dsp:nvSpPr>
        <dsp:cNvPr id="0" name=""/>
        <dsp:cNvSpPr/>
      </dsp:nvSpPr>
      <dsp:spPr>
        <a:xfrm rot="5400000">
          <a:off x="4156486" y="-1510187"/>
          <a:ext cx="1083858" cy="706236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zh-TW" altLang="en-US" sz="1800" b="1" kern="1200" dirty="0" smtClean="0">
              <a:solidFill>
                <a:srgbClr val="FF0000"/>
              </a:solidFill>
              <a:latin typeface="微軟正黑體" pitchFamily="34" charset="-120"/>
              <a:ea typeface="微軟正黑體" pitchFamily="34" charset="-120"/>
            </a:rPr>
            <a:t>進行屬性的刪減與核心 </a:t>
          </a:r>
          <a:r>
            <a:rPr lang="en-US" altLang="zh-TW" sz="1800" b="1" kern="1200" dirty="0" smtClean="0">
              <a:solidFill>
                <a:srgbClr val="FF0000"/>
              </a:solidFill>
              <a:latin typeface="微軟正黑體" pitchFamily="34" charset="-120"/>
              <a:ea typeface="微軟正黑體" pitchFamily="34" charset="-120"/>
            </a:rPr>
            <a:t>(</a:t>
          </a:r>
          <a:r>
            <a:rPr lang="en-US" altLang="zh-TW" sz="1800" b="1" i="1" kern="1200" dirty="0" smtClean="0">
              <a:solidFill>
                <a:srgbClr val="FF0000"/>
              </a:solidFill>
              <a:latin typeface="微軟正黑體" pitchFamily="34" charset="-120"/>
              <a:ea typeface="微軟正黑體" pitchFamily="34" charset="-120"/>
            </a:rPr>
            <a:t>Core and </a:t>
          </a:r>
          <a:r>
            <a:rPr lang="en-US" altLang="zh-TW" sz="1800" b="1" i="1" kern="1200" dirty="0" err="1" smtClean="0">
              <a:solidFill>
                <a:srgbClr val="FF0000"/>
              </a:solidFill>
              <a:latin typeface="微軟正黑體" pitchFamily="34" charset="-120"/>
              <a:ea typeface="微軟正黑體" pitchFamily="34" charset="-120"/>
            </a:rPr>
            <a:t>Reduct</a:t>
          </a:r>
          <a:r>
            <a:rPr lang="en-US" altLang="zh-TW" sz="1800" b="1" i="1" kern="1200" dirty="0" smtClean="0">
              <a:solidFill>
                <a:srgbClr val="FF0000"/>
              </a:solidFill>
              <a:latin typeface="微軟正黑體" pitchFamily="34" charset="-120"/>
              <a:ea typeface="微軟正黑體" pitchFamily="34" charset="-120"/>
            </a:rPr>
            <a:t> of Attributes</a:t>
          </a:r>
          <a:r>
            <a:rPr lang="en-US" altLang="zh-TW" sz="1800" b="1" kern="1200" dirty="0" smtClean="0">
              <a:solidFill>
                <a:srgbClr val="FF0000"/>
              </a:solidFill>
              <a:latin typeface="微軟正黑體" pitchFamily="34" charset="-120"/>
              <a:ea typeface="微軟正黑體" pitchFamily="34" charset="-120"/>
            </a:rPr>
            <a:t>)</a:t>
          </a:r>
          <a:endParaRPr lang="zh-TW" altLang="en-US" sz="1800" b="1" kern="1200" dirty="0">
            <a:solidFill>
              <a:srgbClr val="FF0000"/>
            </a:solidFill>
            <a:latin typeface="微軟正黑體" pitchFamily="34" charset="-120"/>
            <a:ea typeface="微軟正黑體" pitchFamily="34" charset="-120"/>
          </a:endParaRPr>
        </a:p>
        <a:p>
          <a:pPr marL="171450" lvl="1" indent="-171450" algn="l" defTabSz="800100">
            <a:lnSpc>
              <a:spcPct val="90000"/>
            </a:lnSpc>
            <a:spcBef>
              <a:spcPct val="0"/>
            </a:spcBef>
            <a:spcAft>
              <a:spcPct val="15000"/>
            </a:spcAft>
            <a:buChar char="••"/>
          </a:pPr>
          <a:r>
            <a:rPr lang="zh-TW" altLang="en-US" sz="1800" kern="1200" dirty="0" smtClean="0">
              <a:latin typeface="微軟正黑體" pitchFamily="34" charset="-120"/>
              <a:ea typeface="微軟正黑體" pitchFamily="34" charset="-120"/>
            </a:rPr>
            <a:t>找出可以解釋整體屬性集合之所有最小的屬性子集合，並挖掘不可或缺的屬性集合。</a:t>
          </a:r>
          <a:endParaRPr lang="zh-TW" altLang="en-US" sz="1800" kern="1200" dirty="0">
            <a:latin typeface="微軟正黑體" pitchFamily="34" charset="-120"/>
            <a:ea typeface="微軟正黑體" pitchFamily="34" charset="-120"/>
          </a:endParaRPr>
        </a:p>
      </dsp:txBody>
      <dsp:txXfrm rot="5400000">
        <a:off x="4156486" y="-1510187"/>
        <a:ext cx="1083858" cy="7062368"/>
      </dsp:txXfrm>
    </dsp:sp>
    <dsp:sp modelId="{4E9D730D-5C9B-48B0-8A4F-5FDF5256DDB1}">
      <dsp:nvSpPr>
        <dsp:cNvPr id="0" name=""/>
        <dsp:cNvSpPr/>
      </dsp:nvSpPr>
      <dsp:spPr>
        <a:xfrm rot="5400000">
          <a:off x="-250121" y="3203556"/>
          <a:ext cx="1667474" cy="1167231"/>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1511300">
            <a:lnSpc>
              <a:spcPct val="90000"/>
            </a:lnSpc>
            <a:spcBef>
              <a:spcPct val="0"/>
            </a:spcBef>
            <a:spcAft>
              <a:spcPct val="35000"/>
            </a:spcAft>
          </a:pPr>
          <a:r>
            <a:rPr lang="en-US" altLang="zh-TW" sz="3400" b="1" kern="1200" dirty="0" smtClean="0">
              <a:solidFill>
                <a:srgbClr val="002060"/>
              </a:solidFill>
              <a:latin typeface="Times New Roman" pitchFamily="18" charset="0"/>
              <a:cs typeface="Times New Roman" pitchFamily="18" charset="0"/>
            </a:rPr>
            <a:t>6</a:t>
          </a:r>
          <a:endParaRPr lang="zh-TW" altLang="en-US" sz="3400" b="1" kern="1200" dirty="0">
            <a:solidFill>
              <a:srgbClr val="002060"/>
            </a:solidFill>
            <a:latin typeface="Times New Roman" pitchFamily="18" charset="0"/>
            <a:cs typeface="Times New Roman" pitchFamily="18" charset="0"/>
          </a:endParaRPr>
        </a:p>
      </dsp:txBody>
      <dsp:txXfrm rot="5400000">
        <a:off x="-250121" y="3203556"/>
        <a:ext cx="1667474" cy="1167231"/>
      </dsp:txXfrm>
    </dsp:sp>
    <dsp:sp modelId="{66C07835-2A1B-4E38-B5BD-7F7EA438BF3C}">
      <dsp:nvSpPr>
        <dsp:cNvPr id="0" name=""/>
        <dsp:cNvSpPr/>
      </dsp:nvSpPr>
      <dsp:spPr>
        <a:xfrm rot="5400000">
          <a:off x="4156486" y="-35819"/>
          <a:ext cx="1083858" cy="706236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zh-TW" altLang="en-US" sz="1800" b="1" kern="1200" dirty="0" smtClean="0">
              <a:solidFill>
                <a:srgbClr val="FF0000"/>
              </a:solidFill>
              <a:latin typeface="微軟正黑體" pitchFamily="34" charset="-120"/>
              <a:ea typeface="微軟正黑體" pitchFamily="34" charset="-120"/>
            </a:rPr>
            <a:t>進行決策規則 </a:t>
          </a:r>
          <a:r>
            <a:rPr lang="en-US" altLang="zh-TW" sz="1800" b="1" kern="1200" dirty="0" smtClean="0">
              <a:solidFill>
                <a:srgbClr val="FF0000"/>
              </a:solidFill>
              <a:latin typeface="微軟正黑體" pitchFamily="34" charset="-120"/>
              <a:ea typeface="微軟正黑體" pitchFamily="34" charset="-120"/>
            </a:rPr>
            <a:t>(</a:t>
          </a:r>
          <a:r>
            <a:rPr lang="en-US" altLang="zh-TW" sz="1800" b="1" i="1" kern="1200" dirty="0" smtClean="0">
              <a:solidFill>
                <a:srgbClr val="FF0000"/>
              </a:solidFill>
              <a:latin typeface="微軟正黑體" pitchFamily="34" charset="-120"/>
              <a:ea typeface="微軟正黑體" pitchFamily="34" charset="-120"/>
            </a:rPr>
            <a:t>Decision Rules</a:t>
          </a:r>
          <a:r>
            <a:rPr lang="en-US" altLang="zh-TW" sz="1800" b="1" kern="1200" dirty="0" smtClean="0">
              <a:solidFill>
                <a:srgbClr val="FF0000"/>
              </a:solidFill>
              <a:latin typeface="微軟正黑體" pitchFamily="34" charset="-120"/>
              <a:ea typeface="微軟正黑體" pitchFamily="34" charset="-120"/>
            </a:rPr>
            <a:t>)</a:t>
          </a:r>
          <a:endParaRPr lang="zh-TW" altLang="en-US" sz="1800" b="1" kern="1200" dirty="0">
            <a:solidFill>
              <a:srgbClr val="FF0000"/>
            </a:solidFill>
            <a:latin typeface="微軟正黑體" pitchFamily="34" charset="-120"/>
            <a:ea typeface="微軟正黑體" pitchFamily="34" charset="-120"/>
          </a:endParaRPr>
        </a:p>
        <a:p>
          <a:pPr marL="171450" lvl="1" indent="-171450" algn="l" defTabSz="800100">
            <a:lnSpc>
              <a:spcPct val="90000"/>
            </a:lnSpc>
            <a:spcBef>
              <a:spcPct val="0"/>
            </a:spcBef>
            <a:spcAft>
              <a:spcPct val="15000"/>
            </a:spcAft>
            <a:buChar char="••"/>
          </a:pPr>
          <a:r>
            <a:rPr lang="zh-TW" altLang="en-US" sz="1800" kern="1200" dirty="0" smtClean="0">
              <a:latin typeface="微軟正黑體" pitchFamily="34" charset="-120"/>
              <a:ea typeface="微軟正黑體" pitchFamily="34" charset="-120"/>
            </a:rPr>
            <a:t>計算各項規則的強度，作為當條件屬性相同而分類結果不同的決策規則，應選擇何項決策規則進行預測或歸納的依據。</a:t>
          </a:r>
          <a:endParaRPr lang="zh-TW" altLang="en-US" sz="1800" kern="1200" dirty="0">
            <a:latin typeface="微軟正黑體" pitchFamily="34" charset="-120"/>
            <a:ea typeface="微軟正黑體" pitchFamily="34" charset="-120"/>
          </a:endParaRPr>
        </a:p>
      </dsp:txBody>
      <dsp:txXfrm rot="5400000">
        <a:off x="4156486" y="-35819"/>
        <a:ext cx="1083858" cy="7062368"/>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2FC0D9D-CC99-4B43-9D24-265680F250BF}" type="datetimeFigureOut">
              <a:rPr lang="zh-TW" altLang="en-US" smtClean="0"/>
              <a:pPr/>
              <a:t>2011/1/11</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F39CC7F-B865-4106-9DBB-B35E716B9B9D}"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1461776E-6A37-4681-A049-BB7690208D63}" type="slidenum">
              <a:rPr lang="en-US" altLang="zh-TW">
                <a:ea typeface="新細明體" charset="-120"/>
              </a:rPr>
              <a:pPr/>
              <a:t>4</a:t>
            </a:fld>
            <a:endParaRPr lang="en-US" altLang="zh-TW">
              <a:ea typeface="新細明體" charset="-12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pPr eaLnBrk="1" hangingPunct="1"/>
            <a:endParaRPr kumimoji="0" lang="zh-TW" altLang="en-US" sz="1100" dirty="0" smtClean="0">
              <a:latin typeface="標楷體" pitchFamily="65" charset="-120"/>
              <a:ea typeface="標楷體" pitchFamily="65" charset="-12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投影片圖像版面配置區 1"/>
          <p:cNvSpPr>
            <a:spLocks noGrp="1" noRot="1" noChangeAspect="1" noTextEdit="1"/>
          </p:cNvSpPr>
          <p:nvPr>
            <p:ph type="sldImg"/>
          </p:nvPr>
        </p:nvSpPr>
        <p:spPr>
          <a:ln/>
        </p:spPr>
      </p:sp>
      <p:sp>
        <p:nvSpPr>
          <p:cNvPr id="75779" name="備忘稿版面配置區 2"/>
          <p:cNvSpPr>
            <a:spLocks noGrp="1"/>
          </p:cNvSpPr>
          <p:nvPr>
            <p:ph type="body" idx="1"/>
          </p:nvPr>
        </p:nvSpPr>
        <p:spPr>
          <a:noFill/>
          <a:ln/>
        </p:spPr>
        <p:txBody>
          <a:bodyPr/>
          <a:lstStyle/>
          <a:p>
            <a:pPr eaLnBrk="1" hangingPunct="1"/>
            <a:endParaRPr lang="zh-TW" altLang="en-US" smtClean="0">
              <a:ea typeface="新細明體" charset="-120"/>
            </a:endParaRPr>
          </a:p>
        </p:txBody>
      </p:sp>
      <p:sp>
        <p:nvSpPr>
          <p:cNvPr id="75780" name="投影片編號版面配置區 3"/>
          <p:cNvSpPr>
            <a:spLocks noGrp="1"/>
          </p:cNvSpPr>
          <p:nvPr>
            <p:ph type="sldNum" sz="quarter" idx="5"/>
          </p:nvPr>
        </p:nvSpPr>
        <p:spPr>
          <a:noFill/>
        </p:spPr>
        <p:txBody>
          <a:bodyPr/>
          <a:lstStyle/>
          <a:p>
            <a:fld id="{5231AE27-4E83-43D1-9B73-352FCEEEB706}" type="slidenum">
              <a:rPr lang="en-US" altLang="zh-TW">
                <a:ea typeface="新細明體" charset="-120"/>
              </a:rPr>
              <a:pPr/>
              <a:t>13</a:t>
            </a:fld>
            <a:endParaRPr lang="en-US" altLang="zh-TW">
              <a:ea typeface="新細明體" charset="-12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6E3344AF-266B-4FE6-8111-490808095338}" type="datetime1">
              <a:rPr lang="zh-TW" altLang="en-US" smtClean="0"/>
              <a:pPr/>
              <a:t>2011/1/11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914735A-2DD1-49E1-A8E8-1A4F28A0E6C3}"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C31C689-6C0B-44EC-95E0-91794E5981FB}" type="datetime1">
              <a:rPr lang="zh-TW" altLang="en-US" smtClean="0"/>
              <a:pPr/>
              <a:t>2011/1/11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914735A-2DD1-49E1-A8E8-1A4F28A0E6C3}"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EF8E523D-44AC-45E0-80E9-4EE3A5624D77}" type="datetime1">
              <a:rPr lang="zh-TW" altLang="en-US" smtClean="0"/>
              <a:pPr/>
              <a:t>2011/1/11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914735A-2DD1-49E1-A8E8-1A4F28A0E6C3}"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7C990759-A41E-47D7-8FC2-506DF8BB0520}" type="datetime1">
              <a:rPr lang="zh-TW" altLang="en-US" smtClean="0"/>
              <a:pPr/>
              <a:t>2011/1/11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914735A-2DD1-49E1-A8E8-1A4F28A0E6C3}"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6759030C-B534-4AB2-8299-FDED69910967}" type="datetime1">
              <a:rPr lang="zh-TW" altLang="en-US" smtClean="0"/>
              <a:pPr/>
              <a:t>2011/1/11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0914735A-2DD1-49E1-A8E8-1A4F28A0E6C3}"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5301DB8-5FAD-4703-909A-4914F113BEBA}" type="datetime1">
              <a:rPr lang="zh-TW" altLang="en-US" smtClean="0"/>
              <a:pPr/>
              <a:t>2011/1/11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0914735A-2DD1-49E1-A8E8-1A4F28A0E6C3}"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0517E15-18CC-4B59-A8DC-64C33044B9EB}" type="datetime1">
              <a:rPr lang="zh-TW" altLang="en-US" smtClean="0"/>
              <a:pPr/>
              <a:t>2011/1/11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0914735A-2DD1-49E1-A8E8-1A4F28A0E6C3}"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89B67DE6-3CD8-40E1-94BD-B1D7C14D88EB}" type="datetime1">
              <a:rPr lang="zh-TW" altLang="en-US" smtClean="0"/>
              <a:pPr/>
              <a:t>2011/1/11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914735A-2DD1-49E1-A8E8-1A4F28A0E6C3}"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096339F-6BF7-4EC0-9939-11611CB89D79}" type="datetime1">
              <a:rPr lang="zh-TW" altLang="en-US" smtClean="0"/>
              <a:pPr/>
              <a:t>2011/1/11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914735A-2DD1-49E1-A8E8-1A4F28A0E6C3}"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F2A3605-814D-450C-AD84-B914248D2893}" type="datetime1">
              <a:rPr lang="zh-TW" altLang="en-US" smtClean="0"/>
              <a:pPr/>
              <a:t>2011/1/11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914735A-2DD1-49E1-A8E8-1A4F28A0E6C3}"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457F31D-384F-4CA9-BA17-02A7718E64F4}" type="datetime1">
              <a:rPr lang="zh-TW" altLang="en-US" smtClean="0"/>
              <a:pPr/>
              <a:t>2011/1/11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914735A-2DD1-49E1-A8E8-1A4F28A0E6C3}"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BDA2BF-F648-4011-A0CD-547CDE13E0E7}" type="datetime1">
              <a:rPr lang="zh-TW" altLang="en-US" smtClean="0"/>
              <a:pPr/>
              <a:t>2011/1/11</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14735A-2DD1-49E1-A8E8-1A4F28A0E6C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hyperlink" Target="http://cgm.cs.ntust.edu.tw/etrex/kMeansClustering/kMeansClustering2.html" TargetMode="External"/><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http://www.lcb.uu.se/tools/rosetta/" TargetMode="External"/><Relationship Id="rId2" Type="http://schemas.openxmlformats.org/officeDocument/2006/relationships/hyperlink" Target="http://idss.cs.put.poznan.pl/site/rose.html" TargetMode="Externa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539552" y="188641"/>
            <a:ext cx="7772400" cy="1008112"/>
          </a:xfrm>
        </p:spPr>
        <p:txBody>
          <a:bodyPr/>
          <a:lstStyle/>
          <a:p>
            <a:r>
              <a:rPr lang="en-US" altLang="zh-TW" dirty="0" smtClean="0"/>
              <a:t>Tutorial - Rough sets theory</a:t>
            </a:r>
            <a:endParaRPr lang="zh-TW" altLang="en-US" dirty="0"/>
          </a:p>
        </p:txBody>
      </p:sp>
      <p:sp>
        <p:nvSpPr>
          <p:cNvPr id="3" name="副標題 2"/>
          <p:cNvSpPr>
            <a:spLocks noGrp="1"/>
          </p:cNvSpPr>
          <p:nvPr>
            <p:ph type="subTitle" idx="1"/>
          </p:nvPr>
        </p:nvSpPr>
        <p:spPr>
          <a:xfrm>
            <a:off x="1259632" y="1556792"/>
            <a:ext cx="6400800" cy="576064"/>
          </a:xfrm>
        </p:spPr>
        <p:txBody>
          <a:bodyPr>
            <a:normAutofit/>
          </a:bodyPr>
          <a:lstStyle/>
          <a:p>
            <a:r>
              <a:rPr lang="en-US" altLang="zh-TW" sz="2800" dirty="0" smtClean="0">
                <a:solidFill>
                  <a:schemeClr val="tx1"/>
                </a:solidFill>
              </a:rPr>
              <a:t>B. </a:t>
            </a:r>
            <a:r>
              <a:rPr lang="en-US" altLang="zh-TW" sz="2800" dirty="0" err="1" smtClean="0">
                <a:solidFill>
                  <a:schemeClr val="tx1"/>
                </a:solidFill>
              </a:rPr>
              <a:t>Walczak</a:t>
            </a:r>
            <a:r>
              <a:rPr lang="en-US" altLang="zh-TW" sz="2800" dirty="0">
                <a:solidFill>
                  <a:schemeClr val="tx1"/>
                </a:solidFill>
              </a:rPr>
              <a:t> </a:t>
            </a:r>
            <a:r>
              <a:rPr lang="en-US" altLang="zh-TW" sz="2800" dirty="0" smtClean="0">
                <a:solidFill>
                  <a:schemeClr val="tx1"/>
                </a:solidFill>
              </a:rPr>
              <a:t>and D. L. </a:t>
            </a:r>
            <a:r>
              <a:rPr lang="en-US" altLang="zh-TW" sz="2800" dirty="0" err="1" smtClean="0">
                <a:solidFill>
                  <a:schemeClr val="tx1"/>
                </a:solidFill>
              </a:rPr>
              <a:t>Massart</a:t>
            </a:r>
            <a:endParaRPr lang="zh-TW" altLang="en-US" sz="2800" dirty="0">
              <a:solidFill>
                <a:schemeClr val="tx1"/>
              </a:solidFill>
            </a:endParaRPr>
          </a:p>
        </p:txBody>
      </p:sp>
      <p:sp>
        <p:nvSpPr>
          <p:cNvPr id="4" name="文字方塊 3"/>
          <p:cNvSpPr txBox="1"/>
          <p:nvPr/>
        </p:nvSpPr>
        <p:spPr>
          <a:xfrm>
            <a:off x="971600" y="2420888"/>
            <a:ext cx="7056784" cy="830997"/>
          </a:xfrm>
          <a:prstGeom prst="rect">
            <a:avLst/>
          </a:prstGeom>
          <a:noFill/>
        </p:spPr>
        <p:txBody>
          <a:bodyPr wrap="square" rtlCol="0">
            <a:spAutoFit/>
          </a:bodyPr>
          <a:lstStyle/>
          <a:p>
            <a:pPr algn="ctr"/>
            <a:r>
              <a:rPr lang="en-US" altLang="zh-TW" sz="2400" dirty="0" err="1" smtClean="0"/>
              <a:t>ChemoAC</a:t>
            </a:r>
            <a:r>
              <a:rPr lang="en-US" altLang="zh-TW" sz="2400" dirty="0" smtClean="0"/>
              <a:t>, Pharmaceutical Institute, </a:t>
            </a:r>
            <a:r>
              <a:rPr lang="en-US" altLang="zh-TW" sz="2400" dirty="0" err="1" smtClean="0"/>
              <a:t>Vrije</a:t>
            </a:r>
            <a:r>
              <a:rPr lang="en-US" altLang="zh-TW" sz="2400" dirty="0" smtClean="0"/>
              <a:t> </a:t>
            </a:r>
            <a:r>
              <a:rPr lang="en-US" altLang="zh-TW" sz="2400" dirty="0" err="1" smtClean="0"/>
              <a:t>UnÍersiteit</a:t>
            </a:r>
            <a:r>
              <a:rPr lang="en-US" altLang="zh-TW" sz="2400" dirty="0" smtClean="0"/>
              <a:t>  </a:t>
            </a:r>
            <a:r>
              <a:rPr lang="en-US" altLang="zh-TW" sz="2400" dirty="0" err="1" smtClean="0"/>
              <a:t>Brussel</a:t>
            </a:r>
            <a:r>
              <a:rPr lang="en-US" altLang="zh-TW" sz="2400" dirty="0" smtClean="0"/>
              <a:t>, </a:t>
            </a:r>
            <a:r>
              <a:rPr lang="en-US" altLang="zh-TW" sz="2400" dirty="0" err="1" smtClean="0"/>
              <a:t>Laarbeeklaan</a:t>
            </a:r>
            <a:r>
              <a:rPr lang="en-US" altLang="zh-TW" sz="2400" dirty="0" smtClean="0"/>
              <a:t> 103, B-1090 Brussels, Belgium</a:t>
            </a:r>
            <a:endParaRPr lang="zh-TW" altLang="en-US" sz="2400" dirty="0"/>
          </a:p>
        </p:txBody>
      </p:sp>
      <p:sp>
        <p:nvSpPr>
          <p:cNvPr id="5" name="矩形 4"/>
          <p:cNvSpPr/>
          <p:nvPr/>
        </p:nvSpPr>
        <p:spPr>
          <a:xfrm>
            <a:off x="539552" y="3861048"/>
            <a:ext cx="8208912" cy="400110"/>
          </a:xfrm>
          <a:prstGeom prst="rect">
            <a:avLst/>
          </a:prstGeom>
        </p:spPr>
        <p:txBody>
          <a:bodyPr wrap="square">
            <a:spAutoFit/>
          </a:bodyPr>
          <a:lstStyle/>
          <a:p>
            <a:r>
              <a:rPr lang="en-US" altLang="zh-TW" sz="2000" dirty="0" err="1" smtClean="0"/>
              <a:t>Chemometrics</a:t>
            </a:r>
            <a:r>
              <a:rPr lang="en-US" altLang="zh-TW" sz="2000" dirty="0" smtClean="0"/>
              <a:t> and Intelligent Laboratory Systems, Vol. 47 (1999), pp. 1–16</a:t>
            </a:r>
            <a:endParaRPr lang="zh-TW" altLang="en-US" sz="2000" dirty="0"/>
          </a:p>
        </p:txBody>
      </p:sp>
      <p:sp>
        <p:nvSpPr>
          <p:cNvPr id="6" name="文字方塊 5"/>
          <p:cNvSpPr txBox="1"/>
          <p:nvPr/>
        </p:nvSpPr>
        <p:spPr>
          <a:xfrm>
            <a:off x="5148064" y="5157192"/>
            <a:ext cx="3714776" cy="830997"/>
          </a:xfrm>
          <a:prstGeom prst="rect">
            <a:avLst/>
          </a:prstGeom>
          <a:noFill/>
        </p:spPr>
        <p:txBody>
          <a:bodyPr wrap="square" rtlCol="0">
            <a:spAutoFit/>
          </a:bodyPr>
          <a:lstStyle/>
          <a:p>
            <a:r>
              <a:rPr lang="en-US" altLang="zh-TW" sz="2400" dirty="0" smtClean="0"/>
              <a:t>Presenter: Hung-</a:t>
            </a:r>
            <a:r>
              <a:rPr lang="en-US" altLang="zh-TW" sz="2400" dirty="0" err="1" smtClean="0"/>
              <a:t>Hsin</a:t>
            </a:r>
            <a:r>
              <a:rPr lang="en-US" altLang="zh-TW" sz="2400" dirty="0" smtClean="0"/>
              <a:t> Chen</a:t>
            </a:r>
          </a:p>
          <a:p>
            <a:r>
              <a:rPr lang="en-US" altLang="zh-TW" sz="2400" dirty="0" smtClean="0"/>
              <a:t>Date: Jan. 11, 2011</a:t>
            </a:r>
            <a:endParaRPr lang="zh-TW" altLang="en-US" sz="2400" dirty="0"/>
          </a:p>
        </p:txBody>
      </p:sp>
      <p:sp>
        <p:nvSpPr>
          <p:cNvPr id="7" name="投影片編號版面配置區 6"/>
          <p:cNvSpPr>
            <a:spLocks noGrp="1"/>
          </p:cNvSpPr>
          <p:nvPr>
            <p:ph type="sldNum" sz="quarter" idx="12"/>
          </p:nvPr>
        </p:nvSpPr>
        <p:spPr/>
        <p:txBody>
          <a:bodyPr/>
          <a:lstStyle/>
          <a:p>
            <a:fld id="{0914735A-2DD1-49E1-A8E8-1A4F28A0E6C3}" type="slidenum">
              <a:rPr lang="zh-TW" altLang="en-US" smtClean="0"/>
              <a:pPr/>
              <a:t>1</a:t>
            </a:fld>
            <a:endParaRPr lang="zh-TW"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a:xfrm>
            <a:off x="107504" y="1268760"/>
            <a:ext cx="8712968" cy="5040560"/>
          </a:xfrm>
        </p:spPr>
        <p:txBody>
          <a:bodyPr>
            <a:normAutofit/>
          </a:bodyPr>
          <a:lstStyle/>
          <a:p>
            <a:pPr>
              <a:buNone/>
            </a:pPr>
            <a:r>
              <a:rPr lang="en-US" altLang="zh-TW" dirty="0" smtClean="0"/>
              <a:t>    The basic concepts of the rough set theory are introduced and adequately illustrated. An example of the rough set theory application to the QSAR classification problem is presented. Numerous earlier applications of rough set theory to the various scientific domains suggest that it also can be a </a:t>
            </a:r>
            <a:r>
              <a:rPr lang="en-US" altLang="zh-TW" dirty="0" smtClean="0">
                <a:solidFill>
                  <a:srgbClr val="0070C0"/>
                </a:solidFill>
              </a:rPr>
              <a:t>useful tool for the analysis of inexact, uncertain, or vague chemical data.</a:t>
            </a:r>
            <a:endParaRPr lang="zh-TW" altLang="en-US" dirty="0">
              <a:solidFill>
                <a:srgbClr val="0070C0"/>
              </a:solidFill>
            </a:endParaRPr>
          </a:p>
        </p:txBody>
      </p:sp>
      <p:sp>
        <p:nvSpPr>
          <p:cNvPr id="4" name="投影片編號版面配置區 3"/>
          <p:cNvSpPr>
            <a:spLocks noGrp="1"/>
          </p:cNvSpPr>
          <p:nvPr>
            <p:ph type="sldNum" sz="quarter" idx="12"/>
          </p:nvPr>
        </p:nvSpPr>
        <p:spPr/>
        <p:txBody>
          <a:bodyPr/>
          <a:lstStyle/>
          <a:p>
            <a:fld id="{0914735A-2DD1-49E1-A8E8-1A4F28A0E6C3}" type="slidenum">
              <a:rPr lang="zh-TW" altLang="en-US" smtClean="0"/>
              <a:pPr/>
              <a:t>2</a:t>
            </a:fld>
            <a:endParaRPr lang="zh-TW"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Related papers</a:t>
            </a:r>
            <a:endParaRPr lang="zh-TW" altLang="en-US" dirty="0"/>
          </a:p>
        </p:txBody>
      </p:sp>
      <p:sp>
        <p:nvSpPr>
          <p:cNvPr id="3" name="投影片編號版面配置區 2"/>
          <p:cNvSpPr>
            <a:spLocks noGrp="1"/>
          </p:cNvSpPr>
          <p:nvPr>
            <p:ph type="sldNum" sz="quarter" idx="12"/>
          </p:nvPr>
        </p:nvSpPr>
        <p:spPr/>
        <p:txBody>
          <a:bodyPr/>
          <a:lstStyle/>
          <a:p>
            <a:fld id="{0914735A-2DD1-49E1-A8E8-1A4F28A0E6C3}" type="slidenum">
              <a:rPr lang="zh-TW" altLang="en-US" smtClean="0"/>
              <a:pPr/>
              <a:t>3</a:t>
            </a:fld>
            <a:endParaRPr lang="zh-TW" altLang="en-US"/>
          </a:p>
        </p:txBody>
      </p:sp>
      <p:sp>
        <p:nvSpPr>
          <p:cNvPr id="4" name="文字方塊 3"/>
          <p:cNvSpPr txBox="1"/>
          <p:nvPr/>
        </p:nvSpPr>
        <p:spPr>
          <a:xfrm>
            <a:off x="179512" y="1268760"/>
            <a:ext cx="8136904" cy="3416320"/>
          </a:xfrm>
          <a:prstGeom prst="rect">
            <a:avLst/>
          </a:prstGeom>
          <a:noFill/>
        </p:spPr>
        <p:txBody>
          <a:bodyPr wrap="square" rtlCol="0">
            <a:spAutoFit/>
          </a:bodyPr>
          <a:lstStyle/>
          <a:p>
            <a:pPr>
              <a:buFont typeface="Arial" pitchFamily="34" charset="0"/>
              <a:buChar char="•"/>
            </a:pPr>
            <a:r>
              <a:rPr lang="en-US" altLang="zh-TW" dirty="0" smtClean="0">
                <a:solidFill>
                  <a:srgbClr val="0066FF"/>
                </a:solidFill>
                <a:latin typeface="標楷體" pitchFamily="65" charset="-120"/>
                <a:ea typeface="標楷體" pitchFamily="65" charset="-120"/>
              </a:rPr>
              <a:t>FRSVMs: Fuzzy rough set based support vector machines [Chen10]:</a:t>
            </a:r>
          </a:p>
          <a:p>
            <a:r>
              <a:rPr lang="zh-TW" altLang="en-US" dirty="0" smtClean="0">
                <a:latin typeface="標楷體" pitchFamily="65" charset="-120"/>
                <a:ea typeface="標楷體" pitchFamily="65" charset="-120"/>
              </a:rPr>
              <a:t>使用</a:t>
            </a:r>
            <a:r>
              <a:rPr lang="en-US" altLang="zh-TW" dirty="0" smtClean="0">
                <a:latin typeface="標楷體" pitchFamily="65" charset="-120"/>
                <a:ea typeface="標楷體" pitchFamily="65" charset="-120"/>
              </a:rPr>
              <a:t>fuzzy + rough set </a:t>
            </a:r>
            <a:r>
              <a:rPr lang="en-US" altLang="zh-TW" dirty="0" err="1" smtClean="0">
                <a:latin typeface="標楷體" pitchFamily="65" charset="-120"/>
                <a:ea typeface="標楷體" pitchFamily="65" charset="-120"/>
              </a:rPr>
              <a:t>做為SVM</a:t>
            </a:r>
            <a:r>
              <a:rPr lang="en-US" altLang="zh-TW" dirty="0" smtClean="0">
                <a:latin typeface="標楷體" pitchFamily="65" charset="-120"/>
                <a:ea typeface="標楷體" pitchFamily="65" charset="-120"/>
              </a:rPr>
              <a:t> </a:t>
            </a:r>
            <a:r>
              <a:rPr lang="en-US" altLang="zh-TW" dirty="0" err="1" smtClean="0">
                <a:latin typeface="標楷體" pitchFamily="65" charset="-120"/>
                <a:ea typeface="標楷體" pitchFamily="65" charset="-120"/>
              </a:rPr>
              <a:t>hyperlane判斷之條件可有效提升SVM預測之準確率</a:t>
            </a:r>
            <a:r>
              <a:rPr lang="en-US" altLang="zh-TW" dirty="0" smtClean="0">
                <a:latin typeface="標楷體" pitchFamily="65" charset="-120"/>
                <a:ea typeface="標楷體" pitchFamily="65" charset="-120"/>
              </a:rPr>
              <a:t>。</a:t>
            </a:r>
          </a:p>
          <a:p>
            <a:endParaRPr lang="en-US" altLang="zh-TW" dirty="0" smtClean="0">
              <a:latin typeface="標楷體" pitchFamily="65" charset="-120"/>
              <a:ea typeface="標楷體" pitchFamily="65" charset="-120"/>
            </a:endParaRPr>
          </a:p>
          <a:p>
            <a:pPr>
              <a:buFont typeface="Arial" pitchFamily="34" charset="0"/>
              <a:buChar char="•"/>
            </a:pPr>
            <a:r>
              <a:rPr lang="en-US" altLang="zh-TW" dirty="0" smtClean="0">
                <a:solidFill>
                  <a:srgbClr val="0066FF"/>
                </a:solidFill>
                <a:latin typeface="標楷體" pitchFamily="65" charset="-120"/>
                <a:ea typeface="標楷體" pitchFamily="65" charset="-120"/>
              </a:rPr>
              <a:t>A weighted rough set based method developed for class imbalance learning [Liu08]:</a:t>
            </a:r>
            <a:r>
              <a:rPr lang="en-US" altLang="zh-TW" dirty="0" smtClean="0">
                <a:latin typeface="標楷體" pitchFamily="65" charset="-120"/>
                <a:ea typeface="標楷體" pitchFamily="65" charset="-120"/>
              </a:rPr>
              <a:t/>
            </a:r>
            <a:br>
              <a:rPr lang="en-US" altLang="zh-TW" dirty="0" smtClean="0">
                <a:latin typeface="標楷體" pitchFamily="65" charset="-120"/>
                <a:ea typeface="標楷體" pitchFamily="65" charset="-120"/>
              </a:rPr>
            </a:br>
            <a:r>
              <a:rPr lang="en-US" altLang="zh-TW" dirty="0" err="1" smtClean="0">
                <a:latin typeface="標楷體" pitchFamily="65" charset="-120"/>
                <a:ea typeface="標楷體" pitchFamily="65" charset="-120"/>
              </a:rPr>
              <a:t>使用weighted</a:t>
            </a:r>
            <a:r>
              <a:rPr lang="en-US" altLang="zh-TW" dirty="0" smtClean="0">
                <a:latin typeface="標楷體" pitchFamily="65" charset="-120"/>
                <a:ea typeface="標楷體" pitchFamily="65" charset="-120"/>
              </a:rPr>
              <a:t> rough set + </a:t>
            </a:r>
            <a:r>
              <a:rPr lang="en-US" altLang="zh-TW" dirty="0" err="1" smtClean="0">
                <a:latin typeface="標楷體" pitchFamily="65" charset="-120"/>
                <a:ea typeface="標楷體" pitchFamily="65" charset="-120"/>
              </a:rPr>
              <a:t>SVM會比單獨使用SVM或SVM</a:t>
            </a:r>
            <a:r>
              <a:rPr lang="en-US" altLang="zh-TW" dirty="0" smtClean="0">
                <a:latin typeface="標楷體" pitchFamily="65" charset="-120"/>
                <a:ea typeface="標楷體" pitchFamily="65" charset="-120"/>
              </a:rPr>
              <a:t> + </a:t>
            </a:r>
            <a:r>
              <a:rPr lang="en-US" altLang="zh-TW" dirty="0" err="1" smtClean="0">
                <a:latin typeface="標楷體" pitchFamily="65" charset="-120"/>
                <a:ea typeface="標楷體" pitchFamily="65" charset="-120"/>
              </a:rPr>
              <a:t>unweighted</a:t>
            </a:r>
            <a:r>
              <a:rPr lang="en-US" altLang="zh-TW" dirty="0" smtClean="0">
                <a:latin typeface="標楷體" pitchFamily="65" charset="-120"/>
                <a:ea typeface="標楷體" pitchFamily="65" charset="-120"/>
              </a:rPr>
              <a:t> rough set以及C4.5等方法有更高的準確率。</a:t>
            </a:r>
          </a:p>
          <a:p>
            <a:endParaRPr lang="en-US" altLang="zh-TW" dirty="0" smtClean="0">
              <a:solidFill>
                <a:srgbClr val="0066FF"/>
              </a:solidFill>
              <a:latin typeface="標楷體" pitchFamily="65" charset="-120"/>
              <a:ea typeface="標楷體" pitchFamily="65" charset="-120"/>
            </a:endParaRPr>
          </a:p>
          <a:p>
            <a:pPr>
              <a:buFont typeface="Arial" pitchFamily="34" charset="0"/>
              <a:buChar char="•"/>
            </a:pPr>
            <a:r>
              <a:rPr lang="en-US" altLang="zh-TW" dirty="0" smtClean="0">
                <a:solidFill>
                  <a:srgbClr val="0066FF"/>
                </a:solidFill>
                <a:latin typeface="標楷體" pitchFamily="65" charset="-120"/>
                <a:ea typeface="標楷體" pitchFamily="65" charset="-120"/>
              </a:rPr>
              <a:t>A rough margin based support vector machine [Zhan08]: </a:t>
            </a:r>
            <a:r>
              <a:rPr lang="en-US" altLang="zh-TW" dirty="0" smtClean="0">
                <a:latin typeface="標楷體" pitchFamily="65" charset="-120"/>
                <a:ea typeface="標楷體" pitchFamily="65" charset="-120"/>
              </a:rPr>
              <a:t/>
            </a:r>
            <a:br>
              <a:rPr lang="en-US" altLang="zh-TW" dirty="0" smtClean="0">
                <a:latin typeface="標楷體" pitchFamily="65" charset="-120"/>
                <a:ea typeface="標楷體" pitchFamily="65" charset="-120"/>
              </a:rPr>
            </a:br>
            <a:r>
              <a:rPr lang="en-US" altLang="zh-TW" dirty="0" err="1" smtClean="0">
                <a:latin typeface="標楷體" pitchFamily="65" charset="-120"/>
                <a:ea typeface="標楷體" pitchFamily="65" charset="-120"/>
              </a:rPr>
              <a:t>使用rough</a:t>
            </a:r>
            <a:r>
              <a:rPr lang="en-US" altLang="zh-TW" dirty="0" smtClean="0">
                <a:latin typeface="標楷體" pitchFamily="65" charset="-120"/>
                <a:ea typeface="標楷體" pitchFamily="65" charset="-120"/>
              </a:rPr>
              <a:t> set +SVM </a:t>
            </a:r>
            <a:r>
              <a:rPr lang="en-US" altLang="zh-TW" dirty="0" err="1" smtClean="0">
                <a:latin typeface="標楷體" pitchFamily="65" charset="-120"/>
                <a:ea typeface="標楷體" pitchFamily="65" charset="-120"/>
              </a:rPr>
              <a:t>可比單獨使用SVM</a:t>
            </a:r>
            <a:r>
              <a:rPr lang="zh-TW" altLang="en-US" dirty="0" smtClean="0">
                <a:latin typeface="標楷體" pitchFamily="65" charset="-120"/>
                <a:ea typeface="標楷體" pitchFamily="65" charset="-120"/>
              </a:rPr>
              <a:t>有更高的準確率，且已達到統計上之顯著性</a:t>
            </a:r>
            <a:r>
              <a:rPr lang="en-US" altLang="zh-TW" dirty="0" smtClean="0">
                <a:latin typeface="標楷體" pitchFamily="65" charset="-120"/>
                <a:ea typeface="標楷體" pitchFamily="65" charset="-120"/>
              </a:rPr>
              <a:t>(p&lt;0.05)。</a:t>
            </a:r>
            <a:endParaRPr lang="zh-TW"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lgn="ctr" eaLnBrk="1" hangingPunct="1"/>
            <a:r>
              <a:rPr lang="en-US" altLang="zh-TW" dirty="0" smtClean="0"/>
              <a:t>Rough set theory (RST)</a:t>
            </a:r>
          </a:p>
        </p:txBody>
      </p:sp>
      <p:sp>
        <p:nvSpPr>
          <p:cNvPr id="12291" name="Rectangle 4"/>
          <p:cNvSpPr>
            <a:spLocks noGrp="1" noChangeArrowheads="1"/>
          </p:cNvSpPr>
          <p:nvPr>
            <p:ph type="body" idx="1"/>
          </p:nvPr>
        </p:nvSpPr>
        <p:spPr/>
        <p:txBody>
          <a:bodyPr/>
          <a:lstStyle/>
          <a:p>
            <a:r>
              <a:rPr lang="en-US" altLang="zh-TW" sz="2400" dirty="0" smtClean="0">
                <a:latin typeface="微軟正黑體" pitchFamily="34" charset="-120"/>
                <a:ea typeface="微軟正黑體" pitchFamily="34" charset="-120"/>
              </a:rPr>
              <a:t>Z. </a:t>
            </a:r>
            <a:r>
              <a:rPr lang="en-US" altLang="zh-TW" sz="2400" dirty="0" err="1" smtClean="0">
                <a:latin typeface="微軟正黑體" pitchFamily="34" charset="-120"/>
                <a:ea typeface="微軟正黑體" pitchFamily="34" charset="-120"/>
              </a:rPr>
              <a:t>Pawlak</a:t>
            </a:r>
            <a:r>
              <a:rPr lang="zh-TW" altLang="en-US" sz="2400" dirty="0" smtClean="0">
                <a:latin typeface="微軟正黑體" pitchFamily="34" charset="-120"/>
                <a:ea typeface="微軟正黑體" pitchFamily="34" charset="-120"/>
              </a:rPr>
              <a:t>於</a:t>
            </a:r>
            <a:r>
              <a:rPr lang="en-US" altLang="zh-TW" sz="2400" dirty="0" smtClean="0">
                <a:latin typeface="微軟正黑體" pitchFamily="34" charset="-120"/>
                <a:ea typeface="微軟正黑體" pitchFamily="34" charset="-120"/>
              </a:rPr>
              <a:t>1982</a:t>
            </a:r>
            <a:r>
              <a:rPr lang="zh-TW" altLang="en-US" sz="2400" dirty="0" smtClean="0">
                <a:latin typeface="微軟正黑體" pitchFamily="34" charset="-120"/>
                <a:ea typeface="微軟正黑體" pitchFamily="34" charset="-120"/>
              </a:rPr>
              <a:t>年提出了</a:t>
            </a:r>
            <a:r>
              <a:rPr lang="en-US" altLang="zh-TW" sz="2400" dirty="0" smtClean="0">
                <a:latin typeface="微軟正黑體" pitchFamily="34" charset="-120"/>
                <a:ea typeface="微軟正黑體" pitchFamily="34" charset="-120"/>
              </a:rPr>
              <a:t>RST</a:t>
            </a:r>
            <a:r>
              <a:rPr lang="zh-TW" altLang="en-US" sz="2400" dirty="0" smtClean="0">
                <a:latin typeface="微軟正黑體" pitchFamily="34" charset="-120"/>
                <a:ea typeface="微軟正黑體" pitchFamily="34" charset="-120"/>
              </a:rPr>
              <a:t>，它主要是用來處理不精確、模糊及不確定性資訊值的一種數學工具。</a:t>
            </a:r>
            <a:endParaRPr lang="en-US" altLang="zh-TW" sz="2400" dirty="0" smtClean="0">
              <a:latin typeface="微軟正黑體" pitchFamily="34" charset="-120"/>
              <a:ea typeface="微軟正黑體" pitchFamily="34" charset="-120"/>
            </a:endParaRPr>
          </a:p>
          <a:p>
            <a:pPr>
              <a:buNone/>
            </a:pPr>
            <a:endParaRPr lang="en-US" altLang="zh-TW" sz="2400" dirty="0" smtClean="0">
              <a:latin typeface="微軟正黑體" pitchFamily="34" charset="-120"/>
              <a:ea typeface="微軟正黑體" pitchFamily="34" charset="-120"/>
            </a:endParaRPr>
          </a:p>
          <a:p>
            <a:r>
              <a:rPr lang="en-US" altLang="zh-TW" sz="2400" dirty="0" smtClean="0">
                <a:latin typeface="微軟正黑體" pitchFamily="34" charset="-120"/>
                <a:ea typeface="微軟正黑體" pitchFamily="34" charset="-120"/>
              </a:rPr>
              <a:t>RST</a:t>
            </a:r>
            <a:r>
              <a:rPr lang="zh-TW" altLang="en-US" sz="2400" dirty="0" smtClean="0">
                <a:latin typeface="微軟正黑體" pitchFamily="34" charset="-120"/>
                <a:ea typeface="微軟正黑體" pitchFamily="34" charset="-120"/>
              </a:rPr>
              <a:t>可有效地進行</a:t>
            </a:r>
            <a:endParaRPr lang="en-US" altLang="zh-TW" sz="2400" dirty="0" smtClean="0">
              <a:latin typeface="微軟正黑體" pitchFamily="34" charset="-120"/>
              <a:ea typeface="微軟正黑體" pitchFamily="34" charset="-120"/>
            </a:endParaRPr>
          </a:p>
          <a:p>
            <a:pPr marL="914400" lvl="1" indent="-457200">
              <a:buFont typeface="+mj-lt"/>
              <a:buAutoNum type="arabicPeriod"/>
            </a:pPr>
            <a:r>
              <a:rPr lang="zh-TW" altLang="en-US" sz="2400" dirty="0" smtClean="0">
                <a:solidFill>
                  <a:srgbClr val="0066FF"/>
                </a:solidFill>
                <a:latin typeface="微軟正黑體" pitchFamily="34" charset="-120"/>
                <a:ea typeface="微軟正黑體" pitchFamily="34" charset="-120"/>
              </a:rPr>
              <a:t>資料縮減</a:t>
            </a:r>
            <a:endParaRPr lang="en-US" altLang="zh-TW" sz="2400" dirty="0" smtClean="0">
              <a:solidFill>
                <a:srgbClr val="0066FF"/>
              </a:solidFill>
              <a:latin typeface="微軟正黑體" pitchFamily="34" charset="-120"/>
              <a:ea typeface="微軟正黑體" pitchFamily="34" charset="-120"/>
            </a:endParaRPr>
          </a:p>
          <a:p>
            <a:pPr marL="914400" lvl="1" indent="-457200">
              <a:buFont typeface="+mj-lt"/>
              <a:buAutoNum type="arabicPeriod"/>
            </a:pPr>
            <a:r>
              <a:rPr lang="zh-TW" altLang="en-US" sz="2400" dirty="0" smtClean="0">
                <a:solidFill>
                  <a:srgbClr val="0066FF"/>
                </a:solidFill>
                <a:latin typeface="微軟正黑體" pitchFamily="34" charset="-120"/>
                <a:ea typeface="微軟正黑體" pitchFamily="34" charset="-120"/>
              </a:rPr>
              <a:t>挖掘資料相關性</a:t>
            </a:r>
            <a:endParaRPr lang="en-US" altLang="zh-TW" sz="2400" dirty="0" smtClean="0">
              <a:solidFill>
                <a:srgbClr val="0066FF"/>
              </a:solidFill>
              <a:latin typeface="微軟正黑體" pitchFamily="34" charset="-120"/>
              <a:ea typeface="微軟正黑體" pitchFamily="34" charset="-120"/>
            </a:endParaRPr>
          </a:p>
          <a:p>
            <a:pPr marL="914400" lvl="1" indent="-457200">
              <a:buFont typeface="+mj-lt"/>
              <a:buAutoNum type="arabicPeriod"/>
            </a:pPr>
            <a:r>
              <a:rPr lang="zh-TW" altLang="en-US" sz="2400" dirty="0" smtClean="0">
                <a:solidFill>
                  <a:srgbClr val="0066FF"/>
                </a:solidFill>
                <a:latin typeface="微軟正黑體" pitchFamily="34" charset="-120"/>
                <a:ea typeface="微軟正黑體" pitchFamily="34" charset="-120"/>
              </a:rPr>
              <a:t>估計資料顯著性</a:t>
            </a:r>
            <a:endParaRPr lang="en-US" altLang="zh-TW" sz="2400" dirty="0" smtClean="0">
              <a:solidFill>
                <a:srgbClr val="0066FF"/>
              </a:solidFill>
              <a:latin typeface="微軟正黑體" pitchFamily="34" charset="-120"/>
              <a:ea typeface="微軟正黑體" pitchFamily="34" charset="-120"/>
            </a:endParaRPr>
          </a:p>
          <a:p>
            <a:pPr marL="914400" lvl="1" indent="-457200">
              <a:buFont typeface="+mj-lt"/>
              <a:buAutoNum type="arabicPeriod"/>
            </a:pPr>
            <a:r>
              <a:rPr lang="zh-TW" altLang="en-US" sz="2400" dirty="0" smtClean="0">
                <a:solidFill>
                  <a:srgbClr val="0066FF"/>
                </a:solidFill>
                <a:latin typeface="微軟正黑體" pitchFamily="34" charset="-120"/>
                <a:ea typeface="微軟正黑體" pitchFamily="34" charset="-120"/>
              </a:rPr>
              <a:t>資料概略分類</a:t>
            </a:r>
            <a:endParaRPr lang="en-US" altLang="zh-TW" sz="2400" dirty="0" smtClean="0">
              <a:solidFill>
                <a:srgbClr val="0066FF"/>
              </a:solidFill>
              <a:latin typeface="微軟正黑體" pitchFamily="34" charset="-120"/>
              <a:ea typeface="微軟正黑體" pitchFamily="34" charset="-120"/>
            </a:endParaRPr>
          </a:p>
          <a:p>
            <a:pPr marL="914400" lvl="1" indent="-457200">
              <a:buFont typeface="+mj-lt"/>
              <a:buAutoNum type="arabicPeriod"/>
            </a:pPr>
            <a:r>
              <a:rPr lang="zh-TW" altLang="en-US" sz="2400" dirty="0" smtClean="0">
                <a:solidFill>
                  <a:srgbClr val="0066FF"/>
                </a:solidFill>
                <a:latin typeface="微軟正黑體" pitchFamily="34" charset="-120"/>
                <a:ea typeface="微軟正黑體" pitchFamily="34" charset="-120"/>
              </a:rPr>
              <a:t>挖掘資料的相似或相異處</a:t>
            </a:r>
            <a:endParaRPr lang="en-US" altLang="zh-TW" sz="2400" dirty="0" smtClean="0">
              <a:solidFill>
                <a:srgbClr val="0066FF"/>
              </a:solidFill>
              <a:latin typeface="微軟正黑體" pitchFamily="34" charset="-120"/>
              <a:ea typeface="微軟正黑體" pitchFamily="34" charset="-120"/>
            </a:endParaRPr>
          </a:p>
          <a:p>
            <a:pPr marL="914400" lvl="1" indent="-457200">
              <a:buFont typeface="+mj-lt"/>
              <a:buAutoNum type="arabicPeriod"/>
            </a:pPr>
            <a:r>
              <a:rPr lang="zh-TW" altLang="en-US" sz="2400" dirty="0" smtClean="0">
                <a:solidFill>
                  <a:srgbClr val="0066FF"/>
                </a:solidFill>
                <a:latin typeface="微軟正黑體" pitchFamily="34" charset="-120"/>
                <a:ea typeface="微軟正黑體" pitchFamily="34" charset="-120"/>
              </a:rPr>
              <a:t>挖掘資料模型以及挖掘因果關係</a:t>
            </a:r>
          </a:p>
          <a:p>
            <a:endParaRPr lang="zh-TW" altLang="en-US" sz="2800" dirty="0" smtClean="0">
              <a:latin typeface="微軟正黑體" pitchFamily="34" charset="-120"/>
              <a:ea typeface="微軟正黑體" pitchFamily="34" charset="-120"/>
            </a:endParaRPr>
          </a:p>
        </p:txBody>
      </p:sp>
      <p:sp>
        <p:nvSpPr>
          <p:cNvPr id="4" name="投影片編號版面配置區 3"/>
          <p:cNvSpPr>
            <a:spLocks noGrp="1"/>
          </p:cNvSpPr>
          <p:nvPr>
            <p:ph type="sldNum" sz="quarter" idx="12"/>
          </p:nvPr>
        </p:nvSpPr>
        <p:spPr/>
        <p:txBody>
          <a:bodyPr/>
          <a:lstStyle/>
          <a:p>
            <a:fld id="{0914735A-2DD1-49E1-A8E8-1A4F28A0E6C3}" type="slidenum">
              <a:rPr lang="zh-TW" altLang="en-US" smtClean="0"/>
              <a:pPr/>
              <a:t>4</a:t>
            </a:fld>
            <a:endParaRPr lang="zh-TW" alt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Rough set theory (RST)</a:t>
            </a:r>
            <a:endParaRPr lang="zh-TW" altLang="en-US" dirty="0"/>
          </a:p>
        </p:txBody>
      </p:sp>
      <p:sp>
        <p:nvSpPr>
          <p:cNvPr id="3" name="內容版面配置區 2"/>
          <p:cNvSpPr>
            <a:spLocks noGrp="1"/>
          </p:cNvSpPr>
          <p:nvPr>
            <p:ph idx="1"/>
          </p:nvPr>
        </p:nvSpPr>
        <p:spPr/>
        <p:txBody>
          <a:bodyPr>
            <a:normAutofit/>
          </a:bodyPr>
          <a:lstStyle/>
          <a:p>
            <a:r>
              <a:rPr lang="en-US" altLang="zh-TW" sz="2800" dirty="0" smtClean="0">
                <a:latin typeface="微軟正黑體" pitchFamily="34" charset="-120"/>
                <a:ea typeface="微軟正黑體" pitchFamily="34" charset="-120"/>
              </a:rPr>
              <a:t>RST</a:t>
            </a:r>
            <a:r>
              <a:rPr lang="zh-TW" altLang="en-US" sz="2800" dirty="0" smtClean="0">
                <a:latin typeface="微軟正黑體" pitchFamily="34" charset="-120"/>
                <a:ea typeface="微軟正黑體" pitchFamily="34" charset="-120"/>
              </a:rPr>
              <a:t>主要</a:t>
            </a:r>
            <a:r>
              <a:rPr lang="zh-TW" altLang="en-US" sz="2800" dirty="0" smtClean="0">
                <a:solidFill>
                  <a:srgbClr val="FF0000"/>
                </a:solidFill>
                <a:latin typeface="微軟正黑體" pitchFamily="34" charset="-120"/>
                <a:ea typeface="微軟正黑體" pitchFamily="34" charset="-120"/>
              </a:rPr>
              <a:t>概念及優點</a:t>
            </a:r>
            <a:r>
              <a:rPr lang="zh-TW" altLang="en-US" sz="2800" dirty="0" smtClean="0">
                <a:latin typeface="微軟正黑體" pitchFamily="34" charset="-120"/>
                <a:ea typeface="微軟正黑體" pitchFamily="34" charset="-120"/>
              </a:rPr>
              <a:t>如下：</a:t>
            </a:r>
          </a:p>
          <a:p>
            <a:pPr marL="914400" lvl="1" indent="-457200">
              <a:buFont typeface="+mj-lt"/>
              <a:buAutoNum type="arabicPeriod"/>
            </a:pPr>
            <a:r>
              <a:rPr lang="zh-TW" altLang="en-US" sz="2400" dirty="0" smtClean="0">
                <a:latin typeface="微軟正黑體" pitchFamily="34" charset="-120"/>
                <a:ea typeface="微軟正黑體" pitchFamily="34" charset="-120"/>
              </a:rPr>
              <a:t>不須服從任何的假設</a:t>
            </a:r>
          </a:p>
          <a:p>
            <a:pPr marL="914400" lvl="1" indent="-457200">
              <a:buFont typeface="+mj-lt"/>
              <a:buAutoNum type="arabicPeriod"/>
            </a:pPr>
            <a:r>
              <a:rPr lang="zh-TW" altLang="en-US" sz="2400" dirty="0" smtClean="0">
                <a:latin typeface="微軟正黑體" pitchFamily="34" charset="-120"/>
                <a:ea typeface="微軟正黑體" pitchFamily="34" charset="-120"/>
              </a:rPr>
              <a:t>無須考慮資料是否符合</a:t>
            </a:r>
            <a:r>
              <a:rPr lang="zh-TW" altLang="en-US" sz="2400" u="sng" dirty="0" smtClean="0">
                <a:latin typeface="微軟正黑體" pitchFamily="34" charset="-120"/>
                <a:ea typeface="微軟正黑體" pitchFamily="34" charset="-120"/>
              </a:rPr>
              <a:t>常態分配</a:t>
            </a:r>
            <a:r>
              <a:rPr lang="zh-TW" altLang="en-US" sz="2400" dirty="0" smtClean="0">
                <a:latin typeface="微軟正黑體" pitchFamily="34" charset="-120"/>
                <a:ea typeface="微軟正黑體" pitchFamily="34" charset="-120"/>
              </a:rPr>
              <a:t>與</a:t>
            </a:r>
            <a:r>
              <a:rPr lang="zh-TW" altLang="en-US" sz="2400" u="sng" dirty="0" smtClean="0">
                <a:latin typeface="微軟正黑體" pitchFamily="34" charset="-120"/>
                <a:ea typeface="微軟正黑體" pitchFamily="34" charset="-120"/>
              </a:rPr>
              <a:t>變數選取</a:t>
            </a:r>
            <a:r>
              <a:rPr lang="zh-TW" altLang="en-US" sz="2400" dirty="0" smtClean="0">
                <a:latin typeface="微軟正黑體" pitchFamily="34" charset="-120"/>
                <a:ea typeface="微軟正黑體" pitchFamily="34" charset="-120"/>
              </a:rPr>
              <a:t>問題</a:t>
            </a:r>
          </a:p>
          <a:p>
            <a:pPr marL="914400" lvl="1" indent="-457200">
              <a:buFont typeface="+mj-lt"/>
              <a:buAutoNum type="arabicPeriod"/>
            </a:pPr>
            <a:r>
              <a:rPr lang="zh-TW" altLang="en-US" sz="2400" dirty="0" smtClean="0">
                <a:latin typeface="微軟正黑體" pitchFamily="34" charset="-120"/>
                <a:ea typeface="微軟正黑體" pitchFamily="34" charset="-120"/>
              </a:rPr>
              <a:t>運算時間短</a:t>
            </a:r>
          </a:p>
          <a:p>
            <a:endParaRPr lang="zh-TW" altLang="en-US" sz="2800" dirty="0">
              <a:latin typeface="微軟正黑體" pitchFamily="34" charset="-120"/>
              <a:ea typeface="微軟正黑體" pitchFamily="34" charset="-120"/>
            </a:endParaRPr>
          </a:p>
        </p:txBody>
      </p:sp>
      <p:sp>
        <p:nvSpPr>
          <p:cNvPr id="4" name="投影片編號版面配置區 3"/>
          <p:cNvSpPr>
            <a:spLocks noGrp="1"/>
          </p:cNvSpPr>
          <p:nvPr>
            <p:ph type="sldNum" sz="quarter" idx="12"/>
          </p:nvPr>
        </p:nvSpPr>
        <p:spPr/>
        <p:txBody>
          <a:bodyPr/>
          <a:lstStyle/>
          <a:p>
            <a:fld id="{0914735A-2DD1-49E1-A8E8-1A4F28A0E6C3}" type="slidenum">
              <a:rPr lang="zh-TW" altLang="en-US" smtClean="0"/>
              <a:pPr/>
              <a:t>5</a:t>
            </a:fld>
            <a:endParaRPr lang="zh-TW" altLang="en-US"/>
          </a:p>
        </p:txBody>
      </p:sp>
      <p:sp>
        <p:nvSpPr>
          <p:cNvPr id="5" name="文字方塊 4"/>
          <p:cNvSpPr txBox="1"/>
          <p:nvPr/>
        </p:nvSpPr>
        <p:spPr>
          <a:xfrm>
            <a:off x="395536" y="3933056"/>
            <a:ext cx="8424936" cy="2123658"/>
          </a:xfrm>
          <a:prstGeom prst="rect">
            <a:avLst/>
          </a:prstGeom>
          <a:noFill/>
        </p:spPr>
        <p:txBody>
          <a:bodyPr wrap="square" rtlCol="0">
            <a:spAutoFit/>
          </a:bodyPr>
          <a:lstStyle/>
          <a:p>
            <a:pPr>
              <a:spcBef>
                <a:spcPct val="20000"/>
              </a:spcBef>
            </a:pPr>
            <a:r>
              <a:rPr lang="en-US" altLang="zh-TW" sz="2000" dirty="0" smtClean="0"/>
              <a:t> </a:t>
            </a:r>
            <a:r>
              <a:rPr lang="en-US" altLang="zh-TW" sz="2000" dirty="0" err="1" smtClean="0">
                <a:solidFill>
                  <a:srgbClr val="0066FF"/>
                </a:solidFill>
                <a:latin typeface="微軟正黑體" pitchFamily="34" charset="-120"/>
                <a:ea typeface="微軟正黑體" pitchFamily="34" charset="-120"/>
              </a:rPr>
              <a:t>與Fuzzy</a:t>
            </a:r>
            <a:r>
              <a:rPr lang="en-US" altLang="zh-TW" sz="2000" dirty="0" smtClean="0">
                <a:solidFill>
                  <a:srgbClr val="0066FF"/>
                </a:solidFill>
                <a:latin typeface="微軟正黑體" pitchFamily="34" charset="-120"/>
                <a:ea typeface="微軟正黑體" pitchFamily="34" charset="-120"/>
              </a:rPr>
              <a:t> </a:t>
            </a:r>
            <a:r>
              <a:rPr lang="en-US" altLang="zh-TW" sz="2000" dirty="0" err="1" smtClean="0">
                <a:solidFill>
                  <a:srgbClr val="0066FF"/>
                </a:solidFill>
                <a:latin typeface="微軟正黑體" pitchFamily="34" charset="-120"/>
                <a:ea typeface="微軟正黑體" pitchFamily="34" charset="-120"/>
              </a:rPr>
              <a:t>set比較</a:t>
            </a:r>
            <a:r>
              <a:rPr lang="en-US" altLang="zh-TW" sz="2000" dirty="0" smtClean="0">
                <a:solidFill>
                  <a:srgbClr val="0066FF"/>
                </a:solidFill>
                <a:latin typeface="微軟正黑體" pitchFamily="34" charset="-120"/>
                <a:ea typeface="微軟正黑體" pitchFamily="34" charset="-120"/>
              </a:rPr>
              <a:t>:</a:t>
            </a:r>
          </a:p>
          <a:p>
            <a:pPr marL="342900" indent="-342900">
              <a:spcBef>
                <a:spcPct val="20000"/>
              </a:spcBef>
              <a:buAutoNum type="arabicPeriod"/>
            </a:pPr>
            <a:r>
              <a:rPr lang="en-US" altLang="zh-TW" sz="2000" dirty="0" err="1" smtClean="0">
                <a:latin typeface="微軟正黑體" pitchFamily="34" charset="-120"/>
                <a:ea typeface="微軟正黑體" pitchFamily="34" charset="-120"/>
              </a:rPr>
              <a:t>RST強調資料的indiscernibility、imprecision與ambiguity</a:t>
            </a:r>
            <a:r>
              <a:rPr lang="en-US" altLang="zh-TW" sz="2000" dirty="0" smtClean="0">
                <a:latin typeface="微軟正黑體" pitchFamily="34" charset="-120"/>
                <a:ea typeface="微軟正黑體" pitchFamily="34" charset="-120"/>
              </a:rPr>
              <a:t/>
            </a:r>
            <a:br>
              <a:rPr lang="en-US" altLang="zh-TW" sz="2000" dirty="0" smtClean="0">
                <a:latin typeface="微軟正黑體" pitchFamily="34" charset="-120"/>
                <a:ea typeface="微軟正黑體" pitchFamily="34" charset="-120"/>
              </a:rPr>
            </a:br>
            <a:r>
              <a:rPr lang="en-US" altLang="zh-TW" sz="2000" dirty="0" err="1" smtClean="0">
                <a:latin typeface="微軟正黑體" pitchFamily="34" charset="-120"/>
                <a:ea typeface="微軟正黑體" pitchFamily="34" charset="-120"/>
              </a:rPr>
              <a:t>Fuzzy強調資料的vagueness</a:t>
            </a:r>
            <a:r>
              <a:rPr lang="en-US" altLang="zh-TW" sz="2000" dirty="0" smtClean="0">
                <a:latin typeface="微軟正黑體" pitchFamily="34" charset="-120"/>
                <a:ea typeface="微軟正黑體" pitchFamily="34" charset="-120"/>
              </a:rPr>
              <a:t> degree</a:t>
            </a:r>
          </a:p>
          <a:p>
            <a:pPr marL="342900" indent="-342900">
              <a:spcBef>
                <a:spcPct val="20000"/>
              </a:spcBef>
              <a:buAutoNum type="arabicPeriod"/>
            </a:pPr>
            <a:r>
              <a:rPr lang="en-US" altLang="zh-TW" sz="2000" dirty="0" err="1" smtClean="0">
                <a:latin typeface="微軟正黑體" pitchFamily="34" charset="-120"/>
                <a:ea typeface="微軟正黑體" pitchFamily="34" charset="-120"/>
              </a:rPr>
              <a:t>RST的重點在分類</a:t>
            </a:r>
            <a:r>
              <a:rPr lang="en-US" altLang="zh-TW" sz="2000" dirty="0" smtClean="0">
                <a:latin typeface="微軟正黑體" pitchFamily="34" charset="-120"/>
                <a:ea typeface="微軟正黑體" pitchFamily="34" charset="-120"/>
              </a:rPr>
              <a:t/>
            </a:r>
            <a:br>
              <a:rPr lang="en-US" altLang="zh-TW" sz="2000" dirty="0" smtClean="0">
                <a:latin typeface="微軟正黑體" pitchFamily="34" charset="-120"/>
                <a:ea typeface="微軟正黑體" pitchFamily="34" charset="-120"/>
              </a:rPr>
            </a:br>
            <a:r>
              <a:rPr lang="en-US" altLang="zh-TW" sz="2000" dirty="0" err="1" smtClean="0">
                <a:latin typeface="微軟正黑體" pitchFamily="34" charset="-120"/>
                <a:ea typeface="微軟正黑體" pitchFamily="34" charset="-120"/>
              </a:rPr>
              <a:t>Fuzzy的重點的同一類中不同instances之membership</a:t>
            </a:r>
            <a:r>
              <a:rPr lang="en-US" altLang="zh-TW" sz="2000" dirty="0" smtClean="0">
                <a:latin typeface="微軟正黑體" pitchFamily="34" charset="-120"/>
                <a:ea typeface="微軟正黑體" pitchFamily="34" charset="-120"/>
              </a:rPr>
              <a:t> degree</a:t>
            </a:r>
          </a:p>
          <a:p>
            <a:pPr marL="342900" indent="-342900">
              <a:spcBef>
                <a:spcPct val="20000"/>
              </a:spcBef>
              <a:buAutoNum type="arabicPeriod"/>
            </a:pPr>
            <a:endParaRPr lang="zh-TW" altLang="en-US" sz="2000" dirty="0" smtClean="0">
              <a:latin typeface="微軟正黑體" pitchFamily="34" charset="-120"/>
              <a:ea typeface="微軟正黑體" pitchFamily="34" charset="-12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Fuzzy set</a:t>
            </a:r>
            <a:endParaRPr lang="zh-TW" altLang="en-US" dirty="0"/>
          </a:p>
        </p:txBody>
      </p:sp>
      <p:sp>
        <p:nvSpPr>
          <p:cNvPr id="3" name="內容版面配置區 2"/>
          <p:cNvSpPr>
            <a:spLocks noGrp="1"/>
          </p:cNvSpPr>
          <p:nvPr>
            <p:ph idx="1"/>
          </p:nvPr>
        </p:nvSpPr>
        <p:spPr/>
        <p:txBody>
          <a:bodyPr/>
          <a:lstStyle/>
          <a:p>
            <a:r>
              <a:rPr lang="en-US" altLang="zh-TW" dirty="0" smtClean="0"/>
              <a:t>Crisp set: </a:t>
            </a:r>
          </a:p>
          <a:p>
            <a:pPr>
              <a:buNone/>
            </a:pPr>
            <a:r>
              <a:rPr lang="en-US" altLang="zh-TW" dirty="0" smtClean="0"/>
              <a:t>	</a:t>
            </a:r>
            <a:r>
              <a:rPr lang="en-US" altLang="zh-TW" sz="2400" dirty="0" smtClean="0">
                <a:latin typeface="微軟正黑體" pitchFamily="34" charset="-120"/>
                <a:ea typeface="微軟正黑體" pitchFamily="34" charset="-120"/>
              </a:rPr>
              <a:t>Ex:     0 &lt;=age &lt;10: infant,  10 &lt;=age &lt;30: young</a:t>
            </a:r>
          </a:p>
          <a:p>
            <a:pPr>
              <a:buNone/>
            </a:pPr>
            <a:r>
              <a:rPr lang="en-US" altLang="zh-TW" sz="2400" dirty="0" smtClean="0">
                <a:latin typeface="微軟正黑體" pitchFamily="34" charset="-120"/>
                <a:ea typeface="微軟正黑體" pitchFamily="34" charset="-120"/>
              </a:rPr>
              <a:t>            30 &lt;=age &lt; 60: adult,   60 &lt; age: old</a:t>
            </a:r>
          </a:p>
          <a:p>
            <a:pPr>
              <a:buNone/>
            </a:pPr>
            <a:r>
              <a:rPr lang="en-US" altLang="zh-TW" sz="2400" dirty="0" smtClean="0">
                <a:latin typeface="微軟正黑體" pitchFamily="34" charset="-120"/>
                <a:ea typeface="微軟正黑體" pitchFamily="34" charset="-120"/>
              </a:rPr>
              <a:t>           </a:t>
            </a:r>
          </a:p>
          <a:p>
            <a:r>
              <a:rPr lang="en-US" altLang="zh-TW" sz="2400" dirty="0" smtClean="0">
                <a:latin typeface="微軟正黑體" pitchFamily="34" charset="-120"/>
                <a:ea typeface="微軟正黑體" pitchFamily="34" charset="-120"/>
              </a:rPr>
              <a:t>fuzzy set: define a membership function:</a:t>
            </a:r>
          </a:p>
          <a:p>
            <a:pPr>
              <a:buNone/>
            </a:pPr>
            <a:r>
              <a:rPr lang="en-US" altLang="zh-TW" sz="2400" dirty="0" smtClean="0">
                <a:latin typeface="微軟正黑體" pitchFamily="34" charset="-120"/>
                <a:ea typeface="微軟正黑體" pitchFamily="34" charset="-120"/>
              </a:rPr>
              <a:t>     Ex:</a:t>
            </a:r>
            <a:r>
              <a:rPr lang="en-US" altLang="zh-TW" dirty="0" smtClean="0"/>
              <a:t/>
            </a:r>
            <a:br>
              <a:rPr lang="en-US" altLang="zh-TW" dirty="0" smtClean="0"/>
            </a:br>
            <a:r>
              <a:rPr lang="en-US" altLang="zh-TW" dirty="0" smtClean="0"/>
              <a:t>      </a:t>
            </a:r>
            <a:endParaRPr lang="zh-TW" altLang="en-US" dirty="0"/>
          </a:p>
        </p:txBody>
      </p:sp>
      <p:sp>
        <p:nvSpPr>
          <p:cNvPr id="4" name="投影片編號版面配置區 3"/>
          <p:cNvSpPr>
            <a:spLocks noGrp="1"/>
          </p:cNvSpPr>
          <p:nvPr>
            <p:ph type="sldNum" sz="quarter" idx="12"/>
          </p:nvPr>
        </p:nvSpPr>
        <p:spPr/>
        <p:txBody>
          <a:bodyPr/>
          <a:lstStyle/>
          <a:p>
            <a:fld id="{0914735A-2DD1-49E1-A8E8-1A4F28A0E6C3}" type="slidenum">
              <a:rPr lang="zh-TW" altLang="en-US" smtClean="0"/>
              <a:pPr/>
              <a:t>6</a:t>
            </a:fld>
            <a:endParaRPr lang="zh-TW" altLang="en-US"/>
          </a:p>
        </p:txBody>
      </p:sp>
      <p:graphicFrame>
        <p:nvGraphicFramePr>
          <p:cNvPr id="5" name="表格 4"/>
          <p:cNvGraphicFramePr>
            <a:graphicFrameLocks noGrp="1"/>
          </p:cNvGraphicFramePr>
          <p:nvPr/>
        </p:nvGraphicFramePr>
        <p:xfrm>
          <a:off x="899592" y="4653136"/>
          <a:ext cx="6840760" cy="1854200"/>
        </p:xfrm>
        <a:graphic>
          <a:graphicData uri="http://schemas.openxmlformats.org/drawingml/2006/table">
            <a:tbl>
              <a:tblPr firstRow="1" bandRow="1">
                <a:tableStyleId>{5C22544A-7EE6-4342-B048-85BDC9FD1C3A}</a:tableStyleId>
              </a:tblPr>
              <a:tblGrid>
                <a:gridCol w="1008112"/>
                <a:gridCol w="648072"/>
                <a:gridCol w="648072"/>
                <a:gridCol w="648072"/>
                <a:gridCol w="648072"/>
                <a:gridCol w="648072"/>
                <a:gridCol w="648072"/>
                <a:gridCol w="648072"/>
                <a:gridCol w="648072"/>
                <a:gridCol w="648072"/>
              </a:tblGrid>
              <a:tr h="370840">
                <a:tc>
                  <a:txBody>
                    <a:bodyPr/>
                    <a:lstStyle/>
                    <a:p>
                      <a:r>
                        <a:rPr lang="en-US" altLang="zh-TW" dirty="0" smtClean="0"/>
                        <a:t>Age</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10</a:t>
                      </a:r>
                      <a:endParaRPr lang="zh-TW" altLang="en-US" dirty="0"/>
                    </a:p>
                  </a:txBody>
                  <a:tcPr/>
                </a:tc>
                <a:tc>
                  <a:txBody>
                    <a:bodyPr/>
                    <a:lstStyle/>
                    <a:p>
                      <a:pPr algn="ctr"/>
                      <a:r>
                        <a:rPr lang="en-US" altLang="zh-TW" dirty="0" smtClean="0"/>
                        <a:t>20</a:t>
                      </a:r>
                      <a:endParaRPr lang="zh-TW" altLang="en-US" dirty="0"/>
                    </a:p>
                  </a:txBody>
                  <a:tcPr/>
                </a:tc>
                <a:tc>
                  <a:txBody>
                    <a:bodyPr/>
                    <a:lstStyle/>
                    <a:p>
                      <a:pPr algn="ctr"/>
                      <a:r>
                        <a:rPr lang="en-US" altLang="zh-TW" dirty="0" smtClean="0"/>
                        <a:t>30</a:t>
                      </a:r>
                      <a:endParaRPr lang="zh-TW" altLang="en-US" dirty="0"/>
                    </a:p>
                  </a:txBody>
                  <a:tcPr/>
                </a:tc>
                <a:tc>
                  <a:txBody>
                    <a:bodyPr/>
                    <a:lstStyle/>
                    <a:p>
                      <a:pPr algn="ctr"/>
                      <a:r>
                        <a:rPr lang="en-US" altLang="zh-TW" dirty="0" smtClean="0"/>
                        <a:t>40</a:t>
                      </a:r>
                      <a:endParaRPr lang="zh-TW" altLang="en-US" dirty="0"/>
                    </a:p>
                  </a:txBody>
                  <a:tcPr/>
                </a:tc>
                <a:tc>
                  <a:txBody>
                    <a:bodyPr/>
                    <a:lstStyle/>
                    <a:p>
                      <a:pPr algn="ctr"/>
                      <a:r>
                        <a:rPr lang="en-US" altLang="zh-TW" dirty="0" smtClean="0"/>
                        <a:t>50</a:t>
                      </a:r>
                      <a:endParaRPr lang="zh-TW" altLang="en-US" dirty="0"/>
                    </a:p>
                  </a:txBody>
                  <a:tcPr/>
                </a:tc>
                <a:tc>
                  <a:txBody>
                    <a:bodyPr/>
                    <a:lstStyle/>
                    <a:p>
                      <a:pPr algn="ctr"/>
                      <a:r>
                        <a:rPr lang="en-US" altLang="zh-TW" dirty="0" smtClean="0"/>
                        <a:t>60</a:t>
                      </a:r>
                      <a:endParaRPr lang="zh-TW" altLang="en-US" dirty="0"/>
                    </a:p>
                  </a:txBody>
                  <a:tcPr/>
                </a:tc>
                <a:tc>
                  <a:txBody>
                    <a:bodyPr/>
                    <a:lstStyle/>
                    <a:p>
                      <a:pPr algn="ctr"/>
                      <a:r>
                        <a:rPr lang="en-US" altLang="zh-TW" dirty="0" smtClean="0"/>
                        <a:t>70</a:t>
                      </a:r>
                      <a:endParaRPr lang="zh-TW" altLang="en-US" dirty="0"/>
                    </a:p>
                  </a:txBody>
                  <a:tcPr/>
                </a:tc>
                <a:tc>
                  <a:txBody>
                    <a:bodyPr/>
                    <a:lstStyle/>
                    <a:p>
                      <a:pPr algn="ctr"/>
                      <a:r>
                        <a:rPr lang="en-US" altLang="zh-TW" dirty="0" smtClean="0"/>
                        <a:t>80</a:t>
                      </a:r>
                      <a:endParaRPr lang="zh-TW" altLang="en-US" dirty="0"/>
                    </a:p>
                  </a:txBody>
                  <a:tcPr/>
                </a:tc>
              </a:tr>
              <a:tr h="370840">
                <a:tc>
                  <a:txBody>
                    <a:bodyPr/>
                    <a:lstStyle/>
                    <a:p>
                      <a:pPr algn="ctr"/>
                      <a:r>
                        <a:rPr lang="en-US" altLang="zh-TW" dirty="0" smtClean="0"/>
                        <a:t>Infant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r>
              <a:tr h="370840">
                <a:tc>
                  <a:txBody>
                    <a:bodyPr/>
                    <a:lstStyle/>
                    <a:p>
                      <a:pPr algn="ctr"/>
                      <a:r>
                        <a:rPr lang="en-US" altLang="zh-TW" dirty="0" smtClean="0"/>
                        <a:t>Young</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0.8</a:t>
                      </a:r>
                      <a:endParaRPr lang="zh-TW" altLang="en-US" dirty="0"/>
                    </a:p>
                  </a:txBody>
                  <a:tcPr/>
                </a:tc>
                <a:tc>
                  <a:txBody>
                    <a:bodyPr/>
                    <a:lstStyle/>
                    <a:p>
                      <a:pPr algn="ctr"/>
                      <a:r>
                        <a:rPr lang="en-US" altLang="zh-TW" dirty="0" smtClean="0"/>
                        <a:t>0.5</a:t>
                      </a:r>
                      <a:endParaRPr lang="zh-TW" altLang="en-US" dirty="0"/>
                    </a:p>
                  </a:txBody>
                  <a:tcPr/>
                </a:tc>
                <a:tc>
                  <a:txBody>
                    <a:bodyPr/>
                    <a:lstStyle/>
                    <a:p>
                      <a:pPr algn="ctr"/>
                      <a:r>
                        <a:rPr lang="en-US" altLang="zh-TW" dirty="0" smtClean="0"/>
                        <a:t>0.2</a:t>
                      </a:r>
                      <a:endParaRPr lang="zh-TW" altLang="en-US" dirty="0"/>
                    </a:p>
                  </a:txBody>
                  <a:tcPr/>
                </a:tc>
                <a:tc>
                  <a:txBody>
                    <a:bodyPr/>
                    <a:lstStyle/>
                    <a:p>
                      <a:pPr algn="ctr"/>
                      <a:r>
                        <a:rPr lang="en-US" altLang="zh-TW" dirty="0" smtClean="0"/>
                        <a:t>0.1</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r>
              <a:tr h="370840">
                <a:tc>
                  <a:txBody>
                    <a:bodyPr/>
                    <a:lstStyle/>
                    <a:p>
                      <a:pPr algn="ctr"/>
                      <a:r>
                        <a:rPr lang="en-US" altLang="zh-TW" dirty="0" smtClean="0"/>
                        <a:t>Adult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0.8</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r>
              <a:tr h="370840">
                <a:tc>
                  <a:txBody>
                    <a:bodyPr/>
                    <a:lstStyle/>
                    <a:p>
                      <a:pPr algn="ctr"/>
                      <a:r>
                        <a:rPr lang="en-US" altLang="zh-TW" dirty="0" smtClean="0"/>
                        <a:t>old</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0.1</a:t>
                      </a:r>
                      <a:endParaRPr lang="zh-TW" altLang="en-US" dirty="0"/>
                    </a:p>
                  </a:txBody>
                  <a:tcPr/>
                </a:tc>
                <a:tc>
                  <a:txBody>
                    <a:bodyPr/>
                    <a:lstStyle/>
                    <a:p>
                      <a:pPr algn="ctr"/>
                      <a:r>
                        <a:rPr lang="en-US" altLang="zh-TW" dirty="0" smtClean="0"/>
                        <a:t>0.2</a:t>
                      </a:r>
                      <a:endParaRPr lang="zh-TW" altLang="en-US" dirty="0"/>
                    </a:p>
                  </a:txBody>
                  <a:tcPr/>
                </a:tc>
                <a:tc>
                  <a:txBody>
                    <a:bodyPr/>
                    <a:lstStyle/>
                    <a:p>
                      <a:pPr algn="ctr"/>
                      <a:r>
                        <a:rPr lang="en-US" altLang="zh-TW" dirty="0" smtClean="0"/>
                        <a:t>0.4</a:t>
                      </a:r>
                      <a:endParaRPr lang="zh-TW" altLang="en-US" dirty="0"/>
                    </a:p>
                  </a:txBody>
                  <a:tcPr/>
                </a:tc>
                <a:tc>
                  <a:txBody>
                    <a:bodyPr/>
                    <a:lstStyle/>
                    <a:p>
                      <a:pPr algn="ctr"/>
                      <a:r>
                        <a:rPr lang="en-US" altLang="zh-TW" dirty="0" smtClean="0"/>
                        <a:t>0.6</a:t>
                      </a:r>
                      <a:endParaRPr lang="zh-TW" altLang="en-US" dirty="0"/>
                    </a:p>
                  </a:txBody>
                  <a:tcPr/>
                </a:tc>
                <a:tc>
                  <a:txBody>
                    <a:bodyPr/>
                    <a:lstStyle/>
                    <a:p>
                      <a:pPr algn="ctr"/>
                      <a:r>
                        <a:rPr lang="en-US" altLang="zh-TW" dirty="0" smtClean="0"/>
                        <a:t>0.8</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0914735A-2DD1-49E1-A8E8-1A4F28A0E6C3}" type="slidenum">
              <a:rPr lang="zh-TW" altLang="en-US" smtClean="0"/>
              <a:pPr/>
              <a:t>7</a:t>
            </a:fld>
            <a:endParaRPr lang="zh-TW" altLang="en-US"/>
          </a:p>
        </p:txBody>
      </p:sp>
      <p:pic>
        <p:nvPicPr>
          <p:cNvPr id="147458" name="Picture 2"/>
          <p:cNvPicPr>
            <a:picLocks noChangeAspect="1" noChangeArrowheads="1"/>
          </p:cNvPicPr>
          <p:nvPr/>
        </p:nvPicPr>
        <p:blipFill>
          <a:blip r:embed="rId2" cstate="print"/>
          <a:srcRect/>
          <a:stretch>
            <a:fillRect/>
          </a:stretch>
        </p:blipFill>
        <p:spPr bwMode="auto">
          <a:xfrm>
            <a:off x="395536" y="188640"/>
            <a:ext cx="7848872" cy="636395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14282" y="155448"/>
            <a:ext cx="8715436" cy="1252728"/>
          </a:xfrm>
        </p:spPr>
        <p:txBody>
          <a:bodyPr>
            <a:normAutofit/>
          </a:bodyPr>
          <a:lstStyle/>
          <a:p>
            <a:pPr fontAlgn="auto">
              <a:spcAft>
                <a:spcPts val="0"/>
              </a:spcAft>
              <a:defRPr/>
            </a:pPr>
            <a:r>
              <a:rPr lang="en-US" altLang="zh-TW" dirty="0" smtClean="0"/>
              <a:t>RST concept (1/2)</a:t>
            </a:r>
            <a:endParaRPr lang="zh-TW" altLang="en-US" dirty="0" smtClean="0"/>
          </a:p>
        </p:txBody>
      </p:sp>
      <p:graphicFrame>
        <p:nvGraphicFramePr>
          <p:cNvPr id="16" name="內容版面配置區 15"/>
          <p:cNvGraphicFramePr>
            <a:graphicFrameLocks noGrp="1"/>
          </p:cNvGraphicFramePr>
          <p:nvPr>
            <p:ph idx="1"/>
          </p:nvPr>
        </p:nvGraphicFramePr>
        <p:xfrm>
          <a:off x="457200" y="1775191"/>
          <a:ext cx="8229600" cy="46256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投影片編號版面配置區 6"/>
          <p:cNvSpPr>
            <a:spLocks noGrp="1"/>
          </p:cNvSpPr>
          <p:nvPr>
            <p:ph type="sldNum" sz="quarter" idx="12"/>
          </p:nvPr>
        </p:nvSpPr>
        <p:spPr/>
        <p:txBody>
          <a:bodyPr/>
          <a:lstStyle/>
          <a:p>
            <a:fld id="{0914735A-2DD1-49E1-A8E8-1A4F28A0E6C3}" type="slidenum">
              <a:rPr lang="zh-TW" altLang="en-US" smtClean="0"/>
              <a:pPr/>
              <a:t>8</a:t>
            </a:fld>
            <a:endParaRPr lang="zh-TW" altLang="en-US"/>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14282" y="155448"/>
            <a:ext cx="8715436" cy="1252728"/>
          </a:xfrm>
        </p:spPr>
        <p:txBody>
          <a:bodyPr>
            <a:normAutofit/>
          </a:bodyPr>
          <a:lstStyle/>
          <a:p>
            <a:pPr fontAlgn="auto">
              <a:spcAft>
                <a:spcPts val="0"/>
              </a:spcAft>
              <a:defRPr/>
            </a:pPr>
            <a:r>
              <a:rPr lang="en-US" altLang="zh-TW" dirty="0" smtClean="0"/>
              <a:t>RST concept(2/2)</a:t>
            </a:r>
            <a:endParaRPr lang="zh-TW" altLang="en-US" dirty="0" smtClean="0"/>
          </a:p>
        </p:txBody>
      </p:sp>
      <p:sp>
        <p:nvSpPr>
          <p:cNvPr id="5" name="投影片編號版面配置區 4"/>
          <p:cNvSpPr>
            <a:spLocks noGrp="1"/>
          </p:cNvSpPr>
          <p:nvPr>
            <p:ph type="sldNum" sz="quarter" idx="12"/>
          </p:nvPr>
        </p:nvSpPr>
        <p:spPr/>
        <p:txBody>
          <a:bodyPr/>
          <a:lstStyle/>
          <a:p>
            <a:pPr>
              <a:defRPr/>
            </a:pPr>
            <a:fld id="{CD77DED9-2DB1-4563-A0B4-5AC1DBB27CFB}" type="slidenum">
              <a:rPr lang="zh-TW" altLang="en-US"/>
              <a:pPr>
                <a:defRPr/>
              </a:pPr>
              <a:t>9</a:t>
            </a:fld>
            <a:endParaRPr lang="zh-TW" altLang="en-US"/>
          </a:p>
        </p:txBody>
      </p:sp>
      <p:graphicFrame>
        <p:nvGraphicFramePr>
          <p:cNvPr id="16" name="內容版面配置區 15"/>
          <p:cNvGraphicFramePr>
            <a:graphicFrameLocks noGrp="1"/>
          </p:cNvGraphicFramePr>
          <p:nvPr>
            <p:ph idx="1"/>
          </p:nvPr>
        </p:nvGraphicFramePr>
        <p:xfrm>
          <a:off x="457200" y="1775191"/>
          <a:ext cx="8229600" cy="46256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95536" y="-27384"/>
            <a:ext cx="8229600" cy="1143000"/>
          </a:xfrm>
        </p:spPr>
        <p:txBody>
          <a:bodyPr/>
          <a:lstStyle/>
          <a:p>
            <a:r>
              <a:rPr lang="en-US" altLang="zh-TW" dirty="0" smtClean="0"/>
              <a:t>Information system (IS)</a:t>
            </a:r>
            <a:endParaRPr lang="zh-TW" altLang="en-US" dirty="0"/>
          </a:p>
        </p:txBody>
      </p:sp>
      <p:sp>
        <p:nvSpPr>
          <p:cNvPr id="3" name="內容版面配置區 2"/>
          <p:cNvSpPr>
            <a:spLocks noGrp="1"/>
          </p:cNvSpPr>
          <p:nvPr>
            <p:ph idx="1"/>
          </p:nvPr>
        </p:nvSpPr>
        <p:spPr>
          <a:xfrm>
            <a:off x="251520" y="1052736"/>
            <a:ext cx="4464496" cy="2016224"/>
          </a:xfrm>
        </p:spPr>
        <p:txBody>
          <a:bodyPr>
            <a:noAutofit/>
          </a:bodyPr>
          <a:lstStyle/>
          <a:p>
            <a:r>
              <a:rPr lang="en-US" altLang="zh-TW" sz="2400" dirty="0" smtClean="0"/>
              <a:t>IS = (</a:t>
            </a:r>
            <a:r>
              <a:rPr lang="en-US" altLang="zh-TW" sz="2400" i="1" dirty="0" smtClean="0"/>
              <a:t>U</a:t>
            </a:r>
            <a:r>
              <a:rPr lang="en-US" altLang="zh-TW" sz="2400" dirty="0" smtClean="0"/>
              <a:t>, </a:t>
            </a:r>
            <a:r>
              <a:rPr lang="en-US" altLang="zh-TW" sz="2400" i="1" dirty="0" smtClean="0"/>
              <a:t>A</a:t>
            </a:r>
            <a:r>
              <a:rPr lang="en-US" altLang="zh-TW" sz="2400" dirty="0" smtClean="0"/>
              <a:t>)</a:t>
            </a:r>
          </a:p>
          <a:p>
            <a:pPr lvl="1">
              <a:buFont typeface="Wingdings" pitchFamily="2" charset="2"/>
              <a:buChar char="l"/>
            </a:pPr>
            <a:r>
              <a:rPr lang="en-US" altLang="zh-TW" sz="2400" dirty="0" smtClean="0"/>
              <a:t>U = {x</a:t>
            </a:r>
            <a:r>
              <a:rPr lang="en-US" altLang="zh-TW" sz="2400" baseline="-25000" dirty="0" smtClean="0"/>
              <a:t>1</a:t>
            </a:r>
            <a:r>
              <a:rPr lang="en-US" altLang="zh-TW" sz="2400" dirty="0" smtClean="0"/>
              <a:t>, x</a:t>
            </a:r>
            <a:r>
              <a:rPr lang="en-US" altLang="zh-TW" sz="2400" baseline="-25000" dirty="0" smtClean="0"/>
              <a:t>2</a:t>
            </a:r>
            <a:r>
              <a:rPr lang="en-US" altLang="zh-TW" sz="2400" dirty="0" smtClean="0"/>
              <a:t>,…, </a:t>
            </a:r>
            <a:r>
              <a:rPr lang="en-US" altLang="zh-TW" sz="2400" dirty="0" err="1" smtClean="0"/>
              <a:t>x</a:t>
            </a:r>
            <a:r>
              <a:rPr lang="en-US" altLang="zh-TW" sz="2400" i="1" baseline="-25000" dirty="0" err="1" smtClean="0"/>
              <a:t>m</a:t>
            </a:r>
            <a:r>
              <a:rPr lang="en-US" altLang="zh-TW" sz="2400" dirty="0" smtClean="0"/>
              <a:t>} (instances)</a:t>
            </a:r>
          </a:p>
          <a:p>
            <a:pPr lvl="1">
              <a:buFont typeface="Wingdings" pitchFamily="2" charset="2"/>
              <a:buChar char="l"/>
            </a:pPr>
            <a:r>
              <a:rPr lang="en-US" altLang="zh-TW" sz="2400" dirty="0" smtClean="0"/>
              <a:t>A ={a</a:t>
            </a:r>
            <a:r>
              <a:rPr lang="en-US" altLang="zh-TW" sz="2400" baseline="-25000" dirty="0" smtClean="0"/>
              <a:t>1</a:t>
            </a:r>
            <a:r>
              <a:rPr lang="en-US" altLang="zh-TW" sz="2400" dirty="0" smtClean="0"/>
              <a:t>, a</a:t>
            </a:r>
            <a:r>
              <a:rPr lang="en-US" altLang="zh-TW" sz="2400" baseline="-25000" dirty="0" smtClean="0"/>
              <a:t>2</a:t>
            </a:r>
            <a:r>
              <a:rPr lang="en-US" altLang="zh-TW" sz="2400" dirty="0" smtClean="0"/>
              <a:t>,…,a</a:t>
            </a:r>
            <a:r>
              <a:rPr lang="en-US" altLang="zh-TW" sz="2400" i="1" baseline="-25000" dirty="0" smtClean="0"/>
              <a:t>n</a:t>
            </a:r>
            <a:r>
              <a:rPr lang="en-US" altLang="zh-TW" sz="2400" dirty="0" smtClean="0"/>
              <a:t>} (attributes) </a:t>
            </a:r>
          </a:p>
          <a:p>
            <a:pPr lvl="1">
              <a:buFont typeface="Wingdings" pitchFamily="2" charset="2"/>
              <a:buChar char="l"/>
            </a:pPr>
            <a:r>
              <a:rPr lang="en-US" altLang="zh-TW" sz="2400" dirty="0" err="1" smtClean="0"/>
              <a:t>V</a:t>
            </a:r>
            <a:r>
              <a:rPr lang="en-US" altLang="zh-TW" sz="2400" i="1" dirty="0" err="1" smtClean="0"/>
              <a:t>a</a:t>
            </a:r>
            <a:r>
              <a:rPr lang="en-US" altLang="zh-TW" sz="2400" dirty="0" smtClean="0"/>
              <a:t>: range of attribute </a:t>
            </a:r>
            <a:r>
              <a:rPr lang="en-US" altLang="zh-TW" sz="2400" i="1" dirty="0" smtClean="0"/>
              <a:t>a</a:t>
            </a:r>
          </a:p>
          <a:p>
            <a:pPr>
              <a:buNone/>
            </a:pPr>
            <a:endParaRPr lang="zh-TW" altLang="en-US" sz="2400" dirty="0"/>
          </a:p>
        </p:txBody>
      </p:sp>
      <p:graphicFrame>
        <p:nvGraphicFramePr>
          <p:cNvPr id="5" name="表格 4"/>
          <p:cNvGraphicFramePr>
            <a:graphicFrameLocks noGrp="1"/>
          </p:cNvGraphicFramePr>
          <p:nvPr/>
        </p:nvGraphicFramePr>
        <p:xfrm>
          <a:off x="5004048" y="1628800"/>
          <a:ext cx="3312368" cy="4074160"/>
        </p:xfrm>
        <a:graphic>
          <a:graphicData uri="http://schemas.openxmlformats.org/drawingml/2006/table">
            <a:tbl>
              <a:tblPr firstRow="1" bandRow="1">
                <a:tableStyleId>{7DF18680-E054-41AD-8BC1-D1AEF772440D}</a:tableStyleId>
              </a:tblPr>
              <a:tblGrid>
                <a:gridCol w="828092"/>
                <a:gridCol w="828092"/>
                <a:gridCol w="828092"/>
                <a:gridCol w="828092"/>
              </a:tblGrid>
              <a:tr h="226824">
                <a:tc>
                  <a:txBody>
                    <a:bodyPr/>
                    <a:lstStyle/>
                    <a:p>
                      <a:pPr algn="ctr"/>
                      <a:r>
                        <a:rPr lang="en-US" altLang="zh-TW" sz="1800" dirty="0" smtClean="0"/>
                        <a:t>U</a:t>
                      </a:r>
                      <a:endParaRPr lang="zh-TW" altLang="en-US" sz="1800" dirty="0"/>
                    </a:p>
                  </a:txBody>
                  <a:tcPr anchor="ctr"/>
                </a:tc>
                <a:tc>
                  <a:txBody>
                    <a:bodyPr/>
                    <a:lstStyle/>
                    <a:p>
                      <a:pPr algn="ctr"/>
                      <a:r>
                        <a:rPr lang="en-US" altLang="zh-TW" sz="1800" dirty="0" smtClean="0"/>
                        <a:t>a</a:t>
                      </a:r>
                      <a:r>
                        <a:rPr lang="en-US" altLang="zh-TW" sz="1800" baseline="-25000" dirty="0" smtClean="0"/>
                        <a:t>1</a:t>
                      </a:r>
                      <a:endParaRPr lang="zh-TW" altLang="en-US" sz="1800" baseline="-25000" dirty="0"/>
                    </a:p>
                  </a:txBody>
                  <a:tcPr anchor="ctr"/>
                </a:tc>
                <a:tc>
                  <a:txBody>
                    <a:bodyPr/>
                    <a:lstStyle/>
                    <a:p>
                      <a:pPr algn="ctr"/>
                      <a:r>
                        <a:rPr lang="en-US" altLang="zh-TW" sz="1800" dirty="0" smtClean="0"/>
                        <a:t>a</a:t>
                      </a:r>
                      <a:r>
                        <a:rPr lang="en-US" altLang="zh-TW" sz="1800" baseline="-25000" dirty="0" smtClean="0"/>
                        <a:t>2</a:t>
                      </a:r>
                      <a:endParaRPr lang="zh-TW" altLang="en-US" sz="1800" baseline="-25000" dirty="0"/>
                    </a:p>
                  </a:txBody>
                  <a:tcPr anchor="ctr"/>
                </a:tc>
                <a:tc>
                  <a:txBody>
                    <a:bodyPr/>
                    <a:lstStyle/>
                    <a:p>
                      <a:pPr algn="ctr"/>
                      <a:r>
                        <a:rPr lang="en-US" altLang="zh-TW" sz="1800" dirty="0" smtClean="0"/>
                        <a:t>a</a:t>
                      </a:r>
                      <a:r>
                        <a:rPr lang="en-US" altLang="zh-TW" sz="1800" baseline="-25000" dirty="0" smtClean="0"/>
                        <a:t>3</a:t>
                      </a:r>
                      <a:endParaRPr lang="zh-TW" altLang="en-US" sz="1800" baseline="-25000" dirty="0"/>
                    </a:p>
                  </a:txBody>
                  <a:tcPr anchor="ctr"/>
                </a:tc>
              </a:tr>
              <a:tr h="370840">
                <a:tc>
                  <a:txBody>
                    <a:bodyPr/>
                    <a:lstStyle/>
                    <a:p>
                      <a:pPr algn="ctr"/>
                      <a:r>
                        <a:rPr lang="en-US" altLang="zh-TW" sz="1800" dirty="0" smtClean="0"/>
                        <a:t>x</a:t>
                      </a:r>
                      <a:r>
                        <a:rPr lang="en-US" altLang="zh-TW" sz="1800" baseline="-25000" dirty="0" smtClean="0"/>
                        <a:t>1</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r>
              <a:tr h="370840">
                <a:tc>
                  <a:txBody>
                    <a:bodyPr/>
                    <a:lstStyle/>
                    <a:p>
                      <a:pPr algn="ctr"/>
                      <a:r>
                        <a:rPr lang="en-US" altLang="zh-TW" sz="1800" dirty="0" smtClean="0"/>
                        <a:t>x</a:t>
                      </a:r>
                      <a:r>
                        <a:rPr lang="en-US" altLang="zh-TW" sz="1800" baseline="-25000" dirty="0" smtClean="0"/>
                        <a:t>2</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r>
              <a:tr h="370840">
                <a:tc>
                  <a:txBody>
                    <a:bodyPr/>
                    <a:lstStyle/>
                    <a:p>
                      <a:pPr algn="ctr"/>
                      <a:r>
                        <a:rPr lang="en-US" altLang="zh-TW" sz="1800" dirty="0" smtClean="0"/>
                        <a:t>x</a:t>
                      </a:r>
                      <a:r>
                        <a:rPr lang="en-US" altLang="zh-TW" sz="1800" baseline="-25000" dirty="0" smtClean="0"/>
                        <a:t>3</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r>
              <a:tr h="370840">
                <a:tc>
                  <a:txBody>
                    <a:bodyPr/>
                    <a:lstStyle/>
                    <a:p>
                      <a:pPr algn="ctr"/>
                      <a:r>
                        <a:rPr lang="en-US" altLang="zh-TW" sz="1800" dirty="0" smtClean="0"/>
                        <a:t>x</a:t>
                      </a:r>
                      <a:r>
                        <a:rPr lang="en-US" altLang="zh-TW" sz="1800" baseline="-25000" dirty="0" smtClean="0"/>
                        <a:t>4</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3</a:t>
                      </a:r>
                      <a:endParaRPr lang="zh-TW" altLang="en-US" sz="1800" dirty="0"/>
                    </a:p>
                  </a:txBody>
                  <a:tcPr anchor="ctr"/>
                </a:tc>
              </a:tr>
              <a:tr h="370840">
                <a:tc>
                  <a:txBody>
                    <a:bodyPr/>
                    <a:lstStyle/>
                    <a:p>
                      <a:pPr algn="ctr"/>
                      <a:r>
                        <a:rPr lang="en-US" altLang="zh-TW" sz="1800" dirty="0" smtClean="0"/>
                        <a:t>x</a:t>
                      </a:r>
                      <a:r>
                        <a:rPr lang="en-US" altLang="zh-TW" sz="1800" baseline="-25000" dirty="0" smtClean="0"/>
                        <a:t>5</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4</a:t>
                      </a:r>
                      <a:endParaRPr lang="zh-TW" altLang="en-US" sz="1800" dirty="0"/>
                    </a:p>
                  </a:txBody>
                  <a:tcPr anchor="ctr"/>
                </a:tc>
              </a:tr>
              <a:tr h="370840">
                <a:tc>
                  <a:txBody>
                    <a:bodyPr/>
                    <a:lstStyle/>
                    <a:p>
                      <a:pPr algn="ctr"/>
                      <a:r>
                        <a:rPr lang="en-US" altLang="zh-TW" sz="1800" dirty="0" smtClean="0"/>
                        <a:t>x</a:t>
                      </a:r>
                      <a:r>
                        <a:rPr lang="en-US" altLang="zh-TW" sz="1800" baseline="-25000" dirty="0" smtClean="0"/>
                        <a:t>6</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2</a:t>
                      </a:r>
                      <a:endParaRPr lang="zh-TW" altLang="en-US" sz="1800" dirty="0"/>
                    </a:p>
                  </a:txBody>
                  <a:tcPr anchor="ctr"/>
                </a:tc>
              </a:tr>
              <a:tr h="370840">
                <a:tc>
                  <a:txBody>
                    <a:bodyPr/>
                    <a:lstStyle/>
                    <a:p>
                      <a:pPr algn="ctr"/>
                      <a:r>
                        <a:rPr lang="en-US" altLang="zh-TW" sz="1800" dirty="0" smtClean="0"/>
                        <a:t>x</a:t>
                      </a:r>
                      <a:r>
                        <a:rPr lang="en-US" altLang="zh-TW" sz="1800" baseline="-25000" dirty="0" smtClean="0"/>
                        <a:t>7</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r>
              <a:tr h="370840">
                <a:tc>
                  <a:txBody>
                    <a:bodyPr/>
                    <a:lstStyle/>
                    <a:p>
                      <a:pPr algn="ctr"/>
                      <a:r>
                        <a:rPr lang="en-US" altLang="zh-TW" sz="1800" dirty="0" smtClean="0"/>
                        <a:t>x</a:t>
                      </a:r>
                      <a:r>
                        <a:rPr lang="en-US" altLang="zh-TW" sz="1800" baseline="-25000" dirty="0" smtClean="0"/>
                        <a:t>8</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4</a:t>
                      </a:r>
                      <a:endParaRPr lang="zh-TW" altLang="en-US" sz="1800" dirty="0"/>
                    </a:p>
                  </a:txBody>
                  <a:tcPr anchor="ctr"/>
                </a:tc>
              </a:tr>
              <a:tr h="370840">
                <a:tc>
                  <a:txBody>
                    <a:bodyPr/>
                    <a:lstStyle/>
                    <a:p>
                      <a:pPr algn="ctr"/>
                      <a:r>
                        <a:rPr lang="en-US" altLang="zh-TW" sz="1800" dirty="0" smtClean="0"/>
                        <a:t>x</a:t>
                      </a:r>
                      <a:r>
                        <a:rPr lang="en-US" altLang="zh-TW" sz="1800" baseline="-25000" dirty="0" smtClean="0"/>
                        <a:t>9</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r>
              <a:tr h="370840">
                <a:tc>
                  <a:txBody>
                    <a:bodyPr/>
                    <a:lstStyle/>
                    <a:p>
                      <a:pPr algn="ctr"/>
                      <a:r>
                        <a:rPr lang="en-US" altLang="zh-TW" sz="1800" dirty="0" smtClean="0"/>
                        <a:t>x</a:t>
                      </a:r>
                      <a:r>
                        <a:rPr lang="en-US" altLang="zh-TW" sz="1800" baseline="-25000" dirty="0" smtClean="0"/>
                        <a:t>10</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r>
            </a:tbl>
          </a:graphicData>
        </a:graphic>
      </p:graphicFrame>
      <p:sp>
        <p:nvSpPr>
          <p:cNvPr id="7" name="內容版面配置區 2"/>
          <p:cNvSpPr txBox="1">
            <a:spLocks/>
          </p:cNvSpPr>
          <p:nvPr/>
        </p:nvSpPr>
        <p:spPr>
          <a:xfrm>
            <a:off x="611560" y="3212976"/>
            <a:ext cx="4464496" cy="2664296"/>
          </a:xfrm>
          <a:prstGeom prst="rect">
            <a:avLst/>
          </a:prstGeom>
        </p:spPr>
        <p:txBody>
          <a:bodyPr vert="horz" lIns="91440" tIns="45720" rIns="91440" bIns="45720" rtlCol="0">
            <a:noAutofit/>
          </a:bodyPr>
          <a:lstStyle/>
          <a:p>
            <a:pPr marL="285750" indent="-285750">
              <a:spcBef>
                <a:spcPct val="20000"/>
              </a:spcBef>
            </a:pPr>
            <a:r>
              <a:rPr kumimoji="0" lang="en-US" altLang="zh-TW" sz="2400" b="0" i="0" u="none" strike="noStrike" kern="1200" cap="none" spc="0" normalizeH="0" baseline="0" noProof="0" dirty="0" smtClean="0">
                <a:ln>
                  <a:noFill/>
                </a:ln>
                <a:solidFill>
                  <a:srgbClr val="0066FF"/>
                </a:solidFill>
                <a:effectLst/>
                <a:uLnTx/>
                <a:uFillTx/>
                <a:latin typeface="+mn-lt"/>
                <a:ea typeface="+mn-ea"/>
                <a:cs typeface="+mn-cs"/>
              </a:rPr>
              <a:t>Example:</a:t>
            </a:r>
          </a:p>
          <a:p>
            <a:pPr marL="285750" indent="-285750">
              <a:spcBef>
                <a:spcPct val="20000"/>
              </a:spcBef>
              <a:buFont typeface="Wingdings" pitchFamily="2" charset="2"/>
              <a:buChar char="l"/>
            </a:pPr>
            <a:r>
              <a:rPr kumimoji="0" lang="en-US" altLang="zh-TW" sz="2400" b="0" i="0" u="none" strike="noStrike" kern="1200" cap="none" spc="0" normalizeH="0" baseline="0" noProof="0" dirty="0" smtClean="0">
                <a:ln>
                  <a:noFill/>
                </a:ln>
                <a:solidFill>
                  <a:schemeClr val="tx1"/>
                </a:solidFill>
                <a:effectLst/>
                <a:uLnTx/>
                <a:uFillTx/>
                <a:latin typeface="+mn-lt"/>
                <a:ea typeface="+mn-ea"/>
                <a:cs typeface="+mn-cs"/>
              </a:rPr>
              <a:t>U = {x</a:t>
            </a:r>
            <a:r>
              <a:rPr kumimoji="0" lang="en-US" altLang="zh-TW" sz="2400" b="0" i="0" u="none" strike="noStrike" kern="1200" cap="none" spc="0" normalizeH="0" baseline="-25000" noProof="0" dirty="0" smtClean="0">
                <a:ln>
                  <a:noFill/>
                </a:ln>
                <a:solidFill>
                  <a:schemeClr val="tx1"/>
                </a:solidFill>
                <a:effectLst/>
                <a:uLnTx/>
                <a:uFillTx/>
                <a:latin typeface="+mn-lt"/>
                <a:ea typeface="+mn-ea"/>
                <a:cs typeface="+mn-cs"/>
              </a:rPr>
              <a:t>1</a:t>
            </a:r>
            <a:r>
              <a:rPr kumimoji="0" lang="en-US" altLang="zh-TW" sz="2400" b="0" i="0" u="none" strike="noStrike" kern="1200" cap="none" spc="0" normalizeH="0" baseline="0" noProof="0" dirty="0" smtClean="0">
                <a:ln>
                  <a:noFill/>
                </a:ln>
                <a:solidFill>
                  <a:schemeClr val="tx1"/>
                </a:solidFill>
                <a:effectLst/>
                <a:uLnTx/>
                <a:uFillTx/>
                <a:latin typeface="+mn-lt"/>
                <a:ea typeface="+mn-ea"/>
                <a:cs typeface="+mn-cs"/>
              </a:rPr>
              <a:t>, x</a:t>
            </a:r>
            <a:r>
              <a:rPr kumimoji="0" lang="en-US" altLang="zh-TW" sz="2400" b="0" i="0" u="none" strike="noStrike" kern="1200" cap="none" spc="0" normalizeH="0" baseline="-25000" noProof="0" dirty="0" smtClean="0">
                <a:ln>
                  <a:noFill/>
                </a:ln>
                <a:solidFill>
                  <a:schemeClr val="tx1"/>
                </a:solidFill>
                <a:effectLst/>
                <a:uLnTx/>
                <a:uFillTx/>
                <a:latin typeface="+mn-lt"/>
                <a:ea typeface="+mn-ea"/>
                <a:cs typeface="+mn-cs"/>
              </a:rPr>
              <a:t>2</a:t>
            </a:r>
            <a:r>
              <a:rPr kumimoji="0" lang="en-US" altLang="zh-TW" sz="2400" b="0" i="0" u="none" strike="noStrike" kern="1200" cap="none" spc="0" normalizeH="0" baseline="0" noProof="0" dirty="0" smtClean="0">
                <a:ln>
                  <a:noFill/>
                </a:ln>
                <a:solidFill>
                  <a:schemeClr val="tx1"/>
                </a:solidFill>
                <a:effectLst/>
                <a:uLnTx/>
                <a:uFillTx/>
                <a:latin typeface="+mn-lt"/>
                <a:ea typeface="+mn-ea"/>
                <a:cs typeface="+mn-cs"/>
              </a:rPr>
              <a:t>,…, x</a:t>
            </a:r>
            <a:r>
              <a:rPr kumimoji="0" lang="en-US" altLang="zh-TW" sz="2400" b="0" i="0" u="none" strike="noStrike" kern="1200" cap="none" spc="0" normalizeH="0" baseline="-25000" noProof="0" dirty="0" smtClean="0">
                <a:ln>
                  <a:noFill/>
                </a:ln>
                <a:solidFill>
                  <a:schemeClr val="tx1"/>
                </a:solidFill>
                <a:effectLst/>
                <a:uLnTx/>
                <a:uFillTx/>
                <a:latin typeface="+mn-lt"/>
                <a:ea typeface="+mn-ea"/>
                <a:cs typeface="+mn-cs"/>
              </a:rPr>
              <a:t>10</a:t>
            </a:r>
            <a:r>
              <a:rPr kumimoji="0" lang="en-US" altLang="zh-TW" sz="2400" b="0" i="0" u="none" strike="noStrike" kern="1200" cap="none" spc="0" normalizeH="0" baseline="0" noProof="0" dirty="0" smtClean="0">
                <a:ln>
                  <a:noFill/>
                </a:ln>
                <a:solidFill>
                  <a:schemeClr val="tx1"/>
                </a:solidFill>
                <a:effectLst/>
                <a:uLnTx/>
                <a:uFillTx/>
                <a:latin typeface="+mn-lt"/>
                <a:ea typeface="+mn-ea"/>
                <a:cs typeface="+mn-cs"/>
              </a:rPr>
              <a:t>} </a:t>
            </a:r>
          </a:p>
          <a:p>
            <a:pPr marL="285750" indent="-285750">
              <a:spcBef>
                <a:spcPct val="20000"/>
              </a:spcBef>
              <a:buFont typeface="Wingdings" pitchFamily="2" charset="2"/>
              <a:buChar char="l"/>
            </a:pPr>
            <a:r>
              <a:rPr kumimoji="0" lang="en-US" altLang="zh-TW" sz="2400" b="0" i="0" u="none" strike="noStrike" kern="1200" cap="none" spc="0" normalizeH="0" baseline="0" noProof="0" dirty="0" smtClean="0">
                <a:ln>
                  <a:noFill/>
                </a:ln>
                <a:solidFill>
                  <a:schemeClr val="tx1"/>
                </a:solidFill>
                <a:effectLst/>
                <a:uLnTx/>
                <a:uFillTx/>
                <a:latin typeface="+mn-lt"/>
                <a:ea typeface="+mn-ea"/>
                <a:cs typeface="+mn-cs"/>
              </a:rPr>
              <a:t>A ={a</a:t>
            </a:r>
            <a:r>
              <a:rPr kumimoji="0" lang="en-US" altLang="zh-TW" sz="2400" b="0" i="0" u="none" strike="noStrike" kern="1200" cap="none" spc="0" normalizeH="0" baseline="-25000" noProof="0" dirty="0" smtClean="0">
                <a:ln>
                  <a:noFill/>
                </a:ln>
                <a:solidFill>
                  <a:schemeClr val="tx1"/>
                </a:solidFill>
                <a:effectLst/>
                <a:uLnTx/>
                <a:uFillTx/>
                <a:latin typeface="+mn-lt"/>
                <a:ea typeface="+mn-ea"/>
                <a:cs typeface="+mn-cs"/>
              </a:rPr>
              <a:t>1</a:t>
            </a:r>
            <a:r>
              <a:rPr kumimoji="0" lang="en-US" altLang="zh-TW" sz="2400" b="0" i="0" u="none" strike="noStrike" kern="1200" cap="none" spc="0" normalizeH="0" baseline="0" noProof="0" dirty="0" smtClean="0">
                <a:ln>
                  <a:noFill/>
                </a:ln>
                <a:solidFill>
                  <a:schemeClr val="tx1"/>
                </a:solidFill>
                <a:effectLst/>
                <a:uLnTx/>
                <a:uFillTx/>
                <a:latin typeface="+mn-lt"/>
                <a:ea typeface="+mn-ea"/>
                <a:cs typeface="+mn-cs"/>
              </a:rPr>
              <a:t>, a</a:t>
            </a:r>
            <a:r>
              <a:rPr kumimoji="0" lang="en-US" altLang="zh-TW" sz="2400" b="0" i="0" u="none" strike="noStrike" kern="1200" cap="none" spc="0" normalizeH="0" baseline="-25000" noProof="0" dirty="0" smtClean="0">
                <a:ln>
                  <a:noFill/>
                </a:ln>
                <a:solidFill>
                  <a:schemeClr val="tx1"/>
                </a:solidFill>
                <a:effectLst/>
                <a:uLnTx/>
                <a:uFillTx/>
                <a:latin typeface="+mn-lt"/>
                <a:ea typeface="+mn-ea"/>
                <a:cs typeface="+mn-cs"/>
              </a:rPr>
              <a:t>2</a:t>
            </a:r>
            <a:r>
              <a:rPr lang="en-US" altLang="zh-TW" sz="2400" dirty="0" smtClean="0"/>
              <a:t>, a</a:t>
            </a:r>
            <a:r>
              <a:rPr lang="en-US" altLang="zh-TW" sz="2400" baseline="-25000" dirty="0" smtClean="0"/>
              <a:t>3</a:t>
            </a:r>
            <a:r>
              <a:rPr kumimoji="0" lang="en-US" altLang="zh-TW" sz="2400" b="0" i="0" u="none" strike="noStrike" kern="1200" cap="none" spc="0" normalizeH="0" baseline="0" noProof="0" dirty="0" smtClean="0">
                <a:ln>
                  <a:noFill/>
                </a:ln>
                <a:solidFill>
                  <a:schemeClr val="tx1"/>
                </a:solidFill>
                <a:effectLst/>
                <a:uLnTx/>
                <a:uFillTx/>
                <a:latin typeface="+mn-lt"/>
                <a:ea typeface="+mn-ea"/>
                <a:cs typeface="+mn-cs"/>
              </a:rPr>
              <a:t>}  </a:t>
            </a:r>
          </a:p>
          <a:p>
            <a:pPr marL="285750" indent="-285750">
              <a:spcBef>
                <a:spcPct val="20000"/>
              </a:spcBef>
              <a:buFont typeface="Wingdings" pitchFamily="2" charset="2"/>
              <a:buChar char="l"/>
            </a:pPr>
            <a:r>
              <a:rPr kumimoji="0" lang="en-US" altLang="zh-TW" sz="2400" b="0" i="0" u="none" strike="noStrike" kern="1200" cap="none" spc="0" normalizeH="0" baseline="0" noProof="0" dirty="0" smtClean="0">
                <a:ln>
                  <a:noFill/>
                </a:ln>
                <a:solidFill>
                  <a:schemeClr val="tx1"/>
                </a:solidFill>
                <a:effectLst/>
                <a:uLnTx/>
                <a:uFillTx/>
                <a:latin typeface="+mn-lt"/>
                <a:ea typeface="+mn-ea"/>
                <a:cs typeface="+mn-cs"/>
              </a:rPr>
              <a:t>V</a:t>
            </a:r>
            <a:r>
              <a:rPr lang="en-US" altLang="zh-TW" sz="2400" baseline="-25000" dirty="0" smtClean="0"/>
              <a:t>1</a:t>
            </a:r>
            <a:r>
              <a:rPr lang="en-US" altLang="zh-TW" sz="2400" dirty="0" smtClean="0"/>
              <a:t>= {1, 2, 3} </a:t>
            </a:r>
          </a:p>
          <a:p>
            <a:pPr marL="285750" indent="-285750">
              <a:spcBef>
                <a:spcPct val="20000"/>
              </a:spcBef>
              <a:buFont typeface="Wingdings" pitchFamily="2" charset="2"/>
              <a:buChar char="l"/>
            </a:pPr>
            <a:r>
              <a:rPr lang="en-US" altLang="zh-TW" sz="2400" dirty="0" smtClean="0"/>
              <a:t>V</a:t>
            </a:r>
            <a:r>
              <a:rPr lang="en-US" altLang="zh-TW" sz="2400" baseline="-25000" dirty="0" smtClean="0"/>
              <a:t>2</a:t>
            </a:r>
            <a:r>
              <a:rPr lang="en-US" altLang="zh-TW" sz="2400" dirty="0" smtClean="0"/>
              <a:t>={1, 2}</a:t>
            </a:r>
          </a:p>
          <a:p>
            <a:pPr marL="285750" indent="-285750">
              <a:spcBef>
                <a:spcPct val="20000"/>
              </a:spcBef>
              <a:buFont typeface="Wingdings" pitchFamily="2" charset="2"/>
              <a:buChar char="l"/>
            </a:pPr>
            <a:r>
              <a:rPr kumimoji="0" lang="en-US" altLang="zh-TW" sz="2400" b="0" u="none" strike="noStrike" kern="1200" cap="none" spc="0" normalizeH="0" baseline="0" noProof="0" dirty="0" smtClean="0">
                <a:ln>
                  <a:noFill/>
                </a:ln>
                <a:solidFill>
                  <a:schemeClr val="tx1"/>
                </a:solidFill>
                <a:effectLst/>
                <a:uLnTx/>
                <a:uFillTx/>
                <a:latin typeface="+mn-lt"/>
                <a:ea typeface="+mn-ea"/>
                <a:cs typeface="+mn-cs"/>
              </a:rPr>
              <a:t>V</a:t>
            </a:r>
            <a:r>
              <a:rPr kumimoji="0" lang="en-US" altLang="zh-TW" sz="2400" b="0" u="none" strike="noStrike" kern="1200" cap="none" spc="0" normalizeH="0" baseline="-25000" noProof="0" dirty="0" smtClean="0">
                <a:ln>
                  <a:noFill/>
                </a:ln>
                <a:solidFill>
                  <a:schemeClr val="tx1"/>
                </a:solidFill>
                <a:effectLst/>
                <a:uLnTx/>
                <a:uFillTx/>
                <a:latin typeface="+mn-lt"/>
                <a:ea typeface="+mn-ea"/>
                <a:cs typeface="+mn-cs"/>
              </a:rPr>
              <a:t>3</a:t>
            </a:r>
            <a:r>
              <a:rPr kumimoji="0" lang="en-US" altLang="zh-TW" sz="2400" b="0" u="none" strike="noStrike" kern="1200" cap="none" spc="0" normalizeH="0" baseline="0" noProof="0" dirty="0" smtClean="0">
                <a:ln>
                  <a:noFill/>
                </a:ln>
                <a:solidFill>
                  <a:schemeClr val="tx1"/>
                </a:solidFill>
                <a:effectLst/>
                <a:uLnTx/>
                <a:uFillTx/>
                <a:latin typeface="+mn-lt"/>
                <a:ea typeface="+mn-ea"/>
                <a:cs typeface="+mn-cs"/>
              </a:rPr>
              <a:t>={1, 2, 3, 4}</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zh-TW" alt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投影片編號版面配置區 5"/>
          <p:cNvSpPr>
            <a:spLocks noGrp="1"/>
          </p:cNvSpPr>
          <p:nvPr>
            <p:ph type="sldNum" sz="quarter" idx="12"/>
          </p:nvPr>
        </p:nvSpPr>
        <p:spPr/>
        <p:txBody>
          <a:bodyPr/>
          <a:lstStyle/>
          <a:p>
            <a:fld id="{0914735A-2DD1-49E1-A8E8-1A4F28A0E6C3}" type="slidenum">
              <a:rPr lang="zh-TW" altLang="en-US" smtClean="0"/>
              <a:pPr/>
              <a:t>10</a:t>
            </a:fld>
            <a:endParaRPr lang="zh-TW"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116632"/>
            <a:ext cx="8229600" cy="1143000"/>
          </a:xfrm>
        </p:spPr>
        <p:txBody>
          <a:bodyPr>
            <a:normAutofit/>
          </a:bodyPr>
          <a:lstStyle/>
          <a:p>
            <a:r>
              <a:rPr lang="en-US" altLang="zh-TW" dirty="0" err="1" smtClean="0"/>
              <a:t>Indiscernibility</a:t>
            </a:r>
            <a:r>
              <a:rPr lang="en-US" altLang="zh-TW" dirty="0" smtClean="0"/>
              <a:t> relation</a:t>
            </a:r>
            <a:endParaRPr lang="zh-TW" altLang="en-US" dirty="0"/>
          </a:p>
        </p:txBody>
      </p:sp>
      <p:graphicFrame>
        <p:nvGraphicFramePr>
          <p:cNvPr id="4" name="表格 3"/>
          <p:cNvGraphicFramePr>
            <a:graphicFrameLocks noGrp="1"/>
          </p:cNvGraphicFramePr>
          <p:nvPr/>
        </p:nvGraphicFramePr>
        <p:xfrm>
          <a:off x="467544" y="1515080"/>
          <a:ext cx="3312368" cy="4074160"/>
        </p:xfrm>
        <a:graphic>
          <a:graphicData uri="http://schemas.openxmlformats.org/drawingml/2006/table">
            <a:tbl>
              <a:tblPr firstRow="1" bandRow="1">
                <a:tableStyleId>{7DF18680-E054-41AD-8BC1-D1AEF772440D}</a:tableStyleId>
              </a:tblPr>
              <a:tblGrid>
                <a:gridCol w="828092"/>
                <a:gridCol w="828092"/>
                <a:gridCol w="828092"/>
                <a:gridCol w="828092"/>
              </a:tblGrid>
              <a:tr h="226824">
                <a:tc>
                  <a:txBody>
                    <a:bodyPr/>
                    <a:lstStyle/>
                    <a:p>
                      <a:pPr algn="ctr"/>
                      <a:r>
                        <a:rPr lang="en-US" altLang="zh-TW" sz="1800" dirty="0" smtClean="0"/>
                        <a:t>U</a:t>
                      </a:r>
                      <a:endParaRPr lang="zh-TW" altLang="en-US" sz="1800" dirty="0"/>
                    </a:p>
                  </a:txBody>
                  <a:tcPr anchor="ctr"/>
                </a:tc>
                <a:tc>
                  <a:txBody>
                    <a:bodyPr/>
                    <a:lstStyle/>
                    <a:p>
                      <a:pPr algn="ctr"/>
                      <a:r>
                        <a:rPr lang="en-US" altLang="zh-TW" sz="1800" dirty="0" smtClean="0"/>
                        <a:t>a</a:t>
                      </a:r>
                      <a:r>
                        <a:rPr lang="en-US" altLang="zh-TW" sz="1800" baseline="-25000" dirty="0" smtClean="0"/>
                        <a:t>1</a:t>
                      </a:r>
                      <a:endParaRPr lang="zh-TW" altLang="en-US" sz="1800" baseline="-25000" dirty="0"/>
                    </a:p>
                  </a:txBody>
                  <a:tcPr anchor="ctr"/>
                </a:tc>
                <a:tc>
                  <a:txBody>
                    <a:bodyPr/>
                    <a:lstStyle/>
                    <a:p>
                      <a:pPr algn="ctr"/>
                      <a:r>
                        <a:rPr lang="en-US" altLang="zh-TW" sz="1800" dirty="0" smtClean="0"/>
                        <a:t>a</a:t>
                      </a:r>
                      <a:r>
                        <a:rPr lang="en-US" altLang="zh-TW" sz="1800" baseline="-25000" dirty="0" smtClean="0"/>
                        <a:t>2</a:t>
                      </a:r>
                      <a:endParaRPr lang="zh-TW" altLang="en-US" sz="1800" baseline="-25000" dirty="0"/>
                    </a:p>
                  </a:txBody>
                  <a:tcPr anchor="ctr"/>
                </a:tc>
                <a:tc>
                  <a:txBody>
                    <a:bodyPr/>
                    <a:lstStyle/>
                    <a:p>
                      <a:pPr algn="ctr"/>
                      <a:r>
                        <a:rPr lang="en-US" altLang="zh-TW" sz="1800" dirty="0" smtClean="0"/>
                        <a:t>a</a:t>
                      </a:r>
                      <a:r>
                        <a:rPr lang="en-US" altLang="zh-TW" sz="1800" baseline="-25000" dirty="0" smtClean="0"/>
                        <a:t>3</a:t>
                      </a:r>
                      <a:endParaRPr lang="zh-TW" altLang="en-US" sz="1800" baseline="-25000" dirty="0"/>
                    </a:p>
                  </a:txBody>
                  <a:tcPr anchor="ctr"/>
                </a:tc>
              </a:tr>
              <a:tr h="370840">
                <a:tc>
                  <a:txBody>
                    <a:bodyPr/>
                    <a:lstStyle/>
                    <a:p>
                      <a:pPr algn="ctr"/>
                      <a:r>
                        <a:rPr lang="en-US" altLang="zh-TW" sz="1800" dirty="0" smtClean="0"/>
                        <a:t>x</a:t>
                      </a:r>
                      <a:r>
                        <a:rPr lang="en-US" altLang="zh-TW" sz="1800" baseline="-25000" dirty="0" smtClean="0"/>
                        <a:t>1</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r>
              <a:tr h="370840">
                <a:tc>
                  <a:txBody>
                    <a:bodyPr/>
                    <a:lstStyle/>
                    <a:p>
                      <a:pPr algn="ctr"/>
                      <a:r>
                        <a:rPr lang="en-US" altLang="zh-TW" sz="1800" dirty="0" smtClean="0"/>
                        <a:t>x</a:t>
                      </a:r>
                      <a:r>
                        <a:rPr lang="en-US" altLang="zh-TW" sz="1800" baseline="-25000" dirty="0" smtClean="0"/>
                        <a:t>2</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r>
              <a:tr h="370840">
                <a:tc>
                  <a:txBody>
                    <a:bodyPr/>
                    <a:lstStyle/>
                    <a:p>
                      <a:pPr algn="ctr"/>
                      <a:r>
                        <a:rPr lang="en-US" altLang="zh-TW" sz="1800" dirty="0" smtClean="0"/>
                        <a:t>x</a:t>
                      </a:r>
                      <a:r>
                        <a:rPr lang="en-US" altLang="zh-TW" sz="1800" baseline="-25000" dirty="0" smtClean="0"/>
                        <a:t>3</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r>
              <a:tr h="370840">
                <a:tc>
                  <a:txBody>
                    <a:bodyPr/>
                    <a:lstStyle/>
                    <a:p>
                      <a:pPr algn="ctr"/>
                      <a:r>
                        <a:rPr lang="en-US" altLang="zh-TW" sz="1800" dirty="0" smtClean="0"/>
                        <a:t>x</a:t>
                      </a:r>
                      <a:r>
                        <a:rPr lang="en-US" altLang="zh-TW" sz="1800" baseline="-25000" dirty="0" smtClean="0"/>
                        <a:t>4</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3</a:t>
                      </a:r>
                      <a:endParaRPr lang="zh-TW" altLang="en-US" sz="1800" dirty="0"/>
                    </a:p>
                  </a:txBody>
                  <a:tcPr anchor="ctr"/>
                </a:tc>
              </a:tr>
              <a:tr h="370840">
                <a:tc>
                  <a:txBody>
                    <a:bodyPr/>
                    <a:lstStyle/>
                    <a:p>
                      <a:pPr algn="ctr"/>
                      <a:r>
                        <a:rPr lang="en-US" altLang="zh-TW" sz="1800" dirty="0" smtClean="0"/>
                        <a:t>x</a:t>
                      </a:r>
                      <a:r>
                        <a:rPr lang="en-US" altLang="zh-TW" sz="1800" baseline="-25000" dirty="0" smtClean="0"/>
                        <a:t>5</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4</a:t>
                      </a:r>
                      <a:endParaRPr lang="zh-TW" altLang="en-US" sz="1800" dirty="0"/>
                    </a:p>
                  </a:txBody>
                  <a:tcPr anchor="ctr"/>
                </a:tc>
              </a:tr>
              <a:tr h="370840">
                <a:tc>
                  <a:txBody>
                    <a:bodyPr/>
                    <a:lstStyle/>
                    <a:p>
                      <a:pPr algn="ctr"/>
                      <a:r>
                        <a:rPr lang="en-US" altLang="zh-TW" sz="1800" dirty="0" smtClean="0"/>
                        <a:t>x</a:t>
                      </a:r>
                      <a:r>
                        <a:rPr lang="en-US" altLang="zh-TW" sz="1800" baseline="-25000" dirty="0" smtClean="0"/>
                        <a:t>6</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2</a:t>
                      </a:r>
                      <a:endParaRPr lang="zh-TW" altLang="en-US" sz="1800" dirty="0"/>
                    </a:p>
                  </a:txBody>
                  <a:tcPr anchor="ctr"/>
                </a:tc>
              </a:tr>
              <a:tr h="370840">
                <a:tc>
                  <a:txBody>
                    <a:bodyPr/>
                    <a:lstStyle/>
                    <a:p>
                      <a:pPr algn="ctr"/>
                      <a:r>
                        <a:rPr lang="en-US" altLang="zh-TW" sz="1800" dirty="0" smtClean="0"/>
                        <a:t>x</a:t>
                      </a:r>
                      <a:r>
                        <a:rPr lang="en-US" altLang="zh-TW" sz="1800" baseline="-25000" dirty="0" smtClean="0"/>
                        <a:t>7</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r>
              <a:tr h="370840">
                <a:tc>
                  <a:txBody>
                    <a:bodyPr/>
                    <a:lstStyle/>
                    <a:p>
                      <a:pPr algn="ctr"/>
                      <a:r>
                        <a:rPr lang="en-US" altLang="zh-TW" sz="1800" dirty="0" smtClean="0"/>
                        <a:t>x</a:t>
                      </a:r>
                      <a:r>
                        <a:rPr lang="en-US" altLang="zh-TW" sz="1800" baseline="-25000" dirty="0" smtClean="0"/>
                        <a:t>8</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4</a:t>
                      </a:r>
                      <a:endParaRPr lang="zh-TW" altLang="en-US" sz="1800" dirty="0"/>
                    </a:p>
                  </a:txBody>
                  <a:tcPr anchor="ctr"/>
                </a:tc>
              </a:tr>
              <a:tr h="370840">
                <a:tc>
                  <a:txBody>
                    <a:bodyPr/>
                    <a:lstStyle/>
                    <a:p>
                      <a:pPr algn="ctr"/>
                      <a:r>
                        <a:rPr lang="en-US" altLang="zh-TW" sz="1800" dirty="0" smtClean="0"/>
                        <a:t>x</a:t>
                      </a:r>
                      <a:r>
                        <a:rPr lang="en-US" altLang="zh-TW" sz="1800" baseline="-25000" dirty="0" smtClean="0"/>
                        <a:t>9</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r>
              <a:tr h="370840">
                <a:tc>
                  <a:txBody>
                    <a:bodyPr/>
                    <a:lstStyle/>
                    <a:p>
                      <a:pPr algn="ctr"/>
                      <a:r>
                        <a:rPr lang="en-US" altLang="zh-TW" sz="1800" dirty="0" smtClean="0"/>
                        <a:t>x</a:t>
                      </a:r>
                      <a:r>
                        <a:rPr lang="en-US" altLang="zh-TW" sz="1800" baseline="-25000" dirty="0" smtClean="0"/>
                        <a:t>10</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r>
            </a:tbl>
          </a:graphicData>
        </a:graphic>
      </p:graphicFrame>
      <p:graphicFrame>
        <p:nvGraphicFramePr>
          <p:cNvPr id="5" name="內容版面配置區 4"/>
          <p:cNvGraphicFramePr>
            <a:graphicFrameLocks noChangeAspect="1"/>
          </p:cNvGraphicFramePr>
          <p:nvPr>
            <p:ph idx="1"/>
          </p:nvPr>
        </p:nvGraphicFramePr>
        <p:xfrm>
          <a:off x="1981324" y="2762508"/>
          <a:ext cx="1427163" cy="2695575"/>
        </p:xfrm>
        <a:graphic>
          <a:graphicData uri="http://schemas.openxmlformats.org/presentationml/2006/ole">
            <p:oleObj spid="_x0000_s119810" name="方程式" r:id="rId3" imgW="114120" imgH="215640" progId="Equation.3">
              <p:embed/>
            </p:oleObj>
          </a:graphicData>
        </a:graphic>
      </p:graphicFrame>
      <p:sp>
        <p:nvSpPr>
          <p:cNvPr id="8" name="文字方塊 7"/>
          <p:cNvSpPr txBox="1"/>
          <p:nvPr/>
        </p:nvSpPr>
        <p:spPr>
          <a:xfrm>
            <a:off x="4427984" y="1124744"/>
            <a:ext cx="3528392" cy="461665"/>
          </a:xfrm>
          <a:prstGeom prst="rect">
            <a:avLst/>
          </a:prstGeom>
          <a:noFill/>
        </p:spPr>
        <p:txBody>
          <a:bodyPr wrap="square" rtlCol="0">
            <a:spAutoFit/>
          </a:bodyPr>
          <a:lstStyle/>
          <a:p>
            <a:r>
              <a:rPr lang="en-US" altLang="zh-TW" sz="2400" dirty="0" smtClean="0">
                <a:solidFill>
                  <a:srgbClr val="0066FF"/>
                </a:solidFill>
              </a:rPr>
              <a:t>B</a:t>
            </a:r>
            <a:r>
              <a:rPr lang="en-US" altLang="zh-TW" sz="2400" baseline="-25000" dirty="0" smtClean="0">
                <a:solidFill>
                  <a:srgbClr val="0066FF"/>
                </a:solidFill>
              </a:rPr>
              <a:t>1</a:t>
            </a:r>
            <a:r>
              <a:rPr lang="en-US" altLang="zh-TW" sz="2400" dirty="0" smtClean="0">
                <a:solidFill>
                  <a:srgbClr val="0066FF"/>
                </a:solidFill>
              </a:rPr>
              <a:t> = {a</a:t>
            </a:r>
            <a:r>
              <a:rPr lang="en-US" altLang="zh-TW" sz="2400" baseline="-25000" dirty="0" smtClean="0">
                <a:solidFill>
                  <a:srgbClr val="0066FF"/>
                </a:solidFill>
              </a:rPr>
              <a:t>1</a:t>
            </a:r>
            <a:r>
              <a:rPr lang="en-US" altLang="zh-TW" sz="2400" dirty="0" smtClean="0">
                <a:solidFill>
                  <a:srgbClr val="0066FF"/>
                </a:solidFill>
              </a:rPr>
              <a:t>, a</a:t>
            </a:r>
            <a:r>
              <a:rPr lang="en-US" altLang="zh-TW" sz="2400" baseline="-25000" dirty="0" smtClean="0">
                <a:solidFill>
                  <a:srgbClr val="0066FF"/>
                </a:solidFill>
              </a:rPr>
              <a:t>2</a:t>
            </a:r>
            <a:r>
              <a:rPr lang="en-US" altLang="zh-TW" sz="2400" dirty="0" smtClean="0">
                <a:solidFill>
                  <a:srgbClr val="0066FF"/>
                </a:solidFill>
              </a:rPr>
              <a:t>, a</a:t>
            </a:r>
            <a:r>
              <a:rPr lang="en-US" altLang="zh-TW" sz="2400" baseline="-25000" dirty="0" smtClean="0">
                <a:solidFill>
                  <a:srgbClr val="0066FF"/>
                </a:solidFill>
              </a:rPr>
              <a:t>3</a:t>
            </a:r>
            <a:r>
              <a:rPr lang="en-US" altLang="zh-TW" sz="2400" dirty="0" smtClean="0">
                <a:solidFill>
                  <a:srgbClr val="0066FF"/>
                </a:solidFill>
              </a:rPr>
              <a:t>}</a:t>
            </a:r>
            <a:endParaRPr lang="zh-TW" altLang="en-US" sz="2400" dirty="0">
              <a:solidFill>
                <a:srgbClr val="0066FF"/>
              </a:solidFill>
            </a:endParaRPr>
          </a:p>
        </p:txBody>
      </p:sp>
      <p:graphicFrame>
        <p:nvGraphicFramePr>
          <p:cNvPr id="9" name="表格 8"/>
          <p:cNvGraphicFramePr>
            <a:graphicFrameLocks noGrp="1"/>
          </p:cNvGraphicFramePr>
          <p:nvPr/>
        </p:nvGraphicFramePr>
        <p:xfrm>
          <a:off x="4211960" y="1556792"/>
          <a:ext cx="3816424" cy="2225040"/>
        </p:xfrm>
        <a:graphic>
          <a:graphicData uri="http://schemas.openxmlformats.org/drawingml/2006/table">
            <a:tbl>
              <a:tblPr firstRow="1" bandRow="1">
                <a:tableStyleId>{F5AB1C69-6EDB-4FF4-983F-18BD219EF322}</a:tableStyleId>
              </a:tblPr>
              <a:tblGrid>
                <a:gridCol w="1440160"/>
                <a:gridCol w="792088"/>
                <a:gridCol w="792088"/>
                <a:gridCol w="792088"/>
              </a:tblGrid>
              <a:tr h="370840">
                <a:tc>
                  <a:txBody>
                    <a:bodyPr/>
                    <a:lstStyle/>
                    <a:p>
                      <a:pPr algn="ctr"/>
                      <a:r>
                        <a:rPr lang="en-US" altLang="zh-TW" dirty="0" smtClean="0"/>
                        <a:t>U/B</a:t>
                      </a:r>
                      <a:r>
                        <a:rPr lang="en-US" altLang="zh-TW" baseline="-25000" dirty="0" smtClean="0"/>
                        <a:t>1</a:t>
                      </a:r>
                      <a:endParaRPr lang="zh-TW" altLang="en-US" baseline="-25000" dirty="0"/>
                    </a:p>
                  </a:txBody>
                  <a:tcPr/>
                </a:tc>
                <a:tc>
                  <a:txBody>
                    <a:bodyPr/>
                    <a:lstStyle/>
                    <a:p>
                      <a:pPr algn="ctr"/>
                      <a:r>
                        <a:rPr lang="en-US" altLang="zh-TW" dirty="0" smtClean="0"/>
                        <a:t>a</a:t>
                      </a:r>
                      <a:r>
                        <a:rPr lang="en-US" altLang="zh-TW" baseline="-25000" dirty="0" smtClean="0"/>
                        <a:t>1</a:t>
                      </a:r>
                      <a:endParaRPr lang="zh-TW" altLang="en-US" baseline="-25000" dirty="0"/>
                    </a:p>
                  </a:txBody>
                  <a:tcPr/>
                </a:tc>
                <a:tc>
                  <a:txBody>
                    <a:bodyPr/>
                    <a:lstStyle/>
                    <a:p>
                      <a:pPr algn="ctr"/>
                      <a:r>
                        <a:rPr lang="en-US" altLang="zh-TW" dirty="0" smtClean="0"/>
                        <a:t>a</a:t>
                      </a:r>
                      <a:r>
                        <a:rPr lang="en-US" altLang="zh-TW" baseline="-25000" dirty="0" smtClean="0"/>
                        <a:t>2</a:t>
                      </a:r>
                      <a:endParaRPr lang="zh-TW" altLang="en-US" baseline="-25000" dirty="0"/>
                    </a:p>
                  </a:txBody>
                  <a:tcPr/>
                </a:tc>
                <a:tc>
                  <a:txBody>
                    <a:bodyPr/>
                    <a:lstStyle/>
                    <a:p>
                      <a:pPr algn="ctr"/>
                      <a:r>
                        <a:rPr lang="en-US" altLang="zh-TW" dirty="0" smtClean="0"/>
                        <a:t>a</a:t>
                      </a:r>
                      <a:r>
                        <a:rPr lang="en-US" altLang="zh-TW" baseline="-25000" dirty="0" smtClean="0"/>
                        <a:t>3</a:t>
                      </a:r>
                      <a:endParaRPr lang="zh-TW" altLang="en-US" baseline="-25000" dirty="0"/>
                    </a:p>
                  </a:txBody>
                  <a:tcPr/>
                </a:tc>
              </a:tr>
              <a:tr h="370840">
                <a:tc>
                  <a:txBody>
                    <a:bodyPr/>
                    <a:lstStyle/>
                    <a:p>
                      <a:r>
                        <a:rPr lang="en-US" altLang="zh-TW" dirty="0" smtClean="0"/>
                        <a:t>{x</a:t>
                      </a:r>
                      <a:r>
                        <a:rPr lang="en-US" altLang="zh-TW" baseline="-25000" dirty="0" smtClean="0"/>
                        <a:t>1</a:t>
                      </a:r>
                      <a:r>
                        <a:rPr lang="en-US" altLang="zh-TW" dirty="0" smtClean="0"/>
                        <a:t>,x</a:t>
                      </a:r>
                      <a:r>
                        <a:rPr lang="en-US" altLang="zh-TW" baseline="-25000" dirty="0" smtClean="0"/>
                        <a:t>3</a:t>
                      </a:r>
                      <a:r>
                        <a:rPr lang="en-US" altLang="zh-TW" dirty="0" smtClean="0"/>
                        <a:t>,</a:t>
                      </a:r>
                      <a:r>
                        <a:rPr lang="en-US" altLang="zh-TW" baseline="0" dirty="0" smtClean="0"/>
                        <a:t>x</a:t>
                      </a:r>
                      <a:r>
                        <a:rPr lang="en-US" altLang="zh-TW" baseline="-25000" dirty="0" smtClean="0"/>
                        <a:t>9</a:t>
                      </a:r>
                      <a:r>
                        <a:rPr lang="en-US" altLang="zh-TW" baseline="0" dirty="0" smtClean="0"/>
                        <a:t>}</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3</a:t>
                      </a:r>
                      <a:endParaRPr lang="zh-TW" altLang="en-US" dirty="0"/>
                    </a:p>
                  </a:txBody>
                  <a:tcPr/>
                </a:tc>
              </a:tr>
              <a:tr h="370840">
                <a:tc>
                  <a:txBody>
                    <a:bodyPr/>
                    <a:lstStyle/>
                    <a:p>
                      <a:r>
                        <a:rPr lang="en-US" altLang="zh-TW" dirty="0" smtClean="0"/>
                        <a:t>{x</a:t>
                      </a:r>
                      <a:r>
                        <a:rPr lang="en-US" altLang="zh-TW" baseline="-25000" dirty="0" smtClean="0"/>
                        <a:t>2</a:t>
                      </a:r>
                      <a:r>
                        <a:rPr lang="en-US" altLang="zh-TW" dirty="0" smtClean="0"/>
                        <a:t>,x</a:t>
                      </a:r>
                      <a:r>
                        <a:rPr lang="en-US" altLang="zh-TW" baseline="-25000" dirty="0" smtClean="0"/>
                        <a:t>7</a:t>
                      </a:r>
                      <a:r>
                        <a:rPr lang="en-US" altLang="zh-TW" dirty="0" smtClean="0"/>
                        <a:t>,x</a:t>
                      </a:r>
                      <a:r>
                        <a:rPr lang="en-US" altLang="zh-TW" baseline="-25000" dirty="0" smtClean="0"/>
                        <a:t>10</a:t>
                      </a:r>
                      <a:r>
                        <a:rPr lang="en-US" altLang="zh-TW" dirty="0" smtClean="0"/>
                        <a:t>}</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1</a:t>
                      </a:r>
                      <a:endParaRPr lang="zh-TW" altLang="en-US" dirty="0"/>
                    </a:p>
                  </a:txBody>
                  <a:tcPr/>
                </a:tc>
              </a:tr>
              <a:tr h="370840">
                <a:tc>
                  <a:txBody>
                    <a:bodyPr/>
                    <a:lstStyle/>
                    <a:p>
                      <a:r>
                        <a:rPr lang="en-US" altLang="zh-TW" dirty="0" smtClean="0"/>
                        <a:t>{x</a:t>
                      </a:r>
                      <a:r>
                        <a:rPr lang="en-US" altLang="zh-TW" baseline="-25000" dirty="0" smtClean="0"/>
                        <a:t>4</a:t>
                      </a:r>
                      <a:r>
                        <a:rPr lang="en-US" altLang="zh-TW" dirty="0" smtClean="0"/>
                        <a:t>}</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r>
              <a:tr h="370840">
                <a:tc>
                  <a:txBody>
                    <a:bodyPr/>
                    <a:lstStyle/>
                    <a:p>
                      <a:r>
                        <a:rPr lang="en-US" altLang="zh-TW" dirty="0" smtClean="0"/>
                        <a:t>{x</a:t>
                      </a:r>
                      <a:r>
                        <a:rPr lang="en-US" altLang="zh-TW" baseline="-25000" dirty="0" smtClean="0"/>
                        <a:t>5</a:t>
                      </a:r>
                      <a:r>
                        <a:rPr lang="en-US" altLang="zh-TW" dirty="0" smtClean="0"/>
                        <a:t>,</a:t>
                      </a:r>
                      <a:r>
                        <a:rPr lang="en-US" altLang="zh-TW" baseline="0" dirty="0" smtClean="0"/>
                        <a:t> x</a:t>
                      </a:r>
                      <a:r>
                        <a:rPr lang="en-US" altLang="zh-TW" baseline="-25000" dirty="0" smtClean="0"/>
                        <a:t>8</a:t>
                      </a:r>
                      <a:r>
                        <a:rPr lang="en-US" altLang="zh-TW" baseline="0"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4</a:t>
                      </a:r>
                      <a:endParaRPr lang="zh-TW" altLang="en-US" dirty="0"/>
                    </a:p>
                  </a:txBody>
                  <a:tcPr/>
                </a:tc>
              </a:tr>
              <a:tr h="370840">
                <a:tc>
                  <a:txBody>
                    <a:bodyPr/>
                    <a:lstStyle/>
                    <a:p>
                      <a:r>
                        <a:rPr lang="en-US" altLang="zh-TW" dirty="0" smtClean="0"/>
                        <a:t>{x</a:t>
                      </a:r>
                      <a:r>
                        <a:rPr lang="en-US" altLang="zh-TW" baseline="-25000" dirty="0" smtClean="0"/>
                        <a:t>6</a:t>
                      </a: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r>
            </a:tbl>
          </a:graphicData>
        </a:graphic>
      </p:graphicFrame>
      <p:sp>
        <p:nvSpPr>
          <p:cNvPr id="10" name="文字方塊 9"/>
          <p:cNvSpPr txBox="1"/>
          <p:nvPr/>
        </p:nvSpPr>
        <p:spPr>
          <a:xfrm>
            <a:off x="4499992" y="3861048"/>
            <a:ext cx="3528392" cy="461665"/>
          </a:xfrm>
          <a:prstGeom prst="rect">
            <a:avLst/>
          </a:prstGeom>
          <a:noFill/>
        </p:spPr>
        <p:txBody>
          <a:bodyPr wrap="square" rtlCol="0">
            <a:spAutoFit/>
          </a:bodyPr>
          <a:lstStyle/>
          <a:p>
            <a:r>
              <a:rPr lang="en-US" altLang="zh-TW" sz="2400" dirty="0" smtClean="0">
                <a:solidFill>
                  <a:srgbClr val="0066FF"/>
                </a:solidFill>
              </a:rPr>
              <a:t>B</a:t>
            </a:r>
            <a:r>
              <a:rPr lang="en-US" altLang="zh-TW" sz="2400" baseline="-25000" dirty="0" smtClean="0">
                <a:solidFill>
                  <a:srgbClr val="0066FF"/>
                </a:solidFill>
              </a:rPr>
              <a:t>2</a:t>
            </a:r>
            <a:r>
              <a:rPr lang="en-US" altLang="zh-TW" sz="2400" dirty="0" smtClean="0">
                <a:solidFill>
                  <a:srgbClr val="0066FF"/>
                </a:solidFill>
              </a:rPr>
              <a:t> = {a</a:t>
            </a:r>
            <a:r>
              <a:rPr lang="en-US" altLang="zh-TW" sz="2400" baseline="-25000" dirty="0" smtClean="0">
                <a:solidFill>
                  <a:srgbClr val="0066FF"/>
                </a:solidFill>
              </a:rPr>
              <a:t>1</a:t>
            </a:r>
            <a:r>
              <a:rPr lang="en-US" altLang="zh-TW" sz="2400" dirty="0" smtClean="0">
                <a:solidFill>
                  <a:srgbClr val="0066FF"/>
                </a:solidFill>
              </a:rPr>
              <a:t>, a</a:t>
            </a:r>
            <a:r>
              <a:rPr lang="en-US" altLang="zh-TW" sz="2400" baseline="-25000" dirty="0" smtClean="0">
                <a:solidFill>
                  <a:srgbClr val="0066FF"/>
                </a:solidFill>
              </a:rPr>
              <a:t>2</a:t>
            </a:r>
            <a:r>
              <a:rPr lang="en-US" altLang="zh-TW" sz="2400" dirty="0" smtClean="0">
                <a:solidFill>
                  <a:srgbClr val="0066FF"/>
                </a:solidFill>
              </a:rPr>
              <a:t>}</a:t>
            </a:r>
            <a:endParaRPr lang="zh-TW" altLang="en-US" sz="2400" dirty="0">
              <a:solidFill>
                <a:srgbClr val="0066FF"/>
              </a:solidFill>
            </a:endParaRPr>
          </a:p>
        </p:txBody>
      </p:sp>
      <p:graphicFrame>
        <p:nvGraphicFramePr>
          <p:cNvPr id="11" name="表格 10"/>
          <p:cNvGraphicFramePr>
            <a:graphicFrameLocks noGrp="1"/>
          </p:cNvGraphicFramePr>
          <p:nvPr/>
        </p:nvGraphicFramePr>
        <p:xfrm>
          <a:off x="4283968" y="4365104"/>
          <a:ext cx="3024336" cy="1854200"/>
        </p:xfrm>
        <a:graphic>
          <a:graphicData uri="http://schemas.openxmlformats.org/drawingml/2006/table">
            <a:tbl>
              <a:tblPr firstRow="1" bandRow="1">
                <a:tableStyleId>{00A15C55-8517-42AA-B614-E9B94910E393}</a:tableStyleId>
              </a:tblPr>
              <a:tblGrid>
                <a:gridCol w="1440160"/>
                <a:gridCol w="792088"/>
                <a:gridCol w="792088"/>
              </a:tblGrid>
              <a:tr h="370840">
                <a:tc>
                  <a:txBody>
                    <a:bodyPr/>
                    <a:lstStyle/>
                    <a:p>
                      <a:pPr algn="ctr"/>
                      <a:r>
                        <a:rPr lang="en-US" altLang="zh-TW" dirty="0" smtClean="0"/>
                        <a:t>U/B</a:t>
                      </a:r>
                      <a:r>
                        <a:rPr lang="en-US" altLang="zh-TW" baseline="-25000" dirty="0" smtClean="0"/>
                        <a:t>2</a:t>
                      </a:r>
                      <a:endParaRPr lang="zh-TW" altLang="en-US" baseline="-25000" dirty="0"/>
                    </a:p>
                  </a:txBody>
                  <a:tcPr/>
                </a:tc>
                <a:tc>
                  <a:txBody>
                    <a:bodyPr/>
                    <a:lstStyle/>
                    <a:p>
                      <a:pPr algn="ctr"/>
                      <a:r>
                        <a:rPr lang="en-US" altLang="zh-TW" dirty="0" smtClean="0"/>
                        <a:t>a</a:t>
                      </a:r>
                      <a:r>
                        <a:rPr lang="en-US" altLang="zh-TW" baseline="-25000" dirty="0" smtClean="0"/>
                        <a:t>1</a:t>
                      </a:r>
                      <a:endParaRPr lang="zh-TW" altLang="en-US" baseline="-25000" dirty="0"/>
                    </a:p>
                  </a:txBody>
                  <a:tcPr/>
                </a:tc>
                <a:tc>
                  <a:txBody>
                    <a:bodyPr/>
                    <a:lstStyle/>
                    <a:p>
                      <a:pPr algn="ctr"/>
                      <a:r>
                        <a:rPr lang="en-US" altLang="zh-TW" dirty="0" smtClean="0"/>
                        <a:t>a</a:t>
                      </a:r>
                      <a:r>
                        <a:rPr lang="en-US" altLang="zh-TW" baseline="-25000" dirty="0" smtClean="0"/>
                        <a:t>2</a:t>
                      </a:r>
                      <a:endParaRPr lang="zh-TW" altLang="en-US" baseline="-25000" dirty="0"/>
                    </a:p>
                  </a:txBody>
                  <a:tcPr/>
                </a:tc>
              </a:tr>
              <a:tr h="370840">
                <a:tc>
                  <a:txBody>
                    <a:bodyPr/>
                    <a:lstStyle/>
                    <a:p>
                      <a:r>
                        <a:rPr lang="en-US" altLang="zh-TW" dirty="0" smtClean="0"/>
                        <a:t>{x</a:t>
                      </a:r>
                      <a:r>
                        <a:rPr lang="en-US" altLang="zh-TW" baseline="-25000" dirty="0" smtClean="0"/>
                        <a:t>1</a:t>
                      </a:r>
                      <a:r>
                        <a:rPr lang="en-US" altLang="zh-TW" dirty="0" smtClean="0"/>
                        <a:t>,x</a:t>
                      </a:r>
                      <a:r>
                        <a:rPr lang="en-US" altLang="zh-TW" baseline="-25000" dirty="0" smtClean="0"/>
                        <a:t>3</a:t>
                      </a:r>
                      <a:r>
                        <a:rPr lang="en-US" altLang="zh-TW" dirty="0" smtClean="0"/>
                        <a:t>,</a:t>
                      </a:r>
                      <a:r>
                        <a:rPr lang="en-US" altLang="zh-TW" baseline="0" dirty="0" smtClean="0"/>
                        <a:t>x</a:t>
                      </a:r>
                      <a:r>
                        <a:rPr lang="en-US" altLang="zh-TW" baseline="-25000" dirty="0" smtClean="0"/>
                        <a:t>9</a:t>
                      </a:r>
                      <a:r>
                        <a:rPr lang="en-US" altLang="zh-TW" baseline="0"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r>
              <a:tr h="370840">
                <a:tc>
                  <a:txBody>
                    <a:bodyPr/>
                    <a:lstStyle/>
                    <a:p>
                      <a:r>
                        <a:rPr lang="en-US" altLang="zh-TW" dirty="0" smtClean="0"/>
                        <a:t>{x</a:t>
                      </a:r>
                      <a:r>
                        <a:rPr lang="en-US" altLang="zh-TW" baseline="-25000" dirty="0" smtClean="0"/>
                        <a:t>2</a:t>
                      </a:r>
                      <a:r>
                        <a:rPr lang="en-US" altLang="zh-TW" dirty="0" smtClean="0"/>
                        <a:t>,x</a:t>
                      </a:r>
                      <a:r>
                        <a:rPr lang="en-US" altLang="zh-TW" baseline="-25000" dirty="0" smtClean="0"/>
                        <a:t>7</a:t>
                      </a:r>
                      <a:r>
                        <a:rPr lang="en-US" altLang="zh-TW" dirty="0" smtClean="0"/>
                        <a:t>,x</a:t>
                      </a:r>
                      <a:r>
                        <a:rPr lang="en-US" altLang="zh-TW" baseline="-25000" dirty="0" smtClean="0"/>
                        <a:t>10</a:t>
                      </a:r>
                      <a:r>
                        <a:rPr lang="en-US" altLang="zh-TW" dirty="0" smtClean="0"/>
                        <a:t>}</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2</a:t>
                      </a:r>
                      <a:endParaRPr lang="zh-TW" altLang="en-US" dirty="0"/>
                    </a:p>
                  </a:txBody>
                  <a:tcPr/>
                </a:tc>
              </a:tr>
              <a:tr h="370840">
                <a:tc>
                  <a:txBody>
                    <a:bodyPr/>
                    <a:lstStyle/>
                    <a:p>
                      <a:r>
                        <a:rPr lang="en-US" altLang="zh-TW" dirty="0" smtClean="0"/>
                        <a:t>{x</a:t>
                      </a:r>
                      <a:r>
                        <a:rPr lang="en-US" altLang="zh-TW" baseline="-25000" dirty="0" smtClean="0"/>
                        <a:t>4</a:t>
                      </a:r>
                      <a:r>
                        <a:rPr lang="en-US" altLang="zh-TW" dirty="0" smtClean="0"/>
                        <a:t>}</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r>
              <a:tr h="370840">
                <a:tc>
                  <a:txBody>
                    <a:bodyPr/>
                    <a:lstStyle/>
                    <a:p>
                      <a:r>
                        <a:rPr lang="en-US" altLang="zh-TW" dirty="0" smtClean="0">
                          <a:solidFill>
                            <a:srgbClr val="FF0000"/>
                          </a:solidFill>
                        </a:rPr>
                        <a:t>{x</a:t>
                      </a:r>
                      <a:r>
                        <a:rPr lang="en-US" altLang="zh-TW" baseline="-25000" dirty="0" smtClean="0">
                          <a:solidFill>
                            <a:srgbClr val="FF0000"/>
                          </a:solidFill>
                        </a:rPr>
                        <a:t>5</a:t>
                      </a:r>
                      <a:r>
                        <a:rPr lang="en-US" altLang="zh-TW" dirty="0" smtClean="0">
                          <a:solidFill>
                            <a:srgbClr val="FF0000"/>
                          </a:solidFill>
                        </a:rPr>
                        <a:t>, x</a:t>
                      </a:r>
                      <a:r>
                        <a:rPr lang="en-US" altLang="zh-TW" baseline="-25000" dirty="0" smtClean="0">
                          <a:solidFill>
                            <a:srgbClr val="FF0000"/>
                          </a:solidFill>
                        </a:rPr>
                        <a:t>6</a:t>
                      </a:r>
                      <a:r>
                        <a:rPr lang="en-US" altLang="zh-TW" dirty="0" smtClean="0">
                          <a:solidFill>
                            <a:srgbClr val="FF0000"/>
                          </a:solidFill>
                        </a:rPr>
                        <a:t>,</a:t>
                      </a:r>
                      <a:r>
                        <a:rPr lang="en-US" altLang="zh-TW" baseline="0" dirty="0" smtClean="0">
                          <a:solidFill>
                            <a:srgbClr val="FF0000"/>
                          </a:solidFill>
                        </a:rPr>
                        <a:t> x</a:t>
                      </a:r>
                      <a:r>
                        <a:rPr lang="en-US" altLang="zh-TW" baseline="-25000" dirty="0" smtClean="0">
                          <a:solidFill>
                            <a:srgbClr val="FF0000"/>
                          </a:solidFill>
                        </a:rPr>
                        <a:t>8</a:t>
                      </a:r>
                      <a:r>
                        <a:rPr lang="en-US" altLang="zh-TW" baseline="0" dirty="0" smtClean="0">
                          <a:solidFill>
                            <a:srgbClr val="FF0000"/>
                          </a:solidFill>
                        </a:rPr>
                        <a:t>}</a:t>
                      </a:r>
                      <a:endParaRPr lang="zh-TW" altLang="en-US" dirty="0">
                        <a:solidFill>
                          <a:srgbClr val="FF0000"/>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c>
                  <a:txBody>
                    <a:bodyPr/>
                    <a:lstStyle/>
                    <a:p>
                      <a:pPr algn="ctr"/>
                      <a:r>
                        <a:rPr lang="en-US" altLang="zh-TW" dirty="0" smtClean="0">
                          <a:solidFill>
                            <a:srgbClr val="FF0000"/>
                          </a:solidFill>
                        </a:rPr>
                        <a:t>1</a:t>
                      </a:r>
                      <a:endParaRPr lang="zh-TW" altLang="en-US" dirty="0">
                        <a:solidFill>
                          <a:srgbClr val="FF0000"/>
                        </a:solidFill>
                      </a:endParaRPr>
                    </a:p>
                  </a:txBody>
                  <a:tcPr/>
                </a:tc>
              </a:tr>
            </a:tbl>
          </a:graphicData>
        </a:graphic>
      </p:graphicFrame>
      <p:sp>
        <p:nvSpPr>
          <p:cNvPr id="12" name="投影片編號版面配置區 11"/>
          <p:cNvSpPr>
            <a:spLocks noGrp="1"/>
          </p:cNvSpPr>
          <p:nvPr>
            <p:ph type="sldNum" sz="quarter" idx="12"/>
          </p:nvPr>
        </p:nvSpPr>
        <p:spPr/>
        <p:txBody>
          <a:bodyPr/>
          <a:lstStyle/>
          <a:p>
            <a:fld id="{0914735A-2DD1-49E1-A8E8-1A4F28A0E6C3}" type="slidenum">
              <a:rPr lang="zh-TW" altLang="en-US" smtClean="0"/>
              <a:pPr/>
              <a:t>11</a:t>
            </a:fld>
            <a:endParaRPr lang="zh-TW" altLang="en-US"/>
          </a:p>
        </p:txBody>
      </p:sp>
      <p:sp>
        <p:nvSpPr>
          <p:cNvPr id="13" name="矩形 12"/>
          <p:cNvSpPr/>
          <p:nvPr/>
        </p:nvSpPr>
        <p:spPr>
          <a:xfrm>
            <a:off x="179512" y="1124744"/>
            <a:ext cx="4082849" cy="369332"/>
          </a:xfrm>
          <a:prstGeom prst="rect">
            <a:avLst/>
          </a:prstGeom>
        </p:spPr>
        <p:txBody>
          <a:bodyPr wrap="none">
            <a:spAutoFit/>
          </a:bodyPr>
          <a:lstStyle/>
          <a:p>
            <a:r>
              <a:rPr lang="zh-TW" altLang="en-US" dirty="0" smtClean="0">
                <a:solidFill>
                  <a:srgbClr val="FF0000"/>
                </a:solidFill>
                <a:latin typeface="微軟正黑體" pitchFamily="34" charset="-120"/>
                <a:ea typeface="微軟正黑體" pitchFamily="34" charset="-120"/>
              </a:rPr>
              <a:t>不同的</a:t>
            </a:r>
            <a:r>
              <a:rPr lang="en-US" altLang="zh-TW" dirty="0" smtClean="0">
                <a:solidFill>
                  <a:srgbClr val="FF0000"/>
                </a:solidFill>
                <a:latin typeface="微軟正黑體" pitchFamily="34" charset="-120"/>
                <a:ea typeface="微軟正黑體" pitchFamily="34" charset="-120"/>
              </a:rPr>
              <a:t>instances</a:t>
            </a:r>
            <a:r>
              <a:rPr lang="zh-TW" altLang="en-US" dirty="0" smtClean="0">
                <a:solidFill>
                  <a:srgbClr val="FF0000"/>
                </a:solidFill>
                <a:latin typeface="微軟正黑體" pitchFamily="34" charset="-120"/>
                <a:ea typeface="微軟正黑體" pitchFamily="34" charset="-120"/>
              </a:rPr>
              <a:t>卻有相同的</a:t>
            </a:r>
            <a:r>
              <a:rPr lang="en-US" altLang="zh-TW" dirty="0" smtClean="0">
                <a:solidFill>
                  <a:srgbClr val="FF0000"/>
                </a:solidFill>
                <a:latin typeface="微軟正黑體" pitchFamily="34" charset="-120"/>
                <a:ea typeface="微軟正黑體" pitchFamily="34" charset="-120"/>
              </a:rPr>
              <a:t>attributes</a:t>
            </a:r>
            <a:endParaRPr lang="zh-TW" altLang="en-US" dirty="0">
              <a:solidFill>
                <a:srgbClr val="FF0000"/>
              </a:solidFill>
              <a:latin typeface="微軟正黑體" pitchFamily="34" charset="-120"/>
              <a:ea typeface="微軟正黑體" pitchFamily="34" charset="-12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Lower and upper approximation</a:t>
            </a:r>
            <a:endParaRPr lang="zh-TW" altLang="en-US" dirty="0"/>
          </a:p>
        </p:txBody>
      </p:sp>
      <p:sp>
        <p:nvSpPr>
          <p:cNvPr id="12083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6" name="內容版面配置區 5"/>
          <p:cNvGraphicFramePr>
            <a:graphicFrameLocks noChangeAspect="1"/>
          </p:cNvGraphicFramePr>
          <p:nvPr>
            <p:ph idx="1"/>
          </p:nvPr>
        </p:nvGraphicFramePr>
        <p:xfrm>
          <a:off x="251520" y="3789040"/>
          <a:ext cx="3472376" cy="1608013"/>
        </p:xfrm>
        <a:graphic>
          <a:graphicData uri="http://schemas.openxmlformats.org/presentationml/2006/ole">
            <p:oleObj spid="_x0000_s120835" name="方程式" r:id="rId3" imgW="1981080" imgH="914400" progId="Equation.3">
              <p:embed/>
            </p:oleObj>
          </a:graphicData>
        </a:graphic>
      </p:graphicFrame>
      <p:graphicFrame>
        <p:nvGraphicFramePr>
          <p:cNvPr id="8" name="表格 7"/>
          <p:cNvGraphicFramePr>
            <a:graphicFrameLocks noGrp="1"/>
          </p:cNvGraphicFramePr>
          <p:nvPr/>
        </p:nvGraphicFramePr>
        <p:xfrm>
          <a:off x="179512" y="1484784"/>
          <a:ext cx="3816424" cy="2225040"/>
        </p:xfrm>
        <a:graphic>
          <a:graphicData uri="http://schemas.openxmlformats.org/drawingml/2006/table">
            <a:tbl>
              <a:tblPr firstRow="1" bandRow="1">
                <a:tableStyleId>{F5AB1C69-6EDB-4FF4-983F-18BD219EF322}</a:tableStyleId>
              </a:tblPr>
              <a:tblGrid>
                <a:gridCol w="1440160"/>
                <a:gridCol w="792088"/>
                <a:gridCol w="792088"/>
                <a:gridCol w="792088"/>
              </a:tblGrid>
              <a:tr h="370840">
                <a:tc>
                  <a:txBody>
                    <a:bodyPr/>
                    <a:lstStyle/>
                    <a:p>
                      <a:pPr algn="ctr"/>
                      <a:r>
                        <a:rPr lang="en-US" altLang="zh-TW" i="1" dirty="0" smtClean="0"/>
                        <a:t>U/B</a:t>
                      </a:r>
                      <a:r>
                        <a:rPr lang="en-US" altLang="zh-TW" i="1" baseline="-25000" dirty="0" smtClean="0"/>
                        <a:t>1</a:t>
                      </a:r>
                      <a:endParaRPr lang="zh-TW" altLang="en-US" i="1" baseline="-25000" dirty="0"/>
                    </a:p>
                  </a:txBody>
                  <a:tcPr/>
                </a:tc>
                <a:tc>
                  <a:txBody>
                    <a:bodyPr/>
                    <a:lstStyle/>
                    <a:p>
                      <a:pPr algn="ctr"/>
                      <a:r>
                        <a:rPr lang="en-US" altLang="zh-TW" dirty="0" smtClean="0"/>
                        <a:t>a</a:t>
                      </a:r>
                      <a:r>
                        <a:rPr lang="en-US" altLang="zh-TW" baseline="-25000" dirty="0" smtClean="0"/>
                        <a:t>1</a:t>
                      </a:r>
                      <a:endParaRPr lang="zh-TW" altLang="en-US" baseline="-25000" dirty="0"/>
                    </a:p>
                  </a:txBody>
                  <a:tcPr/>
                </a:tc>
                <a:tc>
                  <a:txBody>
                    <a:bodyPr/>
                    <a:lstStyle/>
                    <a:p>
                      <a:pPr algn="ctr"/>
                      <a:r>
                        <a:rPr lang="en-US" altLang="zh-TW" dirty="0" smtClean="0"/>
                        <a:t>a</a:t>
                      </a:r>
                      <a:r>
                        <a:rPr lang="en-US" altLang="zh-TW" baseline="-25000" dirty="0" smtClean="0"/>
                        <a:t>2</a:t>
                      </a:r>
                      <a:endParaRPr lang="zh-TW" altLang="en-US" baseline="-25000" dirty="0"/>
                    </a:p>
                  </a:txBody>
                  <a:tcPr/>
                </a:tc>
                <a:tc>
                  <a:txBody>
                    <a:bodyPr/>
                    <a:lstStyle/>
                    <a:p>
                      <a:pPr algn="ctr"/>
                      <a:r>
                        <a:rPr lang="en-US" altLang="zh-TW" dirty="0" smtClean="0"/>
                        <a:t>a</a:t>
                      </a:r>
                      <a:r>
                        <a:rPr lang="en-US" altLang="zh-TW" baseline="-25000" dirty="0" smtClean="0"/>
                        <a:t>3</a:t>
                      </a:r>
                      <a:endParaRPr lang="zh-TW" altLang="en-US" baseline="-25000" dirty="0"/>
                    </a:p>
                  </a:txBody>
                  <a:tcPr/>
                </a:tc>
              </a:tr>
              <a:tr h="370840">
                <a:tc>
                  <a:txBody>
                    <a:bodyPr/>
                    <a:lstStyle/>
                    <a:p>
                      <a:r>
                        <a:rPr lang="en-US" altLang="zh-TW" dirty="0" smtClean="0"/>
                        <a:t>{x</a:t>
                      </a:r>
                      <a:r>
                        <a:rPr lang="en-US" altLang="zh-TW" baseline="-25000" dirty="0" smtClean="0"/>
                        <a:t>1</a:t>
                      </a:r>
                      <a:r>
                        <a:rPr lang="en-US" altLang="zh-TW" dirty="0" smtClean="0"/>
                        <a:t>,x</a:t>
                      </a:r>
                      <a:r>
                        <a:rPr lang="en-US" altLang="zh-TW" baseline="-25000" dirty="0" smtClean="0"/>
                        <a:t>3</a:t>
                      </a:r>
                      <a:r>
                        <a:rPr lang="en-US" altLang="zh-TW" dirty="0" smtClean="0"/>
                        <a:t>,</a:t>
                      </a:r>
                      <a:r>
                        <a:rPr lang="en-US" altLang="zh-TW" baseline="0" dirty="0" smtClean="0"/>
                        <a:t>x</a:t>
                      </a:r>
                      <a:r>
                        <a:rPr lang="en-US" altLang="zh-TW" baseline="-25000" dirty="0" smtClean="0"/>
                        <a:t>9</a:t>
                      </a:r>
                      <a:r>
                        <a:rPr lang="en-US" altLang="zh-TW" baseline="0" dirty="0" smtClean="0"/>
                        <a:t>}</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3</a:t>
                      </a:r>
                      <a:endParaRPr lang="zh-TW" altLang="en-US" dirty="0"/>
                    </a:p>
                  </a:txBody>
                  <a:tcPr/>
                </a:tc>
              </a:tr>
              <a:tr h="370840">
                <a:tc>
                  <a:txBody>
                    <a:bodyPr/>
                    <a:lstStyle/>
                    <a:p>
                      <a:r>
                        <a:rPr lang="en-US" altLang="zh-TW" dirty="0" smtClean="0"/>
                        <a:t>{x</a:t>
                      </a:r>
                      <a:r>
                        <a:rPr lang="en-US" altLang="zh-TW" baseline="-25000" dirty="0" smtClean="0"/>
                        <a:t>2</a:t>
                      </a:r>
                      <a:r>
                        <a:rPr lang="en-US" altLang="zh-TW" dirty="0" smtClean="0"/>
                        <a:t>,x</a:t>
                      </a:r>
                      <a:r>
                        <a:rPr lang="en-US" altLang="zh-TW" baseline="-25000" dirty="0" smtClean="0"/>
                        <a:t>7</a:t>
                      </a:r>
                      <a:r>
                        <a:rPr lang="en-US" altLang="zh-TW" dirty="0" smtClean="0"/>
                        <a:t>,x</a:t>
                      </a:r>
                      <a:r>
                        <a:rPr lang="en-US" altLang="zh-TW" baseline="-25000" dirty="0" smtClean="0"/>
                        <a:t>10</a:t>
                      </a:r>
                      <a:r>
                        <a:rPr lang="en-US" altLang="zh-TW" dirty="0" smtClean="0"/>
                        <a:t>}</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1</a:t>
                      </a:r>
                      <a:endParaRPr lang="zh-TW" altLang="en-US" dirty="0"/>
                    </a:p>
                  </a:txBody>
                  <a:tcPr/>
                </a:tc>
              </a:tr>
              <a:tr h="370840">
                <a:tc>
                  <a:txBody>
                    <a:bodyPr/>
                    <a:lstStyle/>
                    <a:p>
                      <a:r>
                        <a:rPr lang="en-US" altLang="zh-TW" dirty="0" smtClean="0"/>
                        <a:t>{x</a:t>
                      </a:r>
                      <a:r>
                        <a:rPr lang="en-US" altLang="zh-TW" baseline="-25000" dirty="0" smtClean="0"/>
                        <a:t>4</a:t>
                      </a:r>
                      <a:r>
                        <a:rPr lang="en-US" altLang="zh-TW" dirty="0" smtClean="0"/>
                        <a:t>}</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r>
              <a:tr h="370840">
                <a:tc>
                  <a:txBody>
                    <a:bodyPr/>
                    <a:lstStyle/>
                    <a:p>
                      <a:r>
                        <a:rPr lang="en-US" altLang="zh-TW" dirty="0" smtClean="0"/>
                        <a:t>{x</a:t>
                      </a:r>
                      <a:r>
                        <a:rPr lang="en-US" altLang="zh-TW" baseline="-25000" dirty="0" smtClean="0"/>
                        <a:t>5</a:t>
                      </a:r>
                      <a:r>
                        <a:rPr lang="en-US" altLang="zh-TW" dirty="0" smtClean="0"/>
                        <a:t>,</a:t>
                      </a:r>
                      <a:r>
                        <a:rPr lang="en-US" altLang="zh-TW" baseline="0" dirty="0" smtClean="0"/>
                        <a:t> x</a:t>
                      </a:r>
                      <a:r>
                        <a:rPr lang="en-US" altLang="zh-TW" baseline="-25000" dirty="0" smtClean="0"/>
                        <a:t>8</a:t>
                      </a:r>
                      <a:r>
                        <a:rPr lang="en-US" altLang="zh-TW" baseline="0"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4</a:t>
                      </a:r>
                      <a:endParaRPr lang="zh-TW" altLang="en-US" dirty="0"/>
                    </a:p>
                  </a:txBody>
                  <a:tcPr/>
                </a:tc>
              </a:tr>
              <a:tr h="370840">
                <a:tc>
                  <a:txBody>
                    <a:bodyPr/>
                    <a:lstStyle/>
                    <a:p>
                      <a:r>
                        <a:rPr lang="en-US" altLang="zh-TW" dirty="0" smtClean="0"/>
                        <a:t>{x</a:t>
                      </a:r>
                      <a:r>
                        <a:rPr lang="en-US" altLang="zh-TW" baseline="-25000" dirty="0" smtClean="0"/>
                        <a:t>6</a:t>
                      </a: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r>
            </a:tbl>
          </a:graphicData>
        </a:graphic>
      </p:graphicFrame>
      <p:sp>
        <p:nvSpPr>
          <p:cNvPr id="9" name="文字方塊 8"/>
          <p:cNvSpPr txBox="1"/>
          <p:nvPr/>
        </p:nvSpPr>
        <p:spPr>
          <a:xfrm>
            <a:off x="4355976" y="1412776"/>
            <a:ext cx="4536504" cy="4524315"/>
          </a:xfrm>
          <a:prstGeom prst="rect">
            <a:avLst/>
          </a:prstGeom>
          <a:noFill/>
        </p:spPr>
        <p:txBody>
          <a:bodyPr wrap="square" rtlCol="0">
            <a:spAutoFit/>
          </a:bodyPr>
          <a:lstStyle/>
          <a:p>
            <a:r>
              <a:rPr lang="en-US" altLang="zh-TW" sz="2400" dirty="0" smtClean="0">
                <a:solidFill>
                  <a:srgbClr val="0066FF"/>
                </a:solidFill>
              </a:rPr>
              <a:t>Example:</a:t>
            </a:r>
          </a:p>
          <a:p>
            <a:r>
              <a:rPr lang="en-US" altLang="zh-TW" sz="2400" dirty="0" smtClean="0"/>
              <a:t>B</a:t>
            </a:r>
            <a:r>
              <a:rPr lang="en-US" altLang="zh-TW" sz="2400" baseline="-25000" dirty="0" smtClean="0"/>
              <a:t>1</a:t>
            </a:r>
            <a:r>
              <a:rPr lang="en-US" altLang="zh-TW" sz="2400" dirty="0" smtClean="0"/>
              <a:t> = {a</a:t>
            </a:r>
            <a:r>
              <a:rPr lang="en-US" altLang="zh-TW" sz="2400" baseline="-25000" dirty="0" smtClean="0"/>
              <a:t>1</a:t>
            </a:r>
            <a:r>
              <a:rPr lang="en-US" altLang="zh-TW" sz="2400" dirty="0" smtClean="0"/>
              <a:t>, a</a:t>
            </a:r>
            <a:r>
              <a:rPr lang="en-US" altLang="zh-TW" sz="2400" baseline="-25000" dirty="0" smtClean="0"/>
              <a:t>2</a:t>
            </a:r>
            <a:r>
              <a:rPr lang="en-US" altLang="zh-TW" sz="2400" dirty="0" smtClean="0"/>
              <a:t>, a</a:t>
            </a:r>
            <a:r>
              <a:rPr lang="en-US" altLang="zh-TW" sz="2400" baseline="-25000" dirty="0" smtClean="0"/>
              <a:t>3</a:t>
            </a:r>
            <a:r>
              <a:rPr lang="en-US" altLang="zh-TW" sz="2400" dirty="0" smtClean="0"/>
              <a:t>}</a:t>
            </a:r>
            <a:endParaRPr lang="zh-TW" altLang="en-US" sz="2400" dirty="0" smtClean="0"/>
          </a:p>
          <a:p>
            <a:r>
              <a:rPr lang="en-US" altLang="zh-TW" sz="2400" dirty="0" smtClean="0"/>
              <a:t>X={x</a:t>
            </a:r>
            <a:r>
              <a:rPr lang="en-US" altLang="zh-TW" sz="2400" baseline="-25000" dirty="0" smtClean="0"/>
              <a:t>1</a:t>
            </a:r>
            <a:r>
              <a:rPr lang="en-US" altLang="zh-TW" sz="2400" dirty="0" smtClean="0"/>
              <a:t>, x</a:t>
            </a:r>
            <a:r>
              <a:rPr lang="en-US" altLang="zh-TW" sz="2400" baseline="-25000" dirty="0" smtClean="0"/>
              <a:t>3</a:t>
            </a:r>
            <a:r>
              <a:rPr lang="en-US" altLang="zh-TW" sz="2400" dirty="0" smtClean="0"/>
              <a:t>, x</a:t>
            </a:r>
            <a:r>
              <a:rPr lang="en-US" altLang="zh-TW" sz="2400" baseline="-25000" dirty="0" smtClean="0"/>
              <a:t>4</a:t>
            </a:r>
            <a:r>
              <a:rPr lang="en-US" altLang="zh-TW" sz="2400" dirty="0" smtClean="0"/>
              <a:t>, x</a:t>
            </a:r>
            <a:r>
              <a:rPr lang="en-US" altLang="zh-TW" sz="2400" baseline="-25000" dirty="0" smtClean="0"/>
              <a:t>5</a:t>
            </a:r>
            <a:r>
              <a:rPr lang="en-US" altLang="zh-TW" sz="2400" dirty="0" smtClean="0"/>
              <a:t>, x</a:t>
            </a:r>
            <a:r>
              <a:rPr lang="en-US" altLang="zh-TW" sz="2400" baseline="-25000" dirty="0" smtClean="0"/>
              <a:t>9</a:t>
            </a:r>
            <a:r>
              <a:rPr lang="en-US" altLang="zh-TW" sz="2400" dirty="0" smtClean="0"/>
              <a:t>}</a:t>
            </a:r>
          </a:p>
          <a:p>
            <a:endParaRPr lang="en-US" altLang="zh-TW" sz="2400" dirty="0" smtClean="0"/>
          </a:p>
          <a:p>
            <a:r>
              <a:rPr lang="zh-TW" altLang="en-US" sz="2400" dirty="0" smtClean="0"/>
              <a:t>∵</a:t>
            </a:r>
            <a:r>
              <a:rPr lang="en-US" altLang="zh-TW" sz="2400" dirty="0" smtClean="0"/>
              <a:t>{x</a:t>
            </a:r>
            <a:r>
              <a:rPr lang="en-US" altLang="zh-TW" sz="2400" baseline="-25000" dirty="0" smtClean="0"/>
              <a:t>1</a:t>
            </a:r>
            <a:r>
              <a:rPr lang="en-US" altLang="zh-TW" sz="2400" dirty="0" smtClean="0"/>
              <a:t>, x</a:t>
            </a:r>
            <a:r>
              <a:rPr lang="en-US" altLang="zh-TW" sz="2400" baseline="-25000" dirty="0" smtClean="0"/>
              <a:t>3</a:t>
            </a:r>
            <a:r>
              <a:rPr lang="en-US" altLang="zh-TW" sz="2400" dirty="0" smtClean="0"/>
              <a:t>, x</a:t>
            </a:r>
            <a:r>
              <a:rPr lang="en-US" altLang="zh-TW" sz="2400" baseline="-25000" dirty="0" smtClean="0"/>
              <a:t>9</a:t>
            </a:r>
            <a:r>
              <a:rPr lang="en-US" altLang="zh-TW" sz="2400" dirty="0" smtClean="0"/>
              <a:t>}, {x</a:t>
            </a:r>
            <a:r>
              <a:rPr lang="en-US" altLang="zh-TW" sz="2400" baseline="-25000" dirty="0" smtClean="0"/>
              <a:t>4</a:t>
            </a:r>
            <a:r>
              <a:rPr lang="en-US" altLang="zh-TW" sz="2400" dirty="0" smtClean="0"/>
              <a:t>} in table</a:t>
            </a:r>
          </a:p>
          <a:p>
            <a:r>
              <a:rPr lang="zh-TW" altLang="en-US" sz="2400" dirty="0" smtClean="0"/>
              <a:t>∴</a:t>
            </a:r>
            <a:r>
              <a:rPr lang="en-US" altLang="zh-TW" sz="2400" u="sng" dirty="0" smtClean="0"/>
              <a:t>BX</a:t>
            </a:r>
            <a:r>
              <a:rPr lang="en-US" altLang="zh-TW" sz="2400" dirty="0" smtClean="0"/>
              <a:t> ={x</a:t>
            </a:r>
            <a:r>
              <a:rPr lang="en-US" altLang="zh-TW" sz="2400" baseline="-25000" dirty="0" smtClean="0"/>
              <a:t>1</a:t>
            </a:r>
            <a:r>
              <a:rPr lang="en-US" altLang="zh-TW" sz="2400" dirty="0" smtClean="0"/>
              <a:t>,x</a:t>
            </a:r>
            <a:r>
              <a:rPr lang="en-US" altLang="zh-TW" sz="2400" baseline="-25000" dirty="0" smtClean="0"/>
              <a:t>3</a:t>
            </a:r>
            <a:r>
              <a:rPr lang="en-US" altLang="zh-TW" sz="2400" dirty="0" smtClean="0"/>
              <a:t>,x</a:t>
            </a:r>
            <a:r>
              <a:rPr lang="en-US" altLang="zh-TW" sz="2400" baseline="-25000" dirty="0" smtClean="0"/>
              <a:t>4</a:t>
            </a:r>
            <a:r>
              <a:rPr lang="en-US" altLang="zh-TW" sz="2400" dirty="0" smtClean="0"/>
              <a:t>,x</a:t>
            </a:r>
            <a:r>
              <a:rPr lang="en-US" altLang="zh-TW" sz="2400" baseline="-25000" dirty="0" smtClean="0"/>
              <a:t>9</a:t>
            </a:r>
            <a:r>
              <a:rPr lang="en-US" altLang="zh-TW" sz="2400" dirty="0" smtClean="0"/>
              <a:t>} </a:t>
            </a:r>
          </a:p>
          <a:p>
            <a:endParaRPr lang="en-US" altLang="zh-TW" sz="2400" dirty="0" smtClean="0"/>
          </a:p>
          <a:p>
            <a:r>
              <a:rPr lang="zh-TW" altLang="en-US" sz="2400" dirty="0" smtClean="0"/>
              <a:t>∵</a:t>
            </a:r>
            <a:r>
              <a:rPr lang="en-US" altLang="zh-TW" sz="2400" dirty="0" smtClean="0"/>
              <a:t>{x</a:t>
            </a:r>
            <a:r>
              <a:rPr lang="en-US" altLang="zh-TW" sz="2400" baseline="-25000" dirty="0" smtClean="0"/>
              <a:t>1</a:t>
            </a:r>
            <a:r>
              <a:rPr lang="en-US" altLang="zh-TW" sz="2400" dirty="0" smtClean="0"/>
              <a:t>, x</a:t>
            </a:r>
            <a:r>
              <a:rPr lang="en-US" altLang="zh-TW" sz="2400" baseline="-25000" dirty="0" smtClean="0"/>
              <a:t>3</a:t>
            </a:r>
            <a:r>
              <a:rPr lang="en-US" altLang="zh-TW" sz="2400" dirty="0" smtClean="0"/>
              <a:t>, x</a:t>
            </a:r>
            <a:r>
              <a:rPr lang="en-US" altLang="zh-TW" sz="2400" baseline="-25000" dirty="0" smtClean="0"/>
              <a:t>9</a:t>
            </a:r>
            <a:r>
              <a:rPr lang="en-US" altLang="zh-TW" sz="2400" dirty="0" smtClean="0"/>
              <a:t>}, {x</a:t>
            </a:r>
            <a:r>
              <a:rPr lang="en-US" altLang="zh-TW" sz="2400" baseline="-25000" dirty="0" smtClean="0"/>
              <a:t>4</a:t>
            </a:r>
            <a:r>
              <a:rPr lang="en-US" altLang="zh-TW" sz="2400" dirty="0" smtClean="0"/>
              <a:t>}, </a:t>
            </a:r>
            <a:r>
              <a:rPr lang="en-US" altLang="zh-TW" sz="2400" dirty="0" smtClean="0">
                <a:solidFill>
                  <a:srgbClr val="FF0000"/>
                </a:solidFill>
              </a:rPr>
              <a:t>{x</a:t>
            </a:r>
            <a:r>
              <a:rPr lang="en-US" altLang="zh-TW" sz="2400" baseline="-25000" dirty="0" smtClean="0">
                <a:solidFill>
                  <a:srgbClr val="FF0000"/>
                </a:solidFill>
              </a:rPr>
              <a:t>5</a:t>
            </a:r>
            <a:r>
              <a:rPr lang="en-US" altLang="zh-TW" sz="2400" dirty="0" smtClean="0">
                <a:solidFill>
                  <a:srgbClr val="FF0000"/>
                </a:solidFill>
              </a:rPr>
              <a:t>, x</a:t>
            </a:r>
            <a:r>
              <a:rPr lang="en-US" altLang="zh-TW" sz="2400" baseline="-25000" dirty="0" smtClean="0">
                <a:solidFill>
                  <a:srgbClr val="FF0000"/>
                </a:solidFill>
              </a:rPr>
              <a:t>8</a:t>
            </a:r>
            <a:r>
              <a:rPr lang="en-US" altLang="zh-TW" sz="2400" dirty="0" smtClean="0">
                <a:solidFill>
                  <a:srgbClr val="FF0000"/>
                </a:solidFill>
              </a:rPr>
              <a:t>} </a:t>
            </a:r>
            <a:r>
              <a:rPr lang="en-US" altLang="zh-TW" sz="2400" dirty="0" smtClean="0"/>
              <a:t>in table</a:t>
            </a:r>
          </a:p>
          <a:p>
            <a:r>
              <a:rPr lang="zh-TW" altLang="en-US" sz="2400" dirty="0" smtClean="0"/>
              <a:t>∴</a:t>
            </a:r>
            <a:r>
              <a:rPr lang="en-US" altLang="zh-TW" sz="2400" dirty="0" smtClean="0"/>
              <a:t>BX ={x</a:t>
            </a:r>
            <a:r>
              <a:rPr lang="en-US" altLang="zh-TW" sz="2400" baseline="-25000" dirty="0" smtClean="0"/>
              <a:t>1</a:t>
            </a:r>
            <a:r>
              <a:rPr lang="en-US" altLang="zh-TW" sz="2400" dirty="0" smtClean="0"/>
              <a:t>,x</a:t>
            </a:r>
            <a:r>
              <a:rPr lang="en-US" altLang="zh-TW" sz="2400" baseline="-25000" dirty="0" smtClean="0"/>
              <a:t>3</a:t>
            </a:r>
            <a:r>
              <a:rPr lang="en-US" altLang="zh-TW" sz="2400" dirty="0" smtClean="0"/>
              <a:t>,x</a:t>
            </a:r>
            <a:r>
              <a:rPr lang="en-US" altLang="zh-TW" sz="2400" baseline="-25000" dirty="0" smtClean="0"/>
              <a:t>4</a:t>
            </a:r>
            <a:r>
              <a:rPr lang="en-US" altLang="zh-TW" sz="2400" dirty="0" smtClean="0">
                <a:solidFill>
                  <a:srgbClr val="0066FF"/>
                </a:solidFill>
              </a:rPr>
              <a:t>, </a:t>
            </a:r>
            <a:r>
              <a:rPr lang="en-US" altLang="zh-TW" sz="2400" dirty="0" smtClean="0">
                <a:solidFill>
                  <a:srgbClr val="FF0000"/>
                </a:solidFill>
              </a:rPr>
              <a:t>x</a:t>
            </a:r>
            <a:r>
              <a:rPr lang="en-US" altLang="zh-TW" sz="2400" baseline="-25000" dirty="0" smtClean="0">
                <a:solidFill>
                  <a:srgbClr val="FF0000"/>
                </a:solidFill>
              </a:rPr>
              <a:t>5</a:t>
            </a:r>
            <a:r>
              <a:rPr lang="en-US" altLang="zh-TW" sz="2400" dirty="0" smtClean="0">
                <a:solidFill>
                  <a:srgbClr val="FF0000"/>
                </a:solidFill>
              </a:rPr>
              <a:t>, x</a:t>
            </a:r>
            <a:r>
              <a:rPr lang="en-US" altLang="zh-TW" sz="2400" baseline="-25000" dirty="0" smtClean="0">
                <a:solidFill>
                  <a:srgbClr val="FF0000"/>
                </a:solidFill>
              </a:rPr>
              <a:t>8</a:t>
            </a:r>
            <a:r>
              <a:rPr lang="en-US" altLang="zh-TW" sz="2400" dirty="0" smtClean="0"/>
              <a:t>, x</a:t>
            </a:r>
            <a:r>
              <a:rPr lang="en-US" altLang="zh-TW" sz="2400" baseline="-25000" dirty="0" smtClean="0"/>
              <a:t>9</a:t>
            </a:r>
            <a:r>
              <a:rPr lang="en-US" altLang="zh-TW" sz="2400" dirty="0" smtClean="0"/>
              <a:t>} </a:t>
            </a:r>
          </a:p>
          <a:p>
            <a:endParaRPr lang="en-US" altLang="zh-TW" sz="2400" dirty="0" smtClean="0"/>
          </a:p>
          <a:p>
            <a:r>
              <a:rPr lang="zh-TW" altLang="en-US" sz="2400" dirty="0" smtClean="0"/>
              <a:t>∴ </a:t>
            </a:r>
            <a:r>
              <a:rPr lang="en-US" altLang="zh-TW" sz="2400" dirty="0" smtClean="0"/>
              <a:t>BNX = BX – </a:t>
            </a:r>
            <a:r>
              <a:rPr lang="en-US" altLang="zh-TW" sz="2400" u="sng" dirty="0" smtClean="0"/>
              <a:t>BX</a:t>
            </a:r>
            <a:r>
              <a:rPr lang="en-US" altLang="zh-TW" sz="2400" dirty="0" smtClean="0"/>
              <a:t> = {x</a:t>
            </a:r>
            <a:r>
              <a:rPr lang="en-US" altLang="zh-TW" sz="2400" baseline="-25000" dirty="0" smtClean="0"/>
              <a:t>5</a:t>
            </a:r>
            <a:r>
              <a:rPr lang="en-US" altLang="zh-TW" sz="2400" dirty="0" smtClean="0"/>
              <a:t>, x</a:t>
            </a:r>
            <a:r>
              <a:rPr lang="en-US" altLang="zh-TW" sz="2400" baseline="-25000" dirty="0" smtClean="0"/>
              <a:t>8</a:t>
            </a:r>
            <a:r>
              <a:rPr lang="en-US" altLang="zh-TW" sz="2400" dirty="0" smtClean="0"/>
              <a:t>}</a:t>
            </a:r>
          </a:p>
          <a:p>
            <a:endParaRPr lang="zh-TW" altLang="en-US" sz="2400" dirty="0"/>
          </a:p>
        </p:txBody>
      </p:sp>
      <p:sp>
        <p:nvSpPr>
          <p:cNvPr id="13" name="文字方塊 12"/>
          <p:cNvSpPr txBox="1"/>
          <p:nvPr/>
        </p:nvSpPr>
        <p:spPr>
          <a:xfrm>
            <a:off x="179512" y="5373216"/>
            <a:ext cx="5112568" cy="1200329"/>
          </a:xfrm>
          <a:prstGeom prst="rect">
            <a:avLst/>
          </a:prstGeom>
          <a:noFill/>
        </p:spPr>
        <p:txBody>
          <a:bodyPr wrap="square" rtlCol="0">
            <a:spAutoFit/>
          </a:bodyPr>
          <a:lstStyle/>
          <a:p>
            <a:r>
              <a:rPr lang="en-US" altLang="zh-TW" sz="2400" i="1" u="sng" dirty="0" smtClean="0">
                <a:solidFill>
                  <a:srgbClr val="0066FF"/>
                </a:solidFill>
              </a:rPr>
              <a:t>BX</a:t>
            </a:r>
            <a:r>
              <a:rPr lang="en-US" altLang="zh-TW" sz="2400" dirty="0" smtClean="0">
                <a:solidFill>
                  <a:srgbClr val="0066FF"/>
                </a:solidFill>
              </a:rPr>
              <a:t>: lower approximation</a:t>
            </a:r>
          </a:p>
          <a:p>
            <a:r>
              <a:rPr lang="en-US" altLang="zh-TW" sz="2400" i="1" dirty="0" smtClean="0">
                <a:solidFill>
                  <a:srgbClr val="0066FF"/>
                </a:solidFill>
              </a:rPr>
              <a:t>BX</a:t>
            </a:r>
            <a:r>
              <a:rPr lang="en-US" altLang="zh-TW" sz="2400" dirty="0" smtClean="0">
                <a:solidFill>
                  <a:srgbClr val="0066FF"/>
                </a:solidFill>
              </a:rPr>
              <a:t>: upper approximation</a:t>
            </a:r>
          </a:p>
          <a:p>
            <a:r>
              <a:rPr lang="en-US" altLang="zh-TW" sz="2400" i="1" dirty="0" smtClean="0">
                <a:solidFill>
                  <a:srgbClr val="0066FF"/>
                </a:solidFill>
              </a:rPr>
              <a:t>BNX</a:t>
            </a:r>
            <a:r>
              <a:rPr lang="en-US" altLang="zh-TW" sz="2400" dirty="0" smtClean="0">
                <a:solidFill>
                  <a:srgbClr val="0066FF"/>
                </a:solidFill>
              </a:rPr>
              <a:t>: boundary of </a:t>
            </a:r>
            <a:r>
              <a:rPr lang="en-US" altLang="zh-TW" sz="2400" i="1" dirty="0" smtClean="0">
                <a:solidFill>
                  <a:srgbClr val="0066FF"/>
                </a:solidFill>
              </a:rPr>
              <a:t>X</a:t>
            </a:r>
            <a:r>
              <a:rPr lang="en-US" altLang="zh-TW" sz="2400" dirty="0" smtClean="0">
                <a:solidFill>
                  <a:srgbClr val="0066FF"/>
                </a:solidFill>
              </a:rPr>
              <a:t> in </a:t>
            </a:r>
            <a:r>
              <a:rPr lang="en-US" altLang="zh-TW" sz="2400" i="1" dirty="0" smtClean="0">
                <a:solidFill>
                  <a:srgbClr val="0066FF"/>
                </a:solidFill>
              </a:rPr>
              <a:t>U</a:t>
            </a:r>
            <a:endParaRPr lang="zh-TW" altLang="en-US" sz="2400" i="1" dirty="0">
              <a:solidFill>
                <a:srgbClr val="0066FF"/>
              </a:solidFill>
            </a:endParaRPr>
          </a:p>
        </p:txBody>
      </p:sp>
      <p:sp>
        <p:nvSpPr>
          <p:cNvPr id="10" name="投影片編號版面配置區 9"/>
          <p:cNvSpPr>
            <a:spLocks noGrp="1"/>
          </p:cNvSpPr>
          <p:nvPr>
            <p:ph type="sldNum" sz="quarter" idx="12"/>
          </p:nvPr>
        </p:nvSpPr>
        <p:spPr/>
        <p:txBody>
          <a:bodyPr/>
          <a:lstStyle/>
          <a:p>
            <a:fld id="{0914735A-2DD1-49E1-A8E8-1A4F28A0E6C3}" type="slidenum">
              <a:rPr lang="zh-TW" altLang="en-US" smtClean="0"/>
              <a:pPr/>
              <a:t>12</a:t>
            </a:fld>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body" idx="1"/>
          </p:nvPr>
        </p:nvSpPr>
        <p:spPr>
          <a:xfrm>
            <a:off x="611560" y="548680"/>
            <a:ext cx="8229600" cy="1152128"/>
          </a:xfrm>
        </p:spPr>
        <p:txBody>
          <a:bodyPr>
            <a:normAutofit/>
          </a:bodyPr>
          <a:lstStyle/>
          <a:p>
            <a:pPr eaLnBrk="1" hangingPunct="1"/>
            <a:r>
              <a:rPr lang="en-US" altLang="zh-TW" sz="2400" dirty="0" smtClean="0">
                <a:latin typeface="微軟正黑體" pitchFamily="34" charset="-120"/>
                <a:ea typeface="微軟正黑體" pitchFamily="34" charset="-120"/>
              </a:rPr>
              <a:t>Lower approximation</a:t>
            </a:r>
            <a:r>
              <a:rPr lang="zh-TW" altLang="en-US" sz="2400" dirty="0" smtClean="0">
                <a:latin typeface="微軟正黑體" pitchFamily="34" charset="-120"/>
                <a:ea typeface="微軟正黑體" pitchFamily="34" charset="-120"/>
              </a:rPr>
              <a:t>中之物件</a:t>
            </a:r>
            <a:r>
              <a:rPr lang="zh-TW" altLang="en-US" sz="2400" b="1" dirty="0" smtClean="0">
                <a:solidFill>
                  <a:srgbClr val="FF0000"/>
                </a:solidFill>
                <a:latin typeface="微軟正黑體" pitchFamily="34" charset="-120"/>
                <a:ea typeface="微軟正黑體" pitchFamily="34" charset="-120"/>
              </a:rPr>
              <a:t>必定</a:t>
            </a:r>
            <a:r>
              <a:rPr lang="zh-TW" altLang="en-US" sz="2400" dirty="0" smtClean="0">
                <a:latin typeface="微軟正黑體" pitchFamily="34" charset="-120"/>
                <a:ea typeface="微軟正黑體" pitchFamily="34" charset="-120"/>
              </a:rPr>
              <a:t>屬於集合</a:t>
            </a:r>
            <a:r>
              <a:rPr lang="en-US" altLang="zh-TW" sz="2400" dirty="0" smtClean="0">
                <a:latin typeface="微軟正黑體" pitchFamily="34" charset="-120"/>
                <a:ea typeface="微軟正黑體" pitchFamily="34" charset="-120"/>
              </a:rPr>
              <a:t>X</a:t>
            </a:r>
          </a:p>
          <a:p>
            <a:pPr eaLnBrk="1" hangingPunct="1"/>
            <a:r>
              <a:rPr lang="en-US" altLang="zh-TW" sz="2400" dirty="0" smtClean="0">
                <a:latin typeface="微軟正黑體" pitchFamily="34" charset="-120"/>
                <a:ea typeface="微軟正黑體" pitchFamily="34" charset="-120"/>
              </a:rPr>
              <a:t>Upper approximation</a:t>
            </a:r>
            <a:r>
              <a:rPr lang="zh-TW" altLang="en-US" sz="2400" dirty="0" smtClean="0">
                <a:latin typeface="微軟正黑體" pitchFamily="34" charset="-120"/>
                <a:ea typeface="微軟正黑體" pitchFamily="34" charset="-120"/>
              </a:rPr>
              <a:t>中之物件</a:t>
            </a:r>
            <a:r>
              <a:rPr lang="zh-TW" altLang="en-US" sz="2400" b="1" dirty="0" smtClean="0">
                <a:solidFill>
                  <a:srgbClr val="FF0000"/>
                </a:solidFill>
                <a:latin typeface="微軟正黑體" pitchFamily="34" charset="-120"/>
                <a:ea typeface="微軟正黑體" pitchFamily="34" charset="-120"/>
              </a:rPr>
              <a:t>也許</a:t>
            </a:r>
            <a:r>
              <a:rPr lang="zh-TW" altLang="en-US" sz="2400" b="1" dirty="0" smtClean="0">
                <a:latin typeface="微軟正黑體" pitchFamily="34" charset="-120"/>
                <a:ea typeface="微軟正黑體" pitchFamily="34" charset="-120"/>
              </a:rPr>
              <a:t>屬於</a:t>
            </a:r>
            <a:r>
              <a:rPr lang="zh-TW" altLang="en-US" sz="2400" dirty="0" smtClean="0">
                <a:latin typeface="微軟正黑體" pitchFamily="34" charset="-120"/>
                <a:ea typeface="微軟正黑體" pitchFamily="34" charset="-120"/>
              </a:rPr>
              <a:t>集合</a:t>
            </a:r>
            <a:r>
              <a:rPr lang="en-US" altLang="zh-TW" sz="2400" dirty="0" smtClean="0">
                <a:latin typeface="微軟正黑體" pitchFamily="34" charset="-120"/>
                <a:ea typeface="微軟正黑體" pitchFamily="34" charset="-120"/>
              </a:rPr>
              <a:t>X</a:t>
            </a:r>
          </a:p>
        </p:txBody>
      </p:sp>
      <p:pic>
        <p:nvPicPr>
          <p:cNvPr id="25604" name="Picture 4"/>
          <p:cNvPicPr>
            <a:picLocks noChangeAspect="1" noChangeArrowheads="1"/>
          </p:cNvPicPr>
          <p:nvPr/>
        </p:nvPicPr>
        <p:blipFill>
          <a:blip r:embed="rId3" cstate="print"/>
          <a:srcRect/>
          <a:stretch>
            <a:fillRect/>
          </a:stretch>
        </p:blipFill>
        <p:spPr bwMode="auto">
          <a:xfrm>
            <a:off x="1187624" y="1844824"/>
            <a:ext cx="6767512" cy="4019550"/>
          </a:xfrm>
          <a:prstGeom prst="rect">
            <a:avLst/>
          </a:prstGeom>
          <a:noFill/>
          <a:ln w="9525">
            <a:noFill/>
            <a:miter lim="800000"/>
            <a:headEnd/>
            <a:tailEnd/>
          </a:ln>
        </p:spPr>
      </p:pic>
      <p:sp>
        <p:nvSpPr>
          <p:cNvPr id="4" name="投影片編號版面配置區 3"/>
          <p:cNvSpPr>
            <a:spLocks noGrp="1"/>
          </p:cNvSpPr>
          <p:nvPr>
            <p:ph type="sldNum" sz="quarter" idx="12"/>
          </p:nvPr>
        </p:nvSpPr>
        <p:spPr/>
        <p:txBody>
          <a:bodyPr/>
          <a:lstStyle/>
          <a:p>
            <a:fld id="{0914735A-2DD1-49E1-A8E8-1A4F28A0E6C3}" type="slidenum">
              <a:rPr lang="zh-TW" altLang="en-US" smtClean="0"/>
              <a:pPr/>
              <a:t>13</a:t>
            </a:fld>
            <a:endParaRPr lang="zh-TW" altLang="en-US"/>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Accuracy of approximation</a:t>
            </a:r>
            <a:endParaRPr lang="zh-TW" altLang="en-US" dirty="0"/>
          </a:p>
        </p:txBody>
      </p:sp>
      <p:graphicFrame>
        <p:nvGraphicFramePr>
          <p:cNvPr id="4" name="內容版面配置區 3"/>
          <p:cNvGraphicFramePr>
            <a:graphicFrameLocks/>
          </p:cNvGraphicFramePr>
          <p:nvPr>
            <p:ph idx="1"/>
          </p:nvPr>
        </p:nvGraphicFramePr>
        <p:xfrm>
          <a:off x="3794521" y="1600200"/>
          <a:ext cx="1554957" cy="1036638"/>
        </p:xfrm>
        <a:graphic>
          <a:graphicData uri="http://schemas.openxmlformats.org/presentationml/2006/ole">
            <p:oleObj spid="_x0000_s125954" name="方程式" r:id="rId3" imgW="0" imgH="0" progId="Equation.3">
              <p:embed/>
            </p:oleObj>
          </a:graphicData>
        </a:graphic>
      </p:graphicFrame>
      <p:graphicFrame>
        <p:nvGraphicFramePr>
          <p:cNvPr id="5" name="物件 4"/>
          <p:cNvGraphicFramePr>
            <a:graphicFrameLocks noChangeAspect="1"/>
          </p:cNvGraphicFramePr>
          <p:nvPr/>
        </p:nvGraphicFramePr>
        <p:xfrm>
          <a:off x="1763688" y="1340768"/>
          <a:ext cx="3837603" cy="864096"/>
        </p:xfrm>
        <a:graphic>
          <a:graphicData uri="http://schemas.openxmlformats.org/presentationml/2006/ole">
            <p:oleObj spid="_x0000_s125955" name="方程式" r:id="rId4" imgW="1917360" imgH="431640" progId="Equation.3">
              <p:embed/>
            </p:oleObj>
          </a:graphicData>
        </a:graphic>
      </p:graphicFrame>
      <p:sp>
        <p:nvSpPr>
          <p:cNvPr id="6" name="文字方塊 5"/>
          <p:cNvSpPr txBox="1"/>
          <p:nvPr/>
        </p:nvSpPr>
        <p:spPr>
          <a:xfrm>
            <a:off x="1619672" y="2708920"/>
            <a:ext cx="6696744" cy="3416320"/>
          </a:xfrm>
          <a:prstGeom prst="rect">
            <a:avLst/>
          </a:prstGeom>
          <a:noFill/>
        </p:spPr>
        <p:txBody>
          <a:bodyPr wrap="square" rtlCol="0">
            <a:spAutoFit/>
          </a:bodyPr>
          <a:lstStyle/>
          <a:p>
            <a:r>
              <a:rPr lang="zh-TW" altLang="en-US" sz="2400" dirty="0" smtClean="0">
                <a:latin typeface="微軟正黑體" pitchFamily="34" charset="-120"/>
                <a:ea typeface="微軟正黑體" pitchFamily="34" charset="-120"/>
              </a:rPr>
              <a:t>上一頁範例</a:t>
            </a:r>
            <a:r>
              <a:rPr lang="en-US" altLang="zh-TW" sz="2400" dirty="0" smtClean="0">
                <a:latin typeface="微軟正黑體" pitchFamily="34" charset="-120"/>
                <a:ea typeface="微軟正黑體" pitchFamily="34" charset="-120"/>
              </a:rPr>
              <a:t>:</a:t>
            </a:r>
          </a:p>
          <a:p>
            <a:r>
              <a:rPr lang="en-US" altLang="zh-TW" sz="2400" i="1" dirty="0" err="1" smtClean="0">
                <a:latin typeface="微軟正黑體" pitchFamily="34" charset="-120"/>
                <a:ea typeface="微軟正黑體" pitchFamily="34" charset="-120"/>
              </a:rPr>
              <a:t>u</a:t>
            </a:r>
            <a:r>
              <a:rPr lang="en-US" altLang="zh-TW" sz="2400" baseline="-25000" dirty="0" err="1" smtClean="0">
                <a:latin typeface="微軟正黑體" pitchFamily="34" charset="-120"/>
                <a:ea typeface="微軟正黑體" pitchFamily="34" charset="-120"/>
              </a:rPr>
              <a:t>B</a:t>
            </a:r>
            <a:r>
              <a:rPr lang="en-US" altLang="zh-TW" sz="2400" dirty="0" smtClean="0">
                <a:latin typeface="微軟正黑體" pitchFamily="34" charset="-120"/>
                <a:ea typeface="微軟正黑體" pitchFamily="34" charset="-120"/>
              </a:rPr>
              <a:t>(</a:t>
            </a:r>
            <a:r>
              <a:rPr lang="en-US" altLang="zh-TW" sz="2400" i="1" dirty="0" smtClean="0">
                <a:latin typeface="微軟正黑體" pitchFamily="34" charset="-120"/>
                <a:ea typeface="微軟正黑體" pitchFamily="34" charset="-120"/>
              </a:rPr>
              <a:t>X</a:t>
            </a:r>
            <a:r>
              <a:rPr lang="en-US" altLang="zh-TW" sz="2400" dirty="0" smtClean="0">
                <a:latin typeface="微軟正黑體" pitchFamily="34" charset="-120"/>
                <a:ea typeface="微軟正黑體" pitchFamily="34" charset="-120"/>
              </a:rPr>
              <a:t>) = 4/6 = 66.67%</a:t>
            </a:r>
          </a:p>
          <a:p>
            <a:endParaRPr lang="en-US" altLang="zh-TW" sz="2400" dirty="0" smtClean="0">
              <a:latin typeface="微軟正黑體" pitchFamily="34" charset="-120"/>
              <a:ea typeface="微軟正黑體" pitchFamily="34" charset="-120"/>
            </a:endParaRPr>
          </a:p>
          <a:p>
            <a:r>
              <a:rPr lang="en-US" altLang="zh-TW" sz="2400" dirty="0" smtClean="0">
                <a:solidFill>
                  <a:srgbClr val="FF0000"/>
                </a:solidFill>
                <a:latin typeface="微軟正黑體" pitchFamily="34" charset="-120"/>
                <a:ea typeface="微軟正黑體" pitchFamily="34" charset="-120"/>
              </a:rPr>
              <a:t>Note:</a:t>
            </a:r>
          </a:p>
          <a:p>
            <a:r>
              <a:rPr lang="en-US" altLang="zh-TW" sz="2400" dirty="0" smtClean="0">
                <a:latin typeface="微軟正黑體" pitchFamily="34" charset="-120"/>
                <a:ea typeface="微軟正黑體" pitchFamily="34" charset="-120"/>
              </a:rPr>
              <a:t>0 ≦</a:t>
            </a:r>
            <a:r>
              <a:rPr lang="en-US" altLang="zh-TW" sz="2400" i="1" dirty="0" smtClean="0">
                <a:latin typeface="微軟正黑體" pitchFamily="34" charset="-120"/>
                <a:ea typeface="微軟正黑體" pitchFamily="34" charset="-120"/>
              </a:rPr>
              <a:t> </a:t>
            </a:r>
            <a:r>
              <a:rPr lang="en-US" altLang="zh-TW" sz="2400" i="1" dirty="0" err="1" smtClean="0">
                <a:latin typeface="微軟正黑體" pitchFamily="34" charset="-120"/>
                <a:ea typeface="微軟正黑體" pitchFamily="34" charset="-120"/>
              </a:rPr>
              <a:t>u</a:t>
            </a:r>
            <a:r>
              <a:rPr lang="en-US" altLang="zh-TW" sz="2400" baseline="-25000" dirty="0" err="1" smtClean="0">
                <a:latin typeface="微軟正黑體" pitchFamily="34" charset="-120"/>
                <a:ea typeface="微軟正黑體" pitchFamily="34" charset="-120"/>
              </a:rPr>
              <a:t>B</a:t>
            </a:r>
            <a:r>
              <a:rPr lang="en-US" altLang="zh-TW" sz="2400" dirty="0" smtClean="0">
                <a:latin typeface="微軟正黑體" pitchFamily="34" charset="-120"/>
                <a:ea typeface="微軟正黑體" pitchFamily="34" charset="-120"/>
              </a:rPr>
              <a:t>(X) ≦ 1</a:t>
            </a:r>
          </a:p>
          <a:p>
            <a:r>
              <a:rPr lang="en-US" altLang="zh-TW" sz="2400" i="1" dirty="0" err="1" smtClean="0">
                <a:latin typeface="微軟正黑體" pitchFamily="34" charset="-120"/>
                <a:ea typeface="微軟正黑體" pitchFamily="34" charset="-120"/>
              </a:rPr>
              <a:t>u</a:t>
            </a:r>
            <a:r>
              <a:rPr lang="en-US" altLang="zh-TW" sz="2400" baseline="-25000" dirty="0" err="1" smtClean="0">
                <a:latin typeface="微軟正黑體" pitchFamily="34" charset="-120"/>
                <a:ea typeface="微軟正黑體" pitchFamily="34" charset="-120"/>
              </a:rPr>
              <a:t>B</a:t>
            </a:r>
            <a:r>
              <a:rPr lang="en-US" altLang="zh-TW" sz="2400" dirty="0" smtClean="0">
                <a:latin typeface="微軟正黑體" pitchFamily="34" charset="-120"/>
                <a:ea typeface="微軟正黑體" pitchFamily="34" charset="-120"/>
              </a:rPr>
              <a:t>(</a:t>
            </a:r>
            <a:r>
              <a:rPr lang="en-US" altLang="zh-TW" sz="2400" i="1" dirty="0" smtClean="0">
                <a:latin typeface="微軟正黑體" pitchFamily="34" charset="-120"/>
                <a:ea typeface="微軟正黑體" pitchFamily="34" charset="-120"/>
              </a:rPr>
              <a:t>X</a:t>
            </a:r>
            <a:r>
              <a:rPr lang="en-US" altLang="zh-TW" sz="2400" dirty="0" smtClean="0">
                <a:latin typeface="微軟正黑體" pitchFamily="34" charset="-120"/>
                <a:ea typeface="微軟正黑體" pitchFamily="34" charset="-120"/>
              </a:rPr>
              <a:t>) = 1, </a:t>
            </a:r>
            <a:r>
              <a:rPr lang="en-US" altLang="zh-TW" sz="2400" i="1" dirty="0" smtClean="0">
                <a:latin typeface="微軟正黑體" pitchFamily="34" charset="-120"/>
                <a:ea typeface="微軟正黑體" pitchFamily="34" charset="-120"/>
              </a:rPr>
              <a:t>X</a:t>
            </a:r>
            <a:r>
              <a:rPr lang="en-US" altLang="zh-TW" sz="2400" dirty="0" smtClean="0">
                <a:latin typeface="微軟正黑體" pitchFamily="34" charset="-120"/>
                <a:ea typeface="微軟正黑體" pitchFamily="34" charset="-120"/>
              </a:rPr>
              <a:t> is definable in </a:t>
            </a:r>
            <a:r>
              <a:rPr lang="en-US" altLang="zh-TW" sz="2400" i="1" dirty="0" smtClean="0">
                <a:latin typeface="微軟正黑體" pitchFamily="34" charset="-120"/>
                <a:ea typeface="微軟正黑體" pitchFamily="34" charset="-120"/>
              </a:rPr>
              <a:t>U</a:t>
            </a:r>
          </a:p>
          <a:p>
            <a:r>
              <a:rPr lang="en-US" altLang="zh-TW" sz="2400" i="1" dirty="0" err="1" smtClean="0">
                <a:latin typeface="微軟正黑體" pitchFamily="34" charset="-120"/>
                <a:ea typeface="微軟正黑體" pitchFamily="34" charset="-120"/>
              </a:rPr>
              <a:t>u</a:t>
            </a:r>
            <a:r>
              <a:rPr lang="en-US" altLang="zh-TW" sz="2400" baseline="-25000" dirty="0" err="1" smtClean="0">
                <a:latin typeface="微軟正黑體" pitchFamily="34" charset="-120"/>
                <a:ea typeface="微軟正黑體" pitchFamily="34" charset="-120"/>
              </a:rPr>
              <a:t>B</a:t>
            </a:r>
            <a:r>
              <a:rPr lang="en-US" altLang="zh-TW" sz="2400" dirty="0" smtClean="0">
                <a:latin typeface="微軟正黑體" pitchFamily="34" charset="-120"/>
                <a:ea typeface="微軟正黑體" pitchFamily="34" charset="-120"/>
              </a:rPr>
              <a:t>(</a:t>
            </a:r>
            <a:r>
              <a:rPr lang="en-US" altLang="zh-TW" sz="2400" i="1" dirty="0" smtClean="0">
                <a:latin typeface="微軟正黑體" pitchFamily="34" charset="-120"/>
                <a:ea typeface="微軟正黑體" pitchFamily="34" charset="-120"/>
              </a:rPr>
              <a:t>X</a:t>
            </a:r>
            <a:r>
              <a:rPr lang="en-US" altLang="zh-TW" sz="2400" dirty="0" smtClean="0">
                <a:latin typeface="微軟正黑體" pitchFamily="34" charset="-120"/>
                <a:ea typeface="微軟正黑體" pitchFamily="34" charset="-120"/>
              </a:rPr>
              <a:t>) = 0, </a:t>
            </a:r>
            <a:r>
              <a:rPr lang="en-US" altLang="zh-TW" sz="2400" i="1" dirty="0" smtClean="0">
                <a:latin typeface="微軟正黑體" pitchFamily="34" charset="-120"/>
                <a:ea typeface="微軟正黑體" pitchFamily="34" charset="-120"/>
              </a:rPr>
              <a:t>X</a:t>
            </a:r>
            <a:r>
              <a:rPr lang="en-US" altLang="zh-TW" sz="2400" dirty="0" smtClean="0">
                <a:latin typeface="微軟正黑體" pitchFamily="34" charset="-120"/>
                <a:ea typeface="微軟正黑體" pitchFamily="34" charset="-120"/>
              </a:rPr>
              <a:t> is </a:t>
            </a:r>
            <a:r>
              <a:rPr lang="en-US" altLang="zh-TW" sz="2400" dirty="0" err="1" smtClean="0">
                <a:latin typeface="微軟正黑體" pitchFamily="34" charset="-120"/>
                <a:ea typeface="微軟正黑體" pitchFamily="34" charset="-120"/>
              </a:rPr>
              <a:t>undefinable</a:t>
            </a:r>
            <a:r>
              <a:rPr lang="en-US" altLang="zh-TW" sz="2400" dirty="0" smtClean="0">
                <a:latin typeface="微軟正黑體" pitchFamily="34" charset="-120"/>
                <a:ea typeface="微軟正黑體" pitchFamily="34" charset="-120"/>
              </a:rPr>
              <a:t> in </a:t>
            </a:r>
            <a:r>
              <a:rPr lang="en-US" altLang="zh-TW" sz="2400" i="1" dirty="0" smtClean="0">
                <a:latin typeface="微軟正黑體" pitchFamily="34" charset="-120"/>
                <a:ea typeface="微軟正黑體" pitchFamily="34" charset="-120"/>
              </a:rPr>
              <a:t>U</a:t>
            </a:r>
          </a:p>
          <a:p>
            <a:endParaRPr lang="en-US" altLang="zh-TW" sz="2400" dirty="0" smtClean="0">
              <a:latin typeface="微軟正黑體" pitchFamily="34" charset="-120"/>
              <a:ea typeface="微軟正黑體" pitchFamily="34" charset="-120"/>
            </a:endParaRPr>
          </a:p>
          <a:p>
            <a:endParaRPr lang="zh-TW" altLang="en-US" sz="2400" dirty="0">
              <a:latin typeface="微軟正黑體" pitchFamily="34" charset="-120"/>
              <a:ea typeface="微軟正黑體" pitchFamily="34" charset="-120"/>
            </a:endParaRPr>
          </a:p>
        </p:txBody>
      </p:sp>
      <p:sp>
        <p:nvSpPr>
          <p:cNvPr id="7" name="投影片編號版面配置區 6"/>
          <p:cNvSpPr>
            <a:spLocks noGrp="1"/>
          </p:cNvSpPr>
          <p:nvPr>
            <p:ph type="sldNum" sz="quarter" idx="12"/>
          </p:nvPr>
        </p:nvSpPr>
        <p:spPr/>
        <p:txBody>
          <a:bodyPr/>
          <a:lstStyle/>
          <a:p>
            <a:fld id="{0914735A-2DD1-49E1-A8E8-1A4F28A0E6C3}" type="slidenum">
              <a:rPr lang="zh-TW" altLang="en-US" smtClean="0"/>
              <a:pPr/>
              <a:t>14</a:t>
            </a:fld>
            <a:endParaRPr lang="zh-TW"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Independence of attributes</a:t>
            </a:r>
            <a:endParaRPr lang="zh-TW" altLang="en-US" dirty="0"/>
          </a:p>
        </p:txBody>
      </p:sp>
      <p:sp>
        <p:nvSpPr>
          <p:cNvPr id="3" name="內容版面配置區 2"/>
          <p:cNvSpPr>
            <a:spLocks noGrp="1"/>
          </p:cNvSpPr>
          <p:nvPr>
            <p:ph idx="1"/>
          </p:nvPr>
        </p:nvSpPr>
        <p:spPr>
          <a:xfrm>
            <a:off x="467544" y="1340768"/>
            <a:ext cx="8229600" cy="964704"/>
          </a:xfrm>
        </p:spPr>
        <p:txBody>
          <a:bodyPr>
            <a:normAutofit/>
          </a:bodyPr>
          <a:lstStyle/>
          <a:p>
            <a:r>
              <a:rPr lang="zh-TW" altLang="en-US" sz="2400" dirty="0" smtClean="0">
                <a:latin typeface="標楷體" pitchFamily="65" charset="-120"/>
                <a:ea typeface="標楷體" pitchFamily="65" charset="-120"/>
              </a:rPr>
              <a:t>檢查移除某個</a:t>
            </a:r>
            <a:r>
              <a:rPr lang="en-US" altLang="zh-TW" sz="2400" dirty="0" err="1" smtClean="0">
                <a:latin typeface="標楷體" pitchFamily="65" charset="-120"/>
                <a:ea typeface="標楷體" pitchFamily="65" charset="-120"/>
              </a:rPr>
              <a:t>attribute之後，使用剩下的attributes來分類instances個數時，set個數是否會增加</a:t>
            </a:r>
            <a:endParaRPr lang="zh-TW" altLang="en-US" sz="2400" dirty="0">
              <a:latin typeface="標楷體" pitchFamily="65" charset="-120"/>
              <a:ea typeface="標楷體" pitchFamily="65" charset="-120"/>
            </a:endParaRPr>
          </a:p>
        </p:txBody>
      </p:sp>
      <p:graphicFrame>
        <p:nvGraphicFramePr>
          <p:cNvPr id="5" name="表格 4"/>
          <p:cNvGraphicFramePr>
            <a:graphicFrameLocks noGrp="1"/>
          </p:cNvGraphicFramePr>
          <p:nvPr/>
        </p:nvGraphicFramePr>
        <p:xfrm>
          <a:off x="6012160" y="2244472"/>
          <a:ext cx="3024336" cy="1854200"/>
        </p:xfrm>
        <a:graphic>
          <a:graphicData uri="http://schemas.openxmlformats.org/drawingml/2006/table">
            <a:tbl>
              <a:tblPr firstRow="1" bandRow="1">
                <a:tableStyleId>{F5AB1C69-6EDB-4FF4-983F-18BD219EF322}</a:tableStyleId>
              </a:tblPr>
              <a:tblGrid>
                <a:gridCol w="1440160"/>
                <a:gridCol w="792088"/>
                <a:gridCol w="792088"/>
              </a:tblGrid>
              <a:tr h="370840">
                <a:tc>
                  <a:txBody>
                    <a:bodyPr/>
                    <a:lstStyle/>
                    <a:p>
                      <a:pPr algn="ctr"/>
                      <a:r>
                        <a:rPr lang="en-US" altLang="zh-TW" sz="1600" baseline="0" dirty="0" smtClean="0"/>
                        <a:t>remove a</a:t>
                      </a:r>
                      <a:r>
                        <a:rPr lang="en-US" altLang="zh-TW" sz="1600" baseline="-25000" dirty="0" smtClean="0"/>
                        <a:t>3</a:t>
                      </a:r>
                      <a:endParaRPr lang="zh-TW" altLang="en-US" sz="1600" baseline="-25000" dirty="0"/>
                    </a:p>
                  </a:txBody>
                  <a:tcPr/>
                </a:tc>
                <a:tc>
                  <a:txBody>
                    <a:bodyPr/>
                    <a:lstStyle/>
                    <a:p>
                      <a:pPr algn="ctr"/>
                      <a:r>
                        <a:rPr lang="en-US" altLang="zh-TW" sz="1600" dirty="0" smtClean="0"/>
                        <a:t>a</a:t>
                      </a:r>
                      <a:r>
                        <a:rPr lang="en-US" altLang="zh-TW" sz="1600" baseline="-25000" dirty="0" smtClean="0"/>
                        <a:t>1</a:t>
                      </a:r>
                      <a:endParaRPr lang="zh-TW" altLang="en-US" sz="1600" baseline="-25000" dirty="0"/>
                    </a:p>
                  </a:txBody>
                  <a:tcPr/>
                </a:tc>
                <a:tc>
                  <a:txBody>
                    <a:bodyPr/>
                    <a:lstStyle/>
                    <a:p>
                      <a:pPr algn="ctr"/>
                      <a:r>
                        <a:rPr lang="en-US" altLang="zh-TW" sz="1600" dirty="0" smtClean="0"/>
                        <a:t>a</a:t>
                      </a:r>
                      <a:r>
                        <a:rPr lang="en-US" altLang="zh-TW" sz="1600" baseline="-25000" dirty="0" smtClean="0"/>
                        <a:t>2</a:t>
                      </a:r>
                      <a:endParaRPr lang="zh-TW" altLang="en-US" sz="1600" baseline="-25000" dirty="0"/>
                    </a:p>
                  </a:txBody>
                  <a:tcPr/>
                </a:tc>
              </a:tr>
              <a:tr h="370840">
                <a:tc>
                  <a:txBody>
                    <a:bodyPr/>
                    <a:lstStyle/>
                    <a:p>
                      <a:r>
                        <a:rPr lang="en-US" altLang="zh-TW" sz="1600" dirty="0" smtClean="0"/>
                        <a:t>{x</a:t>
                      </a:r>
                      <a:r>
                        <a:rPr lang="en-US" altLang="zh-TW" sz="1600" baseline="-25000" dirty="0" smtClean="0"/>
                        <a:t>1</a:t>
                      </a:r>
                      <a:r>
                        <a:rPr lang="en-US" altLang="zh-TW" sz="1600" dirty="0" smtClean="0"/>
                        <a:t>,x</a:t>
                      </a:r>
                      <a:r>
                        <a:rPr lang="en-US" altLang="zh-TW" sz="1600" baseline="-25000" dirty="0" smtClean="0"/>
                        <a:t>3</a:t>
                      </a:r>
                      <a:r>
                        <a:rPr lang="en-US" altLang="zh-TW" sz="1600" dirty="0" smtClean="0"/>
                        <a:t>,</a:t>
                      </a:r>
                      <a:r>
                        <a:rPr lang="en-US" altLang="zh-TW" sz="1600" baseline="0" dirty="0" smtClean="0"/>
                        <a:t>x</a:t>
                      </a:r>
                      <a:r>
                        <a:rPr lang="en-US" altLang="zh-TW" sz="1600" baseline="-25000" dirty="0" smtClean="0"/>
                        <a:t>9</a:t>
                      </a:r>
                      <a:r>
                        <a:rPr lang="en-US" altLang="zh-TW" sz="1600" baseline="0" dirty="0" smtClean="0"/>
                        <a:t>}</a:t>
                      </a:r>
                      <a:endParaRPr lang="zh-TW" altLang="en-US" sz="1600" dirty="0"/>
                    </a:p>
                  </a:txBody>
                  <a:tcPr/>
                </a:tc>
                <a:tc>
                  <a:txBody>
                    <a:bodyPr/>
                    <a:lstStyle/>
                    <a:p>
                      <a:pPr algn="ctr"/>
                      <a:r>
                        <a:rPr lang="en-US" altLang="zh-TW" sz="1600" dirty="0" smtClean="0"/>
                        <a:t>1</a:t>
                      </a:r>
                      <a:endParaRPr lang="zh-TW" altLang="en-US" sz="1600" dirty="0"/>
                    </a:p>
                  </a:txBody>
                  <a:tcPr/>
                </a:tc>
                <a:tc>
                  <a:txBody>
                    <a:bodyPr/>
                    <a:lstStyle/>
                    <a:p>
                      <a:pPr algn="ctr"/>
                      <a:r>
                        <a:rPr lang="en-US" altLang="zh-TW" sz="1600" dirty="0" smtClean="0"/>
                        <a:t>1</a:t>
                      </a:r>
                      <a:endParaRPr lang="zh-TW" altLang="en-US" sz="1600" dirty="0"/>
                    </a:p>
                  </a:txBody>
                  <a:tcPr/>
                </a:tc>
              </a:tr>
              <a:tr h="370840">
                <a:tc>
                  <a:txBody>
                    <a:bodyPr/>
                    <a:lstStyle/>
                    <a:p>
                      <a:r>
                        <a:rPr lang="en-US" altLang="zh-TW" sz="1600" dirty="0" smtClean="0"/>
                        <a:t>{x</a:t>
                      </a:r>
                      <a:r>
                        <a:rPr lang="en-US" altLang="zh-TW" sz="1600" baseline="-25000" dirty="0" smtClean="0"/>
                        <a:t>2</a:t>
                      </a:r>
                      <a:r>
                        <a:rPr lang="en-US" altLang="zh-TW" sz="1600" dirty="0" smtClean="0"/>
                        <a:t>,x</a:t>
                      </a:r>
                      <a:r>
                        <a:rPr lang="en-US" altLang="zh-TW" sz="1600" baseline="-25000" dirty="0" smtClean="0"/>
                        <a:t>7</a:t>
                      </a:r>
                      <a:r>
                        <a:rPr lang="en-US" altLang="zh-TW" sz="1600" dirty="0" smtClean="0"/>
                        <a:t>,x</a:t>
                      </a:r>
                      <a:r>
                        <a:rPr lang="en-US" altLang="zh-TW" sz="1600" baseline="-25000" dirty="0" smtClean="0"/>
                        <a:t>10</a:t>
                      </a:r>
                      <a:r>
                        <a:rPr lang="en-US" altLang="zh-TW" sz="1600" dirty="0" smtClean="0"/>
                        <a:t>}</a:t>
                      </a:r>
                      <a:endParaRPr lang="zh-TW" altLang="en-US" sz="1600" dirty="0"/>
                    </a:p>
                  </a:txBody>
                  <a:tcPr/>
                </a:tc>
                <a:tc>
                  <a:txBody>
                    <a:bodyPr/>
                    <a:lstStyle/>
                    <a:p>
                      <a:pPr algn="ctr"/>
                      <a:r>
                        <a:rPr lang="en-US" altLang="zh-TW" sz="1600" dirty="0" smtClean="0"/>
                        <a:t>3</a:t>
                      </a:r>
                      <a:endParaRPr lang="zh-TW" altLang="en-US" sz="1600" dirty="0"/>
                    </a:p>
                  </a:txBody>
                  <a:tcPr/>
                </a:tc>
                <a:tc>
                  <a:txBody>
                    <a:bodyPr/>
                    <a:lstStyle/>
                    <a:p>
                      <a:pPr algn="ctr"/>
                      <a:r>
                        <a:rPr lang="en-US" altLang="zh-TW" sz="1600" dirty="0" smtClean="0"/>
                        <a:t>2</a:t>
                      </a:r>
                      <a:endParaRPr lang="zh-TW" altLang="en-US" sz="1600" dirty="0"/>
                    </a:p>
                  </a:txBody>
                  <a:tcPr/>
                </a:tc>
              </a:tr>
              <a:tr h="370840">
                <a:tc>
                  <a:txBody>
                    <a:bodyPr/>
                    <a:lstStyle/>
                    <a:p>
                      <a:r>
                        <a:rPr lang="en-US" altLang="zh-TW" sz="1600" dirty="0" smtClean="0"/>
                        <a:t>{x</a:t>
                      </a:r>
                      <a:r>
                        <a:rPr lang="en-US" altLang="zh-TW" sz="1600" baseline="-25000" dirty="0" smtClean="0"/>
                        <a:t>4</a:t>
                      </a:r>
                      <a:r>
                        <a:rPr lang="en-US" altLang="zh-TW" sz="1600" dirty="0" smtClean="0"/>
                        <a:t>}</a:t>
                      </a:r>
                      <a:endParaRPr lang="zh-TW" altLang="en-US" sz="1600" dirty="0"/>
                    </a:p>
                  </a:txBody>
                  <a:tcPr/>
                </a:tc>
                <a:tc>
                  <a:txBody>
                    <a:bodyPr/>
                    <a:lstStyle/>
                    <a:p>
                      <a:pPr algn="ctr"/>
                      <a:r>
                        <a:rPr lang="en-US" altLang="zh-TW" sz="1600" dirty="0" smtClean="0"/>
                        <a:t>2</a:t>
                      </a:r>
                      <a:endParaRPr lang="zh-TW" altLang="en-US" sz="1600" dirty="0"/>
                    </a:p>
                  </a:txBody>
                  <a:tcPr/>
                </a:tc>
                <a:tc>
                  <a:txBody>
                    <a:bodyPr/>
                    <a:lstStyle/>
                    <a:p>
                      <a:pPr algn="ctr"/>
                      <a:r>
                        <a:rPr lang="en-US" altLang="zh-TW" sz="1600" dirty="0" smtClean="0"/>
                        <a:t>2</a:t>
                      </a:r>
                      <a:endParaRPr lang="zh-TW" altLang="en-US" sz="1600" dirty="0"/>
                    </a:p>
                  </a:txBody>
                  <a:tcPr/>
                </a:tc>
              </a:tr>
              <a:tr h="370840">
                <a:tc>
                  <a:txBody>
                    <a:bodyPr/>
                    <a:lstStyle/>
                    <a:p>
                      <a:r>
                        <a:rPr lang="en-US" altLang="zh-TW" sz="1600" dirty="0" smtClean="0"/>
                        <a:t>{x</a:t>
                      </a:r>
                      <a:r>
                        <a:rPr lang="en-US" altLang="zh-TW" sz="1600" baseline="-25000" dirty="0" smtClean="0"/>
                        <a:t>5</a:t>
                      </a:r>
                      <a:r>
                        <a:rPr lang="en-US" altLang="zh-TW" sz="1600" dirty="0" smtClean="0"/>
                        <a:t>, x</a:t>
                      </a:r>
                      <a:r>
                        <a:rPr lang="en-US" altLang="zh-TW" sz="1600" baseline="-25000" dirty="0" smtClean="0"/>
                        <a:t>6</a:t>
                      </a:r>
                      <a:r>
                        <a:rPr lang="en-US" altLang="zh-TW" sz="1600" dirty="0" smtClean="0"/>
                        <a:t>,</a:t>
                      </a:r>
                      <a:r>
                        <a:rPr lang="en-US" altLang="zh-TW" sz="1600" baseline="0" dirty="0" smtClean="0"/>
                        <a:t> x</a:t>
                      </a:r>
                      <a:r>
                        <a:rPr lang="en-US" altLang="zh-TW" sz="1600" baseline="-25000" dirty="0" smtClean="0"/>
                        <a:t>8</a:t>
                      </a:r>
                      <a:r>
                        <a:rPr lang="en-US" altLang="zh-TW" sz="1600" baseline="0" dirty="0" smtClean="0"/>
                        <a:t>}</a:t>
                      </a:r>
                      <a:endParaRPr lang="zh-TW" altLang="en-US" sz="1600" dirty="0">
                        <a:solidFill>
                          <a:schemeClr val="tx1"/>
                        </a:solidFill>
                      </a:endParaRPr>
                    </a:p>
                  </a:txBody>
                  <a:tcPr/>
                </a:tc>
                <a:tc>
                  <a:txBody>
                    <a:bodyPr/>
                    <a:lstStyle/>
                    <a:p>
                      <a:pPr algn="ctr"/>
                      <a:r>
                        <a:rPr lang="en-US" altLang="zh-TW" sz="1600" dirty="0" smtClean="0"/>
                        <a:t>1</a:t>
                      </a:r>
                      <a:endParaRPr lang="zh-TW" altLang="en-US" sz="1600" dirty="0">
                        <a:solidFill>
                          <a:schemeClr val="tx1"/>
                        </a:solidFill>
                      </a:endParaRPr>
                    </a:p>
                  </a:txBody>
                  <a:tcPr/>
                </a:tc>
                <a:tc>
                  <a:txBody>
                    <a:bodyPr/>
                    <a:lstStyle/>
                    <a:p>
                      <a:pPr algn="ctr"/>
                      <a:r>
                        <a:rPr lang="en-US" altLang="zh-TW" sz="1600" dirty="0" smtClean="0"/>
                        <a:t>1</a:t>
                      </a:r>
                      <a:endParaRPr lang="zh-TW" altLang="en-US" sz="1600" dirty="0">
                        <a:solidFill>
                          <a:schemeClr val="tx1"/>
                        </a:solidFill>
                      </a:endParaRPr>
                    </a:p>
                  </a:txBody>
                  <a:tcPr/>
                </a:tc>
              </a:tr>
            </a:tbl>
          </a:graphicData>
        </a:graphic>
      </p:graphicFrame>
      <p:graphicFrame>
        <p:nvGraphicFramePr>
          <p:cNvPr id="6" name="表格 5"/>
          <p:cNvGraphicFramePr>
            <a:graphicFrameLocks noGrp="1"/>
          </p:cNvGraphicFramePr>
          <p:nvPr/>
        </p:nvGraphicFramePr>
        <p:xfrm>
          <a:off x="179512" y="2249016"/>
          <a:ext cx="2664296" cy="2011680"/>
        </p:xfrm>
        <a:graphic>
          <a:graphicData uri="http://schemas.openxmlformats.org/drawingml/2006/table">
            <a:tbl>
              <a:tblPr firstRow="1" bandRow="1">
                <a:tableStyleId>{00A15C55-8517-42AA-B614-E9B94910E393}</a:tableStyleId>
              </a:tblPr>
              <a:tblGrid>
                <a:gridCol w="1268712"/>
                <a:gridCol w="697792"/>
                <a:gridCol w="697792"/>
              </a:tblGrid>
              <a:tr h="312035">
                <a:tc>
                  <a:txBody>
                    <a:bodyPr/>
                    <a:lstStyle/>
                    <a:p>
                      <a:pPr algn="ctr"/>
                      <a:r>
                        <a:rPr lang="en-US" altLang="zh-TW" sz="1600" baseline="0" dirty="0" smtClean="0"/>
                        <a:t>remove a</a:t>
                      </a:r>
                      <a:r>
                        <a:rPr lang="en-US" altLang="zh-TW" sz="1600" baseline="-25000" dirty="0" smtClean="0"/>
                        <a:t>1</a:t>
                      </a:r>
                      <a:endParaRPr lang="zh-TW" altLang="en-US" sz="1600" baseline="-25000" dirty="0"/>
                    </a:p>
                  </a:txBody>
                  <a:tcPr/>
                </a:tc>
                <a:tc>
                  <a:txBody>
                    <a:bodyPr/>
                    <a:lstStyle/>
                    <a:p>
                      <a:pPr algn="ctr"/>
                      <a:r>
                        <a:rPr lang="en-US" altLang="zh-TW" sz="1600" dirty="0" smtClean="0"/>
                        <a:t>a</a:t>
                      </a:r>
                      <a:r>
                        <a:rPr lang="en-US" altLang="zh-TW" sz="1600" baseline="-25000" dirty="0" smtClean="0"/>
                        <a:t>2</a:t>
                      </a:r>
                      <a:endParaRPr lang="zh-TW" altLang="en-US" sz="1600" baseline="-25000" dirty="0"/>
                    </a:p>
                  </a:txBody>
                  <a:tcPr/>
                </a:tc>
                <a:tc>
                  <a:txBody>
                    <a:bodyPr/>
                    <a:lstStyle/>
                    <a:p>
                      <a:pPr algn="ctr"/>
                      <a:r>
                        <a:rPr lang="en-US" altLang="zh-TW" sz="1600" dirty="0" smtClean="0"/>
                        <a:t>a</a:t>
                      </a:r>
                      <a:r>
                        <a:rPr lang="en-US" altLang="zh-TW" sz="1600" baseline="-25000" dirty="0" smtClean="0"/>
                        <a:t>3</a:t>
                      </a:r>
                      <a:endParaRPr lang="zh-TW" altLang="en-US" sz="1600" baseline="-25000" dirty="0"/>
                    </a:p>
                  </a:txBody>
                  <a:tcPr/>
                </a:tc>
              </a:tr>
              <a:tr h="312035">
                <a:tc>
                  <a:txBody>
                    <a:bodyPr/>
                    <a:lstStyle/>
                    <a:p>
                      <a:r>
                        <a:rPr lang="en-US" altLang="zh-TW" sz="1600" dirty="0" smtClean="0"/>
                        <a:t>{x</a:t>
                      </a:r>
                      <a:r>
                        <a:rPr lang="en-US" altLang="zh-TW" sz="1600" baseline="-25000" dirty="0" smtClean="0"/>
                        <a:t>1</a:t>
                      </a:r>
                      <a:r>
                        <a:rPr lang="en-US" altLang="zh-TW" sz="1600" dirty="0" smtClean="0"/>
                        <a:t>,x</a:t>
                      </a:r>
                      <a:r>
                        <a:rPr lang="en-US" altLang="zh-TW" sz="1600" baseline="-25000" dirty="0" smtClean="0"/>
                        <a:t>3</a:t>
                      </a:r>
                      <a:r>
                        <a:rPr lang="en-US" altLang="zh-TW" sz="1600" dirty="0" smtClean="0"/>
                        <a:t>,</a:t>
                      </a:r>
                      <a:r>
                        <a:rPr lang="en-US" altLang="zh-TW" sz="1600" baseline="0" dirty="0" smtClean="0"/>
                        <a:t>x</a:t>
                      </a:r>
                      <a:r>
                        <a:rPr lang="en-US" altLang="zh-TW" sz="1600" baseline="-25000" dirty="0" smtClean="0"/>
                        <a:t>9</a:t>
                      </a:r>
                      <a:r>
                        <a:rPr lang="en-US" altLang="zh-TW" sz="1600" baseline="0" dirty="0" smtClean="0"/>
                        <a:t>}</a:t>
                      </a:r>
                      <a:endParaRPr lang="zh-TW" altLang="en-US" sz="1600" dirty="0"/>
                    </a:p>
                  </a:txBody>
                  <a:tcPr/>
                </a:tc>
                <a:tc>
                  <a:txBody>
                    <a:bodyPr/>
                    <a:lstStyle/>
                    <a:p>
                      <a:pPr algn="ctr"/>
                      <a:r>
                        <a:rPr lang="en-US" altLang="zh-TW" sz="1600" dirty="0" smtClean="0"/>
                        <a:t>1</a:t>
                      </a:r>
                      <a:endParaRPr lang="zh-TW" altLang="en-US" sz="1600" dirty="0"/>
                    </a:p>
                  </a:txBody>
                  <a:tcPr/>
                </a:tc>
                <a:tc>
                  <a:txBody>
                    <a:bodyPr/>
                    <a:lstStyle/>
                    <a:p>
                      <a:pPr algn="ctr"/>
                      <a:r>
                        <a:rPr lang="en-US" altLang="zh-TW" sz="1600" dirty="0" smtClean="0"/>
                        <a:t>3</a:t>
                      </a:r>
                      <a:endParaRPr lang="zh-TW" altLang="en-US" sz="1600" dirty="0"/>
                    </a:p>
                  </a:txBody>
                  <a:tcPr/>
                </a:tc>
              </a:tr>
              <a:tr h="312035">
                <a:tc>
                  <a:txBody>
                    <a:bodyPr/>
                    <a:lstStyle/>
                    <a:p>
                      <a:r>
                        <a:rPr lang="en-US" altLang="zh-TW" sz="1600" dirty="0" smtClean="0"/>
                        <a:t>{x</a:t>
                      </a:r>
                      <a:r>
                        <a:rPr lang="en-US" altLang="zh-TW" sz="1600" baseline="-25000" dirty="0" smtClean="0"/>
                        <a:t>6</a:t>
                      </a:r>
                      <a:r>
                        <a:rPr lang="en-US" altLang="zh-TW" sz="1600" dirty="0" smtClean="0"/>
                        <a:t>}</a:t>
                      </a:r>
                      <a:endParaRPr lang="zh-TW" altLang="en-US" sz="1600" dirty="0"/>
                    </a:p>
                  </a:txBody>
                  <a:tcPr/>
                </a:tc>
                <a:tc>
                  <a:txBody>
                    <a:bodyPr/>
                    <a:lstStyle/>
                    <a:p>
                      <a:pPr algn="ctr"/>
                      <a:r>
                        <a:rPr lang="en-US" altLang="zh-TW" sz="1600" dirty="0" smtClean="0"/>
                        <a:t>1</a:t>
                      </a:r>
                      <a:endParaRPr lang="zh-TW" altLang="en-US" sz="1600" dirty="0"/>
                    </a:p>
                  </a:txBody>
                  <a:tcPr/>
                </a:tc>
                <a:tc>
                  <a:txBody>
                    <a:bodyPr/>
                    <a:lstStyle/>
                    <a:p>
                      <a:pPr algn="ctr"/>
                      <a:r>
                        <a:rPr lang="en-US" altLang="zh-TW" sz="1600" dirty="0" smtClean="0"/>
                        <a:t>2</a:t>
                      </a:r>
                      <a:endParaRPr lang="zh-TW" altLang="en-US" sz="1600" dirty="0"/>
                    </a:p>
                  </a:txBody>
                  <a:tcPr/>
                </a:tc>
              </a:tr>
              <a:tr h="312035">
                <a:tc>
                  <a:txBody>
                    <a:bodyPr/>
                    <a:lstStyle/>
                    <a:p>
                      <a:r>
                        <a:rPr lang="en-US" altLang="zh-TW" sz="1600" dirty="0" smtClean="0"/>
                        <a:t>{x</a:t>
                      </a:r>
                      <a:r>
                        <a:rPr lang="en-US" altLang="zh-TW" sz="1600" baseline="-25000" dirty="0" smtClean="0"/>
                        <a:t>5, </a:t>
                      </a:r>
                      <a:r>
                        <a:rPr lang="en-US" altLang="zh-TW" sz="1600" baseline="0" dirty="0" smtClean="0">
                          <a:solidFill>
                            <a:schemeClr val="tx1"/>
                          </a:solidFill>
                        </a:rPr>
                        <a:t>x</a:t>
                      </a:r>
                      <a:r>
                        <a:rPr lang="en-US" altLang="zh-TW" sz="1600" baseline="-25000" dirty="0" smtClean="0">
                          <a:solidFill>
                            <a:schemeClr val="tx1"/>
                          </a:solidFill>
                        </a:rPr>
                        <a:t>8</a:t>
                      </a:r>
                      <a:r>
                        <a:rPr lang="en-US" altLang="zh-TW" sz="1600" dirty="0" smtClean="0"/>
                        <a:t>}</a:t>
                      </a:r>
                      <a:endParaRPr lang="zh-TW" altLang="en-US" sz="1600" dirty="0"/>
                    </a:p>
                  </a:txBody>
                  <a:tcPr/>
                </a:tc>
                <a:tc>
                  <a:txBody>
                    <a:bodyPr/>
                    <a:lstStyle/>
                    <a:p>
                      <a:pPr algn="ctr"/>
                      <a:r>
                        <a:rPr lang="en-US" altLang="zh-TW" sz="1600" dirty="0" smtClean="0"/>
                        <a:t>1</a:t>
                      </a:r>
                      <a:endParaRPr lang="zh-TW" altLang="en-US" sz="1600" dirty="0"/>
                    </a:p>
                  </a:txBody>
                  <a:tcPr/>
                </a:tc>
                <a:tc>
                  <a:txBody>
                    <a:bodyPr/>
                    <a:lstStyle/>
                    <a:p>
                      <a:pPr algn="ctr"/>
                      <a:r>
                        <a:rPr lang="en-US" altLang="zh-TW" sz="1600" dirty="0" smtClean="0"/>
                        <a:t>4</a:t>
                      </a:r>
                      <a:endParaRPr lang="zh-TW" altLang="en-US" sz="1600" dirty="0"/>
                    </a:p>
                  </a:txBody>
                  <a:tcPr/>
                </a:tc>
              </a:tr>
              <a:tr h="312035">
                <a:tc>
                  <a:txBody>
                    <a:bodyPr/>
                    <a:lstStyle/>
                    <a:p>
                      <a:r>
                        <a:rPr lang="en-US" altLang="zh-TW" sz="1600" dirty="0" smtClean="0">
                          <a:solidFill>
                            <a:schemeClr val="tx1"/>
                          </a:solidFill>
                        </a:rPr>
                        <a:t>{x</a:t>
                      </a:r>
                      <a:r>
                        <a:rPr lang="en-US" altLang="zh-TW" sz="1600" baseline="-25000" dirty="0" smtClean="0">
                          <a:solidFill>
                            <a:schemeClr val="tx1"/>
                          </a:solidFill>
                        </a:rPr>
                        <a:t>2</a:t>
                      </a:r>
                      <a:r>
                        <a:rPr lang="en-US" altLang="zh-TW" sz="1600" dirty="0" smtClean="0">
                          <a:solidFill>
                            <a:schemeClr val="tx1"/>
                          </a:solidFill>
                        </a:rPr>
                        <a:t>, x</a:t>
                      </a:r>
                      <a:r>
                        <a:rPr lang="en-US" altLang="zh-TW" sz="1600" baseline="-25000" dirty="0" smtClean="0">
                          <a:solidFill>
                            <a:schemeClr val="tx1"/>
                          </a:solidFill>
                        </a:rPr>
                        <a:t>7</a:t>
                      </a:r>
                      <a:r>
                        <a:rPr lang="en-US" altLang="zh-TW" sz="1600" dirty="0" smtClean="0">
                          <a:solidFill>
                            <a:schemeClr val="tx1"/>
                          </a:solidFill>
                        </a:rPr>
                        <a:t>, x</a:t>
                      </a:r>
                      <a:r>
                        <a:rPr lang="en-US" altLang="zh-TW" sz="1600" baseline="-25000" dirty="0" smtClean="0">
                          <a:solidFill>
                            <a:schemeClr val="tx1"/>
                          </a:solidFill>
                        </a:rPr>
                        <a:t>10</a:t>
                      </a:r>
                      <a:r>
                        <a:rPr lang="en-US" altLang="zh-TW" sz="1600" baseline="0" dirty="0" smtClean="0">
                          <a:solidFill>
                            <a:schemeClr val="tx1"/>
                          </a:solidFill>
                        </a:rPr>
                        <a:t>}</a:t>
                      </a:r>
                      <a:endParaRPr lang="zh-TW" altLang="en-US" sz="1600" dirty="0">
                        <a:solidFill>
                          <a:schemeClr val="tx1"/>
                        </a:solidFill>
                      </a:endParaRPr>
                    </a:p>
                  </a:txBody>
                  <a:tcPr/>
                </a:tc>
                <a:tc>
                  <a:txBody>
                    <a:bodyPr/>
                    <a:lstStyle/>
                    <a:p>
                      <a:pPr algn="ctr"/>
                      <a:r>
                        <a:rPr lang="en-US" altLang="zh-TW" sz="1600" dirty="0" smtClean="0"/>
                        <a:t>2</a:t>
                      </a:r>
                      <a:endParaRPr lang="zh-TW" altLang="en-US" sz="1600" dirty="0"/>
                    </a:p>
                  </a:txBody>
                  <a:tcPr/>
                </a:tc>
                <a:tc>
                  <a:txBody>
                    <a:bodyPr/>
                    <a:lstStyle/>
                    <a:p>
                      <a:pPr algn="ctr"/>
                      <a:r>
                        <a:rPr lang="en-US" altLang="zh-TW" sz="1600" dirty="0" smtClean="0"/>
                        <a:t>1</a:t>
                      </a:r>
                      <a:endParaRPr lang="zh-TW" altLang="en-US" sz="1600" dirty="0"/>
                    </a:p>
                  </a:txBody>
                  <a:tcPr/>
                </a:tc>
              </a:tr>
              <a:tr h="312035">
                <a:tc>
                  <a:txBody>
                    <a:bodyPr/>
                    <a:lstStyle/>
                    <a:p>
                      <a:r>
                        <a:rPr lang="en-US" altLang="zh-TW" sz="1600" dirty="0" smtClean="0">
                          <a:solidFill>
                            <a:schemeClr val="tx1"/>
                          </a:solidFill>
                        </a:rPr>
                        <a:t>{x</a:t>
                      </a:r>
                      <a:r>
                        <a:rPr lang="en-US" altLang="zh-TW" sz="1600" baseline="-25000" dirty="0" smtClean="0">
                          <a:solidFill>
                            <a:schemeClr val="tx1"/>
                          </a:solidFill>
                        </a:rPr>
                        <a:t>4</a:t>
                      </a:r>
                      <a:r>
                        <a:rPr lang="en-US" altLang="zh-TW" sz="1600" dirty="0" smtClean="0">
                          <a:solidFill>
                            <a:schemeClr val="tx1"/>
                          </a:solidFill>
                        </a:rPr>
                        <a:t>}</a:t>
                      </a:r>
                      <a:endParaRPr lang="zh-TW" altLang="en-US" sz="1600" dirty="0">
                        <a:solidFill>
                          <a:schemeClr val="tx1"/>
                        </a:solidFill>
                      </a:endParaRPr>
                    </a:p>
                  </a:txBody>
                  <a:tcPr/>
                </a:tc>
                <a:tc>
                  <a:txBody>
                    <a:bodyPr/>
                    <a:lstStyle/>
                    <a:p>
                      <a:pPr algn="ctr"/>
                      <a:r>
                        <a:rPr lang="en-US" altLang="zh-TW" sz="1600" dirty="0" smtClean="0"/>
                        <a:t>2</a:t>
                      </a:r>
                      <a:endParaRPr lang="zh-TW" altLang="en-US" sz="1600" dirty="0"/>
                    </a:p>
                  </a:txBody>
                  <a:tcPr/>
                </a:tc>
                <a:tc>
                  <a:txBody>
                    <a:bodyPr/>
                    <a:lstStyle/>
                    <a:p>
                      <a:pPr algn="ctr"/>
                      <a:r>
                        <a:rPr lang="en-US" altLang="zh-TW" sz="1600" dirty="0" smtClean="0"/>
                        <a:t>3</a:t>
                      </a:r>
                      <a:endParaRPr lang="zh-TW" altLang="en-US" sz="1600" dirty="0"/>
                    </a:p>
                  </a:txBody>
                  <a:tcPr/>
                </a:tc>
              </a:tr>
            </a:tbl>
          </a:graphicData>
        </a:graphic>
      </p:graphicFrame>
      <p:graphicFrame>
        <p:nvGraphicFramePr>
          <p:cNvPr id="7" name="表格 6"/>
          <p:cNvGraphicFramePr>
            <a:graphicFrameLocks noGrp="1"/>
          </p:cNvGraphicFramePr>
          <p:nvPr/>
        </p:nvGraphicFramePr>
        <p:xfrm>
          <a:off x="2915816" y="2262480"/>
          <a:ext cx="3024336" cy="1854200"/>
        </p:xfrm>
        <a:graphic>
          <a:graphicData uri="http://schemas.openxmlformats.org/drawingml/2006/table">
            <a:tbl>
              <a:tblPr firstRow="1" bandRow="1">
                <a:tableStyleId>{7DF18680-E054-41AD-8BC1-D1AEF772440D}</a:tableStyleId>
              </a:tblPr>
              <a:tblGrid>
                <a:gridCol w="1440160"/>
                <a:gridCol w="792088"/>
                <a:gridCol w="792088"/>
              </a:tblGrid>
              <a:tr h="370840">
                <a:tc>
                  <a:txBody>
                    <a:bodyPr/>
                    <a:lstStyle/>
                    <a:p>
                      <a:pPr algn="ctr"/>
                      <a:r>
                        <a:rPr lang="en-US" altLang="zh-TW" sz="1600" baseline="0" dirty="0" smtClean="0"/>
                        <a:t>remove a</a:t>
                      </a:r>
                      <a:r>
                        <a:rPr lang="en-US" altLang="zh-TW" sz="1600" baseline="-25000" dirty="0" smtClean="0"/>
                        <a:t>2</a:t>
                      </a:r>
                      <a:endParaRPr lang="zh-TW" altLang="en-US" sz="1600" baseline="-25000" dirty="0"/>
                    </a:p>
                  </a:txBody>
                  <a:tcPr/>
                </a:tc>
                <a:tc>
                  <a:txBody>
                    <a:bodyPr/>
                    <a:lstStyle/>
                    <a:p>
                      <a:pPr algn="ctr"/>
                      <a:r>
                        <a:rPr lang="en-US" altLang="zh-TW" sz="1600" dirty="0" smtClean="0"/>
                        <a:t>a</a:t>
                      </a:r>
                      <a:r>
                        <a:rPr lang="en-US" altLang="zh-TW" sz="1600" baseline="-25000" dirty="0" smtClean="0"/>
                        <a:t>1</a:t>
                      </a:r>
                      <a:endParaRPr lang="zh-TW" altLang="en-US" sz="1600" baseline="-25000" dirty="0"/>
                    </a:p>
                  </a:txBody>
                  <a:tcPr/>
                </a:tc>
                <a:tc>
                  <a:txBody>
                    <a:bodyPr/>
                    <a:lstStyle/>
                    <a:p>
                      <a:pPr algn="ctr"/>
                      <a:r>
                        <a:rPr lang="en-US" altLang="zh-TW" sz="1600" dirty="0" smtClean="0"/>
                        <a:t>a</a:t>
                      </a:r>
                      <a:r>
                        <a:rPr lang="en-US" altLang="zh-TW" sz="1600" baseline="-25000" dirty="0" smtClean="0"/>
                        <a:t>3</a:t>
                      </a:r>
                      <a:endParaRPr lang="zh-TW" altLang="en-US" sz="1600" baseline="-25000" dirty="0"/>
                    </a:p>
                  </a:txBody>
                  <a:tcPr/>
                </a:tc>
              </a:tr>
              <a:tr h="370840">
                <a:tc>
                  <a:txBody>
                    <a:bodyPr/>
                    <a:lstStyle/>
                    <a:p>
                      <a:r>
                        <a:rPr lang="en-US" altLang="zh-TW" sz="1600" dirty="0" smtClean="0"/>
                        <a:t>{x</a:t>
                      </a:r>
                      <a:r>
                        <a:rPr lang="en-US" altLang="zh-TW" sz="1600" baseline="-25000" dirty="0" smtClean="0"/>
                        <a:t>6</a:t>
                      </a:r>
                      <a:r>
                        <a:rPr lang="en-US" altLang="zh-TW" sz="1600" baseline="0" dirty="0" smtClean="0"/>
                        <a:t>}</a:t>
                      </a:r>
                      <a:endParaRPr lang="zh-TW" altLang="en-US" sz="1600"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r>
              <a:tr h="370840">
                <a:tc>
                  <a:txBody>
                    <a:bodyPr/>
                    <a:lstStyle/>
                    <a:p>
                      <a:r>
                        <a:rPr lang="en-US" altLang="zh-TW" sz="1600" dirty="0" smtClean="0"/>
                        <a:t>{x</a:t>
                      </a:r>
                      <a:r>
                        <a:rPr lang="en-US" altLang="zh-TW" sz="1600" baseline="-25000" dirty="0" smtClean="0"/>
                        <a:t>5</a:t>
                      </a:r>
                      <a:r>
                        <a:rPr lang="en-US" altLang="zh-TW" sz="1600" dirty="0" smtClean="0"/>
                        <a:t>,x</a:t>
                      </a:r>
                      <a:r>
                        <a:rPr lang="en-US" altLang="zh-TW" sz="1600" baseline="-25000" dirty="0" smtClean="0"/>
                        <a:t>8</a:t>
                      </a:r>
                      <a:r>
                        <a:rPr lang="en-US" altLang="zh-TW" sz="1600" dirty="0" smtClean="0"/>
                        <a:t>}</a:t>
                      </a:r>
                      <a:endParaRPr lang="zh-TW" altLang="en-US" sz="1600" dirty="0"/>
                    </a:p>
                  </a:txBody>
                  <a:tcPr/>
                </a:tc>
                <a:tc>
                  <a:txBody>
                    <a:bodyPr/>
                    <a:lstStyle/>
                    <a:p>
                      <a:pPr algn="ctr"/>
                      <a:r>
                        <a:rPr lang="en-US" altLang="zh-TW" sz="1600" dirty="0" smtClean="0"/>
                        <a:t>1</a:t>
                      </a:r>
                      <a:endParaRPr lang="zh-TW" altLang="en-US" sz="1600" dirty="0"/>
                    </a:p>
                  </a:txBody>
                  <a:tcPr/>
                </a:tc>
                <a:tc>
                  <a:txBody>
                    <a:bodyPr/>
                    <a:lstStyle/>
                    <a:p>
                      <a:pPr algn="ctr"/>
                      <a:r>
                        <a:rPr lang="en-US" altLang="zh-TW" sz="1600" dirty="0" smtClean="0"/>
                        <a:t>4</a:t>
                      </a:r>
                      <a:endParaRPr lang="zh-TW" altLang="en-US" sz="1600" dirty="0"/>
                    </a:p>
                  </a:txBody>
                  <a:tcPr/>
                </a:tc>
              </a:tr>
              <a:tr h="370840">
                <a:tc>
                  <a:txBody>
                    <a:bodyPr/>
                    <a:lstStyle/>
                    <a:p>
                      <a:r>
                        <a:rPr lang="en-US" altLang="zh-TW" sz="1600" dirty="0" smtClean="0"/>
                        <a:t>{x</a:t>
                      </a:r>
                      <a:r>
                        <a:rPr lang="en-US" altLang="zh-TW" sz="1600" baseline="-25000" dirty="0" smtClean="0"/>
                        <a:t>1</a:t>
                      </a:r>
                      <a:r>
                        <a:rPr lang="en-US" altLang="zh-TW" sz="1600" dirty="0" smtClean="0"/>
                        <a:t>, x</a:t>
                      </a:r>
                      <a:r>
                        <a:rPr lang="en-US" altLang="zh-TW" sz="1600" baseline="-25000" dirty="0" smtClean="0"/>
                        <a:t>3</a:t>
                      </a:r>
                      <a:r>
                        <a:rPr lang="en-US" altLang="zh-TW" sz="1600" dirty="0" smtClean="0"/>
                        <a:t>,x</a:t>
                      </a:r>
                      <a:r>
                        <a:rPr lang="en-US" altLang="zh-TW" sz="1600" baseline="-25000" dirty="0" smtClean="0"/>
                        <a:t>4</a:t>
                      </a:r>
                      <a:r>
                        <a:rPr lang="en-US" altLang="zh-TW" sz="1600" dirty="0" smtClean="0"/>
                        <a:t>, x</a:t>
                      </a:r>
                      <a:r>
                        <a:rPr lang="en-US" altLang="zh-TW" sz="1600" baseline="-25000" dirty="0" smtClean="0"/>
                        <a:t>9</a:t>
                      </a:r>
                      <a:r>
                        <a:rPr lang="en-US" altLang="zh-TW" sz="1600" dirty="0" smtClean="0"/>
                        <a:t>}</a:t>
                      </a:r>
                      <a:endParaRPr lang="zh-TW" altLang="en-US" sz="1600" dirty="0"/>
                    </a:p>
                  </a:txBody>
                  <a:tcPr/>
                </a:tc>
                <a:tc>
                  <a:txBody>
                    <a:bodyPr/>
                    <a:lstStyle/>
                    <a:p>
                      <a:pPr algn="ctr"/>
                      <a:r>
                        <a:rPr lang="en-US" altLang="zh-TW" sz="1600" dirty="0" smtClean="0"/>
                        <a:t>2</a:t>
                      </a:r>
                      <a:endParaRPr lang="zh-TW" altLang="en-US" sz="1600" dirty="0"/>
                    </a:p>
                  </a:txBody>
                  <a:tcPr/>
                </a:tc>
                <a:tc>
                  <a:txBody>
                    <a:bodyPr/>
                    <a:lstStyle/>
                    <a:p>
                      <a:pPr algn="ctr"/>
                      <a:r>
                        <a:rPr lang="en-US" altLang="zh-TW" sz="1600" dirty="0" smtClean="0"/>
                        <a:t>3</a:t>
                      </a:r>
                      <a:endParaRPr lang="zh-TW" altLang="en-US" sz="1600" dirty="0"/>
                    </a:p>
                  </a:txBody>
                  <a:tcPr/>
                </a:tc>
              </a:tr>
              <a:tr h="370840">
                <a:tc>
                  <a:txBody>
                    <a:bodyPr/>
                    <a:lstStyle/>
                    <a:p>
                      <a:r>
                        <a:rPr lang="en-US" altLang="zh-TW" sz="1600" dirty="0" smtClean="0"/>
                        <a:t>{x</a:t>
                      </a:r>
                      <a:r>
                        <a:rPr lang="en-US" altLang="zh-TW" sz="1600" baseline="-25000" dirty="0" smtClean="0"/>
                        <a:t>2</a:t>
                      </a:r>
                      <a:r>
                        <a:rPr lang="en-US" altLang="zh-TW" sz="1600" dirty="0" smtClean="0"/>
                        <a:t>, x</a:t>
                      </a:r>
                      <a:r>
                        <a:rPr lang="en-US" altLang="zh-TW" sz="1600" baseline="-25000" dirty="0" smtClean="0"/>
                        <a:t>7</a:t>
                      </a:r>
                      <a:r>
                        <a:rPr lang="en-US" altLang="zh-TW" sz="1600" dirty="0" smtClean="0"/>
                        <a:t>,</a:t>
                      </a:r>
                      <a:r>
                        <a:rPr lang="en-US" altLang="zh-TW" sz="1600" baseline="0" dirty="0" smtClean="0"/>
                        <a:t> x</a:t>
                      </a:r>
                      <a:r>
                        <a:rPr lang="en-US" altLang="zh-TW" sz="1600" baseline="-25000" dirty="0" smtClean="0"/>
                        <a:t>10</a:t>
                      </a:r>
                      <a:r>
                        <a:rPr lang="en-US" altLang="zh-TW" sz="1600" baseline="0" dirty="0" smtClean="0"/>
                        <a:t>}</a:t>
                      </a:r>
                      <a:endParaRPr lang="zh-TW" altLang="en-US" sz="1600" dirty="0">
                        <a:solidFill>
                          <a:schemeClr val="tx1"/>
                        </a:solidFill>
                      </a:endParaRPr>
                    </a:p>
                  </a:txBody>
                  <a:tcPr/>
                </a:tc>
                <a:tc>
                  <a:txBody>
                    <a:bodyPr/>
                    <a:lstStyle/>
                    <a:p>
                      <a:pPr algn="ctr"/>
                      <a:r>
                        <a:rPr lang="en-US" altLang="zh-TW" sz="1600" dirty="0" smtClean="0"/>
                        <a:t>3</a:t>
                      </a:r>
                      <a:endParaRPr lang="zh-TW" altLang="en-US" sz="1600" dirty="0">
                        <a:solidFill>
                          <a:schemeClr val="tx1"/>
                        </a:solidFill>
                      </a:endParaRPr>
                    </a:p>
                  </a:txBody>
                  <a:tcPr/>
                </a:tc>
                <a:tc>
                  <a:txBody>
                    <a:bodyPr/>
                    <a:lstStyle/>
                    <a:p>
                      <a:pPr algn="ctr"/>
                      <a:r>
                        <a:rPr lang="en-US" altLang="zh-TW" sz="1600" dirty="0" smtClean="0"/>
                        <a:t>1</a:t>
                      </a:r>
                      <a:endParaRPr lang="zh-TW" altLang="en-US" sz="1600" dirty="0">
                        <a:solidFill>
                          <a:schemeClr val="tx1"/>
                        </a:solidFill>
                      </a:endParaRPr>
                    </a:p>
                  </a:txBody>
                  <a:tcPr/>
                </a:tc>
              </a:tr>
            </a:tbl>
          </a:graphicData>
        </a:graphic>
      </p:graphicFrame>
      <p:graphicFrame>
        <p:nvGraphicFramePr>
          <p:cNvPr id="8" name="表格 7"/>
          <p:cNvGraphicFramePr>
            <a:graphicFrameLocks noGrp="1"/>
          </p:cNvGraphicFramePr>
          <p:nvPr/>
        </p:nvGraphicFramePr>
        <p:xfrm>
          <a:off x="323528" y="4437112"/>
          <a:ext cx="8136907" cy="1112520"/>
        </p:xfrm>
        <a:graphic>
          <a:graphicData uri="http://schemas.openxmlformats.org/drawingml/2006/table">
            <a:tbl>
              <a:tblPr firstRow="1" bandRow="1">
                <a:tableStyleId>{616DA210-FB5B-4158-B5E0-FEB733F419BA}</a:tableStyleId>
              </a:tblPr>
              <a:tblGrid>
                <a:gridCol w="2664295"/>
                <a:gridCol w="1368153"/>
                <a:gridCol w="1368153"/>
                <a:gridCol w="1368153"/>
                <a:gridCol w="1368153"/>
              </a:tblGrid>
              <a:tr h="370840">
                <a:tc>
                  <a:txBody>
                    <a:bodyPr/>
                    <a:lstStyle/>
                    <a:p>
                      <a:endParaRPr lang="zh-TW" altLang="en-US" dirty="0"/>
                    </a:p>
                  </a:txBody>
                  <a:tcPr/>
                </a:tc>
                <a:tc gridSpan="4">
                  <a:txBody>
                    <a:bodyPr/>
                    <a:lstStyle/>
                    <a:p>
                      <a:pPr algn="ctr"/>
                      <a:r>
                        <a:rPr lang="en-US" altLang="zh-TW" dirty="0" smtClean="0"/>
                        <a:t>Removed attribute</a:t>
                      </a:r>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pPr algn="ctr"/>
                      <a:endParaRPr lang="zh-TW" altLang="en-US" dirty="0"/>
                    </a:p>
                  </a:txBody>
                  <a:tcPr/>
                </a:tc>
              </a:tr>
              <a:tr h="370840">
                <a:tc>
                  <a:txBody>
                    <a:bodyPr/>
                    <a:lstStyle/>
                    <a:p>
                      <a:endParaRPr lang="zh-TW" altLang="en-US" dirty="0"/>
                    </a:p>
                  </a:txBody>
                  <a:tcPr/>
                </a:tc>
                <a:tc>
                  <a:txBody>
                    <a:bodyPr/>
                    <a:lstStyle/>
                    <a:p>
                      <a:pPr algn="ctr"/>
                      <a:r>
                        <a:rPr lang="en-US" altLang="zh-TW" dirty="0" smtClean="0"/>
                        <a:t>None</a:t>
                      </a:r>
                      <a:endParaRPr lang="zh-TW" altLang="en-US" dirty="0"/>
                    </a:p>
                  </a:txBody>
                  <a:tcPr/>
                </a:tc>
                <a:tc>
                  <a:txBody>
                    <a:bodyPr/>
                    <a:lstStyle/>
                    <a:p>
                      <a:pPr algn="ctr"/>
                      <a:r>
                        <a:rPr lang="en-US" altLang="zh-TW" dirty="0" smtClean="0"/>
                        <a:t>a1</a:t>
                      </a:r>
                      <a:endParaRPr lang="zh-TW" altLang="en-US" dirty="0"/>
                    </a:p>
                  </a:txBody>
                  <a:tcPr/>
                </a:tc>
                <a:tc>
                  <a:txBody>
                    <a:bodyPr/>
                    <a:lstStyle/>
                    <a:p>
                      <a:pPr algn="ctr"/>
                      <a:r>
                        <a:rPr lang="en-US" altLang="zh-TW" dirty="0" smtClean="0"/>
                        <a:t>a2</a:t>
                      </a:r>
                      <a:endParaRPr lang="zh-TW" altLang="en-US" dirty="0"/>
                    </a:p>
                  </a:txBody>
                  <a:tcPr/>
                </a:tc>
                <a:tc>
                  <a:txBody>
                    <a:bodyPr/>
                    <a:lstStyle/>
                    <a:p>
                      <a:pPr algn="ctr"/>
                      <a:r>
                        <a:rPr lang="en-US" altLang="zh-TW" dirty="0" smtClean="0"/>
                        <a:t>a3</a:t>
                      </a:r>
                      <a:endParaRPr lang="zh-TW" altLang="en-US" dirty="0"/>
                    </a:p>
                  </a:txBody>
                  <a:tcPr/>
                </a:tc>
              </a:tr>
              <a:tr h="370840">
                <a:tc>
                  <a:txBody>
                    <a:bodyPr/>
                    <a:lstStyle/>
                    <a:p>
                      <a:pPr algn="ctr"/>
                      <a:r>
                        <a:rPr lang="en-US" altLang="zh-TW" dirty="0" smtClean="0"/>
                        <a:t># of elementary sets</a:t>
                      </a:r>
                      <a:endParaRPr lang="zh-TW" altLang="en-US" dirty="0"/>
                    </a:p>
                  </a:txBody>
                  <a:tcPr/>
                </a:tc>
                <a:tc>
                  <a:txBody>
                    <a:bodyPr/>
                    <a:lstStyle/>
                    <a:p>
                      <a:pPr algn="ctr"/>
                      <a:r>
                        <a:rPr lang="en-US" altLang="zh-TW" dirty="0" smtClean="0">
                          <a:solidFill>
                            <a:srgbClr val="FF0000"/>
                          </a:solidFill>
                        </a:rPr>
                        <a:t>5</a:t>
                      </a:r>
                      <a:endParaRPr lang="zh-TW" altLang="en-US" dirty="0">
                        <a:solidFill>
                          <a:srgbClr val="FF0000"/>
                        </a:solidFill>
                      </a:endParaRPr>
                    </a:p>
                  </a:txBody>
                  <a:tcPr/>
                </a:tc>
                <a:tc>
                  <a:txBody>
                    <a:bodyPr/>
                    <a:lstStyle/>
                    <a:p>
                      <a:pPr algn="ctr"/>
                      <a:r>
                        <a:rPr lang="en-US" altLang="zh-TW" dirty="0" smtClean="0">
                          <a:solidFill>
                            <a:srgbClr val="FF0000"/>
                          </a:solidFill>
                        </a:rPr>
                        <a:t>5</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r>
            </a:tbl>
          </a:graphicData>
        </a:graphic>
      </p:graphicFrame>
      <p:sp>
        <p:nvSpPr>
          <p:cNvPr id="9" name="文字方塊 8"/>
          <p:cNvSpPr txBox="1"/>
          <p:nvPr/>
        </p:nvSpPr>
        <p:spPr>
          <a:xfrm>
            <a:off x="755576" y="5657671"/>
            <a:ext cx="7704856" cy="830997"/>
          </a:xfrm>
          <a:prstGeom prst="rect">
            <a:avLst/>
          </a:prstGeom>
          <a:noFill/>
        </p:spPr>
        <p:txBody>
          <a:bodyPr wrap="square" rtlCol="0">
            <a:spAutoFit/>
          </a:bodyPr>
          <a:lstStyle/>
          <a:p>
            <a:pPr algn="ctr"/>
            <a:r>
              <a:rPr lang="zh-TW" altLang="en-US" sz="2400" dirty="0" smtClean="0">
                <a:solidFill>
                  <a:srgbClr val="FF0000"/>
                </a:solidFill>
                <a:latin typeface="標楷體" pitchFamily="65" charset="-120"/>
                <a:ea typeface="標楷體" pitchFamily="65" charset="-120"/>
              </a:rPr>
              <a:t>因刪除</a:t>
            </a:r>
            <a:r>
              <a:rPr lang="en-US" altLang="zh-TW" sz="2400" dirty="0" smtClean="0">
                <a:solidFill>
                  <a:srgbClr val="FF0000"/>
                </a:solidFill>
                <a:latin typeface="標楷體" pitchFamily="65" charset="-120"/>
                <a:ea typeface="標楷體" pitchFamily="65" charset="-120"/>
              </a:rPr>
              <a:t>a</a:t>
            </a:r>
            <a:r>
              <a:rPr lang="en-US" altLang="zh-TW" sz="2400" baseline="-25000" dirty="0" smtClean="0">
                <a:solidFill>
                  <a:srgbClr val="FF0000"/>
                </a:solidFill>
                <a:latin typeface="標楷體" pitchFamily="65" charset="-120"/>
                <a:ea typeface="標楷體" pitchFamily="65" charset="-120"/>
              </a:rPr>
              <a:t>1</a:t>
            </a:r>
            <a:r>
              <a:rPr lang="en-US" altLang="zh-TW" sz="2400" dirty="0" smtClean="0">
                <a:solidFill>
                  <a:srgbClr val="FF0000"/>
                </a:solidFill>
                <a:latin typeface="標楷體" pitchFamily="65" charset="-120"/>
                <a:ea typeface="標楷體" pitchFamily="65" charset="-120"/>
              </a:rPr>
              <a:t>之後，set個數不變，表示a</a:t>
            </a:r>
            <a:r>
              <a:rPr lang="en-US" altLang="zh-TW" sz="2400" baseline="-25000" dirty="0" smtClean="0">
                <a:solidFill>
                  <a:srgbClr val="FF0000"/>
                </a:solidFill>
                <a:latin typeface="標楷體" pitchFamily="65" charset="-120"/>
                <a:ea typeface="標楷體" pitchFamily="65" charset="-120"/>
              </a:rPr>
              <a:t>1</a:t>
            </a:r>
            <a:r>
              <a:rPr lang="en-US" altLang="zh-TW" sz="2400" dirty="0" smtClean="0">
                <a:solidFill>
                  <a:srgbClr val="FF0000"/>
                </a:solidFill>
                <a:latin typeface="標楷體" pitchFamily="65" charset="-120"/>
                <a:ea typeface="標楷體" pitchFamily="65" charset="-120"/>
              </a:rPr>
              <a:t>不影響分類結果，所以a</a:t>
            </a:r>
            <a:r>
              <a:rPr lang="en-US" altLang="zh-TW" sz="2400" baseline="-25000" dirty="0" smtClean="0">
                <a:solidFill>
                  <a:srgbClr val="FF0000"/>
                </a:solidFill>
                <a:latin typeface="標楷體" pitchFamily="65" charset="-120"/>
                <a:ea typeface="標楷體" pitchFamily="65" charset="-120"/>
              </a:rPr>
              <a:t>1</a:t>
            </a:r>
            <a:r>
              <a:rPr lang="en-US" altLang="zh-TW" sz="2400" dirty="0" smtClean="0">
                <a:solidFill>
                  <a:srgbClr val="FF0000"/>
                </a:solidFill>
                <a:latin typeface="標楷體" pitchFamily="65" charset="-120"/>
                <a:ea typeface="標楷體" pitchFamily="65" charset="-120"/>
              </a:rPr>
              <a:t>是多餘的屬性</a:t>
            </a:r>
            <a:endParaRPr lang="zh-TW" altLang="en-US" sz="2400" dirty="0">
              <a:solidFill>
                <a:srgbClr val="FF0000"/>
              </a:solidFill>
              <a:latin typeface="標楷體" pitchFamily="65" charset="-120"/>
              <a:ea typeface="標楷體" pitchFamily="65" charset="-120"/>
            </a:endParaRPr>
          </a:p>
        </p:txBody>
      </p:sp>
      <p:sp>
        <p:nvSpPr>
          <p:cNvPr id="10" name="投影片編號版面配置區 9"/>
          <p:cNvSpPr>
            <a:spLocks noGrp="1"/>
          </p:cNvSpPr>
          <p:nvPr>
            <p:ph type="sldNum" sz="quarter" idx="12"/>
          </p:nvPr>
        </p:nvSpPr>
        <p:spPr/>
        <p:txBody>
          <a:bodyPr/>
          <a:lstStyle/>
          <a:p>
            <a:fld id="{0914735A-2DD1-49E1-A8E8-1A4F28A0E6C3}" type="slidenum">
              <a:rPr lang="zh-TW" altLang="en-US" smtClean="0"/>
              <a:pPr/>
              <a:t>15</a:t>
            </a:fld>
            <a:endParaRPr lang="zh-TW"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Core and </a:t>
            </a:r>
            <a:r>
              <a:rPr lang="en-US" altLang="zh-TW" dirty="0" err="1" smtClean="0"/>
              <a:t>reduct</a:t>
            </a:r>
            <a:r>
              <a:rPr lang="en-US" altLang="zh-TW" dirty="0" smtClean="0"/>
              <a:t> of attributes</a:t>
            </a:r>
            <a:endParaRPr lang="zh-TW" altLang="en-US" dirty="0"/>
          </a:p>
        </p:txBody>
      </p:sp>
      <p:sp>
        <p:nvSpPr>
          <p:cNvPr id="3" name="內容版面配置區 2"/>
          <p:cNvSpPr>
            <a:spLocks noGrp="1"/>
          </p:cNvSpPr>
          <p:nvPr>
            <p:ph idx="1"/>
          </p:nvPr>
        </p:nvSpPr>
        <p:spPr>
          <a:xfrm>
            <a:off x="611560" y="1124744"/>
            <a:ext cx="8229600" cy="820688"/>
          </a:xfrm>
        </p:spPr>
        <p:txBody>
          <a:bodyPr>
            <a:normAutofit/>
          </a:bodyPr>
          <a:lstStyle/>
          <a:p>
            <a:r>
              <a:rPr lang="en-US" altLang="zh-TW" sz="2000" dirty="0" smtClean="0">
                <a:latin typeface="微軟正黑體" pitchFamily="34" charset="-120"/>
                <a:ea typeface="微軟正黑體" pitchFamily="34" charset="-120"/>
              </a:rPr>
              <a:t>Core: </a:t>
            </a:r>
            <a:r>
              <a:rPr lang="zh-TW" altLang="en-US" sz="2000" dirty="0" smtClean="0">
                <a:latin typeface="微軟正黑體" pitchFamily="34" charset="-120"/>
                <a:ea typeface="微軟正黑體" pitchFamily="34" charset="-120"/>
              </a:rPr>
              <a:t>不可或缺屬性的集合 </a:t>
            </a:r>
            <a:endParaRPr lang="en-US" altLang="zh-TW" sz="2000" dirty="0" smtClean="0">
              <a:latin typeface="微軟正黑體" pitchFamily="34" charset="-120"/>
              <a:ea typeface="微軟正黑體" pitchFamily="34" charset="-120"/>
            </a:endParaRPr>
          </a:p>
          <a:p>
            <a:r>
              <a:rPr lang="en-US" altLang="zh-TW" sz="2000" dirty="0" err="1" smtClean="0">
                <a:latin typeface="微軟正黑體" pitchFamily="34" charset="-120"/>
                <a:ea typeface="微軟正黑體" pitchFamily="34" charset="-120"/>
              </a:rPr>
              <a:t>Reduct</a:t>
            </a:r>
            <a:r>
              <a:rPr lang="en-US" altLang="zh-TW" sz="2000" dirty="0" smtClean="0">
                <a:latin typeface="微軟正黑體" pitchFamily="34" charset="-120"/>
                <a:ea typeface="微軟正黑體" pitchFamily="34" charset="-120"/>
              </a:rPr>
              <a:t>: </a:t>
            </a:r>
            <a:r>
              <a:rPr lang="en-US" altLang="zh-TW" sz="2000" dirty="0" err="1" smtClean="0">
                <a:latin typeface="微軟正黑體" pitchFamily="34" charset="-120"/>
                <a:ea typeface="微軟正黑體" pitchFamily="34" charset="-120"/>
              </a:rPr>
              <a:t>discernibility</a:t>
            </a:r>
            <a:r>
              <a:rPr lang="en-US" altLang="zh-TW" sz="2000" dirty="0" smtClean="0">
                <a:latin typeface="微軟正黑體" pitchFamily="34" charset="-120"/>
                <a:ea typeface="微軟正黑體" pitchFamily="34" charset="-120"/>
              </a:rPr>
              <a:t> matrix</a:t>
            </a:r>
            <a:r>
              <a:rPr lang="zh-TW" altLang="en-US" sz="2000" dirty="0" smtClean="0">
                <a:latin typeface="微軟正黑體" pitchFamily="34" charset="-120"/>
                <a:ea typeface="微軟正黑體" pitchFamily="34" charset="-120"/>
              </a:rPr>
              <a:t>之屬性的最小子集合</a:t>
            </a:r>
            <a:endParaRPr lang="zh-TW" altLang="en-US" sz="2000" dirty="0">
              <a:latin typeface="微軟正黑體" pitchFamily="34" charset="-120"/>
              <a:ea typeface="微軟正黑體" pitchFamily="34" charset="-120"/>
            </a:endParaRPr>
          </a:p>
        </p:txBody>
      </p:sp>
      <p:graphicFrame>
        <p:nvGraphicFramePr>
          <p:cNvPr id="4" name="表格 3"/>
          <p:cNvGraphicFramePr>
            <a:graphicFrameLocks noGrp="1"/>
          </p:cNvGraphicFramePr>
          <p:nvPr/>
        </p:nvGraphicFramePr>
        <p:xfrm>
          <a:off x="2411758" y="1988840"/>
          <a:ext cx="3528394" cy="2297046"/>
        </p:xfrm>
        <a:graphic>
          <a:graphicData uri="http://schemas.openxmlformats.org/drawingml/2006/table">
            <a:tbl>
              <a:tblPr firstRow="1" bandRow="1">
                <a:tableStyleId>{F5AB1C69-6EDB-4FF4-983F-18BD219EF322}</a:tableStyleId>
              </a:tblPr>
              <a:tblGrid>
                <a:gridCol w="720080"/>
                <a:gridCol w="1213286"/>
                <a:gridCol w="531676"/>
                <a:gridCol w="531676"/>
                <a:gridCol w="531676"/>
              </a:tblGrid>
              <a:tr h="382841">
                <a:tc>
                  <a:txBody>
                    <a:bodyPr/>
                    <a:lstStyle/>
                    <a:p>
                      <a:pPr algn="ctr"/>
                      <a:endParaRPr lang="zh-TW" altLang="en-US" baseline="-25000" dirty="0"/>
                    </a:p>
                  </a:txBody>
                  <a:tcPr/>
                </a:tc>
                <a:tc>
                  <a:txBody>
                    <a:bodyPr/>
                    <a:lstStyle/>
                    <a:p>
                      <a:pPr algn="ctr"/>
                      <a:r>
                        <a:rPr lang="en-US" altLang="zh-TW" dirty="0" smtClean="0"/>
                        <a:t>U/B</a:t>
                      </a:r>
                      <a:r>
                        <a:rPr lang="en-US" altLang="zh-TW" baseline="-25000" dirty="0" smtClean="0"/>
                        <a:t>1</a:t>
                      </a:r>
                      <a:endParaRPr lang="zh-TW" altLang="en-US" baseline="-25000" dirty="0"/>
                    </a:p>
                  </a:txBody>
                  <a:tcPr/>
                </a:tc>
                <a:tc>
                  <a:txBody>
                    <a:bodyPr/>
                    <a:lstStyle/>
                    <a:p>
                      <a:pPr algn="ctr"/>
                      <a:r>
                        <a:rPr lang="en-US" altLang="zh-TW" dirty="0" smtClean="0"/>
                        <a:t>a</a:t>
                      </a:r>
                      <a:r>
                        <a:rPr lang="en-US" altLang="zh-TW" baseline="-25000" dirty="0" smtClean="0"/>
                        <a:t>1</a:t>
                      </a:r>
                      <a:endParaRPr lang="zh-TW" altLang="en-US" baseline="-25000" dirty="0"/>
                    </a:p>
                  </a:txBody>
                  <a:tcPr/>
                </a:tc>
                <a:tc>
                  <a:txBody>
                    <a:bodyPr/>
                    <a:lstStyle/>
                    <a:p>
                      <a:pPr algn="ctr"/>
                      <a:r>
                        <a:rPr lang="en-US" altLang="zh-TW" dirty="0" smtClean="0"/>
                        <a:t>a</a:t>
                      </a:r>
                      <a:r>
                        <a:rPr lang="en-US" altLang="zh-TW" baseline="-25000" dirty="0" smtClean="0"/>
                        <a:t>2</a:t>
                      </a:r>
                      <a:endParaRPr lang="zh-TW" altLang="en-US" baseline="-25000" dirty="0"/>
                    </a:p>
                  </a:txBody>
                  <a:tcPr/>
                </a:tc>
                <a:tc>
                  <a:txBody>
                    <a:bodyPr/>
                    <a:lstStyle/>
                    <a:p>
                      <a:pPr algn="ctr"/>
                      <a:r>
                        <a:rPr lang="en-US" altLang="zh-TW" dirty="0" smtClean="0"/>
                        <a:t>a</a:t>
                      </a:r>
                      <a:r>
                        <a:rPr lang="en-US" altLang="zh-TW" baseline="-25000" dirty="0" smtClean="0"/>
                        <a:t>3</a:t>
                      </a:r>
                      <a:endParaRPr lang="zh-TW" altLang="en-US" baseline="-25000" dirty="0"/>
                    </a:p>
                  </a:txBody>
                  <a:tcPr/>
                </a:tc>
              </a:tr>
              <a:tr h="382841">
                <a:tc>
                  <a:txBody>
                    <a:bodyPr/>
                    <a:lstStyle/>
                    <a:p>
                      <a:r>
                        <a:rPr lang="en-US" altLang="zh-TW" dirty="0" smtClean="0"/>
                        <a:t>Set1</a:t>
                      </a:r>
                      <a:endParaRPr lang="zh-TW" altLang="en-US" dirty="0"/>
                    </a:p>
                  </a:txBody>
                  <a:tcPr/>
                </a:tc>
                <a:tc>
                  <a:txBody>
                    <a:bodyPr/>
                    <a:lstStyle/>
                    <a:p>
                      <a:r>
                        <a:rPr lang="en-US" altLang="zh-TW" dirty="0" smtClean="0"/>
                        <a:t>{x</a:t>
                      </a:r>
                      <a:r>
                        <a:rPr lang="en-US" altLang="zh-TW" baseline="-25000" dirty="0" smtClean="0"/>
                        <a:t>1</a:t>
                      </a:r>
                      <a:r>
                        <a:rPr lang="en-US" altLang="zh-TW" dirty="0" smtClean="0"/>
                        <a:t>,x</a:t>
                      </a:r>
                      <a:r>
                        <a:rPr lang="en-US" altLang="zh-TW" baseline="-25000" dirty="0" smtClean="0"/>
                        <a:t>3</a:t>
                      </a:r>
                      <a:r>
                        <a:rPr lang="en-US" altLang="zh-TW" dirty="0" smtClean="0"/>
                        <a:t>,</a:t>
                      </a:r>
                      <a:r>
                        <a:rPr lang="en-US" altLang="zh-TW" baseline="0" dirty="0" smtClean="0"/>
                        <a:t>x</a:t>
                      </a:r>
                      <a:r>
                        <a:rPr lang="en-US" altLang="zh-TW" baseline="-25000" dirty="0" smtClean="0"/>
                        <a:t>9</a:t>
                      </a:r>
                      <a:r>
                        <a:rPr lang="en-US" altLang="zh-TW" baseline="0" dirty="0" smtClean="0"/>
                        <a:t>}</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3</a:t>
                      </a:r>
                      <a:endParaRPr lang="zh-TW" altLang="en-US" dirty="0"/>
                    </a:p>
                  </a:txBody>
                  <a:tcPr/>
                </a:tc>
              </a:tr>
              <a:tr h="382841">
                <a:tc>
                  <a:txBody>
                    <a:bodyPr/>
                    <a:lstStyle/>
                    <a:p>
                      <a:r>
                        <a:rPr lang="en-US" altLang="zh-TW" dirty="0" smtClean="0"/>
                        <a:t>Set2</a:t>
                      </a:r>
                      <a:endParaRPr lang="zh-TW" altLang="en-US" dirty="0"/>
                    </a:p>
                  </a:txBody>
                  <a:tcPr/>
                </a:tc>
                <a:tc>
                  <a:txBody>
                    <a:bodyPr/>
                    <a:lstStyle/>
                    <a:p>
                      <a:r>
                        <a:rPr lang="en-US" altLang="zh-TW" dirty="0" smtClean="0"/>
                        <a:t>{x</a:t>
                      </a:r>
                      <a:r>
                        <a:rPr lang="en-US" altLang="zh-TW" baseline="-25000" dirty="0" smtClean="0"/>
                        <a:t>2</a:t>
                      </a:r>
                      <a:r>
                        <a:rPr lang="en-US" altLang="zh-TW" dirty="0" smtClean="0"/>
                        <a:t>,x</a:t>
                      </a:r>
                      <a:r>
                        <a:rPr lang="en-US" altLang="zh-TW" baseline="-25000" dirty="0" smtClean="0"/>
                        <a:t>7</a:t>
                      </a:r>
                      <a:r>
                        <a:rPr lang="en-US" altLang="zh-TW" dirty="0" smtClean="0"/>
                        <a:t>,x</a:t>
                      </a:r>
                      <a:r>
                        <a:rPr lang="en-US" altLang="zh-TW" baseline="-25000" dirty="0" smtClean="0"/>
                        <a:t>10</a:t>
                      </a:r>
                      <a:r>
                        <a:rPr lang="en-US" altLang="zh-TW" dirty="0" smtClean="0"/>
                        <a:t>}</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1</a:t>
                      </a:r>
                      <a:endParaRPr lang="zh-TW" altLang="en-US" dirty="0"/>
                    </a:p>
                  </a:txBody>
                  <a:tcPr/>
                </a:tc>
              </a:tr>
              <a:tr h="382841">
                <a:tc>
                  <a:txBody>
                    <a:bodyPr/>
                    <a:lstStyle/>
                    <a:p>
                      <a:r>
                        <a:rPr lang="en-US" altLang="zh-TW" dirty="0" smtClean="0"/>
                        <a:t>Set3</a:t>
                      </a:r>
                      <a:endParaRPr lang="zh-TW" altLang="en-US" dirty="0"/>
                    </a:p>
                  </a:txBody>
                  <a:tcPr/>
                </a:tc>
                <a:tc>
                  <a:txBody>
                    <a:bodyPr/>
                    <a:lstStyle/>
                    <a:p>
                      <a:r>
                        <a:rPr lang="en-US" altLang="zh-TW" dirty="0" smtClean="0"/>
                        <a:t>{x</a:t>
                      </a:r>
                      <a:r>
                        <a:rPr lang="en-US" altLang="zh-TW" baseline="-25000" dirty="0" smtClean="0"/>
                        <a:t>4</a:t>
                      </a:r>
                      <a:r>
                        <a:rPr lang="en-US" altLang="zh-TW" dirty="0" smtClean="0"/>
                        <a:t>}</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r>
              <a:tr h="382841">
                <a:tc>
                  <a:txBody>
                    <a:bodyPr/>
                    <a:lstStyle/>
                    <a:p>
                      <a:r>
                        <a:rPr lang="en-US" altLang="zh-TW" dirty="0" smtClean="0"/>
                        <a:t>Set4</a:t>
                      </a:r>
                      <a:endParaRPr lang="zh-TW" altLang="en-US" dirty="0"/>
                    </a:p>
                  </a:txBody>
                  <a:tcPr/>
                </a:tc>
                <a:tc>
                  <a:txBody>
                    <a:bodyPr/>
                    <a:lstStyle/>
                    <a:p>
                      <a:r>
                        <a:rPr lang="en-US" altLang="zh-TW" dirty="0" smtClean="0"/>
                        <a:t>{x</a:t>
                      </a:r>
                      <a:r>
                        <a:rPr lang="en-US" altLang="zh-TW" baseline="-25000" dirty="0" smtClean="0"/>
                        <a:t>5</a:t>
                      </a:r>
                      <a:r>
                        <a:rPr lang="en-US" altLang="zh-TW" dirty="0" smtClean="0"/>
                        <a:t>,</a:t>
                      </a:r>
                      <a:r>
                        <a:rPr lang="en-US" altLang="zh-TW" baseline="0" dirty="0" smtClean="0"/>
                        <a:t> x</a:t>
                      </a:r>
                      <a:r>
                        <a:rPr lang="en-US" altLang="zh-TW" baseline="-25000" dirty="0" smtClean="0"/>
                        <a:t>8</a:t>
                      </a:r>
                      <a:r>
                        <a:rPr lang="en-US" altLang="zh-TW" baseline="0"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4</a:t>
                      </a:r>
                      <a:endParaRPr lang="zh-TW" altLang="en-US" dirty="0"/>
                    </a:p>
                  </a:txBody>
                  <a:tcPr/>
                </a:tc>
              </a:tr>
              <a:tr h="382841">
                <a:tc>
                  <a:txBody>
                    <a:bodyPr/>
                    <a:lstStyle/>
                    <a:p>
                      <a:r>
                        <a:rPr lang="en-US" altLang="zh-TW" dirty="0" smtClean="0"/>
                        <a:t>Set5</a:t>
                      </a:r>
                      <a:endParaRPr lang="zh-TW" altLang="en-US" dirty="0"/>
                    </a:p>
                  </a:txBody>
                  <a:tcPr/>
                </a:tc>
                <a:tc>
                  <a:txBody>
                    <a:bodyPr/>
                    <a:lstStyle/>
                    <a:p>
                      <a:r>
                        <a:rPr lang="en-US" altLang="zh-TW" dirty="0" smtClean="0"/>
                        <a:t>{x</a:t>
                      </a:r>
                      <a:r>
                        <a:rPr lang="en-US" altLang="zh-TW" baseline="-25000" dirty="0" smtClean="0"/>
                        <a:t>6</a:t>
                      </a: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r>
            </a:tbl>
          </a:graphicData>
        </a:graphic>
      </p:graphicFrame>
      <p:sp>
        <p:nvSpPr>
          <p:cNvPr id="5" name="文字方塊 4"/>
          <p:cNvSpPr txBox="1"/>
          <p:nvPr/>
        </p:nvSpPr>
        <p:spPr>
          <a:xfrm>
            <a:off x="0" y="4365104"/>
            <a:ext cx="2520280" cy="923330"/>
          </a:xfrm>
          <a:prstGeom prst="rect">
            <a:avLst/>
          </a:prstGeom>
          <a:noFill/>
        </p:spPr>
        <p:txBody>
          <a:bodyPr wrap="square" rtlCol="0">
            <a:spAutoFit/>
          </a:bodyPr>
          <a:lstStyle/>
          <a:p>
            <a:r>
              <a:rPr lang="en-US" altLang="zh-TW" dirty="0" err="1" smtClean="0">
                <a:solidFill>
                  <a:srgbClr val="0066FF"/>
                </a:solidFill>
                <a:latin typeface="微軟正黑體" pitchFamily="34" charset="-120"/>
                <a:ea typeface="微軟正黑體" pitchFamily="34" charset="-120"/>
              </a:rPr>
              <a:t>Discernibility</a:t>
            </a:r>
            <a:r>
              <a:rPr lang="en-US" altLang="zh-TW" dirty="0" smtClean="0">
                <a:solidFill>
                  <a:srgbClr val="0066FF"/>
                </a:solidFill>
                <a:latin typeface="微軟正黑體" pitchFamily="34" charset="-120"/>
                <a:ea typeface="微軟正黑體" pitchFamily="34" charset="-120"/>
              </a:rPr>
              <a:t> matrix:</a:t>
            </a:r>
          </a:p>
          <a:p>
            <a:r>
              <a:rPr lang="en-US" altLang="zh-TW" dirty="0" err="1" smtClean="0">
                <a:latin typeface="微軟正黑體" pitchFamily="34" charset="-120"/>
                <a:ea typeface="微軟正黑體" pitchFamily="34" charset="-120"/>
              </a:rPr>
              <a:t>須使用何種attributes來區分</a:t>
            </a:r>
            <a:r>
              <a:rPr lang="zh-TW" altLang="en-US" dirty="0" smtClean="0">
                <a:latin typeface="微軟正黑體" pitchFamily="34" charset="-120"/>
                <a:ea typeface="微軟正黑體" pitchFamily="34" charset="-120"/>
              </a:rPr>
              <a:t>不同的</a:t>
            </a:r>
            <a:r>
              <a:rPr lang="en-US" altLang="zh-TW" dirty="0" smtClean="0">
                <a:latin typeface="微軟正黑體" pitchFamily="34" charset="-120"/>
                <a:ea typeface="微軟正黑體" pitchFamily="34" charset="-120"/>
              </a:rPr>
              <a:t>sets</a:t>
            </a:r>
            <a:endParaRPr lang="zh-TW" altLang="en-US" dirty="0">
              <a:latin typeface="微軟正黑體" pitchFamily="34" charset="-120"/>
              <a:ea typeface="微軟正黑體" pitchFamily="34" charset="-120"/>
            </a:endParaRPr>
          </a:p>
        </p:txBody>
      </p:sp>
      <p:graphicFrame>
        <p:nvGraphicFramePr>
          <p:cNvPr id="6" name="表格 5"/>
          <p:cNvGraphicFramePr>
            <a:graphicFrameLocks noGrp="1"/>
          </p:cNvGraphicFramePr>
          <p:nvPr/>
        </p:nvGraphicFramePr>
        <p:xfrm>
          <a:off x="2411757" y="4437112"/>
          <a:ext cx="5760643" cy="2225040"/>
        </p:xfrm>
        <a:graphic>
          <a:graphicData uri="http://schemas.openxmlformats.org/drawingml/2006/table">
            <a:tbl>
              <a:tblPr firstRow="1" bandRow="1">
                <a:tableStyleId>{5C22544A-7EE6-4342-B048-85BDC9FD1C3A}</a:tableStyleId>
              </a:tblPr>
              <a:tblGrid>
                <a:gridCol w="694053"/>
                <a:gridCol w="1013318"/>
                <a:gridCol w="1013318"/>
                <a:gridCol w="1013318"/>
                <a:gridCol w="1013318"/>
                <a:gridCol w="1013318"/>
              </a:tblGrid>
              <a:tr h="370840">
                <a:tc>
                  <a:txBody>
                    <a:bodyPr/>
                    <a:lstStyle/>
                    <a:p>
                      <a:pPr algn="ctr"/>
                      <a:endParaRPr lang="zh-TW" altLang="en-US" sz="1800" dirty="0"/>
                    </a:p>
                  </a:txBody>
                  <a:tcPr/>
                </a:tc>
                <a:tc>
                  <a:txBody>
                    <a:bodyPr/>
                    <a:lstStyle/>
                    <a:p>
                      <a:pPr algn="ctr"/>
                      <a:r>
                        <a:rPr lang="en-US" altLang="zh-TW" sz="1800" dirty="0" smtClean="0"/>
                        <a:t>Set1</a:t>
                      </a:r>
                      <a:endParaRPr lang="zh-TW" altLang="en-US" sz="1800" dirty="0"/>
                    </a:p>
                  </a:txBody>
                  <a:tcPr/>
                </a:tc>
                <a:tc>
                  <a:txBody>
                    <a:bodyPr/>
                    <a:lstStyle/>
                    <a:p>
                      <a:pPr algn="ctr"/>
                      <a:r>
                        <a:rPr lang="en-US" altLang="zh-TW" sz="1800" dirty="0" smtClean="0"/>
                        <a:t>Set2</a:t>
                      </a:r>
                      <a:endParaRPr lang="zh-TW" altLang="en-US" sz="1800" dirty="0"/>
                    </a:p>
                  </a:txBody>
                  <a:tcPr/>
                </a:tc>
                <a:tc>
                  <a:txBody>
                    <a:bodyPr/>
                    <a:lstStyle/>
                    <a:p>
                      <a:pPr algn="ctr"/>
                      <a:r>
                        <a:rPr lang="en-US" altLang="zh-TW" sz="1800" dirty="0" smtClean="0"/>
                        <a:t>Set3</a:t>
                      </a:r>
                      <a:endParaRPr lang="zh-TW" altLang="en-US" sz="1800" dirty="0"/>
                    </a:p>
                  </a:txBody>
                  <a:tcPr/>
                </a:tc>
                <a:tc>
                  <a:txBody>
                    <a:bodyPr/>
                    <a:lstStyle/>
                    <a:p>
                      <a:pPr algn="ctr"/>
                      <a:r>
                        <a:rPr lang="en-US" altLang="zh-TW" sz="1800" dirty="0" smtClean="0"/>
                        <a:t>Set4</a:t>
                      </a:r>
                      <a:endParaRPr lang="zh-TW" altLang="en-US" sz="1800" dirty="0"/>
                    </a:p>
                  </a:txBody>
                  <a:tcPr/>
                </a:tc>
                <a:tc>
                  <a:txBody>
                    <a:bodyPr/>
                    <a:lstStyle/>
                    <a:p>
                      <a:pPr algn="ctr"/>
                      <a:r>
                        <a:rPr lang="en-US" altLang="zh-TW" sz="1800" dirty="0" smtClean="0"/>
                        <a:t>Set5</a:t>
                      </a:r>
                      <a:endParaRPr lang="zh-TW" altLang="en-US" sz="1800" dirty="0"/>
                    </a:p>
                  </a:txBody>
                  <a:tcPr/>
                </a:tc>
              </a:tr>
              <a:tr h="370840">
                <a:tc>
                  <a:txBody>
                    <a:bodyPr/>
                    <a:lstStyle/>
                    <a:p>
                      <a:pPr algn="ctr"/>
                      <a:r>
                        <a:rPr lang="en-US" altLang="zh-TW" sz="1800" dirty="0" smtClean="0"/>
                        <a:t>Set1</a:t>
                      </a:r>
                      <a:endParaRPr lang="zh-TW" altLang="en-US" sz="1800" dirty="0"/>
                    </a:p>
                  </a:txBody>
                  <a:tcPr/>
                </a:tc>
                <a:tc>
                  <a:txBody>
                    <a:bodyPr/>
                    <a:lstStyle/>
                    <a:p>
                      <a:pPr algn="ctr"/>
                      <a:endParaRPr lang="zh-TW" altLang="en-US" sz="1800" dirty="0"/>
                    </a:p>
                  </a:txBody>
                  <a:tcPr/>
                </a:tc>
                <a:tc>
                  <a:txBody>
                    <a:bodyPr/>
                    <a:lstStyle/>
                    <a:p>
                      <a:pPr algn="ctr"/>
                      <a:endParaRPr lang="zh-TW" altLang="en-US" sz="1800" dirty="0"/>
                    </a:p>
                  </a:txBody>
                  <a:tcPr/>
                </a:tc>
                <a:tc>
                  <a:txBody>
                    <a:bodyPr/>
                    <a:lstStyle/>
                    <a:p>
                      <a:pPr algn="ctr"/>
                      <a:endParaRPr lang="zh-TW" altLang="en-US" sz="1800" dirty="0"/>
                    </a:p>
                  </a:txBody>
                  <a:tcPr/>
                </a:tc>
                <a:tc>
                  <a:txBody>
                    <a:bodyPr/>
                    <a:lstStyle/>
                    <a:p>
                      <a:pPr algn="ctr"/>
                      <a:endParaRPr lang="zh-TW" altLang="en-US" sz="1800" dirty="0"/>
                    </a:p>
                  </a:txBody>
                  <a:tcPr/>
                </a:tc>
                <a:tc>
                  <a:txBody>
                    <a:bodyPr/>
                    <a:lstStyle/>
                    <a:p>
                      <a:pPr algn="ctr"/>
                      <a:endParaRPr lang="zh-TW" altLang="en-US" sz="1800" dirty="0"/>
                    </a:p>
                  </a:txBody>
                  <a:tcPr/>
                </a:tc>
              </a:tr>
              <a:tr h="370840">
                <a:tc>
                  <a:txBody>
                    <a:bodyPr/>
                    <a:lstStyle/>
                    <a:p>
                      <a:pPr algn="ctr"/>
                      <a:r>
                        <a:rPr lang="en-US" altLang="zh-TW" sz="1800" dirty="0" smtClean="0"/>
                        <a:t>Set2</a:t>
                      </a:r>
                      <a:endParaRPr lang="zh-TW" altLang="en-US" sz="1800" dirty="0"/>
                    </a:p>
                  </a:txBody>
                  <a:tcPr/>
                </a:tc>
                <a:tc>
                  <a:txBody>
                    <a:bodyPr/>
                    <a:lstStyle/>
                    <a:p>
                      <a:pPr algn="ctr"/>
                      <a:r>
                        <a:rPr lang="en-US" altLang="zh-TW" sz="1800" dirty="0" smtClean="0"/>
                        <a:t>a</a:t>
                      </a:r>
                      <a:r>
                        <a:rPr lang="en-US" altLang="zh-TW" sz="1800" baseline="-25000" dirty="0" smtClean="0"/>
                        <a:t>1</a:t>
                      </a:r>
                      <a:r>
                        <a:rPr lang="en-US" altLang="zh-TW" sz="1800" dirty="0" smtClean="0"/>
                        <a:t>, a</a:t>
                      </a:r>
                      <a:r>
                        <a:rPr lang="en-US" altLang="zh-TW" sz="1800" baseline="-25000" dirty="0" smtClean="0"/>
                        <a:t>2</a:t>
                      </a:r>
                      <a:r>
                        <a:rPr lang="en-US" altLang="zh-TW" sz="1800" dirty="0" smtClean="0"/>
                        <a:t>,a</a:t>
                      </a:r>
                      <a:r>
                        <a:rPr lang="en-US" altLang="zh-TW" sz="1800" baseline="-25000" dirty="0" smtClean="0"/>
                        <a:t>3</a:t>
                      </a:r>
                      <a:endParaRPr lang="zh-TW" altLang="en-US" sz="1800" baseline="-25000" dirty="0"/>
                    </a:p>
                  </a:txBody>
                  <a:tcPr/>
                </a:tc>
                <a:tc>
                  <a:txBody>
                    <a:bodyPr/>
                    <a:lstStyle/>
                    <a:p>
                      <a:pPr algn="ctr"/>
                      <a:endParaRPr lang="zh-TW" altLang="en-US" sz="1800" dirty="0"/>
                    </a:p>
                  </a:txBody>
                  <a:tcPr/>
                </a:tc>
                <a:tc>
                  <a:txBody>
                    <a:bodyPr/>
                    <a:lstStyle/>
                    <a:p>
                      <a:pPr algn="ctr"/>
                      <a:endParaRPr lang="zh-TW" altLang="en-US" sz="1800" dirty="0"/>
                    </a:p>
                  </a:txBody>
                  <a:tcPr/>
                </a:tc>
                <a:tc>
                  <a:txBody>
                    <a:bodyPr/>
                    <a:lstStyle/>
                    <a:p>
                      <a:pPr algn="ctr"/>
                      <a:endParaRPr lang="zh-TW" altLang="en-US" sz="1800"/>
                    </a:p>
                  </a:txBody>
                  <a:tcPr/>
                </a:tc>
                <a:tc>
                  <a:txBody>
                    <a:bodyPr/>
                    <a:lstStyle/>
                    <a:p>
                      <a:pPr algn="ctr"/>
                      <a:endParaRPr lang="zh-TW" altLang="en-US" sz="1800"/>
                    </a:p>
                  </a:txBody>
                  <a:tcPr/>
                </a:tc>
              </a:tr>
              <a:tr h="370840">
                <a:tc>
                  <a:txBody>
                    <a:bodyPr/>
                    <a:lstStyle/>
                    <a:p>
                      <a:pPr algn="ctr"/>
                      <a:r>
                        <a:rPr lang="en-US" altLang="zh-TW" sz="1800" dirty="0" smtClean="0"/>
                        <a:t>Set3</a:t>
                      </a:r>
                      <a:endParaRPr lang="zh-TW" altLang="en-US" sz="1800" dirty="0"/>
                    </a:p>
                  </a:txBody>
                  <a:tcPr/>
                </a:tc>
                <a:tc>
                  <a:txBody>
                    <a:bodyPr/>
                    <a:lstStyle/>
                    <a:p>
                      <a:pPr algn="ctr"/>
                      <a:r>
                        <a:rPr lang="en-US" altLang="zh-TW" sz="1800" dirty="0" smtClean="0"/>
                        <a:t>a</a:t>
                      </a:r>
                      <a:r>
                        <a:rPr lang="en-US" altLang="zh-TW" sz="1800" baseline="-25000" dirty="0" smtClean="0"/>
                        <a:t>2</a:t>
                      </a:r>
                      <a:endParaRPr lang="zh-TW" altLang="en-US" sz="1800" baseline="-25000" dirty="0"/>
                    </a:p>
                  </a:txBody>
                  <a:tcPr/>
                </a:tc>
                <a:tc>
                  <a:txBody>
                    <a:bodyPr/>
                    <a:lstStyle/>
                    <a:p>
                      <a:pPr algn="ctr"/>
                      <a:r>
                        <a:rPr lang="en-US" altLang="zh-TW" sz="1800" dirty="0" smtClean="0"/>
                        <a:t>a</a:t>
                      </a:r>
                      <a:r>
                        <a:rPr lang="en-US" altLang="zh-TW" sz="1800" baseline="-25000" dirty="0" smtClean="0"/>
                        <a:t>1</a:t>
                      </a:r>
                      <a:r>
                        <a:rPr lang="en-US" altLang="zh-TW" sz="1800" dirty="0" smtClean="0"/>
                        <a:t>, a</a:t>
                      </a:r>
                      <a:r>
                        <a:rPr lang="en-US" altLang="zh-TW" sz="1800" baseline="-25000" dirty="0" smtClean="0"/>
                        <a:t>3</a:t>
                      </a:r>
                      <a:endParaRPr lang="zh-TW" altLang="en-US" sz="1800" baseline="-25000" dirty="0"/>
                    </a:p>
                  </a:txBody>
                  <a:tcPr/>
                </a:tc>
                <a:tc>
                  <a:txBody>
                    <a:bodyPr/>
                    <a:lstStyle/>
                    <a:p>
                      <a:pPr algn="ctr"/>
                      <a:endParaRPr lang="zh-TW" altLang="en-US" sz="1800" dirty="0"/>
                    </a:p>
                  </a:txBody>
                  <a:tcPr/>
                </a:tc>
                <a:tc>
                  <a:txBody>
                    <a:bodyPr/>
                    <a:lstStyle/>
                    <a:p>
                      <a:pPr algn="ctr"/>
                      <a:endParaRPr lang="zh-TW" altLang="en-US" sz="1800"/>
                    </a:p>
                  </a:txBody>
                  <a:tcPr/>
                </a:tc>
                <a:tc>
                  <a:txBody>
                    <a:bodyPr/>
                    <a:lstStyle/>
                    <a:p>
                      <a:pPr algn="ctr"/>
                      <a:endParaRPr lang="zh-TW" altLang="en-US" sz="1800"/>
                    </a:p>
                  </a:txBody>
                  <a:tcPr/>
                </a:tc>
              </a:tr>
              <a:tr h="370840">
                <a:tc>
                  <a:txBody>
                    <a:bodyPr/>
                    <a:lstStyle/>
                    <a:p>
                      <a:pPr algn="ctr"/>
                      <a:r>
                        <a:rPr lang="en-US" altLang="zh-TW" sz="1800" dirty="0" smtClean="0"/>
                        <a:t>Set4</a:t>
                      </a:r>
                      <a:endParaRPr lang="zh-TW" altLang="en-US" sz="1800" dirty="0"/>
                    </a:p>
                  </a:txBody>
                  <a:tcPr/>
                </a:tc>
                <a:tc>
                  <a:txBody>
                    <a:bodyPr/>
                    <a:lstStyle/>
                    <a:p>
                      <a:pPr algn="ctr"/>
                      <a:r>
                        <a:rPr lang="en-US" altLang="zh-TW" sz="1800" dirty="0" smtClean="0"/>
                        <a:t>a</a:t>
                      </a:r>
                      <a:r>
                        <a:rPr lang="en-US" altLang="zh-TW" sz="1800" baseline="-25000" dirty="0" smtClean="0"/>
                        <a:t>1</a:t>
                      </a:r>
                      <a:r>
                        <a:rPr lang="en-US" altLang="zh-TW" sz="1800" dirty="0" smtClean="0"/>
                        <a:t>, a</a:t>
                      </a:r>
                      <a:r>
                        <a:rPr lang="en-US" altLang="zh-TW" sz="1800" baseline="-25000" dirty="0" smtClean="0"/>
                        <a:t>3</a:t>
                      </a:r>
                      <a:endParaRPr lang="zh-TW" altLang="en-US" sz="1800" baseline="-25000" dirty="0"/>
                    </a:p>
                  </a:txBody>
                  <a:tcPr/>
                </a:tc>
                <a:tc>
                  <a:txBody>
                    <a:bodyPr/>
                    <a:lstStyle/>
                    <a:p>
                      <a:pPr algn="ctr"/>
                      <a:r>
                        <a:rPr lang="en-US" altLang="zh-TW" sz="1800" dirty="0" smtClean="0"/>
                        <a:t>a</a:t>
                      </a:r>
                      <a:r>
                        <a:rPr lang="en-US" altLang="zh-TW" sz="1800" baseline="-25000" dirty="0" smtClean="0"/>
                        <a:t>1</a:t>
                      </a:r>
                      <a:r>
                        <a:rPr lang="en-US" altLang="zh-TW" sz="1800" dirty="0" smtClean="0"/>
                        <a:t>, a</a:t>
                      </a:r>
                      <a:r>
                        <a:rPr lang="en-US" altLang="zh-TW" sz="1800" baseline="-25000" dirty="0" smtClean="0"/>
                        <a:t>2</a:t>
                      </a:r>
                      <a:r>
                        <a:rPr lang="en-US" altLang="zh-TW" sz="1800" dirty="0" smtClean="0"/>
                        <a:t>, a</a:t>
                      </a:r>
                      <a:r>
                        <a:rPr lang="en-US" altLang="zh-TW" sz="1800" baseline="-25000" dirty="0" smtClean="0"/>
                        <a:t>3</a:t>
                      </a:r>
                      <a:endParaRPr lang="zh-TW" altLang="en-US" sz="1800"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dirty="0" smtClean="0"/>
                        <a:t>a</a:t>
                      </a:r>
                      <a:r>
                        <a:rPr lang="en-US" altLang="zh-TW" sz="1800" baseline="-25000" dirty="0" smtClean="0"/>
                        <a:t>1</a:t>
                      </a:r>
                      <a:r>
                        <a:rPr lang="en-US" altLang="zh-TW" sz="1800" dirty="0" smtClean="0"/>
                        <a:t>, a</a:t>
                      </a:r>
                      <a:r>
                        <a:rPr lang="en-US" altLang="zh-TW" sz="1800" baseline="-25000" dirty="0" smtClean="0"/>
                        <a:t>2</a:t>
                      </a:r>
                      <a:r>
                        <a:rPr lang="en-US" altLang="zh-TW" sz="1800" dirty="0" smtClean="0"/>
                        <a:t>, a</a:t>
                      </a:r>
                      <a:r>
                        <a:rPr lang="en-US" altLang="zh-TW" sz="1800" baseline="-25000" dirty="0" smtClean="0"/>
                        <a:t>3</a:t>
                      </a:r>
                      <a:endParaRPr lang="zh-TW" altLang="en-US" sz="1800" baseline="-25000" dirty="0" smtClean="0"/>
                    </a:p>
                  </a:txBody>
                  <a:tcPr/>
                </a:tc>
                <a:tc>
                  <a:txBody>
                    <a:bodyPr/>
                    <a:lstStyle/>
                    <a:p>
                      <a:pPr algn="ctr"/>
                      <a:endParaRPr lang="zh-TW" altLang="en-US" sz="1800" dirty="0"/>
                    </a:p>
                  </a:txBody>
                  <a:tcPr/>
                </a:tc>
                <a:tc>
                  <a:txBody>
                    <a:bodyPr/>
                    <a:lstStyle/>
                    <a:p>
                      <a:pPr algn="ctr"/>
                      <a:endParaRPr lang="zh-TW" altLang="en-US" sz="1800"/>
                    </a:p>
                  </a:txBody>
                  <a:tcPr/>
                </a:tc>
              </a:tr>
              <a:tr h="370840">
                <a:tc>
                  <a:txBody>
                    <a:bodyPr/>
                    <a:lstStyle/>
                    <a:p>
                      <a:pPr algn="ctr"/>
                      <a:r>
                        <a:rPr lang="en-US" altLang="zh-TW" sz="1800" dirty="0" smtClean="0"/>
                        <a:t>Set5</a:t>
                      </a:r>
                      <a:endParaRPr lang="zh-TW" altLang="en-US" sz="1800" dirty="0"/>
                    </a:p>
                  </a:txBody>
                  <a:tcPr/>
                </a:tc>
                <a:tc>
                  <a:txBody>
                    <a:bodyPr/>
                    <a:lstStyle/>
                    <a:p>
                      <a:pPr algn="ctr"/>
                      <a:r>
                        <a:rPr lang="en-US" altLang="zh-TW" sz="1800" dirty="0" smtClean="0"/>
                        <a:t>a</a:t>
                      </a:r>
                      <a:r>
                        <a:rPr lang="en-US" altLang="zh-TW" sz="1800" baseline="-25000" dirty="0" smtClean="0"/>
                        <a:t>1</a:t>
                      </a:r>
                      <a:r>
                        <a:rPr lang="en-US" altLang="zh-TW" sz="1800" dirty="0" smtClean="0"/>
                        <a:t>, a</a:t>
                      </a:r>
                      <a:r>
                        <a:rPr lang="en-US" altLang="zh-TW" sz="1800" baseline="-25000" dirty="0" smtClean="0"/>
                        <a:t>3</a:t>
                      </a:r>
                      <a:endParaRPr lang="zh-TW" altLang="en-US" sz="1800"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dirty="0" smtClean="0"/>
                        <a:t>a</a:t>
                      </a:r>
                      <a:r>
                        <a:rPr lang="en-US" altLang="zh-TW" sz="1800" baseline="-25000" dirty="0" smtClean="0"/>
                        <a:t>1</a:t>
                      </a:r>
                      <a:r>
                        <a:rPr lang="en-US" altLang="zh-TW" sz="1800" dirty="0" smtClean="0"/>
                        <a:t>, a</a:t>
                      </a:r>
                      <a:r>
                        <a:rPr lang="en-US" altLang="zh-TW" sz="1800" baseline="-25000" dirty="0" smtClean="0"/>
                        <a:t>2</a:t>
                      </a:r>
                      <a:r>
                        <a:rPr lang="en-US" altLang="zh-TW" sz="1800" dirty="0" smtClean="0"/>
                        <a:t>, a</a:t>
                      </a:r>
                      <a:r>
                        <a:rPr lang="en-US" altLang="zh-TW" sz="1800" baseline="-25000" dirty="0" smtClean="0"/>
                        <a:t>3</a:t>
                      </a:r>
                      <a:endParaRPr lang="zh-TW" altLang="en-US" sz="18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dirty="0" smtClean="0"/>
                        <a:t>a</a:t>
                      </a:r>
                      <a:r>
                        <a:rPr lang="en-US" altLang="zh-TW" sz="1800" baseline="-25000" dirty="0" smtClean="0"/>
                        <a:t>1</a:t>
                      </a:r>
                      <a:r>
                        <a:rPr lang="en-US" altLang="zh-TW" sz="1800" dirty="0" smtClean="0"/>
                        <a:t>, a</a:t>
                      </a:r>
                      <a:r>
                        <a:rPr lang="en-US" altLang="zh-TW" sz="1800" baseline="-25000" dirty="0" smtClean="0"/>
                        <a:t>2</a:t>
                      </a:r>
                      <a:r>
                        <a:rPr lang="en-US" altLang="zh-TW" sz="1800" dirty="0" smtClean="0"/>
                        <a:t>, a</a:t>
                      </a:r>
                      <a:r>
                        <a:rPr lang="en-US" altLang="zh-TW" sz="1800" baseline="-25000" dirty="0" smtClean="0"/>
                        <a:t>3</a:t>
                      </a:r>
                      <a:endParaRPr lang="zh-TW" altLang="en-US" sz="1800" baseline="-25000" dirty="0" smtClean="0"/>
                    </a:p>
                  </a:txBody>
                  <a:tcPr/>
                </a:tc>
                <a:tc>
                  <a:txBody>
                    <a:bodyPr/>
                    <a:lstStyle/>
                    <a:p>
                      <a:pPr algn="ctr"/>
                      <a:r>
                        <a:rPr lang="en-US" altLang="zh-TW" sz="1800" dirty="0" smtClean="0"/>
                        <a:t>a</a:t>
                      </a:r>
                      <a:r>
                        <a:rPr lang="en-US" altLang="zh-TW" sz="1800" baseline="-25000" dirty="0" smtClean="0"/>
                        <a:t>3</a:t>
                      </a:r>
                      <a:endParaRPr lang="zh-TW" altLang="en-US" sz="1800" baseline="-25000" dirty="0"/>
                    </a:p>
                  </a:txBody>
                  <a:tcPr/>
                </a:tc>
                <a:tc>
                  <a:txBody>
                    <a:bodyPr/>
                    <a:lstStyle/>
                    <a:p>
                      <a:pPr algn="ctr"/>
                      <a:endParaRPr lang="zh-TW" altLang="en-US" sz="1800" dirty="0"/>
                    </a:p>
                  </a:txBody>
                  <a:tcPr/>
                </a:tc>
              </a:tr>
            </a:tbl>
          </a:graphicData>
        </a:graphic>
      </p:graphicFrame>
      <p:sp>
        <p:nvSpPr>
          <p:cNvPr id="7" name="投影片編號版面配置區 6"/>
          <p:cNvSpPr>
            <a:spLocks noGrp="1"/>
          </p:cNvSpPr>
          <p:nvPr>
            <p:ph type="sldNum" sz="quarter" idx="12"/>
          </p:nvPr>
        </p:nvSpPr>
        <p:spPr/>
        <p:txBody>
          <a:bodyPr/>
          <a:lstStyle/>
          <a:p>
            <a:fld id="{0914735A-2DD1-49E1-A8E8-1A4F28A0E6C3}" type="slidenum">
              <a:rPr lang="zh-TW" altLang="en-US" smtClean="0"/>
              <a:pPr/>
              <a:t>16</a:t>
            </a:fld>
            <a:endParaRPr lang="zh-TW"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179512" y="188640"/>
            <a:ext cx="8784976" cy="1682512"/>
          </a:xfrm>
          <a:prstGeom prst="rect">
            <a:avLst/>
          </a:prstGeom>
          <a:noFill/>
        </p:spPr>
        <p:txBody>
          <a:bodyPr wrap="square" rtlCol="0">
            <a:spAutoFit/>
          </a:bodyPr>
          <a:lstStyle/>
          <a:p>
            <a:r>
              <a:rPr lang="zh-TW" altLang="en-US" dirty="0" smtClean="0"/>
              <a:t>所以要區分</a:t>
            </a:r>
            <a:r>
              <a:rPr lang="en-US" altLang="zh-TW" dirty="0" err="1" smtClean="0">
                <a:solidFill>
                  <a:srgbClr val="0066FF"/>
                </a:solidFill>
                <a:latin typeface="微軟正黑體" pitchFamily="34" charset="-120"/>
                <a:ea typeface="微軟正黑體" pitchFamily="34" charset="-120"/>
              </a:rPr>
              <a:t>discernibility</a:t>
            </a:r>
            <a:r>
              <a:rPr lang="en-US" altLang="zh-TW" dirty="0" smtClean="0">
                <a:solidFill>
                  <a:srgbClr val="0066FF"/>
                </a:solidFill>
                <a:latin typeface="微軟正黑體" pitchFamily="34" charset="-120"/>
                <a:ea typeface="微軟正黑體" pitchFamily="34" charset="-120"/>
              </a:rPr>
              <a:t> matrix</a:t>
            </a:r>
            <a:r>
              <a:rPr lang="zh-TW" altLang="en-US" dirty="0" smtClean="0">
                <a:latin typeface="微軟正黑體" pitchFamily="34" charset="-120"/>
                <a:ea typeface="微軟正黑體" pitchFamily="34" charset="-120"/>
              </a:rPr>
              <a:t>中所有</a:t>
            </a:r>
            <a:r>
              <a:rPr lang="en-US" altLang="zh-TW" dirty="0" err="1" smtClean="0">
                <a:latin typeface="微軟正黑體" pitchFamily="34" charset="-120"/>
                <a:ea typeface="微軟正黑體" pitchFamily="34" charset="-120"/>
              </a:rPr>
              <a:t>sets，必須滿足以下條件</a:t>
            </a:r>
            <a:r>
              <a:rPr lang="en-US" altLang="zh-TW" dirty="0" smtClean="0">
                <a:latin typeface="微軟正黑體" pitchFamily="34" charset="-120"/>
                <a:ea typeface="微軟正黑體" pitchFamily="34" charset="-120"/>
              </a:rPr>
              <a:t>(+: or, *:and):</a:t>
            </a:r>
          </a:p>
          <a:p>
            <a:r>
              <a:rPr lang="en-US" altLang="zh-TW" dirty="0" smtClean="0">
                <a:latin typeface="微軟正黑體" pitchFamily="34" charset="-120"/>
                <a:ea typeface="微軟正黑體" pitchFamily="34" charset="-120"/>
              </a:rPr>
              <a:t>f(A) = (a</a:t>
            </a:r>
            <a:r>
              <a:rPr lang="en-US" altLang="zh-TW" baseline="-25000" dirty="0" smtClean="0">
                <a:latin typeface="微軟正黑體" pitchFamily="34" charset="-120"/>
                <a:ea typeface="微軟正黑體" pitchFamily="34" charset="-120"/>
              </a:rPr>
              <a:t>1</a:t>
            </a:r>
            <a:r>
              <a:rPr lang="en-US" altLang="zh-TW" dirty="0" smtClean="0">
                <a:latin typeface="微軟正黑體" pitchFamily="34" charset="-120"/>
                <a:ea typeface="微軟正黑體" pitchFamily="34" charset="-120"/>
              </a:rPr>
              <a:t>+a</a:t>
            </a:r>
            <a:r>
              <a:rPr lang="en-US" altLang="zh-TW" baseline="-25000" dirty="0" smtClean="0">
                <a:latin typeface="微軟正黑體" pitchFamily="34" charset="-120"/>
                <a:ea typeface="微軟正黑體" pitchFamily="34" charset="-120"/>
              </a:rPr>
              <a:t>2</a:t>
            </a:r>
            <a:r>
              <a:rPr lang="en-US" altLang="zh-TW" dirty="0" smtClean="0">
                <a:latin typeface="微軟正黑體" pitchFamily="34" charset="-120"/>
                <a:ea typeface="微軟正黑體" pitchFamily="34" charset="-120"/>
              </a:rPr>
              <a:t>+a</a:t>
            </a:r>
            <a:r>
              <a:rPr lang="en-US" altLang="zh-TW" baseline="-25000" dirty="0" smtClean="0">
                <a:latin typeface="微軟正黑體" pitchFamily="34" charset="-120"/>
                <a:ea typeface="微軟正黑體" pitchFamily="34" charset="-120"/>
              </a:rPr>
              <a:t>3</a:t>
            </a:r>
            <a:r>
              <a:rPr lang="en-US" altLang="zh-TW" dirty="0" smtClean="0">
                <a:latin typeface="微軟正黑體" pitchFamily="34" charset="-120"/>
                <a:ea typeface="微軟正黑體" pitchFamily="34" charset="-120"/>
              </a:rPr>
              <a:t>)a</a:t>
            </a:r>
            <a:r>
              <a:rPr lang="en-US" altLang="zh-TW" baseline="-25000" dirty="0" smtClean="0">
                <a:latin typeface="微軟正黑體" pitchFamily="34" charset="-120"/>
                <a:ea typeface="微軟正黑體" pitchFamily="34" charset="-120"/>
              </a:rPr>
              <a:t>2</a:t>
            </a:r>
            <a:r>
              <a:rPr lang="en-US" altLang="zh-TW" dirty="0" smtClean="0">
                <a:latin typeface="微軟正黑體" pitchFamily="34" charset="-120"/>
                <a:ea typeface="微軟正黑體" pitchFamily="34" charset="-120"/>
              </a:rPr>
              <a:t>(a</a:t>
            </a:r>
            <a:r>
              <a:rPr lang="en-US" altLang="zh-TW" baseline="-25000" dirty="0" smtClean="0">
                <a:latin typeface="微軟正黑體" pitchFamily="34" charset="-120"/>
                <a:ea typeface="微軟正黑體" pitchFamily="34" charset="-120"/>
              </a:rPr>
              <a:t>1</a:t>
            </a:r>
            <a:r>
              <a:rPr lang="en-US" altLang="zh-TW" dirty="0" smtClean="0">
                <a:latin typeface="微軟正黑體" pitchFamily="34" charset="-120"/>
                <a:ea typeface="微軟正黑體" pitchFamily="34" charset="-120"/>
              </a:rPr>
              <a:t>+a</a:t>
            </a:r>
            <a:r>
              <a:rPr lang="en-US" altLang="zh-TW" baseline="-25000" dirty="0" smtClean="0">
                <a:latin typeface="微軟正黑體" pitchFamily="34" charset="-120"/>
                <a:ea typeface="微軟正黑體" pitchFamily="34" charset="-120"/>
              </a:rPr>
              <a:t>3</a:t>
            </a:r>
            <a:r>
              <a:rPr lang="en-US" altLang="zh-TW" dirty="0" smtClean="0">
                <a:latin typeface="微軟正黑體" pitchFamily="34" charset="-120"/>
                <a:ea typeface="微軟正黑體" pitchFamily="34" charset="-120"/>
              </a:rPr>
              <a:t>)(a</a:t>
            </a:r>
            <a:r>
              <a:rPr lang="en-US" altLang="zh-TW" baseline="-25000" dirty="0" smtClean="0">
                <a:latin typeface="微軟正黑體" pitchFamily="34" charset="-120"/>
                <a:ea typeface="微軟正黑體" pitchFamily="34" charset="-120"/>
              </a:rPr>
              <a:t>1</a:t>
            </a:r>
            <a:r>
              <a:rPr lang="en-US" altLang="zh-TW" dirty="0" smtClean="0">
                <a:latin typeface="微軟正黑體" pitchFamily="34" charset="-120"/>
                <a:ea typeface="微軟正黑體" pitchFamily="34" charset="-120"/>
              </a:rPr>
              <a:t>+a</a:t>
            </a:r>
            <a:r>
              <a:rPr lang="en-US" altLang="zh-TW" baseline="-25000" dirty="0" smtClean="0">
                <a:latin typeface="微軟正黑體" pitchFamily="34" charset="-120"/>
                <a:ea typeface="微軟正黑體" pitchFamily="34" charset="-120"/>
              </a:rPr>
              <a:t>3</a:t>
            </a:r>
            <a:r>
              <a:rPr lang="en-US" altLang="zh-TW" dirty="0" smtClean="0">
                <a:latin typeface="微軟正黑體" pitchFamily="34" charset="-120"/>
                <a:ea typeface="微軟正黑體" pitchFamily="34" charset="-120"/>
              </a:rPr>
              <a:t>)(a</a:t>
            </a:r>
            <a:r>
              <a:rPr lang="en-US" altLang="zh-TW" baseline="-25000" dirty="0" smtClean="0">
                <a:latin typeface="微軟正黑體" pitchFamily="34" charset="-120"/>
                <a:ea typeface="微軟正黑體" pitchFamily="34" charset="-120"/>
              </a:rPr>
              <a:t>1</a:t>
            </a:r>
            <a:r>
              <a:rPr lang="en-US" altLang="zh-TW" dirty="0" smtClean="0">
                <a:latin typeface="微軟正黑體" pitchFamily="34" charset="-120"/>
                <a:ea typeface="微軟正黑體" pitchFamily="34" charset="-120"/>
              </a:rPr>
              <a:t>+a</a:t>
            </a:r>
            <a:r>
              <a:rPr lang="en-US" altLang="zh-TW" baseline="-25000" dirty="0" smtClean="0">
                <a:latin typeface="微軟正黑體" pitchFamily="34" charset="-120"/>
                <a:ea typeface="微軟正黑體" pitchFamily="34" charset="-120"/>
              </a:rPr>
              <a:t>3</a:t>
            </a:r>
            <a:r>
              <a:rPr lang="en-US" altLang="zh-TW" dirty="0" smtClean="0">
                <a:latin typeface="微軟正黑體" pitchFamily="34" charset="-120"/>
                <a:ea typeface="微軟正黑體" pitchFamily="34" charset="-120"/>
              </a:rPr>
              <a:t>)(a</a:t>
            </a:r>
            <a:r>
              <a:rPr lang="en-US" altLang="zh-TW" baseline="-25000" dirty="0" smtClean="0">
                <a:latin typeface="微軟正黑體" pitchFamily="34" charset="-120"/>
                <a:ea typeface="微軟正黑體" pitchFamily="34" charset="-120"/>
              </a:rPr>
              <a:t>1</a:t>
            </a:r>
            <a:r>
              <a:rPr lang="en-US" altLang="zh-TW" dirty="0" smtClean="0">
                <a:latin typeface="微軟正黑體" pitchFamily="34" charset="-120"/>
                <a:ea typeface="微軟正黑體" pitchFamily="34" charset="-120"/>
              </a:rPr>
              <a:t>+a</a:t>
            </a:r>
            <a:r>
              <a:rPr lang="en-US" altLang="zh-TW" baseline="-25000" dirty="0" smtClean="0">
                <a:latin typeface="微軟正黑體" pitchFamily="34" charset="-120"/>
                <a:ea typeface="微軟正黑體" pitchFamily="34" charset="-120"/>
              </a:rPr>
              <a:t>2</a:t>
            </a:r>
            <a:r>
              <a:rPr lang="en-US" altLang="zh-TW" dirty="0" smtClean="0">
                <a:latin typeface="微軟正黑體" pitchFamily="34" charset="-120"/>
                <a:ea typeface="微軟正黑體" pitchFamily="34" charset="-120"/>
              </a:rPr>
              <a:t>+a</a:t>
            </a:r>
            <a:r>
              <a:rPr lang="en-US" altLang="zh-TW" baseline="-25000" dirty="0" smtClean="0">
                <a:latin typeface="微軟正黑體" pitchFamily="34" charset="-120"/>
                <a:ea typeface="微軟正黑體" pitchFamily="34" charset="-120"/>
              </a:rPr>
              <a:t>3</a:t>
            </a:r>
            <a:r>
              <a:rPr lang="en-US" altLang="zh-TW" dirty="0" smtClean="0">
                <a:latin typeface="微軟正黑體" pitchFamily="34" charset="-120"/>
                <a:ea typeface="微軟正黑體" pitchFamily="34" charset="-120"/>
              </a:rPr>
              <a:t>)</a:t>
            </a:r>
            <a:br>
              <a:rPr lang="en-US" altLang="zh-TW" dirty="0" smtClean="0">
                <a:latin typeface="微軟正黑體" pitchFamily="34" charset="-120"/>
                <a:ea typeface="微軟正黑體" pitchFamily="34" charset="-120"/>
              </a:rPr>
            </a:br>
            <a:r>
              <a:rPr lang="en-US" altLang="zh-TW" dirty="0" smtClean="0">
                <a:latin typeface="微軟正黑體" pitchFamily="34" charset="-120"/>
                <a:ea typeface="微軟正黑體" pitchFamily="34" charset="-120"/>
              </a:rPr>
              <a:t>         *(a</a:t>
            </a:r>
            <a:r>
              <a:rPr lang="en-US" altLang="zh-TW" baseline="-25000" dirty="0" smtClean="0">
                <a:latin typeface="微軟正黑體" pitchFamily="34" charset="-120"/>
                <a:ea typeface="微軟正黑體" pitchFamily="34" charset="-120"/>
              </a:rPr>
              <a:t>1</a:t>
            </a:r>
            <a:r>
              <a:rPr lang="en-US" altLang="zh-TW" dirty="0" smtClean="0">
                <a:latin typeface="微軟正黑體" pitchFamily="34" charset="-120"/>
                <a:ea typeface="微軟正黑體" pitchFamily="34" charset="-120"/>
              </a:rPr>
              <a:t>+a</a:t>
            </a:r>
            <a:r>
              <a:rPr lang="en-US" altLang="zh-TW" baseline="-25000" dirty="0" smtClean="0">
                <a:latin typeface="微軟正黑體" pitchFamily="34" charset="-120"/>
                <a:ea typeface="微軟正黑體" pitchFamily="34" charset="-120"/>
              </a:rPr>
              <a:t>2</a:t>
            </a:r>
            <a:r>
              <a:rPr lang="en-US" altLang="zh-TW" dirty="0" smtClean="0">
                <a:latin typeface="微軟正黑體" pitchFamily="34" charset="-120"/>
                <a:ea typeface="微軟正黑體" pitchFamily="34" charset="-120"/>
              </a:rPr>
              <a:t>+a</a:t>
            </a:r>
            <a:r>
              <a:rPr lang="en-US" altLang="zh-TW" baseline="-25000" dirty="0" smtClean="0">
                <a:latin typeface="微軟正黑體" pitchFamily="34" charset="-120"/>
                <a:ea typeface="微軟正黑體" pitchFamily="34" charset="-120"/>
              </a:rPr>
              <a:t>3</a:t>
            </a:r>
            <a:r>
              <a:rPr lang="en-US" altLang="zh-TW" dirty="0" smtClean="0">
                <a:latin typeface="微軟正黑體" pitchFamily="34" charset="-120"/>
                <a:ea typeface="微軟正黑體" pitchFamily="34" charset="-120"/>
              </a:rPr>
              <a:t>) (a</a:t>
            </a:r>
            <a:r>
              <a:rPr lang="en-US" altLang="zh-TW" baseline="-25000" dirty="0" smtClean="0">
                <a:latin typeface="微軟正黑體" pitchFamily="34" charset="-120"/>
                <a:ea typeface="微軟正黑體" pitchFamily="34" charset="-120"/>
              </a:rPr>
              <a:t>1</a:t>
            </a:r>
            <a:r>
              <a:rPr lang="en-US" altLang="zh-TW" dirty="0" smtClean="0">
                <a:latin typeface="微軟正黑體" pitchFamily="34" charset="-120"/>
                <a:ea typeface="微軟正黑體" pitchFamily="34" charset="-120"/>
              </a:rPr>
              <a:t>+a</a:t>
            </a:r>
            <a:r>
              <a:rPr lang="en-US" altLang="zh-TW" baseline="-25000" dirty="0" smtClean="0">
                <a:latin typeface="微軟正黑體" pitchFamily="34" charset="-120"/>
                <a:ea typeface="微軟正黑體" pitchFamily="34" charset="-120"/>
              </a:rPr>
              <a:t>2</a:t>
            </a:r>
            <a:r>
              <a:rPr lang="en-US" altLang="zh-TW" dirty="0" smtClean="0">
                <a:latin typeface="微軟正黑體" pitchFamily="34" charset="-120"/>
                <a:ea typeface="微軟正黑體" pitchFamily="34" charset="-120"/>
              </a:rPr>
              <a:t>+a</a:t>
            </a:r>
            <a:r>
              <a:rPr lang="en-US" altLang="zh-TW" baseline="-25000" dirty="0" smtClean="0">
                <a:latin typeface="微軟正黑體" pitchFamily="34" charset="-120"/>
                <a:ea typeface="微軟正黑體" pitchFamily="34" charset="-120"/>
              </a:rPr>
              <a:t>3</a:t>
            </a:r>
            <a:r>
              <a:rPr lang="en-US" altLang="zh-TW" dirty="0" smtClean="0">
                <a:latin typeface="微軟正黑體" pitchFamily="34" charset="-120"/>
                <a:ea typeface="微軟正黑體" pitchFamily="34" charset="-120"/>
              </a:rPr>
              <a:t>) (a</a:t>
            </a:r>
            <a:r>
              <a:rPr lang="en-US" altLang="zh-TW" baseline="-25000" dirty="0" smtClean="0">
                <a:latin typeface="微軟正黑體" pitchFamily="34" charset="-120"/>
                <a:ea typeface="微軟正黑體" pitchFamily="34" charset="-120"/>
              </a:rPr>
              <a:t>1</a:t>
            </a:r>
            <a:r>
              <a:rPr lang="en-US" altLang="zh-TW" dirty="0" smtClean="0">
                <a:latin typeface="微軟正黑體" pitchFamily="34" charset="-120"/>
                <a:ea typeface="微軟正黑體" pitchFamily="34" charset="-120"/>
              </a:rPr>
              <a:t>+a</a:t>
            </a:r>
            <a:r>
              <a:rPr lang="en-US" altLang="zh-TW" baseline="-25000" dirty="0" smtClean="0">
                <a:latin typeface="微軟正黑體" pitchFamily="34" charset="-120"/>
                <a:ea typeface="微軟正黑體" pitchFamily="34" charset="-120"/>
              </a:rPr>
              <a:t>2</a:t>
            </a:r>
            <a:r>
              <a:rPr lang="en-US" altLang="zh-TW" dirty="0" smtClean="0">
                <a:latin typeface="微軟正黑體" pitchFamily="34" charset="-120"/>
                <a:ea typeface="微軟正黑體" pitchFamily="34" charset="-120"/>
              </a:rPr>
              <a:t>+a</a:t>
            </a:r>
            <a:r>
              <a:rPr lang="en-US" altLang="zh-TW" baseline="-25000" dirty="0" smtClean="0">
                <a:latin typeface="微軟正黑體" pitchFamily="34" charset="-120"/>
                <a:ea typeface="微軟正黑體" pitchFamily="34" charset="-120"/>
              </a:rPr>
              <a:t>3</a:t>
            </a:r>
            <a:r>
              <a:rPr lang="en-US" altLang="zh-TW" dirty="0" smtClean="0">
                <a:latin typeface="微軟正黑體" pitchFamily="34" charset="-120"/>
                <a:ea typeface="微軟正黑體" pitchFamily="34" charset="-120"/>
              </a:rPr>
              <a:t>)a</a:t>
            </a:r>
            <a:r>
              <a:rPr lang="en-US" altLang="zh-TW" baseline="-25000" dirty="0" smtClean="0">
                <a:latin typeface="微軟正黑體" pitchFamily="34" charset="-120"/>
                <a:ea typeface="微軟正黑體" pitchFamily="34" charset="-120"/>
              </a:rPr>
              <a:t>3</a:t>
            </a:r>
          </a:p>
          <a:p>
            <a:endParaRPr lang="en-US" altLang="zh-TW" sz="2000" baseline="-25000" dirty="0" smtClean="0">
              <a:latin typeface="微軟正黑體" pitchFamily="34" charset="-120"/>
              <a:ea typeface="微軟正黑體" pitchFamily="34" charset="-120"/>
            </a:endParaRPr>
          </a:p>
          <a:p>
            <a:r>
              <a:rPr lang="en-US" altLang="zh-TW" dirty="0" smtClean="0">
                <a:latin typeface="微軟正黑體" pitchFamily="34" charset="-120"/>
                <a:ea typeface="微軟正黑體" pitchFamily="34" charset="-120"/>
              </a:rPr>
              <a:t>Then we get: </a:t>
            </a:r>
            <a:r>
              <a:rPr lang="en-US" altLang="zh-TW" dirty="0" smtClean="0">
                <a:solidFill>
                  <a:srgbClr val="FF0000"/>
                </a:solidFill>
                <a:latin typeface="微軟正黑體" pitchFamily="34" charset="-120"/>
                <a:ea typeface="微軟正黑體" pitchFamily="34" charset="-120"/>
              </a:rPr>
              <a:t>f(A) = a</a:t>
            </a:r>
            <a:r>
              <a:rPr lang="en-US" altLang="zh-TW" baseline="-25000" dirty="0" smtClean="0">
                <a:solidFill>
                  <a:srgbClr val="FF0000"/>
                </a:solidFill>
                <a:latin typeface="微軟正黑體" pitchFamily="34" charset="-120"/>
                <a:ea typeface="微軟正黑體" pitchFamily="34" charset="-120"/>
              </a:rPr>
              <a:t>2</a:t>
            </a:r>
            <a:r>
              <a:rPr lang="en-US" altLang="zh-TW" dirty="0" smtClean="0">
                <a:solidFill>
                  <a:srgbClr val="FF0000"/>
                </a:solidFill>
                <a:latin typeface="微軟正黑體" pitchFamily="34" charset="-120"/>
                <a:ea typeface="微軟正黑體" pitchFamily="34" charset="-120"/>
              </a:rPr>
              <a:t>a</a:t>
            </a:r>
            <a:r>
              <a:rPr lang="en-US" altLang="zh-TW" baseline="-25000" dirty="0" smtClean="0">
                <a:solidFill>
                  <a:srgbClr val="FF0000"/>
                </a:solidFill>
                <a:latin typeface="微軟正黑體" pitchFamily="34" charset="-120"/>
                <a:ea typeface="微軟正黑體" pitchFamily="34" charset="-120"/>
              </a:rPr>
              <a:t>3</a:t>
            </a:r>
          </a:p>
          <a:p>
            <a:r>
              <a:rPr lang="zh-TW" altLang="en-US" dirty="0" smtClean="0">
                <a:solidFill>
                  <a:srgbClr val="0066FF"/>
                </a:solidFill>
                <a:latin typeface="微軟正黑體" pitchFamily="34" charset="-120"/>
                <a:ea typeface="微軟正黑體" pitchFamily="34" charset="-120"/>
              </a:rPr>
              <a:t>即只需</a:t>
            </a:r>
            <a:r>
              <a:rPr lang="en-US" altLang="zh-TW" dirty="0" smtClean="0">
                <a:solidFill>
                  <a:srgbClr val="0066FF"/>
                </a:solidFill>
                <a:latin typeface="微軟正黑體" pitchFamily="34" charset="-120"/>
                <a:ea typeface="微軟正黑體" pitchFamily="34" charset="-120"/>
              </a:rPr>
              <a:t>a2,a3兩個attributes即可達成相同的分類結果</a:t>
            </a:r>
          </a:p>
        </p:txBody>
      </p:sp>
      <p:graphicFrame>
        <p:nvGraphicFramePr>
          <p:cNvPr id="5" name="表格 4"/>
          <p:cNvGraphicFramePr>
            <a:graphicFrameLocks noGrp="1"/>
          </p:cNvGraphicFramePr>
          <p:nvPr/>
        </p:nvGraphicFramePr>
        <p:xfrm>
          <a:off x="539552" y="2132856"/>
          <a:ext cx="3528394" cy="2297046"/>
        </p:xfrm>
        <a:graphic>
          <a:graphicData uri="http://schemas.openxmlformats.org/drawingml/2006/table">
            <a:tbl>
              <a:tblPr firstRow="1" bandRow="1">
                <a:tableStyleId>{F5AB1C69-6EDB-4FF4-983F-18BD219EF322}</a:tableStyleId>
              </a:tblPr>
              <a:tblGrid>
                <a:gridCol w="720080"/>
                <a:gridCol w="1213286"/>
                <a:gridCol w="531676"/>
                <a:gridCol w="531676"/>
                <a:gridCol w="531676"/>
              </a:tblGrid>
              <a:tr h="382841">
                <a:tc>
                  <a:txBody>
                    <a:bodyPr/>
                    <a:lstStyle/>
                    <a:p>
                      <a:pPr algn="ctr"/>
                      <a:endParaRPr lang="zh-TW" altLang="en-US" baseline="-25000" dirty="0"/>
                    </a:p>
                  </a:txBody>
                  <a:tcPr/>
                </a:tc>
                <a:tc>
                  <a:txBody>
                    <a:bodyPr/>
                    <a:lstStyle/>
                    <a:p>
                      <a:pPr algn="ctr"/>
                      <a:r>
                        <a:rPr lang="en-US" altLang="zh-TW" dirty="0" smtClean="0"/>
                        <a:t>U/B</a:t>
                      </a:r>
                      <a:r>
                        <a:rPr lang="en-US" altLang="zh-TW" baseline="-25000" dirty="0" smtClean="0"/>
                        <a:t>1</a:t>
                      </a:r>
                      <a:endParaRPr lang="zh-TW" altLang="en-US" baseline="-25000" dirty="0"/>
                    </a:p>
                  </a:txBody>
                  <a:tcPr/>
                </a:tc>
                <a:tc>
                  <a:txBody>
                    <a:bodyPr/>
                    <a:lstStyle/>
                    <a:p>
                      <a:pPr algn="ctr"/>
                      <a:r>
                        <a:rPr lang="en-US" altLang="zh-TW" dirty="0" smtClean="0"/>
                        <a:t>a</a:t>
                      </a:r>
                      <a:r>
                        <a:rPr lang="en-US" altLang="zh-TW" baseline="-25000" dirty="0" smtClean="0"/>
                        <a:t>1</a:t>
                      </a:r>
                      <a:endParaRPr lang="zh-TW" altLang="en-US" baseline="-25000" dirty="0"/>
                    </a:p>
                  </a:txBody>
                  <a:tcPr/>
                </a:tc>
                <a:tc>
                  <a:txBody>
                    <a:bodyPr/>
                    <a:lstStyle/>
                    <a:p>
                      <a:pPr algn="ctr"/>
                      <a:r>
                        <a:rPr lang="en-US" altLang="zh-TW" dirty="0" smtClean="0"/>
                        <a:t>a</a:t>
                      </a:r>
                      <a:r>
                        <a:rPr lang="en-US" altLang="zh-TW" baseline="-25000" dirty="0" smtClean="0"/>
                        <a:t>2</a:t>
                      </a:r>
                      <a:endParaRPr lang="zh-TW" altLang="en-US" baseline="-25000" dirty="0"/>
                    </a:p>
                  </a:txBody>
                  <a:tcPr/>
                </a:tc>
                <a:tc>
                  <a:txBody>
                    <a:bodyPr/>
                    <a:lstStyle/>
                    <a:p>
                      <a:pPr algn="ctr"/>
                      <a:r>
                        <a:rPr lang="en-US" altLang="zh-TW" dirty="0" smtClean="0"/>
                        <a:t>a</a:t>
                      </a:r>
                      <a:r>
                        <a:rPr lang="en-US" altLang="zh-TW" baseline="-25000" dirty="0" smtClean="0"/>
                        <a:t>3</a:t>
                      </a:r>
                      <a:endParaRPr lang="zh-TW" altLang="en-US" baseline="-25000" dirty="0"/>
                    </a:p>
                  </a:txBody>
                  <a:tcPr/>
                </a:tc>
              </a:tr>
              <a:tr h="382841">
                <a:tc>
                  <a:txBody>
                    <a:bodyPr/>
                    <a:lstStyle/>
                    <a:p>
                      <a:r>
                        <a:rPr lang="en-US" altLang="zh-TW" dirty="0" smtClean="0"/>
                        <a:t>Set1</a:t>
                      </a:r>
                      <a:endParaRPr lang="zh-TW" altLang="en-US" dirty="0"/>
                    </a:p>
                  </a:txBody>
                  <a:tcPr/>
                </a:tc>
                <a:tc>
                  <a:txBody>
                    <a:bodyPr/>
                    <a:lstStyle/>
                    <a:p>
                      <a:r>
                        <a:rPr lang="en-US" altLang="zh-TW" dirty="0" smtClean="0"/>
                        <a:t>{x</a:t>
                      </a:r>
                      <a:r>
                        <a:rPr lang="en-US" altLang="zh-TW" baseline="-25000" dirty="0" smtClean="0"/>
                        <a:t>1</a:t>
                      </a:r>
                      <a:r>
                        <a:rPr lang="en-US" altLang="zh-TW" dirty="0" smtClean="0"/>
                        <a:t>,x</a:t>
                      </a:r>
                      <a:r>
                        <a:rPr lang="en-US" altLang="zh-TW" baseline="-25000" dirty="0" smtClean="0"/>
                        <a:t>3</a:t>
                      </a:r>
                      <a:r>
                        <a:rPr lang="en-US" altLang="zh-TW" dirty="0" smtClean="0"/>
                        <a:t>,</a:t>
                      </a:r>
                      <a:r>
                        <a:rPr lang="en-US" altLang="zh-TW" baseline="0" dirty="0" smtClean="0"/>
                        <a:t>x</a:t>
                      </a:r>
                      <a:r>
                        <a:rPr lang="en-US" altLang="zh-TW" baseline="-25000" dirty="0" smtClean="0"/>
                        <a:t>9</a:t>
                      </a:r>
                      <a:r>
                        <a:rPr lang="en-US" altLang="zh-TW" baseline="0" dirty="0" smtClean="0"/>
                        <a:t>}</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3</a:t>
                      </a:r>
                      <a:endParaRPr lang="zh-TW" altLang="en-US" dirty="0"/>
                    </a:p>
                  </a:txBody>
                  <a:tcPr/>
                </a:tc>
              </a:tr>
              <a:tr h="382841">
                <a:tc>
                  <a:txBody>
                    <a:bodyPr/>
                    <a:lstStyle/>
                    <a:p>
                      <a:r>
                        <a:rPr lang="en-US" altLang="zh-TW" dirty="0" smtClean="0"/>
                        <a:t>Set2</a:t>
                      </a:r>
                      <a:endParaRPr lang="zh-TW" altLang="en-US" dirty="0"/>
                    </a:p>
                  </a:txBody>
                  <a:tcPr/>
                </a:tc>
                <a:tc>
                  <a:txBody>
                    <a:bodyPr/>
                    <a:lstStyle/>
                    <a:p>
                      <a:r>
                        <a:rPr lang="en-US" altLang="zh-TW" dirty="0" smtClean="0"/>
                        <a:t>{x</a:t>
                      </a:r>
                      <a:r>
                        <a:rPr lang="en-US" altLang="zh-TW" baseline="-25000" dirty="0" smtClean="0"/>
                        <a:t>2</a:t>
                      </a:r>
                      <a:r>
                        <a:rPr lang="en-US" altLang="zh-TW" dirty="0" smtClean="0"/>
                        <a:t>,x</a:t>
                      </a:r>
                      <a:r>
                        <a:rPr lang="en-US" altLang="zh-TW" baseline="-25000" dirty="0" smtClean="0"/>
                        <a:t>7</a:t>
                      </a:r>
                      <a:r>
                        <a:rPr lang="en-US" altLang="zh-TW" dirty="0" smtClean="0"/>
                        <a:t>,x</a:t>
                      </a:r>
                      <a:r>
                        <a:rPr lang="en-US" altLang="zh-TW" baseline="-25000" dirty="0" smtClean="0"/>
                        <a:t>10</a:t>
                      </a:r>
                      <a:r>
                        <a:rPr lang="en-US" altLang="zh-TW" dirty="0" smtClean="0"/>
                        <a:t>}</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1</a:t>
                      </a:r>
                      <a:endParaRPr lang="zh-TW" altLang="en-US" dirty="0"/>
                    </a:p>
                  </a:txBody>
                  <a:tcPr/>
                </a:tc>
              </a:tr>
              <a:tr h="382841">
                <a:tc>
                  <a:txBody>
                    <a:bodyPr/>
                    <a:lstStyle/>
                    <a:p>
                      <a:r>
                        <a:rPr lang="en-US" altLang="zh-TW" dirty="0" smtClean="0"/>
                        <a:t>Set3</a:t>
                      </a:r>
                      <a:endParaRPr lang="zh-TW" altLang="en-US" dirty="0"/>
                    </a:p>
                  </a:txBody>
                  <a:tcPr/>
                </a:tc>
                <a:tc>
                  <a:txBody>
                    <a:bodyPr/>
                    <a:lstStyle/>
                    <a:p>
                      <a:r>
                        <a:rPr lang="en-US" altLang="zh-TW" dirty="0" smtClean="0"/>
                        <a:t>{x</a:t>
                      </a:r>
                      <a:r>
                        <a:rPr lang="en-US" altLang="zh-TW" baseline="-25000" dirty="0" smtClean="0"/>
                        <a:t>4</a:t>
                      </a:r>
                      <a:r>
                        <a:rPr lang="en-US" altLang="zh-TW" dirty="0" smtClean="0"/>
                        <a:t>}</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r>
              <a:tr h="382841">
                <a:tc>
                  <a:txBody>
                    <a:bodyPr/>
                    <a:lstStyle/>
                    <a:p>
                      <a:r>
                        <a:rPr lang="en-US" altLang="zh-TW" dirty="0" smtClean="0"/>
                        <a:t>Set4</a:t>
                      </a:r>
                      <a:endParaRPr lang="zh-TW" altLang="en-US" dirty="0"/>
                    </a:p>
                  </a:txBody>
                  <a:tcPr/>
                </a:tc>
                <a:tc>
                  <a:txBody>
                    <a:bodyPr/>
                    <a:lstStyle/>
                    <a:p>
                      <a:r>
                        <a:rPr lang="en-US" altLang="zh-TW" dirty="0" smtClean="0"/>
                        <a:t>{x</a:t>
                      </a:r>
                      <a:r>
                        <a:rPr lang="en-US" altLang="zh-TW" baseline="-25000" dirty="0" smtClean="0"/>
                        <a:t>5</a:t>
                      </a:r>
                      <a:r>
                        <a:rPr lang="en-US" altLang="zh-TW" dirty="0" smtClean="0"/>
                        <a:t>,</a:t>
                      </a:r>
                      <a:r>
                        <a:rPr lang="en-US" altLang="zh-TW" baseline="0" dirty="0" smtClean="0"/>
                        <a:t> x</a:t>
                      </a:r>
                      <a:r>
                        <a:rPr lang="en-US" altLang="zh-TW" baseline="-25000" dirty="0" smtClean="0"/>
                        <a:t>8</a:t>
                      </a:r>
                      <a:r>
                        <a:rPr lang="en-US" altLang="zh-TW" baseline="0"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4</a:t>
                      </a:r>
                      <a:endParaRPr lang="zh-TW" altLang="en-US" dirty="0"/>
                    </a:p>
                  </a:txBody>
                  <a:tcPr/>
                </a:tc>
              </a:tr>
              <a:tr h="382841">
                <a:tc>
                  <a:txBody>
                    <a:bodyPr/>
                    <a:lstStyle/>
                    <a:p>
                      <a:r>
                        <a:rPr lang="en-US" altLang="zh-TW" dirty="0" smtClean="0"/>
                        <a:t>Set5</a:t>
                      </a:r>
                      <a:endParaRPr lang="zh-TW" altLang="en-US" dirty="0"/>
                    </a:p>
                  </a:txBody>
                  <a:tcPr/>
                </a:tc>
                <a:tc>
                  <a:txBody>
                    <a:bodyPr/>
                    <a:lstStyle/>
                    <a:p>
                      <a:r>
                        <a:rPr lang="en-US" altLang="zh-TW" dirty="0" smtClean="0"/>
                        <a:t>{x</a:t>
                      </a:r>
                      <a:r>
                        <a:rPr lang="en-US" altLang="zh-TW" baseline="-25000" dirty="0" smtClean="0"/>
                        <a:t>6</a:t>
                      </a: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r>
            </a:tbl>
          </a:graphicData>
        </a:graphic>
      </p:graphicFrame>
      <p:graphicFrame>
        <p:nvGraphicFramePr>
          <p:cNvPr id="6" name="表格 5"/>
          <p:cNvGraphicFramePr>
            <a:graphicFrameLocks noGrp="1"/>
          </p:cNvGraphicFramePr>
          <p:nvPr/>
        </p:nvGraphicFramePr>
        <p:xfrm>
          <a:off x="5364088" y="2132856"/>
          <a:ext cx="2996718" cy="2297046"/>
        </p:xfrm>
        <a:graphic>
          <a:graphicData uri="http://schemas.openxmlformats.org/drawingml/2006/table">
            <a:tbl>
              <a:tblPr firstRow="1" bandRow="1">
                <a:tableStyleId>{7DF18680-E054-41AD-8BC1-D1AEF772440D}</a:tableStyleId>
              </a:tblPr>
              <a:tblGrid>
                <a:gridCol w="720080"/>
                <a:gridCol w="1213286"/>
                <a:gridCol w="531676"/>
                <a:gridCol w="531676"/>
              </a:tblGrid>
              <a:tr h="382841">
                <a:tc>
                  <a:txBody>
                    <a:bodyPr/>
                    <a:lstStyle/>
                    <a:p>
                      <a:pPr algn="ctr"/>
                      <a:endParaRPr lang="zh-TW" altLang="en-US" baseline="-25000" dirty="0"/>
                    </a:p>
                  </a:txBody>
                  <a:tcPr/>
                </a:tc>
                <a:tc>
                  <a:txBody>
                    <a:bodyPr/>
                    <a:lstStyle/>
                    <a:p>
                      <a:pPr algn="ctr"/>
                      <a:r>
                        <a:rPr lang="en-US" altLang="zh-TW" dirty="0" smtClean="0"/>
                        <a:t>U/B</a:t>
                      </a:r>
                      <a:r>
                        <a:rPr lang="en-US" altLang="zh-TW" baseline="-25000" dirty="0" smtClean="0"/>
                        <a:t>1</a:t>
                      </a:r>
                      <a:endParaRPr lang="zh-TW" altLang="en-US" baseline="-25000" dirty="0"/>
                    </a:p>
                  </a:txBody>
                  <a:tcPr/>
                </a:tc>
                <a:tc>
                  <a:txBody>
                    <a:bodyPr/>
                    <a:lstStyle/>
                    <a:p>
                      <a:pPr algn="ctr"/>
                      <a:r>
                        <a:rPr lang="en-US" altLang="zh-TW" dirty="0" smtClean="0"/>
                        <a:t>a</a:t>
                      </a:r>
                      <a:r>
                        <a:rPr lang="en-US" altLang="zh-TW" baseline="-25000" dirty="0" smtClean="0"/>
                        <a:t>2</a:t>
                      </a:r>
                      <a:endParaRPr lang="zh-TW" altLang="en-US" baseline="-25000" dirty="0"/>
                    </a:p>
                  </a:txBody>
                  <a:tcPr/>
                </a:tc>
                <a:tc>
                  <a:txBody>
                    <a:bodyPr/>
                    <a:lstStyle/>
                    <a:p>
                      <a:pPr algn="ctr"/>
                      <a:r>
                        <a:rPr lang="en-US" altLang="zh-TW" dirty="0" smtClean="0"/>
                        <a:t>a</a:t>
                      </a:r>
                      <a:r>
                        <a:rPr lang="en-US" altLang="zh-TW" baseline="-25000" dirty="0" smtClean="0"/>
                        <a:t>3</a:t>
                      </a:r>
                      <a:endParaRPr lang="zh-TW" altLang="en-US" baseline="-25000" dirty="0"/>
                    </a:p>
                  </a:txBody>
                  <a:tcPr/>
                </a:tc>
              </a:tr>
              <a:tr h="382841">
                <a:tc>
                  <a:txBody>
                    <a:bodyPr/>
                    <a:lstStyle/>
                    <a:p>
                      <a:r>
                        <a:rPr lang="en-US" altLang="zh-TW" dirty="0" smtClean="0"/>
                        <a:t>Set1</a:t>
                      </a:r>
                      <a:endParaRPr lang="zh-TW" altLang="en-US" dirty="0"/>
                    </a:p>
                  </a:txBody>
                  <a:tcPr/>
                </a:tc>
                <a:tc>
                  <a:txBody>
                    <a:bodyPr/>
                    <a:lstStyle/>
                    <a:p>
                      <a:r>
                        <a:rPr lang="en-US" altLang="zh-TW" dirty="0" smtClean="0"/>
                        <a:t>{x</a:t>
                      </a:r>
                      <a:r>
                        <a:rPr lang="en-US" altLang="zh-TW" baseline="-25000" dirty="0" smtClean="0"/>
                        <a:t>1</a:t>
                      </a:r>
                      <a:r>
                        <a:rPr lang="en-US" altLang="zh-TW" dirty="0" smtClean="0"/>
                        <a:t>,x</a:t>
                      </a:r>
                      <a:r>
                        <a:rPr lang="en-US" altLang="zh-TW" baseline="-25000" dirty="0" smtClean="0"/>
                        <a:t>3</a:t>
                      </a:r>
                      <a:r>
                        <a:rPr lang="en-US" altLang="zh-TW" dirty="0" smtClean="0"/>
                        <a:t>,</a:t>
                      </a:r>
                      <a:r>
                        <a:rPr lang="en-US" altLang="zh-TW" baseline="0" dirty="0" smtClean="0"/>
                        <a:t>x</a:t>
                      </a:r>
                      <a:r>
                        <a:rPr lang="en-US" altLang="zh-TW" baseline="-25000" dirty="0" smtClean="0"/>
                        <a:t>9</a:t>
                      </a:r>
                      <a:r>
                        <a:rPr lang="en-US" altLang="zh-TW" baseline="0"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3</a:t>
                      </a:r>
                      <a:endParaRPr lang="zh-TW" altLang="en-US" dirty="0"/>
                    </a:p>
                  </a:txBody>
                  <a:tcPr/>
                </a:tc>
              </a:tr>
              <a:tr h="382841">
                <a:tc>
                  <a:txBody>
                    <a:bodyPr/>
                    <a:lstStyle/>
                    <a:p>
                      <a:r>
                        <a:rPr lang="en-US" altLang="zh-TW" dirty="0" smtClean="0"/>
                        <a:t>Set2</a:t>
                      </a:r>
                      <a:endParaRPr lang="zh-TW" altLang="en-US" dirty="0"/>
                    </a:p>
                  </a:txBody>
                  <a:tcPr/>
                </a:tc>
                <a:tc>
                  <a:txBody>
                    <a:bodyPr/>
                    <a:lstStyle/>
                    <a:p>
                      <a:r>
                        <a:rPr lang="en-US" altLang="zh-TW" dirty="0" smtClean="0"/>
                        <a:t>{x</a:t>
                      </a:r>
                      <a:r>
                        <a:rPr lang="en-US" altLang="zh-TW" baseline="-25000" dirty="0" smtClean="0"/>
                        <a:t>2</a:t>
                      </a:r>
                      <a:r>
                        <a:rPr lang="en-US" altLang="zh-TW" dirty="0" smtClean="0"/>
                        <a:t>,x</a:t>
                      </a:r>
                      <a:r>
                        <a:rPr lang="en-US" altLang="zh-TW" baseline="-25000" dirty="0" smtClean="0"/>
                        <a:t>7</a:t>
                      </a:r>
                      <a:r>
                        <a:rPr lang="en-US" altLang="zh-TW" dirty="0" smtClean="0"/>
                        <a:t>,x</a:t>
                      </a:r>
                      <a:r>
                        <a:rPr lang="en-US" altLang="zh-TW" baseline="-25000" dirty="0" smtClean="0"/>
                        <a:t>10</a:t>
                      </a:r>
                      <a:r>
                        <a:rPr lang="en-US" altLang="zh-TW" dirty="0" smtClean="0"/>
                        <a:t>}</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1</a:t>
                      </a:r>
                      <a:endParaRPr lang="zh-TW" altLang="en-US" dirty="0"/>
                    </a:p>
                  </a:txBody>
                  <a:tcPr/>
                </a:tc>
              </a:tr>
              <a:tr h="382841">
                <a:tc>
                  <a:txBody>
                    <a:bodyPr/>
                    <a:lstStyle/>
                    <a:p>
                      <a:r>
                        <a:rPr lang="en-US" altLang="zh-TW" dirty="0" smtClean="0"/>
                        <a:t>Set3</a:t>
                      </a:r>
                      <a:endParaRPr lang="zh-TW" altLang="en-US" dirty="0"/>
                    </a:p>
                  </a:txBody>
                  <a:tcPr/>
                </a:tc>
                <a:tc>
                  <a:txBody>
                    <a:bodyPr/>
                    <a:lstStyle/>
                    <a:p>
                      <a:r>
                        <a:rPr lang="en-US" altLang="zh-TW" dirty="0" smtClean="0"/>
                        <a:t>{x</a:t>
                      </a:r>
                      <a:r>
                        <a:rPr lang="en-US" altLang="zh-TW" baseline="-25000" dirty="0" smtClean="0"/>
                        <a:t>4</a:t>
                      </a:r>
                      <a:r>
                        <a:rPr lang="en-US" altLang="zh-TW" dirty="0" smtClean="0"/>
                        <a:t>}</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r>
              <a:tr h="382841">
                <a:tc>
                  <a:txBody>
                    <a:bodyPr/>
                    <a:lstStyle/>
                    <a:p>
                      <a:r>
                        <a:rPr lang="en-US" altLang="zh-TW" dirty="0" smtClean="0"/>
                        <a:t>Set4</a:t>
                      </a:r>
                      <a:endParaRPr lang="zh-TW" altLang="en-US" dirty="0"/>
                    </a:p>
                  </a:txBody>
                  <a:tcPr/>
                </a:tc>
                <a:tc>
                  <a:txBody>
                    <a:bodyPr/>
                    <a:lstStyle/>
                    <a:p>
                      <a:r>
                        <a:rPr lang="en-US" altLang="zh-TW" dirty="0" smtClean="0"/>
                        <a:t>{x</a:t>
                      </a:r>
                      <a:r>
                        <a:rPr lang="en-US" altLang="zh-TW" baseline="-25000" dirty="0" smtClean="0"/>
                        <a:t>5</a:t>
                      </a:r>
                      <a:r>
                        <a:rPr lang="en-US" altLang="zh-TW" dirty="0" smtClean="0"/>
                        <a:t>,</a:t>
                      </a:r>
                      <a:r>
                        <a:rPr lang="en-US" altLang="zh-TW" baseline="0" dirty="0" smtClean="0"/>
                        <a:t> x</a:t>
                      </a:r>
                      <a:r>
                        <a:rPr lang="en-US" altLang="zh-TW" baseline="-25000" dirty="0" smtClean="0"/>
                        <a:t>8</a:t>
                      </a:r>
                      <a:r>
                        <a:rPr lang="en-US" altLang="zh-TW" baseline="0"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4</a:t>
                      </a:r>
                      <a:endParaRPr lang="zh-TW" altLang="en-US" dirty="0"/>
                    </a:p>
                  </a:txBody>
                  <a:tcPr/>
                </a:tc>
              </a:tr>
              <a:tr h="382841">
                <a:tc>
                  <a:txBody>
                    <a:bodyPr/>
                    <a:lstStyle/>
                    <a:p>
                      <a:r>
                        <a:rPr lang="en-US" altLang="zh-TW" dirty="0" smtClean="0"/>
                        <a:t>Set5</a:t>
                      </a:r>
                      <a:endParaRPr lang="zh-TW" altLang="en-US" dirty="0"/>
                    </a:p>
                  </a:txBody>
                  <a:tcPr/>
                </a:tc>
                <a:tc>
                  <a:txBody>
                    <a:bodyPr/>
                    <a:lstStyle/>
                    <a:p>
                      <a:r>
                        <a:rPr lang="en-US" altLang="zh-TW" dirty="0" smtClean="0"/>
                        <a:t>{x</a:t>
                      </a:r>
                      <a:r>
                        <a:rPr lang="en-US" altLang="zh-TW" baseline="-25000" dirty="0" smtClean="0"/>
                        <a:t>6</a:t>
                      </a: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r>
            </a:tbl>
          </a:graphicData>
        </a:graphic>
      </p:graphicFrame>
      <p:sp>
        <p:nvSpPr>
          <p:cNvPr id="7" name="向右箭號 6"/>
          <p:cNvSpPr/>
          <p:nvPr/>
        </p:nvSpPr>
        <p:spPr>
          <a:xfrm>
            <a:off x="4355976" y="2780928"/>
            <a:ext cx="792088"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p:cNvSpPr txBox="1"/>
          <p:nvPr/>
        </p:nvSpPr>
        <p:spPr>
          <a:xfrm>
            <a:off x="467544" y="5013176"/>
            <a:ext cx="8064896" cy="830997"/>
          </a:xfrm>
          <a:prstGeom prst="rect">
            <a:avLst/>
          </a:prstGeom>
          <a:noFill/>
        </p:spPr>
        <p:txBody>
          <a:bodyPr wrap="square" rtlCol="0">
            <a:spAutoFit/>
          </a:bodyPr>
          <a:lstStyle/>
          <a:p>
            <a:r>
              <a:rPr lang="en-US" altLang="zh-TW" sz="2400" dirty="0" err="1" smtClean="0"/>
              <a:t>Reduct</a:t>
            </a:r>
            <a:r>
              <a:rPr lang="en-US" altLang="zh-TW" sz="2400" dirty="0" smtClean="0"/>
              <a:t> R = {a</a:t>
            </a:r>
            <a:r>
              <a:rPr lang="en-US" altLang="zh-TW" sz="2400" baseline="-25000" dirty="0" smtClean="0"/>
              <a:t>2</a:t>
            </a:r>
            <a:r>
              <a:rPr lang="en-US" altLang="zh-TW" sz="2400" dirty="0" smtClean="0"/>
              <a:t>, a</a:t>
            </a:r>
            <a:r>
              <a:rPr lang="en-US" altLang="zh-TW" sz="2400" baseline="-25000" dirty="0" smtClean="0"/>
              <a:t>3</a:t>
            </a:r>
            <a:r>
              <a:rPr lang="en-US" altLang="zh-TW" sz="2400" dirty="0" smtClean="0"/>
              <a:t>}</a:t>
            </a:r>
          </a:p>
          <a:p>
            <a:r>
              <a:rPr lang="en-US" altLang="zh-TW" sz="2400" dirty="0" smtClean="0"/>
              <a:t>In this case , core = R  = {a</a:t>
            </a:r>
            <a:r>
              <a:rPr lang="en-US" altLang="zh-TW" sz="2400" baseline="-25000" dirty="0" smtClean="0"/>
              <a:t>2</a:t>
            </a:r>
            <a:r>
              <a:rPr lang="en-US" altLang="zh-TW" sz="2400" dirty="0" smtClean="0"/>
              <a:t>, a</a:t>
            </a:r>
            <a:r>
              <a:rPr lang="en-US" altLang="zh-TW" sz="2400" baseline="-25000" dirty="0" smtClean="0"/>
              <a:t>3</a:t>
            </a:r>
            <a:r>
              <a:rPr lang="en-US" altLang="zh-TW" sz="2400" dirty="0" smtClean="0"/>
              <a:t>}</a:t>
            </a:r>
            <a:endParaRPr lang="zh-TW" altLang="en-US" sz="2400" dirty="0"/>
          </a:p>
        </p:txBody>
      </p:sp>
      <p:sp>
        <p:nvSpPr>
          <p:cNvPr id="9" name="投影片編號版面配置區 8"/>
          <p:cNvSpPr>
            <a:spLocks noGrp="1"/>
          </p:cNvSpPr>
          <p:nvPr>
            <p:ph type="sldNum" sz="quarter" idx="12"/>
          </p:nvPr>
        </p:nvSpPr>
        <p:spPr/>
        <p:txBody>
          <a:bodyPr/>
          <a:lstStyle/>
          <a:p>
            <a:fld id="{0914735A-2DD1-49E1-A8E8-1A4F28A0E6C3}" type="slidenum">
              <a:rPr lang="zh-TW" altLang="en-US" smtClean="0"/>
              <a:pPr/>
              <a:t>17</a:t>
            </a:fld>
            <a:endParaRPr lang="zh-TW"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Core and </a:t>
            </a:r>
            <a:r>
              <a:rPr lang="en-US" altLang="zh-TW" dirty="0" err="1" smtClean="0"/>
              <a:t>reduct</a:t>
            </a:r>
            <a:r>
              <a:rPr lang="en-US" altLang="zh-TW" dirty="0" smtClean="0"/>
              <a:t> of attribute values</a:t>
            </a:r>
            <a:endParaRPr lang="zh-TW" altLang="en-US" dirty="0"/>
          </a:p>
        </p:txBody>
      </p:sp>
      <p:sp>
        <p:nvSpPr>
          <p:cNvPr id="6" name="內容版面配置區 5"/>
          <p:cNvSpPr>
            <a:spLocks noGrp="1"/>
          </p:cNvSpPr>
          <p:nvPr>
            <p:ph idx="1"/>
          </p:nvPr>
        </p:nvSpPr>
        <p:spPr>
          <a:xfrm>
            <a:off x="179512" y="1312168"/>
            <a:ext cx="8229600" cy="748680"/>
          </a:xfrm>
        </p:spPr>
        <p:txBody>
          <a:bodyPr>
            <a:normAutofit fontScale="77500" lnSpcReduction="20000"/>
          </a:bodyPr>
          <a:lstStyle/>
          <a:p>
            <a:r>
              <a:rPr lang="en-US" altLang="zh-TW" dirty="0" smtClean="0"/>
              <a:t>Dropping certain </a:t>
            </a:r>
            <a:r>
              <a:rPr lang="en-US" altLang="zh-TW" dirty="0" smtClean="0">
                <a:solidFill>
                  <a:srgbClr val="0066FF"/>
                </a:solidFill>
              </a:rPr>
              <a:t>values of attributes </a:t>
            </a:r>
            <a:r>
              <a:rPr lang="en-US" altLang="zh-TW" dirty="0" smtClean="0"/>
              <a:t>that are unnecessary for the system</a:t>
            </a:r>
            <a:endParaRPr lang="zh-TW" altLang="en-US" dirty="0"/>
          </a:p>
        </p:txBody>
      </p:sp>
      <p:graphicFrame>
        <p:nvGraphicFramePr>
          <p:cNvPr id="7" name="表格 6"/>
          <p:cNvGraphicFramePr>
            <a:graphicFrameLocks noGrp="1"/>
          </p:cNvGraphicFramePr>
          <p:nvPr/>
        </p:nvGraphicFramePr>
        <p:xfrm>
          <a:off x="2771800" y="1988840"/>
          <a:ext cx="2996718" cy="2297046"/>
        </p:xfrm>
        <a:graphic>
          <a:graphicData uri="http://schemas.openxmlformats.org/drawingml/2006/table">
            <a:tbl>
              <a:tblPr firstRow="1" bandRow="1">
                <a:tableStyleId>{7DF18680-E054-41AD-8BC1-D1AEF772440D}</a:tableStyleId>
              </a:tblPr>
              <a:tblGrid>
                <a:gridCol w="720080"/>
                <a:gridCol w="1213286"/>
                <a:gridCol w="531676"/>
                <a:gridCol w="531676"/>
              </a:tblGrid>
              <a:tr h="382841">
                <a:tc>
                  <a:txBody>
                    <a:bodyPr/>
                    <a:lstStyle/>
                    <a:p>
                      <a:pPr algn="ctr"/>
                      <a:endParaRPr lang="zh-TW" altLang="en-US" baseline="-25000" dirty="0"/>
                    </a:p>
                  </a:txBody>
                  <a:tcPr/>
                </a:tc>
                <a:tc>
                  <a:txBody>
                    <a:bodyPr/>
                    <a:lstStyle/>
                    <a:p>
                      <a:pPr algn="ctr"/>
                      <a:r>
                        <a:rPr lang="en-US" altLang="zh-TW" dirty="0" smtClean="0"/>
                        <a:t>U/B</a:t>
                      </a:r>
                      <a:r>
                        <a:rPr lang="en-US" altLang="zh-TW" baseline="-25000" dirty="0" smtClean="0"/>
                        <a:t>1</a:t>
                      </a:r>
                      <a:endParaRPr lang="zh-TW" altLang="en-US" baseline="-25000" dirty="0"/>
                    </a:p>
                  </a:txBody>
                  <a:tcPr/>
                </a:tc>
                <a:tc>
                  <a:txBody>
                    <a:bodyPr/>
                    <a:lstStyle/>
                    <a:p>
                      <a:pPr algn="ctr"/>
                      <a:r>
                        <a:rPr lang="en-US" altLang="zh-TW" dirty="0" smtClean="0"/>
                        <a:t>a</a:t>
                      </a:r>
                      <a:r>
                        <a:rPr lang="en-US" altLang="zh-TW" baseline="-25000" dirty="0" smtClean="0"/>
                        <a:t>2</a:t>
                      </a:r>
                      <a:endParaRPr lang="zh-TW" altLang="en-US" baseline="-25000" dirty="0"/>
                    </a:p>
                  </a:txBody>
                  <a:tcPr/>
                </a:tc>
                <a:tc>
                  <a:txBody>
                    <a:bodyPr/>
                    <a:lstStyle/>
                    <a:p>
                      <a:pPr algn="ctr"/>
                      <a:r>
                        <a:rPr lang="en-US" altLang="zh-TW" dirty="0" smtClean="0"/>
                        <a:t>a</a:t>
                      </a:r>
                      <a:r>
                        <a:rPr lang="en-US" altLang="zh-TW" baseline="-25000" dirty="0" smtClean="0"/>
                        <a:t>3</a:t>
                      </a:r>
                      <a:endParaRPr lang="zh-TW" altLang="en-US" baseline="-25000" dirty="0"/>
                    </a:p>
                  </a:txBody>
                  <a:tcPr/>
                </a:tc>
              </a:tr>
              <a:tr h="382841">
                <a:tc>
                  <a:txBody>
                    <a:bodyPr/>
                    <a:lstStyle/>
                    <a:p>
                      <a:r>
                        <a:rPr lang="en-US" altLang="zh-TW" dirty="0" smtClean="0"/>
                        <a:t>Set1</a:t>
                      </a:r>
                      <a:endParaRPr lang="zh-TW" altLang="en-US" dirty="0"/>
                    </a:p>
                  </a:txBody>
                  <a:tcPr/>
                </a:tc>
                <a:tc>
                  <a:txBody>
                    <a:bodyPr/>
                    <a:lstStyle/>
                    <a:p>
                      <a:r>
                        <a:rPr lang="en-US" altLang="zh-TW" dirty="0" smtClean="0"/>
                        <a:t>{x</a:t>
                      </a:r>
                      <a:r>
                        <a:rPr lang="en-US" altLang="zh-TW" baseline="-25000" dirty="0" smtClean="0"/>
                        <a:t>1</a:t>
                      </a:r>
                      <a:r>
                        <a:rPr lang="en-US" altLang="zh-TW" dirty="0" smtClean="0"/>
                        <a:t>,x</a:t>
                      </a:r>
                      <a:r>
                        <a:rPr lang="en-US" altLang="zh-TW" baseline="-25000" dirty="0" smtClean="0"/>
                        <a:t>3</a:t>
                      </a:r>
                      <a:r>
                        <a:rPr lang="en-US" altLang="zh-TW" dirty="0" smtClean="0"/>
                        <a:t>,</a:t>
                      </a:r>
                      <a:r>
                        <a:rPr lang="en-US" altLang="zh-TW" baseline="0" dirty="0" smtClean="0"/>
                        <a:t>x</a:t>
                      </a:r>
                      <a:r>
                        <a:rPr lang="en-US" altLang="zh-TW" baseline="-25000" dirty="0" smtClean="0"/>
                        <a:t>9</a:t>
                      </a:r>
                      <a:r>
                        <a:rPr lang="en-US" altLang="zh-TW" baseline="0"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3</a:t>
                      </a:r>
                      <a:endParaRPr lang="zh-TW" altLang="en-US" dirty="0"/>
                    </a:p>
                  </a:txBody>
                  <a:tcPr/>
                </a:tc>
              </a:tr>
              <a:tr h="382841">
                <a:tc>
                  <a:txBody>
                    <a:bodyPr/>
                    <a:lstStyle/>
                    <a:p>
                      <a:r>
                        <a:rPr lang="en-US" altLang="zh-TW" dirty="0" smtClean="0"/>
                        <a:t>Set2</a:t>
                      </a:r>
                      <a:endParaRPr lang="zh-TW" altLang="en-US" dirty="0"/>
                    </a:p>
                  </a:txBody>
                  <a:tcPr/>
                </a:tc>
                <a:tc>
                  <a:txBody>
                    <a:bodyPr/>
                    <a:lstStyle/>
                    <a:p>
                      <a:r>
                        <a:rPr lang="en-US" altLang="zh-TW" dirty="0" smtClean="0"/>
                        <a:t>{x</a:t>
                      </a:r>
                      <a:r>
                        <a:rPr lang="en-US" altLang="zh-TW" baseline="-25000" dirty="0" smtClean="0"/>
                        <a:t>2</a:t>
                      </a:r>
                      <a:r>
                        <a:rPr lang="en-US" altLang="zh-TW" dirty="0" smtClean="0"/>
                        <a:t>,x</a:t>
                      </a:r>
                      <a:r>
                        <a:rPr lang="en-US" altLang="zh-TW" baseline="-25000" dirty="0" smtClean="0"/>
                        <a:t>7</a:t>
                      </a:r>
                      <a:r>
                        <a:rPr lang="en-US" altLang="zh-TW" dirty="0" smtClean="0"/>
                        <a:t>,x</a:t>
                      </a:r>
                      <a:r>
                        <a:rPr lang="en-US" altLang="zh-TW" baseline="-25000" dirty="0" smtClean="0"/>
                        <a:t>10</a:t>
                      </a:r>
                      <a:r>
                        <a:rPr lang="en-US" altLang="zh-TW" dirty="0" smtClean="0"/>
                        <a:t>}</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1</a:t>
                      </a:r>
                      <a:endParaRPr lang="zh-TW" altLang="en-US" dirty="0"/>
                    </a:p>
                  </a:txBody>
                  <a:tcPr/>
                </a:tc>
              </a:tr>
              <a:tr h="382841">
                <a:tc>
                  <a:txBody>
                    <a:bodyPr/>
                    <a:lstStyle/>
                    <a:p>
                      <a:r>
                        <a:rPr lang="en-US" altLang="zh-TW" dirty="0" smtClean="0"/>
                        <a:t>Set3</a:t>
                      </a:r>
                      <a:endParaRPr lang="zh-TW" altLang="en-US" dirty="0"/>
                    </a:p>
                  </a:txBody>
                  <a:tcPr/>
                </a:tc>
                <a:tc>
                  <a:txBody>
                    <a:bodyPr/>
                    <a:lstStyle/>
                    <a:p>
                      <a:r>
                        <a:rPr lang="en-US" altLang="zh-TW" dirty="0" smtClean="0"/>
                        <a:t>{x</a:t>
                      </a:r>
                      <a:r>
                        <a:rPr lang="en-US" altLang="zh-TW" baseline="-25000" dirty="0" smtClean="0"/>
                        <a:t>4</a:t>
                      </a:r>
                      <a:r>
                        <a:rPr lang="en-US" altLang="zh-TW" dirty="0" smtClean="0"/>
                        <a:t>}</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r>
              <a:tr h="382841">
                <a:tc>
                  <a:txBody>
                    <a:bodyPr/>
                    <a:lstStyle/>
                    <a:p>
                      <a:r>
                        <a:rPr lang="en-US" altLang="zh-TW" dirty="0" smtClean="0"/>
                        <a:t>Set4</a:t>
                      </a:r>
                      <a:endParaRPr lang="zh-TW" altLang="en-US" dirty="0"/>
                    </a:p>
                  </a:txBody>
                  <a:tcPr/>
                </a:tc>
                <a:tc>
                  <a:txBody>
                    <a:bodyPr/>
                    <a:lstStyle/>
                    <a:p>
                      <a:r>
                        <a:rPr lang="en-US" altLang="zh-TW" dirty="0" smtClean="0"/>
                        <a:t>{x</a:t>
                      </a:r>
                      <a:r>
                        <a:rPr lang="en-US" altLang="zh-TW" baseline="-25000" dirty="0" smtClean="0"/>
                        <a:t>5</a:t>
                      </a:r>
                      <a:r>
                        <a:rPr lang="en-US" altLang="zh-TW" dirty="0" smtClean="0"/>
                        <a:t>,</a:t>
                      </a:r>
                      <a:r>
                        <a:rPr lang="en-US" altLang="zh-TW" baseline="0" dirty="0" smtClean="0"/>
                        <a:t> x</a:t>
                      </a:r>
                      <a:r>
                        <a:rPr lang="en-US" altLang="zh-TW" baseline="-25000" dirty="0" smtClean="0"/>
                        <a:t>8</a:t>
                      </a:r>
                      <a:r>
                        <a:rPr lang="en-US" altLang="zh-TW" baseline="0"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4</a:t>
                      </a:r>
                      <a:endParaRPr lang="zh-TW" altLang="en-US" dirty="0"/>
                    </a:p>
                  </a:txBody>
                  <a:tcPr/>
                </a:tc>
              </a:tr>
              <a:tr h="382841">
                <a:tc>
                  <a:txBody>
                    <a:bodyPr/>
                    <a:lstStyle/>
                    <a:p>
                      <a:r>
                        <a:rPr lang="en-US" altLang="zh-TW" dirty="0" smtClean="0"/>
                        <a:t>Set5</a:t>
                      </a:r>
                      <a:endParaRPr lang="zh-TW" altLang="en-US" dirty="0"/>
                    </a:p>
                  </a:txBody>
                  <a:tcPr/>
                </a:tc>
                <a:tc>
                  <a:txBody>
                    <a:bodyPr/>
                    <a:lstStyle/>
                    <a:p>
                      <a:r>
                        <a:rPr lang="en-US" altLang="zh-TW" dirty="0" smtClean="0"/>
                        <a:t>{x</a:t>
                      </a:r>
                      <a:r>
                        <a:rPr lang="en-US" altLang="zh-TW" baseline="-25000" dirty="0" smtClean="0"/>
                        <a:t>6</a:t>
                      </a: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r>
            </a:tbl>
          </a:graphicData>
        </a:graphic>
      </p:graphicFrame>
      <p:graphicFrame>
        <p:nvGraphicFramePr>
          <p:cNvPr id="8" name="表格 7"/>
          <p:cNvGraphicFramePr>
            <a:graphicFrameLocks noGrp="1"/>
          </p:cNvGraphicFramePr>
          <p:nvPr/>
        </p:nvGraphicFramePr>
        <p:xfrm>
          <a:off x="2699789" y="4444320"/>
          <a:ext cx="5760643" cy="2225040"/>
        </p:xfrm>
        <a:graphic>
          <a:graphicData uri="http://schemas.openxmlformats.org/drawingml/2006/table">
            <a:tbl>
              <a:tblPr firstRow="1" bandRow="1">
                <a:tableStyleId>{5C22544A-7EE6-4342-B048-85BDC9FD1C3A}</a:tableStyleId>
              </a:tblPr>
              <a:tblGrid>
                <a:gridCol w="694053"/>
                <a:gridCol w="1013318"/>
                <a:gridCol w="1013318"/>
                <a:gridCol w="1013318"/>
                <a:gridCol w="1013318"/>
                <a:gridCol w="1013318"/>
              </a:tblGrid>
              <a:tr h="370840">
                <a:tc>
                  <a:txBody>
                    <a:bodyPr/>
                    <a:lstStyle/>
                    <a:p>
                      <a:pPr algn="ctr"/>
                      <a:endParaRPr lang="zh-TW" altLang="en-US" sz="1800" dirty="0"/>
                    </a:p>
                  </a:txBody>
                  <a:tcPr/>
                </a:tc>
                <a:tc>
                  <a:txBody>
                    <a:bodyPr/>
                    <a:lstStyle/>
                    <a:p>
                      <a:pPr algn="ctr"/>
                      <a:r>
                        <a:rPr lang="en-US" altLang="zh-TW" sz="1800" dirty="0" smtClean="0"/>
                        <a:t>Set1</a:t>
                      </a:r>
                      <a:endParaRPr lang="zh-TW" altLang="en-US" sz="1800" dirty="0"/>
                    </a:p>
                  </a:txBody>
                  <a:tcPr/>
                </a:tc>
                <a:tc>
                  <a:txBody>
                    <a:bodyPr/>
                    <a:lstStyle/>
                    <a:p>
                      <a:pPr algn="ctr"/>
                      <a:r>
                        <a:rPr lang="en-US" altLang="zh-TW" sz="1800" dirty="0" smtClean="0"/>
                        <a:t>Set2</a:t>
                      </a:r>
                      <a:endParaRPr lang="zh-TW" altLang="en-US" sz="1800" dirty="0"/>
                    </a:p>
                  </a:txBody>
                  <a:tcPr/>
                </a:tc>
                <a:tc>
                  <a:txBody>
                    <a:bodyPr/>
                    <a:lstStyle/>
                    <a:p>
                      <a:pPr algn="ctr"/>
                      <a:r>
                        <a:rPr lang="en-US" altLang="zh-TW" sz="1800" dirty="0" smtClean="0"/>
                        <a:t>Set3</a:t>
                      </a:r>
                      <a:endParaRPr lang="zh-TW" altLang="en-US" sz="1800" dirty="0"/>
                    </a:p>
                  </a:txBody>
                  <a:tcPr/>
                </a:tc>
                <a:tc>
                  <a:txBody>
                    <a:bodyPr/>
                    <a:lstStyle/>
                    <a:p>
                      <a:pPr algn="ctr"/>
                      <a:r>
                        <a:rPr lang="en-US" altLang="zh-TW" sz="1800" dirty="0" smtClean="0"/>
                        <a:t>Set4</a:t>
                      </a:r>
                      <a:endParaRPr lang="zh-TW" altLang="en-US" sz="1800" dirty="0"/>
                    </a:p>
                  </a:txBody>
                  <a:tcPr/>
                </a:tc>
                <a:tc>
                  <a:txBody>
                    <a:bodyPr/>
                    <a:lstStyle/>
                    <a:p>
                      <a:pPr algn="ctr"/>
                      <a:r>
                        <a:rPr lang="en-US" altLang="zh-TW" sz="1800" dirty="0" smtClean="0"/>
                        <a:t>Set5</a:t>
                      </a:r>
                      <a:endParaRPr lang="zh-TW" altLang="en-US" sz="1800" dirty="0"/>
                    </a:p>
                  </a:txBody>
                  <a:tcPr/>
                </a:tc>
              </a:tr>
              <a:tr h="370840">
                <a:tc>
                  <a:txBody>
                    <a:bodyPr/>
                    <a:lstStyle/>
                    <a:p>
                      <a:pPr algn="ctr"/>
                      <a:r>
                        <a:rPr lang="en-US" altLang="zh-TW" sz="1800" dirty="0" smtClean="0"/>
                        <a:t>Set1</a:t>
                      </a:r>
                      <a:endParaRPr lang="zh-TW" altLang="en-US" sz="1800" dirty="0"/>
                    </a:p>
                  </a:txBody>
                  <a:tcPr/>
                </a:tc>
                <a:tc>
                  <a:txBody>
                    <a:bodyPr/>
                    <a:lstStyle/>
                    <a:p>
                      <a:pPr algn="ctr"/>
                      <a:endParaRPr lang="zh-TW"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dirty="0" smtClean="0"/>
                        <a:t>a</a:t>
                      </a:r>
                      <a:r>
                        <a:rPr lang="en-US" altLang="zh-TW" sz="1800" baseline="-25000" dirty="0" smtClean="0"/>
                        <a:t>2</a:t>
                      </a:r>
                      <a:r>
                        <a:rPr lang="en-US" altLang="zh-TW" sz="1800" dirty="0" smtClean="0"/>
                        <a:t>,a</a:t>
                      </a:r>
                      <a:r>
                        <a:rPr lang="en-US" altLang="zh-TW" sz="1800" baseline="-25000" dirty="0" smtClean="0"/>
                        <a:t>3</a:t>
                      </a:r>
                      <a:endParaRPr lang="zh-TW" altLang="en-US" sz="1800" baseline="-25000" dirty="0" smtClean="0"/>
                    </a:p>
                  </a:txBody>
                  <a:tcPr/>
                </a:tc>
                <a:tc>
                  <a:txBody>
                    <a:bodyPr/>
                    <a:lstStyle/>
                    <a:p>
                      <a:pPr algn="ctr"/>
                      <a:r>
                        <a:rPr lang="en-US" altLang="zh-TW" sz="1800" dirty="0" smtClean="0"/>
                        <a:t>a</a:t>
                      </a:r>
                      <a:r>
                        <a:rPr lang="en-US" altLang="zh-TW" sz="1800" baseline="-25000" dirty="0" smtClean="0"/>
                        <a:t>2</a:t>
                      </a:r>
                      <a:endParaRPr lang="zh-TW" altLang="en-US" sz="1800" baseline="-25000" dirty="0"/>
                    </a:p>
                  </a:txBody>
                  <a:tcPr/>
                </a:tc>
                <a:tc>
                  <a:txBody>
                    <a:bodyPr/>
                    <a:lstStyle/>
                    <a:p>
                      <a:pPr algn="ctr"/>
                      <a:r>
                        <a:rPr lang="en-US" altLang="zh-TW" sz="1800" dirty="0" smtClean="0"/>
                        <a:t>a</a:t>
                      </a:r>
                      <a:r>
                        <a:rPr lang="en-US" altLang="zh-TW" sz="1800" baseline="-25000" dirty="0" smtClean="0"/>
                        <a:t>3</a:t>
                      </a:r>
                      <a:endParaRPr lang="zh-TW" altLang="en-US" sz="1800" baseline="-25000" dirty="0"/>
                    </a:p>
                  </a:txBody>
                  <a:tcPr/>
                </a:tc>
                <a:tc>
                  <a:txBody>
                    <a:bodyPr/>
                    <a:lstStyle/>
                    <a:p>
                      <a:pPr algn="ctr"/>
                      <a:r>
                        <a:rPr lang="en-US" altLang="zh-TW" sz="1800" dirty="0" smtClean="0"/>
                        <a:t>a</a:t>
                      </a:r>
                      <a:r>
                        <a:rPr lang="en-US" altLang="zh-TW" sz="1800" baseline="-25000" dirty="0" smtClean="0"/>
                        <a:t>3</a:t>
                      </a:r>
                      <a:endParaRPr lang="zh-TW" altLang="en-US" sz="1800" baseline="-25000" dirty="0"/>
                    </a:p>
                  </a:txBody>
                  <a:tcPr/>
                </a:tc>
              </a:tr>
              <a:tr h="370840">
                <a:tc>
                  <a:txBody>
                    <a:bodyPr/>
                    <a:lstStyle/>
                    <a:p>
                      <a:pPr algn="ctr"/>
                      <a:r>
                        <a:rPr lang="en-US" altLang="zh-TW" sz="1800" dirty="0" smtClean="0"/>
                        <a:t>Set2</a:t>
                      </a:r>
                      <a:endParaRPr lang="zh-TW" altLang="en-US" sz="1800" dirty="0"/>
                    </a:p>
                  </a:txBody>
                  <a:tcPr/>
                </a:tc>
                <a:tc>
                  <a:txBody>
                    <a:bodyPr/>
                    <a:lstStyle/>
                    <a:p>
                      <a:pPr algn="ctr"/>
                      <a:r>
                        <a:rPr lang="en-US" altLang="zh-TW" sz="1800" dirty="0" smtClean="0"/>
                        <a:t>a</a:t>
                      </a:r>
                      <a:r>
                        <a:rPr lang="en-US" altLang="zh-TW" sz="1800" baseline="-25000" dirty="0" smtClean="0"/>
                        <a:t>2</a:t>
                      </a:r>
                      <a:r>
                        <a:rPr lang="en-US" altLang="zh-TW" sz="1800" dirty="0" smtClean="0"/>
                        <a:t>,a</a:t>
                      </a:r>
                      <a:r>
                        <a:rPr lang="en-US" altLang="zh-TW" sz="1800" baseline="-25000" dirty="0" smtClean="0"/>
                        <a:t>3</a:t>
                      </a:r>
                      <a:endParaRPr lang="zh-TW" altLang="en-US" sz="1800" baseline="-25000" dirty="0"/>
                    </a:p>
                  </a:txBody>
                  <a:tcPr/>
                </a:tc>
                <a:tc>
                  <a:txBody>
                    <a:bodyPr/>
                    <a:lstStyle/>
                    <a:p>
                      <a:pPr algn="ctr"/>
                      <a:endParaRPr lang="zh-TW" altLang="en-US" sz="1800" dirty="0"/>
                    </a:p>
                  </a:txBody>
                  <a:tcPr/>
                </a:tc>
                <a:tc>
                  <a:txBody>
                    <a:bodyPr/>
                    <a:lstStyle/>
                    <a:p>
                      <a:pPr algn="ctr"/>
                      <a:r>
                        <a:rPr lang="en-US" altLang="zh-TW" sz="1800" dirty="0" smtClean="0"/>
                        <a:t>a</a:t>
                      </a:r>
                      <a:r>
                        <a:rPr lang="en-US" altLang="zh-TW" sz="1800" baseline="-25000" dirty="0" smtClean="0"/>
                        <a:t>3</a:t>
                      </a:r>
                      <a:endParaRPr lang="zh-TW" altLang="en-US" sz="1800" baseline="-25000" dirty="0"/>
                    </a:p>
                  </a:txBody>
                  <a:tcPr/>
                </a:tc>
                <a:tc>
                  <a:txBody>
                    <a:bodyPr/>
                    <a:lstStyle/>
                    <a:p>
                      <a:pPr algn="ctr"/>
                      <a:r>
                        <a:rPr lang="en-US" altLang="zh-TW" sz="1800" dirty="0" smtClean="0"/>
                        <a:t>a</a:t>
                      </a:r>
                      <a:r>
                        <a:rPr lang="en-US" altLang="zh-TW" sz="1800" baseline="-25000" dirty="0" smtClean="0"/>
                        <a:t>2</a:t>
                      </a:r>
                      <a:r>
                        <a:rPr lang="en-US" altLang="zh-TW" sz="1800" dirty="0" smtClean="0"/>
                        <a:t>,a</a:t>
                      </a:r>
                      <a:r>
                        <a:rPr lang="en-US" altLang="zh-TW" sz="1800" baseline="-25000" dirty="0" smtClean="0"/>
                        <a:t>3</a:t>
                      </a:r>
                      <a:endParaRPr lang="zh-TW" altLang="en-US" sz="1800"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dirty="0" smtClean="0"/>
                        <a:t>a</a:t>
                      </a:r>
                      <a:r>
                        <a:rPr lang="en-US" altLang="zh-TW" sz="1800" baseline="-25000" dirty="0" smtClean="0"/>
                        <a:t>2</a:t>
                      </a:r>
                      <a:r>
                        <a:rPr lang="en-US" altLang="zh-TW" sz="1800" dirty="0" smtClean="0"/>
                        <a:t>,a</a:t>
                      </a:r>
                      <a:r>
                        <a:rPr lang="en-US" altLang="zh-TW" sz="1800" baseline="-25000" dirty="0" smtClean="0"/>
                        <a:t>3</a:t>
                      </a:r>
                      <a:endParaRPr lang="zh-TW" altLang="en-US" sz="1800" baseline="-25000" dirty="0" smtClean="0"/>
                    </a:p>
                  </a:txBody>
                  <a:tcPr/>
                </a:tc>
              </a:tr>
              <a:tr h="370840">
                <a:tc>
                  <a:txBody>
                    <a:bodyPr/>
                    <a:lstStyle/>
                    <a:p>
                      <a:pPr algn="ctr"/>
                      <a:r>
                        <a:rPr lang="en-US" altLang="zh-TW" sz="1800" dirty="0" smtClean="0"/>
                        <a:t>Set3</a:t>
                      </a:r>
                      <a:endParaRPr lang="zh-TW" altLang="en-US" sz="1800" dirty="0"/>
                    </a:p>
                  </a:txBody>
                  <a:tcPr/>
                </a:tc>
                <a:tc>
                  <a:txBody>
                    <a:bodyPr/>
                    <a:lstStyle/>
                    <a:p>
                      <a:pPr algn="ctr"/>
                      <a:r>
                        <a:rPr lang="en-US" altLang="zh-TW" sz="1800" dirty="0" smtClean="0"/>
                        <a:t>a</a:t>
                      </a:r>
                      <a:r>
                        <a:rPr lang="en-US" altLang="zh-TW" sz="1800" baseline="-25000" dirty="0" smtClean="0"/>
                        <a:t>2</a:t>
                      </a:r>
                      <a:endParaRPr lang="zh-TW" altLang="en-US" sz="1800" baseline="-25000" dirty="0"/>
                    </a:p>
                  </a:txBody>
                  <a:tcPr/>
                </a:tc>
                <a:tc>
                  <a:txBody>
                    <a:bodyPr/>
                    <a:lstStyle/>
                    <a:p>
                      <a:pPr algn="ctr"/>
                      <a:r>
                        <a:rPr lang="en-US" altLang="zh-TW" sz="1800" dirty="0" smtClean="0"/>
                        <a:t>a</a:t>
                      </a:r>
                      <a:r>
                        <a:rPr lang="en-US" altLang="zh-TW" sz="1800" baseline="-25000" dirty="0" smtClean="0"/>
                        <a:t>3</a:t>
                      </a:r>
                      <a:endParaRPr lang="zh-TW" altLang="en-US" sz="1800" baseline="-25000" dirty="0"/>
                    </a:p>
                  </a:txBody>
                  <a:tcPr/>
                </a:tc>
                <a:tc>
                  <a:txBody>
                    <a:bodyPr/>
                    <a:lstStyle/>
                    <a:p>
                      <a:pPr algn="ctr"/>
                      <a:endParaRPr lang="zh-TW" alt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dirty="0" smtClean="0"/>
                        <a:t>a</a:t>
                      </a:r>
                      <a:r>
                        <a:rPr lang="en-US" altLang="zh-TW" sz="1800" baseline="-25000" dirty="0" smtClean="0"/>
                        <a:t>2</a:t>
                      </a:r>
                      <a:r>
                        <a:rPr lang="en-US" altLang="zh-TW" sz="1800" dirty="0" smtClean="0"/>
                        <a:t>,a</a:t>
                      </a:r>
                      <a:r>
                        <a:rPr lang="en-US" altLang="zh-TW" sz="1800" baseline="-25000" dirty="0" smtClean="0"/>
                        <a:t>3</a:t>
                      </a:r>
                      <a:endParaRPr lang="zh-TW" altLang="en-US" sz="18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dirty="0" smtClean="0"/>
                        <a:t>a</a:t>
                      </a:r>
                      <a:r>
                        <a:rPr lang="en-US" altLang="zh-TW" sz="1800" baseline="-25000" dirty="0" smtClean="0"/>
                        <a:t>2</a:t>
                      </a:r>
                      <a:r>
                        <a:rPr lang="en-US" altLang="zh-TW" sz="1800" dirty="0" smtClean="0"/>
                        <a:t>,a</a:t>
                      </a:r>
                      <a:r>
                        <a:rPr lang="en-US" altLang="zh-TW" sz="1800" baseline="-25000" dirty="0" smtClean="0"/>
                        <a:t>3</a:t>
                      </a:r>
                      <a:endParaRPr lang="zh-TW" altLang="en-US" sz="1800" baseline="-25000" dirty="0" smtClean="0"/>
                    </a:p>
                  </a:txBody>
                  <a:tcPr/>
                </a:tc>
              </a:tr>
              <a:tr h="370840">
                <a:tc>
                  <a:txBody>
                    <a:bodyPr/>
                    <a:lstStyle/>
                    <a:p>
                      <a:pPr algn="ctr"/>
                      <a:r>
                        <a:rPr lang="en-US" altLang="zh-TW" sz="1800" dirty="0" smtClean="0"/>
                        <a:t>Set4</a:t>
                      </a:r>
                      <a:endParaRPr lang="zh-TW" altLang="en-US" sz="1800" dirty="0"/>
                    </a:p>
                  </a:txBody>
                  <a:tcPr/>
                </a:tc>
                <a:tc>
                  <a:txBody>
                    <a:bodyPr/>
                    <a:lstStyle/>
                    <a:p>
                      <a:pPr algn="ctr"/>
                      <a:r>
                        <a:rPr lang="en-US" altLang="zh-TW" sz="1800" dirty="0" smtClean="0"/>
                        <a:t> a</a:t>
                      </a:r>
                      <a:r>
                        <a:rPr lang="en-US" altLang="zh-TW" sz="1800" baseline="-25000" dirty="0" smtClean="0"/>
                        <a:t>3</a:t>
                      </a:r>
                      <a:endParaRPr lang="zh-TW" altLang="en-US" sz="1800" baseline="-25000" dirty="0"/>
                    </a:p>
                  </a:txBody>
                  <a:tcPr/>
                </a:tc>
                <a:tc>
                  <a:txBody>
                    <a:bodyPr/>
                    <a:lstStyle/>
                    <a:p>
                      <a:pPr algn="ctr"/>
                      <a:r>
                        <a:rPr lang="en-US" altLang="zh-TW" sz="1800" dirty="0" smtClean="0"/>
                        <a:t>a</a:t>
                      </a:r>
                      <a:r>
                        <a:rPr lang="en-US" altLang="zh-TW" sz="1800" baseline="-25000" dirty="0" smtClean="0"/>
                        <a:t>2</a:t>
                      </a:r>
                      <a:r>
                        <a:rPr lang="en-US" altLang="zh-TW" sz="1800" dirty="0" smtClean="0"/>
                        <a:t>, a</a:t>
                      </a:r>
                      <a:r>
                        <a:rPr lang="en-US" altLang="zh-TW" sz="1800" baseline="-25000" dirty="0" smtClean="0"/>
                        <a:t>3</a:t>
                      </a:r>
                      <a:endParaRPr lang="zh-TW" altLang="en-US" sz="1800"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dirty="0" smtClean="0"/>
                        <a:t>a</a:t>
                      </a:r>
                      <a:r>
                        <a:rPr lang="en-US" altLang="zh-TW" sz="1800" baseline="-25000" dirty="0" smtClean="0"/>
                        <a:t>2</a:t>
                      </a:r>
                      <a:r>
                        <a:rPr lang="en-US" altLang="zh-TW" sz="1800" dirty="0" smtClean="0"/>
                        <a:t>, a</a:t>
                      </a:r>
                      <a:r>
                        <a:rPr lang="en-US" altLang="zh-TW" sz="1800" baseline="-25000" dirty="0" smtClean="0"/>
                        <a:t>3</a:t>
                      </a:r>
                      <a:endParaRPr lang="zh-TW" altLang="en-US" sz="1800" baseline="-25000" dirty="0" smtClean="0"/>
                    </a:p>
                  </a:txBody>
                  <a:tcPr/>
                </a:tc>
                <a:tc>
                  <a:txBody>
                    <a:bodyPr/>
                    <a:lstStyle/>
                    <a:p>
                      <a:pPr algn="ctr"/>
                      <a:endParaRPr lang="zh-TW" altLang="en-US" sz="1800" dirty="0"/>
                    </a:p>
                  </a:txBody>
                  <a:tcPr/>
                </a:tc>
                <a:tc>
                  <a:txBody>
                    <a:bodyPr/>
                    <a:lstStyle/>
                    <a:p>
                      <a:pPr algn="ctr"/>
                      <a:r>
                        <a:rPr lang="en-US" altLang="zh-TW" sz="1800" dirty="0" smtClean="0"/>
                        <a:t>a</a:t>
                      </a:r>
                      <a:r>
                        <a:rPr lang="en-US" altLang="zh-TW" sz="1800" baseline="-25000" dirty="0" smtClean="0"/>
                        <a:t>3</a:t>
                      </a:r>
                      <a:endParaRPr lang="zh-TW" altLang="en-US" sz="1800" baseline="-25000" dirty="0"/>
                    </a:p>
                  </a:txBody>
                  <a:tcPr/>
                </a:tc>
              </a:tr>
              <a:tr h="370840">
                <a:tc>
                  <a:txBody>
                    <a:bodyPr/>
                    <a:lstStyle/>
                    <a:p>
                      <a:pPr algn="ctr"/>
                      <a:r>
                        <a:rPr lang="en-US" altLang="zh-TW" sz="1800" dirty="0" smtClean="0"/>
                        <a:t>Set5</a:t>
                      </a:r>
                      <a:endParaRPr lang="zh-TW" altLang="en-US" sz="1800" dirty="0"/>
                    </a:p>
                  </a:txBody>
                  <a:tcPr/>
                </a:tc>
                <a:tc>
                  <a:txBody>
                    <a:bodyPr/>
                    <a:lstStyle/>
                    <a:p>
                      <a:pPr algn="ctr"/>
                      <a:r>
                        <a:rPr lang="en-US" altLang="zh-TW" sz="1800" dirty="0" smtClean="0"/>
                        <a:t> a</a:t>
                      </a:r>
                      <a:r>
                        <a:rPr lang="en-US" altLang="zh-TW" sz="1800" baseline="-25000" dirty="0" smtClean="0"/>
                        <a:t>3</a:t>
                      </a:r>
                      <a:endParaRPr lang="zh-TW" altLang="en-US" sz="1800"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dirty="0" smtClean="0"/>
                        <a:t>a</a:t>
                      </a:r>
                      <a:r>
                        <a:rPr lang="en-US" altLang="zh-TW" sz="1800" baseline="-25000" dirty="0" smtClean="0"/>
                        <a:t>2</a:t>
                      </a:r>
                      <a:r>
                        <a:rPr lang="en-US" altLang="zh-TW" sz="1800" dirty="0" smtClean="0"/>
                        <a:t>, a</a:t>
                      </a:r>
                      <a:r>
                        <a:rPr lang="en-US" altLang="zh-TW" sz="1800" baseline="-25000" dirty="0" smtClean="0"/>
                        <a:t>3</a:t>
                      </a:r>
                      <a:endParaRPr lang="zh-TW" altLang="en-US" sz="18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dirty="0" smtClean="0"/>
                        <a:t>a</a:t>
                      </a:r>
                      <a:r>
                        <a:rPr lang="en-US" altLang="zh-TW" sz="1800" baseline="-25000" dirty="0" smtClean="0"/>
                        <a:t>2</a:t>
                      </a:r>
                      <a:r>
                        <a:rPr lang="en-US" altLang="zh-TW" sz="1800" dirty="0" smtClean="0"/>
                        <a:t>, a</a:t>
                      </a:r>
                      <a:r>
                        <a:rPr lang="en-US" altLang="zh-TW" sz="1800" baseline="-25000" dirty="0" smtClean="0"/>
                        <a:t>3</a:t>
                      </a:r>
                      <a:endParaRPr lang="zh-TW" altLang="en-US" sz="1800" baseline="-25000" dirty="0" smtClean="0"/>
                    </a:p>
                  </a:txBody>
                  <a:tcPr/>
                </a:tc>
                <a:tc>
                  <a:txBody>
                    <a:bodyPr/>
                    <a:lstStyle/>
                    <a:p>
                      <a:pPr algn="ctr"/>
                      <a:r>
                        <a:rPr lang="en-US" altLang="zh-TW" sz="1800" dirty="0" smtClean="0"/>
                        <a:t>a</a:t>
                      </a:r>
                      <a:r>
                        <a:rPr lang="en-US" altLang="zh-TW" sz="1800" baseline="-25000" dirty="0" smtClean="0"/>
                        <a:t>3</a:t>
                      </a:r>
                      <a:endParaRPr lang="zh-TW" altLang="en-US" sz="1800" baseline="-25000" dirty="0"/>
                    </a:p>
                  </a:txBody>
                  <a:tcPr/>
                </a:tc>
                <a:tc>
                  <a:txBody>
                    <a:bodyPr/>
                    <a:lstStyle/>
                    <a:p>
                      <a:pPr algn="ctr"/>
                      <a:endParaRPr lang="zh-TW" altLang="en-US" sz="1800" dirty="0"/>
                    </a:p>
                  </a:txBody>
                  <a:tcPr/>
                </a:tc>
              </a:tr>
            </a:tbl>
          </a:graphicData>
        </a:graphic>
      </p:graphicFrame>
      <p:sp>
        <p:nvSpPr>
          <p:cNvPr id="9" name="文字方塊 8"/>
          <p:cNvSpPr txBox="1"/>
          <p:nvPr/>
        </p:nvSpPr>
        <p:spPr>
          <a:xfrm>
            <a:off x="0" y="4437112"/>
            <a:ext cx="2520280" cy="923330"/>
          </a:xfrm>
          <a:prstGeom prst="rect">
            <a:avLst/>
          </a:prstGeom>
          <a:noFill/>
        </p:spPr>
        <p:txBody>
          <a:bodyPr wrap="square" rtlCol="0">
            <a:spAutoFit/>
          </a:bodyPr>
          <a:lstStyle/>
          <a:p>
            <a:r>
              <a:rPr lang="en-US" altLang="zh-TW" dirty="0" err="1" smtClean="0">
                <a:solidFill>
                  <a:srgbClr val="0066FF"/>
                </a:solidFill>
                <a:latin typeface="微軟正黑體" pitchFamily="34" charset="-120"/>
                <a:ea typeface="微軟正黑體" pitchFamily="34" charset="-120"/>
              </a:rPr>
              <a:t>Discernibility</a:t>
            </a:r>
            <a:r>
              <a:rPr lang="en-US" altLang="zh-TW" dirty="0" smtClean="0">
                <a:solidFill>
                  <a:srgbClr val="0066FF"/>
                </a:solidFill>
                <a:latin typeface="微軟正黑體" pitchFamily="34" charset="-120"/>
                <a:ea typeface="微軟正黑體" pitchFamily="34" charset="-120"/>
              </a:rPr>
              <a:t> matrix:</a:t>
            </a:r>
          </a:p>
          <a:p>
            <a:r>
              <a:rPr lang="en-US" altLang="zh-TW" dirty="0" err="1" smtClean="0">
                <a:latin typeface="微軟正黑體" pitchFamily="34" charset="-120"/>
                <a:ea typeface="微軟正黑體" pitchFamily="34" charset="-120"/>
              </a:rPr>
              <a:t>須使用何種attributes來區分</a:t>
            </a:r>
            <a:r>
              <a:rPr lang="zh-TW" altLang="en-US" dirty="0" smtClean="0">
                <a:latin typeface="微軟正黑體" pitchFamily="34" charset="-120"/>
                <a:ea typeface="微軟正黑體" pitchFamily="34" charset="-120"/>
              </a:rPr>
              <a:t>不同的</a:t>
            </a:r>
            <a:r>
              <a:rPr lang="en-US" altLang="zh-TW" dirty="0" smtClean="0">
                <a:latin typeface="微軟正黑體" pitchFamily="34" charset="-120"/>
                <a:ea typeface="微軟正黑體" pitchFamily="34" charset="-120"/>
              </a:rPr>
              <a:t>sets</a:t>
            </a:r>
            <a:endParaRPr lang="zh-TW" altLang="en-US" dirty="0">
              <a:latin typeface="微軟正黑體" pitchFamily="34" charset="-120"/>
              <a:ea typeface="微軟正黑體" pitchFamily="34" charset="-120"/>
            </a:endParaRPr>
          </a:p>
        </p:txBody>
      </p:sp>
      <p:sp>
        <p:nvSpPr>
          <p:cNvPr id="10" name="投影片編號版面配置區 9"/>
          <p:cNvSpPr>
            <a:spLocks noGrp="1"/>
          </p:cNvSpPr>
          <p:nvPr>
            <p:ph type="sldNum" sz="quarter" idx="12"/>
          </p:nvPr>
        </p:nvSpPr>
        <p:spPr/>
        <p:txBody>
          <a:bodyPr/>
          <a:lstStyle/>
          <a:p>
            <a:fld id="{0914735A-2DD1-49E1-A8E8-1A4F28A0E6C3}" type="slidenum">
              <a:rPr lang="zh-TW" altLang="en-US" smtClean="0"/>
              <a:pPr/>
              <a:t>18</a:t>
            </a:fld>
            <a:endParaRPr lang="zh-TW"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395536" y="188640"/>
            <a:ext cx="8280920" cy="2677656"/>
          </a:xfrm>
          <a:prstGeom prst="rect">
            <a:avLst/>
          </a:prstGeom>
          <a:noFill/>
        </p:spPr>
        <p:txBody>
          <a:bodyPr wrap="square" rtlCol="0">
            <a:spAutoFit/>
          </a:bodyPr>
          <a:lstStyle/>
          <a:p>
            <a:r>
              <a:rPr lang="en-US" altLang="zh-TW" sz="2400" dirty="0" smtClean="0">
                <a:solidFill>
                  <a:srgbClr val="0066FF"/>
                </a:solidFill>
                <a:latin typeface="微軟正黑體" pitchFamily="34" charset="-120"/>
                <a:ea typeface="微軟正黑體" pitchFamily="34" charset="-120"/>
              </a:rPr>
              <a:t>f</a:t>
            </a:r>
            <a:r>
              <a:rPr lang="en-US" altLang="zh-TW" sz="2400" baseline="-25000" dirty="0" smtClean="0">
                <a:solidFill>
                  <a:srgbClr val="0066FF"/>
                </a:solidFill>
                <a:latin typeface="微軟正黑體" pitchFamily="34" charset="-120"/>
                <a:ea typeface="微軟正黑體" pitchFamily="34" charset="-120"/>
              </a:rPr>
              <a:t>1</a:t>
            </a:r>
            <a:r>
              <a:rPr lang="en-US" altLang="zh-TW" sz="2400" dirty="0" smtClean="0">
                <a:solidFill>
                  <a:srgbClr val="0066FF"/>
                </a:solidFill>
                <a:latin typeface="微軟正黑體" pitchFamily="34" charset="-120"/>
                <a:ea typeface="微軟正黑體" pitchFamily="34" charset="-120"/>
              </a:rPr>
              <a:t>(A)為分辨set1與set{2,3,4,5}</a:t>
            </a:r>
            <a:r>
              <a:rPr lang="en-US" altLang="zh-TW" sz="2400" dirty="0" err="1" smtClean="0">
                <a:solidFill>
                  <a:srgbClr val="0066FF"/>
                </a:solidFill>
                <a:latin typeface="微軟正黑體" pitchFamily="34" charset="-120"/>
                <a:ea typeface="微軟正黑體" pitchFamily="34" charset="-120"/>
              </a:rPr>
              <a:t>至少需要那些attributes</a:t>
            </a:r>
            <a:r>
              <a:rPr lang="zh-TW" altLang="en-US" sz="2400" dirty="0" smtClean="0">
                <a:solidFill>
                  <a:srgbClr val="0066FF"/>
                </a:solidFill>
                <a:latin typeface="微軟正黑體" pitchFamily="34" charset="-120"/>
                <a:ea typeface="微軟正黑體" pitchFamily="34" charset="-120"/>
              </a:rPr>
              <a:t>，以此類推</a:t>
            </a:r>
            <a:endParaRPr lang="en-US" altLang="zh-TW" sz="2400" dirty="0" smtClean="0">
              <a:solidFill>
                <a:srgbClr val="0066FF"/>
              </a:solidFill>
              <a:latin typeface="微軟正黑體" pitchFamily="34" charset="-120"/>
              <a:ea typeface="微軟正黑體" pitchFamily="34" charset="-120"/>
            </a:endParaRPr>
          </a:p>
          <a:p>
            <a:r>
              <a:rPr lang="en-US" altLang="zh-TW" sz="2400" dirty="0" smtClean="0">
                <a:latin typeface="微軟正黑體" pitchFamily="34" charset="-120"/>
                <a:ea typeface="微軟正黑體" pitchFamily="34" charset="-120"/>
              </a:rPr>
              <a:t>f</a:t>
            </a:r>
            <a:r>
              <a:rPr lang="en-US" altLang="zh-TW" sz="2400" baseline="-25000" dirty="0" smtClean="0">
                <a:latin typeface="微軟正黑體" pitchFamily="34" charset="-120"/>
                <a:ea typeface="微軟正黑體" pitchFamily="34" charset="-120"/>
              </a:rPr>
              <a:t>1</a:t>
            </a:r>
            <a:r>
              <a:rPr lang="en-US" altLang="zh-TW" sz="2400" dirty="0" smtClean="0">
                <a:latin typeface="微軟正黑體" pitchFamily="34" charset="-120"/>
                <a:ea typeface="微軟正黑體" pitchFamily="34" charset="-120"/>
              </a:rPr>
              <a:t>(A) = (a</a:t>
            </a:r>
            <a:r>
              <a:rPr lang="en-US" altLang="zh-TW" sz="2400" baseline="-25000" dirty="0" smtClean="0">
                <a:latin typeface="微軟正黑體" pitchFamily="34" charset="-120"/>
                <a:ea typeface="微軟正黑體" pitchFamily="34" charset="-120"/>
              </a:rPr>
              <a:t>2</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2</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3 </a:t>
            </a:r>
            <a:r>
              <a:rPr lang="en-US" altLang="zh-TW" sz="2400" dirty="0" smtClean="0">
                <a:latin typeface="微軟正黑體" pitchFamily="34" charset="-120"/>
                <a:ea typeface="微軟正黑體" pitchFamily="34" charset="-120"/>
              </a:rPr>
              <a:t>= a</a:t>
            </a:r>
            <a:r>
              <a:rPr lang="en-US" altLang="zh-TW" sz="2400" baseline="-25000" dirty="0" smtClean="0">
                <a:latin typeface="微軟正黑體" pitchFamily="34" charset="-120"/>
                <a:ea typeface="微軟正黑體" pitchFamily="34" charset="-120"/>
              </a:rPr>
              <a:t>2</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3</a:t>
            </a:r>
          </a:p>
          <a:p>
            <a:r>
              <a:rPr lang="en-US" altLang="zh-TW" sz="2400" dirty="0" smtClean="0">
                <a:latin typeface="微軟正黑體" pitchFamily="34" charset="-120"/>
                <a:ea typeface="微軟正黑體" pitchFamily="34" charset="-120"/>
              </a:rPr>
              <a:t>f</a:t>
            </a:r>
            <a:r>
              <a:rPr lang="en-US" altLang="zh-TW" sz="2400" baseline="-25000" dirty="0" smtClean="0">
                <a:latin typeface="微軟正黑體" pitchFamily="34" charset="-120"/>
                <a:ea typeface="微軟正黑體" pitchFamily="34" charset="-120"/>
              </a:rPr>
              <a:t>2</a:t>
            </a:r>
            <a:r>
              <a:rPr lang="en-US" altLang="zh-TW" sz="2400" dirty="0" smtClean="0">
                <a:latin typeface="微軟正黑體" pitchFamily="34" charset="-120"/>
                <a:ea typeface="微軟正黑體" pitchFamily="34" charset="-120"/>
              </a:rPr>
              <a:t>(A) = (a</a:t>
            </a:r>
            <a:r>
              <a:rPr lang="en-US" altLang="zh-TW" sz="2400" baseline="-25000" dirty="0" smtClean="0">
                <a:latin typeface="微軟正黑體" pitchFamily="34" charset="-120"/>
                <a:ea typeface="微軟正黑體" pitchFamily="34" charset="-120"/>
              </a:rPr>
              <a:t>2</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2</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2</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 = a</a:t>
            </a:r>
            <a:r>
              <a:rPr lang="en-US" altLang="zh-TW" sz="2400" baseline="-25000" dirty="0" smtClean="0">
                <a:latin typeface="微軟正黑體" pitchFamily="34" charset="-120"/>
                <a:ea typeface="微軟正黑體" pitchFamily="34" charset="-120"/>
              </a:rPr>
              <a:t>3</a:t>
            </a:r>
          </a:p>
          <a:p>
            <a:r>
              <a:rPr lang="en-US" altLang="zh-TW" sz="2400" dirty="0" smtClean="0">
                <a:latin typeface="微軟正黑體" pitchFamily="34" charset="-120"/>
                <a:ea typeface="微軟正黑體" pitchFamily="34" charset="-120"/>
              </a:rPr>
              <a:t>f</a:t>
            </a:r>
            <a:r>
              <a:rPr lang="en-US" altLang="zh-TW" sz="2400" baseline="-25000" dirty="0" smtClean="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(A)= a</a:t>
            </a:r>
            <a:r>
              <a:rPr lang="en-US" altLang="zh-TW" sz="2400" baseline="-25000" dirty="0" smtClean="0">
                <a:latin typeface="微軟正黑體" pitchFamily="34" charset="-120"/>
                <a:ea typeface="微軟正黑體" pitchFamily="34" charset="-120"/>
              </a:rPr>
              <a:t>2</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2</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2</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 = a</a:t>
            </a:r>
            <a:r>
              <a:rPr lang="en-US" altLang="zh-TW" sz="2400" baseline="-25000" dirty="0" smtClean="0">
                <a:latin typeface="微軟正黑體" pitchFamily="34" charset="-120"/>
                <a:ea typeface="微軟正黑體" pitchFamily="34" charset="-120"/>
              </a:rPr>
              <a:t>2</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3</a:t>
            </a:r>
            <a:endParaRPr lang="en-US" altLang="zh-TW" sz="2400" dirty="0" smtClean="0">
              <a:latin typeface="微軟正黑體" pitchFamily="34" charset="-120"/>
              <a:ea typeface="微軟正黑體" pitchFamily="34" charset="-120"/>
            </a:endParaRPr>
          </a:p>
          <a:p>
            <a:r>
              <a:rPr lang="en-US" altLang="zh-TW" sz="2400" dirty="0" smtClean="0">
                <a:latin typeface="微軟正黑體" pitchFamily="34" charset="-120"/>
                <a:ea typeface="微軟正黑體" pitchFamily="34" charset="-120"/>
              </a:rPr>
              <a:t>f</a:t>
            </a:r>
            <a:r>
              <a:rPr lang="en-US" altLang="zh-TW" sz="2400" baseline="-25000" dirty="0" smtClean="0">
                <a:latin typeface="微軟正黑體" pitchFamily="34" charset="-120"/>
                <a:ea typeface="微軟正黑體" pitchFamily="34" charset="-120"/>
              </a:rPr>
              <a:t>4</a:t>
            </a:r>
            <a:r>
              <a:rPr lang="en-US" altLang="zh-TW" sz="2400" dirty="0" smtClean="0">
                <a:latin typeface="微軟正黑體" pitchFamily="34" charset="-120"/>
                <a:ea typeface="微軟正黑體" pitchFamily="34" charset="-120"/>
              </a:rPr>
              <a:t>(A) = a</a:t>
            </a:r>
            <a:r>
              <a:rPr lang="en-US" altLang="zh-TW" sz="2400" baseline="-25000" dirty="0" smtClean="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2</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2</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 = a</a:t>
            </a:r>
            <a:r>
              <a:rPr lang="en-US" altLang="zh-TW" sz="2400" baseline="-25000" dirty="0" smtClean="0">
                <a:latin typeface="微軟正黑體" pitchFamily="34" charset="-120"/>
                <a:ea typeface="微軟正黑體" pitchFamily="34" charset="-120"/>
              </a:rPr>
              <a:t>3</a:t>
            </a:r>
          </a:p>
          <a:p>
            <a:r>
              <a:rPr lang="en-US" altLang="zh-TW" sz="2400" dirty="0" smtClean="0">
                <a:latin typeface="微軟正黑體" pitchFamily="34" charset="-120"/>
                <a:ea typeface="微軟正黑體" pitchFamily="34" charset="-120"/>
              </a:rPr>
              <a:t>f</a:t>
            </a:r>
            <a:r>
              <a:rPr lang="en-US" altLang="zh-TW" sz="2400" baseline="-25000" dirty="0" smtClean="0">
                <a:latin typeface="微軟正黑體" pitchFamily="34" charset="-120"/>
                <a:ea typeface="微軟正黑體" pitchFamily="34" charset="-120"/>
              </a:rPr>
              <a:t>5</a:t>
            </a:r>
            <a:r>
              <a:rPr lang="en-US" altLang="zh-TW" sz="2400" dirty="0" smtClean="0">
                <a:latin typeface="微軟正黑體" pitchFamily="34" charset="-120"/>
                <a:ea typeface="微軟正黑體" pitchFamily="34" charset="-120"/>
              </a:rPr>
              <a:t>(A) = a</a:t>
            </a:r>
            <a:r>
              <a:rPr lang="en-US" altLang="zh-TW" sz="2400" baseline="-25000" dirty="0" smtClean="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2</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2</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2</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)a</a:t>
            </a:r>
            <a:r>
              <a:rPr lang="en-US" altLang="zh-TW" sz="2400" baseline="-25000" dirty="0" smtClean="0">
                <a:latin typeface="微軟正黑體" pitchFamily="34" charset="-120"/>
                <a:ea typeface="微軟正黑體" pitchFamily="34" charset="-120"/>
              </a:rPr>
              <a:t>3</a:t>
            </a:r>
            <a:r>
              <a:rPr lang="en-US" altLang="zh-TW" sz="2400" dirty="0" smtClean="0">
                <a:latin typeface="微軟正黑體" pitchFamily="34" charset="-120"/>
                <a:ea typeface="微軟正黑體" pitchFamily="34" charset="-120"/>
              </a:rPr>
              <a:t>= a</a:t>
            </a:r>
            <a:r>
              <a:rPr lang="en-US" altLang="zh-TW" sz="2400" baseline="-25000" dirty="0" smtClean="0">
                <a:latin typeface="微軟正黑體" pitchFamily="34" charset="-120"/>
                <a:ea typeface="微軟正黑體" pitchFamily="34" charset="-120"/>
              </a:rPr>
              <a:t>3 </a:t>
            </a:r>
            <a:endParaRPr lang="zh-TW" altLang="en-US" sz="2400" dirty="0">
              <a:latin typeface="微軟正黑體" pitchFamily="34" charset="-120"/>
              <a:ea typeface="微軟正黑體" pitchFamily="34" charset="-120"/>
            </a:endParaRPr>
          </a:p>
        </p:txBody>
      </p:sp>
      <p:graphicFrame>
        <p:nvGraphicFramePr>
          <p:cNvPr id="5" name="表格 4"/>
          <p:cNvGraphicFramePr>
            <a:graphicFrameLocks noGrp="1"/>
          </p:cNvGraphicFramePr>
          <p:nvPr/>
        </p:nvGraphicFramePr>
        <p:xfrm>
          <a:off x="5004048" y="3269393"/>
          <a:ext cx="2996718" cy="2679887"/>
        </p:xfrm>
        <a:graphic>
          <a:graphicData uri="http://schemas.openxmlformats.org/drawingml/2006/table">
            <a:tbl>
              <a:tblPr firstRow="1" bandRow="1">
                <a:tableStyleId>{00A15C55-8517-42AA-B614-E9B94910E393}</a:tableStyleId>
              </a:tblPr>
              <a:tblGrid>
                <a:gridCol w="720080"/>
                <a:gridCol w="1213286"/>
                <a:gridCol w="531676"/>
                <a:gridCol w="531676"/>
              </a:tblGrid>
              <a:tr h="382841">
                <a:tc>
                  <a:txBody>
                    <a:bodyPr/>
                    <a:lstStyle/>
                    <a:p>
                      <a:pPr algn="ctr"/>
                      <a:endParaRPr lang="zh-TW" altLang="en-US" baseline="-25000" dirty="0"/>
                    </a:p>
                  </a:txBody>
                  <a:tcPr/>
                </a:tc>
                <a:tc>
                  <a:txBody>
                    <a:bodyPr/>
                    <a:lstStyle/>
                    <a:p>
                      <a:pPr algn="ctr"/>
                      <a:r>
                        <a:rPr lang="en-US" altLang="zh-TW" dirty="0" smtClean="0"/>
                        <a:t>U/B</a:t>
                      </a:r>
                      <a:r>
                        <a:rPr lang="en-US" altLang="zh-TW" baseline="-25000" dirty="0" smtClean="0"/>
                        <a:t>1</a:t>
                      </a:r>
                      <a:endParaRPr lang="zh-TW" altLang="en-US" baseline="-25000" dirty="0"/>
                    </a:p>
                  </a:txBody>
                  <a:tcPr/>
                </a:tc>
                <a:tc>
                  <a:txBody>
                    <a:bodyPr/>
                    <a:lstStyle/>
                    <a:p>
                      <a:pPr algn="ctr"/>
                      <a:r>
                        <a:rPr lang="en-US" altLang="zh-TW" dirty="0" smtClean="0"/>
                        <a:t>a</a:t>
                      </a:r>
                      <a:r>
                        <a:rPr lang="en-US" altLang="zh-TW" baseline="-25000" dirty="0" smtClean="0"/>
                        <a:t>2</a:t>
                      </a:r>
                      <a:endParaRPr lang="zh-TW" altLang="en-US" baseline="-25000" dirty="0"/>
                    </a:p>
                  </a:txBody>
                  <a:tcPr/>
                </a:tc>
                <a:tc>
                  <a:txBody>
                    <a:bodyPr/>
                    <a:lstStyle/>
                    <a:p>
                      <a:pPr algn="ctr"/>
                      <a:r>
                        <a:rPr lang="en-US" altLang="zh-TW" dirty="0" smtClean="0"/>
                        <a:t>a</a:t>
                      </a:r>
                      <a:r>
                        <a:rPr lang="en-US" altLang="zh-TW" baseline="-25000" dirty="0" smtClean="0"/>
                        <a:t>3</a:t>
                      </a:r>
                      <a:endParaRPr lang="zh-TW" altLang="en-US" baseline="-25000" dirty="0"/>
                    </a:p>
                  </a:txBody>
                  <a:tcPr/>
                </a:tc>
              </a:tr>
              <a:tr h="382841">
                <a:tc>
                  <a:txBody>
                    <a:bodyPr/>
                    <a:lstStyle/>
                    <a:p>
                      <a:r>
                        <a:rPr lang="en-US" altLang="zh-TW" dirty="0" smtClean="0"/>
                        <a:t>Set1</a:t>
                      </a:r>
                      <a:endParaRPr lang="zh-TW" altLang="en-US" dirty="0"/>
                    </a:p>
                  </a:txBody>
                  <a:tcPr/>
                </a:tc>
                <a:tc>
                  <a:txBody>
                    <a:bodyPr/>
                    <a:lstStyle/>
                    <a:p>
                      <a:r>
                        <a:rPr lang="en-US" altLang="zh-TW" dirty="0" smtClean="0"/>
                        <a:t>{x</a:t>
                      </a:r>
                      <a:r>
                        <a:rPr lang="en-US" altLang="zh-TW" baseline="-25000" dirty="0" smtClean="0"/>
                        <a:t>1</a:t>
                      </a:r>
                      <a:r>
                        <a:rPr lang="en-US" altLang="zh-TW" dirty="0" smtClean="0"/>
                        <a:t>,x</a:t>
                      </a:r>
                      <a:r>
                        <a:rPr lang="en-US" altLang="zh-TW" baseline="-25000" dirty="0" smtClean="0"/>
                        <a:t>3</a:t>
                      </a:r>
                      <a:r>
                        <a:rPr lang="en-US" altLang="zh-TW" dirty="0" smtClean="0"/>
                        <a:t>,</a:t>
                      </a:r>
                      <a:r>
                        <a:rPr lang="en-US" altLang="zh-TW" baseline="0" dirty="0" smtClean="0"/>
                        <a:t>x</a:t>
                      </a:r>
                      <a:r>
                        <a:rPr lang="en-US" altLang="zh-TW" baseline="-25000" dirty="0" smtClean="0"/>
                        <a:t>9</a:t>
                      </a:r>
                      <a:r>
                        <a:rPr lang="en-US" altLang="zh-TW" baseline="0"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3</a:t>
                      </a:r>
                      <a:endParaRPr lang="zh-TW" altLang="en-US" dirty="0"/>
                    </a:p>
                  </a:txBody>
                  <a:tcPr/>
                </a:tc>
              </a:tr>
              <a:tr h="382841">
                <a:tc>
                  <a:txBody>
                    <a:bodyPr/>
                    <a:lstStyle/>
                    <a:p>
                      <a:r>
                        <a:rPr lang="en-US" altLang="zh-TW" dirty="0" smtClean="0"/>
                        <a:t>Set2</a:t>
                      </a:r>
                      <a:endParaRPr lang="zh-TW" altLang="en-US" dirty="0"/>
                    </a:p>
                  </a:txBody>
                  <a:tcPr/>
                </a:tc>
                <a:tc>
                  <a:txBody>
                    <a:bodyPr/>
                    <a:lstStyle/>
                    <a:p>
                      <a:r>
                        <a:rPr lang="en-US" altLang="zh-TW" dirty="0" smtClean="0"/>
                        <a:t>{x</a:t>
                      </a:r>
                      <a:r>
                        <a:rPr lang="en-US" altLang="zh-TW" baseline="-25000" dirty="0" smtClean="0"/>
                        <a:t>2</a:t>
                      </a:r>
                      <a:r>
                        <a:rPr lang="en-US" altLang="zh-TW" dirty="0" smtClean="0"/>
                        <a:t>,x</a:t>
                      </a:r>
                      <a:r>
                        <a:rPr lang="en-US" altLang="zh-TW" baseline="-25000" dirty="0" smtClean="0"/>
                        <a:t>7</a:t>
                      </a:r>
                      <a:r>
                        <a:rPr lang="en-US" altLang="zh-TW" dirty="0" smtClean="0"/>
                        <a:t>,x</a:t>
                      </a:r>
                      <a:r>
                        <a:rPr lang="en-US" altLang="zh-TW" baseline="-25000" dirty="0" smtClean="0"/>
                        <a:t>10</a:t>
                      </a: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r>
              <a:tr h="382841">
                <a:tc>
                  <a:txBody>
                    <a:bodyPr/>
                    <a:lstStyle/>
                    <a:p>
                      <a:r>
                        <a:rPr lang="en-US" altLang="zh-TW" dirty="0" smtClean="0"/>
                        <a:t>Set3</a:t>
                      </a:r>
                      <a:endParaRPr lang="zh-TW" altLang="en-US" dirty="0"/>
                    </a:p>
                  </a:txBody>
                  <a:tcPr/>
                </a:tc>
                <a:tc>
                  <a:txBody>
                    <a:bodyPr/>
                    <a:lstStyle/>
                    <a:p>
                      <a:r>
                        <a:rPr lang="en-US" altLang="zh-TW" dirty="0" smtClean="0"/>
                        <a:t>{x</a:t>
                      </a:r>
                      <a:r>
                        <a:rPr lang="en-US" altLang="zh-TW" baseline="-25000" dirty="0" smtClean="0"/>
                        <a:t>4</a:t>
                      </a:r>
                      <a:r>
                        <a:rPr lang="en-US" altLang="zh-TW" dirty="0" smtClean="0"/>
                        <a:t>}</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r>
              <a:tr h="382841">
                <a:tc>
                  <a:txBody>
                    <a:bodyPr/>
                    <a:lstStyle/>
                    <a:p>
                      <a:r>
                        <a:rPr lang="en-US" altLang="zh-TW" dirty="0" smtClean="0"/>
                        <a:t>Set4</a:t>
                      </a:r>
                      <a:endParaRPr lang="zh-TW" altLang="en-US" dirty="0"/>
                    </a:p>
                  </a:txBody>
                  <a:tcPr/>
                </a:tc>
                <a:tc>
                  <a:txBody>
                    <a:bodyPr/>
                    <a:lstStyle/>
                    <a:p>
                      <a:r>
                        <a:rPr lang="en-US" altLang="zh-TW" dirty="0" smtClean="0"/>
                        <a:t>{x</a:t>
                      </a:r>
                      <a:r>
                        <a:rPr lang="en-US" altLang="zh-TW" baseline="-25000" dirty="0" smtClean="0"/>
                        <a:t>5</a:t>
                      </a:r>
                      <a:r>
                        <a:rPr lang="en-US" altLang="zh-TW" dirty="0" smtClean="0"/>
                        <a:t>,</a:t>
                      </a:r>
                      <a:r>
                        <a:rPr lang="en-US" altLang="zh-TW" baseline="0" dirty="0" smtClean="0"/>
                        <a:t> x</a:t>
                      </a:r>
                      <a:r>
                        <a:rPr lang="en-US" altLang="zh-TW" baseline="-25000" dirty="0" smtClean="0"/>
                        <a:t>8</a:t>
                      </a:r>
                      <a:r>
                        <a:rPr lang="en-US" altLang="zh-TW" baseline="0"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4</a:t>
                      </a:r>
                      <a:endParaRPr lang="zh-TW" altLang="en-US" dirty="0"/>
                    </a:p>
                  </a:txBody>
                  <a:tcPr/>
                </a:tc>
              </a:tr>
              <a:tr h="382841">
                <a:tc>
                  <a:txBody>
                    <a:bodyPr/>
                    <a:lstStyle/>
                    <a:p>
                      <a:r>
                        <a:rPr lang="en-US" altLang="zh-TW" dirty="0" smtClean="0"/>
                        <a:t>Set5</a:t>
                      </a:r>
                      <a:endParaRPr lang="zh-TW" altLang="en-US" dirty="0"/>
                    </a:p>
                  </a:txBody>
                  <a:tcPr/>
                </a:tc>
                <a:tc>
                  <a:txBody>
                    <a:bodyPr/>
                    <a:lstStyle/>
                    <a:p>
                      <a:r>
                        <a:rPr lang="en-US" altLang="zh-TW" dirty="0" smtClean="0"/>
                        <a:t>{x</a:t>
                      </a:r>
                      <a:r>
                        <a:rPr lang="en-US" altLang="zh-TW" baseline="-25000" dirty="0" smtClean="0"/>
                        <a:t>6</a:t>
                      </a: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2</a:t>
                      </a:r>
                      <a:endParaRPr lang="zh-TW" altLang="en-US" dirty="0"/>
                    </a:p>
                  </a:txBody>
                  <a:tcPr/>
                </a:tc>
              </a:tr>
              <a:tr h="382841">
                <a:tc gridSpan="4">
                  <a:txBody>
                    <a:bodyPr/>
                    <a:lstStyle/>
                    <a:p>
                      <a:r>
                        <a:rPr lang="en-US" altLang="zh-TW" dirty="0" smtClean="0"/>
                        <a:t>*: denotes ‘don’t care’</a:t>
                      </a:r>
                      <a:endParaRPr lang="zh-TW" altLang="en-US" dirty="0"/>
                    </a:p>
                  </a:txBody>
                  <a:tcPr/>
                </a:tc>
                <a:tc hMerge="1">
                  <a:txBody>
                    <a:bodyPr/>
                    <a:lstStyle/>
                    <a:p>
                      <a:endParaRPr lang="zh-TW" altLang="en-US" dirty="0"/>
                    </a:p>
                  </a:txBody>
                  <a:tcPr/>
                </a:tc>
                <a:tc hMerge="1">
                  <a:txBody>
                    <a:bodyPr/>
                    <a:lstStyle/>
                    <a:p>
                      <a:pPr algn="ctr"/>
                      <a:endParaRPr lang="zh-TW" altLang="en-US" dirty="0"/>
                    </a:p>
                  </a:txBody>
                  <a:tcPr/>
                </a:tc>
                <a:tc hMerge="1">
                  <a:txBody>
                    <a:bodyPr/>
                    <a:lstStyle/>
                    <a:p>
                      <a:pPr algn="ctr"/>
                      <a:endParaRPr lang="zh-TW" altLang="en-US" dirty="0"/>
                    </a:p>
                  </a:txBody>
                  <a:tcPr/>
                </a:tc>
              </a:tr>
            </a:tbl>
          </a:graphicData>
        </a:graphic>
      </p:graphicFrame>
      <p:graphicFrame>
        <p:nvGraphicFramePr>
          <p:cNvPr id="6" name="表格 5"/>
          <p:cNvGraphicFramePr>
            <a:graphicFrameLocks noGrp="1"/>
          </p:cNvGraphicFramePr>
          <p:nvPr/>
        </p:nvGraphicFramePr>
        <p:xfrm>
          <a:off x="683568" y="3269393"/>
          <a:ext cx="2996718" cy="2297046"/>
        </p:xfrm>
        <a:graphic>
          <a:graphicData uri="http://schemas.openxmlformats.org/drawingml/2006/table">
            <a:tbl>
              <a:tblPr firstRow="1" bandRow="1">
                <a:tableStyleId>{7DF18680-E054-41AD-8BC1-D1AEF772440D}</a:tableStyleId>
              </a:tblPr>
              <a:tblGrid>
                <a:gridCol w="720080"/>
                <a:gridCol w="1213286"/>
                <a:gridCol w="531676"/>
                <a:gridCol w="531676"/>
              </a:tblGrid>
              <a:tr h="382841">
                <a:tc>
                  <a:txBody>
                    <a:bodyPr/>
                    <a:lstStyle/>
                    <a:p>
                      <a:pPr algn="ctr"/>
                      <a:endParaRPr lang="zh-TW" altLang="en-US" baseline="-25000" dirty="0"/>
                    </a:p>
                  </a:txBody>
                  <a:tcPr/>
                </a:tc>
                <a:tc>
                  <a:txBody>
                    <a:bodyPr/>
                    <a:lstStyle/>
                    <a:p>
                      <a:pPr algn="ctr"/>
                      <a:r>
                        <a:rPr lang="en-US" altLang="zh-TW" dirty="0" smtClean="0"/>
                        <a:t>U/B</a:t>
                      </a:r>
                      <a:r>
                        <a:rPr lang="en-US" altLang="zh-TW" baseline="-25000" dirty="0" smtClean="0"/>
                        <a:t>1</a:t>
                      </a:r>
                      <a:endParaRPr lang="zh-TW" altLang="en-US" baseline="-25000" dirty="0"/>
                    </a:p>
                  </a:txBody>
                  <a:tcPr/>
                </a:tc>
                <a:tc>
                  <a:txBody>
                    <a:bodyPr/>
                    <a:lstStyle/>
                    <a:p>
                      <a:pPr algn="ctr"/>
                      <a:r>
                        <a:rPr lang="en-US" altLang="zh-TW" dirty="0" smtClean="0"/>
                        <a:t>a</a:t>
                      </a:r>
                      <a:r>
                        <a:rPr lang="en-US" altLang="zh-TW" baseline="-25000" dirty="0" smtClean="0"/>
                        <a:t>2</a:t>
                      </a:r>
                      <a:endParaRPr lang="zh-TW" altLang="en-US" baseline="-25000" dirty="0"/>
                    </a:p>
                  </a:txBody>
                  <a:tcPr/>
                </a:tc>
                <a:tc>
                  <a:txBody>
                    <a:bodyPr/>
                    <a:lstStyle/>
                    <a:p>
                      <a:pPr algn="ctr"/>
                      <a:r>
                        <a:rPr lang="en-US" altLang="zh-TW" dirty="0" smtClean="0"/>
                        <a:t>a</a:t>
                      </a:r>
                      <a:r>
                        <a:rPr lang="en-US" altLang="zh-TW" baseline="-25000" dirty="0" smtClean="0"/>
                        <a:t>3</a:t>
                      </a:r>
                      <a:endParaRPr lang="zh-TW" altLang="en-US" baseline="-25000" dirty="0"/>
                    </a:p>
                  </a:txBody>
                  <a:tcPr/>
                </a:tc>
              </a:tr>
              <a:tr h="382841">
                <a:tc>
                  <a:txBody>
                    <a:bodyPr/>
                    <a:lstStyle/>
                    <a:p>
                      <a:r>
                        <a:rPr lang="en-US" altLang="zh-TW" dirty="0" smtClean="0"/>
                        <a:t>Set1</a:t>
                      </a:r>
                      <a:endParaRPr lang="zh-TW" altLang="en-US" dirty="0"/>
                    </a:p>
                  </a:txBody>
                  <a:tcPr/>
                </a:tc>
                <a:tc>
                  <a:txBody>
                    <a:bodyPr/>
                    <a:lstStyle/>
                    <a:p>
                      <a:r>
                        <a:rPr lang="en-US" altLang="zh-TW" dirty="0" smtClean="0"/>
                        <a:t>{x</a:t>
                      </a:r>
                      <a:r>
                        <a:rPr lang="en-US" altLang="zh-TW" baseline="-25000" dirty="0" smtClean="0"/>
                        <a:t>1</a:t>
                      </a:r>
                      <a:r>
                        <a:rPr lang="en-US" altLang="zh-TW" dirty="0" smtClean="0"/>
                        <a:t>,x</a:t>
                      </a:r>
                      <a:r>
                        <a:rPr lang="en-US" altLang="zh-TW" baseline="-25000" dirty="0" smtClean="0"/>
                        <a:t>3</a:t>
                      </a:r>
                      <a:r>
                        <a:rPr lang="en-US" altLang="zh-TW" dirty="0" smtClean="0"/>
                        <a:t>,</a:t>
                      </a:r>
                      <a:r>
                        <a:rPr lang="en-US" altLang="zh-TW" baseline="0" dirty="0" smtClean="0"/>
                        <a:t>x</a:t>
                      </a:r>
                      <a:r>
                        <a:rPr lang="en-US" altLang="zh-TW" baseline="-25000" dirty="0" smtClean="0"/>
                        <a:t>9</a:t>
                      </a:r>
                      <a:r>
                        <a:rPr lang="en-US" altLang="zh-TW" baseline="0"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3</a:t>
                      </a:r>
                      <a:endParaRPr lang="zh-TW" altLang="en-US" dirty="0"/>
                    </a:p>
                  </a:txBody>
                  <a:tcPr/>
                </a:tc>
              </a:tr>
              <a:tr h="382841">
                <a:tc>
                  <a:txBody>
                    <a:bodyPr/>
                    <a:lstStyle/>
                    <a:p>
                      <a:r>
                        <a:rPr lang="en-US" altLang="zh-TW" dirty="0" smtClean="0"/>
                        <a:t>Set2</a:t>
                      </a:r>
                      <a:endParaRPr lang="zh-TW" altLang="en-US" dirty="0"/>
                    </a:p>
                  </a:txBody>
                  <a:tcPr/>
                </a:tc>
                <a:tc>
                  <a:txBody>
                    <a:bodyPr/>
                    <a:lstStyle/>
                    <a:p>
                      <a:r>
                        <a:rPr lang="en-US" altLang="zh-TW" dirty="0" smtClean="0"/>
                        <a:t>{x</a:t>
                      </a:r>
                      <a:r>
                        <a:rPr lang="en-US" altLang="zh-TW" baseline="-25000" dirty="0" smtClean="0"/>
                        <a:t>2</a:t>
                      </a:r>
                      <a:r>
                        <a:rPr lang="en-US" altLang="zh-TW" dirty="0" smtClean="0"/>
                        <a:t>,x</a:t>
                      </a:r>
                      <a:r>
                        <a:rPr lang="en-US" altLang="zh-TW" baseline="-25000" dirty="0" smtClean="0"/>
                        <a:t>7</a:t>
                      </a:r>
                      <a:r>
                        <a:rPr lang="en-US" altLang="zh-TW" dirty="0" smtClean="0"/>
                        <a:t>,x</a:t>
                      </a:r>
                      <a:r>
                        <a:rPr lang="en-US" altLang="zh-TW" baseline="-25000" dirty="0" smtClean="0"/>
                        <a:t>10</a:t>
                      </a:r>
                      <a:r>
                        <a:rPr lang="en-US" altLang="zh-TW" dirty="0" smtClean="0"/>
                        <a:t>}</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1</a:t>
                      </a:r>
                      <a:endParaRPr lang="zh-TW" altLang="en-US" dirty="0"/>
                    </a:p>
                  </a:txBody>
                  <a:tcPr/>
                </a:tc>
              </a:tr>
              <a:tr h="382841">
                <a:tc>
                  <a:txBody>
                    <a:bodyPr/>
                    <a:lstStyle/>
                    <a:p>
                      <a:r>
                        <a:rPr lang="en-US" altLang="zh-TW" dirty="0" smtClean="0"/>
                        <a:t>Set3</a:t>
                      </a:r>
                      <a:endParaRPr lang="zh-TW" altLang="en-US" dirty="0"/>
                    </a:p>
                  </a:txBody>
                  <a:tcPr/>
                </a:tc>
                <a:tc>
                  <a:txBody>
                    <a:bodyPr/>
                    <a:lstStyle/>
                    <a:p>
                      <a:r>
                        <a:rPr lang="en-US" altLang="zh-TW" dirty="0" smtClean="0"/>
                        <a:t>{x</a:t>
                      </a:r>
                      <a:r>
                        <a:rPr lang="en-US" altLang="zh-TW" baseline="-25000" dirty="0" smtClean="0"/>
                        <a:t>4</a:t>
                      </a:r>
                      <a:r>
                        <a:rPr lang="en-US" altLang="zh-TW" dirty="0" smtClean="0"/>
                        <a:t>}</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r>
              <a:tr h="382841">
                <a:tc>
                  <a:txBody>
                    <a:bodyPr/>
                    <a:lstStyle/>
                    <a:p>
                      <a:r>
                        <a:rPr lang="en-US" altLang="zh-TW" dirty="0" smtClean="0"/>
                        <a:t>Set4</a:t>
                      </a:r>
                      <a:endParaRPr lang="zh-TW" altLang="en-US" dirty="0"/>
                    </a:p>
                  </a:txBody>
                  <a:tcPr/>
                </a:tc>
                <a:tc>
                  <a:txBody>
                    <a:bodyPr/>
                    <a:lstStyle/>
                    <a:p>
                      <a:r>
                        <a:rPr lang="en-US" altLang="zh-TW" dirty="0" smtClean="0"/>
                        <a:t>{x</a:t>
                      </a:r>
                      <a:r>
                        <a:rPr lang="en-US" altLang="zh-TW" baseline="-25000" dirty="0" smtClean="0"/>
                        <a:t>5</a:t>
                      </a:r>
                      <a:r>
                        <a:rPr lang="en-US" altLang="zh-TW" dirty="0" smtClean="0"/>
                        <a:t>,</a:t>
                      </a:r>
                      <a:r>
                        <a:rPr lang="en-US" altLang="zh-TW" baseline="0" dirty="0" smtClean="0"/>
                        <a:t> x</a:t>
                      </a:r>
                      <a:r>
                        <a:rPr lang="en-US" altLang="zh-TW" baseline="-25000" dirty="0" smtClean="0"/>
                        <a:t>8</a:t>
                      </a:r>
                      <a:r>
                        <a:rPr lang="en-US" altLang="zh-TW" baseline="0"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4</a:t>
                      </a:r>
                      <a:endParaRPr lang="zh-TW" altLang="en-US" dirty="0"/>
                    </a:p>
                  </a:txBody>
                  <a:tcPr/>
                </a:tc>
              </a:tr>
              <a:tr h="382841">
                <a:tc>
                  <a:txBody>
                    <a:bodyPr/>
                    <a:lstStyle/>
                    <a:p>
                      <a:r>
                        <a:rPr lang="en-US" altLang="zh-TW" dirty="0" smtClean="0"/>
                        <a:t>Set5</a:t>
                      </a:r>
                      <a:endParaRPr lang="zh-TW" altLang="en-US" dirty="0"/>
                    </a:p>
                  </a:txBody>
                  <a:tcPr/>
                </a:tc>
                <a:tc>
                  <a:txBody>
                    <a:bodyPr/>
                    <a:lstStyle/>
                    <a:p>
                      <a:r>
                        <a:rPr lang="en-US" altLang="zh-TW" dirty="0" smtClean="0"/>
                        <a:t>{x</a:t>
                      </a:r>
                      <a:r>
                        <a:rPr lang="en-US" altLang="zh-TW" baseline="-25000" dirty="0" smtClean="0"/>
                        <a:t>6</a:t>
                      </a: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r>
            </a:tbl>
          </a:graphicData>
        </a:graphic>
      </p:graphicFrame>
      <p:sp>
        <p:nvSpPr>
          <p:cNvPr id="7" name="向右箭號 6"/>
          <p:cNvSpPr/>
          <p:nvPr/>
        </p:nvSpPr>
        <p:spPr>
          <a:xfrm>
            <a:off x="3923928" y="4133489"/>
            <a:ext cx="792088"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投影片編號版面配置區 7"/>
          <p:cNvSpPr>
            <a:spLocks noGrp="1"/>
          </p:cNvSpPr>
          <p:nvPr>
            <p:ph type="sldNum" sz="quarter" idx="12"/>
          </p:nvPr>
        </p:nvSpPr>
        <p:spPr/>
        <p:txBody>
          <a:bodyPr/>
          <a:lstStyle/>
          <a:p>
            <a:fld id="{0914735A-2DD1-49E1-A8E8-1A4F28A0E6C3}" type="slidenum">
              <a:rPr lang="zh-TW" altLang="en-US" smtClean="0"/>
              <a:pPr/>
              <a:t>19</a:t>
            </a:fld>
            <a:endParaRPr lang="zh-TW"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a:xfrm>
            <a:off x="539552" y="0"/>
            <a:ext cx="8229600" cy="1143000"/>
          </a:xfrm>
        </p:spPr>
        <p:txBody>
          <a:bodyPr/>
          <a:lstStyle/>
          <a:p>
            <a:r>
              <a:rPr lang="en-US" altLang="zh-TW" dirty="0" smtClean="0"/>
              <a:t>Classification</a:t>
            </a:r>
            <a:endParaRPr lang="zh-TW" altLang="en-US" dirty="0"/>
          </a:p>
        </p:txBody>
      </p:sp>
      <p:sp>
        <p:nvSpPr>
          <p:cNvPr id="6" name="文字方塊 5"/>
          <p:cNvSpPr txBox="1"/>
          <p:nvPr/>
        </p:nvSpPr>
        <p:spPr>
          <a:xfrm>
            <a:off x="4283968" y="980728"/>
            <a:ext cx="4320480" cy="1569660"/>
          </a:xfrm>
          <a:prstGeom prst="rect">
            <a:avLst/>
          </a:prstGeom>
          <a:noFill/>
        </p:spPr>
        <p:txBody>
          <a:bodyPr wrap="square" rtlCol="0">
            <a:spAutoFit/>
          </a:bodyPr>
          <a:lstStyle/>
          <a:p>
            <a:r>
              <a:rPr lang="en-US" altLang="zh-TW" sz="2400" dirty="0" smtClean="0"/>
              <a:t>We want to classify </a:t>
            </a:r>
          </a:p>
          <a:p>
            <a:r>
              <a:rPr lang="en-US" altLang="zh-TW" sz="2400" dirty="0" smtClean="0"/>
              <a:t>X</a:t>
            </a:r>
            <a:r>
              <a:rPr lang="en-US" altLang="zh-TW" sz="2400" baseline="-25000" dirty="0" smtClean="0"/>
              <a:t>1</a:t>
            </a:r>
            <a:r>
              <a:rPr lang="en-US" altLang="zh-TW" sz="2400" dirty="0" smtClean="0"/>
              <a:t>={x</a:t>
            </a:r>
            <a:r>
              <a:rPr lang="en-US" altLang="zh-TW" sz="2400" baseline="-25000" dirty="0" smtClean="0"/>
              <a:t>1</a:t>
            </a:r>
            <a:r>
              <a:rPr lang="en-US" altLang="zh-TW" sz="2400" dirty="0" smtClean="0"/>
              <a:t>, x</a:t>
            </a:r>
            <a:r>
              <a:rPr lang="en-US" altLang="zh-TW" sz="2400" baseline="-25000" dirty="0" smtClean="0"/>
              <a:t>3</a:t>
            </a:r>
            <a:r>
              <a:rPr lang="en-US" altLang="zh-TW" sz="2400" dirty="0" smtClean="0"/>
              <a:t>, x</a:t>
            </a:r>
            <a:r>
              <a:rPr lang="en-US" altLang="zh-TW" sz="2400" baseline="-25000" dirty="0" smtClean="0"/>
              <a:t>9</a:t>
            </a:r>
            <a:r>
              <a:rPr lang="en-US" altLang="zh-TW" sz="2400" dirty="0" smtClean="0"/>
              <a:t>}, </a:t>
            </a:r>
            <a:br>
              <a:rPr lang="en-US" altLang="zh-TW" sz="2400" dirty="0" smtClean="0"/>
            </a:br>
            <a:r>
              <a:rPr lang="en-US" altLang="zh-TW" sz="2400" dirty="0" smtClean="0"/>
              <a:t>X</a:t>
            </a:r>
            <a:r>
              <a:rPr lang="en-US" altLang="zh-TW" sz="2400" baseline="-25000" dirty="0" smtClean="0"/>
              <a:t>2</a:t>
            </a:r>
            <a:r>
              <a:rPr lang="en-US" altLang="zh-TW" sz="2400" dirty="0" smtClean="0"/>
              <a:t>={x</a:t>
            </a:r>
            <a:r>
              <a:rPr lang="en-US" altLang="zh-TW" sz="2400" baseline="-25000" dirty="0" smtClean="0"/>
              <a:t>4</a:t>
            </a:r>
            <a:r>
              <a:rPr lang="en-US" altLang="zh-TW" sz="2400" dirty="0" smtClean="0"/>
              <a:t>, x</a:t>
            </a:r>
            <a:r>
              <a:rPr lang="en-US" altLang="zh-TW" sz="2400" baseline="-25000" dirty="0" smtClean="0"/>
              <a:t>5</a:t>
            </a:r>
            <a:r>
              <a:rPr lang="en-US" altLang="zh-TW" sz="2400" dirty="0" smtClean="0"/>
              <a:t>, x</a:t>
            </a:r>
            <a:r>
              <a:rPr lang="en-US" altLang="zh-TW" sz="2400" baseline="-25000" dirty="0" smtClean="0"/>
              <a:t>6</a:t>
            </a:r>
            <a:r>
              <a:rPr lang="en-US" altLang="zh-TW" sz="2400" dirty="0" smtClean="0"/>
              <a:t>}, </a:t>
            </a:r>
            <a:br>
              <a:rPr lang="en-US" altLang="zh-TW" sz="2400" dirty="0" smtClean="0"/>
            </a:br>
            <a:r>
              <a:rPr lang="en-US" altLang="zh-TW" sz="2400" dirty="0" smtClean="0"/>
              <a:t>X</a:t>
            </a:r>
            <a:r>
              <a:rPr lang="en-US" altLang="zh-TW" sz="2400" baseline="-25000" dirty="0" smtClean="0"/>
              <a:t>3</a:t>
            </a:r>
            <a:r>
              <a:rPr lang="en-US" altLang="zh-TW" sz="2400" dirty="0" smtClean="0"/>
              <a:t>={x</a:t>
            </a:r>
            <a:r>
              <a:rPr lang="en-US" altLang="zh-TW" sz="2400" baseline="-25000" dirty="0" smtClean="0"/>
              <a:t>2</a:t>
            </a:r>
            <a:r>
              <a:rPr lang="en-US" altLang="zh-TW" sz="2400" dirty="0" smtClean="0"/>
              <a:t>,x</a:t>
            </a:r>
            <a:r>
              <a:rPr lang="en-US" altLang="zh-TW" sz="2400" baseline="-25000" dirty="0" smtClean="0"/>
              <a:t>7</a:t>
            </a:r>
            <a:r>
              <a:rPr lang="en-US" altLang="zh-TW" sz="2400" dirty="0" smtClean="0"/>
              <a:t>,x</a:t>
            </a:r>
            <a:r>
              <a:rPr lang="en-US" altLang="zh-TW" sz="2400" baseline="-25000" dirty="0" smtClean="0"/>
              <a:t>8</a:t>
            </a:r>
            <a:r>
              <a:rPr lang="en-US" altLang="zh-TW" sz="2400" dirty="0" smtClean="0"/>
              <a:t>,x</a:t>
            </a:r>
            <a:r>
              <a:rPr lang="en-US" altLang="zh-TW" sz="2400" baseline="-25000" dirty="0" smtClean="0"/>
              <a:t>10</a:t>
            </a:r>
            <a:r>
              <a:rPr lang="en-US" altLang="zh-TW" sz="2400" dirty="0" smtClean="0"/>
              <a:t>}</a:t>
            </a:r>
            <a:endParaRPr lang="zh-TW" altLang="en-US" sz="2400" dirty="0"/>
          </a:p>
        </p:txBody>
      </p:sp>
      <p:graphicFrame>
        <p:nvGraphicFramePr>
          <p:cNvPr id="7" name="表格 6"/>
          <p:cNvGraphicFramePr>
            <a:graphicFrameLocks noGrp="1"/>
          </p:cNvGraphicFramePr>
          <p:nvPr/>
        </p:nvGraphicFramePr>
        <p:xfrm>
          <a:off x="179512" y="980728"/>
          <a:ext cx="3816424" cy="2225040"/>
        </p:xfrm>
        <a:graphic>
          <a:graphicData uri="http://schemas.openxmlformats.org/drawingml/2006/table">
            <a:tbl>
              <a:tblPr firstRow="1" bandRow="1">
                <a:tableStyleId>{F5AB1C69-6EDB-4FF4-983F-18BD219EF322}</a:tableStyleId>
              </a:tblPr>
              <a:tblGrid>
                <a:gridCol w="1440160"/>
                <a:gridCol w="792088"/>
                <a:gridCol w="792088"/>
                <a:gridCol w="792088"/>
              </a:tblGrid>
              <a:tr h="370840">
                <a:tc>
                  <a:txBody>
                    <a:bodyPr/>
                    <a:lstStyle/>
                    <a:p>
                      <a:pPr algn="ctr"/>
                      <a:r>
                        <a:rPr lang="en-US" altLang="zh-TW" i="1" dirty="0" smtClean="0"/>
                        <a:t>U/B</a:t>
                      </a:r>
                      <a:r>
                        <a:rPr lang="en-US" altLang="zh-TW" i="1" baseline="-25000" dirty="0" smtClean="0"/>
                        <a:t>1</a:t>
                      </a:r>
                      <a:endParaRPr lang="zh-TW" altLang="en-US" i="1" baseline="-25000" dirty="0"/>
                    </a:p>
                  </a:txBody>
                  <a:tcPr/>
                </a:tc>
                <a:tc>
                  <a:txBody>
                    <a:bodyPr/>
                    <a:lstStyle/>
                    <a:p>
                      <a:pPr algn="ctr"/>
                      <a:r>
                        <a:rPr lang="en-US" altLang="zh-TW" dirty="0" smtClean="0"/>
                        <a:t>a</a:t>
                      </a:r>
                      <a:r>
                        <a:rPr lang="en-US" altLang="zh-TW" baseline="-25000" dirty="0" smtClean="0"/>
                        <a:t>1</a:t>
                      </a:r>
                      <a:endParaRPr lang="zh-TW" altLang="en-US" baseline="-25000" dirty="0"/>
                    </a:p>
                  </a:txBody>
                  <a:tcPr/>
                </a:tc>
                <a:tc>
                  <a:txBody>
                    <a:bodyPr/>
                    <a:lstStyle/>
                    <a:p>
                      <a:pPr algn="ctr"/>
                      <a:r>
                        <a:rPr lang="en-US" altLang="zh-TW" dirty="0" smtClean="0"/>
                        <a:t>a</a:t>
                      </a:r>
                      <a:r>
                        <a:rPr lang="en-US" altLang="zh-TW" baseline="-25000" dirty="0" smtClean="0"/>
                        <a:t>2</a:t>
                      </a:r>
                      <a:endParaRPr lang="zh-TW" altLang="en-US" baseline="-25000" dirty="0"/>
                    </a:p>
                  </a:txBody>
                  <a:tcPr/>
                </a:tc>
                <a:tc>
                  <a:txBody>
                    <a:bodyPr/>
                    <a:lstStyle/>
                    <a:p>
                      <a:pPr algn="ctr"/>
                      <a:r>
                        <a:rPr lang="en-US" altLang="zh-TW" dirty="0" smtClean="0"/>
                        <a:t>a</a:t>
                      </a:r>
                      <a:r>
                        <a:rPr lang="en-US" altLang="zh-TW" baseline="-25000" dirty="0" smtClean="0"/>
                        <a:t>3</a:t>
                      </a:r>
                      <a:endParaRPr lang="zh-TW" altLang="en-US" baseline="-25000" dirty="0"/>
                    </a:p>
                  </a:txBody>
                  <a:tcPr/>
                </a:tc>
              </a:tr>
              <a:tr h="370840">
                <a:tc>
                  <a:txBody>
                    <a:bodyPr/>
                    <a:lstStyle/>
                    <a:p>
                      <a:r>
                        <a:rPr lang="en-US" altLang="zh-TW" dirty="0" smtClean="0"/>
                        <a:t>{x</a:t>
                      </a:r>
                      <a:r>
                        <a:rPr lang="en-US" altLang="zh-TW" baseline="-25000" dirty="0" smtClean="0"/>
                        <a:t>1</a:t>
                      </a:r>
                      <a:r>
                        <a:rPr lang="en-US" altLang="zh-TW" dirty="0" smtClean="0"/>
                        <a:t>,x</a:t>
                      </a:r>
                      <a:r>
                        <a:rPr lang="en-US" altLang="zh-TW" baseline="-25000" dirty="0" smtClean="0"/>
                        <a:t>3</a:t>
                      </a:r>
                      <a:r>
                        <a:rPr lang="en-US" altLang="zh-TW" dirty="0" smtClean="0"/>
                        <a:t>,</a:t>
                      </a:r>
                      <a:r>
                        <a:rPr lang="en-US" altLang="zh-TW" baseline="0" dirty="0" smtClean="0"/>
                        <a:t>x</a:t>
                      </a:r>
                      <a:r>
                        <a:rPr lang="en-US" altLang="zh-TW" baseline="-25000" dirty="0" smtClean="0"/>
                        <a:t>9</a:t>
                      </a:r>
                      <a:r>
                        <a:rPr lang="en-US" altLang="zh-TW" baseline="0" dirty="0" smtClean="0"/>
                        <a:t>}</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3</a:t>
                      </a:r>
                      <a:endParaRPr lang="zh-TW" altLang="en-US" dirty="0"/>
                    </a:p>
                  </a:txBody>
                  <a:tcPr/>
                </a:tc>
              </a:tr>
              <a:tr h="370840">
                <a:tc>
                  <a:txBody>
                    <a:bodyPr/>
                    <a:lstStyle/>
                    <a:p>
                      <a:r>
                        <a:rPr lang="en-US" altLang="zh-TW" dirty="0" smtClean="0"/>
                        <a:t>{x</a:t>
                      </a:r>
                      <a:r>
                        <a:rPr lang="en-US" altLang="zh-TW" baseline="-25000" dirty="0" smtClean="0"/>
                        <a:t>2</a:t>
                      </a:r>
                      <a:r>
                        <a:rPr lang="en-US" altLang="zh-TW" dirty="0" smtClean="0"/>
                        <a:t>,x</a:t>
                      </a:r>
                      <a:r>
                        <a:rPr lang="en-US" altLang="zh-TW" baseline="-25000" dirty="0" smtClean="0"/>
                        <a:t>7</a:t>
                      </a:r>
                      <a:r>
                        <a:rPr lang="en-US" altLang="zh-TW" dirty="0" smtClean="0"/>
                        <a:t>,x</a:t>
                      </a:r>
                      <a:r>
                        <a:rPr lang="en-US" altLang="zh-TW" baseline="-25000" dirty="0" smtClean="0"/>
                        <a:t>10</a:t>
                      </a:r>
                      <a:r>
                        <a:rPr lang="en-US" altLang="zh-TW" dirty="0" smtClean="0"/>
                        <a:t>}</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1</a:t>
                      </a:r>
                      <a:endParaRPr lang="zh-TW" altLang="en-US" dirty="0"/>
                    </a:p>
                  </a:txBody>
                  <a:tcPr/>
                </a:tc>
              </a:tr>
              <a:tr h="370840">
                <a:tc>
                  <a:txBody>
                    <a:bodyPr/>
                    <a:lstStyle/>
                    <a:p>
                      <a:r>
                        <a:rPr lang="en-US" altLang="zh-TW" dirty="0" smtClean="0"/>
                        <a:t>{x</a:t>
                      </a:r>
                      <a:r>
                        <a:rPr lang="en-US" altLang="zh-TW" baseline="-25000" dirty="0" smtClean="0"/>
                        <a:t>4</a:t>
                      </a:r>
                      <a:r>
                        <a:rPr lang="en-US" altLang="zh-TW" dirty="0" smtClean="0"/>
                        <a:t>}</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r>
              <a:tr h="370840">
                <a:tc>
                  <a:txBody>
                    <a:bodyPr/>
                    <a:lstStyle/>
                    <a:p>
                      <a:r>
                        <a:rPr lang="en-US" altLang="zh-TW" dirty="0" smtClean="0"/>
                        <a:t>{x</a:t>
                      </a:r>
                      <a:r>
                        <a:rPr lang="en-US" altLang="zh-TW" baseline="-25000" dirty="0" smtClean="0"/>
                        <a:t>5</a:t>
                      </a:r>
                      <a:r>
                        <a:rPr lang="en-US" altLang="zh-TW" dirty="0" smtClean="0"/>
                        <a:t>,</a:t>
                      </a:r>
                      <a:r>
                        <a:rPr lang="en-US" altLang="zh-TW" baseline="0" dirty="0" smtClean="0"/>
                        <a:t> x</a:t>
                      </a:r>
                      <a:r>
                        <a:rPr lang="en-US" altLang="zh-TW" baseline="-25000" dirty="0" smtClean="0"/>
                        <a:t>8</a:t>
                      </a:r>
                      <a:r>
                        <a:rPr lang="en-US" altLang="zh-TW" baseline="0"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4</a:t>
                      </a:r>
                      <a:endParaRPr lang="zh-TW" altLang="en-US" dirty="0"/>
                    </a:p>
                  </a:txBody>
                  <a:tcPr/>
                </a:tc>
              </a:tr>
              <a:tr h="370840">
                <a:tc>
                  <a:txBody>
                    <a:bodyPr/>
                    <a:lstStyle/>
                    <a:p>
                      <a:r>
                        <a:rPr lang="en-US" altLang="zh-TW" dirty="0" smtClean="0"/>
                        <a:t>{x</a:t>
                      </a:r>
                      <a:r>
                        <a:rPr lang="en-US" altLang="zh-TW" baseline="-25000" dirty="0" smtClean="0"/>
                        <a:t>6</a:t>
                      </a:r>
                      <a:r>
                        <a:rPr lang="en-US" altLang="zh-TW" dirty="0" smtClean="0"/>
                        <a:t>}</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r>
            </a:tbl>
          </a:graphicData>
        </a:graphic>
      </p:graphicFrame>
      <p:sp>
        <p:nvSpPr>
          <p:cNvPr id="8" name="文字方塊 7"/>
          <p:cNvSpPr txBox="1"/>
          <p:nvPr/>
        </p:nvSpPr>
        <p:spPr>
          <a:xfrm>
            <a:off x="4283968" y="2708920"/>
            <a:ext cx="4392488" cy="3785652"/>
          </a:xfrm>
          <a:prstGeom prst="rect">
            <a:avLst/>
          </a:prstGeom>
          <a:noFill/>
        </p:spPr>
        <p:txBody>
          <a:bodyPr wrap="square" rtlCol="0">
            <a:spAutoFit/>
          </a:bodyPr>
          <a:lstStyle/>
          <a:p>
            <a:r>
              <a:rPr lang="en-US" altLang="zh-TW" sz="2000" u="sng" dirty="0" smtClean="0"/>
              <a:t>BX</a:t>
            </a:r>
            <a:r>
              <a:rPr lang="en-US" altLang="zh-TW" sz="2000" u="sng" baseline="-25000" dirty="0" smtClean="0"/>
              <a:t>1</a:t>
            </a:r>
            <a:r>
              <a:rPr lang="en-US" altLang="zh-TW" sz="2000" dirty="0" smtClean="0"/>
              <a:t> = {x</a:t>
            </a:r>
            <a:r>
              <a:rPr lang="en-US" altLang="zh-TW" sz="2000" baseline="-25000" dirty="0" smtClean="0"/>
              <a:t>1</a:t>
            </a:r>
            <a:r>
              <a:rPr lang="en-US" altLang="zh-TW" sz="2000" dirty="0" smtClean="0"/>
              <a:t>, x</a:t>
            </a:r>
            <a:r>
              <a:rPr lang="en-US" altLang="zh-TW" sz="2000" baseline="-25000" dirty="0" smtClean="0"/>
              <a:t>3</a:t>
            </a:r>
            <a:r>
              <a:rPr lang="en-US" altLang="zh-TW" sz="2000" dirty="0" smtClean="0"/>
              <a:t>, x</a:t>
            </a:r>
            <a:r>
              <a:rPr lang="en-US" altLang="zh-TW" sz="2000" baseline="-25000" dirty="0" smtClean="0"/>
              <a:t>9</a:t>
            </a:r>
            <a:r>
              <a:rPr lang="en-US" altLang="zh-TW" sz="2000" dirty="0" smtClean="0"/>
              <a:t>} , BX</a:t>
            </a:r>
            <a:r>
              <a:rPr lang="en-US" altLang="zh-TW" sz="2000" baseline="-25000" dirty="0" smtClean="0"/>
              <a:t>1</a:t>
            </a:r>
            <a:r>
              <a:rPr lang="en-US" altLang="zh-TW" sz="2000" dirty="0" smtClean="0"/>
              <a:t> = {x</a:t>
            </a:r>
            <a:r>
              <a:rPr lang="en-US" altLang="zh-TW" sz="2000" baseline="-25000" dirty="0" smtClean="0"/>
              <a:t>1</a:t>
            </a:r>
            <a:r>
              <a:rPr lang="en-US" altLang="zh-TW" sz="2000" dirty="0" smtClean="0"/>
              <a:t>, x</a:t>
            </a:r>
            <a:r>
              <a:rPr lang="en-US" altLang="zh-TW" sz="2000" baseline="-25000" dirty="0" smtClean="0"/>
              <a:t>3</a:t>
            </a:r>
            <a:r>
              <a:rPr lang="en-US" altLang="zh-TW" sz="2000" dirty="0" smtClean="0"/>
              <a:t>, x</a:t>
            </a:r>
            <a:r>
              <a:rPr lang="en-US" altLang="zh-TW" sz="2000" baseline="-25000" dirty="0" smtClean="0"/>
              <a:t>9</a:t>
            </a:r>
            <a:r>
              <a:rPr lang="en-US" altLang="zh-TW" sz="2000" dirty="0" smtClean="0"/>
              <a:t>},             </a:t>
            </a:r>
          </a:p>
          <a:p>
            <a:r>
              <a:rPr lang="en-US" altLang="zh-TW" sz="2000" dirty="0" smtClean="0">
                <a:solidFill>
                  <a:srgbClr val="0066FF"/>
                </a:solidFill>
              </a:rPr>
              <a:t>accuracy = 3/3 = 1.0</a:t>
            </a:r>
          </a:p>
          <a:p>
            <a:r>
              <a:rPr lang="en-US" altLang="zh-TW" sz="2000" u="sng" dirty="0" smtClean="0"/>
              <a:t>BX</a:t>
            </a:r>
            <a:r>
              <a:rPr lang="en-US" altLang="zh-TW" sz="2000" u="sng" baseline="-25000" dirty="0" smtClean="0"/>
              <a:t>2</a:t>
            </a:r>
            <a:r>
              <a:rPr lang="en-US" altLang="zh-TW" sz="2000" dirty="0" smtClean="0"/>
              <a:t> = {x</a:t>
            </a:r>
            <a:r>
              <a:rPr lang="en-US" altLang="zh-TW" sz="2000" baseline="-25000" dirty="0" smtClean="0"/>
              <a:t>4</a:t>
            </a:r>
            <a:r>
              <a:rPr lang="en-US" altLang="zh-TW" sz="2000" dirty="0" smtClean="0"/>
              <a:t>, x</a:t>
            </a:r>
            <a:r>
              <a:rPr lang="en-US" altLang="zh-TW" sz="2000" baseline="-25000" dirty="0" smtClean="0"/>
              <a:t>6</a:t>
            </a:r>
            <a:r>
              <a:rPr lang="en-US" altLang="zh-TW" sz="2000" dirty="0" smtClean="0"/>
              <a:t>} ,       BX</a:t>
            </a:r>
            <a:r>
              <a:rPr lang="en-US" altLang="zh-TW" sz="2000" baseline="-25000" dirty="0" smtClean="0"/>
              <a:t>2</a:t>
            </a:r>
            <a:r>
              <a:rPr lang="en-US" altLang="zh-TW" sz="2000" dirty="0" smtClean="0"/>
              <a:t> = {x</a:t>
            </a:r>
            <a:r>
              <a:rPr lang="en-US" altLang="zh-TW" sz="2000" baseline="-25000" dirty="0" smtClean="0"/>
              <a:t>4</a:t>
            </a:r>
            <a:r>
              <a:rPr lang="en-US" altLang="zh-TW" sz="2000" dirty="0" smtClean="0"/>
              <a:t>, x</a:t>
            </a:r>
            <a:r>
              <a:rPr lang="en-US" altLang="zh-TW" sz="2000" baseline="-25000" dirty="0" smtClean="0"/>
              <a:t>5</a:t>
            </a:r>
            <a:r>
              <a:rPr lang="en-US" altLang="zh-TW" sz="2000" dirty="0" smtClean="0"/>
              <a:t>, x</a:t>
            </a:r>
            <a:r>
              <a:rPr lang="en-US" altLang="zh-TW" sz="2000" baseline="-25000" dirty="0" smtClean="0"/>
              <a:t>6</a:t>
            </a:r>
            <a:r>
              <a:rPr lang="en-US" altLang="zh-TW" sz="2000" dirty="0" smtClean="0"/>
              <a:t>, x</a:t>
            </a:r>
            <a:r>
              <a:rPr lang="en-US" altLang="zh-TW" sz="2000" baseline="-25000" dirty="0" smtClean="0"/>
              <a:t>8</a:t>
            </a:r>
            <a:r>
              <a:rPr lang="en-US" altLang="zh-TW" sz="2000" dirty="0" smtClean="0"/>
              <a:t>},       </a:t>
            </a:r>
          </a:p>
          <a:p>
            <a:r>
              <a:rPr lang="en-US" altLang="zh-TW" sz="2000" dirty="0" smtClean="0">
                <a:solidFill>
                  <a:srgbClr val="0066FF"/>
                </a:solidFill>
              </a:rPr>
              <a:t>accuracy = 2/4 = 0.5</a:t>
            </a:r>
          </a:p>
          <a:p>
            <a:r>
              <a:rPr lang="en-US" altLang="zh-TW" sz="2000" u="sng" dirty="0" smtClean="0"/>
              <a:t>BX</a:t>
            </a:r>
            <a:r>
              <a:rPr lang="en-US" altLang="zh-TW" sz="2000" u="sng" baseline="-25000" dirty="0" smtClean="0"/>
              <a:t>3</a:t>
            </a:r>
            <a:r>
              <a:rPr lang="en-US" altLang="zh-TW" sz="2000" dirty="0" smtClean="0"/>
              <a:t> = {x</a:t>
            </a:r>
            <a:r>
              <a:rPr lang="en-US" altLang="zh-TW" sz="2000" baseline="-25000" dirty="0" smtClean="0"/>
              <a:t>2</a:t>
            </a:r>
            <a:r>
              <a:rPr lang="en-US" altLang="zh-TW" sz="2000" dirty="0" smtClean="0"/>
              <a:t>, x</a:t>
            </a:r>
            <a:r>
              <a:rPr lang="en-US" altLang="zh-TW" sz="2000" baseline="-25000" dirty="0" smtClean="0"/>
              <a:t>7</a:t>
            </a:r>
            <a:r>
              <a:rPr lang="en-US" altLang="zh-TW" sz="2000" dirty="0" smtClean="0"/>
              <a:t>, x</a:t>
            </a:r>
            <a:r>
              <a:rPr lang="en-US" altLang="zh-TW" sz="2000" baseline="-25000" dirty="0" smtClean="0"/>
              <a:t>10</a:t>
            </a:r>
            <a:r>
              <a:rPr lang="en-US" altLang="zh-TW" sz="2000" dirty="0" smtClean="0"/>
              <a:t>}, BX</a:t>
            </a:r>
            <a:r>
              <a:rPr lang="en-US" altLang="zh-TW" sz="2000" baseline="-25000" dirty="0" smtClean="0"/>
              <a:t>3</a:t>
            </a:r>
            <a:r>
              <a:rPr lang="en-US" altLang="zh-TW" sz="2000" dirty="0" smtClean="0"/>
              <a:t> = {x</a:t>
            </a:r>
            <a:r>
              <a:rPr lang="en-US" altLang="zh-TW" sz="2000" baseline="-25000" dirty="0" smtClean="0"/>
              <a:t>2</a:t>
            </a:r>
            <a:r>
              <a:rPr lang="en-US" altLang="zh-TW" sz="2000" dirty="0" smtClean="0"/>
              <a:t>, x</a:t>
            </a:r>
            <a:r>
              <a:rPr lang="en-US" altLang="zh-TW" sz="2000" baseline="-25000" dirty="0" smtClean="0"/>
              <a:t>5</a:t>
            </a:r>
            <a:r>
              <a:rPr lang="en-US" altLang="zh-TW" sz="2000" dirty="0" smtClean="0"/>
              <a:t>, x</a:t>
            </a:r>
            <a:r>
              <a:rPr lang="en-US" altLang="zh-TW" sz="2000" baseline="-25000" dirty="0" smtClean="0"/>
              <a:t>7</a:t>
            </a:r>
            <a:r>
              <a:rPr lang="en-US" altLang="zh-TW" sz="2000" dirty="0" smtClean="0"/>
              <a:t>, x</a:t>
            </a:r>
            <a:r>
              <a:rPr lang="en-US" altLang="zh-TW" sz="2000" baseline="-25000" dirty="0" smtClean="0"/>
              <a:t>8</a:t>
            </a:r>
            <a:r>
              <a:rPr lang="en-US" altLang="zh-TW" sz="2000" dirty="0" smtClean="0"/>
              <a:t>, x</a:t>
            </a:r>
            <a:r>
              <a:rPr lang="en-US" altLang="zh-TW" sz="2000" baseline="-25000" dirty="0" smtClean="0"/>
              <a:t>10</a:t>
            </a:r>
            <a:r>
              <a:rPr lang="en-US" altLang="zh-TW" sz="2000" dirty="0" smtClean="0"/>
              <a:t>}, </a:t>
            </a:r>
          </a:p>
          <a:p>
            <a:r>
              <a:rPr lang="en-US" altLang="zh-TW" sz="2000" dirty="0" smtClean="0">
                <a:solidFill>
                  <a:srgbClr val="0066FF"/>
                </a:solidFill>
              </a:rPr>
              <a:t>accuracy = 3/5 = 0.6</a:t>
            </a:r>
          </a:p>
          <a:p>
            <a:endParaRPr lang="en-US" altLang="zh-TW" sz="2000" dirty="0" smtClean="0"/>
          </a:p>
          <a:p>
            <a:r>
              <a:rPr lang="en-US" altLang="zh-TW" sz="2000" dirty="0" smtClean="0"/>
              <a:t>Accuracy of whole classification: </a:t>
            </a:r>
          </a:p>
          <a:p>
            <a:r>
              <a:rPr lang="en-US" altLang="zh-TW" sz="2000" dirty="0" smtClean="0"/>
              <a:t>(</a:t>
            </a:r>
            <a:r>
              <a:rPr lang="en-US" altLang="zh-TW" sz="2000" dirty="0" smtClean="0">
                <a:solidFill>
                  <a:srgbClr val="0066FF"/>
                </a:solidFill>
              </a:rPr>
              <a:t>3+2+3)/(3+4+5) = 0.67</a:t>
            </a:r>
          </a:p>
          <a:p>
            <a:r>
              <a:rPr lang="en-US" altLang="zh-TW" sz="2000" dirty="0" smtClean="0"/>
              <a:t>Quality of whole classification:    </a:t>
            </a:r>
          </a:p>
          <a:p>
            <a:r>
              <a:rPr lang="en-US" altLang="zh-TW" sz="2000" dirty="0" smtClean="0">
                <a:solidFill>
                  <a:srgbClr val="0066FF"/>
                </a:solidFill>
              </a:rPr>
              <a:t>(3+2+3)/(3+3+4) = 0.8</a:t>
            </a:r>
            <a:endParaRPr lang="zh-TW" altLang="en-US" sz="2000" dirty="0" smtClean="0">
              <a:solidFill>
                <a:srgbClr val="0066FF"/>
              </a:solidFill>
            </a:endParaRPr>
          </a:p>
          <a:p>
            <a:endParaRPr lang="zh-TW" altLang="en-US" sz="2000" dirty="0"/>
          </a:p>
        </p:txBody>
      </p:sp>
      <p:graphicFrame>
        <p:nvGraphicFramePr>
          <p:cNvPr id="9" name="表格 8"/>
          <p:cNvGraphicFramePr>
            <a:graphicFrameLocks noGrp="1"/>
          </p:cNvGraphicFramePr>
          <p:nvPr/>
        </p:nvGraphicFramePr>
        <p:xfrm>
          <a:off x="179513" y="3789040"/>
          <a:ext cx="3888432" cy="1854200"/>
        </p:xfrm>
        <a:graphic>
          <a:graphicData uri="http://schemas.openxmlformats.org/drawingml/2006/table">
            <a:tbl>
              <a:tblPr firstRow="1" bandRow="1">
                <a:tableStyleId>{616DA210-FB5B-4158-B5E0-FEB733F419BA}</a:tableStyleId>
              </a:tblPr>
              <a:tblGrid>
                <a:gridCol w="1080119"/>
                <a:gridCol w="793693"/>
                <a:gridCol w="1007310"/>
                <a:gridCol w="1007310"/>
              </a:tblGrid>
              <a:tr h="370840">
                <a:tc>
                  <a:txBody>
                    <a:bodyPr/>
                    <a:lstStyle/>
                    <a:p>
                      <a:r>
                        <a:rPr lang="en-US" altLang="zh-TW" dirty="0" smtClean="0"/>
                        <a:t>accuracy</a:t>
                      </a:r>
                      <a:endParaRPr lang="zh-TW" altLang="en-US" dirty="0"/>
                    </a:p>
                  </a:txBody>
                  <a:tcPr/>
                </a:tc>
                <a:tc gridSpan="3">
                  <a:txBody>
                    <a:bodyPr/>
                    <a:lstStyle/>
                    <a:p>
                      <a:pPr algn="ctr"/>
                      <a:r>
                        <a:rPr lang="en-US" altLang="zh-TW" dirty="0" smtClean="0"/>
                        <a:t>Removed attribute</a:t>
                      </a:r>
                      <a:endParaRPr lang="zh-TW" altLang="en-US" dirty="0"/>
                    </a:p>
                  </a:txBody>
                  <a:tcPr/>
                </a:tc>
                <a:tc hMerge="1">
                  <a:txBody>
                    <a:bodyPr/>
                    <a:lstStyle/>
                    <a:p>
                      <a:endParaRPr lang="zh-TW" altLang="en-US" dirty="0"/>
                    </a:p>
                  </a:txBody>
                  <a:tcPr/>
                </a:tc>
                <a:tc hMerge="1">
                  <a:txBody>
                    <a:bodyPr/>
                    <a:lstStyle/>
                    <a:p>
                      <a:endParaRPr lang="zh-TW" altLang="en-US" dirty="0"/>
                    </a:p>
                  </a:txBody>
                  <a:tcPr/>
                </a:tc>
              </a:tr>
              <a:tr h="370840">
                <a:tc>
                  <a:txBody>
                    <a:bodyPr/>
                    <a:lstStyle/>
                    <a:p>
                      <a:r>
                        <a:rPr lang="en-US" altLang="zh-TW" dirty="0" smtClean="0"/>
                        <a:t>Class</a:t>
                      </a:r>
                      <a:endParaRPr lang="zh-TW" altLang="en-US" dirty="0"/>
                    </a:p>
                  </a:txBody>
                  <a:tcPr/>
                </a:tc>
                <a:tc>
                  <a:txBody>
                    <a:bodyPr/>
                    <a:lstStyle/>
                    <a:p>
                      <a:pPr algn="ctr"/>
                      <a:r>
                        <a:rPr lang="en-US" altLang="zh-TW" dirty="0" smtClean="0"/>
                        <a:t>None</a:t>
                      </a:r>
                      <a:endParaRPr lang="zh-TW" altLang="en-US" dirty="0"/>
                    </a:p>
                  </a:txBody>
                  <a:tcPr/>
                </a:tc>
                <a:tc>
                  <a:txBody>
                    <a:bodyPr/>
                    <a:lstStyle/>
                    <a:p>
                      <a:pPr algn="ctr"/>
                      <a:r>
                        <a:rPr lang="en-US" altLang="zh-TW" dirty="0" smtClean="0"/>
                        <a:t>a2</a:t>
                      </a:r>
                      <a:endParaRPr lang="zh-TW" altLang="en-US" dirty="0"/>
                    </a:p>
                  </a:txBody>
                  <a:tcPr/>
                </a:tc>
                <a:tc>
                  <a:txBody>
                    <a:bodyPr/>
                    <a:lstStyle/>
                    <a:p>
                      <a:pPr algn="ctr"/>
                      <a:r>
                        <a:rPr lang="en-US" altLang="zh-TW" dirty="0" smtClean="0"/>
                        <a:t>a3</a:t>
                      </a:r>
                      <a:endParaRPr lang="zh-TW" altLang="en-US" dirty="0"/>
                    </a:p>
                  </a:txBody>
                  <a:tcPr/>
                </a:tc>
              </a:tr>
              <a:tr h="370840">
                <a:tc>
                  <a:txBody>
                    <a:bodyPr/>
                    <a:lstStyle/>
                    <a:p>
                      <a:pPr algn="ctr"/>
                      <a:r>
                        <a:rPr lang="en-US" altLang="zh-TW" dirty="0" smtClean="0"/>
                        <a:t>X</a:t>
                      </a:r>
                      <a:r>
                        <a:rPr lang="en-US" altLang="zh-TW" baseline="-25000" dirty="0" smtClean="0"/>
                        <a:t>1</a:t>
                      </a:r>
                      <a:endParaRPr lang="zh-TW" altLang="en-US" baseline="-25000" dirty="0"/>
                    </a:p>
                  </a:txBody>
                  <a:tcPr/>
                </a:tc>
                <a:tc>
                  <a:txBody>
                    <a:bodyPr/>
                    <a:lstStyle/>
                    <a:p>
                      <a:pPr algn="ctr"/>
                      <a:r>
                        <a:rPr lang="en-US" altLang="zh-TW" dirty="0" smtClean="0">
                          <a:solidFill>
                            <a:schemeClr val="tx1"/>
                          </a:solidFill>
                        </a:rPr>
                        <a:t>1</a:t>
                      </a:r>
                      <a:endParaRPr lang="zh-TW" altLang="en-US" dirty="0">
                        <a:solidFill>
                          <a:schemeClr val="tx1"/>
                        </a:solidFill>
                      </a:endParaRPr>
                    </a:p>
                  </a:txBody>
                  <a:tcPr/>
                </a:tc>
                <a:tc>
                  <a:txBody>
                    <a:bodyPr/>
                    <a:lstStyle/>
                    <a:p>
                      <a:pPr algn="ctr"/>
                      <a:r>
                        <a:rPr lang="en-US" altLang="zh-TW" dirty="0" smtClean="0">
                          <a:solidFill>
                            <a:schemeClr val="tx1"/>
                          </a:solidFill>
                        </a:rPr>
                        <a:t>NA</a:t>
                      </a:r>
                      <a:endParaRPr lang="zh-TW" altLang="en-US" dirty="0">
                        <a:solidFill>
                          <a:schemeClr val="tx1"/>
                        </a:solidFill>
                      </a:endParaRPr>
                    </a:p>
                  </a:txBody>
                  <a:tcPr/>
                </a:tc>
                <a:tc>
                  <a:txBody>
                    <a:bodyPr/>
                    <a:lstStyle/>
                    <a:p>
                      <a:pPr algn="ctr"/>
                      <a:r>
                        <a:rPr lang="en-US" altLang="zh-TW" dirty="0" smtClean="0">
                          <a:solidFill>
                            <a:schemeClr val="tx1"/>
                          </a:solidFill>
                        </a:rPr>
                        <a:t>NA</a:t>
                      </a:r>
                      <a:endParaRPr lang="zh-TW" altLang="en-US" dirty="0">
                        <a:solidFill>
                          <a:schemeClr val="tx1"/>
                        </a:solidFill>
                      </a:endParaRPr>
                    </a:p>
                  </a:txBody>
                  <a:tcPr/>
                </a:tc>
              </a:tr>
              <a:tr h="370840">
                <a:tc>
                  <a:txBody>
                    <a:bodyPr/>
                    <a:lstStyle/>
                    <a:p>
                      <a:pPr algn="ctr"/>
                      <a:r>
                        <a:rPr lang="en-US" altLang="zh-TW" dirty="0" smtClean="0"/>
                        <a:t>X</a:t>
                      </a:r>
                      <a:r>
                        <a:rPr lang="en-US" altLang="zh-TW" baseline="-25000" dirty="0" smtClean="0"/>
                        <a:t>2</a:t>
                      </a:r>
                      <a:endParaRPr lang="zh-TW" altLang="en-US" baseline="-25000" dirty="0"/>
                    </a:p>
                  </a:txBody>
                  <a:tcPr/>
                </a:tc>
                <a:tc>
                  <a:txBody>
                    <a:bodyPr/>
                    <a:lstStyle/>
                    <a:p>
                      <a:pPr algn="ctr"/>
                      <a:r>
                        <a:rPr lang="en-US" altLang="zh-TW" dirty="0" smtClean="0">
                          <a:solidFill>
                            <a:schemeClr val="tx1"/>
                          </a:solidFill>
                        </a:rPr>
                        <a:t>0.5</a:t>
                      </a:r>
                      <a:endParaRPr lang="zh-TW" altLang="en-US" dirty="0">
                        <a:solidFill>
                          <a:schemeClr val="tx1"/>
                        </a:solidFill>
                      </a:endParaRPr>
                    </a:p>
                  </a:txBody>
                  <a:tcPr/>
                </a:tc>
                <a:tc>
                  <a:txBody>
                    <a:bodyPr/>
                    <a:lstStyle/>
                    <a:p>
                      <a:pPr algn="ctr"/>
                      <a:r>
                        <a:rPr lang="en-US" altLang="zh-TW" dirty="0" smtClean="0">
                          <a:solidFill>
                            <a:schemeClr val="tx1"/>
                          </a:solidFill>
                        </a:rPr>
                        <a:t>0.14</a:t>
                      </a:r>
                      <a:endParaRPr lang="zh-TW" altLang="en-US" dirty="0">
                        <a:solidFill>
                          <a:schemeClr val="tx1"/>
                        </a:solidFill>
                      </a:endParaRPr>
                    </a:p>
                  </a:txBody>
                  <a:tcPr/>
                </a:tc>
                <a:tc>
                  <a:txBody>
                    <a:bodyPr/>
                    <a:lstStyle/>
                    <a:p>
                      <a:pPr algn="ctr"/>
                      <a:r>
                        <a:rPr lang="en-US" altLang="zh-TW" dirty="0" smtClean="0">
                          <a:solidFill>
                            <a:schemeClr val="tx1"/>
                          </a:solidFill>
                        </a:rPr>
                        <a:t>NA</a:t>
                      </a:r>
                      <a:endParaRPr lang="zh-TW" altLang="en-US" dirty="0">
                        <a:solidFill>
                          <a:schemeClr val="tx1"/>
                        </a:solidFill>
                      </a:endParaRPr>
                    </a:p>
                  </a:txBody>
                  <a:tcPr/>
                </a:tc>
              </a:tr>
              <a:tr h="370840">
                <a:tc>
                  <a:txBody>
                    <a:bodyPr/>
                    <a:lstStyle/>
                    <a:p>
                      <a:pPr algn="ctr"/>
                      <a:r>
                        <a:rPr lang="en-US" altLang="zh-TW" dirty="0" smtClean="0"/>
                        <a:t>X</a:t>
                      </a:r>
                      <a:r>
                        <a:rPr lang="en-US" altLang="zh-TW" baseline="-25000" dirty="0" smtClean="0"/>
                        <a:t>3</a:t>
                      </a:r>
                      <a:endParaRPr lang="zh-TW" altLang="en-US" baseline="-25000" dirty="0"/>
                    </a:p>
                  </a:txBody>
                  <a:tcPr/>
                </a:tc>
                <a:tc>
                  <a:txBody>
                    <a:bodyPr/>
                    <a:lstStyle/>
                    <a:p>
                      <a:pPr algn="ctr"/>
                      <a:r>
                        <a:rPr lang="en-US" altLang="zh-TW" dirty="0" smtClean="0">
                          <a:solidFill>
                            <a:schemeClr val="tx1"/>
                          </a:solidFill>
                        </a:rPr>
                        <a:t>0.6</a:t>
                      </a:r>
                      <a:endParaRPr lang="zh-TW" altLang="en-US" dirty="0">
                        <a:solidFill>
                          <a:schemeClr val="tx1"/>
                        </a:solidFill>
                      </a:endParaRPr>
                    </a:p>
                  </a:txBody>
                  <a:tcPr/>
                </a:tc>
                <a:tc>
                  <a:txBody>
                    <a:bodyPr/>
                    <a:lstStyle/>
                    <a:p>
                      <a:pPr algn="ctr"/>
                      <a:r>
                        <a:rPr lang="en-US" altLang="zh-TW" dirty="0" smtClean="0">
                          <a:solidFill>
                            <a:schemeClr val="tx1"/>
                          </a:solidFill>
                        </a:rPr>
                        <a:t>0.60</a:t>
                      </a:r>
                      <a:endParaRPr lang="zh-TW" altLang="en-US" dirty="0">
                        <a:solidFill>
                          <a:schemeClr val="tx1"/>
                        </a:solidFill>
                      </a:endParaRPr>
                    </a:p>
                  </a:txBody>
                  <a:tcPr/>
                </a:tc>
                <a:tc>
                  <a:txBody>
                    <a:bodyPr/>
                    <a:lstStyle/>
                    <a:p>
                      <a:pPr algn="ctr"/>
                      <a:r>
                        <a:rPr lang="en-US" altLang="zh-TW" dirty="0" smtClean="0">
                          <a:solidFill>
                            <a:schemeClr val="tx1"/>
                          </a:solidFill>
                        </a:rPr>
                        <a:t>NA</a:t>
                      </a:r>
                      <a:endParaRPr lang="zh-TW" altLang="en-US" dirty="0">
                        <a:solidFill>
                          <a:schemeClr val="tx1"/>
                        </a:solidFill>
                      </a:endParaRPr>
                    </a:p>
                  </a:txBody>
                  <a:tcPr/>
                </a:tc>
              </a:tr>
            </a:tbl>
          </a:graphicData>
        </a:graphic>
      </p:graphicFrame>
      <p:sp>
        <p:nvSpPr>
          <p:cNvPr id="10" name="投影片編號版面配置區 9"/>
          <p:cNvSpPr>
            <a:spLocks noGrp="1"/>
          </p:cNvSpPr>
          <p:nvPr>
            <p:ph type="sldNum" sz="quarter" idx="12"/>
          </p:nvPr>
        </p:nvSpPr>
        <p:spPr/>
        <p:txBody>
          <a:bodyPr/>
          <a:lstStyle/>
          <a:p>
            <a:fld id="{0914735A-2DD1-49E1-A8E8-1A4F28A0E6C3}" type="slidenum">
              <a:rPr lang="zh-TW" altLang="en-US" smtClean="0"/>
              <a:pPr/>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dirty="0" smtClean="0"/>
              <a:t>Decision table</a:t>
            </a:r>
            <a:endParaRPr lang="zh-TW" altLang="en-US" dirty="0"/>
          </a:p>
        </p:txBody>
      </p:sp>
      <p:sp>
        <p:nvSpPr>
          <p:cNvPr id="6" name="內容版面配置區 5"/>
          <p:cNvSpPr>
            <a:spLocks noGrp="1"/>
          </p:cNvSpPr>
          <p:nvPr>
            <p:ph idx="1"/>
          </p:nvPr>
        </p:nvSpPr>
        <p:spPr>
          <a:xfrm>
            <a:off x="467544" y="1196753"/>
            <a:ext cx="8229600" cy="1224136"/>
          </a:xfrm>
        </p:spPr>
        <p:txBody>
          <a:bodyPr>
            <a:normAutofit/>
          </a:bodyPr>
          <a:lstStyle/>
          <a:p>
            <a:r>
              <a:rPr lang="en-US" altLang="zh-TW" sz="2400" dirty="0" smtClean="0"/>
              <a:t>Any supervised classification problem can be considered as the decision table analysis</a:t>
            </a:r>
            <a:endParaRPr lang="zh-TW" altLang="en-US" sz="2400" dirty="0"/>
          </a:p>
        </p:txBody>
      </p:sp>
      <p:graphicFrame>
        <p:nvGraphicFramePr>
          <p:cNvPr id="7" name="表格 6"/>
          <p:cNvGraphicFramePr>
            <a:graphicFrameLocks noGrp="1"/>
          </p:cNvGraphicFramePr>
          <p:nvPr/>
        </p:nvGraphicFramePr>
        <p:xfrm>
          <a:off x="2915816" y="2204864"/>
          <a:ext cx="3312370" cy="4074160"/>
        </p:xfrm>
        <a:graphic>
          <a:graphicData uri="http://schemas.openxmlformats.org/drawingml/2006/table">
            <a:tbl>
              <a:tblPr firstRow="1" bandRow="1">
                <a:tableStyleId>{7DF18680-E054-41AD-8BC1-D1AEF772440D}</a:tableStyleId>
              </a:tblPr>
              <a:tblGrid>
                <a:gridCol w="662474"/>
                <a:gridCol w="662474"/>
                <a:gridCol w="662474"/>
                <a:gridCol w="662474"/>
                <a:gridCol w="662474"/>
              </a:tblGrid>
              <a:tr h="226824">
                <a:tc>
                  <a:txBody>
                    <a:bodyPr/>
                    <a:lstStyle/>
                    <a:p>
                      <a:pPr algn="ctr"/>
                      <a:r>
                        <a:rPr lang="en-US" altLang="zh-TW" sz="1800" dirty="0" smtClean="0"/>
                        <a:t>U</a:t>
                      </a:r>
                      <a:endParaRPr lang="zh-TW" altLang="en-US" sz="1800" dirty="0"/>
                    </a:p>
                  </a:txBody>
                  <a:tcPr anchor="ctr"/>
                </a:tc>
                <a:tc>
                  <a:txBody>
                    <a:bodyPr/>
                    <a:lstStyle/>
                    <a:p>
                      <a:pPr algn="ctr"/>
                      <a:r>
                        <a:rPr lang="en-US" altLang="zh-TW" sz="1800" dirty="0" smtClean="0"/>
                        <a:t>a</a:t>
                      </a:r>
                      <a:r>
                        <a:rPr lang="en-US" altLang="zh-TW" sz="1800" baseline="-25000" dirty="0" smtClean="0"/>
                        <a:t>1</a:t>
                      </a:r>
                      <a:endParaRPr lang="zh-TW" altLang="en-US" sz="1800" baseline="-25000" dirty="0"/>
                    </a:p>
                  </a:txBody>
                  <a:tcPr anchor="ctr"/>
                </a:tc>
                <a:tc>
                  <a:txBody>
                    <a:bodyPr/>
                    <a:lstStyle/>
                    <a:p>
                      <a:pPr algn="ctr"/>
                      <a:r>
                        <a:rPr lang="en-US" altLang="zh-TW" sz="1800" dirty="0" smtClean="0"/>
                        <a:t>a</a:t>
                      </a:r>
                      <a:r>
                        <a:rPr lang="en-US" altLang="zh-TW" sz="1800" baseline="-25000" dirty="0" smtClean="0"/>
                        <a:t>2</a:t>
                      </a:r>
                      <a:endParaRPr lang="zh-TW" altLang="en-US" sz="1800" baseline="-25000" dirty="0"/>
                    </a:p>
                  </a:txBody>
                  <a:tcPr anchor="ctr"/>
                </a:tc>
                <a:tc>
                  <a:txBody>
                    <a:bodyPr/>
                    <a:lstStyle/>
                    <a:p>
                      <a:pPr algn="ctr"/>
                      <a:r>
                        <a:rPr lang="en-US" altLang="zh-TW" sz="1800" dirty="0" smtClean="0"/>
                        <a:t>a</a:t>
                      </a:r>
                      <a:r>
                        <a:rPr lang="en-US" altLang="zh-TW" sz="1800" baseline="-25000" dirty="0" smtClean="0"/>
                        <a:t>3</a:t>
                      </a:r>
                      <a:endParaRPr lang="zh-TW" altLang="en-US" sz="1800" baseline="-25000" dirty="0"/>
                    </a:p>
                  </a:txBody>
                  <a:tcPr anchor="ctr"/>
                </a:tc>
                <a:tc>
                  <a:txBody>
                    <a:bodyPr/>
                    <a:lstStyle/>
                    <a:p>
                      <a:pPr algn="ctr"/>
                      <a:r>
                        <a:rPr lang="en-US" altLang="zh-TW" sz="1800" baseline="0" dirty="0" smtClean="0">
                          <a:solidFill>
                            <a:srgbClr val="FF0000"/>
                          </a:solidFill>
                        </a:rPr>
                        <a:t>d</a:t>
                      </a:r>
                      <a:endParaRPr lang="zh-TW" altLang="en-US" sz="1800" baseline="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1</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solidFill>
                            <a:srgbClr val="FF0000"/>
                          </a:solidFill>
                        </a:rPr>
                        <a:t>1</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2</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rgbClr val="FF0000"/>
                          </a:solidFill>
                        </a:rPr>
                        <a:t>2</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3</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solidFill>
                            <a:srgbClr val="FF0000"/>
                          </a:solidFill>
                        </a:rPr>
                        <a:t>1</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4</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solidFill>
                            <a:srgbClr val="FF0000"/>
                          </a:solidFill>
                        </a:rPr>
                        <a:t>2</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5</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4</a:t>
                      </a:r>
                      <a:endParaRPr lang="zh-TW" altLang="en-US" sz="1800" dirty="0"/>
                    </a:p>
                  </a:txBody>
                  <a:tcPr anchor="ctr"/>
                </a:tc>
                <a:tc>
                  <a:txBody>
                    <a:bodyPr/>
                    <a:lstStyle/>
                    <a:p>
                      <a:pPr algn="ctr"/>
                      <a:r>
                        <a:rPr lang="en-US" altLang="zh-TW" sz="1800" dirty="0" smtClean="0">
                          <a:solidFill>
                            <a:srgbClr val="FF0000"/>
                          </a:solidFill>
                        </a:rPr>
                        <a:t>3</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6</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solidFill>
                            <a:srgbClr val="FF0000"/>
                          </a:solidFill>
                        </a:rPr>
                        <a:t>3</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7</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rgbClr val="FF0000"/>
                          </a:solidFill>
                        </a:rPr>
                        <a:t>2</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8</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4</a:t>
                      </a:r>
                      <a:endParaRPr lang="zh-TW" altLang="en-US" sz="1800" dirty="0"/>
                    </a:p>
                  </a:txBody>
                  <a:tcPr anchor="ctr"/>
                </a:tc>
                <a:tc>
                  <a:txBody>
                    <a:bodyPr/>
                    <a:lstStyle/>
                    <a:p>
                      <a:pPr algn="ctr"/>
                      <a:r>
                        <a:rPr lang="en-US" altLang="zh-TW" sz="1800" dirty="0" smtClean="0">
                          <a:solidFill>
                            <a:srgbClr val="FF0000"/>
                          </a:solidFill>
                        </a:rPr>
                        <a:t>3</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9</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solidFill>
                            <a:srgbClr val="FF0000"/>
                          </a:solidFill>
                        </a:rPr>
                        <a:t>1</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10</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rgbClr val="FF0000"/>
                          </a:solidFill>
                        </a:rPr>
                        <a:t>2</a:t>
                      </a:r>
                      <a:endParaRPr lang="zh-TW" altLang="en-US" sz="1800" dirty="0">
                        <a:solidFill>
                          <a:srgbClr val="FF0000"/>
                        </a:solidFill>
                      </a:endParaRPr>
                    </a:p>
                  </a:txBody>
                  <a:tcPr anchor="ctr"/>
                </a:tc>
              </a:tr>
            </a:tbl>
          </a:graphicData>
        </a:graphic>
      </p:graphicFrame>
      <p:sp>
        <p:nvSpPr>
          <p:cNvPr id="8" name="投影片編號版面配置區 7"/>
          <p:cNvSpPr>
            <a:spLocks noGrp="1"/>
          </p:cNvSpPr>
          <p:nvPr>
            <p:ph type="sldNum" sz="quarter" idx="12"/>
          </p:nvPr>
        </p:nvSpPr>
        <p:spPr/>
        <p:txBody>
          <a:bodyPr/>
          <a:lstStyle/>
          <a:p>
            <a:fld id="{0914735A-2DD1-49E1-A8E8-1A4F28A0E6C3}" type="slidenum">
              <a:rPr lang="zh-TW" altLang="en-US" smtClean="0"/>
              <a:pPr/>
              <a:t>21</a:t>
            </a:fld>
            <a:endParaRPr lang="zh-TW"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107504" y="0"/>
            <a:ext cx="8856984" cy="1143000"/>
          </a:xfrm>
        </p:spPr>
        <p:txBody>
          <a:bodyPr>
            <a:noAutofit/>
          </a:bodyPr>
          <a:lstStyle/>
          <a:p>
            <a:r>
              <a:rPr lang="en-US" altLang="zh-TW" sz="3600" dirty="0" smtClean="0"/>
              <a:t>Relative core and relative </a:t>
            </a:r>
            <a:r>
              <a:rPr lang="en-US" altLang="zh-TW" sz="3600" dirty="0" err="1" smtClean="0"/>
              <a:t>reducts</a:t>
            </a:r>
            <a:r>
              <a:rPr lang="en-US" altLang="zh-TW" sz="3600" dirty="0" smtClean="0"/>
              <a:t> of attributes</a:t>
            </a:r>
            <a:endParaRPr lang="zh-TW" altLang="en-US" sz="3600" dirty="0"/>
          </a:p>
        </p:txBody>
      </p:sp>
      <p:graphicFrame>
        <p:nvGraphicFramePr>
          <p:cNvPr id="5" name="表格 4"/>
          <p:cNvGraphicFramePr>
            <a:graphicFrameLocks noGrp="1"/>
          </p:cNvGraphicFramePr>
          <p:nvPr/>
        </p:nvGraphicFramePr>
        <p:xfrm>
          <a:off x="2843808" y="980728"/>
          <a:ext cx="3312370" cy="4074160"/>
        </p:xfrm>
        <a:graphic>
          <a:graphicData uri="http://schemas.openxmlformats.org/drawingml/2006/table">
            <a:tbl>
              <a:tblPr firstRow="1" bandRow="1">
                <a:tableStyleId>{7DF18680-E054-41AD-8BC1-D1AEF772440D}</a:tableStyleId>
              </a:tblPr>
              <a:tblGrid>
                <a:gridCol w="662474"/>
                <a:gridCol w="662474"/>
                <a:gridCol w="662474"/>
                <a:gridCol w="662474"/>
                <a:gridCol w="662474"/>
              </a:tblGrid>
              <a:tr h="226824">
                <a:tc>
                  <a:txBody>
                    <a:bodyPr/>
                    <a:lstStyle/>
                    <a:p>
                      <a:pPr algn="ctr"/>
                      <a:r>
                        <a:rPr lang="en-US" altLang="zh-TW" sz="1800" dirty="0" smtClean="0"/>
                        <a:t>U</a:t>
                      </a:r>
                      <a:endParaRPr lang="zh-TW" altLang="en-US" sz="1800" dirty="0"/>
                    </a:p>
                  </a:txBody>
                  <a:tcPr anchor="ctr"/>
                </a:tc>
                <a:tc>
                  <a:txBody>
                    <a:bodyPr/>
                    <a:lstStyle/>
                    <a:p>
                      <a:pPr algn="ctr"/>
                      <a:r>
                        <a:rPr lang="en-US" altLang="zh-TW" sz="1800" dirty="0" smtClean="0"/>
                        <a:t>a</a:t>
                      </a:r>
                      <a:r>
                        <a:rPr lang="en-US" altLang="zh-TW" sz="1800" baseline="-25000" dirty="0" smtClean="0"/>
                        <a:t>1</a:t>
                      </a:r>
                      <a:endParaRPr lang="zh-TW" altLang="en-US" sz="1800" baseline="-25000" dirty="0"/>
                    </a:p>
                  </a:txBody>
                  <a:tcPr anchor="ctr"/>
                </a:tc>
                <a:tc>
                  <a:txBody>
                    <a:bodyPr/>
                    <a:lstStyle/>
                    <a:p>
                      <a:pPr algn="ctr"/>
                      <a:r>
                        <a:rPr lang="en-US" altLang="zh-TW" sz="1800" dirty="0" smtClean="0"/>
                        <a:t>a</a:t>
                      </a:r>
                      <a:r>
                        <a:rPr lang="en-US" altLang="zh-TW" sz="1800" baseline="-25000" dirty="0" smtClean="0"/>
                        <a:t>2</a:t>
                      </a:r>
                      <a:endParaRPr lang="zh-TW" altLang="en-US" sz="1800" baseline="-25000" dirty="0"/>
                    </a:p>
                  </a:txBody>
                  <a:tcPr anchor="ctr"/>
                </a:tc>
                <a:tc>
                  <a:txBody>
                    <a:bodyPr/>
                    <a:lstStyle/>
                    <a:p>
                      <a:pPr algn="ctr"/>
                      <a:r>
                        <a:rPr lang="en-US" altLang="zh-TW" sz="1800" dirty="0" smtClean="0"/>
                        <a:t>a</a:t>
                      </a:r>
                      <a:r>
                        <a:rPr lang="en-US" altLang="zh-TW" sz="1800" baseline="-25000" dirty="0" smtClean="0"/>
                        <a:t>3</a:t>
                      </a:r>
                      <a:endParaRPr lang="zh-TW" altLang="en-US" sz="1800" baseline="-25000" dirty="0"/>
                    </a:p>
                  </a:txBody>
                  <a:tcPr anchor="ctr"/>
                </a:tc>
                <a:tc>
                  <a:txBody>
                    <a:bodyPr/>
                    <a:lstStyle/>
                    <a:p>
                      <a:pPr algn="ctr"/>
                      <a:r>
                        <a:rPr lang="en-US" altLang="zh-TW" sz="1800" baseline="0" dirty="0" smtClean="0">
                          <a:solidFill>
                            <a:srgbClr val="FF0000"/>
                          </a:solidFill>
                        </a:rPr>
                        <a:t>d</a:t>
                      </a:r>
                      <a:endParaRPr lang="zh-TW" altLang="en-US" sz="1800" baseline="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1</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solidFill>
                            <a:srgbClr val="FF0000"/>
                          </a:solidFill>
                        </a:rPr>
                        <a:t>1</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2</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rgbClr val="FF0000"/>
                          </a:solidFill>
                        </a:rPr>
                        <a:t>2</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3</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solidFill>
                            <a:srgbClr val="FF0000"/>
                          </a:solidFill>
                        </a:rPr>
                        <a:t>1</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4</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solidFill>
                            <a:srgbClr val="FF0000"/>
                          </a:solidFill>
                        </a:rPr>
                        <a:t>2</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5</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4</a:t>
                      </a:r>
                      <a:endParaRPr lang="zh-TW" altLang="en-US" sz="1800" dirty="0"/>
                    </a:p>
                  </a:txBody>
                  <a:tcPr anchor="ctr"/>
                </a:tc>
                <a:tc>
                  <a:txBody>
                    <a:bodyPr/>
                    <a:lstStyle/>
                    <a:p>
                      <a:pPr algn="ctr"/>
                      <a:r>
                        <a:rPr lang="en-US" altLang="zh-TW" sz="1800" dirty="0" smtClean="0">
                          <a:solidFill>
                            <a:srgbClr val="FF0000"/>
                          </a:solidFill>
                        </a:rPr>
                        <a:t>3</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6</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solidFill>
                            <a:srgbClr val="FF0000"/>
                          </a:solidFill>
                        </a:rPr>
                        <a:t>3</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7</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rgbClr val="FF0000"/>
                          </a:solidFill>
                        </a:rPr>
                        <a:t>2</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8</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4</a:t>
                      </a:r>
                      <a:endParaRPr lang="zh-TW" altLang="en-US" sz="1800" dirty="0"/>
                    </a:p>
                  </a:txBody>
                  <a:tcPr anchor="ctr"/>
                </a:tc>
                <a:tc>
                  <a:txBody>
                    <a:bodyPr/>
                    <a:lstStyle/>
                    <a:p>
                      <a:pPr algn="ctr"/>
                      <a:r>
                        <a:rPr lang="en-US" altLang="zh-TW" sz="1800" dirty="0" smtClean="0">
                          <a:solidFill>
                            <a:srgbClr val="FF0000"/>
                          </a:solidFill>
                        </a:rPr>
                        <a:t>3</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9</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solidFill>
                            <a:srgbClr val="FF0000"/>
                          </a:solidFill>
                        </a:rPr>
                        <a:t>1</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10</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rgbClr val="FF0000"/>
                          </a:solidFill>
                        </a:rPr>
                        <a:t>2</a:t>
                      </a:r>
                      <a:endParaRPr lang="zh-TW" altLang="en-US" sz="1800" dirty="0">
                        <a:solidFill>
                          <a:srgbClr val="FF0000"/>
                        </a:solidFill>
                      </a:endParaRPr>
                    </a:p>
                  </a:txBody>
                  <a:tcPr anchor="ctr"/>
                </a:tc>
              </a:tr>
            </a:tbl>
          </a:graphicData>
        </a:graphic>
      </p:graphicFrame>
      <p:graphicFrame>
        <p:nvGraphicFramePr>
          <p:cNvPr id="6" name="表格 5"/>
          <p:cNvGraphicFramePr>
            <a:graphicFrameLocks noGrp="1"/>
          </p:cNvGraphicFramePr>
          <p:nvPr/>
        </p:nvGraphicFramePr>
        <p:xfrm>
          <a:off x="1403648" y="5229200"/>
          <a:ext cx="6696745" cy="1483360"/>
        </p:xfrm>
        <a:graphic>
          <a:graphicData uri="http://schemas.openxmlformats.org/drawingml/2006/table">
            <a:tbl>
              <a:tblPr firstRow="1" bandRow="1">
                <a:tableStyleId>{5C22544A-7EE6-4342-B048-85BDC9FD1C3A}</a:tableStyleId>
              </a:tblPr>
              <a:tblGrid>
                <a:gridCol w="864096"/>
                <a:gridCol w="1584176"/>
                <a:gridCol w="1584176"/>
                <a:gridCol w="1584176"/>
                <a:gridCol w="1080121"/>
              </a:tblGrid>
              <a:tr h="370840">
                <a:tc>
                  <a:txBody>
                    <a:bodyPr/>
                    <a:lstStyle/>
                    <a:p>
                      <a:pPr algn="ctr"/>
                      <a:r>
                        <a:rPr lang="en-US" altLang="zh-TW" sz="1600" dirty="0" smtClean="0"/>
                        <a:t>Class</a:t>
                      </a:r>
                      <a:endParaRPr lang="zh-TW" altLang="en-US" sz="1600" dirty="0"/>
                    </a:p>
                  </a:txBody>
                  <a:tcPr/>
                </a:tc>
                <a:tc>
                  <a:txBody>
                    <a:bodyPr/>
                    <a:lstStyle/>
                    <a:p>
                      <a:pPr algn="ctr"/>
                      <a:r>
                        <a:rPr lang="en-US" altLang="zh-TW" sz="1600" dirty="0" smtClean="0"/>
                        <a:t>#</a:t>
                      </a:r>
                      <a:r>
                        <a:rPr lang="en-US" altLang="zh-TW" sz="1600" baseline="0" dirty="0" smtClean="0"/>
                        <a:t> of objects</a:t>
                      </a:r>
                      <a:endParaRPr lang="zh-TW" altLang="en-US" sz="1600" dirty="0"/>
                    </a:p>
                  </a:txBody>
                  <a:tcPr/>
                </a:tc>
                <a:tc>
                  <a:txBody>
                    <a:bodyPr/>
                    <a:lstStyle/>
                    <a:p>
                      <a:pPr algn="ctr"/>
                      <a:r>
                        <a:rPr lang="en-US" altLang="zh-TW" sz="1600" dirty="0" smtClean="0"/>
                        <a:t>Lower approx.</a:t>
                      </a:r>
                      <a:endParaRPr lang="zh-TW" altLang="en-US" sz="1600" dirty="0"/>
                    </a:p>
                  </a:txBody>
                  <a:tcPr/>
                </a:tc>
                <a:tc>
                  <a:txBody>
                    <a:bodyPr/>
                    <a:lstStyle/>
                    <a:p>
                      <a:pPr algn="ctr"/>
                      <a:r>
                        <a:rPr lang="en-US" altLang="zh-TW" sz="1600" dirty="0" smtClean="0"/>
                        <a:t>Upper approx.</a:t>
                      </a:r>
                      <a:endParaRPr lang="zh-TW" altLang="en-US" sz="1600" dirty="0"/>
                    </a:p>
                  </a:txBody>
                  <a:tcPr/>
                </a:tc>
                <a:tc>
                  <a:txBody>
                    <a:bodyPr/>
                    <a:lstStyle/>
                    <a:p>
                      <a:pPr algn="ctr"/>
                      <a:r>
                        <a:rPr lang="en-US" altLang="zh-TW" sz="1600" dirty="0" smtClean="0"/>
                        <a:t>Accuracy</a:t>
                      </a:r>
                      <a:endParaRPr lang="zh-TW" altLang="en-US" sz="1600" dirty="0"/>
                    </a:p>
                  </a:txBody>
                  <a:tcPr/>
                </a:tc>
              </a:tr>
              <a:tr h="370840">
                <a:tc>
                  <a:txBody>
                    <a:bodyPr/>
                    <a:lstStyle/>
                    <a:p>
                      <a:pPr algn="ctr"/>
                      <a:r>
                        <a:rPr lang="en-US" altLang="zh-TW" sz="1600" dirty="0" smtClean="0"/>
                        <a:t>1</a:t>
                      </a:r>
                      <a:endParaRPr lang="zh-TW" altLang="en-US" sz="1600" dirty="0"/>
                    </a:p>
                  </a:txBody>
                  <a:tcPr/>
                </a:tc>
                <a:tc>
                  <a:txBody>
                    <a:bodyPr/>
                    <a:lstStyle/>
                    <a:p>
                      <a:pPr algn="ctr"/>
                      <a:r>
                        <a:rPr lang="en-US" altLang="zh-TW" sz="1600" dirty="0" smtClean="0"/>
                        <a:t>3</a:t>
                      </a:r>
                      <a:endParaRPr lang="zh-TW" altLang="en-US" sz="1600" dirty="0"/>
                    </a:p>
                  </a:txBody>
                  <a:tcPr/>
                </a:tc>
                <a:tc>
                  <a:txBody>
                    <a:bodyPr/>
                    <a:lstStyle/>
                    <a:p>
                      <a:pPr algn="ctr"/>
                      <a:r>
                        <a:rPr lang="en-US" altLang="zh-TW" sz="1600" dirty="0" smtClean="0"/>
                        <a:t>3</a:t>
                      </a:r>
                      <a:endParaRPr lang="zh-TW" altLang="en-US" sz="1600" dirty="0"/>
                    </a:p>
                  </a:txBody>
                  <a:tcPr/>
                </a:tc>
                <a:tc>
                  <a:txBody>
                    <a:bodyPr/>
                    <a:lstStyle/>
                    <a:p>
                      <a:pPr algn="ctr"/>
                      <a:r>
                        <a:rPr lang="en-US" altLang="zh-TW" sz="1600" dirty="0" smtClean="0"/>
                        <a:t>3</a:t>
                      </a:r>
                      <a:endParaRPr lang="zh-TW" altLang="en-US" sz="1600" dirty="0"/>
                    </a:p>
                  </a:txBody>
                  <a:tcPr/>
                </a:tc>
                <a:tc>
                  <a:txBody>
                    <a:bodyPr/>
                    <a:lstStyle/>
                    <a:p>
                      <a:pPr algn="ctr"/>
                      <a:r>
                        <a:rPr lang="en-US" altLang="zh-TW" sz="1600" dirty="0" smtClean="0"/>
                        <a:t>1.0</a:t>
                      </a:r>
                      <a:endParaRPr lang="zh-TW" altLang="en-US" sz="1600" dirty="0"/>
                    </a:p>
                  </a:txBody>
                  <a:tcPr/>
                </a:tc>
              </a:tr>
              <a:tr h="370840">
                <a:tc>
                  <a:txBody>
                    <a:bodyPr/>
                    <a:lstStyle/>
                    <a:p>
                      <a:pPr algn="ctr"/>
                      <a:r>
                        <a:rPr lang="en-US" altLang="zh-TW" sz="1600" dirty="0" smtClean="0"/>
                        <a:t>2</a:t>
                      </a:r>
                      <a:endParaRPr lang="zh-TW" altLang="en-US" sz="1600" dirty="0"/>
                    </a:p>
                  </a:txBody>
                  <a:tcPr/>
                </a:tc>
                <a:tc>
                  <a:txBody>
                    <a:bodyPr/>
                    <a:lstStyle/>
                    <a:p>
                      <a:pPr algn="ctr"/>
                      <a:r>
                        <a:rPr lang="en-US" altLang="zh-TW" sz="1600" dirty="0" smtClean="0"/>
                        <a:t>4</a:t>
                      </a:r>
                      <a:endParaRPr lang="zh-TW" altLang="en-US" sz="1600" dirty="0"/>
                    </a:p>
                  </a:txBody>
                  <a:tcPr/>
                </a:tc>
                <a:tc>
                  <a:txBody>
                    <a:bodyPr/>
                    <a:lstStyle/>
                    <a:p>
                      <a:pPr algn="ctr"/>
                      <a:r>
                        <a:rPr lang="en-US" altLang="zh-TW" sz="1600" dirty="0" smtClean="0"/>
                        <a:t>4</a:t>
                      </a:r>
                      <a:endParaRPr lang="zh-TW" altLang="en-US" sz="1600" dirty="0"/>
                    </a:p>
                  </a:txBody>
                  <a:tcPr/>
                </a:tc>
                <a:tc>
                  <a:txBody>
                    <a:bodyPr/>
                    <a:lstStyle/>
                    <a:p>
                      <a:pPr algn="ctr"/>
                      <a:r>
                        <a:rPr lang="en-US" altLang="zh-TW" sz="1600" dirty="0" smtClean="0"/>
                        <a:t>4</a:t>
                      </a:r>
                      <a:endParaRPr lang="zh-TW" altLang="en-US" sz="1600" dirty="0"/>
                    </a:p>
                  </a:txBody>
                  <a:tcPr/>
                </a:tc>
                <a:tc>
                  <a:txBody>
                    <a:bodyPr/>
                    <a:lstStyle/>
                    <a:p>
                      <a:pPr algn="ctr"/>
                      <a:r>
                        <a:rPr lang="en-US" altLang="zh-TW" sz="1600" dirty="0" smtClean="0"/>
                        <a:t>1.0</a:t>
                      </a:r>
                      <a:endParaRPr lang="zh-TW" altLang="en-US" sz="1600" dirty="0"/>
                    </a:p>
                  </a:txBody>
                  <a:tcPr/>
                </a:tc>
              </a:tr>
              <a:tr h="370840">
                <a:tc>
                  <a:txBody>
                    <a:bodyPr/>
                    <a:lstStyle/>
                    <a:p>
                      <a:pPr algn="ctr"/>
                      <a:r>
                        <a:rPr lang="en-US" altLang="zh-TW" sz="1600" dirty="0" smtClean="0"/>
                        <a:t>3</a:t>
                      </a:r>
                      <a:endParaRPr lang="zh-TW" altLang="en-US" sz="1600" dirty="0"/>
                    </a:p>
                  </a:txBody>
                  <a:tcPr/>
                </a:tc>
                <a:tc>
                  <a:txBody>
                    <a:bodyPr/>
                    <a:lstStyle/>
                    <a:p>
                      <a:pPr algn="ctr"/>
                      <a:r>
                        <a:rPr lang="en-US" altLang="zh-TW" sz="1600" dirty="0" smtClean="0"/>
                        <a:t>3</a:t>
                      </a:r>
                      <a:endParaRPr lang="zh-TW" altLang="en-US" sz="1600" dirty="0"/>
                    </a:p>
                  </a:txBody>
                  <a:tcPr/>
                </a:tc>
                <a:tc>
                  <a:txBody>
                    <a:bodyPr/>
                    <a:lstStyle/>
                    <a:p>
                      <a:pPr algn="ctr"/>
                      <a:r>
                        <a:rPr lang="en-US" altLang="zh-TW" sz="1600" dirty="0" smtClean="0"/>
                        <a:t>3</a:t>
                      </a:r>
                      <a:endParaRPr lang="zh-TW" altLang="en-US" sz="1600" dirty="0"/>
                    </a:p>
                  </a:txBody>
                  <a:tcPr/>
                </a:tc>
                <a:tc>
                  <a:txBody>
                    <a:bodyPr/>
                    <a:lstStyle/>
                    <a:p>
                      <a:pPr algn="ctr"/>
                      <a:r>
                        <a:rPr lang="en-US" altLang="zh-TW" sz="1600" dirty="0" smtClean="0"/>
                        <a:t>3</a:t>
                      </a:r>
                      <a:endParaRPr lang="zh-TW" altLang="en-US" sz="1600" dirty="0"/>
                    </a:p>
                  </a:txBody>
                  <a:tcPr/>
                </a:tc>
                <a:tc>
                  <a:txBody>
                    <a:bodyPr/>
                    <a:lstStyle/>
                    <a:p>
                      <a:pPr algn="ctr"/>
                      <a:r>
                        <a:rPr lang="en-US" altLang="zh-TW" sz="1600" dirty="0" smtClean="0"/>
                        <a:t>1.0</a:t>
                      </a:r>
                      <a:endParaRPr lang="zh-TW" altLang="en-US" sz="1600" dirty="0"/>
                    </a:p>
                  </a:txBody>
                  <a:tcPr/>
                </a:tc>
              </a:tr>
            </a:tbl>
          </a:graphicData>
        </a:graphic>
      </p:graphicFrame>
      <p:sp>
        <p:nvSpPr>
          <p:cNvPr id="7" name="文字方塊 6"/>
          <p:cNvSpPr txBox="1"/>
          <p:nvPr/>
        </p:nvSpPr>
        <p:spPr>
          <a:xfrm>
            <a:off x="179512" y="4149080"/>
            <a:ext cx="2088232" cy="923330"/>
          </a:xfrm>
          <a:prstGeom prst="rect">
            <a:avLst/>
          </a:prstGeom>
          <a:noFill/>
        </p:spPr>
        <p:txBody>
          <a:bodyPr wrap="square" rtlCol="0">
            <a:spAutoFit/>
          </a:bodyPr>
          <a:lstStyle/>
          <a:p>
            <a:r>
              <a:rPr lang="en-US" altLang="zh-TW" dirty="0" smtClean="0"/>
              <a:t>All classes can be described by A={a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a:t>
            </a:r>
            <a:endParaRPr lang="zh-TW" altLang="en-US" dirty="0"/>
          </a:p>
        </p:txBody>
      </p:sp>
      <p:sp>
        <p:nvSpPr>
          <p:cNvPr id="8" name="投影片編號版面配置區 7"/>
          <p:cNvSpPr>
            <a:spLocks noGrp="1"/>
          </p:cNvSpPr>
          <p:nvPr>
            <p:ph type="sldNum" sz="quarter" idx="12"/>
          </p:nvPr>
        </p:nvSpPr>
        <p:spPr/>
        <p:txBody>
          <a:bodyPr/>
          <a:lstStyle/>
          <a:p>
            <a:fld id="{0914735A-2DD1-49E1-A8E8-1A4F28A0E6C3}" type="slidenum">
              <a:rPr lang="zh-TW" altLang="en-US" smtClean="0"/>
              <a:pPr/>
              <a:t>22</a:t>
            </a:fld>
            <a:endParaRPr lang="zh-TW"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p:cNvSpPr txBox="1"/>
          <p:nvPr/>
        </p:nvSpPr>
        <p:spPr>
          <a:xfrm>
            <a:off x="0" y="116632"/>
            <a:ext cx="4499992" cy="646331"/>
          </a:xfrm>
          <a:prstGeom prst="rect">
            <a:avLst/>
          </a:prstGeom>
          <a:noFill/>
        </p:spPr>
        <p:txBody>
          <a:bodyPr wrap="square" rtlCol="0">
            <a:spAutoFit/>
          </a:bodyPr>
          <a:lstStyle/>
          <a:p>
            <a:r>
              <a:rPr lang="en-US" altLang="zh-TW" dirty="0" err="1" smtClean="0">
                <a:solidFill>
                  <a:srgbClr val="0066FF"/>
                </a:solidFill>
                <a:latin typeface="微軟正黑體" pitchFamily="34" charset="-120"/>
                <a:ea typeface="微軟正黑體" pitchFamily="34" charset="-120"/>
              </a:rPr>
              <a:t>Discernibility</a:t>
            </a:r>
            <a:r>
              <a:rPr lang="en-US" altLang="zh-TW" dirty="0" smtClean="0">
                <a:solidFill>
                  <a:srgbClr val="0066FF"/>
                </a:solidFill>
                <a:latin typeface="微軟正黑體" pitchFamily="34" charset="-120"/>
                <a:ea typeface="微軟正黑體" pitchFamily="34" charset="-120"/>
              </a:rPr>
              <a:t> matrix:</a:t>
            </a:r>
          </a:p>
          <a:p>
            <a:r>
              <a:rPr lang="en-US" altLang="zh-TW" dirty="0" err="1" smtClean="0">
                <a:latin typeface="微軟正黑體" pitchFamily="34" charset="-120"/>
                <a:ea typeface="微軟正黑體" pitchFamily="34" charset="-120"/>
              </a:rPr>
              <a:t>須使用何種attributes來區分</a:t>
            </a:r>
            <a:r>
              <a:rPr lang="zh-TW" altLang="en-US" dirty="0" smtClean="0">
                <a:latin typeface="微軟正黑體" pitchFamily="34" charset="-120"/>
                <a:ea typeface="微軟正黑體" pitchFamily="34" charset="-120"/>
              </a:rPr>
              <a:t>不同的</a:t>
            </a:r>
            <a:r>
              <a:rPr lang="en-US" altLang="zh-TW" dirty="0" smtClean="0">
                <a:latin typeface="微軟正黑體" pitchFamily="34" charset="-120"/>
                <a:ea typeface="微軟正黑體" pitchFamily="34" charset="-120"/>
              </a:rPr>
              <a:t>sets</a:t>
            </a:r>
            <a:endParaRPr lang="zh-TW" altLang="en-US" dirty="0">
              <a:latin typeface="微軟正黑體" pitchFamily="34" charset="-120"/>
              <a:ea typeface="微軟正黑體" pitchFamily="34" charset="-120"/>
            </a:endParaRPr>
          </a:p>
        </p:txBody>
      </p:sp>
      <p:graphicFrame>
        <p:nvGraphicFramePr>
          <p:cNvPr id="4" name="表格 3"/>
          <p:cNvGraphicFramePr>
            <a:graphicFrameLocks noGrp="1"/>
          </p:cNvGraphicFramePr>
          <p:nvPr/>
        </p:nvGraphicFramePr>
        <p:xfrm>
          <a:off x="107504" y="1052736"/>
          <a:ext cx="8856981" cy="4495800"/>
        </p:xfrm>
        <a:graphic>
          <a:graphicData uri="http://schemas.openxmlformats.org/drawingml/2006/table">
            <a:tbl>
              <a:tblPr firstRow="1" bandRow="1">
                <a:tableStyleId>{5C22544A-7EE6-4342-B048-85BDC9FD1C3A}</a:tableStyleId>
              </a:tblPr>
              <a:tblGrid>
                <a:gridCol w="426865"/>
                <a:gridCol w="924878"/>
                <a:gridCol w="996023"/>
                <a:gridCol w="872955"/>
                <a:gridCol w="805180"/>
                <a:gridCol w="805180"/>
                <a:gridCol w="805180"/>
                <a:gridCol w="805180"/>
                <a:gridCol w="805180"/>
                <a:gridCol w="805180"/>
                <a:gridCol w="805180"/>
              </a:tblGrid>
              <a:tr h="370840">
                <a:tc>
                  <a:txBody>
                    <a:bodyPr/>
                    <a:lstStyle/>
                    <a:p>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3</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5</a:t>
                      </a:r>
                      <a:endParaRPr lang="zh-TW" altLang="en-US" dirty="0"/>
                    </a:p>
                  </a:txBody>
                  <a:tcPr/>
                </a:tc>
                <a:tc>
                  <a:txBody>
                    <a:bodyPr/>
                    <a:lstStyle/>
                    <a:p>
                      <a:r>
                        <a:rPr lang="en-US" altLang="zh-TW" dirty="0" smtClean="0"/>
                        <a:t>6</a:t>
                      </a:r>
                      <a:endParaRPr lang="zh-TW" altLang="en-US" dirty="0"/>
                    </a:p>
                  </a:txBody>
                  <a:tcPr/>
                </a:tc>
                <a:tc>
                  <a:txBody>
                    <a:bodyPr/>
                    <a:lstStyle/>
                    <a:p>
                      <a:r>
                        <a:rPr lang="en-US" altLang="zh-TW" dirty="0" smtClean="0"/>
                        <a:t>7</a:t>
                      </a:r>
                      <a:endParaRPr lang="zh-TW" altLang="en-US" dirty="0"/>
                    </a:p>
                  </a:txBody>
                  <a:tcPr/>
                </a:tc>
                <a:tc>
                  <a:txBody>
                    <a:bodyPr/>
                    <a:lstStyle/>
                    <a:p>
                      <a:r>
                        <a:rPr lang="en-US" altLang="zh-TW" dirty="0" smtClean="0"/>
                        <a:t>8</a:t>
                      </a:r>
                      <a:endParaRPr lang="zh-TW" altLang="en-US" dirty="0"/>
                    </a:p>
                  </a:txBody>
                  <a:tcPr/>
                </a:tc>
                <a:tc>
                  <a:txBody>
                    <a:bodyPr/>
                    <a:lstStyle/>
                    <a:p>
                      <a:r>
                        <a:rPr lang="en-US" altLang="zh-TW" dirty="0" smtClean="0"/>
                        <a:t>9</a:t>
                      </a:r>
                      <a:endParaRPr lang="zh-TW" altLang="en-US" dirty="0"/>
                    </a:p>
                  </a:txBody>
                  <a:tcPr/>
                </a:tc>
                <a:tc>
                  <a:txBody>
                    <a:bodyPr/>
                    <a:lstStyle/>
                    <a:p>
                      <a:r>
                        <a:rPr lang="en-US" altLang="zh-TW" dirty="0" smtClean="0"/>
                        <a:t>10</a:t>
                      </a:r>
                      <a:endParaRPr lang="zh-TW" altLang="en-US" dirty="0"/>
                    </a:p>
                  </a:txBody>
                  <a:tcPr/>
                </a:tc>
              </a:tr>
              <a:tr h="370840">
                <a:tc>
                  <a:txBody>
                    <a:bodyPr/>
                    <a:lstStyle/>
                    <a:p>
                      <a:r>
                        <a:rPr lang="en-US" altLang="zh-TW" dirty="0" smtClean="0"/>
                        <a:t>1</a:t>
                      </a:r>
                      <a:endParaRPr lang="zh-TW" altLang="en-US" dirty="0"/>
                    </a:p>
                  </a:txBody>
                  <a:tcPr/>
                </a:tc>
                <a:tc>
                  <a:txBody>
                    <a:bodyPr/>
                    <a:lstStyle/>
                    <a:p>
                      <a:pPr algn="ctr"/>
                      <a:r>
                        <a:rPr lang="en-US" altLang="zh-TW" sz="1600" dirty="0" smtClean="0"/>
                        <a:t>-</a:t>
                      </a:r>
                      <a:endParaRPr lang="zh-TW" altLang="en-US" sz="1600" dirty="0"/>
                    </a:p>
                  </a:txBody>
                  <a:tcPr/>
                </a:tc>
                <a:tc>
                  <a:txBody>
                    <a:bodyPr/>
                    <a:lstStyle/>
                    <a:p>
                      <a:pPr algn="ctr"/>
                      <a:endParaRPr lang="zh-TW" altLang="en-US" sz="1600" dirty="0"/>
                    </a:p>
                  </a:txBody>
                  <a:tcPr/>
                </a:tc>
                <a:tc>
                  <a:txBody>
                    <a:bodyPr/>
                    <a:lstStyle/>
                    <a:p>
                      <a:pPr algn="ctr"/>
                      <a:endParaRPr lang="zh-TW" altLang="en-US" sz="1600" dirty="0"/>
                    </a:p>
                  </a:txBody>
                  <a:tcPr/>
                </a:tc>
                <a:tc>
                  <a:txBody>
                    <a:bodyPr/>
                    <a:lstStyle/>
                    <a:p>
                      <a:pPr algn="ctr"/>
                      <a:endParaRPr lang="zh-TW" altLang="en-US" sz="1600" dirty="0"/>
                    </a:p>
                  </a:txBody>
                  <a:tcPr/>
                </a:tc>
                <a:tc>
                  <a:txBody>
                    <a:bodyPr/>
                    <a:lstStyle/>
                    <a:p>
                      <a:pPr algn="ctr"/>
                      <a:endParaRPr lang="zh-TW" altLang="en-US" sz="1600" dirty="0"/>
                    </a:p>
                  </a:txBody>
                  <a:tcPr/>
                </a:tc>
                <a:tc>
                  <a:txBody>
                    <a:bodyPr/>
                    <a:lstStyle/>
                    <a:p>
                      <a:pPr algn="ctr"/>
                      <a:endParaRPr lang="zh-TW" altLang="en-US" sz="1600" dirty="0"/>
                    </a:p>
                  </a:txBody>
                  <a:tcPr/>
                </a:tc>
                <a:tc>
                  <a:txBody>
                    <a:bodyPr/>
                    <a:lstStyle/>
                    <a:p>
                      <a:pPr algn="ctr"/>
                      <a:endParaRPr lang="zh-TW" altLang="en-US" sz="1600" dirty="0"/>
                    </a:p>
                  </a:txBody>
                  <a:tcPr/>
                </a:tc>
                <a:tc>
                  <a:txBody>
                    <a:bodyPr/>
                    <a:lstStyle/>
                    <a:p>
                      <a:pPr algn="ctr"/>
                      <a:endParaRPr lang="zh-TW" altLang="en-US" sz="1600" dirty="0"/>
                    </a:p>
                  </a:txBody>
                  <a:tcPr/>
                </a:tc>
                <a:tc>
                  <a:txBody>
                    <a:bodyPr/>
                    <a:lstStyle/>
                    <a:p>
                      <a:pPr algn="ctr"/>
                      <a:endParaRPr lang="zh-TW" altLang="en-US" sz="1600" dirty="0"/>
                    </a:p>
                  </a:txBody>
                  <a:tcPr/>
                </a:tc>
                <a:tc>
                  <a:txBody>
                    <a:bodyPr/>
                    <a:lstStyle/>
                    <a:p>
                      <a:pPr algn="ctr"/>
                      <a:endParaRPr lang="zh-TW" altLang="en-US" sz="1600" dirty="0"/>
                    </a:p>
                  </a:txBody>
                  <a:tcPr/>
                </a:tc>
              </a:tr>
              <a:tr h="370840">
                <a:tc>
                  <a:txBody>
                    <a:bodyPr/>
                    <a:lstStyle/>
                    <a:p>
                      <a:r>
                        <a:rPr lang="en-US" altLang="zh-TW" dirty="0" smtClean="0"/>
                        <a:t>2</a:t>
                      </a:r>
                      <a:endParaRPr lang="zh-TW" altLang="en-US" dirty="0"/>
                    </a:p>
                  </a:txBody>
                  <a:tcPr/>
                </a:tc>
                <a:tc>
                  <a:txBody>
                    <a:bodyPr/>
                    <a:lstStyle/>
                    <a:p>
                      <a:pPr algn="ct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a:p>
                  </a:txBody>
                  <a:tcPr/>
                </a:tc>
                <a:tc>
                  <a:txBody>
                    <a:bodyPr/>
                    <a:lstStyle/>
                    <a:p>
                      <a:pPr algn="ctr"/>
                      <a:r>
                        <a:rPr lang="en-US" altLang="zh-TW" sz="1600" dirty="0" smtClean="0"/>
                        <a:t>-</a:t>
                      </a:r>
                      <a:endParaRPr lang="zh-TW" altLang="en-US" sz="1600" dirty="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dirty="0"/>
                    </a:p>
                  </a:txBody>
                  <a:tcPr/>
                </a:tc>
                <a:tc>
                  <a:txBody>
                    <a:bodyPr/>
                    <a:lstStyle/>
                    <a:p>
                      <a:pPr algn="ctr"/>
                      <a:endParaRPr lang="zh-TW" altLang="en-US" sz="1600" dirty="0"/>
                    </a:p>
                  </a:txBody>
                  <a:tcPr/>
                </a:tc>
              </a:tr>
              <a:tr h="370840">
                <a:tc>
                  <a:txBody>
                    <a:bodyPr/>
                    <a:lstStyle/>
                    <a:p>
                      <a:r>
                        <a:rPr lang="en-US" altLang="zh-TW" dirty="0" smtClean="0"/>
                        <a:t>3</a:t>
                      </a:r>
                      <a:endParaRPr lang="zh-TW" altLang="en-US" dirty="0"/>
                    </a:p>
                  </a:txBody>
                  <a:tcPr/>
                </a:tc>
                <a:tc>
                  <a:txBody>
                    <a:bodyPr/>
                    <a:lstStyle/>
                    <a:p>
                      <a:pPr algn="ctr"/>
                      <a:r>
                        <a:rPr lang="en-US" altLang="zh-TW" sz="1600" dirty="0" smtClean="0"/>
                        <a:t>-</a:t>
                      </a: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r>
              <a:tr h="370840">
                <a:tc>
                  <a:txBody>
                    <a:bodyPr/>
                    <a:lstStyle/>
                    <a:p>
                      <a:r>
                        <a:rPr lang="en-US" altLang="zh-TW" dirty="0" smtClean="0"/>
                        <a:t>4</a:t>
                      </a:r>
                      <a:endParaRPr lang="zh-TW" altLang="en-US" dirty="0"/>
                    </a:p>
                  </a:txBody>
                  <a:tcPr/>
                </a:tc>
                <a:tc>
                  <a:txBody>
                    <a:bodyPr/>
                    <a:lstStyle/>
                    <a:p>
                      <a:pPr algn="ctr"/>
                      <a:r>
                        <a:rPr lang="en-US" altLang="zh-TW" sz="1600" dirty="0" smtClean="0"/>
                        <a:t>a</a:t>
                      </a:r>
                      <a:r>
                        <a:rPr lang="en-US" altLang="zh-TW" sz="1600" baseline="-25000" dirty="0" smtClean="0"/>
                        <a:t>2</a:t>
                      </a:r>
                      <a:endParaRPr lang="zh-TW" altLang="en-US" sz="1600" baseline="-25000" dirty="0"/>
                    </a:p>
                  </a:txBody>
                  <a:tcPr/>
                </a:tc>
                <a:tc>
                  <a:txBody>
                    <a:bodyPr/>
                    <a:lstStyle/>
                    <a:p>
                      <a:pPr algn="ctr"/>
                      <a:r>
                        <a:rPr lang="en-US" altLang="zh-TW" sz="1600" dirty="0" smtClean="0"/>
                        <a:t>-</a:t>
                      </a: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dirty="0" smtClean="0"/>
                        <a:t>a</a:t>
                      </a:r>
                      <a:r>
                        <a:rPr lang="en-US" altLang="zh-TW" sz="1600" baseline="-25000" dirty="0" smtClean="0"/>
                        <a:t>2</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dirty="0"/>
                    </a:p>
                  </a:txBody>
                  <a:tcPr/>
                </a:tc>
                <a:tc>
                  <a:txBody>
                    <a:bodyPr/>
                    <a:lstStyle/>
                    <a:p>
                      <a:pPr algn="ctr"/>
                      <a:endParaRPr lang="zh-TW" altLang="en-US" sz="1600" dirty="0"/>
                    </a:p>
                  </a:txBody>
                  <a:tcPr/>
                </a:tc>
              </a:tr>
              <a:tr h="370840">
                <a:tc>
                  <a:txBody>
                    <a:bodyPr/>
                    <a:lstStyle/>
                    <a:p>
                      <a:r>
                        <a:rPr lang="en-US" altLang="zh-TW" dirty="0" smtClean="0"/>
                        <a:t>5</a:t>
                      </a:r>
                      <a:endParaRPr lang="zh-TW" altLang="en-US" dirty="0"/>
                    </a:p>
                  </a:txBody>
                  <a:tcPr/>
                </a:tc>
                <a:tc>
                  <a:txBody>
                    <a:bodyPr/>
                    <a:lstStyle/>
                    <a:p>
                      <a:pPr algn="ct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3</a:t>
                      </a:r>
                      <a:endParaRPr lang="zh-TW" altLang="en-US" sz="1600"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dirty="0"/>
                    </a:p>
                  </a:txBody>
                  <a:tcPr/>
                </a:tc>
                <a:tc>
                  <a:txBody>
                    <a:bodyPr/>
                    <a:lstStyle/>
                    <a:p>
                      <a:pPr algn="ctr"/>
                      <a:endParaRPr lang="zh-TW" altLang="en-US" sz="1600" dirty="0"/>
                    </a:p>
                  </a:txBody>
                  <a:tcPr/>
                </a:tc>
              </a:tr>
              <a:tr h="370840">
                <a:tc>
                  <a:txBody>
                    <a:bodyPr/>
                    <a:lstStyle/>
                    <a:p>
                      <a:r>
                        <a:rPr lang="en-US" altLang="zh-TW" dirty="0" smtClean="0"/>
                        <a:t>6</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3</a:t>
                      </a:r>
                      <a:endParaRPr lang="zh-TW" altLang="en-US" sz="1600" baseline="-25000" dirty="0" smtClean="0"/>
                    </a:p>
                    <a:p>
                      <a:pPr algn="ct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algn="ctr"/>
                      <a:r>
                        <a:rPr lang="en-US" altLang="zh-TW" sz="1600" dirty="0" smtClean="0"/>
                        <a:t>-</a:t>
                      </a:r>
                      <a:endParaRPr lang="zh-TW" altLang="en-US" sz="1600" dirty="0"/>
                    </a:p>
                  </a:txBody>
                  <a:tcPr/>
                </a:tc>
                <a:tc>
                  <a:txBody>
                    <a:bodyPr/>
                    <a:lstStyle/>
                    <a:p>
                      <a:pPr algn="ctr"/>
                      <a:endParaRPr lang="zh-TW" altLang="en-US" sz="1600"/>
                    </a:p>
                  </a:txBody>
                  <a:tcPr/>
                </a:tc>
                <a:tc>
                  <a:txBody>
                    <a:bodyPr/>
                    <a:lstStyle/>
                    <a:p>
                      <a:pPr algn="ctr"/>
                      <a:endParaRPr lang="zh-TW" altLang="en-US" sz="1600"/>
                    </a:p>
                  </a:txBody>
                  <a:tcPr/>
                </a:tc>
                <a:tc>
                  <a:txBody>
                    <a:bodyPr/>
                    <a:lstStyle/>
                    <a:p>
                      <a:pPr algn="ctr"/>
                      <a:endParaRPr lang="zh-TW" altLang="en-US" sz="1600" dirty="0"/>
                    </a:p>
                  </a:txBody>
                  <a:tcPr/>
                </a:tc>
                <a:tc>
                  <a:txBody>
                    <a:bodyPr/>
                    <a:lstStyle/>
                    <a:p>
                      <a:pPr algn="ctr"/>
                      <a:endParaRPr lang="zh-TW" altLang="en-US" sz="1600" dirty="0"/>
                    </a:p>
                  </a:txBody>
                  <a:tcPr/>
                </a:tc>
              </a:tr>
              <a:tr h="370840">
                <a:tc>
                  <a:txBody>
                    <a:bodyPr/>
                    <a:lstStyle/>
                    <a:p>
                      <a:r>
                        <a:rPr lang="en-US" altLang="zh-TW" dirty="0" smtClean="0"/>
                        <a:t>7</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algn="ctr"/>
                      <a:endParaRPr lang="zh-TW" altLang="en-US" sz="1600"/>
                    </a:p>
                  </a:txBody>
                  <a:tcPr/>
                </a:tc>
                <a:tc>
                  <a:txBody>
                    <a:bodyPr/>
                    <a:lstStyle/>
                    <a:p>
                      <a:pPr algn="ctr"/>
                      <a:endParaRPr lang="zh-TW" altLang="en-US" sz="1600" dirty="0"/>
                    </a:p>
                  </a:txBody>
                  <a:tcPr/>
                </a:tc>
                <a:tc>
                  <a:txBody>
                    <a:bodyPr/>
                    <a:lstStyle/>
                    <a:p>
                      <a:pPr algn="ctr"/>
                      <a:endParaRPr lang="zh-TW" altLang="en-US" sz="1600" dirty="0"/>
                    </a:p>
                  </a:txBody>
                  <a:tcPr/>
                </a:tc>
              </a:tr>
              <a:tr h="370840">
                <a:tc>
                  <a:txBody>
                    <a:bodyPr/>
                    <a:lstStyle/>
                    <a:p>
                      <a:r>
                        <a:rPr lang="en-US" altLang="zh-TW" dirty="0" smtClean="0"/>
                        <a:t>8</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algn="ctr"/>
                      <a:r>
                        <a:rPr lang="en-US" altLang="zh-TW" sz="1600" dirty="0" smtClean="0"/>
                        <a:t>-</a:t>
                      </a: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algn="ctr"/>
                      <a:endParaRPr lang="zh-TW" altLang="en-US" sz="1600" dirty="0"/>
                    </a:p>
                  </a:txBody>
                  <a:tcPr/>
                </a:tc>
                <a:tc>
                  <a:txBody>
                    <a:bodyPr/>
                    <a:lstStyle/>
                    <a:p>
                      <a:pPr algn="ctr"/>
                      <a:endParaRPr lang="zh-TW" altLang="en-US" sz="1600" dirty="0"/>
                    </a:p>
                  </a:txBody>
                  <a:tcPr/>
                </a:tc>
              </a:tr>
              <a:tr h="370840">
                <a:tc>
                  <a:txBody>
                    <a:bodyPr/>
                    <a:lstStyle/>
                    <a:p>
                      <a:r>
                        <a:rPr lang="en-US" altLang="zh-TW" dirty="0" smtClean="0"/>
                        <a:t>9</a:t>
                      </a:r>
                      <a:endParaRPr lang="zh-TW" altLang="en-US" dirty="0"/>
                    </a:p>
                  </a:txBody>
                  <a:tcPr/>
                </a:tc>
                <a:tc>
                  <a:txBody>
                    <a:bodyPr/>
                    <a:lstStyle/>
                    <a:p>
                      <a:pPr algn="ctr"/>
                      <a:r>
                        <a:rPr lang="en-US" altLang="zh-TW" sz="1600" dirty="0" smtClean="0"/>
                        <a:t>-</a:t>
                      </a: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algn="ctr"/>
                      <a:r>
                        <a:rPr lang="en-US" altLang="zh-TW" sz="1600" dirty="0" smtClean="0"/>
                        <a:t>a</a:t>
                      </a:r>
                      <a:r>
                        <a:rPr lang="en-US" altLang="zh-TW" sz="1600" baseline="-25000" dirty="0" smtClean="0"/>
                        <a:t>2</a:t>
                      </a:r>
                      <a:endParaRPr lang="zh-TW" altLang="en-US" sz="1600" baseline="-250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3</a:t>
                      </a:r>
                      <a:endParaRPr lang="zh-TW" altLang="en-US" sz="1600" baseline="-25000" dirty="0" smtClean="0"/>
                    </a:p>
                    <a:p>
                      <a:pPr algn="ct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3</a:t>
                      </a:r>
                      <a:endParaRPr lang="zh-TW" altLang="en-US" sz="1600" baseline="-25000" dirty="0" smtClean="0"/>
                    </a:p>
                    <a:p>
                      <a:pPr algn="ctr"/>
                      <a:endParaRPr lang="zh-TW" altLang="en-US" sz="1600" dirty="0"/>
                    </a:p>
                  </a:txBody>
                  <a:tcPr/>
                </a:tc>
                <a:tc>
                  <a:txBody>
                    <a:bodyPr/>
                    <a:lstStyle/>
                    <a:p>
                      <a:pPr algn="ctr"/>
                      <a:r>
                        <a:rPr lang="en-US" altLang="zh-TW" sz="1600" dirty="0" smtClean="0"/>
                        <a:t>-</a:t>
                      </a:r>
                      <a:endParaRPr lang="zh-TW" altLang="en-US" sz="1600" dirty="0"/>
                    </a:p>
                  </a:txBody>
                  <a:tcPr/>
                </a:tc>
                <a:tc>
                  <a:txBody>
                    <a:bodyPr/>
                    <a:lstStyle/>
                    <a:p>
                      <a:pPr algn="ctr"/>
                      <a:endParaRPr lang="zh-TW" altLang="en-US" sz="1600" dirty="0"/>
                    </a:p>
                  </a:txBody>
                  <a:tcPr/>
                </a:tc>
              </a:tr>
              <a:tr h="370840">
                <a:tc>
                  <a:txBody>
                    <a:bodyPr/>
                    <a:lstStyle/>
                    <a:p>
                      <a:r>
                        <a:rPr lang="en-US" altLang="zh-TW" dirty="0" smtClean="0"/>
                        <a:t>10</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600" baseline="0" dirty="0" smtClean="0"/>
                        <a:t>a</a:t>
                      </a:r>
                      <a:r>
                        <a:rPr lang="en-US" altLang="zh-TW" sz="1600" baseline="-25000" dirty="0" smtClean="0"/>
                        <a:t>1</a:t>
                      </a:r>
                      <a:r>
                        <a:rPr lang="en-US" altLang="zh-TW" sz="1600" dirty="0" smtClean="0"/>
                        <a:t>,a</a:t>
                      </a:r>
                      <a:r>
                        <a:rPr lang="en-US" altLang="zh-TW" sz="1600" baseline="-25000" dirty="0" smtClean="0"/>
                        <a:t>2</a:t>
                      </a:r>
                      <a:r>
                        <a:rPr lang="en-US" altLang="zh-TW" sz="1600" dirty="0" smtClean="0"/>
                        <a:t>,a</a:t>
                      </a:r>
                      <a:r>
                        <a:rPr lang="en-US" altLang="zh-TW" sz="1600" baseline="-25000" dirty="0" smtClean="0"/>
                        <a:t>3</a:t>
                      </a:r>
                      <a:endParaRPr lang="zh-TW" altLang="en-US" sz="1600" baseline="-25000" dirty="0" smtClean="0"/>
                    </a:p>
                  </a:txBody>
                  <a:tcPr/>
                </a:tc>
                <a:tc>
                  <a:txBody>
                    <a:bodyPr/>
                    <a:lstStyle/>
                    <a:p>
                      <a:pPr algn="ctr"/>
                      <a:r>
                        <a:rPr lang="en-US" altLang="zh-TW" sz="1600" dirty="0" smtClean="0"/>
                        <a:t>-</a:t>
                      </a:r>
                      <a:endParaRPr lang="zh-TW" altLang="en-US" sz="1600" dirty="0"/>
                    </a:p>
                  </a:txBody>
                  <a:tcPr/>
                </a:tc>
              </a:tr>
            </a:tbl>
          </a:graphicData>
        </a:graphic>
      </p:graphicFrame>
      <p:sp>
        <p:nvSpPr>
          <p:cNvPr id="5" name="投影片編號版面配置區 4"/>
          <p:cNvSpPr>
            <a:spLocks noGrp="1"/>
          </p:cNvSpPr>
          <p:nvPr>
            <p:ph type="sldNum" sz="quarter" idx="12"/>
          </p:nvPr>
        </p:nvSpPr>
        <p:spPr/>
        <p:txBody>
          <a:bodyPr/>
          <a:lstStyle/>
          <a:p>
            <a:fld id="{0914735A-2DD1-49E1-A8E8-1A4F28A0E6C3}" type="slidenum">
              <a:rPr lang="zh-TW" altLang="en-US" smtClean="0"/>
              <a:pPr/>
              <a:t>23</a:t>
            </a:fld>
            <a:endParaRPr lang="zh-TW"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611560" y="116632"/>
            <a:ext cx="6768752" cy="1477328"/>
          </a:xfrm>
          <a:prstGeom prst="rect">
            <a:avLst/>
          </a:prstGeom>
          <a:noFill/>
        </p:spPr>
        <p:txBody>
          <a:bodyPr wrap="square" rtlCol="0">
            <a:spAutoFit/>
          </a:bodyPr>
          <a:lstStyle/>
          <a:p>
            <a:r>
              <a:rPr lang="en-US" altLang="zh-TW" dirty="0" err="1" smtClean="0"/>
              <a:t>f</a:t>
            </a:r>
            <a:r>
              <a:rPr lang="en-US" altLang="zh-TW" baseline="-25000" dirty="0" err="1" smtClean="0"/>
              <a:t>A</a:t>
            </a:r>
            <a:r>
              <a:rPr lang="en-US" altLang="zh-TW" dirty="0" smtClean="0"/>
              <a:t>(D)=(a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)a</a:t>
            </a:r>
            <a:r>
              <a:rPr lang="en-US" altLang="zh-TW" baseline="-25000" dirty="0" smtClean="0"/>
              <a:t>2</a:t>
            </a:r>
            <a:r>
              <a:rPr lang="en-US" altLang="zh-TW" dirty="0" smtClean="0"/>
              <a:t>(a</a:t>
            </a:r>
            <a:r>
              <a:rPr lang="en-US" altLang="zh-TW" baseline="-25000" dirty="0" smtClean="0"/>
              <a:t>1</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)a</a:t>
            </a:r>
            <a:r>
              <a:rPr lang="en-US" altLang="zh-TW" baseline="-25000" dirty="0" smtClean="0"/>
              <a:t>2</a:t>
            </a:r>
            <a:r>
              <a:rPr lang="en-US" altLang="zh-TW" dirty="0" smtClean="0"/>
              <a:t>(a</a:t>
            </a:r>
            <a:r>
              <a:rPr lang="en-US" altLang="zh-TW" baseline="-25000" dirty="0" smtClean="0"/>
              <a:t>1</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2</a:t>
            </a:r>
            <a:r>
              <a:rPr lang="en-US" altLang="zh-TW" dirty="0" smtClean="0"/>
              <a:t>(a</a:t>
            </a:r>
            <a:r>
              <a:rPr lang="en-US" altLang="zh-TW" baseline="-25000" dirty="0" smtClean="0"/>
              <a:t>1</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3</a:t>
            </a:r>
            <a:r>
              <a:rPr lang="en-US" altLang="zh-TW" dirty="0" smtClean="0"/>
              <a:t>) = a</a:t>
            </a:r>
            <a:r>
              <a:rPr lang="en-US" altLang="zh-TW" baseline="-25000" dirty="0" smtClean="0"/>
              <a:t>2</a:t>
            </a:r>
            <a:r>
              <a:rPr lang="en-US" altLang="zh-TW" dirty="0" smtClean="0"/>
              <a:t>(a</a:t>
            </a:r>
            <a:r>
              <a:rPr lang="en-US" altLang="zh-TW" baseline="-25000" dirty="0" smtClean="0"/>
              <a:t>1</a:t>
            </a:r>
            <a:r>
              <a:rPr lang="en-US" altLang="zh-TW" dirty="0" smtClean="0"/>
              <a:t>+a</a:t>
            </a:r>
            <a:r>
              <a:rPr lang="en-US" altLang="zh-TW" baseline="-25000" dirty="0" smtClean="0"/>
              <a:t>3</a:t>
            </a:r>
            <a:r>
              <a:rPr lang="en-US" altLang="zh-TW" dirty="0" smtClean="0"/>
              <a:t>) = </a:t>
            </a:r>
            <a:r>
              <a:rPr lang="en-US" altLang="zh-TW" dirty="0" smtClean="0">
                <a:solidFill>
                  <a:srgbClr val="FF0000"/>
                </a:solidFill>
              </a:rPr>
              <a:t>a</a:t>
            </a:r>
            <a:r>
              <a:rPr lang="en-US" altLang="zh-TW" baseline="-25000" dirty="0" smtClean="0">
                <a:solidFill>
                  <a:srgbClr val="FF0000"/>
                </a:solidFill>
              </a:rPr>
              <a:t>1</a:t>
            </a:r>
            <a:r>
              <a:rPr lang="en-US" altLang="zh-TW" dirty="0" smtClean="0">
                <a:solidFill>
                  <a:srgbClr val="FF0000"/>
                </a:solidFill>
              </a:rPr>
              <a:t>a</a:t>
            </a:r>
            <a:r>
              <a:rPr lang="en-US" altLang="zh-TW" baseline="-25000" dirty="0" smtClean="0">
                <a:solidFill>
                  <a:srgbClr val="FF0000"/>
                </a:solidFill>
              </a:rPr>
              <a:t>2</a:t>
            </a:r>
            <a:r>
              <a:rPr lang="en-US" altLang="zh-TW" dirty="0" smtClean="0">
                <a:solidFill>
                  <a:srgbClr val="FF0000"/>
                </a:solidFill>
              </a:rPr>
              <a:t> + a</a:t>
            </a:r>
            <a:r>
              <a:rPr lang="en-US" altLang="zh-TW" baseline="-25000" dirty="0" smtClean="0">
                <a:solidFill>
                  <a:srgbClr val="FF0000"/>
                </a:solidFill>
              </a:rPr>
              <a:t>2</a:t>
            </a:r>
            <a:r>
              <a:rPr lang="en-US" altLang="zh-TW" dirty="0" smtClean="0">
                <a:solidFill>
                  <a:srgbClr val="FF0000"/>
                </a:solidFill>
              </a:rPr>
              <a:t>a</a:t>
            </a:r>
            <a:r>
              <a:rPr lang="en-US" altLang="zh-TW" baseline="-25000" dirty="0" smtClean="0">
                <a:solidFill>
                  <a:srgbClr val="FF0000"/>
                </a:solidFill>
              </a:rPr>
              <a:t>3</a:t>
            </a:r>
            <a:endParaRPr lang="zh-TW" altLang="en-US" baseline="-25000" dirty="0">
              <a:solidFill>
                <a:srgbClr val="FF0000"/>
              </a:solidFill>
            </a:endParaRPr>
          </a:p>
        </p:txBody>
      </p:sp>
      <p:sp>
        <p:nvSpPr>
          <p:cNvPr id="3" name="文字方塊 2"/>
          <p:cNvSpPr txBox="1"/>
          <p:nvPr/>
        </p:nvSpPr>
        <p:spPr>
          <a:xfrm>
            <a:off x="611560" y="1700808"/>
            <a:ext cx="3888432" cy="646331"/>
          </a:xfrm>
          <a:prstGeom prst="rect">
            <a:avLst/>
          </a:prstGeom>
          <a:noFill/>
        </p:spPr>
        <p:txBody>
          <a:bodyPr wrap="square" rtlCol="0">
            <a:spAutoFit/>
          </a:bodyPr>
          <a:lstStyle/>
          <a:p>
            <a:r>
              <a:rPr lang="en-US" altLang="zh-TW" dirty="0" smtClean="0">
                <a:solidFill>
                  <a:srgbClr val="0066FF"/>
                </a:solidFill>
              </a:rPr>
              <a:t>D-</a:t>
            </a:r>
            <a:r>
              <a:rPr lang="en-US" altLang="zh-TW" dirty="0" err="1" smtClean="0">
                <a:solidFill>
                  <a:srgbClr val="0066FF"/>
                </a:solidFill>
              </a:rPr>
              <a:t>reducts</a:t>
            </a:r>
            <a:r>
              <a:rPr lang="en-US" altLang="zh-TW" dirty="0" smtClean="0">
                <a:solidFill>
                  <a:srgbClr val="0066FF"/>
                </a:solidFill>
              </a:rPr>
              <a:t> = {a</a:t>
            </a:r>
            <a:r>
              <a:rPr lang="en-US" altLang="zh-TW" baseline="-25000" dirty="0" smtClean="0">
                <a:solidFill>
                  <a:srgbClr val="0066FF"/>
                </a:solidFill>
              </a:rPr>
              <a:t>1</a:t>
            </a:r>
            <a:r>
              <a:rPr lang="en-US" altLang="zh-TW" dirty="0" smtClean="0">
                <a:solidFill>
                  <a:srgbClr val="0066FF"/>
                </a:solidFill>
              </a:rPr>
              <a:t>, a</a:t>
            </a:r>
            <a:r>
              <a:rPr lang="en-US" altLang="zh-TW" baseline="-25000" dirty="0" smtClean="0">
                <a:solidFill>
                  <a:srgbClr val="0066FF"/>
                </a:solidFill>
              </a:rPr>
              <a:t>2</a:t>
            </a:r>
            <a:r>
              <a:rPr lang="en-US" altLang="zh-TW" dirty="0" smtClean="0">
                <a:solidFill>
                  <a:srgbClr val="0066FF"/>
                </a:solidFill>
              </a:rPr>
              <a:t>} and {a</a:t>
            </a:r>
            <a:r>
              <a:rPr lang="en-US" altLang="zh-TW" baseline="-25000" dirty="0" smtClean="0">
                <a:solidFill>
                  <a:srgbClr val="0066FF"/>
                </a:solidFill>
              </a:rPr>
              <a:t>2</a:t>
            </a:r>
            <a:r>
              <a:rPr lang="en-US" altLang="zh-TW" dirty="0" smtClean="0">
                <a:solidFill>
                  <a:srgbClr val="0066FF"/>
                </a:solidFill>
              </a:rPr>
              <a:t>, a</a:t>
            </a:r>
            <a:r>
              <a:rPr lang="en-US" altLang="zh-TW" baseline="-25000" dirty="0" smtClean="0">
                <a:solidFill>
                  <a:srgbClr val="0066FF"/>
                </a:solidFill>
              </a:rPr>
              <a:t>3</a:t>
            </a:r>
            <a:r>
              <a:rPr lang="en-US" altLang="zh-TW" dirty="0" smtClean="0">
                <a:solidFill>
                  <a:srgbClr val="0066FF"/>
                </a:solidFill>
              </a:rPr>
              <a:t>}</a:t>
            </a:r>
          </a:p>
          <a:p>
            <a:r>
              <a:rPr lang="en-US" altLang="zh-TW" dirty="0" smtClean="0">
                <a:solidFill>
                  <a:srgbClr val="0066FF"/>
                </a:solidFill>
              </a:rPr>
              <a:t>D-core = {a</a:t>
            </a:r>
            <a:r>
              <a:rPr lang="en-US" altLang="zh-TW" baseline="-25000" dirty="0" smtClean="0">
                <a:solidFill>
                  <a:srgbClr val="0066FF"/>
                </a:solidFill>
              </a:rPr>
              <a:t>2</a:t>
            </a:r>
            <a:r>
              <a:rPr lang="en-US" altLang="zh-TW" dirty="0" smtClean="0">
                <a:solidFill>
                  <a:srgbClr val="0066FF"/>
                </a:solidFill>
              </a:rPr>
              <a:t>}</a:t>
            </a:r>
            <a:endParaRPr lang="zh-TW" altLang="en-US" dirty="0">
              <a:solidFill>
                <a:srgbClr val="0066FF"/>
              </a:solidFill>
            </a:endParaRPr>
          </a:p>
        </p:txBody>
      </p:sp>
      <p:graphicFrame>
        <p:nvGraphicFramePr>
          <p:cNvPr id="4" name="表格 3"/>
          <p:cNvGraphicFramePr>
            <a:graphicFrameLocks noGrp="1"/>
          </p:cNvGraphicFramePr>
          <p:nvPr/>
        </p:nvGraphicFramePr>
        <p:xfrm>
          <a:off x="986000" y="2451184"/>
          <a:ext cx="2649896" cy="4074160"/>
        </p:xfrm>
        <a:graphic>
          <a:graphicData uri="http://schemas.openxmlformats.org/drawingml/2006/table">
            <a:tbl>
              <a:tblPr firstRow="1" bandRow="1">
                <a:tableStyleId>{7DF18680-E054-41AD-8BC1-D1AEF772440D}</a:tableStyleId>
              </a:tblPr>
              <a:tblGrid>
                <a:gridCol w="662474"/>
                <a:gridCol w="662474"/>
                <a:gridCol w="662474"/>
                <a:gridCol w="662474"/>
              </a:tblGrid>
              <a:tr h="226824">
                <a:tc>
                  <a:txBody>
                    <a:bodyPr/>
                    <a:lstStyle/>
                    <a:p>
                      <a:pPr algn="ctr"/>
                      <a:r>
                        <a:rPr lang="en-US" altLang="zh-TW" sz="1800" dirty="0" smtClean="0"/>
                        <a:t>U</a:t>
                      </a:r>
                      <a:endParaRPr lang="zh-TW" altLang="en-US" sz="1800" dirty="0"/>
                    </a:p>
                  </a:txBody>
                  <a:tcPr anchor="ctr"/>
                </a:tc>
                <a:tc>
                  <a:txBody>
                    <a:bodyPr/>
                    <a:lstStyle/>
                    <a:p>
                      <a:pPr algn="ctr"/>
                      <a:r>
                        <a:rPr lang="en-US" altLang="zh-TW" sz="1800" dirty="0" smtClean="0"/>
                        <a:t>a</a:t>
                      </a:r>
                      <a:r>
                        <a:rPr lang="en-US" altLang="zh-TW" sz="1800" baseline="-25000" dirty="0" smtClean="0"/>
                        <a:t>1</a:t>
                      </a:r>
                      <a:endParaRPr lang="zh-TW" altLang="en-US" sz="1800" baseline="-25000" dirty="0"/>
                    </a:p>
                  </a:txBody>
                  <a:tcPr anchor="ctr"/>
                </a:tc>
                <a:tc>
                  <a:txBody>
                    <a:bodyPr/>
                    <a:lstStyle/>
                    <a:p>
                      <a:pPr algn="ctr"/>
                      <a:r>
                        <a:rPr lang="en-US" altLang="zh-TW" sz="1800" dirty="0" smtClean="0"/>
                        <a:t>a</a:t>
                      </a:r>
                      <a:r>
                        <a:rPr lang="en-US" altLang="zh-TW" sz="1800" baseline="-25000" dirty="0" smtClean="0"/>
                        <a:t>2</a:t>
                      </a:r>
                      <a:endParaRPr lang="zh-TW" altLang="en-US" sz="1800" baseline="-25000" dirty="0"/>
                    </a:p>
                  </a:txBody>
                  <a:tcPr anchor="ctr"/>
                </a:tc>
                <a:tc>
                  <a:txBody>
                    <a:bodyPr/>
                    <a:lstStyle/>
                    <a:p>
                      <a:pPr algn="ctr"/>
                      <a:r>
                        <a:rPr lang="en-US" altLang="zh-TW" sz="1800" baseline="0" dirty="0" smtClean="0">
                          <a:solidFill>
                            <a:schemeClr val="bg1"/>
                          </a:solidFill>
                        </a:rPr>
                        <a:t>d</a:t>
                      </a:r>
                      <a:endParaRPr lang="zh-TW" altLang="en-US" sz="1800" baseline="0" dirty="0">
                        <a:solidFill>
                          <a:schemeClr val="bg1"/>
                        </a:solidFill>
                      </a:endParaRPr>
                    </a:p>
                  </a:txBody>
                  <a:tcPr anchor="ctr"/>
                </a:tc>
              </a:tr>
              <a:tr h="370840">
                <a:tc>
                  <a:txBody>
                    <a:bodyPr/>
                    <a:lstStyle/>
                    <a:p>
                      <a:pPr algn="ctr"/>
                      <a:r>
                        <a:rPr lang="en-US" altLang="zh-TW" sz="1800" dirty="0" smtClean="0"/>
                        <a:t>x</a:t>
                      </a:r>
                      <a:r>
                        <a:rPr lang="en-US" altLang="zh-TW" sz="1800" baseline="-25000" dirty="0" smtClean="0"/>
                        <a:t>1</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2</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3</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4</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5</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chemeClr val="tx1"/>
                          </a:solidFill>
                        </a:rPr>
                        <a:t>3</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6</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chemeClr val="tx1"/>
                          </a:solidFill>
                        </a:rPr>
                        <a:t>3</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7</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8</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chemeClr val="tx1"/>
                          </a:solidFill>
                        </a:rPr>
                        <a:t>3</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9</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10</a:t>
                      </a:r>
                      <a:endParaRPr lang="zh-TW" altLang="en-US" sz="1800" baseline="-250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tc>
              </a:tr>
            </a:tbl>
          </a:graphicData>
        </a:graphic>
      </p:graphicFrame>
      <p:graphicFrame>
        <p:nvGraphicFramePr>
          <p:cNvPr id="5" name="表格 4"/>
          <p:cNvGraphicFramePr>
            <a:graphicFrameLocks noGrp="1"/>
          </p:cNvGraphicFramePr>
          <p:nvPr/>
        </p:nvGraphicFramePr>
        <p:xfrm>
          <a:off x="4370376" y="2451184"/>
          <a:ext cx="2649896" cy="4074160"/>
        </p:xfrm>
        <a:graphic>
          <a:graphicData uri="http://schemas.openxmlformats.org/drawingml/2006/table">
            <a:tbl>
              <a:tblPr firstRow="1" bandRow="1">
                <a:tableStyleId>{F5AB1C69-6EDB-4FF4-983F-18BD219EF322}</a:tableStyleId>
              </a:tblPr>
              <a:tblGrid>
                <a:gridCol w="662474"/>
                <a:gridCol w="662474"/>
                <a:gridCol w="662474"/>
                <a:gridCol w="662474"/>
              </a:tblGrid>
              <a:tr h="226824">
                <a:tc>
                  <a:txBody>
                    <a:bodyPr/>
                    <a:lstStyle/>
                    <a:p>
                      <a:pPr algn="ctr"/>
                      <a:r>
                        <a:rPr lang="en-US" altLang="zh-TW" sz="1800" dirty="0" smtClean="0"/>
                        <a:t>U</a:t>
                      </a:r>
                      <a:endParaRPr lang="zh-TW" altLang="en-US" sz="1800" dirty="0"/>
                    </a:p>
                  </a:txBody>
                  <a:tcPr anchor="ctr"/>
                </a:tc>
                <a:tc>
                  <a:txBody>
                    <a:bodyPr/>
                    <a:lstStyle/>
                    <a:p>
                      <a:pPr algn="ctr"/>
                      <a:r>
                        <a:rPr lang="en-US" altLang="zh-TW" sz="1800" dirty="0" smtClean="0"/>
                        <a:t>a</a:t>
                      </a:r>
                      <a:r>
                        <a:rPr lang="en-US" altLang="zh-TW" sz="1800" baseline="-25000" dirty="0" smtClean="0"/>
                        <a:t>2</a:t>
                      </a:r>
                      <a:endParaRPr lang="zh-TW" altLang="en-US" sz="1800" baseline="-25000" dirty="0"/>
                    </a:p>
                  </a:txBody>
                  <a:tcPr anchor="ctr"/>
                </a:tc>
                <a:tc>
                  <a:txBody>
                    <a:bodyPr/>
                    <a:lstStyle/>
                    <a:p>
                      <a:pPr algn="ctr"/>
                      <a:r>
                        <a:rPr lang="en-US" altLang="zh-TW" sz="1800" dirty="0" smtClean="0"/>
                        <a:t>a</a:t>
                      </a:r>
                      <a:r>
                        <a:rPr lang="en-US" altLang="zh-TW" sz="1800" baseline="-25000" dirty="0" smtClean="0"/>
                        <a:t>3</a:t>
                      </a:r>
                      <a:endParaRPr lang="zh-TW" altLang="en-US" sz="1800" baseline="-25000" dirty="0"/>
                    </a:p>
                  </a:txBody>
                  <a:tcPr anchor="ctr"/>
                </a:tc>
                <a:tc>
                  <a:txBody>
                    <a:bodyPr/>
                    <a:lstStyle/>
                    <a:p>
                      <a:pPr algn="ctr"/>
                      <a:r>
                        <a:rPr lang="en-US" altLang="zh-TW" sz="1800" baseline="0" dirty="0" smtClean="0"/>
                        <a:t>d</a:t>
                      </a:r>
                      <a:endParaRPr lang="zh-TW" altLang="en-US" sz="1800" baseline="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1</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1</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2</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2</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3</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1</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4</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2</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5</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4</a:t>
                      </a:r>
                      <a:endParaRPr lang="zh-TW" altLang="en-US" sz="1800" dirty="0"/>
                    </a:p>
                  </a:txBody>
                  <a:tcPr anchor="ctr"/>
                </a:tc>
                <a:tc>
                  <a:txBody>
                    <a:bodyPr/>
                    <a:lstStyle/>
                    <a:p>
                      <a:pPr algn="ctr"/>
                      <a:r>
                        <a:rPr lang="en-US" altLang="zh-TW" sz="1800" dirty="0" smtClean="0"/>
                        <a:t>3</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6</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3</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7</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2</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8</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4</a:t>
                      </a:r>
                      <a:endParaRPr lang="zh-TW" altLang="en-US" sz="1800" dirty="0"/>
                    </a:p>
                  </a:txBody>
                  <a:tcPr anchor="ctr"/>
                </a:tc>
                <a:tc>
                  <a:txBody>
                    <a:bodyPr/>
                    <a:lstStyle/>
                    <a:p>
                      <a:pPr algn="ctr"/>
                      <a:r>
                        <a:rPr lang="en-US" altLang="zh-TW" sz="1800" dirty="0" smtClean="0"/>
                        <a:t>3</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9</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3</a:t>
                      </a:r>
                      <a:endParaRPr lang="zh-TW" altLang="en-US" sz="1800" dirty="0"/>
                    </a:p>
                  </a:txBody>
                  <a:tcPr anchor="ctr"/>
                </a:tc>
                <a:tc>
                  <a:txBody>
                    <a:bodyPr/>
                    <a:lstStyle/>
                    <a:p>
                      <a:pPr algn="ctr"/>
                      <a:r>
                        <a:rPr lang="en-US" altLang="zh-TW" sz="1800" dirty="0" smtClean="0"/>
                        <a:t>1</a:t>
                      </a:r>
                      <a:endParaRPr lang="zh-TW" altLang="en-US" sz="1800" dirty="0">
                        <a:solidFill>
                          <a:srgbClr val="FF0000"/>
                        </a:solidFill>
                      </a:endParaRPr>
                    </a:p>
                  </a:txBody>
                  <a:tcPr anchor="ctr"/>
                </a:tc>
              </a:tr>
              <a:tr h="370840">
                <a:tc>
                  <a:txBody>
                    <a:bodyPr/>
                    <a:lstStyle/>
                    <a:p>
                      <a:pPr algn="ctr"/>
                      <a:r>
                        <a:rPr lang="en-US" altLang="zh-TW" sz="1800" dirty="0" smtClean="0"/>
                        <a:t>x</a:t>
                      </a:r>
                      <a:r>
                        <a:rPr lang="en-US" altLang="zh-TW" sz="1800" baseline="-25000" dirty="0" smtClean="0"/>
                        <a:t>10</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2</a:t>
                      </a:r>
                      <a:endParaRPr lang="zh-TW" altLang="en-US" sz="1800" dirty="0">
                        <a:solidFill>
                          <a:srgbClr val="FF0000"/>
                        </a:solidFill>
                      </a:endParaRPr>
                    </a:p>
                  </a:txBody>
                  <a:tcPr anchor="ctr"/>
                </a:tc>
              </a:tr>
            </a:tbl>
          </a:graphicData>
        </a:graphic>
      </p:graphicFrame>
      <p:sp>
        <p:nvSpPr>
          <p:cNvPr id="6" name="投影片編號版面配置區 5"/>
          <p:cNvSpPr>
            <a:spLocks noGrp="1"/>
          </p:cNvSpPr>
          <p:nvPr>
            <p:ph type="sldNum" sz="quarter" idx="12"/>
          </p:nvPr>
        </p:nvSpPr>
        <p:spPr/>
        <p:txBody>
          <a:bodyPr/>
          <a:lstStyle/>
          <a:p>
            <a:fld id="{0914735A-2DD1-49E1-A8E8-1A4F28A0E6C3}" type="slidenum">
              <a:rPr lang="zh-TW" altLang="en-US" smtClean="0"/>
              <a:pPr/>
              <a:t>24</a:t>
            </a:fld>
            <a:endParaRPr lang="zh-TW"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251520" y="764704"/>
            <a:ext cx="4608512" cy="3139321"/>
          </a:xfrm>
          <a:prstGeom prst="rect">
            <a:avLst/>
          </a:prstGeom>
          <a:noFill/>
        </p:spPr>
        <p:txBody>
          <a:bodyPr wrap="square" rtlCol="0">
            <a:spAutoFit/>
          </a:bodyPr>
          <a:lstStyle/>
          <a:p>
            <a:r>
              <a:rPr lang="en-US" altLang="zh-TW" dirty="0" smtClean="0"/>
              <a:t>f</a:t>
            </a:r>
            <a:r>
              <a:rPr lang="en-US" altLang="zh-TW" baseline="-25000" dirty="0" smtClean="0"/>
              <a:t>1</a:t>
            </a:r>
            <a:r>
              <a:rPr lang="en-US" altLang="zh-TW" dirty="0" smtClean="0"/>
              <a:t>(D) = (a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2</a:t>
            </a:r>
            <a:r>
              <a:rPr lang="en-US" altLang="zh-TW" dirty="0" smtClean="0"/>
              <a:t>a</a:t>
            </a:r>
            <a:r>
              <a:rPr lang="en-US" altLang="zh-TW" baseline="-25000" dirty="0" smtClean="0"/>
              <a:t>1</a:t>
            </a:r>
            <a:r>
              <a:rPr lang="en-US" altLang="zh-TW" dirty="0" smtClean="0"/>
              <a:t>a</a:t>
            </a:r>
            <a:r>
              <a:rPr lang="en-US" altLang="zh-TW" baseline="-25000" dirty="0" smtClean="0"/>
              <a:t>1</a:t>
            </a:r>
            <a:r>
              <a:rPr lang="en-US" altLang="zh-TW" dirty="0" smtClean="0"/>
              <a:t>(a</a:t>
            </a:r>
            <a:r>
              <a:rPr lang="en-US" altLang="zh-TW" baseline="-25000" dirty="0" smtClean="0"/>
              <a:t>1</a:t>
            </a:r>
            <a:r>
              <a:rPr lang="en-US" altLang="zh-TW" dirty="0" smtClean="0"/>
              <a:t>+a</a:t>
            </a:r>
            <a:r>
              <a:rPr lang="en-US" altLang="zh-TW" baseline="-25000" dirty="0" smtClean="0"/>
              <a:t>2</a:t>
            </a:r>
            <a:r>
              <a:rPr lang="en-US" altLang="zh-TW" dirty="0" smtClean="0"/>
              <a:t>)a</a:t>
            </a:r>
            <a:r>
              <a:rPr lang="en-US" altLang="zh-TW" baseline="-25000" dirty="0" smtClean="0"/>
              <a:t>1</a:t>
            </a:r>
            <a:r>
              <a:rPr lang="en-US" altLang="zh-TW" dirty="0" smtClean="0"/>
              <a:t>(a</a:t>
            </a:r>
            <a:r>
              <a:rPr lang="en-US" altLang="zh-TW" baseline="-25000" dirty="0" smtClean="0"/>
              <a:t>1</a:t>
            </a:r>
            <a:r>
              <a:rPr lang="en-US" altLang="zh-TW" dirty="0" smtClean="0"/>
              <a:t>+a</a:t>
            </a:r>
            <a:r>
              <a:rPr lang="en-US" altLang="zh-TW" baseline="-25000" dirty="0" smtClean="0"/>
              <a:t>2</a:t>
            </a:r>
            <a:r>
              <a:rPr lang="en-US" altLang="zh-TW" dirty="0" smtClean="0"/>
              <a:t>) = a</a:t>
            </a:r>
            <a:r>
              <a:rPr lang="en-US" altLang="zh-TW" baseline="-25000" dirty="0" smtClean="0"/>
              <a:t>1</a:t>
            </a:r>
            <a:r>
              <a:rPr lang="en-US" altLang="zh-TW" dirty="0" smtClean="0"/>
              <a:t>a</a:t>
            </a:r>
            <a:r>
              <a:rPr lang="en-US" altLang="zh-TW" baseline="-25000" dirty="0" smtClean="0"/>
              <a:t>2</a:t>
            </a:r>
          </a:p>
          <a:p>
            <a:r>
              <a:rPr lang="en-US" altLang="zh-TW" dirty="0" smtClean="0"/>
              <a:t>in the same way:</a:t>
            </a:r>
          </a:p>
          <a:p>
            <a:r>
              <a:rPr lang="en-US" altLang="zh-TW" dirty="0" smtClean="0"/>
              <a:t>f</a:t>
            </a:r>
            <a:r>
              <a:rPr lang="en-US" altLang="zh-TW" baseline="-25000" dirty="0" smtClean="0"/>
              <a:t>2</a:t>
            </a:r>
            <a:r>
              <a:rPr lang="en-US" altLang="zh-TW" dirty="0" smtClean="0"/>
              <a:t>(D) = a</a:t>
            </a:r>
            <a:r>
              <a:rPr lang="en-US" altLang="zh-TW" baseline="-25000" dirty="0" smtClean="0"/>
              <a:t>1</a:t>
            </a:r>
            <a:r>
              <a:rPr lang="en-US" altLang="zh-TW" dirty="0" smtClean="0"/>
              <a:t>+ a</a:t>
            </a:r>
            <a:r>
              <a:rPr lang="en-US" altLang="zh-TW" baseline="-25000" dirty="0" smtClean="0"/>
              <a:t>2</a:t>
            </a:r>
          </a:p>
          <a:p>
            <a:r>
              <a:rPr lang="en-US" altLang="zh-TW" dirty="0" smtClean="0"/>
              <a:t>f</a:t>
            </a:r>
            <a:r>
              <a:rPr lang="en-US" altLang="zh-TW" baseline="-25000" dirty="0" smtClean="0"/>
              <a:t>3</a:t>
            </a:r>
            <a:r>
              <a:rPr lang="en-US" altLang="zh-TW" dirty="0" smtClean="0"/>
              <a:t>(D) = a</a:t>
            </a:r>
            <a:r>
              <a:rPr lang="en-US" altLang="zh-TW" baseline="-25000" dirty="0" smtClean="0"/>
              <a:t>1</a:t>
            </a:r>
            <a:r>
              <a:rPr lang="en-US" altLang="zh-TW" dirty="0" smtClean="0"/>
              <a:t>a</a:t>
            </a:r>
            <a:r>
              <a:rPr lang="en-US" altLang="zh-TW" baseline="-25000" dirty="0" smtClean="0"/>
              <a:t>2</a:t>
            </a:r>
            <a:endParaRPr lang="en-US" altLang="zh-TW" dirty="0" smtClean="0"/>
          </a:p>
          <a:p>
            <a:r>
              <a:rPr lang="en-US" altLang="zh-TW" dirty="0" smtClean="0"/>
              <a:t>f</a:t>
            </a:r>
            <a:r>
              <a:rPr lang="en-US" altLang="zh-TW" baseline="-25000" dirty="0" smtClean="0"/>
              <a:t>4</a:t>
            </a:r>
            <a:r>
              <a:rPr lang="en-US" altLang="zh-TW" dirty="0" smtClean="0"/>
              <a:t>(D) = a</a:t>
            </a:r>
            <a:r>
              <a:rPr lang="en-US" altLang="zh-TW" baseline="-25000" dirty="0" smtClean="0"/>
              <a:t>2</a:t>
            </a:r>
          </a:p>
          <a:p>
            <a:r>
              <a:rPr lang="en-US" altLang="zh-TW" dirty="0" smtClean="0"/>
              <a:t>f</a:t>
            </a:r>
            <a:r>
              <a:rPr lang="en-US" altLang="zh-TW" baseline="-25000" dirty="0" smtClean="0"/>
              <a:t>5</a:t>
            </a:r>
            <a:r>
              <a:rPr lang="en-US" altLang="zh-TW" dirty="0" smtClean="0"/>
              <a:t>(D) = a</a:t>
            </a:r>
            <a:r>
              <a:rPr lang="en-US" altLang="zh-TW" baseline="-25000" dirty="0" smtClean="0"/>
              <a:t>1</a:t>
            </a:r>
          </a:p>
          <a:p>
            <a:r>
              <a:rPr lang="en-US" altLang="zh-TW" dirty="0" smtClean="0"/>
              <a:t>f</a:t>
            </a:r>
            <a:r>
              <a:rPr lang="en-US" altLang="zh-TW" baseline="-25000" dirty="0" smtClean="0"/>
              <a:t>6</a:t>
            </a:r>
            <a:r>
              <a:rPr lang="en-US" altLang="zh-TW" dirty="0" smtClean="0"/>
              <a:t>(D) = a</a:t>
            </a:r>
            <a:r>
              <a:rPr lang="en-US" altLang="zh-TW" baseline="-25000" dirty="0" smtClean="0"/>
              <a:t>1</a:t>
            </a:r>
          </a:p>
          <a:p>
            <a:r>
              <a:rPr lang="en-US" altLang="zh-TW" dirty="0" smtClean="0"/>
              <a:t>f</a:t>
            </a:r>
            <a:r>
              <a:rPr lang="en-US" altLang="zh-TW" baseline="-25000" dirty="0" smtClean="0"/>
              <a:t>7</a:t>
            </a:r>
            <a:r>
              <a:rPr lang="en-US" altLang="zh-TW" dirty="0" smtClean="0"/>
              <a:t>(D) = a</a:t>
            </a:r>
            <a:r>
              <a:rPr lang="en-US" altLang="zh-TW" baseline="-25000" dirty="0" smtClean="0"/>
              <a:t>1</a:t>
            </a:r>
            <a:r>
              <a:rPr lang="en-US" altLang="zh-TW" dirty="0" smtClean="0"/>
              <a:t>+a</a:t>
            </a:r>
            <a:r>
              <a:rPr lang="en-US" altLang="zh-TW" baseline="-25000" dirty="0" smtClean="0"/>
              <a:t>2</a:t>
            </a:r>
            <a:endParaRPr lang="en-US" altLang="zh-TW" dirty="0" smtClean="0"/>
          </a:p>
          <a:p>
            <a:r>
              <a:rPr lang="en-US" altLang="zh-TW" dirty="0" smtClean="0"/>
              <a:t>f</a:t>
            </a:r>
            <a:r>
              <a:rPr lang="en-US" altLang="zh-TW" baseline="-25000" dirty="0" smtClean="0"/>
              <a:t>8</a:t>
            </a:r>
            <a:r>
              <a:rPr lang="en-US" altLang="zh-TW" dirty="0" smtClean="0"/>
              <a:t>(D) = a</a:t>
            </a:r>
            <a:r>
              <a:rPr lang="en-US" altLang="zh-TW" baseline="-25000" dirty="0" smtClean="0"/>
              <a:t>1</a:t>
            </a:r>
          </a:p>
          <a:p>
            <a:r>
              <a:rPr lang="en-US" altLang="zh-TW" dirty="0" smtClean="0"/>
              <a:t>f</a:t>
            </a:r>
            <a:r>
              <a:rPr lang="en-US" altLang="zh-TW" baseline="-25000" dirty="0" smtClean="0"/>
              <a:t>9</a:t>
            </a:r>
            <a:r>
              <a:rPr lang="en-US" altLang="zh-TW" dirty="0" smtClean="0"/>
              <a:t>(D) = a</a:t>
            </a:r>
            <a:r>
              <a:rPr lang="en-US" altLang="zh-TW" baseline="-25000" dirty="0" smtClean="0"/>
              <a:t>1</a:t>
            </a:r>
            <a:r>
              <a:rPr lang="en-US" altLang="zh-TW" dirty="0" smtClean="0"/>
              <a:t>a</a:t>
            </a:r>
            <a:r>
              <a:rPr lang="en-US" altLang="zh-TW" baseline="-25000" dirty="0" smtClean="0"/>
              <a:t>2</a:t>
            </a:r>
          </a:p>
          <a:p>
            <a:r>
              <a:rPr lang="en-US" altLang="zh-TW" dirty="0" smtClean="0"/>
              <a:t>f</a:t>
            </a:r>
            <a:r>
              <a:rPr lang="en-US" altLang="zh-TW" baseline="-25000" dirty="0" smtClean="0"/>
              <a:t>10</a:t>
            </a:r>
            <a:r>
              <a:rPr lang="en-US" altLang="zh-TW" dirty="0" smtClean="0"/>
              <a:t>(D) = a</a:t>
            </a:r>
            <a:r>
              <a:rPr lang="en-US" altLang="zh-TW" baseline="-25000" dirty="0" smtClean="0"/>
              <a:t>1</a:t>
            </a:r>
            <a:r>
              <a:rPr lang="en-US" altLang="zh-TW" dirty="0" smtClean="0"/>
              <a:t> + a</a:t>
            </a:r>
            <a:r>
              <a:rPr lang="en-US" altLang="zh-TW" baseline="-25000" dirty="0" smtClean="0"/>
              <a:t>2</a:t>
            </a:r>
            <a:endParaRPr lang="zh-TW" altLang="en-US" baseline="-25000" dirty="0"/>
          </a:p>
        </p:txBody>
      </p:sp>
      <p:graphicFrame>
        <p:nvGraphicFramePr>
          <p:cNvPr id="3" name="表格 2"/>
          <p:cNvGraphicFramePr>
            <a:graphicFrameLocks noGrp="1"/>
          </p:cNvGraphicFramePr>
          <p:nvPr/>
        </p:nvGraphicFramePr>
        <p:xfrm>
          <a:off x="5076056" y="836712"/>
          <a:ext cx="2649896" cy="4074160"/>
        </p:xfrm>
        <a:graphic>
          <a:graphicData uri="http://schemas.openxmlformats.org/drawingml/2006/table">
            <a:tbl>
              <a:tblPr firstRow="1" bandRow="1">
                <a:tableStyleId>{7DF18680-E054-41AD-8BC1-D1AEF772440D}</a:tableStyleId>
              </a:tblPr>
              <a:tblGrid>
                <a:gridCol w="662474"/>
                <a:gridCol w="662474"/>
                <a:gridCol w="662474"/>
                <a:gridCol w="662474"/>
              </a:tblGrid>
              <a:tr h="226824">
                <a:tc>
                  <a:txBody>
                    <a:bodyPr/>
                    <a:lstStyle/>
                    <a:p>
                      <a:pPr algn="ctr"/>
                      <a:r>
                        <a:rPr lang="en-US" altLang="zh-TW" sz="1800" dirty="0" smtClean="0"/>
                        <a:t>U</a:t>
                      </a:r>
                      <a:endParaRPr lang="zh-TW" altLang="en-US" sz="1800" dirty="0"/>
                    </a:p>
                  </a:txBody>
                  <a:tcPr anchor="ctr"/>
                </a:tc>
                <a:tc>
                  <a:txBody>
                    <a:bodyPr/>
                    <a:lstStyle/>
                    <a:p>
                      <a:pPr algn="ctr"/>
                      <a:r>
                        <a:rPr lang="en-US" altLang="zh-TW" sz="1800" dirty="0" smtClean="0"/>
                        <a:t>a</a:t>
                      </a:r>
                      <a:r>
                        <a:rPr lang="en-US" altLang="zh-TW" sz="1800" baseline="-25000" dirty="0" smtClean="0"/>
                        <a:t>1</a:t>
                      </a:r>
                      <a:endParaRPr lang="zh-TW" altLang="en-US" sz="1800" baseline="-25000" dirty="0"/>
                    </a:p>
                  </a:txBody>
                  <a:tcPr anchor="ctr"/>
                </a:tc>
                <a:tc>
                  <a:txBody>
                    <a:bodyPr/>
                    <a:lstStyle/>
                    <a:p>
                      <a:pPr algn="ctr"/>
                      <a:r>
                        <a:rPr lang="en-US" altLang="zh-TW" sz="1800" dirty="0" smtClean="0"/>
                        <a:t>a</a:t>
                      </a:r>
                      <a:r>
                        <a:rPr lang="en-US" altLang="zh-TW" sz="1800" baseline="-25000" dirty="0" smtClean="0"/>
                        <a:t>2</a:t>
                      </a:r>
                      <a:endParaRPr lang="zh-TW" altLang="en-US" sz="1800" baseline="-25000" dirty="0"/>
                    </a:p>
                  </a:txBody>
                  <a:tcPr anchor="ctr"/>
                </a:tc>
                <a:tc>
                  <a:txBody>
                    <a:bodyPr/>
                    <a:lstStyle/>
                    <a:p>
                      <a:pPr algn="ctr"/>
                      <a:r>
                        <a:rPr lang="en-US" altLang="zh-TW" sz="1800" baseline="0" dirty="0" smtClean="0">
                          <a:solidFill>
                            <a:schemeClr val="bg1"/>
                          </a:solidFill>
                        </a:rPr>
                        <a:t>d</a:t>
                      </a:r>
                      <a:endParaRPr lang="zh-TW" altLang="en-US" sz="1800" baseline="0" dirty="0">
                        <a:solidFill>
                          <a:schemeClr val="bg1"/>
                        </a:solidFill>
                      </a:endParaRPr>
                    </a:p>
                  </a:txBody>
                  <a:tcPr anchor="ctr"/>
                </a:tc>
              </a:tr>
              <a:tr h="370840">
                <a:tc>
                  <a:txBody>
                    <a:bodyPr/>
                    <a:lstStyle/>
                    <a:p>
                      <a:pPr algn="ctr"/>
                      <a:r>
                        <a:rPr lang="en-US" altLang="zh-TW" sz="1800" dirty="0" smtClean="0"/>
                        <a:t>x</a:t>
                      </a:r>
                      <a:r>
                        <a:rPr lang="en-US" altLang="zh-TW" sz="1800" baseline="-25000" dirty="0" smtClean="0"/>
                        <a:t>1</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2</a:t>
                      </a:r>
                      <a:endParaRPr lang="zh-TW" altLang="en-US" sz="1800" baseline="-25000" dirty="0"/>
                    </a:p>
                  </a:txBody>
                  <a:tcPr anchor="ctr"/>
                </a:tc>
                <a:tc>
                  <a:txBody>
                    <a:bodyPr/>
                    <a:lstStyle/>
                    <a:p>
                      <a:pPr algn="ctr"/>
                      <a:r>
                        <a:rPr lang="en-US" altLang="zh-TW" sz="1800" dirty="0" smtClean="0"/>
                        <a:t>*</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3</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4</a:t>
                      </a:r>
                      <a:endParaRPr lang="zh-TW" altLang="en-US" sz="1800" baseline="-25000" dirty="0"/>
                    </a:p>
                  </a:txBody>
                  <a:tcPr anchor="ctr"/>
                </a:tc>
                <a:tc>
                  <a:txBody>
                    <a:bodyPr/>
                    <a:lstStyle/>
                    <a:p>
                      <a:pPr algn="ctr"/>
                      <a:r>
                        <a:rPr lang="en-US" altLang="zh-TW" sz="1800" dirty="0" smtClean="0"/>
                        <a:t>*</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5</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a:t>
                      </a:r>
                      <a:endParaRPr lang="zh-TW" altLang="en-US" sz="1800" dirty="0"/>
                    </a:p>
                  </a:txBody>
                  <a:tcPr anchor="ctr"/>
                </a:tc>
                <a:tc>
                  <a:txBody>
                    <a:bodyPr/>
                    <a:lstStyle/>
                    <a:p>
                      <a:pPr algn="ctr"/>
                      <a:r>
                        <a:rPr lang="en-US" altLang="zh-TW" sz="1800" dirty="0" smtClean="0">
                          <a:solidFill>
                            <a:schemeClr val="tx1"/>
                          </a:solidFill>
                        </a:rPr>
                        <a:t>3</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6</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a:t>
                      </a:r>
                      <a:endParaRPr lang="zh-TW" altLang="en-US" sz="1800" dirty="0"/>
                    </a:p>
                  </a:txBody>
                  <a:tcPr anchor="ctr"/>
                </a:tc>
                <a:tc>
                  <a:txBody>
                    <a:bodyPr/>
                    <a:lstStyle/>
                    <a:p>
                      <a:pPr algn="ctr"/>
                      <a:r>
                        <a:rPr lang="en-US" altLang="zh-TW" sz="1800" dirty="0" smtClean="0">
                          <a:solidFill>
                            <a:schemeClr val="tx1"/>
                          </a:solidFill>
                        </a:rPr>
                        <a:t>3</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7</a:t>
                      </a:r>
                      <a:endParaRPr lang="zh-TW" altLang="en-US" sz="1800" baseline="-25000" dirty="0"/>
                    </a:p>
                  </a:txBody>
                  <a:tcPr anchor="ctr"/>
                </a:tc>
                <a:tc>
                  <a:txBody>
                    <a:bodyPr/>
                    <a:lstStyle/>
                    <a:p>
                      <a:pPr algn="ctr"/>
                      <a:r>
                        <a:rPr lang="en-US" altLang="zh-TW" sz="1800" dirty="0" smtClean="0"/>
                        <a:t>*</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8</a:t>
                      </a:r>
                      <a:endParaRPr lang="zh-TW" altLang="en-US" sz="1800" baseline="-250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t>*</a:t>
                      </a:r>
                      <a:endParaRPr lang="zh-TW" altLang="en-US" sz="1800" dirty="0"/>
                    </a:p>
                  </a:txBody>
                  <a:tcPr anchor="ctr"/>
                </a:tc>
                <a:tc>
                  <a:txBody>
                    <a:bodyPr/>
                    <a:lstStyle/>
                    <a:p>
                      <a:pPr algn="ctr"/>
                      <a:r>
                        <a:rPr lang="en-US" altLang="zh-TW" sz="1800" dirty="0" smtClean="0">
                          <a:solidFill>
                            <a:schemeClr val="tx1"/>
                          </a:solidFill>
                        </a:rPr>
                        <a:t>3</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9</a:t>
                      </a:r>
                      <a:endParaRPr lang="zh-TW" altLang="en-US" sz="1800" baseline="-250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t>1</a:t>
                      </a:r>
                      <a:endParaRPr lang="zh-TW" altLang="en-US" sz="1800" dirty="0"/>
                    </a:p>
                  </a:txBody>
                  <a:tcPr anchor="ctr"/>
                </a:tc>
                <a:tc>
                  <a:txBody>
                    <a:bodyPr/>
                    <a:lstStyle/>
                    <a:p>
                      <a:pPr algn="ctr"/>
                      <a:r>
                        <a:rPr lang="en-US" altLang="zh-TW" sz="1800" dirty="0" smtClean="0">
                          <a:solidFill>
                            <a:schemeClr val="tx1"/>
                          </a:solidFill>
                        </a:rPr>
                        <a:t>1</a:t>
                      </a:r>
                      <a:endParaRPr lang="zh-TW" altLang="en-US" sz="1800" dirty="0">
                        <a:solidFill>
                          <a:schemeClr val="tx1"/>
                        </a:solidFill>
                      </a:endParaRPr>
                    </a:p>
                  </a:txBody>
                  <a:tcPr anchor="ctr"/>
                </a:tc>
              </a:tr>
              <a:tr h="370840">
                <a:tc>
                  <a:txBody>
                    <a:bodyPr/>
                    <a:lstStyle/>
                    <a:p>
                      <a:pPr algn="ctr"/>
                      <a:r>
                        <a:rPr lang="en-US" altLang="zh-TW" sz="1800" dirty="0" smtClean="0"/>
                        <a:t>x</a:t>
                      </a:r>
                      <a:r>
                        <a:rPr lang="en-US" altLang="zh-TW" sz="1800" baseline="-25000" dirty="0" smtClean="0"/>
                        <a:t>10</a:t>
                      </a:r>
                      <a:endParaRPr lang="zh-TW" altLang="en-US" sz="1800" baseline="-25000" dirty="0"/>
                    </a:p>
                  </a:txBody>
                  <a:tcPr anchor="ctr"/>
                </a:tc>
                <a:tc>
                  <a:txBody>
                    <a:bodyPr/>
                    <a:lstStyle/>
                    <a:p>
                      <a:pPr algn="ctr"/>
                      <a:r>
                        <a:rPr lang="en-US" altLang="zh-TW" sz="1800" dirty="0" smtClean="0"/>
                        <a:t>*</a:t>
                      </a:r>
                      <a:endParaRPr lang="zh-TW" altLang="en-US" sz="1800" dirty="0"/>
                    </a:p>
                  </a:txBody>
                  <a:tcPr anchor="ctr"/>
                </a:tc>
                <a:tc>
                  <a:txBody>
                    <a:bodyPr/>
                    <a:lstStyle/>
                    <a:p>
                      <a:pPr algn="ctr"/>
                      <a:r>
                        <a:rPr lang="en-US" altLang="zh-TW" sz="1800" dirty="0" smtClean="0"/>
                        <a:t>2</a:t>
                      </a:r>
                      <a:endParaRPr lang="zh-TW" altLang="en-US" sz="1800" dirty="0"/>
                    </a:p>
                  </a:txBody>
                  <a:tcPr anchor="ctr"/>
                </a:tc>
                <a:tc>
                  <a:txBody>
                    <a:bodyPr/>
                    <a:lstStyle/>
                    <a:p>
                      <a:pPr algn="ctr"/>
                      <a:r>
                        <a:rPr lang="en-US" altLang="zh-TW" sz="1800" dirty="0" smtClean="0">
                          <a:solidFill>
                            <a:schemeClr val="tx1"/>
                          </a:solidFill>
                        </a:rPr>
                        <a:t>2</a:t>
                      </a:r>
                      <a:endParaRPr lang="zh-TW" altLang="en-US" sz="1800" dirty="0">
                        <a:solidFill>
                          <a:schemeClr val="tx1"/>
                        </a:solidFill>
                      </a:endParaRPr>
                    </a:p>
                  </a:txBody>
                  <a:tcPr anchor="ctr"/>
                </a:tc>
              </a:tr>
            </a:tbl>
          </a:graphicData>
        </a:graphic>
      </p:graphicFrame>
      <p:sp>
        <p:nvSpPr>
          <p:cNvPr id="4" name="向右箭號 3"/>
          <p:cNvSpPr/>
          <p:nvPr/>
        </p:nvSpPr>
        <p:spPr>
          <a:xfrm>
            <a:off x="3419872" y="2132856"/>
            <a:ext cx="864096"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文字方塊 4"/>
          <p:cNvSpPr txBox="1"/>
          <p:nvPr/>
        </p:nvSpPr>
        <p:spPr>
          <a:xfrm>
            <a:off x="323528" y="4221088"/>
            <a:ext cx="3168352" cy="1200329"/>
          </a:xfrm>
          <a:prstGeom prst="rect">
            <a:avLst/>
          </a:prstGeom>
          <a:noFill/>
        </p:spPr>
        <p:txBody>
          <a:bodyPr wrap="square" rtlCol="0">
            <a:spAutoFit/>
          </a:bodyPr>
          <a:lstStyle/>
          <a:p>
            <a:r>
              <a:rPr lang="en-US" altLang="zh-TW" dirty="0" smtClean="0">
                <a:solidFill>
                  <a:srgbClr val="FF0000"/>
                </a:solidFill>
              </a:rPr>
              <a:t>Decision rule:</a:t>
            </a:r>
          </a:p>
          <a:p>
            <a:pPr>
              <a:buFont typeface="Arial" pitchFamily="34" charset="0"/>
              <a:buChar char="•"/>
            </a:pPr>
            <a:r>
              <a:rPr lang="en-US" altLang="zh-TW" dirty="0" smtClean="0"/>
              <a:t>a</a:t>
            </a:r>
            <a:r>
              <a:rPr lang="en-US" altLang="zh-TW" baseline="-25000" dirty="0" smtClean="0"/>
              <a:t>1 </a:t>
            </a:r>
            <a:r>
              <a:rPr lang="en-US" altLang="zh-TW" dirty="0" smtClean="0"/>
              <a:t>=2, a</a:t>
            </a:r>
            <a:r>
              <a:rPr lang="en-US" altLang="zh-TW" baseline="-25000" dirty="0" smtClean="0"/>
              <a:t>2</a:t>
            </a:r>
            <a:r>
              <a:rPr lang="en-US" altLang="zh-TW" dirty="0" smtClean="0"/>
              <a:t>=1 =&gt; d=1</a:t>
            </a:r>
          </a:p>
          <a:p>
            <a:pPr>
              <a:buFont typeface="Arial" pitchFamily="34" charset="0"/>
              <a:buChar char="•"/>
            </a:pPr>
            <a:r>
              <a:rPr lang="en-US" altLang="zh-TW" dirty="0" smtClean="0"/>
              <a:t>a</a:t>
            </a:r>
            <a:r>
              <a:rPr lang="en-US" altLang="zh-TW" baseline="-25000" dirty="0" smtClean="0"/>
              <a:t>2 </a:t>
            </a:r>
            <a:r>
              <a:rPr lang="en-US" altLang="zh-TW" dirty="0" smtClean="0"/>
              <a:t>= 2          =&gt; d=2</a:t>
            </a:r>
          </a:p>
          <a:p>
            <a:pPr>
              <a:buFont typeface="Arial" pitchFamily="34" charset="0"/>
              <a:buChar char="•"/>
            </a:pPr>
            <a:r>
              <a:rPr lang="en-US" altLang="zh-TW" dirty="0" smtClean="0"/>
              <a:t>a</a:t>
            </a:r>
            <a:r>
              <a:rPr lang="en-US" altLang="zh-TW" baseline="-25000" dirty="0" smtClean="0"/>
              <a:t>1  </a:t>
            </a:r>
            <a:r>
              <a:rPr lang="en-US" altLang="zh-TW" dirty="0" smtClean="0"/>
              <a:t>=1           =&gt; d=3</a:t>
            </a:r>
            <a:endParaRPr lang="zh-TW" altLang="en-US" dirty="0"/>
          </a:p>
        </p:txBody>
      </p:sp>
      <p:sp>
        <p:nvSpPr>
          <p:cNvPr id="6" name="向左箭號 5"/>
          <p:cNvSpPr/>
          <p:nvPr/>
        </p:nvSpPr>
        <p:spPr>
          <a:xfrm>
            <a:off x="3419872" y="4509120"/>
            <a:ext cx="936104" cy="2880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投影片編號版面配置區 6"/>
          <p:cNvSpPr>
            <a:spLocks noGrp="1"/>
          </p:cNvSpPr>
          <p:nvPr>
            <p:ph type="sldNum" sz="quarter" idx="12"/>
          </p:nvPr>
        </p:nvSpPr>
        <p:spPr/>
        <p:txBody>
          <a:bodyPr/>
          <a:lstStyle/>
          <a:p>
            <a:fld id="{0914735A-2DD1-49E1-A8E8-1A4F28A0E6C3}" type="slidenum">
              <a:rPr lang="zh-TW" altLang="en-US" smtClean="0"/>
              <a:pPr/>
              <a:t>25</a:t>
            </a:fld>
            <a:endParaRPr lang="zh-TW"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554" name="Picture 2"/>
          <p:cNvPicPr>
            <a:picLocks noChangeAspect="1" noChangeArrowheads="1"/>
          </p:cNvPicPr>
          <p:nvPr/>
        </p:nvPicPr>
        <p:blipFill>
          <a:blip r:embed="rId2" cstate="print"/>
          <a:srcRect/>
          <a:stretch>
            <a:fillRect/>
          </a:stretch>
        </p:blipFill>
        <p:spPr bwMode="auto">
          <a:xfrm>
            <a:off x="216024" y="332656"/>
            <a:ext cx="8892480" cy="4558539"/>
          </a:xfrm>
          <a:prstGeom prst="rect">
            <a:avLst/>
          </a:prstGeom>
          <a:noFill/>
          <a:ln w="9525">
            <a:noFill/>
            <a:miter lim="800000"/>
            <a:headEnd/>
            <a:tailEnd/>
          </a:ln>
        </p:spPr>
      </p:pic>
      <p:sp>
        <p:nvSpPr>
          <p:cNvPr id="3" name="文字方塊 2"/>
          <p:cNvSpPr txBox="1"/>
          <p:nvPr/>
        </p:nvSpPr>
        <p:spPr>
          <a:xfrm>
            <a:off x="2339752" y="44624"/>
            <a:ext cx="3888432" cy="584775"/>
          </a:xfrm>
          <a:prstGeom prst="rect">
            <a:avLst/>
          </a:prstGeom>
          <a:noFill/>
        </p:spPr>
        <p:txBody>
          <a:bodyPr wrap="square" rtlCol="0">
            <a:spAutoFit/>
          </a:bodyPr>
          <a:lstStyle/>
          <a:p>
            <a:pPr algn="ctr"/>
            <a:r>
              <a:rPr lang="en-US" altLang="zh-TW" sz="3200" dirty="0" smtClean="0"/>
              <a:t>Example</a:t>
            </a:r>
            <a:endParaRPr lang="zh-TW" altLang="en-US" sz="3200" dirty="0"/>
          </a:p>
        </p:txBody>
      </p:sp>
      <p:pic>
        <p:nvPicPr>
          <p:cNvPr id="4" name="Picture 2"/>
          <p:cNvPicPr>
            <a:picLocks noChangeAspect="1" noChangeArrowheads="1"/>
          </p:cNvPicPr>
          <p:nvPr/>
        </p:nvPicPr>
        <p:blipFill>
          <a:blip r:embed="rId3" cstate="print"/>
          <a:srcRect t="16395" r="11324"/>
          <a:stretch>
            <a:fillRect/>
          </a:stretch>
        </p:blipFill>
        <p:spPr bwMode="auto">
          <a:xfrm>
            <a:off x="107504" y="4797152"/>
            <a:ext cx="8748464" cy="2060848"/>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0914735A-2DD1-49E1-A8E8-1A4F28A0E6C3}" type="slidenum">
              <a:rPr lang="zh-TW" altLang="en-US" smtClean="0"/>
              <a:pPr/>
              <a:t>26</a:t>
            </a:fld>
            <a:endParaRPr lang="zh-TW"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579" name="Picture 3"/>
          <p:cNvPicPr>
            <a:picLocks noChangeAspect="1" noChangeArrowheads="1"/>
          </p:cNvPicPr>
          <p:nvPr/>
        </p:nvPicPr>
        <p:blipFill>
          <a:blip r:embed="rId2" cstate="print"/>
          <a:srcRect/>
          <a:stretch>
            <a:fillRect/>
          </a:stretch>
        </p:blipFill>
        <p:spPr bwMode="auto">
          <a:xfrm>
            <a:off x="1187624" y="116632"/>
            <a:ext cx="6384433" cy="6390729"/>
          </a:xfrm>
          <a:prstGeom prst="rect">
            <a:avLst/>
          </a:prstGeom>
          <a:noFill/>
          <a:ln w="9525">
            <a:noFill/>
            <a:miter lim="800000"/>
            <a:headEnd/>
            <a:tailEnd/>
          </a:ln>
        </p:spPr>
      </p:pic>
      <p:sp>
        <p:nvSpPr>
          <p:cNvPr id="4" name="投影片編號版面配置區 3"/>
          <p:cNvSpPr>
            <a:spLocks noGrp="1"/>
          </p:cNvSpPr>
          <p:nvPr>
            <p:ph type="sldNum" sz="quarter" idx="12"/>
          </p:nvPr>
        </p:nvSpPr>
        <p:spPr/>
        <p:txBody>
          <a:bodyPr/>
          <a:lstStyle/>
          <a:p>
            <a:fld id="{0914735A-2DD1-49E1-A8E8-1A4F28A0E6C3}" type="slidenum">
              <a:rPr lang="zh-TW" altLang="en-US" smtClean="0"/>
              <a:pPr/>
              <a:t>27</a:t>
            </a:fld>
            <a:endParaRPr lang="zh-TW"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02" name="Picture 2"/>
          <p:cNvPicPr>
            <a:picLocks noChangeAspect="1" noChangeArrowheads="1"/>
          </p:cNvPicPr>
          <p:nvPr/>
        </p:nvPicPr>
        <p:blipFill>
          <a:blip r:embed="rId2" cstate="print"/>
          <a:srcRect/>
          <a:stretch>
            <a:fillRect/>
          </a:stretch>
        </p:blipFill>
        <p:spPr bwMode="auto">
          <a:xfrm>
            <a:off x="179512" y="116632"/>
            <a:ext cx="2712510" cy="1368152"/>
          </a:xfrm>
          <a:prstGeom prst="rect">
            <a:avLst/>
          </a:prstGeom>
          <a:noFill/>
          <a:ln w="9525">
            <a:noFill/>
            <a:miter lim="800000"/>
            <a:headEnd/>
            <a:tailEnd/>
          </a:ln>
        </p:spPr>
      </p:pic>
      <p:pic>
        <p:nvPicPr>
          <p:cNvPr id="153603" name="Picture 3"/>
          <p:cNvPicPr>
            <a:picLocks noChangeAspect="1" noChangeArrowheads="1"/>
          </p:cNvPicPr>
          <p:nvPr/>
        </p:nvPicPr>
        <p:blipFill>
          <a:blip r:embed="rId3" cstate="print"/>
          <a:srcRect/>
          <a:stretch>
            <a:fillRect/>
          </a:stretch>
        </p:blipFill>
        <p:spPr bwMode="auto">
          <a:xfrm>
            <a:off x="2915816" y="116632"/>
            <a:ext cx="5953944" cy="2238367"/>
          </a:xfrm>
          <a:prstGeom prst="rect">
            <a:avLst/>
          </a:prstGeom>
          <a:noFill/>
          <a:ln w="9525">
            <a:noFill/>
            <a:miter lim="800000"/>
            <a:headEnd/>
            <a:tailEnd/>
          </a:ln>
        </p:spPr>
      </p:pic>
      <p:pic>
        <p:nvPicPr>
          <p:cNvPr id="153604" name="Picture 4"/>
          <p:cNvPicPr>
            <a:picLocks noChangeAspect="1" noChangeArrowheads="1"/>
          </p:cNvPicPr>
          <p:nvPr/>
        </p:nvPicPr>
        <p:blipFill>
          <a:blip r:embed="rId4" cstate="print"/>
          <a:srcRect/>
          <a:stretch>
            <a:fillRect/>
          </a:stretch>
        </p:blipFill>
        <p:spPr bwMode="auto">
          <a:xfrm>
            <a:off x="1115616" y="2276872"/>
            <a:ext cx="6264696" cy="4581128"/>
          </a:xfrm>
          <a:prstGeom prst="rect">
            <a:avLst/>
          </a:prstGeom>
          <a:noFill/>
          <a:ln w="9525">
            <a:noFill/>
            <a:miter lim="800000"/>
            <a:headEnd/>
            <a:tailEnd/>
          </a:ln>
        </p:spPr>
      </p:pic>
      <p:sp>
        <p:nvSpPr>
          <p:cNvPr id="5" name="投影片編號版面配置區 4"/>
          <p:cNvSpPr>
            <a:spLocks noGrp="1"/>
          </p:cNvSpPr>
          <p:nvPr>
            <p:ph type="sldNum" sz="quarter" idx="12"/>
          </p:nvPr>
        </p:nvSpPr>
        <p:spPr/>
        <p:txBody>
          <a:bodyPr/>
          <a:lstStyle/>
          <a:p>
            <a:fld id="{0914735A-2DD1-49E1-A8E8-1A4F28A0E6C3}" type="slidenum">
              <a:rPr lang="zh-TW" altLang="en-US" smtClean="0"/>
              <a:pPr/>
              <a:t>28</a:t>
            </a:fld>
            <a:endParaRPr lang="zh-TW"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err="1" smtClean="0"/>
              <a:t>Discretization</a:t>
            </a:r>
            <a:r>
              <a:rPr lang="en-US" altLang="zh-TW" dirty="0" smtClean="0"/>
              <a:t> methods</a:t>
            </a:r>
            <a:endParaRPr lang="zh-TW" altLang="en-US" dirty="0"/>
          </a:p>
        </p:txBody>
      </p:sp>
      <p:sp>
        <p:nvSpPr>
          <p:cNvPr id="2" name="投影片編號版面配置區 1"/>
          <p:cNvSpPr>
            <a:spLocks noGrp="1"/>
          </p:cNvSpPr>
          <p:nvPr>
            <p:ph type="sldNum" sz="quarter" idx="12"/>
          </p:nvPr>
        </p:nvSpPr>
        <p:spPr/>
        <p:txBody>
          <a:bodyPr/>
          <a:lstStyle/>
          <a:p>
            <a:fld id="{0914735A-2DD1-49E1-A8E8-1A4F28A0E6C3}" type="slidenum">
              <a:rPr lang="zh-TW" altLang="en-US" smtClean="0"/>
              <a:pPr/>
              <a:t>29</a:t>
            </a:fld>
            <a:endParaRPr lang="zh-TW" altLang="en-US"/>
          </a:p>
        </p:txBody>
      </p:sp>
      <p:sp>
        <p:nvSpPr>
          <p:cNvPr id="4" name="文字方塊 3"/>
          <p:cNvSpPr txBox="1"/>
          <p:nvPr/>
        </p:nvSpPr>
        <p:spPr>
          <a:xfrm>
            <a:off x="755576" y="1268760"/>
            <a:ext cx="7308304" cy="1384995"/>
          </a:xfrm>
          <a:prstGeom prst="rect">
            <a:avLst/>
          </a:prstGeom>
          <a:noFill/>
        </p:spPr>
        <p:txBody>
          <a:bodyPr wrap="square" rtlCol="0">
            <a:spAutoFit/>
          </a:bodyPr>
          <a:lstStyle/>
          <a:p>
            <a:pPr marL="342900" indent="-342900">
              <a:buFont typeface="+mj-lt"/>
              <a:buAutoNum type="arabicPeriod"/>
            </a:pPr>
            <a:r>
              <a:rPr lang="en-US" altLang="zh-TW" sz="2800" dirty="0" smtClean="0">
                <a:solidFill>
                  <a:srgbClr val="FF0000"/>
                </a:solidFill>
              </a:rPr>
              <a:t>Equal interval width</a:t>
            </a:r>
          </a:p>
          <a:p>
            <a:pPr marL="342900" indent="-342900">
              <a:buFont typeface="+mj-lt"/>
              <a:buAutoNum type="arabicPeriod"/>
            </a:pPr>
            <a:r>
              <a:rPr lang="en-US" altLang="zh-TW" sz="2800" dirty="0" smtClean="0">
                <a:solidFill>
                  <a:srgbClr val="FF0000"/>
                </a:solidFill>
              </a:rPr>
              <a:t>Equal frequency intervals</a:t>
            </a:r>
          </a:p>
          <a:p>
            <a:pPr marL="342900" indent="-342900">
              <a:buFont typeface="+mj-lt"/>
              <a:buAutoNum type="arabicPeriod"/>
            </a:pPr>
            <a:r>
              <a:rPr lang="en-US" altLang="zh-TW" sz="2800" i="1" dirty="0" smtClean="0">
                <a:solidFill>
                  <a:srgbClr val="FF0000"/>
                </a:solidFill>
              </a:rPr>
              <a:t>K</a:t>
            </a:r>
            <a:r>
              <a:rPr lang="en-US" altLang="zh-TW" sz="2800" dirty="0" smtClean="0">
                <a:solidFill>
                  <a:srgbClr val="FF0000"/>
                </a:solidFill>
              </a:rPr>
              <a:t>-means clustering</a:t>
            </a:r>
            <a:endParaRPr lang="zh-TW" altLang="en-US" sz="2800" dirty="0">
              <a:solidFill>
                <a:srgbClr val="FF0000"/>
              </a:solidFill>
            </a:endParaRPr>
          </a:p>
        </p:txBody>
      </p:sp>
      <p:pic>
        <p:nvPicPr>
          <p:cNvPr id="5" name="Picture 2"/>
          <p:cNvPicPr>
            <a:picLocks noChangeAspect="1" noChangeArrowheads="1"/>
          </p:cNvPicPr>
          <p:nvPr/>
        </p:nvPicPr>
        <p:blipFill>
          <a:blip r:embed="rId2" cstate="print"/>
          <a:srcRect t="16395" r="11324"/>
          <a:stretch>
            <a:fillRect/>
          </a:stretch>
        </p:blipFill>
        <p:spPr bwMode="auto">
          <a:xfrm>
            <a:off x="0" y="3933056"/>
            <a:ext cx="8748464" cy="2304256"/>
          </a:xfrm>
          <a:prstGeom prst="rect">
            <a:avLst/>
          </a:prstGeom>
          <a:noFill/>
          <a:ln w="9525">
            <a:noFill/>
            <a:miter lim="800000"/>
            <a:headEnd/>
            <a:tailEnd/>
          </a:ln>
        </p:spPr>
      </p:pic>
      <p:sp>
        <p:nvSpPr>
          <p:cNvPr id="6" name="矩形 5"/>
          <p:cNvSpPr/>
          <p:nvPr/>
        </p:nvSpPr>
        <p:spPr>
          <a:xfrm>
            <a:off x="179512" y="3356992"/>
            <a:ext cx="4302653" cy="461665"/>
          </a:xfrm>
          <a:prstGeom prst="rect">
            <a:avLst/>
          </a:prstGeom>
        </p:spPr>
        <p:txBody>
          <a:bodyPr wrap="none">
            <a:spAutoFit/>
          </a:bodyPr>
          <a:lstStyle/>
          <a:p>
            <a:pPr marL="342900" indent="-342900">
              <a:buFont typeface="+mj-lt"/>
              <a:buAutoNum type="arabicPeriod"/>
            </a:pPr>
            <a:r>
              <a:rPr lang="en-US" altLang="zh-TW" sz="2400" dirty="0" smtClean="0">
                <a:solidFill>
                  <a:srgbClr val="0066FF"/>
                </a:solidFill>
              </a:rPr>
              <a:t>Equal interval width, example: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0914735A-2DD1-49E1-A8E8-1A4F28A0E6C3}" type="slidenum">
              <a:rPr lang="zh-TW" altLang="en-US" smtClean="0"/>
              <a:pPr/>
              <a:t>30</a:t>
            </a:fld>
            <a:endParaRPr lang="zh-TW" altLang="en-US"/>
          </a:p>
        </p:txBody>
      </p:sp>
      <p:sp>
        <p:nvSpPr>
          <p:cNvPr id="4" name="矩形 3"/>
          <p:cNvSpPr/>
          <p:nvPr/>
        </p:nvSpPr>
        <p:spPr>
          <a:xfrm>
            <a:off x="179512" y="188640"/>
            <a:ext cx="3691332" cy="369332"/>
          </a:xfrm>
          <a:prstGeom prst="rect">
            <a:avLst/>
          </a:prstGeom>
        </p:spPr>
        <p:txBody>
          <a:bodyPr wrap="none">
            <a:spAutoFit/>
          </a:bodyPr>
          <a:lstStyle/>
          <a:p>
            <a:pPr marL="342900" indent="-342900"/>
            <a:r>
              <a:rPr lang="en-US" altLang="zh-TW" dirty="0" smtClean="0">
                <a:solidFill>
                  <a:srgbClr val="0066FF"/>
                </a:solidFill>
              </a:rPr>
              <a:t>2.Equal frequency intervals, example:</a:t>
            </a:r>
          </a:p>
        </p:txBody>
      </p:sp>
      <p:pic>
        <p:nvPicPr>
          <p:cNvPr id="5" name="圖片 4" descr="800px-Voice_waveform_and_spectrum.png"/>
          <p:cNvPicPr>
            <a:picLocks noChangeAspect="1"/>
          </p:cNvPicPr>
          <p:nvPr/>
        </p:nvPicPr>
        <p:blipFill>
          <a:blip r:embed="rId2" cstate="print"/>
          <a:stretch>
            <a:fillRect/>
          </a:stretch>
        </p:blipFill>
        <p:spPr>
          <a:xfrm>
            <a:off x="179512" y="548680"/>
            <a:ext cx="8820472" cy="3096344"/>
          </a:xfrm>
          <a:prstGeom prst="rect">
            <a:avLst/>
          </a:prstGeom>
        </p:spPr>
      </p:pic>
      <p:sp>
        <p:nvSpPr>
          <p:cNvPr id="7" name="矩形 6"/>
          <p:cNvSpPr/>
          <p:nvPr/>
        </p:nvSpPr>
        <p:spPr>
          <a:xfrm>
            <a:off x="179512" y="3789040"/>
            <a:ext cx="3159326" cy="369332"/>
          </a:xfrm>
          <a:prstGeom prst="rect">
            <a:avLst/>
          </a:prstGeom>
        </p:spPr>
        <p:txBody>
          <a:bodyPr wrap="none">
            <a:spAutoFit/>
          </a:bodyPr>
          <a:lstStyle/>
          <a:p>
            <a:pPr marL="342900" indent="-342900"/>
            <a:r>
              <a:rPr lang="en-US" altLang="zh-TW" i="1" dirty="0" smtClean="0">
                <a:solidFill>
                  <a:srgbClr val="0066FF"/>
                </a:solidFill>
              </a:rPr>
              <a:t>3. K</a:t>
            </a:r>
            <a:r>
              <a:rPr lang="en-US" altLang="zh-TW" dirty="0" smtClean="0">
                <a:solidFill>
                  <a:srgbClr val="0066FF"/>
                </a:solidFill>
              </a:rPr>
              <a:t>-means clustering, example:</a:t>
            </a:r>
            <a:endParaRPr lang="zh-TW" altLang="en-US" dirty="0">
              <a:solidFill>
                <a:srgbClr val="0066FF"/>
              </a:solidFill>
            </a:endParaRPr>
          </a:p>
        </p:txBody>
      </p:sp>
      <p:sp>
        <p:nvSpPr>
          <p:cNvPr id="8" name="文字方塊 7"/>
          <p:cNvSpPr txBox="1"/>
          <p:nvPr/>
        </p:nvSpPr>
        <p:spPr>
          <a:xfrm>
            <a:off x="467544" y="4581128"/>
            <a:ext cx="6696744" cy="2031325"/>
          </a:xfrm>
          <a:prstGeom prst="rect">
            <a:avLst/>
          </a:prstGeom>
          <a:noFill/>
        </p:spPr>
        <p:txBody>
          <a:bodyPr wrap="square" rtlCol="0">
            <a:spAutoFit/>
          </a:bodyPr>
          <a:lstStyle/>
          <a:p>
            <a:pPr marL="342900" indent="-342900">
              <a:buFont typeface="+mj-lt"/>
              <a:buAutoNum type="arabicParenR"/>
            </a:pPr>
            <a:r>
              <a:rPr lang="zh-TW" altLang="en-US" dirty="0" smtClean="0">
                <a:latin typeface="微軟正黑體" pitchFamily="34" charset="-120"/>
                <a:ea typeface="微軟正黑體" pitchFamily="34" charset="-120"/>
              </a:rPr>
              <a:t>決定</a:t>
            </a:r>
            <a:r>
              <a:rPr lang="en-US" altLang="zh-TW" i="1" dirty="0" err="1" smtClean="0">
                <a:latin typeface="微軟正黑體" pitchFamily="34" charset="-120"/>
                <a:ea typeface="微軟正黑體" pitchFamily="34" charset="-120"/>
              </a:rPr>
              <a:t>K</a:t>
            </a:r>
            <a:r>
              <a:rPr lang="en-US" altLang="zh-TW" dirty="0" err="1" smtClean="0">
                <a:latin typeface="微軟正黑體" pitchFamily="34" charset="-120"/>
                <a:ea typeface="微軟正黑體" pitchFamily="34" charset="-120"/>
              </a:rPr>
              <a:t>的個數</a:t>
            </a:r>
            <a:r>
              <a:rPr lang="en-US" altLang="zh-TW" dirty="0" smtClean="0">
                <a:latin typeface="微軟正黑體" pitchFamily="34" charset="-120"/>
                <a:ea typeface="微軟正黑體" pitchFamily="34" charset="-120"/>
              </a:rPr>
              <a:t>(</a:t>
            </a:r>
            <a:r>
              <a:rPr lang="en-US" altLang="zh-TW" dirty="0" err="1" smtClean="0">
                <a:latin typeface="微軟正黑體" pitchFamily="34" charset="-120"/>
                <a:ea typeface="微軟正黑體" pitchFamily="34" charset="-120"/>
              </a:rPr>
              <a:t>人為指定，且為固定值</a:t>
            </a:r>
            <a:r>
              <a:rPr lang="en-US" altLang="zh-TW" dirty="0" smtClean="0">
                <a:latin typeface="微軟正黑體" pitchFamily="34" charset="-120"/>
                <a:ea typeface="微軟正黑體" pitchFamily="34" charset="-120"/>
              </a:rPr>
              <a:t>)</a:t>
            </a:r>
          </a:p>
          <a:p>
            <a:pPr marL="342900" indent="-342900">
              <a:buFont typeface="+mj-lt"/>
              <a:buAutoNum type="arabicParenR"/>
            </a:pPr>
            <a:r>
              <a:rPr lang="zh-TW" altLang="en-US" dirty="0" smtClean="0">
                <a:latin typeface="微軟正黑體" pitchFamily="34" charset="-120"/>
                <a:ea typeface="微軟正黑體" pitchFamily="34" charset="-120"/>
              </a:rPr>
              <a:t>隨機產生</a:t>
            </a:r>
            <a:r>
              <a:rPr lang="en-US" altLang="zh-TW" i="1" dirty="0" err="1" smtClean="0">
                <a:latin typeface="微軟正黑體" pitchFamily="34" charset="-120"/>
                <a:ea typeface="微軟正黑體" pitchFamily="34" charset="-120"/>
              </a:rPr>
              <a:t>K</a:t>
            </a:r>
            <a:r>
              <a:rPr lang="en-US" altLang="zh-TW" dirty="0" err="1" smtClean="0">
                <a:latin typeface="微軟正黑體" pitchFamily="34" charset="-120"/>
                <a:ea typeface="微軟正黑體" pitchFamily="34" charset="-120"/>
              </a:rPr>
              <a:t>個中心</a:t>
            </a:r>
            <a:endParaRPr lang="en-US" altLang="zh-TW" dirty="0" smtClean="0">
              <a:latin typeface="微軟正黑體" pitchFamily="34" charset="-120"/>
              <a:ea typeface="微軟正黑體" pitchFamily="34" charset="-120"/>
            </a:endParaRPr>
          </a:p>
          <a:p>
            <a:pPr marL="342900" indent="-342900">
              <a:buFont typeface="+mj-lt"/>
              <a:buAutoNum type="arabicParenR"/>
            </a:pPr>
            <a:r>
              <a:rPr lang="zh-TW" altLang="en-US" dirty="0" smtClean="0">
                <a:latin typeface="微軟正黑體" pitchFamily="34" charset="-120"/>
                <a:ea typeface="微軟正黑體" pitchFamily="34" charset="-120"/>
              </a:rPr>
              <a:t>將</a:t>
            </a:r>
            <a:r>
              <a:rPr lang="en-US" altLang="zh-TW" i="1" dirty="0" err="1" smtClean="0">
                <a:latin typeface="微軟正黑體" pitchFamily="34" charset="-120"/>
                <a:ea typeface="微軟正黑體" pitchFamily="34" charset="-120"/>
              </a:rPr>
              <a:t>n</a:t>
            </a:r>
            <a:r>
              <a:rPr lang="en-US" altLang="zh-TW" dirty="0" err="1" smtClean="0">
                <a:latin typeface="微軟正黑體" pitchFamily="34" charset="-120"/>
                <a:ea typeface="微軟正黑體" pitchFamily="34" charset="-120"/>
              </a:rPr>
              <a:t>個點分類為離該點最近的中心</a:t>
            </a:r>
            <a:endParaRPr lang="en-US" altLang="zh-TW" dirty="0" smtClean="0">
              <a:latin typeface="微軟正黑體" pitchFamily="34" charset="-120"/>
              <a:ea typeface="微軟正黑體" pitchFamily="34" charset="-120"/>
            </a:endParaRPr>
          </a:p>
          <a:p>
            <a:pPr marL="342900" indent="-342900">
              <a:buFont typeface="+mj-lt"/>
              <a:buAutoNum type="arabicParenR"/>
            </a:pPr>
            <a:r>
              <a:rPr lang="zh-TW" altLang="en-US" dirty="0" smtClean="0">
                <a:latin typeface="微軟正黑體" pitchFamily="34" charset="-120"/>
                <a:ea typeface="微軟正黑體" pitchFamily="34" charset="-120"/>
              </a:rPr>
              <a:t>每一群將其所屬的點的座標平均，成為該群新的中心坐標</a:t>
            </a:r>
            <a:endParaRPr lang="en-US" altLang="zh-TW" dirty="0" smtClean="0">
              <a:latin typeface="微軟正黑體" pitchFamily="34" charset="-120"/>
              <a:ea typeface="微軟正黑體" pitchFamily="34" charset="-120"/>
            </a:endParaRPr>
          </a:p>
          <a:p>
            <a:pPr marL="342900" indent="-342900">
              <a:buFont typeface="+mj-lt"/>
              <a:buAutoNum type="arabicParenR"/>
            </a:pPr>
            <a:r>
              <a:rPr lang="zh-TW" altLang="en-US" dirty="0" smtClean="0">
                <a:latin typeface="微軟正黑體" pitchFamily="34" charset="-120"/>
                <a:ea typeface="微軟正黑體" pitchFamily="34" charset="-120"/>
              </a:rPr>
              <a:t>每一群所屬的點與新的中心座標距離平方加總，此即為新的</a:t>
            </a:r>
            <a:r>
              <a:rPr lang="en-US" altLang="zh-TW" i="1" dirty="0" smtClean="0">
                <a:latin typeface="微軟正黑體" pitchFamily="34" charset="-120"/>
                <a:ea typeface="微軟正黑體" pitchFamily="34" charset="-120"/>
              </a:rPr>
              <a:t>k</a:t>
            </a:r>
            <a:r>
              <a:rPr lang="en-US" altLang="zh-TW" dirty="0" smtClean="0">
                <a:latin typeface="微軟正黑體" pitchFamily="34" charset="-120"/>
                <a:ea typeface="微軟正黑體" pitchFamily="34" charset="-120"/>
              </a:rPr>
              <a:t>-means error</a:t>
            </a:r>
          </a:p>
          <a:p>
            <a:pPr marL="342900" indent="-342900">
              <a:buFont typeface="+mj-lt"/>
              <a:buAutoNum type="arabicParenR"/>
            </a:pPr>
            <a:r>
              <a:rPr lang="zh-TW" altLang="en-US" dirty="0" smtClean="0">
                <a:latin typeface="微軟正黑體" pitchFamily="34" charset="-120"/>
                <a:ea typeface="微軟正黑體" pitchFamily="34" charset="-120"/>
              </a:rPr>
              <a:t>重複</a:t>
            </a:r>
            <a:r>
              <a:rPr lang="en-US" altLang="zh-TW" dirty="0" smtClean="0">
                <a:latin typeface="微軟正黑體" pitchFamily="34" charset="-120"/>
                <a:ea typeface="微軟正黑體" pitchFamily="34" charset="-120"/>
              </a:rPr>
              <a:t>step3至停止條件為止</a:t>
            </a:r>
            <a:endParaRPr lang="zh-TW" altLang="en-US" dirty="0">
              <a:latin typeface="微軟正黑體" pitchFamily="34" charset="-120"/>
              <a:ea typeface="微軟正黑體" pitchFamily="34" charset="-120"/>
            </a:endParaRPr>
          </a:p>
        </p:txBody>
      </p:sp>
      <p:sp>
        <p:nvSpPr>
          <p:cNvPr id="9" name="矩形 8"/>
          <p:cNvSpPr/>
          <p:nvPr/>
        </p:nvSpPr>
        <p:spPr>
          <a:xfrm>
            <a:off x="467544" y="4149080"/>
            <a:ext cx="8064896" cy="369332"/>
          </a:xfrm>
          <a:prstGeom prst="rect">
            <a:avLst/>
          </a:prstGeom>
        </p:spPr>
        <p:txBody>
          <a:bodyPr wrap="square">
            <a:spAutoFit/>
          </a:bodyPr>
          <a:lstStyle/>
          <a:p>
            <a:r>
              <a:rPr lang="en-US" altLang="zh-TW" dirty="0" smtClean="0">
                <a:hlinkClick r:id="rId3"/>
              </a:rPr>
              <a:t>http://cgm.cs.ntust.edu.tw/etrex/kMeansClustering/kMeansClustering2.html</a:t>
            </a:r>
            <a:endParaRPr lang="zh-TW" alt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0914735A-2DD1-49E1-A8E8-1A4F28A0E6C3}" type="slidenum">
              <a:rPr lang="zh-TW" altLang="en-US" smtClean="0"/>
              <a:pPr/>
              <a:t>31</a:t>
            </a:fld>
            <a:endParaRPr lang="zh-TW" altLang="en-US"/>
          </a:p>
        </p:txBody>
      </p:sp>
      <p:graphicFrame>
        <p:nvGraphicFramePr>
          <p:cNvPr id="3" name="表格 2"/>
          <p:cNvGraphicFramePr>
            <a:graphicFrameLocks noGrp="1"/>
          </p:cNvGraphicFramePr>
          <p:nvPr/>
        </p:nvGraphicFramePr>
        <p:xfrm>
          <a:off x="323528" y="476672"/>
          <a:ext cx="3240359" cy="2194560"/>
        </p:xfrm>
        <a:graphic>
          <a:graphicData uri="http://schemas.openxmlformats.org/drawingml/2006/table">
            <a:tbl>
              <a:tblPr firstRow="1" bandRow="1">
                <a:tableStyleId>{5C22544A-7EE6-4342-B048-85BDC9FD1C3A}</a:tableStyleId>
              </a:tblPr>
              <a:tblGrid>
                <a:gridCol w="420047"/>
                <a:gridCol w="940104"/>
                <a:gridCol w="940104"/>
                <a:gridCol w="940104"/>
              </a:tblGrid>
              <a:tr h="242656">
                <a:tc>
                  <a:txBody>
                    <a:bodyPr/>
                    <a:lstStyle/>
                    <a:p>
                      <a:endParaRPr lang="zh-TW" altLang="en-US" sz="1800" dirty="0"/>
                    </a:p>
                  </a:txBody>
                  <a:tcPr/>
                </a:tc>
                <a:tc>
                  <a:txBody>
                    <a:bodyPr/>
                    <a:lstStyle/>
                    <a:p>
                      <a:pPr algn="ctr"/>
                      <a:r>
                        <a:rPr lang="zh-TW" altLang="en-US" sz="1800" dirty="0" smtClean="0"/>
                        <a:t>國文</a:t>
                      </a:r>
                      <a:endParaRPr lang="zh-TW" altLang="en-US" sz="1800" dirty="0"/>
                    </a:p>
                  </a:txBody>
                  <a:tcPr/>
                </a:tc>
                <a:tc>
                  <a:txBody>
                    <a:bodyPr/>
                    <a:lstStyle/>
                    <a:p>
                      <a:pPr algn="ctr"/>
                      <a:r>
                        <a:rPr lang="zh-TW" altLang="en-US" sz="1800" dirty="0" smtClean="0"/>
                        <a:t>數學</a:t>
                      </a:r>
                      <a:endParaRPr lang="zh-TW" altLang="en-US" sz="1800" dirty="0"/>
                    </a:p>
                  </a:txBody>
                  <a:tcPr/>
                </a:tc>
                <a:tc>
                  <a:txBody>
                    <a:bodyPr/>
                    <a:lstStyle/>
                    <a:p>
                      <a:pPr algn="ctr"/>
                      <a:r>
                        <a:rPr lang="zh-TW" altLang="en-US" sz="1800" dirty="0" smtClean="0"/>
                        <a:t>英文</a:t>
                      </a:r>
                      <a:endParaRPr lang="zh-TW" altLang="en-US" sz="1800" dirty="0"/>
                    </a:p>
                  </a:txBody>
                  <a:tcPr/>
                </a:tc>
              </a:tr>
              <a:tr h="242656">
                <a:tc>
                  <a:txBody>
                    <a:bodyPr/>
                    <a:lstStyle/>
                    <a:p>
                      <a:pPr algn="ctr"/>
                      <a:r>
                        <a:rPr lang="en-US" altLang="zh-TW" sz="1800" dirty="0" smtClean="0"/>
                        <a:t>1</a:t>
                      </a:r>
                      <a:endParaRPr lang="zh-TW" altLang="en-US" sz="1800" dirty="0"/>
                    </a:p>
                  </a:txBody>
                  <a:tcPr/>
                </a:tc>
                <a:tc>
                  <a:txBody>
                    <a:bodyPr/>
                    <a:lstStyle/>
                    <a:p>
                      <a:pPr algn="r"/>
                      <a:r>
                        <a:rPr lang="en-US" altLang="zh-TW" sz="1800" dirty="0" smtClean="0"/>
                        <a:t>2.82</a:t>
                      </a:r>
                      <a:endParaRPr lang="zh-TW" altLang="en-US" sz="1800" dirty="0"/>
                    </a:p>
                  </a:txBody>
                  <a:tcPr/>
                </a:tc>
                <a:tc>
                  <a:txBody>
                    <a:bodyPr/>
                    <a:lstStyle/>
                    <a:p>
                      <a:pPr algn="r"/>
                      <a:r>
                        <a:rPr lang="en-US" altLang="zh-TW" sz="1800" dirty="0" smtClean="0"/>
                        <a:t>6.28</a:t>
                      </a:r>
                      <a:endParaRPr lang="zh-TW" altLang="en-US" sz="1800" dirty="0"/>
                    </a:p>
                  </a:txBody>
                  <a:tcPr/>
                </a:tc>
                <a:tc>
                  <a:txBody>
                    <a:bodyPr/>
                    <a:lstStyle/>
                    <a:p>
                      <a:pPr algn="r"/>
                      <a:r>
                        <a:rPr lang="en-US" altLang="zh-TW" sz="1800" dirty="0" smtClean="0"/>
                        <a:t>36.47</a:t>
                      </a:r>
                      <a:endParaRPr lang="zh-TW" altLang="en-US" sz="1800" dirty="0"/>
                    </a:p>
                  </a:txBody>
                  <a:tcPr/>
                </a:tc>
              </a:tr>
              <a:tr h="242656">
                <a:tc>
                  <a:txBody>
                    <a:bodyPr/>
                    <a:lstStyle/>
                    <a:p>
                      <a:pPr algn="ctr"/>
                      <a:r>
                        <a:rPr lang="en-US" altLang="zh-TW" sz="1800" dirty="0" smtClean="0"/>
                        <a:t>2</a:t>
                      </a:r>
                      <a:endParaRPr lang="zh-TW" altLang="en-US" sz="1800" dirty="0"/>
                    </a:p>
                  </a:txBody>
                  <a:tcPr/>
                </a:tc>
                <a:tc>
                  <a:txBody>
                    <a:bodyPr/>
                    <a:lstStyle/>
                    <a:p>
                      <a:pPr algn="r"/>
                      <a:r>
                        <a:rPr lang="en-US" altLang="zh-TW" sz="1800" dirty="0" smtClean="0"/>
                        <a:t>34.71</a:t>
                      </a:r>
                      <a:endParaRPr lang="zh-TW" altLang="en-US" sz="1800" dirty="0"/>
                    </a:p>
                  </a:txBody>
                  <a:tcPr/>
                </a:tc>
                <a:tc>
                  <a:txBody>
                    <a:bodyPr/>
                    <a:lstStyle/>
                    <a:p>
                      <a:pPr algn="r"/>
                      <a:r>
                        <a:rPr lang="en-US" altLang="zh-TW" sz="1800" dirty="0" smtClean="0"/>
                        <a:t>20.64</a:t>
                      </a:r>
                      <a:endParaRPr lang="zh-TW" altLang="en-US" sz="1800" dirty="0"/>
                    </a:p>
                  </a:txBody>
                  <a:tcPr/>
                </a:tc>
                <a:tc>
                  <a:txBody>
                    <a:bodyPr/>
                    <a:lstStyle/>
                    <a:p>
                      <a:pPr algn="r"/>
                      <a:r>
                        <a:rPr lang="en-US" altLang="zh-TW" sz="1800" dirty="0" smtClean="0"/>
                        <a:t>18.7</a:t>
                      </a:r>
                      <a:endParaRPr lang="zh-TW" altLang="en-US" sz="1800" dirty="0"/>
                    </a:p>
                  </a:txBody>
                  <a:tcPr/>
                </a:tc>
              </a:tr>
              <a:tr h="242656">
                <a:tc>
                  <a:txBody>
                    <a:bodyPr/>
                    <a:lstStyle/>
                    <a:p>
                      <a:pPr algn="ctr"/>
                      <a:r>
                        <a:rPr lang="en-US" altLang="zh-TW" sz="1800" dirty="0" smtClean="0"/>
                        <a:t>3</a:t>
                      </a:r>
                      <a:endParaRPr lang="zh-TW" altLang="en-US" sz="1800" dirty="0"/>
                    </a:p>
                  </a:txBody>
                  <a:tcPr/>
                </a:tc>
                <a:tc>
                  <a:txBody>
                    <a:bodyPr/>
                    <a:lstStyle/>
                    <a:p>
                      <a:pPr algn="r"/>
                      <a:r>
                        <a:rPr lang="en-US" altLang="zh-TW" sz="1800" dirty="0" smtClean="0"/>
                        <a:t>8.44</a:t>
                      </a:r>
                      <a:endParaRPr lang="zh-TW" altLang="en-US" sz="1800" dirty="0"/>
                    </a:p>
                  </a:txBody>
                  <a:tcPr/>
                </a:tc>
                <a:tc>
                  <a:txBody>
                    <a:bodyPr/>
                    <a:lstStyle/>
                    <a:p>
                      <a:pPr algn="r"/>
                      <a:r>
                        <a:rPr lang="en-US" altLang="zh-TW" sz="1800" dirty="0" smtClean="0"/>
                        <a:t>6.16</a:t>
                      </a:r>
                      <a:endParaRPr lang="zh-TW" altLang="en-US" sz="1800" dirty="0"/>
                    </a:p>
                  </a:txBody>
                  <a:tcPr/>
                </a:tc>
                <a:tc>
                  <a:txBody>
                    <a:bodyPr/>
                    <a:lstStyle/>
                    <a:p>
                      <a:pPr algn="r"/>
                      <a:r>
                        <a:rPr lang="en-US" altLang="zh-TW" sz="1800" dirty="0" smtClean="0"/>
                        <a:t>21.9</a:t>
                      </a:r>
                      <a:endParaRPr lang="zh-TW" altLang="en-US" sz="1800" dirty="0"/>
                    </a:p>
                  </a:txBody>
                  <a:tcPr/>
                </a:tc>
              </a:tr>
              <a:tr h="242656">
                <a:tc>
                  <a:txBody>
                    <a:bodyPr/>
                    <a:lstStyle/>
                    <a:p>
                      <a:pPr algn="ctr"/>
                      <a:r>
                        <a:rPr lang="en-US" altLang="zh-TW" sz="1800" dirty="0" smtClean="0"/>
                        <a:t>…</a:t>
                      </a:r>
                      <a:endParaRPr lang="zh-TW" altLang="en-US" sz="1800" dirty="0"/>
                    </a:p>
                  </a:txBody>
                  <a:tcPr/>
                </a:tc>
                <a:tc>
                  <a:txBody>
                    <a:bodyPr/>
                    <a:lstStyle/>
                    <a:p>
                      <a:pPr algn="r"/>
                      <a:r>
                        <a:rPr lang="en-US" altLang="zh-TW" sz="1800" dirty="0" smtClean="0"/>
                        <a:t>…</a:t>
                      </a:r>
                      <a:endParaRPr lang="zh-TW" altLang="en-US" sz="1800" dirty="0"/>
                    </a:p>
                  </a:txBody>
                  <a:tcPr/>
                </a:tc>
                <a:tc>
                  <a:txBody>
                    <a:bodyPr/>
                    <a:lstStyle/>
                    <a:p>
                      <a:pPr algn="r"/>
                      <a:r>
                        <a:rPr lang="en-US" altLang="zh-TW" sz="1800" dirty="0" smtClean="0"/>
                        <a:t>…</a:t>
                      </a:r>
                      <a:endParaRPr lang="zh-TW" altLang="en-US" sz="1800" dirty="0"/>
                    </a:p>
                  </a:txBody>
                  <a:tcPr/>
                </a:tc>
                <a:tc>
                  <a:txBody>
                    <a:bodyPr/>
                    <a:lstStyle/>
                    <a:p>
                      <a:pPr algn="r"/>
                      <a:r>
                        <a:rPr lang="en-US" altLang="zh-TW" sz="1800" dirty="0" smtClean="0"/>
                        <a:t>…</a:t>
                      </a:r>
                      <a:endParaRPr lang="zh-TW" altLang="en-US" sz="1800" dirty="0"/>
                    </a:p>
                  </a:txBody>
                  <a:tcPr/>
                </a:tc>
              </a:tr>
              <a:tr h="242656">
                <a:tc>
                  <a:txBody>
                    <a:bodyPr/>
                    <a:lstStyle/>
                    <a:p>
                      <a:pPr algn="ctr"/>
                      <a:r>
                        <a:rPr lang="en-US" altLang="zh-TW" sz="1800" dirty="0" smtClean="0"/>
                        <a:t>50</a:t>
                      </a:r>
                      <a:endParaRPr lang="zh-TW" altLang="en-US" sz="1800" dirty="0"/>
                    </a:p>
                  </a:txBody>
                  <a:tcPr/>
                </a:tc>
                <a:tc>
                  <a:txBody>
                    <a:bodyPr/>
                    <a:lstStyle/>
                    <a:p>
                      <a:pPr algn="r"/>
                      <a:r>
                        <a:rPr lang="en-US" altLang="zh-TW" sz="1800" dirty="0" smtClean="0"/>
                        <a:t>19.9</a:t>
                      </a:r>
                      <a:endParaRPr lang="zh-TW" altLang="en-US" sz="1800" dirty="0"/>
                    </a:p>
                  </a:txBody>
                  <a:tcPr/>
                </a:tc>
                <a:tc>
                  <a:txBody>
                    <a:bodyPr/>
                    <a:lstStyle/>
                    <a:p>
                      <a:pPr algn="r"/>
                      <a:r>
                        <a:rPr lang="en-US" altLang="zh-TW" sz="1800" dirty="0" smtClean="0"/>
                        <a:t>7.73</a:t>
                      </a:r>
                      <a:endParaRPr lang="zh-TW" altLang="en-US" sz="1800" dirty="0"/>
                    </a:p>
                  </a:txBody>
                  <a:tcPr/>
                </a:tc>
                <a:tc>
                  <a:txBody>
                    <a:bodyPr/>
                    <a:lstStyle/>
                    <a:p>
                      <a:pPr algn="r"/>
                      <a:r>
                        <a:rPr lang="en-US" altLang="zh-TW" sz="1800" dirty="0" smtClean="0"/>
                        <a:t>14.3</a:t>
                      </a:r>
                      <a:endParaRPr lang="zh-TW" altLang="en-US" sz="1800" dirty="0"/>
                    </a:p>
                  </a:txBody>
                  <a:tcPr/>
                </a:tc>
              </a:tr>
            </a:tbl>
          </a:graphicData>
        </a:graphic>
      </p:graphicFrame>
      <p:graphicFrame>
        <p:nvGraphicFramePr>
          <p:cNvPr id="4" name="表格 3"/>
          <p:cNvGraphicFramePr>
            <a:graphicFrameLocks noGrp="1"/>
          </p:cNvGraphicFramePr>
          <p:nvPr/>
        </p:nvGraphicFramePr>
        <p:xfrm>
          <a:off x="323529" y="4005064"/>
          <a:ext cx="3312367" cy="2194560"/>
        </p:xfrm>
        <a:graphic>
          <a:graphicData uri="http://schemas.openxmlformats.org/drawingml/2006/table">
            <a:tbl>
              <a:tblPr firstRow="1" bandRow="1">
                <a:tableStyleId>{F5AB1C69-6EDB-4FF4-983F-18BD219EF322}</a:tableStyleId>
              </a:tblPr>
              <a:tblGrid>
                <a:gridCol w="451687"/>
                <a:gridCol w="953560"/>
                <a:gridCol w="953560"/>
                <a:gridCol w="953560"/>
              </a:tblGrid>
              <a:tr h="242656">
                <a:tc>
                  <a:txBody>
                    <a:bodyPr/>
                    <a:lstStyle/>
                    <a:p>
                      <a:endParaRPr lang="zh-TW" altLang="en-US" dirty="0"/>
                    </a:p>
                  </a:txBody>
                  <a:tcPr/>
                </a:tc>
                <a:tc>
                  <a:txBody>
                    <a:bodyPr/>
                    <a:lstStyle/>
                    <a:p>
                      <a:pPr algn="ctr"/>
                      <a:r>
                        <a:rPr lang="zh-TW" altLang="en-US" dirty="0" smtClean="0"/>
                        <a:t>國文</a:t>
                      </a:r>
                      <a:endParaRPr lang="zh-TW" altLang="en-US" dirty="0"/>
                    </a:p>
                  </a:txBody>
                  <a:tcPr/>
                </a:tc>
                <a:tc>
                  <a:txBody>
                    <a:bodyPr/>
                    <a:lstStyle/>
                    <a:p>
                      <a:pPr algn="ctr"/>
                      <a:r>
                        <a:rPr lang="zh-TW" altLang="en-US" dirty="0" smtClean="0"/>
                        <a:t>數學</a:t>
                      </a:r>
                      <a:endParaRPr lang="zh-TW" altLang="en-US" dirty="0"/>
                    </a:p>
                  </a:txBody>
                  <a:tcPr/>
                </a:tc>
                <a:tc>
                  <a:txBody>
                    <a:bodyPr/>
                    <a:lstStyle/>
                    <a:p>
                      <a:pPr algn="ctr"/>
                      <a:r>
                        <a:rPr lang="zh-TW" altLang="en-US" dirty="0" smtClean="0"/>
                        <a:t>英文</a:t>
                      </a:r>
                      <a:endParaRPr lang="zh-TW" altLang="en-US" dirty="0"/>
                    </a:p>
                  </a:txBody>
                  <a:tcPr/>
                </a:tc>
              </a:tr>
              <a:tr h="242656">
                <a:tc>
                  <a:txBody>
                    <a:bodyPr/>
                    <a:lstStyle/>
                    <a:p>
                      <a:pPr algn="ctr"/>
                      <a:r>
                        <a:rPr lang="en-US" altLang="zh-TW" dirty="0" smtClean="0"/>
                        <a:t>1</a:t>
                      </a:r>
                      <a:endParaRPr lang="zh-TW" altLang="en-US" dirty="0"/>
                    </a:p>
                  </a:txBody>
                  <a:tcPr/>
                </a:tc>
                <a:tc>
                  <a:txBody>
                    <a:bodyPr/>
                    <a:lstStyle/>
                    <a:p>
                      <a:pPr algn="r"/>
                      <a:r>
                        <a:rPr lang="en-US" altLang="zh-TW" dirty="0" smtClean="0"/>
                        <a:t>0.0812</a:t>
                      </a:r>
                      <a:endParaRPr lang="zh-TW" altLang="en-US" dirty="0"/>
                    </a:p>
                  </a:txBody>
                  <a:tcPr/>
                </a:tc>
                <a:tc>
                  <a:txBody>
                    <a:bodyPr/>
                    <a:lstStyle/>
                    <a:p>
                      <a:pPr algn="r"/>
                      <a:r>
                        <a:rPr lang="en-US" altLang="zh-TW" dirty="0" smtClean="0"/>
                        <a:t>0.43</a:t>
                      </a:r>
                      <a:endParaRPr lang="zh-TW" altLang="en-US" dirty="0"/>
                    </a:p>
                  </a:txBody>
                  <a:tcPr/>
                </a:tc>
                <a:tc>
                  <a:txBody>
                    <a:bodyPr/>
                    <a:lstStyle/>
                    <a:p>
                      <a:pPr algn="r"/>
                      <a:r>
                        <a:rPr lang="en-US" altLang="zh-TW" dirty="0" smtClean="0"/>
                        <a:t>1.0</a:t>
                      </a:r>
                      <a:endParaRPr lang="zh-TW" altLang="en-US" dirty="0"/>
                    </a:p>
                  </a:txBody>
                  <a:tcPr/>
                </a:tc>
              </a:tr>
              <a:tr h="242656">
                <a:tc>
                  <a:txBody>
                    <a:bodyPr/>
                    <a:lstStyle/>
                    <a:p>
                      <a:pPr algn="ctr"/>
                      <a:r>
                        <a:rPr lang="en-US" altLang="zh-TW" dirty="0" smtClean="0"/>
                        <a:t>2</a:t>
                      </a:r>
                      <a:endParaRPr lang="zh-TW" altLang="en-US" dirty="0"/>
                    </a:p>
                  </a:txBody>
                  <a:tcPr/>
                </a:tc>
                <a:tc>
                  <a:txBody>
                    <a:bodyPr/>
                    <a:lstStyle/>
                    <a:p>
                      <a:pPr algn="r"/>
                      <a:r>
                        <a:rPr lang="en-US" altLang="zh-TW" dirty="0" smtClean="0"/>
                        <a:t>1.0</a:t>
                      </a:r>
                      <a:endParaRPr lang="zh-TW" altLang="en-US" dirty="0"/>
                    </a:p>
                  </a:txBody>
                  <a:tcPr/>
                </a:tc>
                <a:tc>
                  <a:txBody>
                    <a:bodyPr/>
                    <a:lstStyle/>
                    <a:p>
                      <a:pPr algn="r"/>
                      <a:r>
                        <a:rPr lang="en-US" altLang="zh-TW" dirty="0" smtClean="0"/>
                        <a:t>1.0</a:t>
                      </a:r>
                      <a:endParaRPr lang="zh-TW" altLang="en-US" dirty="0"/>
                    </a:p>
                  </a:txBody>
                  <a:tcPr/>
                </a:tc>
                <a:tc>
                  <a:txBody>
                    <a:bodyPr/>
                    <a:lstStyle/>
                    <a:p>
                      <a:pPr algn="r"/>
                      <a:r>
                        <a:rPr lang="en-US" altLang="zh-TW" dirty="0" smtClean="0"/>
                        <a:t>0.6</a:t>
                      </a:r>
                      <a:endParaRPr lang="zh-TW" altLang="en-US" dirty="0"/>
                    </a:p>
                  </a:txBody>
                  <a:tcPr/>
                </a:tc>
              </a:tr>
              <a:tr h="242656">
                <a:tc>
                  <a:txBody>
                    <a:bodyPr/>
                    <a:lstStyle/>
                    <a:p>
                      <a:pPr algn="ctr"/>
                      <a:r>
                        <a:rPr lang="en-US" altLang="zh-TW" dirty="0" smtClean="0"/>
                        <a:t>3</a:t>
                      </a:r>
                      <a:endParaRPr lang="zh-TW" altLang="en-US" dirty="0"/>
                    </a:p>
                  </a:txBody>
                  <a:tcPr/>
                </a:tc>
                <a:tc>
                  <a:txBody>
                    <a:bodyPr/>
                    <a:lstStyle/>
                    <a:p>
                      <a:pPr algn="r"/>
                      <a:r>
                        <a:rPr lang="en-US" altLang="zh-TW" dirty="0" smtClean="0"/>
                        <a:t>0.25</a:t>
                      </a:r>
                      <a:endParaRPr lang="zh-TW" altLang="en-US" dirty="0"/>
                    </a:p>
                  </a:txBody>
                  <a:tcPr/>
                </a:tc>
                <a:tc>
                  <a:txBody>
                    <a:bodyPr/>
                    <a:lstStyle/>
                    <a:p>
                      <a:pPr algn="r"/>
                      <a:r>
                        <a:rPr lang="en-US" altLang="zh-TW" dirty="0" smtClean="0"/>
                        <a:t>0.42</a:t>
                      </a:r>
                      <a:endParaRPr lang="zh-TW" altLang="en-US" dirty="0"/>
                    </a:p>
                  </a:txBody>
                  <a:tcPr/>
                </a:tc>
                <a:tc>
                  <a:txBody>
                    <a:bodyPr/>
                    <a:lstStyle/>
                    <a:p>
                      <a:pPr algn="r"/>
                      <a:r>
                        <a:rPr lang="en-US" altLang="zh-TW" dirty="0" smtClean="0"/>
                        <a:t>0.7</a:t>
                      </a:r>
                      <a:endParaRPr lang="zh-TW" altLang="en-US" dirty="0"/>
                    </a:p>
                  </a:txBody>
                  <a:tcPr/>
                </a:tc>
              </a:tr>
              <a:tr h="242656">
                <a:tc>
                  <a:txBody>
                    <a:bodyPr/>
                    <a:lstStyle/>
                    <a:p>
                      <a:pPr algn="ctr"/>
                      <a:r>
                        <a:rPr lang="en-US" altLang="zh-TW" dirty="0" smtClean="0"/>
                        <a:t>…</a:t>
                      </a:r>
                      <a:endParaRPr lang="zh-TW" altLang="en-US" dirty="0"/>
                    </a:p>
                  </a:txBody>
                  <a:tcPr/>
                </a:tc>
                <a:tc>
                  <a:txBody>
                    <a:bodyPr/>
                    <a:lstStyle/>
                    <a:p>
                      <a:pPr algn="r"/>
                      <a:r>
                        <a:rPr lang="en-US" altLang="zh-TW" dirty="0" smtClean="0"/>
                        <a:t>…</a:t>
                      </a:r>
                      <a:endParaRPr lang="zh-TW" altLang="en-US" dirty="0"/>
                    </a:p>
                  </a:txBody>
                  <a:tcPr/>
                </a:tc>
                <a:tc>
                  <a:txBody>
                    <a:bodyPr/>
                    <a:lstStyle/>
                    <a:p>
                      <a:pPr algn="r"/>
                      <a:r>
                        <a:rPr lang="en-US" altLang="zh-TW" dirty="0" smtClean="0"/>
                        <a:t>…</a:t>
                      </a:r>
                      <a:endParaRPr lang="zh-TW" altLang="en-US" dirty="0"/>
                    </a:p>
                  </a:txBody>
                  <a:tcPr/>
                </a:tc>
                <a:tc>
                  <a:txBody>
                    <a:bodyPr/>
                    <a:lstStyle/>
                    <a:p>
                      <a:pPr algn="r"/>
                      <a:r>
                        <a:rPr lang="en-US" altLang="zh-TW" dirty="0" smtClean="0"/>
                        <a:t>…</a:t>
                      </a:r>
                      <a:endParaRPr lang="zh-TW" altLang="en-US" dirty="0"/>
                    </a:p>
                  </a:txBody>
                  <a:tcPr/>
                </a:tc>
              </a:tr>
              <a:tr h="242656">
                <a:tc>
                  <a:txBody>
                    <a:bodyPr/>
                    <a:lstStyle/>
                    <a:p>
                      <a:pPr algn="ctr"/>
                      <a:r>
                        <a:rPr lang="en-US" altLang="zh-TW" dirty="0" smtClean="0"/>
                        <a:t>50</a:t>
                      </a:r>
                      <a:endParaRPr lang="zh-TW" altLang="en-US" dirty="0"/>
                    </a:p>
                  </a:txBody>
                  <a:tcPr/>
                </a:tc>
                <a:tc>
                  <a:txBody>
                    <a:bodyPr/>
                    <a:lstStyle/>
                    <a:p>
                      <a:pPr algn="r"/>
                      <a:r>
                        <a:rPr lang="en-US" altLang="zh-TW" dirty="0" smtClean="0"/>
                        <a:t>0.8</a:t>
                      </a:r>
                      <a:endParaRPr lang="zh-TW" altLang="en-US" dirty="0"/>
                    </a:p>
                  </a:txBody>
                  <a:tcPr/>
                </a:tc>
                <a:tc>
                  <a:txBody>
                    <a:bodyPr/>
                    <a:lstStyle/>
                    <a:p>
                      <a:pPr algn="r"/>
                      <a:r>
                        <a:rPr lang="en-US" altLang="zh-TW" dirty="0" smtClean="0"/>
                        <a:t>0.5</a:t>
                      </a:r>
                      <a:endParaRPr lang="zh-TW" altLang="en-US" dirty="0"/>
                    </a:p>
                  </a:txBody>
                  <a:tcPr/>
                </a:tc>
                <a:tc>
                  <a:txBody>
                    <a:bodyPr/>
                    <a:lstStyle/>
                    <a:p>
                      <a:pPr algn="r"/>
                      <a:r>
                        <a:rPr lang="en-US" altLang="zh-TW" dirty="0" smtClean="0"/>
                        <a:t>0.5</a:t>
                      </a:r>
                      <a:endParaRPr lang="zh-TW" altLang="en-US" dirty="0"/>
                    </a:p>
                  </a:txBody>
                  <a:tcPr/>
                </a:tc>
              </a:tr>
            </a:tbl>
          </a:graphicData>
        </a:graphic>
      </p:graphicFrame>
      <p:sp>
        <p:nvSpPr>
          <p:cNvPr id="5" name="文字方塊 4"/>
          <p:cNvSpPr txBox="1"/>
          <p:nvPr/>
        </p:nvSpPr>
        <p:spPr>
          <a:xfrm>
            <a:off x="323528" y="116632"/>
            <a:ext cx="2448272" cy="369332"/>
          </a:xfrm>
          <a:prstGeom prst="rect">
            <a:avLst/>
          </a:prstGeom>
          <a:noFill/>
        </p:spPr>
        <p:txBody>
          <a:bodyPr wrap="square" rtlCol="0">
            <a:spAutoFit/>
          </a:bodyPr>
          <a:lstStyle/>
          <a:p>
            <a:r>
              <a:rPr lang="en-US" altLang="zh-TW" dirty="0" smtClean="0"/>
              <a:t>Original scores:</a:t>
            </a:r>
            <a:endParaRPr lang="zh-TW" altLang="en-US" dirty="0"/>
          </a:p>
        </p:txBody>
      </p:sp>
      <p:sp>
        <p:nvSpPr>
          <p:cNvPr id="7" name="文字方塊 6"/>
          <p:cNvSpPr txBox="1"/>
          <p:nvPr/>
        </p:nvSpPr>
        <p:spPr>
          <a:xfrm>
            <a:off x="251520" y="3573016"/>
            <a:ext cx="2448272" cy="369332"/>
          </a:xfrm>
          <a:prstGeom prst="rect">
            <a:avLst/>
          </a:prstGeom>
          <a:noFill/>
        </p:spPr>
        <p:txBody>
          <a:bodyPr wrap="square" rtlCol="0">
            <a:spAutoFit/>
          </a:bodyPr>
          <a:lstStyle/>
          <a:p>
            <a:r>
              <a:rPr lang="en-US" altLang="zh-TW" dirty="0" smtClean="0">
                <a:solidFill>
                  <a:srgbClr val="FF0000"/>
                </a:solidFill>
              </a:rPr>
              <a:t>Normalized scores:</a:t>
            </a:r>
            <a:endParaRPr lang="zh-TW" altLang="en-US" dirty="0">
              <a:solidFill>
                <a:srgbClr val="FF0000"/>
              </a:solidFill>
            </a:endParaRPr>
          </a:p>
        </p:txBody>
      </p:sp>
      <p:graphicFrame>
        <p:nvGraphicFramePr>
          <p:cNvPr id="8" name="表格 7"/>
          <p:cNvGraphicFramePr>
            <a:graphicFrameLocks noGrp="1"/>
          </p:cNvGraphicFramePr>
          <p:nvPr/>
        </p:nvGraphicFramePr>
        <p:xfrm>
          <a:off x="4499992" y="404664"/>
          <a:ext cx="3919984" cy="2225040"/>
        </p:xfrm>
        <a:graphic>
          <a:graphicData uri="http://schemas.openxmlformats.org/drawingml/2006/table">
            <a:tbl>
              <a:tblPr firstRow="1" bandRow="1">
                <a:tableStyleId>{7DF18680-E054-41AD-8BC1-D1AEF772440D}</a:tableStyleId>
              </a:tblPr>
              <a:tblGrid>
                <a:gridCol w="1959992"/>
                <a:gridCol w="1959992"/>
              </a:tblGrid>
              <a:tr h="370840">
                <a:tc gridSpan="2">
                  <a:txBody>
                    <a:bodyPr/>
                    <a:lstStyle/>
                    <a:p>
                      <a:r>
                        <a:rPr lang="en-US" altLang="zh-TW" dirty="0" err="1" smtClean="0"/>
                        <a:t>Discretization</a:t>
                      </a:r>
                      <a:r>
                        <a:rPr lang="en-US" altLang="zh-TW" dirty="0" smtClean="0"/>
                        <a:t> ranges (</a:t>
                      </a:r>
                      <a:r>
                        <a:rPr lang="en-US" altLang="zh-TW" i="1" dirty="0" smtClean="0"/>
                        <a:t>k</a:t>
                      </a:r>
                      <a:r>
                        <a:rPr lang="en-US" altLang="zh-TW" dirty="0" smtClean="0"/>
                        <a:t>=4)</a:t>
                      </a:r>
                      <a:endParaRPr lang="zh-TW" altLang="en-US" dirty="0"/>
                    </a:p>
                  </a:txBody>
                  <a:tcPr/>
                </a:tc>
                <a:tc hMerge="1">
                  <a:txBody>
                    <a:bodyPr/>
                    <a:lstStyle/>
                    <a:p>
                      <a:endParaRPr lang="zh-TW" altLang="en-US" dirty="0"/>
                    </a:p>
                  </a:txBody>
                  <a:tcPr/>
                </a:tc>
              </a:tr>
              <a:tr h="370840">
                <a:tc>
                  <a:txBody>
                    <a:bodyPr/>
                    <a:lstStyle/>
                    <a:p>
                      <a:r>
                        <a:rPr lang="en-US" altLang="zh-TW" dirty="0" smtClean="0"/>
                        <a:t>Normalized</a:t>
                      </a:r>
                      <a:r>
                        <a:rPr lang="en-US" altLang="zh-TW" baseline="0" dirty="0" smtClean="0"/>
                        <a:t> scores</a:t>
                      </a:r>
                      <a:endParaRPr lang="zh-TW" altLang="en-US" dirty="0"/>
                    </a:p>
                  </a:txBody>
                  <a:tcPr/>
                </a:tc>
                <a:tc>
                  <a:txBody>
                    <a:bodyPr/>
                    <a:lstStyle/>
                    <a:p>
                      <a:r>
                        <a:rPr lang="en-US" altLang="zh-TW" dirty="0" smtClean="0"/>
                        <a:t>Correspond</a:t>
                      </a:r>
                      <a:r>
                        <a:rPr lang="en-US" altLang="zh-TW" baseline="0" dirty="0" smtClean="0"/>
                        <a:t> values</a:t>
                      </a:r>
                      <a:endParaRPr lang="zh-TW" altLang="en-US" dirty="0"/>
                    </a:p>
                  </a:txBody>
                  <a:tcPr/>
                </a:tc>
              </a:tr>
              <a:tr h="370840">
                <a:tc>
                  <a:txBody>
                    <a:bodyPr/>
                    <a:lstStyle/>
                    <a:p>
                      <a:pPr algn="ctr"/>
                      <a:r>
                        <a:rPr lang="en-US" altLang="zh-TW" dirty="0" smtClean="0"/>
                        <a:t>0~0.3</a:t>
                      </a:r>
                      <a:endParaRPr lang="zh-TW" altLang="en-US" dirty="0"/>
                    </a:p>
                  </a:txBody>
                  <a:tcPr/>
                </a:tc>
                <a:tc>
                  <a:txBody>
                    <a:bodyPr/>
                    <a:lstStyle/>
                    <a:p>
                      <a:pPr algn="ctr"/>
                      <a:r>
                        <a:rPr lang="en-US" altLang="zh-TW" dirty="0" smtClean="0"/>
                        <a:t>1</a:t>
                      </a:r>
                      <a:endParaRPr lang="zh-TW" altLang="en-US" dirty="0"/>
                    </a:p>
                  </a:txBody>
                  <a:tcPr/>
                </a:tc>
              </a:tr>
              <a:tr h="370840">
                <a:tc>
                  <a:txBody>
                    <a:bodyPr/>
                    <a:lstStyle/>
                    <a:p>
                      <a:pPr algn="ctr"/>
                      <a:r>
                        <a:rPr lang="en-US" altLang="zh-TW" dirty="0" smtClean="0"/>
                        <a:t>0.31~0.6</a:t>
                      </a:r>
                      <a:endParaRPr lang="zh-TW" altLang="en-US" dirty="0"/>
                    </a:p>
                  </a:txBody>
                  <a:tcPr/>
                </a:tc>
                <a:tc>
                  <a:txBody>
                    <a:bodyPr/>
                    <a:lstStyle/>
                    <a:p>
                      <a:pPr algn="ctr"/>
                      <a:r>
                        <a:rPr lang="en-US" altLang="zh-TW" dirty="0" smtClean="0"/>
                        <a:t>2</a:t>
                      </a:r>
                      <a:endParaRPr lang="zh-TW" altLang="en-US" dirty="0"/>
                    </a:p>
                  </a:txBody>
                  <a:tcPr/>
                </a:tc>
              </a:tr>
              <a:tr h="370840">
                <a:tc>
                  <a:txBody>
                    <a:bodyPr/>
                    <a:lstStyle/>
                    <a:p>
                      <a:pPr algn="ctr"/>
                      <a:r>
                        <a:rPr lang="en-US" altLang="zh-TW" dirty="0" smtClean="0"/>
                        <a:t>0.61~0.9</a:t>
                      </a:r>
                      <a:endParaRPr lang="zh-TW" altLang="en-US" dirty="0"/>
                    </a:p>
                  </a:txBody>
                  <a:tcPr/>
                </a:tc>
                <a:tc>
                  <a:txBody>
                    <a:bodyPr/>
                    <a:lstStyle/>
                    <a:p>
                      <a:pPr algn="ctr"/>
                      <a:r>
                        <a:rPr lang="en-US" altLang="zh-TW" dirty="0" smtClean="0"/>
                        <a:t>3</a:t>
                      </a:r>
                      <a:endParaRPr lang="zh-TW" altLang="en-US" dirty="0"/>
                    </a:p>
                  </a:txBody>
                  <a:tcPr/>
                </a:tc>
              </a:tr>
              <a:tr h="370840">
                <a:tc>
                  <a:txBody>
                    <a:bodyPr/>
                    <a:lstStyle/>
                    <a:p>
                      <a:pPr algn="ctr"/>
                      <a:r>
                        <a:rPr lang="en-US" altLang="zh-TW" dirty="0" smtClean="0"/>
                        <a:t>0.91~1.0</a:t>
                      </a:r>
                      <a:endParaRPr lang="zh-TW" altLang="en-US" dirty="0"/>
                    </a:p>
                  </a:txBody>
                  <a:tcPr/>
                </a:tc>
                <a:tc>
                  <a:txBody>
                    <a:bodyPr/>
                    <a:lstStyle/>
                    <a:p>
                      <a:pPr algn="ctr"/>
                      <a:r>
                        <a:rPr lang="en-US" altLang="zh-TW" dirty="0" smtClean="0"/>
                        <a:t>4</a:t>
                      </a:r>
                      <a:endParaRPr lang="zh-TW" altLang="en-US" dirty="0"/>
                    </a:p>
                  </a:txBody>
                  <a:tcPr/>
                </a:tc>
              </a:tr>
            </a:tbl>
          </a:graphicData>
        </a:graphic>
      </p:graphicFrame>
      <p:sp>
        <p:nvSpPr>
          <p:cNvPr id="9" name="向右箭號 8"/>
          <p:cNvSpPr/>
          <p:nvPr/>
        </p:nvSpPr>
        <p:spPr>
          <a:xfrm rot="5400000">
            <a:off x="1511660" y="2960948"/>
            <a:ext cx="720080"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向右箭號 9"/>
          <p:cNvSpPr/>
          <p:nvPr/>
        </p:nvSpPr>
        <p:spPr>
          <a:xfrm rot="19395632">
            <a:off x="3672063" y="3032545"/>
            <a:ext cx="720080"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向右箭號 11"/>
          <p:cNvSpPr/>
          <p:nvPr/>
        </p:nvSpPr>
        <p:spPr>
          <a:xfrm rot="5400000">
            <a:off x="5904148" y="3104964"/>
            <a:ext cx="720080"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3" name="表格 12"/>
          <p:cNvGraphicFramePr>
            <a:graphicFrameLocks noGrp="1"/>
          </p:cNvGraphicFramePr>
          <p:nvPr/>
        </p:nvGraphicFramePr>
        <p:xfrm>
          <a:off x="4644009" y="4005064"/>
          <a:ext cx="3312367" cy="2194560"/>
        </p:xfrm>
        <a:graphic>
          <a:graphicData uri="http://schemas.openxmlformats.org/drawingml/2006/table">
            <a:tbl>
              <a:tblPr firstRow="1" bandRow="1">
                <a:tableStyleId>{00A15C55-8517-42AA-B614-E9B94910E393}</a:tableStyleId>
              </a:tblPr>
              <a:tblGrid>
                <a:gridCol w="451687"/>
                <a:gridCol w="953560"/>
                <a:gridCol w="953560"/>
                <a:gridCol w="953560"/>
              </a:tblGrid>
              <a:tr h="242656">
                <a:tc>
                  <a:txBody>
                    <a:bodyPr/>
                    <a:lstStyle/>
                    <a:p>
                      <a:endParaRPr lang="zh-TW" altLang="en-US" dirty="0"/>
                    </a:p>
                  </a:txBody>
                  <a:tcPr/>
                </a:tc>
                <a:tc>
                  <a:txBody>
                    <a:bodyPr/>
                    <a:lstStyle/>
                    <a:p>
                      <a:pPr algn="ctr"/>
                      <a:r>
                        <a:rPr lang="zh-TW" altLang="en-US" dirty="0" smtClean="0"/>
                        <a:t>國文</a:t>
                      </a:r>
                      <a:endParaRPr lang="zh-TW" altLang="en-US" dirty="0"/>
                    </a:p>
                  </a:txBody>
                  <a:tcPr/>
                </a:tc>
                <a:tc>
                  <a:txBody>
                    <a:bodyPr/>
                    <a:lstStyle/>
                    <a:p>
                      <a:pPr algn="ctr"/>
                      <a:r>
                        <a:rPr lang="zh-TW" altLang="en-US" dirty="0" smtClean="0"/>
                        <a:t>數學</a:t>
                      </a:r>
                      <a:endParaRPr lang="zh-TW" altLang="en-US" dirty="0"/>
                    </a:p>
                  </a:txBody>
                  <a:tcPr/>
                </a:tc>
                <a:tc>
                  <a:txBody>
                    <a:bodyPr/>
                    <a:lstStyle/>
                    <a:p>
                      <a:pPr algn="ctr"/>
                      <a:r>
                        <a:rPr lang="zh-TW" altLang="en-US" dirty="0" smtClean="0"/>
                        <a:t>英文</a:t>
                      </a:r>
                      <a:endParaRPr lang="zh-TW" altLang="en-US" dirty="0"/>
                    </a:p>
                  </a:txBody>
                  <a:tcPr/>
                </a:tc>
              </a:tr>
              <a:tr h="242656">
                <a:tc>
                  <a:txBody>
                    <a:bodyPr/>
                    <a:lstStyle/>
                    <a:p>
                      <a:pPr algn="ctr"/>
                      <a:r>
                        <a:rPr lang="en-US" altLang="zh-TW" dirty="0" smtClean="0"/>
                        <a:t>1</a:t>
                      </a:r>
                      <a:endParaRPr lang="zh-TW" altLang="en-US" dirty="0"/>
                    </a:p>
                  </a:txBody>
                  <a:tcPr/>
                </a:tc>
                <a:tc>
                  <a:txBody>
                    <a:bodyPr/>
                    <a:lstStyle/>
                    <a:p>
                      <a:pPr algn="r"/>
                      <a:r>
                        <a:rPr lang="en-US" altLang="zh-TW" dirty="0" smtClean="0"/>
                        <a:t>1</a:t>
                      </a:r>
                      <a:endParaRPr lang="zh-TW" altLang="en-US" dirty="0"/>
                    </a:p>
                  </a:txBody>
                  <a:tcPr/>
                </a:tc>
                <a:tc>
                  <a:txBody>
                    <a:bodyPr/>
                    <a:lstStyle/>
                    <a:p>
                      <a:pPr algn="r"/>
                      <a:r>
                        <a:rPr lang="en-US" altLang="zh-TW" dirty="0" smtClean="0"/>
                        <a:t>2</a:t>
                      </a:r>
                      <a:endParaRPr lang="zh-TW" altLang="en-US" dirty="0"/>
                    </a:p>
                  </a:txBody>
                  <a:tcPr/>
                </a:tc>
                <a:tc>
                  <a:txBody>
                    <a:bodyPr/>
                    <a:lstStyle/>
                    <a:p>
                      <a:pPr algn="r"/>
                      <a:r>
                        <a:rPr lang="en-US" altLang="zh-TW" dirty="0" smtClean="0"/>
                        <a:t>4</a:t>
                      </a:r>
                      <a:endParaRPr lang="zh-TW" altLang="en-US" dirty="0"/>
                    </a:p>
                  </a:txBody>
                  <a:tcPr/>
                </a:tc>
              </a:tr>
              <a:tr h="242656">
                <a:tc>
                  <a:txBody>
                    <a:bodyPr/>
                    <a:lstStyle/>
                    <a:p>
                      <a:pPr algn="ctr"/>
                      <a:r>
                        <a:rPr lang="en-US" altLang="zh-TW" dirty="0" smtClean="0"/>
                        <a:t>2</a:t>
                      </a:r>
                      <a:endParaRPr lang="zh-TW" altLang="en-US" dirty="0"/>
                    </a:p>
                  </a:txBody>
                  <a:tcPr/>
                </a:tc>
                <a:tc>
                  <a:txBody>
                    <a:bodyPr/>
                    <a:lstStyle/>
                    <a:p>
                      <a:pPr algn="r"/>
                      <a:r>
                        <a:rPr lang="en-US" altLang="zh-TW" dirty="0" smtClean="0"/>
                        <a:t>4</a:t>
                      </a:r>
                      <a:endParaRPr lang="zh-TW" altLang="en-US" dirty="0"/>
                    </a:p>
                  </a:txBody>
                  <a:tcPr/>
                </a:tc>
                <a:tc>
                  <a:txBody>
                    <a:bodyPr/>
                    <a:lstStyle/>
                    <a:p>
                      <a:pPr algn="r"/>
                      <a:r>
                        <a:rPr lang="en-US" altLang="zh-TW" dirty="0" smtClean="0"/>
                        <a:t>4</a:t>
                      </a:r>
                      <a:endParaRPr lang="zh-TW" altLang="en-US" dirty="0"/>
                    </a:p>
                  </a:txBody>
                  <a:tcPr/>
                </a:tc>
                <a:tc>
                  <a:txBody>
                    <a:bodyPr/>
                    <a:lstStyle/>
                    <a:p>
                      <a:pPr algn="r"/>
                      <a:r>
                        <a:rPr lang="en-US" altLang="zh-TW" dirty="0" smtClean="0"/>
                        <a:t>2</a:t>
                      </a:r>
                      <a:endParaRPr lang="zh-TW" altLang="en-US" dirty="0"/>
                    </a:p>
                  </a:txBody>
                  <a:tcPr/>
                </a:tc>
              </a:tr>
              <a:tr h="242656">
                <a:tc>
                  <a:txBody>
                    <a:bodyPr/>
                    <a:lstStyle/>
                    <a:p>
                      <a:pPr algn="ctr"/>
                      <a:r>
                        <a:rPr lang="en-US" altLang="zh-TW" dirty="0" smtClean="0"/>
                        <a:t>3</a:t>
                      </a:r>
                      <a:endParaRPr lang="zh-TW" altLang="en-US" dirty="0"/>
                    </a:p>
                  </a:txBody>
                  <a:tcPr/>
                </a:tc>
                <a:tc>
                  <a:txBody>
                    <a:bodyPr/>
                    <a:lstStyle/>
                    <a:p>
                      <a:pPr algn="r"/>
                      <a:r>
                        <a:rPr lang="en-US" altLang="zh-TW" dirty="0" smtClean="0"/>
                        <a:t>1</a:t>
                      </a:r>
                      <a:endParaRPr lang="zh-TW" altLang="en-US" dirty="0"/>
                    </a:p>
                  </a:txBody>
                  <a:tcPr/>
                </a:tc>
                <a:tc>
                  <a:txBody>
                    <a:bodyPr/>
                    <a:lstStyle/>
                    <a:p>
                      <a:pPr algn="r"/>
                      <a:r>
                        <a:rPr lang="en-US" altLang="zh-TW" dirty="0" smtClean="0"/>
                        <a:t>2</a:t>
                      </a:r>
                      <a:endParaRPr lang="zh-TW" altLang="en-US" dirty="0"/>
                    </a:p>
                  </a:txBody>
                  <a:tcPr/>
                </a:tc>
                <a:tc>
                  <a:txBody>
                    <a:bodyPr/>
                    <a:lstStyle/>
                    <a:p>
                      <a:pPr algn="r"/>
                      <a:r>
                        <a:rPr lang="en-US" altLang="zh-TW" dirty="0" smtClean="0"/>
                        <a:t>3</a:t>
                      </a:r>
                      <a:endParaRPr lang="zh-TW" altLang="en-US" dirty="0"/>
                    </a:p>
                  </a:txBody>
                  <a:tcPr/>
                </a:tc>
              </a:tr>
              <a:tr h="242656">
                <a:tc>
                  <a:txBody>
                    <a:bodyPr/>
                    <a:lstStyle/>
                    <a:p>
                      <a:pPr algn="ctr"/>
                      <a:r>
                        <a:rPr lang="en-US" altLang="zh-TW" dirty="0" smtClean="0"/>
                        <a:t>…</a:t>
                      </a:r>
                      <a:endParaRPr lang="zh-TW" altLang="en-US" dirty="0"/>
                    </a:p>
                  </a:txBody>
                  <a:tcPr/>
                </a:tc>
                <a:tc>
                  <a:txBody>
                    <a:bodyPr/>
                    <a:lstStyle/>
                    <a:p>
                      <a:pPr algn="r"/>
                      <a:r>
                        <a:rPr lang="en-US" altLang="zh-TW" dirty="0" smtClean="0"/>
                        <a:t>…</a:t>
                      </a:r>
                      <a:endParaRPr lang="zh-TW" altLang="en-US" dirty="0"/>
                    </a:p>
                  </a:txBody>
                  <a:tcPr/>
                </a:tc>
                <a:tc>
                  <a:txBody>
                    <a:bodyPr/>
                    <a:lstStyle/>
                    <a:p>
                      <a:pPr algn="r"/>
                      <a:r>
                        <a:rPr lang="en-US" altLang="zh-TW" dirty="0" smtClean="0"/>
                        <a:t>…</a:t>
                      </a:r>
                      <a:endParaRPr lang="zh-TW" altLang="en-US" dirty="0"/>
                    </a:p>
                  </a:txBody>
                  <a:tcPr/>
                </a:tc>
                <a:tc>
                  <a:txBody>
                    <a:bodyPr/>
                    <a:lstStyle/>
                    <a:p>
                      <a:pPr algn="r"/>
                      <a:r>
                        <a:rPr lang="en-US" altLang="zh-TW" dirty="0" smtClean="0"/>
                        <a:t>…</a:t>
                      </a:r>
                      <a:endParaRPr lang="zh-TW" altLang="en-US" dirty="0"/>
                    </a:p>
                  </a:txBody>
                  <a:tcPr/>
                </a:tc>
              </a:tr>
              <a:tr h="242656">
                <a:tc>
                  <a:txBody>
                    <a:bodyPr/>
                    <a:lstStyle/>
                    <a:p>
                      <a:pPr algn="ctr"/>
                      <a:r>
                        <a:rPr lang="en-US" altLang="zh-TW" dirty="0" smtClean="0"/>
                        <a:t>50</a:t>
                      </a:r>
                      <a:endParaRPr lang="zh-TW" altLang="en-US" dirty="0"/>
                    </a:p>
                  </a:txBody>
                  <a:tcPr/>
                </a:tc>
                <a:tc>
                  <a:txBody>
                    <a:bodyPr/>
                    <a:lstStyle/>
                    <a:p>
                      <a:pPr algn="r"/>
                      <a:r>
                        <a:rPr lang="en-US" altLang="zh-TW" dirty="0" smtClean="0"/>
                        <a:t>3</a:t>
                      </a:r>
                      <a:endParaRPr lang="zh-TW" altLang="en-US" dirty="0"/>
                    </a:p>
                  </a:txBody>
                  <a:tcPr/>
                </a:tc>
                <a:tc>
                  <a:txBody>
                    <a:bodyPr/>
                    <a:lstStyle/>
                    <a:p>
                      <a:pPr algn="r"/>
                      <a:r>
                        <a:rPr lang="en-US" altLang="zh-TW" dirty="0" smtClean="0"/>
                        <a:t>2</a:t>
                      </a:r>
                      <a:endParaRPr lang="zh-TW" altLang="en-US" dirty="0"/>
                    </a:p>
                  </a:txBody>
                  <a:tcPr/>
                </a:tc>
                <a:tc>
                  <a:txBody>
                    <a:bodyPr/>
                    <a:lstStyle/>
                    <a:p>
                      <a:pPr algn="r"/>
                      <a:r>
                        <a:rPr lang="en-US" altLang="zh-TW" dirty="0" smtClean="0"/>
                        <a:t>2</a:t>
                      </a:r>
                      <a:endParaRPr lang="zh-TW" altLang="en-US" dirty="0"/>
                    </a:p>
                  </a:txBody>
                  <a:tcPr/>
                </a:tc>
              </a:tr>
            </a:tbl>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smtClean="0"/>
              <a:t>Software</a:t>
            </a:r>
            <a:endParaRPr lang="zh-TW" altLang="en-US" dirty="0"/>
          </a:p>
        </p:txBody>
      </p:sp>
      <p:sp>
        <p:nvSpPr>
          <p:cNvPr id="2" name="投影片編號版面配置區 1"/>
          <p:cNvSpPr>
            <a:spLocks noGrp="1"/>
          </p:cNvSpPr>
          <p:nvPr>
            <p:ph type="sldNum" sz="quarter" idx="12"/>
          </p:nvPr>
        </p:nvSpPr>
        <p:spPr/>
        <p:txBody>
          <a:bodyPr/>
          <a:lstStyle/>
          <a:p>
            <a:fld id="{0914735A-2DD1-49E1-A8E8-1A4F28A0E6C3}" type="slidenum">
              <a:rPr lang="zh-TW" altLang="en-US" smtClean="0"/>
              <a:pPr/>
              <a:t>32</a:t>
            </a:fld>
            <a:endParaRPr lang="zh-TW" altLang="en-US"/>
          </a:p>
        </p:txBody>
      </p:sp>
      <p:sp>
        <p:nvSpPr>
          <p:cNvPr id="5" name="文字方塊 4"/>
          <p:cNvSpPr txBox="1"/>
          <p:nvPr/>
        </p:nvSpPr>
        <p:spPr>
          <a:xfrm>
            <a:off x="395536" y="1628800"/>
            <a:ext cx="7848872" cy="3539430"/>
          </a:xfrm>
          <a:prstGeom prst="rect">
            <a:avLst/>
          </a:prstGeom>
          <a:noFill/>
        </p:spPr>
        <p:txBody>
          <a:bodyPr wrap="square" rtlCol="0">
            <a:spAutoFit/>
          </a:bodyPr>
          <a:lstStyle/>
          <a:p>
            <a:pPr>
              <a:buFont typeface="Arial" pitchFamily="34" charset="0"/>
              <a:buChar char="•"/>
            </a:pPr>
            <a:r>
              <a:rPr lang="en-US" altLang="zh-TW" sz="2800" dirty="0" smtClean="0"/>
              <a:t>ROSE (rough set data explore):</a:t>
            </a:r>
            <a:br>
              <a:rPr lang="en-US" altLang="zh-TW" sz="2800" dirty="0" smtClean="0"/>
            </a:br>
            <a:r>
              <a:rPr lang="en-US" altLang="zh-TW" sz="2800" dirty="0" smtClean="0">
                <a:hlinkClick r:id="rId2"/>
              </a:rPr>
              <a:t>http://idss.cs.put.poznan.pl/site/rose.html</a:t>
            </a:r>
            <a:endParaRPr lang="en-US" altLang="zh-TW" sz="2800" dirty="0" smtClean="0"/>
          </a:p>
          <a:p>
            <a:pPr>
              <a:buFont typeface="Arial" pitchFamily="34" charset="0"/>
              <a:buChar char="•"/>
            </a:pPr>
            <a:endParaRPr lang="en-US" altLang="zh-TW" sz="2800" dirty="0" smtClean="0"/>
          </a:p>
          <a:p>
            <a:pPr>
              <a:buFont typeface="Arial" pitchFamily="34" charset="0"/>
              <a:buChar char="•"/>
            </a:pPr>
            <a:r>
              <a:rPr lang="en-US" altLang="zh-TW" sz="2800" dirty="0" smtClean="0"/>
              <a:t>Rosetta: </a:t>
            </a:r>
          </a:p>
          <a:p>
            <a:r>
              <a:rPr lang="en-US" altLang="zh-TW" sz="2800" dirty="0" smtClean="0">
                <a:hlinkClick r:id="rId3"/>
              </a:rPr>
              <a:t>http://www.lcb.uu.se/tools/rosetta/</a:t>
            </a:r>
            <a:endParaRPr lang="en-US" altLang="zh-TW" sz="2800" dirty="0" smtClean="0"/>
          </a:p>
          <a:p>
            <a:pPr>
              <a:buFont typeface="Arial" pitchFamily="34" charset="0"/>
              <a:buChar char="•"/>
            </a:pPr>
            <a:endParaRPr lang="en-US" altLang="zh-TW" sz="2800" dirty="0" smtClean="0"/>
          </a:p>
          <a:p>
            <a:endParaRPr lang="en-US" altLang="zh-TW" sz="2800" dirty="0" smtClean="0"/>
          </a:p>
          <a:p>
            <a:endParaRPr lang="zh-TW" altLang="en-US" sz="28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Reference</a:t>
            </a:r>
            <a:endParaRPr lang="zh-TW" altLang="en-US" dirty="0"/>
          </a:p>
        </p:txBody>
      </p:sp>
      <p:sp>
        <p:nvSpPr>
          <p:cNvPr id="3" name="內容版面配置區 2"/>
          <p:cNvSpPr>
            <a:spLocks noGrp="1"/>
          </p:cNvSpPr>
          <p:nvPr>
            <p:ph idx="1"/>
          </p:nvPr>
        </p:nvSpPr>
        <p:spPr/>
        <p:txBody>
          <a:bodyPr>
            <a:normAutofit/>
          </a:bodyPr>
          <a:lstStyle/>
          <a:p>
            <a:r>
              <a:rPr lang="en-US" altLang="zh-TW" sz="1600" dirty="0" smtClean="0">
                <a:latin typeface="標楷體" pitchFamily="65" charset="-120"/>
                <a:ea typeface="標楷體" pitchFamily="65" charset="-120"/>
              </a:rPr>
              <a:t>[溫坤禮08]</a:t>
            </a:r>
            <a:r>
              <a:rPr lang="zh-TW" altLang="en-US" sz="1600" dirty="0" smtClean="0">
                <a:latin typeface="標楷體" pitchFamily="65" charset="-120"/>
                <a:ea typeface="標楷體" pitchFamily="65" charset="-120"/>
              </a:rPr>
              <a:t>溫坤禮</a:t>
            </a:r>
            <a:r>
              <a:rPr lang="en-US" altLang="zh-TW" sz="1600" dirty="0" smtClean="0">
                <a:latin typeface="標楷體" pitchFamily="65" charset="-120"/>
                <a:ea typeface="標楷體" pitchFamily="65" charset="-120"/>
              </a:rPr>
              <a:t>, </a:t>
            </a:r>
            <a:r>
              <a:rPr lang="en-US" altLang="zh-TW" sz="1600" dirty="0" err="1" smtClean="0">
                <a:latin typeface="標楷體" pitchFamily="65" charset="-120"/>
                <a:ea typeface="標楷體" pitchFamily="65" charset="-120"/>
              </a:rPr>
              <a:t>永井正武、張廷政、溫惠筑</a:t>
            </a:r>
            <a:r>
              <a:rPr lang="zh-TW" altLang="en-US" sz="1600" dirty="0" smtClean="0">
                <a:latin typeface="標楷體" pitchFamily="65" charset="-120"/>
                <a:ea typeface="標楷體" pitchFamily="65" charset="-120"/>
              </a:rPr>
              <a:t>（</a:t>
            </a:r>
            <a:r>
              <a:rPr lang="en-US" altLang="zh-TW" sz="1600" dirty="0" smtClean="0">
                <a:latin typeface="標楷體" pitchFamily="65" charset="-120"/>
                <a:ea typeface="標楷體" pitchFamily="65" charset="-120"/>
              </a:rPr>
              <a:t>2008）。</a:t>
            </a:r>
            <a:r>
              <a:rPr lang="en-US" altLang="zh-TW" sz="1600" b="1" dirty="0" err="1" smtClean="0">
                <a:latin typeface="標楷體" pitchFamily="65" charset="-120"/>
                <a:ea typeface="標楷體" pitchFamily="65" charset="-120"/>
              </a:rPr>
              <a:t>粗糙集入門及應用</a:t>
            </a:r>
            <a:r>
              <a:rPr lang="zh-TW" altLang="en-US" sz="1600" dirty="0" smtClean="0">
                <a:latin typeface="標楷體" pitchFamily="65" charset="-120"/>
                <a:ea typeface="標楷體" pitchFamily="65" charset="-120"/>
              </a:rPr>
              <a:t>。台北： </a:t>
            </a:r>
            <a:r>
              <a:rPr lang="en-US" altLang="zh-TW" sz="1600" dirty="0" smtClean="0">
                <a:latin typeface="標楷體" pitchFamily="65" charset="-120"/>
                <a:ea typeface="標楷體" pitchFamily="65" charset="-120"/>
              </a:rPr>
              <a:t/>
            </a:r>
            <a:br>
              <a:rPr lang="en-US" altLang="zh-TW" sz="1600" dirty="0" smtClean="0">
                <a:latin typeface="標楷體" pitchFamily="65" charset="-120"/>
                <a:ea typeface="標楷體" pitchFamily="65" charset="-120"/>
              </a:rPr>
            </a:br>
            <a:r>
              <a:rPr lang="en-US" altLang="zh-TW" sz="1600" dirty="0" smtClean="0">
                <a:latin typeface="標楷體" pitchFamily="65" charset="-120"/>
                <a:ea typeface="標楷體" pitchFamily="65" charset="-120"/>
              </a:rPr>
              <a:t>          </a:t>
            </a:r>
            <a:r>
              <a:rPr lang="en-US" altLang="zh-TW" sz="1600" dirty="0" err="1" smtClean="0">
                <a:latin typeface="標楷體" pitchFamily="65" charset="-120"/>
                <a:ea typeface="標楷體" pitchFamily="65" charset="-120"/>
              </a:rPr>
              <a:t>五南</a:t>
            </a:r>
            <a:r>
              <a:rPr lang="en-US" altLang="zh-TW" sz="1600" dirty="0" smtClean="0">
                <a:latin typeface="標楷體" pitchFamily="65" charset="-120"/>
                <a:ea typeface="標楷體" pitchFamily="65" charset="-120"/>
              </a:rPr>
              <a:t>。</a:t>
            </a:r>
          </a:p>
          <a:p>
            <a:r>
              <a:rPr lang="en-US" altLang="zh-TW" sz="1600" dirty="0" smtClean="0">
                <a:latin typeface="標楷體" pitchFamily="65" charset="-120"/>
                <a:ea typeface="標楷體" pitchFamily="65" charset="-120"/>
              </a:rPr>
              <a:t>[chen10] D. Chen and Q. He, and X. Wang, “FRSVMs: Fuzzy rough set based </a:t>
            </a:r>
            <a:br>
              <a:rPr lang="en-US" altLang="zh-TW" sz="1600" dirty="0" smtClean="0">
                <a:latin typeface="標楷體" pitchFamily="65" charset="-120"/>
                <a:ea typeface="標楷體" pitchFamily="65" charset="-120"/>
              </a:rPr>
            </a:br>
            <a:r>
              <a:rPr lang="en-US" altLang="zh-TW" sz="1600" dirty="0" smtClean="0">
                <a:latin typeface="標楷體" pitchFamily="65" charset="-120"/>
                <a:ea typeface="標楷體" pitchFamily="65" charset="-120"/>
              </a:rPr>
              <a:t>         support vector machines,” </a:t>
            </a:r>
            <a:r>
              <a:rPr lang="en-US" altLang="zh-TW" sz="1600" i="1" dirty="0" smtClean="0">
                <a:latin typeface="標楷體" pitchFamily="65" charset="-120"/>
                <a:ea typeface="標楷體" pitchFamily="65" charset="-120"/>
              </a:rPr>
              <a:t>Fuzzy Sets and Systems</a:t>
            </a:r>
            <a:r>
              <a:rPr lang="en-US" altLang="zh-TW" sz="1600" dirty="0" smtClean="0">
                <a:latin typeface="標楷體" pitchFamily="65" charset="-120"/>
                <a:ea typeface="標楷體" pitchFamily="65" charset="-120"/>
              </a:rPr>
              <a:t>, Vol. 161, Issue </a:t>
            </a:r>
            <a:br>
              <a:rPr lang="en-US" altLang="zh-TW" sz="1600" dirty="0" smtClean="0">
                <a:latin typeface="標楷體" pitchFamily="65" charset="-120"/>
                <a:ea typeface="標楷體" pitchFamily="65" charset="-120"/>
              </a:rPr>
            </a:br>
            <a:r>
              <a:rPr lang="en-US" altLang="zh-TW" sz="1600" dirty="0" smtClean="0">
                <a:latin typeface="標楷體" pitchFamily="65" charset="-120"/>
                <a:ea typeface="標楷體" pitchFamily="65" charset="-120"/>
              </a:rPr>
              <a:t>         4, pp. 596-607, 2010.</a:t>
            </a:r>
          </a:p>
          <a:p>
            <a:r>
              <a:rPr lang="en-US" altLang="zh-TW" sz="1600" dirty="0" smtClean="0">
                <a:latin typeface="標楷體" pitchFamily="65" charset="-120"/>
                <a:ea typeface="標楷體" pitchFamily="65" charset="-120"/>
              </a:rPr>
              <a:t>[Liu08] J. Liu, Q. </a:t>
            </a:r>
            <a:r>
              <a:rPr lang="en-US" altLang="zh-TW" sz="1600" dirty="0" err="1" smtClean="0">
                <a:latin typeface="標楷體" pitchFamily="65" charset="-120"/>
                <a:ea typeface="標楷體" pitchFamily="65" charset="-120"/>
              </a:rPr>
              <a:t>Hu</a:t>
            </a:r>
            <a:r>
              <a:rPr lang="en-US" altLang="zh-TW" sz="1600" dirty="0" smtClean="0">
                <a:latin typeface="標楷體" pitchFamily="65" charset="-120"/>
                <a:ea typeface="標楷體" pitchFamily="65" charset="-120"/>
              </a:rPr>
              <a:t>, and D. Yu, “A weighted rough set based method </a:t>
            </a:r>
            <a:br>
              <a:rPr lang="en-US" altLang="zh-TW" sz="1600" dirty="0" smtClean="0">
                <a:latin typeface="標楷體" pitchFamily="65" charset="-120"/>
                <a:ea typeface="標楷體" pitchFamily="65" charset="-120"/>
              </a:rPr>
            </a:br>
            <a:r>
              <a:rPr lang="en-US" altLang="zh-TW" sz="1600" dirty="0" smtClean="0">
                <a:latin typeface="標楷體" pitchFamily="65" charset="-120"/>
                <a:ea typeface="標楷體" pitchFamily="65" charset="-120"/>
              </a:rPr>
              <a:t>        developed for class imbalance learning,” </a:t>
            </a:r>
            <a:r>
              <a:rPr lang="en-US" altLang="zh-TW" sz="1600" i="1" dirty="0" smtClean="0">
                <a:latin typeface="標楷體" pitchFamily="65" charset="-120"/>
                <a:ea typeface="標楷體" pitchFamily="65" charset="-120"/>
              </a:rPr>
              <a:t>Information Sciences</a:t>
            </a:r>
            <a:r>
              <a:rPr lang="en-US" altLang="zh-TW" sz="1600" dirty="0" smtClean="0">
                <a:latin typeface="標楷體" pitchFamily="65" charset="-120"/>
                <a:ea typeface="標楷體" pitchFamily="65" charset="-120"/>
              </a:rPr>
              <a:t>, Vol. </a:t>
            </a:r>
            <a:br>
              <a:rPr lang="en-US" altLang="zh-TW" sz="1600" dirty="0" smtClean="0">
                <a:latin typeface="標楷體" pitchFamily="65" charset="-120"/>
                <a:ea typeface="標楷體" pitchFamily="65" charset="-120"/>
              </a:rPr>
            </a:br>
            <a:r>
              <a:rPr lang="en-US" altLang="zh-TW" sz="1600" dirty="0" smtClean="0">
                <a:latin typeface="標楷體" pitchFamily="65" charset="-120"/>
                <a:ea typeface="標楷體" pitchFamily="65" charset="-120"/>
              </a:rPr>
              <a:t>        178, pp. 1235-1256, 2008.</a:t>
            </a:r>
          </a:p>
          <a:p>
            <a:r>
              <a:rPr lang="en-US" altLang="zh-TW" sz="1600" dirty="0" smtClean="0">
                <a:latin typeface="標楷體" pitchFamily="65" charset="-120"/>
                <a:ea typeface="標楷體" pitchFamily="65" charset="-120"/>
              </a:rPr>
              <a:t>[Zhan08] </a:t>
            </a:r>
            <a:r>
              <a:rPr lang="en-US" altLang="zh-TW" sz="1600" dirty="0" err="1" smtClean="0">
                <a:latin typeface="標楷體" pitchFamily="65" charset="-120"/>
                <a:ea typeface="標楷體" pitchFamily="65" charset="-120"/>
              </a:rPr>
              <a:t>J.Zhang</a:t>
            </a:r>
            <a:r>
              <a:rPr lang="en-US" altLang="zh-TW" sz="1600" dirty="0" smtClean="0">
                <a:latin typeface="標楷體" pitchFamily="65" charset="-120"/>
                <a:ea typeface="標楷體" pitchFamily="65" charset="-120"/>
              </a:rPr>
              <a:t> and Y. </a:t>
            </a:r>
            <a:r>
              <a:rPr lang="en-US" altLang="zh-TW" sz="1600" dirty="0" err="1" smtClean="0">
                <a:latin typeface="標楷體" pitchFamily="65" charset="-120"/>
                <a:ea typeface="標楷體" pitchFamily="65" charset="-120"/>
              </a:rPr>
              <a:t>Wang,“A</a:t>
            </a:r>
            <a:r>
              <a:rPr lang="en-US" altLang="zh-TW" sz="1600" dirty="0" smtClean="0">
                <a:latin typeface="標楷體" pitchFamily="65" charset="-120"/>
                <a:ea typeface="標楷體" pitchFamily="65" charset="-120"/>
              </a:rPr>
              <a:t> rough margin based support vector </a:t>
            </a:r>
            <a:br>
              <a:rPr lang="en-US" altLang="zh-TW" sz="1600" dirty="0" smtClean="0">
                <a:latin typeface="標楷體" pitchFamily="65" charset="-120"/>
                <a:ea typeface="標楷體" pitchFamily="65" charset="-120"/>
              </a:rPr>
            </a:br>
            <a:r>
              <a:rPr lang="en-US" altLang="zh-TW" sz="1600" dirty="0" smtClean="0">
                <a:latin typeface="標楷體" pitchFamily="65" charset="-120"/>
                <a:ea typeface="標楷體" pitchFamily="65" charset="-120"/>
              </a:rPr>
              <a:t>         </a:t>
            </a:r>
            <a:r>
              <a:rPr lang="en-US" altLang="zh-TW" sz="1600" dirty="0" err="1" smtClean="0">
                <a:latin typeface="標楷體" pitchFamily="65" charset="-120"/>
                <a:ea typeface="標楷體" pitchFamily="65" charset="-120"/>
              </a:rPr>
              <a:t>machine,”</a:t>
            </a:r>
            <a:r>
              <a:rPr lang="en-US" altLang="zh-TW" sz="1600" i="1" dirty="0" err="1" smtClean="0">
                <a:latin typeface="標楷體" pitchFamily="65" charset="-120"/>
                <a:ea typeface="標楷體" pitchFamily="65" charset="-120"/>
              </a:rPr>
              <a:t>Information</a:t>
            </a:r>
            <a:r>
              <a:rPr lang="en-US" altLang="zh-TW" sz="1600" i="1" dirty="0" smtClean="0">
                <a:latin typeface="標楷體" pitchFamily="65" charset="-120"/>
                <a:ea typeface="標楷體" pitchFamily="65" charset="-120"/>
              </a:rPr>
              <a:t> Sciences</a:t>
            </a:r>
            <a:r>
              <a:rPr lang="en-US" altLang="zh-TW" sz="1600" dirty="0" smtClean="0">
                <a:latin typeface="標楷體" pitchFamily="65" charset="-120"/>
                <a:ea typeface="標楷體" pitchFamily="65" charset="-120"/>
              </a:rPr>
              <a:t>, Vol. 178, pp. 2204-2214, 2008.</a:t>
            </a:r>
          </a:p>
        </p:txBody>
      </p:sp>
      <p:sp>
        <p:nvSpPr>
          <p:cNvPr id="4" name="投影片編號版面配置區 3"/>
          <p:cNvSpPr>
            <a:spLocks noGrp="1"/>
          </p:cNvSpPr>
          <p:nvPr>
            <p:ph type="sldNum" sz="quarter" idx="12"/>
          </p:nvPr>
        </p:nvSpPr>
        <p:spPr/>
        <p:txBody>
          <a:bodyPr/>
          <a:lstStyle/>
          <a:p>
            <a:fld id="{0914735A-2DD1-49E1-A8E8-1A4F28A0E6C3}" type="slidenum">
              <a:rPr lang="zh-TW" altLang="en-US" smtClean="0"/>
              <a:pPr/>
              <a:t>33</a:t>
            </a:fld>
            <a:endParaRPr lang="zh-TW" alt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descr="l_600_450_0582abff-6fbd-47d2-8795-dea727de77f7.jpeg"/>
          <p:cNvPicPr>
            <a:picLocks noChangeAspect="1"/>
          </p:cNvPicPr>
          <p:nvPr/>
        </p:nvPicPr>
        <p:blipFill>
          <a:blip r:embed="rId2" cstate="print"/>
          <a:stretch>
            <a:fillRect/>
          </a:stretch>
        </p:blipFill>
        <p:spPr>
          <a:xfrm>
            <a:off x="0" y="0"/>
            <a:ext cx="9144000" cy="6858000"/>
          </a:xfrm>
          <a:prstGeom prst="rect">
            <a:avLst/>
          </a:prstGeom>
        </p:spPr>
      </p:pic>
      <p:sp>
        <p:nvSpPr>
          <p:cNvPr id="4" name="文字方塊 3"/>
          <p:cNvSpPr txBox="1"/>
          <p:nvPr/>
        </p:nvSpPr>
        <p:spPr>
          <a:xfrm>
            <a:off x="1115616" y="2420888"/>
            <a:ext cx="6840760" cy="769441"/>
          </a:xfrm>
          <a:prstGeom prst="rect">
            <a:avLst/>
          </a:prstGeom>
          <a:noFill/>
        </p:spPr>
        <p:txBody>
          <a:bodyPr wrap="square" rtlCol="0">
            <a:spAutoFit/>
          </a:bodyPr>
          <a:lstStyle/>
          <a:p>
            <a:r>
              <a:rPr lang="en-US" altLang="zh-TW" sz="4400" dirty="0" smtClean="0"/>
              <a:t>Thanks for your listening!!!</a:t>
            </a:r>
            <a:endParaRPr lang="zh-TW" altLang="en-US" sz="4400" dirty="0"/>
          </a:p>
        </p:txBody>
      </p:sp>
      <p:sp>
        <p:nvSpPr>
          <p:cNvPr id="6" name="投影片編號版面配置區 5"/>
          <p:cNvSpPr>
            <a:spLocks noGrp="1"/>
          </p:cNvSpPr>
          <p:nvPr>
            <p:ph type="sldNum" sz="quarter" idx="12"/>
          </p:nvPr>
        </p:nvSpPr>
        <p:spPr/>
        <p:txBody>
          <a:bodyPr/>
          <a:lstStyle/>
          <a:p>
            <a:fld id="{0914735A-2DD1-49E1-A8E8-1A4F28A0E6C3}" type="slidenum">
              <a:rPr lang="zh-TW" altLang="en-US" smtClean="0"/>
              <a:pPr/>
              <a:t>34</a:t>
            </a:fld>
            <a:endParaRPr lang="zh-TW" alt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647</TotalTime>
  <Words>2580</Words>
  <Application>Microsoft Office PowerPoint</Application>
  <PresentationFormat>如螢幕大小 (4:3)</PresentationFormat>
  <Paragraphs>1147</Paragraphs>
  <Slides>34</Slides>
  <Notes>2</Notes>
  <HiddenSlides>0</HiddenSlides>
  <MMClips>0</MMClips>
  <ScaleCrop>false</ScaleCrop>
  <HeadingPairs>
    <vt:vector size="6" baseType="variant">
      <vt:variant>
        <vt:lpstr>佈景主題</vt:lpstr>
      </vt:variant>
      <vt:variant>
        <vt:i4>1</vt:i4>
      </vt:variant>
      <vt:variant>
        <vt:lpstr>內嵌 OLE 伺服程式</vt:lpstr>
      </vt:variant>
      <vt:variant>
        <vt:i4>1</vt:i4>
      </vt:variant>
      <vt:variant>
        <vt:lpstr>投影片標題</vt:lpstr>
      </vt:variant>
      <vt:variant>
        <vt:i4>34</vt:i4>
      </vt:variant>
    </vt:vector>
  </HeadingPairs>
  <TitlesOfParts>
    <vt:vector size="36" baseType="lpstr">
      <vt:lpstr>Office 佈景主題</vt:lpstr>
      <vt:lpstr>方程式</vt:lpstr>
      <vt:lpstr>Tutorial - Rough sets theory</vt:lpstr>
      <vt:lpstr>Abstract</vt:lpstr>
      <vt:lpstr>Related papers</vt:lpstr>
      <vt:lpstr>Rough set theory (RST)</vt:lpstr>
      <vt:lpstr>Rough set theory (RST)</vt:lpstr>
      <vt:lpstr>Fuzzy set</vt:lpstr>
      <vt:lpstr>投影片 7</vt:lpstr>
      <vt:lpstr>RST concept (1/2)</vt:lpstr>
      <vt:lpstr>RST concept(2/2)</vt:lpstr>
      <vt:lpstr>Information system (IS)</vt:lpstr>
      <vt:lpstr>Indiscernibility relation</vt:lpstr>
      <vt:lpstr>Lower and upper approximation</vt:lpstr>
      <vt:lpstr>投影片 13</vt:lpstr>
      <vt:lpstr>Accuracy of approximation</vt:lpstr>
      <vt:lpstr>Independence of attributes</vt:lpstr>
      <vt:lpstr>Core and reduct of attributes</vt:lpstr>
      <vt:lpstr>投影片 17</vt:lpstr>
      <vt:lpstr>Core and reduct of attribute values</vt:lpstr>
      <vt:lpstr>投影片 19</vt:lpstr>
      <vt:lpstr>Classification</vt:lpstr>
      <vt:lpstr>Decision table</vt:lpstr>
      <vt:lpstr>Relative core and relative reducts of attributes</vt:lpstr>
      <vt:lpstr>投影片 23</vt:lpstr>
      <vt:lpstr>投影片 24</vt:lpstr>
      <vt:lpstr>投影片 25</vt:lpstr>
      <vt:lpstr>投影片 26</vt:lpstr>
      <vt:lpstr>投影片 27</vt:lpstr>
      <vt:lpstr>投影片 28</vt:lpstr>
      <vt:lpstr>Discretization methods</vt:lpstr>
      <vt:lpstr>投影片 30</vt:lpstr>
      <vt:lpstr>投影片 31</vt:lpstr>
      <vt:lpstr>Software</vt:lpstr>
      <vt:lpstr>Reference</vt:lpstr>
      <vt:lpstr>投影片 34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 Rough sets theory</dc:title>
  <dc:creator>par67vm</dc:creator>
  <cp:lastModifiedBy>par67vm</cp:lastModifiedBy>
  <cp:revision>207</cp:revision>
  <dcterms:created xsi:type="dcterms:W3CDTF">2010-12-28T21:57:15Z</dcterms:created>
  <dcterms:modified xsi:type="dcterms:W3CDTF">2011-01-11T10:18:18Z</dcterms:modified>
</cp:coreProperties>
</file>