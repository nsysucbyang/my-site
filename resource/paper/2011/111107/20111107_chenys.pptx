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7" r:id="rId2"/>
    <p:sldId id="258" r:id="rId3"/>
    <p:sldId id="273" r:id="rId4"/>
    <p:sldId id="276" r:id="rId5"/>
    <p:sldId id="277" r:id="rId6"/>
    <p:sldId id="275" r:id="rId7"/>
    <p:sldId id="278" r:id="rId8"/>
    <p:sldId id="279" r:id="rId9"/>
    <p:sldId id="280" r:id="rId10"/>
    <p:sldId id="281" r:id="rId11"/>
    <p:sldId id="282" r:id="rId12"/>
    <p:sldId id="283" r:id="rId13"/>
    <p:sldId id="259" r:id="rId14"/>
    <p:sldId id="260" r:id="rId15"/>
    <p:sldId id="261" r:id="rId16"/>
    <p:sldId id="263" r:id="rId17"/>
    <p:sldId id="262" r:id="rId18"/>
    <p:sldId id="264" r:id="rId19"/>
    <p:sldId id="265" r:id="rId20"/>
    <p:sldId id="266" r:id="rId21"/>
    <p:sldId id="267" r:id="rId22"/>
    <p:sldId id="268" r:id="rId23"/>
    <p:sldId id="269" r:id="rId24"/>
    <p:sldId id="289" r:id="rId25"/>
    <p:sldId id="288" r:id="rId26"/>
    <p:sldId id="270" r:id="rId27"/>
    <p:sldId id="271" r:id="rId28"/>
    <p:sldId id="284" r:id="rId29"/>
    <p:sldId id="285" r:id="rId30"/>
    <p:sldId id="286" r:id="rId31"/>
    <p:sldId id="287" r:id="rId32"/>
    <p:sldId id="290" r:id="rId33"/>
    <p:sldId id="291" r:id="rId34"/>
    <p:sldId id="292" r:id="rId35"/>
    <p:sldId id="293" r:id="rId36"/>
    <p:sldId id="294" r:id="rId37"/>
    <p:sldId id="295" r:id="rId38"/>
    <p:sldId id="296" r:id="rId39"/>
    <p:sldId id="298" r:id="rId40"/>
    <p:sldId id="299" r:id="rId41"/>
    <p:sldId id="297" r:id="rId4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191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A1CF15-2253-40A1-83B3-8AA9BDCDC325}" type="datetimeFigureOut">
              <a:rPr lang="zh-TW" altLang="en-US" smtClean="0"/>
              <a:t>2011/11/7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954FE80-24F5-43F4-AB61-E3A5DA9F8F5E}"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9954FE80-24F5-43F4-AB61-E3A5DA9F8F5E}" type="slidenum">
              <a:rPr lang="zh-TW" altLang="en-US" smtClean="0"/>
              <a:t>18</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4FE1A09-AA97-4BB0-9542-D8E051BFA47A}" type="datetimeFigureOut">
              <a:rPr lang="zh-TW" altLang="en-US" smtClean="0"/>
              <a:t>2011/11/7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3E39923-D90C-4762-BFAF-814813C48E82}"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FE1A09-AA97-4BB0-9542-D8E051BFA47A}" type="datetimeFigureOut">
              <a:rPr lang="zh-TW" altLang="en-US" smtClean="0"/>
              <a:t>2011/11/7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E39923-D90C-4762-BFAF-814813C48E82}"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4213" y="692150"/>
            <a:ext cx="7772400" cy="2592388"/>
          </a:xfrm>
        </p:spPr>
        <p:txBody>
          <a:bodyPr rtlCol="0">
            <a:normAutofit/>
          </a:bodyPr>
          <a:lstStyle/>
          <a:p>
            <a:r>
              <a:rPr lang="en-US" altLang="zh-TW" sz="3600" b="1" dirty="0"/>
              <a:t>Gene Expression Programming: A New Adaptive</a:t>
            </a:r>
            <a:br>
              <a:rPr lang="en-US" altLang="zh-TW" sz="3600" b="1" dirty="0"/>
            </a:br>
            <a:r>
              <a:rPr lang="en-US" altLang="zh-TW" sz="3600" b="1" dirty="0"/>
              <a:t>Algorithm for Solving Problems </a:t>
            </a:r>
            <a:r>
              <a:rPr lang="en-US" altLang="zh-TW" dirty="0" smtClean="0"/>
              <a:t/>
            </a:r>
            <a:br>
              <a:rPr lang="en-US" altLang="zh-TW" dirty="0" smtClean="0"/>
            </a:br>
            <a:r>
              <a:rPr lang="en-US" altLang="zh-TW" sz="2400" i="1" dirty="0"/>
              <a:t> Complex Systems, Vol. 13, issue 2: 87-129, 2001</a:t>
            </a:r>
            <a:endParaRPr lang="zh-TW" altLang="en-US" dirty="0"/>
          </a:p>
        </p:txBody>
      </p:sp>
      <p:sp>
        <p:nvSpPr>
          <p:cNvPr id="3" name="副標題 2"/>
          <p:cNvSpPr>
            <a:spLocks noGrp="1"/>
          </p:cNvSpPr>
          <p:nvPr>
            <p:ph type="subTitle" idx="1"/>
          </p:nvPr>
        </p:nvSpPr>
        <p:spPr>
          <a:xfrm>
            <a:off x="1331913" y="3068960"/>
            <a:ext cx="6400800" cy="1440160"/>
          </a:xfrm>
        </p:spPr>
        <p:txBody>
          <a:bodyPr rtlCol="0">
            <a:noAutofit/>
          </a:bodyPr>
          <a:lstStyle/>
          <a:p>
            <a:r>
              <a:rPr lang="en-US" altLang="zh-TW" sz="1600" b="1" dirty="0" err="1"/>
              <a:t>Cândida</a:t>
            </a:r>
            <a:r>
              <a:rPr lang="en-US" altLang="zh-TW" sz="1600" b="1" dirty="0"/>
              <a:t> Ferreira†</a:t>
            </a:r>
          </a:p>
          <a:p>
            <a:r>
              <a:rPr lang="en-US" altLang="zh-TW" sz="1600" dirty="0" err="1"/>
              <a:t>Departamento</a:t>
            </a:r>
            <a:r>
              <a:rPr lang="en-US" altLang="zh-TW" sz="1600" dirty="0"/>
              <a:t> de </a:t>
            </a:r>
            <a:r>
              <a:rPr lang="en-US" altLang="zh-TW" sz="1600" dirty="0" err="1"/>
              <a:t>Ciências</a:t>
            </a:r>
            <a:r>
              <a:rPr lang="en-US" altLang="zh-TW" sz="1600" dirty="0"/>
              <a:t> </a:t>
            </a:r>
            <a:r>
              <a:rPr lang="en-US" altLang="zh-TW" sz="1600" dirty="0" err="1"/>
              <a:t>Agrárias</a:t>
            </a:r>
            <a:endParaRPr lang="en-US" altLang="zh-TW" sz="1600" dirty="0"/>
          </a:p>
          <a:p>
            <a:r>
              <a:rPr lang="en-US" altLang="zh-TW" sz="1600" dirty="0" err="1"/>
              <a:t>Universidade</a:t>
            </a:r>
            <a:r>
              <a:rPr lang="en-US" altLang="zh-TW" sz="1600" dirty="0"/>
              <a:t> dos </a:t>
            </a:r>
            <a:r>
              <a:rPr lang="en-US" altLang="zh-TW" sz="1600" dirty="0" err="1"/>
              <a:t>Açores</a:t>
            </a:r>
            <a:endParaRPr lang="en-US" altLang="zh-TW" sz="1600" dirty="0"/>
          </a:p>
          <a:p>
            <a:r>
              <a:rPr lang="en-US" altLang="zh-TW" sz="1600" dirty="0"/>
              <a:t>9701-851 Terra-</a:t>
            </a:r>
            <a:r>
              <a:rPr lang="en-US" altLang="zh-TW" sz="1600" dirty="0" err="1"/>
              <a:t>Chã</a:t>
            </a:r>
            <a:endParaRPr lang="en-US" altLang="zh-TW" sz="1600" dirty="0"/>
          </a:p>
          <a:p>
            <a:r>
              <a:rPr lang="en-US" altLang="zh-TW" sz="1600" dirty="0" err="1"/>
              <a:t>Angra</a:t>
            </a:r>
            <a:r>
              <a:rPr lang="en-US" altLang="zh-TW" sz="1600" dirty="0"/>
              <a:t> do </a:t>
            </a:r>
            <a:r>
              <a:rPr lang="en-US" altLang="zh-TW" sz="1600" dirty="0" err="1"/>
              <a:t>Heroísmo</a:t>
            </a:r>
            <a:r>
              <a:rPr lang="en-US" altLang="zh-TW" sz="1600" dirty="0"/>
              <a:t>, Portugal</a:t>
            </a:r>
            <a:endParaRPr lang="zh-TW" altLang="en-US" sz="3600" i="1" dirty="0"/>
          </a:p>
        </p:txBody>
      </p:sp>
      <p:sp>
        <p:nvSpPr>
          <p:cNvPr id="4" name="副標題 2"/>
          <p:cNvSpPr txBox="1">
            <a:spLocks/>
          </p:cNvSpPr>
          <p:nvPr/>
        </p:nvSpPr>
        <p:spPr>
          <a:xfrm>
            <a:off x="5003800" y="4797425"/>
            <a:ext cx="3665538" cy="792163"/>
          </a:xfrm>
          <a:prstGeom prst="rect">
            <a:avLst/>
          </a:prstGeom>
        </p:spPr>
        <p:txBody>
          <a:bodyPr>
            <a:normAutofit/>
          </a:bodyPr>
          <a:lstStyle/>
          <a:p>
            <a:pPr algn="r" fontAlgn="auto">
              <a:spcBef>
                <a:spcPct val="20000"/>
              </a:spcBef>
              <a:spcAft>
                <a:spcPts val="0"/>
              </a:spcAft>
              <a:buFont typeface="Arial" pitchFamily="34" charset="0"/>
              <a:buNone/>
              <a:defRPr/>
            </a:pPr>
            <a:r>
              <a:rPr kumimoji="0" lang="en-US" altLang="zh-TW" sz="2000" dirty="0">
                <a:solidFill>
                  <a:schemeClr val="tx1">
                    <a:tint val="75000"/>
                  </a:schemeClr>
                </a:solidFill>
                <a:latin typeface="+mn-lt"/>
                <a:ea typeface="+mn-ea"/>
              </a:rPr>
              <a:t>Presenter: Chen </a:t>
            </a:r>
            <a:r>
              <a:rPr kumimoji="0" lang="en-US" altLang="zh-TW" sz="2000" dirty="0" err="1">
                <a:solidFill>
                  <a:schemeClr val="tx1">
                    <a:tint val="75000"/>
                  </a:schemeClr>
                </a:solidFill>
                <a:latin typeface="+mn-lt"/>
                <a:ea typeface="+mn-ea"/>
              </a:rPr>
              <a:t>Yun-Shiun</a:t>
            </a:r>
            <a:endParaRPr kumimoji="0" lang="en-US" altLang="zh-TW" sz="2000" dirty="0">
              <a:solidFill>
                <a:schemeClr val="tx1">
                  <a:tint val="75000"/>
                </a:schemeClr>
              </a:solidFill>
              <a:latin typeface="+mn-lt"/>
              <a:ea typeface="+mn-ea"/>
            </a:endParaRPr>
          </a:p>
          <a:p>
            <a:pPr algn="r" fontAlgn="auto">
              <a:spcBef>
                <a:spcPct val="20000"/>
              </a:spcBef>
              <a:spcAft>
                <a:spcPts val="0"/>
              </a:spcAft>
              <a:buFont typeface="Arial" pitchFamily="34" charset="0"/>
              <a:buNone/>
              <a:defRPr/>
            </a:pPr>
            <a:r>
              <a:rPr kumimoji="0" lang="en-US" altLang="zh-TW" sz="2000" dirty="0" smtClean="0">
                <a:solidFill>
                  <a:schemeClr val="tx1">
                    <a:tint val="75000"/>
                  </a:schemeClr>
                </a:solidFill>
                <a:latin typeface="+mn-lt"/>
                <a:ea typeface="+mn-ea"/>
              </a:rPr>
              <a:t>Date:2011/11/7</a:t>
            </a:r>
            <a:endParaRPr kumimoji="0" lang="zh-TW" altLang="en-US" sz="2000" dirty="0">
              <a:solidFill>
                <a:schemeClr val="tx1">
                  <a:tint val="75000"/>
                </a:schemeClr>
              </a:solidFill>
              <a:latin typeface="+mn-lt"/>
              <a:ea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62500" lnSpcReduction="20000"/>
          </a:bodyPr>
          <a:lstStyle/>
          <a:p>
            <a:pPr>
              <a:buNone/>
            </a:pPr>
            <a:r>
              <a:rPr lang="en-US" altLang="zh-TW" dirty="0" smtClean="0"/>
              <a:t>	Gene </a:t>
            </a:r>
            <a:r>
              <a:rPr lang="en-US" altLang="zh-TW" dirty="0"/>
              <a:t>expression programming, a genotype/phenotype genetic algorithm (linear and ramified), is </a:t>
            </a:r>
            <a:r>
              <a:rPr lang="en-US" altLang="zh-TW" dirty="0" smtClean="0"/>
              <a:t>presented here </a:t>
            </a:r>
            <a:r>
              <a:rPr lang="en-US" altLang="zh-TW" dirty="0"/>
              <a:t>for the first time as a new technique for the creation of computer programs. Gene expression </a:t>
            </a:r>
            <a:r>
              <a:rPr lang="en-US" altLang="zh-TW" dirty="0" smtClean="0"/>
              <a:t>programming uses </a:t>
            </a:r>
            <a:r>
              <a:rPr lang="en-US" altLang="zh-TW" dirty="0"/>
              <a:t>character linear chromosomes composed of genes structurally organized in a head and a tail. </a:t>
            </a:r>
            <a:r>
              <a:rPr lang="en-US" altLang="zh-TW" dirty="0" smtClean="0"/>
              <a:t>The chromosomes </a:t>
            </a:r>
            <a:r>
              <a:rPr lang="en-US" altLang="zh-TW" dirty="0"/>
              <a:t>function as a genome and are subjected to modification by means of mutation, </a:t>
            </a:r>
            <a:r>
              <a:rPr lang="en-US" altLang="zh-TW" dirty="0" smtClean="0"/>
              <a:t>transposition, root </a:t>
            </a:r>
            <a:r>
              <a:rPr lang="en-US" altLang="zh-TW" dirty="0"/>
              <a:t>transposition, gene transposition, gene recombination, and one- and two-point recombination. The </a:t>
            </a:r>
            <a:r>
              <a:rPr lang="en-US" altLang="zh-TW" dirty="0" smtClean="0"/>
              <a:t>chromosomes encode </a:t>
            </a:r>
            <a:r>
              <a:rPr lang="en-US" altLang="zh-TW" dirty="0"/>
              <a:t>expression trees which are the object of selection. The creation of these separate </a:t>
            </a:r>
            <a:r>
              <a:rPr lang="en-US" altLang="zh-TW" dirty="0" smtClean="0"/>
              <a:t>entities (genome </a:t>
            </a:r>
            <a:r>
              <a:rPr lang="en-US" altLang="zh-TW" dirty="0"/>
              <a:t>and expression tree) with distinct functions allows the algorithm to perform with high efficiency </a:t>
            </a:r>
            <a:r>
              <a:rPr lang="en-US" altLang="zh-TW" dirty="0" smtClean="0"/>
              <a:t>that greatly </a:t>
            </a:r>
            <a:r>
              <a:rPr lang="en-US" altLang="zh-TW" dirty="0"/>
              <a:t>surpasses existing adaptive techniques. The suite of problems chosen to illustrate the power </a:t>
            </a:r>
            <a:r>
              <a:rPr lang="en-US" altLang="zh-TW" dirty="0" smtClean="0"/>
              <a:t>and versatility </a:t>
            </a:r>
            <a:r>
              <a:rPr lang="en-US" altLang="zh-TW" dirty="0"/>
              <a:t>of gene expression programming includes symbolic regression, sequence induction with and </a:t>
            </a:r>
            <a:r>
              <a:rPr lang="en-US" altLang="zh-TW" dirty="0" smtClean="0"/>
              <a:t>without constant </a:t>
            </a:r>
            <a:r>
              <a:rPr lang="en-US" altLang="zh-TW" dirty="0"/>
              <a:t>creation, block stacking, cellular automata rules for the density-classification problem, and </a:t>
            </a:r>
            <a:r>
              <a:rPr lang="en-US" altLang="zh-TW" dirty="0" smtClean="0"/>
              <a:t>two problems </a:t>
            </a:r>
            <a:r>
              <a:rPr lang="en-US" altLang="zh-TW" dirty="0"/>
              <a:t>of </a:t>
            </a:r>
            <a:r>
              <a:rPr lang="en-US" altLang="zh-TW" dirty="0" err="1"/>
              <a:t>boolean</a:t>
            </a:r>
            <a:r>
              <a:rPr lang="en-US" altLang="zh-TW" dirty="0"/>
              <a:t> concept learning: the 11-multiplexer and the GP rule problem.</a:t>
            </a:r>
            <a:endParaRPr lang="zh-TW"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Genetic Algorithm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cs typeface="Times New Roman" pitchFamily="18" charset="0"/>
              </a:rPr>
              <a:t>Proposed by John </a:t>
            </a:r>
            <a:r>
              <a:rPr lang="en-US" altLang="zh-TW" dirty="0" smtClean="0">
                <a:latin typeface="Times New Roman" pitchFamily="18" charset="0"/>
                <a:cs typeface="Times New Roman" pitchFamily="18" charset="0"/>
              </a:rPr>
              <a:t>Holland, 1975</a:t>
            </a:r>
          </a:p>
          <a:p>
            <a:r>
              <a:rPr lang="zh-TW" altLang="en-US" dirty="0">
                <a:latin typeface="標楷體" pitchFamily="65" charset="-120"/>
                <a:ea typeface="標楷體" pitchFamily="65" charset="-120"/>
              </a:rPr>
              <a:t>仿效生物界中的物競天擇的自然進化的法則</a:t>
            </a:r>
            <a:r>
              <a:rPr lang="zh-TW" altLang="en-US" dirty="0" smtClean="0">
                <a:latin typeface="標楷體" pitchFamily="65" charset="-120"/>
                <a:ea typeface="標楷體" pitchFamily="65" charset="-120"/>
              </a:rPr>
              <a:t>。由</a:t>
            </a:r>
            <a:r>
              <a:rPr lang="zh-TW" altLang="en-US" dirty="0">
                <a:latin typeface="標楷體" pitchFamily="65" charset="-120"/>
                <a:ea typeface="標楷體" pitchFamily="65" charset="-120"/>
              </a:rPr>
              <a:t>物種中選擇較好特性的母代，隨機性相互</a:t>
            </a:r>
            <a:r>
              <a:rPr lang="zh-TW" altLang="en-US" dirty="0" smtClean="0">
                <a:latin typeface="標楷體" pitchFamily="65" charset="-120"/>
                <a:ea typeface="標楷體" pitchFamily="65" charset="-120"/>
              </a:rPr>
              <a:t>交換</a:t>
            </a:r>
            <a:r>
              <a:rPr lang="zh-TW" altLang="en-US" dirty="0">
                <a:latin typeface="標楷體" pitchFamily="65" charset="-120"/>
                <a:ea typeface="標楷體" pitchFamily="65" charset="-120"/>
              </a:rPr>
              <a:t>位元資訊，以期產生更為優秀的的子代，</a:t>
            </a:r>
            <a:r>
              <a:rPr lang="zh-TW" altLang="en-US" dirty="0" smtClean="0">
                <a:latin typeface="標楷體" pitchFamily="65" charset="-120"/>
                <a:ea typeface="標楷體" pitchFamily="65" charset="-120"/>
              </a:rPr>
              <a:t>重複</a:t>
            </a:r>
            <a:r>
              <a:rPr lang="zh-TW" altLang="en-US" dirty="0">
                <a:latin typeface="標楷體" pitchFamily="65" charset="-120"/>
                <a:ea typeface="標楷體" pitchFamily="65" charset="-120"/>
              </a:rPr>
              <a:t>下去，產生適應性最強的最佳</a:t>
            </a:r>
            <a:r>
              <a:rPr lang="zh-TW" altLang="en-US" dirty="0" smtClean="0">
                <a:latin typeface="標楷體" pitchFamily="65" charset="-120"/>
                <a:ea typeface="標楷體" pitchFamily="65" charset="-120"/>
              </a:rPr>
              <a:t>物種。</a:t>
            </a:r>
            <a:endParaRPr lang="zh-TW" altLang="en-US" dirty="0">
              <a:latin typeface="標楷體" pitchFamily="65" charset="-120"/>
              <a:ea typeface="標楷體" pitchFamily="65" charset="-120"/>
            </a:endParaRPr>
          </a:p>
        </p:txBody>
      </p:sp>
    </p:spTree>
    <p:extLst>
      <p:ext uri="{BB962C8B-B14F-4D97-AF65-F5344CB8AC3E}">
        <p14:creationId xmlns:p14="http://schemas.microsoft.com/office/powerpoint/2010/main" xmlns="" val="1489714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Genetic Programming</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在</a:t>
            </a:r>
            <a:r>
              <a:rPr lang="en-US" altLang="zh-TW" dirty="0"/>
              <a:t>1989</a:t>
            </a:r>
            <a:r>
              <a:rPr lang="zh-TW" altLang="en-US" dirty="0"/>
              <a:t>年時，</a:t>
            </a:r>
            <a:r>
              <a:rPr lang="en-US" altLang="zh-TW" dirty="0"/>
              <a:t>John </a:t>
            </a:r>
            <a:r>
              <a:rPr lang="en-US" altLang="zh-TW" dirty="0" err="1"/>
              <a:t>Koza</a:t>
            </a:r>
            <a:r>
              <a:rPr lang="zh-TW" altLang="en-US" dirty="0"/>
              <a:t>將遺傳演算法（</a:t>
            </a:r>
            <a:r>
              <a:rPr lang="en-US" altLang="zh-TW" dirty="0"/>
              <a:t>Genetic Algorithm, GA</a:t>
            </a:r>
            <a:r>
              <a:rPr lang="zh-TW" altLang="en-US" dirty="0"/>
              <a:t>）再延伸成基因規劃法（</a:t>
            </a:r>
            <a:r>
              <a:rPr lang="en-US" altLang="zh-TW" dirty="0"/>
              <a:t>Genetic Program, GP</a:t>
            </a:r>
            <a:r>
              <a:rPr lang="zh-TW" altLang="en-US" dirty="0"/>
              <a:t>），將演化單位從固定長度的二元字串擴充成可以變動大小和形狀的分析樹（</a:t>
            </a:r>
            <a:r>
              <a:rPr lang="en-US" altLang="zh-TW" dirty="0"/>
              <a:t>parse tree</a:t>
            </a:r>
            <a:r>
              <a:rPr lang="zh-TW" altLang="en-US" dirty="0"/>
              <a:t>），用以代表電腦程式、函數或交易</a:t>
            </a:r>
            <a:r>
              <a:rPr lang="zh-TW" altLang="en-US" dirty="0" smtClean="0"/>
              <a:t>策略。</a:t>
            </a:r>
            <a:r>
              <a:rPr lang="zh-TW" altLang="en-US" dirty="0"/>
              <a:t>而在</a:t>
            </a:r>
            <a:r>
              <a:rPr lang="en-US" altLang="zh-TW" dirty="0"/>
              <a:t>1992</a:t>
            </a:r>
            <a:r>
              <a:rPr lang="zh-TW" altLang="en-US" dirty="0"/>
              <a:t>年，他利用基因演算法發展了一套電腦程式來解決了一些問題，他稱此程式為「 </a:t>
            </a:r>
            <a:r>
              <a:rPr lang="en-US" altLang="zh-TW" dirty="0"/>
              <a:t>Genetic Programming</a:t>
            </a:r>
            <a:r>
              <a:rPr lang="zh-TW" altLang="en-US" dirty="0"/>
              <a:t>」，他使用 </a:t>
            </a:r>
            <a:r>
              <a:rPr lang="en-US" altLang="zh-TW" dirty="0"/>
              <a:t>LISP </a:t>
            </a:r>
            <a:r>
              <a:rPr lang="zh-TW" altLang="en-US" dirty="0"/>
              <a:t>語言來撰寫他的程式，因為 </a:t>
            </a:r>
            <a:r>
              <a:rPr lang="en-US" altLang="zh-TW" dirty="0"/>
              <a:t>LISP </a:t>
            </a:r>
            <a:r>
              <a:rPr lang="zh-TW" altLang="en-US" dirty="0"/>
              <a:t>語言可以表示分析樹的</a:t>
            </a:r>
            <a:r>
              <a:rPr lang="zh-TW" altLang="en-US" dirty="0" smtClean="0"/>
              <a:t>型式。</a:t>
            </a:r>
            <a:endParaRPr lang="en-US" altLang="zh-TW" dirty="0" smtClean="0"/>
          </a:p>
          <a:p>
            <a:endParaRPr lang="zh-TW" altLang="en-US" dirty="0"/>
          </a:p>
        </p:txBody>
      </p:sp>
    </p:spTree>
    <p:extLst>
      <p:ext uri="{BB962C8B-B14F-4D97-AF65-F5344CB8AC3E}">
        <p14:creationId xmlns:p14="http://schemas.microsoft.com/office/powerpoint/2010/main" xmlns="" val="264855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標題 1"/>
          <p:cNvSpPr>
            <a:spLocks noGrp="1"/>
          </p:cNvSpPr>
          <p:nvPr>
            <p:ph type="title"/>
          </p:nvPr>
        </p:nvSpPr>
        <p:spPr bwMode="auto"/>
        <p:txBody>
          <a:bodyPr vert="horz" wrap="square" lIns="91440" tIns="45720" rIns="91440" bIns="45720" numCol="1" anchorCtr="0" compatLnSpc="1">
            <a:prstTxWarp prst="textNoShape">
              <a:avLst/>
            </a:prstTxWarp>
          </a:bodyPr>
          <a:lstStyle/>
          <a:p>
            <a:pPr marL="342900" indent="-342900" algn="ctr" eaLnBrk="1" hangingPunct="1"/>
            <a:r>
              <a:rPr lang="en-US" altLang="zh-TW" dirty="0" smtClean="0">
                <a:effectLst/>
                <a:latin typeface="Times New Roman" pitchFamily="18" charset="0"/>
                <a:cs typeface="Times New Roman" pitchFamily="18" charset="0"/>
              </a:rPr>
              <a:t>Genetic Programming(GP)</a:t>
            </a:r>
            <a:endParaRPr lang="zh-TW" altLang="en-US" dirty="0" smtClean="0">
              <a:effectLst/>
            </a:endParaRPr>
          </a:p>
        </p:txBody>
      </p:sp>
      <p:pic>
        <p:nvPicPr>
          <p:cNvPr id="12" name="內容版面配置區 11" descr="GP_example.bmp"/>
          <p:cNvPicPr>
            <a:picLocks noGrp="1" noChangeAspect="1"/>
          </p:cNvPicPr>
          <p:nvPr>
            <p:ph idx="1"/>
          </p:nvPr>
        </p:nvPicPr>
        <p:blipFill>
          <a:blip r:embed="rId2" cstate="print"/>
          <a:stretch>
            <a:fillRect/>
          </a:stretch>
        </p:blipFill>
        <p:spPr>
          <a:xfrm>
            <a:off x="1835696" y="2852936"/>
            <a:ext cx="2871177" cy="3456384"/>
          </a:xfrm>
        </p:spPr>
      </p:pic>
      <p:sp>
        <p:nvSpPr>
          <p:cNvPr id="11" name="矩形 4"/>
          <p:cNvSpPr>
            <a:spLocks noChangeArrowheads="1"/>
          </p:cNvSpPr>
          <p:nvPr/>
        </p:nvSpPr>
        <p:spPr bwMode="auto">
          <a:xfrm>
            <a:off x="1285875" y="1357313"/>
            <a:ext cx="7429500" cy="1200150"/>
          </a:xfrm>
          <a:prstGeom prst="rect">
            <a:avLst/>
          </a:prstGeom>
          <a:noFill/>
          <a:ln w="9525">
            <a:noFill/>
            <a:miter lim="800000"/>
            <a:headEnd/>
            <a:tailEnd/>
          </a:ln>
        </p:spPr>
        <p:txBody>
          <a:bodyPr>
            <a:spAutoFit/>
          </a:bodyPr>
          <a:lstStyle/>
          <a:p>
            <a:pPr>
              <a:buFont typeface="Arial" charset="0"/>
              <a:buChar char="•"/>
            </a:pPr>
            <a:r>
              <a:rPr kumimoji="0" lang="en-US" altLang="zh-TW" sz="2400" dirty="0">
                <a:latin typeface="Times New Roman" pitchFamily="18" charset="0"/>
                <a:ea typeface="微軟正黑體" pitchFamily="34" charset="-120"/>
                <a:cs typeface="Times New Roman" pitchFamily="18" charset="0"/>
              </a:rPr>
              <a:t>Extension of genetic algorithm (GA)</a:t>
            </a:r>
          </a:p>
          <a:p>
            <a:pPr>
              <a:buFont typeface="Arial" charset="0"/>
              <a:buChar char="•"/>
            </a:pPr>
            <a:r>
              <a:rPr kumimoji="0" lang="en-US" altLang="zh-TW" sz="2400" dirty="0">
                <a:latin typeface="Times New Roman" pitchFamily="18" charset="0"/>
                <a:ea typeface="微軟正黑體" pitchFamily="34" charset="-120"/>
                <a:cs typeface="Times New Roman" pitchFamily="18" charset="0"/>
              </a:rPr>
              <a:t>Major difference between GP and GA: </a:t>
            </a:r>
            <a:r>
              <a:rPr kumimoji="0" lang="en-US" altLang="zh-TW" sz="2400" dirty="0">
                <a:solidFill>
                  <a:srgbClr val="FF0000"/>
                </a:solidFill>
                <a:latin typeface="Times New Roman" pitchFamily="18" charset="0"/>
                <a:ea typeface="微軟正黑體" pitchFamily="34" charset="-120"/>
                <a:cs typeface="Times New Roman" pitchFamily="18" charset="0"/>
              </a:rPr>
              <a:t>the </a:t>
            </a:r>
            <a:r>
              <a:rPr kumimoji="0" lang="en-US" altLang="zh-TW" sz="2400" u="sng" dirty="0">
                <a:solidFill>
                  <a:srgbClr val="FF0000"/>
                </a:solidFill>
                <a:latin typeface="Times New Roman" pitchFamily="18" charset="0"/>
                <a:ea typeface="微軟正黑體" pitchFamily="34" charset="-120"/>
                <a:cs typeface="Times New Roman" pitchFamily="18" charset="0"/>
              </a:rPr>
              <a:t>representation</a:t>
            </a:r>
            <a:r>
              <a:rPr kumimoji="0" lang="en-US" altLang="zh-TW" sz="2400" dirty="0">
                <a:solidFill>
                  <a:srgbClr val="FF0000"/>
                </a:solidFill>
                <a:latin typeface="Times New Roman" pitchFamily="18" charset="0"/>
                <a:ea typeface="微軟正黑體" pitchFamily="34" charset="-120"/>
                <a:cs typeface="Times New Roman" pitchFamily="18" charset="0"/>
              </a:rPr>
              <a:t> of the candidate solution</a:t>
            </a:r>
            <a:endParaRPr kumimoji="0" lang="zh-TW" altLang="en-US" sz="2400" dirty="0">
              <a:solidFill>
                <a:srgbClr val="FF0000"/>
              </a:solidFill>
              <a:latin typeface="Times New Roman" pitchFamily="18" charset="0"/>
              <a:ea typeface="微軟正黑體" pitchFamily="34" charset="-120"/>
              <a:cs typeface="Times New Roman" pitchFamily="18" charset="0"/>
            </a:endParaRPr>
          </a:p>
        </p:txBody>
      </p:sp>
      <p:sp>
        <p:nvSpPr>
          <p:cNvPr id="17" name="文字方塊 16"/>
          <p:cNvSpPr txBox="1"/>
          <p:nvPr/>
        </p:nvSpPr>
        <p:spPr>
          <a:xfrm>
            <a:off x="5148064" y="3789040"/>
            <a:ext cx="2880320" cy="923330"/>
          </a:xfrm>
          <a:prstGeom prst="rect">
            <a:avLst/>
          </a:prstGeom>
          <a:noFill/>
        </p:spPr>
        <p:txBody>
          <a:bodyPr wrap="square" rtlCol="0">
            <a:spAutoFit/>
          </a:bodyPr>
          <a:lstStyle/>
          <a:p>
            <a:r>
              <a:rPr kumimoji="0" lang="en-US" altLang="zh-TW" dirty="0">
                <a:latin typeface="Times New Roman" pitchFamily="18" charset="0"/>
                <a:cs typeface="Times New Roman" pitchFamily="18" charset="0"/>
              </a:rPr>
              <a:t>The tree structure of GP which represents a </a:t>
            </a:r>
            <a:r>
              <a:rPr kumimoji="0" lang="en-US" altLang="zh-TW" dirty="0" smtClean="0">
                <a:latin typeface="Times New Roman" pitchFamily="18" charset="0"/>
                <a:cs typeface="Times New Roman" pitchFamily="18" charset="0"/>
              </a:rPr>
              <a:t>formula</a:t>
            </a:r>
          </a:p>
          <a:p>
            <a:r>
              <a:rPr kumimoji="0" lang="en-US" altLang="zh-TW" dirty="0" smtClean="0">
                <a:latin typeface="Times New Roman" pitchFamily="18" charset="0"/>
                <a:cs typeface="Times New Roman" pitchFamily="18" charset="0"/>
              </a:rPr>
              <a:t>X – 5*Y +6</a:t>
            </a:r>
            <a:endParaRPr lang="zh-TW" altLang="en-US" dirty="0"/>
          </a:p>
        </p:txBody>
      </p:sp>
      <p:sp>
        <p:nvSpPr>
          <p:cNvPr id="6" name="投影片編號版面配置區 5"/>
          <p:cNvSpPr>
            <a:spLocks noGrp="1"/>
          </p:cNvSpPr>
          <p:nvPr>
            <p:ph type="sldNum" sz="quarter" idx="12"/>
          </p:nvPr>
        </p:nvSpPr>
        <p:spPr/>
        <p:txBody>
          <a:bodyPr/>
          <a:lstStyle/>
          <a:p>
            <a:pPr>
              <a:defRPr/>
            </a:pPr>
            <a:fld id="{0A6A15A4-0ABF-4AB4-BEFB-A6C5DAE6CC1A}" type="slidenum">
              <a:rPr lang="zh-TW" altLang="en-US" smtClean="0"/>
              <a:pPr>
                <a:defRPr/>
              </a:pPr>
              <a:t>5</a:t>
            </a:fld>
            <a:endParaRPr lang="zh-TW" altLang="en-US"/>
          </a:p>
        </p:txBody>
      </p:sp>
    </p:spTree>
    <p:extLst>
      <p:ext uri="{BB962C8B-B14F-4D97-AF65-F5344CB8AC3E}">
        <p14:creationId xmlns:p14="http://schemas.microsoft.com/office/powerpoint/2010/main" xmlns="" val="22814809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圖: 程序 4"/>
          <p:cNvSpPr/>
          <p:nvPr/>
        </p:nvSpPr>
        <p:spPr>
          <a:xfrm>
            <a:off x="3253111" y="116632"/>
            <a:ext cx="1728192" cy="3063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rgbClr val="FF0000"/>
                </a:solidFill>
              </a:rPr>
              <a:t>開始</a:t>
            </a:r>
            <a:endParaRPr lang="zh-TW" altLang="en-US" sz="1600" dirty="0">
              <a:solidFill>
                <a:srgbClr val="FF0000"/>
              </a:solidFill>
            </a:endParaRPr>
          </a:p>
        </p:txBody>
      </p:sp>
      <p:sp>
        <p:nvSpPr>
          <p:cNvPr id="6" name="流程圖: 程序 5"/>
          <p:cNvSpPr/>
          <p:nvPr/>
        </p:nvSpPr>
        <p:spPr>
          <a:xfrm>
            <a:off x="3253111" y="1205812"/>
            <a:ext cx="1728192" cy="3063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rgbClr val="FF0000"/>
                </a:solidFill>
              </a:rPr>
              <a:t>產生初始解</a:t>
            </a:r>
            <a:endParaRPr lang="zh-TW" altLang="en-US" sz="1600" dirty="0">
              <a:solidFill>
                <a:srgbClr val="FF0000"/>
              </a:solidFill>
            </a:endParaRPr>
          </a:p>
        </p:txBody>
      </p:sp>
      <p:sp>
        <p:nvSpPr>
          <p:cNvPr id="8" name="流程圖: 程序 7"/>
          <p:cNvSpPr/>
          <p:nvPr/>
        </p:nvSpPr>
        <p:spPr>
          <a:xfrm>
            <a:off x="3263118" y="1988840"/>
            <a:ext cx="1728192" cy="3063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rgbClr val="FF0000"/>
                </a:solidFill>
              </a:rPr>
              <a:t>計算適應度函數</a:t>
            </a:r>
            <a:endParaRPr lang="zh-TW" altLang="en-US" sz="1600" dirty="0">
              <a:solidFill>
                <a:srgbClr val="FF0000"/>
              </a:solidFill>
            </a:endParaRPr>
          </a:p>
        </p:txBody>
      </p:sp>
      <p:sp>
        <p:nvSpPr>
          <p:cNvPr id="9" name="流程圖: 程序 8"/>
          <p:cNvSpPr/>
          <p:nvPr/>
        </p:nvSpPr>
        <p:spPr>
          <a:xfrm>
            <a:off x="3263118" y="2708920"/>
            <a:ext cx="1728192" cy="3063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rgbClr val="FF0000"/>
                </a:solidFill>
              </a:rPr>
              <a:t>複製</a:t>
            </a:r>
            <a:endParaRPr lang="zh-TW" altLang="en-US" sz="1600" dirty="0">
              <a:solidFill>
                <a:srgbClr val="FF0000"/>
              </a:solidFill>
            </a:endParaRPr>
          </a:p>
        </p:txBody>
      </p:sp>
      <p:sp>
        <p:nvSpPr>
          <p:cNvPr id="10" name="流程圖: 程序 9"/>
          <p:cNvSpPr/>
          <p:nvPr/>
        </p:nvSpPr>
        <p:spPr>
          <a:xfrm>
            <a:off x="3275856" y="3275838"/>
            <a:ext cx="1728192" cy="3063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rgbClr val="FF0000"/>
                </a:solidFill>
              </a:rPr>
              <a:t>交配</a:t>
            </a:r>
            <a:endParaRPr lang="zh-TW" altLang="en-US" sz="1600" dirty="0">
              <a:solidFill>
                <a:srgbClr val="FF0000"/>
              </a:solidFill>
            </a:endParaRPr>
          </a:p>
        </p:txBody>
      </p:sp>
      <p:sp>
        <p:nvSpPr>
          <p:cNvPr id="11" name="流程圖: 程序 10"/>
          <p:cNvSpPr/>
          <p:nvPr/>
        </p:nvSpPr>
        <p:spPr>
          <a:xfrm>
            <a:off x="3276248" y="3861048"/>
            <a:ext cx="1728192" cy="3063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rgbClr val="FF0000"/>
                </a:solidFill>
              </a:rPr>
              <a:t>突變</a:t>
            </a:r>
            <a:endParaRPr lang="zh-TW" altLang="en-US" sz="1600" dirty="0">
              <a:solidFill>
                <a:srgbClr val="FF0000"/>
              </a:solidFill>
            </a:endParaRPr>
          </a:p>
        </p:txBody>
      </p:sp>
      <p:sp>
        <p:nvSpPr>
          <p:cNvPr id="12" name="流程圖: 程序 11"/>
          <p:cNvSpPr/>
          <p:nvPr/>
        </p:nvSpPr>
        <p:spPr>
          <a:xfrm>
            <a:off x="3275856" y="4365104"/>
            <a:ext cx="1728192" cy="3063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rgbClr val="FF0000"/>
                </a:solidFill>
              </a:rPr>
              <a:t>取代</a:t>
            </a:r>
            <a:endParaRPr lang="zh-TW" altLang="en-US" sz="1600" dirty="0">
              <a:solidFill>
                <a:srgbClr val="FF0000"/>
              </a:solidFill>
            </a:endParaRPr>
          </a:p>
        </p:txBody>
      </p:sp>
      <p:sp>
        <p:nvSpPr>
          <p:cNvPr id="13" name="流程圖: 決策 12"/>
          <p:cNvSpPr/>
          <p:nvPr/>
        </p:nvSpPr>
        <p:spPr>
          <a:xfrm>
            <a:off x="2939994" y="5013176"/>
            <a:ext cx="2400699" cy="612648"/>
          </a:xfrm>
          <a:prstGeom prst="flowChartDecis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dirty="0" smtClean="0">
                <a:solidFill>
                  <a:srgbClr val="FF0000"/>
                </a:solidFill>
              </a:rPr>
              <a:t>是否達到終止條件</a:t>
            </a:r>
            <a:endParaRPr lang="zh-TW" altLang="en-US" sz="1200" dirty="0">
              <a:solidFill>
                <a:srgbClr val="FF0000"/>
              </a:solidFill>
            </a:endParaRPr>
          </a:p>
        </p:txBody>
      </p:sp>
      <p:sp>
        <p:nvSpPr>
          <p:cNvPr id="15" name="流程圖: 程序 14"/>
          <p:cNvSpPr/>
          <p:nvPr/>
        </p:nvSpPr>
        <p:spPr>
          <a:xfrm>
            <a:off x="3276248" y="6038129"/>
            <a:ext cx="1728192" cy="306324"/>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smtClean="0">
                <a:solidFill>
                  <a:srgbClr val="FF0000"/>
                </a:solidFill>
              </a:rPr>
              <a:t>結束</a:t>
            </a:r>
            <a:endParaRPr lang="zh-TW" altLang="en-US" sz="1600" dirty="0">
              <a:solidFill>
                <a:srgbClr val="FF0000"/>
              </a:solidFill>
            </a:endParaRPr>
          </a:p>
        </p:txBody>
      </p:sp>
      <p:cxnSp>
        <p:nvCxnSpPr>
          <p:cNvPr id="20" name="直線單箭頭接點 19"/>
          <p:cNvCxnSpPr>
            <a:stCxn id="5" idx="2"/>
            <a:endCxn id="6" idx="0"/>
          </p:cNvCxnSpPr>
          <p:nvPr/>
        </p:nvCxnSpPr>
        <p:spPr>
          <a:xfrm>
            <a:off x="4117207" y="422956"/>
            <a:ext cx="0" cy="7828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a:stCxn id="6" idx="2"/>
            <a:endCxn id="8" idx="0"/>
          </p:cNvCxnSpPr>
          <p:nvPr/>
        </p:nvCxnSpPr>
        <p:spPr>
          <a:xfrm>
            <a:off x="4117207" y="1512136"/>
            <a:ext cx="10007" cy="4767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stCxn id="8" idx="2"/>
            <a:endCxn id="9" idx="0"/>
          </p:cNvCxnSpPr>
          <p:nvPr/>
        </p:nvCxnSpPr>
        <p:spPr>
          <a:xfrm>
            <a:off x="4127214" y="2295164"/>
            <a:ext cx="0" cy="4137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a:stCxn id="9" idx="2"/>
            <a:endCxn id="10" idx="0"/>
          </p:cNvCxnSpPr>
          <p:nvPr/>
        </p:nvCxnSpPr>
        <p:spPr>
          <a:xfrm>
            <a:off x="4127214" y="3015244"/>
            <a:ext cx="12738" cy="2605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a:stCxn id="10" idx="2"/>
            <a:endCxn id="11" idx="0"/>
          </p:cNvCxnSpPr>
          <p:nvPr/>
        </p:nvCxnSpPr>
        <p:spPr>
          <a:xfrm>
            <a:off x="4139952" y="3582162"/>
            <a:ext cx="392" cy="2788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a:stCxn id="11" idx="2"/>
            <a:endCxn id="12" idx="0"/>
          </p:cNvCxnSpPr>
          <p:nvPr/>
        </p:nvCxnSpPr>
        <p:spPr>
          <a:xfrm flipH="1">
            <a:off x="4139952" y="4167372"/>
            <a:ext cx="392" cy="1977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a:stCxn id="12" idx="2"/>
            <a:endCxn id="13" idx="0"/>
          </p:cNvCxnSpPr>
          <p:nvPr/>
        </p:nvCxnSpPr>
        <p:spPr>
          <a:xfrm>
            <a:off x="4139952" y="4671428"/>
            <a:ext cx="392" cy="3417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a:stCxn id="13" idx="2"/>
            <a:endCxn id="15" idx="0"/>
          </p:cNvCxnSpPr>
          <p:nvPr/>
        </p:nvCxnSpPr>
        <p:spPr>
          <a:xfrm>
            <a:off x="4140344" y="5625824"/>
            <a:ext cx="0" cy="4123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肘形接點 44"/>
          <p:cNvCxnSpPr/>
          <p:nvPr/>
        </p:nvCxnSpPr>
        <p:spPr>
          <a:xfrm rot="10800000" flipH="1">
            <a:off x="2939994" y="2142002"/>
            <a:ext cx="313117" cy="3177498"/>
          </a:xfrm>
          <a:prstGeom prst="bentConnector4">
            <a:avLst>
              <a:gd name="adj1" fmla="val -73008"/>
              <a:gd name="adj2" fmla="val 100590"/>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882117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crossover</a:t>
            </a:r>
            <a:endParaRPr lang="zh-TW" altLang="en-US" dirty="0"/>
          </a:p>
        </p:txBody>
      </p:sp>
      <p:sp>
        <p:nvSpPr>
          <p:cNvPr id="3" name="內容版面配置區 2"/>
          <p:cNvSpPr>
            <a:spLocks noGrp="1"/>
          </p:cNvSpPr>
          <p:nvPr>
            <p:ph idx="1"/>
          </p:nvPr>
        </p:nvSpPr>
        <p:spPr/>
        <p:txBody>
          <a:bodyPr/>
          <a:lstStyle/>
          <a:p>
            <a:r>
              <a:rPr lang="zh-TW" altLang="en-US" dirty="0"/>
              <a:t>交配運算式，依據交配率從一族群中隨機地任意兩個字元串，經彼此交換字元串的某些位元資訊而產生兩個新位元字串的一種過程，一般而言交配運算可以用</a:t>
            </a:r>
            <a:r>
              <a:rPr lang="en-US" altLang="zh-TW" dirty="0"/>
              <a:t>:</a:t>
            </a:r>
          </a:p>
          <a:p>
            <a:r>
              <a:rPr lang="en-US" altLang="zh-TW" dirty="0"/>
              <a:t>(a)</a:t>
            </a:r>
            <a:r>
              <a:rPr lang="zh-TW" altLang="en-US" dirty="0"/>
              <a:t>單點交配</a:t>
            </a:r>
          </a:p>
          <a:p>
            <a:r>
              <a:rPr lang="en-US" altLang="zh-TW" dirty="0"/>
              <a:t>(b)</a:t>
            </a:r>
            <a:r>
              <a:rPr lang="zh-TW" altLang="en-US" dirty="0"/>
              <a:t>兩點交配</a:t>
            </a:r>
          </a:p>
          <a:p>
            <a:r>
              <a:rPr lang="en-US" altLang="zh-TW" dirty="0"/>
              <a:t>(c</a:t>
            </a:r>
            <a:r>
              <a:rPr lang="en-US" altLang="zh-TW" dirty="0" smtClean="0"/>
              <a:t>)</a:t>
            </a:r>
            <a:r>
              <a:rPr lang="zh-TW" altLang="en-US" dirty="0" smtClean="0"/>
              <a:t>定點交配</a:t>
            </a:r>
            <a:endParaRPr lang="zh-TW" altLang="en-US" dirty="0"/>
          </a:p>
          <a:p>
            <a:endParaRPr lang="zh-TW" altLang="en-US" dirty="0"/>
          </a:p>
        </p:txBody>
      </p:sp>
    </p:spTree>
    <p:extLst>
      <p:ext uri="{BB962C8B-B14F-4D97-AF65-F5344CB8AC3E}">
        <p14:creationId xmlns:p14="http://schemas.microsoft.com/office/powerpoint/2010/main" xmlns="" val="747506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smtClean="0"/>
              <a:t>單</a:t>
            </a:r>
            <a:r>
              <a:rPr lang="zh-TW" altLang="en-US" dirty="0"/>
              <a:t>點</a:t>
            </a:r>
            <a:r>
              <a:rPr lang="zh-TW" altLang="en-US" dirty="0" smtClean="0"/>
              <a:t>交配</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xmlns="" val="2450837494"/>
              </p:ext>
            </p:extLst>
          </p:nvPr>
        </p:nvGraphicFramePr>
        <p:xfrm>
          <a:off x="467544" y="1412776"/>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r>
            </a:tbl>
          </a:graphicData>
        </a:graphic>
      </p:graphicFrame>
      <p:graphicFrame>
        <p:nvGraphicFramePr>
          <p:cNvPr id="5" name="內容版面配置區 3"/>
          <p:cNvGraphicFramePr>
            <a:graphicFrameLocks/>
          </p:cNvGraphicFramePr>
          <p:nvPr>
            <p:extLst>
              <p:ext uri="{D42A27DB-BD31-4B8C-83A1-F6EECF244321}">
                <p14:modId xmlns:p14="http://schemas.microsoft.com/office/powerpoint/2010/main" xmlns="" val="3392710205"/>
              </p:ext>
            </p:extLst>
          </p:nvPr>
        </p:nvGraphicFramePr>
        <p:xfrm>
          <a:off x="467544" y="2420888"/>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002060"/>
                          </a:solidFill>
                        </a:rPr>
                        <a:t>0</a:t>
                      </a:r>
                      <a:endParaRPr lang="zh-TW" altLang="en-US" dirty="0">
                        <a:solidFill>
                          <a:srgbClr val="002060"/>
                        </a:solidFill>
                      </a:endParaRPr>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solidFill>
                            <a:srgbClr val="002060"/>
                          </a:solidFill>
                        </a:rPr>
                        <a:t>0</a:t>
                      </a:r>
                      <a:endParaRPr lang="zh-TW" altLang="en-US" dirty="0">
                        <a:solidFill>
                          <a:srgbClr val="002060"/>
                        </a:solidFill>
                      </a:endParaRPr>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solidFill>
                            <a:srgbClr val="002060"/>
                          </a:solidFill>
                        </a:rPr>
                        <a:t>0</a:t>
                      </a:r>
                      <a:endParaRPr lang="zh-TW" altLang="en-US" dirty="0">
                        <a:solidFill>
                          <a:srgbClr val="002060"/>
                        </a:solidFill>
                      </a:endParaRPr>
                    </a:p>
                  </a:txBody>
                  <a:tcPr/>
                </a:tc>
              </a:tr>
            </a:tbl>
          </a:graphicData>
        </a:graphic>
      </p:graphicFrame>
      <p:graphicFrame>
        <p:nvGraphicFramePr>
          <p:cNvPr id="6" name="內容版面配置區 3"/>
          <p:cNvGraphicFramePr>
            <a:graphicFrameLocks/>
          </p:cNvGraphicFramePr>
          <p:nvPr>
            <p:extLst>
              <p:ext uri="{D42A27DB-BD31-4B8C-83A1-F6EECF244321}">
                <p14:modId xmlns:p14="http://schemas.microsoft.com/office/powerpoint/2010/main" xmlns="" val="3756719830"/>
              </p:ext>
            </p:extLst>
          </p:nvPr>
        </p:nvGraphicFramePr>
        <p:xfrm>
          <a:off x="539552" y="4509120"/>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002060"/>
                          </a:solidFill>
                        </a:rPr>
                        <a:t>0</a:t>
                      </a:r>
                      <a:endParaRPr lang="zh-TW" altLang="en-US" dirty="0">
                        <a:solidFill>
                          <a:srgbClr val="002060"/>
                        </a:solidFill>
                      </a:endParaRPr>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solidFill>
                            <a:srgbClr val="002060"/>
                          </a:solidFill>
                        </a:rPr>
                        <a:t>0</a:t>
                      </a:r>
                      <a:endParaRPr lang="zh-TW" altLang="en-US" dirty="0">
                        <a:solidFill>
                          <a:srgbClr val="002060"/>
                        </a:solidFill>
                      </a:endParaRPr>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solidFill>
                            <a:srgbClr val="002060"/>
                          </a:solidFill>
                        </a:rPr>
                        <a:t>0</a:t>
                      </a:r>
                      <a:endParaRPr lang="zh-TW" altLang="en-US" dirty="0">
                        <a:solidFill>
                          <a:srgbClr val="002060"/>
                        </a:solidFill>
                      </a:endParaRPr>
                    </a:p>
                  </a:txBody>
                  <a:tcPr/>
                </a:tc>
              </a:tr>
            </a:tbl>
          </a:graphicData>
        </a:graphic>
      </p:graphicFrame>
      <p:graphicFrame>
        <p:nvGraphicFramePr>
          <p:cNvPr id="7" name="內容版面配置區 3"/>
          <p:cNvGraphicFramePr>
            <a:graphicFrameLocks/>
          </p:cNvGraphicFramePr>
          <p:nvPr>
            <p:extLst>
              <p:ext uri="{D42A27DB-BD31-4B8C-83A1-F6EECF244321}">
                <p14:modId xmlns:p14="http://schemas.microsoft.com/office/powerpoint/2010/main" xmlns="" val="3689416721"/>
              </p:ext>
            </p:extLst>
          </p:nvPr>
        </p:nvGraphicFramePr>
        <p:xfrm>
          <a:off x="539552" y="5589240"/>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r>
            </a:tbl>
          </a:graphicData>
        </a:graphic>
      </p:graphicFrame>
      <p:cxnSp>
        <p:nvCxnSpPr>
          <p:cNvPr id="9" name="直線單箭頭接點 8"/>
          <p:cNvCxnSpPr/>
          <p:nvPr/>
        </p:nvCxnSpPr>
        <p:spPr>
          <a:xfrm>
            <a:off x="4283968" y="1772816"/>
            <a:ext cx="504056" cy="64807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flipV="1">
            <a:off x="4283968" y="1772816"/>
            <a:ext cx="648072" cy="64807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355976" y="1052736"/>
            <a:ext cx="4536504" cy="20162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p:cNvSpPr/>
          <p:nvPr/>
        </p:nvSpPr>
        <p:spPr>
          <a:xfrm>
            <a:off x="4387697" y="4077072"/>
            <a:ext cx="4536504" cy="20162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向下箭號 13"/>
          <p:cNvSpPr/>
          <p:nvPr/>
        </p:nvSpPr>
        <p:spPr>
          <a:xfrm>
            <a:off x="3995936" y="3068960"/>
            <a:ext cx="612068" cy="1008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2654868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兩點</a:t>
            </a:r>
            <a:r>
              <a:rPr lang="zh-TW" altLang="en-US" dirty="0" smtClean="0"/>
              <a:t>交配</a:t>
            </a:r>
            <a:endParaRPr lang="zh-TW" altLang="en-US" dirty="0"/>
          </a:p>
        </p:txBody>
      </p:sp>
      <p:graphicFrame>
        <p:nvGraphicFramePr>
          <p:cNvPr id="4" name="內容版面配置區 3"/>
          <p:cNvGraphicFramePr>
            <a:graphicFrameLocks/>
          </p:cNvGraphicFramePr>
          <p:nvPr>
            <p:extLst>
              <p:ext uri="{D42A27DB-BD31-4B8C-83A1-F6EECF244321}">
                <p14:modId xmlns:p14="http://schemas.microsoft.com/office/powerpoint/2010/main" xmlns="" val="3192010411"/>
              </p:ext>
            </p:extLst>
          </p:nvPr>
        </p:nvGraphicFramePr>
        <p:xfrm>
          <a:off x="467544" y="1412776"/>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r>
            </a:tbl>
          </a:graphicData>
        </a:graphic>
      </p:graphicFrame>
      <p:graphicFrame>
        <p:nvGraphicFramePr>
          <p:cNvPr id="5" name="內容版面配置區 3"/>
          <p:cNvGraphicFramePr>
            <a:graphicFrameLocks/>
          </p:cNvGraphicFramePr>
          <p:nvPr>
            <p:extLst>
              <p:ext uri="{D42A27DB-BD31-4B8C-83A1-F6EECF244321}">
                <p14:modId xmlns:p14="http://schemas.microsoft.com/office/powerpoint/2010/main" xmlns="" val="1946538460"/>
              </p:ext>
            </p:extLst>
          </p:nvPr>
        </p:nvGraphicFramePr>
        <p:xfrm>
          <a:off x="467544" y="2420888"/>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solidFill>
                            <a:srgbClr val="002060"/>
                          </a:solidFill>
                        </a:rPr>
                        <a:t>0</a:t>
                      </a:r>
                      <a:endParaRPr lang="zh-TW" altLang="en-US" dirty="0">
                        <a:solidFill>
                          <a:srgbClr val="002060"/>
                        </a:solidFill>
                      </a:endParaRPr>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r>
            </a:tbl>
          </a:graphicData>
        </a:graphic>
      </p:graphicFrame>
      <p:graphicFrame>
        <p:nvGraphicFramePr>
          <p:cNvPr id="6" name="內容版面配置區 3"/>
          <p:cNvGraphicFramePr>
            <a:graphicFrameLocks/>
          </p:cNvGraphicFramePr>
          <p:nvPr>
            <p:extLst>
              <p:ext uri="{D42A27DB-BD31-4B8C-83A1-F6EECF244321}">
                <p14:modId xmlns:p14="http://schemas.microsoft.com/office/powerpoint/2010/main" xmlns="" val="627512576"/>
              </p:ext>
            </p:extLst>
          </p:nvPr>
        </p:nvGraphicFramePr>
        <p:xfrm>
          <a:off x="467544" y="4293096"/>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solidFill>
                            <a:srgbClr val="002060"/>
                          </a:solidFill>
                        </a:rPr>
                        <a:t>0</a:t>
                      </a:r>
                      <a:endParaRPr lang="zh-TW" altLang="en-US" dirty="0">
                        <a:solidFill>
                          <a:srgbClr val="002060"/>
                        </a:solidFill>
                      </a:endParaRPr>
                    </a:p>
                  </a:txBody>
                  <a:tcPr/>
                </a:tc>
                <a:tc>
                  <a:txBody>
                    <a:bodyPr/>
                    <a:lstStyle/>
                    <a:p>
                      <a:pPr algn="ctr"/>
                      <a:r>
                        <a:rPr lang="en-US" altLang="zh-TW" dirty="0" smtClean="0">
                          <a:solidFill>
                            <a:srgbClr val="002060"/>
                          </a:solidFill>
                        </a:rPr>
                        <a:t>1</a:t>
                      </a:r>
                      <a:endParaRPr lang="zh-TW" altLang="en-US" dirty="0">
                        <a:solidFill>
                          <a:srgbClr val="002060"/>
                        </a:solidFill>
                      </a:endParaRPr>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r>
            </a:tbl>
          </a:graphicData>
        </a:graphic>
      </p:graphicFrame>
      <p:graphicFrame>
        <p:nvGraphicFramePr>
          <p:cNvPr id="7" name="內容版面配置區 3"/>
          <p:cNvGraphicFramePr>
            <a:graphicFrameLocks/>
          </p:cNvGraphicFramePr>
          <p:nvPr>
            <p:extLst>
              <p:ext uri="{D42A27DB-BD31-4B8C-83A1-F6EECF244321}">
                <p14:modId xmlns:p14="http://schemas.microsoft.com/office/powerpoint/2010/main" xmlns="" val="1337577639"/>
              </p:ext>
            </p:extLst>
          </p:nvPr>
        </p:nvGraphicFramePr>
        <p:xfrm>
          <a:off x="467544" y="5373216"/>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r>
            </a:tbl>
          </a:graphicData>
        </a:graphic>
      </p:graphicFrame>
      <p:sp>
        <p:nvSpPr>
          <p:cNvPr id="8" name="矩形 7"/>
          <p:cNvSpPr/>
          <p:nvPr/>
        </p:nvSpPr>
        <p:spPr>
          <a:xfrm>
            <a:off x="2843808" y="1268760"/>
            <a:ext cx="3240360" cy="17281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2843808" y="4149080"/>
            <a:ext cx="3240360" cy="17281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向下箭號 9"/>
          <p:cNvSpPr/>
          <p:nvPr/>
        </p:nvSpPr>
        <p:spPr>
          <a:xfrm>
            <a:off x="3995936" y="3068960"/>
            <a:ext cx="612068" cy="1008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1846948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reproduction</a:t>
            </a:r>
            <a:endParaRPr lang="zh-TW" altLang="en-US" dirty="0"/>
          </a:p>
        </p:txBody>
      </p:sp>
      <p:sp>
        <p:nvSpPr>
          <p:cNvPr id="3" name="內容版面配置區 2"/>
          <p:cNvSpPr>
            <a:spLocks noGrp="1"/>
          </p:cNvSpPr>
          <p:nvPr>
            <p:ph idx="1"/>
          </p:nvPr>
        </p:nvSpPr>
        <p:spPr/>
        <p:txBody>
          <a:bodyPr/>
          <a:lstStyle/>
          <a:p>
            <a:r>
              <a:rPr lang="en-US" altLang="zh-TW" dirty="0"/>
              <a:t>1.</a:t>
            </a:r>
            <a:r>
              <a:rPr lang="zh-TW" altLang="en-US" dirty="0"/>
              <a:t>複製是依據每一物種的適應程度來決定下一代中應被淘汰或複製且保留的個數多寡的一種運算過程</a:t>
            </a:r>
          </a:p>
          <a:p>
            <a:r>
              <a:rPr lang="en-US" altLang="zh-TW" dirty="0"/>
              <a:t>2.</a:t>
            </a:r>
            <a:r>
              <a:rPr lang="zh-TW" altLang="en-US" dirty="0"/>
              <a:t>複製過</a:t>
            </a:r>
            <a:r>
              <a:rPr lang="zh-TW" altLang="en-US" dirty="0" smtClean="0"/>
              <a:t>程有</a:t>
            </a:r>
            <a:r>
              <a:rPr lang="zh-TW" altLang="en-US" dirty="0"/>
              <a:t>三</a:t>
            </a:r>
            <a:r>
              <a:rPr lang="zh-TW" altLang="en-US" dirty="0" smtClean="0"/>
              <a:t>種</a:t>
            </a:r>
            <a:r>
              <a:rPr lang="zh-TW" altLang="en-US" dirty="0"/>
              <a:t>形式</a:t>
            </a:r>
            <a:r>
              <a:rPr lang="en-US" altLang="zh-TW" dirty="0"/>
              <a:t>:(a)</a:t>
            </a:r>
            <a:r>
              <a:rPr lang="zh-TW" altLang="en-US" dirty="0"/>
              <a:t>輪盤</a:t>
            </a:r>
            <a:r>
              <a:rPr lang="zh-TW" altLang="en-US" dirty="0" smtClean="0"/>
              <a:t>式策略</a:t>
            </a:r>
            <a:r>
              <a:rPr lang="en-US" altLang="zh-TW" dirty="0" smtClean="0"/>
              <a:t>(b</a:t>
            </a:r>
            <a:r>
              <a:rPr lang="en-US" altLang="zh-TW" dirty="0"/>
              <a:t>)</a:t>
            </a:r>
            <a:r>
              <a:rPr lang="zh-TW" altLang="en-US" dirty="0"/>
              <a:t>競爭</a:t>
            </a:r>
            <a:r>
              <a:rPr lang="zh-TW" altLang="en-US" dirty="0" smtClean="0"/>
              <a:t>式策略</a:t>
            </a:r>
            <a:r>
              <a:rPr lang="en-US" altLang="zh-TW" dirty="0" smtClean="0"/>
              <a:t>(c)</a:t>
            </a:r>
            <a:r>
              <a:rPr lang="zh-TW" altLang="en-US" dirty="0" smtClean="0"/>
              <a:t>完全式策略</a:t>
            </a:r>
            <a:endParaRPr lang="zh-TW" altLang="en-US" dirty="0"/>
          </a:p>
          <a:p>
            <a:endParaRPr lang="zh-TW" altLang="en-US" dirty="0"/>
          </a:p>
        </p:txBody>
      </p:sp>
    </p:spTree>
    <p:extLst>
      <p:ext uri="{BB962C8B-B14F-4D97-AF65-F5344CB8AC3E}">
        <p14:creationId xmlns:p14="http://schemas.microsoft.com/office/powerpoint/2010/main" xmlns="" val="528718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t>(a)</a:t>
            </a:r>
            <a:r>
              <a:rPr lang="zh-TW" altLang="en-US" sz="3600" dirty="0"/>
              <a:t>輪盤式選擇</a:t>
            </a:r>
            <a:r>
              <a:rPr lang="en-US" altLang="zh-TW" sz="3600" dirty="0"/>
              <a:t>(roulette wheel selection</a:t>
            </a:r>
            <a:r>
              <a:rPr lang="en-US" altLang="zh-TW" sz="3600" dirty="0" smtClean="0"/>
              <a:t>)</a:t>
            </a:r>
            <a:endParaRPr lang="zh-TW" altLang="en-US" dirty="0"/>
          </a:p>
        </p:txBody>
      </p:sp>
      <p:sp>
        <p:nvSpPr>
          <p:cNvPr id="3" name="內容版面配置區 2"/>
          <p:cNvSpPr>
            <a:spLocks noGrp="1"/>
          </p:cNvSpPr>
          <p:nvPr>
            <p:ph idx="1"/>
          </p:nvPr>
        </p:nvSpPr>
        <p:spPr/>
        <p:txBody>
          <a:bodyPr>
            <a:normAutofit/>
          </a:bodyPr>
          <a:lstStyle/>
          <a:p>
            <a:pPr marL="0" indent="0">
              <a:buNone/>
            </a:pPr>
            <a:r>
              <a:rPr lang="zh-TW" altLang="en-US" dirty="0" smtClean="0"/>
              <a:t>在</a:t>
            </a:r>
            <a:r>
              <a:rPr lang="zh-TW" altLang="en-US" dirty="0"/>
              <a:t>每一代的演化過程中，首先依每個物種</a:t>
            </a:r>
            <a:r>
              <a:rPr lang="en-US" altLang="zh-TW" dirty="0"/>
              <a:t>(</a:t>
            </a:r>
            <a:r>
              <a:rPr lang="zh-TW" altLang="en-US" dirty="0"/>
              <a:t>字串</a:t>
            </a:r>
            <a:r>
              <a:rPr lang="en-US" altLang="zh-TW" dirty="0"/>
              <a:t>)</a:t>
            </a:r>
            <a:r>
              <a:rPr lang="zh-TW" altLang="en-US" dirty="0"/>
              <a:t>的適應函數值的大小來分割輪盤的位置，適應函數值越大的話，則在輪盤上佔有的面積比例也越大，每個物種在輪盤上佔有的面積比例越大代表被挑選到交配池中的機率越大，然後隨機選取輪盤的一點，其所對應的物種即被選入到交配池中。 </a:t>
            </a:r>
          </a:p>
          <a:p>
            <a:endParaRPr lang="zh-TW" altLang="en-US" dirty="0"/>
          </a:p>
        </p:txBody>
      </p:sp>
    </p:spTree>
    <p:extLst>
      <p:ext uri="{BB962C8B-B14F-4D97-AF65-F5344CB8AC3E}">
        <p14:creationId xmlns:p14="http://schemas.microsoft.com/office/powerpoint/2010/main" xmlns="" val="2708334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Mutation</a:t>
            </a:r>
            <a:endParaRPr lang="zh-TW" altLang="en-US" dirty="0"/>
          </a:p>
        </p:txBody>
      </p:sp>
      <p:sp>
        <p:nvSpPr>
          <p:cNvPr id="3" name="內容版面配置區 2"/>
          <p:cNvSpPr>
            <a:spLocks noGrp="1"/>
          </p:cNvSpPr>
          <p:nvPr>
            <p:ph idx="1"/>
          </p:nvPr>
        </p:nvSpPr>
        <p:spPr>
          <a:xfrm>
            <a:off x="467544" y="1340768"/>
            <a:ext cx="8229600" cy="4525963"/>
          </a:xfrm>
        </p:spPr>
        <p:txBody>
          <a:bodyPr/>
          <a:lstStyle/>
          <a:p>
            <a:pPr>
              <a:lnSpc>
                <a:spcPct val="90000"/>
              </a:lnSpc>
            </a:pPr>
            <a:r>
              <a:rPr lang="zh-TW" altLang="en-US" dirty="0"/>
              <a:t>突變的過程是隨機的選取一物種的字串，並隨機選取突變點，並改變物種字串裡的位元資訊突變過程發生機率由突變機率所控制。</a:t>
            </a:r>
          </a:p>
          <a:p>
            <a:r>
              <a:rPr lang="en-US" altLang="zh-TW" dirty="0" smtClean="0"/>
              <a:t>(a)</a:t>
            </a:r>
            <a:r>
              <a:rPr lang="zh-TW" altLang="en-US" dirty="0" smtClean="0"/>
              <a:t>位元突變</a:t>
            </a:r>
            <a:endParaRPr lang="en-US" altLang="zh-TW" dirty="0" smtClean="0"/>
          </a:p>
          <a:p>
            <a:r>
              <a:rPr lang="en-US" altLang="zh-TW" dirty="0" smtClean="0"/>
              <a:t>(b)</a:t>
            </a:r>
            <a:r>
              <a:rPr lang="zh-TW" altLang="en-US" dirty="0" smtClean="0"/>
              <a:t>雙點突變</a:t>
            </a:r>
            <a:endParaRPr lang="en-US" altLang="zh-TW" dirty="0" smtClean="0"/>
          </a:p>
          <a:p>
            <a:r>
              <a:rPr lang="en-US" altLang="zh-TW" dirty="0" smtClean="0"/>
              <a:t>(c)</a:t>
            </a:r>
            <a:r>
              <a:rPr lang="zh-TW" altLang="en-US" dirty="0" smtClean="0"/>
              <a:t>隨機選取突變</a:t>
            </a:r>
            <a:endParaRPr lang="zh-TW" altLang="en-US" dirty="0"/>
          </a:p>
        </p:txBody>
      </p:sp>
      <p:graphicFrame>
        <p:nvGraphicFramePr>
          <p:cNvPr id="4" name="內容版面配置區 3"/>
          <p:cNvGraphicFramePr>
            <a:graphicFrameLocks/>
          </p:cNvGraphicFramePr>
          <p:nvPr>
            <p:extLst>
              <p:ext uri="{D42A27DB-BD31-4B8C-83A1-F6EECF244321}">
                <p14:modId xmlns:p14="http://schemas.microsoft.com/office/powerpoint/2010/main" xmlns="" val="2827450300"/>
              </p:ext>
            </p:extLst>
          </p:nvPr>
        </p:nvGraphicFramePr>
        <p:xfrm>
          <a:off x="611560" y="5085184"/>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r>
            </a:tbl>
          </a:graphicData>
        </a:graphic>
      </p:graphicFrame>
      <p:graphicFrame>
        <p:nvGraphicFramePr>
          <p:cNvPr id="5" name="內容版面配置區 3"/>
          <p:cNvGraphicFramePr>
            <a:graphicFrameLocks/>
          </p:cNvGraphicFramePr>
          <p:nvPr>
            <p:extLst>
              <p:ext uri="{D42A27DB-BD31-4B8C-83A1-F6EECF244321}">
                <p14:modId xmlns:p14="http://schemas.microsoft.com/office/powerpoint/2010/main" xmlns="" val="853954867"/>
              </p:ext>
            </p:extLst>
          </p:nvPr>
        </p:nvGraphicFramePr>
        <p:xfrm>
          <a:off x="611560" y="6093296"/>
          <a:ext cx="8229600" cy="370840"/>
        </p:xfrm>
        <a:graphic>
          <a:graphicData uri="http://schemas.openxmlformats.org/drawingml/2006/table">
            <a:tbl>
              <a:tblPr firstRow="1" bandRow="1">
                <a:tableStyleId>{5C22544A-7EE6-4342-B048-85BDC9FD1C3A}</a:tableStyleId>
              </a:tblPr>
              <a:tblGrid>
                <a:gridCol w="822960"/>
                <a:gridCol w="822960"/>
                <a:gridCol w="822960"/>
                <a:gridCol w="822960"/>
                <a:gridCol w="822960"/>
                <a:gridCol w="822960"/>
                <a:gridCol w="822960"/>
                <a:gridCol w="822960"/>
                <a:gridCol w="822960"/>
                <a:gridCol w="822960"/>
              </a:tblGrid>
              <a:tr h="370840">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FF0000"/>
                          </a:solidFill>
                        </a:rPr>
                        <a:t>0</a:t>
                      </a:r>
                      <a:endParaRPr lang="zh-TW" altLang="en-US" dirty="0">
                        <a:solidFill>
                          <a:srgbClr val="FF000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r>
            </a:tbl>
          </a:graphicData>
        </a:graphic>
      </p:graphicFrame>
      <p:sp>
        <p:nvSpPr>
          <p:cNvPr id="6" name="矩形 5"/>
          <p:cNvSpPr/>
          <p:nvPr/>
        </p:nvSpPr>
        <p:spPr>
          <a:xfrm>
            <a:off x="4716016" y="4797152"/>
            <a:ext cx="792088" cy="18722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1928426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13184" y="260648"/>
            <a:ext cx="8579296" cy="1143000"/>
          </a:xfrm>
        </p:spPr>
        <p:txBody>
          <a:bodyPr>
            <a:noAutofit/>
          </a:bodyPr>
          <a:lstStyle/>
          <a:p>
            <a:r>
              <a:rPr lang="en-US" altLang="zh-TW" sz="4000" dirty="0" smtClean="0"/>
              <a:t>Flowchart </a:t>
            </a:r>
            <a:r>
              <a:rPr lang="en-US" altLang="zh-TW" sz="4000" dirty="0"/>
              <a:t>of </a:t>
            </a:r>
            <a:r>
              <a:rPr lang="en-US" altLang="zh-TW" sz="4000" dirty="0" smtClean="0"/>
              <a:t>gene </a:t>
            </a:r>
            <a:r>
              <a:rPr lang="en-US" altLang="zh-TW" sz="4000" dirty="0"/>
              <a:t>expression algorithm</a:t>
            </a:r>
            <a:endParaRPr lang="zh-TW" altLang="en-US" sz="4000"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3011437" y="1600200"/>
            <a:ext cx="3288755" cy="4769044"/>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274638"/>
            <a:ext cx="8435280" cy="1143000"/>
          </a:xfrm>
        </p:spPr>
        <p:txBody>
          <a:bodyPr>
            <a:normAutofit fontScale="90000"/>
          </a:bodyPr>
          <a:lstStyle/>
          <a:p>
            <a:r>
              <a:rPr lang="en-US" altLang="zh-TW" dirty="0" smtClean="0"/>
              <a:t>Flowchart of gene expression algorithm</a:t>
            </a:r>
            <a:endParaRPr lang="zh-TW" alt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2944490" y="1556792"/>
            <a:ext cx="2995662" cy="504056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Open reading frames (ORFs)</a:t>
            </a:r>
            <a:endParaRPr lang="zh-TW" altLang="en-US" dirty="0"/>
          </a:p>
        </p:txBody>
      </p:sp>
      <p:sp>
        <p:nvSpPr>
          <p:cNvPr id="3" name="內容版面配置區 2"/>
          <p:cNvSpPr>
            <a:spLocks noGrp="1"/>
          </p:cNvSpPr>
          <p:nvPr>
            <p:ph idx="1"/>
          </p:nvPr>
        </p:nvSpPr>
        <p:spPr>
          <a:xfrm>
            <a:off x="457200" y="1600200"/>
            <a:ext cx="4186808" cy="4525963"/>
          </a:xfrm>
        </p:spPr>
        <p:txBody>
          <a:bodyPr/>
          <a:lstStyle/>
          <a:p>
            <a:r>
              <a:rPr lang="en-US" altLang="zh-TW" dirty="0" smtClean="0"/>
              <a:t>Algebraic expression:</a:t>
            </a:r>
          </a:p>
          <a:p>
            <a:endParaRPr lang="en-US" altLang="zh-TW" dirty="0"/>
          </a:p>
          <a:p>
            <a:r>
              <a:rPr lang="en-US" altLang="zh-TW" dirty="0" smtClean="0"/>
              <a:t>Expression Tree:</a:t>
            </a:r>
          </a:p>
        </p:txBody>
      </p:sp>
      <p:pic>
        <p:nvPicPr>
          <p:cNvPr id="3075" name="Picture 3"/>
          <p:cNvPicPr>
            <a:picLocks noChangeAspect="1" noChangeArrowheads="1"/>
          </p:cNvPicPr>
          <p:nvPr/>
        </p:nvPicPr>
        <p:blipFill>
          <a:blip r:embed="rId2" cstate="print"/>
          <a:srcRect/>
          <a:stretch>
            <a:fillRect/>
          </a:stretch>
        </p:blipFill>
        <p:spPr bwMode="auto">
          <a:xfrm>
            <a:off x="1691680" y="2132856"/>
            <a:ext cx="2880320" cy="696286"/>
          </a:xfrm>
          <a:prstGeom prst="rect">
            <a:avLst/>
          </a:prstGeom>
          <a:noFill/>
          <a:ln w="9525">
            <a:noFill/>
            <a:miter lim="800000"/>
            <a:headEnd/>
            <a:tailEnd/>
          </a:ln>
        </p:spPr>
      </p:pic>
      <p:pic>
        <p:nvPicPr>
          <p:cNvPr id="3076" name="Picture 4"/>
          <p:cNvPicPr>
            <a:picLocks noChangeAspect="1" noChangeArrowheads="1"/>
          </p:cNvPicPr>
          <p:nvPr/>
        </p:nvPicPr>
        <p:blipFill>
          <a:blip r:embed="rId3" cstate="print"/>
          <a:srcRect/>
          <a:stretch>
            <a:fillRect/>
          </a:stretch>
        </p:blipFill>
        <p:spPr bwMode="auto">
          <a:xfrm>
            <a:off x="899592" y="3429000"/>
            <a:ext cx="2657157" cy="2706440"/>
          </a:xfrm>
          <a:prstGeom prst="rect">
            <a:avLst/>
          </a:prstGeom>
          <a:noFill/>
          <a:ln w="9525">
            <a:noFill/>
            <a:miter lim="800000"/>
            <a:headEnd/>
            <a:tailEnd/>
          </a:ln>
        </p:spPr>
      </p:pic>
      <p:sp>
        <p:nvSpPr>
          <p:cNvPr id="7" name="內容版面配置區 2"/>
          <p:cNvSpPr txBox="1">
            <a:spLocks/>
          </p:cNvSpPr>
          <p:nvPr/>
        </p:nvSpPr>
        <p:spPr>
          <a:xfrm>
            <a:off x="4716016" y="1556792"/>
            <a:ext cx="3744416"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3200" b="0" i="0" u="none" strike="noStrike" kern="1200" cap="none" spc="0" normalizeH="0" baseline="0" noProof="0" dirty="0" smtClean="0">
                <a:ln>
                  <a:noFill/>
                </a:ln>
                <a:solidFill>
                  <a:schemeClr val="tx1"/>
                </a:solidFill>
                <a:effectLst/>
                <a:uLnTx/>
                <a:uFillTx/>
                <a:latin typeface="+mn-lt"/>
                <a:ea typeface="+mn-ea"/>
                <a:cs typeface="+mn-cs"/>
              </a:rPr>
              <a:t>K expression:</a:t>
            </a:r>
          </a:p>
        </p:txBody>
      </p:sp>
      <p:pic>
        <p:nvPicPr>
          <p:cNvPr id="3077" name="Picture 5"/>
          <p:cNvPicPr>
            <a:picLocks noChangeAspect="1" noChangeArrowheads="1"/>
          </p:cNvPicPr>
          <p:nvPr/>
        </p:nvPicPr>
        <p:blipFill>
          <a:blip r:embed="rId4" cstate="print"/>
          <a:srcRect/>
          <a:stretch>
            <a:fillRect/>
          </a:stretch>
        </p:blipFill>
        <p:spPr bwMode="auto">
          <a:xfrm>
            <a:off x="5292080" y="2060848"/>
            <a:ext cx="2520280" cy="1179078"/>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Open reading frames (ORFs)</a:t>
            </a:r>
            <a:endParaRPr lang="zh-TW" altLang="en-US" dirty="0"/>
          </a:p>
        </p:txBody>
      </p:sp>
      <p:sp>
        <p:nvSpPr>
          <p:cNvPr id="3" name="內容版面配置區 2"/>
          <p:cNvSpPr>
            <a:spLocks noGrp="1"/>
          </p:cNvSpPr>
          <p:nvPr>
            <p:ph idx="1"/>
          </p:nvPr>
        </p:nvSpPr>
        <p:spPr/>
        <p:txBody>
          <a:bodyPr/>
          <a:lstStyle/>
          <a:p>
            <a:r>
              <a:rPr lang="en-US" altLang="zh-TW" dirty="0" smtClean="0"/>
              <a:t>ET to K-expression</a:t>
            </a:r>
          </a:p>
          <a:p>
            <a:pPr lvl="1"/>
            <a:r>
              <a:rPr lang="en-US" altLang="zh-TW" dirty="0" smtClean="0"/>
              <a:t>Top to down, left to right</a:t>
            </a:r>
          </a:p>
          <a:p>
            <a:r>
              <a:rPr lang="en-US" altLang="zh-TW" dirty="0" smtClean="0"/>
              <a:t>K-expression to ET</a:t>
            </a:r>
          </a:p>
          <a:p>
            <a:pPr lvl="1"/>
            <a:r>
              <a:rPr lang="en-US" altLang="zh-TW" dirty="0" smtClean="0"/>
              <a:t>Top to down, left to right</a:t>
            </a:r>
          </a:p>
          <a:p>
            <a:pPr lvl="1"/>
            <a:r>
              <a:rPr lang="en-US" altLang="zh-TW" dirty="0" smtClean="0"/>
              <a:t>Stop when all the leaves are terminal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 of ORFs</a:t>
            </a:r>
            <a:endParaRPr lang="zh-TW" altLang="en-US" dirty="0"/>
          </a:p>
        </p:txBody>
      </p:sp>
      <p:pic>
        <p:nvPicPr>
          <p:cNvPr id="4098" name="Picture 2"/>
          <p:cNvPicPr>
            <a:picLocks noChangeAspect="1" noChangeArrowheads="1"/>
          </p:cNvPicPr>
          <p:nvPr/>
        </p:nvPicPr>
        <p:blipFill>
          <a:blip r:embed="rId2" cstate="print"/>
          <a:srcRect/>
          <a:stretch>
            <a:fillRect/>
          </a:stretch>
        </p:blipFill>
        <p:spPr bwMode="auto">
          <a:xfrm>
            <a:off x="2843299" y="1700808"/>
            <a:ext cx="2952837" cy="1008112"/>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2915816" y="3048318"/>
            <a:ext cx="2901503" cy="3116986"/>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 of ORFs</a:t>
            </a:r>
            <a:endParaRPr lang="zh-TW" altLang="en-US" dirty="0"/>
          </a:p>
        </p:txBody>
      </p:sp>
      <p:pic>
        <p:nvPicPr>
          <p:cNvPr id="5123" name="Picture 3"/>
          <p:cNvPicPr>
            <a:picLocks noChangeAspect="1" noChangeArrowheads="1"/>
          </p:cNvPicPr>
          <p:nvPr/>
        </p:nvPicPr>
        <p:blipFill>
          <a:blip r:embed="rId3" cstate="print"/>
          <a:srcRect/>
          <a:stretch>
            <a:fillRect/>
          </a:stretch>
        </p:blipFill>
        <p:spPr bwMode="auto">
          <a:xfrm>
            <a:off x="2339752" y="1628800"/>
            <a:ext cx="4464496" cy="1008112"/>
          </a:xfrm>
          <a:prstGeom prst="rect">
            <a:avLst/>
          </a:prstGeom>
          <a:noFill/>
          <a:ln w="9525">
            <a:noFill/>
            <a:miter lim="800000"/>
            <a:headEnd/>
            <a:tailEnd/>
          </a:ln>
        </p:spPr>
      </p:pic>
      <p:pic>
        <p:nvPicPr>
          <p:cNvPr id="5124" name="Picture 4"/>
          <p:cNvPicPr>
            <a:picLocks noChangeAspect="1" noChangeArrowheads="1"/>
          </p:cNvPicPr>
          <p:nvPr/>
        </p:nvPicPr>
        <p:blipFill>
          <a:blip r:embed="rId4" cstate="print"/>
          <a:srcRect/>
          <a:stretch>
            <a:fillRect/>
          </a:stretch>
        </p:blipFill>
        <p:spPr bwMode="auto">
          <a:xfrm>
            <a:off x="2555776" y="2892811"/>
            <a:ext cx="4145099" cy="363253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Advantages of using ORFs</a:t>
            </a:r>
            <a:endParaRPr lang="zh-TW" altLang="en-US" dirty="0"/>
          </a:p>
        </p:txBody>
      </p:sp>
      <p:sp>
        <p:nvSpPr>
          <p:cNvPr id="3" name="內容版面配置區 2"/>
          <p:cNvSpPr>
            <a:spLocks noGrp="1"/>
          </p:cNvSpPr>
          <p:nvPr>
            <p:ph idx="1"/>
          </p:nvPr>
        </p:nvSpPr>
        <p:spPr/>
        <p:txBody>
          <a:bodyPr/>
          <a:lstStyle/>
          <a:p>
            <a:r>
              <a:rPr lang="en-US" altLang="zh-TW" dirty="0" smtClean="0"/>
              <a:t>Any modification made </a:t>
            </a:r>
            <a:r>
              <a:rPr lang="en-US" altLang="zh-TW" dirty="0"/>
              <a:t>in the </a:t>
            </a:r>
            <a:r>
              <a:rPr lang="en-US" altLang="zh-TW" dirty="0" smtClean="0"/>
              <a:t>genome always results </a:t>
            </a:r>
            <a:r>
              <a:rPr lang="en-US" altLang="zh-TW" dirty="0"/>
              <a:t>in a valid ET</a:t>
            </a:r>
            <a:r>
              <a:rPr lang="en-US" altLang="zh-TW" dirty="0" smtClean="0"/>
              <a:t>.</a:t>
            </a:r>
          </a:p>
          <a:p>
            <a:r>
              <a:rPr lang="en-US" altLang="zh-TW" dirty="0" smtClean="0"/>
              <a:t>Much more like the gene in the nature.</a:t>
            </a:r>
            <a:endParaRPr lang="zh-TW"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 of ORFs (</a:t>
            </a:r>
            <a:r>
              <a:rPr lang="en-US" altLang="zh-TW" dirty="0" err="1" smtClean="0"/>
              <a:t>multigenic</a:t>
            </a:r>
            <a:r>
              <a:rPr lang="en-US" altLang="zh-TW" dirty="0" smtClean="0"/>
              <a:t>)</a:t>
            </a:r>
            <a:endParaRPr lang="zh-TW" altLang="en-US"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467543" y="1556792"/>
            <a:ext cx="8316281" cy="468052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 of ORFs (</a:t>
            </a:r>
            <a:r>
              <a:rPr lang="en-US" altLang="zh-TW" dirty="0" err="1" smtClean="0"/>
              <a:t>multigenic</a:t>
            </a:r>
            <a:r>
              <a:rPr lang="en-US" altLang="zh-TW" dirty="0" smtClean="0"/>
              <a:t>)</a:t>
            </a:r>
            <a:endParaRPr lang="zh-TW" altLang="en-US" dirty="0"/>
          </a:p>
        </p:txBody>
      </p:sp>
      <p:pic>
        <p:nvPicPr>
          <p:cNvPr id="7170" name="Picture 2"/>
          <p:cNvPicPr>
            <a:picLocks noGrp="1" noChangeAspect="1" noChangeArrowheads="1"/>
          </p:cNvPicPr>
          <p:nvPr>
            <p:ph idx="1"/>
          </p:nvPr>
        </p:nvPicPr>
        <p:blipFill>
          <a:blip r:embed="rId2" cstate="print"/>
          <a:srcRect/>
          <a:stretch>
            <a:fillRect/>
          </a:stretch>
        </p:blipFill>
        <p:spPr bwMode="auto">
          <a:xfrm>
            <a:off x="179512" y="2132856"/>
            <a:ext cx="8847429" cy="3093507"/>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Fitness functions</a:t>
            </a:r>
            <a:endParaRPr lang="zh-TW" altLang="en-US" dirty="0"/>
          </a:p>
        </p:txBody>
      </p:sp>
      <p:sp>
        <p:nvSpPr>
          <p:cNvPr id="3" name="內容版面配置區 2"/>
          <p:cNvSpPr>
            <a:spLocks noGrp="1"/>
          </p:cNvSpPr>
          <p:nvPr>
            <p:ph idx="1"/>
          </p:nvPr>
        </p:nvSpPr>
        <p:spPr/>
        <p:txBody>
          <a:bodyPr/>
          <a:lstStyle/>
          <a:p>
            <a:r>
              <a:rPr lang="en-US" altLang="zh-TW" dirty="0" smtClean="0"/>
              <a:t>Absolute error</a:t>
            </a:r>
          </a:p>
          <a:p>
            <a:endParaRPr lang="en-US" altLang="zh-TW" dirty="0"/>
          </a:p>
          <a:p>
            <a:endParaRPr lang="en-US" altLang="zh-TW" dirty="0" smtClean="0"/>
          </a:p>
          <a:p>
            <a:r>
              <a:rPr lang="en-US" altLang="zh-TW" dirty="0" smtClean="0"/>
              <a:t>Relative error</a:t>
            </a:r>
            <a:endParaRPr lang="zh-TW" altLang="en-US" dirty="0"/>
          </a:p>
        </p:txBody>
      </p:sp>
      <p:pic>
        <p:nvPicPr>
          <p:cNvPr id="8194" name="Picture 2"/>
          <p:cNvPicPr>
            <a:picLocks noChangeAspect="1" noChangeArrowheads="1"/>
          </p:cNvPicPr>
          <p:nvPr/>
        </p:nvPicPr>
        <p:blipFill>
          <a:blip r:embed="rId2" cstate="print"/>
          <a:srcRect/>
          <a:stretch>
            <a:fillRect/>
          </a:stretch>
        </p:blipFill>
        <p:spPr bwMode="auto">
          <a:xfrm>
            <a:off x="2267744" y="2204864"/>
            <a:ext cx="4176464" cy="1187583"/>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2267745" y="4149080"/>
            <a:ext cx="4335076" cy="1296144"/>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Reproduction with modification</a:t>
            </a:r>
            <a:endParaRPr lang="zh-TW" altLang="en-US" dirty="0"/>
          </a:p>
        </p:txBody>
      </p:sp>
      <p:sp>
        <p:nvSpPr>
          <p:cNvPr id="3" name="內容版面配置區 2"/>
          <p:cNvSpPr>
            <a:spLocks noGrp="1"/>
          </p:cNvSpPr>
          <p:nvPr>
            <p:ph idx="1"/>
          </p:nvPr>
        </p:nvSpPr>
        <p:spPr>
          <a:xfrm>
            <a:off x="251520" y="1600200"/>
            <a:ext cx="8712968" cy="4525963"/>
          </a:xfrm>
        </p:spPr>
        <p:txBody>
          <a:bodyPr/>
          <a:lstStyle/>
          <a:p>
            <a:r>
              <a:rPr lang="en-US" altLang="zh-TW" dirty="0" smtClean="0"/>
              <a:t>Replication</a:t>
            </a:r>
          </a:p>
          <a:p>
            <a:r>
              <a:rPr lang="en-US" altLang="zh-TW" baseline="0" dirty="0" smtClean="0">
                <a:latin typeface="+mj-lt"/>
              </a:rPr>
              <a:t>Mutation</a:t>
            </a:r>
          </a:p>
          <a:p>
            <a:r>
              <a:rPr lang="en-US" altLang="zh-TW" baseline="0" dirty="0" smtClean="0">
                <a:latin typeface="+mj-lt"/>
              </a:rPr>
              <a:t>Transposition</a:t>
            </a:r>
            <a:r>
              <a:rPr lang="en-US" altLang="zh-TW" dirty="0" smtClean="0">
                <a:latin typeface="+mj-lt"/>
              </a:rPr>
              <a:t> of insertion sequence elements(IS)</a:t>
            </a:r>
          </a:p>
          <a:p>
            <a:r>
              <a:rPr lang="en-US" altLang="zh-TW" baseline="0" dirty="0" smtClean="0">
                <a:latin typeface="+mj-lt"/>
              </a:rPr>
              <a:t>Root</a:t>
            </a:r>
            <a:r>
              <a:rPr lang="en-US" altLang="zh-TW" dirty="0" smtClean="0">
                <a:latin typeface="+mj-lt"/>
              </a:rPr>
              <a:t> Transposition</a:t>
            </a:r>
          </a:p>
          <a:p>
            <a:r>
              <a:rPr lang="en-US" altLang="zh-TW" baseline="0" dirty="0" smtClean="0">
                <a:latin typeface="+mj-lt"/>
              </a:rPr>
              <a:t>Crossover</a:t>
            </a:r>
          </a:p>
          <a:p>
            <a:pPr lvl="1"/>
            <a:r>
              <a:rPr lang="en-US" altLang="zh-TW" dirty="0" smtClean="0">
                <a:latin typeface="+mj-lt"/>
              </a:rPr>
              <a:t>One-point recombination</a:t>
            </a:r>
          </a:p>
          <a:p>
            <a:pPr lvl="1"/>
            <a:r>
              <a:rPr lang="en-US" altLang="zh-TW" baseline="0" dirty="0" smtClean="0">
                <a:latin typeface="+mj-lt"/>
              </a:rPr>
              <a:t>Two-point recombination</a:t>
            </a:r>
          </a:p>
          <a:p>
            <a:pPr lvl="1"/>
            <a:r>
              <a:rPr lang="en-US" altLang="zh-TW" dirty="0" smtClean="0">
                <a:latin typeface="+mj-lt"/>
              </a:rPr>
              <a:t>Gene recombination</a:t>
            </a:r>
            <a:endParaRPr lang="en-US" altLang="zh-TW" baseline="0" dirty="0" smtClean="0">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640960" cy="1143000"/>
          </a:xfrm>
        </p:spPr>
        <p:txBody>
          <a:bodyPr>
            <a:noAutofit/>
          </a:bodyPr>
          <a:lstStyle/>
          <a:p>
            <a:r>
              <a:rPr lang="en-US" altLang="zh-TW" sz="3600" dirty="0" smtClean="0"/>
              <a:t>gene </a:t>
            </a:r>
            <a:r>
              <a:rPr lang="en-US" altLang="zh-TW" sz="3600" dirty="0"/>
              <a:t>expression </a:t>
            </a:r>
            <a:r>
              <a:rPr lang="en-US" altLang="zh-TW" sz="3600" dirty="0" smtClean="0"/>
              <a:t>programming </a:t>
            </a:r>
            <a:br>
              <a:rPr lang="en-US" altLang="zh-TW" sz="3600" dirty="0" smtClean="0"/>
            </a:br>
            <a:r>
              <a:rPr lang="en-US" altLang="zh-TW" sz="3600" dirty="0" smtClean="0"/>
              <a:t>in </a:t>
            </a:r>
            <a:r>
              <a:rPr lang="en-US" altLang="zh-TW" sz="3600" dirty="0"/>
              <a:t>problem solving</a:t>
            </a:r>
            <a:endParaRPr lang="zh-TW" altLang="en-US" sz="3600" dirty="0"/>
          </a:p>
        </p:txBody>
      </p:sp>
      <p:sp>
        <p:nvSpPr>
          <p:cNvPr id="3" name="內容版面配置區 2"/>
          <p:cNvSpPr>
            <a:spLocks noGrp="1"/>
          </p:cNvSpPr>
          <p:nvPr>
            <p:ph idx="1"/>
          </p:nvPr>
        </p:nvSpPr>
        <p:spPr/>
        <p:txBody>
          <a:bodyPr/>
          <a:lstStyle/>
          <a:p>
            <a:r>
              <a:rPr lang="en-US" altLang="zh-TW" dirty="0" smtClean="0"/>
              <a:t>Symbolic regression (SR)</a:t>
            </a:r>
          </a:p>
          <a:p>
            <a:r>
              <a:rPr lang="en-US" altLang="zh-TW" dirty="0" smtClean="0"/>
              <a:t>Sequence induction</a:t>
            </a:r>
          </a:p>
          <a:p>
            <a:r>
              <a:rPr lang="en-US" altLang="zh-TW" dirty="0" smtClean="0"/>
              <a:t>Sequence induction using ephemeral random constants (SI*)</a:t>
            </a:r>
          </a:p>
          <a:p>
            <a:r>
              <a:rPr lang="en-US" altLang="zh-TW" dirty="0" smtClean="0"/>
              <a:t>Block stacking (BS)</a:t>
            </a:r>
          </a:p>
          <a:p>
            <a:r>
              <a:rPr lang="en-US" altLang="zh-TW" dirty="0" smtClean="0"/>
              <a:t>11-multiplexer (11-M)</a:t>
            </a:r>
          </a:p>
          <a:p>
            <a:r>
              <a:rPr lang="en-US" altLang="zh-TW" dirty="0" smtClean="0"/>
              <a:t>Cellular </a:t>
            </a:r>
            <a:r>
              <a:rPr lang="en-US" altLang="zh-TW" dirty="0" err="1" smtClean="0"/>
              <a:t>autometa</a:t>
            </a:r>
            <a:endParaRPr lang="zh-TW"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5362" name="Picture 2"/>
          <p:cNvPicPr>
            <a:picLocks noChangeAspect="1" noChangeArrowheads="1"/>
          </p:cNvPicPr>
          <p:nvPr/>
        </p:nvPicPr>
        <p:blipFill>
          <a:blip r:embed="rId2" cstate="print"/>
          <a:srcRect/>
          <a:stretch>
            <a:fillRect/>
          </a:stretch>
        </p:blipFill>
        <p:spPr bwMode="auto">
          <a:xfrm>
            <a:off x="152400" y="138113"/>
            <a:ext cx="8839200" cy="658177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 of symbolic regression</a:t>
            </a:r>
            <a:endParaRPr lang="zh-TW" altLang="en-US" dirty="0"/>
          </a:p>
        </p:txBody>
      </p:sp>
      <p:sp>
        <p:nvSpPr>
          <p:cNvPr id="3" name="內容版面配置區 2"/>
          <p:cNvSpPr>
            <a:spLocks noGrp="1"/>
          </p:cNvSpPr>
          <p:nvPr>
            <p:ph idx="1"/>
          </p:nvPr>
        </p:nvSpPr>
        <p:spPr/>
        <p:txBody>
          <a:bodyPr/>
          <a:lstStyle/>
          <a:p>
            <a:endParaRPr lang="en-US" altLang="zh-TW" dirty="0" smtClean="0"/>
          </a:p>
          <a:p>
            <a:r>
              <a:rPr lang="en-US" altLang="zh-TW" dirty="0" smtClean="0"/>
              <a:t>Target function:</a:t>
            </a:r>
          </a:p>
        </p:txBody>
      </p:sp>
      <p:pic>
        <p:nvPicPr>
          <p:cNvPr id="9219" name="Picture 3"/>
          <p:cNvPicPr>
            <a:picLocks noChangeAspect="1" noChangeArrowheads="1"/>
          </p:cNvPicPr>
          <p:nvPr/>
        </p:nvPicPr>
        <p:blipFill>
          <a:blip r:embed="rId2" cstate="print"/>
          <a:srcRect t="24788" b="14727"/>
          <a:stretch>
            <a:fillRect/>
          </a:stretch>
        </p:blipFill>
        <p:spPr bwMode="auto">
          <a:xfrm>
            <a:off x="683568" y="2924944"/>
            <a:ext cx="4455495" cy="648072"/>
          </a:xfrm>
          <a:prstGeom prst="rect">
            <a:avLst/>
          </a:prstGeom>
          <a:noFill/>
          <a:ln w="9525">
            <a:noFill/>
            <a:miter lim="800000"/>
            <a:headEnd/>
            <a:tailEnd/>
          </a:ln>
        </p:spPr>
      </p:pic>
      <p:pic>
        <p:nvPicPr>
          <p:cNvPr id="9220" name="Picture 4"/>
          <p:cNvPicPr>
            <a:picLocks noChangeAspect="1" noChangeArrowheads="1"/>
          </p:cNvPicPr>
          <p:nvPr/>
        </p:nvPicPr>
        <p:blipFill>
          <a:blip r:embed="rId3" cstate="print"/>
          <a:srcRect/>
          <a:stretch>
            <a:fillRect/>
          </a:stretch>
        </p:blipFill>
        <p:spPr bwMode="auto">
          <a:xfrm>
            <a:off x="5292080" y="1772816"/>
            <a:ext cx="3600400" cy="4278644"/>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600" dirty="0"/>
              <a:t>Variation of success rate (P</a:t>
            </a:r>
            <a:r>
              <a:rPr lang="en-US" altLang="zh-TW" sz="3600" baseline="-25000" dirty="0"/>
              <a:t>s</a:t>
            </a:r>
            <a:r>
              <a:rPr lang="en-US" altLang="zh-TW" sz="3600" dirty="0"/>
              <a:t>) with </a:t>
            </a:r>
            <a:r>
              <a:rPr lang="en-US" altLang="zh-TW" sz="3600" dirty="0" smtClean="0"/>
              <a:t>chromosome length</a:t>
            </a:r>
            <a:endParaRPr lang="zh-TW" altLang="en-US" sz="3600" dirty="0"/>
          </a:p>
        </p:txBody>
      </p:sp>
      <p:pic>
        <p:nvPicPr>
          <p:cNvPr id="10242" name="Picture 2"/>
          <p:cNvPicPr>
            <a:picLocks noGrp="1" noChangeAspect="1" noChangeArrowheads="1"/>
          </p:cNvPicPr>
          <p:nvPr>
            <p:ph idx="1"/>
          </p:nvPr>
        </p:nvPicPr>
        <p:blipFill>
          <a:blip r:embed="rId2" cstate="print"/>
          <a:srcRect/>
          <a:stretch>
            <a:fillRect/>
          </a:stretch>
        </p:blipFill>
        <p:spPr bwMode="auto">
          <a:xfrm>
            <a:off x="2195736" y="1556792"/>
            <a:ext cx="4536504" cy="508466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Variation of success rate (P</a:t>
            </a:r>
            <a:r>
              <a:rPr lang="en-US" altLang="zh-TW" baseline="-25000" dirty="0"/>
              <a:t>s</a:t>
            </a:r>
            <a:r>
              <a:rPr lang="en-US" altLang="zh-TW" dirty="0"/>
              <a:t>) with population size</a:t>
            </a:r>
            <a:endParaRPr lang="zh-TW" altLang="en-US" dirty="0"/>
          </a:p>
        </p:txBody>
      </p:sp>
      <p:pic>
        <p:nvPicPr>
          <p:cNvPr id="11266" name="Picture 2"/>
          <p:cNvPicPr>
            <a:picLocks noGrp="1" noChangeAspect="1" noChangeArrowheads="1"/>
          </p:cNvPicPr>
          <p:nvPr>
            <p:ph idx="1"/>
          </p:nvPr>
        </p:nvPicPr>
        <p:blipFill>
          <a:blip r:embed="rId2" cstate="print"/>
          <a:srcRect/>
          <a:stretch>
            <a:fillRect/>
          </a:stretch>
        </p:blipFill>
        <p:spPr bwMode="auto">
          <a:xfrm>
            <a:off x="2627784" y="1705649"/>
            <a:ext cx="3744416" cy="4963711"/>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Variation of success rate (P</a:t>
            </a:r>
            <a:r>
              <a:rPr lang="en-US" altLang="zh-TW" baseline="-25000" dirty="0"/>
              <a:t>s</a:t>
            </a:r>
            <a:r>
              <a:rPr lang="en-US" altLang="zh-TW" dirty="0"/>
              <a:t>) with the number </a:t>
            </a:r>
            <a:r>
              <a:rPr lang="en-US" altLang="zh-TW" dirty="0" smtClean="0"/>
              <a:t>of genes</a:t>
            </a:r>
            <a:endParaRPr lang="zh-TW" altLang="en-US" dirty="0"/>
          </a:p>
        </p:txBody>
      </p:sp>
      <p:pic>
        <p:nvPicPr>
          <p:cNvPr id="12290" name="Picture 2"/>
          <p:cNvPicPr>
            <a:picLocks noGrp="1" noChangeAspect="1" noChangeArrowheads="1"/>
          </p:cNvPicPr>
          <p:nvPr>
            <p:ph idx="1"/>
          </p:nvPr>
        </p:nvPicPr>
        <p:blipFill>
          <a:blip r:embed="rId2" cstate="print"/>
          <a:srcRect/>
          <a:stretch>
            <a:fillRect/>
          </a:stretch>
        </p:blipFill>
        <p:spPr bwMode="auto">
          <a:xfrm>
            <a:off x="2555776" y="1628800"/>
            <a:ext cx="4032448" cy="4951981"/>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Variation of success rate (P</a:t>
            </a:r>
            <a:r>
              <a:rPr lang="en-US" altLang="zh-TW" baseline="-25000" dirty="0"/>
              <a:t>s</a:t>
            </a:r>
            <a:r>
              <a:rPr lang="en-US" altLang="zh-TW" dirty="0"/>
              <a:t>) with the number </a:t>
            </a:r>
            <a:r>
              <a:rPr lang="en-US" altLang="zh-TW" dirty="0" smtClean="0"/>
              <a:t>of generations</a:t>
            </a:r>
            <a:endParaRPr lang="zh-TW" altLang="en-US" dirty="0"/>
          </a:p>
        </p:txBody>
      </p:sp>
      <p:pic>
        <p:nvPicPr>
          <p:cNvPr id="13314" name="Picture 2"/>
          <p:cNvPicPr>
            <a:picLocks noGrp="1" noChangeAspect="1" noChangeArrowheads="1"/>
          </p:cNvPicPr>
          <p:nvPr>
            <p:ph idx="1"/>
          </p:nvPr>
        </p:nvPicPr>
        <p:blipFill>
          <a:blip r:embed="rId2" cstate="print"/>
          <a:srcRect/>
          <a:stretch>
            <a:fillRect/>
          </a:stretch>
        </p:blipFill>
        <p:spPr bwMode="auto">
          <a:xfrm>
            <a:off x="2555776" y="1623455"/>
            <a:ext cx="4095654" cy="4973897"/>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88640"/>
            <a:ext cx="8229600" cy="1066130"/>
          </a:xfrm>
        </p:spPr>
        <p:txBody>
          <a:bodyPr>
            <a:noAutofit/>
          </a:bodyPr>
          <a:lstStyle/>
          <a:p>
            <a:r>
              <a:rPr lang="en-US" altLang="zh-TW" sz="3200" dirty="0"/>
              <a:t>Progression of average fitness of the </a:t>
            </a:r>
            <a:r>
              <a:rPr lang="en-US" altLang="zh-TW" sz="3200" dirty="0" smtClean="0"/>
              <a:t>population and </a:t>
            </a:r>
            <a:r>
              <a:rPr lang="en-US" altLang="zh-TW" sz="3200" dirty="0"/>
              <a:t>the fitness of the </a:t>
            </a:r>
            <a:r>
              <a:rPr lang="en-US" altLang="zh-TW" sz="3200" dirty="0" smtClean="0"/>
              <a:t>best individual</a:t>
            </a:r>
            <a:endParaRPr lang="zh-TW" altLang="en-US" sz="3200" dirty="0"/>
          </a:p>
        </p:txBody>
      </p:sp>
      <p:pic>
        <p:nvPicPr>
          <p:cNvPr id="14338" name="Picture 2"/>
          <p:cNvPicPr>
            <a:picLocks noChangeAspect="1" noChangeArrowheads="1"/>
          </p:cNvPicPr>
          <p:nvPr/>
        </p:nvPicPr>
        <p:blipFill>
          <a:blip r:embed="rId2" cstate="print"/>
          <a:srcRect/>
          <a:stretch>
            <a:fillRect/>
          </a:stretch>
        </p:blipFill>
        <p:spPr bwMode="auto">
          <a:xfrm>
            <a:off x="2339752" y="1385986"/>
            <a:ext cx="4104456" cy="5211366"/>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Possible evolutionary dynamics for GEP </a:t>
            </a:r>
            <a:r>
              <a:rPr lang="en-US" altLang="zh-TW" dirty="0" smtClean="0"/>
              <a:t>generation</a:t>
            </a:r>
            <a:endParaRPr lang="zh-TW" altLang="en-US" dirty="0"/>
          </a:p>
        </p:txBody>
      </p:sp>
      <p:pic>
        <p:nvPicPr>
          <p:cNvPr id="16386" name="Picture 2"/>
          <p:cNvPicPr>
            <a:picLocks noChangeAspect="1" noChangeArrowheads="1"/>
          </p:cNvPicPr>
          <p:nvPr/>
        </p:nvPicPr>
        <p:blipFill>
          <a:blip r:embed="rId2" cstate="print"/>
          <a:srcRect/>
          <a:stretch>
            <a:fillRect/>
          </a:stretch>
        </p:blipFill>
        <p:spPr bwMode="auto">
          <a:xfrm>
            <a:off x="590707" y="1628800"/>
            <a:ext cx="7941733" cy="4968552"/>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Sequence induction</a:t>
            </a:r>
            <a:endParaRPr lang="zh-TW" altLang="en-US" dirty="0"/>
          </a:p>
        </p:txBody>
      </p:sp>
      <p:sp>
        <p:nvSpPr>
          <p:cNvPr id="3" name="內容版面配置區 2"/>
          <p:cNvSpPr>
            <a:spLocks noGrp="1"/>
          </p:cNvSpPr>
          <p:nvPr>
            <p:ph idx="1"/>
          </p:nvPr>
        </p:nvSpPr>
        <p:spPr>
          <a:xfrm>
            <a:off x="251520" y="1556792"/>
            <a:ext cx="5904656" cy="4925144"/>
          </a:xfrm>
        </p:spPr>
        <p:txBody>
          <a:bodyPr/>
          <a:lstStyle/>
          <a:p>
            <a:r>
              <a:rPr lang="en-US" altLang="zh-TW" dirty="0" err="1" smtClean="0"/>
              <a:t>Difinition</a:t>
            </a:r>
            <a:r>
              <a:rPr lang="en-US" altLang="zh-TW" dirty="0" smtClean="0"/>
              <a:t>:</a:t>
            </a:r>
          </a:p>
          <a:p>
            <a:pPr lvl="1"/>
            <a:r>
              <a:rPr lang="zh-TW" altLang="en-US" dirty="0" smtClean="0"/>
              <a:t>給一串數列，問這串數列的關係式為</a:t>
            </a:r>
            <a:r>
              <a:rPr lang="en-US" altLang="zh-TW" dirty="0" smtClean="0"/>
              <a:t>?</a:t>
            </a:r>
          </a:p>
          <a:p>
            <a:pPr lvl="1"/>
            <a:r>
              <a:rPr lang="en-US" altLang="zh-TW" dirty="0" smtClean="0"/>
              <a:t>Sequence: 1</a:t>
            </a:r>
            <a:r>
              <a:rPr lang="en-US" altLang="zh-TW" dirty="0"/>
              <a:t>, 15, 129, 547, 1593, 3711, 7465, </a:t>
            </a:r>
            <a:r>
              <a:rPr lang="en-US" altLang="zh-TW" dirty="0" smtClean="0"/>
              <a:t>13539,22737</a:t>
            </a:r>
            <a:r>
              <a:rPr lang="en-US" altLang="zh-TW" dirty="0"/>
              <a:t>, 35983, 54321</a:t>
            </a:r>
            <a:r>
              <a:rPr lang="en-US" altLang="zh-TW" dirty="0" smtClean="0"/>
              <a:t>,...</a:t>
            </a:r>
          </a:p>
          <a:p>
            <a:pPr lvl="1"/>
            <a:r>
              <a:rPr lang="en-US" altLang="zh-TW" dirty="0" smtClean="0"/>
              <a:t>Goal: </a:t>
            </a:r>
            <a:endParaRPr lang="zh-TW" altLang="en-US" dirty="0"/>
          </a:p>
        </p:txBody>
      </p:sp>
      <p:pic>
        <p:nvPicPr>
          <p:cNvPr id="17410" name="Picture 2"/>
          <p:cNvPicPr>
            <a:picLocks noChangeAspect="1" noChangeArrowheads="1"/>
          </p:cNvPicPr>
          <p:nvPr/>
        </p:nvPicPr>
        <p:blipFill>
          <a:blip r:embed="rId2" cstate="print"/>
          <a:srcRect t="8999" b="19010"/>
          <a:stretch>
            <a:fillRect/>
          </a:stretch>
        </p:blipFill>
        <p:spPr bwMode="auto">
          <a:xfrm>
            <a:off x="1187624" y="4941168"/>
            <a:ext cx="4717504" cy="513375"/>
          </a:xfrm>
          <a:prstGeom prst="rect">
            <a:avLst/>
          </a:prstGeom>
          <a:noFill/>
          <a:ln w="9525">
            <a:noFill/>
            <a:miter lim="800000"/>
            <a:headEnd/>
            <a:tailEnd/>
          </a:ln>
        </p:spPr>
      </p:pic>
      <p:pic>
        <p:nvPicPr>
          <p:cNvPr id="17411" name="Picture 3"/>
          <p:cNvPicPr>
            <a:picLocks noChangeAspect="1" noChangeArrowheads="1"/>
          </p:cNvPicPr>
          <p:nvPr/>
        </p:nvPicPr>
        <p:blipFill>
          <a:blip r:embed="rId3" cstate="print"/>
          <a:srcRect/>
          <a:stretch>
            <a:fillRect/>
          </a:stretch>
        </p:blipFill>
        <p:spPr bwMode="auto">
          <a:xfrm>
            <a:off x="6296254" y="1700808"/>
            <a:ext cx="2625223" cy="2952328"/>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Sequence induction</a:t>
            </a:r>
            <a:endParaRPr lang="zh-TW" altLang="en-US" dirty="0"/>
          </a:p>
        </p:txBody>
      </p:sp>
      <p:sp>
        <p:nvSpPr>
          <p:cNvPr id="3" name="內容版面配置區 2"/>
          <p:cNvSpPr>
            <a:spLocks noGrp="1"/>
          </p:cNvSpPr>
          <p:nvPr>
            <p:ph idx="1"/>
          </p:nvPr>
        </p:nvSpPr>
        <p:spPr/>
        <p:txBody>
          <a:bodyPr/>
          <a:lstStyle/>
          <a:p>
            <a:r>
              <a:rPr lang="en-US" altLang="zh-TW" dirty="0" smtClean="0"/>
              <a:t>With ephemeral random number</a:t>
            </a:r>
          </a:p>
          <a:p>
            <a:endParaRPr lang="en-US" altLang="zh-TW" dirty="0"/>
          </a:p>
          <a:p>
            <a:endParaRPr lang="en-US" altLang="zh-TW" dirty="0" smtClean="0"/>
          </a:p>
          <a:p>
            <a:endParaRPr lang="en-US" altLang="zh-TW" dirty="0" smtClean="0"/>
          </a:p>
          <a:p>
            <a:r>
              <a:rPr lang="en-US" altLang="zh-TW" dirty="0" smtClean="0"/>
              <a:t>Without ephemeral random number</a:t>
            </a:r>
          </a:p>
        </p:txBody>
      </p:sp>
      <p:pic>
        <p:nvPicPr>
          <p:cNvPr id="18434" name="Picture 2"/>
          <p:cNvPicPr>
            <a:picLocks noChangeAspect="1" noChangeArrowheads="1"/>
          </p:cNvPicPr>
          <p:nvPr/>
        </p:nvPicPr>
        <p:blipFill>
          <a:blip r:embed="rId2" cstate="print"/>
          <a:srcRect t="3964" b="4869"/>
          <a:stretch>
            <a:fillRect/>
          </a:stretch>
        </p:blipFill>
        <p:spPr bwMode="auto">
          <a:xfrm>
            <a:off x="1547664" y="2204864"/>
            <a:ext cx="5112568" cy="1656184"/>
          </a:xfrm>
          <a:prstGeom prst="rect">
            <a:avLst/>
          </a:prstGeom>
          <a:noFill/>
          <a:ln w="9525">
            <a:noFill/>
            <a:miter lim="800000"/>
            <a:headEnd/>
            <a:tailEnd/>
          </a:ln>
        </p:spPr>
      </p:pic>
      <p:pic>
        <p:nvPicPr>
          <p:cNvPr id="18435" name="Picture 3"/>
          <p:cNvPicPr>
            <a:picLocks noChangeAspect="1" noChangeArrowheads="1"/>
          </p:cNvPicPr>
          <p:nvPr/>
        </p:nvPicPr>
        <p:blipFill>
          <a:blip r:embed="rId3" cstate="print"/>
          <a:srcRect/>
          <a:stretch>
            <a:fillRect/>
          </a:stretch>
        </p:blipFill>
        <p:spPr bwMode="auto">
          <a:xfrm>
            <a:off x="1187624" y="4653136"/>
            <a:ext cx="6572250" cy="14573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Sequence induction</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smtClean="0"/>
              <a:t>The </a:t>
            </a:r>
            <a:r>
              <a:rPr lang="en-US" altLang="zh-TW" dirty="0"/>
              <a:t>probability of </a:t>
            </a:r>
            <a:r>
              <a:rPr lang="en-US" altLang="zh-TW" dirty="0" smtClean="0"/>
              <a:t>success for </a:t>
            </a:r>
            <a:r>
              <a:rPr lang="en-US" altLang="zh-TW" dirty="0"/>
              <a:t>this problem is 0.31, </a:t>
            </a:r>
            <a:r>
              <a:rPr lang="en-US" altLang="zh-TW" dirty="0" smtClean="0"/>
              <a:t>considerably </a:t>
            </a:r>
            <a:r>
              <a:rPr lang="en-US" altLang="zh-TW" dirty="0"/>
              <a:t>lower than </a:t>
            </a:r>
            <a:r>
              <a:rPr lang="en-US" altLang="zh-TW" dirty="0" smtClean="0"/>
              <a:t>the 0.83 </a:t>
            </a:r>
            <a:r>
              <a:rPr lang="en-US" altLang="zh-TW" dirty="0"/>
              <a:t>of the first approach. </a:t>
            </a:r>
            <a:endParaRPr lang="en-US" altLang="zh-TW" dirty="0" smtClean="0"/>
          </a:p>
          <a:p>
            <a:r>
              <a:rPr lang="en-US" altLang="zh-TW" dirty="0" smtClean="0"/>
              <a:t>For </a:t>
            </a:r>
            <a:r>
              <a:rPr lang="en-US" altLang="zh-TW" dirty="0"/>
              <a:t>real-world </a:t>
            </a:r>
            <a:r>
              <a:rPr lang="en-US" altLang="zh-TW" dirty="0" smtClean="0"/>
              <a:t>applications where </a:t>
            </a:r>
            <a:r>
              <a:rPr lang="en-US" altLang="zh-TW" dirty="0"/>
              <a:t>the magnitude and type of coefficients </a:t>
            </a:r>
            <a:r>
              <a:rPr lang="en-US" altLang="zh-TW" dirty="0" smtClean="0"/>
              <a:t>is unknown</a:t>
            </a:r>
            <a:r>
              <a:rPr lang="en-US" altLang="zh-TW" dirty="0"/>
              <a:t>, it is more appropriate to let the system find </a:t>
            </a:r>
            <a:r>
              <a:rPr lang="en-US" altLang="zh-TW" dirty="0" smtClean="0"/>
              <a:t>the constants </a:t>
            </a:r>
            <a:r>
              <a:rPr lang="en-US" altLang="zh-TW" dirty="0"/>
              <a:t>for </a:t>
            </a:r>
            <a:r>
              <a:rPr lang="en-US" altLang="zh-TW" dirty="0" smtClean="0"/>
              <a:t>itself.</a:t>
            </a:r>
          </a:p>
          <a:p>
            <a:r>
              <a:rPr lang="en-US" altLang="zh-TW" dirty="0" smtClean="0"/>
              <a:t>However</a:t>
            </a:r>
            <a:r>
              <a:rPr lang="en-US" altLang="zh-TW" dirty="0"/>
              <a:t>, for some numerical </a:t>
            </a:r>
            <a:r>
              <a:rPr lang="en-US" altLang="zh-TW" dirty="0" smtClean="0"/>
              <a:t>applications the </a:t>
            </a:r>
            <a:r>
              <a:rPr lang="en-US" altLang="zh-TW" dirty="0"/>
              <a:t>discovery of constants is fundamental and </a:t>
            </a:r>
            <a:r>
              <a:rPr lang="en-US" altLang="zh-TW" dirty="0" smtClean="0"/>
              <a:t>they can </a:t>
            </a:r>
            <a:r>
              <a:rPr lang="en-US" altLang="zh-TW" dirty="0"/>
              <a:t>be easily created as indicated here.</a:t>
            </a:r>
            <a:endParaRPr lang="zh-TW"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Block Stacking</a:t>
            </a:r>
            <a:endParaRPr lang="zh-TW" altLang="en-US" dirty="0"/>
          </a:p>
        </p:txBody>
      </p:sp>
      <p:sp>
        <p:nvSpPr>
          <p:cNvPr id="3" name="內容版面配置區 2"/>
          <p:cNvSpPr>
            <a:spLocks noGrp="1"/>
          </p:cNvSpPr>
          <p:nvPr>
            <p:ph idx="1"/>
          </p:nvPr>
        </p:nvSpPr>
        <p:spPr/>
        <p:txBody>
          <a:bodyPr/>
          <a:lstStyle/>
          <a:p>
            <a:r>
              <a:rPr lang="en-US" altLang="zh-TW" dirty="0" smtClean="0"/>
              <a:t>The </a:t>
            </a:r>
            <a:r>
              <a:rPr lang="en-US" altLang="zh-TW" dirty="0"/>
              <a:t>goal is to find a plan that takes any </a:t>
            </a:r>
            <a:r>
              <a:rPr lang="en-US" altLang="zh-TW" dirty="0" smtClean="0"/>
              <a:t>initial configuration </a:t>
            </a:r>
            <a:r>
              <a:rPr lang="en-US" altLang="zh-TW" dirty="0"/>
              <a:t>of blocks randomly distributed between </a:t>
            </a:r>
            <a:r>
              <a:rPr lang="en-US" altLang="zh-TW" dirty="0" smtClean="0"/>
              <a:t>the stack </a:t>
            </a:r>
            <a:r>
              <a:rPr lang="en-US" altLang="zh-TW" dirty="0"/>
              <a:t>and the table and places them in the stack in the </a:t>
            </a:r>
            <a:r>
              <a:rPr lang="en-US" altLang="zh-TW" dirty="0" smtClean="0"/>
              <a:t>correct order</a:t>
            </a:r>
            <a:r>
              <a:rPr lang="en-US" altLang="zh-TW" dirty="0"/>
              <a:t>.</a:t>
            </a:r>
            <a:endParaRPr lang="zh-TW"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200" dirty="0"/>
              <a:t>Progression of average fitness of the </a:t>
            </a:r>
            <a:r>
              <a:rPr lang="en-US" altLang="zh-TW" sz="3200" dirty="0" smtClean="0"/>
              <a:t>generation and </a:t>
            </a:r>
            <a:r>
              <a:rPr lang="en-US" altLang="zh-TW" sz="3200" dirty="0"/>
              <a:t>the fitness of the best individual</a:t>
            </a:r>
            <a:endParaRPr lang="zh-TW" altLang="en-US" sz="3200" dirty="0"/>
          </a:p>
        </p:txBody>
      </p:sp>
      <p:pic>
        <p:nvPicPr>
          <p:cNvPr id="19458" name="Picture 2"/>
          <p:cNvPicPr>
            <a:picLocks noGrp="1" noChangeAspect="1" noChangeArrowheads="1"/>
          </p:cNvPicPr>
          <p:nvPr>
            <p:ph idx="1"/>
          </p:nvPr>
        </p:nvPicPr>
        <p:blipFill>
          <a:blip r:embed="rId2" cstate="print"/>
          <a:srcRect/>
          <a:stretch>
            <a:fillRect/>
          </a:stretch>
        </p:blipFill>
        <p:spPr bwMode="auto">
          <a:xfrm>
            <a:off x="2699792" y="1484784"/>
            <a:ext cx="3744416" cy="521948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cstate="print"/>
          <a:srcRect l="42982"/>
          <a:stretch>
            <a:fillRect/>
          </a:stretch>
        </p:blipFill>
        <p:spPr bwMode="auto">
          <a:xfrm>
            <a:off x="2123728" y="1628800"/>
            <a:ext cx="4967089" cy="3814176"/>
          </a:xfrm>
          <a:prstGeom prst="rect">
            <a:avLst/>
          </a:prstGeom>
          <a:noFill/>
          <a:ln w="9525">
            <a:noFill/>
            <a:miter lim="800000"/>
            <a:headEnd/>
            <a:tailEnd/>
          </a:ln>
        </p:spPr>
      </p:pic>
      <p:sp>
        <p:nvSpPr>
          <p:cNvPr id="5" name="標題 1"/>
          <p:cNvSpPr>
            <a:spLocks noGrp="1"/>
          </p:cNvSpPr>
          <p:nvPr>
            <p:ph type="title"/>
          </p:nvPr>
        </p:nvSpPr>
        <p:spPr>
          <a:xfrm>
            <a:off x="457200" y="413792"/>
            <a:ext cx="8229600" cy="1143000"/>
          </a:xfrm>
        </p:spPr>
        <p:txBody>
          <a:bodyPr>
            <a:noAutofit/>
          </a:bodyPr>
          <a:lstStyle/>
          <a:p>
            <a:r>
              <a:rPr lang="en-US" altLang="zh-TW" sz="4000" dirty="0" smtClean="0"/>
              <a:t>Book (Block) stacking problem</a:t>
            </a:r>
            <a:endParaRPr lang="zh-TW" alt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11-multiplexer problem</a:t>
            </a:r>
            <a:endParaRPr lang="zh-TW" altLang="en-US" dirty="0"/>
          </a:p>
        </p:txBody>
      </p:sp>
      <p:sp>
        <p:nvSpPr>
          <p:cNvPr id="3" name="內容版面配置區 2"/>
          <p:cNvSpPr>
            <a:spLocks noGrp="1"/>
          </p:cNvSpPr>
          <p:nvPr>
            <p:ph idx="1"/>
          </p:nvPr>
        </p:nvSpPr>
        <p:spPr/>
        <p:txBody>
          <a:bodyPr>
            <a:normAutofit/>
          </a:bodyPr>
          <a:lstStyle/>
          <a:p>
            <a:r>
              <a:rPr lang="en-US" altLang="zh-TW" dirty="0"/>
              <a:t>The task of the 11-bit </a:t>
            </a:r>
            <a:r>
              <a:rPr lang="en-US" altLang="zh-TW" dirty="0" err="1"/>
              <a:t>boolean</a:t>
            </a:r>
            <a:r>
              <a:rPr lang="en-US" altLang="zh-TW" dirty="0"/>
              <a:t> multiplexer is to decode a </a:t>
            </a:r>
            <a:r>
              <a:rPr lang="en-US" altLang="zh-TW" dirty="0" smtClean="0"/>
              <a:t>3-bit binary </a:t>
            </a:r>
            <a:r>
              <a:rPr lang="en-US" altLang="zh-TW" dirty="0"/>
              <a:t>address (000, 001, 010, 011, 100, 101, 110, 111) </a:t>
            </a:r>
            <a:r>
              <a:rPr lang="en-US" altLang="zh-TW" dirty="0" smtClean="0"/>
              <a:t>and return </a:t>
            </a:r>
            <a:r>
              <a:rPr lang="en-US" altLang="zh-TW" dirty="0"/>
              <a:t>the value of the corresponding data register (d0, d1, </a:t>
            </a:r>
            <a:r>
              <a:rPr lang="en-US" altLang="zh-TW" dirty="0" smtClean="0"/>
              <a:t>d2, d3</a:t>
            </a:r>
            <a:r>
              <a:rPr lang="en-US" altLang="zh-TW" dirty="0"/>
              <a:t>, d4, d5, d6, d7</a:t>
            </a:r>
            <a:r>
              <a:rPr lang="en-US" altLang="zh-TW" dirty="0" smtClean="0"/>
              <a:t>).</a:t>
            </a:r>
          </a:p>
          <a:p>
            <a:r>
              <a:rPr lang="en-US" altLang="zh-TW" i="1" dirty="0"/>
              <a:t>T = {a, b, c, 1, 2, 3, 4, 5, 6, 7, </a:t>
            </a:r>
            <a:r>
              <a:rPr lang="en-US" altLang="zh-TW" i="1" dirty="0" smtClean="0"/>
              <a:t>8}</a:t>
            </a:r>
          </a:p>
          <a:p>
            <a:r>
              <a:rPr lang="en-US" altLang="zh-TW" dirty="0" smtClean="0"/>
              <a:t>respectively</a:t>
            </a:r>
            <a:r>
              <a:rPr lang="en-US" altLang="zh-TW" dirty="0"/>
              <a:t>, to {a0, a1, a2, d0, d1, d2, d3, </a:t>
            </a:r>
            <a:r>
              <a:rPr lang="en-US" altLang="zh-TW" dirty="0" smtClean="0"/>
              <a:t>d4, d5</a:t>
            </a:r>
            <a:r>
              <a:rPr lang="en-US" altLang="zh-TW" dirty="0"/>
              <a:t>, d6, d7}</a:t>
            </a:r>
            <a:endParaRPr lang="zh-TW"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11-multiplexer problem</a:t>
            </a:r>
            <a:endParaRPr lang="zh-TW" altLang="en-US" dirty="0"/>
          </a:p>
        </p:txBody>
      </p:sp>
      <p:pic>
        <p:nvPicPr>
          <p:cNvPr id="21506" name="Picture 2"/>
          <p:cNvPicPr>
            <a:picLocks noGrp="1" noChangeAspect="1" noChangeArrowheads="1"/>
          </p:cNvPicPr>
          <p:nvPr>
            <p:ph idx="1"/>
          </p:nvPr>
        </p:nvPicPr>
        <p:blipFill>
          <a:blip r:embed="rId2" cstate="print"/>
          <a:srcRect/>
          <a:stretch>
            <a:fillRect/>
          </a:stretch>
        </p:blipFill>
        <p:spPr bwMode="auto">
          <a:xfrm>
            <a:off x="2667640" y="1628800"/>
            <a:ext cx="4064600" cy="4984159"/>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95536" y="2060848"/>
            <a:ext cx="8229600" cy="1143000"/>
          </a:xfrm>
        </p:spPr>
        <p:txBody>
          <a:bodyPr>
            <a:normAutofit/>
          </a:bodyPr>
          <a:lstStyle/>
          <a:p>
            <a:r>
              <a:rPr lang="en-US" altLang="zh-TW" sz="6000" dirty="0" smtClean="0"/>
              <a:t>Thank you!</a:t>
            </a:r>
            <a:endParaRPr lang="zh-TW" altLang="en-US" sz="6000" dirty="0"/>
          </a:p>
        </p:txBody>
      </p:sp>
      <p:sp>
        <p:nvSpPr>
          <p:cNvPr id="3" name="內容版面配置區 2"/>
          <p:cNvSpPr>
            <a:spLocks noGrp="1"/>
          </p:cNvSpPr>
          <p:nvPr>
            <p:ph idx="1"/>
          </p:nvPr>
        </p:nvSpPr>
        <p:spPr>
          <a:xfrm>
            <a:off x="1691680" y="3501008"/>
            <a:ext cx="5832648" cy="576064"/>
          </a:xfrm>
        </p:spPr>
        <p:txBody>
          <a:bodyPr>
            <a:normAutofit/>
          </a:bodyPr>
          <a:lstStyle/>
          <a:p>
            <a:pPr>
              <a:buNone/>
            </a:pPr>
            <a:r>
              <a:rPr lang="en-US" altLang="zh-TW" sz="2800" dirty="0" smtClean="0"/>
              <a:t>Special thanks to </a:t>
            </a:r>
            <a:r>
              <a:rPr lang="zh-TW" altLang="en-US" sz="2800" dirty="0" smtClean="0"/>
              <a:t>周孝岷 </a:t>
            </a:r>
            <a:r>
              <a:rPr lang="en-US" altLang="zh-TW" sz="2800" dirty="0" smtClean="0"/>
              <a:t>and </a:t>
            </a:r>
            <a:r>
              <a:rPr lang="zh-TW" altLang="en-US" sz="2800" dirty="0" smtClean="0"/>
              <a:t>陳紘昕</a:t>
            </a:r>
            <a:r>
              <a:rPr lang="en-US" altLang="zh-TW" sz="2400" dirty="0" smtClean="0"/>
              <a:t>.</a:t>
            </a:r>
            <a:endParaRPr lang="zh-TW" altLang="en-US" sz="2400" dirty="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TotalTime>
  <Words>1162</Words>
  <Application>Microsoft Office PowerPoint</Application>
  <PresentationFormat>如螢幕大小 (4:3)</PresentationFormat>
  <Paragraphs>224</Paragraphs>
  <Slides>41</Slides>
  <Notes>1</Notes>
  <HiddenSlides>0</HiddenSlides>
  <MMClips>0</MMClips>
  <ScaleCrop>false</ScaleCrop>
  <HeadingPairs>
    <vt:vector size="4" baseType="variant">
      <vt:variant>
        <vt:lpstr>佈景主題</vt:lpstr>
      </vt:variant>
      <vt:variant>
        <vt:i4>1</vt:i4>
      </vt:variant>
      <vt:variant>
        <vt:lpstr>投影片標題</vt:lpstr>
      </vt:variant>
      <vt:variant>
        <vt:i4>41</vt:i4>
      </vt:variant>
    </vt:vector>
  </HeadingPairs>
  <TitlesOfParts>
    <vt:vector size="42" baseType="lpstr">
      <vt:lpstr>Office 佈景主題</vt:lpstr>
      <vt:lpstr>Gene Expression Programming: A New Adaptive Algorithm for Solving Problems   Complex Systems, Vol. 13, issue 2: 87-129, 2001</vt:lpstr>
      <vt:lpstr>Abstract</vt:lpstr>
      <vt:lpstr>Genetic Algorithm</vt:lpstr>
      <vt:lpstr>Genetic Programming</vt:lpstr>
      <vt:lpstr>Genetic Programming(GP)</vt:lpstr>
      <vt:lpstr>投影片 6</vt:lpstr>
      <vt:lpstr>crossover</vt:lpstr>
      <vt:lpstr>單點交配</vt:lpstr>
      <vt:lpstr>兩點交配</vt:lpstr>
      <vt:lpstr>reproduction</vt:lpstr>
      <vt:lpstr>(a)輪盤式選擇(roulette wheel selection)</vt:lpstr>
      <vt:lpstr>Mutation</vt:lpstr>
      <vt:lpstr>Flowchart of gene expression algorithm</vt:lpstr>
      <vt:lpstr>Flowchart of gene expression algorithm</vt:lpstr>
      <vt:lpstr>Open reading frames (ORFs)</vt:lpstr>
      <vt:lpstr>Open reading frames (ORFs)</vt:lpstr>
      <vt:lpstr>Example of ORFs</vt:lpstr>
      <vt:lpstr>Example of ORFs</vt:lpstr>
      <vt:lpstr>Advantages of using ORFs</vt:lpstr>
      <vt:lpstr>example of ORFs (multigenic)</vt:lpstr>
      <vt:lpstr>example of ORFs (multigenic)</vt:lpstr>
      <vt:lpstr>Fitness functions</vt:lpstr>
      <vt:lpstr>Reproduction with modification</vt:lpstr>
      <vt:lpstr>gene expression programming  in problem solving</vt:lpstr>
      <vt:lpstr>投影片 25</vt:lpstr>
      <vt:lpstr>Experiment of symbolic regression</vt:lpstr>
      <vt:lpstr>Variation of success rate (Ps) with chromosome length</vt:lpstr>
      <vt:lpstr>Variation of success rate (Ps) with population size</vt:lpstr>
      <vt:lpstr>Variation of success rate (Ps) with the number of genes</vt:lpstr>
      <vt:lpstr>Variation of success rate (Ps) with the number of generations</vt:lpstr>
      <vt:lpstr>Progression of average fitness of the population and the fitness of the best individual</vt:lpstr>
      <vt:lpstr>Possible evolutionary dynamics for GEP generation</vt:lpstr>
      <vt:lpstr>Sequence induction</vt:lpstr>
      <vt:lpstr>Sequence induction</vt:lpstr>
      <vt:lpstr>Sequence induction</vt:lpstr>
      <vt:lpstr>Block Stacking</vt:lpstr>
      <vt:lpstr>Progression of average fitness of the generation and the fitness of the best individual</vt:lpstr>
      <vt:lpstr>Book (Block) stacking problem</vt:lpstr>
      <vt:lpstr>11-multiplexer problem</vt:lpstr>
      <vt:lpstr>11-multiplexer problem</vt:lpstr>
      <vt:lpstr>Thank you!</vt:lpstr>
    </vt:vector>
  </TitlesOfParts>
  <Company>pplab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 Expression Programming: A New Adaptive Algorithm for Solving Problems   Complex Systems, Vol. 13, issue 2: 87-129, 2001</dc:title>
  <dc:creator>William</dc:creator>
  <cp:lastModifiedBy>William</cp:lastModifiedBy>
  <cp:revision>41</cp:revision>
  <dcterms:created xsi:type="dcterms:W3CDTF">2011-11-07T03:51:03Z</dcterms:created>
  <dcterms:modified xsi:type="dcterms:W3CDTF">2011-11-07T10:13:13Z</dcterms:modified>
</cp:coreProperties>
</file>