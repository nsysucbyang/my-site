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2" r:id="rId9"/>
    <p:sldId id="263" r:id="rId1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56"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2011/11/7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692696"/>
            <a:ext cx="7772400" cy="1470025"/>
          </a:xfrm>
        </p:spPr>
        <p:txBody>
          <a:bodyPr>
            <a:normAutofit fontScale="90000"/>
          </a:bodyPr>
          <a:lstStyle/>
          <a:p>
            <a:r>
              <a:rPr lang="en-US" altLang="zh-TW" dirty="0" smtClean="0"/>
              <a:t>The binding site distance test score: a robust method for the assessment</a:t>
            </a:r>
            <a:br>
              <a:rPr lang="en-US" altLang="zh-TW" dirty="0" smtClean="0"/>
            </a:br>
            <a:r>
              <a:rPr lang="en-US" altLang="zh-TW" dirty="0" smtClean="0"/>
              <a:t>of predicted protein binding sites</a:t>
            </a:r>
            <a:endParaRPr lang="zh-TW" altLang="en-US" dirty="0"/>
          </a:p>
        </p:txBody>
      </p:sp>
      <p:sp>
        <p:nvSpPr>
          <p:cNvPr id="4" name="副標題 2"/>
          <p:cNvSpPr>
            <a:spLocks noGrp="1"/>
          </p:cNvSpPr>
          <p:nvPr>
            <p:ph type="subTitle" idx="1"/>
          </p:nvPr>
        </p:nvSpPr>
        <p:spPr>
          <a:xfrm>
            <a:off x="899592" y="3068960"/>
            <a:ext cx="7272808" cy="1224136"/>
          </a:xfrm>
        </p:spPr>
        <p:txBody>
          <a:bodyPr anchor="ctr">
            <a:normAutofit/>
          </a:bodyPr>
          <a:lstStyle/>
          <a:p>
            <a:r>
              <a:rPr lang="en-US" altLang="zh-TW" sz="2400" dirty="0" smtClean="0">
                <a:ea typeface="微軟正黑體" pitchFamily="34" charset="-120"/>
                <a:cs typeface="Times New Roman" pitchFamily="18" charset="0"/>
              </a:rPr>
              <a:t>Daniel B. Roche, Stuart J. </a:t>
            </a:r>
            <a:r>
              <a:rPr lang="en-US" altLang="zh-TW" sz="2400" dirty="0" err="1" smtClean="0">
                <a:ea typeface="微軟正黑體" pitchFamily="34" charset="-120"/>
                <a:cs typeface="Times New Roman" pitchFamily="18" charset="0"/>
              </a:rPr>
              <a:t>Tetchner</a:t>
            </a:r>
            <a:r>
              <a:rPr lang="en-US" altLang="zh-TW" sz="2400" dirty="0" smtClean="0">
                <a:ea typeface="微軟正黑體" pitchFamily="34" charset="-120"/>
                <a:cs typeface="Times New Roman" pitchFamily="18" charset="0"/>
              </a:rPr>
              <a:t> and Liam J. </a:t>
            </a:r>
            <a:r>
              <a:rPr lang="en-US" altLang="zh-TW" sz="2400" dirty="0" err="1" smtClean="0">
                <a:ea typeface="微軟正黑體" pitchFamily="34" charset="-120"/>
                <a:cs typeface="Times New Roman" pitchFamily="18" charset="0"/>
              </a:rPr>
              <a:t>McGufﬁn</a:t>
            </a:r>
            <a:endParaRPr lang="en-US" altLang="zh-TW" sz="2400" dirty="0" smtClean="0">
              <a:ea typeface="微軟正黑體" pitchFamily="34" charset="-120"/>
              <a:cs typeface="Times New Roman" pitchFamily="18" charset="0"/>
            </a:endParaRPr>
          </a:p>
          <a:p>
            <a:r>
              <a:rPr lang="pt-BR" altLang="zh-TW" sz="2400" dirty="0" smtClean="0"/>
              <a:t>Bioinformatics </a:t>
            </a:r>
            <a:r>
              <a:rPr lang="en-US" altLang="zh-TW" sz="2400" dirty="0" smtClean="0">
                <a:ea typeface="微軟正黑體" pitchFamily="34" charset="-120"/>
                <a:cs typeface="Times New Roman" pitchFamily="18" charset="0"/>
              </a:rPr>
              <a:t>Vol.26, no.22, 2010, </a:t>
            </a:r>
            <a:r>
              <a:rPr lang="en-US" altLang="zh-TW" sz="2400" dirty="0" smtClean="0">
                <a:ea typeface="微軟正黑體" pitchFamily="34" charset="-120"/>
                <a:cs typeface="Times New Roman" pitchFamily="18" charset="0"/>
              </a:rPr>
              <a:t>pages 2920–2921</a:t>
            </a:r>
            <a:endParaRPr lang="zh-TW" altLang="en-US" sz="2400" dirty="0">
              <a:ea typeface="微軟正黑體" pitchFamily="34" charset="-120"/>
              <a:cs typeface="Times New Roman" pitchFamily="18" charset="0"/>
            </a:endParaRPr>
          </a:p>
        </p:txBody>
      </p:sp>
      <p:sp>
        <p:nvSpPr>
          <p:cNvPr id="6" name="文字方塊 5"/>
          <p:cNvSpPr txBox="1"/>
          <p:nvPr/>
        </p:nvSpPr>
        <p:spPr>
          <a:xfrm>
            <a:off x="4860032" y="5301208"/>
            <a:ext cx="3569620" cy="830997"/>
          </a:xfrm>
          <a:prstGeom prst="rect">
            <a:avLst/>
          </a:prstGeom>
          <a:noFill/>
        </p:spPr>
        <p:txBody>
          <a:bodyPr wrap="square" rtlCol="0">
            <a:spAutoFit/>
          </a:bodyPr>
          <a:lstStyle/>
          <a:p>
            <a:r>
              <a:rPr lang="en-US" altLang="zh-TW" sz="2400" dirty="0" smtClean="0">
                <a:solidFill>
                  <a:srgbClr val="898989"/>
                </a:solidFill>
                <a:cs typeface="Times New Roman" pitchFamily="18" charset="0"/>
              </a:rPr>
              <a:t>Presenter: Chun-</a:t>
            </a:r>
            <a:r>
              <a:rPr lang="en-US" altLang="zh-TW" sz="2400" dirty="0" err="1" smtClean="0">
                <a:solidFill>
                  <a:srgbClr val="898989"/>
                </a:solidFill>
                <a:cs typeface="Times New Roman" pitchFamily="18" charset="0"/>
              </a:rPr>
              <a:t>Chieh</a:t>
            </a:r>
            <a:r>
              <a:rPr lang="en-US" altLang="zh-TW" sz="2400" dirty="0" smtClean="0">
                <a:solidFill>
                  <a:srgbClr val="898989"/>
                </a:solidFill>
                <a:cs typeface="Times New Roman" pitchFamily="18" charset="0"/>
              </a:rPr>
              <a:t> </a:t>
            </a:r>
            <a:r>
              <a:rPr lang="en-US" altLang="zh-TW" sz="2400" dirty="0" smtClean="0">
                <a:solidFill>
                  <a:srgbClr val="898989"/>
                </a:solidFill>
                <a:cs typeface="Times New Roman" pitchFamily="18" charset="0"/>
              </a:rPr>
              <a:t>Dai</a:t>
            </a:r>
            <a:endParaRPr lang="en-US" altLang="zh-TW" sz="2400" dirty="0" smtClean="0">
              <a:solidFill>
                <a:srgbClr val="898989"/>
              </a:solidFill>
              <a:cs typeface="Times New Roman" pitchFamily="18" charset="0"/>
            </a:endParaRPr>
          </a:p>
          <a:p>
            <a:r>
              <a:rPr lang="en-US" altLang="zh-TW" sz="2400" dirty="0" smtClean="0">
                <a:solidFill>
                  <a:srgbClr val="898989"/>
                </a:solidFill>
                <a:cs typeface="Times New Roman" pitchFamily="18" charset="0"/>
              </a:rPr>
              <a:t>Date: November 7, 2011</a:t>
            </a:r>
            <a:endParaRPr lang="zh-TW" altLang="en-US" sz="2400" dirty="0" smtClean="0">
              <a:solidFill>
                <a:srgbClr val="898989"/>
              </a:solidFill>
              <a:cs typeface="Times New Roman" pitchFamily="18" charset="0"/>
            </a:endParaRPr>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Abstract(1/2)</a:t>
            </a:r>
            <a:endParaRPr lang="zh-TW" altLang="en-US" dirty="0"/>
          </a:p>
        </p:txBody>
      </p:sp>
      <p:sp>
        <p:nvSpPr>
          <p:cNvPr id="3" name="內容版面配置區 2"/>
          <p:cNvSpPr>
            <a:spLocks noGrp="1"/>
          </p:cNvSpPr>
          <p:nvPr>
            <p:ph idx="1"/>
          </p:nvPr>
        </p:nvSpPr>
        <p:spPr>
          <a:xfrm>
            <a:off x="0" y="1600200"/>
            <a:ext cx="8686800" cy="4525963"/>
          </a:xfrm>
        </p:spPr>
        <p:txBody>
          <a:bodyPr>
            <a:noAutofit/>
          </a:bodyPr>
          <a:lstStyle/>
          <a:p>
            <a:pPr algn="just">
              <a:buNone/>
            </a:pPr>
            <a:r>
              <a:rPr lang="en-US" altLang="zh-TW" sz="2300" dirty="0" smtClean="0"/>
              <a:t>	We propose a novel method for scoring the accuracy of protein binding site predictions—the Binding-site Distance Test (BDT) score. Recently, the Matthews Correlation Coefficient(MCC) has been used to evaluate binding site predictions, both by developers of new methods and by the assessors for the community-wide prediction experiment—CASP8. While being a rigorous scoring method, the MCC does not take into account the actual 3D location of the predicted residues from the observed binding site. Thus, an incorrectly predicted site that is nevertheless close to the observed binding site will obtain an identical score to the same number of non-binding residues predicted at random. The MCC is somewhat affected by the subjectivity of determining observed binding residues and the ambiguity of choosing distance cutoffs. </a:t>
            </a:r>
            <a:endParaRPr lang="zh-TW" altLang="en-US" sz="2300" dirty="0"/>
          </a:p>
        </p:txBody>
      </p:sp>
    </p:spTree>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a:xfrm>
            <a:off x="0" y="1600200"/>
            <a:ext cx="8686800" cy="4525963"/>
          </a:xfrm>
        </p:spPr>
        <p:txBody>
          <a:bodyPr>
            <a:noAutofit/>
          </a:bodyPr>
          <a:lstStyle/>
          <a:p>
            <a:pPr algn="just">
              <a:buNone/>
            </a:pPr>
            <a:r>
              <a:rPr lang="en-US" altLang="zh-TW" sz="2400" dirty="0" smtClean="0"/>
              <a:t>	By contrast the BDT method produces continuous scores ranging between 0 and 1, relating to the distance between the predicted and observed residues. Residues predicted close to the binding site will score higher than those more distant, providing a better reflection of the true accuracy of predictions. The CASP8 function predictions were evaluated using both the MCC and BDT methods and the scores were compared. The BDT was found to strongly correlate with the MCC scores while also being less susceptible to the subjectivity of defining binding residues. We therefore suggest that this new simple score is a potentially more robust method for future evaluations of protein–</a:t>
            </a:r>
            <a:r>
              <a:rPr lang="en-US" altLang="zh-TW" sz="2400" dirty="0" err="1" smtClean="0"/>
              <a:t>ligand</a:t>
            </a:r>
            <a:r>
              <a:rPr lang="en-US" altLang="zh-TW" sz="2400" dirty="0" smtClean="0"/>
              <a:t> binding site predictions.</a:t>
            </a:r>
            <a:endParaRPr lang="zh-TW" altLang="en-US" sz="2400" dirty="0"/>
          </a:p>
        </p:txBody>
      </p:sp>
    </p:spTree>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Matthews Correlation Coefﬁcient</a:t>
            </a:r>
            <a:endParaRPr lang="zh-TW" altLang="en-US" dirty="0"/>
          </a:p>
        </p:txBody>
      </p:sp>
      <p:graphicFrame>
        <p:nvGraphicFramePr>
          <p:cNvPr id="4" name="內容版面配置區 3"/>
          <p:cNvGraphicFramePr>
            <a:graphicFrameLocks noGrp="1"/>
          </p:cNvGraphicFramePr>
          <p:nvPr>
            <p:ph idx="1"/>
          </p:nvPr>
        </p:nvGraphicFramePr>
        <p:xfrm>
          <a:off x="2195736" y="1628800"/>
          <a:ext cx="4544513" cy="2592288"/>
        </p:xfrm>
        <a:graphic>
          <a:graphicData uri="http://schemas.openxmlformats.org/drawingml/2006/table">
            <a:tbl>
              <a:tblPr firstRow="1" bandRow="1">
                <a:tableStyleId>{2D5ABB26-0587-4C30-8999-92F81FD0307C}</a:tableStyleId>
              </a:tblPr>
              <a:tblGrid>
                <a:gridCol w="792089"/>
                <a:gridCol w="360040"/>
                <a:gridCol w="1696192"/>
                <a:gridCol w="1696192"/>
              </a:tblGrid>
              <a:tr h="432048">
                <a:tc>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altLang="zh-TW" sz="1800" b="1" i="0" kern="1200" dirty="0" smtClean="0">
                          <a:solidFill>
                            <a:schemeClr val="tx1"/>
                          </a:solidFill>
                          <a:latin typeface="+mn-lt"/>
                          <a:ea typeface="+mn-ea"/>
                          <a:cs typeface="+mn-cs"/>
                        </a:rPr>
                        <a:t>prediction outcome</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2048">
                <a:tc rowSpan="3">
                  <a:txBody>
                    <a:bodyPr/>
                    <a:lstStyle/>
                    <a:p>
                      <a:pPr algn="ctr"/>
                      <a:r>
                        <a:rPr lang="en-US" altLang="zh-TW" sz="1800" b="1" i="0" kern="1200" dirty="0" smtClean="0">
                          <a:solidFill>
                            <a:schemeClr val="tx1"/>
                          </a:solidFill>
                          <a:latin typeface="+mn-lt"/>
                          <a:ea typeface="+mn-ea"/>
                          <a:cs typeface="+mn-cs"/>
                        </a:rPr>
                        <a:t>actual</a:t>
                      </a:r>
                      <a:r>
                        <a:rPr lang="en-US" altLang="zh-TW" dirty="0" smtClean="0"/>
                        <a:t/>
                      </a:r>
                      <a:br>
                        <a:rPr lang="en-US" altLang="zh-TW" dirty="0" smtClean="0"/>
                      </a:br>
                      <a:r>
                        <a:rPr lang="en-US" altLang="zh-TW" sz="1800" b="1" i="0" kern="1200" dirty="0" smtClean="0">
                          <a:solidFill>
                            <a:schemeClr val="tx1"/>
                          </a:solidFill>
                          <a:latin typeface="+mn-lt"/>
                          <a:ea typeface="+mn-ea"/>
                          <a:cs typeface="+mn-cs"/>
                        </a:rPr>
                        <a:t>value</a:t>
                      </a:r>
                      <a:endParaRPr lang="zh-TW"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P</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N</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64096">
                <a:tc v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smtClean="0"/>
                        <a:t>P’</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True</a:t>
                      </a:r>
                      <a:r>
                        <a:rPr lang="en-US" altLang="zh-TW" baseline="0" dirty="0" smtClean="0"/>
                        <a:t> Positive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False Negative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64096">
                <a:tc v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smtClean="0"/>
                        <a:t>N’</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False Positive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True Negative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0" name="圖片 9" descr="mcc.png"/>
          <p:cNvPicPr>
            <a:picLocks noChangeAspect="1"/>
          </p:cNvPicPr>
          <p:nvPr/>
        </p:nvPicPr>
        <p:blipFill>
          <a:blip r:embed="rId2" cstate="print"/>
          <a:stretch>
            <a:fillRect/>
          </a:stretch>
        </p:blipFill>
        <p:spPr>
          <a:xfrm>
            <a:off x="683568" y="4797152"/>
            <a:ext cx="7740352" cy="1552155"/>
          </a:xfrm>
          <a:prstGeom prst="rect">
            <a:avLst/>
          </a:prstGeom>
        </p:spPr>
      </p:pic>
    </p:spTree>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Binding-site Distance Test</a:t>
            </a:r>
            <a:endParaRPr lang="zh-TW" altLang="en-US" dirty="0"/>
          </a:p>
        </p:txBody>
      </p:sp>
      <p:pic>
        <p:nvPicPr>
          <p:cNvPr id="4" name="內容版面配置區 3" descr="BDT.PNG"/>
          <p:cNvPicPr>
            <a:picLocks noGrp="1" noChangeAspect="1"/>
          </p:cNvPicPr>
          <p:nvPr>
            <p:ph sz="half" idx="1"/>
          </p:nvPr>
        </p:nvPicPr>
        <p:blipFill>
          <a:blip r:embed="rId2" cstate="print"/>
          <a:stretch>
            <a:fillRect/>
          </a:stretch>
        </p:blipFill>
        <p:spPr>
          <a:xfrm>
            <a:off x="251520" y="1556792"/>
            <a:ext cx="4364966" cy="1656184"/>
          </a:xfrm>
        </p:spPr>
      </p:pic>
      <p:sp>
        <p:nvSpPr>
          <p:cNvPr id="7" name="內容版面配置區 6"/>
          <p:cNvSpPr>
            <a:spLocks noGrp="1"/>
          </p:cNvSpPr>
          <p:nvPr>
            <p:ph sz="half" idx="2"/>
          </p:nvPr>
        </p:nvSpPr>
        <p:spPr>
          <a:xfrm>
            <a:off x="179512" y="3789040"/>
            <a:ext cx="8784976" cy="2520280"/>
          </a:xfrm>
        </p:spPr>
        <p:txBody>
          <a:bodyPr anchor="ctr">
            <a:normAutofit fontScale="77500" lnSpcReduction="20000"/>
          </a:bodyPr>
          <a:lstStyle/>
          <a:p>
            <a:pPr>
              <a:buNone/>
            </a:pPr>
            <a:r>
              <a:rPr lang="en-US" altLang="zh-TW" sz="3100" dirty="0" err="1" smtClean="0"/>
              <a:t>S</a:t>
            </a:r>
            <a:r>
              <a:rPr lang="en-US" altLang="zh-TW" sz="3100" baseline="-25000" dirty="0" err="1" smtClean="0"/>
              <a:t>ij</a:t>
            </a:r>
            <a:r>
              <a:rPr lang="en-US" altLang="zh-TW" dirty="0" smtClean="0"/>
              <a:t>: the S-score between a predicted residue </a:t>
            </a:r>
            <a:r>
              <a:rPr lang="en-US" altLang="zh-TW" dirty="0" err="1" smtClean="0"/>
              <a:t>i</a:t>
            </a:r>
            <a:r>
              <a:rPr lang="en-US" altLang="zh-TW" dirty="0" smtClean="0"/>
              <a:t> and an observed residue j</a:t>
            </a:r>
          </a:p>
          <a:p>
            <a:pPr>
              <a:buNone/>
            </a:pPr>
            <a:r>
              <a:rPr lang="en-US" altLang="zh-TW" sz="3100" dirty="0" err="1" smtClean="0"/>
              <a:t>d</a:t>
            </a:r>
            <a:r>
              <a:rPr lang="en-US" altLang="zh-TW" sz="3100" baseline="-25000" dirty="0" err="1" smtClean="0"/>
              <a:t>ij</a:t>
            </a:r>
            <a:r>
              <a:rPr lang="en-US" altLang="zh-TW" dirty="0" smtClean="0"/>
              <a:t>: the Euclidean distance between the </a:t>
            </a:r>
            <a:r>
              <a:rPr lang="en-US" altLang="zh-TW" dirty="0" err="1" smtClean="0"/>
              <a:t>Cα</a:t>
            </a:r>
            <a:r>
              <a:rPr lang="en-US" altLang="zh-TW" dirty="0" smtClean="0"/>
              <a:t> coordinates of residues </a:t>
            </a:r>
            <a:r>
              <a:rPr lang="en-US" altLang="zh-TW" dirty="0" err="1" smtClean="0"/>
              <a:t>i</a:t>
            </a:r>
            <a:r>
              <a:rPr lang="en-US" altLang="zh-TW" dirty="0" smtClean="0"/>
              <a:t> and j</a:t>
            </a:r>
          </a:p>
          <a:p>
            <a:pPr>
              <a:buNone/>
            </a:pPr>
            <a:r>
              <a:rPr lang="en-US" altLang="zh-TW" sz="3100" dirty="0" smtClean="0"/>
              <a:t>d</a:t>
            </a:r>
            <a:r>
              <a:rPr lang="en-US" altLang="zh-TW" sz="3100" baseline="-25000" dirty="0" smtClean="0"/>
              <a:t>0</a:t>
            </a:r>
            <a:r>
              <a:rPr lang="en-US" altLang="zh-TW" dirty="0" smtClean="0"/>
              <a:t>: a distance threshold</a:t>
            </a:r>
          </a:p>
          <a:p>
            <a:pPr>
              <a:buNone/>
            </a:pPr>
            <a:r>
              <a:rPr lang="en-US" altLang="zh-TW" sz="3100" dirty="0" smtClean="0"/>
              <a:t>max(</a:t>
            </a:r>
            <a:r>
              <a:rPr lang="en-US" altLang="zh-TW" sz="3100" dirty="0" err="1" smtClean="0"/>
              <a:t>S</a:t>
            </a:r>
            <a:r>
              <a:rPr lang="en-US" altLang="zh-TW" sz="3100" baseline="-25000" dirty="0" err="1" smtClean="0"/>
              <a:t>ij</a:t>
            </a:r>
            <a:r>
              <a:rPr lang="en-US" altLang="zh-TW" sz="3100" dirty="0" smtClean="0"/>
              <a:t> )</a:t>
            </a:r>
            <a:r>
              <a:rPr lang="en-US" altLang="zh-TW" dirty="0" smtClean="0"/>
              <a:t>: determine for each predicted residue</a:t>
            </a:r>
          </a:p>
          <a:p>
            <a:pPr>
              <a:buNone/>
            </a:pPr>
            <a:r>
              <a:rPr lang="en-US" altLang="zh-TW" sz="3100" dirty="0" err="1" smtClean="0"/>
              <a:t>N</a:t>
            </a:r>
            <a:r>
              <a:rPr lang="en-US" altLang="zh-TW" sz="3100" baseline="-25000" dirty="0" err="1" smtClean="0"/>
              <a:t>p</a:t>
            </a:r>
            <a:r>
              <a:rPr lang="en-US" altLang="zh-TW" dirty="0" smtClean="0"/>
              <a:t>: the number of predicted residues</a:t>
            </a:r>
          </a:p>
          <a:p>
            <a:pPr>
              <a:buNone/>
            </a:pPr>
            <a:r>
              <a:rPr lang="en-US" altLang="zh-TW" sz="3100" dirty="0" smtClean="0"/>
              <a:t>N</a:t>
            </a:r>
            <a:r>
              <a:rPr lang="en-US" altLang="zh-TW" sz="3100" baseline="-25000" dirty="0" smtClean="0"/>
              <a:t>o</a:t>
            </a:r>
            <a:r>
              <a:rPr lang="en-US" altLang="zh-TW" dirty="0" smtClean="0"/>
              <a:t>: the number of observed residues</a:t>
            </a:r>
            <a:endParaRPr lang="zh-TW" altLang="en-US" dirty="0"/>
          </a:p>
        </p:txBody>
      </p:sp>
      <p:pic>
        <p:nvPicPr>
          <p:cNvPr id="5" name="圖片 4" descr="Sij.PNG"/>
          <p:cNvPicPr>
            <a:picLocks noChangeAspect="1"/>
          </p:cNvPicPr>
          <p:nvPr/>
        </p:nvPicPr>
        <p:blipFill>
          <a:blip r:embed="rId3" cstate="print"/>
          <a:stretch>
            <a:fillRect/>
          </a:stretch>
        </p:blipFill>
        <p:spPr>
          <a:xfrm>
            <a:off x="5220072" y="1628800"/>
            <a:ext cx="3024336" cy="1592602"/>
          </a:xfrm>
          <a:prstGeom prst="rect">
            <a:avLst/>
          </a:prstGeom>
        </p:spPr>
      </p:pic>
    </p:spTree>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descr="Table1.PNG"/>
          <p:cNvPicPr>
            <a:picLocks noGrp="1" noChangeAspect="1"/>
          </p:cNvPicPr>
          <p:nvPr>
            <p:ph idx="4294967295"/>
          </p:nvPr>
        </p:nvPicPr>
        <p:blipFill>
          <a:blip r:embed="rId2" cstate="print"/>
          <a:stretch>
            <a:fillRect/>
          </a:stretch>
        </p:blipFill>
        <p:spPr>
          <a:xfrm>
            <a:off x="0" y="692696"/>
            <a:ext cx="9130212" cy="5373216"/>
          </a:xfrm>
        </p:spPr>
      </p:pic>
    </p:spTree>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descr="Pearson.PNG"/>
          <p:cNvPicPr>
            <a:picLocks noGrp="1" noChangeAspect="1"/>
          </p:cNvPicPr>
          <p:nvPr>
            <p:ph idx="1"/>
          </p:nvPr>
        </p:nvPicPr>
        <p:blipFill>
          <a:blip r:embed="rId2" cstate="print"/>
          <a:stretch>
            <a:fillRect/>
          </a:stretch>
        </p:blipFill>
        <p:spPr>
          <a:xfrm>
            <a:off x="1886717" y="908720"/>
            <a:ext cx="5337149" cy="1368152"/>
          </a:xfrm>
        </p:spPr>
      </p:pic>
      <p:pic>
        <p:nvPicPr>
          <p:cNvPr id="7" name="內容版面配置區 3" descr="Pearson.PNG"/>
          <p:cNvPicPr>
            <a:picLocks noChangeAspect="1"/>
          </p:cNvPicPr>
          <p:nvPr/>
        </p:nvPicPr>
        <p:blipFill>
          <a:blip r:embed="rId3" cstate="print"/>
          <a:stretch>
            <a:fillRect/>
          </a:stretch>
        </p:blipFill>
        <p:spPr>
          <a:xfrm>
            <a:off x="1979712" y="2852936"/>
            <a:ext cx="4821104" cy="1368152"/>
          </a:xfrm>
          <a:prstGeom prst="rect">
            <a:avLst/>
          </a:prstGeom>
        </p:spPr>
      </p:pic>
      <p:pic>
        <p:nvPicPr>
          <p:cNvPr id="8" name="內容版面配置區 3" descr="Pearson.PNG"/>
          <p:cNvPicPr>
            <a:picLocks noChangeAspect="1"/>
          </p:cNvPicPr>
          <p:nvPr/>
        </p:nvPicPr>
        <p:blipFill>
          <a:blip r:embed="rId4" cstate="print"/>
          <a:stretch>
            <a:fillRect/>
          </a:stretch>
        </p:blipFill>
        <p:spPr>
          <a:xfrm>
            <a:off x="755576" y="4725144"/>
            <a:ext cx="7731404" cy="956252"/>
          </a:xfrm>
          <a:prstGeom prst="rect">
            <a:avLst/>
          </a:prstGeom>
        </p:spPr>
      </p:pic>
    </p:spTree>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descr="fig1.png"/>
          <p:cNvPicPr>
            <a:picLocks noGrp="1" noChangeAspect="1"/>
          </p:cNvPicPr>
          <p:nvPr>
            <p:ph idx="1"/>
          </p:nvPr>
        </p:nvPicPr>
        <p:blipFill>
          <a:blip r:embed="rId2" cstate="print"/>
          <a:stretch>
            <a:fillRect/>
          </a:stretch>
        </p:blipFill>
        <p:spPr>
          <a:xfrm>
            <a:off x="1043608" y="0"/>
            <a:ext cx="6984776" cy="6858925"/>
          </a:xfrm>
        </p:spPr>
      </p:pic>
    </p:spTree>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內容版面配置區 7" descr="T0453-d1.PNG"/>
          <p:cNvPicPr>
            <a:picLocks noGrp="1" noChangeAspect="1"/>
          </p:cNvPicPr>
          <p:nvPr>
            <p:ph sz="half" idx="2"/>
          </p:nvPr>
        </p:nvPicPr>
        <p:blipFill>
          <a:blip r:embed="rId2" cstate="print"/>
          <a:stretch>
            <a:fillRect/>
          </a:stretch>
        </p:blipFill>
        <p:spPr>
          <a:xfrm>
            <a:off x="9427" y="260648"/>
            <a:ext cx="3062719" cy="2868568"/>
          </a:xfrm>
        </p:spPr>
      </p:pic>
      <p:pic>
        <p:nvPicPr>
          <p:cNvPr id="13" name="內容版面配置區 12" descr="T0453-d2.PNG"/>
          <p:cNvPicPr>
            <a:picLocks noGrp="1" noChangeAspect="1"/>
          </p:cNvPicPr>
          <p:nvPr>
            <p:ph sz="quarter" idx="4"/>
          </p:nvPr>
        </p:nvPicPr>
        <p:blipFill>
          <a:blip r:embed="rId3" cstate="print"/>
          <a:stretch>
            <a:fillRect/>
          </a:stretch>
        </p:blipFill>
        <p:spPr>
          <a:xfrm>
            <a:off x="3011434" y="260648"/>
            <a:ext cx="2997554" cy="2924084"/>
          </a:xfrm>
        </p:spPr>
      </p:pic>
      <p:pic>
        <p:nvPicPr>
          <p:cNvPr id="14" name="內容版面配置區 7" descr="T0453-d1.PNG"/>
          <p:cNvPicPr>
            <a:picLocks noChangeAspect="1"/>
          </p:cNvPicPr>
          <p:nvPr/>
        </p:nvPicPr>
        <p:blipFill>
          <a:blip r:embed="rId4" cstate="print"/>
          <a:stretch>
            <a:fillRect/>
          </a:stretch>
        </p:blipFill>
        <p:spPr>
          <a:xfrm>
            <a:off x="0" y="3519456"/>
            <a:ext cx="3006085" cy="2856744"/>
          </a:xfrm>
          <a:prstGeom prst="rect">
            <a:avLst/>
          </a:prstGeom>
        </p:spPr>
      </p:pic>
      <p:pic>
        <p:nvPicPr>
          <p:cNvPr id="15" name="內容版面配置區 12" descr="T0453-d2.PNG"/>
          <p:cNvPicPr>
            <a:picLocks noChangeAspect="1"/>
          </p:cNvPicPr>
          <p:nvPr/>
        </p:nvPicPr>
        <p:blipFill>
          <a:blip r:embed="rId5" cstate="print"/>
          <a:stretch>
            <a:fillRect/>
          </a:stretch>
        </p:blipFill>
        <p:spPr>
          <a:xfrm>
            <a:off x="2985210" y="3627401"/>
            <a:ext cx="3084082" cy="2917511"/>
          </a:xfrm>
          <a:prstGeom prst="rect">
            <a:avLst/>
          </a:prstGeom>
        </p:spPr>
      </p:pic>
      <p:pic>
        <p:nvPicPr>
          <p:cNvPr id="16" name="內容版面配置區 12" descr="T0453-d2.PNG"/>
          <p:cNvPicPr>
            <a:picLocks noChangeAspect="1"/>
          </p:cNvPicPr>
          <p:nvPr/>
        </p:nvPicPr>
        <p:blipFill>
          <a:blip r:embed="rId6" cstate="print"/>
          <a:stretch>
            <a:fillRect/>
          </a:stretch>
        </p:blipFill>
        <p:spPr>
          <a:xfrm>
            <a:off x="6083528" y="267147"/>
            <a:ext cx="2997554" cy="2911086"/>
          </a:xfrm>
          <a:prstGeom prst="rect">
            <a:avLst/>
          </a:prstGeom>
        </p:spPr>
      </p:pic>
      <p:pic>
        <p:nvPicPr>
          <p:cNvPr id="17" name="內容版面配置區 12" descr="T0453-d2.PNG"/>
          <p:cNvPicPr>
            <a:picLocks noChangeAspect="1"/>
          </p:cNvPicPr>
          <p:nvPr/>
        </p:nvPicPr>
        <p:blipFill>
          <a:blip r:embed="rId7" cstate="print"/>
          <a:stretch>
            <a:fillRect/>
          </a:stretch>
        </p:blipFill>
        <p:spPr>
          <a:xfrm>
            <a:off x="6059918" y="3615182"/>
            <a:ext cx="3084082" cy="2907287"/>
          </a:xfrm>
          <a:prstGeom prst="rect">
            <a:avLst/>
          </a:prstGeom>
        </p:spPr>
      </p:pic>
    </p:spTree>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809</TotalTime>
  <Words>127</Words>
  <Application>Microsoft Office PowerPoint</Application>
  <PresentationFormat>如螢幕大小 (4:3)</PresentationFormat>
  <Paragraphs>27</Paragraphs>
  <Slides>9</Slides>
  <Notes>0</Notes>
  <HiddenSlides>0</HiddenSlides>
  <MMClips>0</MMClips>
  <ScaleCrop>false</ScaleCrop>
  <HeadingPairs>
    <vt:vector size="4" baseType="variant">
      <vt:variant>
        <vt:lpstr>佈景主題</vt:lpstr>
      </vt:variant>
      <vt:variant>
        <vt:i4>1</vt:i4>
      </vt:variant>
      <vt:variant>
        <vt:lpstr>投影片標題</vt:lpstr>
      </vt:variant>
      <vt:variant>
        <vt:i4>9</vt:i4>
      </vt:variant>
    </vt:vector>
  </HeadingPairs>
  <TitlesOfParts>
    <vt:vector size="10" baseType="lpstr">
      <vt:lpstr>Office 佈景主題</vt:lpstr>
      <vt:lpstr>The binding site distance test score: a robust method for the assessment of predicted protein binding sites</vt:lpstr>
      <vt:lpstr>Abstract(1/2)</vt:lpstr>
      <vt:lpstr>Abstract(2/2)</vt:lpstr>
      <vt:lpstr>Matthews Correlation Coefﬁcient</vt:lpstr>
      <vt:lpstr>Binding-site Distance Test</vt:lpstr>
      <vt:lpstr>投影片 6</vt:lpstr>
      <vt:lpstr>投影片 7</vt:lpstr>
      <vt:lpstr>投影片 8</vt:lpstr>
      <vt:lpstr>投影片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binding site distance test score: a robust method for the assessment of predicted protein binding sites</dc:title>
  <dc:creator>Dale</dc:creator>
  <cp:lastModifiedBy>Guest</cp:lastModifiedBy>
  <cp:revision>81</cp:revision>
  <dcterms:created xsi:type="dcterms:W3CDTF">2011-11-06T07:01:58Z</dcterms:created>
  <dcterms:modified xsi:type="dcterms:W3CDTF">2011-11-07T12:19:05Z</dcterms:modified>
</cp:coreProperties>
</file>