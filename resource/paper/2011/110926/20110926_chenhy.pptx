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72" r:id="rId4"/>
    <p:sldId id="344" r:id="rId5"/>
    <p:sldId id="293" r:id="rId6"/>
    <p:sldId id="328" r:id="rId7"/>
    <p:sldId id="348" r:id="rId8"/>
    <p:sldId id="346" r:id="rId9"/>
    <p:sldId id="347" r:id="rId10"/>
    <p:sldId id="349" r:id="rId11"/>
    <p:sldId id="330" r:id="rId12"/>
    <p:sldId id="350" r:id="rId13"/>
    <p:sldId id="351" r:id="rId14"/>
    <p:sldId id="352" r:id="rId15"/>
    <p:sldId id="354" r:id="rId16"/>
    <p:sldId id="353" r:id="rId17"/>
    <p:sldId id="355" r:id="rId18"/>
    <p:sldId id="356" r:id="rId19"/>
    <p:sldId id="343" r:id="rId20"/>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Calibri" pitchFamily="34" charset="0"/>
        <a:ea typeface="新細明體" charset="-120"/>
        <a:cs typeface="+mn-cs"/>
      </a:defRPr>
    </a:lvl1pPr>
    <a:lvl2pPr marL="457200" algn="l" rtl="0" fontAlgn="base">
      <a:spcBef>
        <a:spcPct val="0"/>
      </a:spcBef>
      <a:spcAft>
        <a:spcPct val="0"/>
      </a:spcAft>
      <a:defRPr kumimoji="1" kern="1200">
        <a:solidFill>
          <a:schemeClr val="tx1"/>
        </a:solidFill>
        <a:latin typeface="Calibri" pitchFamily="34" charset="0"/>
        <a:ea typeface="新細明體" charset="-120"/>
        <a:cs typeface="+mn-cs"/>
      </a:defRPr>
    </a:lvl2pPr>
    <a:lvl3pPr marL="914400" algn="l" rtl="0" fontAlgn="base">
      <a:spcBef>
        <a:spcPct val="0"/>
      </a:spcBef>
      <a:spcAft>
        <a:spcPct val="0"/>
      </a:spcAft>
      <a:defRPr kumimoji="1" kern="1200">
        <a:solidFill>
          <a:schemeClr val="tx1"/>
        </a:solidFill>
        <a:latin typeface="Calibri" pitchFamily="34" charset="0"/>
        <a:ea typeface="新細明體" charset="-120"/>
        <a:cs typeface="+mn-cs"/>
      </a:defRPr>
    </a:lvl3pPr>
    <a:lvl4pPr marL="1371600" algn="l" rtl="0" fontAlgn="base">
      <a:spcBef>
        <a:spcPct val="0"/>
      </a:spcBef>
      <a:spcAft>
        <a:spcPct val="0"/>
      </a:spcAft>
      <a:defRPr kumimoji="1" kern="1200">
        <a:solidFill>
          <a:schemeClr val="tx1"/>
        </a:solidFill>
        <a:latin typeface="Calibri" pitchFamily="34" charset="0"/>
        <a:ea typeface="新細明體" charset="-120"/>
        <a:cs typeface="+mn-cs"/>
      </a:defRPr>
    </a:lvl4pPr>
    <a:lvl5pPr marL="1828800" algn="l" rtl="0" fontAlgn="base">
      <a:spcBef>
        <a:spcPct val="0"/>
      </a:spcBef>
      <a:spcAft>
        <a:spcPct val="0"/>
      </a:spcAft>
      <a:defRPr kumimoji="1" kern="1200">
        <a:solidFill>
          <a:schemeClr val="tx1"/>
        </a:solidFill>
        <a:latin typeface="Calibri" pitchFamily="34" charset="0"/>
        <a:ea typeface="新細明體" charset="-120"/>
        <a:cs typeface="+mn-cs"/>
      </a:defRPr>
    </a:lvl5pPr>
    <a:lvl6pPr marL="2286000" algn="l" defTabSz="914400" rtl="0" eaLnBrk="1" latinLnBrk="0" hangingPunct="1">
      <a:defRPr kumimoji="1" kern="1200">
        <a:solidFill>
          <a:schemeClr val="tx1"/>
        </a:solidFill>
        <a:latin typeface="Calibri" pitchFamily="34" charset="0"/>
        <a:ea typeface="新細明體" charset="-120"/>
        <a:cs typeface="+mn-cs"/>
      </a:defRPr>
    </a:lvl6pPr>
    <a:lvl7pPr marL="2743200" algn="l" defTabSz="914400" rtl="0" eaLnBrk="1" latinLnBrk="0" hangingPunct="1">
      <a:defRPr kumimoji="1" kern="1200">
        <a:solidFill>
          <a:schemeClr val="tx1"/>
        </a:solidFill>
        <a:latin typeface="Calibri" pitchFamily="34" charset="0"/>
        <a:ea typeface="新細明體" charset="-120"/>
        <a:cs typeface="+mn-cs"/>
      </a:defRPr>
    </a:lvl7pPr>
    <a:lvl8pPr marL="3200400" algn="l" defTabSz="914400" rtl="0" eaLnBrk="1" latinLnBrk="0" hangingPunct="1">
      <a:defRPr kumimoji="1" kern="1200">
        <a:solidFill>
          <a:schemeClr val="tx1"/>
        </a:solidFill>
        <a:latin typeface="Calibri" pitchFamily="34" charset="0"/>
        <a:ea typeface="新細明體" charset="-120"/>
        <a:cs typeface="+mn-cs"/>
      </a:defRPr>
    </a:lvl8pPr>
    <a:lvl9pPr marL="3657600" algn="l" defTabSz="914400" rtl="0" eaLnBrk="1" latinLnBrk="0" hangingPunct="1">
      <a:defRPr kumimoji="1" kern="1200">
        <a:solidFill>
          <a:schemeClr val="tx1"/>
        </a:solidFill>
        <a:latin typeface="Calibri" pitchFamily="34"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48" autoAdjust="0"/>
    <p:restoredTop sz="81784" autoAdjust="0"/>
  </p:normalViewPr>
  <p:slideViewPr>
    <p:cSldViewPr>
      <p:cViewPr varScale="1">
        <p:scale>
          <a:sx n="106" d="100"/>
          <a:sy n="106" d="100"/>
        </p:scale>
        <p:origin x="-102" y="-1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EA5F3-94E4-4F7A-AC07-FCE66639B35A}" type="datetimeFigureOut">
              <a:rPr lang="zh-TW" altLang="en-US" smtClean="0"/>
              <a:t>2011/9/25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75A31A-74A8-4798-85F1-ED8970345F52}" type="slidenum">
              <a:rPr lang="zh-TW" altLang="en-US" smtClean="0"/>
              <a:t>‹#›</a:t>
            </a:fld>
            <a:endParaRPr lang="zh-TW" altLang="en-US"/>
          </a:p>
        </p:txBody>
      </p:sp>
    </p:spTree>
    <p:extLst>
      <p:ext uri="{BB962C8B-B14F-4D97-AF65-F5344CB8AC3E}">
        <p14:creationId xmlns:p14="http://schemas.microsoft.com/office/powerpoint/2010/main" val="2860301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7A87D0A-8D72-4A12-B6F4-2D70E9050589}" type="datetimeFigureOut">
              <a:rPr lang="zh-TW" altLang="en-US"/>
              <a:pPr>
                <a:defRPr/>
              </a:pPr>
              <a:t>2011/9/25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484CF82-A9AE-4268-9497-FFC67A3ADAAC}" type="slidenum">
              <a:rPr lang="zh-TW" altLang="en-US"/>
              <a:pPr>
                <a:defRPr/>
              </a:pPr>
              <a:t>‹#›</a:t>
            </a:fld>
            <a:endParaRPr lang="zh-TW" altLang="en-US"/>
          </a:p>
        </p:txBody>
      </p:sp>
    </p:spTree>
    <p:extLst>
      <p:ext uri="{BB962C8B-B14F-4D97-AF65-F5344CB8AC3E}">
        <p14:creationId xmlns:p14="http://schemas.microsoft.com/office/powerpoint/2010/main" val="8801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25304AF-B224-4445-9AE4-B7650C7B3616}" type="datetimeFigureOut">
              <a:rPr lang="zh-TW" altLang="en-US"/>
              <a:pPr>
                <a:defRPr/>
              </a:pPr>
              <a:t>2011/9/25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162FDB3-9A8C-4355-8F1B-1FD935E6DAEE}" type="slidenum">
              <a:rPr lang="zh-TW" altLang="en-US"/>
              <a:pPr>
                <a:defRPr/>
              </a:pPr>
              <a:t>‹#›</a:t>
            </a:fld>
            <a:endParaRPr lang="zh-TW" altLang="en-US"/>
          </a:p>
        </p:txBody>
      </p:sp>
    </p:spTree>
    <p:extLst>
      <p:ext uri="{BB962C8B-B14F-4D97-AF65-F5344CB8AC3E}">
        <p14:creationId xmlns:p14="http://schemas.microsoft.com/office/powerpoint/2010/main" val="120015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FD8DB94C-87E5-4077-BC91-73AF7E8169C3}" type="datetimeFigureOut">
              <a:rPr lang="zh-TW" altLang="en-US"/>
              <a:pPr>
                <a:defRPr/>
              </a:pPr>
              <a:t>2011/9/25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87E59EC-7354-4DDD-9A8A-310C296ACDEB}" type="slidenum">
              <a:rPr lang="zh-TW" altLang="en-US"/>
              <a:pPr>
                <a:defRPr/>
              </a:pPr>
              <a:t>‹#›</a:t>
            </a:fld>
            <a:endParaRPr lang="zh-TW" altLang="en-US"/>
          </a:p>
        </p:txBody>
      </p:sp>
    </p:spTree>
    <p:extLst>
      <p:ext uri="{BB962C8B-B14F-4D97-AF65-F5344CB8AC3E}">
        <p14:creationId xmlns:p14="http://schemas.microsoft.com/office/powerpoint/2010/main" val="22191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FF610FB1-0584-4237-8E45-15165FF7CB9F}" type="datetimeFigureOut">
              <a:rPr lang="zh-TW" altLang="en-US"/>
              <a:pPr>
                <a:defRPr/>
              </a:pPr>
              <a:t>2011/9/25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37B5203F-7F56-456C-9DFC-64E25C44A7B3}" type="slidenum">
              <a:rPr lang="zh-TW" altLang="en-US"/>
              <a:pPr>
                <a:defRPr/>
              </a:pPr>
              <a:t>‹#›</a:t>
            </a:fld>
            <a:endParaRPr lang="zh-TW" altLang="en-US"/>
          </a:p>
        </p:txBody>
      </p:sp>
    </p:spTree>
    <p:extLst>
      <p:ext uri="{BB962C8B-B14F-4D97-AF65-F5344CB8AC3E}">
        <p14:creationId xmlns:p14="http://schemas.microsoft.com/office/powerpoint/2010/main" val="1025980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EDEB2774-9042-48AC-B3CE-D46C5BDDDE0D}" type="datetimeFigureOut">
              <a:rPr lang="zh-TW" altLang="en-US"/>
              <a:pPr>
                <a:defRPr/>
              </a:pPr>
              <a:t>2011/9/25</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BCFE3F07-97A7-4CEE-B190-0EAA322A0DC2}" type="slidenum">
              <a:rPr lang="zh-TW" altLang="en-US"/>
              <a:pPr>
                <a:defRPr/>
              </a:pPr>
              <a:t>‹#›</a:t>
            </a:fld>
            <a:endParaRPr lang="zh-TW" altLang="en-US"/>
          </a:p>
        </p:txBody>
      </p:sp>
    </p:spTree>
    <p:extLst>
      <p:ext uri="{BB962C8B-B14F-4D97-AF65-F5344CB8AC3E}">
        <p14:creationId xmlns:p14="http://schemas.microsoft.com/office/powerpoint/2010/main" val="319858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977D4F32-C364-42C1-BF55-D8FDA76BAE3B}" type="datetimeFigureOut">
              <a:rPr lang="zh-TW" altLang="en-US"/>
              <a:pPr>
                <a:defRPr/>
              </a:pPr>
              <a:t>2011/9/25</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39A6D154-E159-48B9-A6F3-81EB04F3AB56}" type="slidenum">
              <a:rPr lang="zh-TW" altLang="en-US"/>
              <a:pPr>
                <a:defRPr/>
              </a:pPr>
              <a:t>‹#›</a:t>
            </a:fld>
            <a:endParaRPr lang="zh-TW" altLang="en-US"/>
          </a:p>
        </p:txBody>
      </p:sp>
    </p:spTree>
    <p:extLst>
      <p:ext uri="{BB962C8B-B14F-4D97-AF65-F5344CB8AC3E}">
        <p14:creationId xmlns:p14="http://schemas.microsoft.com/office/powerpoint/2010/main" val="134491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9B6CDC56-C89D-4BE5-A649-0F8DEB867E2F}" type="datetimeFigureOut">
              <a:rPr lang="zh-TW" altLang="en-US"/>
              <a:pPr>
                <a:defRPr/>
              </a:pPr>
              <a:t>2011/9/25</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E7424784-AD13-4080-BFAC-BA75534B03CD}" type="slidenum">
              <a:rPr lang="zh-TW" altLang="en-US"/>
              <a:pPr>
                <a:defRPr/>
              </a:pPr>
              <a:t>‹#›</a:t>
            </a:fld>
            <a:endParaRPr lang="zh-TW" altLang="en-US"/>
          </a:p>
        </p:txBody>
      </p:sp>
    </p:spTree>
    <p:extLst>
      <p:ext uri="{BB962C8B-B14F-4D97-AF65-F5344CB8AC3E}">
        <p14:creationId xmlns:p14="http://schemas.microsoft.com/office/powerpoint/2010/main" val="3398553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C49742AE-97D1-4875-8D42-3FF228F75098}" type="datetimeFigureOut">
              <a:rPr lang="zh-TW" altLang="en-US"/>
              <a:pPr>
                <a:defRPr/>
              </a:pPr>
              <a:t>2011/9/25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C4585D6-6A74-4F5F-A10A-39A26C80B83C}" type="slidenum">
              <a:rPr lang="zh-TW" altLang="en-US"/>
              <a:pPr>
                <a:defRPr/>
              </a:pPr>
              <a:t>‹#›</a:t>
            </a:fld>
            <a:endParaRPr lang="zh-TW" altLang="en-US"/>
          </a:p>
        </p:txBody>
      </p:sp>
    </p:spTree>
    <p:extLst>
      <p:ext uri="{BB962C8B-B14F-4D97-AF65-F5344CB8AC3E}">
        <p14:creationId xmlns:p14="http://schemas.microsoft.com/office/powerpoint/2010/main" val="9639480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63B01E2E-6A5F-4CA5-908E-A19C356BF55C}" type="datetimeFigureOut">
              <a:rPr lang="zh-TW" altLang="en-US"/>
              <a:pPr>
                <a:defRPr/>
              </a:pPr>
              <a:t>2011/9/25</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9900A074-4C14-4B45-944F-53D0B7706B90}" type="slidenum">
              <a:rPr lang="zh-TW" altLang="en-US"/>
              <a:pPr>
                <a:defRPr/>
              </a:pPr>
              <a:t>‹#›</a:t>
            </a:fld>
            <a:endParaRPr lang="zh-TW" altLang="en-US"/>
          </a:p>
        </p:txBody>
      </p:sp>
    </p:spTree>
    <p:extLst>
      <p:ext uri="{BB962C8B-B14F-4D97-AF65-F5344CB8AC3E}">
        <p14:creationId xmlns:p14="http://schemas.microsoft.com/office/powerpoint/2010/main" val="115382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5A8F2A4D-44B9-4DBC-836F-FD98F3AF9BFF}" type="datetimeFigureOut">
              <a:rPr lang="zh-TW" altLang="en-US"/>
              <a:pPr>
                <a:defRPr/>
              </a:pPr>
              <a:t>2011/9/25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CCA295C-7F92-4711-840D-EE26E104FC6E}" type="slidenum">
              <a:rPr lang="zh-TW" altLang="en-US"/>
              <a:pPr>
                <a:defRPr/>
              </a:pPr>
              <a:t>‹#›</a:t>
            </a:fld>
            <a:endParaRPr lang="zh-TW" altLang="en-US"/>
          </a:p>
        </p:txBody>
      </p:sp>
    </p:spTree>
    <p:extLst>
      <p:ext uri="{BB962C8B-B14F-4D97-AF65-F5344CB8AC3E}">
        <p14:creationId xmlns:p14="http://schemas.microsoft.com/office/powerpoint/2010/main" val="3748311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26319B6A-84D4-4391-B7E5-706DC8F093D5}" type="datetimeFigureOut">
              <a:rPr lang="zh-TW" altLang="en-US"/>
              <a:pPr>
                <a:defRPr/>
              </a:pPr>
              <a:t>2011/9/25</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F0F181AC-B57B-4E63-A225-FD07A1E9EC56}" type="slidenum">
              <a:rPr lang="zh-TW" altLang="en-US"/>
              <a:pPr>
                <a:defRPr/>
              </a:pPr>
              <a:t>‹#›</a:t>
            </a:fld>
            <a:endParaRPr lang="zh-TW" altLang="en-US"/>
          </a:p>
        </p:txBody>
      </p:sp>
    </p:spTree>
    <p:extLst>
      <p:ext uri="{BB962C8B-B14F-4D97-AF65-F5344CB8AC3E}">
        <p14:creationId xmlns:p14="http://schemas.microsoft.com/office/powerpoint/2010/main" val="1656833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標題版面配置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文字版面配置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a:solidFill>
                  <a:schemeClr val="tx1">
                    <a:tint val="75000"/>
                  </a:schemeClr>
                </a:solidFill>
                <a:latin typeface="+mn-lt"/>
                <a:ea typeface="+mn-ea"/>
              </a:defRPr>
            </a:lvl1pPr>
          </a:lstStyle>
          <a:p>
            <a:pPr>
              <a:defRPr/>
            </a:pPr>
            <a:fld id="{208C5AD4-FB66-4C86-AB8D-D984E889BCC6}" type="datetimeFigureOut">
              <a:rPr lang="zh-TW" altLang="en-US"/>
              <a:pPr>
                <a:defRPr/>
              </a:pPr>
              <a:t>2011/9/25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a:solidFill>
                  <a:schemeClr val="tx1">
                    <a:tint val="75000"/>
                  </a:schemeClr>
                </a:solidFill>
                <a:latin typeface="+mn-lt"/>
                <a:ea typeface="+mn-ea"/>
              </a:defRPr>
            </a:lvl1pPr>
          </a:lstStyle>
          <a:p>
            <a:pPr>
              <a:defRPr/>
            </a:pPr>
            <a:fld id="{D0EDE5FD-EEE6-40C5-AF40-54426C020AFC}"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新細明體" charset="-120"/>
        </a:defRPr>
      </a:lvl2pPr>
      <a:lvl3pPr algn="ctr" rtl="0" eaLnBrk="0" fontAlgn="base" hangingPunct="0">
        <a:spcBef>
          <a:spcPct val="0"/>
        </a:spcBef>
        <a:spcAft>
          <a:spcPct val="0"/>
        </a:spcAft>
        <a:defRPr sz="4400">
          <a:solidFill>
            <a:schemeClr val="tx1"/>
          </a:solidFill>
          <a:latin typeface="Calibri" pitchFamily="34" charset="0"/>
          <a:ea typeface="新細明體" charset="-120"/>
        </a:defRPr>
      </a:lvl3pPr>
      <a:lvl4pPr algn="ctr" rtl="0" eaLnBrk="0" fontAlgn="base" hangingPunct="0">
        <a:spcBef>
          <a:spcPct val="0"/>
        </a:spcBef>
        <a:spcAft>
          <a:spcPct val="0"/>
        </a:spcAft>
        <a:defRPr sz="4400">
          <a:solidFill>
            <a:schemeClr val="tx1"/>
          </a:solidFill>
          <a:latin typeface="Calibri" pitchFamily="34" charset="0"/>
          <a:ea typeface="新細明體" charset="-120"/>
        </a:defRPr>
      </a:lvl4pPr>
      <a:lvl5pPr algn="ctr" rtl="0" eaLnBrk="0" fontAlgn="base" hangingPunct="0">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par64.cse.nsysu.edu.tw/disulfide/plot-pdb.php?pdb=1BF0&amp;chain=A" TargetMode="External"/><Relationship Id="rId2" Type="http://schemas.openxmlformats.org/officeDocument/2006/relationships/hyperlink" Target="http://par64.cse.nsysu.edu.tw/disulfide/plot-pdb.php?pdb=1TAP&amp;chain=A"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par64.cse.nsysu.edu.tw/disulfide/plot-pdb.php?pdb=1BRZ&amp;chain=A" TargetMode="External"/><Relationship Id="rId7" Type="http://schemas.openxmlformats.org/officeDocument/2006/relationships/image" Target="../media/image12.png"/><Relationship Id="rId2" Type="http://schemas.openxmlformats.org/officeDocument/2006/relationships/hyperlink" Target="http://par64.cse.nsysu.edu.tw/disulfide/plot-pdb.php?pdb=1GPS&amp;chain=A" TargetMode="Externa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hyperlink" Target="http://par64.cse.nsysu.edu.tw/disulfide/plot-pdb.php?pdb=1C3A&amp;chain=A" TargetMode="External"/><Relationship Id="rId4" Type="http://schemas.openxmlformats.org/officeDocument/2006/relationships/hyperlink" Target="http://par64.cse.nsysu.edu.tw/disulfide/plot-pdb.php?pdb=1TN3&amp;chain=A"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標題 1"/>
          <p:cNvSpPr>
            <a:spLocks noGrp="1"/>
          </p:cNvSpPr>
          <p:nvPr>
            <p:ph type="ctrTitle"/>
          </p:nvPr>
        </p:nvSpPr>
        <p:spPr>
          <a:xfrm>
            <a:off x="395536" y="692150"/>
            <a:ext cx="8424936" cy="4681066"/>
          </a:xfrm>
        </p:spPr>
        <p:txBody>
          <a:bodyPr/>
          <a:lstStyle/>
          <a:p>
            <a:pPr eaLnBrk="1" hangingPunct="1"/>
            <a:r>
              <a:rPr lang="en-US" altLang="zh-TW" sz="4000" dirty="0" smtClean="0">
                <a:latin typeface="Times New Roman" pitchFamily="18" charset="0"/>
                <a:ea typeface="DFKai-SB" pitchFamily="65" charset="-120"/>
                <a:cs typeface="Times New Roman" pitchFamily="18" charset="0"/>
              </a:rPr>
              <a:t>Cysteine separations profiles on protein sequences infer disulfide connectivity</a:t>
            </a:r>
            <a:r>
              <a:rPr lang="en-US" altLang="zh-TW" dirty="0" smtClean="0">
                <a:latin typeface="Times New Roman" pitchFamily="18" charset="0"/>
                <a:ea typeface="DFKai-SB" pitchFamily="65" charset="-120"/>
                <a:cs typeface="Times New Roman" pitchFamily="18" charset="0"/>
              </a:rPr>
              <a:t/>
            </a:r>
            <a:br>
              <a:rPr lang="en-US" altLang="zh-TW"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de-DE" altLang="zh-TW" sz="2400" dirty="0">
                <a:latin typeface="Times New Roman" pitchFamily="18" charset="0"/>
                <a:ea typeface="DFKai-SB" pitchFamily="65" charset="-120"/>
                <a:cs typeface="Times New Roman" pitchFamily="18" charset="0"/>
              </a:rPr>
              <a:t>East </a:t>
            </a:r>
            <a:r>
              <a:rPr lang="de-DE" altLang="zh-TW" sz="2400" dirty="0" smtClean="0">
                <a:latin typeface="Times New Roman" pitchFamily="18" charset="0"/>
                <a:ea typeface="DFKai-SB" pitchFamily="65" charset="-120"/>
                <a:cs typeface="Times New Roman" pitchFamily="18" charset="0"/>
              </a:rPr>
              <a:t>Zhao, </a:t>
            </a:r>
            <a:r>
              <a:rPr lang="de-DE" altLang="zh-TW" sz="2400" dirty="0">
                <a:latin typeface="Times New Roman" pitchFamily="18" charset="0"/>
                <a:ea typeface="DFKai-SB" pitchFamily="65" charset="-120"/>
                <a:cs typeface="Times New Roman" pitchFamily="18" charset="0"/>
              </a:rPr>
              <a:t>Hsuan-Liang </a:t>
            </a:r>
            <a:r>
              <a:rPr lang="de-DE" altLang="zh-TW" sz="2400" dirty="0" smtClean="0">
                <a:latin typeface="Times New Roman" pitchFamily="18" charset="0"/>
                <a:ea typeface="DFKai-SB" pitchFamily="65" charset="-120"/>
                <a:cs typeface="Times New Roman" pitchFamily="18" charset="0"/>
              </a:rPr>
              <a:t>Liu, </a:t>
            </a:r>
            <a:r>
              <a:rPr lang="de-DE" altLang="zh-TW" sz="2400" dirty="0">
                <a:latin typeface="Times New Roman" pitchFamily="18" charset="0"/>
                <a:ea typeface="DFKai-SB" pitchFamily="65" charset="-120"/>
                <a:cs typeface="Times New Roman" pitchFamily="18" charset="0"/>
              </a:rPr>
              <a:t>Chi-Hung </a:t>
            </a:r>
            <a:r>
              <a:rPr lang="de-DE" altLang="zh-TW" sz="2400" dirty="0" smtClean="0">
                <a:latin typeface="Times New Roman" pitchFamily="18" charset="0"/>
                <a:ea typeface="DFKai-SB" pitchFamily="65" charset="-120"/>
                <a:cs typeface="Times New Roman" pitchFamily="18" charset="0"/>
              </a:rPr>
              <a:t>Tsai, </a:t>
            </a:r>
            <a:r>
              <a:rPr lang="de-DE" altLang="zh-TW" sz="2400" dirty="0">
                <a:latin typeface="Times New Roman" pitchFamily="18" charset="0"/>
                <a:ea typeface="DFKai-SB" pitchFamily="65" charset="-120"/>
                <a:cs typeface="Times New Roman" pitchFamily="18" charset="0"/>
              </a:rPr>
              <a:t>Huai-Kuang </a:t>
            </a:r>
            <a:r>
              <a:rPr lang="de-DE" altLang="zh-TW" sz="2400" dirty="0" smtClean="0">
                <a:latin typeface="Times New Roman" pitchFamily="18" charset="0"/>
                <a:ea typeface="DFKai-SB" pitchFamily="65" charset="-120"/>
                <a:cs typeface="Times New Roman" pitchFamily="18" charset="0"/>
              </a:rPr>
              <a:t>Tsai, Chen-hsiung Chan and </a:t>
            </a:r>
            <a:r>
              <a:rPr lang="de-DE" altLang="zh-TW" sz="2400" dirty="0">
                <a:latin typeface="Times New Roman" pitchFamily="18" charset="0"/>
                <a:ea typeface="DFKai-SB" pitchFamily="65" charset="-120"/>
                <a:cs typeface="Times New Roman" pitchFamily="18" charset="0"/>
              </a:rPr>
              <a:t>Cheng-Yan Kao</a:t>
            </a: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
            </a:r>
            <a:br>
              <a:rPr lang="en-US" altLang="zh-TW" sz="2400" dirty="0" smtClean="0">
                <a:latin typeface="Times New Roman" pitchFamily="18" charset="0"/>
                <a:ea typeface="DFKai-SB" pitchFamily="65" charset="-120"/>
                <a:cs typeface="Times New Roman" pitchFamily="18" charset="0"/>
              </a:rPr>
            </a:br>
            <a:r>
              <a:rPr lang="en-US" altLang="zh-TW" sz="2400" dirty="0" smtClean="0">
                <a:latin typeface="Times New Roman" pitchFamily="18" charset="0"/>
                <a:ea typeface="DFKai-SB" pitchFamily="65" charset="-120"/>
                <a:cs typeface="Times New Roman" pitchFamily="18" charset="0"/>
              </a:rPr>
              <a:t>Bioinformatics, </a:t>
            </a:r>
            <a:r>
              <a:rPr lang="pt-BR" altLang="zh-TW" sz="2400" dirty="0" smtClean="0">
                <a:latin typeface="Times New Roman" pitchFamily="18" charset="0"/>
                <a:ea typeface="DFKai-SB" pitchFamily="65" charset="-120"/>
                <a:cs typeface="Times New Roman" pitchFamily="18" charset="0"/>
              </a:rPr>
              <a:t>vol. 21, no. 8, pp. 1415–1420, 2005</a:t>
            </a:r>
            <a:endParaRPr lang="zh-TW" altLang="en-US" sz="2200" dirty="0" smtClean="0">
              <a:latin typeface="Times New Roman" pitchFamily="18" charset="0"/>
              <a:ea typeface="DFKai-SB" pitchFamily="65" charset="-120"/>
              <a:cs typeface="Times New Roman" pitchFamily="18" charset="0"/>
            </a:endParaRPr>
          </a:p>
        </p:txBody>
      </p:sp>
      <p:sp>
        <p:nvSpPr>
          <p:cNvPr id="2051" name="副標題 2"/>
          <p:cNvSpPr>
            <a:spLocks noGrp="1"/>
          </p:cNvSpPr>
          <p:nvPr>
            <p:ph type="subTitle" idx="1"/>
          </p:nvPr>
        </p:nvSpPr>
        <p:spPr>
          <a:xfrm>
            <a:off x="1331913" y="5301208"/>
            <a:ext cx="6400800" cy="576064"/>
          </a:xfrm>
        </p:spPr>
        <p:txBody>
          <a:bodyPr/>
          <a:lstStyle/>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Presenter: Hong-Yu Chen</a:t>
            </a:r>
          </a:p>
          <a:p>
            <a:pPr algn="r" eaLnBrk="1" hangingPunct="1"/>
            <a:r>
              <a:rPr lang="en-US" altLang="zh-TW" sz="2000" dirty="0" smtClean="0">
                <a:solidFill>
                  <a:schemeClr val="tx1"/>
                </a:solidFill>
                <a:latin typeface="Times New Roman" pitchFamily="18" charset="0"/>
                <a:ea typeface="DFKai-SB" pitchFamily="65" charset="-120"/>
                <a:cs typeface="Times New Roman" pitchFamily="18" charset="0"/>
              </a:rPr>
              <a:t>Date: Sept. 26, 2011</a:t>
            </a:r>
            <a:endParaRPr lang="zh-TW" altLang="en-US" sz="2000" dirty="0" smtClean="0">
              <a:solidFill>
                <a:schemeClr val="tx1"/>
              </a:solidFill>
              <a:latin typeface="Times New Roman" pitchFamily="18" charset="0"/>
              <a:ea typeface="DFKai-SB" pitchFamily="65" charset="-12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(1/3)</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500" b="1" dirty="0">
                <a:latin typeface="Times New Roman" pitchFamily="18" charset="0"/>
                <a:ea typeface="標楷體" pitchFamily="65" charset="-120"/>
                <a:cs typeface="Times New Roman" pitchFamily="18" charset="0"/>
              </a:rPr>
              <a:t>Motivation</a:t>
            </a:r>
            <a:r>
              <a:rPr lang="en-US" altLang="zh-TW" sz="2500" dirty="0">
                <a:latin typeface="Times New Roman" pitchFamily="18" charset="0"/>
                <a:ea typeface="標楷體" pitchFamily="65" charset="-120"/>
                <a:cs typeface="Times New Roman" pitchFamily="18" charset="0"/>
              </a:rPr>
              <a:t>: Disulfide bonds play an important role in protein folding</a:t>
            </a:r>
            <a:r>
              <a:rPr lang="en-US" altLang="zh-TW" sz="2500" dirty="0" smtClean="0">
                <a:latin typeface="Times New Roman" pitchFamily="18" charset="0"/>
                <a:ea typeface="標楷體" pitchFamily="65" charset="-120"/>
                <a:cs typeface="Times New Roman" pitchFamily="18" charset="0"/>
              </a:rPr>
              <a:t>. A </a:t>
            </a:r>
            <a:r>
              <a:rPr lang="en-US" altLang="zh-TW" sz="2500" dirty="0">
                <a:latin typeface="Times New Roman" pitchFamily="18" charset="0"/>
                <a:ea typeface="標楷體" pitchFamily="65" charset="-120"/>
                <a:cs typeface="Times New Roman" pitchFamily="18" charset="0"/>
              </a:rPr>
              <a:t>precise prediction of disulfide connectivity can strongly reduce </a:t>
            </a:r>
            <a:r>
              <a:rPr lang="en-US" altLang="zh-TW" sz="2500" dirty="0" smtClean="0">
                <a:latin typeface="Times New Roman" pitchFamily="18" charset="0"/>
                <a:ea typeface="標楷體" pitchFamily="65" charset="-120"/>
                <a:cs typeface="Times New Roman" pitchFamily="18" charset="0"/>
              </a:rPr>
              <a:t>the conformational </a:t>
            </a:r>
            <a:r>
              <a:rPr lang="en-US" altLang="zh-TW" sz="2500" dirty="0">
                <a:latin typeface="Times New Roman" pitchFamily="18" charset="0"/>
                <a:ea typeface="標楷體" pitchFamily="65" charset="-120"/>
                <a:cs typeface="Times New Roman" pitchFamily="18" charset="0"/>
              </a:rPr>
              <a:t>search space and increase the accuracy in </a:t>
            </a:r>
            <a:r>
              <a:rPr lang="en-US" altLang="zh-TW" sz="2500" dirty="0" smtClean="0">
                <a:latin typeface="Times New Roman" pitchFamily="18" charset="0"/>
                <a:ea typeface="標楷體" pitchFamily="65" charset="-120"/>
                <a:cs typeface="Times New Roman" pitchFamily="18" charset="0"/>
              </a:rPr>
              <a:t>protein structure </a:t>
            </a:r>
            <a:r>
              <a:rPr lang="en-US" altLang="zh-TW" sz="2500" dirty="0">
                <a:latin typeface="Times New Roman" pitchFamily="18" charset="0"/>
                <a:ea typeface="標楷體" pitchFamily="65" charset="-120"/>
                <a:cs typeface="Times New Roman" pitchFamily="18" charset="0"/>
              </a:rPr>
              <a:t>prediction. Conventional disulfide connectivity </a:t>
            </a:r>
            <a:r>
              <a:rPr lang="en-US" altLang="zh-TW" sz="2500" dirty="0" smtClean="0">
                <a:latin typeface="Times New Roman" pitchFamily="18" charset="0"/>
                <a:ea typeface="標楷體" pitchFamily="65" charset="-120"/>
                <a:cs typeface="Times New Roman" pitchFamily="18" charset="0"/>
              </a:rPr>
              <a:t>predictions use </a:t>
            </a:r>
            <a:r>
              <a:rPr lang="en-US" altLang="zh-TW" sz="2500" dirty="0">
                <a:latin typeface="Times New Roman" pitchFamily="18" charset="0"/>
                <a:ea typeface="標楷體" pitchFamily="65" charset="-120"/>
                <a:cs typeface="Times New Roman" pitchFamily="18" charset="0"/>
              </a:rPr>
              <a:t>sequence information, and prediction accuracy is limited. Here</a:t>
            </a:r>
            <a:r>
              <a:rPr lang="en-US" altLang="zh-TW" sz="2500" dirty="0" smtClean="0">
                <a:latin typeface="Times New Roman" pitchFamily="18" charset="0"/>
                <a:ea typeface="標楷體" pitchFamily="65" charset="-120"/>
                <a:cs typeface="Times New Roman" pitchFamily="18" charset="0"/>
              </a:rPr>
              <a:t>, by </a:t>
            </a:r>
            <a:r>
              <a:rPr lang="en-US" altLang="zh-TW" sz="2500" dirty="0">
                <a:latin typeface="Times New Roman" pitchFamily="18" charset="0"/>
                <a:ea typeface="標楷體" pitchFamily="65" charset="-120"/>
                <a:cs typeface="Times New Roman" pitchFamily="18" charset="0"/>
              </a:rPr>
              <a:t>using an alternative scheme with global information for </a:t>
            </a:r>
            <a:r>
              <a:rPr lang="en-US" altLang="zh-TW" sz="2500" dirty="0" smtClean="0">
                <a:latin typeface="Times New Roman" pitchFamily="18" charset="0"/>
                <a:ea typeface="標楷體" pitchFamily="65" charset="-120"/>
                <a:cs typeface="Times New Roman" pitchFamily="18" charset="0"/>
              </a:rPr>
              <a:t>disulfide connectivity </a:t>
            </a:r>
            <a:r>
              <a:rPr lang="en-US" altLang="zh-TW" sz="2500" dirty="0">
                <a:latin typeface="Times New Roman" pitchFamily="18" charset="0"/>
                <a:ea typeface="標楷體" pitchFamily="65" charset="-120"/>
                <a:cs typeface="Times New Roman" pitchFamily="18" charset="0"/>
              </a:rPr>
              <a:t>prediction, higher performance is obtained with </a:t>
            </a:r>
            <a:r>
              <a:rPr lang="en-US" altLang="zh-TW" sz="2500" dirty="0" smtClean="0">
                <a:latin typeface="Times New Roman" pitchFamily="18" charset="0"/>
                <a:ea typeface="標楷體" pitchFamily="65" charset="-120"/>
                <a:cs typeface="Times New Roman" pitchFamily="18" charset="0"/>
              </a:rPr>
              <a:t>respect to </a:t>
            </a:r>
            <a:r>
              <a:rPr lang="en-US" altLang="zh-TW" sz="2500" dirty="0">
                <a:latin typeface="Times New Roman" pitchFamily="18" charset="0"/>
                <a:ea typeface="標楷體" pitchFamily="65" charset="-120"/>
                <a:cs typeface="Times New Roman" pitchFamily="18" charset="0"/>
              </a:rPr>
              <a:t>other approaches</a:t>
            </a:r>
            <a:r>
              <a:rPr lang="en-US" altLang="zh-TW" sz="2500" dirty="0" smtClean="0">
                <a:latin typeface="Times New Roman" pitchFamily="18" charset="0"/>
                <a:ea typeface="標楷體" pitchFamily="65" charset="-120"/>
                <a:cs typeface="Times New Roman" pitchFamily="18" charset="0"/>
              </a:rPr>
              <a:t>.</a:t>
            </a:r>
            <a:endParaRPr lang="zh-TW" altLang="en-US" sz="2500" dirty="0" smtClean="0">
              <a:latin typeface="Times New Roman" pitchFamily="18" charset="0"/>
              <a:ea typeface="標楷體" pitchFamily="65" charset="-12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(2/3)</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600" b="1" dirty="0" smtClean="0">
                <a:latin typeface="Times New Roman" pitchFamily="18" charset="0"/>
                <a:ea typeface="標楷體" pitchFamily="65" charset="-120"/>
                <a:cs typeface="Times New Roman" pitchFamily="18" charset="0"/>
              </a:rPr>
              <a:t>Result</a:t>
            </a:r>
            <a:r>
              <a:rPr lang="en-US" altLang="zh-TW" sz="2600" dirty="0" smtClean="0">
                <a:latin typeface="Times New Roman" pitchFamily="18" charset="0"/>
                <a:ea typeface="標楷體" pitchFamily="65" charset="-120"/>
                <a:cs typeface="Times New Roman" pitchFamily="18" charset="0"/>
              </a:rPr>
              <a:t>: Cysteine separation profiles have been used to predict the disulfide connectivity of proteins. </a:t>
            </a:r>
            <a:r>
              <a:rPr lang="en-US" altLang="zh-TW" sz="2600" dirty="0" smtClean="0">
                <a:solidFill>
                  <a:srgbClr val="FF0000"/>
                </a:solidFill>
                <a:latin typeface="Times New Roman" pitchFamily="18" charset="0"/>
                <a:ea typeface="標楷體" pitchFamily="65" charset="-120"/>
                <a:cs typeface="Times New Roman" pitchFamily="18" charset="0"/>
              </a:rPr>
              <a:t>The separations among oxidized cysteine residues on a protein sequence</a:t>
            </a:r>
            <a:r>
              <a:rPr lang="en-US" altLang="zh-TW" sz="2600" dirty="0" smtClean="0">
                <a:latin typeface="Times New Roman" pitchFamily="18" charset="0"/>
                <a:ea typeface="標楷體" pitchFamily="65" charset="-120"/>
                <a:cs typeface="Times New Roman" pitchFamily="18" charset="0"/>
              </a:rPr>
              <a:t> have been encoded into vectors named cysteine separation profiles (CSPs). Through comparisons of </a:t>
            </a:r>
            <a:r>
              <a:rPr lang="en-US" altLang="zh-TW" sz="2600" dirty="0">
                <a:latin typeface="Times New Roman" pitchFamily="18" charset="0"/>
                <a:ea typeface="標楷體" pitchFamily="65" charset="-120"/>
                <a:cs typeface="Times New Roman" pitchFamily="18" charset="0"/>
              </a:rPr>
              <a:t>their CSPs, the disulfide connectivity of a test protein </a:t>
            </a:r>
            <a:r>
              <a:rPr lang="en-US" altLang="zh-TW" sz="2600" dirty="0" smtClean="0">
                <a:latin typeface="Times New Roman" pitchFamily="18" charset="0"/>
                <a:ea typeface="標楷體" pitchFamily="65" charset="-120"/>
                <a:cs typeface="Times New Roman" pitchFamily="18" charset="0"/>
              </a:rPr>
              <a:t>is </a:t>
            </a:r>
            <a:r>
              <a:rPr lang="en-US" altLang="zh-TW" sz="2600" dirty="0" smtClean="0">
                <a:solidFill>
                  <a:srgbClr val="FF0000"/>
                </a:solidFill>
                <a:latin typeface="Times New Roman" pitchFamily="18" charset="0"/>
                <a:ea typeface="標楷體" pitchFamily="65" charset="-120"/>
                <a:cs typeface="Times New Roman" pitchFamily="18" charset="0"/>
              </a:rPr>
              <a:t>inferred </a:t>
            </a:r>
            <a:r>
              <a:rPr lang="en-US" altLang="zh-TW" sz="2600" dirty="0">
                <a:solidFill>
                  <a:srgbClr val="FF0000"/>
                </a:solidFill>
                <a:latin typeface="Times New Roman" pitchFamily="18" charset="0"/>
                <a:ea typeface="標楷體" pitchFamily="65" charset="-120"/>
                <a:cs typeface="Times New Roman" pitchFamily="18" charset="0"/>
              </a:rPr>
              <a:t>from a non-redundant template set</a:t>
            </a:r>
            <a:r>
              <a:rPr lang="en-US" altLang="zh-TW" sz="2600" dirty="0">
                <a:latin typeface="Times New Roman" pitchFamily="18" charset="0"/>
                <a:ea typeface="標楷體" pitchFamily="65" charset="-120"/>
                <a:cs typeface="Times New Roman" pitchFamily="18" charset="0"/>
              </a:rPr>
              <a:t>. For non-redundant </a:t>
            </a:r>
            <a:r>
              <a:rPr lang="en-US" altLang="zh-TW" sz="2600" dirty="0" smtClean="0">
                <a:latin typeface="Times New Roman" pitchFamily="18" charset="0"/>
                <a:ea typeface="標楷體" pitchFamily="65" charset="-120"/>
                <a:cs typeface="Times New Roman" pitchFamily="18" charset="0"/>
              </a:rPr>
              <a:t>proteins in </a:t>
            </a:r>
            <a:r>
              <a:rPr lang="en-US" altLang="zh-TW" sz="2600" dirty="0" err="1">
                <a:latin typeface="Times New Roman" pitchFamily="18" charset="0"/>
                <a:ea typeface="標楷體" pitchFamily="65" charset="-120"/>
                <a:cs typeface="Times New Roman" pitchFamily="18" charset="0"/>
              </a:rPr>
              <a:t>SwissProt</a:t>
            </a:r>
            <a:r>
              <a:rPr lang="en-US" altLang="zh-TW" sz="2600" dirty="0">
                <a:latin typeface="Times New Roman" pitchFamily="18" charset="0"/>
                <a:ea typeface="標楷體" pitchFamily="65" charset="-120"/>
                <a:cs typeface="Times New Roman" pitchFamily="18" charset="0"/>
              </a:rPr>
              <a:t> 39 (SP39) sharing less than 30% sequence identity</a:t>
            </a:r>
            <a:r>
              <a:rPr lang="en-US" altLang="zh-TW" sz="2600" dirty="0" smtClean="0">
                <a:latin typeface="Times New Roman" pitchFamily="18" charset="0"/>
                <a:ea typeface="標楷體" pitchFamily="65" charset="-120"/>
                <a:cs typeface="Times New Roman" pitchFamily="18" charset="0"/>
              </a:rPr>
              <a:t>, the </a:t>
            </a:r>
            <a:r>
              <a:rPr lang="en-US" altLang="zh-TW" sz="2600" dirty="0">
                <a:latin typeface="Times New Roman" pitchFamily="18" charset="0"/>
                <a:ea typeface="標楷體" pitchFamily="65" charset="-120"/>
                <a:cs typeface="Times New Roman" pitchFamily="18" charset="0"/>
              </a:rPr>
              <a:t>prediction accuracy of a fourfold cross-validation is 49%. </a:t>
            </a:r>
            <a:r>
              <a:rPr lang="en-US" altLang="zh-TW" sz="2600" dirty="0" smtClean="0">
                <a:latin typeface="Times New Roman" pitchFamily="18" charset="0"/>
                <a:ea typeface="標楷體" pitchFamily="65" charset="-120"/>
                <a:cs typeface="Times New Roman" pitchFamily="18" charset="0"/>
              </a:rPr>
              <a:t>The prediction accuracy of disulfide connectivity for proteins in </a:t>
            </a:r>
            <a:r>
              <a:rPr lang="en-US" altLang="zh-TW" sz="2600" dirty="0" err="1" smtClean="0">
                <a:latin typeface="Times New Roman" pitchFamily="18" charset="0"/>
                <a:ea typeface="標楷體" pitchFamily="65" charset="-120"/>
                <a:cs typeface="Times New Roman" pitchFamily="18" charset="0"/>
              </a:rPr>
              <a:t>SwissProt</a:t>
            </a:r>
            <a:r>
              <a:rPr lang="en-US" altLang="zh-TW" sz="2600" dirty="0" smtClean="0">
                <a:latin typeface="Times New Roman" pitchFamily="18" charset="0"/>
                <a:ea typeface="標楷體" pitchFamily="65" charset="-120"/>
                <a:cs typeface="Times New Roman" pitchFamily="18" charset="0"/>
              </a:rPr>
              <a:t> 43 (SP43) is even higher (53%).</a:t>
            </a:r>
            <a:endParaRPr lang="zh-TW" altLang="en-US" sz="26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8715833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標題 1"/>
          <p:cNvSpPr>
            <a:spLocks noGrp="1"/>
          </p:cNvSpPr>
          <p:nvPr>
            <p:ph type="title"/>
          </p:nvPr>
        </p:nvSpPr>
        <p:spPr/>
        <p:txBody>
          <a:bodyPr/>
          <a:lstStyle/>
          <a:p>
            <a:pPr eaLnBrk="1" hangingPunct="1"/>
            <a:r>
              <a:rPr lang="en-US" altLang="zh-TW" dirty="0" smtClean="0">
                <a:latin typeface="Times New Roman" pitchFamily="18" charset="0"/>
                <a:ea typeface="DFKai-SB" pitchFamily="65" charset="-120"/>
                <a:cs typeface="Times New Roman" pitchFamily="18" charset="0"/>
              </a:rPr>
              <a:t>Abstract (3/3)</a:t>
            </a:r>
            <a:endParaRPr lang="zh-TW" altLang="en-US" dirty="0" smtClean="0">
              <a:latin typeface="Times New Roman" pitchFamily="18" charset="0"/>
              <a:ea typeface="DFKai-SB" pitchFamily="65" charset="-120"/>
              <a:cs typeface="Times New Roman" pitchFamily="18" charset="0"/>
            </a:endParaRPr>
          </a:p>
        </p:txBody>
      </p:sp>
      <p:sp>
        <p:nvSpPr>
          <p:cNvPr id="3075" name="內容版面配置區 2"/>
          <p:cNvSpPr>
            <a:spLocks noGrp="1"/>
          </p:cNvSpPr>
          <p:nvPr>
            <p:ph idx="1"/>
          </p:nvPr>
        </p:nvSpPr>
        <p:spPr/>
        <p:txBody>
          <a:bodyPr/>
          <a:lstStyle/>
          <a:p>
            <a:r>
              <a:rPr lang="en-US" altLang="zh-TW" sz="2600" dirty="0">
                <a:latin typeface="Times New Roman" pitchFamily="18" charset="0"/>
                <a:ea typeface="標楷體" pitchFamily="65" charset="-120"/>
                <a:cs typeface="Times New Roman" pitchFamily="18" charset="0"/>
              </a:rPr>
              <a:t>The relationship between the similarity of CSPs and the prediction accuracy is also discussed. The method proposed in this work is relatively simple and can generate higher accuracies compared to conventional methods. It may be also combined with other algorithms for further improvements in protein structure prediction.</a:t>
            </a:r>
            <a:endParaRPr lang="zh-TW" altLang="en-US" sz="26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40354626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Introduction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3000" dirty="0">
                <a:latin typeface="Times New Roman" pitchFamily="18" charset="0"/>
                <a:ea typeface="標楷體" pitchFamily="65" charset="-120"/>
                <a:cs typeface="Times New Roman" pitchFamily="18" charset="0"/>
              </a:rPr>
              <a:t>A disulfide connectivity pattern can be used </a:t>
            </a:r>
            <a:r>
              <a:rPr lang="en-US" altLang="zh-TW" sz="3000" dirty="0" smtClean="0">
                <a:latin typeface="Times New Roman" pitchFamily="18" charset="0"/>
                <a:ea typeface="標楷體" pitchFamily="65" charset="-120"/>
                <a:cs typeface="Times New Roman" pitchFamily="18" charset="0"/>
              </a:rPr>
              <a:t>to discriminate </a:t>
            </a:r>
            <a:r>
              <a:rPr lang="en-US" altLang="zh-TW" sz="3000" dirty="0">
                <a:latin typeface="Times New Roman" pitchFamily="18" charset="0"/>
                <a:ea typeface="標楷體" pitchFamily="65" charset="-120"/>
                <a:cs typeface="Times New Roman" pitchFamily="18" charset="0"/>
              </a:rPr>
              <a:t>the structural similarity between </a:t>
            </a:r>
            <a:r>
              <a:rPr lang="en-US" altLang="zh-TW" sz="3000" dirty="0" smtClean="0">
                <a:latin typeface="Times New Roman" pitchFamily="18" charset="0"/>
                <a:ea typeface="標楷體" pitchFamily="65" charset="-120"/>
                <a:cs typeface="Times New Roman" pitchFamily="18" charset="0"/>
              </a:rPr>
              <a:t>proteins.</a:t>
            </a:r>
          </a:p>
          <a:p>
            <a:r>
              <a:rPr lang="en-US" altLang="zh-TW" sz="3000" dirty="0" smtClean="0">
                <a:latin typeface="Times New Roman" pitchFamily="18" charset="0"/>
                <a:ea typeface="標楷體" pitchFamily="65" charset="-120"/>
                <a:cs typeface="Times New Roman" pitchFamily="18" charset="0"/>
              </a:rPr>
              <a:t>It has been shown that proteins with similar disulfide bonding patterns also share similar folds.</a:t>
            </a:r>
          </a:p>
          <a:p>
            <a:r>
              <a:rPr lang="en-US" altLang="zh-TW" sz="3000" dirty="0">
                <a:latin typeface="Times New Roman" pitchFamily="18" charset="0"/>
                <a:ea typeface="標楷體" pitchFamily="65" charset="-120"/>
                <a:cs typeface="Times New Roman" pitchFamily="18" charset="0"/>
              </a:rPr>
              <a:t>The prediction of disulfide connectivity is based on the comparisons of vectors from testing and template dataset, in which similar vectors imply similar connection patterns</a:t>
            </a:r>
            <a:r>
              <a:rPr lang="en-US" altLang="zh-TW" sz="3000" dirty="0" smtClean="0">
                <a:latin typeface="Times New Roman" pitchFamily="18" charset="0"/>
                <a:ea typeface="標楷體" pitchFamily="65" charset="-120"/>
                <a:cs typeface="Times New Roman" pitchFamily="18" charset="0"/>
              </a:rPr>
              <a:t>.</a:t>
            </a:r>
            <a:endParaRPr lang="en-US" altLang="zh-TW" sz="3000" dirty="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2872602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Datasets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SP39: </a:t>
            </a:r>
            <a:r>
              <a:rPr lang="en-US" altLang="zh-TW" sz="2400" dirty="0" err="1">
                <a:latin typeface="Times New Roman" pitchFamily="18" charset="0"/>
                <a:ea typeface="標楷體" pitchFamily="65" charset="-120"/>
                <a:cs typeface="Times New Roman" pitchFamily="18" charset="0"/>
              </a:rPr>
              <a:t>SwissProt</a:t>
            </a:r>
            <a:r>
              <a:rPr lang="en-US" altLang="zh-TW" sz="2400" dirty="0">
                <a:latin typeface="Times New Roman" pitchFamily="18" charset="0"/>
                <a:ea typeface="標楷體" pitchFamily="65" charset="-120"/>
                <a:cs typeface="Times New Roman" pitchFamily="18" charset="0"/>
              </a:rPr>
              <a:t> release No. </a:t>
            </a:r>
            <a:r>
              <a:rPr lang="en-US" altLang="zh-TW" sz="2400" dirty="0" smtClean="0">
                <a:latin typeface="Times New Roman" pitchFamily="18" charset="0"/>
                <a:ea typeface="標楷體" pitchFamily="65" charset="-120"/>
                <a:cs typeface="Times New Roman" pitchFamily="18" charset="0"/>
              </a:rPr>
              <a:t>39, </a:t>
            </a:r>
            <a:r>
              <a:rPr lang="en-US" altLang="zh-TW" sz="2400" dirty="0">
                <a:latin typeface="Times New Roman" pitchFamily="18" charset="0"/>
                <a:ea typeface="標楷體" pitchFamily="65" charset="-120"/>
                <a:cs typeface="Times New Roman" pitchFamily="18" charset="0"/>
              </a:rPr>
              <a:t>filtered according to procedures described in two </a:t>
            </a:r>
            <a:r>
              <a:rPr lang="en-US" altLang="zh-TW" sz="2400" dirty="0" smtClean="0">
                <a:latin typeface="Times New Roman" pitchFamily="18" charset="0"/>
                <a:ea typeface="標楷體" pitchFamily="65" charset="-120"/>
                <a:cs typeface="Times New Roman" pitchFamily="18" charset="0"/>
              </a:rPr>
              <a:t>previous works </a:t>
            </a:r>
            <a:r>
              <a:rPr lang="en-US" altLang="zh-TW" sz="2400" dirty="0">
                <a:latin typeface="Times New Roman" pitchFamily="18" charset="0"/>
                <a:ea typeface="標楷體" pitchFamily="65" charset="-120"/>
                <a:cs typeface="Times New Roman" pitchFamily="18" charset="0"/>
              </a:rPr>
              <a:t>(</a:t>
            </a:r>
            <a:r>
              <a:rPr lang="en-US" altLang="zh-TW" sz="2400" dirty="0" err="1">
                <a:latin typeface="Times New Roman" pitchFamily="18" charset="0"/>
                <a:ea typeface="標楷體" pitchFamily="65" charset="-120"/>
                <a:cs typeface="Times New Roman" pitchFamily="18" charset="0"/>
              </a:rPr>
              <a:t>Fariselli</a:t>
            </a:r>
            <a:r>
              <a:rPr lang="en-US" altLang="zh-TW" sz="2400" dirty="0">
                <a:latin typeface="Times New Roman" pitchFamily="18" charset="0"/>
                <a:ea typeface="標楷體" pitchFamily="65" charset="-120"/>
                <a:cs typeface="Times New Roman" pitchFamily="18" charset="0"/>
              </a:rPr>
              <a:t> and </a:t>
            </a:r>
            <a:r>
              <a:rPr lang="en-US" altLang="zh-TW" sz="2400" dirty="0" err="1">
                <a:latin typeface="Times New Roman" pitchFamily="18" charset="0"/>
                <a:ea typeface="標楷體" pitchFamily="65" charset="-120"/>
                <a:cs typeface="Times New Roman" pitchFamily="18" charset="0"/>
              </a:rPr>
              <a:t>Casadio</a:t>
            </a:r>
            <a:r>
              <a:rPr lang="en-US" altLang="zh-TW" sz="2400" dirty="0">
                <a:latin typeface="Times New Roman" pitchFamily="18" charset="0"/>
                <a:ea typeface="標楷體" pitchFamily="65" charset="-120"/>
                <a:cs typeface="Times New Roman" pitchFamily="18" charset="0"/>
              </a:rPr>
              <a:t>, 2001; </a:t>
            </a:r>
            <a:r>
              <a:rPr lang="en-US" altLang="zh-TW" sz="2400" dirty="0" err="1">
                <a:latin typeface="Times New Roman" pitchFamily="18" charset="0"/>
                <a:ea typeface="標楷體" pitchFamily="65" charset="-120"/>
                <a:cs typeface="Times New Roman" pitchFamily="18" charset="0"/>
              </a:rPr>
              <a:t>Vullo</a:t>
            </a:r>
            <a:r>
              <a:rPr lang="en-US" altLang="zh-TW" sz="2400" dirty="0">
                <a:latin typeface="Times New Roman" pitchFamily="18" charset="0"/>
                <a:ea typeface="標楷體" pitchFamily="65" charset="-120"/>
                <a:cs typeface="Times New Roman" pitchFamily="18" charset="0"/>
              </a:rPr>
              <a:t> and </a:t>
            </a:r>
            <a:r>
              <a:rPr lang="en-US" altLang="zh-TW" sz="2400" dirty="0" err="1">
                <a:latin typeface="Times New Roman" pitchFamily="18" charset="0"/>
                <a:ea typeface="標楷體" pitchFamily="65" charset="-120"/>
                <a:cs typeface="Times New Roman" pitchFamily="18" charset="0"/>
              </a:rPr>
              <a:t>Frasconi</a:t>
            </a:r>
            <a:r>
              <a:rPr lang="en-US" altLang="zh-TW" sz="2400" dirty="0">
                <a:latin typeface="Times New Roman" pitchFamily="18" charset="0"/>
                <a:ea typeface="標楷體" pitchFamily="65" charset="-120"/>
                <a:cs typeface="Times New Roman" pitchFamily="18" charset="0"/>
              </a:rPr>
              <a:t>, 2004</a:t>
            </a:r>
            <a:r>
              <a:rPr lang="en-US" altLang="zh-TW" sz="2400" dirty="0" smtClean="0">
                <a:latin typeface="Times New Roman" pitchFamily="18" charset="0"/>
                <a:ea typeface="標楷體" pitchFamily="65" charset="-120"/>
                <a:cs typeface="Times New Roman" pitchFamily="18" charset="0"/>
              </a:rPr>
              <a:t>).</a:t>
            </a:r>
          </a:p>
          <a:p>
            <a:r>
              <a:rPr lang="en-US" altLang="zh-TW" sz="2400" dirty="0">
                <a:latin typeface="Times New Roman" pitchFamily="18" charset="0"/>
                <a:ea typeface="標楷體" pitchFamily="65" charset="-120"/>
                <a:cs typeface="Times New Roman" pitchFamily="18" charset="0"/>
              </a:rPr>
              <a:t>SP39-ID30: redundant sequences with pairwise sequence identity of more than 30% </a:t>
            </a:r>
            <a:r>
              <a:rPr lang="en-US" altLang="zh-TW" sz="2400" dirty="0" smtClean="0">
                <a:latin typeface="Times New Roman" pitchFamily="18" charset="0"/>
                <a:ea typeface="標楷體" pitchFamily="65" charset="-120"/>
                <a:cs typeface="Times New Roman" pitchFamily="18" charset="0"/>
              </a:rPr>
              <a:t>were removed.</a:t>
            </a:r>
          </a:p>
          <a:p>
            <a:r>
              <a:rPr lang="en-US" altLang="zh-TW" sz="2400" dirty="0">
                <a:latin typeface="Times New Roman" pitchFamily="18" charset="0"/>
                <a:ea typeface="標楷體" pitchFamily="65" charset="-120"/>
                <a:cs typeface="Times New Roman" pitchFamily="18" charset="0"/>
              </a:rPr>
              <a:t>SP43: </a:t>
            </a:r>
            <a:r>
              <a:rPr lang="en-US" altLang="zh-TW" sz="2400" dirty="0" smtClean="0">
                <a:latin typeface="Times New Roman" pitchFamily="18" charset="0"/>
                <a:ea typeface="標楷體" pitchFamily="65" charset="-120"/>
                <a:cs typeface="Times New Roman" pitchFamily="18" charset="0"/>
              </a:rPr>
              <a:t>redundant </a:t>
            </a:r>
            <a:r>
              <a:rPr lang="en-US" altLang="zh-TW" sz="2400" dirty="0">
                <a:latin typeface="Times New Roman" pitchFamily="18" charset="0"/>
                <a:ea typeface="標楷體" pitchFamily="65" charset="-120"/>
                <a:cs typeface="Times New Roman" pitchFamily="18" charset="0"/>
              </a:rPr>
              <a:t>sequences </a:t>
            </a:r>
            <a:r>
              <a:rPr lang="en-US" altLang="zh-TW" sz="2400" dirty="0" smtClean="0">
                <a:latin typeface="Times New Roman" pitchFamily="18" charset="0"/>
                <a:ea typeface="標楷體" pitchFamily="65" charset="-120"/>
                <a:cs typeface="Times New Roman" pitchFamily="18" charset="0"/>
              </a:rPr>
              <a:t>with pairwise </a:t>
            </a:r>
            <a:r>
              <a:rPr lang="en-US" altLang="zh-TW" sz="2400" dirty="0">
                <a:latin typeface="Times New Roman" pitchFamily="18" charset="0"/>
                <a:ea typeface="標楷體" pitchFamily="65" charset="-120"/>
                <a:cs typeface="Times New Roman" pitchFamily="18" charset="0"/>
              </a:rPr>
              <a:t>sequence identity of more than 25% in SP43 were also removed</a:t>
            </a:r>
            <a:r>
              <a:rPr lang="en-US" altLang="zh-TW" sz="2400" dirty="0" smtClean="0">
                <a:latin typeface="Times New Roman" pitchFamily="18" charset="0"/>
                <a:ea typeface="標楷體" pitchFamily="65" charset="-120"/>
                <a:cs typeface="Times New Roman" pitchFamily="18" charset="0"/>
              </a:rPr>
              <a:t>.</a:t>
            </a:r>
          </a:p>
          <a:p>
            <a:r>
              <a:rPr lang="en-US" altLang="zh-TW" sz="2400" dirty="0">
                <a:latin typeface="Times New Roman" pitchFamily="18" charset="0"/>
                <a:ea typeface="標楷體" pitchFamily="65" charset="-120"/>
                <a:cs typeface="Times New Roman" pitchFamily="18" charset="0"/>
              </a:rPr>
              <a:t>SP39-TEMPLATE: filtered as </a:t>
            </a:r>
            <a:r>
              <a:rPr lang="en-US" altLang="zh-TW" sz="2400" dirty="0" smtClean="0">
                <a:latin typeface="Times New Roman" pitchFamily="18" charset="0"/>
                <a:ea typeface="標楷體" pitchFamily="65" charset="-120"/>
                <a:cs typeface="Times New Roman" pitchFamily="18" charset="0"/>
              </a:rPr>
              <a:t>in SP39 </a:t>
            </a:r>
            <a:r>
              <a:rPr lang="en-US" altLang="zh-TW" sz="2400" dirty="0">
                <a:latin typeface="Times New Roman" pitchFamily="18" charset="0"/>
                <a:ea typeface="標楷體" pitchFamily="65" charset="-120"/>
                <a:cs typeface="Times New Roman" pitchFamily="18" charset="0"/>
              </a:rPr>
              <a:t>and SP43, except for the PDB filter. Only sequences sharing less </a:t>
            </a:r>
            <a:r>
              <a:rPr lang="en-US" altLang="zh-TW" sz="2400" dirty="0" smtClean="0">
                <a:latin typeface="Times New Roman" pitchFamily="18" charset="0"/>
                <a:ea typeface="標楷體" pitchFamily="65" charset="-120"/>
                <a:cs typeface="Times New Roman" pitchFamily="18" charset="0"/>
              </a:rPr>
              <a:t>than 30</a:t>
            </a:r>
            <a:r>
              <a:rPr lang="en-US" altLang="zh-TW" sz="2400" dirty="0">
                <a:latin typeface="Times New Roman" pitchFamily="18" charset="0"/>
                <a:ea typeface="標楷體" pitchFamily="65" charset="-120"/>
                <a:cs typeface="Times New Roman" pitchFamily="18" charset="0"/>
              </a:rPr>
              <a:t>% identity with those in SP43 were kept.</a:t>
            </a:r>
            <a:endParaRPr lang="en-US" altLang="zh-TW" sz="2400"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17070752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Datasets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400" dirty="0" smtClean="0">
              <a:latin typeface="Times New Roman" pitchFamily="18" charset="0"/>
              <a:ea typeface="標楷體" pitchFamily="65" charset="-120"/>
              <a:cs typeface="Times New Roman" pitchFamily="18" charset="0"/>
            </a:endParaRP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44824"/>
            <a:ext cx="8667502" cy="3878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14851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Basic assumption</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Similar disulfide bonding patterns infer similar protein structures regardless of </a:t>
                </a:r>
                <a:r>
                  <a:rPr lang="en-US" altLang="zh-TW" sz="2400" dirty="0">
                    <a:latin typeface="Times New Roman" pitchFamily="18" charset="0"/>
                    <a:ea typeface="標楷體" pitchFamily="65" charset="-120"/>
                    <a:cs typeface="Times New Roman" pitchFamily="18" charset="0"/>
                  </a:rPr>
                  <a:t>sequence </a:t>
                </a:r>
                <a:r>
                  <a:rPr lang="en-US" altLang="zh-TW" sz="2400" dirty="0" smtClean="0">
                    <a:latin typeface="Times New Roman" pitchFamily="18" charset="0"/>
                    <a:ea typeface="標楷體" pitchFamily="65" charset="-120"/>
                    <a:cs typeface="Times New Roman" pitchFamily="18" charset="0"/>
                  </a:rPr>
                  <a:t>identity.</a:t>
                </a:r>
              </a:p>
              <a:p>
                <a:r>
                  <a:rPr lang="en-US" altLang="zh-TW" sz="2400" dirty="0" smtClean="0">
                    <a:latin typeface="Times New Roman" pitchFamily="18" charset="0"/>
                    <a:ea typeface="標楷體" pitchFamily="65" charset="-120"/>
                    <a:cs typeface="Times New Roman" pitchFamily="18" charset="0"/>
                    <a:hlinkClick r:id="rId2"/>
                  </a:rPr>
                  <a:t>1TAP</a:t>
                </a:r>
                <a:r>
                  <a:rPr lang="en-US" altLang="zh-TW" sz="2400" dirty="0" smtClean="0">
                    <a:latin typeface="Times New Roman" pitchFamily="18" charset="0"/>
                    <a:ea typeface="標楷體" pitchFamily="65" charset="-120"/>
                    <a:cs typeface="Times New Roman" pitchFamily="18" charset="0"/>
                  </a:rPr>
                  <a:t> &amp; </a:t>
                </a:r>
                <a:r>
                  <a:rPr lang="en-US" altLang="zh-TW" sz="2400" dirty="0" smtClean="0">
                    <a:latin typeface="Times New Roman" pitchFamily="18" charset="0"/>
                    <a:ea typeface="標楷體" pitchFamily="65" charset="-120"/>
                    <a:cs typeface="Times New Roman" pitchFamily="18" charset="0"/>
                    <a:hlinkClick r:id="rId3"/>
                  </a:rPr>
                  <a:t>1BF0</a:t>
                </a:r>
                <a:endParaRPr lang="en-US" altLang="zh-TW" sz="2400" dirty="0" smtClean="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Pattern: [1-6, 2-3, 4-5]</a:t>
                </a:r>
              </a:p>
              <a:p>
                <a:r>
                  <a:rPr lang="en-US" altLang="zh-TW" sz="2400" dirty="0" smtClean="0">
                    <a:latin typeface="Times New Roman" pitchFamily="18" charset="0"/>
                    <a:ea typeface="標楷體" pitchFamily="65" charset="-120"/>
                    <a:cs typeface="Times New Roman" pitchFamily="18" charset="0"/>
                  </a:rPr>
                  <a:t>Sequence identity: 18.2%</a:t>
                </a:r>
              </a:p>
              <a:p>
                <a14:m>
                  <m:oMath xmlns:m="http://schemas.openxmlformats.org/officeDocument/2006/math">
                    <m:sSub>
                      <m:sSubPr>
                        <m:ctrlPr>
                          <a:rPr lang="en-US" altLang="zh-TW" sz="2400" i="1" smtClean="0">
                            <a:latin typeface="Cambria Math"/>
                            <a:ea typeface="標楷體" pitchFamily="65" charset="-120"/>
                            <a:cs typeface="Times New Roman" pitchFamily="18" charset="0"/>
                          </a:rPr>
                        </m:ctrlPr>
                      </m:sSubPr>
                      <m:e>
                        <m:r>
                          <a:rPr lang="en-US" altLang="zh-TW" sz="2400" b="0" i="1" smtClean="0">
                            <a:latin typeface="Cambria Math"/>
                            <a:ea typeface="標楷體" pitchFamily="65" charset="-120"/>
                            <a:cs typeface="Times New Roman" pitchFamily="18" charset="0"/>
                          </a:rPr>
                          <m:t>𝐶</m:t>
                        </m:r>
                      </m:e>
                      <m:sub>
                        <m:r>
                          <a:rPr lang="zh-TW" altLang="en-US" sz="2400" i="1" smtClean="0">
                            <a:latin typeface="Cambria Math"/>
                            <a:ea typeface="標楷體" pitchFamily="65" charset="-120"/>
                            <a:cs typeface="Times New Roman" pitchFamily="18" charset="0"/>
                          </a:rPr>
                          <m:t>𝛼</m:t>
                        </m:r>
                      </m:sub>
                    </m:sSub>
                  </m:oMath>
                </a14:m>
                <a:r>
                  <a:rPr lang="en-US" altLang="zh-TW" sz="2400" dirty="0" smtClean="0">
                    <a:latin typeface="Times New Roman" pitchFamily="18" charset="0"/>
                    <a:ea typeface="標楷體" pitchFamily="65" charset="-120"/>
                    <a:cs typeface="Times New Roman" pitchFamily="18" charset="0"/>
                  </a:rPr>
                  <a:t> </a:t>
                </a:r>
                <a:r>
                  <a:rPr lang="en-US" altLang="zh-TW" sz="2400" dirty="0">
                    <a:latin typeface="Times New Roman" pitchFamily="18" charset="0"/>
                    <a:ea typeface="標楷體" pitchFamily="65" charset="-120"/>
                    <a:cs typeface="Times New Roman" pitchFamily="18" charset="0"/>
                  </a:rPr>
                  <a:t>RMSD: 3.6 </a:t>
                </a:r>
                <a:r>
                  <a:rPr lang="en-US" altLang="zh-TW" sz="2400" dirty="0" smtClean="0">
                    <a:latin typeface="Times New Roman" pitchFamily="18" charset="0"/>
                    <a:ea typeface="標楷體" pitchFamily="65" charset="-120"/>
                    <a:cs typeface="Times New Roman" pitchFamily="18" charset="0"/>
                  </a:rPr>
                  <a:t>Å</a:t>
                </a:r>
              </a:p>
              <a:p>
                <a:r>
                  <a:rPr lang="en-US" altLang="zh-TW" sz="2400" dirty="0" smtClean="0">
                    <a:latin typeface="Times New Roman" pitchFamily="18" charset="0"/>
                    <a:ea typeface="標楷體" pitchFamily="65" charset="-120"/>
                    <a:cs typeface="Times New Roman" pitchFamily="18" charset="0"/>
                  </a:rPr>
                  <a:t>[5, 15, 33, 39, 55, 59]</a:t>
                </a:r>
                <a:r>
                  <a:rPr lang="en-US" altLang="zh-TW" sz="2400" dirty="0">
                    <a:latin typeface="Times New Roman" pitchFamily="18" charset="0"/>
                    <a:ea typeface="標楷體" pitchFamily="65" charset="-120"/>
                    <a:cs typeface="Times New Roman" pitchFamily="18" charset="0"/>
                  </a:rPr>
                  <a:t/>
                </a:r>
                <a:br>
                  <a:rPr lang="en-US" altLang="zh-TW" sz="2400" dirty="0">
                    <a:latin typeface="Times New Roman" pitchFamily="18" charset="0"/>
                    <a:ea typeface="標楷體" pitchFamily="65" charset="-120"/>
                    <a:cs typeface="Times New Roman" pitchFamily="18" charset="0"/>
                  </a:rPr>
                </a:br>
                <a:r>
                  <a:rPr lang="en-US" altLang="zh-TW" sz="2400" dirty="0" smtClean="0">
                    <a:latin typeface="Times New Roman" pitchFamily="18" charset="0"/>
                    <a:ea typeface="標楷體" pitchFamily="65" charset="-120"/>
                    <a:cs typeface="Times New Roman" pitchFamily="18" charset="0"/>
                  </a:rPr>
                  <a:t>[7, 16, 32, 40, 53, 57]</a:t>
                </a:r>
              </a:p>
              <a:p>
                <a:r>
                  <a:rPr lang="en-US" altLang="zh-TW" sz="2400" dirty="0">
                    <a:latin typeface="Times New Roman" pitchFamily="18" charset="0"/>
                    <a:ea typeface="標楷體" pitchFamily="65" charset="-120"/>
                    <a:cs typeface="Times New Roman" pitchFamily="18" charset="0"/>
                  </a:rPr>
                  <a:t>The </a:t>
                </a:r>
                <a:r>
                  <a:rPr lang="en-US" altLang="zh-TW" sz="2400" dirty="0" smtClean="0">
                    <a:solidFill>
                      <a:srgbClr val="FF0000"/>
                    </a:solidFill>
                    <a:latin typeface="Times New Roman" pitchFamily="18" charset="0"/>
                    <a:ea typeface="標楷體" pitchFamily="65" charset="-120"/>
                    <a:cs typeface="Times New Roman" pitchFamily="18" charset="0"/>
                  </a:rPr>
                  <a:t>positions</a:t>
                </a:r>
                <a:r>
                  <a:rPr lang="en-US" altLang="zh-TW" sz="2400" dirty="0" smtClean="0">
                    <a:latin typeface="Times New Roman" pitchFamily="18" charset="0"/>
                    <a:ea typeface="標楷體" pitchFamily="65" charset="-120"/>
                    <a:cs typeface="Times New Roman" pitchFamily="18" charset="0"/>
                  </a:rPr>
                  <a:t> and </a:t>
                </a:r>
                <a:br>
                  <a:rPr lang="en-US" altLang="zh-TW" sz="2400" dirty="0" smtClean="0">
                    <a:latin typeface="Times New Roman" pitchFamily="18" charset="0"/>
                    <a:ea typeface="標楷體" pitchFamily="65" charset="-120"/>
                    <a:cs typeface="Times New Roman" pitchFamily="18" charset="0"/>
                  </a:rPr>
                </a:br>
                <a:r>
                  <a:rPr lang="en-US" altLang="zh-TW" sz="2400" dirty="0" smtClean="0">
                    <a:solidFill>
                      <a:srgbClr val="FF0000"/>
                    </a:solidFill>
                    <a:latin typeface="Times New Roman" pitchFamily="18" charset="0"/>
                    <a:ea typeface="標楷體" pitchFamily="65" charset="-120"/>
                    <a:cs typeface="Times New Roman" pitchFamily="18" charset="0"/>
                  </a:rPr>
                  <a:t>separations </a:t>
                </a:r>
                <a:r>
                  <a:rPr lang="en-US" altLang="zh-TW" sz="2400" dirty="0">
                    <a:solidFill>
                      <a:srgbClr val="FF0000"/>
                    </a:solidFill>
                    <a:latin typeface="Times New Roman" pitchFamily="18" charset="0"/>
                    <a:ea typeface="標楷體" pitchFamily="65" charset="-120"/>
                    <a:cs typeface="Times New Roman" pitchFamily="18" charset="0"/>
                  </a:rPr>
                  <a:t>of cysteine </a:t>
                </a:r>
                <a:r>
                  <a:rPr lang="en-US" altLang="zh-TW" sz="2400" dirty="0" smtClean="0">
                    <a:solidFill>
                      <a:srgbClr val="FF0000"/>
                    </a:solidFill>
                    <a:latin typeface="Times New Roman" pitchFamily="18" charset="0"/>
                    <a:ea typeface="標楷體" pitchFamily="65" charset="-120"/>
                    <a:cs typeface="Times New Roman" pitchFamily="18" charset="0"/>
                  </a:rPr>
                  <a:t/>
                </a:r>
                <a:br>
                  <a:rPr lang="en-US" altLang="zh-TW" sz="2400" dirty="0" smtClean="0">
                    <a:solidFill>
                      <a:srgbClr val="FF0000"/>
                    </a:solidFill>
                    <a:latin typeface="Times New Roman" pitchFamily="18" charset="0"/>
                    <a:ea typeface="標楷體" pitchFamily="65" charset="-120"/>
                    <a:cs typeface="Times New Roman" pitchFamily="18" charset="0"/>
                  </a:rPr>
                </a:br>
                <a:r>
                  <a:rPr lang="en-US" altLang="zh-TW" sz="2400" dirty="0" smtClean="0">
                    <a:solidFill>
                      <a:srgbClr val="FF0000"/>
                    </a:solidFill>
                    <a:latin typeface="Times New Roman" pitchFamily="18" charset="0"/>
                    <a:ea typeface="標楷體" pitchFamily="65" charset="-120"/>
                    <a:cs typeface="Times New Roman" pitchFamily="18" charset="0"/>
                  </a:rPr>
                  <a:t>residues</a:t>
                </a:r>
                <a:r>
                  <a:rPr lang="en-US" altLang="zh-TW" sz="2400" dirty="0" smtClean="0">
                    <a:latin typeface="Times New Roman" pitchFamily="18" charset="0"/>
                    <a:ea typeface="標楷體" pitchFamily="65" charset="-120"/>
                    <a:cs typeface="Times New Roman" pitchFamily="18" charset="0"/>
                  </a:rPr>
                  <a:t> </a:t>
                </a:r>
                <a:r>
                  <a:rPr lang="en-US" altLang="zh-TW" sz="2400" dirty="0">
                    <a:latin typeface="Times New Roman" pitchFamily="18" charset="0"/>
                    <a:ea typeface="標楷體" pitchFamily="65" charset="-120"/>
                    <a:cs typeface="Times New Roman" pitchFamily="18" charset="0"/>
                  </a:rPr>
                  <a:t>are similar for </a:t>
                </a:r>
                <a:r>
                  <a:rPr lang="en-US" altLang="zh-TW" sz="2400" dirty="0" smtClean="0">
                    <a:latin typeface="Times New Roman" pitchFamily="18" charset="0"/>
                    <a:ea typeface="標楷體" pitchFamily="65" charset="-120"/>
                    <a:cs typeface="Times New Roman" pitchFamily="18" charset="0"/>
                  </a:rPr>
                  <a:t/>
                </a:r>
                <a:br>
                  <a:rPr lang="en-US" altLang="zh-TW" sz="2400" dirty="0" smtClean="0">
                    <a:latin typeface="Times New Roman" pitchFamily="18" charset="0"/>
                    <a:ea typeface="標楷體" pitchFamily="65" charset="-120"/>
                    <a:cs typeface="Times New Roman" pitchFamily="18" charset="0"/>
                  </a:rPr>
                </a:br>
                <a:r>
                  <a:rPr lang="en-US" altLang="zh-TW" sz="2400" dirty="0" smtClean="0">
                    <a:latin typeface="Times New Roman" pitchFamily="18" charset="0"/>
                    <a:ea typeface="標楷體" pitchFamily="65" charset="-120"/>
                    <a:cs typeface="Times New Roman" pitchFamily="18" charset="0"/>
                  </a:rPr>
                  <a:t>these </a:t>
                </a:r>
                <a:r>
                  <a:rPr lang="en-US" altLang="zh-TW" sz="2400" dirty="0">
                    <a:latin typeface="Times New Roman" pitchFamily="18" charset="0"/>
                    <a:ea typeface="標楷體" pitchFamily="65" charset="-120"/>
                    <a:cs typeface="Times New Roman" pitchFamily="18" charset="0"/>
                  </a:rPr>
                  <a:t>two proteins.</a:t>
                </a:r>
                <a:endParaRPr lang="en-US" altLang="zh-TW" sz="2400" dirty="0" smtClean="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4"/>
                <a:stretch>
                  <a:fillRect l="-963" t="-1078" b="-11725"/>
                </a:stretch>
              </a:blipFill>
            </p:spPr>
            <p:txBody>
              <a:bodyPr/>
              <a:lstStyle/>
              <a:p>
                <a:r>
                  <a:rPr lang="zh-TW" altLang="en-US">
                    <a:noFill/>
                  </a:rPr>
                  <a:t> </a:t>
                </a:r>
              </a:p>
            </p:txBody>
          </p:sp>
        </mc:Fallback>
      </mc:AlternateContent>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0672" y="2492896"/>
            <a:ext cx="4992718"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784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CSP (Cysteine separations profiles)</a:t>
            </a:r>
            <a:endParaRPr lang="zh-TW" altLang="en-US" dirty="0">
              <a:latin typeface="Times New Roman" pitchFamily="18" charset="0"/>
              <a:ea typeface="標楷體" pitchFamily="65" charset="-120"/>
              <a:cs typeface="Times New Roman"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 </a:t>
                </a:r>
              </a:p>
              <a:p>
                <a:endParaRPr lang="en-US" altLang="zh-TW" sz="2400" dirty="0">
                  <a:latin typeface="Times New Roman" pitchFamily="18" charset="0"/>
                  <a:ea typeface="標楷體" pitchFamily="65" charset="-120"/>
                  <a:cs typeface="Times New Roman" pitchFamily="18" charset="0"/>
                </a:endParaRPr>
              </a:p>
              <a:p>
                <a:endParaRPr lang="en-US" altLang="zh-TW" sz="2400" dirty="0" smtClean="0">
                  <a:latin typeface="Times New Roman" pitchFamily="18" charset="0"/>
                  <a:ea typeface="標楷體" pitchFamily="65" charset="-120"/>
                  <a:cs typeface="Times New Roman" pitchFamily="18" charset="0"/>
                </a:endParaRPr>
              </a:p>
              <a:p>
                <a14:m>
                  <m:oMath xmlns:m="http://schemas.openxmlformats.org/officeDocument/2006/math">
                    <m:sSub>
                      <m:sSubPr>
                        <m:ctrlPr>
                          <a:rPr lang="en-US" altLang="zh-TW" sz="2400" i="1" smtClean="0">
                            <a:latin typeface="Cambria Math"/>
                            <a:ea typeface="標楷體" pitchFamily="65" charset="-120"/>
                            <a:cs typeface="Times New Roman" pitchFamily="18" charset="0"/>
                          </a:rPr>
                        </m:ctrlPr>
                      </m:sSubPr>
                      <m:e>
                        <m:r>
                          <a:rPr lang="en-US" altLang="zh-TW" sz="2400" b="0" i="1" smtClean="0">
                            <a:latin typeface="Cambria Math"/>
                            <a:ea typeface="標楷體" pitchFamily="65" charset="-120"/>
                            <a:cs typeface="Times New Roman" pitchFamily="18" charset="0"/>
                          </a:rPr>
                          <m:t>𝐶</m:t>
                        </m:r>
                      </m:e>
                      <m:sub>
                        <m:r>
                          <a:rPr lang="en-US" altLang="zh-TW" sz="2400" b="0" i="1" smtClean="0">
                            <a:latin typeface="Cambria Math"/>
                            <a:ea typeface="標楷體" pitchFamily="65" charset="-120"/>
                            <a:cs typeface="Times New Roman" pitchFamily="18" charset="0"/>
                          </a:rPr>
                          <m:t>𝑖</m:t>
                        </m:r>
                      </m:sub>
                    </m:sSub>
                  </m:oMath>
                </a14:m>
                <a:r>
                  <a:rPr lang="en-US" altLang="zh-TW" sz="2400" dirty="0" smtClean="0">
                    <a:latin typeface="Times New Roman" pitchFamily="18" charset="0"/>
                    <a:ea typeface="標楷體" pitchFamily="65" charset="-120"/>
                    <a:cs typeface="Times New Roman" pitchFamily="18" charset="0"/>
                  </a:rPr>
                  <a:t> </a:t>
                </a:r>
                <a:r>
                  <a:rPr lang="en-US" altLang="zh-TW" sz="2400" dirty="0">
                    <a:latin typeface="Times New Roman" pitchFamily="18" charset="0"/>
                    <a:ea typeface="標楷體" pitchFamily="65" charset="-120"/>
                    <a:cs typeface="Times New Roman" pitchFamily="18" charset="0"/>
                  </a:rPr>
                  <a:t>is the position of </a:t>
                </a:r>
                <a:r>
                  <a:rPr lang="en-US" altLang="zh-TW" sz="2400" i="1" dirty="0" err="1">
                    <a:latin typeface="Times New Roman" pitchFamily="18" charset="0"/>
                    <a:ea typeface="標楷體" pitchFamily="65" charset="-120"/>
                    <a:cs typeface="Times New Roman" pitchFamily="18" charset="0"/>
                  </a:rPr>
                  <a:t>i</a:t>
                </a:r>
                <a:r>
                  <a:rPr lang="en-US" altLang="zh-TW" sz="2400" dirty="0" err="1">
                    <a:latin typeface="Times New Roman" pitchFamily="18" charset="0"/>
                    <a:ea typeface="標楷體" pitchFamily="65" charset="-120"/>
                    <a:cs typeface="Times New Roman" pitchFamily="18" charset="0"/>
                  </a:rPr>
                  <a:t>th</a:t>
                </a:r>
                <a:r>
                  <a:rPr lang="en-US" altLang="zh-TW" sz="2400" dirty="0">
                    <a:latin typeface="Times New Roman" pitchFamily="18" charset="0"/>
                    <a:ea typeface="標楷體" pitchFamily="65" charset="-120"/>
                    <a:cs typeface="Times New Roman" pitchFamily="18" charset="0"/>
                  </a:rPr>
                  <a:t> cysteine residue in the given </a:t>
                </a:r>
                <a:r>
                  <a:rPr lang="en-US" altLang="zh-TW" sz="2400" dirty="0" smtClean="0">
                    <a:latin typeface="Times New Roman" pitchFamily="18" charset="0"/>
                    <a:ea typeface="標楷體" pitchFamily="65" charset="-120"/>
                    <a:cs typeface="Times New Roman" pitchFamily="18" charset="0"/>
                  </a:rPr>
                  <a:t>protein.</a:t>
                </a:r>
              </a:p>
              <a:p>
                <a14:m>
                  <m:oMath xmlns:m="http://schemas.openxmlformats.org/officeDocument/2006/math">
                    <m:sSub>
                      <m:sSubPr>
                        <m:ctrlPr>
                          <a:rPr lang="en-US" altLang="zh-TW" sz="2400" i="1" smtClean="0">
                            <a:latin typeface="Cambria Math"/>
                            <a:ea typeface="標楷體" pitchFamily="65" charset="-120"/>
                            <a:cs typeface="Times New Roman" pitchFamily="18" charset="0"/>
                          </a:rPr>
                        </m:ctrlPr>
                      </m:sSubPr>
                      <m:e>
                        <m:r>
                          <a:rPr lang="en-US" altLang="zh-TW" sz="2400" b="0" i="1" smtClean="0">
                            <a:latin typeface="Cambria Math"/>
                            <a:ea typeface="標楷體" pitchFamily="65" charset="-120"/>
                            <a:cs typeface="Times New Roman" pitchFamily="18" charset="0"/>
                          </a:rPr>
                          <m:t>𝑠</m:t>
                        </m:r>
                      </m:e>
                      <m:sub>
                        <m:r>
                          <a:rPr lang="en-US" altLang="zh-TW" sz="2400" b="0" i="1" smtClean="0">
                            <a:latin typeface="Cambria Math"/>
                            <a:ea typeface="標楷體" pitchFamily="65" charset="-120"/>
                            <a:cs typeface="Times New Roman" pitchFamily="18" charset="0"/>
                          </a:rPr>
                          <m:t>𝑖</m:t>
                        </m:r>
                      </m:sub>
                    </m:sSub>
                  </m:oMath>
                </a14:m>
                <a:r>
                  <a:rPr lang="en-US" altLang="zh-TW" sz="2400" dirty="0" smtClean="0">
                    <a:latin typeface="Times New Roman" pitchFamily="18" charset="0"/>
                    <a:ea typeface="標楷體" pitchFamily="65" charset="-120"/>
                    <a:cs typeface="Times New Roman" pitchFamily="18" charset="0"/>
                  </a:rPr>
                  <a:t> is the </a:t>
                </a:r>
                <a:r>
                  <a:rPr lang="en-US" altLang="zh-TW" sz="2400" dirty="0">
                    <a:latin typeface="Times New Roman" pitchFamily="18" charset="0"/>
                    <a:ea typeface="標楷體" pitchFamily="65" charset="-120"/>
                    <a:cs typeface="Times New Roman" pitchFamily="18" charset="0"/>
                  </a:rPr>
                  <a:t>separation between </a:t>
                </a:r>
                <a:r>
                  <a:rPr lang="en-US" altLang="zh-TW" sz="2400" dirty="0" err="1" smtClean="0">
                    <a:latin typeface="Times New Roman" pitchFamily="18" charset="0"/>
                    <a:ea typeface="標楷體" pitchFamily="65" charset="-120"/>
                    <a:cs typeface="Times New Roman" pitchFamily="18" charset="0"/>
                  </a:rPr>
                  <a:t>cysteines</a:t>
                </a:r>
                <a:r>
                  <a:rPr lang="en-US" altLang="zh-TW" sz="2400" dirty="0" smtClean="0">
                    <a:latin typeface="Times New Roman" pitchFamily="18" charset="0"/>
                    <a:ea typeface="標楷體" pitchFamily="65" charset="-120"/>
                    <a:cs typeface="Times New Roman" pitchFamily="18" charset="0"/>
                  </a:rPr>
                  <a:t> </a:t>
                </a:r>
                <a14:m>
                  <m:oMath xmlns:m="http://schemas.openxmlformats.org/officeDocument/2006/math">
                    <m:sSub>
                      <m:sSubPr>
                        <m:ctrlPr>
                          <a:rPr lang="en-US" altLang="zh-TW" sz="2400" i="1" smtClean="0">
                            <a:latin typeface="Cambria Math"/>
                            <a:ea typeface="標楷體" pitchFamily="65" charset="-120"/>
                            <a:cs typeface="Times New Roman" pitchFamily="18" charset="0"/>
                          </a:rPr>
                        </m:ctrlPr>
                      </m:sSubPr>
                      <m:e>
                        <m:r>
                          <a:rPr lang="en-US" altLang="zh-TW" sz="2400" b="0" i="1" smtClean="0">
                            <a:latin typeface="Cambria Math"/>
                            <a:ea typeface="標楷體" pitchFamily="65" charset="-120"/>
                            <a:cs typeface="Times New Roman" pitchFamily="18" charset="0"/>
                          </a:rPr>
                          <m:t>𝐶</m:t>
                        </m:r>
                      </m:e>
                      <m:sub>
                        <m:r>
                          <a:rPr lang="en-US" altLang="zh-TW" sz="2400" b="0" i="1" smtClean="0">
                            <a:latin typeface="Cambria Math"/>
                            <a:ea typeface="標楷體" pitchFamily="65" charset="-120"/>
                            <a:cs typeface="Times New Roman" pitchFamily="18" charset="0"/>
                          </a:rPr>
                          <m:t>𝑖</m:t>
                        </m:r>
                      </m:sub>
                    </m:sSub>
                  </m:oMath>
                </a14:m>
                <a:r>
                  <a:rPr lang="en-US" altLang="zh-TW" sz="2400" dirty="0" smtClean="0">
                    <a:latin typeface="Times New Roman" pitchFamily="18" charset="0"/>
                    <a:ea typeface="標楷體" pitchFamily="65" charset="-120"/>
                    <a:cs typeface="Times New Roman" pitchFamily="18" charset="0"/>
                  </a:rPr>
                  <a:t> and </a:t>
                </a:r>
                <a14:m>
                  <m:oMath xmlns:m="http://schemas.openxmlformats.org/officeDocument/2006/math">
                    <m:sSub>
                      <m:sSubPr>
                        <m:ctrlPr>
                          <a:rPr lang="en-US" altLang="zh-TW" sz="2400" i="1" smtClean="0">
                            <a:latin typeface="Cambria Math"/>
                            <a:ea typeface="標楷體" pitchFamily="65" charset="-120"/>
                            <a:cs typeface="Times New Roman" pitchFamily="18" charset="0"/>
                          </a:rPr>
                        </m:ctrlPr>
                      </m:sSubPr>
                      <m:e>
                        <m:r>
                          <a:rPr lang="en-US" altLang="zh-TW" sz="2400" b="0" i="1" smtClean="0">
                            <a:latin typeface="Cambria Math"/>
                            <a:ea typeface="標楷體" pitchFamily="65" charset="-120"/>
                            <a:cs typeface="Times New Roman" pitchFamily="18" charset="0"/>
                          </a:rPr>
                          <m:t>𝐶</m:t>
                        </m:r>
                      </m:e>
                      <m:sub>
                        <m:r>
                          <a:rPr lang="en-US" altLang="zh-TW" sz="2400" b="0" i="1" smtClean="0">
                            <a:latin typeface="Cambria Math"/>
                            <a:ea typeface="標楷體" pitchFamily="65" charset="-120"/>
                            <a:cs typeface="Times New Roman" pitchFamily="18" charset="0"/>
                          </a:rPr>
                          <m:t>𝑖</m:t>
                        </m:r>
                        <m:r>
                          <a:rPr lang="en-US" altLang="zh-TW" sz="2400" b="0" i="1" smtClean="0">
                            <a:latin typeface="Cambria Math"/>
                            <a:ea typeface="標楷體" pitchFamily="65" charset="-120"/>
                            <a:cs typeface="Times New Roman" pitchFamily="18" charset="0"/>
                          </a:rPr>
                          <m:t>+1</m:t>
                        </m:r>
                      </m:sub>
                    </m:sSub>
                  </m:oMath>
                </a14:m>
                <a:r>
                  <a:rPr lang="en-US" altLang="zh-TW" sz="2400" dirty="0" smtClean="0">
                    <a:latin typeface="Times New Roman" pitchFamily="18" charset="0"/>
                    <a:ea typeface="標楷體" pitchFamily="65" charset="-120"/>
                    <a:cs typeface="Times New Roman" pitchFamily="18" charset="0"/>
                  </a:rPr>
                  <a:t>.</a:t>
                </a:r>
              </a:p>
              <a:p>
                <a:endParaRPr lang="en-US" altLang="zh-TW" sz="2400" dirty="0">
                  <a:latin typeface="Times New Roman" pitchFamily="18" charset="0"/>
                  <a:ea typeface="標楷體" pitchFamily="65" charset="-120"/>
                  <a:cs typeface="Times New Roman" pitchFamily="18" charset="0"/>
                </a:endParaRPr>
              </a:p>
              <a:p>
                <a:endParaRPr lang="en-US" altLang="zh-TW" sz="2400" dirty="0" smtClean="0">
                  <a:latin typeface="Times New Roman" pitchFamily="18" charset="0"/>
                  <a:ea typeface="標楷體" pitchFamily="65" charset="-120"/>
                  <a:cs typeface="Times New Roman" pitchFamily="18" charset="0"/>
                </a:endParaRPr>
              </a:p>
              <a:p>
                <a:r>
                  <a:rPr lang="en-US" altLang="zh-TW" sz="2400" dirty="0">
                    <a:latin typeface="Times New Roman" pitchFamily="18" charset="0"/>
                    <a:ea typeface="標楷體" pitchFamily="65" charset="-120"/>
                    <a:cs typeface="Times New Roman" pitchFamily="18" charset="0"/>
                  </a:rPr>
                  <a:t>The CSP of a test protein </a:t>
                </a:r>
                <a:r>
                  <a:rPr lang="en-US" altLang="zh-TW" sz="2400" dirty="0" smtClean="0">
                    <a:latin typeface="Times New Roman" pitchFamily="18" charset="0"/>
                    <a:ea typeface="標楷體" pitchFamily="65" charset="-120"/>
                    <a:cs typeface="Times New Roman" pitchFamily="18" charset="0"/>
                  </a:rPr>
                  <a:t>was </a:t>
                </a:r>
                <a:r>
                  <a:rPr lang="en-US" altLang="zh-TW" sz="2400" dirty="0">
                    <a:latin typeface="Times New Roman" pitchFamily="18" charset="0"/>
                    <a:ea typeface="標楷體" pitchFamily="65" charset="-120"/>
                    <a:cs typeface="Times New Roman" pitchFamily="18" charset="0"/>
                  </a:rPr>
                  <a:t>compared with all CSPs of </a:t>
                </a:r>
                <a:r>
                  <a:rPr lang="en-US" altLang="zh-TW" sz="2400" dirty="0" smtClean="0">
                    <a:latin typeface="Times New Roman" pitchFamily="18" charset="0"/>
                    <a:ea typeface="標楷體" pitchFamily="65" charset="-120"/>
                    <a:cs typeface="Times New Roman" pitchFamily="18" charset="0"/>
                  </a:rPr>
                  <a:t>template proteins.</a:t>
                </a:r>
              </a:p>
              <a:p>
                <a:r>
                  <a:rPr lang="en-US" altLang="zh-TW" sz="2400" dirty="0">
                    <a:latin typeface="Times New Roman" pitchFamily="18" charset="0"/>
                    <a:ea typeface="標楷體" pitchFamily="65" charset="-120"/>
                    <a:cs typeface="Times New Roman" pitchFamily="18" charset="0"/>
                  </a:rPr>
                  <a:t>If more than one template proteins are matched, one of the templates is randomly selected for the prediction</a:t>
                </a:r>
                <a:r>
                  <a:rPr lang="en-US" altLang="zh-TW" sz="2400" dirty="0" smtClean="0">
                    <a:latin typeface="Times New Roman" pitchFamily="18" charset="0"/>
                    <a:ea typeface="標楷體" pitchFamily="65" charset="-120"/>
                    <a:cs typeface="Times New Roman" pitchFamily="18" charset="0"/>
                  </a:rPr>
                  <a:t>.</a:t>
                </a:r>
                <a:endParaRPr lang="en-US" altLang="zh-TW" sz="2400" dirty="0">
                  <a:latin typeface="Times New Roman" pitchFamily="18" charset="0"/>
                  <a:ea typeface="標楷體" pitchFamily="65" charset="-120"/>
                  <a:cs typeface="Times New Roman"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963" t="-539" b="-6873"/>
                </a:stretch>
              </a:blipFill>
            </p:spPr>
            <p:txBody>
              <a:bodyPr/>
              <a:lstStyle/>
              <a:p>
                <a:r>
                  <a:rPr lang="zh-TW" altLang="en-US">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637928"/>
            <a:ext cx="67913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3861048"/>
            <a:ext cx="2545399"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3784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Evaluation of prediction accuracy</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smtClean="0">
                <a:latin typeface="Times New Roman" pitchFamily="18" charset="0"/>
                <a:ea typeface="標楷體" pitchFamily="65" charset="-120"/>
                <a:cs typeface="Times New Roman" pitchFamily="18" charset="0"/>
              </a:rPr>
              <a:t>The </a:t>
            </a:r>
            <a:r>
              <a:rPr lang="en-US" altLang="zh-TW" sz="2400" dirty="0">
                <a:latin typeface="Times New Roman" pitchFamily="18" charset="0"/>
                <a:ea typeface="標楷體" pitchFamily="65" charset="-120"/>
                <a:cs typeface="Times New Roman" pitchFamily="18" charset="0"/>
              </a:rPr>
              <a:t>method is basically a nearest-neighbor (NN) approach</a:t>
            </a:r>
            <a:r>
              <a:rPr lang="en-US" altLang="zh-TW" sz="2400" dirty="0" smtClean="0">
                <a:latin typeface="Times New Roman" pitchFamily="18" charset="0"/>
                <a:ea typeface="標楷體" pitchFamily="65" charset="-120"/>
                <a:cs typeface="Times New Roman" pitchFamily="18" charset="0"/>
              </a:rPr>
              <a:t>.</a:t>
            </a:r>
          </a:p>
          <a:p>
            <a:r>
              <a:rPr lang="en-US" altLang="zh-TW" sz="2400" dirty="0" smtClean="0">
                <a:latin typeface="Times New Roman" pitchFamily="18" charset="0"/>
                <a:ea typeface="標楷體" pitchFamily="65" charset="-120"/>
                <a:cs typeface="Times New Roman" pitchFamily="18" charset="0"/>
              </a:rPr>
              <a:t>1-NN </a:t>
            </a:r>
            <a:r>
              <a:rPr lang="en-US" altLang="zh-TW" sz="2400" dirty="0" err="1" smtClean="0">
                <a:latin typeface="Times New Roman" pitchFamily="18" charset="0"/>
                <a:ea typeface="標楷體" pitchFamily="65" charset="-120"/>
                <a:cs typeface="Times New Roman" pitchFamily="18" charset="0"/>
              </a:rPr>
              <a:t>v.s</a:t>
            </a:r>
            <a:r>
              <a:rPr lang="en-US" altLang="zh-TW" sz="2400" dirty="0" smtClean="0">
                <a:latin typeface="Times New Roman" pitchFamily="18" charset="0"/>
                <a:ea typeface="標楷體" pitchFamily="65" charset="-120"/>
                <a:cs typeface="Times New Roman" pitchFamily="18" charset="0"/>
              </a:rPr>
              <a:t>. </a:t>
            </a:r>
            <a:r>
              <a:rPr lang="en-US" altLang="zh-TW" sz="2400" i="1" dirty="0" smtClean="0">
                <a:latin typeface="Times New Roman" pitchFamily="18" charset="0"/>
                <a:ea typeface="標楷體" pitchFamily="65" charset="-120"/>
                <a:cs typeface="Times New Roman" pitchFamily="18" charset="0"/>
              </a:rPr>
              <a:t>k</a:t>
            </a:r>
            <a:r>
              <a:rPr lang="en-US" altLang="zh-TW" sz="2400" dirty="0" smtClean="0">
                <a:latin typeface="Times New Roman" pitchFamily="18" charset="0"/>
                <a:ea typeface="標楷體" pitchFamily="65" charset="-120"/>
                <a:cs typeface="Times New Roman" pitchFamily="18" charset="0"/>
              </a:rPr>
              <a:t>-NN</a:t>
            </a:r>
          </a:p>
          <a:p>
            <a:endParaRPr lang="en-US" altLang="zh-TW" sz="2400" dirty="0" smtClean="0">
              <a:latin typeface="Times New Roman" pitchFamily="18" charset="0"/>
              <a:ea typeface="標楷體" pitchFamily="65" charset="-12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636912"/>
            <a:ext cx="3312815" cy="909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03531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Fourfold cross validation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dirty="0" smtClean="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smtClean="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smtClean="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r>
              <a:rPr lang="en-US" altLang="zh-TW" sz="2800" dirty="0">
                <a:latin typeface="Times New Roman" pitchFamily="18" charset="0"/>
                <a:ea typeface="標楷體" pitchFamily="65" charset="-120"/>
                <a:cs typeface="Times New Roman" pitchFamily="18" charset="0"/>
              </a:rPr>
              <a:t>There </a:t>
            </a:r>
            <a:r>
              <a:rPr lang="en-US" altLang="zh-TW" sz="2800" dirty="0" smtClean="0">
                <a:latin typeface="Times New Roman" pitchFamily="18" charset="0"/>
                <a:ea typeface="標楷體" pitchFamily="65" charset="-120"/>
                <a:cs typeface="Times New Roman" pitchFamily="18" charset="0"/>
              </a:rPr>
              <a:t>are 37.4</a:t>
            </a:r>
            <a:r>
              <a:rPr lang="en-US" altLang="zh-TW" sz="2800" dirty="0">
                <a:latin typeface="Times New Roman" pitchFamily="18" charset="0"/>
                <a:ea typeface="標楷體" pitchFamily="65" charset="-120"/>
                <a:cs typeface="Times New Roman" pitchFamily="18" charset="0"/>
              </a:rPr>
              <a:t>% of matched profiles and 62.6% of mismatched profiles </a:t>
            </a:r>
            <a:r>
              <a:rPr lang="en-US" altLang="zh-TW" sz="2800" dirty="0" smtClean="0">
                <a:latin typeface="Times New Roman" pitchFamily="18" charset="0"/>
                <a:ea typeface="標楷體" pitchFamily="65" charset="-120"/>
                <a:cs typeface="Times New Roman" pitchFamily="18" charset="0"/>
              </a:rPr>
              <a:t>patterns in the SP39 dataset</a:t>
            </a:r>
            <a:r>
              <a:rPr lang="en-US" altLang="zh-TW" dirty="0" smtClean="0">
                <a:latin typeface="Times New Roman" pitchFamily="18" charset="0"/>
                <a:ea typeface="標楷體" pitchFamily="65" charset="-120"/>
                <a:cs typeface="Times New Roman" pitchFamily="18" charset="0"/>
              </a:rPr>
              <a:t>.</a:t>
            </a:r>
            <a:endParaRPr lang="en-US" altLang="zh-TW" dirty="0" smtClean="0">
              <a:latin typeface="Times New Roman" pitchFamily="18" charset="0"/>
              <a:ea typeface="標楷體" pitchFamily="65" charset="-12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 y="1585656"/>
            <a:ext cx="9145328" cy="270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4479776"/>
            <a:ext cx="56769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90062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Fourfold cross validation</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ea typeface="標楷體" pitchFamily="65" charset="-120"/>
                <a:cs typeface="Times New Roman" pitchFamily="18" charset="0"/>
              </a:rPr>
              <a:t>Frequency </a:t>
            </a:r>
            <a:r>
              <a:rPr lang="en-US" altLang="zh-TW" dirty="0" smtClean="0">
                <a:latin typeface="Times New Roman" pitchFamily="18" charset="0"/>
                <a:ea typeface="標楷體" pitchFamily="65" charset="-120"/>
                <a:cs typeface="Times New Roman" pitchFamily="18" charset="0"/>
              </a:rPr>
              <a:t>– Most frequently </a:t>
            </a:r>
            <a:r>
              <a:rPr lang="en-US" altLang="zh-TW" dirty="0">
                <a:latin typeface="Times New Roman" pitchFamily="18" charset="0"/>
                <a:ea typeface="標楷體" pitchFamily="65" charset="-120"/>
                <a:cs typeface="Times New Roman" pitchFamily="18" charset="0"/>
              </a:rPr>
              <a:t>observed </a:t>
            </a:r>
            <a:r>
              <a:rPr lang="en-US" altLang="zh-TW" dirty="0" smtClean="0">
                <a:latin typeface="Times New Roman" pitchFamily="18" charset="0"/>
                <a:ea typeface="標楷體" pitchFamily="65" charset="-120"/>
                <a:cs typeface="Times New Roman" pitchFamily="18" charset="0"/>
              </a:rPr>
              <a:t>pattern</a:t>
            </a:r>
          </a:p>
          <a:p>
            <a:r>
              <a:rPr lang="en-US" altLang="zh-TW" dirty="0">
                <a:latin typeface="Times New Roman" pitchFamily="18" charset="0"/>
                <a:ea typeface="標楷體" pitchFamily="65" charset="-120"/>
                <a:cs typeface="Times New Roman" pitchFamily="18" charset="0"/>
              </a:rPr>
              <a:t>MC graph-matching </a:t>
            </a:r>
            <a:r>
              <a:rPr lang="en-US" altLang="zh-TW" dirty="0" smtClean="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Monte </a:t>
            </a:r>
            <a:r>
              <a:rPr lang="en-US" altLang="zh-TW" dirty="0" smtClean="0">
                <a:latin typeface="Times New Roman" pitchFamily="18" charset="0"/>
                <a:ea typeface="標楷體" pitchFamily="65" charset="-120"/>
                <a:cs typeface="Times New Roman" pitchFamily="18" charset="0"/>
              </a:rPr>
              <a:t>Carlo</a:t>
            </a:r>
            <a:endParaRPr lang="en-US" altLang="zh-TW" dirty="0">
              <a:latin typeface="Times New Roman" pitchFamily="18" charset="0"/>
              <a:ea typeface="標楷體" pitchFamily="65" charset="-120"/>
              <a:cs typeface="Times New Roman" pitchFamily="18" charset="0"/>
            </a:endParaRPr>
          </a:p>
          <a:p>
            <a:r>
              <a:rPr lang="en-US" altLang="zh-TW" dirty="0">
                <a:latin typeface="Times New Roman" pitchFamily="18" charset="0"/>
                <a:ea typeface="標楷體" pitchFamily="65" charset="-120"/>
                <a:cs typeface="Times New Roman" pitchFamily="18" charset="0"/>
              </a:rPr>
              <a:t>NN graph-matching </a:t>
            </a:r>
            <a:r>
              <a:rPr lang="en-US" altLang="zh-TW" dirty="0" smtClean="0">
                <a:latin typeface="Times New Roman" pitchFamily="18" charset="0"/>
                <a:ea typeface="標楷體" pitchFamily="65" charset="-120"/>
                <a:cs typeface="Times New Roman" pitchFamily="18" charset="0"/>
              </a:rPr>
              <a:t>– </a:t>
            </a:r>
            <a:r>
              <a:rPr lang="en-US" altLang="zh-TW" dirty="0">
                <a:latin typeface="Times New Roman" pitchFamily="18" charset="0"/>
                <a:ea typeface="標楷體" pitchFamily="65" charset="-120"/>
                <a:cs typeface="Times New Roman" pitchFamily="18" charset="0"/>
              </a:rPr>
              <a:t>Neural </a:t>
            </a:r>
            <a:r>
              <a:rPr lang="en-US" altLang="zh-TW" dirty="0" smtClean="0">
                <a:latin typeface="Times New Roman" pitchFamily="18" charset="0"/>
                <a:ea typeface="標楷體" pitchFamily="65" charset="-120"/>
                <a:cs typeface="Times New Roman" pitchFamily="18" charset="0"/>
              </a:rPr>
              <a:t>Networks</a:t>
            </a:r>
            <a:endParaRPr lang="en-US" altLang="zh-TW" dirty="0">
              <a:latin typeface="Times New Roman" pitchFamily="18" charset="0"/>
              <a:ea typeface="標楷體" pitchFamily="65" charset="-120"/>
              <a:cs typeface="Times New Roman" pitchFamily="18" charset="0"/>
            </a:endParaRPr>
          </a:p>
          <a:p>
            <a:r>
              <a:rPr lang="en-US" altLang="zh-TW" dirty="0" err="1">
                <a:latin typeface="Times New Roman" pitchFamily="18" charset="0"/>
                <a:ea typeface="標楷體" pitchFamily="65" charset="-120"/>
                <a:cs typeface="Times New Roman" pitchFamily="18" charset="0"/>
              </a:rPr>
              <a:t>BiRnn</a:t>
            </a:r>
            <a:r>
              <a:rPr lang="en-US" altLang="zh-TW" dirty="0">
                <a:latin typeface="Times New Roman" pitchFamily="18" charset="0"/>
                <a:ea typeface="標楷體" pitchFamily="65" charset="-120"/>
                <a:cs typeface="Times New Roman" pitchFamily="18" charset="0"/>
              </a:rPr>
              <a:t> – </a:t>
            </a:r>
            <a:r>
              <a:rPr lang="en-US" altLang="zh-TW" dirty="0" smtClean="0">
                <a:latin typeface="Times New Roman" pitchFamily="18" charset="0"/>
                <a:ea typeface="標楷體" pitchFamily="65" charset="-120"/>
                <a:cs typeface="Times New Roman" pitchFamily="18" charset="0"/>
              </a:rPr>
              <a:t>Recursive neural networks </a:t>
            </a:r>
            <a:r>
              <a:rPr lang="en-US" altLang="zh-TW" dirty="0">
                <a:latin typeface="Times New Roman" pitchFamily="18" charset="0"/>
                <a:ea typeface="標楷體" pitchFamily="65" charset="-120"/>
                <a:cs typeface="Times New Roman" pitchFamily="18" charset="0"/>
              </a:rPr>
              <a:t>with sequence and evolutionary information</a:t>
            </a:r>
          </a:p>
          <a:p>
            <a:endParaRPr lang="en-US" altLang="zh-TW"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2707677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itchFamily="18" charset="0"/>
                <a:ea typeface="標楷體" pitchFamily="65" charset="-120"/>
                <a:cs typeface="Times New Roman" pitchFamily="18" charset="0"/>
              </a:rPr>
              <a:t>Handout prediction of </a:t>
            </a:r>
            <a:r>
              <a:rPr lang="en-US" altLang="zh-TW" dirty="0" smtClean="0">
                <a:latin typeface="Times New Roman" pitchFamily="18" charset="0"/>
                <a:ea typeface="標楷體" pitchFamily="65" charset="-120"/>
                <a:cs typeface="Times New Roman" pitchFamily="18" charset="0"/>
              </a:rPr>
              <a:t>new sequences </a:t>
            </a:r>
            <a:r>
              <a:rPr lang="en-US" altLang="zh-TW" dirty="0">
                <a:latin typeface="Times New Roman" pitchFamily="18" charset="0"/>
                <a:ea typeface="標楷體" pitchFamily="65" charset="-120"/>
                <a:cs typeface="Times New Roman" pitchFamily="18" charset="0"/>
              </a:rPr>
              <a:t>from SP43</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ea typeface="標楷體" pitchFamily="65" charset="-120"/>
                <a:cs typeface="Times New Roman" pitchFamily="18" charset="0"/>
              </a:rPr>
              <a:t>The pairwise identities </a:t>
            </a:r>
            <a:r>
              <a:rPr lang="en-US" altLang="zh-TW" dirty="0" smtClean="0">
                <a:latin typeface="Times New Roman" pitchFamily="18" charset="0"/>
                <a:ea typeface="標楷體" pitchFamily="65" charset="-120"/>
                <a:cs typeface="Times New Roman" pitchFamily="18" charset="0"/>
              </a:rPr>
              <a:t>of sequences </a:t>
            </a:r>
            <a:r>
              <a:rPr lang="en-US" altLang="zh-TW" dirty="0">
                <a:latin typeface="Times New Roman" pitchFamily="18" charset="0"/>
                <a:ea typeface="標楷體" pitchFamily="65" charset="-120"/>
                <a:cs typeface="Times New Roman" pitchFamily="18" charset="0"/>
              </a:rPr>
              <a:t>in the template set and SP43 are less than 30</a:t>
            </a:r>
            <a:r>
              <a:rPr lang="en-US" altLang="zh-TW" dirty="0" smtClean="0">
                <a:latin typeface="Times New Roman" pitchFamily="18" charset="0"/>
                <a:ea typeface="標楷體" pitchFamily="65" charset="-120"/>
                <a:cs typeface="Times New Roman" pitchFamily="18" charset="0"/>
              </a:rPr>
              <a:t>%.</a:t>
            </a:r>
          </a:p>
          <a:p>
            <a:r>
              <a:rPr lang="en-US" altLang="zh-TW" dirty="0" smtClean="0">
                <a:latin typeface="Times New Roman" pitchFamily="18" charset="0"/>
                <a:ea typeface="標楷體" pitchFamily="65" charset="-120"/>
                <a:cs typeface="Times New Roman" pitchFamily="18" charset="0"/>
              </a:rPr>
              <a:t>Increasing </a:t>
            </a:r>
            <a:r>
              <a:rPr lang="en-US" altLang="zh-TW" dirty="0">
                <a:latin typeface="Times New Roman" pitchFamily="18" charset="0"/>
                <a:ea typeface="標楷體" pitchFamily="65" charset="-120"/>
                <a:cs typeface="Times New Roman" pitchFamily="18" charset="0"/>
              </a:rPr>
              <a:t>even the number of non-redundant templates </a:t>
            </a:r>
            <a:r>
              <a:rPr lang="en-US" altLang="zh-TW" dirty="0" smtClean="0">
                <a:latin typeface="Times New Roman" pitchFamily="18" charset="0"/>
                <a:ea typeface="標楷體" pitchFamily="65" charset="-120"/>
                <a:cs typeface="Times New Roman" pitchFamily="18" charset="0"/>
              </a:rPr>
              <a:t>may improve </a:t>
            </a:r>
            <a:r>
              <a:rPr lang="en-US" altLang="zh-TW" dirty="0">
                <a:latin typeface="Times New Roman" pitchFamily="18" charset="0"/>
                <a:ea typeface="標楷體" pitchFamily="65" charset="-120"/>
                <a:cs typeface="Times New Roman" pitchFamily="18" charset="0"/>
              </a:rPr>
              <a:t>the prediction accuracy of CSP.</a:t>
            </a:r>
            <a:endParaRPr lang="en-US" altLang="zh-TW" dirty="0" smtClean="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34412291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Examples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dirty="0" smtClean="0">
              <a:latin typeface="Times New Roman" pitchFamily="18" charset="0"/>
              <a:ea typeface="標楷體" pitchFamily="65" charset="-120"/>
              <a:cs typeface="Times New Roman" pitchFamily="18" charset="0"/>
            </a:endParaRPr>
          </a:p>
          <a:p>
            <a:endParaRPr lang="en-US" altLang="zh-TW" dirty="0">
              <a:latin typeface="Times New Roman" pitchFamily="18" charset="0"/>
              <a:ea typeface="標楷體" pitchFamily="65" charset="-120"/>
              <a:cs typeface="Times New Roman" pitchFamily="18" charset="0"/>
            </a:endParaRPr>
          </a:p>
          <a:p>
            <a:endParaRPr lang="en-US" altLang="zh-TW" dirty="0" smtClean="0">
              <a:latin typeface="Times New Roman" pitchFamily="18" charset="0"/>
              <a:ea typeface="標楷體" pitchFamily="65" charset="-120"/>
              <a:cs typeface="Times New Roman" pitchFamily="18" charset="0"/>
            </a:endParaRPr>
          </a:p>
          <a:p>
            <a:r>
              <a:rPr lang="en-US" altLang="zh-TW" dirty="0" smtClean="0">
                <a:latin typeface="Times New Roman" pitchFamily="18" charset="0"/>
                <a:ea typeface="標楷體" pitchFamily="65" charset="-120"/>
                <a:cs typeface="Times New Roman" pitchFamily="18" charset="0"/>
              </a:rPr>
              <a:t>The divergence scores </a:t>
            </a:r>
            <a:r>
              <a:rPr lang="en-US" altLang="zh-TW" dirty="0">
                <a:latin typeface="Times New Roman" pitchFamily="18" charset="0"/>
                <a:ea typeface="標楷體" pitchFamily="65" charset="-120"/>
                <a:cs typeface="Times New Roman" pitchFamily="18" charset="0"/>
              </a:rPr>
              <a:t>are all smaller than 10, implying that they share similar </a:t>
            </a:r>
            <a:r>
              <a:rPr lang="en-US" altLang="zh-TW" dirty="0" smtClean="0">
                <a:latin typeface="Times New Roman" pitchFamily="18" charset="0"/>
                <a:ea typeface="標楷體" pitchFamily="65" charset="-120"/>
                <a:cs typeface="Times New Roman" pitchFamily="18" charset="0"/>
              </a:rPr>
              <a:t>disulfide positioning </a:t>
            </a:r>
            <a:r>
              <a:rPr lang="en-US" altLang="zh-TW" dirty="0">
                <a:latin typeface="Times New Roman" pitchFamily="18" charset="0"/>
                <a:ea typeface="標楷體" pitchFamily="65" charset="-120"/>
                <a:cs typeface="Times New Roman" pitchFamily="18" charset="0"/>
              </a:rPr>
              <a:t>and connectivity patterns.</a:t>
            </a:r>
          </a:p>
          <a:p>
            <a:r>
              <a:rPr lang="en-US" altLang="zh-TW" dirty="0" smtClean="0">
                <a:latin typeface="Times New Roman" pitchFamily="18" charset="0"/>
                <a:ea typeface="標楷體" pitchFamily="65" charset="-120"/>
                <a:cs typeface="Times New Roman" pitchFamily="18" charset="0"/>
              </a:rPr>
              <a:t>The </a:t>
            </a:r>
            <a:r>
              <a:rPr lang="en-US" altLang="zh-TW" dirty="0">
                <a:latin typeface="Times New Roman" pitchFamily="18" charset="0"/>
                <a:ea typeface="標楷體" pitchFamily="65" charset="-120"/>
                <a:cs typeface="Times New Roman" pitchFamily="18" charset="0"/>
              </a:rPr>
              <a:t>sequence identities </a:t>
            </a:r>
            <a:r>
              <a:rPr lang="en-US" altLang="zh-TW" dirty="0" smtClean="0">
                <a:latin typeface="Times New Roman" pitchFamily="18" charset="0"/>
                <a:ea typeface="標楷體" pitchFamily="65" charset="-120"/>
                <a:cs typeface="Times New Roman" pitchFamily="18" charset="0"/>
              </a:rPr>
              <a:t>are </a:t>
            </a:r>
            <a:r>
              <a:rPr lang="en-US" altLang="zh-TW" dirty="0">
                <a:latin typeface="Times New Roman" pitchFamily="18" charset="0"/>
                <a:ea typeface="標楷體" pitchFamily="65" charset="-120"/>
                <a:cs typeface="Times New Roman" pitchFamily="18" charset="0"/>
              </a:rPr>
              <a:t>all lower than 20%, thus structure </a:t>
            </a:r>
            <a:r>
              <a:rPr lang="en-US" altLang="zh-TW" dirty="0" smtClean="0">
                <a:latin typeface="Times New Roman" pitchFamily="18" charset="0"/>
                <a:ea typeface="標楷體" pitchFamily="65" charset="-120"/>
                <a:cs typeface="Times New Roman" pitchFamily="18" charset="0"/>
              </a:rPr>
              <a:t>similarity from </a:t>
            </a:r>
            <a:r>
              <a:rPr lang="en-US" altLang="zh-TW" dirty="0">
                <a:latin typeface="Times New Roman" pitchFamily="18" charset="0"/>
                <a:ea typeface="標楷體" pitchFamily="65" charset="-120"/>
                <a:cs typeface="Times New Roman" pitchFamily="18" charset="0"/>
              </a:rPr>
              <a:t>sequence homology can be ruled out.</a:t>
            </a:r>
            <a:endParaRPr lang="en-US" altLang="zh-TW" dirty="0" smtClean="0">
              <a:latin typeface="Times New Roman" pitchFamily="18" charset="0"/>
              <a:ea typeface="標楷體" pitchFamily="65" charset="-120"/>
              <a:cs typeface="Times New Roman"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5214"/>
            <a:ext cx="9143999" cy="1463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82282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Examples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400" dirty="0">
                <a:latin typeface="Times New Roman" pitchFamily="18" charset="0"/>
                <a:ea typeface="標楷體" pitchFamily="65" charset="-120"/>
                <a:cs typeface="Times New Roman" pitchFamily="18" charset="0"/>
                <a:hlinkClick r:id="rId2"/>
              </a:rPr>
              <a:t>1GPS</a:t>
            </a:r>
            <a:r>
              <a:rPr lang="en-US" altLang="zh-TW" sz="2400" dirty="0">
                <a:latin typeface="Times New Roman" pitchFamily="18" charset="0"/>
                <a:ea typeface="標楷體" pitchFamily="65" charset="-120"/>
                <a:cs typeface="Times New Roman" pitchFamily="18" charset="0"/>
              </a:rPr>
              <a:t> &amp; </a:t>
            </a:r>
            <a:r>
              <a:rPr lang="en-US" altLang="zh-TW" sz="2400" dirty="0" smtClean="0">
                <a:latin typeface="Times New Roman" pitchFamily="18" charset="0"/>
                <a:ea typeface="標楷體" pitchFamily="65" charset="-120"/>
                <a:cs typeface="Times New Roman" pitchFamily="18" charset="0"/>
                <a:hlinkClick r:id="rId3"/>
              </a:rPr>
              <a:t>1BRZ</a:t>
            </a:r>
            <a:r>
              <a:rPr lang="en-US" altLang="zh-TW" sz="2400" dirty="0" smtClean="0">
                <a:latin typeface="Times New Roman" pitchFamily="18" charset="0"/>
                <a:ea typeface="標楷體" pitchFamily="65" charset="-120"/>
                <a:cs typeface="Times New Roman" pitchFamily="18" charset="0"/>
              </a:rPr>
              <a:t>			</a:t>
            </a:r>
            <a:r>
              <a:rPr lang="en-US" altLang="zh-TW" sz="2400" dirty="0" smtClean="0">
                <a:latin typeface="Times New Roman" pitchFamily="18" charset="0"/>
                <a:ea typeface="標楷體" pitchFamily="65" charset="-120"/>
                <a:cs typeface="Times New Roman" pitchFamily="18" charset="0"/>
                <a:hlinkClick r:id="rId4"/>
              </a:rPr>
              <a:t>1TN3</a:t>
            </a:r>
            <a:r>
              <a:rPr lang="en-US" altLang="zh-TW" sz="2400" dirty="0" smtClean="0">
                <a:latin typeface="Times New Roman" pitchFamily="18" charset="0"/>
                <a:ea typeface="標楷體" pitchFamily="65" charset="-120"/>
                <a:cs typeface="Times New Roman" pitchFamily="18" charset="0"/>
              </a:rPr>
              <a:t> &amp; </a:t>
            </a:r>
            <a:r>
              <a:rPr lang="en-US" altLang="zh-TW" sz="2400" dirty="0" smtClean="0">
                <a:latin typeface="Times New Roman" pitchFamily="18" charset="0"/>
                <a:ea typeface="標楷體" pitchFamily="65" charset="-120"/>
                <a:cs typeface="Times New Roman" pitchFamily="18" charset="0"/>
                <a:hlinkClick r:id="rId5"/>
              </a:rPr>
              <a:t>1C3A:A</a:t>
            </a:r>
            <a:endParaRPr lang="en-US" altLang="zh-TW" sz="2400" dirty="0">
              <a:latin typeface="Times New Roman" pitchFamily="18" charset="0"/>
              <a:ea typeface="標楷體" pitchFamily="65" charset="-120"/>
              <a:cs typeface="Times New Roman" pitchFamily="18" charset="0"/>
            </a:endParaRPr>
          </a:p>
          <a:p>
            <a:r>
              <a:rPr lang="en-US" altLang="zh-TW" sz="2400" dirty="0" smtClean="0">
                <a:latin typeface="Times New Roman" pitchFamily="18" charset="0"/>
                <a:ea typeface="標楷體" pitchFamily="65" charset="-120"/>
                <a:cs typeface="Times New Roman" pitchFamily="18" charset="0"/>
              </a:rPr>
              <a:t>Pattern: [1-8, 2-5, 3-4, 6-7]		Pattern: [1-2, 3-6, 4-5]</a:t>
            </a:r>
          </a:p>
          <a:p>
            <a:r>
              <a:rPr lang="en-US" altLang="zh-TW" sz="2400" dirty="0" smtClean="0">
                <a:latin typeface="Times New Roman" pitchFamily="18" charset="0"/>
                <a:ea typeface="標楷體" pitchFamily="65" charset="-120"/>
                <a:cs typeface="Times New Roman" pitchFamily="18" charset="0"/>
              </a:rPr>
              <a:t>Sequence identity: 18.8%		Sequence identity: 17.7%</a:t>
            </a:r>
          </a:p>
        </p:txBody>
      </p:sp>
      <p:pic>
        <p:nvPicPr>
          <p:cNvPr id="717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8128" y="3069266"/>
            <a:ext cx="3933872" cy="2663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6092" y="2987115"/>
            <a:ext cx="4190404" cy="325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43928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Discussions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smtClean="0">
                <a:latin typeface="Times New Roman" pitchFamily="18" charset="0"/>
                <a:ea typeface="標楷體" pitchFamily="65" charset="-120"/>
                <a:cs typeface="Times New Roman" pitchFamily="18" charset="0"/>
              </a:rPr>
              <a:t>The </a:t>
            </a:r>
            <a:r>
              <a:rPr lang="en-US" altLang="zh-TW" sz="2800" dirty="0">
                <a:latin typeface="Times New Roman" pitchFamily="18" charset="0"/>
                <a:ea typeface="標楷體" pitchFamily="65" charset="-120"/>
                <a:cs typeface="Times New Roman" pitchFamily="18" charset="0"/>
              </a:rPr>
              <a:t>disulfide connectivity pattern of a </a:t>
            </a:r>
            <a:r>
              <a:rPr lang="en-US" altLang="zh-TW" sz="2800" dirty="0" smtClean="0">
                <a:latin typeface="Times New Roman" pitchFamily="18" charset="0"/>
                <a:ea typeface="標楷體" pitchFamily="65" charset="-120"/>
                <a:cs typeface="Times New Roman" pitchFamily="18" charset="0"/>
              </a:rPr>
              <a:t>protein sequence </a:t>
            </a:r>
            <a:r>
              <a:rPr lang="en-US" altLang="zh-TW" sz="2800" dirty="0">
                <a:latin typeface="Times New Roman" pitchFamily="18" charset="0"/>
                <a:ea typeface="標楷體" pitchFamily="65" charset="-120"/>
                <a:cs typeface="Times New Roman" pitchFamily="18" charset="0"/>
              </a:rPr>
              <a:t>can be predicted from a limited set of templates</a:t>
            </a:r>
            <a:r>
              <a:rPr lang="en-US" altLang="zh-TW" sz="2800" dirty="0" smtClean="0">
                <a:latin typeface="Times New Roman" pitchFamily="18" charset="0"/>
                <a:ea typeface="標楷體" pitchFamily="65" charset="-120"/>
                <a:cs typeface="Times New Roman" pitchFamily="18" charset="0"/>
              </a:rPr>
              <a:t>.</a:t>
            </a:r>
          </a:p>
          <a:p>
            <a:r>
              <a:rPr lang="en-US" altLang="zh-TW" sz="2800" dirty="0">
                <a:latin typeface="Times New Roman" pitchFamily="18" charset="0"/>
                <a:ea typeface="標楷體" pitchFamily="65" charset="-120"/>
                <a:cs typeface="Times New Roman" pitchFamily="18" charset="0"/>
              </a:rPr>
              <a:t>One limitation of </a:t>
            </a:r>
            <a:r>
              <a:rPr lang="en-US" altLang="zh-TW" sz="2800" dirty="0" smtClean="0">
                <a:latin typeface="Times New Roman" pitchFamily="18" charset="0"/>
                <a:ea typeface="標楷體" pitchFamily="65" charset="-120"/>
                <a:cs typeface="Times New Roman" pitchFamily="18" charset="0"/>
              </a:rPr>
              <a:t>the </a:t>
            </a:r>
            <a:r>
              <a:rPr lang="en-US" altLang="zh-TW" sz="2800" dirty="0">
                <a:latin typeface="Times New Roman" pitchFamily="18" charset="0"/>
                <a:ea typeface="標楷體" pitchFamily="65" charset="-120"/>
                <a:cs typeface="Times New Roman" pitchFamily="18" charset="0"/>
              </a:rPr>
              <a:t>approach is that a pattern not presented </a:t>
            </a:r>
            <a:r>
              <a:rPr lang="en-US" altLang="zh-TW" sz="2800" dirty="0" smtClean="0">
                <a:latin typeface="Times New Roman" pitchFamily="18" charset="0"/>
                <a:ea typeface="標楷體" pitchFamily="65" charset="-120"/>
                <a:cs typeface="Times New Roman" pitchFamily="18" charset="0"/>
              </a:rPr>
              <a:t>in the </a:t>
            </a:r>
            <a:r>
              <a:rPr lang="en-US" altLang="zh-TW" sz="2800" dirty="0">
                <a:latin typeface="Times New Roman" pitchFamily="18" charset="0"/>
                <a:ea typeface="標楷體" pitchFamily="65" charset="-120"/>
                <a:cs typeface="Times New Roman" pitchFamily="18" charset="0"/>
              </a:rPr>
              <a:t>training set cannot be predicted correctly.</a:t>
            </a:r>
            <a:endParaRPr lang="en-US" altLang="zh-TW" sz="2800" dirty="0" smtClean="0">
              <a:latin typeface="Times New Roman" pitchFamily="18" charset="0"/>
              <a:ea typeface="標楷體" pitchFamily="65" charset="-12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077072"/>
            <a:ext cx="5463133" cy="2246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51768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Divergence coverage</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sz="2800" dirty="0">
                <a:latin typeface="Times New Roman" pitchFamily="18" charset="0"/>
                <a:ea typeface="標楷體" pitchFamily="65" charset="-120"/>
                <a:cs typeface="Times New Roman" pitchFamily="18" charset="0"/>
              </a:rPr>
              <a:t>The divergence </a:t>
            </a:r>
            <a:r>
              <a:rPr lang="en-US" altLang="zh-TW" sz="2800" dirty="0" smtClean="0">
                <a:latin typeface="Times New Roman" pitchFamily="18" charset="0"/>
                <a:ea typeface="標楷體" pitchFamily="65" charset="-120"/>
                <a:cs typeface="Times New Roman" pitchFamily="18" charset="0"/>
              </a:rPr>
              <a:t>coverage means </a:t>
            </a:r>
            <a:r>
              <a:rPr lang="en-US" altLang="zh-TW" sz="2800" dirty="0">
                <a:latin typeface="Times New Roman" pitchFamily="18" charset="0"/>
                <a:ea typeface="標楷體" pitchFamily="65" charset="-120"/>
                <a:cs typeface="Times New Roman" pitchFamily="18" charset="0"/>
              </a:rPr>
              <a:t>that a profile matches with a divergence score smaller than </a:t>
            </a:r>
            <a:r>
              <a:rPr lang="en-US" altLang="zh-TW" sz="2800" dirty="0" smtClean="0">
                <a:latin typeface="Times New Roman" pitchFamily="18" charset="0"/>
                <a:ea typeface="標楷體" pitchFamily="65" charset="-120"/>
                <a:cs typeface="Times New Roman" pitchFamily="18" charset="0"/>
              </a:rPr>
              <a:t>or equal </a:t>
            </a:r>
            <a:r>
              <a:rPr lang="en-US" altLang="zh-TW" sz="2800" dirty="0">
                <a:latin typeface="Times New Roman" pitchFamily="18" charset="0"/>
                <a:ea typeface="標楷體" pitchFamily="65" charset="-120"/>
                <a:cs typeface="Times New Roman" pitchFamily="18" charset="0"/>
              </a:rPr>
              <a:t>to that specified</a:t>
            </a:r>
            <a:r>
              <a:rPr lang="en-US" altLang="zh-TW" sz="2800" dirty="0" smtClean="0">
                <a:latin typeface="Times New Roman" pitchFamily="18" charset="0"/>
                <a:ea typeface="標楷體" pitchFamily="65" charset="-120"/>
                <a:cs typeface="Times New Roman" pitchFamily="18" charset="0"/>
              </a:rPr>
              <a:t>.</a:t>
            </a:r>
          </a:p>
          <a:p>
            <a:pPr lvl="1"/>
            <a:r>
              <a:rPr lang="en-US" altLang="zh-TW" sz="2400" dirty="0">
                <a:latin typeface="Times New Roman" pitchFamily="18" charset="0"/>
                <a:ea typeface="標楷體" pitchFamily="65" charset="-120"/>
                <a:cs typeface="Times New Roman" pitchFamily="18" charset="0"/>
              </a:rPr>
              <a:t>Ex: divergence coverage 5 means profiles matched with a divergence score ≤5</a:t>
            </a:r>
            <a:r>
              <a:rPr lang="en-US" altLang="zh-TW" sz="2400" dirty="0" smtClean="0">
                <a:latin typeface="Times New Roman" pitchFamily="18" charset="0"/>
                <a:ea typeface="標楷體" pitchFamily="65" charset="-120"/>
                <a:cs typeface="Times New Roman" pitchFamily="18" charset="0"/>
              </a:rPr>
              <a:t>.</a:t>
            </a:r>
          </a:p>
          <a:p>
            <a:r>
              <a:rPr lang="en-US" altLang="zh-TW" sz="2800" dirty="0" smtClean="0">
                <a:latin typeface="Times New Roman" pitchFamily="18" charset="0"/>
                <a:ea typeface="標楷體" pitchFamily="65" charset="-120"/>
                <a:cs typeface="Times New Roman" pitchFamily="18" charset="0"/>
              </a:rPr>
              <a:t>Divergence </a:t>
            </a:r>
            <a:r>
              <a:rPr lang="en-US" altLang="zh-TW" sz="2800" dirty="0">
                <a:latin typeface="Times New Roman" pitchFamily="18" charset="0"/>
                <a:ea typeface="標楷體" pitchFamily="65" charset="-120"/>
                <a:cs typeface="Times New Roman" pitchFamily="18" charset="0"/>
              </a:rPr>
              <a:t>coverage can be used </a:t>
            </a:r>
            <a:r>
              <a:rPr lang="en-US" altLang="zh-TW" sz="2800" dirty="0" smtClean="0">
                <a:latin typeface="Times New Roman" pitchFamily="18" charset="0"/>
                <a:ea typeface="標楷體" pitchFamily="65" charset="-120"/>
                <a:cs typeface="Times New Roman" pitchFamily="18" charset="0"/>
              </a:rPr>
              <a:t>as an </a:t>
            </a:r>
            <a:r>
              <a:rPr lang="en-US" altLang="zh-TW" sz="2800" dirty="0">
                <a:solidFill>
                  <a:srgbClr val="FF0000"/>
                </a:solidFill>
                <a:latin typeface="Times New Roman" pitchFamily="18" charset="0"/>
                <a:ea typeface="標楷體" pitchFamily="65" charset="-120"/>
                <a:cs typeface="Times New Roman" pitchFamily="18" charset="0"/>
              </a:rPr>
              <a:t>index</a:t>
            </a:r>
            <a:r>
              <a:rPr lang="en-US" altLang="zh-TW" sz="2800" dirty="0">
                <a:latin typeface="Times New Roman" pitchFamily="18" charset="0"/>
                <a:ea typeface="標楷體" pitchFamily="65" charset="-120"/>
                <a:cs typeface="Times New Roman" pitchFamily="18" charset="0"/>
              </a:rPr>
              <a:t> for adoption of </a:t>
            </a:r>
            <a:r>
              <a:rPr lang="en-US" altLang="zh-TW" sz="2800" dirty="0">
                <a:solidFill>
                  <a:srgbClr val="FF0000"/>
                </a:solidFill>
                <a:latin typeface="Times New Roman" pitchFamily="18" charset="0"/>
                <a:ea typeface="標楷體" pitchFamily="65" charset="-120"/>
                <a:cs typeface="Times New Roman" pitchFamily="18" charset="0"/>
              </a:rPr>
              <a:t>CSP</a:t>
            </a:r>
            <a:r>
              <a:rPr lang="en-US" altLang="zh-TW" sz="2800" dirty="0">
                <a:latin typeface="Times New Roman" pitchFamily="18" charset="0"/>
                <a:ea typeface="標楷體" pitchFamily="65" charset="-120"/>
                <a:cs typeface="Times New Roman" pitchFamily="18" charset="0"/>
              </a:rPr>
              <a:t> or </a:t>
            </a:r>
            <a:r>
              <a:rPr lang="en-US" altLang="zh-TW" sz="2800" dirty="0">
                <a:solidFill>
                  <a:srgbClr val="FF0000"/>
                </a:solidFill>
                <a:latin typeface="Times New Roman" pitchFamily="18" charset="0"/>
                <a:ea typeface="標楷體" pitchFamily="65" charset="-120"/>
                <a:cs typeface="Times New Roman" pitchFamily="18" charset="0"/>
              </a:rPr>
              <a:t>other machine-learning </a:t>
            </a:r>
            <a:r>
              <a:rPr lang="en-US" altLang="zh-TW" sz="2800" dirty="0" smtClean="0">
                <a:solidFill>
                  <a:srgbClr val="FF0000"/>
                </a:solidFill>
                <a:latin typeface="Times New Roman" pitchFamily="18" charset="0"/>
                <a:ea typeface="標楷體" pitchFamily="65" charset="-120"/>
                <a:cs typeface="Times New Roman" pitchFamily="18" charset="0"/>
              </a:rPr>
              <a:t>approaches</a:t>
            </a:r>
            <a:r>
              <a:rPr lang="en-US" altLang="zh-TW" sz="2800" dirty="0" smtClean="0">
                <a:latin typeface="Times New Roman" pitchFamily="18" charset="0"/>
                <a:ea typeface="標楷體" pitchFamily="65" charset="-120"/>
                <a:cs typeface="Times New Roman" pitchFamily="18" charset="0"/>
              </a:rPr>
              <a:t> to </a:t>
            </a:r>
            <a:r>
              <a:rPr lang="en-US" altLang="zh-TW" sz="2800" dirty="0">
                <a:latin typeface="Times New Roman" pitchFamily="18" charset="0"/>
                <a:ea typeface="標楷體" pitchFamily="65" charset="-120"/>
                <a:cs typeface="Times New Roman" pitchFamily="18" charset="0"/>
              </a:rPr>
              <a:t>predict disulfide connectivity</a:t>
            </a:r>
            <a:r>
              <a:rPr lang="en-US" altLang="zh-TW" sz="2800" dirty="0" smtClean="0">
                <a:latin typeface="Times New Roman" pitchFamily="18" charset="0"/>
                <a:ea typeface="標楷體" pitchFamily="65" charset="-120"/>
                <a:cs typeface="Times New Roman" pitchFamily="18" charset="0"/>
              </a:rPr>
              <a:t>.</a:t>
            </a:r>
          </a:p>
        </p:txBody>
      </p:sp>
    </p:spTree>
    <p:extLst>
      <p:ext uri="{BB962C8B-B14F-4D97-AF65-F5344CB8AC3E}">
        <p14:creationId xmlns:p14="http://schemas.microsoft.com/office/powerpoint/2010/main" val="3069983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Divergence coverage</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endParaRPr lang="en-US" altLang="zh-TW" sz="2800" dirty="0" smtClean="0">
              <a:latin typeface="Times New Roman" pitchFamily="18" charset="0"/>
              <a:ea typeface="標楷體" pitchFamily="65" charset="-120"/>
              <a:cs typeface="Times New Roman" pitchFamily="18" charset="0"/>
            </a:endParaRPr>
          </a:p>
          <a:p>
            <a:endParaRPr lang="en-US" altLang="zh-TW" sz="2800" dirty="0">
              <a:latin typeface="Times New Roman" pitchFamily="18" charset="0"/>
              <a:ea typeface="標楷體" pitchFamily="65" charset="-120"/>
              <a:cs typeface="Times New Roman" pitchFamily="18" charset="0"/>
            </a:endParaRPr>
          </a:p>
          <a:p>
            <a:endParaRPr lang="en-US" altLang="zh-TW" sz="2800" dirty="0" smtClean="0">
              <a:latin typeface="Times New Roman" pitchFamily="18" charset="0"/>
              <a:ea typeface="標楷體" pitchFamily="65" charset="-120"/>
              <a:cs typeface="Times New Roman" pitchFamily="18" charset="0"/>
            </a:endParaRPr>
          </a:p>
          <a:p>
            <a:endParaRPr lang="en-US" altLang="zh-TW" sz="2800" dirty="0">
              <a:latin typeface="Times New Roman" pitchFamily="18" charset="0"/>
              <a:ea typeface="標楷體" pitchFamily="65" charset="-120"/>
              <a:cs typeface="Times New Roman" pitchFamily="18" charset="0"/>
            </a:endParaRPr>
          </a:p>
          <a:p>
            <a:endParaRPr lang="en-US" altLang="zh-TW" sz="2800" dirty="0" smtClean="0">
              <a:latin typeface="Times New Roman" pitchFamily="18" charset="0"/>
              <a:ea typeface="標楷體" pitchFamily="65" charset="-120"/>
              <a:cs typeface="Times New Roman" pitchFamily="18" charset="0"/>
            </a:endParaRPr>
          </a:p>
          <a:p>
            <a:endParaRPr lang="en-US" altLang="zh-TW" sz="2800" dirty="0">
              <a:latin typeface="Times New Roman" pitchFamily="18" charset="0"/>
              <a:ea typeface="標楷體" pitchFamily="65" charset="-120"/>
              <a:cs typeface="Times New Roman" pitchFamily="18" charset="0"/>
            </a:endParaRPr>
          </a:p>
          <a:p>
            <a:r>
              <a:rPr lang="en-US" altLang="zh-TW" sz="2800" dirty="0" smtClean="0">
                <a:latin typeface="Times New Roman" pitchFamily="18" charset="0"/>
                <a:ea typeface="標楷體" pitchFamily="65" charset="-120"/>
                <a:cs typeface="Times New Roman" pitchFamily="18" charset="0"/>
              </a:rPr>
              <a:t>However</a:t>
            </a:r>
            <a:r>
              <a:rPr lang="en-US" altLang="zh-TW" sz="2800" dirty="0">
                <a:latin typeface="Times New Roman" pitchFamily="18" charset="0"/>
                <a:ea typeface="標楷體" pitchFamily="65" charset="-120"/>
                <a:cs typeface="Times New Roman" pitchFamily="18" charset="0"/>
              </a:rPr>
              <a:t>, these divergence scores are not normalized according to the number of disulfide bridges and the lengths of protein sequences.</a:t>
            </a:r>
            <a:endParaRPr lang="en-US" altLang="zh-TW" sz="2800" dirty="0" smtClean="0">
              <a:latin typeface="Times New Roman" pitchFamily="18" charset="0"/>
              <a:ea typeface="標楷體" pitchFamily="65" charset="-120"/>
              <a:cs typeface="Times New Roman" pitchFamily="18"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59" y="1418692"/>
            <a:ext cx="6221313" cy="3314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25969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itchFamily="18" charset="0"/>
                <a:ea typeface="標楷體" pitchFamily="65" charset="-120"/>
                <a:cs typeface="Times New Roman" pitchFamily="18" charset="0"/>
              </a:rPr>
              <a:t>Conclusions</a:t>
            </a:r>
            <a:endParaRPr lang="zh-TW" altLang="en-US" dirty="0">
              <a:latin typeface="Times New Roman" pitchFamily="18" charset="0"/>
              <a:ea typeface="標楷體" pitchFamily="65" charset="-12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ea typeface="標楷體" pitchFamily="65" charset="-120"/>
                <a:cs typeface="Times New Roman" pitchFamily="18" charset="0"/>
              </a:rPr>
              <a:t>In this work, we have shown that cysteine separation profiles (CSPs</a:t>
            </a:r>
            <a:r>
              <a:rPr lang="en-US" altLang="zh-TW" dirty="0" smtClean="0">
                <a:latin typeface="Times New Roman" pitchFamily="18" charset="0"/>
                <a:ea typeface="標楷體" pitchFamily="65" charset="-120"/>
                <a:cs typeface="Times New Roman" pitchFamily="18" charset="0"/>
              </a:rPr>
              <a:t>) can </a:t>
            </a:r>
            <a:r>
              <a:rPr lang="en-US" altLang="zh-TW" dirty="0">
                <a:latin typeface="Times New Roman" pitchFamily="18" charset="0"/>
                <a:ea typeface="標楷體" pitchFamily="65" charset="-120"/>
                <a:cs typeface="Times New Roman" pitchFamily="18" charset="0"/>
              </a:rPr>
              <a:t>be used in predicting disulfide connectivity patterns based </a:t>
            </a:r>
            <a:r>
              <a:rPr lang="en-US" altLang="zh-TW" dirty="0" smtClean="0">
                <a:latin typeface="Times New Roman" pitchFamily="18" charset="0"/>
                <a:ea typeface="標楷體" pitchFamily="65" charset="-120"/>
                <a:cs typeface="Times New Roman" pitchFamily="18" charset="0"/>
              </a:rPr>
              <a:t>on the </a:t>
            </a:r>
            <a:r>
              <a:rPr lang="en-US" altLang="zh-TW" dirty="0">
                <a:latin typeface="Times New Roman" pitchFamily="18" charset="0"/>
                <a:ea typeface="標楷體" pitchFamily="65" charset="-120"/>
                <a:cs typeface="Times New Roman" pitchFamily="18" charset="0"/>
              </a:rPr>
              <a:t>hypothesis that </a:t>
            </a:r>
            <a:r>
              <a:rPr lang="en-US" altLang="zh-TW" dirty="0">
                <a:solidFill>
                  <a:srgbClr val="FF0000"/>
                </a:solidFill>
                <a:latin typeface="Times New Roman" pitchFamily="18" charset="0"/>
                <a:ea typeface="標楷體" pitchFamily="65" charset="-120"/>
                <a:cs typeface="Times New Roman" pitchFamily="18" charset="0"/>
              </a:rPr>
              <a:t>proteins with similar cysteine separations </a:t>
            </a:r>
            <a:r>
              <a:rPr lang="en-US" altLang="zh-TW" dirty="0" smtClean="0">
                <a:solidFill>
                  <a:srgbClr val="FF0000"/>
                </a:solidFill>
                <a:latin typeface="Times New Roman" pitchFamily="18" charset="0"/>
                <a:ea typeface="標楷體" pitchFamily="65" charset="-120"/>
                <a:cs typeface="Times New Roman" pitchFamily="18" charset="0"/>
              </a:rPr>
              <a:t>in sequences </a:t>
            </a:r>
            <a:r>
              <a:rPr lang="en-US" altLang="zh-TW" dirty="0">
                <a:solidFill>
                  <a:srgbClr val="FF0000"/>
                </a:solidFill>
                <a:latin typeface="Times New Roman" pitchFamily="18" charset="0"/>
                <a:ea typeface="標楷體" pitchFamily="65" charset="-120"/>
                <a:cs typeface="Times New Roman" pitchFamily="18" charset="0"/>
              </a:rPr>
              <a:t>may have similar disulfide bonding patterns</a:t>
            </a:r>
            <a:r>
              <a:rPr lang="en-US" altLang="zh-TW" dirty="0">
                <a:latin typeface="Times New Roman" pitchFamily="18" charset="0"/>
                <a:ea typeface="標楷體" pitchFamily="65" charset="-120"/>
                <a:cs typeface="Times New Roman" pitchFamily="18" charset="0"/>
              </a:rPr>
              <a:t>.</a:t>
            </a:r>
            <a:endParaRPr lang="zh-TW" altLang="en-US" dirty="0">
              <a:latin typeface="Times New Roman" pitchFamily="18" charset="0"/>
              <a:ea typeface="標楷體" pitchFamily="65" charset="-120"/>
              <a:cs typeface="Times New Roman" pitchFamily="18" charset="0"/>
            </a:endParaRPr>
          </a:p>
        </p:txBody>
      </p:sp>
    </p:spTree>
    <p:extLst>
      <p:ext uri="{BB962C8B-B14F-4D97-AF65-F5344CB8AC3E}">
        <p14:creationId xmlns:p14="http://schemas.microsoft.com/office/powerpoint/2010/main" val="26733569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35172</TotalTime>
  <Words>869</Words>
  <Application>Microsoft Office PowerPoint</Application>
  <PresentationFormat>如螢幕大小 (4:3)</PresentationFormat>
  <Paragraphs>83</Paragraphs>
  <Slides>19</Slides>
  <Notes>0</Notes>
  <HiddenSlides>0</HiddenSlides>
  <MMClips>0</MMClips>
  <ScaleCrop>false</ScaleCrop>
  <HeadingPairs>
    <vt:vector size="4" baseType="variant">
      <vt:variant>
        <vt:lpstr>佈景主題</vt:lpstr>
      </vt:variant>
      <vt:variant>
        <vt:i4>1</vt:i4>
      </vt:variant>
      <vt:variant>
        <vt:lpstr>投影片標題</vt:lpstr>
      </vt:variant>
      <vt:variant>
        <vt:i4>19</vt:i4>
      </vt:variant>
    </vt:vector>
  </HeadingPairs>
  <TitlesOfParts>
    <vt:vector size="20" baseType="lpstr">
      <vt:lpstr>Office 佈景主題</vt:lpstr>
      <vt:lpstr>Cysteine separations profiles on protein sequences infer disulfide connectivity  East Zhao, Hsuan-Liang Liu, Chi-Hung Tsai, Huai-Kuang Tsai, Chen-hsiung Chan and Cheng-Yan Kao  Bioinformatics, vol. 21, no. 8, pp. 1415–1420, 2005</vt:lpstr>
      <vt:lpstr>Abstract (1/3)</vt:lpstr>
      <vt:lpstr>Abstract (2/3)</vt:lpstr>
      <vt:lpstr>Abstract (3/3)</vt:lpstr>
      <vt:lpstr>Introduction</vt:lpstr>
      <vt:lpstr>Datasets</vt:lpstr>
      <vt:lpstr>Datasets</vt:lpstr>
      <vt:lpstr>Basic assumption</vt:lpstr>
      <vt:lpstr>CSP (Cysteine separations profiles)</vt:lpstr>
      <vt:lpstr>Evaluation of prediction accuracy</vt:lpstr>
      <vt:lpstr>Fourfold cross validation</vt:lpstr>
      <vt:lpstr>Fourfold cross validation</vt:lpstr>
      <vt:lpstr>Handout prediction of new sequences from SP43</vt:lpstr>
      <vt:lpstr>Examples</vt:lpstr>
      <vt:lpstr>Examples</vt:lpstr>
      <vt:lpstr>Discussions</vt:lpstr>
      <vt:lpstr>Divergence coverage</vt:lpstr>
      <vt:lpstr>Divergence coverage</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Hong-Yu Chen</dc:creator>
  <cp:lastModifiedBy>Hong-Yu Chen</cp:lastModifiedBy>
  <cp:revision>632</cp:revision>
  <dcterms:created xsi:type="dcterms:W3CDTF">2010-10-17T09:22:10Z</dcterms:created>
  <dcterms:modified xsi:type="dcterms:W3CDTF">2011-09-25T17:02:16Z</dcterms:modified>
</cp:coreProperties>
</file>