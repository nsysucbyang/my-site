
<file path=[Content_Types].xml><?xml version="1.0" encoding="utf-8"?>
<Types xmlns="http://schemas.openxmlformats.org/package/2006/content-types">
  <Default Extension="png" ContentType="image/png"/>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sldIdLst>
    <p:sldId id="256" r:id="rId2"/>
    <p:sldId id="257" r:id="rId3"/>
    <p:sldId id="258" r:id="rId4"/>
    <p:sldId id="262" r:id="rId5"/>
    <p:sldId id="259" r:id="rId6"/>
    <p:sldId id="260" r:id="rId7"/>
    <p:sldId id="261" r:id="rId8"/>
    <p:sldId id="263" r:id="rId9"/>
    <p:sldId id="264" r:id="rId10"/>
    <p:sldId id="265" r:id="rId11"/>
    <p:sldId id="268" r:id="rId12"/>
    <p:sldId id="266" r:id="rId13"/>
    <p:sldId id="271" r:id="rId14"/>
    <p:sldId id="272" r:id="rId15"/>
    <p:sldId id="273" r:id="rId16"/>
    <p:sldId id="274" r:id="rId17"/>
    <p:sldId id="275" r:id="rId18"/>
    <p:sldId id="276" r:id="rId19"/>
    <p:sldId id="277" r:id="rId20"/>
    <p:sldId id="278" r:id="rId21"/>
    <p:sldId id="267" r:id="rId22"/>
    <p:sldId id="269" r:id="rId23"/>
    <p:sldId id="270" r:id="rId24"/>
  </p:sldIdLst>
  <p:sldSz cx="9144000" cy="6858000" type="screen4x3"/>
  <p:notesSz cx="6858000" cy="9144000"/>
  <p:defaultTextStyle>
    <a:defPPr>
      <a:defRPr lang="zh-TW"/>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p:cViewPr varScale="1">
        <p:scale>
          <a:sx n="83" d="100"/>
          <a:sy n="83" d="100"/>
        </p:scale>
        <p:origin x="-1416" y="-72"/>
      </p:cViewPr>
      <p:guideLst>
        <p:guide orient="horz" pos="2160"/>
        <p:guide pos="2880"/>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viewProps" Target="viewProps.xml"/><Relationship Id="rId3" Type="http://schemas.openxmlformats.org/officeDocument/2006/relationships/slide" Target="slides/slide2.xml"/><Relationship Id="rId21" Type="http://schemas.openxmlformats.org/officeDocument/2006/relationships/slide" Target="slides/slide20.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presProps" Target="presProps.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tableStyles" Target="tableStyles.xml"/><Relationship Id="rId10" Type="http://schemas.openxmlformats.org/officeDocument/2006/relationships/slide" Target="slides/slide9.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theme" Target="theme/theme1.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標題投影片">
    <p:spTree>
      <p:nvGrpSpPr>
        <p:cNvPr id="1" name=""/>
        <p:cNvGrpSpPr/>
        <p:nvPr/>
      </p:nvGrpSpPr>
      <p:grpSpPr>
        <a:xfrm>
          <a:off x="0" y="0"/>
          <a:ext cx="0" cy="0"/>
          <a:chOff x="0" y="0"/>
          <a:chExt cx="0" cy="0"/>
        </a:xfrm>
      </p:grpSpPr>
      <p:sp>
        <p:nvSpPr>
          <p:cNvPr id="2" name="標題 1"/>
          <p:cNvSpPr>
            <a:spLocks noGrp="1"/>
          </p:cNvSpPr>
          <p:nvPr>
            <p:ph type="ctrTitle"/>
          </p:nvPr>
        </p:nvSpPr>
        <p:spPr>
          <a:xfrm>
            <a:off x="685800" y="2130425"/>
            <a:ext cx="7772400" cy="1470025"/>
          </a:xfrm>
        </p:spPr>
        <p:txBody>
          <a:bodyPr/>
          <a:lstStyle/>
          <a:p>
            <a:r>
              <a:rPr lang="zh-TW" altLang="en-US" smtClean="0"/>
              <a:t>按一下以編輯母片標題樣式</a:t>
            </a:r>
            <a:endParaRPr lang="zh-TW" altLang="en-US"/>
          </a:p>
        </p:txBody>
      </p:sp>
      <p:sp>
        <p:nvSpPr>
          <p:cNvPr id="3" name="副標題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zh-TW" altLang="en-US" smtClean="0"/>
              <a:t>按一下以編輯母片副標題樣式</a:t>
            </a:r>
            <a:endParaRPr lang="zh-TW" altLang="en-US"/>
          </a:p>
        </p:txBody>
      </p:sp>
      <p:sp>
        <p:nvSpPr>
          <p:cNvPr id="4" name="日期版面配置區 3"/>
          <p:cNvSpPr>
            <a:spLocks noGrp="1"/>
          </p:cNvSpPr>
          <p:nvPr>
            <p:ph type="dt" sz="half" idx="10"/>
          </p:nvPr>
        </p:nvSpPr>
        <p:spPr/>
        <p:txBody>
          <a:bodyPr/>
          <a:lstStyle/>
          <a:p>
            <a:fld id="{58B7DCA4-AFC9-4C8B-B729-7731EDE141C4}" type="datetimeFigureOut">
              <a:rPr lang="zh-TW" altLang="en-US" smtClean="0"/>
              <a:t>2011/12/19</a:t>
            </a:fld>
            <a:endParaRPr lang="zh-TW" altLang="en-US"/>
          </a:p>
        </p:txBody>
      </p:sp>
      <p:sp>
        <p:nvSpPr>
          <p:cNvPr id="5" name="頁尾版面配置區 4"/>
          <p:cNvSpPr>
            <a:spLocks noGrp="1"/>
          </p:cNvSpPr>
          <p:nvPr>
            <p:ph type="ftr" sz="quarter" idx="11"/>
          </p:nvPr>
        </p:nvSpPr>
        <p:spPr/>
        <p:txBody>
          <a:bodyPr/>
          <a:lstStyle/>
          <a:p>
            <a:endParaRPr lang="zh-TW" altLang="en-US"/>
          </a:p>
        </p:txBody>
      </p:sp>
      <p:sp>
        <p:nvSpPr>
          <p:cNvPr id="6" name="投影片編號版面配置區 5"/>
          <p:cNvSpPr>
            <a:spLocks noGrp="1"/>
          </p:cNvSpPr>
          <p:nvPr>
            <p:ph type="sldNum" sz="quarter" idx="12"/>
          </p:nvPr>
        </p:nvSpPr>
        <p:spPr/>
        <p:txBody>
          <a:bodyPr/>
          <a:lstStyle/>
          <a:p>
            <a:fld id="{8BC20E8C-49DD-4B7D-873A-D5E6CEA8A87A}" type="slidenum">
              <a:rPr lang="zh-TW" altLang="en-US" smtClean="0"/>
              <a:t>‹#›</a:t>
            </a:fld>
            <a:endParaRPr lang="zh-TW" altLang="en-US"/>
          </a:p>
        </p:txBody>
      </p:sp>
    </p:spTree>
    <p:extLst>
      <p:ext uri="{BB962C8B-B14F-4D97-AF65-F5344CB8AC3E}">
        <p14:creationId xmlns:p14="http://schemas.microsoft.com/office/powerpoint/2010/main" val="210401657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標題及物件">
    <p:spTree>
      <p:nvGrpSpPr>
        <p:cNvPr id="1" name=""/>
        <p:cNvGrpSpPr/>
        <p:nvPr/>
      </p:nvGrpSpPr>
      <p:grpSpPr>
        <a:xfrm>
          <a:off x="0" y="0"/>
          <a:ext cx="0" cy="0"/>
          <a:chOff x="0" y="0"/>
          <a:chExt cx="0" cy="0"/>
        </a:xfrm>
      </p:grpSpPr>
      <p:sp>
        <p:nvSpPr>
          <p:cNvPr id="2" name="標題 1"/>
          <p:cNvSpPr>
            <a:spLocks noGrp="1"/>
          </p:cNvSpPr>
          <p:nvPr>
            <p:ph type="title"/>
          </p:nvPr>
        </p:nvSpPr>
        <p:spPr/>
        <p:txBody>
          <a:bodyPr/>
          <a:lstStyle/>
          <a:p>
            <a:r>
              <a:rPr lang="zh-TW" altLang="en-US" smtClean="0"/>
              <a:t>按一下以編輯母片標題樣式</a:t>
            </a:r>
            <a:endParaRPr lang="zh-TW" altLang="en-US"/>
          </a:p>
        </p:txBody>
      </p:sp>
      <p:sp>
        <p:nvSpPr>
          <p:cNvPr id="3" name="內容版面配置區 2"/>
          <p:cNvSpPr>
            <a:spLocks noGrp="1"/>
          </p:cNvSpPr>
          <p:nvPr>
            <p:ph idx="1"/>
          </p:nvPr>
        </p:nvSpPr>
        <p:spPr/>
        <p:txBody>
          <a:bodyPr/>
          <a:lstStyle/>
          <a:p>
            <a:pPr lvl="0"/>
            <a:r>
              <a:rPr lang="zh-TW" altLang="en-US" smtClean="0"/>
              <a:t>按一下以編輯母片文字樣式</a:t>
            </a:r>
          </a:p>
          <a:p>
            <a:pPr lvl="1"/>
            <a:r>
              <a:rPr lang="zh-TW" altLang="en-US" smtClean="0"/>
              <a:t>第二層</a:t>
            </a:r>
          </a:p>
          <a:p>
            <a:pPr lvl="2"/>
            <a:r>
              <a:rPr lang="zh-TW" altLang="en-US" smtClean="0"/>
              <a:t>第三層</a:t>
            </a:r>
          </a:p>
          <a:p>
            <a:pPr lvl="3"/>
            <a:r>
              <a:rPr lang="zh-TW" altLang="en-US" smtClean="0"/>
              <a:t>第四層</a:t>
            </a:r>
          </a:p>
          <a:p>
            <a:pPr lvl="4"/>
            <a:r>
              <a:rPr lang="zh-TW" altLang="en-US" smtClean="0"/>
              <a:t>第五層</a:t>
            </a:r>
            <a:endParaRPr lang="zh-TW" altLang="en-US"/>
          </a:p>
        </p:txBody>
      </p:sp>
      <p:sp>
        <p:nvSpPr>
          <p:cNvPr id="4" name="日期版面配置區 3"/>
          <p:cNvSpPr>
            <a:spLocks noGrp="1"/>
          </p:cNvSpPr>
          <p:nvPr>
            <p:ph type="dt" sz="half" idx="10"/>
          </p:nvPr>
        </p:nvSpPr>
        <p:spPr/>
        <p:txBody>
          <a:bodyPr/>
          <a:lstStyle/>
          <a:p>
            <a:fld id="{58B7DCA4-AFC9-4C8B-B729-7731EDE141C4}" type="datetimeFigureOut">
              <a:rPr lang="zh-TW" altLang="en-US" smtClean="0"/>
              <a:t>2011/12/19</a:t>
            </a:fld>
            <a:endParaRPr lang="zh-TW" altLang="en-US"/>
          </a:p>
        </p:txBody>
      </p:sp>
      <p:sp>
        <p:nvSpPr>
          <p:cNvPr id="5" name="頁尾版面配置區 4"/>
          <p:cNvSpPr>
            <a:spLocks noGrp="1"/>
          </p:cNvSpPr>
          <p:nvPr>
            <p:ph type="ftr" sz="quarter" idx="11"/>
          </p:nvPr>
        </p:nvSpPr>
        <p:spPr/>
        <p:txBody>
          <a:bodyPr/>
          <a:lstStyle/>
          <a:p>
            <a:endParaRPr lang="zh-TW" altLang="en-US"/>
          </a:p>
        </p:txBody>
      </p:sp>
      <p:sp>
        <p:nvSpPr>
          <p:cNvPr id="6" name="投影片編號版面配置區 5"/>
          <p:cNvSpPr>
            <a:spLocks noGrp="1"/>
          </p:cNvSpPr>
          <p:nvPr>
            <p:ph type="sldNum" sz="quarter" idx="12"/>
          </p:nvPr>
        </p:nvSpPr>
        <p:spPr/>
        <p:txBody>
          <a:bodyPr/>
          <a:lstStyle/>
          <a:p>
            <a:fld id="{8BC20E8C-49DD-4B7D-873A-D5E6CEA8A87A}" type="slidenum">
              <a:rPr lang="zh-TW" altLang="en-US" smtClean="0"/>
              <a:t>‹#›</a:t>
            </a:fld>
            <a:endParaRPr lang="zh-TW" altLang="en-US"/>
          </a:p>
        </p:txBody>
      </p:sp>
    </p:spTree>
    <p:extLst>
      <p:ext uri="{BB962C8B-B14F-4D97-AF65-F5344CB8AC3E}">
        <p14:creationId xmlns:p14="http://schemas.microsoft.com/office/powerpoint/2010/main" val="3582066062"/>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章節標題">
    <p:spTree>
      <p:nvGrpSpPr>
        <p:cNvPr id="1" name=""/>
        <p:cNvGrpSpPr/>
        <p:nvPr/>
      </p:nvGrpSpPr>
      <p:grpSpPr>
        <a:xfrm>
          <a:off x="0" y="0"/>
          <a:ext cx="0" cy="0"/>
          <a:chOff x="0" y="0"/>
          <a:chExt cx="0" cy="0"/>
        </a:xfrm>
      </p:grpSpPr>
      <p:sp>
        <p:nvSpPr>
          <p:cNvPr id="2" name="標題 1"/>
          <p:cNvSpPr>
            <a:spLocks noGrp="1"/>
          </p:cNvSpPr>
          <p:nvPr>
            <p:ph type="title"/>
          </p:nvPr>
        </p:nvSpPr>
        <p:spPr>
          <a:xfrm>
            <a:off x="722313" y="4406900"/>
            <a:ext cx="7772400" cy="1362075"/>
          </a:xfrm>
        </p:spPr>
        <p:txBody>
          <a:bodyPr anchor="t"/>
          <a:lstStyle>
            <a:lvl1pPr algn="l">
              <a:defRPr sz="4000" b="1" cap="all"/>
            </a:lvl1pPr>
          </a:lstStyle>
          <a:p>
            <a:r>
              <a:rPr lang="zh-TW" altLang="en-US" smtClean="0"/>
              <a:t>按一下以編輯母片標題樣式</a:t>
            </a:r>
            <a:endParaRPr lang="zh-TW" altLang="en-US"/>
          </a:p>
        </p:txBody>
      </p:sp>
      <p:sp>
        <p:nvSpPr>
          <p:cNvPr id="3" name="文字版面配置區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zh-TW" altLang="en-US" smtClean="0"/>
              <a:t>按一下以編輯母片文字樣式</a:t>
            </a:r>
          </a:p>
        </p:txBody>
      </p:sp>
      <p:sp>
        <p:nvSpPr>
          <p:cNvPr id="4" name="日期版面配置區 3"/>
          <p:cNvSpPr>
            <a:spLocks noGrp="1"/>
          </p:cNvSpPr>
          <p:nvPr>
            <p:ph type="dt" sz="half" idx="10"/>
          </p:nvPr>
        </p:nvSpPr>
        <p:spPr/>
        <p:txBody>
          <a:bodyPr/>
          <a:lstStyle/>
          <a:p>
            <a:fld id="{58B7DCA4-AFC9-4C8B-B729-7731EDE141C4}" type="datetimeFigureOut">
              <a:rPr lang="zh-TW" altLang="en-US" smtClean="0"/>
              <a:t>2011/12/19</a:t>
            </a:fld>
            <a:endParaRPr lang="zh-TW" altLang="en-US"/>
          </a:p>
        </p:txBody>
      </p:sp>
      <p:sp>
        <p:nvSpPr>
          <p:cNvPr id="5" name="頁尾版面配置區 4"/>
          <p:cNvSpPr>
            <a:spLocks noGrp="1"/>
          </p:cNvSpPr>
          <p:nvPr>
            <p:ph type="ftr" sz="quarter" idx="11"/>
          </p:nvPr>
        </p:nvSpPr>
        <p:spPr/>
        <p:txBody>
          <a:bodyPr/>
          <a:lstStyle/>
          <a:p>
            <a:endParaRPr lang="zh-TW" altLang="en-US"/>
          </a:p>
        </p:txBody>
      </p:sp>
      <p:sp>
        <p:nvSpPr>
          <p:cNvPr id="6" name="投影片編號版面配置區 5"/>
          <p:cNvSpPr>
            <a:spLocks noGrp="1"/>
          </p:cNvSpPr>
          <p:nvPr>
            <p:ph type="sldNum" sz="quarter" idx="12"/>
          </p:nvPr>
        </p:nvSpPr>
        <p:spPr/>
        <p:txBody>
          <a:bodyPr/>
          <a:lstStyle/>
          <a:p>
            <a:fld id="{8BC20E8C-49DD-4B7D-873A-D5E6CEA8A87A}" type="slidenum">
              <a:rPr lang="zh-TW" altLang="en-US" smtClean="0"/>
              <a:t>‹#›</a:t>
            </a:fld>
            <a:endParaRPr lang="zh-TW" altLang="en-US"/>
          </a:p>
        </p:txBody>
      </p:sp>
    </p:spTree>
    <p:extLst>
      <p:ext uri="{BB962C8B-B14F-4D97-AF65-F5344CB8AC3E}">
        <p14:creationId xmlns:p14="http://schemas.microsoft.com/office/powerpoint/2010/main" val="622606142"/>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兩項物件">
    <p:spTree>
      <p:nvGrpSpPr>
        <p:cNvPr id="1" name=""/>
        <p:cNvGrpSpPr/>
        <p:nvPr/>
      </p:nvGrpSpPr>
      <p:grpSpPr>
        <a:xfrm>
          <a:off x="0" y="0"/>
          <a:ext cx="0" cy="0"/>
          <a:chOff x="0" y="0"/>
          <a:chExt cx="0" cy="0"/>
        </a:xfrm>
      </p:grpSpPr>
      <p:sp>
        <p:nvSpPr>
          <p:cNvPr id="2" name="標題 1"/>
          <p:cNvSpPr>
            <a:spLocks noGrp="1"/>
          </p:cNvSpPr>
          <p:nvPr>
            <p:ph type="title"/>
          </p:nvPr>
        </p:nvSpPr>
        <p:spPr/>
        <p:txBody>
          <a:bodyPr/>
          <a:lstStyle/>
          <a:p>
            <a:r>
              <a:rPr lang="zh-TW" altLang="en-US" smtClean="0"/>
              <a:t>按一下以編輯母片標題樣式</a:t>
            </a:r>
            <a:endParaRPr lang="zh-TW" altLang="en-US"/>
          </a:p>
        </p:txBody>
      </p:sp>
      <p:sp>
        <p:nvSpPr>
          <p:cNvPr id="3" name="內容版面配置區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zh-TW" altLang="en-US" smtClean="0"/>
              <a:t>按一下以編輯母片文字樣式</a:t>
            </a:r>
          </a:p>
          <a:p>
            <a:pPr lvl="1"/>
            <a:r>
              <a:rPr lang="zh-TW" altLang="en-US" smtClean="0"/>
              <a:t>第二層</a:t>
            </a:r>
          </a:p>
          <a:p>
            <a:pPr lvl="2"/>
            <a:r>
              <a:rPr lang="zh-TW" altLang="en-US" smtClean="0"/>
              <a:t>第三層</a:t>
            </a:r>
          </a:p>
          <a:p>
            <a:pPr lvl="3"/>
            <a:r>
              <a:rPr lang="zh-TW" altLang="en-US" smtClean="0"/>
              <a:t>第四層</a:t>
            </a:r>
          </a:p>
          <a:p>
            <a:pPr lvl="4"/>
            <a:r>
              <a:rPr lang="zh-TW" altLang="en-US" smtClean="0"/>
              <a:t>第五層</a:t>
            </a:r>
            <a:endParaRPr lang="zh-TW" altLang="en-US"/>
          </a:p>
        </p:txBody>
      </p:sp>
      <p:sp>
        <p:nvSpPr>
          <p:cNvPr id="4" name="內容版面配置區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zh-TW" altLang="en-US" smtClean="0"/>
              <a:t>按一下以編輯母片文字樣式</a:t>
            </a:r>
          </a:p>
          <a:p>
            <a:pPr lvl="1"/>
            <a:r>
              <a:rPr lang="zh-TW" altLang="en-US" smtClean="0"/>
              <a:t>第二層</a:t>
            </a:r>
          </a:p>
          <a:p>
            <a:pPr lvl="2"/>
            <a:r>
              <a:rPr lang="zh-TW" altLang="en-US" smtClean="0"/>
              <a:t>第三層</a:t>
            </a:r>
          </a:p>
          <a:p>
            <a:pPr lvl="3"/>
            <a:r>
              <a:rPr lang="zh-TW" altLang="en-US" smtClean="0"/>
              <a:t>第四層</a:t>
            </a:r>
          </a:p>
          <a:p>
            <a:pPr lvl="4"/>
            <a:r>
              <a:rPr lang="zh-TW" altLang="en-US" smtClean="0"/>
              <a:t>第五層</a:t>
            </a:r>
            <a:endParaRPr lang="zh-TW" altLang="en-US"/>
          </a:p>
        </p:txBody>
      </p:sp>
      <p:sp>
        <p:nvSpPr>
          <p:cNvPr id="5" name="日期版面配置區 4"/>
          <p:cNvSpPr>
            <a:spLocks noGrp="1"/>
          </p:cNvSpPr>
          <p:nvPr>
            <p:ph type="dt" sz="half" idx="10"/>
          </p:nvPr>
        </p:nvSpPr>
        <p:spPr/>
        <p:txBody>
          <a:bodyPr/>
          <a:lstStyle/>
          <a:p>
            <a:fld id="{58B7DCA4-AFC9-4C8B-B729-7731EDE141C4}" type="datetimeFigureOut">
              <a:rPr lang="zh-TW" altLang="en-US" smtClean="0"/>
              <a:t>2011/12/19</a:t>
            </a:fld>
            <a:endParaRPr lang="zh-TW" altLang="en-US"/>
          </a:p>
        </p:txBody>
      </p:sp>
      <p:sp>
        <p:nvSpPr>
          <p:cNvPr id="6" name="頁尾版面配置區 5"/>
          <p:cNvSpPr>
            <a:spLocks noGrp="1"/>
          </p:cNvSpPr>
          <p:nvPr>
            <p:ph type="ftr" sz="quarter" idx="11"/>
          </p:nvPr>
        </p:nvSpPr>
        <p:spPr/>
        <p:txBody>
          <a:bodyPr/>
          <a:lstStyle/>
          <a:p>
            <a:endParaRPr lang="zh-TW" altLang="en-US"/>
          </a:p>
        </p:txBody>
      </p:sp>
      <p:sp>
        <p:nvSpPr>
          <p:cNvPr id="7" name="投影片編號版面配置區 6"/>
          <p:cNvSpPr>
            <a:spLocks noGrp="1"/>
          </p:cNvSpPr>
          <p:nvPr>
            <p:ph type="sldNum" sz="quarter" idx="12"/>
          </p:nvPr>
        </p:nvSpPr>
        <p:spPr/>
        <p:txBody>
          <a:bodyPr/>
          <a:lstStyle/>
          <a:p>
            <a:fld id="{8BC20E8C-49DD-4B7D-873A-D5E6CEA8A87A}" type="slidenum">
              <a:rPr lang="zh-TW" altLang="en-US" smtClean="0"/>
              <a:t>‹#›</a:t>
            </a:fld>
            <a:endParaRPr lang="zh-TW" altLang="en-US"/>
          </a:p>
        </p:txBody>
      </p:sp>
    </p:spTree>
    <p:extLst>
      <p:ext uri="{BB962C8B-B14F-4D97-AF65-F5344CB8AC3E}">
        <p14:creationId xmlns:p14="http://schemas.microsoft.com/office/powerpoint/2010/main" val="33234404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比對">
    <p:spTree>
      <p:nvGrpSpPr>
        <p:cNvPr id="1" name=""/>
        <p:cNvGrpSpPr/>
        <p:nvPr/>
      </p:nvGrpSpPr>
      <p:grpSpPr>
        <a:xfrm>
          <a:off x="0" y="0"/>
          <a:ext cx="0" cy="0"/>
          <a:chOff x="0" y="0"/>
          <a:chExt cx="0" cy="0"/>
        </a:xfrm>
      </p:grpSpPr>
      <p:sp>
        <p:nvSpPr>
          <p:cNvPr id="2" name="標題 1"/>
          <p:cNvSpPr>
            <a:spLocks noGrp="1"/>
          </p:cNvSpPr>
          <p:nvPr>
            <p:ph type="title"/>
          </p:nvPr>
        </p:nvSpPr>
        <p:spPr/>
        <p:txBody>
          <a:bodyPr/>
          <a:lstStyle>
            <a:lvl1pPr>
              <a:defRPr/>
            </a:lvl1pPr>
          </a:lstStyle>
          <a:p>
            <a:r>
              <a:rPr lang="zh-TW" altLang="en-US" smtClean="0"/>
              <a:t>按一下以編輯母片標題樣式</a:t>
            </a:r>
            <a:endParaRPr lang="zh-TW" altLang="en-US"/>
          </a:p>
        </p:txBody>
      </p:sp>
      <p:sp>
        <p:nvSpPr>
          <p:cNvPr id="3" name="文字版面配置區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TW" altLang="en-US" smtClean="0"/>
              <a:t>按一下以編輯母片文字樣式</a:t>
            </a:r>
          </a:p>
        </p:txBody>
      </p:sp>
      <p:sp>
        <p:nvSpPr>
          <p:cNvPr id="4" name="內容版面配置區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zh-TW" altLang="en-US" smtClean="0"/>
              <a:t>按一下以編輯母片文字樣式</a:t>
            </a:r>
          </a:p>
          <a:p>
            <a:pPr lvl="1"/>
            <a:r>
              <a:rPr lang="zh-TW" altLang="en-US" smtClean="0"/>
              <a:t>第二層</a:t>
            </a:r>
          </a:p>
          <a:p>
            <a:pPr lvl="2"/>
            <a:r>
              <a:rPr lang="zh-TW" altLang="en-US" smtClean="0"/>
              <a:t>第三層</a:t>
            </a:r>
          </a:p>
          <a:p>
            <a:pPr lvl="3"/>
            <a:r>
              <a:rPr lang="zh-TW" altLang="en-US" smtClean="0"/>
              <a:t>第四層</a:t>
            </a:r>
          </a:p>
          <a:p>
            <a:pPr lvl="4"/>
            <a:r>
              <a:rPr lang="zh-TW" altLang="en-US" smtClean="0"/>
              <a:t>第五層</a:t>
            </a:r>
            <a:endParaRPr lang="zh-TW" altLang="en-US"/>
          </a:p>
        </p:txBody>
      </p:sp>
      <p:sp>
        <p:nvSpPr>
          <p:cNvPr id="5" name="文字版面配置區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TW" altLang="en-US" smtClean="0"/>
              <a:t>按一下以編輯母片文字樣式</a:t>
            </a:r>
          </a:p>
        </p:txBody>
      </p:sp>
      <p:sp>
        <p:nvSpPr>
          <p:cNvPr id="6" name="內容版面配置區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zh-TW" altLang="en-US" smtClean="0"/>
              <a:t>按一下以編輯母片文字樣式</a:t>
            </a:r>
          </a:p>
          <a:p>
            <a:pPr lvl="1"/>
            <a:r>
              <a:rPr lang="zh-TW" altLang="en-US" smtClean="0"/>
              <a:t>第二層</a:t>
            </a:r>
          </a:p>
          <a:p>
            <a:pPr lvl="2"/>
            <a:r>
              <a:rPr lang="zh-TW" altLang="en-US" smtClean="0"/>
              <a:t>第三層</a:t>
            </a:r>
          </a:p>
          <a:p>
            <a:pPr lvl="3"/>
            <a:r>
              <a:rPr lang="zh-TW" altLang="en-US" smtClean="0"/>
              <a:t>第四層</a:t>
            </a:r>
          </a:p>
          <a:p>
            <a:pPr lvl="4"/>
            <a:r>
              <a:rPr lang="zh-TW" altLang="en-US" smtClean="0"/>
              <a:t>第五層</a:t>
            </a:r>
            <a:endParaRPr lang="zh-TW" altLang="en-US"/>
          </a:p>
        </p:txBody>
      </p:sp>
      <p:sp>
        <p:nvSpPr>
          <p:cNvPr id="7" name="日期版面配置區 6"/>
          <p:cNvSpPr>
            <a:spLocks noGrp="1"/>
          </p:cNvSpPr>
          <p:nvPr>
            <p:ph type="dt" sz="half" idx="10"/>
          </p:nvPr>
        </p:nvSpPr>
        <p:spPr/>
        <p:txBody>
          <a:bodyPr/>
          <a:lstStyle/>
          <a:p>
            <a:fld id="{58B7DCA4-AFC9-4C8B-B729-7731EDE141C4}" type="datetimeFigureOut">
              <a:rPr lang="zh-TW" altLang="en-US" smtClean="0"/>
              <a:t>2011/12/19</a:t>
            </a:fld>
            <a:endParaRPr lang="zh-TW" altLang="en-US"/>
          </a:p>
        </p:txBody>
      </p:sp>
      <p:sp>
        <p:nvSpPr>
          <p:cNvPr id="8" name="頁尾版面配置區 7"/>
          <p:cNvSpPr>
            <a:spLocks noGrp="1"/>
          </p:cNvSpPr>
          <p:nvPr>
            <p:ph type="ftr" sz="quarter" idx="11"/>
          </p:nvPr>
        </p:nvSpPr>
        <p:spPr/>
        <p:txBody>
          <a:bodyPr/>
          <a:lstStyle/>
          <a:p>
            <a:endParaRPr lang="zh-TW" altLang="en-US"/>
          </a:p>
        </p:txBody>
      </p:sp>
      <p:sp>
        <p:nvSpPr>
          <p:cNvPr id="9" name="投影片編號版面配置區 8"/>
          <p:cNvSpPr>
            <a:spLocks noGrp="1"/>
          </p:cNvSpPr>
          <p:nvPr>
            <p:ph type="sldNum" sz="quarter" idx="12"/>
          </p:nvPr>
        </p:nvSpPr>
        <p:spPr/>
        <p:txBody>
          <a:bodyPr/>
          <a:lstStyle/>
          <a:p>
            <a:fld id="{8BC20E8C-49DD-4B7D-873A-D5E6CEA8A87A}" type="slidenum">
              <a:rPr lang="zh-TW" altLang="en-US" smtClean="0"/>
              <a:t>‹#›</a:t>
            </a:fld>
            <a:endParaRPr lang="zh-TW" altLang="en-US"/>
          </a:p>
        </p:txBody>
      </p:sp>
    </p:spTree>
    <p:extLst>
      <p:ext uri="{BB962C8B-B14F-4D97-AF65-F5344CB8AC3E}">
        <p14:creationId xmlns:p14="http://schemas.microsoft.com/office/powerpoint/2010/main" val="1591146163"/>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只有標題">
    <p:spTree>
      <p:nvGrpSpPr>
        <p:cNvPr id="1" name=""/>
        <p:cNvGrpSpPr/>
        <p:nvPr/>
      </p:nvGrpSpPr>
      <p:grpSpPr>
        <a:xfrm>
          <a:off x="0" y="0"/>
          <a:ext cx="0" cy="0"/>
          <a:chOff x="0" y="0"/>
          <a:chExt cx="0" cy="0"/>
        </a:xfrm>
      </p:grpSpPr>
      <p:sp>
        <p:nvSpPr>
          <p:cNvPr id="2" name="標題 1"/>
          <p:cNvSpPr>
            <a:spLocks noGrp="1"/>
          </p:cNvSpPr>
          <p:nvPr>
            <p:ph type="title"/>
          </p:nvPr>
        </p:nvSpPr>
        <p:spPr/>
        <p:txBody>
          <a:bodyPr/>
          <a:lstStyle/>
          <a:p>
            <a:r>
              <a:rPr lang="zh-TW" altLang="en-US" smtClean="0"/>
              <a:t>按一下以編輯母片標題樣式</a:t>
            </a:r>
            <a:endParaRPr lang="zh-TW" altLang="en-US"/>
          </a:p>
        </p:txBody>
      </p:sp>
      <p:sp>
        <p:nvSpPr>
          <p:cNvPr id="3" name="日期版面配置區 2"/>
          <p:cNvSpPr>
            <a:spLocks noGrp="1"/>
          </p:cNvSpPr>
          <p:nvPr>
            <p:ph type="dt" sz="half" idx="10"/>
          </p:nvPr>
        </p:nvSpPr>
        <p:spPr/>
        <p:txBody>
          <a:bodyPr/>
          <a:lstStyle/>
          <a:p>
            <a:fld id="{58B7DCA4-AFC9-4C8B-B729-7731EDE141C4}" type="datetimeFigureOut">
              <a:rPr lang="zh-TW" altLang="en-US" smtClean="0"/>
              <a:t>2011/12/19</a:t>
            </a:fld>
            <a:endParaRPr lang="zh-TW" altLang="en-US"/>
          </a:p>
        </p:txBody>
      </p:sp>
      <p:sp>
        <p:nvSpPr>
          <p:cNvPr id="4" name="頁尾版面配置區 3"/>
          <p:cNvSpPr>
            <a:spLocks noGrp="1"/>
          </p:cNvSpPr>
          <p:nvPr>
            <p:ph type="ftr" sz="quarter" idx="11"/>
          </p:nvPr>
        </p:nvSpPr>
        <p:spPr/>
        <p:txBody>
          <a:bodyPr/>
          <a:lstStyle/>
          <a:p>
            <a:endParaRPr lang="zh-TW" altLang="en-US"/>
          </a:p>
        </p:txBody>
      </p:sp>
      <p:sp>
        <p:nvSpPr>
          <p:cNvPr id="5" name="投影片編號版面配置區 4"/>
          <p:cNvSpPr>
            <a:spLocks noGrp="1"/>
          </p:cNvSpPr>
          <p:nvPr>
            <p:ph type="sldNum" sz="quarter" idx="12"/>
          </p:nvPr>
        </p:nvSpPr>
        <p:spPr/>
        <p:txBody>
          <a:bodyPr/>
          <a:lstStyle/>
          <a:p>
            <a:fld id="{8BC20E8C-49DD-4B7D-873A-D5E6CEA8A87A}" type="slidenum">
              <a:rPr lang="zh-TW" altLang="en-US" smtClean="0"/>
              <a:t>‹#›</a:t>
            </a:fld>
            <a:endParaRPr lang="zh-TW" altLang="en-US"/>
          </a:p>
        </p:txBody>
      </p:sp>
    </p:spTree>
    <p:extLst>
      <p:ext uri="{BB962C8B-B14F-4D97-AF65-F5344CB8AC3E}">
        <p14:creationId xmlns:p14="http://schemas.microsoft.com/office/powerpoint/2010/main" val="766878706"/>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
        <p:nvSpPr>
          <p:cNvPr id="2" name="日期版面配置區 1"/>
          <p:cNvSpPr>
            <a:spLocks noGrp="1"/>
          </p:cNvSpPr>
          <p:nvPr>
            <p:ph type="dt" sz="half" idx="10"/>
          </p:nvPr>
        </p:nvSpPr>
        <p:spPr/>
        <p:txBody>
          <a:bodyPr/>
          <a:lstStyle/>
          <a:p>
            <a:fld id="{58B7DCA4-AFC9-4C8B-B729-7731EDE141C4}" type="datetimeFigureOut">
              <a:rPr lang="zh-TW" altLang="en-US" smtClean="0"/>
              <a:t>2011/12/19</a:t>
            </a:fld>
            <a:endParaRPr lang="zh-TW" altLang="en-US"/>
          </a:p>
        </p:txBody>
      </p:sp>
      <p:sp>
        <p:nvSpPr>
          <p:cNvPr id="3" name="頁尾版面配置區 2"/>
          <p:cNvSpPr>
            <a:spLocks noGrp="1"/>
          </p:cNvSpPr>
          <p:nvPr>
            <p:ph type="ftr" sz="quarter" idx="11"/>
          </p:nvPr>
        </p:nvSpPr>
        <p:spPr/>
        <p:txBody>
          <a:bodyPr/>
          <a:lstStyle/>
          <a:p>
            <a:endParaRPr lang="zh-TW" altLang="en-US"/>
          </a:p>
        </p:txBody>
      </p:sp>
      <p:sp>
        <p:nvSpPr>
          <p:cNvPr id="4" name="投影片編號版面配置區 3"/>
          <p:cNvSpPr>
            <a:spLocks noGrp="1"/>
          </p:cNvSpPr>
          <p:nvPr>
            <p:ph type="sldNum" sz="quarter" idx="12"/>
          </p:nvPr>
        </p:nvSpPr>
        <p:spPr/>
        <p:txBody>
          <a:bodyPr/>
          <a:lstStyle/>
          <a:p>
            <a:fld id="{8BC20E8C-49DD-4B7D-873A-D5E6CEA8A87A}" type="slidenum">
              <a:rPr lang="zh-TW" altLang="en-US" smtClean="0"/>
              <a:t>‹#›</a:t>
            </a:fld>
            <a:endParaRPr lang="zh-TW" altLang="en-US"/>
          </a:p>
        </p:txBody>
      </p:sp>
    </p:spTree>
    <p:extLst>
      <p:ext uri="{BB962C8B-B14F-4D97-AF65-F5344CB8AC3E}">
        <p14:creationId xmlns:p14="http://schemas.microsoft.com/office/powerpoint/2010/main" val="268020736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含標題的內容">
    <p:spTree>
      <p:nvGrpSpPr>
        <p:cNvPr id="1" name=""/>
        <p:cNvGrpSpPr/>
        <p:nvPr/>
      </p:nvGrpSpPr>
      <p:grpSpPr>
        <a:xfrm>
          <a:off x="0" y="0"/>
          <a:ext cx="0" cy="0"/>
          <a:chOff x="0" y="0"/>
          <a:chExt cx="0" cy="0"/>
        </a:xfrm>
      </p:grpSpPr>
      <p:sp>
        <p:nvSpPr>
          <p:cNvPr id="2" name="標題 1"/>
          <p:cNvSpPr>
            <a:spLocks noGrp="1"/>
          </p:cNvSpPr>
          <p:nvPr>
            <p:ph type="title"/>
          </p:nvPr>
        </p:nvSpPr>
        <p:spPr>
          <a:xfrm>
            <a:off x="457200" y="273050"/>
            <a:ext cx="3008313" cy="1162050"/>
          </a:xfrm>
        </p:spPr>
        <p:txBody>
          <a:bodyPr anchor="b"/>
          <a:lstStyle>
            <a:lvl1pPr algn="l">
              <a:defRPr sz="2000" b="1"/>
            </a:lvl1pPr>
          </a:lstStyle>
          <a:p>
            <a:r>
              <a:rPr lang="zh-TW" altLang="en-US" smtClean="0"/>
              <a:t>按一下以編輯母片標題樣式</a:t>
            </a:r>
            <a:endParaRPr lang="zh-TW" altLang="en-US"/>
          </a:p>
        </p:txBody>
      </p:sp>
      <p:sp>
        <p:nvSpPr>
          <p:cNvPr id="3" name="內容版面配置區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zh-TW" altLang="en-US" smtClean="0"/>
              <a:t>按一下以編輯母片文字樣式</a:t>
            </a:r>
          </a:p>
          <a:p>
            <a:pPr lvl="1"/>
            <a:r>
              <a:rPr lang="zh-TW" altLang="en-US" smtClean="0"/>
              <a:t>第二層</a:t>
            </a:r>
          </a:p>
          <a:p>
            <a:pPr lvl="2"/>
            <a:r>
              <a:rPr lang="zh-TW" altLang="en-US" smtClean="0"/>
              <a:t>第三層</a:t>
            </a:r>
          </a:p>
          <a:p>
            <a:pPr lvl="3"/>
            <a:r>
              <a:rPr lang="zh-TW" altLang="en-US" smtClean="0"/>
              <a:t>第四層</a:t>
            </a:r>
          </a:p>
          <a:p>
            <a:pPr lvl="4"/>
            <a:r>
              <a:rPr lang="zh-TW" altLang="en-US" smtClean="0"/>
              <a:t>第五層</a:t>
            </a:r>
            <a:endParaRPr lang="zh-TW" altLang="en-US"/>
          </a:p>
        </p:txBody>
      </p:sp>
      <p:sp>
        <p:nvSpPr>
          <p:cNvPr id="4" name="文字版面配置區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zh-TW" altLang="en-US" smtClean="0"/>
              <a:t>按一下以編輯母片文字樣式</a:t>
            </a:r>
          </a:p>
        </p:txBody>
      </p:sp>
      <p:sp>
        <p:nvSpPr>
          <p:cNvPr id="5" name="日期版面配置區 4"/>
          <p:cNvSpPr>
            <a:spLocks noGrp="1"/>
          </p:cNvSpPr>
          <p:nvPr>
            <p:ph type="dt" sz="half" idx="10"/>
          </p:nvPr>
        </p:nvSpPr>
        <p:spPr/>
        <p:txBody>
          <a:bodyPr/>
          <a:lstStyle/>
          <a:p>
            <a:fld id="{58B7DCA4-AFC9-4C8B-B729-7731EDE141C4}" type="datetimeFigureOut">
              <a:rPr lang="zh-TW" altLang="en-US" smtClean="0"/>
              <a:t>2011/12/19</a:t>
            </a:fld>
            <a:endParaRPr lang="zh-TW" altLang="en-US"/>
          </a:p>
        </p:txBody>
      </p:sp>
      <p:sp>
        <p:nvSpPr>
          <p:cNvPr id="6" name="頁尾版面配置區 5"/>
          <p:cNvSpPr>
            <a:spLocks noGrp="1"/>
          </p:cNvSpPr>
          <p:nvPr>
            <p:ph type="ftr" sz="quarter" idx="11"/>
          </p:nvPr>
        </p:nvSpPr>
        <p:spPr/>
        <p:txBody>
          <a:bodyPr/>
          <a:lstStyle/>
          <a:p>
            <a:endParaRPr lang="zh-TW" altLang="en-US"/>
          </a:p>
        </p:txBody>
      </p:sp>
      <p:sp>
        <p:nvSpPr>
          <p:cNvPr id="7" name="投影片編號版面配置區 6"/>
          <p:cNvSpPr>
            <a:spLocks noGrp="1"/>
          </p:cNvSpPr>
          <p:nvPr>
            <p:ph type="sldNum" sz="quarter" idx="12"/>
          </p:nvPr>
        </p:nvSpPr>
        <p:spPr/>
        <p:txBody>
          <a:bodyPr/>
          <a:lstStyle/>
          <a:p>
            <a:fld id="{8BC20E8C-49DD-4B7D-873A-D5E6CEA8A87A}" type="slidenum">
              <a:rPr lang="zh-TW" altLang="en-US" smtClean="0"/>
              <a:t>‹#›</a:t>
            </a:fld>
            <a:endParaRPr lang="zh-TW" altLang="en-US"/>
          </a:p>
        </p:txBody>
      </p:sp>
    </p:spTree>
    <p:extLst>
      <p:ext uri="{BB962C8B-B14F-4D97-AF65-F5344CB8AC3E}">
        <p14:creationId xmlns:p14="http://schemas.microsoft.com/office/powerpoint/2010/main" val="1029862772"/>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含標題的圖片">
    <p:spTree>
      <p:nvGrpSpPr>
        <p:cNvPr id="1" name=""/>
        <p:cNvGrpSpPr/>
        <p:nvPr/>
      </p:nvGrpSpPr>
      <p:grpSpPr>
        <a:xfrm>
          <a:off x="0" y="0"/>
          <a:ext cx="0" cy="0"/>
          <a:chOff x="0" y="0"/>
          <a:chExt cx="0" cy="0"/>
        </a:xfrm>
      </p:grpSpPr>
      <p:sp>
        <p:nvSpPr>
          <p:cNvPr id="2" name="標題 1"/>
          <p:cNvSpPr>
            <a:spLocks noGrp="1"/>
          </p:cNvSpPr>
          <p:nvPr>
            <p:ph type="title"/>
          </p:nvPr>
        </p:nvSpPr>
        <p:spPr>
          <a:xfrm>
            <a:off x="1792288" y="4800600"/>
            <a:ext cx="5486400" cy="566738"/>
          </a:xfrm>
        </p:spPr>
        <p:txBody>
          <a:bodyPr anchor="b"/>
          <a:lstStyle>
            <a:lvl1pPr algn="l">
              <a:defRPr sz="2000" b="1"/>
            </a:lvl1pPr>
          </a:lstStyle>
          <a:p>
            <a:r>
              <a:rPr lang="zh-TW" altLang="en-US" smtClean="0"/>
              <a:t>按一下以編輯母片標題樣式</a:t>
            </a:r>
            <a:endParaRPr lang="zh-TW" altLang="en-US"/>
          </a:p>
        </p:txBody>
      </p:sp>
      <p:sp>
        <p:nvSpPr>
          <p:cNvPr id="3" name="圖片版面配置區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zh-TW" altLang="en-US"/>
          </a:p>
        </p:txBody>
      </p:sp>
      <p:sp>
        <p:nvSpPr>
          <p:cNvPr id="4" name="文字版面配置區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zh-TW" altLang="en-US" smtClean="0"/>
              <a:t>按一下以編輯母片文字樣式</a:t>
            </a:r>
          </a:p>
        </p:txBody>
      </p:sp>
      <p:sp>
        <p:nvSpPr>
          <p:cNvPr id="5" name="日期版面配置區 4"/>
          <p:cNvSpPr>
            <a:spLocks noGrp="1"/>
          </p:cNvSpPr>
          <p:nvPr>
            <p:ph type="dt" sz="half" idx="10"/>
          </p:nvPr>
        </p:nvSpPr>
        <p:spPr/>
        <p:txBody>
          <a:bodyPr/>
          <a:lstStyle/>
          <a:p>
            <a:fld id="{58B7DCA4-AFC9-4C8B-B729-7731EDE141C4}" type="datetimeFigureOut">
              <a:rPr lang="zh-TW" altLang="en-US" smtClean="0"/>
              <a:t>2011/12/19</a:t>
            </a:fld>
            <a:endParaRPr lang="zh-TW" altLang="en-US"/>
          </a:p>
        </p:txBody>
      </p:sp>
      <p:sp>
        <p:nvSpPr>
          <p:cNvPr id="6" name="頁尾版面配置區 5"/>
          <p:cNvSpPr>
            <a:spLocks noGrp="1"/>
          </p:cNvSpPr>
          <p:nvPr>
            <p:ph type="ftr" sz="quarter" idx="11"/>
          </p:nvPr>
        </p:nvSpPr>
        <p:spPr/>
        <p:txBody>
          <a:bodyPr/>
          <a:lstStyle/>
          <a:p>
            <a:endParaRPr lang="zh-TW" altLang="en-US"/>
          </a:p>
        </p:txBody>
      </p:sp>
      <p:sp>
        <p:nvSpPr>
          <p:cNvPr id="7" name="投影片編號版面配置區 6"/>
          <p:cNvSpPr>
            <a:spLocks noGrp="1"/>
          </p:cNvSpPr>
          <p:nvPr>
            <p:ph type="sldNum" sz="quarter" idx="12"/>
          </p:nvPr>
        </p:nvSpPr>
        <p:spPr/>
        <p:txBody>
          <a:bodyPr/>
          <a:lstStyle/>
          <a:p>
            <a:fld id="{8BC20E8C-49DD-4B7D-873A-D5E6CEA8A87A}" type="slidenum">
              <a:rPr lang="zh-TW" altLang="en-US" smtClean="0"/>
              <a:t>‹#›</a:t>
            </a:fld>
            <a:endParaRPr lang="zh-TW" altLang="en-US"/>
          </a:p>
        </p:txBody>
      </p:sp>
    </p:spTree>
    <p:extLst>
      <p:ext uri="{BB962C8B-B14F-4D97-AF65-F5344CB8AC3E}">
        <p14:creationId xmlns:p14="http://schemas.microsoft.com/office/powerpoint/2010/main" val="1833195978"/>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標題及直排文字">
    <p:spTree>
      <p:nvGrpSpPr>
        <p:cNvPr id="1" name=""/>
        <p:cNvGrpSpPr/>
        <p:nvPr/>
      </p:nvGrpSpPr>
      <p:grpSpPr>
        <a:xfrm>
          <a:off x="0" y="0"/>
          <a:ext cx="0" cy="0"/>
          <a:chOff x="0" y="0"/>
          <a:chExt cx="0" cy="0"/>
        </a:xfrm>
      </p:grpSpPr>
      <p:sp>
        <p:nvSpPr>
          <p:cNvPr id="2" name="標題 1"/>
          <p:cNvSpPr>
            <a:spLocks noGrp="1"/>
          </p:cNvSpPr>
          <p:nvPr>
            <p:ph type="title"/>
          </p:nvPr>
        </p:nvSpPr>
        <p:spPr/>
        <p:txBody>
          <a:bodyPr/>
          <a:lstStyle/>
          <a:p>
            <a:r>
              <a:rPr lang="zh-TW" altLang="en-US" smtClean="0"/>
              <a:t>按一下以編輯母片標題樣式</a:t>
            </a:r>
            <a:endParaRPr lang="zh-TW" altLang="en-US"/>
          </a:p>
        </p:txBody>
      </p:sp>
      <p:sp>
        <p:nvSpPr>
          <p:cNvPr id="3" name="直排文字版面配置區 2"/>
          <p:cNvSpPr>
            <a:spLocks noGrp="1"/>
          </p:cNvSpPr>
          <p:nvPr>
            <p:ph type="body" orient="vert" idx="1"/>
          </p:nvPr>
        </p:nvSpPr>
        <p:spPr/>
        <p:txBody>
          <a:bodyPr vert="eaVert"/>
          <a:lstStyle/>
          <a:p>
            <a:pPr lvl="0"/>
            <a:r>
              <a:rPr lang="zh-TW" altLang="en-US" smtClean="0"/>
              <a:t>按一下以編輯母片文字樣式</a:t>
            </a:r>
          </a:p>
          <a:p>
            <a:pPr lvl="1"/>
            <a:r>
              <a:rPr lang="zh-TW" altLang="en-US" smtClean="0"/>
              <a:t>第二層</a:t>
            </a:r>
          </a:p>
          <a:p>
            <a:pPr lvl="2"/>
            <a:r>
              <a:rPr lang="zh-TW" altLang="en-US" smtClean="0"/>
              <a:t>第三層</a:t>
            </a:r>
          </a:p>
          <a:p>
            <a:pPr lvl="3"/>
            <a:r>
              <a:rPr lang="zh-TW" altLang="en-US" smtClean="0"/>
              <a:t>第四層</a:t>
            </a:r>
          </a:p>
          <a:p>
            <a:pPr lvl="4"/>
            <a:r>
              <a:rPr lang="zh-TW" altLang="en-US" smtClean="0"/>
              <a:t>第五層</a:t>
            </a:r>
            <a:endParaRPr lang="zh-TW" altLang="en-US"/>
          </a:p>
        </p:txBody>
      </p:sp>
      <p:sp>
        <p:nvSpPr>
          <p:cNvPr id="4" name="日期版面配置區 3"/>
          <p:cNvSpPr>
            <a:spLocks noGrp="1"/>
          </p:cNvSpPr>
          <p:nvPr>
            <p:ph type="dt" sz="half" idx="10"/>
          </p:nvPr>
        </p:nvSpPr>
        <p:spPr/>
        <p:txBody>
          <a:bodyPr/>
          <a:lstStyle/>
          <a:p>
            <a:fld id="{58B7DCA4-AFC9-4C8B-B729-7731EDE141C4}" type="datetimeFigureOut">
              <a:rPr lang="zh-TW" altLang="en-US" smtClean="0"/>
              <a:t>2011/12/19</a:t>
            </a:fld>
            <a:endParaRPr lang="zh-TW" altLang="en-US"/>
          </a:p>
        </p:txBody>
      </p:sp>
      <p:sp>
        <p:nvSpPr>
          <p:cNvPr id="5" name="頁尾版面配置區 4"/>
          <p:cNvSpPr>
            <a:spLocks noGrp="1"/>
          </p:cNvSpPr>
          <p:nvPr>
            <p:ph type="ftr" sz="quarter" idx="11"/>
          </p:nvPr>
        </p:nvSpPr>
        <p:spPr/>
        <p:txBody>
          <a:bodyPr/>
          <a:lstStyle/>
          <a:p>
            <a:endParaRPr lang="zh-TW" altLang="en-US"/>
          </a:p>
        </p:txBody>
      </p:sp>
      <p:sp>
        <p:nvSpPr>
          <p:cNvPr id="6" name="投影片編號版面配置區 5"/>
          <p:cNvSpPr>
            <a:spLocks noGrp="1"/>
          </p:cNvSpPr>
          <p:nvPr>
            <p:ph type="sldNum" sz="quarter" idx="12"/>
          </p:nvPr>
        </p:nvSpPr>
        <p:spPr/>
        <p:txBody>
          <a:bodyPr/>
          <a:lstStyle/>
          <a:p>
            <a:fld id="{8BC20E8C-49DD-4B7D-873A-D5E6CEA8A87A}" type="slidenum">
              <a:rPr lang="zh-TW" altLang="en-US" smtClean="0"/>
              <a:t>‹#›</a:t>
            </a:fld>
            <a:endParaRPr lang="zh-TW" altLang="en-US"/>
          </a:p>
        </p:txBody>
      </p:sp>
    </p:spTree>
    <p:extLst>
      <p:ext uri="{BB962C8B-B14F-4D97-AF65-F5344CB8AC3E}">
        <p14:creationId xmlns:p14="http://schemas.microsoft.com/office/powerpoint/2010/main" val="3531632782"/>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直排標題及文字">
    <p:spTree>
      <p:nvGrpSpPr>
        <p:cNvPr id="1" name=""/>
        <p:cNvGrpSpPr/>
        <p:nvPr/>
      </p:nvGrpSpPr>
      <p:grpSpPr>
        <a:xfrm>
          <a:off x="0" y="0"/>
          <a:ext cx="0" cy="0"/>
          <a:chOff x="0" y="0"/>
          <a:chExt cx="0" cy="0"/>
        </a:xfrm>
      </p:grpSpPr>
      <p:sp>
        <p:nvSpPr>
          <p:cNvPr id="2" name="直排標題 1"/>
          <p:cNvSpPr>
            <a:spLocks noGrp="1"/>
          </p:cNvSpPr>
          <p:nvPr>
            <p:ph type="title" orient="vert"/>
          </p:nvPr>
        </p:nvSpPr>
        <p:spPr>
          <a:xfrm>
            <a:off x="6629400" y="274638"/>
            <a:ext cx="2057400" cy="5851525"/>
          </a:xfrm>
        </p:spPr>
        <p:txBody>
          <a:bodyPr vert="eaVert"/>
          <a:lstStyle/>
          <a:p>
            <a:r>
              <a:rPr lang="zh-TW" altLang="en-US" smtClean="0"/>
              <a:t>按一下以編輯母片標題樣式</a:t>
            </a:r>
            <a:endParaRPr lang="zh-TW" altLang="en-US"/>
          </a:p>
        </p:txBody>
      </p:sp>
      <p:sp>
        <p:nvSpPr>
          <p:cNvPr id="3" name="直排文字版面配置區 2"/>
          <p:cNvSpPr>
            <a:spLocks noGrp="1"/>
          </p:cNvSpPr>
          <p:nvPr>
            <p:ph type="body" orient="vert" idx="1"/>
          </p:nvPr>
        </p:nvSpPr>
        <p:spPr>
          <a:xfrm>
            <a:off x="457200" y="274638"/>
            <a:ext cx="6019800" cy="5851525"/>
          </a:xfrm>
        </p:spPr>
        <p:txBody>
          <a:bodyPr vert="eaVert"/>
          <a:lstStyle/>
          <a:p>
            <a:pPr lvl="0"/>
            <a:r>
              <a:rPr lang="zh-TW" altLang="en-US" smtClean="0"/>
              <a:t>按一下以編輯母片文字樣式</a:t>
            </a:r>
          </a:p>
          <a:p>
            <a:pPr lvl="1"/>
            <a:r>
              <a:rPr lang="zh-TW" altLang="en-US" smtClean="0"/>
              <a:t>第二層</a:t>
            </a:r>
          </a:p>
          <a:p>
            <a:pPr lvl="2"/>
            <a:r>
              <a:rPr lang="zh-TW" altLang="en-US" smtClean="0"/>
              <a:t>第三層</a:t>
            </a:r>
          </a:p>
          <a:p>
            <a:pPr lvl="3"/>
            <a:r>
              <a:rPr lang="zh-TW" altLang="en-US" smtClean="0"/>
              <a:t>第四層</a:t>
            </a:r>
          </a:p>
          <a:p>
            <a:pPr lvl="4"/>
            <a:r>
              <a:rPr lang="zh-TW" altLang="en-US" smtClean="0"/>
              <a:t>第五層</a:t>
            </a:r>
            <a:endParaRPr lang="zh-TW" altLang="en-US"/>
          </a:p>
        </p:txBody>
      </p:sp>
      <p:sp>
        <p:nvSpPr>
          <p:cNvPr id="4" name="日期版面配置區 3"/>
          <p:cNvSpPr>
            <a:spLocks noGrp="1"/>
          </p:cNvSpPr>
          <p:nvPr>
            <p:ph type="dt" sz="half" idx="10"/>
          </p:nvPr>
        </p:nvSpPr>
        <p:spPr/>
        <p:txBody>
          <a:bodyPr/>
          <a:lstStyle/>
          <a:p>
            <a:fld id="{58B7DCA4-AFC9-4C8B-B729-7731EDE141C4}" type="datetimeFigureOut">
              <a:rPr lang="zh-TW" altLang="en-US" smtClean="0"/>
              <a:t>2011/12/19</a:t>
            </a:fld>
            <a:endParaRPr lang="zh-TW" altLang="en-US"/>
          </a:p>
        </p:txBody>
      </p:sp>
      <p:sp>
        <p:nvSpPr>
          <p:cNvPr id="5" name="頁尾版面配置區 4"/>
          <p:cNvSpPr>
            <a:spLocks noGrp="1"/>
          </p:cNvSpPr>
          <p:nvPr>
            <p:ph type="ftr" sz="quarter" idx="11"/>
          </p:nvPr>
        </p:nvSpPr>
        <p:spPr/>
        <p:txBody>
          <a:bodyPr/>
          <a:lstStyle/>
          <a:p>
            <a:endParaRPr lang="zh-TW" altLang="en-US"/>
          </a:p>
        </p:txBody>
      </p:sp>
      <p:sp>
        <p:nvSpPr>
          <p:cNvPr id="6" name="投影片編號版面配置區 5"/>
          <p:cNvSpPr>
            <a:spLocks noGrp="1"/>
          </p:cNvSpPr>
          <p:nvPr>
            <p:ph type="sldNum" sz="quarter" idx="12"/>
          </p:nvPr>
        </p:nvSpPr>
        <p:spPr/>
        <p:txBody>
          <a:bodyPr/>
          <a:lstStyle/>
          <a:p>
            <a:fld id="{8BC20E8C-49DD-4B7D-873A-D5E6CEA8A87A}" type="slidenum">
              <a:rPr lang="zh-TW" altLang="en-US" smtClean="0"/>
              <a:t>‹#›</a:t>
            </a:fld>
            <a:endParaRPr lang="zh-TW" altLang="en-US"/>
          </a:p>
        </p:txBody>
      </p:sp>
    </p:spTree>
    <p:extLst>
      <p:ext uri="{BB962C8B-B14F-4D97-AF65-F5344CB8AC3E}">
        <p14:creationId xmlns:p14="http://schemas.microsoft.com/office/powerpoint/2010/main" val="3405145677"/>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標題版面配置區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zh-TW" altLang="en-US" smtClean="0"/>
              <a:t>按一下以編輯母片標題樣式</a:t>
            </a:r>
            <a:endParaRPr lang="zh-TW" altLang="en-US"/>
          </a:p>
        </p:txBody>
      </p:sp>
      <p:sp>
        <p:nvSpPr>
          <p:cNvPr id="3" name="文字版面配置區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zh-TW" altLang="en-US" smtClean="0"/>
              <a:t>按一下以編輯母片文字樣式</a:t>
            </a:r>
          </a:p>
          <a:p>
            <a:pPr lvl="1"/>
            <a:r>
              <a:rPr lang="zh-TW" altLang="en-US" smtClean="0"/>
              <a:t>第二層</a:t>
            </a:r>
          </a:p>
          <a:p>
            <a:pPr lvl="2"/>
            <a:r>
              <a:rPr lang="zh-TW" altLang="en-US" smtClean="0"/>
              <a:t>第三層</a:t>
            </a:r>
          </a:p>
          <a:p>
            <a:pPr lvl="3"/>
            <a:r>
              <a:rPr lang="zh-TW" altLang="en-US" smtClean="0"/>
              <a:t>第四層</a:t>
            </a:r>
          </a:p>
          <a:p>
            <a:pPr lvl="4"/>
            <a:r>
              <a:rPr lang="zh-TW" altLang="en-US" smtClean="0"/>
              <a:t>第五層</a:t>
            </a:r>
            <a:endParaRPr lang="zh-TW" altLang="en-US"/>
          </a:p>
        </p:txBody>
      </p:sp>
      <p:sp>
        <p:nvSpPr>
          <p:cNvPr id="4" name="日期版面配置區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8B7DCA4-AFC9-4C8B-B729-7731EDE141C4}" type="datetimeFigureOut">
              <a:rPr lang="zh-TW" altLang="en-US" smtClean="0"/>
              <a:t>2011/12/19</a:t>
            </a:fld>
            <a:endParaRPr lang="zh-TW" altLang="en-US"/>
          </a:p>
        </p:txBody>
      </p:sp>
      <p:sp>
        <p:nvSpPr>
          <p:cNvPr id="5" name="頁尾版面配置區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zh-TW" altLang="en-US"/>
          </a:p>
        </p:txBody>
      </p:sp>
      <p:sp>
        <p:nvSpPr>
          <p:cNvPr id="6" name="投影片編號版面配置區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8BC20E8C-49DD-4B7D-873A-D5E6CEA8A87A}" type="slidenum">
              <a:rPr lang="zh-TW" altLang="en-US" smtClean="0"/>
              <a:t>‹#›</a:t>
            </a:fld>
            <a:endParaRPr lang="zh-TW" altLang="en-US"/>
          </a:p>
        </p:txBody>
      </p:sp>
    </p:spTree>
    <p:extLst>
      <p:ext uri="{BB962C8B-B14F-4D97-AF65-F5344CB8AC3E}">
        <p14:creationId xmlns:p14="http://schemas.microsoft.com/office/powerpoint/2010/main" val="275709395"/>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zh-TW"/>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8" Type="http://schemas.openxmlformats.org/officeDocument/2006/relationships/image" Target="../media/image8.png"/><Relationship Id="rId3" Type="http://schemas.openxmlformats.org/officeDocument/2006/relationships/image" Target="../media/image3.png"/><Relationship Id="rId7" Type="http://schemas.openxmlformats.org/officeDocument/2006/relationships/image" Target="../media/image7.png"/><Relationship Id="rId2" Type="http://schemas.openxmlformats.org/officeDocument/2006/relationships/image" Target="../media/image2.png"/><Relationship Id="rId1" Type="http://schemas.openxmlformats.org/officeDocument/2006/relationships/slideLayout" Target="../slideLayouts/slideLayout2.xml"/><Relationship Id="rId6" Type="http://schemas.openxmlformats.org/officeDocument/2006/relationships/image" Target="../media/image6.png"/><Relationship Id="rId5" Type="http://schemas.openxmlformats.org/officeDocument/2006/relationships/image" Target="../media/image5.png"/><Relationship Id="rId4" Type="http://schemas.openxmlformats.org/officeDocument/2006/relationships/image" Target="../media/image4.png"/><Relationship Id="rId9" Type="http://schemas.openxmlformats.org/officeDocument/2006/relationships/image" Target="../media/image9.png"/></Relationships>
</file>

<file path=ppt/slides/_rels/slide6.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image" Target="../media/image10.png"/><Relationship Id="rId1" Type="http://schemas.openxmlformats.org/officeDocument/2006/relationships/slideLayout" Target="../slideLayouts/slideLayout2.xml"/><Relationship Id="rId4" Type="http://schemas.openxmlformats.org/officeDocument/2006/relationships/image" Target="../media/image12.png"/></Relationships>
</file>

<file path=ppt/slides/_rels/slide7.xml.rels><?xml version="1.0" encoding="UTF-8" standalone="yes"?>
<Relationships xmlns="http://schemas.openxmlformats.org/package/2006/relationships"><Relationship Id="rId3" Type="http://schemas.openxmlformats.org/officeDocument/2006/relationships/image" Target="../media/image14.png"/><Relationship Id="rId2" Type="http://schemas.openxmlformats.org/officeDocument/2006/relationships/image" Target="../media/image13.png"/><Relationship Id="rId1" Type="http://schemas.openxmlformats.org/officeDocument/2006/relationships/slideLayout" Target="../slideLayouts/slideLayout2.xml"/><Relationship Id="rId4" Type="http://schemas.openxmlformats.org/officeDocument/2006/relationships/image" Target="../media/image15.png"/></Relationships>
</file>

<file path=ppt/slides/_rels/slide8.xml.rels><?xml version="1.0" encoding="UTF-8" standalone="yes"?>
<Relationships xmlns="http://schemas.openxmlformats.org/package/2006/relationships"><Relationship Id="rId3" Type="http://schemas.openxmlformats.org/officeDocument/2006/relationships/image" Target="../media/image17.png"/><Relationship Id="rId2" Type="http://schemas.openxmlformats.org/officeDocument/2006/relationships/image" Target="../media/image16.png"/><Relationship Id="rId1" Type="http://schemas.openxmlformats.org/officeDocument/2006/relationships/slideLayout" Target="../slideLayouts/slideLayout2.xml"/><Relationship Id="rId5" Type="http://schemas.openxmlformats.org/officeDocument/2006/relationships/image" Target="../media/image19.png"/><Relationship Id="rId4" Type="http://schemas.openxmlformats.org/officeDocument/2006/relationships/image" Target="../media/image18.png"/></Relationships>
</file>

<file path=ppt/slides/_rels/slide9.xml.rels><?xml version="1.0" encoding="UTF-8" standalone="yes"?>
<Relationships xmlns="http://schemas.openxmlformats.org/package/2006/relationships"><Relationship Id="rId3" Type="http://schemas.openxmlformats.org/officeDocument/2006/relationships/image" Target="../media/image21.png"/><Relationship Id="rId7" Type="http://schemas.openxmlformats.org/officeDocument/2006/relationships/image" Target="../media/image25.png"/><Relationship Id="rId2" Type="http://schemas.openxmlformats.org/officeDocument/2006/relationships/image" Target="../media/image20.png"/><Relationship Id="rId1" Type="http://schemas.openxmlformats.org/officeDocument/2006/relationships/slideLayout" Target="../slideLayouts/slideLayout2.xml"/><Relationship Id="rId6" Type="http://schemas.openxmlformats.org/officeDocument/2006/relationships/image" Target="../media/image24.png"/><Relationship Id="rId5" Type="http://schemas.openxmlformats.org/officeDocument/2006/relationships/image" Target="../media/image23.png"/><Relationship Id="rId4" Type="http://schemas.openxmlformats.org/officeDocument/2006/relationships/image" Target="../media/image22.png"/></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3" Type="http://schemas.openxmlformats.org/officeDocument/2006/relationships/image" Target="../media/image27.png"/><Relationship Id="rId2" Type="http://schemas.openxmlformats.org/officeDocument/2006/relationships/image" Target="../media/image26.png"/><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3" Type="http://schemas.openxmlformats.org/officeDocument/2006/relationships/image" Target="../media/image29.png"/><Relationship Id="rId2" Type="http://schemas.openxmlformats.org/officeDocument/2006/relationships/image" Target="../media/image28.png"/><Relationship Id="rId1" Type="http://schemas.openxmlformats.org/officeDocument/2006/relationships/slideLayout" Target="../slideLayouts/slideLayout2.xml"/><Relationship Id="rId4" Type="http://schemas.openxmlformats.org/officeDocument/2006/relationships/image" Target="../media/image30.png"/></Relationships>
</file>

<file path=ppt/slides/_rels/slide13.xml.rels><?xml version="1.0" encoding="UTF-8" standalone="yes"?>
<Relationships xmlns="http://schemas.openxmlformats.org/package/2006/relationships"><Relationship Id="rId2" Type="http://schemas.openxmlformats.org/officeDocument/2006/relationships/image" Target="../media/image31.png"/><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2" Type="http://schemas.openxmlformats.org/officeDocument/2006/relationships/image" Target="../media/image32.png"/><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2" Type="http://schemas.openxmlformats.org/officeDocument/2006/relationships/image" Target="../media/image33.png"/><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2" Type="http://schemas.openxmlformats.org/officeDocument/2006/relationships/image" Target="../media/image34.png"/><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2" Type="http://schemas.openxmlformats.org/officeDocument/2006/relationships/image" Target="../media/image35.png"/><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2" Type="http://schemas.openxmlformats.org/officeDocument/2006/relationships/image" Target="../media/image36.png"/><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2" Type="http://schemas.openxmlformats.org/officeDocument/2006/relationships/image" Target="../media/image37.png"/><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2" Type="http://schemas.openxmlformats.org/officeDocument/2006/relationships/image" Target="../media/image38.png"/><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2" Type="http://schemas.openxmlformats.org/officeDocument/2006/relationships/image" Target="../media/image39.png"/><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2" Type="http://schemas.openxmlformats.org/officeDocument/2006/relationships/image" Target="../media/image40.png"/><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p:cNvSpPr>
            <a:spLocks noGrp="1"/>
          </p:cNvSpPr>
          <p:nvPr>
            <p:ph type="ctrTitle"/>
          </p:nvPr>
        </p:nvSpPr>
        <p:spPr/>
        <p:txBody>
          <a:bodyPr>
            <a:normAutofit fontScale="90000"/>
          </a:bodyPr>
          <a:lstStyle/>
          <a:p>
            <a:r>
              <a:rPr lang="en-US" altLang="zh-TW" dirty="0"/>
              <a:t>Stock time series pattern matching:</a:t>
            </a:r>
            <a:br>
              <a:rPr lang="en-US" altLang="zh-TW" dirty="0"/>
            </a:br>
            <a:r>
              <a:rPr lang="en-US" altLang="zh-TW" dirty="0"/>
              <a:t>Template-based vs. rule-based approaches</a:t>
            </a:r>
            <a:endParaRPr lang="zh-TW" altLang="en-US" dirty="0"/>
          </a:p>
        </p:txBody>
      </p:sp>
      <p:sp>
        <p:nvSpPr>
          <p:cNvPr id="3" name="副標題 2"/>
          <p:cNvSpPr>
            <a:spLocks noGrp="1"/>
          </p:cNvSpPr>
          <p:nvPr>
            <p:ph type="subTitle" idx="1"/>
          </p:nvPr>
        </p:nvSpPr>
        <p:spPr>
          <a:xfrm>
            <a:off x="395536" y="4052664"/>
            <a:ext cx="8136904" cy="1752600"/>
          </a:xfrm>
        </p:spPr>
        <p:txBody>
          <a:bodyPr>
            <a:normAutofit fontScale="70000" lnSpcReduction="20000"/>
          </a:bodyPr>
          <a:lstStyle/>
          <a:p>
            <a:pPr algn="r"/>
            <a:r>
              <a:rPr lang="en-US" altLang="zh-TW" dirty="0" err="1"/>
              <a:t>Tak-chung</a:t>
            </a:r>
            <a:r>
              <a:rPr lang="en-US" altLang="zh-TW" dirty="0"/>
              <a:t> </a:t>
            </a:r>
            <a:r>
              <a:rPr lang="en-US" altLang="zh-TW" dirty="0" smtClean="0"/>
              <a:t>Fu, </a:t>
            </a:r>
            <a:r>
              <a:rPr lang="en-US" altLang="zh-TW" dirty="0"/>
              <a:t>Fu-</a:t>
            </a:r>
            <a:r>
              <a:rPr lang="en-US" altLang="zh-TW" dirty="0" err="1"/>
              <a:t>lai</a:t>
            </a:r>
            <a:r>
              <a:rPr lang="en-US" altLang="zh-TW" dirty="0"/>
              <a:t> </a:t>
            </a:r>
            <a:r>
              <a:rPr lang="en-US" altLang="zh-TW" dirty="0" smtClean="0"/>
              <a:t>Chung, </a:t>
            </a:r>
            <a:r>
              <a:rPr lang="en-US" altLang="zh-TW" dirty="0"/>
              <a:t>Robert </a:t>
            </a:r>
            <a:r>
              <a:rPr lang="en-US" altLang="zh-TW" dirty="0" err="1" smtClean="0"/>
              <a:t>Luk</a:t>
            </a:r>
            <a:r>
              <a:rPr lang="en-US" altLang="zh-TW" dirty="0" smtClean="0"/>
              <a:t>, </a:t>
            </a:r>
            <a:r>
              <a:rPr lang="en-US" altLang="zh-TW" dirty="0" err="1"/>
              <a:t>Chak</a:t>
            </a:r>
            <a:r>
              <a:rPr lang="en-US" altLang="zh-TW" dirty="0"/>
              <a:t>-man </a:t>
            </a:r>
            <a:r>
              <a:rPr lang="en-US" altLang="zh-TW" dirty="0" smtClean="0"/>
              <a:t>Ng</a:t>
            </a:r>
          </a:p>
          <a:p>
            <a:pPr algn="r"/>
            <a:r>
              <a:rPr lang="en-US" altLang="zh-TW" dirty="0"/>
              <a:t>Engineering Applications of Artificial Intelligence 20 (2007) </a:t>
            </a:r>
            <a:r>
              <a:rPr lang="en-US" altLang="zh-TW" dirty="0" smtClean="0"/>
              <a:t>347–364</a:t>
            </a:r>
          </a:p>
          <a:p>
            <a:pPr algn="r"/>
            <a:r>
              <a:rPr lang="en-US" altLang="zh-TW" dirty="0" smtClean="0"/>
              <a:t>Presenter : Chang-</a:t>
            </a:r>
            <a:r>
              <a:rPr lang="en-US" altLang="zh-TW" dirty="0" err="1" smtClean="0"/>
              <a:t>Hao</a:t>
            </a:r>
            <a:r>
              <a:rPr lang="en-US" altLang="zh-TW" dirty="0" smtClean="0"/>
              <a:t> Huang</a:t>
            </a:r>
          </a:p>
          <a:p>
            <a:pPr algn="r"/>
            <a:r>
              <a:rPr lang="en-US" altLang="zh-TW" dirty="0" smtClean="0"/>
              <a:t>Date : Dec. 19, 2011</a:t>
            </a:r>
            <a:endParaRPr lang="zh-TW" altLang="en-US" dirty="0" smtClean="0"/>
          </a:p>
          <a:p>
            <a:pPr algn="r"/>
            <a:endParaRPr lang="zh-TW" altLang="en-US" dirty="0"/>
          </a:p>
        </p:txBody>
      </p:sp>
    </p:spTree>
    <p:extLst>
      <p:ext uri="{BB962C8B-B14F-4D97-AF65-F5344CB8AC3E}">
        <p14:creationId xmlns:p14="http://schemas.microsoft.com/office/powerpoint/2010/main" val="2098336583"/>
      </p:ext>
    </p:extLst>
  </p:cSld>
  <p:clrMapOvr>
    <a:masterClrMapping/>
  </p:clrMapOvr>
  <p:timing>
    <p:tnLst>
      <p:par>
        <p:cTn id="1" dur="indefinite" restart="never" nodeType="tmRoot"/>
      </p:par>
    </p:tn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p:cNvSpPr>
            <a:spLocks noGrp="1"/>
          </p:cNvSpPr>
          <p:nvPr>
            <p:ph type="title"/>
          </p:nvPr>
        </p:nvSpPr>
        <p:spPr/>
        <p:txBody>
          <a:bodyPr/>
          <a:lstStyle/>
          <a:p>
            <a:r>
              <a:rPr lang="en-US" altLang="zh-TW" dirty="0" smtClean="0"/>
              <a:t>Abstract(1/2)</a:t>
            </a:r>
            <a:endParaRPr lang="zh-TW" altLang="en-US" dirty="0"/>
          </a:p>
        </p:txBody>
      </p:sp>
      <p:sp>
        <p:nvSpPr>
          <p:cNvPr id="3" name="內容版面配置區 2"/>
          <p:cNvSpPr>
            <a:spLocks noGrp="1"/>
          </p:cNvSpPr>
          <p:nvPr>
            <p:ph idx="1"/>
          </p:nvPr>
        </p:nvSpPr>
        <p:spPr>
          <a:xfrm>
            <a:off x="457200" y="1412776"/>
            <a:ext cx="8229600" cy="4525963"/>
          </a:xfrm>
        </p:spPr>
        <p:txBody>
          <a:bodyPr>
            <a:noAutofit/>
          </a:bodyPr>
          <a:lstStyle/>
          <a:p>
            <a:r>
              <a:rPr lang="en-US" altLang="zh-TW" sz="2300" dirty="0"/>
              <a:t>One of the major duties of financial analysts is technical analysis. It is necessary to locate the technical patterns in the stock </a:t>
            </a:r>
            <a:r>
              <a:rPr lang="en-US" altLang="zh-TW" sz="2300" dirty="0" smtClean="0"/>
              <a:t>price movement </a:t>
            </a:r>
            <a:r>
              <a:rPr lang="en-US" altLang="zh-TW" sz="2300" dirty="0"/>
              <a:t>charts to analyze the market behavior. Indeed, there are two main problems: how to define those preferred patterns (</a:t>
            </a:r>
            <a:r>
              <a:rPr lang="en-US" altLang="zh-TW" sz="2300" dirty="0" smtClean="0"/>
              <a:t>technical patterns</a:t>
            </a:r>
            <a:r>
              <a:rPr lang="en-US" altLang="zh-TW" sz="2300" dirty="0"/>
              <a:t>) for query and how to match the defined pattern templates in different resolutions. As we can see, defining the similarity </a:t>
            </a:r>
            <a:r>
              <a:rPr lang="en-US" altLang="zh-TW" sz="2300" dirty="0" smtClean="0"/>
              <a:t>between time </a:t>
            </a:r>
            <a:r>
              <a:rPr lang="en-US" altLang="zh-TW" sz="2300" dirty="0"/>
              <a:t>series (or time series subsequences) is of fundamental importance. By identifying the perceptually important points (PIPs) </a:t>
            </a:r>
            <a:r>
              <a:rPr lang="en-US" altLang="zh-TW" sz="2300" dirty="0" smtClean="0"/>
              <a:t>directly from </a:t>
            </a:r>
            <a:r>
              <a:rPr lang="en-US" altLang="zh-TW" sz="2300" dirty="0"/>
              <a:t>the time domain, time series and templates of different lengths can be compared. Three ways of distance measure, </a:t>
            </a:r>
            <a:r>
              <a:rPr lang="en-US" altLang="zh-TW" sz="2300" dirty="0" smtClean="0"/>
              <a:t>including Euclidean </a:t>
            </a:r>
            <a:r>
              <a:rPr lang="en-US" altLang="zh-TW" sz="2300" dirty="0"/>
              <a:t>distance (PIP-ED), perpendicular distance (PIP-PD) and vertical distance (PIP-VD), for PIP identification are compared </a:t>
            </a:r>
            <a:r>
              <a:rPr lang="en-US" altLang="zh-TW" sz="2300" dirty="0" smtClean="0"/>
              <a:t>in this </a:t>
            </a:r>
            <a:r>
              <a:rPr lang="en-US" altLang="zh-TW" sz="2300" dirty="0"/>
              <a:t>paper. </a:t>
            </a:r>
            <a:endParaRPr lang="zh-TW" altLang="en-US" sz="2300" dirty="0"/>
          </a:p>
        </p:txBody>
      </p:sp>
    </p:spTree>
    <p:extLst>
      <p:ext uri="{BB962C8B-B14F-4D97-AF65-F5344CB8AC3E}">
        <p14:creationId xmlns:p14="http://schemas.microsoft.com/office/powerpoint/2010/main" val="2687703889"/>
      </p:ext>
    </p:extLst>
  </p:cSld>
  <p:clrMapOvr>
    <a:masterClrMapping/>
  </p:clrMapOvr>
  <p:timing>
    <p:tnLst>
      <p:par>
        <p:cTn id="1" dur="indefinite" restart="never" nodeType="tmRoot"/>
      </p:par>
    </p:tn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p:cNvSpPr>
            <a:spLocks noGrp="1"/>
          </p:cNvSpPr>
          <p:nvPr>
            <p:ph type="title"/>
          </p:nvPr>
        </p:nvSpPr>
        <p:spPr/>
        <p:txBody>
          <a:bodyPr/>
          <a:lstStyle/>
          <a:p>
            <a:r>
              <a:rPr lang="en-US" altLang="zh-TW" dirty="0" smtClean="0"/>
              <a:t>Abstract(2/2)</a:t>
            </a:r>
            <a:endParaRPr lang="zh-TW" altLang="en-US" dirty="0"/>
          </a:p>
        </p:txBody>
      </p:sp>
      <p:sp>
        <p:nvSpPr>
          <p:cNvPr id="3" name="內容版面配置區 2"/>
          <p:cNvSpPr>
            <a:spLocks noGrp="1"/>
          </p:cNvSpPr>
          <p:nvPr>
            <p:ph idx="1"/>
          </p:nvPr>
        </p:nvSpPr>
        <p:spPr>
          <a:xfrm>
            <a:off x="457200" y="1412776"/>
            <a:ext cx="8229600" cy="4525963"/>
          </a:xfrm>
        </p:spPr>
        <p:txBody>
          <a:bodyPr>
            <a:normAutofit/>
          </a:bodyPr>
          <a:lstStyle/>
          <a:p>
            <a:r>
              <a:rPr lang="en-US" altLang="zh-TW" sz="2300" dirty="0" smtClean="0"/>
              <a:t>After the PIP identification process, both template- and rule-based pattern-matching approaches are introduced. The proposed methods are distinctive in their intuitiveness, making them particularly user friendly to ordinary data analysts like stock market investors. As demonstrated by the experiments, the template- and the rule-based time series matching and subsequence searching approaches provide different directions to achieve the goal of pattern identification.</a:t>
            </a:r>
            <a:endParaRPr lang="zh-TW" altLang="en-US" sz="2300" dirty="0" smtClean="0"/>
          </a:p>
          <a:p>
            <a:endParaRPr lang="zh-TW" altLang="en-US" sz="2300" dirty="0"/>
          </a:p>
        </p:txBody>
      </p:sp>
    </p:spTree>
    <p:extLst>
      <p:ext uri="{BB962C8B-B14F-4D97-AF65-F5344CB8AC3E}">
        <p14:creationId xmlns:p14="http://schemas.microsoft.com/office/powerpoint/2010/main" val="4171568824"/>
      </p:ext>
    </p:extLst>
  </p:cSld>
  <p:clrMapOvr>
    <a:masterClrMapping/>
  </p:clrMapOvr>
  <p:timing>
    <p:tnLst>
      <p:par>
        <p:cTn id="1" dur="indefinite" restart="never" nodeType="tmRoot"/>
      </p:par>
    </p:tn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p:cNvSpPr>
            <a:spLocks noGrp="1"/>
          </p:cNvSpPr>
          <p:nvPr>
            <p:ph type="title"/>
          </p:nvPr>
        </p:nvSpPr>
        <p:spPr/>
        <p:txBody>
          <a:bodyPr>
            <a:normAutofit/>
          </a:bodyPr>
          <a:lstStyle/>
          <a:p>
            <a:r>
              <a:rPr lang="en-US" altLang="zh-TW" sz="3300" dirty="0"/>
              <a:t>Five typical technical analysis reversal patterns</a:t>
            </a:r>
            <a:endParaRPr lang="zh-TW" altLang="en-US" sz="3300" dirty="0"/>
          </a:p>
        </p:txBody>
      </p:sp>
      <p:sp>
        <p:nvSpPr>
          <p:cNvPr id="3" name="內容版面配置區 2"/>
          <p:cNvSpPr>
            <a:spLocks noGrp="1"/>
          </p:cNvSpPr>
          <p:nvPr>
            <p:ph idx="1"/>
          </p:nvPr>
        </p:nvSpPr>
        <p:spPr/>
        <p:txBody>
          <a:bodyPr/>
          <a:lstStyle/>
          <a:p>
            <a:endParaRPr lang="zh-TW" altLang="en-US" dirty="0"/>
          </a:p>
        </p:txBody>
      </p:sp>
      <p:pic>
        <p:nvPicPr>
          <p:cNvPr id="4099" name="Picture 3"/>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395536" y="2411596"/>
            <a:ext cx="8442938" cy="115212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4" name="文字方塊 3"/>
          <p:cNvSpPr txBox="1"/>
          <p:nvPr/>
        </p:nvSpPr>
        <p:spPr>
          <a:xfrm>
            <a:off x="323528" y="3573016"/>
            <a:ext cx="1997663" cy="369332"/>
          </a:xfrm>
          <a:prstGeom prst="rect">
            <a:avLst/>
          </a:prstGeom>
          <a:noFill/>
        </p:spPr>
        <p:txBody>
          <a:bodyPr wrap="none" rtlCol="0">
            <a:spAutoFit/>
          </a:bodyPr>
          <a:lstStyle/>
          <a:p>
            <a:r>
              <a:rPr lang="en-US" altLang="zh-TW" dirty="0" smtClean="0"/>
              <a:t>Head-and-shoulder</a:t>
            </a:r>
            <a:endParaRPr lang="zh-TW" altLang="en-US" dirty="0"/>
          </a:p>
        </p:txBody>
      </p:sp>
      <p:sp>
        <p:nvSpPr>
          <p:cNvPr id="8" name="文字方塊 7"/>
          <p:cNvSpPr txBox="1"/>
          <p:nvPr/>
        </p:nvSpPr>
        <p:spPr>
          <a:xfrm>
            <a:off x="2435510" y="3573016"/>
            <a:ext cx="1232389" cy="369332"/>
          </a:xfrm>
          <a:prstGeom prst="rect">
            <a:avLst/>
          </a:prstGeom>
          <a:noFill/>
        </p:spPr>
        <p:txBody>
          <a:bodyPr wrap="none" rtlCol="0">
            <a:spAutoFit/>
          </a:bodyPr>
          <a:lstStyle/>
          <a:p>
            <a:r>
              <a:rPr lang="en-US" altLang="zh-TW" dirty="0" smtClean="0"/>
              <a:t>Double top</a:t>
            </a:r>
            <a:endParaRPr lang="zh-TW" altLang="en-US" dirty="0"/>
          </a:p>
        </p:txBody>
      </p:sp>
      <p:sp>
        <p:nvSpPr>
          <p:cNvPr id="9" name="文字方塊 8"/>
          <p:cNvSpPr txBox="1"/>
          <p:nvPr/>
        </p:nvSpPr>
        <p:spPr>
          <a:xfrm>
            <a:off x="3999030" y="3573016"/>
            <a:ext cx="1077026" cy="369332"/>
          </a:xfrm>
          <a:prstGeom prst="rect">
            <a:avLst/>
          </a:prstGeom>
          <a:noFill/>
        </p:spPr>
        <p:txBody>
          <a:bodyPr wrap="none" rtlCol="0">
            <a:spAutoFit/>
          </a:bodyPr>
          <a:lstStyle/>
          <a:p>
            <a:r>
              <a:rPr lang="en-US" altLang="zh-TW" dirty="0" smtClean="0"/>
              <a:t>Triple top</a:t>
            </a:r>
            <a:endParaRPr lang="zh-TW" altLang="en-US" dirty="0"/>
          </a:p>
        </p:txBody>
      </p:sp>
      <p:sp>
        <p:nvSpPr>
          <p:cNvPr id="10" name="文字方塊 9"/>
          <p:cNvSpPr txBox="1"/>
          <p:nvPr/>
        </p:nvSpPr>
        <p:spPr>
          <a:xfrm>
            <a:off x="5580112" y="3591296"/>
            <a:ext cx="1400768" cy="369332"/>
          </a:xfrm>
          <a:prstGeom prst="rect">
            <a:avLst/>
          </a:prstGeom>
          <a:noFill/>
        </p:spPr>
        <p:txBody>
          <a:bodyPr wrap="none" rtlCol="0">
            <a:spAutoFit/>
          </a:bodyPr>
          <a:lstStyle/>
          <a:p>
            <a:r>
              <a:rPr lang="en-US" altLang="zh-TW" dirty="0" smtClean="0"/>
              <a:t>Rounded top</a:t>
            </a:r>
            <a:endParaRPr lang="zh-TW" altLang="en-US" dirty="0"/>
          </a:p>
        </p:txBody>
      </p:sp>
      <p:sp>
        <p:nvSpPr>
          <p:cNvPr id="11" name="文字方塊 10"/>
          <p:cNvSpPr txBox="1"/>
          <p:nvPr/>
        </p:nvSpPr>
        <p:spPr>
          <a:xfrm>
            <a:off x="7275688" y="3573016"/>
            <a:ext cx="1048620" cy="369332"/>
          </a:xfrm>
          <a:prstGeom prst="rect">
            <a:avLst/>
          </a:prstGeom>
          <a:noFill/>
        </p:spPr>
        <p:txBody>
          <a:bodyPr wrap="none" rtlCol="0">
            <a:spAutoFit/>
          </a:bodyPr>
          <a:lstStyle/>
          <a:p>
            <a:r>
              <a:rPr lang="en-US" altLang="zh-TW" dirty="0" smtClean="0"/>
              <a:t>Spike top</a:t>
            </a:r>
            <a:endParaRPr lang="zh-TW" altLang="en-US" dirty="0"/>
          </a:p>
        </p:txBody>
      </p:sp>
    </p:spTree>
    <p:extLst>
      <p:ext uri="{BB962C8B-B14F-4D97-AF65-F5344CB8AC3E}">
        <p14:creationId xmlns:p14="http://schemas.microsoft.com/office/powerpoint/2010/main" val="596161970"/>
      </p:ext>
    </p:extLst>
  </p:cSld>
  <p:clrMapOvr>
    <a:masterClrMapping/>
  </p:clrMapOvr>
  <p:timing>
    <p:tnLst>
      <p:par>
        <p:cTn id="1" dur="indefinite" restart="never" nodeType="tmRoot"/>
      </p:par>
    </p:tn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p:cNvSpPr>
            <a:spLocks noGrp="1"/>
          </p:cNvSpPr>
          <p:nvPr>
            <p:ph type="title"/>
          </p:nvPr>
        </p:nvSpPr>
        <p:spPr/>
        <p:txBody>
          <a:bodyPr>
            <a:normAutofit/>
          </a:bodyPr>
          <a:lstStyle/>
          <a:p>
            <a:r>
              <a:rPr lang="en-US" altLang="zh-TW" sz="3000" dirty="0"/>
              <a:t>perceptually important </a:t>
            </a:r>
            <a:r>
              <a:rPr lang="en-US" altLang="zh-TW" sz="3000" dirty="0" smtClean="0"/>
              <a:t>points(PIP) identification</a:t>
            </a:r>
            <a:endParaRPr lang="zh-TW" altLang="en-US" sz="3000" dirty="0"/>
          </a:p>
        </p:txBody>
      </p:sp>
      <p:sp>
        <p:nvSpPr>
          <p:cNvPr id="3" name="內容版面配置區 2"/>
          <p:cNvSpPr>
            <a:spLocks noGrp="1"/>
          </p:cNvSpPr>
          <p:nvPr>
            <p:ph idx="1"/>
          </p:nvPr>
        </p:nvSpPr>
        <p:spPr/>
        <p:txBody>
          <a:bodyPr/>
          <a:lstStyle/>
          <a:p>
            <a:endParaRPr lang="zh-TW" altLang="en-US" dirty="0"/>
          </a:p>
        </p:txBody>
      </p:sp>
      <p:pic>
        <p:nvPicPr>
          <p:cNvPr id="1026" name="Picture 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0" y="1366371"/>
            <a:ext cx="9217024" cy="299873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pic>
        <p:nvPicPr>
          <p:cNvPr id="1032" name="Picture 8"/>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7668344" y="4534240"/>
            <a:ext cx="1403648" cy="114314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pic>
        <p:nvPicPr>
          <p:cNvPr id="1033" name="Picture 9"/>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6161864" y="4534240"/>
            <a:ext cx="1434472" cy="116637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pic>
        <p:nvPicPr>
          <p:cNvPr id="1034" name="Picture 10"/>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4691760" y="4517893"/>
            <a:ext cx="1464416" cy="120911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pic>
        <p:nvPicPr>
          <p:cNvPr id="1035" name="Picture 11"/>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129570" y="4509120"/>
            <a:ext cx="1475656" cy="122666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pic>
        <p:nvPicPr>
          <p:cNvPr id="1036" name="Picture 12"/>
          <p:cNvPicPr>
            <a:picLocks noChangeAspect="1" noChangeArrowheads="1"/>
          </p:cNvPicPr>
          <p:nvPr/>
        </p:nvPicPr>
        <p:blipFill>
          <a:blip r:embed="rId7">
            <a:extLst>
              <a:ext uri="{28A0092B-C50C-407E-A947-70E740481C1C}">
                <a14:useLocalDpi xmlns:a14="http://schemas.microsoft.com/office/drawing/2010/main" val="0"/>
              </a:ext>
            </a:extLst>
          </a:blip>
          <a:srcRect/>
          <a:stretch>
            <a:fillRect/>
          </a:stretch>
        </p:blipFill>
        <p:spPr bwMode="auto">
          <a:xfrm>
            <a:off x="1742410" y="4509121"/>
            <a:ext cx="1471265" cy="122666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pic>
        <p:nvPicPr>
          <p:cNvPr id="1037" name="Picture 13"/>
          <p:cNvPicPr>
            <a:picLocks noChangeAspect="1" noChangeArrowheads="1"/>
          </p:cNvPicPr>
          <p:nvPr/>
        </p:nvPicPr>
        <p:blipFill>
          <a:blip r:embed="rId8">
            <a:extLst>
              <a:ext uri="{28A0092B-C50C-407E-A947-70E740481C1C}">
                <a14:useLocalDpi xmlns:a14="http://schemas.microsoft.com/office/drawing/2010/main" val="0"/>
              </a:ext>
            </a:extLst>
          </a:blip>
          <a:srcRect/>
          <a:stretch>
            <a:fillRect/>
          </a:stretch>
        </p:blipFill>
        <p:spPr bwMode="auto">
          <a:xfrm>
            <a:off x="3213675" y="4510655"/>
            <a:ext cx="1448381" cy="120758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5" name="文字方塊 4"/>
          <p:cNvSpPr txBox="1"/>
          <p:nvPr/>
        </p:nvSpPr>
        <p:spPr>
          <a:xfrm>
            <a:off x="586985" y="5796543"/>
            <a:ext cx="301686" cy="369332"/>
          </a:xfrm>
          <a:prstGeom prst="rect">
            <a:avLst/>
          </a:prstGeom>
          <a:noFill/>
        </p:spPr>
        <p:txBody>
          <a:bodyPr wrap="none" rtlCol="0">
            <a:spAutoFit/>
          </a:bodyPr>
          <a:lstStyle/>
          <a:p>
            <a:r>
              <a:rPr lang="en-US" altLang="zh-TW" dirty="0" smtClean="0"/>
              <a:t>1</a:t>
            </a:r>
            <a:endParaRPr lang="zh-TW" altLang="en-US" dirty="0"/>
          </a:p>
        </p:txBody>
      </p:sp>
      <p:sp>
        <p:nvSpPr>
          <p:cNvPr id="20" name="文字方塊 19"/>
          <p:cNvSpPr txBox="1"/>
          <p:nvPr/>
        </p:nvSpPr>
        <p:spPr>
          <a:xfrm>
            <a:off x="2197629" y="5796543"/>
            <a:ext cx="301686" cy="369332"/>
          </a:xfrm>
          <a:prstGeom prst="rect">
            <a:avLst/>
          </a:prstGeom>
          <a:noFill/>
        </p:spPr>
        <p:txBody>
          <a:bodyPr wrap="none" rtlCol="0">
            <a:spAutoFit/>
          </a:bodyPr>
          <a:lstStyle/>
          <a:p>
            <a:r>
              <a:rPr lang="en-US" altLang="zh-TW" dirty="0" smtClean="0"/>
              <a:t>2</a:t>
            </a:r>
            <a:endParaRPr lang="zh-TW" altLang="en-US" dirty="0"/>
          </a:p>
        </p:txBody>
      </p:sp>
      <p:sp>
        <p:nvSpPr>
          <p:cNvPr id="21" name="文字方塊 20"/>
          <p:cNvSpPr txBox="1"/>
          <p:nvPr/>
        </p:nvSpPr>
        <p:spPr>
          <a:xfrm>
            <a:off x="3705187" y="5809573"/>
            <a:ext cx="301686" cy="369332"/>
          </a:xfrm>
          <a:prstGeom prst="rect">
            <a:avLst/>
          </a:prstGeom>
          <a:noFill/>
        </p:spPr>
        <p:txBody>
          <a:bodyPr wrap="none" rtlCol="0">
            <a:spAutoFit/>
          </a:bodyPr>
          <a:lstStyle/>
          <a:p>
            <a:r>
              <a:rPr lang="en-US" altLang="zh-TW" dirty="0" smtClean="0"/>
              <a:t>3</a:t>
            </a:r>
            <a:endParaRPr lang="zh-TW" altLang="en-US" dirty="0"/>
          </a:p>
        </p:txBody>
      </p:sp>
      <p:sp>
        <p:nvSpPr>
          <p:cNvPr id="22" name="文字方塊 21"/>
          <p:cNvSpPr txBox="1"/>
          <p:nvPr/>
        </p:nvSpPr>
        <p:spPr>
          <a:xfrm>
            <a:off x="5273125" y="5809573"/>
            <a:ext cx="301686" cy="369332"/>
          </a:xfrm>
          <a:prstGeom prst="rect">
            <a:avLst/>
          </a:prstGeom>
          <a:noFill/>
        </p:spPr>
        <p:txBody>
          <a:bodyPr wrap="none" rtlCol="0">
            <a:spAutoFit/>
          </a:bodyPr>
          <a:lstStyle/>
          <a:p>
            <a:r>
              <a:rPr lang="en-US" altLang="zh-TW" dirty="0" smtClean="0"/>
              <a:t>4</a:t>
            </a:r>
            <a:endParaRPr lang="zh-TW" altLang="en-US" dirty="0"/>
          </a:p>
        </p:txBody>
      </p:sp>
      <p:sp>
        <p:nvSpPr>
          <p:cNvPr id="23" name="文字方塊 22"/>
          <p:cNvSpPr txBox="1"/>
          <p:nvPr/>
        </p:nvSpPr>
        <p:spPr>
          <a:xfrm>
            <a:off x="6717937" y="5842371"/>
            <a:ext cx="301686" cy="369332"/>
          </a:xfrm>
          <a:prstGeom prst="rect">
            <a:avLst/>
          </a:prstGeom>
          <a:noFill/>
        </p:spPr>
        <p:txBody>
          <a:bodyPr wrap="none" rtlCol="0">
            <a:spAutoFit/>
          </a:bodyPr>
          <a:lstStyle/>
          <a:p>
            <a:r>
              <a:rPr lang="en-US" altLang="zh-TW" dirty="0" smtClean="0"/>
              <a:t>5</a:t>
            </a:r>
            <a:endParaRPr lang="zh-TW" altLang="en-US" dirty="0"/>
          </a:p>
        </p:txBody>
      </p:sp>
      <p:sp>
        <p:nvSpPr>
          <p:cNvPr id="24" name="文字方塊 23"/>
          <p:cNvSpPr txBox="1"/>
          <p:nvPr/>
        </p:nvSpPr>
        <p:spPr>
          <a:xfrm>
            <a:off x="8219325" y="5809573"/>
            <a:ext cx="301686" cy="369332"/>
          </a:xfrm>
          <a:prstGeom prst="rect">
            <a:avLst/>
          </a:prstGeom>
          <a:noFill/>
        </p:spPr>
        <p:txBody>
          <a:bodyPr wrap="none" rtlCol="0">
            <a:spAutoFit/>
          </a:bodyPr>
          <a:lstStyle/>
          <a:p>
            <a:r>
              <a:rPr lang="en-US" altLang="zh-TW" dirty="0" smtClean="0"/>
              <a:t>6</a:t>
            </a:r>
            <a:endParaRPr lang="zh-TW" altLang="en-US" dirty="0"/>
          </a:p>
        </p:txBody>
      </p:sp>
      <p:pic>
        <p:nvPicPr>
          <p:cNvPr id="1038" name="Picture 14"/>
          <p:cNvPicPr>
            <a:picLocks noChangeAspect="1" noChangeArrowheads="1"/>
          </p:cNvPicPr>
          <p:nvPr/>
        </p:nvPicPr>
        <p:blipFill>
          <a:blip r:embed="rId9">
            <a:extLst>
              <a:ext uri="{28A0092B-C50C-407E-A947-70E740481C1C}">
                <a14:useLocalDpi xmlns:a14="http://schemas.microsoft.com/office/drawing/2010/main" val="0"/>
              </a:ext>
            </a:extLst>
          </a:blip>
          <a:srcRect/>
          <a:stretch>
            <a:fillRect/>
          </a:stretch>
        </p:blipFill>
        <p:spPr bwMode="auto">
          <a:xfrm>
            <a:off x="-36512" y="6135503"/>
            <a:ext cx="9143768" cy="36302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cxnSp>
        <p:nvCxnSpPr>
          <p:cNvPr id="7" name="直線接點 6"/>
          <p:cNvCxnSpPr/>
          <p:nvPr/>
        </p:nvCxnSpPr>
        <p:spPr>
          <a:xfrm>
            <a:off x="3275856" y="3140968"/>
            <a:ext cx="1800200" cy="0"/>
          </a:xfrm>
          <a:prstGeom prst="line">
            <a:avLst/>
          </a:prstGeom>
          <a:ln/>
        </p:spPr>
        <p:style>
          <a:lnRef idx="1">
            <a:schemeClr val="accent2"/>
          </a:lnRef>
          <a:fillRef idx="0">
            <a:schemeClr val="accent2"/>
          </a:fillRef>
          <a:effectRef idx="0">
            <a:schemeClr val="accent2"/>
          </a:effectRef>
          <a:fontRef idx="minor">
            <a:schemeClr val="tx1"/>
          </a:fontRef>
        </p:style>
      </p:cxnSp>
    </p:spTree>
    <p:extLst>
      <p:ext uri="{BB962C8B-B14F-4D97-AF65-F5344CB8AC3E}">
        <p14:creationId xmlns:p14="http://schemas.microsoft.com/office/powerpoint/2010/main" val="2162636723"/>
      </p:ext>
    </p:extLst>
  </p:cSld>
  <p:clrMapOvr>
    <a:masterClrMapping/>
  </p:clrMapOvr>
  <p:timing>
    <p:tnLst>
      <p:par>
        <p:cTn id="1" dur="indefinite" restart="never" nodeType="tmRoot"/>
      </p:par>
    </p:tn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p:cNvSpPr>
            <a:spLocks noGrp="1"/>
          </p:cNvSpPr>
          <p:nvPr>
            <p:ph type="title"/>
          </p:nvPr>
        </p:nvSpPr>
        <p:spPr/>
        <p:txBody>
          <a:bodyPr/>
          <a:lstStyle/>
          <a:p>
            <a:r>
              <a:rPr lang="en-US" altLang="zh-TW" dirty="0" smtClean="0"/>
              <a:t>3 distance measures</a:t>
            </a:r>
            <a:endParaRPr lang="zh-TW" altLang="en-US" dirty="0"/>
          </a:p>
        </p:txBody>
      </p:sp>
      <p:sp>
        <p:nvSpPr>
          <p:cNvPr id="3" name="內容版面配置區 2"/>
          <p:cNvSpPr>
            <a:spLocks noGrp="1"/>
          </p:cNvSpPr>
          <p:nvPr>
            <p:ph idx="1"/>
          </p:nvPr>
        </p:nvSpPr>
        <p:spPr/>
        <p:txBody>
          <a:bodyPr/>
          <a:lstStyle/>
          <a:p>
            <a:endParaRPr lang="zh-TW" altLang="en-US" dirty="0"/>
          </a:p>
        </p:txBody>
      </p:sp>
      <p:pic>
        <p:nvPicPr>
          <p:cNvPr id="2051" name="Picture 3"/>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467544" y="1556792"/>
            <a:ext cx="4104456" cy="19418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pic>
        <p:nvPicPr>
          <p:cNvPr id="2052" name="Picture 4"/>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539552" y="4005064"/>
            <a:ext cx="4104456" cy="195614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pic>
        <p:nvPicPr>
          <p:cNvPr id="2054" name="Picture 6"/>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4863417" y="1643223"/>
            <a:ext cx="3813040" cy="185778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4" name="文字方塊 3"/>
          <p:cNvSpPr txBox="1"/>
          <p:nvPr/>
        </p:nvSpPr>
        <p:spPr>
          <a:xfrm>
            <a:off x="1391253" y="5949280"/>
            <a:ext cx="2121158" cy="369332"/>
          </a:xfrm>
          <a:prstGeom prst="rect">
            <a:avLst/>
          </a:prstGeom>
          <a:noFill/>
        </p:spPr>
        <p:txBody>
          <a:bodyPr wrap="none" rtlCol="0">
            <a:spAutoFit/>
          </a:bodyPr>
          <a:lstStyle/>
          <a:p>
            <a:r>
              <a:rPr lang="en-US" altLang="zh-TW" dirty="0" smtClean="0"/>
              <a:t>vertical distance(VD)</a:t>
            </a:r>
            <a:endParaRPr lang="zh-TW" altLang="en-US" dirty="0" smtClean="0"/>
          </a:p>
        </p:txBody>
      </p:sp>
      <p:sp>
        <p:nvSpPr>
          <p:cNvPr id="5" name="文字方塊 4"/>
          <p:cNvSpPr txBox="1"/>
          <p:nvPr/>
        </p:nvSpPr>
        <p:spPr>
          <a:xfrm>
            <a:off x="1189916" y="3511336"/>
            <a:ext cx="2322495" cy="369332"/>
          </a:xfrm>
          <a:prstGeom prst="rect">
            <a:avLst/>
          </a:prstGeom>
          <a:noFill/>
        </p:spPr>
        <p:txBody>
          <a:bodyPr wrap="none" rtlCol="0">
            <a:spAutoFit/>
          </a:bodyPr>
          <a:lstStyle/>
          <a:p>
            <a:r>
              <a:rPr lang="en-US" altLang="zh-TW" dirty="0" smtClean="0"/>
              <a:t>Euclidean distance(ED)</a:t>
            </a:r>
            <a:endParaRPr lang="zh-TW" altLang="en-US" dirty="0"/>
          </a:p>
        </p:txBody>
      </p:sp>
      <p:sp>
        <p:nvSpPr>
          <p:cNvPr id="6" name="文字方塊 5"/>
          <p:cNvSpPr txBox="1"/>
          <p:nvPr/>
        </p:nvSpPr>
        <p:spPr>
          <a:xfrm>
            <a:off x="5401902" y="3531952"/>
            <a:ext cx="2736070" cy="369332"/>
          </a:xfrm>
          <a:prstGeom prst="rect">
            <a:avLst/>
          </a:prstGeom>
          <a:noFill/>
        </p:spPr>
        <p:txBody>
          <a:bodyPr wrap="none" rtlCol="0">
            <a:spAutoFit/>
          </a:bodyPr>
          <a:lstStyle/>
          <a:p>
            <a:r>
              <a:rPr lang="en-US" altLang="zh-TW" dirty="0" smtClean="0"/>
              <a:t>perpendicular distance(PD)</a:t>
            </a:r>
            <a:endParaRPr lang="en-US" altLang="zh-TW" dirty="0" smtClean="0"/>
          </a:p>
        </p:txBody>
      </p:sp>
    </p:spTree>
    <p:extLst>
      <p:ext uri="{BB962C8B-B14F-4D97-AF65-F5344CB8AC3E}">
        <p14:creationId xmlns:p14="http://schemas.microsoft.com/office/powerpoint/2010/main" val="109474120"/>
      </p:ext>
    </p:extLst>
  </p:cSld>
  <p:clrMapOvr>
    <a:masterClrMapping/>
  </p:clrMapOvr>
  <p:timing>
    <p:tnLst>
      <p:par>
        <p:cTn id="1" dur="indefinite" restart="never" nodeType="tmRoot"/>
      </p:par>
    </p:tn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p:cNvSpPr>
            <a:spLocks noGrp="1"/>
          </p:cNvSpPr>
          <p:nvPr>
            <p:ph type="title"/>
          </p:nvPr>
        </p:nvSpPr>
        <p:spPr/>
        <p:txBody>
          <a:bodyPr>
            <a:normAutofit/>
          </a:bodyPr>
          <a:lstStyle/>
          <a:p>
            <a:r>
              <a:rPr lang="en-US" altLang="zh-TW" sz="3300" dirty="0"/>
              <a:t>Template-based pattern-matching approach</a:t>
            </a:r>
            <a:endParaRPr lang="zh-TW" altLang="en-US" sz="3300" dirty="0"/>
          </a:p>
        </p:txBody>
      </p:sp>
      <p:sp>
        <p:nvSpPr>
          <p:cNvPr id="3" name="內容版面配置區 2"/>
          <p:cNvSpPr>
            <a:spLocks noGrp="1"/>
          </p:cNvSpPr>
          <p:nvPr>
            <p:ph idx="1"/>
          </p:nvPr>
        </p:nvSpPr>
        <p:spPr/>
        <p:txBody>
          <a:bodyPr/>
          <a:lstStyle/>
          <a:p>
            <a:r>
              <a:rPr lang="en-US" altLang="zh-TW" dirty="0" smtClean="0"/>
              <a:t>normalizing </a:t>
            </a:r>
            <a:r>
              <a:rPr lang="en-US" altLang="zh-TW" dirty="0"/>
              <a:t>all the sequence values to a given </a:t>
            </a:r>
            <a:r>
              <a:rPr lang="en-US" altLang="zh-TW" dirty="0" smtClean="0"/>
              <a:t>range(e.g. 0-1)</a:t>
            </a:r>
          </a:p>
          <a:p>
            <a:r>
              <a:rPr lang="en-US" altLang="zh-TW" dirty="0" smtClean="0"/>
              <a:t>Amplitude </a:t>
            </a:r>
            <a:r>
              <a:rPr lang="en-US" altLang="zh-TW" dirty="0"/>
              <a:t>distance (AD</a:t>
            </a:r>
            <a:r>
              <a:rPr lang="en-US" altLang="zh-TW" dirty="0" smtClean="0"/>
              <a:t>)</a:t>
            </a:r>
          </a:p>
          <a:p>
            <a:pPr marL="0" indent="0">
              <a:buNone/>
            </a:pPr>
            <a:endParaRPr lang="en-US" altLang="zh-TW" dirty="0" smtClean="0"/>
          </a:p>
          <a:p>
            <a:r>
              <a:rPr lang="en-US" altLang="zh-TW" dirty="0" smtClean="0"/>
              <a:t>Temporal distance </a:t>
            </a:r>
            <a:r>
              <a:rPr lang="en-US" altLang="zh-TW" dirty="0"/>
              <a:t>(TD</a:t>
            </a:r>
            <a:r>
              <a:rPr lang="en-US" altLang="zh-TW" dirty="0" smtClean="0"/>
              <a:t>)</a:t>
            </a:r>
          </a:p>
          <a:p>
            <a:endParaRPr lang="en-US" altLang="zh-TW" dirty="0"/>
          </a:p>
          <a:p>
            <a:r>
              <a:rPr lang="en-US" altLang="zh-TW" dirty="0"/>
              <a:t>distance </a:t>
            </a:r>
            <a:r>
              <a:rPr lang="en-US" altLang="zh-TW" dirty="0" smtClean="0"/>
              <a:t>measure</a:t>
            </a:r>
          </a:p>
          <a:p>
            <a:endParaRPr lang="zh-TW" altLang="en-US" dirty="0"/>
          </a:p>
        </p:txBody>
      </p:sp>
      <p:pic>
        <p:nvPicPr>
          <p:cNvPr id="3074" name="Picture 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902508" y="3181726"/>
            <a:ext cx="2805396" cy="67932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pic>
        <p:nvPicPr>
          <p:cNvPr id="3076" name="Picture 4"/>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991064" y="4362792"/>
            <a:ext cx="3060340" cy="72008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pic>
        <p:nvPicPr>
          <p:cNvPr id="3078" name="Picture 6"/>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991064" y="5589240"/>
            <a:ext cx="7489174" cy="53523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extLst>
      <p:ext uri="{BB962C8B-B14F-4D97-AF65-F5344CB8AC3E}">
        <p14:creationId xmlns:p14="http://schemas.microsoft.com/office/powerpoint/2010/main" val="3668925412"/>
      </p:ext>
    </p:extLst>
  </p:cSld>
  <p:clrMapOvr>
    <a:masterClrMapping/>
  </p:clrMapOvr>
  <p:timing>
    <p:tnLst>
      <p:par>
        <p:cTn id="1" dur="indefinite" restart="never" nodeType="tmRoot"/>
      </p:par>
    </p:tn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p:cNvSpPr>
            <a:spLocks noGrp="1"/>
          </p:cNvSpPr>
          <p:nvPr>
            <p:ph type="title"/>
          </p:nvPr>
        </p:nvSpPr>
        <p:spPr/>
        <p:txBody>
          <a:bodyPr>
            <a:normAutofit/>
          </a:bodyPr>
          <a:lstStyle/>
          <a:p>
            <a:r>
              <a:rPr lang="en-US" altLang="zh-TW" sz="3300" dirty="0"/>
              <a:t>Rule-based pattern-matching approach</a:t>
            </a:r>
            <a:endParaRPr lang="zh-TW" altLang="en-US" sz="3300" dirty="0"/>
          </a:p>
        </p:txBody>
      </p:sp>
      <p:sp>
        <p:nvSpPr>
          <p:cNvPr id="3" name="內容版面配置區 2"/>
          <p:cNvSpPr>
            <a:spLocks noGrp="1"/>
          </p:cNvSpPr>
          <p:nvPr>
            <p:ph idx="1"/>
          </p:nvPr>
        </p:nvSpPr>
        <p:spPr/>
        <p:txBody>
          <a:bodyPr>
            <a:normAutofit/>
          </a:bodyPr>
          <a:lstStyle/>
          <a:p>
            <a:r>
              <a:rPr lang="en-US" altLang="zh-TW" dirty="0"/>
              <a:t>Rule set 1 (</a:t>
            </a:r>
            <a:r>
              <a:rPr lang="en-US" altLang="zh-TW" dirty="0" smtClean="0"/>
              <a:t>head-and-shoulder)</a:t>
            </a:r>
          </a:p>
          <a:p>
            <a:endParaRPr lang="en-US" altLang="zh-TW" dirty="0" smtClean="0"/>
          </a:p>
          <a:p>
            <a:endParaRPr lang="en-US" altLang="zh-TW" dirty="0" smtClean="0"/>
          </a:p>
          <a:p>
            <a:endParaRPr lang="en-US" altLang="zh-TW" dirty="0"/>
          </a:p>
          <a:p>
            <a:r>
              <a:rPr lang="en-US" altLang="zh-TW" dirty="0" smtClean="0"/>
              <a:t>Rule </a:t>
            </a:r>
            <a:r>
              <a:rPr lang="en-US" altLang="zh-TW" dirty="0"/>
              <a:t>set 2 (rounded top)</a:t>
            </a:r>
            <a:endParaRPr lang="en-US" altLang="zh-TW" dirty="0" smtClean="0"/>
          </a:p>
        </p:txBody>
      </p:sp>
      <p:pic>
        <p:nvPicPr>
          <p:cNvPr id="5124" name="Picture 4"/>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827584" y="2060848"/>
            <a:ext cx="2016224" cy="196110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pic>
        <p:nvPicPr>
          <p:cNvPr id="5125" name="Picture 5"/>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840160" y="4509120"/>
            <a:ext cx="1945275" cy="108012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pic>
        <p:nvPicPr>
          <p:cNvPr id="5127" name="Picture 7"/>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5220072" y="2280526"/>
            <a:ext cx="3024576" cy="174142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pic>
        <p:nvPicPr>
          <p:cNvPr id="5129" name="Picture 9"/>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5252072" y="4252738"/>
            <a:ext cx="2992576" cy="172300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5" name="橢圓 4"/>
          <p:cNvSpPr/>
          <p:nvPr/>
        </p:nvSpPr>
        <p:spPr>
          <a:xfrm>
            <a:off x="5246368" y="3356992"/>
            <a:ext cx="360040" cy="370310"/>
          </a:xfrm>
          <a:prstGeom prst="ellipse">
            <a:avLst/>
          </a:prstGeom>
        </p:spPr>
        <p:style>
          <a:lnRef idx="2">
            <a:schemeClr val="accent2"/>
          </a:lnRef>
          <a:fillRef idx="1">
            <a:schemeClr val="lt1"/>
          </a:fillRef>
          <a:effectRef idx="0">
            <a:schemeClr val="accent2"/>
          </a:effectRef>
          <a:fontRef idx="minor">
            <a:schemeClr val="dk1"/>
          </a:fontRef>
        </p:style>
        <p:txBody>
          <a:bodyPr rtlCol="0" anchor="ctr"/>
          <a:lstStyle/>
          <a:p>
            <a:pPr algn="ctr"/>
            <a:r>
              <a:rPr lang="en-US" altLang="zh-TW" dirty="0" smtClean="0"/>
              <a:t>1</a:t>
            </a:r>
            <a:endParaRPr lang="zh-TW" altLang="en-US" dirty="0"/>
          </a:p>
        </p:txBody>
      </p:sp>
      <p:sp>
        <p:nvSpPr>
          <p:cNvPr id="14" name="橢圓 13"/>
          <p:cNvSpPr/>
          <p:nvPr/>
        </p:nvSpPr>
        <p:spPr>
          <a:xfrm>
            <a:off x="5717820" y="2420888"/>
            <a:ext cx="360040" cy="370310"/>
          </a:xfrm>
          <a:prstGeom prst="ellipse">
            <a:avLst/>
          </a:prstGeom>
        </p:spPr>
        <p:style>
          <a:lnRef idx="2">
            <a:schemeClr val="accent2"/>
          </a:lnRef>
          <a:fillRef idx="1">
            <a:schemeClr val="lt1"/>
          </a:fillRef>
          <a:effectRef idx="0">
            <a:schemeClr val="accent2"/>
          </a:effectRef>
          <a:fontRef idx="minor">
            <a:schemeClr val="dk1"/>
          </a:fontRef>
        </p:style>
        <p:txBody>
          <a:bodyPr rtlCol="0" anchor="ctr"/>
          <a:lstStyle/>
          <a:p>
            <a:pPr algn="ctr"/>
            <a:r>
              <a:rPr lang="en-US" altLang="zh-TW" dirty="0"/>
              <a:t>2</a:t>
            </a:r>
            <a:endParaRPr lang="zh-TW" altLang="en-US" dirty="0"/>
          </a:p>
        </p:txBody>
      </p:sp>
      <p:sp>
        <p:nvSpPr>
          <p:cNvPr id="15" name="橢圓 14"/>
          <p:cNvSpPr/>
          <p:nvPr/>
        </p:nvSpPr>
        <p:spPr>
          <a:xfrm>
            <a:off x="6223380" y="3153552"/>
            <a:ext cx="360040" cy="370310"/>
          </a:xfrm>
          <a:prstGeom prst="ellipse">
            <a:avLst/>
          </a:prstGeom>
        </p:spPr>
        <p:style>
          <a:lnRef idx="2">
            <a:schemeClr val="accent2"/>
          </a:lnRef>
          <a:fillRef idx="1">
            <a:schemeClr val="lt1"/>
          </a:fillRef>
          <a:effectRef idx="0">
            <a:schemeClr val="accent2"/>
          </a:effectRef>
          <a:fontRef idx="minor">
            <a:schemeClr val="dk1"/>
          </a:fontRef>
        </p:style>
        <p:txBody>
          <a:bodyPr rtlCol="0" anchor="ctr"/>
          <a:lstStyle/>
          <a:p>
            <a:pPr algn="ctr"/>
            <a:r>
              <a:rPr lang="en-US" altLang="zh-TW" dirty="0" smtClean="0"/>
              <a:t>3</a:t>
            </a:r>
            <a:endParaRPr lang="zh-TW" altLang="en-US" dirty="0"/>
          </a:p>
        </p:txBody>
      </p:sp>
      <p:sp>
        <p:nvSpPr>
          <p:cNvPr id="16" name="橢圓 15"/>
          <p:cNvSpPr/>
          <p:nvPr/>
        </p:nvSpPr>
        <p:spPr>
          <a:xfrm>
            <a:off x="6674596" y="2050581"/>
            <a:ext cx="360040" cy="370310"/>
          </a:xfrm>
          <a:prstGeom prst="ellipse">
            <a:avLst/>
          </a:prstGeom>
        </p:spPr>
        <p:style>
          <a:lnRef idx="2">
            <a:schemeClr val="accent2"/>
          </a:lnRef>
          <a:fillRef idx="1">
            <a:schemeClr val="lt1"/>
          </a:fillRef>
          <a:effectRef idx="0">
            <a:schemeClr val="accent2"/>
          </a:effectRef>
          <a:fontRef idx="minor">
            <a:schemeClr val="dk1"/>
          </a:fontRef>
        </p:style>
        <p:txBody>
          <a:bodyPr rtlCol="0" anchor="ctr"/>
          <a:lstStyle/>
          <a:p>
            <a:pPr algn="ctr"/>
            <a:r>
              <a:rPr lang="en-US" altLang="zh-TW" dirty="0" smtClean="0"/>
              <a:t>4</a:t>
            </a:r>
            <a:endParaRPr lang="zh-TW" altLang="en-US" dirty="0"/>
          </a:p>
        </p:txBody>
      </p:sp>
      <p:sp>
        <p:nvSpPr>
          <p:cNvPr id="17" name="橢圓 16"/>
          <p:cNvSpPr/>
          <p:nvPr/>
        </p:nvSpPr>
        <p:spPr>
          <a:xfrm>
            <a:off x="7034636" y="3151238"/>
            <a:ext cx="360040" cy="370310"/>
          </a:xfrm>
          <a:prstGeom prst="ellipse">
            <a:avLst/>
          </a:prstGeom>
        </p:spPr>
        <p:style>
          <a:lnRef idx="2">
            <a:schemeClr val="accent2"/>
          </a:lnRef>
          <a:fillRef idx="1">
            <a:schemeClr val="lt1"/>
          </a:fillRef>
          <a:effectRef idx="0">
            <a:schemeClr val="accent2"/>
          </a:effectRef>
          <a:fontRef idx="minor">
            <a:schemeClr val="dk1"/>
          </a:fontRef>
        </p:style>
        <p:txBody>
          <a:bodyPr rtlCol="0" anchor="ctr"/>
          <a:lstStyle/>
          <a:p>
            <a:pPr algn="ctr"/>
            <a:r>
              <a:rPr lang="en-US" altLang="zh-TW" dirty="0" smtClean="0"/>
              <a:t>5</a:t>
            </a:r>
            <a:endParaRPr lang="zh-TW" altLang="en-US" dirty="0"/>
          </a:p>
        </p:txBody>
      </p:sp>
      <p:sp>
        <p:nvSpPr>
          <p:cNvPr id="18" name="橢圓 17"/>
          <p:cNvSpPr/>
          <p:nvPr/>
        </p:nvSpPr>
        <p:spPr>
          <a:xfrm>
            <a:off x="7524328" y="2420888"/>
            <a:ext cx="360040" cy="370310"/>
          </a:xfrm>
          <a:prstGeom prst="ellipse">
            <a:avLst/>
          </a:prstGeom>
        </p:spPr>
        <p:style>
          <a:lnRef idx="2">
            <a:schemeClr val="accent2"/>
          </a:lnRef>
          <a:fillRef idx="1">
            <a:schemeClr val="lt1"/>
          </a:fillRef>
          <a:effectRef idx="0">
            <a:schemeClr val="accent2"/>
          </a:effectRef>
          <a:fontRef idx="minor">
            <a:schemeClr val="dk1"/>
          </a:fontRef>
        </p:style>
        <p:txBody>
          <a:bodyPr rtlCol="0" anchor="ctr"/>
          <a:lstStyle/>
          <a:p>
            <a:pPr algn="ctr"/>
            <a:r>
              <a:rPr lang="en-US" altLang="zh-TW" dirty="0" smtClean="0"/>
              <a:t>6</a:t>
            </a:r>
            <a:endParaRPr lang="zh-TW" altLang="en-US" dirty="0"/>
          </a:p>
        </p:txBody>
      </p:sp>
      <p:sp>
        <p:nvSpPr>
          <p:cNvPr id="19" name="橢圓 18"/>
          <p:cNvSpPr/>
          <p:nvPr/>
        </p:nvSpPr>
        <p:spPr>
          <a:xfrm>
            <a:off x="8064628" y="3727302"/>
            <a:ext cx="360040" cy="370310"/>
          </a:xfrm>
          <a:prstGeom prst="ellipse">
            <a:avLst/>
          </a:prstGeom>
        </p:spPr>
        <p:style>
          <a:lnRef idx="2">
            <a:schemeClr val="accent2"/>
          </a:lnRef>
          <a:fillRef idx="1">
            <a:schemeClr val="lt1"/>
          </a:fillRef>
          <a:effectRef idx="0">
            <a:schemeClr val="accent2"/>
          </a:effectRef>
          <a:fontRef idx="minor">
            <a:schemeClr val="dk1"/>
          </a:fontRef>
        </p:style>
        <p:txBody>
          <a:bodyPr rtlCol="0" anchor="ctr"/>
          <a:lstStyle/>
          <a:p>
            <a:pPr algn="ctr"/>
            <a:r>
              <a:rPr lang="en-US" altLang="zh-TW" dirty="0"/>
              <a:t>7</a:t>
            </a:r>
            <a:endParaRPr lang="zh-TW" altLang="en-US" dirty="0"/>
          </a:p>
        </p:txBody>
      </p:sp>
    </p:spTree>
    <p:extLst>
      <p:ext uri="{BB962C8B-B14F-4D97-AF65-F5344CB8AC3E}">
        <p14:creationId xmlns:p14="http://schemas.microsoft.com/office/powerpoint/2010/main" val="3947249121"/>
      </p:ext>
    </p:extLst>
  </p:cSld>
  <p:clrMapOvr>
    <a:masterClrMapping/>
  </p:clrMapOvr>
  <p:timing>
    <p:tnLst>
      <p:par>
        <p:cTn id="1" dur="indefinite" restart="never" nodeType="tmRoot"/>
      </p:par>
    </p:tn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p:cNvSpPr>
            <a:spLocks noGrp="1"/>
          </p:cNvSpPr>
          <p:nvPr>
            <p:ph type="title"/>
          </p:nvPr>
        </p:nvSpPr>
        <p:spPr/>
        <p:txBody>
          <a:bodyPr/>
          <a:lstStyle/>
          <a:p>
            <a:endParaRPr lang="zh-TW" altLang="en-US"/>
          </a:p>
        </p:txBody>
      </p:sp>
      <p:sp>
        <p:nvSpPr>
          <p:cNvPr id="3" name="內容版面配置區 2"/>
          <p:cNvSpPr>
            <a:spLocks noGrp="1"/>
          </p:cNvSpPr>
          <p:nvPr>
            <p:ph idx="1"/>
          </p:nvPr>
        </p:nvSpPr>
        <p:spPr>
          <a:xfrm>
            <a:off x="457200" y="692696"/>
            <a:ext cx="8229600" cy="5433467"/>
          </a:xfrm>
        </p:spPr>
        <p:txBody>
          <a:bodyPr/>
          <a:lstStyle/>
          <a:p>
            <a:r>
              <a:rPr lang="en-US" altLang="zh-TW" dirty="0"/>
              <a:t>Rule set 3 (spike top</a:t>
            </a:r>
            <a:r>
              <a:rPr lang="en-US" altLang="zh-TW" dirty="0" smtClean="0"/>
              <a:t>)</a:t>
            </a:r>
          </a:p>
          <a:p>
            <a:endParaRPr lang="en-US" altLang="zh-TW" dirty="0" smtClean="0"/>
          </a:p>
          <a:p>
            <a:r>
              <a:rPr lang="en-US" altLang="zh-TW" dirty="0"/>
              <a:t>Rule set 4 (double top</a:t>
            </a:r>
            <a:r>
              <a:rPr lang="en-US" altLang="zh-TW" dirty="0" smtClean="0"/>
              <a:t>)</a:t>
            </a:r>
          </a:p>
          <a:p>
            <a:endParaRPr lang="en-US" altLang="zh-TW" dirty="0" smtClean="0"/>
          </a:p>
          <a:p>
            <a:endParaRPr lang="en-US" altLang="zh-TW" dirty="0" smtClean="0"/>
          </a:p>
          <a:p>
            <a:r>
              <a:rPr lang="en-US" altLang="zh-TW" dirty="0" smtClean="0"/>
              <a:t>Rule </a:t>
            </a:r>
            <a:r>
              <a:rPr lang="en-US" altLang="zh-TW" dirty="0"/>
              <a:t>set 5 (triple top)</a:t>
            </a:r>
            <a:endParaRPr lang="zh-TW" altLang="en-US" dirty="0"/>
          </a:p>
        </p:txBody>
      </p:sp>
      <p:pic>
        <p:nvPicPr>
          <p:cNvPr id="6146" name="Picture 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899592" y="1268760"/>
            <a:ext cx="3096344" cy="51446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pic>
        <p:nvPicPr>
          <p:cNvPr id="6147" name="Picture 3"/>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899592" y="2420887"/>
            <a:ext cx="1901370" cy="129614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pic>
        <p:nvPicPr>
          <p:cNvPr id="6148" name="Picture 4"/>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899592" y="4221087"/>
            <a:ext cx="2088232" cy="122956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pic>
        <p:nvPicPr>
          <p:cNvPr id="6149" name="Picture 5"/>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5364088" y="2276872"/>
            <a:ext cx="2376264" cy="136815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pic>
        <p:nvPicPr>
          <p:cNvPr id="6150" name="Picture 6"/>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5364088" y="4005064"/>
            <a:ext cx="2376264" cy="136815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pic>
        <p:nvPicPr>
          <p:cNvPr id="6155" name="Picture 11"/>
          <p:cNvPicPr>
            <a:picLocks noChangeAspect="1" noChangeArrowheads="1"/>
          </p:cNvPicPr>
          <p:nvPr/>
        </p:nvPicPr>
        <p:blipFill>
          <a:blip r:embed="rId7">
            <a:extLst>
              <a:ext uri="{28A0092B-C50C-407E-A947-70E740481C1C}">
                <a14:useLocalDpi xmlns:a14="http://schemas.microsoft.com/office/drawing/2010/main" val="0"/>
              </a:ext>
            </a:extLst>
          </a:blip>
          <a:srcRect/>
          <a:stretch>
            <a:fillRect/>
          </a:stretch>
        </p:blipFill>
        <p:spPr bwMode="auto">
          <a:xfrm>
            <a:off x="5384632" y="678463"/>
            <a:ext cx="2448272" cy="149253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extLst>
      <p:ext uri="{BB962C8B-B14F-4D97-AF65-F5344CB8AC3E}">
        <p14:creationId xmlns:p14="http://schemas.microsoft.com/office/powerpoint/2010/main" val="3942485523"/>
      </p:ext>
    </p:extLst>
  </p:cSld>
  <p:clrMapOvr>
    <a:masterClrMapping/>
  </p:clrMapOvr>
  <p:timing>
    <p:tnLst>
      <p:par>
        <p:cTn id="1" dur="indefinite" restart="never" nodeType="tmRoot"/>
      </p:par>
    </p:tn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p:cNvSpPr>
            <a:spLocks noGrp="1"/>
          </p:cNvSpPr>
          <p:nvPr>
            <p:ph type="title"/>
          </p:nvPr>
        </p:nvSpPr>
        <p:spPr/>
        <p:txBody>
          <a:bodyPr/>
          <a:lstStyle/>
          <a:p>
            <a:r>
              <a:rPr lang="en-US" altLang="zh-TW" dirty="0" smtClean="0"/>
              <a:t>dataset</a:t>
            </a:r>
            <a:endParaRPr lang="zh-TW" altLang="en-US" dirty="0"/>
          </a:p>
        </p:txBody>
      </p:sp>
      <p:sp>
        <p:nvSpPr>
          <p:cNvPr id="3" name="內容版面配置區 2"/>
          <p:cNvSpPr>
            <a:spLocks noGrp="1"/>
          </p:cNvSpPr>
          <p:nvPr>
            <p:ph idx="1"/>
          </p:nvPr>
        </p:nvSpPr>
        <p:spPr/>
        <p:txBody>
          <a:bodyPr>
            <a:normAutofit fontScale="92500" lnSpcReduction="20000"/>
          </a:bodyPr>
          <a:lstStyle/>
          <a:p>
            <a:r>
              <a:rPr lang="en-US" altLang="zh-TW" dirty="0" smtClean="0"/>
              <a:t>synthetic time series dataset : </a:t>
            </a:r>
            <a:r>
              <a:rPr lang="en-US" altLang="zh-TW" dirty="0">
                <a:solidFill>
                  <a:srgbClr val="FFC000"/>
                </a:solidFill>
              </a:rPr>
              <a:t>135 time series </a:t>
            </a:r>
            <a:r>
              <a:rPr lang="en-US" altLang="zh-TW" dirty="0"/>
              <a:t>with different lengths, which includes </a:t>
            </a:r>
            <a:r>
              <a:rPr lang="en-US" altLang="zh-TW" dirty="0" smtClean="0"/>
              <a:t>25,43 </a:t>
            </a:r>
            <a:r>
              <a:rPr lang="en-US" altLang="zh-TW" dirty="0"/>
              <a:t>and 61</a:t>
            </a:r>
            <a:r>
              <a:rPr lang="en-US" altLang="zh-TW" dirty="0" smtClean="0"/>
              <a:t>.</a:t>
            </a:r>
            <a:r>
              <a:rPr lang="en-US" altLang="zh-TW" dirty="0"/>
              <a:t> Each of them belongs to one of the </a:t>
            </a:r>
            <a:r>
              <a:rPr lang="en-US" altLang="zh-TW" dirty="0" smtClean="0"/>
              <a:t>five technical patterns</a:t>
            </a:r>
          </a:p>
          <a:p>
            <a:r>
              <a:rPr lang="en-US" altLang="zh-TW" dirty="0" smtClean="0"/>
              <a:t>Each technical </a:t>
            </a:r>
            <a:r>
              <a:rPr lang="en-US" altLang="zh-TW" dirty="0"/>
              <a:t>pattern is generated to </a:t>
            </a:r>
            <a:r>
              <a:rPr lang="en-US" altLang="zh-TW" dirty="0">
                <a:solidFill>
                  <a:srgbClr val="FFC000"/>
                </a:solidFill>
              </a:rPr>
              <a:t>27 variants </a:t>
            </a:r>
            <a:r>
              <a:rPr lang="en-US" altLang="zh-TW" dirty="0"/>
              <a:t>by </a:t>
            </a:r>
            <a:r>
              <a:rPr lang="en-US" altLang="zh-TW" dirty="0" smtClean="0"/>
              <a:t>applying different </a:t>
            </a:r>
            <a:r>
              <a:rPr lang="en-US" altLang="zh-TW" dirty="0"/>
              <a:t>levels of scaling, time wrapping and noise.</a:t>
            </a:r>
            <a:endParaRPr lang="en-US" altLang="zh-TW" dirty="0" smtClean="0"/>
          </a:p>
          <a:p>
            <a:r>
              <a:rPr lang="en-US" altLang="zh-TW" dirty="0"/>
              <a:t>real </a:t>
            </a:r>
            <a:r>
              <a:rPr lang="en-US" altLang="zh-TW" dirty="0" smtClean="0"/>
              <a:t>dataset : </a:t>
            </a:r>
            <a:r>
              <a:rPr lang="en-US" altLang="zh-TW" dirty="0" smtClean="0">
                <a:solidFill>
                  <a:srgbClr val="FFC000"/>
                </a:solidFill>
              </a:rPr>
              <a:t>50 </a:t>
            </a:r>
            <a:r>
              <a:rPr lang="en-US" altLang="zh-TW" dirty="0">
                <a:solidFill>
                  <a:srgbClr val="FFC000"/>
                </a:solidFill>
              </a:rPr>
              <a:t>stock time series </a:t>
            </a:r>
            <a:r>
              <a:rPr lang="en-US" altLang="zh-TW" dirty="0" smtClean="0">
                <a:solidFill>
                  <a:srgbClr val="FFC000"/>
                </a:solidFill>
              </a:rPr>
              <a:t>subsequences</a:t>
            </a:r>
            <a:r>
              <a:rPr lang="en-US" altLang="zh-TW" dirty="0" smtClean="0"/>
              <a:t> were </a:t>
            </a:r>
            <a:r>
              <a:rPr lang="en-US" altLang="zh-TW" dirty="0"/>
              <a:t>identified by human. Each subsequence is labeled </a:t>
            </a:r>
            <a:r>
              <a:rPr lang="en-US" altLang="zh-TW" dirty="0" smtClean="0"/>
              <a:t>by one </a:t>
            </a:r>
            <a:r>
              <a:rPr lang="en-US" altLang="zh-TW" dirty="0"/>
              <a:t>of the five technical patterns</a:t>
            </a:r>
            <a:r>
              <a:rPr lang="en-US" altLang="zh-TW" dirty="0" smtClean="0"/>
              <a:t>.</a:t>
            </a:r>
            <a:r>
              <a:rPr lang="en-US" altLang="zh-TW" dirty="0"/>
              <a:t> Their lengths are </a:t>
            </a:r>
            <a:r>
              <a:rPr lang="en-US" altLang="zh-TW" dirty="0" smtClean="0"/>
              <a:t>between 22 </a:t>
            </a:r>
            <a:r>
              <a:rPr lang="en-US" altLang="zh-TW" dirty="0"/>
              <a:t>and </a:t>
            </a:r>
            <a:r>
              <a:rPr lang="en-US" altLang="zh-TW" dirty="0" smtClean="0"/>
              <a:t>592.</a:t>
            </a:r>
            <a:endParaRPr lang="zh-TW" altLang="en-US" dirty="0"/>
          </a:p>
        </p:txBody>
      </p:sp>
    </p:spTree>
    <p:extLst>
      <p:ext uri="{BB962C8B-B14F-4D97-AF65-F5344CB8AC3E}">
        <p14:creationId xmlns:p14="http://schemas.microsoft.com/office/powerpoint/2010/main" val="1350470957"/>
      </p:ext>
    </p:extLst>
  </p:cSld>
  <p:clrMapOvr>
    <a:masterClrMapping/>
  </p:clrMapOvr>
  <p:timing>
    <p:tnLst>
      <p:par>
        <p:cTn id="1" dur="indefinite" restart="never" nodeType="tmRoot"/>
      </p:par>
    </p:tn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p:cNvSpPr>
            <a:spLocks noGrp="1"/>
          </p:cNvSpPr>
          <p:nvPr>
            <p:ph type="title"/>
          </p:nvPr>
        </p:nvSpPr>
        <p:spPr/>
        <p:txBody>
          <a:bodyPr/>
          <a:lstStyle/>
          <a:p>
            <a:endParaRPr lang="zh-TW" altLang="en-US"/>
          </a:p>
        </p:txBody>
      </p:sp>
      <p:sp>
        <p:nvSpPr>
          <p:cNvPr id="3" name="內容版面配置區 2"/>
          <p:cNvSpPr>
            <a:spLocks noGrp="1"/>
          </p:cNvSpPr>
          <p:nvPr>
            <p:ph idx="1"/>
          </p:nvPr>
        </p:nvSpPr>
        <p:spPr/>
        <p:txBody>
          <a:bodyPr/>
          <a:lstStyle/>
          <a:p>
            <a:endParaRPr lang="zh-TW" altLang="en-US" dirty="0"/>
          </a:p>
        </p:txBody>
      </p:sp>
      <p:pic>
        <p:nvPicPr>
          <p:cNvPr id="9218" name="Picture 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395536" y="188640"/>
            <a:ext cx="8640960" cy="448108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pic>
        <p:nvPicPr>
          <p:cNvPr id="9219" name="Picture 3"/>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2051720" y="4365104"/>
            <a:ext cx="5544616" cy="237378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extLst>
      <p:ext uri="{BB962C8B-B14F-4D97-AF65-F5344CB8AC3E}">
        <p14:creationId xmlns:p14="http://schemas.microsoft.com/office/powerpoint/2010/main" val="701050442"/>
      </p:ext>
    </p:extLst>
  </p:cSld>
  <p:clrMapOvr>
    <a:masterClrMapping/>
  </p:clrMapOvr>
  <p:timing>
    <p:tnLst>
      <p:par>
        <p:cTn id="1" dur="indefinite" restart="never" nodeType="tmRoot"/>
      </p:par>
    </p:tn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p:cNvSpPr>
            <a:spLocks noGrp="1"/>
          </p:cNvSpPr>
          <p:nvPr>
            <p:ph type="title"/>
          </p:nvPr>
        </p:nvSpPr>
        <p:spPr/>
        <p:txBody>
          <a:bodyPr/>
          <a:lstStyle/>
          <a:p>
            <a:r>
              <a:rPr lang="en-US" altLang="zh-TW" dirty="0" smtClean="0"/>
              <a:t>VD is the best choice</a:t>
            </a:r>
            <a:endParaRPr lang="zh-TW" altLang="en-US" dirty="0"/>
          </a:p>
        </p:txBody>
      </p:sp>
      <p:sp>
        <p:nvSpPr>
          <p:cNvPr id="3" name="內容版面配置區 2"/>
          <p:cNvSpPr>
            <a:spLocks noGrp="1"/>
          </p:cNvSpPr>
          <p:nvPr>
            <p:ph idx="1"/>
          </p:nvPr>
        </p:nvSpPr>
        <p:spPr/>
        <p:txBody>
          <a:bodyPr/>
          <a:lstStyle/>
          <a:p>
            <a:endParaRPr lang="zh-TW" altLang="en-US" dirty="0"/>
          </a:p>
        </p:txBody>
      </p:sp>
      <p:pic>
        <p:nvPicPr>
          <p:cNvPr id="7170" name="Picture 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4848" y="1628800"/>
            <a:ext cx="5007990" cy="304684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pic>
        <p:nvPicPr>
          <p:cNvPr id="7172" name="Picture 4"/>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4644008" y="1747686"/>
            <a:ext cx="4513220" cy="278394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pic>
        <p:nvPicPr>
          <p:cNvPr id="7173" name="Picture 5"/>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539552" y="4891667"/>
            <a:ext cx="7294828" cy="86409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extLst>
      <p:ext uri="{BB962C8B-B14F-4D97-AF65-F5344CB8AC3E}">
        <p14:creationId xmlns:p14="http://schemas.microsoft.com/office/powerpoint/2010/main" val="3100187259"/>
      </p:ext>
    </p:extLst>
  </p:cSld>
  <p:clrMapOvr>
    <a:masterClrMapping/>
  </p:clrMapOvr>
  <p:timing>
    <p:tnLst>
      <p:par>
        <p:cTn id="1" dur="indefinite" restart="never" nodeType="tmRoot"/>
      </p:par>
    </p:tn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p:cNvSpPr>
            <a:spLocks noGrp="1"/>
          </p:cNvSpPr>
          <p:nvPr>
            <p:ph type="title"/>
          </p:nvPr>
        </p:nvSpPr>
        <p:spPr/>
        <p:txBody>
          <a:bodyPr/>
          <a:lstStyle/>
          <a:p>
            <a:endParaRPr lang="zh-TW" altLang="en-US" dirty="0"/>
          </a:p>
        </p:txBody>
      </p:sp>
      <p:sp>
        <p:nvSpPr>
          <p:cNvPr id="3" name="內容版面配置區 2"/>
          <p:cNvSpPr>
            <a:spLocks noGrp="1"/>
          </p:cNvSpPr>
          <p:nvPr>
            <p:ph idx="1"/>
          </p:nvPr>
        </p:nvSpPr>
        <p:spPr/>
        <p:txBody>
          <a:bodyPr/>
          <a:lstStyle/>
          <a:p>
            <a:endParaRPr lang="zh-TW" altLang="en-US"/>
          </a:p>
        </p:txBody>
      </p:sp>
      <p:pic>
        <p:nvPicPr>
          <p:cNvPr id="11266" name="Picture 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38384" y="644752"/>
            <a:ext cx="8828441" cy="621324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4" name="文字方塊 3"/>
          <p:cNvSpPr txBox="1"/>
          <p:nvPr/>
        </p:nvSpPr>
        <p:spPr>
          <a:xfrm>
            <a:off x="2656957" y="297180"/>
            <a:ext cx="3791294" cy="369332"/>
          </a:xfrm>
          <a:prstGeom prst="rect">
            <a:avLst/>
          </a:prstGeom>
          <a:noFill/>
        </p:spPr>
        <p:txBody>
          <a:bodyPr wrap="none" rtlCol="0">
            <a:spAutoFit/>
          </a:bodyPr>
          <a:lstStyle/>
          <a:p>
            <a:r>
              <a:rPr lang="en-US" altLang="zh-TW" dirty="0"/>
              <a:t>Identification of a ‘‘Triple Top’’ pattern</a:t>
            </a:r>
            <a:endParaRPr lang="zh-TW" altLang="en-US" dirty="0"/>
          </a:p>
        </p:txBody>
      </p:sp>
    </p:spTree>
    <p:extLst>
      <p:ext uri="{BB962C8B-B14F-4D97-AF65-F5344CB8AC3E}">
        <p14:creationId xmlns:p14="http://schemas.microsoft.com/office/powerpoint/2010/main" val="989367817"/>
      </p:ext>
    </p:extLst>
  </p:cSld>
  <p:clrMapOvr>
    <a:masterClrMapping/>
  </p:clrMapOvr>
  <p:timing>
    <p:tnLst>
      <p:par>
        <p:cTn id="1" dur="indefinite" restart="never" nodeType="tmRoot"/>
      </p:par>
    </p:tn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p:cNvSpPr>
            <a:spLocks noGrp="1"/>
          </p:cNvSpPr>
          <p:nvPr>
            <p:ph type="title"/>
          </p:nvPr>
        </p:nvSpPr>
        <p:spPr/>
        <p:txBody>
          <a:bodyPr/>
          <a:lstStyle/>
          <a:p>
            <a:endParaRPr lang="zh-TW" altLang="en-US"/>
          </a:p>
        </p:txBody>
      </p:sp>
      <p:sp>
        <p:nvSpPr>
          <p:cNvPr id="3" name="內容版面配置區 2"/>
          <p:cNvSpPr>
            <a:spLocks noGrp="1"/>
          </p:cNvSpPr>
          <p:nvPr>
            <p:ph idx="1"/>
          </p:nvPr>
        </p:nvSpPr>
        <p:spPr/>
        <p:txBody>
          <a:bodyPr/>
          <a:lstStyle/>
          <a:p>
            <a:endParaRPr lang="zh-TW" altLang="en-US"/>
          </a:p>
        </p:txBody>
      </p:sp>
      <p:pic>
        <p:nvPicPr>
          <p:cNvPr id="12290" name="Picture 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78372" y="764703"/>
            <a:ext cx="8858124" cy="615093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extLst>
      <p:ext uri="{BB962C8B-B14F-4D97-AF65-F5344CB8AC3E}">
        <p14:creationId xmlns:p14="http://schemas.microsoft.com/office/powerpoint/2010/main" val="680784423"/>
      </p:ext>
    </p:extLst>
  </p:cSld>
  <p:clrMapOvr>
    <a:masterClrMapping/>
  </p:clrMapOvr>
  <p:timing>
    <p:tnLst>
      <p:par>
        <p:cTn id="1" dur="indefinite" restart="never" nodeType="tmRoot"/>
      </p:par>
    </p:tn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p:cNvSpPr>
            <a:spLocks noGrp="1"/>
          </p:cNvSpPr>
          <p:nvPr>
            <p:ph type="title"/>
          </p:nvPr>
        </p:nvSpPr>
        <p:spPr/>
        <p:txBody>
          <a:bodyPr/>
          <a:lstStyle/>
          <a:p>
            <a:endParaRPr lang="zh-TW" altLang="en-US"/>
          </a:p>
        </p:txBody>
      </p:sp>
      <p:sp>
        <p:nvSpPr>
          <p:cNvPr id="3" name="內容版面配置區 2"/>
          <p:cNvSpPr>
            <a:spLocks noGrp="1"/>
          </p:cNvSpPr>
          <p:nvPr>
            <p:ph idx="1"/>
          </p:nvPr>
        </p:nvSpPr>
        <p:spPr/>
        <p:txBody>
          <a:bodyPr/>
          <a:lstStyle/>
          <a:p>
            <a:endParaRPr lang="zh-TW" altLang="en-US"/>
          </a:p>
        </p:txBody>
      </p:sp>
      <p:pic>
        <p:nvPicPr>
          <p:cNvPr id="13314" name="Picture 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25168" y="596936"/>
            <a:ext cx="9587392" cy="628621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extLst>
      <p:ext uri="{BB962C8B-B14F-4D97-AF65-F5344CB8AC3E}">
        <p14:creationId xmlns:p14="http://schemas.microsoft.com/office/powerpoint/2010/main" val="538478216"/>
      </p:ext>
    </p:extLst>
  </p:cSld>
  <p:clrMapOvr>
    <a:masterClrMapping/>
  </p:clrMapOvr>
  <p:timing>
    <p:tnLst>
      <p:par>
        <p:cTn id="1" dur="indefinite" restart="never" nodeType="tmRoot"/>
      </p:par>
    </p:tn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p:cNvSpPr>
            <a:spLocks noGrp="1"/>
          </p:cNvSpPr>
          <p:nvPr>
            <p:ph type="title"/>
          </p:nvPr>
        </p:nvSpPr>
        <p:spPr/>
        <p:txBody>
          <a:bodyPr/>
          <a:lstStyle/>
          <a:p>
            <a:endParaRPr lang="zh-TW" altLang="en-US"/>
          </a:p>
        </p:txBody>
      </p:sp>
      <p:sp>
        <p:nvSpPr>
          <p:cNvPr id="3" name="內容版面配置區 2"/>
          <p:cNvSpPr>
            <a:spLocks noGrp="1"/>
          </p:cNvSpPr>
          <p:nvPr>
            <p:ph idx="1"/>
          </p:nvPr>
        </p:nvSpPr>
        <p:spPr/>
        <p:txBody>
          <a:bodyPr/>
          <a:lstStyle/>
          <a:p>
            <a:endParaRPr lang="zh-TW" altLang="en-US"/>
          </a:p>
        </p:txBody>
      </p:sp>
      <p:pic>
        <p:nvPicPr>
          <p:cNvPr id="14338" name="Picture 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0" y="260648"/>
            <a:ext cx="9380520" cy="669532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extLst>
      <p:ext uri="{BB962C8B-B14F-4D97-AF65-F5344CB8AC3E}">
        <p14:creationId xmlns:p14="http://schemas.microsoft.com/office/powerpoint/2010/main" val="3515474830"/>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p:cNvSpPr>
            <a:spLocks noGrp="1"/>
          </p:cNvSpPr>
          <p:nvPr>
            <p:ph type="title"/>
          </p:nvPr>
        </p:nvSpPr>
        <p:spPr/>
        <p:txBody>
          <a:bodyPr/>
          <a:lstStyle/>
          <a:p>
            <a:endParaRPr lang="zh-TW" altLang="en-US" dirty="0"/>
          </a:p>
        </p:txBody>
      </p:sp>
      <p:sp>
        <p:nvSpPr>
          <p:cNvPr id="3" name="內容版面配置區 2"/>
          <p:cNvSpPr>
            <a:spLocks noGrp="1"/>
          </p:cNvSpPr>
          <p:nvPr>
            <p:ph idx="1"/>
          </p:nvPr>
        </p:nvSpPr>
        <p:spPr/>
        <p:txBody>
          <a:bodyPr/>
          <a:lstStyle/>
          <a:p>
            <a:endParaRPr lang="zh-TW" altLang="en-US"/>
          </a:p>
        </p:txBody>
      </p:sp>
      <p:sp>
        <p:nvSpPr>
          <p:cNvPr id="4" name="文字方塊 3"/>
          <p:cNvSpPr txBox="1"/>
          <p:nvPr/>
        </p:nvSpPr>
        <p:spPr>
          <a:xfrm>
            <a:off x="2713433" y="301298"/>
            <a:ext cx="3752630" cy="369332"/>
          </a:xfrm>
          <a:prstGeom prst="rect">
            <a:avLst/>
          </a:prstGeom>
          <a:noFill/>
        </p:spPr>
        <p:txBody>
          <a:bodyPr wrap="none" rtlCol="0">
            <a:spAutoFit/>
          </a:bodyPr>
          <a:lstStyle/>
          <a:p>
            <a:r>
              <a:rPr lang="en-US" altLang="zh-TW" dirty="0"/>
              <a:t>Identification of a ‘‘Spike Top’’ pattern</a:t>
            </a:r>
            <a:endParaRPr lang="zh-TW" altLang="en-US" dirty="0"/>
          </a:p>
        </p:txBody>
      </p:sp>
      <p:pic>
        <p:nvPicPr>
          <p:cNvPr id="15362" name="Picture 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79512" y="631036"/>
            <a:ext cx="8820472" cy="618234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extLst>
      <p:ext uri="{BB962C8B-B14F-4D97-AF65-F5344CB8AC3E}">
        <p14:creationId xmlns:p14="http://schemas.microsoft.com/office/powerpoint/2010/main" val="3051983124"/>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p:cNvSpPr>
            <a:spLocks noGrp="1"/>
          </p:cNvSpPr>
          <p:nvPr>
            <p:ph type="title"/>
          </p:nvPr>
        </p:nvSpPr>
        <p:spPr/>
        <p:txBody>
          <a:bodyPr/>
          <a:lstStyle/>
          <a:p>
            <a:endParaRPr lang="zh-TW" altLang="en-US"/>
          </a:p>
        </p:txBody>
      </p:sp>
      <p:sp>
        <p:nvSpPr>
          <p:cNvPr id="3" name="內容版面配置區 2"/>
          <p:cNvSpPr>
            <a:spLocks noGrp="1"/>
          </p:cNvSpPr>
          <p:nvPr>
            <p:ph idx="1"/>
          </p:nvPr>
        </p:nvSpPr>
        <p:spPr/>
        <p:txBody>
          <a:bodyPr/>
          <a:lstStyle/>
          <a:p>
            <a:endParaRPr lang="zh-TW" altLang="en-US"/>
          </a:p>
        </p:txBody>
      </p:sp>
      <p:pic>
        <p:nvPicPr>
          <p:cNvPr id="16386" name="Picture 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79512" y="548680"/>
            <a:ext cx="8640960" cy="604784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extLst>
      <p:ext uri="{BB962C8B-B14F-4D97-AF65-F5344CB8AC3E}">
        <p14:creationId xmlns:p14="http://schemas.microsoft.com/office/powerpoint/2010/main" val="482776624"/>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p:cNvSpPr>
            <a:spLocks noGrp="1"/>
          </p:cNvSpPr>
          <p:nvPr>
            <p:ph type="title"/>
          </p:nvPr>
        </p:nvSpPr>
        <p:spPr/>
        <p:txBody>
          <a:bodyPr/>
          <a:lstStyle/>
          <a:p>
            <a:endParaRPr lang="zh-TW" altLang="en-US"/>
          </a:p>
        </p:txBody>
      </p:sp>
      <p:sp>
        <p:nvSpPr>
          <p:cNvPr id="3" name="內容版面配置區 2"/>
          <p:cNvSpPr>
            <a:spLocks noGrp="1"/>
          </p:cNvSpPr>
          <p:nvPr>
            <p:ph idx="1"/>
          </p:nvPr>
        </p:nvSpPr>
        <p:spPr/>
        <p:txBody>
          <a:bodyPr/>
          <a:lstStyle/>
          <a:p>
            <a:endParaRPr lang="zh-TW" altLang="en-US"/>
          </a:p>
        </p:txBody>
      </p:sp>
      <p:pic>
        <p:nvPicPr>
          <p:cNvPr id="17410" name="Picture 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79511" y="116632"/>
            <a:ext cx="8745019" cy="612068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extLst>
      <p:ext uri="{BB962C8B-B14F-4D97-AF65-F5344CB8AC3E}">
        <p14:creationId xmlns:p14="http://schemas.microsoft.com/office/powerpoint/2010/main" val="1649752406"/>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p:cNvSpPr>
            <a:spLocks noGrp="1"/>
          </p:cNvSpPr>
          <p:nvPr>
            <p:ph type="title"/>
          </p:nvPr>
        </p:nvSpPr>
        <p:spPr/>
        <p:txBody>
          <a:bodyPr/>
          <a:lstStyle/>
          <a:p>
            <a:endParaRPr lang="zh-TW" altLang="en-US"/>
          </a:p>
        </p:txBody>
      </p:sp>
      <p:sp>
        <p:nvSpPr>
          <p:cNvPr id="3" name="內容版面配置區 2"/>
          <p:cNvSpPr>
            <a:spLocks noGrp="1"/>
          </p:cNvSpPr>
          <p:nvPr>
            <p:ph idx="1"/>
          </p:nvPr>
        </p:nvSpPr>
        <p:spPr/>
        <p:txBody>
          <a:bodyPr/>
          <a:lstStyle/>
          <a:p>
            <a:endParaRPr lang="zh-TW" altLang="en-US"/>
          </a:p>
        </p:txBody>
      </p:sp>
      <p:pic>
        <p:nvPicPr>
          <p:cNvPr id="18434" name="Picture 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08520" y="332655"/>
            <a:ext cx="8856984" cy="606609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extLst>
      <p:ext uri="{BB962C8B-B14F-4D97-AF65-F5344CB8AC3E}">
        <p14:creationId xmlns:p14="http://schemas.microsoft.com/office/powerpoint/2010/main" val="3327506027"/>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p:cNvSpPr>
            <a:spLocks noGrp="1"/>
          </p:cNvSpPr>
          <p:nvPr>
            <p:ph type="title"/>
          </p:nvPr>
        </p:nvSpPr>
        <p:spPr/>
        <p:txBody>
          <a:bodyPr>
            <a:normAutofit/>
          </a:bodyPr>
          <a:lstStyle/>
          <a:p>
            <a:r>
              <a:rPr lang="en-US" altLang="zh-TW" sz="3300" dirty="0"/>
              <a:t>Average accuracy for the synthetic dataset</a:t>
            </a:r>
            <a:endParaRPr lang="zh-TW" altLang="en-US" sz="3300" dirty="0"/>
          </a:p>
        </p:txBody>
      </p:sp>
      <p:sp>
        <p:nvSpPr>
          <p:cNvPr id="3" name="內容版面配置區 2"/>
          <p:cNvSpPr>
            <a:spLocks noGrp="1"/>
          </p:cNvSpPr>
          <p:nvPr>
            <p:ph idx="1"/>
          </p:nvPr>
        </p:nvSpPr>
        <p:spPr/>
        <p:txBody>
          <a:bodyPr/>
          <a:lstStyle/>
          <a:p>
            <a:endParaRPr lang="zh-TW" altLang="en-US"/>
          </a:p>
        </p:txBody>
      </p:sp>
      <p:pic>
        <p:nvPicPr>
          <p:cNvPr id="8196" name="Picture 4"/>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395536" y="1700808"/>
            <a:ext cx="8227610" cy="424847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extLst>
      <p:ext uri="{BB962C8B-B14F-4D97-AF65-F5344CB8AC3E}">
        <p14:creationId xmlns:p14="http://schemas.microsoft.com/office/powerpoint/2010/main" val="2444769737"/>
      </p:ext>
    </p:extLst>
  </p:cSld>
  <p:clrMapOvr>
    <a:masterClrMapping/>
  </p:clrMapOvr>
  <p:timing>
    <p:tnLst>
      <p:par>
        <p:cTn id="1" dur="indefinite" restart="never" nodeType="tmRoot"/>
      </p:par>
    </p:tnLst>
  </p:timing>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p:cNvSpPr>
            <a:spLocks noGrp="1"/>
          </p:cNvSpPr>
          <p:nvPr>
            <p:ph type="title"/>
          </p:nvPr>
        </p:nvSpPr>
        <p:spPr/>
        <p:txBody>
          <a:bodyPr>
            <a:normAutofit/>
          </a:bodyPr>
          <a:lstStyle/>
          <a:p>
            <a:r>
              <a:rPr lang="en-US" altLang="zh-TW" sz="3300" dirty="0"/>
              <a:t>Average accuracy for the real dataset</a:t>
            </a:r>
            <a:endParaRPr lang="zh-TW" altLang="en-US" sz="3300" dirty="0"/>
          </a:p>
        </p:txBody>
      </p:sp>
      <p:sp>
        <p:nvSpPr>
          <p:cNvPr id="3" name="內容版面配置區 2"/>
          <p:cNvSpPr>
            <a:spLocks noGrp="1"/>
          </p:cNvSpPr>
          <p:nvPr>
            <p:ph idx="1"/>
          </p:nvPr>
        </p:nvSpPr>
        <p:spPr/>
        <p:txBody>
          <a:bodyPr/>
          <a:lstStyle/>
          <a:p>
            <a:endParaRPr lang="zh-TW" altLang="en-US"/>
          </a:p>
        </p:txBody>
      </p:sp>
      <p:pic>
        <p:nvPicPr>
          <p:cNvPr id="10244" name="Picture 4"/>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467544" y="1988840"/>
            <a:ext cx="8046087" cy="38884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extLst>
      <p:ext uri="{BB962C8B-B14F-4D97-AF65-F5344CB8AC3E}">
        <p14:creationId xmlns:p14="http://schemas.microsoft.com/office/powerpoint/2010/main" val="1378501282"/>
      </p:ext>
    </p:extLst>
  </p:cSld>
  <p:clrMapOvr>
    <a:masterClrMapping/>
  </p:clrMapOvr>
  <p:timing>
    <p:tnLst>
      <p:par>
        <p:cTn id="1" dur="indefinite" restart="never" nodeType="tmRoot"/>
      </p:par>
    </p:tnLst>
  </p:timing>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p:cNvSpPr>
            <a:spLocks noGrp="1"/>
          </p:cNvSpPr>
          <p:nvPr>
            <p:ph type="title"/>
          </p:nvPr>
        </p:nvSpPr>
        <p:spPr/>
        <p:txBody>
          <a:bodyPr/>
          <a:lstStyle/>
          <a:p>
            <a:r>
              <a:rPr lang="en-US" altLang="zh-TW" dirty="0"/>
              <a:t>Conclusion</a:t>
            </a:r>
            <a:endParaRPr lang="zh-TW" altLang="en-US" dirty="0"/>
          </a:p>
        </p:txBody>
      </p:sp>
      <p:sp>
        <p:nvSpPr>
          <p:cNvPr id="3" name="內容版面配置區 2"/>
          <p:cNvSpPr>
            <a:spLocks noGrp="1"/>
          </p:cNvSpPr>
          <p:nvPr>
            <p:ph idx="1"/>
          </p:nvPr>
        </p:nvSpPr>
        <p:spPr/>
        <p:txBody>
          <a:bodyPr>
            <a:normAutofit/>
          </a:bodyPr>
          <a:lstStyle/>
          <a:p>
            <a:r>
              <a:rPr lang="en-US" altLang="zh-TW" dirty="0"/>
              <a:t>the </a:t>
            </a:r>
            <a:r>
              <a:rPr lang="en-US" altLang="zh-TW" dirty="0" smtClean="0"/>
              <a:t>template-based </a:t>
            </a:r>
            <a:r>
              <a:rPr lang="en-US" altLang="zh-TW" dirty="0"/>
              <a:t>approach provides an effective time </a:t>
            </a:r>
            <a:r>
              <a:rPr lang="en-US" altLang="zh-TW" dirty="0" smtClean="0"/>
              <a:t>series pattern </a:t>
            </a:r>
            <a:r>
              <a:rPr lang="en-US" altLang="zh-TW" dirty="0"/>
              <a:t>matching tool, while the rule-based </a:t>
            </a:r>
            <a:r>
              <a:rPr lang="en-US" altLang="zh-TW" dirty="0" smtClean="0"/>
              <a:t>approach provides </a:t>
            </a:r>
            <a:r>
              <a:rPr lang="en-US" altLang="zh-TW" dirty="0"/>
              <a:t>further ability for describing the query </a:t>
            </a:r>
            <a:r>
              <a:rPr lang="en-US" altLang="zh-TW" dirty="0" smtClean="0"/>
              <a:t>patterns and </a:t>
            </a:r>
            <a:r>
              <a:rPr lang="en-US" altLang="zh-TW" dirty="0"/>
              <a:t>is constrainable on the shape of the query patterns.</a:t>
            </a:r>
            <a:endParaRPr lang="zh-TW" altLang="en-US" dirty="0"/>
          </a:p>
        </p:txBody>
      </p:sp>
    </p:spTree>
    <p:extLst>
      <p:ext uri="{BB962C8B-B14F-4D97-AF65-F5344CB8AC3E}">
        <p14:creationId xmlns:p14="http://schemas.microsoft.com/office/powerpoint/2010/main" val="480972922"/>
      </p:ext>
    </p:extLst>
  </p:cSld>
  <p:clrMapOvr>
    <a:masterClrMapping/>
  </p:clrMapOvr>
</p:sld>
</file>

<file path=ppt/theme/theme1.xml><?xml version="1.0" encoding="utf-8"?>
<a:theme xmlns:a="http://schemas.openxmlformats.org/drawingml/2006/main" name="Office 佈景主題">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224</TotalTime>
  <Words>514</Words>
  <Application>Microsoft Office PowerPoint</Application>
  <PresentationFormat>如螢幕大小 (4:3)</PresentationFormat>
  <Paragraphs>63</Paragraphs>
  <Slides>23</Slides>
  <Notes>0</Notes>
  <HiddenSlides>0</HiddenSlides>
  <MMClips>0</MMClips>
  <ScaleCrop>false</ScaleCrop>
  <HeadingPairs>
    <vt:vector size="4" baseType="variant">
      <vt:variant>
        <vt:lpstr>佈景主題</vt:lpstr>
      </vt:variant>
      <vt:variant>
        <vt:i4>1</vt:i4>
      </vt:variant>
      <vt:variant>
        <vt:lpstr>投影片標題</vt:lpstr>
      </vt:variant>
      <vt:variant>
        <vt:i4>23</vt:i4>
      </vt:variant>
    </vt:vector>
  </HeadingPairs>
  <TitlesOfParts>
    <vt:vector size="24" baseType="lpstr">
      <vt:lpstr>Office 佈景主題</vt:lpstr>
      <vt:lpstr>Stock time series pattern matching: Template-based vs. rule-based approaches</vt:lpstr>
      <vt:lpstr>Abstract(1/2)</vt:lpstr>
      <vt:lpstr>Abstract(2/2)</vt:lpstr>
      <vt:lpstr>Five typical technical analysis reversal patterns</vt:lpstr>
      <vt:lpstr>perceptually important points(PIP) identification</vt:lpstr>
      <vt:lpstr>3 distance measures</vt:lpstr>
      <vt:lpstr>Template-based pattern-matching approach</vt:lpstr>
      <vt:lpstr>Rule-based pattern-matching approach</vt:lpstr>
      <vt:lpstr>PowerPoint 簡報</vt:lpstr>
      <vt:lpstr>dataset</vt:lpstr>
      <vt:lpstr>PowerPoint 簡報</vt:lpstr>
      <vt:lpstr>VD is the best choice</vt:lpstr>
      <vt:lpstr>PowerPoint 簡報</vt:lpstr>
      <vt:lpstr>PowerPoint 簡報</vt:lpstr>
      <vt:lpstr>PowerPoint 簡報</vt:lpstr>
      <vt:lpstr>PowerPoint 簡報</vt:lpstr>
      <vt:lpstr>PowerPoint 簡報</vt:lpstr>
      <vt:lpstr>PowerPoint 簡報</vt:lpstr>
      <vt:lpstr>PowerPoint 簡報</vt:lpstr>
      <vt:lpstr>PowerPoint 簡報</vt:lpstr>
      <vt:lpstr>Average accuracy for the synthetic dataset</vt:lpstr>
      <vt:lpstr>Average accuracy for the real dataset</vt:lpstr>
      <vt:lpstr>Conclusion</vt:lpstr>
    </vt:vector>
  </TitlesOfParts>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Stock time series pattern matching: Template-based vs. rule-based approaches</dc:title>
  <dc:creator>HCH</dc:creator>
  <cp:lastModifiedBy>HCH</cp:lastModifiedBy>
  <cp:revision>17</cp:revision>
  <dcterms:created xsi:type="dcterms:W3CDTF">2011-12-19T06:40:47Z</dcterms:created>
  <dcterms:modified xsi:type="dcterms:W3CDTF">2011-12-19T10:25:35Z</dcterms:modified>
</cp:coreProperties>
</file>