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Default Extension="vml" ContentType="application/vnd.openxmlformats-officedocument.vmlDrawing"/>
  <Override PartName="/ppt/diagrams/layout1.xml" ContentType="application/vnd.openxmlformats-officedocument.drawingml.diagramLayout+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drawing1.xml" ContentType="application/vnd.ms-office.drawingml.diagramDrawing+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diagrams/quickStyle1.xml" ContentType="application/vnd.openxmlformats-officedocument.drawingml.diagramStyle+xml"/>
  <Default Extension="jpeg" ContentType="image/jpe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80" r:id="rId5"/>
    <p:sldId id="281" r:id="rId6"/>
    <p:sldId id="282" r:id="rId7"/>
    <p:sldId id="290" r:id="rId8"/>
    <p:sldId id="292" r:id="rId9"/>
    <p:sldId id="295" r:id="rId10"/>
    <p:sldId id="296" r:id="rId11"/>
    <p:sldId id="297" r:id="rId12"/>
    <p:sldId id="285" r:id="rId13"/>
    <p:sldId id="272" r:id="rId14"/>
    <p:sldId id="271" r:id="rId15"/>
    <p:sldId id="266" r:id="rId16"/>
    <p:sldId id="277" r:id="rId17"/>
    <p:sldId id="284" r:id="rId18"/>
    <p:sldId id="286" r:id="rId19"/>
    <p:sldId id="287" r:id="rId20"/>
    <p:sldId id="283" r:id="rId21"/>
    <p:sldId id="289" r:id="rId22"/>
    <p:sldId id="260" r:id="rId23"/>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249" autoAdjust="0"/>
  </p:normalViewPr>
  <p:slideViewPr>
    <p:cSldViewPr>
      <p:cViewPr>
        <p:scale>
          <a:sx n="95" d="100"/>
          <a:sy n="95" d="100"/>
        </p:scale>
        <p:origin x="-1458" y="-25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6_1">
  <dgm:title val=""/>
  <dgm:desc val=""/>
  <dgm:catLst>
    <dgm:cat type="accent6" pri="11100"/>
  </dgm:catLst>
  <dgm:styleLbl name="node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6">
        <a:shade val="80000"/>
      </a:schemeClr>
    </dgm:linClrLst>
    <dgm:effectClrLst/>
    <dgm:txLinClrLst/>
    <dgm:txFillClrLst/>
    <dgm:txEffectClrLst/>
  </dgm:styleLbl>
  <dgm:styleLbl name="node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f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align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bgImgPlace1">
    <dgm:fillClrLst meth="repeat">
      <a:schemeClr val="accent6">
        <a:tint val="40000"/>
      </a:schemeClr>
    </dgm:fillClrLst>
    <dgm:linClrLst meth="repeat">
      <a:schemeClr val="accent6">
        <a:shade val="80000"/>
      </a:schemeClr>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meth="repeat">
      <a:schemeClr val="dk1"/>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dgm:linClrLst>
    <dgm:effectClrLst/>
    <dgm:txLinClrLst/>
    <dgm:txFillClrLst meth="repeat">
      <a:schemeClr val="tx1"/>
    </dgm:txFillClrLst>
    <dgm:txEffectClrLst/>
  </dgm:styleLbl>
  <dgm:styleLbl name="asst0">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6">
        <a:shade val="80000"/>
      </a:schemeClr>
    </dgm:linClrLst>
    <dgm:effectClrLst/>
    <dgm:txLinClrLst/>
    <dgm:txFillClrLst meth="repeat">
      <a:schemeClr val="dk1"/>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dgm:txEffectClrLst/>
  </dgm:styleLbl>
  <dgm:styleLbl name="parChTrans2D2">
    <dgm:fillClrLst meth="repeat">
      <a:schemeClr val="accent6"/>
    </dgm:fillClrLst>
    <dgm:linClrLst meth="repeat">
      <a:schemeClr val="accent6"/>
    </dgm:linClrLst>
    <dgm:effectClrLst/>
    <dgm:txLinClrLst/>
    <dgm:txFillClrLst/>
    <dgm:txEffectClrLst/>
  </dgm:styleLbl>
  <dgm:styleLbl name="parChTrans2D3">
    <dgm:fillClrLst meth="repeat">
      <a:schemeClr val="accent6"/>
    </dgm:fillClrLst>
    <dgm:linClrLst meth="repeat">
      <a:schemeClr val="accent6"/>
    </dgm:linClrLst>
    <dgm:effectClrLst/>
    <dgm:txLinClrLst/>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conF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align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trAlignAcc1">
    <dgm:fillClrLst meth="repeat">
      <a:schemeClr val="accent6">
        <a:alpha val="40000"/>
        <a:tint val="40000"/>
      </a:schemeClr>
    </dgm:fillClrLst>
    <dgm:linClrLst meth="repeat">
      <a:schemeClr val="accent6"/>
    </dgm:linClrLst>
    <dgm:effectClrLst/>
    <dgm:txLinClrLst/>
    <dgm:txFillClrLst meth="repeat">
      <a:schemeClr val="dk1"/>
    </dgm:txFillClrLst>
    <dgm:txEffectClrLst/>
  </dgm:styleLbl>
  <dgm:styleLbl name="bgAcc1">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6">
        <a:alpha val="90000"/>
      </a:schemeClr>
    </dgm:linClrLst>
    <dgm:effectClrLst/>
    <dgm:txLinClrLst/>
    <dgm:txFillClrLst meth="repeat">
      <a:schemeClr val="dk1"/>
    </dgm:txFillClrLst>
    <dgm:txEffectClrLst/>
  </dgm:styleLbl>
  <dgm:styleLbl name="fgAcc0">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2">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3">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fgAcc4">
    <dgm:fillClrLst meth="repeat">
      <a:schemeClr val="accent6">
        <a:alpha val="90000"/>
        <a:tint val="4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7AF1C8B-506C-4EF8-9796-CFC431E05208}" type="doc">
      <dgm:prSet loTypeId="urn:microsoft.com/office/officeart/2005/8/layout/process4" loCatId="process" qsTypeId="urn:microsoft.com/office/officeart/2005/8/quickstyle/simple1" qsCatId="simple" csTypeId="urn:microsoft.com/office/officeart/2005/8/colors/accent6_1" csCatId="accent6" phldr="1"/>
      <dgm:spPr/>
    </dgm:pt>
    <dgm:pt modelId="{37174841-6DFF-46B6-88FF-6998CD4D85D8}">
      <dgm:prSet phldrT="[文字]"/>
      <dgm:spPr/>
      <dgm:t>
        <a:bodyPr/>
        <a:lstStyle/>
        <a:p>
          <a:r>
            <a:rPr lang="zh-TW" altLang="en-US" dirty="0" smtClean="0"/>
            <a:t>三維網格技術建構蛋白質立體結構</a:t>
          </a:r>
          <a:r>
            <a:rPr lang="en-US" altLang="zh-TW" dirty="0" smtClean="0"/>
            <a:t>(</a:t>
          </a:r>
          <a:r>
            <a:rPr lang="zh-TW" altLang="en-US" dirty="0" smtClean="0"/>
            <a:t>讀取</a:t>
          </a:r>
          <a:r>
            <a:rPr lang="en-US" altLang="zh-TW" dirty="0" smtClean="0"/>
            <a:t>PDB</a:t>
          </a:r>
          <a:r>
            <a:rPr lang="zh-TW" altLang="en-US" dirty="0" smtClean="0"/>
            <a:t>檔，三維網格化，決定表面格點</a:t>
          </a:r>
          <a:r>
            <a:rPr lang="en-US" altLang="zh-TW" dirty="0" smtClean="0"/>
            <a:t>)</a:t>
          </a:r>
          <a:endParaRPr lang="zh-TW" altLang="en-US" dirty="0"/>
        </a:p>
      </dgm:t>
    </dgm:pt>
    <dgm:pt modelId="{4E4C8BF8-FFEA-4012-B3D3-C7CEC4385C63}" type="parTrans" cxnId="{65E54FAC-15B1-4F83-821C-B454ED5527D1}">
      <dgm:prSet/>
      <dgm:spPr/>
      <dgm:t>
        <a:bodyPr/>
        <a:lstStyle/>
        <a:p>
          <a:endParaRPr lang="zh-TW" altLang="en-US"/>
        </a:p>
      </dgm:t>
    </dgm:pt>
    <dgm:pt modelId="{0F7CD38B-689E-4F64-9C09-084700825374}" type="sibTrans" cxnId="{65E54FAC-15B1-4F83-821C-B454ED5527D1}">
      <dgm:prSet/>
      <dgm:spPr/>
      <dgm:t>
        <a:bodyPr/>
        <a:lstStyle/>
        <a:p>
          <a:endParaRPr lang="zh-TW" altLang="en-US"/>
        </a:p>
      </dgm:t>
    </dgm:pt>
    <dgm:pt modelId="{A8636A27-CDF7-4A83-8014-014AC96C3D31}">
      <dgm:prSet phldrT="[文字]"/>
      <dgm:spPr/>
      <dgm:t>
        <a:bodyPr/>
        <a:lstStyle/>
        <a:p>
          <a:r>
            <a:rPr lang="zh-TW" altLang="en-US" dirty="0" smtClean="0"/>
            <a:t>立體角計算</a:t>
          </a:r>
          <a:r>
            <a:rPr lang="en-US" altLang="zh-TW" dirty="0" smtClean="0"/>
            <a:t>(</a:t>
          </a:r>
          <a:r>
            <a:rPr lang="zh-TW" altLang="en-US" dirty="0" smtClean="0"/>
            <a:t>平行計算立體角並依立體角大小排序</a:t>
          </a:r>
          <a:r>
            <a:rPr lang="en-US" altLang="zh-TW" dirty="0" smtClean="0"/>
            <a:t>)</a:t>
          </a:r>
          <a:endParaRPr lang="zh-TW" altLang="en-US" dirty="0"/>
        </a:p>
      </dgm:t>
    </dgm:pt>
    <dgm:pt modelId="{D56E1632-049D-47BB-8A52-D16DDDFF935B}" type="parTrans" cxnId="{03030A05-C92A-4E77-84A8-09ADA5F1A82F}">
      <dgm:prSet/>
      <dgm:spPr/>
      <dgm:t>
        <a:bodyPr/>
        <a:lstStyle/>
        <a:p>
          <a:endParaRPr lang="zh-TW" altLang="en-US"/>
        </a:p>
      </dgm:t>
    </dgm:pt>
    <dgm:pt modelId="{AD9A930F-05EE-4DE9-9A00-908FD8E8707B}" type="sibTrans" cxnId="{03030A05-C92A-4E77-84A8-09ADA5F1A82F}">
      <dgm:prSet/>
      <dgm:spPr/>
      <dgm:t>
        <a:bodyPr/>
        <a:lstStyle/>
        <a:p>
          <a:endParaRPr lang="zh-TW" altLang="en-US"/>
        </a:p>
      </dgm:t>
    </dgm:pt>
    <dgm:pt modelId="{C0F4C552-105D-4186-BEF5-13730FE74D6A}">
      <dgm:prSet phldrT="[文字]"/>
      <dgm:spPr/>
      <dgm:t>
        <a:bodyPr/>
        <a:lstStyle/>
        <a:p>
          <a:r>
            <a:rPr lang="zh-TW" altLang="en-US" b="0" dirty="0" smtClean="0"/>
            <a:t>找錨點及分群</a:t>
          </a:r>
          <a:r>
            <a:rPr lang="en-US" altLang="zh-TW" b="0" dirty="0" smtClean="0"/>
            <a:t>(</a:t>
          </a:r>
          <a:r>
            <a:rPr lang="zh-TW" altLang="en-US" b="0" dirty="0" smtClean="0"/>
            <a:t>依立體角決定描點並分群</a:t>
          </a:r>
          <a:r>
            <a:rPr lang="en-US" altLang="zh-TW" b="0" dirty="0" smtClean="0"/>
            <a:t>)</a:t>
          </a:r>
          <a:endParaRPr lang="zh-TW" altLang="en-US" b="0" dirty="0"/>
        </a:p>
      </dgm:t>
    </dgm:pt>
    <dgm:pt modelId="{8576B9E5-F267-4F11-B253-B03066FA7455}" type="parTrans" cxnId="{0096680D-64C2-4AD6-BA76-03CADC4B8479}">
      <dgm:prSet/>
      <dgm:spPr/>
      <dgm:t>
        <a:bodyPr/>
        <a:lstStyle/>
        <a:p>
          <a:endParaRPr lang="zh-TW" altLang="en-US"/>
        </a:p>
      </dgm:t>
    </dgm:pt>
    <dgm:pt modelId="{F5E4025E-68FE-4358-8EBF-45938513E123}" type="sibTrans" cxnId="{0096680D-64C2-4AD6-BA76-03CADC4B8479}">
      <dgm:prSet/>
      <dgm:spPr/>
      <dgm:t>
        <a:bodyPr/>
        <a:lstStyle/>
        <a:p>
          <a:endParaRPr lang="zh-TW" altLang="en-US"/>
        </a:p>
      </dgm:t>
    </dgm:pt>
    <dgm:pt modelId="{628D1ED3-81D8-4E53-AF14-A97BD85866BC}">
      <dgm:prSet/>
      <dgm:spPr/>
      <dgm:t>
        <a:bodyPr/>
        <a:lstStyle/>
        <a:p>
          <a:r>
            <a:rPr lang="zh-TW" altLang="en-US" dirty="0" smtClean="0"/>
            <a:t>幾何特性計算</a:t>
          </a:r>
          <a:r>
            <a:rPr lang="en-US" altLang="zh-TW" dirty="0" smtClean="0"/>
            <a:t>(</a:t>
          </a:r>
          <a:r>
            <a:rPr lang="zh-TW" altLang="en-US" dirty="0" smtClean="0"/>
            <a:t>計算深度及凹洞體積</a:t>
          </a:r>
          <a:r>
            <a:rPr lang="en-US" altLang="zh-TW" dirty="0" smtClean="0"/>
            <a:t>)</a:t>
          </a:r>
          <a:endParaRPr lang="zh-TW" altLang="en-US" dirty="0"/>
        </a:p>
      </dgm:t>
    </dgm:pt>
    <dgm:pt modelId="{100AFEF9-CF5B-496B-95A5-34E778499304}" type="parTrans" cxnId="{E43E4A6E-3DE8-4589-9CAD-955E222CC7AF}">
      <dgm:prSet/>
      <dgm:spPr/>
      <dgm:t>
        <a:bodyPr/>
        <a:lstStyle/>
        <a:p>
          <a:endParaRPr lang="zh-TW" altLang="en-US"/>
        </a:p>
      </dgm:t>
    </dgm:pt>
    <dgm:pt modelId="{014BB77F-43D0-4C8A-AFEE-AF64F75CEE6F}" type="sibTrans" cxnId="{E43E4A6E-3DE8-4589-9CAD-955E222CC7AF}">
      <dgm:prSet/>
      <dgm:spPr/>
      <dgm:t>
        <a:bodyPr/>
        <a:lstStyle/>
        <a:p>
          <a:endParaRPr lang="zh-TW" altLang="en-US"/>
        </a:p>
      </dgm:t>
    </dgm:pt>
    <dgm:pt modelId="{32F54444-ACE4-421A-83FF-304134FDACAB}">
      <dgm:prSet/>
      <dgm:spPr/>
      <dgm:t>
        <a:bodyPr/>
        <a:lstStyle/>
        <a:p>
          <a:r>
            <a:rPr lang="zh-TW" altLang="en-US" dirty="0" smtClean="0"/>
            <a:t>配體結合位置預測</a:t>
          </a:r>
          <a:r>
            <a:rPr lang="en-US" altLang="zh-TW" dirty="0" smtClean="0"/>
            <a:t>(</a:t>
          </a:r>
          <a:r>
            <a:rPr lang="zh-TW" altLang="en-US" dirty="0" smtClean="0"/>
            <a:t>將深度與凹洞體積加權後排名</a:t>
          </a:r>
          <a:r>
            <a:rPr lang="en-US" altLang="zh-TW" dirty="0" smtClean="0"/>
            <a:t>)</a:t>
          </a:r>
          <a:endParaRPr lang="zh-TW" altLang="en-US" dirty="0"/>
        </a:p>
      </dgm:t>
    </dgm:pt>
    <dgm:pt modelId="{0091F186-BC19-4607-AA0D-EA0E27539BD0}" type="parTrans" cxnId="{9F3A2AB8-F534-4EB8-A57A-944D7C226F78}">
      <dgm:prSet/>
      <dgm:spPr/>
      <dgm:t>
        <a:bodyPr/>
        <a:lstStyle/>
        <a:p>
          <a:endParaRPr lang="zh-TW" altLang="en-US"/>
        </a:p>
      </dgm:t>
    </dgm:pt>
    <dgm:pt modelId="{515F1902-310F-4BAA-A0A0-39C317A8888F}" type="sibTrans" cxnId="{9F3A2AB8-F534-4EB8-A57A-944D7C226F78}">
      <dgm:prSet/>
      <dgm:spPr/>
      <dgm:t>
        <a:bodyPr/>
        <a:lstStyle/>
        <a:p>
          <a:endParaRPr lang="zh-TW" altLang="en-US"/>
        </a:p>
      </dgm:t>
    </dgm:pt>
    <dgm:pt modelId="{074FDBCF-3070-485B-9E0E-1C46C8287221}" type="pres">
      <dgm:prSet presAssocID="{87AF1C8B-506C-4EF8-9796-CFC431E05208}" presName="Name0" presStyleCnt="0">
        <dgm:presLayoutVars>
          <dgm:dir/>
          <dgm:animLvl val="lvl"/>
          <dgm:resizeHandles val="exact"/>
        </dgm:presLayoutVars>
      </dgm:prSet>
      <dgm:spPr/>
    </dgm:pt>
    <dgm:pt modelId="{C57BA3FD-3383-4989-9CBF-2812ED8F8F76}" type="pres">
      <dgm:prSet presAssocID="{32F54444-ACE4-421A-83FF-304134FDACAB}" presName="boxAndChildren" presStyleCnt="0"/>
      <dgm:spPr/>
    </dgm:pt>
    <dgm:pt modelId="{C0BC3290-2B3C-4BA6-85AE-7634D412DC76}" type="pres">
      <dgm:prSet presAssocID="{32F54444-ACE4-421A-83FF-304134FDACAB}" presName="parentTextBox" presStyleLbl="node1" presStyleIdx="0" presStyleCnt="5"/>
      <dgm:spPr/>
      <dgm:t>
        <a:bodyPr/>
        <a:lstStyle/>
        <a:p>
          <a:endParaRPr lang="zh-TW" altLang="en-US"/>
        </a:p>
      </dgm:t>
    </dgm:pt>
    <dgm:pt modelId="{090198E5-5FE1-48A9-8C29-E2C2598BA2D5}" type="pres">
      <dgm:prSet presAssocID="{014BB77F-43D0-4C8A-AFEE-AF64F75CEE6F}" presName="sp" presStyleCnt="0"/>
      <dgm:spPr/>
    </dgm:pt>
    <dgm:pt modelId="{F7173A34-0978-4A23-94CE-3C6294CE34B5}" type="pres">
      <dgm:prSet presAssocID="{628D1ED3-81D8-4E53-AF14-A97BD85866BC}" presName="arrowAndChildren" presStyleCnt="0"/>
      <dgm:spPr/>
    </dgm:pt>
    <dgm:pt modelId="{3CBA503C-540F-429F-9CED-DDA6F433536D}" type="pres">
      <dgm:prSet presAssocID="{628D1ED3-81D8-4E53-AF14-A97BD85866BC}" presName="parentTextArrow" presStyleLbl="node1" presStyleIdx="1" presStyleCnt="5"/>
      <dgm:spPr/>
      <dgm:t>
        <a:bodyPr/>
        <a:lstStyle/>
        <a:p>
          <a:endParaRPr lang="zh-TW" altLang="en-US"/>
        </a:p>
      </dgm:t>
    </dgm:pt>
    <dgm:pt modelId="{CF6A5815-C7A4-4352-8824-BE81147E102F}" type="pres">
      <dgm:prSet presAssocID="{F5E4025E-68FE-4358-8EBF-45938513E123}" presName="sp" presStyleCnt="0"/>
      <dgm:spPr/>
    </dgm:pt>
    <dgm:pt modelId="{F046E68B-5FA8-42B1-8CAF-A59A8BA1E1C4}" type="pres">
      <dgm:prSet presAssocID="{C0F4C552-105D-4186-BEF5-13730FE74D6A}" presName="arrowAndChildren" presStyleCnt="0"/>
      <dgm:spPr/>
    </dgm:pt>
    <dgm:pt modelId="{9A35322B-479F-4B77-845F-F2506F3B1BD8}" type="pres">
      <dgm:prSet presAssocID="{C0F4C552-105D-4186-BEF5-13730FE74D6A}" presName="parentTextArrow" presStyleLbl="node1" presStyleIdx="2" presStyleCnt="5"/>
      <dgm:spPr/>
      <dgm:t>
        <a:bodyPr/>
        <a:lstStyle/>
        <a:p>
          <a:endParaRPr lang="zh-TW" altLang="en-US"/>
        </a:p>
      </dgm:t>
    </dgm:pt>
    <dgm:pt modelId="{C1365E1F-4166-4C5B-8A1A-ABD650CC7D57}" type="pres">
      <dgm:prSet presAssocID="{AD9A930F-05EE-4DE9-9A00-908FD8E8707B}" presName="sp" presStyleCnt="0"/>
      <dgm:spPr/>
    </dgm:pt>
    <dgm:pt modelId="{F215C613-F748-410C-B426-7482A9E1FB0C}" type="pres">
      <dgm:prSet presAssocID="{A8636A27-CDF7-4A83-8014-014AC96C3D31}" presName="arrowAndChildren" presStyleCnt="0"/>
      <dgm:spPr/>
    </dgm:pt>
    <dgm:pt modelId="{F656E6A3-DFDA-4FE1-8967-74B75304BF73}" type="pres">
      <dgm:prSet presAssocID="{A8636A27-CDF7-4A83-8014-014AC96C3D31}" presName="parentTextArrow" presStyleLbl="node1" presStyleIdx="3" presStyleCnt="5"/>
      <dgm:spPr/>
      <dgm:t>
        <a:bodyPr/>
        <a:lstStyle/>
        <a:p>
          <a:endParaRPr lang="zh-TW" altLang="en-US"/>
        </a:p>
      </dgm:t>
    </dgm:pt>
    <dgm:pt modelId="{6F3ED006-7655-4AB3-AF47-4FCCD66FF5CA}" type="pres">
      <dgm:prSet presAssocID="{0F7CD38B-689E-4F64-9C09-084700825374}" presName="sp" presStyleCnt="0"/>
      <dgm:spPr/>
    </dgm:pt>
    <dgm:pt modelId="{44D16D61-4FCE-49E6-84B1-CA2846EE37C5}" type="pres">
      <dgm:prSet presAssocID="{37174841-6DFF-46B6-88FF-6998CD4D85D8}" presName="arrowAndChildren" presStyleCnt="0"/>
      <dgm:spPr/>
    </dgm:pt>
    <dgm:pt modelId="{696433F4-A341-489A-B8F1-6C7DFAC32C5D}" type="pres">
      <dgm:prSet presAssocID="{37174841-6DFF-46B6-88FF-6998CD4D85D8}" presName="parentTextArrow" presStyleLbl="node1" presStyleIdx="4" presStyleCnt="5" custLinFactNeighborX="2751" custLinFactNeighborY="-4647"/>
      <dgm:spPr/>
      <dgm:t>
        <a:bodyPr/>
        <a:lstStyle/>
        <a:p>
          <a:endParaRPr lang="zh-TW" altLang="en-US"/>
        </a:p>
      </dgm:t>
    </dgm:pt>
  </dgm:ptLst>
  <dgm:cxnLst>
    <dgm:cxn modelId="{A3755016-87CC-478A-9097-7E535CF1D262}" type="presOf" srcId="{628D1ED3-81D8-4E53-AF14-A97BD85866BC}" destId="{3CBA503C-540F-429F-9CED-DDA6F433536D}" srcOrd="0" destOrd="0" presId="urn:microsoft.com/office/officeart/2005/8/layout/process4"/>
    <dgm:cxn modelId="{03030A05-C92A-4E77-84A8-09ADA5F1A82F}" srcId="{87AF1C8B-506C-4EF8-9796-CFC431E05208}" destId="{A8636A27-CDF7-4A83-8014-014AC96C3D31}" srcOrd="1" destOrd="0" parTransId="{D56E1632-049D-47BB-8A52-D16DDDFF935B}" sibTransId="{AD9A930F-05EE-4DE9-9A00-908FD8E8707B}"/>
    <dgm:cxn modelId="{7CC9079C-748C-4304-A6EE-BB2AC040D69D}" type="presOf" srcId="{87AF1C8B-506C-4EF8-9796-CFC431E05208}" destId="{074FDBCF-3070-485B-9E0E-1C46C8287221}" srcOrd="0" destOrd="0" presId="urn:microsoft.com/office/officeart/2005/8/layout/process4"/>
    <dgm:cxn modelId="{51AA77CC-6D70-423F-A1CF-BE7EB4456B0F}" type="presOf" srcId="{C0F4C552-105D-4186-BEF5-13730FE74D6A}" destId="{9A35322B-479F-4B77-845F-F2506F3B1BD8}" srcOrd="0" destOrd="0" presId="urn:microsoft.com/office/officeart/2005/8/layout/process4"/>
    <dgm:cxn modelId="{9F3A2AB8-F534-4EB8-A57A-944D7C226F78}" srcId="{87AF1C8B-506C-4EF8-9796-CFC431E05208}" destId="{32F54444-ACE4-421A-83FF-304134FDACAB}" srcOrd="4" destOrd="0" parTransId="{0091F186-BC19-4607-AA0D-EA0E27539BD0}" sibTransId="{515F1902-310F-4BAA-A0A0-39C317A8888F}"/>
    <dgm:cxn modelId="{3C6B99BE-50F0-410D-85AB-8575F3AC9798}" type="presOf" srcId="{32F54444-ACE4-421A-83FF-304134FDACAB}" destId="{C0BC3290-2B3C-4BA6-85AE-7634D412DC76}" srcOrd="0" destOrd="0" presId="urn:microsoft.com/office/officeart/2005/8/layout/process4"/>
    <dgm:cxn modelId="{65E54FAC-15B1-4F83-821C-B454ED5527D1}" srcId="{87AF1C8B-506C-4EF8-9796-CFC431E05208}" destId="{37174841-6DFF-46B6-88FF-6998CD4D85D8}" srcOrd="0" destOrd="0" parTransId="{4E4C8BF8-FFEA-4012-B3D3-C7CEC4385C63}" sibTransId="{0F7CD38B-689E-4F64-9C09-084700825374}"/>
    <dgm:cxn modelId="{0096680D-64C2-4AD6-BA76-03CADC4B8479}" srcId="{87AF1C8B-506C-4EF8-9796-CFC431E05208}" destId="{C0F4C552-105D-4186-BEF5-13730FE74D6A}" srcOrd="2" destOrd="0" parTransId="{8576B9E5-F267-4F11-B253-B03066FA7455}" sibTransId="{F5E4025E-68FE-4358-8EBF-45938513E123}"/>
    <dgm:cxn modelId="{1FBFA1DF-3904-4ABD-BF77-C91E7F167F28}" type="presOf" srcId="{A8636A27-CDF7-4A83-8014-014AC96C3D31}" destId="{F656E6A3-DFDA-4FE1-8967-74B75304BF73}" srcOrd="0" destOrd="0" presId="urn:microsoft.com/office/officeart/2005/8/layout/process4"/>
    <dgm:cxn modelId="{EC23520F-4A7F-4E83-A01C-26DF8C23ABDB}" type="presOf" srcId="{37174841-6DFF-46B6-88FF-6998CD4D85D8}" destId="{696433F4-A341-489A-B8F1-6C7DFAC32C5D}" srcOrd="0" destOrd="0" presId="urn:microsoft.com/office/officeart/2005/8/layout/process4"/>
    <dgm:cxn modelId="{E43E4A6E-3DE8-4589-9CAD-955E222CC7AF}" srcId="{87AF1C8B-506C-4EF8-9796-CFC431E05208}" destId="{628D1ED3-81D8-4E53-AF14-A97BD85866BC}" srcOrd="3" destOrd="0" parTransId="{100AFEF9-CF5B-496B-95A5-34E778499304}" sibTransId="{014BB77F-43D0-4C8A-AFEE-AF64F75CEE6F}"/>
    <dgm:cxn modelId="{328768FC-0FDE-4D0C-889F-4ACE77756F3F}" type="presParOf" srcId="{074FDBCF-3070-485B-9E0E-1C46C8287221}" destId="{C57BA3FD-3383-4989-9CBF-2812ED8F8F76}" srcOrd="0" destOrd="0" presId="urn:microsoft.com/office/officeart/2005/8/layout/process4"/>
    <dgm:cxn modelId="{4A4B8F79-4105-418B-9339-BFD976FB8187}" type="presParOf" srcId="{C57BA3FD-3383-4989-9CBF-2812ED8F8F76}" destId="{C0BC3290-2B3C-4BA6-85AE-7634D412DC76}" srcOrd="0" destOrd="0" presId="urn:microsoft.com/office/officeart/2005/8/layout/process4"/>
    <dgm:cxn modelId="{84655F8D-193E-4E9D-BD7E-FBA39A475DA5}" type="presParOf" srcId="{074FDBCF-3070-485B-9E0E-1C46C8287221}" destId="{090198E5-5FE1-48A9-8C29-E2C2598BA2D5}" srcOrd="1" destOrd="0" presId="urn:microsoft.com/office/officeart/2005/8/layout/process4"/>
    <dgm:cxn modelId="{29D0B581-F120-48DF-AF58-7887579994BB}" type="presParOf" srcId="{074FDBCF-3070-485B-9E0E-1C46C8287221}" destId="{F7173A34-0978-4A23-94CE-3C6294CE34B5}" srcOrd="2" destOrd="0" presId="urn:microsoft.com/office/officeart/2005/8/layout/process4"/>
    <dgm:cxn modelId="{A57111C1-2A0D-4977-812A-EC425A03F07B}" type="presParOf" srcId="{F7173A34-0978-4A23-94CE-3C6294CE34B5}" destId="{3CBA503C-540F-429F-9CED-DDA6F433536D}" srcOrd="0" destOrd="0" presId="urn:microsoft.com/office/officeart/2005/8/layout/process4"/>
    <dgm:cxn modelId="{A75FCB5F-9DFF-4FE4-8066-3EA8D79E023E}" type="presParOf" srcId="{074FDBCF-3070-485B-9E0E-1C46C8287221}" destId="{CF6A5815-C7A4-4352-8824-BE81147E102F}" srcOrd="3" destOrd="0" presId="urn:microsoft.com/office/officeart/2005/8/layout/process4"/>
    <dgm:cxn modelId="{8D43A0C3-6440-4014-B10F-0FEAEFD637BE}" type="presParOf" srcId="{074FDBCF-3070-485B-9E0E-1C46C8287221}" destId="{F046E68B-5FA8-42B1-8CAF-A59A8BA1E1C4}" srcOrd="4" destOrd="0" presId="urn:microsoft.com/office/officeart/2005/8/layout/process4"/>
    <dgm:cxn modelId="{EA532E34-A624-4B76-BFB0-1E92B80989E5}" type="presParOf" srcId="{F046E68B-5FA8-42B1-8CAF-A59A8BA1E1C4}" destId="{9A35322B-479F-4B77-845F-F2506F3B1BD8}" srcOrd="0" destOrd="0" presId="urn:microsoft.com/office/officeart/2005/8/layout/process4"/>
    <dgm:cxn modelId="{83134CFD-9E17-409B-8267-B4DDF103F651}" type="presParOf" srcId="{074FDBCF-3070-485B-9E0E-1C46C8287221}" destId="{C1365E1F-4166-4C5B-8A1A-ABD650CC7D57}" srcOrd="5" destOrd="0" presId="urn:microsoft.com/office/officeart/2005/8/layout/process4"/>
    <dgm:cxn modelId="{AE3E3B82-D9C4-4BDE-BB51-4F8E62D96FE6}" type="presParOf" srcId="{074FDBCF-3070-485B-9E0E-1C46C8287221}" destId="{F215C613-F748-410C-B426-7482A9E1FB0C}" srcOrd="6" destOrd="0" presId="urn:microsoft.com/office/officeart/2005/8/layout/process4"/>
    <dgm:cxn modelId="{1FAE9DAE-5D4B-408C-94A2-C440046F98AE}" type="presParOf" srcId="{F215C613-F748-410C-B426-7482A9E1FB0C}" destId="{F656E6A3-DFDA-4FE1-8967-74B75304BF73}" srcOrd="0" destOrd="0" presId="urn:microsoft.com/office/officeart/2005/8/layout/process4"/>
    <dgm:cxn modelId="{9B9FBA67-9F62-4C99-978D-34D82C54C4E8}" type="presParOf" srcId="{074FDBCF-3070-485B-9E0E-1C46C8287221}" destId="{6F3ED006-7655-4AB3-AF47-4FCCD66FF5CA}" srcOrd="7" destOrd="0" presId="urn:microsoft.com/office/officeart/2005/8/layout/process4"/>
    <dgm:cxn modelId="{FA921366-A999-4BAC-83EF-F37A26190510}" type="presParOf" srcId="{074FDBCF-3070-485B-9E0E-1C46C8287221}" destId="{44D16D61-4FCE-49E6-84B1-CA2846EE37C5}" srcOrd="8" destOrd="0" presId="urn:microsoft.com/office/officeart/2005/8/layout/process4"/>
    <dgm:cxn modelId="{506C5585-E925-403F-9145-3C9F44616273}" type="presParOf" srcId="{44D16D61-4FCE-49E6-84B1-CA2846EE37C5}" destId="{696433F4-A341-489A-B8F1-6C7DFAC32C5D}" srcOrd="0" destOrd="0" presId="urn:microsoft.com/office/officeart/2005/8/layout/process4"/>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C0BC3290-2B3C-4BA6-85AE-7634D412DC76}">
      <dsp:nvSpPr>
        <dsp:cNvPr id="0" name=""/>
        <dsp:cNvSpPr/>
      </dsp:nvSpPr>
      <dsp:spPr>
        <a:xfrm>
          <a:off x="0" y="3886230"/>
          <a:ext cx="8229600" cy="637568"/>
        </a:xfrm>
        <a:prstGeom prst="rec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altLang="en-US" sz="1800" kern="1200" dirty="0" smtClean="0"/>
            <a:t>配體結合位置預測</a:t>
          </a:r>
          <a:r>
            <a:rPr lang="en-US" altLang="zh-TW" sz="1800" kern="1200" dirty="0" smtClean="0"/>
            <a:t>(</a:t>
          </a:r>
          <a:r>
            <a:rPr lang="zh-TW" altLang="en-US" sz="1800" kern="1200" dirty="0" smtClean="0"/>
            <a:t>將深度與凹洞體積加權後排名</a:t>
          </a:r>
          <a:r>
            <a:rPr lang="en-US" altLang="zh-TW" sz="1800" kern="1200" dirty="0" smtClean="0"/>
            <a:t>)</a:t>
          </a:r>
          <a:endParaRPr lang="zh-TW" altLang="en-US" sz="1800" kern="1200" dirty="0"/>
        </a:p>
      </dsp:txBody>
      <dsp:txXfrm>
        <a:off x="0" y="3886230"/>
        <a:ext cx="8229600" cy="637568"/>
      </dsp:txXfrm>
    </dsp:sp>
    <dsp:sp modelId="{3CBA503C-540F-429F-9CED-DDA6F433536D}">
      <dsp:nvSpPr>
        <dsp:cNvPr id="0" name=""/>
        <dsp:cNvSpPr/>
      </dsp:nvSpPr>
      <dsp:spPr>
        <a:xfrm rot="10800000">
          <a:off x="0" y="2915214"/>
          <a:ext cx="8229600" cy="980580"/>
        </a:xfrm>
        <a:prstGeom prst="upArrowCallou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altLang="en-US" sz="1800" kern="1200" dirty="0" smtClean="0"/>
            <a:t>幾何特性計算</a:t>
          </a:r>
          <a:r>
            <a:rPr lang="en-US" altLang="zh-TW" sz="1800" kern="1200" dirty="0" smtClean="0"/>
            <a:t>(</a:t>
          </a:r>
          <a:r>
            <a:rPr lang="zh-TW" altLang="en-US" sz="1800" kern="1200" dirty="0" smtClean="0"/>
            <a:t>計算深度及凹洞體積</a:t>
          </a:r>
          <a:r>
            <a:rPr lang="en-US" altLang="zh-TW" sz="1800" kern="1200" dirty="0" smtClean="0"/>
            <a:t>)</a:t>
          </a:r>
          <a:endParaRPr lang="zh-TW" altLang="en-US" sz="1800" kern="1200" dirty="0"/>
        </a:p>
      </dsp:txBody>
      <dsp:txXfrm rot="10800000">
        <a:off x="0" y="2915214"/>
        <a:ext cx="8229600" cy="980580"/>
      </dsp:txXfrm>
    </dsp:sp>
    <dsp:sp modelId="{9A35322B-479F-4B77-845F-F2506F3B1BD8}">
      <dsp:nvSpPr>
        <dsp:cNvPr id="0" name=""/>
        <dsp:cNvSpPr/>
      </dsp:nvSpPr>
      <dsp:spPr>
        <a:xfrm rot="10800000">
          <a:off x="0" y="1944197"/>
          <a:ext cx="8229600" cy="980580"/>
        </a:xfrm>
        <a:prstGeom prst="upArrowCallou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altLang="en-US" sz="1800" b="0" kern="1200" dirty="0" smtClean="0"/>
            <a:t>找錨點及分群</a:t>
          </a:r>
          <a:r>
            <a:rPr lang="en-US" altLang="zh-TW" sz="1800" b="0" kern="1200" dirty="0" smtClean="0"/>
            <a:t>(</a:t>
          </a:r>
          <a:r>
            <a:rPr lang="zh-TW" altLang="en-US" sz="1800" b="0" kern="1200" dirty="0" smtClean="0"/>
            <a:t>依立體角決定描點並分群</a:t>
          </a:r>
          <a:r>
            <a:rPr lang="en-US" altLang="zh-TW" sz="1800" b="0" kern="1200" dirty="0" smtClean="0"/>
            <a:t>)</a:t>
          </a:r>
          <a:endParaRPr lang="zh-TW" altLang="en-US" sz="1800" b="0" kern="1200" dirty="0"/>
        </a:p>
      </dsp:txBody>
      <dsp:txXfrm rot="10800000">
        <a:off x="0" y="1944197"/>
        <a:ext cx="8229600" cy="980580"/>
      </dsp:txXfrm>
    </dsp:sp>
    <dsp:sp modelId="{F656E6A3-DFDA-4FE1-8967-74B75304BF73}">
      <dsp:nvSpPr>
        <dsp:cNvPr id="0" name=""/>
        <dsp:cNvSpPr/>
      </dsp:nvSpPr>
      <dsp:spPr>
        <a:xfrm rot="10800000">
          <a:off x="0" y="973180"/>
          <a:ext cx="8229600" cy="980580"/>
        </a:xfrm>
        <a:prstGeom prst="upArrowCallou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altLang="en-US" sz="1800" kern="1200" dirty="0" smtClean="0"/>
            <a:t>立體角計算</a:t>
          </a:r>
          <a:r>
            <a:rPr lang="en-US" altLang="zh-TW" sz="1800" kern="1200" dirty="0" smtClean="0"/>
            <a:t>(</a:t>
          </a:r>
          <a:r>
            <a:rPr lang="zh-TW" altLang="en-US" sz="1800" kern="1200" dirty="0" smtClean="0"/>
            <a:t>平行計算立體角並依立體角大小排序</a:t>
          </a:r>
          <a:r>
            <a:rPr lang="en-US" altLang="zh-TW" sz="1800" kern="1200" dirty="0" smtClean="0"/>
            <a:t>)</a:t>
          </a:r>
          <a:endParaRPr lang="zh-TW" altLang="en-US" sz="1800" kern="1200" dirty="0"/>
        </a:p>
      </dsp:txBody>
      <dsp:txXfrm rot="10800000">
        <a:off x="0" y="973180"/>
        <a:ext cx="8229600" cy="980580"/>
      </dsp:txXfrm>
    </dsp:sp>
    <dsp:sp modelId="{696433F4-A341-489A-B8F1-6C7DFAC32C5D}">
      <dsp:nvSpPr>
        <dsp:cNvPr id="0" name=""/>
        <dsp:cNvSpPr/>
      </dsp:nvSpPr>
      <dsp:spPr>
        <a:xfrm rot="10800000">
          <a:off x="0" y="0"/>
          <a:ext cx="8229600" cy="980580"/>
        </a:xfrm>
        <a:prstGeom prst="upArrowCallout">
          <a:avLst/>
        </a:prstGeom>
        <a:solidFill>
          <a:schemeClr val="lt1">
            <a:hueOff val="0"/>
            <a:satOff val="0"/>
            <a:lumOff val="0"/>
            <a:alphaOff val="0"/>
          </a:schemeClr>
        </a:solidFill>
        <a:ln w="25400" cap="flat" cmpd="sng" algn="ctr">
          <a:solidFill>
            <a:schemeClr val="accent6">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zh-TW" altLang="en-US" sz="1800" kern="1200" dirty="0" smtClean="0"/>
            <a:t>三維網格技術建構蛋白質立體結構</a:t>
          </a:r>
          <a:r>
            <a:rPr lang="en-US" altLang="zh-TW" sz="1800" kern="1200" dirty="0" smtClean="0"/>
            <a:t>(</a:t>
          </a:r>
          <a:r>
            <a:rPr lang="zh-TW" altLang="en-US" sz="1800" kern="1200" dirty="0" smtClean="0"/>
            <a:t>讀取</a:t>
          </a:r>
          <a:r>
            <a:rPr lang="en-US" altLang="zh-TW" sz="1800" kern="1200" dirty="0" smtClean="0"/>
            <a:t>PDB</a:t>
          </a:r>
          <a:r>
            <a:rPr lang="zh-TW" altLang="en-US" sz="1800" kern="1200" dirty="0" smtClean="0"/>
            <a:t>檔，三維網格化，決定表面格點</a:t>
          </a:r>
          <a:r>
            <a:rPr lang="en-US" altLang="zh-TW" sz="1800" kern="1200" dirty="0" smtClean="0"/>
            <a:t>)</a:t>
          </a:r>
          <a:endParaRPr lang="zh-TW" altLang="en-US" sz="1800" kern="1200" dirty="0"/>
        </a:p>
      </dsp:txBody>
      <dsp:txXfrm rot="10800000">
        <a:off x="0" y="0"/>
        <a:ext cx="8229600" cy="980580"/>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 Id="rId5" Type="http://schemas.openxmlformats.org/officeDocument/2006/relationships/image" Target="../media/image21.wmf"/><Relationship Id="rId4"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1F2C42-CB99-4D4B-B3E2-E12B3AFCA8B3}" type="datetimeFigureOut">
              <a:rPr lang="zh-TW" altLang="en-US" smtClean="0"/>
              <a:pPr/>
              <a:t>2011/12/19</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326E1-17FC-4083-AB83-DEE89E102900}"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nvidia.com.tw/object/cuda_home_new_tw.html"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zh.wikipedia.org/wiki/CUDA" TargetMode="Externa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bigre.ulb.ac.be/Users/benoit/LigASite/index.php?home"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en.wikipedia.org/wiki/Sensitivity_and_specificity"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wiki.mbalib.com/zh-tw/%E6%95%8F%E6%84%9F%E6%80%A7%E5%88%86%E6%9E%90%E6%B3%95" TargetMode="External"/><Relationship Id="rId2" Type="http://schemas.openxmlformats.org/officeDocument/2006/relationships/slide" Target="../slides/slide15.xml"/><Relationship Id="rId1" Type="http://schemas.openxmlformats.org/officeDocument/2006/relationships/notesMaster" Target="../notesMasters/notesMaster1.xml"/><Relationship Id="rId4" Type="http://schemas.openxmlformats.org/officeDocument/2006/relationships/hyperlink" Target="http://www.wretch.cc/blog/elleryhuang/14233982" TargetMode="Externa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cbx.mssm.edu/sitehound/sitehound-web/Input_files/disclaimers.html"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projects.biotec.tu-dresden.de/metapocket/index.php" TargetMode="Externa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bx.mssm.edu/sitehound/sitehound-web/Input_files/disclaimers.html" TargetMode="External"/><Relationship Id="rId2" Type="http://schemas.openxmlformats.org/officeDocument/2006/relationships/slide" Target="../slides/slide17.xml"/><Relationship Id="rId1" Type="http://schemas.openxmlformats.org/officeDocument/2006/relationships/notesMaster" Target="../notesMasters/notesMaster1.xml"/><Relationship Id="rId4" Type="http://schemas.openxmlformats.org/officeDocument/2006/relationships/hyperlink" Target="http://projects.biotec.tu-dresden.de/metapocket/index.php" TargetMode="Externa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ark.intel.com/products/33910/Intel-Core2-Duo-Processor-E8400-(6M-Cache-3_00-GHz-1333-MHz-FSB)" TargetMode="External"/><Relationship Id="rId2" Type="http://schemas.openxmlformats.org/officeDocument/2006/relationships/slide" Target="../slides/slide20.xml"/><Relationship Id="rId1" Type="http://schemas.openxmlformats.org/officeDocument/2006/relationships/notesMaster" Target="../notesMasters/notesMaster1.xml"/><Relationship Id="rId4" Type="http://schemas.openxmlformats.org/officeDocument/2006/relationships/hyperlink" Target="http://www.nvidia.com.tw/object/product-geforce-gts-450-tw.html"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ea typeface="微軟正黑體" pitchFamily="34" charset="-120"/>
              </a:rPr>
              <a:t>NVIDIA</a:t>
            </a:r>
            <a:r>
              <a:rPr lang="zh-TW" altLang="en-US" dirty="0" smtClean="0"/>
              <a:t>官網</a:t>
            </a:r>
            <a:endParaRPr lang="en-US" altLang="zh-TW" dirty="0" smtClean="0"/>
          </a:p>
          <a:p>
            <a:r>
              <a:rPr lang="en-US" altLang="zh-TW" dirty="0" smtClean="0">
                <a:hlinkClick r:id="rId3"/>
              </a:rPr>
              <a:t>http://www.nvidia.com.tw/object/cuda_home_new_tw.html</a:t>
            </a:r>
            <a:endParaRPr lang="en-US" altLang="zh-TW" dirty="0" smtClean="0"/>
          </a:p>
          <a:p>
            <a:r>
              <a:rPr lang="en-US" altLang="zh-TW" dirty="0" smtClean="0"/>
              <a:t>Wiki</a:t>
            </a:r>
          </a:p>
          <a:p>
            <a:r>
              <a:rPr lang="en-US" altLang="zh-TW" dirty="0" smtClean="0">
                <a:hlinkClick r:id="rId4"/>
              </a:rPr>
              <a:t>http://zh.wikipedia.org/wiki/CUDA</a:t>
            </a:r>
            <a:endParaRPr lang="zh-TW" altLang="en-US" dirty="0"/>
          </a:p>
        </p:txBody>
      </p:sp>
      <p:sp>
        <p:nvSpPr>
          <p:cNvPr id="4" name="投影片編號版面配置區 3"/>
          <p:cNvSpPr>
            <a:spLocks noGrp="1"/>
          </p:cNvSpPr>
          <p:nvPr>
            <p:ph type="sldNum" sz="quarter" idx="10"/>
          </p:nvPr>
        </p:nvSpPr>
        <p:spPr/>
        <p:txBody>
          <a:bodyPr/>
          <a:lstStyle/>
          <a:p>
            <a:fld id="{A73326E1-17FC-4083-AB83-DEE89E102900}" type="slidenum">
              <a:rPr lang="zh-TW" altLang="en-US" smtClean="0"/>
              <a:pPr/>
              <a:t>4</a:t>
            </a:fld>
            <a:endParaRPr lang="zh-TW"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sz="1200" b="1" i="0" kern="1200" dirty="0" err="1" smtClean="0">
                <a:solidFill>
                  <a:schemeClr val="tx1"/>
                </a:solidFill>
                <a:latin typeface="+mn-lt"/>
                <a:ea typeface="+mn-ea"/>
                <a:cs typeface="+mn-cs"/>
              </a:rPr>
              <a:t>LigASite</a:t>
            </a:r>
            <a:r>
              <a:rPr lang="en-US" altLang="zh-TW" sz="1200" b="1" i="0" kern="1200" dirty="0" smtClean="0">
                <a:solidFill>
                  <a:schemeClr val="tx1"/>
                </a:solidFill>
                <a:latin typeface="+mn-lt"/>
                <a:ea typeface="+mn-ea"/>
                <a:cs typeface="+mn-cs"/>
              </a:rPr>
              <a:t> database of binding sites</a:t>
            </a:r>
            <a:endParaRPr lang="en-US" altLang="zh-TW" dirty="0" smtClean="0"/>
          </a:p>
          <a:p>
            <a:r>
              <a:rPr lang="en-US" altLang="zh-TW" dirty="0" smtClean="0">
                <a:hlinkClick r:id="rId3"/>
              </a:rPr>
              <a:t>http://www.bigre.ulb.ac.be/Users/benoit/LigASite/index.php?home</a:t>
            </a:r>
            <a:endParaRPr lang="zh-TW" altLang="en-US" dirty="0"/>
          </a:p>
        </p:txBody>
      </p:sp>
      <p:sp>
        <p:nvSpPr>
          <p:cNvPr id="4" name="投影片編號版面配置區 3"/>
          <p:cNvSpPr>
            <a:spLocks noGrp="1"/>
          </p:cNvSpPr>
          <p:nvPr>
            <p:ph type="sldNum" sz="quarter" idx="10"/>
          </p:nvPr>
        </p:nvSpPr>
        <p:spPr/>
        <p:txBody>
          <a:bodyPr/>
          <a:lstStyle/>
          <a:p>
            <a:fld id="{A73326E1-17FC-4083-AB83-DEE89E102900}" type="slidenum">
              <a:rPr lang="zh-TW" altLang="en-US" smtClean="0"/>
              <a:pPr/>
              <a:t>12</a:t>
            </a:fld>
            <a:endParaRPr lang="zh-TW"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smtClean="0">
                <a:hlinkClick r:id="rId3"/>
              </a:rPr>
              <a:t>http://en.wikipedia.org/wiki/Sensitivity_and_specificity</a:t>
            </a:r>
            <a:endParaRPr lang="zh-TW" altLang="en-US" dirty="0"/>
          </a:p>
        </p:txBody>
      </p:sp>
      <p:sp>
        <p:nvSpPr>
          <p:cNvPr id="4" name="投影片編號版面配置區 3"/>
          <p:cNvSpPr>
            <a:spLocks noGrp="1"/>
          </p:cNvSpPr>
          <p:nvPr>
            <p:ph type="sldNum" sz="quarter" idx="10"/>
          </p:nvPr>
        </p:nvSpPr>
        <p:spPr/>
        <p:txBody>
          <a:bodyPr/>
          <a:lstStyle/>
          <a:p>
            <a:fld id="{A73326E1-17FC-4083-AB83-DEE89E102900}" type="slidenum">
              <a:rPr lang="zh-TW" altLang="en-US" smtClean="0"/>
              <a:pPr/>
              <a:t>13</a:t>
            </a:fld>
            <a:endParaRPr lang="zh-TW"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Sensitivity(</a:t>
            </a:r>
            <a:r>
              <a:rPr lang="zh-TW" altLang="en-US" dirty="0" smtClean="0"/>
              <a:t>敏感性</a:t>
            </a:r>
            <a:r>
              <a:rPr lang="en-US" altLang="zh-TW" dirty="0" smtClean="0"/>
              <a:t>)</a:t>
            </a:r>
            <a:r>
              <a:rPr lang="en-US" altLang="zh-TW" dirty="0" smtClean="0">
                <a:hlinkClick r:id="rId3"/>
              </a:rPr>
              <a:t/>
            </a:r>
            <a:br>
              <a:rPr lang="en-US" altLang="zh-TW" dirty="0" smtClean="0">
                <a:hlinkClick r:id="rId3"/>
              </a:rPr>
            </a:br>
            <a:r>
              <a:rPr lang="en-US" altLang="zh-TW" dirty="0" smtClean="0">
                <a:hlinkClick r:id="rId3"/>
              </a:rPr>
              <a:t>http://wiki.mbalib.com/zh-tw/%E6%95%8F%E6%84%9F%E6%80%A7%E5%88%86%E6%9E%90%E6%B3%95</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Specificity(</a:t>
            </a:r>
            <a:r>
              <a:rPr lang="zh-TW" altLang="en-US" dirty="0" smtClean="0"/>
              <a:t>特異性</a:t>
            </a:r>
            <a:r>
              <a:rPr lang="en-US" altLang="zh-TW" dirty="0" smtClean="0"/>
              <a:t>)</a:t>
            </a:r>
          </a:p>
          <a:p>
            <a:r>
              <a:rPr lang="en-US" altLang="zh-TW" dirty="0" smtClean="0">
                <a:hlinkClick r:id="rId4"/>
              </a:rPr>
              <a:t>http://www.wretch.cc/blog/elleryhuang/14233982</a:t>
            </a:r>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A73326E1-17FC-4083-AB83-DEE89E102900}" type="slidenum">
              <a:rPr lang="zh-TW" altLang="en-US" smtClean="0"/>
              <a:pPr/>
              <a:t>15</a:t>
            </a:fld>
            <a:endParaRPr lang="zh-TW"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SITEHOUND</a:t>
            </a:r>
            <a:endParaRPr lang="zh-TW" altLang="en-US" dirty="0" smtClean="0"/>
          </a:p>
          <a:p>
            <a:r>
              <a:rPr lang="en-US" altLang="zh-TW" dirty="0" smtClean="0">
                <a:hlinkClick r:id="rId3"/>
              </a:rPr>
              <a:t>http://scbx.mssm.edu/sitehound/sitehound-web/Input_files/disclaimers.html</a:t>
            </a:r>
            <a:endParaRPr lang="en-US" altLang="zh-TW" dirty="0" smtClean="0"/>
          </a:p>
          <a:p>
            <a:r>
              <a:rPr lang="en-US" altLang="zh-TW" sz="1200" dirty="0" err="1" smtClean="0"/>
              <a:t>MetaPocket</a:t>
            </a:r>
            <a:r>
              <a:rPr lang="en-US" altLang="zh-TW" sz="1200" dirty="0" smtClean="0"/>
              <a:t> 2.0</a:t>
            </a:r>
          </a:p>
          <a:p>
            <a:r>
              <a:rPr lang="en-US" altLang="zh-TW" dirty="0" smtClean="0">
                <a:hlinkClick r:id="rId4"/>
              </a:rPr>
              <a:t>http://projects.biotec.tu-dresden.de/metapocket/index.php</a:t>
            </a:r>
            <a:endParaRPr lang="en-US" altLang="zh-TW" dirty="0" smtClean="0"/>
          </a:p>
        </p:txBody>
      </p:sp>
      <p:sp>
        <p:nvSpPr>
          <p:cNvPr id="4" name="投影片編號版面配置區 3"/>
          <p:cNvSpPr>
            <a:spLocks noGrp="1"/>
          </p:cNvSpPr>
          <p:nvPr>
            <p:ph type="sldNum" sz="quarter" idx="10"/>
          </p:nvPr>
        </p:nvSpPr>
        <p:spPr/>
        <p:txBody>
          <a:bodyPr/>
          <a:lstStyle/>
          <a:p>
            <a:fld id="{A73326E1-17FC-4083-AB83-DEE89E102900}" type="slidenum">
              <a:rPr lang="zh-TW" altLang="en-US" smtClean="0"/>
              <a:pPr/>
              <a:t>16</a:t>
            </a:fld>
            <a:endParaRPr lang="zh-TW"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SITEHOUND</a:t>
            </a:r>
            <a:endParaRPr lang="zh-TW" altLang="en-US" dirty="0" smtClean="0"/>
          </a:p>
          <a:p>
            <a:r>
              <a:rPr lang="en-US" altLang="zh-TW" dirty="0" smtClean="0">
                <a:hlinkClick r:id="rId3"/>
              </a:rPr>
              <a:t>http://scbx.mssm.edu/sitehound/sitehound-web/Input_files/disclaimers.html</a:t>
            </a:r>
            <a:endParaRPr lang="en-US" altLang="zh-TW" dirty="0" smtClean="0"/>
          </a:p>
          <a:p>
            <a:r>
              <a:rPr lang="en-US" altLang="zh-TW" sz="1200" dirty="0" err="1" smtClean="0"/>
              <a:t>MetaPocket</a:t>
            </a:r>
            <a:r>
              <a:rPr lang="en-US" altLang="zh-TW" sz="1200" dirty="0" smtClean="0"/>
              <a:t> 2.0</a:t>
            </a:r>
          </a:p>
          <a:p>
            <a:r>
              <a:rPr lang="en-US" altLang="zh-TW" dirty="0" smtClean="0">
                <a:hlinkClick r:id="rId4"/>
              </a:rPr>
              <a:t>http://projects.biotec.tu-dresden.de/metapocket/index.php</a:t>
            </a:r>
            <a:endParaRPr lang="en-US" altLang="zh-TW" dirty="0" smtClean="0"/>
          </a:p>
        </p:txBody>
      </p:sp>
      <p:sp>
        <p:nvSpPr>
          <p:cNvPr id="4" name="投影片編號版面配置區 3"/>
          <p:cNvSpPr>
            <a:spLocks noGrp="1"/>
          </p:cNvSpPr>
          <p:nvPr>
            <p:ph type="sldNum" sz="quarter" idx="10"/>
          </p:nvPr>
        </p:nvSpPr>
        <p:spPr/>
        <p:txBody>
          <a:bodyPr/>
          <a:lstStyle/>
          <a:p>
            <a:fld id="{A73326E1-17FC-4083-AB83-DEE89E102900}" type="slidenum">
              <a:rPr lang="zh-TW" altLang="en-US" smtClean="0"/>
              <a:pPr/>
              <a:t>17</a:t>
            </a:fld>
            <a:endParaRPr lang="zh-TW"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Intel® Core™2 Duo Processor E8400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hlinkClick r:id="rId3"/>
              </a:rPr>
              <a:t>http://ark.intel.com/products/33910/Intel-Core2-Duo-Processor-E8400-(6M-Cache-3_00-GHz-1333-MHz-FSB)</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NVIDIA </a:t>
            </a:r>
            <a:r>
              <a:rPr lang="en-US" altLang="zh-TW" dirty="0" err="1" smtClean="0"/>
              <a:t>Gefocre</a:t>
            </a:r>
            <a:r>
              <a:rPr lang="en-US" altLang="zh-TW" dirty="0" smtClean="0"/>
              <a:t> GTS450</a:t>
            </a:r>
            <a:endParaRPr lang="en-US" altLang="zh-TW" dirty="0" smtClean="0">
              <a:hlinkClick r:id="rId4"/>
            </a:endParaRPr>
          </a:p>
          <a:p>
            <a:r>
              <a:rPr lang="en-US" altLang="zh-TW" dirty="0" smtClean="0">
                <a:hlinkClick r:id="rId4"/>
              </a:rPr>
              <a:t>http://www.nvidia.com.tw/object/product-geforce-gts-450-tw.html</a:t>
            </a:r>
            <a:endParaRPr lang="en-US" altLang="zh-TW" dirty="0" smtClean="0"/>
          </a:p>
          <a:p>
            <a:endParaRPr lang="en-US" altLang="zh-TW" dirty="0" smtClean="0"/>
          </a:p>
          <a:p>
            <a:endParaRPr lang="zh-TW" altLang="en-US" dirty="0"/>
          </a:p>
        </p:txBody>
      </p:sp>
      <p:sp>
        <p:nvSpPr>
          <p:cNvPr id="4" name="投影片編號版面配置區 3"/>
          <p:cNvSpPr>
            <a:spLocks noGrp="1"/>
          </p:cNvSpPr>
          <p:nvPr>
            <p:ph type="sldNum" sz="quarter" idx="10"/>
          </p:nvPr>
        </p:nvSpPr>
        <p:spPr/>
        <p:txBody>
          <a:bodyPr/>
          <a:lstStyle/>
          <a:p>
            <a:fld id="{A73326E1-17FC-4083-AB83-DEE89E102900}" type="slidenum">
              <a:rPr lang="zh-TW" altLang="en-US" smtClean="0"/>
              <a:pPr/>
              <a:t>20</a:t>
            </a:fld>
            <a:endParaRPr lang="zh-TW"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2011/12/19</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2011/12/19</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gif"/><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4.xml"/><Relationship Id="rId7"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5.bin"/><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692696"/>
            <a:ext cx="7772400" cy="1470025"/>
          </a:xfrm>
        </p:spPr>
        <p:txBody>
          <a:bodyPr>
            <a:normAutofit fontScale="90000"/>
          </a:bodyPr>
          <a:lstStyle/>
          <a:p>
            <a:r>
              <a:rPr lang="zh-TW" altLang="en-US" dirty="0" smtClean="0"/>
              <a:t>使用表面幾何特徵於蛋白質與配體結合位置之預測</a:t>
            </a:r>
            <a:r>
              <a:rPr lang="en-US" altLang="zh-TW" dirty="0" smtClean="0"/>
              <a:t/>
            </a:r>
            <a:br>
              <a:rPr lang="en-US" altLang="zh-TW" dirty="0" smtClean="0"/>
            </a:br>
            <a:r>
              <a:rPr lang="en-US" altLang="zh-TW" dirty="0" smtClean="0"/>
              <a:t>Using Geometric Features to Predict Protein-</a:t>
            </a:r>
            <a:r>
              <a:rPr lang="en-US" altLang="zh-TW" dirty="0" err="1" smtClean="0"/>
              <a:t>ligand</a:t>
            </a:r>
            <a:r>
              <a:rPr lang="en-US" altLang="zh-TW" dirty="0" smtClean="0"/>
              <a:t> Binding Regions</a:t>
            </a:r>
            <a:endParaRPr lang="zh-TW" altLang="en-US" dirty="0"/>
          </a:p>
        </p:txBody>
      </p:sp>
      <p:sp>
        <p:nvSpPr>
          <p:cNvPr id="4" name="副標題 2"/>
          <p:cNvSpPr>
            <a:spLocks noGrp="1"/>
          </p:cNvSpPr>
          <p:nvPr>
            <p:ph type="subTitle" idx="1"/>
          </p:nvPr>
        </p:nvSpPr>
        <p:spPr>
          <a:xfrm>
            <a:off x="899592" y="3212976"/>
            <a:ext cx="7272808" cy="1512168"/>
          </a:xfrm>
        </p:spPr>
        <p:txBody>
          <a:bodyPr anchor="ctr">
            <a:normAutofit fontScale="92500"/>
          </a:bodyPr>
          <a:lstStyle/>
          <a:p>
            <a:r>
              <a:rPr lang="zh-TW" altLang="en-US" sz="2400" dirty="0" smtClean="0">
                <a:ea typeface="微軟正黑體" pitchFamily="34" charset="-120"/>
                <a:cs typeface="Times New Roman" pitchFamily="18" charset="0"/>
              </a:rPr>
              <a:t>陳明權、林煊庭、羅英倉、白敦文</a:t>
            </a:r>
            <a:r>
              <a:rPr lang="en-US" altLang="zh-TW" sz="2400" dirty="0" smtClean="0">
                <a:ea typeface="微軟正黑體" pitchFamily="34" charset="-120"/>
                <a:cs typeface="Times New Roman" pitchFamily="18" charset="0"/>
              </a:rPr>
              <a:t/>
            </a:r>
            <a:br>
              <a:rPr lang="en-US" altLang="zh-TW" sz="2400" dirty="0" smtClean="0">
                <a:ea typeface="微軟正黑體" pitchFamily="34" charset="-120"/>
                <a:cs typeface="Times New Roman" pitchFamily="18" charset="0"/>
              </a:rPr>
            </a:br>
            <a:r>
              <a:rPr lang="zh-TW" altLang="en-US" sz="2200" dirty="0" smtClean="0">
                <a:ea typeface="微軟正黑體" pitchFamily="34" charset="-120"/>
                <a:cs typeface="Times New Roman" pitchFamily="18" charset="0"/>
              </a:rPr>
              <a:t>國立臺灣海洋大學資訊工程學系</a:t>
            </a:r>
            <a:r>
              <a:rPr lang="en-US" altLang="zh-TW" sz="2200" dirty="0" smtClean="0">
                <a:ea typeface="微軟正黑體" pitchFamily="34" charset="-120"/>
                <a:cs typeface="Times New Roman" pitchFamily="18" charset="0"/>
              </a:rPr>
              <a:t/>
            </a:r>
            <a:br>
              <a:rPr lang="en-US" altLang="zh-TW" sz="2200" dirty="0" smtClean="0">
                <a:ea typeface="微軟正黑體" pitchFamily="34" charset="-120"/>
                <a:cs typeface="Times New Roman" pitchFamily="18" charset="0"/>
              </a:rPr>
            </a:br>
            <a:r>
              <a:rPr lang="en-US" altLang="zh-TW" sz="2200" dirty="0" smtClean="0"/>
              <a:t>2011 National Computer Symposium</a:t>
            </a:r>
            <a:br>
              <a:rPr lang="en-US" altLang="zh-TW" sz="2200" dirty="0" smtClean="0"/>
            </a:br>
            <a:r>
              <a:rPr lang="en-US" altLang="zh-TW" sz="2200" dirty="0" smtClean="0"/>
              <a:t>(NCS 2011, Dec. </a:t>
            </a:r>
            <a:r>
              <a:rPr lang="nn-NO" altLang="zh-TW" sz="2200" dirty="0" smtClean="0"/>
              <a:t>2 - </a:t>
            </a:r>
            <a:r>
              <a:rPr lang="en-US" altLang="zh-TW" sz="2200" dirty="0" smtClean="0"/>
              <a:t>Dec</a:t>
            </a:r>
            <a:r>
              <a:rPr lang="nn-NO" altLang="zh-TW" sz="2200" dirty="0" smtClean="0"/>
              <a:t>. 3), pp. 96-107, Chiayi, Taiwan, </a:t>
            </a:r>
            <a:r>
              <a:rPr lang="en-US" altLang="zh-TW" sz="2200" dirty="0" smtClean="0"/>
              <a:t>Dec</a:t>
            </a:r>
            <a:r>
              <a:rPr lang="nn-NO" altLang="zh-TW" sz="2200" dirty="0" smtClean="0"/>
              <a:t>., </a:t>
            </a:r>
            <a:r>
              <a:rPr lang="en-US" altLang="zh-TW" sz="2200" dirty="0" smtClean="0"/>
              <a:t>2011</a:t>
            </a:r>
            <a:r>
              <a:rPr lang="nn-NO" altLang="zh-TW" sz="2200" dirty="0" smtClean="0"/>
              <a:t>. </a:t>
            </a:r>
          </a:p>
        </p:txBody>
      </p:sp>
      <p:sp>
        <p:nvSpPr>
          <p:cNvPr id="6" name="文字方塊 5"/>
          <p:cNvSpPr txBox="1"/>
          <p:nvPr/>
        </p:nvSpPr>
        <p:spPr>
          <a:xfrm>
            <a:off x="4860032" y="5301208"/>
            <a:ext cx="3384376" cy="830997"/>
          </a:xfrm>
          <a:prstGeom prst="rect">
            <a:avLst/>
          </a:prstGeom>
          <a:noFill/>
        </p:spPr>
        <p:txBody>
          <a:bodyPr wrap="square" rtlCol="0">
            <a:spAutoFit/>
          </a:bodyPr>
          <a:lstStyle/>
          <a:p>
            <a:r>
              <a:rPr lang="en-US" altLang="zh-TW" sz="2400" dirty="0" smtClean="0">
                <a:solidFill>
                  <a:srgbClr val="898989"/>
                </a:solidFill>
                <a:cs typeface="Times New Roman" pitchFamily="18" charset="0"/>
              </a:rPr>
              <a:t>Presenter: Chun-</a:t>
            </a:r>
            <a:r>
              <a:rPr lang="en-US" altLang="zh-TW" sz="2400" dirty="0" err="1" smtClean="0">
                <a:solidFill>
                  <a:srgbClr val="898989"/>
                </a:solidFill>
                <a:cs typeface="Times New Roman" pitchFamily="18" charset="0"/>
              </a:rPr>
              <a:t>Chieh</a:t>
            </a:r>
            <a:r>
              <a:rPr lang="en-US" altLang="zh-TW" sz="2400" dirty="0" smtClean="0">
                <a:solidFill>
                  <a:srgbClr val="898989"/>
                </a:solidFill>
                <a:cs typeface="Times New Roman" pitchFamily="18" charset="0"/>
              </a:rPr>
              <a:t> Tai</a:t>
            </a:r>
          </a:p>
          <a:p>
            <a:r>
              <a:rPr lang="en-US" altLang="zh-TW" sz="2400" dirty="0" smtClean="0">
                <a:solidFill>
                  <a:srgbClr val="898989"/>
                </a:solidFill>
                <a:cs typeface="Times New Roman" pitchFamily="18" charset="0"/>
              </a:rPr>
              <a:t>Date: December 19, 2011</a:t>
            </a:r>
            <a:endParaRPr lang="zh-TW" altLang="en-US" sz="2400" dirty="0" smtClean="0">
              <a:solidFill>
                <a:srgbClr val="898989"/>
              </a:solidFill>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Abstract(1/2)</a:t>
            </a:r>
            <a:endParaRPr lang="zh-TW" altLang="en-US" dirty="0"/>
          </a:p>
        </p:txBody>
      </p:sp>
      <p:sp>
        <p:nvSpPr>
          <p:cNvPr id="3" name="內容版面配置區 2"/>
          <p:cNvSpPr>
            <a:spLocks noGrp="1"/>
          </p:cNvSpPr>
          <p:nvPr>
            <p:ph idx="1"/>
          </p:nvPr>
        </p:nvSpPr>
        <p:spPr>
          <a:xfrm>
            <a:off x="0" y="1600200"/>
            <a:ext cx="8686800" cy="4525963"/>
          </a:xfrm>
        </p:spPr>
        <p:txBody>
          <a:bodyPr>
            <a:noAutofit/>
          </a:bodyPr>
          <a:lstStyle/>
          <a:p>
            <a:pPr algn="just">
              <a:buNone/>
            </a:pPr>
            <a:r>
              <a:rPr lang="en-US" altLang="zh-TW" sz="2500" dirty="0" smtClean="0"/>
              <a:t>	Protein-</a:t>
            </a:r>
            <a:r>
              <a:rPr lang="en-US" altLang="zh-TW" sz="2500" dirty="0" err="1" smtClean="0"/>
              <a:t>ligand</a:t>
            </a:r>
            <a:r>
              <a:rPr lang="en-US" altLang="zh-TW" sz="2500" dirty="0" smtClean="0"/>
              <a:t> interactions are key processes of triggering and controlling biological functions within cells. To improve the efficiencies of experimental approaches in drug discovery, a system employing geometrical features including solid angle, depth of cavity and volume of cavity is designed for protein-</a:t>
            </a:r>
            <a:r>
              <a:rPr lang="en-US" altLang="zh-TW" sz="2500" dirty="0" err="1" smtClean="0"/>
              <a:t>ligand</a:t>
            </a:r>
            <a:r>
              <a:rPr lang="en-US" altLang="zh-TW" sz="2500" dirty="0" smtClean="0"/>
              <a:t> binding region prediction. In this paper, we adopted the solid angle features to obtain the cavity depths and the scanned directions to acquire corresponding cavity volumes. Both depth and volume features were combined to rank predicted binding regions. </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Abstract(2/2)</a:t>
            </a:r>
            <a:endParaRPr lang="zh-TW" altLang="en-US" dirty="0"/>
          </a:p>
        </p:txBody>
      </p:sp>
      <p:sp>
        <p:nvSpPr>
          <p:cNvPr id="3" name="內容版面配置區 2"/>
          <p:cNvSpPr>
            <a:spLocks noGrp="1"/>
          </p:cNvSpPr>
          <p:nvPr>
            <p:ph idx="1"/>
          </p:nvPr>
        </p:nvSpPr>
        <p:spPr>
          <a:xfrm>
            <a:off x="0" y="1600200"/>
            <a:ext cx="8686800" cy="4525963"/>
          </a:xfrm>
        </p:spPr>
        <p:txBody>
          <a:bodyPr>
            <a:noAutofit/>
          </a:bodyPr>
          <a:lstStyle/>
          <a:p>
            <a:pPr algn="just">
              <a:buNone/>
            </a:pPr>
            <a:r>
              <a:rPr lang="en-US" altLang="zh-TW" sz="2500" dirty="0" smtClean="0"/>
              <a:t>	To verify the system performance, a testing dataset including 388 structures from </a:t>
            </a:r>
            <a:r>
              <a:rPr lang="en-US" altLang="zh-TW" sz="2500" dirty="0" err="1" smtClean="0"/>
              <a:t>LigASite</a:t>
            </a:r>
            <a:r>
              <a:rPr lang="en-US" altLang="zh-TW" sz="2500" dirty="0" smtClean="0"/>
              <a:t> was applied and compared to two well-known prediction systems, SITEHOUND and </a:t>
            </a:r>
            <a:r>
              <a:rPr lang="en-US" altLang="zh-TW" sz="2500" dirty="0" err="1" smtClean="0"/>
              <a:t>MetaPocket</a:t>
            </a:r>
            <a:r>
              <a:rPr lang="en-US" altLang="zh-TW" sz="2500" dirty="0" smtClean="0"/>
              <a:t> 2.0. The result has shown that the proposed system achieving an accuracy rate of 82.6%, and it outperforms these two existing systems. Additionally, the CUDA parallel computing architecture was designed in this prediction system to enhance the computational efficiencies. Each binding region prediction for a query protein structure only requires less than 1 second in general.</a:t>
            </a:r>
            <a:endParaRPr lang="zh-TW" altLang="en-US" sz="25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CUDA</a:t>
            </a:r>
            <a:endParaRPr lang="zh-TW" altLang="en-US" dirty="0"/>
          </a:p>
        </p:txBody>
      </p:sp>
      <p:sp>
        <p:nvSpPr>
          <p:cNvPr id="3" name="內容版面配置區 2"/>
          <p:cNvSpPr>
            <a:spLocks noGrp="1"/>
          </p:cNvSpPr>
          <p:nvPr>
            <p:ph idx="1"/>
          </p:nvPr>
        </p:nvSpPr>
        <p:spPr/>
        <p:txBody>
          <a:bodyPr>
            <a:normAutofit/>
          </a:bodyPr>
          <a:lstStyle/>
          <a:p>
            <a:pPr algn="just"/>
            <a:r>
              <a:rPr lang="en-US" altLang="zh-TW" dirty="0" smtClean="0"/>
              <a:t>Compute Unified Device Architecture</a:t>
            </a:r>
          </a:p>
          <a:p>
            <a:pPr algn="just"/>
            <a:r>
              <a:rPr lang="zh-TW" altLang="en-US" dirty="0" smtClean="0"/>
              <a:t>由</a:t>
            </a:r>
            <a:r>
              <a:rPr lang="en-US" altLang="zh-TW" dirty="0" smtClean="0"/>
              <a:t>NVIDIA</a:t>
            </a:r>
            <a:r>
              <a:rPr lang="zh-TW" altLang="en-US" dirty="0" smtClean="0"/>
              <a:t>所推出的一種整合技術</a:t>
            </a:r>
            <a:endParaRPr lang="en-US" altLang="zh-TW" dirty="0" smtClean="0"/>
          </a:p>
          <a:p>
            <a:pPr algn="just"/>
            <a:r>
              <a:rPr lang="zh-TW" altLang="en-US" dirty="0" smtClean="0"/>
              <a:t>利用顯示核心進行高畫質視訊編碼加速</a:t>
            </a:r>
            <a:endParaRPr lang="en-US" altLang="zh-TW" dirty="0" smtClean="0"/>
          </a:p>
          <a:p>
            <a:pPr algn="just"/>
            <a:r>
              <a:rPr lang="en-US" altLang="zh-TW" dirty="0" smtClean="0"/>
              <a:t>GPU(Graphics Processing Unit)</a:t>
            </a:r>
            <a:r>
              <a:rPr lang="zh-TW" altLang="en-US" dirty="0" smtClean="0"/>
              <a:t>通常用來加速圖形的表現，它可以簡單且快速地產生許多執行緒，將大量重複計算進行平行化的過程，可以有效降低運算所需的時間。</a:t>
            </a:r>
            <a:endParaRPr lang="zh-TW" alt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立體角特徵</a:t>
            </a:r>
            <a:endParaRPr lang="zh-TW" altLang="en-US" dirty="0"/>
          </a:p>
        </p:txBody>
      </p:sp>
      <p:pic>
        <p:nvPicPr>
          <p:cNvPr id="4" name="圖片 3" descr="fig1.PNG"/>
          <p:cNvPicPr>
            <a:picLocks noChangeAspect="1"/>
          </p:cNvPicPr>
          <p:nvPr/>
        </p:nvPicPr>
        <p:blipFill>
          <a:blip r:embed="rId2" cstate="print"/>
          <a:stretch>
            <a:fillRect/>
          </a:stretch>
        </p:blipFill>
        <p:spPr>
          <a:xfrm>
            <a:off x="1691680" y="4005065"/>
            <a:ext cx="6685079" cy="2852935"/>
          </a:xfrm>
          <a:prstGeom prst="rect">
            <a:avLst/>
          </a:prstGeom>
          <a:noFill/>
          <a:ln>
            <a:noFill/>
          </a:ln>
        </p:spPr>
      </p:pic>
      <p:sp>
        <p:nvSpPr>
          <p:cNvPr id="3" name="內容版面配置區 2"/>
          <p:cNvSpPr>
            <a:spLocks noGrp="1"/>
          </p:cNvSpPr>
          <p:nvPr>
            <p:ph idx="1"/>
          </p:nvPr>
        </p:nvSpPr>
        <p:spPr>
          <a:xfrm>
            <a:off x="457200" y="1268760"/>
            <a:ext cx="8229600" cy="4525963"/>
          </a:xfrm>
        </p:spPr>
        <p:txBody>
          <a:bodyPr/>
          <a:lstStyle/>
          <a:p>
            <a:r>
              <a:rPr lang="en-US" altLang="zh-TW" dirty="0" smtClean="0"/>
              <a:t>Connolly</a:t>
            </a:r>
            <a:r>
              <a:rPr lang="zh-TW" altLang="en-US" dirty="0" smtClean="0"/>
              <a:t>於</a:t>
            </a:r>
            <a:r>
              <a:rPr lang="en-US" altLang="zh-TW" dirty="0" smtClean="0"/>
              <a:t>1986</a:t>
            </a:r>
            <a:r>
              <a:rPr lang="zh-TW" altLang="en-US" dirty="0" smtClean="0"/>
              <a:t>年提出</a:t>
            </a:r>
            <a:endParaRPr lang="en-US" altLang="zh-TW" dirty="0" smtClean="0"/>
          </a:p>
          <a:p>
            <a:r>
              <a:rPr lang="zh-TW" altLang="en-US" dirty="0" smtClean="0"/>
              <a:t>立體角</a:t>
            </a:r>
            <a:r>
              <a:rPr lang="en-US" altLang="zh-TW" dirty="0" smtClean="0"/>
              <a:t>: </a:t>
            </a:r>
            <a:r>
              <a:rPr lang="zh-TW" altLang="en-US" dirty="0" smtClean="0"/>
              <a:t>從一特定點觀察或測量遠處物體的三維空間角度</a:t>
            </a:r>
            <a:endParaRPr lang="en-US" altLang="zh-TW" dirty="0" smtClean="0"/>
          </a:p>
          <a:p>
            <a:r>
              <a:rPr lang="zh-TW" altLang="en-US" dirty="0" smtClean="0"/>
              <a:t>定義某一物體投影在特定點的虛擬球上的面積</a:t>
            </a:r>
            <a:endParaRPr lang="en-US" altLang="zh-TW" dirty="0" smtClean="0"/>
          </a:p>
          <a:p>
            <a:endParaRPr lang="en-US" altLang="zh-TW" dirty="0" smtClean="0"/>
          </a:p>
          <a:p>
            <a:endParaRPr lang="zh-TW" alt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系統流程圖</a:t>
            </a:r>
            <a:endParaRPr lang="zh-TW" altLang="en-US" dirty="0"/>
          </a:p>
        </p:txBody>
      </p:sp>
      <p:graphicFrame>
        <p:nvGraphicFramePr>
          <p:cNvPr id="4" name="內容版面配置區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pPr lvl="0"/>
            <a:r>
              <a:rPr lang="en-US" altLang="zh-TW" dirty="0" smtClean="0"/>
              <a:t>Step 1 </a:t>
            </a:r>
            <a:r>
              <a:rPr lang="zh-TW" altLang="en-US" sz="3600" dirty="0" smtClean="0"/>
              <a:t>三維網路技術建構蛋白質立體結構</a:t>
            </a:r>
            <a:endParaRPr lang="zh-TW" altLang="en-US" dirty="0"/>
          </a:p>
        </p:txBody>
      </p:sp>
      <p:sp>
        <p:nvSpPr>
          <p:cNvPr id="3" name="內容版面配置區 2"/>
          <p:cNvSpPr>
            <a:spLocks noGrp="1"/>
          </p:cNvSpPr>
          <p:nvPr>
            <p:ph idx="1"/>
          </p:nvPr>
        </p:nvSpPr>
        <p:spPr/>
        <p:txBody>
          <a:bodyPr/>
          <a:lstStyle/>
          <a:p>
            <a:r>
              <a:rPr lang="zh-TW" altLang="en-US" dirty="0" smtClean="0"/>
              <a:t>讀取</a:t>
            </a:r>
            <a:r>
              <a:rPr lang="en-US" altLang="zh-TW" dirty="0" smtClean="0"/>
              <a:t>PDB</a:t>
            </a:r>
            <a:r>
              <a:rPr lang="zh-TW" altLang="en-US" dirty="0" smtClean="0"/>
              <a:t>檔</a:t>
            </a:r>
            <a:endParaRPr lang="en-US" altLang="zh-TW" dirty="0" smtClean="0"/>
          </a:p>
          <a:p>
            <a:pPr lvl="1"/>
            <a:r>
              <a:rPr lang="zh-TW" altLang="en-US" dirty="0" smtClean="0"/>
              <a:t>以</a:t>
            </a:r>
            <a:r>
              <a:rPr lang="en-US" altLang="zh-TW" dirty="0" smtClean="0"/>
              <a:t>1ACB</a:t>
            </a:r>
            <a:r>
              <a:rPr lang="zh-TW" altLang="en-US" dirty="0" smtClean="0"/>
              <a:t>為例</a:t>
            </a:r>
            <a:endParaRPr lang="en-US" altLang="zh-TW" dirty="0" smtClean="0"/>
          </a:p>
          <a:p>
            <a:pPr lvl="1"/>
            <a:endParaRPr lang="en-US" altLang="zh-TW" dirty="0" smtClean="0"/>
          </a:p>
          <a:p>
            <a:r>
              <a:rPr lang="zh-TW" altLang="en-US" dirty="0" smtClean="0"/>
              <a:t>三維網格化</a:t>
            </a:r>
            <a:endParaRPr lang="en-US" altLang="zh-TW" dirty="0" smtClean="0"/>
          </a:p>
          <a:p>
            <a:endParaRPr lang="en-US" altLang="zh-TW" dirty="0" smtClean="0"/>
          </a:p>
          <a:p>
            <a:endParaRPr lang="en-US" altLang="zh-TW" dirty="0" smtClean="0"/>
          </a:p>
          <a:p>
            <a:r>
              <a:rPr lang="zh-TW" altLang="en-US" dirty="0" smtClean="0"/>
              <a:t>決定表面格點</a:t>
            </a:r>
          </a:p>
          <a:p>
            <a:endParaRPr lang="zh-TW" altLang="en-US" dirty="0"/>
          </a:p>
        </p:txBody>
      </p:sp>
      <p:pic>
        <p:nvPicPr>
          <p:cNvPr id="4" name="圖片 3" descr="fig3.PNG"/>
          <p:cNvPicPr>
            <a:picLocks noChangeAspect="1"/>
          </p:cNvPicPr>
          <p:nvPr/>
        </p:nvPicPr>
        <p:blipFill>
          <a:blip r:embed="rId2" cstate="print"/>
          <a:stretch>
            <a:fillRect/>
          </a:stretch>
        </p:blipFill>
        <p:spPr>
          <a:xfrm>
            <a:off x="3203848" y="2420888"/>
            <a:ext cx="5184576" cy="1901579"/>
          </a:xfrm>
          <a:prstGeom prst="rect">
            <a:avLst/>
          </a:prstGeom>
        </p:spPr>
      </p:pic>
      <p:pic>
        <p:nvPicPr>
          <p:cNvPr id="5" name="圖片 4" descr="fig4.gif"/>
          <p:cNvPicPr>
            <a:picLocks noChangeAspect="1"/>
          </p:cNvPicPr>
          <p:nvPr/>
        </p:nvPicPr>
        <p:blipFill>
          <a:blip r:embed="rId3" cstate="print"/>
          <a:stretch>
            <a:fillRect/>
          </a:stretch>
        </p:blipFill>
        <p:spPr>
          <a:xfrm>
            <a:off x="3419872" y="4293096"/>
            <a:ext cx="4860032" cy="233592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descr="fig7.PNG"/>
          <p:cNvPicPr>
            <a:picLocks noChangeAspect="1"/>
          </p:cNvPicPr>
          <p:nvPr/>
        </p:nvPicPr>
        <p:blipFill>
          <a:blip r:embed="rId3" cstate="print"/>
          <a:srcRect l="4351" t="4179" r="3080" b="3003"/>
          <a:stretch>
            <a:fillRect/>
          </a:stretch>
        </p:blipFill>
        <p:spPr>
          <a:xfrm>
            <a:off x="2915816" y="3356992"/>
            <a:ext cx="3993547" cy="3197288"/>
          </a:xfrm>
          <a:prstGeom prst="rect">
            <a:avLst/>
          </a:prstGeom>
        </p:spPr>
      </p:pic>
      <p:sp>
        <p:nvSpPr>
          <p:cNvPr id="2" name="標題 1"/>
          <p:cNvSpPr>
            <a:spLocks noGrp="1"/>
          </p:cNvSpPr>
          <p:nvPr>
            <p:ph type="title"/>
          </p:nvPr>
        </p:nvSpPr>
        <p:spPr/>
        <p:txBody>
          <a:bodyPr>
            <a:normAutofit/>
          </a:bodyPr>
          <a:lstStyle/>
          <a:p>
            <a:pPr lvl="0"/>
            <a:r>
              <a:rPr lang="en-US" altLang="zh-TW" dirty="0" smtClean="0"/>
              <a:t>Step 2 </a:t>
            </a:r>
            <a:r>
              <a:rPr lang="zh-TW" altLang="en-US" dirty="0" smtClean="0"/>
              <a:t>立體角計算</a:t>
            </a:r>
            <a:endParaRPr lang="zh-TW" altLang="en-US" dirty="0"/>
          </a:p>
        </p:txBody>
      </p:sp>
      <p:sp>
        <p:nvSpPr>
          <p:cNvPr id="3" name="內容版面配置區 2"/>
          <p:cNvSpPr>
            <a:spLocks noGrp="1"/>
          </p:cNvSpPr>
          <p:nvPr>
            <p:ph idx="1"/>
          </p:nvPr>
        </p:nvSpPr>
        <p:spPr/>
        <p:txBody>
          <a:bodyPr/>
          <a:lstStyle/>
          <a:p>
            <a:pPr lvl="0"/>
            <a:r>
              <a:rPr lang="zh-TW" altLang="en-US" dirty="0" smtClean="0"/>
              <a:t>平行計算立體角並依立體角大小排序</a:t>
            </a:r>
            <a:endParaRPr lang="en-US" altLang="zh-TW" dirty="0" smtClean="0"/>
          </a:p>
          <a:p>
            <a:pPr lvl="3"/>
            <a:endParaRPr lang="en-US" altLang="zh-TW" dirty="0" smtClean="0"/>
          </a:p>
          <a:p>
            <a:pPr lvl="0"/>
            <a:r>
              <a:rPr lang="zh-TW" altLang="en-US" dirty="0" smtClean="0"/>
              <a:t>立體角計算公式</a:t>
            </a:r>
            <a:r>
              <a:rPr lang="en-US" altLang="zh-TW" dirty="0" smtClean="0"/>
              <a:t>:</a:t>
            </a:r>
            <a:endParaRPr lang="zh-TW" altLang="en-US" dirty="0" smtClean="0"/>
          </a:p>
        </p:txBody>
      </p:sp>
      <p:graphicFrame>
        <p:nvGraphicFramePr>
          <p:cNvPr id="33794" name="Object 2"/>
          <p:cNvGraphicFramePr>
            <a:graphicFrameLocks noChangeAspect="1"/>
          </p:cNvGraphicFramePr>
          <p:nvPr/>
        </p:nvGraphicFramePr>
        <p:xfrm>
          <a:off x="3923928" y="2348880"/>
          <a:ext cx="2681268" cy="1080120"/>
        </p:xfrm>
        <a:graphic>
          <a:graphicData uri="http://schemas.openxmlformats.org/presentationml/2006/ole">
            <p:oleObj spid="_x0000_s33794" name="方程式" r:id="rId4" imgW="977760" imgH="393480" progId="Equation.3">
              <p:embed/>
            </p:oleObj>
          </a:graphicData>
        </a:graphic>
      </p:graphicFrame>
      <p:pic>
        <p:nvPicPr>
          <p:cNvPr id="7" name="圖片 6" descr="fig5.PNG"/>
          <p:cNvPicPr>
            <a:picLocks noChangeAspect="1"/>
          </p:cNvPicPr>
          <p:nvPr/>
        </p:nvPicPr>
        <p:blipFill>
          <a:blip r:embed="rId5" cstate="print"/>
          <a:stretch>
            <a:fillRect/>
          </a:stretch>
        </p:blipFill>
        <p:spPr>
          <a:xfrm>
            <a:off x="6510159" y="2132856"/>
            <a:ext cx="2461058" cy="1656184"/>
          </a:xfrm>
          <a:prstGeom prst="rect">
            <a:avLst/>
          </a:prstGeom>
        </p:spPr>
      </p:pic>
      <p:pic>
        <p:nvPicPr>
          <p:cNvPr id="8" name="圖片 7" descr="fig6.PNG"/>
          <p:cNvPicPr>
            <a:picLocks noChangeAspect="1"/>
          </p:cNvPicPr>
          <p:nvPr/>
        </p:nvPicPr>
        <p:blipFill>
          <a:blip r:embed="rId6" cstate="print"/>
          <a:stretch>
            <a:fillRect/>
          </a:stretch>
        </p:blipFill>
        <p:spPr>
          <a:xfrm>
            <a:off x="755576" y="3212976"/>
            <a:ext cx="2232248" cy="2083629"/>
          </a:xfrm>
          <a:prstGeom prst="rect">
            <a:avLst/>
          </a:prstGeom>
        </p:spPr>
      </p:pic>
      <p:sp>
        <p:nvSpPr>
          <p:cNvPr id="10" name="文字方塊 9"/>
          <p:cNvSpPr txBox="1"/>
          <p:nvPr/>
        </p:nvSpPr>
        <p:spPr>
          <a:xfrm>
            <a:off x="6444208" y="5589240"/>
            <a:ext cx="2444900" cy="923330"/>
          </a:xfrm>
          <a:prstGeom prst="rect">
            <a:avLst/>
          </a:prstGeom>
          <a:noFill/>
        </p:spPr>
        <p:txBody>
          <a:bodyPr wrap="none" rtlCol="0">
            <a:spAutoFit/>
          </a:bodyPr>
          <a:lstStyle/>
          <a:p>
            <a:r>
              <a:rPr lang="zh-TW" altLang="en-US" dirty="0" smtClean="0">
                <a:latin typeface="+mn-ea"/>
              </a:rPr>
              <a:t>紅點</a:t>
            </a:r>
            <a:r>
              <a:rPr lang="en-US" altLang="zh-TW" dirty="0" smtClean="0">
                <a:latin typeface="+mn-ea"/>
              </a:rPr>
              <a:t>: 0 ~ 1.5π(</a:t>
            </a:r>
            <a:r>
              <a:rPr lang="zh-TW" altLang="en-US" dirty="0" smtClean="0">
                <a:latin typeface="+mn-ea"/>
              </a:rPr>
              <a:t>凸出</a:t>
            </a:r>
            <a:r>
              <a:rPr lang="en-US" altLang="zh-TW" dirty="0" smtClean="0">
                <a:latin typeface="+mn-ea"/>
              </a:rPr>
              <a:t>)</a:t>
            </a:r>
          </a:p>
          <a:p>
            <a:r>
              <a:rPr lang="zh-TW" altLang="en-US" dirty="0" smtClean="0">
                <a:latin typeface="+mn-ea"/>
              </a:rPr>
              <a:t>灰點</a:t>
            </a:r>
            <a:r>
              <a:rPr lang="en-US" altLang="zh-TW" dirty="0" smtClean="0">
                <a:latin typeface="+mn-ea"/>
              </a:rPr>
              <a:t>: 1.5 ~ 2.5π(</a:t>
            </a:r>
            <a:r>
              <a:rPr lang="zh-TW" altLang="en-US" dirty="0" smtClean="0">
                <a:latin typeface="+mn-ea"/>
              </a:rPr>
              <a:t>平坦</a:t>
            </a:r>
            <a:r>
              <a:rPr lang="en-US" altLang="zh-TW" dirty="0" smtClean="0">
                <a:latin typeface="+mn-ea"/>
              </a:rPr>
              <a:t>)</a:t>
            </a:r>
          </a:p>
          <a:p>
            <a:r>
              <a:rPr lang="zh-TW" altLang="en-US" dirty="0" smtClean="0">
                <a:latin typeface="+mn-ea"/>
              </a:rPr>
              <a:t>藍點</a:t>
            </a:r>
            <a:r>
              <a:rPr lang="en-US" altLang="zh-TW" dirty="0" smtClean="0">
                <a:latin typeface="+mn-ea"/>
              </a:rPr>
              <a:t>: 2.5 ~ 4π(</a:t>
            </a:r>
            <a:r>
              <a:rPr lang="zh-TW" altLang="en-US" dirty="0" smtClean="0">
                <a:latin typeface="+mn-ea"/>
              </a:rPr>
              <a:t>凹陷</a:t>
            </a:r>
            <a:r>
              <a:rPr lang="en-US" altLang="zh-TW" dirty="0" smtClean="0">
                <a:latin typeface="+mn-ea"/>
              </a:rPr>
              <a:t>)</a:t>
            </a:r>
          </a:p>
        </p:txBody>
      </p:sp>
      <p:sp>
        <p:nvSpPr>
          <p:cNvPr id="11" name="文字方塊 10"/>
          <p:cNvSpPr txBox="1"/>
          <p:nvPr/>
        </p:nvSpPr>
        <p:spPr>
          <a:xfrm>
            <a:off x="1403648" y="5373216"/>
            <a:ext cx="1183337" cy="369332"/>
          </a:xfrm>
          <a:prstGeom prst="rect">
            <a:avLst/>
          </a:prstGeom>
          <a:noFill/>
        </p:spPr>
        <p:txBody>
          <a:bodyPr wrap="none" rtlCol="0">
            <a:spAutoFit/>
          </a:bodyPr>
          <a:lstStyle/>
          <a:p>
            <a:r>
              <a:rPr lang="zh-TW" altLang="en-US" dirty="0" smtClean="0">
                <a:latin typeface="+mn-ea"/>
              </a:rPr>
              <a:t>半徑</a:t>
            </a:r>
            <a:r>
              <a:rPr lang="en-US" altLang="zh-TW" dirty="0" smtClean="0">
                <a:latin typeface="+mn-ea"/>
              </a:rPr>
              <a:t>: 10Å</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lvl="0"/>
            <a:r>
              <a:rPr lang="en-US" altLang="zh-TW" dirty="0" smtClean="0"/>
              <a:t>Step 3 </a:t>
            </a:r>
            <a:r>
              <a:rPr lang="zh-TW" altLang="en-US" dirty="0" smtClean="0"/>
              <a:t>找錨點及分群</a:t>
            </a:r>
            <a:endParaRPr lang="zh-TW" altLang="en-US" dirty="0"/>
          </a:p>
        </p:txBody>
      </p:sp>
      <p:sp>
        <p:nvSpPr>
          <p:cNvPr id="3" name="內容版面配置區 2"/>
          <p:cNvSpPr>
            <a:spLocks noGrp="1"/>
          </p:cNvSpPr>
          <p:nvPr>
            <p:ph sz="half" idx="1"/>
          </p:nvPr>
        </p:nvSpPr>
        <p:spPr/>
        <p:txBody>
          <a:bodyPr/>
          <a:lstStyle/>
          <a:p>
            <a:r>
              <a:rPr lang="zh-TW" altLang="en-US" dirty="0" smtClean="0"/>
              <a:t>將同性質</a:t>
            </a:r>
            <a:r>
              <a:rPr lang="en-US" altLang="zh-TW" dirty="0" smtClean="0"/>
              <a:t>(</a:t>
            </a:r>
            <a:r>
              <a:rPr lang="zh-TW" altLang="en-US" dirty="0" smtClean="0"/>
              <a:t>凹</a:t>
            </a:r>
            <a:r>
              <a:rPr lang="en-US" altLang="zh-TW" dirty="0" smtClean="0"/>
              <a:t>/</a:t>
            </a:r>
            <a:r>
              <a:rPr lang="zh-TW" altLang="en-US" dirty="0" smtClean="0"/>
              <a:t>凸</a:t>
            </a:r>
            <a:r>
              <a:rPr lang="en-US" altLang="zh-TW" dirty="0" smtClean="0"/>
              <a:t>/</a:t>
            </a:r>
            <a:r>
              <a:rPr lang="zh-TW" altLang="en-US" dirty="0" smtClean="0"/>
              <a:t>平</a:t>
            </a:r>
            <a:r>
              <a:rPr lang="en-US" altLang="zh-TW" dirty="0" smtClean="0"/>
              <a:t>)</a:t>
            </a:r>
            <a:r>
              <a:rPr lang="zh-TW" altLang="en-US" dirty="0" smtClean="0"/>
              <a:t>且分佈於限定距離</a:t>
            </a:r>
            <a:r>
              <a:rPr lang="en-US" altLang="zh-TW" dirty="0" smtClean="0"/>
              <a:t>(</a:t>
            </a:r>
            <a:r>
              <a:rPr lang="en-US" altLang="zh-TW" dirty="0" smtClean="0">
                <a:latin typeface="+mn-ea"/>
              </a:rPr>
              <a:t>10Å</a:t>
            </a:r>
            <a:r>
              <a:rPr lang="en-US" altLang="zh-TW" dirty="0" smtClean="0"/>
              <a:t>)</a:t>
            </a:r>
            <a:r>
              <a:rPr lang="zh-TW" altLang="en-US" dirty="0" smtClean="0"/>
              <a:t>內視為同一群</a:t>
            </a:r>
            <a:endParaRPr lang="en-US" altLang="zh-TW" dirty="0" smtClean="0"/>
          </a:p>
          <a:p>
            <a:pPr lvl="0"/>
            <a:r>
              <a:rPr lang="zh-TW" altLang="en-US" dirty="0" smtClean="0"/>
              <a:t>只取凹洞部份的群組</a:t>
            </a:r>
            <a:r>
              <a:rPr lang="en-US" altLang="zh-TW" dirty="0" smtClean="0"/>
              <a:t>, </a:t>
            </a:r>
            <a:r>
              <a:rPr lang="zh-TW" altLang="en-US" dirty="0" smtClean="0"/>
              <a:t>並將立體角最大的位置設為該群之代表錨點</a:t>
            </a:r>
            <a:r>
              <a:rPr lang="en-US" altLang="zh-TW" dirty="0" smtClean="0"/>
              <a:t>(anchor)</a:t>
            </a:r>
            <a:endParaRPr lang="zh-TW" altLang="en-US" dirty="0" smtClean="0"/>
          </a:p>
        </p:txBody>
      </p:sp>
      <p:pic>
        <p:nvPicPr>
          <p:cNvPr id="9" name="內容版面配置區 8" descr="fig8.gif"/>
          <p:cNvPicPr>
            <a:picLocks noGrp="1" noChangeAspect="1"/>
          </p:cNvPicPr>
          <p:nvPr>
            <p:ph sz="half" idx="2"/>
          </p:nvPr>
        </p:nvPicPr>
        <p:blipFill>
          <a:blip r:embed="rId2" cstate="print"/>
          <a:stretch>
            <a:fillRect/>
          </a:stretch>
        </p:blipFill>
        <p:spPr>
          <a:xfrm>
            <a:off x="4355976" y="1556791"/>
            <a:ext cx="4788024" cy="4609143"/>
          </a:xfr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內容版面配置區 5" descr="fig9.PNG"/>
          <p:cNvPicPr>
            <a:picLocks noGrp="1" noChangeAspect="1"/>
          </p:cNvPicPr>
          <p:nvPr>
            <p:ph sz="half" idx="4294967295"/>
          </p:nvPr>
        </p:nvPicPr>
        <p:blipFill>
          <a:blip r:embed="rId2" cstate="print"/>
          <a:stretch>
            <a:fillRect/>
          </a:stretch>
        </p:blipFill>
        <p:spPr>
          <a:xfrm>
            <a:off x="5364088" y="1556792"/>
            <a:ext cx="3100797" cy="2680984"/>
          </a:xfrm>
          <a:prstGeom prst="rect">
            <a:avLst/>
          </a:prstGeom>
          <a:noFill/>
          <a:ln>
            <a:noFill/>
          </a:ln>
        </p:spPr>
      </p:pic>
      <p:sp>
        <p:nvSpPr>
          <p:cNvPr id="2" name="標題 1"/>
          <p:cNvSpPr>
            <a:spLocks noGrp="1"/>
          </p:cNvSpPr>
          <p:nvPr>
            <p:ph type="title"/>
          </p:nvPr>
        </p:nvSpPr>
        <p:spPr/>
        <p:txBody>
          <a:bodyPr>
            <a:normAutofit/>
          </a:bodyPr>
          <a:lstStyle/>
          <a:p>
            <a:pPr lvl="0"/>
            <a:r>
              <a:rPr lang="en-US" altLang="zh-TW" dirty="0" smtClean="0"/>
              <a:t>Step 4 </a:t>
            </a:r>
            <a:r>
              <a:rPr lang="zh-TW" altLang="en-US" dirty="0" smtClean="0"/>
              <a:t>幾何特性計算</a:t>
            </a:r>
            <a:endParaRPr lang="zh-TW" altLang="en-US" dirty="0"/>
          </a:p>
        </p:txBody>
      </p:sp>
      <p:sp>
        <p:nvSpPr>
          <p:cNvPr id="3" name="內容版面配置區 2"/>
          <p:cNvSpPr>
            <a:spLocks noGrp="1"/>
          </p:cNvSpPr>
          <p:nvPr>
            <p:ph idx="1"/>
          </p:nvPr>
        </p:nvSpPr>
        <p:spPr>
          <a:xfrm>
            <a:off x="457200" y="1268760"/>
            <a:ext cx="8229600" cy="4857403"/>
          </a:xfrm>
        </p:spPr>
        <p:txBody>
          <a:bodyPr/>
          <a:lstStyle/>
          <a:p>
            <a:r>
              <a:rPr lang="zh-TW" altLang="en-US" dirty="0" smtClean="0"/>
              <a:t>凹洞平均深度特徵值</a:t>
            </a:r>
            <a:endParaRPr lang="en-US" altLang="zh-TW" dirty="0" smtClean="0"/>
          </a:p>
          <a:p>
            <a:endParaRPr lang="en-US" altLang="zh-TW" dirty="0" smtClean="0"/>
          </a:p>
          <a:p>
            <a:endParaRPr lang="en-US" altLang="zh-TW" dirty="0" smtClean="0"/>
          </a:p>
          <a:p>
            <a:endParaRPr lang="en-US" altLang="zh-TW" dirty="0" smtClean="0"/>
          </a:p>
          <a:p>
            <a:endParaRPr lang="en-US" altLang="zh-TW" dirty="0" smtClean="0"/>
          </a:p>
          <a:p>
            <a:r>
              <a:rPr lang="zh-TW" altLang="en-US" dirty="0" smtClean="0"/>
              <a:t>凹洞體積</a:t>
            </a:r>
            <a:endParaRPr lang="en-US" altLang="zh-TW" dirty="0" smtClean="0"/>
          </a:p>
          <a:p>
            <a:pPr lvl="1"/>
            <a:r>
              <a:rPr lang="zh-TW" altLang="en-US" dirty="0" smtClean="0"/>
              <a:t>所有凹洞內部點的個數</a:t>
            </a:r>
            <a:endParaRPr lang="zh-TW" altLang="en-US" dirty="0"/>
          </a:p>
        </p:txBody>
      </p:sp>
      <p:pic>
        <p:nvPicPr>
          <p:cNvPr id="7" name="圖片 6" descr="fig10a.PNG"/>
          <p:cNvPicPr>
            <a:picLocks noChangeAspect="1"/>
          </p:cNvPicPr>
          <p:nvPr/>
        </p:nvPicPr>
        <p:blipFill>
          <a:blip r:embed="rId3" cstate="print"/>
          <a:stretch>
            <a:fillRect/>
          </a:stretch>
        </p:blipFill>
        <p:spPr>
          <a:xfrm>
            <a:off x="971600" y="5167640"/>
            <a:ext cx="1684968" cy="1690360"/>
          </a:xfrm>
          <a:prstGeom prst="rect">
            <a:avLst/>
          </a:prstGeom>
        </p:spPr>
      </p:pic>
      <p:pic>
        <p:nvPicPr>
          <p:cNvPr id="8" name="圖片 7" descr="fig10b.PNG"/>
          <p:cNvPicPr>
            <a:picLocks noChangeAspect="1"/>
          </p:cNvPicPr>
          <p:nvPr/>
        </p:nvPicPr>
        <p:blipFill>
          <a:blip r:embed="rId4" cstate="print"/>
          <a:stretch>
            <a:fillRect/>
          </a:stretch>
        </p:blipFill>
        <p:spPr>
          <a:xfrm>
            <a:off x="2771800" y="5219940"/>
            <a:ext cx="1584176" cy="1638060"/>
          </a:xfrm>
          <a:prstGeom prst="rect">
            <a:avLst/>
          </a:prstGeom>
        </p:spPr>
      </p:pic>
      <p:pic>
        <p:nvPicPr>
          <p:cNvPr id="9" name="圖片 8" descr="fig10c.PNG"/>
          <p:cNvPicPr>
            <a:picLocks noChangeAspect="1"/>
          </p:cNvPicPr>
          <p:nvPr/>
        </p:nvPicPr>
        <p:blipFill>
          <a:blip r:embed="rId5" cstate="print"/>
          <a:stretch>
            <a:fillRect/>
          </a:stretch>
        </p:blipFill>
        <p:spPr>
          <a:xfrm>
            <a:off x="4499992" y="5229200"/>
            <a:ext cx="1604808" cy="1628800"/>
          </a:xfrm>
          <a:prstGeom prst="rect">
            <a:avLst/>
          </a:prstGeom>
        </p:spPr>
      </p:pic>
      <p:pic>
        <p:nvPicPr>
          <p:cNvPr id="13" name="圖片 12" descr="fig10d.PNG"/>
          <p:cNvPicPr>
            <a:picLocks noChangeAspect="1"/>
          </p:cNvPicPr>
          <p:nvPr/>
        </p:nvPicPr>
        <p:blipFill>
          <a:blip r:embed="rId6" cstate="print"/>
          <a:stretch>
            <a:fillRect/>
          </a:stretch>
        </p:blipFill>
        <p:spPr>
          <a:xfrm>
            <a:off x="6444208" y="5229200"/>
            <a:ext cx="1450819" cy="1628800"/>
          </a:xfrm>
          <a:prstGeom prst="rect">
            <a:avLst/>
          </a:prstGeom>
        </p:spPr>
      </p:pic>
      <p:pic>
        <p:nvPicPr>
          <p:cNvPr id="34818" name="Picture 2" descr="D:\Dropbox\paper@DBox\研討會\130\function-2.PNG"/>
          <p:cNvPicPr>
            <a:picLocks noChangeAspect="1" noChangeArrowheads="1"/>
          </p:cNvPicPr>
          <p:nvPr/>
        </p:nvPicPr>
        <p:blipFill>
          <a:blip r:embed="rId7" cstate="print"/>
          <a:stretch>
            <a:fillRect/>
          </a:stretch>
        </p:blipFill>
        <p:spPr bwMode="auto">
          <a:xfrm>
            <a:off x="899592" y="1772816"/>
            <a:ext cx="4269547" cy="2448271"/>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pPr lvl="0"/>
            <a:r>
              <a:rPr lang="en-US" altLang="zh-TW" dirty="0" smtClean="0"/>
              <a:t>Step 5 </a:t>
            </a:r>
            <a:r>
              <a:rPr lang="zh-TW" altLang="en-US" dirty="0" smtClean="0"/>
              <a:t>配體結合位置預測</a:t>
            </a:r>
            <a:endParaRPr lang="zh-TW" altLang="en-US" dirty="0"/>
          </a:p>
        </p:txBody>
      </p:sp>
      <p:sp>
        <p:nvSpPr>
          <p:cNvPr id="3" name="內容版面配置區 2"/>
          <p:cNvSpPr>
            <a:spLocks noGrp="1"/>
          </p:cNvSpPr>
          <p:nvPr>
            <p:ph idx="1"/>
          </p:nvPr>
        </p:nvSpPr>
        <p:spPr/>
        <p:txBody>
          <a:bodyPr>
            <a:normAutofit fontScale="92500" lnSpcReduction="20000"/>
          </a:bodyPr>
          <a:lstStyle/>
          <a:p>
            <a:pPr lvl="0"/>
            <a:r>
              <a:rPr lang="zh-TW" altLang="en-US" dirty="0" smtClean="0"/>
              <a:t>將凹洞深度與凹洞體積以 </a:t>
            </a:r>
            <a:r>
              <a:rPr lang="en-US" altLang="zh-TW" dirty="0" smtClean="0"/>
              <a:t>8:2 </a:t>
            </a:r>
            <a:r>
              <a:rPr lang="zh-TW" altLang="en-US" dirty="0" smtClean="0"/>
              <a:t>加權後排名</a:t>
            </a:r>
          </a:p>
          <a:p>
            <a:endParaRPr lang="en-US" altLang="zh-TW" dirty="0" smtClean="0"/>
          </a:p>
          <a:p>
            <a:endParaRPr lang="en-US" altLang="zh-TW" dirty="0" smtClean="0"/>
          </a:p>
          <a:p>
            <a:endParaRPr lang="en-US" altLang="zh-TW" dirty="0" smtClean="0"/>
          </a:p>
          <a:p>
            <a:r>
              <a:rPr lang="en-US" altLang="zh-TW" dirty="0" smtClean="0"/>
              <a:t>RV(p</a:t>
            </a:r>
            <a:r>
              <a:rPr lang="en-US" altLang="zh-TW" dirty="0" smtClean="0"/>
              <a:t>): Rank Value, p</a:t>
            </a:r>
            <a:r>
              <a:rPr lang="zh-TW" altLang="en-US" dirty="0" smtClean="0"/>
              <a:t>為錨點</a:t>
            </a:r>
            <a:endParaRPr lang="en-US" altLang="zh-TW" dirty="0" smtClean="0"/>
          </a:p>
          <a:p>
            <a:r>
              <a:rPr lang="en-US" altLang="zh-TW" dirty="0" smtClean="0"/>
              <a:t>CD(p)</a:t>
            </a:r>
            <a:r>
              <a:rPr lang="en-US" altLang="zh-TW" baseline="-25000" dirty="0" smtClean="0"/>
              <a:t>AVG</a:t>
            </a:r>
            <a:r>
              <a:rPr lang="en-US" altLang="zh-TW" dirty="0" smtClean="0"/>
              <a:t>: </a:t>
            </a:r>
            <a:r>
              <a:rPr lang="zh-TW" altLang="en-US" dirty="0" smtClean="0"/>
              <a:t>錨點</a:t>
            </a:r>
            <a:r>
              <a:rPr lang="en-US" altLang="zh-TW" dirty="0" smtClean="0"/>
              <a:t>p</a:t>
            </a:r>
            <a:r>
              <a:rPr lang="zh-TW" altLang="en-US" dirty="0" smtClean="0"/>
              <a:t>之凹洞深度</a:t>
            </a:r>
            <a:endParaRPr lang="en-US" altLang="zh-TW" dirty="0" smtClean="0"/>
          </a:p>
          <a:p>
            <a:r>
              <a:rPr lang="en-US" altLang="zh-TW" dirty="0" smtClean="0"/>
              <a:t>CV(p)</a:t>
            </a:r>
            <a:r>
              <a:rPr lang="en-US" altLang="zh-TW" baseline="-25000" dirty="0" smtClean="0"/>
              <a:t>AVG</a:t>
            </a:r>
            <a:r>
              <a:rPr lang="en-US" altLang="zh-TW" dirty="0" smtClean="0"/>
              <a:t>: </a:t>
            </a:r>
            <a:r>
              <a:rPr lang="zh-TW" altLang="en-US" dirty="0" smtClean="0"/>
              <a:t>錨點</a:t>
            </a:r>
            <a:r>
              <a:rPr lang="en-US" altLang="zh-TW" dirty="0" smtClean="0"/>
              <a:t>p</a:t>
            </a:r>
            <a:r>
              <a:rPr lang="zh-TW" altLang="en-US" dirty="0" smtClean="0"/>
              <a:t>之凹洞體積</a:t>
            </a:r>
            <a:endParaRPr lang="en-US" altLang="zh-TW" dirty="0" smtClean="0"/>
          </a:p>
          <a:p>
            <a:r>
              <a:rPr lang="en-US" altLang="zh-TW" dirty="0" smtClean="0"/>
              <a:t>CD</a:t>
            </a:r>
            <a:r>
              <a:rPr lang="en-US" altLang="zh-TW" baseline="-25000" dirty="0" smtClean="0"/>
              <a:t>MAX</a:t>
            </a:r>
            <a:r>
              <a:rPr lang="en-US" altLang="zh-TW" dirty="0" smtClean="0"/>
              <a:t>: </a:t>
            </a:r>
            <a:r>
              <a:rPr lang="zh-TW" altLang="en-US" dirty="0" smtClean="0"/>
              <a:t>所有錨點中最大凹洞深度</a:t>
            </a:r>
            <a:endParaRPr lang="en-US" altLang="zh-TW" dirty="0" smtClean="0"/>
          </a:p>
          <a:p>
            <a:r>
              <a:rPr lang="en-US" altLang="zh-TW" dirty="0" smtClean="0"/>
              <a:t>CV</a:t>
            </a:r>
            <a:r>
              <a:rPr lang="en-US" altLang="zh-TW" baseline="-25000" dirty="0" smtClean="0"/>
              <a:t>MAX</a:t>
            </a:r>
            <a:r>
              <a:rPr lang="en-US" altLang="zh-TW" dirty="0" smtClean="0"/>
              <a:t>: </a:t>
            </a:r>
            <a:r>
              <a:rPr lang="zh-TW" altLang="en-US" dirty="0" smtClean="0"/>
              <a:t>所有錨點中最大凹洞體積</a:t>
            </a:r>
            <a:endParaRPr lang="zh-TW" altLang="en-US" dirty="0"/>
          </a:p>
        </p:txBody>
      </p:sp>
      <p:graphicFrame>
        <p:nvGraphicFramePr>
          <p:cNvPr id="35842" name="Object 2"/>
          <p:cNvGraphicFramePr>
            <a:graphicFrameLocks noChangeAspect="1"/>
          </p:cNvGraphicFramePr>
          <p:nvPr/>
        </p:nvGraphicFramePr>
        <p:xfrm>
          <a:off x="827584" y="2204864"/>
          <a:ext cx="6999288" cy="1079500"/>
        </p:xfrm>
        <a:graphic>
          <a:graphicData uri="http://schemas.openxmlformats.org/presentationml/2006/ole">
            <p:oleObj spid="_x0000_s35842" name="方程式" r:id="rId3" imgW="2552400" imgH="393480" progId="Equation.3">
              <p:embed/>
            </p:oleObj>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測試資料集</a:t>
            </a:r>
            <a:endParaRPr lang="zh-TW" altLang="en-US" dirty="0"/>
          </a:p>
        </p:txBody>
      </p:sp>
      <p:sp>
        <p:nvSpPr>
          <p:cNvPr id="4" name="內容版面配置區 2"/>
          <p:cNvSpPr>
            <a:spLocks noGrp="1"/>
          </p:cNvSpPr>
          <p:nvPr>
            <p:ph idx="1"/>
          </p:nvPr>
        </p:nvSpPr>
        <p:spPr>
          <a:xfrm>
            <a:off x="457200" y="1600200"/>
            <a:ext cx="8229600" cy="4525963"/>
          </a:xfrm>
        </p:spPr>
        <p:txBody>
          <a:bodyPr>
            <a:normAutofit/>
          </a:bodyPr>
          <a:lstStyle/>
          <a:p>
            <a:r>
              <a:rPr lang="en-US" altLang="zh-TW" dirty="0" err="1" smtClean="0"/>
              <a:t>LigASite</a:t>
            </a:r>
            <a:endParaRPr lang="en-US" altLang="zh-TW" dirty="0" smtClean="0"/>
          </a:p>
          <a:p>
            <a:r>
              <a:rPr lang="zh-TW" altLang="en-US" dirty="0" smtClean="0"/>
              <a:t>全名</a:t>
            </a:r>
            <a:r>
              <a:rPr lang="en-US" altLang="zh-TW" dirty="0" smtClean="0"/>
              <a:t>: </a:t>
            </a:r>
            <a:r>
              <a:rPr lang="en-US" altLang="zh-TW" dirty="0" err="1" smtClean="0"/>
              <a:t>LIGand</a:t>
            </a:r>
            <a:r>
              <a:rPr lang="en-US" altLang="zh-TW" dirty="0" smtClean="0"/>
              <a:t> Attachment SITE</a:t>
            </a:r>
          </a:p>
          <a:p>
            <a:r>
              <a:rPr lang="en-US" altLang="zh-TW" dirty="0" smtClean="0"/>
              <a:t>388</a:t>
            </a:r>
            <a:r>
              <a:rPr lang="zh-TW" altLang="en-US" dirty="0" smtClean="0"/>
              <a:t>條不重複之蛋白質結構</a:t>
            </a:r>
            <a:endParaRPr lang="en-US" altLang="zh-TW" dirty="0" smtClean="0"/>
          </a:p>
        </p:txBody>
      </p:sp>
      <p:pic>
        <p:nvPicPr>
          <p:cNvPr id="32770" name="Picture 2" descr="C:\Users\Day\Desktop\LAS.PNG"/>
          <p:cNvPicPr>
            <a:picLocks noChangeAspect="1" noChangeArrowheads="1"/>
          </p:cNvPicPr>
          <p:nvPr/>
        </p:nvPicPr>
        <p:blipFill>
          <a:blip r:embed="rId3" cstate="print"/>
          <a:srcRect r="1235"/>
          <a:stretch>
            <a:fillRect/>
          </a:stretch>
        </p:blipFill>
        <p:spPr bwMode="auto">
          <a:xfrm>
            <a:off x="0" y="3295650"/>
            <a:ext cx="9144000" cy="3562350"/>
          </a:xfrm>
          <a:prstGeom prst="rect">
            <a:avLst/>
          </a:prstGeom>
          <a:noFill/>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smtClean="0">
                <a:latin typeface="微軟正黑體" pitchFamily="34" charset="-120"/>
                <a:ea typeface="微軟正黑體" pitchFamily="34" charset="-120"/>
              </a:rPr>
              <a:t>評估效能說明</a:t>
            </a:r>
            <a:r>
              <a:rPr lang="en-US" altLang="zh-TW" dirty="0" smtClean="0"/>
              <a:t>(1/3)</a:t>
            </a:r>
            <a:endParaRPr lang="zh-TW" altLang="en-US" dirty="0"/>
          </a:p>
        </p:txBody>
      </p:sp>
      <p:graphicFrame>
        <p:nvGraphicFramePr>
          <p:cNvPr id="8" name="內容版面配置區 7"/>
          <p:cNvGraphicFramePr>
            <a:graphicFrameLocks noGrp="1"/>
          </p:cNvGraphicFramePr>
          <p:nvPr>
            <p:ph idx="1"/>
          </p:nvPr>
        </p:nvGraphicFramePr>
        <p:xfrm>
          <a:off x="457200" y="1600200"/>
          <a:ext cx="8230235" cy="4423847"/>
        </p:xfrm>
        <a:graphic>
          <a:graphicData uri="http://schemas.openxmlformats.org/drawingml/2006/table">
            <a:tbl>
              <a:tblPr firstRow="1" bandRow="1">
                <a:tableStyleId>{2D5ABB26-0587-4C30-8999-92F81FD0307C}</a:tableStyleId>
              </a:tblPr>
              <a:tblGrid>
                <a:gridCol w="1234480"/>
                <a:gridCol w="1224136"/>
                <a:gridCol w="2196244"/>
                <a:gridCol w="2196244"/>
                <a:gridCol w="1379131"/>
              </a:tblGrid>
              <a:tr h="734380">
                <a:tc>
                  <a:txBody>
                    <a:bodyPr/>
                    <a:lstStyle/>
                    <a:p>
                      <a:pPr algn="ctr"/>
                      <a:endParaRPr lang="zh-TW" altLang="en-US" dirty="0"/>
                    </a:p>
                  </a:txBody>
                  <a:tcPr marL="180375" marR="180375" anchor="ctr"/>
                </a:tc>
                <a:tc>
                  <a:txBody>
                    <a:bodyPr/>
                    <a:lstStyle/>
                    <a:p>
                      <a:pPr algn="ctr"/>
                      <a:endParaRPr lang="zh-TW" altLang="en-US" dirty="0"/>
                    </a:p>
                  </a:txBody>
                  <a:tcPr marL="180375" marR="180375" anchor="ctr">
                    <a:lnR w="12700" cap="flat" cmpd="sng" algn="ctr">
                      <a:solidFill>
                        <a:schemeClr val="tx1"/>
                      </a:solidFill>
                      <a:prstDash val="solid"/>
                      <a:round/>
                      <a:headEnd type="none" w="med" len="med"/>
                      <a:tailEnd type="none" w="med" len="med"/>
                    </a:lnR>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b="1" i="0" kern="1200" dirty="0" smtClean="0">
                          <a:solidFill>
                            <a:schemeClr val="tx1"/>
                          </a:solidFill>
                          <a:latin typeface="+mn-lt"/>
                          <a:ea typeface="+mn-ea"/>
                          <a:cs typeface="+mn-cs"/>
                        </a:rPr>
                        <a:t>Condition</a:t>
                      </a:r>
                      <a:endParaRPr lang="zh-TW" altLang="en-US" dirty="0" smtClean="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a:endParaRPr lang="zh-TW" altLang="en-US" dirty="0"/>
                    </a:p>
                  </a:txBody>
                  <a:tcPr anchor="ctr"/>
                </a:tc>
                <a:tc>
                  <a:txBody>
                    <a:bodyPr/>
                    <a:lstStyle/>
                    <a:p>
                      <a:pPr algn="ctr"/>
                      <a:endParaRPr lang="zh-TW" altLang="en-US" dirty="0"/>
                    </a:p>
                  </a:txBody>
                  <a:tcPr marL="180375" marR="180375" anchor="ctr">
                    <a:lnL w="12700" cap="flat" cmpd="sng" algn="ctr">
                      <a:solidFill>
                        <a:schemeClr val="tx1"/>
                      </a:solidFill>
                      <a:prstDash val="solid"/>
                      <a:round/>
                      <a:headEnd type="none" w="med" len="med"/>
                      <a:tailEnd type="none" w="med" len="med"/>
                    </a:lnL>
                  </a:tcPr>
                </a:tc>
              </a:tr>
              <a:tr h="73438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marL="180375" marR="180375" anchor="ctr">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marL="180375" marR="180375"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altLang="zh-TW" dirty="0" smtClean="0"/>
                        <a:t>True</a:t>
                      </a:r>
                      <a:endParaRPr lang="zh-TW" altLang="en-US" dirty="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False</a:t>
                      </a:r>
                      <a:endParaRPr lang="zh-TW" altLang="en-US" dirty="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dirty="0"/>
                    </a:p>
                  </a:txBody>
                  <a:tcPr marL="180375" marR="180375"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r>
              <a:tr h="985029">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b="1" i="0" kern="1200" dirty="0" smtClean="0">
                          <a:solidFill>
                            <a:schemeClr val="tx1"/>
                          </a:solidFill>
                          <a:latin typeface="+mn-lt"/>
                          <a:ea typeface="+mn-ea"/>
                          <a:cs typeface="+mn-cs"/>
                        </a:rPr>
                        <a:t>Test</a:t>
                      </a:r>
                      <a:br>
                        <a:rPr lang="en-US" altLang="zh-TW" sz="1800" b="1" i="0" kern="1200" dirty="0" smtClean="0">
                          <a:solidFill>
                            <a:schemeClr val="tx1"/>
                          </a:solidFill>
                          <a:latin typeface="+mn-lt"/>
                          <a:ea typeface="+mn-ea"/>
                          <a:cs typeface="+mn-cs"/>
                        </a:rPr>
                      </a:br>
                      <a:r>
                        <a:rPr lang="en-US" altLang="zh-TW" sz="1800" b="1" i="0" kern="1200" dirty="0" smtClean="0">
                          <a:solidFill>
                            <a:schemeClr val="tx1"/>
                          </a:solidFill>
                          <a:latin typeface="+mn-lt"/>
                          <a:ea typeface="+mn-ea"/>
                          <a:cs typeface="+mn-cs"/>
                        </a:rPr>
                        <a:t>Outcome</a:t>
                      </a:r>
                      <a:endParaRPr lang="zh-TW" altLang="en-US" dirty="0" smtClean="0"/>
                    </a:p>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dirty="0" smtClean="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baseline="0" dirty="0" smtClean="0"/>
                        <a:t>Positive</a:t>
                      </a:r>
                      <a:endParaRPr lang="zh-TW" altLang="en-US" dirty="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True</a:t>
                      </a:r>
                      <a:r>
                        <a:rPr lang="en-US" altLang="zh-TW" baseline="0" dirty="0" smtClean="0"/>
                        <a:t> Positive</a:t>
                      </a:r>
                      <a:endParaRPr lang="zh-TW" altLang="en-US" dirty="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False Positive</a:t>
                      </a:r>
                      <a:endParaRPr lang="zh-TW" altLang="en-US" dirty="0" smtClean="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b="1" i="0" kern="1200" dirty="0" smtClean="0">
                          <a:solidFill>
                            <a:schemeClr val="tx1"/>
                          </a:solidFill>
                          <a:latin typeface="+mn-lt"/>
                          <a:ea typeface="+mn-ea"/>
                          <a:cs typeface="+mn-cs"/>
                        </a:rPr>
                        <a:t>PPV</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b="1" i="0" kern="1200" dirty="0" smtClean="0">
                          <a:solidFill>
                            <a:schemeClr val="tx1"/>
                          </a:solidFill>
                          <a:latin typeface="+mn-lt"/>
                          <a:ea typeface="+mn-ea"/>
                          <a:cs typeface="+mn-cs"/>
                        </a:rPr>
                        <a:t>(</a:t>
                      </a:r>
                      <a:r>
                        <a:rPr lang="en-US" altLang="zh-TW" dirty="0" smtClean="0"/>
                        <a:t>precision)</a:t>
                      </a:r>
                      <a:endParaRPr lang="zh-TW" altLang="en-US" sz="1800" b="1" i="0" kern="1200" dirty="0" smtClean="0">
                        <a:solidFill>
                          <a:schemeClr val="tx1"/>
                        </a:solidFill>
                        <a:latin typeface="+mn-lt"/>
                        <a:ea typeface="+mn-ea"/>
                        <a:cs typeface="+mn-cs"/>
                      </a:endParaRPr>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85029">
                <a:tc vMerge="1">
                  <a:txBody>
                    <a:bodyPr/>
                    <a:lstStyle/>
                    <a:p>
                      <a:pPr algn="ctr"/>
                      <a:endParaRPr lang="zh-TW" altLang="en-US" dirty="0"/>
                    </a:p>
                  </a:txBody>
                  <a:tcPr anchor="ctr"/>
                </a:tc>
                <a:tc>
                  <a:txBody>
                    <a:bodyPr/>
                    <a:lstStyle/>
                    <a:p>
                      <a:pPr algn="ctr"/>
                      <a:r>
                        <a:rPr lang="en-US" altLang="zh-TW" sz="1800" b="0" i="0" kern="1200" dirty="0" smtClean="0">
                          <a:solidFill>
                            <a:schemeClr val="tx1"/>
                          </a:solidFill>
                          <a:latin typeface="+mn-lt"/>
                          <a:ea typeface="+mn-ea"/>
                          <a:cs typeface="+mn-cs"/>
                        </a:rPr>
                        <a:t>Negative</a:t>
                      </a:r>
                      <a:endParaRPr lang="zh-TW" altLang="en-US" dirty="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False Negative</a:t>
                      </a:r>
                      <a:endParaRPr lang="zh-TW" altLang="en-US" dirty="0" smtClean="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dirty="0" smtClean="0"/>
                        <a:t>True Negative</a:t>
                      </a:r>
                      <a:endParaRPr lang="zh-TW" altLang="en-US" dirty="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zh-TW" altLang="en-US" sz="1800" b="1" i="0" kern="1200" dirty="0" smtClean="0">
                        <a:solidFill>
                          <a:schemeClr val="tx1"/>
                        </a:solidFill>
                        <a:latin typeface="+mn-lt"/>
                        <a:ea typeface="+mn-ea"/>
                        <a:cs typeface="+mn-cs"/>
                      </a:endParaRPr>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985029">
                <a:tc>
                  <a:txBody>
                    <a:bodyPr/>
                    <a:lstStyle/>
                    <a:p>
                      <a:pPr algn="ctr"/>
                      <a:endParaRPr lang="zh-TW" altLang="en-US" dirty="0"/>
                    </a:p>
                  </a:txBody>
                  <a:tcPr marL="180375" marR="180375" anchor="ctr">
                    <a:lnT w="12700" cap="flat" cmpd="sng" algn="ctr">
                      <a:solidFill>
                        <a:schemeClr val="tx1"/>
                      </a:solidFill>
                      <a:prstDash val="solid"/>
                      <a:round/>
                      <a:headEnd type="none" w="med" len="med"/>
                      <a:tailEnd type="none" w="med" len="med"/>
                    </a:lnT>
                  </a:tcPr>
                </a:tc>
                <a:tc>
                  <a:txBody>
                    <a:bodyPr/>
                    <a:lstStyle/>
                    <a:p>
                      <a:pPr algn="ctr"/>
                      <a:endParaRPr lang="zh-TW" altLang="en-US" dirty="0"/>
                    </a:p>
                  </a:txBody>
                  <a:tcPr marL="180375" marR="180375"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b="1" i="0" kern="1200" dirty="0" smtClean="0">
                          <a:solidFill>
                            <a:schemeClr val="tx1"/>
                          </a:solidFill>
                          <a:latin typeface="+mn-lt"/>
                          <a:ea typeface="+mn-ea"/>
                          <a:cs typeface="+mn-cs"/>
                        </a:rPr>
                        <a:t>Sensitivity</a:t>
                      </a: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b="1" i="0" kern="1200" dirty="0" smtClean="0">
                          <a:solidFill>
                            <a:schemeClr val="tx1"/>
                          </a:solidFill>
                          <a:latin typeface="+mn-lt"/>
                          <a:ea typeface="+mn-ea"/>
                          <a:cs typeface="+mn-cs"/>
                        </a:rPr>
                        <a:t>(</a:t>
                      </a:r>
                      <a:r>
                        <a:rPr lang="en-US" altLang="zh-TW" dirty="0" smtClean="0"/>
                        <a:t>recall)</a:t>
                      </a:r>
                      <a:endParaRPr lang="zh-TW" altLang="en-US" dirty="0" smtClean="0"/>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1800" b="1" i="0" kern="1200" dirty="0" smtClean="0">
                          <a:solidFill>
                            <a:schemeClr val="tx1"/>
                          </a:solidFill>
                          <a:latin typeface="+mn-lt"/>
                          <a:ea typeface="+mn-ea"/>
                          <a:cs typeface="+mn-cs"/>
                        </a:rPr>
                        <a:t>Specificity</a:t>
                      </a:r>
                      <a:endParaRPr lang="zh-TW" altLang="en-US" sz="1800" b="1" i="0" kern="1200" dirty="0" smtClean="0">
                        <a:solidFill>
                          <a:schemeClr val="tx1"/>
                        </a:solidFill>
                        <a:latin typeface="+mn-lt"/>
                        <a:ea typeface="+mn-ea"/>
                        <a:cs typeface="+mn-cs"/>
                      </a:endParaRPr>
                    </a:p>
                  </a:txBody>
                  <a:tcPr marL="180375" marR="1803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dirty="0"/>
                    </a:p>
                  </a:txBody>
                  <a:tcPr marL="180375" marR="18037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smtClean="0">
                <a:latin typeface="微軟正黑體" pitchFamily="34" charset="-120"/>
                <a:ea typeface="微軟正黑體" pitchFamily="34" charset="-120"/>
              </a:rPr>
              <a:t>評估效能說明</a:t>
            </a:r>
            <a:r>
              <a:rPr lang="en-US" altLang="zh-TW" dirty="0" smtClean="0"/>
              <a:t>(2/3)</a:t>
            </a:r>
            <a:endParaRPr lang="zh-TW" altLang="en-US" dirty="0"/>
          </a:p>
        </p:txBody>
      </p:sp>
      <p:graphicFrame>
        <p:nvGraphicFramePr>
          <p:cNvPr id="5" name="內容版面配置區 4"/>
          <p:cNvGraphicFramePr>
            <a:graphicFrameLocks noGrp="1"/>
          </p:cNvGraphicFramePr>
          <p:nvPr>
            <p:ph idx="1"/>
          </p:nvPr>
        </p:nvGraphicFramePr>
        <p:xfrm>
          <a:off x="457200" y="1600200"/>
          <a:ext cx="8229600" cy="4853135"/>
        </p:xfrm>
        <a:graphic>
          <a:graphicData uri="http://schemas.openxmlformats.org/drawingml/2006/table">
            <a:tbl>
              <a:tblPr firstRow="1" bandRow="1">
                <a:tableStyleId>{2D5ABB26-0587-4C30-8999-92F81FD0307C}</a:tableStyleId>
              </a:tblPr>
              <a:tblGrid>
                <a:gridCol w="822960"/>
                <a:gridCol w="822960"/>
                <a:gridCol w="822960"/>
                <a:gridCol w="822960"/>
                <a:gridCol w="822960"/>
                <a:gridCol w="822960"/>
                <a:gridCol w="822960"/>
                <a:gridCol w="822960"/>
                <a:gridCol w="822960"/>
                <a:gridCol w="822960"/>
              </a:tblGrid>
              <a:tr h="970627">
                <a:tc gridSpan="10">
                  <a:txBody>
                    <a:bodyPr/>
                    <a:lstStyle/>
                    <a:p>
                      <a:pPr algn="ctr"/>
                      <a:r>
                        <a:rPr lang="zh-TW" altLang="en-US" sz="3200" dirty="0" smtClean="0">
                          <a:latin typeface="微軟正黑體" pitchFamily="34" charset="-120"/>
                          <a:ea typeface="微軟正黑體" pitchFamily="34" charset="-120"/>
                        </a:rPr>
                        <a:t>實際在結合位置上的胺基酸編號</a:t>
                      </a:r>
                      <a:endParaRPr lang="zh-TW" altLang="en-US" sz="3200" dirty="0">
                        <a:latin typeface="微軟正黑體" pitchFamily="34" charset="-120"/>
                        <a:ea typeface="微軟正黑體" pitchFamily="34" charset="-120"/>
                      </a:endParaRPr>
                    </a:p>
                  </a:txBody>
                  <a:tcPr anchor="ct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c hMerge="1">
                  <a:txBody>
                    <a:bodyPr/>
                    <a:lstStyle/>
                    <a:p>
                      <a:endParaRPr lang="zh-TW" altLang="en-US" dirty="0"/>
                    </a:p>
                  </a:txBody>
                  <a:tcPr/>
                </a:tc>
              </a:tr>
              <a:tr h="970627">
                <a:tc>
                  <a:txBody>
                    <a:bodyPr/>
                    <a:lstStyle/>
                    <a:p>
                      <a:pPr marL="0" algn="ctr" defTabSz="914400" rtl="0" eaLnBrk="1" latinLnBrk="0" hangingPunct="1"/>
                      <a:r>
                        <a:rPr lang="en-US" altLang="zh-TW" sz="3200" kern="1200" dirty="0" smtClean="0">
                          <a:solidFill>
                            <a:schemeClr val="tx1"/>
                          </a:solidFill>
                          <a:latin typeface="+mn-lt"/>
                          <a:ea typeface="+mn-ea"/>
                          <a:cs typeface="+mn-cs"/>
                        </a:rPr>
                        <a:t>10</a:t>
                      </a:r>
                      <a:endParaRPr lang="zh-TW" altLang="en-US" sz="3200" kern="1200" dirty="0" smtClean="0">
                        <a:solidFill>
                          <a:schemeClr val="tx1"/>
                        </a:solidFill>
                        <a:latin typeface="+mn-lt"/>
                        <a:ea typeface="+mn-ea"/>
                        <a:cs typeface="+mn-cs"/>
                      </a:endParaRPr>
                    </a:p>
                  </a:txBody>
                  <a:tcPr anchor="ctr">
                    <a:solidFill>
                      <a:schemeClr val="accent6">
                        <a:lumMod val="20000"/>
                        <a:lumOff val="80000"/>
                      </a:schemeClr>
                    </a:solidFill>
                  </a:tcPr>
                </a:tc>
                <a:tc>
                  <a:txBody>
                    <a:bodyPr/>
                    <a:lstStyle/>
                    <a:p>
                      <a:pPr algn="ctr"/>
                      <a:r>
                        <a:rPr lang="en-US" altLang="zh-TW" sz="3200" dirty="0" smtClean="0"/>
                        <a:t>11</a:t>
                      </a:r>
                      <a:endParaRPr lang="zh-TW" altLang="en-US" sz="3200" dirty="0"/>
                    </a:p>
                  </a:txBody>
                  <a:tcPr anchor="ctr">
                    <a:solidFill>
                      <a:schemeClr val="accent6">
                        <a:lumMod val="20000"/>
                        <a:lumOff val="80000"/>
                      </a:schemeClr>
                    </a:solidFill>
                  </a:tcPr>
                </a:tc>
                <a:tc>
                  <a:txBody>
                    <a:bodyPr/>
                    <a:lstStyle/>
                    <a:p>
                      <a:pPr algn="ctr"/>
                      <a:endParaRPr lang="zh-TW" altLang="en-US" sz="3200" dirty="0"/>
                    </a:p>
                  </a:txBody>
                  <a:tcPr anchor="ctr">
                    <a:solidFill>
                      <a:schemeClr val="accent6">
                        <a:lumMod val="20000"/>
                        <a:lumOff val="80000"/>
                      </a:schemeClr>
                    </a:solidFill>
                  </a:tcPr>
                </a:tc>
                <a:tc>
                  <a:txBody>
                    <a:bodyPr/>
                    <a:lstStyle/>
                    <a:p>
                      <a:pPr algn="ctr"/>
                      <a:r>
                        <a:rPr lang="en-US" altLang="zh-TW" sz="3200" dirty="0" smtClean="0"/>
                        <a:t>24</a:t>
                      </a:r>
                      <a:endParaRPr lang="zh-TW" altLang="en-US" sz="3200" dirty="0"/>
                    </a:p>
                  </a:txBody>
                  <a:tcPr anchor="ctr">
                    <a:solidFill>
                      <a:schemeClr val="accent6">
                        <a:lumMod val="20000"/>
                        <a:lumOff val="80000"/>
                      </a:schemeClr>
                    </a:solidFill>
                  </a:tcPr>
                </a:tc>
                <a:tc>
                  <a:txBody>
                    <a:bodyPr/>
                    <a:lstStyle/>
                    <a:p>
                      <a:pPr algn="ctr"/>
                      <a:r>
                        <a:rPr lang="en-US" altLang="zh-TW" sz="3200" dirty="0" smtClean="0"/>
                        <a:t>25</a:t>
                      </a:r>
                      <a:endParaRPr lang="zh-TW" altLang="en-US" sz="3200" dirty="0"/>
                    </a:p>
                  </a:txBody>
                  <a:tcPr anchor="ctr">
                    <a:solidFill>
                      <a:schemeClr val="accent6">
                        <a:lumMod val="20000"/>
                        <a:lumOff val="80000"/>
                      </a:schemeClr>
                    </a:solidFill>
                  </a:tcPr>
                </a:tc>
                <a:tc>
                  <a:txBody>
                    <a:bodyPr/>
                    <a:lstStyle/>
                    <a:p>
                      <a:pPr algn="ctr"/>
                      <a:r>
                        <a:rPr lang="en-US" altLang="zh-TW" sz="3200" dirty="0" smtClean="0"/>
                        <a:t>28</a:t>
                      </a:r>
                      <a:endParaRPr lang="zh-TW" altLang="en-US" sz="3200" dirty="0"/>
                    </a:p>
                  </a:txBody>
                  <a:tcPr anchor="ctr">
                    <a:solidFill>
                      <a:schemeClr val="accent6">
                        <a:lumMod val="20000"/>
                        <a:lumOff val="80000"/>
                      </a:schemeClr>
                    </a:solidFill>
                  </a:tcPr>
                </a:tc>
                <a:tc>
                  <a:txBody>
                    <a:bodyPr/>
                    <a:lstStyle/>
                    <a:p>
                      <a:pPr algn="ctr"/>
                      <a:endParaRPr lang="zh-TW" altLang="en-US" sz="3200" dirty="0"/>
                    </a:p>
                  </a:txBody>
                  <a:tcPr anchor="ctr">
                    <a:solidFill>
                      <a:schemeClr val="accent6">
                        <a:lumMod val="20000"/>
                        <a:lumOff val="80000"/>
                      </a:schemeClr>
                    </a:solidFill>
                  </a:tcPr>
                </a:tc>
                <a:tc>
                  <a:txBody>
                    <a:bodyPr/>
                    <a:lstStyle/>
                    <a:p>
                      <a:pPr algn="ctr"/>
                      <a:r>
                        <a:rPr lang="en-US" altLang="zh-TW" sz="3200" dirty="0" smtClean="0"/>
                        <a:t>33</a:t>
                      </a:r>
                      <a:endParaRPr lang="zh-TW" altLang="en-US" sz="3200" dirty="0"/>
                    </a:p>
                  </a:txBody>
                  <a:tcPr anchor="ctr">
                    <a:solidFill>
                      <a:schemeClr val="accent6">
                        <a:lumMod val="20000"/>
                        <a:lumOff val="80000"/>
                      </a:schemeClr>
                    </a:solidFill>
                  </a:tcPr>
                </a:tc>
                <a:tc>
                  <a:txBody>
                    <a:bodyPr/>
                    <a:lstStyle/>
                    <a:p>
                      <a:pPr algn="ctr"/>
                      <a:r>
                        <a:rPr lang="en-US" altLang="zh-TW" sz="3200" dirty="0" smtClean="0"/>
                        <a:t>53</a:t>
                      </a:r>
                      <a:endParaRPr lang="zh-TW" altLang="en-US" sz="3200" dirty="0"/>
                    </a:p>
                  </a:txBody>
                  <a:tcPr anchor="ctr">
                    <a:solidFill>
                      <a:schemeClr val="accent6">
                        <a:lumMod val="20000"/>
                        <a:lumOff val="80000"/>
                      </a:schemeClr>
                    </a:solidFill>
                  </a:tcPr>
                </a:tc>
                <a:tc>
                  <a:txBody>
                    <a:bodyPr/>
                    <a:lstStyle/>
                    <a:p>
                      <a:pPr algn="ctr"/>
                      <a:r>
                        <a:rPr lang="en-US" altLang="zh-TW" sz="3200" dirty="0" smtClean="0"/>
                        <a:t>107</a:t>
                      </a:r>
                      <a:endParaRPr lang="zh-TW" altLang="en-US" sz="3200" dirty="0"/>
                    </a:p>
                  </a:txBody>
                  <a:tcPr anchor="ctr">
                    <a:solidFill>
                      <a:schemeClr val="accent6">
                        <a:lumMod val="20000"/>
                        <a:lumOff val="80000"/>
                      </a:schemeClr>
                    </a:solidFill>
                  </a:tcPr>
                </a:tc>
              </a:tr>
              <a:tr h="970627">
                <a:tc gridSpan="10">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TW" altLang="en-US" sz="3200" kern="1200" dirty="0" smtClean="0">
                          <a:solidFill>
                            <a:schemeClr val="tx1"/>
                          </a:solidFill>
                          <a:latin typeface="微軟正黑體" pitchFamily="34" charset="-120"/>
                          <a:ea typeface="微軟正黑體" pitchFamily="34" charset="-120"/>
                          <a:cs typeface="+mn-cs"/>
                        </a:rPr>
                        <a:t>預測為在結合位置上的胺基酸編號</a:t>
                      </a:r>
                    </a:p>
                  </a:txBody>
                  <a:tcPr anchor="ct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a:p>
                  </a:txBody>
                  <a:tcPr/>
                </a:tc>
                <a:tc hMerge="1">
                  <a:txBody>
                    <a:bodyPr/>
                    <a:lstStyle/>
                    <a:p>
                      <a:endParaRPr lang="zh-TW" altLang="en-US" dirty="0"/>
                    </a:p>
                  </a:txBody>
                  <a:tcPr/>
                </a:tc>
              </a:tr>
              <a:tr h="970627">
                <a:tc>
                  <a:txBody>
                    <a:bodyPr/>
                    <a:lstStyle/>
                    <a:p>
                      <a:pPr marL="0" algn="ctr" defTabSz="914400" rtl="0" eaLnBrk="1" latinLnBrk="0" hangingPunct="1"/>
                      <a:r>
                        <a:rPr lang="en-US" altLang="zh-TW" sz="3200" kern="1200" dirty="0" smtClean="0">
                          <a:solidFill>
                            <a:schemeClr val="tx1"/>
                          </a:solidFill>
                          <a:latin typeface="+mn-lt"/>
                          <a:ea typeface="+mn-ea"/>
                          <a:cs typeface="+mn-cs"/>
                        </a:rPr>
                        <a:t>10</a:t>
                      </a:r>
                      <a:endParaRPr lang="zh-TW" altLang="en-US" sz="3200" kern="1200" dirty="0" smtClean="0">
                        <a:solidFill>
                          <a:schemeClr val="tx1"/>
                        </a:solidFill>
                        <a:latin typeface="+mn-lt"/>
                        <a:ea typeface="+mn-ea"/>
                        <a:cs typeface="+mn-cs"/>
                      </a:endParaRPr>
                    </a:p>
                  </a:txBody>
                  <a:tcPr anchor="ctr">
                    <a:solidFill>
                      <a:schemeClr val="accent6">
                        <a:lumMod val="20000"/>
                        <a:lumOff val="80000"/>
                      </a:schemeClr>
                    </a:solidFill>
                  </a:tcPr>
                </a:tc>
                <a:tc>
                  <a:txBody>
                    <a:bodyPr/>
                    <a:lstStyle/>
                    <a:p>
                      <a:pPr algn="ctr"/>
                      <a:endParaRPr lang="zh-TW" altLang="en-US" sz="3200" dirty="0"/>
                    </a:p>
                  </a:txBody>
                  <a:tcPr anchor="ctr">
                    <a:solidFill>
                      <a:schemeClr val="accent6">
                        <a:lumMod val="20000"/>
                        <a:lumOff val="80000"/>
                      </a:schemeClr>
                    </a:solidFill>
                  </a:tcPr>
                </a:tc>
                <a:tc>
                  <a:txBody>
                    <a:bodyPr/>
                    <a:lstStyle/>
                    <a:p>
                      <a:pPr algn="ctr"/>
                      <a:r>
                        <a:rPr lang="en-US" altLang="zh-TW" sz="3200" dirty="0" smtClean="0"/>
                        <a:t>18</a:t>
                      </a:r>
                      <a:endParaRPr lang="zh-TW" altLang="en-US" sz="3200" dirty="0"/>
                    </a:p>
                  </a:txBody>
                  <a:tcPr anchor="ctr">
                    <a:solidFill>
                      <a:schemeClr val="accent6">
                        <a:lumMod val="20000"/>
                        <a:lumOff val="80000"/>
                      </a:schemeClr>
                    </a:solidFill>
                  </a:tcPr>
                </a:tc>
                <a:tc>
                  <a:txBody>
                    <a:bodyPr/>
                    <a:lstStyle/>
                    <a:p>
                      <a:pPr algn="ctr"/>
                      <a:r>
                        <a:rPr lang="en-US" altLang="zh-TW" sz="3200" dirty="0" smtClean="0"/>
                        <a:t>24</a:t>
                      </a:r>
                      <a:endParaRPr lang="zh-TW" altLang="en-US" sz="3200" dirty="0"/>
                    </a:p>
                  </a:txBody>
                  <a:tcPr anchor="ctr">
                    <a:solidFill>
                      <a:schemeClr val="accent6">
                        <a:lumMod val="20000"/>
                        <a:lumOff val="80000"/>
                      </a:schemeClr>
                    </a:solidFill>
                  </a:tcPr>
                </a:tc>
                <a:tc>
                  <a:txBody>
                    <a:bodyPr/>
                    <a:lstStyle/>
                    <a:p>
                      <a:pPr algn="ctr"/>
                      <a:endParaRPr lang="zh-TW" altLang="en-US" sz="3200" dirty="0"/>
                    </a:p>
                  </a:txBody>
                  <a:tcPr anchor="ctr">
                    <a:solidFill>
                      <a:schemeClr val="accent6">
                        <a:lumMod val="20000"/>
                        <a:lumOff val="80000"/>
                      </a:schemeClr>
                    </a:solidFill>
                  </a:tcPr>
                </a:tc>
                <a:tc>
                  <a:txBody>
                    <a:bodyPr/>
                    <a:lstStyle/>
                    <a:p>
                      <a:pPr algn="ctr"/>
                      <a:r>
                        <a:rPr lang="en-US" altLang="zh-TW" sz="3200" dirty="0" smtClean="0"/>
                        <a:t>28</a:t>
                      </a:r>
                      <a:endParaRPr lang="zh-TW" altLang="en-US" sz="3200" dirty="0"/>
                    </a:p>
                  </a:txBody>
                  <a:tcPr anchor="ctr">
                    <a:solidFill>
                      <a:schemeClr val="accent6">
                        <a:lumMod val="20000"/>
                        <a:lumOff val="80000"/>
                      </a:schemeClr>
                    </a:solidFill>
                  </a:tcPr>
                </a:tc>
                <a:tc>
                  <a:txBody>
                    <a:bodyPr/>
                    <a:lstStyle/>
                    <a:p>
                      <a:pPr algn="ctr"/>
                      <a:endParaRPr lang="zh-TW" altLang="en-US" sz="3200" dirty="0"/>
                    </a:p>
                  </a:txBody>
                  <a:tcPr anchor="ctr">
                    <a:solidFill>
                      <a:schemeClr val="accent6">
                        <a:lumMod val="20000"/>
                        <a:lumOff val="80000"/>
                      </a:schemeClr>
                    </a:solidFill>
                  </a:tcPr>
                </a:tc>
                <a:tc>
                  <a:txBody>
                    <a:bodyPr/>
                    <a:lstStyle/>
                    <a:p>
                      <a:pPr algn="ctr"/>
                      <a:r>
                        <a:rPr lang="en-US" altLang="zh-TW" sz="3200" dirty="0" smtClean="0"/>
                        <a:t>33</a:t>
                      </a:r>
                      <a:endParaRPr lang="zh-TW" altLang="en-US" sz="3200" dirty="0"/>
                    </a:p>
                  </a:txBody>
                  <a:tcPr anchor="ctr">
                    <a:solidFill>
                      <a:schemeClr val="accent6">
                        <a:lumMod val="20000"/>
                        <a:lumOff val="80000"/>
                      </a:schemeClr>
                    </a:solidFill>
                  </a:tcPr>
                </a:tc>
                <a:tc>
                  <a:txBody>
                    <a:bodyPr/>
                    <a:lstStyle/>
                    <a:p>
                      <a:pPr algn="ctr"/>
                      <a:r>
                        <a:rPr lang="en-US" altLang="zh-TW" sz="3200" dirty="0" smtClean="0"/>
                        <a:t>53</a:t>
                      </a:r>
                      <a:endParaRPr lang="zh-TW" altLang="en-US" sz="3200" dirty="0"/>
                    </a:p>
                  </a:txBody>
                  <a:tcPr anchor="ctr">
                    <a:solidFill>
                      <a:schemeClr val="accent6">
                        <a:lumMod val="20000"/>
                        <a:lumOff val="80000"/>
                      </a:schemeClr>
                    </a:solidFill>
                  </a:tcPr>
                </a:tc>
                <a:tc>
                  <a:txBody>
                    <a:bodyPr/>
                    <a:lstStyle/>
                    <a:p>
                      <a:pPr algn="ctr"/>
                      <a:r>
                        <a:rPr lang="en-US" altLang="zh-TW" sz="3200" dirty="0" smtClean="0"/>
                        <a:t>107</a:t>
                      </a:r>
                      <a:endParaRPr lang="zh-TW" altLang="en-US" sz="3200" dirty="0"/>
                    </a:p>
                  </a:txBody>
                  <a:tcPr anchor="ctr">
                    <a:solidFill>
                      <a:schemeClr val="accent6">
                        <a:lumMod val="20000"/>
                        <a:lumOff val="80000"/>
                      </a:schemeClr>
                    </a:solidFill>
                  </a:tcPr>
                </a:tc>
              </a:tr>
              <a:tr h="970627">
                <a:tc>
                  <a:txBody>
                    <a:bodyPr/>
                    <a:lstStyle/>
                    <a:p>
                      <a:pPr algn="ctr"/>
                      <a:endParaRPr lang="zh-TW" altLang="en-US" dirty="0"/>
                    </a:p>
                  </a:txBody>
                  <a:tcPr anchor="ctr"/>
                </a:tc>
                <a:tc gridSpan="2">
                  <a:txBody>
                    <a:bodyPr/>
                    <a:lstStyle/>
                    <a:p>
                      <a:pPr algn="ctr"/>
                      <a:r>
                        <a:rPr lang="en-US" altLang="zh-TW" sz="3200" dirty="0" smtClean="0"/>
                        <a:t>TP</a:t>
                      </a:r>
                      <a:endParaRPr lang="zh-TW" altLang="en-US" sz="3200" dirty="0"/>
                    </a:p>
                  </a:txBody>
                  <a:tcPr anchor="ctr"/>
                </a:tc>
                <a:tc hMerge="1">
                  <a:txBody>
                    <a:bodyPr/>
                    <a:lstStyle/>
                    <a:p>
                      <a:pPr algn="ctr"/>
                      <a:endParaRPr lang="zh-TW" altLang="en-US" sz="3200" dirty="0"/>
                    </a:p>
                  </a:txBody>
                  <a:tcPr anchor="ctr"/>
                </a:tc>
                <a:tc gridSpan="2">
                  <a:txBody>
                    <a:bodyPr/>
                    <a:lstStyle/>
                    <a:p>
                      <a:pPr algn="ctr"/>
                      <a:r>
                        <a:rPr lang="en-US" altLang="zh-TW" sz="3200" dirty="0" smtClean="0"/>
                        <a:t>FP</a:t>
                      </a:r>
                      <a:endParaRPr lang="zh-TW" altLang="en-US" sz="3200" dirty="0"/>
                    </a:p>
                  </a:txBody>
                  <a:tcPr anchor="ctr"/>
                </a:tc>
                <a:tc hMerge="1">
                  <a:txBody>
                    <a:bodyPr/>
                    <a:lstStyle/>
                    <a:p>
                      <a:pPr algn="ctr"/>
                      <a:endParaRPr lang="zh-TW" altLang="en-US" sz="3200" dirty="0"/>
                    </a:p>
                  </a:txBody>
                  <a:tcPr anchor="ctr"/>
                </a:tc>
                <a:tc gridSpan="2">
                  <a:txBody>
                    <a:bodyPr/>
                    <a:lstStyle/>
                    <a:p>
                      <a:pPr algn="ctr"/>
                      <a:r>
                        <a:rPr lang="en-US" altLang="zh-TW" sz="3200" dirty="0" smtClean="0"/>
                        <a:t>FN</a:t>
                      </a:r>
                      <a:endParaRPr lang="zh-TW" altLang="en-US" sz="3200" dirty="0"/>
                    </a:p>
                  </a:txBody>
                  <a:tcPr anchor="ctr"/>
                </a:tc>
                <a:tc hMerge="1">
                  <a:txBody>
                    <a:bodyPr/>
                    <a:lstStyle/>
                    <a:p>
                      <a:pPr algn="ctr"/>
                      <a:endParaRPr lang="zh-TW" altLang="en-US" sz="3200" dirty="0"/>
                    </a:p>
                  </a:txBody>
                  <a:tcPr anchor="ctr"/>
                </a:tc>
                <a:tc gridSpan="2">
                  <a:txBody>
                    <a:bodyPr/>
                    <a:lstStyle/>
                    <a:p>
                      <a:pPr algn="ctr"/>
                      <a:r>
                        <a:rPr lang="en-US" altLang="zh-TW" sz="3200" dirty="0" smtClean="0"/>
                        <a:t>TN</a:t>
                      </a:r>
                      <a:endParaRPr lang="zh-TW" altLang="en-US" sz="3200" dirty="0"/>
                    </a:p>
                  </a:txBody>
                  <a:tcPr anchor="ctr"/>
                </a:tc>
                <a:tc hMerge="1">
                  <a:txBody>
                    <a:bodyPr/>
                    <a:lstStyle/>
                    <a:p>
                      <a:pPr algn="ctr"/>
                      <a:endParaRPr lang="zh-TW" altLang="en-US" sz="3200" dirty="0"/>
                    </a:p>
                  </a:txBody>
                  <a:tcPr anchor="ctr"/>
                </a:tc>
                <a:tc>
                  <a:txBody>
                    <a:bodyPr/>
                    <a:lstStyle/>
                    <a:p>
                      <a:pPr algn="ctr"/>
                      <a:endParaRPr lang="zh-TW" altLang="en-US" sz="3200" dirty="0"/>
                    </a:p>
                  </a:txBody>
                  <a:tcPr anchor="ctr"/>
                </a:tc>
              </a:tr>
            </a:tbl>
          </a:graphicData>
        </a:graphic>
      </p:graphicFrame>
      <p:sp>
        <p:nvSpPr>
          <p:cNvPr id="6" name="橢圓 5"/>
          <p:cNvSpPr/>
          <p:nvPr/>
        </p:nvSpPr>
        <p:spPr>
          <a:xfrm>
            <a:off x="497160" y="4652634"/>
            <a:ext cx="720080" cy="720080"/>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7" name="橢圓 6"/>
          <p:cNvSpPr/>
          <p:nvPr/>
        </p:nvSpPr>
        <p:spPr>
          <a:xfrm>
            <a:off x="1331640" y="4652634"/>
            <a:ext cx="720080" cy="720080"/>
          </a:xfrm>
          <a:prstGeom prst="ellipse">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8" name="橢圓 7"/>
          <p:cNvSpPr/>
          <p:nvPr/>
        </p:nvSpPr>
        <p:spPr>
          <a:xfrm>
            <a:off x="2151354" y="4652634"/>
            <a:ext cx="720080" cy="720080"/>
          </a:xfrm>
          <a:prstGeom prst="ellipse">
            <a:avLst/>
          </a:prstGeom>
          <a:no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1" name="橢圓 10"/>
          <p:cNvSpPr/>
          <p:nvPr/>
        </p:nvSpPr>
        <p:spPr>
          <a:xfrm>
            <a:off x="2987824" y="4652634"/>
            <a:ext cx="720080" cy="720080"/>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2" name="橢圓 11"/>
          <p:cNvSpPr/>
          <p:nvPr/>
        </p:nvSpPr>
        <p:spPr>
          <a:xfrm>
            <a:off x="3851920" y="4652634"/>
            <a:ext cx="720080" cy="720080"/>
          </a:xfrm>
          <a:prstGeom prst="ellipse">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13" name="橢圓 12"/>
          <p:cNvSpPr/>
          <p:nvPr/>
        </p:nvSpPr>
        <p:spPr>
          <a:xfrm>
            <a:off x="4644008" y="4652634"/>
            <a:ext cx="720080" cy="720080"/>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4" name="橢圓 13"/>
          <p:cNvSpPr/>
          <p:nvPr/>
        </p:nvSpPr>
        <p:spPr>
          <a:xfrm>
            <a:off x="5508104" y="4652634"/>
            <a:ext cx="720080" cy="720080"/>
          </a:xfrm>
          <a:prstGeom prst="ellipse">
            <a:avLst/>
          </a:prstGeom>
          <a:noFill/>
          <a:ln>
            <a:solidFill>
              <a:schemeClr val="accent3">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5" name="橢圓 14"/>
          <p:cNvSpPr/>
          <p:nvPr/>
        </p:nvSpPr>
        <p:spPr>
          <a:xfrm>
            <a:off x="6269606" y="4652634"/>
            <a:ext cx="720080" cy="720080"/>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6" name="橢圓 15"/>
          <p:cNvSpPr/>
          <p:nvPr/>
        </p:nvSpPr>
        <p:spPr>
          <a:xfrm>
            <a:off x="7065630" y="4652634"/>
            <a:ext cx="720080" cy="720080"/>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7" name="橢圓 16"/>
          <p:cNvSpPr/>
          <p:nvPr/>
        </p:nvSpPr>
        <p:spPr>
          <a:xfrm>
            <a:off x="7904067" y="4652634"/>
            <a:ext cx="720080" cy="720080"/>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8" name="橢圓 17"/>
          <p:cNvSpPr/>
          <p:nvPr/>
        </p:nvSpPr>
        <p:spPr>
          <a:xfrm>
            <a:off x="6670058" y="5627941"/>
            <a:ext cx="720080" cy="720080"/>
          </a:xfrm>
          <a:prstGeom prst="ellipse">
            <a:avLst/>
          </a:prstGeom>
          <a:noFill/>
          <a:ln>
            <a:solidFill>
              <a:schemeClr val="accent3">
                <a:lumMod val="50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19" name="橢圓 18"/>
          <p:cNvSpPr/>
          <p:nvPr/>
        </p:nvSpPr>
        <p:spPr>
          <a:xfrm>
            <a:off x="5027689" y="5627941"/>
            <a:ext cx="720080" cy="720080"/>
          </a:xfrm>
          <a:prstGeom prst="ellipse">
            <a:avLst/>
          </a:prstGeom>
          <a:noFill/>
        </p:spPr>
        <p:style>
          <a:lnRef idx="2">
            <a:schemeClr val="accent5"/>
          </a:lnRef>
          <a:fillRef idx="1">
            <a:schemeClr val="lt1"/>
          </a:fillRef>
          <a:effectRef idx="0">
            <a:schemeClr val="accent5"/>
          </a:effectRef>
          <a:fontRef idx="minor">
            <a:schemeClr val="dk1"/>
          </a:fontRef>
        </p:style>
        <p:txBody>
          <a:bodyPr rtlCol="0" anchor="ctr"/>
          <a:lstStyle/>
          <a:p>
            <a:pPr algn="ctr"/>
            <a:endParaRPr lang="zh-TW" altLang="en-US"/>
          </a:p>
        </p:txBody>
      </p:sp>
      <p:sp>
        <p:nvSpPr>
          <p:cNvPr id="20" name="橢圓 19"/>
          <p:cNvSpPr/>
          <p:nvPr/>
        </p:nvSpPr>
        <p:spPr>
          <a:xfrm>
            <a:off x="3376442" y="5627941"/>
            <a:ext cx="720080" cy="720080"/>
          </a:xfrm>
          <a:prstGeom prst="ellipse">
            <a:avLst/>
          </a:prstGeom>
          <a:noFill/>
          <a:ln>
            <a:solidFill>
              <a:srgbClr val="7030A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
        <p:nvSpPr>
          <p:cNvPr id="21" name="橢圓 20"/>
          <p:cNvSpPr/>
          <p:nvPr/>
        </p:nvSpPr>
        <p:spPr>
          <a:xfrm>
            <a:off x="1743939" y="5627941"/>
            <a:ext cx="720080" cy="720080"/>
          </a:xfrm>
          <a:prstGeom prst="ellipse">
            <a:avLst/>
          </a:prstGeom>
          <a:noFill/>
          <a:ln>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TW" alt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en-US" dirty="0" smtClean="0">
                <a:latin typeface="微軟正黑體" pitchFamily="34" charset="-120"/>
                <a:ea typeface="微軟正黑體" pitchFamily="34" charset="-120"/>
              </a:rPr>
              <a:t>評估效能說明</a:t>
            </a:r>
            <a:r>
              <a:rPr lang="en-US" altLang="zh-TW" dirty="0" smtClean="0"/>
              <a:t>(3/3)</a:t>
            </a:r>
            <a:endParaRPr lang="zh-TW" altLang="en-US" dirty="0"/>
          </a:p>
        </p:txBody>
      </p:sp>
      <p:sp>
        <p:nvSpPr>
          <p:cNvPr id="3" name="內容版面配置區 2"/>
          <p:cNvSpPr>
            <a:spLocks noGrp="1"/>
          </p:cNvSpPr>
          <p:nvPr>
            <p:ph idx="1"/>
          </p:nvPr>
        </p:nvSpPr>
        <p:spPr/>
        <p:txBody>
          <a:bodyPr>
            <a:normAutofit fontScale="85000" lnSpcReduction="20000"/>
          </a:bodyPr>
          <a:lstStyle/>
          <a:p>
            <a:r>
              <a:rPr lang="en-US" altLang="zh-TW" dirty="0" smtClean="0"/>
              <a:t>Sensitivity:</a:t>
            </a:r>
          </a:p>
          <a:p>
            <a:endParaRPr lang="en-US" altLang="zh-TW" dirty="0" smtClean="0"/>
          </a:p>
          <a:p>
            <a:r>
              <a:rPr lang="en-US" altLang="zh-TW" dirty="0" smtClean="0"/>
              <a:t>Specificity:</a:t>
            </a:r>
          </a:p>
          <a:p>
            <a:endParaRPr lang="en-US" altLang="zh-TW" dirty="0" smtClean="0"/>
          </a:p>
          <a:p>
            <a:r>
              <a:rPr lang="en-US" altLang="zh-TW" dirty="0" smtClean="0"/>
              <a:t>Accuracy:</a:t>
            </a:r>
            <a:endParaRPr lang="zh-TW" altLang="en-US" dirty="0" smtClean="0"/>
          </a:p>
          <a:p>
            <a:endParaRPr lang="en-US" altLang="zh-TW" dirty="0" smtClean="0"/>
          </a:p>
          <a:p>
            <a:r>
              <a:rPr lang="en-US" altLang="zh-TW" dirty="0" smtClean="0"/>
              <a:t>Positive predictive value(PPV)</a:t>
            </a:r>
          </a:p>
          <a:p>
            <a:endParaRPr lang="en-US" altLang="zh-TW" dirty="0" smtClean="0"/>
          </a:p>
          <a:p>
            <a:endParaRPr lang="en-US" altLang="zh-TW" dirty="0" smtClean="0"/>
          </a:p>
          <a:p>
            <a:r>
              <a:rPr lang="en-US" altLang="zh-TW" dirty="0" smtClean="0"/>
              <a:t>Matthews Correlation </a:t>
            </a:r>
            <a:r>
              <a:rPr lang="en-US" altLang="zh-TW" dirty="0" err="1" smtClean="0"/>
              <a:t>Coefﬁcient</a:t>
            </a:r>
            <a:r>
              <a:rPr lang="en-US" altLang="zh-TW" dirty="0" smtClean="0"/>
              <a:t>(MCC)</a:t>
            </a:r>
          </a:p>
          <a:p>
            <a:endParaRPr lang="en-US" altLang="zh-TW" dirty="0" smtClean="0"/>
          </a:p>
          <a:p>
            <a:endParaRPr lang="en-US" altLang="zh-TW" dirty="0" smtClean="0"/>
          </a:p>
          <a:p>
            <a:endParaRPr lang="en-US" altLang="zh-TW" dirty="0" smtClean="0"/>
          </a:p>
        </p:txBody>
      </p:sp>
      <p:graphicFrame>
        <p:nvGraphicFramePr>
          <p:cNvPr id="2052" name="Object 4"/>
          <p:cNvGraphicFramePr>
            <a:graphicFrameLocks noChangeAspect="1"/>
          </p:cNvGraphicFramePr>
          <p:nvPr/>
        </p:nvGraphicFramePr>
        <p:xfrm>
          <a:off x="2627784" y="1412776"/>
          <a:ext cx="1092033" cy="720080"/>
        </p:xfrm>
        <a:graphic>
          <a:graphicData uri="http://schemas.openxmlformats.org/presentationml/2006/ole">
            <p:oleObj spid="_x0000_s2052" name="Equation" r:id="rId4" imgW="596880" imgH="393480" progId="Equation.3">
              <p:embed/>
            </p:oleObj>
          </a:graphicData>
        </a:graphic>
      </p:graphicFrame>
      <p:graphicFrame>
        <p:nvGraphicFramePr>
          <p:cNvPr id="2053" name="Object 5"/>
          <p:cNvGraphicFramePr>
            <a:graphicFrameLocks noChangeAspect="1"/>
          </p:cNvGraphicFramePr>
          <p:nvPr/>
        </p:nvGraphicFramePr>
        <p:xfrm>
          <a:off x="2699792" y="2348880"/>
          <a:ext cx="1008112" cy="664982"/>
        </p:xfrm>
        <a:graphic>
          <a:graphicData uri="http://schemas.openxmlformats.org/presentationml/2006/ole">
            <p:oleObj spid="_x0000_s2053" name="方程式" r:id="rId5" imgW="596880" imgH="393480" progId="Equation.3">
              <p:embed/>
            </p:oleObj>
          </a:graphicData>
        </a:graphic>
      </p:graphicFrame>
      <p:graphicFrame>
        <p:nvGraphicFramePr>
          <p:cNvPr id="12" name="Object 5"/>
          <p:cNvGraphicFramePr>
            <a:graphicFrameLocks noChangeAspect="1"/>
          </p:cNvGraphicFramePr>
          <p:nvPr/>
        </p:nvGraphicFramePr>
        <p:xfrm>
          <a:off x="2483768" y="3140968"/>
          <a:ext cx="2088232" cy="653798"/>
        </p:xfrm>
        <a:graphic>
          <a:graphicData uri="http://schemas.openxmlformats.org/presentationml/2006/ole">
            <p:oleObj spid="_x0000_s2055" name="方程式" r:id="rId6" imgW="1257120" imgH="393480" progId="Equation.3">
              <p:embed/>
            </p:oleObj>
          </a:graphicData>
        </a:graphic>
      </p:graphicFrame>
      <p:graphicFrame>
        <p:nvGraphicFramePr>
          <p:cNvPr id="2057" name="Object 9"/>
          <p:cNvGraphicFramePr>
            <a:graphicFrameLocks noChangeAspect="1"/>
          </p:cNvGraphicFramePr>
          <p:nvPr/>
        </p:nvGraphicFramePr>
        <p:xfrm>
          <a:off x="1259632" y="4509120"/>
          <a:ext cx="2100262" cy="793750"/>
        </p:xfrm>
        <a:graphic>
          <a:graphicData uri="http://schemas.openxmlformats.org/presentationml/2006/ole">
            <p:oleObj spid="_x0000_s2057" name="方程式" r:id="rId7" imgW="1041120" imgH="393480" progId="Equation.3">
              <p:embed/>
            </p:oleObj>
          </a:graphicData>
        </a:graphic>
      </p:graphicFrame>
      <p:graphicFrame>
        <p:nvGraphicFramePr>
          <p:cNvPr id="2058" name="Object 10"/>
          <p:cNvGraphicFramePr>
            <a:graphicFrameLocks noChangeAspect="1"/>
          </p:cNvGraphicFramePr>
          <p:nvPr/>
        </p:nvGraphicFramePr>
        <p:xfrm>
          <a:off x="1259632" y="5805264"/>
          <a:ext cx="6765925" cy="935037"/>
        </p:xfrm>
        <a:graphic>
          <a:graphicData uri="http://schemas.openxmlformats.org/presentationml/2006/ole">
            <p:oleObj spid="_x0000_s2058" name="方程式" r:id="rId8" imgW="3213000" imgH="444240" progId="Equation.3">
              <p:embed/>
            </p:oleObj>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微軟正黑體" pitchFamily="34" charset="-120"/>
                <a:ea typeface="微軟正黑體" pitchFamily="34" charset="-120"/>
              </a:rPr>
              <a:t>系統比較</a:t>
            </a:r>
            <a:r>
              <a:rPr lang="en-US" altLang="zh-TW" dirty="0" smtClean="0">
                <a:latin typeface="微軟正黑體" pitchFamily="34" charset="-120"/>
                <a:ea typeface="微軟正黑體" pitchFamily="34" charset="-120"/>
              </a:rPr>
              <a:t>(1/2)</a:t>
            </a:r>
            <a:endParaRPr lang="zh-TW" altLang="en-US" dirty="0">
              <a:latin typeface="微軟正黑體" pitchFamily="34" charset="-120"/>
              <a:ea typeface="微軟正黑體" pitchFamily="34" charset="-120"/>
            </a:endParaRPr>
          </a:p>
        </p:txBody>
      </p:sp>
      <p:sp>
        <p:nvSpPr>
          <p:cNvPr id="3" name="內容版面配置區 2"/>
          <p:cNvSpPr>
            <a:spLocks noGrp="1"/>
          </p:cNvSpPr>
          <p:nvPr>
            <p:ph idx="1"/>
          </p:nvPr>
        </p:nvSpPr>
        <p:spPr/>
        <p:txBody>
          <a:bodyPr>
            <a:normAutofit/>
          </a:bodyPr>
          <a:lstStyle/>
          <a:p>
            <a:r>
              <a:rPr lang="en-US" altLang="zh-TW" dirty="0" smtClean="0"/>
              <a:t>SITEHOUND</a:t>
            </a:r>
            <a:endParaRPr lang="zh-TW" altLang="en-US" dirty="0" smtClean="0"/>
          </a:p>
          <a:p>
            <a:pPr lvl="1"/>
            <a:r>
              <a:rPr lang="en-US" altLang="zh-TW" dirty="0" smtClean="0"/>
              <a:t>Mount Sinai School of Medicine, New York</a:t>
            </a:r>
          </a:p>
          <a:p>
            <a:pPr lvl="1"/>
            <a:r>
              <a:rPr lang="zh-TW" altLang="en-US" dirty="0" smtClean="0"/>
              <a:t>使用方法</a:t>
            </a:r>
            <a:endParaRPr lang="en-US" altLang="zh-TW" dirty="0" smtClean="0"/>
          </a:p>
          <a:p>
            <a:pPr lvl="2"/>
            <a:r>
              <a:rPr lang="zh-TW" altLang="en-US" dirty="0" smtClean="0"/>
              <a:t>利用化學性質分類</a:t>
            </a:r>
            <a:endParaRPr lang="en-US" altLang="zh-TW" dirty="0" smtClean="0"/>
          </a:p>
          <a:p>
            <a:pPr lvl="2"/>
            <a:r>
              <a:rPr lang="zh-TW" altLang="en-US" dirty="0" smtClean="0"/>
              <a:t>判斷結合位置</a:t>
            </a:r>
            <a:endParaRPr lang="en-US" altLang="zh-TW" dirty="0" smtClean="0"/>
          </a:p>
          <a:p>
            <a:pPr lvl="2"/>
            <a:r>
              <a:rPr lang="zh-TW" altLang="en-US" dirty="0" smtClean="0"/>
              <a:t>用</a:t>
            </a:r>
            <a:r>
              <a:rPr lang="en-US" altLang="zh-TW" dirty="0" smtClean="0"/>
              <a:t>TIE(Total Interaction Energy)</a:t>
            </a:r>
            <a:r>
              <a:rPr lang="zh-TW" altLang="en-US" dirty="0" smtClean="0"/>
              <a:t>排名</a:t>
            </a:r>
            <a:endParaRPr lang="en-US" altLang="zh-TW" dirty="0" smtClean="0"/>
          </a:p>
          <a:p>
            <a:pPr lvl="2"/>
            <a:r>
              <a:rPr lang="zh-TW" altLang="en-US" dirty="0" smtClean="0"/>
              <a:t>判斷預測結合位置</a:t>
            </a:r>
            <a:endParaRPr lang="en-US" altLang="zh-TW" dirty="0" smtClean="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latin typeface="微軟正黑體" pitchFamily="34" charset="-120"/>
                <a:ea typeface="微軟正黑體" pitchFamily="34" charset="-120"/>
              </a:rPr>
              <a:t>系統比較</a:t>
            </a:r>
            <a:r>
              <a:rPr lang="en-US" altLang="zh-TW" dirty="0" smtClean="0">
                <a:latin typeface="微軟正黑體" pitchFamily="34" charset="-120"/>
                <a:ea typeface="微軟正黑體" pitchFamily="34" charset="-120"/>
              </a:rPr>
              <a:t>(2/2)</a:t>
            </a:r>
            <a:endParaRPr lang="zh-TW" altLang="en-US" dirty="0">
              <a:latin typeface="微軟正黑體" pitchFamily="34" charset="-120"/>
              <a:ea typeface="微軟正黑體" pitchFamily="34" charset="-120"/>
            </a:endParaRPr>
          </a:p>
        </p:txBody>
      </p:sp>
      <p:sp>
        <p:nvSpPr>
          <p:cNvPr id="3" name="內容版面配置區 2"/>
          <p:cNvSpPr>
            <a:spLocks noGrp="1"/>
          </p:cNvSpPr>
          <p:nvPr>
            <p:ph idx="1"/>
          </p:nvPr>
        </p:nvSpPr>
        <p:spPr/>
        <p:txBody>
          <a:bodyPr>
            <a:normAutofit/>
          </a:bodyPr>
          <a:lstStyle/>
          <a:p>
            <a:r>
              <a:rPr lang="en-US" altLang="zh-TW" dirty="0" err="1" smtClean="0"/>
              <a:t>MetaPocket</a:t>
            </a:r>
            <a:r>
              <a:rPr lang="en-US" altLang="zh-TW" dirty="0" smtClean="0"/>
              <a:t> 2.0</a:t>
            </a:r>
          </a:p>
          <a:p>
            <a:pPr lvl="1"/>
            <a:r>
              <a:rPr lang="en-US" altLang="zh-TW" dirty="0" smtClean="0"/>
              <a:t>Technical University of Dresden , Germany</a:t>
            </a:r>
          </a:p>
          <a:p>
            <a:pPr lvl="1"/>
            <a:r>
              <a:rPr lang="zh-TW" altLang="en-US" dirty="0" smtClean="0"/>
              <a:t>使用方法</a:t>
            </a:r>
            <a:endParaRPr lang="en-US" altLang="zh-TW" dirty="0" smtClean="0"/>
          </a:p>
          <a:p>
            <a:pPr lvl="2"/>
            <a:r>
              <a:rPr lang="zh-TW" altLang="en-US" dirty="0" smtClean="0"/>
              <a:t>結合</a:t>
            </a:r>
            <a:r>
              <a:rPr lang="en-US" altLang="zh-TW" dirty="0" smtClean="0"/>
              <a:t>LIGSITE</a:t>
            </a:r>
            <a:r>
              <a:rPr lang="en-US" altLang="zh-TW" i="1" baseline="30000" dirty="0" smtClean="0"/>
              <a:t>cs</a:t>
            </a:r>
            <a:r>
              <a:rPr lang="en-US" altLang="zh-TW" dirty="0" smtClean="0"/>
              <a:t>, PASS, Q-</a:t>
            </a:r>
            <a:r>
              <a:rPr lang="en-US" altLang="zh-TW" dirty="0" err="1" smtClean="0"/>
              <a:t>SiteFinder</a:t>
            </a:r>
            <a:r>
              <a:rPr lang="en-US" altLang="zh-TW" dirty="0" smtClean="0"/>
              <a:t>, SURFNET, Fpocket, GHECOM, ConCavity, POCASA</a:t>
            </a:r>
            <a:r>
              <a:rPr lang="zh-TW" altLang="en-US" dirty="0" smtClean="0"/>
              <a:t>八種方法進行預測</a:t>
            </a:r>
            <a:endParaRPr lang="en-US" altLang="zh-TW" dirty="0" smtClean="0"/>
          </a:p>
          <a:p>
            <a:pPr lvl="2"/>
            <a:r>
              <a:rPr lang="zh-TW" altLang="en-US" dirty="0" smtClean="0"/>
              <a:t>依據預測結果進行投票來決定最後預測的結合位置</a:t>
            </a:r>
            <a:endParaRPr lang="zh-TW" alt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descr="form1.PNG"/>
          <p:cNvPicPr>
            <a:picLocks noGrp="1" noChangeAspect="1"/>
          </p:cNvPicPr>
          <p:nvPr>
            <p:ph sz="half" idx="4294967295"/>
          </p:nvPr>
        </p:nvPicPr>
        <p:blipFill>
          <a:blip r:embed="rId2" cstate="print"/>
          <a:stretch>
            <a:fillRect/>
          </a:stretch>
        </p:blipFill>
        <p:spPr>
          <a:xfrm>
            <a:off x="0" y="476672"/>
            <a:ext cx="9144000" cy="2436126"/>
          </a:xfrm>
          <a:prstGeom prst="rect">
            <a:avLst/>
          </a:prstGeom>
          <a:noFill/>
          <a:ln>
            <a:noFill/>
          </a:ln>
        </p:spPr>
      </p:pic>
      <p:pic>
        <p:nvPicPr>
          <p:cNvPr id="9" name="圖片 8" descr="form2.PNG"/>
          <p:cNvPicPr>
            <a:picLocks noChangeAspect="1"/>
          </p:cNvPicPr>
          <p:nvPr/>
        </p:nvPicPr>
        <p:blipFill>
          <a:blip r:embed="rId3" cstate="print"/>
          <a:stretch>
            <a:fillRect/>
          </a:stretch>
        </p:blipFill>
        <p:spPr>
          <a:xfrm>
            <a:off x="0" y="3356992"/>
            <a:ext cx="9144000" cy="3034301"/>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descr="form1.PNG"/>
          <p:cNvPicPr>
            <a:picLocks noGrp="1" noChangeAspect="1"/>
          </p:cNvPicPr>
          <p:nvPr>
            <p:ph sz="half" idx="4294967295"/>
          </p:nvPr>
        </p:nvPicPr>
        <p:blipFill>
          <a:blip r:embed="rId2" cstate="print"/>
          <a:stretch>
            <a:fillRect/>
          </a:stretch>
        </p:blipFill>
        <p:spPr>
          <a:xfrm>
            <a:off x="0" y="510669"/>
            <a:ext cx="9144000" cy="2368131"/>
          </a:xfrm>
          <a:prstGeom prst="rect">
            <a:avLst/>
          </a:prstGeom>
          <a:noFill/>
          <a:ln>
            <a:noFill/>
          </a:ln>
        </p:spPr>
      </p:pic>
      <p:pic>
        <p:nvPicPr>
          <p:cNvPr id="9" name="圖片 8" descr="form2.PNG"/>
          <p:cNvPicPr>
            <a:picLocks noChangeAspect="1"/>
          </p:cNvPicPr>
          <p:nvPr/>
        </p:nvPicPr>
        <p:blipFill>
          <a:blip r:embed="rId3" cstate="print"/>
          <a:stretch>
            <a:fillRect/>
          </a:stretch>
        </p:blipFill>
        <p:spPr>
          <a:xfrm>
            <a:off x="0" y="3511901"/>
            <a:ext cx="9144000" cy="272448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測試環境</a:t>
            </a:r>
            <a:endParaRPr lang="zh-TW" altLang="en-US" dirty="0"/>
          </a:p>
        </p:txBody>
      </p:sp>
      <p:sp>
        <p:nvSpPr>
          <p:cNvPr id="3" name="內容版面配置區 2"/>
          <p:cNvSpPr>
            <a:spLocks noGrp="1"/>
          </p:cNvSpPr>
          <p:nvPr>
            <p:ph idx="1"/>
          </p:nvPr>
        </p:nvSpPr>
        <p:spPr/>
        <p:txBody>
          <a:bodyPr/>
          <a:lstStyle/>
          <a:p>
            <a:r>
              <a:rPr lang="en-US" altLang="zh-TW" dirty="0" smtClean="0"/>
              <a:t>Intel® Core™2 Duo Processor E8400 </a:t>
            </a:r>
          </a:p>
          <a:p>
            <a:pPr lvl="1"/>
            <a:r>
              <a:rPr lang="en-US" altLang="zh-TW" dirty="0" smtClean="0"/>
              <a:t>L2 Cache: 6MB</a:t>
            </a:r>
          </a:p>
          <a:p>
            <a:pPr lvl="1"/>
            <a:r>
              <a:rPr lang="en-US" altLang="zh-TW" dirty="0" smtClean="0"/>
              <a:t>Clock Speed: 3.00 GHz</a:t>
            </a:r>
          </a:p>
          <a:p>
            <a:pPr lvl="1"/>
            <a:r>
              <a:rPr lang="en-US" altLang="zh-TW" dirty="0" smtClean="0"/>
              <a:t>FSB Speed: 1333 MHz</a:t>
            </a:r>
          </a:p>
          <a:p>
            <a:r>
              <a:rPr lang="en-US" altLang="zh-TW" dirty="0" smtClean="0"/>
              <a:t>NVIDIA </a:t>
            </a:r>
            <a:r>
              <a:rPr lang="en-US" altLang="zh-TW" dirty="0" err="1" smtClean="0"/>
              <a:t>Gefocre</a:t>
            </a:r>
            <a:r>
              <a:rPr lang="en-US" altLang="zh-TW" dirty="0" smtClean="0"/>
              <a:t> GTS450</a:t>
            </a:r>
          </a:p>
          <a:p>
            <a:pPr lvl="1"/>
            <a:r>
              <a:rPr lang="en-US" altLang="zh-TW" dirty="0" smtClean="0"/>
              <a:t>CUDA</a:t>
            </a:r>
            <a:r>
              <a:rPr lang="zh-TW" altLang="en-US" dirty="0" smtClean="0"/>
              <a:t>處理器核心</a:t>
            </a:r>
            <a:r>
              <a:rPr lang="en-US" altLang="zh-TW" dirty="0" smtClean="0"/>
              <a:t>: 192</a:t>
            </a:r>
          </a:p>
          <a:p>
            <a:pPr lvl="1"/>
            <a:r>
              <a:rPr lang="zh-TW" altLang="en-US" dirty="0" smtClean="0"/>
              <a:t>處理器時脈</a:t>
            </a:r>
            <a:r>
              <a:rPr lang="en-US" altLang="zh-TW" dirty="0" smtClean="0"/>
              <a:t>: 1566 MHz</a:t>
            </a:r>
          </a:p>
          <a:p>
            <a:r>
              <a:rPr lang="en-US" altLang="zh-TW" dirty="0" smtClean="0"/>
              <a:t>4GB DDR2, Windows XP 32-bits</a:t>
            </a:r>
            <a:endParaRPr lang="zh-TW" altLang="en-US" dirty="0" smtClean="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CUDA</a:t>
            </a:r>
            <a:r>
              <a:rPr lang="zh-TW" altLang="en-US" dirty="0" smtClean="0">
                <a:latin typeface="微軟正黑體" pitchFamily="34" charset="-120"/>
                <a:ea typeface="微軟正黑體" pitchFamily="34" charset="-120"/>
              </a:rPr>
              <a:t>加速成果</a:t>
            </a:r>
            <a:endParaRPr lang="zh-TW" altLang="en-US" dirty="0"/>
          </a:p>
        </p:txBody>
      </p:sp>
      <p:sp>
        <p:nvSpPr>
          <p:cNvPr id="3" name="文字版面配置區 2"/>
          <p:cNvSpPr>
            <a:spLocks noGrp="1"/>
          </p:cNvSpPr>
          <p:nvPr>
            <p:ph type="body" idx="1"/>
          </p:nvPr>
        </p:nvSpPr>
        <p:spPr/>
        <p:txBody>
          <a:bodyPr>
            <a:normAutofit fontScale="92500"/>
          </a:bodyPr>
          <a:lstStyle/>
          <a:p>
            <a:r>
              <a:rPr lang="zh-TW" altLang="en-US" b="0" dirty="0" smtClean="0"/>
              <a:t>對</a:t>
            </a:r>
            <a:r>
              <a:rPr lang="en-US" altLang="zh-TW" b="0" dirty="0" smtClean="0"/>
              <a:t>388</a:t>
            </a:r>
            <a:r>
              <a:rPr lang="zh-TW" altLang="en-US" b="0" dirty="0" smtClean="0"/>
              <a:t>個已結合蛋白質進行預測</a:t>
            </a:r>
            <a:endParaRPr lang="zh-TW" altLang="en-US" b="0" dirty="0"/>
          </a:p>
        </p:txBody>
      </p:sp>
      <p:pic>
        <p:nvPicPr>
          <p:cNvPr id="7" name="內容版面配置區 6" descr="fig12N.PNG"/>
          <p:cNvPicPr>
            <a:picLocks noGrp="1" noChangeAspect="1"/>
          </p:cNvPicPr>
          <p:nvPr>
            <p:ph sz="half" idx="2"/>
          </p:nvPr>
        </p:nvPicPr>
        <p:blipFill>
          <a:blip r:embed="rId2" cstate="print"/>
          <a:stretch>
            <a:fillRect/>
          </a:stretch>
        </p:blipFill>
        <p:spPr>
          <a:xfrm>
            <a:off x="48802" y="2636912"/>
            <a:ext cx="4537134" cy="2728378"/>
          </a:xfrm>
        </p:spPr>
      </p:pic>
      <p:sp>
        <p:nvSpPr>
          <p:cNvPr id="5" name="文字版面配置區 4"/>
          <p:cNvSpPr>
            <a:spLocks noGrp="1"/>
          </p:cNvSpPr>
          <p:nvPr>
            <p:ph type="body" sz="quarter" idx="3"/>
          </p:nvPr>
        </p:nvSpPr>
        <p:spPr/>
        <p:txBody>
          <a:bodyPr>
            <a:normAutofit fontScale="92500"/>
          </a:bodyPr>
          <a:lstStyle/>
          <a:p>
            <a:r>
              <a:rPr lang="zh-TW" altLang="en-US" b="0" dirty="0" smtClean="0"/>
              <a:t>對</a:t>
            </a:r>
            <a:r>
              <a:rPr lang="en-US" altLang="zh-TW" b="0" dirty="0" smtClean="0"/>
              <a:t>388</a:t>
            </a:r>
            <a:r>
              <a:rPr lang="zh-TW" altLang="en-US" b="0" dirty="0" smtClean="0"/>
              <a:t>個未結合蛋白質進行預測</a:t>
            </a:r>
            <a:endParaRPr lang="zh-TW" altLang="en-US" b="0" dirty="0"/>
          </a:p>
        </p:txBody>
      </p:sp>
      <p:pic>
        <p:nvPicPr>
          <p:cNvPr id="8" name="內容版面配置區 7" descr="fig13N.PNG"/>
          <p:cNvPicPr>
            <a:picLocks noGrp="1" noChangeAspect="1"/>
          </p:cNvPicPr>
          <p:nvPr>
            <p:ph sz="quarter" idx="4"/>
          </p:nvPr>
        </p:nvPicPr>
        <p:blipFill>
          <a:blip r:embed="rId3" cstate="print"/>
          <a:stretch>
            <a:fillRect/>
          </a:stretch>
        </p:blipFill>
        <p:spPr>
          <a:xfrm>
            <a:off x="4593833" y="2636912"/>
            <a:ext cx="4550167" cy="2722975"/>
          </a:xfr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708920"/>
            <a:ext cx="8229600" cy="1143000"/>
          </a:xfrm>
        </p:spPr>
        <p:txBody>
          <a:bodyPr/>
          <a:lstStyle/>
          <a:p>
            <a:r>
              <a:rPr lang="en-US" altLang="zh-TW" dirty="0" smtClean="0"/>
              <a:t>Thanks for your listening.</a:t>
            </a:r>
            <a:endParaRPr lang="zh-TW"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eting">
      <a:majorFont>
        <a:latin typeface="Calibri"/>
        <a:ea typeface="微軟正黑體"/>
        <a:cs typeface=""/>
      </a:majorFont>
      <a:minorFont>
        <a:latin typeface="Calibri"/>
        <a:ea typeface="微軟正黑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1614</TotalTime>
  <Words>694</Words>
  <Application>Microsoft Office PowerPoint</Application>
  <PresentationFormat>如螢幕大小 (4:3)</PresentationFormat>
  <Paragraphs>170</Paragraphs>
  <Slides>22</Slides>
  <Notes>7</Notes>
  <HiddenSlides>0</HiddenSlides>
  <MMClips>0</MMClips>
  <ScaleCrop>false</ScaleCrop>
  <HeadingPairs>
    <vt:vector size="6" baseType="variant">
      <vt:variant>
        <vt:lpstr>佈景主題</vt:lpstr>
      </vt:variant>
      <vt:variant>
        <vt:i4>1</vt:i4>
      </vt:variant>
      <vt:variant>
        <vt:lpstr>內嵌 OLE 伺服程式</vt:lpstr>
      </vt:variant>
      <vt:variant>
        <vt:i4>2</vt:i4>
      </vt:variant>
      <vt:variant>
        <vt:lpstr>投影片標題</vt:lpstr>
      </vt:variant>
      <vt:variant>
        <vt:i4>22</vt:i4>
      </vt:variant>
    </vt:vector>
  </HeadingPairs>
  <TitlesOfParts>
    <vt:vector size="25" baseType="lpstr">
      <vt:lpstr>Office 佈景主題</vt:lpstr>
      <vt:lpstr>方程式</vt:lpstr>
      <vt:lpstr>Equation</vt:lpstr>
      <vt:lpstr>使用表面幾何特徵於蛋白質與配體結合位置之預測 Using Geometric Features to Predict Protein-ligand Binding Regions</vt:lpstr>
      <vt:lpstr>Abstract(1/2)</vt:lpstr>
      <vt:lpstr>Abstract(2/2)</vt:lpstr>
      <vt:lpstr>CUDA</vt:lpstr>
      <vt:lpstr>立體角特徵</vt:lpstr>
      <vt:lpstr>系統流程圖</vt:lpstr>
      <vt:lpstr>Step 1 三維網路技術建構蛋白質立體結構</vt:lpstr>
      <vt:lpstr>Step 2 立體角計算</vt:lpstr>
      <vt:lpstr>Step 3 找錨點及分群</vt:lpstr>
      <vt:lpstr>Step 4 幾何特性計算</vt:lpstr>
      <vt:lpstr>Step 5 配體結合位置預測</vt:lpstr>
      <vt:lpstr>測試資料集</vt:lpstr>
      <vt:lpstr>評估效能說明(1/3)</vt:lpstr>
      <vt:lpstr>評估效能說明(2/3)</vt:lpstr>
      <vt:lpstr>評估效能說明(3/3)</vt:lpstr>
      <vt:lpstr>系統比較(1/2)</vt:lpstr>
      <vt:lpstr>系統比較(2/2)</vt:lpstr>
      <vt:lpstr>投影片 18</vt:lpstr>
      <vt:lpstr>投影片 19</vt:lpstr>
      <vt:lpstr>測試環境</vt:lpstr>
      <vt:lpstr>CUDA加速成果</vt:lpstr>
      <vt:lpstr>Thanks for your listening.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Using Geometric Features to Predict Protein-ligand Binding Regions</dc:title>
  <dc:creator>Dale</dc:creator>
  <cp:lastModifiedBy>Chun-Chieh Tai</cp:lastModifiedBy>
  <cp:revision>152</cp:revision>
  <dcterms:created xsi:type="dcterms:W3CDTF">2011-11-06T07:01:58Z</dcterms:created>
  <dcterms:modified xsi:type="dcterms:W3CDTF">2011-12-19T10:00:42Z</dcterms:modified>
</cp:coreProperties>
</file>