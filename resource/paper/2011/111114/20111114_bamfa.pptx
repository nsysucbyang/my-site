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3"/>
  </p:notesMasterIdLst>
  <p:sldIdLst>
    <p:sldId id="256" r:id="rId2"/>
    <p:sldId id="257" r:id="rId3"/>
    <p:sldId id="258" r:id="rId4"/>
    <p:sldId id="259" r:id="rId5"/>
    <p:sldId id="260" r:id="rId6"/>
    <p:sldId id="270" r:id="rId7"/>
    <p:sldId id="261" r:id="rId8"/>
    <p:sldId id="278" r:id="rId9"/>
    <p:sldId id="263" r:id="rId10"/>
    <p:sldId id="267" r:id="rId11"/>
    <p:sldId id="268" r:id="rId12"/>
    <p:sldId id="269" r:id="rId13"/>
    <p:sldId id="276" r:id="rId14"/>
    <p:sldId id="265" r:id="rId15"/>
    <p:sldId id="266" r:id="rId16"/>
    <p:sldId id="271" r:id="rId17"/>
    <p:sldId id="272" r:id="rId18"/>
    <p:sldId id="280" r:id="rId19"/>
    <p:sldId id="275" r:id="rId20"/>
    <p:sldId id="273" r:id="rId21"/>
    <p:sldId id="274"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602" autoAdjust="0"/>
    <p:restoredTop sz="86441" autoAdjust="0"/>
  </p:normalViewPr>
  <p:slideViewPr>
    <p:cSldViewPr snapToGrid="0" snapToObjects="1">
      <p:cViewPr varScale="1">
        <p:scale>
          <a:sx n="62" d="100"/>
          <a:sy n="62" d="100"/>
        </p:scale>
        <p:origin x="-336" y="-90"/>
      </p:cViewPr>
      <p:guideLst>
        <p:guide orient="horz" pos="2160"/>
        <p:guide pos="2880"/>
      </p:guideLst>
    </p:cSldViewPr>
  </p:slideViewPr>
  <p:outlineViewPr>
    <p:cViewPr>
      <p:scale>
        <a:sx n="33" d="100"/>
        <a:sy n="33" d="100"/>
      </p:scale>
      <p:origin x="0" y="9856"/>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F2C8F0A-711D-A54F-BED2-BA031D9ED0BF}" type="datetimeFigureOut">
              <a:rPr lang="en-US" smtClean="0"/>
              <a:pPr/>
              <a:t>11/14/2011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0EC2BA-7235-284F-9AF6-91F36B62EB2F}" type="slidenum">
              <a:rPr lang="en-US" smtClean="0"/>
              <a:pPr/>
              <a:t>‹#›</a:t>
            </a:fld>
            <a:endParaRPr lang="en-US"/>
          </a:p>
        </p:txBody>
      </p:sp>
    </p:spTree>
    <p:extLst>
      <p:ext uri="{BB962C8B-B14F-4D97-AF65-F5344CB8AC3E}">
        <p14:creationId xmlns:p14="http://schemas.microsoft.com/office/powerpoint/2010/main" xmlns="" val="287905546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0EC2BA-7235-284F-9AF6-91F36B62EB2F}" type="slidenum">
              <a:rPr lang="en-US" smtClean="0"/>
              <a:pPr/>
              <a:t>7</a:t>
            </a:fld>
            <a:endParaRPr lang="en-US"/>
          </a:p>
        </p:txBody>
      </p:sp>
    </p:spTree>
    <p:extLst>
      <p:ext uri="{BB962C8B-B14F-4D97-AF65-F5344CB8AC3E}">
        <p14:creationId xmlns:p14="http://schemas.microsoft.com/office/powerpoint/2010/main" xmlns="" val="3321240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328166" y="1295400"/>
            <a:ext cx="6487668" cy="3152887"/>
          </a:xfrm>
          <a:prstGeom prst="rect">
            <a:avLst/>
          </a:prstGeom>
          <a:ln w="3175">
            <a:solidFill>
              <a:schemeClr val="bg1"/>
            </a:solidFill>
          </a:ln>
          <a:effectLst>
            <a:outerShdw blurRad="63500" sx="100500" sy="100500" algn="ctr" rotWithShape="0">
              <a:prstClr val="black">
                <a:alpha val="50000"/>
              </a:prstClr>
            </a:outerShdw>
          </a:effectLst>
        </p:spPr>
        <p:txBody>
          <a:bodyPr vert="horz" lIns="91440" tIns="45720" rIns="91440" bIns="45720" rtlCol="0">
            <a:normAutofit/>
          </a:bodyPr>
          <a:lstStyle/>
          <a:p>
            <a:pPr marL="0" indent="0" algn="l" defTabSz="914400" rtl="0" eaLnBrk="1" latinLnBrk="0" hangingPunct="1">
              <a:spcBef>
                <a:spcPts val="2000"/>
              </a:spcBef>
              <a:buClr>
                <a:schemeClr val="accent1">
                  <a:lumMod val="60000"/>
                  <a:lumOff val="40000"/>
                </a:schemeClr>
              </a:buClr>
              <a:buSzPct val="110000"/>
              <a:buFont typeface="Wingdings 2" pitchFamily="18" charset="2"/>
              <a:buNone/>
            </a:pPr>
            <a:endParaRPr sz="3200" kern="1200">
              <a:solidFill>
                <a:schemeClr val="tx1">
                  <a:lumMod val="65000"/>
                  <a:lumOff val="35000"/>
                </a:schemeClr>
              </a:solidFill>
              <a:latin typeface="+mn-lt"/>
              <a:ea typeface="+mn-ea"/>
              <a:cs typeface="+mn-cs"/>
            </a:endParaRPr>
          </a:p>
        </p:txBody>
      </p:sp>
      <p:sp>
        <p:nvSpPr>
          <p:cNvPr id="2" name="Title 1"/>
          <p:cNvSpPr>
            <a:spLocks noGrp="1"/>
          </p:cNvSpPr>
          <p:nvPr>
            <p:ph type="ctrTitle"/>
          </p:nvPr>
        </p:nvSpPr>
        <p:spPr>
          <a:xfrm>
            <a:off x="1322921" y="1523999"/>
            <a:ext cx="6498158" cy="1724867"/>
          </a:xfrm>
        </p:spPr>
        <p:txBody>
          <a:bodyPr vert="horz" lIns="91440" tIns="45720" rIns="91440" bIns="45720" rtlCol="0" anchor="b" anchorCtr="0">
            <a:noAutofit/>
          </a:bodyPr>
          <a:lstStyle>
            <a:lvl1pPr marL="0" indent="0" algn="ctr" defTabSz="914400" rtl="0" eaLnBrk="1" latinLnBrk="0" hangingPunct="1">
              <a:spcBef>
                <a:spcPct val="0"/>
              </a:spcBef>
              <a:buClr>
                <a:schemeClr val="accent1">
                  <a:lumMod val="60000"/>
                  <a:lumOff val="40000"/>
                </a:schemeClr>
              </a:buClr>
              <a:buSzPct val="110000"/>
              <a:buFont typeface="Wingdings 2" pitchFamily="18" charset="2"/>
              <a:buNone/>
              <a:defRPr sz="4600" kern="1200">
                <a:solidFill>
                  <a:schemeClr val="accent1"/>
                </a:solidFill>
                <a:latin typeface="+mj-lt"/>
                <a:ea typeface="+mj-ea"/>
                <a:cs typeface="+mj-cs"/>
              </a:defRPr>
            </a:lvl1pPr>
          </a:lstStyle>
          <a:p>
            <a:r>
              <a:rPr lang="en-US" smtClean="0"/>
              <a:t>Click to edit Master title style</a:t>
            </a:r>
            <a:endParaRPr/>
          </a:p>
        </p:txBody>
      </p:sp>
      <p:sp>
        <p:nvSpPr>
          <p:cNvPr id="3" name="Subtitle 2"/>
          <p:cNvSpPr>
            <a:spLocks noGrp="1"/>
          </p:cNvSpPr>
          <p:nvPr>
            <p:ph type="subTitle" idx="1"/>
          </p:nvPr>
        </p:nvSpPr>
        <p:spPr>
          <a:xfrm>
            <a:off x="1322921" y="3299012"/>
            <a:ext cx="6498159" cy="916641"/>
          </a:xfrm>
        </p:spPr>
        <p:txBody>
          <a:bodyPr vert="horz" lIns="91440" tIns="45720" rIns="91440" bIns="45720" rtlCol="0">
            <a:normAutofit/>
          </a:bodyPr>
          <a:lstStyle>
            <a:lvl1pPr marL="0" indent="0" algn="ctr" defTabSz="914400" rtl="0" eaLnBrk="1" latinLnBrk="0" hangingPunct="1">
              <a:spcBef>
                <a:spcPts val="300"/>
              </a:spcBef>
              <a:buClr>
                <a:schemeClr val="accent1">
                  <a:lumMod val="60000"/>
                  <a:lumOff val="40000"/>
                </a:schemeClr>
              </a:buClr>
              <a:buSzPct val="110000"/>
              <a:buFont typeface="Wingdings 2" pitchFamily="18" charset="2"/>
              <a:buNone/>
              <a:defRPr sz="1800" kern="1200">
                <a:solidFill>
                  <a:schemeClr val="tx1">
                    <a:tint val="7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A1C206D2-C396-8341-972E-E13AFDE76634}" type="datetimeFigureOut">
              <a:rPr lang="en-US" smtClean="0"/>
              <a:pPr/>
              <a:t>11/14/2011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9CDE3E-D46A-DF40-A632-71D615CB971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A1C206D2-C396-8341-972E-E13AFDE76634}" type="datetimeFigureOut">
              <a:rPr lang="en-US" smtClean="0"/>
              <a:pPr/>
              <a:t>11/14/2011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9CDE3E-D46A-DF40-A632-71D615CB971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363538" y="3352801"/>
            <a:ext cx="8416925" cy="1470025"/>
          </a:xfrm>
        </p:spPr>
        <p:txBody>
          <a:bodyPr/>
          <a:lstStyle/>
          <a:p>
            <a:r>
              <a:rPr lang="en-US" smtClean="0"/>
              <a:t>Click to edit Master title style</a:t>
            </a:r>
            <a:endParaRPr dirty="0"/>
          </a:p>
        </p:txBody>
      </p:sp>
      <p:sp>
        <p:nvSpPr>
          <p:cNvPr id="3" name="Subtitle 2"/>
          <p:cNvSpPr>
            <a:spLocks noGrp="1"/>
          </p:cNvSpPr>
          <p:nvPr>
            <p:ph type="subTitle" idx="1"/>
          </p:nvPr>
        </p:nvSpPr>
        <p:spPr>
          <a:xfrm>
            <a:off x="363538" y="4771029"/>
            <a:ext cx="8416925" cy="972671"/>
          </a:xfrm>
        </p:spPr>
        <p:txBody>
          <a:bodyPr>
            <a:normAutofit/>
          </a:bodyPr>
          <a:lstStyle>
            <a:lvl1pPr marL="0" indent="0" algn="ctr">
              <a:spcBef>
                <a:spcPts val="30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A1C206D2-C396-8341-972E-E13AFDE76634}" type="datetimeFigureOut">
              <a:rPr lang="en-US" smtClean="0"/>
              <a:pPr/>
              <a:t>11/14/2011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9CDE3E-D46A-DF40-A632-71D615CB971E}" type="slidenum">
              <a:rPr lang="en-US" smtClean="0"/>
              <a:pPr/>
              <a:t>‹#›</a:t>
            </a:fld>
            <a:endParaRPr lang="en-US"/>
          </a:p>
        </p:txBody>
      </p:sp>
      <p:sp>
        <p:nvSpPr>
          <p:cNvPr id="9" name="Picture Placeholder 2"/>
          <p:cNvSpPr>
            <a:spLocks noGrp="1"/>
          </p:cNvSpPr>
          <p:nvPr>
            <p:ph type="pic" idx="13"/>
          </p:nvPr>
        </p:nvSpPr>
        <p:spPr>
          <a:xfrm>
            <a:off x="370980" y="363538"/>
            <a:ext cx="8402040" cy="2836862"/>
          </a:xfrm>
          <a:ln w="3175">
            <a:solidFill>
              <a:schemeClr val="bg1"/>
            </a:solidFill>
          </a:ln>
          <a:effectLst>
            <a:outerShdw blurRad="63500" sx="100500" sy="100500" algn="ctr"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9275" y="2403144"/>
            <a:ext cx="8056563" cy="1362075"/>
          </a:xfrm>
        </p:spPr>
        <p:txBody>
          <a:bodyPr anchor="b" anchorCtr="0"/>
          <a:lstStyle>
            <a:lvl1pPr algn="ctr">
              <a:defRPr sz="4600" b="0" cap="none" baseline="0"/>
            </a:lvl1pPr>
          </a:lstStyle>
          <a:p>
            <a:r>
              <a:rPr lang="en-US" smtClean="0"/>
              <a:t>Click to edit Master title style</a:t>
            </a:r>
            <a:endParaRPr/>
          </a:p>
        </p:txBody>
      </p:sp>
      <p:sp>
        <p:nvSpPr>
          <p:cNvPr id="3" name="Text Placeholder 2"/>
          <p:cNvSpPr>
            <a:spLocks noGrp="1"/>
          </p:cNvSpPr>
          <p:nvPr>
            <p:ph type="body" idx="1"/>
          </p:nvPr>
        </p:nvSpPr>
        <p:spPr>
          <a:xfrm>
            <a:off x="549275" y="3736005"/>
            <a:ext cx="8056563" cy="1500187"/>
          </a:xfrm>
        </p:spPr>
        <p:txBody>
          <a:bodyPr anchor="t" anchorCtr="0">
            <a:normAutofit/>
          </a:bodyPr>
          <a:lstStyle>
            <a:lvl1pPr marL="0" indent="0" algn="ctr">
              <a:spcBef>
                <a:spcPts val="300"/>
              </a:spcBef>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1C206D2-C396-8341-972E-E13AFDE76634}" type="datetimeFigureOut">
              <a:rPr lang="en-US" smtClean="0"/>
              <a:pPr/>
              <a:t>11/14/2011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9CDE3E-D46A-DF40-A632-71D615CB971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49275" y="107576"/>
            <a:ext cx="8042276" cy="1336956"/>
          </a:xfrm>
        </p:spPr>
        <p:txBody>
          <a:bodyPr/>
          <a:lstStyle/>
          <a:p>
            <a:r>
              <a:rPr lang="en-US" smtClean="0"/>
              <a:t>Click to edit Master title style</a:t>
            </a:r>
            <a:endParaRPr/>
          </a:p>
        </p:txBody>
      </p:sp>
      <p:sp>
        <p:nvSpPr>
          <p:cNvPr id="3" name="Content Placeholder 2"/>
          <p:cNvSpPr>
            <a:spLocks noGrp="1"/>
          </p:cNvSpPr>
          <p:nvPr>
            <p:ph sz="half" idx="1"/>
          </p:nvPr>
        </p:nvSpPr>
        <p:spPr>
          <a:xfrm>
            <a:off x="549275" y="1600201"/>
            <a:ext cx="384048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Content Placeholder 3"/>
          <p:cNvSpPr>
            <a:spLocks noGrp="1"/>
          </p:cNvSpPr>
          <p:nvPr>
            <p:ph sz="half" idx="2"/>
          </p:nvPr>
        </p:nvSpPr>
        <p:spPr>
          <a:xfrm>
            <a:off x="4751071" y="1600201"/>
            <a:ext cx="384048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A1C206D2-C396-8341-972E-E13AFDE76634}" type="datetimeFigureOut">
              <a:rPr lang="en-US" smtClean="0"/>
              <a:pPr/>
              <a:t>11/14/2011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9CDE3E-D46A-DF40-A632-71D615CB971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49274" y="107576"/>
            <a:ext cx="8042276" cy="1336956"/>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549274" y="1453224"/>
            <a:ext cx="384048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49274" y="2347415"/>
            <a:ext cx="384048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Text Placeholder 4"/>
          <p:cNvSpPr>
            <a:spLocks noGrp="1"/>
          </p:cNvSpPr>
          <p:nvPr>
            <p:ph type="body" sz="quarter" idx="3"/>
          </p:nvPr>
        </p:nvSpPr>
        <p:spPr>
          <a:xfrm>
            <a:off x="4751070" y="1453224"/>
            <a:ext cx="384048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51070" y="2347415"/>
            <a:ext cx="384048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Date Placeholder 6"/>
          <p:cNvSpPr>
            <a:spLocks noGrp="1"/>
          </p:cNvSpPr>
          <p:nvPr>
            <p:ph type="dt" sz="half" idx="10"/>
          </p:nvPr>
        </p:nvSpPr>
        <p:spPr/>
        <p:txBody>
          <a:bodyPr/>
          <a:lstStyle/>
          <a:p>
            <a:fld id="{A1C206D2-C396-8341-972E-E13AFDE76634}" type="datetimeFigureOut">
              <a:rPr lang="en-US" smtClean="0"/>
              <a:pPr/>
              <a:t>11/14/2011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9CDE3E-D46A-DF40-A632-71D615CB971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A1C206D2-C396-8341-972E-E13AFDE76634}" type="datetimeFigureOut">
              <a:rPr lang="en-US" smtClean="0"/>
              <a:pPr/>
              <a:t>11/14/2011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9CDE3E-D46A-DF40-A632-71D615CB971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C206D2-C396-8341-972E-E13AFDE76634}" type="datetimeFigureOut">
              <a:rPr lang="en-US" smtClean="0"/>
              <a:pPr/>
              <a:t>11/14/2011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9CDE3E-D46A-DF40-A632-71D615CB971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9" y="611872"/>
            <a:ext cx="3840480" cy="1162050"/>
          </a:xfrm>
        </p:spPr>
        <p:txBody>
          <a:bodyPr anchor="b"/>
          <a:lstStyle>
            <a:lvl1pPr algn="ctr">
              <a:defRPr sz="3600" b="0"/>
            </a:lvl1pPr>
          </a:lstStyle>
          <a:p>
            <a:r>
              <a:rPr lang="en-US" smtClean="0"/>
              <a:t>Click to edit Master title style</a:t>
            </a:r>
            <a:endParaRPr/>
          </a:p>
        </p:txBody>
      </p:sp>
      <p:sp>
        <p:nvSpPr>
          <p:cNvPr id="3" name="Content Placeholder 2"/>
          <p:cNvSpPr>
            <a:spLocks noGrp="1"/>
          </p:cNvSpPr>
          <p:nvPr>
            <p:ph idx="1"/>
          </p:nvPr>
        </p:nvSpPr>
        <p:spPr>
          <a:xfrm>
            <a:off x="4742824" y="368300"/>
            <a:ext cx="3840480" cy="5575300"/>
          </a:xfrm>
        </p:spPr>
        <p:txBody>
          <a:bodyPr>
            <a:normAutofit/>
          </a:bodyPr>
          <a:lstStyle>
            <a:lvl1pPr>
              <a:spcBef>
                <a:spcPts val="2000"/>
              </a:spcBef>
              <a:defRPr sz="2200"/>
            </a:lvl1pPr>
            <a:lvl2pPr>
              <a:defRPr sz="20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Text Placeholder 3"/>
          <p:cNvSpPr>
            <a:spLocks noGrp="1"/>
          </p:cNvSpPr>
          <p:nvPr>
            <p:ph type="body" sz="half" idx="2"/>
          </p:nvPr>
        </p:nvSpPr>
        <p:spPr>
          <a:xfrm>
            <a:off x="533399" y="1787856"/>
            <a:ext cx="3840480" cy="372015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1C206D2-C396-8341-972E-E13AFDE76634}" type="datetimeFigureOut">
              <a:rPr lang="en-US" smtClean="0"/>
              <a:pPr/>
              <a:t>11/14/2011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9CDE3E-D46A-DF40-A632-71D615CB971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8" y="611872"/>
            <a:ext cx="4079545" cy="1162050"/>
          </a:xfrm>
        </p:spPr>
        <p:txBody>
          <a:bodyPr anchor="b"/>
          <a:lstStyle>
            <a:lvl1pPr algn="ctr">
              <a:defRPr sz="3600" b="0"/>
            </a:lvl1pPr>
          </a:lstStyle>
          <a:p>
            <a:r>
              <a:rPr lang="en-US" smtClean="0"/>
              <a:t>Click to edit Master title style</a:t>
            </a:r>
            <a:endParaRPr/>
          </a:p>
        </p:txBody>
      </p:sp>
      <p:sp>
        <p:nvSpPr>
          <p:cNvPr id="4" name="Text Placeholder 3"/>
          <p:cNvSpPr>
            <a:spLocks noGrp="1"/>
          </p:cNvSpPr>
          <p:nvPr>
            <p:ph type="body" sz="half" idx="2"/>
          </p:nvPr>
        </p:nvSpPr>
        <p:spPr>
          <a:xfrm>
            <a:off x="533398" y="1787856"/>
            <a:ext cx="4079545" cy="372015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1C206D2-C396-8341-972E-E13AFDE76634}" type="datetimeFigureOut">
              <a:rPr lang="en-US" smtClean="0"/>
              <a:pPr/>
              <a:t>11/14/2011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9CDE3E-D46A-DF40-A632-71D615CB971E}" type="slidenum">
              <a:rPr lang="en-US" smtClean="0"/>
              <a:pPr/>
              <a:t>‹#›</a:t>
            </a:fld>
            <a:endParaRPr lang="en-US"/>
          </a:p>
        </p:txBody>
      </p:sp>
      <p:sp>
        <p:nvSpPr>
          <p:cNvPr id="8" name="Picture Placeholder 2"/>
          <p:cNvSpPr>
            <a:spLocks noGrp="1"/>
          </p:cNvSpPr>
          <p:nvPr>
            <p:ph type="pic" idx="1"/>
          </p:nvPr>
        </p:nvSpPr>
        <p:spPr>
          <a:xfrm>
            <a:off x="5090617" y="359392"/>
            <a:ext cx="3657600" cy="5318077"/>
          </a:xfrm>
          <a:ln w="3175">
            <a:solidFill>
              <a:schemeClr val="bg1"/>
            </a:solidFill>
          </a:ln>
          <a:effectLst>
            <a:outerShdw blurRad="63500" sx="100500" sy="100500" algn="ctr" rotWithShape="0">
              <a:prstClr val="black">
                <a:alpha val="50000"/>
              </a:prstClr>
            </a:outerShdw>
          </a:effectLst>
        </p:spPr>
        <p:txBody>
          <a:bodyPr vert="horz" lIns="91440" tIns="45720" rIns="91440" bIns="45720" rtlCol="0">
            <a:normAutofit/>
          </a:bodyPr>
          <a:lstStyle>
            <a:lvl1pPr marL="0" indent="0" algn="l" defTabSz="914400" rtl="0" eaLnBrk="1" latinLnBrk="0" hangingPunct="1">
              <a:spcBef>
                <a:spcPts val="2000"/>
              </a:spcBef>
              <a:buClr>
                <a:schemeClr val="accent1">
                  <a:lumMod val="60000"/>
                  <a:lumOff val="40000"/>
                </a:schemeClr>
              </a:buClr>
              <a:buSzPct val="110000"/>
              <a:buFont typeface="Wingdings 2" pitchFamily="18" charset="2"/>
              <a:buNone/>
              <a:defRPr sz="3200" kern="1200">
                <a:solidFill>
                  <a:schemeClr val="tx1">
                    <a:lumMod val="65000"/>
                    <a:lumOff val="35000"/>
                  </a:schemeClr>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A1C206D2-C396-8341-972E-E13AFDE76634}" type="datetimeFigureOut">
              <a:rPr lang="en-US" smtClean="0"/>
              <a:pPr/>
              <a:t>11/14/2011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9CDE3E-D46A-DF40-A632-71D615CB971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9792" y="368301"/>
            <a:ext cx="1524000" cy="55753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549274" y="368301"/>
            <a:ext cx="6689726" cy="5575300"/>
          </a:xfrm>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A1C206D2-C396-8341-972E-E13AFDE76634}" type="datetimeFigureOut">
              <a:rPr lang="en-US" smtClean="0"/>
              <a:pPr/>
              <a:t>11/14/2011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9CDE3E-D46A-DF40-A632-71D615CB971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9275" y="107576"/>
            <a:ext cx="8042276" cy="1336956"/>
          </a:xfrm>
          <a:prstGeom prst="rect">
            <a:avLst/>
          </a:prstGeom>
        </p:spPr>
        <p:txBody>
          <a:bodyPr vert="horz" lIns="91440" tIns="45720" rIns="91440" bIns="45720" rtlCol="0" anchor="b" anchorCtr="0">
            <a:noAutofit/>
          </a:bodyPr>
          <a:lstStyle/>
          <a:p>
            <a:r>
              <a:rPr lang="en-US" smtClean="0"/>
              <a:t>Click to edit Master title style</a:t>
            </a:r>
            <a:endParaRPr/>
          </a:p>
        </p:txBody>
      </p:sp>
      <p:sp>
        <p:nvSpPr>
          <p:cNvPr id="3" name="Text Placeholder 2"/>
          <p:cNvSpPr>
            <a:spLocks noGrp="1"/>
          </p:cNvSpPr>
          <p:nvPr>
            <p:ph type="body" idx="1"/>
          </p:nvPr>
        </p:nvSpPr>
        <p:spPr>
          <a:xfrm>
            <a:off x="549275" y="1600201"/>
            <a:ext cx="8042276" cy="43434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2"/>
          </p:nvPr>
        </p:nvSpPr>
        <p:spPr>
          <a:xfrm>
            <a:off x="5629835" y="6275668"/>
            <a:ext cx="2133600" cy="365125"/>
          </a:xfrm>
          <a:prstGeom prst="rect">
            <a:avLst/>
          </a:prstGeom>
        </p:spPr>
        <p:txBody>
          <a:bodyPr vert="horz" lIns="91440" tIns="45720" rIns="91440" bIns="45720" rtlCol="0" anchor="ctr"/>
          <a:lstStyle>
            <a:lvl1pPr algn="r">
              <a:defRPr sz="1200">
                <a:solidFill>
                  <a:schemeClr val="bg1"/>
                </a:solidFill>
              </a:defRPr>
            </a:lvl1pPr>
          </a:lstStyle>
          <a:p>
            <a:fld id="{A1C206D2-C396-8341-972E-E13AFDE76634}" type="datetimeFigureOut">
              <a:rPr lang="en-US" smtClean="0"/>
              <a:pPr/>
              <a:t>11/14/2011</a:t>
            </a:fld>
            <a:endParaRPr lang="en-US"/>
          </a:p>
        </p:txBody>
      </p:sp>
      <p:sp>
        <p:nvSpPr>
          <p:cNvPr id="5" name="Footer Placeholder 4"/>
          <p:cNvSpPr>
            <a:spLocks noGrp="1"/>
          </p:cNvSpPr>
          <p:nvPr>
            <p:ph type="ftr" sz="quarter" idx="3"/>
          </p:nvPr>
        </p:nvSpPr>
        <p:spPr>
          <a:xfrm>
            <a:off x="264458" y="6275668"/>
            <a:ext cx="4840941" cy="365125"/>
          </a:xfrm>
          <a:prstGeom prst="rect">
            <a:avLst/>
          </a:prstGeom>
        </p:spPr>
        <p:txBody>
          <a:bodyPr vert="horz" lIns="91440" tIns="45720" rIns="91440" bIns="45720" rtlCol="0" anchor="ctr"/>
          <a:lstStyle>
            <a:lvl1pPr algn="l">
              <a:defRPr sz="1200">
                <a:solidFill>
                  <a:schemeClr val="bg1"/>
                </a:solidFill>
              </a:defRPr>
            </a:lvl1pPr>
          </a:lstStyle>
          <a:p>
            <a:endParaRPr lang="en-US"/>
          </a:p>
        </p:txBody>
      </p:sp>
      <p:sp>
        <p:nvSpPr>
          <p:cNvPr id="6" name="Slide Number Placeholder 5"/>
          <p:cNvSpPr>
            <a:spLocks noGrp="1"/>
          </p:cNvSpPr>
          <p:nvPr>
            <p:ph type="sldNum" sz="quarter" idx="4"/>
          </p:nvPr>
        </p:nvSpPr>
        <p:spPr>
          <a:xfrm>
            <a:off x="7897906" y="6275668"/>
            <a:ext cx="990600" cy="365125"/>
          </a:xfrm>
          <a:prstGeom prst="rect">
            <a:avLst/>
          </a:prstGeom>
        </p:spPr>
        <p:txBody>
          <a:bodyPr vert="horz" lIns="91440" tIns="45720" rIns="91440" bIns="45720" rtlCol="0" anchor="ctr"/>
          <a:lstStyle>
            <a:lvl1pPr algn="r">
              <a:defRPr sz="3600">
                <a:solidFill>
                  <a:schemeClr val="bg1"/>
                </a:solidFill>
              </a:defRPr>
            </a:lvl1pPr>
          </a:lstStyle>
          <a:p>
            <a:fld id="{CC9CDE3E-D46A-DF40-A632-71D615CB971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914400" rtl="0" eaLnBrk="1" latinLnBrk="0" hangingPunct="1">
        <a:spcBef>
          <a:spcPct val="0"/>
        </a:spcBef>
        <a:buNone/>
        <a:defRPr sz="4600" kern="1200">
          <a:solidFill>
            <a:schemeClr val="accent1"/>
          </a:solidFill>
          <a:latin typeface="+mj-lt"/>
          <a:ea typeface="+mj-ea"/>
          <a:cs typeface="+mj-cs"/>
        </a:defRPr>
      </a:lvl1pPr>
    </p:titleStyle>
    <p:bodyStyle>
      <a:lvl1pPr marL="349250" indent="-349250" algn="l" defTabSz="914400" rtl="0" eaLnBrk="1" latinLnBrk="0" hangingPunct="1">
        <a:spcBef>
          <a:spcPts val="2000"/>
        </a:spcBef>
        <a:buClr>
          <a:schemeClr val="accent1">
            <a:lumMod val="60000"/>
            <a:lumOff val="40000"/>
          </a:schemeClr>
        </a:buClr>
        <a:buSzPct val="110000"/>
        <a:buFont typeface="Wingdings 2" pitchFamily="18" charset="2"/>
        <a:buChar char=""/>
        <a:defRPr sz="24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75000"/>
          </a:schemeClr>
        </a:buClr>
        <a:buSzPct val="110000"/>
        <a:buFont typeface="Wingdings 2" pitchFamily="18" charset="2"/>
        <a:buChar char=""/>
        <a:defRPr sz="2200" kern="1200">
          <a:solidFill>
            <a:schemeClr val="tx1">
              <a:lumMod val="65000"/>
              <a:lumOff val="35000"/>
            </a:schemeClr>
          </a:solidFill>
          <a:latin typeface="+mn-lt"/>
          <a:ea typeface="+mn-ea"/>
          <a:cs typeface="+mn-cs"/>
        </a:defRPr>
      </a:lvl2pPr>
      <a:lvl3pPr marL="968375" indent="-282575" algn="l" defTabSz="914400" rtl="0" eaLnBrk="1" latinLnBrk="0" hangingPunct="1">
        <a:spcBef>
          <a:spcPts val="600"/>
        </a:spcBef>
        <a:buClr>
          <a:schemeClr val="accent1">
            <a:lumMod val="60000"/>
            <a:lumOff val="40000"/>
          </a:schemeClr>
        </a:buClr>
        <a:buSzPct val="110000"/>
        <a:buFont typeface="Wingdings 2" pitchFamily="18" charset="2"/>
        <a:buChar char=""/>
        <a:defRPr sz="2000" kern="1200">
          <a:solidFill>
            <a:schemeClr val="tx1">
              <a:lumMod val="65000"/>
              <a:lumOff val="35000"/>
            </a:schemeClr>
          </a:solidFill>
          <a:latin typeface="+mn-lt"/>
          <a:ea typeface="+mn-ea"/>
          <a:cs typeface="+mn-cs"/>
        </a:defRPr>
      </a:lvl3pPr>
      <a:lvl4pPr marL="1263650" indent="-295275" algn="l" defTabSz="914400" rtl="0" eaLnBrk="1" latinLnBrk="0" hangingPunct="1">
        <a:spcBef>
          <a:spcPts val="600"/>
        </a:spcBef>
        <a:buClr>
          <a:schemeClr val="accent1">
            <a:lumMod val="75000"/>
          </a:schemeClr>
        </a:buClr>
        <a:buSzPct val="110000"/>
        <a:buFont typeface="Wingdings 2" pitchFamily="18" charset="2"/>
        <a:buChar char=""/>
        <a:defRPr sz="1800" kern="1200">
          <a:solidFill>
            <a:schemeClr val="tx1">
              <a:lumMod val="65000"/>
              <a:lumOff val="35000"/>
            </a:schemeClr>
          </a:solidFill>
          <a:latin typeface="+mn-lt"/>
          <a:ea typeface="+mn-ea"/>
          <a:cs typeface="+mn-cs"/>
        </a:defRPr>
      </a:lvl4pPr>
      <a:lvl5pPr marL="1546225" indent="-282575" algn="l" defTabSz="914400" rtl="0" eaLnBrk="1" latinLnBrk="0" hangingPunct="1">
        <a:spcBef>
          <a:spcPts val="600"/>
        </a:spcBef>
        <a:buClr>
          <a:schemeClr val="accent1">
            <a:lumMod val="60000"/>
            <a:lumOff val="40000"/>
          </a:schemeClr>
        </a:buClr>
        <a:buSzPct val="110000"/>
        <a:buFont typeface="Wingdings 2" pitchFamily="18" charset="2"/>
        <a:buChar char=""/>
        <a:defRPr sz="1800" kern="1200">
          <a:solidFill>
            <a:schemeClr val="tx1">
              <a:lumMod val="65000"/>
              <a:lumOff val="35000"/>
            </a:schemeClr>
          </a:solidFill>
          <a:latin typeface="+mn-lt"/>
          <a:ea typeface="+mn-ea"/>
          <a:cs typeface="+mn-cs"/>
        </a:defRPr>
      </a:lvl5pPr>
      <a:lvl6pPr marL="1828800" indent="-282575" algn="l" defTabSz="914400" rtl="0" eaLnBrk="1" latinLnBrk="0" hangingPunct="1">
        <a:spcBef>
          <a:spcPct val="20000"/>
        </a:spcBef>
        <a:buClr>
          <a:schemeClr val="accent2"/>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117725" indent="-282575" algn="l" defTabSz="914400" rtl="0" eaLnBrk="1" latinLnBrk="0" hangingPunct="1">
        <a:spcBef>
          <a:spcPct val="20000"/>
        </a:spcBef>
        <a:buClr>
          <a:schemeClr val="accent1">
            <a:lumMod val="60000"/>
            <a:lumOff val="40000"/>
          </a:schemeClr>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398713" indent="-282575" algn="l" defTabSz="914400" rtl="0" eaLnBrk="1" latinLnBrk="0" hangingPunct="1">
        <a:spcBef>
          <a:spcPct val="20000"/>
        </a:spcBef>
        <a:buClr>
          <a:schemeClr val="accent2"/>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2689225" indent="-282575" algn="l" defTabSz="914400" rtl="0" eaLnBrk="1" latinLnBrk="0" hangingPunct="1">
        <a:spcBef>
          <a:spcPct val="20000"/>
        </a:spcBef>
        <a:buClr>
          <a:schemeClr val="accent1">
            <a:lumMod val="60000"/>
            <a:lumOff val="40000"/>
          </a:schemeClr>
        </a:buClr>
        <a:buSzPct val="110000"/>
        <a:buFont typeface="Wingdings 2" pitchFamily="18" charset="2"/>
        <a:buChar char=""/>
        <a:defRPr lang="en-US" sz="1800" kern="1200" dirty="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05890"/>
            <a:ext cx="7772400" cy="1938675"/>
          </a:xfrm>
        </p:spPr>
        <p:txBody>
          <a:bodyPr>
            <a:normAutofit/>
          </a:bodyPr>
          <a:lstStyle/>
          <a:p>
            <a:r>
              <a:rPr lang="en-US" altLang="zh-TW" sz="3600" dirty="0" smtClean="0">
                <a:solidFill>
                  <a:schemeClr val="tx2">
                    <a:lumMod val="60000"/>
                    <a:lumOff val="40000"/>
                  </a:schemeClr>
                </a:solidFill>
              </a:rPr>
              <a:t>Novel Computational Analysis of Protein Binding Array Data</a:t>
            </a:r>
            <a:br>
              <a:rPr lang="en-US" altLang="zh-TW" sz="3600" dirty="0" smtClean="0">
                <a:solidFill>
                  <a:schemeClr val="tx2">
                    <a:lumMod val="60000"/>
                    <a:lumOff val="40000"/>
                  </a:schemeClr>
                </a:solidFill>
              </a:rPr>
            </a:br>
            <a:endParaRPr lang="en-US" sz="3600" dirty="0">
              <a:solidFill>
                <a:schemeClr val="tx2">
                  <a:lumMod val="60000"/>
                  <a:lumOff val="40000"/>
                </a:schemeClr>
              </a:solidFill>
            </a:endParaRPr>
          </a:p>
        </p:txBody>
      </p:sp>
      <p:sp>
        <p:nvSpPr>
          <p:cNvPr id="3" name="Subtitle 2"/>
          <p:cNvSpPr>
            <a:spLocks noGrp="1"/>
          </p:cNvSpPr>
          <p:nvPr>
            <p:ph type="subTitle" idx="1"/>
          </p:nvPr>
        </p:nvSpPr>
        <p:spPr>
          <a:xfrm>
            <a:off x="0" y="2998625"/>
            <a:ext cx="9144001" cy="3859376"/>
          </a:xfrm>
        </p:spPr>
        <p:txBody>
          <a:bodyPr>
            <a:normAutofit/>
          </a:bodyPr>
          <a:lstStyle/>
          <a:p>
            <a:r>
              <a:rPr lang="en-US" altLang="zh-TW" sz="2400" dirty="0" smtClean="0">
                <a:solidFill>
                  <a:schemeClr val="tx2">
                    <a:lumMod val="60000"/>
                    <a:lumOff val="40000"/>
                  </a:schemeClr>
                </a:solidFill>
              </a:rPr>
              <a:t>BMC Bioinformatics 2011</a:t>
            </a:r>
            <a:br>
              <a:rPr lang="en-US" altLang="zh-TW" sz="2400" dirty="0" smtClean="0">
                <a:solidFill>
                  <a:schemeClr val="tx2">
                    <a:lumMod val="60000"/>
                    <a:lumOff val="40000"/>
                  </a:schemeClr>
                </a:solidFill>
              </a:rPr>
            </a:br>
            <a:r>
              <a:rPr lang="en-US" altLang="zh-TW" sz="2400" dirty="0" smtClean="0">
                <a:solidFill>
                  <a:schemeClr val="tx2">
                    <a:lumMod val="60000"/>
                    <a:lumOff val="40000"/>
                  </a:schemeClr>
                </a:solidFill>
              </a:rPr>
              <a:t>Open Access</a:t>
            </a:r>
            <a:br>
              <a:rPr lang="en-US" altLang="zh-TW" sz="2400" dirty="0" smtClean="0">
                <a:solidFill>
                  <a:schemeClr val="tx2">
                    <a:lumMod val="60000"/>
                    <a:lumOff val="40000"/>
                  </a:schemeClr>
                </a:solidFill>
              </a:rPr>
            </a:br>
            <a:r>
              <a:rPr lang="en-US" altLang="zh-TW" sz="2400" dirty="0" smtClean="0">
                <a:solidFill>
                  <a:schemeClr val="tx2">
                    <a:lumMod val="60000"/>
                    <a:lumOff val="40000"/>
                  </a:schemeClr>
                </a:solidFill>
              </a:rPr>
              <a:t>Article</a:t>
            </a:r>
            <a:endParaRPr lang="en-US" sz="2400" dirty="0" smtClean="0">
              <a:solidFill>
                <a:schemeClr val="tx2">
                  <a:lumMod val="60000"/>
                  <a:lumOff val="40000"/>
                </a:schemeClr>
              </a:solidFill>
            </a:endParaRPr>
          </a:p>
          <a:p>
            <a:r>
              <a:rPr lang="en-US" sz="2400" dirty="0" smtClean="0">
                <a:solidFill>
                  <a:schemeClr val="tx2">
                    <a:lumMod val="60000"/>
                    <a:lumOff val="40000"/>
                  </a:schemeClr>
                </a:solidFill>
              </a:rPr>
              <a:t>Jonathon T Hill, Keith R Anderson, </a:t>
            </a:r>
          </a:p>
          <a:p>
            <a:r>
              <a:rPr lang="en-US" sz="2400" dirty="0" smtClean="0">
                <a:solidFill>
                  <a:schemeClr val="tx2">
                    <a:lumMod val="60000"/>
                    <a:lumOff val="40000"/>
                  </a:schemeClr>
                </a:solidFill>
              </a:rPr>
              <a:t>Teresa L Mastracci, Klaus H Kaestner and </a:t>
            </a:r>
          </a:p>
          <a:p>
            <a:r>
              <a:rPr lang="en-US" sz="2400" dirty="0" smtClean="0">
                <a:solidFill>
                  <a:schemeClr val="tx2">
                    <a:lumMod val="60000"/>
                    <a:lumOff val="40000"/>
                  </a:schemeClr>
                </a:solidFill>
              </a:rPr>
              <a:t>Lori Sussel.</a:t>
            </a:r>
          </a:p>
          <a:p>
            <a:endParaRPr lang="en-US" sz="2400" dirty="0"/>
          </a:p>
        </p:txBody>
      </p:sp>
      <p:sp>
        <p:nvSpPr>
          <p:cNvPr id="4" name="TextBox 3"/>
          <p:cNvSpPr txBox="1"/>
          <p:nvPr/>
        </p:nvSpPr>
        <p:spPr>
          <a:xfrm>
            <a:off x="6185898" y="6212822"/>
            <a:ext cx="2958102" cy="646331"/>
          </a:xfrm>
          <a:prstGeom prst="rect">
            <a:avLst/>
          </a:prstGeom>
          <a:noFill/>
        </p:spPr>
        <p:txBody>
          <a:bodyPr wrap="square" rtlCol="0">
            <a:spAutoFit/>
          </a:bodyPr>
          <a:lstStyle/>
          <a:p>
            <a:r>
              <a:rPr lang="en-US" dirty="0" smtClean="0">
                <a:solidFill>
                  <a:srgbClr val="558ED5"/>
                </a:solidFill>
              </a:rPr>
              <a:t>October 14</a:t>
            </a:r>
            <a:r>
              <a:rPr lang="en-US" baseline="30000" dirty="0" smtClean="0">
                <a:solidFill>
                  <a:srgbClr val="558ED5"/>
                </a:solidFill>
              </a:rPr>
              <a:t>th</a:t>
            </a:r>
            <a:r>
              <a:rPr lang="en-US" dirty="0" smtClean="0">
                <a:solidFill>
                  <a:srgbClr val="558ED5"/>
                </a:solidFill>
              </a:rPr>
              <a:t> 2011</a:t>
            </a:r>
          </a:p>
          <a:p>
            <a:r>
              <a:rPr lang="en-US" dirty="0" smtClean="0">
                <a:solidFill>
                  <a:srgbClr val="558ED5"/>
                </a:solidFill>
              </a:rPr>
              <a:t>Presenter: Bamfa Ceesay</a:t>
            </a:r>
            <a:endParaRPr lang="en-US" dirty="0">
              <a:solidFill>
                <a:srgbClr val="558ED5"/>
              </a:solidFill>
            </a:endParaRPr>
          </a:p>
        </p:txBody>
      </p:sp>
    </p:spTree>
    <p:extLst>
      <p:ext uri="{BB962C8B-B14F-4D97-AF65-F5344CB8AC3E}">
        <p14:creationId xmlns:p14="http://schemas.microsoft.com/office/powerpoint/2010/main" xmlns="" val="3282822252"/>
      </p:ext>
    </p:extLst>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a:t>
            </a:r>
            <a:endParaRPr lang="en-US" dirty="0"/>
          </a:p>
        </p:txBody>
      </p:sp>
      <p:sp>
        <p:nvSpPr>
          <p:cNvPr id="3" name="Content Placeholder 2"/>
          <p:cNvSpPr>
            <a:spLocks noGrp="1"/>
          </p:cNvSpPr>
          <p:nvPr>
            <p:ph idx="1"/>
          </p:nvPr>
        </p:nvSpPr>
        <p:spPr/>
        <p:txBody>
          <a:bodyPr/>
          <a:lstStyle/>
          <a:p>
            <a:r>
              <a:rPr lang="en-US" dirty="0" smtClean="0"/>
              <a:t>Abstract</a:t>
            </a:r>
          </a:p>
          <a:p>
            <a:r>
              <a:rPr lang="en-US" dirty="0" smtClean="0"/>
              <a:t>Transcription Factor Binding Sites</a:t>
            </a:r>
          </a:p>
          <a:p>
            <a:r>
              <a:rPr lang="en-US" dirty="0" smtClean="0"/>
              <a:t>ChIP_Seq Method</a:t>
            </a:r>
          </a:p>
          <a:p>
            <a:r>
              <a:rPr lang="en-US" dirty="0" smtClean="0"/>
              <a:t>PBM Mapping</a:t>
            </a:r>
          </a:p>
        </p:txBody>
      </p:sp>
    </p:spTree>
    <p:extLst>
      <p:ext uri="{BB962C8B-B14F-4D97-AF65-F5344CB8AC3E}">
        <p14:creationId xmlns:p14="http://schemas.microsoft.com/office/powerpoint/2010/main" xmlns="" val="627087324"/>
      </p:ext>
    </p:extLst>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Abstract</a:t>
            </a:r>
          </a:p>
          <a:p>
            <a:r>
              <a:rPr lang="en-US" dirty="0" smtClean="0">
                <a:solidFill>
                  <a:schemeClr val="bg1">
                    <a:lumMod val="75000"/>
                  </a:schemeClr>
                </a:solidFill>
              </a:rPr>
              <a:t>Transcription Factor Binding Sites</a:t>
            </a:r>
          </a:p>
          <a:p>
            <a:r>
              <a:rPr lang="en-US" dirty="0" smtClean="0">
                <a:solidFill>
                  <a:schemeClr val="bg1">
                    <a:lumMod val="75000"/>
                  </a:schemeClr>
                </a:solidFill>
              </a:rPr>
              <a:t>ChIP_Seq Method</a:t>
            </a:r>
          </a:p>
          <a:p>
            <a:r>
              <a:rPr lang="en-US" dirty="0" smtClean="0">
                <a:solidFill>
                  <a:schemeClr val="bg1">
                    <a:lumMod val="75000"/>
                  </a:schemeClr>
                </a:solidFill>
              </a:rPr>
              <a:t>PBM Mapping</a:t>
            </a:r>
          </a:p>
        </p:txBody>
      </p:sp>
    </p:spTree>
    <p:extLst>
      <p:ext uri="{BB962C8B-B14F-4D97-AF65-F5344CB8AC3E}">
        <p14:creationId xmlns:p14="http://schemas.microsoft.com/office/powerpoint/2010/main" xmlns="" val="3974519403"/>
      </p:ext>
    </p:extLst>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558ED5"/>
                </a:solidFill>
              </a:rPr>
              <a:t>Abstract</a:t>
            </a:r>
            <a:r>
              <a:rPr lang="en-US" dirty="0" smtClean="0"/>
              <a:t>			</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Background: The creation of a complete genome-map of transcription factor binding site is essential for understanding gene regulatory networks. However, current prediction methods generally rely on statistical models that imperfectly model transcription factor binding. Generation of new prediction methods that are based on protein binding data, but  not relying on these models may improve prediction sensitivity and specificity. </a:t>
            </a:r>
            <a:endParaRPr lang="en-US" dirty="0"/>
          </a:p>
        </p:txBody>
      </p:sp>
    </p:spTree>
    <p:extLst>
      <p:ext uri="{BB962C8B-B14F-4D97-AF65-F5344CB8AC3E}">
        <p14:creationId xmlns:p14="http://schemas.microsoft.com/office/powerpoint/2010/main" xmlns="" val="4039144547"/>
      </p:ext>
    </p:extLst>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558ED5"/>
                </a:solidFill>
              </a:rPr>
              <a:t>Abstract</a:t>
            </a:r>
          </a:p>
        </p:txBody>
      </p:sp>
      <p:sp>
        <p:nvSpPr>
          <p:cNvPr id="3" name="Content Placeholder 2"/>
          <p:cNvSpPr>
            <a:spLocks noGrp="1"/>
          </p:cNvSpPr>
          <p:nvPr>
            <p:ph idx="1"/>
          </p:nvPr>
        </p:nvSpPr>
        <p:spPr/>
        <p:txBody>
          <a:bodyPr/>
          <a:lstStyle/>
          <a:p>
            <a:pPr marL="0" indent="0">
              <a:buNone/>
            </a:pPr>
            <a:r>
              <a:rPr lang="en-US" dirty="0" smtClean="0"/>
              <a:t>Result: A method was proposed for predicting transcription factor binding sites in the genome by directly mapping data generated from protein binding microarrays(PBM) to the genome and calculating a moving average of several overlapping </a:t>
            </a:r>
            <a:r>
              <a:rPr lang="en-US" dirty="0" err="1"/>
              <a:t>o</a:t>
            </a:r>
            <a:r>
              <a:rPr lang="en-US" dirty="0" err="1" smtClean="0"/>
              <a:t>ctamers</a:t>
            </a:r>
            <a:r>
              <a:rPr lang="en-US" dirty="0" smtClean="0"/>
              <a:t>. Using this unique algorithm, we predicted binding sites for essential pancreatic islet transcription factor NKX2.2. </a:t>
            </a:r>
            <a:endParaRPr lang="en-US" dirty="0"/>
          </a:p>
        </p:txBody>
      </p:sp>
    </p:spTree>
    <p:extLst>
      <p:ext uri="{BB962C8B-B14F-4D97-AF65-F5344CB8AC3E}">
        <p14:creationId xmlns:p14="http://schemas.microsoft.com/office/powerpoint/2010/main" xmlns="" val="197779039"/>
      </p:ext>
    </p:extLst>
  </p:cSld>
  <p:clrMapOvr>
    <a:masterClrMapping/>
  </p:clrMapOvr>
  <p:transition>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solidFill>
                  <a:srgbClr val="BFBFBF"/>
                </a:solidFill>
              </a:rPr>
              <a:t>Abstract</a:t>
            </a:r>
          </a:p>
          <a:p>
            <a:r>
              <a:rPr lang="en-US" dirty="0" smtClean="0"/>
              <a:t>Transcription Factor Binding Sites</a:t>
            </a:r>
          </a:p>
          <a:p>
            <a:r>
              <a:rPr lang="en-US" dirty="0" err="1" smtClean="0">
                <a:solidFill>
                  <a:schemeClr val="bg1">
                    <a:lumMod val="75000"/>
                  </a:schemeClr>
                </a:solidFill>
              </a:rPr>
              <a:t>ChIP-Seq</a:t>
            </a:r>
            <a:r>
              <a:rPr lang="en-US" dirty="0" smtClean="0">
                <a:solidFill>
                  <a:schemeClr val="bg1">
                    <a:lumMod val="75000"/>
                  </a:schemeClr>
                </a:solidFill>
              </a:rPr>
              <a:t> Method</a:t>
            </a:r>
          </a:p>
          <a:p>
            <a:r>
              <a:rPr lang="en-US" dirty="0" smtClean="0">
                <a:solidFill>
                  <a:schemeClr val="bg1">
                    <a:lumMod val="75000"/>
                  </a:schemeClr>
                </a:solidFill>
              </a:rPr>
              <a:t>PBM Mapping</a:t>
            </a:r>
          </a:p>
        </p:txBody>
      </p:sp>
    </p:spTree>
    <p:extLst>
      <p:ext uri="{BB962C8B-B14F-4D97-AF65-F5344CB8AC3E}">
        <p14:creationId xmlns:p14="http://schemas.microsoft.com/office/powerpoint/2010/main" xmlns="" val="2049249688"/>
      </p:ext>
    </p:extLst>
  </p:cSld>
  <p:clrMapOvr>
    <a:masterClrMapping/>
  </p:clrMapOvr>
  <p:transition>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9275" y="1"/>
            <a:ext cx="8042276" cy="1494117"/>
          </a:xfrm>
        </p:spPr>
        <p:txBody>
          <a:bodyPr>
            <a:noAutofit/>
          </a:bodyPr>
          <a:lstStyle/>
          <a:p>
            <a:r>
              <a:rPr lang="en-US" sz="3200" dirty="0">
                <a:solidFill>
                  <a:srgbClr val="558ED5"/>
                </a:solidFill>
              </a:rPr>
              <a:t>Transcription Factor(TF) Binding Sites</a:t>
            </a:r>
            <a:br>
              <a:rPr lang="en-US" sz="3200" dirty="0">
                <a:solidFill>
                  <a:srgbClr val="558ED5"/>
                </a:solidFill>
              </a:rPr>
            </a:br>
            <a:endParaRPr lang="en-US" sz="3200" dirty="0">
              <a:solidFill>
                <a:srgbClr val="558ED5"/>
              </a:solidFill>
            </a:endParaRPr>
          </a:p>
        </p:txBody>
      </p:sp>
      <p:sp>
        <p:nvSpPr>
          <p:cNvPr id="3" name="Content Placeholder 2"/>
          <p:cNvSpPr>
            <a:spLocks noGrp="1"/>
          </p:cNvSpPr>
          <p:nvPr>
            <p:ph idx="1"/>
          </p:nvPr>
        </p:nvSpPr>
        <p:spPr>
          <a:xfrm>
            <a:off x="549275" y="1628589"/>
            <a:ext cx="8042276" cy="4960470"/>
          </a:xfrm>
        </p:spPr>
        <p:txBody>
          <a:bodyPr>
            <a:normAutofit/>
          </a:bodyPr>
          <a:lstStyle/>
          <a:p>
            <a:r>
              <a:rPr lang="en-US" dirty="0" smtClean="0"/>
              <a:t>A transcription factor is a protein that binds to specific DNA sequences, thereby controlling the flow of genetic information from DNA to mRNA.</a:t>
            </a:r>
          </a:p>
          <a:p>
            <a:r>
              <a:rPr lang="en-US" dirty="0" smtClean="0"/>
              <a:t>Transcription can be achieved with a single transcription factor or with other proteins in a complex.</a:t>
            </a:r>
          </a:p>
          <a:p>
            <a:r>
              <a:rPr lang="en-US" dirty="0" smtClean="0"/>
              <a:t>The DNA binding domain(DBDs) attach to specific sequence of  DNA adjacent to the genes that they regulate(site for binding).</a:t>
            </a:r>
          </a:p>
        </p:txBody>
      </p:sp>
    </p:spTree>
    <p:extLst>
      <p:ext uri="{BB962C8B-B14F-4D97-AF65-F5344CB8AC3E}">
        <p14:creationId xmlns:p14="http://schemas.microsoft.com/office/powerpoint/2010/main" xmlns="" val="762700741"/>
      </p:ext>
    </p:extLst>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558ED5"/>
                </a:solidFill>
              </a:rPr>
              <a:t>Transcription Factor(TF) Binding Sites</a:t>
            </a:r>
            <a:endParaRPr lang="en-US" dirty="0"/>
          </a:p>
        </p:txBody>
      </p:sp>
      <p:sp>
        <p:nvSpPr>
          <p:cNvPr id="3" name="Content Placeholder 2"/>
          <p:cNvSpPr>
            <a:spLocks noGrp="1"/>
          </p:cNvSpPr>
          <p:nvPr>
            <p:ph idx="1"/>
          </p:nvPr>
        </p:nvSpPr>
        <p:spPr/>
        <p:txBody>
          <a:bodyPr/>
          <a:lstStyle/>
          <a:p>
            <a:r>
              <a:rPr lang="en-US" dirty="0" smtClean="0"/>
              <a:t>TF active site binds with DNA</a:t>
            </a:r>
          </a:p>
          <a:p>
            <a:r>
              <a:rPr lang="en-US" dirty="0" smtClean="0"/>
              <a:t>Several binding mechanism exist</a:t>
            </a:r>
          </a:p>
          <a:p>
            <a:pPr marL="0" indent="0">
              <a:buNone/>
            </a:pPr>
            <a:r>
              <a:rPr lang="en-US" dirty="0"/>
              <a:t> </a:t>
            </a:r>
            <a:r>
              <a:rPr lang="en-US" dirty="0" smtClean="0"/>
              <a:t>     -Helix-Turn-Helix</a:t>
            </a:r>
          </a:p>
          <a:p>
            <a:pPr marL="0" indent="0">
              <a:buNone/>
            </a:pPr>
            <a:r>
              <a:rPr lang="en-US" dirty="0"/>
              <a:t> </a:t>
            </a:r>
            <a:r>
              <a:rPr lang="en-US" dirty="0" smtClean="0"/>
              <a:t>    -</a:t>
            </a:r>
            <a:r>
              <a:rPr lang="en-US" dirty="0" err="1" smtClean="0"/>
              <a:t>Leucine</a:t>
            </a:r>
            <a:r>
              <a:rPr lang="en-US" dirty="0" smtClean="0"/>
              <a:t> Zipper</a:t>
            </a:r>
          </a:p>
          <a:p>
            <a:pPr marL="0" indent="0">
              <a:buNone/>
            </a:pPr>
            <a:r>
              <a:rPr lang="en-US" dirty="0"/>
              <a:t> </a:t>
            </a:r>
            <a:r>
              <a:rPr lang="en-US" dirty="0" smtClean="0"/>
              <a:t>     -Zinc finger</a:t>
            </a:r>
          </a:p>
          <a:p>
            <a:r>
              <a:rPr lang="en-US" dirty="0" smtClean="0"/>
              <a:t>TF know the binding site by finding the sequence pattern.</a:t>
            </a:r>
            <a:endParaRPr lang="en-US" dirty="0"/>
          </a:p>
        </p:txBody>
      </p:sp>
    </p:spTree>
    <p:extLst>
      <p:ext uri="{BB962C8B-B14F-4D97-AF65-F5344CB8AC3E}">
        <p14:creationId xmlns:p14="http://schemas.microsoft.com/office/powerpoint/2010/main" xmlns="" val="637586408"/>
      </p:ext>
    </p:extLst>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endParaRPr lang="en-US" dirty="0"/>
          </a:p>
        </p:txBody>
      </p:sp>
      <p:sp>
        <p:nvSpPr>
          <p:cNvPr id="3" name="Content Placeholder 2"/>
          <p:cNvSpPr>
            <a:spLocks noGrp="1"/>
          </p:cNvSpPr>
          <p:nvPr>
            <p:ph idx="1"/>
          </p:nvPr>
        </p:nvSpPr>
        <p:spPr/>
        <p:txBody>
          <a:bodyPr/>
          <a:lstStyle/>
          <a:p>
            <a:r>
              <a:rPr lang="en-US" dirty="0" smtClean="0">
                <a:solidFill>
                  <a:srgbClr val="BFBFBF"/>
                </a:solidFill>
              </a:rPr>
              <a:t>Abstract</a:t>
            </a:r>
          </a:p>
          <a:p>
            <a:r>
              <a:rPr lang="en-US" dirty="0" smtClean="0">
                <a:solidFill>
                  <a:schemeClr val="bg1">
                    <a:lumMod val="75000"/>
                  </a:schemeClr>
                </a:solidFill>
              </a:rPr>
              <a:t>Transcription Factor Binding Sites</a:t>
            </a:r>
          </a:p>
          <a:p>
            <a:r>
              <a:rPr lang="en-US" dirty="0" err="1" smtClean="0"/>
              <a:t>ChIP-Seq</a:t>
            </a:r>
            <a:r>
              <a:rPr lang="en-US" dirty="0" smtClean="0"/>
              <a:t> Method</a:t>
            </a:r>
          </a:p>
          <a:p>
            <a:r>
              <a:rPr lang="en-US" dirty="0">
                <a:solidFill>
                  <a:schemeClr val="bg1">
                    <a:lumMod val="75000"/>
                  </a:schemeClr>
                </a:solidFill>
              </a:rPr>
              <a:t>TRANSFAC Based </a:t>
            </a:r>
            <a:r>
              <a:rPr lang="en-US" dirty="0" smtClean="0">
                <a:solidFill>
                  <a:schemeClr val="bg1">
                    <a:lumMod val="75000"/>
                  </a:schemeClr>
                </a:solidFill>
              </a:rPr>
              <a:t>PWM</a:t>
            </a:r>
          </a:p>
          <a:p>
            <a:r>
              <a:rPr lang="en-US" dirty="0" smtClean="0">
                <a:solidFill>
                  <a:schemeClr val="bg1">
                    <a:lumMod val="75000"/>
                  </a:schemeClr>
                </a:solidFill>
              </a:rPr>
              <a:t>PBM Mapping</a:t>
            </a:r>
          </a:p>
        </p:txBody>
      </p:sp>
    </p:spTree>
    <p:extLst>
      <p:ext uri="{BB962C8B-B14F-4D97-AF65-F5344CB8AC3E}">
        <p14:creationId xmlns:p14="http://schemas.microsoft.com/office/powerpoint/2010/main" xmlns="" val="1178129311"/>
      </p:ext>
    </p:extLst>
  </p:cSld>
  <p:clrMapOvr>
    <a:masterClrMapping/>
  </p:clrMapOvr>
  <p:transition>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558ED5"/>
                </a:solidFill>
              </a:rPr>
              <a:t>ChIP-</a:t>
            </a:r>
            <a:r>
              <a:rPr lang="en-US" dirty="0" err="1" smtClean="0">
                <a:solidFill>
                  <a:srgbClr val="558ED5"/>
                </a:solidFill>
              </a:rPr>
              <a:t>Seq</a:t>
            </a:r>
            <a:endParaRPr lang="en-US" dirty="0">
              <a:solidFill>
                <a:srgbClr val="558ED5"/>
              </a:solidFill>
            </a:endParaRPr>
          </a:p>
        </p:txBody>
      </p:sp>
      <p:sp>
        <p:nvSpPr>
          <p:cNvPr id="3" name="Content Placeholder 2"/>
          <p:cNvSpPr>
            <a:spLocks noGrp="1"/>
          </p:cNvSpPr>
          <p:nvPr>
            <p:ph idx="1"/>
          </p:nvPr>
        </p:nvSpPr>
        <p:spPr>
          <a:xfrm>
            <a:off x="457200" y="1545580"/>
            <a:ext cx="8229600" cy="4525963"/>
          </a:xfrm>
        </p:spPr>
        <p:txBody>
          <a:bodyPr/>
          <a:lstStyle/>
          <a:p>
            <a:endParaRPr lang="en-US" dirty="0" smtClean="0"/>
          </a:p>
          <a:p>
            <a:endParaRPr lang="en-US" dirty="0"/>
          </a:p>
          <a:p>
            <a:r>
              <a:rPr lang="en-US" dirty="0" err="1" smtClean="0"/>
              <a:t>ChIP-Seq</a:t>
            </a:r>
            <a:r>
              <a:rPr lang="en-US" dirty="0" smtClean="0"/>
              <a:t> is a method that is used primarily to determine how transcription factors and other chromatin associated proteins influence phenotype expression.</a:t>
            </a:r>
            <a:br>
              <a:rPr lang="en-US" dirty="0" smtClean="0"/>
            </a:br>
            <a:endParaRPr lang="en-US" dirty="0" smtClean="0"/>
          </a:p>
          <a:p>
            <a:pPr marL="0" indent="0">
              <a:buNone/>
            </a:pPr>
            <a:r>
              <a:rPr lang="en-US" dirty="0" smtClean="0"/>
              <a:t>          </a:t>
            </a:r>
            <a:endParaRPr lang="en-US" u="sng" dirty="0"/>
          </a:p>
        </p:txBody>
      </p:sp>
    </p:spTree>
    <p:extLst>
      <p:ext uri="{BB962C8B-B14F-4D97-AF65-F5344CB8AC3E}">
        <p14:creationId xmlns:p14="http://schemas.microsoft.com/office/powerpoint/2010/main" xmlns="" val="3596282871"/>
      </p:ext>
    </p:extLst>
  </p:cSld>
  <p:clrMapOvr>
    <a:masterClrMapping/>
  </p:clrMapOvr>
  <p:transition>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558ED5"/>
                </a:solidFill>
              </a:rPr>
              <a:t>Chromatin </a:t>
            </a:r>
            <a:r>
              <a:rPr lang="en-US" sz="3600" dirty="0" err="1">
                <a:solidFill>
                  <a:srgbClr val="558ED5"/>
                </a:solidFill>
              </a:rPr>
              <a:t>Immunoprecipitation</a:t>
            </a:r>
            <a:r>
              <a:rPr lang="en-US" sz="3600" dirty="0">
                <a:solidFill>
                  <a:srgbClr val="558ED5"/>
                </a:solidFill>
              </a:rPr>
              <a:t>(</a:t>
            </a:r>
            <a:r>
              <a:rPr lang="en-US" sz="3600" dirty="0" err="1">
                <a:solidFill>
                  <a:srgbClr val="558ED5"/>
                </a:solidFill>
              </a:rPr>
              <a:t>ChIP</a:t>
            </a:r>
            <a:r>
              <a:rPr lang="en-US" sz="3600" dirty="0">
                <a:solidFill>
                  <a:srgbClr val="558ED5"/>
                </a:solidFill>
              </a:rPr>
              <a:t>) </a:t>
            </a:r>
          </a:p>
        </p:txBody>
      </p:sp>
      <p:sp>
        <p:nvSpPr>
          <p:cNvPr id="3" name="Content Placeholder 2"/>
          <p:cNvSpPr>
            <a:spLocks noGrp="1"/>
          </p:cNvSpPr>
          <p:nvPr>
            <p:ph idx="1"/>
          </p:nvPr>
        </p:nvSpPr>
        <p:spPr/>
        <p:txBody>
          <a:bodyPr/>
          <a:lstStyle/>
          <a:p>
            <a:r>
              <a:rPr lang="en-US" dirty="0" smtClean="0"/>
              <a:t>Chromatin </a:t>
            </a:r>
            <a:r>
              <a:rPr lang="en-US" dirty="0" err="1" smtClean="0"/>
              <a:t>Immunoprecipitation</a:t>
            </a:r>
            <a:r>
              <a:rPr lang="en-US" dirty="0" smtClean="0"/>
              <a:t>(</a:t>
            </a:r>
            <a:r>
              <a:rPr lang="en-US" dirty="0" err="1" smtClean="0"/>
              <a:t>ChIP</a:t>
            </a:r>
            <a:r>
              <a:rPr lang="en-US" dirty="0" smtClean="0"/>
              <a:t>) used the process wherein specific cross linked DNA protein complexes are enriched using antibodies.</a:t>
            </a:r>
          </a:p>
          <a:p>
            <a:r>
              <a:rPr lang="en-US" dirty="0" smtClean="0"/>
              <a:t>Goal: determine whether specific proteins are associated with specific genome regions such as TRANSFAC or DNA binding sites</a:t>
            </a:r>
            <a:endParaRPr lang="en-US" dirty="0"/>
          </a:p>
        </p:txBody>
      </p:sp>
    </p:spTree>
    <p:extLst>
      <p:ext uri="{BB962C8B-B14F-4D97-AF65-F5344CB8AC3E}">
        <p14:creationId xmlns:p14="http://schemas.microsoft.com/office/powerpoint/2010/main" xmlns="" val="1380159839"/>
      </p:ext>
    </p:extLst>
  </p:cSld>
  <p:clrMapOvr>
    <a:masterClrMapping/>
  </p:clrMapOvr>
  <p:transition>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558ED5"/>
                </a:solidFill>
              </a:rPr>
              <a:t>Sequencing(</a:t>
            </a:r>
            <a:r>
              <a:rPr lang="en-US" dirty="0" err="1" smtClean="0">
                <a:solidFill>
                  <a:srgbClr val="558ED5"/>
                </a:solidFill>
              </a:rPr>
              <a:t>Seq</a:t>
            </a:r>
            <a:r>
              <a:rPr lang="en-US" dirty="0" smtClean="0">
                <a:solidFill>
                  <a:srgbClr val="558ED5"/>
                </a:solidFill>
              </a:rPr>
              <a:t>)	</a:t>
            </a:r>
            <a:endParaRPr lang="en-US" dirty="0">
              <a:solidFill>
                <a:srgbClr val="558ED5"/>
              </a:solidFill>
            </a:endParaRPr>
          </a:p>
        </p:txBody>
      </p:sp>
      <p:sp>
        <p:nvSpPr>
          <p:cNvPr id="3" name="Content Placeholder 2"/>
          <p:cNvSpPr>
            <a:spLocks noGrp="1"/>
          </p:cNvSpPr>
          <p:nvPr>
            <p:ph idx="1"/>
          </p:nvPr>
        </p:nvSpPr>
        <p:spPr/>
        <p:txBody>
          <a:bodyPr/>
          <a:lstStyle/>
          <a:p>
            <a:r>
              <a:rPr lang="en-US" dirty="0" smtClean="0"/>
              <a:t>Sequencing uses the result from </a:t>
            </a:r>
            <a:r>
              <a:rPr lang="en-US" dirty="0" err="1" smtClean="0"/>
              <a:t>ChIP</a:t>
            </a:r>
            <a:r>
              <a:rPr lang="en-US" dirty="0" smtClean="0"/>
              <a:t> and sequence the DNA fragments simultaneously using genome sequencer.</a:t>
            </a:r>
          </a:p>
          <a:p>
            <a:endParaRPr lang="en-US" dirty="0" smtClean="0"/>
          </a:p>
          <a:p>
            <a:r>
              <a:rPr lang="en-US" dirty="0" smtClean="0"/>
              <a:t>Achievable after size selection.</a:t>
            </a:r>
            <a:endParaRPr lang="en-US" dirty="0"/>
          </a:p>
        </p:txBody>
      </p:sp>
    </p:spTree>
    <p:extLst>
      <p:ext uri="{BB962C8B-B14F-4D97-AF65-F5344CB8AC3E}">
        <p14:creationId xmlns:p14="http://schemas.microsoft.com/office/powerpoint/2010/main" xmlns="" val="2693527684"/>
      </p:ext>
    </p:extLst>
  </p:cSld>
  <p:clrMapOvr>
    <a:masterClrMapping/>
  </p:clrMapOvr>
  <p:transition>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558ED5"/>
                </a:solidFill>
              </a:rPr>
              <a:t>Chromatin </a:t>
            </a:r>
            <a:r>
              <a:rPr lang="en-US" dirty="0" err="1" smtClean="0">
                <a:solidFill>
                  <a:srgbClr val="558ED5"/>
                </a:solidFill>
              </a:rPr>
              <a:t>Immunoprecipitation</a:t>
            </a:r>
            <a:r>
              <a:rPr lang="en-US" dirty="0" smtClean="0">
                <a:solidFill>
                  <a:srgbClr val="558ED5"/>
                </a:solidFill>
              </a:rPr>
              <a:t>(</a:t>
            </a:r>
            <a:r>
              <a:rPr lang="en-US" dirty="0" err="1" smtClean="0">
                <a:solidFill>
                  <a:srgbClr val="558ED5"/>
                </a:solidFill>
              </a:rPr>
              <a:t>ChIP</a:t>
            </a:r>
            <a:r>
              <a:rPr lang="en-US" dirty="0" smtClean="0">
                <a:solidFill>
                  <a:srgbClr val="558ED5"/>
                </a:solidFill>
              </a:rPr>
              <a:t>)</a:t>
            </a:r>
            <a:endParaRPr lang="en-US" dirty="0">
              <a:solidFill>
                <a:srgbClr val="558ED5"/>
              </a:solidFill>
            </a:endParaRPr>
          </a:p>
        </p:txBody>
      </p:sp>
      <p:pic>
        <p:nvPicPr>
          <p:cNvPr id="4" name="Content Placeholder 3" descr="Untitled-11.jpf"/>
          <p:cNvPicPr>
            <a:picLocks noGrp="1" noChangeAspect="1"/>
          </p:cNvPicPr>
          <p:nvPr>
            <p:ph idx="1"/>
          </p:nvPr>
        </p:nvPicPr>
        <p:blipFill rotWithShape="1">
          <a:blip r:embed="rId2">
            <a:extLst>
              <a:ext uri="{28A0092B-C50C-407E-A947-70E740481C1C}">
                <a14:useLocalDpi xmlns:a14="http://schemas.microsoft.com/office/drawing/2010/main" xmlns="" val="0"/>
              </a:ext>
            </a:extLst>
          </a:blip>
          <a:srcRect t="11436" b="11436"/>
          <a:stretch/>
        </p:blipFill>
        <p:spPr/>
      </p:pic>
    </p:spTree>
    <p:extLst>
      <p:ext uri="{BB962C8B-B14F-4D97-AF65-F5344CB8AC3E}">
        <p14:creationId xmlns:p14="http://schemas.microsoft.com/office/powerpoint/2010/main" xmlns="" val="3998389776"/>
      </p:ext>
    </p:extLst>
  </p:cSld>
  <p:clrMapOvr>
    <a:masterClrMapping/>
  </p:clrMapOvr>
  <p:transition>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7123"/>
            <a:ext cx="8229600" cy="449059"/>
          </a:xfrm>
        </p:spPr>
        <p:txBody>
          <a:bodyPr>
            <a:normAutofit fontScale="90000"/>
          </a:bodyPr>
          <a:lstStyle/>
          <a:p>
            <a:endParaRPr lang="en-US" dirty="0"/>
          </a:p>
        </p:txBody>
      </p:sp>
      <p:pic>
        <p:nvPicPr>
          <p:cNvPr id="6" name="Content Placeholder 5" descr="800px-Chip_sequencing2.png"/>
          <p:cNvPicPr>
            <a:picLocks noGrp="1" noChangeAspect="1"/>
          </p:cNvPicPr>
          <p:nvPr>
            <p:ph idx="1"/>
          </p:nvPr>
        </p:nvPicPr>
        <p:blipFill>
          <a:blip r:embed="rId2">
            <a:extLst>
              <a:ext uri="{28A0092B-C50C-407E-A947-70E740481C1C}">
                <a14:useLocalDpi xmlns:a14="http://schemas.microsoft.com/office/drawing/2010/main" xmlns="" val="0"/>
              </a:ext>
            </a:extLst>
          </a:blip>
          <a:srcRect t="13995" b="13995"/>
          <a:stretch>
            <a:fillRect/>
          </a:stretch>
        </p:blipFill>
        <p:spPr/>
      </p:pic>
    </p:spTree>
    <p:extLst>
      <p:ext uri="{BB962C8B-B14F-4D97-AF65-F5344CB8AC3E}">
        <p14:creationId xmlns:p14="http://schemas.microsoft.com/office/powerpoint/2010/main" xmlns="" val="2721644642"/>
      </p:ext>
    </p:extLst>
  </p:cSld>
  <p:clrMapOvr>
    <a:masterClrMapping/>
  </p:clrMapOvr>
  <p:transition>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solidFill>
                  <a:srgbClr val="558ED5"/>
                </a:solidFill>
              </a:rPr>
              <a:t>ChIP-Seq</a:t>
            </a:r>
            <a:r>
              <a:rPr lang="en-US" dirty="0">
                <a:solidFill>
                  <a:srgbClr val="558ED5"/>
                </a:solidFill>
              </a:rPr>
              <a:t> Method</a:t>
            </a:r>
            <a:br>
              <a:rPr lang="en-US" dirty="0">
                <a:solidFill>
                  <a:srgbClr val="558ED5"/>
                </a:solidFill>
              </a:rPr>
            </a:br>
            <a:endParaRPr lang="en-US" dirty="0">
              <a:solidFill>
                <a:srgbClr val="558ED5"/>
              </a:solidFill>
            </a:endParaRPr>
          </a:p>
        </p:txBody>
      </p:sp>
      <p:sp>
        <p:nvSpPr>
          <p:cNvPr id="3" name="Content Placeholder 2"/>
          <p:cNvSpPr>
            <a:spLocks noGrp="1"/>
          </p:cNvSpPr>
          <p:nvPr>
            <p:ph idx="1"/>
          </p:nvPr>
        </p:nvSpPr>
        <p:spPr/>
        <p:txBody>
          <a:bodyPr/>
          <a:lstStyle/>
          <a:p>
            <a:r>
              <a:rPr lang="en-US" dirty="0" smtClean="0"/>
              <a:t>Draw backs:</a:t>
            </a:r>
          </a:p>
          <a:p>
            <a:endParaRPr lang="en-US" dirty="0" smtClean="0"/>
          </a:p>
          <a:p>
            <a:pPr marL="800100" lvl="2" indent="0">
              <a:buNone/>
            </a:pPr>
            <a:r>
              <a:rPr lang="en-US" dirty="0" smtClean="0"/>
              <a:t>-can’t identify the precise binding site.</a:t>
            </a:r>
            <a:br>
              <a:rPr lang="en-US" dirty="0" smtClean="0"/>
            </a:br>
            <a:endParaRPr lang="en-US" dirty="0" smtClean="0"/>
          </a:p>
          <a:p>
            <a:pPr marL="800100" lvl="2" indent="0">
              <a:buNone/>
            </a:pPr>
            <a:r>
              <a:rPr lang="en-US" dirty="0" smtClean="0"/>
              <a:t>-technically difficult to implement</a:t>
            </a:r>
            <a:br>
              <a:rPr lang="en-US" dirty="0" smtClean="0"/>
            </a:br>
            <a:endParaRPr lang="en-US" dirty="0" smtClean="0"/>
          </a:p>
          <a:p>
            <a:pPr marL="800100" lvl="2" indent="0">
              <a:buNone/>
            </a:pPr>
            <a:r>
              <a:rPr lang="en-US" dirty="0" smtClean="0"/>
              <a:t>-are limited by lack of high quality antibodies for many transcription factors.</a:t>
            </a:r>
            <a:endParaRPr lang="en-US" dirty="0"/>
          </a:p>
        </p:txBody>
      </p:sp>
    </p:spTree>
    <p:extLst>
      <p:ext uri="{BB962C8B-B14F-4D97-AF65-F5344CB8AC3E}">
        <p14:creationId xmlns:p14="http://schemas.microsoft.com/office/powerpoint/2010/main" xmlns="" val="1481990304"/>
      </p:ext>
    </p:extLst>
  </p:cSld>
  <p:clrMapOvr>
    <a:masterClrMapping/>
  </p:clrMapOvr>
  <p:transition>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solidFill>
                  <a:srgbClr val="BFBFBF"/>
                </a:solidFill>
              </a:rPr>
              <a:t>Abstract</a:t>
            </a:r>
          </a:p>
          <a:p>
            <a:r>
              <a:rPr lang="en-US" dirty="0" smtClean="0">
                <a:solidFill>
                  <a:schemeClr val="bg1">
                    <a:lumMod val="75000"/>
                  </a:schemeClr>
                </a:solidFill>
              </a:rPr>
              <a:t>Transcription Factor Binding Sites</a:t>
            </a:r>
          </a:p>
          <a:p>
            <a:r>
              <a:rPr lang="en-US" dirty="0" err="1" smtClean="0">
                <a:solidFill>
                  <a:schemeClr val="bg1">
                    <a:lumMod val="75000"/>
                  </a:schemeClr>
                </a:solidFill>
              </a:rPr>
              <a:t>ChIP-Seq</a:t>
            </a:r>
            <a:r>
              <a:rPr lang="en-US" dirty="0" smtClean="0">
                <a:solidFill>
                  <a:schemeClr val="bg1">
                    <a:lumMod val="75000"/>
                  </a:schemeClr>
                </a:solidFill>
              </a:rPr>
              <a:t> Method</a:t>
            </a:r>
          </a:p>
          <a:p>
            <a:r>
              <a:rPr lang="en-US" dirty="0" smtClean="0"/>
              <a:t>PBM Mapping</a:t>
            </a:r>
          </a:p>
        </p:txBody>
      </p:sp>
    </p:spTree>
    <p:extLst>
      <p:ext uri="{BB962C8B-B14F-4D97-AF65-F5344CB8AC3E}">
        <p14:creationId xmlns:p14="http://schemas.microsoft.com/office/powerpoint/2010/main" xmlns="" val="2441525041"/>
      </p:ext>
    </p:extLst>
  </p:cSld>
  <p:clrMapOvr>
    <a:masterClrMapping/>
  </p:clrMapOvr>
  <p:transition>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558ED5"/>
                </a:solidFill>
              </a:rPr>
              <a:t>Position Weight Matrix(PWM)			</a:t>
            </a:r>
            <a:endParaRPr lang="en-US" dirty="0">
              <a:solidFill>
                <a:srgbClr val="558ED5"/>
              </a:solidFill>
            </a:endParaRPr>
          </a:p>
        </p:txBody>
      </p:sp>
      <p:sp>
        <p:nvSpPr>
          <p:cNvPr id="3" name="Content Placeholder 2"/>
          <p:cNvSpPr>
            <a:spLocks noGrp="1"/>
          </p:cNvSpPr>
          <p:nvPr>
            <p:ph idx="1"/>
          </p:nvPr>
        </p:nvSpPr>
        <p:spPr>
          <a:xfrm>
            <a:off x="457200" y="1299334"/>
            <a:ext cx="8229600" cy="5558666"/>
          </a:xfrm>
        </p:spPr>
        <p:txBody>
          <a:bodyPr>
            <a:normAutofit/>
          </a:bodyPr>
          <a:lstStyle/>
          <a:p>
            <a:r>
              <a:rPr lang="en-US" dirty="0" smtClean="0"/>
              <a:t>Use to represent patterns of sequences</a:t>
            </a:r>
          </a:p>
          <a:p>
            <a:endParaRPr lang="en-US" dirty="0" smtClean="0"/>
          </a:p>
          <a:p>
            <a:r>
              <a:rPr lang="en-US" dirty="0" smtClean="0"/>
              <a:t>Based on assumptions that :</a:t>
            </a:r>
          </a:p>
          <a:p>
            <a:pPr marL="400050" lvl="1" indent="0">
              <a:buNone/>
            </a:pPr>
            <a:r>
              <a:rPr lang="en-US" dirty="0" smtClean="0"/>
              <a:t>   -individual bases at binding sites are independent</a:t>
            </a:r>
          </a:p>
          <a:p>
            <a:pPr marL="400050" lvl="1" indent="0">
              <a:buNone/>
            </a:pPr>
            <a:r>
              <a:rPr lang="en-US" dirty="0" smtClean="0"/>
              <a:t>  -bases are additive at binding site</a:t>
            </a:r>
          </a:p>
          <a:p>
            <a:pPr marL="400050" lvl="1" indent="0">
              <a:buNone/>
            </a:pPr>
            <a:r>
              <a:rPr lang="en-US" dirty="0"/>
              <a:t> </a:t>
            </a:r>
            <a:r>
              <a:rPr lang="en-US" dirty="0" smtClean="0"/>
              <a:t>   -binding energy of the bases are proportional to      the frequency.</a:t>
            </a:r>
          </a:p>
          <a:p>
            <a:pPr marL="0" indent="0">
              <a:buNone/>
            </a:pPr>
            <a:endParaRPr lang="en-US" dirty="0">
              <a:solidFill>
                <a:srgbClr val="FF0000"/>
              </a:solidFill>
            </a:endParaRPr>
          </a:p>
        </p:txBody>
      </p:sp>
    </p:spTree>
    <p:extLst>
      <p:ext uri="{BB962C8B-B14F-4D97-AF65-F5344CB8AC3E}">
        <p14:creationId xmlns:p14="http://schemas.microsoft.com/office/powerpoint/2010/main" xmlns="" val="2729929936"/>
      </p:ext>
    </p:extLst>
  </p:cSld>
  <p:clrMapOvr>
    <a:masterClrMapping/>
  </p:clrMapOvr>
  <p:transition>
    <p:cu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37746"/>
          </a:xfrm>
        </p:spPr>
        <p:txBody>
          <a:bodyPr>
            <a:normAutofit/>
          </a:bodyPr>
          <a:lstStyle/>
          <a:p>
            <a:r>
              <a:rPr lang="en-US" sz="3600" dirty="0" smtClean="0">
                <a:solidFill>
                  <a:srgbClr val="558ED5"/>
                </a:solidFill>
              </a:rPr>
              <a:t>Finding PWM Pattern(motifs)</a:t>
            </a:r>
            <a:endParaRPr lang="en-US" sz="3600" dirty="0">
              <a:solidFill>
                <a:srgbClr val="558ED5"/>
              </a:solidFill>
            </a:endParaRPr>
          </a:p>
        </p:txBody>
      </p:sp>
      <p:sp>
        <p:nvSpPr>
          <p:cNvPr id="3" name="Content Placeholder 2"/>
          <p:cNvSpPr>
            <a:spLocks noGrp="1"/>
          </p:cNvSpPr>
          <p:nvPr>
            <p:ph idx="1"/>
          </p:nvPr>
        </p:nvSpPr>
        <p:spPr>
          <a:xfrm>
            <a:off x="457200" y="1174292"/>
            <a:ext cx="8229600" cy="5530094"/>
          </a:xfrm>
        </p:spPr>
        <p:txBody>
          <a:bodyPr>
            <a:noAutofit/>
          </a:bodyPr>
          <a:lstStyle/>
          <a:p>
            <a:r>
              <a:rPr lang="en-US" sz="2400" dirty="0" smtClean="0"/>
              <a:t>Brute force search:</a:t>
            </a:r>
          </a:p>
          <a:p>
            <a:pPr marL="400050" lvl="1" indent="0">
              <a:buNone/>
            </a:pPr>
            <a:r>
              <a:rPr lang="en-US" sz="2000" dirty="0" smtClean="0"/>
              <a:t>.Consider all the sequences(k-</a:t>
            </a:r>
            <a:r>
              <a:rPr lang="en-US" sz="2000" dirty="0" err="1" smtClean="0"/>
              <a:t>mers</a:t>
            </a:r>
            <a:r>
              <a:rPr lang="en-US" sz="2000" dirty="0" smtClean="0"/>
              <a:t>), compute PWM M for each subset of k-</a:t>
            </a:r>
            <a:r>
              <a:rPr lang="en-US" sz="2000" dirty="0" err="1" smtClean="0"/>
              <a:t>mers</a:t>
            </a:r>
            <a:r>
              <a:rPr lang="en-US" sz="2000" dirty="0" smtClean="0"/>
              <a:t>.</a:t>
            </a:r>
          </a:p>
          <a:p>
            <a:pPr marL="400050" lvl="1" indent="0">
              <a:buNone/>
            </a:pPr>
            <a:r>
              <a:rPr lang="en-US" sz="2000" dirty="0" smtClean="0"/>
              <a:t>.Find M which </a:t>
            </a:r>
            <a:r>
              <a:rPr lang="en-US" sz="2000" dirty="0" err="1" smtClean="0"/>
              <a:t>maximiizes</a:t>
            </a:r>
            <a:r>
              <a:rPr lang="en-US" sz="2000" dirty="0" smtClean="0"/>
              <a:t> the expected relative entropy</a:t>
            </a:r>
            <a:endParaRPr lang="en-US" sz="2000" dirty="0"/>
          </a:p>
          <a:p>
            <a:r>
              <a:rPr lang="en-US" sz="2400" dirty="0" smtClean="0"/>
              <a:t>Recast the problem:</a:t>
            </a:r>
          </a:p>
          <a:p>
            <a:pPr marL="400050" lvl="1" indent="0">
              <a:buNone/>
            </a:pPr>
            <a:r>
              <a:rPr lang="en-US" sz="2000" dirty="0" smtClean="0"/>
              <a:t>.Estimate the parameters M(PWM), P(position) and b (background probability) that best explain the sample sequence S.</a:t>
            </a:r>
          </a:p>
          <a:p>
            <a:pPr marL="400050" lvl="1" indent="0">
              <a:buNone/>
            </a:pPr>
            <a:r>
              <a:rPr lang="en-US" sz="2000" dirty="0" smtClean="0"/>
              <a:t>.Maximize the log likelihood l(M, p, b |S)</a:t>
            </a:r>
            <a:endParaRPr lang="en-US" sz="2000" dirty="0"/>
          </a:p>
          <a:p>
            <a:r>
              <a:rPr lang="en-US" sz="2400" dirty="0" smtClean="0"/>
              <a:t>Strategy: iterate the following two steps</a:t>
            </a:r>
          </a:p>
          <a:p>
            <a:pPr marL="400050" lvl="1" indent="0">
              <a:buNone/>
            </a:pPr>
            <a:r>
              <a:rPr lang="en-US" sz="2000" dirty="0" smtClean="0"/>
              <a:t>.Estimate p from (M</a:t>
            </a:r>
            <a:r>
              <a:rPr lang="en-US" sz="2000" dirty="0"/>
              <a:t>,</a:t>
            </a:r>
            <a:r>
              <a:rPr lang="en-US" sz="2000" dirty="0" smtClean="0"/>
              <a:t> b) and S</a:t>
            </a:r>
          </a:p>
          <a:p>
            <a:pPr marL="400050" lvl="1" indent="0">
              <a:buNone/>
            </a:pPr>
            <a:r>
              <a:rPr lang="en-US" sz="2000" dirty="0" smtClean="0"/>
              <a:t>.Estimate (M, b) from p and S</a:t>
            </a:r>
          </a:p>
          <a:p>
            <a:pPr marL="53975" indent="0">
              <a:buNone/>
            </a:pPr>
            <a:r>
              <a:rPr lang="en-US" sz="1800" dirty="0" smtClean="0">
                <a:solidFill>
                  <a:srgbClr val="FF0000"/>
                </a:solidFill>
              </a:rPr>
              <a:t>This yield a family of solutions, depending on the estimation technique</a:t>
            </a:r>
          </a:p>
        </p:txBody>
      </p:sp>
      <p:sp>
        <p:nvSpPr>
          <p:cNvPr id="4" name="TextBox 3"/>
          <p:cNvSpPr txBox="1"/>
          <p:nvPr/>
        </p:nvSpPr>
        <p:spPr>
          <a:xfrm>
            <a:off x="10118654" y="1037746"/>
            <a:ext cx="184666"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xmlns="" val="4084990648"/>
      </p:ext>
    </p:extLst>
  </p:cSld>
  <p:clrMapOvr>
    <a:masterClrMapping/>
  </p:clrMapOvr>
  <p:transition>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558ED5"/>
                </a:solidFill>
              </a:rPr>
              <a:t>Position Weight Matrix(PWM)	</a:t>
            </a:r>
          </a:p>
        </p:txBody>
      </p:sp>
      <p:sp>
        <p:nvSpPr>
          <p:cNvPr id="3" name="Content Placeholder 2"/>
          <p:cNvSpPr>
            <a:spLocks noGrp="1"/>
          </p:cNvSpPr>
          <p:nvPr>
            <p:ph idx="1"/>
          </p:nvPr>
        </p:nvSpPr>
        <p:spPr/>
        <p:txBody>
          <a:bodyPr/>
          <a:lstStyle/>
          <a:p>
            <a:r>
              <a:rPr lang="en-US" dirty="0" smtClean="0"/>
              <a:t>Disadvantages:</a:t>
            </a:r>
          </a:p>
          <a:p>
            <a:pPr marL="400050" lvl="1" indent="0">
              <a:buNone/>
            </a:pPr>
            <a:r>
              <a:rPr lang="en-US" dirty="0" smtClean="0">
                <a:solidFill>
                  <a:srgbClr val="FF0000"/>
                </a:solidFill>
              </a:rPr>
              <a:t>-There </a:t>
            </a:r>
            <a:r>
              <a:rPr lang="en-US" dirty="0">
                <a:solidFill>
                  <a:srgbClr val="FF0000"/>
                </a:solidFill>
              </a:rPr>
              <a:t>are in existence transcription factors with resulting binding affinity that are both interdependent and non-additive</a:t>
            </a:r>
            <a:r>
              <a:rPr lang="en-US" dirty="0" smtClean="0">
                <a:solidFill>
                  <a:srgbClr val="FF0000"/>
                </a:solidFill>
              </a:rPr>
              <a:t>.</a:t>
            </a:r>
          </a:p>
          <a:p>
            <a:pPr marL="400050" lvl="1" indent="0">
              <a:buNone/>
            </a:pPr>
            <a:r>
              <a:rPr lang="en-US" dirty="0" smtClean="0">
                <a:solidFill>
                  <a:srgbClr val="FF0000"/>
                </a:solidFill>
              </a:rPr>
              <a:t/>
            </a:r>
            <a:br>
              <a:rPr lang="en-US" dirty="0" smtClean="0">
                <a:solidFill>
                  <a:srgbClr val="FF0000"/>
                </a:solidFill>
              </a:rPr>
            </a:br>
            <a:r>
              <a:rPr lang="en-US" dirty="0" smtClean="0">
                <a:solidFill>
                  <a:srgbClr val="000000"/>
                </a:solidFill>
              </a:rPr>
              <a:t>-predictive power is low.</a:t>
            </a:r>
          </a:p>
          <a:p>
            <a:pPr marL="400050" lvl="1" indent="0">
              <a:buNone/>
            </a:pPr>
            <a:r>
              <a:rPr lang="en-US" dirty="0" smtClean="0">
                <a:solidFill>
                  <a:srgbClr val="000000"/>
                </a:solidFill>
              </a:rPr>
              <a:t/>
            </a:r>
            <a:br>
              <a:rPr lang="en-US" dirty="0" smtClean="0">
                <a:solidFill>
                  <a:srgbClr val="000000"/>
                </a:solidFill>
              </a:rPr>
            </a:br>
            <a:r>
              <a:rPr lang="en-US" dirty="0" smtClean="0">
                <a:solidFill>
                  <a:srgbClr val="000000"/>
                </a:solidFill>
              </a:rPr>
              <a:t>-poor scores</a:t>
            </a:r>
            <a:endParaRPr lang="en-US" dirty="0">
              <a:solidFill>
                <a:srgbClr val="000000"/>
              </a:solidFill>
            </a:endParaRPr>
          </a:p>
          <a:p>
            <a:endParaRPr lang="en-US" dirty="0"/>
          </a:p>
        </p:txBody>
      </p:sp>
    </p:spTree>
    <p:extLst>
      <p:ext uri="{BB962C8B-B14F-4D97-AF65-F5344CB8AC3E}">
        <p14:creationId xmlns:p14="http://schemas.microsoft.com/office/powerpoint/2010/main" xmlns="" val="1905333039"/>
      </p:ext>
    </p:extLst>
  </p:cSld>
  <p:clrMapOvr>
    <a:masterClrMapping/>
  </p:clrMapOvr>
  <p:transition>
    <p:cu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558ED5"/>
                </a:solidFill>
              </a:rPr>
              <a:t>Protein Binding Microarray(PBM)</a:t>
            </a:r>
            <a:endParaRPr lang="en-US" dirty="0">
              <a:solidFill>
                <a:srgbClr val="558ED5"/>
              </a:solidFill>
            </a:endParaRPr>
          </a:p>
        </p:txBody>
      </p:sp>
      <p:sp>
        <p:nvSpPr>
          <p:cNvPr id="3" name="Content Placeholder 2"/>
          <p:cNvSpPr>
            <a:spLocks noGrp="1"/>
          </p:cNvSpPr>
          <p:nvPr>
            <p:ph idx="1"/>
          </p:nvPr>
        </p:nvSpPr>
        <p:spPr/>
        <p:txBody>
          <a:bodyPr/>
          <a:lstStyle/>
          <a:p>
            <a:r>
              <a:rPr lang="en-US" dirty="0" smtClean="0"/>
              <a:t>PBM </a:t>
            </a:r>
            <a:r>
              <a:rPr lang="en-US" sz="2400" dirty="0" smtClean="0"/>
              <a:t>use mathematically constructed set of proteins(</a:t>
            </a:r>
            <a:r>
              <a:rPr lang="en-US" sz="2400" dirty="0" err="1" smtClean="0"/>
              <a:t>oligos</a:t>
            </a:r>
            <a:r>
              <a:rPr lang="en-US" sz="2400" dirty="0" smtClean="0"/>
              <a:t>)</a:t>
            </a:r>
            <a:r>
              <a:rPr lang="en-US" sz="2400" dirty="0"/>
              <a:t> </a:t>
            </a:r>
            <a:r>
              <a:rPr lang="en-US" sz="2400" dirty="0" smtClean="0"/>
              <a:t>to quantitatively measure protein- DNA binding for all possible </a:t>
            </a:r>
            <a:r>
              <a:rPr lang="en-US" sz="2400" dirty="0" err="1" smtClean="0"/>
              <a:t>octamers</a:t>
            </a:r>
            <a:r>
              <a:rPr lang="en-US" sz="2400" dirty="0" smtClean="0"/>
              <a:t>.</a:t>
            </a:r>
          </a:p>
          <a:p>
            <a:endParaRPr lang="en-US" sz="2400" dirty="0" smtClean="0"/>
          </a:p>
          <a:p>
            <a:r>
              <a:rPr lang="en-US" sz="2400" dirty="0" smtClean="0"/>
              <a:t>It can be used to create composite TFBS maps across the entire genome.</a:t>
            </a:r>
            <a:endParaRPr lang="en-US" sz="2400" dirty="0"/>
          </a:p>
        </p:txBody>
      </p:sp>
    </p:spTree>
    <p:extLst>
      <p:ext uri="{BB962C8B-B14F-4D97-AF65-F5344CB8AC3E}">
        <p14:creationId xmlns:p14="http://schemas.microsoft.com/office/powerpoint/2010/main" xmlns="" val="3534206537"/>
      </p:ext>
    </p:extLst>
  </p:cSld>
  <p:clrMapOvr>
    <a:masterClrMapping/>
  </p:clrMapOvr>
  <p:transition>
    <p:cu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7" name="Content Placeholder 6" descr="Untitled-1.jpf"/>
          <p:cNvPicPr>
            <a:picLocks noGrp="1" noChangeAspect="1"/>
          </p:cNvPicPr>
          <p:nvPr>
            <p:ph idx="1"/>
          </p:nvPr>
        </p:nvPicPr>
        <p:blipFill>
          <a:blip r:embed="rId2">
            <a:extLst>
              <a:ext uri="{28A0092B-C50C-407E-A947-70E740481C1C}">
                <a14:useLocalDpi xmlns:a14="http://schemas.microsoft.com/office/drawing/2010/main" xmlns="" val="0"/>
              </a:ext>
            </a:extLst>
          </a:blip>
          <a:srcRect t="10058" b="10058"/>
          <a:stretch>
            <a:fillRect/>
          </a:stretch>
        </p:blipFill>
        <p:spPr/>
      </p:pic>
    </p:spTree>
    <p:extLst>
      <p:ext uri="{BB962C8B-B14F-4D97-AF65-F5344CB8AC3E}">
        <p14:creationId xmlns:p14="http://schemas.microsoft.com/office/powerpoint/2010/main" xmlns="" val="3645930945"/>
      </p:ext>
    </p:extLst>
  </p:cSld>
  <p:clrMapOvr>
    <a:masterClrMapping/>
  </p:clrMapOvr>
  <p:transition>
    <p:cut/>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Breeze">
      <a:dk1>
        <a:sysClr val="windowText" lastClr="000000"/>
      </a:dk1>
      <a:lt1>
        <a:sysClr val="window" lastClr="FFFFFF"/>
      </a:lt1>
      <a:dk2>
        <a:srgbClr val="09213B"/>
      </a:dk2>
      <a:lt2>
        <a:srgbClr val="D5EDF4"/>
      </a:lt2>
      <a:accent1>
        <a:srgbClr val="2C7C9F"/>
      </a:accent1>
      <a:accent2>
        <a:srgbClr val="244A58"/>
      </a:accent2>
      <a:accent3>
        <a:srgbClr val="E2751D"/>
      </a:accent3>
      <a:accent4>
        <a:srgbClr val="FFB400"/>
      </a:accent4>
      <a:accent5>
        <a:srgbClr val="7EB606"/>
      </a:accent5>
      <a:accent6>
        <a:srgbClr val="C00000"/>
      </a:accent6>
      <a:hlink>
        <a:srgbClr val="7030A0"/>
      </a:hlink>
      <a:folHlink>
        <a:srgbClr val="00B0F0"/>
      </a:folHlink>
    </a:clrScheme>
    <a:fontScheme name="Breeze">
      <a:majorFont>
        <a:latin typeface="News Gothic MT"/>
        <a:ea typeface=""/>
        <a:cs typeface=""/>
        <a:font script="Jpan" typeface="ＭＳ Ｐゴシック"/>
      </a:majorFont>
      <a:minorFont>
        <a:latin typeface="News Gothic MT"/>
        <a:ea typeface=""/>
        <a:cs typeface=""/>
        <a:font script="Jpan" typeface="ＭＳ Ｐゴシック"/>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Breeze.thmx</Template>
  <TotalTime>1697</TotalTime>
  <Words>614</Words>
  <Application>Microsoft Office PowerPoint</Application>
  <PresentationFormat>如螢幕大小 (4:3)</PresentationFormat>
  <Paragraphs>92</Paragraphs>
  <Slides>21</Slides>
  <Notes>1</Notes>
  <HiddenSlides>0</HiddenSlides>
  <MMClips>0</MMClips>
  <ScaleCrop>false</ScaleCrop>
  <HeadingPairs>
    <vt:vector size="4" baseType="variant">
      <vt:variant>
        <vt:lpstr>佈景主題</vt:lpstr>
      </vt:variant>
      <vt:variant>
        <vt:i4>1</vt:i4>
      </vt:variant>
      <vt:variant>
        <vt:lpstr>投影片標題</vt:lpstr>
      </vt:variant>
      <vt:variant>
        <vt:i4>21</vt:i4>
      </vt:variant>
    </vt:vector>
  </HeadingPairs>
  <TitlesOfParts>
    <vt:vector size="22" baseType="lpstr">
      <vt:lpstr>Breeze</vt:lpstr>
      <vt:lpstr>Novel Computational Analysis of Protein Binding Array Data </vt:lpstr>
      <vt:lpstr>Overview</vt:lpstr>
      <vt:lpstr>投影片 3</vt:lpstr>
      <vt:lpstr>Abstract   </vt:lpstr>
      <vt:lpstr>Abstract</vt:lpstr>
      <vt:lpstr>投影片 6</vt:lpstr>
      <vt:lpstr>Transcription Factor(TF) Binding Sites </vt:lpstr>
      <vt:lpstr>Transcription Factor(TF) Binding Sites</vt:lpstr>
      <vt:lpstr> </vt:lpstr>
      <vt:lpstr>ChIP-Seq</vt:lpstr>
      <vt:lpstr>Chromatin Immunoprecipitation(ChIP) </vt:lpstr>
      <vt:lpstr>Sequencing(Seq) </vt:lpstr>
      <vt:lpstr>Chromatin Immunoprecipitation(ChIP)</vt:lpstr>
      <vt:lpstr>投影片 14</vt:lpstr>
      <vt:lpstr>ChIP-Seq Method </vt:lpstr>
      <vt:lpstr>投影片 16</vt:lpstr>
      <vt:lpstr>Position Weight Matrix(PWM)   </vt:lpstr>
      <vt:lpstr>Finding PWM Pattern(motifs)</vt:lpstr>
      <vt:lpstr>Position Weight Matrix(PWM) </vt:lpstr>
      <vt:lpstr>Protein Binding Microarray(PBM)</vt:lpstr>
      <vt:lpstr>投影片 21</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Novel Computational Analysis of Protein Binding Array Data</dc:title>
  <dc:creator>Mac</dc:creator>
  <cp:lastModifiedBy>Guest</cp:lastModifiedBy>
  <cp:revision>48</cp:revision>
  <dcterms:created xsi:type="dcterms:W3CDTF">2011-11-10T02:38:20Z</dcterms:created>
  <dcterms:modified xsi:type="dcterms:W3CDTF">2011-11-14T13:12:15Z</dcterms:modified>
</cp:coreProperties>
</file>