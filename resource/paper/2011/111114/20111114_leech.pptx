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72" r:id="rId4"/>
    <p:sldId id="258" r:id="rId5"/>
    <p:sldId id="259" r:id="rId6"/>
    <p:sldId id="267" r:id="rId7"/>
    <p:sldId id="260" r:id="rId8"/>
    <p:sldId id="261" r:id="rId9"/>
    <p:sldId id="262" r:id="rId10"/>
    <p:sldId id="263" r:id="rId11"/>
    <p:sldId id="264" r:id="rId12"/>
    <p:sldId id="265" r:id="rId13"/>
    <p:sldId id="271" r:id="rId14"/>
    <p:sldId id="268" r:id="rId15"/>
    <p:sldId id="269" r:id="rId16"/>
    <p:sldId id="270" r:id="rId17"/>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576" y="-90"/>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bg>
      <p:bgRef idx="1001">
        <a:schemeClr val="bg1"/>
      </p:bgRef>
    </p:bg>
    <p:spTree>
      <p:nvGrpSpPr>
        <p:cNvPr id="1" name=""/>
        <p:cNvGrpSpPr/>
        <p:nvPr/>
      </p:nvGrpSpPr>
      <p:grpSpPr>
        <a:xfrm>
          <a:off x="0" y="0"/>
          <a:ext cx="0" cy="0"/>
          <a:chOff x="0" y="0"/>
          <a:chExt cx="0" cy="0"/>
        </a:xfrm>
      </p:grpSpPr>
      <p:sp>
        <p:nvSpPr>
          <p:cNvPr id="8" name="標題 7"/>
          <p:cNvSpPr>
            <a:spLocks noGrp="1"/>
          </p:cNvSpPr>
          <p:nvPr>
            <p:ph type="ctrTitle"/>
          </p:nvPr>
        </p:nvSpPr>
        <p:spPr>
          <a:xfrm>
            <a:off x="2286000" y="3124200"/>
            <a:ext cx="6172200" cy="1894362"/>
          </a:xfrm>
        </p:spPr>
        <p:txBody>
          <a:bodyPr/>
          <a:lstStyle>
            <a:lvl1pPr>
              <a:defRPr b="1"/>
            </a:lvl1pPr>
          </a:lstStyle>
          <a:p>
            <a:r>
              <a:rPr kumimoji="0" lang="zh-TW" altLang="en-US" smtClean="0"/>
              <a:t>按一下以編輯母片標題樣式</a:t>
            </a:r>
            <a:endParaRPr kumimoji="0" lang="en-US"/>
          </a:p>
        </p:txBody>
      </p:sp>
      <p:sp>
        <p:nvSpPr>
          <p:cNvPr id="9" name="副標題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TW" altLang="en-US" smtClean="0"/>
              <a:t>按一下以編輯母片副標題樣式</a:t>
            </a:r>
            <a:endParaRPr kumimoji="0" lang="en-US"/>
          </a:p>
        </p:txBody>
      </p:sp>
      <p:sp>
        <p:nvSpPr>
          <p:cNvPr id="28" name="日期版面配置區 27"/>
          <p:cNvSpPr>
            <a:spLocks noGrp="1"/>
          </p:cNvSpPr>
          <p:nvPr>
            <p:ph type="dt" sz="half" idx="10"/>
          </p:nvPr>
        </p:nvSpPr>
        <p:spPr bwMode="auto">
          <a:xfrm rot="5400000">
            <a:off x="7764621" y="1174097"/>
            <a:ext cx="2286000" cy="381000"/>
          </a:xfrm>
        </p:spPr>
        <p:txBody>
          <a:bodyPr/>
          <a:lstStyle/>
          <a:p>
            <a:fld id="{7557E85F-EEE9-4C84-B15A-5416F0C82923}" type="datetimeFigureOut">
              <a:rPr lang="zh-TW" altLang="en-US" smtClean="0"/>
              <a:pPr/>
              <a:t>2011/11/14</a:t>
            </a:fld>
            <a:endParaRPr lang="zh-TW" altLang="en-US"/>
          </a:p>
        </p:txBody>
      </p:sp>
      <p:sp>
        <p:nvSpPr>
          <p:cNvPr id="17" name="頁尾版面配置區 16"/>
          <p:cNvSpPr>
            <a:spLocks noGrp="1"/>
          </p:cNvSpPr>
          <p:nvPr>
            <p:ph type="ftr" sz="quarter" idx="11"/>
          </p:nvPr>
        </p:nvSpPr>
        <p:spPr bwMode="auto">
          <a:xfrm rot="5400000">
            <a:off x="7077269" y="4181669"/>
            <a:ext cx="3657600" cy="384048"/>
          </a:xfrm>
        </p:spPr>
        <p:txBody>
          <a:bodyPr/>
          <a:lstStyle/>
          <a:p>
            <a:endParaRPr lang="zh-TW" altLang="en-US"/>
          </a:p>
        </p:txBody>
      </p:sp>
      <p:sp>
        <p:nvSpPr>
          <p:cNvPr id="10" name="矩形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矩形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矩形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矩形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直線接點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直線接點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直線接點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直線接點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直線接點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直線接點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矩形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橢圓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橢圓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橢圓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橢圓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橢圓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投影片編號版面配置區 28"/>
          <p:cNvSpPr>
            <a:spLocks noGrp="1"/>
          </p:cNvSpPr>
          <p:nvPr>
            <p:ph type="sldNum" sz="quarter" idx="12"/>
          </p:nvPr>
        </p:nvSpPr>
        <p:spPr bwMode="auto">
          <a:xfrm>
            <a:off x="1325544" y="4928702"/>
            <a:ext cx="609600" cy="517524"/>
          </a:xfrm>
        </p:spPr>
        <p:txBody>
          <a:bodyPr/>
          <a:lstStyle/>
          <a:p>
            <a:fld id="{194887B0-7C9B-4E56-B5CF-9D70207BECBF}" type="slidenum">
              <a:rPr lang="zh-TW" altLang="en-US" smtClean="0"/>
              <a:pPr/>
              <a:t>‹#›</a:t>
            </a:fld>
            <a:endParaRPr lang="zh-TW"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smtClean="0"/>
              <a:t>按一下以編輯母片標題樣式</a:t>
            </a:r>
            <a:endParaRPr kumimoji="0" lang="en-US"/>
          </a:p>
        </p:txBody>
      </p:sp>
      <p:sp>
        <p:nvSpPr>
          <p:cNvPr id="8" name="內容版面配置區 7"/>
          <p:cNvSpPr>
            <a:spLocks noGrp="1"/>
          </p:cNvSpPr>
          <p:nvPr>
            <p:ph sz="quarter" idx="1"/>
          </p:nvPr>
        </p:nvSpPr>
        <p:spPr>
          <a:xfrm>
            <a:off x="457200" y="1600200"/>
            <a:ext cx="7467600" cy="4873752"/>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7" name="日期版面配置區 6"/>
          <p:cNvSpPr>
            <a:spLocks noGrp="1"/>
          </p:cNvSpPr>
          <p:nvPr>
            <p:ph type="dt" sz="half" idx="14"/>
          </p:nvPr>
        </p:nvSpPr>
        <p:spPr/>
        <p:txBody>
          <a:bodyPr rtlCol="0"/>
          <a:lstStyle/>
          <a:p>
            <a:fld id="{7557E85F-EEE9-4C84-B15A-5416F0C82923}" type="datetimeFigureOut">
              <a:rPr lang="zh-TW" altLang="en-US" smtClean="0"/>
              <a:pPr/>
              <a:t>2011/11/14</a:t>
            </a:fld>
            <a:endParaRPr lang="zh-TW" altLang="en-US"/>
          </a:p>
        </p:txBody>
      </p:sp>
      <p:sp>
        <p:nvSpPr>
          <p:cNvPr id="9" name="投影片編號版面配置區 8"/>
          <p:cNvSpPr>
            <a:spLocks noGrp="1"/>
          </p:cNvSpPr>
          <p:nvPr>
            <p:ph type="sldNum" sz="quarter" idx="15"/>
          </p:nvPr>
        </p:nvSpPr>
        <p:spPr/>
        <p:txBody>
          <a:bodyPr rtlCol="0"/>
          <a:lstStyle/>
          <a:p>
            <a:fld id="{194887B0-7C9B-4E56-B5CF-9D70207BECBF}" type="slidenum">
              <a:rPr lang="zh-TW" altLang="en-US" smtClean="0"/>
              <a:pPr/>
              <a:t>‹#›</a:t>
            </a:fld>
            <a:endParaRPr lang="zh-TW" altLang="en-US"/>
          </a:p>
        </p:txBody>
      </p:sp>
      <p:sp>
        <p:nvSpPr>
          <p:cNvPr id="10" name="頁尾版面配置區 9"/>
          <p:cNvSpPr>
            <a:spLocks noGrp="1"/>
          </p:cNvSpPr>
          <p:nvPr>
            <p:ph type="ftr" sz="quarter" idx="16"/>
          </p:nvPr>
        </p:nvSpPr>
        <p:spPr/>
        <p:txBody>
          <a:bodyPr rtlCol="0"/>
          <a:lstStyle/>
          <a:p>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bg>
      <p:bgRef idx="1001">
        <a:schemeClr val="bg2"/>
      </p:bgRef>
    </p:bg>
    <p:spTree>
      <p:nvGrpSpPr>
        <p:cNvPr id="1" name=""/>
        <p:cNvGrpSpPr/>
        <p:nvPr/>
      </p:nvGrpSpPr>
      <p:grpSpPr>
        <a:xfrm>
          <a:off x="0" y="0"/>
          <a:ext cx="0" cy="0"/>
          <a:chOff x="0" y="0"/>
          <a:chExt cx="0" cy="0"/>
        </a:xfrm>
      </p:grpSpPr>
      <p:sp>
        <p:nvSpPr>
          <p:cNvPr id="2" name="標題 1"/>
          <p:cNvSpPr>
            <a:spLocks noGrp="1"/>
          </p:cNvSpPr>
          <p:nvPr>
            <p:ph type="title"/>
          </p:nvPr>
        </p:nvSpPr>
        <p:spPr>
          <a:xfrm>
            <a:off x="2286000" y="2895600"/>
            <a:ext cx="6172200" cy="2053590"/>
          </a:xfrm>
        </p:spPr>
        <p:txBody>
          <a:bodyPr/>
          <a:lstStyle>
            <a:lvl1pPr algn="l">
              <a:buNone/>
              <a:defRPr sz="3000" b="1" cap="small" baseline="0"/>
            </a:lvl1pPr>
          </a:lstStyle>
          <a:p>
            <a:r>
              <a:rPr kumimoji="0" lang="zh-TW" altLang="en-US" smtClean="0"/>
              <a:t>按一下以編輯母片標題樣式</a:t>
            </a:r>
            <a:endParaRPr kumimoji="0" lang="en-US"/>
          </a:p>
        </p:txBody>
      </p:sp>
      <p:sp>
        <p:nvSpPr>
          <p:cNvPr id="3" name="文字版面配置區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TW" altLang="en-US" smtClean="0"/>
              <a:t>按一下以編輯母片文字樣式</a:t>
            </a:r>
          </a:p>
        </p:txBody>
      </p:sp>
      <p:sp>
        <p:nvSpPr>
          <p:cNvPr id="4" name="日期版面配置區 3"/>
          <p:cNvSpPr>
            <a:spLocks noGrp="1"/>
          </p:cNvSpPr>
          <p:nvPr>
            <p:ph type="dt" sz="half" idx="10"/>
          </p:nvPr>
        </p:nvSpPr>
        <p:spPr bwMode="auto">
          <a:xfrm rot="5400000">
            <a:off x="7763256" y="1170432"/>
            <a:ext cx="2286000" cy="381000"/>
          </a:xfrm>
        </p:spPr>
        <p:txBody>
          <a:bodyPr/>
          <a:lstStyle/>
          <a:p>
            <a:fld id="{7557E85F-EEE9-4C84-B15A-5416F0C82923}" type="datetimeFigureOut">
              <a:rPr lang="zh-TW" altLang="en-US" smtClean="0"/>
              <a:pPr/>
              <a:t>2011/11/14</a:t>
            </a:fld>
            <a:endParaRPr lang="zh-TW" altLang="en-US"/>
          </a:p>
        </p:txBody>
      </p:sp>
      <p:sp>
        <p:nvSpPr>
          <p:cNvPr id="5" name="頁尾版面配置區 4"/>
          <p:cNvSpPr>
            <a:spLocks noGrp="1"/>
          </p:cNvSpPr>
          <p:nvPr>
            <p:ph type="ftr" sz="quarter" idx="11"/>
          </p:nvPr>
        </p:nvSpPr>
        <p:spPr bwMode="auto">
          <a:xfrm rot="5400000">
            <a:off x="7077456" y="4178808"/>
            <a:ext cx="3657600" cy="384048"/>
          </a:xfrm>
        </p:spPr>
        <p:txBody>
          <a:bodyPr/>
          <a:lstStyle/>
          <a:p>
            <a:endParaRPr lang="zh-TW" altLang="en-US"/>
          </a:p>
        </p:txBody>
      </p:sp>
      <p:sp>
        <p:nvSpPr>
          <p:cNvPr id="9" name="矩形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矩形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矩形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直線接點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直線接點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直線接點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直線接點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直線接點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矩形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橢圓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橢圓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橢圓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橢圓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橢圓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直線接點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投影片編號版面配置區 5"/>
          <p:cNvSpPr>
            <a:spLocks noGrp="1"/>
          </p:cNvSpPr>
          <p:nvPr>
            <p:ph type="sldNum" sz="quarter" idx="12"/>
          </p:nvPr>
        </p:nvSpPr>
        <p:spPr bwMode="auto">
          <a:xfrm>
            <a:off x="1340616" y="4928702"/>
            <a:ext cx="609600" cy="517524"/>
          </a:xfrm>
        </p:spPr>
        <p:txBody>
          <a:bodyPr/>
          <a:lstStyle/>
          <a:p>
            <a:fld id="{194887B0-7C9B-4E56-B5CF-9D70207BECBF}" type="slidenum">
              <a:rPr lang="zh-TW" altLang="en-US" smtClean="0"/>
              <a:pPr/>
              <a:t>‹#›</a:t>
            </a:fld>
            <a:endParaRPr lang="zh-TW"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smtClean="0"/>
              <a:t>按一下以編輯母片標題樣式</a:t>
            </a:r>
            <a:endParaRPr kumimoji="0" lang="en-US"/>
          </a:p>
        </p:txBody>
      </p:sp>
      <p:sp>
        <p:nvSpPr>
          <p:cNvPr id="5" name="日期版面配置區 4"/>
          <p:cNvSpPr>
            <a:spLocks noGrp="1"/>
          </p:cNvSpPr>
          <p:nvPr>
            <p:ph type="dt" sz="half" idx="10"/>
          </p:nvPr>
        </p:nvSpPr>
        <p:spPr/>
        <p:txBody>
          <a:bodyPr/>
          <a:lstStyle/>
          <a:p>
            <a:fld id="{7557E85F-EEE9-4C84-B15A-5416F0C82923}" type="datetimeFigureOut">
              <a:rPr lang="zh-TW" altLang="en-US" smtClean="0"/>
              <a:pPr/>
              <a:t>2011/11/14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194887B0-7C9B-4E56-B5CF-9D70207BECBF}" type="slidenum">
              <a:rPr lang="zh-TW" altLang="en-US" smtClean="0"/>
              <a:pPr/>
              <a:t>‹#›</a:t>
            </a:fld>
            <a:endParaRPr lang="zh-TW" altLang="en-US"/>
          </a:p>
        </p:txBody>
      </p:sp>
      <p:sp>
        <p:nvSpPr>
          <p:cNvPr id="9" name="內容版面配置區 8"/>
          <p:cNvSpPr>
            <a:spLocks noGrp="1"/>
          </p:cNvSpPr>
          <p:nvPr>
            <p:ph sz="quarter" idx="1"/>
          </p:nvPr>
        </p:nvSpPr>
        <p:spPr>
          <a:xfrm>
            <a:off x="457200" y="1600200"/>
            <a:ext cx="3657600" cy="457200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11" name="內容版面配置區 10"/>
          <p:cNvSpPr>
            <a:spLocks noGrp="1"/>
          </p:cNvSpPr>
          <p:nvPr>
            <p:ph sz="quarter" idx="2"/>
          </p:nvPr>
        </p:nvSpPr>
        <p:spPr>
          <a:xfrm>
            <a:off x="4270248" y="1600200"/>
            <a:ext cx="3657600" cy="457200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7543800" cy="1143000"/>
          </a:xfrm>
        </p:spPr>
        <p:txBody>
          <a:bodyPr anchor="b"/>
          <a:lstStyle>
            <a:lvl1pPr>
              <a:defRPr/>
            </a:lvl1pPr>
          </a:lstStyle>
          <a:p>
            <a:r>
              <a:rPr kumimoji="0" lang="zh-TW" altLang="en-US" smtClean="0"/>
              <a:t>按一下以編輯母片標題樣式</a:t>
            </a:r>
            <a:endParaRPr kumimoji="0" lang="en-US"/>
          </a:p>
        </p:txBody>
      </p:sp>
      <p:sp>
        <p:nvSpPr>
          <p:cNvPr id="7" name="日期版面配置區 6"/>
          <p:cNvSpPr>
            <a:spLocks noGrp="1"/>
          </p:cNvSpPr>
          <p:nvPr>
            <p:ph type="dt" sz="half" idx="10"/>
          </p:nvPr>
        </p:nvSpPr>
        <p:spPr/>
        <p:txBody>
          <a:bodyPr/>
          <a:lstStyle/>
          <a:p>
            <a:fld id="{7557E85F-EEE9-4C84-B15A-5416F0C82923}" type="datetimeFigureOut">
              <a:rPr lang="zh-TW" altLang="en-US" smtClean="0"/>
              <a:pPr/>
              <a:t>2011/11/14</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194887B0-7C9B-4E56-B5CF-9D70207BECBF}" type="slidenum">
              <a:rPr lang="zh-TW" altLang="en-US" smtClean="0"/>
              <a:pPr/>
              <a:t>‹#›</a:t>
            </a:fld>
            <a:endParaRPr lang="zh-TW" altLang="en-US"/>
          </a:p>
        </p:txBody>
      </p:sp>
      <p:sp>
        <p:nvSpPr>
          <p:cNvPr id="11" name="內容版面配置區 10"/>
          <p:cNvSpPr>
            <a:spLocks noGrp="1"/>
          </p:cNvSpPr>
          <p:nvPr>
            <p:ph sz="quarter" idx="2"/>
          </p:nvPr>
        </p:nvSpPr>
        <p:spPr>
          <a:xfrm>
            <a:off x="457200" y="2362200"/>
            <a:ext cx="3657600" cy="388620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13" name="內容版面配置區 12"/>
          <p:cNvSpPr>
            <a:spLocks noGrp="1"/>
          </p:cNvSpPr>
          <p:nvPr>
            <p:ph sz="quarter" idx="4"/>
          </p:nvPr>
        </p:nvSpPr>
        <p:spPr>
          <a:xfrm>
            <a:off x="4371975" y="2362200"/>
            <a:ext cx="3657600" cy="388620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12" name="文字版面配置區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zh-TW" altLang="en-US" smtClean="0"/>
              <a:t>按一下以編輯母片文字樣式</a:t>
            </a:r>
          </a:p>
        </p:txBody>
      </p:sp>
      <p:sp>
        <p:nvSpPr>
          <p:cNvPr id="14" name="文字版面配置區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zh-TW" altLang="en-US" smtClean="0"/>
              <a:t>按一下以編輯母片文字樣式</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smtClean="0"/>
              <a:t>按一下以編輯母片標題樣式</a:t>
            </a:r>
            <a:endParaRPr kumimoji="0" lang="en-US"/>
          </a:p>
        </p:txBody>
      </p:sp>
      <p:sp>
        <p:nvSpPr>
          <p:cNvPr id="6" name="日期版面配置區 5"/>
          <p:cNvSpPr>
            <a:spLocks noGrp="1"/>
          </p:cNvSpPr>
          <p:nvPr>
            <p:ph type="dt" sz="half" idx="10"/>
          </p:nvPr>
        </p:nvSpPr>
        <p:spPr/>
        <p:txBody>
          <a:bodyPr rtlCol="0"/>
          <a:lstStyle/>
          <a:p>
            <a:fld id="{7557E85F-EEE9-4C84-B15A-5416F0C82923}" type="datetimeFigureOut">
              <a:rPr lang="zh-TW" altLang="en-US" smtClean="0"/>
              <a:pPr/>
              <a:t>2011/11/14</a:t>
            </a:fld>
            <a:endParaRPr lang="zh-TW" altLang="en-US"/>
          </a:p>
        </p:txBody>
      </p:sp>
      <p:sp>
        <p:nvSpPr>
          <p:cNvPr id="7" name="投影片編號版面配置區 6"/>
          <p:cNvSpPr>
            <a:spLocks noGrp="1"/>
          </p:cNvSpPr>
          <p:nvPr>
            <p:ph type="sldNum" sz="quarter" idx="11"/>
          </p:nvPr>
        </p:nvSpPr>
        <p:spPr/>
        <p:txBody>
          <a:bodyPr rtlCol="0"/>
          <a:lstStyle/>
          <a:p>
            <a:fld id="{194887B0-7C9B-4E56-B5CF-9D70207BECBF}" type="slidenum">
              <a:rPr lang="zh-TW" altLang="en-US" smtClean="0"/>
              <a:pPr/>
              <a:t>‹#›</a:t>
            </a:fld>
            <a:endParaRPr lang="zh-TW" altLang="en-US"/>
          </a:p>
        </p:txBody>
      </p:sp>
      <p:sp>
        <p:nvSpPr>
          <p:cNvPr id="8" name="頁尾版面配置區 7"/>
          <p:cNvSpPr>
            <a:spLocks noGrp="1"/>
          </p:cNvSpPr>
          <p:nvPr>
            <p:ph type="ftr" sz="quarter" idx="12"/>
          </p:nvPr>
        </p:nvSpPr>
        <p:spPr/>
        <p:txBody>
          <a:bodyPr rtlCol="0"/>
          <a:lstStyle/>
          <a:p>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7557E85F-EEE9-4C84-B15A-5416F0C82923}" type="datetimeFigureOut">
              <a:rPr lang="zh-TW" altLang="en-US" smtClean="0"/>
              <a:pPr/>
              <a:t>2011/11/14</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194887B0-7C9B-4E56-B5CF-9D70207BECBF}"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bg>
      <p:bgRef idx="1001">
        <a:schemeClr val="bg1"/>
      </p:bgRef>
    </p:bg>
    <p:spTree>
      <p:nvGrpSpPr>
        <p:cNvPr id="1" name=""/>
        <p:cNvGrpSpPr/>
        <p:nvPr/>
      </p:nvGrpSpPr>
      <p:grpSpPr>
        <a:xfrm>
          <a:off x="0" y="0"/>
          <a:ext cx="0" cy="0"/>
          <a:chOff x="0" y="0"/>
          <a:chExt cx="0" cy="0"/>
        </a:xfrm>
      </p:grpSpPr>
      <p:sp>
        <p:nvSpPr>
          <p:cNvPr id="10" name="直線接點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標題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zh-TW" altLang="en-US" smtClean="0"/>
              <a:t>按一下以編輯母片標題樣式</a:t>
            </a:r>
            <a:endParaRPr kumimoji="0" lang="en-US"/>
          </a:p>
        </p:txBody>
      </p:sp>
      <p:sp>
        <p:nvSpPr>
          <p:cNvPr id="3" name="文字版面配置區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zh-TW" altLang="en-US" smtClean="0"/>
              <a:t>按一下以編輯母片文字樣式</a:t>
            </a:r>
          </a:p>
        </p:txBody>
      </p:sp>
      <p:sp>
        <p:nvSpPr>
          <p:cNvPr id="8" name="直線接點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直線接點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直線接點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矩形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直線接點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橢圓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內容版面配置區 17"/>
          <p:cNvSpPr>
            <a:spLocks noGrp="1"/>
          </p:cNvSpPr>
          <p:nvPr>
            <p:ph sz="quarter" idx="1"/>
          </p:nvPr>
        </p:nvSpPr>
        <p:spPr>
          <a:xfrm>
            <a:off x="304800" y="274320"/>
            <a:ext cx="5638800" cy="6327648"/>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21" name="日期版面配置區 20"/>
          <p:cNvSpPr>
            <a:spLocks noGrp="1"/>
          </p:cNvSpPr>
          <p:nvPr>
            <p:ph type="dt" sz="half" idx="14"/>
          </p:nvPr>
        </p:nvSpPr>
        <p:spPr/>
        <p:txBody>
          <a:bodyPr rtlCol="0"/>
          <a:lstStyle/>
          <a:p>
            <a:fld id="{7557E85F-EEE9-4C84-B15A-5416F0C82923}" type="datetimeFigureOut">
              <a:rPr lang="zh-TW" altLang="en-US" smtClean="0"/>
              <a:pPr/>
              <a:t>2011/11/14</a:t>
            </a:fld>
            <a:endParaRPr lang="zh-TW" altLang="en-US"/>
          </a:p>
        </p:txBody>
      </p:sp>
      <p:sp>
        <p:nvSpPr>
          <p:cNvPr id="22" name="投影片編號版面配置區 21"/>
          <p:cNvSpPr>
            <a:spLocks noGrp="1"/>
          </p:cNvSpPr>
          <p:nvPr>
            <p:ph type="sldNum" sz="quarter" idx="15"/>
          </p:nvPr>
        </p:nvSpPr>
        <p:spPr/>
        <p:txBody>
          <a:bodyPr rtlCol="0"/>
          <a:lstStyle/>
          <a:p>
            <a:fld id="{194887B0-7C9B-4E56-B5CF-9D70207BECBF}" type="slidenum">
              <a:rPr lang="zh-TW" altLang="en-US" smtClean="0"/>
              <a:pPr/>
              <a:t>‹#›</a:t>
            </a:fld>
            <a:endParaRPr lang="zh-TW" altLang="en-US"/>
          </a:p>
        </p:txBody>
      </p:sp>
      <p:sp>
        <p:nvSpPr>
          <p:cNvPr id="23" name="頁尾版面配置區 22"/>
          <p:cNvSpPr>
            <a:spLocks noGrp="1"/>
          </p:cNvSpPr>
          <p:nvPr>
            <p:ph type="ftr" sz="quarter" idx="16"/>
          </p:nvPr>
        </p:nvSpPr>
        <p:spPr/>
        <p:txBody>
          <a:bodyPr rtlCol="0"/>
          <a:lstStyle/>
          <a:p>
            <a:endParaRPr lang="zh-TW"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9" name="直線接點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橢圓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標題 1"/>
          <p:cNvSpPr>
            <a:spLocks noGrp="1"/>
          </p:cNvSpPr>
          <p:nvPr>
            <p:ph type="title"/>
          </p:nvPr>
        </p:nvSpPr>
        <p:spPr>
          <a:xfrm rot="5400000">
            <a:off x="3350133" y="3200400"/>
            <a:ext cx="6309360" cy="457200"/>
          </a:xfrm>
        </p:spPr>
        <p:txBody>
          <a:bodyPr anchor="b"/>
          <a:lstStyle>
            <a:lvl1pPr algn="l">
              <a:buNone/>
              <a:defRPr sz="2000" b="1"/>
            </a:lvl1pPr>
          </a:lstStyle>
          <a:p>
            <a:r>
              <a:rPr kumimoji="0" lang="zh-TW" altLang="en-US" smtClean="0"/>
              <a:t>按一下以編輯母片標題樣式</a:t>
            </a:r>
            <a:endParaRPr kumimoji="0" lang="en-US"/>
          </a:p>
        </p:txBody>
      </p:sp>
      <p:sp>
        <p:nvSpPr>
          <p:cNvPr id="3" name="圖片版面配置區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zh-TW" altLang="en-US" smtClean="0"/>
              <a:t>按一下圖示以新增圖片</a:t>
            </a:r>
            <a:endParaRPr kumimoji="0" lang="en-US" dirty="0"/>
          </a:p>
        </p:txBody>
      </p:sp>
      <p:sp>
        <p:nvSpPr>
          <p:cNvPr id="4" name="文字版面配置區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zh-TW" altLang="en-US" smtClean="0"/>
              <a:t>按一下以編輯母片文字樣式</a:t>
            </a:r>
          </a:p>
        </p:txBody>
      </p:sp>
      <p:sp>
        <p:nvSpPr>
          <p:cNvPr id="10" name="直線接點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矩形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直線接點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直線接點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直線接點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日期版面配置區 16"/>
          <p:cNvSpPr>
            <a:spLocks noGrp="1"/>
          </p:cNvSpPr>
          <p:nvPr>
            <p:ph type="dt" sz="half" idx="10"/>
          </p:nvPr>
        </p:nvSpPr>
        <p:spPr/>
        <p:txBody>
          <a:bodyPr rtlCol="0"/>
          <a:lstStyle/>
          <a:p>
            <a:fld id="{7557E85F-EEE9-4C84-B15A-5416F0C82923}" type="datetimeFigureOut">
              <a:rPr lang="zh-TW" altLang="en-US" smtClean="0"/>
              <a:pPr/>
              <a:t>2011/11/14</a:t>
            </a:fld>
            <a:endParaRPr lang="zh-TW" altLang="en-US"/>
          </a:p>
        </p:txBody>
      </p:sp>
      <p:sp>
        <p:nvSpPr>
          <p:cNvPr id="18" name="投影片編號版面配置區 17"/>
          <p:cNvSpPr>
            <a:spLocks noGrp="1"/>
          </p:cNvSpPr>
          <p:nvPr>
            <p:ph type="sldNum" sz="quarter" idx="11"/>
          </p:nvPr>
        </p:nvSpPr>
        <p:spPr/>
        <p:txBody>
          <a:bodyPr rtlCol="0"/>
          <a:lstStyle/>
          <a:p>
            <a:fld id="{194887B0-7C9B-4E56-B5CF-9D70207BECBF}" type="slidenum">
              <a:rPr lang="zh-TW" altLang="en-US" smtClean="0"/>
              <a:pPr/>
              <a:t>‹#›</a:t>
            </a:fld>
            <a:endParaRPr lang="zh-TW" altLang="en-US"/>
          </a:p>
        </p:txBody>
      </p:sp>
      <p:sp>
        <p:nvSpPr>
          <p:cNvPr id="21" name="頁尾版面配置區 20"/>
          <p:cNvSpPr>
            <a:spLocks noGrp="1"/>
          </p:cNvSpPr>
          <p:nvPr>
            <p:ph type="ftr" sz="quarter" idx="12"/>
          </p:nvPr>
        </p:nvSpPr>
        <p:spPr/>
        <p:txBody>
          <a:bodyPr rtlCol="0"/>
          <a:lstStyle/>
          <a:p>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smtClean="0"/>
              <a:t>按一下以編輯母片標題樣式</a:t>
            </a:r>
            <a:endParaRPr kumimoji="0" lang="en-US"/>
          </a:p>
        </p:txBody>
      </p:sp>
      <p:sp>
        <p:nvSpPr>
          <p:cNvPr id="3" name="直排文字版面配置區 2"/>
          <p:cNvSpPr>
            <a:spLocks noGrp="1"/>
          </p:cNvSpPr>
          <p:nvPr>
            <p:ph type="body" orient="vert" idx="1"/>
          </p:nvPr>
        </p:nvSpPr>
        <p:spPr/>
        <p:txBody>
          <a:bodyPr vert="eaVer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4" name="日期版面配置區 3"/>
          <p:cNvSpPr>
            <a:spLocks noGrp="1"/>
          </p:cNvSpPr>
          <p:nvPr>
            <p:ph type="dt" sz="half" idx="10"/>
          </p:nvPr>
        </p:nvSpPr>
        <p:spPr/>
        <p:txBody>
          <a:bodyPr/>
          <a:lstStyle/>
          <a:p>
            <a:fld id="{7557E85F-EEE9-4C84-B15A-5416F0C82923}" type="datetimeFigureOut">
              <a:rPr lang="zh-TW" altLang="en-US" smtClean="0"/>
              <a:pPr/>
              <a:t>2011/11/14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94887B0-7C9B-4E56-B5CF-9D70207BECBF}"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9"/>
            <a:ext cx="1676400" cy="5851525"/>
          </a:xfrm>
        </p:spPr>
        <p:txBody>
          <a:bodyPr vert="eaVert"/>
          <a:lstStyle/>
          <a:p>
            <a:r>
              <a:rPr kumimoji="0" lang="zh-TW" altLang="en-US" smtClean="0"/>
              <a:t>按一下以編輯母片標題樣式</a:t>
            </a:r>
            <a:endParaRPr kumimoji="0" 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4" name="日期版面配置區 3"/>
          <p:cNvSpPr>
            <a:spLocks noGrp="1"/>
          </p:cNvSpPr>
          <p:nvPr>
            <p:ph type="dt" sz="half" idx="10"/>
          </p:nvPr>
        </p:nvSpPr>
        <p:spPr/>
        <p:txBody>
          <a:bodyPr/>
          <a:lstStyle/>
          <a:p>
            <a:fld id="{7557E85F-EEE9-4C84-B15A-5416F0C82923}" type="datetimeFigureOut">
              <a:rPr lang="zh-TW" altLang="en-US" smtClean="0"/>
              <a:pPr/>
              <a:t>2011/11/14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94887B0-7C9B-4E56-B5CF-9D70207BECBF}"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直線接點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標題版面配置區 21"/>
          <p:cNvSpPr>
            <a:spLocks noGrp="1"/>
          </p:cNvSpPr>
          <p:nvPr>
            <p:ph type="title"/>
          </p:nvPr>
        </p:nvSpPr>
        <p:spPr>
          <a:xfrm>
            <a:off x="457200" y="274638"/>
            <a:ext cx="7467600" cy="1143000"/>
          </a:xfrm>
          <a:prstGeom prst="rect">
            <a:avLst/>
          </a:prstGeom>
        </p:spPr>
        <p:txBody>
          <a:bodyPr vert="horz" anchor="b">
            <a:normAutofit/>
          </a:bodyPr>
          <a:lstStyle/>
          <a:p>
            <a:r>
              <a:rPr kumimoji="0" lang="zh-TW" altLang="en-US" smtClean="0"/>
              <a:t>按一下以編輯母片標題樣式</a:t>
            </a:r>
            <a:endParaRPr kumimoji="0" lang="en-US"/>
          </a:p>
        </p:txBody>
      </p:sp>
      <p:sp>
        <p:nvSpPr>
          <p:cNvPr id="13" name="文字版面配置區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zh-TW" altLang="en-US" smtClean="0"/>
              <a:t>按一下以編輯母片文字樣式</a:t>
            </a:r>
          </a:p>
          <a:p>
            <a:pPr lvl="1" eaLnBrk="1" latinLnBrk="0" hangingPunct="1"/>
            <a:r>
              <a:rPr kumimoji="0" lang="zh-TW" altLang="en-US" smtClean="0"/>
              <a:t>第二層</a:t>
            </a:r>
          </a:p>
          <a:p>
            <a:pPr lvl="2" eaLnBrk="1" latinLnBrk="0" hangingPunct="1"/>
            <a:r>
              <a:rPr kumimoji="0" lang="zh-TW" altLang="en-US" smtClean="0"/>
              <a:t>第三層</a:t>
            </a:r>
          </a:p>
          <a:p>
            <a:pPr lvl="3" eaLnBrk="1" latinLnBrk="0" hangingPunct="1"/>
            <a:r>
              <a:rPr kumimoji="0" lang="zh-TW" altLang="en-US" smtClean="0"/>
              <a:t>第四層</a:t>
            </a:r>
          </a:p>
          <a:p>
            <a:pPr lvl="4" eaLnBrk="1" latinLnBrk="0" hangingPunct="1"/>
            <a:r>
              <a:rPr kumimoji="0" lang="zh-TW" altLang="en-US" smtClean="0"/>
              <a:t>第五層</a:t>
            </a:r>
            <a:endParaRPr kumimoji="0" lang="en-US"/>
          </a:p>
        </p:txBody>
      </p:sp>
      <p:sp>
        <p:nvSpPr>
          <p:cNvPr id="14" name="日期版面配置區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7557E85F-EEE9-4C84-B15A-5416F0C82923}" type="datetimeFigureOut">
              <a:rPr lang="zh-TW" altLang="en-US" smtClean="0"/>
              <a:pPr/>
              <a:t>2011/11/14</a:t>
            </a:fld>
            <a:endParaRPr lang="zh-TW" altLang="en-US"/>
          </a:p>
        </p:txBody>
      </p:sp>
      <p:sp>
        <p:nvSpPr>
          <p:cNvPr id="3" name="頁尾版面配置區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zh-TW" altLang="en-US"/>
          </a:p>
        </p:txBody>
      </p:sp>
      <p:sp>
        <p:nvSpPr>
          <p:cNvPr id="7" name="直線接點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直線接點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矩形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直線接點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橢圓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投影片編號版面配置區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194887B0-7C9B-4E56-B5CF-9D70207BECBF}"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lytro.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835696" y="620688"/>
            <a:ext cx="6172200" cy="1894362"/>
          </a:xfrm>
        </p:spPr>
        <p:txBody>
          <a:bodyPr>
            <a:normAutofit/>
          </a:bodyPr>
          <a:lstStyle/>
          <a:p>
            <a:r>
              <a:rPr lang="pt-BR" altLang="zh-TW" b="1" dirty="0" smtClean="0"/>
              <a:t>DIGITAL</a:t>
            </a:r>
            <a:r>
              <a:rPr lang="zh-TW" altLang="en-US" b="1" dirty="0" smtClean="0"/>
              <a:t>  </a:t>
            </a:r>
            <a:r>
              <a:rPr lang="pt-BR" altLang="zh-TW" b="1" dirty="0" smtClean="0"/>
              <a:t>LIGHT  FIELD </a:t>
            </a:r>
            <a:r>
              <a:rPr lang="pt-BR" altLang="zh-TW" b="1" dirty="0" smtClean="0"/>
              <a:t/>
            </a:r>
            <a:br>
              <a:rPr lang="pt-BR" altLang="zh-TW" b="1" dirty="0" smtClean="0"/>
            </a:br>
            <a:r>
              <a:rPr lang="pt-BR" altLang="zh-TW" b="1" dirty="0" smtClean="0"/>
              <a:t>PHOTOGRAPHY</a:t>
            </a:r>
            <a:endParaRPr lang="zh-TW" altLang="en-US" dirty="0"/>
          </a:p>
        </p:txBody>
      </p:sp>
      <p:sp>
        <p:nvSpPr>
          <p:cNvPr id="3" name="副標題 2"/>
          <p:cNvSpPr>
            <a:spLocks noGrp="1"/>
          </p:cNvSpPr>
          <p:nvPr>
            <p:ph type="subTitle" idx="1"/>
          </p:nvPr>
        </p:nvSpPr>
        <p:spPr>
          <a:xfrm>
            <a:off x="2483768" y="3068960"/>
            <a:ext cx="6388224" cy="2520280"/>
          </a:xfrm>
        </p:spPr>
        <p:txBody>
          <a:bodyPr>
            <a:normAutofit/>
          </a:bodyPr>
          <a:lstStyle/>
          <a:p>
            <a:r>
              <a:rPr lang="en-US" altLang="zh-TW" dirty="0"/>
              <a:t>A dissertation submitted to the department of computer science and the committee on graduate studies of </a:t>
            </a:r>
            <a:r>
              <a:rPr lang="en-US" altLang="zh-TW" dirty="0" smtClean="0"/>
              <a:t>Stanford university,</a:t>
            </a:r>
          </a:p>
          <a:p>
            <a:r>
              <a:rPr lang="en-US" altLang="zh-TW" dirty="0" err="1" smtClean="0"/>
              <a:t>Ren</a:t>
            </a:r>
            <a:r>
              <a:rPr lang="en-US" altLang="zh-TW" dirty="0" smtClean="0"/>
              <a:t> Ng, </a:t>
            </a:r>
            <a:r>
              <a:rPr lang="en-US" altLang="zh-TW" b="0" dirty="0"/>
              <a:t>July 2006</a:t>
            </a:r>
            <a:endParaRPr lang="en-US" altLang="zh-TW" dirty="0" smtClean="0"/>
          </a:p>
          <a:p>
            <a:endParaRPr lang="en-US" altLang="zh-TW" dirty="0" smtClean="0"/>
          </a:p>
          <a:p>
            <a:r>
              <a:rPr lang="en-US" altLang="zh-TW" dirty="0" smtClean="0"/>
              <a:t>Presenter: Cheng-Han Lee </a:t>
            </a:r>
          </a:p>
          <a:p>
            <a:r>
              <a:rPr lang="en-US" altLang="zh-TW" dirty="0" smtClean="0"/>
              <a:t>			</a:t>
            </a:r>
            <a:r>
              <a:rPr lang="en-US" altLang="zh-TW" dirty="0"/>
              <a:t>	</a:t>
            </a:r>
            <a:r>
              <a:rPr lang="en-US" altLang="zh-TW" dirty="0" smtClean="0"/>
              <a:t>November.14 2011</a:t>
            </a:r>
            <a:endParaRPr lang="zh-TW" altLang="en-US" dirty="0"/>
          </a:p>
        </p:txBody>
      </p:sp>
    </p:spTree>
    <p:extLst>
      <p:ext uri="{BB962C8B-B14F-4D97-AF65-F5344CB8AC3E}">
        <p14:creationId xmlns:p14="http://schemas.microsoft.com/office/powerpoint/2010/main" xmlns="" val="14534316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5000" b="1" dirty="0"/>
              <a:t>Introduction</a:t>
            </a:r>
            <a:endParaRPr lang="zh-TW" altLang="en-US" sz="5000" dirty="0"/>
          </a:p>
        </p:txBody>
      </p:sp>
      <p:sp>
        <p:nvSpPr>
          <p:cNvPr id="3" name="內容版面配置區 2"/>
          <p:cNvSpPr>
            <a:spLocks noGrp="1"/>
          </p:cNvSpPr>
          <p:nvPr>
            <p:ph sz="quarter" idx="1"/>
          </p:nvPr>
        </p:nvSpPr>
        <p:spPr/>
        <p:txBody>
          <a:bodyPr>
            <a:normAutofit/>
          </a:bodyPr>
          <a:lstStyle/>
          <a:p>
            <a:pPr marL="0" indent="0">
              <a:buNone/>
            </a:pPr>
            <a:r>
              <a:rPr lang="en-US" altLang="zh-TW" dirty="0" smtClean="0"/>
              <a:t>This dissertation introduces a new approach to everyday photography,</a:t>
            </a:r>
            <a:r>
              <a:rPr lang="zh-TW" altLang="en-US" dirty="0" smtClean="0"/>
              <a:t> </a:t>
            </a:r>
            <a:r>
              <a:rPr lang="en-US" altLang="zh-TW" dirty="0" smtClean="0"/>
              <a:t>which solves the longstanding problems related to focusing images accurately. The root of these problems is missing information. It turns out that conventional photographs tell us rather little about the light passing through the lens. In particular, they do not record the amount of light traveling along individual rays that contribute to the image. </a:t>
            </a:r>
            <a:endParaRPr lang="zh-TW" altLang="en-US" dirty="0"/>
          </a:p>
        </p:txBody>
      </p:sp>
    </p:spTree>
    <p:extLst>
      <p:ext uri="{BB962C8B-B14F-4D97-AF65-F5344CB8AC3E}">
        <p14:creationId xmlns:p14="http://schemas.microsoft.com/office/powerpoint/2010/main" xmlns="" val="32146550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5000" b="1" dirty="0" smtClean="0"/>
              <a:t>Introduction</a:t>
            </a:r>
            <a:endParaRPr lang="zh-TW" altLang="en-US" sz="5000" dirty="0"/>
          </a:p>
        </p:txBody>
      </p:sp>
      <p:sp>
        <p:nvSpPr>
          <p:cNvPr id="3" name="內容版面配置區 2"/>
          <p:cNvSpPr>
            <a:spLocks noGrp="1"/>
          </p:cNvSpPr>
          <p:nvPr>
            <p:ph sz="quarter" idx="1"/>
          </p:nvPr>
        </p:nvSpPr>
        <p:spPr/>
        <p:txBody>
          <a:bodyPr/>
          <a:lstStyle/>
          <a:p>
            <a:r>
              <a:rPr lang="en-US" altLang="zh-TW" dirty="0" smtClean="0"/>
              <a:t>They tell us only the sum total of light rays striking each point in the image. To make an analogy with a music-recording studio, taking a conventional photograph is like recording all the musicians playing together, rather than recording each instrument on a separate audio track.</a:t>
            </a:r>
            <a:endParaRPr lang="zh-TW"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5000" dirty="0" smtClean="0"/>
              <a:t>CCD / CMOSE</a:t>
            </a:r>
            <a:endParaRPr lang="zh-TW" altLang="en-US" sz="5000" dirty="0"/>
          </a:p>
        </p:txBody>
      </p:sp>
      <p:sp>
        <p:nvSpPr>
          <p:cNvPr id="3" name="內容版面配置區 2"/>
          <p:cNvSpPr>
            <a:spLocks noGrp="1"/>
          </p:cNvSpPr>
          <p:nvPr>
            <p:ph sz="quarter" idx="1"/>
          </p:nvPr>
        </p:nvSpPr>
        <p:spPr/>
        <p:txBody>
          <a:bodyPr/>
          <a:lstStyle/>
          <a:p>
            <a:r>
              <a:rPr lang="zh-TW" altLang="en-US" dirty="0" smtClean="0"/>
              <a:t>感光元件，類似底片</a:t>
            </a:r>
            <a:endParaRPr lang="en-US" altLang="zh-TW" dirty="0" smtClean="0"/>
          </a:p>
          <a:p>
            <a:endParaRPr lang="zh-TW" altLang="en-US" dirty="0"/>
          </a:p>
        </p:txBody>
      </p:sp>
      <p:pic>
        <p:nvPicPr>
          <p:cNvPr id="4" name="圖片 3"/>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547664" y="2420888"/>
            <a:ext cx="5346700" cy="3594100"/>
          </a:xfrm>
          <a:prstGeom prst="rect">
            <a:avLst/>
          </a:prstGeom>
        </p:spPr>
      </p:pic>
    </p:spTree>
    <p:extLst>
      <p:ext uri="{BB962C8B-B14F-4D97-AF65-F5344CB8AC3E}">
        <p14:creationId xmlns:p14="http://schemas.microsoft.com/office/powerpoint/2010/main" xmlns="" val="155972412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5000" dirty="0" err="1"/>
              <a:t>microlens</a:t>
            </a:r>
            <a:endParaRPr lang="zh-TW" altLang="en-US" sz="5000" dirty="0"/>
          </a:p>
        </p:txBody>
      </p:sp>
      <p:sp>
        <p:nvSpPr>
          <p:cNvPr id="3" name="內容版面配置區 2"/>
          <p:cNvSpPr>
            <a:spLocks noGrp="1"/>
          </p:cNvSpPr>
          <p:nvPr>
            <p:ph sz="quarter" idx="1"/>
          </p:nvPr>
        </p:nvSpPr>
        <p:spPr/>
        <p:txBody>
          <a:bodyPr/>
          <a:lstStyle/>
          <a:p>
            <a:r>
              <a:rPr lang="zh-TW" altLang="en-US" dirty="0" smtClean="0"/>
              <a:t>放置於感光元件的前方，用來增加光</a:t>
            </a:r>
            <a:r>
              <a:rPr lang="zh-TW" altLang="en-US" dirty="0"/>
              <a:t>的</a:t>
            </a:r>
            <a:r>
              <a:rPr lang="zh-TW" altLang="en-US" dirty="0" smtClean="0"/>
              <a:t>吸收度。</a:t>
            </a:r>
            <a:endParaRPr lang="en-US" altLang="zh-TW" dirty="0" smtClean="0"/>
          </a:p>
          <a:p>
            <a:endParaRPr lang="zh-TW" altLang="en-US" dirty="0"/>
          </a:p>
        </p:txBody>
      </p:sp>
      <p:pic>
        <p:nvPicPr>
          <p:cNvPr id="1027"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876256" y="3356992"/>
            <a:ext cx="1619250" cy="15906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043608" y="2852936"/>
            <a:ext cx="4668263" cy="23762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720648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5000" dirty="0"/>
              <a:t>main idea</a:t>
            </a:r>
            <a:endParaRPr lang="zh-TW" altLang="en-US" sz="5000" dirty="0"/>
          </a:p>
        </p:txBody>
      </p:sp>
      <p:sp>
        <p:nvSpPr>
          <p:cNvPr id="3" name="內容版面配置區 2"/>
          <p:cNvSpPr>
            <a:spLocks noGrp="1"/>
          </p:cNvSpPr>
          <p:nvPr>
            <p:ph sz="quarter" idx="1"/>
          </p:nvPr>
        </p:nvSpPr>
        <p:spPr/>
        <p:txBody>
          <a:bodyPr/>
          <a:lstStyle/>
          <a:p>
            <a:r>
              <a:rPr lang="zh-TW" altLang="en-US" dirty="0" smtClean="0"/>
              <a:t>紀錄光的入射角與強度，事後再透過軟體運算出新的影像。</a:t>
            </a:r>
            <a:endParaRPr lang="en-US" altLang="zh-TW" dirty="0" smtClean="0"/>
          </a:p>
          <a:p>
            <a:endParaRPr lang="zh-TW" altLang="en-US" dirty="0"/>
          </a:p>
        </p:txBody>
      </p:sp>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71600" y="2492896"/>
            <a:ext cx="3450030" cy="34563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644008" y="2502912"/>
            <a:ext cx="3475730" cy="34563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05428321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sz="quarter" idx="1"/>
          </p:nvPr>
        </p:nvSpPr>
        <p:spPr/>
        <p:txBody>
          <a:bodyPr/>
          <a:lstStyle/>
          <a:p>
            <a:endParaRPr lang="zh-TW" altLang="en-US" dirty="0"/>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43608" y="764704"/>
            <a:ext cx="7283298" cy="54726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5809291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sz="quarter" idx="1"/>
          </p:nvPr>
        </p:nvSpPr>
        <p:spPr/>
        <p:txBody>
          <a:bodyPr/>
          <a:lstStyle/>
          <a:p>
            <a:endParaRPr lang="zh-TW" altLang="en-US"/>
          </a:p>
        </p:txBody>
      </p:sp>
      <p:pic>
        <p:nvPicPr>
          <p:cNvPr id="3075"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384032" y="1174512"/>
            <a:ext cx="6612468" cy="49685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3983169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sz="quarter" idx="1"/>
          </p:nvPr>
        </p:nvSpPr>
        <p:spPr/>
        <p:txBody>
          <a:bodyPr/>
          <a:lstStyle/>
          <a:p>
            <a:endParaRPr lang="zh-TW" altLang="en-US" dirty="0"/>
          </a:p>
        </p:txBody>
      </p:sp>
      <p:pic>
        <p:nvPicPr>
          <p:cNvPr id="4099"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259632" y="-29206"/>
            <a:ext cx="2457450" cy="686752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860032" y="-9502"/>
            <a:ext cx="2457450" cy="686752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cxnSp>
        <p:nvCxnSpPr>
          <p:cNvPr id="9" name="直線接點 8"/>
          <p:cNvCxnSpPr/>
          <p:nvPr/>
        </p:nvCxnSpPr>
        <p:spPr>
          <a:xfrm>
            <a:off x="2357422" y="4786322"/>
            <a:ext cx="3643338"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3400312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t>Imaging Equations</a:t>
            </a:r>
            <a:endParaRPr lang="zh-TW" altLang="en-US" dirty="0"/>
          </a:p>
        </p:txBody>
      </p:sp>
      <mc:AlternateContent xmlns:mc="http://schemas.openxmlformats.org/markup-compatibility/2006">
        <mc:Choice xmlns:a14="http://schemas.microsoft.com/office/drawing/2010/main" xmlns="" Requires="a14">
          <p:sp>
            <p:nvSpPr>
              <p:cNvPr id="3" name="內容版面配置區 2"/>
              <p:cNvSpPr>
                <a:spLocks noGrp="1"/>
              </p:cNvSpPr>
              <p:nvPr>
                <p:ph sz="quarter" idx="1"/>
              </p:nvPr>
            </p:nvSpPr>
            <p:spPr>
              <a:xfrm>
                <a:off x="467544" y="1628800"/>
                <a:ext cx="8229600" cy="4525963"/>
              </a:xfrm>
            </p:spPr>
            <p:txBody>
              <a:bodyPr>
                <a:norm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altLang="zh-TW" i="1" smtClean="0">
                              <a:latin typeface="Cambria Math"/>
                            </a:rPr>
                          </m:ctrlPr>
                        </m:sSubPr>
                        <m:e>
                          <m:r>
                            <a:rPr lang="en-US" altLang="zh-TW" b="0" i="1" smtClean="0">
                              <a:latin typeface="Cambria Math"/>
                            </a:rPr>
                            <m:t>𝐸</m:t>
                          </m:r>
                        </m:e>
                        <m:sub>
                          <m:r>
                            <a:rPr lang="en-US" altLang="zh-TW" b="0" i="1" smtClean="0">
                              <a:latin typeface="Cambria Math"/>
                            </a:rPr>
                            <m:t>𝐹</m:t>
                          </m:r>
                        </m:sub>
                      </m:sSub>
                      <m:d>
                        <m:dPr>
                          <m:ctrlPr>
                            <a:rPr lang="en-US" altLang="zh-TW" b="0" i="1" smtClean="0">
                              <a:latin typeface="Cambria Math"/>
                            </a:rPr>
                          </m:ctrlPr>
                        </m:dPr>
                        <m:e>
                          <m:r>
                            <a:rPr lang="en-US" altLang="zh-TW" b="0" i="1" smtClean="0">
                              <a:latin typeface="Cambria Math"/>
                            </a:rPr>
                            <m:t>𝑥</m:t>
                          </m:r>
                          <m:r>
                            <a:rPr lang="en-US" altLang="zh-TW" b="0" i="1" smtClean="0">
                              <a:latin typeface="Cambria Math"/>
                            </a:rPr>
                            <m:t>,</m:t>
                          </m:r>
                          <m:r>
                            <a:rPr lang="en-US" altLang="zh-TW" b="0" i="1" smtClean="0">
                              <a:latin typeface="Cambria Math"/>
                            </a:rPr>
                            <m:t>𝑦</m:t>
                          </m:r>
                        </m:e>
                      </m:d>
                      <m:r>
                        <a:rPr lang="en-US" altLang="zh-TW" b="0" i="1" smtClean="0">
                          <a:latin typeface="Cambria Math"/>
                        </a:rPr>
                        <m:t>= </m:t>
                      </m:r>
                      <m:f>
                        <m:fPr>
                          <m:ctrlPr>
                            <a:rPr lang="en-US" altLang="zh-TW" b="0" i="1" smtClean="0">
                              <a:latin typeface="Cambria Math"/>
                            </a:rPr>
                          </m:ctrlPr>
                        </m:fPr>
                        <m:num>
                          <m:r>
                            <a:rPr lang="en-US" altLang="zh-TW" b="0" i="1" smtClean="0">
                              <a:latin typeface="Cambria Math"/>
                            </a:rPr>
                            <m:t>1</m:t>
                          </m:r>
                        </m:num>
                        <m:den>
                          <m:sSup>
                            <m:sSupPr>
                              <m:ctrlPr>
                                <a:rPr lang="en-US" altLang="zh-TW" b="0" i="1" smtClean="0">
                                  <a:latin typeface="Cambria Math"/>
                                </a:rPr>
                              </m:ctrlPr>
                            </m:sSupPr>
                            <m:e>
                              <m:r>
                                <a:rPr lang="en-US" altLang="zh-TW" b="0" i="1" smtClean="0">
                                  <a:latin typeface="Cambria Math"/>
                                </a:rPr>
                                <m:t>𝐹</m:t>
                              </m:r>
                            </m:e>
                            <m:sup>
                              <m:r>
                                <a:rPr lang="en-US" altLang="zh-TW" b="0" i="1" smtClean="0">
                                  <a:latin typeface="Cambria Math"/>
                                </a:rPr>
                                <m:t>2</m:t>
                              </m:r>
                            </m:sup>
                          </m:sSup>
                        </m:den>
                      </m:f>
                      <m:nary>
                        <m:naryPr>
                          <m:chr m:val="∬"/>
                          <m:limLoc m:val="undOvr"/>
                          <m:subHide m:val="on"/>
                          <m:supHide m:val="on"/>
                          <m:ctrlPr>
                            <a:rPr lang="en-US" altLang="zh-TW" b="0" i="1" smtClean="0">
                              <a:latin typeface="Cambria Math"/>
                            </a:rPr>
                          </m:ctrlPr>
                        </m:naryPr>
                        <m:sub/>
                        <m:sup/>
                        <m:e>
                          <m:sSub>
                            <m:sSubPr>
                              <m:ctrlPr>
                                <a:rPr lang="en-US" altLang="zh-TW" b="0" i="1" smtClean="0">
                                  <a:latin typeface="Cambria Math"/>
                                </a:rPr>
                              </m:ctrlPr>
                            </m:sSubPr>
                            <m:e>
                              <m:r>
                                <a:rPr lang="en-US" altLang="zh-TW" b="0" i="1" smtClean="0">
                                  <a:latin typeface="Cambria Math"/>
                                </a:rPr>
                                <m:t>𝐿</m:t>
                              </m:r>
                            </m:e>
                            <m:sub>
                              <m:r>
                                <a:rPr lang="en-US" altLang="zh-TW" b="0" i="1" smtClean="0">
                                  <a:latin typeface="Cambria Math"/>
                                </a:rPr>
                                <m:t>𝐹</m:t>
                              </m:r>
                            </m:sub>
                          </m:sSub>
                          <m:d>
                            <m:dPr>
                              <m:ctrlPr>
                                <a:rPr lang="en-US" altLang="zh-TW" b="0" i="1" smtClean="0">
                                  <a:latin typeface="Cambria Math"/>
                                </a:rPr>
                              </m:ctrlPr>
                            </m:dPr>
                            <m:e>
                              <m:r>
                                <a:rPr lang="en-US" altLang="zh-TW" b="0" i="1" smtClean="0">
                                  <a:latin typeface="Cambria Math"/>
                                </a:rPr>
                                <m:t>𝑥</m:t>
                              </m:r>
                              <m:r>
                                <a:rPr lang="en-US" altLang="zh-TW" b="0" i="1" smtClean="0">
                                  <a:latin typeface="Cambria Math"/>
                                </a:rPr>
                                <m:t>,</m:t>
                              </m:r>
                              <m:r>
                                <a:rPr lang="en-US" altLang="zh-TW" b="0" i="1" smtClean="0">
                                  <a:latin typeface="Cambria Math"/>
                                </a:rPr>
                                <m:t>𝑦</m:t>
                              </m:r>
                              <m:r>
                                <a:rPr lang="en-US" altLang="zh-TW" b="0" i="1" smtClean="0">
                                  <a:latin typeface="Cambria Math"/>
                                </a:rPr>
                                <m:t>,</m:t>
                              </m:r>
                              <m:r>
                                <a:rPr lang="en-US" altLang="zh-TW" b="0" i="1" smtClean="0">
                                  <a:latin typeface="Cambria Math"/>
                                </a:rPr>
                                <m:t>𝑢</m:t>
                              </m:r>
                              <m:r>
                                <a:rPr lang="en-US" altLang="zh-TW" b="0" i="1" smtClean="0">
                                  <a:latin typeface="Cambria Math"/>
                                </a:rPr>
                                <m:t>,</m:t>
                              </m:r>
                              <m:r>
                                <a:rPr lang="en-US" altLang="zh-TW" b="0" i="1" smtClean="0">
                                  <a:latin typeface="Cambria Math"/>
                                </a:rPr>
                                <m:t>𝑣</m:t>
                              </m:r>
                            </m:e>
                          </m:d>
                          <m:sSup>
                            <m:sSupPr>
                              <m:ctrlPr>
                                <a:rPr lang="en-US" altLang="zh-TW" b="0" i="1" smtClean="0">
                                  <a:latin typeface="Cambria Math"/>
                                </a:rPr>
                              </m:ctrlPr>
                            </m:sSupPr>
                            <m:e>
                              <m:r>
                                <a:rPr lang="en-US" altLang="zh-TW" b="0" i="1" smtClean="0">
                                  <a:latin typeface="Cambria Math"/>
                                </a:rPr>
                                <m:t>𝑐𝑜𝑠</m:t>
                              </m:r>
                            </m:e>
                            <m:sup>
                              <m:r>
                                <a:rPr lang="en-US" altLang="zh-TW" b="0" i="1" smtClean="0">
                                  <a:latin typeface="Cambria Math"/>
                                </a:rPr>
                                <m:t>4</m:t>
                              </m:r>
                            </m:sup>
                          </m:sSup>
                          <m:r>
                            <a:rPr lang="en-US" altLang="zh-TW" b="0" i="1" smtClean="0">
                              <a:latin typeface="Cambria Math"/>
                              <a:ea typeface="Cambria Math"/>
                            </a:rPr>
                            <m:t>𝜃</m:t>
                          </m:r>
                          <m:r>
                            <a:rPr lang="en-US" altLang="zh-TW" b="0" i="1" smtClean="0">
                              <a:latin typeface="Cambria Math"/>
                              <a:ea typeface="Cambria Math"/>
                            </a:rPr>
                            <m:t> </m:t>
                          </m:r>
                          <m:r>
                            <a:rPr lang="en-US" altLang="zh-TW" b="0" i="1" smtClean="0">
                              <a:latin typeface="Cambria Math"/>
                              <a:ea typeface="Cambria Math"/>
                            </a:rPr>
                            <m:t>𝑑𝑢</m:t>
                          </m:r>
                          <m:r>
                            <a:rPr lang="en-US" altLang="zh-TW" b="0" i="1" smtClean="0">
                              <a:latin typeface="Cambria Math"/>
                              <a:ea typeface="Cambria Math"/>
                            </a:rPr>
                            <m:t> </m:t>
                          </m:r>
                          <m:r>
                            <a:rPr lang="en-US" altLang="zh-TW" b="0" i="1" smtClean="0">
                              <a:latin typeface="Cambria Math"/>
                              <a:ea typeface="Cambria Math"/>
                            </a:rPr>
                            <m:t>𝑑𝑣</m:t>
                          </m:r>
                        </m:e>
                      </m:nary>
                    </m:oMath>
                  </m:oMathPara>
                </a14:m>
                <a:endParaRPr lang="en-US" altLang="zh-TW" dirty="0" smtClean="0"/>
              </a:p>
              <a:p>
                <a:pPr marL="0" indent="0">
                  <a:buNone/>
                </a:pPr>
                <a:endParaRPr lang="en-US" altLang="zh-TW" dirty="0" smtClean="0"/>
              </a:p>
              <a:p>
                <a:pPr marL="0" indent="0">
                  <a:buNone/>
                </a:pPr>
                <a:endParaRPr lang="en-US" altLang="zh-TW" dirty="0" smtClean="0"/>
              </a:p>
              <a:p>
                <a:pPr marL="0" indent="0">
                  <a:buNone/>
                </a:pPr>
                <a:r>
                  <a:rPr lang="en-US" altLang="zh-TW" i="1" dirty="0"/>
                  <a:t>F </a:t>
                </a:r>
                <a:r>
                  <a:rPr lang="en-US" altLang="zh-TW" i="1" dirty="0" smtClean="0"/>
                  <a:t> </a:t>
                </a:r>
                <a:r>
                  <a:rPr lang="en-US" altLang="zh-TW" dirty="0" smtClean="0"/>
                  <a:t>is </a:t>
                </a:r>
                <a:r>
                  <a:rPr lang="en-US" altLang="zh-TW" dirty="0"/>
                  <a:t>the separation between the exit pupil of the lens and the </a:t>
                </a:r>
                <a:r>
                  <a:rPr lang="en-US" altLang="zh-TW" dirty="0" smtClean="0"/>
                  <a:t>film</a:t>
                </a:r>
              </a:p>
              <a:p>
                <a:pPr marL="0" indent="0">
                  <a:buNone/>
                </a:pPr>
                <a14:m>
                  <m:oMath xmlns:m="http://schemas.openxmlformats.org/officeDocument/2006/math">
                    <m:sSub>
                      <m:sSubPr>
                        <m:ctrlPr>
                          <a:rPr lang="en-US" altLang="zh-TW" i="1" smtClean="0">
                            <a:latin typeface="Cambria Math"/>
                          </a:rPr>
                        </m:ctrlPr>
                      </m:sSubPr>
                      <m:e>
                        <m:r>
                          <a:rPr lang="en-US" altLang="zh-TW" b="0" i="1" smtClean="0">
                            <a:latin typeface="Cambria Math"/>
                          </a:rPr>
                          <m:t>𝐸</m:t>
                        </m:r>
                      </m:e>
                      <m:sub>
                        <m:r>
                          <a:rPr lang="en-US" altLang="zh-TW" b="0" i="1" smtClean="0">
                            <a:latin typeface="Cambria Math"/>
                          </a:rPr>
                          <m:t>𝐹</m:t>
                        </m:r>
                      </m:sub>
                    </m:sSub>
                    <m:d>
                      <m:dPr>
                        <m:ctrlPr>
                          <a:rPr lang="en-US" altLang="zh-TW" b="0" i="1" smtClean="0">
                            <a:latin typeface="Cambria Math"/>
                          </a:rPr>
                        </m:ctrlPr>
                      </m:dPr>
                      <m:e>
                        <m:r>
                          <a:rPr lang="en-US" altLang="zh-TW" b="0" i="1" smtClean="0">
                            <a:latin typeface="Cambria Math"/>
                          </a:rPr>
                          <m:t>𝑥</m:t>
                        </m:r>
                        <m:r>
                          <a:rPr lang="en-US" altLang="zh-TW" b="0" i="1" smtClean="0">
                            <a:latin typeface="Cambria Math"/>
                          </a:rPr>
                          <m:t>,</m:t>
                        </m:r>
                        <m:r>
                          <a:rPr lang="en-US" altLang="zh-TW" b="0" i="1" smtClean="0">
                            <a:latin typeface="Cambria Math"/>
                          </a:rPr>
                          <m:t>𝑦</m:t>
                        </m:r>
                      </m:e>
                    </m:d>
                  </m:oMath>
                </a14:m>
                <a:r>
                  <a:rPr lang="en-US" altLang="zh-TW" dirty="0" smtClean="0"/>
                  <a:t> </a:t>
                </a:r>
                <a:r>
                  <a:rPr lang="en-US" altLang="zh-TW" dirty="0"/>
                  <a:t>is </a:t>
                </a:r>
                <a:r>
                  <a:rPr lang="en-US" altLang="zh-TW" dirty="0" smtClean="0"/>
                  <a:t>the irradiance </a:t>
                </a:r>
                <a:r>
                  <a:rPr lang="en-US" altLang="zh-TW" dirty="0"/>
                  <a:t>on the film at position (</a:t>
                </a:r>
                <a:r>
                  <a:rPr lang="en-US" altLang="zh-TW" i="1" dirty="0"/>
                  <a:t>x</a:t>
                </a:r>
                <a:r>
                  <a:rPr lang="en-US" altLang="zh-TW" dirty="0"/>
                  <a:t>, </a:t>
                </a:r>
                <a:r>
                  <a:rPr lang="en-US" altLang="zh-TW" i="1" dirty="0"/>
                  <a:t>y</a:t>
                </a:r>
                <a:r>
                  <a:rPr lang="en-US" altLang="zh-TW" dirty="0" smtClean="0"/>
                  <a:t>).</a:t>
                </a:r>
              </a:p>
              <a:p>
                <a:pPr marL="0" indent="0">
                  <a:buNone/>
                </a:pPr>
                <a14:m>
                  <m:oMath xmlns:m="http://schemas.openxmlformats.org/officeDocument/2006/math">
                    <m:sSub>
                      <m:sSubPr>
                        <m:ctrlPr>
                          <a:rPr lang="en-US" altLang="zh-TW" b="0" i="1" smtClean="0">
                            <a:latin typeface="Cambria Math"/>
                          </a:rPr>
                        </m:ctrlPr>
                      </m:sSubPr>
                      <m:e>
                        <m:r>
                          <a:rPr lang="en-US" altLang="zh-TW" b="0" i="1" smtClean="0">
                            <a:latin typeface="Cambria Math"/>
                          </a:rPr>
                          <m:t>𝐿</m:t>
                        </m:r>
                      </m:e>
                      <m:sub>
                        <m:r>
                          <a:rPr lang="en-US" altLang="zh-TW" b="0" i="1" smtClean="0">
                            <a:latin typeface="Cambria Math"/>
                          </a:rPr>
                          <m:t>𝐹</m:t>
                        </m:r>
                      </m:sub>
                    </m:sSub>
                  </m:oMath>
                </a14:m>
                <a:r>
                  <a:rPr lang="en-US" altLang="zh-TW" i="1" dirty="0" smtClean="0"/>
                  <a:t> </a:t>
                </a:r>
                <a:r>
                  <a:rPr lang="en-US" altLang="zh-TW" dirty="0"/>
                  <a:t>is the light field parameterized by the planes </a:t>
                </a:r>
                <a:r>
                  <a:rPr lang="en-US" altLang="zh-TW" dirty="0" smtClean="0"/>
                  <a:t>at separation </a:t>
                </a:r>
                <a:r>
                  <a:rPr lang="en-US" altLang="zh-TW" i="1" dirty="0" smtClean="0"/>
                  <a:t>F</a:t>
                </a:r>
                <a:endParaRPr lang="en-US" altLang="zh-TW" dirty="0"/>
              </a:p>
              <a:p>
                <a:pPr marL="0" indent="0">
                  <a:buNone/>
                </a:pPr>
                <a14:m>
                  <m:oMath xmlns:m="http://schemas.openxmlformats.org/officeDocument/2006/math">
                    <m:r>
                      <a:rPr lang="en-US" altLang="zh-TW" b="0" i="1" smtClean="0">
                        <a:latin typeface="Cambria Math"/>
                        <a:ea typeface="Cambria Math"/>
                      </a:rPr>
                      <m:t>𝜃</m:t>
                    </m:r>
                  </m:oMath>
                </a14:m>
                <a:r>
                  <a:rPr lang="en-US" altLang="zh-TW" dirty="0" smtClean="0"/>
                  <a:t> is the angle between ray (x, y, u, v) and the film plane normal.</a:t>
                </a:r>
              </a:p>
              <a:p>
                <a:pPr marL="0" indent="0">
                  <a:buNone/>
                </a:pPr>
                <a14:m>
                  <m:oMath xmlns:m="http://schemas.openxmlformats.org/officeDocument/2006/math">
                    <m:sSup>
                      <m:sSupPr>
                        <m:ctrlPr>
                          <a:rPr lang="en-US" altLang="zh-TW" b="0" i="1" smtClean="0">
                            <a:latin typeface="Cambria Math"/>
                          </a:rPr>
                        </m:ctrlPr>
                      </m:sSupPr>
                      <m:e>
                        <m:r>
                          <a:rPr lang="en-US" altLang="zh-TW" b="0" i="1" smtClean="0">
                            <a:latin typeface="Cambria Math"/>
                          </a:rPr>
                          <m:t>𝑐𝑜𝑠</m:t>
                        </m:r>
                      </m:e>
                      <m:sup>
                        <m:r>
                          <a:rPr lang="en-US" altLang="zh-TW" b="0" i="1" smtClean="0">
                            <a:latin typeface="Cambria Math"/>
                          </a:rPr>
                          <m:t>4</m:t>
                        </m:r>
                      </m:sup>
                    </m:sSup>
                    <m:r>
                      <a:rPr lang="en-US" altLang="zh-TW" b="0" i="1" smtClean="0">
                        <a:latin typeface="Cambria Math"/>
                        <a:ea typeface="Cambria Math"/>
                      </a:rPr>
                      <m:t>𝜃</m:t>
                    </m:r>
                    <m:r>
                      <a:rPr lang="en-US" altLang="zh-TW" b="0" i="1" smtClean="0">
                        <a:latin typeface="Cambria Math"/>
                        <a:ea typeface="Cambria Math"/>
                      </a:rPr>
                      <m:t> </m:t>
                    </m:r>
                  </m:oMath>
                </a14:m>
                <a:r>
                  <a:rPr lang="en-US" altLang="zh-TW" dirty="0" smtClean="0"/>
                  <a:t>is </a:t>
                </a:r>
                <a:r>
                  <a:rPr lang="en-US" altLang="zh-TW" dirty="0"/>
                  <a:t>falloff factor sometimes referred to as </a:t>
                </a:r>
                <a:r>
                  <a:rPr lang="en-US" altLang="zh-TW" i="1" dirty="0"/>
                  <a:t>optical </a:t>
                </a:r>
                <a:r>
                  <a:rPr lang="en-US" altLang="zh-TW" i="1" dirty="0" err="1"/>
                  <a:t>vignetting</a:t>
                </a:r>
                <a:r>
                  <a:rPr lang="en-US" altLang="zh-TW" dirty="0"/>
                  <a:t>.</a:t>
                </a:r>
                <a:endParaRPr lang="en-US" altLang="zh-TW" dirty="0" smtClean="0"/>
              </a:p>
            </p:txBody>
          </p:sp>
        </mc:Choice>
        <mc:Fallback>
          <p:sp>
            <p:nvSpPr>
              <p:cNvPr id="3" name="內容版面配置區 2"/>
              <p:cNvSpPr>
                <a:spLocks noGrp="1" noRot="1" noChangeAspect="1" noMove="1" noResize="1" noEditPoints="1" noAdjustHandles="1" noChangeArrowheads="1" noChangeShapeType="1" noTextEdit="1"/>
              </p:cNvSpPr>
              <p:nvPr>
                <p:ph sz="quarter" idx="1"/>
              </p:nvPr>
            </p:nvSpPr>
            <p:spPr>
              <a:xfrm>
                <a:off x="467544" y="1628800"/>
                <a:ext cx="8229600" cy="4525963"/>
              </a:xfrm>
              <a:blipFill rotWithShape="1">
                <a:blip r:embed="rId2" cstate="print"/>
                <a:stretch>
                  <a:fillRect l="-1185"/>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29260233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mc:AlternateContent xmlns:mc="http://schemas.openxmlformats.org/markup-compatibility/2006">
        <mc:Choice xmlns:a14="http://schemas.microsoft.com/office/drawing/2010/main" xmlns="" Requires="a14">
          <p:sp>
            <p:nvSpPr>
              <p:cNvPr id="3" name="內容版面配置區 2"/>
              <p:cNvSpPr>
                <a:spLocks noGrp="1"/>
              </p:cNvSpPr>
              <p:nvPr>
                <p:ph sz="quarter" idx="1"/>
              </p:nvPr>
            </p:nvSpPr>
            <p:spPr>
              <a:xfrm>
                <a:off x="4572000" y="1353727"/>
                <a:ext cx="2848744" cy="4873752"/>
              </a:xfrm>
            </p:spPr>
            <p:txBody>
              <a:bodyPr/>
              <a:lstStyle/>
              <a:p>
                <a:pPr marL="0" indent="0">
                  <a:buNone/>
                </a:pPr>
                <a:endParaRPr lang="en-US" altLang="zh-TW" dirty="0" smtClean="0"/>
              </a:p>
              <a:p>
                <a:pPr marL="0" indent="0">
                  <a:buNone/>
                </a:pPr>
                <a14:m>
                  <m:oMathPara xmlns:m="http://schemas.openxmlformats.org/officeDocument/2006/math">
                    <m:oMathParaPr>
                      <m:jc m:val="centerGroup"/>
                    </m:oMathParaPr>
                    <m:oMath xmlns:m="http://schemas.openxmlformats.org/officeDocument/2006/math">
                      <m:r>
                        <a:rPr lang="zh-TW" altLang="en-US" i="1" smtClean="0">
                          <a:latin typeface="Cambria Math"/>
                        </a:rPr>
                        <m:t>𝛼</m:t>
                      </m:r>
                      <m:r>
                        <a:rPr lang="en-US" altLang="zh-TW" b="0" i="1" smtClean="0">
                          <a:latin typeface="Cambria Math"/>
                        </a:rPr>
                        <m:t>=</m:t>
                      </m:r>
                      <m:f>
                        <m:fPr>
                          <m:ctrlPr>
                            <a:rPr lang="en-US" altLang="zh-TW" b="0" i="1" smtClean="0">
                              <a:latin typeface="Cambria Math"/>
                            </a:rPr>
                          </m:ctrlPr>
                        </m:fPr>
                        <m:num>
                          <m:sSup>
                            <m:sSupPr>
                              <m:ctrlPr>
                                <a:rPr lang="en-US" altLang="zh-TW" b="0" i="1" smtClean="0">
                                  <a:latin typeface="Cambria Math"/>
                                </a:rPr>
                              </m:ctrlPr>
                            </m:sSupPr>
                            <m:e>
                              <m:r>
                                <a:rPr lang="en-US" altLang="zh-TW" b="0" i="1" smtClean="0">
                                  <a:latin typeface="Cambria Math"/>
                                </a:rPr>
                                <m:t>𝐹</m:t>
                              </m:r>
                            </m:e>
                            <m:sup>
                              <m:r>
                                <a:rPr lang="en-US" altLang="zh-TW" b="0" i="1" smtClean="0">
                                  <a:latin typeface="Cambria Math"/>
                                </a:rPr>
                                <m:t>′</m:t>
                              </m:r>
                            </m:sup>
                          </m:sSup>
                        </m:num>
                        <m:den>
                          <m:r>
                            <a:rPr lang="en-US" altLang="zh-TW" b="0" i="1" smtClean="0">
                              <a:latin typeface="Cambria Math"/>
                            </a:rPr>
                            <m:t>𝐹</m:t>
                          </m:r>
                        </m:den>
                      </m:f>
                    </m:oMath>
                  </m:oMathPara>
                </a14:m>
                <a:endParaRPr lang="en-US" altLang="zh-TW" dirty="0" smtClean="0"/>
              </a:p>
              <a:p>
                <a:pPr marL="0" indent="0">
                  <a:buNone/>
                </a:pPr>
                <a:endParaRPr lang="en-US" altLang="zh-TW" dirty="0"/>
              </a:p>
              <a:p>
                <a:pPr marL="0" indent="0">
                  <a:buNone/>
                </a:pPr>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sz="quarter" idx="1"/>
              </p:nvPr>
            </p:nvSpPr>
            <p:spPr>
              <a:xfrm>
                <a:off x="4572000" y="1353727"/>
                <a:ext cx="2848744" cy="4873752"/>
              </a:xfrm>
              <a:blipFill rotWithShape="1">
                <a:blip r:embed="rId2" cstate="print"/>
                <a:stretch>
                  <a:fillRect/>
                </a:stretch>
              </a:blipFill>
            </p:spPr>
            <p:txBody>
              <a:bodyPr/>
              <a:lstStyle/>
              <a:p>
                <a:r>
                  <a:rPr lang="zh-TW" altLang="en-US">
                    <a:noFill/>
                  </a:rPr>
                  <a:t> </a:t>
                </a:r>
              </a:p>
            </p:txBody>
          </p:sp>
        </mc:Fallback>
      </mc:AlternateContent>
      <p:pic>
        <p:nvPicPr>
          <p:cNvPr id="6146"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374840" y="404664"/>
            <a:ext cx="2934997" cy="518457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39552" y="5589240"/>
            <a:ext cx="7714003" cy="8721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6585262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如何記錄角度資訊</a:t>
            </a:r>
            <a:endParaRPr lang="zh-TW" altLang="en-US" dirty="0"/>
          </a:p>
        </p:txBody>
      </p:sp>
      <p:sp>
        <p:nvSpPr>
          <p:cNvPr id="3" name="內容版面配置區 2"/>
          <p:cNvSpPr>
            <a:spLocks noGrp="1"/>
          </p:cNvSpPr>
          <p:nvPr>
            <p:ph sz="quarter" idx="1"/>
          </p:nvPr>
        </p:nvSpPr>
        <p:spPr/>
        <p:txBody>
          <a:bodyPr/>
          <a:lstStyle/>
          <a:p>
            <a:r>
              <a:rPr lang="en-US" altLang="zh-TW" dirty="0" smtClean="0"/>
              <a:t>Adobe :</a:t>
            </a:r>
            <a:r>
              <a:rPr lang="zh-TW" altLang="en-US" dirty="0" smtClean="0"/>
              <a:t> 像昆蟲的複眼一樣，有多個鏡頭。</a:t>
            </a:r>
            <a:endParaRPr lang="en-US" altLang="zh-TW" dirty="0" smtClean="0"/>
          </a:p>
          <a:p>
            <a:endParaRPr lang="zh-TW" altLang="en-US" dirty="0"/>
          </a:p>
        </p:txBody>
      </p:sp>
      <p:pic>
        <p:nvPicPr>
          <p:cNvPr id="5" name="圖片 4"/>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907704" y="2477264"/>
            <a:ext cx="4457700" cy="3248025"/>
          </a:xfrm>
          <a:prstGeom prst="rect">
            <a:avLst/>
          </a:prstGeom>
        </p:spPr>
      </p:pic>
    </p:spTree>
    <p:extLst>
      <p:ext uri="{BB962C8B-B14F-4D97-AF65-F5344CB8AC3E}">
        <p14:creationId xmlns:p14="http://schemas.microsoft.com/office/powerpoint/2010/main" xmlns="" val="96558063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如何</a:t>
            </a:r>
            <a:r>
              <a:rPr lang="zh-TW" altLang="en-US" dirty="0" smtClean="0"/>
              <a:t>記錄光線角度</a:t>
            </a:r>
            <a:r>
              <a:rPr lang="zh-TW" altLang="en-US" dirty="0"/>
              <a:t>資訊</a:t>
            </a:r>
          </a:p>
        </p:txBody>
      </p:sp>
      <p:sp>
        <p:nvSpPr>
          <p:cNvPr id="3" name="內容版面配置區 2"/>
          <p:cNvSpPr>
            <a:spLocks noGrp="1"/>
          </p:cNvSpPr>
          <p:nvPr>
            <p:ph sz="quarter" idx="1"/>
          </p:nvPr>
        </p:nvSpPr>
        <p:spPr/>
        <p:txBody>
          <a:bodyPr/>
          <a:lstStyle/>
          <a:p>
            <a:r>
              <a:rPr lang="en-US" altLang="zh-TW" dirty="0" err="1" smtClean="0"/>
              <a:t>Lytro</a:t>
            </a:r>
            <a:r>
              <a:rPr lang="zh-TW" altLang="en-US" dirty="0" smtClean="0"/>
              <a:t> </a:t>
            </a:r>
            <a:r>
              <a:rPr lang="en-US" altLang="zh-TW" dirty="0" smtClean="0"/>
              <a:t>:</a:t>
            </a:r>
            <a:r>
              <a:rPr lang="zh-TW" altLang="en-US" dirty="0" smtClean="0"/>
              <a:t> 利用</a:t>
            </a:r>
            <a:r>
              <a:rPr lang="en-US" altLang="zh-TW" dirty="0" err="1" smtClean="0"/>
              <a:t>microlens</a:t>
            </a:r>
            <a:r>
              <a:rPr lang="zh-TW" altLang="en-US" dirty="0" smtClean="0"/>
              <a:t>。</a:t>
            </a:r>
            <a:r>
              <a:rPr lang="en-US" altLang="zh-TW" dirty="0" smtClean="0"/>
              <a:t>(</a:t>
            </a:r>
            <a:r>
              <a:rPr lang="zh-TW" altLang="en-US" dirty="0"/>
              <a:t>即</a:t>
            </a:r>
            <a:r>
              <a:rPr lang="zh-TW" altLang="en-US" dirty="0" smtClean="0"/>
              <a:t>本篇作者的方法</a:t>
            </a:r>
            <a:r>
              <a:rPr lang="en-US" altLang="zh-TW" dirty="0" smtClean="0"/>
              <a:t>)</a:t>
            </a:r>
          </a:p>
          <a:p>
            <a:endParaRPr lang="zh-TW" altLang="en-US"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03920" y="2996952"/>
            <a:ext cx="6683121" cy="24482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876256" y="3356992"/>
            <a:ext cx="1619250" cy="15906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90175595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sz="quarter" idx="1"/>
          </p:nvPr>
        </p:nvSpPr>
        <p:spPr/>
        <p:txBody>
          <a:bodyPr/>
          <a:lstStyle/>
          <a:p>
            <a:pPr marL="0" indent="0">
              <a:buNone/>
            </a:pPr>
            <a:endParaRPr lang="en-US" altLang="zh-TW" dirty="0" smtClean="0"/>
          </a:p>
          <a:p>
            <a:endParaRPr lang="zh-TW" altLang="en-US" dirty="0"/>
          </a:p>
        </p:txBody>
      </p:sp>
      <p:pic>
        <p:nvPicPr>
          <p:cNvPr id="8195"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491880" y="1601728"/>
            <a:ext cx="4968552" cy="4962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8196"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95536" y="2204864"/>
            <a:ext cx="2880320" cy="28891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53497510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sz="quarter" idx="1"/>
          </p:nvPr>
        </p:nvSpPr>
        <p:spPr>
          <a:xfrm>
            <a:off x="457200" y="4437112"/>
            <a:ext cx="7467600" cy="2036840"/>
          </a:xfrm>
        </p:spPr>
        <p:txBody>
          <a:bodyPr/>
          <a:lstStyle/>
          <a:p>
            <a:r>
              <a:rPr lang="zh-TW" altLang="en-US" dirty="0" smtClean="0"/>
              <a:t>左圖是失焦的部分，可看出光線來自不同方向。</a:t>
            </a:r>
            <a:r>
              <a:rPr lang="en-US" altLang="zh-TW" dirty="0" smtClean="0"/>
              <a:t/>
            </a:r>
            <a:br>
              <a:rPr lang="en-US" altLang="zh-TW" dirty="0" smtClean="0"/>
            </a:br>
            <a:r>
              <a:rPr lang="en-US" altLang="zh-TW" dirty="0" smtClean="0"/>
              <a:t>(</a:t>
            </a:r>
            <a:r>
              <a:rPr lang="zh-TW" altLang="en-US" dirty="0" smtClean="0"/>
              <a:t>一般相機只算出每點的均值色彩，喪失許多資訊</a:t>
            </a:r>
            <a:r>
              <a:rPr lang="en-US" altLang="zh-TW" dirty="0" smtClean="0"/>
              <a:t>)</a:t>
            </a:r>
          </a:p>
          <a:p>
            <a:r>
              <a:rPr lang="zh-TW" altLang="en-US" dirty="0"/>
              <a:t>右</a:t>
            </a:r>
            <a:r>
              <a:rPr lang="zh-TW" altLang="en-US" dirty="0" smtClean="0"/>
              <a:t>圖有對焦，每個點的色彩都很平均。</a:t>
            </a:r>
            <a:endParaRPr lang="zh-TW" altLang="en-US" dirty="0"/>
          </a:p>
        </p:txBody>
      </p:sp>
      <p:pic>
        <p:nvPicPr>
          <p:cNvPr id="921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827583" y="908720"/>
            <a:ext cx="6900767" cy="33123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86229264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LINK</a:t>
            </a:r>
            <a:endParaRPr lang="zh-TW" altLang="en-US" dirty="0"/>
          </a:p>
        </p:txBody>
      </p:sp>
      <p:sp>
        <p:nvSpPr>
          <p:cNvPr id="3" name="內容版面配置區 2"/>
          <p:cNvSpPr>
            <a:spLocks noGrp="1"/>
          </p:cNvSpPr>
          <p:nvPr>
            <p:ph sz="quarter" idx="1"/>
          </p:nvPr>
        </p:nvSpPr>
        <p:spPr/>
        <p:txBody>
          <a:bodyPr/>
          <a:lstStyle/>
          <a:p>
            <a:r>
              <a:rPr lang="en-US" altLang="zh-TW" dirty="0" err="1"/>
              <a:t>L</a:t>
            </a:r>
            <a:r>
              <a:rPr lang="en-US" altLang="zh-TW" dirty="0" err="1" smtClean="0"/>
              <a:t>ytro</a:t>
            </a:r>
            <a:r>
              <a:rPr lang="zh-TW" altLang="en-US" dirty="0"/>
              <a:t>官網：</a:t>
            </a:r>
            <a:r>
              <a:rPr lang="en-US" altLang="zh-TW" u="sng" dirty="0">
                <a:hlinkClick r:id="rId2"/>
              </a:rPr>
              <a:t>https://www.lytro.com/</a:t>
            </a:r>
            <a:r>
              <a:rPr lang="en-US" altLang="zh-TW" dirty="0"/>
              <a:t> </a:t>
            </a:r>
            <a:endParaRPr lang="zh-TW" altLang="en-US" dirty="0"/>
          </a:p>
        </p:txBody>
      </p:sp>
    </p:spTree>
    <p:extLst>
      <p:ext uri="{BB962C8B-B14F-4D97-AF65-F5344CB8AC3E}">
        <p14:creationId xmlns:p14="http://schemas.microsoft.com/office/powerpoint/2010/main" xmlns="" val="171864571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壁窗">
  <a:themeElements>
    <a:clrScheme name="壁窗">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壁窗">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壁窗">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278</TotalTime>
  <Words>254</Words>
  <Application>Microsoft Office PowerPoint</Application>
  <PresentationFormat>如螢幕大小 (4:3)</PresentationFormat>
  <Paragraphs>27</Paragraphs>
  <Slides>16</Slides>
  <Notes>0</Notes>
  <HiddenSlides>0</HiddenSlides>
  <MMClips>0</MMClips>
  <ScaleCrop>false</ScaleCrop>
  <HeadingPairs>
    <vt:vector size="4" baseType="variant">
      <vt:variant>
        <vt:lpstr>佈景主題</vt:lpstr>
      </vt:variant>
      <vt:variant>
        <vt:i4>1</vt:i4>
      </vt:variant>
      <vt:variant>
        <vt:lpstr>投影片標題</vt:lpstr>
      </vt:variant>
      <vt:variant>
        <vt:i4>16</vt:i4>
      </vt:variant>
    </vt:vector>
  </HeadingPairs>
  <TitlesOfParts>
    <vt:vector size="17" baseType="lpstr">
      <vt:lpstr>壁窗</vt:lpstr>
      <vt:lpstr>DIGITAL  LIGHT  FIELD  PHOTOGRAPHY</vt:lpstr>
      <vt:lpstr>Introduction</vt:lpstr>
      <vt:lpstr>Introduction</vt:lpstr>
      <vt:lpstr>CCD / CMOSE</vt:lpstr>
      <vt:lpstr>microlens</vt:lpstr>
      <vt:lpstr>main idea</vt:lpstr>
      <vt:lpstr>投影片 7</vt:lpstr>
      <vt:lpstr>投影片 8</vt:lpstr>
      <vt:lpstr>投影片 9</vt:lpstr>
      <vt:lpstr>Imaging Equations</vt:lpstr>
      <vt:lpstr>投影片 11</vt:lpstr>
      <vt:lpstr>如何記錄角度資訊</vt:lpstr>
      <vt:lpstr>如何記錄光線角度資訊</vt:lpstr>
      <vt:lpstr>投影片 14</vt:lpstr>
      <vt:lpstr>投影片 15</vt:lpstr>
      <vt:lpstr>LINK</vt:lpstr>
    </vt:vector>
  </TitlesOfParts>
  <Company>bb</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 G I TA L L IG H T F I E L D P HOTO G R A P H Y</dc:title>
  <dc:creator>aa</dc:creator>
  <cp:lastModifiedBy>Guest</cp:lastModifiedBy>
  <cp:revision>51</cp:revision>
  <dcterms:created xsi:type="dcterms:W3CDTF">2011-11-14T05:59:43Z</dcterms:created>
  <dcterms:modified xsi:type="dcterms:W3CDTF">2011-11-14T11:39:28Z</dcterms:modified>
</cp:coreProperties>
</file>