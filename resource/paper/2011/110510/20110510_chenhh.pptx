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61" r:id="rId5"/>
    <p:sldId id="295" r:id="rId6"/>
    <p:sldId id="296" r:id="rId7"/>
    <p:sldId id="297" r:id="rId8"/>
    <p:sldId id="298" r:id="rId9"/>
    <p:sldId id="259" r:id="rId10"/>
    <p:sldId id="262" r:id="rId11"/>
    <p:sldId id="263" r:id="rId12"/>
    <p:sldId id="269" r:id="rId13"/>
    <p:sldId id="270" r:id="rId14"/>
    <p:sldId id="265" r:id="rId15"/>
    <p:sldId id="266" r:id="rId16"/>
    <p:sldId id="267" r:id="rId17"/>
    <p:sldId id="271" r:id="rId18"/>
    <p:sldId id="275" r:id="rId19"/>
    <p:sldId id="264" r:id="rId20"/>
    <p:sldId id="276" r:id="rId21"/>
    <p:sldId id="293" r:id="rId22"/>
    <p:sldId id="277" r:id="rId23"/>
    <p:sldId id="278" r:id="rId24"/>
    <p:sldId id="279" r:id="rId25"/>
    <p:sldId id="280" r:id="rId26"/>
    <p:sldId id="281" r:id="rId27"/>
    <p:sldId id="274" r:id="rId28"/>
    <p:sldId id="282" r:id="rId29"/>
    <p:sldId id="283" r:id="rId30"/>
    <p:sldId id="284" r:id="rId31"/>
    <p:sldId id="285" r:id="rId32"/>
    <p:sldId id="287" r:id="rId33"/>
    <p:sldId id="288" r:id="rId34"/>
    <p:sldId id="294" r:id="rId35"/>
    <p:sldId id="292" r:id="rId3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94FB4C-7948-43C5-A2A3-2FC9F3FDD3D9}" type="datetimeFigureOut">
              <a:rPr lang="zh-TW" altLang="en-US" smtClean="0"/>
              <a:pPr/>
              <a:t>2011/5/10</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3484469-D5FB-4C49-89E9-ABCCCA26161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B9EF30-AD79-4316-9CDB-E24CBE6B630D}" type="slidenum">
              <a:rPr lang="en-US" altLang="zh-TW"/>
              <a:pPr/>
              <a:t>15</a:t>
            </a:fld>
            <a:endParaRPr lang="en-US" altLang="zh-TW"/>
          </a:p>
        </p:txBody>
      </p:sp>
      <p:sp>
        <p:nvSpPr>
          <p:cNvPr id="4710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71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zh-TW" altLang="en-US"/>
              <a:t>評估</a:t>
            </a:r>
            <a:r>
              <a:rPr lang="en-US" altLang="zh-TW"/>
              <a:t>ICA model</a:t>
            </a:r>
            <a:r>
              <a:rPr lang="zh-TW" altLang="en-US"/>
              <a:t>的基本原則就是將</a:t>
            </a:r>
            <a:r>
              <a:rPr lang="en-US" altLang="zh-TW"/>
              <a:t>component</a:t>
            </a:r>
            <a:r>
              <a:rPr lang="zh-TW" altLang="en-US"/>
              <a:t>非高斯性最大化</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C420455-B2F2-41A6-859E-CF4FCBFB784D}" type="datetimeFigureOut">
              <a:rPr lang="zh-TW" altLang="en-US" smtClean="0"/>
              <a:pPr/>
              <a:t>2011/5/10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4C74660-BED2-4BC7-8E85-EB4B1A582DBF}"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420455-B2F2-41A6-859E-CF4FCBFB784D}" type="datetimeFigureOut">
              <a:rPr lang="zh-TW" altLang="en-US" smtClean="0"/>
              <a:pPr/>
              <a:t>2011/5/10</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C74660-BED2-4BC7-8E85-EB4B1A582DBF}"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hyperlink" Target="http://en.wikipedia.org/wiki/Differential_entropy#Normal_Distribution_Maximizes_The_Differential_Entropy_For_a_Given_Variance"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hyperlink" Target="http://fourier.eng.hmc.edu/e161/lectures/ica/node5.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en.wikipedia.org/wiki/Karush%E2%80%93Kuhn%E2%80%93Tucker_conditions" TargetMode="External"/><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oleObject" Target="../embeddings/oleObject5.bin"/><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gif"/></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en.wikipedia.org/wiki/Gram%E2%80%93Schmidt_process" TargetMode="Externa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hyperlink" Target="http://research.ics.tkk.fi/ica/fastica/" TargetMode="Externa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11560" y="188640"/>
            <a:ext cx="7772400" cy="1470025"/>
          </a:xfrm>
        </p:spPr>
        <p:txBody>
          <a:bodyPr>
            <a:normAutofit fontScale="90000"/>
          </a:bodyPr>
          <a:lstStyle/>
          <a:p>
            <a:r>
              <a:rPr lang="en-US" altLang="zh-TW" dirty="0" smtClean="0"/>
              <a:t>Independent </a:t>
            </a:r>
            <a:r>
              <a:rPr lang="en-US" altLang="zh-TW" dirty="0"/>
              <a:t>C</a:t>
            </a:r>
            <a:r>
              <a:rPr lang="en-US" altLang="zh-TW" dirty="0" smtClean="0"/>
              <a:t>omponent Analysis: Algorithm and Applications</a:t>
            </a:r>
            <a:endParaRPr lang="zh-TW" altLang="en-US" dirty="0"/>
          </a:p>
        </p:txBody>
      </p:sp>
      <p:sp>
        <p:nvSpPr>
          <p:cNvPr id="3" name="副標題 2"/>
          <p:cNvSpPr>
            <a:spLocks noGrp="1"/>
          </p:cNvSpPr>
          <p:nvPr>
            <p:ph type="subTitle" idx="1"/>
          </p:nvPr>
        </p:nvSpPr>
        <p:spPr>
          <a:xfrm>
            <a:off x="251520" y="2060848"/>
            <a:ext cx="8640960" cy="1728192"/>
          </a:xfrm>
        </p:spPr>
        <p:txBody>
          <a:bodyPr>
            <a:noAutofit/>
          </a:bodyPr>
          <a:lstStyle/>
          <a:p>
            <a:r>
              <a:rPr lang="en-US" altLang="zh-TW" sz="2800" dirty="0" err="1" smtClean="0">
                <a:solidFill>
                  <a:schemeClr val="tx1"/>
                </a:solidFill>
              </a:rPr>
              <a:t>Aapo</a:t>
            </a:r>
            <a:r>
              <a:rPr lang="en-US" altLang="zh-TW" sz="2800" dirty="0" smtClean="0">
                <a:solidFill>
                  <a:schemeClr val="tx1"/>
                </a:solidFill>
              </a:rPr>
              <a:t> </a:t>
            </a:r>
            <a:r>
              <a:rPr lang="en-US" altLang="zh-TW" sz="2800" dirty="0" err="1" smtClean="0">
                <a:solidFill>
                  <a:schemeClr val="tx1"/>
                </a:solidFill>
              </a:rPr>
              <a:t>Hyvärinen</a:t>
            </a:r>
            <a:r>
              <a:rPr lang="en-US" altLang="zh-TW" sz="2800" dirty="0" smtClean="0">
                <a:solidFill>
                  <a:schemeClr val="tx1"/>
                </a:solidFill>
              </a:rPr>
              <a:t> and </a:t>
            </a:r>
            <a:r>
              <a:rPr lang="en-US" altLang="zh-TW" sz="2800" dirty="0" err="1" smtClean="0">
                <a:solidFill>
                  <a:schemeClr val="tx1"/>
                </a:solidFill>
              </a:rPr>
              <a:t>Erkki</a:t>
            </a:r>
            <a:r>
              <a:rPr lang="en-US" altLang="zh-TW" sz="2800" dirty="0" smtClean="0">
                <a:solidFill>
                  <a:schemeClr val="tx1"/>
                </a:solidFill>
              </a:rPr>
              <a:t> </a:t>
            </a:r>
            <a:r>
              <a:rPr lang="en-US" altLang="zh-TW" sz="2800" dirty="0" err="1" smtClean="0">
                <a:solidFill>
                  <a:schemeClr val="tx1"/>
                </a:solidFill>
              </a:rPr>
              <a:t>Oja</a:t>
            </a:r>
            <a:endParaRPr lang="en-US" altLang="zh-TW" sz="2800" dirty="0" smtClean="0">
              <a:solidFill>
                <a:schemeClr val="tx1"/>
              </a:solidFill>
            </a:endParaRPr>
          </a:p>
          <a:p>
            <a:r>
              <a:rPr lang="en-US" altLang="zh-TW" sz="2800" dirty="0" smtClean="0">
                <a:solidFill>
                  <a:schemeClr val="tx1"/>
                </a:solidFill>
              </a:rPr>
              <a:t>Neural Networks Research Centre </a:t>
            </a:r>
          </a:p>
          <a:p>
            <a:r>
              <a:rPr lang="en-US" altLang="zh-TW" sz="2800" dirty="0" smtClean="0">
                <a:solidFill>
                  <a:schemeClr val="tx1"/>
                </a:solidFill>
              </a:rPr>
              <a:t>Helsinki University of Technology</a:t>
            </a:r>
            <a:endParaRPr lang="zh-TW" altLang="en-US" sz="2800" dirty="0">
              <a:solidFill>
                <a:schemeClr val="tx1"/>
              </a:solidFill>
            </a:endParaRPr>
          </a:p>
        </p:txBody>
      </p:sp>
      <p:sp>
        <p:nvSpPr>
          <p:cNvPr id="4" name="文字方塊 3"/>
          <p:cNvSpPr txBox="1"/>
          <p:nvPr/>
        </p:nvSpPr>
        <p:spPr>
          <a:xfrm>
            <a:off x="395536" y="4437112"/>
            <a:ext cx="8424936" cy="523220"/>
          </a:xfrm>
          <a:prstGeom prst="rect">
            <a:avLst/>
          </a:prstGeom>
          <a:noFill/>
        </p:spPr>
        <p:txBody>
          <a:bodyPr wrap="square" rtlCol="0">
            <a:spAutoFit/>
          </a:bodyPr>
          <a:lstStyle/>
          <a:p>
            <a:pPr algn="ctr"/>
            <a:r>
              <a:rPr lang="en-US" altLang="zh-TW" sz="2800" dirty="0" smtClean="0"/>
              <a:t>Neural Networks, Vol. 13 (2000), pp. 411-430</a:t>
            </a:r>
            <a:endParaRPr lang="zh-TW" altLang="en-US" sz="2800" dirty="0"/>
          </a:p>
        </p:txBody>
      </p:sp>
      <p:sp>
        <p:nvSpPr>
          <p:cNvPr id="5" name="文字方塊 4"/>
          <p:cNvSpPr txBox="1"/>
          <p:nvPr/>
        </p:nvSpPr>
        <p:spPr>
          <a:xfrm>
            <a:off x="4427984" y="5445224"/>
            <a:ext cx="4248472" cy="954107"/>
          </a:xfrm>
          <a:prstGeom prst="rect">
            <a:avLst/>
          </a:prstGeom>
          <a:noFill/>
        </p:spPr>
        <p:txBody>
          <a:bodyPr wrap="square" rtlCol="0">
            <a:spAutoFit/>
          </a:bodyPr>
          <a:lstStyle/>
          <a:p>
            <a:r>
              <a:rPr lang="en-US" altLang="zh-TW" sz="2800" dirty="0" smtClean="0"/>
              <a:t>Presenter: Hung-</a:t>
            </a:r>
            <a:r>
              <a:rPr lang="en-US" altLang="zh-TW" sz="2800" dirty="0" err="1" smtClean="0"/>
              <a:t>Hsin</a:t>
            </a:r>
            <a:r>
              <a:rPr lang="en-US" altLang="zh-TW" sz="2800" dirty="0" smtClean="0"/>
              <a:t> Chen</a:t>
            </a:r>
          </a:p>
          <a:p>
            <a:r>
              <a:rPr lang="en-US" altLang="zh-TW" sz="2800" dirty="0" smtClean="0"/>
              <a:t>Date: May 10, 2011</a:t>
            </a:r>
            <a:endParaRPr lang="zh-TW"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(1/2)</a:t>
            </a:r>
            <a:endParaRPr lang="zh-TW" altLang="en-US" dirty="0"/>
          </a:p>
        </p:txBody>
      </p:sp>
      <p:sp>
        <p:nvSpPr>
          <p:cNvPr id="3" name="內容版面配置區 2"/>
          <p:cNvSpPr>
            <a:spLocks noGrp="1"/>
          </p:cNvSpPr>
          <p:nvPr>
            <p:ph idx="1"/>
          </p:nvPr>
        </p:nvSpPr>
        <p:spPr>
          <a:xfrm>
            <a:off x="251520" y="1600200"/>
            <a:ext cx="8712968" cy="5069160"/>
          </a:xfrm>
        </p:spPr>
        <p:txBody>
          <a:bodyPr>
            <a:noAutofit/>
          </a:bodyPr>
          <a:lstStyle/>
          <a:p>
            <a:pPr marL="0" algn="just">
              <a:spcBef>
                <a:spcPts val="0"/>
              </a:spcBef>
              <a:buNone/>
            </a:pPr>
            <a:r>
              <a:rPr lang="en-US" altLang="zh-TW" sz="2800" dirty="0" smtClean="0"/>
              <a:t>A fundamental problem in neural network research, as well as in many other disciplines, is finding a suitable representation of multivariate data, i.e. random vectors. </a:t>
            </a:r>
          </a:p>
          <a:p>
            <a:pPr marL="0" algn="just">
              <a:spcBef>
                <a:spcPts val="0"/>
              </a:spcBef>
              <a:buNone/>
            </a:pPr>
            <a:endParaRPr lang="en-US" altLang="zh-TW" sz="2800" dirty="0"/>
          </a:p>
          <a:p>
            <a:pPr marL="0" algn="just">
              <a:spcBef>
                <a:spcPts val="0"/>
              </a:spcBef>
              <a:buNone/>
            </a:pPr>
            <a:r>
              <a:rPr lang="en-US" altLang="zh-TW" sz="2800" dirty="0" smtClean="0"/>
              <a:t>For reasons of computational and conceptual simplicity, the representation is often sought as a linear transformation of the original data. In other words, </a:t>
            </a:r>
            <a:r>
              <a:rPr lang="en-US" altLang="zh-TW" sz="2800" dirty="0" smtClean="0">
                <a:solidFill>
                  <a:srgbClr val="0070C0"/>
                </a:solidFill>
              </a:rPr>
              <a:t>each component of the representation is a linear combination of the original variables. </a:t>
            </a:r>
            <a:r>
              <a:rPr lang="en-US" altLang="zh-TW" sz="2800" dirty="0" smtClean="0"/>
              <a:t>Well-known linear transformation methods include principal component analysis, factor analysis, and projection pursuit. </a:t>
            </a:r>
            <a:endParaRPr lang="zh-TW" alt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(2/2)</a:t>
            </a:r>
            <a:endParaRPr lang="zh-TW" altLang="en-US" dirty="0"/>
          </a:p>
        </p:txBody>
      </p:sp>
      <p:sp>
        <p:nvSpPr>
          <p:cNvPr id="3" name="內容版面配置區 2"/>
          <p:cNvSpPr>
            <a:spLocks noGrp="1"/>
          </p:cNvSpPr>
          <p:nvPr>
            <p:ph idx="1"/>
          </p:nvPr>
        </p:nvSpPr>
        <p:spPr/>
        <p:txBody>
          <a:bodyPr>
            <a:normAutofit fontScale="92500" lnSpcReduction="10000"/>
          </a:bodyPr>
          <a:lstStyle/>
          <a:p>
            <a:pPr marL="0" algn="just">
              <a:buNone/>
            </a:pPr>
            <a:r>
              <a:rPr lang="en-US" altLang="zh-TW" dirty="0" smtClean="0"/>
              <a:t>Independent component analysis (ICA) is a recently developed method in which the </a:t>
            </a:r>
            <a:r>
              <a:rPr lang="en-US" altLang="zh-TW" dirty="0" smtClean="0">
                <a:solidFill>
                  <a:srgbClr val="FF0000"/>
                </a:solidFill>
              </a:rPr>
              <a:t>goal is to find a linear representation of </a:t>
            </a:r>
            <a:r>
              <a:rPr lang="en-US" altLang="zh-TW" dirty="0" err="1" smtClean="0">
                <a:solidFill>
                  <a:srgbClr val="FF0000"/>
                </a:solidFill>
              </a:rPr>
              <a:t>nongaussian</a:t>
            </a:r>
            <a:r>
              <a:rPr lang="en-US" altLang="zh-TW" dirty="0" smtClean="0">
                <a:solidFill>
                  <a:srgbClr val="FF0000"/>
                </a:solidFill>
              </a:rPr>
              <a:t> data so that the components are statistically independent, or as independent as possible. </a:t>
            </a:r>
            <a:r>
              <a:rPr lang="en-US" altLang="zh-TW" dirty="0" smtClean="0"/>
              <a:t>Such a representation seems to capture the essential structure of the data in many applications, including feature extraction and signal separation. In this paper, we present the basic theory and applications of ICA, and our recent work on the subject.</a:t>
            </a:r>
            <a:endParaRPr lang="zh-TW"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Rectangle 6"/>
          <p:cNvSpPr>
            <a:spLocks noGrp="1" noChangeArrowheads="1"/>
          </p:cNvSpPr>
          <p:nvPr>
            <p:ph type="title"/>
          </p:nvPr>
        </p:nvSpPr>
        <p:spPr>
          <a:xfrm>
            <a:off x="395536" y="188640"/>
            <a:ext cx="8229600" cy="1143000"/>
          </a:xfrm>
          <a:noFill/>
          <a:ln/>
        </p:spPr>
        <p:txBody>
          <a:bodyPr/>
          <a:lstStyle/>
          <a:p>
            <a:r>
              <a:rPr lang="en-GB" dirty="0">
                <a:effectLst>
                  <a:outerShdw blurRad="38100" dist="38100" dir="2700000" algn="tl">
                    <a:srgbClr val="C0C0C0"/>
                  </a:outerShdw>
                </a:effectLst>
              </a:rPr>
              <a:t>ICA</a:t>
            </a:r>
          </a:p>
        </p:txBody>
      </p:sp>
      <p:sp>
        <p:nvSpPr>
          <p:cNvPr id="6151" name="Rectangle 7"/>
          <p:cNvSpPr>
            <a:spLocks noGrp="1" noChangeArrowheads="1"/>
          </p:cNvSpPr>
          <p:nvPr>
            <p:ph type="body" idx="1"/>
          </p:nvPr>
        </p:nvSpPr>
        <p:spPr>
          <a:xfrm>
            <a:off x="395536" y="1196752"/>
            <a:ext cx="8382000" cy="5257800"/>
          </a:xfrm>
          <a:noFill/>
          <a:ln/>
        </p:spPr>
        <p:txBody>
          <a:bodyPr>
            <a:noAutofit/>
          </a:bodyPr>
          <a:lstStyle/>
          <a:p>
            <a:pPr marL="0">
              <a:buFontTx/>
              <a:buNone/>
            </a:pPr>
            <a:r>
              <a:rPr lang="en-GB" sz="2400" dirty="0">
                <a:solidFill>
                  <a:srgbClr val="FF0000"/>
                </a:solidFill>
                <a:latin typeface="Calibri" pitchFamily="34" charset="0"/>
              </a:rPr>
              <a:t>Blind Signal Separation (BSS) </a:t>
            </a:r>
            <a:r>
              <a:rPr lang="en-GB" sz="2400" dirty="0">
                <a:latin typeface="Calibri" pitchFamily="34" charset="0"/>
              </a:rPr>
              <a:t>or </a:t>
            </a:r>
            <a:r>
              <a:rPr lang="en-GB" sz="2400" dirty="0">
                <a:solidFill>
                  <a:srgbClr val="FF0000"/>
                </a:solidFill>
                <a:latin typeface="Calibri" pitchFamily="34" charset="0"/>
              </a:rPr>
              <a:t>Independent Component Analysis (ICA) </a:t>
            </a:r>
            <a:r>
              <a:rPr lang="en-GB" sz="2400" dirty="0">
                <a:latin typeface="Calibri" pitchFamily="34" charset="0"/>
              </a:rPr>
              <a:t>is the identification &amp; separation of mixtures of sources with little prior information.</a:t>
            </a:r>
          </a:p>
          <a:p>
            <a:pPr marL="0"/>
            <a:r>
              <a:rPr lang="en-GB" sz="2400" dirty="0">
                <a:latin typeface="Calibri" pitchFamily="34" charset="0"/>
              </a:rPr>
              <a:t>Applications include</a:t>
            </a:r>
            <a:r>
              <a:rPr lang="en-GB" sz="2400" dirty="0" smtClean="0">
                <a:latin typeface="Calibri" pitchFamily="34" charset="0"/>
              </a:rPr>
              <a:t>:</a:t>
            </a:r>
            <a:r>
              <a:rPr lang="en-GB" sz="2400" dirty="0">
                <a:latin typeface="Calibri" pitchFamily="34" charset="0"/>
              </a:rPr>
              <a:t>	</a:t>
            </a:r>
          </a:p>
          <a:p>
            <a:pPr marL="400050" lvl="2"/>
            <a:r>
              <a:rPr lang="en-GB" dirty="0">
                <a:latin typeface="Calibri" pitchFamily="34" charset="0"/>
              </a:rPr>
              <a:t>Audio Processing</a:t>
            </a:r>
          </a:p>
          <a:p>
            <a:pPr marL="400050" lvl="2"/>
            <a:r>
              <a:rPr lang="en-GB" dirty="0">
                <a:latin typeface="Calibri" pitchFamily="34" charset="0"/>
              </a:rPr>
              <a:t>Medical data</a:t>
            </a:r>
          </a:p>
          <a:p>
            <a:pPr marL="400050" lvl="2"/>
            <a:r>
              <a:rPr lang="en-GB" dirty="0">
                <a:latin typeface="Calibri" pitchFamily="34" charset="0"/>
              </a:rPr>
              <a:t>Finance</a:t>
            </a:r>
          </a:p>
          <a:p>
            <a:pPr marL="400050" lvl="2"/>
            <a:r>
              <a:rPr lang="en-GB" dirty="0">
                <a:latin typeface="Calibri" pitchFamily="34" charset="0"/>
              </a:rPr>
              <a:t>Array processing (</a:t>
            </a:r>
            <a:r>
              <a:rPr lang="en-GB" dirty="0" err="1">
                <a:latin typeface="Calibri" pitchFamily="34" charset="0"/>
              </a:rPr>
              <a:t>beamforming</a:t>
            </a:r>
            <a:r>
              <a:rPr lang="en-GB" dirty="0" smtClean="0">
                <a:latin typeface="Calibri" pitchFamily="34" charset="0"/>
              </a:rPr>
              <a:t>)</a:t>
            </a:r>
          </a:p>
          <a:p>
            <a:pPr marL="0"/>
            <a:r>
              <a:rPr lang="en-GB" sz="2400" dirty="0" smtClean="0">
                <a:latin typeface="Calibri" pitchFamily="34" charset="0"/>
              </a:rPr>
              <a:t>… and most applications where </a:t>
            </a:r>
            <a:r>
              <a:rPr lang="en-GB" sz="2400" u="sng" dirty="0" smtClean="0">
                <a:latin typeface="Calibri" pitchFamily="34" charset="0"/>
              </a:rPr>
              <a:t>Factor Analysis</a:t>
            </a:r>
            <a:r>
              <a:rPr lang="en-GB" sz="2400" dirty="0" smtClean="0">
                <a:latin typeface="Calibri" pitchFamily="34" charset="0"/>
              </a:rPr>
              <a:t> and </a:t>
            </a:r>
            <a:r>
              <a:rPr lang="en-GB" sz="2400" u="sng" dirty="0" smtClean="0">
                <a:latin typeface="Calibri" pitchFamily="34" charset="0"/>
              </a:rPr>
              <a:t>PCA</a:t>
            </a:r>
            <a:r>
              <a:rPr lang="en-GB" sz="2400" dirty="0" smtClean="0">
                <a:latin typeface="Calibri" pitchFamily="34" charset="0"/>
              </a:rPr>
              <a:t>  </a:t>
            </a:r>
            <a:br>
              <a:rPr lang="en-GB" sz="2400" dirty="0" smtClean="0">
                <a:latin typeface="Calibri" pitchFamily="34" charset="0"/>
              </a:rPr>
            </a:br>
            <a:r>
              <a:rPr lang="en-GB" sz="2400" dirty="0" smtClean="0">
                <a:latin typeface="Calibri" pitchFamily="34" charset="0"/>
              </a:rPr>
              <a:t>     is currently used.</a:t>
            </a:r>
          </a:p>
          <a:p>
            <a:pPr marL="0"/>
            <a:r>
              <a:rPr lang="en-US" altLang="zh-TW" sz="2400" dirty="0" smtClean="0">
                <a:latin typeface="Calibri" pitchFamily="34" charset="0"/>
                <a:ea typeface="新細明體" charset="-120"/>
                <a:cs typeface="Arial" charset="0"/>
              </a:rPr>
              <a:t>ICA seeks such directions that are </a:t>
            </a:r>
            <a:r>
              <a:rPr lang="en-US" altLang="zh-TW" sz="2400" dirty="0" smtClean="0">
                <a:solidFill>
                  <a:srgbClr val="0070C0"/>
                </a:solidFill>
                <a:latin typeface="Calibri" pitchFamily="34" charset="0"/>
                <a:ea typeface="新細明體" charset="-120"/>
                <a:cs typeface="Arial" charset="0"/>
              </a:rPr>
              <a:t>most independent from each </a:t>
            </a:r>
            <a:br>
              <a:rPr lang="en-US" altLang="zh-TW" sz="2400" dirty="0" smtClean="0">
                <a:solidFill>
                  <a:srgbClr val="0070C0"/>
                </a:solidFill>
                <a:latin typeface="Calibri" pitchFamily="34" charset="0"/>
                <a:ea typeface="新細明體" charset="-120"/>
                <a:cs typeface="Arial" charset="0"/>
              </a:rPr>
            </a:br>
            <a:r>
              <a:rPr lang="en-US" altLang="zh-TW" sz="2400" dirty="0" smtClean="0">
                <a:solidFill>
                  <a:srgbClr val="0070C0"/>
                </a:solidFill>
                <a:latin typeface="Calibri" pitchFamily="34" charset="0"/>
                <a:ea typeface="新細明體" charset="-120"/>
                <a:cs typeface="Arial" charset="0"/>
              </a:rPr>
              <a:t>    other</a:t>
            </a:r>
            <a:r>
              <a:rPr lang="en-US" altLang="zh-TW" sz="2400" dirty="0" smtClean="0">
                <a:latin typeface="Calibri" pitchFamily="34" charset="0"/>
                <a:ea typeface="新細明體" charset="-120"/>
                <a:cs typeface="Arial" charset="0"/>
              </a:rPr>
              <a:t>.</a:t>
            </a:r>
            <a:endParaRPr lang="en-GB" sz="2400" dirty="0" smtClean="0">
              <a:latin typeface="Calibri"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Application-finance</a:t>
            </a:r>
            <a:endParaRPr lang="zh-TW" altLang="en-US" dirty="0"/>
          </a:p>
        </p:txBody>
      </p:sp>
      <p:pic>
        <p:nvPicPr>
          <p:cNvPr id="77826" name="Picture 2"/>
          <p:cNvPicPr>
            <a:picLocks noChangeAspect="1" noChangeArrowheads="1"/>
          </p:cNvPicPr>
          <p:nvPr/>
        </p:nvPicPr>
        <p:blipFill>
          <a:blip r:embed="rId2" cstate="print"/>
          <a:srcRect/>
          <a:stretch>
            <a:fillRect/>
          </a:stretch>
        </p:blipFill>
        <p:spPr bwMode="auto">
          <a:xfrm>
            <a:off x="1115616" y="1124744"/>
            <a:ext cx="6984776" cy="5057718"/>
          </a:xfrm>
          <a:prstGeom prst="rect">
            <a:avLst/>
          </a:prstGeom>
          <a:noFill/>
          <a:ln w="9525">
            <a:noFill/>
            <a:miter lim="800000"/>
            <a:headEnd/>
            <a:tailEnd/>
          </a:ln>
        </p:spPr>
      </p:pic>
      <p:sp>
        <p:nvSpPr>
          <p:cNvPr id="4" name="文字方塊 3"/>
          <p:cNvSpPr txBox="1"/>
          <p:nvPr/>
        </p:nvSpPr>
        <p:spPr>
          <a:xfrm>
            <a:off x="1907704" y="6237312"/>
            <a:ext cx="5328592" cy="523220"/>
          </a:xfrm>
          <a:prstGeom prst="rect">
            <a:avLst/>
          </a:prstGeom>
          <a:noFill/>
        </p:spPr>
        <p:txBody>
          <a:bodyPr wrap="square" rtlCol="0">
            <a:spAutoFit/>
          </a:bodyPr>
          <a:lstStyle/>
          <a:p>
            <a:pPr algn="ctr"/>
            <a:r>
              <a:rPr lang="en-US" altLang="zh-TW" sz="2800" dirty="0" smtClean="0"/>
              <a:t>Original weekly cash flow</a:t>
            </a:r>
            <a:endParaRPr lang="zh-TW"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2" cstate="print"/>
          <a:srcRect/>
          <a:stretch>
            <a:fillRect/>
          </a:stretch>
        </p:blipFill>
        <p:spPr bwMode="auto">
          <a:xfrm>
            <a:off x="539552" y="0"/>
            <a:ext cx="7884368" cy="5691044"/>
          </a:xfrm>
          <a:prstGeom prst="rect">
            <a:avLst/>
          </a:prstGeom>
          <a:noFill/>
          <a:ln w="9525">
            <a:noFill/>
            <a:miter lim="800000"/>
            <a:headEnd/>
            <a:tailEnd/>
          </a:ln>
        </p:spPr>
      </p:pic>
      <p:sp>
        <p:nvSpPr>
          <p:cNvPr id="4" name="文字方塊 3"/>
          <p:cNvSpPr txBox="1"/>
          <p:nvPr/>
        </p:nvSpPr>
        <p:spPr>
          <a:xfrm>
            <a:off x="1043608" y="6021288"/>
            <a:ext cx="7272808" cy="523220"/>
          </a:xfrm>
          <a:prstGeom prst="rect">
            <a:avLst/>
          </a:prstGeom>
          <a:noFill/>
        </p:spPr>
        <p:txBody>
          <a:bodyPr wrap="square" rtlCol="0">
            <a:spAutoFit/>
          </a:bodyPr>
          <a:lstStyle/>
          <a:p>
            <a:pPr algn="ctr"/>
            <a:r>
              <a:rPr lang="en-US" altLang="zh-TW" sz="2800" dirty="0" smtClean="0"/>
              <a:t>Independent components of factors of cash flow</a:t>
            </a:r>
            <a:endParaRPr lang="zh-TW" alt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Application-</a:t>
            </a:r>
            <a:r>
              <a:rPr lang="en-US" altLang="zh-TW" dirty="0" err="1" smtClean="0"/>
              <a:t>denoising</a:t>
            </a:r>
            <a:endParaRPr lang="zh-TW" altLang="en-US" dirty="0"/>
          </a:p>
        </p:txBody>
      </p:sp>
      <p:pic>
        <p:nvPicPr>
          <p:cNvPr id="79874" name="Picture 2"/>
          <p:cNvPicPr>
            <a:picLocks noChangeAspect="1" noChangeArrowheads="1"/>
          </p:cNvPicPr>
          <p:nvPr/>
        </p:nvPicPr>
        <p:blipFill>
          <a:blip r:embed="rId2" cstate="print"/>
          <a:srcRect/>
          <a:stretch>
            <a:fillRect/>
          </a:stretch>
        </p:blipFill>
        <p:spPr bwMode="auto">
          <a:xfrm>
            <a:off x="1907704" y="1124744"/>
            <a:ext cx="5400600" cy="5460129"/>
          </a:xfrm>
          <a:prstGeom prst="rect">
            <a:avLst/>
          </a:prstGeom>
          <a:noFill/>
          <a:ln w="9525">
            <a:noFill/>
            <a:miter lim="800000"/>
            <a:headEnd/>
            <a:tailEnd/>
          </a:ln>
        </p:spPr>
      </p:pic>
      <p:sp>
        <p:nvSpPr>
          <p:cNvPr id="4" name="文字方塊 3"/>
          <p:cNvSpPr txBox="1"/>
          <p:nvPr/>
        </p:nvSpPr>
        <p:spPr>
          <a:xfrm>
            <a:off x="755576" y="1988840"/>
            <a:ext cx="1368152" cy="369332"/>
          </a:xfrm>
          <a:prstGeom prst="rect">
            <a:avLst/>
          </a:prstGeom>
          <a:noFill/>
        </p:spPr>
        <p:txBody>
          <a:bodyPr wrap="square" rtlCol="0">
            <a:spAutoFit/>
          </a:bodyPr>
          <a:lstStyle/>
          <a:p>
            <a:r>
              <a:rPr lang="en-US" altLang="zh-TW" dirty="0" smtClean="0"/>
              <a:t>Original</a:t>
            </a:r>
            <a:endParaRPr lang="zh-TW" altLang="en-US" dirty="0"/>
          </a:p>
        </p:txBody>
      </p:sp>
      <p:sp>
        <p:nvSpPr>
          <p:cNvPr id="5" name="文字方塊 4"/>
          <p:cNvSpPr txBox="1"/>
          <p:nvPr/>
        </p:nvSpPr>
        <p:spPr>
          <a:xfrm>
            <a:off x="7380312" y="2060848"/>
            <a:ext cx="1763688" cy="369332"/>
          </a:xfrm>
          <a:prstGeom prst="rect">
            <a:avLst/>
          </a:prstGeom>
          <a:noFill/>
        </p:spPr>
        <p:txBody>
          <a:bodyPr wrap="square" rtlCol="0">
            <a:spAutoFit/>
          </a:bodyPr>
          <a:lstStyle/>
          <a:p>
            <a:r>
              <a:rPr lang="en-US" altLang="zh-TW" dirty="0" smtClean="0"/>
              <a:t>With 50% noise</a:t>
            </a:r>
            <a:endParaRPr lang="zh-TW" altLang="en-US" dirty="0"/>
          </a:p>
        </p:txBody>
      </p:sp>
      <p:sp>
        <p:nvSpPr>
          <p:cNvPr id="6" name="文字方塊 5"/>
          <p:cNvSpPr txBox="1"/>
          <p:nvPr/>
        </p:nvSpPr>
        <p:spPr>
          <a:xfrm>
            <a:off x="7452320" y="4797152"/>
            <a:ext cx="1368152" cy="369332"/>
          </a:xfrm>
          <a:prstGeom prst="rect">
            <a:avLst/>
          </a:prstGeom>
          <a:noFill/>
        </p:spPr>
        <p:txBody>
          <a:bodyPr wrap="square" rtlCol="0">
            <a:spAutoFit/>
          </a:bodyPr>
          <a:lstStyle/>
          <a:p>
            <a:r>
              <a:rPr lang="en-US" altLang="zh-TW" dirty="0" smtClean="0"/>
              <a:t>Wiener filter</a:t>
            </a:r>
            <a:endParaRPr lang="zh-TW" altLang="en-US" dirty="0"/>
          </a:p>
        </p:txBody>
      </p:sp>
      <p:sp>
        <p:nvSpPr>
          <p:cNvPr id="7" name="文字方塊 6"/>
          <p:cNvSpPr txBox="1"/>
          <p:nvPr/>
        </p:nvSpPr>
        <p:spPr>
          <a:xfrm>
            <a:off x="1196008" y="4877544"/>
            <a:ext cx="864096" cy="369332"/>
          </a:xfrm>
          <a:prstGeom prst="rect">
            <a:avLst/>
          </a:prstGeom>
          <a:noFill/>
        </p:spPr>
        <p:txBody>
          <a:bodyPr wrap="square" rtlCol="0">
            <a:spAutoFit/>
          </a:bodyPr>
          <a:lstStyle/>
          <a:p>
            <a:r>
              <a:rPr lang="en-US" altLang="zh-TW" dirty="0" smtClean="0"/>
              <a:t>ICA</a:t>
            </a:r>
            <a:endParaRPr lang="zh-TW"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Application-image separation</a:t>
            </a:r>
            <a:endParaRPr lang="zh-TW" altLang="en-US" dirty="0"/>
          </a:p>
        </p:txBody>
      </p:sp>
      <p:pic>
        <p:nvPicPr>
          <p:cNvPr id="75778" name="Picture 2"/>
          <p:cNvPicPr>
            <a:picLocks noChangeAspect="1" noChangeArrowheads="1"/>
          </p:cNvPicPr>
          <p:nvPr/>
        </p:nvPicPr>
        <p:blipFill>
          <a:blip r:embed="rId2" cstate="print"/>
          <a:srcRect b="49907"/>
          <a:stretch>
            <a:fillRect/>
          </a:stretch>
        </p:blipFill>
        <p:spPr bwMode="auto">
          <a:xfrm>
            <a:off x="251520" y="1556792"/>
            <a:ext cx="3957638" cy="4320480"/>
          </a:xfrm>
          <a:prstGeom prst="rect">
            <a:avLst/>
          </a:prstGeom>
          <a:noFill/>
          <a:ln w="9525">
            <a:noFill/>
            <a:miter lim="800000"/>
            <a:headEnd/>
            <a:tailEnd/>
          </a:ln>
        </p:spPr>
      </p:pic>
      <p:pic>
        <p:nvPicPr>
          <p:cNvPr id="4" name="Picture 2"/>
          <p:cNvPicPr>
            <a:picLocks noChangeAspect="1" noChangeArrowheads="1"/>
          </p:cNvPicPr>
          <p:nvPr/>
        </p:nvPicPr>
        <p:blipFill>
          <a:blip r:embed="rId2" cstate="print"/>
          <a:srcRect t="50093"/>
          <a:stretch>
            <a:fillRect/>
          </a:stretch>
        </p:blipFill>
        <p:spPr bwMode="auto">
          <a:xfrm>
            <a:off x="4355976" y="1484784"/>
            <a:ext cx="4032448" cy="43857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9512" y="274638"/>
            <a:ext cx="8784976" cy="1143000"/>
          </a:xfrm>
        </p:spPr>
        <p:txBody>
          <a:bodyPr>
            <a:noAutofit/>
          </a:bodyPr>
          <a:lstStyle/>
          <a:p>
            <a:r>
              <a:rPr lang="en-US" altLang="zh-TW" sz="3600" dirty="0" smtClean="0">
                <a:ea typeface="標楷體" pitchFamily="65" charset="-120"/>
              </a:rPr>
              <a:t>The Principle of ICA: a cocktail-party problem</a:t>
            </a:r>
            <a:endParaRPr lang="zh-TW" altLang="en-US" sz="3600" dirty="0"/>
          </a:p>
        </p:txBody>
      </p:sp>
      <p:pic>
        <p:nvPicPr>
          <p:cNvPr id="4" name="Picture 4" descr="ica_figure"/>
          <p:cNvPicPr>
            <a:picLocks noGrp="1" noChangeAspect="1" noChangeArrowheads="1"/>
          </p:cNvPicPr>
          <p:nvPr>
            <p:ph idx="1"/>
          </p:nvPr>
        </p:nvPicPr>
        <p:blipFill>
          <a:blip r:embed="rId2" cstate="print"/>
          <a:srcRect/>
          <a:stretch>
            <a:fillRect/>
          </a:stretch>
        </p:blipFill>
        <p:spPr bwMode="auto">
          <a:xfrm>
            <a:off x="1331640" y="1124744"/>
            <a:ext cx="6034617" cy="3845024"/>
          </a:xfrm>
          <a:prstGeom prst="rect">
            <a:avLst/>
          </a:prstGeom>
          <a:noFill/>
        </p:spPr>
      </p:pic>
      <p:sp>
        <p:nvSpPr>
          <p:cNvPr id="6" name="Rectangle 3"/>
          <p:cNvSpPr>
            <a:spLocks noChangeArrowheads="1"/>
          </p:cNvSpPr>
          <p:nvPr/>
        </p:nvSpPr>
        <p:spPr bwMode="auto">
          <a:xfrm>
            <a:off x="827584" y="5229200"/>
            <a:ext cx="4800600" cy="1015663"/>
          </a:xfrm>
          <a:prstGeom prst="rect">
            <a:avLst/>
          </a:prstGeom>
          <a:noFill/>
          <a:ln w="9525">
            <a:noFill/>
            <a:miter lim="800000"/>
            <a:headEnd/>
            <a:tailEnd/>
          </a:ln>
          <a:effectLst/>
        </p:spPr>
        <p:txBody>
          <a:bodyPr wrap="square">
            <a:spAutoFit/>
          </a:bodyPr>
          <a:lstStyle/>
          <a:p>
            <a:pPr>
              <a:tabLst>
                <a:tab pos="2636838" algn="ctr"/>
                <a:tab pos="5273675" algn="r"/>
              </a:tabLst>
            </a:pPr>
            <a:endParaRPr lang="en-US" altLang="zh-TW" sz="2000" dirty="0">
              <a:ea typeface="標楷體" pitchFamily="65" charset="-120"/>
            </a:endParaRPr>
          </a:p>
          <a:p>
            <a:pPr>
              <a:tabLst>
                <a:tab pos="2636838" algn="ctr"/>
                <a:tab pos="5273675" algn="r"/>
              </a:tabLst>
            </a:pPr>
            <a:endParaRPr lang="en-US" altLang="zh-TW" sz="2000" dirty="0"/>
          </a:p>
          <a:p>
            <a:pPr eaLnBrk="0" hangingPunct="0">
              <a:tabLst>
                <a:tab pos="2636838" algn="ctr"/>
                <a:tab pos="5273675" algn="r"/>
              </a:tabLst>
            </a:pPr>
            <a:r>
              <a:rPr lang="en-US" altLang="zh-TW" sz="2000" dirty="0">
                <a:solidFill>
                  <a:srgbClr val="FF7C80"/>
                </a:solidFill>
                <a:ea typeface="標楷體" pitchFamily="65" charset="-120"/>
              </a:rPr>
              <a:t>	</a:t>
            </a:r>
            <a:endParaRPr lang="en-US" altLang="zh-TW" sz="2000" dirty="0"/>
          </a:p>
        </p:txBody>
      </p:sp>
      <p:sp>
        <p:nvSpPr>
          <p:cNvPr id="7" name="Rectangle 3"/>
          <p:cNvSpPr>
            <a:spLocks noChangeArrowheads="1"/>
          </p:cNvSpPr>
          <p:nvPr/>
        </p:nvSpPr>
        <p:spPr bwMode="auto">
          <a:xfrm>
            <a:off x="4860032" y="5157192"/>
            <a:ext cx="4800600" cy="1015663"/>
          </a:xfrm>
          <a:prstGeom prst="rect">
            <a:avLst/>
          </a:prstGeom>
          <a:noFill/>
          <a:ln w="9525">
            <a:noFill/>
            <a:miter lim="800000"/>
            <a:headEnd/>
            <a:tailEnd/>
          </a:ln>
          <a:effectLst/>
        </p:spPr>
        <p:txBody>
          <a:bodyPr wrap="square">
            <a:spAutoFit/>
          </a:bodyPr>
          <a:lstStyle/>
          <a:p>
            <a:pPr>
              <a:tabLst>
                <a:tab pos="2636838" algn="ctr"/>
                <a:tab pos="5273675" algn="r"/>
              </a:tabLst>
            </a:pPr>
            <a:endParaRPr lang="en-US" altLang="zh-TW" sz="2000" dirty="0">
              <a:ea typeface="標楷體" pitchFamily="65" charset="-120"/>
            </a:endParaRPr>
          </a:p>
          <a:p>
            <a:pPr>
              <a:tabLst>
                <a:tab pos="2636838" algn="ctr"/>
                <a:tab pos="5273675" algn="r"/>
              </a:tabLst>
            </a:pPr>
            <a:endParaRPr lang="en-US" altLang="zh-TW" sz="2000" dirty="0"/>
          </a:p>
          <a:p>
            <a:pPr eaLnBrk="0" hangingPunct="0">
              <a:tabLst>
                <a:tab pos="2636838" algn="ctr"/>
                <a:tab pos="5273675" algn="r"/>
              </a:tabLst>
            </a:pPr>
            <a:r>
              <a:rPr lang="en-US" altLang="zh-TW" sz="2000" dirty="0">
                <a:solidFill>
                  <a:srgbClr val="FF7C80"/>
                </a:solidFill>
                <a:ea typeface="標楷體" pitchFamily="65" charset="-120"/>
              </a:rPr>
              <a:t>	</a:t>
            </a:r>
            <a:endParaRPr lang="en-US" altLang="zh-TW" sz="2000" dirty="0"/>
          </a:p>
        </p:txBody>
      </p:sp>
      <p:sp>
        <p:nvSpPr>
          <p:cNvPr id="8" name="文字方塊 7"/>
          <p:cNvSpPr txBox="1"/>
          <p:nvPr/>
        </p:nvSpPr>
        <p:spPr>
          <a:xfrm>
            <a:off x="6876256" y="5517232"/>
            <a:ext cx="1800200" cy="1200329"/>
          </a:xfrm>
          <a:prstGeom prst="rect">
            <a:avLst/>
          </a:prstGeom>
          <a:noFill/>
        </p:spPr>
        <p:txBody>
          <a:bodyPr wrap="square" rtlCol="0">
            <a:spAutoFit/>
          </a:bodyPr>
          <a:lstStyle/>
          <a:p>
            <a:pPr eaLnBrk="0" hangingPunct="0">
              <a:tabLst>
                <a:tab pos="2636838" algn="ctr"/>
                <a:tab pos="5273675" algn="r"/>
              </a:tabLst>
            </a:pPr>
            <a:r>
              <a:rPr lang="en-US" altLang="zh-TW" dirty="0" smtClean="0">
                <a:solidFill>
                  <a:srgbClr val="002060"/>
                </a:solidFill>
                <a:ea typeface="標楷體" pitchFamily="65" charset="-120"/>
              </a:rPr>
              <a:t>X: </a:t>
            </a:r>
            <a:r>
              <a:rPr lang="en-US" altLang="zh-TW" dirty="0" err="1" smtClean="0">
                <a:solidFill>
                  <a:srgbClr val="002060"/>
                </a:solidFill>
                <a:ea typeface="標楷體" pitchFamily="65" charset="-120"/>
              </a:rPr>
              <a:t>合成訊號</a:t>
            </a:r>
            <a:endParaRPr lang="en-US" altLang="zh-TW" dirty="0" smtClean="0">
              <a:solidFill>
                <a:srgbClr val="002060"/>
              </a:solidFill>
              <a:ea typeface="標楷體" pitchFamily="65" charset="-120"/>
            </a:endParaRPr>
          </a:p>
          <a:p>
            <a:pPr eaLnBrk="0" hangingPunct="0">
              <a:tabLst>
                <a:tab pos="2636838" algn="ctr"/>
                <a:tab pos="5273675" algn="r"/>
              </a:tabLst>
            </a:pPr>
            <a:r>
              <a:rPr lang="en-US" altLang="zh-TW" dirty="0" smtClean="0">
                <a:solidFill>
                  <a:srgbClr val="002060"/>
                </a:solidFill>
                <a:ea typeface="標楷體" pitchFamily="65" charset="-120"/>
              </a:rPr>
              <a:t>S: </a:t>
            </a:r>
            <a:r>
              <a:rPr lang="en-US" altLang="zh-TW" dirty="0" err="1" smtClean="0">
                <a:solidFill>
                  <a:srgbClr val="002060"/>
                </a:solidFill>
                <a:ea typeface="標楷體" pitchFamily="65" charset="-120"/>
              </a:rPr>
              <a:t>獨立訊號</a:t>
            </a:r>
            <a:endParaRPr lang="en-US" altLang="zh-TW" dirty="0" smtClean="0">
              <a:solidFill>
                <a:srgbClr val="002060"/>
              </a:solidFill>
              <a:ea typeface="標楷體" pitchFamily="65" charset="-120"/>
            </a:endParaRPr>
          </a:p>
          <a:p>
            <a:pPr eaLnBrk="0" hangingPunct="0">
              <a:tabLst>
                <a:tab pos="2636838" algn="ctr"/>
                <a:tab pos="5273675" algn="r"/>
              </a:tabLst>
            </a:pPr>
            <a:r>
              <a:rPr lang="en-US" altLang="zh-TW" dirty="0" err="1" smtClean="0">
                <a:solidFill>
                  <a:srgbClr val="002060"/>
                </a:solidFill>
                <a:ea typeface="標楷體" pitchFamily="65" charset="-120"/>
              </a:rPr>
              <a:t>a</a:t>
            </a:r>
            <a:r>
              <a:rPr lang="en-US" altLang="zh-TW" i="1" baseline="-25000" dirty="0" err="1" smtClean="0">
                <a:solidFill>
                  <a:srgbClr val="002060"/>
                </a:solidFill>
                <a:ea typeface="標楷體" pitchFamily="65" charset="-120"/>
              </a:rPr>
              <a:t>ij</a:t>
            </a:r>
            <a:r>
              <a:rPr lang="en-US" altLang="zh-TW" dirty="0" smtClean="0">
                <a:solidFill>
                  <a:srgbClr val="002060"/>
                </a:solidFill>
                <a:ea typeface="標楷體" pitchFamily="65" charset="-120"/>
              </a:rPr>
              <a:t>: </a:t>
            </a:r>
            <a:r>
              <a:rPr lang="en-US" altLang="zh-TW" dirty="0" err="1" smtClean="0">
                <a:solidFill>
                  <a:srgbClr val="002060"/>
                </a:solidFill>
                <a:ea typeface="標楷體" pitchFamily="65" charset="-120"/>
              </a:rPr>
              <a:t>合成矩陣</a:t>
            </a:r>
            <a:endParaRPr lang="en-US" altLang="zh-TW" dirty="0" smtClean="0">
              <a:solidFill>
                <a:srgbClr val="002060"/>
              </a:solidFill>
            </a:endParaRPr>
          </a:p>
          <a:p>
            <a:endParaRPr lang="zh-TW" altLang="en-US" dirty="0">
              <a:solidFill>
                <a:srgbClr val="002060"/>
              </a:solidFill>
            </a:endParaRPr>
          </a:p>
        </p:txBody>
      </p:sp>
      <p:sp>
        <p:nvSpPr>
          <p:cNvPr id="13" name="Text Box 21"/>
          <p:cNvSpPr txBox="1">
            <a:spLocks noChangeArrowheads="1"/>
          </p:cNvSpPr>
          <p:nvPr/>
        </p:nvSpPr>
        <p:spPr bwMode="auto">
          <a:xfrm>
            <a:off x="4499992" y="5445224"/>
            <a:ext cx="1965603" cy="830997"/>
          </a:xfrm>
          <a:prstGeom prst="rect">
            <a:avLst/>
          </a:prstGeom>
          <a:noFill/>
          <a:ln w="9525">
            <a:noFill/>
            <a:miter lim="800000"/>
            <a:headEnd/>
            <a:tailEnd/>
          </a:ln>
          <a:effectLst/>
        </p:spPr>
        <p:txBody>
          <a:bodyPr wrap="none" anchor="ctr">
            <a:spAutoFit/>
          </a:bodyPr>
          <a:lstStyle/>
          <a:p>
            <a:pPr algn="ctr" eaLnBrk="0" hangingPunct="0"/>
            <a:r>
              <a:rPr lang="en-GB" sz="2400" b="1" dirty="0" smtClean="0">
                <a:solidFill>
                  <a:schemeClr val="tx2"/>
                </a:solidFill>
                <a:latin typeface="Book Antiqua" pitchFamily="18" charset="0"/>
              </a:rPr>
              <a:t>Matrix form:</a:t>
            </a:r>
          </a:p>
          <a:p>
            <a:pPr algn="ctr" eaLnBrk="0" hangingPunct="0"/>
            <a:r>
              <a:rPr lang="en-GB" sz="2400" dirty="0" smtClean="0">
                <a:solidFill>
                  <a:schemeClr val="tx2"/>
                </a:solidFill>
                <a:latin typeface="Book Antiqua" pitchFamily="18" charset="0"/>
              </a:rPr>
              <a:t>X </a:t>
            </a:r>
            <a:r>
              <a:rPr lang="en-GB" sz="2400" dirty="0">
                <a:solidFill>
                  <a:schemeClr val="tx2"/>
                </a:solidFill>
                <a:latin typeface="Book Antiqua" pitchFamily="18" charset="0"/>
              </a:rPr>
              <a:t>= </a:t>
            </a:r>
            <a:r>
              <a:rPr lang="en-GB" sz="2400" b="1" dirty="0" smtClean="0">
                <a:solidFill>
                  <a:schemeClr val="tx2"/>
                </a:solidFill>
                <a:latin typeface="Book Antiqua" pitchFamily="18" charset="0"/>
              </a:rPr>
              <a:t>AS</a:t>
            </a:r>
            <a:endParaRPr lang="en-GB" sz="2400" dirty="0">
              <a:solidFill>
                <a:schemeClr val="tx2"/>
              </a:solidFill>
              <a:latin typeface="Book Antiqua" pitchFamily="18" charset="0"/>
            </a:endParaRPr>
          </a:p>
        </p:txBody>
      </p:sp>
      <p:sp>
        <p:nvSpPr>
          <p:cNvPr id="14" name="文字方塊 13"/>
          <p:cNvSpPr txBox="1"/>
          <p:nvPr/>
        </p:nvSpPr>
        <p:spPr>
          <a:xfrm>
            <a:off x="323528" y="5380672"/>
            <a:ext cx="4464496" cy="1938992"/>
          </a:xfrm>
          <a:prstGeom prst="rect">
            <a:avLst/>
          </a:prstGeom>
          <a:noFill/>
        </p:spPr>
        <p:txBody>
          <a:bodyPr wrap="square" rtlCol="0">
            <a:spAutoFit/>
          </a:bodyPr>
          <a:lstStyle/>
          <a:p>
            <a:pPr eaLnBrk="0" hangingPunct="0">
              <a:tabLst>
                <a:tab pos="2636838" algn="ctr"/>
                <a:tab pos="5273675" algn="r"/>
              </a:tabLst>
            </a:pPr>
            <a:r>
              <a:rPr lang="en-US" altLang="zh-TW" sz="2400" dirty="0" smtClean="0">
                <a:solidFill>
                  <a:srgbClr val="FF7C80"/>
                </a:solidFill>
                <a:ea typeface="標楷體" pitchFamily="65" charset="-120"/>
              </a:rPr>
              <a:t>x</a:t>
            </a:r>
            <a:r>
              <a:rPr lang="en-US" altLang="zh-TW" sz="2400" baseline="-30000" dirty="0" smtClean="0">
                <a:solidFill>
                  <a:srgbClr val="FF7C80"/>
                </a:solidFill>
                <a:ea typeface="標楷體" pitchFamily="65" charset="-120"/>
              </a:rPr>
              <a:t>1</a:t>
            </a:r>
            <a:r>
              <a:rPr lang="en-US" altLang="zh-TW" sz="2400" dirty="0" smtClean="0">
                <a:solidFill>
                  <a:srgbClr val="FF7C80"/>
                </a:solidFill>
                <a:ea typeface="標楷體" pitchFamily="65" charset="-120"/>
              </a:rPr>
              <a:t>(t)</a:t>
            </a:r>
            <a:r>
              <a:rPr lang="en-US" altLang="zh-TW" sz="2400" dirty="0" smtClean="0">
                <a:ea typeface="標楷體" pitchFamily="65" charset="-120"/>
              </a:rPr>
              <a:t>=a</a:t>
            </a:r>
            <a:r>
              <a:rPr lang="en-US" altLang="zh-TW" sz="2400" baseline="-30000" dirty="0" smtClean="0">
                <a:ea typeface="標楷體" pitchFamily="65" charset="-120"/>
              </a:rPr>
              <a:t>11 </a:t>
            </a:r>
            <a:r>
              <a:rPr lang="en-US" altLang="zh-TW" sz="2400" dirty="0" smtClean="0">
                <a:solidFill>
                  <a:schemeClr val="tx2"/>
                </a:solidFill>
                <a:ea typeface="標楷體" pitchFamily="65" charset="-120"/>
              </a:rPr>
              <a:t>s</a:t>
            </a:r>
            <a:r>
              <a:rPr lang="en-US" altLang="zh-TW" sz="2400" baseline="-25000" dirty="0" smtClean="0">
                <a:solidFill>
                  <a:schemeClr val="tx2"/>
                </a:solidFill>
                <a:ea typeface="標楷體" pitchFamily="65" charset="-120"/>
              </a:rPr>
              <a:t>1</a:t>
            </a:r>
            <a:r>
              <a:rPr lang="en-US" altLang="zh-TW" sz="2400" dirty="0" smtClean="0">
                <a:solidFill>
                  <a:schemeClr val="tx2"/>
                </a:solidFill>
                <a:ea typeface="標楷體" pitchFamily="65" charset="-120"/>
              </a:rPr>
              <a:t>(t)</a:t>
            </a:r>
            <a:r>
              <a:rPr lang="en-US" altLang="zh-TW" sz="2400" baseline="-25000" dirty="0" smtClean="0">
                <a:solidFill>
                  <a:schemeClr val="tx2"/>
                </a:solidFill>
                <a:ea typeface="標楷體" pitchFamily="65" charset="-120"/>
              </a:rPr>
              <a:t> </a:t>
            </a:r>
            <a:r>
              <a:rPr lang="en-US" altLang="zh-TW" sz="2400" dirty="0" smtClean="0">
                <a:ea typeface="標楷體" pitchFamily="65" charset="-120"/>
              </a:rPr>
              <a:t>+a</a:t>
            </a:r>
            <a:r>
              <a:rPr lang="en-US" altLang="zh-TW" sz="2400" baseline="-30000" dirty="0" smtClean="0">
                <a:ea typeface="標楷體" pitchFamily="65" charset="-120"/>
              </a:rPr>
              <a:t>12 </a:t>
            </a:r>
            <a:r>
              <a:rPr lang="en-US" altLang="zh-TW" sz="2400" dirty="0" smtClean="0">
                <a:solidFill>
                  <a:schemeClr val="tx2"/>
                </a:solidFill>
                <a:ea typeface="標楷體" pitchFamily="65" charset="-120"/>
              </a:rPr>
              <a:t>s</a:t>
            </a:r>
            <a:r>
              <a:rPr lang="en-US" altLang="zh-TW" sz="2400" baseline="-25000" dirty="0" smtClean="0">
                <a:solidFill>
                  <a:schemeClr val="tx2"/>
                </a:solidFill>
                <a:ea typeface="標楷體" pitchFamily="65" charset="-120"/>
              </a:rPr>
              <a:t>2</a:t>
            </a:r>
            <a:r>
              <a:rPr lang="en-US" altLang="zh-TW" sz="2400" dirty="0" smtClean="0">
                <a:solidFill>
                  <a:schemeClr val="tx2"/>
                </a:solidFill>
                <a:ea typeface="標楷體" pitchFamily="65" charset="-120"/>
              </a:rPr>
              <a:t>(t)</a:t>
            </a:r>
            <a:r>
              <a:rPr lang="en-US" altLang="zh-TW" sz="2400" baseline="-30000" dirty="0" smtClean="0">
                <a:ea typeface="標楷體" pitchFamily="65" charset="-120"/>
              </a:rPr>
              <a:t> </a:t>
            </a:r>
            <a:r>
              <a:rPr lang="en-US" altLang="zh-TW" sz="2400" dirty="0" smtClean="0">
                <a:ea typeface="標楷體" pitchFamily="65" charset="-120"/>
              </a:rPr>
              <a:t>+a</a:t>
            </a:r>
            <a:r>
              <a:rPr lang="en-US" altLang="zh-TW" sz="2400" baseline="-30000" dirty="0" smtClean="0">
                <a:ea typeface="標楷體" pitchFamily="65" charset="-120"/>
              </a:rPr>
              <a:t>13 </a:t>
            </a:r>
            <a:r>
              <a:rPr lang="en-US" altLang="zh-TW" sz="2400" dirty="0" smtClean="0">
                <a:solidFill>
                  <a:schemeClr val="tx2"/>
                </a:solidFill>
                <a:ea typeface="標楷體" pitchFamily="65" charset="-120"/>
              </a:rPr>
              <a:t>s</a:t>
            </a:r>
            <a:r>
              <a:rPr lang="en-US" altLang="zh-TW" sz="2400" baseline="-25000" dirty="0" smtClean="0">
                <a:solidFill>
                  <a:schemeClr val="tx2"/>
                </a:solidFill>
                <a:ea typeface="標楷體" pitchFamily="65" charset="-120"/>
              </a:rPr>
              <a:t>3</a:t>
            </a:r>
            <a:r>
              <a:rPr lang="en-US" altLang="zh-TW" sz="2400" dirty="0" smtClean="0">
                <a:solidFill>
                  <a:schemeClr val="tx2"/>
                </a:solidFill>
                <a:ea typeface="標楷體" pitchFamily="65" charset="-120"/>
              </a:rPr>
              <a:t>(t)</a:t>
            </a:r>
            <a:r>
              <a:rPr lang="en-US" altLang="zh-TW" sz="2400" baseline="-30000" dirty="0" smtClean="0">
                <a:ea typeface="標楷體" pitchFamily="65" charset="-120"/>
              </a:rPr>
              <a:t> 	</a:t>
            </a:r>
            <a:endParaRPr lang="en-US" altLang="zh-TW" sz="2400" dirty="0" smtClean="0"/>
          </a:p>
          <a:p>
            <a:pPr eaLnBrk="0" hangingPunct="0">
              <a:tabLst>
                <a:tab pos="2636838" algn="ctr"/>
                <a:tab pos="5273675" algn="r"/>
              </a:tabLst>
            </a:pPr>
            <a:r>
              <a:rPr lang="en-US" altLang="zh-TW" sz="2400" dirty="0" smtClean="0">
                <a:solidFill>
                  <a:srgbClr val="FF7C80"/>
                </a:solidFill>
                <a:ea typeface="標楷體" pitchFamily="65" charset="-120"/>
              </a:rPr>
              <a:t>x</a:t>
            </a:r>
            <a:r>
              <a:rPr lang="en-US" altLang="zh-TW" sz="2400" baseline="-30000" dirty="0" smtClean="0">
                <a:solidFill>
                  <a:srgbClr val="FF7C80"/>
                </a:solidFill>
                <a:ea typeface="標楷體" pitchFamily="65" charset="-120"/>
              </a:rPr>
              <a:t>2</a:t>
            </a:r>
            <a:r>
              <a:rPr lang="en-US" altLang="zh-TW" sz="2400" dirty="0" smtClean="0">
                <a:solidFill>
                  <a:srgbClr val="FF7C80"/>
                </a:solidFill>
                <a:ea typeface="標楷體" pitchFamily="65" charset="-120"/>
              </a:rPr>
              <a:t>(t)</a:t>
            </a:r>
            <a:r>
              <a:rPr lang="en-US" altLang="zh-TW" sz="2400" dirty="0" smtClean="0">
                <a:ea typeface="標楷體" pitchFamily="65" charset="-120"/>
              </a:rPr>
              <a:t>=a</a:t>
            </a:r>
            <a:r>
              <a:rPr lang="en-US" altLang="zh-TW" sz="2400" baseline="-30000" dirty="0" smtClean="0">
                <a:ea typeface="標楷體" pitchFamily="65" charset="-120"/>
              </a:rPr>
              <a:t>21 </a:t>
            </a:r>
            <a:r>
              <a:rPr lang="en-US" altLang="zh-TW" sz="2400" dirty="0" smtClean="0">
                <a:solidFill>
                  <a:schemeClr val="tx2"/>
                </a:solidFill>
                <a:ea typeface="標楷體" pitchFamily="65" charset="-120"/>
              </a:rPr>
              <a:t>s</a:t>
            </a:r>
            <a:r>
              <a:rPr lang="en-US" altLang="zh-TW" sz="2400" baseline="-25000" dirty="0" smtClean="0">
                <a:solidFill>
                  <a:schemeClr val="tx2"/>
                </a:solidFill>
                <a:ea typeface="標楷體" pitchFamily="65" charset="-120"/>
              </a:rPr>
              <a:t>1</a:t>
            </a:r>
            <a:r>
              <a:rPr lang="en-US" altLang="zh-TW" sz="2400" dirty="0" smtClean="0">
                <a:solidFill>
                  <a:schemeClr val="tx2"/>
                </a:solidFill>
                <a:ea typeface="標楷體" pitchFamily="65" charset="-120"/>
              </a:rPr>
              <a:t>(t)</a:t>
            </a:r>
            <a:r>
              <a:rPr lang="en-US" altLang="zh-TW" sz="2400" baseline="-30000" dirty="0" smtClean="0">
                <a:ea typeface="標楷體" pitchFamily="65" charset="-120"/>
              </a:rPr>
              <a:t> </a:t>
            </a:r>
            <a:r>
              <a:rPr lang="en-US" altLang="zh-TW" sz="2400" dirty="0" smtClean="0">
                <a:ea typeface="標楷體" pitchFamily="65" charset="-120"/>
              </a:rPr>
              <a:t>+a</a:t>
            </a:r>
            <a:r>
              <a:rPr lang="en-US" altLang="zh-TW" sz="2400" baseline="-30000" dirty="0" smtClean="0">
                <a:ea typeface="標楷體" pitchFamily="65" charset="-120"/>
              </a:rPr>
              <a:t>22 </a:t>
            </a:r>
            <a:r>
              <a:rPr lang="en-US" altLang="zh-TW" sz="2400" dirty="0" smtClean="0">
                <a:solidFill>
                  <a:schemeClr val="tx2"/>
                </a:solidFill>
                <a:ea typeface="標楷體" pitchFamily="65" charset="-120"/>
              </a:rPr>
              <a:t>s</a:t>
            </a:r>
            <a:r>
              <a:rPr lang="en-US" altLang="zh-TW" sz="2400" baseline="-25000" dirty="0" smtClean="0">
                <a:solidFill>
                  <a:schemeClr val="tx2"/>
                </a:solidFill>
                <a:ea typeface="標楷體" pitchFamily="65" charset="-120"/>
              </a:rPr>
              <a:t>2</a:t>
            </a:r>
            <a:r>
              <a:rPr lang="en-US" altLang="zh-TW" sz="2400" dirty="0" smtClean="0">
                <a:solidFill>
                  <a:schemeClr val="tx2"/>
                </a:solidFill>
                <a:ea typeface="標楷體" pitchFamily="65" charset="-120"/>
              </a:rPr>
              <a:t>(t) </a:t>
            </a:r>
            <a:r>
              <a:rPr lang="en-US" altLang="zh-TW" sz="2400" dirty="0" smtClean="0">
                <a:ea typeface="標楷體" pitchFamily="65" charset="-120"/>
              </a:rPr>
              <a:t>+a</a:t>
            </a:r>
            <a:r>
              <a:rPr lang="en-US" altLang="zh-TW" sz="2400" baseline="-30000" dirty="0" smtClean="0">
                <a:ea typeface="標楷體" pitchFamily="65" charset="-120"/>
              </a:rPr>
              <a:t>12 </a:t>
            </a:r>
            <a:r>
              <a:rPr lang="en-US" altLang="zh-TW" sz="2400" dirty="0" smtClean="0">
                <a:solidFill>
                  <a:schemeClr val="tx2"/>
                </a:solidFill>
                <a:ea typeface="標楷體" pitchFamily="65" charset="-120"/>
              </a:rPr>
              <a:t>s</a:t>
            </a:r>
            <a:r>
              <a:rPr lang="en-US" altLang="zh-TW" sz="2400" baseline="-25000" dirty="0" smtClean="0">
                <a:solidFill>
                  <a:schemeClr val="tx2"/>
                </a:solidFill>
                <a:ea typeface="標楷體" pitchFamily="65" charset="-120"/>
              </a:rPr>
              <a:t>3</a:t>
            </a:r>
            <a:r>
              <a:rPr lang="en-US" altLang="zh-TW" sz="2400" dirty="0" smtClean="0">
                <a:solidFill>
                  <a:schemeClr val="tx2"/>
                </a:solidFill>
                <a:ea typeface="標楷體" pitchFamily="65" charset="-120"/>
              </a:rPr>
              <a:t>(t)</a:t>
            </a:r>
            <a:r>
              <a:rPr lang="en-US" altLang="zh-TW" sz="2400" baseline="-30000" dirty="0" smtClean="0">
                <a:ea typeface="標楷體" pitchFamily="65" charset="-120"/>
              </a:rPr>
              <a:t> </a:t>
            </a:r>
            <a:endParaRPr lang="en-US" altLang="zh-TW" sz="2400" baseline="-30000" dirty="0" smtClean="0">
              <a:solidFill>
                <a:schemeClr val="tx2"/>
              </a:solidFill>
              <a:ea typeface="標楷體" pitchFamily="65" charset="-120"/>
            </a:endParaRPr>
          </a:p>
          <a:p>
            <a:pPr eaLnBrk="0" hangingPunct="0">
              <a:tabLst>
                <a:tab pos="2636838" algn="ctr"/>
                <a:tab pos="5273675" algn="r"/>
              </a:tabLst>
            </a:pPr>
            <a:r>
              <a:rPr lang="en-US" altLang="zh-TW" sz="2400" baseline="-30000" dirty="0" smtClean="0">
                <a:ea typeface="標楷體" pitchFamily="65" charset="-120"/>
              </a:rPr>
              <a:t> </a:t>
            </a:r>
            <a:r>
              <a:rPr lang="en-US" altLang="zh-TW" sz="2400" dirty="0" smtClean="0">
                <a:solidFill>
                  <a:srgbClr val="FF7C80"/>
                </a:solidFill>
                <a:ea typeface="標楷體" pitchFamily="65" charset="-120"/>
              </a:rPr>
              <a:t>x</a:t>
            </a:r>
            <a:r>
              <a:rPr lang="en-US" altLang="zh-TW" sz="2400" baseline="-30000" dirty="0" smtClean="0">
                <a:solidFill>
                  <a:srgbClr val="FF7C80"/>
                </a:solidFill>
                <a:ea typeface="標楷體" pitchFamily="65" charset="-120"/>
              </a:rPr>
              <a:t>3</a:t>
            </a:r>
            <a:r>
              <a:rPr lang="en-US" altLang="zh-TW" sz="2400" dirty="0" smtClean="0">
                <a:solidFill>
                  <a:srgbClr val="FF7C80"/>
                </a:solidFill>
                <a:ea typeface="標楷體" pitchFamily="65" charset="-120"/>
              </a:rPr>
              <a:t>(t)</a:t>
            </a:r>
            <a:r>
              <a:rPr lang="en-US" altLang="zh-TW" sz="2400" dirty="0" smtClean="0">
                <a:ea typeface="標楷體" pitchFamily="65" charset="-120"/>
              </a:rPr>
              <a:t>=a</a:t>
            </a:r>
            <a:r>
              <a:rPr lang="en-US" altLang="zh-TW" sz="2400" baseline="-30000" dirty="0" smtClean="0">
                <a:ea typeface="標楷體" pitchFamily="65" charset="-120"/>
              </a:rPr>
              <a:t>31 </a:t>
            </a:r>
            <a:r>
              <a:rPr lang="en-US" altLang="zh-TW" sz="2400" dirty="0" smtClean="0">
                <a:solidFill>
                  <a:schemeClr val="tx2"/>
                </a:solidFill>
                <a:ea typeface="標楷體" pitchFamily="65" charset="-120"/>
              </a:rPr>
              <a:t>s</a:t>
            </a:r>
            <a:r>
              <a:rPr lang="en-US" altLang="zh-TW" sz="2400" baseline="-25000" dirty="0" smtClean="0">
                <a:solidFill>
                  <a:schemeClr val="tx2"/>
                </a:solidFill>
                <a:ea typeface="標楷體" pitchFamily="65" charset="-120"/>
              </a:rPr>
              <a:t>1</a:t>
            </a:r>
            <a:r>
              <a:rPr lang="en-US" altLang="zh-TW" sz="2400" dirty="0" smtClean="0">
                <a:solidFill>
                  <a:schemeClr val="tx2"/>
                </a:solidFill>
                <a:ea typeface="標楷體" pitchFamily="65" charset="-120"/>
              </a:rPr>
              <a:t>(t)</a:t>
            </a:r>
            <a:r>
              <a:rPr lang="en-US" altLang="zh-TW" sz="2400" baseline="-30000" dirty="0" smtClean="0">
                <a:ea typeface="標楷體" pitchFamily="65" charset="-120"/>
              </a:rPr>
              <a:t> </a:t>
            </a:r>
            <a:r>
              <a:rPr lang="en-US" altLang="zh-TW" sz="2400" dirty="0" smtClean="0">
                <a:ea typeface="標楷體" pitchFamily="65" charset="-120"/>
              </a:rPr>
              <a:t>+a</a:t>
            </a:r>
            <a:r>
              <a:rPr lang="en-US" altLang="zh-TW" sz="2400" baseline="-30000" dirty="0" smtClean="0">
                <a:ea typeface="標楷體" pitchFamily="65" charset="-120"/>
              </a:rPr>
              <a:t>32 </a:t>
            </a:r>
            <a:r>
              <a:rPr lang="en-US" altLang="zh-TW" sz="2400" dirty="0" smtClean="0">
                <a:solidFill>
                  <a:schemeClr val="tx2"/>
                </a:solidFill>
                <a:ea typeface="標楷體" pitchFamily="65" charset="-120"/>
              </a:rPr>
              <a:t>s</a:t>
            </a:r>
            <a:r>
              <a:rPr lang="en-US" altLang="zh-TW" sz="2400" baseline="-25000" dirty="0" smtClean="0">
                <a:solidFill>
                  <a:schemeClr val="tx2"/>
                </a:solidFill>
                <a:ea typeface="標楷體" pitchFamily="65" charset="-120"/>
              </a:rPr>
              <a:t>2</a:t>
            </a:r>
            <a:r>
              <a:rPr lang="en-US" altLang="zh-TW" sz="2400" dirty="0" smtClean="0">
                <a:solidFill>
                  <a:schemeClr val="tx2"/>
                </a:solidFill>
                <a:ea typeface="標楷體" pitchFamily="65" charset="-120"/>
              </a:rPr>
              <a:t>(t) </a:t>
            </a:r>
            <a:r>
              <a:rPr lang="en-US" altLang="zh-TW" sz="2400" dirty="0" smtClean="0">
                <a:ea typeface="標楷體" pitchFamily="65" charset="-120"/>
              </a:rPr>
              <a:t>+a</a:t>
            </a:r>
            <a:r>
              <a:rPr lang="en-US" altLang="zh-TW" sz="2400" baseline="-30000" dirty="0" smtClean="0">
                <a:ea typeface="標楷體" pitchFamily="65" charset="-120"/>
              </a:rPr>
              <a:t>33 </a:t>
            </a:r>
            <a:r>
              <a:rPr lang="en-US" altLang="zh-TW" sz="2400" dirty="0" smtClean="0">
                <a:solidFill>
                  <a:schemeClr val="tx2"/>
                </a:solidFill>
                <a:ea typeface="標楷體" pitchFamily="65" charset="-120"/>
              </a:rPr>
              <a:t>s</a:t>
            </a:r>
            <a:r>
              <a:rPr lang="en-US" altLang="zh-TW" sz="2400" baseline="-25000" dirty="0" smtClean="0">
                <a:solidFill>
                  <a:schemeClr val="tx2"/>
                </a:solidFill>
                <a:ea typeface="標楷體" pitchFamily="65" charset="-120"/>
              </a:rPr>
              <a:t>3</a:t>
            </a:r>
            <a:r>
              <a:rPr lang="en-US" altLang="zh-TW" sz="2400" dirty="0" smtClean="0">
                <a:solidFill>
                  <a:schemeClr val="tx2"/>
                </a:solidFill>
                <a:ea typeface="標楷體" pitchFamily="65" charset="-120"/>
              </a:rPr>
              <a:t>(t)</a:t>
            </a:r>
            <a:r>
              <a:rPr lang="en-US" altLang="zh-TW" sz="2400" baseline="-30000" dirty="0" smtClean="0">
                <a:ea typeface="標楷體" pitchFamily="65" charset="-120"/>
              </a:rPr>
              <a:t> </a:t>
            </a:r>
            <a:endParaRPr lang="en-US" altLang="zh-TW" sz="2400" dirty="0" smtClean="0"/>
          </a:p>
          <a:p>
            <a:pPr eaLnBrk="0" hangingPunct="0">
              <a:tabLst>
                <a:tab pos="2636838" algn="ctr"/>
                <a:tab pos="5273675" algn="r"/>
              </a:tabLst>
            </a:pPr>
            <a:endParaRPr lang="en-US" altLang="zh-TW" sz="2400" dirty="0" smtClean="0"/>
          </a:p>
          <a:p>
            <a:endParaRPr lang="zh-TW" alt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normAutofit/>
          </a:bodyPr>
          <a:lstStyle/>
          <a:p>
            <a:r>
              <a:rPr lang="en-US" altLang="zh-TW" sz="3600" dirty="0" smtClean="0"/>
              <a:t>Goal of ICA</a:t>
            </a:r>
            <a:endParaRPr lang="zh-TW" altLang="en-US" sz="3600" dirty="0"/>
          </a:p>
        </p:txBody>
      </p:sp>
      <p:pic>
        <p:nvPicPr>
          <p:cNvPr id="10" name="Picture 3"/>
          <p:cNvPicPr>
            <a:picLocks noGrp="1" noChangeAspect="1" noChangeArrowheads="1"/>
          </p:cNvPicPr>
          <p:nvPr>
            <p:ph sz="quarter" idx="1"/>
          </p:nvPr>
        </p:nvPicPr>
        <p:blipFill>
          <a:blip r:embed="rId2" cstate="print"/>
          <a:srcRect/>
          <a:stretch>
            <a:fillRect/>
          </a:stretch>
        </p:blipFill>
        <p:spPr>
          <a:xfrm>
            <a:off x="683568" y="1741835"/>
            <a:ext cx="2998787" cy="2187575"/>
          </a:xfrm>
        </p:spPr>
      </p:pic>
      <p:pic>
        <p:nvPicPr>
          <p:cNvPr id="11" name="Picture 4"/>
          <p:cNvPicPr>
            <a:picLocks noChangeAspect="1" noChangeArrowheads="1"/>
          </p:cNvPicPr>
          <p:nvPr/>
        </p:nvPicPr>
        <p:blipFill>
          <a:blip r:embed="rId3" cstate="print"/>
          <a:srcRect/>
          <a:stretch>
            <a:fillRect/>
          </a:stretch>
        </p:blipFill>
        <p:spPr>
          <a:xfrm>
            <a:off x="685155" y="4080223"/>
            <a:ext cx="2997200" cy="2187575"/>
          </a:xfrm>
          <a:prstGeom prst="rect">
            <a:avLst/>
          </a:prstGeom>
          <a:noFill/>
        </p:spPr>
      </p:pic>
      <p:pic>
        <p:nvPicPr>
          <p:cNvPr id="12" name="Picture 5"/>
          <p:cNvPicPr>
            <a:picLocks noChangeAspect="1" noChangeArrowheads="1"/>
          </p:cNvPicPr>
          <p:nvPr/>
        </p:nvPicPr>
        <p:blipFill>
          <a:blip r:embed="rId4" cstate="print"/>
          <a:srcRect/>
          <a:stretch>
            <a:fillRect/>
          </a:stretch>
        </p:blipFill>
        <p:spPr>
          <a:xfrm>
            <a:off x="4890443" y="1741835"/>
            <a:ext cx="2967037" cy="2187575"/>
          </a:xfrm>
          <a:prstGeom prst="rect">
            <a:avLst/>
          </a:prstGeom>
          <a:noFill/>
        </p:spPr>
      </p:pic>
      <p:sp>
        <p:nvSpPr>
          <p:cNvPr id="13" name="Text Box 7"/>
          <p:cNvSpPr txBox="1">
            <a:spLocks noChangeArrowheads="1"/>
          </p:cNvSpPr>
          <p:nvPr/>
        </p:nvSpPr>
        <p:spPr bwMode="auto">
          <a:xfrm>
            <a:off x="3918893" y="3642073"/>
            <a:ext cx="1008062" cy="466725"/>
          </a:xfrm>
          <a:prstGeom prst="rect">
            <a:avLst/>
          </a:prstGeom>
          <a:noFill/>
          <a:ln w="9525">
            <a:solidFill>
              <a:srgbClr val="FF0066"/>
            </a:solidFill>
            <a:miter lim="800000"/>
            <a:headEnd/>
            <a:tailEnd/>
          </a:ln>
        </p:spPr>
        <p:txBody>
          <a:bodyPr>
            <a:spAutoFit/>
          </a:bodyPr>
          <a:lstStyle/>
          <a:p>
            <a:pPr algn="l">
              <a:spcBef>
                <a:spcPct val="50000"/>
              </a:spcBef>
            </a:pPr>
            <a:r>
              <a:rPr lang="en-US" altLang="zh-TW" sz="2400" b="1">
                <a:solidFill>
                  <a:srgbClr val="00CC99"/>
                </a:solidFill>
                <a:latin typeface="Times New Roman" pitchFamily="18" charset="0"/>
                <a:ea typeface="新細明體" charset="-120"/>
                <a:cs typeface="Times New Roman" pitchFamily="18" charset="0"/>
              </a:rPr>
              <a:t>  ICA</a:t>
            </a:r>
            <a:endParaRPr lang="ru-RU" sz="2400" b="1">
              <a:solidFill>
                <a:srgbClr val="00CC99"/>
              </a:solidFill>
              <a:latin typeface="Times New Roman" pitchFamily="18" charset="0"/>
              <a:cs typeface="Times New Roman" pitchFamily="18" charset="0"/>
            </a:endParaRPr>
          </a:p>
        </p:txBody>
      </p:sp>
      <p:sp>
        <p:nvSpPr>
          <p:cNvPr id="14" name="Line 8"/>
          <p:cNvSpPr>
            <a:spLocks noChangeShapeType="1"/>
          </p:cNvSpPr>
          <p:nvPr/>
        </p:nvSpPr>
        <p:spPr bwMode="auto">
          <a:xfrm>
            <a:off x="3702993" y="2634010"/>
            <a:ext cx="215900" cy="1008063"/>
          </a:xfrm>
          <a:prstGeom prst="line">
            <a:avLst/>
          </a:prstGeom>
          <a:noFill/>
          <a:ln w="9525">
            <a:solidFill>
              <a:schemeClr val="tx1"/>
            </a:solidFill>
            <a:round/>
            <a:headEnd/>
            <a:tailEnd type="triangle" w="med" len="med"/>
          </a:ln>
        </p:spPr>
        <p:txBody>
          <a:bodyPr/>
          <a:lstStyle/>
          <a:p>
            <a:endParaRPr lang="zh-TW" altLang="en-US"/>
          </a:p>
        </p:txBody>
      </p:sp>
      <p:sp>
        <p:nvSpPr>
          <p:cNvPr id="15" name="Line 9"/>
          <p:cNvSpPr>
            <a:spLocks noChangeShapeType="1"/>
          </p:cNvSpPr>
          <p:nvPr/>
        </p:nvSpPr>
        <p:spPr bwMode="auto">
          <a:xfrm flipV="1">
            <a:off x="3702993" y="4146898"/>
            <a:ext cx="215900" cy="1008062"/>
          </a:xfrm>
          <a:prstGeom prst="line">
            <a:avLst/>
          </a:prstGeom>
          <a:noFill/>
          <a:ln w="9525">
            <a:solidFill>
              <a:schemeClr val="tx1"/>
            </a:solidFill>
            <a:round/>
            <a:headEnd/>
            <a:tailEnd type="triangle" w="med" len="med"/>
          </a:ln>
        </p:spPr>
        <p:txBody>
          <a:bodyPr/>
          <a:lstStyle/>
          <a:p>
            <a:endParaRPr lang="zh-TW" altLang="en-US"/>
          </a:p>
        </p:txBody>
      </p:sp>
      <p:sp>
        <p:nvSpPr>
          <p:cNvPr id="16" name="Line 10"/>
          <p:cNvSpPr>
            <a:spLocks noChangeShapeType="1"/>
          </p:cNvSpPr>
          <p:nvPr/>
        </p:nvSpPr>
        <p:spPr bwMode="auto">
          <a:xfrm flipV="1">
            <a:off x="4926955" y="2707035"/>
            <a:ext cx="288925" cy="935038"/>
          </a:xfrm>
          <a:prstGeom prst="line">
            <a:avLst/>
          </a:prstGeom>
          <a:noFill/>
          <a:ln w="9525">
            <a:solidFill>
              <a:schemeClr val="tx1"/>
            </a:solidFill>
            <a:round/>
            <a:headEnd/>
            <a:tailEnd type="triangle" w="med" len="med"/>
          </a:ln>
        </p:spPr>
        <p:txBody>
          <a:bodyPr/>
          <a:lstStyle/>
          <a:p>
            <a:endParaRPr lang="zh-TW" altLang="en-US"/>
          </a:p>
        </p:txBody>
      </p:sp>
      <p:sp>
        <p:nvSpPr>
          <p:cNvPr id="17" name="Line 11"/>
          <p:cNvSpPr>
            <a:spLocks noChangeShapeType="1"/>
          </p:cNvSpPr>
          <p:nvPr/>
        </p:nvSpPr>
        <p:spPr bwMode="auto">
          <a:xfrm>
            <a:off x="4926955" y="4146898"/>
            <a:ext cx="288925" cy="936625"/>
          </a:xfrm>
          <a:prstGeom prst="line">
            <a:avLst/>
          </a:prstGeom>
          <a:noFill/>
          <a:ln w="9525">
            <a:solidFill>
              <a:schemeClr val="tx1"/>
            </a:solidFill>
            <a:round/>
            <a:headEnd/>
            <a:tailEnd type="triangle" w="med" len="med"/>
          </a:ln>
        </p:spPr>
        <p:txBody>
          <a:bodyPr/>
          <a:lstStyle/>
          <a:p>
            <a:endParaRPr lang="zh-TW" altLang="en-US"/>
          </a:p>
        </p:txBody>
      </p:sp>
      <p:sp>
        <p:nvSpPr>
          <p:cNvPr id="18" name="Text Box 12"/>
          <p:cNvSpPr txBox="1">
            <a:spLocks noChangeArrowheads="1"/>
          </p:cNvSpPr>
          <p:nvPr/>
        </p:nvSpPr>
        <p:spPr bwMode="auto">
          <a:xfrm>
            <a:off x="1038895" y="1268760"/>
            <a:ext cx="2685351" cy="369332"/>
          </a:xfrm>
          <a:prstGeom prst="rect">
            <a:avLst/>
          </a:prstGeom>
          <a:noFill/>
          <a:ln w="9525">
            <a:noFill/>
            <a:miter lim="800000"/>
            <a:headEnd/>
            <a:tailEnd/>
          </a:ln>
        </p:spPr>
        <p:txBody>
          <a:bodyPr wrap="none">
            <a:spAutoFit/>
          </a:bodyPr>
          <a:lstStyle/>
          <a:p>
            <a:pPr algn="l"/>
            <a:r>
              <a:rPr lang="en-US" altLang="zh-TW" dirty="0">
                <a:solidFill>
                  <a:srgbClr val="00CC99"/>
                </a:solidFill>
                <a:latin typeface="Times New Roman" pitchFamily="18" charset="0"/>
                <a:ea typeface="新細明體" charset="-120"/>
                <a:cs typeface="Times New Roman" pitchFamily="18" charset="0"/>
              </a:rPr>
              <a:t>Observing </a:t>
            </a:r>
            <a:r>
              <a:rPr lang="en-US" altLang="zh-TW" dirty="0" smtClean="0">
                <a:solidFill>
                  <a:srgbClr val="00CC99"/>
                </a:solidFill>
                <a:latin typeface="Times New Roman" pitchFamily="18" charset="0"/>
                <a:ea typeface="新細明體" charset="-120"/>
                <a:cs typeface="Times New Roman" pitchFamily="18" charset="0"/>
              </a:rPr>
              <a:t>signals (known)</a:t>
            </a:r>
            <a:endParaRPr lang="ru-RU" dirty="0">
              <a:solidFill>
                <a:srgbClr val="00CC99"/>
              </a:solidFill>
              <a:latin typeface="Times New Roman" pitchFamily="18" charset="0"/>
              <a:cs typeface="Times New Roman" pitchFamily="18" charset="0"/>
            </a:endParaRPr>
          </a:p>
        </p:txBody>
      </p:sp>
      <p:sp>
        <p:nvSpPr>
          <p:cNvPr id="19" name="Text Box 13"/>
          <p:cNvSpPr txBox="1">
            <a:spLocks noChangeArrowheads="1"/>
          </p:cNvSpPr>
          <p:nvPr/>
        </p:nvSpPr>
        <p:spPr bwMode="auto">
          <a:xfrm>
            <a:off x="4927327" y="1268760"/>
            <a:ext cx="3294492" cy="369332"/>
          </a:xfrm>
          <a:prstGeom prst="rect">
            <a:avLst/>
          </a:prstGeom>
          <a:noFill/>
          <a:ln w="9525">
            <a:noFill/>
            <a:miter lim="800000"/>
            <a:headEnd/>
            <a:tailEnd/>
          </a:ln>
        </p:spPr>
        <p:txBody>
          <a:bodyPr wrap="none">
            <a:spAutoFit/>
          </a:bodyPr>
          <a:lstStyle/>
          <a:p>
            <a:pPr algn="l"/>
            <a:r>
              <a:rPr lang="en-US" altLang="zh-TW" dirty="0">
                <a:solidFill>
                  <a:srgbClr val="00CC99"/>
                </a:solidFill>
                <a:latin typeface="Times New Roman" pitchFamily="18" charset="0"/>
                <a:ea typeface="新細明體" charset="-120"/>
                <a:cs typeface="Times New Roman" pitchFamily="18" charset="0"/>
              </a:rPr>
              <a:t>Original source </a:t>
            </a:r>
            <a:r>
              <a:rPr lang="en-US" altLang="zh-TW" dirty="0" smtClean="0">
                <a:solidFill>
                  <a:srgbClr val="00CC99"/>
                </a:solidFill>
                <a:latin typeface="Times New Roman" pitchFamily="18" charset="0"/>
                <a:ea typeface="新細明體" charset="-120"/>
                <a:cs typeface="Times New Roman" pitchFamily="18" charset="0"/>
              </a:rPr>
              <a:t>signal (unknown)</a:t>
            </a:r>
            <a:endParaRPr lang="ru-RU" dirty="0">
              <a:solidFill>
                <a:srgbClr val="00CC99"/>
              </a:solidFill>
              <a:latin typeface="Times New Roman" pitchFamily="18" charset="0"/>
              <a:cs typeface="Times New Roman" pitchFamily="18" charset="0"/>
            </a:endParaRPr>
          </a:p>
        </p:txBody>
      </p:sp>
      <p:grpSp>
        <p:nvGrpSpPr>
          <p:cNvPr id="20" name="Group 15"/>
          <p:cNvGrpSpPr>
            <a:grpSpLocks noChangeAspect="1"/>
          </p:cNvGrpSpPr>
          <p:nvPr/>
        </p:nvGrpSpPr>
        <p:grpSpPr bwMode="auto">
          <a:xfrm>
            <a:off x="4890443" y="4078635"/>
            <a:ext cx="2967037" cy="2189163"/>
            <a:chOff x="3265" y="2480"/>
            <a:chExt cx="1869" cy="1379"/>
          </a:xfrm>
        </p:grpSpPr>
        <p:sp>
          <p:nvSpPr>
            <p:cNvPr id="21" name="AutoShape 14"/>
            <p:cNvSpPr>
              <a:spLocks noChangeAspect="1" noChangeArrowheads="1" noTextEdit="1"/>
            </p:cNvSpPr>
            <p:nvPr/>
          </p:nvSpPr>
          <p:spPr bwMode="auto">
            <a:xfrm>
              <a:off x="3265" y="2481"/>
              <a:ext cx="1869" cy="1378"/>
            </a:xfrm>
            <a:prstGeom prst="rect">
              <a:avLst/>
            </a:prstGeom>
            <a:noFill/>
            <a:ln w="9525">
              <a:noFill/>
              <a:miter lim="800000"/>
              <a:headEnd/>
              <a:tailEnd/>
            </a:ln>
          </p:spPr>
          <p:txBody>
            <a:bodyPr/>
            <a:lstStyle/>
            <a:p>
              <a:endParaRPr lang="zh-TW" altLang="en-US"/>
            </a:p>
          </p:txBody>
        </p:sp>
        <p:sp>
          <p:nvSpPr>
            <p:cNvPr id="22" name="Rectangle 16"/>
            <p:cNvSpPr>
              <a:spLocks noChangeArrowheads="1"/>
            </p:cNvSpPr>
            <p:nvPr/>
          </p:nvSpPr>
          <p:spPr bwMode="auto">
            <a:xfrm>
              <a:off x="3495" y="3694"/>
              <a:ext cx="1622" cy="2"/>
            </a:xfrm>
            <a:prstGeom prst="rect">
              <a:avLst/>
            </a:prstGeom>
            <a:solidFill>
              <a:srgbClr val="000000"/>
            </a:solidFill>
            <a:ln w="1588">
              <a:solidFill>
                <a:srgbClr val="000000"/>
              </a:solidFill>
              <a:miter lim="800000"/>
              <a:headEnd/>
              <a:tailEnd/>
            </a:ln>
          </p:spPr>
          <p:txBody>
            <a:bodyPr/>
            <a:lstStyle/>
            <a:p>
              <a:endParaRPr lang="zh-TW" altLang="zh-TW"/>
            </a:p>
          </p:txBody>
        </p:sp>
        <p:sp>
          <p:nvSpPr>
            <p:cNvPr id="23" name="Line 17"/>
            <p:cNvSpPr>
              <a:spLocks noChangeShapeType="1"/>
            </p:cNvSpPr>
            <p:nvPr/>
          </p:nvSpPr>
          <p:spPr bwMode="auto">
            <a:xfrm flipV="1">
              <a:off x="3630" y="3695"/>
              <a:ext cx="1" cy="20"/>
            </a:xfrm>
            <a:prstGeom prst="line">
              <a:avLst/>
            </a:prstGeom>
            <a:noFill/>
            <a:ln w="1588">
              <a:solidFill>
                <a:srgbClr val="000000"/>
              </a:solidFill>
              <a:round/>
              <a:headEnd/>
              <a:tailEnd/>
            </a:ln>
          </p:spPr>
          <p:txBody>
            <a:bodyPr/>
            <a:lstStyle/>
            <a:p>
              <a:endParaRPr lang="zh-TW" altLang="en-US"/>
            </a:p>
          </p:txBody>
        </p:sp>
        <p:sp>
          <p:nvSpPr>
            <p:cNvPr id="24" name="Line 18"/>
            <p:cNvSpPr>
              <a:spLocks noChangeShapeType="1"/>
            </p:cNvSpPr>
            <p:nvPr/>
          </p:nvSpPr>
          <p:spPr bwMode="auto">
            <a:xfrm flipV="1">
              <a:off x="3894" y="3695"/>
              <a:ext cx="1" cy="20"/>
            </a:xfrm>
            <a:prstGeom prst="line">
              <a:avLst/>
            </a:prstGeom>
            <a:noFill/>
            <a:ln w="1588">
              <a:solidFill>
                <a:srgbClr val="000000"/>
              </a:solidFill>
              <a:round/>
              <a:headEnd/>
              <a:tailEnd/>
            </a:ln>
          </p:spPr>
          <p:txBody>
            <a:bodyPr/>
            <a:lstStyle/>
            <a:p>
              <a:endParaRPr lang="zh-TW" altLang="en-US"/>
            </a:p>
          </p:txBody>
        </p:sp>
        <p:sp>
          <p:nvSpPr>
            <p:cNvPr id="25" name="Line 19"/>
            <p:cNvSpPr>
              <a:spLocks noChangeShapeType="1"/>
            </p:cNvSpPr>
            <p:nvPr/>
          </p:nvSpPr>
          <p:spPr bwMode="auto">
            <a:xfrm flipV="1">
              <a:off x="4158" y="3695"/>
              <a:ext cx="1" cy="20"/>
            </a:xfrm>
            <a:prstGeom prst="line">
              <a:avLst/>
            </a:prstGeom>
            <a:noFill/>
            <a:ln w="1588">
              <a:solidFill>
                <a:srgbClr val="000000"/>
              </a:solidFill>
              <a:round/>
              <a:headEnd/>
              <a:tailEnd/>
            </a:ln>
          </p:spPr>
          <p:txBody>
            <a:bodyPr/>
            <a:lstStyle/>
            <a:p>
              <a:endParaRPr lang="zh-TW" altLang="en-US"/>
            </a:p>
          </p:txBody>
        </p:sp>
        <p:sp>
          <p:nvSpPr>
            <p:cNvPr id="26" name="Line 20"/>
            <p:cNvSpPr>
              <a:spLocks noChangeShapeType="1"/>
            </p:cNvSpPr>
            <p:nvPr/>
          </p:nvSpPr>
          <p:spPr bwMode="auto">
            <a:xfrm flipV="1">
              <a:off x="4422" y="3695"/>
              <a:ext cx="1" cy="20"/>
            </a:xfrm>
            <a:prstGeom prst="line">
              <a:avLst/>
            </a:prstGeom>
            <a:noFill/>
            <a:ln w="1588">
              <a:solidFill>
                <a:srgbClr val="000000"/>
              </a:solidFill>
              <a:round/>
              <a:headEnd/>
              <a:tailEnd/>
            </a:ln>
          </p:spPr>
          <p:txBody>
            <a:bodyPr/>
            <a:lstStyle/>
            <a:p>
              <a:endParaRPr lang="zh-TW" altLang="en-US"/>
            </a:p>
          </p:txBody>
        </p:sp>
        <p:sp>
          <p:nvSpPr>
            <p:cNvPr id="27" name="Line 21"/>
            <p:cNvSpPr>
              <a:spLocks noChangeShapeType="1"/>
            </p:cNvSpPr>
            <p:nvPr/>
          </p:nvSpPr>
          <p:spPr bwMode="auto">
            <a:xfrm flipV="1">
              <a:off x="4686" y="3695"/>
              <a:ext cx="1" cy="20"/>
            </a:xfrm>
            <a:prstGeom prst="line">
              <a:avLst/>
            </a:prstGeom>
            <a:noFill/>
            <a:ln w="1588">
              <a:solidFill>
                <a:srgbClr val="000000"/>
              </a:solidFill>
              <a:round/>
              <a:headEnd/>
              <a:tailEnd/>
            </a:ln>
          </p:spPr>
          <p:txBody>
            <a:bodyPr/>
            <a:lstStyle/>
            <a:p>
              <a:endParaRPr lang="zh-TW" altLang="en-US"/>
            </a:p>
          </p:txBody>
        </p:sp>
        <p:sp>
          <p:nvSpPr>
            <p:cNvPr id="28" name="Line 22"/>
            <p:cNvSpPr>
              <a:spLocks noChangeShapeType="1"/>
            </p:cNvSpPr>
            <p:nvPr/>
          </p:nvSpPr>
          <p:spPr bwMode="auto">
            <a:xfrm flipV="1">
              <a:off x="4950" y="3695"/>
              <a:ext cx="1" cy="20"/>
            </a:xfrm>
            <a:prstGeom prst="line">
              <a:avLst/>
            </a:prstGeom>
            <a:noFill/>
            <a:ln w="1588">
              <a:solidFill>
                <a:srgbClr val="000000"/>
              </a:solidFill>
              <a:round/>
              <a:headEnd/>
              <a:tailEnd/>
            </a:ln>
          </p:spPr>
          <p:txBody>
            <a:bodyPr/>
            <a:lstStyle/>
            <a:p>
              <a:endParaRPr lang="zh-TW" altLang="en-US"/>
            </a:p>
          </p:txBody>
        </p:sp>
        <p:sp>
          <p:nvSpPr>
            <p:cNvPr id="29" name="Rectangle 23"/>
            <p:cNvSpPr>
              <a:spLocks noChangeArrowheads="1"/>
            </p:cNvSpPr>
            <p:nvPr/>
          </p:nvSpPr>
          <p:spPr bwMode="auto">
            <a:xfrm>
              <a:off x="3495" y="2480"/>
              <a:ext cx="1622" cy="1"/>
            </a:xfrm>
            <a:prstGeom prst="rect">
              <a:avLst/>
            </a:prstGeom>
            <a:solidFill>
              <a:srgbClr val="000000"/>
            </a:solidFill>
            <a:ln w="1588">
              <a:solidFill>
                <a:srgbClr val="000000"/>
              </a:solidFill>
              <a:miter lim="800000"/>
              <a:headEnd/>
              <a:tailEnd/>
            </a:ln>
          </p:spPr>
          <p:txBody>
            <a:bodyPr/>
            <a:lstStyle/>
            <a:p>
              <a:endParaRPr lang="zh-TW" altLang="zh-TW"/>
            </a:p>
          </p:txBody>
        </p:sp>
        <p:sp>
          <p:nvSpPr>
            <p:cNvPr id="30" name="Rectangle 24"/>
            <p:cNvSpPr>
              <a:spLocks noChangeArrowheads="1"/>
            </p:cNvSpPr>
            <p:nvPr/>
          </p:nvSpPr>
          <p:spPr bwMode="auto">
            <a:xfrm>
              <a:off x="3617" y="3737"/>
              <a:ext cx="24"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0</a:t>
              </a:r>
              <a:endParaRPr lang="en-US" altLang="zh-TW">
                <a:solidFill>
                  <a:srgbClr val="00CC99"/>
                </a:solidFill>
                <a:latin typeface="Times New Roman" pitchFamily="18" charset="0"/>
                <a:ea typeface="新細明體" charset="-120"/>
                <a:cs typeface="Times New Roman" pitchFamily="18" charset="0"/>
              </a:endParaRPr>
            </a:p>
          </p:txBody>
        </p:sp>
        <p:sp>
          <p:nvSpPr>
            <p:cNvPr id="31" name="Rectangle 25"/>
            <p:cNvSpPr>
              <a:spLocks noChangeArrowheads="1"/>
            </p:cNvSpPr>
            <p:nvPr/>
          </p:nvSpPr>
          <p:spPr bwMode="auto">
            <a:xfrm>
              <a:off x="3868" y="3737"/>
              <a:ext cx="48"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50</a:t>
              </a:r>
              <a:endParaRPr lang="en-US" altLang="zh-TW">
                <a:solidFill>
                  <a:srgbClr val="00CC99"/>
                </a:solidFill>
                <a:latin typeface="Times New Roman" pitchFamily="18" charset="0"/>
                <a:ea typeface="新細明體" charset="-120"/>
                <a:cs typeface="Times New Roman" pitchFamily="18" charset="0"/>
              </a:endParaRPr>
            </a:p>
          </p:txBody>
        </p:sp>
        <p:sp>
          <p:nvSpPr>
            <p:cNvPr id="32" name="Rectangle 26"/>
            <p:cNvSpPr>
              <a:spLocks noChangeArrowheads="1"/>
            </p:cNvSpPr>
            <p:nvPr/>
          </p:nvSpPr>
          <p:spPr bwMode="auto">
            <a:xfrm>
              <a:off x="4120" y="3737"/>
              <a:ext cx="72"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100</a:t>
              </a:r>
              <a:endParaRPr lang="en-US" altLang="zh-TW">
                <a:solidFill>
                  <a:srgbClr val="00CC99"/>
                </a:solidFill>
                <a:latin typeface="Times New Roman" pitchFamily="18" charset="0"/>
                <a:ea typeface="新細明體" charset="-120"/>
                <a:cs typeface="Times New Roman" pitchFamily="18" charset="0"/>
              </a:endParaRPr>
            </a:p>
          </p:txBody>
        </p:sp>
        <p:sp>
          <p:nvSpPr>
            <p:cNvPr id="33" name="Rectangle 27"/>
            <p:cNvSpPr>
              <a:spLocks noChangeArrowheads="1"/>
            </p:cNvSpPr>
            <p:nvPr/>
          </p:nvSpPr>
          <p:spPr bwMode="auto">
            <a:xfrm>
              <a:off x="4384" y="3737"/>
              <a:ext cx="72"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150</a:t>
              </a:r>
              <a:endParaRPr lang="en-US" altLang="zh-TW">
                <a:solidFill>
                  <a:srgbClr val="00CC99"/>
                </a:solidFill>
                <a:latin typeface="Times New Roman" pitchFamily="18" charset="0"/>
                <a:ea typeface="新細明體" charset="-120"/>
                <a:cs typeface="Times New Roman" pitchFamily="18" charset="0"/>
              </a:endParaRPr>
            </a:p>
          </p:txBody>
        </p:sp>
        <p:sp>
          <p:nvSpPr>
            <p:cNvPr id="34" name="Rectangle 28"/>
            <p:cNvSpPr>
              <a:spLocks noChangeArrowheads="1"/>
            </p:cNvSpPr>
            <p:nvPr/>
          </p:nvSpPr>
          <p:spPr bwMode="auto">
            <a:xfrm>
              <a:off x="4648" y="3737"/>
              <a:ext cx="72"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200</a:t>
              </a:r>
              <a:endParaRPr lang="en-US" altLang="zh-TW">
                <a:solidFill>
                  <a:srgbClr val="00CC99"/>
                </a:solidFill>
                <a:latin typeface="Times New Roman" pitchFamily="18" charset="0"/>
                <a:ea typeface="新細明體" charset="-120"/>
                <a:cs typeface="Times New Roman" pitchFamily="18" charset="0"/>
              </a:endParaRPr>
            </a:p>
          </p:txBody>
        </p:sp>
        <p:sp>
          <p:nvSpPr>
            <p:cNvPr id="35" name="Rectangle 29"/>
            <p:cNvSpPr>
              <a:spLocks noChangeArrowheads="1"/>
            </p:cNvSpPr>
            <p:nvPr/>
          </p:nvSpPr>
          <p:spPr bwMode="auto">
            <a:xfrm>
              <a:off x="4912" y="3737"/>
              <a:ext cx="72"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250</a:t>
              </a:r>
              <a:endParaRPr lang="en-US" altLang="zh-TW">
                <a:solidFill>
                  <a:srgbClr val="00CC99"/>
                </a:solidFill>
                <a:latin typeface="Times New Roman" pitchFamily="18" charset="0"/>
                <a:ea typeface="新細明體" charset="-120"/>
                <a:cs typeface="Times New Roman" pitchFamily="18" charset="0"/>
              </a:endParaRPr>
            </a:p>
          </p:txBody>
        </p:sp>
        <p:sp>
          <p:nvSpPr>
            <p:cNvPr id="36" name="Rectangle 30"/>
            <p:cNvSpPr>
              <a:spLocks noChangeArrowheads="1"/>
            </p:cNvSpPr>
            <p:nvPr/>
          </p:nvSpPr>
          <p:spPr bwMode="auto">
            <a:xfrm>
              <a:off x="3494" y="2481"/>
              <a:ext cx="1" cy="1214"/>
            </a:xfrm>
            <a:prstGeom prst="rect">
              <a:avLst/>
            </a:prstGeom>
            <a:solidFill>
              <a:srgbClr val="000000"/>
            </a:solidFill>
            <a:ln w="1588">
              <a:solidFill>
                <a:srgbClr val="000000"/>
              </a:solidFill>
              <a:miter lim="800000"/>
              <a:headEnd/>
              <a:tailEnd/>
            </a:ln>
          </p:spPr>
          <p:txBody>
            <a:bodyPr/>
            <a:lstStyle/>
            <a:p>
              <a:endParaRPr lang="zh-TW" altLang="zh-TW"/>
            </a:p>
          </p:txBody>
        </p:sp>
        <p:sp>
          <p:nvSpPr>
            <p:cNvPr id="37" name="Line 31"/>
            <p:cNvSpPr>
              <a:spLocks noChangeShapeType="1"/>
            </p:cNvSpPr>
            <p:nvPr/>
          </p:nvSpPr>
          <p:spPr bwMode="auto">
            <a:xfrm>
              <a:off x="3475" y="3594"/>
              <a:ext cx="20" cy="1"/>
            </a:xfrm>
            <a:prstGeom prst="line">
              <a:avLst/>
            </a:prstGeom>
            <a:noFill/>
            <a:ln w="1588">
              <a:solidFill>
                <a:srgbClr val="000000"/>
              </a:solidFill>
              <a:round/>
              <a:headEnd/>
              <a:tailEnd/>
            </a:ln>
          </p:spPr>
          <p:txBody>
            <a:bodyPr/>
            <a:lstStyle/>
            <a:p>
              <a:endParaRPr lang="zh-TW" altLang="en-US"/>
            </a:p>
          </p:txBody>
        </p:sp>
        <p:sp>
          <p:nvSpPr>
            <p:cNvPr id="38" name="Line 32"/>
            <p:cNvSpPr>
              <a:spLocks noChangeShapeType="1"/>
            </p:cNvSpPr>
            <p:nvPr/>
          </p:nvSpPr>
          <p:spPr bwMode="auto">
            <a:xfrm>
              <a:off x="3475" y="3341"/>
              <a:ext cx="20" cy="1"/>
            </a:xfrm>
            <a:prstGeom prst="line">
              <a:avLst/>
            </a:prstGeom>
            <a:noFill/>
            <a:ln w="1588">
              <a:solidFill>
                <a:srgbClr val="000000"/>
              </a:solidFill>
              <a:round/>
              <a:headEnd/>
              <a:tailEnd/>
            </a:ln>
          </p:spPr>
          <p:txBody>
            <a:bodyPr/>
            <a:lstStyle/>
            <a:p>
              <a:endParaRPr lang="zh-TW" altLang="en-US"/>
            </a:p>
          </p:txBody>
        </p:sp>
        <p:sp>
          <p:nvSpPr>
            <p:cNvPr id="39" name="Line 33"/>
            <p:cNvSpPr>
              <a:spLocks noChangeShapeType="1"/>
            </p:cNvSpPr>
            <p:nvPr/>
          </p:nvSpPr>
          <p:spPr bwMode="auto">
            <a:xfrm>
              <a:off x="3475" y="3088"/>
              <a:ext cx="20" cy="1"/>
            </a:xfrm>
            <a:prstGeom prst="line">
              <a:avLst/>
            </a:prstGeom>
            <a:noFill/>
            <a:ln w="1588">
              <a:solidFill>
                <a:srgbClr val="000000"/>
              </a:solidFill>
              <a:round/>
              <a:headEnd/>
              <a:tailEnd/>
            </a:ln>
          </p:spPr>
          <p:txBody>
            <a:bodyPr/>
            <a:lstStyle/>
            <a:p>
              <a:endParaRPr lang="zh-TW" altLang="en-US"/>
            </a:p>
          </p:txBody>
        </p:sp>
        <p:sp>
          <p:nvSpPr>
            <p:cNvPr id="40" name="Line 34"/>
            <p:cNvSpPr>
              <a:spLocks noChangeShapeType="1"/>
            </p:cNvSpPr>
            <p:nvPr/>
          </p:nvSpPr>
          <p:spPr bwMode="auto">
            <a:xfrm>
              <a:off x="3475" y="2835"/>
              <a:ext cx="20" cy="1"/>
            </a:xfrm>
            <a:prstGeom prst="line">
              <a:avLst/>
            </a:prstGeom>
            <a:noFill/>
            <a:ln w="1588">
              <a:solidFill>
                <a:srgbClr val="000000"/>
              </a:solidFill>
              <a:round/>
              <a:headEnd/>
              <a:tailEnd/>
            </a:ln>
          </p:spPr>
          <p:txBody>
            <a:bodyPr/>
            <a:lstStyle/>
            <a:p>
              <a:endParaRPr lang="zh-TW" altLang="en-US"/>
            </a:p>
          </p:txBody>
        </p:sp>
        <p:sp>
          <p:nvSpPr>
            <p:cNvPr id="41" name="Line 35"/>
            <p:cNvSpPr>
              <a:spLocks noChangeShapeType="1"/>
            </p:cNvSpPr>
            <p:nvPr/>
          </p:nvSpPr>
          <p:spPr bwMode="auto">
            <a:xfrm>
              <a:off x="3475" y="2582"/>
              <a:ext cx="20" cy="1"/>
            </a:xfrm>
            <a:prstGeom prst="line">
              <a:avLst/>
            </a:prstGeom>
            <a:noFill/>
            <a:ln w="1588">
              <a:solidFill>
                <a:srgbClr val="000000"/>
              </a:solidFill>
              <a:round/>
              <a:headEnd/>
              <a:tailEnd/>
            </a:ln>
          </p:spPr>
          <p:txBody>
            <a:bodyPr/>
            <a:lstStyle/>
            <a:p>
              <a:endParaRPr lang="zh-TW" altLang="en-US"/>
            </a:p>
          </p:txBody>
        </p:sp>
        <p:sp>
          <p:nvSpPr>
            <p:cNvPr id="42" name="Rectangle 36"/>
            <p:cNvSpPr>
              <a:spLocks noChangeArrowheads="1"/>
            </p:cNvSpPr>
            <p:nvPr/>
          </p:nvSpPr>
          <p:spPr bwMode="auto">
            <a:xfrm>
              <a:off x="5116" y="2481"/>
              <a:ext cx="1" cy="1214"/>
            </a:xfrm>
            <a:prstGeom prst="rect">
              <a:avLst/>
            </a:prstGeom>
            <a:solidFill>
              <a:srgbClr val="000000"/>
            </a:solidFill>
            <a:ln w="1588">
              <a:solidFill>
                <a:srgbClr val="000000"/>
              </a:solidFill>
              <a:miter lim="800000"/>
              <a:headEnd/>
              <a:tailEnd/>
            </a:ln>
          </p:spPr>
          <p:txBody>
            <a:bodyPr/>
            <a:lstStyle/>
            <a:p>
              <a:endParaRPr lang="zh-TW" altLang="zh-TW"/>
            </a:p>
          </p:txBody>
        </p:sp>
        <p:sp>
          <p:nvSpPr>
            <p:cNvPr id="43" name="Rectangle 37"/>
            <p:cNvSpPr>
              <a:spLocks noChangeArrowheads="1"/>
            </p:cNvSpPr>
            <p:nvPr/>
          </p:nvSpPr>
          <p:spPr bwMode="auto">
            <a:xfrm>
              <a:off x="3353" y="3575"/>
              <a:ext cx="100"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-0.10</a:t>
              </a:r>
              <a:endParaRPr lang="en-US" altLang="zh-TW">
                <a:solidFill>
                  <a:srgbClr val="00CC99"/>
                </a:solidFill>
                <a:latin typeface="Times New Roman" pitchFamily="18" charset="0"/>
                <a:ea typeface="新細明體" charset="-120"/>
                <a:cs typeface="Times New Roman" pitchFamily="18" charset="0"/>
              </a:endParaRPr>
            </a:p>
          </p:txBody>
        </p:sp>
        <p:sp>
          <p:nvSpPr>
            <p:cNvPr id="44" name="Rectangle 38"/>
            <p:cNvSpPr>
              <a:spLocks noChangeArrowheads="1"/>
            </p:cNvSpPr>
            <p:nvPr/>
          </p:nvSpPr>
          <p:spPr bwMode="auto">
            <a:xfrm>
              <a:off x="3353" y="3322"/>
              <a:ext cx="100"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-0.05</a:t>
              </a:r>
              <a:endParaRPr lang="en-US" altLang="zh-TW">
                <a:solidFill>
                  <a:srgbClr val="00CC99"/>
                </a:solidFill>
                <a:latin typeface="Times New Roman" pitchFamily="18" charset="0"/>
                <a:ea typeface="新細明體" charset="-120"/>
                <a:cs typeface="Times New Roman" pitchFamily="18" charset="0"/>
              </a:endParaRPr>
            </a:p>
          </p:txBody>
        </p:sp>
        <p:sp>
          <p:nvSpPr>
            <p:cNvPr id="45" name="Rectangle 39"/>
            <p:cNvSpPr>
              <a:spLocks noChangeArrowheads="1"/>
            </p:cNvSpPr>
            <p:nvPr/>
          </p:nvSpPr>
          <p:spPr bwMode="auto">
            <a:xfrm>
              <a:off x="3366" y="3069"/>
              <a:ext cx="84"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0.00</a:t>
              </a:r>
              <a:endParaRPr lang="en-US" altLang="zh-TW">
                <a:solidFill>
                  <a:srgbClr val="00CC99"/>
                </a:solidFill>
                <a:latin typeface="Times New Roman" pitchFamily="18" charset="0"/>
                <a:ea typeface="新細明體" charset="-120"/>
                <a:cs typeface="Times New Roman" pitchFamily="18" charset="0"/>
              </a:endParaRPr>
            </a:p>
          </p:txBody>
        </p:sp>
        <p:sp>
          <p:nvSpPr>
            <p:cNvPr id="46" name="Rectangle 40"/>
            <p:cNvSpPr>
              <a:spLocks noChangeArrowheads="1"/>
            </p:cNvSpPr>
            <p:nvPr/>
          </p:nvSpPr>
          <p:spPr bwMode="auto">
            <a:xfrm>
              <a:off x="3366" y="2816"/>
              <a:ext cx="84"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0.05</a:t>
              </a:r>
              <a:endParaRPr lang="en-US" altLang="zh-TW">
                <a:solidFill>
                  <a:srgbClr val="00CC99"/>
                </a:solidFill>
                <a:latin typeface="Times New Roman" pitchFamily="18" charset="0"/>
                <a:ea typeface="新細明體" charset="-120"/>
                <a:cs typeface="Times New Roman" pitchFamily="18" charset="0"/>
              </a:endParaRPr>
            </a:p>
          </p:txBody>
        </p:sp>
        <p:sp>
          <p:nvSpPr>
            <p:cNvPr id="47" name="Rectangle 41"/>
            <p:cNvSpPr>
              <a:spLocks noChangeArrowheads="1"/>
            </p:cNvSpPr>
            <p:nvPr/>
          </p:nvSpPr>
          <p:spPr bwMode="auto">
            <a:xfrm>
              <a:off x="3366" y="2564"/>
              <a:ext cx="84"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0.10</a:t>
              </a:r>
              <a:endParaRPr lang="en-US" altLang="zh-TW">
                <a:solidFill>
                  <a:srgbClr val="00CC99"/>
                </a:solidFill>
                <a:latin typeface="Times New Roman" pitchFamily="18" charset="0"/>
                <a:ea typeface="新細明體" charset="-120"/>
                <a:cs typeface="Times New Roman" pitchFamily="18" charset="0"/>
              </a:endParaRPr>
            </a:p>
          </p:txBody>
        </p:sp>
        <p:sp>
          <p:nvSpPr>
            <p:cNvPr id="48" name="Rectangle 42"/>
            <p:cNvSpPr>
              <a:spLocks noChangeArrowheads="1"/>
            </p:cNvSpPr>
            <p:nvPr/>
          </p:nvSpPr>
          <p:spPr bwMode="auto">
            <a:xfrm rot="5400000">
              <a:off x="3308" y="3118"/>
              <a:ext cx="59" cy="58"/>
            </a:xfrm>
            <a:prstGeom prst="rect">
              <a:avLst/>
            </a:prstGeom>
            <a:noFill/>
            <a:ln w="9525">
              <a:noFill/>
              <a:miter lim="800000"/>
              <a:headEnd/>
              <a:tailEnd/>
            </a:ln>
          </p:spPr>
          <p:txBody>
            <a:bodyPr wrap="none" lIns="0" tIns="0" rIns="0" bIns="0">
              <a:spAutoFit/>
            </a:bodyPr>
            <a:lstStyle/>
            <a:p>
              <a:pPr algn="l"/>
              <a:r>
                <a:rPr lang="en-US" altLang="zh-TW" sz="600">
                  <a:solidFill>
                    <a:srgbClr val="00CC99"/>
                  </a:solidFill>
                  <a:latin typeface="Times New Roman" pitchFamily="18" charset="0"/>
                  <a:ea typeface="新細明體" charset="-120"/>
                  <a:cs typeface="Times New Roman" pitchFamily="18" charset="0"/>
                </a:rPr>
                <a:t>V4</a:t>
              </a:r>
              <a:endParaRPr lang="en-US" altLang="zh-TW">
                <a:solidFill>
                  <a:srgbClr val="00CC99"/>
                </a:solidFill>
                <a:latin typeface="Times New Roman" pitchFamily="18" charset="0"/>
                <a:ea typeface="新細明體" charset="-120"/>
                <a:cs typeface="Times New Roman" pitchFamily="18" charset="0"/>
              </a:endParaRPr>
            </a:p>
          </p:txBody>
        </p:sp>
        <p:sp>
          <p:nvSpPr>
            <p:cNvPr id="49" name="Freeform 43"/>
            <p:cNvSpPr>
              <a:spLocks/>
            </p:cNvSpPr>
            <p:nvPr/>
          </p:nvSpPr>
          <p:spPr bwMode="auto">
            <a:xfrm>
              <a:off x="3635" y="2582"/>
              <a:ext cx="1347" cy="1012"/>
            </a:xfrm>
            <a:custGeom>
              <a:avLst/>
              <a:gdLst>
                <a:gd name="T0" fmla="*/ 1 w 4041"/>
                <a:gd name="T1" fmla="*/ 2 h 3035"/>
                <a:gd name="T2" fmla="*/ 2 w 4041"/>
                <a:gd name="T3" fmla="*/ 37 h 3035"/>
                <a:gd name="T4" fmla="*/ 3 w 4041"/>
                <a:gd name="T5" fmla="*/ 6 h 3035"/>
                <a:gd name="T6" fmla="*/ 4 w 4041"/>
                <a:gd name="T7" fmla="*/ 20 h 3035"/>
                <a:gd name="T8" fmla="*/ 5 w 4041"/>
                <a:gd name="T9" fmla="*/ 29 h 3035"/>
                <a:gd name="T10" fmla="*/ 6 w 4041"/>
                <a:gd name="T11" fmla="*/ 1 h 3035"/>
                <a:gd name="T12" fmla="*/ 7 w 4041"/>
                <a:gd name="T13" fmla="*/ 37 h 3035"/>
                <a:gd name="T14" fmla="*/ 8 w 4041"/>
                <a:gd name="T15" fmla="*/ 7 h 3035"/>
                <a:gd name="T16" fmla="*/ 9 w 4041"/>
                <a:gd name="T17" fmla="*/ 19 h 3035"/>
                <a:gd name="T18" fmla="*/ 10 w 4041"/>
                <a:gd name="T19" fmla="*/ 30 h 3035"/>
                <a:gd name="T20" fmla="*/ 11 w 4041"/>
                <a:gd name="T21" fmla="*/ 1 h 3035"/>
                <a:gd name="T22" fmla="*/ 12 w 4041"/>
                <a:gd name="T23" fmla="*/ 36 h 3035"/>
                <a:gd name="T24" fmla="*/ 13 w 4041"/>
                <a:gd name="T25" fmla="*/ 8 h 3035"/>
                <a:gd name="T26" fmla="*/ 14 w 4041"/>
                <a:gd name="T27" fmla="*/ 18 h 3035"/>
                <a:gd name="T28" fmla="*/ 14 w 4041"/>
                <a:gd name="T29" fmla="*/ 31 h 3035"/>
                <a:gd name="T30" fmla="*/ 15 w 4041"/>
                <a:gd name="T31" fmla="*/ 0 h 3035"/>
                <a:gd name="T32" fmla="*/ 16 w 4041"/>
                <a:gd name="T33" fmla="*/ 36 h 3035"/>
                <a:gd name="T34" fmla="*/ 17 w 4041"/>
                <a:gd name="T35" fmla="*/ 9 h 3035"/>
                <a:gd name="T36" fmla="*/ 18 w 4041"/>
                <a:gd name="T37" fmla="*/ 16 h 3035"/>
                <a:gd name="T38" fmla="*/ 19 w 4041"/>
                <a:gd name="T39" fmla="*/ 32 h 3035"/>
                <a:gd name="T40" fmla="*/ 20 w 4041"/>
                <a:gd name="T41" fmla="*/ 0 h 3035"/>
                <a:gd name="T42" fmla="*/ 21 w 4041"/>
                <a:gd name="T43" fmla="*/ 35 h 3035"/>
                <a:gd name="T44" fmla="*/ 22 w 4041"/>
                <a:gd name="T45" fmla="*/ 11 h 3035"/>
                <a:gd name="T46" fmla="*/ 23 w 4041"/>
                <a:gd name="T47" fmla="*/ 15 h 3035"/>
                <a:gd name="T48" fmla="*/ 24 w 4041"/>
                <a:gd name="T49" fmla="*/ 33 h 3035"/>
                <a:gd name="T50" fmla="*/ 25 w 4041"/>
                <a:gd name="T51" fmla="*/ 0 h 3035"/>
                <a:gd name="T52" fmla="*/ 26 w 4041"/>
                <a:gd name="T53" fmla="*/ 35 h 3035"/>
                <a:gd name="T54" fmla="*/ 27 w 4041"/>
                <a:gd name="T55" fmla="*/ 12 h 3035"/>
                <a:gd name="T56" fmla="*/ 28 w 4041"/>
                <a:gd name="T57" fmla="*/ 14 h 3035"/>
                <a:gd name="T58" fmla="*/ 29 w 4041"/>
                <a:gd name="T59" fmla="*/ 33 h 3035"/>
                <a:gd name="T60" fmla="*/ 30 w 4041"/>
                <a:gd name="T61" fmla="*/ 0 h 3035"/>
                <a:gd name="T62" fmla="*/ 31 w 4041"/>
                <a:gd name="T63" fmla="*/ 34 h 3035"/>
                <a:gd name="T64" fmla="*/ 32 w 4041"/>
                <a:gd name="T65" fmla="*/ 13 h 3035"/>
                <a:gd name="T66" fmla="*/ 33 w 4041"/>
                <a:gd name="T67" fmla="*/ 13 h 3035"/>
                <a:gd name="T68" fmla="*/ 34 w 4041"/>
                <a:gd name="T69" fmla="*/ 34 h 3035"/>
                <a:gd name="T70" fmla="*/ 35 w 4041"/>
                <a:gd name="T71" fmla="*/ 0 h 3035"/>
                <a:gd name="T72" fmla="*/ 36 w 4041"/>
                <a:gd name="T73" fmla="*/ 33 h 3035"/>
                <a:gd name="T74" fmla="*/ 37 w 4041"/>
                <a:gd name="T75" fmla="*/ 14 h 3035"/>
                <a:gd name="T76" fmla="*/ 38 w 4041"/>
                <a:gd name="T77" fmla="*/ 12 h 3035"/>
                <a:gd name="T78" fmla="*/ 39 w 4041"/>
                <a:gd name="T79" fmla="*/ 35 h 3035"/>
                <a:gd name="T80" fmla="*/ 40 w 4041"/>
                <a:gd name="T81" fmla="*/ 0 h 3035"/>
                <a:gd name="T82" fmla="*/ 41 w 4041"/>
                <a:gd name="T83" fmla="*/ 33 h 3035"/>
                <a:gd name="T84" fmla="*/ 42 w 4041"/>
                <a:gd name="T85" fmla="*/ 15 h 3035"/>
                <a:gd name="T86" fmla="*/ 43 w 4041"/>
                <a:gd name="T87" fmla="*/ 10 h 3035"/>
                <a:gd name="T88" fmla="*/ 44 w 4041"/>
                <a:gd name="T89" fmla="*/ 35 h 3035"/>
                <a:gd name="T90" fmla="*/ 45 w 4041"/>
                <a:gd name="T91" fmla="*/ 0 h 3035"/>
                <a:gd name="T92" fmla="*/ 46 w 4041"/>
                <a:gd name="T93" fmla="*/ 32 h 3035"/>
                <a:gd name="T94" fmla="*/ 47 w 4041"/>
                <a:gd name="T95" fmla="*/ 16 h 3035"/>
                <a:gd name="T96" fmla="*/ 48 w 4041"/>
                <a:gd name="T97" fmla="*/ 9 h 3035"/>
                <a:gd name="T98" fmla="*/ 49 w 4041"/>
                <a:gd name="T99" fmla="*/ 36 h 3035"/>
                <a:gd name="T100" fmla="*/ 50 w 4041"/>
                <a:gd name="T101" fmla="*/ 1 h 30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041"/>
                <a:gd name="T154" fmla="*/ 0 h 3035"/>
                <a:gd name="T155" fmla="*/ 4041 w 4041"/>
                <a:gd name="T156" fmla="*/ 3035 h 303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041" h="3035">
                  <a:moveTo>
                    <a:pt x="0" y="1517"/>
                  </a:moveTo>
                  <a:lnTo>
                    <a:pt x="15" y="789"/>
                  </a:lnTo>
                  <a:lnTo>
                    <a:pt x="31" y="239"/>
                  </a:lnTo>
                  <a:lnTo>
                    <a:pt x="48" y="4"/>
                  </a:lnTo>
                  <a:lnTo>
                    <a:pt x="64" y="137"/>
                  </a:lnTo>
                  <a:lnTo>
                    <a:pt x="79" y="608"/>
                  </a:lnTo>
                  <a:lnTo>
                    <a:pt x="95" y="1303"/>
                  </a:lnTo>
                  <a:lnTo>
                    <a:pt x="111" y="2050"/>
                  </a:lnTo>
                  <a:lnTo>
                    <a:pt x="126" y="2665"/>
                  </a:lnTo>
                  <a:lnTo>
                    <a:pt x="142" y="3000"/>
                  </a:lnTo>
                  <a:lnTo>
                    <a:pt x="159" y="2972"/>
                  </a:lnTo>
                  <a:lnTo>
                    <a:pt x="174" y="2588"/>
                  </a:lnTo>
                  <a:lnTo>
                    <a:pt x="190" y="1942"/>
                  </a:lnTo>
                  <a:lnTo>
                    <a:pt x="206" y="1191"/>
                  </a:lnTo>
                  <a:lnTo>
                    <a:pt x="221" y="520"/>
                  </a:lnTo>
                  <a:lnTo>
                    <a:pt x="237" y="94"/>
                  </a:lnTo>
                  <a:lnTo>
                    <a:pt x="254" y="15"/>
                  </a:lnTo>
                  <a:lnTo>
                    <a:pt x="270" y="306"/>
                  </a:lnTo>
                  <a:lnTo>
                    <a:pt x="285" y="891"/>
                  </a:lnTo>
                  <a:lnTo>
                    <a:pt x="301" y="1631"/>
                  </a:lnTo>
                  <a:lnTo>
                    <a:pt x="317" y="2343"/>
                  </a:lnTo>
                  <a:lnTo>
                    <a:pt x="332" y="2853"/>
                  </a:lnTo>
                  <a:lnTo>
                    <a:pt x="348" y="3035"/>
                  </a:lnTo>
                  <a:lnTo>
                    <a:pt x="365" y="2846"/>
                  </a:lnTo>
                  <a:lnTo>
                    <a:pt x="380" y="2331"/>
                  </a:lnTo>
                  <a:lnTo>
                    <a:pt x="396" y="1617"/>
                  </a:lnTo>
                  <a:lnTo>
                    <a:pt x="412" y="879"/>
                  </a:lnTo>
                  <a:lnTo>
                    <a:pt x="427" y="297"/>
                  </a:lnTo>
                  <a:lnTo>
                    <a:pt x="443" y="14"/>
                  </a:lnTo>
                  <a:lnTo>
                    <a:pt x="459" y="99"/>
                  </a:lnTo>
                  <a:lnTo>
                    <a:pt x="476" y="530"/>
                  </a:lnTo>
                  <a:lnTo>
                    <a:pt x="491" y="1204"/>
                  </a:lnTo>
                  <a:lnTo>
                    <a:pt x="507" y="1953"/>
                  </a:lnTo>
                  <a:lnTo>
                    <a:pt x="523" y="2597"/>
                  </a:lnTo>
                  <a:lnTo>
                    <a:pt x="538" y="2976"/>
                  </a:lnTo>
                  <a:lnTo>
                    <a:pt x="554" y="2997"/>
                  </a:lnTo>
                  <a:lnTo>
                    <a:pt x="571" y="2657"/>
                  </a:lnTo>
                  <a:lnTo>
                    <a:pt x="586" y="2037"/>
                  </a:lnTo>
                  <a:lnTo>
                    <a:pt x="602" y="1290"/>
                  </a:lnTo>
                  <a:lnTo>
                    <a:pt x="618" y="598"/>
                  </a:lnTo>
                  <a:lnTo>
                    <a:pt x="633" y="131"/>
                  </a:lnTo>
                  <a:lnTo>
                    <a:pt x="649" y="5"/>
                  </a:lnTo>
                  <a:lnTo>
                    <a:pt x="665" y="247"/>
                  </a:lnTo>
                  <a:lnTo>
                    <a:pt x="682" y="801"/>
                  </a:lnTo>
                  <a:lnTo>
                    <a:pt x="697" y="1531"/>
                  </a:lnTo>
                  <a:lnTo>
                    <a:pt x="713" y="2257"/>
                  </a:lnTo>
                  <a:lnTo>
                    <a:pt x="729" y="2802"/>
                  </a:lnTo>
                  <a:lnTo>
                    <a:pt x="744" y="3031"/>
                  </a:lnTo>
                  <a:lnTo>
                    <a:pt x="760" y="2892"/>
                  </a:lnTo>
                  <a:lnTo>
                    <a:pt x="777" y="2415"/>
                  </a:lnTo>
                  <a:lnTo>
                    <a:pt x="792" y="1717"/>
                  </a:lnTo>
                  <a:lnTo>
                    <a:pt x="808" y="972"/>
                  </a:lnTo>
                  <a:lnTo>
                    <a:pt x="824" y="359"/>
                  </a:lnTo>
                  <a:lnTo>
                    <a:pt x="839" y="31"/>
                  </a:lnTo>
                  <a:lnTo>
                    <a:pt x="855" y="66"/>
                  </a:lnTo>
                  <a:lnTo>
                    <a:pt x="871" y="456"/>
                  </a:lnTo>
                  <a:lnTo>
                    <a:pt x="888" y="1106"/>
                  </a:lnTo>
                  <a:lnTo>
                    <a:pt x="903" y="1857"/>
                  </a:lnTo>
                  <a:lnTo>
                    <a:pt x="919" y="2524"/>
                  </a:lnTo>
                  <a:lnTo>
                    <a:pt x="935" y="2945"/>
                  </a:lnTo>
                  <a:lnTo>
                    <a:pt x="950" y="3017"/>
                  </a:lnTo>
                  <a:lnTo>
                    <a:pt x="966" y="2721"/>
                  </a:lnTo>
                  <a:lnTo>
                    <a:pt x="983" y="2131"/>
                  </a:lnTo>
                  <a:lnTo>
                    <a:pt x="998" y="1389"/>
                  </a:lnTo>
                  <a:lnTo>
                    <a:pt x="1014" y="680"/>
                  </a:lnTo>
                  <a:lnTo>
                    <a:pt x="1030" y="176"/>
                  </a:lnTo>
                  <a:lnTo>
                    <a:pt x="1045" y="0"/>
                  </a:lnTo>
                  <a:lnTo>
                    <a:pt x="1061" y="195"/>
                  </a:lnTo>
                  <a:lnTo>
                    <a:pt x="1077" y="714"/>
                  </a:lnTo>
                  <a:lnTo>
                    <a:pt x="1094" y="1429"/>
                  </a:lnTo>
                  <a:lnTo>
                    <a:pt x="1109" y="2167"/>
                  </a:lnTo>
                  <a:lnTo>
                    <a:pt x="1125" y="2744"/>
                  </a:lnTo>
                  <a:lnTo>
                    <a:pt x="1141" y="3022"/>
                  </a:lnTo>
                  <a:lnTo>
                    <a:pt x="1156" y="2931"/>
                  </a:lnTo>
                  <a:lnTo>
                    <a:pt x="1172" y="2494"/>
                  </a:lnTo>
                  <a:lnTo>
                    <a:pt x="1189" y="1818"/>
                  </a:lnTo>
                  <a:lnTo>
                    <a:pt x="1205" y="1067"/>
                  </a:lnTo>
                  <a:lnTo>
                    <a:pt x="1220" y="427"/>
                  </a:lnTo>
                  <a:lnTo>
                    <a:pt x="1236" y="54"/>
                  </a:lnTo>
                  <a:lnTo>
                    <a:pt x="1251" y="40"/>
                  </a:lnTo>
                  <a:lnTo>
                    <a:pt x="1267" y="387"/>
                  </a:lnTo>
                  <a:lnTo>
                    <a:pt x="1283" y="1010"/>
                  </a:lnTo>
                  <a:lnTo>
                    <a:pt x="1300" y="1758"/>
                  </a:lnTo>
                  <a:lnTo>
                    <a:pt x="1315" y="2447"/>
                  </a:lnTo>
                  <a:lnTo>
                    <a:pt x="1331" y="2907"/>
                  </a:lnTo>
                  <a:lnTo>
                    <a:pt x="1347" y="3028"/>
                  </a:lnTo>
                  <a:lnTo>
                    <a:pt x="1362" y="2780"/>
                  </a:lnTo>
                  <a:lnTo>
                    <a:pt x="1378" y="2220"/>
                  </a:lnTo>
                  <a:lnTo>
                    <a:pt x="1395" y="1491"/>
                  </a:lnTo>
                  <a:lnTo>
                    <a:pt x="1411" y="766"/>
                  </a:lnTo>
                  <a:lnTo>
                    <a:pt x="1426" y="225"/>
                  </a:lnTo>
                  <a:lnTo>
                    <a:pt x="1442" y="2"/>
                  </a:lnTo>
                  <a:lnTo>
                    <a:pt x="1457" y="148"/>
                  </a:lnTo>
                  <a:lnTo>
                    <a:pt x="1473" y="630"/>
                  </a:lnTo>
                  <a:lnTo>
                    <a:pt x="1489" y="1329"/>
                  </a:lnTo>
                  <a:lnTo>
                    <a:pt x="1506" y="2074"/>
                  </a:lnTo>
                  <a:lnTo>
                    <a:pt x="1521" y="2683"/>
                  </a:lnTo>
                  <a:lnTo>
                    <a:pt x="1537" y="3006"/>
                  </a:lnTo>
                  <a:lnTo>
                    <a:pt x="1553" y="2965"/>
                  </a:lnTo>
                  <a:lnTo>
                    <a:pt x="1568" y="2568"/>
                  </a:lnTo>
                  <a:lnTo>
                    <a:pt x="1584" y="1915"/>
                  </a:lnTo>
                  <a:lnTo>
                    <a:pt x="1601" y="1165"/>
                  </a:lnTo>
                  <a:lnTo>
                    <a:pt x="1617" y="500"/>
                  </a:lnTo>
                  <a:lnTo>
                    <a:pt x="1632" y="84"/>
                  </a:lnTo>
                  <a:lnTo>
                    <a:pt x="1648" y="19"/>
                  </a:lnTo>
                  <a:lnTo>
                    <a:pt x="1664" y="322"/>
                  </a:lnTo>
                  <a:lnTo>
                    <a:pt x="1679" y="916"/>
                  </a:lnTo>
                  <a:lnTo>
                    <a:pt x="1695" y="1657"/>
                  </a:lnTo>
                  <a:lnTo>
                    <a:pt x="1712" y="2365"/>
                  </a:lnTo>
                  <a:lnTo>
                    <a:pt x="1727" y="2864"/>
                  </a:lnTo>
                  <a:lnTo>
                    <a:pt x="1743" y="3034"/>
                  </a:lnTo>
                  <a:lnTo>
                    <a:pt x="1759" y="2832"/>
                  </a:lnTo>
                  <a:lnTo>
                    <a:pt x="1774" y="2309"/>
                  </a:lnTo>
                  <a:lnTo>
                    <a:pt x="1790" y="1591"/>
                  </a:lnTo>
                  <a:lnTo>
                    <a:pt x="1807" y="855"/>
                  </a:lnTo>
                  <a:lnTo>
                    <a:pt x="1823" y="281"/>
                  </a:lnTo>
                  <a:lnTo>
                    <a:pt x="1838" y="10"/>
                  </a:lnTo>
                  <a:lnTo>
                    <a:pt x="1854" y="108"/>
                  </a:lnTo>
                  <a:lnTo>
                    <a:pt x="1870" y="551"/>
                  </a:lnTo>
                  <a:lnTo>
                    <a:pt x="1885" y="1230"/>
                  </a:lnTo>
                  <a:lnTo>
                    <a:pt x="1901" y="1979"/>
                  </a:lnTo>
                  <a:lnTo>
                    <a:pt x="1918" y="2615"/>
                  </a:lnTo>
                  <a:lnTo>
                    <a:pt x="1933" y="2983"/>
                  </a:lnTo>
                  <a:lnTo>
                    <a:pt x="1949" y="2992"/>
                  </a:lnTo>
                  <a:lnTo>
                    <a:pt x="1965" y="2639"/>
                  </a:lnTo>
                  <a:lnTo>
                    <a:pt x="1980" y="2012"/>
                  </a:lnTo>
                  <a:lnTo>
                    <a:pt x="1996" y="1263"/>
                  </a:lnTo>
                  <a:lnTo>
                    <a:pt x="2013" y="577"/>
                  </a:lnTo>
                  <a:lnTo>
                    <a:pt x="2029" y="121"/>
                  </a:lnTo>
                  <a:lnTo>
                    <a:pt x="2044" y="6"/>
                  </a:lnTo>
                  <a:lnTo>
                    <a:pt x="2060" y="263"/>
                  </a:lnTo>
                  <a:lnTo>
                    <a:pt x="2076" y="825"/>
                  </a:lnTo>
                  <a:lnTo>
                    <a:pt x="2091" y="1557"/>
                  </a:lnTo>
                  <a:lnTo>
                    <a:pt x="2107" y="2279"/>
                  </a:lnTo>
                  <a:lnTo>
                    <a:pt x="2124" y="2815"/>
                  </a:lnTo>
                  <a:lnTo>
                    <a:pt x="2139" y="3032"/>
                  </a:lnTo>
                  <a:lnTo>
                    <a:pt x="2155" y="2880"/>
                  </a:lnTo>
                  <a:lnTo>
                    <a:pt x="2171" y="2392"/>
                  </a:lnTo>
                  <a:lnTo>
                    <a:pt x="2186" y="1691"/>
                  </a:lnTo>
                  <a:lnTo>
                    <a:pt x="2202" y="947"/>
                  </a:lnTo>
                  <a:lnTo>
                    <a:pt x="2218" y="342"/>
                  </a:lnTo>
                  <a:lnTo>
                    <a:pt x="2235" y="26"/>
                  </a:lnTo>
                  <a:lnTo>
                    <a:pt x="2250" y="74"/>
                  </a:lnTo>
                  <a:lnTo>
                    <a:pt x="2266" y="475"/>
                  </a:lnTo>
                  <a:lnTo>
                    <a:pt x="2282" y="1132"/>
                  </a:lnTo>
                  <a:lnTo>
                    <a:pt x="2297" y="1883"/>
                  </a:lnTo>
                  <a:lnTo>
                    <a:pt x="2313" y="2544"/>
                  </a:lnTo>
                  <a:lnTo>
                    <a:pt x="2330" y="2954"/>
                  </a:lnTo>
                  <a:lnTo>
                    <a:pt x="2345" y="3012"/>
                  </a:lnTo>
                  <a:lnTo>
                    <a:pt x="2361" y="2704"/>
                  </a:lnTo>
                  <a:lnTo>
                    <a:pt x="2377" y="2106"/>
                  </a:lnTo>
                  <a:lnTo>
                    <a:pt x="2392" y="1363"/>
                  </a:lnTo>
                  <a:lnTo>
                    <a:pt x="2408" y="658"/>
                  </a:lnTo>
                  <a:lnTo>
                    <a:pt x="2424" y="164"/>
                  </a:lnTo>
                  <a:lnTo>
                    <a:pt x="2441" y="0"/>
                  </a:lnTo>
                  <a:lnTo>
                    <a:pt x="2456" y="208"/>
                  </a:lnTo>
                  <a:lnTo>
                    <a:pt x="2472" y="737"/>
                  </a:lnTo>
                  <a:lnTo>
                    <a:pt x="2488" y="1457"/>
                  </a:lnTo>
                  <a:lnTo>
                    <a:pt x="2503" y="2190"/>
                  </a:lnTo>
                  <a:lnTo>
                    <a:pt x="2519" y="2760"/>
                  </a:lnTo>
                  <a:lnTo>
                    <a:pt x="2536" y="3026"/>
                  </a:lnTo>
                  <a:lnTo>
                    <a:pt x="2552" y="2920"/>
                  </a:lnTo>
                  <a:lnTo>
                    <a:pt x="2567" y="2473"/>
                  </a:lnTo>
                  <a:lnTo>
                    <a:pt x="2583" y="1790"/>
                  </a:lnTo>
                  <a:lnTo>
                    <a:pt x="2598" y="1042"/>
                  </a:lnTo>
                  <a:lnTo>
                    <a:pt x="2614" y="409"/>
                  </a:lnTo>
                  <a:lnTo>
                    <a:pt x="2630" y="48"/>
                  </a:lnTo>
                  <a:lnTo>
                    <a:pt x="2647" y="45"/>
                  </a:lnTo>
                  <a:lnTo>
                    <a:pt x="2662" y="405"/>
                  </a:lnTo>
                  <a:lnTo>
                    <a:pt x="2678" y="1036"/>
                  </a:lnTo>
                  <a:lnTo>
                    <a:pt x="2694" y="1784"/>
                  </a:lnTo>
                  <a:lnTo>
                    <a:pt x="2709" y="2468"/>
                  </a:lnTo>
                  <a:lnTo>
                    <a:pt x="2725" y="2919"/>
                  </a:lnTo>
                  <a:lnTo>
                    <a:pt x="2742" y="3026"/>
                  </a:lnTo>
                  <a:lnTo>
                    <a:pt x="2758" y="2764"/>
                  </a:lnTo>
                  <a:lnTo>
                    <a:pt x="2773" y="2197"/>
                  </a:lnTo>
                  <a:lnTo>
                    <a:pt x="2789" y="1463"/>
                  </a:lnTo>
                  <a:lnTo>
                    <a:pt x="2804" y="743"/>
                  </a:lnTo>
                  <a:lnTo>
                    <a:pt x="2820" y="212"/>
                  </a:lnTo>
                  <a:lnTo>
                    <a:pt x="2836" y="1"/>
                  </a:lnTo>
                  <a:lnTo>
                    <a:pt x="2853" y="160"/>
                  </a:lnTo>
                  <a:lnTo>
                    <a:pt x="2868" y="653"/>
                  </a:lnTo>
                  <a:lnTo>
                    <a:pt x="2884" y="1356"/>
                  </a:lnTo>
                  <a:lnTo>
                    <a:pt x="2900" y="2099"/>
                  </a:lnTo>
                  <a:lnTo>
                    <a:pt x="2915" y="2700"/>
                  </a:lnTo>
                  <a:lnTo>
                    <a:pt x="2931" y="3010"/>
                  </a:lnTo>
                  <a:lnTo>
                    <a:pt x="2948" y="2956"/>
                  </a:lnTo>
                  <a:lnTo>
                    <a:pt x="2964" y="2549"/>
                  </a:lnTo>
                  <a:lnTo>
                    <a:pt x="2979" y="1889"/>
                  </a:lnTo>
                  <a:lnTo>
                    <a:pt x="2995" y="1139"/>
                  </a:lnTo>
                  <a:lnTo>
                    <a:pt x="3010" y="481"/>
                  </a:lnTo>
                  <a:lnTo>
                    <a:pt x="3026" y="75"/>
                  </a:lnTo>
                  <a:lnTo>
                    <a:pt x="3042" y="24"/>
                  </a:lnTo>
                  <a:lnTo>
                    <a:pt x="3059" y="339"/>
                  </a:lnTo>
                  <a:lnTo>
                    <a:pt x="3074" y="941"/>
                  </a:lnTo>
                  <a:lnTo>
                    <a:pt x="3090" y="1685"/>
                  </a:lnTo>
                  <a:lnTo>
                    <a:pt x="3106" y="2387"/>
                  </a:lnTo>
                  <a:lnTo>
                    <a:pt x="3121" y="2877"/>
                  </a:lnTo>
                  <a:lnTo>
                    <a:pt x="3137" y="3034"/>
                  </a:lnTo>
                  <a:lnTo>
                    <a:pt x="3154" y="2819"/>
                  </a:lnTo>
                  <a:lnTo>
                    <a:pt x="3170" y="2286"/>
                  </a:lnTo>
                  <a:lnTo>
                    <a:pt x="3185" y="1564"/>
                  </a:lnTo>
                  <a:lnTo>
                    <a:pt x="3201" y="831"/>
                  </a:lnTo>
                  <a:lnTo>
                    <a:pt x="3217" y="266"/>
                  </a:lnTo>
                  <a:lnTo>
                    <a:pt x="3232" y="7"/>
                  </a:lnTo>
                  <a:lnTo>
                    <a:pt x="3248" y="118"/>
                  </a:lnTo>
                  <a:lnTo>
                    <a:pt x="3265" y="572"/>
                  </a:lnTo>
                  <a:lnTo>
                    <a:pt x="3280" y="1256"/>
                  </a:lnTo>
                  <a:lnTo>
                    <a:pt x="3296" y="2005"/>
                  </a:lnTo>
                  <a:lnTo>
                    <a:pt x="3312" y="2634"/>
                  </a:lnTo>
                  <a:lnTo>
                    <a:pt x="3327" y="2989"/>
                  </a:lnTo>
                  <a:lnTo>
                    <a:pt x="3343" y="2984"/>
                  </a:lnTo>
                  <a:lnTo>
                    <a:pt x="3360" y="2621"/>
                  </a:lnTo>
                  <a:lnTo>
                    <a:pt x="3376" y="1986"/>
                  </a:lnTo>
                  <a:lnTo>
                    <a:pt x="3391" y="1236"/>
                  </a:lnTo>
                  <a:lnTo>
                    <a:pt x="3407" y="556"/>
                  </a:lnTo>
                  <a:lnTo>
                    <a:pt x="3423" y="110"/>
                  </a:lnTo>
                  <a:lnTo>
                    <a:pt x="3438" y="10"/>
                  </a:lnTo>
                  <a:lnTo>
                    <a:pt x="3454" y="277"/>
                  </a:lnTo>
                  <a:lnTo>
                    <a:pt x="3471" y="849"/>
                  </a:lnTo>
                  <a:lnTo>
                    <a:pt x="3486" y="1584"/>
                  </a:lnTo>
                  <a:lnTo>
                    <a:pt x="3502" y="2303"/>
                  </a:lnTo>
                  <a:lnTo>
                    <a:pt x="3518" y="2829"/>
                  </a:lnTo>
                  <a:lnTo>
                    <a:pt x="3533" y="3034"/>
                  </a:lnTo>
                  <a:lnTo>
                    <a:pt x="3549" y="2868"/>
                  </a:lnTo>
                  <a:lnTo>
                    <a:pt x="3566" y="2370"/>
                  </a:lnTo>
                  <a:lnTo>
                    <a:pt x="3582" y="1664"/>
                  </a:lnTo>
                  <a:lnTo>
                    <a:pt x="3597" y="922"/>
                  </a:lnTo>
                  <a:lnTo>
                    <a:pt x="3613" y="325"/>
                  </a:lnTo>
                  <a:lnTo>
                    <a:pt x="3629" y="21"/>
                  </a:lnTo>
                  <a:lnTo>
                    <a:pt x="3644" y="82"/>
                  </a:lnTo>
                  <a:lnTo>
                    <a:pt x="3660" y="495"/>
                  </a:lnTo>
                  <a:lnTo>
                    <a:pt x="3677" y="1158"/>
                  </a:lnTo>
                  <a:lnTo>
                    <a:pt x="3692" y="1909"/>
                  </a:lnTo>
                  <a:lnTo>
                    <a:pt x="3708" y="2563"/>
                  </a:lnTo>
                  <a:lnTo>
                    <a:pt x="3724" y="2962"/>
                  </a:lnTo>
                  <a:lnTo>
                    <a:pt x="3739" y="3008"/>
                  </a:lnTo>
                  <a:lnTo>
                    <a:pt x="3755" y="2687"/>
                  </a:lnTo>
                  <a:lnTo>
                    <a:pt x="3771" y="2081"/>
                  </a:lnTo>
                  <a:lnTo>
                    <a:pt x="3788" y="1336"/>
                  </a:lnTo>
                  <a:lnTo>
                    <a:pt x="3803" y="636"/>
                  </a:lnTo>
                  <a:lnTo>
                    <a:pt x="3819" y="151"/>
                  </a:lnTo>
                  <a:lnTo>
                    <a:pt x="3835" y="1"/>
                  </a:lnTo>
                  <a:lnTo>
                    <a:pt x="3850" y="223"/>
                  </a:lnTo>
                  <a:lnTo>
                    <a:pt x="3866" y="761"/>
                  </a:lnTo>
                  <a:lnTo>
                    <a:pt x="3883" y="1484"/>
                  </a:lnTo>
                  <a:lnTo>
                    <a:pt x="3898" y="2215"/>
                  </a:lnTo>
                  <a:lnTo>
                    <a:pt x="3914" y="2776"/>
                  </a:lnTo>
                  <a:lnTo>
                    <a:pt x="3930" y="3028"/>
                  </a:lnTo>
                  <a:lnTo>
                    <a:pt x="3945" y="2910"/>
                  </a:lnTo>
                  <a:lnTo>
                    <a:pt x="3961" y="2452"/>
                  </a:lnTo>
                  <a:lnTo>
                    <a:pt x="3977" y="1764"/>
                  </a:lnTo>
                  <a:lnTo>
                    <a:pt x="3994" y="1016"/>
                  </a:lnTo>
                  <a:lnTo>
                    <a:pt x="4009" y="391"/>
                  </a:lnTo>
                  <a:lnTo>
                    <a:pt x="4025" y="41"/>
                  </a:lnTo>
                  <a:lnTo>
                    <a:pt x="4041" y="53"/>
                  </a:lnTo>
                </a:path>
              </a:pathLst>
            </a:custGeom>
            <a:noFill/>
            <a:ln w="17526">
              <a:solidFill>
                <a:srgbClr val="FF0000"/>
              </a:solidFill>
              <a:round/>
              <a:headEnd/>
              <a:tailEnd/>
            </a:ln>
          </p:spPr>
          <p:txBody>
            <a:bodyPr/>
            <a:lstStyle/>
            <a:p>
              <a:endParaRPr lang="zh-TW" altLang="en-US"/>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Mathematical representation</a:t>
            </a:r>
            <a:endParaRPr lang="zh-TW" altLang="en-US" dirty="0"/>
          </a:p>
        </p:txBody>
      </p:sp>
      <p:sp>
        <p:nvSpPr>
          <p:cNvPr id="3" name="內容版面配置區 2"/>
          <p:cNvSpPr>
            <a:spLocks noGrp="1"/>
          </p:cNvSpPr>
          <p:nvPr>
            <p:ph idx="1"/>
          </p:nvPr>
        </p:nvSpPr>
        <p:spPr>
          <a:xfrm>
            <a:off x="251520" y="1600200"/>
            <a:ext cx="8640960" cy="4925144"/>
          </a:xfrm>
        </p:spPr>
        <p:txBody>
          <a:bodyPr>
            <a:normAutofit fontScale="92500" lnSpcReduction="10000"/>
          </a:bodyPr>
          <a:lstStyle/>
          <a:p>
            <a:r>
              <a:rPr lang="en-US" altLang="zh-TW" sz="2800" dirty="0" smtClean="0"/>
              <a:t>Observed vector: </a:t>
            </a:r>
            <a:r>
              <a:rPr lang="en-US" altLang="zh-TW" sz="2800" i="1" dirty="0" smtClean="0"/>
              <a:t>X</a:t>
            </a:r>
            <a:r>
              <a:rPr lang="en-US" altLang="zh-TW" sz="2800" dirty="0" smtClean="0"/>
              <a:t>=(</a:t>
            </a:r>
            <a:r>
              <a:rPr lang="en-US" altLang="zh-TW" sz="2800" i="1" dirty="0" smtClean="0"/>
              <a:t>x</a:t>
            </a:r>
            <a:r>
              <a:rPr lang="en-US" altLang="zh-TW" sz="2800" baseline="-25000" dirty="0" smtClean="0"/>
              <a:t>1</a:t>
            </a:r>
            <a:r>
              <a:rPr lang="en-US" altLang="zh-TW" sz="2800" dirty="0" smtClean="0"/>
              <a:t>, </a:t>
            </a:r>
            <a:r>
              <a:rPr lang="en-US" altLang="zh-TW" sz="2800" i="1" dirty="0" smtClean="0"/>
              <a:t>x</a:t>
            </a:r>
            <a:r>
              <a:rPr lang="en-US" altLang="zh-TW" sz="2800" baseline="-25000" dirty="0" smtClean="0"/>
              <a:t>2</a:t>
            </a:r>
            <a:r>
              <a:rPr lang="en-US" altLang="zh-TW" sz="2800" dirty="0" smtClean="0"/>
              <a:t>,…,</a:t>
            </a:r>
            <a:r>
              <a:rPr lang="en-US" altLang="zh-TW" sz="2800" i="1" dirty="0" err="1" smtClean="0"/>
              <a:t>x</a:t>
            </a:r>
            <a:r>
              <a:rPr lang="en-US" altLang="zh-TW" sz="2800" i="1" baseline="-25000" dirty="0" err="1" smtClean="0"/>
              <a:t>n</a:t>
            </a:r>
            <a:r>
              <a:rPr lang="en-US" altLang="zh-TW" sz="2800" dirty="0" smtClean="0"/>
              <a:t>)</a:t>
            </a:r>
            <a:r>
              <a:rPr lang="en-US" altLang="zh-TW" sz="2800" baseline="30000" dirty="0" smtClean="0"/>
              <a:t>T</a:t>
            </a:r>
            <a:r>
              <a:rPr lang="en-US" altLang="zh-TW" sz="2800" dirty="0" smtClean="0"/>
              <a:t> </a:t>
            </a:r>
          </a:p>
          <a:p>
            <a:r>
              <a:rPr lang="en-US" altLang="zh-TW" sz="2800" dirty="0" smtClean="0"/>
              <a:t>Signal vector(unknown): S =(</a:t>
            </a:r>
            <a:r>
              <a:rPr lang="en-US" altLang="zh-TW" sz="2800" i="1" dirty="0" smtClean="0"/>
              <a:t>s</a:t>
            </a:r>
            <a:r>
              <a:rPr lang="en-US" altLang="zh-TW" sz="2800" baseline="-25000" dirty="0" smtClean="0"/>
              <a:t>1</a:t>
            </a:r>
            <a:r>
              <a:rPr lang="en-US" altLang="zh-TW" sz="2800" dirty="0" smtClean="0"/>
              <a:t>, </a:t>
            </a:r>
            <a:r>
              <a:rPr lang="en-US" altLang="zh-TW" sz="2800" i="1" dirty="0" smtClean="0"/>
              <a:t>s</a:t>
            </a:r>
            <a:r>
              <a:rPr lang="en-US" altLang="zh-TW" sz="2800" baseline="-25000" dirty="0" smtClean="0"/>
              <a:t>2</a:t>
            </a:r>
            <a:r>
              <a:rPr lang="en-US" altLang="zh-TW" sz="2800" dirty="0" smtClean="0"/>
              <a:t>,…,</a:t>
            </a:r>
            <a:r>
              <a:rPr lang="en-US" altLang="zh-TW" sz="2800" dirty="0" err="1" smtClean="0"/>
              <a:t>s</a:t>
            </a:r>
            <a:r>
              <a:rPr lang="en-US" altLang="zh-TW" sz="2800" i="1" baseline="-25000" dirty="0" err="1" smtClean="0"/>
              <a:t>m</a:t>
            </a:r>
            <a:r>
              <a:rPr lang="en-US" altLang="zh-TW" sz="2800" dirty="0" smtClean="0"/>
              <a:t>)</a:t>
            </a:r>
            <a:r>
              <a:rPr lang="en-US" altLang="zh-TW" sz="2800" baseline="30000" dirty="0" smtClean="0"/>
              <a:t>T</a:t>
            </a:r>
            <a:r>
              <a:rPr lang="en-US" altLang="zh-TW" sz="2800" dirty="0" smtClean="0"/>
              <a:t>,</a:t>
            </a:r>
            <a:r>
              <a:rPr lang="en-US" altLang="zh-TW" sz="2800" baseline="30000" dirty="0" smtClean="0"/>
              <a:t> </a:t>
            </a:r>
            <a:r>
              <a:rPr lang="en-US" altLang="zh-TW" sz="2800" dirty="0" smtClean="0"/>
              <a:t>E(</a:t>
            </a:r>
            <a:r>
              <a:rPr lang="en-US" altLang="zh-TW" sz="2800" i="1" dirty="0" err="1" smtClean="0"/>
              <a:t>s</a:t>
            </a:r>
            <a:r>
              <a:rPr lang="en-US" altLang="zh-TW" sz="2800" i="1" baseline="-25000" dirty="0" err="1" smtClean="0"/>
              <a:t>i</a:t>
            </a:r>
            <a:r>
              <a:rPr lang="en-US" altLang="zh-TW" sz="2800" dirty="0" smtClean="0"/>
              <a:t>)=0, </a:t>
            </a:r>
            <a:r>
              <a:rPr lang="en-US" altLang="zh-TW" sz="2800" dirty="0" err="1" smtClean="0"/>
              <a:t>var</a:t>
            </a:r>
            <a:r>
              <a:rPr lang="en-US" altLang="zh-TW" sz="2800" dirty="0" smtClean="0"/>
              <a:t>(</a:t>
            </a:r>
            <a:r>
              <a:rPr lang="en-US" altLang="zh-TW" sz="2800" i="1" dirty="0" err="1" smtClean="0"/>
              <a:t>s</a:t>
            </a:r>
            <a:r>
              <a:rPr lang="en-US" altLang="zh-TW" sz="2800" i="1" baseline="-25000" dirty="0" err="1" smtClean="0"/>
              <a:t>i</a:t>
            </a:r>
            <a:r>
              <a:rPr lang="en-US" altLang="zh-TW" sz="2800" dirty="0" smtClean="0"/>
              <a:t>) = 1</a:t>
            </a:r>
          </a:p>
          <a:p>
            <a:r>
              <a:rPr lang="en-US" altLang="zh-TW" sz="2800" dirty="0" smtClean="0"/>
              <a:t>Assume </a:t>
            </a:r>
            <a:r>
              <a:rPr lang="en-US" altLang="zh-TW" sz="2800" i="1" dirty="0" smtClean="0"/>
              <a:t>n</a:t>
            </a:r>
            <a:r>
              <a:rPr lang="en-US" altLang="zh-TW" sz="2800" dirty="0" smtClean="0"/>
              <a:t> &gt;= </a:t>
            </a:r>
            <a:r>
              <a:rPr lang="en-US" altLang="zh-TW" sz="2800" i="1" dirty="0" smtClean="0"/>
              <a:t>m</a:t>
            </a:r>
            <a:r>
              <a:rPr lang="en-US" altLang="zh-TW" sz="2800" dirty="0"/>
              <a:t> </a:t>
            </a:r>
            <a:r>
              <a:rPr lang="en-US" altLang="zh-TW" sz="2800" dirty="0" smtClean="0"/>
              <a:t>(prevent </a:t>
            </a:r>
            <a:r>
              <a:rPr lang="en-US" altLang="zh-TW" sz="2800" i="1" dirty="0" smtClean="0"/>
              <a:t>A</a:t>
            </a:r>
            <a:r>
              <a:rPr lang="en-US" altLang="zh-TW" sz="2800" dirty="0" smtClean="0"/>
              <a:t> is a singular matrix)</a:t>
            </a:r>
            <a:endParaRPr lang="en-US" altLang="zh-TW" sz="2800" baseline="30000" dirty="0" smtClean="0"/>
          </a:p>
          <a:p>
            <a:r>
              <a:rPr lang="en-US" altLang="zh-TW" sz="2800" i="1" dirty="0" smtClean="0">
                <a:solidFill>
                  <a:srgbClr val="00B0F0"/>
                </a:solidFill>
              </a:rPr>
              <a:t>X = AS</a:t>
            </a:r>
          </a:p>
          <a:p>
            <a:r>
              <a:rPr lang="en-US" altLang="zh-TW" sz="2800" i="1" dirty="0" smtClean="0"/>
              <a:t>A</a:t>
            </a:r>
            <a:r>
              <a:rPr lang="en-US" altLang="zh-TW" sz="2800" dirty="0" smtClean="0"/>
              <a:t> is hybrid matrix (unknown)</a:t>
            </a:r>
            <a:endParaRPr lang="en-US" altLang="zh-TW" sz="2800" i="1" dirty="0" smtClean="0"/>
          </a:p>
          <a:p>
            <a:endParaRPr lang="en-US" altLang="zh-TW" sz="2800" i="1" baseline="30000" dirty="0" smtClean="0"/>
          </a:p>
          <a:p>
            <a:r>
              <a:rPr lang="en-US" altLang="zh-TW" sz="2800" dirty="0" smtClean="0"/>
              <a:t>Assume the signals are </a:t>
            </a:r>
            <a:r>
              <a:rPr lang="en-US" altLang="zh-TW" sz="2800" dirty="0" smtClean="0">
                <a:solidFill>
                  <a:srgbClr val="FF0000"/>
                </a:solidFill>
              </a:rPr>
              <a:t>independent</a:t>
            </a:r>
            <a:r>
              <a:rPr lang="en-US" altLang="zh-TW" sz="2800" dirty="0" smtClean="0"/>
              <a:t> and </a:t>
            </a:r>
            <a:r>
              <a:rPr lang="en-US" altLang="zh-TW" sz="2800" dirty="0" err="1" smtClean="0">
                <a:solidFill>
                  <a:srgbClr val="FF0000"/>
                </a:solidFill>
              </a:rPr>
              <a:t>nongaussian</a:t>
            </a:r>
            <a:endParaRPr lang="en-US" altLang="zh-TW" sz="2800" dirty="0" smtClean="0">
              <a:solidFill>
                <a:srgbClr val="FF0000"/>
              </a:solidFill>
            </a:endParaRPr>
          </a:p>
          <a:p>
            <a:r>
              <a:rPr lang="en-US" altLang="zh-TW" sz="2800" i="1" dirty="0" smtClean="0">
                <a:solidFill>
                  <a:srgbClr val="00B0F0"/>
                </a:solidFill>
              </a:rPr>
              <a:t>Y = WX = W</a:t>
            </a:r>
            <a:r>
              <a:rPr lang="zh-TW" altLang="en-US" sz="2800" i="1" dirty="0" smtClean="0">
                <a:solidFill>
                  <a:srgbClr val="00B0F0"/>
                </a:solidFill>
              </a:rPr>
              <a:t> </a:t>
            </a:r>
            <a:r>
              <a:rPr lang="en-US" altLang="zh-TW" sz="2800" i="1" dirty="0" smtClean="0">
                <a:solidFill>
                  <a:srgbClr val="00B0F0"/>
                </a:solidFill>
              </a:rPr>
              <a:t>AS</a:t>
            </a:r>
          </a:p>
          <a:p>
            <a:r>
              <a:rPr lang="en-US" altLang="zh-TW" sz="2800" i="1" dirty="0" smtClean="0"/>
              <a:t>Y</a:t>
            </a:r>
            <a:r>
              <a:rPr lang="en-US" altLang="zh-TW" sz="2800" dirty="0" smtClean="0"/>
              <a:t>: estimation of S</a:t>
            </a:r>
          </a:p>
          <a:p>
            <a:r>
              <a:rPr lang="en-US" altLang="zh-TW" sz="2800" i="1" dirty="0" smtClean="0">
                <a:solidFill>
                  <a:srgbClr val="FF0000"/>
                </a:solidFill>
              </a:rPr>
              <a:t>W</a:t>
            </a:r>
            <a:r>
              <a:rPr lang="en-US" altLang="zh-TW" sz="2800" dirty="0" smtClean="0">
                <a:solidFill>
                  <a:srgbClr val="FF0000"/>
                </a:solidFill>
              </a:rPr>
              <a:t>: separation matrix </a:t>
            </a:r>
            <a:br>
              <a:rPr lang="en-US" altLang="zh-TW" sz="2800" dirty="0" smtClean="0">
                <a:solidFill>
                  <a:srgbClr val="FF0000"/>
                </a:solidFill>
              </a:rPr>
            </a:br>
            <a:r>
              <a:rPr lang="en-US" altLang="zh-TW" sz="2800" dirty="0" smtClean="0">
                <a:solidFill>
                  <a:srgbClr val="FF0000"/>
                </a:solidFill>
              </a:rPr>
              <a:t>(we want to get)</a:t>
            </a:r>
          </a:p>
          <a:p>
            <a:endParaRPr lang="en-US" altLang="zh-TW" sz="2800" i="1" dirty="0" smtClean="0"/>
          </a:p>
          <a:p>
            <a:endParaRPr lang="zh-TW" altLang="en-US" sz="2800" dirty="0">
              <a:solidFill>
                <a:srgbClr val="FF0000"/>
              </a:solidFill>
            </a:endParaRPr>
          </a:p>
        </p:txBody>
      </p:sp>
      <p:pic>
        <p:nvPicPr>
          <p:cNvPr id="2050" name="Picture 2"/>
          <p:cNvPicPr>
            <a:picLocks noChangeAspect="1" noChangeArrowheads="1"/>
          </p:cNvPicPr>
          <p:nvPr/>
        </p:nvPicPr>
        <p:blipFill>
          <a:blip r:embed="rId2" cstate="print"/>
          <a:srcRect/>
          <a:stretch>
            <a:fillRect/>
          </a:stretch>
        </p:blipFill>
        <p:spPr bwMode="auto">
          <a:xfrm>
            <a:off x="4160385" y="4797152"/>
            <a:ext cx="4983615" cy="12241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Statistical independent</a:t>
            </a:r>
            <a:endParaRPr lang="zh-TW" altLang="en-US" dirty="0"/>
          </a:p>
        </p:txBody>
      </p:sp>
      <p:sp>
        <p:nvSpPr>
          <p:cNvPr id="3" name="內容版面配置區 2"/>
          <p:cNvSpPr>
            <a:spLocks noGrp="1"/>
          </p:cNvSpPr>
          <p:nvPr>
            <p:ph idx="1"/>
          </p:nvPr>
        </p:nvSpPr>
        <p:spPr>
          <a:xfrm>
            <a:off x="457200" y="1600200"/>
            <a:ext cx="8229600" cy="2404864"/>
          </a:xfrm>
        </p:spPr>
        <p:txBody>
          <a:bodyPr>
            <a:normAutofit/>
          </a:bodyPr>
          <a:lstStyle/>
          <a:p>
            <a:r>
              <a:rPr lang="en-US" altLang="zh-TW" i="1" dirty="0" smtClean="0"/>
              <a:t>y</a:t>
            </a:r>
            <a:r>
              <a:rPr lang="en-US" altLang="zh-TW" baseline="-25000" dirty="0" smtClean="0"/>
              <a:t>1</a:t>
            </a:r>
            <a:r>
              <a:rPr lang="en-US" altLang="zh-TW" dirty="0" smtClean="0"/>
              <a:t>, </a:t>
            </a:r>
            <a:r>
              <a:rPr lang="en-US" altLang="zh-TW" i="1" dirty="0" smtClean="0"/>
              <a:t>y</a:t>
            </a:r>
            <a:r>
              <a:rPr lang="en-US" altLang="zh-TW" baseline="-25000" dirty="0" smtClean="0"/>
              <a:t>2</a:t>
            </a:r>
            <a:r>
              <a:rPr lang="en-US" altLang="zh-TW" dirty="0" smtClean="0"/>
              <a:t> is </a:t>
            </a:r>
            <a:r>
              <a:rPr lang="en-US" altLang="zh-TW" u="sng" dirty="0" smtClean="0">
                <a:solidFill>
                  <a:srgbClr val="FF0000"/>
                </a:solidFill>
              </a:rPr>
              <a:t>independent</a:t>
            </a:r>
            <a:r>
              <a:rPr lang="en-US" altLang="zh-TW" dirty="0" smtClean="0"/>
              <a:t> </a:t>
            </a:r>
            <a:r>
              <a:rPr lang="en-US" altLang="zh-TW" dirty="0" err="1" smtClean="0"/>
              <a:t>iff</a:t>
            </a:r>
            <a:r>
              <a:rPr lang="en-US" altLang="zh-TW" dirty="0" smtClean="0"/>
              <a:t> </a:t>
            </a:r>
            <a:r>
              <a:rPr lang="en-US" altLang="zh-TW" dirty="0" smtClean="0">
                <a:solidFill>
                  <a:srgbClr val="0070C0"/>
                </a:solidFill>
              </a:rPr>
              <a:t>P(</a:t>
            </a:r>
            <a:r>
              <a:rPr lang="en-US" altLang="zh-TW" i="1" dirty="0" smtClean="0">
                <a:solidFill>
                  <a:srgbClr val="0070C0"/>
                </a:solidFill>
              </a:rPr>
              <a:t>y</a:t>
            </a:r>
            <a:r>
              <a:rPr lang="en-US" altLang="zh-TW" baseline="-25000" dirty="0" smtClean="0">
                <a:solidFill>
                  <a:srgbClr val="0070C0"/>
                </a:solidFill>
              </a:rPr>
              <a:t>1</a:t>
            </a:r>
            <a:r>
              <a:rPr lang="en-US" altLang="zh-TW" dirty="0" smtClean="0">
                <a:solidFill>
                  <a:srgbClr val="0070C0"/>
                </a:solidFill>
              </a:rPr>
              <a:t>, </a:t>
            </a:r>
            <a:r>
              <a:rPr lang="en-US" altLang="zh-TW" i="1" dirty="0" smtClean="0">
                <a:solidFill>
                  <a:srgbClr val="0070C0"/>
                </a:solidFill>
              </a:rPr>
              <a:t>y</a:t>
            </a:r>
            <a:r>
              <a:rPr lang="en-US" altLang="zh-TW" i="1" baseline="-25000" dirty="0" smtClean="0">
                <a:solidFill>
                  <a:srgbClr val="0070C0"/>
                </a:solidFill>
              </a:rPr>
              <a:t>2</a:t>
            </a:r>
            <a:r>
              <a:rPr lang="en-US" altLang="zh-TW" dirty="0" smtClean="0">
                <a:solidFill>
                  <a:srgbClr val="0070C0"/>
                </a:solidFill>
              </a:rPr>
              <a:t>) = P</a:t>
            </a:r>
            <a:r>
              <a:rPr lang="en-US" altLang="zh-TW" baseline="-25000" dirty="0" smtClean="0">
                <a:solidFill>
                  <a:srgbClr val="0070C0"/>
                </a:solidFill>
              </a:rPr>
              <a:t>1</a:t>
            </a:r>
            <a:r>
              <a:rPr lang="en-US" altLang="zh-TW" dirty="0" smtClean="0">
                <a:solidFill>
                  <a:srgbClr val="0070C0"/>
                </a:solidFill>
              </a:rPr>
              <a:t>(</a:t>
            </a:r>
            <a:r>
              <a:rPr lang="en-US" altLang="zh-TW" i="1" dirty="0" smtClean="0">
                <a:solidFill>
                  <a:srgbClr val="0070C0"/>
                </a:solidFill>
              </a:rPr>
              <a:t>y</a:t>
            </a:r>
            <a:r>
              <a:rPr lang="en-US" altLang="zh-TW" baseline="-25000" dirty="0" smtClean="0">
                <a:solidFill>
                  <a:srgbClr val="0070C0"/>
                </a:solidFill>
              </a:rPr>
              <a:t>1</a:t>
            </a:r>
            <a:r>
              <a:rPr lang="en-US" altLang="zh-TW" dirty="0" smtClean="0">
                <a:solidFill>
                  <a:srgbClr val="0070C0"/>
                </a:solidFill>
              </a:rPr>
              <a:t>)*P</a:t>
            </a:r>
            <a:r>
              <a:rPr lang="en-US" altLang="zh-TW" baseline="-25000" dirty="0" smtClean="0">
                <a:solidFill>
                  <a:srgbClr val="0070C0"/>
                </a:solidFill>
              </a:rPr>
              <a:t>2</a:t>
            </a:r>
            <a:r>
              <a:rPr lang="en-US" altLang="zh-TW" dirty="0" smtClean="0">
                <a:solidFill>
                  <a:srgbClr val="0070C0"/>
                </a:solidFill>
              </a:rPr>
              <a:t>(</a:t>
            </a:r>
            <a:r>
              <a:rPr lang="en-US" altLang="zh-TW" i="1" dirty="0" smtClean="0">
                <a:solidFill>
                  <a:srgbClr val="0070C0"/>
                </a:solidFill>
              </a:rPr>
              <a:t>y</a:t>
            </a:r>
            <a:r>
              <a:rPr lang="en-US" altLang="zh-TW" baseline="-25000" dirty="0" smtClean="0">
                <a:solidFill>
                  <a:srgbClr val="0070C0"/>
                </a:solidFill>
              </a:rPr>
              <a:t>2</a:t>
            </a:r>
            <a:r>
              <a:rPr lang="en-US" altLang="zh-TW" dirty="0" smtClean="0">
                <a:solidFill>
                  <a:srgbClr val="0070C0"/>
                </a:solidFill>
              </a:rPr>
              <a:t>)</a:t>
            </a:r>
          </a:p>
          <a:p>
            <a:r>
              <a:rPr lang="en-US" altLang="zh-TW" dirty="0" smtClean="0"/>
              <a:t>Extension:</a:t>
            </a:r>
          </a:p>
          <a:p>
            <a:r>
              <a:rPr lang="en-US" altLang="zh-TW" dirty="0" smtClean="0"/>
              <a:t>Given functions </a:t>
            </a:r>
            <a:r>
              <a:rPr lang="en-US" altLang="zh-TW" i="1" dirty="0" smtClean="0"/>
              <a:t>h</a:t>
            </a:r>
            <a:r>
              <a:rPr lang="en-US" altLang="zh-TW" baseline="-25000" dirty="0" smtClean="0"/>
              <a:t>1</a:t>
            </a:r>
            <a:r>
              <a:rPr lang="en-US" altLang="zh-TW" dirty="0" smtClean="0"/>
              <a:t>, </a:t>
            </a:r>
            <a:r>
              <a:rPr lang="en-US" altLang="zh-TW" i="1" dirty="0" smtClean="0"/>
              <a:t>h</a:t>
            </a:r>
            <a:r>
              <a:rPr lang="en-US" altLang="zh-TW" baseline="-25000" dirty="0" smtClean="0"/>
              <a:t>2</a:t>
            </a:r>
            <a:r>
              <a:rPr lang="en-US" altLang="zh-TW" dirty="0" smtClean="0"/>
              <a:t>:</a:t>
            </a:r>
          </a:p>
          <a:p>
            <a:pPr lvl="1"/>
            <a:r>
              <a:rPr lang="en-US" altLang="zh-TW" dirty="0" smtClean="0">
                <a:solidFill>
                  <a:srgbClr val="0070C0"/>
                </a:solidFill>
              </a:rPr>
              <a:t>E{</a:t>
            </a:r>
            <a:r>
              <a:rPr lang="en-US" altLang="zh-TW" i="1" dirty="0" smtClean="0">
                <a:solidFill>
                  <a:srgbClr val="0070C0"/>
                </a:solidFill>
              </a:rPr>
              <a:t>h</a:t>
            </a:r>
            <a:r>
              <a:rPr lang="en-US" altLang="zh-TW" baseline="-25000" dirty="0" smtClean="0">
                <a:solidFill>
                  <a:srgbClr val="0070C0"/>
                </a:solidFill>
              </a:rPr>
              <a:t>1</a:t>
            </a:r>
            <a:r>
              <a:rPr lang="en-US" altLang="zh-TW" dirty="0" smtClean="0">
                <a:solidFill>
                  <a:srgbClr val="0070C0"/>
                </a:solidFill>
              </a:rPr>
              <a:t>(</a:t>
            </a:r>
            <a:r>
              <a:rPr lang="en-US" altLang="zh-TW" i="1" dirty="0" smtClean="0">
                <a:solidFill>
                  <a:srgbClr val="0070C0"/>
                </a:solidFill>
              </a:rPr>
              <a:t>y</a:t>
            </a:r>
            <a:r>
              <a:rPr lang="en-US" altLang="zh-TW" baseline="-25000" dirty="0" smtClean="0">
                <a:solidFill>
                  <a:srgbClr val="0070C0"/>
                </a:solidFill>
              </a:rPr>
              <a:t>1</a:t>
            </a:r>
            <a:r>
              <a:rPr lang="en-US" altLang="zh-TW" dirty="0" smtClean="0">
                <a:solidFill>
                  <a:srgbClr val="0070C0"/>
                </a:solidFill>
              </a:rPr>
              <a:t>), </a:t>
            </a:r>
            <a:r>
              <a:rPr lang="en-US" altLang="zh-TW" i="1" dirty="0" smtClean="0">
                <a:solidFill>
                  <a:srgbClr val="0070C0"/>
                </a:solidFill>
              </a:rPr>
              <a:t>h</a:t>
            </a:r>
            <a:r>
              <a:rPr lang="en-US" altLang="zh-TW" baseline="-25000" dirty="0" smtClean="0">
                <a:solidFill>
                  <a:srgbClr val="0070C0"/>
                </a:solidFill>
              </a:rPr>
              <a:t>2</a:t>
            </a:r>
            <a:r>
              <a:rPr lang="en-US" altLang="zh-TW" dirty="0" smtClean="0">
                <a:solidFill>
                  <a:srgbClr val="0070C0"/>
                </a:solidFill>
              </a:rPr>
              <a:t>(</a:t>
            </a:r>
            <a:r>
              <a:rPr lang="en-US" altLang="zh-TW" i="1" dirty="0" smtClean="0">
                <a:solidFill>
                  <a:srgbClr val="0070C0"/>
                </a:solidFill>
              </a:rPr>
              <a:t>y</a:t>
            </a:r>
            <a:r>
              <a:rPr lang="en-US" altLang="zh-TW" baseline="-25000" dirty="0" smtClean="0">
                <a:solidFill>
                  <a:srgbClr val="0070C0"/>
                </a:solidFill>
              </a:rPr>
              <a:t>2</a:t>
            </a:r>
            <a:r>
              <a:rPr lang="en-US" altLang="zh-TW" dirty="0" smtClean="0">
                <a:solidFill>
                  <a:srgbClr val="0070C0"/>
                </a:solidFill>
              </a:rPr>
              <a:t>)} = E{</a:t>
            </a:r>
            <a:r>
              <a:rPr lang="en-US" altLang="zh-TW" i="1" dirty="0" smtClean="0">
                <a:solidFill>
                  <a:srgbClr val="0070C0"/>
                </a:solidFill>
              </a:rPr>
              <a:t>h</a:t>
            </a:r>
            <a:r>
              <a:rPr lang="en-US" altLang="zh-TW" baseline="-25000" dirty="0" smtClean="0">
                <a:solidFill>
                  <a:srgbClr val="0070C0"/>
                </a:solidFill>
              </a:rPr>
              <a:t>1</a:t>
            </a:r>
            <a:r>
              <a:rPr lang="en-US" altLang="zh-TW" dirty="0" smtClean="0">
                <a:solidFill>
                  <a:srgbClr val="0070C0"/>
                </a:solidFill>
              </a:rPr>
              <a:t>(</a:t>
            </a:r>
            <a:r>
              <a:rPr lang="en-US" altLang="zh-TW" i="1" dirty="0" smtClean="0">
                <a:solidFill>
                  <a:srgbClr val="0070C0"/>
                </a:solidFill>
              </a:rPr>
              <a:t>y</a:t>
            </a:r>
            <a:r>
              <a:rPr lang="en-US" altLang="zh-TW" baseline="-25000" dirty="0" smtClean="0">
                <a:solidFill>
                  <a:srgbClr val="0070C0"/>
                </a:solidFill>
              </a:rPr>
              <a:t>1</a:t>
            </a:r>
            <a:r>
              <a:rPr lang="en-US" altLang="zh-TW" dirty="0" smtClean="0">
                <a:solidFill>
                  <a:srgbClr val="0070C0"/>
                </a:solidFill>
              </a:rPr>
              <a:t>)}*E{</a:t>
            </a:r>
            <a:r>
              <a:rPr lang="en-US" altLang="zh-TW" i="1" dirty="0" smtClean="0">
                <a:solidFill>
                  <a:srgbClr val="0070C0"/>
                </a:solidFill>
              </a:rPr>
              <a:t>h</a:t>
            </a:r>
            <a:r>
              <a:rPr lang="en-US" altLang="zh-TW" baseline="-25000" dirty="0" smtClean="0">
                <a:solidFill>
                  <a:srgbClr val="0070C0"/>
                </a:solidFill>
              </a:rPr>
              <a:t>2</a:t>
            </a:r>
            <a:r>
              <a:rPr lang="en-US" altLang="zh-TW" dirty="0" smtClean="0">
                <a:solidFill>
                  <a:srgbClr val="0070C0"/>
                </a:solidFill>
              </a:rPr>
              <a:t>(y</a:t>
            </a:r>
            <a:r>
              <a:rPr lang="en-US" altLang="zh-TW" baseline="-25000" dirty="0" smtClean="0">
                <a:solidFill>
                  <a:srgbClr val="0070C0"/>
                </a:solidFill>
              </a:rPr>
              <a:t>2</a:t>
            </a:r>
            <a:r>
              <a:rPr lang="en-US" altLang="zh-TW" dirty="0" smtClean="0">
                <a:solidFill>
                  <a:srgbClr val="0070C0"/>
                </a:solidFill>
              </a:rPr>
              <a:t>)}</a:t>
            </a:r>
          </a:p>
          <a:p>
            <a:endParaRPr lang="en-US" altLang="zh-TW" dirty="0" smtClean="0"/>
          </a:p>
          <a:p>
            <a:endParaRPr lang="zh-TW" altLang="en-US" dirty="0"/>
          </a:p>
        </p:txBody>
      </p:sp>
      <p:pic>
        <p:nvPicPr>
          <p:cNvPr id="28675" name="Picture 3"/>
          <p:cNvPicPr>
            <a:picLocks noChangeAspect="1" noChangeArrowheads="1"/>
          </p:cNvPicPr>
          <p:nvPr/>
        </p:nvPicPr>
        <p:blipFill>
          <a:blip r:embed="rId2" cstate="print"/>
          <a:srcRect/>
          <a:stretch>
            <a:fillRect/>
          </a:stretch>
        </p:blipFill>
        <p:spPr bwMode="auto">
          <a:xfrm>
            <a:off x="179512" y="4365104"/>
            <a:ext cx="8712968" cy="1800200"/>
          </a:xfrm>
          <a:prstGeom prst="rect">
            <a:avLst/>
          </a:prstGeom>
          <a:noFill/>
          <a:ln w="9525">
            <a:noFill/>
            <a:miter lim="800000"/>
            <a:headEnd/>
            <a:tailEnd/>
          </a:ln>
        </p:spPr>
      </p:pic>
      <p:pic>
        <p:nvPicPr>
          <p:cNvPr id="28676" name="Picture 4"/>
          <p:cNvPicPr>
            <a:picLocks noChangeAspect="1" noChangeArrowheads="1"/>
          </p:cNvPicPr>
          <p:nvPr/>
        </p:nvPicPr>
        <p:blipFill>
          <a:blip r:embed="rId3" cstate="print"/>
          <a:srcRect/>
          <a:stretch>
            <a:fillRect/>
          </a:stretch>
        </p:blipFill>
        <p:spPr bwMode="auto">
          <a:xfrm>
            <a:off x="6228184" y="2348880"/>
            <a:ext cx="2690044" cy="54504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Uncorrelated</a:t>
            </a:r>
            <a:endParaRPr lang="zh-TW" altLang="en-US" dirty="0"/>
          </a:p>
        </p:txBody>
      </p:sp>
      <p:sp>
        <p:nvSpPr>
          <p:cNvPr id="3" name="內容版面配置區 2"/>
          <p:cNvSpPr>
            <a:spLocks noGrp="1"/>
          </p:cNvSpPr>
          <p:nvPr>
            <p:ph idx="1"/>
          </p:nvPr>
        </p:nvSpPr>
        <p:spPr>
          <a:xfrm>
            <a:off x="251520" y="1600200"/>
            <a:ext cx="8568952" cy="4525963"/>
          </a:xfrm>
        </p:spPr>
        <p:txBody>
          <a:bodyPr>
            <a:normAutofit/>
          </a:bodyPr>
          <a:lstStyle/>
          <a:p>
            <a:r>
              <a:rPr lang="en-US" altLang="zh-TW" sz="2800" dirty="0" smtClean="0"/>
              <a:t>Independent  </a:t>
            </a:r>
            <a:r>
              <a:rPr lang="zh-TW" altLang="en-US" sz="2800" dirty="0" smtClean="0"/>
              <a:t>＝</a:t>
            </a:r>
            <a:r>
              <a:rPr lang="en-US" altLang="zh-TW" sz="2800" dirty="0" smtClean="0"/>
              <a:t>&gt; Uncorrelated</a:t>
            </a:r>
          </a:p>
          <a:p>
            <a:r>
              <a:rPr lang="en-US" altLang="zh-TW" sz="2800" dirty="0" smtClean="0"/>
              <a:t>But Uncorrelated ≠&gt; Independent</a:t>
            </a:r>
          </a:p>
          <a:p>
            <a:r>
              <a:rPr lang="en-US" altLang="zh-TW" sz="2800" i="1" dirty="0" smtClean="0"/>
              <a:t>y</a:t>
            </a:r>
            <a:r>
              <a:rPr lang="en-US" altLang="zh-TW" sz="2800" baseline="-25000" dirty="0" smtClean="0"/>
              <a:t>1</a:t>
            </a:r>
            <a:r>
              <a:rPr lang="en-US" altLang="zh-TW" sz="2800" dirty="0" smtClean="0"/>
              <a:t>, </a:t>
            </a:r>
            <a:r>
              <a:rPr lang="en-US" altLang="zh-TW" sz="2800" i="1" dirty="0" smtClean="0"/>
              <a:t>y</a:t>
            </a:r>
            <a:r>
              <a:rPr lang="en-US" altLang="zh-TW" sz="2800" baseline="-25000" dirty="0" smtClean="0"/>
              <a:t>2</a:t>
            </a:r>
            <a:r>
              <a:rPr lang="en-US" altLang="zh-TW" sz="2800" dirty="0" smtClean="0"/>
              <a:t> is </a:t>
            </a:r>
            <a:r>
              <a:rPr lang="en-US" altLang="zh-TW" sz="2800" u="sng" dirty="0" smtClean="0">
                <a:solidFill>
                  <a:srgbClr val="FF0000"/>
                </a:solidFill>
              </a:rPr>
              <a:t>uncorrelated </a:t>
            </a:r>
            <a:r>
              <a:rPr lang="en-US" altLang="zh-TW" sz="2800" dirty="0" smtClean="0"/>
              <a:t>if</a:t>
            </a:r>
            <a:r>
              <a:rPr lang="en-US" altLang="zh-TW" sz="2800" dirty="0" smtClean="0">
                <a:solidFill>
                  <a:srgbClr val="FF0000"/>
                </a:solidFill>
              </a:rPr>
              <a:t> </a:t>
            </a:r>
            <a:br>
              <a:rPr lang="en-US" altLang="zh-TW" sz="2800" dirty="0" smtClean="0">
                <a:solidFill>
                  <a:srgbClr val="FF0000"/>
                </a:solidFill>
              </a:rPr>
            </a:br>
            <a:r>
              <a:rPr lang="en-US" altLang="zh-TW" sz="2800" dirty="0" smtClean="0">
                <a:solidFill>
                  <a:srgbClr val="FF0000"/>
                </a:solidFill>
              </a:rPr>
              <a:t>	</a:t>
            </a:r>
            <a:r>
              <a:rPr lang="en-US" altLang="zh-TW" sz="2800" dirty="0" err="1" smtClean="0">
                <a:solidFill>
                  <a:srgbClr val="0070C0"/>
                </a:solidFill>
              </a:rPr>
              <a:t>cov</a:t>
            </a:r>
            <a:r>
              <a:rPr lang="en-US" altLang="zh-TW" sz="2800" dirty="0" smtClean="0">
                <a:solidFill>
                  <a:srgbClr val="0070C0"/>
                </a:solidFill>
              </a:rPr>
              <a:t>(</a:t>
            </a:r>
            <a:r>
              <a:rPr lang="en-US" altLang="zh-TW" sz="2800" i="1" dirty="0" smtClean="0">
                <a:solidFill>
                  <a:srgbClr val="0070C0"/>
                </a:solidFill>
              </a:rPr>
              <a:t>y</a:t>
            </a:r>
            <a:r>
              <a:rPr lang="en-US" altLang="zh-TW" sz="2800" baseline="-25000" dirty="0" smtClean="0">
                <a:solidFill>
                  <a:srgbClr val="0070C0"/>
                </a:solidFill>
              </a:rPr>
              <a:t>1</a:t>
            </a:r>
            <a:r>
              <a:rPr lang="en-US" altLang="zh-TW" sz="2800" dirty="0" smtClean="0">
                <a:solidFill>
                  <a:srgbClr val="0070C0"/>
                </a:solidFill>
              </a:rPr>
              <a:t>, </a:t>
            </a:r>
            <a:r>
              <a:rPr lang="en-US" altLang="zh-TW" sz="2800" i="1" dirty="0" smtClean="0">
                <a:solidFill>
                  <a:srgbClr val="0070C0"/>
                </a:solidFill>
              </a:rPr>
              <a:t>y</a:t>
            </a:r>
            <a:r>
              <a:rPr lang="en-US" altLang="zh-TW" sz="2800" baseline="-25000" dirty="0" smtClean="0">
                <a:solidFill>
                  <a:srgbClr val="0070C0"/>
                </a:solidFill>
              </a:rPr>
              <a:t>2</a:t>
            </a:r>
            <a:r>
              <a:rPr lang="en-US" altLang="zh-TW" sz="2800" dirty="0" smtClean="0">
                <a:solidFill>
                  <a:srgbClr val="0070C0"/>
                </a:solidFill>
              </a:rPr>
              <a:t>) = E{</a:t>
            </a:r>
            <a:r>
              <a:rPr lang="en-US" altLang="zh-TW" sz="2800" i="1" dirty="0" smtClean="0">
                <a:solidFill>
                  <a:srgbClr val="0070C0"/>
                </a:solidFill>
              </a:rPr>
              <a:t>y</a:t>
            </a:r>
            <a:r>
              <a:rPr lang="en-US" altLang="zh-TW" sz="2800" baseline="-25000" dirty="0" smtClean="0">
                <a:solidFill>
                  <a:srgbClr val="0070C0"/>
                </a:solidFill>
              </a:rPr>
              <a:t>1</a:t>
            </a:r>
            <a:r>
              <a:rPr lang="en-US" altLang="zh-TW" sz="2800" i="1" dirty="0" smtClean="0">
                <a:solidFill>
                  <a:srgbClr val="0070C0"/>
                </a:solidFill>
              </a:rPr>
              <a:t>y</a:t>
            </a:r>
            <a:r>
              <a:rPr lang="en-US" altLang="zh-TW" sz="2800" baseline="-25000" dirty="0" smtClean="0">
                <a:solidFill>
                  <a:srgbClr val="0070C0"/>
                </a:solidFill>
              </a:rPr>
              <a:t>2</a:t>
            </a:r>
            <a:r>
              <a:rPr lang="en-US" altLang="zh-TW" sz="2800" dirty="0" smtClean="0">
                <a:solidFill>
                  <a:srgbClr val="0070C0"/>
                </a:solidFill>
              </a:rPr>
              <a:t>} - E{</a:t>
            </a:r>
            <a:r>
              <a:rPr lang="en-US" altLang="zh-TW" sz="2800" i="1" dirty="0" smtClean="0">
                <a:solidFill>
                  <a:srgbClr val="0070C0"/>
                </a:solidFill>
              </a:rPr>
              <a:t>y</a:t>
            </a:r>
            <a:r>
              <a:rPr lang="en-US" altLang="zh-TW" sz="2800" baseline="-25000" dirty="0" smtClean="0">
                <a:solidFill>
                  <a:srgbClr val="0070C0"/>
                </a:solidFill>
              </a:rPr>
              <a:t>1</a:t>
            </a:r>
            <a:r>
              <a:rPr lang="en-US" altLang="zh-TW" sz="2800" dirty="0" smtClean="0">
                <a:solidFill>
                  <a:srgbClr val="0070C0"/>
                </a:solidFill>
              </a:rPr>
              <a:t>}*E{</a:t>
            </a:r>
            <a:r>
              <a:rPr lang="en-US" altLang="zh-TW" sz="2800" i="1" dirty="0" smtClean="0">
                <a:solidFill>
                  <a:srgbClr val="0070C0"/>
                </a:solidFill>
              </a:rPr>
              <a:t>y</a:t>
            </a:r>
            <a:r>
              <a:rPr lang="en-US" altLang="zh-TW" sz="2800" baseline="-25000" dirty="0" smtClean="0">
                <a:solidFill>
                  <a:srgbClr val="0070C0"/>
                </a:solidFill>
              </a:rPr>
              <a:t>2</a:t>
            </a:r>
            <a:r>
              <a:rPr lang="en-US" altLang="zh-TW" sz="2800" dirty="0" smtClean="0">
                <a:solidFill>
                  <a:srgbClr val="0070C0"/>
                </a:solidFill>
              </a:rPr>
              <a:t>} = 0</a:t>
            </a:r>
          </a:p>
          <a:p>
            <a:pPr>
              <a:buNone/>
            </a:pPr>
            <a:endParaRPr lang="en-US" altLang="zh-TW" sz="2800" dirty="0" smtClean="0"/>
          </a:p>
          <a:p>
            <a:pPr algn="just"/>
            <a:r>
              <a:rPr lang="en-US" altLang="zh-TW" sz="2800" dirty="0" smtClean="0"/>
              <a:t>Since independence implies </a:t>
            </a:r>
            <a:r>
              <a:rPr lang="en-US" altLang="zh-TW" sz="2800" dirty="0" err="1" smtClean="0"/>
              <a:t>uncorrelatedness</a:t>
            </a:r>
            <a:r>
              <a:rPr lang="en-US" altLang="zh-TW" sz="2800" dirty="0" smtClean="0"/>
              <a:t>, many ICA methods constrain the estimation procedure so that </a:t>
            </a:r>
            <a:r>
              <a:rPr lang="en-US" altLang="zh-TW" sz="2800" dirty="0" smtClean="0">
                <a:solidFill>
                  <a:srgbClr val="0070C0"/>
                </a:solidFill>
              </a:rPr>
              <a:t>it always given uncorrelated estimates of the independent components</a:t>
            </a:r>
            <a:r>
              <a:rPr lang="en-US" altLang="zh-TW" sz="2800" dirty="0" smtClean="0"/>
              <a:t>. (for </a:t>
            </a:r>
            <a:r>
              <a:rPr lang="en-US" altLang="zh-TW" sz="2800" dirty="0" smtClean="0"/>
              <a:t>simplifying </a:t>
            </a:r>
            <a:r>
              <a:rPr lang="en-US" altLang="zh-TW" sz="2800" dirty="0" smtClean="0"/>
              <a:t>the problem)</a:t>
            </a:r>
            <a:endParaRPr lang="zh-TW" alt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zh-TW" dirty="0"/>
              <a:t>Central limit theorem</a:t>
            </a:r>
          </a:p>
        </p:txBody>
      </p:sp>
      <p:sp>
        <p:nvSpPr>
          <p:cNvPr id="55299" name="Rectangle 3"/>
          <p:cNvSpPr>
            <a:spLocks noGrp="1" noChangeArrowheads="1"/>
          </p:cNvSpPr>
          <p:nvPr>
            <p:ph type="body" idx="1"/>
          </p:nvPr>
        </p:nvSpPr>
        <p:spPr>
          <a:xfrm>
            <a:off x="457200" y="1556792"/>
            <a:ext cx="8229600" cy="1036712"/>
          </a:xfrm>
        </p:spPr>
        <p:txBody>
          <a:bodyPr>
            <a:normAutofit/>
          </a:bodyPr>
          <a:lstStyle/>
          <a:p>
            <a:r>
              <a:rPr lang="en-US" altLang="zh-TW" sz="2800" dirty="0"/>
              <a:t>The distribution of a </a:t>
            </a:r>
            <a:r>
              <a:rPr lang="en-US" altLang="zh-TW" sz="2800" dirty="0">
                <a:solidFill>
                  <a:schemeClr val="tx2"/>
                </a:solidFill>
              </a:rPr>
              <a:t>sum</a:t>
            </a:r>
            <a:r>
              <a:rPr lang="en-US" altLang="zh-TW" sz="2800" dirty="0"/>
              <a:t> of independent random variables tends toward a </a:t>
            </a:r>
            <a:r>
              <a:rPr lang="en-US" altLang="zh-TW" sz="2800" dirty="0">
                <a:solidFill>
                  <a:schemeClr val="tx2"/>
                </a:solidFill>
              </a:rPr>
              <a:t>Gaussian distribution</a:t>
            </a:r>
          </a:p>
        </p:txBody>
      </p:sp>
      <p:grpSp>
        <p:nvGrpSpPr>
          <p:cNvPr id="32" name="群組 31"/>
          <p:cNvGrpSpPr/>
          <p:nvPr/>
        </p:nvGrpSpPr>
        <p:grpSpPr>
          <a:xfrm>
            <a:off x="251520" y="2636912"/>
            <a:ext cx="8763000" cy="2430775"/>
            <a:chOff x="381000" y="3985900"/>
            <a:chExt cx="8763000" cy="2430775"/>
          </a:xfrm>
        </p:grpSpPr>
        <p:sp>
          <p:nvSpPr>
            <p:cNvPr id="55300" name="Text Box 4"/>
            <p:cNvSpPr txBox="1">
              <a:spLocks noChangeArrowheads="1"/>
            </p:cNvSpPr>
            <p:nvPr/>
          </p:nvSpPr>
          <p:spPr bwMode="auto">
            <a:xfrm>
              <a:off x="381000" y="4038600"/>
              <a:ext cx="2286000" cy="457200"/>
            </a:xfrm>
            <a:prstGeom prst="rect">
              <a:avLst/>
            </a:prstGeom>
            <a:gradFill rotWithShape="0">
              <a:gsLst>
                <a:gs pos="0">
                  <a:srgbClr val="CC99FF">
                    <a:gamma/>
                    <a:shade val="46275"/>
                    <a:invGamma/>
                  </a:srgbClr>
                </a:gs>
                <a:gs pos="100000">
                  <a:srgbClr val="CC99FF"/>
                </a:gs>
              </a:gsLst>
              <a:lin ang="2700000" scaled="1"/>
            </a:gradFill>
            <a:ln w="9525">
              <a:noFill/>
              <a:miter lim="800000"/>
              <a:headEnd/>
              <a:tailEnd/>
            </a:ln>
            <a:effectLst/>
          </p:spPr>
          <p:txBody>
            <a:bodyPr>
              <a:spAutoFit/>
            </a:bodyPr>
            <a:lstStyle/>
            <a:p>
              <a:pPr>
                <a:spcBef>
                  <a:spcPct val="50000"/>
                </a:spcBef>
              </a:pPr>
              <a:r>
                <a:rPr lang="en-US" altLang="zh-TW" sz="2400" dirty="0">
                  <a:solidFill>
                    <a:schemeClr val="folHlink"/>
                  </a:solidFill>
                </a:rPr>
                <a:t>Observed signal</a:t>
              </a:r>
            </a:p>
          </p:txBody>
        </p:sp>
        <p:sp>
          <p:nvSpPr>
            <p:cNvPr id="55301" name="Text Box 5"/>
            <p:cNvSpPr txBox="1">
              <a:spLocks noChangeArrowheads="1"/>
            </p:cNvSpPr>
            <p:nvPr/>
          </p:nvSpPr>
          <p:spPr bwMode="auto">
            <a:xfrm>
              <a:off x="2514600" y="4038600"/>
              <a:ext cx="685800" cy="457200"/>
            </a:xfrm>
            <a:prstGeom prst="rect">
              <a:avLst/>
            </a:prstGeom>
            <a:noFill/>
            <a:ln w="9525">
              <a:noFill/>
              <a:miter lim="800000"/>
              <a:headEnd/>
              <a:tailEnd/>
            </a:ln>
            <a:effectLst/>
          </p:spPr>
          <p:txBody>
            <a:bodyPr>
              <a:spAutoFit/>
            </a:bodyPr>
            <a:lstStyle/>
            <a:p>
              <a:pPr algn="ctr">
                <a:spcBef>
                  <a:spcPct val="50000"/>
                </a:spcBef>
              </a:pPr>
              <a:r>
                <a:rPr lang="en-US" altLang="zh-TW"/>
                <a:t>=</a:t>
              </a:r>
            </a:p>
          </p:txBody>
        </p:sp>
        <p:sp>
          <p:nvSpPr>
            <p:cNvPr id="55302" name="Text Box 6"/>
            <p:cNvSpPr txBox="1">
              <a:spLocks noChangeArrowheads="1"/>
            </p:cNvSpPr>
            <p:nvPr/>
          </p:nvSpPr>
          <p:spPr bwMode="auto">
            <a:xfrm>
              <a:off x="3505200" y="4038600"/>
              <a:ext cx="1143000" cy="523220"/>
            </a:xfrm>
            <a:prstGeom prst="rect">
              <a:avLst/>
            </a:prstGeom>
            <a:gradFill rotWithShape="0">
              <a:gsLst>
                <a:gs pos="0">
                  <a:srgbClr val="6699FF">
                    <a:gamma/>
                    <a:shade val="46275"/>
                    <a:invGamma/>
                  </a:srgbClr>
                </a:gs>
                <a:gs pos="100000">
                  <a:srgbClr val="6699FF"/>
                </a:gs>
              </a:gsLst>
              <a:lin ang="2700000" scaled="1"/>
            </a:gradFill>
            <a:ln w="9525">
              <a:noFill/>
              <a:miter lim="800000"/>
              <a:headEnd/>
              <a:tailEnd/>
            </a:ln>
            <a:effectLst/>
          </p:spPr>
          <p:txBody>
            <a:bodyPr>
              <a:spAutoFit/>
            </a:bodyPr>
            <a:lstStyle/>
            <a:p>
              <a:pPr algn="ctr">
                <a:spcBef>
                  <a:spcPct val="50000"/>
                </a:spcBef>
              </a:pPr>
              <a:r>
                <a:rPr lang="en-US" altLang="zh-TW" sz="2800" dirty="0">
                  <a:solidFill>
                    <a:schemeClr val="folHlink"/>
                  </a:solidFill>
                </a:rPr>
                <a:t>IC</a:t>
              </a:r>
              <a:r>
                <a:rPr lang="en-US" altLang="zh-TW" sz="2800" baseline="-25000" dirty="0">
                  <a:solidFill>
                    <a:schemeClr val="folHlink"/>
                  </a:solidFill>
                </a:rPr>
                <a:t>1</a:t>
              </a:r>
            </a:p>
          </p:txBody>
        </p:sp>
        <p:sp>
          <p:nvSpPr>
            <p:cNvPr id="55303" name="Text Box 7"/>
            <p:cNvSpPr txBox="1">
              <a:spLocks noChangeArrowheads="1"/>
            </p:cNvSpPr>
            <p:nvPr/>
          </p:nvSpPr>
          <p:spPr bwMode="auto">
            <a:xfrm>
              <a:off x="5486400" y="4038600"/>
              <a:ext cx="1143000" cy="523220"/>
            </a:xfrm>
            <a:prstGeom prst="rect">
              <a:avLst/>
            </a:prstGeom>
            <a:gradFill rotWithShape="0">
              <a:gsLst>
                <a:gs pos="0">
                  <a:srgbClr val="FF6699">
                    <a:gamma/>
                    <a:shade val="46275"/>
                    <a:invGamma/>
                  </a:srgbClr>
                </a:gs>
                <a:gs pos="100000">
                  <a:srgbClr val="FF6699"/>
                </a:gs>
              </a:gsLst>
              <a:lin ang="2700000" scaled="1"/>
            </a:gradFill>
            <a:ln w="9525">
              <a:noFill/>
              <a:miter lim="800000"/>
              <a:headEnd/>
              <a:tailEnd/>
            </a:ln>
            <a:effectLst/>
          </p:spPr>
          <p:txBody>
            <a:bodyPr>
              <a:spAutoFit/>
            </a:bodyPr>
            <a:lstStyle/>
            <a:p>
              <a:pPr algn="ctr">
                <a:spcBef>
                  <a:spcPct val="50000"/>
                </a:spcBef>
              </a:pPr>
              <a:r>
                <a:rPr lang="en-US" altLang="zh-TW" sz="2800" dirty="0">
                  <a:solidFill>
                    <a:schemeClr val="folHlink"/>
                  </a:solidFill>
                </a:rPr>
                <a:t>IC</a:t>
              </a:r>
              <a:r>
                <a:rPr lang="en-US" altLang="zh-TW" sz="2800" baseline="-25000" dirty="0">
                  <a:solidFill>
                    <a:schemeClr val="folHlink"/>
                  </a:solidFill>
                </a:rPr>
                <a:t>2</a:t>
              </a:r>
            </a:p>
          </p:txBody>
        </p:sp>
        <p:sp>
          <p:nvSpPr>
            <p:cNvPr id="55304" name="Text Box 8"/>
            <p:cNvSpPr txBox="1">
              <a:spLocks noChangeArrowheads="1"/>
            </p:cNvSpPr>
            <p:nvPr/>
          </p:nvSpPr>
          <p:spPr bwMode="auto">
            <a:xfrm>
              <a:off x="7696200" y="3985900"/>
              <a:ext cx="1143000" cy="523220"/>
            </a:xfrm>
            <a:prstGeom prst="rect">
              <a:avLst/>
            </a:prstGeom>
            <a:gradFill rotWithShape="0">
              <a:gsLst>
                <a:gs pos="0">
                  <a:srgbClr val="66FF33">
                    <a:gamma/>
                    <a:shade val="46275"/>
                    <a:invGamma/>
                  </a:srgbClr>
                </a:gs>
                <a:gs pos="100000">
                  <a:srgbClr val="66FF33"/>
                </a:gs>
              </a:gsLst>
              <a:lin ang="2700000" scaled="1"/>
            </a:gradFill>
            <a:ln w="9525">
              <a:noFill/>
              <a:miter lim="800000"/>
              <a:headEnd/>
              <a:tailEnd/>
            </a:ln>
            <a:effectLst/>
          </p:spPr>
          <p:txBody>
            <a:bodyPr>
              <a:spAutoFit/>
            </a:bodyPr>
            <a:lstStyle/>
            <a:p>
              <a:pPr algn="ctr">
                <a:spcBef>
                  <a:spcPct val="50000"/>
                </a:spcBef>
              </a:pPr>
              <a:r>
                <a:rPr lang="en-US" altLang="zh-TW" sz="2800" dirty="0" err="1">
                  <a:solidFill>
                    <a:schemeClr val="folHlink"/>
                  </a:solidFill>
                </a:rPr>
                <a:t>IC</a:t>
              </a:r>
              <a:r>
                <a:rPr lang="en-US" altLang="zh-TW" sz="2800" baseline="-25000" dirty="0" err="1">
                  <a:solidFill>
                    <a:schemeClr val="folHlink"/>
                  </a:solidFill>
                </a:rPr>
                <a:t>n</a:t>
              </a:r>
              <a:endParaRPr lang="en-US" altLang="zh-TW" sz="2800" baseline="-25000" dirty="0">
                <a:solidFill>
                  <a:schemeClr val="folHlink"/>
                </a:solidFill>
              </a:endParaRPr>
            </a:p>
          </p:txBody>
        </p:sp>
        <p:sp>
          <p:nvSpPr>
            <p:cNvPr id="55305" name="Text Box 9"/>
            <p:cNvSpPr txBox="1">
              <a:spLocks noChangeArrowheads="1"/>
            </p:cNvSpPr>
            <p:nvPr/>
          </p:nvSpPr>
          <p:spPr bwMode="auto">
            <a:xfrm>
              <a:off x="2819400" y="4038600"/>
              <a:ext cx="838200" cy="369332"/>
            </a:xfrm>
            <a:prstGeom prst="rect">
              <a:avLst/>
            </a:prstGeom>
            <a:noFill/>
            <a:ln w="9525">
              <a:noFill/>
              <a:miter lim="800000"/>
              <a:headEnd/>
              <a:tailEnd/>
            </a:ln>
            <a:effectLst/>
          </p:spPr>
          <p:txBody>
            <a:bodyPr>
              <a:spAutoFit/>
            </a:bodyPr>
            <a:lstStyle/>
            <a:p>
              <a:pPr algn="ctr">
                <a:spcBef>
                  <a:spcPct val="50000"/>
                </a:spcBef>
              </a:pPr>
              <a:r>
                <a:rPr lang="en-US" altLang="zh-TW" dirty="0" smtClean="0">
                  <a:solidFill>
                    <a:srgbClr val="6699FF"/>
                  </a:solidFill>
                </a:rPr>
                <a:t>a</a:t>
              </a:r>
              <a:r>
                <a:rPr lang="en-US" altLang="zh-TW" baseline="-25000" dirty="0" smtClean="0">
                  <a:solidFill>
                    <a:srgbClr val="6699FF"/>
                  </a:solidFill>
                </a:rPr>
                <a:t>1</a:t>
              </a:r>
              <a:endParaRPr lang="en-US" altLang="zh-TW" baseline="-25000" dirty="0">
                <a:solidFill>
                  <a:srgbClr val="6699FF"/>
                </a:solidFill>
              </a:endParaRPr>
            </a:p>
          </p:txBody>
        </p:sp>
        <p:sp>
          <p:nvSpPr>
            <p:cNvPr id="55306" name="Text Box 10"/>
            <p:cNvSpPr txBox="1">
              <a:spLocks noChangeArrowheads="1"/>
            </p:cNvSpPr>
            <p:nvPr/>
          </p:nvSpPr>
          <p:spPr bwMode="auto">
            <a:xfrm>
              <a:off x="4648200" y="4038600"/>
              <a:ext cx="838200" cy="369332"/>
            </a:xfrm>
            <a:prstGeom prst="rect">
              <a:avLst/>
            </a:prstGeom>
            <a:noFill/>
            <a:ln w="9525">
              <a:noFill/>
              <a:miter lim="800000"/>
              <a:headEnd/>
              <a:tailEnd/>
            </a:ln>
            <a:effectLst/>
          </p:spPr>
          <p:txBody>
            <a:bodyPr>
              <a:spAutoFit/>
            </a:bodyPr>
            <a:lstStyle/>
            <a:p>
              <a:pPr algn="ctr">
                <a:spcBef>
                  <a:spcPct val="50000"/>
                </a:spcBef>
              </a:pPr>
              <a:r>
                <a:rPr lang="en-US" altLang="zh-TW" dirty="0"/>
                <a:t>+ </a:t>
              </a:r>
              <a:r>
                <a:rPr lang="en-US" altLang="zh-TW" dirty="0" smtClean="0">
                  <a:solidFill>
                    <a:srgbClr val="FF6699"/>
                  </a:solidFill>
                </a:rPr>
                <a:t>a</a:t>
              </a:r>
              <a:r>
                <a:rPr lang="en-US" altLang="zh-TW" baseline="-25000" dirty="0" smtClean="0">
                  <a:solidFill>
                    <a:srgbClr val="FF6699"/>
                  </a:solidFill>
                </a:rPr>
                <a:t>2</a:t>
              </a:r>
              <a:endParaRPr lang="en-US" altLang="zh-TW" baseline="-25000" dirty="0">
                <a:solidFill>
                  <a:srgbClr val="FF6699"/>
                </a:solidFill>
              </a:endParaRPr>
            </a:p>
          </p:txBody>
        </p:sp>
        <p:sp>
          <p:nvSpPr>
            <p:cNvPr id="55307" name="Text Box 11"/>
            <p:cNvSpPr txBox="1">
              <a:spLocks noChangeArrowheads="1"/>
            </p:cNvSpPr>
            <p:nvPr/>
          </p:nvSpPr>
          <p:spPr bwMode="auto">
            <a:xfrm>
              <a:off x="6553200" y="4038600"/>
              <a:ext cx="1219200" cy="369332"/>
            </a:xfrm>
            <a:prstGeom prst="rect">
              <a:avLst/>
            </a:prstGeom>
            <a:noFill/>
            <a:ln w="9525">
              <a:noFill/>
              <a:miter lim="800000"/>
              <a:headEnd/>
              <a:tailEnd/>
            </a:ln>
            <a:effectLst/>
          </p:spPr>
          <p:txBody>
            <a:bodyPr>
              <a:spAutoFit/>
            </a:bodyPr>
            <a:lstStyle/>
            <a:p>
              <a:pPr algn="ctr">
                <a:spcBef>
                  <a:spcPct val="50000"/>
                </a:spcBef>
              </a:pPr>
              <a:r>
                <a:rPr lang="en-US" altLang="zh-TW" dirty="0"/>
                <a:t>….+ </a:t>
              </a:r>
              <a:r>
                <a:rPr lang="en-US" altLang="zh-TW" dirty="0" smtClean="0">
                  <a:solidFill>
                    <a:srgbClr val="66FF33"/>
                  </a:solidFill>
                </a:rPr>
                <a:t>a</a:t>
              </a:r>
              <a:r>
                <a:rPr lang="en-US" altLang="zh-TW" baseline="-25000" dirty="0" smtClean="0">
                  <a:solidFill>
                    <a:srgbClr val="66FF33"/>
                  </a:solidFill>
                </a:rPr>
                <a:t>n</a:t>
              </a:r>
              <a:endParaRPr lang="en-US" altLang="zh-TW" baseline="-25000" dirty="0">
                <a:solidFill>
                  <a:srgbClr val="66FF33"/>
                </a:solidFill>
              </a:endParaRPr>
            </a:p>
          </p:txBody>
        </p:sp>
        <p:grpSp>
          <p:nvGrpSpPr>
            <p:cNvPr id="2" name="Group 12"/>
            <p:cNvGrpSpPr>
              <a:grpSpLocks/>
            </p:cNvGrpSpPr>
            <p:nvPr/>
          </p:nvGrpSpPr>
          <p:grpSpPr bwMode="auto">
            <a:xfrm>
              <a:off x="685800" y="4800600"/>
              <a:ext cx="1524000" cy="1066800"/>
              <a:chOff x="432" y="3024"/>
              <a:chExt cx="960" cy="672"/>
            </a:xfrm>
          </p:grpSpPr>
          <p:sp>
            <p:nvSpPr>
              <p:cNvPr id="55309" name="Line 13"/>
              <p:cNvSpPr>
                <a:spLocks noChangeShapeType="1"/>
              </p:cNvSpPr>
              <p:nvPr/>
            </p:nvSpPr>
            <p:spPr bwMode="auto">
              <a:xfrm flipV="1">
                <a:off x="432" y="3024"/>
                <a:ext cx="0" cy="672"/>
              </a:xfrm>
              <a:prstGeom prst="line">
                <a:avLst/>
              </a:prstGeom>
              <a:noFill/>
              <a:ln w="9525">
                <a:solidFill>
                  <a:schemeClr val="tx1"/>
                </a:solidFill>
                <a:round/>
                <a:headEnd/>
                <a:tailEnd type="triangle" w="med" len="med"/>
              </a:ln>
              <a:effectLst/>
            </p:spPr>
            <p:txBody>
              <a:bodyPr wrap="none" anchor="ctr"/>
              <a:lstStyle/>
              <a:p>
                <a:endParaRPr lang="zh-TW" altLang="en-US"/>
              </a:p>
            </p:txBody>
          </p:sp>
          <p:sp>
            <p:nvSpPr>
              <p:cNvPr id="55310" name="Line 14"/>
              <p:cNvSpPr>
                <a:spLocks noChangeShapeType="1"/>
              </p:cNvSpPr>
              <p:nvPr/>
            </p:nvSpPr>
            <p:spPr bwMode="auto">
              <a:xfrm>
                <a:off x="432" y="3696"/>
                <a:ext cx="960" cy="0"/>
              </a:xfrm>
              <a:prstGeom prst="line">
                <a:avLst/>
              </a:prstGeom>
              <a:noFill/>
              <a:ln w="9525">
                <a:solidFill>
                  <a:schemeClr val="tx1"/>
                </a:solidFill>
                <a:round/>
                <a:headEnd/>
                <a:tailEnd type="triangle" w="med" len="med"/>
              </a:ln>
              <a:effectLst/>
            </p:spPr>
            <p:txBody>
              <a:bodyPr wrap="none" anchor="ctr"/>
              <a:lstStyle/>
              <a:p>
                <a:endParaRPr lang="zh-TW" altLang="en-US"/>
              </a:p>
            </p:txBody>
          </p:sp>
        </p:grpSp>
        <p:sp>
          <p:nvSpPr>
            <p:cNvPr id="55311" name="Freeform 15"/>
            <p:cNvSpPr>
              <a:spLocks/>
            </p:cNvSpPr>
            <p:nvPr/>
          </p:nvSpPr>
          <p:spPr bwMode="auto">
            <a:xfrm>
              <a:off x="914400" y="5092700"/>
              <a:ext cx="1066800" cy="774700"/>
            </a:xfrm>
            <a:custGeom>
              <a:avLst/>
              <a:gdLst/>
              <a:ahLst/>
              <a:cxnLst>
                <a:cxn ang="0">
                  <a:pos x="0" y="488"/>
                </a:cxn>
                <a:cxn ang="0">
                  <a:pos x="144" y="296"/>
                </a:cxn>
                <a:cxn ang="0">
                  <a:pos x="336" y="8"/>
                </a:cxn>
                <a:cxn ang="0">
                  <a:pos x="528" y="344"/>
                </a:cxn>
                <a:cxn ang="0">
                  <a:pos x="672" y="488"/>
                </a:cxn>
              </a:cxnLst>
              <a:rect l="0" t="0" r="r" b="b"/>
              <a:pathLst>
                <a:path w="672" h="488">
                  <a:moveTo>
                    <a:pt x="0" y="488"/>
                  </a:moveTo>
                  <a:cubicBezTo>
                    <a:pt x="44" y="432"/>
                    <a:pt x="88" y="376"/>
                    <a:pt x="144" y="296"/>
                  </a:cubicBezTo>
                  <a:cubicBezTo>
                    <a:pt x="200" y="216"/>
                    <a:pt x="272" y="0"/>
                    <a:pt x="336" y="8"/>
                  </a:cubicBezTo>
                  <a:cubicBezTo>
                    <a:pt x="400" y="16"/>
                    <a:pt x="472" y="264"/>
                    <a:pt x="528" y="344"/>
                  </a:cubicBezTo>
                  <a:cubicBezTo>
                    <a:pt x="584" y="424"/>
                    <a:pt x="628" y="456"/>
                    <a:pt x="672" y="488"/>
                  </a:cubicBezTo>
                </a:path>
              </a:pathLst>
            </a:custGeom>
            <a:noFill/>
            <a:ln w="38100" cap="flat" cmpd="sng">
              <a:solidFill>
                <a:srgbClr val="CC99FF"/>
              </a:solidFill>
              <a:prstDash val="solid"/>
              <a:round/>
              <a:headEnd/>
              <a:tailEnd/>
            </a:ln>
            <a:effectLst/>
          </p:spPr>
          <p:txBody>
            <a:bodyPr wrap="none" anchor="ctr"/>
            <a:lstStyle/>
            <a:p>
              <a:endParaRPr lang="zh-TW" altLang="en-US"/>
            </a:p>
          </p:txBody>
        </p:sp>
        <p:grpSp>
          <p:nvGrpSpPr>
            <p:cNvPr id="3" name="Group 16"/>
            <p:cNvGrpSpPr>
              <a:grpSpLocks/>
            </p:cNvGrpSpPr>
            <p:nvPr/>
          </p:nvGrpSpPr>
          <p:grpSpPr bwMode="auto">
            <a:xfrm>
              <a:off x="3124200" y="4800600"/>
              <a:ext cx="1524000" cy="1066800"/>
              <a:chOff x="432" y="3024"/>
              <a:chExt cx="960" cy="672"/>
            </a:xfrm>
          </p:grpSpPr>
          <p:sp>
            <p:nvSpPr>
              <p:cNvPr id="55313" name="Line 17"/>
              <p:cNvSpPr>
                <a:spLocks noChangeShapeType="1"/>
              </p:cNvSpPr>
              <p:nvPr/>
            </p:nvSpPr>
            <p:spPr bwMode="auto">
              <a:xfrm flipV="1">
                <a:off x="432" y="3024"/>
                <a:ext cx="0" cy="672"/>
              </a:xfrm>
              <a:prstGeom prst="line">
                <a:avLst/>
              </a:prstGeom>
              <a:noFill/>
              <a:ln w="9525">
                <a:solidFill>
                  <a:schemeClr val="tx1"/>
                </a:solidFill>
                <a:round/>
                <a:headEnd/>
                <a:tailEnd type="triangle" w="med" len="med"/>
              </a:ln>
              <a:effectLst/>
            </p:spPr>
            <p:txBody>
              <a:bodyPr wrap="none" anchor="ctr"/>
              <a:lstStyle/>
              <a:p>
                <a:endParaRPr lang="zh-TW" altLang="en-US"/>
              </a:p>
            </p:txBody>
          </p:sp>
          <p:sp>
            <p:nvSpPr>
              <p:cNvPr id="55314" name="Line 18"/>
              <p:cNvSpPr>
                <a:spLocks noChangeShapeType="1"/>
              </p:cNvSpPr>
              <p:nvPr/>
            </p:nvSpPr>
            <p:spPr bwMode="auto">
              <a:xfrm>
                <a:off x="432" y="3696"/>
                <a:ext cx="960" cy="0"/>
              </a:xfrm>
              <a:prstGeom prst="line">
                <a:avLst/>
              </a:prstGeom>
              <a:noFill/>
              <a:ln w="9525">
                <a:solidFill>
                  <a:schemeClr val="tx1"/>
                </a:solidFill>
                <a:round/>
                <a:headEnd/>
                <a:tailEnd type="triangle" w="med" len="med"/>
              </a:ln>
              <a:effectLst/>
            </p:spPr>
            <p:txBody>
              <a:bodyPr wrap="none" anchor="ctr"/>
              <a:lstStyle/>
              <a:p>
                <a:endParaRPr lang="zh-TW" altLang="en-US"/>
              </a:p>
            </p:txBody>
          </p:sp>
        </p:grpSp>
        <p:grpSp>
          <p:nvGrpSpPr>
            <p:cNvPr id="4" name="Group 19"/>
            <p:cNvGrpSpPr>
              <a:grpSpLocks/>
            </p:cNvGrpSpPr>
            <p:nvPr/>
          </p:nvGrpSpPr>
          <p:grpSpPr bwMode="auto">
            <a:xfrm>
              <a:off x="7391400" y="4800600"/>
              <a:ext cx="1524000" cy="1066800"/>
              <a:chOff x="432" y="3024"/>
              <a:chExt cx="960" cy="672"/>
            </a:xfrm>
          </p:grpSpPr>
          <p:sp>
            <p:nvSpPr>
              <p:cNvPr id="55316" name="Line 20"/>
              <p:cNvSpPr>
                <a:spLocks noChangeShapeType="1"/>
              </p:cNvSpPr>
              <p:nvPr/>
            </p:nvSpPr>
            <p:spPr bwMode="auto">
              <a:xfrm flipV="1">
                <a:off x="432" y="3024"/>
                <a:ext cx="0" cy="672"/>
              </a:xfrm>
              <a:prstGeom prst="line">
                <a:avLst/>
              </a:prstGeom>
              <a:noFill/>
              <a:ln w="9525">
                <a:solidFill>
                  <a:schemeClr val="tx1"/>
                </a:solidFill>
                <a:round/>
                <a:headEnd/>
                <a:tailEnd type="triangle" w="med" len="med"/>
              </a:ln>
              <a:effectLst/>
            </p:spPr>
            <p:txBody>
              <a:bodyPr wrap="none" anchor="ctr"/>
              <a:lstStyle/>
              <a:p>
                <a:endParaRPr lang="zh-TW" altLang="en-US"/>
              </a:p>
            </p:txBody>
          </p:sp>
          <p:sp>
            <p:nvSpPr>
              <p:cNvPr id="55317" name="Line 21"/>
              <p:cNvSpPr>
                <a:spLocks noChangeShapeType="1"/>
              </p:cNvSpPr>
              <p:nvPr/>
            </p:nvSpPr>
            <p:spPr bwMode="auto">
              <a:xfrm>
                <a:off x="432" y="3696"/>
                <a:ext cx="960" cy="0"/>
              </a:xfrm>
              <a:prstGeom prst="line">
                <a:avLst/>
              </a:prstGeom>
              <a:noFill/>
              <a:ln w="9525">
                <a:solidFill>
                  <a:schemeClr val="tx1"/>
                </a:solidFill>
                <a:round/>
                <a:headEnd/>
                <a:tailEnd type="triangle" w="med" len="med"/>
              </a:ln>
              <a:effectLst/>
            </p:spPr>
            <p:txBody>
              <a:bodyPr wrap="none" anchor="ctr"/>
              <a:lstStyle/>
              <a:p>
                <a:endParaRPr lang="zh-TW" altLang="en-US"/>
              </a:p>
            </p:txBody>
          </p:sp>
        </p:grpSp>
        <p:grpSp>
          <p:nvGrpSpPr>
            <p:cNvPr id="5" name="Group 22"/>
            <p:cNvGrpSpPr>
              <a:grpSpLocks/>
            </p:cNvGrpSpPr>
            <p:nvPr/>
          </p:nvGrpSpPr>
          <p:grpSpPr bwMode="auto">
            <a:xfrm>
              <a:off x="5410200" y="4800600"/>
              <a:ext cx="1524000" cy="1066800"/>
              <a:chOff x="432" y="3024"/>
              <a:chExt cx="960" cy="672"/>
            </a:xfrm>
          </p:grpSpPr>
          <p:sp>
            <p:nvSpPr>
              <p:cNvPr id="55319" name="Line 23"/>
              <p:cNvSpPr>
                <a:spLocks noChangeShapeType="1"/>
              </p:cNvSpPr>
              <p:nvPr/>
            </p:nvSpPr>
            <p:spPr bwMode="auto">
              <a:xfrm flipV="1">
                <a:off x="432" y="3024"/>
                <a:ext cx="0" cy="672"/>
              </a:xfrm>
              <a:prstGeom prst="line">
                <a:avLst/>
              </a:prstGeom>
              <a:noFill/>
              <a:ln w="9525">
                <a:solidFill>
                  <a:schemeClr val="tx1"/>
                </a:solidFill>
                <a:round/>
                <a:headEnd/>
                <a:tailEnd type="triangle" w="med" len="med"/>
              </a:ln>
              <a:effectLst/>
            </p:spPr>
            <p:txBody>
              <a:bodyPr wrap="none" anchor="ctr"/>
              <a:lstStyle/>
              <a:p>
                <a:endParaRPr lang="zh-TW" altLang="en-US"/>
              </a:p>
            </p:txBody>
          </p:sp>
          <p:sp>
            <p:nvSpPr>
              <p:cNvPr id="55320" name="Line 24"/>
              <p:cNvSpPr>
                <a:spLocks noChangeShapeType="1"/>
              </p:cNvSpPr>
              <p:nvPr/>
            </p:nvSpPr>
            <p:spPr bwMode="auto">
              <a:xfrm>
                <a:off x="432" y="3696"/>
                <a:ext cx="960" cy="0"/>
              </a:xfrm>
              <a:prstGeom prst="line">
                <a:avLst/>
              </a:prstGeom>
              <a:noFill/>
              <a:ln w="9525">
                <a:solidFill>
                  <a:schemeClr val="tx1"/>
                </a:solidFill>
                <a:round/>
                <a:headEnd/>
                <a:tailEnd type="triangle" w="med" len="med"/>
              </a:ln>
              <a:effectLst/>
            </p:spPr>
            <p:txBody>
              <a:bodyPr wrap="none" anchor="ctr"/>
              <a:lstStyle/>
              <a:p>
                <a:endParaRPr lang="zh-TW" altLang="en-US"/>
              </a:p>
            </p:txBody>
          </p:sp>
        </p:grpSp>
        <p:sp>
          <p:nvSpPr>
            <p:cNvPr id="55321" name="Freeform 25"/>
            <p:cNvSpPr>
              <a:spLocks/>
            </p:cNvSpPr>
            <p:nvPr/>
          </p:nvSpPr>
          <p:spPr bwMode="auto">
            <a:xfrm>
              <a:off x="3733800" y="4953000"/>
              <a:ext cx="228600" cy="914400"/>
            </a:xfrm>
            <a:custGeom>
              <a:avLst/>
              <a:gdLst/>
              <a:ahLst/>
              <a:cxnLst>
                <a:cxn ang="0">
                  <a:pos x="8" y="576"/>
                </a:cxn>
                <a:cxn ang="0">
                  <a:pos x="8" y="0"/>
                </a:cxn>
                <a:cxn ang="0">
                  <a:pos x="56" y="576"/>
                </a:cxn>
              </a:cxnLst>
              <a:rect l="0" t="0" r="r" b="b"/>
              <a:pathLst>
                <a:path w="56" h="576">
                  <a:moveTo>
                    <a:pt x="8" y="576"/>
                  </a:moveTo>
                  <a:cubicBezTo>
                    <a:pt x="4" y="288"/>
                    <a:pt x="0" y="0"/>
                    <a:pt x="8" y="0"/>
                  </a:cubicBezTo>
                  <a:cubicBezTo>
                    <a:pt x="16" y="0"/>
                    <a:pt x="36" y="288"/>
                    <a:pt x="56" y="576"/>
                  </a:cubicBezTo>
                </a:path>
              </a:pathLst>
            </a:custGeom>
            <a:noFill/>
            <a:ln w="28575" cap="flat" cmpd="sng">
              <a:solidFill>
                <a:srgbClr val="6699FF"/>
              </a:solidFill>
              <a:prstDash val="solid"/>
              <a:round/>
              <a:headEnd/>
              <a:tailEnd/>
            </a:ln>
            <a:effectLst/>
          </p:spPr>
          <p:txBody>
            <a:bodyPr wrap="none" anchor="ctr"/>
            <a:lstStyle/>
            <a:p>
              <a:endParaRPr lang="zh-TW" altLang="en-US"/>
            </a:p>
          </p:txBody>
        </p:sp>
        <p:sp>
          <p:nvSpPr>
            <p:cNvPr id="55322" name="Line 26"/>
            <p:cNvSpPr>
              <a:spLocks noChangeShapeType="1"/>
            </p:cNvSpPr>
            <p:nvPr/>
          </p:nvSpPr>
          <p:spPr bwMode="auto">
            <a:xfrm>
              <a:off x="5410200" y="5410200"/>
              <a:ext cx="1447800" cy="0"/>
            </a:xfrm>
            <a:prstGeom prst="line">
              <a:avLst/>
            </a:prstGeom>
            <a:noFill/>
            <a:ln w="28575">
              <a:solidFill>
                <a:srgbClr val="FF6699"/>
              </a:solidFill>
              <a:round/>
              <a:headEnd/>
              <a:tailEnd/>
            </a:ln>
            <a:effectLst/>
          </p:spPr>
          <p:txBody>
            <a:bodyPr wrap="none" anchor="ctr"/>
            <a:lstStyle/>
            <a:p>
              <a:endParaRPr lang="zh-TW" altLang="en-US"/>
            </a:p>
          </p:txBody>
        </p:sp>
        <p:sp>
          <p:nvSpPr>
            <p:cNvPr id="55323" name="Freeform 27"/>
            <p:cNvSpPr>
              <a:spLocks/>
            </p:cNvSpPr>
            <p:nvPr/>
          </p:nvSpPr>
          <p:spPr bwMode="auto">
            <a:xfrm>
              <a:off x="7391400" y="5181600"/>
              <a:ext cx="1295400" cy="635000"/>
            </a:xfrm>
            <a:custGeom>
              <a:avLst/>
              <a:gdLst/>
              <a:ahLst/>
              <a:cxnLst>
                <a:cxn ang="0">
                  <a:pos x="0" y="0"/>
                </a:cxn>
                <a:cxn ang="0">
                  <a:pos x="192" y="288"/>
                </a:cxn>
                <a:cxn ang="0">
                  <a:pos x="432" y="384"/>
                </a:cxn>
                <a:cxn ang="0">
                  <a:pos x="624" y="336"/>
                </a:cxn>
                <a:cxn ang="0">
                  <a:pos x="816" y="0"/>
                </a:cxn>
              </a:cxnLst>
              <a:rect l="0" t="0" r="r" b="b"/>
              <a:pathLst>
                <a:path w="816" h="400">
                  <a:moveTo>
                    <a:pt x="0" y="0"/>
                  </a:moveTo>
                  <a:cubicBezTo>
                    <a:pt x="60" y="112"/>
                    <a:pt x="120" y="224"/>
                    <a:pt x="192" y="288"/>
                  </a:cubicBezTo>
                  <a:cubicBezTo>
                    <a:pt x="264" y="352"/>
                    <a:pt x="360" y="376"/>
                    <a:pt x="432" y="384"/>
                  </a:cubicBezTo>
                  <a:cubicBezTo>
                    <a:pt x="504" y="392"/>
                    <a:pt x="560" y="400"/>
                    <a:pt x="624" y="336"/>
                  </a:cubicBezTo>
                  <a:cubicBezTo>
                    <a:pt x="688" y="272"/>
                    <a:pt x="752" y="136"/>
                    <a:pt x="816" y="0"/>
                  </a:cubicBezTo>
                </a:path>
              </a:pathLst>
            </a:custGeom>
            <a:noFill/>
            <a:ln w="28575" cap="flat" cmpd="sng">
              <a:solidFill>
                <a:srgbClr val="66FF33"/>
              </a:solidFill>
              <a:prstDash val="solid"/>
              <a:round/>
              <a:headEnd/>
              <a:tailEnd/>
            </a:ln>
            <a:effectLst/>
          </p:spPr>
          <p:txBody>
            <a:bodyPr wrap="none" anchor="ctr"/>
            <a:lstStyle/>
            <a:p>
              <a:endParaRPr lang="zh-TW" altLang="en-US"/>
            </a:p>
          </p:txBody>
        </p:sp>
        <p:sp>
          <p:nvSpPr>
            <p:cNvPr id="55324" name="Text Box 28"/>
            <p:cNvSpPr txBox="1">
              <a:spLocks noChangeArrowheads="1"/>
            </p:cNvSpPr>
            <p:nvPr/>
          </p:nvSpPr>
          <p:spPr bwMode="auto">
            <a:xfrm>
              <a:off x="457200" y="6019800"/>
              <a:ext cx="2057400" cy="396875"/>
            </a:xfrm>
            <a:prstGeom prst="rect">
              <a:avLst/>
            </a:prstGeom>
            <a:noFill/>
            <a:ln w="9525">
              <a:noFill/>
              <a:miter lim="800000"/>
              <a:headEnd/>
              <a:tailEnd/>
            </a:ln>
            <a:effectLst/>
          </p:spPr>
          <p:txBody>
            <a:bodyPr>
              <a:spAutoFit/>
            </a:bodyPr>
            <a:lstStyle/>
            <a:p>
              <a:pPr>
                <a:spcBef>
                  <a:spcPct val="50000"/>
                </a:spcBef>
              </a:pPr>
              <a:r>
                <a:rPr lang="en-US" altLang="zh-TW" sz="2000"/>
                <a:t>toward </a:t>
              </a:r>
              <a:r>
                <a:rPr lang="en-US" altLang="zh-TW" sz="2000">
                  <a:solidFill>
                    <a:schemeClr val="folHlink"/>
                  </a:solidFill>
                </a:rPr>
                <a:t>Gaussian</a:t>
              </a:r>
            </a:p>
          </p:txBody>
        </p:sp>
        <p:sp>
          <p:nvSpPr>
            <p:cNvPr id="55325" name="Text Box 29"/>
            <p:cNvSpPr txBox="1">
              <a:spLocks noChangeArrowheads="1"/>
            </p:cNvSpPr>
            <p:nvPr/>
          </p:nvSpPr>
          <p:spPr bwMode="auto">
            <a:xfrm>
              <a:off x="7467600" y="6019800"/>
              <a:ext cx="1676400" cy="396875"/>
            </a:xfrm>
            <a:prstGeom prst="rect">
              <a:avLst/>
            </a:prstGeom>
            <a:noFill/>
            <a:ln w="9525">
              <a:noFill/>
              <a:miter lim="800000"/>
              <a:headEnd/>
              <a:tailEnd/>
            </a:ln>
            <a:effectLst/>
          </p:spPr>
          <p:txBody>
            <a:bodyPr>
              <a:spAutoFit/>
            </a:bodyPr>
            <a:lstStyle/>
            <a:p>
              <a:pPr>
                <a:spcBef>
                  <a:spcPct val="50000"/>
                </a:spcBef>
              </a:pPr>
              <a:r>
                <a:rPr lang="en-US" altLang="zh-TW" sz="2000">
                  <a:solidFill>
                    <a:schemeClr val="folHlink"/>
                  </a:solidFill>
                </a:rPr>
                <a:t>Non-Gaussian</a:t>
              </a:r>
            </a:p>
          </p:txBody>
        </p:sp>
        <p:sp>
          <p:nvSpPr>
            <p:cNvPr id="55326" name="Text Box 30"/>
            <p:cNvSpPr txBox="1">
              <a:spLocks noChangeArrowheads="1"/>
            </p:cNvSpPr>
            <p:nvPr/>
          </p:nvSpPr>
          <p:spPr bwMode="auto">
            <a:xfrm>
              <a:off x="5410200" y="6019800"/>
              <a:ext cx="1752600" cy="396875"/>
            </a:xfrm>
            <a:prstGeom prst="rect">
              <a:avLst/>
            </a:prstGeom>
            <a:noFill/>
            <a:ln w="9525">
              <a:noFill/>
              <a:miter lim="800000"/>
              <a:headEnd/>
              <a:tailEnd/>
            </a:ln>
            <a:effectLst/>
          </p:spPr>
          <p:txBody>
            <a:bodyPr>
              <a:spAutoFit/>
            </a:bodyPr>
            <a:lstStyle/>
            <a:p>
              <a:pPr>
                <a:spcBef>
                  <a:spcPct val="50000"/>
                </a:spcBef>
              </a:pPr>
              <a:r>
                <a:rPr lang="en-US" altLang="zh-TW" sz="2000">
                  <a:solidFill>
                    <a:schemeClr val="folHlink"/>
                  </a:solidFill>
                </a:rPr>
                <a:t>Non-Gaussian</a:t>
              </a:r>
            </a:p>
          </p:txBody>
        </p:sp>
        <p:sp>
          <p:nvSpPr>
            <p:cNvPr id="55327" name="Text Box 31"/>
            <p:cNvSpPr txBox="1">
              <a:spLocks noChangeArrowheads="1"/>
            </p:cNvSpPr>
            <p:nvPr/>
          </p:nvSpPr>
          <p:spPr bwMode="auto">
            <a:xfrm>
              <a:off x="3200400" y="6019800"/>
              <a:ext cx="1752600" cy="396875"/>
            </a:xfrm>
            <a:prstGeom prst="rect">
              <a:avLst/>
            </a:prstGeom>
            <a:noFill/>
            <a:ln w="9525">
              <a:noFill/>
              <a:miter lim="800000"/>
              <a:headEnd/>
              <a:tailEnd/>
            </a:ln>
            <a:effectLst/>
          </p:spPr>
          <p:txBody>
            <a:bodyPr>
              <a:spAutoFit/>
            </a:bodyPr>
            <a:lstStyle/>
            <a:p>
              <a:pPr>
                <a:spcBef>
                  <a:spcPct val="50000"/>
                </a:spcBef>
              </a:pPr>
              <a:r>
                <a:rPr lang="en-US" altLang="zh-TW" sz="2000">
                  <a:solidFill>
                    <a:schemeClr val="folHlink"/>
                  </a:solidFill>
                </a:rPr>
                <a:t>Non-Gaussian</a:t>
              </a:r>
            </a:p>
          </p:txBody>
        </p:sp>
      </p:grpSp>
      <p:sp>
        <p:nvSpPr>
          <p:cNvPr id="33" name="Rectangle 3"/>
          <p:cNvSpPr txBox="1">
            <a:spLocks noChangeArrowheads="1"/>
          </p:cNvSpPr>
          <p:nvPr/>
        </p:nvSpPr>
        <p:spPr>
          <a:xfrm>
            <a:off x="323528" y="5373216"/>
            <a:ext cx="8229600" cy="1036712"/>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2800" b="0" i="0" u="none" strike="noStrike" kern="1200" cap="none" spc="0" normalizeH="0" baseline="0" noProof="0" dirty="0" smtClean="0">
                <a:ln>
                  <a:noFill/>
                </a:ln>
                <a:solidFill>
                  <a:srgbClr val="FF0000"/>
                </a:solidFill>
                <a:effectLst/>
                <a:uLnTx/>
                <a:uFillTx/>
                <a:latin typeface="+mn-lt"/>
                <a:ea typeface="+mn-ea"/>
                <a:cs typeface="+mn-cs"/>
              </a:rPr>
              <a:t>If the independent</a:t>
            </a:r>
            <a:r>
              <a:rPr kumimoji="0" lang="en-US" altLang="zh-TW" sz="2800" b="0" i="0" u="none" strike="noStrike" kern="1200" cap="none" spc="0" normalizeH="0" noProof="0" dirty="0" smtClean="0">
                <a:ln>
                  <a:noFill/>
                </a:ln>
                <a:solidFill>
                  <a:srgbClr val="FF0000"/>
                </a:solidFill>
                <a:effectLst/>
                <a:uLnTx/>
                <a:uFillTx/>
                <a:latin typeface="+mn-lt"/>
                <a:ea typeface="+mn-ea"/>
                <a:cs typeface="+mn-cs"/>
              </a:rPr>
              <a:t> random variables are Gaussian distribution, we can not separate them!!</a:t>
            </a:r>
            <a:endParaRPr kumimoji="0" lang="en-US" altLang="zh-TW" sz="2800" b="0" i="0" u="none" strike="noStrike" kern="1200" cap="none" spc="0" normalizeH="0" baseline="0" noProof="0" dirty="0" smtClean="0">
              <a:ln>
                <a:noFill/>
              </a:ln>
              <a:solidFill>
                <a:srgbClr val="FF0000"/>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26"/>
          <p:cNvSpPr>
            <a:spLocks noGrp="1" noChangeArrowheads="1"/>
          </p:cNvSpPr>
          <p:nvPr>
            <p:ph type="title"/>
          </p:nvPr>
        </p:nvSpPr>
        <p:spPr/>
        <p:txBody>
          <a:bodyPr/>
          <a:lstStyle/>
          <a:p>
            <a:r>
              <a:rPr lang="en-US" altLang="zh-TW" dirty="0"/>
              <a:t>How to estimate ICA model</a:t>
            </a:r>
          </a:p>
        </p:txBody>
      </p:sp>
      <p:sp>
        <p:nvSpPr>
          <p:cNvPr id="46083" name="Rectangle 1027"/>
          <p:cNvSpPr>
            <a:spLocks noGrp="1" noChangeArrowheads="1"/>
          </p:cNvSpPr>
          <p:nvPr>
            <p:ph type="body" idx="1"/>
          </p:nvPr>
        </p:nvSpPr>
        <p:spPr>
          <a:xfrm>
            <a:off x="685800" y="1752600"/>
            <a:ext cx="7772400" cy="4114800"/>
          </a:xfrm>
        </p:spPr>
        <p:txBody>
          <a:bodyPr/>
          <a:lstStyle/>
          <a:p>
            <a:r>
              <a:rPr lang="en-US" altLang="zh-TW" dirty="0"/>
              <a:t>Principle for estimating the model of ICA</a:t>
            </a:r>
            <a:endParaRPr lang="en-US" altLang="zh-TW" dirty="0">
              <a:solidFill>
                <a:schemeClr val="accent2"/>
              </a:solidFill>
            </a:endParaRPr>
          </a:p>
        </p:txBody>
      </p:sp>
      <p:sp>
        <p:nvSpPr>
          <p:cNvPr id="46084" name="Text Box 1028"/>
          <p:cNvSpPr txBox="1">
            <a:spLocks noChangeArrowheads="1"/>
          </p:cNvSpPr>
          <p:nvPr/>
        </p:nvSpPr>
        <p:spPr bwMode="auto">
          <a:xfrm>
            <a:off x="1905000" y="3733800"/>
            <a:ext cx="5029200" cy="1372683"/>
          </a:xfrm>
          <a:prstGeom prst="rect">
            <a:avLst/>
          </a:prstGeom>
          <a:noFill/>
          <a:ln w="57150">
            <a:solidFill>
              <a:schemeClr val="hlink"/>
            </a:solidFill>
            <a:miter lim="800000"/>
            <a:headEnd/>
            <a:tailEnd/>
          </a:ln>
          <a:effectLst/>
        </p:spPr>
        <p:txBody>
          <a:bodyPr>
            <a:spAutoFit/>
          </a:bodyPr>
          <a:lstStyle/>
          <a:p>
            <a:pPr>
              <a:spcBef>
                <a:spcPct val="20000"/>
              </a:spcBef>
            </a:pPr>
            <a:endParaRPr lang="en-US" altLang="zh-TW" sz="2800" dirty="0">
              <a:solidFill>
                <a:schemeClr val="accent2"/>
              </a:solidFill>
            </a:endParaRPr>
          </a:p>
          <a:p>
            <a:pPr algn="ctr">
              <a:spcBef>
                <a:spcPct val="20000"/>
              </a:spcBef>
            </a:pPr>
            <a:r>
              <a:rPr lang="en-US" altLang="zh-TW" sz="2800" dirty="0">
                <a:solidFill>
                  <a:schemeClr val="accent2"/>
                </a:solidFill>
              </a:rPr>
              <a:t>Maximization of </a:t>
            </a:r>
            <a:r>
              <a:rPr lang="en-US" altLang="zh-TW" sz="2800" dirty="0" smtClean="0">
                <a:solidFill>
                  <a:schemeClr val="accent2"/>
                </a:solidFill>
              </a:rPr>
              <a:t>Non-</a:t>
            </a:r>
            <a:r>
              <a:rPr lang="en-US" altLang="zh-TW" sz="2800" dirty="0" err="1" smtClean="0">
                <a:solidFill>
                  <a:schemeClr val="accent2"/>
                </a:solidFill>
              </a:rPr>
              <a:t>Gaussianity</a:t>
            </a:r>
            <a:endParaRPr lang="en-US" altLang="zh-TW" sz="2800" dirty="0">
              <a:solidFill>
                <a:schemeClr val="accent2"/>
              </a:solidFill>
            </a:endParaRPr>
          </a:p>
          <a:p>
            <a:pPr algn="ctr">
              <a:spcBef>
                <a:spcPct val="20000"/>
              </a:spcBef>
            </a:pPr>
            <a:endParaRPr lang="en-US" altLang="zh-TW" dirty="0"/>
          </a:p>
        </p:txBody>
      </p:sp>
      <p:sp>
        <p:nvSpPr>
          <p:cNvPr id="46085" name="AutoShape 1029"/>
          <p:cNvSpPr>
            <a:spLocks noChangeArrowheads="1"/>
          </p:cNvSpPr>
          <p:nvPr/>
        </p:nvSpPr>
        <p:spPr bwMode="auto">
          <a:xfrm>
            <a:off x="4191000" y="2514600"/>
            <a:ext cx="533400" cy="990600"/>
          </a:xfrm>
          <a:prstGeom prst="downArrow">
            <a:avLst>
              <a:gd name="adj1" fmla="val 50000"/>
              <a:gd name="adj2" fmla="val 46429"/>
            </a:avLst>
          </a:prstGeom>
          <a:solidFill>
            <a:schemeClr val="tx1"/>
          </a:solidFill>
          <a:ln w="28575">
            <a:solidFill>
              <a:schemeClr val="tx1"/>
            </a:solidFill>
            <a:miter lim="800000"/>
            <a:headEnd/>
            <a:tailEnd/>
          </a:ln>
          <a:effectLst/>
        </p:spPr>
        <p:txBody>
          <a:bodyPr wrap="none" anchor="ctr"/>
          <a:lstStyle/>
          <a:p>
            <a:endParaRPr lang="zh-TW" altLang="en-US"/>
          </a:p>
        </p:txBody>
      </p:sp>
      <p:sp>
        <p:nvSpPr>
          <p:cNvPr id="6" name="文字方塊 5"/>
          <p:cNvSpPr txBox="1"/>
          <p:nvPr/>
        </p:nvSpPr>
        <p:spPr>
          <a:xfrm>
            <a:off x="827584" y="5661248"/>
            <a:ext cx="7344816" cy="707886"/>
          </a:xfrm>
          <a:prstGeom prst="rect">
            <a:avLst/>
          </a:prstGeom>
          <a:noFill/>
        </p:spPr>
        <p:txBody>
          <a:bodyPr wrap="square" rtlCol="0">
            <a:spAutoFit/>
          </a:bodyPr>
          <a:lstStyle/>
          <a:p>
            <a:pPr algn="ctr"/>
            <a:r>
              <a:rPr lang="en-US" altLang="zh-TW" sz="4000" dirty="0" smtClean="0">
                <a:solidFill>
                  <a:srgbClr val="FF0000"/>
                </a:solidFill>
              </a:rPr>
              <a:t>Non-</a:t>
            </a:r>
            <a:r>
              <a:rPr lang="en-US" altLang="zh-TW" sz="4000" dirty="0" err="1" smtClean="0">
                <a:solidFill>
                  <a:srgbClr val="FF0000"/>
                </a:solidFill>
              </a:rPr>
              <a:t>Gaussianity</a:t>
            </a:r>
            <a:r>
              <a:rPr lang="en-US" altLang="zh-TW" sz="4000" dirty="0" smtClean="0">
                <a:solidFill>
                  <a:srgbClr val="FF0000"/>
                </a:solidFill>
              </a:rPr>
              <a:t> is independent!!</a:t>
            </a:r>
            <a:endParaRPr lang="zh-TW" altLang="en-US" sz="4000" dirty="0">
              <a:solidFill>
                <a:srgbClr val="FF000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09600" y="304800"/>
            <a:ext cx="7772400" cy="1143000"/>
          </a:xfrm>
        </p:spPr>
        <p:txBody>
          <a:bodyPr>
            <a:normAutofit fontScale="90000"/>
          </a:bodyPr>
          <a:lstStyle/>
          <a:p>
            <a:r>
              <a:rPr lang="en-US" altLang="zh-TW" dirty="0" smtClean="0">
                <a:ea typeface="新細明體" charset="-120"/>
              </a:rPr>
              <a:t>Measures of Non-</a:t>
            </a:r>
            <a:r>
              <a:rPr lang="en-US" altLang="zh-TW" dirty="0" err="1" smtClean="0">
                <a:ea typeface="新細明體" charset="-120"/>
              </a:rPr>
              <a:t>Gaussianity</a:t>
            </a:r>
            <a:r>
              <a:rPr lang="en-US" altLang="zh-TW" dirty="0" smtClean="0">
                <a:ea typeface="新細明體" charset="-120"/>
              </a:rPr>
              <a:t> (1)</a:t>
            </a:r>
            <a:br>
              <a:rPr lang="en-US" altLang="zh-TW" dirty="0" smtClean="0">
                <a:ea typeface="新細明體" charset="-120"/>
              </a:rPr>
            </a:br>
            <a:r>
              <a:rPr lang="en-US" altLang="zh-TW" dirty="0" smtClean="0"/>
              <a:t>Kurtosis (</a:t>
            </a:r>
            <a:r>
              <a:rPr lang="en-US" altLang="zh-TW" dirty="0" err="1" smtClean="0">
                <a:latin typeface="微軟正黑體" pitchFamily="34" charset="-120"/>
                <a:ea typeface="微軟正黑體" pitchFamily="34" charset="-120"/>
              </a:rPr>
              <a:t>峰態</a:t>
            </a:r>
            <a:r>
              <a:rPr lang="en-US" altLang="zh-TW" dirty="0" smtClean="0"/>
              <a:t>)</a:t>
            </a:r>
            <a:endParaRPr lang="en-US" altLang="zh-TW" dirty="0"/>
          </a:p>
        </p:txBody>
      </p:sp>
      <p:sp>
        <p:nvSpPr>
          <p:cNvPr id="23555" name="Rectangle 3"/>
          <p:cNvSpPr>
            <a:spLocks noGrp="1" noChangeArrowheads="1"/>
          </p:cNvSpPr>
          <p:nvPr>
            <p:ph type="body" idx="1"/>
          </p:nvPr>
        </p:nvSpPr>
        <p:spPr>
          <a:xfrm>
            <a:off x="611560" y="1628800"/>
            <a:ext cx="7772400" cy="3960440"/>
          </a:xfrm>
        </p:spPr>
        <p:txBody>
          <a:bodyPr/>
          <a:lstStyle/>
          <a:p>
            <a:pPr>
              <a:buNone/>
            </a:pPr>
            <a:r>
              <a:rPr lang="en-US" altLang="zh-TW" sz="2800" dirty="0" smtClean="0"/>
              <a:t>Kurtosis : E{(</a:t>
            </a:r>
            <a:r>
              <a:rPr lang="en-US" altLang="zh-TW" sz="2800" i="1" dirty="0" smtClean="0"/>
              <a:t>x</a:t>
            </a:r>
            <a:r>
              <a:rPr lang="en-US" altLang="zh-TW" sz="2800" dirty="0" smtClean="0"/>
              <a:t>-</a:t>
            </a:r>
            <a:r>
              <a:rPr lang="en-US" altLang="zh-TW" sz="2800" dirty="0" smtClean="0">
                <a:sym typeface="Symbol" pitchFamily="18" charset="2"/>
              </a:rPr>
              <a:t></a:t>
            </a:r>
            <a:r>
              <a:rPr lang="en-US" altLang="zh-TW" sz="2800" i="1" baseline="-25000" dirty="0" smtClean="0">
                <a:sym typeface="Symbol" pitchFamily="18" charset="2"/>
              </a:rPr>
              <a:t>x</a:t>
            </a:r>
            <a:r>
              <a:rPr lang="en-US" altLang="zh-TW" sz="2800" dirty="0" smtClean="0">
                <a:sym typeface="Symbol" pitchFamily="18" charset="2"/>
              </a:rPr>
              <a:t>)</a:t>
            </a:r>
            <a:r>
              <a:rPr lang="en-US" altLang="zh-TW" sz="2800" baseline="30000" dirty="0" smtClean="0">
                <a:sym typeface="Symbol" pitchFamily="18" charset="2"/>
              </a:rPr>
              <a:t>4</a:t>
            </a:r>
            <a:r>
              <a:rPr lang="en-US" altLang="zh-TW" sz="2800" dirty="0" smtClean="0"/>
              <a:t>}-3*[E{(</a:t>
            </a:r>
            <a:r>
              <a:rPr lang="en-US" altLang="zh-TW" sz="2800" i="1" dirty="0" smtClean="0"/>
              <a:t>x</a:t>
            </a:r>
            <a:r>
              <a:rPr lang="en-US" altLang="zh-TW" sz="2800" dirty="0" smtClean="0"/>
              <a:t>-</a:t>
            </a:r>
            <a:r>
              <a:rPr lang="en-US" altLang="zh-TW" sz="2800" dirty="0" smtClean="0">
                <a:sym typeface="Symbol" pitchFamily="18" charset="2"/>
              </a:rPr>
              <a:t></a:t>
            </a:r>
            <a:r>
              <a:rPr lang="en-US" altLang="zh-TW" sz="2800" i="1" baseline="-25000" dirty="0" smtClean="0">
                <a:sym typeface="Symbol" pitchFamily="18" charset="2"/>
              </a:rPr>
              <a:t>x</a:t>
            </a:r>
            <a:r>
              <a:rPr lang="en-US" altLang="zh-TW" sz="2800" dirty="0" smtClean="0"/>
              <a:t>)</a:t>
            </a:r>
            <a:r>
              <a:rPr lang="en-US" altLang="zh-TW" sz="2800" baseline="30000" dirty="0" smtClean="0"/>
              <a:t>2</a:t>
            </a:r>
            <a:r>
              <a:rPr lang="en-US" altLang="zh-TW" sz="2800" dirty="0" smtClean="0"/>
              <a:t>}]</a:t>
            </a:r>
            <a:r>
              <a:rPr lang="en-US" altLang="zh-TW" sz="2800" baseline="30000" dirty="0" smtClean="0"/>
              <a:t>2</a:t>
            </a:r>
          </a:p>
          <a:p>
            <a:pPr>
              <a:buNone/>
            </a:pPr>
            <a:r>
              <a:rPr lang="en-US" altLang="zh-TW" sz="2800" dirty="0" smtClean="0"/>
              <a:t>               =&gt; </a:t>
            </a:r>
            <a:r>
              <a:rPr lang="en-US" altLang="zh-TW" sz="2800" dirty="0" smtClean="0">
                <a:solidFill>
                  <a:srgbClr val="00B0F0"/>
                </a:solidFill>
              </a:rPr>
              <a:t>E{</a:t>
            </a:r>
            <a:r>
              <a:rPr lang="en-US" altLang="zh-TW" sz="2800" i="1" dirty="0" smtClean="0">
                <a:solidFill>
                  <a:srgbClr val="00B0F0"/>
                </a:solidFill>
              </a:rPr>
              <a:t>x</a:t>
            </a:r>
            <a:r>
              <a:rPr lang="en-US" altLang="zh-TW" sz="2800" baseline="30000" dirty="0" smtClean="0">
                <a:solidFill>
                  <a:srgbClr val="00B0F0"/>
                </a:solidFill>
              </a:rPr>
              <a:t>4</a:t>
            </a:r>
            <a:r>
              <a:rPr lang="en-US" altLang="zh-TW" sz="2800" dirty="0" smtClean="0">
                <a:solidFill>
                  <a:srgbClr val="00B0F0"/>
                </a:solidFill>
              </a:rPr>
              <a:t>}-3*E({</a:t>
            </a:r>
            <a:r>
              <a:rPr lang="en-US" altLang="zh-TW" sz="2800" i="1" dirty="0" smtClean="0">
                <a:solidFill>
                  <a:srgbClr val="00B0F0"/>
                </a:solidFill>
              </a:rPr>
              <a:t>x</a:t>
            </a:r>
            <a:r>
              <a:rPr lang="en-US" altLang="zh-TW" sz="2800" baseline="30000" dirty="0" smtClean="0">
                <a:solidFill>
                  <a:srgbClr val="00B0F0"/>
                </a:solidFill>
              </a:rPr>
              <a:t>2</a:t>
            </a:r>
            <a:r>
              <a:rPr lang="en-US" altLang="zh-TW" sz="2800" dirty="0" smtClean="0">
                <a:solidFill>
                  <a:srgbClr val="00B0F0"/>
                </a:solidFill>
              </a:rPr>
              <a:t>})</a:t>
            </a:r>
            <a:r>
              <a:rPr lang="en-US" altLang="zh-TW" sz="2800" baseline="30000" dirty="0" smtClean="0">
                <a:solidFill>
                  <a:srgbClr val="00B0F0"/>
                </a:solidFill>
              </a:rPr>
              <a:t>2</a:t>
            </a:r>
            <a:r>
              <a:rPr lang="en-US" altLang="zh-TW" sz="2800" dirty="0" smtClean="0">
                <a:solidFill>
                  <a:srgbClr val="00B0F0"/>
                </a:solidFill>
              </a:rPr>
              <a:t>=&gt;</a:t>
            </a:r>
            <a:r>
              <a:rPr lang="en-US" altLang="zh-TW" sz="2800" dirty="0" smtClean="0"/>
              <a:t> </a:t>
            </a:r>
            <a:r>
              <a:rPr lang="en-US" altLang="zh-TW" sz="2800" dirty="0" smtClean="0">
                <a:solidFill>
                  <a:srgbClr val="00B0F0"/>
                </a:solidFill>
              </a:rPr>
              <a:t>E{</a:t>
            </a:r>
            <a:r>
              <a:rPr lang="en-US" altLang="zh-TW" sz="2800" i="1" dirty="0" smtClean="0">
                <a:solidFill>
                  <a:srgbClr val="00B0F0"/>
                </a:solidFill>
              </a:rPr>
              <a:t>x</a:t>
            </a:r>
            <a:r>
              <a:rPr lang="en-US" altLang="zh-TW" sz="2800" baseline="30000" dirty="0" smtClean="0">
                <a:solidFill>
                  <a:srgbClr val="00B0F0"/>
                </a:solidFill>
              </a:rPr>
              <a:t>4</a:t>
            </a:r>
            <a:r>
              <a:rPr lang="en-US" altLang="zh-TW" sz="2800" dirty="0" smtClean="0">
                <a:solidFill>
                  <a:srgbClr val="00B0F0"/>
                </a:solidFill>
              </a:rPr>
              <a:t>} - 3</a:t>
            </a:r>
          </a:p>
          <a:p>
            <a:pPr>
              <a:buNone/>
            </a:pPr>
            <a:endParaRPr lang="en-US" altLang="zh-TW" baseline="30000" dirty="0" smtClean="0"/>
          </a:p>
          <a:p>
            <a:pPr>
              <a:buNone/>
            </a:pPr>
            <a:endParaRPr lang="en-US" altLang="zh-TW" dirty="0"/>
          </a:p>
        </p:txBody>
      </p:sp>
      <p:sp>
        <p:nvSpPr>
          <p:cNvPr id="23571" name="Text Box 19"/>
          <p:cNvSpPr txBox="1">
            <a:spLocks noChangeArrowheads="1"/>
          </p:cNvSpPr>
          <p:nvPr/>
        </p:nvSpPr>
        <p:spPr bwMode="auto">
          <a:xfrm>
            <a:off x="4427984" y="5589240"/>
            <a:ext cx="4176464" cy="1015663"/>
          </a:xfrm>
          <a:prstGeom prst="rect">
            <a:avLst/>
          </a:prstGeom>
          <a:noFill/>
          <a:ln w="9525">
            <a:noFill/>
            <a:miter lim="800000"/>
            <a:headEnd/>
            <a:tailEnd/>
          </a:ln>
          <a:effectLst/>
        </p:spPr>
        <p:txBody>
          <a:bodyPr wrap="square">
            <a:spAutoFit/>
          </a:bodyPr>
          <a:lstStyle/>
          <a:p>
            <a:pPr>
              <a:spcBef>
                <a:spcPct val="50000"/>
              </a:spcBef>
            </a:pPr>
            <a:r>
              <a:rPr lang="en-US" altLang="zh-TW" sz="2400" dirty="0" err="1" smtClean="0"/>
              <a:t>kurt</a:t>
            </a:r>
            <a:r>
              <a:rPr lang="en-US" altLang="zh-TW" sz="2400" dirty="0" smtClean="0"/>
              <a:t>(</a:t>
            </a:r>
            <a:r>
              <a:rPr lang="en-US" altLang="zh-TW" sz="2400" i="1" dirty="0" smtClean="0"/>
              <a:t>x</a:t>
            </a:r>
            <a:r>
              <a:rPr lang="en-US" altLang="zh-TW" sz="2400" baseline="-25000" dirty="0" smtClean="0"/>
              <a:t>1</a:t>
            </a:r>
            <a:r>
              <a:rPr lang="en-US" altLang="zh-TW" sz="2400" dirty="0" smtClean="0"/>
              <a:t>+</a:t>
            </a:r>
            <a:r>
              <a:rPr lang="en-US" altLang="zh-TW" sz="2400" i="1" dirty="0" smtClean="0"/>
              <a:t>x</a:t>
            </a:r>
            <a:r>
              <a:rPr lang="en-US" altLang="zh-TW" sz="2400" baseline="-25000" dirty="0" smtClean="0"/>
              <a:t>2</a:t>
            </a:r>
            <a:r>
              <a:rPr lang="en-US" altLang="zh-TW" sz="2400" dirty="0" smtClean="0"/>
              <a:t>)= </a:t>
            </a:r>
            <a:r>
              <a:rPr lang="en-US" altLang="zh-TW" sz="2400" dirty="0" err="1" smtClean="0"/>
              <a:t>kurt</a:t>
            </a:r>
            <a:r>
              <a:rPr lang="en-US" altLang="zh-TW" sz="2400" dirty="0" smtClean="0"/>
              <a:t>(</a:t>
            </a:r>
            <a:r>
              <a:rPr lang="en-US" altLang="zh-TW" sz="2400" i="1" dirty="0" smtClean="0"/>
              <a:t>x</a:t>
            </a:r>
            <a:r>
              <a:rPr lang="en-US" altLang="zh-TW" sz="2400" baseline="-25000" dirty="0" smtClean="0"/>
              <a:t>1</a:t>
            </a:r>
            <a:r>
              <a:rPr lang="en-US" altLang="zh-TW" sz="2400" dirty="0" smtClean="0"/>
              <a:t>) + </a:t>
            </a:r>
            <a:r>
              <a:rPr lang="en-US" altLang="zh-TW" sz="2400" dirty="0" err="1" smtClean="0"/>
              <a:t>kurt</a:t>
            </a:r>
            <a:r>
              <a:rPr lang="en-US" altLang="zh-TW" sz="2400" dirty="0" smtClean="0"/>
              <a:t>(</a:t>
            </a:r>
            <a:r>
              <a:rPr lang="en-US" altLang="zh-TW" sz="2400" i="1" dirty="0" smtClean="0"/>
              <a:t>x</a:t>
            </a:r>
            <a:r>
              <a:rPr lang="en-US" altLang="zh-TW" sz="2400" baseline="-25000" dirty="0" smtClean="0"/>
              <a:t>2</a:t>
            </a:r>
            <a:r>
              <a:rPr lang="en-US" altLang="zh-TW" sz="2400" dirty="0" smtClean="0"/>
              <a:t>)</a:t>
            </a:r>
          </a:p>
          <a:p>
            <a:pPr>
              <a:spcBef>
                <a:spcPct val="50000"/>
              </a:spcBef>
            </a:pPr>
            <a:r>
              <a:rPr lang="en-US" altLang="zh-TW" sz="2400" dirty="0" err="1" smtClean="0"/>
              <a:t>kurt</a:t>
            </a:r>
            <a:r>
              <a:rPr lang="en-US" altLang="zh-TW" sz="2400" dirty="0" smtClean="0"/>
              <a:t>(</a:t>
            </a:r>
            <a:r>
              <a:rPr lang="en-US" altLang="zh-TW" sz="2400" dirty="0" smtClean="0">
                <a:sym typeface="Symbol" pitchFamily="18" charset="2"/>
              </a:rPr>
              <a:t></a:t>
            </a:r>
            <a:r>
              <a:rPr lang="en-US" altLang="zh-TW" sz="2400" i="1" dirty="0" smtClean="0"/>
              <a:t>x</a:t>
            </a:r>
            <a:r>
              <a:rPr lang="en-US" altLang="zh-TW" sz="2400" baseline="-25000" dirty="0" smtClean="0"/>
              <a:t>1</a:t>
            </a:r>
            <a:r>
              <a:rPr lang="en-US" altLang="zh-TW" sz="2400" dirty="0" smtClean="0"/>
              <a:t>) =</a:t>
            </a:r>
            <a:r>
              <a:rPr lang="en-US" altLang="zh-TW" sz="2400" dirty="0" smtClean="0">
                <a:sym typeface="Symbol" pitchFamily="18" charset="2"/>
              </a:rPr>
              <a:t></a:t>
            </a:r>
            <a:r>
              <a:rPr lang="en-US" altLang="zh-TW" sz="2400" baseline="30000" dirty="0" smtClean="0">
                <a:sym typeface="Symbol" pitchFamily="18" charset="2"/>
              </a:rPr>
              <a:t>4</a:t>
            </a:r>
            <a:r>
              <a:rPr lang="en-US" altLang="zh-TW" sz="2400" dirty="0" smtClean="0"/>
              <a:t>kurt(</a:t>
            </a:r>
            <a:r>
              <a:rPr lang="en-US" altLang="zh-TW" sz="2400" i="1" dirty="0" smtClean="0"/>
              <a:t>x</a:t>
            </a:r>
            <a:r>
              <a:rPr lang="en-US" altLang="zh-TW" sz="2400" baseline="-25000" dirty="0" smtClean="0"/>
              <a:t>1</a:t>
            </a:r>
            <a:r>
              <a:rPr lang="en-US" altLang="zh-TW" sz="2400" dirty="0" smtClean="0"/>
              <a:t>)</a:t>
            </a:r>
            <a:endParaRPr lang="en-US" altLang="zh-TW" sz="2400" dirty="0"/>
          </a:p>
        </p:txBody>
      </p:sp>
      <p:grpSp>
        <p:nvGrpSpPr>
          <p:cNvPr id="16" name="群組 15"/>
          <p:cNvGrpSpPr/>
          <p:nvPr/>
        </p:nvGrpSpPr>
        <p:grpSpPr>
          <a:xfrm>
            <a:off x="395536" y="2852936"/>
            <a:ext cx="8244408" cy="2043113"/>
            <a:chOff x="899592" y="2538015"/>
            <a:chExt cx="8244408" cy="2043113"/>
          </a:xfrm>
        </p:grpSpPr>
        <p:sp>
          <p:nvSpPr>
            <p:cNvPr id="23558" name="Line 6"/>
            <p:cNvSpPr>
              <a:spLocks noChangeShapeType="1"/>
            </p:cNvSpPr>
            <p:nvPr/>
          </p:nvSpPr>
          <p:spPr bwMode="auto">
            <a:xfrm>
              <a:off x="4630738" y="2895600"/>
              <a:ext cx="700087" cy="0"/>
            </a:xfrm>
            <a:prstGeom prst="line">
              <a:avLst/>
            </a:prstGeom>
            <a:noFill/>
            <a:ln w="9525">
              <a:solidFill>
                <a:schemeClr val="tx1"/>
              </a:solidFill>
              <a:round/>
              <a:headEnd/>
              <a:tailEnd type="triangle" w="med" len="med"/>
            </a:ln>
            <a:effectLst/>
          </p:spPr>
          <p:txBody>
            <a:bodyPr wrap="none" anchor="ctr"/>
            <a:lstStyle/>
            <a:p>
              <a:endParaRPr lang="zh-TW" altLang="en-US"/>
            </a:p>
          </p:txBody>
        </p:sp>
        <p:sp>
          <p:nvSpPr>
            <p:cNvPr id="23559" name="Text Box 7"/>
            <p:cNvSpPr txBox="1">
              <a:spLocks noChangeArrowheads="1"/>
            </p:cNvSpPr>
            <p:nvPr/>
          </p:nvSpPr>
          <p:spPr bwMode="auto">
            <a:xfrm>
              <a:off x="5410200" y="2667000"/>
              <a:ext cx="3733800" cy="369332"/>
            </a:xfrm>
            <a:prstGeom prst="rect">
              <a:avLst/>
            </a:prstGeom>
            <a:noFill/>
            <a:ln w="9525">
              <a:noFill/>
              <a:miter lim="800000"/>
              <a:headEnd/>
              <a:tailEnd/>
            </a:ln>
            <a:effectLst/>
          </p:spPr>
          <p:txBody>
            <a:bodyPr>
              <a:spAutoFit/>
            </a:bodyPr>
            <a:lstStyle/>
            <a:p>
              <a:pPr>
                <a:spcBef>
                  <a:spcPct val="50000"/>
                </a:spcBef>
              </a:pPr>
              <a:r>
                <a:rPr lang="en-US" altLang="zh-TW" dirty="0"/>
                <a:t>Super-Gaussian  kurtosis &gt; </a:t>
              </a:r>
              <a:r>
                <a:rPr lang="en-US" altLang="zh-TW" dirty="0" smtClean="0"/>
                <a:t>0</a:t>
              </a:r>
              <a:endParaRPr lang="en-US" altLang="zh-TW" dirty="0"/>
            </a:p>
          </p:txBody>
        </p:sp>
        <p:sp>
          <p:nvSpPr>
            <p:cNvPr id="23560" name="Line 8"/>
            <p:cNvSpPr>
              <a:spLocks noChangeShapeType="1"/>
            </p:cNvSpPr>
            <p:nvPr/>
          </p:nvSpPr>
          <p:spPr bwMode="auto">
            <a:xfrm>
              <a:off x="4708525" y="3429000"/>
              <a:ext cx="700088" cy="0"/>
            </a:xfrm>
            <a:prstGeom prst="line">
              <a:avLst/>
            </a:prstGeom>
            <a:noFill/>
            <a:ln w="9525">
              <a:solidFill>
                <a:schemeClr val="tx1"/>
              </a:solidFill>
              <a:round/>
              <a:headEnd/>
              <a:tailEnd type="triangle" w="med" len="med"/>
            </a:ln>
            <a:effectLst/>
          </p:spPr>
          <p:txBody>
            <a:bodyPr wrap="none" anchor="ctr"/>
            <a:lstStyle/>
            <a:p>
              <a:endParaRPr lang="zh-TW" altLang="en-US"/>
            </a:p>
          </p:txBody>
        </p:sp>
        <p:sp>
          <p:nvSpPr>
            <p:cNvPr id="23561" name="Text Box 9"/>
            <p:cNvSpPr txBox="1">
              <a:spLocks noChangeArrowheads="1"/>
            </p:cNvSpPr>
            <p:nvPr/>
          </p:nvSpPr>
          <p:spPr bwMode="auto">
            <a:xfrm>
              <a:off x="5486400" y="3200400"/>
              <a:ext cx="3657600" cy="369332"/>
            </a:xfrm>
            <a:prstGeom prst="rect">
              <a:avLst/>
            </a:prstGeom>
            <a:noFill/>
            <a:ln w="9525">
              <a:noFill/>
              <a:miter lim="800000"/>
              <a:headEnd/>
              <a:tailEnd/>
            </a:ln>
            <a:effectLst/>
          </p:spPr>
          <p:txBody>
            <a:bodyPr>
              <a:spAutoFit/>
            </a:bodyPr>
            <a:lstStyle/>
            <a:p>
              <a:pPr>
                <a:spcBef>
                  <a:spcPct val="50000"/>
                </a:spcBef>
              </a:pPr>
              <a:r>
                <a:rPr lang="en-US" altLang="zh-TW" dirty="0"/>
                <a:t>Gaussian	  kurtosis = </a:t>
              </a:r>
              <a:r>
                <a:rPr lang="en-US" altLang="zh-TW" dirty="0" smtClean="0"/>
                <a:t>0</a:t>
              </a:r>
              <a:endParaRPr lang="en-US" altLang="zh-TW" dirty="0"/>
            </a:p>
          </p:txBody>
        </p:sp>
        <p:sp>
          <p:nvSpPr>
            <p:cNvPr id="23562" name="Line 10"/>
            <p:cNvSpPr>
              <a:spLocks noChangeShapeType="1"/>
            </p:cNvSpPr>
            <p:nvPr/>
          </p:nvSpPr>
          <p:spPr bwMode="auto">
            <a:xfrm>
              <a:off x="4708525" y="3962400"/>
              <a:ext cx="700088" cy="0"/>
            </a:xfrm>
            <a:prstGeom prst="line">
              <a:avLst/>
            </a:prstGeom>
            <a:noFill/>
            <a:ln w="9525">
              <a:solidFill>
                <a:schemeClr val="tx1"/>
              </a:solidFill>
              <a:round/>
              <a:headEnd/>
              <a:tailEnd type="triangle" w="med" len="med"/>
            </a:ln>
            <a:effectLst/>
          </p:spPr>
          <p:txBody>
            <a:bodyPr wrap="none" anchor="ctr"/>
            <a:lstStyle/>
            <a:p>
              <a:endParaRPr lang="zh-TW" altLang="en-US"/>
            </a:p>
          </p:txBody>
        </p:sp>
        <p:sp>
          <p:nvSpPr>
            <p:cNvPr id="23563" name="Text Box 11"/>
            <p:cNvSpPr txBox="1">
              <a:spLocks noChangeArrowheads="1"/>
            </p:cNvSpPr>
            <p:nvPr/>
          </p:nvSpPr>
          <p:spPr bwMode="auto">
            <a:xfrm>
              <a:off x="5486400" y="3733800"/>
              <a:ext cx="3657600" cy="369332"/>
            </a:xfrm>
            <a:prstGeom prst="rect">
              <a:avLst/>
            </a:prstGeom>
            <a:noFill/>
            <a:ln w="9525">
              <a:noFill/>
              <a:miter lim="800000"/>
              <a:headEnd/>
              <a:tailEnd/>
            </a:ln>
            <a:effectLst/>
          </p:spPr>
          <p:txBody>
            <a:bodyPr>
              <a:spAutoFit/>
            </a:bodyPr>
            <a:lstStyle/>
            <a:p>
              <a:pPr>
                <a:spcBef>
                  <a:spcPct val="50000"/>
                </a:spcBef>
              </a:pPr>
              <a:r>
                <a:rPr lang="en-US" altLang="zh-TW" dirty="0"/>
                <a:t>Sub-Gaussian    kurtosis &lt; 0</a:t>
              </a:r>
            </a:p>
          </p:txBody>
        </p:sp>
        <p:pic>
          <p:nvPicPr>
            <p:cNvPr id="24" name="Picture 13" descr="kurtosis"/>
            <p:cNvPicPr>
              <a:picLocks noChangeAspect="1" noChangeArrowheads="1"/>
            </p:cNvPicPr>
            <p:nvPr/>
          </p:nvPicPr>
          <p:blipFill>
            <a:blip r:embed="rId2" cstate="print"/>
            <a:srcRect l="11177"/>
            <a:stretch>
              <a:fillRect/>
            </a:stretch>
          </p:blipFill>
          <p:spPr bwMode="auto">
            <a:xfrm>
              <a:off x="899592" y="2538015"/>
              <a:ext cx="4238625" cy="2043113"/>
            </a:xfrm>
            <a:prstGeom prst="rect">
              <a:avLst/>
            </a:prstGeom>
            <a:noFill/>
          </p:spPr>
        </p:pic>
      </p:grpSp>
      <p:sp>
        <p:nvSpPr>
          <p:cNvPr id="26" name="矩形 25"/>
          <p:cNvSpPr/>
          <p:nvPr/>
        </p:nvSpPr>
        <p:spPr>
          <a:xfrm>
            <a:off x="2915816" y="2780928"/>
            <a:ext cx="396000"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p:cNvSpPr txBox="1"/>
          <p:nvPr/>
        </p:nvSpPr>
        <p:spPr>
          <a:xfrm>
            <a:off x="827584" y="5013176"/>
            <a:ext cx="7056784" cy="461665"/>
          </a:xfrm>
          <a:prstGeom prst="rect">
            <a:avLst/>
          </a:prstGeom>
          <a:noFill/>
        </p:spPr>
        <p:txBody>
          <a:bodyPr wrap="square" rtlCol="0">
            <a:spAutoFit/>
          </a:bodyPr>
          <a:lstStyle/>
          <a:p>
            <a:pPr algn="ctr"/>
            <a:r>
              <a:rPr lang="en-US" altLang="zh-TW" sz="2400" dirty="0" smtClean="0">
                <a:solidFill>
                  <a:srgbClr val="FF0000"/>
                </a:solidFill>
              </a:rPr>
              <a:t>Non-Gaussian random variable, </a:t>
            </a:r>
            <a:r>
              <a:rPr lang="en-US" altLang="zh-TW" sz="2400" dirty="0" err="1" smtClean="0">
                <a:solidFill>
                  <a:srgbClr val="FF0000"/>
                </a:solidFill>
              </a:rPr>
              <a:t>kurotosis</a:t>
            </a:r>
            <a:r>
              <a:rPr lang="en-US" altLang="zh-TW" sz="2400" dirty="0" smtClean="0">
                <a:solidFill>
                  <a:srgbClr val="FF0000"/>
                </a:solidFill>
              </a:rPr>
              <a:t> is nonzero.</a:t>
            </a:r>
            <a:endParaRPr lang="zh-TW" altLang="en-US" sz="2400" dirty="0">
              <a:solidFill>
                <a:srgbClr val="FF0000"/>
              </a:solidFill>
            </a:endParaRPr>
          </a:p>
        </p:txBody>
      </p:sp>
      <p:sp>
        <p:nvSpPr>
          <p:cNvPr id="18" name="文字方塊 17"/>
          <p:cNvSpPr txBox="1"/>
          <p:nvPr/>
        </p:nvSpPr>
        <p:spPr>
          <a:xfrm>
            <a:off x="395536" y="5733256"/>
            <a:ext cx="3024336" cy="461665"/>
          </a:xfrm>
          <a:prstGeom prst="rect">
            <a:avLst/>
          </a:prstGeom>
          <a:noFill/>
        </p:spPr>
        <p:txBody>
          <a:bodyPr wrap="square" rtlCol="0">
            <a:spAutoFit/>
          </a:bodyPr>
          <a:lstStyle/>
          <a:p>
            <a:r>
              <a:rPr lang="en-US" altLang="zh-TW" sz="2400" dirty="0" smtClean="0"/>
              <a:t>If </a:t>
            </a:r>
            <a:r>
              <a:rPr lang="en-US" altLang="zh-TW" sz="2400" i="1" dirty="0" smtClean="0"/>
              <a:t>x</a:t>
            </a:r>
            <a:r>
              <a:rPr lang="en-US" altLang="zh-TW" sz="2400" baseline="-25000" dirty="0" smtClean="0"/>
              <a:t>1</a:t>
            </a:r>
            <a:r>
              <a:rPr lang="en-US" altLang="zh-TW" sz="2400" dirty="0" smtClean="0"/>
              <a:t>, </a:t>
            </a:r>
            <a:r>
              <a:rPr lang="en-US" altLang="zh-TW" sz="2400" i="1" dirty="0" smtClean="0"/>
              <a:t>x</a:t>
            </a:r>
            <a:r>
              <a:rPr lang="en-US" altLang="zh-TW" sz="2400" baseline="-25000" dirty="0" smtClean="0"/>
              <a:t>2</a:t>
            </a:r>
            <a:r>
              <a:rPr lang="en-US" altLang="zh-TW" sz="2400" dirty="0" smtClean="0"/>
              <a:t> is independent</a:t>
            </a:r>
            <a:endParaRPr lang="zh-TW" altLang="en-US" sz="2400" dirty="0"/>
          </a:p>
        </p:txBody>
      </p:sp>
      <p:sp>
        <p:nvSpPr>
          <p:cNvPr id="19" name="向右箭號 18"/>
          <p:cNvSpPr/>
          <p:nvPr/>
        </p:nvSpPr>
        <p:spPr>
          <a:xfrm>
            <a:off x="3563888" y="5877272"/>
            <a:ext cx="504056"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67544" y="116632"/>
            <a:ext cx="8496944" cy="5878532"/>
          </a:xfrm>
          <a:prstGeom prst="rect">
            <a:avLst/>
          </a:prstGeom>
        </p:spPr>
        <p:txBody>
          <a:bodyPr wrap="square">
            <a:spAutoFit/>
          </a:bodyPr>
          <a:lstStyle/>
          <a:p>
            <a:r>
              <a:rPr lang="en-US" altLang="zh-TW" sz="2400" i="1" dirty="0" smtClean="0"/>
              <a:t>X = AS</a:t>
            </a:r>
          </a:p>
          <a:p>
            <a:r>
              <a:rPr lang="en-US" altLang="zh-TW" sz="2400" dirty="0" smtClean="0"/>
              <a:t>Assume independent components </a:t>
            </a:r>
            <a:r>
              <a:rPr lang="en-US" altLang="zh-TW" sz="2400" i="1" dirty="0" smtClean="0"/>
              <a:t>s</a:t>
            </a:r>
            <a:r>
              <a:rPr lang="en-US" altLang="zh-TW" sz="2400" baseline="-25000" dirty="0" smtClean="0"/>
              <a:t>1</a:t>
            </a:r>
            <a:r>
              <a:rPr lang="en-US" altLang="zh-TW" sz="2400" dirty="0" smtClean="0"/>
              <a:t>, </a:t>
            </a:r>
            <a:r>
              <a:rPr lang="en-US" altLang="zh-TW" sz="2400" i="1" dirty="0" smtClean="0"/>
              <a:t>s</a:t>
            </a:r>
            <a:r>
              <a:rPr lang="en-US" altLang="zh-TW" sz="2400" baseline="-25000" dirty="0" smtClean="0"/>
              <a:t>2</a:t>
            </a:r>
            <a:r>
              <a:rPr lang="en-US" altLang="zh-TW" sz="2400" dirty="0" smtClean="0"/>
              <a:t> </a:t>
            </a:r>
          </a:p>
          <a:p>
            <a:r>
              <a:rPr lang="en-US" altLang="zh-TW" sz="2400" dirty="0" err="1" smtClean="0"/>
              <a:t>kurt</a:t>
            </a:r>
            <a:r>
              <a:rPr lang="en-US" altLang="zh-TW" sz="2400" dirty="0" smtClean="0"/>
              <a:t>(s</a:t>
            </a:r>
            <a:r>
              <a:rPr lang="en-US" altLang="zh-TW" sz="2400" baseline="-25000" dirty="0" smtClean="0"/>
              <a:t>1</a:t>
            </a:r>
            <a:r>
              <a:rPr lang="en-US" altLang="zh-TW" sz="2400" dirty="0" smtClean="0"/>
              <a:t>), </a:t>
            </a:r>
            <a:r>
              <a:rPr lang="en-US" altLang="zh-TW" sz="2400" dirty="0" err="1" smtClean="0"/>
              <a:t>kurt</a:t>
            </a:r>
            <a:r>
              <a:rPr lang="en-US" altLang="zh-TW" sz="2400" dirty="0" smtClean="0"/>
              <a:t>(s</a:t>
            </a:r>
            <a:r>
              <a:rPr lang="en-US" altLang="zh-TW" sz="2400" baseline="-25000" dirty="0" smtClean="0"/>
              <a:t>2</a:t>
            </a:r>
            <a:r>
              <a:rPr lang="en-US" altLang="zh-TW" sz="2400" dirty="0" smtClean="0"/>
              <a:t>) ≠0, and </a:t>
            </a:r>
            <a:r>
              <a:rPr lang="en-US" altLang="zh-TW" sz="2400" dirty="0" err="1" smtClean="0"/>
              <a:t>var</a:t>
            </a:r>
            <a:r>
              <a:rPr lang="en-US" altLang="zh-TW" sz="2400" dirty="0" smtClean="0"/>
              <a:t>(</a:t>
            </a:r>
            <a:r>
              <a:rPr lang="en-US" altLang="zh-TW" sz="2400" i="1" dirty="0" smtClean="0"/>
              <a:t>s</a:t>
            </a:r>
            <a:r>
              <a:rPr lang="en-US" altLang="zh-TW" sz="2400" baseline="-25000" dirty="0" smtClean="0"/>
              <a:t>1</a:t>
            </a:r>
            <a:r>
              <a:rPr lang="en-US" altLang="zh-TW" sz="2400" dirty="0" smtClean="0"/>
              <a:t>) = </a:t>
            </a:r>
            <a:r>
              <a:rPr lang="en-US" altLang="zh-TW" sz="2400" dirty="0" err="1" smtClean="0"/>
              <a:t>var</a:t>
            </a:r>
            <a:r>
              <a:rPr lang="en-US" altLang="zh-TW" sz="2400" dirty="0" smtClean="0"/>
              <a:t>(</a:t>
            </a:r>
            <a:r>
              <a:rPr lang="en-US" altLang="zh-TW" sz="2400" i="1" dirty="0" smtClean="0"/>
              <a:t>s</a:t>
            </a:r>
            <a:r>
              <a:rPr lang="en-US" altLang="zh-TW" sz="2400" baseline="-25000" dirty="0" smtClean="0"/>
              <a:t>2</a:t>
            </a:r>
            <a:r>
              <a:rPr lang="en-US" altLang="zh-TW" sz="2400" dirty="0" smtClean="0"/>
              <a:t>) = 1</a:t>
            </a:r>
          </a:p>
          <a:p>
            <a:endParaRPr lang="en-US" altLang="zh-TW" sz="2400" dirty="0" smtClean="0"/>
          </a:p>
          <a:p>
            <a:r>
              <a:rPr lang="en-US" altLang="zh-TW" sz="2400" dirty="0" smtClean="0"/>
              <a:t>E(</a:t>
            </a:r>
            <a:r>
              <a:rPr lang="en-US" altLang="zh-TW" sz="2400" i="1" dirty="0" smtClean="0"/>
              <a:t>Y</a:t>
            </a:r>
            <a:r>
              <a:rPr lang="en-US" altLang="zh-TW" sz="2400" dirty="0" smtClean="0"/>
              <a:t>)</a:t>
            </a:r>
            <a:r>
              <a:rPr lang="en-US" altLang="zh-TW" sz="2400" i="1" dirty="0" smtClean="0"/>
              <a:t> </a:t>
            </a:r>
            <a:r>
              <a:rPr lang="en-US" altLang="zh-TW" sz="2400" dirty="0" smtClean="0"/>
              <a:t>=</a:t>
            </a:r>
            <a:r>
              <a:rPr lang="en-US" altLang="zh-TW" sz="2400" i="1" dirty="0" smtClean="0"/>
              <a:t> </a:t>
            </a:r>
            <a:r>
              <a:rPr lang="en-US" altLang="zh-TW" sz="2400" dirty="0" smtClean="0"/>
              <a:t>0</a:t>
            </a:r>
            <a:r>
              <a:rPr lang="en-US" altLang="zh-TW" sz="2400" i="1" dirty="0" smtClean="0"/>
              <a:t>, </a:t>
            </a:r>
            <a:r>
              <a:rPr lang="en-US" altLang="zh-TW" sz="2400" dirty="0" smtClean="0"/>
              <a:t>COV(</a:t>
            </a:r>
            <a:r>
              <a:rPr lang="en-US" altLang="zh-TW" sz="2400" i="1" dirty="0" smtClean="0"/>
              <a:t>Y</a:t>
            </a:r>
            <a:r>
              <a:rPr lang="en-US" altLang="zh-TW" sz="2400" dirty="0" smtClean="0"/>
              <a:t>)</a:t>
            </a:r>
            <a:r>
              <a:rPr lang="en-US" altLang="zh-TW" sz="2400" i="1" dirty="0" smtClean="0"/>
              <a:t> = I </a:t>
            </a:r>
            <a:endParaRPr lang="en-US" altLang="zh-TW" sz="2400" dirty="0" smtClean="0"/>
          </a:p>
          <a:p>
            <a:r>
              <a:rPr lang="en-US" altLang="zh-TW" sz="2400" dirty="0" smtClean="0"/>
              <a:t>We want to get independent component Y = </a:t>
            </a:r>
            <a:r>
              <a:rPr lang="en-US" altLang="zh-TW" sz="2400" i="1" dirty="0" smtClean="0"/>
              <a:t>U</a:t>
            </a:r>
            <a:r>
              <a:rPr lang="en-US" altLang="zh-TW" sz="2400" baseline="30000" dirty="0" smtClean="0"/>
              <a:t>T</a:t>
            </a:r>
            <a:r>
              <a:rPr lang="en-US" altLang="zh-TW" sz="2400" i="1" dirty="0" smtClean="0"/>
              <a:t>X</a:t>
            </a:r>
          </a:p>
          <a:p>
            <a:endParaRPr lang="en-US" altLang="zh-TW" sz="2400" i="1" dirty="0" smtClean="0"/>
          </a:p>
          <a:p>
            <a:r>
              <a:rPr lang="en-US" altLang="zh-TW" sz="2400" dirty="0" smtClean="0"/>
              <a:t>Let Z = A</a:t>
            </a:r>
            <a:r>
              <a:rPr lang="en-US" altLang="zh-TW" sz="2400" i="1" dirty="0" smtClean="0"/>
              <a:t>U</a:t>
            </a:r>
            <a:r>
              <a:rPr lang="en-US" altLang="zh-TW" sz="2400" baseline="30000" dirty="0" smtClean="0"/>
              <a:t>T</a:t>
            </a:r>
            <a:r>
              <a:rPr lang="en-US" altLang="zh-TW" sz="2400" dirty="0" smtClean="0"/>
              <a:t>=[z</a:t>
            </a:r>
            <a:r>
              <a:rPr lang="en-US" altLang="zh-TW" sz="2400" baseline="-25000" dirty="0" smtClean="0"/>
              <a:t>1</a:t>
            </a:r>
            <a:r>
              <a:rPr lang="en-US" altLang="zh-TW" sz="2400" dirty="0" smtClean="0"/>
              <a:t>, z</a:t>
            </a:r>
            <a:r>
              <a:rPr lang="en-US" altLang="zh-TW" sz="2400" baseline="-25000" dirty="0" smtClean="0"/>
              <a:t>2</a:t>
            </a:r>
            <a:r>
              <a:rPr lang="en-US" altLang="zh-TW" sz="2400" dirty="0" smtClean="0"/>
              <a:t>]</a:t>
            </a:r>
            <a:endParaRPr lang="en-US" altLang="zh-TW" sz="2400" i="1" dirty="0" smtClean="0"/>
          </a:p>
          <a:p>
            <a:r>
              <a:rPr lang="en-US" altLang="zh-TW" sz="2400" dirty="0" smtClean="0"/>
              <a:t>Y = </a:t>
            </a:r>
            <a:r>
              <a:rPr lang="en-US" altLang="zh-TW" sz="2400" i="1" dirty="0" smtClean="0"/>
              <a:t>U</a:t>
            </a:r>
            <a:r>
              <a:rPr lang="en-US" altLang="zh-TW" sz="2400" baseline="30000" dirty="0" smtClean="0"/>
              <a:t>T</a:t>
            </a:r>
            <a:r>
              <a:rPr lang="en-US" altLang="zh-TW" sz="2400" i="1" dirty="0" smtClean="0"/>
              <a:t>X = </a:t>
            </a:r>
            <a:r>
              <a:rPr lang="en-US" altLang="zh-TW" sz="2400" dirty="0" smtClean="0"/>
              <a:t>Y = (</a:t>
            </a:r>
            <a:r>
              <a:rPr lang="en-US" altLang="zh-TW" sz="2400" i="1" dirty="0" smtClean="0"/>
              <a:t>U</a:t>
            </a:r>
            <a:r>
              <a:rPr lang="en-US" altLang="zh-TW" sz="2400" baseline="30000" dirty="0" smtClean="0"/>
              <a:t>T</a:t>
            </a:r>
            <a:r>
              <a:rPr lang="en-US" altLang="zh-TW" sz="2400" i="1" dirty="0" smtClean="0"/>
              <a:t>A</a:t>
            </a:r>
            <a:r>
              <a:rPr lang="zh-TW" altLang="en-US" sz="2400" i="1" dirty="0" smtClean="0"/>
              <a:t> </a:t>
            </a:r>
            <a:r>
              <a:rPr lang="en-US" altLang="zh-TW" sz="2400" i="1" dirty="0" smtClean="0"/>
              <a:t>)S = Z</a:t>
            </a:r>
            <a:r>
              <a:rPr lang="en-US" altLang="zh-TW" sz="2400" baseline="30000" dirty="0" smtClean="0"/>
              <a:t>T</a:t>
            </a:r>
            <a:r>
              <a:rPr lang="zh-TW" altLang="en-US" sz="2400" i="1" dirty="0" smtClean="0"/>
              <a:t> </a:t>
            </a:r>
            <a:r>
              <a:rPr lang="en-US" altLang="zh-TW" sz="2400" i="1" dirty="0" smtClean="0"/>
              <a:t>S = z</a:t>
            </a:r>
            <a:r>
              <a:rPr lang="en-US" altLang="zh-TW" sz="2400" baseline="-25000" dirty="0" smtClean="0"/>
              <a:t>1</a:t>
            </a:r>
            <a:r>
              <a:rPr lang="en-US" altLang="zh-TW" sz="2400" i="1" dirty="0" smtClean="0"/>
              <a:t>*s</a:t>
            </a:r>
            <a:r>
              <a:rPr lang="en-US" altLang="zh-TW" sz="2400" baseline="-25000" dirty="0" smtClean="0"/>
              <a:t>1</a:t>
            </a:r>
            <a:r>
              <a:rPr lang="en-US" altLang="zh-TW" sz="2400" i="1" dirty="0" smtClean="0"/>
              <a:t>+z</a:t>
            </a:r>
            <a:r>
              <a:rPr lang="en-US" altLang="zh-TW" sz="2400" baseline="-25000" dirty="0" smtClean="0"/>
              <a:t>2</a:t>
            </a:r>
            <a:r>
              <a:rPr lang="en-US" altLang="zh-TW" sz="2400" i="1" dirty="0" smtClean="0"/>
              <a:t>*s</a:t>
            </a:r>
            <a:r>
              <a:rPr lang="en-US" altLang="zh-TW" sz="2400" baseline="-25000" dirty="0" smtClean="0"/>
              <a:t>2</a:t>
            </a:r>
          </a:p>
          <a:p>
            <a:endParaRPr lang="en-US" altLang="zh-TW" sz="2400" baseline="-25000" dirty="0" smtClean="0"/>
          </a:p>
          <a:p>
            <a:r>
              <a:rPr lang="en-US" altLang="zh-TW" sz="2400" dirty="0" smtClean="0">
                <a:solidFill>
                  <a:srgbClr val="FF0000"/>
                </a:solidFill>
              </a:rPr>
              <a:t>Maximize </a:t>
            </a:r>
            <a:endParaRPr lang="en-US" altLang="zh-TW" sz="2400" dirty="0" smtClean="0">
              <a:solidFill>
                <a:srgbClr val="FF0000"/>
              </a:solidFill>
            </a:endParaRPr>
          </a:p>
          <a:p>
            <a:r>
              <a:rPr lang="en-US" altLang="zh-TW" sz="2400" dirty="0" smtClean="0">
                <a:solidFill>
                  <a:srgbClr val="FF0000"/>
                </a:solidFill>
              </a:rPr>
              <a:t>     Kurt(Y</a:t>
            </a:r>
            <a:r>
              <a:rPr lang="en-US" altLang="zh-TW" sz="2400" dirty="0" smtClean="0">
                <a:solidFill>
                  <a:srgbClr val="FF0000"/>
                </a:solidFill>
              </a:rPr>
              <a:t>) = </a:t>
            </a:r>
            <a:r>
              <a:rPr lang="en-US" altLang="zh-TW" sz="2400" dirty="0" err="1" smtClean="0">
                <a:solidFill>
                  <a:srgbClr val="FF0000"/>
                </a:solidFill>
              </a:rPr>
              <a:t>kurt</a:t>
            </a:r>
            <a:r>
              <a:rPr lang="en-US" altLang="zh-TW" sz="2400" dirty="0" smtClean="0">
                <a:solidFill>
                  <a:srgbClr val="FF0000"/>
                </a:solidFill>
              </a:rPr>
              <a:t>(</a:t>
            </a:r>
            <a:r>
              <a:rPr lang="en-US" altLang="zh-TW" sz="2400" i="1" dirty="0" smtClean="0">
                <a:solidFill>
                  <a:srgbClr val="FF0000"/>
                </a:solidFill>
              </a:rPr>
              <a:t>z</a:t>
            </a:r>
            <a:r>
              <a:rPr lang="en-US" altLang="zh-TW" sz="2400" baseline="-25000" dirty="0" smtClean="0">
                <a:solidFill>
                  <a:srgbClr val="FF0000"/>
                </a:solidFill>
              </a:rPr>
              <a:t>1</a:t>
            </a:r>
            <a:r>
              <a:rPr lang="en-US" altLang="zh-TW" sz="2400" i="1" dirty="0" smtClean="0">
                <a:solidFill>
                  <a:srgbClr val="FF0000"/>
                </a:solidFill>
              </a:rPr>
              <a:t>*s</a:t>
            </a:r>
            <a:r>
              <a:rPr lang="en-US" altLang="zh-TW" sz="2400" baseline="-25000" dirty="0" smtClean="0">
                <a:solidFill>
                  <a:srgbClr val="FF0000"/>
                </a:solidFill>
              </a:rPr>
              <a:t>1</a:t>
            </a:r>
            <a:r>
              <a:rPr lang="en-US" altLang="zh-TW" sz="2400" dirty="0" smtClean="0">
                <a:solidFill>
                  <a:srgbClr val="FF0000"/>
                </a:solidFill>
              </a:rPr>
              <a:t>) + </a:t>
            </a:r>
            <a:r>
              <a:rPr lang="en-US" altLang="zh-TW" sz="2400" dirty="0" err="1" smtClean="0">
                <a:solidFill>
                  <a:srgbClr val="FF0000"/>
                </a:solidFill>
              </a:rPr>
              <a:t>kurt</a:t>
            </a:r>
            <a:r>
              <a:rPr lang="en-US" altLang="zh-TW" sz="2400" dirty="0" smtClean="0">
                <a:solidFill>
                  <a:srgbClr val="FF0000"/>
                </a:solidFill>
              </a:rPr>
              <a:t>(</a:t>
            </a:r>
            <a:r>
              <a:rPr lang="en-US" altLang="zh-TW" sz="2400" i="1" dirty="0" smtClean="0">
                <a:solidFill>
                  <a:srgbClr val="FF0000"/>
                </a:solidFill>
              </a:rPr>
              <a:t>z</a:t>
            </a:r>
            <a:r>
              <a:rPr lang="en-US" altLang="zh-TW" sz="2400" baseline="-25000" dirty="0" smtClean="0">
                <a:solidFill>
                  <a:srgbClr val="FF0000"/>
                </a:solidFill>
              </a:rPr>
              <a:t>2</a:t>
            </a:r>
            <a:r>
              <a:rPr lang="en-US" altLang="zh-TW" sz="2400" i="1" dirty="0" smtClean="0">
                <a:solidFill>
                  <a:srgbClr val="FF0000"/>
                </a:solidFill>
              </a:rPr>
              <a:t>*s</a:t>
            </a:r>
            <a:r>
              <a:rPr lang="en-US" altLang="zh-TW" sz="2400" baseline="-25000" dirty="0" smtClean="0">
                <a:solidFill>
                  <a:srgbClr val="FF0000"/>
                </a:solidFill>
              </a:rPr>
              <a:t>2</a:t>
            </a:r>
            <a:r>
              <a:rPr lang="en-US" altLang="zh-TW" sz="2400" dirty="0" smtClean="0">
                <a:solidFill>
                  <a:srgbClr val="FF0000"/>
                </a:solidFill>
              </a:rPr>
              <a:t>) =  </a:t>
            </a:r>
            <a:r>
              <a:rPr lang="en-US" altLang="zh-TW" sz="2400" i="1" dirty="0" smtClean="0">
                <a:solidFill>
                  <a:srgbClr val="FF0000"/>
                </a:solidFill>
              </a:rPr>
              <a:t>z</a:t>
            </a:r>
            <a:r>
              <a:rPr lang="en-US" altLang="zh-TW" sz="2400" baseline="-25000" dirty="0" smtClean="0">
                <a:solidFill>
                  <a:srgbClr val="FF0000"/>
                </a:solidFill>
              </a:rPr>
              <a:t>1</a:t>
            </a:r>
            <a:r>
              <a:rPr lang="en-US" altLang="zh-TW" sz="2400" baseline="30000" dirty="0" smtClean="0">
                <a:solidFill>
                  <a:srgbClr val="FF0000"/>
                </a:solidFill>
              </a:rPr>
              <a:t>4</a:t>
            </a:r>
            <a:r>
              <a:rPr lang="en-US" altLang="zh-TW" sz="2400" dirty="0" smtClean="0">
                <a:solidFill>
                  <a:srgbClr val="FF0000"/>
                </a:solidFill>
              </a:rPr>
              <a:t>*</a:t>
            </a:r>
            <a:r>
              <a:rPr lang="en-US" altLang="zh-TW" sz="2400" dirty="0" err="1" smtClean="0">
                <a:solidFill>
                  <a:srgbClr val="FF0000"/>
                </a:solidFill>
              </a:rPr>
              <a:t>kurt</a:t>
            </a:r>
            <a:r>
              <a:rPr lang="en-US" altLang="zh-TW" sz="2400" dirty="0" smtClean="0">
                <a:solidFill>
                  <a:srgbClr val="FF0000"/>
                </a:solidFill>
              </a:rPr>
              <a:t>(</a:t>
            </a:r>
            <a:r>
              <a:rPr lang="en-US" altLang="zh-TW" sz="2400" i="1" dirty="0" smtClean="0">
                <a:solidFill>
                  <a:srgbClr val="FF0000"/>
                </a:solidFill>
              </a:rPr>
              <a:t>s</a:t>
            </a:r>
            <a:r>
              <a:rPr lang="en-US" altLang="zh-TW" sz="2400" baseline="-25000" dirty="0" smtClean="0">
                <a:solidFill>
                  <a:srgbClr val="FF0000"/>
                </a:solidFill>
              </a:rPr>
              <a:t>1</a:t>
            </a:r>
            <a:r>
              <a:rPr lang="en-US" altLang="zh-TW" sz="2400" dirty="0" smtClean="0">
                <a:solidFill>
                  <a:srgbClr val="FF0000"/>
                </a:solidFill>
              </a:rPr>
              <a:t>) + </a:t>
            </a:r>
            <a:r>
              <a:rPr lang="en-US" altLang="zh-TW" sz="2400" i="1" dirty="0" smtClean="0">
                <a:solidFill>
                  <a:srgbClr val="FF0000"/>
                </a:solidFill>
              </a:rPr>
              <a:t>z</a:t>
            </a:r>
            <a:r>
              <a:rPr lang="en-US" altLang="zh-TW" sz="2400" baseline="-25000" dirty="0" smtClean="0">
                <a:solidFill>
                  <a:srgbClr val="FF0000"/>
                </a:solidFill>
              </a:rPr>
              <a:t>2</a:t>
            </a:r>
            <a:r>
              <a:rPr lang="en-US" altLang="zh-TW" sz="2400" baseline="30000" dirty="0" smtClean="0">
                <a:solidFill>
                  <a:srgbClr val="FF0000"/>
                </a:solidFill>
              </a:rPr>
              <a:t>4</a:t>
            </a:r>
            <a:r>
              <a:rPr lang="en-US" altLang="zh-TW" sz="2400" dirty="0" smtClean="0">
                <a:solidFill>
                  <a:srgbClr val="FF0000"/>
                </a:solidFill>
              </a:rPr>
              <a:t>*</a:t>
            </a:r>
            <a:r>
              <a:rPr lang="en-US" altLang="zh-TW" sz="2400" dirty="0" err="1" smtClean="0">
                <a:solidFill>
                  <a:srgbClr val="FF0000"/>
                </a:solidFill>
              </a:rPr>
              <a:t>kurt</a:t>
            </a:r>
            <a:r>
              <a:rPr lang="en-US" altLang="zh-TW" sz="2400" dirty="0" smtClean="0">
                <a:solidFill>
                  <a:srgbClr val="FF0000"/>
                </a:solidFill>
              </a:rPr>
              <a:t>(</a:t>
            </a:r>
            <a:r>
              <a:rPr lang="en-US" altLang="zh-TW" sz="2400" i="1" dirty="0" smtClean="0">
                <a:solidFill>
                  <a:srgbClr val="FF0000"/>
                </a:solidFill>
              </a:rPr>
              <a:t>s</a:t>
            </a:r>
            <a:r>
              <a:rPr lang="en-US" altLang="zh-TW" sz="2400" baseline="-25000" dirty="0" smtClean="0">
                <a:solidFill>
                  <a:srgbClr val="FF0000"/>
                </a:solidFill>
              </a:rPr>
              <a:t>2</a:t>
            </a:r>
            <a:r>
              <a:rPr lang="en-US" altLang="zh-TW" sz="2400" dirty="0" smtClean="0">
                <a:solidFill>
                  <a:srgbClr val="FF0000"/>
                </a:solidFill>
              </a:rPr>
              <a:t>)</a:t>
            </a:r>
          </a:p>
          <a:p>
            <a:r>
              <a:rPr lang="en-US" altLang="zh-TW" sz="2400" dirty="0" smtClean="0">
                <a:solidFill>
                  <a:srgbClr val="FF0000"/>
                </a:solidFill>
              </a:rPr>
              <a:t>Subject to </a:t>
            </a:r>
            <a:endParaRPr lang="en-US" altLang="zh-TW" sz="2400" dirty="0" smtClean="0">
              <a:solidFill>
                <a:srgbClr val="FF0000"/>
              </a:solidFill>
            </a:endParaRPr>
          </a:p>
          <a:p>
            <a:r>
              <a:rPr lang="en-US" altLang="zh-TW" sz="2400" dirty="0" smtClean="0">
                <a:solidFill>
                  <a:srgbClr val="FF0000"/>
                </a:solidFill>
              </a:rPr>
              <a:t>    </a:t>
            </a:r>
            <a:r>
              <a:rPr lang="en-US" altLang="zh-TW" sz="2400" dirty="0" err="1" smtClean="0">
                <a:solidFill>
                  <a:srgbClr val="FF0000"/>
                </a:solidFill>
              </a:rPr>
              <a:t>Var</a:t>
            </a:r>
            <a:r>
              <a:rPr lang="en-US" altLang="zh-TW" sz="2400" dirty="0" smtClean="0">
                <a:solidFill>
                  <a:srgbClr val="FF0000"/>
                </a:solidFill>
              </a:rPr>
              <a:t>(Y</a:t>
            </a:r>
            <a:r>
              <a:rPr lang="en-US" altLang="zh-TW" sz="2400" dirty="0" smtClean="0">
                <a:solidFill>
                  <a:srgbClr val="FF0000"/>
                </a:solidFill>
              </a:rPr>
              <a:t>) = </a:t>
            </a:r>
            <a:r>
              <a:rPr lang="en-US" altLang="zh-TW" sz="2400" dirty="0" err="1" smtClean="0">
                <a:solidFill>
                  <a:srgbClr val="FF0000"/>
                </a:solidFill>
              </a:rPr>
              <a:t>Var</a:t>
            </a:r>
            <a:r>
              <a:rPr lang="en-US" altLang="zh-TW" sz="2400" dirty="0" smtClean="0">
                <a:solidFill>
                  <a:srgbClr val="FF0000"/>
                </a:solidFill>
              </a:rPr>
              <a:t>(</a:t>
            </a:r>
            <a:r>
              <a:rPr lang="en-US" altLang="zh-TW" sz="2400" i="1" dirty="0" smtClean="0">
                <a:solidFill>
                  <a:srgbClr val="FF0000"/>
                </a:solidFill>
              </a:rPr>
              <a:t>z</a:t>
            </a:r>
            <a:r>
              <a:rPr lang="en-US" altLang="zh-TW" sz="2400" baseline="-25000" dirty="0" smtClean="0">
                <a:solidFill>
                  <a:srgbClr val="FF0000"/>
                </a:solidFill>
              </a:rPr>
              <a:t>1</a:t>
            </a:r>
            <a:r>
              <a:rPr lang="en-US" altLang="zh-TW" sz="2400" i="1" dirty="0" smtClean="0">
                <a:solidFill>
                  <a:srgbClr val="FF0000"/>
                </a:solidFill>
              </a:rPr>
              <a:t>*s</a:t>
            </a:r>
            <a:r>
              <a:rPr lang="en-US" altLang="zh-TW" sz="2400" baseline="-25000" dirty="0" smtClean="0">
                <a:solidFill>
                  <a:srgbClr val="FF0000"/>
                </a:solidFill>
              </a:rPr>
              <a:t>1</a:t>
            </a:r>
            <a:r>
              <a:rPr lang="en-US" altLang="zh-TW" sz="2400" dirty="0" smtClean="0">
                <a:solidFill>
                  <a:srgbClr val="FF0000"/>
                </a:solidFill>
              </a:rPr>
              <a:t>+</a:t>
            </a:r>
            <a:r>
              <a:rPr lang="en-US" altLang="zh-TW" sz="2400" i="1" dirty="0" smtClean="0">
                <a:solidFill>
                  <a:srgbClr val="FF0000"/>
                </a:solidFill>
              </a:rPr>
              <a:t>z</a:t>
            </a:r>
            <a:r>
              <a:rPr lang="en-US" altLang="zh-TW" sz="2400" baseline="-25000" dirty="0" smtClean="0">
                <a:solidFill>
                  <a:srgbClr val="FF0000"/>
                </a:solidFill>
              </a:rPr>
              <a:t>2</a:t>
            </a:r>
            <a:r>
              <a:rPr lang="en-US" altLang="zh-TW" sz="2400" i="1" dirty="0" smtClean="0">
                <a:solidFill>
                  <a:srgbClr val="FF0000"/>
                </a:solidFill>
              </a:rPr>
              <a:t>*s</a:t>
            </a:r>
            <a:r>
              <a:rPr lang="en-US" altLang="zh-TW" sz="2400" baseline="-25000" dirty="0" smtClean="0">
                <a:solidFill>
                  <a:srgbClr val="FF0000"/>
                </a:solidFill>
              </a:rPr>
              <a:t>2</a:t>
            </a:r>
            <a:r>
              <a:rPr lang="en-US" altLang="zh-TW" sz="2400" dirty="0" smtClean="0">
                <a:solidFill>
                  <a:srgbClr val="FF0000"/>
                </a:solidFill>
              </a:rPr>
              <a:t>) = z</a:t>
            </a:r>
            <a:r>
              <a:rPr lang="en-US" altLang="zh-TW" sz="2400" baseline="-25000" dirty="0" smtClean="0">
                <a:solidFill>
                  <a:srgbClr val="FF0000"/>
                </a:solidFill>
              </a:rPr>
              <a:t>1</a:t>
            </a:r>
            <a:r>
              <a:rPr lang="en-US" altLang="zh-TW" sz="2400" baseline="30000" dirty="0" smtClean="0">
                <a:solidFill>
                  <a:srgbClr val="FF0000"/>
                </a:solidFill>
              </a:rPr>
              <a:t>2</a:t>
            </a:r>
            <a:r>
              <a:rPr lang="en-US" altLang="zh-TW" sz="2400" dirty="0" smtClean="0">
                <a:solidFill>
                  <a:srgbClr val="FF0000"/>
                </a:solidFill>
              </a:rPr>
              <a:t>*</a:t>
            </a:r>
            <a:r>
              <a:rPr lang="en-US" altLang="zh-TW" sz="2400" dirty="0" err="1" smtClean="0">
                <a:solidFill>
                  <a:srgbClr val="FF0000"/>
                </a:solidFill>
              </a:rPr>
              <a:t>Var</a:t>
            </a:r>
            <a:r>
              <a:rPr lang="en-US" altLang="zh-TW" sz="2400" dirty="0" smtClean="0">
                <a:solidFill>
                  <a:srgbClr val="FF0000"/>
                </a:solidFill>
              </a:rPr>
              <a:t>(</a:t>
            </a:r>
            <a:r>
              <a:rPr lang="en-US" altLang="zh-TW" sz="2400" i="1" dirty="0" smtClean="0">
                <a:solidFill>
                  <a:srgbClr val="FF0000"/>
                </a:solidFill>
              </a:rPr>
              <a:t>s</a:t>
            </a:r>
            <a:r>
              <a:rPr lang="en-US" altLang="zh-TW" sz="2400" baseline="-25000" dirty="0" smtClean="0">
                <a:solidFill>
                  <a:srgbClr val="FF0000"/>
                </a:solidFill>
              </a:rPr>
              <a:t>1</a:t>
            </a:r>
            <a:r>
              <a:rPr lang="en-US" altLang="zh-TW" sz="2400" dirty="0" smtClean="0">
                <a:solidFill>
                  <a:srgbClr val="FF0000"/>
                </a:solidFill>
              </a:rPr>
              <a:t>)+z</a:t>
            </a:r>
            <a:r>
              <a:rPr lang="en-US" altLang="zh-TW" sz="2400" baseline="-25000" dirty="0" smtClean="0">
                <a:solidFill>
                  <a:srgbClr val="FF0000"/>
                </a:solidFill>
              </a:rPr>
              <a:t>2</a:t>
            </a:r>
            <a:r>
              <a:rPr lang="en-US" altLang="zh-TW" sz="2400" baseline="30000" dirty="0" smtClean="0">
                <a:solidFill>
                  <a:srgbClr val="FF0000"/>
                </a:solidFill>
              </a:rPr>
              <a:t>2</a:t>
            </a:r>
            <a:r>
              <a:rPr lang="en-US" altLang="zh-TW" sz="2400" dirty="0" smtClean="0">
                <a:solidFill>
                  <a:srgbClr val="FF0000"/>
                </a:solidFill>
              </a:rPr>
              <a:t>*</a:t>
            </a:r>
            <a:r>
              <a:rPr lang="en-US" altLang="zh-TW" sz="2400" dirty="0" err="1" smtClean="0">
                <a:solidFill>
                  <a:srgbClr val="FF0000"/>
                </a:solidFill>
              </a:rPr>
              <a:t>var</a:t>
            </a:r>
            <a:r>
              <a:rPr lang="en-US" altLang="zh-TW" sz="2400" dirty="0" smtClean="0">
                <a:solidFill>
                  <a:srgbClr val="FF0000"/>
                </a:solidFill>
              </a:rPr>
              <a:t>(</a:t>
            </a:r>
            <a:r>
              <a:rPr lang="en-US" altLang="zh-TW" sz="2400" i="1" dirty="0" smtClean="0">
                <a:solidFill>
                  <a:srgbClr val="FF0000"/>
                </a:solidFill>
              </a:rPr>
              <a:t>s</a:t>
            </a:r>
            <a:r>
              <a:rPr lang="en-US" altLang="zh-TW" sz="2400" baseline="-25000" dirty="0" smtClean="0">
                <a:solidFill>
                  <a:srgbClr val="FF0000"/>
                </a:solidFill>
              </a:rPr>
              <a:t>2</a:t>
            </a:r>
            <a:r>
              <a:rPr lang="en-US" altLang="zh-TW" sz="2400" dirty="0" smtClean="0">
                <a:solidFill>
                  <a:srgbClr val="FF0000"/>
                </a:solidFill>
              </a:rPr>
              <a:t>) = z</a:t>
            </a:r>
            <a:r>
              <a:rPr lang="en-US" altLang="zh-TW" sz="2400" baseline="-25000" dirty="0" smtClean="0">
                <a:solidFill>
                  <a:srgbClr val="FF0000"/>
                </a:solidFill>
              </a:rPr>
              <a:t>1</a:t>
            </a:r>
            <a:r>
              <a:rPr lang="en-US" altLang="zh-TW" sz="2400" baseline="30000" dirty="0" smtClean="0">
                <a:solidFill>
                  <a:srgbClr val="FF0000"/>
                </a:solidFill>
              </a:rPr>
              <a:t>2</a:t>
            </a:r>
            <a:r>
              <a:rPr lang="en-US" altLang="zh-TW" sz="2400" dirty="0" smtClean="0">
                <a:solidFill>
                  <a:srgbClr val="FF0000"/>
                </a:solidFill>
              </a:rPr>
              <a:t>+z</a:t>
            </a:r>
            <a:r>
              <a:rPr lang="en-US" altLang="zh-TW" sz="2400" baseline="-25000" dirty="0" smtClean="0">
                <a:solidFill>
                  <a:srgbClr val="FF0000"/>
                </a:solidFill>
              </a:rPr>
              <a:t>2</a:t>
            </a:r>
            <a:r>
              <a:rPr lang="en-US" altLang="zh-TW" sz="2400" baseline="30000" dirty="0" smtClean="0">
                <a:solidFill>
                  <a:srgbClr val="FF0000"/>
                </a:solidFill>
              </a:rPr>
              <a:t>2</a:t>
            </a:r>
            <a:r>
              <a:rPr lang="en-US" altLang="zh-TW" sz="2400" dirty="0" smtClean="0">
                <a:solidFill>
                  <a:srgbClr val="FF0000"/>
                </a:solidFill>
              </a:rPr>
              <a:t>=1</a:t>
            </a:r>
          </a:p>
          <a:p>
            <a:endParaRPr lang="en-US" altLang="zh-TW" sz="2400" dirty="0" smtClean="0"/>
          </a:p>
          <a:p>
            <a:endParaRPr lang="en-US" altLang="zh-TW" sz="2400" dirty="0" smtClean="0"/>
          </a:p>
        </p:txBody>
      </p:sp>
      <p:sp>
        <p:nvSpPr>
          <p:cNvPr id="3" name="文字方塊 2"/>
          <p:cNvSpPr txBox="1"/>
          <p:nvPr/>
        </p:nvSpPr>
        <p:spPr>
          <a:xfrm>
            <a:off x="395536" y="5661248"/>
            <a:ext cx="8352928" cy="954107"/>
          </a:xfrm>
          <a:prstGeom prst="rect">
            <a:avLst/>
          </a:prstGeom>
          <a:noFill/>
        </p:spPr>
        <p:txBody>
          <a:bodyPr wrap="square" rtlCol="0">
            <a:spAutoFit/>
          </a:bodyPr>
          <a:lstStyle/>
          <a:p>
            <a:pPr algn="ctr"/>
            <a:r>
              <a:rPr lang="en-US" altLang="zh-TW" sz="2800" dirty="0" smtClean="0">
                <a:solidFill>
                  <a:srgbClr val="FF0000"/>
                </a:solidFill>
              </a:rPr>
              <a:t>Drawback: kurtosis is very sensitive to outliers, </a:t>
            </a:r>
            <a:br>
              <a:rPr lang="en-US" altLang="zh-TW" sz="2800" dirty="0" smtClean="0">
                <a:solidFill>
                  <a:srgbClr val="FF0000"/>
                </a:solidFill>
              </a:rPr>
            </a:br>
            <a:r>
              <a:rPr lang="en-US" altLang="zh-TW" sz="2800" dirty="0" smtClean="0">
                <a:solidFill>
                  <a:srgbClr val="FF0000"/>
                </a:solidFill>
              </a:rPr>
              <a:t>not robust</a:t>
            </a:r>
            <a:endParaRPr lang="zh-TW" altLang="en-US" sz="2800"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ea typeface="新細明體" charset="-120"/>
              </a:rPr>
              <a:t>Measures of Non-</a:t>
            </a:r>
            <a:r>
              <a:rPr lang="en-US" altLang="zh-TW" dirty="0" err="1" smtClean="0">
                <a:ea typeface="新細明體" charset="-120"/>
              </a:rPr>
              <a:t>Gaussianity</a:t>
            </a:r>
            <a:r>
              <a:rPr lang="en-US" altLang="zh-TW" dirty="0" smtClean="0">
                <a:ea typeface="新細明體" charset="-120"/>
              </a:rPr>
              <a:t> (2)</a:t>
            </a:r>
            <a:br>
              <a:rPr lang="en-US" altLang="zh-TW" dirty="0" smtClean="0">
                <a:ea typeface="新細明體" charset="-120"/>
              </a:rPr>
            </a:br>
            <a:r>
              <a:rPr lang="en-US" altLang="zh-TW" dirty="0" err="1" smtClean="0">
                <a:ea typeface="新細明體" charset="-120"/>
              </a:rPr>
              <a:t>Neg</a:t>
            </a:r>
            <a:r>
              <a:rPr lang="en-US" altLang="zh-TW" dirty="0" smtClean="0">
                <a:ea typeface="新細明體" charset="-120"/>
              </a:rPr>
              <a:t>-entropy</a:t>
            </a:r>
            <a:endParaRPr lang="zh-TW" altLang="en-US" dirty="0"/>
          </a:p>
        </p:txBody>
      </p:sp>
      <p:sp>
        <p:nvSpPr>
          <p:cNvPr id="3" name="文字方塊 2"/>
          <p:cNvSpPr txBox="1"/>
          <p:nvPr/>
        </p:nvSpPr>
        <p:spPr>
          <a:xfrm>
            <a:off x="395536" y="1556792"/>
            <a:ext cx="2304256" cy="923330"/>
          </a:xfrm>
          <a:prstGeom prst="rect">
            <a:avLst/>
          </a:prstGeom>
          <a:noFill/>
        </p:spPr>
        <p:txBody>
          <a:bodyPr wrap="square" rtlCol="0">
            <a:spAutoFit/>
          </a:bodyPr>
          <a:lstStyle/>
          <a:p>
            <a:r>
              <a:rPr lang="en-US" altLang="zh-TW" dirty="0" smtClean="0"/>
              <a:t>Entropy:</a:t>
            </a:r>
          </a:p>
          <a:p>
            <a:pPr>
              <a:buFont typeface="Arial" pitchFamily="34" charset="0"/>
              <a:buChar char="•"/>
            </a:pPr>
            <a:r>
              <a:rPr lang="zh-TW" altLang="en-US" dirty="0" smtClean="0">
                <a:latin typeface="微軟正黑體" pitchFamily="34" charset="-120"/>
                <a:ea typeface="微軟正黑體" pitchFamily="34" charset="-120"/>
              </a:rPr>
              <a:t>資料混亂程度</a:t>
            </a:r>
            <a:endParaRPr lang="en-US" altLang="zh-TW" dirty="0" smtClean="0">
              <a:latin typeface="微軟正黑體" pitchFamily="34" charset="-120"/>
              <a:ea typeface="微軟正黑體" pitchFamily="34" charset="-120"/>
            </a:endParaRPr>
          </a:p>
          <a:p>
            <a:pPr>
              <a:buFont typeface="Arial" pitchFamily="34" charset="0"/>
              <a:buChar char="•"/>
            </a:pPr>
            <a:r>
              <a:rPr lang="zh-TW" altLang="en-US" dirty="0" smtClean="0">
                <a:latin typeface="微軟正黑體" pitchFamily="34" charset="-120"/>
                <a:ea typeface="微軟正黑體" pitchFamily="34" charset="-120"/>
              </a:rPr>
              <a:t>資料平均編碼長度</a:t>
            </a:r>
            <a:endParaRPr lang="zh-TW" altLang="en-US" dirty="0">
              <a:latin typeface="微軟正黑體" pitchFamily="34" charset="-120"/>
              <a:ea typeface="微軟正黑體" pitchFamily="34" charset="-120"/>
            </a:endParaRPr>
          </a:p>
        </p:txBody>
      </p:sp>
      <p:pic>
        <p:nvPicPr>
          <p:cNvPr id="34818" name="Picture 2"/>
          <p:cNvPicPr>
            <a:picLocks noChangeAspect="1" noChangeArrowheads="1"/>
          </p:cNvPicPr>
          <p:nvPr/>
        </p:nvPicPr>
        <p:blipFill>
          <a:blip r:embed="rId2" cstate="print"/>
          <a:srcRect/>
          <a:stretch>
            <a:fillRect/>
          </a:stretch>
        </p:blipFill>
        <p:spPr bwMode="auto">
          <a:xfrm>
            <a:off x="3203848" y="1988840"/>
            <a:ext cx="4346054" cy="673760"/>
          </a:xfrm>
          <a:prstGeom prst="rect">
            <a:avLst/>
          </a:prstGeom>
          <a:noFill/>
          <a:ln w="9525">
            <a:noFill/>
            <a:miter lim="800000"/>
            <a:headEnd/>
            <a:tailEnd/>
          </a:ln>
        </p:spPr>
      </p:pic>
      <p:pic>
        <p:nvPicPr>
          <p:cNvPr id="34819" name="Picture 3"/>
          <p:cNvPicPr>
            <a:picLocks noChangeAspect="1" noChangeArrowheads="1"/>
          </p:cNvPicPr>
          <p:nvPr/>
        </p:nvPicPr>
        <p:blipFill>
          <a:blip r:embed="rId3" cstate="print"/>
          <a:srcRect/>
          <a:stretch>
            <a:fillRect/>
          </a:stretch>
        </p:blipFill>
        <p:spPr bwMode="auto">
          <a:xfrm>
            <a:off x="3275856" y="2852936"/>
            <a:ext cx="3672408" cy="787426"/>
          </a:xfrm>
          <a:prstGeom prst="rect">
            <a:avLst/>
          </a:prstGeom>
          <a:noFill/>
          <a:ln w="9525">
            <a:noFill/>
            <a:miter lim="800000"/>
            <a:headEnd/>
            <a:tailEnd/>
          </a:ln>
        </p:spPr>
      </p:pic>
      <p:sp>
        <p:nvSpPr>
          <p:cNvPr id="6" name="文字方塊 5"/>
          <p:cNvSpPr txBox="1"/>
          <p:nvPr/>
        </p:nvSpPr>
        <p:spPr>
          <a:xfrm>
            <a:off x="3203848" y="1628800"/>
            <a:ext cx="1224136" cy="461665"/>
          </a:xfrm>
          <a:prstGeom prst="rect">
            <a:avLst/>
          </a:prstGeom>
          <a:noFill/>
        </p:spPr>
        <p:txBody>
          <a:bodyPr wrap="square" rtlCol="0">
            <a:spAutoFit/>
          </a:bodyPr>
          <a:lstStyle/>
          <a:p>
            <a:r>
              <a:rPr lang="en-US" altLang="zh-TW" sz="2400" dirty="0" smtClean="0">
                <a:solidFill>
                  <a:srgbClr val="002060"/>
                </a:solidFill>
              </a:rPr>
              <a:t>Discrete:</a:t>
            </a:r>
            <a:endParaRPr lang="zh-TW" altLang="en-US" sz="2400" dirty="0">
              <a:solidFill>
                <a:srgbClr val="002060"/>
              </a:solidFill>
            </a:endParaRPr>
          </a:p>
        </p:txBody>
      </p:sp>
      <p:sp>
        <p:nvSpPr>
          <p:cNvPr id="7" name="文字方塊 6"/>
          <p:cNvSpPr txBox="1"/>
          <p:nvPr/>
        </p:nvSpPr>
        <p:spPr>
          <a:xfrm>
            <a:off x="3203848" y="2564904"/>
            <a:ext cx="1656184" cy="461665"/>
          </a:xfrm>
          <a:prstGeom prst="rect">
            <a:avLst/>
          </a:prstGeom>
          <a:noFill/>
        </p:spPr>
        <p:txBody>
          <a:bodyPr wrap="square" rtlCol="0">
            <a:spAutoFit/>
          </a:bodyPr>
          <a:lstStyle/>
          <a:p>
            <a:r>
              <a:rPr lang="en-US" altLang="zh-TW" sz="2400" dirty="0" smtClean="0">
                <a:solidFill>
                  <a:srgbClr val="002060"/>
                </a:solidFill>
              </a:rPr>
              <a:t>Continuous:</a:t>
            </a:r>
            <a:endParaRPr lang="zh-TW" altLang="en-US" sz="2400" dirty="0">
              <a:solidFill>
                <a:srgbClr val="002060"/>
              </a:solidFill>
            </a:endParaRPr>
          </a:p>
        </p:txBody>
      </p:sp>
      <p:pic>
        <p:nvPicPr>
          <p:cNvPr id="8" name="Picture 4"/>
          <p:cNvPicPr>
            <a:picLocks noChangeAspect="1" noChangeArrowheads="1"/>
          </p:cNvPicPr>
          <p:nvPr/>
        </p:nvPicPr>
        <p:blipFill>
          <a:blip r:embed="rId4" cstate="print"/>
          <a:srcRect/>
          <a:stretch>
            <a:fillRect/>
          </a:stretch>
        </p:blipFill>
        <p:spPr bwMode="auto">
          <a:xfrm>
            <a:off x="2123728" y="3933056"/>
            <a:ext cx="4083526" cy="2924944"/>
          </a:xfrm>
          <a:prstGeom prst="rect">
            <a:avLst/>
          </a:prstGeom>
          <a:noFill/>
          <a:ln w="9525">
            <a:noFill/>
            <a:miter lim="800000"/>
            <a:headEnd/>
            <a:tailEnd/>
          </a:ln>
        </p:spPr>
      </p:pic>
      <p:sp>
        <p:nvSpPr>
          <p:cNvPr id="9" name="文字方塊 8"/>
          <p:cNvSpPr txBox="1"/>
          <p:nvPr/>
        </p:nvSpPr>
        <p:spPr>
          <a:xfrm>
            <a:off x="6444208" y="5301208"/>
            <a:ext cx="1872208" cy="369332"/>
          </a:xfrm>
          <a:prstGeom prst="rect">
            <a:avLst/>
          </a:prstGeom>
          <a:noFill/>
        </p:spPr>
        <p:txBody>
          <a:bodyPr wrap="square" rtlCol="0">
            <a:spAutoFit/>
          </a:bodyPr>
          <a:lstStyle/>
          <a:p>
            <a:r>
              <a:rPr lang="en-US" altLang="zh-TW" dirty="0" smtClean="0"/>
              <a:t>P(</a:t>
            </a:r>
            <a:r>
              <a:rPr lang="en-US" altLang="zh-TW" i="1" dirty="0" smtClean="0"/>
              <a:t>Y</a:t>
            </a:r>
            <a:r>
              <a:rPr lang="en-US" altLang="zh-TW" dirty="0" smtClean="0"/>
              <a:t>=</a:t>
            </a:r>
            <a:r>
              <a:rPr lang="en-US" altLang="zh-TW" i="1" dirty="0" smtClean="0"/>
              <a:t>a</a:t>
            </a:r>
            <a:r>
              <a:rPr lang="en-US" altLang="zh-TW" dirty="0" smtClean="0"/>
              <a:t>) or P(</a:t>
            </a:r>
            <a:r>
              <a:rPr lang="en-US" altLang="zh-TW" i="1" dirty="0" err="1" smtClean="0"/>
              <a:t>Y</a:t>
            </a:r>
            <a:r>
              <a:rPr lang="en-US" altLang="zh-TW" dirty="0" err="1" smtClean="0"/>
              <a:t>≠</a:t>
            </a:r>
            <a:r>
              <a:rPr lang="en-US" altLang="zh-TW" i="1" dirty="0" err="1" smtClean="0"/>
              <a:t>a</a:t>
            </a:r>
            <a:r>
              <a:rPr lang="en-US" altLang="zh-TW" dirty="0" smtClean="0"/>
              <a:t>)</a:t>
            </a:r>
            <a:endParaRPr lang="zh-TW"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79512" y="332656"/>
            <a:ext cx="8712968" cy="830997"/>
          </a:xfrm>
          <a:prstGeom prst="rect">
            <a:avLst/>
          </a:prstGeom>
          <a:noFill/>
        </p:spPr>
        <p:txBody>
          <a:bodyPr wrap="square" rtlCol="0">
            <a:spAutoFit/>
          </a:bodyPr>
          <a:lstStyle/>
          <a:p>
            <a:pPr algn="ctr"/>
            <a:r>
              <a:rPr lang="en-US" altLang="zh-TW" sz="2400" dirty="0" smtClean="0">
                <a:solidFill>
                  <a:srgbClr val="FF0000"/>
                </a:solidFill>
              </a:rPr>
              <a:t>A Gaussian variable has the largest entropy among all random variables of equal variables!! </a:t>
            </a:r>
            <a:r>
              <a:rPr lang="en-US" altLang="zh-TW" sz="2400" dirty="0" smtClean="0">
                <a:solidFill>
                  <a:srgbClr val="FF0000"/>
                </a:solidFill>
                <a:hlinkClick r:id="rId2"/>
              </a:rPr>
              <a:t>[proof]</a:t>
            </a:r>
            <a:endParaRPr lang="zh-TW" altLang="en-US" sz="2400" dirty="0">
              <a:solidFill>
                <a:srgbClr val="FF0000"/>
              </a:solidFill>
            </a:endParaRPr>
          </a:p>
        </p:txBody>
      </p:sp>
      <p:sp>
        <p:nvSpPr>
          <p:cNvPr id="5" name="文字方塊 4"/>
          <p:cNvSpPr txBox="1"/>
          <p:nvPr/>
        </p:nvSpPr>
        <p:spPr>
          <a:xfrm>
            <a:off x="683568" y="1772816"/>
            <a:ext cx="8064896" cy="1446550"/>
          </a:xfrm>
          <a:prstGeom prst="rect">
            <a:avLst/>
          </a:prstGeom>
          <a:noFill/>
        </p:spPr>
        <p:txBody>
          <a:bodyPr wrap="square" rtlCol="0">
            <a:spAutoFit/>
          </a:bodyPr>
          <a:lstStyle/>
          <a:p>
            <a:r>
              <a:rPr lang="en-US" altLang="zh-TW" sz="3200" dirty="0" err="1" smtClean="0"/>
              <a:t>Neg</a:t>
            </a:r>
            <a:r>
              <a:rPr lang="en-US" altLang="zh-TW" sz="3200" dirty="0" smtClean="0"/>
              <a:t>-entropy:</a:t>
            </a:r>
          </a:p>
          <a:p>
            <a:pPr algn="ctr"/>
            <a:r>
              <a:rPr lang="en-US" altLang="zh-TW" sz="3200" i="1" dirty="0" smtClean="0"/>
              <a:t>J</a:t>
            </a:r>
            <a:r>
              <a:rPr lang="en-US" altLang="zh-TW" sz="3200" dirty="0" smtClean="0"/>
              <a:t>(</a:t>
            </a:r>
            <a:r>
              <a:rPr lang="en-US" altLang="zh-TW" sz="3200" i="1" dirty="0" smtClean="0"/>
              <a:t>y</a:t>
            </a:r>
            <a:r>
              <a:rPr lang="en-US" altLang="zh-TW" sz="3200" dirty="0" smtClean="0"/>
              <a:t>) = </a:t>
            </a:r>
            <a:r>
              <a:rPr lang="en-US" altLang="zh-TW" sz="3200" i="1" dirty="0" smtClean="0"/>
              <a:t>H</a:t>
            </a:r>
            <a:r>
              <a:rPr lang="en-US" altLang="zh-TW" sz="3200" dirty="0" smtClean="0"/>
              <a:t>(</a:t>
            </a:r>
            <a:r>
              <a:rPr lang="en-US" altLang="zh-TW" sz="3200" i="1" dirty="0" err="1" smtClean="0"/>
              <a:t>y</a:t>
            </a:r>
            <a:r>
              <a:rPr lang="en-US" altLang="zh-TW" sz="3200" baseline="-25000" dirty="0" err="1" smtClean="0"/>
              <a:t>Gauss</a:t>
            </a:r>
            <a:r>
              <a:rPr lang="en-US" altLang="zh-TW" sz="3200" dirty="0" smtClean="0"/>
              <a:t>) – </a:t>
            </a:r>
            <a:r>
              <a:rPr lang="en-US" altLang="zh-TW" sz="3200" i="1" dirty="0" smtClean="0"/>
              <a:t>H</a:t>
            </a:r>
            <a:r>
              <a:rPr lang="en-US" altLang="zh-TW" sz="3200" dirty="0" smtClean="0"/>
              <a:t>(</a:t>
            </a:r>
            <a:r>
              <a:rPr lang="en-US" altLang="zh-TW" sz="3200" i="1" dirty="0" smtClean="0"/>
              <a:t>y</a:t>
            </a:r>
            <a:r>
              <a:rPr lang="en-US" altLang="zh-TW" sz="3200" dirty="0" smtClean="0"/>
              <a:t>) </a:t>
            </a:r>
          </a:p>
          <a:p>
            <a:pPr algn="ctr"/>
            <a:r>
              <a:rPr lang="en-US" altLang="zh-TW" sz="2400" i="1" dirty="0" err="1" smtClean="0"/>
              <a:t>y</a:t>
            </a:r>
            <a:r>
              <a:rPr lang="en-US" altLang="zh-TW" sz="2400" baseline="-25000" dirty="0" err="1" smtClean="0"/>
              <a:t>Gauss</a:t>
            </a:r>
            <a:r>
              <a:rPr lang="en-US" altLang="zh-TW" sz="2400" dirty="0" smtClean="0"/>
              <a:t>: Gaussian </a:t>
            </a:r>
            <a:r>
              <a:rPr lang="en-US" altLang="zh-TW" sz="2400" dirty="0" err="1" smtClean="0"/>
              <a:t>r.v</a:t>
            </a:r>
            <a:r>
              <a:rPr lang="en-US" altLang="zh-TW" sz="2400" dirty="0" smtClean="0"/>
              <a:t>. of the same covariance matrix as </a:t>
            </a:r>
            <a:r>
              <a:rPr lang="en-US" altLang="zh-TW" sz="2400" i="1" dirty="0" smtClean="0"/>
              <a:t>y</a:t>
            </a:r>
            <a:endParaRPr lang="zh-TW" altLang="en-US" sz="2400" i="1" dirty="0"/>
          </a:p>
        </p:txBody>
      </p:sp>
      <p:sp>
        <p:nvSpPr>
          <p:cNvPr id="6" name="文字方塊 5"/>
          <p:cNvSpPr txBox="1"/>
          <p:nvPr/>
        </p:nvSpPr>
        <p:spPr>
          <a:xfrm>
            <a:off x="323528" y="4221088"/>
            <a:ext cx="8568952" cy="1384995"/>
          </a:xfrm>
          <a:prstGeom prst="rect">
            <a:avLst/>
          </a:prstGeom>
          <a:noFill/>
        </p:spPr>
        <p:txBody>
          <a:bodyPr wrap="square" rtlCol="0">
            <a:spAutoFit/>
          </a:bodyPr>
          <a:lstStyle/>
          <a:p>
            <a:pPr algn="ctr"/>
            <a:r>
              <a:rPr lang="en-US" altLang="zh-TW" sz="2800" dirty="0" err="1" smtClean="0">
                <a:solidFill>
                  <a:srgbClr val="00B0F0"/>
                </a:solidFill>
              </a:rPr>
              <a:t>Neg</a:t>
            </a:r>
            <a:r>
              <a:rPr lang="en-US" altLang="zh-TW" sz="2800" dirty="0" smtClean="0">
                <a:solidFill>
                  <a:srgbClr val="00B0F0"/>
                </a:solidFill>
              </a:rPr>
              <a:t>-entropy is the optimal estimator of non-</a:t>
            </a:r>
            <a:r>
              <a:rPr lang="en-US" altLang="zh-TW" sz="2800" dirty="0" err="1" smtClean="0">
                <a:solidFill>
                  <a:srgbClr val="00B0F0"/>
                </a:solidFill>
              </a:rPr>
              <a:t>Gaussianity</a:t>
            </a:r>
            <a:r>
              <a:rPr lang="en-US" altLang="zh-TW" sz="2800" dirty="0" smtClean="0">
                <a:solidFill>
                  <a:srgbClr val="00B0F0"/>
                </a:solidFill>
              </a:rPr>
              <a:t>.</a:t>
            </a:r>
          </a:p>
          <a:p>
            <a:pPr algn="ctr"/>
            <a:r>
              <a:rPr lang="en-US" altLang="zh-TW" sz="2800" dirty="0" smtClean="0">
                <a:solidFill>
                  <a:srgbClr val="00B0F0"/>
                </a:solidFill>
              </a:rPr>
              <a:t>But it is hard to compute the </a:t>
            </a:r>
            <a:r>
              <a:rPr lang="en-US" altLang="zh-TW" sz="2800" dirty="0" err="1" smtClean="0">
                <a:solidFill>
                  <a:srgbClr val="00B0F0"/>
                </a:solidFill>
              </a:rPr>
              <a:t>neg</a:t>
            </a:r>
            <a:r>
              <a:rPr lang="en-US" altLang="zh-TW" sz="2800" dirty="0" smtClean="0">
                <a:solidFill>
                  <a:srgbClr val="00B0F0"/>
                </a:solidFill>
              </a:rPr>
              <a:t>-entropy </a:t>
            </a:r>
            <a:br>
              <a:rPr lang="en-US" altLang="zh-TW" sz="2800" dirty="0" smtClean="0">
                <a:solidFill>
                  <a:srgbClr val="00B0F0"/>
                </a:solidFill>
              </a:rPr>
            </a:br>
            <a:r>
              <a:rPr lang="en-US" altLang="zh-TW" sz="2800" dirty="0" smtClean="0">
                <a:solidFill>
                  <a:srgbClr val="00B0F0"/>
                </a:solidFill>
              </a:rPr>
              <a:t>(need to estimate the </a:t>
            </a:r>
            <a:r>
              <a:rPr lang="en-US" altLang="zh-TW" sz="2800" dirty="0" err="1" smtClean="0">
                <a:solidFill>
                  <a:srgbClr val="00B0F0"/>
                </a:solidFill>
              </a:rPr>
              <a:t>p.d.f</a:t>
            </a:r>
            <a:r>
              <a:rPr lang="en-US" altLang="zh-TW" sz="2800" dirty="0" smtClean="0">
                <a:solidFill>
                  <a:srgbClr val="00B0F0"/>
                </a:solidFill>
              </a:rPr>
              <a:t>)</a:t>
            </a:r>
            <a:endParaRPr lang="zh-TW" altLang="en-US" sz="2800" dirty="0">
              <a:solidFill>
                <a:srgbClr val="00B0F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Approximation of the </a:t>
            </a:r>
            <a:r>
              <a:rPr lang="en-US" altLang="zh-TW" dirty="0" err="1" smtClean="0"/>
              <a:t>neg</a:t>
            </a:r>
            <a:r>
              <a:rPr lang="en-US" altLang="zh-TW" dirty="0" smtClean="0"/>
              <a:t>-entropy</a:t>
            </a:r>
            <a:endParaRPr lang="zh-TW" altLang="en-US" dirty="0"/>
          </a:p>
        </p:txBody>
      </p:sp>
      <p:graphicFrame>
        <p:nvGraphicFramePr>
          <p:cNvPr id="35842" name="Object 2"/>
          <p:cNvGraphicFramePr>
            <a:graphicFrameLocks noChangeAspect="1"/>
          </p:cNvGraphicFramePr>
          <p:nvPr/>
        </p:nvGraphicFramePr>
        <p:xfrm>
          <a:off x="2267744" y="2420888"/>
          <a:ext cx="4385695" cy="675703"/>
        </p:xfrm>
        <a:graphic>
          <a:graphicData uri="http://schemas.openxmlformats.org/presentationml/2006/ole">
            <p:oleObj spid="_x0000_s35842" name="Equation" r:id="rId3" imgW="2070000" imgH="317160" progId="Equation.3">
              <p:embed/>
            </p:oleObj>
          </a:graphicData>
        </a:graphic>
      </p:graphicFrame>
      <p:sp>
        <p:nvSpPr>
          <p:cNvPr id="4" name="文字方塊 3"/>
          <p:cNvSpPr txBox="1"/>
          <p:nvPr/>
        </p:nvSpPr>
        <p:spPr>
          <a:xfrm>
            <a:off x="683568" y="1268760"/>
            <a:ext cx="6120680" cy="954107"/>
          </a:xfrm>
          <a:prstGeom prst="rect">
            <a:avLst/>
          </a:prstGeom>
          <a:noFill/>
        </p:spPr>
        <p:txBody>
          <a:bodyPr wrap="square" rtlCol="0">
            <a:spAutoFit/>
          </a:bodyPr>
          <a:lstStyle/>
          <a:p>
            <a:r>
              <a:rPr lang="en-US" altLang="zh-TW" sz="2800" dirty="0" smtClean="0"/>
              <a:t>Classical method </a:t>
            </a:r>
            <a:br>
              <a:rPr lang="en-US" altLang="zh-TW" sz="2800" dirty="0" smtClean="0"/>
            </a:br>
            <a:r>
              <a:rPr lang="en-US" altLang="zh-TW" sz="2800" dirty="0" smtClean="0"/>
              <a:t>(</a:t>
            </a:r>
            <a:r>
              <a:rPr lang="en-US" altLang="zh-TW" sz="2800" dirty="0" err="1" smtClean="0"/>
              <a:t>nonrobustness</a:t>
            </a:r>
            <a:r>
              <a:rPr lang="en-US" altLang="zh-TW" sz="2800" dirty="0" smtClean="0"/>
              <a:t>, because of kurtosis):</a:t>
            </a:r>
            <a:endParaRPr lang="zh-TW" altLang="en-US" sz="2800" dirty="0"/>
          </a:p>
        </p:txBody>
      </p:sp>
      <p:sp>
        <p:nvSpPr>
          <p:cNvPr id="5" name="文字方塊 4"/>
          <p:cNvSpPr txBox="1"/>
          <p:nvPr/>
        </p:nvSpPr>
        <p:spPr>
          <a:xfrm>
            <a:off x="755576" y="3429000"/>
            <a:ext cx="7128792" cy="523220"/>
          </a:xfrm>
          <a:prstGeom prst="rect">
            <a:avLst/>
          </a:prstGeom>
          <a:noFill/>
        </p:spPr>
        <p:txBody>
          <a:bodyPr wrap="square" rtlCol="0">
            <a:spAutoFit/>
          </a:bodyPr>
          <a:lstStyle/>
          <a:p>
            <a:r>
              <a:rPr lang="en-US" altLang="zh-TW" sz="2800" dirty="0" smtClean="0"/>
              <a:t>Based on the maximum-entropy principle:</a:t>
            </a:r>
            <a:endParaRPr lang="zh-TW" altLang="en-US" sz="2800" dirty="0"/>
          </a:p>
        </p:txBody>
      </p:sp>
      <p:graphicFrame>
        <p:nvGraphicFramePr>
          <p:cNvPr id="35843" name="Object 3"/>
          <p:cNvGraphicFramePr>
            <a:graphicFrameLocks noChangeAspect="1"/>
          </p:cNvGraphicFramePr>
          <p:nvPr/>
        </p:nvGraphicFramePr>
        <p:xfrm>
          <a:off x="2123728" y="4221088"/>
          <a:ext cx="4182515" cy="576064"/>
        </p:xfrm>
        <a:graphic>
          <a:graphicData uri="http://schemas.openxmlformats.org/presentationml/2006/ole">
            <p:oleObj spid="_x0000_s35843" name="方程式" r:id="rId4" imgW="1752480" imgH="241200" progId="Equation.3">
              <p:embed/>
            </p:oleObj>
          </a:graphicData>
        </a:graphic>
      </p:graphicFrame>
      <p:graphicFrame>
        <p:nvGraphicFramePr>
          <p:cNvPr id="35844" name="Object 4"/>
          <p:cNvGraphicFramePr>
            <a:graphicFrameLocks noChangeAspect="1"/>
          </p:cNvGraphicFramePr>
          <p:nvPr/>
        </p:nvGraphicFramePr>
        <p:xfrm>
          <a:off x="2688704" y="5445224"/>
          <a:ext cx="2819400" cy="1003300"/>
        </p:xfrm>
        <a:graphic>
          <a:graphicData uri="http://schemas.openxmlformats.org/presentationml/2006/ole">
            <p:oleObj spid="_x0000_s35844" name="Equation" r:id="rId5" imgW="1498320" imgH="533160" progId="Equation.3">
              <p:embed/>
            </p:oleObj>
          </a:graphicData>
        </a:graphic>
      </p:graphicFrame>
      <p:sp>
        <p:nvSpPr>
          <p:cNvPr id="8" name="文字方塊 7"/>
          <p:cNvSpPr txBox="1"/>
          <p:nvPr/>
        </p:nvSpPr>
        <p:spPr>
          <a:xfrm>
            <a:off x="755576" y="4941168"/>
            <a:ext cx="7128792" cy="523220"/>
          </a:xfrm>
          <a:prstGeom prst="rect">
            <a:avLst/>
          </a:prstGeom>
          <a:noFill/>
        </p:spPr>
        <p:txBody>
          <a:bodyPr wrap="square" rtlCol="0">
            <a:spAutoFit/>
          </a:bodyPr>
          <a:lstStyle/>
          <a:p>
            <a:r>
              <a:rPr lang="en-US" altLang="zh-TW" sz="2800" dirty="0" smtClean="0"/>
              <a:t>The following choices of G is good:</a:t>
            </a:r>
            <a:endParaRPr lang="zh-TW" altLang="en-US" sz="2800" dirty="0"/>
          </a:p>
        </p:txBody>
      </p:sp>
      <p:sp>
        <p:nvSpPr>
          <p:cNvPr id="9" name="文字方塊 8"/>
          <p:cNvSpPr txBox="1"/>
          <p:nvPr/>
        </p:nvSpPr>
        <p:spPr>
          <a:xfrm>
            <a:off x="6228184" y="5517233"/>
            <a:ext cx="1656184" cy="461665"/>
          </a:xfrm>
          <a:prstGeom prst="rect">
            <a:avLst/>
          </a:prstGeom>
          <a:noFill/>
        </p:spPr>
        <p:txBody>
          <a:bodyPr wrap="square" rtlCol="0">
            <a:spAutoFit/>
          </a:bodyPr>
          <a:lstStyle/>
          <a:p>
            <a:r>
              <a:rPr lang="en-US" altLang="zh-TW" sz="2400" dirty="0" smtClean="0"/>
              <a:t>1 ≦ a ≦ 2</a:t>
            </a:r>
            <a:endParaRPr lang="zh-TW" alt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G_functions.gif"/>
          <p:cNvPicPr>
            <a:picLocks noChangeAspect="1"/>
          </p:cNvPicPr>
          <p:nvPr/>
        </p:nvPicPr>
        <p:blipFill>
          <a:blip r:embed="rId3" cstate="print"/>
          <a:stretch>
            <a:fillRect/>
          </a:stretch>
        </p:blipFill>
        <p:spPr>
          <a:xfrm>
            <a:off x="395536" y="2492896"/>
            <a:ext cx="8244408" cy="4183123"/>
          </a:xfrm>
          <a:prstGeom prst="rect">
            <a:avLst/>
          </a:prstGeom>
        </p:spPr>
      </p:pic>
      <p:graphicFrame>
        <p:nvGraphicFramePr>
          <p:cNvPr id="4" name="Object 4"/>
          <p:cNvGraphicFramePr>
            <a:graphicFrameLocks noChangeAspect="1"/>
          </p:cNvGraphicFramePr>
          <p:nvPr/>
        </p:nvGraphicFramePr>
        <p:xfrm>
          <a:off x="2328664" y="1124744"/>
          <a:ext cx="2819400" cy="1003300"/>
        </p:xfrm>
        <a:graphic>
          <a:graphicData uri="http://schemas.openxmlformats.org/presentationml/2006/ole">
            <p:oleObj spid="_x0000_s67586" name="Equation" r:id="rId4" imgW="1498320" imgH="533160" progId="Equation.3">
              <p:embed/>
            </p:oleObj>
          </a:graphicData>
        </a:graphic>
      </p:graphicFrame>
      <p:sp>
        <p:nvSpPr>
          <p:cNvPr id="5" name="文字方塊 4"/>
          <p:cNvSpPr txBox="1"/>
          <p:nvPr/>
        </p:nvSpPr>
        <p:spPr>
          <a:xfrm>
            <a:off x="395536" y="620688"/>
            <a:ext cx="7128792" cy="523220"/>
          </a:xfrm>
          <a:prstGeom prst="rect">
            <a:avLst/>
          </a:prstGeom>
          <a:noFill/>
        </p:spPr>
        <p:txBody>
          <a:bodyPr wrap="square" rtlCol="0">
            <a:spAutoFit/>
          </a:bodyPr>
          <a:lstStyle/>
          <a:p>
            <a:r>
              <a:rPr lang="en-US" altLang="zh-TW" sz="2800" dirty="0" smtClean="0"/>
              <a:t>The following choices of G is good:</a:t>
            </a:r>
            <a:endParaRPr lang="zh-TW" altLang="en-US" sz="2800" dirty="0"/>
          </a:p>
        </p:txBody>
      </p:sp>
      <p:sp>
        <p:nvSpPr>
          <p:cNvPr id="6" name="文字方塊 5"/>
          <p:cNvSpPr txBox="1"/>
          <p:nvPr/>
        </p:nvSpPr>
        <p:spPr>
          <a:xfrm>
            <a:off x="5868144" y="1196753"/>
            <a:ext cx="1656184" cy="461665"/>
          </a:xfrm>
          <a:prstGeom prst="rect">
            <a:avLst/>
          </a:prstGeom>
          <a:noFill/>
        </p:spPr>
        <p:txBody>
          <a:bodyPr wrap="square" rtlCol="0">
            <a:spAutoFit/>
          </a:bodyPr>
          <a:lstStyle/>
          <a:p>
            <a:r>
              <a:rPr lang="en-US" altLang="zh-TW" sz="2400" dirty="0" smtClean="0"/>
              <a:t>1 ≦ a ≦ 2</a:t>
            </a:r>
            <a:endParaRPr lang="zh-TW"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fontScale="90000"/>
          </a:bodyPr>
          <a:lstStyle/>
          <a:p>
            <a:r>
              <a:rPr lang="en-US" altLang="zh-TW" dirty="0" smtClean="0">
                <a:ea typeface="新細明體" charset="-120"/>
              </a:rPr>
              <a:t>Measures of Non-</a:t>
            </a:r>
            <a:r>
              <a:rPr lang="en-US" altLang="zh-TW" dirty="0" err="1" smtClean="0">
                <a:ea typeface="新細明體" charset="-120"/>
              </a:rPr>
              <a:t>Gaussianity</a:t>
            </a:r>
            <a:r>
              <a:rPr lang="en-US" altLang="zh-TW" dirty="0" smtClean="0">
                <a:ea typeface="新細明體" charset="-120"/>
              </a:rPr>
              <a:t> (3)</a:t>
            </a:r>
            <a:br>
              <a:rPr lang="en-US" altLang="zh-TW" dirty="0" smtClean="0">
                <a:ea typeface="新細明體" charset="-120"/>
              </a:rPr>
            </a:br>
            <a:r>
              <a:rPr lang="en-US" altLang="zh-TW" dirty="0" smtClean="0">
                <a:ea typeface="新細明體" charset="-120"/>
              </a:rPr>
              <a:t>Mutual information</a:t>
            </a:r>
            <a:endParaRPr lang="zh-TW" altLang="en-US" dirty="0"/>
          </a:p>
        </p:txBody>
      </p:sp>
      <p:pic>
        <p:nvPicPr>
          <p:cNvPr id="70658" name="Picture 2"/>
          <p:cNvPicPr>
            <a:picLocks noChangeAspect="1" noChangeArrowheads="1"/>
          </p:cNvPicPr>
          <p:nvPr/>
        </p:nvPicPr>
        <p:blipFill>
          <a:blip r:embed="rId2" cstate="print"/>
          <a:srcRect t="12706"/>
          <a:stretch>
            <a:fillRect/>
          </a:stretch>
        </p:blipFill>
        <p:spPr bwMode="auto">
          <a:xfrm>
            <a:off x="683568" y="1772816"/>
            <a:ext cx="6353175" cy="989459"/>
          </a:xfrm>
          <a:prstGeom prst="rect">
            <a:avLst/>
          </a:prstGeom>
          <a:noFill/>
          <a:ln w="9525">
            <a:noFill/>
            <a:miter lim="800000"/>
            <a:headEnd/>
            <a:tailEnd/>
          </a:ln>
        </p:spPr>
      </p:pic>
      <p:pic>
        <p:nvPicPr>
          <p:cNvPr id="6" name="Picture 2" descr="File:Conditional entropy.png"/>
          <p:cNvPicPr>
            <a:picLocks noChangeAspect="1" noChangeArrowheads="1"/>
          </p:cNvPicPr>
          <p:nvPr/>
        </p:nvPicPr>
        <p:blipFill>
          <a:blip r:embed="rId3" cstate="print"/>
          <a:srcRect l="8505" t="7081" r="6446" b="8500"/>
          <a:stretch>
            <a:fillRect/>
          </a:stretch>
        </p:blipFill>
        <p:spPr bwMode="auto">
          <a:xfrm>
            <a:off x="1907704" y="2852936"/>
            <a:ext cx="5004048" cy="3024336"/>
          </a:xfrm>
          <a:prstGeom prst="rect">
            <a:avLst/>
          </a:prstGeom>
          <a:noFill/>
        </p:spPr>
      </p:pic>
      <p:pic>
        <p:nvPicPr>
          <p:cNvPr id="7" name="Picture 2"/>
          <p:cNvPicPr>
            <a:picLocks noChangeAspect="1" noChangeArrowheads="1"/>
          </p:cNvPicPr>
          <p:nvPr/>
        </p:nvPicPr>
        <p:blipFill>
          <a:blip r:embed="rId2" cstate="print"/>
          <a:srcRect/>
          <a:stretch>
            <a:fillRect/>
          </a:stretch>
        </p:blipFill>
        <p:spPr bwMode="auto">
          <a:xfrm>
            <a:off x="835968" y="1700808"/>
            <a:ext cx="6353175" cy="1133475"/>
          </a:xfrm>
          <a:prstGeom prst="rect">
            <a:avLst/>
          </a:prstGeom>
          <a:noFill/>
          <a:ln w="9525">
            <a:noFill/>
            <a:miter lim="800000"/>
            <a:headEnd/>
            <a:tailEnd/>
          </a:ln>
        </p:spPr>
      </p:pic>
      <p:sp>
        <p:nvSpPr>
          <p:cNvPr id="8" name="文字方塊 7"/>
          <p:cNvSpPr txBox="1"/>
          <p:nvPr/>
        </p:nvSpPr>
        <p:spPr>
          <a:xfrm>
            <a:off x="1043608" y="6021288"/>
            <a:ext cx="7128792" cy="523220"/>
          </a:xfrm>
          <a:prstGeom prst="rect">
            <a:avLst/>
          </a:prstGeom>
          <a:noFill/>
        </p:spPr>
        <p:txBody>
          <a:bodyPr wrap="square" rtlCol="0">
            <a:spAutoFit/>
          </a:bodyPr>
          <a:lstStyle/>
          <a:p>
            <a:r>
              <a:rPr lang="en-US" altLang="zh-TW" sz="2800" i="1" dirty="0" smtClean="0"/>
              <a:t>I</a:t>
            </a:r>
            <a:r>
              <a:rPr lang="en-US" altLang="zh-TW" sz="2800" dirty="0" smtClean="0"/>
              <a:t>(</a:t>
            </a:r>
            <a:r>
              <a:rPr lang="en-US" altLang="zh-TW" sz="2800" i="1" dirty="0" smtClean="0"/>
              <a:t>y</a:t>
            </a:r>
            <a:r>
              <a:rPr lang="en-US" altLang="zh-TW" sz="2800" baseline="-25000" dirty="0" smtClean="0"/>
              <a:t>1</a:t>
            </a:r>
            <a:r>
              <a:rPr lang="en-US" altLang="zh-TW" sz="2800" dirty="0" smtClean="0"/>
              <a:t>, </a:t>
            </a:r>
            <a:r>
              <a:rPr lang="en-US" altLang="zh-TW" sz="2800" i="1" dirty="0" smtClean="0"/>
              <a:t>y</a:t>
            </a:r>
            <a:r>
              <a:rPr lang="en-US" altLang="zh-TW" sz="2800" baseline="-25000" dirty="0" smtClean="0"/>
              <a:t>2</a:t>
            </a:r>
            <a:r>
              <a:rPr lang="en-US" altLang="zh-TW" sz="2800" dirty="0" smtClean="0"/>
              <a:t>,…,</a:t>
            </a:r>
            <a:r>
              <a:rPr lang="en-US" altLang="zh-TW" sz="2800" i="1" dirty="0" err="1" smtClean="0"/>
              <a:t>y</a:t>
            </a:r>
            <a:r>
              <a:rPr lang="en-US" altLang="zh-TW" sz="2800" i="1" baseline="-25000" dirty="0" err="1" smtClean="0"/>
              <a:t>m</a:t>
            </a:r>
            <a:r>
              <a:rPr lang="en-US" altLang="zh-TW" sz="2800" dirty="0" smtClean="0"/>
              <a:t>) = 0 </a:t>
            </a:r>
            <a:r>
              <a:rPr lang="en-US" altLang="zh-TW" sz="2800" dirty="0" err="1" smtClean="0"/>
              <a:t>iff</a:t>
            </a:r>
            <a:r>
              <a:rPr lang="en-US" altLang="zh-TW" sz="2800" dirty="0" smtClean="0"/>
              <a:t> </a:t>
            </a:r>
            <a:r>
              <a:rPr lang="en-US" altLang="zh-TW" sz="2800" i="1" dirty="0" smtClean="0"/>
              <a:t>y</a:t>
            </a:r>
            <a:r>
              <a:rPr lang="en-US" altLang="zh-TW" sz="2800" baseline="-25000" dirty="0" smtClean="0"/>
              <a:t>1</a:t>
            </a:r>
            <a:r>
              <a:rPr lang="en-US" altLang="zh-TW" sz="2800" dirty="0" smtClean="0"/>
              <a:t>, </a:t>
            </a:r>
            <a:r>
              <a:rPr lang="en-US" altLang="zh-TW" sz="2800" i="1" dirty="0" smtClean="0"/>
              <a:t>y</a:t>
            </a:r>
            <a:r>
              <a:rPr lang="en-US" altLang="zh-TW" sz="2800" baseline="-25000" dirty="0" smtClean="0"/>
              <a:t>2</a:t>
            </a:r>
            <a:r>
              <a:rPr lang="en-US" altLang="zh-TW" sz="2800" dirty="0" smtClean="0"/>
              <a:t>,…, </a:t>
            </a:r>
            <a:r>
              <a:rPr lang="en-US" altLang="zh-TW" sz="2800" i="1" dirty="0" err="1" smtClean="0"/>
              <a:t>y</a:t>
            </a:r>
            <a:r>
              <a:rPr lang="en-US" altLang="zh-TW" sz="2800" baseline="-25000" dirty="0" err="1" smtClean="0"/>
              <a:t>m</a:t>
            </a:r>
            <a:r>
              <a:rPr lang="en-US" altLang="zh-TW" sz="2800" dirty="0" smtClean="0"/>
              <a:t> independent</a:t>
            </a:r>
            <a:endParaRPr lang="zh-TW"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467544" y="476672"/>
            <a:ext cx="6120680" cy="523220"/>
          </a:xfrm>
          <a:prstGeom prst="rect">
            <a:avLst/>
          </a:prstGeom>
          <a:noFill/>
        </p:spPr>
        <p:txBody>
          <a:bodyPr wrap="square" rtlCol="0">
            <a:spAutoFit/>
          </a:bodyPr>
          <a:lstStyle/>
          <a:p>
            <a:r>
              <a:rPr lang="en-US" altLang="zh-TW" sz="2800" dirty="0" smtClean="0"/>
              <a:t>If</a:t>
            </a:r>
            <a:r>
              <a:rPr lang="en-US" altLang="zh-TW" sz="2800" i="1" dirty="0" smtClean="0"/>
              <a:t> Y=WX </a:t>
            </a:r>
            <a:r>
              <a:rPr lang="en-US" altLang="zh-TW" sz="2800" dirty="0" smtClean="0"/>
              <a:t>then:</a:t>
            </a:r>
            <a:endParaRPr lang="zh-TW" altLang="en-US" sz="2800" dirty="0"/>
          </a:p>
        </p:txBody>
      </p:sp>
      <p:pic>
        <p:nvPicPr>
          <p:cNvPr id="71682" name="Picture 2"/>
          <p:cNvPicPr>
            <a:picLocks noChangeAspect="1" noChangeArrowheads="1"/>
          </p:cNvPicPr>
          <p:nvPr/>
        </p:nvPicPr>
        <p:blipFill>
          <a:blip r:embed="rId2" cstate="print"/>
          <a:srcRect/>
          <a:stretch>
            <a:fillRect/>
          </a:stretch>
        </p:blipFill>
        <p:spPr bwMode="auto">
          <a:xfrm>
            <a:off x="611560" y="1124744"/>
            <a:ext cx="8100392" cy="959500"/>
          </a:xfrm>
          <a:prstGeom prst="rect">
            <a:avLst/>
          </a:prstGeom>
          <a:noFill/>
          <a:ln w="9525">
            <a:noFill/>
            <a:miter lim="800000"/>
            <a:headEnd/>
            <a:tailEnd/>
          </a:ln>
        </p:spPr>
      </p:pic>
      <p:sp>
        <p:nvSpPr>
          <p:cNvPr id="6" name="文字方塊 5"/>
          <p:cNvSpPr txBox="1"/>
          <p:nvPr/>
        </p:nvSpPr>
        <p:spPr>
          <a:xfrm>
            <a:off x="755576" y="2204864"/>
            <a:ext cx="7992888" cy="2246769"/>
          </a:xfrm>
          <a:prstGeom prst="rect">
            <a:avLst/>
          </a:prstGeom>
          <a:noFill/>
        </p:spPr>
        <p:txBody>
          <a:bodyPr wrap="square" rtlCol="0">
            <a:spAutoFit/>
          </a:bodyPr>
          <a:lstStyle/>
          <a:p>
            <a:r>
              <a:rPr lang="en-US" altLang="zh-TW" sz="2800" dirty="0" smtClean="0"/>
              <a:t>Assume COV(</a:t>
            </a:r>
            <a:r>
              <a:rPr lang="en-US" altLang="zh-TW" sz="2800" i="1" dirty="0" err="1" smtClean="0"/>
              <a:t>y</a:t>
            </a:r>
            <a:r>
              <a:rPr lang="en-US" altLang="zh-TW" sz="2800" i="1" baseline="-25000" dirty="0" err="1" smtClean="0"/>
              <a:t>i</a:t>
            </a:r>
            <a:r>
              <a:rPr lang="en-US" altLang="zh-TW" sz="2800" dirty="0" smtClean="0"/>
              <a:t>, </a:t>
            </a:r>
            <a:r>
              <a:rPr lang="en-US" altLang="zh-TW" sz="2800" i="1" dirty="0" err="1" smtClean="0"/>
              <a:t>y</a:t>
            </a:r>
            <a:r>
              <a:rPr lang="en-US" altLang="zh-TW" sz="2800" i="1" baseline="-25000" dirty="0" err="1" smtClean="0"/>
              <a:t>j</a:t>
            </a:r>
            <a:r>
              <a:rPr lang="en-US" altLang="zh-TW" sz="2800" dirty="0" smtClean="0"/>
              <a:t>) = 0, </a:t>
            </a:r>
            <a:r>
              <a:rPr lang="en-US" altLang="zh-TW" sz="2800" i="1" dirty="0" err="1" smtClean="0"/>
              <a:t>i</a:t>
            </a:r>
            <a:r>
              <a:rPr lang="en-US" altLang="zh-TW" sz="2800" dirty="0" smtClean="0"/>
              <a:t> ≠ </a:t>
            </a:r>
            <a:r>
              <a:rPr lang="en-US" altLang="zh-TW" sz="2800" i="1" dirty="0" smtClean="0"/>
              <a:t>j</a:t>
            </a:r>
            <a:r>
              <a:rPr lang="en-US" altLang="zh-TW" sz="2800" dirty="0" smtClean="0"/>
              <a:t>, </a:t>
            </a:r>
            <a:r>
              <a:rPr lang="en-US" altLang="zh-TW" sz="2800" dirty="0" err="1" smtClean="0"/>
              <a:t>Var</a:t>
            </a:r>
            <a:r>
              <a:rPr lang="en-US" altLang="zh-TW" sz="2800" dirty="0" smtClean="0"/>
              <a:t>(</a:t>
            </a:r>
            <a:r>
              <a:rPr lang="en-US" altLang="zh-TW" sz="2800" dirty="0" err="1" smtClean="0"/>
              <a:t>y</a:t>
            </a:r>
            <a:r>
              <a:rPr lang="en-US" altLang="zh-TW" sz="2800" i="1" baseline="-25000" dirty="0" err="1" smtClean="0"/>
              <a:t>i</a:t>
            </a:r>
            <a:r>
              <a:rPr lang="en-US" altLang="zh-TW" sz="2800" dirty="0" smtClean="0"/>
              <a:t>)=1 </a:t>
            </a:r>
          </a:p>
          <a:p>
            <a:r>
              <a:rPr lang="en-US" altLang="zh-TW" sz="2800" dirty="0" smtClean="0"/>
              <a:t>then</a:t>
            </a:r>
          </a:p>
          <a:p>
            <a:r>
              <a:rPr lang="en-US" altLang="zh-TW" sz="2800" dirty="0" smtClean="0"/>
              <a:t>E{</a:t>
            </a:r>
            <a:r>
              <a:rPr lang="en-US" altLang="zh-TW" sz="2800" i="1" dirty="0" smtClean="0"/>
              <a:t>YY</a:t>
            </a:r>
            <a:r>
              <a:rPr lang="en-US" altLang="zh-TW" sz="2800" baseline="30000" dirty="0" smtClean="0"/>
              <a:t>T</a:t>
            </a:r>
            <a:r>
              <a:rPr lang="en-US" altLang="zh-TW" sz="2800" dirty="0" smtClean="0"/>
              <a:t>}=E{</a:t>
            </a:r>
            <a:r>
              <a:rPr lang="en-US" altLang="zh-TW" sz="2800" i="1" dirty="0" smtClean="0"/>
              <a:t>WX</a:t>
            </a:r>
            <a:r>
              <a:rPr lang="en-US" altLang="zh-TW" sz="2800" dirty="0" smtClean="0"/>
              <a:t>(</a:t>
            </a:r>
            <a:r>
              <a:rPr lang="en-US" altLang="zh-TW" sz="2800" i="1" dirty="0" smtClean="0"/>
              <a:t>WX</a:t>
            </a:r>
            <a:r>
              <a:rPr lang="en-US" altLang="zh-TW" sz="2800" dirty="0" smtClean="0"/>
              <a:t>)</a:t>
            </a:r>
            <a:r>
              <a:rPr lang="en-US" altLang="zh-TW" sz="2800" baseline="30000" dirty="0" smtClean="0"/>
              <a:t>T</a:t>
            </a:r>
            <a:r>
              <a:rPr lang="en-US" altLang="zh-TW" sz="2800" dirty="0" smtClean="0"/>
              <a:t>}=</a:t>
            </a:r>
            <a:r>
              <a:rPr lang="en-US" altLang="zh-TW" sz="2800" i="1" dirty="0" smtClean="0"/>
              <a:t>W</a:t>
            </a:r>
            <a:r>
              <a:rPr lang="en-US" altLang="zh-TW" sz="2800" dirty="0" smtClean="0"/>
              <a:t>E{</a:t>
            </a:r>
            <a:r>
              <a:rPr lang="en-US" altLang="zh-TW" sz="2800" i="1" dirty="0" smtClean="0"/>
              <a:t>XX</a:t>
            </a:r>
            <a:r>
              <a:rPr lang="en-US" altLang="zh-TW" sz="2800" baseline="30000" dirty="0" smtClean="0"/>
              <a:t>T</a:t>
            </a:r>
            <a:r>
              <a:rPr lang="en-US" altLang="zh-TW" sz="2800" dirty="0" smtClean="0"/>
              <a:t>}</a:t>
            </a:r>
            <a:r>
              <a:rPr lang="en-US" altLang="zh-TW" sz="2800" i="1" dirty="0" smtClean="0"/>
              <a:t>W</a:t>
            </a:r>
            <a:r>
              <a:rPr lang="en-US" altLang="zh-TW" sz="2800" baseline="30000" dirty="0" smtClean="0"/>
              <a:t>T</a:t>
            </a:r>
            <a:r>
              <a:rPr lang="en-US" altLang="zh-TW" sz="2800" dirty="0" smtClean="0"/>
              <a:t>=</a:t>
            </a:r>
            <a:r>
              <a:rPr lang="en-US" altLang="zh-TW" sz="2800" i="1" dirty="0" smtClean="0"/>
              <a:t>I</a:t>
            </a:r>
          </a:p>
          <a:p>
            <a:r>
              <a:rPr lang="en-US" altLang="zh-TW" sz="2800" dirty="0" err="1" smtClean="0"/>
              <a:t>det</a:t>
            </a:r>
            <a:r>
              <a:rPr lang="en-US" altLang="zh-TW" sz="2800" dirty="0" smtClean="0"/>
              <a:t>(</a:t>
            </a:r>
            <a:r>
              <a:rPr lang="en-US" altLang="zh-TW" sz="2800" i="1" dirty="0" smtClean="0"/>
              <a:t>I</a:t>
            </a:r>
            <a:r>
              <a:rPr lang="en-US" altLang="zh-TW" sz="2800" dirty="0" smtClean="0"/>
              <a:t>)=1=</a:t>
            </a:r>
            <a:r>
              <a:rPr lang="en-US" altLang="zh-TW" sz="2800" dirty="0" err="1" smtClean="0"/>
              <a:t>det</a:t>
            </a:r>
            <a:r>
              <a:rPr lang="en-US" altLang="zh-TW" sz="2800" dirty="0" smtClean="0"/>
              <a:t>(</a:t>
            </a:r>
            <a:r>
              <a:rPr lang="en-US" altLang="zh-TW" sz="2800" i="1" dirty="0" smtClean="0"/>
              <a:t>W</a:t>
            </a:r>
            <a:r>
              <a:rPr lang="en-US" altLang="zh-TW" sz="2800" dirty="0" smtClean="0"/>
              <a:t>E{</a:t>
            </a:r>
            <a:r>
              <a:rPr lang="en-US" altLang="zh-TW" sz="2800" i="1" dirty="0" smtClean="0"/>
              <a:t>XX</a:t>
            </a:r>
            <a:r>
              <a:rPr lang="en-US" altLang="zh-TW" sz="2800" baseline="30000" dirty="0" smtClean="0"/>
              <a:t>T</a:t>
            </a:r>
            <a:r>
              <a:rPr lang="en-US" altLang="zh-TW" sz="2800" dirty="0" smtClean="0"/>
              <a:t>}</a:t>
            </a:r>
            <a:r>
              <a:rPr lang="en-US" altLang="zh-TW" sz="2800" i="1" dirty="0" smtClean="0"/>
              <a:t>W</a:t>
            </a:r>
            <a:r>
              <a:rPr lang="en-US" altLang="zh-TW" sz="2800" baseline="30000" dirty="0" smtClean="0"/>
              <a:t>T)</a:t>
            </a:r>
            <a:r>
              <a:rPr lang="en-US" altLang="zh-TW" sz="2800" dirty="0" smtClean="0"/>
              <a:t>=(</a:t>
            </a:r>
            <a:r>
              <a:rPr lang="en-US" altLang="zh-TW" sz="2800" dirty="0" err="1" smtClean="0"/>
              <a:t>det</a:t>
            </a:r>
            <a:r>
              <a:rPr lang="en-US" altLang="zh-TW" sz="2800" i="1" dirty="0" err="1" smtClean="0"/>
              <a:t>W</a:t>
            </a:r>
            <a:r>
              <a:rPr lang="en-US" altLang="zh-TW" sz="2800" dirty="0" smtClean="0"/>
              <a:t>)(</a:t>
            </a:r>
            <a:r>
              <a:rPr lang="en-US" altLang="zh-TW" sz="2800" dirty="0" err="1" smtClean="0"/>
              <a:t>detE</a:t>
            </a:r>
            <a:r>
              <a:rPr lang="en-US" altLang="zh-TW" sz="2800" dirty="0" smtClean="0"/>
              <a:t>{</a:t>
            </a:r>
            <a:r>
              <a:rPr lang="en-US" altLang="zh-TW" sz="2800" i="1" dirty="0" smtClean="0"/>
              <a:t>XX</a:t>
            </a:r>
            <a:r>
              <a:rPr lang="en-US" altLang="zh-TW" sz="2800" baseline="30000" dirty="0" smtClean="0"/>
              <a:t>T</a:t>
            </a:r>
            <a:r>
              <a:rPr lang="en-US" altLang="zh-TW" sz="2800" dirty="0" smtClean="0"/>
              <a:t>})(</a:t>
            </a:r>
            <a:r>
              <a:rPr lang="en-US" altLang="zh-TW" sz="2800" dirty="0" err="1" smtClean="0"/>
              <a:t>det</a:t>
            </a:r>
            <a:r>
              <a:rPr lang="en-US" altLang="zh-TW" sz="2800" i="1" dirty="0" err="1" smtClean="0"/>
              <a:t>W</a:t>
            </a:r>
            <a:r>
              <a:rPr lang="en-US" altLang="zh-TW" sz="2800" baseline="30000" dirty="0" err="1" smtClean="0"/>
              <a:t>T</a:t>
            </a:r>
            <a:r>
              <a:rPr lang="en-US" altLang="zh-TW" sz="2800" dirty="0" smtClean="0"/>
              <a:t>)</a:t>
            </a:r>
          </a:p>
          <a:p>
            <a:r>
              <a:rPr lang="en-US" altLang="zh-TW" sz="2800" dirty="0" smtClean="0"/>
              <a:t>It implies </a:t>
            </a:r>
            <a:r>
              <a:rPr lang="en-US" altLang="zh-TW" sz="2800" dirty="0" err="1" smtClean="0">
                <a:solidFill>
                  <a:srgbClr val="0070C0"/>
                </a:solidFill>
              </a:rPr>
              <a:t>det</a:t>
            </a:r>
            <a:r>
              <a:rPr lang="en-US" altLang="zh-TW" sz="2800" i="1" dirty="0" err="1" smtClean="0">
                <a:solidFill>
                  <a:srgbClr val="0070C0"/>
                </a:solidFill>
              </a:rPr>
              <a:t>W</a:t>
            </a:r>
            <a:r>
              <a:rPr lang="en-US" altLang="zh-TW" sz="2800" dirty="0" smtClean="0">
                <a:solidFill>
                  <a:srgbClr val="0070C0"/>
                </a:solidFill>
              </a:rPr>
              <a:t> must be constant</a:t>
            </a:r>
            <a:endParaRPr lang="zh-TW" altLang="en-US" sz="2800" dirty="0">
              <a:solidFill>
                <a:srgbClr val="0070C0"/>
              </a:solidFill>
            </a:endParaRPr>
          </a:p>
        </p:txBody>
      </p:sp>
      <p:sp>
        <p:nvSpPr>
          <p:cNvPr id="7" name="文字方塊 6"/>
          <p:cNvSpPr txBox="1"/>
          <p:nvPr/>
        </p:nvSpPr>
        <p:spPr>
          <a:xfrm>
            <a:off x="827584" y="4869160"/>
            <a:ext cx="6840760" cy="523220"/>
          </a:xfrm>
          <a:prstGeom prst="rect">
            <a:avLst/>
          </a:prstGeom>
          <a:noFill/>
        </p:spPr>
        <p:txBody>
          <a:bodyPr wrap="square" rtlCol="0">
            <a:spAutoFit/>
          </a:bodyPr>
          <a:lstStyle/>
          <a:p>
            <a:r>
              <a:rPr lang="en-US" altLang="zh-TW" sz="2800" dirty="0" smtClean="0"/>
              <a:t>Moreover, H(</a:t>
            </a:r>
            <a:r>
              <a:rPr lang="en-US" altLang="zh-TW" sz="2800" i="1" dirty="0" err="1" smtClean="0"/>
              <a:t>y</a:t>
            </a:r>
            <a:r>
              <a:rPr lang="en-US" altLang="zh-TW" sz="2800" i="1" baseline="-25000" dirty="0" err="1" smtClean="0"/>
              <a:t>i</a:t>
            </a:r>
            <a:r>
              <a:rPr lang="en-US" altLang="zh-TW" sz="2800" dirty="0" smtClean="0"/>
              <a:t>)- J(</a:t>
            </a:r>
            <a:r>
              <a:rPr lang="en-US" altLang="zh-TW" sz="2800" i="1" dirty="0" err="1" smtClean="0"/>
              <a:t>y</a:t>
            </a:r>
            <a:r>
              <a:rPr lang="en-US" altLang="zh-TW" sz="2800" i="1" baseline="-25000" dirty="0" err="1" smtClean="0"/>
              <a:t>i</a:t>
            </a:r>
            <a:r>
              <a:rPr lang="en-US" altLang="zh-TW" sz="2800" dirty="0" smtClean="0"/>
              <a:t>) = </a:t>
            </a:r>
            <a:r>
              <a:rPr lang="en-US" altLang="zh-TW" sz="2800" i="1" dirty="0" smtClean="0"/>
              <a:t>C</a:t>
            </a:r>
            <a:r>
              <a:rPr lang="en-US" altLang="zh-TW" sz="2800" i="1" baseline="-25000" dirty="0" smtClean="0"/>
              <a:t>1</a:t>
            </a:r>
            <a:r>
              <a:rPr lang="en-US" altLang="zh-TW" sz="2800" dirty="0" smtClean="0"/>
              <a:t> (constant) </a:t>
            </a:r>
            <a:endParaRPr lang="zh-TW" altLang="en-US" sz="2800" dirty="0"/>
          </a:p>
        </p:txBody>
      </p:sp>
      <p:pic>
        <p:nvPicPr>
          <p:cNvPr id="71683" name="Picture 3"/>
          <p:cNvPicPr>
            <a:picLocks noChangeAspect="1" noChangeArrowheads="1"/>
          </p:cNvPicPr>
          <p:nvPr/>
        </p:nvPicPr>
        <p:blipFill>
          <a:blip r:embed="rId3" cstate="print"/>
          <a:srcRect/>
          <a:stretch>
            <a:fillRect/>
          </a:stretch>
        </p:blipFill>
        <p:spPr bwMode="auto">
          <a:xfrm>
            <a:off x="1835696" y="5373216"/>
            <a:ext cx="5209034" cy="1204937"/>
          </a:xfrm>
          <a:prstGeom prst="rect">
            <a:avLst/>
          </a:prstGeom>
          <a:noFill/>
          <a:ln w="9525">
            <a:noFill/>
            <a:miter lim="800000"/>
            <a:headEnd/>
            <a:tailEnd/>
          </a:ln>
        </p:spPr>
      </p:pic>
      <p:sp>
        <p:nvSpPr>
          <p:cNvPr id="8" name="文字方塊 7"/>
          <p:cNvSpPr txBox="1"/>
          <p:nvPr/>
        </p:nvSpPr>
        <p:spPr>
          <a:xfrm>
            <a:off x="2843808" y="548680"/>
            <a:ext cx="2016224" cy="369332"/>
          </a:xfrm>
          <a:prstGeom prst="rect">
            <a:avLst/>
          </a:prstGeom>
          <a:noFill/>
        </p:spPr>
        <p:txBody>
          <a:bodyPr wrap="square" rtlCol="0">
            <a:spAutoFit/>
          </a:bodyPr>
          <a:lstStyle/>
          <a:p>
            <a:r>
              <a:rPr lang="en-US" altLang="zh-TW" dirty="0" smtClean="0">
                <a:hlinkClick r:id="rId4"/>
              </a:rPr>
              <a:t>[Proof</a:t>
            </a:r>
            <a:r>
              <a:rPr lang="en-US" altLang="zh-TW" dirty="0" smtClean="0"/>
              <a:t>]</a:t>
            </a:r>
            <a:endParaRPr lang="zh-TW"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ICA and mutual information</a:t>
            </a:r>
            <a:endParaRPr lang="zh-TW" altLang="en-US" dirty="0"/>
          </a:p>
        </p:txBody>
      </p:sp>
      <p:sp>
        <p:nvSpPr>
          <p:cNvPr id="3" name="內容版面配置區 2"/>
          <p:cNvSpPr>
            <a:spLocks noGrp="1"/>
          </p:cNvSpPr>
          <p:nvPr>
            <p:ph idx="1"/>
          </p:nvPr>
        </p:nvSpPr>
        <p:spPr>
          <a:xfrm>
            <a:off x="457200" y="1600200"/>
            <a:ext cx="8229600" cy="4781128"/>
          </a:xfrm>
        </p:spPr>
        <p:txBody>
          <a:bodyPr>
            <a:normAutofit/>
          </a:bodyPr>
          <a:lstStyle/>
          <a:p>
            <a:r>
              <a:rPr lang="en-US" altLang="zh-TW" dirty="0" smtClean="0">
                <a:solidFill>
                  <a:srgbClr val="FF0000"/>
                </a:solidFill>
              </a:rPr>
              <a:t>Finding </a:t>
            </a:r>
            <a:r>
              <a:rPr lang="en-US" altLang="zh-TW" i="1" dirty="0" smtClean="0">
                <a:solidFill>
                  <a:srgbClr val="FF0000"/>
                </a:solidFill>
              </a:rPr>
              <a:t>W</a:t>
            </a:r>
            <a:r>
              <a:rPr lang="en-US" altLang="zh-TW" dirty="0" smtClean="0">
                <a:solidFill>
                  <a:srgbClr val="FF0000"/>
                </a:solidFill>
              </a:rPr>
              <a:t> that minimize the mutual information </a:t>
            </a:r>
            <a:r>
              <a:rPr lang="en-US" altLang="zh-TW" dirty="0" smtClean="0">
                <a:solidFill>
                  <a:srgbClr val="FF0000"/>
                </a:solidFill>
                <a:sym typeface="Wingdings" pitchFamily="2" charset="2"/>
              </a:rPr>
              <a:t> </a:t>
            </a:r>
            <a:br>
              <a:rPr lang="en-US" altLang="zh-TW" dirty="0" smtClean="0">
                <a:solidFill>
                  <a:srgbClr val="FF0000"/>
                </a:solidFill>
                <a:sym typeface="Wingdings" pitchFamily="2" charset="2"/>
              </a:rPr>
            </a:br>
            <a:r>
              <a:rPr lang="en-US" altLang="zh-TW" dirty="0" smtClean="0">
                <a:solidFill>
                  <a:srgbClr val="FF0000"/>
                </a:solidFill>
                <a:sym typeface="Wingdings" pitchFamily="2" charset="2"/>
              </a:rPr>
              <a:t>finding direction in which the </a:t>
            </a:r>
            <a:r>
              <a:rPr lang="en-US" altLang="zh-TW" dirty="0" err="1" smtClean="0">
                <a:solidFill>
                  <a:srgbClr val="FF0000"/>
                </a:solidFill>
                <a:sym typeface="Wingdings" pitchFamily="2" charset="2"/>
              </a:rPr>
              <a:t>neg</a:t>
            </a:r>
            <a:r>
              <a:rPr lang="en-US" altLang="zh-TW" dirty="0" smtClean="0">
                <a:solidFill>
                  <a:srgbClr val="FF0000"/>
                </a:solidFill>
                <a:sym typeface="Wingdings" pitchFamily="2" charset="2"/>
              </a:rPr>
              <a:t>-entropy is maximized.</a:t>
            </a:r>
          </a:p>
          <a:p>
            <a:pPr algn="just"/>
            <a:endParaRPr lang="en-US" altLang="zh-TW" dirty="0" smtClean="0">
              <a:solidFill>
                <a:srgbClr val="FF0000"/>
              </a:solidFill>
              <a:sym typeface="Wingdings" pitchFamily="2" charset="2"/>
            </a:endParaRPr>
          </a:p>
          <a:p>
            <a:r>
              <a:rPr lang="en-US" altLang="zh-TW" dirty="0" smtClean="0">
                <a:solidFill>
                  <a:srgbClr val="0070C0"/>
                </a:solidFill>
                <a:sym typeface="Wingdings" pitchFamily="2" charset="2"/>
              </a:rPr>
              <a:t>Minimize the mutual information  maximizing the sum of non-</a:t>
            </a:r>
            <a:r>
              <a:rPr lang="en-US" altLang="zh-TW" dirty="0" err="1" smtClean="0">
                <a:solidFill>
                  <a:srgbClr val="0070C0"/>
                </a:solidFill>
                <a:sym typeface="Wingdings" pitchFamily="2" charset="2"/>
              </a:rPr>
              <a:t>Gaussianities</a:t>
            </a:r>
            <a:r>
              <a:rPr lang="en-US" altLang="zh-TW" dirty="0" smtClean="0">
                <a:solidFill>
                  <a:srgbClr val="0070C0"/>
                </a:solidFill>
                <a:sym typeface="Wingdings" pitchFamily="2" charset="2"/>
              </a:rPr>
              <a:t> of the estimates if these estimates are uncorrelated.</a:t>
            </a:r>
            <a:endParaRPr lang="zh-TW" altLang="en-US" dirty="0">
              <a:solidFill>
                <a:srgbClr val="0070C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Preprocess the data-whitening</a:t>
            </a:r>
            <a:endParaRPr lang="zh-TW" altLang="en-US" dirty="0"/>
          </a:p>
        </p:txBody>
      </p:sp>
      <p:sp>
        <p:nvSpPr>
          <p:cNvPr id="3" name="內容版面配置區 2"/>
          <p:cNvSpPr>
            <a:spLocks noGrp="1"/>
          </p:cNvSpPr>
          <p:nvPr>
            <p:ph idx="1"/>
          </p:nvPr>
        </p:nvSpPr>
        <p:spPr/>
        <p:txBody>
          <a:bodyPr/>
          <a:lstStyle/>
          <a:p>
            <a:r>
              <a:rPr lang="en-US" altLang="zh-TW" dirty="0" smtClean="0"/>
              <a:t>Centering:</a:t>
            </a:r>
            <a:r>
              <a:rPr lang="en-US" altLang="zh-TW" i="1" dirty="0" smtClean="0"/>
              <a:t> X</a:t>
            </a:r>
            <a:r>
              <a:rPr lang="en-US" altLang="zh-TW" dirty="0" smtClean="0"/>
              <a:t> &lt;= </a:t>
            </a:r>
            <a:r>
              <a:rPr lang="en-US" altLang="zh-TW" i="1" dirty="0" smtClean="0"/>
              <a:t>X </a:t>
            </a:r>
            <a:r>
              <a:rPr lang="en-US" altLang="zh-TW" dirty="0" smtClean="0"/>
              <a:t>– E{</a:t>
            </a:r>
            <a:r>
              <a:rPr lang="en-US" altLang="zh-TW" i="1" dirty="0" smtClean="0"/>
              <a:t>X</a:t>
            </a:r>
            <a:r>
              <a:rPr lang="en-US" altLang="zh-TW" dirty="0" smtClean="0"/>
              <a:t>}</a:t>
            </a:r>
          </a:p>
          <a:p>
            <a:r>
              <a:rPr lang="en-US" altLang="zh-TW" i="1" dirty="0" smtClean="0"/>
              <a:t>X</a:t>
            </a:r>
            <a:r>
              <a:rPr lang="en-US" altLang="zh-TW" dirty="0" smtClean="0"/>
              <a:t>=[[2, 6, 4]       =&gt; </a:t>
            </a:r>
            <a:r>
              <a:rPr lang="en-US" altLang="zh-TW" i="1" dirty="0" smtClean="0"/>
              <a:t>X</a:t>
            </a:r>
            <a:r>
              <a:rPr lang="en-US" altLang="zh-TW" dirty="0" smtClean="0"/>
              <a:t> = [[-2, 2 ,0]</a:t>
            </a:r>
            <a:br>
              <a:rPr lang="en-US" altLang="zh-TW" dirty="0" smtClean="0"/>
            </a:br>
            <a:r>
              <a:rPr lang="en-US" altLang="zh-TW" dirty="0" smtClean="0"/>
              <a:t>      [4, 5, 6]]                   [-1, 0 ,1]]</a:t>
            </a:r>
          </a:p>
          <a:p>
            <a:endParaRPr lang="en-US" altLang="zh-TW" dirty="0" smtClean="0"/>
          </a:p>
          <a:p>
            <a:r>
              <a:rPr lang="zh-TW" altLang="en-US" sz="2400" dirty="0" smtClean="0">
                <a:latin typeface="微軟正黑體" pitchFamily="34" charset="-120"/>
                <a:ea typeface="微軟正黑體" pitchFamily="34" charset="-120"/>
              </a:rPr>
              <a:t>將</a:t>
            </a:r>
            <a:r>
              <a:rPr lang="en-US" altLang="zh-TW" sz="2400" i="1" dirty="0" err="1" smtClean="0">
                <a:latin typeface="微軟正黑體" pitchFamily="34" charset="-120"/>
                <a:ea typeface="微軟正黑體" pitchFamily="34" charset="-120"/>
              </a:rPr>
              <a:t>X</a:t>
            </a:r>
            <a:r>
              <a:rPr lang="en-US" altLang="zh-TW" sz="2400" dirty="0" err="1" smtClean="0">
                <a:latin typeface="微軟正黑體" pitchFamily="34" charset="-120"/>
                <a:ea typeface="微軟正黑體" pitchFamily="34" charset="-120"/>
              </a:rPr>
              <a:t>做線性轉換得到</a:t>
            </a:r>
            <a:r>
              <a:rPr lang="en-US" altLang="zh-TW" sz="2400" i="1" dirty="0" err="1" smtClean="0">
                <a:latin typeface="微軟正黑體" pitchFamily="34" charset="-120"/>
                <a:ea typeface="微軟正黑體" pitchFamily="34" charset="-120"/>
              </a:rPr>
              <a:t>X</a:t>
            </a:r>
            <a:r>
              <a:rPr lang="en-US" altLang="zh-TW" sz="2400" dirty="0" smtClean="0">
                <a:latin typeface="微軟正黑體" pitchFamily="34" charset="-120"/>
                <a:ea typeface="微軟正黑體" pitchFamily="34" charset="-120"/>
              </a:rPr>
              <a:t>*，使得各訊號uncorrelated且變異數為1</a:t>
            </a:r>
          </a:p>
          <a:p>
            <a:r>
              <a:rPr lang="en-US" altLang="zh-TW" dirty="0" smtClean="0"/>
              <a:t>i.e.		COV(</a:t>
            </a:r>
            <a:r>
              <a:rPr lang="en-US" altLang="zh-TW" i="1" dirty="0" smtClean="0"/>
              <a:t>X*</a:t>
            </a:r>
            <a:r>
              <a:rPr lang="en-US" altLang="zh-TW" dirty="0" smtClean="0"/>
              <a:t>) = E{</a:t>
            </a:r>
            <a:r>
              <a:rPr lang="en-US" altLang="zh-TW" i="1" dirty="0" smtClean="0"/>
              <a:t>X*(X*)</a:t>
            </a:r>
            <a:r>
              <a:rPr lang="en-US" altLang="zh-TW" baseline="30000" dirty="0" smtClean="0"/>
              <a:t>T</a:t>
            </a:r>
            <a:r>
              <a:rPr lang="en-US" altLang="zh-TW" dirty="0" smtClean="0"/>
              <a:t>} = </a:t>
            </a:r>
            <a:r>
              <a:rPr lang="en-US" altLang="zh-TW" i="1" dirty="0" smtClean="0"/>
              <a:t>I</a:t>
            </a:r>
          </a:p>
          <a:p>
            <a:endParaRPr lang="zh-TW" altLang="en-US" i="1"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07504" y="116632"/>
            <a:ext cx="8496944" cy="1200329"/>
          </a:xfrm>
          <a:prstGeom prst="rect">
            <a:avLst/>
          </a:prstGeom>
          <a:noFill/>
        </p:spPr>
        <p:txBody>
          <a:bodyPr wrap="square" rtlCol="0">
            <a:spAutoFit/>
          </a:bodyPr>
          <a:lstStyle/>
          <a:p>
            <a:pPr algn="ctr"/>
            <a:r>
              <a:rPr lang="en-US" altLang="zh-TW" sz="2400" dirty="0" smtClean="0"/>
              <a:t>To get X*</a:t>
            </a:r>
          </a:p>
          <a:p>
            <a:r>
              <a:rPr lang="en-US" altLang="zh-TW" sz="2400" dirty="0" smtClean="0"/>
              <a:t>Step:</a:t>
            </a:r>
          </a:p>
          <a:p>
            <a:r>
              <a:rPr lang="en-US" altLang="zh-TW" sz="2400" dirty="0" smtClean="0"/>
              <a:t>1.  Use the </a:t>
            </a:r>
            <a:r>
              <a:rPr lang="en-US" altLang="zh-TW" sz="2400" dirty="0" err="1" smtClean="0"/>
              <a:t>eigen</a:t>
            </a:r>
            <a:r>
              <a:rPr lang="en-US" altLang="zh-TW" sz="2400" dirty="0" smtClean="0"/>
              <a:t>-value decomposition (EVD) of E{</a:t>
            </a:r>
            <a:r>
              <a:rPr lang="en-US" altLang="zh-TW" sz="2400" i="1" dirty="0" smtClean="0"/>
              <a:t>XX</a:t>
            </a:r>
            <a:r>
              <a:rPr lang="en-US" altLang="zh-TW" sz="2400" baseline="30000" dirty="0" smtClean="0"/>
              <a:t>T</a:t>
            </a:r>
            <a:r>
              <a:rPr lang="en-US" altLang="zh-TW" sz="2400" dirty="0" smtClean="0"/>
              <a:t>} = </a:t>
            </a:r>
            <a:r>
              <a:rPr lang="en-US" altLang="zh-TW" sz="2400" i="1" dirty="0" smtClean="0"/>
              <a:t>EDE</a:t>
            </a:r>
            <a:r>
              <a:rPr lang="en-US" altLang="zh-TW" sz="2400" baseline="30000" dirty="0" smtClean="0"/>
              <a:t>T</a:t>
            </a:r>
            <a:endParaRPr lang="zh-TW" altLang="en-US" sz="2400" baseline="30000" dirty="0"/>
          </a:p>
        </p:txBody>
      </p:sp>
      <p:sp>
        <p:nvSpPr>
          <p:cNvPr id="5" name="矩形 4"/>
          <p:cNvSpPr/>
          <p:nvPr/>
        </p:nvSpPr>
        <p:spPr>
          <a:xfrm>
            <a:off x="323528" y="1340768"/>
            <a:ext cx="1512168" cy="646331"/>
          </a:xfrm>
          <a:prstGeom prst="rect">
            <a:avLst/>
          </a:prstGeom>
        </p:spPr>
        <p:txBody>
          <a:bodyPr wrap="square">
            <a:spAutoFit/>
          </a:bodyPr>
          <a:lstStyle/>
          <a:p>
            <a:r>
              <a:rPr lang="en-US" altLang="zh-TW" i="1" dirty="0" smtClean="0"/>
              <a:t>X</a:t>
            </a:r>
            <a:r>
              <a:rPr lang="en-US" altLang="zh-TW" dirty="0" smtClean="0"/>
              <a:t> = [[-2, 2 ,0]</a:t>
            </a:r>
            <a:br>
              <a:rPr lang="en-US" altLang="zh-TW" dirty="0" smtClean="0"/>
            </a:br>
            <a:r>
              <a:rPr lang="en-US" altLang="zh-TW" dirty="0" smtClean="0"/>
              <a:t>        [-1, 0 ,1]]</a:t>
            </a:r>
          </a:p>
        </p:txBody>
      </p:sp>
      <p:sp>
        <p:nvSpPr>
          <p:cNvPr id="6" name="矩形 5"/>
          <p:cNvSpPr/>
          <p:nvPr/>
        </p:nvSpPr>
        <p:spPr>
          <a:xfrm>
            <a:off x="1907704" y="1340768"/>
            <a:ext cx="2520280" cy="646331"/>
          </a:xfrm>
          <a:prstGeom prst="rect">
            <a:avLst/>
          </a:prstGeom>
        </p:spPr>
        <p:txBody>
          <a:bodyPr wrap="square">
            <a:spAutoFit/>
          </a:bodyPr>
          <a:lstStyle/>
          <a:p>
            <a:r>
              <a:rPr lang="en-US" altLang="zh-TW" dirty="0" smtClean="0"/>
              <a:t>COV(</a:t>
            </a:r>
            <a:r>
              <a:rPr lang="en-US" altLang="zh-TW" i="1" dirty="0" smtClean="0"/>
              <a:t>X</a:t>
            </a:r>
            <a:r>
              <a:rPr lang="en-US" altLang="zh-TW" dirty="0" smtClean="0"/>
              <a:t>) =  [[4 ,1]</a:t>
            </a:r>
          </a:p>
          <a:p>
            <a:r>
              <a:rPr lang="en-US" altLang="zh-TW" dirty="0" smtClean="0"/>
              <a:t>                   [1, 1]]</a:t>
            </a:r>
          </a:p>
        </p:txBody>
      </p:sp>
      <p:sp>
        <p:nvSpPr>
          <p:cNvPr id="7" name="矩形 6"/>
          <p:cNvSpPr/>
          <p:nvPr/>
        </p:nvSpPr>
        <p:spPr>
          <a:xfrm>
            <a:off x="395536" y="2420888"/>
            <a:ext cx="3096344" cy="646331"/>
          </a:xfrm>
          <a:prstGeom prst="rect">
            <a:avLst/>
          </a:prstGeom>
        </p:spPr>
        <p:txBody>
          <a:bodyPr wrap="square">
            <a:spAutoFit/>
          </a:bodyPr>
          <a:lstStyle/>
          <a:p>
            <a:r>
              <a:rPr lang="en-US" altLang="zh-TW" dirty="0" smtClean="0"/>
              <a:t>D=[0.69722,              0]</a:t>
            </a:r>
          </a:p>
          <a:p>
            <a:r>
              <a:rPr lang="en-US" altLang="zh-TW" dirty="0" smtClean="0"/>
              <a:t>     [0,              4.30278]]</a:t>
            </a:r>
          </a:p>
        </p:txBody>
      </p:sp>
      <p:sp>
        <p:nvSpPr>
          <p:cNvPr id="8" name="矩形 7"/>
          <p:cNvSpPr/>
          <p:nvPr/>
        </p:nvSpPr>
        <p:spPr>
          <a:xfrm>
            <a:off x="3203848" y="2420888"/>
            <a:ext cx="3294112" cy="646331"/>
          </a:xfrm>
          <a:prstGeom prst="rect">
            <a:avLst/>
          </a:prstGeom>
        </p:spPr>
        <p:txBody>
          <a:bodyPr wrap="square">
            <a:spAutoFit/>
          </a:bodyPr>
          <a:lstStyle/>
          <a:p>
            <a:r>
              <a:rPr lang="en-US" altLang="zh-TW" dirty="0" smtClean="0"/>
              <a:t>E=[[0.28978  -0.95709</a:t>
            </a:r>
          </a:p>
          <a:p>
            <a:r>
              <a:rPr lang="en-US" altLang="zh-TW" dirty="0" smtClean="0"/>
              <a:t>      [-0.95709  -0.28978]]</a:t>
            </a:r>
          </a:p>
        </p:txBody>
      </p:sp>
      <p:sp>
        <p:nvSpPr>
          <p:cNvPr id="9" name="文字方塊 8"/>
          <p:cNvSpPr txBox="1"/>
          <p:nvPr/>
        </p:nvSpPr>
        <p:spPr>
          <a:xfrm>
            <a:off x="179512" y="3573016"/>
            <a:ext cx="2592288" cy="523220"/>
          </a:xfrm>
          <a:prstGeom prst="rect">
            <a:avLst/>
          </a:prstGeom>
          <a:noFill/>
        </p:spPr>
        <p:txBody>
          <a:bodyPr wrap="square" rtlCol="0">
            <a:spAutoFit/>
          </a:bodyPr>
          <a:lstStyle/>
          <a:p>
            <a:r>
              <a:rPr lang="en-US" altLang="zh-TW" sz="2800" dirty="0" smtClean="0"/>
              <a:t>2. X* = </a:t>
            </a:r>
            <a:r>
              <a:rPr lang="en-US" altLang="zh-TW" sz="2800" i="1" dirty="0" smtClean="0"/>
              <a:t>ED</a:t>
            </a:r>
            <a:r>
              <a:rPr lang="en-US" altLang="zh-TW" sz="2800" baseline="30000" dirty="0" smtClean="0"/>
              <a:t>-1/2</a:t>
            </a:r>
            <a:r>
              <a:rPr lang="en-US" altLang="zh-TW" sz="2800" i="1" dirty="0" smtClean="0"/>
              <a:t>E</a:t>
            </a:r>
            <a:r>
              <a:rPr lang="en-US" altLang="zh-TW" sz="2800" baseline="30000" dirty="0" smtClean="0"/>
              <a:t>T</a:t>
            </a:r>
            <a:r>
              <a:rPr lang="en-US" altLang="zh-TW" sz="2800" i="1" dirty="0" smtClean="0"/>
              <a:t>X</a:t>
            </a:r>
            <a:endParaRPr lang="zh-TW" altLang="en-US" sz="2800" i="1" dirty="0"/>
          </a:p>
        </p:txBody>
      </p:sp>
      <p:sp>
        <p:nvSpPr>
          <p:cNvPr id="10" name="矩形 9"/>
          <p:cNvSpPr/>
          <p:nvPr/>
        </p:nvSpPr>
        <p:spPr>
          <a:xfrm>
            <a:off x="611560" y="4293096"/>
            <a:ext cx="2952328" cy="923330"/>
          </a:xfrm>
          <a:prstGeom prst="rect">
            <a:avLst/>
          </a:prstGeom>
        </p:spPr>
        <p:txBody>
          <a:bodyPr wrap="square">
            <a:spAutoFit/>
          </a:bodyPr>
          <a:lstStyle/>
          <a:p>
            <a:r>
              <a:rPr lang="en-US" altLang="zh-TW" dirty="0" smtClean="0"/>
              <a:t>D</a:t>
            </a:r>
            <a:r>
              <a:rPr lang="en-US" altLang="zh-TW" baseline="30000" dirty="0" smtClean="0"/>
              <a:t>-1/2</a:t>
            </a:r>
            <a:r>
              <a:rPr lang="en-US" altLang="zh-TW" dirty="0" smtClean="0"/>
              <a:t>=[[1.1976,   0]</a:t>
            </a:r>
          </a:p>
          <a:p>
            <a:r>
              <a:rPr lang="en-US" altLang="zh-TW" dirty="0" smtClean="0"/>
              <a:t>           [0,             0.48209]]</a:t>
            </a:r>
          </a:p>
          <a:p>
            <a:endParaRPr lang="en-US" altLang="zh-TW" dirty="0"/>
          </a:p>
        </p:txBody>
      </p:sp>
      <p:sp>
        <p:nvSpPr>
          <p:cNvPr id="11" name="矩形 10"/>
          <p:cNvSpPr/>
          <p:nvPr/>
        </p:nvSpPr>
        <p:spPr>
          <a:xfrm>
            <a:off x="3707904" y="4365104"/>
            <a:ext cx="4572000" cy="646331"/>
          </a:xfrm>
          <a:prstGeom prst="rect">
            <a:avLst/>
          </a:prstGeom>
        </p:spPr>
        <p:txBody>
          <a:bodyPr>
            <a:spAutoFit/>
          </a:bodyPr>
          <a:lstStyle/>
          <a:p>
            <a:r>
              <a:rPr lang="en-US" altLang="zh-TW" dirty="0" smtClean="0"/>
              <a:t>X*=[[-0.88590   1.08435  -0.19845]</a:t>
            </a:r>
          </a:p>
          <a:p>
            <a:r>
              <a:rPr lang="en-US" altLang="zh-TW" dirty="0" smtClean="0"/>
              <a:t>        [-0.74062  -0.39690   1.13752]]</a:t>
            </a:r>
            <a:endParaRPr lang="en-US" altLang="zh-TW" dirty="0"/>
          </a:p>
        </p:txBody>
      </p:sp>
      <p:sp>
        <p:nvSpPr>
          <p:cNvPr id="12" name="文字方塊 11"/>
          <p:cNvSpPr txBox="1"/>
          <p:nvPr/>
        </p:nvSpPr>
        <p:spPr>
          <a:xfrm>
            <a:off x="1043608" y="5229200"/>
            <a:ext cx="6768752" cy="646331"/>
          </a:xfrm>
          <a:prstGeom prst="rect">
            <a:avLst/>
          </a:prstGeom>
          <a:noFill/>
        </p:spPr>
        <p:txBody>
          <a:bodyPr wrap="square" rtlCol="0">
            <a:spAutoFit/>
          </a:bodyPr>
          <a:lstStyle/>
          <a:p>
            <a:pPr algn="ctr"/>
            <a:r>
              <a:rPr lang="en-US" altLang="zh-TW" sz="3600" dirty="0" smtClean="0">
                <a:solidFill>
                  <a:srgbClr val="0070C0"/>
                </a:solidFill>
              </a:rPr>
              <a:t>E{</a:t>
            </a:r>
            <a:r>
              <a:rPr lang="en-US" altLang="zh-TW" sz="3600" i="1" dirty="0" smtClean="0">
                <a:solidFill>
                  <a:srgbClr val="0070C0"/>
                </a:solidFill>
              </a:rPr>
              <a:t>X</a:t>
            </a:r>
            <a:r>
              <a:rPr lang="en-US" altLang="zh-TW" sz="3600" dirty="0" smtClean="0">
                <a:solidFill>
                  <a:srgbClr val="0070C0"/>
                </a:solidFill>
              </a:rPr>
              <a:t>*(</a:t>
            </a:r>
            <a:r>
              <a:rPr lang="en-US" altLang="zh-TW" sz="3600" i="1" dirty="0" smtClean="0">
                <a:solidFill>
                  <a:srgbClr val="0070C0"/>
                </a:solidFill>
              </a:rPr>
              <a:t>X</a:t>
            </a:r>
            <a:r>
              <a:rPr lang="en-US" altLang="zh-TW" sz="3600" dirty="0" smtClean="0">
                <a:solidFill>
                  <a:srgbClr val="0070C0"/>
                </a:solidFill>
              </a:rPr>
              <a:t>*)</a:t>
            </a:r>
            <a:r>
              <a:rPr lang="en-US" altLang="zh-TW" sz="3600" baseline="30000" dirty="0" smtClean="0">
                <a:solidFill>
                  <a:srgbClr val="0070C0"/>
                </a:solidFill>
              </a:rPr>
              <a:t>T</a:t>
            </a:r>
            <a:r>
              <a:rPr lang="en-US" altLang="zh-TW" sz="3600" dirty="0" smtClean="0">
                <a:solidFill>
                  <a:srgbClr val="0070C0"/>
                </a:solidFill>
              </a:rPr>
              <a:t>} = </a:t>
            </a:r>
            <a:r>
              <a:rPr lang="en-US" altLang="zh-TW" sz="3600" i="1" dirty="0" smtClean="0">
                <a:solidFill>
                  <a:srgbClr val="0070C0"/>
                </a:solidFill>
              </a:rPr>
              <a:t>I</a:t>
            </a:r>
            <a:endParaRPr lang="zh-TW" altLang="en-US" sz="3600" i="1" dirty="0">
              <a:solidFill>
                <a:srgbClr val="0070C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332656"/>
            <a:ext cx="8424936" cy="3108543"/>
          </a:xfrm>
          <a:prstGeom prst="rect">
            <a:avLst/>
          </a:prstGeom>
          <a:noFill/>
        </p:spPr>
        <p:txBody>
          <a:bodyPr wrap="square" rtlCol="0">
            <a:spAutoFit/>
          </a:bodyPr>
          <a:lstStyle/>
          <a:p>
            <a:r>
              <a:rPr lang="en-US" altLang="zh-TW" sz="2800" dirty="0" smtClean="0"/>
              <a:t>Substituting X to X*:</a:t>
            </a:r>
          </a:p>
          <a:p>
            <a:r>
              <a:rPr lang="en-US" altLang="zh-TW" sz="2800" i="1" dirty="0" smtClean="0"/>
              <a:t>X = AS</a:t>
            </a:r>
          </a:p>
          <a:p>
            <a:r>
              <a:rPr lang="en-US" altLang="zh-TW" sz="2800" i="1" dirty="0" smtClean="0"/>
              <a:t>X* = ED</a:t>
            </a:r>
            <a:r>
              <a:rPr lang="en-US" altLang="zh-TW" sz="2800" baseline="30000" dirty="0" smtClean="0"/>
              <a:t>-1/2</a:t>
            </a:r>
            <a:r>
              <a:rPr lang="en-US" altLang="zh-TW" sz="2800" i="1" dirty="0" smtClean="0"/>
              <a:t>E</a:t>
            </a:r>
            <a:r>
              <a:rPr lang="en-US" altLang="zh-TW" sz="2800" baseline="30000" dirty="0" smtClean="0"/>
              <a:t>T</a:t>
            </a:r>
            <a:r>
              <a:rPr lang="en-US" altLang="zh-TW" sz="2800" i="1" dirty="0" smtClean="0"/>
              <a:t>X =  ED</a:t>
            </a:r>
            <a:r>
              <a:rPr lang="en-US" altLang="zh-TW" sz="2800" baseline="30000" dirty="0" smtClean="0"/>
              <a:t>-1/2</a:t>
            </a:r>
            <a:r>
              <a:rPr lang="en-US" altLang="zh-TW" sz="2800" i="1" dirty="0" smtClean="0"/>
              <a:t>E</a:t>
            </a:r>
            <a:r>
              <a:rPr lang="en-US" altLang="zh-TW" sz="2800" baseline="30000" dirty="0" smtClean="0"/>
              <a:t>T</a:t>
            </a:r>
            <a:r>
              <a:rPr lang="en-US" altLang="zh-TW" sz="2800" i="1" dirty="0" smtClean="0"/>
              <a:t>AS = (A*)S</a:t>
            </a:r>
          </a:p>
          <a:p>
            <a:endParaRPr lang="en-US" altLang="zh-TW" sz="2800" i="1" dirty="0" smtClean="0"/>
          </a:p>
          <a:p>
            <a:r>
              <a:rPr lang="en-US" altLang="zh-TW" sz="2800" dirty="0" smtClean="0"/>
              <a:t>E{</a:t>
            </a:r>
            <a:r>
              <a:rPr lang="en-US" altLang="zh-TW" sz="2800" i="1" dirty="0" smtClean="0"/>
              <a:t>X</a:t>
            </a:r>
            <a:r>
              <a:rPr lang="en-US" altLang="zh-TW" sz="2800" dirty="0" smtClean="0"/>
              <a:t>*(</a:t>
            </a:r>
            <a:r>
              <a:rPr lang="en-US" altLang="zh-TW" sz="2800" i="1" dirty="0" smtClean="0"/>
              <a:t>X</a:t>
            </a:r>
            <a:r>
              <a:rPr lang="en-US" altLang="zh-TW" sz="2800" dirty="0" smtClean="0"/>
              <a:t>*)</a:t>
            </a:r>
            <a:r>
              <a:rPr lang="en-US" altLang="zh-TW" sz="2800" baseline="30000" dirty="0" smtClean="0"/>
              <a:t>T</a:t>
            </a:r>
            <a:r>
              <a:rPr lang="en-US" altLang="zh-TW" sz="2800" dirty="0" smtClean="0"/>
              <a:t>} = E{</a:t>
            </a:r>
            <a:r>
              <a:rPr lang="en-US" altLang="zh-TW" sz="2800" i="1" dirty="0" smtClean="0"/>
              <a:t>(A*)S((A*)S)</a:t>
            </a:r>
            <a:r>
              <a:rPr lang="en-US" altLang="zh-TW" sz="2800" i="1" baseline="30000" dirty="0" smtClean="0"/>
              <a:t>T</a:t>
            </a:r>
            <a:r>
              <a:rPr lang="en-US" altLang="zh-TW" sz="2800" i="1" dirty="0" smtClean="0"/>
              <a:t>}=(A*)E{SS</a:t>
            </a:r>
            <a:r>
              <a:rPr lang="en-US" altLang="zh-TW" sz="2800" i="1" baseline="30000" dirty="0" smtClean="0"/>
              <a:t>T</a:t>
            </a:r>
            <a:r>
              <a:rPr lang="en-US" altLang="zh-TW" sz="2800" i="1" dirty="0" smtClean="0"/>
              <a:t>}(A*)</a:t>
            </a:r>
            <a:r>
              <a:rPr lang="en-US" altLang="zh-TW" sz="2800" i="1" baseline="30000" dirty="0" smtClean="0"/>
              <a:t>T</a:t>
            </a:r>
            <a:r>
              <a:rPr lang="en-US" altLang="zh-TW" sz="2800" i="1" dirty="0" smtClean="0"/>
              <a:t>=(A*)(A*)</a:t>
            </a:r>
            <a:r>
              <a:rPr lang="en-US" altLang="zh-TW" sz="2800" i="1" baseline="30000" dirty="0" smtClean="0"/>
              <a:t>T</a:t>
            </a:r>
            <a:r>
              <a:rPr lang="en-US" altLang="zh-TW" sz="2800" i="1" dirty="0" smtClean="0"/>
              <a:t>=I</a:t>
            </a:r>
          </a:p>
          <a:p>
            <a:r>
              <a:rPr lang="en-US" altLang="zh-TW" sz="2800" dirty="0" smtClean="0"/>
              <a:t>We can get </a:t>
            </a:r>
            <a:r>
              <a:rPr lang="en-US" altLang="zh-TW" sz="2800" i="1" dirty="0" smtClean="0"/>
              <a:t>A*</a:t>
            </a:r>
            <a:r>
              <a:rPr lang="en-US" altLang="zh-TW" sz="2800" dirty="0" smtClean="0"/>
              <a:t> is orthogonal matrix</a:t>
            </a:r>
            <a:endParaRPr lang="zh-TW" altLang="en-US" sz="2800" dirty="0" smtClean="0"/>
          </a:p>
          <a:p>
            <a:endParaRPr lang="en-US" altLang="zh-TW" sz="2800" i="1" dirty="0" smtClean="0">
              <a:solidFill>
                <a:srgbClr val="00B0F0"/>
              </a:solidFill>
            </a:endParaRPr>
          </a:p>
        </p:txBody>
      </p:sp>
      <p:sp>
        <p:nvSpPr>
          <p:cNvPr id="3" name="文字方塊 2"/>
          <p:cNvSpPr txBox="1"/>
          <p:nvPr/>
        </p:nvSpPr>
        <p:spPr>
          <a:xfrm>
            <a:off x="323528" y="3501008"/>
            <a:ext cx="8280920" cy="2246769"/>
          </a:xfrm>
          <a:prstGeom prst="rect">
            <a:avLst/>
          </a:prstGeom>
          <a:noFill/>
        </p:spPr>
        <p:txBody>
          <a:bodyPr wrap="square" rtlCol="0">
            <a:spAutoFit/>
          </a:bodyPr>
          <a:lstStyle/>
          <a:p>
            <a:pPr algn="ctr"/>
            <a:r>
              <a:rPr lang="en-US" altLang="zh-TW" sz="2800" dirty="0" smtClean="0">
                <a:solidFill>
                  <a:srgbClr val="FF0000"/>
                </a:solidFill>
              </a:rPr>
              <a:t>It reducing then number of parameters to be estimated!!</a:t>
            </a:r>
          </a:p>
          <a:p>
            <a:endParaRPr lang="en-US" altLang="zh-TW" sz="2800" dirty="0" smtClean="0"/>
          </a:p>
          <a:p>
            <a:pPr algn="ctr"/>
            <a:r>
              <a:rPr lang="en-US" altLang="zh-TW" sz="2800" dirty="0" smtClean="0">
                <a:solidFill>
                  <a:srgbClr val="0070C0"/>
                </a:solidFill>
              </a:rPr>
              <a:t>A: n</a:t>
            </a:r>
            <a:r>
              <a:rPr lang="en-US" altLang="zh-TW" sz="2800" baseline="30000" dirty="0" smtClean="0">
                <a:solidFill>
                  <a:srgbClr val="0070C0"/>
                </a:solidFill>
              </a:rPr>
              <a:t>2</a:t>
            </a:r>
            <a:r>
              <a:rPr lang="en-US" altLang="zh-TW" sz="2800" dirty="0" smtClean="0">
                <a:solidFill>
                  <a:srgbClr val="0070C0"/>
                </a:solidFill>
              </a:rPr>
              <a:t> parameters</a:t>
            </a:r>
          </a:p>
          <a:p>
            <a:pPr algn="ctr"/>
            <a:r>
              <a:rPr lang="en-US" altLang="zh-TW" sz="2800" dirty="0" smtClean="0">
                <a:solidFill>
                  <a:srgbClr val="0070C0"/>
                </a:solidFill>
              </a:rPr>
              <a:t>A*: n(n-1)/2 degrees of freedom</a:t>
            </a:r>
          </a:p>
          <a:p>
            <a:pPr algn="ctr"/>
            <a:r>
              <a:rPr lang="zh-TW" altLang="en-US" sz="2800" dirty="0" smtClean="0">
                <a:latin typeface="微軟正黑體" pitchFamily="34" charset="-120"/>
                <a:ea typeface="微軟正黑體" pitchFamily="34" charset="-120"/>
              </a:rPr>
              <a:t>以下均假設</a:t>
            </a:r>
            <a:r>
              <a:rPr lang="en-US" altLang="zh-TW" sz="2800" i="1" dirty="0" err="1" smtClean="0">
                <a:latin typeface="微軟正黑體" pitchFamily="34" charset="-120"/>
                <a:ea typeface="微軟正黑體" pitchFamily="34" charset="-120"/>
              </a:rPr>
              <a:t>X</a:t>
            </a:r>
            <a:r>
              <a:rPr lang="en-US" altLang="zh-TW" sz="2800" dirty="0" err="1" smtClean="0">
                <a:latin typeface="微軟正黑體" pitchFamily="34" charset="-120"/>
                <a:ea typeface="微軟正黑體" pitchFamily="34" charset="-120"/>
              </a:rPr>
              <a:t>已經經過whitening處理</a:t>
            </a:r>
            <a:endParaRPr lang="zh-TW" altLang="en-US" sz="2800" dirty="0">
              <a:latin typeface="微軟正黑體" pitchFamily="34" charset="-120"/>
              <a:ea typeface="微軟正黑體" pitchFamily="34" charset="-12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a:t>
            </a:r>
            <a:r>
              <a:rPr lang="en-US" altLang="zh-TW" dirty="0" err="1" smtClean="0"/>
              <a:t>FastICA</a:t>
            </a:r>
            <a:r>
              <a:rPr lang="en-US" altLang="zh-TW" dirty="0" smtClean="0"/>
              <a:t> algorithm for one unit</a:t>
            </a:r>
            <a:endParaRPr lang="zh-TW" altLang="en-US" dirty="0"/>
          </a:p>
        </p:txBody>
      </p:sp>
      <p:sp>
        <p:nvSpPr>
          <p:cNvPr id="3" name="文字方塊 2"/>
          <p:cNvSpPr txBox="1"/>
          <p:nvPr/>
        </p:nvSpPr>
        <p:spPr>
          <a:xfrm>
            <a:off x="251520" y="1340769"/>
            <a:ext cx="8496944" cy="3539430"/>
          </a:xfrm>
          <a:prstGeom prst="rect">
            <a:avLst/>
          </a:prstGeom>
          <a:noFill/>
        </p:spPr>
        <p:txBody>
          <a:bodyPr wrap="square" rtlCol="0">
            <a:spAutoFit/>
          </a:bodyPr>
          <a:lstStyle/>
          <a:p>
            <a:r>
              <a:rPr lang="en-US" altLang="zh-TW" sz="2800" dirty="0" smtClean="0"/>
              <a:t>Assume </a:t>
            </a:r>
            <a:r>
              <a:rPr lang="en-US" altLang="zh-TW" sz="2800" i="1" dirty="0" smtClean="0"/>
              <a:t>W</a:t>
            </a:r>
            <a:r>
              <a:rPr lang="en-US" altLang="zh-TW" sz="2800" dirty="0" smtClean="0"/>
              <a:t> is vector of </a:t>
            </a:r>
            <a:r>
              <a:rPr lang="en-US" altLang="zh-TW" sz="2800" i="1" dirty="0" err="1" smtClean="0"/>
              <a:t>R</a:t>
            </a:r>
            <a:r>
              <a:rPr lang="en-US" altLang="zh-TW" sz="2800" i="1" baseline="30000" dirty="0" err="1" smtClean="0"/>
              <a:t>n</a:t>
            </a:r>
            <a:r>
              <a:rPr lang="en-US" altLang="zh-TW" sz="2800" baseline="30000" dirty="0" smtClean="0"/>
              <a:t>*1 </a:t>
            </a:r>
            <a:r>
              <a:rPr lang="en-US" altLang="zh-TW" sz="2800" dirty="0" smtClean="0"/>
              <a:t>(one independent source)</a:t>
            </a:r>
            <a:endParaRPr lang="en-US" altLang="zh-TW" sz="2800" baseline="30000" dirty="0" smtClean="0"/>
          </a:p>
          <a:p>
            <a:r>
              <a:rPr lang="en-US" altLang="zh-TW" sz="2800" dirty="0" smtClean="0"/>
              <a:t>Maximize the </a:t>
            </a:r>
            <a:r>
              <a:rPr lang="en-US" altLang="zh-TW" sz="2800" dirty="0" err="1" smtClean="0"/>
              <a:t>neg</a:t>
            </a:r>
            <a:r>
              <a:rPr lang="en-US" altLang="zh-TW" sz="2800" dirty="0" smtClean="0"/>
              <a:t>-entropy J(</a:t>
            </a:r>
            <a:r>
              <a:rPr lang="en-US" altLang="zh-TW" sz="2800" i="1" dirty="0" smtClean="0"/>
              <a:t>W</a:t>
            </a:r>
            <a:r>
              <a:rPr lang="en-US" altLang="zh-TW" sz="2800" baseline="30000" dirty="0" smtClean="0"/>
              <a:t>T</a:t>
            </a:r>
            <a:r>
              <a:rPr lang="en-US" altLang="zh-TW" sz="2800" i="1" dirty="0" smtClean="0"/>
              <a:t>X</a:t>
            </a:r>
            <a:r>
              <a:rPr lang="en-US" altLang="zh-TW" sz="2800" dirty="0" smtClean="0"/>
              <a:t>)</a:t>
            </a:r>
          </a:p>
          <a:p>
            <a:endParaRPr lang="en-US" altLang="zh-TW" sz="2800" dirty="0" smtClean="0"/>
          </a:p>
          <a:p>
            <a:r>
              <a:rPr lang="en-US" altLang="zh-TW" sz="2800" dirty="0" smtClean="0"/>
              <a:t>According to </a:t>
            </a:r>
            <a:r>
              <a:rPr lang="en-US" altLang="zh-TW" sz="2800" dirty="0" err="1" smtClean="0">
                <a:hlinkClick r:id="rId3"/>
              </a:rPr>
              <a:t>Karush</a:t>
            </a:r>
            <a:r>
              <a:rPr lang="en-US" altLang="zh-TW" sz="2800" dirty="0" smtClean="0">
                <a:hlinkClick r:id="rId3"/>
              </a:rPr>
              <a:t>–Kuhn–Tucker (K.K.T.) conditions</a:t>
            </a:r>
            <a:r>
              <a:rPr lang="en-US" altLang="zh-TW" sz="2800" dirty="0" smtClean="0"/>
              <a:t>:</a:t>
            </a:r>
          </a:p>
          <a:p>
            <a:r>
              <a:rPr lang="en-US" altLang="zh-TW" sz="2800" dirty="0" smtClean="0"/>
              <a:t>The optima of  E{G(</a:t>
            </a:r>
            <a:r>
              <a:rPr lang="en-US" altLang="zh-TW" sz="2800" i="1" dirty="0" smtClean="0"/>
              <a:t>W</a:t>
            </a:r>
            <a:r>
              <a:rPr lang="en-US" altLang="zh-TW" sz="2800" baseline="30000" dirty="0" smtClean="0"/>
              <a:t>T</a:t>
            </a:r>
            <a:r>
              <a:rPr lang="en-US" altLang="zh-TW" sz="2800" i="1" dirty="0" smtClean="0"/>
              <a:t>X</a:t>
            </a:r>
            <a:r>
              <a:rPr lang="en-US" altLang="zh-TW" sz="2800" dirty="0" smtClean="0"/>
              <a:t>)} </a:t>
            </a:r>
          </a:p>
          <a:p>
            <a:r>
              <a:rPr lang="en-US" altLang="zh-TW" sz="2800" dirty="0" smtClean="0"/>
              <a:t>under constraint E{</a:t>
            </a:r>
            <a:r>
              <a:rPr lang="en-US" altLang="zh-TW" sz="2800" i="1" dirty="0" smtClean="0"/>
              <a:t>Y</a:t>
            </a:r>
            <a:r>
              <a:rPr lang="en-US" altLang="zh-TW" sz="2800" baseline="30000" dirty="0" smtClean="0"/>
              <a:t>2</a:t>
            </a:r>
            <a:r>
              <a:rPr lang="en-US" altLang="zh-TW" sz="2800" dirty="0" smtClean="0"/>
              <a:t>} = E{(</a:t>
            </a:r>
            <a:r>
              <a:rPr lang="en-US" altLang="zh-TW" sz="2800" i="1" dirty="0" smtClean="0"/>
              <a:t>W</a:t>
            </a:r>
            <a:r>
              <a:rPr lang="en-US" altLang="zh-TW" sz="2800" baseline="30000" dirty="0" smtClean="0"/>
              <a:t>T</a:t>
            </a:r>
            <a:r>
              <a:rPr lang="en-US" altLang="zh-TW" sz="2800" i="1" dirty="0" smtClean="0"/>
              <a:t>X)</a:t>
            </a:r>
            <a:r>
              <a:rPr lang="en-US" altLang="zh-TW" sz="2800" baseline="30000" dirty="0" smtClean="0"/>
              <a:t>2</a:t>
            </a:r>
            <a:r>
              <a:rPr lang="en-US" altLang="zh-TW" sz="2800" dirty="0" smtClean="0"/>
              <a:t>}=||W||</a:t>
            </a:r>
            <a:r>
              <a:rPr lang="en-US" altLang="zh-TW" sz="2800" baseline="30000" dirty="0" smtClean="0"/>
              <a:t>2</a:t>
            </a:r>
            <a:r>
              <a:rPr lang="en-US" altLang="zh-TW" sz="2800" dirty="0" smtClean="0"/>
              <a:t>=1 is</a:t>
            </a:r>
          </a:p>
          <a:p>
            <a:pPr algn="ctr"/>
            <a:r>
              <a:rPr lang="en-US" altLang="zh-TW" sz="2800" i="1" dirty="0" smtClean="0">
                <a:solidFill>
                  <a:srgbClr val="FF0000"/>
                </a:solidFill>
              </a:rPr>
              <a:t>F</a:t>
            </a:r>
            <a:r>
              <a:rPr lang="en-US" altLang="zh-TW" sz="2800" dirty="0" smtClean="0">
                <a:solidFill>
                  <a:srgbClr val="FF0000"/>
                </a:solidFill>
              </a:rPr>
              <a:t>(W) = E{</a:t>
            </a:r>
            <a:r>
              <a:rPr lang="en-US" altLang="zh-TW" sz="2800" i="1" dirty="0" err="1" smtClean="0">
                <a:solidFill>
                  <a:srgbClr val="FF0000"/>
                </a:solidFill>
              </a:rPr>
              <a:t>X</a:t>
            </a:r>
            <a:r>
              <a:rPr lang="en-US" altLang="zh-TW" sz="2800" dirty="0" err="1" smtClean="0">
                <a:solidFill>
                  <a:srgbClr val="FF0000"/>
                </a:solidFill>
              </a:rPr>
              <a:t>g</a:t>
            </a:r>
            <a:r>
              <a:rPr lang="en-US" altLang="zh-TW" sz="2800" dirty="0" smtClean="0">
                <a:solidFill>
                  <a:srgbClr val="FF0000"/>
                </a:solidFill>
              </a:rPr>
              <a:t>(</a:t>
            </a:r>
            <a:r>
              <a:rPr lang="en-US" altLang="zh-TW" sz="2800" i="1" dirty="0" smtClean="0">
                <a:solidFill>
                  <a:srgbClr val="FF0000"/>
                </a:solidFill>
              </a:rPr>
              <a:t>W</a:t>
            </a:r>
            <a:r>
              <a:rPr lang="en-US" altLang="zh-TW" sz="2800" baseline="30000" dirty="0" smtClean="0">
                <a:solidFill>
                  <a:srgbClr val="FF0000"/>
                </a:solidFill>
              </a:rPr>
              <a:t>T</a:t>
            </a:r>
            <a:r>
              <a:rPr lang="en-US" altLang="zh-TW" sz="2800" i="1" dirty="0" smtClean="0">
                <a:solidFill>
                  <a:srgbClr val="FF0000"/>
                </a:solidFill>
              </a:rPr>
              <a:t>X</a:t>
            </a:r>
            <a:r>
              <a:rPr lang="en-US" altLang="zh-TW" sz="2800" dirty="0" smtClean="0">
                <a:solidFill>
                  <a:srgbClr val="FF0000"/>
                </a:solidFill>
              </a:rPr>
              <a:t>)}-</a:t>
            </a:r>
            <a:r>
              <a:rPr lang="el-GR" altLang="zh-TW" sz="2800" dirty="0" smtClean="0">
                <a:solidFill>
                  <a:srgbClr val="FF0000"/>
                </a:solidFill>
              </a:rPr>
              <a:t>β</a:t>
            </a:r>
            <a:r>
              <a:rPr lang="en-US" altLang="zh-TW" sz="2800" i="1" dirty="0" smtClean="0">
                <a:solidFill>
                  <a:srgbClr val="FF0000"/>
                </a:solidFill>
              </a:rPr>
              <a:t>W </a:t>
            </a:r>
            <a:r>
              <a:rPr lang="en-US" altLang="zh-TW" sz="2800" dirty="0" smtClean="0">
                <a:solidFill>
                  <a:srgbClr val="FF0000"/>
                </a:solidFill>
              </a:rPr>
              <a:t>= 0,</a:t>
            </a:r>
          </a:p>
          <a:p>
            <a:pPr algn="ctr"/>
            <a:r>
              <a:rPr lang="en-US" altLang="zh-TW" sz="2800" dirty="0" smtClean="0"/>
              <a:t>g is differential of G</a:t>
            </a:r>
            <a:endParaRPr lang="zh-TW" altLang="en-US" sz="2800" baseline="30000" dirty="0"/>
          </a:p>
        </p:txBody>
      </p:sp>
      <p:pic>
        <p:nvPicPr>
          <p:cNvPr id="76802" name="Picture 2"/>
          <p:cNvPicPr>
            <a:picLocks noChangeAspect="1" noChangeArrowheads="1"/>
          </p:cNvPicPr>
          <p:nvPr/>
        </p:nvPicPr>
        <p:blipFill>
          <a:blip r:embed="rId4" cstate="print"/>
          <a:srcRect/>
          <a:stretch>
            <a:fillRect/>
          </a:stretch>
        </p:blipFill>
        <p:spPr bwMode="auto">
          <a:xfrm>
            <a:off x="4139952" y="5013176"/>
            <a:ext cx="4368552" cy="1430181"/>
          </a:xfrm>
          <a:prstGeom prst="rect">
            <a:avLst/>
          </a:prstGeom>
          <a:noFill/>
          <a:ln w="9525">
            <a:noFill/>
            <a:miter lim="800000"/>
            <a:headEnd/>
            <a:tailEnd/>
          </a:ln>
        </p:spPr>
      </p:pic>
      <p:graphicFrame>
        <p:nvGraphicFramePr>
          <p:cNvPr id="69634" name="Object 2"/>
          <p:cNvGraphicFramePr>
            <a:graphicFrameLocks noChangeAspect="1"/>
          </p:cNvGraphicFramePr>
          <p:nvPr/>
        </p:nvGraphicFramePr>
        <p:xfrm>
          <a:off x="755576" y="5229200"/>
          <a:ext cx="2819400" cy="1003300"/>
        </p:xfrm>
        <a:graphic>
          <a:graphicData uri="http://schemas.openxmlformats.org/presentationml/2006/ole">
            <p:oleObj spid="_x0000_s69634" name="Equation" r:id="rId5" imgW="1498320" imgH="533160" progId="Equation.3">
              <p:embed/>
            </p:oleObj>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611560" y="260648"/>
            <a:ext cx="7272808" cy="1384995"/>
          </a:xfrm>
          <a:prstGeom prst="rect">
            <a:avLst/>
          </a:prstGeom>
          <a:noFill/>
        </p:spPr>
        <p:txBody>
          <a:bodyPr wrap="square" rtlCol="0">
            <a:spAutoFit/>
          </a:bodyPr>
          <a:lstStyle/>
          <a:p>
            <a:r>
              <a:rPr lang="en-US" altLang="zh-TW" sz="2800" dirty="0" err="1" smtClean="0"/>
              <a:t>Jacobian</a:t>
            </a:r>
            <a:r>
              <a:rPr lang="en-US" altLang="zh-TW" sz="2800" dirty="0" smtClean="0"/>
              <a:t> matrix </a:t>
            </a:r>
            <a:r>
              <a:rPr lang="en-US" altLang="zh-TW" sz="2800" i="1" dirty="0" smtClean="0"/>
              <a:t>JF</a:t>
            </a:r>
            <a:r>
              <a:rPr lang="en-US" altLang="zh-TW" sz="2800" dirty="0" smtClean="0"/>
              <a:t>(</a:t>
            </a:r>
            <a:r>
              <a:rPr lang="en-US" altLang="zh-TW" sz="2800" i="1" dirty="0" smtClean="0"/>
              <a:t>W</a:t>
            </a:r>
            <a:r>
              <a:rPr lang="en-US" altLang="zh-TW" sz="2800" dirty="0" smtClean="0"/>
              <a:t>):</a:t>
            </a:r>
          </a:p>
          <a:p>
            <a:pPr algn="ctr"/>
            <a:r>
              <a:rPr lang="en-US" altLang="zh-TW" sz="2800" dirty="0" smtClean="0"/>
              <a:t>J</a:t>
            </a:r>
            <a:r>
              <a:rPr lang="en-US" altLang="zh-TW" sz="2800" i="1" dirty="0" smtClean="0"/>
              <a:t>F</a:t>
            </a:r>
            <a:r>
              <a:rPr lang="en-US" altLang="zh-TW" sz="2800" dirty="0" smtClean="0"/>
              <a:t>(</a:t>
            </a:r>
            <a:r>
              <a:rPr lang="en-US" altLang="zh-TW" sz="2800" i="1" dirty="0" smtClean="0"/>
              <a:t>W</a:t>
            </a:r>
            <a:r>
              <a:rPr lang="en-US" altLang="zh-TW" sz="2800" dirty="0" smtClean="0"/>
              <a:t>) = E{</a:t>
            </a:r>
            <a:r>
              <a:rPr lang="en-US" altLang="zh-TW" sz="2800" i="1" dirty="0" err="1" smtClean="0"/>
              <a:t>XX</a:t>
            </a:r>
            <a:r>
              <a:rPr lang="en-US" altLang="zh-TW" sz="2800" baseline="30000" dirty="0" err="1" smtClean="0"/>
              <a:t>T</a:t>
            </a:r>
            <a:r>
              <a:rPr lang="en-US" altLang="zh-TW" sz="2800" i="1" dirty="0" err="1" smtClean="0"/>
              <a:t>g</a:t>
            </a:r>
            <a:r>
              <a:rPr lang="en-US" altLang="zh-TW" sz="2800" dirty="0" smtClean="0"/>
              <a:t>’(</a:t>
            </a:r>
            <a:r>
              <a:rPr lang="en-US" altLang="zh-TW" sz="2800" i="1" dirty="0" smtClean="0"/>
              <a:t>W</a:t>
            </a:r>
            <a:r>
              <a:rPr lang="en-US" altLang="zh-TW" sz="2800" baseline="30000" dirty="0" smtClean="0"/>
              <a:t>T</a:t>
            </a:r>
            <a:r>
              <a:rPr lang="en-US" altLang="zh-TW" sz="2800" i="1" dirty="0" smtClean="0"/>
              <a:t>X</a:t>
            </a:r>
            <a:r>
              <a:rPr lang="en-US" altLang="zh-TW" sz="2800" dirty="0" smtClean="0"/>
              <a:t>)}-</a:t>
            </a:r>
            <a:r>
              <a:rPr lang="el-GR" altLang="zh-TW" sz="2800" dirty="0" smtClean="0">
                <a:solidFill>
                  <a:srgbClr val="FF0000"/>
                </a:solidFill>
              </a:rPr>
              <a:t> </a:t>
            </a:r>
            <a:r>
              <a:rPr lang="el-GR" altLang="zh-TW" sz="2800" i="1" dirty="0" smtClean="0"/>
              <a:t>β</a:t>
            </a:r>
            <a:r>
              <a:rPr lang="en-US" altLang="zh-TW" sz="2800" i="1" dirty="0" smtClean="0"/>
              <a:t>I</a:t>
            </a:r>
          </a:p>
          <a:p>
            <a:pPr algn="ctr"/>
            <a:r>
              <a:rPr lang="en-US" altLang="zh-TW" sz="2800" dirty="0" smtClean="0"/>
              <a:t>E{</a:t>
            </a:r>
            <a:r>
              <a:rPr lang="en-US" altLang="zh-TW" sz="2800" i="1" dirty="0" err="1" smtClean="0"/>
              <a:t>XX</a:t>
            </a:r>
            <a:r>
              <a:rPr lang="en-US" altLang="zh-TW" sz="2800" baseline="30000" dirty="0" err="1" smtClean="0"/>
              <a:t>T</a:t>
            </a:r>
            <a:r>
              <a:rPr lang="en-US" altLang="zh-TW" sz="2800" i="1" dirty="0" err="1" smtClean="0"/>
              <a:t>g</a:t>
            </a:r>
            <a:r>
              <a:rPr lang="en-US" altLang="zh-TW" sz="2800" dirty="0" smtClean="0"/>
              <a:t>’(</a:t>
            </a:r>
            <a:r>
              <a:rPr lang="en-US" altLang="zh-TW" sz="2800" i="1" dirty="0" smtClean="0"/>
              <a:t>W</a:t>
            </a:r>
            <a:r>
              <a:rPr lang="en-US" altLang="zh-TW" sz="2800" baseline="30000" dirty="0" smtClean="0"/>
              <a:t>T</a:t>
            </a:r>
            <a:r>
              <a:rPr lang="en-US" altLang="zh-TW" sz="2800" i="1" dirty="0" smtClean="0"/>
              <a:t>X</a:t>
            </a:r>
            <a:r>
              <a:rPr lang="en-US" altLang="zh-TW" sz="2800" dirty="0" smtClean="0"/>
              <a:t>)} ≒ E{</a:t>
            </a:r>
            <a:r>
              <a:rPr lang="en-US" altLang="zh-TW" sz="2800" i="1" dirty="0" smtClean="0"/>
              <a:t>XX</a:t>
            </a:r>
            <a:r>
              <a:rPr lang="en-US" altLang="zh-TW" sz="2800" baseline="30000" dirty="0" smtClean="0"/>
              <a:t>T</a:t>
            </a:r>
            <a:r>
              <a:rPr lang="en-US" altLang="zh-TW" sz="2800" dirty="0" smtClean="0"/>
              <a:t>} E{</a:t>
            </a:r>
            <a:r>
              <a:rPr lang="en-US" altLang="zh-TW" sz="2800" i="1" dirty="0" smtClean="0"/>
              <a:t>g</a:t>
            </a:r>
            <a:r>
              <a:rPr lang="en-US" altLang="zh-TW" sz="2800" dirty="0" smtClean="0"/>
              <a:t>’(</a:t>
            </a:r>
            <a:r>
              <a:rPr lang="en-US" altLang="zh-TW" sz="2800" i="1" dirty="0" smtClean="0"/>
              <a:t>W</a:t>
            </a:r>
            <a:r>
              <a:rPr lang="en-US" altLang="zh-TW" sz="2800" baseline="30000" dirty="0" smtClean="0"/>
              <a:t>T</a:t>
            </a:r>
            <a:r>
              <a:rPr lang="en-US" altLang="zh-TW" sz="2800" i="1" dirty="0" smtClean="0"/>
              <a:t>X</a:t>
            </a:r>
            <a:r>
              <a:rPr lang="en-US" altLang="zh-TW" sz="2800" dirty="0" smtClean="0"/>
              <a:t>)}= E{</a:t>
            </a:r>
            <a:r>
              <a:rPr lang="en-US" altLang="zh-TW" sz="2800" i="1" dirty="0" smtClean="0"/>
              <a:t>g</a:t>
            </a:r>
            <a:r>
              <a:rPr lang="en-US" altLang="zh-TW" sz="2800" dirty="0" smtClean="0"/>
              <a:t>’(</a:t>
            </a:r>
            <a:r>
              <a:rPr lang="en-US" altLang="zh-TW" sz="2800" i="1" dirty="0" smtClean="0"/>
              <a:t>W</a:t>
            </a:r>
            <a:r>
              <a:rPr lang="en-US" altLang="zh-TW" sz="2800" baseline="30000" dirty="0" smtClean="0"/>
              <a:t>T</a:t>
            </a:r>
            <a:r>
              <a:rPr lang="en-US" altLang="zh-TW" sz="2800" i="1" dirty="0" smtClean="0"/>
              <a:t>X</a:t>
            </a:r>
            <a:r>
              <a:rPr lang="en-US" altLang="zh-TW" sz="2800" dirty="0" smtClean="0"/>
              <a:t>)}</a:t>
            </a:r>
            <a:r>
              <a:rPr lang="en-US" altLang="zh-TW" sz="2800" i="1" dirty="0" smtClean="0"/>
              <a:t>I</a:t>
            </a:r>
            <a:r>
              <a:rPr lang="en-US" altLang="zh-TW" sz="2800" dirty="0" smtClean="0"/>
              <a:t> </a:t>
            </a:r>
            <a:endParaRPr lang="zh-TW" altLang="en-US" sz="2800" dirty="0"/>
          </a:p>
        </p:txBody>
      </p:sp>
      <p:sp>
        <p:nvSpPr>
          <p:cNvPr id="5" name="文字方塊 4"/>
          <p:cNvSpPr txBox="1"/>
          <p:nvPr/>
        </p:nvSpPr>
        <p:spPr>
          <a:xfrm>
            <a:off x="395536" y="2204864"/>
            <a:ext cx="7272808" cy="1384995"/>
          </a:xfrm>
          <a:prstGeom prst="rect">
            <a:avLst/>
          </a:prstGeom>
          <a:noFill/>
        </p:spPr>
        <p:txBody>
          <a:bodyPr wrap="square" rtlCol="0">
            <a:spAutoFit/>
          </a:bodyPr>
          <a:lstStyle/>
          <a:p>
            <a:r>
              <a:rPr lang="en-US" altLang="zh-TW" sz="2800" dirty="0" smtClean="0">
                <a:solidFill>
                  <a:srgbClr val="FF0000"/>
                </a:solidFill>
              </a:rPr>
              <a:t>Newton iteration (to find max value):</a:t>
            </a:r>
          </a:p>
          <a:p>
            <a:pPr algn="ctr"/>
            <a:r>
              <a:rPr lang="en-US" altLang="zh-TW" sz="2800" i="1" dirty="0" smtClean="0"/>
              <a:t>W</a:t>
            </a:r>
            <a:r>
              <a:rPr lang="en-US" altLang="zh-TW" sz="2800" baseline="30000" dirty="0" smtClean="0"/>
              <a:t>+</a:t>
            </a:r>
            <a:r>
              <a:rPr lang="en-US" altLang="zh-TW" sz="2800" dirty="0" smtClean="0"/>
              <a:t>= W – [E{</a:t>
            </a:r>
            <a:r>
              <a:rPr lang="en-US" altLang="zh-TW" sz="2800" i="1" dirty="0" err="1" smtClean="0"/>
              <a:t>X</a:t>
            </a:r>
            <a:r>
              <a:rPr lang="en-US" altLang="zh-TW" sz="2800" dirty="0" err="1" smtClean="0"/>
              <a:t>g</a:t>
            </a:r>
            <a:r>
              <a:rPr lang="en-US" altLang="zh-TW" sz="2800" dirty="0" smtClean="0"/>
              <a:t>(</a:t>
            </a:r>
            <a:r>
              <a:rPr lang="en-US" altLang="zh-TW" sz="2800" i="1" dirty="0" smtClean="0"/>
              <a:t>W</a:t>
            </a:r>
            <a:r>
              <a:rPr lang="en-US" altLang="zh-TW" sz="2800" baseline="30000" dirty="0" smtClean="0"/>
              <a:t>T</a:t>
            </a:r>
            <a:r>
              <a:rPr lang="en-US" altLang="zh-TW" sz="2800" i="1" dirty="0" smtClean="0"/>
              <a:t>X</a:t>
            </a:r>
            <a:r>
              <a:rPr lang="en-US" altLang="zh-TW" sz="2800" dirty="0" smtClean="0"/>
              <a:t>)}- </a:t>
            </a:r>
            <a:r>
              <a:rPr lang="el-GR" altLang="zh-TW" sz="2800" dirty="0" smtClean="0"/>
              <a:t>β</a:t>
            </a:r>
            <a:r>
              <a:rPr lang="en-US" altLang="zh-TW" sz="2800" i="1" dirty="0" smtClean="0"/>
              <a:t>W]/[</a:t>
            </a:r>
            <a:r>
              <a:rPr lang="en-US" altLang="zh-TW" sz="2800" dirty="0" smtClean="0"/>
              <a:t>E{</a:t>
            </a:r>
            <a:r>
              <a:rPr lang="en-US" altLang="zh-TW" sz="2800" i="1" dirty="0" smtClean="0"/>
              <a:t>g</a:t>
            </a:r>
            <a:r>
              <a:rPr lang="en-US" altLang="zh-TW" sz="2800" dirty="0" smtClean="0"/>
              <a:t>’(</a:t>
            </a:r>
            <a:r>
              <a:rPr lang="en-US" altLang="zh-TW" sz="2800" i="1" dirty="0" smtClean="0"/>
              <a:t>W</a:t>
            </a:r>
            <a:r>
              <a:rPr lang="en-US" altLang="zh-TW" sz="2800" baseline="30000" dirty="0" smtClean="0"/>
              <a:t>T</a:t>
            </a:r>
            <a:r>
              <a:rPr lang="en-US" altLang="zh-TW" sz="2800" i="1" dirty="0" smtClean="0"/>
              <a:t>X</a:t>
            </a:r>
            <a:r>
              <a:rPr lang="en-US" altLang="zh-TW" sz="2800" dirty="0" smtClean="0"/>
              <a:t>)}</a:t>
            </a:r>
            <a:r>
              <a:rPr lang="en-US" altLang="zh-TW" sz="2800" i="1" dirty="0" smtClean="0"/>
              <a:t>-</a:t>
            </a:r>
            <a:r>
              <a:rPr lang="el-GR" altLang="zh-TW" sz="2800" dirty="0" smtClean="0"/>
              <a:t> β</a:t>
            </a:r>
            <a:r>
              <a:rPr lang="en-US" altLang="zh-TW" sz="2800" dirty="0" smtClean="0"/>
              <a:t>]</a:t>
            </a:r>
            <a:endParaRPr lang="zh-TW" altLang="en-US" sz="2800" dirty="0" smtClean="0"/>
          </a:p>
          <a:p>
            <a:endParaRPr lang="zh-TW" altLang="en-US" sz="2800" dirty="0"/>
          </a:p>
        </p:txBody>
      </p:sp>
      <p:sp>
        <p:nvSpPr>
          <p:cNvPr id="6" name="矩形 5"/>
          <p:cNvSpPr/>
          <p:nvPr/>
        </p:nvSpPr>
        <p:spPr>
          <a:xfrm>
            <a:off x="467544" y="3717032"/>
            <a:ext cx="4839338" cy="523220"/>
          </a:xfrm>
          <a:prstGeom prst="rect">
            <a:avLst/>
          </a:prstGeom>
        </p:spPr>
        <p:txBody>
          <a:bodyPr wrap="none">
            <a:spAutoFit/>
          </a:bodyPr>
          <a:lstStyle/>
          <a:p>
            <a:r>
              <a:rPr lang="en-US" altLang="zh-TW" sz="2800" dirty="0" smtClean="0">
                <a:solidFill>
                  <a:srgbClr val="FF0000"/>
                </a:solidFill>
              </a:rPr>
              <a:t>We get the </a:t>
            </a:r>
            <a:r>
              <a:rPr lang="en-US" altLang="zh-TW" sz="2800" dirty="0" err="1" smtClean="0">
                <a:solidFill>
                  <a:srgbClr val="FF0000"/>
                </a:solidFill>
              </a:rPr>
              <a:t>FastICA</a:t>
            </a:r>
            <a:r>
              <a:rPr lang="en-US" altLang="zh-TW" sz="2800" dirty="0" smtClean="0">
                <a:solidFill>
                  <a:srgbClr val="FF0000"/>
                </a:solidFill>
              </a:rPr>
              <a:t> for one unit:</a:t>
            </a:r>
            <a:endParaRPr lang="zh-TW" altLang="en-US" sz="2800" dirty="0">
              <a:solidFill>
                <a:srgbClr val="FF0000"/>
              </a:solidFill>
            </a:endParaRPr>
          </a:p>
        </p:txBody>
      </p:sp>
      <p:pic>
        <p:nvPicPr>
          <p:cNvPr id="72706" name="Picture 2"/>
          <p:cNvPicPr>
            <a:picLocks noChangeAspect="1" noChangeArrowheads="1"/>
          </p:cNvPicPr>
          <p:nvPr/>
        </p:nvPicPr>
        <p:blipFill>
          <a:blip r:embed="rId2" cstate="print"/>
          <a:srcRect/>
          <a:stretch>
            <a:fillRect/>
          </a:stretch>
        </p:blipFill>
        <p:spPr bwMode="auto">
          <a:xfrm>
            <a:off x="827584" y="4375668"/>
            <a:ext cx="7291164" cy="2437708"/>
          </a:xfrm>
          <a:prstGeom prst="rect">
            <a:avLst/>
          </a:prstGeom>
          <a:noFill/>
          <a:ln w="9525">
            <a:noFill/>
            <a:miter lim="800000"/>
            <a:headEnd/>
            <a:tailEnd/>
          </a:ln>
        </p:spPr>
      </p:pic>
      <p:pic>
        <p:nvPicPr>
          <p:cNvPr id="10" name="圖片 9" descr="51a568a1f4b9385f68058ee89adbcfff.png"/>
          <p:cNvPicPr>
            <a:picLocks noChangeAspect="1"/>
          </p:cNvPicPr>
          <p:nvPr/>
        </p:nvPicPr>
        <p:blipFill>
          <a:blip r:embed="rId3" cstate="print"/>
          <a:stretch>
            <a:fillRect/>
          </a:stretch>
        </p:blipFill>
        <p:spPr>
          <a:xfrm>
            <a:off x="6732240" y="2060848"/>
            <a:ext cx="2088232" cy="576064"/>
          </a:xfrm>
          <a:prstGeom prst="rect">
            <a:avLst/>
          </a:prstGeom>
        </p:spPr>
      </p:pic>
      <p:pic>
        <p:nvPicPr>
          <p:cNvPr id="7" name="圖片 6" descr="img133.gif"/>
          <p:cNvPicPr>
            <a:picLocks noChangeAspect="1"/>
          </p:cNvPicPr>
          <p:nvPr/>
        </p:nvPicPr>
        <p:blipFill>
          <a:blip r:embed="rId4" cstate="print"/>
          <a:stretch>
            <a:fillRect/>
          </a:stretch>
        </p:blipFill>
        <p:spPr>
          <a:xfrm>
            <a:off x="6516216" y="2988915"/>
            <a:ext cx="2283566" cy="137618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FastICA</a:t>
            </a:r>
            <a:r>
              <a:rPr lang="en-US" altLang="zh-TW" dirty="0" smtClean="0"/>
              <a:t> for several units</a:t>
            </a:r>
            <a:endParaRPr lang="zh-TW" altLang="en-US" dirty="0"/>
          </a:p>
        </p:txBody>
      </p:sp>
      <p:sp>
        <p:nvSpPr>
          <p:cNvPr id="4" name="矩形 3"/>
          <p:cNvSpPr/>
          <p:nvPr/>
        </p:nvSpPr>
        <p:spPr>
          <a:xfrm>
            <a:off x="827584" y="1412776"/>
            <a:ext cx="7315785" cy="1384995"/>
          </a:xfrm>
          <a:prstGeom prst="rect">
            <a:avLst/>
          </a:prstGeom>
        </p:spPr>
        <p:txBody>
          <a:bodyPr wrap="none">
            <a:spAutoFit/>
          </a:bodyPr>
          <a:lstStyle/>
          <a:p>
            <a:r>
              <a:rPr lang="en-US" altLang="zh-TW" sz="2800" dirty="0" smtClean="0"/>
              <a:t>Assume several units</a:t>
            </a:r>
            <a:r>
              <a:rPr lang="en-US" altLang="zh-TW" sz="2800" i="1" dirty="0" smtClean="0"/>
              <a:t> W</a:t>
            </a:r>
            <a:r>
              <a:rPr lang="en-US" altLang="zh-TW" sz="2800" baseline="-25000" dirty="0" smtClean="0"/>
              <a:t>1</a:t>
            </a:r>
            <a:r>
              <a:rPr lang="en-US" altLang="zh-TW" sz="2800" dirty="0" smtClean="0"/>
              <a:t>,</a:t>
            </a:r>
            <a:r>
              <a:rPr lang="en-US" altLang="zh-TW" sz="2800" i="1" dirty="0" smtClean="0"/>
              <a:t>W</a:t>
            </a:r>
            <a:r>
              <a:rPr lang="en-US" altLang="zh-TW" sz="2800" baseline="-25000" dirty="0" smtClean="0"/>
              <a:t>2</a:t>
            </a:r>
            <a:r>
              <a:rPr lang="en-US" altLang="zh-TW" sz="2800" dirty="0" smtClean="0"/>
              <a:t>…,</a:t>
            </a:r>
            <a:r>
              <a:rPr lang="en-US" altLang="zh-TW" sz="2800" i="1" dirty="0" err="1" smtClean="0"/>
              <a:t>W</a:t>
            </a:r>
            <a:r>
              <a:rPr lang="en-US" altLang="zh-TW" sz="2800" i="1" baseline="-25000" dirty="0" err="1" smtClean="0"/>
              <a:t>n</a:t>
            </a:r>
            <a:endParaRPr lang="en-US" altLang="zh-TW" sz="2800" dirty="0" smtClean="0"/>
          </a:p>
          <a:p>
            <a:r>
              <a:rPr lang="en-US" altLang="zh-TW" sz="2800" dirty="0" smtClean="0"/>
              <a:t>Because </a:t>
            </a:r>
            <a:r>
              <a:rPr lang="en-US" altLang="zh-TW" sz="2800" i="1" dirty="0" smtClean="0"/>
              <a:t>W</a:t>
            </a:r>
            <a:r>
              <a:rPr lang="en-US" altLang="zh-TW" sz="2800" baseline="-25000" dirty="0" smtClean="0"/>
              <a:t>1</a:t>
            </a:r>
            <a:r>
              <a:rPr lang="en-US" altLang="zh-TW" sz="2800" i="1" dirty="0" smtClean="0"/>
              <a:t>X</a:t>
            </a:r>
            <a:r>
              <a:rPr lang="en-US" altLang="zh-TW" sz="2800" dirty="0" smtClean="0"/>
              <a:t>,…,</a:t>
            </a:r>
            <a:r>
              <a:rPr lang="en-US" altLang="zh-TW" sz="2800" i="1" dirty="0" err="1" smtClean="0"/>
              <a:t>W</a:t>
            </a:r>
            <a:r>
              <a:rPr lang="en-US" altLang="zh-TW" sz="2800" i="1" baseline="-25000" dirty="0" err="1" smtClean="0"/>
              <a:t>n</a:t>
            </a:r>
            <a:r>
              <a:rPr lang="en-US" altLang="zh-TW" sz="2800" i="1" dirty="0" err="1" smtClean="0"/>
              <a:t>X</a:t>
            </a:r>
            <a:r>
              <a:rPr lang="en-US" altLang="zh-TW" sz="2800" dirty="0" smtClean="0"/>
              <a:t> are correlated</a:t>
            </a:r>
          </a:p>
          <a:p>
            <a:r>
              <a:rPr lang="en-US" altLang="zh-TW" sz="2800" dirty="0" smtClean="0"/>
              <a:t>We have to </a:t>
            </a:r>
            <a:r>
              <a:rPr lang="en-US" altLang="zh-TW" sz="2800" dirty="0" err="1" smtClean="0">
                <a:solidFill>
                  <a:srgbClr val="FF0000"/>
                </a:solidFill>
              </a:rPr>
              <a:t>decorrelate</a:t>
            </a:r>
            <a:r>
              <a:rPr lang="en-US" altLang="zh-TW" sz="2800" dirty="0" smtClean="0"/>
              <a:t> them after each iteration</a:t>
            </a:r>
            <a:endParaRPr lang="zh-TW" altLang="en-US" sz="2800" dirty="0"/>
          </a:p>
        </p:txBody>
      </p:sp>
      <p:sp>
        <p:nvSpPr>
          <p:cNvPr id="5" name="文字方塊 4"/>
          <p:cNvSpPr txBox="1"/>
          <p:nvPr/>
        </p:nvSpPr>
        <p:spPr>
          <a:xfrm>
            <a:off x="467544" y="2924944"/>
            <a:ext cx="6408712" cy="523220"/>
          </a:xfrm>
          <a:prstGeom prst="rect">
            <a:avLst/>
          </a:prstGeom>
          <a:noFill/>
        </p:spPr>
        <p:txBody>
          <a:bodyPr wrap="square" rtlCol="0">
            <a:spAutoFit/>
          </a:bodyPr>
          <a:lstStyle/>
          <a:p>
            <a:r>
              <a:rPr lang="en-US" altLang="zh-TW" sz="2800" dirty="0" smtClean="0"/>
              <a:t>Method 1 (as </a:t>
            </a:r>
            <a:r>
              <a:rPr lang="en-US" altLang="zh-TW" sz="2800" dirty="0" smtClean="0">
                <a:hlinkClick r:id="rId2"/>
              </a:rPr>
              <a:t>Gram–Schmidt process</a:t>
            </a:r>
            <a:r>
              <a:rPr lang="en-US" altLang="zh-TW" sz="2800" dirty="0" smtClean="0"/>
              <a:t>):</a:t>
            </a:r>
            <a:endParaRPr lang="zh-TW" altLang="en-US" sz="2800" dirty="0"/>
          </a:p>
        </p:txBody>
      </p:sp>
      <p:pic>
        <p:nvPicPr>
          <p:cNvPr id="73730" name="Picture 2"/>
          <p:cNvPicPr>
            <a:picLocks noChangeAspect="1" noChangeArrowheads="1"/>
          </p:cNvPicPr>
          <p:nvPr/>
        </p:nvPicPr>
        <p:blipFill>
          <a:blip r:embed="rId3" cstate="print"/>
          <a:srcRect/>
          <a:stretch>
            <a:fillRect/>
          </a:stretch>
        </p:blipFill>
        <p:spPr bwMode="auto">
          <a:xfrm>
            <a:off x="971600" y="4581128"/>
            <a:ext cx="6984776" cy="1872208"/>
          </a:xfrm>
          <a:prstGeom prst="rect">
            <a:avLst/>
          </a:prstGeom>
          <a:noFill/>
          <a:ln w="9525">
            <a:noFill/>
            <a:miter lim="800000"/>
            <a:headEnd/>
            <a:tailEnd/>
          </a:ln>
        </p:spPr>
      </p:pic>
      <p:sp>
        <p:nvSpPr>
          <p:cNvPr id="6" name="文字方塊 5"/>
          <p:cNvSpPr txBox="1"/>
          <p:nvPr/>
        </p:nvSpPr>
        <p:spPr>
          <a:xfrm>
            <a:off x="395536" y="3429000"/>
            <a:ext cx="8640960" cy="954107"/>
          </a:xfrm>
          <a:prstGeom prst="rect">
            <a:avLst/>
          </a:prstGeom>
          <a:noFill/>
        </p:spPr>
        <p:txBody>
          <a:bodyPr wrap="square" rtlCol="0">
            <a:spAutoFit/>
          </a:bodyPr>
          <a:lstStyle/>
          <a:p>
            <a:pPr>
              <a:buFont typeface="Arial" pitchFamily="34" charset="0"/>
              <a:buChar char="•"/>
            </a:pPr>
            <a:r>
              <a:rPr lang="en-US" altLang="zh-TW" sz="2800" dirty="0" smtClean="0"/>
              <a:t>Assuming there are </a:t>
            </a:r>
            <a:r>
              <a:rPr lang="en-US" altLang="zh-TW" sz="2800" i="1" dirty="0" smtClean="0"/>
              <a:t>p</a:t>
            </a:r>
            <a:r>
              <a:rPr lang="en-US" altLang="zh-TW" sz="2800" dirty="0" smtClean="0"/>
              <a:t> independent components </a:t>
            </a:r>
          </a:p>
          <a:p>
            <a:r>
              <a:rPr lang="en-US" altLang="zh-TW" sz="2800" i="1" dirty="0" smtClean="0"/>
              <a:t>w</a:t>
            </a:r>
            <a:r>
              <a:rPr lang="en-US" altLang="zh-TW" sz="2800" baseline="-25000" dirty="0" smtClean="0"/>
              <a:t>1</a:t>
            </a:r>
            <a:r>
              <a:rPr lang="en-US" altLang="zh-TW" sz="2800" dirty="0" smtClean="0"/>
              <a:t>, </a:t>
            </a:r>
            <a:r>
              <a:rPr lang="en-US" altLang="zh-TW" sz="2800" i="1" dirty="0" smtClean="0"/>
              <a:t>w</a:t>
            </a:r>
            <a:r>
              <a:rPr lang="en-US" altLang="zh-TW" sz="2800" baseline="-25000" dirty="0" smtClean="0"/>
              <a:t>2</a:t>
            </a:r>
            <a:r>
              <a:rPr lang="en-US" altLang="zh-TW" sz="2800" dirty="0" smtClean="0"/>
              <a:t>,…,</a:t>
            </a:r>
            <a:r>
              <a:rPr lang="en-US" altLang="zh-TW" sz="2800" i="1" dirty="0" err="1" smtClean="0"/>
              <a:t>w</a:t>
            </a:r>
            <a:r>
              <a:rPr lang="en-US" altLang="zh-TW" sz="2800" i="1" baseline="-25000" dirty="0" err="1" smtClean="0"/>
              <a:t>p</a:t>
            </a:r>
            <a:r>
              <a:rPr lang="en-US" altLang="zh-TW" sz="2800" dirty="0" smtClean="0"/>
              <a:t>, run previous one units method to get </a:t>
            </a:r>
            <a:r>
              <a:rPr lang="en-US" altLang="zh-TW" sz="2800" i="1" dirty="0" smtClean="0"/>
              <a:t>w</a:t>
            </a:r>
            <a:r>
              <a:rPr lang="en-US" altLang="zh-TW" sz="2800" i="1" baseline="-25000" dirty="0" smtClean="0"/>
              <a:t>p</a:t>
            </a:r>
            <a:r>
              <a:rPr lang="en-US" altLang="zh-TW" sz="2800" baseline="-25000" dirty="0" smtClean="0"/>
              <a:t>+1</a:t>
            </a:r>
            <a:r>
              <a:rPr lang="en-US" altLang="zh-TW" sz="2800" dirty="0" smtClean="0"/>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323528" y="332656"/>
            <a:ext cx="7560840" cy="1384995"/>
          </a:xfrm>
          <a:prstGeom prst="rect">
            <a:avLst/>
          </a:prstGeom>
          <a:noFill/>
        </p:spPr>
        <p:txBody>
          <a:bodyPr wrap="square" rtlCol="0">
            <a:spAutoFit/>
          </a:bodyPr>
          <a:lstStyle/>
          <a:p>
            <a:r>
              <a:rPr lang="en-US" altLang="zh-TW" sz="2800" dirty="0" smtClean="0"/>
              <a:t>Method 2 (to generate symmetric matrix W):</a:t>
            </a:r>
          </a:p>
          <a:p>
            <a:pPr>
              <a:buFont typeface="Arial" pitchFamily="34" charset="0"/>
              <a:buChar char="•"/>
            </a:pPr>
            <a:r>
              <a:rPr lang="en-US" altLang="zh-TW" sz="2800" dirty="0" smtClean="0"/>
              <a:t>W =(</a:t>
            </a:r>
            <a:r>
              <a:rPr lang="en-US" altLang="zh-TW" sz="2800" i="1" dirty="0" smtClean="0"/>
              <a:t>w</a:t>
            </a:r>
            <a:r>
              <a:rPr lang="en-US" altLang="zh-TW" sz="2800" baseline="-25000" dirty="0" smtClean="0"/>
              <a:t>1</a:t>
            </a:r>
            <a:r>
              <a:rPr lang="en-US" altLang="zh-TW" sz="2800" dirty="0" smtClean="0"/>
              <a:t>,</a:t>
            </a:r>
            <a:r>
              <a:rPr lang="en-US" altLang="zh-TW" sz="2800" i="1" dirty="0" smtClean="0"/>
              <a:t>w</a:t>
            </a:r>
            <a:r>
              <a:rPr lang="en-US" altLang="zh-TW" sz="2800" baseline="-25000" dirty="0" smtClean="0"/>
              <a:t>2</a:t>
            </a:r>
            <a:r>
              <a:rPr lang="en-US" altLang="zh-TW" sz="2800" dirty="0" smtClean="0"/>
              <a:t>,…,</a:t>
            </a:r>
            <a:r>
              <a:rPr lang="en-US" altLang="zh-TW" sz="2800" i="1" dirty="0" err="1" smtClean="0"/>
              <a:t>w</a:t>
            </a:r>
            <a:r>
              <a:rPr lang="en-US" altLang="zh-TW" sz="2800" i="1" baseline="-25000" dirty="0" err="1" smtClean="0"/>
              <a:t>n</a:t>
            </a:r>
            <a:r>
              <a:rPr lang="en-US" altLang="zh-TW" sz="2800" dirty="0" smtClean="0"/>
              <a:t>)</a:t>
            </a:r>
            <a:r>
              <a:rPr lang="en-US" altLang="zh-TW" sz="2800" baseline="30000" dirty="0" smtClean="0"/>
              <a:t>T</a:t>
            </a:r>
          </a:p>
          <a:p>
            <a:pPr>
              <a:buFont typeface="Arial" pitchFamily="34" charset="0"/>
              <a:buChar char="•"/>
            </a:pPr>
            <a:r>
              <a:rPr lang="en-US" altLang="zh-TW" sz="2800" dirty="0" smtClean="0"/>
              <a:t>EVD of </a:t>
            </a:r>
            <a:r>
              <a:rPr lang="en-US" altLang="zh-TW" sz="2800" i="1" dirty="0" smtClean="0"/>
              <a:t>WW</a:t>
            </a:r>
            <a:r>
              <a:rPr lang="en-US" altLang="zh-TW" sz="2800" baseline="30000" dirty="0" smtClean="0"/>
              <a:t>T</a:t>
            </a:r>
            <a:r>
              <a:rPr lang="en-US" altLang="zh-TW" sz="2800" dirty="0" smtClean="0"/>
              <a:t> = </a:t>
            </a:r>
            <a:r>
              <a:rPr lang="en-US" altLang="zh-TW" sz="2800" i="1" dirty="0" smtClean="0"/>
              <a:t>FDF</a:t>
            </a:r>
            <a:r>
              <a:rPr lang="en-US" altLang="zh-TW" sz="2800" baseline="30000" dirty="0" smtClean="0"/>
              <a:t>T</a:t>
            </a:r>
            <a:r>
              <a:rPr lang="en-US" altLang="zh-TW" sz="2800" dirty="0" smtClean="0"/>
              <a:t>, hence (</a:t>
            </a:r>
            <a:r>
              <a:rPr lang="en-US" altLang="zh-TW" sz="2800" i="1" dirty="0" smtClean="0"/>
              <a:t>WW</a:t>
            </a:r>
            <a:r>
              <a:rPr lang="en-US" altLang="zh-TW" sz="2800" baseline="30000" dirty="0" smtClean="0"/>
              <a:t>T</a:t>
            </a:r>
            <a:r>
              <a:rPr lang="en-US" altLang="zh-TW" sz="2800" dirty="0" smtClean="0"/>
              <a:t>)</a:t>
            </a:r>
            <a:r>
              <a:rPr lang="en-US" altLang="zh-TW" sz="2800" baseline="30000" dirty="0" smtClean="0"/>
              <a:t>-1/2</a:t>
            </a:r>
            <a:r>
              <a:rPr lang="en-US" altLang="zh-TW" sz="2800" dirty="0" smtClean="0"/>
              <a:t>= </a:t>
            </a:r>
            <a:r>
              <a:rPr lang="en-US" altLang="zh-TW" sz="2800" i="1" dirty="0" smtClean="0"/>
              <a:t>FD</a:t>
            </a:r>
            <a:r>
              <a:rPr lang="en-US" altLang="zh-TW" sz="2800" baseline="30000" dirty="0" smtClean="0"/>
              <a:t>-1/2</a:t>
            </a:r>
            <a:r>
              <a:rPr lang="en-US" altLang="zh-TW" sz="2800" i="1" dirty="0" smtClean="0"/>
              <a:t>F</a:t>
            </a:r>
            <a:r>
              <a:rPr lang="en-US" altLang="zh-TW" sz="2800" baseline="30000" dirty="0" smtClean="0"/>
              <a:t>T</a:t>
            </a:r>
          </a:p>
        </p:txBody>
      </p:sp>
      <p:pic>
        <p:nvPicPr>
          <p:cNvPr id="74754" name="Picture 2"/>
          <p:cNvPicPr>
            <a:picLocks noChangeAspect="1" noChangeArrowheads="1"/>
          </p:cNvPicPr>
          <p:nvPr/>
        </p:nvPicPr>
        <p:blipFill>
          <a:blip r:embed="rId2" cstate="print"/>
          <a:srcRect/>
          <a:stretch>
            <a:fillRect/>
          </a:stretch>
        </p:blipFill>
        <p:spPr bwMode="auto">
          <a:xfrm>
            <a:off x="1835696" y="2492896"/>
            <a:ext cx="4638675" cy="685800"/>
          </a:xfrm>
          <a:prstGeom prst="rect">
            <a:avLst/>
          </a:prstGeom>
          <a:noFill/>
          <a:ln w="9525">
            <a:noFill/>
            <a:miter lim="800000"/>
            <a:headEnd/>
            <a:tailEnd/>
          </a:ln>
        </p:spPr>
      </p:pic>
      <p:pic>
        <p:nvPicPr>
          <p:cNvPr id="74755" name="Picture 3"/>
          <p:cNvPicPr>
            <a:picLocks noChangeAspect="1" noChangeArrowheads="1"/>
          </p:cNvPicPr>
          <p:nvPr/>
        </p:nvPicPr>
        <p:blipFill>
          <a:blip r:embed="rId3" cstate="print"/>
          <a:srcRect/>
          <a:stretch>
            <a:fillRect/>
          </a:stretch>
        </p:blipFill>
        <p:spPr bwMode="auto">
          <a:xfrm>
            <a:off x="1691680" y="4293096"/>
            <a:ext cx="5410200" cy="1628775"/>
          </a:xfrm>
          <a:prstGeom prst="rect">
            <a:avLst/>
          </a:prstGeom>
          <a:noFill/>
          <a:ln w="9525">
            <a:noFill/>
            <a:miter lim="800000"/>
            <a:headEnd/>
            <a:tailEnd/>
          </a:ln>
        </p:spPr>
      </p:pic>
      <p:sp>
        <p:nvSpPr>
          <p:cNvPr id="5" name="文字方塊 4"/>
          <p:cNvSpPr txBox="1"/>
          <p:nvPr/>
        </p:nvSpPr>
        <p:spPr>
          <a:xfrm>
            <a:off x="467544" y="1988840"/>
            <a:ext cx="3024336" cy="523220"/>
          </a:xfrm>
          <a:prstGeom prst="rect">
            <a:avLst/>
          </a:prstGeom>
          <a:noFill/>
        </p:spPr>
        <p:txBody>
          <a:bodyPr wrap="square" rtlCol="0">
            <a:spAutoFit/>
          </a:bodyPr>
          <a:lstStyle/>
          <a:p>
            <a:r>
              <a:rPr lang="en-US" altLang="zh-TW" sz="2800" dirty="0" smtClean="0"/>
              <a:t>Classical method:</a:t>
            </a:r>
            <a:endParaRPr lang="zh-TW" altLang="en-US" sz="2800" dirty="0"/>
          </a:p>
        </p:txBody>
      </p:sp>
      <p:sp>
        <p:nvSpPr>
          <p:cNvPr id="6" name="矩形 5"/>
          <p:cNvSpPr/>
          <p:nvPr/>
        </p:nvSpPr>
        <p:spPr>
          <a:xfrm>
            <a:off x="539552" y="3717032"/>
            <a:ext cx="3118354" cy="523220"/>
          </a:xfrm>
          <a:prstGeom prst="rect">
            <a:avLst/>
          </a:prstGeom>
        </p:spPr>
        <p:txBody>
          <a:bodyPr wrap="none">
            <a:spAutoFit/>
          </a:bodyPr>
          <a:lstStyle/>
          <a:p>
            <a:r>
              <a:rPr lang="en-US" altLang="zh-TW" sz="2800" dirty="0" smtClean="0"/>
              <a:t>Alternative method:</a:t>
            </a:r>
            <a:endParaRPr lang="zh-TW" alt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FastICA</a:t>
            </a:r>
            <a:endParaRPr lang="zh-TW" altLang="en-US" dirty="0"/>
          </a:p>
        </p:txBody>
      </p:sp>
      <p:pic>
        <p:nvPicPr>
          <p:cNvPr id="75778" name="Picture 2"/>
          <p:cNvPicPr>
            <a:picLocks noChangeAspect="1" noChangeArrowheads="1"/>
          </p:cNvPicPr>
          <p:nvPr/>
        </p:nvPicPr>
        <p:blipFill>
          <a:blip r:embed="rId2" cstate="print"/>
          <a:srcRect/>
          <a:stretch>
            <a:fillRect/>
          </a:stretch>
        </p:blipFill>
        <p:spPr bwMode="auto">
          <a:xfrm>
            <a:off x="467544" y="1844824"/>
            <a:ext cx="8248650" cy="714375"/>
          </a:xfrm>
          <a:prstGeom prst="rect">
            <a:avLst/>
          </a:prstGeom>
          <a:noFill/>
          <a:ln w="9525">
            <a:noFill/>
            <a:miter lim="800000"/>
            <a:headEnd/>
            <a:tailEnd/>
          </a:ln>
        </p:spPr>
      </p:pic>
      <p:pic>
        <p:nvPicPr>
          <p:cNvPr id="75779" name="Picture 3"/>
          <p:cNvPicPr>
            <a:picLocks noChangeAspect="1" noChangeArrowheads="1"/>
          </p:cNvPicPr>
          <p:nvPr/>
        </p:nvPicPr>
        <p:blipFill>
          <a:blip r:embed="rId3" cstate="print"/>
          <a:srcRect/>
          <a:stretch>
            <a:fillRect/>
          </a:stretch>
        </p:blipFill>
        <p:spPr bwMode="auto">
          <a:xfrm>
            <a:off x="107504" y="3356992"/>
            <a:ext cx="8895926" cy="516062"/>
          </a:xfrm>
          <a:prstGeom prst="rect">
            <a:avLst/>
          </a:prstGeom>
          <a:noFill/>
          <a:ln w="9525">
            <a:noFill/>
            <a:miter lim="800000"/>
            <a:headEnd/>
            <a:tailEnd/>
          </a:ln>
        </p:spPr>
      </p:pic>
      <p:pic>
        <p:nvPicPr>
          <p:cNvPr id="5" name="Picture 2"/>
          <p:cNvPicPr>
            <a:picLocks noChangeAspect="1" noChangeArrowheads="1"/>
          </p:cNvPicPr>
          <p:nvPr/>
        </p:nvPicPr>
        <p:blipFill>
          <a:blip r:embed="rId4" cstate="print"/>
          <a:srcRect/>
          <a:stretch>
            <a:fillRect/>
          </a:stretch>
        </p:blipFill>
        <p:spPr bwMode="auto">
          <a:xfrm>
            <a:off x="1907704" y="4437112"/>
            <a:ext cx="4800600" cy="157162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Property of </a:t>
            </a:r>
            <a:r>
              <a:rPr lang="en-US" altLang="zh-TW" dirty="0" err="1" smtClean="0"/>
              <a:t>FastICA</a:t>
            </a:r>
            <a:endParaRPr lang="zh-TW" altLang="en-US" dirty="0"/>
          </a:p>
        </p:txBody>
      </p:sp>
      <p:sp>
        <p:nvSpPr>
          <p:cNvPr id="3" name="文字方塊 2"/>
          <p:cNvSpPr txBox="1"/>
          <p:nvPr/>
        </p:nvSpPr>
        <p:spPr>
          <a:xfrm>
            <a:off x="251520" y="1556792"/>
            <a:ext cx="8784976" cy="2610843"/>
          </a:xfrm>
          <a:prstGeom prst="rect">
            <a:avLst/>
          </a:prstGeom>
          <a:noFill/>
        </p:spPr>
        <p:txBody>
          <a:bodyPr wrap="square" rtlCol="0">
            <a:spAutoFit/>
          </a:bodyPr>
          <a:lstStyle/>
          <a:p>
            <a:pPr marL="514350" indent="-514350">
              <a:lnSpc>
                <a:spcPct val="150000"/>
              </a:lnSpc>
              <a:buFont typeface="+mj-lt"/>
              <a:buAutoNum type="arabicPeriod"/>
            </a:pPr>
            <a:r>
              <a:rPr lang="en-US" altLang="zh-TW" sz="2800" dirty="0" smtClean="0"/>
              <a:t>Convergence of </a:t>
            </a:r>
            <a:r>
              <a:rPr lang="en-US" altLang="zh-TW" sz="2800" dirty="0" err="1" smtClean="0"/>
              <a:t>FastICA</a:t>
            </a:r>
            <a:r>
              <a:rPr lang="en-US" altLang="zh-TW" sz="2800" dirty="0" smtClean="0"/>
              <a:t> is cubic (at least quadratic), </a:t>
            </a:r>
            <a:br>
              <a:rPr lang="en-US" altLang="zh-TW" sz="2800" dirty="0" smtClean="0"/>
            </a:br>
            <a:r>
              <a:rPr lang="en-US" altLang="zh-TW" sz="2800" dirty="0" smtClean="0"/>
              <a:t>convergence of gradient-based method is only linear.</a:t>
            </a:r>
          </a:p>
          <a:p>
            <a:pPr marL="514350" indent="-514350">
              <a:lnSpc>
                <a:spcPct val="150000"/>
              </a:lnSpc>
              <a:buFont typeface="+mj-lt"/>
              <a:buAutoNum type="arabicPeriod"/>
            </a:pPr>
            <a:r>
              <a:rPr lang="en-US" altLang="zh-TW" sz="2800" dirty="0" smtClean="0"/>
              <a:t>Unlike gradient-based method, no step size parameters</a:t>
            </a:r>
          </a:p>
          <a:p>
            <a:pPr marL="514350" indent="-514350">
              <a:lnSpc>
                <a:spcPct val="150000"/>
              </a:lnSpc>
              <a:buFont typeface="+mj-lt"/>
              <a:buAutoNum type="arabicPeriod"/>
            </a:pPr>
            <a:r>
              <a:rPr lang="en-US" altLang="zh-TW" sz="2800" dirty="0" smtClean="0"/>
              <a:t>Using function </a:t>
            </a:r>
            <a:r>
              <a:rPr lang="en-US" altLang="zh-TW" sz="2800" i="1" dirty="0" smtClean="0"/>
              <a:t>g</a:t>
            </a:r>
            <a:r>
              <a:rPr lang="en-US" altLang="zh-TW" sz="2800" dirty="0" smtClean="0"/>
              <a:t> to finds independent component</a:t>
            </a:r>
            <a:endParaRPr lang="zh-TW" altLang="en-US" sz="2800" dirty="0"/>
          </a:p>
        </p:txBody>
      </p:sp>
      <p:sp>
        <p:nvSpPr>
          <p:cNvPr id="4" name="矩形 3"/>
          <p:cNvSpPr/>
          <p:nvPr/>
        </p:nvSpPr>
        <p:spPr>
          <a:xfrm>
            <a:off x="1187624" y="4869160"/>
            <a:ext cx="6261779" cy="954107"/>
          </a:xfrm>
          <a:prstGeom prst="rect">
            <a:avLst/>
          </a:prstGeom>
        </p:spPr>
        <p:txBody>
          <a:bodyPr wrap="none">
            <a:spAutoFit/>
          </a:bodyPr>
          <a:lstStyle/>
          <a:p>
            <a:r>
              <a:rPr lang="en-US" altLang="zh-TW" sz="2800" dirty="0" smtClean="0">
                <a:solidFill>
                  <a:srgbClr val="FF0000"/>
                </a:solidFill>
              </a:rPr>
              <a:t>Implementation (</a:t>
            </a:r>
            <a:r>
              <a:rPr lang="en-US" altLang="zh-TW" sz="2800" dirty="0" err="1" smtClean="0">
                <a:solidFill>
                  <a:srgbClr val="FF0000"/>
                </a:solidFill>
              </a:rPr>
              <a:t>Matlab</a:t>
            </a:r>
            <a:r>
              <a:rPr lang="en-US" altLang="zh-TW" sz="2800" dirty="0" smtClean="0">
                <a:solidFill>
                  <a:srgbClr val="FF0000"/>
                </a:solidFill>
              </a:rPr>
              <a:t>, R, C++, Python):</a:t>
            </a:r>
          </a:p>
          <a:p>
            <a:pPr algn="ctr"/>
            <a:r>
              <a:rPr lang="en-US" altLang="zh-TW" sz="2800" dirty="0" smtClean="0">
                <a:hlinkClick r:id="rId2"/>
              </a:rPr>
              <a:t>http://research.ics.tkk.fi/ica/fastica/</a:t>
            </a:r>
            <a:endParaRPr lang="zh-TW" alt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Hot issues</a:t>
            </a:r>
            <a:endParaRPr lang="zh-TW" altLang="en-US" dirty="0"/>
          </a:p>
        </p:txBody>
      </p:sp>
      <p:sp>
        <p:nvSpPr>
          <p:cNvPr id="3" name="文字方塊 2"/>
          <p:cNvSpPr txBox="1"/>
          <p:nvPr/>
        </p:nvSpPr>
        <p:spPr>
          <a:xfrm>
            <a:off x="179512" y="1556792"/>
            <a:ext cx="8640960" cy="4701928"/>
          </a:xfrm>
          <a:prstGeom prst="rect">
            <a:avLst/>
          </a:prstGeom>
          <a:noFill/>
        </p:spPr>
        <p:txBody>
          <a:bodyPr wrap="square" rtlCol="0">
            <a:spAutoFit/>
          </a:bodyPr>
          <a:lstStyle/>
          <a:p>
            <a:pPr marL="342900" indent="-342900">
              <a:lnSpc>
                <a:spcPts val="5200"/>
              </a:lnSpc>
              <a:buAutoNum type="arabicPeriod"/>
            </a:pPr>
            <a:r>
              <a:rPr lang="en-US" altLang="zh-TW" sz="3200" dirty="0" smtClean="0"/>
              <a:t>ICA model with noise</a:t>
            </a:r>
          </a:p>
          <a:p>
            <a:pPr marL="342900" indent="-342900">
              <a:lnSpc>
                <a:spcPts val="5200"/>
              </a:lnSpc>
              <a:buAutoNum type="arabicPeriod"/>
            </a:pPr>
            <a:r>
              <a:rPr lang="en-US" altLang="zh-TW" sz="3200" dirty="0" smtClean="0"/>
              <a:t>The number of source signals are not equal to the number of observed signals</a:t>
            </a:r>
          </a:p>
          <a:p>
            <a:pPr marL="342900" indent="-342900">
              <a:lnSpc>
                <a:spcPts val="5200"/>
              </a:lnSpc>
              <a:buAutoNum type="arabicPeriod"/>
            </a:pPr>
            <a:r>
              <a:rPr lang="en-US" altLang="zh-TW" sz="3200" dirty="0" smtClean="0"/>
              <a:t>Non-linear ICA, Kernel ICA</a:t>
            </a:r>
          </a:p>
          <a:p>
            <a:pPr marL="342900" indent="-342900">
              <a:lnSpc>
                <a:spcPts val="5200"/>
              </a:lnSpc>
              <a:buAutoNum type="arabicPeriod"/>
            </a:pPr>
            <a:r>
              <a:rPr lang="en-US" altLang="zh-TW" sz="3200" dirty="0" smtClean="0"/>
              <a:t>Complex number dataset</a:t>
            </a:r>
          </a:p>
          <a:p>
            <a:pPr marL="342900" indent="-342900">
              <a:lnSpc>
                <a:spcPts val="5200"/>
              </a:lnSpc>
              <a:buAutoNum type="arabicPeriod"/>
            </a:pPr>
            <a:r>
              <a:rPr lang="en-US" altLang="zh-TW" sz="3200" dirty="0" smtClean="0"/>
              <a:t>Blind </a:t>
            </a:r>
            <a:r>
              <a:rPr lang="en-US" altLang="zh-TW" sz="3200" dirty="0" err="1" smtClean="0"/>
              <a:t>deconvolution</a:t>
            </a:r>
            <a:r>
              <a:rPr lang="en-US" altLang="zh-TW" sz="3200" dirty="0" smtClean="0"/>
              <a:t>, Blind equalization</a:t>
            </a:r>
          </a:p>
          <a:p>
            <a:pPr marL="342900" indent="-342900">
              <a:lnSpc>
                <a:spcPts val="5200"/>
              </a:lnSpc>
              <a:buAutoNum type="arabicPeriod"/>
            </a:pPr>
            <a:r>
              <a:rPr lang="en-US" altLang="zh-TW" sz="3200" dirty="0" smtClean="0"/>
              <a:t>Independent measures</a:t>
            </a:r>
            <a:endParaRPr lang="zh-TW" altLang="en-US" sz="3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924944"/>
            <a:ext cx="8568952" cy="1143000"/>
          </a:xfrm>
        </p:spPr>
        <p:txBody>
          <a:bodyPr>
            <a:noAutofit/>
          </a:bodyPr>
          <a:lstStyle/>
          <a:p>
            <a:r>
              <a:rPr lang="en-US" altLang="zh-TW" sz="7200" dirty="0" smtClean="0"/>
              <a:t>Thank you!!</a:t>
            </a:r>
            <a:endParaRPr lang="zh-TW" altLang="en-US" sz="7200" dirty="0"/>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571</TotalTime>
  <Words>1433</Words>
  <Application>Microsoft Office PowerPoint</Application>
  <PresentationFormat>如螢幕大小 (4:3)</PresentationFormat>
  <Paragraphs>240</Paragraphs>
  <Slides>35</Slides>
  <Notes>1</Notes>
  <HiddenSlides>0</HiddenSlides>
  <MMClips>0</MMClips>
  <ScaleCrop>false</ScaleCrop>
  <HeadingPairs>
    <vt:vector size="6" baseType="variant">
      <vt:variant>
        <vt:lpstr>佈景主題</vt:lpstr>
      </vt:variant>
      <vt:variant>
        <vt:i4>1</vt:i4>
      </vt:variant>
      <vt:variant>
        <vt:lpstr>內嵌 OLE 伺服程式</vt:lpstr>
      </vt:variant>
      <vt:variant>
        <vt:i4>2</vt:i4>
      </vt:variant>
      <vt:variant>
        <vt:lpstr>投影片標題</vt:lpstr>
      </vt:variant>
      <vt:variant>
        <vt:i4>35</vt:i4>
      </vt:variant>
    </vt:vector>
  </HeadingPairs>
  <TitlesOfParts>
    <vt:vector size="38" baseType="lpstr">
      <vt:lpstr>Office 佈景主題</vt:lpstr>
      <vt:lpstr>Equation</vt:lpstr>
      <vt:lpstr>方程式</vt:lpstr>
      <vt:lpstr>Independent Component Analysis: Algorithm and Applications</vt:lpstr>
      <vt:lpstr>Abstract (1/2)</vt:lpstr>
      <vt:lpstr>Abstract (2/2)</vt:lpstr>
      <vt:lpstr>ICA</vt:lpstr>
      <vt:lpstr>Application-finance</vt:lpstr>
      <vt:lpstr>投影片 6</vt:lpstr>
      <vt:lpstr>Application-denoising</vt:lpstr>
      <vt:lpstr>Application-image separation</vt:lpstr>
      <vt:lpstr>The Principle of ICA: a cocktail-party problem</vt:lpstr>
      <vt:lpstr>Goal of ICA</vt:lpstr>
      <vt:lpstr>Mathematical representation</vt:lpstr>
      <vt:lpstr>Statistical independent</vt:lpstr>
      <vt:lpstr>Uncorrelated</vt:lpstr>
      <vt:lpstr>Central limit theorem</vt:lpstr>
      <vt:lpstr>How to estimate ICA model</vt:lpstr>
      <vt:lpstr>Measures of Non-Gaussianity (1) Kurtosis (峰態)</vt:lpstr>
      <vt:lpstr>投影片 17</vt:lpstr>
      <vt:lpstr>Measures of Non-Gaussianity (2) Neg-entropy</vt:lpstr>
      <vt:lpstr>投影片 19</vt:lpstr>
      <vt:lpstr>Approximation of the neg-entropy</vt:lpstr>
      <vt:lpstr>投影片 21</vt:lpstr>
      <vt:lpstr>Measures of Non-Gaussianity (3) Mutual information</vt:lpstr>
      <vt:lpstr>投影片 23</vt:lpstr>
      <vt:lpstr>ICA and mutual information</vt:lpstr>
      <vt:lpstr>Preprocess the data-whitening</vt:lpstr>
      <vt:lpstr>投影片 26</vt:lpstr>
      <vt:lpstr>投影片 27</vt:lpstr>
      <vt:lpstr>The FastICA algorithm for one unit</vt:lpstr>
      <vt:lpstr>投影片 29</vt:lpstr>
      <vt:lpstr>FastICA for several units</vt:lpstr>
      <vt:lpstr>投影片 31</vt:lpstr>
      <vt:lpstr>FastICA</vt:lpstr>
      <vt:lpstr>Property of FastICA</vt:lpstr>
      <vt:lpstr>Hot issues</vt:lpstr>
      <vt:lpstr>Thank you!!</vt:lpstr>
    </vt:vector>
  </TitlesOfParts>
  <Company>comstar</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Independent Component Analysis: Algorithm and Applications</dc:title>
  <dc:creator>chenhh</dc:creator>
  <cp:lastModifiedBy>chenhh</cp:lastModifiedBy>
  <cp:revision>284</cp:revision>
  <dcterms:created xsi:type="dcterms:W3CDTF">2011-05-07T15:03:23Z</dcterms:created>
  <dcterms:modified xsi:type="dcterms:W3CDTF">2011-05-10T06:54:25Z</dcterms:modified>
</cp:coreProperties>
</file>