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73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5" r:id="rId27"/>
    <p:sldId id="286" r:id="rId28"/>
    <p:sldId id="284" r:id="rId29"/>
    <p:sldId id="259" r:id="rId3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244" autoAdjust="0"/>
  </p:normalViewPr>
  <p:slideViewPr>
    <p:cSldViewPr>
      <p:cViewPr varScale="1">
        <p:scale>
          <a:sx n="81" d="100"/>
          <a:sy n="81" d="100"/>
        </p:scale>
        <p:origin x="-24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6A747-725B-422D-A1A2-130322013AF7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05833-4AFA-4F75-9060-0DB7F5B0C72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Robust </a:t>
            </a:r>
            <a:r>
              <a:rPr lang="zh-TW" altLang="en-US" dirty="0" smtClean="0"/>
              <a:t>用在很多地方 如</a:t>
            </a:r>
            <a:r>
              <a:rPr lang="en-US" altLang="zh-TW" dirty="0" smtClean="0"/>
              <a:t>PCA </a:t>
            </a:r>
            <a:r>
              <a:rPr lang="en-US" altLang="zh-TW" dirty="0" err="1" smtClean="0"/>
              <a:t>intervl</a:t>
            </a:r>
            <a:r>
              <a:rPr lang="en-US" altLang="zh-TW" dirty="0" smtClean="0"/>
              <a:t> regression</a:t>
            </a:r>
            <a:r>
              <a:rPr lang="zh-TW" altLang="en-US" dirty="0" smtClean="0"/>
              <a:t>等等方法中以用來解果</a:t>
            </a:r>
            <a:r>
              <a:rPr lang="en-US" altLang="zh-TW" dirty="0" smtClean="0"/>
              <a:t>outliers</a:t>
            </a:r>
            <a:r>
              <a:rPr lang="zh-TW" altLang="en-US" dirty="0" smtClean="0"/>
              <a:t>問題</a:t>
            </a:r>
            <a:endParaRPr lang="en-US" altLang="zh-TW" dirty="0" smtClean="0"/>
          </a:p>
          <a:p>
            <a:r>
              <a:rPr lang="zh-TW" altLang="en-US" dirty="0" smtClean="0"/>
              <a:t>第一個問題是要怎麼決定誰是</a:t>
            </a:r>
            <a:r>
              <a:rPr lang="en-US" altLang="zh-TW" dirty="0" smtClean="0"/>
              <a:t>outlier </a:t>
            </a:r>
            <a:r>
              <a:rPr lang="zh-TW" altLang="en-US" dirty="0" smtClean="0"/>
              <a:t>目前他提到的方法都有問題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上面式子的可以用</a:t>
            </a:r>
            <a:r>
              <a:rPr lang="en-US" altLang="zh-TW" dirty="0" smtClean="0"/>
              <a:t>Quadratic Programming</a:t>
            </a:r>
            <a:r>
              <a:rPr lang="zh-TW" altLang="en-US" dirty="0" smtClean="0"/>
              <a:t>解</a:t>
            </a:r>
            <a:endParaRPr lang="en-US" altLang="zh-TW" dirty="0" smtClean="0"/>
          </a:p>
          <a:p>
            <a:r>
              <a:rPr lang="zh-TW" altLang="en-US" dirty="0" smtClean="0"/>
              <a:t>但是如果</a:t>
            </a:r>
            <a:r>
              <a:rPr lang="en-US" altLang="zh-TW" dirty="0" smtClean="0"/>
              <a:t>Xi</a:t>
            </a:r>
            <a:r>
              <a:rPr lang="zh-TW" altLang="en-US" dirty="0" smtClean="0"/>
              <a:t>的維度很高 這時候就要</a:t>
            </a:r>
            <a:r>
              <a:rPr lang="zh-TW" altLang="en-US" dirty="0" smtClean="0"/>
              <a:t>借助</a:t>
            </a:r>
            <a:r>
              <a:rPr lang="en-US" altLang="zh-TW" dirty="0" smtClean="0"/>
              <a:t>kernel </a:t>
            </a:r>
            <a:r>
              <a:rPr lang="en-US" altLang="zh-TW" dirty="0" smtClean="0"/>
              <a:t>function</a:t>
            </a:r>
          </a:p>
          <a:p>
            <a:r>
              <a:rPr lang="zh-TW" altLang="en-US" dirty="0" smtClean="0"/>
              <a:t>不懂</a:t>
            </a:r>
            <a:r>
              <a:rPr lang="en-US" altLang="zh-TW" dirty="0" smtClean="0"/>
              <a:t>SVM</a:t>
            </a:r>
            <a:r>
              <a:rPr lang="zh-TW" altLang="en-US" dirty="0" smtClean="0"/>
              <a:t>的相關推導沒關係</a:t>
            </a:r>
            <a:endParaRPr lang="en-US" altLang="zh-TW" dirty="0" smtClean="0"/>
          </a:p>
          <a:p>
            <a:r>
              <a:rPr lang="zh-TW" altLang="en-US" dirty="0" smtClean="0"/>
              <a:t>只要</a:t>
            </a:r>
            <a:r>
              <a:rPr lang="zh-TW" altLang="en-US" dirty="0" smtClean="0"/>
              <a:t>記得</a:t>
            </a:r>
            <a:r>
              <a:rPr lang="en-US" altLang="zh-TW" dirty="0" smtClean="0"/>
              <a:t>kernel 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是</a:t>
            </a:r>
            <a:r>
              <a:rPr lang="en-US" altLang="zh-TW" dirty="0" smtClean="0"/>
              <a:t>SVM</a:t>
            </a:r>
            <a:r>
              <a:rPr lang="zh-TW" altLang="en-US" dirty="0" smtClean="0"/>
              <a:t>為了往高維度尋找答案的東西</a:t>
            </a:r>
            <a:endParaRPr lang="en-US" altLang="zh-TW" dirty="0" smtClean="0"/>
          </a:p>
          <a:p>
            <a:r>
              <a:rPr lang="zh-TW" altLang="en-US" dirty="0" smtClean="0"/>
              <a:t>不同</a:t>
            </a:r>
            <a:r>
              <a:rPr lang="zh-TW" altLang="en-US" dirty="0" smtClean="0"/>
              <a:t>的</a:t>
            </a:r>
            <a:r>
              <a:rPr lang="en-US" altLang="zh-TW" dirty="0" smtClean="0"/>
              <a:t>kernel 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可以有不同的找法</a:t>
            </a:r>
            <a:endParaRPr lang="en-US" altLang="zh-TW" dirty="0" smtClean="0"/>
          </a:p>
          <a:p>
            <a:r>
              <a:rPr lang="zh-TW" altLang="en-US" dirty="0" smtClean="0"/>
              <a:t>這邊要注意的是 </a:t>
            </a:r>
            <a:r>
              <a:rPr lang="en-US" altLang="zh-TW" dirty="0" smtClean="0"/>
              <a:t>lab</a:t>
            </a:r>
            <a:r>
              <a:rPr lang="zh-TW" altLang="en-US" dirty="0" smtClean="0"/>
              <a:t>常說要調整</a:t>
            </a:r>
            <a:r>
              <a:rPr lang="en-US" altLang="zh-TW" dirty="0" smtClean="0"/>
              <a:t>SVM</a:t>
            </a:r>
            <a:r>
              <a:rPr lang="zh-TW" altLang="en-US" dirty="0" smtClean="0"/>
              <a:t>的參數 </a:t>
            </a:r>
            <a:r>
              <a:rPr lang="en-US" altLang="zh-TW" dirty="0" err="1" smtClean="0"/>
              <a:t>gammar</a:t>
            </a:r>
            <a:r>
              <a:rPr lang="zh-TW" altLang="en-US" dirty="0" smtClean="0"/>
              <a:t>就是即是調整</a:t>
            </a:r>
            <a:r>
              <a:rPr lang="en-US" altLang="zh-TW" dirty="0" smtClean="0"/>
              <a:t>RBF</a:t>
            </a:r>
            <a:r>
              <a:rPr lang="zh-TW" altLang="en-US" dirty="0" smtClean="0"/>
              <a:t>和</a:t>
            </a:r>
            <a:r>
              <a:rPr lang="en-US" altLang="zh-TW" dirty="0" smtClean="0"/>
              <a:t>Gaussian</a:t>
            </a:r>
            <a:r>
              <a:rPr lang="zh-TW" altLang="en-US" dirty="0" smtClean="0"/>
              <a:t>中的</a:t>
            </a:r>
            <a:r>
              <a:rPr lang="en-US" altLang="zh-TW" dirty="0" err="1" smtClean="0"/>
              <a:t>gammar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altLang="zh-TW" dirty="0" smtClean="0"/>
              <a:t>Β</a:t>
            </a:r>
            <a:r>
              <a:rPr lang="en-US" altLang="zh-TW" dirty="0" smtClean="0"/>
              <a:t> = [B1…..Bp]  is the weight vector of the network.</a:t>
            </a:r>
          </a:p>
          <a:p>
            <a:r>
              <a:rPr lang="en-US" altLang="zh-TW" dirty="0" smtClean="0"/>
              <a:t>P us the number of kernel functions.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a(t)</a:t>
            </a:r>
            <a:r>
              <a:rPr lang="zh-TW" altLang="en-US" dirty="0" smtClean="0"/>
              <a:t>和</a:t>
            </a:r>
            <a:r>
              <a:rPr lang="en-US" altLang="zh-TW" dirty="0" smtClean="0"/>
              <a:t>b(t) </a:t>
            </a:r>
            <a:r>
              <a:rPr lang="zh-TW" altLang="en-US" dirty="0" smtClean="0"/>
              <a:t>為時間涵式 他們也是</a:t>
            </a:r>
            <a:r>
              <a:rPr lang="en-US" altLang="zh-TW" dirty="0" err="1" smtClean="0"/>
              <a:t>cutpoint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上面是</a:t>
            </a:r>
            <a:r>
              <a:rPr lang="en-US" altLang="zh-TW" dirty="0" smtClean="0"/>
              <a:t>SVR </a:t>
            </a:r>
            <a:r>
              <a:rPr lang="zh-TW" altLang="en-US" dirty="0" smtClean="0"/>
              <a:t>下面的粗體是</a:t>
            </a:r>
            <a:r>
              <a:rPr lang="en-US" altLang="zh-TW" dirty="0" smtClean="0"/>
              <a:t>RSVR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05833-4AFA-4F75-9060-0DB7F5B0C72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61F95-1850-415A-941B-401FF884ABBA}" type="datetimeFigureOut">
              <a:rPr lang="zh-TW" altLang="en-US" smtClean="0"/>
              <a:pPr/>
              <a:t>2011/10/3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ED2B5-0B61-4C71-85AB-BED610E6745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mlab.csie.ntu.edu.tw/~cyy/learning/tutorials/SVM3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mlab.csie.ntu.edu.tw/~cyy/learning/tutorials/SVR.pdf" TargetMode="External"/><Relationship Id="rId5" Type="http://schemas.openxmlformats.org/officeDocument/2006/relationships/hyperlink" Target="http://crsouza.blogspot.com/2010/03/kernel-functions-for-machine-learning.html" TargetMode="External"/><Relationship Id="rId4" Type="http://schemas.openxmlformats.org/officeDocument/2006/relationships/hyperlink" Target="http://en.wikipedia.org/wiki/Support_vector_mach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7544" y="980728"/>
            <a:ext cx="8208912" cy="147002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Robust Support Vector Regression Networks for</a:t>
            </a:r>
            <a:br>
              <a:rPr lang="en-US" altLang="zh-TW" dirty="0"/>
            </a:br>
            <a:r>
              <a:rPr lang="en-US" altLang="zh-TW" dirty="0"/>
              <a:t>Function Approximation With Outliers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55576" y="3501008"/>
            <a:ext cx="6400800" cy="792088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Chen-</a:t>
            </a:r>
            <a:r>
              <a:rPr lang="en-US" altLang="zh-TW" sz="2000" dirty="0" err="1"/>
              <a:t>Chia</a:t>
            </a:r>
            <a:r>
              <a:rPr lang="en-US" altLang="zh-TW" sz="2000" dirty="0"/>
              <a:t> Chuang, Shun-</a:t>
            </a:r>
            <a:r>
              <a:rPr lang="en-US" altLang="zh-TW" sz="2000" dirty="0" err="1"/>
              <a:t>Feng</a:t>
            </a:r>
            <a:r>
              <a:rPr lang="en-US" altLang="zh-TW" sz="2000" dirty="0"/>
              <a:t> Su</a:t>
            </a:r>
            <a:r>
              <a:rPr lang="en-US" altLang="zh-TW" sz="2000" i="1" dirty="0"/>
              <a:t>, Member, IEEE, Jin-</a:t>
            </a:r>
            <a:r>
              <a:rPr lang="en-US" altLang="zh-TW" sz="2000" i="1" dirty="0" err="1"/>
              <a:t>Tsong</a:t>
            </a:r>
            <a:r>
              <a:rPr lang="en-US" altLang="zh-TW" sz="2000" i="1" dirty="0"/>
              <a:t> </a:t>
            </a:r>
            <a:r>
              <a:rPr lang="en-US" altLang="zh-TW" sz="2000" i="1" dirty="0" err="1"/>
              <a:t>Jeng</a:t>
            </a:r>
            <a:r>
              <a:rPr lang="en-US" altLang="zh-TW" sz="2000" i="1" dirty="0"/>
              <a:t>, Member, IEEE, and </a:t>
            </a:r>
            <a:r>
              <a:rPr lang="en-US" altLang="zh-TW" sz="2000" i="1" dirty="0" err="1"/>
              <a:t>Chih-Ching</a:t>
            </a:r>
            <a:r>
              <a:rPr lang="en-US" altLang="zh-TW" sz="2000" i="1" dirty="0"/>
              <a:t> Hsiao</a:t>
            </a:r>
            <a:endParaRPr lang="zh-TW" altLang="en-US" sz="2000" dirty="0"/>
          </a:p>
        </p:txBody>
      </p:sp>
      <p:sp>
        <p:nvSpPr>
          <p:cNvPr id="4" name="副標題 2"/>
          <p:cNvSpPr txBox="1">
            <a:spLocks/>
          </p:cNvSpPr>
          <p:nvPr/>
        </p:nvSpPr>
        <p:spPr>
          <a:xfrm>
            <a:off x="1619672" y="2780928"/>
            <a:ext cx="6400800" cy="64807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lvl="0" algn="ctr">
              <a:spcBef>
                <a:spcPct val="20000"/>
              </a:spcBef>
            </a:pPr>
            <a:r>
              <a:rPr lang="en-US" altLang="zh-TW" sz="2000" dirty="0"/>
              <a:t>IEEE TRANSACTIONS ON NEURAL NETWORKS, VOL. 13, NO. 6, NOVEMBER 2002</a:t>
            </a:r>
            <a:endParaRPr kumimoji="0" lang="zh-TW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004048" y="4797152"/>
            <a:ext cx="371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Presenter: Yung-</a:t>
            </a:r>
            <a:r>
              <a:rPr lang="en-US" altLang="zh-TW" sz="2400" dirty="0" err="1" smtClean="0"/>
              <a:t>Shiun</a:t>
            </a:r>
            <a:r>
              <a:rPr lang="en-US" altLang="zh-TW" sz="2400" dirty="0" smtClean="0"/>
              <a:t> Chen</a:t>
            </a:r>
          </a:p>
          <a:p>
            <a:r>
              <a:rPr lang="en-US" altLang="zh-TW" sz="2400" dirty="0" smtClean="0"/>
              <a:t>Date: Oct. 03, 2011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altLang="zh-TW" b="1" i="1" dirty="0" smtClean="0"/>
              <a:t>		Support </a:t>
            </a:r>
            <a:r>
              <a:rPr lang="en-US" altLang="zh-TW" b="1" i="1" dirty="0"/>
              <a:t>vector regression (SVR) employs the </a:t>
            </a:r>
            <a:r>
              <a:rPr lang="en-US" altLang="zh-TW" b="1" i="1" dirty="0" smtClean="0"/>
              <a:t>support </a:t>
            </a:r>
            <a:r>
              <a:rPr lang="en-US" altLang="zh-TW" b="1" dirty="0" smtClean="0"/>
              <a:t>vector </a:t>
            </a:r>
            <a:r>
              <a:rPr lang="en-US" altLang="zh-TW" b="1" dirty="0"/>
              <a:t>machine (SVM) to tackle problems of function </a:t>
            </a:r>
            <a:r>
              <a:rPr lang="en-US" altLang="zh-TW" b="1" dirty="0" smtClean="0"/>
              <a:t>approximation and </a:t>
            </a:r>
            <a:r>
              <a:rPr lang="en-US" altLang="zh-TW" b="1" dirty="0"/>
              <a:t>regression estimation. SVR has been shown to </a:t>
            </a:r>
            <a:r>
              <a:rPr lang="en-US" altLang="zh-TW" b="1" dirty="0" smtClean="0"/>
              <a:t>have good </a:t>
            </a:r>
            <a:r>
              <a:rPr lang="en-US" altLang="zh-TW" b="1" dirty="0"/>
              <a:t>robust properties against noise. When the parameters </a:t>
            </a:r>
            <a:r>
              <a:rPr lang="en-US" altLang="zh-TW" b="1" dirty="0" smtClean="0"/>
              <a:t>used in </a:t>
            </a:r>
            <a:r>
              <a:rPr lang="en-US" altLang="zh-TW" b="1" dirty="0"/>
              <a:t>SVR are improperly selected, </a:t>
            </a:r>
            <a:r>
              <a:rPr lang="en-US" altLang="zh-TW" b="1" dirty="0" err="1" smtClean="0"/>
              <a:t>overfitting</a:t>
            </a:r>
            <a:r>
              <a:rPr lang="en-US" altLang="zh-TW" b="1" dirty="0" smtClean="0"/>
              <a:t> phenomena may still occur</a:t>
            </a:r>
            <a:r>
              <a:rPr lang="en-US" altLang="zh-TW" b="1" dirty="0"/>
              <a:t>. However, the selection of various parameters is </a:t>
            </a:r>
            <a:r>
              <a:rPr lang="en-US" altLang="zh-TW" b="1" dirty="0" smtClean="0"/>
              <a:t>not straightforward. Besides</a:t>
            </a:r>
            <a:r>
              <a:rPr lang="en-US" altLang="zh-TW" b="1" dirty="0"/>
              <a:t>, in SVR, outliers may also possibly be taken </a:t>
            </a:r>
            <a:r>
              <a:rPr lang="en-US" altLang="zh-TW" b="1" dirty="0" smtClean="0"/>
              <a:t>as support </a:t>
            </a:r>
            <a:r>
              <a:rPr lang="en-US" altLang="zh-TW" b="1" dirty="0"/>
              <a:t>vectors. Such an inclusion of outliers in support </a:t>
            </a:r>
            <a:r>
              <a:rPr lang="en-US" altLang="zh-TW" b="1" dirty="0" smtClean="0"/>
              <a:t>vectors may </a:t>
            </a:r>
            <a:r>
              <a:rPr lang="en-US" altLang="zh-TW" b="1" dirty="0"/>
              <a:t>lead to seriously </a:t>
            </a:r>
            <a:r>
              <a:rPr lang="en-US" altLang="zh-TW" b="1" dirty="0" err="1"/>
              <a:t>overfitting</a:t>
            </a:r>
            <a:r>
              <a:rPr lang="en-US" altLang="zh-TW" b="1" dirty="0"/>
              <a:t> phenomena. In this paper, a </a:t>
            </a:r>
            <a:r>
              <a:rPr lang="en-US" altLang="zh-TW" b="1" dirty="0" smtClean="0"/>
              <a:t>novel regression </a:t>
            </a:r>
            <a:r>
              <a:rPr lang="en-US" altLang="zh-TW" b="1" dirty="0"/>
              <a:t>approach, termed as the robust support vector </a:t>
            </a:r>
            <a:r>
              <a:rPr lang="en-US" altLang="zh-TW" b="1" dirty="0" smtClean="0"/>
              <a:t>regression (RSVR</a:t>
            </a:r>
            <a:r>
              <a:rPr lang="en-US" altLang="zh-TW" b="1" dirty="0"/>
              <a:t>) network, is proposed to enhance the robust </a:t>
            </a:r>
            <a:r>
              <a:rPr lang="en-US" altLang="zh-TW" b="1" dirty="0" smtClean="0"/>
              <a:t>capability of </a:t>
            </a:r>
            <a:r>
              <a:rPr lang="en-US" altLang="zh-TW" b="1" dirty="0"/>
              <a:t>SVR. In the approach, traditional robust learning </a:t>
            </a:r>
            <a:r>
              <a:rPr lang="en-US" altLang="zh-TW" b="1" dirty="0" smtClean="0"/>
              <a:t>approaches are </a:t>
            </a:r>
            <a:r>
              <a:rPr lang="en-US" altLang="zh-TW" b="1" dirty="0"/>
              <a:t>employed to improve the learning performance for any </a:t>
            </a:r>
            <a:r>
              <a:rPr lang="en-US" altLang="zh-TW" b="1" dirty="0" smtClean="0"/>
              <a:t>selected parameters</a:t>
            </a:r>
            <a:r>
              <a:rPr lang="en-US" altLang="zh-TW" b="1" dirty="0"/>
              <a:t>. From the simulation results, </a:t>
            </a:r>
            <a:r>
              <a:rPr lang="en-US" altLang="zh-TW" b="1" dirty="0" smtClean="0"/>
              <a:t>our RSVR </a:t>
            </a:r>
            <a:r>
              <a:rPr lang="en-US" altLang="zh-TW" b="1" dirty="0"/>
              <a:t>can always </a:t>
            </a:r>
            <a:r>
              <a:rPr lang="en-US" altLang="zh-TW" b="1" dirty="0" smtClean="0"/>
              <a:t>improve the </a:t>
            </a:r>
            <a:r>
              <a:rPr lang="en-US" altLang="zh-TW" b="1" dirty="0"/>
              <a:t>performance of the learned systems for all cases. </a:t>
            </a:r>
            <a:r>
              <a:rPr lang="en-US" altLang="zh-TW" b="1" dirty="0" smtClean="0"/>
              <a:t>Besides, it </a:t>
            </a:r>
            <a:r>
              <a:rPr lang="en-US" altLang="zh-TW" b="1" dirty="0"/>
              <a:t>can be found that even the training lasted for a long period, </a:t>
            </a:r>
            <a:r>
              <a:rPr lang="en-US" altLang="zh-TW" b="1" dirty="0" smtClean="0"/>
              <a:t>the testing </a:t>
            </a:r>
            <a:r>
              <a:rPr lang="en-US" altLang="zh-TW" b="1" dirty="0"/>
              <a:t>errors would not go up. In other words, the </a:t>
            </a:r>
            <a:r>
              <a:rPr lang="en-US" altLang="zh-TW" b="1" dirty="0" err="1"/>
              <a:t>overfitting</a:t>
            </a:r>
            <a:r>
              <a:rPr lang="en-US" altLang="zh-TW" b="1" dirty="0"/>
              <a:t> </a:t>
            </a:r>
            <a:r>
              <a:rPr lang="en-US" altLang="zh-TW" b="1" dirty="0" smtClean="0"/>
              <a:t>phenomenon is </a:t>
            </a:r>
            <a:r>
              <a:rPr lang="en-US" altLang="zh-TW" b="1" dirty="0"/>
              <a:t>indeed suppressed.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Support Vector Machine (SVM)</a:t>
            </a:r>
            <a:endParaRPr lang="zh-TW" altLang="en-US" dirty="0"/>
          </a:p>
        </p:txBody>
      </p:sp>
      <p:pic>
        <p:nvPicPr>
          <p:cNvPr id="13314" name="Picture 2" descr="File:Svm max sep hyperplane with margin.pn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1484784"/>
            <a:ext cx="4680520" cy="50425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Support Vector Machine (SVM)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find a hyper plan to classify the data</a:t>
            </a:r>
          </a:p>
          <a:p>
            <a:pPr lvl="1"/>
            <a:r>
              <a:rPr lang="pl-PL" altLang="zh-TW" i="1" dirty="0" smtClean="0"/>
              <a:t>H1:</a:t>
            </a:r>
            <a:r>
              <a:rPr lang="en-US" altLang="zh-TW" i="1" dirty="0" smtClean="0"/>
              <a:t> </a:t>
            </a:r>
            <a:r>
              <a:rPr lang="pl-PL" altLang="zh-TW" i="1" dirty="0" smtClean="0"/>
              <a:t>w</a:t>
            </a:r>
            <a:r>
              <a:rPr lang="en-US" altLang="zh-TW" i="1" baseline="30000" dirty="0" smtClean="0"/>
              <a:t>T</a:t>
            </a:r>
            <a:r>
              <a:rPr lang="pl-PL" altLang="zh-TW" i="1" dirty="0" smtClean="0"/>
              <a:t>x</a:t>
            </a:r>
            <a:r>
              <a:rPr lang="en-US" altLang="zh-TW" i="1" dirty="0" smtClean="0"/>
              <a:t>+</a:t>
            </a:r>
            <a:r>
              <a:rPr lang="pl-PL" altLang="zh-TW" i="1" dirty="0" smtClean="0"/>
              <a:t>b+δ</a:t>
            </a:r>
            <a:r>
              <a:rPr lang="en-US" altLang="zh-TW" i="1" dirty="0" smtClean="0"/>
              <a:t> ,</a:t>
            </a:r>
            <a:r>
              <a:rPr lang="pl-PL" altLang="zh-TW" i="1" dirty="0" smtClean="0"/>
              <a:t>H2:</a:t>
            </a:r>
            <a:r>
              <a:rPr lang="en-US" altLang="zh-TW" i="1" dirty="0" smtClean="0"/>
              <a:t> </a:t>
            </a:r>
            <a:r>
              <a:rPr lang="pl-PL" altLang="zh-TW" i="1" dirty="0" smtClean="0"/>
              <a:t>w</a:t>
            </a:r>
            <a:r>
              <a:rPr lang="en-US" altLang="zh-TW" i="1" baseline="30000" dirty="0" smtClean="0"/>
              <a:t>T</a:t>
            </a:r>
            <a:r>
              <a:rPr lang="pl-PL" altLang="zh-TW" i="1" dirty="0" smtClean="0"/>
              <a:t>x</a:t>
            </a:r>
            <a:r>
              <a:rPr lang="en-US" altLang="zh-TW" i="1" dirty="0" smtClean="0"/>
              <a:t>+</a:t>
            </a:r>
            <a:r>
              <a:rPr lang="pl-PL" altLang="zh-TW" i="1" dirty="0" smtClean="0"/>
              <a:t>b−δ</a:t>
            </a:r>
            <a:endParaRPr lang="en-US" altLang="zh-TW" i="1" dirty="0"/>
          </a:p>
          <a:p>
            <a:pPr lvl="1">
              <a:buNone/>
            </a:pPr>
            <a:r>
              <a:rPr lang="en-US" altLang="zh-TW" i="1" dirty="0" smtClean="0"/>
              <a:t>	=&gt; </a:t>
            </a:r>
            <a:r>
              <a:rPr lang="pl-PL" altLang="zh-TW" i="1" dirty="0" smtClean="0"/>
              <a:t>H1:</a:t>
            </a:r>
            <a:r>
              <a:rPr lang="en-US" altLang="zh-TW" i="1" dirty="0" smtClean="0"/>
              <a:t> </a:t>
            </a:r>
            <a:r>
              <a:rPr lang="pl-PL" altLang="zh-TW" i="1" dirty="0" smtClean="0"/>
              <a:t>w</a:t>
            </a:r>
            <a:r>
              <a:rPr lang="en-US" altLang="zh-TW" i="1" baseline="30000" dirty="0" smtClean="0"/>
              <a:t>T</a:t>
            </a:r>
            <a:r>
              <a:rPr lang="pl-PL" altLang="zh-TW" i="1" dirty="0" smtClean="0"/>
              <a:t>x</a:t>
            </a:r>
            <a:r>
              <a:rPr lang="en-US" altLang="zh-TW" i="1" dirty="0" smtClean="0"/>
              <a:t>+</a:t>
            </a:r>
            <a:r>
              <a:rPr lang="pl-PL" altLang="zh-TW" i="1" dirty="0" smtClean="0"/>
              <a:t>b</a:t>
            </a:r>
            <a:r>
              <a:rPr lang="en-US" altLang="zh-TW" i="1" dirty="0" smtClean="0"/>
              <a:t>=1</a:t>
            </a:r>
            <a:r>
              <a:rPr lang="pl-PL" altLang="zh-TW" i="1" dirty="0" smtClean="0"/>
              <a:t> </a:t>
            </a:r>
            <a:r>
              <a:rPr lang="en-US" altLang="zh-TW" i="1" dirty="0" smtClean="0"/>
              <a:t>  ,</a:t>
            </a:r>
            <a:r>
              <a:rPr lang="pl-PL" altLang="zh-TW" i="1" dirty="0" smtClean="0"/>
              <a:t>H2:</a:t>
            </a:r>
            <a:r>
              <a:rPr lang="en-US" altLang="zh-TW" i="1" dirty="0" smtClean="0"/>
              <a:t> </a:t>
            </a:r>
            <a:r>
              <a:rPr lang="pl-PL" altLang="zh-TW" i="1" dirty="0" smtClean="0"/>
              <a:t>w</a:t>
            </a:r>
            <a:r>
              <a:rPr lang="en-US" altLang="zh-TW" i="1" baseline="30000" dirty="0" smtClean="0"/>
              <a:t>T</a:t>
            </a:r>
            <a:r>
              <a:rPr lang="pl-PL" altLang="zh-TW" i="1" dirty="0" smtClean="0"/>
              <a:t>x</a:t>
            </a:r>
            <a:r>
              <a:rPr lang="en-US" altLang="zh-TW" i="1" dirty="0" smtClean="0"/>
              <a:t>-</a:t>
            </a:r>
            <a:r>
              <a:rPr lang="pl-PL" altLang="zh-TW" i="1" dirty="0" smtClean="0"/>
              <a:t>b</a:t>
            </a:r>
            <a:r>
              <a:rPr lang="en-US" altLang="zh-TW" i="1" dirty="0" smtClean="0"/>
              <a:t>=-1</a:t>
            </a:r>
          </a:p>
          <a:p>
            <a:pPr lvl="1">
              <a:buNone/>
            </a:pPr>
            <a:r>
              <a:rPr lang="en-US" altLang="zh-TW" i="1" dirty="0" smtClean="0"/>
              <a:t>	=&gt; </a:t>
            </a:r>
            <a:r>
              <a:rPr lang="en-US" altLang="zh-TW" i="1" dirty="0" err="1" smtClean="0"/>
              <a:t>y</a:t>
            </a:r>
            <a:r>
              <a:rPr lang="en-US" altLang="zh-TW" i="1" baseline="-25000" dirty="0" err="1" smtClean="0"/>
              <a:t>i</a:t>
            </a:r>
            <a:r>
              <a:rPr lang="en-US" altLang="zh-TW" i="1" dirty="0" smtClean="0"/>
              <a:t>((</a:t>
            </a:r>
            <a:r>
              <a:rPr lang="en-US" altLang="zh-TW" i="1" dirty="0" err="1" smtClean="0"/>
              <a:t>w</a:t>
            </a:r>
            <a:r>
              <a:rPr lang="en-US" altLang="zh-TW" i="1" baseline="30000" dirty="0" err="1" smtClean="0"/>
              <a:t>T</a:t>
            </a:r>
            <a:r>
              <a:rPr lang="en-US" altLang="zh-TW" i="1" dirty="0" err="1" smtClean="0"/>
              <a:t>x</a:t>
            </a:r>
            <a:r>
              <a:rPr lang="en-US" altLang="zh-TW" i="1" baseline="-25000" dirty="0" err="1" smtClean="0"/>
              <a:t>i</a:t>
            </a:r>
            <a:r>
              <a:rPr lang="en-US" altLang="zh-TW" i="1" dirty="0" smtClean="0"/>
              <a:t>)+b)≧1</a:t>
            </a:r>
            <a:endParaRPr lang="en-US" altLang="zh-TW" dirty="0" smtClean="0"/>
          </a:p>
          <a:p>
            <a:r>
              <a:rPr lang="en-US" altLang="zh-TW" dirty="0" smtClean="0"/>
              <a:t>maximize margin</a:t>
            </a:r>
          </a:p>
          <a:p>
            <a:pPr lvl="1"/>
            <a:r>
              <a:rPr lang="en-US" altLang="zh-TW" dirty="0" smtClean="0"/>
              <a:t>maximize distance between H1, H2: 2/</a:t>
            </a:r>
            <a:r>
              <a:rPr lang="en-US" altLang="zh-TW" i="1" dirty="0" smtClean="0"/>
              <a:t>|W|</a:t>
            </a:r>
            <a:r>
              <a:rPr lang="en-US" altLang="zh-TW" i="1" baseline="30000" dirty="0" smtClean="0"/>
              <a:t>2</a:t>
            </a:r>
            <a:endParaRPr lang="en-US" altLang="zh-TW" i="1" dirty="0"/>
          </a:p>
          <a:p>
            <a:pPr lvl="1">
              <a:buNone/>
            </a:pPr>
            <a:r>
              <a:rPr lang="en-US" altLang="zh-TW" dirty="0" smtClean="0"/>
              <a:t>	=&gt; minimize </a:t>
            </a:r>
            <a:r>
              <a:rPr lang="en-US" altLang="zh-TW" i="1" dirty="0" smtClean="0"/>
              <a:t>|W|</a:t>
            </a:r>
            <a:r>
              <a:rPr lang="en-US" altLang="zh-TW" i="1" baseline="30000" dirty="0" smtClean="0"/>
              <a:t>2</a:t>
            </a:r>
            <a:r>
              <a:rPr lang="en-US" altLang="zh-TW" i="1" dirty="0" smtClean="0"/>
              <a:t>/2</a:t>
            </a:r>
            <a:endParaRPr lang="zh-TW" altLang="en-US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Support Vector Machine (SVM)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Quadratic Programming</a:t>
            </a:r>
          </a:p>
          <a:p>
            <a:r>
              <a:rPr lang="en-US" altLang="zh-TW" dirty="0" smtClean="0">
                <a:solidFill>
                  <a:schemeClr val="accent1"/>
                </a:solidFill>
              </a:rPr>
              <a:t>Kernel </a:t>
            </a:r>
            <a:r>
              <a:rPr lang="en-US" altLang="zh-TW" dirty="0" smtClean="0">
                <a:solidFill>
                  <a:schemeClr val="accent1"/>
                </a:solidFill>
              </a:rPr>
              <a:t>Function</a:t>
            </a:r>
          </a:p>
          <a:p>
            <a:pPr lvl="1"/>
            <a:r>
              <a:rPr lang="en-US" altLang="zh-TW" dirty="0" smtClean="0"/>
              <a:t>Linear:</a:t>
            </a:r>
            <a:endParaRPr lang="en-US" altLang="zh-TW" i="1" baseline="-25000" dirty="0" smtClean="0"/>
          </a:p>
          <a:p>
            <a:pPr lvl="1"/>
            <a:r>
              <a:rPr lang="en-US" altLang="zh-TW" dirty="0" err="1" smtClean="0"/>
              <a:t>Polynomail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Radial basis function(RBF):  </a:t>
            </a:r>
          </a:p>
          <a:p>
            <a:pPr lvl="1"/>
            <a:r>
              <a:rPr lang="en-US" altLang="zh-TW" dirty="0" smtClean="0"/>
              <a:t>Gaussian: </a:t>
            </a:r>
            <a:endParaRPr lang="en-US" altLang="zh-TW" i="1" dirty="0" smtClean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2325688" y="2780928"/>
          <a:ext cx="2427287" cy="509587"/>
        </p:xfrm>
        <a:graphic>
          <a:graphicData uri="http://schemas.openxmlformats.org/presentationml/2006/ole">
            <p:oleObj spid="_x0000_s19458" name="方程式" r:id="rId4" imgW="1091880" imgH="228600" progId="Equation.3">
              <p:embed/>
            </p:oleObj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2987824" y="3284538"/>
          <a:ext cx="2906713" cy="508000"/>
        </p:xfrm>
        <a:graphic>
          <a:graphicData uri="http://schemas.openxmlformats.org/presentationml/2006/ole">
            <p:oleObj spid="_x0000_s19459" name="方程式" r:id="rId5" imgW="1307880" imgH="228600" progId="Equation.3">
              <p:embed/>
            </p:oleObj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5156075" y="3789363"/>
          <a:ext cx="3808413" cy="508000"/>
        </p:xfrm>
        <a:graphic>
          <a:graphicData uri="http://schemas.openxmlformats.org/presentationml/2006/ole">
            <p:oleObj spid="_x0000_s19460" name="方程式" r:id="rId6" imgW="1714320" imgH="228600" progId="Equation.3">
              <p:embed/>
            </p:oleObj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771800" y="4292600"/>
          <a:ext cx="4344988" cy="508000"/>
        </p:xfrm>
        <a:graphic>
          <a:graphicData uri="http://schemas.openxmlformats.org/presentationml/2006/ole">
            <p:oleObj spid="_x0000_s19461" name="方程式" r:id="rId7" imgW="195552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Support Vector Machine (SVM)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 smtClean="0"/>
              <a:t>Kernel </a:t>
            </a:r>
            <a:r>
              <a:rPr lang="en-US" altLang="zh-TW" dirty="0" smtClean="0"/>
              <a:t>Function</a:t>
            </a:r>
          </a:p>
          <a:p>
            <a:pPr marL="742950" lvl="2" indent="-342900">
              <a:buNone/>
            </a:pPr>
            <a:r>
              <a:rPr lang="en-US" altLang="zh-TW" dirty="0" smtClean="0"/>
              <a:t>	The choice of a </a:t>
            </a:r>
            <a:r>
              <a:rPr lang="en-US" altLang="zh-TW" dirty="0" smtClean="0"/>
              <a:t>kernel </a:t>
            </a:r>
            <a:r>
              <a:rPr lang="en-US" altLang="zh-TW" dirty="0" smtClean="0"/>
              <a:t>depends on the problem at hand because it depends on what we are trying to model. A polynomial kernel, for example, allows us to model feature conjunctions up to the order of the polynomial. Radial basis functions allows to pick out circles (or </a:t>
            </a:r>
            <a:r>
              <a:rPr lang="en-US" altLang="zh-TW" dirty="0" err="1" smtClean="0"/>
              <a:t>hyperspheres</a:t>
            </a:r>
            <a:r>
              <a:rPr lang="en-US" altLang="zh-TW" dirty="0" smtClean="0"/>
              <a:t>) - in </a:t>
            </a:r>
            <a:r>
              <a:rPr lang="en-US" altLang="zh-TW" dirty="0" err="1" smtClean="0"/>
              <a:t>constrast</a:t>
            </a:r>
            <a:r>
              <a:rPr lang="en-US" altLang="zh-TW" dirty="0" smtClean="0"/>
              <a:t> with the </a:t>
            </a:r>
            <a:r>
              <a:rPr lang="en-US" altLang="zh-TW" dirty="0" smtClean="0"/>
              <a:t>linear </a:t>
            </a:r>
            <a:r>
              <a:rPr lang="en-US" altLang="zh-TW" dirty="0" smtClean="0"/>
              <a:t>kernel, which allows only to pick out lines (or </a:t>
            </a:r>
            <a:r>
              <a:rPr lang="en-US" altLang="zh-TW" dirty="0" err="1" smtClean="0"/>
              <a:t>hyperplanes</a:t>
            </a:r>
            <a:r>
              <a:rPr lang="en-US" altLang="zh-TW" dirty="0" smtClean="0"/>
              <a:t>).</a:t>
            </a:r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Support Vector Regression(SVR)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SVR</a:t>
            </a:r>
            <a:r>
              <a:rPr lang="zh-TW" altLang="en-US" dirty="0" smtClean="0"/>
              <a:t>和</a:t>
            </a:r>
            <a:r>
              <a:rPr lang="en-US" altLang="zh-TW" dirty="0" smtClean="0"/>
              <a:t>SVM</a:t>
            </a:r>
            <a:r>
              <a:rPr lang="zh-TW" altLang="en-US" dirty="0" smtClean="0"/>
              <a:t>一樣，都是要找一個最適平面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hyperplane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，不過</a:t>
            </a:r>
            <a:r>
              <a:rPr lang="en-US" altLang="zh-TW" dirty="0" smtClean="0"/>
              <a:t>SVR</a:t>
            </a:r>
            <a:r>
              <a:rPr lang="zh-TW" altLang="en-US" dirty="0"/>
              <a:t>尋找</a:t>
            </a:r>
            <a:r>
              <a:rPr lang="zh-TW" altLang="en-US" dirty="0" smtClean="0"/>
              <a:t>的平面為可以準確預測所有資料點之平面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minimize </a:t>
            </a:r>
            <a:r>
              <a:rPr lang="en-US" altLang="zh-TW" i="1" dirty="0" smtClean="0"/>
              <a:t>|W|</a:t>
            </a:r>
            <a:r>
              <a:rPr lang="en-US" altLang="zh-TW" i="1" baseline="30000" dirty="0" smtClean="0"/>
              <a:t>2</a:t>
            </a:r>
            <a:r>
              <a:rPr lang="en-US" altLang="zh-TW" i="1" dirty="0" smtClean="0"/>
              <a:t>/2</a:t>
            </a:r>
          </a:p>
          <a:p>
            <a:pPr lvl="1"/>
            <a:r>
              <a:rPr lang="en-US" altLang="zh-TW" dirty="0" smtClean="0"/>
              <a:t>subject to </a:t>
            </a:r>
            <a:r>
              <a:rPr lang="en-US" altLang="zh-TW" i="1" dirty="0" smtClean="0"/>
              <a:t>|</a:t>
            </a:r>
            <a:r>
              <a:rPr lang="en-US" altLang="zh-TW" i="1" dirty="0" err="1" smtClean="0"/>
              <a:t>y</a:t>
            </a:r>
            <a:r>
              <a:rPr lang="en-US" altLang="zh-TW" i="1" baseline="-25000" dirty="0" err="1" smtClean="0"/>
              <a:t>i</a:t>
            </a:r>
            <a:r>
              <a:rPr lang="en-US" altLang="zh-TW" i="1" dirty="0" smtClean="0"/>
              <a:t>−(w·x</a:t>
            </a:r>
            <a:r>
              <a:rPr lang="en-US" altLang="zh-TW" i="1" baseline="-25000" dirty="0" smtClean="0"/>
              <a:t>i</a:t>
            </a:r>
            <a:r>
              <a:rPr lang="en-US" altLang="zh-TW" i="1" dirty="0" smtClean="0"/>
              <a:t>−b)|≤ε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Traditional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cost function (objective function):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loss function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21506" name="內容版面配置區 3"/>
          <p:cNvGraphicFramePr>
            <a:graphicFrameLocks noChangeAspect="1"/>
          </p:cNvGraphicFramePr>
          <p:nvPr/>
        </p:nvGraphicFramePr>
        <p:xfrm>
          <a:off x="1187624" y="2204864"/>
          <a:ext cx="4608512" cy="687676"/>
        </p:xfrm>
        <a:graphic>
          <a:graphicData uri="http://schemas.openxmlformats.org/presentationml/2006/ole">
            <p:oleObj spid="_x0000_s21506" name="方程式" r:id="rId4" imgW="1701720" imgH="253800" progId="Equation.3">
              <p:embed/>
            </p:oleObj>
          </a:graphicData>
        </a:graphic>
      </p:graphicFrame>
      <p:graphicFrame>
        <p:nvGraphicFramePr>
          <p:cNvPr id="21507" name="內容版面配置區 3"/>
          <p:cNvGraphicFramePr>
            <a:graphicFrameLocks noChangeAspect="1"/>
          </p:cNvGraphicFramePr>
          <p:nvPr/>
        </p:nvGraphicFramePr>
        <p:xfrm>
          <a:off x="1259632" y="3068960"/>
          <a:ext cx="5112568" cy="1304557"/>
        </p:xfrm>
        <a:graphic>
          <a:graphicData uri="http://schemas.openxmlformats.org/presentationml/2006/ole">
            <p:oleObj spid="_x0000_s21507" name="方程式" r:id="rId5" imgW="2286000" imgH="583920" progId="Equation.3">
              <p:embed/>
            </p:oleObj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475656" y="5229200"/>
          <a:ext cx="2977544" cy="792088"/>
        </p:xfrm>
        <a:graphic>
          <a:graphicData uri="http://schemas.openxmlformats.org/presentationml/2006/ole">
            <p:oleObj spid="_x0000_s21510" name="方程式" r:id="rId6" imgW="952200" imgH="25380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Traditional SVR</a:t>
            </a:r>
            <a:endParaRPr lang="zh-TW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072" y="1556792"/>
            <a:ext cx="8777416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Traditional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f </a:t>
            </a:r>
            <a:r>
              <a:rPr lang="en-US" altLang="zh-TW" dirty="0" smtClean="0"/>
              <a:t>can be written as: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kernel </a:t>
            </a:r>
            <a:r>
              <a:rPr lang="en-US" altLang="zh-TW" dirty="0" smtClean="0"/>
              <a:t>function                     :</a:t>
            </a:r>
          </a:p>
          <a:p>
            <a:pPr lvl="1"/>
            <a:r>
              <a:rPr lang="en-US" altLang="zh-TW" dirty="0" smtClean="0"/>
              <a:t>Gaussian </a:t>
            </a:r>
            <a:r>
              <a:rPr lang="en-US" altLang="zh-TW" dirty="0" smtClean="0"/>
              <a:t>kernel:</a:t>
            </a:r>
            <a:endParaRPr lang="en-US" altLang="zh-TW" dirty="0" smtClean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1763688" y="2204864"/>
          <a:ext cx="4744056" cy="1008112"/>
        </p:xfrm>
        <a:graphic>
          <a:graphicData uri="http://schemas.openxmlformats.org/presentationml/2006/ole">
            <p:oleObj spid="_x0000_s23554" name="方程式" r:id="rId4" imgW="2031840" imgH="431640" progId="Equation.3">
              <p:embed/>
            </p:oleObj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3491880" y="3356992"/>
          <a:ext cx="1740549" cy="504056"/>
        </p:xfrm>
        <a:graphic>
          <a:graphicData uri="http://schemas.openxmlformats.org/presentationml/2006/ole">
            <p:oleObj spid="_x0000_s23555" name="方程式" r:id="rId5" imgW="876240" imgH="253800" progId="Equation.3">
              <p:embed/>
            </p:oleObj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1331640" y="4509120"/>
          <a:ext cx="5456579" cy="648072"/>
        </p:xfrm>
        <a:graphic>
          <a:graphicData uri="http://schemas.openxmlformats.org/presentationml/2006/ole">
            <p:oleObj spid="_x0000_s23557" name="方程式" r:id="rId6" imgW="203184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Robust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robust learning concept and the SVR </a:t>
            </a:r>
            <a:r>
              <a:rPr lang="en-US" altLang="zh-TW" dirty="0" smtClean="0"/>
              <a:t>theory are </a:t>
            </a:r>
            <a:r>
              <a:rPr lang="en-US" altLang="zh-TW" dirty="0"/>
              <a:t>combined to form the RSVR </a:t>
            </a:r>
            <a:r>
              <a:rPr lang="en-US" altLang="zh-TW" dirty="0" smtClean="0"/>
              <a:t>networks.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learning of </a:t>
            </a:r>
            <a:r>
              <a:rPr lang="en-US" altLang="zh-TW" dirty="0" smtClean="0"/>
              <a:t>the proposed </a:t>
            </a:r>
            <a:r>
              <a:rPr lang="en-US" altLang="zh-TW" dirty="0"/>
              <a:t>RSVR network is divided into two </a:t>
            </a:r>
            <a:r>
              <a:rPr lang="en-US" altLang="zh-TW" dirty="0" smtClean="0"/>
              <a:t>phases, the initial phase </a:t>
            </a:r>
            <a:r>
              <a:rPr lang="en-US" altLang="zh-TW" dirty="0"/>
              <a:t>and the robust learning </a:t>
            </a:r>
            <a:r>
              <a:rPr lang="en-US" altLang="zh-TW" dirty="0" smtClean="0"/>
              <a:t>phase.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Robust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initial phase is to determine the network structure and the corresponding initial network weights through the SVR theory.</a:t>
            </a:r>
          </a:p>
          <a:p>
            <a:r>
              <a:rPr lang="en-US" altLang="zh-TW" dirty="0" smtClean="0"/>
              <a:t>Choose the cost function and the kernel functions.</a:t>
            </a:r>
          </a:p>
          <a:p>
            <a:r>
              <a:rPr lang="en-US" altLang="zh-TW" dirty="0" smtClean="0"/>
              <a:t>an initial RSVR network is obtained as:</a:t>
            </a:r>
            <a:endParaRPr lang="zh-TW" altLang="en-US" dirty="0" smtClean="0"/>
          </a:p>
          <a:p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2699792" y="4869160"/>
          <a:ext cx="3456384" cy="1152128"/>
        </p:xfrm>
        <a:graphic>
          <a:graphicData uri="http://schemas.openxmlformats.org/presentationml/2006/ole">
            <p:oleObj spid="_x0000_s24578" name="方程式" r:id="rId4" imgW="129528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Robust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Step 1) Initialize the RSVR structure with the given </a:t>
            </a:r>
            <a:r>
              <a:rPr lang="en-US" altLang="zh-TW" dirty="0" smtClean="0"/>
              <a:t>kernel functions</a:t>
            </a:r>
            <a:r>
              <a:rPr lang="en-US" altLang="zh-TW" dirty="0"/>
              <a:t>, the loss function, and the constant 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Step </a:t>
            </a:r>
            <a:r>
              <a:rPr lang="en-US" altLang="zh-TW" dirty="0"/>
              <a:t>2) For each training pattern, compute the estimated </a:t>
            </a:r>
            <a:r>
              <a:rPr lang="en-US" altLang="zh-TW" dirty="0" smtClean="0"/>
              <a:t>result </a:t>
            </a:r>
            <a:r>
              <a:rPr lang="en-US" altLang="zh-TW" dirty="0"/>
              <a:t>and its error.</a:t>
            </a:r>
          </a:p>
          <a:p>
            <a:r>
              <a:rPr lang="en-US" altLang="zh-TW" dirty="0"/>
              <a:t>Step 3) Update the weight vector </a:t>
            </a:r>
            <a:r>
              <a:rPr lang="en-US" altLang="zh-TW" dirty="0" smtClean="0"/>
              <a:t>incrementally. </a:t>
            </a:r>
            <a:r>
              <a:rPr lang="en-US" altLang="zh-TW" dirty="0"/>
              <a:t>When it is in the first epoch, the robust cost </a:t>
            </a:r>
            <a:r>
              <a:rPr lang="en-US" altLang="zh-TW" dirty="0" smtClean="0"/>
              <a:t>function is </a:t>
            </a:r>
            <a:r>
              <a:rPr lang="en-US" altLang="zh-TW" dirty="0"/>
              <a:t>the quadratic form by selecting </a:t>
            </a:r>
            <a:r>
              <a:rPr lang="en-US" altLang="zh-TW" dirty="0" smtClean="0"/>
              <a:t>and large </a:t>
            </a:r>
            <a:r>
              <a:rPr lang="en-US" altLang="zh-TW" dirty="0"/>
              <a:t>enough to count in all points.</a:t>
            </a:r>
          </a:p>
          <a:p>
            <a:r>
              <a:rPr lang="en-US" altLang="zh-TW" dirty="0"/>
              <a:t>Step 4) Determine the cutoff points and by </a:t>
            </a:r>
            <a:r>
              <a:rPr lang="en-US" altLang="zh-TW" dirty="0" smtClean="0"/>
              <a:t>the </a:t>
            </a:r>
            <a:r>
              <a:rPr lang="en-US" altLang="zh-TW" i="1" dirty="0" smtClean="0"/>
              <a:t>CUTOFF </a:t>
            </a:r>
            <a:r>
              <a:rPr lang="en-US" altLang="zh-TW" i="1" dirty="0"/>
              <a:t>algorithm.</a:t>
            </a:r>
          </a:p>
          <a:p>
            <a:r>
              <a:rPr lang="en-US" altLang="zh-TW" dirty="0"/>
              <a:t>Step 5) Compute the robust cost </a:t>
            </a:r>
            <a:r>
              <a:rPr lang="en-US" altLang="zh-TW" dirty="0" smtClean="0"/>
              <a:t>function.</a:t>
            </a:r>
            <a:endParaRPr lang="en-US" altLang="zh-TW" dirty="0"/>
          </a:p>
          <a:p>
            <a:r>
              <a:rPr lang="en-US" altLang="zh-TW" dirty="0"/>
              <a:t>Step 6) If the termination conditions are not satisfied, then </a:t>
            </a:r>
            <a:r>
              <a:rPr lang="en-US" altLang="zh-TW" dirty="0" smtClean="0"/>
              <a:t>go to </a:t>
            </a:r>
            <a:r>
              <a:rPr lang="en-US" altLang="zh-TW" dirty="0"/>
              <a:t>Step 2; otherwise, terminate the learning process.</a:t>
            </a:r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Robust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the learning algorithm, a robust cost function E</a:t>
            </a:r>
            <a:r>
              <a:rPr lang="en-US" altLang="zh-TW" baseline="-25000" dirty="0" smtClean="0"/>
              <a:t>R</a:t>
            </a:r>
            <a:r>
              <a:rPr lang="en-US" altLang="zh-TW" dirty="0" smtClean="0"/>
              <a:t>(t) is defined as:</a:t>
            </a:r>
          </a:p>
          <a:p>
            <a:endParaRPr lang="en-US" altLang="zh-TW" baseline="-25000" dirty="0"/>
          </a:p>
          <a:p>
            <a:pPr>
              <a:buNone/>
            </a:pPr>
            <a:endParaRPr lang="en-US" altLang="zh-TW" dirty="0" smtClean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2483768" y="2924944"/>
          <a:ext cx="3522220" cy="1152128"/>
        </p:xfrm>
        <a:graphic>
          <a:graphicData uri="http://schemas.openxmlformats.org/presentationml/2006/ole">
            <p:oleObj spid="_x0000_s25602" name="方程式" r:id="rId3" imgW="1358640" imgH="444240" progId="Equation.3">
              <p:embed/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Robust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the RSVR learning algorithms, the </a:t>
            </a:r>
            <a:r>
              <a:rPr lang="en-US" altLang="zh-TW" dirty="0" err="1" smtClean="0"/>
              <a:t>gradienet</a:t>
            </a:r>
            <a:r>
              <a:rPr lang="en-US" altLang="zh-TW" dirty="0" smtClean="0"/>
              <a:t> descent method is employed and </a:t>
            </a:r>
            <a:r>
              <a:rPr lang="el-GR" altLang="zh-TW" i="1" dirty="0" smtClean="0"/>
              <a:t>β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can be updated as</a:t>
            </a:r>
          </a:p>
          <a:p>
            <a:endParaRPr lang="en-US" altLang="zh-TW" baseline="-25000" dirty="0"/>
          </a:p>
          <a:p>
            <a:endParaRPr lang="en-US" altLang="zh-TW" baseline="-25000" dirty="0" smtClean="0"/>
          </a:p>
          <a:p>
            <a:endParaRPr lang="en-US" altLang="zh-TW" baseline="-25000" dirty="0"/>
          </a:p>
          <a:p>
            <a:endParaRPr lang="en-US" altLang="zh-TW" dirty="0" smtClean="0"/>
          </a:p>
          <a:p>
            <a:r>
              <a:rPr lang="el-GR" altLang="zh-TW" dirty="0" smtClean="0"/>
              <a:t>η</a:t>
            </a:r>
            <a:r>
              <a:rPr lang="en-US" altLang="zh-TW" dirty="0" smtClean="0"/>
              <a:t> is a learning constant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  is the influence function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2771800" y="3068960"/>
          <a:ext cx="4752528" cy="1837511"/>
        </p:xfrm>
        <a:graphic>
          <a:graphicData uri="http://schemas.openxmlformats.org/presentationml/2006/ole">
            <p:oleObj spid="_x0000_s26626" name="方程式" r:id="rId3" imgW="2463480" imgH="952200" progId="Equation.3">
              <p:embed/>
            </p:oleObj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899592" y="5517232"/>
          <a:ext cx="1080120" cy="513057"/>
        </p:xfrm>
        <a:graphic>
          <a:graphicData uri="http://schemas.openxmlformats.org/presentationml/2006/ole">
            <p:oleObj spid="_x0000_s26627" name="方程式" r:id="rId4" imgW="50796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Robust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tanh</a:t>
            </a:r>
            <a:r>
              <a:rPr lang="en-US" altLang="zh-TW" dirty="0" smtClean="0"/>
              <a:t>-estimator is used as the robust cost function: </a:t>
            </a:r>
            <a:endParaRPr lang="zh-TW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2636911"/>
            <a:ext cx="6480720" cy="332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Robust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influence function:</a:t>
            </a:r>
            <a:endParaRPr lang="zh-TW" alt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420888"/>
            <a:ext cx="7884368" cy="20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Robust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CUTOFF algorithm</a:t>
            </a:r>
          </a:p>
          <a:p>
            <a:pPr lvl="1"/>
            <a:r>
              <a:rPr lang="en-US" altLang="zh-TW" dirty="0"/>
              <a:t>Let </a:t>
            </a:r>
            <a:r>
              <a:rPr lang="en-US" altLang="zh-TW" dirty="0" smtClean="0"/>
              <a:t>q be an </a:t>
            </a:r>
            <a:r>
              <a:rPr lang="en-US" altLang="zh-TW" dirty="0"/>
              <a:t>upper bound of the percentage of outliers in the training </a:t>
            </a:r>
            <a:r>
              <a:rPr lang="en-US" altLang="zh-TW" dirty="0" smtClean="0"/>
              <a:t>data set</a:t>
            </a:r>
            <a:r>
              <a:rPr lang="en-US" altLang="zh-TW" dirty="0"/>
              <a:t>, and thus </a:t>
            </a:r>
            <a:r>
              <a:rPr lang="en-US" altLang="zh-TW" dirty="0" smtClean="0"/>
              <a:t>a(t) and b(t) can </a:t>
            </a:r>
            <a:r>
              <a:rPr lang="en-US" altLang="zh-TW" dirty="0"/>
              <a:t>be defined as follows.</a:t>
            </a:r>
            <a:endParaRPr lang="zh-TW" altLang="en-US" dirty="0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861048"/>
            <a:ext cx="8748464" cy="1335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Regression Function 1:</a:t>
            </a:r>
          </a:p>
          <a:p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en-US" altLang="zh-TW" dirty="0" smtClean="0"/>
              <a:t>Regression Function 2:</a:t>
            </a:r>
          </a:p>
          <a:p>
            <a:endParaRPr lang="en-US" altLang="zh-TW" dirty="0" smtClean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2132856"/>
            <a:ext cx="5616624" cy="1189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9672" y="4005064"/>
            <a:ext cx="5400599" cy="1136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Experimental Result</a:t>
            </a:r>
            <a:br>
              <a:rPr lang="en-US" altLang="zh-TW" dirty="0" smtClean="0"/>
            </a:br>
            <a:r>
              <a:rPr lang="en-US" altLang="zh-TW" dirty="0" smtClean="0"/>
              <a:t>with </a:t>
            </a:r>
            <a:r>
              <a:rPr lang="el-GR" altLang="zh-TW" dirty="0" smtClean="0"/>
              <a:t>ε</a:t>
            </a:r>
            <a:r>
              <a:rPr lang="en-US" altLang="zh-TW" dirty="0" smtClean="0"/>
              <a:t>-insensitive function </a:t>
            </a:r>
            <a:r>
              <a:rPr lang="el-GR" altLang="zh-TW" dirty="0" smtClean="0"/>
              <a:t>ε</a:t>
            </a:r>
            <a:r>
              <a:rPr lang="en-US" altLang="zh-TW" dirty="0" smtClean="0"/>
              <a:t>=0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772816"/>
            <a:ext cx="8545343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Experimental Result</a:t>
            </a:r>
            <a:br>
              <a:rPr lang="en-US" altLang="zh-TW" dirty="0" smtClean="0"/>
            </a:br>
            <a:r>
              <a:rPr lang="en-US" altLang="zh-TW" dirty="0" smtClean="0"/>
              <a:t>with </a:t>
            </a:r>
            <a:r>
              <a:rPr lang="el-GR" altLang="zh-TW" dirty="0" smtClean="0"/>
              <a:t>ε</a:t>
            </a:r>
            <a:r>
              <a:rPr lang="en-US" altLang="zh-TW" dirty="0" smtClean="0"/>
              <a:t>-insensitive function </a:t>
            </a:r>
            <a:r>
              <a:rPr lang="el-GR" altLang="zh-TW" dirty="0" smtClean="0"/>
              <a:t>ε</a:t>
            </a:r>
            <a:r>
              <a:rPr lang="en-US" altLang="zh-TW" dirty="0" smtClean="0"/>
              <a:t>=0.1</a:t>
            </a:r>
            <a:endParaRPr lang="zh-TW" altLang="en-US" dirty="0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988840"/>
            <a:ext cx="8229600" cy="3532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 function regression with 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556792"/>
            <a:ext cx="6264696" cy="4868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 function regression with RSVR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484784"/>
            <a:ext cx="6408712" cy="4927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y=x^(2/3) regression with SVR</a:t>
            </a:r>
            <a:endParaRPr lang="zh-TW" altLang="en-US" dirty="0"/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340768"/>
            <a:ext cx="6552728" cy="5130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y=x^(2/3) regression with RSVR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294750"/>
            <a:ext cx="6912768" cy="5374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536706"/>
            <a:ext cx="8964488" cy="562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947" y="476672"/>
            <a:ext cx="8701541" cy="5664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256490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Thank you!</a:t>
            </a:r>
            <a:endParaRPr lang="zh-TW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SVM</a:t>
            </a:r>
          </a:p>
          <a:p>
            <a:pPr lvl="1"/>
            <a:r>
              <a:rPr lang="en-US" altLang="zh-TW" dirty="0" smtClean="0">
                <a:hlinkClick r:id="rId3"/>
              </a:rPr>
              <a:t>http://www.cmlab.csie.ntu.edu.tw/~cyy/learning/tutorials/SVM3.pdf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4"/>
              </a:rPr>
              <a:t>http://en.wikipedia.org/wiki/Support_vector_machine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5"/>
              </a:rPr>
              <a:t>http://crsouza.blogspot.com/2010/03/kernel-functions-for-machine-learning.html</a:t>
            </a:r>
            <a:endParaRPr lang="en-US" altLang="zh-TW" dirty="0" smtClean="0"/>
          </a:p>
          <a:p>
            <a:r>
              <a:rPr lang="en-US" altLang="zh-TW" dirty="0" smtClean="0"/>
              <a:t>SVR</a:t>
            </a:r>
          </a:p>
          <a:p>
            <a:pPr lvl="1"/>
            <a:r>
              <a:rPr lang="en-US" altLang="zh-TW" dirty="0" smtClean="0">
                <a:hlinkClick r:id="rId6"/>
              </a:rPr>
              <a:t>http://www.cmlab.csie.ntu.edu.tw/~cyy/learning/tutorials/SVR.pdf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2997</TotalTime>
  <Words>719</Words>
  <Application>Microsoft Office PowerPoint</Application>
  <PresentationFormat>如螢幕大小 (4:3)</PresentationFormat>
  <Paragraphs>117</Paragraphs>
  <Slides>29</Slides>
  <Notes>11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29</vt:i4>
      </vt:variant>
    </vt:vector>
  </HeadingPairs>
  <TitlesOfParts>
    <vt:vector size="32" baseType="lpstr">
      <vt:lpstr>Office 佈景主題</vt:lpstr>
      <vt:lpstr>方程式</vt:lpstr>
      <vt:lpstr>Microsoft 方程式編輯器 3.0</vt:lpstr>
      <vt:lpstr>Robust Support Vector Regression Networks for Function Approximation With Outliers</vt:lpstr>
      <vt:lpstr>Abstract</vt:lpstr>
      <vt:lpstr>Support Vector Machine (SVM)</vt:lpstr>
      <vt:lpstr>Support Vector Machine (SVM)</vt:lpstr>
      <vt:lpstr>Support Vector Machine (SVM)</vt:lpstr>
      <vt:lpstr>Support Vector Machine (SVM)</vt:lpstr>
      <vt:lpstr>Support Vector Regression(SVR)</vt:lpstr>
      <vt:lpstr>Traditional SVR</vt:lpstr>
      <vt:lpstr>Traditional SVR</vt:lpstr>
      <vt:lpstr>Traditional SVR</vt:lpstr>
      <vt:lpstr>Robust SVR</vt:lpstr>
      <vt:lpstr>Robust SVR</vt:lpstr>
      <vt:lpstr>Robust SVR</vt:lpstr>
      <vt:lpstr>Robust SVR</vt:lpstr>
      <vt:lpstr>Robust SVR</vt:lpstr>
      <vt:lpstr>Robust SVR</vt:lpstr>
      <vt:lpstr>Robust SVR</vt:lpstr>
      <vt:lpstr>Robust SVR</vt:lpstr>
      <vt:lpstr>Experiment</vt:lpstr>
      <vt:lpstr>Experimental Result with ε-insensitive function ε=0</vt:lpstr>
      <vt:lpstr>Experimental Result with ε-insensitive function ε=0.1</vt:lpstr>
      <vt:lpstr>Sin function regression with SVR</vt:lpstr>
      <vt:lpstr>Sin function regression with RSVR</vt:lpstr>
      <vt:lpstr>y=x^(2/3) regression with SVR</vt:lpstr>
      <vt:lpstr>y=x^(2/3) regression with RSVR</vt:lpstr>
      <vt:lpstr>投影片 26</vt:lpstr>
      <vt:lpstr>投影片 27</vt:lpstr>
      <vt:lpstr>Thank you!</vt:lpstr>
      <vt:lpstr>Reference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Support Vector Regression Networks for Function Approximation With Outliers</dc:title>
  <dc:creator>William</dc:creator>
  <cp:lastModifiedBy>William</cp:lastModifiedBy>
  <cp:revision>308</cp:revision>
  <dcterms:created xsi:type="dcterms:W3CDTF">2011-10-01T08:12:50Z</dcterms:created>
  <dcterms:modified xsi:type="dcterms:W3CDTF">2011-10-03T12:09:30Z</dcterms:modified>
</cp:coreProperties>
</file>