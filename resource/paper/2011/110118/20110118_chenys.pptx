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58" r:id="rId6"/>
    <p:sldId id="261" r:id="rId7"/>
    <p:sldId id="262" r:id="rId8"/>
    <p:sldId id="263" r:id="rId9"/>
    <p:sldId id="265" r:id="rId10"/>
    <p:sldId id="264" r:id="rId11"/>
    <p:sldId id="269" r:id="rId12"/>
    <p:sldId id="270" r:id="rId13"/>
    <p:sldId id="271" r:id="rId14"/>
    <p:sldId id="272" r:id="rId15"/>
    <p:sldId id="266" r:id="rId16"/>
    <p:sldId id="267" r:id="rId17"/>
    <p:sldId id="268" r:id="rId1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8" d="100"/>
          <a:sy n="98" d="100"/>
        </p:scale>
        <p:origin x="-35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8523C-AFD4-4804-B71E-6D52F70FA032}" type="datetimeFigureOut">
              <a:rPr lang="zh-TW" altLang="en-US" smtClean="0"/>
              <a:t>2011/1/18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D69C8-4F21-4217-86AB-3BD7A6949E0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8523C-AFD4-4804-B71E-6D52F70FA032}" type="datetimeFigureOut">
              <a:rPr lang="zh-TW" altLang="en-US" smtClean="0"/>
              <a:t>2011/1/18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D69C8-4F21-4217-86AB-3BD7A6949E0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8523C-AFD4-4804-B71E-6D52F70FA032}" type="datetimeFigureOut">
              <a:rPr lang="zh-TW" altLang="en-US" smtClean="0"/>
              <a:t>2011/1/18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D69C8-4F21-4217-86AB-3BD7A6949E0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8523C-AFD4-4804-B71E-6D52F70FA032}" type="datetimeFigureOut">
              <a:rPr lang="zh-TW" altLang="en-US" smtClean="0"/>
              <a:t>2011/1/18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D69C8-4F21-4217-86AB-3BD7A6949E0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8523C-AFD4-4804-B71E-6D52F70FA032}" type="datetimeFigureOut">
              <a:rPr lang="zh-TW" altLang="en-US" smtClean="0"/>
              <a:t>2011/1/18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D69C8-4F21-4217-86AB-3BD7A6949E0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8523C-AFD4-4804-B71E-6D52F70FA032}" type="datetimeFigureOut">
              <a:rPr lang="zh-TW" altLang="en-US" smtClean="0"/>
              <a:t>2011/1/18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D69C8-4F21-4217-86AB-3BD7A6949E0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8523C-AFD4-4804-B71E-6D52F70FA032}" type="datetimeFigureOut">
              <a:rPr lang="zh-TW" altLang="en-US" smtClean="0"/>
              <a:t>2011/1/18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D69C8-4F21-4217-86AB-3BD7A6949E0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8523C-AFD4-4804-B71E-6D52F70FA032}" type="datetimeFigureOut">
              <a:rPr lang="zh-TW" altLang="en-US" smtClean="0"/>
              <a:t>2011/1/18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D69C8-4F21-4217-86AB-3BD7A6949E0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8523C-AFD4-4804-B71E-6D52F70FA032}" type="datetimeFigureOut">
              <a:rPr lang="zh-TW" altLang="en-US" smtClean="0"/>
              <a:t>2011/1/18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D69C8-4F21-4217-86AB-3BD7A6949E0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8523C-AFD4-4804-B71E-6D52F70FA032}" type="datetimeFigureOut">
              <a:rPr lang="zh-TW" altLang="en-US" smtClean="0"/>
              <a:t>2011/1/18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D69C8-4F21-4217-86AB-3BD7A6949E0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8523C-AFD4-4804-B71E-6D52F70FA032}" type="datetimeFigureOut">
              <a:rPr lang="zh-TW" altLang="en-US" smtClean="0"/>
              <a:t>2011/1/18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D69C8-4F21-4217-86AB-3BD7A6949E0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48523C-AFD4-4804-B71E-6D52F70FA032}" type="datetimeFigureOut">
              <a:rPr lang="zh-TW" altLang="en-US" smtClean="0"/>
              <a:t>2011/1/18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D69C8-4F21-4217-86AB-3BD7A6949E0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268760"/>
            <a:ext cx="7772400" cy="2952327"/>
          </a:xfrm>
        </p:spPr>
        <p:txBody>
          <a:bodyPr>
            <a:normAutofit/>
          </a:bodyPr>
          <a:lstStyle/>
          <a:p>
            <a:r>
              <a:rPr lang="en-US" altLang="zh-TW" sz="4000" dirty="0" smtClean="0"/>
              <a:t>Highly-fair bakery algorithm using symmetric tokens</a:t>
            </a:r>
            <a:r>
              <a:rPr lang="en-US" altLang="zh-TW" sz="2000" dirty="0" smtClean="0"/>
              <a:t/>
            </a:r>
            <a:br>
              <a:rPr lang="en-US" altLang="zh-TW" sz="2000" dirty="0" smtClean="0"/>
            </a:br>
            <a:r>
              <a:rPr lang="en-US" altLang="zh-TW" sz="2000" dirty="0" smtClean="0"/>
              <a:t> </a:t>
            </a:r>
            <a:r>
              <a:rPr lang="en-US" altLang="zh-TW" sz="4000" dirty="0" smtClean="0"/>
              <a:t/>
            </a:r>
            <a:br>
              <a:rPr lang="en-US" altLang="zh-TW" sz="4000" dirty="0" smtClean="0"/>
            </a:br>
            <a:r>
              <a:rPr lang="en-US" altLang="zh-TW" sz="2000" dirty="0"/>
              <a:t> Alex A. </a:t>
            </a:r>
            <a:r>
              <a:rPr lang="en-US" altLang="zh-TW" sz="2000" dirty="0" err="1" smtClean="0"/>
              <a:t>Aravind</a:t>
            </a:r>
            <a:r>
              <a:rPr lang="en-US" altLang="zh-TW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altLang="zh-TW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altLang="zh-TW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Information Processing Letters, Vol. 110, pp. </a:t>
            </a:r>
            <a:r>
              <a:rPr lang="en-US" altLang="zh-TW" sz="2000" dirty="0" smtClean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1155-1060, </a:t>
            </a:r>
            <a:r>
              <a:rPr lang="en-US" altLang="zh-TW" sz="2000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2010</a:t>
            </a:r>
            <a:endParaRPr lang="zh-TW" altLang="en-US" sz="4000" dirty="0"/>
          </a:p>
        </p:txBody>
      </p:sp>
      <p:sp>
        <p:nvSpPr>
          <p:cNvPr id="4" name="副標題 2"/>
          <p:cNvSpPr>
            <a:spLocks noGrp="1"/>
          </p:cNvSpPr>
          <p:nvPr>
            <p:ph type="subTitle" idx="1"/>
          </p:nvPr>
        </p:nvSpPr>
        <p:spPr>
          <a:xfrm>
            <a:off x="1475656" y="4365104"/>
            <a:ext cx="6400800" cy="1224136"/>
          </a:xfrm>
        </p:spPr>
        <p:txBody>
          <a:bodyPr>
            <a:normAutofit/>
          </a:bodyPr>
          <a:lstStyle/>
          <a:p>
            <a:pPr algn="r"/>
            <a:r>
              <a:rPr lang="en-US" altLang="zh-TW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Presenter:Chen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Yu </a:t>
            </a:r>
            <a:r>
              <a:rPr lang="en-US" altLang="zh-TW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shiun</a:t>
            </a:r>
            <a:endParaRPr lang="en-US" altLang="zh-TW" sz="2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</a:t>
            </a:r>
            <a:r>
              <a:rPr lang="en-US" altLang="zh-TW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Date:Nov</a:t>
            </a:r>
            <a:r>
              <a:rPr lang="en-US" altLang="zh-TW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23, 2010</a:t>
            </a:r>
            <a:endParaRPr lang="zh-TW" alt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altLang="zh-TW" sz="3000" dirty="0" smtClean="0"/>
              <a:t>	This </a:t>
            </a:r>
            <a:r>
              <a:rPr lang="en-US" altLang="zh-TW" sz="3000" dirty="0"/>
              <a:t>note proposes a new version of the bakery algorithm that: (</a:t>
            </a:r>
            <a:r>
              <a:rPr lang="en-US" altLang="zh-TW" sz="3000" dirty="0" err="1"/>
              <a:t>i</a:t>
            </a:r>
            <a:r>
              <a:rPr lang="en-US" altLang="zh-TW" sz="3000" dirty="0"/>
              <a:t>) assures fair </a:t>
            </a:r>
            <a:r>
              <a:rPr lang="en-US" altLang="zh-TW" sz="3000" dirty="0" smtClean="0"/>
              <a:t>tie-breaking when </a:t>
            </a:r>
            <a:r>
              <a:rPr lang="en-US" altLang="zh-TW" sz="3000" dirty="0"/>
              <a:t>two or more processes choose same token number; and (ii) bounds the </a:t>
            </a:r>
            <a:r>
              <a:rPr lang="en-US" altLang="zh-TW" sz="3000" dirty="0" smtClean="0"/>
              <a:t>token numbers </a:t>
            </a:r>
            <a:r>
              <a:rPr lang="en-US" altLang="zh-TW" sz="3000" dirty="0"/>
              <a:t>within the range [−</a:t>
            </a:r>
            <a:r>
              <a:rPr lang="en-US" altLang="zh-TW" sz="3000" i="1" dirty="0" err="1"/>
              <a:t>n,n</a:t>
            </a:r>
            <a:r>
              <a:rPr lang="en-US" altLang="zh-TW" sz="3000" i="1" dirty="0"/>
              <a:t>]. The algorithm is simple and uses one additional </a:t>
            </a:r>
            <a:r>
              <a:rPr lang="en-US" altLang="zh-TW" sz="3000" i="1" dirty="0" smtClean="0"/>
              <a:t>shared </a:t>
            </a:r>
            <a:r>
              <a:rPr lang="en-US" altLang="zh-TW" sz="3000" dirty="0" smtClean="0"/>
              <a:t>bit</a:t>
            </a:r>
            <a:r>
              <a:rPr lang="en-US" altLang="zh-TW" sz="3000" dirty="0"/>
              <a:t>.</a:t>
            </a:r>
            <a:endParaRPr lang="zh-TW" alt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Mutual </a:t>
            </a:r>
            <a:r>
              <a:rPr lang="en-US" altLang="zh-TW" dirty="0" err="1" smtClean="0"/>
              <a:t>Exclution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4264496"/>
            <a:ext cx="8229600" cy="1972816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Mutual exclusion algorithms are used in concurrent programming to avoid the simultaneous use of a common resource, such as a global variable, by pieces of computer code called critical sections.</a:t>
            </a:r>
            <a:endParaRPr lang="zh-TW" altLang="en-US" sz="2800" dirty="0"/>
          </a:p>
        </p:txBody>
      </p:sp>
      <p:grpSp>
        <p:nvGrpSpPr>
          <p:cNvPr id="13" name="群組 12"/>
          <p:cNvGrpSpPr/>
          <p:nvPr/>
        </p:nvGrpSpPr>
        <p:grpSpPr>
          <a:xfrm>
            <a:off x="1331640" y="1628800"/>
            <a:ext cx="5976664" cy="1872208"/>
            <a:chOff x="899592" y="1628800"/>
            <a:chExt cx="5976664" cy="1872208"/>
          </a:xfrm>
        </p:grpSpPr>
        <p:sp>
          <p:nvSpPr>
            <p:cNvPr id="4" name="矩形 3"/>
            <p:cNvSpPr/>
            <p:nvPr/>
          </p:nvSpPr>
          <p:spPr>
            <a:xfrm>
              <a:off x="3563888" y="1628800"/>
              <a:ext cx="1440160" cy="7200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solidFill>
                    <a:schemeClr val="tx1"/>
                  </a:solidFill>
                </a:rPr>
                <a:t>P1: </a:t>
              </a:r>
              <a:r>
                <a:rPr lang="en-US" altLang="zh-TW" dirty="0" err="1" smtClean="0">
                  <a:solidFill>
                    <a:schemeClr val="tx1"/>
                  </a:solidFill>
                </a:rPr>
                <a:t>i</a:t>
              </a:r>
              <a:r>
                <a:rPr lang="en-US" altLang="zh-TW" dirty="0" smtClean="0">
                  <a:solidFill>
                    <a:schemeClr val="tx1"/>
                  </a:solidFill>
                </a:rPr>
                <a:t>++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3563888" y="2780928"/>
              <a:ext cx="1440160" cy="7200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>
                  <a:solidFill>
                    <a:schemeClr val="tx1"/>
                  </a:solidFill>
                </a:rPr>
                <a:t>P2: </a:t>
              </a:r>
              <a:r>
                <a:rPr lang="en-US" altLang="zh-TW" dirty="0" err="1" smtClean="0">
                  <a:solidFill>
                    <a:schemeClr val="tx1"/>
                  </a:solidFill>
                </a:rPr>
                <a:t>i</a:t>
              </a:r>
              <a:r>
                <a:rPr lang="en-US" altLang="zh-TW" dirty="0" smtClean="0">
                  <a:solidFill>
                    <a:schemeClr val="tx1"/>
                  </a:solidFill>
                </a:rPr>
                <a:t>++</a:t>
              </a:r>
              <a:endParaRPr lang="zh-TW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文字方塊 6"/>
            <p:cNvSpPr txBox="1"/>
            <p:nvPr/>
          </p:nvSpPr>
          <p:spPr>
            <a:xfrm>
              <a:off x="899592" y="2348880"/>
              <a:ext cx="19442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Global </a:t>
              </a:r>
              <a:r>
                <a:rPr lang="en-US" altLang="zh-TW" dirty="0"/>
                <a:t>Variable</a:t>
              </a:r>
              <a:r>
                <a:rPr lang="en-US" altLang="zh-TW" dirty="0" smtClean="0"/>
                <a:t> </a:t>
              </a:r>
              <a:r>
                <a:rPr lang="en-US" altLang="zh-TW" dirty="0" err="1" smtClean="0"/>
                <a:t>i</a:t>
              </a:r>
              <a:r>
                <a:rPr lang="en-US" altLang="zh-TW" dirty="0" smtClean="0"/>
                <a:t>=1</a:t>
              </a:r>
              <a:endParaRPr lang="zh-TW" altLang="en-US" dirty="0"/>
            </a:p>
          </p:txBody>
        </p:sp>
        <p:cxnSp>
          <p:nvCxnSpPr>
            <p:cNvPr id="9" name="直線單箭頭接點 8"/>
            <p:cNvCxnSpPr>
              <a:stCxn id="7" idx="3"/>
              <a:endCxn id="10" idx="1"/>
            </p:cNvCxnSpPr>
            <p:nvPr/>
          </p:nvCxnSpPr>
          <p:spPr>
            <a:xfrm>
              <a:off x="2843808" y="2533546"/>
              <a:ext cx="3240360" cy="1588"/>
            </a:xfrm>
            <a:prstGeom prst="straightConnector1">
              <a:avLst/>
            </a:prstGeom>
            <a:ln w="28575" cmpd="dbl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字方塊 9"/>
            <p:cNvSpPr txBox="1"/>
            <p:nvPr/>
          </p:nvSpPr>
          <p:spPr>
            <a:xfrm>
              <a:off x="6084168" y="2348880"/>
              <a:ext cx="7920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err="1" smtClean="0"/>
                <a:t>i</a:t>
              </a:r>
              <a:r>
                <a:rPr lang="en-US" altLang="zh-TW" dirty="0" smtClean="0"/>
                <a:t>=?</a:t>
              </a:r>
              <a:endParaRPr lang="zh-TW" altLang="en-US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Software Solution of Mutual Exclusion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3491880" y="2780928"/>
            <a:ext cx="1944216" cy="8640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Doorway</a:t>
            </a:r>
          </a:p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(Enter Section)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3491880" y="4149080"/>
            <a:ext cx="1944216" cy="8640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CS</a:t>
            </a:r>
          </a:p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(Critical Section)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3491880" y="5589240"/>
            <a:ext cx="1944216" cy="8640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Exit Section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8" name="直線單箭頭接點 7"/>
          <p:cNvCxnSpPr>
            <a:stCxn id="4" idx="2"/>
            <a:endCxn id="5" idx="0"/>
          </p:cNvCxnSpPr>
          <p:nvPr/>
        </p:nvCxnSpPr>
        <p:spPr>
          <a:xfrm rot="5400000">
            <a:off x="4211960" y="3897052"/>
            <a:ext cx="50405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>
            <a:stCxn id="5" idx="2"/>
            <a:endCxn id="6" idx="0"/>
          </p:cNvCxnSpPr>
          <p:nvPr/>
        </p:nvCxnSpPr>
        <p:spPr>
          <a:xfrm rot="5400000">
            <a:off x="4175956" y="5301208"/>
            <a:ext cx="57606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1979712" y="1556792"/>
            <a:ext cx="504056" cy="6480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P1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987824" y="1556792"/>
            <a:ext cx="504056" cy="6480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P2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300192" y="1484784"/>
            <a:ext cx="504056" cy="6480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>
                <a:solidFill>
                  <a:schemeClr val="tx1"/>
                </a:solidFill>
              </a:rPr>
              <a:t>Pn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5" name="直線單箭頭接點 14"/>
          <p:cNvCxnSpPr>
            <a:stCxn id="11" idx="2"/>
          </p:cNvCxnSpPr>
          <p:nvPr/>
        </p:nvCxnSpPr>
        <p:spPr>
          <a:xfrm rot="16200000" flipH="1">
            <a:off x="2609782" y="1826822"/>
            <a:ext cx="576064" cy="13321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stCxn id="12" idx="2"/>
          </p:cNvCxnSpPr>
          <p:nvPr/>
        </p:nvCxnSpPr>
        <p:spPr>
          <a:xfrm rot="16200000" flipH="1">
            <a:off x="3293858" y="2150858"/>
            <a:ext cx="576064" cy="68407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>
            <a:stCxn id="13" idx="2"/>
          </p:cNvCxnSpPr>
          <p:nvPr/>
        </p:nvCxnSpPr>
        <p:spPr>
          <a:xfrm rot="5400000">
            <a:off x="5598114" y="1826822"/>
            <a:ext cx="648072" cy="12601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/>
          <p:cNvSpPr txBox="1"/>
          <p:nvPr/>
        </p:nvSpPr>
        <p:spPr>
          <a:xfrm>
            <a:off x="4067944" y="1628800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……………………</a:t>
            </a:r>
            <a:endParaRPr lang="zh-TW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Critical Section Design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Safety property</a:t>
            </a:r>
          </a:p>
          <a:p>
            <a:pPr lvl="1"/>
            <a:r>
              <a:rPr lang="en-US" altLang="zh-TW" dirty="0"/>
              <a:t>At any time, at most one </a:t>
            </a:r>
            <a:r>
              <a:rPr lang="en-US" altLang="zh-TW" dirty="0" smtClean="0"/>
              <a:t>process is </a:t>
            </a:r>
            <a:r>
              <a:rPr lang="en-US" altLang="zh-TW" dirty="0"/>
              <a:t>allowed to access </a:t>
            </a:r>
            <a:r>
              <a:rPr lang="en-US" altLang="zh-TW" i="1" dirty="0" smtClean="0"/>
              <a:t>R.</a:t>
            </a:r>
            <a:endParaRPr lang="en-US" altLang="zh-TW" dirty="0" smtClean="0"/>
          </a:p>
          <a:p>
            <a:r>
              <a:rPr lang="en-US" altLang="zh-TW" dirty="0" err="1" smtClean="0"/>
              <a:t>Liveness</a:t>
            </a:r>
            <a:r>
              <a:rPr lang="en-US" altLang="zh-TW" dirty="0" smtClean="0"/>
              <a:t> property</a:t>
            </a:r>
          </a:p>
          <a:p>
            <a:pPr lvl="1"/>
            <a:r>
              <a:rPr lang="en-US" altLang="zh-TW" dirty="0" smtClean="0"/>
              <a:t>When some </a:t>
            </a:r>
            <a:r>
              <a:rPr lang="en-US" altLang="zh-TW" dirty="0"/>
              <a:t>processes are interested in accessing </a:t>
            </a:r>
            <a:r>
              <a:rPr lang="en-US" altLang="zh-TW" i="1" dirty="0"/>
              <a:t>R, one of </a:t>
            </a:r>
            <a:r>
              <a:rPr lang="en-US" altLang="zh-TW" i="1" dirty="0" smtClean="0"/>
              <a:t>them </a:t>
            </a:r>
            <a:r>
              <a:rPr lang="en-US" altLang="zh-TW" dirty="0" smtClean="0"/>
              <a:t>eventually </a:t>
            </a:r>
            <a:r>
              <a:rPr lang="en-US" altLang="zh-TW" dirty="0"/>
              <a:t>succeeds in accessing </a:t>
            </a:r>
            <a:r>
              <a:rPr lang="en-US" altLang="zh-TW" i="1" dirty="0" smtClean="0"/>
              <a:t>R.</a:t>
            </a:r>
            <a:endParaRPr lang="en-US" altLang="zh-TW" dirty="0" smtClean="0"/>
          </a:p>
          <a:p>
            <a:r>
              <a:rPr lang="en-US" altLang="zh-TW" dirty="0" smtClean="0"/>
              <a:t>Freedom from starvation property</a:t>
            </a:r>
          </a:p>
          <a:p>
            <a:pPr lvl="1"/>
            <a:r>
              <a:rPr lang="en-US" altLang="zh-TW" dirty="0"/>
              <a:t>Any process interested in accessing </a:t>
            </a:r>
            <a:r>
              <a:rPr lang="en-US" altLang="zh-TW" i="1" dirty="0"/>
              <a:t>R will be </a:t>
            </a:r>
            <a:r>
              <a:rPr lang="en-US" altLang="zh-TW" i="1" dirty="0" smtClean="0"/>
              <a:t>able </a:t>
            </a:r>
            <a:r>
              <a:rPr lang="en-US" altLang="zh-TW" dirty="0" smtClean="0"/>
              <a:t>to </a:t>
            </a:r>
            <a:r>
              <a:rPr lang="en-US" altLang="zh-TW" dirty="0"/>
              <a:t>do so in finite </a:t>
            </a:r>
            <a:r>
              <a:rPr lang="en-US" altLang="zh-TW" dirty="0" smtClean="0"/>
              <a:t>time.</a:t>
            </a:r>
            <a:endParaRPr lang="zh-TW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Bakery Algorithm</a:t>
            </a:r>
            <a:endParaRPr lang="en-US" altLang="zh-TW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1224136"/>
            <a:ext cx="6885888" cy="5589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文字方塊 4"/>
          <p:cNvSpPr txBox="1"/>
          <p:nvPr/>
        </p:nvSpPr>
        <p:spPr>
          <a:xfrm>
            <a:off x="4932040" y="4437112"/>
            <a:ext cx="36724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>
                <a:solidFill>
                  <a:schemeClr val="accent2">
                    <a:lumMod val="75000"/>
                  </a:schemeClr>
                </a:solidFill>
              </a:rPr>
              <a:t>(Num[</a:t>
            </a:r>
            <a:r>
              <a:rPr lang="en-US" altLang="zh-TW" sz="2000" dirty="0" err="1" smtClean="0">
                <a:solidFill>
                  <a:schemeClr val="accent2">
                    <a:lumMod val="75000"/>
                  </a:schemeClr>
                </a:solidFill>
              </a:rPr>
              <a:t>i</a:t>
            </a:r>
            <a:r>
              <a:rPr lang="en-US" altLang="zh-TW" sz="2000" dirty="0" smtClean="0">
                <a:solidFill>
                  <a:schemeClr val="accent2">
                    <a:lumMod val="75000"/>
                  </a:schemeClr>
                </a:solidFill>
              </a:rPr>
              <a:t>],</a:t>
            </a:r>
            <a:r>
              <a:rPr lang="en-US" altLang="zh-TW" sz="2000" dirty="0" err="1" smtClean="0">
                <a:solidFill>
                  <a:schemeClr val="accent2">
                    <a:lumMod val="75000"/>
                  </a:schemeClr>
                </a:solidFill>
              </a:rPr>
              <a:t>i</a:t>
            </a:r>
            <a:r>
              <a:rPr lang="en-US" altLang="zh-TW" sz="2000" dirty="0" smtClean="0">
                <a:solidFill>
                  <a:schemeClr val="accent2">
                    <a:lumMod val="75000"/>
                  </a:schemeClr>
                </a:solidFill>
              </a:rPr>
              <a:t>) &lt;</a:t>
            </a:r>
            <a:r>
              <a:rPr lang="en-US" altLang="zh-TW" sz="2000" dirty="0" smtClean="0">
                <a:solidFill>
                  <a:schemeClr val="accent2">
                    <a:lumMod val="75000"/>
                  </a:schemeClr>
                </a:solidFill>
              </a:rPr>
              <a:t> (Num[</a:t>
            </a:r>
            <a:r>
              <a:rPr lang="en-US" altLang="zh-TW" sz="2000" dirty="0" smtClean="0">
                <a:solidFill>
                  <a:schemeClr val="accent2">
                    <a:lumMod val="75000"/>
                  </a:schemeClr>
                </a:solidFill>
              </a:rPr>
              <a:t>j</a:t>
            </a:r>
            <a:r>
              <a:rPr lang="en-US" altLang="zh-TW" sz="2000" dirty="0" smtClean="0">
                <a:solidFill>
                  <a:schemeClr val="accent2">
                    <a:lumMod val="75000"/>
                  </a:schemeClr>
                </a:solidFill>
              </a:rPr>
              <a:t>],</a:t>
            </a:r>
            <a:r>
              <a:rPr lang="en-US" altLang="zh-TW" sz="2000" dirty="0" smtClean="0">
                <a:solidFill>
                  <a:schemeClr val="accent2">
                    <a:lumMod val="75000"/>
                  </a:schemeClr>
                </a:solidFill>
              </a:rPr>
              <a:t>j</a:t>
            </a:r>
            <a:r>
              <a:rPr lang="en-US" altLang="zh-TW" sz="2000" dirty="0" smtClean="0">
                <a:solidFill>
                  <a:schemeClr val="accent2">
                    <a:lumMod val="75000"/>
                  </a:schemeClr>
                </a:solidFill>
              </a:rPr>
              <a:t>) means:</a:t>
            </a:r>
          </a:p>
          <a:p>
            <a:r>
              <a:rPr lang="en-US" altLang="zh-TW" sz="2000" dirty="0" smtClean="0">
                <a:solidFill>
                  <a:schemeClr val="accent2">
                    <a:lumMod val="75000"/>
                  </a:schemeClr>
                </a:solidFill>
              </a:rPr>
              <a:t>Num[</a:t>
            </a:r>
            <a:r>
              <a:rPr lang="en-US" altLang="zh-TW" sz="2000" dirty="0" err="1" smtClean="0">
                <a:solidFill>
                  <a:schemeClr val="accent2">
                    <a:lumMod val="75000"/>
                  </a:schemeClr>
                </a:solidFill>
              </a:rPr>
              <a:t>i</a:t>
            </a:r>
            <a:r>
              <a:rPr lang="en-US" altLang="zh-TW" sz="2000" dirty="0" smtClean="0">
                <a:solidFill>
                  <a:schemeClr val="accent2">
                    <a:lumMod val="75000"/>
                  </a:schemeClr>
                </a:solidFill>
              </a:rPr>
              <a:t>] &lt; Num[j] </a:t>
            </a:r>
          </a:p>
          <a:p>
            <a:r>
              <a:rPr lang="en-US" altLang="zh-TW" sz="2000" dirty="0" smtClean="0">
                <a:solidFill>
                  <a:schemeClr val="accent2">
                    <a:lumMod val="75000"/>
                  </a:schemeClr>
                </a:solidFill>
              </a:rPr>
              <a:t>              or</a:t>
            </a:r>
          </a:p>
          <a:p>
            <a:r>
              <a:rPr lang="en-US" altLang="zh-TW" sz="2000" dirty="0" smtClean="0">
                <a:solidFill>
                  <a:schemeClr val="accent2">
                    <a:lumMod val="75000"/>
                  </a:schemeClr>
                </a:solidFill>
              </a:rPr>
              <a:t>Num[</a:t>
            </a:r>
            <a:r>
              <a:rPr lang="en-US" altLang="zh-TW" sz="2000" dirty="0" err="1" smtClean="0">
                <a:solidFill>
                  <a:schemeClr val="accent2">
                    <a:lumMod val="75000"/>
                  </a:schemeClr>
                </a:solidFill>
              </a:rPr>
              <a:t>i</a:t>
            </a:r>
            <a:r>
              <a:rPr lang="en-US" altLang="zh-TW" sz="2000" dirty="0" smtClean="0">
                <a:solidFill>
                  <a:schemeClr val="accent2">
                    <a:lumMod val="75000"/>
                  </a:schemeClr>
                </a:solidFill>
              </a:rPr>
              <a:t>] = Num[j] and </a:t>
            </a:r>
            <a:r>
              <a:rPr lang="en-US" altLang="zh-TW" sz="2000" dirty="0" err="1" smtClean="0">
                <a:solidFill>
                  <a:schemeClr val="accent2">
                    <a:lumMod val="75000"/>
                  </a:schemeClr>
                </a:solidFill>
              </a:rPr>
              <a:t>i</a:t>
            </a:r>
            <a:r>
              <a:rPr lang="en-US" altLang="zh-TW" sz="2000" dirty="0" smtClean="0">
                <a:solidFill>
                  <a:schemeClr val="accent2">
                    <a:lumMod val="75000"/>
                  </a:schemeClr>
                </a:solidFill>
              </a:rPr>
              <a:t>&lt;j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Disadvantages of original Bakery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Lack of fairness</a:t>
            </a:r>
          </a:p>
          <a:p>
            <a:pPr lvl="1"/>
            <a:r>
              <a:rPr lang="en-US" altLang="zh-TW" dirty="0" smtClean="0"/>
              <a:t>When a “tie” event occurs ,Bakery Algorithm are always in favor of smaller ids.</a:t>
            </a:r>
          </a:p>
          <a:p>
            <a:pPr lvl="1">
              <a:buNone/>
            </a:pPr>
            <a:endParaRPr lang="en-US" altLang="zh-TW" dirty="0" smtClean="0"/>
          </a:p>
          <a:p>
            <a:r>
              <a:rPr lang="en-US" altLang="zh-TW" dirty="0" smtClean="0"/>
              <a:t>Overflow</a:t>
            </a:r>
          </a:p>
          <a:p>
            <a:pPr lvl="1"/>
            <a:r>
              <a:rPr lang="en-US" altLang="zh-TW" dirty="0" smtClean="0"/>
              <a:t>The token </a:t>
            </a:r>
            <a:r>
              <a:rPr lang="en-US" altLang="zh-TW" dirty="0" smtClean="0">
                <a:solidFill>
                  <a:schemeClr val="accent2">
                    <a:lumMod val="75000"/>
                  </a:schemeClr>
                </a:solidFill>
              </a:rPr>
              <a:t>n</a:t>
            </a:r>
            <a:r>
              <a:rPr lang="en-US" altLang="zh-TW" dirty="0" smtClean="0"/>
              <a:t> may overflow in 32bit system.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Symmetric Token Bakery Algorithm</a:t>
            </a:r>
            <a:endParaRPr lang="zh-TW" alt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19" y="1455342"/>
            <a:ext cx="8640961" cy="5142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SPIN Verification System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600200"/>
            <a:ext cx="8568952" cy="4853136"/>
          </a:xfrm>
        </p:spPr>
        <p:txBody>
          <a:bodyPr>
            <a:noAutofit/>
          </a:bodyPr>
          <a:lstStyle/>
          <a:p>
            <a:r>
              <a:rPr lang="en-US" altLang="zh-TW" sz="2200" dirty="0" smtClean="0"/>
              <a:t>Target </a:t>
            </a:r>
            <a:r>
              <a:rPr lang="en-US" altLang="zh-TW" sz="2200" dirty="0"/>
              <a:t>efficient software </a:t>
            </a:r>
            <a:r>
              <a:rPr lang="en-US" altLang="zh-TW" sz="2200" dirty="0" smtClean="0"/>
              <a:t>verification</a:t>
            </a:r>
          </a:p>
          <a:p>
            <a:r>
              <a:rPr lang="en-US" altLang="zh-TW" sz="2200" dirty="0" smtClean="0"/>
              <a:t>Supports </a:t>
            </a:r>
            <a:r>
              <a:rPr lang="en-US" altLang="zh-TW" sz="2200" dirty="0"/>
              <a:t>a high level language to specify </a:t>
            </a:r>
            <a:r>
              <a:rPr lang="en-US" altLang="zh-TW" sz="2200" dirty="0" smtClean="0"/>
              <a:t>systems descriptions</a:t>
            </a:r>
          </a:p>
          <a:p>
            <a:pPr lvl="1"/>
            <a:r>
              <a:rPr lang="en-US" altLang="zh-TW" sz="1800" dirty="0" smtClean="0"/>
              <a:t>called</a:t>
            </a:r>
            <a:r>
              <a:rPr lang="en-US" altLang="zh-TW" sz="1800" dirty="0"/>
              <a:t> </a:t>
            </a:r>
            <a:r>
              <a:rPr lang="en-US" altLang="zh-TW" sz="1800" dirty="0" smtClean="0"/>
              <a:t>PROMELA  (a</a:t>
            </a:r>
            <a:r>
              <a:rPr lang="en-US" altLang="zh-TW" sz="1800" dirty="0"/>
              <a:t> </a:t>
            </a:r>
            <a:r>
              <a:rPr lang="en-US" altLang="zh-TW" sz="1800" dirty="0" smtClean="0"/>
              <a:t>process</a:t>
            </a:r>
            <a:r>
              <a:rPr lang="en-US" altLang="zh-TW" sz="1800" dirty="0"/>
              <a:t> </a:t>
            </a:r>
            <a:r>
              <a:rPr lang="en-US" altLang="zh-TW" sz="1800" dirty="0" smtClean="0"/>
              <a:t>META language)</a:t>
            </a:r>
          </a:p>
          <a:p>
            <a:r>
              <a:rPr lang="en-US" altLang="zh-TW" sz="2200" dirty="0"/>
              <a:t>U</a:t>
            </a:r>
            <a:r>
              <a:rPr lang="en-US" altLang="zh-TW" sz="2200" dirty="0" smtClean="0"/>
              <a:t>sed </a:t>
            </a:r>
            <a:r>
              <a:rPr lang="en-US" altLang="zh-TW" sz="2200" dirty="0"/>
              <a:t>to trace logical design errors in distributed systems </a:t>
            </a:r>
            <a:r>
              <a:rPr lang="en-US" altLang="zh-TW" sz="2200" dirty="0" smtClean="0"/>
              <a:t>design</a:t>
            </a:r>
          </a:p>
          <a:p>
            <a:pPr lvl="1"/>
            <a:r>
              <a:rPr lang="en-US" altLang="zh-TW" sz="1800" dirty="0" smtClean="0"/>
              <a:t>such </a:t>
            </a:r>
            <a:r>
              <a:rPr lang="en-US" altLang="zh-TW" sz="1800" dirty="0"/>
              <a:t>as operating systems, data communications protocols, switching systems, concurrent algorithms, railway signaling protocols, etc. </a:t>
            </a:r>
            <a:endParaRPr lang="en-US" altLang="zh-TW" sz="1800" dirty="0" smtClean="0"/>
          </a:p>
          <a:p>
            <a:r>
              <a:rPr lang="en-US" altLang="zh-TW" sz="2200" dirty="0" smtClean="0"/>
              <a:t>Checks </a:t>
            </a:r>
            <a:r>
              <a:rPr lang="en-US" altLang="zh-TW" sz="2200" dirty="0"/>
              <a:t>the logical consistency of a </a:t>
            </a:r>
            <a:r>
              <a:rPr lang="en-US" altLang="zh-TW" sz="2200" dirty="0" smtClean="0"/>
              <a:t>specification</a:t>
            </a:r>
          </a:p>
          <a:p>
            <a:pPr lvl="1"/>
            <a:r>
              <a:rPr lang="en-US" altLang="zh-TW" sz="1800" dirty="0" smtClean="0"/>
              <a:t>reports </a:t>
            </a:r>
            <a:r>
              <a:rPr lang="en-US" altLang="zh-TW" sz="1800" dirty="0"/>
              <a:t>on deadlocks, unspecified receptions, flags incompleteness, race </a:t>
            </a:r>
            <a:r>
              <a:rPr lang="en-US" altLang="zh-TW" sz="1800" dirty="0" smtClean="0"/>
              <a:t>conditions</a:t>
            </a:r>
          </a:p>
          <a:p>
            <a:r>
              <a:rPr lang="en-US" altLang="zh-TW" sz="2200" dirty="0" smtClean="0"/>
              <a:t>Provides direct support for the use of multi-core computers for model checking runs</a:t>
            </a:r>
          </a:p>
          <a:p>
            <a:pPr lvl="1"/>
            <a:r>
              <a:rPr lang="en-US" altLang="zh-TW" sz="1800" dirty="0" smtClean="0"/>
              <a:t>supporting both safety and </a:t>
            </a:r>
            <a:r>
              <a:rPr lang="en-US" altLang="zh-TW" sz="1800" dirty="0" err="1" smtClean="0"/>
              <a:t>liveness</a:t>
            </a:r>
            <a:r>
              <a:rPr lang="en-US" altLang="zh-TW" sz="1800" dirty="0" smtClean="0"/>
              <a:t> verifications</a:t>
            </a:r>
            <a:endParaRPr lang="en-US" altLang="zh-TW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Correctness Proofs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dirty="0"/>
              <a:t>Theorem 3.1. </a:t>
            </a:r>
            <a:r>
              <a:rPr lang="en-US" altLang="zh-TW" i="1" dirty="0"/>
              <a:t>Symmetric token bakery algorithm assures </a:t>
            </a:r>
            <a:r>
              <a:rPr lang="en-US" altLang="zh-TW" i="1" dirty="0" smtClean="0"/>
              <a:t>safety.</a:t>
            </a:r>
          </a:p>
          <a:p>
            <a:pPr lvl="1"/>
            <a:r>
              <a:rPr lang="en-US" altLang="zh-TW" i="1" dirty="0" smtClean="0"/>
              <a:t>That </a:t>
            </a:r>
            <a:r>
              <a:rPr lang="en-US" altLang="zh-TW" i="1" dirty="0"/>
              <a:t>is, </a:t>
            </a:r>
            <a:r>
              <a:rPr lang="en-US" altLang="zh-TW" i="1" dirty="0" err="1"/>
              <a:t>i</a:t>
            </a:r>
            <a:r>
              <a:rPr lang="en-US" altLang="zh-TW" i="1" dirty="0"/>
              <a:t> ∈ [1.7, 2.7, 3, 4] ∧ j ∈ [1.7, 2.7, 3, 4]⇒</a:t>
            </a:r>
            <a:r>
              <a:rPr lang="en-US" altLang="zh-TW" i="1" dirty="0" err="1"/>
              <a:t>i</a:t>
            </a:r>
            <a:r>
              <a:rPr lang="en-US" altLang="zh-TW" i="1" dirty="0"/>
              <a:t> = j</a:t>
            </a:r>
            <a:r>
              <a:rPr lang="en-US" altLang="zh-TW" i="1" dirty="0" smtClean="0"/>
              <a:t>.</a:t>
            </a:r>
          </a:p>
          <a:p>
            <a:r>
              <a:rPr lang="en-US" altLang="zh-TW" dirty="0"/>
              <a:t>Theorem 3.2. </a:t>
            </a:r>
            <a:r>
              <a:rPr lang="en-US" altLang="zh-TW" i="1" dirty="0"/>
              <a:t>Symmetric token bakery algorithm assures </a:t>
            </a:r>
            <a:r>
              <a:rPr lang="en-US" altLang="zh-TW" i="1" dirty="0" err="1" smtClean="0"/>
              <a:t>liveness</a:t>
            </a:r>
            <a:r>
              <a:rPr lang="en-US" altLang="zh-TW" i="1" dirty="0" smtClean="0"/>
              <a:t>.</a:t>
            </a:r>
          </a:p>
          <a:p>
            <a:pPr lvl="1"/>
            <a:r>
              <a:rPr lang="en-US" altLang="zh-TW" i="1" dirty="0" smtClean="0"/>
              <a:t>That </a:t>
            </a:r>
            <a:r>
              <a:rPr lang="en-US" altLang="zh-TW" i="1" dirty="0"/>
              <a:t>is, when one or more processes interested in </a:t>
            </a:r>
            <a:r>
              <a:rPr lang="en-US" altLang="zh-TW" i="1" dirty="0" smtClean="0"/>
              <a:t>executing CS</a:t>
            </a:r>
            <a:r>
              <a:rPr lang="en-US" altLang="zh-TW" i="1" dirty="0"/>
              <a:t>, one of them eventually succeeds in executing CS</a:t>
            </a:r>
            <a:r>
              <a:rPr lang="en-US" altLang="zh-TW" i="1" dirty="0" smtClean="0"/>
              <a:t>.</a:t>
            </a:r>
          </a:p>
          <a:p>
            <a:r>
              <a:rPr lang="en-US" altLang="zh-TW" dirty="0"/>
              <a:t>Theorem 3.3. </a:t>
            </a:r>
            <a:r>
              <a:rPr lang="en-US" altLang="zh-TW" i="1" dirty="0"/>
              <a:t>Symmetric token bakery algorithm satisfies </a:t>
            </a:r>
            <a:r>
              <a:rPr lang="en-US" altLang="zh-TW" i="1" dirty="0" smtClean="0"/>
              <a:t>doorway based </a:t>
            </a:r>
            <a:r>
              <a:rPr lang="en-US" altLang="zh-TW" i="1" dirty="0"/>
              <a:t>FIFO</a:t>
            </a:r>
            <a:r>
              <a:rPr lang="en-US" altLang="zh-TW" i="1" dirty="0" smtClean="0"/>
              <a:t>.</a:t>
            </a:r>
          </a:p>
          <a:p>
            <a:r>
              <a:rPr lang="en-US" altLang="zh-TW" dirty="0"/>
              <a:t>Theorem 3.4. </a:t>
            </a:r>
            <a:r>
              <a:rPr lang="en-US" altLang="zh-TW" i="1" dirty="0"/>
              <a:t>Symmetric token bakery algorithm bounds </a:t>
            </a:r>
            <a:r>
              <a:rPr lang="en-US" altLang="zh-TW" i="1" dirty="0" smtClean="0"/>
              <a:t>the token </a:t>
            </a:r>
            <a:r>
              <a:rPr lang="en-US" altLang="zh-TW" i="1" dirty="0"/>
              <a:t>numbers within the interval [−</a:t>
            </a:r>
            <a:r>
              <a:rPr lang="en-US" altLang="zh-TW" i="1" dirty="0" err="1"/>
              <a:t>n,n</a:t>
            </a:r>
            <a:r>
              <a:rPr lang="en-US" altLang="zh-TW" i="1" dirty="0"/>
              <a:t>].</a:t>
            </a:r>
            <a:endParaRPr lang="zh-TW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Correctness Proofs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Theorem 3.1. </a:t>
            </a:r>
            <a:r>
              <a:rPr lang="en-US" altLang="zh-TW" i="1" dirty="0" smtClean="0"/>
              <a:t>Symmetric token bakery algorithm assures safety.</a:t>
            </a:r>
          </a:p>
          <a:p>
            <a:pPr lvl="1"/>
            <a:r>
              <a:rPr lang="en-US" altLang="zh-TW" i="1" dirty="0" smtClean="0"/>
              <a:t>That is, </a:t>
            </a:r>
            <a:r>
              <a:rPr lang="en-US" altLang="zh-TW" i="1" dirty="0" err="1" smtClean="0"/>
              <a:t>i</a:t>
            </a:r>
            <a:r>
              <a:rPr lang="en-US" altLang="zh-TW" i="1" dirty="0" smtClean="0"/>
              <a:t> ∈ [1.7, 2.7, 3, 4] ∧ j ∈ [1.7, 2.7, 3, 4]⇒</a:t>
            </a:r>
            <a:r>
              <a:rPr lang="en-US" altLang="zh-TW" i="1" dirty="0" err="1" smtClean="0"/>
              <a:t>i</a:t>
            </a:r>
            <a:r>
              <a:rPr lang="en-US" altLang="zh-TW" i="1" dirty="0" smtClean="0"/>
              <a:t> = j.</a:t>
            </a:r>
          </a:p>
          <a:p>
            <a:pPr lvl="2"/>
            <a:r>
              <a:rPr lang="en-US" altLang="zh-TW" dirty="0" smtClean="0"/>
              <a:t>Suppose </a:t>
            </a:r>
            <a:r>
              <a:rPr lang="en-US" altLang="zh-TW" i="1" dirty="0"/>
              <a:t>d = 1. Let t be the latest time at which d </a:t>
            </a:r>
            <a:r>
              <a:rPr lang="en-US" altLang="zh-TW" i="1" dirty="0" smtClean="0"/>
              <a:t>was </a:t>
            </a:r>
            <a:r>
              <a:rPr lang="en-US" altLang="zh-TW" dirty="0" smtClean="0"/>
              <a:t>set </a:t>
            </a:r>
            <a:r>
              <a:rPr lang="en-US" altLang="zh-TW" dirty="0"/>
              <a:t>to 1 (at line 1.7). This implies, process </a:t>
            </a:r>
            <a:r>
              <a:rPr lang="en-US" altLang="zh-TW" i="1" dirty="0" err="1"/>
              <a:t>i</a:t>
            </a:r>
            <a:r>
              <a:rPr lang="en-US" altLang="zh-TW" i="1" dirty="0"/>
              <a:t> must </a:t>
            </a:r>
            <a:r>
              <a:rPr lang="en-US" altLang="zh-TW" i="1" dirty="0" smtClean="0"/>
              <a:t>have </a:t>
            </a:r>
            <a:r>
              <a:rPr lang="en-US" altLang="zh-TW" dirty="0" smtClean="0"/>
              <a:t>computed </a:t>
            </a:r>
            <a:r>
              <a:rPr lang="en-US" altLang="zh-TW" i="1" dirty="0" err="1"/>
              <a:t>tk</a:t>
            </a:r>
            <a:r>
              <a:rPr lang="en-US" altLang="zh-TW" i="1" dirty="0"/>
              <a:t>[</a:t>
            </a:r>
            <a:r>
              <a:rPr lang="en-US" altLang="zh-TW" i="1" dirty="0" err="1"/>
              <a:t>i</a:t>
            </a:r>
            <a:r>
              <a:rPr lang="en-US" altLang="zh-TW" i="1" dirty="0"/>
              <a:t>], at line 1.1, before t and j must </a:t>
            </a:r>
            <a:r>
              <a:rPr lang="en-US" altLang="zh-TW" i="1" dirty="0" smtClean="0"/>
              <a:t>have </a:t>
            </a:r>
            <a:r>
              <a:rPr lang="en-US" altLang="zh-TW" dirty="0" smtClean="0"/>
              <a:t>computed </a:t>
            </a:r>
            <a:r>
              <a:rPr lang="en-US" altLang="zh-TW" i="1" dirty="0" err="1"/>
              <a:t>tk</a:t>
            </a:r>
            <a:r>
              <a:rPr lang="en-US" altLang="zh-TW" i="1" dirty="0"/>
              <a:t>[ j], at line 2.1, after t. In this case, </a:t>
            </a:r>
            <a:r>
              <a:rPr lang="en-US" altLang="zh-TW" i="1" dirty="0" smtClean="0"/>
              <a:t>process j </a:t>
            </a:r>
            <a:r>
              <a:rPr lang="en-US" altLang="zh-TW" i="1" dirty="0"/>
              <a:t>must notice </a:t>
            </a:r>
            <a:r>
              <a:rPr lang="en-US" altLang="zh-TW" i="1" dirty="0" err="1"/>
              <a:t>tk</a:t>
            </a:r>
            <a:r>
              <a:rPr lang="en-US" altLang="zh-TW" i="1" dirty="0"/>
              <a:t>[</a:t>
            </a:r>
            <a:r>
              <a:rPr lang="en-US" altLang="zh-TW" i="1" dirty="0" err="1"/>
              <a:t>i</a:t>
            </a:r>
            <a:r>
              <a:rPr lang="en-US" altLang="zh-TW" i="1" dirty="0"/>
              <a:t>] &gt; 0 and d = 1 at line 2.6 and </a:t>
            </a:r>
            <a:r>
              <a:rPr lang="en-US" altLang="zh-TW" i="1" dirty="0" smtClean="0"/>
              <a:t>therefore </a:t>
            </a:r>
            <a:r>
              <a:rPr lang="en-US" altLang="zh-TW" dirty="0" smtClean="0"/>
              <a:t>must </a:t>
            </a:r>
            <a:r>
              <a:rPr lang="en-US" altLang="zh-TW" dirty="0"/>
              <a:t>be blocked there. </a:t>
            </a:r>
            <a:endParaRPr lang="zh-TW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Correctness Proofs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Theorem 3.2. Symmetric token bakery algorithm assures </a:t>
            </a:r>
            <a:r>
              <a:rPr lang="en-US" altLang="zh-TW" dirty="0" err="1" smtClean="0"/>
              <a:t>liveness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That </a:t>
            </a:r>
            <a:r>
              <a:rPr lang="en-US" altLang="zh-TW" dirty="0"/>
              <a:t>is, when one or more processes interested in </a:t>
            </a:r>
            <a:r>
              <a:rPr lang="en-US" altLang="zh-TW" dirty="0" smtClean="0"/>
              <a:t>executing CS</a:t>
            </a:r>
            <a:r>
              <a:rPr lang="en-US" altLang="zh-TW" dirty="0"/>
              <a:t>, one of them eventually succeeds in executing CS</a:t>
            </a:r>
            <a:r>
              <a:rPr lang="en-US" altLang="zh-TW" dirty="0" smtClean="0"/>
              <a:t>.</a:t>
            </a:r>
          </a:p>
          <a:p>
            <a:pPr lvl="2"/>
            <a:r>
              <a:rPr lang="en-US" altLang="zh-TW" dirty="0" smtClean="0"/>
              <a:t>The </a:t>
            </a:r>
            <a:r>
              <a:rPr lang="en-US" altLang="zh-TW" dirty="0"/>
              <a:t>process with the smallest token, say </a:t>
            </a:r>
            <a:r>
              <a:rPr lang="en-US" altLang="zh-TW" dirty="0" err="1"/>
              <a:t>i</a:t>
            </a:r>
            <a:r>
              <a:rPr lang="en-US" altLang="zh-TW" dirty="0"/>
              <a:t>, </a:t>
            </a:r>
            <a:r>
              <a:rPr lang="en-US" altLang="zh-TW" dirty="0" smtClean="0"/>
              <a:t>will not </a:t>
            </a:r>
            <a:r>
              <a:rPr lang="en-US" altLang="zh-TW" dirty="0"/>
              <a:t>be blocked at line 1.5 by any other process with </a:t>
            </a:r>
            <a:r>
              <a:rPr lang="en-US" altLang="zh-TW" dirty="0" smtClean="0"/>
              <a:t>the same </a:t>
            </a:r>
            <a:r>
              <a:rPr lang="en-US" altLang="zh-TW" dirty="0"/>
              <a:t>token type. </a:t>
            </a:r>
            <a:r>
              <a:rPr lang="en-US" altLang="zh-TW" dirty="0" smtClean="0"/>
              <a:t>If </a:t>
            </a:r>
            <a:r>
              <a:rPr lang="en-US" altLang="zh-TW" dirty="0"/>
              <a:t>d = 1, then </a:t>
            </a:r>
            <a:r>
              <a:rPr lang="en-US" altLang="zh-TW" dirty="0" err="1"/>
              <a:t>i</a:t>
            </a:r>
            <a:r>
              <a:rPr lang="en-US" altLang="zh-TW" dirty="0"/>
              <a:t> will not be blocked by </a:t>
            </a:r>
            <a:r>
              <a:rPr lang="en-US" altLang="zh-TW" dirty="0" smtClean="0"/>
              <a:t>j, at </a:t>
            </a:r>
            <a:r>
              <a:rPr lang="en-US" altLang="zh-TW" dirty="0"/>
              <a:t>line 1.7, and hence </a:t>
            </a:r>
            <a:r>
              <a:rPr lang="en-US" altLang="zh-TW" dirty="0" err="1"/>
              <a:t>i</a:t>
            </a:r>
            <a:r>
              <a:rPr lang="en-US" altLang="zh-TW" dirty="0"/>
              <a:t> will eventually access CS. If d = 0</a:t>
            </a:r>
            <a:r>
              <a:rPr lang="en-US" altLang="zh-TW" dirty="0" smtClean="0"/>
              <a:t>,</a:t>
            </a:r>
            <a:r>
              <a:rPr lang="en-US" altLang="zh-TW" dirty="0"/>
              <a:t> then j will not be blocked by </a:t>
            </a:r>
            <a:r>
              <a:rPr lang="en-US" altLang="zh-TW" dirty="0" err="1"/>
              <a:t>i</a:t>
            </a:r>
            <a:r>
              <a:rPr lang="en-US" altLang="zh-TW" dirty="0"/>
              <a:t>, at line 2.7, and hence </a:t>
            </a:r>
            <a:r>
              <a:rPr lang="en-US" altLang="zh-TW" dirty="0" smtClean="0"/>
              <a:t>j will </a:t>
            </a:r>
            <a:r>
              <a:rPr lang="en-US" altLang="zh-TW" dirty="0"/>
              <a:t>eventually access CS.</a:t>
            </a:r>
            <a:endParaRPr lang="zh-TW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Correctness Proofs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Theorem 3.3. Symmetric token bakery algorithm satisfies </a:t>
            </a:r>
            <a:r>
              <a:rPr lang="en-US" altLang="zh-TW" dirty="0" smtClean="0"/>
              <a:t>doorway based </a:t>
            </a:r>
            <a:r>
              <a:rPr lang="en-US" altLang="zh-TW" dirty="0"/>
              <a:t>FIFO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We </a:t>
            </a:r>
            <a:r>
              <a:rPr lang="en-US" altLang="zh-TW" dirty="0"/>
              <a:t>need to show that if a process </a:t>
            </a:r>
            <a:r>
              <a:rPr lang="en-US" altLang="zh-TW" dirty="0" err="1"/>
              <a:t>i</a:t>
            </a:r>
            <a:r>
              <a:rPr lang="en-US" altLang="zh-TW" dirty="0"/>
              <a:t> completes </a:t>
            </a:r>
            <a:r>
              <a:rPr lang="en-US" altLang="zh-TW" dirty="0" smtClean="0"/>
              <a:t>the execution </a:t>
            </a:r>
            <a:r>
              <a:rPr lang="en-US" altLang="zh-TW" dirty="0"/>
              <a:t>of the doorway before another process j </a:t>
            </a:r>
            <a:r>
              <a:rPr lang="en-US" altLang="zh-TW" dirty="0" smtClean="0"/>
              <a:t>starts then </a:t>
            </a:r>
            <a:r>
              <a:rPr lang="en-US" altLang="zh-TW" dirty="0" err="1"/>
              <a:t>i</a:t>
            </a:r>
            <a:r>
              <a:rPr lang="en-US" altLang="zh-TW" dirty="0"/>
              <a:t> completes CS execution before j </a:t>
            </a:r>
            <a:r>
              <a:rPr lang="en-US" altLang="zh-TW" dirty="0" smtClean="0"/>
              <a:t>does.</a:t>
            </a:r>
          </a:p>
          <a:p>
            <a:pPr lvl="2"/>
            <a:r>
              <a:rPr lang="en-US" altLang="zh-TW" dirty="0" smtClean="0"/>
              <a:t>Let </a:t>
            </a:r>
            <a:r>
              <a:rPr lang="en-US" altLang="zh-TW" dirty="0"/>
              <a:t>t be the time at </a:t>
            </a:r>
            <a:r>
              <a:rPr lang="en-US" altLang="zh-TW" dirty="0" smtClean="0"/>
              <a:t>which the </a:t>
            </a:r>
            <a:r>
              <a:rPr lang="en-US" altLang="zh-TW" dirty="0"/>
              <a:t>value has changed. </a:t>
            </a:r>
            <a:r>
              <a:rPr lang="en-US" altLang="zh-TW" dirty="0" smtClean="0"/>
              <a:t>By </a:t>
            </a:r>
            <a:r>
              <a:rPr lang="en-US" altLang="zh-TW" dirty="0"/>
              <a:t>the safety </a:t>
            </a:r>
            <a:r>
              <a:rPr lang="en-US" altLang="zh-TW" dirty="0" smtClean="0"/>
              <a:t>property, this </a:t>
            </a:r>
            <a:r>
              <a:rPr lang="en-US" altLang="zh-TW" dirty="0"/>
              <a:t>is possible only if no process had a </a:t>
            </a:r>
            <a:r>
              <a:rPr lang="en-US" altLang="zh-TW" dirty="0" smtClean="0"/>
              <a:t>negative token </a:t>
            </a:r>
            <a:r>
              <a:rPr lang="en-US" altLang="zh-TW" dirty="0"/>
              <a:t>at time t. </a:t>
            </a:r>
            <a:r>
              <a:rPr lang="en-US" altLang="zh-TW" dirty="0" smtClean="0"/>
              <a:t>j </a:t>
            </a:r>
            <a:r>
              <a:rPr lang="en-US" altLang="zh-TW" dirty="0"/>
              <a:t>must notice </a:t>
            </a:r>
            <a:r>
              <a:rPr lang="en-US" altLang="zh-TW" dirty="0" err="1"/>
              <a:t>tk</a:t>
            </a:r>
            <a:r>
              <a:rPr lang="en-US" altLang="zh-TW" dirty="0"/>
              <a:t>[</a:t>
            </a:r>
            <a:r>
              <a:rPr lang="en-US" altLang="zh-TW" dirty="0" err="1"/>
              <a:t>i</a:t>
            </a:r>
            <a:r>
              <a:rPr lang="en-US" altLang="zh-TW" dirty="0"/>
              <a:t>] &gt; 0 and d = 1 at line </a:t>
            </a:r>
            <a:r>
              <a:rPr lang="en-US" altLang="zh-TW" dirty="0" smtClean="0"/>
              <a:t>2.6 and </a:t>
            </a:r>
            <a:r>
              <a:rPr lang="en-US" altLang="zh-TW" dirty="0"/>
              <a:t>therefore be blocked there until </a:t>
            </a:r>
            <a:r>
              <a:rPr lang="en-US" altLang="zh-TW" dirty="0" err="1"/>
              <a:t>i</a:t>
            </a:r>
            <a:r>
              <a:rPr lang="en-US" altLang="zh-TW" dirty="0"/>
              <a:t> completes </a:t>
            </a:r>
            <a:r>
              <a:rPr lang="en-US" altLang="zh-TW" dirty="0" smtClean="0"/>
              <a:t>its CS </a:t>
            </a:r>
            <a:r>
              <a:rPr lang="en-US" altLang="zh-TW" dirty="0"/>
              <a:t>access</a:t>
            </a:r>
            <a:r>
              <a:rPr lang="en-US" altLang="zh-TW" dirty="0" smtClean="0"/>
              <a:t>.</a:t>
            </a:r>
            <a:endParaRPr lang="zh-TW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Correctness Proofs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altLang="zh-TW" dirty="0"/>
              <a:t>Theorem 3.4. Symmetric token bakery algorithm bounds </a:t>
            </a:r>
            <a:r>
              <a:rPr lang="en-US" altLang="zh-TW" dirty="0" smtClean="0"/>
              <a:t>the token </a:t>
            </a:r>
            <a:r>
              <a:rPr lang="en-US" altLang="zh-TW" dirty="0"/>
              <a:t>numbers within the interval [−</a:t>
            </a:r>
            <a:r>
              <a:rPr lang="en-US" altLang="zh-TW" dirty="0" err="1"/>
              <a:t>n,n</a:t>
            </a:r>
            <a:r>
              <a:rPr lang="en-US" altLang="zh-TW" dirty="0" smtClean="0"/>
              <a:t>].</a:t>
            </a:r>
          </a:p>
          <a:p>
            <a:pPr lvl="1"/>
            <a:r>
              <a:rPr lang="en-US" altLang="zh-TW" dirty="0" smtClean="0"/>
              <a:t>Let </a:t>
            </a:r>
            <a:r>
              <a:rPr lang="en-US" altLang="zh-TW" dirty="0"/>
              <a:t>t be the time of the most recent execution </a:t>
            </a:r>
            <a:r>
              <a:rPr lang="en-US" altLang="zh-TW" dirty="0" smtClean="0"/>
              <a:t>of the </a:t>
            </a:r>
            <a:r>
              <a:rPr lang="en-US" altLang="zh-TW" dirty="0"/>
              <a:t>assignment statement d := 0. This assignment </a:t>
            </a:r>
            <a:r>
              <a:rPr lang="en-US" altLang="zh-TW" dirty="0" smtClean="0"/>
              <a:t>would be </a:t>
            </a:r>
            <a:r>
              <a:rPr lang="en-US" altLang="zh-TW" dirty="0"/>
              <a:t>possible either by initialization or by a process with </a:t>
            </a:r>
            <a:r>
              <a:rPr lang="en-US" altLang="zh-TW" dirty="0" smtClean="0"/>
              <a:t>a negative </a:t>
            </a:r>
            <a:r>
              <a:rPr lang="en-US" altLang="zh-TW" dirty="0"/>
              <a:t>token number. By the safety property, a </a:t>
            </a:r>
            <a:r>
              <a:rPr lang="en-US" altLang="zh-TW" dirty="0" smtClean="0"/>
              <a:t>process with </a:t>
            </a:r>
            <a:r>
              <a:rPr lang="en-US" altLang="zh-TW" dirty="0"/>
              <a:t>a negative token number will set d := 0 only when </a:t>
            </a:r>
            <a:r>
              <a:rPr lang="en-US" altLang="zh-TW" dirty="0" smtClean="0"/>
              <a:t>no process </a:t>
            </a:r>
            <a:r>
              <a:rPr lang="en-US" altLang="zh-TW" dirty="0"/>
              <a:t>with a positive token number is competing. </a:t>
            </a:r>
            <a:r>
              <a:rPr lang="en-US" altLang="zh-TW" dirty="0" smtClean="0"/>
              <a:t>That is</a:t>
            </a:r>
            <a:r>
              <a:rPr lang="en-US" altLang="zh-TW" dirty="0"/>
              <a:t>, at time t, the token numbers of the processes in </a:t>
            </a:r>
            <a:r>
              <a:rPr lang="en-US" altLang="zh-TW" dirty="0" smtClean="0"/>
              <a:t>the system </a:t>
            </a:r>
            <a:r>
              <a:rPr lang="en-US" altLang="zh-TW" dirty="0"/>
              <a:t>must be either 0 or negative. This implies that </a:t>
            </a:r>
            <a:r>
              <a:rPr lang="en-US" altLang="zh-TW" dirty="0" smtClean="0"/>
              <a:t>the first </a:t>
            </a:r>
            <a:r>
              <a:rPr lang="en-US" altLang="zh-TW" dirty="0"/>
              <a:t>positive token number computed after t must be </a:t>
            </a:r>
            <a:r>
              <a:rPr lang="en-US" altLang="zh-TW" dirty="0" smtClean="0"/>
              <a:t>1. Since </a:t>
            </a:r>
            <a:r>
              <a:rPr lang="en-US" altLang="zh-TW" dirty="0"/>
              <a:t>n is the maximum number of processes in the </a:t>
            </a:r>
            <a:r>
              <a:rPr lang="en-US" altLang="zh-TW" dirty="0" smtClean="0"/>
              <a:t>system and </a:t>
            </a:r>
            <a:r>
              <a:rPr lang="en-US" altLang="zh-TW" dirty="0"/>
              <a:t>each process can compute its token number </a:t>
            </a:r>
            <a:r>
              <a:rPr lang="en-US" altLang="zh-TW" dirty="0" smtClean="0"/>
              <a:t>as the </a:t>
            </a:r>
            <a:r>
              <a:rPr lang="en-US" altLang="zh-TW" dirty="0"/>
              <a:t>current maximum plus 1, no process can compute </a:t>
            </a:r>
            <a:r>
              <a:rPr lang="en-US" altLang="zh-TW" dirty="0" smtClean="0"/>
              <a:t>a token </a:t>
            </a:r>
            <a:r>
              <a:rPr lang="en-US" altLang="zh-TW" dirty="0"/>
              <a:t>number greater than n before d is set to 1 (by </a:t>
            </a:r>
            <a:r>
              <a:rPr lang="en-US" altLang="zh-TW" dirty="0" smtClean="0"/>
              <a:t>the process </a:t>
            </a:r>
            <a:r>
              <a:rPr lang="en-US" altLang="zh-TW" dirty="0"/>
              <a:t>with the smallest positive token number). The </a:t>
            </a:r>
            <a:r>
              <a:rPr lang="en-US" altLang="zh-TW" dirty="0" smtClean="0"/>
              <a:t>process with </a:t>
            </a:r>
            <a:r>
              <a:rPr lang="en-US" altLang="zh-TW" dirty="0"/>
              <a:t>the smallest positive token number will set </a:t>
            </a:r>
            <a:r>
              <a:rPr lang="en-US" altLang="zh-TW" dirty="0" smtClean="0"/>
              <a:t>d to </a:t>
            </a:r>
            <a:r>
              <a:rPr lang="en-US" altLang="zh-TW" dirty="0"/>
              <a:t>1 only when no process with a negative token </a:t>
            </a:r>
            <a:r>
              <a:rPr lang="en-US" altLang="zh-TW" dirty="0" smtClean="0"/>
              <a:t>number is </a:t>
            </a:r>
            <a:r>
              <a:rPr lang="en-US" altLang="zh-TW" dirty="0"/>
              <a:t>competing. Now, the first negative token number </a:t>
            </a:r>
            <a:r>
              <a:rPr lang="en-US" altLang="zh-TW" dirty="0" smtClean="0"/>
              <a:t>computed must </a:t>
            </a:r>
            <a:r>
              <a:rPr lang="en-US" altLang="zh-TW" dirty="0"/>
              <a:t>be −1. Since n is the maximum number </a:t>
            </a:r>
            <a:r>
              <a:rPr lang="en-US" altLang="zh-TW" dirty="0" smtClean="0"/>
              <a:t>of processes </a:t>
            </a:r>
            <a:r>
              <a:rPr lang="en-US" altLang="zh-TW" dirty="0"/>
              <a:t>in the system and each process can compute </a:t>
            </a:r>
            <a:r>
              <a:rPr lang="en-US" altLang="zh-TW" dirty="0" smtClean="0"/>
              <a:t>its token </a:t>
            </a:r>
            <a:r>
              <a:rPr lang="en-US" altLang="zh-TW" dirty="0"/>
              <a:t>number as the current minimum minus 1, no </a:t>
            </a:r>
            <a:r>
              <a:rPr lang="en-US" altLang="zh-TW" dirty="0" smtClean="0"/>
              <a:t>process can </a:t>
            </a:r>
            <a:r>
              <a:rPr lang="en-US" altLang="zh-TW" dirty="0"/>
              <a:t>compute a token number less than −n before </a:t>
            </a:r>
            <a:r>
              <a:rPr lang="en-US" altLang="zh-TW" dirty="0" smtClean="0"/>
              <a:t>d is </a:t>
            </a:r>
            <a:r>
              <a:rPr lang="en-US" altLang="zh-TW" dirty="0"/>
              <a:t>set to 0 (by the process with the largest negative </a:t>
            </a:r>
            <a:r>
              <a:rPr lang="en-US" altLang="zh-TW" dirty="0" smtClean="0"/>
              <a:t>token number</a:t>
            </a:r>
            <a:r>
              <a:rPr lang="en-US" altLang="zh-TW" dirty="0"/>
              <a:t>). The pattern repeats keeping the token </a:t>
            </a:r>
            <a:r>
              <a:rPr lang="en-US" altLang="zh-TW" dirty="0" smtClean="0"/>
              <a:t>numbers within </a:t>
            </a:r>
            <a:r>
              <a:rPr lang="en-US" altLang="zh-TW" dirty="0"/>
              <a:t>the range [−</a:t>
            </a:r>
            <a:r>
              <a:rPr lang="en-US" altLang="zh-TW" dirty="0" err="1"/>
              <a:t>n,n</a:t>
            </a:r>
            <a:r>
              <a:rPr lang="en-US" altLang="zh-TW" dirty="0"/>
              <a:t>]. </a:t>
            </a:r>
            <a:endParaRPr lang="zh-TW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Correctness Proofs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Theorem 3.5. </a:t>
            </a:r>
            <a:r>
              <a:rPr lang="en-US" altLang="zh-TW" i="1" dirty="0"/>
              <a:t>Symmetric token bakery algorithm assures </a:t>
            </a:r>
            <a:r>
              <a:rPr lang="en-US" altLang="zh-TW" i="1" dirty="0" smtClean="0"/>
              <a:t>fair tie-breaking </a:t>
            </a:r>
            <a:r>
              <a:rPr lang="en-US" altLang="zh-TW" i="1" dirty="0"/>
              <a:t>between any two competing </a:t>
            </a:r>
            <a:r>
              <a:rPr lang="en-US" altLang="zh-TW" i="1" dirty="0" smtClean="0"/>
              <a:t>processes.</a:t>
            </a:r>
          </a:p>
          <a:p>
            <a:pPr lvl="1"/>
            <a:r>
              <a:rPr lang="en-US" altLang="zh-TW" dirty="0" smtClean="0"/>
              <a:t>The </a:t>
            </a:r>
            <a:r>
              <a:rPr lang="en-US" altLang="zh-TW" dirty="0"/>
              <a:t>worst case will occur if ties in token numbers </a:t>
            </a:r>
            <a:r>
              <a:rPr lang="en-US" altLang="zh-TW" dirty="0" smtClean="0"/>
              <a:t>occur always </a:t>
            </a:r>
            <a:r>
              <a:rPr lang="en-US" altLang="zh-TW" dirty="0"/>
              <a:t>with one type of tokens for all the </a:t>
            </a:r>
            <a:r>
              <a:rPr lang="en-US" altLang="zh-TW" dirty="0" smtClean="0"/>
              <a:t>processes. If </a:t>
            </a:r>
            <a:r>
              <a:rPr lang="en-US" altLang="zh-TW" dirty="0"/>
              <a:t>all the ties occur always with positive token </a:t>
            </a:r>
            <a:r>
              <a:rPr lang="en-US" altLang="zh-TW" dirty="0" smtClean="0"/>
              <a:t>numbers in </a:t>
            </a:r>
            <a:r>
              <a:rPr lang="en-US" altLang="zh-TW" dirty="0"/>
              <a:t>the symmetric token bakery algorithm, then they </a:t>
            </a:r>
            <a:r>
              <a:rPr lang="en-US" altLang="zh-TW" dirty="0" smtClean="0"/>
              <a:t>will be </a:t>
            </a:r>
            <a:r>
              <a:rPr lang="en-US" altLang="zh-TW" dirty="0"/>
              <a:t>broken always in favor of smaller ids.</a:t>
            </a:r>
            <a:endParaRPr lang="zh-TW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Conclusion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Space complexity</a:t>
            </a:r>
          </a:p>
          <a:p>
            <a:pPr lvl="1"/>
            <a:r>
              <a:rPr lang="en-US" altLang="zh-TW" dirty="0" smtClean="0"/>
              <a:t>use 1 extra binary variable than bakery algorithm</a:t>
            </a:r>
          </a:p>
          <a:p>
            <a:r>
              <a:rPr lang="en-US" altLang="zh-TW" dirty="0" smtClean="0"/>
              <a:t>Time complexity</a:t>
            </a:r>
          </a:p>
          <a:p>
            <a:pPr lvl="1"/>
            <a:r>
              <a:rPr lang="en-US" altLang="zh-TW" dirty="0" smtClean="0"/>
              <a:t>Use 2 extra checks (on line 1 and 1.7/2.7)</a:t>
            </a:r>
          </a:p>
          <a:p>
            <a:r>
              <a:rPr lang="en-US" altLang="zh-TW" dirty="0" smtClean="0"/>
              <a:t>Simplicity</a:t>
            </a:r>
            <a:endParaRPr lang="zh-TW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2708920"/>
            <a:ext cx="8229600" cy="1143000"/>
          </a:xfrm>
        </p:spPr>
        <p:txBody>
          <a:bodyPr/>
          <a:lstStyle/>
          <a:p>
            <a:r>
              <a:rPr lang="en-US" altLang="zh-TW" dirty="0" smtClean="0"/>
              <a:t>Thank you!!!</a:t>
            </a:r>
            <a:endParaRPr lang="zh-TW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1009</Words>
  <Application>Microsoft Office PowerPoint</Application>
  <PresentationFormat>如螢幕大小 (4:3)</PresentationFormat>
  <Paragraphs>82</Paragraphs>
  <Slides>17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18" baseType="lpstr">
      <vt:lpstr>Office 佈景主題</vt:lpstr>
      <vt:lpstr>Highly-fair bakery algorithm using symmetric tokens    Alex A. Aravind Information Processing Letters, Vol. 110, pp. 1155-1060, 2010</vt:lpstr>
      <vt:lpstr>Abstract</vt:lpstr>
      <vt:lpstr>Mutual Exclution</vt:lpstr>
      <vt:lpstr>Software Solution of Mutual Exclusion</vt:lpstr>
      <vt:lpstr>Critical Section Design</vt:lpstr>
      <vt:lpstr>Bakery Algorithm</vt:lpstr>
      <vt:lpstr>Disadvantages of original Bakery Algorithm</vt:lpstr>
      <vt:lpstr>Symmetric Token Bakery Algorithm</vt:lpstr>
      <vt:lpstr>SPIN Verification System</vt:lpstr>
      <vt:lpstr>Correctness Proofs</vt:lpstr>
      <vt:lpstr>Correctness Proofs</vt:lpstr>
      <vt:lpstr>Correctness Proofs</vt:lpstr>
      <vt:lpstr>Correctness Proofs</vt:lpstr>
      <vt:lpstr>Correctness Proofs</vt:lpstr>
      <vt:lpstr>Correctness Proofs</vt:lpstr>
      <vt:lpstr>Conclusion</vt:lpstr>
      <vt:lpstr>Thank you!!!</vt:lpstr>
    </vt:vector>
  </TitlesOfParts>
  <Company>PPLAB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Highly-fair bakery algorithm using symmetric tokens    Alex A. Aravind Information Processing Letters, Vol. 110, pp. 1155-1060, 2010</dc:title>
  <dc:creator>William</dc:creator>
  <cp:lastModifiedBy>William</cp:lastModifiedBy>
  <cp:revision>24</cp:revision>
  <dcterms:created xsi:type="dcterms:W3CDTF">2011-01-18T07:21:32Z</dcterms:created>
  <dcterms:modified xsi:type="dcterms:W3CDTF">2011-01-18T10:40:20Z</dcterms:modified>
</cp:coreProperties>
</file>