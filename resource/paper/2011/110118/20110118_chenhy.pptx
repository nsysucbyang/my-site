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72" r:id="rId4"/>
    <p:sldId id="259" r:id="rId5"/>
    <p:sldId id="262" r:id="rId6"/>
    <p:sldId id="273" r:id="rId7"/>
    <p:sldId id="274" r:id="rId8"/>
    <p:sldId id="275" r:id="rId9"/>
    <p:sldId id="277" r:id="rId10"/>
    <p:sldId id="278" r:id="rId11"/>
    <p:sldId id="279" r:id="rId12"/>
    <p:sldId id="280" r:id="rId13"/>
    <p:sldId id="281" r:id="rId14"/>
    <p:sldId id="282" r:id="rId15"/>
    <p:sldId id="276" r:id="rId16"/>
  </p:sldIdLst>
  <p:sldSz cx="9144000" cy="6858000" type="screen4x3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itchFamily="34" charset="0"/>
        <a:ea typeface="新細明體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itchFamily="34" charset="0"/>
        <a:ea typeface="新細明體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itchFamily="34" charset="0"/>
        <a:ea typeface="新細明體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itchFamily="34" charset="0"/>
        <a:ea typeface="新細明體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itchFamily="34" charset="0"/>
        <a:ea typeface="新細明體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Calibri" pitchFamily="34" charset="0"/>
        <a:ea typeface="新細明體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Calibri" pitchFamily="34" charset="0"/>
        <a:ea typeface="新細明體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Calibri" pitchFamily="34" charset="0"/>
        <a:ea typeface="新細明體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Calibri" pitchFamily="34" charset="0"/>
        <a:ea typeface="新細明體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1784" autoAdjust="0"/>
  </p:normalViewPr>
  <p:slideViewPr>
    <p:cSldViewPr>
      <p:cViewPr varScale="1">
        <p:scale>
          <a:sx n="87" d="100"/>
          <a:sy n="87" d="100"/>
        </p:scale>
        <p:origin x="-648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6EA5F3-94E4-4F7A-AC07-FCE66639B35A}" type="datetimeFigureOut">
              <a:rPr lang="zh-TW" altLang="en-US" smtClean="0"/>
              <a:t>2011/1/18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75A31A-74A8-4798-85F1-ED8970345F5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603017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 smtClean="0"/>
              <a:t>先講動機</a:t>
            </a:r>
            <a:endParaRPr lang="en-US" altLang="zh-TW" dirty="0" smtClean="0"/>
          </a:p>
          <a:p>
            <a:r>
              <a:rPr lang="en-US" altLang="zh-TW" dirty="0" smtClean="0"/>
              <a:t>1.</a:t>
            </a:r>
            <a:r>
              <a:rPr lang="zh-TW" altLang="en-US" dirty="0" smtClean="0"/>
              <a:t> </a:t>
            </a:r>
            <a:endParaRPr lang="en-US" altLang="zh-TW" dirty="0" smtClean="0"/>
          </a:p>
          <a:p>
            <a:r>
              <a:rPr lang="en-US" altLang="zh-TW" dirty="0" smtClean="0"/>
              <a:t>2. There are applications where the data items have a small amount of noise.</a:t>
            </a:r>
            <a:endParaRPr lang="zh-TW" altLang="en-US" dirty="0" smtClean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75A31A-74A8-4798-85F1-ED8970345F52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091944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 smtClean="0"/>
              <a:t>先講動機</a:t>
            </a:r>
            <a:endParaRPr lang="en-US" altLang="zh-TW" dirty="0" smtClean="0"/>
          </a:p>
          <a:p>
            <a:r>
              <a:rPr lang="en-US" altLang="zh-TW" dirty="0" smtClean="0"/>
              <a:t>1.</a:t>
            </a:r>
            <a:r>
              <a:rPr lang="zh-TW" altLang="en-US" dirty="0" smtClean="0"/>
              <a:t> </a:t>
            </a:r>
            <a:endParaRPr lang="en-US" altLang="zh-TW" dirty="0" smtClean="0"/>
          </a:p>
          <a:p>
            <a:r>
              <a:rPr lang="en-US" altLang="zh-TW" dirty="0" smtClean="0"/>
              <a:t>2. There are applications where the data items have a small amount of noise.</a:t>
            </a:r>
            <a:endParaRPr lang="zh-TW" altLang="en-US" dirty="0" smtClean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75A31A-74A8-4798-85F1-ED8970345F52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091944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 smtClean="0"/>
              <a:t>先講動機</a:t>
            </a:r>
            <a:endParaRPr lang="en-US" altLang="zh-TW" dirty="0" smtClean="0"/>
          </a:p>
          <a:p>
            <a:r>
              <a:rPr lang="en-US" altLang="zh-TW" dirty="0" smtClean="0"/>
              <a:t>1.</a:t>
            </a:r>
            <a:r>
              <a:rPr lang="zh-TW" altLang="en-US" dirty="0" smtClean="0"/>
              <a:t> </a:t>
            </a:r>
            <a:endParaRPr lang="en-US" altLang="zh-TW" dirty="0" smtClean="0"/>
          </a:p>
          <a:p>
            <a:r>
              <a:rPr lang="en-US" altLang="zh-TW" dirty="0" smtClean="0"/>
              <a:t>2. There are applications where the data items have a small amount of noise.</a:t>
            </a:r>
            <a:endParaRPr lang="zh-TW" altLang="en-US" dirty="0" smtClean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75A31A-74A8-4798-85F1-ED8970345F52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091944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 smtClean="0"/>
              <a:t>先講動機</a:t>
            </a:r>
            <a:endParaRPr lang="en-US" altLang="zh-TW" dirty="0" smtClean="0"/>
          </a:p>
          <a:p>
            <a:r>
              <a:rPr lang="en-US" altLang="zh-TW" dirty="0" smtClean="0"/>
              <a:t>1.</a:t>
            </a:r>
            <a:r>
              <a:rPr lang="zh-TW" altLang="en-US" dirty="0" smtClean="0"/>
              <a:t> </a:t>
            </a:r>
            <a:endParaRPr lang="en-US" altLang="zh-TW" dirty="0" smtClean="0"/>
          </a:p>
          <a:p>
            <a:r>
              <a:rPr lang="en-US" altLang="zh-TW" dirty="0" smtClean="0"/>
              <a:t>2. There are applications where the data items have a small amount of noise.</a:t>
            </a:r>
            <a:endParaRPr lang="zh-TW" altLang="en-US" dirty="0" smtClean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75A31A-74A8-4798-85F1-ED8970345F52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091944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 smtClean="0"/>
              <a:t>先講動機</a:t>
            </a:r>
            <a:endParaRPr lang="en-US" altLang="zh-TW" dirty="0" smtClean="0"/>
          </a:p>
          <a:p>
            <a:r>
              <a:rPr lang="en-US" altLang="zh-TW" dirty="0" smtClean="0"/>
              <a:t>1.</a:t>
            </a:r>
            <a:r>
              <a:rPr lang="zh-TW" altLang="en-US" dirty="0" smtClean="0"/>
              <a:t> </a:t>
            </a:r>
            <a:endParaRPr lang="en-US" altLang="zh-TW" dirty="0" smtClean="0"/>
          </a:p>
          <a:p>
            <a:r>
              <a:rPr lang="en-US" altLang="zh-TW" dirty="0" smtClean="0"/>
              <a:t>2. There are applications where the data items have a small amount of noise.</a:t>
            </a:r>
            <a:endParaRPr lang="zh-TW" altLang="en-US" dirty="0" smtClean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75A31A-74A8-4798-85F1-ED8970345F52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091944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 smtClean="0"/>
              <a:t>先講動機</a:t>
            </a:r>
            <a:endParaRPr lang="en-US" altLang="zh-TW" dirty="0" smtClean="0"/>
          </a:p>
          <a:p>
            <a:r>
              <a:rPr lang="en-US" altLang="zh-TW" dirty="0" smtClean="0"/>
              <a:t>1.</a:t>
            </a:r>
            <a:r>
              <a:rPr lang="zh-TW" altLang="en-US" dirty="0" smtClean="0"/>
              <a:t> </a:t>
            </a:r>
            <a:endParaRPr lang="en-US" altLang="zh-TW" dirty="0" smtClean="0"/>
          </a:p>
          <a:p>
            <a:r>
              <a:rPr lang="en-US" altLang="zh-TW" dirty="0" smtClean="0"/>
              <a:t>2. There are applications where the data items have a small amount of noise.</a:t>
            </a:r>
            <a:endParaRPr lang="zh-TW" altLang="en-US" dirty="0" smtClean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75A31A-74A8-4798-85F1-ED8970345F52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091944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 smtClean="0"/>
              <a:t>先講動機</a:t>
            </a:r>
            <a:endParaRPr lang="en-US" altLang="zh-TW" dirty="0" smtClean="0"/>
          </a:p>
          <a:p>
            <a:r>
              <a:rPr lang="en-US" altLang="zh-TW" dirty="0" smtClean="0"/>
              <a:t>1.</a:t>
            </a:r>
            <a:r>
              <a:rPr lang="zh-TW" altLang="en-US" dirty="0" smtClean="0"/>
              <a:t> </a:t>
            </a:r>
            <a:endParaRPr lang="en-US" altLang="zh-TW" dirty="0" smtClean="0"/>
          </a:p>
          <a:p>
            <a:r>
              <a:rPr lang="en-US" altLang="zh-TW" dirty="0" smtClean="0"/>
              <a:t>2. There are applications where the data items have a small amount of noise.</a:t>
            </a:r>
            <a:endParaRPr lang="zh-TW" altLang="en-US" dirty="0" smtClean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75A31A-74A8-4798-85F1-ED8970345F52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091944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 smtClean="0"/>
              <a:t>先講動機</a:t>
            </a:r>
            <a:endParaRPr lang="en-US" altLang="zh-TW" dirty="0" smtClean="0"/>
          </a:p>
          <a:p>
            <a:r>
              <a:rPr lang="en-US" altLang="zh-TW" dirty="0" smtClean="0"/>
              <a:t>1.</a:t>
            </a:r>
            <a:r>
              <a:rPr lang="zh-TW" altLang="en-US" dirty="0" smtClean="0"/>
              <a:t> </a:t>
            </a:r>
            <a:endParaRPr lang="en-US" altLang="zh-TW" dirty="0" smtClean="0"/>
          </a:p>
          <a:p>
            <a:r>
              <a:rPr lang="en-US" altLang="zh-TW" dirty="0" smtClean="0"/>
              <a:t>2. There are applications where the data items have a small amount of noise.</a:t>
            </a:r>
            <a:endParaRPr lang="zh-TW" altLang="en-US" dirty="0" smtClean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75A31A-74A8-4798-85F1-ED8970345F52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091944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 smtClean="0"/>
              <a:t>先講動機</a:t>
            </a:r>
            <a:endParaRPr lang="en-US" altLang="zh-TW" dirty="0" smtClean="0"/>
          </a:p>
          <a:p>
            <a:r>
              <a:rPr lang="en-US" altLang="zh-TW" dirty="0" smtClean="0"/>
              <a:t>1.</a:t>
            </a:r>
            <a:r>
              <a:rPr lang="zh-TW" altLang="en-US" dirty="0" smtClean="0"/>
              <a:t> </a:t>
            </a:r>
            <a:endParaRPr lang="en-US" altLang="zh-TW" dirty="0" smtClean="0"/>
          </a:p>
          <a:p>
            <a:r>
              <a:rPr lang="en-US" altLang="zh-TW" dirty="0" smtClean="0"/>
              <a:t>2. There are applications where the data items have a small amount of noise.</a:t>
            </a:r>
            <a:endParaRPr lang="zh-TW" altLang="en-US" dirty="0" smtClean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75A31A-74A8-4798-85F1-ED8970345F52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091944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 smtClean="0"/>
              <a:t>先講動機</a:t>
            </a:r>
            <a:endParaRPr lang="en-US" altLang="zh-TW" dirty="0" smtClean="0"/>
          </a:p>
          <a:p>
            <a:r>
              <a:rPr lang="en-US" altLang="zh-TW" dirty="0" smtClean="0"/>
              <a:t>1.</a:t>
            </a:r>
            <a:r>
              <a:rPr lang="zh-TW" altLang="en-US" dirty="0" smtClean="0"/>
              <a:t> </a:t>
            </a:r>
            <a:endParaRPr lang="en-US" altLang="zh-TW" dirty="0" smtClean="0"/>
          </a:p>
          <a:p>
            <a:r>
              <a:rPr lang="en-US" altLang="zh-TW" dirty="0" smtClean="0"/>
              <a:t>2. There are applications where the data items have a small amount of noise.</a:t>
            </a:r>
            <a:endParaRPr lang="zh-TW" altLang="en-US" dirty="0" smtClean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75A31A-74A8-4798-85F1-ED8970345F52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091944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 smtClean="0"/>
              <a:t>先講動機</a:t>
            </a:r>
            <a:endParaRPr lang="en-US" altLang="zh-TW" dirty="0" smtClean="0"/>
          </a:p>
          <a:p>
            <a:r>
              <a:rPr lang="en-US" altLang="zh-TW" dirty="0" smtClean="0"/>
              <a:t>1.</a:t>
            </a:r>
            <a:r>
              <a:rPr lang="zh-TW" altLang="en-US" dirty="0" smtClean="0"/>
              <a:t> </a:t>
            </a:r>
            <a:endParaRPr lang="en-US" altLang="zh-TW" dirty="0" smtClean="0"/>
          </a:p>
          <a:p>
            <a:r>
              <a:rPr lang="en-US" altLang="zh-TW" dirty="0" smtClean="0"/>
              <a:t>2. There are applications where the data items have a small amount of noise.</a:t>
            </a:r>
            <a:endParaRPr lang="zh-TW" altLang="en-US" dirty="0" smtClean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75A31A-74A8-4798-85F1-ED8970345F52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0919440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 smtClean="0"/>
              <a:t>先講動機</a:t>
            </a:r>
            <a:endParaRPr lang="en-US" altLang="zh-TW" dirty="0" smtClean="0"/>
          </a:p>
          <a:p>
            <a:r>
              <a:rPr lang="en-US" altLang="zh-TW" dirty="0" smtClean="0"/>
              <a:t>1.</a:t>
            </a:r>
            <a:r>
              <a:rPr lang="zh-TW" altLang="en-US" dirty="0" smtClean="0"/>
              <a:t> </a:t>
            </a:r>
            <a:endParaRPr lang="en-US" altLang="zh-TW" dirty="0" smtClean="0"/>
          </a:p>
          <a:p>
            <a:r>
              <a:rPr lang="en-US" altLang="zh-TW" dirty="0" smtClean="0"/>
              <a:t>2. There are applications where the data items have a small amount of noise.</a:t>
            </a:r>
            <a:endParaRPr lang="zh-TW" altLang="en-US" dirty="0" smtClean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75A31A-74A8-4798-85F1-ED8970345F52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091944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A87D0A-8D72-4A12-B6F4-2D70E9050589}" type="datetimeFigureOut">
              <a:rPr lang="zh-TW" altLang="en-US"/>
              <a:pPr>
                <a:defRPr/>
              </a:pPr>
              <a:t>2011/1/18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84CF82-A9AE-4268-9497-FFC67A3ADAAC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8012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5304AF-B224-4445-9AE4-B7650C7B3616}" type="datetimeFigureOut">
              <a:rPr lang="zh-TW" altLang="en-US"/>
              <a:pPr>
                <a:defRPr/>
              </a:pPr>
              <a:t>2011/1/18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2FDB3-9A8C-4355-8F1B-1FD935E6DAEE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001507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8DB94C-87E5-4077-BC91-73AF7E8169C3}" type="datetimeFigureOut">
              <a:rPr lang="zh-TW" altLang="en-US"/>
              <a:pPr>
                <a:defRPr/>
              </a:pPr>
              <a:t>2011/1/18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7E59EC-7354-4DDD-9A8A-310C296ACDE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1910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610FB1-0584-4237-8E45-15165FF7CB9F}" type="datetimeFigureOut">
              <a:rPr lang="zh-TW" altLang="en-US"/>
              <a:pPr>
                <a:defRPr/>
              </a:pPr>
              <a:t>2011/1/18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B5203F-7F56-456C-9DFC-64E25C44A7B3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259805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EB2774-9042-48AC-B3CE-D46C5BDDDE0D}" type="datetimeFigureOut">
              <a:rPr lang="zh-TW" altLang="en-US"/>
              <a:pPr>
                <a:defRPr/>
              </a:pPr>
              <a:t>2011/1/18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FE3F07-97A7-4CEE-B190-0EAA322A0DC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985833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7D4F32-C364-42C1-BF55-D8FDA76BAE3B}" type="datetimeFigureOut">
              <a:rPr lang="zh-TW" altLang="en-US"/>
              <a:pPr>
                <a:defRPr/>
              </a:pPr>
              <a:t>2011/1/18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A6D154-E159-48B9-A6F3-81EB04F3AB5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44914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6CDC56-C89D-4BE5-A649-0F8DEB867E2F}" type="datetimeFigureOut">
              <a:rPr lang="zh-TW" altLang="en-US"/>
              <a:pPr>
                <a:defRPr/>
              </a:pPr>
              <a:t>2011/1/18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424784-AD13-4080-BFAC-BA75534B03CD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85536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9742AE-97D1-4875-8D42-3FF228F75098}" type="datetimeFigureOut">
              <a:rPr lang="zh-TW" altLang="en-US"/>
              <a:pPr>
                <a:defRPr/>
              </a:pPr>
              <a:t>2011/1/18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4585D6-6A74-4F5F-A10A-39A26C80B83C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639480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 smtClean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B01E2E-6A5F-4CA5-908E-A19C356BF55C}" type="datetimeFigureOut">
              <a:rPr lang="zh-TW" altLang="en-US"/>
              <a:pPr>
                <a:defRPr/>
              </a:pPr>
              <a:t>2011/1/18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00A074-4C14-4B45-944F-53D0B7706B9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538260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8F2A4D-44B9-4DBC-836F-FD98F3AF9BFF}" type="datetimeFigureOut">
              <a:rPr lang="zh-TW" altLang="en-US"/>
              <a:pPr>
                <a:defRPr/>
              </a:pPr>
              <a:t>2011/1/18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CA295C-7F92-4711-840D-EE26E104FC6E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483111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319B6A-84D4-4391-B7E5-706DC8F093D5}" type="datetimeFigureOut">
              <a:rPr lang="zh-TW" altLang="en-US"/>
              <a:pPr>
                <a:defRPr/>
              </a:pPr>
              <a:t>2011/1/18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F181AC-B57B-4E63-A225-FD07A1E9EC5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568331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208C5AD4-FB66-4C86-AB8D-D984E889BCC6}" type="datetimeFigureOut">
              <a:rPr lang="zh-TW" altLang="en-US"/>
              <a:pPr>
                <a:defRPr/>
              </a:pPr>
              <a:t>2011/1/18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D0EDE5FD-EEE6-40C5-AF40-54426C020AFC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6.png"/><Relationship Id="rId3" Type="http://schemas.openxmlformats.org/officeDocument/2006/relationships/image" Target="../media/image23.png"/><Relationship Id="rId7" Type="http://schemas.openxmlformats.org/officeDocument/2006/relationships/image" Target="../media/image30.png"/><Relationship Id="rId12" Type="http://schemas.openxmlformats.org/officeDocument/2006/relationships/image" Target="../media/image3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5" Type="http://schemas.openxmlformats.org/officeDocument/2006/relationships/image" Target="../media/image28.pn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24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25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36.png"/><Relationship Id="rId4" Type="http://schemas.openxmlformats.org/officeDocument/2006/relationships/image" Target="../media/image4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0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3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26.png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image" Target="../media/image36.png"/><Relationship Id="rId4" Type="http://schemas.openxmlformats.org/officeDocument/2006/relationships/image" Target="../media/image4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1"/>
          <p:cNvSpPr>
            <a:spLocks noGrp="1"/>
          </p:cNvSpPr>
          <p:nvPr>
            <p:ph type="ctrTitle"/>
          </p:nvPr>
        </p:nvSpPr>
        <p:spPr>
          <a:xfrm>
            <a:off x="685800" y="692150"/>
            <a:ext cx="7772400" cy="3960813"/>
          </a:xfrm>
        </p:spPr>
        <p:txBody>
          <a:bodyPr/>
          <a:lstStyle/>
          <a:p>
            <a:pPr eaLnBrk="1" hangingPunct="1"/>
            <a:r>
              <a:rPr lang="en-US" altLang="zh-TW" dirty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An algorithm for solving </a:t>
            </a:r>
            <a:r>
              <a:rPr lang="en-US" altLang="zh-TW" dirty="0" smtClean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the longest </a:t>
            </a:r>
            <a:r>
              <a:rPr lang="en-US" altLang="zh-TW" dirty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increasing </a:t>
            </a:r>
            <a:r>
              <a:rPr lang="en-US" altLang="zh-TW" dirty="0" smtClean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circular subsequence problem</a:t>
            </a:r>
            <a:r>
              <a:rPr lang="en-US" altLang="zh-TW" dirty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/>
            </a:r>
            <a:br>
              <a:rPr lang="en-US" altLang="zh-TW" dirty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</a:br>
            <a:r>
              <a:rPr lang="en-US" altLang="zh-TW" sz="3200" dirty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/>
            </a:r>
            <a:br>
              <a:rPr lang="en-US" altLang="zh-TW" sz="3200" dirty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</a:br>
            <a:r>
              <a:rPr lang="en-US" altLang="zh-TW" sz="3200" dirty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Sebastian </a:t>
            </a:r>
            <a:r>
              <a:rPr lang="en-US" altLang="zh-TW" sz="3200" dirty="0" err="1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Deorowicz</a:t>
            </a:r>
            <a:r>
              <a:rPr lang="en-US" altLang="zh-TW" sz="3200" dirty="0" smtClean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/>
            </a:r>
            <a:br>
              <a:rPr lang="en-US" altLang="zh-TW" sz="3200" dirty="0" smtClean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</a:br>
            <a:r>
              <a:rPr lang="en-US" altLang="zh-TW" sz="3200" dirty="0" smtClean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/>
            </a:r>
            <a:br>
              <a:rPr lang="en-US" altLang="zh-TW" sz="3200" dirty="0" smtClean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</a:br>
            <a:r>
              <a:rPr lang="en-US" altLang="zh-TW" sz="2400" dirty="0" smtClean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Information Processing Letters, Vol. 109, pp. 630-634, 2009.</a:t>
            </a:r>
            <a:endParaRPr lang="zh-TW" altLang="en-US" sz="2400" dirty="0" smtClean="0">
              <a:latin typeface="Times New Roman" pitchFamily="18" charset="0"/>
              <a:ea typeface="DFKai-SB" pitchFamily="65" charset="-120"/>
              <a:cs typeface="Times New Roman" pitchFamily="18" charset="0"/>
            </a:endParaRPr>
          </a:p>
        </p:txBody>
      </p:sp>
      <p:sp>
        <p:nvSpPr>
          <p:cNvPr id="2051" name="副標題 2"/>
          <p:cNvSpPr>
            <a:spLocks noGrp="1"/>
          </p:cNvSpPr>
          <p:nvPr>
            <p:ph type="subTitle" idx="1"/>
          </p:nvPr>
        </p:nvSpPr>
        <p:spPr>
          <a:xfrm>
            <a:off x="1331913" y="4532313"/>
            <a:ext cx="6400800" cy="1200150"/>
          </a:xfrm>
        </p:spPr>
        <p:txBody>
          <a:bodyPr/>
          <a:lstStyle/>
          <a:p>
            <a:pPr algn="r" eaLnBrk="1" hangingPunct="1"/>
            <a:endParaRPr lang="en-US" altLang="zh-TW" sz="2000" dirty="0" smtClean="0">
              <a:solidFill>
                <a:schemeClr val="tx1"/>
              </a:solidFill>
              <a:latin typeface="Times New Roman" pitchFamily="18" charset="0"/>
              <a:ea typeface="DFKai-SB" pitchFamily="65" charset="-120"/>
              <a:cs typeface="Times New Roman" pitchFamily="18" charset="0"/>
            </a:endParaRPr>
          </a:p>
          <a:p>
            <a:pPr algn="r" eaLnBrk="1" hangingPunct="1"/>
            <a:r>
              <a:rPr lang="en-US" altLang="zh-TW" sz="2000" dirty="0" smtClean="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Presenter: Hong-Yu Chen</a:t>
            </a:r>
          </a:p>
          <a:p>
            <a:pPr algn="r" eaLnBrk="1" hangingPunct="1"/>
            <a:r>
              <a:rPr lang="en-US" altLang="zh-TW" sz="2000" dirty="0" smtClean="0">
                <a:solidFill>
                  <a:schemeClr val="tx1"/>
                </a:solidFill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Date: Jan. 18, 2011</a:t>
            </a:r>
            <a:endParaRPr lang="zh-TW" altLang="en-US" sz="2000" dirty="0" smtClean="0">
              <a:solidFill>
                <a:schemeClr val="tx1"/>
              </a:solidFill>
              <a:latin typeface="Times New Roman" pitchFamily="18" charset="0"/>
              <a:ea typeface="DFKai-SB" pitchFamily="65" charset="-12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mtClean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Abstract</a:t>
            </a:r>
            <a:endParaRPr lang="zh-TW" altLang="en-US" smtClean="0">
              <a:latin typeface="Times New Roman" pitchFamily="18" charset="0"/>
              <a:ea typeface="DFKai-SB" pitchFamily="65" charset="-120"/>
              <a:cs typeface="Times New Roman" pitchFamily="18" charset="0"/>
            </a:endParaRPr>
          </a:p>
        </p:txBody>
      </p:sp>
      <p:sp>
        <p:nvSpPr>
          <p:cNvPr id="3075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zh-TW" altLang="en-US" dirty="0" smtClean="0">
              <a:latin typeface="Times New Roman" pitchFamily="18" charset="0"/>
              <a:ea typeface="DFKai-SB" pitchFamily="65" charset="-12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The longest </a:t>
            </a:r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increasing </a:t>
            </a:r>
            <a:r>
              <a:rPr lang="en-US" altLang="zh-TW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circular subsequence </a:t>
            </a:r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(LICS)</a:t>
            </a:r>
            <a:endParaRPr lang="zh-TW" altLang="en-US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LICS is a </a:t>
            </a:r>
            <a:r>
              <a:rPr lang="en-US" altLang="zh-TW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longest subsequence of any rotation of </a:t>
            </a:r>
            <a:r>
              <a:rPr lang="en-US" altLang="zh-TW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a given sequence.</a:t>
            </a:r>
          </a:p>
          <a:p>
            <a:r>
              <a:rPr lang="en-US" altLang="zh-TW" b="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This paper is based on</a:t>
            </a:r>
          </a:p>
          <a:p>
            <a:pPr lvl="1"/>
            <a:r>
              <a:rPr lang="en-US" altLang="zh-TW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a cover representation of the sequence</a:t>
            </a:r>
          </a:p>
          <a:p>
            <a:pPr lvl="1"/>
            <a:r>
              <a:rPr lang="en-US" altLang="zh-TW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two observations</a:t>
            </a:r>
            <a:endParaRPr lang="en-US" altLang="zh-TW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endParaRPr lang="en-US" altLang="zh-TW" b="0" dirty="0" smtClean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9367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dirty="0" smtClean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Robinson-</a:t>
            </a:r>
            <a:r>
              <a:rPr lang="en-US" altLang="zh-TW" dirty="0" err="1" smtClean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Schensted</a:t>
            </a:r>
            <a:r>
              <a:rPr lang="en-US" altLang="zh-TW" dirty="0" smtClean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-Knuth Algorithm for LIS</a:t>
            </a:r>
            <a:endParaRPr lang="zh-TW" altLang="en-US" dirty="0" smtClean="0">
              <a:latin typeface="Times New Roman" pitchFamily="18" charset="0"/>
              <a:ea typeface="DFKai-SB" pitchFamily="65" charset="-120"/>
              <a:cs typeface="Times New Roman" pitchFamily="18" charset="0"/>
            </a:endParaRPr>
          </a:p>
        </p:txBody>
      </p:sp>
      <p:sp>
        <p:nvSpPr>
          <p:cNvPr id="4099" name="內容版面配置區 2"/>
          <p:cNvSpPr>
            <a:spLocks noGrp="1"/>
          </p:cNvSpPr>
          <p:nvPr>
            <p:ph idx="1"/>
          </p:nvPr>
        </p:nvSpPr>
        <p:spPr>
          <a:xfrm>
            <a:off x="900113" y="4652963"/>
            <a:ext cx="7786687" cy="14732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en-US" altLang="zh-TW" sz="2800" dirty="0" smtClean="0">
                <a:latin typeface="Times New Roman" pitchFamily="18" charset="0"/>
              </a:rPr>
              <a:t>LIS: </a:t>
            </a:r>
            <a:r>
              <a:rPr lang="en-US" altLang="zh-TW" sz="2800" u="sng" dirty="0" smtClean="0">
                <a:solidFill>
                  <a:schemeClr val="hlink"/>
                </a:solidFill>
                <a:latin typeface="Times New Roman" pitchFamily="18" charset="0"/>
              </a:rPr>
              <a:t>3578</a:t>
            </a:r>
            <a:r>
              <a:rPr lang="en-US" altLang="zh-TW" sz="2800" dirty="0" smtClean="0">
                <a:latin typeface="Times New Roman" pitchFamily="18" charset="0"/>
              </a:rPr>
              <a:t> </a:t>
            </a:r>
          </a:p>
          <a:p>
            <a:pPr eaLnBrk="1" hangingPunct="1">
              <a:lnSpc>
                <a:spcPct val="80000"/>
              </a:lnSpc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en-US" altLang="zh-TW" sz="2800" dirty="0" smtClean="0">
                <a:latin typeface="Times New Roman" pitchFamily="18" charset="0"/>
                <a:sym typeface="Wingdings" pitchFamily="2" charset="2"/>
              </a:rPr>
              <a:t>time complexity: O(</a:t>
            </a:r>
            <a:r>
              <a:rPr lang="en-US" altLang="zh-TW" sz="2800" i="1" dirty="0" err="1" smtClean="0">
                <a:latin typeface="Times New Roman" pitchFamily="18" charset="0"/>
                <a:sym typeface="Wingdings" pitchFamily="2" charset="2"/>
              </a:rPr>
              <a:t>nlogn</a:t>
            </a:r>
            <a:r>
              <a:rPr lang="en-US" altLang="zh-TW" sz="2800" dirty="0" smtClean="0">
                <a:latin typeface="Times New Roman" pitchFamily="18" charset="0"/>
                <a:sym typeface="Wingdings" pitchFamily="2" charset="2"/>
              </a:rPr>
              <a:t>)</a:t>
            </a:r>
            <a:endParaRPr lang="en-US" altLang="zh-TW" sz="2800" dirty="0" smtClean="0">
              <a:latin typeface="Times New Roman" pitchFamily="18" charset="0"/>
            </a:endParaRPr>
          </a:p>
          <a:p>
            <a:pPr lvl="1" eaLnBrk="1" hangingPunct="1">
              <a:lnSpc>
                <a:spcPct val="80000"/>
              </a:lnSpc>
              <a:buClr>
                <a:schemeClr val="hlink"/>
              </a:buClr>
              <a:buSzPct val="55000"/>
              <a:buFont typeface="Wingdings" pitchFamily="2" charset="2"/>
              <a:buChar char="n"/>
            </a:pPr>
            <a:r>
              <a:rPr lang="en-US" altLang="zh-TW" dirty="0" smtClean="0">
                <a:latin typeface="Times New Roman" pitchFamily="18" charset="0"/>
              </a:rPr>
              <a:t> </a:t>
            </a:r>
            <a:r>
              <a:rPr lang="en-US" altLang="zh-TW" i="1" dirty="0" smtClean="0">
                <a:latin typeface="Times New Roman" pitchFamily="18" charset="0"/>
              </a:rPr>
              <a:t>n</a:t>
            </a:r>
            <a:r>
              <a:rPr lang="en-US" altLang="zh-TW" dirty="0" smtClean="0">
                <a:latin typeface="Times New Roman" pitchFamily="18" charset="0"/>
              </a:rPr>
              <a:t> numbers are  inserted and each insertion takes O(</a:t>
            </a:r>
            <a:r>
              <a:rPr lang="en-US" altLang="zh-TW" i="1" dirty="0" err="1" smtClean="0">
                <a:latin typeface="Times New Roman" pitchFamily="18" charset="0"/>
              </a:rPr>
              <a:t>logn</a:t>
            </a:r>
            <a:r>
              <a:rPr lang="en-US" altLang="zh-TW" dirty="0" smtClean="0">
                <a:latin typeface="Times New Roman" pitchFamily="18" charset="0"/>
              </a:rPr>
              <a:t>) time for binary search.</a:t>
            </a:r>
          </a:p>
          <a:p>
            <a:pPr eaLnBrk="1" hangingPunct="1"/>
            <a:endParaRPr lang="zh-TW" altLang="en-US" dirty="0" smtClean="0">
              <a:latin typeface="Times New Roman" pitchFamily="18" charset="0"/>
              <a:ea typeface="DFKai-SB" pitchFamily="65" charset="-120"/>
              <a:cs typeface="Times New Roman" pitchFamily="18" charset="0"/>
            </a:endParaRPr>
          </a:p>
        </p:txBody>
      </p:sp>
      <p:grpSp>
        <p:nvGrpSpPr>
          <p:cNvPr id="4100" name="Group 139"/>
          <p:cNvGrpSpPr>
            <a:grpSpLocks/>
          </p:cNvGrpSpPr>
          <p:nvPr/>
        </p:nvGrpSpPr>
        <p:grpSpPr bwMode="auto">
          <a:xfrm>
            <a:off x="611188" y="1587500"/>
            <a:ext cx="7416800" cy="2906713"/>
            <a:chOff x="192" y="960"/>
            <a:chExt cx="5275" cy="1994"/>
          </a:xfrm>
        </p:grpSpPr>
        <p:sp>
          <p:nvSpPr>
            <p:cNvPr id="4101" name="Line 135"/>
            <p:cNvSpPr>
              <a:spLocks noChangeShapeType="1"/>
            </p:cNvSpPr>
            <p:nvPr/>
          </p:nvSpPr>
          <p:spPr bwMode="auto">
            <a:xfrm>
              <a:off x="336" y="1163"/>
              <a:ext cx="0" cy="16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TW" altLang="en-US"/>
            </a:p>
          </p:txBody>
        </p:sp>
        <p:sp>
          <p:nvSpPr>
            <p:cNvPr id="4102" name="Rectangle 58"/>
            <p:cNvSpPr>
              <a:spLocks noChangeArrowheads="1"/>
            </p:cNvSpPr>
            <p:nvPr/>
          </p:nvSpPr>
          <p:spPr bwMode="auto">
            <a:xfrm>
              <a:off x="4921" y="2667"/>
              <a:ext cx="54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endParaRPr lang="zh-TW" altLang="zh-TW" sz="2400">
                <a:latin typeface="Tahoma" pitchFamily="34" charset="0"/>
              </a:endParaRPr>
            </a:p>
          </p:txBody>
        </p:sp>
        <p:sp>
          <p:nvSpPr>
            <p:cNvPr id="4103" name="Rectangle 57"/>
            <p:cNvSpPr>
              <a:spLocks noChangeArrowheads="1"/>
            </p:cNvSpPr>
            <p:nvPr/>
          </p:nvSpPr>
          <p:spPr bwMode="auto">
            <a:xfrm>
              <a:off x="4377" y="2667"/>
              <a:ext cx="54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endParaRPr lang="zh-TW" altLang="zh-TW" sz="2400">
                <a:latin typeface="Tahoma" pitchFamily="34" charset="0"/>
              </a:endParaRPr>
            </a:p>
          </p:txBody>
        </p:sp>
        <p:sp>
          <p:nvSpPr>
            <p:cNvPr id="4104" name="Rectangle 56"/>
            <p:cNvSpPr>
              <a:spLocks noChangeArrowheads="1"/>
            </p:cNvSpPr>
            <p:nvPr/>
          </p:nvSpPr>
          <p:spPr bwMode="auto">
            <a:xfrm>
              <a:off x="3833" y="2667"/>
              <a:ext cx="54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endParaRPr lang="zh-TW" altLang="zh-TW" sz="2400">
                <a:latin typeface="Tahoma" pitchFamily="34" charset="0"/>
              </a:endParaRPr>
            </a:p>
          </p:txBody>
        </p:sp>
        <p:sp>
          <p:nvSpPr>
            <p:cNvPr id="4105" name="Rectangle 55"/>
            <p:cNvSpPr>
              <a:spLocks noChangeArrowheads="1"/>
            </p:cNvSpPr>
            <p:nvPr/>
          </p:nvSpPr>
          <p:spPr bwMode="auto">
            <a:xfrm>
              <a:off x="3289" y="2667"/>
              <a:ext cx="54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endParaRPr lang="zh-TW" altLang="zh-TW" sz="2400">
                <a:latin typeface="Tahoma" pitchFamily="34" charset="0"/>
              </a:endParaRPr>
            </a:p>
          </p:txBody>
        </p:sp>
        <p:sp>
          <p:nvSpPr>
            <p:cNvPr id="4106" name="Rectangle 54"/>
            <p:cNvSpPr>
              <a:spLocks noChangeArrowheads="1"/>
            </p:cNvSpPr>
            <p:nvPr/>
          </p:nvSpPr>
          <p:spPr bwMode="auto">
            <a:xfrm>
              <a:off x="2745" y="2667"/>
              <a:ext cx="54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endParaRPr lang="zh-TW" altLang="zh-TW" sz="2400">
                <a:latin typeface="Tahoma" pitchFamily="34" charset="0"/>
              </a:endParaRPr>
            </a:p>
          </p:txBody>
        </p:sp>
        <p:sp>
          <p:nvSpPr>
            <p:cNvPr id="4107" name="Rectangle 53"/>
            <p:cNvSpPr>
              <a:spLocks noChangeArrowheads="1"/>
            </p:cNvSpPr>
            <p:nvPr/>
          </p:nvSpPr>
          <p:spPr bwMode="auto">
            <a:xfrm>
              <a:off x="2201" y="2667"/>
              <a:ext cx="54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endParaRPr lang="zh-TW" altLang="zh-TW" sz="2400">
                <a:latin typeface="Tahoma" pitchFamily="34" charset="0"/>
              </a:endParaRPr>
            </a:p>
          </p:txBody>
        </p:sp>
        <p:sp>
          <p:nvSpPr>
            <p:cNvPr id="4108" name="Rectangle 52"/>
            <p:cNvSpPr>
              <a:spLocks noChangeArrowheads="1"/>
            </p:cNvSpPr>
            <p:nvPr/>
          </p:nvSpPr>
          <p:spPr bwMode="auto">
            <a:xfrm>
              <a:off x="1657" y="2667"/>
              <a:ext cx="54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endParaRPr lang="zh-TW" altLang="zh-TW" sz="2400">
                <a:latin typeface="Tahoma" pitchFamily="34" charset="0"/>
              </a:endParaRPr>
            </a:p>
          </p:txBody>
        </p:sp>
        <p:sp>
          <p:nvSpPr>
            <p:cNvPr id="4109" name="Rectangle 51"/>
            <p:cNvSpPr>
              <a:spLocks noChangeArrowheads="1"/>
            </p:cNvSpPr>
            <p:nvPr/>
          </p:nvSpPr>
          <p:spPr bwMode="auto">
            <a:xfrm>
              <a:off x="1113" y="2667"/>
              <a:ext cx="54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endParaRPr lang="zh-TW" altLang="zh-TW" sz="2400">
                <a:latin typeface="Tahoma" pitchFamily="34" charset="0"/>
              </a:endParaRPr>
            </a:p>
          </p:txBody>
        </p:sp>
        <p:sp>
          <p:nvSpPr>
            <p:cNvPr id="4110" name="Rectangle 50"/>
            <p:cNvSpPr>
              <a:spLocks noChangeArrowheads="1"/>
            </p:cNvSpPr>
            <p:nvPr/>
          </p:nvSpPr>
          <p:spPr bwMode="auto">
            <a:xfrm>
              <a:off x="569" y="2667"/>
              <a:ext cx="54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endParaRPr lang="zh-TW" altLang="zh-TW" sz="2400">
                <a:latin typeface="Tahoma" pitchFamily="34" charset="0"/>
              </a:endParaRPr>
            </a:p>
          </p:txBody>
        </p:sp>
        <p:sp>
          <p:nvSpPr>
            <p:cNvPr id="4111" name="Rectangle 49"/>
            <p:cNvSpPr>
              <a:spLocks noChangeArrowheads="1"/>
            </p:cNvSpPr>
            <p:nvPr/>
          </p:nvSpPr>
          <p:spPr bwMode="auto">
            <a:xfrm>
              <a:off x="4921" y="2380"/>
              <a:ext cx="54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TW" sz="2400">
                  <a:solidFill>
                    <a:schemeClr val="hlink"/>
                  </a:solidFill>
                  <a:latin typeface="Tahoma" pitchFamily="34" charset="0"/>
                </a:rPr>
                <a:t>8</a:t>
              </a:r>
            </a:p>
          </p:txBody>
        </p:sp>
        <p:sp>
          <p:nvSpPr>
            <p:cNvPr id="4112" name="Rectangle 48"/>
            <p:cNvSpPr>
              <a:spLocks noChangeArrowheads="1"/>
            </p:cNvSpPr>
            <p:nvPr/>
          </p:nvSpPr>
          <p:spPr bwMode="auto">
            <a:xfrm>
              <a:off x="4377" y="2380"/>
              <a:ext cx="54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TW" sz="2400">
                  <a:latin typeface="Tahoma" pitchFamily="34" charset="0"/>
                </a:rPr>
                <a:t>8</a:t>
              </a:r>
            </a:p>
          </p:txBody>
        </p:sp>
        <p:sp>
          <p:nvSpPr>
            <p:cNvPr id="4113" name="Rectangle 47"/>
            <p:cNvSpPr>
              <a:spLocks noChangeArrowheads="1"/>
            </p:cNvSpPr>
            <p:nvPr/>
          </p:nvSpPr>
          <p:spPr bwMode="auto">
            <a:xfrm>
              <a:off x="3833" y="2380"/>
              <a:ext cx="54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TW" sz="2400" b="1" u="sng">
                  <a:solidFill>
                    <a:schemeClr val="folHlink"/>
                  </a:solidFill>
                  <a:latin typeface="Tahoma" pitchFamily="34" charset="0"/>
                </a:rPr>
                <a:t>8</a:t>
              </a:r>
            </a:p>
          </p:txBody>
        </p:sp>
        <p:sp>
          <p:nvSpPr>
            <p:cNvPr id="4114" name="Rectangle 46"/>
            <p:cNvSpPr>
              <a:spLocks noChangeArrowheads="1"/>
            </p:cNvSpPr>
            <p:nvPr/>
          </p:nvSpPr>
          <p:spPr bwMode="auto">
            <a:xfrm>
              <a:off x="3289" y="2380"/>
              <a:ext cx="54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endParaRPr lang="zh-TW" altLang="zh-TW" sz="2400">
                <a:latin typeface="Tahoma" pitchFamily="34" charset="0"/>
              </a:endParaRPr>
            </a:p>
          </p:txBody>
        </p:sp>
        <p:sp>
          <p:nvSpPr>
            <p:cNvPr id="4115" name="Rectangle 45"/>
            <p:cNvSpPr>
              <a:spLocks noChangeArrowheads="1"/>
            </p:cNvSpPr>
            <p:nvPr/>
          </p:nvSpPr>
          <p:spPr bwMode="auto">
            <a:xfrm>
              <a:off x="2745" y="2380"/>
              <a:ext cx="54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endParaRPr lang="zh-TW" altLang="zh-TW" sz="2400">
                <a:latin typeface="Tahoma" pitchFamily="34" charset="0"/>
              </a:endParaRPr>
            </a:p>
          </p:txBody>
        </p:sp>
        <p:sp>
          <p:nvSpPr>
            <p:cNvPr id="4116" name="Rectangle 44"/>
            <p:cNvSpPr>
              <a:spLocks noChangeArrowheads="1"/>
            </p:cNvSpPr>
            <p:nvPr/>
          </p:nvSpPr>
          <p:spPr bwMode="auto">
            <a:xfrm>
              <a:off x="2201" y="2380"/>
              <a:ext cx="54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endParaRPr lang="zh-TW" altLang="zh-TW" sz="2400">
                <a:latin typeface="Tahoma" pitchFamily="34" charset="0"/>
              </a:endParaRPr>
            </a:p>
          </p:txBody>
        </p:sp>
        <p:sp>
          <p:nvSpPr>
            <p:cNvPr id="4117" name="Rectangle 43"/>
            <p:cNvSpPr>
              <a:spLocks noChangeArrowheads="1"/>
            </p:cNvSpPr>
            <p:nvPr/>
          </p:nvSpPr>
          <p:spPr bwMode="auto">
            <a:xfrm>
              <a:off x="1657" y="2380"/>
              <a:ext cx="54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endParaRPr lang="zh-TW" altLang="zh-TW" sz="2400">
                <a:latin typeface="Tahoma" pitchFamily="34" charset="0"/>
              </a:endParaRPr>
            </a:p>
          </p:txBody>
        </p:sp>
        <p:sp>
          <p:nvSpPr>
            <p:cNvPr id="4118" name="Rectangle 42"/>
            <p:cNvSpPr>
              <a:spLocks noChangeArrowheads="1"/>
            </p:cNvSpPr>
            <p:nvPr/>
          </p:nvSpPr>
          <p:spPr bwMode="auto">
            <a:xfrm>
              <a:off x="1113" y="2380"/>
              <a:ext cx="54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endParaRPr lang="zh-TW" altLang="zh-TW" sz="2400">
                <a:latin typeface="Tahoma" pitchFamily="34" charset="0"/>
              </a:endParaRPr>
            </a:p>
          </p:txBody>
        </p:sp>
        <p:sp>
          <p:nvSpPr>
            <p:cNvPr id="4119" name="Rectangle 41"/>
            <p:cNvSpPr>
              <a:spLocks noChangeArrowheads="1"/>
            </p:cNvSpPr>
            <p:nvPr/>
          </p:nvSpPr>
          <p:spPr bwMode="auto">
            <a:xfrm>
              <a:off x="569" y="2380"/>
              <a:ext cx="54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TW" sz="2400">
                  <a:latin typeface="Tahoma" pitchFamily="34" charset="0"/>
                </a:rPr>
                <a:t>4</a:t>
              </a:r>
            </a:p>
          </p:txBody>
        </p:sp>
        <p:sp>
          <p:nvSpPr>
            <p:cNvPr id="4120" name="Rectangle 40"/>
            <p:cNvSpPr>
              <a:spLocks noChangeArrowheads="1"/>
            </p:cNvSpPr>
            <p:nvPr/>
          </p:nvSpPr>
          <p:spPr bwMode="auto">
            <a:xfrm>
              <a:off x="4921" y="2093"/>
              <a:ext cx="54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TW" sz="2400" b="1" u="sng">
                  <a:solidFill>
                    <a:schemeClr val="folHlink"/>
                  </a:solidFill>
                  <a:latin typeface="Tahoma" pitchFamily="34" charset="0"/>
                </a:rPr>
                <a:t>6</a:t>
              </a:r>
            </a:p>
          </p:txBody>
        </p:sp>
        <p:sp>
          <p:nvSpPr>
            <p:cNvPr id="4121" name="Rectangle 39"/>
            <p:cNvSpPr>
              <a:spLocks noChangeArrowheads="1"/>
            </p:cNvSpPr>
            <p:nvPr/>
          </p:nvSpPr>
          <p:spPr bwMode="auto">
            <a:xfrm>
              <a:off x="4377" y="2093"/>
              <a:ext cx="54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TW" sz="2400">
                  <a:latin typeface="Tahoma" pitchFamily="34" charset="0"/>
                </a:rPr>
                <a:t>7</a:t>
              </a:r>
            </a:p>
          </p:txBody>
        </p:sp>
        <p:sp>
          <p:nvSpPr>
            <p:cNvPr id="4122" name="Rectangle 38"/>
            <p:cNvSpPr>
              <a:spLocks noChangeArrowheads="1"/>
            </p:cNvSpPr>
            <p:nvPr/>
          </p:nvSpPr>
          <p:spPr bwMode="auto">
            <a:xfrm>
              <a:off x="3833" y="2093"/>
              <a:ext cx="54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TW" sz="2400">
                  <a:latin typeface="Tahoma" pitchFamily="34" charset="0"/>
                </a:rPr>
                <a:t>7</a:t>
              </a:r>
            </a:p>
          </p:txBody>
        </p:sp>
        <p:sp>
          <p:nvSpPr>
            <p:cNvPr id="4123" name="Rectangle 37"/>
            <p:cNvSpPr>
              <a:spLocks noChangeArrowheads="1"/>
            </p:cNvSpPr>
            <p:nvPr/>
          </p:nvSpPr>
          <p:spPr bwMode="auto">
            <a:xfrm>
              <a:off x="3289" y="2093"/>
              <a:ext cx="54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TW" sz="2400">
                  <a:latin typeface="Tahoma" pitchFamily="34" charset="0"/>
                </a:rPr>
                <a:t>7</a:t>
              </a:r>
            </a:p>
          </p:txBody>
        </p:sp>
        <p:sp>
          <p:nvSpPr>
            <p:cNvPr id="4124" name="Rectangle 36"/>
            <p:cNvSpPr>
              <a:spLocks noChangeArrowheads="1"/>
            </p:cNvSpPr>
            <p:nvPr/>
          </p:nvSpPr>
          <p:spPr bwMode="auto">
            <a:xfrm>
              <a:off x="2745" y="2093"/>
              <a:ext cx="54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TW" sz="2400" b="1" u="sng">
                  <a:solidFill>
                    <a:schemeClr val="folHlink"/>
                  </a:solidFill>
                  <a:latin typeface="Tahoma" pitchFamily="34" charset="0"/>
                </a:rPr>
                <a:t>7</a:t>
              </a:r>
            </a:p>
          </p:txBody>
        </p:sp>
        <p:sp>
          <p:nvSpPr>
            <p:cNvPr id="4125" name="Rectangle 35"/>
            <p:cNvSpPr>
              <a:spLocks noChangeArrowheads="1"/>
            </p:cNvSpPr>
            <p:nvPr/>
          </p:nvSpPr>
          <p:spPr bwMode="auto">
            <a:xfrm>
              <a:off x="2201" y="2093"/>
              <a:ext cx="54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endParaRPr lang="zh-TW" altLang="zh-TW" sz="2400">
                <a:latin typeface="Tahoma" pitchFamily="34" charset="0"/>
              </a:endParaRPr>
            </a:p>
          </p:txBody>
        </p:sp>
        <p:sp>
          <p:nvSpPr>
            <p:cNvPr id="4126" name="Rectangle 34"/>
            <p:cNvSpPr>
              <a:spLocks noChangeArrowheads="1"/>
            </p:cNvSpPr>
            <p:nvPr/>
          </p:nvSpPr>
          <p:spPr bwMode="auto">
            <a:xfrm>
              <a:off x="1657" y="2093"/>
              <a:ext cx="54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endParaRPr lang="zh-TW" altLang="zh-TW" sz="2400">
                <a:latin typeface="Tahoma" pitchFamily="34" charset="0"/>
              </a:endParaRPr>
            </a:p>
          </p:txBody>
        </p:sp>
        <p:sp>
          <p:nvSpPr>
            <p:cNvPr id="4127" name="Rectangle 33"/>
            <p:cNvSpPr>
              <a:spLocks noChangeArrowheads="1"/>
            </p:cNvSpPr>
            <p:nvPr/>
          </p:nvSpPr>
          <p:spPr bwMode="auto">
            <a:xfrm>
              <a:off x="1113" y="2093"/>
              <a:ext cx="54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endParaRPr lang="zh-TW" altLang="zh-TW" sz="2400">
                <a:latin typeface="Tahoma" pitchFamily="34" charset="0"/>
              </a:endParaRPr>
            </a:p>
          </p:txBody>
        </p:sp>
        <p:sp>
          <p:nvSpPr>
            <p:cNvPr id="4128" name="Rectangle 32"/>
            <p:cNvSpPr>
              <a:spLocks noChangeArrowheads="1"/>
            </p:cNvSpPr>
            <p:nvPr/>
          </p:nvSpPr>
          <p:spPr bwMode="auto">
            <a:xfrm>
              <a:off x="569" y="2093"/>
              <a:ext cx="54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TW" sz="2400">
                  <a:latin typeface="Tahoma" pitchFamily="34" charset="0"/>
                </a:rPr>
                <a:t>3</a:t>
              </a:r>
            </a:p>
          </p:txBody>
        </p:sp>
        <p:sp>
          <p:nvSpPr>
            <p:cNvPr id="4129" name="Rectangle 31"/>
            <p:cNvSpPr>
              <a:spLocks noChangeArrowheads="1"/>
            </p:cNvSpPr>
            <p:nvPr/>
          </p:nvSpPr>
          <p:spPr bwMode="auto">
            <a:xfrm>
              <a:off x="4921" y="1806"/>
              <a:ext cx="54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TW" sz="2400">
                  <a:latin typeface="Tahoma" pitchFamily="34" charset="0"/>
                </a:rPr>
                <a:t>4</a:t>
              </a:r>
            </a:p>
          </p:txBody>
        </p:sp>
        <p:sp>
          <p:nvSpPr>
            <p:cNvPr id="4130" name="Rectangle 30"/>
            <p:cNvSpPr>
              <a:spLocks noChangeArrowheads="1"/>
            </p:cNvSpPr>
            <p:nvPr/>
          </p:nvSpPr>
          <p:spPr bwMode="auto">
            <a:xfrm>
              <a:off x="4377" y="1806"/>
              <a:ext cx="54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TW" sz="2400">
                  <a:latin typeface="Tahoma" pitchFamily="34" charset="0"/>
                </a:rPr>
                <a:t>4</a:t>
              </a:r>
            </a:p>
          </p:txBody>
        </p:sp>
        <p:sp>
          <p:nvSpPr>
            <p:cNvPr id="4131" name="Rectangle 29"/>
            <p:cNvSpPr>
              <a:spLocks noChangeArrowheads="1"/>
            </p:cNvSpPr>
            <p:nvPr/>
          </p:nvSpPr>
          <p:spPr bwMode="auto">
            <a:xfrm>
              <a:off x="3833" y="1806"/>
              <a:ext cx="54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TW" sz="2400">
                  <a:latin typeface="Tahoma" pitchFamily="34" charset="0"/>
                </a:rPr>
                <a:t>4</a:t>
              </a:r>
            </a:p>
          </p:txBody>
        </p:sp>
        <p:sp>
          <p:nvSpPr>
            <p:cNvPr id="4132" name="Rectangle 28"/>
            <p:cNvSpPr>
              <a:spLocks noChangeArrowheads="1"/>
            </p:cNvSpPr>
            <p:nvPr/>
          </p:nvSpPr>
          <p:spPr bwMode="auto">
            <a:xfrm>
              <a:off x="3289" y="1806"/>
              <a:ext cx="54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TW" sz="2400" b="1" u="sng">
                  <a:solidFill>
                    <a:schemeClr val="folHlink"/>
                  </a:solidFill>
                  <a:latin typeface="Tahoma" pitchFamily="34" charset="0"/>
                </a:rPr>
                <a:t>4</a:t>
              </a:r>
            </a:p>
          </p:txBody>
        </p:sp>
        <p:sp>
          <p:nvSpPr>
            <p:cNvPr id="4133" name="Rectangle 27"/>
            <p:cNvSpPr>
              <a:spLocks noChangeArrowheads="1"/>
            </p:cNvSpPr>
            <p:nvPr/>
          </p:nvSpPr>
          <p:spPr bwMode="auto">
            <a:xfrm>
              <a:off x="2745" y="1806"/>
              <a:ext cx="54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TW" sz="2400">
                  <a:latin typeface="Tahoma" pitchFamily="34" charset="0"/>
                </a:rPr>
                <a:t>5</a:t>
              </a:r>
            </a:p>
          </p:txBody>
        </p:sp>
        <p:sp>
          <p:nvSpPr>
            <p:cNvPr id="4134" name="Rectangle 26"/>
            <p:cNvSpPr>
              <a:spLocks noChangeArrowheads="1"/>
            </p:cNvSpPr>
            <p:nvPr/>
          </p:nvSpPr>
          <p:spPr bwMode="auto">
            <a:xfrm>
              <a:off x="2201" y="1806"/>
              <a:ext cx="54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TW" sz="2400">
                  <a:latin typeface="Tahoma" pitchFamily="34" charset="0"/>
                </a:rPr>
                <a:t>5</a:t>
              </a:r>
            </a:p>
          </p:txBody>
        </p:sp>
        <p:sp>
          <p:nvSpPr>
            <p:cNvPr id="4135" name="Rectangle 25"/>
            <p:cNvSpPr>
              <a:spLocks noChangeArrowheads="1"/>
            </p:cNvSpPr>
            <p:nvPr/>
          </p:nvSpPr>
          <p:spPr bwMode="auto">
            <a:xfrm>
              <a:off x="1657" y="1806"/>
              <a:ext cx="54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TW" sz="2400" b="1" u="sng">
                  <a:solidFill>
                    <a:schemeClr val="folHlink"/>
                  </a:solidFill>
                  <a:latin typeface="Tahoma" pitchFamily="34" charset="0"/>
                </a:rPr>
                <a:t>5</a:t>
              </a:r>
            </a:p>
          </p:txBody>
        </p:sp>
        <p:sp>
          <p:nvSpPr>
            <p:cNvPr id="4136" name="Rectangle 24"/>
            <p:cNvSpPr>
              <a:spLocks noChangeArrowheads="1"/>
            </p:cNvSpPr>
            <p:nvPr/>
          </p:nvSpPr>
          <p:spPr bwMode="auto">
            <a:xfrm>
              <a:off x="1113" y="1806"/>
              <a:ext cx="54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endParaRPr lang="zh-TW" altLang="zh-TW" sz="2400">
                <a:latin typeface="Tahoma" pitchFamily="34" charset="0"/>
              </a:endParaRPr>
            </a:p>
          </p:txBody>
        </p:sp>
        <p:sp>
          <p:nvSpPr>
            <p:cNvPr id="4137" name="Rectangle 23"/>
            <p:cNvSpPr>
              <a:spLocks noChangeArrowheads="1"/>
            </p:cNvSpPr>
            <p:nvPr/>
          </p:nvSpPr>
          <p:spPr bwMode="auto">
            <a:xfrm>
              <a:off x="569" y="1806"/>
              <a:ext cx="54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TW" sz="2400">
                  <a:latin typeface="Tahoma" pitchFamily="34" charset="0"/>
                </a:rPr>
                <a:t>2</a:t>
              </a:r>
            </a:p>
          </p:txBody>
        </p:sp>
        <p:sp>
          <p:nvSpPr>
            <p:cNvPr id="4138" name="Rectangle 22"/>
            <p:cNvSpPr>
              <a:spLocks noChangeArrowheads="1"/>
            </p:cNvSpPr>
            <p:nvPr/>
          </p:nvSpPr>
          <p:spPr bwMode="auto">
            <a:xfrm>
              <a:off x="4921" y="1519"/>
              <a:ext cx="54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TW" sz="2400">
                  <a:latin typeface="Tahoma" pitchFamily="34" charset="0"/>
                </a:rPr>
                <a:t>1</a:t>
              </a:r>
            </a:p>
          </p:txBody>
        </p:sp>
        <p:sp>
          <p:nvSpPr>
            <p:cNvPr id="4139" name="Rectangle 21"/>
            <p:cNvSpPr>
              <a:spLocks noChangeArrowheads="1"/>
            </p:cNvSpPr>
            <p:nvPr/>
          </p:nvSpPr>
          <p:spPr bwMode="auto">
            <a:xfrm>
              <a:off x="4377" y="1519"/>
              <a:ext cx="54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TW" sz="2400" b="1" u="sng">
                  <a:solidFill>
                    <a:schemeClr val="folHlink"/>
                  </a:solidFill>
                  <a:latin typeface="Tahoma" pitchFamily="34" charset="0"/>
                </a:rPr>
                <a:t>1</a:t>
              </a:r>
            </a:p>
          </p:txBody>
        </p:sp>
        <p:sp>
          <p:nvSpPr>
            <p:cNvPr id="4140" name="Rectangle 20"/>
            <p:cNvSpPr>
              <a:spLocks noChangeArrowheads="1"/>
            </p:cNvSpPr>
            <p:nvPr/>
          </p:nvSpPr>
          <p:spPr bwMode="auto">
            <a:xfrm>
              <a:off x="3833" y="1519"/>
              <a:ext cx="54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TW" sz="2400">
                  <a:latin typeface="Tahoma" pitchFamily="34" charset="0"/>
                </a:rPr>
                <a:t>2</a:t>
              </a:r>
            </a:p>
          </p:txBody>
        </p:sp>
        <p:sp>
          <p:nvSpPr>
            <p:cNvPr id="4141" name="Rectangle 19"/>
            <p:cNvSpPr>
              <a:spLocks noChangeArrowheads="1"/>
            </p:cNvSpPr>
            <p:nvPr/>
          </p:nvSpPr>
          <p:spPr bwMode="auto">
            <a:xfrm>
              <a:off x="3289" y="1519"/>
              <a:ext cx="54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TW" sz="2400">
                  <a:latin typeface="Tahoma" pitchFamily="34" charset="0"/>
                </a:rPr>
                <a:t>2</a:t>
              </a:r>
            </a:p>
          </p:txBody>
        </p:sp>
        <p:sp>
          <p:nvSpPr>
            <p:cNvPr id="4142" name="Rectangle 18"/>
            <p:cNvSpPr>
              <a:spLocks noChangeArrowheads="1"/>
            </p:cNvSpPr>
            <p:nvPr/>
          </p:nvSpPr>
          <p:spPr bwMode="auto">
            <a:xfrm>
              <a:off x="2745" y="1519"/>
              <a:ext cx="54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TW" sz="2400">
                  <a:latin typeface="Tahoma" pitchFamily="34" charset="0"/>
                </a:rPr>
                <a:t>2</a:t>
              </a:r>
            </a:p>
          </p:txBody>
        </p:sp>
        <p:sp>
          <p:nvSpPr>
            <p:cNvPr id="4143" name="Rectangle 17"/>
            <p:cNvSpPr>
              <a:spLocks noChangeArrowheads="1"/>
            </p:cNvSpPr>
            <p:nvPr/>
          </p:nvSpPr>
          <p:spPr bwMode="auto">
            <a:xfrm>
              <a:off x="2201" y="1519"/>
              <a:ext cx="54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TW" sz="2400" b="1" u="sng">
                  <a:solidFill>
                    <a:schemeClr val="folHlink"/>
                  </a:solidFill>
                  <a:latin typeface="Tahoma" pitchFamily="34" charset="0"/>
                </a:rPr>
                <a:t>2</a:t>
              </a:r>
            </a:p>
          </p:txBody>
        </p:sp>
        <p:sp>
          <p:nvSpPr>
            <p:cNvPr id="4144" name="Rectangle 16"/>
            <p:cNvSpPr>
              <a:spLocks noChangeArrowheads="1"/>
            </p:cNvSpPr>
            <p:nvPr/>
          </p:nvSpPr>
          <p:spPr bwMode="auto">
            <a:xfrm>
              <a:off x="1657" y="1519"/>
              <a:ext cx="54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TW" sz="2400">
                  <a:latin typeface="Tahoma" pitchFamily="34" charset="0"/>
                </a:rPr>
                <a:t>3</a:t>
              </a:r>
            </a:p>
          </p:txBody>
        </p:sp>
        <p:sp>
          <p:nvSpPr>
            <p:cNvPr id="4145" name="Rectangle 15"/>
            <p:cNvSpPr>
              <a:spLocks noChangeArrowheads="1"/>
            </p:cNvSpPr>
            <p:nvPr/>
          </p:nvSpPr>
          <p:spPr bwMode="auto">
            <a:xfrm>
              <a:off x="1113" y="1519"/>
              <a:ext cx="54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TW" sz="2400" b="1" u="sng">
                  <a:solidFill>
                    <a:schemeClr val="folHlink"/>
                  </a:solidFill>
                  <a:latin typeface="Tahoma" pitchFamily="34" charset="0"/>
                </a:rPr>
                <a:t>3</a:t>
              </a:r>
            </a:p>
          </p:txBody>
        </p:sp>
        <p:sp>
          <p:nvSpPr>
            <p:cNvPr id="4146" name="Rectangle 14"/>
            <p:cNvSpPr>
              <a:spLocks noChangeArrowheads="1"/>
            </p:cNvSpPr>
            <p:nvPr/>
          </p:nvSpPr>
          <p:spPr bwMode="auto">
            <a:xfrm>
              <a:off x="569" y="1519"/>
              <a:ext cx="54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TW" sz="2400">
                  <a:latin typeface="Tahoma" pitchFamily="34" charset="0"/>
                </a:rPr>
                <a:t>1</a:t>
              </a:r>
            </a:p>
          </p:txBody>
        </p:sp>
        <p:sp>
          <p:nvSpPr>
            <p:cNvPr id="4147" name="Rectangle 13"/>
            <p:cNvSpPr>
              <a:spLocks noChangeArrowheads="1"/>
            </p:cNvSpPr>
            <p:nvPr/>
          </p:nvSpPr>
          <p:spPr bwMode="auto">
            <a:xfrm>
              <a:off x="4921" y="1232"/>
              <a:ext cx="54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TW" sz="2400">
                  <a:latin typeface="Tahoma" pitchFamily="34" charset="0"/>
                </a:rPr>
                <a:t>6</a:t>
              </a:r>
            </a:p>
          </p:txBody>
        </p:sp>
        <p:sp>
          <p:nvSpPr>
            <p:cNvPr id="4148" name="Rectangle 12"/>
            <p:cNvSpPr>
              <a:spLocks noChangeArrowheads="1"/>
            </p:cNvSpPr>
            <p:nvPr/>
          </p:nvSpPr>
          <p:spPr bwMode="auto">
            <a:xfrm>
              <a:off x="4377" y="1232"/>
              <a:ext cx="54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TW" sz="2400">
                  <a:latin typeface="Tahoma" pitchFamily="34" charset="0"/>
                </a:rPr>
                <a:t>1</a:t>
              </a:r>
            </a:p>
          </p:txBody>
        </p:sp>
        <p:sp>
          <p:nvSpPr>
            <p:cNvPr id="4149" name="Rectangle 11"/>
            <p:cNvSpPr>
              <a:spLocks noChangeArrowheads="1"/>
            </p:cNvSpPr>
            <p:nvPr/>
          </p:nvSpPr>
          <p:spPr bwMode="auto">
            <a:xfrm>
              <a:off x="3833" y="1232"/>
              <a:ext cx="54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TW" sz="2400">
                  <a:latin typeface="Tahoma" pitchFamily="34" charset="0"/>
                </a:rPr>
                <a:t>8</a:t>
              </a:r>
            </a:p>
          </p:txBody>
        </p:sp>
        <p:sp>
          <p:nvSpPr>
            <p:cNvPr id="4150" name="Rectangle 10"/>
            <p:cNvSpPr>
              <a:spLocks noChangeArrowheads="1"/>
            </p:cNvSpPr>
            <p:nvPr/>
          </p:nvSpPr>
          <p:spPr bwMode="auto">
            <a:xfrm>
              <a:off x="3289" y="1232"/>
              <a:ext cx="54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TW" sz="2400">
                  <a:latin typeface="Tahoma" pitchFamily="34" charset="0"/>
                </a:rPr>
                <a:t>4</a:t>
              </a:r>
            </a:p>
          </p:txBody>
        </p:sp>
        <p:sp>
          <p:nvSpPr>
            <p:cNvPr id="4151" name="Rectangle 9"/>
            <p:cNvSpPr>
              <a:spLocks noChangeArrowheads="1"/>
            </p:cNvSpPr>
            <p:nvPr/>
          </p:nvSpPr>
          <p:spPr bwMode="auto">
            <a:xfrm>
              <a:off x="2745" y="1232"/>
              <a:ext cx="54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TW" sz="2400">
                  <a:latin typeface="Tahoma" pitchFamily="34" charset="0"/>
                </a:rPr>
                <a:t>7</a:t>
              </a:r>
            </a:p>
          </p:txBody>
        </p:sp>
        <p:sp>
          <p:nvSpPr>
            <p:cNvPr id="4152" name="Rectangle 8"/>
            <p:cNvSpPr>
              <a:spLocks noChangeArrowheads="1"/>
            </p:cNvSpPr>
            <p:nvPr/>
          </p:nvSpPr>
          <p:spPr bwMode="auto">
            <a:xfrm>
              <a:off x="2201" y="1232"/>
              <a:ext cx="54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TW" sz="2400">
                  <a:latin typeface="Tahoma" pitchFamily="34" charset="0"/>
                </a:rPr>
                <a:t>2</a:t>
              </a:r>
            </a:p>
          </p:txBody>
        </p:sp>
        <p:sp>
          <p:nvSpPr>
            <p:cNvPr id="4153" name="Rectangle 7"/>
            <p:cNvSpPr>
              <a:spLocks noChangeArrowheads="1"/>
            </p:cNvSpPr>
            <p:nvPr/>
          </p:nvSpPr>
          <p:spPr bwMode="auto">
            <a:xfrm>
              <a:off x="1657" y="1232"/>
              <a:ext cx="54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TW" sz="2400">
                  <a:latin typeface="Tahoma" pitchFamily="34" charset="0"/>
                </a:rPr>
                <a:t>5</a:t>
              </a:r>
            </a:p>
          </p:txBody>
        </p:sp>
        <p:sp>
          <p:nvSpPr>
            <p:cNvPr id="4154" name="Rectangle 6"/>
            <p:cNvSpPr>
              <a:spLocks noChangeArrowheads="1"/>
            </p:cNvSpPr>
            <p:nvPr/>
          </p:nvSpPr>
          <p:spPr bwMode="auto">
            <a:xfrm>
              <a:off x="1113" y="1232"/>
              <a:ext cx="54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TW" sz="2400">
                  <a:latin typeface="Tahoma" pitchFamily="34" charset="0"/>
                </a:rPr>
                <a:t>3</a:t>
              </a:r>
            </a:p>
          </p:txBody>
        </p:sp>
        <p:sp>
          <p:nvSpPr>
            <p:cNvPr id="4155" name="Rectangle 5"/>
            <p:cNvSpPr>
              <a:spLocks noChangeArrowheads="1"/>
            </p:cNvSpPr>
            <p:nvPr/>
          </p:nvSpPr>
          <p:spPr bwMode="auto">
            <a:xfrm>
              <a:off x="569" y="1232"/>
              <a:ext cx="54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endParaRPr lang="zh-TW" altLang="zh-TW" sz="2400">
                <a:latin typeface="Tahoma" pitchFamily="34" charset="0"/>
              </a:endParaRPr>
            </a:p>
          </p:txBody>
        </p:sp>
        <p:sp>
          <p:nvSpPr>
            <p:cNvPr id="4156" name="Line 86"/>
            <p:cNvSpPr>
              <a:spLocks noChangeShapeType="1"/>
            </p:cNvSpPr>
            <p:nvPr/>
          </p:nvSpPr>
          <p:spPr bwMode="auto">
            <a:xfrm>
              <a:off x="569" y="1232"/>
              <a:ext cx="489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TW" altLang="en-US"/>
            </a:p>
          </p:txBody>
        </p:sp>
        <p:sp>
          <p:nvSpPr>
            <p:cNvPr id="4157" name="Line 87"/>
            <p:cNvSpPr>
              <a:spLocks noChangeShapeType="1"/>
            </p:cNvSpPr>
            <p:nvPr/>
          </p:nvSpPr>
          <p:spPr bwMode="auto">
            <a:xfrm>
              <a:off x="569" y="1519"/>
              <a:ext cx="489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TW" altLang="en-US"/>
            </a:p>
          </p:txBody>
        </p:sp>
        <p:sp>
          <p:nvSpPr>
            <p:cNvPr id="4158" name="Line 88"/>
            <p:cNvSpPr>
              <a:spLocks noChangeShapeType="1"/>
            </p:cNvSpPr>
            <p:nvPr/>
          </p:nvSpPr>
          <p:spPr bwMode="auto">
            <a:xfrm>
              <a:off x="569" y="1806"/>
              <a:ext cx="489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TW" altLang="en-US"/>
            </a:p>
          </p:txBody>
        </p:sp>
        <p:sp>
          <p:nvSpPr>
            <p:cNvPr id="4159" name="Line 89"/>
            <p:cNvSpPr>
              <a:spLocks noChangeShapeType="1"/>
            </p:cNvSpPr>
            <p:nvPr/>
          </p:nvSpPr>
          <p:spPr bwMode="auto">
            <a:xfrm>
              <a:off x="569" y="2093"/>
              <a:ext cx="489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TW" altLang="en-US"/>
            </a:p>
          </p:txBody>
        </p:sp>
        <p:sp>
          <p:nvSpPr>
            <p:cNvPr id="4160" name="Line 90"/>
            <p:cNvSpPr>
              <a:spLocks noChangeShapeType="1"/>
            </p:cNvSpPr>
            <p:nvPr/>
          </p:nvSpPr>
          <p:spPr bwMode="auto">
            <a:xfrm>
              <a:off x="569" y="2380"/>
              <a:ext cx="489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TW" altLang="en-US"/>
            </a:p>
          </p:txBody>
        </p:sp>
        <p:sp>
          <p:nvSpPr>
            <p:cNvPr id="4161" name="Line 91"/>
            <p:cNvSpPr>
              <a:spLocks noChangeShapeType="1"/>
            </p:cNvSpPr>
            <p:nvPr/>
          </p:nvSpPr>
          <p:spPr bwMode="auto">
            <a:xfrm>
              <a:off x="569" y="2667"/>
              <a:ext cx="489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TW" altLang="en-US"/>
            </a:p>
          </p:txBody>
        </p:sp>
        <p:sp>
          <p:nvSpPr>
            <p:cNvPr id="4162" name="Line 95"/>
            <p:cNvSpPr>
              <a:spLocks noChangeShapeType="1"/>
            </p:cNvSpPr>
            <p:nvPr/>
          </p:nvSpPr>
          <p:spPr bwMode="auto">
            <a:xfrm>
              <a:off x="569" y="2954"/>
              <a:ext cx="489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TW" altLang="en-US"/>
            </a:p>
          </p:txBody>
        </p:sp>
        <p:sp>
          <p:nvSpPr>
            <p:cNvPr id="4163" name="Line 96"/>
            <p:cNvSpPr>
              <a:spLocks noChangeShapeType="1"/>
            </p:cNvSpPr>
            <p:nvPr/>
          </p:nvSpPr>
          <p:spPr bwMode="auto">
            <a:xfrm>
              <a:off x="569" y="1232"/>
              <a:ext cx="0" cy="172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TW" altLang="en-US"/>
            </a:p>
          </p:txBody>
        </p:sp>
        <p:sp>
          <p:nvSpPr>
            <p:cNvPr id="4164" name="Line 97"/>
            <p:cNvSpPr>
              <a:spLocks noChangeShapeType="1"/>
            </p:cNvSpPr>
            <p:nvPr/>
          </p:nvSpPr>
          <p:spPr bwMode="auto">
            <a:xfrm>
              <a:off x="1113" y="1232"/>
              <a:ext cx="0" cy="172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TW" altLang="en-US"/>
            </a:p>
          </p:txBody>
        </p:sp>
        <p:sp>
          <p:nvSpPr>
            <p:cNvPr id="4165" name="Line 98"/>
            <p:cNvSpPr>
              <a:spLocks noChangeShapeType="1"/>
            </p:cNvSpPr>
            <p:nvPr/>
          </p:nvSpPr>
          <p:spPr bwMode="auto">
            <a:xfrm>
              <a:off x="1657" y="1232"/>
              <a:ext cx="0" cy="172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TW" altLang="en-US"/>
            </a:p>
          </p:txBody>
        </p:sp>
        <p:sp>
          <p:nvSpPr>
            <p:cNvPr id="4166" name="Line 99"/>
            <p:cNvSpPr>
              <a:spLocks noChangeShapeType="1"/>
            </p:cNvSpPr>
            <p:nvPr/>
          </p:nvSpPr>
          <p:spPr bwMode="auto">
            <a:xfrm>
              <a:off x="2201" y="1232"/>
              <a:ext cx="0" cy="172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TW" altLang="en-US"/>
            </a:p>
          </p:txBody>
        </p:sp>
        <p:sp>
          <p:nvSpPr>
            <p:cNvPr id="4167" name="Line 100"/>
            <p:cNvSpPr>
              <a:spLocks noChangeShapeType="1"/>
            </p:cNvSpPr>
            <p:nvPr/>
          </p:nvSpPr>
          <p:spPr bwMode="auto">
            <a:xfrm>
              <a:off x="2745" y="1232"/>
              <a:ext cx="0" cy="172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TW" altLang="en-US"/>
            </a:p>
          </p:txBody>
        </p:sp>
        <p:sp>
          <p:nvSpPr>
            <p:cNvPr id="4168" name="Line 101"/>
            <p:cNvSpPr>
              <a:spLocks noChangeShapeType="1"/>
            </p:cNvSpPr>
            <p:nvPr/>
          </p:nvSpPr>
          <p:spPr bwMode="auto">
            <a:xfrm>
              <a:off x="3289" y="1232"/>
              <a:ext cx="0" cy="172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TW" altLang="en-US"/>
            </a:p>
          </p:txBody>
        </p:sp>
        <p:sp>
          <p:nvSpPr>
            <p:cNvPr id="4169" name="Line 102"/>
            <p:cNvSpPr>
              <a:spLocks noChangeShapeType="1"/>
            </p:cNvSpPr>
            <p:nvPr/>
          </p:nvSpPr>
          <p:spPr bwMode="auto">
            <a:xfrm>
              <a:off x="3833" y="1232"/>
              <a:ext cx="0" cy="172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TW" altLang="en-US"/>
            </a:p>
          </p:txBody>
        </p:sp>
        <p:sp>
          <p:nvSpPr>
            <p:cNvPr id="4170" name="Line 103"/>
            <p:cNvSpPr>
              <a:spLocks noChangeShapeType="1"/>
            </p:cNvSpPr>
            <p:nvPr/>
          </p:nvSpPr>
          <p:spPr bwMode="auto">
            <a:xfrm>
              <a:off x="4377" y="1232"/>
              <a:ext cx="0" cy="172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TW" altLang="en-US"/>
            </a:p>
          </p:txBody>
        </p:sp>
        <p:sp>
          <p:nvSpPr>
            <p:cNvPr id="4171" name="Line 104"/>
            <p:cNvSpPr>
              <a:spLocks noChangeShapeType="1"/>
            </p:cNvSpPr>
            <p:nvPr/>
          </p:nvSpPr>
          <p:spPr bwMode="auto">
            <a:xfrm>
              <a:off x="4921" y="1232"/>
              <a:ext cx="0" cy="172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TW" altLang="en-US"/>
            </a:p>
          </p:txBody>
        </p:sp>
        <p:sp>
          <p:nvSpPr>
            <p:cNvPr id="4172" name="Line 105"/>
            <p:cNvSpPr>
              <a:spLocks noChangeShapeType="1"/>
            </p:cNvSpPr>
            <p:nvPr/>
          </p:nvSpPr>
          <p:spPr bwMode="auto">
            <a:xfrm>
              <a:off x="5465" y="1232"/>
              <a:ext cx="0" cy="172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TW" altLang="en-US"/>
            </a:p>
          </p:txBody>
        </p:sp>
        <p:sp>
          <p:nvSpPr>
            <p:cNvPr id="4173" name="Rectangle 116"/>
            <p:cNvSpPr>
              <a:spLocks noChangeArrowheads="1"/>
            </p:cNvSpPr>
            <p:nvPr/>
          </p:nvSpPr>
          <p:spPr bwMode="auto">
            <a:xfrm>
              <a:off x="192" y="1883"/>
              <a:ext cx="259" cy="36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TW" sz="2400">
                  <a:latin typeface="Times New Roman" pitchFamily="18" charset="0"/>
                </a:rPr>
                <a:t>L</a:t>
              </a:r>
            </a:p>
          </p:txBody>
        </p:sp>
        <p:sp>
          <p:nvSpPr>
            <p:cNvPr id="4174" name="Line 118"/>
            <p:cNvSpPr>
              <a:spLocks noChangeShapeType="1"/>
            </p:cNvSpPr>
            <p:nvPr/>
          </p:nvSpPr>
          <p:spPr bwMode="auto">
            <a:xfrm>
              <a:off x="614" y="1096"/>
              <a:ext cx="485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TW" altLang="en-US"/>
            </a:p>
          </p:txBody>
        </p:sp>
        <p:sp>
          <p:nvSpPr>
            <p:cNvPr id="4175" name="Rectangle 124"/>
            <p:cNvSpPr>
              <a:spLocks noChangeArrowheads="1"/>
            </p:cNvSpPr>
            <p:nvPr/>
          </p:nvSpPr>
          <p:spPr bwMode="auto">
            <a:xfrm>
              <a:off x="2474" y="960"/>
              <a:ext cx="726" cy="22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TW" sz="2400">
                  <a:latin typeface="Times New Roman" pitchFamily="18" charset="0"/>
                </a:rPr>
                <a:t>Input</a:t>
              </a:r>
            </a:p>
          </p:txBody>
        </p:sp>
        <p:sp>
          <p:nvSpPr>
            <p:cNvPr id="4176" name="Oval 125"/>
            <p:cNvSpPr>
              <a:spLocks noChangeArrowheads="1"/>
            </p:cNvSpPr>
            <p:nvPr/>
          </p:nvSpPr>
          <p:spPr bwMode="auto">
            <a:xfrm>
              <a:off x="1204" y="1549"/>
              <a:ext cx="363" cy="272"/>
            </a:xfrm>
            <a:prstGeom prst="ellipse">
              <a:avLst/>
            </a:prstGeom>
            <a:noFill/>
            <a:ln w="28575">
              <a:solidFill>
                <a:schemeClr val="hlink"/>
              </a:solidFill>
              <a:prstDash val="sysDot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 sz="2400">
                <a:latin typeface="Tahoma" pitchFamily="34" charset="0"/>
              </a:endParaRPr>
            </a:p>
          </p:txBody>
        </p:sp>
        <p:sp>
          <p:nvSpPr>
            <p:cNvPr id="4177" name="Oval 126"/>
            <p:cNvSpPr>
              <a:spLocks noChangeArrowheads="1"/>
            </p:cNvSpPr>
            <p:nvPr/>
          </p:nvSpPr>
          <p:spPr bwMode="auto">
            <a:xfrm>
              <a:off x="1749" y="1595"/>
              <a:ext cx="363" cy="499"/>
            </a:xfrm>
            <a:prstGeom prst="ellipse">
              <a:avLst/>
            </a:prstGeom>
            <a:noFill/>
            <a:ln w="28575">
              <a:solidFill>
                <a:schemeClr val="hlink"/>
              </a:solidFill>
              <a:prstDash val="sysDot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 sz="2400">
                <a:latin typeface="Tahoma" pitchFamily="34" charset="0"/>
              </a:endParaRPr>
            </a:p>
          </p:txBody>
        </p:sp>
        <p:sp>
          <p:nvSpPr>
            <p:cNvPr id="4178" name="Oval 127"/>
            <p:cNvSpPr>
              <a:spLocks noChangeArrowheads="1"/>
            </p:cNvSpPr>
            <p:nvPr/>
          </p:nvSpPr>
          <p:spPr bwMode="auto">
            <a:xfrm>
              <a:off x="2837" y="1821"/>
              <a:ext cx="363" cy="500"/>
            </a:xfrm>
            <a:prstGeom prst="ellipse">
              <a:avLst/>
            </a:prstGeom>
            <a:noFill/>
            <a:ln w="28575">
              <a:solidFill>
                <a:schemeClr val="hlink"/>
              </a:solidFill>
              <a:prstDash val="sysDot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 sz="2400">
                <a:latin typeface="Tahoma" pitchFamily="34" charset="0"/>
              </a:endParaRPr>
            </a:p>
          </p:txBody>
        </p:sp>
        <p:sp>
          <p:nvSpPr>
            <p:cNvPr id="4179" name="Oval 128"/>
            <p:cNvSpPr>
              <a:spLocks noChangeArrowheads="1"/>
            </p:cNvSpPr>
            <p:nvPr/>
          </p:nvSpPr>
          <p:spPr bwMode="auto">
            <a:xfrm>
              <a:off x="3926" y="2048"/>
              <a:ext cx="363" cy="545"/>
            </a:xfrm>
            <a:prstGeom prst="ellipse">
              <a:avLst/>
            </a:prstGeom>
            <a:noFill/>
            <a:ln w="28575">
              <a:solidFill>
                <a:schemeClr val="hlink"/>
              </a:solidFill>
              <a:prstDash val="sysDot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 sz="2400">
                <a:latin typeface="Tahoma" pitchFamily="34" charset="0"/>
              </a:endParaRPr>
            </a:p>
          </p:txBody>
        </p:sp>
        <p:sp>
          <p:nvSpPr>
            <p:cNvPr id="4180" name="Oval 129"/>
            <p:cNvSpPr>
              <a:spLocks noChangeArrowheads="1"/>
            </p:cNvSpPr>
            <p:nvPr/>
          </p:nvSpPr>
          <p:spPr bwMode="auto">
            <a:xfrm>
              <a:off x="5015" y="2275"/>
              <a:ext cx="363" cy="318"/>
            </a:xfrm>
            <a:prstGeom prst="ellipse">
              <a:avLst/>
            </a:prstGeom>
            <a:noFill/>
            <a:ln w="28575">
              <a:solidFill>
                <a:schemeClr val="hlink"/>
              </a:solidFill>
              <a:prstDash val="sysDot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 sz="2400">
                <a:latin typeface="Tahoma" pitchFamily="34" charset="0"/>
              </a:endParaRPr>
            </a:p>
          </p:txBody>
        </p:sp>
        <p:sp>
          <p:nvSpPr>
            <p:cNvPr id="4181" name="Line 130"/>
            <p:cNvSpPr>
              <a:spLocks noChangeShapeType="1"/>
            </p:cNvSpPr>
            <p:nvPr/>
          </p:nvSpPr>
          <p:spPr bwMode="auto">
            <a:xfrm flipH="1" flipV="1">
              <a:off x="4198" y="2592"/>
              <a:ext cx="862" cy="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prstDash val="sysDot"/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TW" altLang="en-US"/>
            </a:p>
          </p:txBody>
        </p:sp>
        <p:sp>
          <p:nvSpPr>
            <p:cNvPr id="4182" name="Line 131"/>
            <p:cNvSpPr>
              <a:spLocks noChangeShapeType="1"/>
            </p:cNvSpPr>
            <p:nvPr/>
          </p:nvSpPr>
          <p:spPr bwMode="auto">
            <a:xfrm flipH="1">
              <a:off x="3246" y="2093"/>
              <a:ext cx="770" cy="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prstDash val="sysDot"/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TW" altLang="en-US"/>
            </a:p>
          </p:txBody>
        </p:sp>
        <p:sp>
          <p:nvSpPr>
            <p:cNvPr id="4183" name="Line 132"/>
            <p:cNvSpPr>
              <a:spLocks noChangeShapeType="1"/>
            </p:cNvSpPr>
            <p:nvPr/>
          </p:nvSpPr>
          <p:spPr bwMode="auto">
            <a:xfrm flipH="1">
              <a:off x="2105" y="1836"/>
              <a:ext cx="771" cy="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prstDash val="sysDot"/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TW" altLang="en-US"/>
            </a:p>
          </p:txBody>
        </p:sp>
        <p:sp>
          <p:nvSpPr>
            <p:cNvPr id="4184" name="Line 133"/>
            <p:cNvSpPr>
              <a:spLocks noChangeShapeType="1"/>
            </p:cNvSpPr>
            <p:nvPr/>
          </p:nvSpPr>
          <p:spPr bwMode="auto">
            <a:xfrm flipH="1" flipV="1">
              <a:off x="1567" y="1640"/>
              <a:ext cx="227" cy="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prstDash val="sysDot"/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TW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Definitions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latin typeface="Cambria Math"/>
              </a:rPr>
              <a:t> </a:t>
            </a:r>
            <a:endParaRPr lang="en-US" altLang="zh-TW" b="0" dirty="0" smtClean="0">
              <a:latin typeface="Cambria Math"/>
            </a:endParaRPr>
          </a:p>
          <a:p>
            <a:endParaRPr lang="en-US" altLang="zh-TW" dirty="0" smtClean="0">
              <a:latin typeface="Cambria Math"/>
            </a:endParaRPr>
          </a:p>
          <a:p>
            <a:pPr marL="0" indent="0">
              <a:buNone/>
            </a:pPr>
            <a:r>
              <a:rPr lang="en-US" altLang="zh-TW" sz="2600" dirty="0" smtClean="0">
                <a:latin typeface="Cambria Math"/>
              </a:rPr>
              <a:t>    otherwise</a:t>
            </a:r>
            <a:r>
              <a:rPr lang="en-US" altLang="zh-TW" sz="2600" dirty="0">
                <a:latin typeface="Cambria Math"/>
              </a:rPr>
              <a:t>, </a:t>
            </a:r>
          </a:p>
          <a:p>
            <a:r>
              <a:rPr lang="en-US" altLang="zh-TW" sz="2800" dirty="0" smtClean="0">
                <a:latin typeface="Cambria Math"/>
              </a:rPr>
              <a:t>LICS</a:t>
            </a:r>
          </a:p>
          <a:p>
            <a:pPr lvl="1"/>
            <a:r>
              <a:rPr lang="en-US" altLang="zh-TW" dirty="0" smtClean="0">
                <a:latin typeface="Cambria Math"/>
              </a:rPr>
              <a:t> </a:t>
            </a:r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1719089"/>
            <a:ext cx="1524000" cy="485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768" y="1855160"/>
            <a:ext cx="1733550" cy="371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2348880"/>
            <a:ext cx="5467350" cy="41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752" y="2860551"/>
            <a:ext cx="5133975" cy="352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3933056"/>
            <a:ext cx="1562100" cy="361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5" name="Picture 11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5816" y="3885431"/>
            <a:ext cx="36766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6" name="Picture 12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4437112"/>
            <a:ext cx="2533650" cy="371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81324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Greedy cover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 = 4, 6, 2, 8, 1, 3, 12, 9, 5, 7, 11, 10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2276872"/>
            <a:ext cx="504825" cy="514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2276872"/>
            <a:ext cx="933450" cy="514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1880" y="2276872"/>
            <a:ext cx="895350" cy="866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048" y="2276872"/>
            <a:ext cx="1276350" cy="857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4248" y="2276872"/>
            <a:ext cx="1257300" cy="1171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8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3645024"/>
            <a:ext cx="1257300" cy="1152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9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9094" y="3656941"/>
            <a:ext cx="1666875" cy="1171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4" name="Picture 10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6343" y="3625973"/>
            <a:ext cx="1647825" cy="119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11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3248" y="3656941"/>
            <a:ext cx="1638300" cy="1171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12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5065737"/>
            <a:ext cx="1628775" cy="1171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7" name="Picture 13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5698" y="5075261"/>
            <a:ext cx="2038350" cy="1152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8" name="Picture 14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4073" y="5074713"/>
            <a:ext cx="2038350" cy="1152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33922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Greedy cover (cont.)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 smtClean="0">
                    <a:latin typeface="Times New Roman" pitchFamily="18" charset="0"/>
                    <a:cs typeface="Times New Roman" pitchFamily="18" charset="0"/>
                  </a:rPr>
                  <a:t>The </a:t>
                </a:r>
                <a:r>
                  <a:rPr lang="en-US" altLang="zh-TW" i="1" dirty="0" smtClean="0">
                    <a:latin typeface="Times New Roman" pitchFamily="18" charset="0"/>
                    <a:cs typeface="Times New Roman" pitchFamily="18" charset="0"/>
                  </a:rPr>
                  <a:t>cover read</a:t>
                </a:r>
                <a:r>
                  <a:rPr lang="en-US" altLang="zh-TW" dirty="0" smtClean="0">
                    <a:latin typeface="Times New Roman" pitchFamily="18" charset="0"/>
                    <a:cs typeface="Times New Roman" pitchFamily="18" charset="0"/>
                  </a:rPr>
                  <a:t> of </a:t>
                </a:r>
                <a:r>
                  <a:rPr lang="en-US" altLang="zh-TW" i="1" dirty="0" smtClean="0">
                    <a:latin typeface="Times New Roman" pitchFamily="18" charset="0"/>
                    <a:cs typeface="Times New Roman" pitchFamily="18" charset="0"/>
                  </a:rPr>
                  <a:t>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/>
                        <a:cs typeface="Times New Roman" pitchFamily="18" charset="0"/>
                      </a:rPr>
                      <m:t>𝑅</m:t>
                    </m:r>
                    <m:d>
                      <m:dPr>
                        <m:ctrlPr>
                          <a:rPr lang="en-US" altLang="zh-TW" b="0" i="1" smtClean="0">
                            <a:latin typeface="Cambria Math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/>
                            <a:cs typeface="Times New Roman" pitchFamily="18" charset="0"/>
                          </a:rPr>
                          <m:t>𝑆</m:t>
                        </m:r>
                      </m:e>
                    </m:d>
                    <m:r>
                      <a:rPr lang="en-US" altLang="zh-TW" b="0" i="1" smtClean="0">
                        <a:latin typeface="Cambria Math"/>
                        <a:cs typeface="Times New Roman" pitchFamily="18" charset="0"/>
                      </a:rPr>
                      <m:t>=4, 2, 1, 6, 3, 8, 5, 12, 9, 7, 11, 10</m:t>
                    </m:r>
                  </m:oMath>
                </a14:m>
                <a:endParaRPr lang="en-US" altLang="zh-TW" i="1" dirty="0">
                  <a:latin typeface="Times New Roman" pitchFamily="18" charset="0"/>
                  <a:cs typeface="Times New Roman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/>
                        <a:cs typeface="Times New Roman" pitchFamily="18" charset="0"/>
                      </a:rPr>
                      <m:t>𝐶</m:t>
                    </m:r>
                    <m:d>
                      <m:dPr>
                        <m:ctrlPr>
                          <a:rPr lang="en-US" altLang="zh-TW" b="0" i="1" smtClean="0">
                            <a:latin typeface="Cambria Math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/>
                            <a:cs typeface="Times New Roman" pitchFamily="18" charset="0"/>
                          </a:rPr>
                          <m:t>𝑆</m:t>
                        </m:r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zh-TW" b="0" i="1" smtClean="0">
                            <a:latin typeface="Cambria Math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/>
                            <a:cs typeface="Times New Roman" pitchFamily="18" charset="0"/>
                          </a:rPr>
                          <m:t>𝑖</m:t>
                        </m:r>
                      </m:e>
                    </m:d>
                  </m:oMath>
                </a14:m>
                <a:r>
                  <a:rPr lang="en-US" altLang="zh-TW" i="1" dirty="0" smtClean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altLang="zh-TW" dirty="0" smtClean="0">
                    <a:latin typeface="Times New Roman" pitchFamily="18" charset="0"/>
                    <a:cs typeface="Times New Roman" pitchFamily="18" charset="0"/>
                  </a:rPr>
                  <a:t>denotes the </a:t>
                </a:r>
                <a:r>
                  <a:rPr lang="en-US" altLang="zh-TW" i="1" dirty="0" err="1" smtClean="0">
                    <a:latin typeface="Times New Roman" pitchFamily="18" charset="0"/>
                    <a:cs typeface="Times New Roman" pitchFamily="18" charset="0"/>
                  </a:rPr>
                  <a:t>i</a:t>
                </a:r>
                <a:r>
                  <a:rPr lang="en-US" altLang="zh-TW" dirty="0" err="1" smtClean="0">
                    <a:latin typeface="Times New Roman" pitchFamily="18" charset="0"/>
                    <a:cs typeface="Times New Roman" pitchFamily="18" charset="0"/>
                  </a:rPr>
                  <a:t>th</a:t>
                </a:r>
                <a:r>
                  <a:rPr lang="en-US" altLang="zh-TW" dirty="0" smtClean="0">
                    <a:latin typeface="Times New Roman" pitchFamily="18" charset="0"/>
                    <a:cs typeface="Times New Roman" pitchFamily="18" charset="0"/>
                  </a:rPr>
                  <a:t> decreasing list of cover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/>
                        <a:cs typeface="Times New Roman" pitchFamily="18" charset="0"/>
                      </a:rPr>
                      <m:t>𝐶</m:t>
                    </m:r>
                    <m:d>
                      <m:dPr>
                        <m:ctrlPr>
                          <a:rPr lang="en-US" altLang="zh-TW" i="1">
                            <a:latin typeface="Cambria Math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altLang="zh-TW" i="1">
                            <a:latin typeface="Cambria Math"/>
                            <a:cs typeface="Times New Roman" pitchFamily="18" charset="0"/>
                          </a:rPr>
                          <m:t>𝑆</m:t>
                        </m:r>
                      </m:e>
                    </m:d>
                  </m:oMath>
                </a14:m>
                <a:r>
                  <a:rPr lang="en-US" altLang="zh-TW" dirty="0" smtClean="0">
                    <a:latin typeface="Times New Roman" pitchFamily="18" charset="0"/>
                    <a:cs typeface="Times New Roman" pitchFamily="18" charset="0"/>
                  </a:rPr>
                  <a:t>.</a:t>
                </a:r>
              </a:p>
              <a:p>
                <a:pPr lvl="1"/>
                <a:r>
                  <a:rPr lang="en-US" altLang="zh-TW" dirty="0" smtClean="0">
                    <a:latin typeface="Times New Roman" pitchFamily="18" charset="0"/>
                    <a:cs typeface="Times New Roman" pitchFamily="18" charset="0"/>
                  </a:rPr>
                  <a:t>Ex: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/>
                        <a:cs typeface="Times New Roman" pitchFamily="18" charset="0"/>
                      </a:rPr>
                      <m:t>𝐶</m:t>
                    </m:r>
                    <m:d>
                      <m:dPr>
                        <m:ctrlPr>
                          <a:rPr lang="en-US" altLang="zh-TW" i="1">
                            <a:latin typeface="Cambria Math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altLang="zh-TW" i="1">
                            <a:latin typeface="Cambria Math"/>
                            <a:cs typeface="Times New Roman" pitchFamily="18" charset="0"/>
                          </a:rPr>
                          <m:t>𝑆</m:t>
                        </m:r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zh-TW" i="1">
                            <a:latin typeface="Cambria Math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/>
                            <a:cs typeface="Times New Roman" pitchFamily="18" charset="0"/>
                          </a:rPr>
                          <m:t>4</m:t>
                        </m:r>
                      </m:e>
                    </m:d>
                    <m:r>
                      <a:rPr lang="en-US" altLang="zh-TW" b="0" i="0" smtClean="0">
                        <a:latin typeface="Cambria Math"/>
                        <a:cs typeface="Times New Roman" pitchFamily="18" charset="0"/>
                      </a:rPr>
                      <m:t>=12, 9, 7</m:t>
                    </m:r>
                  </m:oMath>
                </a14:m>
                <a:endParaRPr lang="en-US" altLang="zh-TW" dirty="0">
                  <a:latin typeface="Times New Roman" pitchFamily="18" charset="0"/>
                  <a:cs typeface="Times New Roman" pitchFamily="18" charset="0"/>
                </a:endParaRPr>
              </a:p>
              <a:p>
                <a:endParaRPr lang="en-US" altLang="zh-TW" dirty="0" smtClean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3"/>
                <a:stretch>
                  <a:fillRect l="-1630" t="-1887" r="-192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669533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Lemmas and theorems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i="1" dirty="0" smtClean="0">
                    <a:latin typeface="Cambria Math"/>
                  </a:rPr>
                  <a:t>S</a:t>
                </a:r>
                <a:r>
                  <a:rPr lang="en-US" altLang="zh-TW" dirty="0" smtClean="0">
                    <a:latin typeface="Cambria Math"/>
                  </a:rPr>
                  <a:t> = </a:t>
                </a:r>
                <a:r>
                  <a:rPr lang="en-US" altLang="zh-TW" i="1" dirty="0" smtClean="0">
                    <a:latin typeface="Cambria Math"/>
                  </a:rPr>
                  <a:t>S’S’’</a:t>
                </a:r>
                <a:r>
                  <a:rPr lang="en-US" altLang="zh-TW" dirty="0" smtClean="0">
                    <a:latin typeface="Cambria Math"/>
                  </a:rPr>
                  <a:t>, </a:t>
                </a:r>
                <a:r>
                  <a:rPr lang="en-US" altLang="zh-TW" i="1" dirty="0" smtClean="0">
                    <a:latin typeface="Cambria Math"/>
                  </a:rPr>
                  <a:t>C</a:t>
                </a:r>
                <a:r>
                  <a:rPr lang="en-US" altLang="zh-TW" dirty="0" smtClean="0">
                    <a:latin typeface="Cambria Math"/>
                  </a:rPr>
                  <a:t>(</a:t>
                </a:r>
                <a:r>
                  <a:rPr lang="en-US" altLang="zh-TW" i="1" dirty="0" smtClean="0">
                    <a:latin typeface="Cambria Math"/>
                  </a:rPr>
                  <a:t>S’S’’</a:t>
                </a:r>
                <a:r>
                  <a:rPr lang="en-US" altLang="zh-TW" dirty="0" smtClean="0">
                    <a:latin typeface="Cambria Math"/>
                  </a:rPr>
                  <a:t>) is identical to </a:t>
                </a:r>
                <a:r>
                  <a:rPr lang="en-US" altLang="zh-TW" i="1" dirty="0" smtClean="0">
                    <a:latin typeface="Cambria Math"/>
                  </a:rPr>
                  <a:t>C</a:t>
                </a:r>
                <a:r>
                  <a:rPr lang="en-US" altLang="zh-TW" dirty="0" smtClean="0">
                    <a:latin typeface="Cambria Math"/>
                  </a:rPr>
                  <a:t>(</a:t>
                </a:r>
                <a:r>
                  <a:rPr lang="en-US" altLang="zh-TW" i="1" dirty="0" smtClean="0">
                    <a:latin typeface="Cambria Math"/>
                  </a:rPr>
                  <a:t>R</a:t>
                </a:r>
                <a:r>
                  <a:rPr lang="en-US" altLang="zh-TW" dirty="0" smtClean="0">
                    <a:latin typeface="Cambria Math"/>
                  </a:rPr>
                  <a:t>(</a:t>
                </a:r>
                <a:r>
                  <a:rPr lang="en-US" altLang="zh-TW" i="1" dirty="0" smtClean="0">
                    <a:latin typeface="Cambria Math"/>
                  </a:rPr>
                  <a:t>S’</a:t>
                </a:r>
                <a:r>
                  <a:rPr lang="en-US" altLang="zh-TW" dirty="0" smtClean="0">
                    <a:latin typeface="Cambria Math"/>
                  </a:rPr>
                  <a:t>)</a:t>
                </a:r>
                <a:r>
                  <a:rPr lang="en-US" altLang="zh-TW" i="1" dirty="0" smtClean="0">
                    <a:latin typeface="Cambria Math"/>
                  </a:rPr>
                  <a:t>R</a:t>
                </a:r>
                <a:r>
                  <a:rPr lang="en-US" altLang="zh-TW" dirty="0" smtClean="0">
                    <a:latin typeface="Cambria Math"/>
                  </a:rPr>
                  <a:t>(</a:t>
                </a:r>
                <a:r>
                  <a:rPr lang="en-US" altLang="zh-TW" i="1" dirty="0" smtClean="0">
                    <a:latin typeface="Cambria Math"/>
                  </a:rPr>
                  <a:t>S’’</a:t>
                </a:r>
                <a:r>
                  <a:rPr lang="en-US" altLang="zh-TW" dirty="0" smtClean="0">
                    <a:latin typeface="Cambria Math"/>
                  </a:rPr>
                  <a:t>)) and </a:t>
                </a:r>
                <a:r>
                  <a:rPr lang="en-US" altLang="zh-TW" i="1" dirty="0" smtClean="0">
                    <a:latin typeface="Cambria Math"/>
                  </a:rPr>
                  <a:t>C</a:t>
                </a:r>
                <a:r>
                  <a:rPr lang="en-US" altLang="zh-TW" dirty="0" smtClean="0">
                    <a:latin typeface="Cambria Math"/>
                  </a:rPr>
                  <a:t>(</a:t>
                </a:r>
                <a:r>
                  <a:rPr lang="en-US" altLang="zh-TW" i="1" dirty="0" smtClean="0">
                    <a:latin typeface="Cambria Math"/>
                  </a:rPr>
                  <a:t>S’R</a:t>
                </a:r>
                <a:r>
                  <a:rPr lang="en-US" altLang="zh-TW" dirty="0" smtClean="0">
                    <a:latin typeface="Cambria Math"/>
                  </a:rPr>
                  <a:t>(</a:t>
                </a:r>
                <a:r>
                  <a:rPr lang="en-US" altLang="zh-TW" i="1" dirty="0" smtClean="0">
                    <a:latin typeface="Cambria Math"/>
                  </a:rPr>
                  <a:t>S’’</a:t>
                </a:r>
                <a:r>
                  <a:rPr lang="en-US" altLang="zh-TW" dirty="0" smtClean="0">
                    <a:latin typeface="Cambria Math"/>
                  </a:rPr>
                  <a:t>)).</a:t>
                </a:r>
              </a:p>
              <a:p>
                <a:r>
                  <a:rPr lang="en-US" altLang="zh-TW" dirty="0" smtClean="0">
                    <a:latin typeface="Cambria Math"/>
                  </a:rPr>
                  <a:t>Let the elements heading the lists of </a:t>
                </a:r>
              </a:p>
              <a:p>
                <a:pPr marL="0" indent="0">
                  <a:buNone/>
                </a:pPr>
                <a:r>
                  <a:rPr lang="en-US" altLang="zh-TW" dirty="0">
                    <a:latin typeface="Cambria Math"/>
                  </a:rPr>
                  <a:t> </a:t>
                </a:r>
                <a:r>
                  <a:rPr lang="en-US" altLang="zh-TW" dirty="0" smtClean="0">
                    <a:latin typeface="Cambria Math"/>
                  </a:rPr>
                  <a:t>   be called stop points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dirty="0" smtClean="0">
                    <a:latin typeface="Cambria Math"/>
                  </a:rPr>
                  <a:t> is the largest </a:t>
                </a:r>
              </a:p>
              <a:p>
                <a:pPr marL="0" indent="0">
                  <a:buNone/>
                </a:pPr>
                <a:r>
                  <a:rPr lang="en-US" altLang="zh-TW" dirty="0">
                    <a:latin typeface="Cambria Math"/>
                  </a:rPr>
                  <a:t> </a:t>
                </a:r>
                <a:r>
                  <a:rPr lang="en-US" altLang="zh-TW" dirty="0" smtClean="0">
                    <a:latin typeface="Cambria Math"/>
                  </a:rPr>
                  <a:t>   symbol in S.</a:t>
                </a:r>
              </a:p>
              <a:p>
                <a:r>
                  <a:rPr lang="en-US" altLang="zh-TW" dirty="0" smtClean="0">
                    <a:latin typeface="Cambria Math"/>
                  </a:rPr>
                  <a:t>The LLICS(S) is equal to the maximal value of LLIS for rotations of 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dirty="0" smtClean="0">
                    <a:latin typeface="Cambria Math"/>
                  </a:rPr>
                  <a:t> is the largest symbol of S) ending at stop points.</a:t>
                </a: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3"/>
                <a:stretch>
                  <a:fillRect l="-1630" t="-1752" r="-2667" b="-121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304" y="2801009"/>
            <a:ext cx="9334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38670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TW" dirty="0" smtClean="0">
              <a:latin typeface="Cambria Math"/>
            </a:endParaRPr>
          </a:p>
          <a:p>
            <a:endParaRPr lang="en-US" altLang="zh-TW" dirty="0">
              <a:latin typeface="Cambria Math"/>
            </a:endParaRPr>
          </a:p>
          <a:p>
            <a:endParaRPr lang="en-US" altLang="zh-TW" dirty="0" smtClean="0">
              <a:latin typeface="Cambria Math"/>
            </a:endParaRPr>
          </a:p>
          <a:p>
            <a:endParaRPr lang="en-US" altLang="zh-TW" dirty="0">
              <a:latin typeface="Cambria Math"/>
            </a:endParaRPr>
          </a:p>
          <a:p>
            <a:endParaRPr lang="en-US" altLang="zh-TW" dirty="0" smtClean="0">
              <a:latin typeface="Cambria Math"/>
            </a:endParaRPr>
          </a:p>
          <a:p>
            <a:endParaRPr lang="en-US" altLang="zh-TW" dirty="0">
              <a:latin typeface="Cambria Math"/>
            </a:endParaRPr>
          </a:p>
          <a:p>
            <a:endParaRPr lang="en-US" altLang="zh-TW" dirty="0" smtClean="0">
              <a:latin typeface="Cambria Math"/>
            </a:endParaRPr>
          </a:p>
          <a:p>
            <a:r>
              <a:rPr lang="en-US" altLang="zh-TW" dirty="0" smtClean="0">
                <a:latin typeface="Cambria Math"/>
              </a:rPr>
              <a:t>Stop pointers: 12, 7, 11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476672"/>
            <a:ext cx="3324225" cy="2314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032" y="548680"/>
            <a:ext cx="3362325" cy="190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668" y="3429000"/>
            <a:ext cx="3286125" cy="2066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1499" y="3459088"/>
            <a:ext cx="3314700" cy="2076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76085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TW" dirty="0" smtClean="0">
              <a:latin typeface="Cambria Math"/>
            </a:endParaRPr>
          </a:p>
          <a:p>
            <a:endParaRPr lang="en-US" altLang="zh-TW" dirty="0">
              <a:latin typeface="Cambria Math"/>
            </a:endParaRPr>
          </a:p>
          <a:p>
            <a:endParaRPr lang="en-US" altLang="zh-TW" dirty="0" smtClean="0">
              <a:latin typeface="Cambria Math"/>
            </a:endParaRPr>
          </a:p>
          <a:p>
            <a:endParaRPr lang="en-US" altLang="zh-TW" dirty="0">
              <a:latin typeface="Cambria Math"/>
            </a:endParaRPr>
          </a:p>
          <a:p>
            <a:endParaRPr lang="en-US" altLang="zh-TW" dirty="0" smtClean="0">
              <a:latin typeface="Cambria Math"/>
            </a:endParaRPr>
          </a:p>
          <a:p>
            <a:endParaRPr lang="en-US" altLang="zh-TW" dirty="0">
              <a:latin typeface="Cambria Math"/>
            </a:endParaRPr>
          </a:p>
          <a:p>
            <a:endParaRPr lang="en-US" altLang="zh-TW" dirty="0">
              <a:latin typeface="Cambria Math"/>
            </a:endParaRPr>
          </a:p>
          <a:p>
            <a:r>
              <a:rPr lang="en-US" altLang="zh-TW" dirty="0" smtClean="0">
                <a:latin typeface="Cambria Math"/>
              </a:rPr>
              <a:t>Stop pointers: 12, 7, 11</a:t>
            </a:r>
            <a:endParaRPr lang="en-US" altLang="zh-TW" dirty="0">
              <a:latin typeface="Cambria Math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4148" y="836712"/>
            <a:ext cx="6722228" cy="46805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6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0472" y="3789040"/>
            <a:ext cx="419100" cy="390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8" name="Picture 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5013176"/>
            <a:ext cx="466725" cy="42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30" name="Picture 10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752" y="3789040"/>
            <a:ext cx="438150" cy="41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32" name="Picture 1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1165" y="4613126"/>
            <a:ext cx="457200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34" name="Picture 14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5234" y="3398515"/>
            <a:ext cx="409575" cy="390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36" name="Picture 16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0215" y="4227934"/>
            <a:ext cx="43815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38" name="Picture 18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3375273"/>
            <a:ext cx="428625" cy="409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39" name="Picture 19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0440" y="2420888"/>
            <a:ext cx="504825" cy="390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40" name="Picture 20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8514" y="4791380"/>
            <a:ext cx="828675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41" name="Picture 21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2320" y="1988840"/>
            <a:ext cx="228600" cy="238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00043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55556E-7 2.59259E-6 L -0.05972 0.0037 " pathEditMode="relative" rAng="0" ptsTypes="AA">
                                      <p:cBhvr>
                                        <p:cTn id="26" dur="2000" fill="hold"/>
                                        <p:tgtEl>
                                          <p:spTgt spid="51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986" y="18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5972 0.0037 L -0.12274 0.0037 " pathEditMode="relative" rAng="0" ptsTypes="AA">
                                      <p:cBhvr>
                                        <p:cTn id="34" dur="2000" fill="hold"/>
                                        <p:tgtEl>
                                          <p:spTgt spid="51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16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2274 0.0037 L -0.17778 0.0037 " pathEditMode="relative" rAng="0" ptsTypes="AA">
                                      <p:cBhvr>
                                        <p:cTn id="42" dur="2000" fill="hold"/>
                                        <p:tgtEl>
                                          <p:spTgt spid="51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76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000"/>
                            </p:stCondLst>
                            <p:childTnLst>
                              <p:par>
                                <p:cTn id="4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7778 0.0037 L -0.2408 0.0037 " pathEditMode="relative" rAng="0" ptsTypes="AA">
                                      <p:cBhvr>
                                        <p:cTn id="50" dur="2000" fill="hold"/>
                                        <p:tgtEl>
                                          <p:spTgt spid="51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16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000"/>
                            </p:stCondLst>
                            <p:childTnLst>
                              <p:par>
                                <p:cTn id="5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5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408 0.0037 L -0.29601 0.0037 " pathEditMode="relative" rAng="0" ptsTypes="AA">
                                      <p:cBhvr>
                                        <p:cTn id="58" dur="2000" fill="hold"/>
                                        <p:tgtEl>
                                          <p:spTgt spid="51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76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2000"/>
                            </p:stCondLst>
                            <p:childTnLst>
                              <p:par>
                                <p:cTn id="6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5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9601 0.0037 L -0.35104 0.0037 " pathEditMode="relative" rAng="0" ptsTypes="AA">
                                      <p:cBhvr>
                                        <p:cTn id="66" dur="2000" fill="hold"/>
                                        <p:tgtEl>
                                          <p:spTgt spid="51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76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2000"/>
                            </p:stCondLst>
                            <p:childTnLst>
                              <p:par>
                                <p:cTn id="6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5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35104 0.0037 L -0.42187 0.0037 " pathEditMode="relative" rAng="0" ptsTypes="AA">
                                      <p:cBhvr>
                                        <p:cTn id="74" dur="2000" fill="hold"/>
                                        <p:tgtEl>
                                          <p:spTgt spid="51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54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TW" dirty="0" smtClean="0">
              <a:latin typeface="Cambria Math"/>
            </a:endParaRPr>
          </a:p>
          <a:p>
            <a:endParaRPr lang="en-US" altLang="zh-TW" dirty="0">
              <a:latin typeface="Cambria Math"/>
            </a:endParaRPr>
          </a:p>
          <a:p>
            <a:endParaRPr lang="en-US" altLang="zh-TW" dirty="0" smtClean="0">
              <a:latin typeface="Cambria Math"/>
            </a:endParaRPr>
          </a:p>
          <a:p>
            <a:endParaRPr lang="en-US" altLang="zh-TW" dirty="0">
              <a:latin typeface="Cambria Math"/>
            </a:endParaRPr>
          </a:p>
          <a:p>
            <a:endParaRPr lang="en-US" altLang="zh-TW" dirty="0" smtClean="0">
              <a:latin typeface="Cambria Math"/>
            </a:endParaRPr>
          </a:p>
          <a:p>
            <a:endParaRPr lang="en-US" altLang="zh-TW" dirty="0">
              <a:latin typeface="Cambria Math"/>
            </a:endParaRPr>
          </a:p>
          <a:p>
            <a:endParaRPr lang="en-US" altLang="zh-TW" dirty="0" smtClean="0">
              <a:latin typeface="Cambria Math"/>
            </a:endParaRPr>
          </a:p>
          <a:p>
            <a:r>
              <a:rPr lang="en-US" altLang="zh-TW" dirty="0" smtClean="0">
                <a:latin typeface="Cambria Math"/>
              </a:rPr>
              <a:t>Stop pointers: 12, 7, 11</a:t>
            </a: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1052736"/>
            <a:ext cx="7244365" cy="41044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2320" y="2714439"/>
            <a:ext cx="542925" cy="390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4208" y="4947642"/>
            <a:ext cx="790575" cy="41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8520" y="3284984"/>
            <a:ext cx="466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50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1057" y="404664"/>
            <a:ext cx="6600825" cy="514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51" name="Picture 7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3888" y="166539"/>
            <a:ext cx="228600" cy="238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29826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TW" dirty="0" smtClean="0">
              <a:latin typeface="Cambria Math"/>
            </a:endParaRPr>
          </a:p>
          <a:p>
            <a:endParaRPr lang="en-US" altLang="zh-TW" dirty="0">
              <a:latin typeface="Cambria Math"/>
            </a:endParaRPr>
          </a:p>
          <a:p>
            <a:endParaRPr lang="en-US" altLang="zh-TW" dirty="0" smtClean="0">
              <a:latin typeface="Cambria Math"/>
            </a:endParaRPr>
          </a:p>
          <a:p>
            <a:endParaRPr lang="en-US" altLang="zh-TW" dirty="0">
              <a:latin typeface="Cambria Math"/>
            </a:endParaRPr>
          </a:p>
          <a:p>
            <a:endParaRPr lang="en-US" altLang="zh-TW" dirty="0" smtClean="0">
              <a:latin typeface="Cambria Math"/>
            </a:endParaRPr>
          </a:p>
          <a:p>
            <a:endParaRPr lang="en-US" altLang="zh-TW" dirty="0">
              <a:latin typeface="Cambria Math"/>
            </a:endParaRPr>
          </a:p>
          <a:p>
            <a:endParaRPr lang="en-US" altLang="zh-TW" dirty="0" smtClean="0">
              <a:latin typeface="Cambria Math"/>
            </a:endParaRPr>
          </a:p>
          <a:p>
            <a:r>
              <a:rPr lang="en-US" altLang="zh-TW" dirty="0" smtClean="0">
                <a:latin typeface="Cambria Math"/>
              </a:rPr>
              <a:t>Stop pointers: 12, 7, 11</a:t>
            </a:r>
          </a:p>
        </p:txBody>
      </p:sp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1124744"/>
            <a:ext cx="6781694" cy="4265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6050" y="332656"/>
            <a:ext cx="6600825" cy="514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832" y="94531"/>
            <a:ext cx="228600" cy="238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9700" y="2636912"/>
            <a:ext cx="514350" cy="371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1975" y="4869160"/>
            <a:ext cx="847725" cy="390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4" name="Picture 6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9675" y="4018012"/>
            <a:ext cx="457200" cy="41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71443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TW" dirty="0" smtClean="0">
              <a:latin typeface="Cambria Math"/>
            </a:endParaRPr>
          </a:p>
          <a:p>
            <a:endParaRPr lang="en-US" altLang="zh-TW" dirty="0">
              <a:latin typeface="Cambria Math"/>
            </a:endParaRPr>
          </a:p>
          <a:p>
            <a:endParaRPr lang="en-US" altLang="zh-TW" dirty="0" smtClean="0">
              <a:latin typeface="Cambria Math"/>
            </a:endParaRPr>
          </a:p>
          <a:p>
            <a:endParaRPr lang="en-US" altLang="zh-TW" dirty="0">
              <a:latin typeface="Cambria Math"/>
            </a:endParaRPr>
          </a:p>
          <a:p>
            <a:endParaRPr lang="en-US" altLang="zh-TW" dirty="0" smtClean="0">
              <a:latin typeface="Cambria Math"/>
            </a:endParaRPr>
          </a:p>
          <a:p>
            <a:endParaRPr lang="en-US" altLang="zh-TW" dirty="0">
              <a:latin typeface="Cambria Math"/>
            </a:endParaRPr>
          </a:p>
          <a:p>
            <a:endParaRPr lang="en-US" altLang="zh-TW" dirty="0" smtClean="0">
              <a:latin typeface="Cambria Math"/>
            </a:endParaRPr>
          </a:p>
          <a:p>
            <a:r>
              <a:rPr lang="en-US" altLang="zh-TW" dirty="0" smtClean="0">
                <a:latin typeface="Cambria Math"/>
              </a:rPr>
              <a:t>Stop pointers: 12, 7, 11</a:t>
            </a:r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6050" y="332656"/>
            <a:ext cx="6600825" cy="514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768" y="908720"/>
            <a:ext cx="228600" cy="238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6050" y="2300288"/>
            <a:ext cx="2133600" cy="2257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7234" y="1700808"/>
            <a:ext cx="552450" cy="41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7" name="Picture 5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3459" y="2800350"/>
            <a:ext cx="428625" cy="41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8" name="Picture 6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808" y="2790825"/>
            <a:ext cx="428625" cy="42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02281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1.48148E-6 L -0.05989 0.0037 " pathEditMode="relative" rAng="0" ptsTypes="AA">
                                      <p:cBhvr>
                                        <p:cTn id="15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003" y="18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5989 0.0037 L -0.12274 0.0037 " pathEditMode="relative" rAng="0" ptsTypes="AA">
                                      <p:cBhvr>
                                        <p:cTn id="23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14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TW" dirty="0" smtClean="0">
              <a:latin typeface="Cambria Math"/>
            </a:endParaRPr>
          </a:p>
          <a:p>
            <a:endParaRPr lang="en-US" altLang="zh-TW" dirty="0">
              <a:latin typeface="Cambria Math"/>
            </a:endParaRPr>
          </a:p>
          <a:p>
            <a:endParaRPr lang="en-US" altLang="zh-TW" dirty="0" smtClean="0">
              <a:latin typeface="Cambria Math"/>
            </a:endParaRPr>
          </a:p>
          <a:p>
            <a:endParaRPr lang="en-US" altLang="zh-TW" dirty="0">
              <a:latin typeface="Cambria Math"/>
            </a:endParaRPr>
          </a:p>
          <a:p>
            <a:endParaRPr lang="en-US" altLang="zh-TW" dirty="0" smtClean="0">
              <a:latin typeface="Cambria Math"/>
            </a:endParaRPr>
          </a:p>
          <a:p>
            <a:endParaRPr lang="en-US" altLang="zh-TW" dirty="0">
              <a:latin typeface="Cambria Math"/>
            </a:endParaRPr>
          </a:p>
          <a:p>
            <a:endParaRPr lang="en-US" altLang="zh-TW" dirty="0" smtClean="0">
              <a:latin typeface="Cambria Math"/>
            </a:endParaRPr>
          </a:p>
          <a:p>
            <a:r>
              <a:rPr lang="en-US" altLang="zh-TW" dirty="0" smtClean="0">
                <a:latin typeface="Cambria Math"/>
              </a:rPr>
              <a:t>Stop pointers: 12, 7, 11</a:t>
            </a:r>
          </a:p>
        </p:txBody>
      </p:sp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336" y="1052736"/>
            <a:ext cx="6667016" cy="41764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6050" y="332656"/>
            <a:ext cx="6600825" cy="514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93733"/>
            <a:ext cx="228600" cy="238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2807" y="2492896"/>
            <a:ext cx="466725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2240" y="4744786"/>
            <a:ext cx="771525" cy="41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0194" y="3068960"/>
            <a:ext cx="438150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35333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itchFamily="18" charset="0"/>
                <a:ea typeface="DFKai-SB" pitchFamily="65" charset="-120"/>
                <a:cs typeface="Times New Roman" pitchFamily="18" charset="0"/>
              </a:rPr>
              <a:t>Conclusions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 smtClean="0">
                    <a:latin typeface="Cambria Math"/>
                  </a:rPr>
                  <a:t>The worst case: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zh-TW" i="1">
                        <a:latin typeface="Cambria Math"/>
                      </a:rPr>
                      <m:t>𝑂</m:t>
                    </m:r>
                    <m:r>
                      <a:rPr lang="en-US" altLang="zh-TW" i="1">
                        <a:latin typeface="Cambria Math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TW">
                        <a:latin typeface="Cambria Math"/>
                      </a:rPr>
                      <m:t>min</m:t>
                    </m:r>
                    <m:r>
                      <a:rPr lang="en-US" altLang="zh-TW" i="1">
                        <a:latin typeface="Cambria Math"/>
                      </a:rPr>
                      <m:t>⁡(</m:t>
                    </m:r>
                    <m:r>
                      <a:rPr lang="en-US" altLang="zh-TW" i="1">
                        <a:latin typeface="Cambria Math"/>
                      </a:rPr>
                      <m:t>𝑛𝑙</m:t>
                    </m:r>
                    <m:r>
                      <a:rPr lang="en-US" altLang="zh-TW" i="1">
                        <a:latin typeface="Cambria Math"/>
                      </a:rPr>
                      <m:t>, </m:t>
                    </m:r>
                    <m:r>
                      <a:rPr lang="en-US" altLang="zh-TW" i="1">
                        <a:latin typeface="Cambria Math"/>
                      </a:rPr>
                      <m:t>𝑛</m:t>
                    </m:r>
                    <m:r>
                      <m:rPr>
                        <m:sty m:val="p"/>
                      </m:rPr>
                      <a:rPr lang="en-US" altLang="zh-TW">
                        <a:latin typeface="Cambria Math"/>
                      </a:rPr>
                      <m:t>log</m:t>
                    </m:r>
                    <m:r>
                      <a:rPr lang="en-US" altLang="zh-TW">
                        <a:latin typeface="Cambria Math"/>
                      </a:rPr>
                      <m:t> </m:t>
                    </m:r>
                    <m:r>
                      <a:rPr lang="en-US" altLang="zh-TW" i="1">
                        <a:latin typeface="Cambria Math"/>
                      </a:rPr>
                      <m:t>𝑛</m:t>
                    </m:r>
                    <m:r>
                      <a:rPr lang="en-US" altLang="zh-TW" i="1">
                        <a:latin typeface="Cambria Math"/>
                      </a:rPr>
                      <m:t>+</m:t>
                    </m:r>
                    <m:sSup>
                      <m:sSupPr>
                        <m:ctrlPr>
                          <a:rPr lang="en-US" altLang="zh-TW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altLang="zh-TW" i="1">
                            <a:latin typeface="Cambria Math"/>
                          </a:rPr>
                          <m:t>𝑙</m:t>
                        </m:r>
                      </m:e>
                      <m:sup>
                        <m:r>
                          <a:rPr lang="en-US" altLang="zh-TW" i="1">
                            <a:latin typeface="Cambria Math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US" altLang="zh-TW">
                        <a:latin typeface="Cambria Math"/>
                      </a:rPr>
                      <m:t>log</m:t>
                    </m:r>
                    <m:r>
                      <a:rPr lang="en-US" altLang="zh-TW" i="1">
                        <a:latin typeface="Cambria Math"/>
                      </a:rPr>
                      <m:t> </m:t>
                    </m:r>
                    <m:r>
                      <a:rPr lang="en-US" altLang="zh-TW" i="1">
                        <a:latin typeface="Cambria Math"/>
                      </a:rPr>
                      <m:t>𝑛</m:t>
                    </m:r>
                    <m:r>
                      <a:rPr lang="en-US" altLang="zh-TW" i="1">
                        <a:latin typeface="Cambria Math"/>
                      </a:rPr>
                      <m:t>))</m:t>
                    </m:r>
                  </m:oMath>
                </a14:m>
                <a:r>
                  <a:rPr lang="en-US" altLang="zh-TW" dirty="0">
                    <a:latin typeface="Cambria Math"/>
                  </a:rPr>
                  <a:t>, </a:t>
                </a:r>
                <a:endParaRPr lang="en-US" altLang="zh-TW" dirty="0" smtClean="0">
                  <a:latin typeface="Cambria Math"/>
                </a:endParaRPr>
              </a:p>
              <a:p>
                <a:pPr marL="457200" lvl="1" indent="0">
                  <a:buNone/>
                </a:pPr>
                <a:r>
                  <a:rPr lang="en-US" altLang="zh-TW" dirty="0" smtClean="0">
                    <a:latin typeface="Cambria Math"/>
                  </a:rPr>
                  <a:t>    where </a:t>
                </a:r>
                <a:r>
                  <a:rPr lang="en-US" altLang="zh-TW" i="1" dirty="0">
                    <a:latin typeface="Cambria Math"/>
                  </a:rPr>
                  <a:t>n </a:t>
                </a:r>
                <a:r>
                  <a:rPr lang="en-US" altLang="zh-TW" dirty="0">
                    <a:latin typeface="Cambria Math"/>
                  </a:rPr>
                  <a:t>is the sequence length and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/>
                      </a:rPr>
                      <m:t>𝑙</m:t>
                    </m:r>
                  </m:oMath>
                </a14:m>
                <a:r>
                  <a:rPr lang="en-US" altLang="zh-TW" dirty="0">
                    <a:latin typeface="Cambria Math"/>
                  </a:rPr>
                  <a:t> is the LICS </a:t>
                </a:r>
                <a:r>
                  <a:rPr lang="en-US" altLang="zh-TW" dirty="0" smtClean="0">
                    <a:latin typeface="Cambria Math"/>
                  </a:rPr>
                  <a:t>    </a:t>
                </a:r>
              </a:p>
              <a:p>
                <a:pPr marL="457200" lvl="1" indent="0">
                  <a:buNone/>
                </a:pPr>
                <a:r>
                  <a:rPr lang="en-US" altLang="zh-TW" dirty="0">
                    <a:latin typeface="Cambria Math"/>
                  </a:rPr>
                  <a:t> </a:t>
                </a:r>
                <a:r>
                  <a:rPr lang="en-US" altLang="zh-TW" dirty="0" smtClean="0">
                    <a:latin typeface="Cambria Math"/>
                  </a:rPr>
                  <a:t>   length</a:t>
                </a:r>
                <a:r>
                  <a:rPr lang="en-US" altLang="zh-TW" dirty="0">
                    <a:latin typeface="Cambria Math"/>
                  </a:rPr>
                  <a:t>.</a:t>
                </a:r>
              </a:p>
              <a:p>
                <a:r>
                  <a:rPr lang="en-US" altLang="zh-TW" sz="3000" dirty="0" smtClean="0">
                    <a:latin typeface="Cambria Math"/>
                  </a:rPr>
                  <a:t>Compared with the fastest known algorithms</a:t>
                </a:r>
              </a:p>
              <a:p>
                <a:pPr lvl="1"/>
                <a:r>
                  <a:rPr lang="en-US" altLang="zh-TW" dirty="0" smtClean="0">
                    <a:latin typeface="Cambria Math"/>
                  </a:rPr>
                  <a:t>Better than</a:t>
                </a:r>
              </a:p>
              <a:p>
                <a:pPr lvl="2"/>
                <a:r>
                  <a:rPr lang="en-US" altLang="zh-TW" dirty="0">
                    <a:latin typeface="Cambria Math"/>
                  </a:rPr>
                  <a:t> 		       , </a:t>
                </a:r>
                <a:endParaRPr lang="en-US" altLang="zh-TW" dirty="0" smtClean="0">
                  <a:latin typeface="Cambria Math"/>
                </a:endParaRPr>
              </a:p>
              <a:p>
                <a:pPr lvl="1"/>
                <a:r>
                  <a:rPr lang="en-US" altLang="zh-TW" dirty="0" smtClean="0">
                    <a:latin typeface="Cambria Math"/>
                  </a:rPr>
                  <a:t>Not worse</a:t>
                </a:r>
              </a:p>
              <a:p>
                <a:pPr lvl="2"/>
                <a:r>
                  <a:rPr lang="en-US" altLang="zh-TW" dirty="0">
                    <a:latin typeface="Cambria Math"/>
                  </a:rPr>
                  <a:t> </a:t>
                </a:r>
              </a:p>
              <a:p>
                <a:endParaRPr lang="en-US" altLang="zh-TW" dirty="0" smtClean="0">
                  <a:latin typeface="Cambria Math"/>
                </a:endParaRPr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3"/>
                <a:stretch>
                  <a:fillRect l="-1630" t="-1752" r="-1111" b="-363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4797152"/>
            <a:ext cx="207645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3928" y="4725144"/>
            <a:ext cx="333375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1896" y="5661248"/>
            <a:ext cx="2038350" cy="447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99175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12483</TotalTime>
  <Words>658</Words>
  <Application>Microsoft Office PowerPoint</Application>
  <PresentationFormat>如螢幕大小 (4:3)</PresentationFormat>
  <Paragraphs>176</Paragraphs>
  <Slides>15</Slides>
  <Notes>12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15</vt:i4>
      </vt:variant>
    </vt:vector>
  </HeadingPairs>
  <TitlesOfParts>
    <vt:vector size="16" baseType="lpstr">
      <vt:lpstr>Office 佈景主題</vt:lpstr>
      <vt:lpstr>An algorithm for solving the longest increasing circular subsequence problem  Sebastian Deorowicz  Information Processing Letters, Vol. 109, pp. 630-634, 2009.</vt:lpstr>
      <vt:lpstr>Abstract</vt:lpstr>
      <vt:lpstr>The longest increasing circular subsequence (LICS)</vt:lpstr>
      <vt:lpstr>Robinson-Schensted-Knuth Algorithm for LIS</vt:lpstr>
      <vt:lpstr>Definitions</vt:lpstr>
      <vt:lpstr>Greedy cover</vt:lpstr>
      <vt:lpstr>Greedy cover (cont.)</vt:lpstr>
      <vt:lpstr>Lemmas and theorems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Conclusions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Hong-Yu Chen</dc:creator>
  <cp:lastModifiedBy>Hong-Yu Chen</cp:lastModifiedBy>
  <cp:revision>124</cp:revision>
  <dcterms:created xsi:type="dcterms:W3CDTF">2010-10-17T09:22:10Z</dcterms:created>
  <dcterms:modified xsi:type="dcterms:W3CDTF">2011-01-18T13:53:17Z</dcterms:modified>
</cp:coreProperties>
</file>