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61" r:id="rId4"/>
    <p:sldId id="260" r:id="rId5"/>
    <p:sldId id="265" r:id="rId6"/>
    <p:sldId id="262" r:id="rId7"/>
    <p:sldId id="259" r:id="rId8"/>
    <p:sldId id="263" r:id="rId9"/>
    <p:sldId id="266" r:id="rId10"/>
    <p:sldId id="264" r:id="rId11"/>
    <p:sldId id="267" r:id="rId12"/>
    <p:sldId id="275" r:id="rId13"/>
    <p:sldId id="276" r:id="rId14"/>
    <p:sldId id="268" r:id="rId15"/>
    <p:sldId id="269" r:id="rId16"/>
    <p:sldId id="270" r:id="rId17"/>
    <p:sldId id="271" r:id="rId18"/>
    <p:sldId id="273" r:id="rId19"/>
    <p:sldId id="272" r:id="rId20"/>
    <p:sldId id="274" r:id="rId21"/>
    <p:sldId id="281" r:id="rId22"/>
    <p:sldId id="280" r:id="rId23"/>
    <p:sldId id="277" r:id="rId24"/>
    <p:sldId id="278" r:id="rId25"/>
    <p:sldId id="283" r:id="rId26"/>
    <p:sldId id="282" r:id="rId27"/>
    <p:sldId id="284" r:id="rId28"/>
    <p:sldId id="285" r:id="rId29"/>
    <p:sldId id="286" r:id="rId30"/>
    <p:sldId id="287" r:id="rId31"/>
    <p:sldId id="288" r:id="rId32"/>
    <p:sldId id="289" r:id="rId33"/>
    <p:sldId id="290" r:id="rId34"/>
    <p:sldId id="291" r:id="rId3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26" autoAdjust="0"/>
  </p:normalViewPr>
  <p:slideViewPr>
    <p:cSldViewPr>
      <p:cViewPr varScale="1">
        <p:scale>
          <a:sx n="69" d="100"/>
          <a:sy n="69" d="100"/>
        </p:scale>
        <p:origin x="-5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3018BE-6B98-4DFB-ABD2-ED43FA265236}" type="datetimeFigureOut">
              <a:rPr lang="zh-TW" altLang="en-US" smtClean="0"/>
              <a:pPr/>
              <a:t>2011/7/25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C84D64-1C92-40B8-9B8B-ADD6A2FFBC2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D0C84D64-1C92-40B8-9B8B-ADD6A2FFBC26}" type="slidenum">
              <a:rPr lang="zh-TW" altLang="en-US" smtClean="0"/>
              <a:pPr/>
              <a:t>9</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AC137BA-C0A3-4C5F-962C-2F1C35D73D27}" type="datetimeFigureOut">
              <a:rPr lang="zh-TW" altLang="en-US" smtClean="0"/>
              <a:pPr/>
              <a:t>2011/7/25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1B85BF2-B328-4E73-88BF-2B97FEC93E45}"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137BA-C0A3-4C5F-962C-2F1C35D73D27}" type="datetimeFigureOut">
              <a:rPr lang="zh-TW" altLang="en-US" smtClean="0"/>
              <a:pPr/>
              <a:t>2011/7/25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85BF2-B328-4E73-88BF-2B97FEC93E45}"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home.educities.edu.tw/rebecca0924/stat/regression/index.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 Id="rId9" Type="http://schemas.openxmlformats.org/officeDocument/2006/relationships/oleObject" Target="../embeddings/oleObject16.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hyperlink" Target="http://ss24.mcu.edu.tw/~s3350033/"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20.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24.bin"/></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oleObject27.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23528" y="1196752"/>
            <a:ext cx="8496944" cy="2520280"/>
          </a:xfrm>
        </p:spPr>
        <p:txBody>
          <a:bodyPr>
            <a:noAutofit/>
          </a:bodyPr>
          <a:lstStyle/>
          <a:p>
            <a:r>
              <a:rPr lang="zh-TW" altLang="en-US" sz="3600" dirty="0" smtClean="0">
                <a:latin typeface="標楷體" pitchFamily="65" charset="-120"/>
                <a:ea typeface="標楷體" pitchFamily="65" charset="-120"/>
              </a:rPr>
              <a:t>大學指考落點預測指標研究與實證分析</a:t>
            </a:r>
            <a:r>
              <a:rPr lang="en-US" altLang="zh-TW" sz="3600" dirty="0" smtClean="0"/>
              <a:t/>
            </a:r>
            <a:br>
              <a:rPr lang="en-US" altLang="zh-TW" sz="3600" dirty="0" smtClean="0"/>
            </a:br>
            <a:r>
              <a:rPr lang="en-US" altLang="zh-TW" sz="2800" dirty="0" smtClean="0"/>
              <a:t>On the Study of Forecasting Indices After the College Entrance Examination with Real Data</a:t>
            </a:r>
            <a:endParaRPr lang="zh-TW" altLang="en-US" sz="3200" dirty="0"/>
          </a:p>
        </p:txBody>
      </p:sp>
      <p:sp>
        <p:nvSpPr>
          <p:cNvPr id="3" name="副標題 2"/>
          <p:cNvSpPr>
            <a:spLocks noGrp="1"/>
          </p:cNvSpPr>
          <p:nvPr>
            <p:ph type="subTitle" idx="1"/>
          </p:nvPr>
        </p:nvSpPr>
        <p:spPr>
          <a:xfrm>
            <a:off x="1187624" y="3356992"/>
            <a:ext cx="6624736" cy="792088"/>
          </a:xfrm>
        </p:spPr>
        <p:txBody>
          <a:bodyPr>
            <a:normAutofit fontScale="77500" lnSpcReduction="20000"/>
          </a:bodyPr>
          <a:lstStyle/>
          <a:p>
            <a:r>
              <a:rPr lang="zh-TW" altLang="en-US" dirty="0" smtClean="0">
                <a:latin typeface="標楷體" pitchFamily="65" charset="-120"/>
                <a:ea typeface="標楷體" pitchFamily="65" charset="-120"/>
              </a:rPr>
              <a:t>林家立 任眉眉</a:t>
            </a:r>
            <a:endParaRPr lang="en-US" altLang="zh-TW" dirty="0" smtClean="0">
              <a:latin typeface="標楷體" pitchFamily="65" charset="-120"/>
              <a:ea typeface="標楷體" pitchFamily="65" charset="-120"/>
            </a:endParaRPr>
          </a:p>
          <a:p>
            <a:r>
              <a:rPr lang="en-US" altLang="zh-TW" dirty="0" smtClean="0">
                <a:latin typeface="標楷體" pitchFamily="65" charset="-120"/>
                <a:ea typeface="標楷體" pitchFamily="65" charset="-120"/>
              </a:rPr>
              <a:t>June, 2008, </a:t>
            </a:r>
            <a:r>
              <a:rPr lang="zh-TW" altLang="en-US" dirty="0" smtClean="0">
                <a:latin typeface="標楷體" pitchFamily="65" charset="-120"/>
                <a:ea typeface="標楷體" pitchFamily="65" charset="-120"/>
              </a:rPr>
              <a:t>成功大學統計所碩士論文</a:t>
            </a:r>
            <a:endParaRPr lang="en-US" altLang="zh-TW" dirty="0" smtClean="0">
              <a:latin typeface="標楷體" pitchFamily="65" charset="-120"/>
              <a:ea typeface="標楷體" pitchFamily="65" charset="-120"/>
            </a:endParaRPr>
          </a:p>
          <a:p>
            <a:endParaRPr lang="zh-TW" altLang="en-US" dirty="0">
              <a:latin typeface="標楷體" pitchFamily="65" charset="-120"/>
              <a:ea typeface="標楷體" pitchFamily="65" charset="-120"/>
            </a:endParaRPr>
          </a:p>
        </p:txBody>
      </p:sp>
      <p:sp>
        <p:nvSpPr>
          <p:cNvPr id="4" name="文字方塊 3"/>
          <p:cNvSpPr txBox="1"/>
          <p:nvPr/>
        </p:nvSpPr>
        <p:spPr>
          <a:xfrm>
            <a:off x="4499992" y="4725144"/>
            <a:ext cx="3456384" cy="707886"/>
          </a:xfrm>
          <a:prstGeom prst="rect">
            <a:avLst/>
          </a:prstGeom>
          <a:noFill/>
        </p:spPr>
        <p:txBody>
          <a:bodyPr wrap="square" rtlCol="0">
            <a:spAutoFit/>
          </a:bodyPr>
          <a:lstStyle/>
          <a:p>
            <a:r>
              <a:rPr lang="en-US" altLang="zh-TW" sz="2000" dirty="0" smtClean="0">
                <a:latin typeface="微軟正黑體" pitchFamily="34" charset="-120"/>
                <a:ea typeface="微軟正黑體" pitchFamily="34" charset="-120"/>
              </a:rPr>
              <a:t>Presenter:  </a:t>
            </a:r>
            <a:r>
              <a:rPr lang="en-US" altLang="zh-TW" sz="2000" dirty="0" err="1" smtClean="0"/>
              <a:t>Yun-shuan</a:t>
            </a:r>
            <a:r>
              <a:rPr lang="en-US" altLang="zh-TW" sz="2000" dirty="0" smtClean="0"/>
              <a:t> Chen</a:t>
            </a:r>
            <a:endParaRPr lang="en-US" altLang="zh-TW" sz="2000" dirty="0" smtClean="0">
              <a:latin typeface="微軟正黑體" pitchFamily="34" charset="-120"/>
              <a:ea typeface="微軟正黑體" pitchFamily="34" charset="-120"/>
            </a:endParaRPr>
          </a:p>
          <a:p>
            <a:r>
              <a:rPr lang="en-US" altLang="zh-TW" sz="2000" dirty="0" smtClean="0">
                <a:latin typeface="微軟正黑體" pitchFamily="34" charset="-120"/>
                <a:ea typeface="微軟正黑體" pitchFamily="34" charset="-120"/>
              </a:rPr>
              <a:t>Date:  July 25, 2011</a:t>
            </a:r>
            <a:endParaRPr lang="zh-TW" altLang="en-US" sz="2000" dirty="0">
              <a:latin typeface="微軟正黑體" pitchFamily="34" charset="-120"/>
              <a:ea typeface="微軟正黑體"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Abtract</a:t>
            </a:r>
            <a:endParaRPr lang="zh-TW" altLang="en-US" dirty="0"/>
          </a:p>
        </p:txBody>
      </p:sp>
      <p:sp>
        <p:nvSpPr>
          <p:cNvPr id="3" name="內容版面配置區 2"/>
          <p:cNvSpPr>
            <a:spLocks noGrp="1"/>
          </p:cNvSpPr>
          <p:nvPr>
            <p:ph idx="1"/>
          </p:nvPr>
        </p:nvSpPr>
        <p:spPr/>
        <p:txBody>
          <a:bodyPr>
            <a:noAutofit/>
          </a:bodyPr>
          <a:lstStyle/>
          <a:p>
            <a:pPr>
              <a:buNone/>
            </a:pPr>
            <a:r>
              <a:rPr lang="en-US" altLang="zh-TW" sz="2000" dirty="0" smtClean="0"/>
              <a:t>		After the yearly College Entrance Examination, an examinee always faces the problem of selection and priority of certain departments for advance study. Under the assumption that test scores of all nine subjects follow normal distributions with the same variance, Zen established an index for each student to represent the possibility of entering any interested department. In this paper, we make the statistical inference about of the normal assumption first. Then we derive the parameter estimators of the normal distribution. Using the estimates, we adjust our previous index to be more reasonable. Furthermore, we compare the forecasting abilities of these indices based on a four-year real data. To predict the index for a brand new department, a the two-way ANOVA model is utilized in this study.</a:t>
            </a:r>
            <a:r>
              <a:rPr lang="zh-TW" altLang="en-US" sz="2000" dirty="0" smtClean="0"/>
              <a:t> </a:t>
            </a:r>
            <a:r>
              <a:rPr lang="en-US" altLang="zh-TW" sz="2000" dirty="0" smtClean="0"/>
              <a:t>Finally, the accuracy of forecasting model is evaluated by the prediction </a:t>
            </a:r>
            <a:r>
              <a:rPr lang="en-US" altLang="zh-TW" sz="2000" dirty="0" err="1" smtClean="0"/>
              <a:t>intervaks</a:t>
            </a:r>
            <a:r>
              <a:rPr lang="en-US" altLang="zh-TW" sz="2000" dirty="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研究方法</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針對某固定校系，令 </a:t>
            </a:r>
            <a:r>
              <a:rPr lang="en-US" altLang="zh-TW" i="1" dirty="0" err="1" smtClean="0">
                <a:latin typeface="標楷體" pitchFamily="65" charset="-120"/>
                <a:ea typeface="標楷體" pitchFamily="65" charset="-120"/>
              </a:rPr>
              <a:t>X</a:t>
            </a:r>
            <a:r>
              <a:rPr lang="en-US" altLang="zh-TW" i="1" baseline="-25000" dirty="0" err="1" smtClean="0">
                <a:latin typeface="標楷體" pitchFamily="65" charset="-120"/>
                <a:ea typeface="標楷體" pitchFamily="65" charset="-120"/>
              </a:rPr>
              <a:t>ij</a:t>
            </a:r>
            <a:r>
              <a:rPr lang="en-US" altLang="zh-TW" baseline="-25000" dirty="0" smtClean="0">
                <a:latin typeface="標楷體" pitchFamily="65" charset="-120"/>
                <a:ea typeface="標楷體" pitchFamily="65" charset="-120"/>
              </a:rPr>
              <a:t> </a:t>
            </a:r>
            <a:r>
              <a:rPr lang="zh-TW" altLang="en-US" dirty="0" smtClean="0">
                <a:latin typeface="標楷體" pitchFamily="65" charset="-120"/>
                <a:ea typeface="標楷體" pitchFamily="65" charset="-120"/>
              </a:rPr>
              <a:t>表示該校系年度 </a:t>
            </a:r>
            <a:r>
              <a:rPr lang="en-US" altLang="zh-TW" i="1" dirty="0" smtClean="0">
                <a:latin typeface="標楷體" pitchFamily="65" charset="-120"/>
                <a:ea typeface="標楷體" pitchFamily="65" charset="-120"/>
              </a:rPr>
              <a:t>j</a:t>
            </a:r>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最低錄取總分考生考科 </a:t>
            </a:r>
            <a:r>
              <a:rPr lang="en-US" altLang="zh-TW" i="1" dirty="0" smtClean="0">
                <a:latin typeface="標楷體" pitchFamily="65" charset="-120"/>
                <a:ea typeface="標楷體" pitchFamily="65" charset="-120"/>
              </a:rPr>
              <a:t>i</a:t>
            </a:r>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之成績， </a:t>
            </a:r>
            <a:r>
              <a:rPr lang="en-US" altLang="zh-TW" i="1" dirty="0" err="1" smtClean="0">
                <a:latin typeface="標楷體" pitchFamily="65" charset="-120"/>
                <a:ea typeface="標楷體" pitchFamily="65" charset="-120"/>
              </a:rPr>
              <a:t>w</a:t>
            </a:r>
            <a:r>
              <a:rPr lang="en-US" altLang="zh-TW" i="1" baseline="-25000" dirty="0" err="1" smtClean="0">
                <a:latin typeface="標楷體" pitchFamily="65" charset="-120"/>
                <a:ea typeface="標楷體" pitchFamily="65" charset="-120"/>
              </a:rPr>
              <a:t>ij</a:t>
            </a:r>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代表該校系年度 </a:t>
            </a:r>
            <a:r>
              <a:rPr lang="en-US" altLang="zh-TW" i="1" dirty="0" smtClean="0">
                <a:latin typeface="標楷體" pitchFamily="65" charset="-120"/>
                <a:ea typeface="標楷體" pitchFamily="65" charset="-120"/>
              </a:rPr>
              <a:t>j</a:t>
            </a:r>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考科 </a:t>
            </a:r>
            <a:r>
              <a:rPr lang="en-US" altLang="zh-TW" i="1" dirty="0" err="1" smtClean="0">
                <a:latin typeface="標楷體" pitchFamily="65" charset="-120"/>
                <a:ea typeface="標楷體" pitchFamily="65" charset="-120"/>
              </a:rPr>
              <a:t>i</a:t>
            </a:r>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之權重，則</a:t>
            </a:r>
            <a:endParaRPr lang="en-US" altLang="zh-TW" dirty="0" smtClean="0">
              <a:latin typeface="標楷體" pitchFamily="65" charset="-120"/>
              <a:ea typeface="標楷體" pitchFamily="65" charset="-120"/>
            </a:endParaRPr>
          </a:p>
          <a:p>
            <a:endParaRPr lang="zh-TW" altLang="en-US" dirty="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1907704" y="3501008"/>
          <a:ext cx="5379420" cy="1440160"/>
        </p:xfrm>
        <a:graphic>
          <a:graphicData uri="http://schemas.openxmlformats.org/presentationml/2006/ole">
            <p:oleObj spid="_x0000_s2050" name="方程式" r:id="rId3" imgW="1612800" imgH="431640" progId="Equation.3">
              <p:embed/>
            </p:oleObj>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研究方法</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a:xfrm>
            <a:off x="457200" y="1600200"/>
            <a:ext cx="8229600" cy="4853136"/>
          </a:xfrm>
        </p:spPr>
        <p:txBody>
          <a:bodyPr>
            <a:normAutofit fontScale="85000" lnSpcReduction="20000"/>
          </a:bodyPr>
          <a:lstStyle/>
          <a:p>
            <a:r>
              <a:rPr lang="zh-TW" altLang="en-US" dirty="0" smtClean="0">
                <a:latin typeface="標楷體" pitchFamily="65" charset="-120"/>
                <a:ea typeface="標楷體" pitchFamily="65" charset="-120"/>
              </a:rPr>
              <a:t>將不同年度該校系的最低率取加權總分，標準化後</a:t>
            </a:r>
            <a:r>
              <a:rPr lang="en-US" altLang="zh-TW" dirty="0" smtClean="0">
                <a:latin typeface="標楷體" pitchFamily="65" charset="-120"/>
                <a:ea typeface="標楷體" pitchFamily="65" charset="-120"/>
              </a:rPr>
              <a:t>(</a:t>
            </a:r>
            <a:r>
              <a:rPr lang="en-US" altLang="zh-TW" dirty="0" err="1" smtClean="0">
                <a:latin typeface="標楷體" pitchFamily="65" charset="-120"/>
                <a:ea typeface="標楷體" pitchFamily="65" charset="-120"/>
              </a:rPr>
              <a:t>standardlized</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作為比較的指標</a:t>
            </a:r>
            <a:endParaRPr lang="en-US" altLang="zh-TW" dirty="0" smtClean="0">
              <a:latin typeface="標楷體" pitchFamily="65" charset="-120"/>
              <a:ea typeface="標楷體" pitchFamily="65" charset="-120"/>
            </a:endParaRPr>
          </a:p>
          <a:p>
            <a:pPr>
              <a:buNone/>
            </a:pPr>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 </a:t>
            </a:r>
            <a:r>
              <a:rPr lang="el-GR" altLang="zh-TW" dirty="0" smtClean="0">
                <a:solidFill>
                  <a:schemeClr val="accent1">
                    <a:lumMod val="75000"/>
                  </a:schemeClr>
                </a:solidFill>
                <a:ea typeface="標楷體" pitchFamily="65" charset="-120"/>
              </a:rPr>
              <a:t>μ</a:t>
            </a:r>
            <a:r>
              <a:rPr lang="zh-TW" altLang="en-US" dirty="0" smtClean="0">
                <a:solidFill>
                  <a:schemeClr val="accent1">
                    <a:lumMod val="75000"/>
                  </a:schemeClr>
                </a:solidFill>
                <a:latin typeface="標楷體" pitchFamily="65" charset="-120"/>
                <a:ea typeface="標楷體" pitchFamily="65" charset="-120"/>
              </a:rPr>
              <a:t> </a:t>
            </a:r>
            <a:r>
              <a:rPr lang="en-US" altLang="zh-TW" dirty="0" smtClean="0">
                <a:solidFill>
                  <a:schemeClr val="accent1">
                    <a:lumMod val="75000"/>
                  </a:schemeClr>
                </a:solidFill>
                <a:latin typeface="標楷體" pitchFamily="65" charset="-120"/>
                <a:ea typeface="標楷體" pitchFamily="65" charset="-120"/>
              </a:rPr>
              <a:t>: mean</a:t>
            </a:r>
            <a:r>
              <a:rPr lang="zh-TW" altLang="en-US" dirty="0" smtClean="0">
                <a:solidFill>
                  <a:schemeClr val="accent1">
                    <a:lumMod val="75000"/>
                  </a:schemeClr>
                </a:solidFill>
                <a:latin typeface="標楷體" pitchFamily="65" charset="-120"/>
                <a:ea typeface="標楷體" pitchFamily="65" charset="-120"/>
              </a:rPr>
              <a:t>，</a:t>
            </a:r>
            <a:r>
              <a:rPr lang="el-GR" altLang="zh-TW" dirty="0" smtClean="0">
                <a:solidFill>
                  <a:schemeClr val="accent1">
                    <a:lumMod val="75000"/>
                  </a:schemeClr>
                </a:solidFill>
                <a:ea typeface="標楷體" pitchFamily="65" charset="-120"/>
              </a:rPr>
              <a:t>σ</a:t>
            </a:r>
            <a:r>
              <a:rPr lang="en-US" altLang="zh-TW" dirty="0" smtClean="0">
                <a:solidFill>
                  <a:schemeClr val="accent1">
                    <a:lumMod val="75000"/>
                  </a:schemeClr>
                </a:solidFill>
                <a:latin typeface="標楷體" pitchFamily="65" charset="-120"/>
                <a:ea typeface="標楷體" pitchFamily="65" charset="-120"/>
              </a:rPr>
              <a:t> : variance</a:t>
            </a:r>
          </a:p>
          <a:p>
            <a:pPr lvl="1"/>
            <a:r>
              <a:rPr lang="zh-TW" altLang="en-US" dirty="0" smtClean="0">
                <a:latin typeface="標楷體" pitchFamily="65" charset="-120"/>
                <a:ea typeface="標楷體" pitchFamily="65" charset="-120"/>
              </a:rPr>
              <a:t>統計學中，在計算相關係數或迴歸線的時候，常常需要將一組資料的</a:t>
            </a:r>
            <a:r>
              <a:rPr lang="zh-TW" altLang="en-US" dirty="0" smtClean="0">
                <a:solidFill>
                  <a:srgbClr val="FF0000"/>
                </a:solidFill>
                <a:latin typeface="標楷體" pitchFamily="65" charset="-120"/>
                <a:ea typeface="標楷體" pitchFamily="65" charset="-120"/>
              </a:rPr>
              <a:t>平均數調整成 </a:t>
            </a:r>
            <a:r>
              <a:rPr lang="en-US" altLang="zh-TW" dirty="0" smtClean="0">
                <a:solidFill>
                  <a:srgbClr val="FF0000"/>
                </a:solidFill>
                <a:latin typeface="標楷體" pitchFamily="65" charset="-120"/>
                <a:ea typeface="標楷體" pitchFamily="65" charset="-120"/>
              </a:rPr>
              <a:t>0 </a:t>
            </a:r>
            <a:r>
              <a:rPr lang="zh-TW" altLang="en-US" dirty="0" smtClean="0">
                <a:latin typeface="標楷體" pitchFamily="65" charset="-120"/>
                <a:ea typeface="標楷體" pitchFamily="65" charset="-120"/>
              </a:rPr>
              <a:t>和</a:t>
            </a:r>
            <a:r>
              <a:rPr lang="zh-TW" altLang="en-US" dirty="0" smtClean="0">
                <a:solidFill>
                  <a:srgbClr val="FF0000"/>
                </a:solidFill>
                <a:latin typeface="標楷體" pitchFamily="65" charset="-120"/>
                <a:ea typeface="標楷體" pitchFamily="65" charset="-120"/>
              </a:rPr>
              <a:t>標準差調整成 </a:t>
            </a:r>
            <a:r>
              <a:rPr lang="en-US" altLang="zh-TW" dirty="0" smtClean="0">
                <a:solidFill>
                  <a:srgbClr val="FF0000"/>
                </a:solidFill>
                <a:latin typeface="標楷體" pitchFamily="65" charset="-120"/>
                <a:ea typeface="標楷體" pitchFamily="65" charset="-120"/>
              </a:rPr>
              <a:t>1 </a:t>
            </a:r>
            <a:r>
              <a:rPr lang="zh-TW" altLang="en-US" dirty="0" smtClean="0">
                <a:latin typeface="標楷體" pitchFamily="65" charset="-120"/>
                <a:ea typeface="標楷體" pitchFamily="65" charset="-120"/>
              </a:rPr>
              <a:t>，這樣的過程，我們稱為「標準化」</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標準化後的資料所具有的特性</a:t>
            </a:r>
            <a:endParaRPr lang="en-US" altLang="zh-TW" dirty="0" smtClean="0">
              <a:latin typeface="標楷體" pitchFamily="65" charset="-120"/>
              <a:ea typeface="標楷體" pitchFamily="65" charset="-120"/>
            </a:endParaRPr>
          </a:p>
          <a:p>
            <a:pPr lvl="2"/>
            <a:r>
              <a:rPr lang="zh-TW" altLang="en-US" dirty="0" smtClean="0">
                <a:latin typeface="標楷體" pitchFamily="65" charset="-120"/>
                <a:ea typeface="標楷體" pitchFamily="65" charset="-120"/>
              </a:rPr>
              <a:t>平均數為 </a:t>
            </a:r>
            <a:r>
              <a:rPr lang="en-US" altLang="zh-TW" dirty="0" smtClean="0">
                <a:latin typeface="標楷體" pitchFamily="65" charset="-120"/>
                <a:ea typeface="標楷體" pitchFamily="65" charset="-120"/>
              </a:rPr>
              <a:t>0</a:t>
            </a:r>
            <a:r>
              <a:rPr lang="zh-TW" altLang="en-US" dirty="0" smtClean="0">
                <a:latin typeface="標楷體" pitchFamily="65" charset="-120"/>
                <a:ea typeface="標楷體" pitchFamily="65" charset="-120"/>
              </a:rPr>
              <a:t>、標準差為 </a:t>
            </a:r>
            <a:r>
              <a:rPr lang="en-US" altLang="zh-TW" dirty="0" smtClean="0">
                <a:latin typeface="標楷體" pitchFamily="65" charset="-120"/>
                <a:ea typeface="標楷體" pitchFamily="65" charset="-120"/>
              </a:rPr>
              <a:t>1</a:t>
            </a:r>
            <a:r>
              <a:rPr lang="zh-TW" altLang="en-US" dirty="0" smtClean="0">
                <a:latin typeface="標楷體" pitchFamily="65" charset="-120"/>
                <a:ea typeface="標楷體" pitchFamily="65" charset="-120"/>
              </a:rPr>
              <a:t>、平方和為 </a:t>
            </a:r>
            <a:r>
              <a:rPr lang="en-US" altLang="zh-TW" dirty="0" smtClean="0">
                <a:latin typeface="標楷體" pitchFamily="65" charset="-120"/>
                <a:ea typeface="標楷體" pitchFamily="65" charset="-120"/>
              </a:rPr>
              <a:t>N </a:t>
            </a:r>
            <a:r>
              <a:rPr lang="zh-TW" altLang="en-US" dirty="0" smtClean="0">
                <a:latin typeface="標楷體" pitchFamily="65" charset="-120"/>
                <a:ea typeface="標楷體" pitchFamily="65" charset="-120"/>
              </a:rPr>
              <a:t>或 </a:t>
            </a:r>
            <a:r>
              <a:rPr lang="en-US" altLang="zh-TW" dirty="0" smtClean="0">
                <a:latin typeface="標楷體" pitchFamily="65" charset="-120"/>
                <a:ea typeface="標楷體" pitchFamily="65" charset="-120"/>
              </a:rPr>
              <a:t>n-1</a:t>
            </a:r>
          </a:p>
          <a:p>
            <a:pPr lvl="2"/>
            <a:r>
              <a:rPr lang="zh-TW" altLang="en-US" dirty="0" smtClean="0">
                <a:solidFill>
                  <a:srgbClr val="FF0000"/>
                </a:solidFill>
                <a:latin typeface="標楷體" pitchFamily="65" charset="-120"/>
                <a:ea typeface="標楷體" pitchFamily="65" charset="-120"/>
              </a:rPr>
              <a:t>平移或放大縮小原資料，都不會改變標準化後的資料</a:t>
            </a:r>
            <a:endParaRPr lang="en-US" altLang="zh-TW" dirty="0" smtClean="0">
              <a:solidFill>
                <a:srgbClr val="FF0000"/>
              </a:solidFill>
              <a:latin typeface="標楷體" pitchFamily="65" charset="-120"/>
              <a:ea typeface="標楷體" pitchFamily="65" charset="-120"/>
            </a:endParaRPr>
          </a:p>
        </p:txBody>
      </p:sp>
      <p:graphicFrame>
        <p:nvGraphicFramePr>
          <p:cNvPr id="5" name="物件 4"/>
          <p:cNvGraphicFramePr>
            <a:graphicFrameLocks noChangeAspect="1"/>
          </p:cNvGraphicFramePr>
          <p:nvPr/>
        </p:nvGraphicFramePr>
        <p:xfrm>
          <a:off x="1979712" y="2564904"/>
          <a:ext cx="5461529" cy="1224136"/>
        </p:xfrm>
        <a:graphic>
          <a:graphicData uri="http://schemas.openxmlformats.org/presentationml/2006/ole">
            <p:oleObj spid="_x0000_s1027" name="方程式" r:id="rId3" imgW="2247840" imgH="596880" progId="Equation.3">
              <p:embed/>
            </p:oleObj>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研究方法</a:t>
            </a:r>
            <a:endParaRPr lang="zh-TW" altLang="en-US" dirty="0"/>
          </a:p>
        </p:txBody>
      </p:sp>
      <p:sp>
        <p:nvSpPr>
          <p:cNvPr id="3" name="內容版面配置區 2"/>
          <p:cNvSpPr>
            <a:spLocks noGrp="1"/>
          </p:cNvSpPr>
          <p:nvPr>
            <p:ph idx="1"/>
          </p:nvPr>
        </p:nvSpPr>
        <p:spPr/>
        <p:txBody>
          <a:bodyPr>
            <a:normAutofit fontScale="85000" lnSpcReduction="10000"/>
          </a:bodyPr>
          <a:lstStyle/>
          <a:p>
            <a:r>
              <a:rPr lang="zh-TW" altLang="en-US" dirty="0" smtClean="0">
                <a:latin typeface="標楷體" pitchFamily="65" charset="-120"/>
                <a:ea typeface="標楷體" pitchFamily="65" charset="-120"/>
              </a:rPr>
              <a:t>考量某校系</a:t>
            </a:r>
            <a:r>
              <a:rPr lang="en-US" altLang="zh-TW" i="1" dirty="0" err="1" smtClean="0">
                <a:latin typeface="標楷體" pitchFamily="65" charset="-120"/>
                <a:ea typeface="標楷體" pitchFamily="65" charset="-120"/>
              </a:rPr>
              <a:t>i</a:t>
            </a:r>
            <a:r>
              <a:rPr lang="zh-TW" altLang="en-US" dirty="0" smtClean="0">
                <a:latin typeface="標楷體" pitchFamily="65" charset="-120"/>
                <a:ea typeface="標楷體" pitchFamily="65" charset="-120"/>
              </a:rPr>
              <a:t>連續兩年的標準化後最低錄取加權總分 </a:t>
            </a:r>
            <a:r>
              <a:rPr lang="en-US" altLang="zh-TW" i="1" dirty="0" err="1" smtClean="0">
                <a:latin typeface="標楷體" pitchFamily="65" charset="-120"/>
                <a:ea typeface="標楷體" pitchFamily="65" charset="-120"/>
              </a:rPr>
              <a:t>Z</a:t>
            </a:r>
            <a:r>
              <a:rPr lang="en-US" altLang="zh-TW" i="1" baseline="-25000" dirty="0" err="1" smtClean="0">
                <a:latin typeface="標楷體" pitchFamily="65" charset="-120"/>
                <a:ea typeface="標楷體" pitchFamily="65" charset="-120"/>
              </a:rPr>
              <a:t>lk</a:t>
            </a:r>
            <a:r>
              <a:rPr lang="en-US" altLang="zh-TW" i="1" dirty="0" smtClean="0">
                <a:latin typeface="標楷體" pitchFamily="65" charset="-120"/>
                <a:ea typeface="標楷體" pitchFamily="65" charset="-120"/>
              </a:rPr>
              <a:t> ,Z</a:t>
            </a:r>
            <a:r>
              <a:rPr lang="en-US" altLang="zh-TW" i="1" baseline="-25000" dirty="0" smtClean="0">
                <a:latin typeface="標楷體" pitchFamily="65" charset="-120"/>
                <a:ea typeface="標楷體" pitchFamily="65" charset="-120"/>
              </a:rPr>
              <a:t>2k </a:t>
            </a:r>
            <a:r>
              <a:rPr lang="en-US" altLang="zh-TW" i="1" dirty="0" smtClean="0">
                <a:latin typeface="標楷體" pitchFamily="65" charset="-120"/>
                <a:ea typeface="標楷體" pitchFamily="65" charset="-120"/>
              </a:rPr>
              <a:t>,k=1,2,3,…,K</a:t>
            </a:r>
            <a:r>
              <a:rPr lang="zh-TW" altLang="en-US" i="1" dirty="0" smtClean="0">
                <a:latin typeface="標楷體" pitchFamily="65" charset="-120"/>
                <a:ea typeface="標楷體" pitchFamily="65" charset="-120"/>
              </a:rPr>
              <a:t>，</a:t>
            </a:r>
            <a:r>
              <a:rPr lang="en-US" altLang="zh-TW" i="1" dirty="0" smtClean="0">
                <a:latin typeface="標楷體" pitchFamily="65" charset="-120"/>
                <a:ea typeface="標楷體" pitchFamily="65" charset="-120"/>
              </a:rPr>
              <a:t>K</a:t>
            </a:r>
            <a:r>
              <a:rPr lang="zh-TW" altLang="en-US" dirty="0" smtClean="0">
                <a:latin typeface="標楷體" pitchFamily="65" charset="-120"/>
                <a:ea typeface="標楷體" pitchFamily="65" charset="-120"/>
              </a:rPr>
              <a:t>為學群或者校系種數，利用</a:t>
            </a:r>
            <a:r>
              <a:rPr lang="en-US" altLang="zh-TW" dirty="0" smtClean="0">
                <a:latin typeface="標楷體" pitchFamily="65" charset="-120"/>
                <a:ea typeface="標楷體" pitchFamily="65" charset="-120"/>
              </a:rPr>
              <a:t>(Z</a:t>
            </a:r>
            <a:r>
              <a:rPr lang="en-US" altLang="zh-TW" baseline="-25000" dirty="0" smtClean="0">
                <a:latin typeface="標楷體" pitchFamily="65" charset="-120"/>
                <a:ea typeface="標楷體" pitchFamily="65" charset="-120"/>
              </a:rPr>
              <a:t>1k</a:t>
            </a:r>
            <a:r>
              <a:rPr lang="zh-TW" altLang="en-US" dirty="0" smtClean="0">
                <a:latin typeface="標楷體" pitchFamily="65" charset="-120"/>
                <a:ea typeface="標楷體" pitchFamily="65" charset="-120"/>
              </a:rPr>
              <a:t>、</a:t>
            </a:r>
            <a:r>
              <a:rPr lang="en-US" altLang="zh-TW" dirty="0" smtClean="0">
                <a:latin typeface="標楷體" pitchFamily="65" charset="-120"/>
                <a:ea typeface="標楷體" pitchFamily="65" charset="-120"/>
              </a:rPr>
              <a:t>Z</a:t>
            </a:r>
            <a:r>
              <a:rPr lang="en-US" altLang="zh-TW" baseline="-25000" dirty="0" smtClean="0">
                <a:latin typeface="標楷體" pitchFamily="65" charset="-120"/>
                <a:ea typeface="標楷體" pitchFamily="65" charset="-120"/>
              </a:rPr>
              <a:t>2k</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的樣本相關係數</a:t>
            </a:r>
            <a:r>
              <a:rPr lang="en-US" altLang="zh-TW" dirty="0" smtClean="0">
                <a:latin typeface="標楷體" pitchFamily="65" charset="-120"/>
                <a:ea typeface="標楷體" pitchFamily="65" charset="-120"/>
              </a:rPr>
              <a:t>(</a:t>
            </a:r>
            <a:r>
              <a:rPr lang="en-US" altLang="zh-TW" dirty="0" smtClean="0">
                <a:solidFill>
                  <a:srgbClr val="FF0000"/>
                </a:solidFill>
                <a:latin typeface="標楷體" pitchFamily="65" charset="-120"/>
                <a:ea typeface="標楷體" pitchFamily="65" charset="-120"/>
              </a:rPr>
              <a:t>coefficient of correlation</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來討論</a:t>
            </a:r>
            <a:r>
              <a:rPr lang="en-US" altLang="zh-TW" dirty="0" smtClean="0">
                <a:latin typeface="標楷體" pitchFamily="65" charset="-120"/>
                <a:ea typeface="標楷體" pitchFamily="65" charset="-120"/>
              </a:rPr>
              <a:t>Z</a:t>
            </a:r>
            <a:r>
              <a:rPr lang="en-US" altLang="zh-TW" baseline="-25000" dirty="0" smtClean="0">
                <a:latin typeface="標楷體" pitchFamily="65" charset="-120"/>
                <a:ea typeface="標楷體" pitchFamily="65" charset="-120"/>
              </a:rPr>
              <a:t>1k</a:t>
            </a:r>
            <a:r>
              <a:rPr lang="zh-TW" altLang="en-US" dirty="0" smtClean="0">
                <a:latin typeface="標楷體" pitchFamily="65" charset="-120"/>
                <a:ea typeface="標楷體" pitchFamily="65" charset="-120"/>
              </a:rPr>
              <a:t>、</a:t>
            </a:r>
            <a:r>
              <a:rPr lang="en-US" altLang="zh-TW" dirty="0" smtClean="0">
                <a:latin typeface="標楷體" pitchFamily="65" charset="-120"/>
                <a:ea typeface="標楷體" pitchFamily="65" charset="-120"/>
              </a:rPr>
              <a:t>Z</a:t>
            </a:r>
            <a:r>
              <a:rPr lang="en-US" altLang="zh-TW" baseline="-25000" dirty="0" smtClean="0">
                <a:latin typeface="標楷體" pitchFamily="65" charset="-120"/>
                <a:ea typeface="標楷體" pitchFamily="65" charset="-120"/>
              </a:rPr>
              <a:t>2k</a:t>
            </a:r>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的相關性</a:t>
            </a:r>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若前後兩年指標</a:t>
            </a:r>
            <a:r>
              <a:rPr lang="en-US" altLang="zh-TW" dirty="0" smtClean="0">
                <a:latin typeface="標楷體" pitchFamily="65" charset="-120"/>
                <a:ea typeface="標楷體" pitchFamily="65" charset="-120"/>
              </a:rPr>
              <a:t>(Z</a:t>
            </a:r>
            <a:r>
              <a:rPr lang="en-US" altLang="zh-TW" baseline="-25000" dirty="0" smtClean="0">
                <a:latin typeface="標楷體" pitchFamily="65" charset="-120"/>
                <a:ea typeface="標楷體" pitchFamily="65" charset="-120"/>
              </a:rPr>
              <a:t>1k</a:t>
            </a:r>
            <a:r>
              <a:rPr lang="en-US" altLang="zh-TW" dirty="0" smtClean="0">
                <a:latin typeface="標楷體" pitchFamily="65" charset="-120"/>
                <a:ea typeface="標楷體" pitchFamily="65" charset="-120"/>
              </a:rPr>
              <a:t>,Z</a:t>
            </a:r>
            <a:r>
              <a:rPr lang="en-US" altLang="zh-TW" baseline="-25000" dirty="0" smtClean="0">
                <a:latin typeface="標楷體" pitchFamily="65" charset="-120"/>
                <a:ea typeface="標楷體" pitchFamily="65" charset="-120"/>
              </a:rPr>
              <a:t>2k</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的線性相關程度高，即代表基本假設「前後兩年學生對校系基礎評價不變」</a:t>
            </a:r>
            <a:endParaRPr lang="en-US" altLang="zh-TW" dirty="0" smtClean="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1619672" y="3356992"/>
          <a:ext cx="5851033" cy="1368152"/>
        </p:xfrm>
        <a:graphic>
          <a:graphicData uri="http://schemas.openxmlformats.org/presentationml/2006/ole">
            <p:oleObj spid="_x0000_s4098" name="方程式" r:id="rId3" imgW="2552400" imgH="596880" progId="Equation.3">
              <p:embed/>
            </p:oleObj>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研究方法</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假設所有考科成績具有常態分布，即可應用簡單</a:t>
            </a:r>
            <a:r>
              <a:rPr lang="zh-TW" altLang="en-US" dirty="0" smtClean="0">
                <a:solidFill>
                  <a:srgbClr val="FF0000"/>
                </a:solidFill>
                <a:latin typeface="標楷體" pitchFamily="65" charset="-120"/>
                <a:ea typeface="標楷體" pitchFamily="65" charset="-120"/>
              </a:rPr>
              <a:t>線性回歸模型</a:t>
            </a:r>
            <a:r>
              <a:rPr lang="en-US" altLang="zh-TW" dirty="0" smtClean="0">
                <a:solidFill>
                  <a:srgbClr val="FF0000"/>
                </a:solidFill>
                <a:latin typeface="標楷體" pitchFamily="65" charset="-120"/>
                <a:ea typeface="標楷體" pitchFamily="65" charset="-120"/>
              </a:rPr>
              <a:t>(Simple Linear Regression Model)</a:t>
            </a:r>
          </a:p>
          <a:p>
            <a:endParaRPr lang="en-US" altLang="zh-TW" dirty="0" smtClean="0">
              <a:solidFill>
                <a:srgbClr val="FF0000"/>
              </a:solidFill>
              <a:latin typeface="標楷體" pitchFamily="65" charset="-120"/>
              <a:ea typeface="標楷體" pitchFamily="65" charset="-120"/>
            </a:endParaRPr>
          </a:p>
          <a:p>
            <a:endParaRPr lang="en-US" altLang="zh-TW" dirty="0" smtClean="0">
              <a:solidFill>
                <a:srgbClr val="FF0000"/>
              </a:solidFill>
              <a:latin typeface="標楷體" pitchFamily="65" charset="-120"/>
              <a:ea typeface="標楷體" pitchFamily="65" charset="-120"/>
            </a:endParaRPr>
          </a:p>
          <a:p>
            <a:r>
              <a:rPr lang="zh-TW" altLang="en-US" dirty="0" smtClean="0">
                <a:latin typeface="標楷體" pitchFamily="65" charset="-120"/>
                <a:ea typeface="標楷體" pitchFamily="65" charset="-120"/>
              </a:rPr>
              <a:t>透過對</a:t>
            </a:r>
            <a:r>
              <a:rPr lang="el-GR" altLang="zh-TW" i="1" dirty="0" smtClean="0">
                <a:ea typeface="標楷體" pitchFamily="65" charset="-120"/>
              </a:rPr>
              <a:t>β</a:t>
            </a:r>
            <a:r>
              <a:rPr lang="en-US" altLang="zh-TW" i="1" baseline="-25000" dirty="0" smtClean="0">
                <a:latin typeface="標楷體" pitchFamily="65" charset="-120"/>
                <a:ea typeface="標楷體" pitchFamily="65" charset="-120"/>
              </a:rPr>
              <a:t>1</a:t>
            </a:r>
            <a:r>
              <a:rPr lang="zh-TW" altLang="en-US" dirty="0" smtClean="0">
                <a:latin typeface="標楷體" pitchFamily="65" charset="-120"/>
                <a:ea typeface="標楷體" pitchFamily="65" charset="-120"/>
              </a:rPr>
              <a:t>和</a:t>
            </a:r>
            <a:r>
              <a:rPr lang="el-GR" altLang="zh-TW" i="1" dirty="0" smtClean="0">
                <a:ea typeface="標楷體" pitchFamily="65" charset="-120"/>
              </a:rPr>
              <a:t>β</a:t>
            </a:r>
            <a:r>
              <a:rPr lang="en-US" altLang="zh-TW" i="1" baseline="-25000" dirty="0" smtClean="0">
                <a:latin typeface="標楷體" pitchFamily="65" charset="-120"/>
                <a:ea typeface="標楷體" pitchFamily="65" charset="-120"/>
              </a:rPr>
              <a:t> 2</a:t>
            </a:r>
            <a:r>
              <a:rPr lang="zh-TW" altLang="en-US" dirty="0" smtClean="0">
                <a:latin typeface="標楷體" pitchFamily="65" charset="-120"/>
                <a:ea typeface="標楷體" pitchFamily="65" charset="-120"/>
              </a:rPr>
              <a:t>的研究，建立一個落點分析的模型</a:t>
            </a:r>
            <a:endParaRPr lang="en-US" altLang="zh-TW" dirty="0" smtClean="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1187624" y="3429000"/>
          <a:ext cx="6835775" cy="695325"/>
        </p:xfrm>
        <a:graphic>
          <a:graphicData uri="http://schemas.openxmlformats.org/presentationml/2006/ole">
            <p:oleObj spid="_x0000_s3074" name="方程式" r:id="rId3" imgW="2247840" imgH="228600" progId="Equation.3">
              <p:embed/>
            </p:oleObj>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Simple Linear Regression Model</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latin typeface="標楷體" pitchFamily="65" charset="-120"/>
                <a:ea typeface="標楷體" pitchFamily="65" charset="-120"/>
              </a:rPr>
              <a:t>簡單線性迴</a:t>
            </a:r>
            <a:r>
              <a:rPr lang="zh-TW" altLang="en-US" dirty="0" smtClean="0">
                <a:latin typeface="標楷體" pitchFamily="65" charset="-120"/>
                <a:ea typeface="標楷體" pitchFamily="65" charset="-120"/>
              </a:rPr>
              <a:t>歸</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迴</a:t>
            </a:r>
            <a:r>
              <a:rPr lang="zh-TW" altLang="en-US" dirty="0">
                <a:latin typeface="標楷體" pitchFamily="65" charset="-120"/>
                <a:ea typeface="標楷體" pitchFamily="65" charset="-120"/>
              </a:rPr>
              <a:t>歸分析可用來找出兩個或兩個以上計量變數間的關係，並進而從一群變數中可以預測資料</a:t>
            </a:r>
            <a:r>
              <a:rPr lang="zh-TW" altLang="en-US" dirty="0" smtClean="0">
                <a:latin typeface="標楷體" pitchFamily="65" charset="-120"/>
                <a:ea typeface="標楷體" pitchFamily="65" charset="-120"/>
              </a:rPr>
              <a:t>趨勢。簡單</a:t>
            </a:r>
            <a:r>
              <a:rPr lang="zh-TW" altLang="en-US" dirty="0">
                <a:latin typeface="標楷體" pitchFamily="65" charset="-120"/>
                <a:ea typeface="標楷體" pitchFamily="65" charset="-120"/>
              </a:rPr>
              <a:t>線性迴歸模型 </a:t>
            </a:r>
            <a:r>
              <a:rPr lang="en-US" altLang="zh-TW" dirty="0">
                <a:latin typeface="標楷體" pitchFamily="65" charset="-120"/>
                <a:ea typeface="標楷體" pitchFamily="65" charset="-120"/>
              </a:rPr>
              <a:t>Simple Linear Regression Model</a:t>
            </a:r>
            <a:r>
              <a:rPr lang="zh-TW" altLang="en-US" dirty="0" smtClean="0">
                <a:latin typeface="標楷體" pitchFamily="65" charset="-120"/>
                <a:ea typeface="標楷體" pitchFamily="65" charset="-120"/>
              </a:rPr>
              <a:t>。</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設</a:t>
            </a:r>
            <a:r>
              <a:rPr lang="zh-TW" altLang="en-US" dirty="0">
                <a:solidFill>
                  <a:schemeClr val="tx2"/>
                </a:solidFill>
                <a:latin typeface="標楷體" pitchFamily="65" charset="-120"/>
                <a:ea typeface="標楷體" pitchFamily="65" charset="-120"/>
              </a:rPr>
              <a:t>Ｘ為自變數</a:t>
            </a:r>
            <a:r>
              <a:rPr lang="zh-TW" altLang="en-US" dirty="0">
                <a:latin typeface="標楷體" pitchFamily="65" charset="-120"/>
                <a:ea typeface="標楷體" pitchFamily="65" charset="-120"/>
              </a:rPr>
              <a:t>（獨立變數或解釋變數），</a:t>
            </a:r>
            <a:r>
              <a:rPr lang="zh-TW" altLang="en-US" dirty="0">
                <a:solidFill>
                  <a:schemeClr val="tx2"/>
                </a:solidFill>
                <a:latin typeface="標楷體" pitchFamily="65" charset="-120"/>
                <a:ea typeface="標楷體" pitchFamily="65" charset="-120"/>
              </a:rPr>
              <a:t>Ｙ為因變數</a:t>
            </a:r>
            <a:r>
              <a:rPr lang="zh-TW" altLang="en-US" dirty="0">
                <a:latin typeface="標楷體" pitchFamily="65" charset="-120"/>
                <a:ea typeface="標楷體" pitchFamily="65" charset="-120"/>
              </a:rPr>
              <a:t>（相關變數或被解釋變數）， </a:t>
            </a:r>
            <a:r>
              <a:rPr lang="zh-TW" altLang="en-US" dirty="0" smtClean="0">
                <a:latin typeface="標楷體" pitchFamily="65" charset="-120"/>
                <a:ea typeface="標楷體" pitchFamily="65" charset="-120"/>
              </a:rPr>
              <a:t>在</a:t>
            </a:r>
            <a:r>
              <a:rPr lang="zh-TW" altLang="en-US" dirty="0">
                <a:latin typeface="標楷體" pitchFamily="65" charset="-120"/>
                <a:ea typeface="標楷體" pitchFamily="65" charset="-120"/>
              </a:rPr>
              <a:t>一特定Ｘ值下重複實驗或觀察，則Ｙ觀測值可構成一條件機率</a:t>
            </a:r>
            <a:r>
              <a:rPr lang="zh-TW" altLang="en-US" dirty="0" smtClean="0">
                <a:latin typeface="標楷體" pitchFamily="65" charset="-120"/>
                <a:ea typeface="標楷體" pitchFamily="65" charset="-120"/>
              </a:rPr>
              <a:t>分配。這兩</a:t>
            </a:r>
            <a:r>
              <a:rPr lang="zh-TW" altLang="en-US" dirty="0">
                <a:latin typeface="標楷體" pitchFamily="65" charset="-120"/>
                <a:ea typeface="標楷體" pitchFamily="65" charset="-120"/>
              </a:rPr>
              <a:t>變數的函數關係可以數學公式表示，若</a:t>
            </a:r>
            <a:r>
              <a:rPr lang="en-US" altLang="zh-TW" dirty="0">
                <a:latin typeface="標楷體" pitchFamily="65" charset="-120"/>
                <a:ea typeface="標楷體" pitchFamily="65" charset="-120"/>
              </a:rPr>
              <a:t>x</a:t>
            </a:r>
            <a:r>
              <a:rPr lang="zh-TW" altLang="en-US" dirty="0">
                <a:latin typeface="標楷體" pitchFamily="65" charset="-120"/>
                <a:ea typeface="標楷體" pitchFamily="65" charset="-120"/>
              </a:rPr>
              <a:t>是自變數，</a:t>
            </a:r>
            <a:r>
              <a:rPr lang="en-US" altLang="zh-TW" dirty="0">
                <a:latin typeface="標楷體" pitchFamily="65" charset="-120"/>
                <a:ea typeface="標楷體" pitchFamily="65" charset="-120"/>
              </a:rPr>
              <a:t>y</a:t>
            </a:r>
            <a:r>
              <a:rPr lang="zh-TW" altLang="en-US" dirty="0">
                <a:latin typeface="標楷體" pitchFamily="65" charset="-120"/>
                <a:ea typeface="標楷體" pitchFamily="65" charset="-120"/>
              </a:rPr>
              <a:t>是因變數</a:t>
            </a:r>
            <a:r>
              <a:rPr lang="zh-TW" altLang="en-US" dirty="0" smtClean="0">
                <a:latin typeface="標楷體" pitchFamily="65" charset="-120"/>
                <a:ea typeface="標楷體" pitchFamily="65" charset="-120"/>
              </a:rPr>
              <a:t>，則</a:t>
            </a:r>
            <a:r>
              <a:rPr lang="zh-TW" altLang="en-US" dirty="0">
                <a:latin typeface="標楷體" pitchFamily="65" charset="-120"/>
                <a:ea typeface="標楷體" pitchFamily="65" charset="-120"/>
              </a:rPr>
              <a:t>函數關係可表示為</a:t>
            </a:r>
            <a:r>
              <a:rPr lang="zh-TW" altLang="en-US" dirty="0" smtClean="0">
                <a:latin typeface="標楷體" pitchFamily="65" charset="-120"/>
                <a:ea typeface="標楷體" pitchFamily="65" charset="-120"/>
              </a:rPr>
              <a:t>：</a:t>
            </a:r>
            <a:endParaRPr lang="en-US" altLang="zh-TW" dirty="0" smtClean="0">
              <a:latin typeface="標楷體" pitchFamily="65" charset="-120"/>
              <a:ea typeface="標楷體" pitchFamily="65" charset="-120"/>
            </a:endParaRPr>
          </a:p>
          <a:p>
            <a:pPr lvl="1">
              <a:buNone/>
            </a:pPr>
            <a:r>
              <a:rPr lang="en-US" altLang="zh-TW" dirty="0" smtClean="0">
                <a:latin typeface="標楷體" pitchFamily="65" charset="-120"/>
                <a:ea typeface="標楷體" pitchFamily="65" charset="-120"/>
              </a:rPr>
              <a:t>	</a:t>
            </a:r>
            <a:r>
              <a:rPr lang="en-US" altLang="zh-TW" dirty="0" smtClean="0">
                <a:solidFill>
                  <a:schemeClr val="tx2"/>
                </a:solidFill>
                <a:latin typeface="標楷體" pitchFamily="65" charset="-120"/>
                <a:ea typeface="標楷體" pitchFamily="65" charset="-120"/>
              </a:rPr>
              <a:t>y= </a:t>
            </a:r>
            <a:r>
              <a:rPr lang="en-US" altLang="zh-TW" dirty="0">
                <a:solidFill>
                  <a:schemeClr val="tx2"/>
                </a:solidFill>
                <a:latin typeface="標楷體" pitchFamily="65" charset="-120"/>
                <a:ea typeface="標楷體" pitchFamily="65" charset="-120"/>
              </a:rPr>
              <a:t>f</a:t>
            </a:r>
            <a:r>
              <a:rPr lang="zh-TW" altLang="en-US" dirty="0">
                <a:solidFill>
                  <a:schemeClr val="tx2"/>
                </a:solidFill>
                <a:latin typeface="標楷體" pitchFamily="65" charset="-120"/>
                <a:ea typeface="標楷體" pitchFamily="65" charset="-120"/>
              </a:rPr>
              <a:t>（</a:t>
            </a:r>
            <a:r>
              <a:rPr lang="en-US" altLang="zh-TW" dirty="0" smtClean="0">
                <a:solidFill>
                  <a:schemeClr val="tx2"/>
                </a:solidFill>
                <a:latin typeface="標楷體" pitchFamily="65" charset="-120"/>
                <a:ea typeface="標楷體" pitchFamily="65" charset="-120"/>
              </a:rPr>
              <a:t>x</a:t>
            </a:r>
            <a:r>
              <a:rPr lang="zh-TW" altLang="en-US" dirty="0" smtClean="0">
                <a:solidFill>
                  <a:schemeClr val="tx2"/>
                </a:solidFill>
                <a:latin typeface="標楷體" pitchFamily="65" charset="-120"/>
                <a:ea typeface="標楷體" pitchFamily="65" charset="-120"/>
              </a:rPr>
              <a:t>）</a:t>
            </a:r>
            <a:endParaRPr lang="zh-TW" altLang="en-US" dirty="0">
              <a:solidFill>
                <a:schemeClr val="tx2"/>
              </a:solidFill>
              <a:latin typeface="標楷體" pitchFamily="65" charset="-120"/>
              <a:ea typeface="標楷體" pitchFamily="65"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Simple Linear Regression Model</a:t>
            </a:r>
            <a:endParaRPr lang="zh-TW" altLang="en-US" dirty="0"/>
          </a:p>
        </p:txBody>
      </p:sp>
      <p:sp>
        <p:nvSpPr>
          <p:cNvPr id="3" name="內容版面配置區 2"/>
          <p:cNvSpPr>
            <a:spLocks noGrp="1"/>
          </p:cNvSpPr>
          <p:nvPr>
            <p:ph idx="1"/>
          </p:nvPr>
        </p:nvSpPr>
        <p:spPr/>
        <p:txBody>
          <a:bodyPr/>
          <a:lstStyle/>
          <a:p>
            <a:r>
              <a:rPr lang="en-US" altLang="zh-TW" dirty="0" smtClean="0">
                <a:hlinkClick r:id="rId2"/>
              </a:rPr>
              <a:t>http://home.educities.edu.tw/rebecca0924/stat/regression/index.html</a:t>
            </a:r>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a:t>
            </a:r>
            <a:endParaRPr lang="zh-TW" altLang="en-US" dirty="0"/>
          </a:p>
        </p:txBody>
      </p:sp>
      <p:sp>
        <p:nvSpPr>
          <p:cNvPr id="3" name="內容版面配置區 2"/>
          <p:cNvSpPr>
            <a:spLocks noGrp="1"/>
          </p:cNvSpPr>
          <p:nvPr>
            <p:ph idx="1"/>
          </p:nvPr>
        </p:nvSpPr>
        <p:spPr>
          <a:xfrm>
            <a:off x="457200" y="1600201"/>
            <a:ext cx="8229600" cy="2116832"/>
          </a:xfrm>
        </p:spPr>
        <p:txBody>
          <a:bodyPr>
            <a:normAutofit fontScale="85000" lnSpcReduction="10000"/>
          </a:bodyPr>
          <a:lstStyle/>
          <a:p>
            <a:r>
              <a:rPr lang="zh-TW" altLang="en-US" dirty="0" smtClean="0">
                <a:latin typeface="標楷體" pitchFamily="65" charset="-120"/>
                <a:ea typeface="標楷體" pitchFamily="65" charset="-120"/>
              </a:rPr>
              <a:t>透過驗證「前後兩年學生對校系的基礎評價不變」的基本假設是否成立時，我們必須計算此四種評價指標，前後兩年的樣本相關係數，當相關係數高時，基本假設變成立。同時我們也將利用簡單線性迴歸模型去建立前後兩年預測指標的關係，即</a:t>
            </a:r>
            <a:endParaRPr lang="en-US" altLang="zh-TW" dirty="0" smtClean="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2289175" y="3937000"/>
          <a:ext cx="4600575" cy="1504950"/>
        </p:xfrm>
        <a:graphic>
          <a:graphicData uri="http://schemas.openxmlformats.org/presentationml/2006/ole">
            <p:oleObj spid="_x0000_s22530" name="方程式" r:id="rId4" imgW="1485720" imgH="482400" progId="Equation.3">
              <p:embed/>
            </p:oleObj>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a:t>
            </a:r>
            <a:endParaRPr lang="zh-TW" altLang="en-US" dirty="0">
              <a:latin typeface="標楷體" pitchFamily="65" charset="-120"/>
              <a:ea typeface="標楷體" pitchFamily="65" charset="-120"/>
            </a:endParaRPr>
          </a:p>
        </p:txBody>
      </p:sp>
      <p:graphicFrame>
        <p:nvGraphicFramePr>
          <p:cNvPr id="4" name="內容版面配置區 3"/>
          <p:cNvGraphicFramePr>
            <a:graphicFrameLocks noChangeAspect="1"/>
          </p:cNvGraphicFramePr>
          <p:nvPr>
            <p:ph idx="1"/>
          </p:nvPr>
        </p:nvGraphicFramePr>
        <p:xfrm>
          <a:off x="2192364" y="1428736"/>
          <a:ext cx="4732283" cy="1131803"/>
        </p:xfrm>
        <a:graphic>
          <a:graphicData uri="http://schemas.openxmlformats.org/presentationml/2006/ole">
            <p:oleObj spid="_x0000_s19458" name="方程式" r:id="rId3" imgW="2336760" imgH="558720" progId="Equation.3">
              <p:embed/>
            </p:oleObj>
          </a:graphicData>
        </a:graphic>
      </p:graphicFrame>
      <p:graphicFrame>
        <p:nvGraphicFramePr>
          <p:cNvPr id="19460" name="內容版面配置區 3"/>
          <p:cNvGraphicFramePr>
            <a:graphicFrameLocks noChangeAspect="1"/>
          </p:cNvGraphicFramePr>
          <p:nvPr/>
        </p:nvGraphicFramePr>
        <p:xfrm>
          <a:off x="2192012" y="2653026"/>
          <a:ext cx="4707234" cy="1142761"/>
        </p:xfrm>
        <a:graphic>
          <a:graphicData uri="http://schemas.openxmlformats.org/presentationml/2006/ole">
            <p:oleObj spid="_x0000_s19460" name="方程式" r:id="rId4" imgW="2298600" imgH="558720" progId="Equation.3">
              <p:embed/>
            </p:oleObj>
          </a:graphicData>
        </a:graphic>
      </p:graphicFrame>
      <p:graphicFrame>
        <p:nvGraphicFramePr>
          <p:cNvPr id="19461" name="內容版面配置區 3"/>
          <p:cNvGraphicFramePr>
            <a:graphicFrameLocks noChangeAspect="1"/>
          </p:cNvGraphicFramePr>
          <p:nvPr/>
        </p:nvGraphicFramePr>
        <p:xfrm>
          <a:off x="2193918" y="3878246"/>
          <a:ext cx="4707233" cy="1219466"/>
        </p:xfrm>
        <a:graphic>
          <a:graphicData uri="http://schemas.openxmlformats.org/presentationml/2006/ole">
            <p:oleObj spid="_x0000_s19461" name="方程式" r:id="rId5" imgW="2298600" imgH="596880" progId="Equation.3">
              <p:embed/>
            </p:oleObj>
          </a:graphicData>
        </a:graphic>
      </p:graphicFrame>
      <p:graphicFrame>
        <p:nvGraphicFramePr>
          <p:cNvPr id="19462" name="內容版面配置區 3"/>
          <p:cNvGraphicFramePr>
            <a:graphicFrameLocks noChangeAspect="1"/>
          </p:cNvGraphicFramePr>
          <p:nvPr/>
        </p:nvGraphicFramePr>
        <p:xfrm>
          <a:off x="2193918" y="5246398"/>
          <a:ext cx="4707233" cy="1219466"/>
        </p:xfrm>
        <a:graphic>
          <a:graphicData uri="http://schemas.openxmlformats.org/presentationml/2006/ole">
            <p:oleObj spid="_x0000_s19462" name="方程式" r:id="rId6" imgW="2298600" imgH="596880" progId="Equation.3">
              <p:embed/>
            </p:oleObj>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考科平均數與標準差的估計</a:t>
            </a:r>
            <a:endParaRPr lang="zh-TW" altLang="en-US" dirty="0">
              <a:latin typeface="標楷體" pitchFamily="65" charset="-120"/>
              <a:ea typeface="標楷體" pitchFamily="65" charset="-120"/>
            </a:endParaRPr>
          </a:p>
        </p:txBody>
      </p:sp>
      <p:pic>
        <p:nvPicPr>
          <p:cNvPr id="23554" name="Picture 2"/>
          <p:cNvPicPr>
            <a:picLocks noGrp="1" noChangeAspect="1" noChangeArrowheads="1"/>
          </p:cNvPicPr>
          <p:nvPr>
            <p:ph idx="1"/>
          </p:nvPr>
        </p:nvPicPr>
        <p:blipFill>
          <a:blip r:embed="rId2" cstate="print"/>
          <a:srcRect/>
          <a:stretch>
            <a:fillRect/>
          </a:stretch>
        </p:blipFill>
        <p:spPr bwMode="auto">
          <a:xfrm>
            <a:off x="107504" y="1772816"/>
            <a:ext cx="8949060" cy="4104456"/>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預測模型中參數的探討 </a:t>
            </a:r>
            <a:endParaRPr lang="zh-TW" altLang="en-US" dirty="0"/>
          </a:p>
        </p:txBody>
      </p:sp>
      <p:pic>
        <p:nvPicPr>
          <p:cNvPr id="28674" name="Picture 2"/>
          <p:cNvPicPr>
            <a:picLocks noGrp="1" noChangeAspect="1" noChangeArrowheads="1"/>
          </p:cNvPicPr>
          <p:nvPr>
            <p:ph idx="1"/>
          </p:nvPr>
        </p:nvPicPr>
        <p:blipFill>
          <a:blip r:embed="rId2" cstate="print"/>
          <a:srcRect b="3908"/>
          <a:stretch>
            <a:fillRect/>
          </a:stretch>
        </p:blipFill>
        <p:spPr bwMode="auto">
          <a:xfrm>
            <a:off x="1763688" y="1268760"/>
            <a:ext cx="5616624" cy="5427301"/>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預測模型中參數的探討 </a:t>
            </a:r>
            <a:endParaRPr lang="zh-TW" altLang="en-US" dirty="0"/>
          </a:p>
        </p:txBody>
      </p:sp>
      <p:pic>
        <p:nvPicPr>
          <p:cNvPr id="29698" name="Picture 2"/>
          <p:cNvPicPr>
            <a:picLocks noGrp="1" noChangeAspect="1" noChangeArrowheads="1"/>
          </p:cNvPicPr>
          <p:nvPr>
            <p:ph idx="1"/>
          </p:nvPr>
        </p:nvPicPr>
        <p:blipFill>
          <a:blip r:embed="rId2" cstate="print"/>
          <a:srcRect b="3908"/>
          <a:stretch>
            <a:fillRect/>
          </a:stretch>
        </p:blipFill>
        <p:spPr bwMode="auto">
          <a:xfrm>
            <a:off x="827584" y="1412776"/>
            <a:ext cx="7419551" cy="5112568"/>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預測模型中參數的探討 </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normAutofit/>
          </a:bodyPr>
          <a:lstStyle/>
          <a:p>
            <a:r>
              <a:rPr lang="zh-TW" altLang="en-US" dirty="0" smtClean="0">
                <a:latin typeface="標楷體" pitchFamily="65" charset="-120"/>
                <a:ea typeface="標楷體" pitchFamily="65" charset="-120"/>
              </a:rPr>
              <a:t>虛無假設</a:t>
            </a:r>
            <a:r>
              <a:rPr lang="en-US" altLang="zh-TW" dirty="0" smtClean="0">
                <a:latin typeface="標楷體" pitchFamily="65" charset="-120"/>
                <a:ea typeface="標楷體" pitchFamily="65" charset="-120"/>
              </a:rPr>
              <a:t>:</a:t>
            </a:r>
          </a:p>
          <a:p>
            <a:pPr lvl="1"/>
            <a:r>
              <a:rPr lang="en-US" altLang="zh-TW" dirty="0" smtClean="0">
                <a:latin typeface="標楷體" pitchFamily="65" charset="-120"/>
                <a:ea typeface="標楷體" pitchFamily="65" charset="-120"/>
              </a:rPr>
              <a:t> </a:t>
            </a:r>
          </a:p>
          <a:p>
            <a:pPr lvl="1"/>
            <a:r>
              <a:rPr lang="en-US" altLang="zh-TW" dirty="0" smtClean="0">
                <a:latin typeface="標楷體" pitchFamily="65" charset="-120"/>
                <a:ea typeface="標楷體" pitchFamily="65" charset="-120"/>
              </a:rPr>
              <a:t> </a:t>
            </a:r>
          </a:p>
          <a:p>
            <a:r>
              <a:rPr lang="zh-TW" altLang="en-US" dirty="0" smtClean="0">
                <a:latin typeface="標楷體" pitchFamily="65" charset="-120"/>
                <a:ea typeface="標楷體" pitchFamily="65" charset="-120"/>
              </a:rPr>
              <a:t>統計檢定</a:t>
            </a:r>
            <a:r>
              <a:rPr lang="en-US" altLang="zh-TW" dirty="0" smtClean="0">
                <a:latin typeface="標楷體" pitchFamily="65" charset="-120"/>
                <a:ea typeface="標楷體" pitchFamily="65" charset="-120"/>
              </a:rPr>
              <a:t>:</a:t>
            </a:r>
          </a:p>
          <a:p>
            <a:pPr lvl="1"/>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表示檢定</a:t>
            </a:r>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    </a:t>
            </a:r>
            <a:r>
              <a:rPr lang="zh-TW" altLang="en-US" dirty="0" smtClean="0">
                <a:latin typeface="標楷體" pitchFamily="65" charset="-120"/>
                <a:ea typeface="標楷體" pitchFamily="65" charset="-120"/>
              </a:rPr>
              <a:t>表示檢定</a:t>
            </a:r>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判定係數</a:t>
            </a:r>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 </a:t>
            </a:r>
          </a:p>
        </p:txBody>
      </p:sp>
      <p:graphicFrame>
        <p:nvGraphicFramePr>
          <p:cNvPr id="4" name="物件 3"/>
          <p:cNvGraphicFramePr>
            <a:graphicFrameLocks noChangeAspect="1"/>
          </p:cNvGraphicFramePr>
          <p:nvPr/>
        </p:nvGraphicFramePr>
        <p:xfrm>
          <a:off x="1475656" y="2205038"/>
          <a:ext cx="3236912" cy="504825"/>
        </p:xfrm>
        <a:graphic>
          <a:graphicData uri="http://schemas.openxmlformats.org/presentationml/2006/ole">
            <p:oleObj spid="_x0000_s24578" name="方程式" r:id="rId3" imgW="1549080" imgH="241200" progId="Equation.3">
              <p:embed/>
            </p:oleObj>
          </a:graphicData>
        </a:graphic>
      </p:graphicFrame>
      <p:graphicFrame>
        <p:nvGraphicFramePr>
          <p:cNvPr id="24579" name="Object 3"/>
          <p:cNvGraphicFramePr>
            <a:graphicFrameLocks noChangeAspect="1"/>
          </p:cNvGraphicFramePr>
          <p:nvPr/>
        </p:nvGraphicFramePr>
        <p:xfrm>
          <a:off x="1475656" y="2708920"/>
          <a:ext cx="3184525" cy="504825"/>
        </p:xfrm>
        <a:graphic>
          <a:graphicData uri="http://schemas.openxmlformats.org/presentationml/2006/ole">
            <p:oleObj spid="_x0000_s24579" name="方程式" r:id="rId4" imgW="1523880" imgH="241200" progId="Equation.3">
              <p:embed/>
            </p:oleObj>
          </a:graphicData>
        </a:graphic>
      </p:graphicFrame>
      <p:graphicFrame>
        <p:nvGraphicFramePr>
          <p:cNvPr id="24580" name="Object 4"/>
          <p:cNvGraphicFramePr>
            <a:graphicFrameLocks noChangeAspect="1"/>
          </p:cNvGraphicFramePr>
          <p:nvPr/>
        </p:nvGraphicFramePr>
        <p:xfrm>
          <a:off x="3491880" y="3789040"/>
          <a:ext cx="1857375" cy="504825"/>
        </p:xfrm>
        <a:graphic>
          <a:graphicData uri="http://schemas.openxmlformats.org/presentationml/2006/ole">
            <p:oleObj spid="_x0000_s24580" name="方程式" r:id="rId5" imgW="888840" imgH="241200" progId="Equation.3">
              <p:embed/>
            </p:oleObj>
          </a:graphicData>
        </a:graphic>
      </p:graphicFrame>
      <p:graphicFrame>
        <p:nvGraphicFramePr>
          <p:cNvPr id="24581" name="Object 5"/>
          <p:cNvGraphicFramePr>
            <a:graphicFrameLocks noChangeAspect="1"/>
          </p:cNvGraphicFramePr>
          <p:nvPr/>
        </p:nvGraphicFramePr>
        <p:xfrm>
          <a:off x="1547664" y="3789040"/>
          <a:ext cx="450850" cy="479425"/>
        </p:xfrm>
        <a:graphic>
          <a:graphicData uri="http://schemas.openxmlformats.org/presentationml/2006/ole">
            <p:oleObj spid="_x0000_s24581" name="方程式" r:id="rId6" imgW="215640" imgH="228600" progId="Equation.3">
              <p:embed/>
            </p:oleObj>
          </a:graphicData>
        </a:graphic>
      </p:graphicFrame>
      <p:graphicFrame>
        <p:nvGraphicFramePr>
          <p:cNvPr id="24582" name="Object 6"/>
          <p:cNvGraphicFramePr>
            <a:graphicFrameLocks noChangeAspect="1"/>
          </p:cNvGraphicFramePr>
          <p:nvPr/>
        </p:nvGraphicFramePr>
        <p:xfrm>
          <a:off x="3517900" y="4365625"/>
          <a:ext cx="1804988" cy="504825"/>
        </p:xfrm>
        <a:graphic>
          <a:graphicData uri="http://schemas.openxmlformats.org/presentationml/2006/ole">
            <p:oleObj spid="_x0000_s24582" name="方程式" r:id="rId7" imgW="863280" imgH="241200" progId="Equation.3">
              <p:embed/>
            </p:oleObj>
          </a:graphicData>
        </a:graphic>
      </p:graphicFrame>
      <p:graphicFrame>
        <p:nvGraphicFramePr>
          <p:cNvPr id="24583" name="Object 7"/>
          <p:cNvGraphicFramePr>
            <a:graphicFrameLocks noChangeAspect="1"/>
          </p:cNvGraphicFramePr>
          <p:nvPr/>
        </p:nvGraphicFramePr>
        <p:xfrm>
          <a:off x="1547664" y="4365104"/>
          <a:ext cx="450850" cy="479425"/>
        </p:xfrm>
        <a:graphic>
          <a:graphicData uri="http://schemas.openxmlformats.org/presentationml/2006/ole">
            <p:oleObj spid="_x0000_s24583" name="方程式" r:id="rId8" imgW="215640" imgH="228600" progId="Equation.3">
              <p:embed/>
            </p:oleObj>
          </a:graphicData>
        </a:graphic>
      </p:graphicFrame>
      <p:graphicFrame>
        <p:nvGraphicFramePr>
          <p:cNvPr id="24585" name="Object 9"/>
          <p:cNvGraphicFramePr>
            <a:graphicFrameLocks noChangeAspect="1"/>
          </p:cNvGraphicFramePr>
          <p:nvPr/>
        </p:nvGraphicFramePr>
        <p:xfrm>
          <a:off x="1495425" y="5418138"/>
          <a:ext cx="557213" cy="533400"/>
        </p:xfrm>
        <a:graphic>
          <a:graphicData uri="http://schemas.openxmlformats.org/presentationml/2006/ole">
            <p:oleObj spid="_x0000_s24585" name="方程式" r:id="rId9" imgW="266400" imgH="253800" progId="Equation.3">
              <p:embed/>
            </p:oleObj>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虛無假設</a:t>
            </a:r>
            <a:endParaRPr lang="zh-TW" altLang="en-US" dirty="0"/>
          </a:p>
        </p:txBody>
      </p:sp>
      <p:sp>
        <p:nvSpPr>
          <p:cNvPr id="3" name="內容版面配置區 2"/>
          <p:cNvSpPr>
            <a:spLocks noGrp="1"/>
          </p:cNvSpPr>
          <p:nvPr>
            <p:ph idx="1"/>
          </p:nvPr>
        </p:nvSpPr>
        <p:spPr/>
        <p:txBody>
          <a:bodyPr>
            <a:normAutofit fontScale="77500" lnSpcReduction="20000"/>
          </a:bodyPr>
          <a:lstStyle/>
          <a:p>
            <a:r>
              <a:rPr lang="zh-TW" altLang="en-US" dirty="0" smtClean="0">
                <a:latin typeface="標楷體" pitchFamily="65" charset="-120"/>
                <a:ea typeface="標楷體" pitchFamily="65" charset="-120"/>
              </a:rPr>
              <a:t>假設檢定的第一步驟是建立待檢驗的假設，稱為虛無假設</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符號標示為</a:t>
            </a:r>
            <a:r>
              <a:rPr lang="en-US" altLang="zh-TW" b="1" dirty="0" smtClean="0">
                <a:solidFill>
                  <a:srgbClr val="FF0000"/>
                </a:solidFill>
                <a:latin typeface="標楷體" pitchFamily="65" charset="-120"/>
                <a:ea typeface="標楷體" pitchFamily="65" charset="-120"/>
              </a:rPr>
              <a:t>H</a:t>
            </a:r>
            <a:r>
              <a:rPr lang="en-US" altLang="zh-TW" b="1" baseline="-25000" dirty="0" smtClean="0">
                <a:solidFill>
                  <a:srgbClr val="FF0000"/>
                </a:solidFill>
                <a:latin typeface="標楷體" pitchFamily="65" charset="-120"/>
                <a:ea typeface="標楷體" pitchFamily="65" charset="-120"/>
              </a:rPr>
              <a:t>0</a:t>
            </a:r>
            <a:r>
              <a:rPr lang="zh-TW" altLang="en-US" dirty="0" smtClean="0">
                <a:latin typeface="標楷體" pitchFamily="65" charset="-120"/>
                <a:ea typeface="標楷體" pitchFamily="65" charset="-120"/>
              </a:rPr>
              <a:t>，其中大寫字母</a:t>
            </a:r>
            <a:r>
              <a:rPr lang="en-US" altLang="zh-TW" dirty="0" smtClean="0">
                <a:latin typeface="標楷體" pitchFamily="65" charset="-120"/>
                <a:ea typeface="標楷體" pitchFamily="65" charset="-120"/>
              </a:rPr>
              <a:t>H</a:t>
            </a:r>
            <a:r>
              <a:rPr lang="zh-TW" altLang="en-US" dirty="0" smtClean="0">
                <a:latin typeface="標楷體" pitchFamily="65" charset="-120"/>
                <a:ea typeface="標楷體" pitchFamily="65" charset="-120"/>
              </a:rPr>
              <a:t>代表假設</a:t>
            </a:r>
            <a:r>
              <a:rPr lang="en-US" altLang="zh-TW" dirty="0" smtClean="0">
                <a:latin typeface="標楷體" pitchFamily="65" charset="-120"/>
                <a:ea typeface="標楷體" pitchFamily="65" charset="-120"/>
              </a:rPr>
              <a:t>(hypothesis)</a:t>
            </a:r>
            <a:r>
              <a:rPr lang="zh-TW" altLang="en-US" dirty="0" smtClean="0">
                <a:latin typeface="標楷體" pitchFamily="65" charset="-120"/>
                <a:ea typeface="標楷體" pitchFamily="65" charset="-120"/>
              </a:rPr>
              <a:t>以及下標</a:t>
            </a:r>
            <a:r>
              <a:rPr lang="en-US" altLang="zh-TW" dirty="0" smtClean="0">
                <a:latin typeface="標楷體" pitchFamily="65" charset="-120"/>
                <a:ea typeface="標楷體" pitchFamily="65" charset="-120"/>
              </a:rPr>
              <a:t>0</a:t>
            </a:r>
            <a:r>
              <a:rPr lang="zh-TW" altLang="en-US" dirty="0" smtClean="0">
                <a:latin typeface="標楷體" pitchFamily="65" charset="-120"/>
                <a:ea typeface="標楷體" pitchFamily="65" charset="-120"/>
              </a:rPr>
              <a:t>代表</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沒有差異</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在虛無假設的敘述中，通常都會包含</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不</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或是</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沒有</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的字，表示沒有改變。</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對立假設為拒絕虛無假設時，所下的結論。</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對立假設寫成</a:t>
            </a:r>
            <a:r>
              <a:rPr lang="en-US" altLang="zh-TW" b="1" dirty="0" smtClean="0">
                <a:solidFill>
                  <a:srgbClr val="FF0000"/>
                </a:solidFill>
                <a:latin typeface="標楷體" pitchFamily="65" charset="-120"/>
                <a:ea typeface="標楷體" pitchFamily="65" charset="-120"/>
              </a:rPr>
              <a:t>H</a:t>
            </a:r>
            <a:r>
              <a:rPr lang="en-US" altLang="zh-TW" b="1" baseline="-25000" dirty="0" smtClean="0">
                <a:solidFill>
                  <a:srgbClr val="FF0000"/>
                </a:solidFill>
                <a:latin typeface="標楷體" pitchFamily="65" charset="-120"/>
                <a:ea typeface="標楷體" pitchFamily="65" charset="-120"/>
              </a:rPr>
              <a:t>1</a:t>
            </a:r>
            <a:r>
              <a:rPr lang="zh-TW" altLang="en-US" dirty="0" smtClean="0">
                <a:latin typeface="標楷體" pitchFamily="65" charset="-120"/>
                <a:ea typeface="標楷體" pitchFamily="65" charset="-120"/>
              </a:rPr>
              <a:t>，如果樣本資料提供足夠的統計證據顯示虛無假設不為真，則接受對立假設。</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虛無假設</a:t>
            </a:r>
            <a:r>
              <a:rPr lang="en-US" altLang="zh-TW" dirty="0" smtClean="0">
                <a:latin typeface="標楷體" pitchFamily="65" charset="-120"/>
                <a:ea typeface="標楷體" pitchFamily="65" charset="-120"/>
              </a:rPr>
              <a:t>(</a:t>
            </a:r>
            <a:r>
              <a:rPr lang="en-US" altLang="zh-TW" dirty="0" smtClean="0">
                <a:solidFill>
                  <a:srgbClr val="FF0000"/>
                </a:solidFill>
                <a:latin typeface="標楷體" pitchFamily="65" charset="-120"/>
                <a:ea typeface="標楷體" pitchFamily="65" charset="-120"/>
              </a:rPr>
              <a:t>Null Hypothesis</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：關於某母體參數的敘述。</a:t>
            </a:r>
          </a:p>
          <a:p>
            <a:pPr lvl="1"/>
            <a:r>
              <a:rPr lang="zh-TW" altLang="en-US" dirty="0" smtClean="0">
                <a:latin typeface="標楷體" pitchFamily="65" charset="-120"/>
                <a:ea typeface="標楷體" pitchFamily="65" charset="-120"/>
              </a:rPr>
              <a:t>對立假設</a:t>
            </a:r>
            <a:r>
              <a:rPr lang="en-US" altLang="zh-TW" dirty="0" smtClean="0">
                <a:latin typeface="標楷體" pitchFamily="65" charset="-120"/>
                <a:ea typeface="標楷體" pitchFamily="65" charset="-120"/>
              </a:rPr>
              <a:t>(</a:t>
            </a:r>
            <a:r>
              <a:rPr lang="en-US" altLang="zh-TW" dirty="0" smtClean="0">
                <a:solidFill>
                  <a:srgbClr val="FF0000"/>
                </a:solidFill>
                <a:latin typeface="標楷體" pitchFamily="65" charset="-120"/>
                <a:ea typeface="標楷體" pitchFamily="65" charset="-120"/>
              </a:rPr>
              <a:t>Alternate Hypothesis</a:t>
            </a:r>
            <a:r>
              <a:rPr lang="en-US" altLang="zh-TW" dirty="0" smtClean="0">
                <a:latin typeface="標楷體" pitchFamily="65" charset="-120"/>
                <a:ea typeface="標楷體" pitchFamily="65" charset="-120"/>
              </a:rPr>
              <a:t>)</a:t>
            </a:r>
            <a:r>
              <a:rPr lang="zh-TW" altLang="en-US" dirty="0" smtClean="0">
                <a:latin typeface="標楷體" pitchFamily="65" charset="-120"/>
                <a:ea typeface="標楷體" pitchFamily="65" charset="-120"/>
              </a:rPr>
              <a:t>：當樣本資料提供足夠證據顯示虛無假設不為真時，所接受的敘述。</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統計檢定的結果只有「拒絕」虛無假設以及「不拒絕」虛無假設，沒有「接受」虛無假設這種說法</a:t>
            </a:r>
          </a:p>
          <a:p>
            <a:endParaRPr lang="en-US" altLang="zh-TW" dirty="0" smtClean="0">
              <a:latin typeface="標楷體" pitchFamily="65" charset="-120"/>
              <a:ea typeface="標楷體" pitchFamily="65"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虛無假設</a:t>
            </a:r>
            <a:endParaRPr lang="zh-TW" altLang="en-US" dirty="0"/>
          </a:p>
        </p:txBody>
      </p:sp>
      <p:graphicFrame>
        <p:nvGraphicFramePr>
          <p:cNvPr id="4" name="表格 3"/>
          <p:cNvGraphicFramePr>
            <a:graphicFrameLocks noGrp="1"/>
          </p:cNvGraphicFramePr>
          <p:nvPr/>
        </p:nvGraphicFramePr>
        <p:xfrm>
          <a:off x="755576" y="2348880"/>
          <a:ext cx="7632846" cy="2969488"/>
        </p:xfrm>
        <a:graphic>
          <a:graphicData uri="http://schemas.openxmlformats.org/drawingml/2006/table">
            <a:tbl>
              <a:tblPr firstRow="1" bandRow="1">
                <a:tableStyleId>{5C22544A-7EE6-4342-B048-85BDC9FD1C3A}</a:tableStyleId>
              </a:tblPr>
              <a:tblGrid>
                <a:gridCol w="2544282"/>
                <a:gridCol w="2544282"/>
                <a:gridCol w="2544282"/>
              </a:tblGrid>
              <a:tr h="936104">
                <a:tc>
                  <a:txBody>
                    <a:bodyPr/>
                    <a:lstStyle/>
                    <a:p>
                      <a:pPr algn="r">
                        <a:spcAft>
                          <a:spcPts val="0"/>
                        </a:spcAft>
                      </a:pPr>
                      <a:r>
                        <a:rPr lang="zh-TW" altLang="en-US" sz="2400" dirty="0" smtClean="0">
                          <a:latin typeface="標楷體" pitchFamily="65" charset="-120"/>
                          <a:ea typeface="標楷體" pitchFamily="65" charset="-120"/>
                        </a:rPr>
                        <a:t>真實</a:t>
                      </a:r>
                      <a:r>
                        <a:rPr lang="zh-TW" altLang="en-US" sz="2400" dirty="0">
                          <a:latin typeface="標楷體" pitchFamily="65" charset="-120"/>
                          <a:ea typeface="標楷體" pitchFamily="65" charset="-120"/>
                        </a:rPr>
                        <a:t>情況</a:t>
                      </a:r>
                    </a:p>
                    <a:p>
                      <a:pPr>
                        <a:spcAft>
                          <a:spcPts val="0"/>
                        </a:spcAft>
                      </a:pPr>
                      <a:endParaRPr lang="en-US" altLang="zh-TW" sz="2400" dirty="0" smtClean="0">
                        <a:latin typeface="標楷體" pitchFamily="65" charset="-120"/>
                        <a:ea typeface="標楷體" pitchFamily="65" charset="-120"/>
                      </a:endParaRPr>
                    </a:p>
                    <a:p>
                      <a:pPr>
                        <a:spcAft>
                          <a:spcPts val="0"/>
                        </a:spcAft>
                      </a:pPr>
                      <a:r>
                        <a:rPr lang="zh-TW" altLang="en-US" sz="2400" dirty="0" smtClean="0">
                          <a:latin typeface="標楷體" pitchFamily="65" charset="-120"/>
                          <a:ea typeface="標楷體" pitchFamily="65" charset="-120"/>
                        </a:rPr>
                        <a:t>檢定</a:t>
                      </a:r>
                      <a:r>
                        <a:rPr lang="zh-TW" altLang="en-US" sz="2400" dirty="0">
                          <a:latin typeface="標楷體" pitchFamily="65" charset="-120"/>
                          <a:ea typeface="標楷體" pitchFamily="65" charset="-120"/>
                        </a:rPr>
                        <a:t>結果</a:t>
                      </a:r>
                    </a:p>
                  </a:txBody>
                  <a:tcPr marL="68580" marR="68580" marT="0" marB="0"/>
                </a:tc>
                <a:tc>
                  <a:txBody>
                    <a:bodyPr/>
                    <a:lstStyle/>
                    <a:p>
                      <a:pPr algn="ctr">
                        <a:spcAft>
                          <a:spcPts val="0"/>
                        </a:spcAft>
                      </a:pPr>
                      <a:r>
                        <a:rPr lang="en-US" sz="2800" dirty="0">
                          <a:latin typeface="標楷體" pitchFamily="65" charset="-120"/>
                          <a:ea typeface="標楷體" pitchFamily="65" charset="-120"/>
                        </a:rPr>
                        <a:t>H</a:t>
                      </a:r>
                      <a:r>
                        <a:rPr lang="en-US" sz="2800" baseline="-25000" dirty="0">
                          <a:latin typeface="標楷體" pitchFamily="65" charset="-120"/>
                          <a:ea typeface="標楷體" pitchFamily="65" charset="-120"/>
                        </a:rPr>
                        <a:t>0</a:t>
                      </a:r>
                      <a:r>
                        <a:rPr lang="zh-TW" altLang="en-US" sz="2800" dirty="0">
                          <a:latin typeface="標楷體" pitchFamily="65" charset="-120"/>
                          <a:ea typeface="標楷體" pitchFamily="65" charset="-120"/>
                        </a:rPr>
                        <a:t>為真</a:t>
                      </a:r>
                    </a:p>
                  </a:txBody>
                  <a:tcPr marL="68580" marR="68580" marT="0" marB="0" anchor="ctr"/>
                </a:tc>
                <a:tc>
                  <a:txBody>
                    <a:bodyPr/>
                    <a:lstStyle/>
                    <a:p>
                      <a:pPr algn="ctr">
                        <a:spcAft>
                          <a:spcPts val="0"/>
                        </a:spcAft>
                      </a:pPr>
                      <a:r>
                        <a:rPr lang="en-US" sz="2800" dirty="0">
                          <a:latin typeface="標楷體" pitchFamily="65" charset="-120"/>
                          <a:ea typeface="標楷體" pitchFamily="65" charset="-120"/>
                        </a:rPr>
                        <a:t>H</a:t>
                      </a:r>
                      <a:r>
                        <a:rPr lang="en-US" sz="2800" baseline="-25000" dirty="0">
                          <a:latin typeface="標楷體" pitchFamily="65" charset="-120"/>
                          <a:ea typeface="標楷體" pitchFamily="65" charset="-120"/>
                        </a:rPr>
                        <a:t>0</a:t>
                      </a:r>
                      <a:r>
                        <a:rPr lang="zh-TW" altLang="en-US" sz="2800" dirty="0">
                          <a:latin typeface="標楷體" pitchFamily="65" charset="-120"/>
                          <a:ea typeface="標楷體" pitchFamily="65" charset="-120"/>
                        </a:rPr>
                        <a:t>不真</a:t>
                      </a:r>
                    </a:p>
                    <a:p>
                      <a:pPr algn="ctr">
                        <a:spcAft>
                          <a:spcPts val="0"/>
                        </a:spcAft>
                      </a:pPr>
                      <a:r>
                        <a:rPr lang="en-US" altLang="zh-TW" sz="2800" dirty="0">
                          <a:latin typeface="標楷體" pitchFamily="65" charset="-120"/>
                          <a:ea typeface="標楷體" pitchFamily="65" charset="-120"/>
                        </a:rPr>
                        <a:t>(</a:t>
                      </a:r>
                      <a:r>
                        <a:rPr lang="en-US" sz="2800" dirty="0">
                          <a:latin typeface="標楷體" pitchFamily="65" charset="-120"/>
                          <a:ea typeface="標楷體" pitchFamily="65" charset="-120"/>
                        </a:rPr>
                        <a:t>H</a:t>
                      </a:r>
                      <a:r>
                        <a:rPr lang="en-US" sz="2800" baseline="-25000" dirty="0">
                          <a:latin typeface="標楷體" pitchFamily="65" charset="-120"/>
                          <a:ea typeface="標楷體" pitchFamily="65" charset="-120"/>
                        </a:rPr>
                        <a:t>1</a:t>
                      </a:r>
                      <a:r>
                        <a:rPr lang="zh-TW" altLang="en-US" sz="2800" dirty="0">
                          <a:latin typeface="標楷體" pitchFamily="65" charset="-120"/>
                          <a:ea typeface="標楷體" pitchFamily="65" charset="-120"/>
                        </a:rPr>
                        <a:t>為真</a:t>
                      </a:r>
                      <a:r>
                        <a:rPr lang="en-US" altLang="zh-TW" sz="2800" dirty="0">
                          <a:latin typeface="標楷體" pitchFamily="65" charset="-120"/>
                          <a:ea typeface="標楷體" pitchFamily="65" charset="-120"/>
                        </a:rPr>
                        <a:t>)</a:t>
                      </a:r>
                      <a:endParaRPr lang="zh-TW" altLang="en-US" sz="2800" dirty="0">
                        <a:latin typeface="標楷體" pitchFamily="65" charset="-120"/>
                        <a:ea typeface="標楷體" pitchFamily="65" charset="-120"/>
                      </a:endParaRPr>
                    </a:p>
                  </a:txBody>
                  <a:tcPr marL="68580" marR="68580" marT="0" marB="0" anchor="ctr"/>
                </a:tc>
              </a:tr>
              <a:tr h="936104">
                <a:tc>
                  <a:txBody>
                    <a:bodyPr/>
                    <a:lstStyle/>
                    <a:p>
                      <a:pPr algn="ctr">
                        <a:spcAft>
                          <a:spcPts val="0"/>
                        </a:spcAft>
                      </a:pPr>
                      <a:r>
                        <a:rPr lang="zh-TW" altLang="en-US" sz="2800" dirty="0">
                          <a:latin typeface="標楷體" pitchFamily="65" charset="-120"/>
                          <a:ea typeface="標楷體" pitchFamily="65" charset="-120"/>
                        </a:rPr>
                        <a:t>不拒絕</a:t>
                      </a:r>
                      <a:r>
                        <a:rPr lang="en-US" sz="2800" dirty="0">
                          <a:latin typeface="標楷體" pitchFamily="65" charset="-120"/>
                          <a:ea typeface="標楷體" pitchFamily="65" charset="-120"/>
                        </a:rPr>
                        <a:t>H</a:t>
                      </a:r>
                      <a:r>
                        <a:rPr lang="en-US" sz="2800" baseline="-25000" dirty="0">
                          <a:latin typeface="標楷體" pitchFamily="65" charset="-120"/>
                          <a:ea typeface="標楷體" pitchFamily="65" charset="-120"/>
                        </a:rPr>
                        <a:t>0</a:t>
                      </a:r>
                      <a:endParaRPr lang="en-US" sz="2800" dirty="0">
                        <a:latin typeface="標楷體" pitchFamily="65" charset="-120"/>
                        <a:ea typeface="標楷體" pitchFamily="65" charset="-120"/>
                      </a:endParaRPr>
                    </a:p>
                  </a:txBody>
                  <a:tcPr marL="68580" marR="68580" marT="0" marB="0" anchor="ctr"/>
                </a:tc>
                <a:tc>
                  <a:txBody>
                    <a:bodyPr/>
                    <a:lstStyle/>
                    <a:p>
                      <a:pPr algn="ctr">
                        <a:spcAft>
                          <a:spcPts val="0"/>
                        </a:spcAft>
                      </a:pPr>
                      <a:r>
                        <a:rPr lang="zh-TW" altLang="en-US" sz="2800" dirty="0">
                          <a:latin typeface="標楷體" pitchFamily="65" charset="-120"/>
                          <a:ea typeface="標楷體" pitchFamily="65" charset="-120"/>
                        </a:rPr>
                        <a:t>正確結論</a:t>
                      </a:r>
                    </a:p>
                  </a:txBody>
                  <a:tcPr marL="68580" marR="68580" marT="0" marB="0" anchor="ctr"/>
                </a:tc>
                <a:tc>
                  <a:txBody>
                    <a:bodyPr/>
                    <a:lstStyle/>
                    <a:p>
                      <a:pPr algn="ctr">
                        <a:spcAft>
                          <a:spcPts val="0"/>
                        </a:spcAft>
                      </a:pPr>
                      <a:r>
                        <a:rPr lang="zh-TW" altLang="en-US" sz="2800" dirty="0">
                          <a:latin typeface="標楷體" pitchFamily="65" charset="-120"/>
                          <a:ea typeface="標楷體" pitchFamily="65" charset="-120"/>
                        </a:rPr>
                        <a:t>型</a:t>
                      </a:r>
                      <a:r>
                        <a:rPr lang="en-US" sz="2800" dirty="0">
                          <a:latin typeface="標楷體" pitchFamily="65" charset="-120"/>
                          <a:ea typeface="標楷體" pitchFamily="65" charset="-120"/>
                        </a:rPr>
                        <a:t>II</a:t>
                      </a:r>
                      <a:r>
                        <a:rPr lang="zh-TW" altLang="en-US" sz="2800" dirty="0" smtClean="0">
                          <a:latin typeface="標楷體" pitchFamily="65" charset="-120"/>
                          <a:ea typeface="標楷體" pitchFamily="65" charset="-120"/>
                        </a:rPr>
                        <a:t>誤差</a:t>
                      </a:r>
                      <a:endParaRPr lang="en-US" altLang="zh-TW" sz="2800" dirty="0" smtClean="0">
                        <a:latin typeface="標楷體" pitchFamily="65" charset="-120"/>
                        <a:ea typeface="標楷體" pitchFamily="65" charset="-120"/>
                      </a:endParaRPr>
                    </a:p>
                    <a:p>
                      <a:pPr algn="ctr">
                        <a:spcAft>
                          <a:spcPts val="0"/>
                        </a:spcAft>
                      </a:pPr>
                      <a:r>
                        <a:rPr lang="en-US" altLang="zh-TW" sz="2800" dirty="0" smtClean="0">
                          <a:latin typeface="標楷體" pitchFamily="65" charset="-120"/>
                          <a:ea typeface="標楷體" pitchFamily="65" charset="-120"/>
                        </a:rPr>
                        <a:t>(</a:t>
                      </a:r>
                      <a:r>
                        <a:rPr lang="el-GR" altLang="zh-TW" sz="2800" dirty="0" smtClean="0">
                          <a:latin typeface="標楷體" pitchFamily="65" charset="-120"/>
                          <a:ea typeface="標楷體" pitchFamily="65" charset="-120"/>
                        </a:rPr>
                        <a:t>α</a:t>
                      </a:r>
                      <a:r>
                        <a:rPr lang="zh-TW" altLang="en-US" sz="2800" dirty="0" smtClean="0">
                          <a:latin typeface="標楷體" pitchFamily="65" charset="-120"/>
                          <a:ea typeface="標楷體" pitchFamily="65" charset="-120"/>
                        </a:rPr>
                        <a:t>誤差</a:t>
                      </a:r>
                      <a:r>
                        <a:rPr lang="en-US" altLang="zh-TW" sz="2800" dirty="0" smtClean="0">
                          <a:latin typeface="標楷體" pitchFamily="65" charset="-120"/>
                          <a:ea typeface="標楷體" pitchFamily="65" charset="-120"/>
                        </a:rPr>
                        <a:t>)</a:t>
                      </a:r>
                      <a:endParaRPr lang="zh-TW" altLang="en-US" sz="2800" dirty="0">
                        <a:latin typeface="標楷體" pitchFamily="65" charset="-120"/>
                        <a:ea typeface="標楷體" pitchFamily="65" charset="-120"/>
                      </a:endParaRPr>
                    </a:p>
                  </a:txBody>
                  <a:tcPr marL="68580" marR="68580" marT="0" marB="0" anchor="ctr"/>
                </a:tc>
              </a:tr>
              <a:tr h="936104">
                <a:tc>
                  <a:txBody>
                    <a:bodyPr/>
                    <a:lstStyle/>
                    <a:p>
                      <a:pPr algn="ctr">
                        <a:spcAft>
                          <a:spcPts val="0"/>
                        </a:spcAft>
                      </a:pPr>
                      <a:r>
                        <a:rPr lang="zh-TW" altLang="en-US" sz="2800" dirty="0">
                          <a:latin typeface="標楷體" pitchFamily="65" charset="-120"/>
                          <a:ea typeface="標楷體" pitchFamily="65" charset="-120"/>
                        </a:rPr>
                        <a:t>拒絕</a:t>
                      </a:r>
                      <a:r>
                        <a:rPr lang="en-US" sz="2800" dirty="0">
                          <a:latin typeface="標楷體" pitchFamily="65" charset="-120"/>
                          <a:ea typeface="標楷體" pitchFamily="65" charset="-120"/>
                        </a:rPr>
                        <a:t>H</a:t>
                      </a:r>
                      <a:r>
                        <a:rPr lang="en-US" sz="2800" baseline="-25000" dirty="0">
                          <a:latin typeface="標楷體" pitchFamily="65" charset="-120"/>
                          <a:ea typeface="標楷體" pitchFamily="65" charset="-120"/>
                        </a:rPr>
                        <a:t>0</a:t>
                      </a:r>
                      <a:endParaRPr lang="en-US" sz="2800" dirty="0">
                        <a:latin typeface="標楷體" pitchFamily="65" charset="-120"/>
                        <a:ea typeface="標楷體" pitchFamily="65" charset="-120"/>
                      </a:endParaRPr>
                    </a:p>
                  </a:txBody>
                  <a:tcPr marL="68580" marR="68580" marT="0" marB="0" anchor="ctr"/>
                </a:tc>
                <a:tc>
                  <a:txBody>
                    <a:bodyPr/>
                    <a:lstStyle/>
                    <a:p>
                      <a:pPr algn="ctr">
                        <a:spcAft>
                          <a:spcPts val="0"/>
                        </a:spcAft>
                      </a:pPr>
                      <a:r>
                        <a:rPr lang="zh-TW" altLang="en-US" sz="2800" dirty="0">
                          <a:latin typeface="標楷體" pitchFamily="65" charset="-120"/>
                          <a:ea typeface="標楷體" pitchFamily="65" charset="-120"/>
                        </a:rPr>
                        <a:t>型</a:t>
                      </a:r>
                      <a:r>
                        <a:rPr lang="en-US" sz="2800" dirty="0">
                          <a:latin typeface="標楷體" pitchFamily="65" charset="-120"/>
                          <a:ea typeface="標楷體" pitchFamily="65" charset="-120"/>
                        </a:rPr>
                        <a:t>I</a:t>
                      </a:r>
                      <a:r>
                        <a:rPr lang="zh-TW" altLang="en-US" sz="2800" dirty="0" smtClean="0">
                          <a:latin typeface="標楷體" pitchFamily="65" charset="-120"/>
                          <a:ea typeface="標楷體" pitchFamily="65" charset="-120"/>
                        </a:rPr>
                        <a:t>誤差</a:t>
                      </a:r>
                      <a:endParaRPr lang="en-US" altLang="zh-TW" sz="2800" dirty="0" smtClean="0">
                        <a:latin typeface="標楷體" pitchFamily="65" charset="-120"/>
                        <a:ea typeface="標楷體" pitchFamily="65" charset="-12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800" dirty="0" smtClean="0">
                          <a:latin typeface="標楷體" pitchFamily="65" charset="-120"/>
                          <a:ea typeface="標楷體" pitchFamily="65" charset="-120"/>
                        </a:rPr>
                        <a:t>(</a:t>
                      </a:r>
                      <a:r>
                        <a:rPr lang="el-GR" altLang="zh-TW" sz="2800" dirty="0" smtClean="0">
                          <a:latin typeface="標楷體" pitchFamily="65" charset="-120"/>
                          <a:ea typeface="標楷體" pitchFamily="65" charset="-120"/>
                        </a:rPr>
                        <a:t>β</a:t>
                      </a:r>
                      <a:r>
                        <a:rPr lang="zh-TW" altLang="en-US" sz="2800" dirty="0" smtClean="0">
                          <a:latin typeface="標楷體" pitchFamily="65" charset="-120"/>
                          <a:ea typeface="標楷體" pitchFamily="65" charset="-120"/>
                        </a:rPr>
                        <a:t>誤差</a:t>
                      </a:r>
                      <a:r>
                        <a:rPr lang="en-US" altLang="zh-TW" sz="2800" dirty="0" smtClean="0">
                          <a:latin typeface="標楷體" pitchFamily="65" charset="-120"/>
                          <a:ea typeface="標楷體" pitchFamily="65" charset="-120"/>
                        </a:rPr>
                        <a:t>)</a:t>
                      </a:r>
                      <a:endParaRPr lang="zh-TW" altLang="en-US" sz="2800" dirty="0" smtClean="0">
                        <a:latin typeface="標楷體" pitchFamily="65" charset="-120"/>
                        <a:ea typeface="標楷體" pitchFamily="65" charset="-120"/>
                      </a:endParaRPr>
                    </a:p>
                  </a:txBody>
                  <a:tcPr marL="68580" marR="68580" marT="0" marB="0" anchor="ctr"/>
                </a:tc>
                <a:tc>
                  <a:txBody>
                    <a:bodyPr/>
                    <a:lstStyle/>
                    <a:p>
                      <a:pPr algn="ctr">
                        <a:spcAft>
                          <a:spcPts val="0"/>
                        </a:spcAft>
                      </a:pPr>
                      <a:r>
                        <a:rPr lang="zh-TW" altLang="en-US" sz="2800" dirty="0">
                          <a:latin typeface="標楷體" pitchFamily="65" charset="-120"/>
                          <a:ea typeface="標楷體" pitchFamily="65" charset="-120"/>
                        </a:rPr>
                        <a:t>正確結論</a:t>
                      </a:r>
                    </a:p>
                  </a:txBody>
                  <a:tcPr marL="68580" marR="68580" marT="0" marB="0"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虛無假設</a:t>
            </a:r>
            <a:endParaRPr lang="zh-TW" altLang="en-US" dirty="0"/>
          </a:p>
        </p:txBody>
      </p:sp>
      <p:sp>
        <p:nvSpPr>
          <p:cNvPr id="3" name="內容版面配置區 2"/>
          <p:cNvSpPr>
            <a:spLocks noGrp="1"/>
          </p:cNvSpPr>
          <p:nvPr>
            <p:ph idx="1"/>
          </p:nvPr>
        </p:nvSpPr>
        <p:spPr>
          <a:xfrm>
            <a:off x="457200" y="1268760"/>
            <a:ext cx="8229600" cy="5256584"/>
          </a:xfrm>
        </p:spPr>
        <p:txBody>
          <a:bodyPr>
            <a:normAutofit fontScale="77500" lnSpcReduction="20000"/>
          </a:bodyPr>
          <a:lstStyle/>
          <a:p>
            <a:pPr fontAlgn="b"/>
            <a:r>
              <a:rPr lang="zh-TW" altLang="en-US" dirty="0" smtClean="0">
                <a:latin typeface="標楷體" pitchFamily="65" charset="-120"/>
                <a:ea typeface="標楷體" pitchFamily="65" charset="-120"/>
              </a:rPr>
              <a:t>民國</a:t>
            </a:r>
            <a:r>
              <a:rPr lang="en-US" altLang="zh-TW" dirty="0" smtClean="0">
                <a:latin typeface="標楷體" pitchFamily="65" charset="-120"/>
                <a:ea typeface="標楷體" pitchFamily="65" charset="-120"/>
              </a:rPr>
              <a:t>87</a:t>
            </a:r>
            <a:r>
              <a:rPr lang="zh-TW" altLang="en-US" dirty="0" smtClean="0">
                <a:latin typeface="標楷體" pitchFamily="65" charset="-120"/>
                <a:ea typeface="標楷體" pitchFamily="65" charset="-120"/>
              </a:rPr>
              <a:t>年進行的一項調查發現，國人開的二手車購買時的平均車齡為</a:t>
            </a:r>
            <a:r>
              <a:rPr lang="en-US" altLang="zh-TW" dirty="0" smtClean="0">
                <a:latin typeface="標楷體" pitchFamily="65" charset="-120"/>
                <a:ea typeface="標楷體" pitchFamily="65" charset="-120"/>
              </a:rPr>
              <a:t>4.7</a:t>
            </a:r>
            <a:r>
              <a:rPr lang="zh-TW" altLang="en-US" dirty="0" smtClean="0">
                <a:latin typeface="標楷體" pitchFamily="65" charset="-120"/>
                <a:ea typeface="標楷體" pitchFamily="65" charset="-120"/>
              </a:rPr>
              <a:t>年。現在隨機抽查</a:t>
            </a:r>
            <a:r>
              <a:rPr lang="en-US" altLang="zh-TW" dirty="0" smtClean="0">
                <a:latin typeface="標楷體" pitchFamily="65" charset="-120"/>
                <a:ea typeface="標楷體" pitchFamily="65" charset="-120"/>
              </a:rPr>
              <a:t>90</a:t>
            </a:r>
            <a:r>
              <a:rPr lang="zh-TW" altLang="en-US" dirty="0" smtClean="0">
                <a:latin typeface="標楷體" pitchFamily="65" charset="-120"/>
                <a:ea typeface="標楷體" pitchFamily="65" charset="-120"/>
              </a:rPr>
              <a:t>輛二手車，詢問其購買時的車齡，得平均值為</a:t>
            </a:r>
            <a:r>
              <a:rPr lang="en-US" altLang="zh-TW" dirty="0" smtClean="0">
                <a:latin typeface="標楷體" pitchFamily="65" charset="-120"/>
                <a:ea typeface="標楷體" pitchFamily="65" charset="-120"/>
              </a:rPr>
              <a:t>3.6</a:t>
            </a:r>
            <a:r>
              <a:rPr lang="zh-TW" altLang="en-US" dirty="0" smtClean="0">
                <a:latin typeface="標楷體" pitchFamily="65" charset="-120"/>
                <a:ea typeface="標楷體" pitchFamily="65" charset="-120"/>
              </a:rPr>
              <a:t>年，標準差為</a:t>
            </a:r>
            <a:r>
              <a:rPr lang="en-US" altLang="zh-TW" dirty="0" smtClean="0">
                <a:latin typeface="標楷體" pitchFamily="65" charset="-120"/>
                <a:ea typeface="標楷體" pitchFamily="65" charset="-120"/>
              </a:rPr>
              <a:t>2</a:t>
            </a:r>
            <a:r>
              <a:rPr lang="zh-TW" altLang="en-US" dirty="0" smtClean="0">
                <a:latin typeface="標楷體" pitchFamily="65" charset="-120"/>
                <a:ea typeface="標楷體" pitchFamily="65" charset="-120"/>
              </a:rPr>
              <a:t>年。在顯著水準為</a:t>
            </a:r>
            <a:r>
              <a:rPr lang="en-US" altLang="zh-TW" dirty="0" smtClean="0">
                <a:latin typeface="標楷體" pitchFamily="65" charset="-120"/>
                <a:ea typeface="標楷體" pitchFamily="65" charset="-120"/>
              </a:rPr>
              <a:t>1%</a:t>
            </a:r>
            <a:r>
              <a:rPr lang="zh-TW" altLang="en-US" dirty="0" smtClean="0">
                <a:latin typeface="標楷體" pitchFamily="65" charset="-120"/>
                <a:ea typeface="標楷體" pitchFamily="65" charset="-120"/>
              </a:rPr>
              <a:t>下，試以標準統計量檢定法檢定國人現在所開的二手車購買時的車齡是否較</a:t>
            </a:r>
            <a:r>
              <a:rPr lang="en-US" altLang="zh-TW" dirty="0" smtClean="0">
                <a:latin typeface="標楷體" pitchFamily="65" charset="-120"/>
                <a:ea typeface="標楷體" pitchFamily="65" charset="-120"/>
              </a:rPr>
              <a:t>87</a:t>
            </a:r>
            <a:r>
              <a:rPr lang="zh-TW" altLang="en-US" dirty="0" smtClean="0">
                <a:latin typeface="標楷體" pitchFamily="65" charset="-120"/>
                <a:ea typeface="標楷體" pitchFamily="65" charset="-120"/>
              </a:rPr>
              <a:t>年少？標準統計量檢定法：</a:t>
            </a:r>
          </a:p>
          <a:p>
            <a:r>
              <a:rPr lang="zh-TW" altLang="en-US" dirty="0" smtClean="0">
                <a:latin typeface="標楷體" pitchFamily="65" charset="-120"/>
                <a:ea typeface="標楷體" pitchFamily="65" charset="-120"/>
              </a:rPr>
              <a:t>計算標準檢定統計量</a:t>
            </a:r>
            <a:r>
              <a:rPr lang="en-US" altLang="zh-TW" i="1" dirty="0" smtClean="0">
                <a:latin typeface="標楷體" pitchFamily="65" charset="-120"/>
                <a:ea typeface="標楷體" pitchFamily="65" charset="-120"/>
              </a:rPr>
              <a:t>Z</a:t>
            </a:r>
            <a:r>
              <a:rPr lang="zh-TW" altLang="en-US" dirty="0" smtClean="0">
                <a:latin typeface="標楷體" pitchFamily="65" charset="-120"/>
                <a:ea typeface="標楷體" pitchFamily="65" charset="-120"/>
              </a:rPr>
              <a:t>值如下：</a:t>
            </a:r>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 </a:t>
            </a:r>
            <a:endParaRPr lang="en-US" altLang="zh-TW" dirty="0" smtClean="0">
              <a:latin typeface="標楷體" pitchFamily="65" charset="-120"/>
              <a:ea typeface="標楷體" pitchFamily="65" charset="-120"/>
            </a:endParaRPr>
          </a:p>
          <a:p>
            <a:endParaRPr lang="zh-TW" altLang="en-US"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落在拒絕域，故拒絕虛無假設，結論為國人現在所開的二手車購買時的車齡比</a:t>
            </a:r>
            <a:r>
              <a:rPr lang="en-US" altLang="zh-TW" dirty="0" smtClean="0">
                <a:latin typeface="標楷體" pitchFamily="65" charset="-120"/>
                <a:ea typeface="標楷體" pitchFamily="65" charset="-120"/>
              </a:rPr>
              <a:t>87</a:t>
            </a:r>
            <a:r>
              <a:rPr lang="zh-TW" altLang="en-US" dirty="0" smtClean="0">
                <a:latin typeface="標楷體" pitchFamily="65" charset="-120"/>
                <a:ea typeface="標楷體" pitchFamily="65" charset="-120"/>
              </a:rPr>
              <a:t>年少。</a:t>
            </a:r>
            <a:endParaRPr lang="en-US" altLang="zh-TW" dirty="0" smtClean="0">
              <a:latin typeface="標楷體" pitchFamily="65" charset="-120"/>
              <a:ea typeface="標楷體" pitchFamily="65" charset="-120"/>
            </a:endParaRPr>
          </a:p>
          <a:p>
            <a:r>
              <a:rPr lang="en-US" altLang="zh-TW" dirty="0" smtClean="0">
                <a:hlinkClick r:id="rId2"/>
              </a:rPr>
              <a:t>http://ss24.mcu.edu.tw/~s3350033/</a:t>
            </a:r>
            <a:endParaRPr lang="zh-TW" altLang="en-US" dirty="0" smtClean="0">
              <a:latin typeface="標楷體" pitchFamily="65" charset="-120"/>
              <a:ea typeface="標楷體" pitchFamily="65" charset="-120"/>
            </a:endParaRPr>
          </a:p>
          <a:p>
            <a:pPr fontAlgn="b"/>
            <a:endParaRPr lang="zh-TW" altLang="en-US" dirty="0">
              <a:latin typeface="標楷體" pitchFamily="65" charset="-120"/>
              <a:ea typeface="標楷體" pitchFamily="65" charset="-120"/>
            </a:endParaRPr>
          </a:p>
        </p:txBody>
      </p:sp>
      <p:pic>
        <p:nvPicPr>
          <p:cNvPr id="4" name="圖片 3" descr="image079.gif"/>
          <p:cNvPicPr>
            <a:picLocks noChangeAspect="1"/>
          </p:cNvPicPr>
          <p:nvPr/>
        </p:nvPicPr>
        <p:blipFill>
          <a:blip r:embed="rId3" cstate="print"/>
          <a:stretch>
            <a:fillRect/>
          </a:stretch>
        </p:blipFill>
        <p:spPr>
          <a:xfrm>
            <a:off x="1043608" y="4005064"/>
            <a:ext cx="5152704" cy="1080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預測模型中參數的探討 </a:t>
            </a:r>
            <a:endParaRPr lang="zh-TW" altLang="en-US" dirty="0"/>
          </a:p>
        </p:txBody>
      </p:sp>
      <p:pic>
        <p:nvPicPr>
          <p:cNvPr id="26626" name="Picture 2"/>
          <p:cNvPicPr>
            <a:picLocks noGrp="1" noChangeAspect="1" noChangeArrowheads="1"/>
          </p:cNvPicPr>
          <p:nvPr>
            <p:ph idx="1"/>
          </p:nvPr>
        </p:nvPicPr>
        <p:blipFill>
          <a:blip r:embed="rId2" cstate="print"/>
          <a:srcRect/>
          <a:stretch>
            <a:fillRect/>
          </a:stretch>
        </p:blipFill>
        <p:spPr bwMode="auto">
          <a:xfrm>
            <a:off x="144016" y="1556792"/>
            <a:ext cx="8820472" cy="4609408"/>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預測模型中參數的探討 </a:t>
            </a:r>
            <a:endParaRPr lang="zh-TW" altLang="en-US" dirty="0"/>
          </a:p>
        </p:txBody>
      </p:sp>
      <p:sp>
        <p:nvSpPr>
          <p:cNvPr id="3" name="內容版面配置區 2"/>
          <p:cNvSpPr>
            <a:spLocks noGrp="1"/>
          </p:cNvSpPr>
          <p:nvPr>
            <p:ph idx="1"/>
          </p:nvPr>
        </p:nvSpPr>
        <p:spPr/>
        <p:txBody>
          <a:bodyPr>
            <a:normAutofit/>
          </a:bodyPr>
          <a:lstStyle/>
          <a:p>
            <a:r>
              <a:rPr lang="zh-TW" altLang="en-US" dirty="0" smtClean="0">
                <a:latin typeface="標楷體" pitchFamily="65" charset="-120"/>
                <a:ea typeface="標楷體" pitchFamily="65" charset="-120"/>
              </a:rPr>
              <a:t>大多數學群的校系個數皆大於</a:t>
            </a:r>
            <a:r>
              <a:rPr lang="en-US" altLang="zh-TW" dirty="0" smtClean="0">
                <a:latin typeface="標楷體" pitchFamily="65" charset="-120"/>
                <a:ea typeface="標楷體" pitchFamily="65" charset="-120"/>
              </a:rPr>
              <a:t>40</a:t>
            </a:r>
          </a:p>
          <a:p>
            <a:r>
              <a:rPr lang="zh-TW" altLang="en-US" dirty="0" smtClean="0">
                <a:latin typeface="標楷體" pitchFamily="65" charset="-120"/>
                <a:ea typeface="標楷體" pitchFamily="65" charset="-120"/>
              </a:rPr>
              <a:t>在顯著水準</a:t>
            </a:r>
            <a:r>
              <a:rPr lang="en-US" altLang="zh-TW" i="1" dirty="0" smtClean="0">
                <a:solidFill>
                  <a:schemeClr val="accent1"/>
                </a:solidFill>
                <a:latin typeface="標楷體" pitchFamily="65" charset="-120"/>
                <a:ea typeface="標楷體" pitchFamily="65" charset="-120"/>
              </a:rPr>
              <a:t>0.05 </a:t>
            </a:r>
            <a:r>
              <a:rPr lang="zh-TW" altLang="en-US" dirty="0" smtClean="0">
                <a:latin typeface="標楷體" pitchFamily="65" charset="-120"/>
                <a:ea typeface="標楷體" pitchFamily="65" charset="-120"/>
              </a:rPr>
              <a:t>下，引用</a:t>
            </a:r>
            <a:r>
              <a:rPr lang="en-US" altLang="zh-TW" i="1" dirty="0" smtClean="0">
                <a:solidFill>
                  <a:schemeClr val="accent1"/>
                </a:solidFill>
                <a:latin typeface="標楷體" pitchFamily="65" charset="-120"/>
                <a:ea typeface="標楷體" pitchFamily="65" charset="-120"/>
              </a:rPr>
              <a:t>Z</a:t>
            </a:r>
            <a:r>
              <a:rPr lang="en-US" altLang="zh-TW" i="1" baseline="-25000" dirty="0" smtClean="0">
                <a:solidFill>
                  <a:schemeClr val="accent1"/>
                </a:solidFill>
                <a:latin typeface="標楷體" pitchFamily="65" charset="-120"/>
                <a:ea typeface="標楷體" pitchFamily="65" charset="-120"/>
              </a:rPr>
              <a:t>0.025</a:t>
            </a:r>
            <a:r>
              <a:rPr lang="en-US" altLang="zh-TW" i="1" dirty="0" smtClean="0">
                <a:solidFill>
                  <a:schemeClr val="accent1"/>
                </a:solidFill>
                <a:latin typeface="標楷體" pitchFamily="65" charset="-120"/>
                <a:ea typeface="標楷體" pitchFamily="65" charset="-120"/>
              </a:rPr>
              <a:t> =1.96</a:t>
            </a:r>
            <a:r>
              <a:rPr lang="zh-TW" altLang="en-US" dirty="0" smtClean="0">
                <a:latin typeface="標楷體" pitchFamily="65" charset="-120"/>
                <a:ea typeface="標楷體" pitchFamily="65" charset="-120"/>
              </a:rPr>
              <a:t>做決</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則須無假設           在大部分的學群中皆被拒絕</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而在虛無假設           下，部分</a:t>
            </a:r>
            <a:r>
              <a:rPr lang="en-US" altLang="zh-TW" dirty="0" smtClean="0">
                <a:latin typeface="標楷體" pitchFamily="65" charset="-120"/>
                <a:ea typeface="標楷體" pitchFamily="65" charset="-120"/>
              </a:rPr>
              <a:t>t</a:t>
            </a:r>
            <a:r>
              <a:rPr lang="zh-TW" altLang="en-US" dirty="0" smtClean="0">
                <a:latin typeface="標楷體" pitchFamily="65" charset="-120"/>
                <a:ea typeface="標楷體" pitchFamily="65" charset="-120"/>
              </a:rPr>
              <a:t>值在某些學群中有偏大的現象</a:t>
            </a:r>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原因</a:t>
            </a:r>
            <a:endParaRPr lang="en-US" altLang="zh-TW" dirty="0" smtClean="0">
              <a:latin typeface="標楷體" pitchFamily="65" charset="-120"/>
              <a:ea typeface="標楷體" pitchFamily="65" charset="-120"/>
            </a:endParaRPr>
          </a:p>
          <a:p>
            <a:pPr lvl="1"/>
            <a:r>
              <a:rPr lang="zh-TW" altLang="en-US" dirty="0" smtClean="0">
                <a:latin typeface="標楷體" pitchFamily="65" charset="-120"/>
                <a:ea typeface="標楷體" pitchFamily="65" charset="-120"/>
              </a:rPr>
              <a:t>個學群樣本數偏大有關</a:t>
            </a:r>
            <a:endParaRPr lang="en-US" altLang="zh-TW" dirty="0" smtClean="0">
              <a:latin typeface="標楷體" pitchFamily="65" charset="-120"/>
              <a:ea typeface="標楷體" pitchFamily="65" charset="-120"/>
            </a:endParaRPr>
          </a:p>
        </p:txBody>
      </p:sp>
      <p:graphicFrame>
        <p:nvGraphicFramePr>
          <p:cNvPr id="25603" name="Object 3"/>
          <p:cNvGraphicFramePr>
            <a:graphicFrameLocks noChangeAspect="1"/>
          </p:cNvGraphicFramePr>
          <p:nvPr/>
        </p:nvGraphicFramePr>
        <p:xfrm>
          <a:off x="3146673" y="2780928"/>
          <a:ext cx="1857375" cy="504825"/>
        </p:xfrm>
        <a:graphic>
          <a:graphicData uri="http://schemas.openxmlformats.org/presentationml/2006/ole">
            <p:oleObj spid="_x0000_s25603" name="方程式" r:id="rId3" imgW="888840" imgH="241200" progId="Equation.3">
              <p:embed/>
            </p:oleObj>
          </a:graphicData>
        </a:graphic>
      </p:graphicFrame>
      <p:graphicFrame>
        <p:nvGraphicFramePr>
          <p:cNvPr id="25605" name="Object 5"/>
          <p:cNvGraphicFramePr>
            <a:graphicFrameLocks noChangeAspect="1"/>
          </p:cNvGraphicFramePr>
          <p:nvPr/>
        </p:nvGraphicFramePr>
        <p:xfrm>
          <a:off x="3487092" y="3717032"/>
          <a:ext cx="1804988" cy="504825"/>
        </p:xfrm>
        <a:graphic>
          <a:graphicData uri="http://schemas.openxmlformats.org/presentationml/2006/ole">
            <p:oleObj spid="_x0000_s25605" name="方程式" r:id="rId4" imgW="863280" imgH="241200" progId="Equation.3">
              <p:embed/>
            </p:oleObj>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預測模型中參數的探討 </a:t>
            </a:r>
            <a:endParaRPr lang="zh-TW" altLang="en-US" dirty="0"/>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經由上述的統計檢定成果，視</a:t>
            </a:r>
            <a:r>
              <a:rPr lang="en-US" altLang="zh-TW" dirty="0" smtClean="0">
                <a:latin typeface="標楷體" pitchFamily="65" charset="-120"/>
                <a:ea typeface="標楷體" pitchFamily="65" charset="-120"/>
              </a:rPr>
              <a:t>:</a:t>
            </a: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採用</a:t>
            </a:r>
            <a:r>
              <a:rPr lang="en-US" altLang="zh-TW" dirty="0" smtClean="0">
                <a:latin typeface="標楷體" pitchFamily="65" charset="-120"/>
                <a:ea typeface="標楷體" pitchFamily="65" charset="-120"/>
              </a:rPr>
              <a:t>:</a:t>
            </a: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藉由此來估計新一年度校系的評價指標，再由此估計值去估算各校系新一年度的最低錄取加權總分。</a:t>
            </a:r>
            <a:endParaRPr lang="en-US" altLang="zh-TW" dirty="0" smtClean="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1619672" y="2182361"/>
          <a:ext cx="2520280" cy="598567"/>
        </p:xfrm>
        <a:graphic>
          <a:graphicData uri="http://schemas.openxmlformats.org/presentationml/2006/ole">
            <p:oleObj spid="_x0000_s27650" name="方程式" r:id="rId3" imgW="1015920" imgH="241200" progId="Equation.3">
              <p:embed/>
            </p:oleObj>
          </a:graphicData>
        </a:graphic>
      </p:graphicFrame>
      <p:graphicFrame>
        <p:nvGraphicFramePr>
          <p:cNvPr id="27651" name="Object 3"/>
          <p:cNvGraphicFramePr>
            <a:graphicFrameLocks noChangeAspect="1"/>
          </p:cNvGraphicFramePr>
          <p:nvPr/>
        </p:nvGraphicFramePr>
        <p:xfrm>
          <a:off x="1547664" y="3319250"/>
          <a:ext cx="5688632" cy="685814"/>
        </p:xfrm>
        <a:graphic>
          <a:graphicData uri="http://schemas.openxmlformats.org/presentationml/2006/ole">
            <p:oleObj spid="_x0000_s27651" name="方程式" r:id="rId4" imgW="2108160" imgH="253800" progId="Equation.3">
              <p:embed/>
            </p:oleObj>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四種預測指標的比較</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定義</a:t>
            </a:r>
            <a:r>
              <a:rPr lang="en-US" altLang="zh-TW" dirty="0" smtClean="0">
                <a:latin typeface="標楷體" pitchFamily="65" charset="-120"/>
                <a:ea typeface="標楷體" pitchFamily="65" charset="-120"/>
              </a:rPr>
              <a:t>T</a:t>
            </a:r>
            <a:r>
              <a:rPr lang="zh-TW" altLang="en-US" dirty="0" smtClean="0">
                <a:latin typeface="標楷體" pitchFamily="65" charset="-120"/>
                <a:ea typeface="標楷體" pitchFamily="65" charset="-120"/>
              </a:rPr>
              <a:t>的殘差值</a:t>
            </a:r>
            <a:r>
              <a:rPr lang="en-US" altLang="zh-TW" dirty="0" smtClean="0">
                <a:latin typeface="標楷體" pitchFamily="65" charset="-120"/>
                <a:ea typeface="標楷體" pitchFamily="65" charset="-120"/>
              </a:rPr>
              <a:t>(residual):</a:t>
            </a: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殘差平方合</a:t>
            </a:r>
            <a:r>
              <a:rPr lang="en-US" altLang="zh-TW" dirty="0" smtClean="0">
                <a:latin typeface="標楷體" pitchFamily="65" charset="-120"/>
                <a:ea typeface="標楷體" pitchFamily="65" charset="-120"/>
              </a:rPr>
              <a:t>(error sum of squares)</a:t>
            </a:r>
            <a:endParaRPr lang="zh-TW" altLang="en-US" dirty="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1079500" y="2276475"/>
          <a:ext cx="6659563" cy="720725"/>
        </p:xfrm>
        <a:graphic>
          <a:graphicData uri="http://schemas.openxmlformats.org/presentationml/2006/ole">
            <p:oleObj spid="_x0000_s39938" name="方程式" r:id="rId3" imgW="2349360" imgH="253800" progId="Equation.3">
              <p:embed/>
            </p:oleObj>
          </a:graphicData>
        </a:graphic>
      </p:graphicFrame>
      <p:graphicFrame>
        <p:nvGraphicFramePr>
          <p:cNvPr id="5" name="物件 4"/>
          <p:cNvGraphicFramePr>
            <a:graphicFrameLocks noChangeAspect="1"/>
          </p:cNvGraphicFramePr>
          <p:nvPr/>
        </p:nvGraphicFramePr>
        <p:xfrm>
          <a:off x="485775" y="4149725"/>
          <a:ext cx="8172450" cy="712788"/>
        </p:xfrm>
        <a:graphic>
          <a:graphicData uri="http://schemas.openxmlformats.org/presentationml/2006/ole">
            <p:oleObj spid="_x0000_s39939" name="方程式" r:id="rId4" imgW="3009600" imgH="253800" progId="Equation.3">
              <p:embed/>
            </p:oleObj>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四種預測指標的比較</a:t>
            </a:r>
            <a:endParaRPr lang="zh-TW" altLang="en-US" dirty="0"/>
          </a:p>
        </p:txBody>
      </p:sp>
      <p:pic>
        <p:nvPicPr>
          <p:cNvPr id="40962" name="Picture 2"/>
          <p:cNvPicPr>
            <a:picLocks noGrp="1" noChangeAspect="1" noChangeArrowheads="1"/>
          </p:cNvPicPr>
          <p:nvPr>
            <p:ph idx="1"/>
          </p:nvPr>
        </p:nvPicPr>
        <p:blipFill>
          <a:blip r:embed="rId2" cstate="print"/>
          <a:srcRect/>
          <a:stretch>
            <a:fillRect/>
          </a:stretch>
        </p:blipFill>
        <p:spPr bwMode="auto">
          <a:xfrm>
            <a:off x="757522" y="1600200"/>
            <a:ext cx="7628956" cy="452596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四種預測指標的比較</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定義</a:t>
            </a:r>
            <a:r>
              <a:rPr lang="en-US" altLang="zh-TW" dirty="0" smtClean="0">
                <a:latin typeface="標楷體" pitchFamily="65" charset="-120"/>
                <a:ea typeface="標楷體" pitchFamily="65" charset="-120"/>
              </a:rPr>
              <a:t>Z</a:t>
            </a:r>
            <a:r>
              <a:rPr lang="zh-TW" altLang="en-US" dirty="0" smtClean="0">
                <a:latin typeface="標楷體" pitchFamily="65" charset="-120"/>
                <a:ea typeface="標楷體" pitchFamily="65" charset="-120"/>
              </a:rPr>
              <a:t>的殘差值</a:t>
            </a:r>
            <a:r>
              <a:rPr lang="en-US" altLang="zh-TW" dirty="0" smtClean="0">
                <a:latin typeface="標楷體" pitchFamily="65" charset="-120"/>
                <a:ea typeface="標楷體" pitchFamily="65" charset="-120"/>
              </a:rPr>
              <a:t>(residual):</a:t>
            </a: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殘差平方合</a:t>
            </a:r>
            <a:r>
              <a:rPr lang="en-US" altLang="zh-TW" dirty="0" smtClean="0">
                <a:latin typeface="標楷體" pitchFamily="65" charset="-120"/>
                <a:ea typeface="標楷體" pitchFamily="65" charset="-120"/>
              </a:rPr>
              <a:t>(error sum of squares)</a:t>
            </a:r>
            <a:endParaRPr lang="zh-TW" altLang="en-US" dirty="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899592" y="2276872"/>
          <a:ext cx="7020780" cy="720080"/>
        </p:xfrm>
        <a:graphic>
          <a:graphicData uri="http://schemas.openxmlformats.org/presentationml/2006/ole">
            <p:oleObj spid="_x0000_s37890" name="方程式" r:id="rId3" imgW="2476440" imgH="253800" progId="Equation.3">
              <p:embed/>
            </p:oleObj>
          </a:graphicData>
        </a:graphic>
      </p:graphicFrame>
      <p:graphicFrame>
        <p:nvGraphicFramePr>
          <p:cNvPr id="5" name="物件 4"/>
          <p:cNvGraphicFramePr>
            <a:graphicFrameLocks noChangeAspect="1"/>
          </p:cNvGraphicFramePr>
          <p:nvPr/>
        </p:nvGraphicFramePr>
        <p:xfrm>
          <a:off x="467544" y="4149080"/>
          <a:ext cx="8208912" cy="714029"/>
        </p:xfrm>
        <a:graphic>
          <a:graphicData uri="http://schemas.openxmlformats.org/presentationml/2006/ole">
            <p:oleObj spid="_x0000_s37891" name="方程式" r:id="rId4" imgW="3022560" imgH="253800" progId="Equation.3">
              <p:embed/>
            </p:oleObj>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四種預測指標的比較</a:t>
            </a:r>
            <a:endParaRPr lang="zh-TW" altLang="en-US" dirty="0"/>
          </a:p>
        </p:txBody>
      </p:sp>
      <p:pic>
        <p:nvPicPr>
          <p:cNvPr id="38914" name="Picture 2"/>
          <p:cNvPicPr>
            <a:picLocks noGrp="1" noChangeAspect="1" noChangeArrowheads="1"/>
          </p:cNvPicPr>
          <p:nvPr>
            <p:ph idx="1"/>
          </p:nvPr>
        </p:nvPicPr>
        <p:blipFill>
          <a:blip r:embed="rId2" cstate="print"/>
          <a:srcRect/>
          <a:stretch>
            <a:fillRect/>
          </a:stretch>
        </p:blipFill>
        <p:spPr bwMode="auto">
          <a:xfrm>
            <a:off x="899592" y="1484784"/>
            <a:ext cx="7263350" cy="4896544"/>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四種預測指標的比較</a:t>
            </a:r>
            <a:endParaRPr lang="zh-TW" altLang="en-US" dirty="0"/>
          </a:p>
        </p:txBody>
      </p:sp>
      <p:pic>
        <p:nvPicPr>
          <p:cNvPr id="41986" name="Picture 2"/>
          <p:cNvPicPr>
            <a:picLocks noGrp="1" noChangeAspect="1" noChangeArrowheads="1"/>
          </p:cNvPicPr>
          <p:nvPr>
            <p:ph idx="1"/>
          </p:nvPr>
        </p:nvPicPr>
        <p:blipFill>
          <a:blip r:embed="rId2" cstate="print"/>
          <a:srcRect/>
          <a:stretch>
            <a:fillRect/>
          </a:stretch>
        </p:blipFill>
        <p:spPr bwMode="auto">
          <a:xfrm>
            <a:off x="1835696" y="1196752"/>
            <a:ext cx="5135637" cy="551723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四種預測指標的比較</a:t>
            </a:r>
            <a:endParaRPr lang="zh-TW" altLang="en-US" dirty="0"/>
          </a:p>
        </p:txBody>
      </p:sp>
      <p:pic>
        <p:nvPicPr>
          <p:cNvPr id="43010" name="Picture 2"/>
          <p:cNvPicPr>
            <a:picLocks noGrp="1" noChangeAspect="1" noChangeArrowheads="1"/>
          </p:cNvPicPr>
          <p:nvPr>
            <p:ph idx="1"/>
          </p:nvPr>
        </p:nvPicPr>
        <p:blipFill>
          <a:blip r:embed="rId2" cstate="print"/>
          <a:srcRect/>
          <a:stretch>
            <a:fillRect/>
          </a:stretch>
        </p:blipFill>
        <p:spPr bwMode="auto">
          <a:xfrm>
            <a:off x="1907704" y="1196752"/>
            <a:ext cx="5184576" cy="5599981"/>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新增校系之預測</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利用二因子變異數分析模型研究</a:t>
            </a:r>
            <a:r>
              <a:rPr lang="en-US" altLang="zh-TW" dirty="0" smtClean="0">
                <a:latin typeface="標楷體" pitchFamily="65" charset="-120"/>
                <a:ea typeface="標楷體" pitchFamily="65" charset="-120"/>
              </a:rPr>
              <a:t>Z</a:t>
            </a:r>
            <a:r>
              <a:rPr lang="en-US" altLang="zh-TW" baseline="30000" dirty="0" smtClean="0">
                <a:latin typeface="標楷體" pitchFamily="65" charset="-120"/>
                <a:ea typeface="標楷體" pitchFamily="65" charset="-120"/>
              </a:rPr>
              <a:t>(3)</a:t>
            </a:r>
            <a:r>
              <a:rPr lang="zh-TW" altLang="en-US" dirty="0" smtClean="0">
                <a:latin typeface="標楷體" pitchFamily="65" charset="-120"/>
                <a:ea typeface="標楷體" pitchFamily="65" charset="-120"/>
              </a:rPr>
              <a:t>各學校與學群的關係，各年度模型分別為</a:t>
            </a:r>
            <a:r>
              <a:rPr lang="en-US" altLang="zh-TW" dirty="0" smtClean="0">
                <a:latin typeface="標楷體" pitchFamily="65" charset="-120"/>
                <a:ea typeface="標楷體" pitchFamily="65" charset="-120"/>
              </a:rPr>
              <a:t>:</a:t>
            </a: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2123728" y="3068960"/>
          <a:ext cx="4432300" cy="2136775"/>
        </p:xfrm>
        <a:graphic>
          <a:graphicData uri="http://schemas.openxmlformats.org/presentationml/2006/ole">
            <p:oleObj spid="_x0000_s44034" name="方程式" r:id="rId3" imgW="1473120" imgH="711000" progId="Equation.3">
              <p:embed/>
            </p:oleObj>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新增校系之預測</a:t>
            </a:r>
            <a:endParaRPr lang="zh-TW" altLang="en-US" dirty="0"/>
          </a:p>
        </p:txBody>
      </p:sp>
      <p:pic>
        <p:nvPicPr>
          <p:cNvPr id="45059" name="Picture 3"/>
          <p:cNvPicPr>
            <a:picLocks noGrp="1" noChangeAspect="1" noChangeArrowheads="1"/>
          </p:cNvPicPr>
          <p:nvPr>
            <p:ph idx="1"/>
          </p:nvPr>
        </p:nvPicPr>
        <p:blipFill>
          <a:blip r:embed="rId2" cstate="print"/>
          <a:srcRect/>
          <a:stretch>
            <a:fillRect/>
          </a:stretch>
        </p:blipFill>
        <p:spPr bwMode="auto">
          <a:xfrm>
            <a:off x="1763688" y="1268760"/>
            <a:ext cx="5619373" cy="5256584"/>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新增校系之預測</a:t>
            </a:r>
            <a:endParaRPr lang="zh-TW" altLang="en-US" dirty="0"/>
          </a:p>
        </p:txBody>
      </p:sp>
      <p:pic>
        <p:nvPicPr>
          <p:cNvPr id="46082" name="Picture 2"/>
          <p:cNvPicPr>
            <a:picLocks noGrp="1" noChangeAspect="1" noChangeArrowheads="1"/>
          </p:cNvPicPr>
          <p:nvPr>
            <p:ph idx="1"/>
          </p:nvPr>
        </p:nvPicPr>
        <p:blipFill>
          <a:blip r:embed="rId2" cstate="print"/>
          <a:srcRect/>
          <a:stretch>
            <a:fillRect/>
          </a:stretch>
        </p:blipFill>
        <p:spPr bwMode="auto">
          <a:xfrm>
            <a:off x="1907704" y="1340768"/>
            <a:ext cx="5256584" cy="5256584"/>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預測區間之準確度</a:t>
            </a:r>
            <a:endParaRPr lang="zh-TW" altLang="en-US" dirty="0">
              <a:latin typeface="標楷體" pitchFamily="65" charset="-120"/>
              <a:ea typeface="標楷體" pitchFamily="65" charset="-120"/>
            </a:endParaRPr>
          </a:p>
        </p:txBody>
      </p:sp>
      <p:sp>
        <p:nvSpPr>
          <p:cNvPr id="3" name="內容版面配置區 2"/>
          <p:cNvSpPr>
            <a:spLocks noGrp="1"/>
          </p:cNvSpPr>
          <p:nvPr>
            <p:ph idx="1"/>
          </p:nvPr>
        </p:nvSpPr>
        <p:spPr/>
        <p:txBody>
          <a:bodyPr/>
          <a:lstStyle/>
          <a:p>
            <a:r>
              <a:rPr lang="zh-TW" altLang="en-US" dirty="0" smtClean="0">
                <a:latin typeface="標楷體" pitchFamily="65" charset="-120"/>
                <a:ea typeface="標楷體" pitchFamily="65" charset="-120"/>
              </a:rPr>
              <a:t>給定新觀測值</a:t>
            </a:r>
            <a:r>
              <a:rPr lang="en-US" altLang="zh-TW" dirty="0" err="1" smtClean="0">
                <a:latin typeface="標楷體" pitchFamily="65" charset="-120"/>
                <a:ea typeface="標楷體" pitchFamily="65" charset="-120"/>
              </a:rPr>
              <a:t>x</a:t>
            </a:r>
            <a:r>
              <a:rPr lang="en-US" altLang="zh-TW" baseline="-25000" dirty="0" err="1" smtClean="0">
                <a:latin typeface="標楷體" pitchFamily="65" charset="-120"/>
                <a:ea typeface="標楷體" pitchFamily="65" charset="-120"/>
              </a:rPr>
              <a:t>h</a:t>
            </a:r>
            <a:r>
              <a:rPr lang="zh-TW" altLang="en-US" dirty="0" smtClean="0">
                <a:latin typeface="標楷體" pitchFamily="65" charset="-120"/>
                <a:ea typeface="標楷體" pitchFamily="65" charset="-120"/>
              </a:rPr>
              <a:t>後，</a:t>
            </a:r>
            <a:r>
              <a:rPr lang="en-US" altLang="zh-TW" dirty="0" err="1" smtClean="0">
                <a:latin typeface="標楷體" pitchFamily="65" charset="-120"/>
                <a:ea typeface="標楷體" pitchFamily="65" charset="-120"/>
              </a:rPr>
              <a:t>Y</a:t>
            </a:r>
            <a:r>
              <a:rPr lang="en-US" altLang="zh-TW" baseline="-25000" dirty="0" err="1" smtClean="0">
                <a:latin typeface="標楷體" pitchFamily="65" charset="-120"/>
                <a:ea typeface="標楷體" pitchFamily="65" charset="-120"/>
              </a:rPr>
              <a:t>h</a:t>
            </a:r>
            <a:r>
              <a:rPr lang="zh-TW" altLang="en-US" dirty="0" smtClean="0">
                <a:latin typeface="標楷體" pitchFamily="65" charset="-120"/>
                <a:ea typeface="標楷體" pitchFamily="65" charset="-120"/>
              </a:rPr>
              <a:t>的</a:t>
            </a:r>
            <a:r>
              <a:rPr lang="en-US" altLang="zh-TW" dirty="0" smtClean="0">
                <a:latin typeface="標楷體" pitchFamily="65" charset="-120"/>
                <a:ea typeface="標楷體" pitchFamily="65" charset="-120"/>
              </a:rPr>
              <a:t>95%</a:t>
            </a:r>
            <a:r>
              <a:rPr lang="zh-TW" altLang="en-US" dirty="0" smtClean="0">
                <a:latin typeface="標楷體" pitchFamily="65" charset="-120"/>
                <a:ea typeface="標楷體" pitchFamily="65" charset="-120"/>
              </a:rPr>
              <a:t>預測區間為</a:t>
            </a:r>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endParaRPr lang="en-US" altLang="zh-TW" dirty="0" smtClean="0">
              <a:latin typeface="標楷體" pitchFamily="65" charset="-120"/>
              <a:ea typeface="標楷體" pitchFamily="65" charset="-120"/>
            </a:endParaRPr>
          </a:p>
          <a:p>
            <a:r>
              <a:rPr lang="zh-TW" altLang="en-US" dirty="0" smtClean="0">
                <a:latin typeface="標楷體" pitchFamily="65" charset="-120"/>
                <a:ea typeface="標楷體" pitchFamily="65" charset="-120"/>
              </a:rPr>
              <a:t>則以</a:t>
            </a:r>
            <a:r>
              <a:rPr lang="en-US" altLang="zh-TW" dirty="0" smtClean="0">
                <a:latin typeface="標楷體" pitchFamily="65" charset="-120"/>
                <a:ea typeface="標楷體" pitchFamily="65" charset="-120"/>
              </a:rPr>
              <a:t>96</a:t>
            </a:r>
            <a:r>
              <a:rPr lang="zh-TW" altLang="en-US" dirty="0" smtClean="0">
                <a:latin typeface="標楷體" pitchFamily="65" charset="-120"/>
                <a:ea typeface="標楷體" pitchFamily="65" charset="-120"/>
              </a:rPr>
              <a:t>年度</a:t>
            </a:r>
            <a:r>
              <a:rPr lang="en-US" altLang="zh-TW" dirty="0" smtClean="0">
                <a:latin typeface="標楷體" pitchFamily="65" charset="-120"/>
                <a:ea typeface="標楷體" pitchFamily="65" charset="-120"/>
              </a:rPr>
              <a:t>Z</a:t>
            </a:r>
            <a:r>
              <a:rPr lang="en-US" altLang="zh-TW" baseline="30000" dirty="0" smtClean="0">
                <a:latin typeface="標楷體" pitchFamily="65" charset="-120"/>
                <a:ea typeface="標楷體" pitchFamily="65" charset="-120"/>
              </a:rPr>
              <a:t>(3)</a:t>
            </a:r>
            <a:r>
              <a:rPr lang="zh-TW" altLang="en-US" dirty="0" smtClean="0">
                <a:latin typeface="標楷體" pitchFamily="65" charset="-120"/>
                <a:ea typeface="標楷體" pitchFamily="65" charset="-120"/>
              </a:rPr>
              <a:t>為例，其計算方式為</a:t>
            </a:r>
            <a:endParaRPr lang="en-US" altLang="zh-TW" baseline="30000" dirty="0" smtClean="0">
              <a:latin typeface="標楷體" pitchFamily="65" charset="-120"/>
              <a:ea typeface="標楷體" pitchFamily="65" charset="-120"/>
            </a:endParaRPr>
          </a:p>
          <a:p>
            <a:endParaRPr lang="zh-TW" altLang="en-US" dirty="0">
              <a:latin typeface="標楷體" pitchFamily="65" charset="-120"/>
              <a:ea typeface="標楷體" pitchFamily="65" charset="-120"/>
            </a:endParaRPr>
          </a:p>
        </p:txBody>
      </p:sp>
      <p:graphicFrame>
        <p:nvGraphicFramePr>
          <p:cNvPr id="4" name="物件 3"/>
          <p:cNvGraphicFramePr>
            <a:graphicFrameLocks noChangeAspect="1"/>
          </p:cNvGraphicFramePr>
          <p:nvPr/>
        </p:nvGraphicFramePr>
        <p:xfrm>
          <a:off x="755576" y="2276872"/>
          <a:ext cx="7200800" cy="1080120"/>
        </p:xfrm>
        <a:graphic>
          <a:graphicData uri="http://schemas.openxmlformats.org/presentationml/2006/ole">
            <p:oleObj spid="_x0000_s47106" name="方程式" r:id="rId3" imgW="2539800" imgH="380880" progId="Equation.3">
              <p:embed/>
            </p:oleObj>
          </a:graphicData>
        </a:graphic>
      </p:graphicFrame>
      <p:graphicFrame>
        <p:nvGraphicFramePr>
          <p:cNvPr id="47107" name="Object 3"/>
          <p:cNvGraphicFramePr>
            <a:graphicFrameLocks noChangeAspect="1"/>
          </p:cNvGraphicFramePr>
          <p:nvPr/>
        </p:nvGraphicFramePr>
        <p:xfrm>
          <a:off x="539998" y="4764412"/>
          <a:ext cx="8064450" cy="1040852"/>
        </p:xfrm>
        <a:graphic>
          <a:graphicData uri="http://schemas.openxmlformats.org/presentationml/2006/ole">
            <p:oleObj spid="_x0000_s47107" name="方程式" r:id="rId4" imgW="3149280" imgH="406080" progId="Equation.3">
              <p:embed/>
            </p:oleObj>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預測區間之準確度</a:t>
            </a:r>
            <a:endParaRPr lang="zh-TW" altLang="en-US" dirty="0"/>
          </a:p>
        </p:txBody>
      </p:sp>
      <p:sp>
        <p:nvSpPr>
          <p:cNvPr id="3" name="內容版面配置區 2"/>
          <p:cNvSpPr>
            <a:spLocks noGrp="1"/>
          </p:cNvSpPr>
          <p:nvPr>
            <p:ph idx="1"/>
          </p:nvPr>
        </p:nvSpPr>
        <p:spPr/>
        <p:txBody>
          <a:bodyPr/>
          <a:lstStyle/>
          <a:p>
            <a:r>
              <a:rPr lang="en-US" altLang="zh-TW" dirty="0" smtClean="0">
                <a:latin typeface="標楷體" pitchFamily="65" charset="-120"/>
                <a:ea typeface="標楷體" pitchFamily="65" charset="-120"/>
              </a:rPr>
              <a:t>96</a:t>
            </a:r>
            <a:r>
              <a:rPr lang="zh-TW" altLang="en-US" dirty="0" smtClean="0">
                <a:latin typeface="標楷體" pitchFamily="65" charset="-120"/>
                <a:ea typeface="標楷體" pitchFamily="65" charset="-120"/>
              </a:rPr>
              <a:t>學年度</a:t>
            </a:r>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1434</a:t>
            </a:r>
            <a:r>
              <a:rPr lang="zh-TW" altLang="en-US" dirty="0" smtClean="0">
                <a:latin typeface="標楷體" pitchFamily="65" charset="-120"/>
                <a:ea typeface="標楷體" pitchFamily="65" charset="-120"/>
              </a:rPr>
              <a:t>個校系中有</a:t>
            </a:r>
            <a:r>
              <a:rPr lang="en-US" altLang="zh-TW" dirty="0" smtClean="0">
                <a:latin typeface="標楷體" pitchFamily="65" charset="-120"/>
                <a:ea typeface="標楷體" pitchFamily="65" charset="-120"/>
              </a:rPr>
              <a:t>1088</a:t>
            </a:r>
            <a:r>
              <a:rPr lang="zh-TW" altLang="en-US" dirty="0" smtClean="0">
                <a:latin typeface="標楷體" pitchFamily="65" charset="-120"/>
                <a:ea typeface="標楷體" pitchFamily="65" charset="-120"/>
              </a:rPr>
              <a:t>個在區間內</a:t>
            </a:r>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75.87%</a:t>
            </a:r>
          </a:p>
          <a:p>
            <a:r>
              <a:rPr lang="en-US" altLang="zh-TW" dirty="0" smtClean="0">
                <a:latin typeface="標楷體" pitchFamily="65" charset="-120"/>
                <a:ea typeface="標楷體" pitchFamily="65" charset="-120"/>
              </a:rPr>
              <a:t>95</a:t>
            </a:r>
            <a:r>
              <a:rPr lang="zh-TW" altLang="en-US" dirty="0" smtClean="0">
                <a:latin typeface="標楷體" pitchFamily="65" charset="-120"/>
                <a:ea typeface="標楷體" pitchFamily="65" charset="-120"/>
              </a:rPr>
              <a:t>學年度</a:t>
            </a:r>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1400</a:t>
            </a:r>
            <a:r>
              <a:rPr lang="zh-TW" altLang="en-US" dirty="0" smtClean="0">
                <a:latin typeface="標楷體" pitchFamily="65" charset="-120"/>
                <a:ea typeface="標楷體" pitchFamily="65" charset="-120"/>
              </a:rPr>
              <a:t>個校系中有</a:t>
            </a:r>
            <a:r>
              <a:rPr lang="en-US" altLang="zh-TW" dirty="0" smtClean="0">
                <a:latin typeface="標楷體" pitchFamily="65" charset="-120"/>
                <a:ea typeface="標楷體" pitchFamily="65" charset="-120"/>
              </a:rPr>
              <a:t>1377</a:t>
            </a:r>
            <a:r>
              <a:rPr lang="zh-TW" altLang="en-US" dirty="0" smtClean="0">
                <a:latin typeface="標楷體" pitchFamily="65" charset="-120"/>
                <a:ea typeface="標楷體" pitchFamily="65" charset="-120"/>
              </a:rPr>
              <a:t>個在區間內</a:t>
            </a:r>
            <a:endParaRPr lang="en-US" altLang="zh-TW" dirty="0" smtClean="0">
              <a:latin typeface="標楷體" pitchFamily="65" charset="-120"/>
              <a:ea typeface="標楷體" pitchFamily="65" charset="-120"/>
            </a:endParaRPr>
          </a:p>
          <a:p>
            <a:pPr lvl="1"/>
            <a:r>
              <a:rPr lang="en-US" altLang="zh-TW" dirty="0" smtClean="0">
                <a:latin typeface="標楷體" pitchFamily="65" charset="-120"/>
                <a:ea typeface="標楷體" pitchFamily="65" charset="-120"/>
              </a:rPr>
              <a:t>95.50%</a:t>
            </a:r>
            <a:endParaRPr lang="zh-TW" altLang="en-US" dirty="0">
              <a:latin typeface="標楷體" pitchFamily="65" charset="-120"/>
              <a:ea typeface="標楷體" pitchFamily="65"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預測區間之準確度</a:t>
            </a:r>
            <a:r>
              <a:rPr lang="en-US" altLang="zh-TW" dirty="0" smtClean="0">
                <a:latin typeface="標楷體" pitchFamily="65" charset="-120"/>
                <a:ea typeface="標楷體" pitchFamily="65" charset="-120"/>
              </a:rPr>
              <a:t>(95)</a:t>
            </a:r>
            <a:endParaRPr lang="zh-TW" altLang="en-US" dirty="0"/>
          </a:p>
        </p:txBody>
      </p:sp>
      <p:pic>
        <p:nvPicPr>
          <p:cNvPr id="48130" name="Picture 2"/>
          <p:cNvPicPr>
            <a:picLocks noGrp="1" noChangeAspect="1" noChangeArrowheads="1"/>
          </p:cNvPicPr>
          <p:nvPr>
            <p:ph idx="1"/>
          </p:nvPr>
        </p:nvPicPr>
        <p:blipFill>
          <a:blip r:embed="rId2" cstate="print"/>
          <a:srcRect/>
          <a:stretch>
            <a:fillRect/>
          </a:stretch>
        </p:blipFill>
        <p:spPr bwMode="auto">
          <a:xfrm>
            <a:off x="1907704" y="1268760"/>
            <a:ext cx="5472608" cy="5533511"/>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itchFamily="65" charset="-120"/>
                <a:ea typeface="標楷體" pitchFamily="65" charset="-120"/>
              </a:rPr>
              <a:t>預測區間之準確度</a:t>
            </a:r>
            <a:r>
              <a:rPr lang="en-US" altLang="zh-TW" dirty="0" smtClean="0">
                <a:latin typeface="標楷體" pitchFamily="65" charset="-120"/>
                <a:ea typeface="標楷體" pitchFamily="65" charset="-120"/>
              </a:rPr>
              <a:t>(96)</a:t>
            </a:r>
            <a:endParaRPr lang="zh-TW" altLang="en-US" dirty="0"/>
          </a:p>
        </p:txBody>
      </p:sp>
      <p:pic>
        <p:nvPicPr>
          <p:cNvPr id="49154" name="Picture 2"/>
          <p:cNvPicPr>
            <a:picLocks noGrp="1" noChangeAspect="1" noChangeArrowheads="1"/>
          </p:cNvPicPr>
          <p:nvPr>
            <p:ph idx="1"/>
          </p:nvPr>
        </p:nvPicPr>
        <p:blipFill>
          <a:blip r:embed="rId2" cstate="print"/>
          <a:srcRect/>
          <a:stretch>
            <a:fillRect/>
          </a:stretch>
        </p:blipFill>
        <p:spPr bwMode="auto">
          <a:xfrm>
            <a:off x="1763688" y="1268760"/>
            <a:ext cx="5889003" cy="5472608"/>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67544" y="2780928"/>
            <a:ext cx="8229600" cy="1184995"/>
          </a:xfrm>
        </p:spPr>
        <p:txBody>
          <a:bodyPr>
            <a:noAutofit/>
          </a:bodyPr>
          <a:lstStyle/>
          <a:p>
            <a:pPr algn="ctr">
              <a:buNone/>
            </a:pPr>
            <a:r>
              <a:rPr lang="en-US" altLang="zh-TW" sz="7200" dirty="0" smtClean="0"/>
              <a:t>Thank you!</a:t>
            </a:r>
            <a:endParaRPr lang="zh-TW" altLang="en-US" sz="7200"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1258</TotalTime>
  <Words>1139</Words>
  <Application>Microsoft Office PowerPoint</Application>
  <PresentationFormat>如螢幕大小 (4:3)</PresentationFormat>
  <Paragraphs>137</Paragraphs>
  <Slides>34</Slides>
  <Notes>1</Notes>
  <HiddenSlides>0</HiddenSlides>
  <MMClips>0</MMClips>
  <ScaleCrop>false</ScaleCrop>
  <HeadingPairs>
    <vt:vector size="6" baseType="variant">
      <vt:variant>
        <vt:lpstr>佈景主題</vt:lpstr>
      </vt:variant>
      <vt:variant>
        <vt:i4>1</vt:i4>
      </vt:variant>
      <vt:variant>
        <vt:lpstr>內嵌 OLE 伺服程式</vt:lpstr>
      </vt:variant>
      <vt:variant>
        <vt:i4>2</vt:i4>
      </vt:variant>
      <vt:variant>
        <vt:lpstr>投影片標題</vt:lpstr>
      </vt:variant>
      <vt:variant>
        <vt:i4>34</vt:i4>
      </vt:variant>
    </vt:vector>
  </HeadingPairs>
  <TitlesOfParts>
    <vt:vector size="37" baseType="lpstr">
      <vt:lpstr>Office 佈景主題</vt:lpstr>
      <vt:lpstr>方程式</vt:lpstr>
      <vt:lpstr>Microsoft 方程式編輯器 3.0</vt:lpstr>
      <vt:lpstr>大學指考落點預測指標研究與實證分析 On the Study of Forecasting Indices After the College Entrance Examination with Real Data</vt:lpstr>
      <vt:lpstr>Abtract</vt:lpstr>
      <vt:lpstr>研究方法</vt:lpstr>
      <vt:lpstr>研究方法</vt:lpstr>
      <vt:lpstr>研究方法</vt:lpstr>
      <vt:lpstr>研究方法</vt:lpstr>
      <vt:lpstr>Simple Linear Regression Model</vt:lpstr>
      <vt:lpstr>Simple Linear Regression Model</vt:lpstr>
      <vt:lpstr>四種預測指標</vt:lpstr>
      <vt:lpstr>四種預測指標</vt:lpstr>
      <vt:lpstr>考科平均數與標準差的估計</vt:lpstr>
      <vt:lpstr>預測模型中參數的探討 </vt:lpstr>
      <vt:lpstr>預測模型中參數的探討 </vt:lpstr>
      <vt:lpstr>預測模型中參數的探討 </vt:lpstr>
      <vt:lpstr>虛無假設</vt:lpstr>
      <vt:lpstr>虛無假設</vt:lpstr>
      <vt:lpstr>虛無假設</vt:lpstr>
      <vt:lpstr>預測模型中參數的探討 </vt:lpstr>
      <vt:lpstr>預測模型中參數的探討 </vt:lpstr>
      <vt:lpstr>預測模型中參數的探討 </vt:lpstr>
      <vt:lpstr>四種預測指標的比較</vt:lpstr>
      <vt:lpstr>四種預測指標的比較</vt:lpstr>
      <vt:lpstr>四種預測指標的比較</vt:lpstr>
      <vt:lpstr>四種預測指標的比較</vt:lpstr>
      <vt:lpstr>四種預測指標的比較</vt:lpstr>
      <vt:lpstr>四種預測指標的比較</vt:lpstr>
      <vt:lpstr>新增校系之預測</vt:lpstr>
      <vt:lpstr>新增校系之預測</vt:lpstr>
      <vt:lpstr>新增校系之預測</vt:lpstr>
      <vt:lpstr>預測區間之準確度</vt:lpstr>
      <vt:lpstr>預測區間之準確度</vt:lpstr>
      <vt:lpstr>預測區間之準確度(95)</vt:lpstr>
      <vt:lpstr>預測區間之準確度(96)</vt:lpstr>
      <vt:lpstr>投影片 34</vt:lpstr>
    </vt:vector>
  </TitlesOfParts>
  <Company>PPLAB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大學指考落點預測指標研究與實證分析 On the Study of Forecasting Indices After the College Entrance Examination with Real Data</dc:title>
  <dc:creator>William</dc:creator>
  <cp:lastModifiedBy>Guest</cp:lastModifiedBy>
  <cp:revision>135</cp:revision>
  <dcterms:created xsi:type="dcterms:W3CDTF">2011-07-23T08:00:44Z</dcterms:created>
  <dcterms:modified xsi:type="dcterms:W3CDTF">2011-07-25T10:28:38Z</dcterms:modified>
</cp:coreProperties>
</file>