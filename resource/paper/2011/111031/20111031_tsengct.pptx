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Default Extension="vml" ContentType="application/vnd.openxmlformats-officedocument.vmlDrawing"/>
  <Override PartName="/ppt/notesSlides/notesSlide11.xml" ContentType="application/vnd.openxmlformats-officedocument.presentationml.notesSlide+xml"/>
  <Override PartName="/ppt/notesSlides/notesSlide20.xml" ContentType="application/vnd.openxmlformats-officedocument.presentationml.notesSlide+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1"/>
  </p:notesMasterIdLst>
  <p:handoutMasterIdLst>
    <p:handoutMasterId r:id="rId32"/>
  </p:handoutMasterIdLst>
  <p:sldIdLst>
    <p:sldId id="256" r:id="rId2"/>
    <p:sldId id="257" r:id="rId3"/>
    <p:sldId id="259" r:id="rId4"/>
    <p:sldId id="258" r:id="rId5"/>
    <p:sldId id="284" r:id="rId6"/>
    <p:sldId id="260" r:id="rId7"/>
    <p:sldId id="277" r:id="rId8"/>
    <p:sldId id="261" r:id="rId9"/>
    <p:sldId id="262" r:id="rId10"/>
    <p:sldId id="271" r:id="rId11"/>
    <p:sldId id="263" r:id="rId12"/>
    <p:sldId id="264" r:id="rId13"/>
    <p:sldId id="265" r:id="rId14"/>
    <p:sldId id="267" r:id="rId15"/>
    <p:sldId id="266" r:id="rId16"/>
    <p:sldId id="269" r:id="rId17"/>
    <p:sldId id="268" r:id="rId18"/>
    <p:sldId id="270" r:id="rId19"/>
    <p:sldId id="272" r:id="rId20"/>
    <p:sldId id="273" r:id="rId21"/>
    <p:sldId id="278" r:id="rId22"/>
    <p:sldId id="274" r:id="rId23"/>
    <p:sldId id="275" r:id="rId24"/>
    <p:sldId id="279" r:id="rId25"/>
    <p:sldId id="280" r:id="rId26"/>
    <p:sldId id="281" r:id="rId27"/>
    <p:sldId id="282" r:id="rId28"/>
    <p:sldId id="283" r:id="rId29"/>
    <p:sldId id="276" r:id="rId30"/>
  </p:sldIdLst>
  <p:sldSz cx="9144000" cy="6858000" type="screen4x3"/>
  <p:notesSz cx="10234613" cy="70993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預設章節" id="{0262AC18-6B63-4662-A5E5-927A74E24B33}">
          <p14:sldIdLst>
            <p14:sldId id="256"/>
          </p14:sldIdLst>
        </p14:section>
        <p14:section name="未命名的章節" id="{0F614A01-582E-4D74-863A-DB797456C8C0}">
          <p14:sldIdLst>
            <p14:sldId id="257"/>
            <p14:sldId id="259"/>
            <p14:sldId id="258"/>
            <p14:sldId id="284"/>
            <p14:sldId id="260"/>
            <p14:sldId id="277"/>
            <p14:sldId id="261"/>
            <p14:sldId id="262"/>
            <p14:sldId id="271"/>
            <p14:sldId id="263"/>
            <p14:sldId id="264"/>
            <p14:sldId id="265"/>
            <p14:sldId id="267"/>
            <p14:sldId id="266"/>
            <p14:sldId id="269"/>
            <p14:sldId id="268"/>
            <p14:sldId id="270"/>
            <p14:sldId id="272"/>
            <p14:sldId id="273"/>
            <p14:sldId id="278"/>
            <p14:sldId id="274"/>
            <p14:sldId id="275"/>
            <p14:sldId id="279"/>
            <p14:sldId id="280"/>
            <p14:sldId id="281"/>
            <p14:sldId id="282"/>
            <p14:sldId id="283"/>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576" y="-9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4434999" cy="354965"/>
          </a:xfrm>
          <a:prstGeom prst="rect">
            <a:avLst/>
          </a:prstGeom>
        </p:spPr>
        <p:txBody>
          <a:bodyPr vert="horz" lIns="94759" tIns="47380" rIns="94759" bIns="47380" rtlCol="0"/>
          <a:lstStyle>
            <a:lvl1pPr algn="l">
              <a:defRPr sz="1200"/>
            </a:lvl1pPr>
          </a:lstStyle>
          <a:p>
            <a:endParaRPr lang="zh-TW" altLang="en-US"/>
          </a:p>
        </p:txBody>
      </p:sp>
      <p:sp>
        <p:nvSpPr>
          <p:cNvPr id="3" name="日期版面配置區 2"/>
          <p:cNvSpPr>
            <a:spLocks noGrp="1"/>
          </p:cNvSpPr>
          <p:nvPr>
            <p:ph type="dt" sz="quarter" idx="1"/>
          </p:nvPr>
        </p:nvSpPr>
        <p:spPr>
          <a:xfrm>
            <a:off x="5797247" y="0"/>
            <a:ext cx="4434999" cy="354965"/>
          </a:xfrm>
          <a:prstGeom prst="rect">
            <a:avLst/>
          </a:prstGeom>
        </p:spPr>
        <p:txBody>
          <a:bodyPr vert="horz" lIns="94759" tIns="47380" rIns="94759" bIns="47380" rtlCol="0"/>
          <a:lstStyle>
            <a:lvl1pPr algn="r">
              <a:defRPr sz="1200"/>
            </a:lvl1pPr>
          </a:lstStyle>
          <a:p>
            <a:fld id="{D725E274-B443-490C-86AC-53F15993C438}" type="datetimeFigureOut">
              <a:rPr lang="zh-TW" altLang="en-US" smtClean="0"/>
              <a:pPr/>
              <a:t>2011/10/31</a:t>
            </a:fld>
            <a:endParaRPr lang="zh-TW" altLang="en-US"/>
          </a:p>
        </p:txBody>
      </p:sp>
      <p:sp>
        <p:nvSpPr>
          <p:cNvPr id="4" name="頁尾版面配置區 3"/>
          <p:cNvSpPr>
            <a:spLocks noGrp="1"/>
          </p:cNvSpPr>
          <p:nvPr>
            <p:ph type="ftr" sz="quarter" idx="2"/>
          </p:nvPr>
        </p:nvSpPr>
        <p:spPr>
          <a:xfrm>
            <a:off x="1" y="6743104"/>
            <a:ext cx="4434999" cy="354965"/>
          </a:xfrm>
          <a:prstGeom prst="rect">
            <a:avLst/>
          </a:prstGeom>
        </p:spPr>
        <p:txBody>
          <a:bodyPr vert="horz" lIns="94759" tIns="47380" rIns="94759" bIns="4738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797247" y="6743104"/>
            <a:ext cx="4434999" cy="354965"/>
          </a:xfrm>
          <a:prstGeom prst="rect">
            <a:avLst/>
          </a:prstGeom>
        </p:spPr>
        <p:txBody>
          <a:bodyPr vert="horz" lIns="94759" tIns="47380" rIns="94759" bIns="47380" rtlCol="0" anchor="b"/>
          <a:lstStyle>
            <a:lvl1pPr algn="r">
              <a:defRPr sz="1200"/>
            </a:lvl1pPr>
          </a:lstStyle>
          <a:p>
            <a:fld id="{3AA9A4F6-C27F-47F6-A9D7-97913D89A7D8}" type="slidenum">
              <a:rPr lang="zh-TW" altLang="en-US" smtClean="0"/>
              <a:pPr/>
              <a:t>‹#›</a:t>
            </a:fld>
            <a:endParaRPr lang="zh-TW" altLang="en-US"/>
          </a:p>
        </p:txBody>
      </p:sp>
    </p:spTree>
    <p:extLst>
      <p:ext uri="{BB962C8B-B14F-4D97-AF65-F5344CB8AC3E}">
        <p14:creationId xmlns:p14="http://schemas.microsoft.com/office/powerpoint/2010/main" xmlns="" val="39073827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4434999" cy="354965"/>
          </a:xfrm>
          <a:prstGeom prst="rect">
            <a:avLst/>
          </a:prstGeom>
        </p:spPr>
        <p:txBody>
          <a:bodyPr vert="horz" lIns="94759" tIns="47380" rIns="94759" bIns="47380" rtlCol="0"/>
          <a:lstStyle>
            <a:lvl1pPr algn="l">
              <a:defRPr sz="1200"/>
            </a:lvl1pPr>
          </a:lstStyle>
          <a:p>
            <a:endParaRPr lang="zh-TW" altLang="en-US"/>
          </a:p>
        </p:txBody>
      </p:sp>
      <p:sp>
        <p:nvSpPr>
          <p:cNvPr id="3" name="日期版面配置區 2"/>
          <p:cNvSpPr>
            <a:spLocks noGrp="1"/>
          </p:cNvSpPr>
          <p:nvPr>
            <p:ph type="dt" idx="1"/>
          </p:nvPr>
        </p:nvSpPr>
        <p:spPr>
          <a:xfrm>
            <a:off x="5797838" y="0"/>
            <a:ext cx="4434999" cy="354965"/>
          </a:xfrm>
          <a:prstGeom prst="rect">
            <a:avLst/>
          </a:prstGeom>
        </p:spPr>
        <p:txBody>
          <a:bodyPr vert="horz" lIns="94759" tIns="47380" rIns="94759" bIns="47380" rtlCol="0"/>
          <a:lstStyle>
            <a:lvl1pPr algn="r">
              <a:defRPr sz="1200"/>
            </a:lvl1pPr>
          </a:lstStyle>
          <a:p>
            <a:fld id="{B42283D5-7315-4047-B6D7-ECA9A8FC3ACA}" type="datetimeFigureOut">
              <a:rPr lang="zh-TW" altLang="en-US" smtClean="0"/>
              <a:pPr/>
              <a:t>2011/10/31</a:t>
            </a:fld>
            <a:endParaRPr lang="zh-TW" altLang="en-US"/>
          </a:p>
        </p:txBody>
      </p:sp>
      <p:sp>
        <p:nvSpPr>
          <p:cNvPr id="4" name="投影片圖像版面配置區 3"/>
          <p:cNvSpPr>
            <a:spLocks noGrp="1" noRot="1" noChangeAspect="1"/>
          </p:cNvSpPr>
          <p:nvPr>
            <p:ph type="sldImg" idx="2"/>
          </p:nvPr>
        </p:nvSpPr>
        <p:spPr>
          <a:xfrm>
            <a:off x="3341688" y="531813"/>
            <a:ext cx="3551237" cy="2663825"/>
          </a:xfrm>
          <a:prstGeom prst="rect">
            <a:avLst/>
          </a:prstGeom>
          <a:noFill/>
          <a:ln w="12700">
            <a:solidFill>
              <a:prstClr val="black"/>
            </a:solidFill>
          </a:ln>
        </p:spPr>
        <p:txBody>
          <a:bodyPr vert="horz" lIns="94759" tIns="47380" rIns="94759" bIns="47380" rtlCol="0" anchor="ctr"/>
          <a:lstStyle/>
          <a:p>
            <a:endParaRPr lang="zh-TW" altLang="en-US"/>
          </a:p>
        </p:txBody>
      </p:sp>
      <p:sp>
        <p:nvSpPr>
          <p:cNvPr id="5" name="備忘稿版面配置區 4"/>
          <p:cNvSpPr>
            <a:spLocks noGrp="1"/>
          </p:cNvSpPr>
          <p:nvPr>
            <p:ph type="body" sz="quarter" idx="3"/>
          </p:nvPr>
        </p:nvSpPr>
        <p:spPr>
          <a:xfrm>
            <a:off x="1023462" y="3372168"/>
            <a:ext cx="8187690" cy="3194685"/>
          </a:xfrm>
          <a:prstGeom prst="rect">
            <a:avLst/>
          </a:prstGeom>
        </p:spPr>
        <p:txBody>
          <a:bodyPr vert="horz" lIns="94759" tIns="47380" rIns="94759" bIns="4738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1" y="6742692"/>
            <a:ext cx="4434999" cy="354965"/>
          </a:xfrm>
          <a:prstGeom prst="rect">
            <a:avLst/>
          </a:prstGeom>
        </p:spPr>
        <p:txBody>
          <a:bodyPr vert="horz" lIns="94759" tIns="47380" rIns="94759" bIns="4738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797838" y="6742692"/>
            <a:ext cx="4434999" cy="354965"/>
          </a:xfrm>
          <a:prstGeom prst="rect">
            <a:avLst/>
          </a:prstGeom>
        </p:spPr>
        <p:txBody>
          <a:bodyPr vert="horz" lIns="94759" tIns="47380" rIns="94759" bIns="47380" rtlCol="0" anchor="b"/>
          <a:lstStyle>
            <a:lvl1pPr algn="r">
              <a:defRPr sz="1200"/>
            </a:lvl1pPr>
          </a:lstStyle>
          <a:p>
            <a:fld id="{CC5E1401-27B8-4002-B8DB-524BB25249DD}" type="slidenum">
              <a:rPr lang="zh-TW" altLang="en-US" smtClean="0"/>
              <a:pPr/>
              <a:t>‹#›</a:t>
            </a:fld>
            <a:endParaRPr lang="zh-TW" altLang="en-US"/>
          </a:p>
        </p:txBody>
      </p:sp>
    </p:spTree>
    <p:extLst>
      <p:ext uri="{BB962C8B-B14F-4D97-AF65-F5344CB8AC3E}">
        <p14:creationId xmlns:p14="http://schemas.microsoft.com/office/powerpoint/2010/main" xmlns="" val="3628488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a:t>
            </a:fld>
            <a:endParaRPr lang="zh-TW" altLang="en-US"/>
          </a:p>
        </p:txBody>
      </p:sp>
    </p:spTree>
    <p:extLst>
      <p:ext uri="{BB962C8B-B14F-4D97-AF65-F5344CB8AC3E}">
        <p14:creationId xmlns:p14="http://schemas.microsoft.com/office/powerpoint/2010/main" xmlns="" val="2805529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2</a:t>
            </a:fld>
            <a:endParaRPr lang="zh-TW" altLang="en-US"/>
          </a:p>
        </p:txBody>
      </p:sp>
    </p:spTree>
    <p:extLst>
      <p:ext uri="{BB962C8B-B14F-4D97-AF65-F5344CB8AC3E}">
        <p14:creationId xmlns:p14="http://schemas.microsoft.com/office/powerpoint/2010/main" xmlns="" val="3659312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3</a:t>
            </a:fld>
            <a:endParaRPr lang="zh-TW" altLang="en-US"/>
          </a:p>
        </p:txBody>
      </p:sp>
    </p:spTree>
    <p:extLst>
      <p:ext uri="{BB962C8B-B14F-4D97-AF65-F5344CB8AC3E}">
        <p14:creationId xmlns:p14="http://schemas.microsoft.com/office/powerpoint/2010/main" xmlns="" val="939243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4</a:t>
            </a:fld>
            <a:endParaRPr lang="zh-TW" altLang="en-US"/>
          </a:p>
        </p:txBody>
      </p:sp>
    </p:spTree>
    <p:extLst>
      <p:ext uri="{BB962C8B-B14F-4D97-AF65-F5344CB8AC3E}">
        <p14:creationId xmlns:p14="http://schemas.microsoft.com/office/powerpoint/2010/main" xmlns="" val="2235863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6</a:t>
            </a:fld>
            <a:endParaRPr lang="zh-TW" altLang="en-US"/>
          </a:p>
        </p:txBody>
      </p:sp>
    </p:spTree>
    <p:extLst>
      <p:ext uri="{BB962C8B-B14F-4D97-AF65-F5344CB8AC3E}">
        <p14:creationId xmlns:p14="http://schemas.microsoft.com/office/powerpoint/2010/main" xmlns="" val="2861524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7</a:t>
            </a:fld>
            <a:endParaRPr lang="zh-TW" altLang="en-US"/>
          </a:p>
        </p:txBody>
      </p:sp>
    </p:spTree>
    <p:extLst>
      <p:ext uri="{BB962C8B-B14F-4D97-AF65-F5344CB8AC3E}">
        <p14:creationId xmlns:p14="http://schemas.microsoft.com/office/powerpoint/2010/main" xmlns="" val="3659312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8</a:t>
            </a:fld>
            <a:endParaRPr lang="zh-TW" altLang="en-US"/>
          </a:p>
        </p:txBody>
      </p:sp>
    </p:spTree>
    <p:extLst>
      <p:ext uri="{BB962C8B-B14F-4D97-AF65-F5344CB8AC3E}">
        <p14:creationId xmlns:p14="http://schemas.microsoft.com/office/powerpoint/2010/main" xmlns="" val="157299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9</a:t>
            </a:fld>
            <a:endParaRPr lang="zh-TW" altLang="en-US"/>
          </a:p>
        </p:txBody>
      </p:sp>
    </p:spTree>
    <p:extLst>
      <p:ext uri="{BB962C8B-B14F-4D97-AF65-F5344CB8AC3E}">
        <p14:creationId xmlns:p14="http://schemas.microsoft.com/office/powerpoint/2010/main" xmlns="" val="3119346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10</a:t>
            </a:fld>
            <a:endParaRPr lang="zh-TW" altLang="en-US"/>
          </a:p>
        </p:txBody>
      </p:sp>
    </p:spTree>
    <p:extLst>
      <p:ext uri="{BB962C8B-B14F-4D97-AF65-F5344CB8AC3E}">
        <p14:creationId xmlns:p14="http://schemas.microsoft.com/office/powerpoint/2010/main" xmlns="" val="1630131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11</a:t>
            </a:fld>
            <a:endParaRPr lang="zh-TW" altLang="en-US"/>
          </a:p>
        </p:txBody>
      </p:sp>
    </p:spTree>
    <p:extLst>
      <p:ext uri="{BB962C8B-B14F-4D97-AF65-F5344CB8AC3E}">
        <p14:creationId xmlns:p14="http://schemas.microsoft.com/office/powerpoint/2010/main" xmlns="" val="3405010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12</a:t>
            </a:fld>
            <a:endParaRPr lang="zh-TW" altLang="en-US"/>
          </a:p>
        </p:txBody>
      </p:sp>
    </p:spTree>
    <p:extLst>
      <p:ext uri="{BB962C8B-B14F-4D97-AF65-F5344CB8AC3E}">
        <p14:creationId xmlns:p14="http://schemas.microsoft.com/office/powerpoint/2010/main" xmlns="" val="2188335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13</a:t>
            </a:fld>
            <a:endParaRPr lang="zh-TW" altLang="en-US"/>
          </a:p>
        </p:txBody>
      </p:sp>
    </p:spTree>
    <p:extLst>
      <p:ext uri="{BB962C8B-B14F-4D97-AF65-F5344CB8AC3E}">
        <p14:creationId xmlns:p14="http://schemas.microsoft.com/office/powerpoint/2010/main" xmlns="" val="3966650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14</a:t>
            </a:fld>
            <a:endParaRPr lang="zh-TW" altLang="en-US"/>
          </a:p>
        </p:txBody>
      </p:sp>
    </p:spTree>
    <p:extLst>
      <p:ext uri="{BB962C8B-B14F-4D97-AF65-F5344CB8AC3E}">
        <p14:creationId xmlns:p14="http://schemas.microsoft.com/office/powerpoint/2010/main" xmlns="" val="505238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15</a:t>
            </a:fld>
            <a:endParaRPr lang="zh-TW" altLang="en-US"/>
          </a:p>
        </p:txBody>
      </p:sp>
    </p:spTree>
    <p:extLst>
      <p:ext uri="{BB962C8B-B14F-4D97-AF65-F5344CB8AC3E}">
        <p14:creationId xmlns:p14="http://schemas.microsoft.com/office/powerpoint/2010/main" xmlns="" val="7584628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16</a:t>
            </a:fld>
            <a:endParaRPr lang="zh-TW" altLang="en-US"/>
          </a:p>
        </p:txBody>
      </p:sp>
    </p:spTree>
    <p:extLst>
      <p:ext uri="{BB962C8B-B14F-4D97-AF65-F5344CB8AC3E}">
        <p14:creationId xmlns:p14="http://schemas.microsoft.com/office/powerpoint/2010/main" xmlns="" val="159659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17</a:t>
            </a:fld>
            <a:endParaRPr lang="zh-TW" altLang="en-US"/>
          </a:p>
        </p:txBody>
      </p:sp>
    </p:spTree>
    <p:extLst>
      <p:ext uri="{BB962C8B-B14F-4D97-AF65-F5344CB8AC3E}">
        <p14:creationId xmlns:p14="http://schemas.microsoft.com/office/powerpoint/2010/main" xmlns="" val="2535325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18</a:t>
            </a:fld>
            <a:endParaRPr lang="zh-TW" altLang="en-US"/>
          </a:p>
        </p:txBody>
      </p:sp>
    </p:spTree>
    <p:extLst>
      <p:ext uri="{BB962C8B-B14F-4D97-AF65-F5344CB8AC3E}">
        <p14:creationId xmlns:p14="http://schemas.microsoft.com/office/powerpoint/2010/main" xmlns="" val="20639274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19</a:t>
            </a:fld>
            <a:endParaRPr lang="zh-TW" altLang="en-US"/>
          </a:p>
        </p:txBody>
      </p:sp>
    </p:spTree>
    <p:extLst>
      <p:ext uri="{BB962C8B-B14F-4D97-AF65-F5344CB8AC3E}">
        <p14:creationId xmlns:p14="http://schemas.microsoft.com/office/powerpoint/2010/main" xmlns="" val="3758122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20</a:t>
            </a:fld>
            <a:endParaRPr lang="zh-TW" altLang="en-US"/>
          </a:p>
        </p:txBody>
      </p:sp>
    </p:spTree>
    <p:extLst>
      <p:ext uri="{BB962C8B-B14F-4D97-AF65-F5344CB8AC3E}">
        <p14:creationId xmlns:p14="http://schemas.microsoft.com/office/powerpoint/2010/main" xmlns="" val="3594363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21</a:t>
            </a:fld>
            <a:endParaRPr lang="zh-TW" altLang="en-US"/>
          </a:p>
        </p:txBody>
      </p:sp>
    </p:spTree>
    <p:extLst>
      <p:ext uri="{BB962C8B-B14F-4D97-AF65-F5344CB8AC3E}">
        <p14:creationId xmlns:p14="http://schemas.microsoft.com/office/powerpoint/2010/main" xmlns="" val="36593123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22</a:t>
            </a:fld>
            <a:endParaRPr lang="zh-TW" altLang="en-US"/>
          </a:p>
        </p:txBody>
      </p:sp>
    </p:spTree>
    <p:extLst>
      <p:ext uri="{BB962C8B-B14F-4D97-AF65-F5344CB8AC3E}">
        <p14:creationId xmlns:p14="http://schemas.microsoft.com/office/powerpoint/2010/main" xmlns="" val="2751171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23</a:t>
            </a:fld>
            <a:endParaRPr lang="zh-TW" altLang="en-US"/>
          </a:p>
        </p:txBody>
      </p:sp>
    </p:spTree>
    <p:extLst>
      <p:ext uri="{BB962C8B-B14F-4D97-AF65-F5344CB8AC3E}">
        <p14:creationId xmlns:p14="http://schemas.microsoft.com/office/powerpoint/2010/main" xmlns="" val="795793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CC5E1401-27B8-4002-B8DB-524BB25249DD}" type="slidenum">
              <a:rPr lang="zh-TW" altLang="en-US" smtClean="0"/>
              <a:pPr/>
              <a:t>29</a:t>
            </a:fld>
            <a:endParaRPr lang="zh-TW" altLang="en-US"/>
          </a:p>
        </p:txBody>
      </p:sp>
    </p:spTree>
    <p:extLst>
      <p:ext uri="{BB962C8B-B14F-4D97-AF65-F5344CB8AC3E}">
        <p14:creationId xmlns:p14="http://schemas.microsoft.com/office/powerpoint/2010/main" xmlns="" val="2491387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14" name="標題 13"/>
          <p:cNvSpPr>
            <a:spLocks noGrp="1"/>
          </p:cNvSpPr>
          <p:nvPr>
            <p:ph type="ctrTitle"/>
          </p:nvPr>
        </p:nvSpPr>
        <p:spPr>
          <a:xfrm>
            <a:off x="1432560" y="359898"/>
            <a:ext cx="7406640" cy="1472184"/>
          </a:xfrm>
        </p:spPr>
        <p:txBody>
          <a:bodyPr anchor="b"/>
          <a:lstStyle>
            <a:lvl1pPr algn="l">
              <a:defRPr/>
            </a:lvl1pPr>
            <a:extLst/>
          </a:lstStyle>
          <a:p>
            <a:r>
              <a:rPr kumimoji="0" lang="zh-TW" altLang="en-US" smtClean="0"/>
              <a:t>按一下以編輯母片標題樣式</a:t>
            </a:r>
            <a:endParaRPr kumimoji="0" lang="en-US"/>
          </a:p>
        </p:txBody>
      </p:sp>
      <p:sp>
        <p:nvSpPr>
          <p:cNvPr id="22" name="副標題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TW" altLang="en-US" smtClean="0"/>
              <a:t>按一下以編輯母片副標題樣式</a:t>
            </a:r>
            <a:endParaRPr kumimoji="0" lang="en-US"/>
          </a:p>
        </p:txBody>
      </p:sp>
      <p:sp>
        <p:nvSpPr>
          <p:cNvPr id="7" name="日期版面配置區 6"/>
          <p:cNvSpPr>
            <a:spLocks noGrp="1"/>
          </p:cNvSpPr>
          <p:nvPr>
            <p:ph type="dt" sz="half" idx="10"/>
          </p:nvPr>
        </p:nvSpPr>
        <p:spPr/>
        <p:txBody>
          <a:bodyPr/>
          <a:lstStyle>
            <a:extLst/>
          </a:lstStyle>
          <a:p>
            <a:fld id="{6BCE73B6-FB7D-48E0-86AE-B63C630FFDB1}" type="datetime1">
              <a:rPr lang="zh-TW" altLang="en-US" smtClean="0"/>
              <a:pPr/>
              <a:t>2011/10/31</a:t>
            </a:fld>
            <a:endParaRPr lang="zh-TW" altLang="en-US"/>
          </a:p>
        </p:txBody>
      </p:sp>
      <p:sp>
        <p:nvSpPr>
          <p:cNvPr id="20" name="頁尾版面配置區 19"/>
          <p:cNvSpPr>
            <a:spLocks noGrp="1"/>
          </p:cNvSpPr>
          <p:nvPr>
            <p:ph type="ftr" sz="quarter" idx="11"/>
          </p:nvPr>
        </p:nvSpPr>
        <p:spPr/>
        <p:txBody>
          <a:bodyPr/>
          <a:lstStyle>
            <a:extLst/>
          </a:lstStyle>
          <a:p>
            <a:endParaRPr lang="zh-TW" altLang="en-US"/>
          </a:p>
        </p:txBody>
      </p:sp>
      <p:sp>
        <p:nvSpPr>
          <p:cNvPr id="10" name="投影片編號版面配置區 9"/>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
        <p:nvSpPr>
          <p:cNvPr id="8" name="橢圓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橢圓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extLst/>
          </a:lstStyle>
          <a:p>
            <a:r>
              <a:rPr kumimoji="0" lang="zh-TW" altLang="en-US" smtClean="0"/>
              <a:t>按一下以編輯母片標題樣式</a:t>
            </a:r>
            <a:endParaRPr kumimoji="0" lang="en-US"/>
          </a:p>
        </p:txBody>
      </p:sp>
      <p:sp>
        <p:nvSpPr>
          <p:cNvPr id="3" name="內容版面配置區 2"/>
          <p:cNvSpPr>
            <a:spLocks noGrp="1"/>
          </p:cNvSpPr>
          <p:nvPr>
            <p:ph idx="1"/>
          </p:nvPr>
        </p:nvSpPr>
        <p:spPr/>
        <p:txBody>
          <a:bodyPr/>
          <a:lstStyle>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extLst/>
          </a:lstStyle>
          <a:p>
            <a:fld id="{7291E94E-69C1-479F-BFBB-0B072101B52A}" type="datetime1">
              <a:rPr lang="zh-TW" altLang="en-US" smtClean="0"/>
              <a:pPr/>
              <a:t>2011/10/31</a:t>
            </a:fld>
            <a:endParaRPr lang="zh-TW" altLang="en-US"/>
          </a:p>
        </p:txBody>
      </p:sp>
      <p:sp>
        <p:nvSpPr>
          <p:cNvPr id="5" name="頁尾版面配置區 4"/>
          <p:cNvSpPr>
            <a:spLocks noGrp="1"/>
          </p:cNvSpPr>
          <p:nvPr>
            <p:ph type="ftr" sz="quarter" idx="11"/>
          </p:nvPr>
        </p:nvSpPr>
        <p:spPr/>
        <p:txBody>
          <a:bodyPr/>
          <a:lstStyle>
            <a:extLst/>
          </a:lstStyle>
          <a:p>
            <a:endParaRPr lang="zh-TW" altLang="en-US"/>
          </a:p>
        </p:txBody>
      </p:sp>
      <p:sp>
        <p:nvSpPr>
          <p:cNvPr id="6" name="投影片編號版面配置區 5"/>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7" name="矩形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標題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p:txBody>
          <a:bodyPr/>
          <a:lstStyle>
            <a:extLst/>
          </a:lstStyle>
          <a:p>
            <a:fld id="{E668B565-1B23-45BC-8C24-7A5A05B77C6B}" type="datetime1">
              <a:rPr lang="zh-TW" altLang="en-US" smtClean="0"/>
              <a:pPr/>
              <a:t>2011/10/31</a:t>
            </a:fld>
            <a:endParaRPr lang="zh-TW" altLang="en-US"/>
          </a:p>
        </p:txBody>
      </p:sp>
      <p:sp>
        <p:nvSpPr>
          <p:cNvPr id="5" name="頁尾版面配置區 4"/>
          <p:cNvSpPr>
            <a:spLocks noGrp="1"/>
          </p:cNvSpPr>
          <p:nvPr>
            <p:ph type="ftr" sz="quarter" idx="11"/>
          </p:nvPr>
        </p:nvSpPr>
        <p:spPr/>
        <p:txBody>
          <a:bodyPr/>
          <a:lstStyle>
            <a:extLst/>
          </a:lstStyle>
          <a:p>
            <a:endParaRPr lang="zh-TW" altLang="en-US"/>
          </a:p>
        </p:txBody>
      </p:sp>
      <p:sp>
        <p:nvSpPr>
          <p:cNvPr id="6" name="投影片編號版面配置區 5"/>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
        <p:nvSpPr>
          <p:cNvPr id="10" name="矩形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橢圓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橢圓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1435608" y="274320"/>
            <a:ext cx="7498080" cy="1143000"/>
          </a:xfrm>
        </p:spPr>
        <p:txBody>
          <a:bodyPr/>
          <a:lstStyle>
            <a:extLst/>
          </a:lstStyle>
          <a:p>
            <a:r>
              <a:rPr kumimoji="0" lang="zh-TW" altLang="en-US" smtClean="0"/>
              <a:t>按一下以編輯母片標題樣式</a:t>
            </a:r>
            <a:endParaRPr kumimoji="0" lang="en-US"/>
          </a:p>
        </p:txBody>
      </p:sp>
      <p:sp>
        <p:nvSpPr>
          <p:cNvPr id="3" name="內容版面配置區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內容版面配置區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5" name="日期版面配置區 4"/>
          <p:cNvSpPr>
            <a:spLocks noGrp="1"/>
          </p:cNvSpPr>
          <p:nvPr>
            <p:ph type="dt" sz="half" idx="10"/>
          </p:nvPr>
        </p:nvSpPr>
        <p:spPr/>
        <p:txBody>
          <a:bodyPr/>
          <a:lstStyle>
            <a:extLst/>
          </a:lstStyle>
          <a:p>
            <a:fld id="{2F20FFA4-6490-4D06-A86D-B3DC53E60286}" type="datetime1">
              <a:rPr lang="zh-TW" altLang="en-US" smtClean="0"/>
              <a:pPr/>
              <a:t>2011/10/31</a:t>
            </a:fld>
            <a:endParaRPr lang="zh-TW" altLang="en-US"/>
          </a:p>
        </p:txBody>
      </p:sp>
      <p:sp>
        <p:nvSpPr>
          <p:cNvPr id="6" name="頁尾版面配置區 5"/>
          <p:cNvSpPr>
            <a:spLocks noGrp="1"/>
          </p:cNvSpPr>
          <p:nvPr>
            <p:ph type="ftr" sz="quarter" idx="11"/>
          </p:nvPr>
        </p:nvSpPr>
        <p:spPr/>
        <p:txBody>
          <a:bodyPr/>
          <a:lstStyle>
            <a:extLst/>
          </a:lstStyle>
          <a:p>
            <a:endParaRPr lang="zh-TW" altLang="en-US"/>
          </a:p>
        </p:txBody>
      </p:sp>
      <p:sp>
        <p:nvSpPr>
          <p:cNvPr id="7" name="投影片編號版面配置區 6"/>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smtClean="0"/>
              <a:t>按一下以編輯母片文字樣式</a:t>
            </a:r>
          </a:p>
        </p:txBody>
      </p:sp>
      <p:sp>
        <p:nvSpPr>
          <p:cNvPr id="5" name="內容版面配置區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6" name="內容版面配置區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7" name="日期版面配置區 6"/>
          <p:cNvSpPr>
            <a:spLocks noGrp="1"/>
          </p:cNvSpPr>
          <p:nvPr>
            <p:ph type="dt" sz="half" idx="10"/>
          </p:nvPr>
        </p:nvSpPr>
        <p:spPr/>
        <p:txBody>
          <a:bodyPr/>
          <a:lstStyle>
            <a:extLst/>
          </a:lstStyle>
          <a:p>
            <a:fld id="{0ACE4631-5DFB-4333-A55E-D9C3A9B4E920}" type="datetime1">
              <a:rPr lang="zh-TW" altLang="en-US" smtClean="0"/>
              <a:pPr/>
              <a:t>2011/10/31</a:t>
            </a:fld>
            <a:endParaRPr lang="zh-TW" altLang="en-US"/>
          </a:p>
        </p:txBody>
      </p:sp>
      <p:sp>
        <p:nvSpPr>
          <p:cNvPr id="8" name="頁尾版面配置區 7"/>
          <p:cNvSpPr>
            <a:spLocks noGrp="1"/>
          </p:cNvSpPr>
          <p:nvPr>
            <p:ph type="ftr" sz="quarter" idx="11"/>
          </p:nvPr>
        </p:nvSpPr>
        <p:spPr/>
        <p:txBody>
          <a:bodyPr/>
          <a:lstStyle>
            <a:extLst/>
          </a:lstStyle>
          <a:p>
            <a:endParaRPr lang="zh-TW" altLang="en-US"/>
          </a:p>
        </p:txBody>
      </p:sp>
      <p:sp>
        <p:nvSpPr>
          <p:cNvPr id="9" name="投影片編號版面配置區 8"/>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1435608" y="274320"/>
            <a:ext cx="7498080" cy="1143000"/>
          </a:xfrm>
        </p:spPr>
        <p:txBody>
          <a:bodyPr anchor="ctr"/>
          <a:lstStyle>
            <a:extLst/>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extLst/>
          </a:lstStyle>
          <a:p>
            <a:fld id="{06DF300E-C381-4E1F-8FEA-F9CC7F86CC1C}" type="datetime1">
              <a:rPr lang="zh-TW" altLang="en-US" smtClean="0"/>
              <a:pPr/>
              <a:t>2011/10/31</a:t>
            </a:fld>
            <a:endParaRPr lang="zh-TW" altLang="en-US"/>
          </a:p>
        </p:txBody>
      </p:sp>
      <p:sp>
        <p:nvSpPr>
          <p:cNvPr id="4" name="頁尾版面配置區 3"/>
          <p:cNvSpPr>
            <a:spLocks noGrp="1"/>
          </p:cNvSpPr>
          <p:nvPr>
            <p:ph type="ftr" sz="quarter" idx="11"/>
          </p:nvPr>
        </p:nvSpPr>
        <p:spPr/>
        <p:txBody>
          <a:bodyPr/>
          <a:lstStyle>
            <a:extLst/>
          </a:lstStyle>
          <a:p>
            <a:endParaRPr lang="zh-TW" altLang="en-US"/>
          </a:p>
        </p:txBody>
      </p:sp>
      <p:sp>
        <p:nvSpPr>
          <p:cNvPr id="5" name="投影片編號版面配置區 4"/>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日期版面配置區 1"/>
          <p:cNvSpPr>
            <a:spLocks noGrp="1"/>
          </p:cNvSpPr>
          <p:nvPr>
            <p:ph type="dt" sz="half" idx="10"/>
          </p:nvPr>
        </p:nvSpPr>
        <p:spPr/>
        <p:txBody>
          <a:bodyPr/>
          <a:lstStyle>
            <a:extLst/>
          </a:lstStyle>
          <a:p>
            <a:fld id="{0F672711-7E49-4F17-80F9-055310F8CCC4}" type="datetime1">
              <a:rPr lang="zh-TW" altLang="en-US" smtClean="0"/>
              <a:pPr/>
              <a:t>2011/10/31</a:t>
            </a:fld>
            <a:endParaRPr lang="zh-TW" altLang="en-US"/>
          </a:p>
        </p:txBody>
      </p:sp>
      <p:sp>
        <p:nvSpPr>
          <p:cNvPr id="3" name="頁尾版面配置區 2"/>
          <p:cNvSpPr>
            <a:spLocks noGrp="1"/>
          </p:cNvSpPr>
          <p:nvPr>
            <p:ph type="ftr" sz="quarter" idx="11"/>
          </p:nvPr>
        </p:nvSpPr>
        <p:spPr/>
        <p:txBody>
          <a:bodyPr/>
          <a:lstStyle>
            <a:extLst/>
          </a:lstStyle>
          <a:p>
            <a:endParaRPr lang="zh-TW" altLang="en-US"/>
          </a:p>
        </p:txBody>
      </p:sp>
      <p:sp>
        <p:nvSpPr>
          <p:cNvPr id="4" name="投影片編號版面配置區 3"/>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
        <p:nvSpPr>
          <p:cNvPr id="6" name="矩形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TW" altLang="en-US" smtClean="0"/>
              <a:t>按一下以編輯母片文字樣式</a:t>
            </a:r>
          </a:p>
        </p:txBody>
      </p:sp>
      <p:sp>
        <p:nvSpPr>
          <p:cNvPr id="4" name="內容版面配置區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5" name="日期版面配置區 4"/>
          <p:cNvSpPr>
            <a:spLocks noGrp="1"/>
          </p:cNvSpPr>
          <p:nvPr>
            <p:ph type="dt" sz="half" idx="10"/>
          </p:nvPr>
        </p:nvSpPr>
        <p:spPr/>
        <p:txBody>
          <a:bodyPr/>
          <a:lstStyle>
            <a:extLst/>
          </a:lstStyle>
          <a:p>
            <a:fld id="{5B8B8B9E-35AB-41A1-991B-FF6207EE2F2E}" type="datetime1">
              <a:rPr lang="zh-TW" altLang="en-US" smtClean="0"/>
              <a:pPr/>
              <a:t>2011/10/31</a:t>
            </a:fld>
            <a:endParaRPr lang="zh-TW" altLang="en-US"/>
          </a:p>
        </p:txBody>
      </p:sp>
      <p:sp>
        <p:nvSpPr>
          <p:cNvPr id="6" name="頁尾版面配置區 5"/>
          <p:cNvSpPr>
            <a:spLocks noGrp="1"/>
          </p:cNvSpPr>
          <p:nvPr>
            <p:ph type="ftr" sz="quarter" idx="11"/>
          </p:nvPr>
        </p:nvSpPr>
        <p:spPr/>
        <p:txBody>
          <a:bodyPr/>
          <a:lstStyle>
            <a:extLst/>
          </a:lstStyle>
          <a:p>
            <a:endParaRPr lang="zh-TW" altLang="en-US"/>
          </a:p>
        </p:txBody>
      </p:sp>
      <p:sp>
        <p:nvSpPr>
          <p:cNvPr id="7" name="投影片編號版面配置區 6"/>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extLst/>
          </a:lstStyle>
          <a:p>
            <a:fld id="{91D192C6-A2F5-4546-BBC4-F349E240406E}" type="datetime1">
              <a:rPr lang="zh-TW" altLang="en-US" smtClean="0"/>
              <a:pPr/>
              <a:t>2011/10/31</a:t>
            </a:fld>
            <a:endParaRPr lang="zh-TW" altLang="en-US"/>
          </a:p>
        </p:txBody>
      </p:sp>
      <p:sp>
        <p:nvSpPr>
          <p:cNvPr id="6" name="頁尾版面配置區 5"/>
          <p:cNvSpPr>
            <a:spLocks noGrp="1"/>
          </p:cNvSpPr>
          <p:nvPr>
            <p:ph type="ftr" sz="quarter" idx="11"/>
          </p:nvPr>
        </p:nvSpPr>
        <p:spPr/>
        <p:txBody>
          <a:bodyPr/>
          <a:lstStyle>
            <a:extLst/>
          </a:lstStyle>
          <a:p>
            <a:endParaRPr lang="zh-TW" altLang="en-US"/>
          </a:p>
        </p:txBody>
      </p:sp>
      <p:sp>
        <p:nvSpPr>
          <p:cNvPr id="7" name="投影片編號版面配置區 6"/>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
        <p:nvSpPr>
          <p:cNvPr id="8" name="矩形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圖片版面配置區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zh-TW" altLang="en-US" smtClean="0"/>
              <a:t>按一下圖示以新增圖片</a:t>
            </a:r>
            <a:endParaRPr kumimoji="0" lang="en-US" dirty="0"/>
          </a:p>
        </p:txBody>
      </p:sp>
      <p:sp>
        <p:nvSpPr>
          <p:cNvPr id="9" name="流程圖: 程序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流程圖: 程序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文字版面配置區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zh-TW" altLang="en-US" smtClean="0"/>
              <a:t>按一下以編輯母片文字樣式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extLs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extLst/>
          </a:lstStyle>
          <a:p>
            <a:fld id="{E4545F0D-763B-4C47-A64C-31E4AA8A07D3}" type="datetime1">
              <a:rPr lang="zh-TW" altLang="en-US" smtClean="0"/>
              <a:pPr/>
              <a:t>2011/10/31</a:t>
            </a:fld>
            <a:endParaRPr lang="zh-TW" altLang="en-US"/>
          </a:p>
        </p:txBody>
      </p:sp>
      <p:sp>
        <p:nvSpPr>
          <p:cNvPr id="5" name="頁尾版面配置區 4"/>
          <p:cNvSpPr>
            <a:spLocks noGrp="1"/>
          </p:cNvSpPr>
          <p:nvPr>
            <p:ph type="ftr" sz="quarter" idx="11"/>
          </p:nvPr>
        </p:nvSpPr>
        <p:spPr/>
        <p:txBody>
          <a:bodyPr/>
          <a:lstStyle>
            <a:extLst/>
          </a:lstStyle>
          <a:p>
            <a:endParaRPr lang="zh-TW" altLang="en-US"/>
          </a:p>
        </p:txBody>
      </p:sp>
      <p:sp>
        <p:nvSpPr>
          <p:cNvPr id="6" name="投影片編號版面配置區 5"/>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858000" y="274639"/>
            <a:ext cx="1828800" cy="5851525"/>
          </a:xfrm>
        </p:spPr>
        <p:txBody>
          <a:bodyPr vert="eaVert"/>
          <a:lstStyle>
            <a:extLs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1143000" y="274640"/>
            <a:ext cx="5562600" cy="5851525"/>
          </a:xfrm>
        </p:spPr>
        <p:txBody>
          <a:bodyPr vert="eaVert"/>
          <a:lstStyle>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extLst/>
          </a:lstStyle>
          <a:p>
            <a:fld id="{0047F048-FFC9-47A1-B2A8-A927F2873450}" type="datetime1">
              <a:rPr lang="zh-TW" altLang="en-US" smtClean="0"/>
              <a:pPr/>
              <a:t>2011/10/31</a:t>
            </a:fld>
            <a:endParaRPr lang="zh-TW" altLang="en-US"/>
          </a:p>
        </p:txBody>
      </p:sp>
      <p:sp>
        <p:nvSpPr>
          <p:cNvPr id="5" name="頁尾版面配置區 4"/>
          <p:cNvSpPr>
            <a:spLocks noGrp="1"/>
          </p:cNvSpPr>
          <p:nvPr>
            <p:ph type="ftr" sz="quarter" idx="11"/>
          </p:nvPr>
        </p:nvSpPr>
        <p:spPr/>
        <p:txBody>
          <a:bodyPr/>
          <a:lstStyle>
            <a:extLst/>
          </a:lstStyle>
          <a:p>
            <a:endParaRPr lang="zh-TW" altLang="en-US"/>
          </a:p>
        </p:txBody>
      </p:sp>
      <p:sp>
        <p:nvSpPr>
          <p:cNvPr id="6" name="投影片編號版面配置區 5"/>
          <p:cNvSpPr>
            <a:spLocks noGrp="1"/>
          </p:cNvSpPr>
          <p:nvPr>
            <p:ph type="sldNum" sz="quarter" idx="12"/>
          </p:nvPr>
        </p:nvSpPr>
        <p:spPr/>
        <p:txBody>
          <a:bodyPr/>
          <a:lstStyle>
            <a:extLst/>
          </a:lstStyle>
          <a:p>
            <a:fld id="{330A07AD-B17D-49DB-BE0E-80C763BA8716}"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圓形圖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橢圓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甜甜圈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矩形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標題版面配置區 4"/>
          <p:cNvSpPr>
            <a:spLocks noGrp="1"/>
          </p:cNvSpPr>
          <p:nvPr>
            <p:ph type="title"/>
          </p:nvPr>
        </p:nvSpPr>
        <p:spPr>
          <a:xfrm>
            <a:off x="1435608" y="274638"/>
            <a:ext cx="7498080" cy="1143000"/>
          </a:xfrm>
          <a:prstGeom prst="rect">
            <a:avLst/>
          </a:prstGeom>
        </p:spPr>
        <p:txBody>
          <a:bodyPr anchor="ctr">
            <a:normAutofit/>
          </a:bodyPr>
          <a:lstStyle>
            <a:extLst/>
          </a:lstStyle>
          <a:p>
            <a:r>
              <a:rPr kumimoji="0" lang="zh-TW" altLang="en-US" smtClean="0"/>
              <a:t>按一下以編輯母片標題樣式</a:t>
            </a:r>
            <a:endParaRPr kumimoji="0" lang="en-US"/>
          </a:p>
        </p:txBody>
      </p:sp>
      <p:sp>
        <p:nvSpPr>
          <p:cNvPr id="9" name="文字版面配置區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zh-TW" altLang="en-US" smtClean="0"/>
              <a:t>按一下以編輯母片文字樣式</a:t>
            </a:r>
          </a:p>
          <a:p>
            <a:pPr lvl="1" eaLnBrk="1" latinLnBrk="0" hangingPunct="1"/>
            <a:r>
              <a:rPr kumimoji="0" lang="zh-TW" altLang="en-US" smtClean="0"/>
              <a:t>第二層</a:t>
            </a:r>
          </a:p>
          <a:p>
            <a:pPr lvl="2" eaLnBrk="1" latinLnBrk="0" hangingPunct="1"/>
            <a:r>
              <a:rPr kumimoji="0" lang="zh-TW" altLang="en-US" smtClean="0"/>
              <a:t>第三層</a:t>
            </a:r>
          </a:p>
          <a:p>
            <a:pPr lvl="3" eaLnBrk="1" latinLnBrk="0" hangingPunct="1"/>
            <a:r>
              <a:rPr kumimoji="0" lang="zh-TW" altLang="en-US" smtClean="0"/>
              <a:t>第四層</a:t>
            </a:r>
          </a:p>
          <a:p>
            <a:pPr lvl="4" eaLnBrk="1" latinLnBrk="0" hangingPunct="1"/>
            <a:r>
              <a:rPr kumimoji="0" lang="zh-TW" altLang="en-US" smtClean="0"/>
              <a:t>第五層</a:t>
            </a:r>
            <a:endParaRPr kumimoji="0" lang="en-US"/>
          </a:p>
        </p:txBody>
      </p:sp>
      <p:sp>
        <p:nvSpPr>
          <p:cNvPr id="24" name="日期版面配置區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70CD2C69-B5F7-4EDD-BC16-4D0A23303980}" type="datetime1">
              <a:rPr lang="zh-TW" altLang="en-US" smtClean="0"/>
              <a:pPr/>
              <a:t>2011/10/31</a:t>
            </a:fld>
            <a:endParaRPr lang="zh-TW" altLang="en-US"/>
          </a:p>
        </p:txBody>
      </p:sp>
      <p:sp>
        <p:nvSpPr>
          <p:cNvPr id="10" name="頁尾版面配置區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zh-TW" altLang="en-US"/>
          </a:p>
        </p:txBody>
      </p:sp>
      <p:sp>
        <p:nvSpPr>
          <p:cNvPr id="22" name="投影片編號版面配置區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330A07AD-B17D-49DB-BE0E-80C763BA8716}" type="slidenum">
              <a:rPr lang="zh-TW" altLang="en-US" smtClean="0"/>
              <a:pPr/>
              <a:t>‹#›</a:t>
            </a:fld>
            <a:endParaRPr lang="zh-TW" altLang="en-US"/>
          </a:p>
        </p:txBody>
      </p:sp>
      <p:sp>
        <p:nvSpPr>
          <p:cNvPr id="15" name="矩形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0.xml"/><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en.wikipedia.org/wiki/Pseudo_amino_acid_composition"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2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403648" y="1268760"/>
            <a:ext cx="7406640" cy="1472184"/>
          </a:xfrm>
        </p:spPr>
        <p:txBody>
          <a:bodyPr>
            <a:normAutofit fontScale="90000"/>
          </a:bodyPr>
          <a:lstStyle/>
          <a:p>
            <a:pPr algn="ctr"/>
            <a:r>
              <a:rPr lang="en-US" altLang="zh-TW" dirty="0"/>
              <a:t>Efficient Algorithms for the Longest Common </a:t>
            </a:r>
            <a:r>
              <a:rPr lang="en-US" altLang="zh-TW" dirty="0" smtClean="0"/>
              <a:t>Subsequence </a:t>
            </a:r>
            <a:r>
              <a:rPr lang="en-US" altLang="zh-TW" dirty="0"/>
              <a:t>Problem with </a:t>
            </a:r>
            <a:r>
              <a:rPr lang="en-US" altLang="zh-TW" dirty="0" smtClean="0"/>
              <a:t>Sequential Substring Constraints</a:t>
            </a:r>
            <a:endParaRPr lang="zh-TW" altLang="en-US" dirty="0"/>
          </a:p>
        </p:txBody>
      </p:sp>
      <p:sp>
        <p:nvSpPr>
          <p:cNvPr id="3" name="副標題 2"/>
          <p:cNvSpPr>
            <a:spLocks noGrp="1"/>
          </p:cNvSpPr>
          <p:nvPr>
            <p:ph type="subTitle" idx="1"/>
          </p:nvPr>
        </p:nvSpPr>
        <p:spPr>
          <a:xfrm>
            <a:off x="1403648" y="3284984"/>
            <a:ext cx="7406640" cy="1752600"/>
          </a:xfrm>
        </p:spPr>
        <p:txBody>
          <a:bodyPr/>
          <a:lstStyle/>
          <a:p>
            <a:pPr algn="ctr"/>
            <a:r>
              <a:rPr lang="en-US" altLang="zh-TW" u="sng" dirty="0" err="1"/>
              <a:t>Chiou</a:t>
            </a:r>
            <a:r>
              <a:rPr lang="en-US" altLang="zh-TW" u="sng" dirty="0"/>
              <a:t>-Ting </a:t>
            </a:r>
            <a:r>
              <a:rPr lang="en-US" altLang="zh-TW" u="sng" dirty="0" smtClean="0"/>
              <a:t>Tseng</a:t>
            </a:r>
            <a:r>
              <a:rPr lang="en-US" altLang="zh-TW" dirty="0" smtClean="0"/>
              <a:t>, </a:t>
            </a:r>
            <a:r>
              <a:rPr lang="en-US" altLang="zh-TW" dirty="0"/>
              <a:t>Chang-</a:t>
            </a:r>
            <a:r>
              <a:rPr lang="en-US" altLang="zh-TW" dirty="0" err="1"/>
              <a:t>Biau</a:t>
            </a:r>
            <a:r>
              <a:rPr lang="en-US" altLang="zh-TW" dirty="0"/>
              <a:t> </a:t>
            </a:r>
            <a:r>
              <a:rPr lang="en-US" altLang="zh-TW" dirty="0" smtClean="0"/>
              <a:t>Yang </a:t>
            </a:r>
          </a:p>
          <a:p>
            <a:pPr algn="ctr"/>
            <a:r>
              <a:rPr lang="en-US" altLang="zh-TW" dirty="0" smtClean="0"/>
              <a:t>and </a:t>
            </a:r>
            <a:r>
              <a:rPr lang="en-US" altLang="zh-TW" dirty="0" err="1"/>
              <a:t>Hsing</a:t>
            </a:r>
            <a:r>
              <a:rPr lang="en-US" altLang="zh-TW" dirty="0"/>
              <a:t>-Yen </a:t>
            </a:r>
            <a:r>
              <a:rPr lang="en-US" altLang="zh-TW" dirty="0" smtClean="0"/>
              <a:t>Ann</a:t>
            </a:r>
          </a:p>
          <a:p>
            <a:pPr algn="ctr"/>
            <a:r>
              <a:rPr lang="en-US" altLang="zh-TW" dirty="0" smtClean="0"/>
              <a:t>National Sun </a:t>
            </a:r>
            <a:r>
              <a:rPr lang="en-US" altLang="zh-TW" dirty="0" err="1" smtClean="0"/>
              <a:t>Yat-sen</a:t>
            </a:r>
            <a:r>
              <a:rPr lang="en-US" altLang="zh-TW" dirty="0" smtClean="0"/>
              <a:t> University, Kaohsiung, Taiwan</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1</a:t>
            </a:fld>
            <a:endParaRPr lang="zh-TW" altLang="en-US"/>
          </a:p>
        </p:txBody>
      </p:sp>
    </p:spTree>
    <p:extLst>
      <p:ext uri="{BB962C8B-B14F-4D97-AF65-F5344CB8AC3E}">
        <p14:creationId xmlns:p14="http://schemas.microsoft.com/office/powerpoint/2010/main" xmlns="" val="1169908686"/>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Outline</a:t>
            </a:r>
            <a:endParaRPr lang="zh-TW" altLang="en-US" dirty="0"/>
          </a:p>
        </p:txBody>
      </p:sp>
      <p:sp>
        <p:nvSpPr>
          <p:cNvPr id="2" name="內容版面配置區 1"/>
          <p:cNvSpPr>
            <a:spLocks noGrp="1"/>
          </p:cNvSpPr>
          <p:nvPr>
            <p:ph idx="1"/>
          </p:nvPr>
        </p:nvSpPr>
        <p:spPr/>
        <p:txBody>
          <a:bodyPr/>
          <a:lstStyle/>
          <a:p>
            <a:r>
              <a:rPr lang="en-US" altLang="zh-TW" dirty="0" smtClean="0">
                <a:solidFill>
                  <a:srgbClr val="00B050"/>
                </a:solidFill>
              </a:rPr>
              <a:t>Introduction</a:t>
            </a:r>
          </a:p>
          <a:p>
            <a:r>
              <a:rPr lang="en-US" altLang="zh-TW" dirty="0" smtClean="0"/>
              <a:t>Problem definition</a:t>
            </a:r>
          </a:p>
          <a:p>
            <a:r>
              <a:rPr lang="en-US" altLang="zh-TW" dirty="0" smtClean="0"/>
              <a:t>Conclusions</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2</a:t>
            </a:fld>
            <a:endParaRPr lang="zh-TW" altLang="en-US"/>
          </a:p>
        </p:txBody>
      </p:sp>
    </p:spTree>
    <p:extLst>
      <p:ext uri="{BB962C8B-B14F-4D97-AF65-F5344CB8AC3E}">
        <p14:creationId xmlns:p14="http://schemas.microsoft.com/office/powerpoint/2010/main" xmlns="" val="1114767867"/>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Longest Common </a:t>
            </a:r>
            <a:r>
              <a:rPr lang="en-US" altLang="zh-TW" dirty="0" smtClean="0"/>
              <a:t>Subsequence (LCS)</a:t>
            </a:r>
            <a:endParaRPr lang="zh-TW" altLang="en-US" dirty="0"/>
          </a:p>
        </p:txBody>
      </p:sp>
      <p:sp>
        <p:nvSpPr>
          <p:cNvPr id="3" name="內容版面配置區 2"/>
          <p:cNvSpPr>
            <a:spLocks noGrp="1"/>
          </p:cNvSpPr>
          <p:nvPr>
            <p:ph idx="1"/>
          </p:nvPr>
        </p:nvSpPr>
        <p:spPr/>
        <p:txBody>
          <a:bodyPr/>
          <a:lstStyle/>
          <a:p>
            <a:r>
              <a:rPr lang="en-US" altLang="zh-TW" dirty="0"/>
              <a:t>Given two strings </a:t>
            </a:r>
            <a:r>
              <a:rPr lang="en-US" altLang="zh-TW" i="1" dirty="0"/>
              <a:t>A</a:t>
            </a:r>
            <a:r>
              <a:rPr lang="en-US" altLang="zh-TW" dirty="0"/>
              <a:t> = </a:t>
            </a:r>
            <a:r>
              <a:rPr lang="en-US" altLang="zh-TW" i="1" dirty="0" smtClean="0"/>
              <a:t>a</a:t>
            </a:r>
            <a:r>
              <a:rPr lang="en-US" altLang="zh-TW" baseline="-25000" dirty="0" smtClean="0"/>
              <a:t>1</a:t>
            </a:r>
            <a:r>
              <a:rPr lang="en-US" altLang="zh-TW" i="1" dirty="0" smtClean="0"/>
              <a:t>a</a:t>
            </a:r>
            <a:r>
              <a:rPr lang="en-US" altLang="zh-TW" baseline="-25000" dirty="0" smtClean="0"/>
              <a:t>2</a:t>
            </a:r>
            <a:r>
              <a:rPr lang="en-US" altLang="zh-TW" i="1" dirty="0" smtClean="0"/>
              <a:t>a</a:t>
            </a:r>
            <a:r>
              <a:rPr lang="en-US" altLang="zh-TW" baseline="-25000" dirty="0" smtClean="0"/>
              <a:t>3</a:t>
            </a:r>
            <a:r>
              <a:rPr lang="en-US" altLang="zh-TW" dirty="0" smtClean="0"/>
              <a:t>…</a:t>
            </a:r>
            <a:r>
              <a:rPr lang="en-US" altLang="zh-TW" i="1" dirty="0" smtClean="0"/>
              <a:t>a</a:t>
            </a:r>
            <a:r>
              <a:rPr lang="en-US" altLang="zh-TW" baseline="-25000" dirty="0" smtClean="0"/>
              <a:t>m</a:t>
            </a:r>
            <a:r>
              <a:rPr lang="en-US" altLang="zh-TW" dirty="0" smtClean="0"/>
              <a:t> </a:t>
            </a:r>
            <a:r>
              <a:rPr lang="en-US" altLang="zh-TW" dirty="0"/>
              <a:t>and </a:t>
            </a:r>
            <a:r>
              <a:rPr lang="en-US" altLang="zh-TW" i="1" dirty="0"/>
              <a:t>B</a:t>
            </a:r>
            <a:r>
              <a:rPr lang="en-US" altLang="zh-TW" dirty="0"/>
              <a:t> </a:t>
            </a:r>
            <a:r>
              <a:rPr lang="en-US" altLang="zh-TW" dirty="0" smtClean="0"/>
              <a:t>= </a:t>
            </a:r>
            <a:r>
              <a:rPr lang="en-US" altLang="zh-TW" i="1" dirty="0" smtClean="0"/>
              <a:t>b</a:t>
            </a:r>
            <a:r>
              <a:rPr lang="en-US" altLang="zh-TW" baseline="-25000" dirty="0" smtClean="0"/>
              <a:t>1</a:t>
            </a:r>
            <a:r>
              <a:rPr lang="en-US" altLang="zh-TW" i="1" dirty="0" smtClean="0"/>
              <a:t>b</a:t>
            </a:r>
            <a:r>
              <a:rPr lang="en-US" altLang="zh-TW" baseline="-25000" dirty="0" smtClean="0"/>
              <a:t>2</a:t>
            </a:r>
            <a:r>
              <a:rPr lang="en-US" altLang="zh-TW" i="1" dirty="0" smtClean="0"/>
              <a:t>b</a:t>
            </a:r>
            <a:r>
              <a:rPr lang="en-US" altLang="zh-TW" baseline="-25000" dirty="0" smtClean="0"/>
              <a:t>3</a:t>
            </a:r>
            <a:r>
              <a:rPr lang="en-US" altLang="zh-TW" dirty="0" smtClean="0"/>
              <a:t>…</a:t>
            </a:r>
            <a:r>
              <a:rPr lang="en-US" altLang="zh-TW" i="1" dirty="0" err="1" smtClean="0"/>
              <a:t>b</a:t>
            </a:r>
            <a:r>
              <a:rPr lang="en-US" altLang="zh-TW" baseline="-25000" dirty="0" err="1" smtClean="0"/>
              <a:t>n</a:t>
            </a:r>
            <a:r>
              <a:rPr lang="en-US" altLang="zh-TW" dirty="0"/>
              <a:t>, </a:t>
            </a:r>
            <a:r>
              <a:rPr lang="en-US" altLang="zh-TW" dirty="0" smtClean="0"/>
              <a:t>find </a:t>
            </a:r>
            <a:r>
              <a:rPr lang="en-US" altLang="zh-TW" dirty="0"/>
              <a:t>the longest common part of A and B by </a:t>
            </a:r>
            <a:r>
              <a:rPr lang="en-US" altLang="zh-TW" dirty="0" smtClean="0"/>
              <a:t>deleting zero </a:t>
            </a:r>
            <a:r>
              <a:rPr lang="en-US" altLang="zh-TW" dirty="0"/>
              <a:t>or more characters from A and B</a:t>
            </a:r>
            <a:r>
              <a:rPr lang="en-US" altLang="zh-TW" dirty="0" smtClean="0"/>
              <a:t>.</a:t>
            </a:r>
          </a:p>
          <a:p>
            <a:r>
              <a:rPr lang="en-US" altLang="zh-TW" dirty="0" smtClean="0"/>
              <a:t>For example, </a:t>
            </a:r>
            <a:r>
              <a:rPr lang="en-US" altLang="zh-TW" i="1" dirty="0" smtClean="0"/>
              <a:t>A</a:t>
            </a:r>
            <a:r>
              <a:rPr lang="en-US" altLang="zh-TW" dirty="0" smtClean="0"/>
              <a:t> </a:t>
            </a:r>
            <a:r>
              <a:rPr lang="en-US" altLang="zh-TW" dirty="0"/>
              <a:t>= </a:t>
            </a:r>
            <a:r>
              <a:rPr lang="en-US" altLang="zh-TW" dirty="0" err="1">
                <a:solidFill>
                  <a:srgbClr val="FF0000"/>
                </a:solidFill>
              </a:rPr>
              <a:t>atcat</a:t>
            </a:r>
            <a:r>
              <a:rPr lang="en-US" altLang="zh-TW" dirty="0" err="1"/>
              <a:t>a</a:t>
            </a:r>
            <a:r>
              <a:rPr lang="en-US" altLang="zh-TW" dirty="0" err="1">
                <a:solidFill>
                  <a:srgbClr val="FF0000"/>
                </a:solidFill>
              </a:rPr>
              <a:t>t</a:t>
            </a:r>
            <a:r>
              <a:rPr lang="en-US" altLang="zh-TW" dirty="0" err="1"/>
              <a:t>g</a:t>
            </a:r>
            <a:r>
              <a:rPr lang="en-US" altLang="zh-TW" dirty="0" err="1">
                <a:solidFill>
                  <a:srgbClr val="FF0000"/>
                </a:solidFill>
              </a:rPr>
              <a:t>ag</a:t>
            </a:r>
            <a:r>
              <a:rPr lang="en-US" altLang="zh-TW" dirty="0"/>
              <a:t>, </a:t>
            </a:r>
            <a:r>
              <a:rPr lang="en-US" altLang="zh-TW" i="1" dirty="0"/>
              <a:t>B</a:t>
            </a:r>
            <a:r>
              <a:rPr lang="en-US" altLang="zh-TW" dirty="0"/>
              <a:t> </a:t>
            </a:r>
            <a:r>
              <a:rPr lang="en-US" altLang="zh-TW" dirty="0" smtClean="0"/>
              <a:t>= </a:t>
            </a:r>
            <a:r>
              <a:rPr lang="en-US" altLang="zh-TW" dirty="0" err="1" smtClean="0">
                <a:solidFill>
                  <a:srgbClr val="FF0000"/>
                </a:solidFill>
              </a:rPr>
              <a:t>atcat</a:t>
            </a:r>
            <a:r>
              <a:rPr lang="en-US" altLang="zh-TW" dirty="0" err="1" smtClean="0"/>
              <a:t>c</a:t>
            </a:r>
            <a:r>
              <a:rPr lang="en-US" altLang="zh-TW" dirty="0" err="1" smtClean="0">
                <a:solidFill>
                  <a:srgbClr val="FF0000"/>
                </a:solidFill>
              </a:rPr>
              <a:t>tag</a:t>
            </a:r>
            <a:r>
              <a:rPr lang="en-US" altLang="zh-TW" dirty="0" err="1" smtClean="0"/>
              <a:t>g</a:t>
            </a:r>
            <a:r>
              <a:rPr lang="en-US" altLang="zh-TW" dirty="0" smtClean="0"/>
              <a:t>, LCS(</a:t>
            </a:r>
            <a:r>
              <a:rPr lang="en-US" altLang="zh-TW" i="1" dirty="0" smtClean="0"/>
              <a:t>A</a:t>
            </a:r>
            <a:r>
              <a:rPr lang="en-US" altLang="zh-TW" dirty="0" smtClean="0"/>
              <a:t>, </a:t>
            </a:r>
            <a:r>
              <a:rPr lang="en-US" altLang="zh-TW" i="1" dirty="0" smtClean="0"/>
              <a:t>B</a:t>
            </a:r>
            <a:r>
              <a:rPr lang="en-US" altLang="zh-TW" dirty="0" smtClean="0"/>
              <a:t>) = </a:t>
            </a:r>
            <a:r>
              <a:rPr lang="en-US" altLang="zh-TW" dirty="0" err="1" smtClean="0"/>
              <a:t>atcattag</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3</a:t>
            </a:fld>
            <a:endParaRPr lang="zh-TW" altLang="en-US"/>
          </a:p>
        </p:txBody>
      </p:sp>
    </p:spTree>
    <p:extLst>
      <p:ext uri="{BB962C8B-B14F-4D97-AF65-F5344CB8AC3E}">
        <p14:creationId xmlns:p14="http://schemas.microsoft.com/office/powerpoint/2010/main" xmlns="" val="2918934931"/>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fontScale="90000"/>
          </a:bodyPr>
          <a:lstStyle/>
          <a:p>
            <a:r>
              <a:rPr lang="en-US" altLang="zh-TW" dirty="0" smtClean="0"/>
              <a:t>Constrained Longest Common Subsequence (CLCS)</a:t>
            </a:r>
            <a:endParaRPr lang="zh-TW" altLang="en-US" dirty="0"/>
          </a:p>
        </p:txBody>
      </p:sp>
      <p:sp>
        <p:nvSpPr>
          <p:cNvPr id="2" name="內容版面配置區 1"/>
          <p:cNvSpPr>
            <a:spLocks noGrp="1"/>
          </p:cNvSpPr>
          <p:nvPr>
            <p:ph idx="1"/>
          </p:nvPr>
        </p:nvSpPr>
        <p:spPr/>
        <p:txBody>
          <a:bodyPr>
            <a:normAutofit lnSpcReduction="10000"/>
          </a:bodyPr>
          <a:lstStyle/>
          <a:p>
            <a:r>
              <a:rPr lang="en-US" altLang="zh-TW" dirty="0"/>
              <a:t>Given two strings A and B and a constraint sequence </a:t>
            </a:r>
            <a:r>
              <a:rPr lang="en-US" altLang="zh-TW" i="1" dirty="0" smtClean="0"/>
              <a:t>C</a:t>
            </a:r>
            <a:r>
              <a:rPr lang="en-US" altLang="zh-TW" dirty="0" smtClean="0"/>
              <a:t>, find </a:t>
            </a:r>
            <a:r>
              <a:rPr lang="en-US" altLang="zh-TW" dirty="0"/>
              <a:t>the LCS </a:t>
            </a:r>
            <a:r>
              <a:rPr lang="en-US" altLang="zh-TW" dirty="0" smtClean="0"/>
              <a:t>of </a:t>
            </a:r>
            <a:r>
              <a:rPr lang="en-US" altLang="zh-TW" i="1" dirty="0" smtClean="0"/>
              <a:t>A</a:t>
            </a:r>
            <a:r>
              <a:rPr lang="en-US" altLang="zh-TW" dirty="0" smtClean="0"/>
              <a:t> </a:t>
            </a:r>
            <a:r>
              <a:rPr lang="en-US" altLang="zh-TW" dirty="0"/>
              <a:t>and </a:t>
            </a:r>
            <a:r>
              <a:rPr lang="en-US" altLang="zh-TW" i="1" dirty="0"/>
              <a:t>B</a:t>
            </a:r>
            <a:r>
              <a:rPr lang="en-US" altLang="zh-TW" dirty="0"/>
              <a:t> containing </a:t>
            </a:r>
            <a:r>
              <a:rPr lang="en-US" altLang="zh-TW" i="1" dirty="0"/>
              <a:t>C</a:t>
            </a:r>
            <a:r>
              <a:rPr lang="en-US" altLang="zh-TW" dirty="0"/>
              <a:t> </a:t>
            </a:r>
            <a:r>
              <a:rPr lang="en-US" altLang="zh-TW" dirty="0" smtClean="0"/>
              <a:t> as </a:t>
            </a:r>
            <a:r>
              <a:rPr lang="en-US" altLang="zh-TW" dirty="0"/>
              <a:t>a subsequence</a:t>
            </a:r>
            <a:r>
              <a:rPr lang="en-US" altLang="zh-TW" dirty="0" smtClean="0"/>
              <a:t>.</a:t>
            </a:r>
          </a:p>
          <a:p>
            <a:r>
              <a:rPr lang="en-US" altLang="zh-TW" dirty="0" smtClean="0"/>
              <a:t>For example, </a:t>
            </a:r>
            <a:r>
              <a:rPr lang="en-US" altLang="zh-TW" i="1" dirty="0"/>
              <a:t>A</a:t>
            </a:r>
            <a:r>
              <a:rPr lang="en-US" altLang="zh-TW" dirty="0"/>
              <a:t> = </a:t>
            </a:r>
            <a:r>
              <a:rPr lang="en-US" altLang="zh-TW" dirty="0" err="1"/>
              <a:t>atc</a:t>
            </a:r>
            <a:r>
              <a:rPr lang="en-US" altLang="zh-TW" dirty="0" err="1">
                <a:solidFill>
                  <a:srgbClr val="FF0000"/>
                </a:solidFill>
              </a:rPr>
              <a:t>at</a:t>
            </a:r>
            <a:r>
              <a:rPr lang="en-US" altLang="zh-TW" dirty="0" err="1"/>
              <a:t>at</a:t>
            </a:r>
            <a:r>
              <a:rPr lang="en-US" altLang="zh-TW" dirty="0" err="1">
                <a:solidFill>
                  <a:srgbClr val="FF0000"/>
                </a:solidFill>
              </a:rPr>
              <a:t>g</a:t>
            </a:r>
            <a:r>
              <a:rPr lang="en-US" altLang="zh-TW" dirty="0" err="1"/>
              <a:t>ag</a:t>
            </a:r>
            <a:r>
              <a:rPr lang="en-US" altLang="zh-TW" dirty="0"/>
              <a:t>, </a:t>
            </a:r>
            <a:r>
              <a:rPr lang="en-US" altLang="zh-TW" i="1" dirty="0"/>
              <a:t>B</a:t>
            </a:r>
            <a:r>
              <a:rPr lang="en-US" altLang="zh-TW" dirty="0"/>
              <a:t> = </a:t>
            </a:r>
            <a:r>
              <a:rPr lang="en-US" altLang="zh-TW" dirty="0" err="1" smtClean="0"/>
              <a:t>atc</a:t>
            </a:r>
            <a:r>
              <a:rPr lang="en-US" altLang="zh-TW" dirty="0" err="1" smtClean="0">
                <a:solidFill>
                  <a:srgbClr val="FF0000"/>
                </a:solidFill>
              </a:rPr>
              <a:t>at</a:t>
            </a:r>
            <a:r>
              <a:rPr lang="en-US" altLang="zh-TW" dirty="0" err="1" smtClean="0"/>
              <a:t>cta</a:t>
            </a:r>
            <a:r>
              <a:rPr lang="en-US" altLang="zh-TW" dirty="0" err="1" smtClean="0">
                <a:solidFill>
                  <a:srgbClr val="FF0000"/>
                </a:solidFill>
              </a:rPr>
              <a:t>g</a:t>
            </a:r>
            <a:r>
              <a:rPr lang="en-US" altLang="zh-TW" dirty="0" err="1" smtClean="0"/>
              <a:t>g</a:t>
            </a:r>
            <a:r>
              <a:rPr lang="en-US" altLang="zh-TW" dirty="0" smtClean="0"/>
              <a:t>, C = </a:t>
            </a:r>
            <a:r>
              <a:rPr lang="en-US" altLang="zh-TW" dirty="0" err="1" smtClean="0"/>
              <a:t>atg</a:t>
            </a:r>
            <a:r>
              <a:rPr lang="en-US" altLang="zh-TW" dirty="0" smtClean="0"/>
              <a:t>, CLCS(</a:t>
            </a:r>
            <a:r>
              <a:rPr lang="en-US" altLang="zh-TW" i="1" dirty="0" smtClean="0"/>
              <a:t>A</a:t>
            </a:r>
            <a:r>
              <a:rPr lang="en-US" altLang="zh-TW" dirty="0" smtClean="0"/>
              <a:t>, </a:t>
            </a:r>
            <a:r>
              <a:rPr lang="en-US" altLang="zh-TW" i="1" dirty="0" smtClean="0"/>
              <a:t>B</a:t>
            </a:r>
            <a:r>
              <a:rPr lang="en-US" altLang="zh-TW" dirty="0" smtClean="0"/>
              <a:t>, </a:t>
            </a:r>
            <a:r>
              <a:rPr lang="en-US" altLang="zh-TW" i="1" dirty="0" smtClean="0"/>
              <a:t>C</a:t>
            </a:r>
            <a:r>
              <a:rPr lang="en-US" altLang="zh-TW" dirty="0" smtClean="0"/>
              <a:t>) = </a:t>
            </a:r>
            <a:r>
              <a:rPr lang="en-US" altLang="zh-TW" dirty="0" err="1" smtClean="0"/>
              <a:t>atcatagg</a:t>
            </a:r>
            <a:endParaRPr lang="en-US" altLang="zh-TW" dirty="0" smtClean="0"/>
          </a:p>
          <a:p>
            <a:r>
              <a:rPr lang="en-US" altLang="zh-TW" dirty="0" smtClean="0"/>
              <a:t>O( |</a:t>
            </a:r>
            <a:r>
              <a:rPr lang="en-US" altLang="zh-TW" i="1" dirty="0" smtClean="0"/>
              <a:t>A </a:t>
            </a:r>
            <a:r>
              <a:rPr lang="en-US" altLang="zh-TW" dirty="0" smtClean="0"/>
              <a:t>||</a:t>
            </a:r>
            <a:r>
              <a:rPr lang="en-US" altLang="zh-TW" i="1" dirty="0" smtClean="0"/>
              <a:t>B </a:t>
            </a:r>
            <a:r>
              <a:rPr lang="en-US" altLang="zh-TW" dirty="0" smtClean="0"/>
              <a:t>||</a:t>
            </a:r>
            <a:r>
              <a:rPr lang="en-US" altLang="zh-TW" i="1" dirty="0" smtClean="0"/>
              <a:t>C </a:t>
            </a:r>
            <a:r>
              <a:rPr lang="en-US" altLang="zh-TW" dirty="0" smtClean="0"/>
              <a:t>|) dynamic programming algorithm was proposed at 2003 and some subsequence improvements was proposed later on.</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4</a:t>
            </a:fld>
            <a:endParaRPr lang="zh-TW" altLang="en-US"/>
          </a:p>
        </p:txBody>
      </p:sp>
    </p:spTree>
    <p:extLst>
      <p:ext uri="{BB962C8B-B14F-4D97-AF65-F5344CB8AC3E}">
        <p14:creationId xmlns:p14="http://schemas.microsoft.com/office/powerpoint/2010/main" xmlns="" val="1994707276"/>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defRPr/>
            </a:pPr>
            <a:r>
              <a:rPr lang="en-US" altLang="zh-TW" sz="4400" dirty="0" smtClean="0"/>
              <a:t>Example for CLCS Algorithm</a:t>
            </a:r>
            <a:endParaRPr lang="zh-TW" altLang="en-US" dirty="0"/>
          </a:p>
        </p:txBody>
      </p:sp>
      <p:sp>
        <p:nvSpPr>
          <p:cNvPr id="33795" name="Rectangle 719"/>
          <p:cNvSpPr>
            <a:spLocks noChangeArrowheads="1"/>
          </p:cNvSpPr>
          <p:nvPr/>
        </p:nvSpPr>
        <p:spPr bwMode="auto">
          <a:xfrm>
            <a:off x="1476375" y="1371600"/>
            <a:ext cx="7134225" cy="91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buClr>
                <a:schemeClr val="folHlink"/>
              </a:buClr>
              <a:buSzPct val="60000"/>
              <a:buFont typeface="Wingdings" pitchFamily="2" charset="2"/>
              <a:buChar char="n"/>
            </a:pPr>
            <a:r>
              <a:rPr lang="en-US" altLang="zh-TW" i="1">
                <a:latin typeface="Times New Roman" pitchFamily="18" charset="0"/>
              </a:rPr>
              <a:t>Input: S</a:t>
            </a:r>
            <a:r>
              <a:rPr lang="en-US" altLang="zh-TW" baseline="-25000">
                <a:latin typeface="Times New Roman" pitchFamily="18" charset="0"/>
              </a:rPr>
              <a:t>1</a:t>
            </a:r>
            <a:r>
              <a:rPr lang="en-US" altLang="zh-TW">
                <a:latin typeface="Times New Roman" pitchFamily="18" charset="0"/>
              </a:rPr>
              <a:t> = TAGTCACG, </a:t>
            </a:r>
            <a:r>
              <a:rPr lang="en-US" altLang="zh-TW" i="1">
                <a:latin typeface="Times New Roman" pitchFamily="18" charset="0"/>
              </a:rPr>
              <a:t>S</a:t>
            </a:r>
            <a:r>
              <a:rPr lang="en-US" altLang="zh-TW" baseline="-25000">
                <a:latin typeface="Times New Roman" pitchFamily="18" charset="0"/>
              </a:rPr>
              <a:t>2</a:t>
            </a:r>
            <a:r>
              <a:rPr lang="en-US" altLang="zh-TW">
                <a:latin typeface="Times New Roman" pitchFamily="18" charset="0"/>
              </a:rPr>
              <a:t> = AGACTGTC and </a:t>
            </a:r>
            <a:r>
              <a:rPr lang="en-US" altLang="zh-TW" i="1">
                <a:latin typeface="Times New Roman" pitchFamily="18" charset="0"/>
              </a:rPr>
              <a:t>C</a:t>
            </a:r>
            <a:r>
              <a:rPr lang="en-US" altLang="zh-TW">
                <a:latin typeface="Times New Roman" pitchFamily="18" charset="0"/>
              </a:rPr>
              <a:t> = </a:t>
            </a:r>
            <a:r>
              <a:rPr lang="en-US" altLang="zh-TW">
                <a:solidFill>
                  <a:srgbClr val="FF0000"/>
                </a:solidFill>
                <a:latin typeface="Times New Roman" pitchFamily="18" charset="0"/>
              </a:rPr>
              <a:t>AT</a:t>
            </a:r>
            <a:r>
              <a:rPr lang="en-US" altLang="zh-TW">
                <a:latin typeface="Times New Roman" pitchFamily="18" charset="0"/>
              </a:rPr>
              <a:t> </a:t>
            </a:r>
          </a:p>
          <a:p>
            <a:pPr marL="342900" indent="-342900">
              <a:lnSpc>
                <a:spcPct val="80000"/>
              </a:lnSpc>
              <a:spcBef>
                <a:spcPct val="20000"/>
              </a:spcBef>
              <a:buClr>
                <a:schemeClr val="folHlink"/>
              </a:buClr>
              <a:buSzPct val="60000"/>
              <a:buFont typeface="Wingdings" pitchFamily="2" charset="2"/>
              <a:buChar char="n"/>
            </a:pPr>
            <a:r>
              <a:rPr lang="en-US" altLang="zh-TW">
                <a:latin typeface="Times New Roman" pitchFamily="18" charset="0"/>
              </a:rPr>
              <a:t>CLCS of </a:t>
            </a:r>
            <a:r>
              <a:rPr lang="en-US" altLang="zh-TW" i="1">
                <a:latin typeface="Times New Roman" pitchFamily="18" charset="0"/>
              </a:rPr>
              <a:t>S</a:t>
            </a:r>
            <a:r>
              <a:rPr lang="en-US" altLang="zh-TW" baseline="-25000">
                <a:latin typeface="Times New Roman" pitchFamily="18" charset="0"/>
              </a:rPr>
              <a:t>1</a:t>
            </a:r>
            <a:r>
              <a:rPr lang="en-US" altLang="zh-TW">
                <a:latin typeface="Times New Roman" pitchFamily="18" charset="0"/>
              </a:rPr>
              <a:t> and </a:t>
            </a:r>
            <a:r>
              <a:rPr lang="en-US" altLang="zh-TW" i="1">
                <a:latin typeface="Times New Roman" pitchFamily="18" charset="0"/>
              </a:rPr>
              <a:t>S</a:t>
            </a:r>
            <a:r>
              <a:rPr lang="en-US" altLang="zh-TW" baseline="-25000">
                <a:latin typeface="Times New Roman" pitchFamily="18" charset="0"/>
              </a:rPr>
              <a:t>2</a:t>
            </a:r>
            <a:r>
              <a:rPr lang="en-US" altLang="zh-TW">
                <a:latin typeface="Times New Roman" pitchFamily="18" charset="0"/>
              </a:rPr>
              <a:t> with constraint </a:t>
            </a:r>
            <a:r>
              <a:rPr lang="en-US" altLang="zh-TW" i="1">
                <a:latin typeface="Times New Roman" pitchFamily="18" charset="0"/>
              </a:rPr>
              <a:t>C</a:t>
            </a:r>
            <a:r>
              <a:rPr lang="en-US" altLang="zh-TW">
                <a:latin typeface="Times New Roman" pitchFamily="18" charset="0"/>
              </a:rPr>
              <a:t>: (X means -∞)</a:t>
            </a:r>
          </a:p>
        </p:txBody>
      </p:sp>
      <p:graphicFrame>
        <p:nvGraphicFramePr>
          <p:cNvPr id="7" name="Group 682"/>
          <p:cNvGraphicFramePr>
            <a:graphicFrameLocks noGrp="1"/>
          </p:cNvGraphicFramePr>
          <p:nvPr>
            <p:ph sz="half" idx="1"/>
          </p:nvPr>
        </p:nvGraphicFramePr>
        <p:xfrm>
          <a:off x="539750" y="2997200"/>
          <a:ext cx="2520950" cy="2743200"/>
        </p:xfrm>
        <a:graphic>
          <a:graphicData uri="http://schemas.openxmlformats.org/drawingml/2006/table">
            <a:tbl>
              <a:tblPr/>
              <a:tblGrid>
                <a:gridCol w="250825"/>
                <a:gridCol w="236538"/>
                <a:gridCol w="266700"/>
                <a:gridCol w="254000"/>
                <a:gridCol w="254000"/>
                <a:gridCol w="250825"/>
                <a:gridCol w="254000"/>
                <a:gridCol w="247650"/>
                <a:gridCol w="255587"/>
                <a:gridCol w="250825"/>
              </a:tblGrid>
              <a:tr h="200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TW" altLang="zh-TW" sz="1200" b="1" i="0" u="none" strike="noStrike" cap="none" normalizeH="0" baseline="0" smtClean="0">
                        <a:ln>
                          <a:noFill/>
                        </a:ln>
                        <a:solidFill>
                          <a:schemeClr val="tx1"/>
                        </a:solidFill>
                        <a:effectLst/>
                        <a:latin typeface="Times New Roman" pitchFamily="18" charset="0"/>
                        <a:ea typeface="新細明體" pitchFamily="18" charset="-12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00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00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00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00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00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8" name="Group 705"/>
          <p:cNvGraphicFramePr>
            <a:graphicFrameLocks noGrp="1"/>
          </p:cNvGraphicFramePr>
          <p:nvPr/>
        </p:nvGraphicFramePr>
        <p:xfrm>
          <a:off x="3348038" y="2997200"/>
          <a:ext cx="2449512" cy="2745105"/>
        </p:xfrm>
        <a:graphic>
          <a:graphicData uri="http://schemas.openxmlformats.org/drawingml/2006/table">
            <a:tbl>
              <a:tblPr/>
              <a:tblGrid>
                <a:gridCol w="244475"/>
                <a:gridCol w="247650"/>
                <a:gridCol w="241300"/>
                <a:gridCol w="274637"/>
                <a:gridCol w="219075"/>
                <a:gridCol w="244475"/>
                <a:gridCol w="244475"/>
                <a:gridCol w="241300"/>
                <a:gridCol w="247650"/>
                <a:gridCol w="244475"/>
              </a:tblGrid>
              <a:tr h="1762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TW" altLang="zh-TW" sz="1200" b="1" i="0" u="none" strike="noStrike" cap="none" normalizeH="0" baseline="0" smtClean="0">
                        <a:ln>
                          <a:noFill/>
                        </a:ln>
                        <a:solidFill>
                          <a:schemeClr val="tx1"/>
                        </a:solidFill>
                        <a:effectLst/>
                        <a:latin typeface="Times New Roman" pitchFamily="18" charset="0"/>
                        <a:ea typeface="新細明體" pitchFamily="18" charset="-12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762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762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762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762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762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762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762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762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762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9" name="Group 713"/>
          <p:cNvGraphicFramePr>
            <a:graphicFrameLocks noGrp="1"/>
          </p:cNvGraphicFramePr>
          <p:nvPr/>
        </p:nvGraphicFramePr>
        <p:xfrm>
          <a:off x="6156325" y="2997200"/>
          <a:ext cx="2303463" cy="2743200"/>
        </p:xfrm>
        <a:graphic>
          <a:graphicData uri="http://schemas.openxmlformats.org/drawingml/2006/table">
            <a:tbl>
              <a:tblPr/>
              <a:tblGrid>
                <a:gridCol w="230188"/>
                <a:gridCol w="230187"/>
                <a:gridCol w="231775"/>
                <a:gridCol w="228600"/>
                <a:gridCol w="233363"/>
                <a:gridCol w="228600"/>
                <a:gridCol w="228600"/>
                <a:gridCol w="231775"/>
                <a:gridCol w="230187"/>
                <a:gridCol w="230188"/>
              </a:tblGrid>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TW" altLang="zh-TW" sz="1200" b="1" i="0" u="none" strike="noStrike" cap="none" normalizeH="0" baseline="0" smtClean="0">
                        <a:ln>
                          <a:noFill/>
                        </a:ln>
                        <a:solidFill>
                          <a:schemeClr val="tx1"/>
                        </a:solidFill>
                        <a:effectLst/>
                        <a:latin typeface="Times New Roman" pitchFamily="18" charset="0"/>
                        <a:ea typeface="新細明體" pitchFamily="18" charset="-12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68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T</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68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98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X</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TW" sz="1200" b="1" i="0" u="none" strike="noStrike" cap="none" normalizeH="0" baseline="0" smtClean="0">
                          <a:ln>
                            <a:noFill/>
                          </a:ln>
                          <a:solidFill>
                            <a:schemeClr val="tx1"/>
                          </a:solidFill>
                          <a:effectLst/>
                          <a:latin typeface="Times New Roman" pitchFamily="18" charset="0"/>
                          <a:ea typeface="新細明體" pitchFamily="18" charset="-120"/>
                        </a:rPr>
                        <a:t>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34165" name="Text Box 687"/>
          <p:cNvSpPr txBox="1">
            <a:spLocks noChangeArrowheads="1"/>
          </p:cNvSpPr>
          <p:nvPr/>
        </p:nvSpPr>
        <p:spPr bwMode="auto">
          <a:xfrm>
            <a:off x="1403350" y="2492375"/>
            <a:ext cx="863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algn="ctr" eaLnBrk="1" hangingPunct="1">
              <a:spcBef>
                <a:spcPct val="50000"/>
              </a:spcBef>
            </a:pPr>
            <a:r>
              <a:rPr lang="en-US" altLang="zh-TW">
                <a:latin typeface="Times New Roman" pitchFamily="18" charset="0"/>
              </a:rPr>
              <a:t>k = 0</a:t>
            </a:r>
          </a:p>
        </p:txBody>
      </p:sp>
      <p:sp>
        <p:nvSpPr>
          <p:cNvPr id="34166" name="Text Box 689"/>
          <p:cNvSpPr txBox="1">
            <a:spLocks noChangeArrowheads="1"/>
          </p:cNvSpPr>
          <p:nvPr/>
        </p:nvSpPr>
        <p:spPr bwMode="auto">
          <a:xfrm>
            <a:off x="6172200" y="2492375"/>
            <a:ext cx="2362200" cy="427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algn="ctr" eaLnBrk="1" hangingPunct="1">
              <a:spcBef>
                <a:spcPct val="50000"/>
              </a:spcBef>
            </a:pPr>
            <a:r>
              <a:rPr lang="en-US" altLang="zh-TW" sz="2200">
                <a:latin typeface="Times New Roman" pitchFamily="18" charset="0"/>
              </a:rPr>
              <a:t>k = 2 (constraint T)</a:t>
            </a:r>
          </a:p>
        </p:txBody>
      </p:sp>
      <p:sp>
        <p:nvSpPr>
          <p:cNvPr id="34167" name="Text Box 690"/>
          <p:cNvSpPr txBox="1">
            <a:spLocks noChangeArrowheads="1"/>
          </p:cNvSpPr>
          <p:nvPr/>
        </p:nvSpPr>
        <p:spPr bwMode="auto">
          <a:xfrm>
            <a:off x="3352800" y="2514600"/>
            <a:ext cx="2438400" cy="427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algn="ctr" eaLnBrk="1" hangingPunct="1">
              <a:spcBef>
                <a:spcPct val="50000"/>
              </a:spcBef>
            </a:pPr>
            <a:r>
              <a:rPr lang="en-US" altLang="zh-TW" sz="2200">
                <a:latin typeface="Times New Roman" pitchFamily="18" charset="0"/>
              </a:rPr>
              <a:t>k = 1 (constraint A)</a:t>
            </a:r>
          </a:p>
        </p:txBody>
      </p:sp>
      <p:sp>
        <p:nvSpPr>
          <p:cNvPr id="34168" name="Line 697"/>
          <p:cNvSpPr>
            <a:spLocks noChangeShapeType="1"/>
          </p:cNvSpPr>
          <p:nvPr/>
        </p:nvSpPr>
        <p:spPr bwMode="auto">
          <a:xfrm flipH="1">
            <a:off x="8101013" y="5661025"/>
            <a:ext cx="215900" cy="0"/>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69" name="Line 698"/>
          <p:cNvSpPr>
            <a:spLocks noChangeShapeType="1"/>
          </p:cNvSpPr>
          <p:nvPr/>
        </p:nvSpPr>
        <p:spPr bwMode="auto">
          <a:xfrm flipH="1">
            <a:off x="7885113" y="5661025"/>
            <a:ext cx="215900" cy="0"/>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0" name="Line 699"/>
          <p:cNvSpPr>
            <a:spLocks noChangeShapeType="1"/>
          </p:cNvSpPr>
          <p:nvPr/>
        </p:nvSpPr>
        <p:spPr bwMode="auto">
          <a:xfrm flipH="1" flipV="1">
            <a:off x="7667625" y="5373688"/>
            <a:ext cx="215900" cy="142875"/>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1" name="Line 700"/>
          <p:cNvSpPr>
            <a:spLocks noChangeShapeType="1"/>
          </p:cNvSpPr>
          <p:nvPr/>
        </p:nvSpPr>
        <p:spPr bwMode="auto">
          <a:xfrm flipH="1" flipV="1">
            <a:off x="7716838" y="5003800"/>
            <a:ext cx="0" cy="215900"/>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2" name="Line 701"/>
          <p:cNvSpPr>
            <a:spLocks noChangeShapeType="1"/>
          </p:cNvSpPr>
          <p:nvPr/>
        </p:nvSpPr>
        <p:spPr bwMode="auto">
          <a:xfrm flipH="1" flipV="1">
            <a:off x="7740650" y="4724400"/>
            <a:ext cx="0" cy="217488"/>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3" name="Line 702"/>
          <p:cNvSpPr>
            <a:spLocks noChangeShapeType="1"/>
          </p:cNvSpPr>
          <p:nvPr/>
        </p:nvSpPr>
        <p:spPr bwMode="auto">
          <a:xfrm flipH="1" flipV="1">
            <a:off x="7740650" y="4437063"/>
            <a:ext cx="0" cy="217487"/>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4" name="Line 703"/>
          <p:cNvSpPr>
            <a:spLocks noChangeShapeType="1"/>
          </p:cNvSpPr>
          <p:nvPr/>
        </p:nvSpPr>
        <p:spPr bwMode="auto">
          <a:xfrm flipH="1" flipV="1">
            <a:off x="4716463" y="4292600"/>
            <a:ext cx="2879725" cy="215900"/>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5" name="Line 704"/>
          <p:cNvSpPr>
            <a:spLocks noChangeShapeType="1"/>
          </p:cNvSpPr>
          <p:nvPr/>
        </p:nvSpPr>
        <p:spPr bwMode="auto">
          <a:xfrm flipH="1" flipV="1">
            <a:off x="4427538" y="4292600"/>
            <a:ext cx="215900" cy="0"/>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6" name="Line 706"/>
          <p:cNvSpPr>
            <a:spLocks noChangeShapeType="1"/>
          </p:cNvSpPr>
          <p:nvPr/>
        </p:nvSpPr>
        <p:spPr bwMode="auto">
          <a:xfrm flipH="1" flipV="1">
            <a:off x="4211638" y="4292600"/>
            <a:ext cx="215900" cy="0"/>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7" name="Line 707"/>
          <p:cNvSpPr>
            <a:spLocks noChangeShapeType="1"/>
          </p:cNvSpPr>
          <p:nvPr/>
        </p:nvSpPr>
        <p:spPr bwMode="auto">
          <a:xfrm flipH="1" flipV="1">
            <a:off x="3995738" y="4005263"/>
            <a:ext cx="144462" cy="144462"/>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8" name="Line 708"/>
          <p:cNvSpPr>
            <a:spLocks noChangeShapeType="1"/>
          </p:cNvSpPr>
          <p:nvPr/>
        </p:nvSpPr>
        <p:spPr bwMode="auto">
          <a:xfrm flipH="1" flipV="1">
            <a:off x="971550" y="3716338"/>
            <a:ext cx="2952750" cy="144462"/>
          </a:xfrm>
          <a:prstGeom prst="line">
            <a:avLst/>
          </a:prstGeom>
          <a:noFill/>
          <a:ln w="19050">
            <a:solidFill>
              <a:srgbClr val="FF0000"/>
            </a:solidFill>
            <a:prstDash val="sysDot"/>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zh-TW" altLang="en-US"/>
          </a:p>
        </p:txBody>
      </p:sp>
      <p:sp>
        <p:nvSpPr>
          <p:cNvPr id="34179" name="Oval 714"/>
          <p:cNvSpPr>
            <a:spLocks noChangeArrowheads="1"/>
          </p:cNvSpPr>
          <p:nvPr/>
        </p:nvSpPr>
        <p:spPr bwMode="auto">
          <a:xfrm>
            <a:off x="7740650" y="5445125"/>
            <a:ext cx="266700" cy="365125"/>
          </a:xfrm>
          <a:prstGeom prst="ellipse">
            <a:avLst/>
          </a:prstGeom>
          <a:noFill/>
          <a:ln w="28575">
            <a:solidFill>
              <a:srgbClr val="0070C0"/>
            </a:solidFill>
            <a:prstDash val="sysDot"/>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TW" altLang="en-US"/>
          </a:p>
        </p:txBody>
      </p:sp>
      <p:sp>
        <p:nvSpPr>
          <p:cNvPr id="34180" name="Oval 715"/>
          <p:cNvSpPr>
            <a:spLocks noChangeArrowheads="1"/>
          </p:cNvSpPr>
          <p:nvPr/>
        </p:nvSpPr>
        <p:spPr bwMode="auto">
          <a:xfrm>
            <a:off x="7524750" y="4292600"/>
            <a:ext cx="266700" cy="365125"/>
          </a:xfrm>
          <a:prstGeom prst="ellipse">
            <a:avLst/>
          </a:prstGeom>
          <a:noFill/>
          <a:ln w="28575">
            <a:solidFill>
              <a:srgbClr val="0070C0"/>
            </a:solidFill>
            <a:prstDash val="sysDot"/>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TW" altLang="en-US"/>
          </a:p>
        </p:txBody>
      </p:sp>
      <p:sp>
        <p:nvSpPr>
          <p:cNvPr id="34181" name="Oval 716"/>
          <p:cNvSpPr>
            <a:spLocks noChangeArrowheads="1"/>
          </p:cNvSpPr>
          <p:nvPr/>
        </p:nvSpPr>
        <p:spPr bwMode="auto">
          <a:xfrm>
            <a:off x="4067175" y="4005263"/>
            <a:ext cx="266700" cy="365125"/>
          </a:xfrm>
          <a:prstGeom prst="ellipse">
            <a:avLst/>
          </a:prstGeom>
          <a:noFill/>
          <a:ln w="28575">
            <a:solidFill>
              <a:srgbClr val="0070C0"/>
            </a:solidFill>
            <a:prstDash val="sysDot"/>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TW" altLang="en-US"/>
          </a:p>
        </p:txBody>
      </p:sp>
      <p:sp>
        <p:nvSpPr>
          <p:cNvPr id="34182" name="Oval 717"/>
          <p:cNvSpPr>
            <a:spLocks noChangeArrowheads="1"/>
          </p:cNvSpPr>
          <p:nvPr/>
        </p:nvSpPr>
        <p:spPr bwMode="auto">
          <a:xfrm>
            <a:off x="3829050" y="3706813"/>
            <a:ext cx="266700" cy="365125"/>
          </a:xfrm>
          <a:prstGeom prst="ellipse">
            <a:avLst/>
          </a:prstGeom>
          <a:noFill/>
          <a:ln w="28575">
            <a:solidFill>
              <a:srgbClr val="0070C0"/>
            </a:solidFill>
            <a:prstDash val="sysDot"/>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TW" altLang="en-US"/>
          </a:p>
        </p:txBody>
      </p:sp>
      <p:sp>
        <p:nvSpPr>
          <p:cNvPr id="34183" name="Text Box 718"/>
          <p:cNvSpPr txBox="1">
            <a:spLocks noChangeArrowheads="1"/>
          </p:cNvSpPr>
          <p:nvPr/>
        </p:nvSpPr>
        <p:spPr bwMode="auto">
          <a:xfrm>
            <a:off x="539750" y="6021388"/>
            <a:ext cx="80645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spcBef>
                <a:spcPct val="50000"/>
              </a:spcBef>
            </a:pPr>
            <a:r>
              <a:rPr lang="en-US" altLang="zh-TW">
                <a:latin typeface="Times New Roman" pitchFamily="18" charset="0"/>
              </a:rPr>
              <a:t>Following the link, we can obtain the CLCS </a:t>
            </a:r>
            <a:r>
              <a:rPr lang="en-US" altLang="zh-TW" u="sng">
                <a:solidFill>
                  <a:srgbClr val="FF0000"/>
                </a:solidFill>
                <a:latin typeface="Times New Roman" pitchFamily="18" charset="0"/>
              </a:rPr>
              <a:t>A</a:t>
            </a:r>
            <a:r>
              <a:rPr lang="en-US" altLang="zh-TW" u="sng">
                <a:solidFill>
                  <a:srgbClr val="0070C0"/>
                </a:solidFill>
                <a:latin typeface="Times New Roman" pitchFamily="18" charset="0"/>
              </a:rPr>
              <a:t>G</a:t>
            </a:r>
            <a:r>
              <a:rPr lang="en-US" altLang="zh-TW" u="sng">
                <a:solidFill>
                  <a:srgbClr val="FF0000"/>
                </a:solidFill>
                <a:latin typeface="Times New Roman" pitchFamily="18" charset="0"/>
              </a:rPr>
              <a:t>T</a:t>
            </a:r>
            <a:r>
              <a:rPr lang="en-US" altLang="zh-TW" u="sng">
                <a:solidFill>
                  <a:srgbClr val="0070C0"/>
                </a:solidFill>
                <a:latin typeface="Times New Roman" pitchFamily="18" charset="0"/>
              </a:rPr>
              <a:t>G</a:t>
            </a:r>
            <a:endParaRPr lang="en-US" altLang="zh-TW">
              <a:solidFill>
                <a:srgbClr val="0070C0"/>
              </a:solidFill>
              <a:latin typeface="Times New Roman" pitchFamily="18" charset="0"/>
            </a:endParaRPr>
          </a:p>
        </p:txBody>
      </p:sp>
    </p:spTree>
    <p:extLst>
      <p:ext uri="{BB962C8B-B14F-4D97-AF65-F5344CB8AC3E}">
        <p14:creationId xmlns:p14="http://schemas.microsoft.com/office/powerpoint/2010/main" xmlns="" val="469886453"/>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Generalized CLCS</a:t>
            </a:r>
            <a:endParaRPr lang="zh-TW" altLang="en-US" dirty="0"/>
          </a:p>
        </p:txBody>
      </p:sp>
      <p:sp>
        <p:nvSpPr>
          <p:cNvPr id="3" name="內容版面配置區 2"/>
          <p:cNvSpPr>
            <a:spLocks noGrp="1"/>
          </p:cNvSpPr>
          <p:nvPr>
            <p:ph idx="1"/>
          </p:nvPr>
        </p:nvSpPr>
        <p:spPr/>
        <p:txBody>
          <a:bodyPr/>
          <a:lstStyle/>
          <a:p>
            <a:r>
              <a:rPr lang="en-US" altLang="zh-TW" dirty="0" smtClean="0"/>
              <a:t>In 2009, </a:t>
            </a:r>
            <a:r>
              <a:rPr lang="en-US" altLang="zh-TW" dirty="0"/>
              <a:t>Chen </a:t>
            </a:r>
            <a:r>
              <a:rPr lang="en-US" altLang="zh-TW" dirty="0" smtClean="0"/>
              <a:t>and Chao extended the CLCS into four different variants</a:t>
            </a:r>
          </a:p>
          <a:p>
            <a:pPr lvl="1"/>
            <a:r>
              <a:rPr lang="en-US" altLang="zh-TW" dirty="0"/>
              <a:t>Sequence-inclusion CLCS</a:t>
            </a:r>
          </a:p>
          <a:p>
            <a:pPr lvl="1"/>
            <a:r>
              <a:rPr lang="en-US" altLang="zh-TW" dirty="0" smtClean="0"/>
              <a:t>Sequence-exclusion </a:t>
            </a:r>
            <a:r>
              <a:rPr lang="en-US" altLang="zh-TW" dirty="0"/>
              <a:t>CLCS</a:t>
            </a:r>
          </a:p>
          <a:p>
            <a:pPr lvl="1"/>
            <a:r>
              <a:rPr lang="en-US" altLang="zh-TW" dirty="0"/>
              <a:t>String-inclusion CLCS</a:t>
            </a:r>
          </a:p>
          <a:p>
            <a:pPr lvl="1"/>
            <a:r>
              <a:rPr lang="en-US" altLang="zh-TW" dirty="0" smtClean="0"/>
              <a:t>String-exclusion </a:t>
            </a:r>
            <a:r>
              <a:rPr lang="en-US" altLang="zh-TW" dirty="0"/>
              <a:t>CLCS</a:t>
            </a:r>
          </a:p>
          <a:p>
            <a:r>
              <a:rPr lang="en-US" altLang="zh-TW" dirty="0" smtClean="0"/>
              <a:t>In 2010, Chen combines the </a:t>
            </a:r>
            <a:r>
              <a:rPr lang="en-US" altLang="zh-TW" dirty="0"/>
              <a:t>Sequence-inclusion </a:t>
            </a:r>
            <a:r>
              <a:rPr lang="en-US" altLang="zh-TW" dirty="0" smtClean="0"/>
              <a:t>CLCS and the Sequence-exclusion CLCS.</a:t>
            </a:r>
            <a:endParaRPr lang="en-US" altLang="zh-TW" dirty="0"/>
          </a:p>
          <a:p>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6</a:t>
            </a:fld>
            <a:endParaRPr lang="zh-TW" altLang="en-US"/>
          </a:p>
        </p:txBody>
      </p:sp>
    </p:spTree>
    <p:extLst>
      <p:ext uri="{BB962C8B-B14F-4D97-AF65-F5344CB8AC3E}">
        <p14:creationId xmlns:p14="http://schemas.microsoft.com/office/powerpoint/2010/main" xmlns="" val="4068708270"/>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Outline</a:t>
            </a:r>
            <a:endParaRPr lang="zh-TW" altLang="en-US" dirty="0"/>
          </a:p>
        </p:txBody>
      </p:sp>
      <p:sp>
        <p:nvSpPr>
          <p:cNvPr id="2" name="內容版面配置區 1"/>
          <p:cNvSpPr>
            <a:spLocks noGrp="1"/>
          </p:cNvSpPr>
          <p:nvPr>
            <p:ph idx="1"/>
          </p:nvPr>
        </p:nvSpPr>
        <p:spPr/>
        <p:txBody>
          <a:bodyPr/>
          <a:lstStyle/>
          <a:p>
            <a:r>
              <a:rPr lang="en-US" altLang="zh-TW" dirty="0" smtClean="0"/>
              <a:t>Introduction</a:t>
            </a:r>
          </a:p>
          <a:p>
            <a:r>
              <a:rPr lang="en-US" altLang="zh-TW" dirty="0" smtClean="0">
                <a:solidFill>
                  <a:srgbClr val="00B050"/>
                </a:solidFill>
              </a:rPr>
              <a:t>Problem definition</a:t>
            </a:r>
          </a:p>
          <a:p>
            <a:r>
              <a:rPr lang="en-US" altLang="zh-TW" dirty="0" smtClean="0"/>
              <a:t>Conclusions</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7</a:t>
            </a:fld>
            <a:endParaRPr lang="zh-TW" altLang="en-US"/>
          </a:p>
        </p:txBody>
      </p:sp>
    </p:spTree>
    <p:extLst>
      <p:ext uri="{BB962C8B-B14F-4D97-AF65-F5344CB8AC3E}">
        <p14:creationId xmlns:p14="http://schemas.microsoft.com/office/powerpoint/2010/main" xmlns="" val="3975101408"/>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600" dirty="0" smtClean="0"/>
              <a:t>Sequential Substring Constrained Longest Common Subsequence (SSCLCS)</a:t>
            </a:r>
            <a:endParaRPr lang="zh-TW" altLang="en-US" sz="3600" dirty="0"/>
          </a:p>
        </p:txBody>
      </p:sp>
      <p:sp>
        <p:nvSpPr>
          <p:cNvPr id="3" name="內容版面配置區 2"/>
          <p:cNvSpPr>
            <a:spLocks noGrp="1"/>
          </p:cNvSpPr>
          <p:nvPr>
            <p:ph idx="1"/>
          </p:nvPr>
        </p:nvSpPr>
        <p:spPr/>
        <p:txBody>
          <a:bodyPr>
            <a:normAutofit/>
          </a:bodyPr>
          <a:lstStyle/>
          <a:p>
            <a:pPr marL="365760" lvl="1" indent="-283464">
              <a:spcBef>
                <a:spcPts val="600"/>
              </a:spcBef>
              <a:buSzPct val="80000"/>
              <a:buFont typeface="Wingdings 2"/>
              <a:buChar char=""/>
            </a:pPr>
            <a:r>
              <a:rPr lang="en-US" altLang="zh-TW" dirty="0" smtClean="0"/>
              <a:t>The Constraint C is composed of ordered strings (</a:t>
            </a:r>
            <a:r>
              <a:rPr lang="en-US" altLang="zh-TW" i="1" dirty="0" smtClean="0"/>
              <a:t>C </a:t>
            </a:r>
            <a:r>
              <a:rPr lang="en-US" altLang="zh-TW" baseline="30000" dirty="0" smtClean="0"/>
              <a:t>1</a:t>
            </a:r>
            <a:r>
              <a:rPr lang="en-US" altLang="zh-TW" dirty="0" smtClean="0"/>
              <a:t>, </a:t>
            </a:r>
            <a:r>
              <a:rPr lang="en-US" altLang="zh-TW" i="1" dirty="0" smtClean="0"/>
              <a:t>C </a:t>
            </a:r>
            <a:r>
              <a:rPr lang="en-US" altLang="zh-TW" baseline="30000" dirty="0" smtClean="0"/>
              <a:t>2</a:t>
            </a:r>
            <a:r>
              <a:rPr lang="en-US" altLang="zh-TW" dirty="0" smtClean="0"/>
              <a:t>, …, </a:t>
            </a:r>
            <a:r>
              <a:rPr lang="en-US" altLang="zh-TW" i="1" dirty="0" smtClean="0"/>
              <a:t>C </a:t>
            </a:r>
            <a:r>
              <a:rPr lang="en-US" altLang="zh-TW" i="1" baseline="30000" dirty="0" smtClean="0"/>
              <a:t>l </a:t>
            </a:r>
            <a:r>
              <a:rPr lang="en-US" altLang="zh-TW" dirty="0" smtClean="0"/>
              <a:t>) with total length </a:t>
            </a:r>
            <a:r>
              <a:rPr lang="en-US" altLang="zh-TW" i="1" dirty="0" smtClean="0"/>
              <a:t>r</a:t>
            </a:r>
            <a:r>
              <a:rPr lang="en-US" altLang="zh-TW" dirty="0" smtClean="0"/>
              <a:t>, we call them partitions of </a:t>
            </a:r>
            <a:r>
              <a:rPr lang="en-US" altLang="zh-TW" i="1" dirty="0" smtClean="0"/>
              <a:t>C</a:t>
            </a:r>
            <a:r>
              <a:rPr lang="en-US" altLang="zh-TW" dirty="0" smtClean="0"/>
              <a:t>.</a:t>
            </a:r>
          </a:p>
          <a:p>
            <a:r>
              <a:rPr lang="en-US" altLang="zh-TW" dirty="0"/>
              <a:t>We are to </a:t>
            </a:r>
            <a:r>
              <a:rPr lang="en-US" altLang="zh-TW" dirty="0" smtClean="0"/>
              <a:t>find the </a:t>
            </a:r>
            <a:r>
              <a:rPr lang="en-US" altLang="zh-TW" dirty="0"/>
              <a:t>longest common subsequence </a:t>
            </a:r>
            <a:r>
              <a:rPr lang="en-US" altLang="zh-TW" i="1" dirty="0"/>
              <a:t>D</a:t>
            </a:r>
            <a:r>
              <a:rPr lang="en-US" altLang="zh-TW" dirty="0"/>
              <a:t> of </a:t>
            </a:r>
            <a:r>
              <a:rPr lang="en-US" altLang="zh-TW" i="1" dirty="0"/>
              <a:t>A</a:t>
            </a:r>
            <a:r>
              <a:rPr lang="en-US" altLang="zh-TW" dirty="0"/>
              <a:t> and </a:t>
            </a:r>
            <a:r>
              <a:rPr lang="en-US" altLang="zh-TW" i="1" dirty="0"/>
              <a:t>B</a:t>
            </a:r>
            <a:r>
              <a:rPr lang="en-US" altLang="zh-TW" dirty="0"/>
              <a:t> </a:t>
            </a:r>
            <a:r>
              <a:rPr lang="en-US" altLang="zh-TW" dirty="0" smtClean="0"/>
              <a:t>containing </a:t>
            </a:r>
            <a:r>
              <a:rPr lang="en-US" altLang="zh-TW" i="1" dirty="0"/>
              <a:t>C </a:t>
            </a:r>
            <a:r>
              <a:rPr lang="en-US" altLang="zh-TW" baseline="30000" dirty="0"/>
              <a:t>1</a:t>
            </a:r>
            <a:r>
              <a:rPr lang="en-US" altLang="zh-TW" dirty="0"/>
              <a:t>, </a:t>
            </a:r>
            <a:r>
              <a:rPr lang="en-US" altLang="zh-TW" dirty="0" smtClean="0"/>
              <a:t> </a:t>
            </a:r>
            <a:r>
              <a:rPr lang="en-US" altLang="zh-TW" i="1" dirty="0" smtClean="0"/>
              <a:t>C </a:t>
            </a:r>
            <a:r>
              <a:rPr lang="en-US" altLang="zh-TW" baseline="30000" dirty="0"/>
              <a:t>2</a:t>
            </a:r>
            <a:r>
              <a:rPr lang="en-US" altLang="zh-TW" dirty="0"/>
              <a:t>, …, </a:t>
            </a:r>
            <a:r>
              <a:rPr lang="en-US" altLang="zh-TW" i="1" dirty="0"/>
              <a:t>C </a:t>
            </a:r>
            <a:r>
              <a:rPr lang="en-US" altLang="zh-TW" i="1" baseline="30000" dirty="0" smtClean="0"/>
              <a:t>l </a:t>
            </a:r>
            <a:r>
              <a:rPr lang="en-US" altLang="zh-TW" sz="800" dirty="0" smtClean="0"/>
              <a:t> </a:t>
            </a:r>
            <a:r>
              <a:rPr lang="en-US" altLang="zh-TW" dirty="0"/>
              <a:t>as </a:t>
            </a:r>
            <a:r>
              <a:rPr lang="en-US" altLang="zh-TW" dirty="0">
                <a:solidFill>
                  <a:srgbClr val="FF0000"/>
                </a:solidFill>
              </a:rPr>
              <a:t>substrings</a:t>
            </a:r>
            <a:r>
              <a:rPr lang="en-US" altLang="zh-TW" dirty="0"/>
              <a:t> and </a:t>
            </a:r>
            <a:r>
              <a:rPr lang="en-US" altLang="zh-TW" dirty="0">
                <a:solidFill>
                  <a:srgbClr val="FF0000"/>
                </a:solidFill>
              </a:rPr>
              <a:t>the order</a:t>
            </a:r>
            <a:r>
              <a:rPr lang="en-US" altLang="zh-TW" dirty="0"/>
              <a:t> of </a:t>
            </a:r>
            <a:r>
              <a:rPr lang="en-US" altLang="zh-TW" i="1" dirty="0" smtClean="0"/>
              <a:t>C</a:t>
            </a:r>
            <a:r>
              <a:rPr lang="en-US" altLang="zh-TW" i="1" dirty="0" smtClean="0">
                <a:latin typeface="Times New Roman" pitchFamily="18" charset="0"/>
                <a:cs typeface="Times New Roman" pitchFamily="18" charset="0"/>
              </a:rPr>
              <a:t>’</a:t>
            </a:r>
            <a:r>
              <a:rPr lang="en-US" altLang="zh-TW" dirty="0" smtClean="0"/>
              <a:t>s </a:t>
            </a:r>
            <a:r>
              <a:rPr lang="en-US" altLang="zh-TW" dirty="0" smtClean="0">
                <a:solidFill>
                  <a:srgbClr val="FF0000"/>
                </a:solidFill>
              </a:rPr>
              <a:t>are retained</a:t>
            </a:r>
            <a:r>
              <a:rPr lang="en-US" altLang="zh-TW" dirty="0"/>
              <a:t>.</a:t>
            </a:r>
            <a:endParaRPr lang="en-US" altLang="zh-TW" dirty="0" smtClean="0"/>
          </a:p>
          <a:p>
            <a:pPr marL="365760" lvl="1" indent="-283464">
              <a:spcBef>
                <a:spcPts val="600"/>
              </a:spcBef>
              <a:buSzPct val="80000"/>
              <a:buFont typeface="Wingdings 2"/>
              <a:buChar char=""/>
            </a:pPr>
            <a:r>
              <a:rPr lang="en-US" altLang="zh-TW" dirty="0"/>
              <a:t>Ex: </a:t>
            </a:r>
            <a:r>
              <a:rPr lang="en-US" altLang="zh-TW" i="1" dirty="0" smtClean="0"/>
              <a:t>A</a:t>
            </a:r>
            <a:r>
              <a:rPr lang="en-US" altLang="zh-TW" dirty="0" smtClean="0"/>
              <a:t> = </a:t>
            </a:r>
            <a:r>
              <a:rPr lang="en-US" altLang="zh-TW" dirty="0" err="1" smtClean="0">
                <a:solidFill>
                  <a:srgbClr val="FF0000"/>
                </a:solidFill>
              </a:rPr>
              <a:t>a</a:t>
            </a:r>
            <a:r>
              <a:rPr lang="en-US" altLang="zh-TW" dirty="0" err="1" smtClean="0"/>
              <a:t>t</a:t>
            </a:r>
            <a:r>
              <a:rPr lang="en-US" altLang="zh-TW" dirty="0" err="1" smtClean="0">
                <a:solidFill>
                  <a:srgbClr val="FF0000"/>
                </a:solidFill>
              </a:rPr>
              <a:t>cat</a:t>
            </a:r>
            <a:r>
              <a:rPr lang="en-US" altLang="zh-TW" dirty="0" err="1" smtClean="0"/>
              <a:t>a</a:t>
            </a:r>
            <a:r>
              <a:rPr lang="en-US" altLang="zh-TW" dirty="0" err="1" smtClean="0">
                <a:solidFill>
                  <a:srgbClr val="00B0F0"/>
                </a:solidFill>
              </a:rPr>
              <a:t>t</a:t>
            </a:r>
            <a:r>
              <a:rPr lang="en-US" altLang="zh-TW" dirty="0" err="1" smtClean="0"/>
              <a:t>g</a:t>
            </a:r>
            <a:r>
              <a:rPr lang="en-US" altLang="zh-TW" dirty="0" err="1" smtClean="0">
                <a:solidFill>
                  <a:srgbClr val="00B0F0"/>
                </a:solidFill>
              </a:rPr>
              <a:t>ag</a:t>
            </a:r>
            <a:r>
              <a:rPr lang="en-US" altLang="zh-TW" dirty="0"/>
              <a:t>, </a:t>
            </a:r>
            <a:r>
              <a:rPr lang="en-US" altLang="zh-TW" i="1" dirty="0" smtClean="0"/>
              <a:t>B</a:t>
            </a:r>
            <a:r>
              <a:rPr lang="en-US" altLang="zh-TW" dirty="0" smtClean="0"/>
              <a:t> = </a:t>
            </a:r>
            <a:r>
              <a:rPr lang="en-US" altLang="zh-TW" dirty="0" err="1" smtClean="0">
                <a:solidFill>
                  <a:srgbClr val="FF0000"/>
                </a:solidFill>
              </a:rPr>
              <a:t>a</a:t>
            </a:r>
            <a:r>
              <a:rPr lang="en-US" altLang="zh-TW" dirty="0" err="1" smtClean="0"/>
              <a:t>t</a:t>
            </a:r>
            <a:r>
              <a:rPr lang="en-US" altLang="zh-TW" dirty="0" err="1" smtClean="0">
                <a:solidFill>
                  <a:srgbClr val="FF0000"/>
                </a:solidFill>
              </a:rPr>
              <a:t>cat</a:t>
            </a:r>
            <a:r>
              <a:rPr lang="en-US" altLang="zh-TW" dirty="0" err="1"/>
              <a:t>a</a:t>
            </a:r>
            <a:r>
              <a:rPr lang="en-US" altLang="zh-TW" dirty="0" err="1" smtClean="0">
                <a:solidFill>
                  <a:srgbClr val="00B0F0"/>
                </a:solidFill>
              </a:rPr>
              <a:t>tag</a:t>
            </a:r>
            <a:r>
              <a:rPr lang="en-US" altLang="zh-TW" dirty="0" err="1" smtClean="0"/>
              <a:t>g</a:t>
            </a:r>
            <a:r>
              <a:rPr lang="en-US" altLang="zh-TW" dirty="0"/>
              <a:t>, </a:t>
            </a:r>
            <a:r>
              <a:rPr lang="en-US" altLang="zh-TW" i="1" dirty="0"/>
              <a:t>C</a:t>
            </a:r>
            <a:r>
              <a:rPr lang="en-US" altLang="zh-TW" dirty="0"/>
              <a:t>=(</a:t>
            </a:r>
            <a:r>
              <a:rPr lang="en-US" altLang="zh-TW" dirty="0" err="1">
                <a:solidFill>
                  <a:srgbClr val="FF0000"/>
                </a:solidFill>
              </a:rPr>
              <a:t>acat</a:t>
            </a:r>
            <a:r>
              <a:rPr lang="en-US" altLang="zh-TW" dirty="0"/>
              <a:t>, </a:t>
            </a:r>
            <a:r>
              <a:rPr lang="en-US" altLang="zh-TW" dirty="0">
                <a:solidFill>
                  <a:srgbClr val="00B0F0"/>
                </a:solidFill>
              </a:rPr>
              <a:t>tag</a:t>
            </a:r>
            <a:r>
              <a:rPr lang="en-US" altLang="zh-TW" dirty="0" smtClean="0"/>
              <a:t>), SSCLCS(A, B, C) = </a:t>
            </a:r>
            <a:r>
              <a:rPr lang="en-US" altLang="zh-TW" dirty="0" err="1" smtClean="0">
                <a:solidFill>
                  <a:srgbClr val="FF0000"/>
                </a:solidFill>
              </a:rPr>
              <a:t>acat</a:t>
            </a:r>
            <a:r>
              <a:rPr lang="en-US" altLang="zh-TW" dirty="0" err="1" smtClean="0"/>
              <a:t>a</a:t>
            </a:r>
            <a:r>
              <a:rPr lang="en-US" altLang="zh-TW" dirty="0" err="1" smtClean="0">
                <a:solidFill>
                  <a:srgbClr val="00B0F0"/>
                </a:solidFill>
              </a:rPr>
              <a:t>tag</a:t>
            </a:r>
            <a:endParaRPr lang="zh-TW" altLang="en-US" dirty="0">
              <a:solidFill>
                <a:srgbClr val="00B0F0"/>
              </a:solidFill>
            </a:endParaRPr>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8</a:t>
            </a:fld>
            <a:endParaRPr lang="zh-TW" altLang="en-US"/>
          </a:p>
        </p:txBody>
      </p:sp>
    </p:spTree>
    <p:extLst>
      <p:ext uri="{BB962C8B-B14F-4D97-AF65-F5344CB8AC3E}">
        <p14:creationId xmlns:p14="http://schemas.microsoft.com/office/powerpoint/2010/main" xmlns="" val="3102644750"/>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600" dirty="0">
                <a:solidFill>
                  <a:srgbClr val="4F271C">
                    <a:satMod val="130000"/>
                  </a:srgbClr>
                </a:solidFill>
              </a:rPr>
              <a:t>Sequential Substring Constrained Longest Common Subsequence (SSCLCS)</a:t>
            </a:r>
            <a:endParaRPr lang="zh-TW" altLang="en-US" sz="3600" dirty="0"/>
          </a:p>
        </p:txBody>
      </p:sp>
      <p:sp>
        <p:nvSpPr>
          <p:cNvPr id="3" name="內容版面配置區 2"/>
          <p:cNvSpPr>
            <a:spLocks noGrp="1"/>
          </p:cNvSpPr>
          <p:nvPr>
            <p:ph idx="1"/>
          </p:nvPr>
        </p:nvSpPr>
        <p:spPr/>
        <p:txBody>
          <a:bodyPr>
            <a:normAutofit/>
          </a:bodyPr>
          <a:lstStyle/>
          <a:p>
            <a:pPr marL="365760" lvl="1" indent="-283464">
              <a:spcBef>
                <a:spcPts val="600"/>
              </a:spcBef>
              <a:buSzPct val="80000"/>
              <a:buFont typeface="Wingdings 2"/>
              <a:buChar char=""/>
            </a:pPr>
            <a:r>
              <a:rPr lang="en-US" altLang="zh-TW" sz="3200" dirty="0" smtClean="0"/>
              <a:t>Generalization of String-inclusion CLCS and Sequence-inclusion CLCS</a:t>
            </a:r>
          </a:p>
          <a:p>
            <a:r>
              <a:rPr lang="en-US" altLang="zh-TW" dirty="0" smtClean="0"/>
              <a:t>The </a:t>
            </a:r>
            <a:r>
              <a:rPr lang="en-US" altLang="zh-TW" dirty="0"/>
              <a:t>sequence inclusion CLCS is a special case of </a:t>
            </a:r>
            <a:r>
              <a:rPr lang="en-US" altLang="zh-TW" dirty="0" smtClean="0"/>
              <a:t>SSCLCS when </a:t>
            </a:r>
            <a:r>
              <a:rPr lang="en-US" altLang="zh-TW" dirty="0"/>
              <a:t>each partition is a single </a:t>
            </a:r>
            <a:r>
              <a:rPr lang="en-US" altLang="zh-TW" dirty="0" smtClean="0"/>
              <a:t>character.</a:t>
            </a:r>
          </a:p>
          <a:p>
            <a:r>
              <a:rPr lang="en-US" altLang="zh-TW" dirty="0"/>
              <a:t>T</a:t>
            </a:r>
            <a:r>
              <a:rPr lang="en-US" altLang="zh-TW" dirty="0" smtClean="0"/>
              <a:t>he string inclusion </a:t>
            </a:r>
            <a:r>
              <a:rPr lang="en-US" altLang="zh-TW" dirty="0"/>
              <a:t>CLCS is </a:t>
            </a:r>
            <a:r>
              <a:rPr lang="en-US" altLang="zh-TW" dirty="0" smtClean="0"/>
              <a:t>a </a:t>
            </a:r>
            <a:r>
              <a:rPr lang="en-US" altLang="zh-TW" dirty="0"/>
              <a:t>special case of SSCLCS when there </a:t>
            </a:r>
            <a:r>
              <a:rPr lang="en-US" altLang="zh-TW" dirty="0" smtClean="0"/>
              <a:t>is only </a:t>
            </a:r>
            <a:r>
              <a:rPr lang="en-US" altLang="zh-TW" dirty="0"/>
              <a:t>one partition.</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9</a:t>
            </a:fld>
            <a:endParaRPr lang="zh-TW" altLang="en-US"/>
          </a:p>
        </p:txBody>
      </p:sp>
    </p:spTree>
    <p:extLst>
      <p:ext uri="{BB962C8B-B14F-4D97-AF65-F5344CB8AC3E}">
        <p14:creationId xmlns:p14="http://schemas.microsoft.com/office/powerpoint/2010/main" xmlns="" val="4179823191"/>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Non-</a:t>
            </a:r>
            <a:r>
              <a:rPr lang="en-US" altLang="zh-TW" dirty="0" smtClean="0"/>
              <a:t>Overlapping vs. </a:t>
            </a:r>
            <a:r>
              <a:rPr lang="en-US" altLang="zh-TW" dirty="0"/>
              <a:t>O</a:t>
            </a:r>
            <a:r>
              <a:rPr lang="en-US" altLang="zh-TW" dirty="0" smtClean="0"/>
              <a:t>verlapping</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t>In the non-overlapping variant, the partitions cannot overlap in the SSCLCS obtained.</a:t>
            </a:r>
          </a:p>
          <a:p>
            <a:r>
              <a:rPr lang="en-US" altLang="zh-TW" dirty="0" smtClean="0"/>
              <a:t>In the overlapping variant, </a:t>
            </a:r>
            <a:r>
              <a:rPr lang="en-US" altLang="zh-TW" dirty="0"/>
              <a:t>the partitions may </a:t>
            </a:r>
            <a:r>
              <a:rPr lang="en-US" altLang="zh-TW" dirty="0" smtClean="0"/>
              <a:t>overlap in </a:t>
            </a:r>
            <a:r>
              <a:rPr lang="en-US" altLang="zh-TW" dirty="0"/>
              <a:t>the resulting SSCLCS but the positions are </a:t>
            </a:r>
            <a:r>
              <a:rPr lang="en-US" altLang="zh-TW" dirty="0" smtClean="0"/>
              <a:t>monotonically increasing.</a:t>
            </a:r>
          </a:p>
          <a:p>
            <a:r>
              <a:rPr lang="en-US" altLang="zh-TW" dirty="0" smtClean="0"/>
              <a:t>For example, when </a:t>
            </a:r>
            <a:r>
              <a:rPr lang="en-US" altLang="zh-TW" dirty="0"/>
              <a:t>A = </a:t>
            </a:r>
            <a:r>
              <a:rPr lang="en-US" altLang="zh-TW" dirty="0" err="1">
                <a:solidFill>
                  <a:srgbClr val="FF0000"/>
                </a:solidFill>
              </a:rPr>
              <a:t>a</a:t>
            </a:r>
            <a:r>
              <a:rPr lang="en-US" altLang="zh-TW" dirty="0" err="1"/>
              <a:t>t</a:t>
            </a:r>
            <a:r>
              <a:rPr lang="en-US" altLang="zh-TW" dirty="0" err="1">
                <a:solidFill>
                  <a:srgbClr val="FF0000"/>
                </a:solidFill>
              </a:rPr>
              <a:t>cata</a:t>
            </a:r>
            <a:r>
              <a:rPr lang="en-US" altLang="zh-TW" dirty="0" err="1"/>
              <a:t>t</a:t>
            </a:r>
            <a:r>
              <a:rPr lang="en-US" altLang="zh-TW" dirty="0" err="1">
                <a:solidFill>
                  <a:srgbClr val="FF0000"/>
                </a:solidFill>
              </a:rPr>
              <a:t>g</a:t>
            </a:r>
            <a:r>
              <a:rPr lang="en-US" altLang="zh-TW" dirty="0" err="1"/>
              <a:t>a</a:t>
            </a:r>
            <a:r>
              <a:rPr lang="en-US" altLang="zh-TW" dirty="0" err="1">
                <a:solidFill>
                  <a:srgbClr val="FF0000"/>
                </a:solidFill>
              </a:rPr>
              <a:t>g</a:t>
            </a:r>
            <a:r>
              <a:rPr lang="en-US" altLang="zh-TW" dirty="0"/>
              <a:t>, B = </a:t>
            </a:r>
            <a:r>
              <a:rPr lang="en-US" altLang="zh-TW" dirty="0" err="1">
                <a:solidFill>
                  <a:srgbClr val="FF0000"/>
                </a:solidFill>
              </a:rPr>
              <a:t>a</a:t>
            </a:r>
            <a:r>
              <a:rPr lang="en-US" altLang="zh-TW" dirty="0" err="1"/>
              <a:t>t</a:t>
            </a:r>
            <a:r>
              <a:rPr lang="en-US" altLang="zh-TW" dirty="0" err="1">
                <a:solidFill>
                  <a:srgbClr val="FF0000"/>
                </a:solidFill>
              </a:rPr>
              <a:t>cat</a:t>
            </a:r>
            <a:r>
              <a:rPr lang="en-US" altLang="zh-TW" dirty="0" err="1"/>
              <a:t>ct</a:t>
            </a:r>
            <a:r>
              <a:rPr lang="en-US" altLang="zh-TW" dirty="0" err="1">
                <a:solidFill>
                  <a:srgbClr val="FF0000"/>
                </a:solidFill>
              </a:rPr>
              <a:t>agg</a:t>
            </a:r>
            <a:r>
              <a:rPr lang="en-US" altLang="zh-TW" dirty="0"/>
              <a:t> </a:t>
            </a:r>
            <a:r>
              <a:rPr lang="en-US" altLang="zh-TW" dirty="0" smtClean="0"/>
              <a:t>and C </a:t>
            </a:r>
            <a:r>
              <a:rPr lang="en-US" altLang="zh-TW" dirty="0"/>
              <a:t>= (</a:t>
            </a:r>
            <a:r>
              <a:rPr lang="en-US" altLang="zh-TW" dirty="0" err="1" smtClean="0"/>
              <a:t>acat</a:t>
            </a:r>
            <a:r>
              <a:rPr lang="en-US" altLang="zh-TW" dirty="0"/>
              <a:t>,</a:t>
            </a:r>
            <a:r>
              <a:rPr lang="en-US" altLang="zh-TW" dirty="0" smtClean="0"/>
              <a:t> </a:t>
            </a:r>
            <a:r>
              <a:rPr lang="en-US" altLang="zh-TW" dirty="0"/>
              <a:t>tag</a:t>
            </a:r>
            <a:r>
              <a:rPr lang="en-US" altLang="zh-TW" dirty="0" smtClean="0"/>
              <a:t>), </a:t>
            </a:r>
            <a:r>
              <a:rPr lang="en-US" altLang="zh-TW" dirty="0" err="1"/>
              <a:t>acatagg</a:t>
            </a:r>
            <a:r>
              <a:rPr lang="en-US" altLang="zh-TW" dirty="0"/>
              <a:t> is an SSCLCS of the </a:t>
            </a:r>
            <a:r>
              <a:rPr lang="en-US" altLang="zh-TW" dirty="0" smtClean="0"/>
              <a:t>second variant</a:t>
            </a:r>
            <a:r>
              <a:rPr lang="en-US" altLang="zh-TW" dirty="0"/>
              <a:t>, but </a:t>
            </a:r>
            <a:r>
              <a:rPr lang="en-US" altLang="zh-TW" dirty="0" smtClean="0"/>
              <a:t>not </a:t>
            </a:r>
            <a:r>
              <a:rPr lang="en-US" altLang="zh-TW" dirty="0"/>
              <a:t>the first one.</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10</a:t>
            </a:fld>
            <a:endParaRPr lang="zh-TW" altLang="en-US"/>
          </a:p>
        </p:txBody>
      </p:sp>
    </p:spTree>
    <p:extLst>
      <p:ext uri="{BB962C8B-B14F-4D97-AF65-F5344CB8AC3E}">
        <p14:creationId xmlns:p14="http://schemas.microsoft.com/office/powerpoint/2010/main" xmlns="" val="1925685209"/>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Theorem 1</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t>Let </a:t>
            </a:r>
            <a:r>
              <a:rPr lang="en-US" altLang="zh-TW" i="1" dirty="0"/>
              <a:t>T </a:t>
            </a:r>
            <a:r>
              <a:rPr lang="en-US" altLang="zh-TW" dirty="0" smtClean="0"/>
              <a:t>=</a:t>
            </a:r>
            <a:r>
              <a:rPr lang="en-US" altLang="zh-TW" i="1" dirty="0" smtClean="0"/>
              <a:t>                                               </a:t>
            </a:r>
            <a:r>
              <a:rPr lang="en-US" altLang="zh-TW" dirty="0" smtClean="0"/>
              <a:t>are </a:t>
            </a:r>
            <a:r>
              <a:rPr lang="en-US" altLang="zh-TW" dirty="0"/>
              <a:t>the </a:t>
            </a:r>
            <a:r>
              <a:rPr lang="en-US" altLang="zh-TW" dirty="0">
                <a:solidFill>
                  <a:srgbClr val="FF0000"/>
                </a:solidFill>
              </a:rPr>
              <a:t>largest indices </a:t>
            </a:r>
            <a:r>
              <a:rPr lang="en-US" altLang="zh-TW" dirty="0"/>
              <a:t>such </a:t>
            </a:r>
            <a:r>
              <a:rPr lang="en-US" altLang="zh-TW" dirty="0" smtClean="0"/>
              <a:t>that         and</a:t>
            </a:r>
            <a:r>
              <a:rPr lang="en-US" altLang="zh-TW" i="1" dirty="0" smtClean="0"/>
              <a:t>       </a:t>
            </a:r>
            <a:r>
              <a:rPr lang="en-US" altLang="zh-TW" dirty="0" smtClean="0"/>
              <a:t>contains </a:t>
            </a:r>
            <a:r>
              <a:rPr lang="en-US" altLang="zh-TW" i="1" dirty="0"/>
              <a:t>C</a:t>
            </a:r>
            <a:r>
              <a:rPr lang="en-US" altLang="zh-TW" dirty="0"/>
              <a:t> as their subsequences</a:t>
            </a:r>
            <a:r>
              <a:rPr lang="en-US" altLang="zh-TW" i="1" dirty="0" smtClean="0"/>
              <a:t>.</a:t>
            </a:r>
            <a:r>
              <a:rPr lang="en-US" altLang="zh-TW" dirty="0" smtClean="0"/>
              <a:t>} The </a:t>
            </a:r>
            <a:r>
              <a:rPr lang="en-US" altLang="zh-TW" dirty="0"/>
              <a:t>SSCLCS solution can be </a:t>
            </a:r>
            <a:r>
              <a:rPr lang="en-US" altLang="zh-TW" dirty="0" smtClean="0"/>
              <a:t>obtained by finding </a:t>
            </a:r>
            <a:r>
              <a:rPr lang="en-US" altLang="zh-TW" dirty="0"/>
              <a:t>the maximum </a:t>
            </a:r>
            <a:r>
              <a:rPr lang="en-US" altLang="zh-TW" dirty="0" smtClean="0"/>
              <a:t>of</a:t>
            </a:r>
          </a:p>
          <a:p>
            <a:pPr marL="82296" indent="0">
              <a:buNone/>
            </a:pPr>
            <a:r>
              <a:rPr lang="en-US" altLang="zh-TW" i="1" dirty="0" smtClean="0"/>
              <a:t>                 </a:t>
            </a:r>
          </a:p>
          <a:p>
            <a:r>
              <a:rPr lang="en-US" altLang="zh-TW" dirty="0" smtClean="0"/>
              <a:t>We proved that </a:t>
            </a:r>
            <a:r>
              <a:rPr lang="en-US" altLang="zh-TW" i="1" dirty="0" smtClean="0"/>
              <a:t>i </a:t>
            </a:r>
            <a:r>
              <a:rPr lang="en-US" altLang="zh-TW" dirty="0" smtClean="0"/>
              <a:t>' and </a:t>
            </a:r>
            <a:r>
              <a:rPr lang="en-US" altLang="zh-TW" i="1" dirty="0" smtClean="0"/>
              <a:t>j</a:t>
            </a:r>
            <a:r>
              <a:rPr lang="en-US" altLang="zh-TW" dirty="0" smtClean="0"/>
              <a:t> ' can be obtained by greedily and reversely search for the nearest occurrence of the characters of </a:t>
            </a:r>
            <a:r>
              <a:rPr lang="en-US" altLang="zh-TW" i="1" dirty="0" smtClean="0"/>
              <a:t>C</a:t>
            </a:r>
            <a:r>
              <a:rPr lang="en-US" altLang="zh-TW" dirty="0" smtClean="0"/>
              <a:t> in A and B.</a:t>
            </a:r>
            <a:endParaRPr lang="zh-TW" altLang="en-US" dirty="0"/>
          </a:p>
        </p:txBody>
      </p:sp>
      <p:graphicFrame>
        <p:nvGraphicFramePr>
          <p:cNvPr id="4" name="物件 3"/>
          <p:cNvGraphicFramePr>
            <a:graphicFrameLocks noChangeAspect="1"/>
          </p:cNvGraphicFramePr>
          <p:nvPr>
            <p:extLst>
              <p:ext uri="{D42A27DB-BD31-4B8C-83A1-F6EECF244321}">
                <p14:modId xmlns:p14="http://schemas.microsoft.com/office/powerpoint/2010/main" xmlns="" val="2280195312"/>
              </p:ext>
            </p:extLst>
          </p:nvPr>
        </p:nvGraphicFramePr>
        <p:xfrm>
          <a:off x="3131840" y="1556792"/>
          <a:ext cx="4859156" cy="576064"/>
        </p:xfrm>
        <a:graphic>
          <a:graphicData uri="http://schemas.openxmlformats.org/presentationml/2006/ole">
            <p:oleObj spid="_x0000_s1169" name="方程式" r:id="rId4" imgW="2031840" imgH="241200" progId="Equation.3">
              <p:embed/>
            </p:oleObj>
          </a:graphicData>
        </a:graphic>
      </p:graphicFrame>
      <p:graphicFrame>
        <p:nvGraphicFramePr>
          <p:cNvPr id="5" name="物件 4"/>
          <p:cNvGraphicFramePr>
            <a:graphicFrameLocks noChangeAspect="1"/>
          </p:cNvGraphicFramePr>
          <p:nvPr>
            <p:extLst>
              <p:ext uri="{D42A27DB-BD31-4B8C-83A1-F6EECF244321}">
                <p14:modId xmlns:p14="http://schemas.microsoft.com/office/powerpoint/2010/main" xmlns="" val="3341052063"/>
              </p:ext>
            </p:extLst>
          </p:nvPr>
        </p:nvGraphicFramePr>
        <p:xfrm>
          <a:off x="6300192" y="1988840"/>
          <a:ext cx="728662" cy="546100"/>
        </p:xfrm>
        <a:graphic>
          <a:graphicData uri="http://schemas.openxmlformats.org/presentationml/2006/ole">
            <p:oleObj spid="_x0000_s1170" name="方程式" r:id="rId5" imgW="304560" imgH="228600" progId="Equation.3">
              <p:embed/>
            </p:oleObj>
          </a:graphicData>
        </a:graphic>
      </p:graphicFrame>
      <p:graphicFrame>
        <p:nvGraphicFramePr>
          <p:cNvPr id="6" name="物件 5"/>
          <p:cNvGraphicFramePr>
            <a:graphicFrameLocks noChangeAspect="1"/>
          </p:cNvGraphicFramePr>
          <p:nvPr>
            <p:extLst>
              <p:ext uri="{D42A27DB-BD31-4B8C-83A1-F6EECF244321}">
                <p14:modId xmlns:p14="http://schemas.microsoft.com/office/powerpoint/2010/main" xmlns="" val="883727840"/>
              </p:ext>
            </p:extLst>
          </p:nvPr>
        </p:nvGraphicFramePr>
        <p:xfrm>
          <a:off x="7766050" y="1974850"/>
          <a:ext cx="820738" cy="576263"/>
        </p:xfrm>
        <a:graphic>
          <a:graphicData uri="http://schemas.openxmlformats.org/presentationml/2006/ole">
            <p:oleObj spid="_x0000_s1171" name="方程式" r:id="rId6" imgW="342720" imgH="241200" progId="Equation.3">
              <p:embed/>
            </p:oleObj>
          </a:graphicData>
        </a:graphic>
      </p:graphicFrame>
      <p:graphicFrame>
        <p:nvGraphicFramePr>
          <p:cNvPr id="7" name="物件 6"/>
          <p:cNvGraphicFramePr>
            <a:graphicFrameLocks noChangeAspect="1"/>
          </p:cNvGraphicFramePr>
          <p:nvPr>
            <p:extLst>
              <p:ext uri="{D42A27DB-BD31-4B8C-83A1-F6EECF244321}">
                <p14:modId xmlns:p14="http://schemas.microsoft.com/office/powerpoint/2010/main" xmlns="" val="626785720"/>
              </p:ext>
            </p:extLst>
          </p:nvPr>
        </p:nvGraphicFramePr>
        <p:xfrm>
          <a:off x="4542482" y="3500809"/>
          <a:ext cx="3917950" cy="576263"/>
        </p:xfrm>
        <a:graphic>
          <a:graphicData uri="http://schemas.openxmlformats.org/presentationml/2006/ole">
            <p:oleObj spid="_x0000_s1172" name="方程式" r:id="rId7" imgW="1638000" imgH="241200" progId="Equation.3">
              <p:embed/>
            </p:oleObj>
          </a:graphicData>
        </a:graphic>
      </p:graphicFrame>
      <p:graphicFrame>
        <p:nvGraphicFramePr>
          <p:cNvPr id="8" name="物件 7"/>
          <p:cNvGraphicFramePr>
            <a:graphicFrameLocks noChangeAspect="1"/>
          </p:cNvGraphicFramePr>
          <p:nvPr>
            <p:extLst>
              <p:ext uri="{D42A27DB-BD31-4B8C-83A1-F6EECF244321}">
                <p14:modId xmlns:p14="http://schemas.microsoft.com/office/powerpoint/2010/main" xmlns="" val="2366916607"/>
              </p:ext>
            </p:extLst>
          </p:nvPr>
        </p:nvGraphicFramePr>
        <p:xfrm>
          <a:off x="1859235" y="4005064"/>
          <a:ext cx="5953125" cy="576262"/>
        </p:xfrm>
        <a:graphic>
          <a:graphicData uri="http://schemas.openxmlformats.org/presentationml/2006/ole">
            <p:oleObj spid="_x0000_s1173" name="方程式" r:id="rId8" imgW="2489040" imgH="241200" progId="Equation.3">
              <p:embed/>
            </p:oleObj>
          </a:graphicData>
        </a:graphic>
      </p:graphicFrame>
      <p:sp>
        <p:nvSpPr>
          <p:cNvPr id="9" name="投影片編號版面配置區 8"/>
          <p:cNvSpPr>
            <a:spLocks noGrp="1"/>
          </p:cNvSpPr>
          <p:nvPr>
            <p:ph type="sldNum" sz="quarter" idx="12"/>
          </p:nvPr>
        </p:nvSpPr>
        <p:spPr/>
        <p:txBody>
          <a:bodyPr/>
          <a:lstStyle/>
          <a:p>
            <a:fld id="{330A07AD-B17D-49DB-BE0E-80C763BA8716}" type="slidenum">
              <a:rPr lang="zh-TW" altLang="en-US" smtClean="0"/>
              <a:pPr/>
              <a:t>11</a:t>
            </a:fld>
            <a:endParaRPr lang="zh-TW" altLang="en-US"/>
          </a:p>
        </p:txBody>
      </p:sp>
    </p:spTree>
    <p:extLst>
      <p:ext uri="{BB962C8B-B14F-4D97-AF65-F5344CB8AC3E}">
        <p14:creationId xmlns:p14="http://schemas.microsoft.com/office/powerpoint/2010/main" xmlns="" val="2664322049"/>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PreviousMatch</a:t>
            </a:r>
            <a:r>
              <a:rPr lang="en-US" altLang="zh-TW" dirty="0" smtClean="0"/>
              <a:t> Table</a:t>
            </a:r>
            <a:endParaRPr lang="zh-TW" altLang="en-US" dirty="0"/>
          </a:p>
        </p:txBody>
      </p:sp>
      <p:sp>
        <p:nvSpPr>
          <p:cNvPr id="3" name="內容版面配置區 2"/>
          <p:cNvSpPr>
            <a:spLocks noGrp="1"/>
          </p:cNvSpPr>
          <p:nvPr>
            <p:ph idx="1"/>
          </p:nvPr>
        </p:nvSpPr>
        <p:spPr/>
        <p:txBody>
          <a:bodyPr/>
          <a:lstStyle/>
          <a:p>
            <a:r>
              <a:rPr lang="en-US" altLang="zh-TW" dirty="0" smtClean="0"/>
              <a:t>Modification of the </a:t>
            </a:r>
            <a:r>
              <a:rPr lang="en-US" altLang="zh-TW" dirty="0" err="1" smtClean="0"/>
              <a:t>NextMatch</a:t>
            </a:r>
            <a:r>
              <a:rPr lang="en-US" altLang="zh-TW" dirty="0" smtClean="0"/>
              <a:t> table proposed by </a:t>
            </a:r>
            <a:r>
              <a:rPr lang="en-US" altLang="zh-TW" dirty="0"/>
              <a:t>Landau et al</a:t>
            </a:r>
            <a:r>
              <a:rPr lang="en-US" altLang="zh-TW" dirty="0" smtClean="0"/>
              <a:t>. at 2007.</a:t>
            </a:r>
          </a:p>
          <a:p>
            <a:r>
              <a:rPr lang="en-US" altLang="zh-TW" dirty="0"/>
              <a:t>R</a:t>
            </a:r>
            <a:r>
              <a:rPr lang="en-US" altLang="zh-TW" dirty="0" smtClean="0"/>
              <a:t>ecords </a:t>
            </a:r>
            <a:r>
              <a:rPr lang="en-US" altLang="zh-TW" dirty="0"/>
              <a:t>the </a:t>
            </a:r>
            <a:r>
              <a:rPr lang="en-US" altLang="zh-TW" dirty="0" smtClean="0"/>
              <a:t>previous occurrence </a:t>
            </a:r>
            <a:r>
              <a:rPr lang="en-US" altLang="zh-TW" dirty="0"/>
              <a:t>position of each symbol in every </a:t>
            </a:r>
            <a:r>
              <a:rPr lang="en-US" altLang="zh-TW" dirty="0" smtClean="0"/>
              <a:t>position.</a:t>
            </a:r>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12</a:t>
            </a:fld>
            <a:endParaRPr lang="zh-TW" altLang="en-US"/>
          </a:p>
        </p:txBody>
      </p:sp>
    </p:spTree>
    <p:extLst>
      <p:ext uri="{BB962C8B-B14F-4D97-AF65-F5344CB8AC3E}">
        <p14:creationId xmlns:p14="http://schemas.microsoft.com/office/powerpoint/2010/main" xmlns="" val="2228090623"/>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PreviousMatch</a:t>
            </a:r>
            <a:r>
              <a:rPr lang="en-US" altLang="zh-TW" dirty="0"/>
              <a:t> Table</a:t>
            </a:r>
            <a:endParaRPr lang="zh-TW" altLang="en-US" dirty="0"/>
          </a:p>
        </p:txBody>
      </p:sp>
      <p:sp>
        <p:nvSpPr>
          <p:cNvPr id="3" name="內容版面配置區 2"/>
          <p:cNvSpPr>
            <a:spLocks noGrp="1"/>
          </p:cNvSpPr>
          <p:nvPr>
            <p:ph idx="1"/>
          </p:nvPr>
        </p:nvSpPr>
        <p:spPr>
          <a:xfrm>
            <a:off x="1435608" y="1447800"/>
            <a:ext cx="7498080" cy="973088"/>
          </a:xfrm>
        </p:spPr>
        <p:txBody>
          <a:bodyPr/>
          <a:lstStyle/>
          <a:p>
            <a:r>
              <a:rPr lang="en-US" altLang="zh-TW" i="1" dirty="0"/>
              <a:t>A</a:t>
            </a:r>
            <a:r>
              <a:rPr lang="en-US" altLang="zh-TW" dirty="0"/>
              <a:t> = </a:t>
            </a:r>
            <a:r>
              <a:rPr lang="en-US" altLang="zh-TW" dirty="0" err="1"/>
              <a:t>atcatatgag</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xmlns="" val="2070048151"/>
              </p:ext>
            </p:extLst>
          </p:nvPr>
        </p:nvGraphicFramePr>
        <p:xfrm>
          <a:off x="1763688" y="2132856"/>
          <a:ext cx="7056786" cy="4032450"/>
        </p:xfrm>
        <a:graphic>
          <a:graphicData uri="http://schemas.openxmlformats.org/drawingml/2006/table">
            <a:tbl>
              <a:tblPr firstRow="1" bandRow="1">
                <a:tableStyleId>{5940675A-B579-460E-94D1-54222C63F5DA}</a:tableStyleId>
              </a:tblPr>
              <a:tblGrid>
                <a:gridCol w="641526"/>
                <a:gridCol w="641526"/>
                <a:gridCol w="641526"/>
                <a:gridCol w="641526"/>
                <a:gridCol w="641526"/>
                <a:gridCol w="641526"/>
                <a:gridCol w="641526"/>
                <a:gridCol w="641526"/>
                <a:gridCol w="641526"/>
                <a:gridCol w="641526"/>
                <a:gridCol w="641526"/>
              </a:tblGrid>
              <a:tr h="672075">
                <a:tc>
                  <a:txBody>
                    <a:bodyPr/>
                    <a:lstStyle/>
                    <a:p>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solidFill>
                            <a:srgbClr val="00B0F0"/>
                          </a:solidFill>
                        </a:rPr>
                        <a:t>2</a:t>
                      </a:r>
                      <a:endParaRPr lang="zh-TW" altLang="en-US" sz="2800" dirty="0">
                        <a:solidFill>
                          <a:srgbClr val="00B0F0"/>
                        </a:solidFill>
                      </a:endParaRPr>
                    </a:p>
                  </a:txBody>
                  <a:tcPr/>
                </a:tc>
                <a:tc>
                  <a:txBody>
                    <a:bodyPr/>
                    <a:lstStyle/>
                    <a:p>
                      <a:r>
                        <a:rPr lang="en-US" altLang="zh-TW" sz="2800" dirty="0" smtClean="0">
                          <a:solidFill>
                            <a:srgbClr val="FF0000"/>
                          </a:solidFill>
                        </a:rPr>
                        <a:t>3</a:t>
                      </a:r>
                      <a:endParaRPr lang="zh-TW" altLang="en-US" sz="2800" dirty="0">
                        <a:solidFill>
                          <a:srgbClr val="FF0000"/>
                        </a:solidFill>
                      </a:endParaRPr>
                    </a:p>
                  </a:txBody>
                  <a:tcPr/>
                </a:tc>
                <a:tc>
                  <a:txBody>
                    <a:bodyPr/>
                    <a:lstStyle/>
                    <a:p>
                      <a:r>
                        <a:rPr lang="en-US" altLang="zh-TW" sz="2800" dirty="0" smtClean="0"/>
                        <a:t>4</a:t>
                      </a:r>
                      <a:endParaRPr lang="zh-TW" altLang="en-US" sz="2800" dirty="0"/>
                    </a:p>
                  </a:txBody>
                  <a:tcPr/>
                </a:tc>
                <a:tc>
                  <a:txBody>
                    <a:bodyPr/>
                    <a:lstStyle/>
                    <a:p>
                      <a:r>
                        <a:rPr lang="en-US" altLang="zh-TW" sz="2800" dirty="0" smtClean="0"/>
                        <a:t>5</a:t>
                      </a:r>
                      <a:endParaRPr lang="zh-TW" altLang="en-US" sz="2800" dirty="0"/>
                    </a:p>
                  </a:txBody>
                  <a:tcPr/>
                </a:tc>
                <a:tc>
                  <a:txBody>
                    <a:bodyPr/>
                    <a:lstStyle/>
                    <a:p>
                      <a:r>
                        <a:rPr lang="en-US" altLang="zh-TW" sz="2800" dirty="0" smtClean="0"/>
                        <a:t>6</a:t>
                      </a:r>
                      <a:endParaRPr lang="zh-TW" altLang="en-US" sz="2800" dirty="0"/>
                    </a:p>
                  </a:txBody>
                  <a:tcPr/>
                </a:tc>
                <a:tc>
                  <a:txBody>
                    <a:bodyPr/>
                    <a:lstStyle/>
                    <a:p>
                      <a:r>
                        <a:rPr lang="en-US" altLang="zh-TW" sz="2800" dirty="0" smtClean="0"/>
                        <a:t>7</a:t>
                      </a:r>
                      <a:endParaRPr lang="zh-TW" altLang="en-US" sz="2800" dirty="0"/>
                    </a:p>
                  </a:txBody>
                  <a:tcPr/>
                </a:tc>
                <a:tc>
                  <a:txBody>
                    <a:bodyPr/>
                    <a:lstStyle/>
                    <a:p>
                      <a:r>
                        <a:rPr lang="en-US" altLang="zh-TW" sz="2800" dirty="0" smtClean="0"/>
                        <a:t>8</a:t>
                      </a:r>
                      <a:endParaRPr lang="zh-TW" altLang="en-US" sz="2800" dirty="0"/>
                    </a:p>
                  </a:txBody>
                  <a:tcPr/>
                </a:tc>
                <a:tc>
                  <a:txBody>
                    <a:bodyPr/>
                    <a:lstStyle/>
                    <a:p>
                      <a:r>
                        <a:rPr lang="en-US" altLang="zh-TW" sz="2800" dirty="0" smtClean="0"/>
                        <a:t>9</a:t>
                      </a:r>
                      <a:endParaRPr lang="zh-TW" altLang="en-US" sz="2800" dirty="0"/>
                    </a:p>
                  </a:txBody>
                  <a:tcPr/>
                </a:tc>
                <a:tc>
                  <a:txBody>
                    <a:bodyPr/>
                    <a:lstStyle/>
                    <a:p>
                      <a:r>
                        <a:rPr lang="en-US" altLang="zh-TW" sz="2800" dirty="0" smtClean="0"/>
                        <a:t>10</a:t>
                      </a:r>
                      <a:endParaRPr lang="zh-TW" altLang="en-US" sz="2800" dirty="0"/>
                    </a:p>
                  </a:txBody>
                  <a:tcPr/>
                </a:tc>
              </a:tr>
              <a:tr h="672075">
                <a:tc>
                  <a:txBody>
                    <a:bodyPr/>
                    <a:lstStyle/>
                    <a:p>
                      <a:endParaRPr lang="zh-TW" altLang="en-US" sz="2800" dirty="0"/>
                    </a:p>
                  </a:txBody>
                  <a:tcPr/>
                </a:tc>
                <a:tc>
                  <a:txBody>
                    <a:bodyPr/>
                    <a:lstStyle/>
                    <a:p>
                      <a:r>
                        <a:rPr lang="en-US" altLang="zh-TW" sz="2800" dirty="0" smtClean="0"/>
                        <a:t>a</a:t>
                      </a:r>
                      <a:endParaRPr lang="zh-TW" altLang="en-US" sz="2800" dirty="0"/>
                    </a:p>
                  </a:txBody>
                  <a:tcPr/>
                </a:tc>
                <a:tc>
                  <a:txBody>
                    <a:bodyPr/>
                    <a:lstStyle/>
                    <a:p>
                      <a:r>
                        <a:rPr lang="en-US" altLang="zh-TW" sz="2800" dirty="0" smtClean="0">
                          <a:solidFill>
                            <a:srgbClr val="00B0F0"/>
                          </a:solidFill>
                        </a:rPr>
                        <a:t>t</a:t>
                      </a:r>
                      <a:endParaRPr lang="zh-TW" altLang="en-US" sz="2800" dirty="0">
                        <a:solidFill>
                          <a:srgbClr val="00B0F0"/>
                        </a:solidFill>
                      </a:endParaRPr>
                    </a:p>
                  </a:txBody>
                  <a:tcPr/>
                </a:tc>
                <a:tc>
                  <a:txBody>
                    <a:bodyPr/>
                    <a:lstStyle/>
                    <a:p>
                      <a:r>
                        <a:rPr lang="en-US" altLang="zh-TW" sz="2800" dirty="0" smtClean="0">
                          <a:solidFill>
                            <a:srgbClr val="FF0000"/>
                          </a:solidFill>
                        </a:rPr>
                        <a:t>c</a:t>
                      </a:r>
                      <a:endParaRPr lang="zh-TW" altLang="en-US" sz="2800" dirty="0">
                        <a:solidFill>
                          <a:srgbClr val="FF0000"/>
                        </a:solidFill>
                      </a:endParaRPr>
                    </a:p>
                  </a:txBody>
                  <a:tcPr/>
                </a:tc>
                <a:tc>
                  <a:txBody>
                    <a:bodyPr/>
                    <a:lstStyle/>
                    <a:p>
                      <a:r>
                        <a:rPr lang="en-US" altLang="zh-TW" sz="2800" dirty="0" smtClean="0"/>
                        <a:t>a</a:t>
                      </a:r>
                      <a:endParaRPr lang="zh-TW" altLang="en-US" sz="2800" dirty="0"/>
                    </a:p>
                  </a:txBody>
                  <a:tcPr/>
                </a:tc>
                <a:tc>
                  <a:txBody>
                    <a:bodyPr/>
                    <a:lstStyle/>
                    <a:p>
                      <a:r>
                        <a:rPr lang="en-US" altLang="zh-TW" sz="2800" dirty="0" smtClean="0"/>
                        <a:t>t</a:t>
                      </a:r>
                      <a:endParaRPr lang="zh-TW" altLang="en-US" sz="2800" dirty="0"/>
                    </a:p>
                  </a:txBody>
                  <a:tcPr/>
                </a:tc>
                <a:tc>
                  <a:txBody>
                    <a:bodyPr/>
                    <a:lstStyle/>
                    <a:p>
                      <a:r>
                        <a:rPr lang="en-US" altLang="zh-TW" sz="2800" dirty="0" smtClean="0"/>
                        <a:t>a</a:t>
                      </a:r>
                      <a:endParaRPr lang="zh-TW" altLang="en-US" sz="2800" dirty="0"/>
                    </a:p>
                  </a:txBody>
                  <a:tcPr/>
                </a:tc>
                <a:tc>
                  <a:txBody>
                    <a:bodyPr/>
                    <a:lstStyle/>
                    <a:p>
                      <a:r>
                        <a:rPr lang="en-US" altLang="zh-TW" sz="2800" dirty="0" smtClean="0"/>
                        <a:t>t</a:t>
                      </a:r>
                      <a:endParaRPr lang="zh-TW" altLang="en-US" sz="2800" dirty="0"/>
                    </a:p>
                  </a:txBody>
                  <a:tcPr/>
                </a:tc>
                <a:tc>
                  <a:txBody>
                    <a:bodyPr/>
                    <a:lstStyle/>
                    <a:p>
                      <a:r>
                        <a:rPr lang="en-US" altLang="zh-TW" sz="2800" dirty="0" smtClean="0"/>
                        <a:t>g</a:t>
                      </a:r>
                      <a:endParaRPr lang="zh-TW" altLang="en-US" sz="2800" dirty="0"/>
                    </a:p>
                  </a:txBody>
                  <a:tcPr/>
                </a:tc>
                <a:tc>
                  <a:txBody>
                    <a:bodyPr/>
                    <a:lstStyle/>
                    <a:p>
                      <a:r>
                        <a:rPr lang="en-US" altLang="zh-TW" sz="2800" dirty="0" smtClean="0"/>
                        <a:t>a</a:t>
                      </a:r>
                      <a:endParaRPr lang="zh-TW" altLang="en-US" sz="2800" dirty="0"/>
                    </a:p>
                  </a:txBody>
                  <a:tcPr/>
                </a:tc>
                <a:tc>
                  <a:txBody>
                    <a:bodyPr/>
                    <a:lstStyle/>
                    <a:p>
                      <a:r>
                        <a:rPr lang="en-US" altLang="zh-TW" sz="2800" dirty="0" smtClean="0"/>
                        <a:t>g</a:t>
                      </a:r>
                      <a:endParaRPr lang="zh-TW" altLang="en-US" sz="2800" dirty="0"/>
                    </a:p>
                  </a:txBody>
                  <a:tcPr/>
                </a:tc>
              </a:tr>
              <a:tr h="672075">
                <a:tc>
                  <a:txBody>
                    <a:bodyPr/>
                    <a:lstStyle/>
                    <a:p>
                      <a:r>
                        <a:rPr lang="en-US" altLang="zh-TW" sz="2800" dirty="0" smtClean="0"/>
                        <a:t>a</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4</a:t>
                      </a:r>
                      <a:endParaRPr lang="zh-TW" altLang="en-US" sz="2800" dirty="0"/>
                    </a:p>
                  </a:txBody>
                  <a:tcPr/>
                </a:tc>
                <a:tc>
                  <a:txBody>
                    <a:bodyPr/>
                    <a:lstStyle/>
                    <a:p>
                      <a:r>
                        <a:rPr lang="en-US" altLang="zh-TW" sz="2800" dirty="0" smtClean="0"/>
                        <a:t>4</a:t>
                      </a:r>
                      <a:endParaRPr lang="zh-TW" altLang="en-US" sz="2800" dirty="0"/>
                    </a:p>
                  </a:txBody>
                  <a:tcPr/>
                </a:tc>
                <a:tc>
                  <a:txBody>
                    <a:bodyPr/>
                    <a:lstStyle/>
                    <a:p>
                      <a:r>
                        <a:rPr lang="en-US" altLang="zh-TW" sz="2800" dirty="0" smtClean="0"/>
                        <a:t>6</a:t>
                      </a:r>
                      <a:endParaRPr lang="zh-TW" altLang="en-US" sz="2800" dirty="0"/>
                    </a:p>
                  </a:txBody>
                  <a:tcPr/>
                </a:tc>
                <a:tc>
                  <a:txBody>
                    <a:bodyPr/>
                    <a:lstStyle/>
                    <a:p>
                      <a:r>
                        <a:rPr lang="en-US" altLang="zh-TW" sz="2800" dirty="0" smtClean="0"/>
                        <a:t>6</a:t>
                      </a:r>
                      <a:endParaRPr lang="zh-TW" altLang="en-US" sz="2800" dirty="0"/>
                    </a:p>
                  </a:txBody>
                  <a:tcPr/>
                </a:tc>
                <a:tc>
                  <a:txBody>
                    <a:bodyPr/>
                    <a:lstStyle/>
                    <a:p>
                      <a:r>
                        <a:rPr lang="en-US" altLang="zh-TW" sz="2800" dirty="0" smtClean="0"/>
                        <a:t>6</a:t>
                      </a:r>
                      <a:endParaRPr lang="zh-TW" altLang="en-US" sz="2800" dirty="0"/>
                    </a:p>
                  </a:txBody>
                  <a:tcPr/>
                </a:tc>
                <a:tc>
                  <a:txBody>
                    <a:bodyPr/>
                    <a:lstStyle/>
                    <a:p>
                      <a:r>
                        <a:rPr lang="en-US" altLang="zh-TW" sz="2800" dirty="0" smtClean="0"/>
                        <a:t>9</a:t>
                      </a:r>
                      <a:endParaRPr lang="zh-TW" altLang="en-US" sz="2800" dirty="0"/>
                    </a:p>
                  </a:txBody>
                  <a:tcPr/>
                </a:tc>
              </a:tr>
              <a:tr h="672075">
                <a:tc>
                  <a:txBody>
                    <a:bodyPr/>
                    <a:lstStyle/>
                    <a:p>
                      <a:r>
                        <a:rPr lang="en-US" altLang="zh-TW" sz="2800" dirty="0" smtClean="0"/>
                        <a:t>c</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solidFill>
                            <a:schemeClr val="tx1"/>
                          </a:solidFill>
                        </a:rPr>
                        <a:t>3</a:t>
                      </a:r>
                      <a:endParaRPr lang="zh-TW" altLang="en-US" sz="2800" dirty="0">
                        <a:solidFill>
                          <a:schemeClr val="tx1"/>
                        </a:solidFill>
                      </a:endParaRPr>
                    </a:p>
                  </a:txBody>
                  <a:tcPr/>
                </a:tc>
                <a:tc>
                  <a:txBody>
                    <a:bodyPr/>
                    <a:lstStyle/>
                    <a:p>
                      <a:r>
                        <a:rPr lang="en-US" altLang="zh-TW" sz="2800" dirty="0" smtClean="0"/>
                        <a:t>3</a:t>
                      </a:r>
                      <a:endParaRPr lang="zh-TW" altLang="en-US" sz="2800" dirty="0"/>
                    </a:p>
                  </a:txBody>
                  <a:tcPr/>
                </a:tc>
                <a:tc>
                  <a:txBody>
                    <a:bodyPr/>
                    <a:lstStyle/>
                    <a:p>
                      <a:r>
                        <a:rPr lang="en-US" altLang="zh-TW" sz="2800" dirty="0" smtClean="0"/>
                        <a:t>3</a:t>
                      </a:r>
                      <a:endParaRPr lang="zh-TW" altLang="en-US" sz="2800" dirty="0"/>
                    </a:p>
                  </a:txBody>
                  <a:tcPr/>
                </a:tc>
                <a:tc>
                  <a:txBody>
                    <a:bodyPr/>
                    <a:lstStyle/>
                    <a:p>
                      <a:r>
                        <a:rPr lang="en-US" altLang="zh-TW" sz="2800" dirty="0" smtClean="0">
                          <a:solidFill>
                            <a:srgbClr val="FF0000"/>
                          </a:solidFill>
                        </a:rPr>
                        <a:t>3</a:t>
                      </a:r>
                      <a:endParaRPr lang="zh-TW" altLang="en-US" sz="2800" dirty="0">
                        <a:solidFill>
                          <a:srgbClr val="FF0000"/>
                        </a:solidFill>
                      </a:endParaRPr>
                    </a:p>
                  </a:txBody>
                  <a:tcPr/>
                </a:tc>
                <a:tc>
                  <a:txBody>
                    <a:bodyPr/>
                    <a:lstStyle/>
                    <a:p>
                      <a:r>
                        <a:rPr lang="en-US" altLang="zh-TW" sz="2800" dirty="0" smtClean="0"/>
                        <a:t>3</a:t>
                      </a:r>
                      <a:endParaRPr lang="zh-TW" altLang="en-US" sz="2800" dirty="0"/>
                    </a:p>
                  </a:txBody>
                  <a:tcPr/>
                </a:tc>
                <a:tc>
                  <a:txBody>
                    <a:bodyPr/>
                    <a:lstStyle/>
                    <a:p>
                      <a:r>
                        <a:rPr lang="en-US" altLang="zh-TW" sz="2800" dirty="0" smtClean="0"/>
                        <a:t>3</a:t>
                      </a:r>
                      <a:endParaRPr lang="zh-TW" altLang="en-US" sz="2800" dirty="0"/>
                    </a:p>
                  </a:txBody>
                  <a:tcPr/>
                </a:tc>
                <a:tc>
                  <a:txBody>
                    <a:bodyPr/>
                    <a:lstStyle/>
                    <a:p>
                      <a:r>
                        <a:rPr lang="en-US" altLang="zh-TW" sz="2800" dirty="0" smtClean="0"/>
                        <a:t>3</a:t>
                      </a:r>
                      <a:endParaRPr lang="zh-TW" altLang="en-US" sz="2800" dirty="0"/>
                    </a:p>
                  </a:txBody>
                  <a:tcPr/>
                </a:tc>
              </a:tr>
              <a:tr h="672075">
                <a:tc>
                  <a:txBody>
                    <a:bodyPr/>
                    <a:lstStyle/>
                    <a:p>
                      <a:r>
                        <a:rPr lang="en-US" altLang="zh-TW" sz="2800" dirty="0" smtClean="0"/>
                        <a:t>g</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8</a:t>
                      </a:r>
                      <a:endParaRPr lang="zh-TW" altLang="en-US" sz="2800" dirty="0"/>
                    </a:p>
                  </a:txBody>
                  <a:tcPr/>
                </a:tc>
                <a:tc>
                  <a:txBody>
                    <a:bodyPr/>
                    <a:lstStyle/>
                    <a:p>
                      <a:r>
                        <a:rPr lang="en-US" altLang="zh-TW" sz="2800" dirty="0" smtClean="0"/>
                        <a:t>8</a:t>
                      </a:r>
                      <a:endParaRPr lang="zh-TW" altLang="en-US" sz="2800" dirty="0"/>
                    </a:p>
                  </a:txBody>
                  <a:tcPr/>
                </a:tc>
              </a:tr>
              <a:tr h="672075">
                <a:tc>
                  <a:txBody>
                    <a:bodyPr/>
                    <a:lstStyle/>
                    <a:p>
                      <a:r>
                        <a:rPr lang="en-US" altLang="zh-TW" sz="2800" dirty="0" smtClean="0"/>
                        <a:t>t</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solidFill>
                            <a:srgbClr val="00B0F0"/>
                          </a:solidFill>
                        </a:rPr>
                        <a:t>2</a:t>
                      </a:r>
                      <a:endParaRPr lang="zh-TW" altLang="en-US" sz="2800" dirty="0">
                        <a:solidFill>
                          <a:srgbClr val="00B0F0"/>
                        </a:solidFill>
                      </a:endParaRPr>
                    </a:p>
                  </a:txBody>
                  <a:tcPr/>
                </a:tc>
                <a:tc>
                  <a:txBody>
                    <a:bodyPr/>
                    <a:lstStyle/>
                    <a:p>
                      <a:r>
                        <a:rPr lang="en-US" altLang="zh-TW" sz="2800" dirty="0" smtClean="0"/>
                        <a:t>5</a:t>
                      </a:r>
                      <a:endParaRPr lang="zh-TW" altLang="en-US" sz="2800" dirty="0"/>
                    </a:p>
                  </a:txBody>
                  <a:tcPr/>
                </a:tc>
                <a:tc>
                  <a:txBody>
                    <a:bodyPr/>
                    <a:lstStyle/>
                    <a:p>
                      <a:r>
                        <a:rPr lang="en-US" altLang="zh-TW" sz="2800" dirty="0" smtClean="0"/>
                        <a:t>5</a:t>
                      </a:r>
                      <a:endParaRPr lang="zh-TW" altLang="en-US" sz="2800" dirty="0"/>
                    </a:p>
                  </a:txBody>
                  <a:tcPr/>
                </a:tc>
                <a:tc>
                  <a:txBody>
                    <a:bodyPr/>
                    <a:lstStyle/>
                    <a:p>
                      <a:r>
                        <a:rPr lang="en-US" altLang="zh-TW" sz="2800" dirty="0" smtClean="0"/>
                        <a:t>7</a:t>
                      </a:r>
                      <a:endParaRPr lang="zh-TW" altLang="en-US" sz="2800" dirty="0"/>
                    </a:p>
                  </a:txBody>
                  <a:tcPr/>
                </a:tc>
                <a:tc>
                  <a:txBody>
                    <a:bodyPr/>
                    <a:lstStyle/>
                    <a:p>
                      <a:r>
                        <a:rPr lang="en-US" altLang="zh-TW" sz="2800" dirty="0" smtClean="0"/>
                        <a:t>7</a:t>
                      </a:r>
                      <a:endParaRPr lang="zh-TW" altLang="en-US" sz="2800" dirty="0"/>
                    </a:p>
                  </a:txBody>
                  <a:tcPr/>
                </a:tc>
                <a:tc>
                  <a:txBody>
                    <a:bodyPr/>
                    <a:lstStyle/>
                    <a:p>
                      <a:r>
                        <a:rPr lang="en-US" altLang="zh-TW" sz="2800" dirty="0" smtClean="0"/>
                        <a:t>7</a:t>
                      </a:r>
                      <a:endParaRPr lang="zh-TW" altLang="en-US" sz="2800" dirty="0"/>
                    </a:p>
                  </a:txBody>
                  <a:tcPr/>
                </a:tc>
              </a:tr>
            </a:tbl>
          </a:graphicData>
        </a:graphic>
      </p:graphicFrame>
      <p:sp>
        <p:nvSpPr>
          <p:cNvPr id="5" name="投影片編號版面配置區 4"/>
          <p:cNvSpPr>
            <a:spLocks noGrp="1"/>
          </p:cNvSpPr>
          <p:nvPr>
            <p:ph type="sldNum" sz="quarter" idx="12"/>
          </p:nvPr>
        </p:nvSpPr>
        <p:spPr/>
        <p:txBody>
          <a:bodyPr/>
          <a:lstStyle/>
          <a:p>
            <a:fld id="{330A07AD-B17D-49DB-BE0E-80C763BA8716}" type="slidenum">
              <a:rPr lang="zh-TW" altLang="en-US" smtClean="0"/>
              <a:pPr/>
              <a:t>13</a:t>
            </a:fld>
            <a:endParaRPr lang="zh-TW" altLang="en-US"/>
          </a:p>
        </p:txBody>
      </p:sp>
      <p:sp>
        <p:nvSpPr>
          <p:cNvPr id="6" name="矩形 5"/>
          <p:cNvSpPr/>
          <p:nvPr/>
        </p:nvSpPr>
        <p:spPr>
          <a:xfrm>
            <a:off x="2555776" y="6267922"/>
            <a:ext cx="3512500" cy="523220"/>
          </a:xfrm>
          <a:prstGeom prst="rect">
            <a:avLst/>
          </a:prstGeom>
        </p:spPr>
        <p:txBody>
          <a:bodyPr wrap="none">
            <a:spAutoFit/>
          </a:bodyPr>
          <a:lstStyle/>
          <a:p>
            <a:r>
              <a:rPr lang="en-US" altLang="zh-TW" sz="2800" i="1" dirty="0"/>
              <a:t>O</a:t>
            </a:r>
            <a:r>
              <a:rPr lang="en-US" altLang="zh-TW" sz="2800" dirty="0"/>
              <a:t>(|</a:t>
            </a:r>
            <a:r>
              <a:rPr lang="en-US" altLang="zh-TW" sz="2800" i="1" dirty="0"/>
              <a:t>S</a:t>
            </a:r>
            <a:r>
              <a:rPr lang="en-US" altLang="zh-TW" sz="2800" dirty="0"/>
              <a:t>||</a:t>
            </a:r>
            <a:r>
              <a:rPr lang="el-GR" altLang="zh-TW" sz="2800" i="1" dirty="0"/>
              <a:t>Σ</a:t>
            </a:r>
            <a:r>
              <a:rPr lang="en-US" altLang="zh-TW" sz="2800" dirty="0"/>
              <a:t>|) time and </a:t>
            </a:r>
            <a:r>
              <a:rPr lang="en-US" altLang="zh-TW" sz="2800" dirty="0" smtClean="0"/>
              <a:t>space</a:t>
            </a:r>
            <a:endParaRPr lang="zh-TW" altLang="en-US" sz="2800" dirty="0"/>
          </a:p>
        </p:txBody>
      </p:sp>
    </p:spTree>
    <p:extLst>
      <p:ext uri="{BB962C8B-B14F-4D97-AF65-F5344CB8AC3E}">
        <p14:creationId xmlns:p14="http://schemas.microsoft.com/office/powerpoint/2010/main" xmlns="" val="4139839159"/>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sym typeface="Symbol"/>
              </a:rPr>
              <a:t></a:t>
            </a:r>
            <a:r>
              <a:rPr lang="en-US" altLang="zh-TW" dirty="0">
                <a:sym typeface="Symbol"/>
              </a:rPr>
              <a:t> </a:t>
            </a:r>
            <a:r>
              <a:rPr lang="en-US" altLang="zh-TW" dirty="0" smtClean="0">
                <a:sym typeface="Symbol"/>
              </a:rPr>
              <a:t>Table for Non-overlapping Variant</a:t>
            </a:r>
            <a:endParaRPr lang="zh-TW" altLang="en-US" dirty="0"/>
          </a:p>
        </p:txBody>
      </p:sp>
      <p:sp>
        <p:nvSpPr>
          <p:cNvPr id="3" name="內容版面配置區 2"/>
          <p:cNvSpPr>
            <a:spLocks noGrp="1"/>
          </p:cNvSpPr>
          <p:nvPr>
            <p:ph idx="1"/>
          </p:nvPr>
        </p:nvSpPr>
        <p:spPr/>
        <p:txBody>
          <a:bodyPr/>
          <a:lstStyle/>
          <a:p>
            <a:r>
              <a:rPr lang="en-US" altLang="zh-TW" dirty="0"/>
              <a:t>We call the </a:t>
            </a:r>
            <a:r>
              <a:rPr lang="en-US" altLang="zh-TW" dirty="0" smtClean="0"/>
              <a:t>index          in </a:t>
            </a:r>
            <a:r>
              <a:rPr lang="en-US" altLang="zh-TW" dirty="0"/>
              <a:t>Theorem 1 as the </a:t>
            </a:r>
            <a:r>
              <a:rPr lang="en-US" altLang="zh-TW" dirty="0" smtClean="0"/>
              <a:t>corresponding starting </a:t>
            </a:r>
            <a:r>
              <a:rPr lang="en-US" altLang="zh-TW" dirty="0"/>
              <a:t>position to ending </a:t>
            </a:r>
            <a:r>
              <a:rPr lang="en-US" altLang="zh-TW" dirty="0" smtClean="0"/>
              <a:t>position        .</a:t>
            </a:r>
          </a:p>
          <a:p>
            <a:r>
              <a:rPr lang="en-US" altLang="zh-TW" dirty="0" smtClean="0"/>
              <a:t>We record the </a:t>
            </a:r>
            <a:r>
              <a:rPr lang="en-US" altLang="zh-TW" dirty="0"/>
              <a:t>corresponding starting position to </a:t>
            </a:r>
            <a:r>
              <a:rPr lang="en-US" altLang="zh-TW" dirty="0" smtClean="0"/>
              <a:t>all ending </a:t>
            </a:r>
            <a:r>
              <a:rPr lang="en-US" altLang="zh-TW" dirty="0"/>
              <a:t>position </a:t>
            </a:r>
            <a:r>
              <a:rPr lang="en-US" altLang="zh-TW" dirty="0" smtClean="0"/>
              <a:t>in the </a:t>
            </a:r>
            <a:r>
              <a:rPr lang="zh-TW" altLang="en-US" dirty="0" smtClean="0">
                <a:sym typeface="Symbol"/>
              </a:rPr>
              <a:t></a:t>
            </a:r>
            <a:r>
              <a:rPr lang="en-US" altLang="zh-TW" dirty="0">
                <a:sym typeface="Symbol"/>
              </a:rPr>
              <a:t> </a:t>
            </a:r>
            <a:r>
              <a:rPr lang="en-US" altLang="zh-TW" dirty="0" smtClean="0">
                <a:sym typeface="Symbol"/>
              </a:rPr>
              <a:t>Table</a:t>
            </a:r>
            <a:r>
              <a:rPr lang="en-US" altLang="zh-TW" dirty="0" smtClean="0"/>
              <a:t>.</a:t>
            </a:r>
          </a:p>
        </p:txBody>
      </p:sp>
      <p:graphicFrame>
        <p:nvGraphicFramePr>
          <p:cNvPr id="4" name="物件 3"/>
          <p:cNvGraphicFramePr>
            <a:graphicFrameLocks noChangeAspect="1"/>
          </p:cNvGraphicFramePr>
          <p:nvPr>
            <p:extLst>
              <p:ext uri="{D42A27DB-BD31-4B8C-83A1-F6EECF244321}">
                <p14:modId xmlns:p14="http://schemas.microsoft.com/office/powerpoint/2010/main" xmlns="" val="376305895"/>
              </p:ext>
            </p:extLst>
          </p:nvPr>
        </p:nvGraphicFramePr>
        <p:xfrm>
          <a:off x="4716016" y="1556791"/>
          <a:ext cx="936104" cy="554729"/>
        </p:xfrm>
        <a:graphic>
          <a:graphicData uri="http://schemas.openxmlformats.org/presentationml/2006/ole">
            <p:oleObj spid="_x0000_s2098" name="方程式" r:id="rId4" imgW="342720" imgH="203040" progId="Equation.3">
              <p:embed/>
            </p:oleObj>
          </a:graphicData>
        </a:graphic>
      </p:graphicFrame>
      <p:graphicFrame>
        <p:nvGraphicFramePr>
          <p:cNvPr id="5" name="物件 4"/>
          <p:cNvGraphicFramePr>
            <a:graphicFrameLocks noChangeAspect="1"/>
          </p:cNvGraphicFramePr>
          <p:nvPr>
            <p:extLst>
              <p:ext uri="{D42A27DB-BD31-4B8C-83A1-F6EECF244321}">
                <p14:modId xmlns:p14="http://schemas.microsoft.com/office/powerpoint/2010/main" xmlns="" val="2167566215"/>
              </p:ext>
            </p:extLst>
          </p:nvPr>
        </p:nvGraphicFramePr>
        <p:xfrm>
          <a:off x="3201805" y="2492896"/>
          <a:ext cx="794131" cy="576064"/>
        </p:xfrm>
        <a:graphic>
          <a:graphicData uri="http://schemas.openxmlformats.org/presentationml/2006/ole">
            <p:oleObj spid="_x0000_s2099" name="方程式" r:id="rId5" imgW="279360" imgH="203040" progId="Equation.3">
              <p:embed/>
            </p:oleObj>
          </a:graphicData>
        </a:graphic>
      </p:graphicFrame>
      <p:sp>
        <p:nvSpPr>
          <p:cNvPr id="6" name="投影片編號版面配置區 5"/>
          <p:cNvSpPr>
            <a:spLocks noGrp="1"/>
          </p:cNvSpPr>
          <p:nvPr>
            <p:ph type="sldNum" sz="quarter" idx="12"/>
          </p:nvPr>
        </p:nvSpPr>
        <p:spPr/>
        <p:txBody>
          <a:bodyPr/>
          <a:lstStyle/>
          <a:p>
            <a:fld id="{330A07AD-B17D-49DB-BE0E-80C763BA8716}" type="slidenum">
              <a:rPr lang="zh-TW" altLang="en-US" smtClean="0"/>
              <a:pPr/>
              <a:t>14</a:t>
            </a:fld>
            <a:endParaRPr lang="zh-TW" altLang="en-US"/>
          </a:p>
        </p:txBody>
      </p:sp>
    </p:spTree>
    <p:extLst>
      <p:ext uri="{BB962C8B-B14F-4D97-AF65-F5344CB8AC3E}">
        <p14:creationId xmlns:p14="http://schemas.microsoft.com/office/powerpoint/2010/main" xmlns="" val="1727084707"/>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sym typeface="Symbol"/>
              </a:rPr>
              <a:t></a:t>
            </a:r>
            <a:r>
              <a:rPr lang="en-US" altLang="zh-TW" dirty="0">
                <a:sym typeface="Symbol"/>
              </a:rPr>
              <a:t> Table for Non-overlapping Variant</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xmlns="" val="2270371023"/>
              </p:ext>
            </p:extLst>
          </p:nvPr>
        </p:nvGraphicFramePr>
        <p:xfrm>
          <a:off x="1619670" y="2204864"/>
          <a:ext cx="7056786" cy="3627120"/>
        </p:xfrm>
        <a:graphic>
          <a:graphicData uri="http://schemas.openxmlformats.org/drawingml/2006/table">
            <a:tbl>
              <a:tblPr firstRow="1" bandRow="1">
                <a:tableStyleId>{5940675A-B579-460E-94D1-54222C63F5DA}</a:tableStyleId>
              </a:tblPr>
              <a:tblGrid>
                <a:gridCol w="641526"/>
                <a:gridCol w="641526"/>
                <a:gridCol w="641526"/>
                <a:gridCol w="641526"/>
                <a:gridCol w="641526"/>
                <a:gridCol w="641526"/>
                <a:gridCol w="641526"/>
                <a:gridCol w="641526"/>
                <a:gridCol w="641526"/>
                <a:gridCol w="641526"/>
                <a:gridCol w="641526"/>
              </a:tblGrid>
              <a:tr h="0">
                <a:tc>
                  <a:txBody>
                    <a:bodyPr/>
                    <a:lstStyle/>
                    <a:p>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2</a:t>
                      </a:r>
                      <a:endParaRPr lang="zh-TW" altLang="en-US" sz="2800" dirty="0">
                        <a:solidFill>
                          <a:schemeClr val="tx1"/>
                        </a:solidFill>
                      </a:endParaRPr>
                    </a:p>
                  </a:txBody>
                  <a:tcPr/>
                </a:tc>
                <a:tc>
                  <a:txBody>
                    <a:bodyPr/>
                    <a:lstStyle/>
                    <a:p>
                      <a:r>
                        <a:rPr lang="en-US" altLang="zh-TW" sz="2800" dirty="0" smtClean="0">
                          <a:solidFill>
                            <a:schemeClr val="tx1"/>
                          </a:solidFill>
                        </a:rPr>
                        <a:t>3</a:t>
                      </a:r>
                      <a:endParaRPr lang="zh-TW" altLang="en-US" sz="2800" dirty="0">
                        <a:solidFill>
                          <a:schemeClr val="tx1"/>
                        </a:solidFill>
                      </a:endParaRPr>
                    </a:p>
                  </a:txBody>
                  <a:tcPr/>
                </a:tc>
                <a:tc>
                  <a:txBody>
                    <a:bodyPr/>
                    <a:lstStyle/>
                    <a:p>
                      <a:r>
                        <a:rPr lang="en-US" altLang="zh-TW" sz="2800" dirty="0" smtClean="0">
                          <a:solidFill>
                            <a:schemeClr val="tx1"/>
                          </a:solidFill>
                        </a:rPr>
                        <a:t>4</a:t>
                      </a:r>
                      <a:endParaRPr lang="zh-TW" altLang="en-US" sz="2800" dirty="0">
                        <a:solidFill>
                          <a:schemeClr val="tx1"/>
                        </a:solidFill>
                      </a:endParaRPr>
                    </a:p>
                  </a:txBody>
                  <a:tcPr/>
                </a:tc>
                <a:tc>
                  <a:txBody>
                    <a:bodyPr/>
                    <a:lstStyle/>
                    <a:p>
                      <a:r>
                        <a:rPr lang="en-US" altLang="zh-TW" sz="2800" dirty="0" smtClean="0">
                          <a:solidFill>
                            <a:schemeClr val="tx1"/>
                          </a:solidFill>
                        </a:rPr>
                        <a:t>5</a:t>
                      </a:r>
                      <a:endParaRPr lang="zh-TW" altLang="en-US" sz="2800" dirty="0">
                        <a:solidFill>
                          <a:schemeClr val="tx1"/>
                        </a:solidFill>
                      </a:endParaRPr>
                    </a:p>
                  </a:txBody>
                  <a:tcPr/>
                </a:tc>
                <a:tc>
                  <a:txBody>
                    <a:bodyPr/>
                    <a:lstStyle/>
                    <a:p>
                      <a:r>
                        <a:rPr lang="en-US" altLang="zh-TW" sz="2800" dirty="0" smtClean="0">
                          <a:solidFill>
                            <a:schemeClr val="tx1"/>
                          </a:solidFill>
                        </a:rPr>
                        <a:t>6</a:t>
                      </a:r>
                      <a:endParaRPr lang="zh-TW" altLang="en-US" sz="2800" dirty="0">
                        <a:solidFill>
                          <a:schemeClr val="tx1"/>
                        </a:solidFill>
                      </a:endParaRPr>
                    </a:p>
                  </a:txBody>
                  <a:tcPr/>
                </a:tc>
                <a:tc>
                  <a:txBody>
                    <a:bodyPr/>
                    <a:lstStyle/>
                    <a:p>
                      <a:r>
                        <a:rPr lang="en-US" altLang="zh-TW" sz="2800" dirty="0" smtClean="0">
                          <a:solidFill>
                            <a:schemeClr val="tx1"/>
                          </a:solidFill>
                        </a:rPr>
                        <a:t>7</a:t>
                      </a:r>
                      <a:endParaRPr lang="zh-TW" altLang="en-US" sz="2800" dirty="0">
                        <a:solidFill>
                          <a:schemeClr val="tx1"/>
                        </a:solidFill>
                      </a:endParaRPr>
                    </a:p>
                  </a:txBody>
                  <a:tcPr/>
                </a:tc>
                <a:tc>
                  <a:txBody>
                    <a:bodyPr/>
                    <a:lstStyle/>
                    <a:p>
                      <a:r>
                        <a:rPr lang="en-US" altLang="zh-TW" sz="2800" dirty="0" smtClean="0">
                          <a:solidFill>
                            <a:schemeClr val="tx1"/>
                          </a:solidFill>
                        </a:rPr>
                        <a:t>8</a:t>
                      </a:r>
                      <a:endParaRPr lang="zh-TW" altLang="en-US" sz="2800" dirty="0">
                        <a:solidFill>
                          <a:schemeClr val="tx1"/>
                        </a:solidFill>
                      </a:endParaRPr>
                    </a:p>
                  </a:txBody>
                  <a:tcPr/>
                </a:tc>
                <a:tc>
                  <a:txBody>
                    <a:bodyPr/>
                    <a:lstStyle/>
                    <a:p>
                      <a:r>
                        <a:rPr lang="en-US" altLang="zh-TW" sz="2800" dirty="0" smtClean="0">
                          <a:solidFill>
                            <a:schemeClr val="tx1"/>
                          </a:solidFill>
                        </a:rPr>
                        <a:t>9</a:t>
                      </a:r>
                      <a:endParaRPr lang="zh-TW" altLang="en-US" sz="2800" dirty="0">
                        <a:solidFill>
                          <a:schemeClr val="tx1"/>
                        </a:solidFill>
                      </a:endParaRPr>
                    </a:p>
                  </a:txBody>
                  <a:tcPr/>
                </a:tc>
                <a:tc>
                  <a:txBody>
                    <a:bodyPr/>
                    <a:lstStyle/>
                    <a:p>
                      <a:r>
                        <a:rPr lang="en-US" altLang="zh-TW" sz="2800" dirty="0" smtClean="0">
                          <a:solidFill>
                            <a:schemeClr val="tx1"/>
                          </a:solidFill>
                        </a:rPr>
                        <a:t>10</a:t>
                      </a:r>
                      <a:endParaRPr lang="zh-TW" altLang="en-US" sz="2800" dirty="0">
                        <a:solidFill>
                          <a:schemeClr val="tx1"/>
                        </a:solidFill>
                      </a:endParaRPr>
                    </a:p>
                  </a:txBody>
                  <a:tcPr/>
                </a:tc>
              </a:tr>
              <a:tr h="0">
                <a:tc>
                  <a:txBody>
                    <a:bodyPr/>
                    <a:lstStyle/>
                    <a:p>
                      <a:endParaRPr lang="zh-TW" altLang="en-US" sz="2800" dirty="0">
                        <a:solidFill>
                          <a:schemeClr val="tx1"/>
                        </a:solidFill>
                      </a:endParaRPr>
                    </a:p>
                  </a:txBody>
                  <a:tcPr/>
                </a:tc>
                <a:tc>
                  <a:txBody>
                    <a:bodyPr/>
                    <a:lstStyle/>
                    <a:p>
                      <a:r>
                        <a:rPr lang="en-US" altLang="zh-TW" sz="2800" dirty="0" smtClean="0">
                          <a:solidFill>
                            <a:schemeClr val="tx1"/>
                          </a:solidFill>
                        </a:rPr>
                        <a:t>a</a:t>
                      </a:r>
                      <a:endParaRPr lang="zh-TW" altLang="en-US" sz="2800" dirty="0">
                        <a:solidFill>
                          <a:schemeClr val="tx1"/>
                        </a:solidFill>
                      </a:endParaRPr>
                    </a:p>
                  </a:txBody>
                  <a:tcPr/>
                </a:tc>
                <a:tc>
                  <a:txBody>
                    <a:bodyPr/>
                    <a:lstStyle/>
                    <a:p>
                      <a:r>
                        <a:rPr lang="en-US" altLang="zh-TW" sz="2800" dirty="0" smtClean="0">
                          <a:solidFill>
                            <a:schemeClr val="tx1"/>
                          </a:solidFill>
                        </a:rPr>
                        <a:t>t</a:t>
                      </a:r>
                      <a:endParaRPr lang="zh-TW" altLang="en-US" sz="2800" dirty="0">
                        <a:solidFill>
                          <a:schemeClr val="tx1"/>
                        </a:solidFill>
                      </a:endParaRPr>
                    </a:p>
                  </a:txBody>
                  <a:tcPr/>
                </a:tc>
                <a:tc>
                  <a:txBody>
                    <a:bodyPr/>
                    <a:lstStyle/>
                    <a:p>
                      <a:r>
                        <a:rPr lang="en-US" altLang="zh-TW" sz="2800" dirty="0" smtClean="0">
                          <a:solidFill>
                            <a:schemeClr val="tx1"/>
                          </a:solidFill>
                        </a:rPr>
                        <a:t>c</a:t>
                      </a:r>
                      <a:endParaRPr lang="zh-TW" altLang="en-US" sz="2800" dirty="0">
                        <a:solidFill>
                          <a:schemeClr val="tx1"/>
                        </a:solidFill>
                      </a:endParaRPr>
                    </a:p>
                  </a:txBody>
                  <a:tcPr/>
                </a:tc>
                <a:tc>
                  <a:txBody>
                    <a:bodyPr/>
                    <a:lstStyle/>
                    <a:p>
                      <a:r>
                        <a:rPr lang="en-US" altLang="zh-TW" sz="2800" dirty="0" smtClean="0">
                          <a:solidFill>
                            <a:schemeClr val="tx1"/>
                          </a:solidFill>
                        </a:rPr>
                        <a:t>a</a:t>
                      </a:r>
                      <a:endParaRPr lang="zh-TW" altLang="en-US" sz="2800" dirty="0">
                        <a:solidFill>
                          <a:schemeClr val="tx1"/>
                        </a:solidFill>
                      </a:endParaRPr>
                    </a:p>
                  </a:txBody>
                  <a:tcPr/>
                </a:tc>
                <a:tc>
                  <a:txBody>
                    <a:bodyPr/>
                    <a:lstStyle/>
                    <a:p>
                      <a:r>
                        <a:rPr lang="en-US" altLang="zh-TW" sz="2800" dirty="0" smtClean="0">
                          <a:solidFill>
                            <a:schemeClr val="tx1"/>
                          </a:solidFill>
                        </a:rPr>
                        <a:t>t</a:t>
                      </a:r>
                      <a:endParaRPr lang="zh-TW" altLang="en-US" sz="2800" dirty="0">
                        <a:solidFill>
                          <a:schemeClr val="tx1"/>
                        </a:solidFill>
                      </a:endParaRPr>
                    </a:p>
                  </a:txBody>
                  <a:tcPr/>
                </a:tc>
                <a:tc>
                  <a:txBody>
                    <a:bodyPr/>
                    <a:lstStyle/>
                    <a:p>
                      <a:r>
                        <a:rPr lang="en-US" altLang="zh-TW" sz="2800" dirty="0" smtClean="0">
                          <a:solidFill>
                            <a:schemeClr val="tx1"/>
                          </a:solidFill>
                        </a:rPr>
                        <a:t>a</a:t>
                      </a:r>
                      <a:endParaRPr lang="zh-TW" altLang="en-US" sz="2800" dirty="0">
                        <a:solidFill>
                          <a:schemeClr val="tx1"/>
                        </a:solidFill>
                      </a:endParaRPr>
                    </a:p>
                  </a:txBody>
                  <a:tcPr/>
                </a:tc>
                <a:tc>
                  <a:txBody>
                    <a:bodyPr/>
                    <a:lstStyle/>
                    <a:p>
                      <a:r>
                        <a:rPr lang="en-US" altLang="zh-TW" sz="2800" dirty="0" smtClean="0">
                          <a:solidFill>
                            <a:schemeClr val="tx1"/>
                          </a:solidFill>
                        </a:rPr>
                        <a:t>t</a:t>
                      </a:r>
                      <a:endParaRPr lang="zh-TW" altLang="en-US" sz="2800" dirty="0">
                        <a:solidFill>
                          <a:schemeClr val="tx1"/>
                        </a:solidFill>
                      </a:endParaRPr>
                    </a:p>
                  </a:txBody>
                  <a:tcPr/>
                </a:tc>
                <a:tc>
                  <a:txBody>
                    <a:bodyPr/>
                    <a:lstStyle/>
                    <a:p>
                      <a:r>
                        <a:rPr lang="en-US" altLang="zh-TW" sz="2800" dirty="0" smtClean="0">
                          <a:solidFill>
                            <a:schemeClr val="tx1"/>
                          </a:solidFill>
                        </a:rPr>
                        <a:t>g</a:t>
                      </a:r>
                      <a:endParaRPr lang="zh-TW" altLang="en-US" sz="2800" dirty="0">
                        <a:solidFill>
                          <a:schemeClr val="tx1"/>
                        </a:solidFill>
                      </a:endParaRPr>
                    </a:p>
                  </a:txBody>
                  <a:tcPr/>
                </a:tc>
                <a:tc>
                  <a:txBody>
                    <a:bodyPr/>
                    <a:lstStyle/>
                    <a:p>
                      <a:r>
                        <a:rPr lang="en-US" altLang="zh-TW" sz="2800" dirty="0" smtClean="0">
                          <a:solidFill>
                            <a:schemeClr val="tx1"/>
                          </a:solidFill>
                        </a:rPr>
                        <a:t>a</a:t>
                      </a:r>
                      <a:endParaRPr lang="zh-TW" altLang="en-US" sz="2800" dirty="0">
                        <a:solidFill>
                          <a:schemeClr val="tx1"/>
                        </a:solidFill>
                      </a:endParaRPr>
                    </a:p>
                  </a:txBody>
                  <a:tcPr/>
                </a:tc>
                <a:tc>
                  <a:txBody>
                    <a:bodyPr/>
                    <a:lstStyle/>
                    <a:p>
                      <a:r>
                        <a:rPr lang="en-US" altLang="zh-TW" sz="2800" dirty="0" smtClean="0">
                          <a:solidFill>
                            <a:schemeClr val="tx1"/>
                          </a:solidFill>
                        </a:rPr>
                        <a:t>g</a:t>
                      </a:r>
                      <a:endParaRPr lang="zh-TW" altLang="en-US" sz="2800" dirty="0">
                        <a:solidFill>
                          <a:schemeClr val="tx1"/>
                        </a:solidFill>
                      </a:endParaRPr>
                    </a:p>
                  </a:txBody>
                  <a:tcPr/>
                </a:tc>
              </a:tr>
              <a:tr h="0">
                <a:tc>
                  <a:txBody>
                    <a:bodyPr/>
                    <a:lstStyle/>
                    <a:p>
                      <a:r>
                        <a:rPr lang="en-US" altLang="zh-TW" sz="2800" dirty="0" smtClean="0">
                          <a:solidFill>
                            <a:schemeClr val="tx1"/>
                          </a:solidFill>
                        </a:rPr>
                        <a:t>a</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rgbClr val="FF0000"/>
                          </a:solidFill>
                        </a:rPr>
                        <a:t>1</a:t>
                      </a:r>
                      <a:endParaRPr lang="zh-TW" altLang="en-US" sz="2800" dirty="0">
                        <a:solidFill>
                          <a:srgbClr val="FF0000"/>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rgbClr val="FF0000"/>
                          </a:solidFill>
                        </a:rPr>
                        <a:t>4</a:t>
                      </a:r>
                      <a:endParaRPr lang="zh-TW" altLang="en-US" sz="2800" dirty="0">
                        <a:solidFill>
                          <a:srgbClr val="FF0000"/>
                        </a:solidFill>
                      </a:endParaRPr>
                    </a:p>
                  </a:txBody>
                  <a:tcPr/>
                </a:tc>
                <a:tc>
                  <a:txBody>
                    <a:bodyPr/>
                    <a:lstStyle/>
                    <a:p>
                      <a:r>
                        <a:rPr lang="en-US" altLang="zh-TW" sz="2800" dirty="0" smtClean="0">
                          <a:solidFill>
                            <a:schemeClr val="tx1"/>
                          </a:solidFill>
                        </a:rPr>
                        <a:t>4</a:t>
                      </a:r>
                      <a:endParaRPr lang="zh-TW" altLang="en-US" sz="2800" dirty="0">
                        <a:solidFill>
                          <a:schemeClr val="tx1"/>
                        </a:solidFill>
                      </a:endParaRPr>
                    </a:p>
                  </a:txBody>
                  <a:tcPr/>
                </a:tc>
                <a:tc>
                  <a:txBody>
                    <a:bodyPr/>
                    <a:lstStyle/>
                    <a:p>
                      <a:r>
                        <a:rPr lang="en-US" altLang="zh-TW" sz="2800" dirty="0" smtClean="0">
                          <a:solidFill>
                            <a:srgbClr val="00B0F0"/>
                          </a:solidFill>
                        </a:rPr>
                        <a:t>6</a:t>
                      </a:r>
                      <a:endParaRPr lang="zh-TW" altLang="en-US" sz="2800" dirty="0">
                        <a:solidFill>
                          <a:srgbClr val="00B0F0"/>
                        </a:solidFill>
                      </a:endParaRPr>
                    </a:p>
                  </a:txBody>
                  <a:tcPr/>
                </a:tc>
                <a:tc>
                  <a:txBody>
                    <a:bodyPr/>
                    <a:lstStyle/>
                    <a:p>
                      <a:r>
                        <a:rPr lang="en-US" altLang="zh-TW" sz="2800" dirty="0" smtClean="0">
                          <a:solidFill>
                            <a:schemeClr val="tx1"/>
                          </a:solidFill>
                        </a:rPr>
                        <a:t>6</a:t>
                      </a:r>
                      <a:endParaRPr lang="zh-TW" altLang="en-US" sz="2800" dirty="0">
                        <a:solidFill>
                          <a:schemeClr val="tx1"/>
                        </a:solidFill>
                      </a:endParaRPr>
                    </a:p>
                  </a:txBody>
                  <a:tcPr/>
                </a:tc>
                <a:tc>
                  <a:txBody>
                    <a:bodyPr/>
                    <a:lstStyle/>
                    <a:p>
                      <a:r>
                        <a:rPr lang="en-US" altLang="zh-TW" sz="2800" dirty="0" smtClean="0">
                          <a:solidFill>
                            <a:schemeClr val="tx1"/>
                          </a:solidFill>
                        </a:rPr>
                        <a:t>6</a:t>
                      </a:r>
                      <a:endParaRPr lang="zh-TW" altLang="en-US" sz="2800" dirty="0">
                        <a:solidFill>
                          <a:schemeClr val="tx1"/>
                        </a:solidFill>
                      </a:endParaRPr>
                    </a:p>
                  </a:txBody>
                  <a:tcPr/>
                </a:tc>
                <a:tc>
                  <a:txBody>
                    <a:bodyPr/>
                    <a:lstStyle/>
                    <a:p>
                      <a:r>
                        <a:rPr lang="en-US" altLang="zh-TW" sz="2800" dirty="0" smtClean="0">
                          <a:solidFill>
                            <a:schemeClr val="tx1"/>
                          </a:solidFill>
                        </a:rPr>
                        <a:t>9</a:t>
                      </a:r>
                      <a:endParaRPr lang="zh-TW" altLang="en-US" sz="2800" dirty="0">
                        <a:solidFill>
                          <a:schemeClr val="tx1"/>
                        </a:solidFill>
                      </a:endParaRPr>
                    </a:p>
                  </a:txBody>
                  <a:tcPr/>
                </a:tc>
              </a:tr>
              <a:tr h="0">
                <a:tc>
                  <a:txBody>
                    <a:bodyPr/>
                    <a:lstStyle/>
                    <a:p>
                      <a:r>
                        <a:rPr lang="en-US" altLang="zh-TW" sz="2800" dirty="0" smtClean="0">
                          <a:solidFill>
                            <a:schemeClr val="tx1"/>
                          </a:solidFill>
                        </a:rPr>
                        <a:t>c</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rgbClr val="FF0000"/>
                          </a:solidFill>
                        </a:rPr>
                        <a:t>3</a:t>
                      </a:r>
                      <a:endParaRPr lang="zh-TW" altLang="en-US" sz="2800" dirty="0">
                        <a:solidFill>
                          <a:srgbClr val="FF0000"/>
                        </a:solidFill>
                      </a:endParaRPr>
                    </a:p>
                  </a:txBody>
                  <a:tcPr/>
                </a:tc>
                <a:tc>
                  <a:txBody>
                    <a:bodyPr/>
                    <a:lstStyle/>
                    <a:p>
                      <a:r>
                        <a:rPr lang="en-US" altLang="zh-TW" sz="2800" dirty="0" smtClean="0">
                          <a:solidFill>
                            <a:schemeClr val="tx1"/>
                          </a:solidFill>
                        </a:rPr>
                        <a:t>3</a:t>
                      </a:r>
                      <a:endParaRPr lang="zh-TW" altLang="en-US" sz="2800" dirty="0">
                        <a:solidFill>
                          <a:schemeClr val="tx1"/>
                        </a:solidFill>
                      </a:endParaRPr>
                    </a:p>
                  </a:txBody>
                  <a:tcPr/>
                </a:tc>
                <a:tc>
                  <a:txBody>
                    <a:bodyPr/>
                    <a:lstStyle/>
                    <a:p>
                      <a:r>
                        <a:rPr lang="en-US" altLang="zh-TW" sz="2800" dirty="0" smtClean="0">
                          <a:solidFill>
                            <a:srgbClr val="00B0F0"/>
                          </a:solidFill>
                        </a:rPr>
                        <a:t>3</a:t>
                      </a:r>
                      <a:endParaRPr lang="zh-TW" altLang="en-US" sz="2800" dirty="0">
                        <a:solidFill>
                          <a:srgbClr val="00B0F0"/>
                        </a:solidFill>
                      </a:endParaRPr>
                    </a:p>
                  </a:txBody>
                  <a:tcPr/>
                </a:tc>
                <a:tc>
                  <a:txBody>
                    <a:bodyPr/>
                    <a:lstStyle/>
                    <a:p>
                      <a:r>
                        <a:rPr lang="en-US" altLang="zh-TW" sz="2800" dirty="0" smtClean="0">
                          <a:solidFill>
                            <a:schemeClr val="tx1"/>
                          </a:solidFill>
                        </a:rPr>
                        <a:t>3</a:t>
                      </a:r>
                      <a:endParaRPr lang="zh-TW" altLang="en-US" sz="2800" dirty="0">
                        <a:solidFill>
                          <a:schemeClr val="tx1"/>
                        </a:solidFill>
                      </a:endParaRPr>
                    </a:p>
                  </a:txBody>
                  <a:tcPr/>
                </a:tc>
                <a:tc>
                  <a:txBody>
                    <a:bodyPr/>
                    <a:lstStyle/>
                    <a:p>
                      <a:r>
                        <a:rPr lang="en-US" altLang="zh-TW" sz="2800" dirty="0" smtClean="0">
                          <a:solidFill>
                            <a:schemeClr val="tx1"/>
                          </a:solidFill>
                        </a:rPr>
                        <a:t>3</a:t>
                      </a:r>
                      <a:endParaRPr lang="zh-TW" altLang="en-US" sz="2800" dirty="0">
                        <a:solidFill>
                          <a:schemeClr val="tx1"/>
                        </a:solidFill>
                      </a:endParaRPr>
                    </a:p>
                  </a:txBody>
                  <a:tcPr/>
                </a:tc>
                <a:tc>
                  <a:txBody>
                    <a:bodyPr/>
                    <a:lstStyle/>
                    <a:p>
                      <a:r>
                        <a:rPr lang="en-US" altLang="zh-TW" sz="2800" dirty="0" smtClean="0">
                          <a:solidFill>
                            <a:schemeClr val="tx1"/>
                          </a:solidFill>
                        </a:rPr>
                        <a:t>3</a:t>
                      </a:r>
                      <a:endParaRPr lang="zh-TW" altLang="en-US" sz="2800" dirty="0">
                        <a:solidFill>
                          <a:schemeClr val="tx1"/>
                        </a:solidFill>
                      </a:endParaRPr>
                    </a:p>
                  </a:txBody>
                  <a:tcPr/>
                </a:tc>
                <a:tc>
                  <a:txBody>
                    <a:bodyPr/>
                    <a:lstStyle/>
                    <a:p>
                      <a:r>
                        <a:rPr lang="en-US" altLang="zh-TW" sz="2800" dirty="0" smtClean="0">
                          <a:solidFill>
                            <a:schemeClr val="tx1"/>
                          </a:solidFill>
                        </a:rPr>
                        <a:t>3</a:t>
                      </a:r>
                      <a:endParaRPr lang="zh-TW" altLang="en-US" sz="2800" dirty="0">
                        <a:solidFill>
                          <a:schemeClr val="tx1"/>
                        </a:solidFill>
                      </a:endParaRPr>
                    </a:p>
                  </a:txBody>
                  <a:tcPr/>
                </a:tc>
              </a:tr>
              <a:tr h="0">
                <a:tc>
                  <a:txBody>
                    <a:bodyPr/>
                    <a:lstStyle/>
                    <a:p>
                      <a:r>
                        <a:rPr lang="en-US" altLang="zh-TW" sz="2800" dirty="0" smtClean="0">
                          <a:solidFill>
                            <a:schemeClr val="tx1"/>
                          </a:solidFill>
                        </a:rPr>
                        <a:t>g</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8</a:t>
                      </a:r>
                      <a:endParaRPr lang="zh-TW" altLang="en-US" sz="2800" dirty="0">
                        <a:solidFill>
                          <a:schemeClr val="tx1"/>
                        </a:solidFill>
                      </a:endParaRPr>
                    </a:p>
                  </a:txBody>
                  <a:tcPr/>
                </a:tc>
                <a:tc>
                  <a:txBody>
                    <a:bodyPr/>
                    <a:lstStyle/>
                    <a:p>
                      <a:r>
                        <a:rPr lang="en-US" altLang="zh-TW" sz="2800" dirty="0" smtClean="0">
                          <a:solidFill>
                            <a:schemeClr val="tx1"/>
                          </a:solidFill>
                        </a:rPr>
                        <a:t>8</a:t>
                      </a:r>
                      <a:endParaRPr lang="zh-TW" altLang="en-US" sz="2800" dirty="0">
                        <a:solidFill>
                          <a:schemeClr val="tx1"/>
                        </a:solidFill>
                      </a:endParaRPr>
                    </a:p>
                  </a:txBody>
                  <a:tcPr/>
                </a:tc>
              </a:tr>
              <a:tr h="0">
                <a:tc>
                  <a:txBody>
                    <a:bodyPr/>
                    <a:lstStyle/>
                    <a:p>
                      <a:r>
                        <a:rPr lang="en-US" altLang="zh-TW" sz="2800" dirty="0" smtClean="0">
                          <a:solidFill>
                            <a:schemeClr val="tx1"/>
                          </a:solidFill>
                        </a:rPr>
                        <a:t>t</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2</a:t>
                      </a:r>
                      <a:endParaRPr lang="zh-TW" altLang="en-US" sz="2800" dirty="0">
                        <a:solidFill>
                          <a:schemeClr val="tx1"/>
                        </a:solidFill>
                      </a:endParaRPr>
                    </a:p>
                  </a:txBody>
                  <a:tcPr/>
                </a:tc>
                <a:tc>
                  <a:txBody>
                    <a:bodyPr/>
                    <a:lstStyle/>
                    <a:p>
                      <a:r>
                        <a:rPr lang="en-US" altLang="zh-TW" sz="2800" dirty="0" smtClean="0">
                          <a:solidFill>
                            <a:schemeClr val="tx1"/>
                          </a:solidFill>
                        </a:rPr>
                        <a:t>2</a:t>
                      </a:r>
                      <a:endParaRPr lang="zh-TW" altLang="en-US" sz="2800" dirty="0">
                        <a:solidFill>
                          <a:schemeClr val="tx1"/>
                        </a:solidFill>
                      </a:endParaRPr>
                    </a:p>
                  </a:txBody>
                  <a:tcPr/>
                </a:tc>
                <a:tc>
                  <a:txBody>
                    <a:bodyPr/>
                    <a:lstStyle/>
                    <a:p>
                      <a:r>
                        <a:rPr lang="en-US" altLang="zh-TW" sz="2800" dirty="0" smtClean="0">
                          <a:solidFill>
                            <a:schemeClr val="tx1"/>
                          </a:solidFill>
                        </a:rPr>
                        <a:t>2</a:t>
                      </a:r>
                      <a:endParaRPr lang="zh-TW" altLang="en-US" sz="2800" dirty="0">
                        <a:solidFill>
                          <a:schemeClr val="tx1"/>
                        </a:solidFill>
                      </a:endParaRPr>
                    </a:p>
                  </a:txBody>
                  <a:tcPr/>
                </a:tc>
                <a:tc>
                  <a:txBody>
                    <a:bodyPr/>
                    <a:lstStyle/>
                    <a:p>
                      <a:r>
                        <a:rPr lang="en-US" altLang="zh-TW" sz="2800" dirty="0" smtClean="0">
                          <a:solidFill>
                            <a:schemeClr val="tx1"/>
                          </a:solidFill>
                        </a:rPr>
                        <a:t>5</a:t>
                      </a:r>
                      <a:endParaRPr lang="zh-TW" altLang="en-US" sz="2800" dirty="0">
                        <a:solidFill>
                          <a:schemeClr val="tx1"/>
                        </a:solidFill>
                      </a:endParaRPr>
                    </a:p>
                  </a:txBody>
                  <a:tcPr/>
                </a:tc>
                <a:tc>
                  <a:txBody>
                    <a:bodyPr/>
                    <a:lstStyle/>
                    <a:p>
                      <a:r>
                        <a:rPr lang="en-US" altLang="zh-TW" sz="2800" dirty="0" smtClean="0">
                          <a:solidFill>
                            <a:schemeClr val="tx1"/>
                          </a:solidFill>
                        </a:rPr>
                        <a:t>5</a:t>
                      </a:r>
                      <a:endParaRPr lang="zh-TW" altLang="en-US" sz="2800" dirty="0">
                        <a:solidFill>
                          <a:schemeClr val="tx1"/>
                        </a:solidFill>
                      </a:endParaRPr>
                    </a:p>
                  </a:txBody>
                  <a:tcPr/>
                </a:tc>
                <a:tc>
                  <a:txBody>
                    <a:bodyPr/>
                    <a:lstStyle/>
                    <a:p>
                      <a:r>
                        <a:rPr lang="en-US" altLang="zh-TW" sz="2800" dirty="0" smtClean="0">
                          <a:solidFill>
                            <a:schemeClr val="tx1"/>
                          </a:solidFill>
                        </a:rPr>
                        <a:t>7</a:t>
                      </a:r>
                      <a:endParaRPr lang="zh-TW" altLang="en-US" sz="2800" dirty="0">
                        <a:solidFill>
                          <a:schemeClr val="tx1"/>
                        </a:solidFill>
                      </a:endParaRPr>
                    </a:p>
                  </a:txBody>
                  <a:tcPr/>
                </a:tc>
                <a:tc>
                  <a:txBody>
                    <a:bodyPr/>
                    <a:lstStyle/>
                    <a:p>
                      <a:r>
                        <a:rPr lang="en-US" altLang="zh-TW" sz="2800" dirty="0" smtClean="0">
                          <a:solidFill>
                            <a:schemeClr val="tx1"/>
                          </a:solidFill>
                        </a:rPr>
                        <a:t>7</a:t>
                      </a:r>
                      <a:endParaRPr lang="zh-TW" altLang="en-US" sz="2800" dirty="0">
                        <a:solidFill>
                          <a:schemeClr val="tx1"/>
                        </a:solidFill>
                      </a:endParaRPr>
                    </a:p>
                  </a:txBody>
                  <a:tcPr/>
                </a:tc>
                <a:tc>
                  <a:txBody>
                    <a:bodyPr/>
                    <a:lstStyle/>
                    <a:p>
                      <a:r>
                        <a:rPr lang="en-US" altLang="zh-TW" sz="2800" dirty="0" smtClean="0">
                          <a:solidFill>
                            <a:schemeClr val="tx1"/>
                          </a:solidFill>
                        </a:rPr>
                        <a:t>7</a:t>
                      </a:r>
                      <a:endParaRPr lang="zh-TW" altLang="en-US" sz="2800" dirty="0">
                        <a:solidFill>
                          <a:schemeClr val="tx1"/>
                        </a:solidFill>
                      </a:endParaRPr>
                    </a:p>
                  </a:txBody>
                  <a:tcPr/>
                </a:tc>
              </a:tr>
              <a:tr h="0">
                <a:tc>
                  <a:txBody>
                    <a:bodyPr/>
                    <a:lstStyle/>
                    <a:p>
                      <a:r>
                        <a:rPr lang="zh-TW" altLang="en-US" sz="2800" i="1" dirty="0" smtClean="0">
                          <a:solidFill>
                            <a:schemeClr val="tx1"/>
                          </a:solidFill>
                          <a:sym typeface="Symbol"/>
                        </a:rPr>
                        <a:t></a:t>
                      </a:r>
                      <a:r>
                        <a:rPr lang="en-US" altLang="zh-TW" sz="2800" i="1" baseline="-25000" dirty="0" smtClean="0">
                          <a:solidFill>
                            <a:schemeClr val="tx1"/>
                          </a:solidFill>
                          <a:sym typeface="Symbol"/>
                        </a:rPr>
                        <a:t>A</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rgbClr val="FF0000"/>
                          </a:solidFill>
                        </a:rPr>
                        <a:t>1</a:t>
                      </a:r>
                      <a:endParaRPr lang="zh-TW" altLang="en-US" sz="2800" dirty="0">
                        <a:solidFill>
                          <a:srgbClr val="FF0000"/>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rgbClr val="00B0F0"/>
                          </a:solidFill>
                        </a:rPr>
                        <a:t>1</a:t>
                      </a:r>
                      <a:endParaRPr lang="zh-TW" altLang="en-US" sz="2800" dirty="0">
                        <a:solidFill>
                          <a:srgbClr val="00B0F0"/>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r>
            </a:tbl>
          </a:graphicData>
        </a:graphic>
      </p:graphicFrame>
      <p:sp>
        <p:nvSpPr>
          <p:cNvPr id="5" name="文字方塊 4"/>
          <p:cNvSpPr txBox="1"/>
          <p:nvPr/>
        </p:nvSpPr>
        <p:spPr>
          <a:xfrm>
            <a:off x="1547664" y="1412776"/>
            <a:ext cx="3762568" cy="584775"/>
          </a:xfrm>
          <a:prstGeom prst="rect">
            <a:avLst/>
          </a:prstGeom>
          <a:noFill/>
        </p:spPr>
        <p:txBody>
          <a:bodyPr wrap="none" rtlCol="0">
            <a:spAutoFit/>
          </a:bodyPr>
          <a:lstStyle/>
          <a:p>
            <a:r>
              <a:rPr lang="en-US" altLang="zh-TW" sz="3200" i="1" dirty="0" smtClean="0"/>
              <a:t>A</a:t>
            </a:r>
            <a:r>
              <a:rPr lang="en-US" altLang="zh-TW" sz="3200" dirty="0" smtClean="0"/>
              <a:t>=</a:t>
            </a:r>
            <a:r>
              <a:rPr lang="en-US" altLang="zh-TW" sz="3200" dirty="0" err="1" smtClean="0"/>
              <a:t>atcatatgag</a:t>
            </a:r>
            <a:r>
              <a:rPr lang="en-US" altLang="zh-TW" sz="3200" dirty="0" smtClean="0"/>
              <a:t>, </a:t>
            </a:r>
            <a:r>
              <a:rPr lang="en-US" altLang="zh-TW" sz="3200" i="1" dirty="0"/>
              <a:t>C</a:t>
            </a:r>
            <a:r>
              <a:rPr lang="en-US" altLang="zh-TW" sz="3200" dirty="0"/>
              <a:t> = </a:t>
            </a:r>
            <a:r>
              <a:rPr lang="en-US" altLang="zh-TW" sz="3200" dirty="0" err="1" smtClean="0"/>
              <a:t>acat</a:t>
            </a:r>
            <a:endParaRPr lang="en-US" altLang="zh-TW" sz="3200" dirty="0" smtClean="0"/>
          </a:p>
        </p:txBody>
      </p:sp>
      <p:sp>
        <p:nvSpPr>
          <p:cNvPr id="3" name="投影片編號版面配置區 2"/>
          <p:cNvSpPr>
            <a:spLocks noGrp="1"/>
          </p:cNvSpPr>
          <p:nvPr>
            <p:ph type="sldNum" sz="quarter" idx="12"/>
          </p:nvPr>
        </p:nvSpPr>
        <p:spPr/>
        <p:txBody>
          <a:bodyPr/>
          <a:lstStyle/>
          <a:p>
            <a:fld id="{330A07AD-B17D-49DB-BE0E-80C763BA8716}" type="slidenum">
              <a:rPr lang="zh-TW" altLang="en-US" smtClean="0"/>
              <a:pPr/>
              <a:t>15</a:t>
            </a:fld>
            <a:endParaRPr lang="zh-TW" altLang="en-US"/>
          </a:p>
        </p:txBody>
      </p:sp>
      <p:sp>
        <p:nvSpPr>
          <p:cNvPr id="6" name="矩形 5"/>
          <p:cNvSpPr/>
          <p:nvPr/>
        </p:nvSpPr>
        <p:spPr>
          <a:xfrm>
            <a:off x="3428948" y="6093296"/>
            <a:ext cx="2387192" cy="523220"/>
          </a:xfrm>
          <a:prstGeom prst="rect">
            <a:avLst/>
          </a:prstGeom>
        </p:spPr>
        <p:txBody>
          <a:bodyPr wrap="none">
            <a:spAutoFit/>
          </a:bodyPr>
          <a:lstStyle/>
          <a:p>
            <a:r>
              <a:rPr lang="en-US" altLang="zh-TW" sz="2800" i="1" dirty="0"/>
              <a:t>O</a:t>
            </a:r>
            <a:r>
              <a:rPr lang="en-US" altLang="zh-TW" sz="2800" dirty="0"/>
              <a:t>((</a:t>
            </a:r>
            <a:r>
              <a:rPr lang="en-US" altLang="zh-TW" sz="2800" i="1" dirty="0" err="1"/>
              <a:t>m</a:t>
            </a:r>
            <a:r>
              <a:rPr lang="en-US" altLang="zh-TW" sz="2800" dirty="0" err="1"/>
              <a:t>+</a:t>
            </a:r>
            <a:r>
              <a:rPr lang="en-US" altLang="zh-TW" sz="2800" i="1" dirty="0" err="1"/>
              <a:t>n</a:t>
            </a:r>
            <a:r>
              <a:rPr lang="en-US" altLang="zh-TW" sz="2800" dirty="0"/>
              <a:t>)</a:t>
            </a:r>
            <a:r>
              <a:rPr lang="en-US" altLang="zh-TW" sz="2800" i="1" dirty="0"/>
              <a:t>r</a:t>
            </a:r>
            <a:r>
              <a:rPr lang="en-US" altLang="zh-TW" sz="2800" dirty="0"/>
              <a:t>) </a:t>
            </a:r>
            <a:r>
              <a:rPr lang="en-US" altLang="zh-TW" sz="2800" dirty="0" smtClean="0"/>
              <a:t>time</a:t>
            </a:r>
            <a:endParaRPr lang="en-US" altLang="zh-TW" sz="2800" dirty="0"/>
          </a:p>
        </p:txBody>
      </p:sp>
    </p:spTree>
    <p:extLst>
      <p:ext uri="{BB962C8B-B14F-4D97-AF65-F5344CB8AC3E}">
        <p14:creationId xmlns:p14="http://schemas.microsoft.com/office/powerpoint/2010/main" xmlns="" val="3535825576"/>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String Inclusion CLCS</a:t>
            </a:r>
            <a:endParaRPr lang="zh-TW" altLang="en-US"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22826" y="2393429"/>
            <a:ext cx="8639175" cy="1971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矩形 3"/>
          <p:cNvSpPr/>
          <p:nvPr/>
        </p:nvSpPr>
        <p:spPr>
          <a:xfrm>
            <a:off x="2483768" y="5505861"/>
            <a:ext cx="5370381" cy="584775"/>
          </a:xfrm>
          <a:prstGeom prst="rect">
            <a:avLst/>
          </a:prstGeom>
        </p:spPr>
        <p:txBody>
          <a:bodyPr wrap="none">
            <a:spAutoFit/>
          </a:bodyPr>
          <a:lstStyle/>
          <a:p>
            <a:pPr algn="ctr"/>
            <a:r>
              <a:rPr lang="en-US" altLang="zh-TW" sz="3200" i="1" dirty="0" smtClean="0"/>
              <a:t>O</a:t>
            </a:r>
            <a:r>
              <a:rPr lang="en-US" altLang="zh-TW" sz="3200" dirty="0" smtClean="0"/>
              <a:t>(</a:t>
            </a:r>
            <a:r>
              <a:rPr lang="en-US" altLang="zh-TW" sz="3200" i="1" dirty="0" err="1" smtClean="0"/>
              <a:t>mn</a:t>
            </a:r>
            <a:r>
              <a:rPr lang="en-US" altLang="zh-TW" sz="3200" dirty="0" smtClean="0"/>
              <a:t>) </a:t>
            </a:r>
            <a:r>
              <a:rPr lang="en-US" altLang="zh-TW" sz="3200" dirty="0"/>
              <a:t>time and </a:t>
            </a:r>
            <a:r>
              <a:rPr lang="en-US" altLang="zh-TW" sz="3200" dirty="0" smtClean="0"/>
              <a:t>space for the DP</a:t>
            </a:r>
            <a:endParaRPr lang="zh-TW" altLang="en-US" sz="3200" dirty="0"/>
          </a:p>
        </p:txBody>
      </p:sp>
      <p:sp>
        <p:nvSpPr>
          <p:cNvPr id="6" name="矩形 5"/>
          <p:cNvSpPr/>
          <p:nvPr/>
        </p:nvSpPr>
        <p:spPr>
          <a:xfrm>
            <a:off x="2555776" y="4941168"/>
            <a:ext cx="5190845" cy="584775"/>
          </a:xfrm>
          <a:prstGeom prst="rect">
            <a:avLst/>
          </a:prstGeom>
        </p:spPr>
        <p:txBody>
          <a:bodyPr wrap="none">
            <a:spAutoFit/>
          </a:bodyPr>
          <a:lstStyle/>
          <a:p>
            <a:pPr algn="ctr"/>
            <a:r>
              <a:rPr lang="en-US" altLang="zh-TW" sz="3200" i="1" dirty="0"/>
              <a:t>O</a:t>
            </a:r>
            <a:r>
              <a:rPr lang="en-US" altLang="zh-TW" sz="3200" dirty="0" smtClean="0"/>
              <a:t>((</a:t>
            </a:r>
            <a:r>
              <a:rPr lang="en-US" altLang="zh-TW" sz="3200" i="1" dirty="0" err="1" smtClean="0"/>
              <a:t>m</a:t>
            </a:r>
            <a:r>
              <a:rPr lang="en-US" altLang="zh-TW" sz="3200" dirty="0" err="1" smtClean="0"/>
              <a:t>+</a:t>
            </a:r>
            <a:r>
              <a:rPr lang="en-US" altLang="zh-TW" sz="3200" i="1" dirty="0" err="1" smtClean="0"/>
              <a:t>n</a:t>
            </a:r>
            <a:r>
              <a:rPr lang="en-US" altLang="zh-TW" sz="3200" dirty="0" smtClean="0"/>
              <a:t>)</a:t>
            </a:r>
            <a:r>
              <a:rPr lang="en-US" altLang="zh-TW" sz="3200" i="1" dirty="0" smtClean="0"/>
              <a:t>r</a:t>
            </a:r>
            <a:r>
              <a:rPr lang="en-US" altLang="zh-TW" sz="3200" dirty="0" smtClean="0"/>
              <a:t>) time for the </a:t>
            </a:r>
            <a:r>
              <a:rPr lang="zh-TW" altLang="en-US" sz="3200" dirty="0">
                <a:sym typeface="Symbol"/>
              </a:rPr>
              <a:t></a:t>
            </a:r>
            <a:r>
              <a:rPr lang="en-US" altLang="zh-TW" sz="3200" dirty="0">
                <a:sym typeface="Symbol"/>
              </a:rPr>
              <a:t> </a:t>
            </a:r>
            <a:r>
              <a:rPr lang="en-US" altLang="zh-TW" sz="3200" dirty="0" smtClean="0">
                <a:sym typeface="Symbol"/>
              </a:rPr>
              <a:t>Tables</a:t>
            </a:r>
            <a:endParaRPr lang="zh-TW" altLang="en-US" sz="3200" dirty="0"/>
          </a:p>
        </p:txBody>
      </p:sp>
      <p:sp>
        <p:nvSpPr>
          <p:cNvPr id="8" name="矩形 7"/>
          <p:cNvSpPr/>
          <p:nvPr/>
        </p:nvSpPr>
        <p:spPr>
          <a:xfrm>
            <a:off x="1377155" y="4356393"/>
            <a:ext cx="7587333" cy="584775"/>
          </a:xfrm>
          <a:prstGeom prst="rect">
            <a:avLst/>
          </a:prstGeom>
        </p:spPr>
        <p:txBody>
          <a:bodyPr wrap="none">
            <a:spAutoFit/>
          </a:bodyPr>
          <a:lstStyle/>
          <a:p>
            <a:pPr algn="ctr"/>
            <a:r>
              <a:rPr lang="en-US" altLang="zh-TW" sz="3200" i="1" dirty="0"/>
              <a:t>O</a:t>
            </a:r>
            <a:r>
              <a:rPr lang="en-US" altLang="zh-TW" sz="3200" dirty="0" smtClean="0"/>
              <a:t>((</a:t>
            </a:r>
            <a:r>
              <a:rPr lang="en-US" altLang="zh-TW" sz="3200" i="1" dirty="0" err="1" smtClean="0"/>
              <a:t>m</a:t>
            </a:r>
            <a:r>
              <a:rPr lang="en-US" altLang="zh-TW" sz="3200" dirty="0" err="1" smtClean="0"/>
              <a:t>+</a:t>
            </a:r>
            <a:r>
              <a:rPr lang="en-US" altLang="zh-TW" sz="3200" i="1" dirty="0" err="1" smtClean="0"/>
              <a:t>n</a:t>
            </a:r>
            <a:r>
              <a:rPr lang="en-US" altLang="zh-TW" sz="3200" dirty="0" smtClean="0"/>
              <a:t>)|</a:t>
            </a:r>
            <a:r>
              <a:rPr lang="el-GR" altLang="zh-TW" sz="3200" i="1" dirty="0" smtClean="0"/>
              <a:t>Σ</a:t>
            </a:r>
            <a:r>
              <a:rPr lang="en-US" altLang="zh-TW" sz="3200" dirty="0" smtClean="0"/>
              <a:t>|) time for the </a:t>
            </a:r>
            <a:r>
              <a:rPr lang="en-US" altLang="zh-TW" sz="3200" dirty="0" err="1" smtClean="0"/>
              <a:t>Previous</a:t>
            </a:r>
            <a:r>
              <a:rPr lang="en-US" altLang="zh-TW" sz="3200" dirty="0" err="1" smtClean="0">
                <a:sym typeface="Symbol"/>
              </a:rPr>
              <a:t>Match</a:t>
            </a:r>
            <a:r>
              <a:rPr lang="en-US" altLang="zh-TW" sz="3200" dirty="0" smtClean="0">
                <a:sym typeface="Symbol"/>
              </a:rPr>
              <a:t> Tables</a:t>
            </a:r>
            <a:endParaRPr lang="zh-TW" altLang="en-US" sz="3200" dirty="0"/>
          </a:p>
        </p:txBody>
      </p:sp>
      <p:sp>
        <p:nvSpPr>
          <p:cNvPr id="5" name="投影片編號版面配置區 4"/>
          <p:cNvSpPr>
            <a:spLocks noGrp="1"/>
          </p:cNvSpPr>
          <p:nvPr>
            <p:ph type="sldNum" sz="quarter" idx="12"/>
          </p:nvPr>
        </p:nvSpPr>
        <p:spPr/>
        <p:txBody>
          <a:bodyPr/>
          <a:lstStyle/>
          <a:p>
            <a:fld id="{330A07AD-B17D-49DB-BE0E-80C763BA8716}" type="slidenum">
              <a:rPr lang="zh-TW" altLang="en-US" smtClean="0"/>
              <a:pPr/>
              <a:t>16</a:t>
            </a:fld>
            <a:endParaRPr lang="zh-TW" altLang="en-US"/>
          </a:p>
        </p:txBody>
      </p:sp>
      <p:sp>
        <p:nvSpPr>
          <p:cNvPr id="9" name="文字方塊 8"/>
          <p:cNvSpPr txBox="1"/>
          <p:nvPr/>
        </p:nvSpPr>
        <p:spPr>
          <a:xfrm>
            <a:off x="1284126" y="1628800"/>
            <a:ext cx="7713971" cy="523220"/>
          </a:xfrm>
          <a:prstGeom prst="rect">
            <a:avLst/>
          </a:prstGeom>
          <a:noFill/>
        </p:spPr>
        <p:txBody>
          <a:bodyPr wrap="none" rtlCol="0">
            <a:spAutoFit/>
          </a:bodyPr>
          <a:lstStyle/>
          <a:p>
            <a:r>
              <a:rPr lang="en-US" altLang="zh-TW" sz="2800" i="1" dirty="0" smtClean="0"/>
              <a:t>M</a:t>
            </a:r>
            <a:r>
              <a:rPr lang="en-US" altLang="zh-TW" sz="2800" dirty="0" smtClean="0"/>
              <a:t>[</a:t>
            </a:r>
            <a:r>
              <a:rPr lang="en-US" altLang="zh-TW" sz="2800" i="1" dirty="0"/>
              <a:t>i</a:t>
            </a:r>
            <a:r>
              <a:rPr lang="en-US" altLang="zh-TW" sz="2800" i="1" dirty="0" smtClean="0"/>
              <a:t>, j, </a:t>
            </a:r>
            <a:r>
              <a:rPr lang="en-US" altLang="zh-TW" sz="2800" dirty="0" smtClean="0"/>
              <a:t>0] is calculated as the standard LCS DP formula</a:t>
            </a:r>
          </a:p>
        </p:txBody>
      </p:sp>
    </p:spTree>
    <p:extLst>
      <p:ext uri="{BB962C8B-B14F-4D97-AF65-F5344CB8AC3E}">
        <p14:creationId xmlns:p14="http://schemas.microsoft.com/office/powerpoint/2010/main" xmlns="" val="3116058411"/>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Dynamic Programming Formula for Non-overlapping SSCLCS</a:t>
            </a:r>
            <a:endParaRPr lang="zh-TW" altLang="en-US" dirty="0"/>
          </a:p>
        </p:txBody>
      </p:sp>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7803" y="1772816"/>
            <a:ext cx="8958693" cy="27363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矩形 3"/>
          <p:cNvSpPr/>
          <p:nvPr/>
        </p:nvSpPr>
        <p:spPr>
          <a:xfrm>
            <a:off x="2384552" y="6084585"/>
            <a:ext cx="5477783" cy="584775"/>
          </a:xfrm>
          <a:prstGeom prst="rect">
            <a:avLst/>
          </a:prstGeom>
        </p:spPr>
        <p:txBody>
          <a:bodyPr wrap="none">
            <a:spAutoFit/>
          </a:bodyPr>
          <a:lstStyle/>
          <a:p>
            <a:pPr algn="ctr"/>
            <a:r>
              <a:rPr lang="en-US" altLang="zh-TW" sz="3200" i="1" dirty="0" smtClean="0"/>
              <a:t>O</a:t>
            </a:r>
            <a:r>
              <a:rPr lang="en-US" altLang="zh-TW" sz="3200" dirty="0" smtClean="0"/>
              <a:t>(</a:t>
            </a:r>
            <a:r>
              <a:rPr lang="en-US" altLang="zh-TW" sz="3200" i="1" dirty="0" err="1" smtClean="0"/>
              <a:t>mnl</a:t>
            </a:r>
            <a:r>
              <a:rPr lang="en-US" altLang="zh-TW" sz="3200" dirty="0" smtClean="0"/>
              <a:t>) </a:t>
            </a:r>
            <a:r>
              <a:rPr lang="en-US" altLang="zh-TW" sz="3200" dirty="0"/>
              <a:t>time and </a:t>
            </a:r>
            <a:r>
              <a:rPr lang="en-US" altLang="zh-TW" sz="3200" dirty="0" smtClean="0"/>
              <a:t>space for the DP</a:t>
            </a:r>
            <a:endParaRPr lang="zh-TW" altLang="en-US" sz="3200" dirty="0"/>
          </a:p>
        </p:txBody>
      </p:sp>
      <p:sp>
        <p:nvSpPr>
          <p:cNvPr id="5" name="矩形 4"/>
          <p:cNvSpPr/>
          <p:nvPr/>
        </p:nvSpPr>
        <p:spPr>
          <a:xfrm>
            <a:off x="2510261" y="5519892"/>
            <a:ext cx="5190845" cy="584775"/>
          </a:xfrm>
          <a:prstGeom prst="rect">
            <a:avLst/>
          </a:prstGeom>
        </p:spPr>
        <p:txBody>
          <a:bodyPr wrap="none">
            <a:spAutoFit/>
          </a:bodyPr>
          <a:lstStyle/>
          <a:p>
            <a:pPr algn="ctr"/>
            <a:r>
              <a:rPr lang="en-US" altLang="zh-TW" sz="3200" i="1" dirty="0"/>
              <a:t>O</a:t>
            </a:r>
            <a:r>
              <a:rPr lang="en-US" altLang="zh-TW" sz="3200" dirty="0" smtClean="0"/>
              <a:t>((</a:t>
            </a:r>
            <a:r>
              <a:rPr lang="en-US" altLang="zh-TW" sz="3200" i="1" dirty="0" err="1" smtClean="0"/>
              <a:t>m</a:t>
            </a:r>
            <a:r>
              <a:rPr lang="en-US" altLang="zh-TW" sz="3200" dirty="0" err="1" smtClean="0"/>
              <a:t>+</a:t>
            </a:r>
            <a:r>
              <a:rPr lang="en-US" altLang="zh-TW" sz="3200" i="1" dirty="0" err="1" smtClean="0"/>
              <a:t>n</a:t>
            </a:r>
            <a:r>
              <a:rPr lang="en-US" altLang="zh-TW" sz="3200" dirty="0" smtClean="0"/>
              <a:t>)</a:t>
            </a:r>
            <a:r>
              <a:rPr lang="en-US" altLang="zh-TW" sz="3200" i="1" dirty="0" smtClean="0"/>
              <a:t>r</a:t>
            </a:r>
            <a:r>
              <a:rPr lang="en-US" altLang="zh-TW" sz="3200" dirty="0" smtClean="0"/>
              <a:t>) time for the </a:t>
            </a:r>
            <a:r>
              <a:rPr lang="zh-TW" altLang="en-US" sz="3200" dirty="0">
                <a:sym typeface="Symbol"/>
              </a:rPr>
              <a:t></a:t>
            </a:r>
            <a:r>
              <a:rPr lang="en-US" altLang="zh-TW" sz="3200" dirty="0">
                <a:sym typeface="Symbol"/>
              </a:rPr>
              <a:t> </a:t>
            </a:r>
            <a:r>
              <a:rPr lang="en-US" altLang="zh-TW" sz="3200" dirty="0" smtClean="0">
                <a:sym typeface="Symbol"/>
              </a:rPr>
              <a:t>Tables</a:t>
            </a:r>
            <a:endParaRPr lang="zh-TW" altLang="en-US" sz="3200" dirty="0"/>
          </a:p>
        </p:txBody>
      </p:sp>
      <p:sp>
        <p:nvSpPr>
          <p:cNvPr id="6" name="矩形 5"/>
          <p:cNvSpPr/>
          <p:nvPr/>
        </p:nvSpPr>
        <p:spPr>
          <a:xfrm>
            <a:off x="1331640" y="4935117"/>
            <a:ext cx="7587333" cy="584775"/>
          </a:xfrm>
          <a:prstGeom prst="rect">
            <a:avLst/>
          </a:prstGeom>
        </p:spPr>
        <p:txBody>
          <a:bodyPr wrap="none">
            <a:spAutoFit/>
          </a:bodyPr>
          <a:lstStyle/>
          <a:p>
            <a:pPr algn="ctr"/>
            <a:r>
              <a:rPr lang="en-US" altLang="zh-TW" sz="3200" i="1" dirty="0"/>
              <a:t>O</a:t>
            </a:r>
            <a:r>
              <a:rPr lang="en-US" altLang="zh-TW" sz="3200" dirty="0" smtClean="0"/>
              <a:t>((</a:t>
            </a:r>
            <a:r>
              <a:rPr lang="en-US" altLang="zh-TW" sz="3200" i="1" dirty="0" err="1" smtClean="0"/>
              <a:t>m</a:t>
            </a:r>
            <a:r>
              <a:rPr lang="en-US" altLang="zh-TW" sz="3200" dirty="0" err="1" smtClean="0"/>
              <a:t>+</a:t>
            </a:r>
            <a:r>
              <a:rPr lang="en-US" altLang="zh-TW" sz="3200" i="1" dirty="0" err="1" smtClean="0"/>
              <a:t>n</a:t>
            </a:r>
            <a:r>
              <a:rPr lang="en-US" altLang="zh-TW" sz="3200" dirty="0" smtClean="0"/>
              <a:t>)|</a:t>
            </a:r>
            <a:r>
              <a:rPr lang="el-GR" altLang="zh-TW" sz="3200" i="1" dirty="0" smtClean="0"/>
              <a:t>Σ</a:t>
            </a:r>
            <a:r>
              <a:rPr lang="en-US" altLang="zh-TW" sz="3200" dirty="0" smtClean="0"/>
              <a:t>|) time for the </a:t>
            </a:r>
            <a:r>
              <a:rPr lang="en-US" altLang="zh-TW" sz="3200" dirty="0" err="1" smtClean="0"/>
              <a:t>Previous</a:t>
            </a:r>
            <a:r>
              <a:rPr lang="en-US" altLang="zh-TW" sz="3200" dirty="0" err="1" smtClean="0">
                <a:sym typeface="Symbol"/>
              </a:rPr>
              <a:t>Match</a:t>
            </a:r>
            <a:r>
              <a:rPr lang="en-US" altLang="zh-TW" sz="3200" dirty="0" smtClean="0">
                <a:sym typeface="Symbol"/>
              </a:rPr>
              <a:t> Tables</a:t>
            </a:r>
            <a:endParaRPr lang="zh-TW" altLang="en-US" sz="3200" dirty="0"/>
          </a:p>
        </p:txBody>
      </p:sp>
      <p:sp>
        <p:nvSpPr>
          <p:cNvPr id="3" name="投影片編號版面配置區 2"/>
          <p:cNvSpPr>
            <a:spLocks noGrp="1"/>
          </p:cNvSpPr>
          <p:nvPr>
            <p:ph type="sldNum" sz="quarter" idx="12"/>
          </p:nvPr>
        </p:nvSpPr>
        <p:spPr/>
        <p:txBody>
          <a:bodyPr/>
          <a:lstStyle/>
          <a:p>
            <a:fld id="{330A07AD-B17D-49DB-BE0E-80C763BA8716}" type="slidenum">
              <a:rPr lang="zh-TW" altLang="en-US" smtClean="0"/>
              <a:pPr/>
              <a:t>17</a:t>
            </a:fld>
            <a:endParaRPr lang="zh-TW" altLang="en-US"/>
          </a:p>
        </p:txBody>
      </p:sp>
    </p:spTree>
    <p:extLst>
      <p:ext uri="{BB962C8B-B14F-4D97-AF65-F5344CB8AC3E}">
        <p14:creationId xmlns:p14="http://schemas.microsoft.com/office/powerpoint/2010/main" xmlns="" val="844222435"/>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Difference in Overlapping Variant</a:t>
            </a:r>
            <a:endParaRPr lang="zh-TW" altLang="en-US" dirty="0"/>
          </a:p>
        </p:txBody>
      </p:sp>
      <p:sp>
        <p:nvSpPr>
          <p:cNvPr id="3" name="內容版面配置區 2"/>
          <p:cNvSpPr>
            <a:spLocks noGrp="1"/>
          </p:cNvSpPr>
          <p:nvPr>
            <p:ph idx="1"/>
          </p:nvPr>
        </p:nvSpPr>
        <p:spPr/>
        <p:txBody>
          <a:bodyPr/>
          <a:lstStyle/>
          <a:p>
            <a:r>
              <a:rPr lang="en-US" altLang="zh-TW" dirty="0" smtClean="0"/>
              <a:t>Checks need to be performed on the overlapping part. So</a:t>
            </a:r>
          </a:p>
          <a:p>
            <a:pPr lvl="1"/>
            <a:r>
              <a:rPr lang="en-US" altLang="zh-TW" dirty="0" smtClean="0"/>
              <a:t>We find the possible overlap length of neighboring partitions in advance.</a:t>
            </a:r>
          </a:p>
          <a:p>
            <a:pPr lvl="1"/>
            <a:r>
              <a:rPr lang="en-US" altLang="zh-TW" dirty="0" smtClean="0"/>
              <a:t>The </a:t>
            </a:r>
            <a:r>
              <a:rPr lang="zh-TW" altLang="en-US" dirty="0">
                <a:sym typeface="Symbol"/>
              </a:rPr>
              <a:t></a:t>
            </a:r>
            <a:r>
              <a:rPr lang="en-US" altLang="zh-TW" dirty="0">
                <a:sym typeface="Symbol"/>
              </a:rPr>
              <a:t> </a:t>
            </a:r>
            <a:r>
              <a:rPr lang="en-US" altLang="zh-TW" dirty="0" smtClean="0">
                <a:sym typeface="Symbol"/>
              </a:rPr>
              <a:t>Tables becomes 2-ary with the additional dimension being the overlapping length.</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18</a:t>
            </a:fld>
            <a:endParaRPr lang="zh-TW" altLang="en-US"/>
          </a:p>
        </p:txBody>
      </p:sp>
    </p:spTree>
    <p:extLst>
      <p:ext uri="{BB962C8B-B14F-4D97-AF65-F5344CB8AC3E}">
        <p14:creationId xmlns:p14="http://schemas.microsoft.com/office/powerpoint/2010/main" xmlns="" val="3121066654"/>
      </p:ext>
    </p:extLst>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sym typeface="Symbol"/>
              </a:rPr>
              <a:t></a:t>
            </a:r>
            <a:r>
              <a:rPr lang="en-US" altLang="zh-TW" dirty="0">
                <a:sym typeface="Symbol"/>
              </a:rPr>
              <a:t> Table for </a:t>
            </a:r>
            <a:r>
              <a:rPr lang="en-US" altLang="zh-TW" dirty="0" smtClean="0">
                <a:sym typeface="Symbol"/>
              </a:rPr>
              <a:t>Overlapping </a:t>
            </a:r>
            <a:r>
              <a:rPr lang="en-US" altLang="zh-TW" dirty="0">
                <a:sym typeface="Symbol"/>
              </a:rPr>
              <a:t>Variant</a:t>
            </a:r>
            <a:endParaRPr lang="zh-TW" altLang="en-US" dirty="0"/>
          </a:p>
        </p:txBody>
      </p:sp>
      <p:sp>
        <p:nvSpPr>
          <p:cNvPr id="4" name="文字方塊 3"/>
          <p:cNvSpPr txBox="1"/>
          <p:nvPr/>
        </p:nvSpPr>
        <p:spPr>
          <a:xfrm>
            <a:off x="1547664" y="1412776"/>
            <a:ext cx="3762568" cy="584775"/>
          </a:xfrm>
          <a:prstGeom prst="rect">
            <a:avLst/>
          </a:prstGeom>
          <a:noFill/>
        </p:spPr>
        <p:txBody>
          <a:bodyPr wrap="none" rtlCol="0">
            <a:spAutoFit/>
          </a:bodyPr>
          <a:lstStyle/>
          <a:p>
            <a:r>
              <a:rPr lang="en-US" altLang="zh-TW" sz="3200" i="1" dirty="0" smtClean="0"/>
              <a:t>A</a:t>
            </a:r>
            <a:r>
              <a:rPr lang="en-US" altLang="zh-TW" sz="3200" dirty="0" smtClean="0"/>
              <a:t>=</a:t>
            </a:r>
            <a:r>
              <a:rPr lang="en-US" altLang="zh-TW" sz="3200" dirty="0" err="1" smtClean="0"/>
              <a:t>atcatatgag</a:t>
            </a:r>
            <a:r>
              <a:rPr lang="en-US" altLang="zh-TW" sz="3200" dirty="0" smtClean="0"/>
              <a:t>, </a:t>
            </a:r>
            <a:r>
              <a:rPr lang="en-US" altLang="zh-TW" sz="3200" i="1" dirty="0"/>
              <a:t>C</a:t>
            </a:r>
            <a:r>
              <a:rPr lang="en-US" altLang="zh-TW" sz="3200" dirty="0"/>
              <a:t> = </a:t>
            </a:r>
            <a:r>
              <a:rPr lang="en-US" altLang="zh-TW" sz="3200" dirty="0" err="1" smtClean="0"/>
              <a:t>acat</a:t>
            </a:r>
            <a:endParaRPr lang="en-US" altLang="zh-TW" sz="3200" dirty="0" smtClean="0"/>
          </a:p>
        </p:txBody>
      </p:sp>
      <p:graphicFrame>
        <p:nvGraphicFramePr>
          <p:cNvPr id="5" name="表格 4"/>
          <p:cNvGraphicFramePr>
            <a:graphicFrameLocks noGrp="1"/>
          </p:cNvGraphicFramePr>
          <p:nvPr>
            <p:extLst>
              <p:ext uri="{D42A27DB-BD31-4B8C-83A1-F6EECF244321}">
                <p14:modId xmlns:p14="http://schemas.microsoft.com/office/powerpoint/2010/main" xmlns="" val="1009606677"/>
              </p:ext>
            </p:extLst>
          </p:nvPr>
        </p:nvGraphicFramePr>
        <p:xfrm>
          <a:off x="1524290" y="2059831"/>
          <a:ext cx="7368185" cy="4033337"/>
        </p:xfrm>
        <a:graphic>
          <a:graphicData uri="http://schemas.openxmlformats.org/drawingml/2006/table">
            <a:tbl>
              <a:tblPr firstRow="1" bandRow="1">
                <a:tableStyleId>{5940675A-B579-460E-94D1-54222C63F5DA}</a:tableStyleId>
              </a:tblPr>
              <a:tblGrid>
                <a:gridCol w="669835"/>
                <a:gridCol w="669835"/>
                <a:gridCol w="669835"/>
                <a:gridCol w="669835"/>
                <a:gridCol w="669835"/>
                <a:gridCol w="669835"/>
                <a:gridCol w="669835"/>
                <a:gridCol w="669835"/>
                <a:gridCol w="669835"/>
                <a:gridCol w="669835"/>
                <a:gridCol w="669835"/>
              </a:tblGrid>
              <a:tr h="576191">
                <a:tc>
                  <a:txBody>
                    <a:bodyPr/>
                    <a:lstStyle/>
                    <a:p>
                      <a:endParaRPr lang="zh-TW" altLang="en-US" sz="2800" dirty="0">
                        <a:solidFill>
                          <a:schemeClr val="tx1"/>
                        </a:solidFill>
                      </a:endParaRPr>
                    </a:p>
                  </a:txBody>
                  <a:tcPr/>
                </a:tc>
                <a:tc>
                  <a:txBody>
                    <a:bodyPr/>
                    <a:lstStyle/>
                    <a:p>
                      <a:r>
                        <a:rPr lang="en-US" altLang="zh-TW" sz="2800" dirty="0" smtClean="0">
                          <a:solidFill>
                            <a:schemeClr val="tx1"/>
                          </a:solidFill>
                        </a:rPr>
                        <a:t>1</a:t>
                      </a:r>
                      <a:endParaRPr lang="zh-TW" altLang="en-US" sz="2800" dirty="0">
                        <a:solidFill>
                          <a:schemeClr val="tx1"/>
                        </a:solidFill>
                      </a:endParaRPr>
                    </a:p>
                  </a:txBody>
                  <a:tcPr/>
                </a:tc>
                <a:tc>
                  <a:txBody>
                    <a:bodyPr/>
                    <a:lstStyle/>
                    <a:p>
                      <a:r>
                        <a:rPr lang="en-US" altLang="zh-TW" sz="2800" dirty="0" smtClean="0">
                          <a:solidFill>
                            <a:schemeClr val="tx1"/>
                          </a:solidFill>
                        </a:rPr>
                        <a:t>2</a:t>
                      </a:r>
                      <a:endParaRPr lang="zh-TW" altLang="en-US" sz="2800" dirty="0">
                        <a:solidFill>
                          <a:schemeClr val="tx1"/>
                        </a:solidFill>
                      </a:endParaRPr>
                    </a:p>
                  </a:txBody>
                  <a:tcPr/>
                </a:tc>
                <a:tc>
                  <a:txBody>
                    <a:bodyPr/>
                    <a:lstStyle/>
                    <a:p>
                      <a:r>
                        <a:rPr lang="en-US" altLang="zh-TW" sz="2800" dirty="0" smtClean="0">
                          <a:solidFill>
                            <a:schemeClr val="tx1"/>
                          </a:solidFill>
                        </a:rPr>
                        <a:t>3</a:t>
                      </a:r>
                      <a:endParaRPr lang="zh-TW" altLang="en-US" sz="2800" dirty="0">
                        <a:solidFill>
                          <a:schemeClr val="tx1"/>
                        </a:solidFill>
                      </a:endParaRPr>
                    </a:p>
                  </a:txBody>
                  <a:tcPr/>
                </a:tc>
                <a:tc>
                  <a:txBody>
                    <a:bodyPr/>
                    <a:lstStyle/>
                    <a:p>
                      <a:r>
                        <a:rPr lang="en-US" altLang="zh-TW" sz="2800" dirty="0" smtClean="0">
                          <a:solidFill>
                            <a:schemeClr val="tx1"/>
                          </a:solidFill>
                        </a:rPr>
                        <a:t>4</a:t>
                      </a:r>
                      <a:endParaRPr lang="zh-TW" altLang="en-US" sz="2800" dirty="0">
                        <a:solidFill>
                          <a:schemeClr val="tx1"/>
                        </a:solidFill>
                      </a:endParaRPr>
                    </a:p>
                  </a:txBody>
                  <a:tcPr/>
                </a:tc>
                <a:tc>
                  <a:txBody>
                    <a:bodyPr/>
                    <a:lstStyle/>
                    <a:p>
                      <a:r>
                        <a:rPr lang="en-US" altLang="zh-TW" sz="2800" dirty="0" smtClean="0">
                          <a:solidFill>
                            <a:schemeClr val="tx1"/>
                          </a:solidFill>
                        </a:rPr>
                        <a:t>5</a:t>
                      </a:r>
                      <a:endParaRPr lang="zh-TW" altLang="en-US" sz="2800" dirty="0">
                        <a:solidFill>
                          <a:schemeClr val="tx1"/>
                        </a:solidFill>
                      </a:endParaRPr>
                    </a:p>
                  </a:txBody>
                  <a:tcPr/>
                </a:tc>
                <a:tc>
                  <a:txBody>
                    <a:bodyPr/>
                    <a:lstStyle/>
                    <a:p>
                      <a:r>
                        <a:rPr lang="en-US" altLang="zh-TW" sz="2800" dirty="0" smtClean="0">
                          <a:solidFill>
                            <a:schemeClr val="tx1"/>
                          </a:solidFill>
                        </a:rPr>
                        <a:t>6</a:t>
                      </a:r>
                      <a:endParaRPr lang="zh-TW" altLang="en-US" sz="2800" dirty="0">
                        <a:solidFill>
                          <a:schemeClr val="tx1"/>
                        </a:solidFill>
                      </a:endParaRPr>
                    </a:p>
                  </a:txBody>
                  <a:tcPr/>
                </a:tc>
                <a:tc>
                  <a:txBody>
                    <a:bodyPr/>
                    <a:lstStyle/>
                    <a:p>
                      <a:r>
                        <a:rPr lang="en-US" altLang="zh-TW" sz="2800" dirty="0" smtClean="0">
                          <a:solidFill>
                            <a:schemeClr val="tx1"/>
                          </a:solidFill>
                        </a:rPr>
                        <a:t>7</a:t>
                      </a:r>
                      <a:endParaRPr lang="zh-TW" altLang="en-US" sz="2800" dirty="0">
                        <a:solidFill>
                          <a:schemeClr val="tx1"/>
                        </a:solidFill>
                      </a:endParaRPr>
                    </a:p>
                  </a:txBody>
                  <a:tcPr/>
                </a:tc>
                <a:tc>
                  <a:txBody>
                    <a:bodyPr/>
                    <a:lstStyle/>
                    <a:p>
                      <a:r>
                        <a:rPr lang="en-US" altLang="zh-TW" sz="2800" dirty="0" smtClean="0">
                          <a:solidFill>
                            <a:schemeClr val="tx1"/>
                          </a:solidFill>
                        </a:rPr>
                        <a:t>8</a:t>
                      </a:r>
                      <a:endParaRPr lang="zh-TW" altLang="en-US" sz="2800" dirty="0">
                        <a:solidFill>
                          <a:schemeClr val="tx1"/>
                        </a:solidFill>
                      </a:endParaRPr>
                    </a:p>
                  </a:txBody>
                  <a:tcPr/>
                </a:tc>
                <a:tc>
                  <a:txBody>
                    <a:bodyPr/>
                    <a:lstStyle/>
                    <a:p>
                      <a:r>
                        <a:rPr lang="en-US" altLang="zh-TW" sz="2800" dirty="0" smtClean="0">
                          <a:solidFill>
                            <a:schemeClr val="tx1"/>
                          </a:solidFill>
                        </a:rPr>
                        <a:t>9</a:t>
                      </a:r>
                      <a:endParaRPr lang="zh-TW" altLang="en-US" sz="2800" dirty="0">
                        <a:solidFill>
                          <a:schemeClr val="tx1"/>
                        </a:solidFill>
                      </a:endParaRPr>
                    </a:p>
                  </a:txBody>
                  <a:tcPr/>
                </a:tc>
                <a:tc>
                  <a:txBody>
                    <a:bodyPr/>
                    <a:lstStyle/>
                    <a:p>
                      <a:r>
                        <a:rPr lang="en-US" altLang="zh-TW" sz="2800" dirty="0" smtClean="0">
                          <a:solidFill>
                            <a:schemeClr val="tx1"/>
                          </a:solidFill>
                        </a:rPr>
                        <a:t>10</a:t>
                      </a:r>
                      <a:endParaRPr lang="zh-TW" altLang="en-US" sz="2800" dirty="0">
                        <a:solidFill>
                          <a:schemeClr val="tx1"/>
                        </a:solidFill>
                      </a:endParaRPr>
                    </a:p>
                  </a:txBody>
                  <a:tcPr/>
                </a:tc>
              </a:tr>
              <a:tr h="576191">
                <a:tc>
                  <a:txBody>
                    <a:bodyPr/>
                    <a:lstStyle/>
                    <a:p>
                      <a:endParaRPr lang="zh-TW" altLang="en-US" sz="2800" dirty="0"/>
                    </a:p>
                  </a:txBody>
                  <a:tcPr/>
                </a:tc>
                <a:tc>
                  <a:txBody>
                    <a:bodyPr/>
                    <a:lstStyle/>
                    <a:p>
                      <a:r>
                        <a:rPr lang="en-US" altLang="zh-TW" sz="2800" dirty="0" smtClean="0">
                          <a:solidFill>
                            <a:srgbClr val="FF0000"/>
                          </a:solidFill>
                        </a:rPr>
                        <a:t>a</a:t>
                      </a:r>
                      <a:endParaRPr lang="zh-TW" altLang="en-US" sz="2800" dirty="0">
                        <a:solidFill>
                          <a:srgbClr val="FF0000"/>
                        </a:solidFill>
                      </a:endParaRPr>
                    </a:p>
                  </a:txBody>
                  <a:tcPr/>
                </a:tc>
                <a:tc>
                  <a:txBody>
                    <a:bodyPr/>
                    <a:lstStyle/>
                    <a:p>
                      <a:r>
                        <a:rPr lang="en-US" altLang="zh-TW" sz="2800" dirty="0" smtClean="0">
                          <a:solidFill>
                            <a:schemeClr val="tx1"/>
                          </a:solidFill>
                        </a:rPr>
                        <a:t>t</a:t>
                      </a:r>
                      <a:endParaRPr lang="zh-TW" altLang="en-US" sz="2800" dirty="0">
                        <a:solidFill>
                          <a:schemeClr val="tx1"/>
                        </a:solidFill>
                      </a:endParaRPr>
                    </a:p>
                  </a:txBody>
                  <a:tcPr/>
                </a:tc>
                <a:tc>
                  <a:txBody>
                    <a:bodyPr/>
                    <a:lstStyle/>
                    <a:p>
                      <a:r>
                        <a:rPr lang="en-US" altLang="zh-TW" sz="2800" dirty="0" smtClean="0">
                          <a:solidFill>
                            <a:srgbClr val="FF0000"/>
                          </a:solidFill>
                        </a:rPr>
                        <a:t>c</a:t>
                      </a:r>
                      <a:endParaRPr lang="zh-TW" altLang="en-US" sz="2800" dirty="0">
                        <a:solidFill>
                          <a:srgbClr val="FF0000"/>
                        </a:solidFill>
                      </a:endParaRPr>
                    </a:p>
                  </a:txBody>
                  <a:tcPr/>
                </a:tc>
                <a:tc>
                  <a:txBody>
                    <a:bodyPr/>
                    <a:lstStyle/>
                    <a:p>
                      <a:r>
                        <a:rPr lang="en-US" altLang="zh-TW" sz="2800" dirty="0" smtClean="0">
                          <a:solidFill>
                            <a:srgbClr val="FF0000"/>
                          </a:solidFill>
                        </a:rPr>
                        <a:t>a</a:t>
                      </a:r>
                      <a:endParaRPr lang="zh-TW" altLang="en-US" sz="2800" dirty="0">
                        <a:solidFill>
                          <a:srgbClr val="FF0000"/>
                        </a:solidFill>
                      </a:endParaRPr>
                    </a:p>
                  </a:txBody>
                  <a:tcPr/>
                </a:tc>
                <a:tc>
                  <a:txBody>
                    <a:bodyPr/>
                    <a:lstStyle/>
                    <a:p>
                      <a:r>
                        <a:rPr lang="en-US" altLang="zh-TW" sz="2800" dirty="0" smtClean="0">
                          <a:solidFill>
                            <a:srgbClr val="FF0000"/>
                          </a:solidFill>
                        </a:rPr>
                        <a:t>t</a:t>
                      </a:r>
                      <a:endParaRPr lang="zh-TW" altLang="en-US" sz="2800" dirty="0">
                        <a:solidFill>
                          <a:srgbClr val="FF0000"/>
                        </a:solidFill>
                      </a:endParaRPr>
                    </a:p>
                  </a:txBody>
                  <a:tcPr/>
                </a:tc>
                <a:tc>
                  <a:txBody>
                    <a:bodyPr/>
                    <a:lstStyle/>
                    <a:p>
                      <a:r>
                        <a:rPr lang="en-US" altLang="zh-TW" sz="2800" dirty="0" smtClean="0">
                          <a:solidFill>
                            <a:schemeClr val="tx1"/>
                          </a:solidFill>
                        </a:rPr>
                        <a:t>a</a:t>
                      </a:r>
                      <a:endParaRPr lang="zh-TW" altLang="en-US" sz="2800" dirty="0">
                        <a:solidFill>
                          <a:schemeClr val="tx1"/>
                        </a:solidFill>
                      </a:endParaRPr>
                    </a:p>
                  </a:txBody>
                  <a:tcPr/>
                </a:tc>
                <a:tc>
                  <a:txBody>
                    <a:bodyPr/>
                    <a:lstStyle/>
                    <a:p>
                      <a:r>
                        <a:rPr lang="en-US" altLang="zh-TW" sz="2800" dirty="0" smtClean="0">
                          <a:solidFill>
                            <a:schemeClr val="tx1"/>
                          </a:solidFill>
                        </a:rPr>
                        <a:t>t</a:t>
                      </a:r>
                      <a:endParaRPr lang="zh-TW" altLang="en-US" sz="2800" dirty="0">
                        <a:solidFill>
                          <a:schemeClr val="tx1"/>
                        </a:solidFill>
                      </a:endParaRPr>
                    </a:p>
                  </a:txBody>
                  <a:tcPr/>
                </a:tc>
                <a:tc>
                  <a:txBody>
                    <a:bodyPr/>
                    <a:lstStyle/>
                    <a:p>
                      <a:r>
                        <a:rPr lang="en-US" altLang="zh-TW" sz="2800" dirty="0" smtClean="0">
                          <a:solidFill>
                            <a:schemeClr val="tx1"/>
                          </a:solidFill>
                        </a:rPr>
                        <a:t>g</a:t>
                      </a:r>
                      <a:endParaRPr lang="zh-TW" altLang="en-US" sz="2800" dirty="0">
                        <a:solidFill>
                          <a:schemeClr val="tx1"/>
                        </a:solidFill>
                      </a:endParaRPr>
                    </a:p>
                  </a:txBody>
                  <a:tcPr/>
                </a:tc>
                <a:tc>
                  <a:txBody>
                    <a:bodyPr/>
                    <a:lstStyle/>
                    <a:p>
                      <a:r>
                        <a:rPr lang="en-US" altLang="zh-TW" sz="2800" dirty="0" smtClean="0">
                          <a:solidFill>
                            <a:schemeClr val="tx1"/>
                          </a:solidFill>
                        </a:rPr>
                        <a:t>a</a:t>
                      </a:r>
                      <a:endParaRPr lang="zh-TW" altLang="en-US" sz="2800" dirty="0">
                        <a:solidFill>
                          <a:schemeClr val="tx1"/>
                        </a:solidFill>
                      </a:endParaRPr>
                    </a:p>
                  </a:txBody>
                  <a:tcPr/>
                </a:tc>
                <a:tc>
                  <a:txBody>
                    <a:bodyPr/>
                    <a:lstStyle/>
                    <a:p>
                      <a:r>
                        <a:rPr lang="en-US" altLang="zh-TW" sz="2800" dirty="0" smtClean="0">
                          <a:solidFill>
                            <a:schemeClr val="tx1"/>
                          </a:solidFill>
                        </a:rPr>
                        <a:t>g</a:t>
                      </a:r>
                      <a:endParaRPr lang="zh-TW" altLang="en-US" sz="2800" dirty="0">
                        <a:solidFill>
                          <a:schemeClr val="tx1"/>
                        </a:solidFill>
                      </a:endParaRPr>
                    </a:p>
                  </a:txBody>
                  <a:tcPr/>
                </a:tc>
              </a:tr>
              <a:tr h="576191">
                <a:tc>
                  <a:txBody>
                    <a:bodyPr/>
                    <a:lstStyle/>
                    <a:p>
                      <a:r>
                        <a:rPr lang="en-US" altLang="zh-TW" sz="2800" dirty="0" smtClean="0"/>
                        <a:t>1(t)</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5</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7</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r>
              <a:tr h="576191">
                <a:tc>
                  <a:txBody>
                    <a:bodyPr/>
                    <a:lstStyle/>
                    <a:p>
                      <a:r>
                        <a:rPr lang="en-US" altLang="zh-TW" sz="2800" dirty="0" smtClean="0"/>
                        <a:t>2(a)</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4</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6</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r>
              <a:tr h="576191">
                <a:tc>
                  <a:txBody>
                    <a:bodyPr/>
                    <a:lstStyle/>
                    <a:p>
                      <a:r>
                        <a:rPr lang="en-US" altLang="zh-TW" sz="2800" dirty="0" smtClean="0"/>
                        <a:t>3(c)</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3</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3</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r>
              <a:tr h="576191">
                <a:tc>
                  <a:txBody>
                    <a:bodyPr/>
                    <a:lstStyle/>
                    <a:p>
                      <a:r>
                        <a:rPr lang="en-US" altLang="zh-TW" sz="2800" dirty="0" smtClean="0"/>
                        <a:t>4(a)</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solidFill>
                            <a:srgbClr val="FF0000"/>
                          </a:solidFill>
                        </a:rPr>
                        <a:t>1</a:t>
                      </a:r>
                      <a:endParaRPr lang="zh-TW" altLang="en-US" sz="2800" dirty="0">
                        <a:solidFill>
                          <a:srgbClr val="FF0000"/>
                        </a:solidFill>
                      </a:endParaRPr>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c>
                  <a:txBody>
                    <a:bodyPr/>
                    <a:lstStyle/>
                    <a:p>
                      <a:r>
                        <a:rPr lang="en-US" altLang="zh-TW" sz="2800" dirty="0" smtClean="0"/>
                        <a:t>-1</a:t>
                      </a:r>
                      <a:endParaRPr lang="zh-TW" altLang="en-US" sz="2800" dirty="0"/>
                    </a:p>
                  </a:txBody>
                  <a:tcPr/>
                </a:tc>
              </a:tr>
              <a:tr h="576191">
                <a:tc>
                  <a:txBody>
                    <a:bodyPr/>
                    <a:lstStyle/>
                    <a:p>
                      <a:r>
                        <a:rPr lang="en-US" altLang="zh-TW" sz="2800" dirty="0" smtClean="0"/>
                        <a:t>5(-)</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t>0</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t>0</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t>-2</a:t>
                      </a:r>
                      <a:endParaRPr lang="zh-TW" altLang="en-US" sz="2800" dirty="0"/>
                    </a:p>
                  </a:txBody>
                  <a:tcPr/>
                </a:tc>
                <a:tc>
                  <a:txBody>
                    <a:bodyPr/>
                    <a:lstStyle/>
                    <a:p>
                      <a:r>
                        <a:rPr lang="en-US" altLang="zh-TW" sz="2800" dirty="0" smtClean="0"/>
                        <a:t>-2</a:t>
                      </a:r>
                      <a:endParaRPr lang="zh-TW" altLang="en-US" sz="2800" dirty="0"/>
                    </a:p>
                  </a:txBody>
                  <a:tcPr/>
                </a:tc>
              </a:tr>
            </a:tbl>
          </a:graphicData>
        </a:graphic>
      </p:graphicFrame>
      <p:sp>
        <p:nvSpPr>
          <p:cNvPr id="3" name="投影片編號版面配置區 2"/>
          <p:cNvSpPr>
            <a:spLocks noGrp="1"/>
          </p:cNvSpPr>
          <p:nvPr>
            <p:ph type="sldNum" sz="quarter" idx="12"/>
          </p:nvPr>
        </p:nvSpPr>
        <p:spPr/>
        <p:txBody>
          <a:bodyPr/>
          <a:lstStyle/>
          <a:p>
            <a:fld id="{330A07AD-B17D-49DB-BE0E-80C763BA8716}" type="slidenum">
              <a:rPr lang="zh-TW" altLang="en-US" smtClean="0"/>
              <a:pPr/>
              <a:t>19</a:t>
            </a:fld>
            <a:endParaRPr lang="zh-TW" altLang="en-US"/>
          </a:p>
        </p:txBody>
      </p:sp>
    </p:spTree>
    <p:extLst>
      <p:ext uri="{BB962C8B-B14F-4D97-AF65-F5344CB8AC3E}">
        <p14:creationId xmlns:p14="http://schemas.microsoft.com/office/powerpoint/2010/main" xmlns="" val="4163273548"/>
      </p:ext>
    </p:extLst>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4000" dirty="0"/>
              <a:t>Dynamic Programming Formula for </a:t>
            </a:r>
            <a:r>
              <a:rPr lang="en-US" altLang="zh-TW" sz="4000" dirty="0" smtClean="0"/>
              <a:t>Overlapping </a:t>
            </a:r>
            <a:r>
              <a:rPr lang="en-US" altLang="zh-TW" sz="4000" dirty="0"/>
              <a:t>SSCLCS</a:t>
            </a:r>
            <a:endParaRPr lang="zh-TW" altLang="en-US" sz="4000" dirty="0"/>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0809" y="4961628"/>
            <a:ext cx="9036496" cy="19237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3"/>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t="12328"/>
          <a:stretch/>
        </p:blipFill>
        <p:spPr bwMode="auto">
          <a:xfrm>
            <a:off x="77803" y="2110154"/>
            <a:ext cx="8958693" cy="23989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文字方塊 5"/>
          <p:cNvSpPr txBox="1"/>
          <p:nvPr/>
        </p:nvSpPr>
        <p:spPr>
          <a:xfrm>
            <a:off x="1475656" y="1480997"/>
            <a:ext cx="2355132" cy="584775"/>
          </a:xfrm>
          <a:prstGeom prst="rect">
            <a:avLst/>
          </a:prstGeom>
          <a:noFill/>
        </p:spPr>
        <p:txBody>
          <a:bodyPr wrap="none" rtlCol="0">
            <a:spAutoFit/>
          </a:bodyPr>
          <a:lstStyle/>
          <a:p>
            <a:r>
              <a:rPr lang="en-US" altLang="zh-TW" sz="3200" i="1" dirty="0" smtClean="0"/>
              <a:t>k </a:t>
            </a:r>
            <a:r>
              <a:rPr lang="en-US" altLang="zh-TW" sz="3200" dirty="0" smtClean="0"/>
              <a:t>= 0</a:t>
            </a:r>
            <a:r>
              <a:rPr lang="en-US" altLang="zh-TW" sz="3200" i="1" dirty="0" smtClean="0"/>
              <a:t> </a:t>
            </a:r>
            <a:r>
              <a:rPr lang="en-US" altLang="zh-TW" sz="3200" dirty="0" smtClean="0"/>
              <a:t>or</a:t>
            </a:r>
            <a:r>
              <a:rPr lang="en-US" altLang="zh-TW" sz="3200" i="1" dirty="0" smtClean="0"/>
              <a:t> k </a:t>
            </a:r>
            <a:r>
              <a:rPr lang="en-US" altLang="zh-TW" sz="3200" dirty="0" smtClean="0"/>
              <a:t>= 1</a:t>
            </a:r>
          </a:p>
        </p:txBody>
      </p:sp>
      <p:sp>
        <p:nvSpPr>
          <p:cNvPr id="7" name="文字方塊 6"/>
          <p:cNvSpPr txBox="1"/>
          <p:nvPr/>
        </p:nvSpPr>
        <p:spPr>
          <a:xfrm>
            <a:off x="1547664" y="4500409"/>
            <a:ext cx="1010213" cy="584775"/>
          </a:xfrm>
          <a:prstGeom prst="rect">
            <a:avLst/>
          </a:prstGeom>
          <a:noFill/>
        </p:spPr>
        <p:txBody>
          <a:bodyPr wrap="none" rtlCol="0">
            <a:spAutoFit/>
          </a:bodyPr>
          <a:lstStyle/>
          <a:p>
            <a:r>
              <a:rPr lang="en-US" altLang="zh-TW" sz="3200" i="1" dirty="0" smtClean="0"/>
              <a:t>k </a:t>
            </a:r>
            <a:r>
              <a:rPr lang="en-US" altLang="zh-TW" sz="3200" dirty="0" smtClean="0"/>
              <a:t>≥ 2</a:t>
            </a:r>
          </a:p>
        </p:txBody>
      </p:sp>
      <p:sp>
        <p:nvSpPr>
          <p:cNvPr id="3" name="投影片編號版面配置區 2"/>
          <p:cNvSpPr>
            <a:spLocks noGrp="1"/>
          </p:cNvSpPr>
          <p:nvPr>
            <p:ph type="sldNum" sz="quarter" idx="12"/>
          </p:nvPr>
        </p:nvSpPr>
        <p:spPr/>
        <p:txBody>
          <a:bodyPr/>
          <a:lstStyle/>
          <a:p>
            <a:fld id="{330A07AD-B17D-49DB-BE0E-80C763BA8716}" type="slidenum">
              <a:rPr lang="zh-TW" altLang="en-US" smtClean="0"/>
              <a:pPr/>
              <a:t>20</a:t>
            </a:fld>
            <a:endParaRPr lang="zh-TW" altLang="en-US"/>
          </a:p>
        </p:txBody>
      </p:sp>
      <p:cxnSp>
        <p:nvCxnSpPr>
          <p:cNvPr id="8" name="直線接點 7"/>
          <p:cNvCxnSpPr/>
          <p:nvPr/>
        </p:nvCxnSpPr>
        <p:spPr>
          <a:xfrm>
            <a:off x="2339752" y="6237312"/>
            <a:ext cx="352839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788800118"/>
      </p:ext>
    </p:extLst>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Outline</a:t>
            </a:r>
            <a:endParaRPr lang="zh-TW" altLang="en-US" dirty="0"/>
          </a:p>
        </p:txBody>
      </p:sp>
      <p:sp>
        <p:nvSpPr>
          <p:cNvPr id="2" name="內容版面配置區 1"/>
          <p:cNvSpPr>
            <a:spLocks noGrp="1"/>
          </p:cNvSpPr>
          <p:nvPr>
            <p:ph idx="1"/>
          </p:nvPr>
        </p:nvSpPr>
        <p:spPr/>
        <p:txBody>
          <a:bodyPr/>
          <a:lstStyle/>
          <a:p>
            <a:r>
              <a:rPr lang="en-US" altLang="zh-TW" dirty="0" smtClean="0"/>
              <a:t>Introduction</a:t>
            </a:r>
          </a:p>
          <a:p>
            <a:r>
              <a:rPr lang="en-US" altLang="zh-TW" dirty="0" smtClean="0"/>
              <a:t>Problem definition</a:t>
            </a:r>
          </a:p>
          <a:p>
            <a:r>
              <a:rPr lang="en-US" altLang="zh-TW" dirty="0" smtClean="0">
                <a:solidFill>
                  <a:srgbClr val="00B050"/>
                </a:solidFill>
              </a:rPr>
              <a:t>Conclusions</a:t>
            </a:r>
            <a:endParaRPr lang="zh-TW" altLang="en-US" dirty="0">
              <a:solidFill>
                <a:srgbClr val="00B050"/>
              </a:solidFill>
            </a:endParaRPr>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21</a:t>
            </a:fld>
            <a:endParaRPr lang="zh-TW" altLang="en-US"/>
          </a:p>
        </p:txBody>
      </p:sp>
    </p:spTree>
    <p:extLst>
      <p:ext uri="{BB962C8B-B14F-4D97-AF65-F5344CB8AC3E}">
        <p14:creationId xmlns:p14="http://schemas.microsoft.com/office/powerpoint/2010/main" xmlns="" val="3097483440"/>
      </p:ext>
    </p:extLst>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Conclusions (1/2)</a:t>
            </a:r>
            <a:endParaRPr lang="zh-TW" altLang="en-US" dirty="0"/>
          </a:p>
        </p:txBody>
      </p:sp>
      <p:sp>
        <p:nvSpPr>
          <p:cNvPr id="3" name="內容版面配置區 2"/>
          <p:cNvSpPr>
            <a:spLocks noGrp="1"/>
          </p:cNvSpPr>
          <p:nvPr>
            <p:ph idx="1"/>
          </p:nvPr>
        </p:nvSpPr>
        <p:spPr/>
        <p:txBody>
          <a:bodyPr/>
          <a:lstStyle/>
          <a:p>
            <a:r>
              <a:rPr lang="en-US" altLang="zh-TW" dirty="0" smtClean="0"/>
              <a:t>We proposed a new variant of the CLCS</a:t>
            </a:r>
            <a:r>
              <a:rPr lang="zh-TW" altLang="en-US" dirty="0" smtClean="0"/>
              <a:t> </a:t>
            </a:r>
            <a:r>
              <a:rPr lang="en-US" altLang="zh-TW" dirty="0" smtClean="0"/>
              <a:t>called the Sequential </a:t>
            </a:r>
            <a:r>
              <a:rPr lang="en-US" altLang="zh-TW" dirty="0"/>
              <a:t>S</a:t>
            </a:r>
            <a:r>
              <a:rPr lang="en-US" altLang="zh-TW" dirty="0" smtClean="0"/>
              <a:t>ubstring CLCS.</a:t>
            </a:r>
          </a:p>
          <a:p>
            <a:r>
              <a:rPr lang="en-US" altLang="zh-TW" dirty="0" smtClean="0"/>
              <a:t>For the case when the partitions can not overlap, we proposed an </a:t>
            </a:r>
            <a:r>
              <a:rPr lang="pt-BR" altLang="zh-TW" i="1" dirty="0"/>
              <a:t>O</a:t>
            </a:r>
            <a:r>
              <a:rPr lang="pt-BR" altLang="zh-TW" dirty="0"/>
              <a:t>(</a:t>
            </a:r>
            <a:r>
              <a:rPr lang="pt-BR" altLang="zh-TW" i="1" dirty="0"/>
              <a:t>mnl</a:t>
            </a:r>
            <a:r>
              <a:rPr lang="pt-BR" altLang="zh-TW" dirty="0"/>
              <a:t> + (</a:t>
            </a:r>
            <a:r>
              <a:rPr lang="pt-BR" altLang="zh-TW" i="1" dirty="0"/>
              <a:t>m</a:t>
            </a:r>
            <a:r>
              <a:rPr lang="pt-BR" altLang="zh-TW" dirty="0"/>
              <a:t>+ </a:t>
            </a:r>
            <a:r>
              <a:rPr lang="pt-BR" altLang="zh-TW" i="1" dirty="0"/>
              <a:t>n</a:t>
            </a:r>
            <a:r>
              <a:rPr lang="pt-BR" altLang="zh-TW" dirty="0" smtClean="0"/>
              <a:t>)(</a:t>
            </a:r>
            <a:r>
              <a:rPr lang="en-US" altLang="zh-TW" dirty="0" smtClean="0"/>
              <a:t>|</a:t>
            </a:r>
            <a:r>
              <a:rPr lang="el-GR" altLang="zh-TW" i="1" dirty="0"/>
              <a:t>Σ</a:t>
            </a:r>
            <a:r>
              <a:rPr lang="en-US" altLang="zh-TW" dirty="0"/>
              <a:t>|</a:t>
            </a:r>
            <a:r>
              <a:rPr lang="pt-BR" altLang="zh-TW" dirty="0" smtClean="0"/>
              <a:t>+ </a:t>
            </a:r>
            <a:r>
              <a:rPr lang="pt-BR" altLang="zh-TW" dirty="0"/>
              <a:t>r</a:t>
            </a:r>
            <a:r>
              <a:rPr lang="pt-BR" altLang="zh-TW" dirty="0" smtClean="0"/>
              <a:t>)) time </a:t>
            </a:r>
            <a:r>
              <a:rPr lang="en-US" altLang="zh-TW" dirty="0" smtClean="0"/>
              <a:t>algorithm.</a:t>
            </a:r>
          </a:p>
          <a:p>
            <a:r>
              <a:rPr lang="en-US" altLang="zh-TW" dirty="0"/>
              <a:t>For the case when the partitions </a:t>
            </a:r>
            <a:r>
              <a:rPr lang="en-US" altLang="zh-TW" dirty="0" smtClean="0"/>
              <a:t>can </a:t>
            </a:r>
            <a:r>
              <a:rPr lang="en-US" altLang="zh-TW" dirty="0"/>
              <a:t>overlap, we proposed an </a:t>
            </a:r>
            <a:r>
              <a:rPr lang="pt-BR" altLang="zh-TW" i="1" dirty="0" smtClean="0"/>
              <a:t>O</a:t>
            </a:r>
            <a:r>
              <a:rPr lang="pt-BR" altLang="zh-TW" dirty="0" smtClean="0"/>
              <a:t>(</a:t>
            </a:r>
            <a:r>
              <a:rPr lang="pt-BR" altLang="zh-TW" i="1" dirty="0" smtClean="0"/>
              <a:t>mnr</a:t>
            </a:r>
            <a:r>
              <a:rPr lang="pt-BR" altLang="zh-TW" dirty="0" smtClean="0"/>
              <a:t> </a:t>
            </a:r>
            <a:r>
              <a:rPr lang="pt-BR" altLang="zh-TW" dirty="0"/>
              <a:t>+ (</a:t>
            </a:r>
            <a:r>
              <a:rPr lang="pt-BR" altLang="zh-TW" i="1" dirty="0"/>
              <a:t>m</a:t>
            </a:r>
            <a:r>
              <a:rPr lang="pt-BR" altLang="zh-TW" dirty="0"/>
              <a:t>+ </a:t>
            </a:r>
            <a:r>
              <a:rPr lang="pt-BR" altLang="zh-TW" i="1" dirty="0"/>
              <a:t>n</a:t>
            </a:r>
            <a:r>
              <a:rPr lang="pt-BR" altLang="zh-TW" dirty="0"/>
              <a:t>)(</a:t>
            </a:r>
            <a:r>
              <a:rPr lang="en-US" altLang="zh-TW" dirty="0"/>
              <a:t>|</a:t>
            </a:r>
            <a:r>
              <a:rPr lang="el-GR" altLang="zh-TW" i="1" dirty="0"/>
              <a:t>Σ</a:t>
            </a:r>
            <a:r>
              <a:rPr lang="en-US" altLang="zh-TW" dirty="0"/>
              <a:t>|</a:t>
            </a:r>
            <a:r>
              <a:rPr lang="pt-BR" altLang="zh-TW" dirty="0"/>
              <a:t>+ r</a:t>
            </a:r>
            <a:r>
              <a:rPr lang="pt-BR" altLang="zh-TW"/>
              <a:t>)) </a:t>
            </a:r>
            <a:r>
              <a:rPr lang="pt-BR" altLang="zh-TW" smtClean="0"/>
              <a:t>time </a:t>
            </a:r>
            <a:r>
              <a:rPr lang="en-US" altLang="zh-TW" smtClean="0"/>
              <a:t>algorithm</a:t>
            </a:r>
            <a:r>
              <a:rPr lang="en-US" altLang="zh-TW" dirty="0" smtClean="0"/>
              <a:t>.</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22</a:t>
            </a:fld>
            <a:endParaRPr lang="zh-TW" altLang="en-US"/>
          </a:p>
        </p:txBody>
      </p:sp>
    </p:spTree>
    <p:extLst>
      <p:ext uri="{BB962C8B-B14F-4D97-AF65-F5344CB8AC3E}">
        <p14:creationId xmlns:p14="http://schemas.microsoft.com/office/powerpoint/2010/main" xmlns="" val="2378031297"/>
      </p:ext>
    </p:extLst>
  </p:cSld>
  <p:clrMapOvr>
    <a:masterClrMapping/>
  </p:clrMapOvr>
  <p:transition>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Conclusions (2/2)</a:t>
            </a:r>
            <a:endParaRPr lang="zh-TW" altLang="en-US" dirty="0"/>
          </a:p>
        </p:txBody>
      </p:sp>
      <p:sp>
        <p:nvSpPr>
          <p:cNvPr id="3" name="內容版面配置區 2"/>
          <p:cNvSpPr>
            <a:spLocks noGrp="1"/>
          </p:cNvSpPr>
          <p:nvPr>
            <p:ph idx="1"/>
          </p:nvPr>
        </p:nvSpPr>
        <p:spPr/>
        <p:txBody>
          <a:bodyPr/>
          <a:lstStyle/>
          <a:p>
            <a:r>
              <a:rPr lang="en-US" altLang="zh-TW" dirty="0" smtClean="0"/>
              <a:t>Our algorithm can be used to solve the string-inclusion CLCS with one or two constraint strings and </a:t>
            </a:r>
            <a:r>
              <a:rPr lang="en-US" altLang="zh-TW" dirty="0"/>
              <a:t>our algorithms </a:t>
            </a:r>
            <a:r>
              <a:rPr lang="en-US" altLang="zh-TW" dirty="0" smtClean="0"/>
              <a:t>achieve an </a:t>
            </a:r>
            <a:r>
              <a:rPr lang="en-US" altLang="zh-TW" dirty="0"/>
              <a:t>order improvement to the previous known algorithms </a:t>
            </a:r>
            <a:r>
              <a:rPr lang="en-US" altLang="zh-TW" dirty="0" smtClean="0"/>
              <a:t>by Chen </a:t>
            </a:r>
            <a:r>
              <a:rPr lang="en-US" altLang="zh-TW"/>
              <a:t>and </a:t>
            </a:r>
            <a:r>
              <a:rPr lang="en-US" altLang="zh-TW" smtClean="0"/>
              <a:t>Chao at 2009</a:t>
            </a:r>
            <a:r>
              <a:rPr lang="en-US" altLang="zh-TW" i="1" smtClean="0"/>
              <a:t>.</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23</a:t>
            </a:fld>
            <a:endParaRPr lang="zh-TW" altLang="en-US"/>
          </a:p>
        </p:txBody>
      </p:sp>
    </p:spTree>
    <p:extLst>
      <p:ext uri="{BB962C8B-B14F-4D97-AF65-F5344CB8AC3E}">
        <p14:creationId xmlns:p14="http://schemas.microsoft.com/office/powerpoint/2010/main" xmlns="" val="3072786721"/>
      </p:ext>
    </p:extLst>
  </p:cSld>
  <p:clrMapOvr>
    <a:masterClrMapping/>
  </p:clrMapOvr>
  <p:transition>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ctrTitle"/>
          </p:nvPr>
        </p:nvSpPr>
        <p:spPr/>
        <p:txBody>
          <a:bodyPr/>
          <a:lstStyle/>
          <a:p>
            <a:r>
              <a:rPr lang="en-US" altLang="zh-TW" dirty="0" smtClean="0"/>
              <a:t>BIBE</a:t>
            </a:r>
            <a:r>
              <a:rPr lang="zh-TW" altLang="en-US" dirty="0" smtClean="0"/>
              <a:t>參加心得</a:t>
            </a:r>
            <a:endParaRPr lang="zh-TW" altLang="en-US" dirty="0"/>
          </a:p>
        </p:txBody>
      </p:sp>
      <p:sp>
        <p:nvSpPr>
          <p:cNvPr id="6" name="副標題 5"/>
          <p:cNvSpPr>
            <a:spLocks noGrp="1"/>
          </p:cNvSpPr>
          <p:nvPr>
            <p:ph type="subTitle"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24</a:t>
            </a:fld>
            <a:endParaRPr lang="zh-TW" altLang="en-US"/>
          </a:p>
        </p:txBody>
      </p:sp>
    </p:spTree>
    <p:extLst>
      <p:ext uri="{BB962C8B-B14F-4D97-AF65-F5344CB8AC3E}">
        <p14:creationId xmlns:p14="http://schemas.microsoft.com/office/powerpoint/2010/main" xmlns="" val="3742564512"/>
      </p:ext>
    </p:extLst>
  </p:cSld>
  <p:clrMapOvr>
    <a:masterClrMapping/>
  </p:clrMapOvr>
  <p:transition>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Conference Venue</a:t>
            </a:r>
            <a:endParaRPr lang="zh-TW" altLang="en-US" dirty="0"/>
          </a:p>
        </p:txBody>
      </p:sp>
      <p:sp>
        <p:nvSpPr>
          <p:cNvPr id="3" name="內容版面配置區 2"/>
          <p:cNvSpPr>
            <a:spLocks noGrp="1"/>
          </p:cNvSpPr>
          <p:nvPr>
            <p:ph idx="1"/>
          </p:nvPr>
        </p:nvSpPr>
        <p:spPr/>
        <p:txBody>
          <a:bodyPr/>
          <a:lstStyle/>
          <a:p>
            <a:r>
              <a:rPr lang="zh-TW" altLang="en-US" dirty="0"/>
              <a:t>這次來參加</a:t>
            </a:r>
            <a:r>
              <a:rPr lang="en-US" altLang="zh-TW" dirty="0"/>
              <a:t>BIBE2011</a:t>
            </a:r>
            <a:r>
              <a:rPr lang="zh-TW" altLang="en-US" dirty="0"/>
              <a:t>研討會學到的一個</a:t>
            </a:r>
            <a:r>
              <a:rPr lang="zh-TW" altLang="en-US" dirty="0" smtClean="0"/>
              <a:t>詞</a:t>
            </a:r>
            <a:r>
              <a:rPr lang="en-US" altLang="zh-TW" dirty="0" smtClean="0"/>
              <a:t>“Conference Venue”</a:t>
            </a:r>
            <a:r>
              <a:rPr lang="zh-TW" altLang="en-US" dirty="0" smtClean="0"/>
              <a:t>，</a:t>
            </a:r>
            <a:r>
              <a:rPr lang="zh-TW" altLang="en-US" dirty="0"/>
              <a:t>這個詞的意思是研討會舉辦的</a:t>
            </a:r>
            <a:r>
              <a:rPr lang="zh-TW" altLang="en-US" dirty="0" smtClean="0"/>
              <a:t>地方</a:t>
            </a:r>
            <a:endParaRPr lang="en-US" altLang="zh-TW" dirty="0" smtClean="0"/>
          </a:p>
          <a:p>
            <a:r>
              <a:rPr lang="zh-TW" altLang="en-US" dirty="0" smtClean="0"/>
              <a:t>原本</a:t>
            </a:r>
            <a:r>
              <a:rPr lang="zh-TW" altLang="en-US" dirty="0"/>
              <a:t>看到</a:t>
            </a:r>
            <a:r>
              <a:rPr lang="en-US" altLang="zh-TW" dirty="0"/>
              <a:t>BIBE</a:t>
            </a:r>
            <a:r>
              <a:rPr lang="zh-TW" altLang="en-US" dirty="0"/>
              <a:t>的網站想說</a:t>
            </a:r>
            <a:r>
              <a:rPr lang="zh-TW" altLang="en-US" dirty="0" smtClean="0"/>
              <a:t>那是合作</a:t>
            </a:r>
            <a:r>
              <a:rPr lang="zh-TW" altLang="en-US" dirty="0"/>
              <a:t>的飯店，也沒有去</a:t>
            </a:r>
            <a:r>
              <a:rPr lang="zh-TW" altLang="en-US" dirty="0" smtClean="0"/>
              <a:t>查字典，仍然以為研討會在亞洲大學辦，結果當天早上花了一個半鐘頭從高鐵站台中站到亞洲大學，到的時候剛好九點，剛好是第一場</a:t>
            </a:r>
            <a:r>
              <a:rPr lang="en-US" altLang="zh-TW" dirty="0" smtClean="0"/>
              <a:t>keynote</a:t>
            </a:r>
            <a:r>
              <a:rPr lang="zh-TW" altLang="en-US" dirty="0" smtClean="0"/>
              <a:t>的開始時間。</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25</a:t>
            </a:fld>
            <a:endParaRPr lang="zh-TW" altLang="en-US"/>
          </a:p>
        </p:txBody>
      </p:sp>
    </p:spTree>
    <p:extLst>
      <p:ext uri="{BB962C8B-B14F-4D97-AF65-F5344CB8AC3E}">
        <p14:creationId xmlns:p14="http://schemas.microsoft.com/office/powerpoint/2010/main" xmlns="" val="3123820611"/>
      </p:ext>
    </p:extLst>
  </p:cSld>
  <p:clrMapOvr>
    <a:masterClrMapping/>
  </p:clrMapOvr>
  <p:transition>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Conference Venue</a:t>
            </a:r>
            <a:endParaRPr lang="zh-TW" altLang="en-US" dirty="0"/>
          </a:p>
        </p:txBody>
      </p:sp>
      <p:sp>
        <p:nvSpPr>
          <p:cNvPr id="3" name="內容版面配置區 2"/>
          <p:cNvSpPr>
            <a:spLocks noGrp="1"/>
          </p:cNvSpPr>
          <p:nvPr>
            <p:ph idx="1"/>
          </p:nvPr>
        </p:nvSpPr>
        <p:spPr/>
        <p:txBody>
          <a:bodyPr/>
          <a:lstStyle/>
          <a:p>
            <a:r>
              <a:rPr lang="zh-TW" altLang="en-US" dirty="0" smtClean="0"/>
              <a:t>結果又花了一個小時找到怎麼到金典酒店，花了一個小時從亞洲大學到金典酒店。</a:t>
            </a:r>
            <a:endParaRPr lang="en-US" altLang="zh-TW" dirty="0" smtClean="0"/>
          </a:p>
          <a:p>
            <a:r>
              <a:rPr lang="zh-TW" altLang="en-US" dirty="0"/>
              <a:t>中午吃飯的時候才發現同桌的四個學生有三個都跟我一樣跑</a:t>
            </a:r>
            <a:r>
              <a:rPr lang="zh-TW" altLang="en-US" dirty="0" smtClean="0"/>
              <a:t>到亞洲</a:t>
            </a:r>
            <a:r>
              <a:rPr lang="zh-TW" altLang="en-US" dirty="0"/>
              <a:t>大學才又回到金典，其中一位同學說他要從亞洲大學回程的時候還碰到兩個住在金典的同學坐計程車到亞洲大學剛下車，問他研討會會場怎麼</a:t>
            </a:r>
            <a:r>
              <a:rPr lang="zh-TW" altLang="en-US" dirty="0" smtClean="0"/>
              <a:t>走。</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26</a:t>
            </a:fld>
            <a:endParaRPr lang="zh-TW" altLang="en-US"/>
          </a:p>
        </p:txBody>
      </p:sp>
    </p:spTree>
    <p:extLst>
      <p:ext uri="{BB962C8B-B14F-4D97-AF65-F5344CB8AC3E}">
        <p14:creationId xmlns:p14="http://schemas.microsoft.com/office/powerpoint/2010/main" xmlns="" val="965167808"/>
      </p:ext>
    </p:extLst>
  </p:cSld>
  <p:clrMapOvr>
    <a:masterClrMapping/>
  </p:clrMapOvr>
  <p:transition>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Pseudo Amino Acid Composition</a:t>
            </a:r>
            <a:endParaRPr lang="zh-TW" altLang="en-US" dirty="0"/>
          </a:p>
        </p:txBody>
      </p:sp>
      <p:sp>
        <p:nvSpPr>
          <p:cNvPr id="3" name="內容版面配置區 2"/>
          <p:cNvSpPr>
            <a:spLocks noGrp="1"/>
          </p:cNvSpPr>
          <p:nvPr>
            <p:ph idx="1"/>
          </p:nvPr>
        </p:nvSpPr>
        <p:spPr/>
        <p:txBody>
          <a:bodyPr/>
          <a:lstStyle/>
          <a:p>
            <a:r>
              <a:rPr lang="en-US" altLang="zh-TW" dirty="0">
                <a:hlinkClick r:id="rId2"/>
              </a:rPr>
              <a:t>http://</a:t>
            </a:r>
            <a:r>
              <a:rPr lang="en-US" altLang="zh-TW" dirty="0" smtClean="0">
                <a:hlinkClick r:id="rId2"/>
              </a:rPr>
              <a:t>en.wikipedia.org/wiki/Pseudo_amino_acid_composition</a:t>
            </a:r>
            <a:r>
              <a:rPr lang="en-US" altLang="zh-TW" dirty="0" smtClean="0"/>
              <a:t> </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27</a:t>
            </a:fld>
            <a:endParaRPr lang="zh-TW" altLang="en-US"/>
          </a:p>
        </p:txBody>
      </p:sp>
      <p:pic>
        <p:nvPicPr>
          <p:cNvPr id="3074" name="Picture 2" descr="O:\照片\20111024-26 BIBE2011&amp;台中亂逛\BIBE2011\IMG_2426.JPG"/>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21400" t="37502" r="26331" b="12652"/>
          <a:stretch/>
        </p:blipFill>
        <p:spPr bwMode="auto">
          <a:xfrm>
            <a:off x="2195736" y="2564904"/>
            <a:ext cx="5760640" cy="41201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45148792"/>
      </p:ext>
    </p:extLst>
  </p:cSld>
  <p:clrMapOvr>
    <a:masterClrMapping/>
  </p:clrMapOvr>
  <p:transition>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R</a:t>
            </a:r>
            <a:r>
              <a:rPr lang="en-US" altLang="zh-TW" dirty="0" smtClean="0"/>
              <a:t>elative Contribution </a:t>
            </a:r>
            <a:r>
              <a:rPr lang="en-US" altLang="zh-TW" dirty="0"/>
              <a:t>to </a:t>
            </a:r>
            <a:r>
              <a:rPr lang="en-US" altLang="zh-TW" dirty="0" smtClean="0"/>
              <a:t>Variability </a:t>
            </a:r>
            <a:r>
              <a:rPr lang="en-US" altLang="zh-TW" dirty="0"/>
              <a:t>E</a:t>
            </a:r>
            <a:r>
              <a:rPr lang="en-US" altLang="zh-TW" dirty="0" smtClean="0"/>
              <a:t>xplained</a:t>
            </a:r>
            <a:endParaRPr lang="zh-TW" altLang="en-US" dirty="0"/>
          </a:p>
        </p:txBody>
      </p:sp>
      <p:sp>
        <p:nvSpPr>
          <p:cNvPr id="3" name="內容版面配置區 2"/>
          <p:cNvSpPr>
            <a:spLocks noGrp="1"/>
          </p:cNvSpPr>
          <p:nvPr>
            <p:ph idx="1"/>
          </p:nvPr>
        </p:nvSpPr>
        <p:spPr>
          <a:xfrm>
            <a:off x="1435608" y="2924944"/>
            <a:ext cx="7498080" cy="3323456"/>
          </a:xfrm>
        </p:spPr>
        <p:txBody>
          <a:bodyPr/>
          <a:lstStyle/>
          <a:p>
            <a:r>
              <a:rPr lang="en-US" altLang="zh-TW" dirty="0"/>
              <a:t>where </a:t>
            </a:r>
            <a:r>
              <a:rPr lang="en-US" altLang="zh-TW" dirty="0" smtClean="0"/>
              <a:t>      and            stand </a:t>
            </a:r>
            <a:r>
              <a:rPr lang="en-US" altLang="zh-TW" dirty="0"/>
              <a:t>for the R</a:t>
            </a:r>
            <a:r>
              <a:rPr lang="en-US" altLang="zh-TW" baseline="30000" dirty="0"/>
              <a:t>2</a:t>
            </a:r>
            <a:r>
              <a:rPr lang="en-US" altLang="zh-TW" dirty="0"/>
              <a:t> value of the full model (which includes all of the analyzed genomic features) and in a reduced model, respectively. A reduced model was established by removing one genomic feature of interest.</a:t>
            </a:r>
            <a:endParaRPr lang="zh-TW" altLang="en-US" dirty="0"/>
          </a:p>
        </p:txBody>
      </p:sp>
      <p:sp>
        <p:nvSpPr>
          <p:cNvPr id="4" name="投影片編號版面配置區 3"/>
          <p:cNvSpPr>
            <a:spLocks noGrp="1"/>
          </p:cNvSpPr>
          <p:nvPr>
            <p:ph type="sldNum" sz="quarter" idx="12"/>
          </p:nvPr>
        </p:nvSpPr>
        <p:spPr/>
        <p:txBody>
          <a:bodyPr/>
          <a:lstStyle/>
          <a:p>
            <a:fld id="{330A07AD-B17D-49DB-BE0E-80C763BA8716}" type="slidenum">
              <a:rPr lang="zh-TW" altLang="en-US" smtClean="0"/>
              <a:pPr/>
              <a:t>28</a:t>
            </a:fld>
            <a:endParaRPr lang="zh-TW" altLang="en-US"/>
          </a:p>
        </p:txBody>
      </p:sp>
      <p:pic>
        <p:nvPicPr>
          <p:cNvPr id="4098" name="Picture 2" descr="http://www.biomedcentral.com/content/inline/1471-2105-12-S9-S3-i3.gif"/>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55776" y="1628800"/>
            <a:ext cx="4152942" cy="1296144"/>
          </a:xfrm>
          <a:prstGeom prst="rect">
            <a:avLst/>
          </a:prstGeom>
          <a:noFill/>
          <a:extLst>
            <a:ext uri="{909E8E84-426E-40DD-AFC4-6F175D3DCCD1}">
              <a14:hiddenFill xmlns:a14="http://schemas.microsoft.com/office/drawing/2010/main" xmlns="">
                <a:solidFill>
                  <a:srgbClr val="FFFFFF"/>
                </a:solidFill>
              </a14:hiddenFill>
            </a:ext>
          </a:extLst>
        </p:spPr>
      </p:pic>
      <p:pic>
        <p:nvPicPr>
          <p:cNvPr id="4100" name="Picture 4" descr="http://www.biomedcentral.com/content/inline/1471-2105-12-S9-S3-i4.gif"/>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914461" y="2924944"/>
            <a:ext cx="649427" cy="541189"/>
          </a:xfrm>
          <a:prstGeom prst="rect">
            <a:avLst/>
          </a:prstGeom>
          <a:noFill/>
          <a:extLst>
            <a:ext uri="{909E8E84-426E-40DD-AFC4-6F175D3DCCD1}">
              <a14:hiddenFill xmlns:a14="http://schemas.microsoft.com/office/drawing/2010/main" xmlns="">
                <a:solidFill>
                  <a:srgbClr val="FFFFFF"/>
                </a:solidFill>
              </a14:hiddenFill>
            </a:ext>
          </a:extLst>
        </p:spPr>
      </p:pic>
      <p:pic>
        <p:nvPicPr>
          <p:cNvPr id="4102" name="Picture 6" descr="http://www.biomedcentral.com/content/inline/1471-2105-12-S9-S3-i5.gif"/>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28539" y="2996952"/>
            <a:ext cx="1135549" cy="49804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345330940"/>
      </p:ext>
    </p:extLst>
  </p:cSld>
  <p:clrMapOvr>
    <a:masterClrMapping/>
  </p:clrMapOvr>
  <p:transition>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Thank You for Listening</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099" name="Picture 3" descr="C:\Program Files\Microsoft Office\MEDIA\CAGCAT10\j0195812.wmf"/>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03234" y="1556792"/>
            <a:ext cx="4459235" cy="4586986"/>
          </a:xfrm>
          <a:prstGeom prst="rect">
            <a:avLst/>
          </a:prstGeom>
          <a:noFill/>
          <a:extLst>
            <a:ext uri="{909E8E84-426E-40DD-AFC4-6F175D3DCCD1}">
              <a14:hiddenFill xmlns:a14="http://schemas.microsoft.com/office/drawing/2010/main" xmlns="">
                <a:solidFill>
                  <a:srgbClr val="FFFFFF"/>
                </a:solidFill>
              </a14:hiddenFill>
            </a:ext>
          </a:extLst>
        </p:spPr>
      </p:pic>
      <p:sp>
        <p:nvSpPr>
          <p:cNvPr id="4" name="投影片編號版面配置區 3"/>
          <p:cNvSpPr>
            <a:spLocks noGrp="1"/>
          </p:cNvSpPr>
          <p:nvPr>
            <p:ph type="sldNum" sz="quarter" idx="12"/>
          </p:nvPr>
        </p:nvSpPr>
        <p:spPr/>
        <p:txBody>
          <a:bodyPr/>
          <a:lstStyle/>
          <a:p>
            <a:fld id="{330A07AD-B17D-49DB-BE0E-80C763BA8716}" type="slidenum">
              <a:rPr lang="zh-TW" altLang="en-US" smtClean="0"/>
              <a:pPr/>
              <a:t>29</a:t>
            </a:fld>
            <a:endParaRPr lang="zh-TW" altLang="en-US"/>
          </a:p>
        </p:txBody>
      </p:sp>
    </p:spTree>
    <p:extLst>
      <p:ext uri="{BB962C8B-B14F-4D97-AF65-F5344CB8AC3E}">
        <p14:creationId xmlns:p14="http://schemas.microsoft.com/office/powerpoint/2010/main" xmlns="" val="1300719465"/>
      </p:ext>
    </p:extLst>
  </p:cSld>
  <p:clrMapOvr>
    <a:masterClrMapping/>
  </p:clrMapOvr>
  <p:transition>
    <p:cu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570</TotalTime>
  <Words>1786</Words>
  <Application>Microsoft Office PowerPoint</Application>
  <PresentationFormat>如螢幕大小 (4:3)</PresentationFormat>
  <Paragraphs>663</Paragraphs>
  <Slides>29</Slides>
  <Notes>23</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29</vt:i4>
      </vt:variant>
    </vt:vector>
  </HeadingPairs>
  <TitlesOfParts>
    <vt:vector size="31" baseType="lpstr">
      <vt:lpstr>夏至</vt:lpstr>
      <vt:lpstr>方程式</vt:lpstr>
      <vt:lpstr>Efficient Algorithms for the Longest Common Subsequence Problem with Sequential Substring Constraints</vt:lpstr>
      <vt:lpstr>Outline</vt:lpstr>
      <vt:lpstr>Longest Common Subsequence (LCS)</vt:lpstr>
      <vt:lpstr>Constrained Longest Common Subsequence (CLCS)</vt:lpstr>
      <vt:lpstr>Example for CLCS Algorithm</vt:lpstr>
      <vt:lpstr>Generalized CLCS</vt:lpstr>
      <vt:lpstr>Outline</vt:lpstr>
      <vt:lpstr>Sequential Substring Constrained Longest Common Subsequence (SSCLCS)</vt:lpstr>
      <vt:lpstr>Sequential Substring Constrained Longest Common Subsequence (SSCLCS)</vt:lpstr>
      <vt:lpstr>Non-Overlapping vs. Overlapping</vt:lpstr>
      <vt:lpstr>Theorem 1</vt:lpstr>
      <vt:lpstr>PreviousMatch Table</vt:lpstr>
      <vt:lpstr>PreviousMatch Table</vt:lpstr>
      <vt:lpstr> Table for Non-overlapping Variant</vt:lpstr>
      <vt:lpstr> Table for Non-overlapping Variant</vt:lpstr>
      <vt:lpstr>String Inclusion CLCS</vt:lpstr>
      <vt:lpstr>Dynamic Programming Formula for Non-overlapping SSCLCS</vt:lpstr>
      <vt:lpstr>Difference in Overlapping Variant</vt:lpstr>
      <vt:lpstr> Table for Overlapping Variant</vt:lpstr>
      <vt:lpstr>Dynamic Programming Formula for Overlapping SSCLCS</vt:lpstr>
      <vt:lpstr>Outline</vt:lpstr>
      <vt:lpstr>Conclusions (1/2)</vt:lpstr>
      <vt:lpstr>Conclusions (2/2)</vt:lpstr>
      <vt:lpstr>BIBE參加心得</vt:lpstr>
      <vt:lpstr>Conference Venue</vt:lpstr>
      <vt:lpstr>Conference Venue</vt:lpstr>
      <vt:lpstr>Pseudo Amino Acid Composition</vt:lpstr>
      <vt:lpstr>Relative Contribution to Variability Explained</vt:lpstr>
      <vt:lpstr>Thank You for Listening</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Algorithms for the Longest Common Subsequence Problem with Sequential Substring Constraints</dc:title>
  <dc:creator>ab</dc:creator>
  <cp:lastModifiedBy>Guest</cp:lastModifiedBy>
  <cp:revision>46</cp:revision>
  <cp:lastPrinted>2011-10-25T03:24:07Z</cp:lastPrinted>
  <dcterms:created xsi:type="dcterms:W3CDTF">2011-10-22T14:41:31Z</dcterms:created>
  <dcterms:modified xsi:type="dcterms:W3CDTF">2011-10-31T12:52:27Z</dcterms:modified>
</cp:coreProperties>
</file>