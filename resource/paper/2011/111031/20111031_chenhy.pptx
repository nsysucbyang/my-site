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345" r:id="rId4"/>
    <p:sldId id="293" r:id="rId5"/>
    <p:sldId id="350" r:id="rId6"/>
    <p:sldId id="352" r:id="rId7"/>
    <p:sldId id="353" r:id="rId8"/>
    <p:sldId id="364" r:id="rId9"/>
    <p:sldId id="354" r:id="rId10"/>
    <p:sldId id="355" r:id="rId11"/>
    <p:sldId id="356" r:id="rId12"/>
    <p:sldId id="357" r:id="rId13"/>
    <p:sldId id="358" r:id="rId14"/>
    <p:sldId id="359" r:id="rId15"/>
    <p:sldId id="360" r:id="rId16"/>
    <p:sldId id="361" r:id="rId17"/>
    <p:sldId id="362" r:id="rId18"/>
    <p:sldId id="363" r:id="rId19"/>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Calibri" pitchFamily="34" charset="0"/>
        <a:ea typeface="新細明體" charset="-120"/>
        <a:cs typeface="+mn-cs"/>
      </a:defRPr>
    </a:lvl1pPr>
    <a:lvl2pPr marL="457200" algn="l" rtl="0" fontAlgn="base">
      <a:spcBef>
        <a:spcPct val="0"/>
      </a:spcBef>
      <a:spcAft>
        <a:spcPct val="0"/>
      </a:spcAft>
      <a:defRPr kumimoji="1" kern="1200">
        <a:solidFill>
          <a:schemeClr val="tx1"/>
        </a:solidFill>
        <a:latin typeface="Calibri" pitchFamily="34" charset="0"/>
        <a:ea typeface="新細明體" charset="-120"/>
        <a:cs typeface="+mn-cs"/>
      </a:defRPr>
    </a:lvl2pPr>
    <a:lvl3pPr marL="914400" algn="l" rtl="0" fontAlgn="base">
      <a:spcBef>
        <a:spcPct val="0"/>
      </a:spcBef>
      <a:spcAft>
        <a:spcPct val="0"/>
      </a:spcAft>
      <a:defRPr kumimoji="1" kern="1200">
        <a:solidFill>
          <a:schemeClr val="tx1"/>
        </a:solidFill>
        <a:latin typeface="Calibri" pitchFamily="34" charset="0"/>
        <a:ea typeface="新細明體" charset="-120"/>
        <a:cs typeface="+mn-cs"/>
      </a:defRPr>
    </a:lvl3pPr>
    <a:lvl4pPr marL="1371600" algn="l" rtl="0" fontAlgn="base">
      <a:spcBef>
        <a:spcPct val="0"/>
      </a:spcBef>
      <a:spcAft>
        <a:spcPct val="0"/>
      </a:spcAft>
      <a:defRPr kumimoji="1" kern="1200">
        <a:solidFill>
          <a:schemeClr val="tx1"/>
        </a:solidFill>
        <a:latin typeface="Calibri" pitchFamily="34" charset="0"/>
        <a:ea typeface="新細明體" charset="-120"/>
        <a:cs typeface="+mn-cs"/>
      </a:defRPr>
    </a:lvl4pPr>
    <a:lvl5pPr marL="1828800" algn="l" rtl="0" fontAlgn="base">
      <a:spcBef>
        <a:spcPct val="0"/>
      </a:spcBef>
      <a:spcAft>
        <a:spcPct val="0"/>
      </a:spcAft>
      <a:defRPr kumimoji="1" kern="1200">
        <a:solidFill>
          <a:schemeClr val="tx1"/>
        </a:solidFill>
        <a:latin typeface="Calibri" pitchFamily="34" charset="0"/>
        <a:ea typeface="新細明體" charset="-120"/>
        <a:cs typeface="+mn-cs"/>
      </a:defRPr>
    </a:lvl5pPr>
    <a:lvl6pPr marL="2286000" algn="l" defTabSz="914400" rtl="0" eaLnBrk="1" latinLnBrk="0" hangingPunct="1">
      <a:defRPr kumimoji="1" kern="1200">
        <a:solidFill>
          <a:schemeClr val="tx1"/>
        </a:solidFill>
        <a:latin typeface="Calibri" pitchFamily="34" charset="0"/>
        <a:ea typeface="新細明體" charset="-120"/>
        <a:cs typeface="+mn-cs"/>
      </a:defRPr>
    </a:lvl6pPr>
    <a:lvl7pPr marL="2743200" algn="l" defTabSz="914400" rtl="0" eaLnBrk="1" latinLnBrk="0" hangingPunct="1">
      <a:defRPr kumimoji="1" kern="1200">
        <a:solidFill>
          <a:schemeClr val="tx1"/>
        </a:solidFill>
        <a:latin typeface="Calibri" pitchFamily="34" charset="0"/>
        <a:ea typeface="新細明體" charset="-120"/>
        <a:cs typeface="+mn-cs"/>
      </a:defRPr>
    </a:lvl7pPr>
    <a:lvl8pPr marL="3200400" algn="l" defTabSz="914400" rtl="0" eaLnBrk="1" latinLnBrk="0" hangingPunct="1">
      <a:defRPr kumimoji="1" kern="1200">
        <a:solidFill>
          <a:schemeClr val="tx1"/>
        </a:solidFill>
        <a:latin typeface="Calibri" pitchFamily="34" charset="0"/>
        <a:ea typeface="新細明體" charset="-120"/>
        <a:cs typeface="+mn-cs"/>
      </a:defRPr>
    </a:lvl8pPr>
    <a:lvl9pPr marL="3657600" algn="l" defTabSz="914400" rtl="0" eaLnBrk="1" latinLnBrk="0" hangingPunct="1">
      <a:defRPr kumimoji="1" kern="1200">
        <a:solidFill>
          <a:schemeClr val="tx1"/>
        </a:solidFill>
        <a:latin typeface="Calibri" pitchFamily="34"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48" autoAdjust="0"/>
    <p:restoredTop sz="81784" autoAdjust="0"/>
  </p:normalViewPr>
  <p:slideViewPr>
    <p:cSldViewPr>
      <p:cViewPr varScale="1">
        <p:scale>
          <a:sx n="107" d="100"/>
          <a:sy n="107" d="100"/>
        </p:scale>
        <p:origin x="-78"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6EA5F3-94E4-4F7A-AC07-FCE66639B35A}" type="datetimeFigureOut">
              <a:rPr lang="zh-TW" altLang="en-US" smtClean="0"/>
              <a:t>2011/11/2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75A31A-74A8-4798-85F1-ED8970345F52}" type="slidenum">
              <a:rPr lang="zh-TW" altLang="en-US" smtClean="0"/>
              <a:t>‹#›</a:t>
            </a:fld>
            <a:endParaRPr lang="zh-TW" altLang="en-US"/>
          </a:p>
        </p:txBody>
      </p:sp>
    </p:spTree>
    <p:extLst>
      <p:ext uri="{BB962C8B-B14F-4D97-AF65-F5344CB8AC3E}">
        <p14:creationId xmlns:p14="http://schemas.microsoft.com/office/powerpoint/2010/main" val="2860301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pPr>
              <a:defRPr/>
            </a:pPr>
            <a:fld id="{F7A87D0A-8D72-4A12-B6F4-2D70E9050589}" type="datetimeFigureOut">
              <a:rPr lang="zh-TW" altLang="en-US"/>
              <a:pPr>
                <a:defRPr/>
              </a:pPr>
              <a:t>2011/11/2</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5484CF82-A9AE-4268-9497-FFC67A3ADAAC}" type="slidenum">
              <a:rPr lang="zh-TW" altLang="en-US"/>
              <a:pPr>
                <a:defRPr/>
              </a:pPr>
              <a:t>‹#›</a:t>
            </a:fld>
            <a:endParaRPr lang="zh-TW" altLang="en-US"/>
          </a:p>
        </p:txBody>
      </p:sp>
    </p:spTree>
    <p:extLst>
      <p:ext uri="{BB962C8B-B14F-4D97-AF65-F5344CB8AC3E}">
        <p14:creationId xmlns:p14="http://schemas.microsoft.com/office/powerpoint/2010/main" val="8801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25304AF-B224-4445-9AE4-B7650C7B3616}" type="datetimeFigureOut">
              <a:rPr lang="zh-TW" altLang="en-US"/>
              <a:pPr>
                <a:defRPr/>
              </a:pPr>
              <a:t>2011/11/2</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162FDB3-9A8C-4355-8F1B-1FD935E6DAEE}" type="slidenum">
              <a:rPr lang="zh-TW" altLang="en-US"/>
              <a:pPr>
                <a:defRPr/>
              </a:pPr>
              <a:t>‹#›</a:t>
            </a:fld>
            <a:endParaRPr lang="zh-TW" altLang="en-US"/>
          </a:p>
        </p:txBody>
      </p:sp>
    </p:spTree>
    <p:extLst>
      <p:ext uri="{BB962C8B-B14F-4D97-AF65-F5344CB8AC3E}">
        <p14:creationId xmlns:p14="http://schemas.microsoft.com/office/powerpoint/2010/main" val="1200150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FD8DB94C-87E5-4077-BC91-73AF7E8169C3}" type="datetimeFigureOut">
              <a:rPr lang="zh-TW" altLang="en-US"/>
              <a:pPr>
                <a:defRPr/>
              </a:pPr>
              <a:t>2011/11/2</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87E59EC-7354-4DDD-9A8A-310C296ACDEB}" type="slidenum">
              <a:rPr lang="zh-TW" altLang="en-US"/>
              <a:pPr>
                <a:defRPr/>
              </a:pPr>
              <a:t>‹#›</a:t>
            </a:fld>
            <a:endParaRPr lang="zh-TW" altLang="en-US"/>
          </a:p>
        </p:txBody>
      </p:sp>
    </p:spTree>
    <p:extLst>
      <p:ext uri="{BB962C8B-B14F-4D97-AF65-F5344CB8AC3E}">
        <p14:creationId xmlns:p14="http://schemas.microsoft.com/office/powerpoint/2010/main" val="22191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a:lvl1pPr>
          </a:lstStyle>
          <a:p>
            <a:pPr>
              <a:defRPr/>
            </a:pPr>
            <a:fld id="{FF610FB1-0584-4237-8E45-15165FF7CB9F}" type="datetimeFigureOut">
              <a:rPr lang="zh-TW" altLang="en-US"/>
              <a:pPr>
                <a:defRPr/>
              </a:pPr>
              <a:t>2011/11/2</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37B5203F-7F56-456C-9DFC-64E25C44A7B3}" type="slidenum">
              <a:rPr lang="zh-TW" altLang="en-US"/>
              <a:pPr>
                <a:defRPr/>
              </a:pPr>
              <a:t>‹#›</a:t>
            </a:fld>
            <a:endParaRPr lang="zh-TW" altLang="en-US"/>
          </a:p>
        </p:txBody>
      </p:sp>
    </p:spTree>
    <p:extLst>
      <p:ext uri="{BB962C8B-B14F-4D97-AF65-F5344CB8AC3E}">
        <p14:creationId xmlns:p14="http://schemas.microsoft.com/office/powerpoint/2010/main" val="1025980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a:lvl1pPr>
          </a:lstStyle>
          <a:p>
            <a:pPr>
              <a:defRPr/>
            </a:pPr>
            <a:fld id="{EDEB2774-9042-48AC-B3CE-D46C5BDDDE0D}" type="datetimeFigureOut">
              <a:rPr lang="zh-TW" altLang="en-US"/>
              <a:pPr>
                <a:defRPr/>
              </a:pPr>
              <a:t>2011/11/2</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BCFE3F07-97A7-4CEE-B190-0EAA322A0DC2}" type="slidenum">
              <a:rPr lang="zh-TW" altLang="en-US"/>
              <a:pPr>
                <a:defRPr/>
              </a:pPr>
              <a:t>‹#›</a:t>
            </a:fld>
            <a:endParaRPr lang="zh-TW" altLang="en-US"/>
          </a:p>
        </p:txBody>
      </p:sp>
    </p:spTree>
    <p:extLst>
      <p:ext uri="{BB962C8B-B14F-4D97-AF65-F5344CB8AC3E}">
        <p14:creationId xmlns:p14="http://schemas.microsoft.com/office/powerpoint/2010/main" val="3198583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a:lvl1pPr>
          </a:lstStyle>
          <a:p>
            <a:pPr>
              <a:defRPr/>
            </a:pPr>
            <a:fld id="{977D4F32-C364-42C1-BF55-D8FDA76BAE3B}" type="datetimeFigureOut">
              <a:rPr lang="zh-TW" altLang="en-US"/>
              <a:pPr>
                <a:defRPr/>
              </a:pPr>
              <a:t>2011/11/2</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39A6D154-E159-48B9-A6F3-81EB04F3AB56}" type="slidenum">
              <a:rPr lang="zh-TW" altLang="en-US"/>
              <a:pPr>
                <a:defRPr/>
              </a:pPr>
              <a:t>‹#›</a:t>
            </a:fld>
            <a:endParaRPr lang="zh-TW" altLang="en-US"/>
          </a:p>
        </p:txBody>
      </p:sp>
    </p:spTree>
    <p:extLst>
      <p:ext uri="{BB962C8B-B14F-4D97-AF65-F5344CB8AC3E}">
        <p14:creationId xmlns:p14="http://schemas.microsoft.com/office/powerpoint/2010/main" val="13449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9B6CDC56-C89D-4BE5-A649-0F8DEB867E2F}" type="datetimeFigureOut">
              <a:rPr lang="zh-TW" altLang="en-US"/>
              <a:pPr>
                <a:defRPr/>
              </a:pPr>
              <a:t>2011/11/2</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E7424784-AD13-4080-BFAC-BA75534B03CD}" type="slidenum">
              <a:rPr lang="zh-TW" altLang="en-US"/>
              <a:pPr>
                <a:defRPr/>
              </a:pPr>
              <a:t>‹#›</a:t>
            </a:fld>
            <a:endParaRPr lang="zh-TW" altLang="en-US"/>
          </a:p>
        </p:txBody>
      </p:sp>
    </p:spTree>
    <p:extLst>
      <p:ext uri="{BB962C8B-B14F-4D97-AF65-F5344CB8AC3E}">
        <p14:creationId xmlns:p14="http://schemas.microsoft.com/office/powerpoint/2010/main" val="3398553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C49742AE-97D1-4875-8D42-3FF228F75098}" type="datetimeFigureOut">
              <a:rPr lang="zh-TW" altLang="en-US"/>
              <a:pPr>
                <a:defRPr/>
              </a:pPr>
              <a:t>2011/11/2</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9C4585D6-6A74-4F5F-A10A-39A26C80B83C}" type="slidenum">
              <a:rPr lang="zh-TW" altLang="en-US"/>
              <a:pPr>
                <a:defRPr/>
              </a:pPr>
              <a:t>‹#›</a:t>
            </a:fld>
            <a:endParaRPr lang="zh-TW" altLang="en-US"/>
          </a:p>
        </p:txBody>
      </p:sp>
    </p:spTree>
    <p:extLst>
      <p:ext uri="{BB962C8B-B14F-4D97-AF65-F5344CB8AC3E}">
        <p14:creationId xmlns:p14="http://schemas.microsoft.com/office/powerpoint/2010/main" val="963948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63B01E2E-6A5F-4CA5-908E-A19C356BF55C}" type="datetimeFigureOut">
              <a:rPr lang="zh-TW" altLang="en-US"/>
              <a:pPr>
                <a:defRPr/>
              </a:pPr>
              <a:t>2011/11/2</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9900A074-4C14-4B45-944F-53D0B7706B90}" type="slidenum">
              <a:rPr lang="zh-TW" altLang="en-US"/>
              <a:pPr>
                <a:defRPr/>
              </a:pPr>
              <a:t>‹#›</a:t>
            </a:fld>
            <a:endParaRPr lang="zh-TW" altLang="en-US"/>
          </a:p>
        </p:txBody>
      </p:sp>
    </p:spTree>
    <p:extLst>
      <p:ext uri="{BB962C8B-B14F-4D97-AF65-F5344CB8AC3E}">
        <p14:creationId xmlns:p14="http://schemas.microsoft.com/office/powerpoint/2010/main" val="115382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5A8F2A4D-44B9-4DBC-836F-FD98F3AF9BFF}" type="datetimeFigureOut">
              <a:rPr lang="zh-TW" altLang="en-US"/>
              <a:pPr>
                <a:defRPr/>
              </a:pPr>
              <a:t>2011/11/2</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2CCA295C-7F92-4711-840D-EE26E104FC6E}" type="slidenum">
              <a:rPr lang="zh-TW" altLang="en-US"/>
              <a:pPr>
                <a:defRPr/>
              </a:pPr>
              <a:t>‹#›</a:t>
            </a:fld>
            <a:endParaRPr lang="zh-TW" altLang="en-US"/>
          </a:p>
        </p:txBody>
      </p:sp>
    </p:spTree>
    <p:extLst>
      <p:ext uri="{BB962C8B-B14F-4D97-AF65-F5344CB8AC3E}">
        <p14:creationId xmlns:p14="http://schemas.microsoft.com/office/powerpoint/2010/main" val="3748311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6319B6A-84D4-4391-B7E5-706DC8F093D5}" type="datetimeFigureOut">
              <a:rPr lang="zh-TW" altLang="en-US"/>
              <a:pPr>
                <a:defRPr/>
              </a:pPr>
              <a:t>2011/11/2</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F0F181AC-B57B-4E63-A225-FD07A1E9EC56}" type="slidenum">
              <a:rPr lang="zh-TW" altLang="en-US"/>
              <a:pPr>
                <a:defRPr/>
              </a:pPr>
              <a:t>‹#›</a:t>
            </a:fld>
            <a:endParaRPr lang="zh-TW" altLang="en-US"/>
          </a:p>
        </p:txBody>
      </p:sp>
    </p:spTree>
    <p:extLst>
      <p:ext uri="{BB962C8B-B14F-4D97-AF65-F5344CB8AC3E}">
        <p14:creationId xmlns:p14="http://schemas.microsoft.com/office/powerpoint/2010/main" val="1656833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文字版面配置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1">
                    <a:tint val="75000"/>
                  </a:schemeClr>
                </a:solidFill>
                <a:latin typeface="+mn-lt"/>
                <a:ea typeface="+mn-ea"/>
              </a:defRPr>
            </a:lvl1pPr>
          </a:lstStyle>
          <a:p>
            <a:pPr>
              <a:defRPr/>
            </a:pPr>
            <a:fld id="{208C5AD4-FB66-4C86-AB8D-D984E889BCC6}" type="datetimeFigureOut">
              <a:rPr lang="zh-TW" altLang="en-US"/>
              <a:pPr>
                <a:defRPr/>
              </a:pPr>
              <a:t>2011/11/2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a:solidFill>
                  <a:schemeClr val="tx1">
                    <a:tint val="75000"/>
                  </a:schemeClr>
                </a:solidFill>
                <a:latin typeface="+mn-lt"/>
                <a:ea typeface="+mn-ea"/>
              </a:defRPr>
            </a:lvl1pPr>
          </a:lstStyle>
          <a:p>
            <a:pPr>
              <a:defRPr/>
            </a:pPr>
            <a:fld id="{D0EDE5FD-EEE6-40C5-AF40-54426C020AFC}"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新細明體" charset="-120"/>
        </a:defRPr>
      </a:lvl2pPr>
      <a:lvl3pPr algn="ctr" rtl="0" eaLnBrk="0" fontAlgn="base" hangingPunct="0">
        <a:spcBef>
          <a:spcPct val="0"/>
        </a:spcBef>
        <a:spcAft>
          <a:spcPct val="0"/>
        </a:spcAft>
        <a:defRPr sz="4400">
          <a:solidFill>
            <a:schemeClr val="tx1"/>
          </a:solidFill>
          <a:latin typeface="Calibri" pitchFamily="34" charset="0"/>
          <a:ea typeface="新細明體" charset="-120"/>
        </a:defRPr>
      </a:lvl3pPr>
      <a:lvl4pPr algn="ctr" rtl="0" eaLnBrk="0" fontAlgn="base" hangingPunct="0">
        <a:spcBef>
          <a:spcPct val="0"/>
        </a:spcBef>
        <a:spcAft>
          <a:spcPct val="0"/>
        </a:spcAft>
        <a:defRPr sz="4400">
          <a:solidFill>
            <a:schemeClr val="tx1"/>
          </a:solidFill>
          <a:latin typeface="Calibri" pitchFamily="34" charset="0"/>
          <a:ea typeface="新細明體" charset="-120"/>
        </a:defRPr>
      </a:lvl4pPr>
      <a:lvl5pPr algn="ctr" rtl="0" eaLnBrk="0" fontAlgn="base" hangingPunct="0">
        <a:spcBef>
          <a:spcPct val="0"/>
        </a:spcBef>
        <a:spcAft>
          <a:spcPct val="0"/>
        </a:spcAft>
        <a:defRPr sz="4400">
          <a:solidFill>
            <a:schemeClr val="tx1"/>
          </a:solidFill>
          <a:latin typeface="Calibri" pitchFamily="34" charset="0"/>
          <a:ea typeface="新細明體"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標題 1"/>
          <p:cNvSpPr>
            <a:spLocks noGrp="1"/>
          </p:cNvSpPr>
          <p:nvPr>
            <p:ph type="ctrTitle"/>
          </p:nvPr>
        </p:nvSpPr>
        <p:spPr>
          <a:xfrm>
            <a:off x="395536" y="692150"/>
            <a:ext cx="8424936" cy="4681066"/>
          </a:xfrm>
        </p:spPr>
        <p:txBody>
          <a:bodyPr/>
          <a:lstStyle/>
          <a:p>
            <a:pPr eaLnBrk="1" hangingPunct="1"/>
            <a:r>
              <a:rPr lang="en-US" altLang="zh-TW" sz="4000" dirty="0">
                <a:latin typeface="Times New Roman" pitchFamily="18" charset="0"/>
                <a:ea typeface="DFKai-SB" pitchFamily="65" charset="-120"/>
                <a:cs typeface="Times New Roman" pitchFamily="18" charset="0"/>
              </a:rPr>
              <a:t>Disulfide Connectivity </a:t>
            </a:r>
            <a:r>
              <a:rPr lang="en-US" altLang="zh-TW" sz="4000" dirty="0" smtClean="0">
                <a:latin typeface="Times New Roman" pitchFamily="18" charset="0"/>
                <a:ea typeface="DFKai-SB" pitchFamily="65" charset="-120"/>
                <a:cs typeface="Times New Roman" pitchFamily="18" charset="0"/>
              </a:rPr>
              <a:t>Prediction with 70</a:t>
            </a:r>
            <a:r>
              <a:rPr lang="en-US" altLang="zh-TW" sz="4000" dirty="0">
                <a:latin typeface="Times New Roman" pitchFamily="18" charset="0"/>
                <a:ea typeface="DFKai-SB" pitchFamily="65" charset="-120"/>
                <a:cs typeface="Times New Roman" pitchFamily="18" charset="0"/>
              </a:rPr>
              <a:t>% </a:t>
            </a:r>
            <a:r>
              <a:rPr lang="en-US" altLang="zh-TW" sz="4000" dirty="0" smtClean="0">
                <a:latin typeface="Times New Roman" pitchFamily="18" charset="0"/>
                <a:ea typeface="DFKai-SB" pitchFamily="65" charset="-120"/>
                <a:cs typeface="Times New Roman" pitchFamily="18" charset="0"/>
              </a:rPr>
              <a:t>Accuracy Using Two-Level </a:t>
            </a:r>
            <a:r>
              <a:rPr lang="en-US" altLang="zh-TW" sz="4000" dirty="0">
                <a:latin typeface="Times New Roman" pitchFamily="18" charset="0"/>
                <a:ea typeface="DFKai-SB" pitchFamily="65" charset="-120"/>
                <a:cs typeface="Times New Roman" pitchFamily="18" charset="0"/>
              </a:rPr>
              <a:t>Models</a:t>
            </a:r>
            <a:r>
              <a:rPr lang="en-US" altLang="zh-TW" dirty="0" smtClean="0">
                <a:latin typeface="Times New Roman" pitchFamily="18" charset="0"/>
                <a:ea typeface="DFKai-SB" pitchFamily="65" charset="-120"/>
                <a:cs typeface="Times New Roman" pitchFamily="18" charset="0"/>
              </a:rPr>
              <a:t/>
            </a:r>
            <a:br>
              <a:rPr lang="en-US" altLang="zh-TW"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it-IT" altLang="zh-TW" sz="2400" dirty="0">
                <a:latin typeface="Times New Roman" pitchFamily="18" charset="0"/>
                <a:ea typeface="DFKai-SB" pitchFamily="65" charset="-120"/>
                <a:cs typeface="Times New Roman" pitchFamily="18" charset="0"/>
              </a:rPr>
              <a:t>Bo-Juen Chen</a:t>
            </a:r>
            <a:r>
              <a:rPr lang="it-IT" altLang="zh-TW" sz="2400" dirty="0" smtClean="0">
                <a:latin typeface="Times New Roman" pitchFamily="18" charset="0"/>
                <a:ea typeface="DFKai-SB" pitchFamily="65" charset="-120"/>
                <a:cs typeface="Times New Roman" pitchFamily="18" charset="0"/>
              </a:rPr>
              <a:t>, </a:t>
            </a:r>
            <a:r>
              <a:rPr lang="it-IT" altLang="zh-TW" sz="2400" dirty="0">
                <a:latin typeface="Times New Roman" pitchFamily="18" charset="0"/>
                <a:ea typeface="DFKai-SB" pitchFamily="65" charset="-120"/>
                <a:cs typeface="Times New Roman" pitchFamily="18" charset="0"/>
              </a:rPr>
              <a:t>Chi-Hung Tsai</a:t>
            </a:r>
            <a:r>
              <a:rPr lang="it-IT" altLang="zh-TW" sz="2400" dirty="0" smtClean="0">
                <a:latin typeface="Times New Roman" pitchFamily="18" charset="0"/>
                <a:ea typeface="DFKai-SB" pitchFamily="65" charset="-120"/>
                <a:cs typeface="Times New Roman" pitchFamily="18" charset="0"/>
              </a:rPr>
              <a:t>, </a:t>
            </a:r>
            <a:r>
              <a:rPr lang="it-IT" altLang="zh-TW" sz="2400" dirty="0">
                <a:latin typeface="Times New Roman" pitchFamily="18" charset="0"/>
                <a:ea typeface="DFKai-SB" pitchFamily="65" charset="-120"/>
                <a:cs typeface="Times New Roman" pitchFamily="18" charset="0"/>
              </a:rPr>
              <a:t>Chen-hsiung Chan</a:t>
            </a:r>
            <a:r>
              <a:rPr lang="it-IT" altLang="zh-TW" sz="2400" dirty="0" smtClean="0">
                <a:latin typeface="Times New Roman" pitchFamily="18" charset="0"/>
                <a:ea typeface="DFKai-SB" pitchFamily="65" charset="-120"/>
                <a:cs typeface="Times New Roman" pitchFamily="18" charset="0"/>
              </a:rPr>
              <a:t>, </a:t>
            </a:r>
            <a:br>
              <a:rPr lang="it-IT" altLang="zh-TW" sz="2400" dirty="0" smtClean="0">
                <a:latin typeface="Times New Roman" pitchFamily="18" charset="0"/>
                <a:ea typeface="DFKai-SB" pitchFamily="65" charset="-120"/>
                <a:cs typeface="Times New Roman" pitchFamily="18" charset="0"/>
              </a:rPr>
            </a:br>
            <a:r>
              <a:rPr lang="it-IT" altLang="zh-TW" sz="2400" dirty="0" smtClean="0">
                <a:latin typeface="Times New Roman" pitchFamily="18" charset="0"/>
                <a:ea typeface="DFKai-SB" pitchFamily="65" charset="-120"/>
                <a:cs typeface="Times New Roman" pitchFamily="18" charset="0"/>
              </a:rPr>
              <a:t>and </a:t>
            </a:r>
            <a:r>
              <a:rPr lang="it-IT" altLang="zh-TW" sz="2400" dirty="0">
                <a:latin typeface="Times New Roman" pitchFamily="18" charset="0"/>
                <a:ea typeface="DFKai-SB" pitchFamily="65" charset="-120"/>
                <a:cs typeface="Times New Roman" pitchFamily="18" charset="0"/>
              </a:rPr>
              <a:t>Cheng-Yan </a:t>
            </a:r>
            <a:r>
              <a:rPr lang="it-IT" altLang="zh-TW" sz="2400" dirty="0" smtClean="0">
                <a:latin typeface="Times New Roman" pitchFamily="18" charset="0"/>
                <a:ea typeface="DFKai-SB" pitchFamily="65" charset="-120"/>
                <a:cs typeface="Times New Roman" pitchFamily="18" charset="0"/>
              </a:rPr>
              <a:t>Kao</a:t>
            </a: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en-US" altLang="zh-TW" sz="2400" dirty="0">
                <a:latin typeface="Times New Roman" pitchFamily="18" charset="0"/>
                <a:ea typeface="DFKai-SB" pitchFamily="65" charset="-120"/>
                <a:cs typeface="Times New Roman" pitchFamily="18" charset="0"/>
              </a:rPr>
              <a:t/>
            </a:r>
            <a:br>
              <a:rPr lang="en-US" altLang="zh-TW" sz="2400" dirty="0">
                <a:latin typeface="Times New Roman" pitchFamily="18" charset="0"/>
                <a:ea typeface="DFKai-SB" pitchFamily="65" charset="-120"/>
                <a:cs typeface="Times New Roman" pitchFamily="18" charset="0"/>
              </a:rPr>
            </a:br>
            <a:r>
              <a:rPr lang="en-US" altLang="zh-TW" sz="2400" dirty="0">
                <a:latin typeface="Times New Roman" pitchFamily="18" charset="0"/>
                <a:ea typeface="DFKai-SB" pitchFamily="65" charset="-120"/>
                <a:cs typeface="Times New Roman" pitchFamily="18" charset="0"/>
              </a:rPr>
              <a:t>PROTEINS: Structure, Function, and </a:t>
            </a:r>
            <a:r>
              <a:rPr lang="en-US" altLang="zh-TW" sz="2400" dirty="0" smtClean="0">
                <a:latin typeface="Times New Roman" pitchFamily="18" charset="0"/>
                <a:ea typeface="DFKai-SB" pitchFamily="65" charset="-120"/>
                <a:cs typeface="Times New Roman" pitchFamily="18" charset="0"/>
              </a:rPr>
              <a:t>Bioinformatics, </a:t>
            </a:r>
            <a:br>
              <a:rPr lang="en-US" altLang="zh-TW" sz="2400"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Vol. 64, pp. 246–252, 2006</a:t>
            </a:r>
            <a:endParaRPr lang="zh-TW" altLang="en-US" sz="2200" dirty="0" smtClean="0">
              <a:latin typeface="Times New Roman" pitchFamily="18" charset="0"/>
              <a:ea typeface="DFKai-SB" pitchFamily="65" charset="-120"/>
              <a:cs typeface="Times New Roman" pitchFamily="18" charset="0"/>
            </a:endParaRPr>
          </a:p>
        </p:txBody>
      </p:sp>
      <p:sp>
        <p:nvSpPr>
          <p:cNvPr id="2051" name="副標題 2"/>
          <p:cNvSpPr>
            <a:spLocks noGrp="1"/>
          </p:cNvSpPr>
          <p:nvPr>
            <p:ph type="subTitle" idx="1"/>
          </p:nvPr>
        </p:nvSpPr>
        <p:spPr>
          <a:xfrm>
            <a:off x="1331913" y="5301208"/>
            <a:ext cx="6400800" cy="576064"/>
          </a:xfrm>
        </p:spPr>
        <p:txBody>
          <a:bodyPr/>
          <a:lstStyle/>
          <a:p>
            <a:pPr algn="r" eaLnBrk="1" hangingPunct="1"/>
            <a:r>
              <a:rPr lang="en-US" altLang="zh-TW" sz="2000" dirty="0" smtClean="0">
                <a:solidFill>
                  <a:schemeClr val="tx1"/>
                </a:solidFill>
                <a:latin typeface="Times New Roman" pitchFamily="18" charset="0"/>
                <a:ea typeface="DFKai-SB" pitchFamily="65" charset="-120"/>
                <a:cs typeface="Times New Roman" pitchFamily="18" charset="0"/>
              </a:rPr>
              <a:t>Presenter: Hong-Yu Chen</a:t>
            </a:r>
          </a:p>
          <a:p>
            <a:pPr algn="r" eaLnBrk="1" hangingPunct="1"/>
            <a:r>
              <a:rPr lang="en-US" altLang="zh-TW" sz="2000" dirty="0" smtClean="0">
                <a:solidFill>
                  <a:schemeClr val="tx1"/>
                </a:solidFill>
                <a:latin typeface="Times New Roman" pitchFamily="18" charset="0"/>
                <a:ea typeface="DFKai-SB" pitchFamily="65" charset="-120"/>
                <a:cs typeface="Times New Roman" pitchFamily="18" charset="0"/>
              </a:rPr>
              <a:t>Date: Oct. 31, 2011</a:t>
            </a:r>
            <a:endParaRPr lang="zh-TW" altLang="en-US" sz="2000" dirty="0" smtClean="0">
              <a:solidFill>
                <a:schemeClr val="tx1"/>
              </a:solidFill>
              <a:latin typeface="Times New Roman" pitchFamily="18" charset="0"/>
              <a:ea typeface="DFKai-SB" pitchFamily="65" charset="-12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pPr eaLnBrk="1" hangingPunct="1"/>
            <a:r>
              <a:rPr lang="en-US" altLang="zh-TW" dirty="0" smtClean="0">
                <a:latin typeface="Times New Roman" pitchFamily="18" charset="0"/>
                <a:ea typeface="DFKai-SB" pitchFamily="65" charset="-120"/>
                <a:cs typeface="Times New Roman" pitchFamily="18" charset="0"/>
              </a:rPr>
              <a:t>Abstract (1/2)</a:t>
            </a:r>
            <a:endParaRPr lang="zh-TW" altLang="en-US" dirty="0" smtClean="0">
              <a:latin typeface="Times New Roman" pitchFamily="18" charset="0"/>
              <a:ea typeface="DFKai-SB" pitchFamily="65" charset="-120"/>
              <a:cs typeface="Times New Roman" pitchFamily="18" charset="0"/>
            </a:endParaRPr>
          </a:p>
        </p:txBody>
      </p:sp>
      <p:sp>
        <p:nvSpPr>
          <p:cNvPr id="3075" name="內容版面配置區 2"/>
          <p:cNvSpPr>
            <a:spLocks noGrp="1"/>
          </p:cNvSpPr>
          <p:nvPr>
            <p:ph idx="1"/>
          </p:nvPr>
        </p:nvSpPr>
        <p:spPr/>
        <p:txBody>
          <a:bodyPr/>
          <a:lstStyle/>
          <a:p>
            <a:r>
              <a:rPr lang="en-US" altLang="zh-TW" sz="2500" dirty="0">
                <a:latin typeface="Times New Roman" pitchFamily="18" charset="0"/>
                <a:ea typeface="標楷體" pitchFamily="65" charset="-120"/>
                <a:cs typeface="Times New Roman" pitchFamily="18" charset="0"/>
              </a:rPr>
              <a:t>Disulfide bridges stabilize protein structures covalently and play an important role in protein folding. Predicting disulfide connectivity precisely helps towards the solution of protein structure prediction. Previous methods for disulfide connectivity prediction either infer the bonding potential of cysteine pairs or rank alternative disulfide bonding patterns. As a result, these methods encode data according to cysteine pairs (pair-wise) or disulfide bonding patterns (pattern-wise). However, </a:t>
            </a:r>
            <a:r>
              <a:rPr lang="en-US" altLang="zh-TW" sz="2500" dirty="0" smtClean="0">
                <a:latin typeface="Times New Roman" pitchFamily="18" charset="0"/>
                <a:ea typeface="標楷體" pitchFamily="65" charset="-120"/>
                <a:cs typeface="Times New Roman" pitchFamily="18" charset="0"/>
              </a:rPr>
              <a:t>using either </a:t>
            </a:r>
            <a:r>
              <a:rPr lang="en-US" altLang="zh-TW" sz="2500" dirty="0">
                <a:latin typeface="Times New Roman" pitchFamily="18" charset="0"/>
                <a:ea typeface="標楷體" pitchFamily="65" charset="-120"/>
                <a:cs typeface="Times New Roman" pitchFamily="18" charset="0"/>
              </a:rPr>
              <a:t>encoding scheme alone cannot fully </a:t>
            </a:r>
            <a:r>
              <a:rPr lang="en-US" altLang="zh-TW" sz="2500" dirty="0" smtClean="0">
                <a:latin typeface="Times New Roman" pitchFamily="18" charset="0"/>
                <a:ea typeface="標楷體" pitchFamily="65" charset="-120"/>
                <a:cs typeface="Times New Roman" pitchFamily="18" charset="0"/>
              </a:rPr>
              <a:t>utilize the </a:t>
            </a:r>
            <a:r>
              <a:rPr lang="en-US" altLang="zh-TW" sz="2500" dirty="0">
                <a:latin typeface="Times New Roman" pitchFamily="18" charset="0"/>
                <a:ea typeface="標楷體" pitchFamily="65" charset="-120"/>
                <a:cs typeface="Times New Roman" pitchFamily="18" charset="0"/>
              </a:rPr>
              <a:t>local and global information of proteins, </a:t>
            </a:r>
            <a:r>
              <a:rPr lang="en-US" altLang="zh-TW" sz="2500" dirty="0" smtClean="0">
                <a:latin typeface="Times New Roman" pitchFamily="18" charset="0"/>
                <a:ea typeface="標楷體" pitchFamily="65" charset="-120"/>
                <a:cs typeface="Times New Roman" pitchFamily="18" charset="0"/>
              </a:rPr>
              <a:t>so the </a:t>
            </a:r>
            <a:r>
              <a:rPr lang="en-US" altLang="zh-TW" sz="2500" dirty="0">
                <a:latin typeface="Times New Roman" pitchFamily="18" charset="0"/>
                <a:ea typeface="標楷體" pitchFamily="65" charset="-120"/>
                <a:cs typeface="Times New Roman" pitchFamily="18" charset="0"/>
              </a:rPr>
              <a:t>accuracies of previous methods are limited.</a:t>
            </a:r>
            <a:endParaRPr lang="zh-TW" altLang="en-US" sz="2500" dirty="0" smtClean="0">
              <a:latin typeface="Times New Roman" pitchFamily="18" charset="0"/>
              <a:ea typeface="標楷體" pitchFamily="65" charset="-12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pPr eaLnBrk="1" hangingPunct="1"/>
            <a:r>
              <a:rPr lang="en-US" altLang="zh-TW" dirty="0" smtClean="0">
                <a:latin typeface="Times New Roman" pitchFamily="18" charset="0"/>
                <a:ea typeface="DFKai-SB" pitchFamily="65" charset="-120"/>
                <a:cs typeface="Times New Roman" pitchFamily="18" charset="0"/>
              </a:rPr>
              <a:t>Abstract (2/2)</a:t>
            </a:r>
            <a:endParaRPr lang="zh-TW" altLang="en-US" dirty="0" smtClean="0">
              <a:latin typeface="Times New Roman" pitchFamily="18" charset="0"/>
              <a:ea typeface="DFKai-SB" pitchFamily="65" charset="-120"/>
              <a:cs typeface="Times New Roman" pitchFamily="18" charset="0"/>
            </a:endParaRPr>
          </a:p>
        </p:txBody>
      </p:sp>
      <p:sp>
        <p:nvSpPr>
          <p:cNvPr id="3075" name="內容版面配置區 2"/>
          <p:cNvSpPr>
            <a:spLocks noGrp="1"/>
          </p:cNvSpPr>
          <p:nvPr>
            <p:ph idx="1"/>
          </p:nvPr>
        </p:nvSpPr>
        <p:spPr/>
        <p:txBody>
          <a:bodyPr/>
          <a:lstStyle/>
          <a:p>
            <a:r>
              <a:rPr lang="en-US" altLang="zh-TW" sz="2500" dirty="0" smtClean="0">
                <a:latin typeface="Times New Roman" pitchFamily="18" charset="0"/>
                <a:ea typeface="標楷體" pitchFamily="65" charset="-120"/>
                <a:cs typeface="Times New Roman" pitchFamily="18" charset="0"/>
              </a:rPr>
              <a:t>In this </a:t>
            </a:r>
            <a:r>
              <a:rPr lang="en-US" altLang="zh-TW" sz="2500" dirty="0">
                <a:latin typeface="Times New Roman" pitchFamily="18" charset="0"/>
                <a:ea typeface="標楷體" pitchFamily="65" charset="-120"/>
                <a:cs typeface="Times New Roman" pitchFamily="18" charset="0"/>
              </a:rPr>
              <a:t>work, we propose a novel two-level </a:t>
            </a:r>
            <a:r>
              <a:rPr lang="en-US" altLang="zh-TW" sz="2500" dirty="0" smtClean="0">
                <a:latin typeface="Times New Roman" pitchFamily="18" charset="0"/>
                <a:ea typeface="標楷體" pitchFamily="65" charset="-120"/>
                <a:cs typeface="Times New Roman" pitchFamily="18" charset="0"/>
              </a:rPr>
              <a:t>framework to </a:t>
            </a:r>
            <a:r>
              <a:rPr lang="en-US" altLang="zh-TW" sz="2500" dirty="0">
                <a:latin typeface="Times New Roman" pitchFamily="18" charset="0"/>
                <a:ea typeface="標楷體" pitchFamily="65" charset="-120"/>
                <a:cs typeface="Times New Roman" pitchFamily="18" charset="0"/>
              </a:rPr>
              <a:t>predict disulfide connectivity. With this framework</a:t>
            </a:r>
            <a:r>
              <a:rPr lang="en-US" altLang="zh-TW" sz="2500" dirty="0" smtClean="0">
                <a:latin typeface="Times New Roman" pitchFamily="18" charset="0"/>
                <a:ea typeface="標楷體" pitchFamily="65" charset="-120"/>
                <a:cs typeface="Times New Roman" pitchFamily="18" charset="0"/>
              </a:rPr>
              <a:t>, both </a:t>
            </a:r>
            <a:r>
              <a:rPr lang="en-US" altLang="zh-TW" sz="2500" dirty="0">
                <a:latin typeface="Times New Roman" pitchFamily="18" charset="0"/>
                <a:ea typeface="標楷體" pitchFamily="65" charset="-120"/>
                <a:cs typeface="Times New Roman" pitchFamily="18" charset="0"/>
              </a:rPr>
              <a:t>the pair-wise and pattern-wise </a:t>
            </a:r>
            <a:r>
              <a:rPr lang="en-US" altLang="zh-TW" sz="2500" dirty="0" smtClean="0">
                <a:latin typeface="Times New Roman" pitchFamily="18" charset="0"/>
                <a:ea typeface="標楷體" pitchFamily="65" charset="-120"/>
                <a:cs typeface="Times New Roman" pitchFamily="18" charset="0"/>
              </a:rPr>
              <a:t>encoding schemes </a:t>
            </a:r>
            <a:r>
              <a:rPr lang="en-US" altLang="zh-TW" sz="2500" dirty="0">
                <a:latin typeface="Times New Roman" pitchFamily="18" charset="0"/>
                <a:ea typeface="標楷體" pitchFamily="65" charset="-120"/>
                <a:cs typeface="Times New Roman" pitchFamily="18" charset="0"/>
              </a:rPr>
              <a:t>are considered. Our models were </a:t>
            </a:r>
            <a:r>
              <a:rPr lang="en-US" altLang="zh-TW" sz="2500" dirty="0" smtClean="0">
                <a:latin typeface="Times New Roman" pitchFamily="18" charset="0"/>
                <a:ea typeface="標楷體" pitchFamily="65" charset="-120"/>
                <a:cs typeface="Times New Roman" pitchFamily="18" charset="0"/>
              </a:rPr>
              <a:t>validated on </a:t>
            </a:r>
            <a:r>
              <a:rPr lang="en-US" altLang="zh-TW" sz="2500" dirty="0">
                <a:latin typeface="Times New Roman" pitchFamily="18" charset="0"/>
                <a:ea typeface="標楷體" pitchFamily="65" charset="-120"/>
                <a:cs typeface="Times New Roman" pitchFamily="18" charset="0"/>
              </a:rPr>
              <a:t>the datasets derived from SWISS-PROT 39 </a:t>
            </a:r>
            <a:r>
              <a:rPr lang="en-US" altLang="zh-TW" sz="2500" dirty="0" smtClean="0">
                <a:latin typeface="Times New Roman" pitchFamily="18" charset="0"/>
                <a:ea typeface="標楷體" pitchFamily="65" charset="-120"/>
                <a:cs typeface="Times New Roman" pitchFamily="18" charset="0"/>
              </a:rPr>
              <a:t>and 43</a:t>
            </a:r>
            <a:r>
              <a:rPr lang="en-US" altLang="zh-TW" sz="2500" dirty="0">
                <a:latin typeface="Times New Roman" pitchFamily="18" charset="0"/>
                <a:ea typeface="標楷體" pitchFamily="65" charset="-120"/>
                <a:cs typeface="Times New Roman" pitchFamily="18" charset="0"/>
              </a:rPr>
              <a:t>, and the results demonstrate that our models </a:t>
            </a:r>
            <a:r>
              <a:rPr lang="en-US" altLang="zh-TW" sz="2500" dirty="0" smtClean="0">
                <a:latin typeface="Times New Roman" pitchFamily="18" charset="0"/>
                <a:ea typeface="標楷體" pitchFamily="65" charset="-120"/>
                <a:cs typeface="Times New Roman" pitchFamily="18" charset="0"/>
              </a:rPr>
              <a:t>can combine </a:t>
            </a:r>
            <a:r>
              <a:rPr lang="en-US" altLang="zh-TW" sz="2500" dirty="0">
                <a:latin typeface="Times New Roman" pitchFamily="18" charset="0"/>
                <a:ea typeface="標楷體" pitchFamily="65" charset="-120"/>
                <a:cs typeface="Times New Roman" pitchFamily="18" charset="0"/>
              </a:rPr>
              <a:t>both local and global information. </a:t>
            </a:r>
            <a:r>
              <a:rPr lang="en-US" altLang="zh-TW" sz="2500" dirty="0" smtClean="0">
                <a:latin typeface="Times New Roman" pitchFamily="18" charset="0"/>
                <a:ea typeface="標楷體" pitchFamily="65" charset="-120"/>
                <a:cs typeface="Times New Roman" pitchFamily="18" charset="0"/>
              </a:rPr>
              <a:t>Compared to </a:t>
            </a:r>
            <a:r>
              <a:rPr lang="en-US" altLang="zh-TW" sz="2500" dirty="0">
                <a:latin typeface="Times New Roman" pitchFamily="18" charset="0"/>
                <a:ea typeface="標楷體" pitchFamily="65" charset="-120"/>
                <a:cs typeface="Times New Roman" pitchFamily="18" charset="0"/>
              </a:rPr>
              <a:t>previous methods, significant </a:t>
            </a:r>
            <a:r>
              <a:rPr lang="en-US" altLang="zh-TW" sz="2500" dirty="0" smtClean="0">
                <a:latin typeface="Times New Roman" pitchFamily="18" charset="0"/>
                <a:ea typeface="標楷體" pitchFamily="65" charset="-120"/>
                <a:cs typeface="Times New Roman" pitchFamily="18" charset="0"/>
              </a:rPr>
              <a:t>improvements were </a:t>
            </a:r>
            <a:r>
              <a:rPr lang="en-US" altLang="zh-TW" sz="2500" dirty="0">
                <a:latin typeface="Times New Roman" pitchFamily="18" charset="0"/>
                <a:ea typeface="標楷體" pitchFamily="65" charset="-120"/>
                <a:cs typeface="Times New Roman" pitchFamily="18" charset="0"/>
              </a:rPr>
              <a:t>obtained by our models. Our work </a:t>
            </a:r>
            <a:r>
              <a:rPr lang="en-US" altLang="zh-TW" sz="2500" dirty="0" smtClean="0">
                <a:latin typeface="Times New Roman" pitchFamily="18" charset="0"/>
                <a:ea typeface="標楷體" pitchFamily="65" charset="-120"/>
                <a:cs typeface="Times New Roman" pitchFamily="18" charset="0"/>
              </a:rPr>
              <a:t>may also </a:t>
            </a:r>
            <a:r>
              <a:rPr lang="en-US" altLang="zh-TW" sz="2500" dirty="0">
                <a:latin typeface="Times New Roman" pitchFamily="18" charset="0"/>
                <a:ea typeface="標楷體" pitchFamily="65" charset="-120"/>
                <a:cs typeface="Times New Roman" pitchFamily="18" charset="0"/>
              </a:rPr>
              <a:t>provide insights to further improvements </a:t>
            </a:r>
            <a:r>
              <a:rPr lang="en-US" altLang="zh-TW" sz="2500" dirty="0" smtClean="0">
                <a:latin typeface="Times New Roman" pitchFamily="18" charset="0"/>
                <a:ea typeface="標楷體" pitchFamily="65" charset="-120"/>
                <a:cs typeface="Times New Roman" pitchFamily="18" charset="0"/>
              </a:rPr>
              <a:t>of disulfide </a:t>
            </a:r>
            <a:r>
              <a:rPr lang="en-US" altLang="zh-TW" sz="2500" dirty="0">
                <a:latin typeface="Times New Roman" pitchFamily="18" charset="0"/>
                <a:ea typeface="標楷體" pitchFamily="65" charset="-120"/>
                <a:cs typeface="Times New Roman" pitchFamily="18" charset="0"/>
              </a:rPr>
              <a:t>connectivity prediction and increase </a:t>
            </a:r>
            <a:r>
              <a:rPr lang="en-US" altLang="zh-TW" sz="2500" dirty="0" smtClean="0">
                <a:latin typeface="Times New Roman" pitchFamily="18" charset="0"/>
                <a:ea typeface="標楷體" pitchFamily="65" charset="-120"/>
                <a:cs typeface="Times New Roman" pitchFamily="18" charset="0"/>
              </a:rPr>
              <a:t>its applicability </a:t>
            </a:r>
            <a:r>
              <a:rPr lang="en-US" altLang="zh-TW" sz="2500" dirty="0">
                <a:latin typeface="Times New Roman" pitchFamily="18" charset="0"/>
                <a:ea typeface="標楷體" pitchFamily="65" charset="-120"/>
                <a:cs typeface="Times New Roman" pitchFamily="18" charset="0"/>
              </a:rPr>
              <a:t>in protein structure analysis and prediction</a:t>
            </a:r>
            <a:r>
              <a:rPr lang="en-US" altLang="zh-TW" sz="2500" dirty="0" smtClean="0">
                <a:latin typeface="Times New Roman" pitchFamily="18" charset="0"/>
                <a:ea typeface="標楷體" pitchFamily="65" charset="-120"/>
                <a:cs typeface="Times New Roman" pitchFamily="18" charset="0"/>
              </a:rPr>
              <a:t>.</a:t>
            </a:r>
            <a:endParaRPr lang="zh-TW" altLang="en-US" sz="25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31757121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itchFamily="18" charset="0"/>
                <a:ea typeface="標楷體" pitchFamily="65" charset="-120"/>
                <a:cs typeface="Times New Roman" pitchFamily="18" charset="0"/>
              </a:rPr>
              <a:t>Why do </a:t>
            </a:r>
            <a:r>
              <a:rPr lang="en-US" altLang="zh-TW" sz="4000" dirty="0">
                <a:latin typeface="Times New Roman" pitchFamily="18" charset="0"/>
                <a:ea typeface="標楷體" pitchFamily="65" charset="-120"/>
                <a:cs typeface="Times New Roman" pitchFamily="18" charset="0"/>
              </a:rPr>
              <a:t>I choose this </a:t>
            </a:r>
            <a:r>
              <a:rPr lang="en-US" altLang="zh-TW" sz="4000" dirty="0" smtClean="0">
                <a:latin typeface="Times New Roman" pitchFamily="18" charset="0"/>
                <a:ea typeface="標楷體" pitchFamily="65" charset="-120"/>
                <a:cs typeface="Times New Roman" pitchFamily="18" charset="0"/>
              </a:rPr>
              <a:t>paper to study?</a:t>
            </a:r>
            <a:endParaRPr lang="zh-TW" altLang="en-US" sz="4000"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3000" dirty="0">
                <a:latin typeface="Times New Roman" pitchFamily="18" charset="0"/>
                <a:ea typeface="標楷體" pitchFamily="65" charset="-120"/>
                <a:cs typeface="Times New Roman" pitchFamily="18" charset="0"/>
              </a:rPr>
              <a:t>The method by Chen et al. [20] is based on a two-level strategy where </a:t>
            </a:r>
            <a:r>
              <a:rPr lang="en-US" altLang="zh-TW" sz="3000" dirty="0">
                <a:solidFill>
                  <a:srgbClr val="FF0000"/>
                </a:solidFill>
                <a:latin typeface="Times New Roman" pitchFamily="18" charset="0"/>
                <a:ea typeface="標楷體" pitchFamily="65" charset="-120"/>
                <a:cs typeface="Times New Roman" pitchFamily="18" charset="0"/>
              </a:rPr>
              <a:t>all cysteine pairs are first classified by an SVM</a:t>
            </a:r>
            <a:r>
              <a:rPr lang="en-US" altLang="zh-TW" sz="3000" dirty="0">
                <a:latin typeface="Times New Roman" pitchFamily="18" charset="0"/>
                <a:ea typeface="標楷體" pitchFamily="65" charset="-120"/>
                <a:cs typeface="Times New Roman" pitchFamily="18" charset="0"/>
              </a:rPr>
              <a:t> and </a:t>
            </a:r>
            <a:r>
              <a:rPr lang="en-US" altLang="zh-TW" sz="3000" dirty="0">
                <a:solidFill>
                  <a:srgbClr val="FF0000"/>
                </a:solidFill>
                <a:latin typeface="Times New Roman" pitchFamily="18" charset="0"/>
                <a:ea typeface="標楷體" pitchFamily="65" charset="-120"/>
                <a:cs typeface="Times New Roman" pitchFamily="18" charset="0"/>
              </a:rPr>
              <a:t>all possible connectivity patterns are subsequently evaluated</a:t>
            </a:r>
            <a:r>
              <a:rPr lang="en-US" altLang="zh-TW" sz="3000" dirty="0">
                <a:latin typeface="Times New Roman" pitchFamily="18" charset="0"/>
                <a:ea typeface="標楷體" pitchFamily="65" charset="-120"/>
                <a:cs typeface="Times New Roman" pitchFamily="18" charset="0"/>
              </a:rPr>
              <a:t> by second binary classifier that was trained with the correct connectivity patterns as positive examples</a:t>
            </a:r>
            <a:r>
              <a:rPr lang="en-US" altLang="zh-TW" sz="3000" dirty="0" smtClean="0">
                <a:latin typeface="Times New Roman" pitchFamily="18" charset="0"/>
                <a:ea typeface="標楷體" pitchFamily="65" charset="-120"/>
                <a:cs typeface="Times New Roman" pitchFamily="18" charset="0"/>
              </a:rPr>
              <a:t>.</a:t>
            </a:r>
            <a:br>
              <a:rPr lang="en-US" altLang="zh-TW" sz="3000" dirty="0" smtClean="0">
                <a:latin typeface="Times New Roman" pitchFamily="18" charset="0"/>
                <a:ea typeface="標楷體" pitchFamily="65" charset="-120"/>
                <a:cs typeface="Times New Roman" pitchFamily="18" charset="0"/>
              </a:rPr>
            </a:br>
            <a:r>
              <a:rPr lang="en-US" altLang="zh-TW" sz="3000" dirty="0" smtClean="0">
                <a:latin typeface="Times New Roman" pitchFamily="18" charset="0"/>
                <a:ea typeface="標楷體" pitchFamily="65" charset="-120"/>
                <a:cs typeface="Times New Roman" pitchFamily="18" charset="0"/>
              </a:rPr>
              <a:t/>
            </a:r>
            <a:br>
              <a:rPr lang="en-US" altLang="zh-TW" sz="3000" dirty="0" smtClean="0">
                <a:latin typeface="Times New Roman" pitchFamily="18" charset="0"/>
                <a:ea typeface="標楷體" pitchFamily="65" charset="-120"/>
                <a:cs typeface="Times New Roman" pitchFamily="18" charset="0"/>
              </a:rPr>
            </a:br>
            <a:r>
              <a:rPr lang="en-US" altLang="zh-TW" sz="2000" dirty="0" smtClean="0">
                <a:latin typeface="Times New Roman" pitchFamily="18" charset="0"/>
                <a:ea typeface="標楷體" pitchFamily="65" charset="-120"/>
                <a:cs typeface="Times New Roman" pitchFamily="18" charset="0"/>
              </a:rPr>
              <a:t>	– </a:t>
            </a:r>
            <a:r>
              <a:rPr lang="en-US" altLang="zh-TW" sz="2000" dirty="0">
                <a:latin typeface="Times New Roman" pitchFamily="18" charset="0"/>
                <a:ea typeface="標楷體" pitchFamily="65" charset="-120"/>
                <a:cs typeface="Times New Roman" pitchFamily="18" charset="0"/>
              </a:rPr>
              <a:t>A simplified approach to disulfide connectivity prediction </a:t>
            </a:r>
            <a:r>
              <a:rPr lang="en-US" altLang="zh-TW" sz="2000" dirty="0" smtClean="0">
                <a:latin typeface="Times New Roman" pitchFamily="18" charset="0"/>
                <a:ea typeface="標楷體" pitchFamily="65" charset="-120"/>
                <a:cs typeface="Times New Roman" pitchFamily="18" charset="0"/>
              </a:rPr>
              <a:t>from protein sequences</a:t>
            </a:r>
            <a:r>
              <a:rPr lang="en-US" altLang="zh-TW" sz="2000" dirty="0">
                <a:latin typeface="Times New Roman" pitchFamily="18" charset="0"/>
                <a:ea typeface="標楷體" pitchFamily="65" charset="-120"/>
                <a:cs typeface="Times New Roman" pitchFamily="18" charset="0"/>
              </a:rPr>
              <a:t>, BMC </a:t>
            </a:r>
            <a:r>
              <a:rPr lang="en-US" altLang="zh-TW" sz="2000" dirty="0" smtClean="0">
                <a:latin typeface="Times New Roman" pitchFamily="18" charset="0"/>
                <a:ea typeface="標楷體" pitchFamily="65" charset="-120"/>
                <a:cs typeface="Times New Roman" pitchFamily="18" charset="0"/>
              </a:rPr>
              <a:t>Bioinformatics, Vol. 9, no. 20, 2008</a:t>
            </a:r>
          </a:p>
        </p:txBody>
      </p:sp>
    </p:spTree>
    <p:extLst>
      <p:ext uri="{BB962C8B-B14F-4D97-AF65-F5344CB8AC3E}">
        <p14:creationId xmlns:p14="http://schemas.microsoft.com/office/powerpoint/2010/main" val="2872602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Introduction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Bonding state prediction</a:t>
            </a:r>
          </a:p>
          <a:p>
            <a:pPr lvl="1"/>
            <a:r>
              <a:rPr lang="en-US" altLang="zh-TW" sz="2000" dirty="0" smtClean="0">
                <a:latin typeface="Times New Roman" pitchFamily="18" charset="0"/>
                <a:ea typeface="標楷體" pitchFamily="65" charset="-120"/>
                <a:cs typeface="Times New Roman" pitchFamily="18" charset="0"/>
              </a:rPr>
              <a:t>Evolutionary information (</a:t>
            </a:r>
            <a:r>
              <a:rPr lang="en-US" altLang="zh-TW" sz="2000" dirty="0">
                <a:latin typeface="Times New Roman" pitchFamily="18" charset="0"/>
                <a:ea typeface="標楷體" pitchFamily="65" charset="-120"/>
                <a:cs typeface="Times New Roman" pitchFamily="18" charset="0"/>
              </a:rPr>
              <a:t>i.e., profiles extracted from multiple sequence alignments)</a:t>
            </a:r>
          </a:p>
          <a:p>
            <a:r>
              <a:rPr lang="en-US" altLang="zh-TW" sz="2400" dirty="0" smtClean="0">
                <a:latin typeface="Times New Roman" pitchFamily="18" charset="0"/>
                <a:ea typeface="標楷體" pitchFamily="65" charset="-120"/>
                <a:cs typeface="Times New Roman" pitchFamily="18" charset="0"/>
              </a:rPr>
              <a:t>Bonding pattern prediction</a:t>
            </a:r>
          </a:p>
          <a:p>
            <a:pPr lvl="1"/>
            <a:r>
              <a:rPr lang="en-US" altLang="zh-TW" sz="2000" dirty="0">
                <a:latin typeface="Times New Roman" pitchFamily="18" charset="0"/>
                <a:ea typeface="標楷體" pitchFamily="65" charset="-120"/>
                <a:cs typeface="Times New Roman" pitchFamily="18" charset="0"/>
              </a:rPr>
              <a:t>P</a:t>
            </a:r>
            <a:r>
              <a:rPr lang="en-US" altLang="zh-TW" sz="2000" dirty="0" smtClean="0">
                <a:latin typeface="Times New Roman" pitchFamily="18" charset="0"/>
                <a:ea typeface="標楷體" pitchFamily="65" charset="-120"/>
                <a:cs typeface="Times New Roman" pitchFamily="18" charset="0"/>
              </a:rPr>
              <a:t>air-wise</a:t>
            </a:r>
          </a:p>
          <a:p>
            <a:pPr lvl="2"/>
            <a:r>
              <a:rPr lang="en-US" altLang="zh-TW" sz="1600" dirty="0">
                <a:latin typeface="Times New Roman" pitchFamily="18" charset="0"/>
                <a:ea typeface="標楷體" pitchFamily="65" charset="-120"/>
                <a:cs typeface="Times New Roman" pitchFamily="18" charset="0"/>
              </a:rPr>
              <a:t>F</a:t>
            </a:r>
            <a:r>
              <a:rPr lang="en-US" altLang="zh-TW" sz="1600" dirty="0" smtClean="0">
                <a:latin typeface="Times New Roman" pitchFamily="18" charset="0"/>
                <a:ea typeface="標楷體" pitchFamily="65" charset="-120"/>
                <a:cs typeface="Times New Roman" pitchFamily="18" charset="0"/>
              </a:rPr>
              <a:t>ocus on the </a:t>
            </a:r>
            <a:r>
              <a:rPr lang="en-US" altLang="zh-TW" sz="1600" dirty="0" smtClean="0">
                <a:solidFill>
                  <a:srgbClr val="FF0000"/>
                </a:solidFill>
                <a:latin typeface="Times New Roman" pitchFamily="18" charset="0"/>
                <a:ea typeface="標楷體" pitchFamily="65" charset="-120"/>
                <a:cs typeface="Times New Roman" pitchFamily="18" charset="0"/>
              </a:rPr>
              <a:t>bonding potential</a:t>
            </a:r>
            <a:r>
              <a:rPr lang="en-US" altLang="zh-TW" sz="1600" dirty="0" smtClean="0">
                <a:latin typeface="Times New Roman" pitchFamily="18" charset="0"/>
                <a:ea typeface="標楷體" pitchFamily="65" charset="-120"/>
                <a:cs typeface="Times New Roman" pitchFamily="18" charset="0"/>
              </a:rPr>
              <a:t> between two </a:t>
            </a:r>
            <a:r>
              <a:rPr lang="en-US" altLang="zh-TW" sz="1600" dirty="0" err="1" smtClean="0">
                <a:latin typeface="Times New Roman" pitchFamily="18" charset="0"/>
                <a:ea typeface="標楷體" pitchFamily="65" charset="-120"/>
                <a:cs typeface="Times New Roman" pitchFamily="18" charset="0"/>
              </a:rPr>
              <a:t>cysteines</a:t>
            </a:r>
            <a:r>
              <a:rPr lang="en-US" altLang="zh-TW" sz="1600" dirty="0" smtClean="0">
                <a:latin typeface="Times New Roman" pitchFamily="18" charset="0"/>
                <a:ea typeface="標楷體" pitchFamily="65" charset="-120"/>
                <a:cs typeface="Times New Roman" pitchFamily="18" charset="0"/>
              </a:rPr>
              <a:t>.</a:t>
            </a:r>
          </a:p>
          <a:p>
            <a:pPr lvl="2"/>
            <a:r>
              <a:rPr lang="en-US" altLang="zh-TW" sz="1600" dirty="0" smtClean="0">
                <a:latin typeface="Times New Roman" pitchFamily="18" charset="0"/>
                <a:ea typeface="標楷體" pitchFamily="65" charset="-120"/>
                <a:cs typeface="Times New Roman" pitchFamily="18" charset="0"/>
              </a:rPr>
              <a:t>A disulfide bridge is a long-range interaction between two sequentially distant </a:t>
            </a:r>
            <a:r>
              <a:rPr lang="en-US" altLang="zh-TW" sz="1600" dirty="0" err="1" smtClean="0">
                <a:latin typeface="Times New Roman" pitchFamily="18" charset="0"/>
                <a:ea typeface="標楷體" pitchFamily="65" charset="-120"/>
                <a:cs typeface="Times New Roman" pitchFamily="18" charset="0"/>
              </a:rPr>
              <a:t>cysteines</a:t>
            </a:r>
            <a:r>
              <a:rPr lang="en-US" altLang="zh-TW" sz="1600" dirty="0" smtClean="0">
                <a:latin typeface="Times New Roman" pitchFamily="18" charset="0"/>
                <a:ea typeface="標楷體" pitchFamily="65" charset="-120"/>
                <a:cs typeface="Times New Roman" pitchFamily="18" charset="0"/>
              </a:rPr>
              <a:t>, the performance of the pair-wise models built with only local information is restricted.</a:t>
            </a:r>
          </a:p>
          <a:p>
            <a:pPr lvl="1"/>
            <a:r>
              <a:rPr lang="en-US" altLang="zh-TW" sz="2000" dirty="0">
                <a:latin typeface="Times New Roman" pitchFamily="18" charset="0"/>
                <a:ea typeface="標楷體" pitchFamily="65" charset="-120"/>
                <a:cs typeface="Times New Roman" pitchFamily="18" charset="0"/>
              </a:rPr>
              <a:t>P</a:t>
            </a:r>
            <a:r>
              <a:rPr lang="en-US" altLang="zh-TW" sz="2000" dirty="0" smtClean="0">
                <a:latin typeface="Times New Roman" pitchFamily="18" charset="0"/>
                <a:ea typeface="標楷體" pitchFamily="65" charset="-120"/>
                <a:cs typeface="Times New Roman" pitchFamily="18" charset="0"/>
              </a:rPr>
              <a:t>attern-wise</a:t>
            </a:r>
          </a:p>
          <a:p>
            <a:pPr lvl="2"/>
            <a:r>
              <a:rPr lang="en-US" altLang="zh-TW" sz="1600" dirty="0">
                <a:solidFill>
                  <a:srgbClr val="FF0000"/>
                </a:solidFill>
                <a:latin typeface="Times New Roman" pitchFamily="18" charset="0"/>
                <a:ea typeface="標楷體" pitchFamily="65" charset="-120"/>
                <a:cs typeface="Times New Roman" pitchFamily="18" charset="0"/>
              </a:rPr>
              <a:t>R</a:t>
            </a:r>
            <a:r>
              <a:rPr lang="en-US" altLang="zh-TW" sz="1600" dirty="0" smtClean="0">
                <a:solidFill>
                  <a:srgbClr val="FF0000"/>
                </a:solidFill>
                <a:latin typeface="Times New Roman" pitchFamily="18" charset="0"/>
                <a:ea typeface="標楷體" pitchFamily="65" charset="-120"/>
                <a:cs typeface="Times New Roman" pitchFamily="18" charset="0"/>
              </a:rPr>
              <a:t>ank connectivity patterns</a:t>
            </a:r>
            <a:r>
              <a:rPr lang="en-US" altLang="zh-TW" sz="1600" dirty="0" smtClean="0">
                <a:latin typeface="Times New Roman" pitchFamily="18" charset="0"/>
                <a:ea typeface="標楷體" pitchFamily="65" charset="-120"/>
                <a:cs typeface="Times New Roman" pitchFamily="18" charset="0"/>
              </a:rPr>
              <a:t>.</a:t>
            </a:r>
          </a:p>
          <a:p>
            <a:pPr lvl="2"/>
            <a:r>
              <a:rPr lang="en-US" altLang="zh-TW" sz="1600" dirty="0" smtClean="0">
                <a:latin typeface="Times New Roman" pitchFamily="18" charset="0"/>
                <a:ea typeface="標楷體" pitchFamily="65" charset="-120"/>
                <a:cs typeface="Times New Roman" pitchFamily="18" charset="0"/>
              </a:rPr>
              <a:t>The </a:t>
            </a:r>
            <a:r>
              <a:rPr lang="en-US" altLang="zh-TW" sz="1600" dirty="0">
                <a:latin typeface="Times New Roman" pitchFamily="18" charset="0"/>
                <a:ea typeface="標楷體" pitchFamily="65" charset="-120"/>
                <a:cs typeface="Times New Roman" pitchFamily="18" charset="0"/>
              </a:rPr>
              <a:t>local </a:t>
            </a:r>
            <a:r>
              <a:rPr lang="en-US" altLang="zh-TW" sz="1600" dirty="0" smtClean="0">
                <a:latin typeface="Times New Roman" pitchFamily="18" charset="0"/>
                <a:ea typeface="標楷體" pitchFamily="65" charset="-120"/>
                <a:cs typeface="Times New Roman" pitchFamily="18" charset="0"/>
              </a:rPr>
              <a:t>information of </a:t>
            </a:r>
            <a:r>
              <a:rPr lang="en-US" altLang="zh-TW" sz="1600" dirty="0">
                <a:latin typeface="Times New Roman" pitchFamily="18" charset="0"/>
                <a:ea typeface="標楷體" pitchFamily="65" charset="-120"/>
                <a:cs typeface="Times New Roman" pitchFamily="18" charset="0"/>
              </a:rPr>
              <a:t>cysteine residues is difficult to be fully </a:t>
            </a:r>
            <a:r>
              <a:rPr lang="en-US" altLang="zh-TW" sz="1600" dirty="0" smtClean="0">
                <a:latin typeface="Times New Roman" pitchFamily="18" charset="0"/>
                <a:ea typeface="標楷體" pitchFamily="65" charset="-120"/>
                <a:cs typeface="Times New Roman" pitchFamily="18" charset="0"/>
              </a:rPr>
              <a:t>examined.</a:t>
            </a:r>
          </a:p>
          <a:p>
            <a:pPr lvl="2"/>
            <a:r>
              <a:rPr lang="en-US" altLang="zh-TW" sz="1600" dirty="0" smtClean="0">
                <a:latin typeface="Times New Roman" pitchFamily="18" charset="0"/>
                <a:ea typeface="標楷體" pitchFamily="65" charset="-120"/>
                <a:cs typeface="Times New Roman" pitchFamily="18" charset="0"/>
              </a:rPr>
              <a:t>May </a:t>
            </a:r>
            <a:r>
              <a:rPr lang="en-US" altLang="zh-TW" sz="1600" dirty="0">
                <a:latin typeface="Times New Roman" pitchFamily="18" charset="0"/>
                <a:ea typeface="標楷體" pitchFamily="65" charset="-120"/>
                <a:cs typeface="Times New Roman" pitchFamily="18" charset="0"/>
              </a:rPr>
              <a:t>suffer from </a:t>
            </a:r>
            <a:r>
              <a:rPr lang="en-US" altLang="zh-TW" sz="1600" dirty="0" smtClean="0">
                <a:latin typeface="Times New Roman" pitchFamily="18" charset="0"/>
                <a:ea typeface="標楷體" pitchFamily="65" charset="-120"/>
                <a:cs typeface="Times New Roman" pitchFamily="18" charset="0"/>
              </a:rPr>
              <a:t>the </a:t>
            </a:r>
            <a:r>
              <a:rPr lang="en-US" altLang="zh-TW" sz="1600" dirty="0" smtClean="0">
                <a:solidFill>
                  <a:srgbClr val="FF0000"/>
                </a:solidFill>
                <a:latin typeface="Times New Roman" pitchFamily="18" charset="0"/>
                <a:ea typeface="標楷體" pitchFamily="65" charset="-120"/>
                <a:cs typeface="Times New Roman" pitchFamily="18" charset="0"/>
              </a:rPr>
              <a:t>imbalance </a:t>
            </a:r>
            <a:r>
              <a:rPr lang="en-US" altLang="zh-TW" sz="1600" dirty="0">
                <a:solidFill>
                  <a:srgbClr val="FF0000"/>
                </a:solidFill>
                <a:latin typeface="Times New Roman" pitchFamily="18" charset="0"/>
                <a:ea typeface="標楷體" pitchFamily="65" charset="-120"/>
                <a:cs typeface="Times New Roman" pitchFamily="18" charset="0"/>
              </a:rPr>
              <a:t>of data</a:t>
            </a:r>
            <a:r>
              <a:rPr lang="en-US" altLang="zh-TW" sz="1600" dirty="0">
                <a:latin typeface="Times New Roman" pitchFamily="18" charset="0"/>
                <a:ea typeface="標楷體" pitchFamily="65" charset="-120"/>
                <a:cs typeface="Times New Roman" pitchFamily="18" charset="0"/>
              </a:rPr>
              <a:t> during the training </a:t>
            </a:r>
            <a:r>
              <a:rPr lang="en-US" altLang="zh-TW" sz="1600" dirty="0" smtClean="0">
                <a:latin typeface="Times New Roman" pitchFamily="18" charset="0"/>
                <a:ea typeface="標楷體" pitchFamily="65" charset="-120"/>
                <a:cs typeface="Times New Roman" pitchFamily="18" charset="0"/>
              </a:rPr>
              <a:t>phase</a:t>
            </a:r>
          </a:p>
          <a:p>
            <a:pPr lvl="2"/>
            <a:r>
              <a:rPr lang="en-US" altLang="zh-TW" sz="1600" dirty="0" smtClean="0">
                <a:latin typeface="Times New Roman" pitchFamily="18" charset="0"/>
                <a:ea typeface="標楷體" pitchFamily="65" charset="-120"/>
                <a:cs typeface="Times New Roman" pitchFamily="18" charset="0"/>
              </a:rPr>
              <a:t>The accuracy </a:t>
            </a:r>
            <a:r>
              <a:rPr lang="en-US" altLang="zh-TW" sz="1600" dirty="0">
                <a:latin typeface="Times New Roman" pitchFamily="18" charset="0"/>
                <a:ea typeface="標楷體" pitchFamily="65" charset="-120"/>
                <a:cs typeface="Times New Roman" pitchFamily="18" charset="0"/>
              </a:rPr>
              <a:t>of pattern-wise methods to around 50%</a:t>
            </a:r>
          </a:p>
          <a:p>
            <a:endParaRPr lang="en-US" altLang="zh-TW" sz="24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7869138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Dataset</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SP39: 4-fold cross-validation, each two of them shared a sequence homology of </a:t>
                </a:r>
                <a14:m>
                  <m:oMath xmlns:m="http://schemas.openxmlformats.org/officeDocument/2006/math">
                    <m:r>
                      <a:rPr lang="en-US" altLang="zh-TW" sz="240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30%.</m:t>
                    </m:r>
                  </m:oMath>
                </a14:m>
                <a:endParaRPr lang="en-US" altLang="zh-TW" sz="2400" b="0" dirty="0" smtClean="0">
                  <a:latin typeface="Times New Roman" pitchFamily="18" charset="0"/>
                  <a:ea typeface="Cambria Math"/>
                  <a:cs typeface="Times New Roman" pitchFamily="18" charset="0"/>
                </a:endParaRPr>
              </a:p>
              <a:p>
                <a:r>
                  <a:rPr lang="en-US" altLang="zh-TW" sz="2400" dirty="0" smtClean="0">
                    <a:latin typeface="Times New Roman" pitchFamily="18" charset="0"/>
                    <a:ea typeface="標楷體" pitchFamily="65" charset="-120"/>
                    <a:cs typeface="Times New Roman" pitchFamily="18" charset="0"/>
                  </a:rPr>
                  <a:t>SP43: the sequences share less than 25% identity with each other.</a:t>
                </a:r>
              </a:p>
              <a:p>
                <a:r>
                  <a:rPr lang="en-US" altLang="zh-TW" sz="2400" dirty="0" smtClean="0">
                    <a:latin typeface="Times New Roman" pitchFamily="18" charset="0"/>
                    <a:ea typeface="標楷體" pitchFamily="65" charset="-120"/>
                    <a:cs typeface="Times New Roman" pitchFamily="18" charset="0"/>
                  </a:rPr>
                  <a:t>SP39-template: same filter except for the PDB match, only sequences that share similarity &lt;30% with SP43</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t="-1078"/>
                </a:stretch>
              </a:blipFill>
            </p:spPr>
            <p:txBody>
              <a:bodyPr/>
              <a:lstStyle/>
              <a:p>
                <a:r>
                  <a:rPr lang="zh-TW" altLang="en-US">
                    <a:noFill/>
                  </a:rPr>
                  <a:t> </a:t>
                </a:r>
              </a:p>
            </p:txBody>
          </p:sp>
        </mc:Fallback>
      </mc:AlternateContent>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072" y="4149080"/>
            <a:ext cx="7884368" cy="2364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12512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Clarifying the concept</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Identity</a:t>
            </a:r>
          </a:p>
          <a:p>
            <a:pPr lvl="1"/>
            <a:r>
              <a:rPr lang="en-US" altLang="zh-TW" sz="2000" dirty="0" smtClean="0">
                <a:latin typeface="Times New Roman" pitchFamily="18" charset="0"/>
                <a:ea typeface="標楷體" pitchFamily="65" charset="-120"/>
                <a:cs typeface="Times New Roman" pitchFamily="18" charset="0"/>
              </a:rPr>
              <a:t>Exact matches.</a:t>
            </a:r>
          </a:p>
          <a:p>
            <a:pPr lvl="1"/>
            <a:r>
              <a:rPr lang="en-US" altLang="zh-TW" sz="2000" dirty="0">
                <a:latin typeface="Times New Roman" pitchFamily="18" charset="0"/>
                <a:ea typeface="標楷體" pitchFamily="65" charset="-120"/>
                <a:cs typeface="Times New Roman" pitchFamily="18" charset="0"/>
              </a:rPr>
              <a:t>The extent to which two </a:t>
            </a:r>
            <a:r>
              <a:rPr lang="en-US" altLang="zh-TW" sz="2000" dirty="0" smtClean="0">
                <a:latin typeface="Times New Roman" pitchFamily="18" charset="0"/>
                <a:ea typeface="標楷體" pitchFamily="65" charset="-120"/>
                <a:cs typeface="Times New Roman" pitchFamily="18" charset="0"/>
              </a:rPr>
              <a:t>sequences </a:t>
            </a:r>
            <a:r>
              <a:rPr lang="en-US" altLang="zh-TW" sz="2000" dirty="0">
                <a:latin typeface="Times New Roman" pitchFamily="18" charset="0"/>
                <a:ea typeface="標楷體" pitchFamily="65" charset="-120"/>
                <a:cs typeface="Times New Roman" pitchFamily="18" charset="0"/>
              </a:rPr>
              <a:t>are invariant.</a:t>
            </a:r>
            <a:endParaRPr lang="en-US" altLang="zh-TW" sz="2000" dirty="0" smtClean="0">
              <a:latin typeface="Times New Roman" pitchFamily="18" charset="0"/>
              <a:ea typeface="標楷體" pitchFamily="65" charset="-120"/>
              <a:cs typeface="Times New Roman" pitchFamily="18" charset="0"/>
            </a:endParaRPr>
          </a:p>
          <a:p>
            <a:r>
              <a:rPr lang="en-US" altLang="zh-TW" sz="2400" dirty="0" smtClean="0">
                <a:latin typeface="Times New Roman" pitchFamily="18" charset="0"/>
                <a:ea typeface="標楷體" pitchFamily="65" charset="-120"/>
                <a:cs typeface="Times New Roman" pitchFamily="18" charset="0"/>
              </a:rPr>
              <a:t>Similarity</a:t>
            </a:r>
          </a:p>
          <a:p>
            <a:pPr lvl="1"/>
            <a:r>
              <a:rPr lang="en-US" altLang="zh-TW" sz="2000" dirty="0">
                <a:latin typeface="Times New Roman" pitchFamily="18" charset="0"/>
                <a:ea typeface="標楷體" pitchFamily="65" charset="-120"/>
                <a:cs typeface="Times New Roman" pitchFamily="18" charset="0"/>
              </a:rPr>
              <a:t>The extent to which sequences are related. Similarity makes no statement about descent from a common ancestor</a:t>
            </a:r>
            <a:r>
              <a:rPr lang="en-US" altLang="zh-TW" sz="2000" dirty="0" smtClean="0">
                <a:latin typeface="Times New Roman" pitchFamily="18" charset="0"/>
                <a:ea typeface="標楷體" pitchFamily="65" charset="-120"/>
                <a:cs typeface="Times New Roman" pitchFamily="18" charset="0"/>
              </a:rPr>
              <a:t>.</a:t>
            </a:r>
          </a:p>
          <a:p>
            <a:pPr lvl="1"/>
            <a:r>
              <a:rPr lang="en-US" altLang="zh-TW" sz="2000" dirty="0" smtClean="0">
                <a:latin typeface="Times New Roman" pitchFamily="18" charset="0"/>
                <a:ea typeface="標楷體" pitchFamily="65" charset="-120"/>
                <a:cs typeface="Times New Roman" pitchFamily="18" charset="0"/>
              </a:rPr>
              <a:t>A </a:t>
            </a:r>
            <a:r>
              <a:rPr lang="en-US" altLang="zh-TW" sz="2000" dirty="0">
                <a:latin typeface="Times New Roman" pitchFamily="18" charset="0"/>
                <a:ea typeface="標楷體" pitchFamily="65" charset="-120"/>
                <a:cs typeface="Times New Roman" pitchFamily="18" charset="0"/>
              </a:rPr>
              <a:t>direct measurement and can be discussed in terms of percentages.</a:t>
            </a:r>
            <a:endParaRPr lang="en-US" altLang="zh-TW" sz="2000" dirty="0" smtClean="0">
              <a:latin typeface="Times New Roman" pitchFamily="18" charset="0"/>
              <a:ea typeface="標楷體" pitchFamily="65" charset="-120"/>
              <a:cs typeface="Times New Roman" pitchFamily="18" charset="0"/>
            </a:endParaRPr>
          </a:p>
          <a:p>
            <a:r>
              <a:rPr lang="en-US" altLang="zh-TW" sz="2400" dirty="0" smtClean="0">
                <a:latin typeface="Times New Roman" pitchFamily="18" charset="0"/>
                <a:ea typeface="標楷體" pitchFamily="65" charset="-120"/>
                <a:cs typeface="Times New Roman" pitchFamily="18" charset="0"/>
              </a:rPr>
              <a:t>Homology</a:t>
            </a:r>
          </a:p>
          <a:p>
            <a:pPr lvl="1"/>
            <a:r>
              <a:rPr lang="en-US" altLang="zh-TW" sz="2000" dirty="0">
                <a:latin typeface="Times New Roman" pitchFamily="18" charset="0"/>
                <a:ea typeface="標楷體" pitchFamily="65" charset="-120"/>
                <a:cs typeface="Times New Roman" pitchFamily="18" charset="0"/>
              </a:rPr>
              <a:t>Sequence similarity that can be attributed to descent from a common ancestor.</a:t>
            </a:r>
            <a:endParaRPr lang="en-US" altLang="zh-TW" sz="2000" dirty="0" smtClean="0">
              <a:latin typeface="Times New Roman" pitchFamily="18" charset="0"/>
              <a:ea typeface="標楷體" pitchFamily="65" charset="-120"/>
              <a:cs typeface="Times New Roman" pitchFamily="18" charset="0"/>
            </a:endParaRPr>
          </a:p>
          <a:p>
            <a:pPr lvl="1"/>
            <a:r>
              <a:rPr lang="en-US" altLang="zh-TW" sz="2000" dirty="0" smtClean="0">
                <a:latin typeface="Times New Roman" pitchFamily="18" charset="0"/>
                <a:ea typeface="標楷體" pitchFamily="65" charset="-120"/>
                <a:cs typeface="Times New Roman" pitchFamily="18" charset="0"/>
              </a:rPr>
              <a:t>A </a:t>
            </a:r>
            <a:r>
              <a:rPr lang="en-US" altLang="zh-TW" sz="2000" dirty="0">
                <a:latin typeface="Times New Roman" pitchFamily="18" charset="0"/>
                <a:ea typeface="標楷體" pitchFamily="65" charset="-120"/>
                <a:cs typeface="Times New Roman" pitchFamily="18" charset="0"/>
              </a:rPr>
              <a:t>matter of opinion, not directly measurable or observable.</a:t>
            </a:r>
            <a:endParaRPr lang="en-US" altLang="zh-TW" sz="20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1093335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Method</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a:latin typeface="Times New Roman" pitchFamily="18" charset="0"/>
                <a:ea typeface="標楷體" pitchFamily="65" charset="-120"/>
                <a:cs typeface="Times New Roman" pitchFamily="18" charset="0"/>
              </a:rPr>
              <a:t>The </a:t>
            </a:r>
            <a:r>
              <a:rPr lang="en-US" altLang="zh-TW" sz="2400" dirty="0" smtClean="0">
                <a:latin typeface="Times New Roman" pitchFamily="18" charset="0"/>
                <a:ea typeface="標楷體" pitchFamily="65" charset="-120"/>
                <a:cs typeface="Times New Roman" pitchFamily="18" charset="0"/>
              </a:rPr>
              <a:t>idea of </a:t>
            </a:r>
            <a:r>
              <a:rPr lang="en-US" altLang="zh-TW" sz="2400" dirty="0">
                <a:latin typeface="Times New Roman" pitchFamily="18" charset="0"/>
                <a:ea typeface="標楷體" pitchFamily="65" charset="-120"/>
                <a:cs typeface="Times New Roman" pitchFamily="18" charset="0"/>
              </a:rPr>
              <a:t>the two-level framework is to extend the modeling </a:t>
            </a:r>
            <a:r>
              <a:rPr lang="en-US" altLang="zh-TW" sz="2400" dirty="0" smtClean="0">
                <a:latin typeface="Times New Roman" pitchFamily="18" charset="0"/>
                <a:ea typeface="標楷體" pitchFamily="65" charset="-120"/>
                <a:cs typeface="Times New Roman" pitchFamily="18" charset="0"/>
              </a:rPr>
              <a:t>from a </a:t>
            </a:r>
            <a:r>
              <a:rPr lang="en-US" altLang="zh-TW" sz="2400" dirty="0">
                <a:latin typeface="Times New Roman" pitchFamily="18" charset="0"/>
                <a:ea typeface="標楷體" pitchFamily="65" charset="-120"/>
                <a:cs typeface="Times New Roman" pitchFamily="18" charset="0"/>
              </a:rPr>
              <a:t>local view (</a:t>
            </a:r>
            <a:r>
              <a:rPr lang="en-US" altLang="zh-TW" sz="2400" dirty="0">
                <a:solidFill>
                  <a:srgbClr val="FF0000"/>
                </a:solidFill>
                <a:latin typeface="Times New Roman" pitchFamily="18" charset="0"/>
                <a:ea typeface="標楷體" pitchFamily="65" charset="-120"/>
                <a:cs typeface="Times New Roman" pitchFamily="18" charset="0"/>
              </a:rPr>
              <a:t>pair-wise</a:t>
            </a:r>
            <a:r>
              <a:rPr lang="en-US" altLang="zh-TW" sz="2400" dirty="0">
                <a:latin typeface="Times New Roman" pitchFamily="18" charset="0"/>
                <a:ea typeface="標楷體" pitchFamily="65" charset="-120"/>
                <a:cs typeface="Times New Roman" pitchFamily="18" charset="0"/>
              </a:rPr>
              <a:t>) to a global perspective (</a:t>
            </a:r>
            <a:r>
              <a:rPr lang="en-US" altLang="zh-TW" sz="2400" dirty="0" smtClean="0">
                <a:solidFill>
                  <a:srgbClr val="FF0000"/>
                </a:solidFill>
                <a:latin typeface="Times New Roman" pitchFamily="18" charset="0"/>
                <a:ea typeface="標楷體" pitchFamily="65" charset="-120"/>
                <a:cs typeface="Times New Roman" pitchFamily="18" charset="0"/>
              </a:rPr>
              <a:t>pattern-wise</a:t>
            </a:r>
            <a:r>
              <a:rPr lang="en-US" altLang="zh-TW" sz="2400" dirty="0">
                <a:latin typeface="Times New Roman" pitchFamily="18" charset="0"/>
                <a:ea typeface="標楷體" pitchFamily="65" charset="-120"/>
                <a:cs typeface="Times New Roman" pitchFamily="18" charset="0"/>
              </a:rPr>
              <a:t>).</a:t>
            </a:r>
            <a:endParaRPr lang="en-US" altLang="zh-TW" sz="24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1749445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Level-1: Pair-wise</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Profiles</a:t>
                </a:r>
              </a:p>
              <a:p>
                <a:pPr lvl="1"/>
                <a:r>
                  <a:rPr lang="en-US" altLang="zh-TW" sz="2000" dirty="0" smtClean="0">
                    <a:latin typeface="Times New Roman" pitchFamily="18" charset="0"/>
                    <a:ea typeface="標楷體" pitchFamily="65" charset="-120"/>
                    <a:cs typeface="Times New Roman" pitchFamily="18" charset="0"/>
                  </a:rPr>
                  <a:t>PSSM</a:t>
                </a:r>
              </a:p>
              <a:p>
                <a:pPr lvl="1"/>
                <a:r>
                  <a:rPr lang="en-US" altLang="zh-TW" sz="2000" dirty="0" smtClean="0">
                    <a:latin typeface="Times New Roman" pitchFamily="18" charset="0"/>
                    <a:ea typeface="標楷體" pitchFamily="65" charset="-120"/>
                    <a:cs typeface="Times New Roman" pitchFamily="18" charset="0"/>
                  </a:rPr>
                  <a:t>Window size: 13</a:t>
                </a:r>
              </a:p>
              <a:p>
                <a:pPr lvl="1"/>
                <a:r>
                  <a:rPr lang="en-US" altLang="zh-TW" sz="2000" dirty="0" smtClean="0">
                    <a:latin typeface="Times New Roman" pitchFamily="18" charset="0"/>
                    <a:ea typeface="標楷體" pitchFamily="65" charset="-120"/>
                    <a:cs typeface="Times New Roman" pitchFamily="18" charset="0"/>
                  </a:rPr>
                  <a:t>520 features</a:t>
                </a:r>
                <a:endParaRPr lang="en-US" altLang="zh-TW" sz="2000" dirty="0">
                  <a:latin typeface="Times New Roman" pitchFamily="18" charset="0"/>
                  <a:ea typeface="標楷體" pitchFamily="65" charset="-120"/>
                  <a:cs typeface="Times New Roman" pitchFamily="18" charset="0"/>
                </a:endParaRPr>
              </a:p>
              <a:p>
                <a:endParaRPr lang="en-US" altLang="zh-TW" sz="2400" dirty="0" smtClean="0">
                  <a:latin typeface="Times New Roman" pitchFamily="18" charset="0"/>
                  <a:ea typeface="標楷體" pitchFamily="65" charset="-120"/>
                  <a:cs typeface="Times New Roman" pitchFamily="18" charset="0"/>
                </a:endParaRPr>
              </a:p>
              <a:p>
                <a:endParaRPr lang="en-US" altLang="zh-TW" sz="2400" dirty="0">
                  <a:latin typeface="Times New Roman" pitchFamily="18" charset="0"/>
                  <a:ea typeface="標楷體" pitchFamily="65" charset="-120"/>
                  <a:cs typeface="Times New Roman" pitchFamily="18" charset="0"/>
                </a:endParaRPr>
              </a:p>
              <a:p>
                <a:r>
                  <a:rPr lang="en-US" altLang="zh-TW" sz="2400" dirty="0" smtClean="0">
                    <a:latin typeface="Times New Roman" pitchFamily="18" charset="0"/>
                    <a:ea typeface="標楷體" pitchFamily="65" charset="-120"/>
                    <a:cs typeface="Times New Roman" pitchFamily="18" charset="0"/>
                  </a:rPr>
                  <a:t>DOC (the sequential distance between oxidized </a:t>
                </a:r>
                <a:r>
                  <a:rPr lang="en-US" altLang="zh-TW" sz="2400" dirty="0" err="1" smtClean="0">
                    <a:latin typeface="Times New Roman" pitchFamily="18" charset="0"/>
                    <a:ea typeface="標楷體" pitchFamily="65" charset="-120"/>
                    <a:cs typeface="Times New Roman" pitchFamily="18" charset="0"/>
                  </a:rPr>
                  <a:t>cysteines</a:t>
                </a:r>
                <a:r>
                  <a:rPr lang="en-US" altLang="zh-TW" sz="2400" dirty="0" smtClean="0">
                    <a:latin typeface="Times New Roman" pitchFamily="18" charset="0"/>
                    <a:ea typeface="標楷體" pitchFamily="65" charset="-120"/>
                    <a:cs typeface="Times New Roman" pitchFamily="18" charset="0"/>
                  </a:rPr>
                  <a:t>)</a:t>
                </a:r>
              </a:p>
              <a:p>
                <a:pPr lvl="1"/>
                <a14:m>
                  <m:oMath xmlns:m="http://schemas.openxmlformats.org/officeDocument/2006/math">
                    <m:d>
                      <m:dPr>
                        <m:begChr m:val="‖"/>
                        <m:endChr m:val="‖"/>
                        <m:ctrlPr>
                          <a:rPr lang="en-US" altLang="zh-TW" sz="2000" i="1" smtClean="0">
                            <a:latin typeface="Cambria Math"/>
                            <a:ea typeface="標楷體" pitchFamily="65" charset="-120"/>
                            <a:cs typeface="Times New Roman" pitchFamily="18" charset="0"/>
                          </a:rPr>
                        </m:ctrlPr>
                      </m:dPr>
                      <m:e>
                        <m:r>
                          <a:rPr lang="en-US" altLang="zh-TW" sz="2000" b="0" i="1" smtClean="0">
                            <a:latin typeface="Cambria Math"/>
                            <a:ea typeface="標楷體" pitchFamily="65" charset="-120"/>
                            <a:cs typeface="Times New Roman" pitchFamily="18" charset="0"/>
                          </a:rPr>
                          <m:t>𝑖</m:t>
                        </m:r>
                        <m:r>
                          <a:rPr lang="en-US" altLang="zh-TW" sz="2000" b="0" i="1" smtClean="0">
                            <a:latin typeface="Cambria Math"/>
                            <a:ea typeface="標楷體" pitchFamily="65" charset="-120"/>
                            <a:cs typeface="Times New Roman" pitchFamily="18" charset="0"/>
                          </a:rPr>
                          <m:t>−</m:t>
                        </m:r>
                        <m:r>
                          <a:rPr lang="en-US" altLang="zh-TW" sz="2000" b="0" i="1" smtClean="0">
                            <a:latin typeface="Cambria Math"/>
                            <a:ea typeface="標楷體" pitchFamily="65" charset="-120"/>
                            <a:cs typeface="Times New Roman" pitchFamily="18" charset="0"/>
                          </a:rPr>
                          <m:t>𝑗</m:t>
                        </m:r>
                      </m:e>
                    </m:d>
                  </m:oMath>
                </a14:m>
                <a:r>
                  <a:rPr lang="en-US" altLang="zh-TW" sz="2000" dirty="0" smtClean="0">
                    <a:latin typeface="Times New Roman" pitchFamily="18" charset="0"/>
                    <a:ea typeface="標楷體" pitchFamily="65" charset="-120"/>
                    <a:cs typeface="Times New Roman" pitchFamily="18" charset="0"/>
                  </a:rPr>
                  <a:t>, </a:t>
                </a:r>
                <a:r>
                  <a:rPr lang="en-US" altLang="zh-TW" sz="2000" dirty="0">
                    <a:latin typeface="Times New Roman" pitchFamily="18" charset="0"/>
                    <a:ea typeface="標楷體" pitchFamily="65" charset="-120"/>
                    <a:cs typeface="Times New Roman" pitchFamily="18" charset="0"/>
                  </a:rPr>
                  <a:t>where </a:t>
                </a:r>
                <a:r>
                  <a:rPr lang="en-US" altLang="zh-TW" sz="2000" dirty="0" err="1">
                    <a:latin typeface="Times New Roman" pitchFamily="18" charset="0"/>
                    <a:ea typeface="標楷體" pitchFamily="65" charset="-120"/>
                    <a:cs typeface="Times New Roman" pitchFamily="18" charset="0"/>
                  </a:rPr>
                  <a:t>i</a:t>
                </a:r>
                <a:r>
                  <a:rPr lang="en-US" altLang="zh-TW" sz="2000" dirty="0">
                    <a:latin typeface="Times New Roman" pitchFamily="18" charset="0"/>
                    <a:ea typeface="標楷體" pitchFamily="65" charset="-120"/>
                    <a:cs typeface="Times New Roman" pitchFamily="18" charset="0"/>
                  </a:rPr>
                  <a:t> and j are the sequence indices of </a:t>
                </a:r>
                <a:r>
                  <a:rPr lang="en-US" altLang="zh-TW" sz="2000" dirty="0" smtClean="0">
                    <a:latin typeface="Times New Roman" pitchFamily="18" charset="0"/>
                    <a:ea typeface="標楷體" pitchFamily="65" charset="-120"/>
                    <a:cs typeface="Times New Roman" pitchFamily="18" charset="0"/>
                  </a:rPr>
                  <a:t>two </a:t>
                </a:r>
                <a:r>
                  <a:rPr lang="en-US" altLang="zh-TW" sz="2000" dirty="0" err="1" smtClean="0">
                    <a:latin typeface="Times New Roman" pitchFamily="18" charset="0"/>
                    <a:ea typeface="標楷體" pitchFamily="65" charset="-120"/>
                    <a:cs typeface="Times New Roman" pitchFamily="18" charset="0"/>
                  </a:rPr>
                  <a:t>cysteines</a:t>
                </a:r>
                <a:r>
                  <a:rPr lang="en-US" altLang="zh-TW" sz="2000" dirty="0" smtClean="0">
                    <a:latin typeface="Times New Roman" pitchFamily="18" charset="0"/>
                    <a:ea typeface="標楷體" pitchFamily="65" charset="-120"/>
                    <a:cs typeface="Times New Roman" pitchFamily="18" charset="0"/>
                  </a:rPr>
                  <a:t>.</a:t>
                </a:r>
              </a:p>
              <a:p>
                <a:pPr lvl="1"/>
                <a:r>
                  <a:rPr lang="en-US" altLang="zh-TW" sz="2000" dirty="0" smtClean="0">
                    <a:latin typeface="Times New Roman" pitchFamily="18" charset="0"/>
                    <a:ea typeface="標楷體" pitchFamily="65" charset="-120"/>
                    <a:cs typeface="Times New Roman" pitchFamily="18" charset="0"/>
                  </a:rPr>
                  <a:t>There </a:t>
                </a:r>
                <a:r>
                  <a:rPr lang="en-US" altLang="zh-TW" sz="2000" dirty="0">
                    <a:latin typeface="Times New Roman" pitchFamily="18" charset="0"/>
                    <a:ea typeface="標楷體" pitchFamily="65" charset="-120"/>
                    <a:cs typeface="Times New Roman" pitchFamily="18" charset="0"/>
                  </a:rPr>
                  <a:t>are fewer instances of </a:t>
                </a:r>
                <a:r>
                  <a:rPr lang="en-US" altLang="zh-TW" sz="2000" dirty="0" smtClean="0">
                    <a:latin typeface="Times New Roman" pitchFamily="18" charset="0"/>
                    <a:ea typeface="標楷體" pitchFamily="65" charset="-120"/>
                    <a:cs typeface="Times New Roman" pitchFamily="18" charset="0"/>
                  </a:rPr>
                  <a:t>connectivity (only 6.6% in SP39) </a:t>
                </a:r>
                <a:r>
                  <a:rPr lang="en-US" altLang="zh-TW" sz="2000" dirty="0">
                    <a:latin typeface="Times New Roman" pitchFamily="18" charset="0"/>
                    <a:ea typeface="標楷體" pitchFamily="65" charset="-120"/>
                    <a:cs typeface="Times New Roman" pitchFamily="18" charset="0"/>
                  </a:rPr>
                  <a:t>if DOC is </a:t>
                </a:r>
                <a:r>
                  <a:rPr lang="en-US" altLang="zh-TW" sz="2000" dirty="0" smtClean="0">
                    <a:latin typeface="Times New Roman" pitchFamily="18" charset="0"/>
                    <a:ea typeface="標楷體" pitchFamily="65" charset="-120"/>
                    <a:cs typeface="Times New Roman" pitchFamily="18" charset="0"/>
                  </a:rPr>
                  <a:t>larger than </a:t>
                </a:r>
                <a:r>
                  <a:rPr lang="en-US" altLang="zh-TW" sz="2000" dirty="0">
                    <a:latin typeface="Times New Roman" pitchFamily="18" charset="0"/>
                    <a:ea typeface="標楷體" pitchFamily="65" charset="-120"/>
                    <a:cs typeface="Times New Roman" pitchFamily="18" charset="0"/>
                  </a:rPr>
                  <a:t>100</a:t>
                </a:r>
                <a:r>
                  <a:rPr lang="en-US" altLang="zh-TW" sz="2000" dirty="0" smtClean="0">
                    <a:latin typeface="Times New Roman" pitchFamily="18" charset="0"/>
                    <a:ea typeface="標楷體" pitchFamily="65" charset="-120"/>
                    <a:cs typeface="Times New Roman" pitchFamily="18" charset="0"/>
                  </a:rPr>
                  <a:t>.</a:t>
                </a:r>
              </a:p>
              <a:p>
                <a:pPr lvl="1"/>
                <a:r>
                  <a:rPr lang="en-US" altLang="zh-TW" sz="2000" dirty="0" smtClean="0">
                    <a:latin typeface="Times New Roman" pitchFamily="18" charset="0"/>
                    <a:ea typeface="標楷體" pitchFamily="65" charset="-120"/>
                    <a:cs typeface="Times New Roman" pitchFamily="18" charset="0"/>
                  </a:rPr>
                  <a:t>The normalization min(DOC/100, 1) was applied.</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t="-1078"/>
                </a:stretch>
              </a:blipFill>
            </p:spPr>
            <p:txBody>
              <a:bodyPr/>
              <a:lstStyle/>
              <a:p>
                <a:r>
                  <a:rPr lang="zh-TW" altLang="en-US">
                    <a:noFill/>
                  </a:rPr>
                  <a:t> </a:t>
                </a:r>
              </a:p>
            </p:txBody>
          </p:sp>
        </mc:Fallback>
      </mc:AlternateContent>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1556792"/>
            <a:ext cx="5927502"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64437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Level-2: Pattern-wise</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For each protein, all possible disulfide bonding patterns were generated for encoding.</a:t>
            </a:r>
          </a:p>
          <a:p>
            <a:r>
              <a:rPr lang="en-US" altLang="zh-TW" sz="2400" dirty="0" smtClean="0">
                <a:latin typeface="Times New Roman" pitchFamily="18" charset="0"/>
                <a:ea typeface="標楷體" pitchFamily="65" charset="-120"/>
                <a:cs typeface="Times New Roman" pitchFamily="18" charset="0"/>
              </a:rPr>
              <a:t>Confidence scores from pair-wise SVM</a:t>
            </a:r>
            <a:br>
              <a:rPr lang="en-US" altLang="zh-TW" sz="2400" dirty="0" smtClean="0">
                <a:latin typeface="Times New Roman" pitchFamily="18" charset="0"/>
                <a:ea typeface="標楷體" pitchFamily="65" charset="-120"/>
                <a:cs typeface="Times New Roman" pitchFamily="18" charset="0"/>
              </a:rPr>
            </a:br>
            <a:r>
              <a:rPr lang="en-US" altLang="zh-TW" sz="2400" dirty="0" smtClean="0">
                <a:latin typeface="Times New Roman" pitchFamily="18" charset="0"/>
                <a:ea typeface="標楷體" pitchFamily="65" charset="-120"/>
                <a:cs typeface="Times New Roman" pitchFamily="18" charset="0"/>
              </a:rPr>
              <a:t>(denoted as S)</a:t>
            </a:r>
          </a:p>
          <a:p>
            <a:r>
              <a:rPr lang="en-US" altLang="zh-TW" sz="2400" dirty="0" smtClean="0">
                <a:latin typeface="Times New Roman" pitchFamily="18" charset="0"/>
                <a:ea typeface="標楷體" pitchFamily="65" charset="-120"/>
                <a:cs typeface="Times New Roman" pitchFamily="18" charset="0"/>
              </a:rPr>
              <a:t>CSP search (denoted as C)</a:t>
            </a:r>
          </a:p>
          <a:p>
            <a:pPr lvl="1"/>
            <a:r>
              <a:rPr lang="en-US" altLang="zh-TW" sz="2000" dirty="0" smtClean="0">
                <a:latin typeface="Times New Roman" pitchFamily="18" charset="0"/>
                <a:ea typeface="標楷體" pitchFamily="65" charset="-120"/>
                <a:cs typeface="Times New Roman" pitchFamily="18" charset="0"/>
              </a:rPr>
              <a:t>Based </a:t>
            </a:r>
            <a:r>
              <a:rPr lang="en-US" altLang="zh-TW" sz="2000" dirty="0">
                <a:latin typeface="Times New Roman" pitchFamily="18" charset="0"/>
                <a:ea typeface="標楷體" pitchFamily="65" charset="-120"/>
                <a:cs typeface="Times New Roman" pitchFamily="18" charset="0"/>
              </a:rPr>
              <a:t>on the </a:t>
            </a:r>
            <a:r>
              <a:rPr lang="en-US" altLang="zh-TW" sz="2000" dirty="0" smtClean="0">
                <a:latin typeface="Times New Roman" pitchFamily="18" charset="0"/>
                <a:ea typeface="標楷體" pitchFamily="65" charset="-120"/>
                <a:cs typeface="Times New Roman" pitchFamily="18" charset="0"/>
              </a:rPr>
              <a:t>assumption that </a:t>
            </a:r>
            <a:r>
              <a:rPr lang="en-US" altLang="zh-TW" sz="2000" dirty="0">
                <a:latin typeface="Times New Roman" pitchFamily="18" charset="0"/>
                <a:ea typeface="標楷體" pitchFamily="65" charset="-120"/>
                <a:cs typeface="Times New Roman" pitchFamily="18" charset="0"/>
              </a:rPr>
              <a:t>two proteins with similar cysteine </a:t>
            </a:r>
            <a:r>
              <a:rPr lang="en-US" altLang="zh-TW" sz="2000" dirty="0" smtClean="0">
                <a:latin typeface="Times New Roman" pitchFamily="18" charset="0"/>
                <a:ea typeface="標楷體" pitchFamily="65" charset="-120"/>
                <a:cs typeface="Times New Roman" pitchFamily="18" charset="0"/>
              </a:rPr>
              <a:t>separation share </a:t>
            </a:r>
            <a:r>
              <a:rPr lang="en-US" altLang="zh-TW" sz="2000" dirty="0">
                <a:latin typeface="Times New Roman" pitchFamily="18" charset="0"/>
                <a:ea typeface="標楷體" pitchFamily="65" charset="-120"/>
                <a:cs typeface="Times New Roman" pitchFamily="18" charset="0"/>
              </a:rPr>
              <a:t>the same disulfide connectivity</a:t>
            </a:r>
            <a:r>
              <a:rPr lang="en-US" altLang="zh-TW" sz="2000" dirty="0" smtClean="0">
                <a:latin typeface="Times New Roman" pitchFamily="18" charset="0"/>
                <a:ea typeface="標楷體" pitchFamily="65" charset="-120"/>
                <a:cs typeface="Times New Roman" pitchFamily="18" charset="0"/>
              </a:rPr>
              <a:t>.</a:t>
            </a:r>
          </a:p>
          <a:p>
            <a:pPr lvl="1"/>
            <a:endParaRPr lang="en-US" altLang="zh-TW" sz="2000" dirty="0">
              <a:latin typeface="Times New Roman" pitchFamily="18" charset="0"/>
              <a:ea typeface="標楷體" pitchFamily="65" charset="-120"/>
              <a:cs typeface="Times New Roman" pitchFamily="18" charset="0"/>
            </a:endParaRPr>
          </a:p>
          <a:p>
            <a:pPr lvl="1"/>
            <a:endParaRPr lang="en-US" altLang="zh-TW" sz="2000" dirty="0">
              <a:latin typeface="Times New Roman" pitchFamily="18" charset="0"/>
              <a:ea typeface="標楷體" pitchFamily="65" charset="-120"/>
              <a:cs typeface="Times New Roman" pitchFamily="18" charset="0"/>
            </a:endParaRPr>
          </a:p>
          <a:p>
            <a:r>
              <a:rPr lang="en-US" altLang="zh-TW" sz="2400" dirty="0" smtClean="0">
                <a:latin typeface="Times New Roman" pitchFamily="18" charset="0"/>
                <a:ea typeface="標楷體" pitchFamily="65" charset="-120"/>
                <a:cs typeface="Times New Roman" pitchFamily="18" charset="0"/>
              </a:rPr>
              <a:t>Global information (denoted as G)</a:t>
            </a:r>
          </a:p>
          <a:p>
            <a:pPr lvl="1"/>
            <a:r>
              <a:rPr lang="en-US" altLang="zh-TW" sz="2000" dirty="0" smtClean="0">
                <a:latin typeface="Times New Roman" pitchFamily="18" charset="0"/>
                <a:ea typeface="標楷體" pitchFamily="65" charset="-120"/>
                <a:cs typeface="Times New Roman" pitchFamily="18" charset="0"/>
              </a:rPr>
              <a:t>Cysteine ordering</a:t>
            </a:r>
          </a:p>
          <a:p>
            <a:pPr lvl="1"/>
            <a:r>
              <a:rPr lang="en-US" altLang="zh-TW" sz="2000" dirty="0" smtClean="0">
                <a:latin typeface="Times New Roman" pitchFamily="18" charset="0"/>
                <a:ea typeface="標楷體" pitchFamily="65" charset="-120"/>
                <a:cs typeface="Times New Roman" pitchFamily="18" charset="0"/>
              </a:rPr>
              <a:t>Protein length</a:t>
            </a:r>
          </a:p>
          <a:p>
            <a:endParaRPr lang="en-US" altLang="zh-TW" sz="2400" dirty="0" smtClean="0">
              <a:latin typeface="Times New Roman" pitchFamily="18" charset="0"/>
              <a:ea typeface="標楷體" pitchFamily="65" charset="-12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2355726"/>
            <a:ext cx="241935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4323184"/>
            <a:ext cx="29146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77305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Level-2: Pattern-wise</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SVM models were separately trained for proteins with different numbers of bonds.</a:t>
            </a:r>
          </a:p>
          <a:p>
            <a:r>
              <a:rPr lang="en-US" altLang="zh-TW" sz="2400" dirty="0" smtClean="0">
                <a:latin typeface="Times New Roman" pitchFamily="18" charset="0"/>
                <a:ea typeface="標楷體" pitchFamily="65" charset="-120"/>
                <a:cs typeface="Times New Roman" pitchFamily="18" charset="0"/>
              </a:rPr>
              <a:t>Reduction for imbalance</a:t>
            </a:r>
          </a:p>
          <a:p>
            <a:pPr lvl="1"/>
            <a:r>
              <a:rPr lang="en-US" altLang="zh-TW" sz="2000" dirty="0" smtClean="0">
                <a:latin typeface="Times New Roman" pitchFamily="18" charset="0"/>
                <a:ea typeface="標楷體" pitchFamily="65" charset="-120"/>
                <a:cs typeface="Times New Roman" pitchFamily="18" charset="0"/>
              </a:rPr>
              <a:t>Select the top k possible </a:t>
            </a:r>
            <a:br>
              <a:rPr lang="en-US" altLang="zh-TW" sz="2000" dirty="0" smtClean="0">
                <a:latin typeface="Times New Roman" pitchFamily="18" charset="0"/>
                <a:ea typeface="標楷體" pitchFamily="65" charset="-120"/>
                <a:cs typeface="Times New Roman" pitchFamily="18" charset="0"/>
              </a:rPr>
            </a:br>
            <a:r>
              <a:rPr lang="en-US" altLang="zh-TW" sz="2000" dirty="0" smtClean="0">
                <a:latin typeface="Times New Roman" pitchFamily="18" charset="0"/>
                <a:ea typeface="標楷體" pitchFamily="65" charset="-120"/>
                <a:cs typeface="Times New Roman" pitchFamily="18" charset="0"/>
              </a:rPr>
              <a:t>patterns as candidates by </a:t>
            </a:r>
            <a:r>
              <a:rPr lang="en-US" altLang="zh-TW" sz="2000" dirty="0">
                <a:latin typeface="Times New Roman" pitchFamily="18" charset="0"/>
                <a:ea typeface="標楷體" pitchFamily="65" charset="-120"/>
                <a:cs typeface="Times New Roman" pitchFamily="18" charset="0"/>
              </a:rPr>
              <a:t/>
            </a:r>
            <a:br>
              <a:rPr lang="en-US" altLang="zh-TW" sz="2000" dirty="0">
                <a:latin typeface="Times New Roman" pitchFamily="18" charset="0"/>
                <a:ea typeface="標楷體" pitchFamily="65" charset="-120"/>
                <a:cs typeface="Times New Roman" pitchFamily="18" charset="0"/>
              </a:rPr>
            </a:br>
            <a:r>
              <a:rPr lang="en-US" altLang="zh-TW" sz="2000" dirty="0" smtClean="0">
                <a:latin typeface="Times New Roman" pitchFamily="18" charset="0"/>
                <a:ea typeface="標楷體" pitchFamily="65" charset="-120"/>
                <a:cs typeface="Times New Roman" pitchFamily="18" charset="0"/>
              </a:rPr>
              <a:t>using the confidence </a:t>
            </a:r>
            <a:r>
              <a:rPr lang="en-US" altLang="zh-TW" sz="2000" smtClean="0">
                <a:latin typeface="Times New Roman" pitchFamily="18" charset="0"/>
                <a:ea typeface="標楷體" pitchFamily="65" charset="-120"/>
                <a:cs typeface="Times New Roman" pitchFamily="18" charset="0"/>
              </a:rPr>
              <a:t/>
            </a:r>
            <a:br>
              <a:rPr lang="en-US" altLang="zh-TW" sz="2000" smtClean="0">
                <a:latin typeface="Times New Roman" pitchFamily="18" charset="0"/>
                <a:ea typeface="標楷體" pitchFamily="65" charset="-120"/>
                <a:cs typeface="Times New Roman" pitchFamily="18" charset="0"/>
              </a:rPr>
            </a:br>
            <a:r>
              <a:rPr lang="en-US" altLang="zh-TW" sz="2000" smtClean="0">
                <a:latin typeface="Times New Roman" pitchFamily="18" charset="0"/>
                <a:ea typeface="標楷體" pitchFamily="65" charset="-120"/>
                <a:cs typeface="Times New Roman" pitchFamily="18" charset="0"/>
              </a:rPr>
              <a:t>scores</a:t>
            </a:r>
            <a:r>
              <a:rPr lang="en-US" altLang="zh-TW" sz="2000" dirty="0" smtClean="0">
                <a:latin typeface="Times New Roman" pitchFamily="18" charset="0"/>
                <a:ea typeface="標楷體" pitchFamily="65" charset="-120"/>
                <a:cs typeface="Times New Roman" pitchFamily="18" charset="0"/>
              </a:rPr>
              <a:t>.</a:t>
            </a:r>
          </a:p>
          <a:p>
            <a:pPr lvl="1"/>
            <a:r>
              <a:rPr lang="en-US" altLang="zh-TW" sz="2000" dirty="0">
                <a:latin typeface="Times New Roman" pitchFamily="18" charset="0"/>
                <a:ea typeface="標楷體" pitchFamily="65" charset="-120"/>
                <a:cs typeface="Times New Roman" pitchFamily="18" charset="0"/>
              </a:rPr>
              <a:t>k</a:t>
            </a:r>
            <a:r>
              <a:rPr lang="en-US" altLang="zh-TW" sz="2000" dirty="0" smtClean="0">
                <a:latin typeface="Times New Roman" pitchFamily="18" charset="0"/>
                <a:ea typeface="標楷體" pitchFamily="65" charset="-120"/>
                <a:cs typeface="Times New Roman" pitchFamily="18" charset="0"/>
              </a:rPr>
              <a:t> is set to 15.</a:t>
            </a:r>
          </a:p>
          <a:p>
            <a:endParaRPr lang="en-US" altLang="zh-TW" sz="2400" dirty="0" smtClean="0">
              <a:latin typeface="Times New Roman" pitchFamily="18" charset="0"/>
              <a:ea typeface="標楷體" pitchFamily="65" charset="-12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2852936"/>
            <a:ext cx="5217820"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75554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Result (SP39)</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itchFamily="18" charset="0"/>
              <a:ea typeface="標楷體" pitchFamily="65" charset="-120"/>
              <a:cs typeface="Times New Roman"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61" y="1700808"/>
            <a:ext cx="7620363" cy="420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24347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Result (SP43)</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In </a:t>
            </a:r>
            <a:r>
              <a:rPr lang="en-US" altLang="zh-TW" sz="2400" dirty="0">
                <a:latin typeface="Times New Roman" pitchFamily="18" charset="0"/>
                <a:ea typeface="標楷體" pitchFamily="65" charset="-120"/>
                <a:cs typeface="Times New Roman" pitchFamily="18" charset="0"/>
              </a:rPr>
              <a:t>the </a:t>
            </a:r>
            <a:r>
              <a:rPr lang="en-US" altLang="zh-TW" sz="2400" dirty="0" smtClean="0">
                <a:latin typeface="Times New Roman" pitchFamily="18" charset="0"/>
                <a:ea typeface="標楷體" pitchFamily="65" charset="-120"/>
                <a:cs typeface="Times New Roman" pitchFamily="18" charset="0"/>
              </a:rPr>
              <a:t>SP39-template</a:t>
            </a:r>
            <a:r>
              <a:rPr lang="en-US" altLang="zh-TW" sz="2400" dirty="0">
                <a:latin typeface="Times New Roman" pitchFamily="18" charset="0"/>
                <a:ea typeface="標楷體" pitchFamily="65" charset="-120"/>
                <a:cs typeface="Times New Roman" pitchFamily="18" charset="0"/>
              </a:rPr>
              <a:t>, the sequences were not filtered by the </a:t>
            </a:r>
            <a:r>
              <a:rPr lang="en-US" altLang="zh-TW" sz="2400" dirty="0" smtClean="0">
                <a:latin typeface="Times New Roman" pitchFamily="18" charset="0"/>
                <a:ea typeface="標楷體" pitchFamily="65" charset="-120"/>
                <a:cs typeface="Times New Roman" pitchFamily="18" charset="0"/>
              </a:rPr>
              <a:t>PDB database</a:t>
            </a:r>
            <a:r>
              <a:rPr lang="en-US" altLang="zh-TW" sz="2400" dirty="0">
                <a:latin typeface="Times New Roman" pitchFamily="18" charset="0"/>
                <a:ea typeface="標楷體" pitchFamily="65" charset="-120"/>
                <a:cs typeface="Times New Roman" pitchFamily="18" charset="0"/>
              </a:rPr>
              <a:t>, and therefore </a:t>
            </a:r>
            <a:r>
              <a:rPr lang="en-US" altLang="zh-TW" sz="2400" dirty="0">
                <a:solidFill>
                  <a:srgbClr val="FF0000"/>
                </a:solidFill>
                <a:latin typeface="Times New Roman" pitchFamily="18" charset="0"/>
                <a:ea typeface="標楷體" pitchFamily="65" charset="-120"/>
                <a:cs typeface="Times New Roman" pitchFamily="18" charset="0"/>
              </a:rPr>
              <a:t>might contain incorrect </a:t>
            </a:r>
            <a:r>
              <a:rPr lang="en-US" altLang="zh-TW" sz="2400" dirty="0" smtClean="0">
                <a:solidFill>
                  <a:srgbClr val="FF0000"/>
                </a:solidFill>
                <a:latin typeface="Times New Roman" pitchFamily="18" charset="0"/>
                <a:ea typeface="標楷體" pitchFamily="65" charset="-120"/>
                <a:cs typeface="Times New Roman" pitchFamily="18" charset="0"/>
              </a:rPr>
              <a:t>disulfide annotation</a:t>
            </a:r>
            <a:r>
              <a:rPr lang="en-US" altLang="zh-TW" sz="2400" dirty="0" smtClean="0">
                <a:latin typeface="Times New Roman" pitchFamily="18" charset="0"/>
                <a:ea typeface="標楷體" pitchFamily="65" charset="-120"/>
                <a:cs typeface="Times New Roman" pitchFamily="18" charset="0"/>
              </a:rPr>
              <a:t>.</a:t>
            </a:r>
          </a:p>
          <a:p>
            <a:r>
              <a:rPr lang="en-US" altLang="zh-TW" sz="2400" dirty="0" smtClean="0">
                <a:latin typeface="Times New Roman" pitchFamily="18" charset="0"/>
                <a:ea typeface="標楷體" pitchFamily="65" charset="-120"/>
                <a:cs typeface="Times New Roman" pitchFamily="18" charset="0"/>
              </a:rPr>
              <a:t>This </a:t>
            </a:r>
            <a:r>
              <a:rPr lang="en-US" altLang="zh-TW" sz="2400" dirty="0">
                <a:latin typeface="Times New Roman" pitchFamily="18" charset="0"/>
                <a:ea typeface="標楷體" pitchFamily="65" charset="-120"/>
                <a:cs typeface="Times New Roman" pitchFamily="18" charset="0"/>
              </a:rPr>
              <a:t>kind </a:t>
            </a:r>
            <a:r>
              <a:rPr lang="en-US" altLang="zh-TW" sz="2400" dirty="0" smtClean="0">
                <a:latin typeface="Times New Roman" pitchFamily="18" charset="0"/>
                <a:ea typeface="標楷體" pitchFamily="65" charset="-120"/>
                <a:cs typeface="Times New Roman" pitchFamily="18" charset="0"/>
              </a:rPr>
              <a:t>of noisy </a:t>
            </a:r>
            <a:r>
              <a:rPr lang="en-US" altLang="zh-TW" sz="2400" dirty="0">
                <a:latin typeface="Times New Roman" pitchFamily="18" charset="0"/>
                <a:ea typeface="標楷體" pitchFamily="65" charset="-120"/>
                <a:cs typeface="Times New Roman" pitchFamily="18" charset="0"/>
              </a:rPr>
              <a:t>information in the SP39-template might be the </a:t>
            </a:r>
            <a:r>
              <a:rPr lang="en-US" altLang="zh-TW" sz="2400" dirty="0" smtClean="0">
                <a:latin typeface="Times New Roman" pitchFamily="18" charset="0"/>
                <a:ea typeface="標楷體" pitchFamily="65" charset="-120"/>
                <a:cs typeface="Times New Roman" pitchFamily="18" charset="0"/>
              </a:rPr>
              <a:t>cause of </a:t>
            </a:r>
            <a:r>
              <a:rPr lang="en-US" altLang="zh-TW" sz="2400" dirty="0">
                <a:latin typeface="Times New Roman" pitchFamily="18" charset="0"/>
                <a:ea typeface="標楷體" pitchFamily="65" charset="-120"/>
                <a:cs typeface="Times New Roman" pitchFamily="18" charset="0"/>
              </a:rPr>
              <a:t>the 7% difference in accuracy for SP39 and SP43.</a:t>
            </a:r>
            <a:endParaRPr lang="en-US" altLang="zh-TW" sz="2400" dirty="0" smtClean="0">
              <a:latin typeface="Times New Roman" pitchFamily="18" charset="0"/>
              <a:ea typeface="標楷體" pitchFamily="65" charset="-120"/>
              <a:cs typeface="Times New Roman" pitchFamily="18" charset="0"/>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583" y="3789040"/>
            <a:ext cx="7064817"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68384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Discussion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itchFamily="18" charset="0"/>
              <a:ea typeface="標楷體" pitchFamily="65" charset="-120"/>
              <a:cs typeface="Times New Roman" pitchFamily="18" charset="0"/>
            </a:endParaRP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556792"/>
            <a:ext cx="7311525"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60456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Example – CSP implication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a:latin typeface="Times New Roman" pitchFamily="18" charset="0"/>
                <a:ea typeface="標楷體" pitchFamily="65" charset="-120"/>
                <a:cs typeface="Times New Roman" pitchFamily="18" charset="0"/>
              </a:rPr>
              <a:t>For some sequences, their actual disulfide bonding patterns may not have high confidence scores from the pair-wise models.</a:t>
            </a:r>
            <a:endParaRPr lang="en-US" altLang="zh-TW" sz="2400" dirty="0" smtClean="0">
              <a:latin typeface="Times New Roman" pitchFamily="18" charset="0"/>
              <a:ea typeface="標楷體" pitchFamily="65" charset="-120"/>
              <a:cs typeface="Times New Roman"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420888"/>
            <a:ext cx="6020523" cy="4328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26985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Example – Global information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itchFamily="18" charset="0"/>
              <a:ea typeface="標楷體" pitchFamily="65" charset="-120"/>
              <a:cs typeface="Times New Roman"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556792"/>
            <a:ext cx="6686697" cy="465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89094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Effect of candidate selection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SP39, there were 28 sequences with B = 4, whose actual bonding patterns were excluded from the candidate set when testing.</a:t>
            </a:r>
          </a:p>
          <a:p>
            <a:r>
              <a:rPr lang="en-US" altLang="zh-TW" sz="2400" dirty="0" smtClean="0">
                <a:latin typeface="Times New Roman" pitchFamily="18" charset="0"/>
                <a:ea typeface="標楷體" pitchFamily="65" charset="-120"/>
                <a:cs typeface="Times New Roman" pitchFamily="18" charset="0"/>
              </a:rPr>
              <a:t>Speed up the model training.</a:t>
            </a:r>
          </a:p>
        </p:txBody>
      </p:sp>
      <p:graphicFrame>
        <p:nvGraphicFramePr>
          <p:cNvPr id="4" name="表格 3"/>
          <p:cNvGraphicFramePr>
            <a:graphicFrameLocks noGrp="1"/>
          </p:cNvGraphicFramePr>
          <p:nvPr>
            <p:extLst>
              <p:ext uri="{D42A27DB-BD31-4B8C-83A1-F6EECF244321}">
                <p14:modId xmlns:p14="http://schemas.microsoft.com/office/powerpoint/2010/main" val="370775293"/>
              </p:ext>
            </p:extLst>
          </p:nvPr>
        </p:nvGraphicFramePr>
        <p:xfrm>
          <a:off x="1331640" y="3717032"/>
          <a:ext cx="6408711" cy="2232249"/>
        </p:xfrm>
        <a:graphic>
          <a:graphicData uri="http://schemas.openxmlformats.org/drawingml/2006/table">
            <a:tbl>
              <a:tblPr firstRow="1" bandRow="1">
                <a:tableStyleId>{5C22544A-7EE6-4342-B048-85BDC9FD1C3A}</a:tableStyleId>
              </a:tblPr>
              <a:tblGrid>
                <a:gridCol w="2136237"/>
                <a:gridCol w="2136237"/>
                <a:gridCol w="2136237"/>
              </a:tblGrid>
              <a:tr h="744083">
                <a:tc>
                  <a:txBody>
                    <a:bodyPr/>
                    <a:lstStyle/>
                    <a:p>
                      <a:pPr algn="ctr"/>
                      <a:r>
                        <a:rPr lang="en-US" altLang="zh-TW" sz="2000" dirty="0" err="1" smtClean="0">
                          <a:latin typeface="Times New Roman" pitchFamily="18" charset="0"/>
                          <a:cs typeface="Times New Roman" pitchFamily="18" charset="0"/>
                        </a:rPr>
                        <a:t>Qp</a:t>
                      </a:r>
                      <a:endParaRPr lang="zh-TW" altLang="en-US" sz="2000" dirty="0">
                        <a:latin typeface="Times New Roman" pitchFamily="18" charset="0"/>
                        <a:cs typeface="Times New Roman" pitchFamily="18" charset="0"/>
                      </a:endParaRPr>
                    </a:p>
                  </a:txBody>
                  <a:tcPr anchor="ctr"/>
                </a:tc>
                <a:tc>
                  <a:txBody>
                    <a:bodyPr/>
                    <a:lstStyle/>
                    <a:p>
                      <a:pPr algn="ctr"/>
                      <a:r>
                        <a:rPr lang="en-US" altLang="zh-TW" sz="2000" dirty="0" smtClean="0">
                          <a:latin typeface="Times New Roman" pitchFamily="18" charset="0"/>
                          <a:cs typeface="Times New Roman" pitchFamily="18" charset="0"/>
                        </a:rPr>
                        <a:t>SP39</a:t>
                      </a:r>
                      <a:endParaRPr lang="zh-TW" altLang="en-US" sz="2000" dirty="0">
                        <a:latin typeface="Times New Roman" pitchFamily="18" charset="0"/>
                        <a:cs typeface="Times New Roman" pitchFamily="18" charset="0"/>
                      </a:endParaRPr>
                    </a:p>
                  </a:txBody>
                  <a:tcPr anchor="ctr"/>
                </a:tc>
                <a:tc>
                  <a:txBody>
                    <a:bodyPr/>
                    <a:lstStyle/>
                    <a:p>
                      <a:pPr algn="ctr"/>
                      <a:r>
                        <a:rPr lang="en-US" altLang="zh-TW" sz="2000" dirty="0" smtClean="0">
                          <a:latin typeface="Times New Roman" pitchFamily="18" charset="0"/>
                          <a:cs typeface="Times New Roman" pitchFamily="18" charset="0"/>
                        </a:rPr>
                        <a:t>SP43</a:t>
                      </a:r>
                      <a:endParaRPr lang="zh-TW" altLang="en-US" sz="2000" dirty="0">
                        <a:latin typeface="Times New Roman" pitchFamily="18" charset="0"/>
                        <a:cs typeface="Times New Roman" pitchFamily="18" charset="0"/>
                      </a:endParaRPr>
                    </a:p>
                  </a:txBody>
                  <a:tcPr anchor="ctr"/>
                </a:tc>
              </a:tr>
              <a:tr h="744083">
                <a:tc>
                  <a:txBody>
                    <a:bodyPr/>
                    <a:lstStyle/>
                    <a:p>
                      <a:pPr algn="ctr"/>
                      <a:r>
                        <a:rPr lang="en-US" altLang="zh-TW" sz="2000" dirty="0" smtClean="0">
                          <a:latin typeface="Times New Roman" pitchFamily="18" charset="0"/>
                          <a:cs typeface="Times New Roman" pitchFamily="18" charset="0"/>
                        </a:rPr>
                        <a:t>With</a:t>
                      </a:r>
                      <a:r>
                        <a:rPr lang="en-US" altLang="zh-TW" sz="2000" baseline="0" dirty="0" smtClean="0">
                          <a:latin typeface="Times New Roman" pitchFamily="18" charset="0"/>
                          <a:cs typeface="Times New Roman" pitchFamily="18" charset="0"/>
                        </a:rPr>
                        <a:t> candidate selection</a:t>
                      </a:r>
                      <a:endParaRPr lang="zh-TW" altLang="en-US" sz="2000" dirty="0">
                        <a:latin typeface="Times New Roman" pitchFamily="18" charset="0"/>
                        <a:cs typeface="Times New Roman" pitchFamily="18" charset="0"/>
                      </a:endParaRPr>
                    </a:p>
                  </a:txBody>
                  <a:tcPr anchor="ctr"/>
                </a:tc>
                <a:tc>
                  <a:txBody>
                    <a:bodyPr/>
                    <a:lstStyle/>
                    <a:p>
                      <a:pPr algn="ctr"/>
                      <a:r>
                        <a:rPr lang="en-US" altLang="zh-TW" sz="2000" dirty="0" smtClean="0">
                          <a:latin typeface="Times New Roman" pitchFamily="18" charset="0"/>
                          <a:cs typeface="Times New Roman" pitchFamily="18" charset="0"/>
                        </a:rPr>
                        <a:t>70%</a:t>
                      </a:r>
                      <a:endParaRPr lang="zh-TW" altLang="en-US" sz="2000" dirty="0">
                        <a:latin typeface="Times New Roman" pitchFamily="18" charset="0"/>
                        <a:cs typeface="Times New Roman" pitchFamily="18" charset="0"/>
                      </a:endParaRPr>
                    </a:p>
                  </a:txBody>
                  <a:tcPr anchor="ctr"/>
                </a:tc>
                <a:tc>
                  <a:txBody>
                    <a:bodyPr/>
                    <a:lstStyle/>
                    <a:p>
                      <a:pPr algn="ctr"/>
                      <a:r>
                        <a:rPr lang="en-US" altLang="zh-TW" sz="2000" dirty="0" smtClean="0">
                          <a:latin typeface="Times New Roman" pitchFamily="18" charset="0"/>
                          <a:cs typeface="Times New Roman" pitchFamily="18" charset="0"/>
                        </a:rPr>
                        <a:t>63%</a:t>
                      </a:r>
                      <a:endParaRPr lang="zh-TW" altLang="en-US" sz="2000" dirty="0">
                        <a:latin typeface="Times New Roman" pitchFamily="18" charset="0"/>
                        <a:cs typeface="Times New Roman" pitchFamily="18" charset="0"/>
                      </a:endParaRPr>
                    </a:p>
                  </a:txBody>
                  <a:tcPr anchor="ctr"/>
                </a:tc>
              </a:tr>
              <a:tr h="744083">
                <a:tc>
                  <a:txBody>
                    <a:bodyPr/>
                    <a:lstStyle/>
                    <a:p>
                      <a:pPr algn="ctr"/>
                      <a:r>
                        <a:rPr lang="en-US" altLang="zh-TW" sz="2000" dirty="0" smtClean="0">
                          <a:latin typeface="Times New Roman" pitchFamily="18" charset="0"/>
                          <a:cs typeface="Times New Roman" pitchFamily="18" charset="0"/>
                        </a:rPr>
                        <a:t>Without</a:t>
                      </a:r>
                      <a:r>
                        <a:rPr lang="en-US" altLang="zh-TW" sz="2000" baseline="0" dirty="0" smtClean="0">
                          <a:latin typeface="Times New Roman" pitchFamily="18" charset="0"/>
                          <a:cs typeface="Times New Roman" pitchFamily="18" charset="0"/>
                        </a:rPr>
                        <a:t> candidate selection</a:t>
                      </a:r>
                      <a:endParaRPr lang="zh-TW" altLang="en-US" sz="2000" dirty="0">
                        <a:latin typeface="Times New Roman" pitchFamily="18" charset="0"/>
                        <a:cs typeface="Times New Roman" pitchFamily="18" charset="0"/>
                      </a:endParaRPr>
                    </a:p>
                  </a:txBody>
                  <a:tcPr anchor="ctr"/>
                </a:tc>
                <a:tc>
                  <a:txBody>
                    <a:bodyPr/>
                    <a:lstStyle/>
                    <a:p>
                      <a:pPr algn="ctr"/>
                      <a:r>
                        <a:rPr lang="en-US" altLang="zh-TW" sz="2000" dirty="0" smtClean="0">
                          <a:latin typeface="Times New Roman" pitchFamily="18" charset="0"/>
                          <a:cs typeface="Times New Roman" pitchFamily="18" charset="0"/>
                        </a:rPr>
                        <a:t>69%</a:t>
                      </a:r>
                      <a:endParaRPr lang="zh-TW" altLang="en-US" sz="2000" dirty="0">
                        <a:latin typeface="Times New Roman" pitchFamily="18" charset="0"/>
                        <a:cs typeface="Times New Roman" pitchFamily="18" charset="0"/>
                      </a:endParaRPr>
                    </a:p>
                  </a:txBody>
                  <a:tcPr anchor="ctr"/>
                </a:tc>
                <a:tc>
                  <a:txBody>
                    <a:bodyPr/>
                    <a:lstStyle/>
                    <a:p>
                      <a:pPr algn="ctr"/>
                      <a:r>
                        <a:rPr lang="en-US" altLang="zh-TW" sz="2000" dirty="0" smtClean="0">
                          <a:latin typeface="Times New Roman" pitchFamily="18" charset="0"/>
                          <a:cs typeface="Times New Roman" pitchFamily="18" charset="0"/>
                        </a:rPr>
                        <a:t>62%</a:t>
                      </a:r>
                      <a:endParaRPr lang="zh-TW" altLang="en-US" sz="2000" dirty="0">
                        <a:latin typeface="Times New Roman" pitchFamily="18" charset="0"/>
                        <a:cs typeface="Times New Roman" pitchFamily="18" charset="0"/>
                      </a:endParaRPr>
                    </a:p>
                  </a:txBody>
                  <a:tcPr anchor="ctr"/>
                </a:tc>
              </a:tr>
            </a:tbl>
          </a:graphicData>
        </a:graphic>
      </p:graphicFrame>
    </p:spTree>
    <p:extLst>
      <p:ext uri="{BB962C8B-B14F-4D97-AF65-F5344CB8AC3E}">
        <p14:creationId xmlns:p14="http://schemas.microsoft.com/office/powerpoint/2010/main" val="12951939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Conclusion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a:latin typeface="Times New Roman" pitchFamily="18" charset="0"/>
                <a:ea typeface="標楷體" pitchFamily="65" charset="-120"/>
                <a:cs typeface="Times New Roman" pitchFamily="18" charset="0"/>
              </a:rPr>
              <a:t>Yet, the pattern-wise methods cannot </a:t>
            </a:r>
            <a:r>
              <a:rPr lang="en-US" altLang="zh-TW" sz="2400" dirty="0" smtClean="0">
                <a:latin typeface="Times New Roman" pitchFamily="18" charset="0"/>
                <a:ea typeface="標楷體" pitchFamily="65" charset="-120"/>
                <a:cs typeface="Times New Roman" pitchFamily="18" charset="0"/>
              </a:rPr>
              <a:t>fully explore </a:t>
            </a:r>
            <a:r>
              <a:rPr lang="en-US" altLang="zh-TW" sz="2400" dirty="0">
                <a:latin typeface="Times New Roman" pitchFamily="18" charset="0"/>
                <a:ea typeface="標楷體" pitchFamily="65" charset="-120"/>
                <a:cs typeface="Times New Roman" pitchFamily="18" charset="0"/>
              </a:rPr>
              <a:t>the local environment of cysteine residues</a:t>
            </a:r>
            <a:r>
              <a:rPr lang="en-US" altLang="zh-TW" sz="2400" dirty="0" smtClean="0">
                <a:latin typeface="Times New Roman" pitchFamily="18" charset="0"/>
                <a:ea typeface="標楷體" pitchFamily="65" charset="-120"/>
                <a:cs typeface="Times New Roman" pitchFamily="18" charset="0"/>
              </a:rPr>
              <a:t>.</a:t>
            </a:r>
          </a:p>
          <a:p>
            <a:r>
              <a:rPr lang="en-US" altLang="zh-TW" sz="2400" dirty="0" smtClean="0">
                <a:latin typeface="Times New Roman" pitchFamily="18" charset="0"/>
                <a:ea typeface="標楷體" pitchFamily="65" charset="-120"/>
                <a:cs typeface="Times New Roman" pitchFamily="18" charset="0"/>
              </a:rPr>
              <a:t>The pattern-wise methods may suffer from the imbalance of training data.</a:t>
            </a:r>
          </a:p>
          <a:p>
            <a:r>
              <a:rPr lang="en-US" altLang="zh-TW" sz="2400" dirty="0" smtClean="0">
                <a:latin typeface="Times New Roman" pitchFamily="18" charset="0"/>
                <a:ea typeface="標楷體" pitchFamily="65" charset="-120"/>
                <a:cs typeface="Times New Roman" pitchFamily="18" charset="0"/>
              </a:rPr>
              <a:t>The </a:t>
            </a:r>
            <a:r>
              <a:rPr lang="en-US" altLang="zh-TW" sz="2400" dirty="0">
                <a:latin typeface="Times New Roman" pitchFamily="18" charset="0"/>
                <a:ea typeface="標楷體" pitchFamily="65" charset="-120"/>
                <a:cs typeface="Times New Roman" pitchFamily="18" charset="0"/>
              </a:rPr>
              <a:t>two-level framework takes the advantages of </a:t>
            </a:r>
            <a:r>
              <a:rPr lang="en-US" altLang="zh-TW" sz="2400" dirty="0" smtClean="0">
                <a:latin typeface="Times New Roman" pitchFamily="18" charset="0"/>
                <a:ea typeface="標楷體" pitchFamily="65" charset="-120"/>
                <a:cs typeface="Times New Roman" pitchFamily="18" charset="0"/>
              </a:rPr>
              <a:t>both encoding </a:t>
            </a:r>
            <a:r>
              <a:rPr lang="en-US" altLang="zh-TW" sz="2400" dirty="0">
                <a:latin typeface="Times New Roman" pitchFamily="18" charset="0"/>
                <a:ea typeface="標楷體" pitchFamily="65" charset="-120"/>
                <a:cs typeface="Times New Roman" pitchFamily="18" charset="0"/>
              </a:rPr>
              <a:t>schemes and attempts to avoid the limitation </a:t>
            </a:r>
            <a:r>
              <a:rPr lang="en-US" altLang="zh-TW" sz="2400" dirty="0" smtClean="0">
                <a:latin typeface="Times New Roman" pitchFamily="18" charset="0"/>
                <a:ea typeface="標楷體" pitchFamily="65" charset="-120"/>
                <a:cs typeface="Times New Roman" pitchFamily="18" charset="0"/>
              </a:rPr>
              <a:t>of both </a:t>
            </a:r>
            <a:r>
              <a:rPr lang="en-US" altLang="zh-TW" sz="2400" dirty="0">
                <a:latin typeface="Times New Roman" pitchFamily="18" charset="0"/>
                <a:ea typeface="標楷體" pitchFamily="65" charset="-120"/>
                <a:cs typeface="Times New Roman" pitchFamily="18" charset="0"/>
              </a:rPr>
              <a:t>methods</a:t>
            </a:r>
            <a:r>
              <a:rPr lang="en-US" altLang="zh-TW" sz="2400" dirty="0" smtClean="0">
                <a:latin typeface="Times New Roman" pitchFamily="18" charset="0"/>
                <a:ea typeface="標楷體" pitchFamily="65" charset="-120"/>
                <a:cs typeface="Times New Roman" pitchFamily="18" charset="0"/>
              </a:rPr>
              <a:t>.</a:t>
            </a:r>
          </a:p>
          <a:p>
            <a:r>
              <a:rPr lang="en-US" altLang="zh-TW" sz="2400" dirty="0" smtClean="0">
                <a:solidFill>
                  <a:srgbClr val="FF0000"/>
                </a:solidFill>
                <a:latin typeface="Times New Roman" pitchFamily="18" charset="0"/>
                <a:ea typeface="標楷體" pitchFamily="65" charset="-120"/>
                <a:cs typeface="Times New Roman" pitchFamily="18" charset="0"/>
              </a:rPr>
              <a:t>The </a:t>
            </a:r>
            <a:r>
              <a:rPr lang="en-US" altLang="zh-TW" sz="2400" dirty="0">
                <a:solidFill>
                  <a:srgbClr val="FF0000"/>
                </a:solidFill>
                <a:latin typeface="Times New Roman" pitchFamily="18" charset="0"/>
                <a:ea typeface="標楷體" pitchFamily="65" charset="-120"/>
                <a:cs typeface="Times New Roman" pitchFamily="18" charset="0"/>
              </a:rPr>
              <a:t>proposed framework is flexible </a:t>
            </a:r>
            <a:r>
              <a:rPr lang="en-US" altLang="zh-TW" sz="2400" dirty="0" smtClean="0">
                <a:solidFill>
                  <a:srgbClr val="FF0000"/>
                </a:solidFill>
                <a:latin typeface="Times New Roman" pitchFamily="18" charset="0"/>
                <a:ea typeface="標楷體" pitchFamily="65" charset="-120"/>
                <a:cs typeface="Times New Roman" pitchFamily="18" charset="0"/>
              </a:rPr>
              <a:t>and extensible</a:t>
            </a:r>
            <a:r>
              <a:rPr lang="en-US" altLang="zh-TW" sz="2400" dirty="0">
                <a:solidFill>
                  <a:srgbClr val="FF0000"/>
                </a:solidFill>
                <a:latin typeface="Times New Roman" pitchFamily="18" charset="0"/>
                <a:ea typeface="標楷體" pitchFamily="65" charset="-120"/>
                <a:cs typeface="Times New Roman" pitchFamily="18" charset="0"/>
              </a:rPr>
              <a:t>.</a:t>
            </a:r>
            <a:endParaRPr lang="en-US" altLang="zh-TW" sz="2400" dirty="0" smtClean="0">
              <a:solidFill>
                <a:srgbClr val="FF0000"/>
              </a:solidFill>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318717060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36132</TotalTime>
  <Words>828</Words>
  <Application>Microsoft Office PowerPoint</Application>
  <PresentationFormat>如螢幕大小 (4:3)</PresentationFormat>
  <Paragraphs>88</Paragraphs>
  <Slides>18</Slides>
  <Notes>0</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Office 佈景主題</vt:lpstr>
      <vt:lpstr>Disulfide Connectivity Prediction with 70% Accuracy Using Two-Level Models  Bo-Juen Chen, Chi-Hung Tsai, Chen-hsiung Chan,  and Cheng-Yan Kao  PROTEINS: Structure, Function, and Bioinformatics,  Vol. 64, pp. 246–252, 2006</vt:lpstr>
      <vt:lpstr>Abstract (1/2)</vt:lpstr>
      <vt:lpstr>Abstract (2/2)</vt:lpstr>
      <vt:lpstr>Why do I choose this paper to study?</vt:lpstr>
      <vt:lpstr>Introduction</vt:lpstr>
      <vt:lpstr>Dataset</vt:lpstr>
      <vt:lpstr>Clarifying the concept</vt:lpstr>
      <vt:lpstr>Method</vt:lpstr>
      <vt:lpstr>Level-1: Pair-wise</vt:lpstr>
      <vt:lpstr>Level-2: Pattern-wise</vt:lpstr>
      <vt:lpstr>Level-2: Pattern-wise</vt:lpstr>
      <vt:lpstr>Result (SP39)</vt:lpstr>
      <vt:lpstr>Result (SP43)</vt:lpstr>
      <vt:lpstr>Discussion</vt:lpstr>
      <vt:lpstr>Example – CSP implication</vt:lpstr>
      <vt:lpstr>Example – Global information</vt:lpstr>
      <vt:lpstr>Effect of candidate selection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Hong-Yu Chen</dc:creator>
  <cp:lastModifiedBy>CHY</cp:lastModifiedBy>
  <cp:revision>722</cp:revision>
  <dcterms:created xsi:type="dcterms:W3CDTF">2010-10-17T09:22:10Z</dcterms:created>
  <dcterms:modified xsi:type="dcterms:W3CDTF">2011-11-02T08:11:47Z</dcterms:modified>
</cp:coreProperties>
</file>