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89" r:id="rId3"/>
    <p:sldId id="257" r:id="rId4"/>
    <p:sldId id="258" r:id="rId5"/>
    <p:sldId id="261" r:id="rId6"/>
    <p:sldId id="262" r:id="rId7"/>
    <p:sldId id="263" r:id="rId8"/>
    <p:sldId id="264" r:id="rId9"/>
    <p:sldId id="265" r:id="rId10"/>
    <p:sldId id="266" r:id="rId11"/>
    <p:sldId id="267" r:id="rId12"/>
    <p:sldId id="291" r:id="rId13"/>
    <p:sldId id="268" r:id="rId14"/>
    <p:sldId id="290" r:id="rId15"/>
    <p:sldId id="270" r:id="rId16"/>
    <p:sldId id="272" r:id="rId17"/>
    <p:sldId id="273" r:id="rId18"/>
    <p:sldId id="274" r:id="rId19"/>
    <p:sldId id="279" r:id="rId20"/>
    <p:sldId id="275" r:id="rId21"/>
    <p:sldId id="276" r:id="rId22"/>
    <p:sldId id="277" r:id="rId23"/>
    <p:sldId id="278" r:id="rId24"/>
    <p:sldId id="292" r:id="rId25"/>
    <p:sldId id="280" r:id="rId26"/>
    <p:sldId id="281" r:id="rId27"/>
    <p:sldId id="282" r:id="rId28"/>
    <p:sldId id="283" r:id="rId29"/>
    <p:sldId id="284" r:id="rId30"/>
    <p:sldId id="285" r:id="rId31"/>
    <p:sldId id="286" r:id="rId32"/>
    <p:sldId id="287" r:id="rId33"/>
    <p:sldId id="288" r:id="rId34"/>
    <p:sldId id="293" r:id="rId35"/>
  </p:sldIdLst>
  <p:sldSz cx="9144000" cy="6858000" type="screen4x3"/>
  <p:notesSz cx="6858000" cy="9144000"/>
  <p:defaultTextStyle>
    <a:defPPr>
      <a:defRPr lang="zh-TW"/>
    </a:defPPr>
    <a:lvl1pPr algn="l" rtl="0" fontAlgn="base">
      <a:spcBef>
        <a:spcPct val="0"/>
      </a:spcBef>
      <a:spcAft>
        <a:spcPct val="0"/>
      </a:spcAft>
      <a:defRPr kumimoji="1" kern="1200">
        <a:solidFill>
          <a:schemeClr val="tx1"/>
        </a:solidFill>
        <a:latin typeface="Arial" charset="0"/>
        <a:ea typeface="新細明體" pitchFamily="18" charset="-120"/>
        <a:cs typeface="+mn-cs"/>
      </a:defRPr>
    </a:lvl1pPr>
    <a:lvl2pPr marL="457200" algn="l" rtl="0" fontAlgn="base">
      <a:spcBef>
        <a:spcPct val="0"/>
      </a:spcBef>
      <a:spcAft>
        <a:spcPct val="0"/>
      </a:spcAft>
      <a:defRPr kumimoji="1" kern="1200">
        <a:solidFill>
          <a:schemeClr val="tx1"/>
        </a:solidFill>
        <a:latin typeface="Arial" charset="0"/>
        <a:ea typeface="新細明體" pitchFamily="18" charset="-120"/>
        <a:cs typeface="+mn-cs"/>
      </a:defRPr>
    </a:lvl2pPr>
    <a:lvl3pPr marL="914400" algn="l" rtl="0" fontAlgn="base">
      <a:spcBef>
        <a:spcPct val="0"/>
      </a:spcBef>
      <a:spcAft>
        <a:spcPct val="0"/>
      </a:spcAft>
      <a:defRPr kumimoji="1" kern="1200">
        <a:solidFill>
          <a:schemeClr val="tx1"/>
        </a:solidFill>
        <a:latin typeface="Arial" charset="0"/>
        <a:ea typeface="新細明體" pitchFamily="18" charset="-120"/>
        <a:cs typeface="+mn-cs"/>
      </a:defRPr>
    </a:lvl3pPr>
    <a:lvl4pPr marL="1371600" algn="l" rtl="0" fontAlgn="base">
      <a:spcBef>
        <a:spcPct val="0"/>
      </a:spcBef>
      <a:spcAft>
        <a:spcPct val="0"/>
      </a:spcAft>
      <a:defRPr kumimoji="1" kern="1200">
        <a:solidFill>
          <a:schemeClr val="tx1"/>
        </a:solidFill>
        <a:latin typeface="Arial" charset="0"/>
        <a:ea typeface="新細明體" pitchFamily="18" charset="-120"/>
        <a:cs typeface="+mn-cs"/>
      </a:defRPr>
    </a:lvl4pPr>
    <a:lvl5pPr marL="1828800" algn="l" rtl="0" fontAlgn="base">
      <a:spcBef>
        <a:spcPct val="0"/>
      </a:spcBef>
      <a:spcAft>
        <a:spcPct val="0"/>
      </a:spcAft>
      <a:defRPr kumimoji="1" kern="1200">
        <a:solidFill>
          <a:schemeClr val="tx1"/>
        </a:solidFill>
        <a:latin typeface="Arial" charset="0"/>
        <a:ea typeface="新細明體" pitchFamily="18" charset="-120"/>
        <a:cs typeface="+mn-cs"/>
      </a:defRPr>
    </a:lvl5pPr>
    <a:lvl6pPr marL="2286000" algn="l" defTabSz="914400" rtl="0" eaLnBrk="1" latinLnBrk="0" hangingPunct="1">
      <a:defRPr kumimoji="1" kern="1200">
        <a:solidFill>
          <a:schemeClr val="tx1"/>
        </a:solidFill>
        <a:latin typeface="Arial" charset="0"/>
        <a:ea typeface="新細明體" pitchFamily="18" charset="-120"/>
        <a:cs typeface="+mn-cs"/>
      </a:defRPr>
    </a:lvl6pPr>
    <a:lvl7pPr marL="2743200" algn="l" defTabSz="914400" rtl="0" eaLnBrk="1" latinLnBrk="0" hangingPunct="1">
      <a:defRPr kumimoji="1" kern="1200">
        <a:solidFill>
          <a:schemeClr val="tx1"/>
        </a:solidFill>
        <a:latin typeface="Arial" charset="0"/>
        <a:ea typeface="新細明體" pitchFamily="18" charset="-120"/>
        <a:cs typeface="+mn-cs"/>
      </a:defRPr>
    </a:lvl7pPr>
    <a:lvl8pPr marL="3200400" algn="l" defTabSz="914400" rtl="0" eaLnBrk="1" latinLnBrk="0" hangingPunct="1">
      <a:defRPr kumimoji="1" kern="1200">
        <a:solidFill>
          <a:schemeClr val="tx1"/>
        </a:solidFill>
        <a:latin typeface="Arial" charset="0"/>
        <a:ea typeface="新細明體" pitchFamily="18" charset="-120"/>
        <a:cs typeface="+mn-cs"/>
      </a:defRPr>
    </a:lvl8pPr>
    <a:lvl9pPr marL="3657600" algn="l" defTabSz="914400" rtl="0" eaLnBrk="1" latinLnBrk="0" hangingPunct="1">
      <a:defRPr kumimoji="1" kern="1200">
        <a:solidFill>
          <a:schemeClr val="tx1"/>
        </a:solidFill>
        <a:latin typeface="Arial" charset="0"/>
        <a:ea typeface="新細明體" pitchFamily="18" charset="-120"/>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886" autoAdjust="0"/>
  </p:normalViewPr>
  <p:slideViewPr>
    <p:cSldViewPr>
      <p:cViewPr varScale="1">
        <p:scale>
          <a:sx n="56" d="100"/>
          <a:sy n="56" d="100"/>
        </p:scale>
        <p:origin x="-906" y="-8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ltLang="zh-TW"/>
          </a:p>
        </p:txBody>
      </p:sp>
      <p:sp>
        <p:nvSpPr>
          <p:cNvPr id="40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ltLang="zh-TW"/>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41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ltLang="zh-TW"/>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77EAB557-27B9-4137-9922-7326E82A35AE}" type="slidenum">
              <a:rPr lang="en-US" altLang="zh-TW"/>
              <a:pPr/>
              <a:t>‹#›</a:t>
            </a:fld>
            <a:endParaRPr lang="en-US" altLang="zh-TW"/>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Arial" charset="0"/>
        <a:ea typeface="新細明體" pitchFamily="18" charset="-120"/>
        <a:cs typeface="+mn-cs"/>
      </a:defRPr>
    </a:lvl1pPr>
    <a:lvl2pPr marL="457200" algn="l" rtl="0" fontAlgn="base">
      <a:spcBef>
        <a:spcPct val="30000"/>
      </a:spcBef>
      <a:spcAft>
        <a:spcPct val="0"/>
      </a:spcAft>
      <a:defRPr kumimoji="1" sz="1200" kern="1200">
        <a:solidFill>
          <a:schemeClr val="tx1"/>
        </a:solidFill>
        <a:latin typeface="Arial" charset="0"/>
        <a:ea typeface="新細明體" pitchFamily="18" charset="-120"/>
        <a:cs typeface="+mn-cs"/>
      </a:defRPr>
    </a:lvl2pPr>
    <a:lvl3pPr marL="914400" algn="l" rtl="0" fontAlgn="base">
      <a:spcBef>
        <a:spcPct val="30000"/>
      </a:spcBef>
      <a:spcAft>
        <a:spcPct val="0"/>
      </a:spcAft>
      <a:defRPr kumimoji="1" sz="1200" kern="1200">
        <a:solidFill>
          <a:schemeClr val="tx1"/>
        </a:solidFill>
        <a:latin typeface="Arial" charset="0"/>
        <a:ea typeface="新細明體" pitchFamily="18" charset="-120"/>
        <a:cs typeface="+mn-cs"/>
      </a:defRPr>
    </a:lvl3pPr>
    <a:lvl4pPr marL="1371600" algn="l" rtl="0" fontAlgn="base">
      <a:spcBef>
        <a:spcPct val="30000"/>
      </a:spcBef>
      <a:spcAft>
        <a:spcPct val="0"/>
      </a:spcAft>
      <a:defRPr kumimoji="1" sz="1200" kern="1200">
        <a:solidFill>
          <a:schemeClr val="tx1"/>
        </a:solidFill>
        <a:latin typeface="Arial" charset="0"/>
        <a:ea typeface="新細明體" pitchFamily="18" charset="-120"/>
        <a:cs typeface="+mn-cs"/>
      </a:defRPr>
    </a:lvl4pPr>
    <a:lvl5pPr marL="1828800" algn="l" rtl="0" fontAlgn="base">
      <a:spcBef>
        <a:spcPct val="30000"/>
      </a:spcBef>
      <a:spcAft>
        <a:spcPct val="0"/>
      </a:spcAft>
      <a:defRPr kumimoji="1" sz="1200" kern="1200">
        <a:solidFill>
          <a:schemeClr val="tx1"/>
        </a:solidFill>
        <a:latin typeface="Arial" charset="0"/>
        <a:ea typeface="新細明體" pitchFamily="18"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www.kanadas.com/CCM/hyper/locality.html" TargetMode="External"/><Relationship Id="rId2" Type="http://schemas.openxmlformats.org/officeDocument/2006/relationships/slide" Target="../slides/slide4.xml"/><Relationship Id="rId1" Type="http://schemas.openxmlformats.org/officeDocument/2006/relationships/notesMaster" Target="../notesMasters/notesMaster1.xml"/><Relationship Id="rId6" Type="http://schemas.openxmlformats.org/officeDocument/2006/relationships/hyperlink" Target="http://en.wikipedia.org/wiki/Materials" TargetMode="External"/><Relationship Id="rId5" Type="http://schemas.openxmlformats.org/officeDocument/2006/relationships/hyperlink" Target="http://en.wikipedia.org/wiki/Anima" TargetMode="External"/><Relationship Id="rId4" Type="http://schemas.openxmlformats.org/officeDocument/2006/relationships/hyperlink" Target="http://en.wikipedia.org/wiki/Animal"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AD69E24-CC85-4E6A-B67D-6A80B40CA663}" type="slidenum">
              <a:rPr lang="en-US" altLang="zh-TW"/>
              <a:pPr/>
              <a:t>3</a:t>
            </a:fld>
            <a:endParaRPr lang="en-US" altLang="zh-TW"/>
          </a:p>
        </p:txBody>
      </p:sp>
      <p:sp>
        <p:nvSpPr>
          <p:cNvPr id="5122" name="Rectangle 2"/>
          <p:cNvSpPr>
            <a:spLocks noGrp="1" noRot="1" noChangeAspect="1" noChangeArrowheads="1" noTextEdit="1"/>
          </p:cNvSpPr>
          <p:nvPr>
            <p:ph type="sldImg"/>
          </p:nvPr>
        </p:nvSpPr>
        <p:spPr>
          <a:ln/>
        </p:spPr>
      </p:sp>
      <p:sp>
        <p:nvSpPr>
          <p:cNvPr id="5123" name="Rectangle 3"/>
          <p:cNvSpPr>
            <a:spLocks noGrp="1" noChangeArrowheads="1"/>
          </p:cNvSpPr>
          <p:nvPr>
            <p:ph type="body" idx="1"/>
          </p:nvPr>
        </p:nvSpPr>
        <p:spPr/>
        <p:txBody>
          <a:bodyPr/>
          <a:lstStyle/>
          <a:p>
            <a:r>
              <a:rPr lang="en-US" altLang="zh-TW"/>
              <a:t>Paradigm </a:t>
            </a:r>
            <a:r>
              <a:rPr lang="zh-TW" altLang="en-US"/>
              <a:t>範例</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sz="1200" dirty="0" smtClean="0"/>
              <a:t>Emergent </a:t>
            </a:r>
            <a:r>
              <a:rPr lang="en-US" altLang="zh-TW" sz="1200" dirty="0" err="1" smtClean="0"/>
              <a:t>computaion</a:t>
            </a:r>
            <a:r>
              <a:rPr lang="en-US" altLang="zh-TW" sz="1200" dirty="0" smtClean="0"/>
              <a:t> is a type of computation that is bottom-up and not globally nor totally programmed. Only </a:t>
            </a:r>
            <a:r>
              <a:rPr lang="en-US" altLang="zh-TW" sz="1200" dirty="0" smtClean="0">
                <a:hlinkClick r:id="rId3"/>
              </a:rPr>
              <a:t>local information</a:t>
            </a:r>
            <a:r>
              <a:rPr lang="en-US" altLang="zh-TW" sz="1200" dirty="0" smtClean="0"/>
              <a:t> or very limited amount of information is used for a unit of computation. </a:t>
            </a:r>
          </a:p>
          <a:p>
            <a:endParaRPr lang="en-US" altLang="zh-TW" sz="1200" dirty="0" smtClean="0"/>
          </a:p>
          <a:p>
            <a:r>
              <a:rPr kumimoji="1" lang="en-US" altLang="zh-TW" sz="1200" b="1" i="0" kern="1200" dirty="0" err="1" smtClean="0">
                <a:solidFill>
                  <a:schemeClr val="tx1"/>
                </a:solidFill>
                <a:latin typeface="Arial" charset="0"/>
                <a:ea typeface="新細明體" pitchFamily="18" charset="-120"/>
                <a:cs typeface="+mn-cs"/>
              </a:rPr>
              <a:t>Animats</a:t>
            </a:r>
            <a:r>
              <a:rPr kumimoji="1" lang="en-US" altLang="zh-TW" sz="1200" b="0" i="0" kern="1200" dirty="0" smtClean="0">
                <a:solidFill>
                  <a:schemeClr val="tx1"/>
                </a:solidFill>
                <a:latin typeface="Arial" charset="0"/>
                <a:ea typeface="新細明體" pitchFamily="18" charset="-120"/>
                <a:cs typeface="+mn-cs"/>
              </a:rPr>
              <a:t> are artificial </a:t>
            </a:r>
            <a:r>
              <a:rPr kumimoji="1" lang="en-US" altLang="zh-TW" sz="1200" b="0" i="0" u="none" strike="noStrike" kern="1200" dirty="0" smtClean="0">
                <a:solidFill>
                  <a:schemeClr val="tx1"/>
                </a:solidFill>
                <a:latin typeface="Arial" charset="0"/>
                <a:ea typeface="新細明體" pitchFamily="18" charset="-120"/>
                <a:cs typeface="+mn-cs"/>
                <a:hlinkClick r:id="rId4" tooltip="Animal"/>
              </a:rPr>
              <a:t>animals</a:t>
            </a:r>
            <a:r>
              <a:rPr kumimoji="1" lang="en-US" altLang="zh-TW" sz="1200" b="0" i="0" kern="1200" dirty="0" smtClean="0">
                <a:solidFill>
                  <a:schemeClr val="tx1"/>
                </a:solidFill>
                <a:latin typeface="Arial" charset="0"/>
                <a:ea typeface="新細明體" pitchFamily="18" charset="-120"/>
                <a:cs typeface="+mn-cs"/>
              </a:rPr>
              <a:t>, a contraction of </a:t>
            </a:r>
            <a:r>
              <a:rPr kumimoji="1" lang="en-US" altLang="zh-TW" sz="1200" b="0" i="0" u="none" strike="noStrike" kern="1200" dirty="0" smtClean="0">
                <a:solidFill>
                  <a:schemeClr val="tx1"/>
                </a:solidFill>
                <a:latin typeface="Arial" charset="0"/>
                <a:ea typeface="新細明體" pitchFamily="18" charset="-120"/>
                <a:cs typeface="+mn-cs"/>
                <a:hlinkClick r:id="rId5" tooltip="Anima"/>
              </a:rPr>
              <a:t>anima</a:t>
            </a:r>
            <a:r>
              <a:rPr kumimoji="1" lang="en-US" altLang="zh-TW" sz="1200" b="0" i="0" kern="1200" dirty="0" smtClean="0">
                <a:solidFill>
                  <a:schemeClr val="tx1"/>
                </a:solidFill>
                <a:latin typeface="Arial" charset="0"/>
                <a:ea typeface="新細明體" pitchFamily="18" charset="-120"/>
                <a:cs typeface="+mn-cs"/>
              </a:rPr>
              <a:t>-</a:t>
            </a:r>
            <a:r>
              <a:rPr kumimoji="1" lang="en-US" altLang="zh-TW" sz="1200" b="0" i="0" u="none" strike="noStrike" kern="1200" dirty="0" smtClean="0">
                <a:solidFill>
                  <a:schemeClr val="tx1"/>
                </a:solidFill>
                <a:latin typeface="Arial" charset="0"/>
                <a:ea typeface="新細明體" pitchFamily="18" charset="-120"/>
                <a:cs typeface="+mn-cs"/>
                <a:hlinkClick r:id="rId6" tooltip="Materials"/>
              </a:rPr>
              <a:t>materials</a:t>
            </a:r>
            <a:r>
              <a:rPr kumimoji="1" lang="en-US" altLang="zh-TW" sz="1200" b="0" i="0" kern="1200" dirty="0" smtClean="0">
                <a:solidFill>
                  <a:schemeClr val="tx1"/>
                </a:solidFill>
                <a:latin typeface="Arial" charset="0"/>
                <a:ea typeface="新細明體" pitchFamily="18" charset="-120"/>
                <a:cs typeface="+mn-cs"/>
              </a:rPr>
              <a:t>.</a:t>
            </a:r>
            <a:endParaRPr lang="en-US" altLang="zh-TW" sz="1200" dirty="0" smtClean="0"/>
          </a:p>
          <a:p>
            <a:endParaRPr lang="zh-TW" altLang="en-US" dirty="0"/>
          </a:p>
        </p:txBody>
      </p:sp>
      <p:sp>
        <p:nvSpPr>
          <p:cNvPr id="4" name="投影片編號版面配置區 3"/>
          <p:cNvSpPr>
            <a:spLocks noGrp="1"/>
          </p:cNvSpPr>
          <p:nvPr>
            <p:ph type="sldNum" sz="quarter" idx="10"/>
          </p:nvPr>
        </p:nvSpPr>
        <p:spPr/>
        <p:txBody>
          <a:bodyPr/>
          <a:lstStyle/>
          <a:p>
            <a:fld id="{77EAB557-27B9-4137-9922-7326E82A35AE}" type="slidenum">
              <a:rPr lang="en-US" altLang="zh-TW" smtClean="0"/>
              <a:pPr/>
              <a:t>4</a:t>
            </a:fld>
            <a:endParaRPr lang="en-US" altLang="zh-TW"/>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EFBBEC-0ED8-4141-B20C-1830A3F36B49}" type="slidenum">
              <a:rPr lang="en-US" altLang="zh-TW"/>
              <a:pPr/>
              <a:t>6</a:t>
            </a:fld>
            <a:endParaRPr lang="en-US" altLang="zh-TW"/>
          </a:p>
        </p:txBody>
      </p:sp>
      <p:sp>
        <p:nvSpPr>
          <p:cNvPr id="11266" name="Rectangle 2"/>
          <p:cNvSpPr>
            <a:spLocks noGrp="1" noRot="1" noChangeAspect="1" noChangeArrowheads="1" noTextEdit="1"/>
          </p:cNvSpPr>
          <p:nvPr>
            <p:ph type="sldImg"/>
          </p:nvPr>
        </p:nvSpPr>
        <p:spPr>
          <a:ln/>
        </p:spPr>
      </p:sp>
      <p:sp>
        <p:nvSpPr>
          <p:cNvPr id="11267" name="Rectangle 3"/>
          <p:cNvSpPr>
            <a:spLocks noGrp="1" noChangeArrowheads="1"/>
          </p:cNvSpPr>
          <p:nvPr>
            <p:ph type="body" idx="1"/>
          </p:nvPr>
        </p:nvSpPr>
        <p:spPr/>
        <p:txBody>
          <a:bodyPr/>
          <a:lstStyle/>
          <a:p>
            <a:r>
              <a:rPr lang="en-US" altLang="zh-TW" dirty="0" smtClean="0"/>
              <a:t>Brain-nervous </a:t>
            </a:r>
            <a:r>
              <a:rPr lang="en-US" altLang="zh-TW" dirty="0"/>
              <a:t>system : </a:t>
            </a:r>
            <a:r>
              <a:rPr lang="zh-TW" altLang="en-US" dirty="0"/>
              <a:t>腦神經系統</a:t>
            </a:r>
          </a:p>
          <a:p>
            <a:r>
              <a:rPr lang="en-US" altLang="zh-TW" dirty="0" err="1" smtClean="0"/>
              <a:t>endorcrine</a:t>
            </a:r>
            <a:r>
              <a:rPr lang="en-US" altLang="zh-TW" dirty="0" smtClean="0"/>
              <a:t> </a:t>
            </a:r>
            <a:r>
              <a:rPr lang="en-US" altLang="zh-TW" dirty="0"/>
              <a:t>[en do crime] : </a:t>
            </a:r>
            <a:r>
              <a:rPr lang="zh-TW" altLang="en-US" dirty="0"/>
              <a:t>內分泌系統</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i="0" dirty="0" smtClean="0"/>
              <a:t>antigen :</a:t>
            </a:r>
            <a:r>
              <a:rPr lang="en-US" altLang="zh-TW" i="0" baseline="0" dirty="0" smtClean="0"/>
              <a:t> </a:t>
            </a:r>
            <a:r>
              <a:rPr lang="zh-TW" altLang="en-US" i="0" baseline="0" dirty="0" smtClean="0"/>
              <a:t>抗原</a:t>
            </a:r>
            <a:endParaRPr lang="en-US" altLang="zh-TW" i="0" baseline="0" dirty="0" smtClean="0"/>
          </a:p>
          <a:p>
            <a:r>
              <a:rPr lang="en-US" altLang="zh-TW" sz="1200" i="0" dirty="0" err="1" smtClean="0"/>
              <a:t>epitope</a:t>
            </a:r>
            <a:r>
              <a:rPr lang="en-US" altLang="zh-TW" sz="1200" i="0" dirty="0" smtClean="0"/>
              <a:t> (antigen determinant): </a:t>
            </a:r>
            <a:r>
              <a:rPr lang="zh-TW" altLang="en-US" sz="1200" i="0" dirty="0" smtClean="0"/>
              <a:t>抗原決定簇 </a:t>
            </a:r>
            <a:r>
              <a:rPr lang="en-US" altLang="zh-TW" sz="1200" i="0" dirty="0" smtClean="0"/>
              <a:t>(</a:t>
            </a:r>
            <a:r>
              <a:rPr lang="zh-TW" altLang="en-US" sz="1200" i="0" dirty="0" smtClean="0"/>
              <a:t>就像</a:t>
            </a:r>
            <a:r>
              <a:rPr lang="en-US" altLang="zh-TW" sz="1200" i="0" dirty="0" smtClean="0"/>
              <a:t>key)</a:t>
            </a:r>
          </a:p>
          <a:p>
            <a:r>
              <a:rPr lang="en-US" altLang="zh-TW" sz="1200" i="0" dirty="0" err="1" smtClean="0"/>
              <a:t>paratope</a:t>
            </a:r>
            <a:r>
              <a:rPr lang="en-US" altLang="zh-TW" sz="1200" i="0" dirty="0" smtClean="0"/>
              <a:t>: </a:t>
            </a:r>
            <a:r>
              <a:rPr kumimoji="1" lang="en-US" altLang="zh-TW" sz="1200" b="0" i="0" kern="1200" dirty="0" smtClean="0">
                <a:solidFill>
                  <a:schemeClr val="tx1"/>
                </a:solidFill>
                <a:latin typeface="Arial" charset="0"/>
                <a:ea typeface="新細明體" pitchFamily="18" charset="-120"/>
                <a:cs typeface="+mn-cs"/>
              </a:rPr>
              <a:t>〔</a:t>
            </a:r>
            <a:r>
              <a:rPr kumimoji="1" lang="zh-TW" altLang="en-US" sz="1200" b="0" i="0" kern="1200" dirty="0" smtClean="0">
                <a:solidFill>
                  <a:schemeClr val="tx1"/>
                </a:solidFill>
                <a:latin typeface="Arial" charset="0"/>
                <a:ea typeface="新細明體" pitchFamily="18" charset="-120"/>
                <a:cs typeface="+mn-cs"/>
              </a:rPr>
              <a:t>抗原</a:t>
            </a:r>
            <a:r>
              <a:rPr kumimoji="1" lang="en-US" altLang="zh-TW" sz="1200" b="0" i="0" kern="1200" dirty="0" smtClean="0">
                <a:solidFill>
                  <a:schemeClr val="tx1"/>
                </a:solidFill>
                <a:latin typeface="Arial" charset="0"/>
                <a:ea typeface="新細明體" pitchFamily="18" charset="-120"/>
                <a:cs typeface="+mn-cs"/>
              </a:rPr>
              <a:t>〕</a:t>
            </a:r>
            <a:r>
              <a:rPr kumimoji="1" lang="zh-TW" altLang="en-US" sz="1200" b="0" i="0" kern="1200" dirty="0" smtClean="0">
                <a:solidFill>
                  <a:schemeClr val="tx1"/>
                </a:solidFill>
                <a:latin typeface="Arial" charset="0"/>
                <a:ea typeface="新細明體" pitchFamily="18" charset="-120"/>
                <a:cs typeface="+mn-cs"/>
              </a:rPr>
              <a:t>互補位 </a:t>
            </a:r>
            <a:r>
              <a:rPr kumimoji="1" lang="en-US" altLang="zh-TW" sz="1200" b="0" i="0" kern="1200" dirty="0" smtClean="0">
                <a:solidFill>
                  <a:schemeClr val="tx1"/>
                </a:solidFill>
                <a:latin typeface="Arial" charset="0"/>
                <a:ea typeface="新細明體" pitchFamily="18" charset="-120"/>
                <a:cs typeface="+mn-cs"/>
              </a:rPr>
              <a:t>(</a:t>
            </a:r>
            <a:r>
              <a:rPr kumimoji="1" lang="zh-TW" altLang="en-US" sz="1200" b="0" i="0" kern="1200" dirty="0" smtClean="0">
                <a:solidFill>
                  <a:schemeClr val="tx1"/>
                </a:solidFill>
                <a:latin typeface="Arial" charset="0"/>
                <a:ea typeface="新細明體" pitchFamily="18" charset="-120"/>
                <a:cs typeface="+mn-cs"/>
              </a:rPr>
              <a:t>就像</a:t>
            </a:r>
            <a:r>
              <a:rPr kumimoji="1" lang="en-US" altLang="zh-TW" sz="1200" b="0" i="0" kern="1200" dirty="0" smtClean="0">
                <a:solidFill>
                  <a:schemeClr val="tx1"/>
                </a:solidFill>
                <a:latin typeface="Arial" charset="0"/>
                <a:ea typeface="新細明體" pitchFamily="18" charset="-120"/>
                <a:cs typeface="+mn-cs"/>
              </a:rPr>
              <a:t>lock)</a:t>
            </a:r>
            <a:endParaRPr lang="zh-TW" altLang="en-US" i="0" dirty="0"/>
          </a:p>
        </p:txBody>
      </p:sp>
      <p:sp>
        <p:nvSpPr>
          <p:cNvPr id="4" name="投影片編號版面配置區 3"/>
          <p:cNvSpPr>
            <a:spLocks noGrp="1"/>
          </p:cNvSpPr>
          <p:nvPr>
            <p:ph type="sldNum" sz="quarter" idx="10"/>
          </p:nvPr>
        </p:nvSpPr>
        <p:spPr/>
        <p:txBody>
          <a:bodyPr/>
          <a:lstStyle/>
          <a:p>
            <a:fld id="{77EAB557-27B9-4137-9922-7326E82A35AE}" type="slidenum">
              <a:rPr lang="en-US" altLang="zh-TW" smtClean="0"/>
              <a:pPr/>
              <a:t>8</a:t>
            </a:fld>
            <a:endParaRPr lang="en-US" altLang="zh-TW"/>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smtClean="0"/>
              <a:t>早期對抗體抗原的概觀，抗原彼此是獨立運作的</a:t>
            </a:r>
            <a:r>
              <a:rPr lang="en-US" altLang="zh-TW" dirty="0" smtClean="0"/>
              <a:t/>
            </a:r>
            <a:br>
              <a:rPr lang="en-US" altLang="zh-TW" dirty="0" smtClean="0"/>
            </a:br>
            <a:r>
              <a:rPr lang="zh-TW" altLang="en-US" dirty="0" smtClean="0"/>
              <a:t>遇到某種抗原，可以對付他的抗體會自行運作</a:t>
            </a:r>
            <a:endParaRPr lang="en-US" altLang="zh-TW" dirty="0" smtClean="0"/>
          </a:p>
          <a:p>
            <a:r>
              <a:rPr lang="zh-TW" altLang="en-US" dirty="0" smtClean="0"/>
              <a:t>為求講解方便</a:t>
            </a:r>
            <a:endParaRPr lang="en-US" altLang="zh-TW" dirty="0" smtClean="0"/>
          </a:p>
          <a:p>
            <a:r>
              <a:rPr lang="en-US" altLang="zh-TW" dirty="0" err="1" smtClean="0"/>
              <a:t>ideotope</a:t>
            </a:r>
            <a:r>
              <a:rPr lang="zh-TW" altLang="en-US" dirty="0" smtClean="0"/>
              <a:t>簡稱</a:t>
            </a:r>
            <a:r>
              <a:rPr lang="en-US" altLang="zh-TW" baseline="0" dirty="0" smtClean="0"/>
              <a:t> </a:t>
            </a:r>
            <a:r>
              <a:rPr lang="en-US" altLang="zh-TW" baseline="0" dirty="0" err="1" smtClean="0"/>
              <a:t>i</a:t>
            </a:r>
            <a:r>
              <a:rPr lang="en-US" altLang="zh-TW" baseline="0" dirty="0" smtClean="0"/>
              <a:t>-key</a:t>
            </a:r>
          </a:p>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err="1" smtClean="0"/>
              <a:t>paratope</a:t>
            </a:r>
            <a:r>
              <a:rPr lang="zh-TW" altLang="en-US" dirty="0" smtClean="0"/>
              <a:t>簡稱</a:t>
            </a:r>
            <a:r>
              <a:rPr lang="en-US" altLang="zh-TW" baseline="0" dirty="0" smtClean="0"/>
              <a:t> </a:t>
            </a:r>
            <a:r>
              <a:rPr lang="en-US" altLang="zh-TW" baseline="0" dirty="0" err="1" smtClean="0"/>
              <a:t>ilock</a:t>
            </a:r>
            <a:endParaRPr lang="zh-TW"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err="1" smtClean="0"/>
              <a:t>epitope</a:t>
            </a:r>
            <a:r>
              <a:rPr lang="zh-TW" altLang="en-US" dirty="0" smtClean="0"/>
              <a:t>簡稱</a:t>
            </a:r>
            <a:r>
              <a:rPr lang="en-US" altLang="zh-TW" baseline="0" dirty="0" smtClean="0"/>
              <a:t> e-key</a:t>
            </a:r>
            <a:endParaRPr lang="zh-TW" altLang="en-US" dirty="0" smtClean="0"/>
          </a:p>
          <a:p>
            <a:endParaRPr lang="zh-TW" altLang="en-US" dirty="0"/>
          </a:p>
        </p:txBody>
      </p:sp>
      <p:sp>
        <p:nvSpPr>
          <p:cNvPr id="4" name="投影片編號版面配置區 3"/>
          <p:cNvSpPr>
            <a:spLocks noGrp="1"/>
          </p:cNvSpPr>
          <p:nvPr>
            <p:ph type="sldNum" sz="quarter" idx="10"/>
          </p:nvPr>
        </p:nvSpPr>
        <p:spPr/>
        <p:txBody>
          <a:bodyPr/>
          <a:lstStyle/>
          <a:p>
            <a:fld id="{77EAB557-27B9-4137-9922-7326E82A35AE}" type="slidenum">
              <a:rPr lang="en-US" altLang="zh-TW" smtClean="0"/>
              <a:pPr/>
              <a:t>9</a:t>
            </a:fld>
            <a:endParaRPr lang="en-US" altLang="zh-TW"/>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smtClean="0"/>
              <a:t>上下網路的點數目一樣</a:t>
            </a:r>
            <a:endParaRPr lang="en-US" altLang="zh-TW" dirty="0" smtClean="0"/>
          </a:p>
          <a:p>
            <a:r>
              <a:rPr lang="en-US" altLang="zh-TW" dirty="0" smtClean="0"/>
              <a:t>Stimulation</a:t>
            </a:r>
            <a:r>
              <a:rPr lang="zh-TW" altLang="en-US" dirty="0" smtClean="0"/>
              <a:t>和</a:t>
            </a:r>
            <a:r>
              <a:rPr lang="en-US" altLang="zh-TW" dirty="0" smtClean="0"/>
              <a:t>suppression</a:t>
            </a:r>
            <a:r>
              <a:rPr lang="zh-TW" altLang="en-US" dirty="0" smtClean="0"/>
              <a:t>為相反方向</a:t>
            </a:r>
            <a:endParaRPr lang="zh-TW" altLang="en-US" dirty="0"/>
          </a:p>
        </p:txBody>
      </p:sp>
      <p:sp>
        <p:nvSpPr>
          <p:cNvPr id="4" name="投影片編號版面配置區 3"/>
          <p:cNvSpPr>
            <a:spLocks noGrp="1"/>
          </p:cNvSpPr>
          <p:nvPr>
            <p:ph type="sldNum" sz="quarter" idx="10"/>
          </p:nvPr>
        </p:nvSpPr>
        <p:spPr/>
        <p:txBody>
          <a:bodyPr/>
          <a:lstStyle/>
          <a:p>
            <a:fld id="{77EAB557-27B9-4137-9922-7326E82A35AE}" type="slidenum">
              <a:rPr lang="en-US" altLang="zh-TW" smtClean="0"/>
              <a:pPr/>
              <a:t>12</a:t>
            </a:fld>
            <a:endParaRPr lang="en-US" altLang="zh-TW"/>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err="1" smtClean="0"/>
              <a:t>paratope</a:t>
            </a:r>
            <a:r>
              <a:rPr lang="en-US" altLang="zh-TW" dirty="0" smtClean="0"/>
              <a:t>: </a:t>
            </a:r>
            <a:r>
              <a:rPr lang="zh-TW" altLang="en-US" dirty="0" smtClean="0"/>
              <a:t>表示選擇該抗體需要的先滿足的條件</a:t>
            </a:r>
            <a:r>
              <a:rPr lang="en-US" altLang="zh-TW" dirty="0" smtClean="0"/>
              <a:t>(</a:t>
            </a:r>
            <a:r>
              <a:rPr lang="zh-TW" altLang="en-US" dirty="0" smtClean="0"/>
              <a:t>想要做這件事要受到怎樣的刺激</a:t>
            </a:r>
            <a:r>
              <a:rPr lang="en-US" altLang="zh-TW" dirty="0" smtClean="0"/>
              <a:t>)</a:t>
            </a:r>
          </a:p>
          <a:p>
            <a:r>
              <a:rPr lang="en-US" altLang="zh-TW" dirty="0" err="1" smtClean="0"/>
              <a:t>idiotope</a:t>
            </a:r>
            <a:r>
              <a:rPr lang="en-US" altLang="zh-TW" dirty="0" smtClean="0"/>
              <a:t>: </a:t>
            </a:r>
            <a:r>
              <a:rPr lang="zh-TW" altLang="en-US" dirty="0" smtClean="0"/>
              <a:t>表示該抗體要表現出自己的行為時期望的狀況</a:t>
            </a:r>
            <a:r>
              <a:rPr lang="en-US" altLang="zh-TW" dirty="0" smtClean="0"/>
              <a:t>(</a:t>
            </a:r>
            <a:r>
              <a:rPr lang="zh-TW" altLang="en-US" dirty="0" smtClean="0"/>
              <a:t>做了這件事情會給怎樣的刺激</a:t>
            </a:r>
            <a:r>
              <a:rPr lang="en-US" altLang="zh-TW" dirty="0" smtClean="0"/>
              <a:t>)</a:t>
            </a:r>
          </a:p>
          <a:p>
            <a:r>
              <a:rPr lang="zh-TW" altLang="en-US" dirty="0" smtClean="0"/>
              <a:t>兩者的關系為一種連鎖的因果關係</a:t>
            </a:r>
            <a:endParaRPr lang="en-US" altLang="zh-TW" dirty="0" smtClean="0"/>
          </a:p>
          <a:p>
            <a:r>
              <a:rPr lang="en-US" altLang="zh-TW" dirty="0" smtClean="0"/>
              <a:t>situation-oriented : cause-to-effect -&gt; </a:t>
            </a:r>
            <a:r>
              <a:rPr lang="zh-TW" altLang="en-US" dirty="0" smtClean="0"/>
              <a:t>你這樣做，所以會有那樣結果</a:t>
            </a:r>
            <a:endParaRPr lang="en-US" altLang="zh-TW"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smtClean="0"/>
              <a:t>goal-oriented : effect-to-cause -&gt; </a:t>
            </a:r>
            <a:r>
              <a:rPr lang="zh-TW" altLang="en-US" dirty="0" smtClean="0"/>
              <a:t>你想要這結果，所以要那樣做</a:t>
            </a:r>
          </a:p>
        </p:txBody>
      </p:sp>
      <p:sp>
        <p:nvSpPr>
          <p:cNvPr id="4" name="投影片編號版面配置區 3"/>
          <p:cNvSpPr>
            <a:spLocks noGrp="1"/>
          </p:cNvSpPr>
          <p:nvPr>
            <p:ph type="sldNum" sz="quarter" idx="10"/>
          </p:nvPr>
        </p:nvSpPr>
        <p:spPr/>
        <p:txBody>
          <a:bodyPr/>
          <a:lstStyle/>
          <a:p>
            <a:fld id="{77EAB557-27B9-4137-9922-7326E82A35AE}" type="slidenum">
              <a:rPr lang="en-US" altLang="zh-TW" smtClean="0"/>
              <a:pPr/>
              <a:t>13</a:t>
            </a:fld>
            <a:endParaRPr lang="en-US" altLang="zh-TW"/>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smtClean="0"/>
              <a:t>本篇論文中</a:t>
            </a:r>
            <a:r>
              <a:rPr lang="en-US" altLang="zh-TW" dirty="0" smtClean="0"/>
              <a:t>activation</a:t>
            </a:r>
            <a:r>
              <a:rPr lang="zh-TW" altLang="en-US" dirty="0" smtClean="0"/>
              <a:t>的進出都有考慮，但是</a:t>
            </a:r>
            <a:r>
              <a:rPr lang="en-US" altLang="zh-TW" dirty="0" err="1" smtClean="0"/>
              <a:t>Maes’s</a:t>
            </a:r>
            <a:r>
              <a:rPr lang="zh-TW" altLang="en-US" dirty="0" smtClean="0"/>
              <a:t>的沒有，此為最大差別。</a:t>
            </a:r>
            <a:endParaRPr lang="zh-TW" altLang="en-US" dirty="0"/>
          </a:p>
        </p:txBody>
      </p:sp>
      <p:sp>
        <p:nvSpPr>
          <p:cNvPr id="4" name="投影片編號版面配置區 3"/>
          <p:cNvSpPr>
            <a:spLocks noGrp="1"/>
          </p:cNvSpPr>
          <p:nvPr>
            <p:ph type="sldNum" sz="quarter" idx="10"/>
          </p:nvPr>
        </p:nvSpPr>
        <p:spPr/>
        <p:txBody>
          <a:bodyPr/>
          <a:lstStyle/>
          <a:p>
            <a:fld id="{77EAB557-27B9-4137-9922-7326E82A35AE}" type="slidenum">
              <a:rPr lang="en-US" altLang="zh-TW" smtClean="0"/>
              <a:pPr/>
              <a:t>18</a:t>
            </a:fld>
            <a:endParaRPr lang="en-US" altLang="zh-TW"/>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zh-TW" altLang="en-US" dirty="0" smtClean="0"/>
              <a:t>障礙偵測為機器人的三倍大遠</a:t>
            </a:r>
            <a:endParaRPr lang="en-US" altLang="zh-TW" dirty="0" smtClean="0"/>
          </a:p>
          <a:p>
            <a:r>
              <a:rPr lang="zh-TW" altLang="en-US" dirty="0" smtClean="0"/>
              <a:t>終點位置偵測為無限遠</a:t>
            </a:r>
            <a:r>
              <a:rPr lang="en-US" altLang="zh-TW" dirty="0" smtClean="0"/>
              <a:t>(</a:t>
            </a:r>
            <a:r>
              <a:rPr lang="zh-TW" altLang="en-US" dirty="0" smtClean="0"/>
              <a:t>只知道方向</a:t>
            </a:r>
            <a:r>
              <a:rPr lang="en-US" altLang="zh-TW" dirty="0" smtClean="0"/>
              <a:t>)</a:t>
            </a:r>
            <a:endParaRPr lang="zh-TW" altLang="en-US" dirty="0"/>
          </a:p>
        </p:txBody>
      </p:sp>
      <p:sp>
        <p:nvSpPr>
          <p:cNvPr id="4" name="投影片編號版面配置區 3"/>
          <p:cNvSpPr>
            <a:spLocks noGrp="1"/>
          </p:cNvSpPr>
          <p:nvPr>
            <p:ph type="sldNum" sz="quarter" idx="10"/>
          </p:nvPr>
        </p:nvSpPr>
        <p:spPr/>
        <p:txBody>
          <a:bodyPr/>
          <a:lstStyle/>
          <a:p>
            <a:fld id="{77EAB557-27B9-4137-9922-7326E82A35AE}" type="slidenum">
              <a:rPr lang="en-US" altLang="zh-TW" smtClean="0"/>
              <a:pPr/>
              <a:t>20</a:t>
            </a:fld>
            <a:endParaRPr lang="en-US" altLang="zh-TW"/>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pPr algn="l"/>
            <a:r>
              <a:rPr lang="zh-TW" altLang="en-US" dirty="0" smtClean="0"/>
              <a:t>在現實中，免疫系統會自動不斷產生新的抗體，並自動加入原本免疫系統網路中，該特徵稱為</a:t>
            </a:r>
            <a:r>
              <a:rPr lang="en-US" altLang="zh-TW" dirty="0" smtClean="0"/>
              <a:t>”Meta-dynamics function”</a:t>
            </a:r>
          </a:p>
          <a:p>
            <a:pPr algn="l"/>
            <a:r>
              <a:rPr lang="zh-TW" altLang="en-US" dirty="0" smtClean="0"/>
              <a:t>作者希望未來可以將此特徵加入他們系統中</a:t>
            </a:r>
            <a:endParaRPr lang="en-US" altLang="zh-TW" dirty="0" smtClean="0"/>
          </a:p>
        </p:txBody>
      </p:sp>
      <p:sp>
        <p:nvSpPr>
          <p:cNvPr id="4" name="投影片編號版面配置區 3"/>
          <p:cNvSpPr>
            <a:spLocks noGrp="1"/>
          </p:cNvSpPr>
          <p:nvPr>
            <p:ph type="sldNum" sz="quarter" idx="10"/>
          </p:nvPr>
        </p:nvSpPr>
        <p:spPr/>
        <p:txBody>
          <a:bodyPr/>
          <a:lstStyle/>
          <a:p>
            <a:fld id="{77EAB557-27B9-4137-9922-7326E82A35AE}" type="slidenum">
              <a:rPr lang="en-US" altLang="zh-TW" smtClean="0"/>
              <a:pPr/>
              <a:t>33</a:t>
            </a:fld>
            <a:endParaRPr lang="en-US" altLang="zh-TW"/>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lvl1pPr>
              <a:defRPr/>
            </a:lvl1pPr>
          </a:lstStyle>
          <a:p>
            <a:endParaRPr lang="en-US" altLang="zh-TW"/>
          </a:p>
        </p:txBody>
      </p:sp>
      <p:sp>
        <p:nvSpPr>
          <p:cNvPr id="5" name="頁尾版面配置區 4"/>
          <p:cNvSpPr>
            <a:spLocks noGrp="1"/>
          </p:cNvSpPr>
          <p:nvPr>
            <p:ph type="ftr" sz="quarter" idx="11"/>
          </p:nvPr>
        </p:nvSpPr>
        <p:spPr/>
        <p:txBody>
          <a:bodyPr/>
          <a:lstStyle>
            <a:lvl1pPr>
              <a:defRPr/>
            </a:lvl1pPr>
          </a:lstStyle>
          <a:p>
            <a:endParaRPr lang="en-US" altLang="zh-TW"/>
          </a:p>
        </p:txBody>
      </p:sp>
      <p:sp>
        <p:nvSpPr>
          <p:cNvPr id="6" name="投影片編號版面配置區 5"/>
          <p:cNvSpPr>
            <a:spLocks noGrp="1"/>
          </p:cNvSpPr>
          <p:nvPr>
            <p:ph type="sldNum" sz="quarter" idx="12"/>
          </p:nvPr>
        </p:nvSpPr>
        <p:spPr/>
        <p:txBody>
          <a:bodyPr/>
          <a:lstStyle>
            <a:lvl1pPr>
              <a:defRPr/>
            </a:lvl1pPr>
          </a:lstStyle>
          <a:p>
            <a:fld id="{1FD313E4-0858-4412-AB5B-DABBA82CBC67}" type="slidenum">
              <a:rPr lang="en-US" altLang="zh-TW"/>
              <a:pPr/>
              <a:t>‹#›</a:t>
            </a:fld>
            <a:endParaRPr lang="en-US" altLang="zh-TW"/>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endParaRPr lang="en-US" altLang="zh-TW"/>
          </a:p>
        </p:txBody>
      </p:sp>
      <p:sp>
        <p:nvSpPr>
          <p:cNvPr id="5" name="頁尾版面配置區 4"/>
          <p:cNvSpPr>
            <a:spLocks noGrp="1"/>
          </p:cNvSpPr>
          <p:nvPr>
            <p:ph type="ftr" sz="quarter" idx="11"/>
          </p:nvPr>
        </p:nvSpPr>
        <p:spPr/>
        <p:txBody>
          <a:bodyPr/>
          <a:lstStyle>
            <a:lvl1pPr>
              <a:defRPr/>
            </a:lvl1pPr>
          </a:lstStyle>
          <a:p>
            <a:endParaRPr lang="en-US" altLang="zh-TW"/>
          </a:p>
        </p:txBody>
      </p:sp>
      <p:sp>
        <p:nvSpPr>
          <p:cNvPr id="6" name="投影片編號版面配置區 5"/>
          <p:cNvSpPr>
            <a:spLocks noGrp="1"/>
          </p:cNvSpPr>
          <p:nvPr>
            <p:ph type="sldNum" sz="quarter" idx="12"/>
          </p:nvPr>
        </p:nvSpPr>
        <p:spPr/>
        <p:txBody>
          <a:bodyPr/>
          <a:lstStyle>
            <a:lvl1pPr>
              <a:defRPr/>
            </a:lvl1pPr>
          </a:lstStyle>
          <a:p>
            <a:fld id="{7F4E7FB8-95AA-44FB-BF7C-93BF4F9BF611}" type="slidenum">
              <a:rPr lang="en-US" altLang="zh-TW"/>
              <a:pPr/>
              <a:t>‹#›</a:t>
            </a:fld>
            <a:endParaRPr lang="en-US" altLang="zh-TW"/>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lvl1pPr>
              <a:defRPr/>
            </a:lvl1pPr>
          </a:lstStyle>
          <a:p>
            <a:endParaRPr lang="en-US" altLang="zh-TW"/>
          </a:p>
        </p:txBody>
      </p:sp>
      <p:sp>
        <p:nvSpPr>
          <p:cNvPr id="5" name="頁尾版面配置區 4"/>
          <p:cNvSpPr>
            <a:spLocks noGrp="1"/>
          </p:cNvSpPr>
          <p:nvPr>
            <p:ph type="ftr" sz="quarter" idx="11"/>
          </p:nvPr>
        </p:nvSpPr>
        <p:spPr/>
        <p:txBody>
          <a:bodyPr/>
          <a:lstStyle>
            <a:lvl1pPr>
              <a:defRPr/>
            </a:lvl1pPr>
          </a:lstStyle>
          <a:p>
            <a:endParaRPr lang="en-US" altLang="zh-TW"/>
          </a:p>
        </p:txBody>
      </p:sp>
      <p:sp>
        <p:nvSpPr>
          <p:cNvPr id="6" name="投影片編號版面配置區 5"/>
          <p:cNvSpPr>
            <a:spLocks noGrp="1"/>
          </p:cNvSpPr>
          <p:nvPr>
            <p:ph type="sldNum" sz="quarter" idx="12"/>
          </p:nvPr>
        </p:nvSpPr>
        <p:spPr/>
        <p:txBody>
          <a:bodyPr/>
          <a:lstStyle>
            <a:lvl1pPr>
              <a:defRPr/>
            </a:lvl1pPr>
          </a:lstStyle>
          <a:p>
            <a:fld id="{934CB1AC-2985-46BD-AA40-AE3E341D5337}" type="slidenum">
              <a:rPr lang="en-US" altLang="zh-TW"/>
              <a:pPr/>
              <a:t>‹#›</a:t>
            </a:fld>
            <a:endParaRPr lang="en-US" altLang="zh-TW"/>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lvl1pPr>
              <a:defRPr/>
            </a:lvl1pPr>
          </a:lstStyle>
          <a:p>
            <a:endParaRPr lang="en-US" altLang="zh-TW"/>
          </a:p>
        </p:txBody>
      </p:sp>
      <p:sp>
        <p:nvSpPr>
          <p:cNvPr id="6" name="頁尾版面配置區 5"/>
          <p:cNvSpPr>
            <a:spLocks noGrp="1"/>
          </p:cNvSpPr>
          <p:nvPr>
            <p:ph type="ftr" sz="quarter" idx="11"/>
          </p:nvPr>
        </p:nvSpPr>
        <p:spPr/>
        <p:txBody>
          <a:bodyPr/>
          <a:lstStyle>
            <a:lvl1pPr>
              <a:defRPr/>
            </a:lvl1pPr>
          </a:lstStyle>
          <a:p>
            <a:endParaRPr lang="en-US" altLang="zh-TW"/>
          </a:p>
        </p:txBody>
      </p:sp>
      <p:sp>
        <p:nvSpPr>
          <p:cNvPr id="7" name="投影片編號版面配置區 6"/>
          <p:cNvSpPr>
            <a:spLocks noGrp="1"/>
          </p:cNvSpPr>
          <p:nvPr>
            <p:ph type="sldNum" sz="quarter" idx="12"/>
          </p:nvPr>
        </p:nvSpPr>
        <p:spPr/>
        <p:txBody>
          <a:bodyPr/>
          <a:lstStyle>
            <a:lvl1pPr>
              <a:defRPr/>
            </a:lvl1pPr>
          </a:lstStyle>
          <a:p>
            <a:fld id="{7DFA8117-FC38-40C4-B54B-C13309827689}" type="slidenum">
              <a:rPr lang="en-US" altLang="zh-TW"/>
              <a:pPr/>
              <a:t>‹#›</a:t>
            </a:fld>
            <a:endParaRPr lang="en-US" altLang="zh-TW"/>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lvl1pPr>
              <a:defRPr/>
            </a:lvl1pPr>
          </a:lstStyle>
          <a:p>
            <a:endParaRPr lang="en-US" altLang="zh-TW"/>
          </a:p>
        </p:txBody>
      </p:sp>
      <p:sp>
        <p:nvSpPr>
          <p:cNvPr id="8" name="頁尾版面配置區 7"/>
          <p:cNvSpPr>
            <a:spLocks noGrp="1"/>
          </p:cNvSpPr>
          <p:nvPr>
            <p:ph type="ftr" sz="quarter" idx="11"/>
          </p:nvPr>
        </p:nvSpPr>
        <p:spPr/>
        <p:txBody>
          <a:bodyPr/>
          <a:lstStyle>
            <a:lvl1pPr>
              <a:defRPr/>
            </a:lvl1pPr>
          </a:lstStyle>
          <a:p>
            <a:endParaRPr lang="en-US" altLang="zh-TW"/>
          </a:p>
        </p:txBody>
      </p:sp>
      <p:sp>
        <p:nvSpPr>
          <p:cNvPr id="9" name="投影片編號版面配置區 8"/>
          <p:cNvSpPr>
            <a:spLocks noGrp="1"/>
          </p:cNvSpPr>
          <p:nvPr>
            <p:ph type="sldNum" sz="quarter" idx="12"/>
          </p:nvPr>
        </p:nvSpPr>
        <p:spPr/>
        <p:txBody>
          <a:bodyPr/>
          <a:lstStyle>
            <a:lvl1pPr>
              <a:defRPr/>
            </a:lvl1pPr>
          </a:lstStyle>
          <a:p>
            <a:fld id="{03431713-A6E7-495E-B489-14B488F91DA9}" type="slidenum">
              <a:rPr lang="en-US" altLang="zh-TW"/>
              <a:pPr/>
              <a:t>‹#›</a:t>
            </a:fld>
            <a:endParaRPr lang="en-US" altLang="zh-TW"/>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lvl1pPr>
              <a:defRPr/>
            </a:lvl1pPr>
          </a:lstStyle>
          <a:p>
            <a:endParaRPr lang="en-US" altLang="zh-TW"/>
          </a:p>
        </p:txBody>
      </p:sp>
      <p:sp>
        <p:nvSpPr>
          <p:cNvPr id="4" name="頁尾版面配置區 3"/>
          <p:cNvSpPr>
            <a:spLocks noGrp="1"/>
          </p:cNvSpPr>
          <p:nvPr>
            <p:ph type="ftr" sz="quarter" idx="11"/>
          </p:nvPr>
        </p:nvSpPr>
        <p:spPr/>
        <p:txBody>
          <a:bodyPr/>
          <a:lstStyle>
            <a:lvl1pPr>
              <a:defRPr/>
            </a:lvl1pPr>
          </a:lstStyle>
          <a:p>
            <a:endParaRPr lang="en-US" altLang="zh-TW"/>
          </a:p>
        </p:txBody>
      </p:sp>
      <p:sp>
        <p:nvSpPr>
          <p:cNvPr id="5" name="投影片編號版面配置區 4"/>
          <p:cNvSpPr>
            <a:spLocks noGrp="1"/>
          </p:cNvSpPr>
          <p:nvPr>
            <p:ph type="sldNum" sz="quarter" idx="12"/>
          </p:nvPr>
        </p:nvSpPr>
        <p:spPr/>
        <p:txBody>
          <a:bodyPr/>
          <a:lstStyle>
            <a:lvl1pPr>
              <a:defRPr/>
            </a:lvl1pPr>
          </a:lstStyle>
          <a:p>
            <a:fld id="{06E37886-9E94-4C62-A2D0-43825936D48A}" type="slidenum">
              <a:rPr lang="en-US" altLang="zh-TW"/>
              <a:pPr/>
              <a:t>‹#›</a:t>
            </a:fld>
            <a:endParaRPr lang="en-US" altLang="zh-TW"/>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lvl1pPr>
              <a:defRPr/>
            </a:lvl1pPr>
          </a:lstStyle>
          <a:p>
            <a:endParaRPr lang="en-US" altLang="zh-TW"/>
          </a:p>
        </p:txBody>
      </p:sp>
      <p:sp>
        <p:nvSpPr>
          <p:cNvPr id="3" name="頁尾版面配置區 2"/>
          <p:cNvSpPr>
            <a:spLocks noGrp="1"/>
          </p:cNvSpPr>
          <p:nvPr>
            <p:ph type="ftr" sz="quarter" idx="11"/>
          </p:nvPr>
        </p:nvSpPr>
        <p:spPr/>
        <p:txBody>
          <a:bodyPr/>
          <a:lstStyle>
            <a:lvl1pPr>
              <a:defRPr/>
            </a:lvl1pPr>
          </a:lstStyle>
          <a:p>
            <a:endParaRPr lang="en-US" altLang="zh-TW"/>
          </a:p>
        </p:txBody>
      </p:sp>
      <p:sp>
        <p:nvSpPr>
          <p:cNvPr id="4" name="投影片編號版面配置區 3"/>
          <p:cNvSpPr>
            <a:spLocks noGrp="1"/>
          </p:cNvSpPr>
          <p:nvPr>
            <p:ph type="sldNum" sz="quarter" idx="12"/>
          </p:nvPr>
        </p:nvSpPr>
        <p:spPr/>
        <p:txBody>
          <a:bodyPr/>
          <a:lstStyle>
            <a:lvl1pPr>
              <a:defRPr/>
            </a:lvl1pPr>
          </a:lstStyle>
          <a:p>
            <a:fld id="{10A95AA7-3960-42A4-86B8-6F2AF860C3B7}" type="slidenum">
              <a:rPr lang="en-US" altLang="zh-TW"/>
              <a:pPr/>
              <a:t>‹#›</a:t>
            </a:fld>
            <a:endParaRPr lang="en-US" altLang="zh-TW"/>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lvl1pPr>
              <a:defRPr/>
            </a:lvl1pPr>
          </a:lstStyle>
          <a:p>
            <a:endParaRPr lang="en-US" altLang="zh-TW"/>
          </a:p>
        </p:txBody>
      </p:sp>
      <p:sp>
        <p:nvSpPr>
          <p:cNvPr id="6" name="頁尾版面配置區 5"/>
          <p:cNvSpPr>
            <a:spLocks noGrp="1"/>
          </p:cNvSpPr>
          <p:nvPr>
            <p:ph type="ftr" sz="quarter" idx="11"/>
          </p:nvPr>
        </p:nvSpPr>
        <p:spPr/>
        <p:txBody>
          <a:bodyPr/>
          <a:lstStyle>
            <a:lvl1pPr>
              <a:defRPr/>
            </a:lvl1pPr>
          </a:lstStyle>
          <a:p>
            <a:endParaRPr lang="en-US" altLang="zh-TW"/>
          </a:p>
        </p:txBody>
      </p:sp>
      <p:sp>
        <p:nvSpPr>
          <p:cNvPr id="7" name="投影片編號版面配置區 6"/>
          <p:cNvSpPr>
            <a:spLocks noGrp="1"/>
          </p:cNvSpPr>
          <p:nvPr>
            <p:ph type="sldNum" sz="quarter" idx="12"/>
          </p:nvPr>
        </p:nvSpPr>
        <p:spPr/>
        <p:txBody>
          <a:bodyPr/>
          <a:lstStyle>
            <a:lvl1pPr>
              <a:defRPr/>
            </a:lvl1pPr>
          </a:lstStyle>
          <a:p>
            <a:fld id="{3FA953E4-738D-4FE5-932E-6B65F21C500D}" type="slidenum">
              <a:rPr lang="en-US" altLang="zh-TW"/>
              <a:pPr/>
              <a:t>‹#›</a:t>
            </a:fld>
            <a:endParaRPr lang="en-US" altLang="zh-TW"/>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lvl1pPr>
              <a:defRPr/>
            </a:lvl1pPr>
          </a:lstStyle>
          <a:p>
            <a:endParaRPr lang="en-US" altLang="zh-TW"/>
          </a:p>
        </p:txBody>
      </p:sp>
      <p:sp>
        <p:nvSpPr>
          <p:cNvPr id="6" name="頁尾版面配置區 5"/>
          <p:cNvSpPr>
            <a:spLocks noGrp="1"/>
          </p:cNvSpPr>
          <p:nvPr>
            <p:ph type="ftr" sz="quarter" idx="11"/>
          </p:nvPr>
        </p:nvSpPr>
        <p:spPr/>
        <p:txBody>
          <a:bodyPr/>
          <a:lstStyle>
            <a:lvl1pPr>
              <a:defRPr/>
            </a:lvl1pPr>
          </a:lstStyle>
          <a:p>
            <a:endParaRPr lang="en-US" altLang="zh-TW"/>
          </a:p>
        </p:txBody>
      </p:sp>
      <p:sp>
        <p:nvSpPr>
          <p:cNvPr id="7" name="投影片編號版面配置區 6"/>
          <p:cNvSpPr>
            <a:spLocks noGrp="1"/>
          </p:cNvSpPr>
          <p:nvPr>
            <p:ph type="sldNum" sz="quarter" idx="12"/>
          </p:nvPr>
        </p:nvSpPr>
        <p:spPr/>
        <p:txBody>
          <a:bodyPr/>
          <a:lstStyle>
            <a:lvl1pPr>
              <a:defRPr/>
            </a:lvl1pPr>
          </a:lstStyle>
          <a:p>
            <a:fld id="{DD65F3CC-D5B5-45CE-81E9-3AAFF56E7DC0}" type="slidenum">
              <a:rPr lang="en-US" altLang="zh-TW"/>
              <a:pPr/>
              <a:t>‹#›</a:t>
            </a:fld>
            <a:endParaRPr lang="en-US" altLang="zh-TW"/>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endParaRPr lang="en-US" altLang="zh-TW"/>
          </a:p>
        </p:txBody>
      </p:sp>
      <p:sp>
        <p:nvSpPr>
          <p:cNvPr id="5" name="頁尾版面配置區 4"/>
          <p:cNvSpPr>
            <a:spLocks noGrp="1"/>
          </p:cNvSpPr>
          <p:nvPr>
            <p:ph type="ftr" sz="quarter" idx="11"/>
          </p:nvPr>
        </p:nvSpPr>
        <p:spPr/>
        <p:txBody>
          <a:bodyPr/>
          <a:lstStyle>
            <a:lvl1pPr>
              <a:defRPr/>
            </a:lvl1pPr>
          </a:lstStyle>
          <a:p>
            <a:endParaRPr lang="en-US" altLang="zh-TW"/>
          </a:p>
        </p:txBody>
      </p:sp>
      <p:sp>
        <p:nvSpPr>
          <p:cNvPr id="6" name="投影片編號版面配置區 5"/>
          <p:cNvSpPr>
            <a:spLocks noGrp="1"/>
          </p:cNvSpPr>
          <p:nvPr>
            <p:ph type="sldNum" sz="quarter" idx="12"/>
          </p:nvPr>
        </p:nvSpPr>
        <p:spPr/>
        <p:txBody>
          <a:bodyPr/>
          <a:lstStyle>
            <a:lvl1pPr>
              <a:defRPr/>
            </a:lvl1pPr>
          </a:lstStyle>
          <a:p>
            <a:fld id="{649ACED5-43C8-4C4F-B6FA-BC502582517E}" type="slidenum">
              <a:rPr lang="en-US" altLang="zh-TW"/>
              <a:pPr/>
              <a:t>‹#›</a:t>
            </a:fld>
            <a:endParaRPr lang="en-US" altLang="zh-TW"/>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endParaRPr lang="en-US" altLang="zh-TW"/>
          </a:p>
        </p:txBody>
      </p:sp>
      <p:sp>
        <p:nvSpPr>
          <p:cNvPr id="5" name="頁尾版面配置區 4"/>
          <p:cNvSpPr>
            <a:spLocks noGrp="1"/>
          </p:cNvSpPr>
          <p:nvPr>
            <p:ph type="ftr" sz="quarter" idx="11"/>
          </p:nvPr>
        </p:nvSpPr>
        <p:spPr/>
        <p:txBody>
          <a:bodyPr/>
          <a:lstStyle>
            <a:lvl1pPr>
              <a:defRPr/>
            </a:lvl1pPr>
          </a:lstStyle>
          <a:p>
            <a:endParaRPr lang="en-US" altLang="zh-TW"/>
          </a:p>
        </p:txBody>
      </p:sp>
      <p:sp>
        <p:nvSpPr>
          <p:cNvPr id="6" name="投影片編號版面配置區 5"/>
          <p:cNvSpPr>
            <a:spLocks noGrp="1"/>
          </p:cNvSpPr>
          <p:nvPr>
            <p:ph type="sldNum" sz="quarter" idx="12"/>
          </p:nvPr>
        </p:nvSpPr>
        <p:spPr/>
        <p:txBody>
          <a:bodyPr/>
          <a:lstStyle>
            <a:lvl1pPr>
              <a:defRPr/>
            </a:lvl1pPr>
          </a:lstStyle>
          <a:p>
            <a:fld id="{1A4F4BEE-BEA2-4797-B1CA-BB2B754709B2}" type="slidenum">
              <a:rPr lang="en-US" altLang="zh-TW"/>
              <a:pPr/>
              <a:t>‹#›</a:t>
            </a:fld>
            <a:endParaRPr lang="en-US" altLang="zh-TW"/>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ltLang="zh-TW"/>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ltLang="zh-TW"/>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D2BD664B-C82B-4959-ADAD-F2743E2EA3C2}" type="slidenum">
              <a:rPr lang="en-US" altLang="zh-TW"/>
              <a:pPr/>
              <a:t>‹#›</a:t>
            </a:fld>
            <a:endParaRPr lang="en-US" altLang="zh-TW"/>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charset="0"/>
          <a:ea typeface="新細明體" pitchFamily="18" charset="-120"/>
        </a:defRPr>
      </a:lvl2pPr>
      <a:lvl3pPr algn="ctr" rtl="0" fontAlgn="base">
        <a:spcBef>
          <a:spcPct val="0"/>
        </a:spcBef>
        <a:spcAft>
          <a:spcPct val="0"/>
        </a:spcAft>
        <a:defRPr kumimoji="1" sz="4400">
          <a:solidFill>
            <a:schemeClr val="tx2"/>
          </a:solidFill>
          <a:latin typeface="Arial" charset="0"/>
          <a:ea typeface="新細明體" pitchFamily="18" charset="-120"/>
        </a:defRPr>
      </a:lvl3pPr>
      <a:lvl4pPr algn="ctr" rtl="0" fontAlgn="base">
        <a:spcBef>
          <a:spcPct val="0"/>
        </a:spcBef>
        <a:spcAft>
          <a:spcPct val="0"/>
        </a:spcAft>
        <a:defRPr kumimoji="1" sz="4400">
          <a:solidFill>
            <a:schemeClr val="tx2"/>
          </a:solidFill>
          <a:latin typeface="Arial" charset="0"/>
          <a:ea typeface="新細明體" pitchFamily="18" charset="-120"/>
        </a:defRPr>
      </a:lvl4pPr>
      <a:lvl5pPr algn="ctr" rtl="0" fontAlgn="base">
        <a:spcBef>
          <a:spcPct val="0"/>
        </a:spcBef>
        <a:spcAft>
          <a:spcPct val="0"/>
        </a:spcAft>
        <a:defRPr kumimoji="1" sz="4400">
          <a:solidFill>
            <a:schemeClr val="tx2"/>
          </a:solidFill>
          <a:latin typeface="Arial" charset="0"/>
          <a:ea typeface="新細明體" pitchFamily="18" charset="-120"/>
        </a:defRPr>
      </a:lvl5pPr>
      <a:lvl6pPr marL="457200" algn="ctr" rtl="0" fontAlgn="base">
        <a:spcBef>
          <a:spcPct val="0"/>
        </a:spcBef>
        <a:spcAft>
          <a:spcPct val="0"/>
        </a:spcAft>
        <a:defRPr kumimoji="1" sz="4400">
          <a:solidFill>
            <a:schemeClr val="tx2"/>
          </a:solidFill>
          <a:latin typeface="Arial" charset="0"/>
          <a:ea typeface="新細明體" pitchFamily="18" charset="-120"/>
        </a:defRPr>
      </a:lvl6pPr>
      <a:lvl7pPr marL="914400" algn="ctr" rtl="0" fontAlgn="base">
        <a:spcBef>
          <a:spcPct val="0"/>
        </a:spcBef>
        <a:spcAft>
          <a:spcPct val="0"/>
        </a:spcAft>
        <a:defRPr kumimoji="1" sz="4400">
          <a:solidFill>
            <a:schemeClr val="tx2"/>
          </a:solidFill>
          <a:latin typeface="Arial" charset="0"/>
          <a:ea typeface="新細明體" pitchFamily="18" charset="-120"/>
        </a:defRPr>
      </a:lvl7pPr>
      <a:lvl8pPr marL="1371600" algn="ctr" rtl="0" fontAlgn="base">
        <a:spcBef>
          <a:spcPct val="0"/>
        </a:spcBef>
        <a:spcAft>
          <a:spcPct val="0"/>
        </a:spcAft>
        <a:defRPr kumimoji="1" sz="4400">
          <a:solidFill>
            <a:schemeClr val="tx2"/>
          </a:solidFill>
          <a:latin typeface="Arial" charset="0"/>
          <a:ea typeface="新細明體" pitchFamily="18" charset="-120"/>
        </a:defRPr>
      </a:lvl8pPr>
      <a:lvl9pPr marL="1828800" algn="ctr" rtl="0" fontAlgn="base">
        <a:spcBef>
          <a:spcPct val="0"/>
        </a:spcBef>
        <a:spcAft>
          <a:spcPct val="0"/>
        </a:spcAft>
        <a:defRPr kumimoji="1" sz="4400">
          <a:solidFill>
            <a:schemeClr val="tx2"/>
          </a:solidFill>
          <a:latin typeface="Arial" charset="0"/>
          <a:ea typeface="新細明體" pitchFamily="18" charset="-120"/>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oleObject" Target="../embeddings/oleObject4.bin"/></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714348" y="1142984"/>
            <a:ext cx="7772400" cy="1470025"/>
          </a:xfrm>
        </p:spPr>
        <p:txBody>
          <a:bodyPr/>
          <a:lstStyle/>
          <a:p>
            <a:r>
              <a:rPr lang="en-US" altLang="zh-TW" sz="4000" b="1" dirty="0"/>
              <a:t>An Immunological Approach to Dynamic Behavior Control</a:t>
            </a:r>
            <a:br>
              <a:rPr lang="en-US" altLang="zh-TW" sz="4000" b="1" dirty="0"/>
            </a:br>
            <a:r>
              <a:rPr lang="en-US" altLang="zh-TW" sz="4000" b="1" dirty="0"/>
              <a:t>for Autonomous Mobile Robots</a:t>
            </a:r>
          </a:p>
        </p:txBody>
      </p:sp>
      <p:sp>
        <p:nvSpPr>
          <p:cNvPr id="2051" name="Rectangle 3"/>
          <p:cNvSpPr>
            <a:spLocks noGrp="1" noChangeArrowheads="1"/>
          </p:cNvSpPr>
          <p:nvPr>
            <p:ph type="subTitle" idx="1"/>
          </p:nvPr>
        </p:nvSpPr>
        <p:spPr>
          <a:xfrm>
            <a:off x="1357290" y="3214686"/>
            <a:ext cx="6400800" cy="1143008"/>
          </a:xfrm>
        </p:spPr>
        <p:txBody>
          <a:bodyPr/>
          <a:lstStyle/>
          <a:p>
            <a:pPr>
              <a:lnSpc>
                <a:spcPct val="90000"/>
              </a:lnSpc>
            </a:pPr>
            <a:r>
              <a:rPr lang="en-US" altLang="zh-TW" sz="1800" dirty="0"/>
              <a:t>IEEE International Conference on Intelligent Robots and Systems 95.’Human Robot Interaction and Cooperative Robots’, Proceedings. 1995, vol. 1, pp.495-500, 5-9 </a:t>
            </a:r>
            <a:endParaRPr lang="en-US" altLang="zh-TW" sz="1800" dirty="0" smtClean="0"/>
          </a:p>
          <a:p>
            <a:pPr>
              <a:lnSpc>
                <a:spcPct val="90000"/>
              </a:lnSpc>
            </a:pPr>
            <a:r>
              <a:rPr lang="en-US" altLang="zh-TW" sz="1800" dirty="0" smtClean="0"/>
              <a:t>Aug</a:t>
            </a:r>
            <a:r>
              <a:rPr lang="en-US" altLang="zh-TW" sz="1800" dirty="0"/>
              <a:t>., 1995.</a:t>
            </a:r>
          </a:p>
        </p:txBody>
      </p:sp>
      <p:sp>
        <p:nvSpPr>
          <p:cNvPr id="4" name="Rectangle 3"/>
          <p:cNvSpPr txBox="1">
            <a:spLocks noChangeArrowheads="1"/>
          </p:cNvSpPr>
          <p:nvPr/>
        </p:nvSpPr>
        <p:spPr bwMode="auto">
          <a:xfrm>
            <a:off x="5000628" y="5072074"/>
            <a:ext cx="3757594" cy="78581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0" marR="0" lvl="0" indent="0" algn="r" defTabSz="914400" rtl="0" eaLnBrk="1" fontAlgn="base" latinLnBrk="0" hangingPunct="1">
              <a:lnSpc>
                <a:spcPct val="90000"/>
              </a:lnSpc>
              <a:spcBef>
                <a:spcPct val="20000"/>
              </a:spcBef>
              <a:spcAft>
                <a:spcPct val="0"/>
              </a:spcAft>
              <a:buClrTx/>
              <a:buSzTx/>
              <a:buFontTx/>
              <a:buNone/>
              <a:tabLst/>
              <a:defRPr/>
            </a:pPr>
            <a:r>
              <a:rPr kumimoji="1" lang="en-US" altLang="zh-TW" sz="1800" b="0" i="0" u="none" strike="noStrike" kern="0" cap="none" spc="0" normalizeH="0" baseline="0" noProof="0" dirty="0" smtClean="0">
                <a:ln>
                  <a:noFill/>
                </a:ln>
                <a:solidFill>
                  <a:schemeClr val="tx1"/>
                </a:solidFill>
                <a:effectLst/>
                <a:uLnTx/>
                <a:uFillTx/>
                <a:latin typeface="+mn-lt"/>
                <a:ea typeface="+mn-ea"/>
                <a:cs typeface="+mn-cs"/>
              </a:rPr>
              <a:t>Presenter: </a:t>
            </a:r>
            <a:r>
              <a:rPr kumimoji="1" lang="en-US" altLang="zh-TW" sz="1800" b="0" i="0" u="none" strike="noStrike" kern="0" cap="none" spc="0" normalizeH="0" baseline="0" noProof="0" dirty="0" err="1" smtClean="0">
                <a:ln>
                  <a:noFill/>
                </a:ln>
                <a:solidFill>
                  <a:schemeClr val="tx1"/>
                </a:solidFill>
                <a:effectLst/>
                <a:uLnTx/>
                <a:uFillTx/>
                <a:latin typeface="+mn-lt"/>
                <a:ea typeface="+mn-ea"/>
                <a:cs typeface="+mn-cs"/>
              </a:rPr>
              <a:t>Yun</a:t>
            </a:r>
            <a:r>
              <a:rPr lang="en-US" altLang="zh-TW" kern="0" dirty="0" smtClean="0">
                <a:latin typeface="+mn-lt"/>
                <a:ea typeface="+mn-ea"/>
              </a:rPr>
              <a:t>-</a:t>
            </a:r>
            <a:r>
              <a:rPr lang="en-US" altLang="zh-TW" kern="0" dirty="0" err="1" smtClean="0">
                <a:latin typeface="+mn-lt"/>
                <a:ea typeface="+mn-ea"/>
              </a:rPr>
              <a:t>Shiun</a:t>
            </a:r>
            <a:r>
              <a:rPr lang="en-US" altLang="zh-TW" kern="0" dirty="0" smtClean="0">
                <a:latin typeface="+mn-lt"/>
                <a:ea typeface="+mn-ea"/>
              </a:rPr>
              <a:t> Chen</a:t>
            </a:r>
          </a:p>
          <a:p>
            <a:pPr marL="0" marR="0" lvl="0" indent="0" algn="r" defTabSz="914400" rtl="0" eaLnBrk="1" fontAlgn="base" latinLnBrk="0" hangingPunct="1">
              <a:lnSpc>
                <a:spcPct val="90000"/>
              </a:lnSpc>
              <a:spcBef>
                <a:spcPct val="20000"/>
              </a:spcBef>
              <a:spcAft>
                <a:spcPct val="0"/>
              </a:spcAft>
              <a:buClrTx/>
              <a:buSzTx/>
              <a:buFontTx/>
              <a:buNone/>
              <a:tabLst/>
              <a:defRPr/>
            </a:pPr>
            <a:r>
              <a:rPr kumimoji="1" lang="en-US" altLang="zh-TW" sz="1800" b="0" i="0" u="none" strike="noStrike" kern="0" cap="none" spc="0" normalizeH="0" baseline="0" noProof="0" dirty="0" smtClean="0">
                <a:ln>
                  <a:noFill/>
                </a:ln>
                <a:solidFill>
                  <a:schemeClr val="tx1"/>
                </a:solidFill>
                <a:effectLst/>
                <a:uLnTx/>
                <a:uFillTx/>
                <a:latin typeface="+mn-lt"/>
                <a:ea typeface="+mn-ea"/>
                <a:cs typeface="+mn-cs"/>
              </a:rPr>
              <a:t>Data:2011/08/09</a:t>
            </a:r>
            <a:endParaRPr kumimoji="1" lang="en-US" altLang="zh-TW" sz="18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pic>
        <p:nvPicPr>
          <p:cNvPr id="4" name="內容版面配置區 3" descr="51kGRsN7DaL._SL500_AA300_.jpg"/>
          <p:cNvPicPr>
            <a:picLocks noGrp="1" noChangeAspect="1"/>
          </p:cNvPicPr>
          <p:nvPr>
            <p:ph idx="1"/>
          </p:nvPr>
        </p:nvPicPr>
        <p:blipFill>
          <a:blip r:embed="rId2" cstate="print"/>
          <a:stretch>
            <a:fillRect/>
          </a:stretch>
        </p:blipFill>
        <p:spPr>
          <a:xfrm>
            <a:off x="1907704" y="764704"/>
            <a:ext cx="5328592" cy="5328592"/>
          </a:xfr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altLang="zh-TW"/>
              <a:t>Abstract</a:t>
            </a:r>
          </a:p>
        </p:txBody>
      </p:sp>
      <p:sp>
        <p:nvSpPr>
          <p:cNvPr id="3075" name="Rectangle 3"/>
          <p:cNvSpPr>
            <a:spLocks noGrp="1" noChangeArrowheads="1"/>
          </p:cNvSpPr>
          <p:nvPr>
            <p:ph type="body" idx="1"/>
          </p:nvPr>
        </p:nvSpPr>
        <p:spPr/>
        <p:txBody>
          <a:bodyPr/>
          <a:lstStyle/>
          <a:p>
            <a:pPr>
              <a:lnSpc>
                <a:spcPct val="80000"/>
              </a:lnSpc>
              <a:buFontTx/>
              <a:buNone/>
            </a:pPr>
            <a:r>
              <a:rPr lang="en-US" altLang="zh-TW" sz="2000" dirty="0"/>
              <a:t>		Conventional AI (Artificial Intelligence) technology has been criticized on many grounds such as brittleness under dynamically changing environments. To overcome this problem, another approaches called New AI, Emergent Computation, </a:t>
            </a:r>
            <a:r>
              <a:rPr lang="en-US" altLang="zh-TW" sz="2000" dirty="0" err="1"/>
              <a:t>Animat</a:t>
            </a:r>
            <a:r>
              <a:rPr lang="en-US" altLang="zh-TW" sz="2000" dirty="0"/>
              <a:t> Approach, Behavior-Based AI and so on were proposed and confirmed their usefulness. On the other hand, biological information processing systems have many interesting functions and are expected to provide various feasible ideas to engineering fields, especially robotics. Immune system plays important roles to maintain its own system against dynamically changing environments. Therefore, we believe that immune system would provide a new paradigm suitable for dynamic problem dealing with unknown environments rather than static problem. In this paper, we propose a new approach to behavior-based AI by paying attention to biological immune system. We confirm the feasibility of our proposed method by applying to a behavior control of an autonomous mobile robot in cluttered environment as a practical example.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a:lnSpc>
                <a:spcPct val="80000"/>
              </a:lnSpc>
            </a:pPr>
            <a:r>
              <a:rPr lang="en-US" altLang="zh-TW" dirty="0" smtClean="0"/>
              <a:t>Conventional artificial systems</a:t>
            </a:r>
          </a:p>
        </p:txBody>
      </p:sp>
      <p:sp>
        <p:nvSpPr>
          <p:cNvPr id="6147" name="Rectangle 3"/>
          <p:cNvSpPr>
            <a:spLocks noGrp="1" noChangeArrowheads="1"/>
          </p:cNvSpPr>
          <p:nvPr>
            <p:ph type="body" idx="1"/>
          </p:nvPr>
        </p:nvSpPr>
        <p:spPr/>
        <p:txBody>
          <a:bodyPr>
            <a:normAutofit/>
          </a:bodyPr>
          <a:lstStyle/>
          <a:p>
            <a:pPr>
              <a:lnSpc>
                <a:spcPct val="80000"/>
              </a:lnSpc>
            </a:pPr>
            <a:r>
              <a:rPr lang="en-US" altLang="zh-TW" sz="2800" dirty="0" smtClean="0"/>
              <a:t>Conventional artificial systems</a:t>
            </a:r>
          </a:p>
          <a:p>
            <a:pPr lvl="1">
              <a:lnSpc>
                <a:spcPct val="80000"/>
              </a:lnSpc>
            </a:pPr>
            <a:r>
              <a:rPr lang="en-US" altLang="zh-TW" sz="2000" dirty="0" smtClean="0"/>
              <a:t>a </a:t>
            </a:r>
            <a:r>
              <a:rPr lang="en-US" altLang="zh-TW" sz="2000" dirty="0"/>
              <a:t>functional </a:t>
            </a:r>
            <a:r>
              <a:rPr lang="en-US" altLang="zh-TW" sz="2000" dirty="0" smtClean="0"/>
              <a:t>decomposition</a:t>
            </a:r>
          </a:p>
          <a:p>
            <a:pPr lvl="1">
              <a:lnSpc>
                <a:spcPct val="80000"/>
              </a:lnSpc>
            </a:pPr>
            <a:r>
              <a:rPr lang="en-US" altLang="zh-TW" sz="2000" dirty="0" smtClean="0"/>
              <a:t>"sense-model-plan-action</a:t>
            </a:r>
            <a:r>
              <a:rPr lang="en-US" altLang="zh-TW" sz="2000" dirty="0"/>
              <a:t>" </a:t>
            </a:r>
            <a:r>
              <a:rPr lang="en-US" altLang="zh-TW" sz="2000" dirty="0" smtClean="0"/>
              <a:t>cycle</a:t>
            </a:r>
            <a:endParaRPr lang="en-US" altLang="zh-TW" sz="2000" dirty="0"/>
          </a:p>
          <a:p>
            <a:pPr lvl="1">
              <a:lnSpc>
                <a:spcPct val="80000"/>
              </a:lnSpc>
            </a:pPr>
            <a:r>
              <a:rPr lang="en-US" altLang="zh-TW" sz="2000" dirty="0" smtClean="0"/>
              <a:t>brittleness </a:t>
            </a:r>
            <a:r>
              <a:rPr lang="en-US" altLang="zh-TW" sz="2000" dirty="0"/>
              <a:t>for environmental </a:t>
            </a:r>
            <a:r>
              <a:rPr lang="en-US" altLang="zh-TW" sz="2000" dirty="0" smtClean="0"/>
              <a:t>changes</a:t>
            </a:r>
          </a:p>
          <a:p>
            <a:pPr lvl="1">
              <a:lnSpc>
                <a:spcPct val="80000"/>
              </a:lnSpc>
            </a:pPr>
            <a:r>
              <a:rPr lang="en-US" altLang="zh-TW" sz="2000" dirty="0" smtClean="0"/>
              <a:t>required </a:t>
            </a:r>
            <a:r>
              <a:rPr lang="en-US" altLang="zh-TW" sz="2000" dirty="0"/>
              <a:t>much computing time for mapping complex sensory inputs into complex internal models before action can be </a:t>
            </a:r>
            <a:r>
              <a:rPr lang="en-US" altLang="zh-TW" sz="2000" dirty="0" smtClean="0"/>
              <a:t>taken</a:t>
            </a:r>
            <a:endParaRPr lang="en-US" altLang="zh-TW" sz="2000" dirty="0"/>
          </a:p>
          <a:p>
            <a:pPr>
              <a:lnSpc>
                <a:spcPct val="80000"/>
              </a:lnSpc>
            </a:pPr>
            <a:r>
              <a:rPr lang="en-US" altLang="zh-TW" sz="2800" dirty="0" smtClean="0"/>
              <a:t>In </a:t>
            </a:r>
            <a:r>
              <a:rPr lang="en-US" altLang="zh-TW" sz="2800" dirty="0"/>
              <a:t>recent years much attention has been focused on the </a:t>
            </a:r>
            <a:r>
              <a:rPr lang="en-US" altLang="zh-TW" sz="2800" i="1" dirty="0">
                <a:solidFill>
                  <a:schemeClr val="accent1">
                    <a:lumMod val="50000"/>
                  </a:schemeClr>
                </a:solidFill>
              </a:rPr>
              <a:t>reactive planning systems </a:t>
            </a:r>
            <a:endParaRPr lang="en-US" altLang="zh-TW" sz="2800" i="1" dirty="0" smtClean="0">
              <a:solidFill>
                <a:schemeClr val="accent1">
                  <a:lumMod val="50000"/>
                </a:schemeClr>
              </a:solidFill>
            </a:endParaRPr>
          </a:p>
          <a:p>
            <a:pPr lvl="1">
              <a:lnSpc>
                <a:spcPct val="80000"/>
              </a:lnSpc>
            </a:pPr>
            <a:r>
              <a:rPr lang="en-US" altLang="zh-TW" sz="2000" i="1" dirty="0" smtClean="0">
                <a:solidFill>
                  <a:schemeClr val="accent1">
                    <a:lumMod val="50000"/>
                  </a:schemeClr>
                </a:solidFill>
              </a:rPr>
              <a:t>behavior-based AI</a:t>
            </a:r>
          </a:p>
          <a:p>
            <a:pPr lvl="1">
              <a:lnSpc>
                <a:spcPct val="80000"/>
              </a:lnSpc>
            </a:pPr>
            <a:r>
              <a:rPr lang="en-US" altLang="zh-TW" sz="2000" i="1" dirty="0" smtClean="0"/>
              <a:t>new AI</a:t>
            </a:r>
          </a:p>
          <a:p>
            <a:pPr lvl="1">
              <a:lnSpc>
                <a:spcPct val="80000"/>
              </a:lnSpc>
            </a:pPr>
            <a:r>
              <a:rPr lang="en-US" altLang="zh-TW" sz="2000" i="1" dirty="0" smtClean="0"/>
              <a:t>emergent computation</a:t>
            </a:r>
          </a:p>
          <a:p>
            <a:pPr lvl="1">
              <a:lnSpc>
                <a:spcPct val="80000"/>
              </a:lnSpc>
            </a:pPr>
            <a:r>
              <a:rPr lang="en-US" altLang="zh-TW" sz="2000" i="1" dirty="0" err="1" smtClean="0"/>
              <a:t>animat</a:t>
            </a:r>
            <a:r>
              <a:rPr lang="en-US" altLang="zh-TW" sz="2000" i="1" dirty="0" smtClean="0"/>
              <a:t> approach</a:t>
            </a:r>
            <a:endParaRPr lang="en-US" altLang="zh-TW" sz="2000" i="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ltLang="zh-TW"/>
              <a:t>Biological information system</a:t>
            </a:r>
          </a:p>
        </p:txBody>
      </p:sp>
      <p:sp>
        <p:nvSpPr>
          <p:cNvPr id="9219" name="Rectangle 3"/>
          <p:cNvSpPr>
            <a:spLocks noGrp="1" noChangeArrowheads="1"/>
          </p:cNvSpPr>
          <p:nvPr>
            <p:ph type="body" idx="1"/>
          </p:nvPr>
        </p:nvSpPr>
        <p:spPr/>
        <p:txBody>
          <a:bodyPr/>
          <a:lstStyle/>
          <a:p>
            <a:r>
              <a:rPr lang="en-US" altLang="zh-TW" dirty="0"/>
              <a:t>Biological information system in living organisms </a:t>
            </a:r>
            <a:r>
              <a:rPr lang="en-US" altLang="zh-TW" dirty="0" smtClean="0"/>
              <a:t>can </a:t>
            </a:r>
            <a:r>
              <a:rPr lang="en-US" altLang="zh-TW" dirty="0"/>
              <a:t>be mainly classified into the following four systems</a:t>
            </a:r>
          </a:p>
          <a:p>
            <a:pPr lvl="1"/>
            <a:r>
              <a:rPr lang="en-US" altLang="zh-TW" i="1" dirty="0"/>
              <a:t>(1) </a:t>
            </a:r>
            <a:r>
              <a:rPr lang="en-US" altLang="zh-TW" i="1" smtClean="0"/>
              <a:t>brain-nervous system</a:t>
            </a:r>
            <a:endParaRPr lang="en-US" altLang="zh-TW" i="1" dirty="0"/>
          </a:p>
          <a:p>
            <a:pPr lvl="1"/>
            <a:r>
              <a:rPr lang="en-US" altLang="zh-TW" i="1" dirty="0"/>
              <a:t>(2) genetic system</a:t>
            </a:r>
          </a:p>
          <a:p>
            <a:pPr lvl="1"/>
            <a:r>
              <a:rPr lang="en-US" altLang="zh-TW" i="1" dirty="0"/>
              <a:t>(3) endocrine system</a:t>
            </a:r>
          </a:p>
          <a:p>
            <a:pPr lvl="1"/>
            <a:r>
              <a:rPr lang="en-US" altLang="zh-TW" i="1" dirty="0"/>
              <a:t>(4) immune system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zh-TW"/>
              <a:t>Biological information system</a:t>
            </a:r>
          </a:p>
        </p:txBody>
      </p:sp>
      <p:pic>
        <p:nvPicPr>
          <p:cNvPr id="10244" name="Picture 4"/>
          <p:cNvPicPr>
            <a:picLocks noChangeAspect="1" noChangeArrowheads="1"/>
          </p:cNvPicPr>
          <p:nvPr/>
        </p:nvPicPr>
        <p:blipFill>
          <a:blip r:embed="rId3" cstate="print"/>
          <a:srcRect/>
          <a:stretch>
            <a:fillRect/>
          </a:stretch>
        </p:blipFill>
        <p:spPr bwMode="auto">
          <a:xfrm>
            <a:off x="179512" y="1556792"/>
            <a:ext cx="8843962" cy="3989387"/>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zh-TW" dirty="0" smtClean="0"/>
              <a:t>Immune System</a:t>
            </a:r>
            <a:endParaRPr lang="zh-TW" altLang="zh-TW" dirty="0"/>
          </a:p>
        </p:txBody>
      </p:sp>
      <p:sp>
        <p:nvSpPr>
          <p:cNvPr id="12291" name="Rectangle 3"/>
          <p:cNvSpPr>
            <a:spLocks noGrp="1" noChangeArrowheads="1"/>
          </p:cNvSpPr>
          <p:nvPr>
            <p:ph type="body" idx="1"/>
          </p:nvPr>
        </p:nvSpPr>
        <p:spPr/>
        <p:txBody>
          <a:bodyPr>
            <a:normAutofit/>
          </a:bodyPr>
          <a:lstStyle/>
          <a:p>
            <a:pPr>
              <a:lnSpc>
                <a:spcPct val="80000"/>
              </a:lnSpc>
            </a:pPr>
            <a:r>
              <a:rPr lang="en-US" altLang="zh-TW" sz="2800" dirty="0"/>
              <a:t>Immune system, in particular, have various interesting features such as</a:t>
            </a:r>
          </a:p>
          <a:p>
            <a:pPr lvl="1">
              <a:lnSpc>
                <a:spcPct val="80000"/>
              </a:lnSpc>
            </a:pPr>
            <a:r>
              <a:rPr lang="en-US" altLang="zh-TW" sz="2400" dirty="0"/>
              <a:t>immunological </a:t>
            </a:r>
            <a:r>
              <a:rPr lang="en-US" altLang="zh-TW" sz="2400" dirty="0" smtClean="0"/>
              <a:t>memory</a:t>
            </a:r>
            <a:endParaRPr lang="en-US" altLang="zh-TW" sz="2400" dirty="0"/>
          </a:p>
          <a:p>
            <a:pPr lvl="1">
              <a:lnSpc>
                <a:spcPct val="80000"/>
              </a:lnSpc>
            </a:pPr>
            <a:r>
              <a:rPr lang="en-US" altLang="zh-TW" sz="2400" dirty="0"/>
              <a:t>immunological </a:t>
            </a:r>
            <a:r>
              <a:rPr lang="en-US" altLang="zh-TW" sz="2400" dirty="0" smtClean="0"/>
              <a:t>tolerance</a:t>
            </a:r>
            <a:endParaRPr lang="en-US" altLang="zh-TW" sz="2400" dirty="0"/>
          </a:p>
          <a:p>
            <a:pPr lvl="1">
              <a:lnSpc>
                <a:spcPct val="80000"/>
              </a:lnSpc>
            </a:pPr>
            <a:r>
              <a:rPr lang="en-US" altLang="zh-TW" sz="2400" dirty="0"/>
              <a:t>micro-pattern </a:t>
            </a:r>
            <a:r>
              <a:rPr lang="en-US" altLang="zh-TW" sz="2400" dirty="0" smtClean="0"/>
              <a:t>recognition</a:t>
            </a:r>
            <a:endParaRPr lang="en-US" altLang="zh-TW" sz="2400" dirty="0"/>
          </a:p>
          <a:p>
            <a:pPr lvl="1">
              <a:lnSpc>
                <a:spcPct val="80000"/>
              </a:lnSpc>
            </a:pPr>
            <a:r>
              <a:rPr lang="en-US" altLang="zh-TW" sz="2400" dirty="0"/>
              <a:t>Nonhierarchical distributed </a:t>
            </a:r>
            <a:r>
              <a:rPr lang="en-US" altLang="zh-TW" sz="2400" dirty="0" smtClean="0"/>
              <a:t>structure</a:t>
            </a:r>
            <a:endParaRPr lang="en-US" altLang="zh-TW" sz="2400" dirty="0"/>
          </a:p>
          <a:p>
            <a:pPr>
              <a:lnSpc>
                <a:spcPct val="80000"/>
              </a:lnSpc>
            </a:pPr>
            <a:r>
              <a:rPr lang="en-US" altLang="zh-TW" sz="2800" dirty="0" smtClean="0"/>
              <a:t>not only detect and eliminate the non-self materials called </a:t>
            </a:r>
            <a:r>
              <a:rPr lang="en-US" altLang="zh-TW" sz="2800" i="1" dirty="0" smtClean="0"/>
              <a:t>antigen</a:t>
            </a:r>
            <a:r>
              <a:rPr lang="en-US" altLang="zh-TW" sz="2800" dirty="0" smtClean="0"/>
              <a:t>, </a:t>
            </a:r>
            <a:r>
              <a:rPr lang="en-US" altLang="zh-TW" sz="2800" dirty="0" smtClean="0">
                <a:solidFill>
                  <a:srgbClr val="FF0000"/>
                </a:solidFill>
              </a:rPr>
              <a:t>but </a:t>
            </a:r>
            <a:r>
              <a:rPr lang="en-US" altLang="zh-TW" sz="2800" dirty="0">
                <a:solidFill>
                  <a:srgbClr val="FF0000"/>
                </a:solidFill>
              </a:rPr>
              <a:t>plays important roles to maintain its own system against dynamically changing environments</a:t>
            </a:r>
            <a:r>
              <a:rPr lang="en-US" altLang="zh-TW" sz="1800" dirty="0" smtClean="0">
                <a:solidFill>
                  <a:srgbClr val="FF0000"/>
                </a:solidFill>
              </a:rPr>
              <a:t>.</a:t>
            </a:r>
            <a:endParaRPr lang="en-US" altLang="zh-TW" sz="1800" dirty="0">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ltLang="zh-TW" dirty="0" smtClean="0"/>
              <a:t>Overview of </a:t>
            </a:r>
            <a:r>
              <a:rPr lang="en-US" altLang="zh-TW" dirty="0" err="1" smtClean="0"/>
              <a:t>Immue</a:t>
            </a:r>
            <a:r>
              <a:rPr lang="en-US" altLang="zh-TW" dirty="0" smtClean="0"/>
              <a:t> System</a:t>
            </a:r>
            <a:endParaRPr lang="zh-TW" altLang="zh-TW" dirty="0"/>
          </a:p>
        </p:txBody>
      </p:sp>
      <p:sp>
        <p:nvSpPr>
          <p:cNvPr id="13315" name="Rectangle 3"/>
          <p:cNvSpPr>
            <a:spLocks noGrp="1" noChangeArrowheads="1"/>
          </p:cNvSpPr>
          <p:nvPr>
            <p:ph type="body" idx="1"/>
          </p:nvPr>
        </p:nvSpPr>
        <p:spPr/>
        <p:txBody>
          <a:bodyPr>
            <a:normAutofit lnSpcReduction="10000"/>
          </a:bodyPr>
          <a:lstStyle/>
          <a:p>
            <a:r>
              <a:rPr lang="en-US" altLang="zh-TW" sz="2400" dirty="0"/>
              <a:t>The basic components of the immune system </a:t>
            </a:r>
            <a:r>
              <a:rPr lang="en-US" altLang="zh-TW" sz="2400" dirty="0" smtClean="0"/>
              <a:t>are</a:t>
            </a:r>
          </a:p>
          <a:p>
            <a:pPr lvl="1"/>
            <a:r>
              <a:rPr lang="en-US" altLang="zh-TW" sz="2000" i="1" dirty="0" smtClean="0">
                <a:solidFill>
                  <a:schemeClr val="accent1">
                    <a:lumMod val="50000"/>
                  </a:schemeClr>
                </a:solidFill>
              </a:rPr>
              <a:t>B-lymphocytes</a:t>
            </a:r>
          </a:p>
          <a:p>
            <a:pPr lvl="1"/>
            <a:r>
              <a:rPr lang="en-US" altLang="zh-TW" sz="2000" i="1" dirty="0" smtClean="0">
                <a:solidFill>
                  <a:schemeClr val="accent1">
                    <a:lumMod val="50000"/>
                  </a:schemeClr>
                </a:solidFill>
              </a:rPr>
              <a:t>T-lymphocytes</a:t>
            </a:r>
          </a:p>
          <a:p>
            <a:r>
              <a:rPr lang="en-US" altLang="zh-TW" sz="2400" dirty="0" smtClean="0"/>
              <a:t>B-lymphocytes</a:t>
            </a:r>
          </a:p>
          <a:p>
            <a:pPr lvl="1"/>
            <a:r>
              <a:rPr lang="en-US" altLang="zh-TW" sz="2000" dirty="0" smtClean="0"/>
              <a:t>produced </a:t>
            </a:r>
            <a:r>
              <a:rPr lang="en-US" altLang="zh-TW" sz="2000" dirty="0"/>
              <a:t>by bone </a:t>
            </a:r>
            <a:r>
              <a:rPr lang="en-US" altLang="zh-TW" sz="2000" dirty="0" smtClean="0"/>
              <a:t>marrows</a:t>
            </a:r>
          </a:p>
          <a:p>
            <a:pPr lvl="1"/>
            <a:r>
              <a:rPr lang="en-US" altLang="zh-TW" sz="2000" dirty="0" smtClean="0"/>
              <a:t>Roughly 10</a:t>
            </a:r>
            <a:r>
              <a:rPr lang="en-US" altLang="zh-TW" sz="2000" baseline="30000" dirty="0"/>
              <a:t>7</a:t>
            </a:r>
            <a:r>
              <a:rPr lang="en-US" altLang="zh-TW" sz="2000" dirty="0" smtClean="0"/>
              <a:t> distinct types </a:t>
            </a:r>
            <a:r>
              <a:rPr lang="en-US" altLang="zh-TW" sz="2000" dirty="0"/>
              <a:t>of </a:t>
            </a:r>
            <a:r>
              <a:rPr lang="en-US" altLang="zh-TW" sz="2000" dirty="0" smtClean="0"/>
              <a:t>B-lymphocytes in human body</a:t>
            </a:r>
          </a:p>
          <a:p>
            <a:pPr lvl="1"/>
            <a:r>
              <a:rPr lang="en-US" altLang="zh-TW" sz="2000" dirty="0" smtClean="0"/>
              <a:t>produces many "Y</a:t>
            </a:r>
            <a:r>
              <a:rPr lang="en-US" altLang="zh-TW" sz="2000" dirty="0"/>
              <a:t>" shaped antibodies from its </a:t>
            </a:r>
            <a:r>
              <a:rPr lang="en-US" altLang="zh-TW" sz="2000" dirty="0" smtClean="0"/>
              <a:t>surfaces</a:t>
            </a:r>
          </a:p>
          <a:p>
            <a:pPr lvl="1"/>
            <a:r>
              <a:rPr lang="en-US" altLang="zh-TW" sz="2000" dirty="0" smtClean="0"/>
              <a:t>The</a:t>
            </a:r>
            <a:r>
              <a:rPr lang="en-US" altLang="zh-TW" sz="2000" b="1" dirty="0" smtClean="0"/>
              <a:t> </a:t>
            </a:r>
            <a:r>
              <a:rPr lang="en-US" altLang="zh-TW" sz="2000" dirty="0" smtClean="0"/>
              <a:t>antibody </a:t>
            </a:r>
            <a:r>
              <a:rPr lang="en-US" altLang="zh-TW" sz="2000" dirty="0"/>
              <a:t>specifically recognizes an </a:t>
            </a:r>
            <a:r>
              <a:rPr lang="en-US" altLang="zh-TW" sz="2000" dirty="0" smtClean="0"/>
              <a:t>antigen </a:t>
            </a:r>
            <a:r>
              <a:rPr lang="en-US" altLang="zh-TW" sz="2000" dirty="0"/>
              <a:t>like a key </a:t>
            </a:r>
            <a:r>
              <a:rPr lang="en-US" altLang="zh-TW" sz="2000" dirty="0" smtClean="0"/>
              <a:t>and lock relationship.</a:t>
            </a:r>
          </a:p>
          <a:p>
            <a:pPr lvl="1"/>
            <a:r>
              <a:rPr lang="en-US" altLang="zh-TW" sz="2000" dirty="0" smtClean="0"/>
              <a:t>The </a:t>
            </a:r>
            <a:r>
              <a:rPr lang="en-US" altLang="zh-TW" sz="2000" dirty="0"/>
              <a:t>portion on the antigen recognized by </a:t>
            </a:r>
            <a:r>
              <a:rPr lang="en-US" altLang="zh-TW" sz="2000" dirty="0" smtClean="0"/>
              <a:t>the antibody </a:t>
            </a:r>
            <a:r>
              <a:rPr lang="en-US" altLang="zh-TW" sz="2000" dirty="0"/>
              <a:t>is called </a:t>
            </a:r>
            <a:r>
              <a:rPr lang="en-US" altLang="zh-TW" sz="2000" dirty="0" err="1"/>
              <a:t>epitope</a:t>
            </a:r>
            <a:r>
              <a:rPr lang="en-US" altLang="zh-TW" sz="2000" dirty="0"/>
              <a:t> (antigen determinant), and </a:t>
            </a:r>
            <a:r>
              <a:rPr lang="en-US" altLang="zh-TW" sz="2000" dirty="0" smtClean="0"/>
              <a:t>the one </a:t>
            </a:r>
            <a:r>
              <a:rPr lang="en-US" altLang="zh-TW" sz="2000" dirty="0"/>
              <a:t>on the antibody that recognizes the </a:t>
            </a:r>
            <a:r>
              <a:rPr lang="en-US" altLang="zh-TW" sz="2000" dirty="0" smtClean="0"/>
              <a:t>corresponding antigen </a:t>
            </a:r>
            <a:r>
              <a:rPr lang="en-US" altLang="zh-TW" sz="2000" dirty="0"/>
              <a:t>determinant is called </a:t>
            </a:r>
            <a:r>
              <a:rPr lang="en-US" altLang="zh-TW" sz="2000" dirty="0" err="1"/>
              <a:t>paratope</a:t>
            </a:r>
            <a:r>
              <a:rPr lang="en-US" altLang="zh-TW" sz="2000" dirty="0" smtClean="0"/>
              <a:t>.</a:t>
            </a:r>
            <a:endParaRPr lang="zh-TW" altLang="zh-TW"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Overview of Immune System</a:t>
            </a:r>
            <a:endParaRPr lang="zh-TW" altLang="en-US" dirty="0"/>
          </a:p>
        </p:txBody>
      </p:sp>
      <p:pic>
        <p:nvPicPr>
          <p:cNvPr id="1026" name="Picture 2"/>
          <p:cNvPicPr>
            <a:picLocks noGrp="1" noChangeAspect="1" noChangeArrowheads="1"/>
          </p:cNvPicPr>
          <p:nvPr>
            <p:ph idx="1"/>
          </p:nvPr>
        </p:nvPicPr>
        <p:blipFill>
          <a:blip r:embed="rId3" cstate="print"/>
          <a:srcRect/>
          <a:stretch>
            <a:fillRect/>
          </a:stretch>
        </p:blipFill>
        <p:spPr bwMode="auto">
          <a:xfrm>
            <a:off x="1175214" y="1600200"/>
            <a:ext cx="6793572" cy="4525963"/>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Immune network hypothesis</a:t>
            </a:r>
            <a:endParaRPr lang="zh-TW" altLang="en-US" dirty="0"/>
          </a:p>
        </p:txBody>
      </p:sp>
      <p:sp>
        <p:nvSpPr>
          <p:cNvPr id="3" name="內容版面配置區 2"/>
          <p:cNvSpPr>
            <a:spLocks noGrp="1"/>
          </p:cNvSpPr>
          <p:nvPr>
            <p:ph idx="1"/>
          </p:nvPr>
        </p:nvSpPr>
        <p:spPr/>
        <p:txBody>
          <a:bodyPr>
            <a:normAutofit/>
          </a:bodyPr>
          <a:lstStyle/>
          <a:p>
            <a:r>
              <a:rPr lang="en-US" altLang="zh-TW" dirty="0" smtClean="0"/>
              <a:t>Based on the above fact, </a:t>
            </a:r>
            <a:r>
              <a:rPr lang="en-US" altLang="zh-TW" i="1" dirty="0" err="1" smtClean="0"/>
              <a:t>N.K.Jerne</a:t>
            </a:r>
            <a:r>
              <a:rPr lang="en-US" altLang="zh-TW" i="1" dirty="0" smtClean="0"/>
              <a:t> who is an </a:t>
            </a:r>
            <a:r>
              <a:rPr lang="en-US" altLang="zh-TW" dirty="0" smtClean="0"/>
              <a:t>immunologist proposed a remarkable hypothesis: </a:t>
            </a:r>
            <a:r>
              <a:rPr lang="en-US" altLang="zh-TW" i="1" dirty="0" err="1" smtClean="0"/>
              <a:t>idiotypic</a:t>
            </a:r>
            <a:r>
              <a:rPr lang="en-US" altLang="zh-TW" i="1" dirty="0" smtClean="0"/>
              <a:t> network hypothesis.</a:t>
            </a:r>
          </a:p>
          <a:p>
            <a:r>
              <a:rPr lang="en-US" altLang="zh-TW" i="1" dirty="0" smtClean="0"/>
              <a:t>This hypothesis </a:t>
            </a:r>
            <a:r>
              <a:rPr lang="en-US" altLang="zh-TW" dirty="0" smtClean="0"/>
              <a:t>explains that antibodies do not exist independently in living organisms, but </a:t>
            </a:r>
            <a:r>
              <a:rPr lang="en-US" altLang="zh-TW" dirty="0" smtClean="0">
                <a:solidFill>
                  <a:schemeClr val="accent1">
                    <a:lumMod val="50000"/>
                  </a:schemeClr>
                </a:solidFill>
              </a:rPr>
              <a:t>communicate with each other through </a:t>
            </a:r>
            <a:r>
              <a:rPr lang="en-US" altLang="zh-TW" dirty="0" err="1" smtClean="0">
                <a:solidFill>
                  <a:schemeClr val="accent1">
                    <a:lumMod val="50000"/>
                  </a:schemeClr>
                </a:solidFill>
              </a:rPr>
              <a:t>idiotope</a:t>
            </a:r>
            <a:r>
              <a:rPr lang="en-US" altLang="zh-TW" dirty="0" smtClean="0">
                <a:solidFill>
                  <a:schemeClr val="accent1">
                    <a:lumMod val="50000"/>
                  </a:schemeClr>
                </a:solidFill>
              </a:rPr>
              <a:t> and </a:t>
            </a:r>
            <a:r>
              <a:rPr lang="en-US" altLang="zh-TW" dirty="0" err="1" smtClean="0">
                <a:solidFill>
                  <a:schemeClr val="accent1">
                    <a:lumMod val="50000"/>
                  </a:schemeClr>
                </a:solidFill>
              </a:rPr>
              <a:t>paratope</a:t>
            </a:r>
            <a:r>
              <a:rPr lang="en-US" altLang="zh-TW" dirty="0" smtClean="0"/>
              <a:t>.</a:t>
            </a:r>
            <a:endParaRPr lang="zh-TW"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Immune network hypothesis</a:t>
            </a:r>
            <a:endParaRPr lang="zh-TW" altLang="en-US" dirty="0"/>
          </a:p>
        </p:txBody>
      </p:sp>
      <p:pic>
        <p:nvPicPr>
          <p:cNvPr id="2050" name="Picture 2"/>
          <p:cNvPicPr>
            <a:picLocks noGrp="1" noChangeAspect="1" noChangeArrowheads="1"/>
          </p:cNvPicPr>
          <p:nvPr>
            <p:ph idx="1"/>
          </p:nvPr>
        </p:nvPicPr>
        <p:blipFill>
          <a:blip r:embed="rId2" cstate="print"/>
          <a:srcRect/>
          <a:stretch>
            <a:fillRect/>
          </a:stretch>
        </p:blipFill>
        <p:spPr bwMode="auto">
          <a:xfrm>
            <a:off x="1979712" y="1277448"/>
            <a:ext cx="5256584" cy="5247896"/>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683568" y="0"/>
            <a:ext cx="8229600" cy="1143000"/>
          </a:xfrm>
        </p:spPr>
        <p:txBody>
          <a:bodyPr/>
          <a:lstStyle/>
          <a:p>
            <a:r>
              <a:rPr lang="en-US" altLang="zh-TW" dirty="0" smtClean="0"/>
              <a:t>Behavior control system</a:t>
            </a:r>
            <a:endParaRPr lang="zh-TW" altLang="en-US" dirty="0"/>
          </a:p>
        </p:txBody>
      </p:sp>
      <p:pic>
        <p:nvPicPr>
          <p:cNvPr id="3074" name="Picture 2"/>
          <p:cNvPicPr>
            <a:picLocks noGrp="1" noChangeAspect="1" noChangeArrowheads="1"/>
          </p:cNvPicPr>
          <p:nvPr>
            <p:ph idx="1"/>
          </p:nvPr>
        </p:nvPicPr>
        <p:blipFill>
          <a:blip r:embed="rId3" cstate="print"/>
          <a:srcRect b="10272"/>
          <a:stretch>
            <a:fillRect/>
          </a:stretch>
        </p:blipFill>
        <p:spPr bwMode="auto">
          <a:xfrm>
            <a:off x="2339752" y="836712"/>
            <a:ext cx="4622379" cy="5873342"/>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Behavior control system</a:t>
            </a:r>
            <a:endParaRPr lang="zh-TW" altLang="en-US" dirty="0"/>
          </a:p>
        </p:txBody>
      </p:sp>
      <p:sp>
        <p:nvSpPr>
          <p:cNvPr id="3" name="內容版面配置區 2"/>
          <p:cNvSpPr>
            <a:spLocks noGrp="1"/>
          </p:cNvSpPr>
          <p:nvPr>
            <p:ph idx="1"/>
          </p:nvPr>
        </p:nvSpPr>
        <p:spPr/>
        <p:txBody>
          <a:bodyPr>
            <a:normAutofit/>
          </a:bodyPr>
          <a:lstStyle/>
          <a:p>
            <a:r>
              <a:rPr lang="en-US" altLang="zh-TW" sz="2800" dirty="0" smtClean="0"/>
              <a:t>In the situation-oriented immune network layer, antigen has the information on the current situation such as the existence of obstacles and the direction of destination.</a:t>
            </a:r>
          </a:p>
          <a:p>
            <a:pPr lvl="1"/>
            <a:r>
              <a:rPr lang="en-US" altLang="zh-TW" sz="2000" dirty="0" err="1" smtClean="0"/>
              <a:t>paratope</a:t>
            </a:r>
            <a:r>
              <a:rPr lang="en-US" altLang="zh-TW" sz="2000" dirty="0" smtClean="0"/>
              <a:t> : represents conditions that have to be fulfilled before the antibody can be selected</a:t>
            </a:r>
          </a:p>
          <a:p>
            <a:pPr lvl="1"/>
            <a:r>
              <a:rPr lang="en-US" altLang="zh-TW" sz="2000" dirty="0" err="1" smtClean="0"/>
              <a:t>idiotope</a:t>
            </a:r>
            <a:r>
              <a:rPr lang="en-US" altLang="zh-TW" sz="2000" dirty="0" smtClean="0"/>
              <a:t> : represents the expected situation of the antibody concerned implements its own action to real world.</a:t>
            </a:r>
          </a:p>
          <a:p>
            <a:pPr lvl="1"/>
            <a:r>
              <a:rPr lang="en-US" altLang="zh-TW" sz="2000" dirty="0" smtClean="0"/>
              <a:t>the interaction (i.e., stimulation and suppression) between </a:t>
            </a:r>
            <a:r>
              <a:rPr lang="en-US" altLang="zh-TW" sz="2000" dirty="0" err="1" smtClean="0"/>
              <a:t>paratope</a:t>
            </a:r>
            <a:r>
              <a:rPr lang="en-US" altLang="zh-TW" sz="2000" dirty="0" smtClean="0"/>
              <a:t> and </a:t>
            </a:r>
            <a:r>
              <a:rPr lang="en-US" altLang="zh-TW" sz="2000" dirty="0" err="1" smtClean="0"/>
              <a:t>idiotope</a:t>
            </a:r>
            <a:r>
              <a:rPr lang="en-US" altLang="zh-TW" sz="2000" dirty="0" smtClean="0"/>
              <a:t> </a:t>
            </a:r>
            <a:r>
              <a:rPr lang="en-US" altLang="zh-TW" sz="2000" b="1" dirty="0" smtClean="0"/>
              <a:t>is generated based on the chain of </a:t>
            </a:r>
            <a:r>
              <a:rPr lang="en-US" altLang="zh-TW" sz="2000" dirty="0" smtClean="0"/>
              <a:t>causality.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Behavior control system</a:t>
            </a:r>
            <a:endParaRPr lang="zh-TW" altLang="en-US" dirty="0"/>
          </a:p>
        </p:txBody>
      </p:sp>
      <p:sp>
        <p:nvSpPr>
          <p:cNvPr id="3" name="內容版面配置區 2"/>
          <p:cNvSpPr>
            <a:spLocks noGrp="1"/>
          </p:cNvSpPr>
          <p:nvPr>
            <p:ph idx="1"/>
          </p:nvPr>
        </p:nvSpPr>
        <p:spPr/>
        <p:txBody>
          <a:bodyPr/>
          <a:lstStyle/>
          <a:p>
            <a:r>
              <a:rPr lang="en-US" altLang="zh-TW" sz="2800" dirty="0" smtClean="0"/>
              <a:t>In the goal-oriented immune network layer, antigen has the information on given demand such as approaching goal and so on.</a:t>
            </a:r>
          </a:p>
          <a:p>
            <a:pPr lvl="1"/>
            <a:r>
              <a:rPr lang="en-US" altLang="zh-TW" sz="2000" dirty="0" smtClean="0"/>
              <a:t>Note that the directions of stimulation and suppression links in this network are </a:t>
            </a:r>
            <a:r>
              <a:rPr lang="en-US" altLang="zh-TW" sz="2000" dirty="0" smtClean="0">
                <a:solidFill>
                  <a:schemeClr val="accent1">
                    <a:lumMod val="50000"/>
                  </a:schemeClr>
                </a:solidFill>
              </a:rPr>
              <a:t>opposite</a:t>
            </a:r>
            <a:r>
              <a:rPr lang="en-US" altLang="zh-TW" sz="2000" dirty="0" smtClean="0"/>
              <a:t> to those in the situation-oriented immune network.</a:t>
            </a:r>
          </a:p>
          <a:p>
            <a:pPr lvl="1"/>
            <a:r>
              <a:rPr lang="en-US" altLang="zh-TW" sz="2000" dirty="0" smtClean="0"/>
              <a:t>This is because the effect-to-cause chain of behaviors is required for accomplishment of given demand.</a:t>
            </a:r>
          </a:p>
          <a:p>
            <a:pPr lvl="1"/>
            <a:r>
              <a:rPr lang="en-US" altLang="zh-TW" sz="2000" dirty="0" smtClean="0"/>
              <a:t>In other words, situation-oriented and goal-oriented immune  networks play the roles of </a:t>
            </a:r>
            <a:r>
              <a:rPr lang="en-US" altLang="zh-TW" sz="2000" dirty="0" smtClean="0">
                <a:solidFill>
                  <a:schemeClr val="accent1">
                    <a:lumMod val="50000"/>
                  </a:schemeClr>
                </a:solidFill>
              </a:rPr>
              <a:t>data-driven</a:t>
            </a:r>
            <a:r>
              <a:rPr lang="en-US" altLang="zh-TW" sz="2000" dirty="0" smtClean="0"/>
              <a:t> and </a:t>
            </a:r>
            <a:r>
              <a:rPr lang="en-US" altLang="zh-TW" sz="2000" dirty="0" smtClean="0">
                <a:solidFill>
                  <a:schemeClr val="accent1">
                    <a:lumMod val="50000"/>
                  </a:schemeClr>
                </a:solidFill>
              </a:rPr>
              <a:t>conceptually-driven</a:t>
            </a:r>
            <a:r>
              <a:rPr lang="en-US" altLang="zh-TW" sz="2000" dirty="0" smtClean="0"/>
              <a:t> processing system, respectively.</a:t>
            </a:r>
            <a:endParaRPr lang="zh-TW" altLang="en-US" sz="2000" dirty="0" smtClean="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Dynamics of antibody selection mechanisms</a:t>
            </a:r>
            <a:endParaRPr lang="zh-TW" altLang="en-US" dirty="0"/>
          </a:p>
        </p:txBody>
      </p:sp>
      <p:sp>
        <p:nvSpPr>
          <p:cNvPr id="3" name="內容版面配置區 2"/>
          <p:cNvSpPr>
            <a:spLocks noGrp="1"/>
          </p:cNvSpPr>
          <p:nvPr>
            <p:ph idx="1"/>
          </p:nvPr>
        </p:nvSpPr>
        <p:spPr/>
        <p:txBody>
          <a:bodyPr/>
          <a:lstStyle/>
          <a:p>
            <a:r>
              <a:rPr lang="en-US" altLang="zh-TW" dirty="0" smtClean="0"/>
              <a:t>The total </a:t>
            </a:r>
            <a:r>
              <a:rPr lang="en-US" altLang="zh-TW" dirty="0" smtClean="0">
                <a:solidFill>
                  <a:schemeClr val="accent1">
                    <a:lumMod val="50000"/>
                  </a:schemeClr>
                </a:solidFill>
              </a:rPr>
              <a:t>concentration</a:t>
            </a:r>
            <a:r>
              <a:rPr lang="en-US" altLang="zh-TW" dirty="0" smtClean="0"/>
              <a:t> of antibody </a:t>
            </a:r>
            <a:r>
              <a:rPr lang="en-US" altLang="zh-TW" i="1" dirty="0" smtClean="0"/>
              <a:t>I</a:t>
            </a:r>
            <a:r>
              <a:rPr lang="en-US" altLang="zh-TW" dirty="0" smtClean="0"/>
              <a:t>, </a:t>
            </a:r>
            <a:r>
              <a:rPr lang="en-US" altLang="zh-TW" i="1" dirty="0" err="1" smtClean="0"/>
              <a:t>a</a:t>
            </a:r>
            <a:r>
              <a:rPr lang="en-US" altLang="zh-TW" i="1" baseline="-25000" dirty="0" err="1" smtClean="0"/>
              <a:t>i</a:t>
            </a:r>
            <a:r>
              <a:rPr lang="en-US" altLang="zh-TW" dirty="0" smtClean="0"/>
              <a:t> , is defined as follows:</a:t>
            </a:r>
            <a:endParaRPr lang="zh-TW" altLang="en-US" dirty="0"/>
          </a:p>
        </p:txBody>
      </p:sp>
      <p:graphicFrame>
        <p:nvGraphicFramePr>
          <p:cNvPr id="4" name="物件 3"/>
          <p:cNvGraphicFramePr>
            <a:graphicFrameLocks noChangeAspect="1"/>
          </p:cNvGraphicFramePr>
          <p:nvPr/>
        </p:nvGraphicFramePr>
        <p:xfrm>
          <a:off x="1907704" y="2780928"/>
          <a:ext cx="5813699" cy="936104"/>
        </p:xfrm>
        <a:graphic>
          <a:graphicData uri="http://schemas.openxmlformats.org/presentationml/2006/ole">
            <p:oleObj spid="_x0000_s4098" name="方程式" r:id="rId3" imgW="1498320" imgH="241200" progId="Equation.3">
              <p:embed/>
            </p:oleObj>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Dynamics of antibody selection mechanisms</a:t>
            </a:r>
            <a:endParaRPr lang="zh-TW" altLang="en-US" dirty="0"/>
          </a:p>
        </p:txBody>
      </p:sp>
      <p:sp>
        <p:nvSpPr>
          <p:cNvPr id="3" name="內容版面配置區 2"/>
          <p:cNvSpPr>
            <a:spLocks noGrp="1"/>
          </p:cNvSpPr>
          <p:nvPr>
            <p:ph idx="1"/>
          </p:nvPr>
        </p:nvSpPr>
        <p:spPr/>
        <p:txBody>
          <a:bodyPr>
            <a:noAutofit/>
          </a:bodyPr>
          <a:lstStyle/>
          <a:p>
            <a:r>
              <a:rPr lang="en-US" altLang="zh-TW" sz="2000" dirty="0" smtClean="0"/>
              <a:t>The concentration of </a:t>
            </a:r>
            <a:r>
              <a:rPr lang="en-US" altLang="zh-TW" sz="2000" dirty="0" err="1" smtClean="0"/>
              <a:t>i-th</a:t>
            </a:r>
            <a:r>
              <a:rPr lang="en-US" altLang="zh-TW" sz="2000" dirty="0" smtClean="0"/>
              <a:t> antibody in the situation-oriented immune network:</a:t>
            </a:r>
          </a:p>
          <a:p>
            <a:endParaRPr lang="en-US" altLang="zh-TW" sz="2000" dirty="0" smtClean="0"/>
          </a:p>
          <a:p>
            <a:endParaRPr lang="en-US" altLang="zh-TW" sz="2000" dirty="0" smtClean="0"/>
          </a:p>
          <a:p>
            <a:pPr>
              <a:buNone/>
            </a:pPr>
            <a:endParaRPr lang="en-US" altLang="zh-TW" sz="2000" dirty="0" smtClean="0"/>
          </a:p>
          <a:p>
            <a:endParaRPr lang="en-US" altLang="zh-TW" sz="2000" dirty="0" smtClean="0"/>
          </a:p>
          <a:p>
            <a:pPr lvl="1"/>
            <a:r>
              <a:rPr lang="en-US" altLang="zh-TW" sz="1600" dirty="0" smtClean="0"/>
              <a:t>1st term : activation level that other antibodies spread to antibody </a:t>
            </a:r>
            <a:r>
              <a:rPr lang="en-US" altLang="zh-TW" sz="1600" dirty="0" err="1" smtClean="0"/>
              <a:t>i</a:t>
            </a:r>
            <a:r>
              <a:rPr lang="en-US" altLang="zh-TW" sz="1600" dirty="0" smtClean="0"/>
              <a:t> (stimulation from other antibodies)</a:t>
            </a:r>
          </a:p>
          <a:p>
            <a:pPr lvl="1"/>
            <a:r>
              <a:rPr lang="en-US" altLang="zh-TW" sz="1600" dirty="0" smtClean="0"/>
              <a:t>2nd term :  activation level that antibody </a:t>
            </a:r>
            <a:r>
              <a:rPr lang="en-US" altLang="zh-TW" sz="1600" dirty="0" err="1" smtClean="0"/>
              <a:t>i</a:t>
            </a:r>
            <a:r>
              <a:rPr lang="en-US" altLang="zh-TW" sz="1600" dirty="0" smtClean="0"/>
              <a:t> spreads to other antibodies (suppression from other antibodies)</a:t>
            </a:r>
          </a:p>
          <a:p>
            <a:pPr lvl="1"/>
            <a:r>
              <a:rPr lang="en-US" altLang="zh-TW" sz="1600" dirty="0" smtClean="0"/>
              <a:t>3rd term :  external input of activation to antibody I (from antigens)</a:t>
            </a:r>
          </a:p>
          <a:p>
            <a:pPr lvl="1"/>
            <a:r>
              <a:rPr lang="en-US" altLang="zh-TW" sz="1600" dirty="0" smtClean="0"/>
              <a:t>4th term :  dissipation (natural death)</a:t>
            </a:r>
          </a:p>
          <a:p>
            <a:r>
              <a:rPr lang="en-US" altLang="zh-TW" sz="2000" dirty="0" smtClean="0"/>
              <a:t>The concentration of </a:t>
            </a:r>
            <a:r>
              <a:rPr lang="en-US" altLang="zh-TW" sz="2000" dirty="0" err="1" smtClean="0"/>
              <a:t>i-th</a:t>
            </a:r>
            <a:r>
              <a:rPr lang="en-US" altLang="zh-TW" sz="2000" dirty="0" smtClean="0"/>
              <a:t> antibody in the goal-oriented immune network can be calculated in the same way.</a:t>
            </a:r>
            <a:endParaRPr lang="zh-TW" altLang="en-US" sz="2000" dirty="0"/>
          </a:p>
        </p:txBody>
      </p:sp>
      <p:graphicFrame>
        <p:nvGraphicFramePr>
          <p:cNvPr id="6147" name="內容版面配置區 3"/>
          <p:cNvGraphicFramePr>
            <a:graphicFrameLocks noChangeAspect="1"/>
          </p:cNvGraphicFramePr>
          <p:nvPr/>
        </p:nvGraphicFramePr>
        <p:xfrm>
          <a:off x="971600" y="2348880"/>
          <a:ext cx="7309312" cy="1224136"/>
        </p:xfrm>
        <a:graphic>
          <a:graphicData uri="http://schemas.openxmlformats.org/presentationml/2006/ole">
            <p:oleObj spid="_x0000_s6147" name="方程式" r:id="rId3" imgW="2882880" imgH="482400" progId="Equation.3">
              <p:embed/>
            </p:oleObj>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err="1" smtClean="0"/>
              <a:t>Maes's</a:t>
            </a:r>
            <a:r>
              <a:rPr lang="en-US" altLang="zh-TW" b="1" dirty="0" smtClean="0"/>
              <a:t> approach</a:t>
            </a:r>
            <a:endParaRPr lang="zh-TW" altLang="en-US" dirty="0"/>
          </a:p>
        </p:txBody>
      </p:sp>
      <p:sp>
        <p:nvSpPr>
          <p:cNvPr id="3" name="內容版面配置區 2"/>
          <p:cNvSpPr>
            <a:spLocks noGrp="1"/>
          </p:cNvSpPr>
          <p:nvPr>
            <p:ph idx="1"/>
          </p:nvPr>
        </p:nvSpPr>
        <p:spPr/>
        <p:txBody>
          <a:bodyPr>
            <a:normAutofit fontScale="77500" lnSpcReduction="20000"/>
          </a:bodyPr>
          <a:lstStyle/>
          <a:p>
            <a:r>
              <a:rPr lang="en-US" altLang="zh-TW" dirty="0" smtClean="0"/>
              <a:t>An agent in </a:t>
            </a:r>
            <a:r>
              <a:rPr lang="en-US" altLang="zh-TW" dirty="0" err="1" smtClean="0"/>
              <a:t>Maes's</a:t>
            </a:r>
            <a:r>
              <a:rPr lang="en-US" altLang="zh-TW" dirty="0" smtClean="0"/>
              <a:t> behavior network is described by a </a:t>
            </a:r>
            <a:r>
              <a:rPr lang="en-US" altLang="zh-TW" dirty="0" err="1" smtClean="0"/>
              <a:t>tuple</a:t>
            </a:r>
            <a:r>
              <a:rPr lang="en-US" altLang="zh-TW" dirty="0" smtClean="0"/>
              <a:t> (</a:t>
            </a:r>
            <a:r>
              <a:rPr lang="en-US" altLang="zh-TW" i="1" dirty="0" err="1" smtClean="0"/>
              <a:t>Ip</a:t>
            </a:r>
            <a:r>
              <a:rPr lang="en-US" altLang="zh-TW" i="1" dirty="0" smtClean="0"/>
              <a:t>, la, id, a</a:t>
            </a:r>
            <a:r>
              <a:rPr lang="en-US" altLang="zh-TW" dirty="0" smtClean="0"/>
              <a:t>).</a:t>
            </a:r>
          </a:p>
          <a:p>
            <a:pPr lvl="1"/>
            <a:r>
              <a:rPr lang="en-US" altLang="zh-TW" i="1" dirty="0" err="1" smtClean="0"/>
              <a:t>lp</a:t>
            </a:r>
            <a:r>
              <a:rPr lang="en-US" altLang="zh-TW" i="1" dirty="0" smtClean="0"/>
              <a:t> </a:t>
            </a:r>
            <a:r>
              <a:rPr lang="en-US" altLang="zh-TW" dirty="0" smtClean="0"/>
              <a:t>: a list of preconditions ( antibodies )</a:t>
            </a:r>
          </a:p>
          <a:p>
            <a:pPr lvl="1"/>
            <a:r>
              <a:rPr lang="en-US" altLang="zh-TW" i="1" dirty="0" smtClean="0"/>
              <a:t>la</a:t>
            </a:r>
            <a:r>
              <a:rPr lang="en-US" altLang="zh-TW" dirty="0" smtClean="0"/>
              <a:t> : add lists ( </a:t>
            </a:r>
            <a:r>
              <a:rPr lang="en-US" altLang="zh-TW" dirty="0" err="1" smtClean="0"/>
              <a:t>paratope</a:t>
            </a:r>
            <a:r>
              <a:rPr lang="en-US" altLang="zh-TW" dirty="0" smtClean="0"/>
              <a:t> )</a:t>
            </a:r>
          </a:p>
          <a:p>
            <a:pPr lvl="1"/>
            <a:r>
              <a:rPr lang="en-US" altLang="zh-TW" i="1" dirty="0" smtClean="0"/>
              <a:t>Id </a:t>
            </a:r>
            <a:r>
              <a:rPr lang="en-US" altLang="zh-TW" dirty="0" smtClean="0"/>
              <a:t>:</a:t>
            </a:r>
            <a:r>
              <a:rPr lang="zh-TW" altLang="en-US" dirty="0" smtClean="0"/>
              <a:t> </a:t>
            </a:r>
            <a:r>
              <a:rPr lang="en-US" altLang="zh-TW" dirty="0" smtClean="0"/>
              <a:t>delete lists</a:t>
            </a:r>
            <a:r>
              <a:rPr lang="zh-TW" altLang="en-US" dirty="0" smtClean="0"/>
              <a:t> </a:t>
            </a:r>
            <a:r>
              <a:rPr lang="en-US" altLang="zh-TW" dirty="0" smtClean="0"/>
              <a:t>(</a:t>
            </a:r>
            <a:r>
              <a:rPr lang="zh-TW" altLang="en-US" dirty="0" smtClean="0"/>
              <a:t> </a:t>
            </a:r>
            <a:r>
              <a:rPr lang="en-US" altLang="zh-TW" dirty="0" err="1" smtClean="0"/>
              <a:t>idiotope</a:t>
            </a:r>
            <a:r>
              <a:rPr lang="zh-TW" altLang="en-US" dirty="0" smtClean="0"/>
              <a:t> </a:t>
            </a:r>
            <a:r>
              <a:rPr lang="en-US" altLang="zh-TW" dirty="0" smtClean="0"/>
              <a:t>)</a:t>
            </a:r>
          </a:p>
          <a:p>
            <a:pPr lvl="1"/>
            <a:r>
              <a:rPr lang="en-US" altLang="zh-TW" dirty="0" smtClean="0"/>
              <a:t>a : activation level ( </a:t>
            </a:r>
            <a:r>
              <a:rPr lang="en-US" altLang="zh-TW" dirty="0" err="1" smtClean="0"/>
              <a:t>contracention</a:t>
            </a:r>
            <a:r>
              <a:rPr lang="en-US" altLang="zh-TW" dirty="0" smtClean="0"/>
              <a:t> )</a:t>
            </a:r>
          </a:p>
          <a:p>
            <a:r>
              <a:rPr lang="en-US" altLang="zh-TW" dirty="0" smtClean="0"/>
              <a:t>There are many correspondences between our proposed methods and </a:t>
            </a:r>
            <a:r>
              <a:rPr lang="en-US" altLang="zh-TW" dirty="0" err="1" smtClean="0"/>
              <a:t>Maes's</a:t>
            </a:r>
            <a:r>
              <a:rPr lang="en-US" altLang="zh-TW" dirty="0" smtClean="0"/>
              <a:t> approach.</a:t>
            </a:r>
          </a:p>
          <a:p>
            <a:r>
              <a:rPr lang="en-US" altLang="zh-TW" dirty="0" smtClean="0"/>
              <a:t>Moreover, situation detected by agents and goals given to the society of agents works as antigen or </a:t>
            </a:r>
            <a:r>
              <a:rPr lang="en-US" altLang="zh-TW" dirty="0" err="1" smtClean="0"/>
              <a:t>epitope</a:t>
            </a:r>
            <a:r>
              <a:rPr lang="en-US" altLang="zh-TW" dirty="0" smtClean="0"/>
              <a:t>, and the interaction between agents corresponds to stimulation and suppression between antibodies.</a:t>
            </a:r>
            <a:endParaRPr lang="zh-TW"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err="1" smtClean="0"/>
              <a:t>Maes's</a:t>
            </a:r>
            <a:r>
              <a:rPr lang="en-US" altLang="zh-TW" b="1" dirty="0" smtClean="0"/>
              <a:t> approach</a:t>
            </a:r>
            <a:endParaRPr lang="zh-TW" altLang="en-US" dirty="0"/>
          </a:p>
        </p:txBody>
      </p:sp>
      <p:sp>
        <p:nvSpPr>
          <p:cNvPr id="3" name="內容版面配置區 2"/>
          <p:cNvSpPr>
            <a:spLocks noGrp="1"/>
          </p:cNvSpPr>
          <p:nvPr>
            <p:ph idx="1"/>
          </p:nvPr>
        </p:nvSpPr>
        <p:spPr/>
        <p:txBody>
          <a:bodyPr>
            <a:normAutofit fontScale="92500"/>
          </a:bodyPr>
          <a:lstStyle/>
          <a:p>
            <a:r>
              <a:rPr lang="en-US" altLang="zh-TW" dirty="0" smtClean="0"/>
              <a:t>The equations of antibody's selection based on the immunological dynamics are different from those of </a:t>
            </a:r>
            <a:r>
              <a:rPr lang="en-US" altLang="zh-TW" dirty="0" err="1" smtClean="0"/>
              <a:t>Maes's</a:t>
            </a:r>
            <a:r>
              <a:rPr lang="en-US" altLang="zh-TW" dirty="0" smtClean="0"/>
              <a:t> behavior networks.</a:t>
            </a:r>
          </a:p>
          <a:p>
            <a:pPr lvl="1"/>
            <a:r>
              <a:rPr lang="en-US" altLang="zh-TW" dirty="0" smtClean="0"/>
              <a:t>In the proposed method, </a:t>
            </a:r>
            <a:r>
              <a:rPr lang="en-US" altLang="zh-TW" dirty="0" smtClean="0">
                <a:solidFill>
                  <a:schemeClr val="accent1">
                    <a:lumMod val="50000"/>
                  </a:schemeClr>
                </a:solidFill>
              </a:rPr>
              <a:t>quantity of spreading activation to the other antibodies are taken into account</a:t>
            </a:r>
            <a:r>
              <a:rPr lang="en-US" altLang="zh-TW" dirty="0" smtClean="0"/>
              <a:t> of both the concentrations of source and sink antibodies, </a:t>
            </a:r>
          </a:p>
          <a:p>
            <a:pPr lvl="1"/>
            <a:r>
              <a:rPr lang="en-US" altLang="zh-TW" dirty="0" smtClean="0"/>
              <a:t>whereas in </a:t>
            </a:r>
            <a:r>
              <a:rPr lang="en-US" altLang="zh-TW" dirty="0" err="1" smtClean="0"/>
              <a:t>Maes's</a:t>
            </a:r>
            <a:r>
              <a:rPr lang="en-US" altLang="zh-TW" dirty="0" smtClean="0"/>
              <a:t> network the above quantity considers merely the activation of the agent concerned.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err="1" smtClean="0"/>
              <a:t>Maes's</a:t>
            </a:r>
            <a:r>
              <a:rPr lang="en-US" altLang="zh-TW" b="1" dirty="0" smtClean="0"/>
              <a:t> approach</a:t>
            </a:r>
            <a:endParaRPr lang="zh-TW" altLang="en-US" dirty="0"/>
          </a:p>
        </p:txBody>
      </p:sp>
      <p:pic>
        <p:nvPicPr>
          <p:cNvPr id="38914" name="Picture 2"/>
          <p:cNvPicPr>
            <a:picLocks noGrp="1" noChangeAspect="1" noChangeArrowheads="1"/>
          </p:cNvPicPr>
          <p:nvPr>
            <p:ph idx="1"/>
          </p:nvPr>
        </p:nvPicPr>
        <p:blipFill>
          <a:blip r:embed="rId2" cstate="print"/>
          <a:srcRect/>
          <a:stretch>
            <a:fillRect/>
          </a:stretch>
        </p:blipFill>
        <p:spPr bwMode="auto">
          <a:xfrm>
            <a:off x="251520" y="1916832"/>
            <a:ext cx="8397657" cy="3672408"/>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sz="3600" b="1" dirty="0" smtClean="0"/>
              <a:t>Application to behavior control of</a:t>
            </a:r>
            <a:br>
              <a:rPr lang="en-US" altLang="zh-TW" sz="3600" b="1" dirty="0" smtClean="0"/>
            </a:br>
            <a:r>
              <a:rPr lang="en-US" altLang="zh-TW" sz="3600" b="1" dirty="0" smtClean="0"/>
              <a:t>autonomous mobile robots</a:t>
            </a:r>
            <a:endParaRPr lang="zh-TW" altLang="en-US" sz="3600" dirty="0"/>
          </a:p>
        </p:txBody>
      </p:sp>
      <p:sp>
        <p:nvSpPr>
          <p:cNvPr id="3" name="內容版面配置區 2"/>
          <p:cNvSpPr>
            <a:spLocks noGrp="1"/>
          </p:cNvSpPr>
          <p:nvPr>
            <p:ph idx="1"/>
          </p:nvPr>
        </p:nvSpPr>
        <p:spPr/>
        <p:txBody>
          <a:bodyPr>
            <a:normAutofit/>
          </a:bodyPr>
          <a:lstStyle/>
          <a:p>
            <a:r>
              <a:rPr lang="en-US" altLang="zh-TW" dirty="0" smtClean="0"/>
              <a:t>We equipped this robot with two kinds of detector:</a:t>
            </a:r>
          </a:p>
          <a:p>
            <a:pPr lvl="1"/>
            <a:r>
              <a:rPr lang="en-US" altLang="zh-TW" i="1" dirty="0" smtClean="0"/>
              <a:t>obstacle detectors</a:t>
            </a:r>
          </a:p>
          <a:p>
            <a:pPr lvl="2"/>
            <a:r>
              <a:rPr lang="en-US" altLang="zh-TW" dirty="0" err="1" smtClean="0"/>
              <a:t>Intalled</a:t>
            </a:r>
            <a:r>
              <a:rPr lang="en-US" altLang="zh-TW" dirty="0" smtClean="0"/>
              <a:t> in eight directions and they can detect the existence of obstacles</a:t>
            </a:r>
          </a:p>
          <a:p>
            <a:pPr lvl="2"/>
            <a:r>
              <a:rPr lang="en-US" altLang="zh-TW" dirty="0" smtClean="0"/>
              <a:t>detectable range is assumed to be as three times as the radius of the robot</a:t>
            </a:r>
            <a:endParaRPr lang="en-US" altLang="zh-TW" i="1" dirty="0" smtClean="0"/>
          </a:p>
          <a:p>
            <a:pPr lvl="1"/>
            <a:r>
              <a:rPr lang="en-US" altLang="zh-TW" i="1" dirty="0" smtClean="0"/>
              <a:t>goal detectors.</a:t>
            </a:r>
          </a:p>
          <a:p>
            <a:pPr lvl="2"/>
            <a:r>
              <a:rPr lang="en-US" altLang="zh-TW" dirty="0" smtClean="0"/>
              <a:t>recognizes the direction of destination at any position</a:t>
            </a:r>
            <a:endParaRPr lang="zh-TW"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sz="3600" b="1" dirty="0" smtClean="0"/>
              <a:t>Application to behavior control of</a:t>
            </a:r>
            <a:br>
              <a:rPr lang="en-US" altLang="zh-TW" sz="3600" b="1" dirty="0" smtClean="0"/>
            </a:br>
            <a:r>
              <a:rPr lang="en-US" altLang="zh-TW" sz="3600" b="1" dirty="0" smtClean="0"/>
              <a:t>autonomous mobile robots</a:t>
            </a:r>
            <a:endParaRPr lang="zh-TW" altLang="en-US" sz="3600" dirty="0"/>
          </a:p>
        </p:txBody>
      </p:sp>
      <p:pic>
        <p:nvPicPr>
          <p:cNvPr id="7170" name="Picture 2"/>
          <p:cNvPicPr>
            <a:picLocks noGrp="1" noChangeAspect="1" noChangeArrowheads="1"/>
          </p:cNvPicPr>
          <p:nvPr>
            <p:ph idx="1"/>
          </p:nvPr>
        </p:nvPicPr>
        <p:blipFill>
          <a:blip r:embed="rId2" cstate="print"/>
          <a:srcRect/>
          <a:stretch>
            <a:fillRect/>
          </a:stretch>
        </p:blipFill>
        <p:spPr bwMode="auto">
          <a:xfrm>
            <a:off x="1689333" y="1556792"/>
            <a:ext cx="5618971" cy="4824536"/>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sz="4000" b="1" dirty="0" smtClean="0"/>
              <a:t>Application to behavior control of</a:t>
            </a:r>
            <a:br>
              <a:rPr lang="en-US" altLang="zh-TW" sz="4000" b="1" dirty="0" smtClean="0"/>
            </a:br>
            <a:r>
              <a:rPr lang="en-US" altLang="zh-TW" sz="4000" b="1" dirty="0" smtClean="0"/>
              <a:t>autonomous mobile robots</a:t>
            </a:r>
            <a:endParaRPr lang="zh-TW" altLang="en-US" sz="4000" dirty="0"/>
          </a:p>
        </p:txBody>
      </p:sp>
      <p:sp>
        <p:nvSpPr>
          <p:cNvPr id="3" name="內容版面配置區 2"/>
          <p:cNvSpPr>
            <a:spLocks noGrp="1"/>
          </p:cNvSpPr>
          <p:nvPr>
            <p:ph idx="1"/>
          </p:nvPr>
        </p:nvSpPr>
        <p:spPr/>
        <p:txBody>
          <a:bodyPr>
            <a:normAutofit fontScale="85000" lnSpcReduction="10000"/>
          </a:bodyPr>
          <a:lstStyle/>
          <a:p>
            <a:r>
              <a:rPr lang="en-US" altLang="zh-TW" dirty="0" smtClean="0"/>
              <a:t>To be able to cope with the surrounding environment properly, we must set various kinds of antibodies (i.e., repertoires of simple behavior modules).</a:t>
            </a:r>
          </a:p>
          <a:p>
            <a:r>
              <a:rPr lang="en-US" altLang="zh-TW" dirty="0" smtClean="0"/>
              <a:t>eight kinds of simple behaviors:</a:t>
            </a:r>
          </a:p>
          <a:p>
            <a:pPr lvl="1"/>
            <a:r>
              <a:rPr lang="en-US" altLang="zh-TW" dirty="0" smtClean="0"/>
              <a:t>move forward, move backward, turn right (</a:t>
            </a:r>
            <a:r>
              <a:rPr lang="en-US" altLang="zh-TW" i="1" dirty="0" smtClean="0"/>
              <a:t>30 60 90</a:t>
            </a:r>
            <a:r>
              <a:rPr lang="en-US" altLang="zh-TW" dirty="0" smtClean="0"/>
              <a:t>), turn left (30 60 90).</a:t>
            </a:r>
          </a:p>
          <a:p>
            <a:r>
              <a:rPr lang="en-US" altLang="zh-TW" dirty="0" err="1" smtClean="0"/>
              <a:t>paratope</a:t>
            </a:r>
            <a:r>
              <a:rPr lang="en-US" altLang="zh-TW" dirty="0" smtClean="0"/>
              <a:t> : precondition which have to be fulfilled before the antibody can be selected</a:t>
            </a:r>
          </a:p>
          <a:p>
            <a:r>
              <a:rPr lang="en-US" altLang="zh-TW" dirty="0" smtClean="0"/>
              <a:t> </a:t>
            </a:r>
            <a:r>
              <a:rPr lang="en-US" altLang="zh-TW" dirty="0" err="1" smtClean="0"/>
              <a:t>idiotope</a:t>
            </a:r>
            <a:r>
              <a:rPr lang="en-US" altLang="zh-TW" dirty="0" smtClean="0"/>
              <a:t> : the expected situation of the antibody concerned implements its own action to real world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p:cNvPicPr>
            <a:picLocks noGrp="1" noChangeAspect="1" noChangeArrowheads="1"/>
          </p:cNvPicPr>
          <p:nvPr>
            <p:ph idx="1"/>
          </p:nvPr>
        </p:nvPicPr>
        <p:blipFill>
          <a:blip r:embed="rId2" cstate="print"/>
          <a:srcRect b="7614"/>
          <a:stretch>
            <a:fillRect/>
          </a:stretch>
        </p:blipFill>
        <p:spPr bwMode="auto">
          <a:xfrm>
            <a:off x="1691680" y="26869"/>
            <a:ext cx="5760640" cy="6786507"/>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r>
              <a:rPr lang="en-US" altLang="zh-TW" sz="3600" b="1" dirty="0" smtClean="0"/>
              <a:t>Application to behavior control of</a:t>
            </a:r>
            <a:br>
              <a:rPr lang="en-US" altLang="zh-TW" sz="3600" b="1" dirty="0" smtClean="0"/>
            </a:br>
            <a:r>
              <a:rPr lang="en-US" altLang="zh-TW" sz="3600" b="1" dirty="0" smtClean="0"/>
              <a:t>autonomous mobile robots</a:t>
            </a:r>
            <a:endParaRPr lang="zh-TW" altLang="en-US" sz="3600" dirty="0"/>
          </a:p>
        </p:txBody>
      </p:sp>
      <p:grpSp>
        <p:nvGrpSpPr>
          <p:cNvPr id="9" name="群組 8"/>
          <p:cNvGrpSpPr/>
          <p:nvPr/>
        </p:nvGrpSpPr>
        <p:grpSpPr>
          <a:xfrm>
            <a:off x="2339752" y="1844824"/>
            <a:ext cx="4536504" cy="2375917"/>
            <a:chOff x="2290763" y="2492946"/>
            <a:chExt cx="4536504" cy="2375917"/>
          </a:xfrm>
        </p:grpSpPr>
        <p:graphicFrame>
          <p:nvGraphicFramePr>
            <p:cNvPr id="4" name="內容版面配置區 3"/>
            <p:cNvGraphicFramePr>
              <a:graphicFrameLocks noChangeAspect="1"/>
            </p:cNvGraphicFramePr>
            <p:nvPr>
              <p:ph idx="1"/>
            </p:nvPr>
          </p:nvGraphicFramePr>
          <p:xfrm>
            <a:off x="2290763" y="2492946"/>
            <a:ext cx="4536504" cy="1216025"/>
          </p:xfrm>
          <a:graphic>
            <a:graphicData uri="http://schemas.openxmlformats.org/presentationml/2006/ole">
              <p:oleObj spid="_x0000_s49154" name="方程式" r:id="rId3" imgW="1498320" imgH="431640" progId="Equation.3">
                <p:embed/>
              </p:oleObj>
            </a:graphicData>
          </a:graphic>
        </p:graphicFrame>
        <p:graphicFrame>
          <p:nvGraphicFramePr>
            <p:cNvPr id="49156" name="內容版面配置區 3"/>
            <p:cNvGraphicFramePr>
              <a:graphicFrameLocks noChangeAspect="1"/>
            </p:cNvGraphicFramePr>
            <p:nvPr/>
          </p:nvGraphicFramePr>
          <p:xfrm>
            <a:off x="2290763" y="3644900"/>
            <a:ext cx="4502150" cy="1223963"/>
          </p:xfrm>
          <a:graphic>
            <a:graphicData uri="http://schemas.openxmlformats.org/presentationml/2006/ole">
              <p:oleObj spid="_x0000_s49156" name="方程式" r:id="rId4" imgW="1409400" imgH="431640" progId="Equation.3">
                <p:embed/>
              </p:oleObj>
            </a:graphicData>
          </a:graphic>
        </p:graphicFrame>
      </p:grpSp>
      <p:sp>
        <p:nvSpPr>
          <p:cNvPr id="7" name="內容版面配置區 2"/>
          <p:cNvSpPr txBox="1">
            <a:spLocks/>
          </p:cNvSpPr>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normAutofit/>
          </a:body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endParaRPr kumimoji="1" lang="en-US" altLang="zh-TW" sz="32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Simulation results in the case of fixed obstacles</a:t>
            </a:r>
            <a:endParaRPr lang="zh-TW" altLang="en-US" dirty="0"/>
          </a:p>
        </p:txBody>
      </p:sp>
      <p:pic>
        <p:nvPicPr>
          <p:cNvPr id="39938" name="Picture 2"/>
          <p:cNvPicPr>
            <a:picLocks noGrp="1" noChangeAspect="1" noChangeArrowheads="1"/>
          </p:cNvPicPr>
          <p:nvPr>
            <p:ph idx="1"/>
          </p:nvPr>
        </p:nvPicPr>
        <p:blipFill>
          <a:blip r:embed="rId2" cstate="print"/>
          <a:srcRect/>
          <a:stretch>
            <a:fillRect/>
          </a:stretch>
        </p:blipFill>
        <p:spPr bwMode="auto">
          <a:xfrm>
            <a:off x="288032" y="1484784"/>
            <a:ext cx="8604448" cy="5207278"/>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simulation results in the case of</a:t>
            </a:r>
            <a:br>
              <a:rPr lang="en-US" altLang="zh-TW" dirty="0" smtClean="0"/>
            </a:br>
            <a:r>
              <a:rPr lang="en-US" altLang="zh-TW" dirty="0" smtClean="0"/>
              <a:t>moving obstacle environment (1)</a:t>
            </a:r>
            <a:endParaRPr lang="zh-TW" altLang="en-US" dirty="0"/>
          </a:p>
        </p:txBody>
      </p:sp>
      <p:pic>
        <p:nvPicPr>
          <p:cNvPr id="40962" name="Picture 2"/>
          <p:cNvPicPr>
            <a:picLocks noGrp="1" noChangeAspect="1" noChangeArrowheads="1"/>
          </p:cNvPicPr>
          <p:nvPr>
            <p:ph idx="1"/>
          </p:nvPr>
        </p:nvPicPr>
        <p:blipFill>
          <a:blip r:embed="rId2" cstate="print"/>
          <a:srcRect/>
          <a:stretch>
            <a:fillRect/>
          </a:stretch>
        </p:blipFill>
        <p:spPr bwMode="auto">
          <a:xfrm>
            <a:off x="638652" y="1600200"/>
            <a:ext cx="7749772" cy="4853136"/>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simulation results in the case of</a:t>
            </a:r>
            <a:br>
              <a:rPr lang="en-US" altLang="zh-TW" dirty="0" smtClean="0"/>
            </a:br>
            <a:r>
              <a:rPr lang="en-US" altLang="zh-TW" dirty="0" smtClean="0"/>
              <a:t>moving obstacle environment (2)</a:t>
            </a:r>
            <a:endParaRPr lang="zh-TW" altLang="en-US" dirty="0"/>
          </a:p>
        </p:txBody>
      </p:sp>
      <p:pic>
        <p:nvPicPr>
          <p:cNvPr id="41986" name="Picture 2"/>
          <p:cNvPicPr>
            <a:picLocks noGrp="1" noChangeAspect="1" noChangeArrowheads="1"/>
          </p:cNvPicPr>
          <p:nvPr>
            <p:ph idx="1"/>
          </p:nvPr>
        </p:nvPicPr>
        <p:blipFill>
          <a:blip r:embed="rId2" cstate="print"/>
          <a:srcRect/>
          <a:stretch>
            <a:fillRect/>
          </a:stretch>
        </p:blipFill>
        <p:spPr bwMode="auto">
          <a:xfrm>
            <a:off x="611560" y="1628800"/>
            <a:ext cx="7764671" cy="4997152"/>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simulation results in the case of</a:t>
            </a:r>
            <a:br>
              <a:rPr lang="en-US" altLang="zh-TW" dirty="0" smtClean="0"/>
            </a:br>
            <a:r>
              <a:rPr lang="en-US" altLang="zh-TW" dirty="0" smtClean="0"/>
              <a:t>moving obstacle environment (3)</a:t>
            </a:r>
            <a:endParaRPr lang="zh-TW" altLang="en-US" dirty="0"/>
          </a:p>
        </p:txBody>
      </p:sp>
      <p:pic>
        <p:nvPicPr>
          <p:cNvPr id="43010" name="Picture 2"/>
          <p:cNvPicPr>
            <a:picLocks noGrp="1" noChangeAspect="1" noChangeArrowheads="1"/>
          </p:cNvPicPr>
          <p:nvPr>
            <p:ph idx="1"/>
          </p:nvPr>
        </p:nvPicPr>
        <p:blipFill>
          <a:blip r:embed="rId2" cstate="print"/>
          <a:srcRect/>
          <a:stretch>
            <a:fillRect/>
          </a:stretch>
        </p:blipFill>
        <p:spPr bwMode="auto">
          <a:xfrm>
            <a:off x="612380" y="1672208"/>
            <a:ext cx="7848052" cy="4925144"/>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simulation results in the case of</a:t>
            </a:r>
            <a:br>
              <a:rPr lang="en-US" altLang="zh-TW" dirty="0" smtClean="0"/>
            </a:br>
            <a:r>
              <a:rPr lang="en-US" altLang="zh-TW" dirty="0" smtClean="0"/>
              <a:t>moving obstacle environment (4)</a:t>
            </a:r>
            <a:endParaRPr lang="zh-TW" altLang="en-US" dirty="0"/>
          </a:p>
        </p:txBody>
      </p:sp>
      <p:pic>
        <p:nvPicPr>
          <p:cNvPr id="44034" name="Picture 2"/>
          <p:cNvPicPr>
            <a:picLocks noGrp="1" noChangeAspect="1" noChangeArrowheads="1"/>
          </p:cNvPicPr>
          <p:nvPr>
            <p:ph idx="1"/>
          </p:nvPr>
        </p:nvPicPr>
        <p:blipFill>
          <a:blip r:embed="rId2" cstate="print"/>
          <a:srcRect b="2317"/>
          <a:stretch>
            <a:fillRect/>
          </a:stretch>
        </p:blipFill>
        <p:spPr bwMode="auto">
          <a:xfrm>
            <a:off x="665930" y="1628800"/>
            <a:ext cx="7866510" cy="4968552"/>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Comparison proposed method with </a:t>
            </a:r>
            <a:r>
              <a:rPr lang="en-US" altLang="zh-TW" dirty="0" err="1" smtClean="0"/>
              <a:t>Maes’s</a:t>
            </a:r>
            <a:endParaRPr lang="zh-TW" altLang="en-US" dirty="0"/>
          </a:p>
        </p:txBody>
      </p:sp>
      <p:pic>
        <p:nvPicPr>
          <p:cNvPr id="45058" name="Picture 2"/>
          <p:cNvPicPr>
            <a:picLocks noGrp="1" noChangeAspect="1" noChangeArrowheads="1"/>
          </p:cNvPicPr>
          <p:nvPr>
            <p:ph idx="1"/>
          </p:nvPr>
        </p:nvPicPr>
        <p:blipFill>
          <a:blip r:embed="rId2" cstate="print"/>
          <a:srcRect/>
          <a:stretch>
            <a:fillRect/>
          </a:stretch>
        </p:blipFill>
        <p:spPr bwMode="auto">
          <a:xfrm>
            <a:off x="846228" y="1669360"/>
            <a:ext cx="7470188" cy="5000000"/>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Comparison proposed method with </a:t>
            </a:r>
            <a:r>
              <a:rPr lang="en-US" altLang="zh-TW" dirty="0" err="1" smtClean="0"/>
              <a:t>Maes’s</a:t>
            </a:r>
            <a:endParaRPr lang="zh-TW" altLang="en-US" dirty="0"/>
          </a:p>
        </p:txBody>
      </p:sp>
      <p:pic>
        <p:nvPicPr>
          <p:cNvPr id="46082" name="Picture 2"/>
          <p:cNvPicPr>
            <a:picLocks noGrp="1" noChangeAspect="1" noChangeArrowheads="1"/>
          </p:cNvPicPr>
          <p:nvPr>
            <p:ph idx="1"/>
          </p:nvPr>
        </p:nvPicPr>
        <p:blipFill>
          <a:blip r:embed="rId2" cstate="print"/>
          <a:srcRect/>
          <a:stretch>
            <a:fillRect/>
          </a:stretch>
        </p:blipFill>
        <p:spPr bwMode="auto">
          <a:xfrm>
            <a:off x="755576" y="1412776"/>
            <a:ext cx="7488832" cy="5154538"/>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Comparison proposed method with </a:t>
            </a:r>
            <a:r>
              <a:rPr lang="en-US" altLang="zh-TW" dirty="0" err="1" smtClean="0"/>
              <a:t>Maes’s</a:t>
            </a:r>
            <a:endParaRPr lang="zh-TW" altLang="en-US" dirty="0"/>
          </a:p>
        </p:txBody>
      </p:sp>
      <p:pic>
        <p:nvPicPr>
          <p:cNvPr id="47106" name="Picture 2"/>
          <p:cNvPicPr>
            <a:picLocks noGrp="1" noChangeAspect="1" noChangeArrowheads="1"/>
          </p:cNvPicPr>
          <p:nvPr>
            <p:ph idx="1"/>
          </p:nvPr>
        </p:nvPicPr>
        <p:blipFill>
          <a:blip r:embed="rId2" cstate="print"/>
          <a:srcRect/>
          <a:stretch>
            <a:fillRect/>
          </a:stretch>
        </p:blipFill>
        <p:spPr bwMode="auto">
          <a:xfrm>
            <a:off x="1331640" y="1600199"/>
            <a:ext cx="6295732" cy="5096887"/>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Conclusions and Future Work</a:t>
            </a:r>
            <a:endParaRPr lang="zh-TW" altLang="en-US" dirty="0"/>
          </a:p>
        </p:txBody>
      </p:sp>
      <p:pic>
        <p:nvPicPr>
          <p:cNvPr id="48130" name="Picture 2"/>
          <p:cNvPicPr>
            <a:picLocks noGrp="1" noChangeAspect="1" noChangeArrowheads="1"/>
          </p:cNvPicPr>
          <p:nvPr>
            <p:ph idx="1"/>
          </p:nvPr>
        </p:nvPicPr>
        <p:blipFill>
          <a:blip r:embed="rId3" cstate="print"/>
          <a:srcRect b="2894"/>
          <a:stretch>
            <a:fillRect/>
          </a:stretch>
        </p:blipFill>
        <p:spPr bwMode="auto">
          <a:xfrm>
            <a:off x="1691680" y="1344608"/>
            <a:ext cx="5472608" cy="5180736"/>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95536" y="2564904"/>
            <a:ext cx="8373616" cy="1368152"/>
          </a:xfrm>
        </p:spPr>
        <p:txBody>
          <a:bodyPr/>
          <a:lstStyle/>
          <a:p>
            <a:r>
              <a:rPr lang="en-US" altLang="zh-TW" dirty="0" smtClean="0"/>
              <a:t>Thank you!!</a:t>
            </a:r>
            <a:endParaRPr lang="zh-TW" altLang="en-US" dirty="0"/>
          </a:p>
        </p:txBody>
      </p:sp>
    </p:spTree>
  </p:cSld>
  <p:clrMapOvr>
    <a:masterClrMapping/>
  </p:clrMapOvr>
</p:sld>
</file>

<file path=ppt/theme/theme1.xml><?xml version="1.0" encoding="utf-8"?>
<a:theme xmlns:a="http://schemas.openxmlformats.org/drawingml/2006/main" name="預設簡報設計">
  <a:themeElements>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預設簡報設計">
      <a:majorFont>
        <a:latin typeface="Arial"/>
        <a:ea typeface="新細明體"/>
        <a:cs typeface=""/>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1527</TotalTime>
  <Words>1229</Words>
  <Application>Microsoft Office PowerPoint</Application>
  <PresentationFormat>如螢幕大小 (4:3)</PresentationFormat>
  <Paragraphs>145</Paragraphs>
  <Slides>34</Slides>
  <Notes>10</Notes>
  <HiddenSlides>0</HiddenSlides>
  <MMClips>0</MMClips>
  <ScaleCrop>false</ScaleCrop>
  <HeadingPairs>
    <vt:vector size="6" baseType="variant">
      <vt:variant>
        <vt:lpstr>佈景主題</vt:lpstr>
      </vt:variant>
      <vt:variant>
        <vt:i4>1</vt:i4>
      </vt:variant>
      <vt:variant>
        <vt:lpstr>內嵌 OLE 伺服程式</vt:lpstr>
      </vt:variant>
      <vt:variant>
        <vt:i4>1</vt:i4>
      </vt:variant>
      <vt:variant>
        <vt:lpstr>投影片標題</vt:lpstr>
      </vt:variant>
      <vt:variant>
        <vt:i4>34</vt:i4>
      </vt:variant>
    </vt:vector>
  </HeadingPairs>
  <TitlesOfParts>
    <vt:vector size="36" baseType="lpstr">
      <vt:lpstr>預設簡報設計</vt:lpstr>
      <vt:lpstr>方程式</vt:lpstr>
      <vt:lpstr>An Immunological Approach to Dynamic Behavior Control for Autonomous Mobile Robots</vt:lpstr>
      <vt:lpstr>投影片 2</vt:lpstr>
      <vt:lpstr>Abstract</vt:lpstr>
      <vt:lpstr>Conventional artificial systems</vt:lpstr>
      <vt:lpstr>Biological information system</vt:lpstr>
      <vt:lpstr>Biological information system</vt:lpstr>
      <vt:lpstr>Immune System</vt:lpstr>
      <vt:lpstr>Overview of Immue System</vt:lpstr>
      <vt:lpstr>Overview of Immune System</vt:lpstr>
      <vt:lpstr>Immune network hypothesis</vt:lpstr>
      <vt:lpstr>Immune network hypothesis</vt:lpstr>
      <vt:lpstr>Behavior control system</vt:lpstr>
      <vt:lpstr>Behavior control system</vt:lpstr>
      <vt:lpstr>Behavior control system</vt:lpstr>
      <vt:lpstr>Dynamics of antibody selection mechanisms</vt:lpstr>
      <vt:lpstr>Dynamics of antibody selection mechanisms</vt:lpstr>
      <vt:lpstr>Maes's approach</vt:lpstr>
      <vt:lpstr>Maes's approach</vt:lpstr>
      <vt:lpstr>Maes's approach</vt:lpstr>
      <vt:lpstr>Application to behavior control of autonomous mobile robots</vt:lpstr>
      <vt:lpstr>Application to behavior control of autonomous mobile robots</vt:lpstr>
      <vt:lpstr>Application to behavior control of autonomous mobile robots</vt:lpstr>
      <vt:lpstr>投影片 23</vt:lpstr>
      <vt:lpstr>Application to behavior control of autonomous mobile robots</vt:lpstr>
      <vt:lpstr>Simulation results in the case of fixed obstacles</vt:lpstr>
      <vt:lpstr>simulation results in the case of moving obstacle environment (1)</vt:lpstr>
      <vt:lpstr>simulation results in the case of moving obstacle environment (2)</vt:lpstr>
      <vt:lpstr>simulation results in the case of moving obstacle environment (3)</vt:lpstr>
      <vt:lpstr>simulation results in the case of moving obstacle environment (4)</vt:lpstr>
      <vt:lpstr>Comparison proposed method with Maes’s</vt:lpstr>
      <vt:lpstr>Comparison proposed method with Maes’s</vt:lpstr>
      <vt:lpstr>Comparison proposed method with Maes’s</vt:lpstr>
      <vt:lpstr>Conclusions and Future Work</vt:lpstr>
      <vt:lpstr>Thank you!!</vt:lpstr>
    </vt:vector>
  </TitlesOfParts>
  <Company>NSYSU</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William</dc:creator>
  <cp:lastModifiedBy>Guest</cp:lastModifiedBy>
  <cp:revision>72</cp:revision>
  <dcterms:created xsi:type="dcterms:W3CDTF">2011-08-07T10:40:06Z</dcterms:created>
  <dcterms:modified xsi:type="dcterms:W3CDTF">2011-08-09T10:27:04Z</dcterms:modified>
</cp:coreProperties>
</file>