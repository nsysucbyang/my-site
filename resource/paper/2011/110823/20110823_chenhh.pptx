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77" r:id="rId4"/>
    <p:sldId id="278" r:id="rId5"/>
    <p:sldId id="279" r:id="rId6"/>
    <p:sldId id="259" r:id="rId7"/>
    <p:sldId id="261" r:id="rId8"/>
    <p:sldId id="262" r:id="rId9"/>
    <p:sldId id="260" r:id="rId10"/>
    <p:sldId id="263" r:id="rId11"/>
    <p:sldId id="264" r:id="rId12"/>
    <p:sldId id="268" r:id="rId13"/>
    <p:sldId id="265" r:id="rId14"/>
    <p:sldId id="266" r:id="rId15"/>
    <p:sldId id="267" r:id="rId16"/>
    <p:sldId id="269" r:id="rId17"/>
    <p:sldId id="270" r:id="rId18"/>
    <p:sldId id="271" r:id="rId19"/>
    <p:sldId id="272" r:id="rId20"/>
    <p:sldId id="273" r:id="rId21"/>
    <p:sldId id="274" r:id="rId22"/>
    <p:sldId id="275" r:id="rId2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61" autoAdjust="0"/>
  </p:normalViewPr>
  <p:slideViewPr>
    <p:cSldViewPr>
      <p:cViewPr varScale="1">
        <p:scale>
          <a:sx n="108" d="100"/>
          <a:sy n="108" d="100"/>
        </p:scale>
        <p:origin x="-170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4ADFD8-030D-4A6B-8A82-679E311D6109}" type="datetimeFigureOut">
              <a:rPr lang="zh-TW" altLang="en-US" smtClean="0"/>
              <a:t>2011/8/23</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004BFA-2777-4F97-8ACF-0138AEF65918}" type="slidenum">
              <a:rPr lang="zh-TW" altLang="en-US" smtClean="0"/>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AD5D1E06-E4BB-42A5-BE7B-7176421995FD}" type="datetime1">
              <a:rPr lang="zh-TW" altLang="en-US" smtClean="0"/>
              <a:t>2011/8/23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468711F-7D31-4893-9A90-99EFD4C03725}"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9682085-A98D-4DB3-8989-283D153F5D0C}" type="datetime1">
              <a:rPr lang="zh-TW" altLang="en-US" smtClean="0"/>
              <a:t>2011/8/23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468711F-7D31-4893-9A90-99EFD4C03725}"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A6784855-23B8-4AE3-B196-5586D2640A34}" type="datetime1">
              <a:rPr lang="zh-TW" altLang="en-US" smtClean="0"/>
              <a:t>2011/8/23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468711F-7D31-4893-9A90-99EFD4C03725}"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7584DA90-1F89-4445-8E3C-837C9D9C7B51}" type="datetime1">
              <a:rPr lang="zh-TW" altLang="en-US" smtClean="0"/>
              <a:t>2011/8/23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468711F-7D31-4893-9A90-99EFD4C03725}"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9EC586-84FA-41D2-9488-C43BE53F78EF}" type="datetime1">
              <a:rPr lang="zh-TW" altLang="en-US" smtClean="0"/>
              <a:t>2011/8/23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4468711F-7D31-4893-9A90-99EFD4C03725}"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F5DCFA89-A421-446A-8071-CE4C74B6FA49}" type="datetime1">
              <a:rPr lang="zh-TW" altLang="en-US" smtClean="0"/>
              <a:t>2011/8/23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4468711F-7D31-4893-9A90-99EFD4C03725}"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4F2A3977-DE78-44F4-990D-1832AFD5E84F}" type="datetime1">
              <a:rPr lang="zh-TW" altLang="en-US" smtClean="0"/>
              <a:t>2011/8/23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4468711F-7D31-4893-9A90-99EFD4C03725}"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81EB45D-B584-4D4A-A298-E349011A7D11}" type="datetime1">
              <a:rPr lang="zh-TW" altLang="en-US" smtClean="0"/>
              <a:t>2011/8/23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468711F-7D31-4893-9A90-99EFD4C03725}"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7AD349E-CCAB-426D-AEB7-4A718E365A21}" type="datetime1">
              <a:rPr lang="zh-TW" altLang="en-US" smtClean="0"/>
              <a:t>2011/8/23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468711F-7D31-4893-9A90-99EFD4C03725}"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7C3881C-1549-4760-8C16-FB03DB87C403}" type="datetime1">
              <a:rPr lang="zh-TW" altLang="en-US" smtClean="0"/>
              <a:t>2011/8/23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468711F-7D31-4893-9A90-99EFD4C03725}"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57E9355-1BFB-4F4C-BBCD-6D768EE8C1B2}" type="datetime1">
              <a:rPr lang="zh-TW" altLang="en-US" smtClean="0"/>
              <a:t>2011/8/23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468711F-7D31-4893-9A90-99EFD4C03725}"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91CAEA-449E-4D9E-97C9-0E9E1ED36066}" type="datetime1">
              <a:rPr lang="zh-TW" altLang="en-US" smtClean="0"/>
              <a:t>2011/8/23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68711F-7D31-4893-9A90-99EFD4C03725}"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07504" y="188640"/>
            <a:ext cx="8784976" cy="1470025"/>
          </a:xfrm>
        </p:spPr>
        <p:txBody>
          <a:bodyPr>
            <a:normAutofit fontScale="90000"/>
          </a:bodyPr>
          <a:lstStyle/>
          <a:p>
            <a:r>
              <a:rPr lang="en-US" altLang="zh-TW" dirty="0" smtClean="0"/>
              <a:t>A weighting function for improving fuzzy classification systems performance</a:t>
            </a:r>
            <a:endParaRPr lang="zh-TW" altLang="en-US" dirty="0"/>
          </a:p>
        </p:txBody>
      </p:sp>
      <p:sp>
        <p:nvSpPr>
          <p:cNvPr id="3" name="副標題 2"/>
          <p:cNvSpPr>
            <a:spLocks noGrp="1"/>
          </p:cNvSpPr>
          <p:nvPr>
            <p:ph type="subTitle" idx="1"/>
          </p:nvPr>
        </p:nvSpPr>
        <p:spPr>
          <a:xfrm>
            <a:off x="251520" y="1700808"/>
            <a:ext cx="8640960" cy="1152128"/>
          </a:xfrm>
        </p:spPr>
        <p:txBody>
          <a:bodyPr/>
          <a:lstStyle/>
          <a:p>
            <a:r>
              <a:rPr lang="en-US" altLang="zh-TW" dirty="0" err="1" smtClean="0"/>
              <a:t>Eghbal</a:t>
            </a:r>
            <a:r>
              <a:rPr lang="en-US" altLang="zh-TW" dirty="0" smtClean="0"/>
              <a:t> G. </a:t>
            </a:r>
            <a:r>
              <a:rPr lang="en-US" altLang="zh-TW" dirty="0" err="1" smtClean="0"/>
              <a:t>Mansoori</a:t>
            </a:r>
            <a:r>
              <a:rPr lang="en-US" altLang="zh-TW" dirty="0" smtClean="0"/>
              <a:t>, </a:t>
            </a:r>
            <a:r>
              <a:rPr lang="en-US" altLang="zh-TW" dirty="0" err="1" smtClean="0"/>
              <a:t>Mansoor</a:t>
            </a:r>
            <a:r>
              <a:rPr lang="en-US" altLang="zh-TW" dirty="0" smtClean="0"/>
              <a:t> J. </a:t>
            </a:r>
            <a:r>
              <a:rPr lang="en-US" altLang="zh-TW" dirty="0" err="1" smtClean="0"/>
              <a:t>Zolghadri</a:t>
            </a:r>
            <a:r>
              <a:rPr lang="en-US" altLang="zh-TW" dirty="0" smtClean="0"/>
              <a:t>, </a:t>
            </a:r>
            <a:br>
              <a:rPr lang="en-US" altLang="zh-TW" dirty="0" smtClean="0"/>
            </a:br>
            <a:r>
              <a:rPr lang="en-US" altLang="zh-TW" dirty="0" err="1" smtClean="0"/>
              <a:t>Seraj</a:t>
            </a:r>
            <a:r>
              <a:rPr lang="en-US" altLang="zh-TW" dirty="0" smtClean="0"/>
              <a:t> D. </a:t>
            </a:r>
            <a:r>
              <a:rPr lang="en-US" altLang="zh-TW" dirty="0" err="1" smtClean="0"/>
              <a:t>Katebi</a:t>
            </a:r>
            <a:endParaRPr lang="zh-TW" altLang="en-US" dirty="0"/>
          </a:p>
        </p:txBody>
      </p:sp>
      <p:sp>
        <p:nvSpPr>
          <p:cNvPr id="4" name="矩形 3"/>
          <p:cNvSpPr/>
          <p:nvPr/>
        </p:nvSpPr>
        <p:spPr>
          <a:xfrm>
            <a:off x="467544" y="2924944"/>
            <a:ext cx="8208912" cy="830997"/>
          </a:xfrm>
          <a:prstGeom prst="rect">
            <a:avLst/>
          </a:prstGeom>
        </p:spPr>
        <p:txBody>
          <a:bodyPr wrap="square">
            <a:spAutoFit/>
          </a:bodyPr>
          <a:lstStyle/>
          <a:p>
            <a:pPr algn="ctr"/>
            <a:r>
              <a:rPr lang="en-US" altLang="zh-TW" sz="2400" dirty="0" smtClean="0"/>
              <a:t>Department of Computer Science and Engineering, Shiraz University, Shiraz, Iran</a:t>
            </a:r>
            <a:endParaRPr lang="zh-TW" altLang="en-US" sz="2400" dirty="0"/>
          </a:p>
        </p:txBody>
      </p:sp>
      <p:sp>
        <p:nvSpPr>
          <p:cNvPr id="5" name="文字方塊 4"/>
          <p:cNvSpPr txBox="1"/>
          <p:nvPr/>
        </p:nvSpPr>
        <p:spPr>
          <a:xfrm>
            <a:off x="323528" y="4005064"/>
            <a:ext cx="8424936" cy="523220"/>
          </a:xfrm>
          <a:prstGeom prst="rect">
            <a:avLst/>
          </a:prstGeom>
          <a:noFill/>
        </p:spPr>
        <p:txBody>
          <a:bodyPr wrap="square" rtlCol="0">
            <a:spAutoFit/>
          </a:bodyPr>
          <a:lstStyle/>
          <a:p>
            <a:pPr algn="ctr"/>
            <a:r>
              <a:rPr lang="en-US" altLang="zh-TW" sz="2800" dirty="0" smtClean="0"/>
              <a:t>Fuzzy Sets and Systems, Vol. 158 (2007), pp. 583-591</a:t>
            </a:r>
            <a:endParaRPr lang="zh-TW" altLang="en-US" sz="2800" dirty="0"/>
          </a:p>
        </p:txBody>
      </p:sp>
      <p:sp>
        <p:nvSpPr>
          <p:cNvPr id="6" name="文字方塊 5"/>
          <p:cNvSpPr txBox="1"/>
          <p:nvPr/>
        </p:nvSpPr>
        <p:spPr>
          <a:xfrm>
            <a:off x="3347864" y="5229200"/>
            <a:ext cx="5400600" cy="954107"/>
          </a:xfrm>
          <a:prstGeom prst="rect">
            <a:avLst/>
          </a:prstGeom>
          <a:noFill/>
        </p:spPr>
        <p:txBody>
          <a:bodyPr wrap="square" rtlCol="0">
            <a:spAutoFit/>
          </a:bodyPr>
          <a:lstStyle/>
          <a:p>
            <a:r>
              <a:rPr lang="en-US" altLang="zh-TW" sz="2800" dirty="0" smtClean="0"/>
              <a:t>Presenter: Hung-</a:t>
            </a:r>
            <a:r>
              <a:rPr lang="en-US" altLang="zh-TW" sz="2800" dirty="0" err="1" smtClean="0"/>
              <a:t>Hsin</a:t>
            </a:r>
            <a:r>
              <a:rPr lang="en-US" altLang="zh-TW" sz="2800" dirty="0" smtClean="0"/>
              <a:t> Chen (</a:t>
            </a:r>
            <a:r>
              <a:rPr lang="en-US" altLang="zh-TW" sz="2800" dirty="0" err="1" smtClean="0">
                <a:latin typeface="微軟正黑體" pitchFamily="34" charset="-120"/>
                <a:ea typeface="微軟正黑體" pitchFamily="34" charset="-120"/>
              </a:rPr>
              <a:t>陳紘昕</a:t>
            </a:r>
            <a:r>
              <a:rPr lang="en-US" altLang="zh-TW" sz="2800" dirty="0" smtClean="0"/>
              <a:t>)</a:t>
            </a:r>
          </a:p>
          <a:p>
            <a:r>
              <a:rPr lang="en-US" altLang="zh-TW" sz="2800" dirty="0" smtClean="0"/>
              <a:t>Date: Aug. 23, 2011</a:t>
            </a:r>
            <a:endParaRPr lang="zh-TW" altLang="en-US" sz="2800" dirty="0"/>
          </a:p>
        </p:txBody>
      </p:sp>
      <p:sp>
        <p:nvSpPr>
          <p:cNvPr id="7" name="投影片編號版面配置區 6"/>
          <p:cNvSpPr>
            <a:spLocks noGrp="1"/>
          </p:cNvSpPr>
          <p:nvPr>
            <p:ph type="sldNum" sz="quarter" idx="12"/>
          </p:nvPr>
        </p:nvSpPr>
        <p:spPr/>
        <p:txBody>
          <a:bodyPr/>
          <a:lstStyle/>
          <a:p>
            <a:fld id="{4468711F-7D31-4893-9A90-99EFD4C03725}" type="slidenum">
              <a:rPr lang="zh-TW" altLang="en-US" smtClean="0"/>
              <a:pPr/>
              <a:t>1</a:t>
            </a:fld>
            <a:endParaRPr lang="zh-TW"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116632"/>
            <a:ext cx="8229600" cy="1143000"/>
          </a:xfrm>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179512" y="1052736"/>
            <a:ext cx="8712968" cy="5400600"/>
          </a:xfrm>
        </p:spPr>
        <p:txBody>
          <a:bodyPr>
            <a:noAutofit/>
          </a:bodyPr>
          <a:lstStyle/>
          <a:p>
            <a:pPr marL="0" algn="just">
              <a:spcBef>
                <a:spcPts val="0"/>
              </a:spcBef>
              <a:buNone/>
            </a:pPr>
            <a:r>
              <a:rPr lang="en-US" altLang="zh-TW" sz="2200" dirty="0" smtClean="0"/>
              <a:t>This paper considers the automatic design of fuzzy rule-based </a:t>
            </a:r>
            <a:r>
              <a:rPr lang="en-US" altLang="zh-TW" sz="2200" dirty="0" err="1" smtClean="0"/>
              <a:t>classiﬁcation</a:t>
            </a:r>
            <a:r>
              <a:rPr lang="en-US" altLang="zh-TW" sz="2200" dirty="0" smtClean="0"/>
              <a:t> systems from labeled data. The </a:t>
            </a:r>
            <a:r>
              <a:rPr lang="en-US" altLang="zh-TW" sz="2200" dirty="0" err="1" smtClean="0"/>
              <a:t>classiﬁcation</a:t>
            </a:r>
            <a:r>
              <a:rPr lang="en-US" altLang="zh-TW" sz="2200" dirty="0" smtClean="0"/>
              <a:t> accuracy and interpretability of generated rules are of major importance in fuzzy </a:t>
            </a:r>
            <a:r>
              <a:rPr lang="en-US" altLang="zh-TW" sz="2200" dirty="0" err="1" smtClean="0"/>
              <a:t>classiﬁcation</a:t>
            </a:r>
            <a:r>
              <a:rPr lang="en-US" altLang="zh-TW" sz="2200" dirty="0" smtClean="0"/>
              <a:t> systems. We propose </a:t>
            </a:r>
            <a:r>
              <a:rPr lang="en-US" altLang="zh-TW" sz="2200" dirty="0" smtClean="0">
                <a:solidFill>
                  <a:srgbClr val="0070C0"/>
                </a:solidFill>
              </a:rPr>
              <a:t>a weighting function for compatibility grade of patterns </a:t>
            </a:r>
            <a:r>
              <a:rPr lang="en-US" altLang="zh-TW" sz="2200" dirty="0" smtClean="0"/>
              <a:t>that improves the performance of fuzzy </a:t>
            </a:r>
            <a:r>
              <a:rPr lang="en-US" altLang="zh-TW" sz="2200" dirty="0" err="1" smtClean="0"/>
              <a:t>classiﬁcation</a:t>
            </a:r>
            <a:r>
              <a:rPr lang="en-US" altLang="zh-TW" sz="2200" dirty="0" smtClean="0"/>
              <a:t> system without degrading the interpretability of fuzzy rules. Our approach divides the covering subspace of each fuzzy rule into two subdivisions based on a threshold. Any pattern with compatibility grade above this threshold should be </a:t>
            </a:r>
            <a:r>
              <a:rPr lang="en-US" altLang="zh-TW" sz="2200" dirty="0" err="1" smtClean="0"/>
              <a:t>classiﬁed</a:t>
            </a:r>
            <a:r>
              <a:rPr lang="en-US" altLang="zh-TW" sz="2200" dirty="0" smtClean="0"/>
              <a:t> truly so the weighting function enhances their association degree. For patterns below threshold, their compatibility grades remain unchanged. The splitting threshold for each rule (i.e. the compatibility grade of a </a:t>
            </a:r>
            <a:r>
              <a:rPr lang="en-US" altLang="zh-TW" sz="2200" dirty="0" err="1" smtClean="0"/>
              <a:t>speciﬁc</a:t>
            </a:r>
            <a:r>
              <a:rPr lang="en-US" altLang="zh-TW" sz="2200" dirty="0" smtClean="0"/>
              <a:t> pattern) is found using distribution of patterns in the covering subspace of that rule. We also show that how the proposed approach is applicable when fuzzy rules have certainty grades. Experiments on some well-known data sets are used to evaluate the performance of our approach.</a:t>
            </a:r>
            <a:endParaRPr lang="zh-TW" altLang="en-US" sz="2200" dirty="0"/>
          </a:p>
        </p:txBody>
      </p:sp>
      <p:sp>
        <p:nvSpPr>
          <p:cNvPr id="4" name="投影片編號版面配置區 3"/>
          <p:cNvSpPr>
            <a:spLocks noGrp="1"/>
          </p:cNvSpPr>
          <p:nvPr>
            <p:ph type="sldNum" sz="quarter" idx="12"/>
          </p:nvPr>
        </p:nvSpPr>
        <p:spPr/>
        <p:txBody>
          <a:bodyPr/>
          <a:lstStyle/>
          <a:p>
            <a:fld id="{4468711F-7D31-4893-9A90-99EFD4C03725}" type="slidenum">
              <a:rPr lang="zh-TW" altLang="en-US" smtClean="0"/>
              <a:pPr/>
              <a:t>2</a:t>
            </a:fld>
            <a:endParaRPr lang="zh-TW"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微軟正黑體" pitchFamily="34" charset="-120"/>
                <a:ea typeface="微軟正黑體" pitchFamily="34" charset="-120"/>
              </a:rPr>
              <a:t>Data representation</a:t>
            </a:r>
            <a:endParaRPr lang="zh-TW" altLang="en-US" dirty="0">
              <a:latin typeface="微軟正黑體" pitchFamily="34" charset="-120"/>
              <a:ea typeface="微軟正黑體" pitchFamily="34" charset="-120"/>
            </a:endParaRPr>
          </a:p>
        </p:txBody>
      </p:sp>
      <p:sp>
        <p:nvSpPr>
          <p:cNvPr id="4" name="文字方塊 3"/>
          <p:cNvSpPr txBox="1"/>
          <p:nvPr/>
        </p:nvSpPr>
        <p:spPr>
          <a:xfrm>
            <a:off x="323528" y="1268760"/>
            <a:ext cx="4032448" cy="523220"/>
          </a:xfrm>
          <a:prstGeom prst="rect">
            <a:avLst/>
          </a:prstGeom>
          <a:noFill/>
        </p:spPr>
        <p:txBody>
          <a:bodyPr wrap="square" rtlCol="0">
            <a:spAutoFit/>
          </a:bodyPr>
          <a:lstStyle/>
          <a:p>
            <a:r>
              <a:rPr lang="en-US" altLang="zh-TW" sz="2800" dirty="0" smtClean="0"/>
              <a:t>Partial iris flower data set:</a:t>
            </a:r>
            <a:endParaRPr lang="zh-TW" altLang="en-US" sz="2800" dirty="0"/>
          </a:p>
        </p:txBody>
      </p:sp>
      <p:graphicFrame>
        <p:nvGraphicFramePr>
          <p:cNvPr id="5" name="表格 4"/>
          <p:cNvGraphicFramePr>
            <a:graphicFrameLocks noGrp="1"/>
          </p:cNvGraphicFramePr>
          <p:nvPr/>
        </p:nvGraphicFramePr>
        <p:xfrm>
          <a:off x="2267744" y="1988840"/>
          <a:ext cx="6264695" cy="4429125"/>
        </p:xfrm>
        <a:graphic>
          <a:graphicData uri="http://schemas.openxmlformats.org/drawingml/2006/table">
            <a:tbl>
              <a:tblPr>
                <a:tableStyleId>{616DA210-FB5B-4158-B5E0-FEB733F419BA}</a:tableStyleId>
              </a:tblPr>
              <a:tblGrid>
                <a:gridCol w="1287469"/>
                <a:gridCol w="1321999"/>
                <a:gridCol w="1346663"/>
                <a:gridCol w="1243073"/>
                <a:gridCol w="1065491"/>
              </a:tblGrid>
              <a:tr h="209550">
                <a:tc gridSpan="4">
                  <a:txBody>
                    <a:bodyPr/>
                    <a:lstStyle/>
                    <a:p>
                      <a:pPr algn="ctr" fontAlgn="ctr"/>
                      <a:r>
                        <a:rPr lang="en-US" sz="2400" b="0" i="0" u="none" strike="noStrike" dirty="0" smtClean="0">
                          <a:solidFill>
                            <a:srgbClr val="FF0000"/>
                          </a:solidFill>
                          <a:latin typeface="微軟正黑體" pitchFamily="34" charset="-120"/>
                          <a:ea typeface="微軟正黑體" pitchFamily="34" charset="-120"/>
                        </a:rPr>
                        <a:t>Attributes</a:t>
                      </a:r>
                      <a:r>
                        <a:rPr lang="en-US" sz="2400" b="0" i="0" u="none" strike="noStrike" baseline="0" dirty="0" smtClean="0">
                          <a:solidFill>
                            <a:srgbClr val="FF0000"/>
                          </a:solidFill>
                          <a:latin typeface="微軟正黑體" pitchFamily="34" charset="-120"/>
                          <a:ea typeface="微軟正黑體" pitchFamily="34" charset="-120"/>
                        </a:rPr>
                        <a:t> (features)</a:t>
                      </a:r>
                      <a:endParaRPr lang="en-US" sz="2400" b="0" i="0" u="none" strike="noStrike" dirty="0">
                        <a:solidFill>
                          <a:srgbClr val="FF0000"/>
                        </a:solidFill>
                        <a:latin typeface="微軟正黑體" pitchFamily="34" charset="-120"/>
                        <a:ea typeface="微軟正黑體" pitchFamily="34" charset="-120"/>
                      </a:endParaRPr>
                    </a:p>
                  </a:txBody>
                  <a:tcPr marL="9525" marR="9525" marT="9525" marB="0" anchor="ctr">
                    <a:solidFill>
                      <a:schemeClr val="accent1">
                        <a:lumMod val="20000"/>
                        <a:lumOff val="80000"/>
                      </a:schemeClr>
                    </a:solidFill>
                  </a:tcPr>
                </a:tc>
                <a:tc hMerge="1">
                  <a:txBody>
                    <a:bodyPr/>
                    <a:lstStyle/>
                    <a:p>
                      <a:pPr algn="l" fontAlgn="ctr"/>
                      <a:endParaRPr lang="en-US" sz="1600" b="0" i="0" u="none" strike="noStrike" dirty="0">
                        <a:solidFill>
                          <a:srgbClr val="000000"/>
                        </a:solidFill>
                        <a:latin typeface="新細明體"/>
                      </a:endParaRPr>
                    </a:p>
                  </a:txBody>
                  <a:tcPr marL="9525" marR="9525" marT="9525" marB="0" anchor="ctr"/>
                </a:tc>
                <a:tc hMerge="1">
                  <a:txBody>
                    <a:bodyPr/>
                    <a:lstStyle/>
                    <a:p>
                      <a:pPr algn="l" fontAlgn="ctr"/>
                      <a:endParaRPr lang="en-US" sz="1600" b="0" i="0" u="none" strike="noStrike" dirty="0">
                        <a:solidFill>
                          <a:srgbClr val="000000"/>
                        </a:solidFill>
                        <a:latin typeface="新細明體"/>
                      </a:endParaRPr>
                    </a:p>
                  </a:txBody>
                  <a:tcPr marL="9525" marR="9525" marT="9525" marB="0" anchor="ctr"/>
                </a:tc>
                <a:tc hMerge="1">
                  <a:txBody>
                    <a:bodyPr/>
                    <a:lstStyle/>
                    <a:p>
                      <a:pPr algn="l" fontAlgn="ctr"/>
                      <a:endParaRPr lang="en-US" sz="1600" b="0" i="0" u="none" strike="noStrike" dirty="0">
                        <a:solidFill>
                          <a:srgbClr val="000000"/>
                        </a:solidFill>
                        <a:latin typeface="新細明體"/>
                      </a:endParaRPr>
                    </a:p>
                  </a:txBody>
                  <a:tcPr marL="9525" marR="9525" marT="9525" marB="0" anchor="ctr"/>
                </a:tc>
                <a:tc>
                  <a:txBody>
                    <a:bodyPr/>
                    <a:lstStyle/>
                    <a:p>
                      <a:pPr algn="ctr" fontAlgn="ctr"/>
                      <a:r>
                        <a:rPr lang="en-US" sz="2400" b="0" i="0" u="none" strike="noStrike" dirty="0" smtClean="0">
                          <a:solidFill>
                            <a:srgbClr val="FF0000"/>
                          </a:solidFill>
                          <a:latin typeface="微軟正黑體" pitchFamily="34" charset="-120"/>
                          <a:ea typeface="微軟正黑體" pitchFamily="34" charset="-120"/>
                        </a:rPr>
                        <a:t>Class</a:t>
                      </a:r>
                      <a:endParaRPr lang="en-US" sz="2400" b="0" i="0" u="none" strike="noStrike" dirty="0">
                        <a:solidFill>
                          <a:srgbClr val="FF0000"/>
                        </a:solidFill>
                        <a:latin typeface="微軟正黑體" pitchFamily="34" charset="-120"/>
                        <a:ea typeface="微軟正黑體" pitchFamily="34" charset="-120"/>
                      </a:endParaRPr>
                    </a:p>
                  </a:txBody>
                  <a:tcPr marL="9525" marR="9525" marT="9525" marB="0" anchor="ctr">
                    <a:solidFill>
                      <a:schemeClr val="accent1">
                        <a:lumMod val="20000"/>
                        <a:lumOff val="80000"/>
                      </a:schemeClr>
                    </a:solidFill>
                  </a:tcPr>
                </a:tc>
              </a:tr>
              <a:tr h="209550">
                <a:tc>
                  <a:txBody>
                    <a:bodyPr/>
                    <a:lstStyle/>
                    <a:p>
                      <a:pPr algn="l" fontAlgn="ctr"/>
                      <a:r>
                        <a:rPr lang="en-US" sz="1600" u="none" strike="noStrike" dirty="0">
                          <a:latin typeface="微軟正黑體" pitchFamily="34" charset="-120"/>
                          <a:ea typeface="微軟正黑體" pitchFamily="34" charset="-120"/>
                        </a:rPr>
                        <a:t>Sepal Length</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l" fontAlgn="ctr"/>
                      <a:r>
                        <a:rPr lang="en-US" sz="1600" u="none" strike="noStrike" dirty="0">
                          <a:latin typeface="微軟正黑體" pitchFamily="34" charset="-120"/>
                          <a:ea typeface="微軟正黑體" pitchFamily="34" charset="-120"/>
                        </a:rPr>
                        <a:t>Sepal Width</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l" fontAlgn="ctr"/>
                      <a:r>
                        <a:rPr lang="en-US" sz="1600" u="none" strike="noStrike" dirty="0">
                          <a:latin typeface="微軟正黑體" pitchFamily="34" charset="-120"/>
                          <a:ea typeface="微軟正黑體" pitchFamily="34" charset="-120"/>
                        </a:rPr>
                        <a:t>Petal Length</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l" fontAlgn="ctr"/>
                      <a:r>
                        <a:rPr lang="en-US" sz="1600" u="none" strike="noStrike" dirty="0">
                          <a:latin typeface="微軟正黑體" pitchFamily="34" charset="-120"/>
                          <a:ea typeface="微軟正黑體" pitchFamily="34" charset="-120"/>
                        </a:rPr>
                        <a:t>Petal Width</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l" fontAlgn="ctr"/>
                      <a:r>
                        <a:rPr lang="en-US" sz="1600" u="none" strike="noStrike" dirty="0">
                          <a:latin typeface="微軟正黑體" pitchFamily="34" charset="-120"/>
                          <a:ea typeface="微軟正黑體" pitchFamily="34" charset="-120"/>
                        </a:rPr>
                        <a:t>Species</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r>
              <a:tr h="209550">
                <a:tc>
                  <a:txBody>
                    <a:bodyPr/>
                    <a:lstStyle/>
                    <a:p>
                      <a:pPr algn="ctr" fontAlgn="ctr"/>
                      <a:r>
                        <a:rPr lang="en-US" altLang="zh-TW" sz="1600" u="none" strike="noStrike" dirty="0">
                          <a:latin typeface="微軟正黑體" pitchFamily="34" charset="-120"/>
                          <a:ea typeface="微軟正黑體" pitchFamily="34" charset="-120"/>
                        </a:rPr>
                        <a:t>5.1</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3.5</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1.4</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0.2</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sz="1600" u="none" strike="noStrike" dirty="0" err="1">
                          <a:latin typeface="微軟正黑體" pitchFamily="34" charset="-120"/>
                          <a:ea typeface="微軟正黑體" pitchFamily="34" charset="-120"/>
                        </a:rPr>
                        <a:t>setosa</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r>
              <a:tr h="209550">
                <a:tc>
                  <a:txBody>
                    <a:bodyPr/>
                    <a:lstStyle/>
                    <a:p>
                      <a:pPr algn="ctr" fontAlgn="ctr"/>
                      <a:r>
                        <a:rPr lang="en-US" altLang="zh-TW" sz="1600" u="none" strike="noStrike" dirty="0">
                          <a:latin typeface="微軟正黑體" pitchFamily="34" charset="-120"/>
                          <a:ea typeface="微軟正黑體" pitchFamily="34" charset="-120"/>
                        </a:rPr>
                        <a:t>4.9</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3</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1.4</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0.2</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sz="1600" u="none" strike="noStrike" dirty="0" err="1">
                          <a:latin typeface="微軟正黑體" pitchFamily="34" charset="-120"/>
                          <a:ea typeface="微軟正黑體" pitchFamily="34" charset="-120"/>
                        </a:rPr>
                        <a:t>setosa</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r>
              <a:tr h="209550">
                <a:tc>
                  <a:txBody>
                    <a:bodyPr/>
                    <a:lstStyle/>
                    <a:p>
                      <a:pPr algn="ctr" fontAlgn="ctr"/>
                      <a:r>
                        <a:rPr lang="en-US" altLang="zh-TW" sz="1600" u="none" strike="noStrike" dirty="0">
                          <a:latin typeface="微軟正黑體" pitchFamily="34" charset="-120"/>
                          <a:ea typeface="微軟正黑體" pitchFamily="34" charset="-120"/>
                        </a:rPr>
                        <a:t>4.7</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3.2</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1.3</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0.2</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sz="1600" u="none" strike="noStrike" dirty="0" err="1">
                          <a:latin typeface="微軟正黑體" pitchFamily="34" charset="-120"/>
                          <a:ea typeface="微軟正黑體" pitchFamily="34" charset="-120"/>
                        </a:rPr>
                        <a:t>setosa</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r>
              <a:tr h="209550">
                <a:tc>
                  <a:txBody>
                    <a:bodyPr/>
                    <a:lstStyle/>
                    <a:p>
                      <a:pPr algn="ctr" fontAlgn="ctr"/>
                      <a:r>
                        <a:rPr lang="en-US" altLang="zh-TW" sz="1600" u="none" strike="noStrike" dirty="0">
                          <a:latin typeface="微軟正黑體" pitchFamily="34" charset="-120"/>
                          <a:ea typeface="微軟正黑體" pitchFamily="34" charset="-120"/>
                        </a:rPr>
                        <a:t>4.6</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3.1</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1.5</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0.2</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sz="1600" u="none" strike="noStrike" dirty="0" err="1">
                          <a:latin typeface="微軟正黑體" pitchFamily="34" charset="-120"/>
                          <a:ea typeface="微軟正黑體" pitchFamily="34" charset="-120"/>
                        </a:rPr>
                        <a:t>setosa</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r>
              <a:tr h="209550">
                <a:tc>
                  <a:txBody>
                    <a:bodyPr/>
                    <a:lstStyle/>
                    <a:p>
                      <a:pPr algn="ctr" fontAlgn="ctr"/>
                      <a:r>
                        <a:rPr lang="en-US" altLang="zh-TW" sz="1600" u="none" strike="noStrike" dirty="0">
                          <a:latin typeface="微軟正黑體" pitchFamily="34" charset="-120"/>
                          <a:ea typeface="微軟正黑體" pitchFamily="34" charset="-120"/>
                        </a:rPr>
                        <a:t>5</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3.6</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1.4</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0.2</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sz="1600" u="none" strike="noStrike" dirty="0" err="1">
                          <a:latin typeface="微軟正黑體" pitchFamily="34" charset="-120"/>
                          <a:ea typeface="微軟正黑體" pitchFamily="34" charset="-120"/>
                        </a:rPr>
                        <a:t>setosa</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r>
              <a:tr h="209550">
                <a:tc>
                  <a:txBody>
                    <a:bodyPr/>
                    <a:lstStyle/>
                    <a:p>
                      <a:pPr algn="ctr" fontAlgn="ctr"/>
                      <a:r>
                        <a:rPr lang="en-US" altLang="zh-TW" sz="1600" u="none" strike="noStrike" dirty="0">
                          <a:latin typeface="微軟正黑體" pitchFamily="34" charset="-120"/>
                          <a:ea typeface="微軟正黑體" pitchFamily="34" charset="-120"/>
                        </a:rPr>
                        <a:t>0</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3.2</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4.7</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1.4</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sz="1600" u="none" strike="noStrike" dirty="0" err="1">
                          <a:latin typeface="微軟正黑體" pitchFamily="34" charset="-120"/>
                          <a:ea typeface="微軟正黑體" pitchFamily="34" charset="-120"/>
                        </a:rPr>
                        <a:t>versicolor</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r>
              <a:tr h="209550">
                <a:tc>
                  <a:txBody>
                    <a:bodyPr/>
                    <a:lstStyle/>
                    <a:p>
                      <a:pPr algn="ctr" fontAlgn="ctr"/>
                      <a:r>
                        <a:rPr lang="en-US" altLang="zh-TW" sz="1600" u="none" strike="noStrike" dirty="0">
                          <a:latin typeface="微軟正黑體" pitchFamily="34" charset="-120"/>
                          <a:ea typeface="微軟正黑體" pitchFamily="34" charset="-120"/>
                        </a:rPr>
                        <a:t>6.4</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3.2</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4.5</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1.5</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sz="1600" u="none" strike="noStrike" dirty="0" err="1">
                          <a:latin typeface="微軟正黑體" pitchFamily="34" charset="-120"/>
                          <a:ea typeface="微軟正黑體" pitchFamily="34" charset="-120"/>
                        </a:rPr>
                        <a:t>versicolor</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r>
              <a:tr h="209550">
                <a:tc>
                  <a:txBody>
                    <a:bodyPr/>
                    <a:lstStyle/>
                    <a:p>
                      <a:pPr algn="ctr" fontAlgn="ctr"/>
                      <a:r>
                        <a:rPr lang="en-US" altLang="zh-TW" sz="1600" u="none" strike="noStrike" dirty="0">
                          <a:latin typeface="微軟正黑體" pitchFamily="34" charset="-120"/>
                          <a:ea typeface="微軟正黑體" pitchFamily="34" charset="-120"/>
                        </a:rPr>
                        <a:t>6.9</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3.1</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4.9</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1.5</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sz="1600" u="none" strike="noStrike">
                          <a:latin typeface="微軟正黑體" pitchFamily="34" charset="-120"/>
                          <a:ea typeface="微軟正黑體" pitchFamily="34" charset="-120"/>
                        </a:rPr>
                        <a:t>versicolor</a:t>
                      </a:r>
                      <a:endParaRPr lang="en-US" sz="1600" b="0" i="0" u="none" strike="noStrike">
                        <a:solidFill>
                          <a:srgbClr val="000000"/>
                        </a:solidFill>
                        <a:latin typeface="微軟正黑體" pitchFamily="34" charset="-120"/>
                        <a:ea typeface="微軟正黑體" pitchFamily="34" charset="-120"/>
                      </a:endParaRPr>
                    </a:p>
                  </a:txBody>
                  <a:tcPr marL="9525" marR="9525" marT="9525" marB="0" anchor="ctr"/>
                </a:tc>
              </a:tr>
              <a:tr h="209550">
                <a:tc>
                  <a:txBody>
                    <a:bodyPr/>
                    <a:lstStyle/>
                    <a:p>
                      <a:pPr algn="ctr" fontAlgn="ctr"/>
                      <a:r>
                        <a:rPr lang="en-US" altLang="zh-TW" sz="1600" u="none" strike="noStrike" dirty="0">
                          <a:latin typeface="微軟正黑體" pitchFamily="34" charset="-120"/>
                          <a:ea typeface="微軟正黑體" pitchFamily="34" charset="-120"/>
                        </a:rPr>
                        <a:t>5.5</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2.3</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4</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1.3</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sz="1600" u="none" strike="noStrike" dirty="0" err="1">
                          <a:latin typeface="微軟正黑體" pitchFamily="34" charset="-120"/>
                          <a:ea typeface="微軟正黑體" pitchFamily="34" charset="-120"/>
                        </a:rPr>
                        <a:t>versicolor</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r>
              <a:tr h="209550">
                <a:tc>
                  <a:txBody>
                    <a:bodyPr/>
                    <a:lstStyle/>
                    <a:p>
                      <a:pPr algn="ctr" fontAlgn="ctr"/>
                      <a:r>
                        <a:rPr lang="en-US" altLang="zh-TW" sz="1600" u="none" strike="noStrike" dirty="0">
                          <a:latin typeface="微軟正黑體" pitchFamily="34" charset="-120"/>
                          <a:ea typeface="微軟正黑體" pitchFamily="34" charset="-120"/>
                        </a:rPr>
                        <a:t>6.5</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2.8</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4.6</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1.5</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sz="1600" u="none" strike="noStrike" dirty="0" err="1">
                          <a:latin typeface="微軟正黑體" pitchFamily="34" charset="-120"/>
                          <a:ea typeface="微軟正黑體" pitchFamily="34" charset="-120"/>
                        </a:rPr>
                        <a:t>versicolor</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r>
              <a:tr h="209550">
                <a:tc>
                  <a:txBody>
                    <a:bodyPr/>
                    <a:lstStyle/>
                    <a:p>
                      <a:pPr algn="ctr" fontAlgn="ctr"/>
                      <a:r>
                        <a:rPr lang="en-US" altLang="zh-TW" sz="1600" u="none" strike="noStrike" dirty="0" smtClean="0">
                          <a:latin typeface="微軟正黑體" pitchFamily="34" charset="-120"/>
                          <a:ea typeface="微軟正黑體" pitchFamily="34" charset="-120"/>
                        </a:rPr>
                        <a:t>6.3</a:t>
                      </a:r>
                      <a:endParaRPr lang="zh-TW" altLang="en-US"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3.3</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6</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2.5</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sz="1600" u="none" strike="noStrike" dirty="0" err="1">
                          <a:latin typeface="微軟正黑體" pitchFamily="34" charset="-120"/>
                          <a:ea typeface="微軟正黑體" pitchFamily="34" charset="-120"/>
                        </a:rPr>
                        <a:t>virginica</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r>
              <a:tr h="209550">
                <a:tc>
                  <a:txBody>
                    <a:bodyPr/>
                    <a:lstStyle/>
                    <a:p>
                      <a:pPr algn="ctr" fontAlgn="ctr"/>
                      <a:r>
                        <a:rPr lang="en-US" altLang="zh-TW" sz="1600" u="none" strike="noStrike" dirty="0">
                          <a:latin typeface="微軟正黑體" pitchFamily="34" charset="-120"/>
                          <a:ea typeface="微軟正黑體" pitchFamily="34" charset="-120"/>
                        </a:rPr>
                        <a:t>5.8</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2.7</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5.1</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1.9</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sz="1600" u="none" strike="noStrike" dirty="0" err="1">
                          <a:latin typeface="微軟正黑體" pitchFamily="34" charset="-120"/>
                          <a:ea typeface="微軟正黑體" pitchFamily="34" charset="-120"/>
                        </a:rPr>
                        <a:t>virginica</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r>
              <a:tr h="209550">
                <a:tc>
                  <a:txBody>
                    <a:bodyPr/>
                    <a:lstStyle/>
                    <a:p>
                      <a:pPr algn="ctr" fontAlgn="ctr"/>
                      <a:r>
                        <a:rPr lang="en-US" altLang="zh-TW" sz="1600" u="none" strike="noStrike" dirty="0">
                          <a:latin typeface="微軟正黑體" pitchFamily="34" charset="-120"/>
                          <a:ea typeface="微軟正黑體" pitchFamily="34" charset="-120"/>
                        </a:rPr>
                        <a:t>7.1</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3</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5.9</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2.1</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sz="1600" u="none" strike="noStrike" dirty="0" err="1">
                          <a:latin typeface="微軟正黑體" pitchFamily="34" charset="-120"/>
                          <a:ea typeface="微軟正黑體" pitchFamily="34" charset="-120"/>
                        </a:rPr>
                        <a:t>virginica</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r>
              <a:tr h="209550">
                <a:tc>
                  <a:txBody>
                    <a:bodyPr/>
                    <a:lstStyle/>
                    <a:p>
                      <a:pPr algn="ctr" fontAlgn="ctr"/>
                      <a:r>
                        <a:rPr lang="en-US" altLang="zh-TW" sz="1600" u="none" strike="noStrike" dirty="0">
                          <a:latin typeface="微軟正黑體" pitchFamily="34" charset="-120"/>
                          <a:ea typeface="微軟正黑體" pitchFamily="34" charset="-120"/>
                        </a:rPr>
                        <a:t>6.3</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2.9</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5.6</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1.8</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sz="1600" u="none" strike="noStrike" dirty="0" err="1">
                          <a:latin typeface="微軟正黑體" pitchFamily="34" charset="-120"/>
                          <a:ea typeface="微軟正黑體" pitchFamily="34" charset="-120"/>
                        </a:rPr>
                        <a:t>virginica</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r>
              <a:tr h="209550">
                <a:tc>
                  <a:txBody>
                    <a:bodyPr/>
                    <a:lstStyle/>
                    <a:p>
                      <a:pPr algn="ctr" fontAlgn="ctr"/>
                      <a:r>
                        <a:rPr lang="en-US" altLang="zh-TW" sz="1600" u="none" strike="noStrike" dirty="0">
                          <a:latin typeface="微軟正黑體" pitchFamily="34" charset="-120"/>
                          <a:ea typeface="微軟正黑體" pitchFamily="34" charset="-120"/>
                        </a:rPr>
                        <a:t>6.5</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3</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a:latin typeface="微軟正黑體" pitchFamily="34" charset="-120"/>
                          <a:ea typeface="微軟正黑體" pitchFamily="34" charset="-120"/>
                        </a:rPr>
                        <a:t>5.8</a:t>
                      </a:r>
                      <a:endParaRPr lang="en-US" altLang="zh-TW" sz="1600" b="0" i="0" u="none" strike="noStrike">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altLang="zh-TW" sz="1600" u="none" strike="noStrike" dirty="0">
                          <a:latin typeface="微軟正黑體" pitchFamily="34" charset="-120"/>
                          <a:ea typeface="微軟正黑體" pitchFamily="34" charset="-120"/>
                        </a:rPr>
                        <a:t>2.2</a:t>
                      </a:r>
                      <a:endParaRPr lang="en-US" altLang="zh-TW" sz="1600" b="0" i="0" u="none" strike="noStrike" dirty="0">
                        <a:solidFill>
                          <a:srgbClr val="000000"/>
                        </a:solidFill>
                        <a:latin typeface="微軟正黑體" pitchFamily="34" charset="-120"/>
                        <a:ea typeface="微軟正黑體" pitchFamily="34" charset="-120"/>
                      </a:endParaRPr>
                    </a:p>
                  </a:txBody>
                  <a:tcPr marL="9525" marR="9525" marT="9525" marB="0" anchor="ctr"/>
                </a:tc>
                <a:tc>
                  <a:txBody>
                    <a:bodyPr/>
                    <a:lstStyle/>
                    <a:p>
                      <a:pPr algn="ctr" fontAlgn="ctr"/>
                      <a:r>
                        <a:rPr lang="en-US" sz="1600" u="none" strike="noStrike" dirty="0" err="1">
                          <a:latin typeface="微軟正黑體" pitchFamily="34" charset="-120"/>
                          <a:ea typeface="微軟正黑體" pitchFamily="34" charset="-120"/>
                        </a:rPr>
                        <a:t>virginica</a:t>
                      </a:r>
                      <a:endParaRPr lang="en-US" sz="1600" b="0" i="0" u="none" strike="noStrike" dirty="0">
                        <a:solidFill>
                          <a:srgbClr val="000000"/>
                        </a:solidFill>
                        <a:latin typeface="微軟正黑體" pitchFamily="34" charset="-120"/>
                        <a:ea typeface="微軟正黑體" pitchFamily="34" charset="-120"/>
                      </a:endParaRPr>
                    </a:p>
                  </a:txBody>
                  <a:tcPr marL="9525" marR="9525" marT="9525" marB="0" anchor="ctr"/>
                </a:tc>
              </a:tr>
            </a:tbl>
          </a:graphicData>
        </a:graphic>
      </p:graphicFrame>
      <p:sp>
        <p:nvSpPr>
          <p:cNvPr id="6" name="圓角矩形圖說文字 5"/>
          <p:cNvSpPr/>
          <p:nvPr/>
        </p:nvSpPr>
        <p:spPr>
          <a:xfrm>
            <a:off x="0" y="2420888"/>
            <a:ext cx="1835696" cy="1512168"/>
          </a:xfrm>
          <a:prstGeom prst="wedgeRoundRectCallout">
            <a:avLst>
              <a:gd name="adj1" fmla="val 88624"/>
              <a:gd name="adj2" fmla="val -30242"/>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sz="2000" dirty="0" smtClean="0"/>
              <a:t>One data is usually called a </a:t>
            </a:r>
            <a:r>
              <a:rPr lang="en-US" altLang="zh-TW" sz="2000" dirty="0" smtClean="0">
                <a:solidFill>
                  <a:srgbClr val="FF0000"/>
                </a:solidFill>
              </a:rPr>
              <a:t>point</a:t>
            </a:r>
            <a:r>
              <a:rPr lang="en-US" altLang="zh-TW" sz="2000" dirty="0" smtClean="0"/>
              <a:t> or an </a:t>
            </a:r>
            <a:r>
              <a:rPr lang="en-US" altLang="zh-TW" sz="2000" dirty="0" smtClean="0">
                <a:solidFill>
                  <a:srgbClr val="FF0000"/>
                </a:solidFill>
              </a:rPr>
              <a:t>instance</a:t>
            </a:r>
            <a:endParaRPr lang="zh-TW" altLang="en-US" sz="2000" dirty="0">
              <a:solidFill>
                <a:srgbClr val="FF0000"/>
              </a:solidFill>
            </a:endParaRPr>
          </a:p>
        </p:txBody>
      </p:sp>
      <p:sp>
        <p:nvSpPr>
          <p:cNvPr id="8" name="投影片編號版面配置區 7"/>
          <p:cNvSpPr>
            <a:spLocks noGrp="1"/>
          </p:cNvSpPr>
          <p:nvPr>
            <p:ph type="sldNum" sz="quarter" idx="12"/>
          </p:nvPr>
        </p:nvSpPr>
        <p:spPr/>
        <p:txBody>
          <a:bodyPr/>
          <a:lstStyle/>
          <a:p>
            <a:fld id="{68A3FD6A-CD28-4AD1-997B-38CF7B9E77E7}"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 of fuzzy set</a:t>
            </a:r>
            <a:endParaRPr lang="zh-TW" altLang="en-US" dirty="0"/>
          </a:p>
        </p:txBody>
      </p:sp>
      <p:pic>
        <p:nvPicPr>
          <p:cNvPr id="4" name="Picture 4" descr="1-36"/>
          <p:cNvPicPr>
            <a:picLocks noChangeAspect="1" noChangeArrowheads="1"/>
          </p:cNvPicPr>
          <p:nvPr/>
        </p:nvPicPr>
        <p:blipFill>
          <a:blip r:embed="rId2" cstate="print"/>
          <a:srcRect/>
          <a:stretch>
            <a:fillRect/>
          </a:stretch>
        </p:blipFill>
        <p:spPr bwMode="auto">
          <a:xfrm>
            <a:off x="0" y="1484784"/>
            <a:ext cx="9144000" cy="4104456"/>
          </a:xfrm>
          <a:prstGeom prst="rect">
            <a:avLst/>
          </a:prstGeom>
          <a:noFill/>
          <a:ln w="9525">
            <a:noFill/>
            <a:miter lim="800000"/>
            <a:headEnd/>
            <a:tailEnd/>
          </a:ln>
        </p:spPr>
      </p:pic>
      <p:sp>
        <p:nvSpPr>
          <p:cNvPr id="6" name="矩形 5"/>
          <p:cNvSpPr/>
          <p:nvPr/>
        </p:nvSpPr>
        <p:spPr>
          <a:xfrm>
            <a:off x="2699792" y="1844824"/>
            <a:ext cx="6192688" cy="36004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3347864" y="1268760"/>
            <a:ext cx="4032448" cy="461665"/>
          </a:xfrm>
          <a:prstGeom prst="rect">
            <a:avLst/>
          </a:prstGeom>
          <a:noFill/>
        </p:spPr>
        <p:txBody>
          <a:bodyPr wrap="square" rtlCol="0">
            <a:spAutoFit/>
          </a:bodyPr>
          <a:lstStyle/>
          <a:p>
            <a:pPr algn="ctr"/>
            <a:r>
              <a:rPr lang="en-US" altLang="zh-TW" sz="2400" dirty="0" smtClean="0">
                <a:solidFill>
                  <a:srgbClr val="FF0000"/>
                </a:solidFill>
              </a:rPr>
              <a:t>Attributes</a:t>
            </a:r>
            <a:endParaRPr lang="zh-TW" altLang="en-US" sz="2400" dirty="0">
              <a:solidFill>
                <a:srgbClr val="FF0000"/>
              </a:solidFill>
            </a:endParaRPr>
          </a:p>
        </p:txBody>
      </p:sp>
      <p:sp>
        <p:nvSpPr>
          <p:cNvPr id="9" name="圓角矩形圖說文字 8"/>
          <p:cNvSpPr/>
          <p:nvPr/>
        </p:nvSpPr>
        <p:spPr>
          <a:xfrm>
            <a:off x="6012160" y="5661248"/>
            <a:ext cx="2304256" cy="576064"/>
          </a:xfrm>
          <a:prstGeom prst="wedgeRoundRectCallout">
            <a:avLst>
              <a:gd name="adj1" fmla="val -86913"/>
              <a:gd name="adj2" fmla="val -160618"/>
              <a:gd name="adj3" fmla="val 16667"/>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Membership value</a:t>
            </a:r>
            <a:endParaRPr lang="zh-TW" altLang="en-US" dirty="0">
              <a:solidFill>
                <a:schemeClr val="tx1"/>
              </a:solidFill>
            </a:endParaRPr>
          </a:p>
        </p:txBody>
      </p:sp>
      <p:sp>
        <p:nvSpPr>
          <p:cNvPr id="11" name="投影片編號版面配置區 10"/>
          <p:cNvSpPr>
            <a:spLocks noGrp="1"/>
          </p:cNvSpPr>
          <p:nvPr>
            <p:ph type="sldNum" sz="quarter" idx="12"/>
          </p:nvPr>
        </p:nvSpPr>
        <p:spPr/>
        <p:txBody>
          <a:bodyPr/>
          <a:lstStyle/>
          <a:p>
            <a:fld id="{4468711F-7D31-4893-9A90-99EFD4C03725}" type="slidenum">
              <a:rPr lang="zh-TW" altLang="en-US" smtClean="0"/>
              <a:pPr/>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1-37"/>
          <p:cNvPicPr>
            <a:picLocks noChangeAspect="1" noChangeArrowheads="1"/>
          </p:cNvPicPr>
          <p:nvPr/>
        </p:nvPicPr>
        <p:blipFill>
          <a:blip r:embed="rId2" cstate="print"/>
          <a:srcRect/>
          <a:stretch>
            <a:fillRect/>
          </a:stretch>
        </p:blipFill>
        <p:spPr bwMode="auto">
          <a:xfrm>
            <a:off x="323528" y="0"/>
            <a:ext cx="7920880" cy="6708975"/>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4468711F-7D31-4893-9A90-99EFD4C03725}" type="slidenum">
              <a:rPr lang="zh-TW" altLang="en-US" smtClean="0"/>
              <a:pPr/>
              <a:t>5</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Fuzzy if-then rule</a:t>
            </a:r>
            <a:endParaRPr lang="zh-TW" altLang="en-US" dirty="0"/>
          </a:p>
        </p:txBody>
      </p:sp>
      <p:sp>
        <p:nvSpPr>
          <p:cNvPr id="3" name="內容版面配置區 2"/>
          <p:cNvSpPr>
            <a:spLocks noGrp="1"/>
          </p:cNvSpPr>
          <p:nvPr>
            <p:ph idx="1"/>
          </p:nvPr>
        </p:nvSpPr>
        <p:spPr>
          <a:xfrm>
            <a:off x="107504" y="2996952"/>
            <a:ext cx="8784976" cy="3672408"/>
          </a:xfrm>
        </p:spPr>
        <p:txBody>
          <a:bodyPr>
            <a:normAutofit/>
          </a:bodyPr>
          <a:lstStyle/>
          <a:p>
            <a:pPr algn="just"/>
            <a:r>
              <a:rPr lang="en-US" altLang="zh-TW" dirty="0" smtClean="0">
                <a:solidFill>
                  <a:srgbClr val="FF0000"/>
                </a:solidFill>
              </a:rPr>
              <a:t>Example:</a:t>
            </a:r>
            <a:endParaRPr lang="en-US" altLang="zh-TW" dirty="0" smtClean="0">
              <a:solidFill>
                <a:srgbClr val="FF0000"/>
              </a:solidFill>
            </a:endParaRPr>
          </a:p>
          <a:p>
            <a:pPr algn="just"/>
            <a:r>
              <a:rPr lang="en-US" altLang="zh-TW" sz="2800" dirty="0" smtClean="0"/>
              <a:t>A</a:t>
            </a:r>
            <a:r>
              <a:rPr lang="en-US" altLang="zh-TW" sz="2800" baseline="-25000" dirty="0" smtClean="0"/>
              <a:t>1</a:t>
            </a:r>
            <a:r>
              <a:rPr lang="en-US" altLang="zh-TW" sz="2800" dirty="0" smtClean="0"/>
              <a:t>: height={high, medium, low}</a:t>
            </a:r>
          </a:p>
          <a:p>
            <a:pPr algn="just"/>
            <a:r>
              <a:rPr lang="en-US" altLang="zh-TW" sz="2800" dirty="0" smtClean="0"/>
              <a:t>A</a:t>
            </a:r>
            <a:r>
              <a:rPr lang="en-US" altLang="zh-TW" sz="2800" baseline="-25000" dirty="0" smtClean="0"/>
              <a:t>2</a:t>
            </a:r>
            <a:r>
              <a:rPr lang="en-US" altLang="zh-TW" sz="2800" dirty="0" smtClean="0"/>
              <a:t>: weight={heavy, middle, light}</a:t>
            </a:r>
          </a:p>
          <a:p>
            <a:r>
              <a:rPr lang="en-US" altLang="zh-TW" sz="2800" dirty="0" smtClean="0"/>
              <a:t>R</a:t>
            </a:r>
            <a:r>
              <a:rPr lang="en-US" altLang="zh-TW" sz="2800" baseline="-25000" dirty="0" smtClean="0"/>
              <a:t>1</a:t>
            </a:r>
            <a:r>
              <a:rPr lang="en-US" altLang="zh-TW" sz="2800" dirty="0" smtClean="0"/>
              <a:t>: </a:t>
            </a:r>
            <a:r>
              <a:rPr lang="en-US" altLang="zh-TW" sz="2800" dirty="0" smtClean="0">
                <a:solidFill>
                  <a:srgbClr val="00B0F0"/>
                </a:solidFill>
              </a:rPr>
              <a:t>If </a:t>
            </a:r>
            <a:r>
              <a:rPr lang="en-US" altLang="zh-TW" sz="2800" i="1" dirty="0" smtClean="0">
                <a:solidFill>
                  <a:srgbClr val="00B0F0"/>
                </a:solidFill>
              </a:rPr>
              <a:t>x</a:t>
            </a:r>
            <a:r>
              <a:rPr lang="en-US" altLang="zh-TW" sz="2800" baseline="-25000" dirty="0" smtClean="0">
                <a:solidFill>
                  <a:srgbClr val="00B0F0"/>
                </a:solidFill>
              </a:rPr>
              <a:t>1</a:t>
            </a:r>
            <a:r>
              <a:rPr lang="en-US" altLang="zh-TW" sz="2800" dirty="0" smtClean="0">
                <a:solidFill>
                  <a:srgbClr val="00B0F0"/>
                </a:solidFill>
              </a:rPr>
              <a:t> is high </a:t>
            </a:r>
            <a:r>
              <a:rPr lang="en-US" altLang="zh-TW" sz="2800" dirty="0" smtClean="0"/>
              <a:t>and </a:t>
            </a:r>
            <a:r>
              <a:rPr lang="en-US" altLang="zh-TW" sz="2800" i="1" dirty="0" smtClean="0">
                <a:solidFill>
                  <a:srgbClr val="00B0F0"/>
                </a:solidFill>
              </a:rPr>
              <a:t>x</a:t>
            </a:r>
            <a:r>
              <a:rPr lang="en-US" altLang="zh-TW" sz="2800" baseline="-25000" dirty="0" smtClean="0">
                <a:solidFill>
                  <a:srgbClr val="00B0F0"/>
                </a:solidFill>
              </a:rPr>
              <a:t>2</a:t>
            </a:r>
            <a:r>
              <a:rPr lang="en-US" altLang="zh-TW" sz="2800" dirty="0" smtClean="0">
                <a:solidFill>
                  <a:srgbClr val="00B0F0"/>
                </a:solidFill>
              </a:rPr>
              <a:t> is heavy </a:t>
            </a:r>
            <a:r>
              <a:rPr lang="en-US" altLang="zh-TW" sz="2800" dirty="0" smtClean="0"/>
              <a:t>then </a:t>
            </a:r>
            <a:r>
              <a:rPr lang="en-US" altLang="zh-TW" sz="2800" dirty="0" smtClean="0">
                <a:solidFill>
                  <a:srgbClr val="00B0F0"/>
                </a:solidFill>
              </a:rPr>
              <a:t>basketball player</a:t>
            </a:r>
            <a:r>
              <a:rPr lang="en-US" altLang="zh-TW" sz="2800" dirty="0" smtClean="0"/>
              <a:t> </a:t>
            </a:r>
            <a:br>
              <a:rPr lang="en-US" altLang="zh-TW" sz="2800" dirty="0" smtClean="0"/>
            </a:br>
            <a:r>
              <a:rPr lang="en-US" altLang="zh-TW" sz="2800" dirty="0" smtClean="0"/>
              <a:t>	with </a:t>
            </a:r>
            <a:r>
              <a:rPr lang="en-US" altLang="zh-TW" sz="2800" i="1" dirty="0" smtClean="0"/>
              <a:t>w</a:t>
            </a:r>
            <a:r>
              <a:rPr lang="en-US" altLang="zh-TW" sz="2800" baseline="-25000" dirty="0" smtClean="0"/>
              <a:t>1</a:t>
            </a:r>
            <a:r>
              <a:rPr lang="en-US" altLang="zh-TW" sz="2800" dirty="0" smtClean="0"/>
              <a:t>=0.8</a:t>
            </a:r>
          </a:p>
          <a:p>
            <a:pPr algn="just"/>
            <a:r>
              <a:rPr lang="en-US" altLang="zh-TW" sz="2800" dirty="0" smtClean="0"/>
              <a:t>R</a:t>
            </a:r>
            <a:r>
              <a:rPr lang="en-US" altLang="zh-TW" sz="2800" baseline="-25000" dirty="0" smtClean="0"/>
              <a:t>2</a:t>
            </a:r>
            <a:r>
              <a:rPr lang="en-US" altLang="zh-TW" sz="2800" dirty="0" smtClean="0"/>
              <a:t>: if </a:t>
            </a:r>
            <a:r>
              <a:rPr lang="en-US" altLang="zh-TW" sz="2800" dirty="0" smtClean="0">
                <a:solidFill>
                  <a:srgbClr val="00B0F0"/>
                </a:solidFill>
              </a:rPr>
              <a:t>x</a:t>
            </a:r>
            <a:r>
              <a:rPr lang="en-US" altLang="zh-TW" sz="2800" baseline="-25000" dirty="0" smtClean="0">
                <a:solidFill>
                  <a:srgbClr val="00B0F0"/>
                </a:solidFill>
              </a:rPr>
              <a:t>1</a:t>
            </a:r>
            <a:r>
              <a:rPr lang="en-US" altLang="zh-TW" sz="2800" dirty="0" smtClean="0">
                <a:solidFill>
                  <a:srgbClr val="00B0F0"/>
                </a:solidFill>
              </a:rPr>
              <a:t> is high and x</a:t>
            </a:r>
            <a:r>
              <a:rPr lang="en-US" altLang="zh-TW" sz="2800" baseline="-25000" dirty="0" smtClean="0">
                <a:solidFill>
                  <a:srgbClr val="00B0F0"/>
                </a:solidFill>
              </a:rPr>
              <a:t>2</a:t>
            </a:r>
            <a:r>
              <a:rPr lang="en-US" altLang="zh-TW" sz="2800" dirty="0" smtClean="0">
                <a:solidFill>
                  <a:srgbClr val="00B0F0"/>
                </a:solidFill>
              </a:rPr>
              <a:t> is middle </a:t>
            </a:r>
            <a:r>
              <a:rPr lang="en-US" altLang="zh-TW" sz="2800" dirty="0" smtClean="0"/>
              <a:t>then </a:t>
            </a:r>
            <a:r>
              <a:rPr lang="en-US" altLang="zh-TW" sz="2800" dirty="0" smtClean="0">
                <a:solidFill>
                  <a:srgbClr val="00B0F0"/>
                </a:solidFill>
              </a:rPr>
              <a:t>runner</a:t>
            </a:r>
            <a:r>
              <a:rPr lang="en-US" altLang="zh-TW" sz="2800" dirty="0" smtClean="0"/>
              <a:t> with </a:t>
            </a:r>
            <a:r>
              <a:rPr lang="en-US" altLang="zh-TW" sz="2800" i="1" dirty="0" smtClean="0"/>
              <a:t>w</a:t>
            </a:r>
            <a:r>
              <a:rPr lang="en-US" altLang="zh-TW" sz="2800" baseline="-25000" dirty="0" smtClean="0"/>
              <a:t>2</a:t>
            </a:r>
            <a:r>
              <a:rPr lang="en-US" altLang="zh-TW" sz="2800" dirty="0" smtClean="0"/>
              <a:t>=0.7</a:t>
            </a:r>
          </a:p>
          <a:p>
            <a:pPr algn="just"/>
            <a:endParaRPr lang="zh-TW" altLang="en-US" dirty="0"/>
          </a:p>
        </p:txBody>
      </p:sp>
      <p:sp>
        <p:nvSpPr>
          <p:cNvPr id="5" name="投影片編號版面配置區 4"/>
          <p:cNvSpPr>
            <a:spLocks noGrp="1"/>
          </p:cNvSpPr>
          <p:nvPr>
            <p:ph type="sldNum" sz="quarter" idx="12"/>
          </p:nvPr>
        </p:nvSpPr>
        <p:spPr/>
        <p:txBody>
          <a:bodyPr/>
          <a:lstStyle/>
          <a:p>
            <a:fld id="{C05C51CA-6148-45D0-942B-15AD31083A87}" type="slidenum">
              <a:rPr lang="zh-TW" altLang="en-US" smtClean="0"/>
              <a:pPr/>
              <a:t>6</a:t>
            </a:fld>
            <a:endParaRPr lang="zh-TW" altLang="en-US"/>
          </a:p>
        </p:txBody>
      </p:sp>
      <p:pic>
        <p:nvPicPr>
          <p:cNvPr id="4" name="Picture 2"/>
          <p:cNvPicPr>
            <a:picLocks noChangeAspect="1" noChangeArrowheads="1"/>
          </p:cNvPicPr>
          <p:nvPr/>
        </p:nvPicPr>
        <p:blipFill>
          <a:blip r:embed="rId2" cstate="print"/>
          <a:srcRect/>
          <a:stretch>
            <a:fillRect/>
          </a:stretch>
        </p:blipFill>
        <p:spPr bwMode="auto">
          <a:xfrm>
            <a:off x="0" y="1340768"/>
            <a:ext cx="7920880" cy="714375"/>
          </a:xfrm>
          <a:prstGeom prst="rect">
            <a:avLst/>
          </a:prstGeom>
          <a:noFill/>
          <a:ln w="9525">
            <a:noFill/>
            <a:miter lim="800000"/>
            <a:headEnd/>
            <a:tailEnd/>
          </a:ln>
        </p:spPr>
      </p:pic>
      <p:pic>
        <p:nvPicPr>
          <p:cNvPr id="7" name="Picture 2"/>
          <p:cNvPicPr>
            <a:picLocks noChangeAspect="1" noChangeArrowheads="1"/>
          </p:cNvPicPr>
          <p:nvPr/>
        </p:nvPicPr>
        <p:blipFill>
          <a:blip r:embed="rId3" cstate="print"/>
          <a:srcRect/>
          <a:stretch>
            <a:fillRect/>
          </a:stretch>
        </p:blipFill>
        <p:spPr bwMode="auto">
          <a:xfrm>
            <a:off x="1253380" y="1988840"/>
            <a:ext cx="7890620" cy="71437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Fuzzy rules generation</a:t>
            </a:r>
            <a:endParaRPr lang="zh-TW" altLang="en-US" dirty="0"/>
          </a:p>
        </p:txBody>
      </p:sp>
      <p:pic>
        <p:nvPicPr>
          <p:cNvPr id="5122" name="Picture 2"/>
          <p:cNvPicPr>
            <a:picLocks noChangeAspect="1" noChangeArrowheads="1"/>
          </p:cNvPicPr>
          <p:nvPr/>
        </p:nvPicPr>
        <p:blipFill>
          <a:blip r:embed="rId2" cstate="print"/>
          <a:srcRect/>
          <a:stretch>
            <a:fillRect/>
          </a:stretch>
        </p:blipFill>
        <p:spPr bwMode="auto">
          <a:xfrm>
            <a:off x="0" y="1196752"/>
            <a:ext cx="4271524" cy="3972311"/>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4716016" y="1124744"/>
            <a:ext cx="4227445" cy="3858568"/>
          </a:xfrm>
          <a:prstGeom prst="rect">
            <a:avLst/>
          </a:prstGeom>
          <a:noFill/>
          <a:ln w="9525">
            <a:noFill/>
            <a:miter lim="800000"/>
            <a:headEnd/>
            <a:tailEnd/>
          </a:ln>
        </p:spPr>
      </p:pic>
      <p:sp>
        <p:nvSpPr>
          <p:cNvPr id="7" name="文字方塊 6"/>
          <p:cNvSpPr txBox="1"/>
          <p:nvPr/>
        </p:nvSpPr>
        <p:spPr>
          <a:xfrm>
            <a:off x="611560" y="5661248"/>
            <a:ext cx="7992888" cy="1077218"/>
          </a:xfrm>
          <a:prstGeom prst="rect">
            <a:avLst/>
          </a:prstGeom>
          <a:noFill/>
        </p:spPr>
        <p:txBody>
          <a:bodyPr wrap="square" rtlCol="0">
            <a:spAutoFit/>
          </a:bodyPr>
          <a:lstStyle/>
          <a:p>
            <a:pPr algn="ctr"/>
            <a:r>
              <a:rPr lang="en-US" altLang="zh-TW" sz="3200" dirty="0" smtClean="0"/>
              <a:t>Each attribute is divided into </a:t>
            </a:r>
            <a:r>
              <a:rPr lang="en-US" altLang="zh-TW" sz="3200" i="1" dirty="0" smtClean="0">
                <a:solidFill>
                  <a:srgbClr val="FF0000"/>
                </a:solidFill>
              </a:rPr>
              <a:t>K</a:t>
            </a:r>
            <a:r>
              <a:rPr lang="en-US" altLang="zh-TW" sz="3200" dirty="0" smtClean="0"/>
              <a:t> partitions</a:t>
            </a:r>
          </a:p>
          <a:p>
            <a:pPr algn="ctr"/>
            <a:r>
              <a:rPr lang="en-US" altLang="zh-TW" sz="3200" dirty="0" smtClean="0"/>
              <a:t>There are totally </a:t>
            </a:r>
            <a:r>
              <a:rPr lang="en-US" altLang="zh-TW" sz="3200" i="1" dirty="0" err="1" smtClean="0">
                <a:solidFill>
                  <a:srgbClr val="FF0000"/>
                </a:solidFill>
              </a:rPr>
              <a:t>K</a:t>
            </a:r>
            <a:r>
              <a:rPr lang="en-US" altLang="zh-TW" sz="3200" i="1" baseline="30000" dirty="0" err="1" smtClean="0">
                <a:solidFill>
                  <a:srgbClr val="FF0000"/>
                </a:solidFill>
              </a:rPr>
              <a:t>dim</a:t>
            </a:r>
            <a:r>
              <a:rPr lang="en-US" altLang="zh-TW" sz="3200" dirty="0" smtClean="0"/>
              <a:t> rules!</a:t>
            </a:r>
            <a:endParaRPr lang="zh-TW" altLang="en-US" sz="3200" dirty="0"/>
          </a:p>
        </p:txBody>
      </p:sp>
      <p:sp>
        <p:nvSpPr>
          <p:cNvPr id="11" name="圓角矩形圖說文字 10"/>
          <p:cNvSpPr/>
          <p:nvPr/>
        </p:nvSpPr>
        <p:spPr>
          <a:xfrm>
            <a:off x="3851920" y="5013176"/>
            <a:ext cx="1656184" cy="576064"/>
          </a:xfrm>
          <a:prstGeom prst="wedgeRoundRectCallout">
            <a:avLst>
              <a:gd name="adj1" fmla="val -87161"/>
              <a:gd name="adj2" fmla="val -342244"/>
              <a:gd name="adj3" fmla="val 16667"/>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Each grid is a fuzzy rule</a:t>
            </a:r>
            <a:endParaRPr lang="zh-TW" altLang="en-US" dirty="0">
              <a:solidFill>
                <a:schemeClr val="tx1"/>
              </a:solidFill>
            </a:endParaRPr>
          </a:p>
        </p:txBody>
      </p:sp>
      <p:sp>
        <p:nvSpPr>
          <p:cNvPr id="8" name="文字方塊 7"/>
          <p:cNvSpPr txBox="1"/>
          <p:nvPr/>
        </p:nvSpPr>
        <p:spPr>
          <a:xfrm>
            <a:off x="2339752" y="5301208"/>
            <a:ext cx="792088" cy="461665"/>
          </a:xfrm>
          <a:prstGeom prst="rect">
            <a:avLst/>
          </a:prstGeom>
          <a:noFill/>
        </p:spPr>
        <p:txBody>
          <a:bodyPr wrap="square" rtlCol="0">
            <a:spAutoFit/>
          </a:bodyPr>
          <a:lstStyle/>
          <a:p>
            <a:r>
              <a:rPr lang="en-US" altLang="zh-TW" sz="2400" dirty="0" smtClean="0"/>
              <a:t>K=6</a:t>
            </a:r>
            <a:endParaRPr lang="zh-TW" altLang="en-US" sz="2400" dirty="0"/>
          </a:p>
        </p:txBody>
      </p:sp>
      <p:sp>
        <p:nvSpPr>
          <p:cNvPr id="9" name="文字方塊 8"/>
          <p:cNvSpPr txBox="1"/>
          <p:nvPr/>
        </p:nvSpPr>
        <p:spPr>
          <a:xfrm>
            <a:off x="6300192" y="5229200"/>
            <a:ext cx="792088" cy="461665"/>
          </a:xfrm>
          <a:prstGeom prst="rect">
            <a:avLst/>
          </a:prstGeom>
          <a:noFill/>
        </p:spPr>
        <p:txBody>
          <a:bodyPr wrap="square" rtlCol="0">
            <a:spAutoFit/>
          </a:bodyPr>
          <a:lstStyle/>
          <a:p>
            <a:r>
              <a:rPr lang="en-US" altLang="zh-TW" sz="2400" dirty="0" smtClean="0"/>
              <a:t>K=3</a:t>
            </a:r>
            <a:endParaRPr lang="zh-TW" altLang="en-US" sz="2400" dirty="0"/>
          </a:p>
        </p:txBody>
      </p:sp>
      <p:sp>
        <p:nvSpPr>
          <p:cNvPr id="10" name="投影片編號版面配置區 9"/>
          <p:cNvSpPr>
            <a:spLocks noGrp="1"/>
          </p:cNvSpPr>
          <p:nvPr>
            <p:ph type="sldNum" sz="quarter" idx="12"/>
          </p:nvPr>
        </p:nvSpPr>
        <p:spPr/>
        <p:txBody>
          <a:bodyPr/>
          <a:lstStyle/>
          <a:p>
            <a:fld id="{C05C51CA-6148-45D0-942B-15AD31083A87}" type="slidenum">
              <a:rPr lang="zh-TW" altLang="en-US" smtClean="0"/>
              <a:pPr/>
              <a:t>7</a:t>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67544" y="116632"/>
            <a:ext cx="8229600" cy="1180728"/>
          </a:xfrm>
        </p:spPr>
        <p:txBody>
          <a:bodyPr/>
          <a:lstStyle/>
          <a:p>
            <a:r>
              <a:rPr lang="en-US" altLang="zh-TW" dirty="0" smtClean="0">
                <a:solidFill>
                  <a:srgbClr val="FF0000"/>
                </a:solidFill>
              </a:rPr>
              <a:t>The</a:t>
            </a:r>
            <a:r>
              <a:rPr lang="en-US" altLang="zh-TW" dirty="0" smtClean="0"/>
              <a:t> </a:t>
            </a:r>
            <a:r>
              <a:rPr lang="en-US" altLang="zh-TW" dirty="0" smtClean="0">
                <a:solidFill>
                  <a:srgbClr val="FF0000"/>
                </a:solidFill>
              </a:rPr>
              <a:t>compatibility grade of each pattern </a:t>
            </a:r>
            <a:r>
              <a:rPr lang="en-US" altLang="zh-TW" dirty="0" err="1" smtClean="0">
                <a:solidFill>
                  <a:srgbClr val="FF0000"/>
                </a:solidFill>
              </a:rPr>
              <a:t>x</a:t>
            </a:r>
            <a:r>
              <a:rPr lang="en-US" altLang="zh-TW" i="1" baseline="-25000" dirty="0" err="1" smtClean="0">
                <a:solidFill>
                  <a:srgbClr val="FF0000"/>
                </a:solidFill>
              </a:rPr>
              <a:t>p</a:t>
            </a:r>
            <a:endParaRPr lang="en-US" altLang="zh-TW" i="1" baseline="-25000" dirty="0" smtClean="0">
              <a:solidFill>
                <a:srgbClr val="FF0000"/>
              </a:solidFill>
            </a:endParaRPr>
          </a:p>
        </p:txBody>
      </p:sp>
      <p:pic>
        <p:nvPicPr>
          <p:cNvPr id="1026" name="Picture 2"/>
          <p:cNvPicPr>
            <a:picLocks noChangeAspect="1" noChangeArrowheads="1"/>
          </p:cNvPicPr>
          <p:nvPr/>
        </p:nvPicPr>
        <p:blipFill>
          <a:blip r:embed="rId2" cstate="print"/>
          <a:srcRect/>
          <a:stretch>
            <a:fillRect/>
          </a:stretch>
        </p:blipFill>
        <p:spPr bwMode="auto">
          <a:xfrm>
            <a:off x="1403648" y="836712"/>
            <a:ext cx="6667500" cy="571500"/>
          </a:xfrm>
          <a:prstGeom prst="rect">
            <a:avLst/>
          </a:prstGeom>
          <a:noFill/>
          <a:ln w="9525">
            <a:noFill/>
            <a:miter lim="800000"/>
            <a:headEnd/>
            <a:tailEnd/>
          </a:ln>
        </p:spPr>
      </p:pic>
      <p:sp>
        <p:nvSpPr>
          <p:cNvPr id="7" name="內容版面配置區 2"/>
          <p:cNvSpPr txBox="1">
            <a:spLocks/>
          </p:cNvSpPr>
          <p:nvPr/>
        </p:nvSpPr>
        <p:spPr>
          <a:xfrm>
            <a:off x="395536" y="2348880"/>
            <a:ext cx="8496944" cy="4176464"/>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TW" sz="3200" b="0" i="0" u="none" strike="noStrike" kern="1200" cap="none" spc="0" normalizeH="0" baseline="0" noProof="0" dirty="0" smtClean="0">
                <a:ln>
                  <a:noFill/>
                </a:ln>
                <a:solidFill>
                  <a:srgbClr val="FF0000"/>
                </a:solidFill>
                <a:effectLst/>
                <a:uLnTx/>
                <a:uFillTx/>
                <a:latin typeface="+mn-lt"/>
                <a:ea typeface="+mn-ea"/>
                <a:cs typeface="+mn-cs"/>
              </a:rPr>
              <a:t>Before</a:t>
            </a:r>
            <a:r>
              <a:rPr kumimoji="0" lang="en-US" altLang="zh-TW" sz="3200" b="0" i="0" u="none" strike="noStrike" kern="1200" cap="none" spc="0" normalizeH="0" noProof="0" dirty="0" smtClean="0">
                <a:ln>
                  <a:noFill/>
                </a:ln>
                <a:solidFill>
                  <a:srgbClr val="FF0000"/>
                </a:solidFill>
                <a:effectLst/>
                <a:uLnTx/>
                <a:uFillTx/>
                <a:latin typeface="+mn-lt"/>
                <a:ea typeface="+mn-ea"/>
                <a:cs typeface="+mn-cs"/>
              </a:rPr>
              <a:t> training:</a:t>
            </a:r>
            <a:endParaRPr kumimoji="0" lang="en-US" altLang="zh-TW" sz="3200" b="0" i="0" u="none" strike="noStrike" kern="1200" cap="none" spc="0" normalizeH="0" baseline="0" noProof="0" dirty="0" smtClean="0">
              <a:ln>
                <a:noFill/>
              </a:ln>
              <a:solidFill>
                <a:srgbClr val="FF0000"/>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TW" sz="2800" b="0" i="0" u="none" strike="noStrike" kern="1200" cap="none" spc="0" normalizeH="0" baseline="0" noProof="0" dirty="0" smtClean="0">
                <a:ln>
                  <a:noFill/>
                </a:ln>
                <a:solidFill>
                  <a:schemeClr val="tx1"/>
                </a:solidFill>
                <a:effectLst/>
                <a:uLnTx/>
                <a:uFillTx/>
                <a:latin typeface="+mn-lt"/>
                <a:ea typeface="+mn-ea"/>
                <a:cs typeface="+mn-cs"/>
              </a:rPr>
              <a:t>A</a:t>
            </a:r>
            <a:r>
              <a:rPr kumimoji="0" lang="en-US" altLang="zh-TW" sz="2800" b="0" i="0" u="none" strike="noStrike" kern="1200" cap="none" spc="0" normalizeH="0" baseline="-25000" noProof="0" dirty="0" smtClean="0">
                <a:ln>
                  <a:noFill/>
                </a:ln>
                <a:solidFill>
                  <a:schemeClr val="tx1"/>
                </a:solidFill>
                <a:effectLst/>
                <a:uLnTx/>
                <a:uFillTx/>
                <a:latin typeface="+mn-lt"/>
                <a:ea typeface="+mn-ea"/>
                <a:cs typeface="+mn-cs"/>
              </a:rPr>
              <a:t>1</a:t>
            </a:r>
            <a:r>
              <a:rPr kumimoji="0" lang="en-US" altLang="zh-TW" sz="2800" b="0" i="0" u="none" strike="noStrike" kern="1200" cap="none" spc="0" normalizeH="0" baseline="0" noProof="0" dirty="0" smtClean="0">
                <a:ln>
                  <a:noFill/>
                </a:ln>
                <a:solidFill>
                  <a:schemeClr val="tx1"/>
                </a:solidFill>
                <a:effectLst/>
                <a:uLnTx/>
                <a:uFillTx/>
                <a:latin typeface="+mn-lt"/>
                <a:ea typeface="+mn-ea"/>
                <a:cs typeface="+mn-cs"/>
              </a:rPr>
              <a:t>: height={high, medium, low}</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TW" sz="2800" b="0" i="0" u="none" strike="noStrike" kern="1200" cap="none" spc="0" normalizeH="0" baseline="0" noProof="0" dirty="0" smtClean="0">
                <a:ln>
                  <a:noFill/>
                </a:ln>
                <a:solidFill>
                  <a:schemeClr val="tx1"/>
                </a:solidFill>
                <a:effectLst/>
                <a:uLnTx/>
                <a:uFillTx/>
                <a:latin typeface="+mn-lt"/>
                <a:ea typeface="+mn-ea"/>
                <a:cs typeface="+mn-cs"/>
              </a:rPr>
              <a:t>A</a:t>
            </a:r>
            <a:r>
              <a:rPr kumimoji="0" lang="en-US" altLang="zh-TW" sz="2800" b="0" i="0" u="none" strike="noStrike" kern="1200" cap="none" spc="0" normalizeH="0" baseline="-25000" noProof="0" dirty="0" smtClean="0">
                <a:ln>
                  <a:noFill/>
                </a:ln>
                <a:solidFill>
                  <a:schemeClr val="tx1"/>
                </a:solidFill>
                <a:effectLst/>
                <a:uLnTx/>
                <a:uFillTx/>
                <a:latin typeface="+mn-lt"/>
                <a:ea typeface="+mn-ea"/>
                <a:cs typeface="+mn-cs"/>
              </a:rPr>
              <a:t>2</a:t>
            </a:r>
            <a:r>
              <a:rPr kumimoji="0" lang="en-US" altLang="zh-TW" sz="2800" b="0" i="0" u="none" strike="noStrike" kern="1200" cap="none" spc="0" normalizeH="0" baseline="0" noProof="0" dirty="0" smtClean="0">
                <a:ln>
                  <a:noFill/>
                </a:ln>
                <a:solidFill>
                  <a:schemeClr val="tx1"/>
                </a:solidFill>
                <a:effectLst/>
                <a:uLnTx/>
                <a:uFillTx/>
                <a:latin typeface="+mn-lt"/>
                <a:ea typeface="+mn-ea"/>
                <a:cs typeface="+mn-cs"/>
              </a:rPr>
              <a:t>: weight={heavy, middle, light}</a:t>
            </a:r>
          </a:p>
          <a:p>
            <a:pPr marL="342900" indent="-342900" algn="just">
              <a:spcBef>
                <a:spcPct val="20000"/>
              </a:spcBef>
              <a:buFont typeface="Arial" pitchFamily="34" charset="0"/>
              <a:buChar char="•"/>
            </a:pPr>
            <a:r>
              <a:rPr lang="en-US" altLang="zh-TW" sz="2800" dirty="0" smtClean="0"/>
              <a:t>R</a:t>
            </a:r>
            <a:r>
              <a:rPr lang="en-US" altLang="zh-TW" sz="2800" baseline="-25000" dirty="0" smtClean="0"/>
              <a:t>1</a:t>
            </a:r>
            <a:r>
              <a:rPr lang="en-US" altLang="zh-TW" sz="2800" dirty="0" smtClean="0"/>
              <a:t>: </a:t>
            </a:r>
            <a:r>
              <a:rPr lang="en-US" altLang="zh-TW" sz="2800" dirty="0" smtClean="0">
                <a:solidFill>
                  <a:srgbClr val="00B0F0"/>
                </a:solidFill>
              </a:rPr>
              <a:t>If </a:t>
            </a:r>
            <a:r>
              <a:rPr lang="en-US" altLang="zh-TW" sz="2800" i="1" dirty="0" smtClean="0">
                <a:solidFill>
                  <a:srgbClr val="00B0F0"/>
                </a:solidFill>
              </a:rPr>
              <a:t>x</a:t>
            </a:r>
            <a:r>
              <a:rPr lang="en-US" altLang="zh-TW" sz="2800" baseline="-25000" dirty="0" smtClean="0">
                <a:solidFill>
                  <a:srgbClr val="00B0F0"/>
                </a:solidFill>
              </a:rPr>
              <a:t>1</a:t>
            </a:r>
            <a:r>
              <a:rPr lang="en-US" altLang="zh-TW" sz="2800" dirty="0" smtClean="0">
                <a:solidFill>
                  <a:srgbClr val="00B0F0"/>
                </a:solidFill>
              </a:rPr>
              <a:t> is high </a:t>
            </a:r>
            <a:r>
              <a:rPr lang="en-US" altLang="zh-TW" sz="2800" dirty="0" smtClean="0"/>
              <a:t>and </a:t>
            </a:r>
            <a:r>
              <a:rPr lang="en-US" altLang="zh-TW" sz="2800" i="1" dirty="0" smtClean="0">
                <a:solidFill>
                  <a:srgbClr val="00B0F0"/>
                </a:solidFill>
              </a:rPr>
              <a:t>x</a:t>
            </a:r>
            <a:r>
              <a:rPr lang="en-US" altLang="zh-TW" sz="2800" baseline="-25000" dirty="0" smtClean="0">
                <a:solidFill>
                  <a:srgbClr val="00B0F0"/>
                </a:solidFill>
              </a:rPr>
              <a:t>2</a:t>
            </a:r>
            <a:r>
              <a:rPr lang="en-US" altLang="zh-TW" sz="2800" dirty="0" smtClean="0">
                <a:solidFill>
                  <a:srgbClr val="00B0F0"/>
                </a:solidFill>
              </a:rPr>
              <a:t> is middle </a:t>
            </a:r>
            <a:r>
              <a:rPr lang="en-US" altLang="zh-TW" sz="2800" dirty="0" smtClean="0"/>
              <a:t>then </a:t>
            </a:r>
            <a:r>
              <a:rPr lang="en-US" altLang="zh-TW" sz="2800" dirty="0" smtClean="0">
                <a:solidFill>
                  <a:srgbClr val="FF0000"/>
                </a:solidFill>
              </a:rPr>
              <a:t>Class</a:t>
            </a:r>
            <a:r>
              <a:rPr lang="en-US" altLang="zh-TW" sz="2800" baseline="-25000" dirty="0" smtClean="0">
                <a:solidFill>
                  <a:srgbClr val="FF0000"/>
                </a:solidFill>
              </a:rPr>
              <a:t>1</a:t>
            </a:r>
            <a:r>
              <a:rPr lang="en-US" altLang="zh-TW" sz="2800" dirty="0" smtClean="0"/>
              <a:t> with </a:t>
            </a:r>
            <a:r>
              <a:rPr lang="en-US" altLang="zh-TW" sz="2800" i="1" dirty="0" smtClean="0">
                <a:solidFill>
                  <a:srgbClr val="FF0000"/>
                </a:solidFill>
              </a:rPr>
              <a:t>w</a:t>
            </a:r>
            <a:r>
              <a:rPr lang="en-US" altLang="zh-TW" sz="2800" baseline="-25000" dirty="0" smtClean="0">
                <a:solidFill>
                  <a:srgbClr val="FF0000"/>
                </a:solidFill>
              </a:rPr>
              <a:t>1</a:t>
            </a:r>
            <a:endParaRPr lang="en-US" altLang="zh-TW" sz="2800" dirty="0" smtClean="0">
              <a:solidFill>
                <a:srgbClr val="FF0000"/>
              </a:solidFill>
            </a:endParaRPr>
          </a:p>
          <a:p>
            <a:pPr marL="342900" indent="-342900" algn="just">
              <a:spcBef>
                <a:spcPct val="20000"/>
              </a:spcBef>
              <a:buFont typeface="Arial" pitchFamily="34" charset="0"/>
              <a:buChar char="•"/>
            </a:pPr>
            <a:r>
              <a:rPr lang="en-US" altLang="zh-TW" sz="2800" dirty="0" smtClean="0"/>
              <a:t>R</a:t>
            </a:r>
            <a:r>
              <a:rPr lang="en-US" altLang="zh-TW" sz="2800" baseline="-25000" dirty="0" smtClean="0"/>
              <a:t>2</a:t>
            </a:r>
            <a:r>
              <a:rPr lang="en-US" altLang="zh-TW" sz="2800" dirty="0" smtClean="0"/>
              <a:t>: if </a:t>
            </a:r>
            <a:r>
              <a:rPr lang="en-US" altLang="zh-TW" sz="2800" i="1" dirty="0" smtClean="0">
                <a:solidFill>
                  <a:srgbClr val="00B0F0"/>
                </a:solidFill>
              </a:rPr>
              <a:t>x</a:t>
            </a:r>
            <a:r>
              <a:rPr lang="en-US" altLang="zh-TW" sz="2800" baseline="-25000" dirty="0" smtClean="0">
                <a:solidFill>
                  <a:srgbClr val="00B0F0"/>
                </a:solidFill>
              </a:rPr>
              <a:t>1</a:t>
            </a:r>
            <a:r>
              <a:rPr lang="en-US" altLang="zh-TW" sz="2800" dirty="0" smtClean="0">
                <a:solidFill>
                  <a:srgbClr val="00B0F0"/>
                </a:solidFill>
              </a:rPr>
              <a:t> is high </a:t>
            </a:r>
            <a:r>
              <a:rPr lang="en-US" altLang="zh-TW" sz="2800" dirty="0" smtClean="0"/>
              <a:t>and </a:t>
            </a:r>
            <a:r>
              <a:rPr lang="en-US" altLang="zh-TW" sz="2800" i="1" dirty="0" smtClean="0">
                <a:solidFill>
                  <a:srgbClr val="00B0F0"/>
                </a:solidFill>
              </a:rPr>
              <a:t>x</a:t>
            </a:r>
            <a:r>
              <a:rPr lang="en-US" altLang="zh-TW" sz="2800" baseline="-25000" dirty="0" smtClean="0">
                <a:solidFill>
                  <a:srgbClr val="00B0F0"/>
                </a:solidFill>
              </a:rPr>
              <a:t>2</a:t>
            </a:r>
            <a:r>
              <a:rPr lang="en-US" altLang="zh-TW" sz="2800" dirty="0" smtClean="0">
                <a:solidFill>
                  <a:srgbClr val="00B0F0"/>
                </a:solidFill>
              </a:rPr>
              <a:t> is light </a:t>
            </a:r>
            <a:r>
              <a:rPr lang="en-US" altLang="zh-TW" sz="2800" dirty="0" smtClean="0"/>
              <a:t>then </a:t>
            </a:r>
            <a:r>
              <a:rPr lang="en-US" altLang="zh-TW" sz="2800" dirty="0" smtClean="0">
                <a:solidFill>
                  <a:srgbClr val="FF0000"/>
                </a:solidFill>
              </a:rPr>
              <a:t>Class</a:t>
            </a:r>
            <a:r>
              <a:rPr lang="en-US" altLang="zh-TW" sz="2800" baseline="-25000" dirty="0" smtClean="0">
                <a:solidFill>
                  <a:srgbClr val="FF0000"/>
                </a:solidFill>
              </a:rPr>
              <a:t>2</a:t>
            </a:r>
            <a:r>
              <a:rPr lang="en-US" altLang="zh-TW" sz="2800" dirty="0" smtClean="0"/>
              <a:t> with </a:t>
            </a:r>
            <a:r>
              <a:rPr lang="en-US" altLang="zh-TW" sz="2800" i="1" dirty="0" smtClean="0">
                <a:solidFill>
                  <a:srgbClr val="FF0000"/>
                </a:solidFill>
              </a:rPr>
              <a:t>w</a:t>
            </a:r>
            <a:r>
              <a:rPr lang="en-US" altLang="zh-TW" sz="2800" baseline="-25000" dirty="0" smtClean="0">
                <a:solidFill>
                  <a:srgbClr val="FF0000"/>
                </a:solidFill>
              </a:rPr>
              <a:t>2</a:t>
            </a:r>
          </a:p>
          <a:p>
            <a:pPr marL="342900" indent="-342900" algn="just">
              <a:spcBef>
                <a:spcPct val="20000"/>
              </a:spcBef>
              <a:buFont typeface="Arial" pitchFamily="34" charset="0"/>
              <a:buChar char="•"/>
            </a:pPr>
            <a:r>
              <a:rPr lang="en-US" altLang="zh-TW" sz="2800" dirty="0">
                <a:solidFill>
                  <a:schemeClr val="accent4">
                    <a:lumMod val="50000"/>
                  </a:schemeClr>
                </a:solidFill>
              </a:rPr>
              <a:t>…</a:t>
            </a:r>
          </a:p>
          <a:p>
            <a:pPr marL="342900" indent="-342900" algn="just">
              <a:spcBef>
                <a:spcPct val="20000"/>
              </a:spcBef>
              <a:buFont typeface="Arial" pitchFamily="34" charset="0"/>
              <a:buChar char="•"/>
            </a:pPr>
            <a:r>
              <a:rPr lang="en-US" altLang="zh-TW" sz="2800" dirty="0">
                <a:solidFill>
                  <a:schemeClr val="accent4">
                    <a:lumMod val="50000"/>
                  </a:schemeClr>
                </a:solidFill>
                <a:latin typeface="微軟正黑體" pitchFamily="34" charset="-120"/>
                <a:ea typeface="微軟正黑體" pitchFamily="34" charset="-120"/>
              </a:rPr>
              <a:t>(</a:t>
            </a:r>
            <a:r>
              <a:rPr lang="en-US" altLang="zh-TW" sz="2800" dirty="0" err="1" smtClean="0">
                <a:solidFill>
                  <a:schemeClr val="accent4">
                    <a:lumMod val="50000"/>
                  </a:schemeClr>
                </a:solidFill>
                <a:latin typeface="微軟正黑體" pitchFamily="34" charset="-120"/>
                <a:ea typeface="微軟正黑體" pitchFamily="34" charset="-120"/>
              </a:rPr>
              <a:t>總共有</a:t>
            </a:r>
            <a:r>
              <a:rPr lang="en-US" altLang="zh-TW" sz="2800" dirty="0" smtClean="0">
                <a:solidFill>
                  <a:schemeClr val="accent4">
                    <a:lumMod val="50000"/>
                  </a:schemeClr>
                </a:solidFill>
                <a:latin typeface="微軟正黑體" pitchFamily="34" charset="-120"/>
                <a:ea typeface="微軟正黑體" pitchFamily="34" charset="-120"/>
              </a:rPr>
              <a:t>|</a:t>
            </a:r>
            <a:r>
              <a:rPr lang="en-US" altLang="zh-TW" sz="2800" dirty="0" smtClean="0">
                <a:latin typeface="微軟正黑體" pitchFamily="34" charset="-120"/>
                <a:ea typeface="微軟正黑體" pitchFamily="34" charset="-120"/>
              </a:rPr>
              <a:t> </a:t>
            </a:r>
            <a:r>
              <a:rPr lang="en-US" altLang="zh-TW" sz="2800" dirty="0" smtClean="0">
                <a:latin typeface="微軟正黑體" pitchFamily="34" charset="-120"/>
                <a:ea typeface="微軟正黑體" pitchFamily="34" charset="-120"/>
              </a:rPr>
              <a:t>A</a:t>
            </a:r>
            <a:r>
              <a:rPr lang="en-US" altLang="zh-TW" sz="2800" baseline="-25000" dirty="0" smtClean="0">
                <a:latin typeface="微軟正黑體" pitchFamily="34" charset="-120"/>
                <a:ea typeface="微軟正黑體" pitchFamily="34" charset="-120"/>
              </a:rPr>
              <a:t>1 </a:t>
            </a:r>
            <a:r>
              <a:rPr lang="en-US" altLang="zh-TW" sz="2800" dirty="0" smtClean="0">
                <a:solidFill>
                  <a:schemeClr val="accent4">
                    <a:lumMod val="50000"/>
                  </a:schemeClr>
                </a:solidFill>
                <a:latin typeface="微軟正黑體" pitchFamily="34" charset="-120"/>
                <a:ea typeface="微軟正黑體" pitchFamily="34" charset="-120"/>
              </a:rPr>
              <a:t>|*|A</a:t>
            </a:r>
            <a:r>
              <a:rPr lang="en-US" altLang="zh-TW" sz="2800" baseline="-25000" dirty="0" smtClean="0">
                <a:solidFill>
                  <a:schemeClr val="accent4">
                    <a:lumMod val="50000"/>
                  </a:schemeClr>
                </a:solidFill>
                <a:latin typeface="微軟正黑體" pitchFamily="34" charset="-120"/>
                <a:ea typeface="微軟正黑體" pitchFamily="34" charset="-120"/>
              </a:rPr>
              <a:t>2</a:t>
            </a:r>
            <a:r>
              <a:rPr lang="en-US" altLang="zh-TW" sz="2800" dirty="0" smtClean="0">
                <a:solidFill>
                  <a:schemeClr val="accent4">
                    <a:lumMod val="50000"/>
                  </a:schemeClr>
                </a:solidFill>
                <a:latin typeface="微軟正黑體" pitchFamily="34" charset="-120"/>
                <a:ea typeface="微軟正黑體" pitchFamily="34" charset="-120"/>
              </a:rPr>
              <a:t>|=3*3=9</a:t>
            </a:r>
            <a:r>
              <a:rPr lang="en-US" altLang="zh-TW" sz="2800" dirty="0">
                <a:solidFill>
                  <a:schemeClr val="accent4">
                    <a:lumMod val="50000"/>
                  </a:schemeClr>
                </a:solidFill>
                <a:latin typeface="微軟正黑體" pitchFamily="34" charset="-120"/>
                <a:ea typeface="微軟正黑體" pitchFamily="34" charset="-120"/>
              </a:rPr>
              <a:t>條rules</a:t>
            </a:r>
            <a:r>
              <a:rPr lang="en-US" altLang="zh-TW" sz="2800" dirty="0" smtClean="0">
                <a:solidFill>
                  <a:schemeClr val="accent4">
                    <a:lumMod val="50000"/>
                  </a:schemeClr>
                </a:solidFill>
                <a:latin typeface="微軟正黑體" pitchFamily="34" charset="-120"/>
                <a:ea typeface="微軟正黑體" pitchFamily="34" charset="-120"/>
              </a:rPr>
              <a:t>)</a:t>
            </a:r>
          </a:p>
          <a:p>
            <a:pPr marL="342900" indent="-342900" algn="just">
              <a:spcBef>
                <a:spcPct val="20000"/>
              </a:spcBef>
              <a:buFont typeface="Arial" pitchFamily="34" charset="0"/>
              <a:buChar char="•"/>
            </a:pPr>
            <a:r>
              <a:rPr lang="en-US" altLang="zh-TW" sz="2800" dirty="0" smtClean="0">
                <a:solidFill>
                  <a:srgbClr val="0070C0"/>
                </a:solidFill>
                <a:latin typeface="微軟正黑體" pitchFamily="34" charset="-120"/>
                <a:ea typeface="微軟正黑體" pitchFamily="34" charset="-120"/>
              </a:rPr>
              <a:t>Using labeled data to train fuzzy rule systems</a:t>
            </a:r>
            <a:endParaRPr lang="en-US" altLang="zh-TW" sz="2800" dirty="0">
              <a:solidFill>
                <a:srgbClr val="0070C0"/>
              </a:solidFill>
              <a:latin typeface="微軟正黑體" pitchFamily="34" charset="-120"/>
              <a:ea typeface="微軟正黑體" pitchFamily="34" charset="-120"/>
            </a:endParaRPr>
          </a:p>
          <a:p>
            <a:pPr marL="342900" marR="0" lvl="0" indent="-342900" algn="l" defTabSz="914400" rtl="0" eaLnBrk="1" fontAlgn="auto" latinLnBrk="0" hangingPunct="1">
              <a:lnSpc>
                <a:spcPct val="100000"/>
              </a:lnSpc>
              <a:spcBef>
                <a:spcPct val="20000"/>
              </a:spcBef>
              <a:spcAft>
                <a:spcPts val="0"/>
              </a:spcAft>
              <a:buClrTx/>
              <a:buSzTx/>
              <a:tabLst/>
              <a:defRPr/>
            </a:pPr>
            <a:endParaRPr lang="en-US" altLang="zh-TW" sz="28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TW"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zh-TW" alt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投影片編號版面配置區 7"/>
          <p:cNvSpPr>
            <a:spLocks noGrp="1"/>
          </p:cNvSpPr>
          <p:nvPr>
            <p:ph type="sldNum" sz="quarter" idx="12"/>
          </p:nvPr>
        </p:nvSpPr>
        <p:spPr/>
        <p:txBody>
          <a:bodyPr/>
          <a:lstStyle/>
          <a:p>
            <a:fld id="{C05C51CA-6148-45D0-942B-15AD31083A87}" type="slidenum">
              <a:rPr lang="zh-TW" altLang="en-US" smtClean="0"/>
              <a:pPr/>
              <a:t>8</a:t>
            </a:fld>
            <a:endParaRPr lang="zh-TW" altLang="en-US"/>
          </a:p>
        </p:txBody>
      </p:sp>
      <p:sp>
        <p:nvSpPr>
          <p:cNvPr id="9" name="文字方塊 8"/>
          <p:cNvSpPr txBox="1"/>
          <p:nvPr/>
        </p:nvSpPr>
        <p:spPr>
          <a:xfrm>
            <a:off x="1475656" y="1556792"/>
            <a:ext cx="6624736" cy="369332"/>
          </a:xfrm>
          <a:prstGeom prst="rect">
            <a:avLst/>
          </a:prstGeom>
          <a:noFill/>
        </p:spPr>
        <p:txBody>
          <a:bodyPr wrap="square" rtlCol="0">
            <a:spAutoFit/>
          </a:bodyPr>
          <a:lstStyle/>
          <a:p>
            <a:pPr algn="ctr"/>
            <a:r>
              <a:rPr lang="en-US" altLang="zh-TW" dirty="0" smtClean="0">
                <a:solidFill>
                  <a:srgbClr val="0070C0"/>
                </a:solidFill>
                <a:latin typeface="微軟正黑體" pitchFamily="34" charset="-120"/>
                <a:ea typeface="微軟正黑體" pitchFamily="34" charset="-120"/>
              </a:rPr>
              <a:t>(</a:t>
            </a:r>
            <a:r>
              <a:rPr lang="en-US" altLang="zh-TW" i="1" dirty="0" err="1" smtClean="0">
                <a:solidFill>
                  <a:srgbClr val="0070C0"/>
                </a:solidFill>
                <a:latin typeface="微軟正黑體" pitchFamily="34" charset="-120"/>
                <a:ea typeface="微軟正黑體" pitchFamily="34" charset="-120"/>
              </a:rPr>
              <a:t>X</a:t>
            </a:r>
            <a:r>
              <a:rPr lang="en-US" altLang="zh-TW" i="1" baseline="-25000" dirty="0" err="1" smtClean="0">
                <a:solidFill>
                  <a:srgbClr val="0070C0"/>
                </a:solidFill>
                <a:latin typeface="微軟正黑體" pitchFamily="34" charset="-120"/>
                <a:ea typeface="微軟正黑體" pitchFamily="34" charset="-120"/>
              </a:rPr>
              <a:t>p</a:t>
            </a:r>
            <a:r>
              <a:rPr lang="en-US" altLang="zh-TW" dirty="0" err="1" smtClean="0">
                <a:solidFill>
                  <a:srgbClr val="0070C0"/>
                </a:solidFill>
                <a:latin typeface="微軟正黑體" pitchFamily="34" charset="-120"/>
                <a:ea typeface="微軟正黑體" pitchFamily="34" charset="-120"/>
              </a:rPr>
              <a:t>近似某一條rule</a:t>
            </a:r>
            <a:r>
              <a:rPr lang="zh-TW" altLang="en-US" dirty="0" smtClean="0">
                <a:solidFill>
                  <a:srgbClr val="0070C0"/>
                </a:solidFill>
                <a:latin typeface="微軟正黑體" pitchFamily="34" charset="-120"/>
                <a:ea typeface="微軟正黑體" pitchFamily="34" charset="-120"/>
              </a:rPr>
              <a:t>敘述的程度</a:t>
            </a:r>
            <a:r>
              <a:rPr lang="en-US" altLang="zh-TW" dirty="0" smtClean="0">
                <a:solidFill>
                  <a:srgbClr val="0070C0"/>
                </a:solidFill>
                <a:latin typeface="微軟正黑體" pitchFamily="34" charset="-120"/>
                <a:ea typeface="微軟正黑體" pitchFamily="34" charset="-120"/>
              </a:rPr>
              <a:t>,  </a:t>
            </a:r>
            <a:r>
              <a:rPr lang="en-US" altLang="zh-TW" dirty="0" err="1" smtClean="0">
                <a:solidFill>
                  <a:srgbClr val="0070C0"/>
                </a:solidFill>
                <a:latin typeface="微軟正黑體" pitchFamily="34" charset="-120"/>
                <a:ea typeface="微軟正黑體" pitchFamily="34" charset="-120"/>
              </a:rPr>
              <a:t>此時rule的class與w之值仍未知</a:t>
            </a:r>
            <a:r>
              <a:rPr lang="en-US" altLang="zh-TW" dirty="0" smtClean="0">
                <a:solidFill>
                  <a:srgbClr val="0070C0"/>
                </a:solidFill>
                <a:latin typeface="微軟正黑體" pitchFamily="34" charset="-120"/>
                <a:ea typeface="微軟正黑體" pitchFamily="34" charset="-120"/>
              </a:rPr>
              <a:t>)</a:t>
            </a:r>
            <a:endParaRPr lang="zh-TW" altLang="en-US" dirty="0">
              <a:solidFill>
                <a:srgbClr val="0070C0"/>
              </a:solidFill>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79512" y="274638"/>
            <a:ext cx="8784976" cy="1143000"/>
          </a:xfrm>
        </p:spPr>
        <p:txBody>
          <a:bodyPr>
            <a:normAutofit/>
          </a:bodyPr>
          <a:lstStyle/>
          <a:p>
            <a:r>
              <a:rPr lang="en-US" altLang="zh-TW" dirty="0" smtClean="0">
                <a:solidFill>
                  <a:schemeClr val="accent4">
                    <a:lumMod val="50000"/>
                  </a:schemeClr>
                </a:solidFill>
              </a:rPr>
              <a:t>Training the fuzzy rules </a:t>
            </a:r>
            <a:endParaRPr lang="zh-TW" altLang="en-US" dirty="0">
              <a:solidFill>
                <a:schemeClr val="accent4">
                  <a:lumMod val="50000"/>
                </a:schemeClr>
              </a:solidFill>
            </a:endParaRPr>
          </a:p>
        </p:txBody>
      </p:sp>
      <p:sp>
        <p:nvSpPr>
          <p:cNvPr id="3" name="內容版面配置區 2"/>
          <p:cNvSpPr>
            <a:spLocks noGrp="1"/>
          </p:cNvSpPr>
          <p:nvPr>
            <p:ph idx="1"/>
          </p:nvPr>
        </p:nvSpPr>
        <p:spPr>
          <a:xfrm>
            <a:off x="107504" y="1484784"/>
            <a:ext cx="8856984" cy="4896544"/>
          </a:xfrm>
        </p:spPr>
        <p:txBody>
          <a:bodyPr>
            <a:normAutofit fontScale="55000" lnSpcReduction="20000"/>
          </a:bodyPr>
          <a:lstStyle/>
          <a:p>
            <a:pPr lvl="0" algn="just">
              <a:defRPr/>
            </a:pPr>
            <a:r>
              <a:rPr lang="en-US" altLang="zh-TW" sz="5100" dirty="0" smtClean="0">
                <a:solidFill>
                  <a:srgbClr val="FF0000"/>
                </a:solidFill>
              </a:rPr>
              <a:t>Training example:</a:t>
            </a:r>
          </a:p>
          <a:p>
            <a:pPr lvl="0" algn="just">
              <a:defRPr/>
            </a:pPr>
            <a:r>
              <a:rPr lang="en-US" altLang="zh-TW" sz="5100" dirty="0" smtClean="0"/>
              <a:t>Jack </a:t>
            </a:r>
            <a:r>
              <a:rPr lang="en-US" altLang="zh-TW" sz="5100" dirty="0"/>
              <a:t>=(</a:t>
            </a:r>
            <a:r>
              <a:rPr lang="en-US" altLang="zh-TW" sz="5100" dirty="0" smtClean="0"/>
              <a:t>height: 180cm</a:t>
            </a:r>
            <a:r>
              <a:rPr lang="en-US" altLang="zh-TW" sz="5100" dirty="0"/>
              <a:t>, </a:t>
            </a:r>
            <a:r>
              <a:rPr lang="en-US" altLang="zh-TW" sz="5100" dirty="0" smtClean="0"/>
              <a:t>weight: 70kg</a:t>
            </a:r>
            <a:r>
              <a:rPr lang="en-US" altLang="zh-TW" sz="5100" dirty="0"/>
              <a:t>, </a:t>
            </a:r>
            <a:r>
              <a:rPr lang="en-US" altLang="zh-TW" sz="5100" dirty="0" smtClean="0"/>
              <a:t>class: boxer)</a:t>
            </a:r>
            <a:endParaRPr lang="en-US" altLang="zh-TW" sz="5100" dirty="0"/>
          </a:p>
          <a:p>
            <a:pPr lvl="0">
              <a:defRPr/>
            </a:pPr>
            <a:r>
              <a:rPr lang="en-US" altLang="zh-TW" sz="5100" dirty="0"/>
              <a:t>        =&gt;{{0.8/high,  0.4/medium}, {0.9/middle, 0.3/light}}</a:t>
            </a:r>
          </a:p>
          <a:p>
            <a:pPr lvl="0">
              <a:defRPr/>
            </a:pPr>
            <a:r>
              <a:rPr lang="el-GR" altLang="zh-TW" sz="5100" dirty="0"/>
              <a:t>μ</a:t>
            </a:r>
            <a:r>
              <a:rPr lang="en-US" altLang="zh-TW" sz="5100" baseline="-25000" dirty="0"/>
              <a:t>1</a:t>
            </a:r>
            <a:r>
              <a:rPr lang="en-US" altLang="zh-TW" sz="5100" dirty="0"/>
              <a:t>(Jack) = 0.8 * 0.9 = </a:t>
            </a:r>
            <a:r>
              <a:rPr lang="en-US" altLang="zh-TW" sz="5100" dirty="0">
                <a:solidFill>
                  <a:srgbClr val="0070C0"/>
                </a:solidFill>
              </a:rPr>
              <a:t>0.72 </a:t>
            </a:r>
            <a:r>
              <a:rPr lang="en-US" altLang="zh-TW" sz="5100" dirty="0" smtClean="0"/>
              <a:t>(the highest, </a:t>
            </a:r>
            <a:r>
              <a:rPr lang="en-US" altLang="zh-TW" sz="5100" dirty="0" smtClean="0">
                <a:solidFill>
                  <a:srgbClr val="FF0000"/>
                </a:solidFill>
              </a:rPr>
              <a:t>class</a:t>
            </a:r>
            <a:r>
              <a:rPr lang="en-US" altLang="zh-TW" sz="5100" baseline="-25000" dirty="0" smtClean="0">
                <a:solidFill>
                  <a:srgbClr val="FF0000"/>
                </a:solidFill>
              </a:rPr>
              <a:t>1</a:t>
            </a:r>
            <a:r>
              <a:rPr lang="en-US" altLang="zh-TW" sz="5100" dirty="0" smtClean="0">
                <a:solidFill>
                  <a:srgbClr val="FF0000"/>
                </a:solidFill>
              </a:rPr>
              <a:t>=boxer</a:t>
            </a:r>
            <a:r>
              <a:rPr lang="en-US" altLang="zh-TW" sz="5100" dirty="0" smtClean="0"/>
              <a:t>)</a:t>
            </a:r>
            <a:endParaRPr lang="en-US" altLang="zh-TW" sz="5100" dirty="0"/>
          </a:p>
          <a:p>
            <a:pPr lvl="0">
              <a:defRPr/>
            </a:pPr>
            <a:r>
              <a:rPr lang="el-GR" altLang="zh-TW" sz="5100" dirty="0"/>
              <a:t>μ</a:t>
            </a:r>
            <a:r>
              <a:rPr lang="en-US" altLang="zh-TW" sz="5100" baseline="-25000" dirty="0"/>
              <a:t>2</a:t>
            </a:r>
            <a:r>
              <a:rPr lang="en-US" altLang="zh-TW" sz="5100" dirty="0"/>
              <a:t>(Jack) = 0.8* 0.3 = </a:t>
            </a:r>
            <a:r>
              <a:rPr lang="en-US" altLang="zh-TW" sz="5100" dirty="0" smtClean="0">
                <a:solidFill>
                  <a:srgbClr val="0070C0"/>
                </a:solidFill>
              </a:rPr>
              <a:t>0.24</a:t>
            </a:r>
          </a:p>
          <a:p>
            <a:pPr lvl="0">
              <a:defRPr/>
            </a:pPr>
            <a:r>
              <a:rPr lang="en-US" altLang="zh-TW" sz="5100" dirty="0" smtClean="0"/>
              <a:t>…</a:t>
            </a:r>
          </a:p>
          <a:p>
            <a:pPr lvl="0">
              <a:lnSpc>
                <a:spcPct val="140000"/>
              </a:lnSpc>
              <a:defRPr/>
            </a:pPr>
            <a:r>
              <a:rPr lang="zh-TW" altLang="en-US" sz="5100" dirty="0" smtClean="0">
                <a:latin typeface="微軟正黑體" pitchFamily="34" charset="-120"/>
                <a:ea typeface="微軟正黑體" pitchFamily="34" charset="-120"/>
              </a:rPr>
              <a:t>每個</a:t>
            </a:r>
            <a:r>
              <a:rPr lang="en-US" altLang="zh-TW" sz="5100" dirty="0" err="1" smtClean="0">
                <a:latin typeface="微軟正黑體" pitchFamily="34" charset="-120"/>
                <a:ea typeface="微軟正黑體" pitchFamily="34" charset="-120"/>
              </a:rPr>
              <a:t>instance都</a:t>
            </a:r>
            <a:r>
              <a:rPr lang="zh-TW" altLang="en-US" sz="5100" dirty="0" smtClean="0">
                <a:latin typeface="微軟正黑體" pitchFamily="34" charset="-120"/>
                <a:ea typeface="微軟正黑體" pitchFamily="34" charset="-120"/>
              </a:rPr>
              <a:t>會產生</a:t>
            </a:r>
            <a:r>
              <a:rPr lang="en-US" altLang="zh-TW" sz="5100" dirty="0" smtClean="0">
                <a:latin typeface="微軟正黑體" pitchFamily="34" charset="-120"/>
                <a:ea typeface="微軟正黑體" pitchFamily="34" charset="-120"/>
              </a:rPr>
              <a:t>3*3=9 個 </a:t>
            </a:r>
            <a:r>
              <a:rPr lang="en-US" altLang="zh-TW" sz="5100" dirty="0" smtClean="0"/>
              <a:t>compatibility grade</a:t>
            </a:r>
            <a:endParaRPr lang="en-US" altLang="zh-TW" sz="5100" dirty="0" smtClean="0">
              <a:latin typeface="微軟正黑體" pitchFamily="34" charset="-120"/>
              <a:ea typeface="微軟正黑體" pitchFamily="34" charset="-120"/>
            </a:endParaRPr>
          </a:p>
          <a:p>
            <a:pPr lvl="0">
              <a:lnSpc>
                <a:spcPct val="140000"/>
              </a:lnSpc>
              <a:defRPr/>
            </a:pPr>
            <a:r>
              <a:rPr lang="el-GR" altLang="zh-TW" sz="5100" dirty="0" smtClean="0"/>
              <a:t>μ </a:t>
            </a:r>
            <a:r>
              <a:rPr lang="en-US" altLang="zh-TW" sz="5100" dirty="0" err="1" smtClean="0">
                <a:latin typeface="微軟正黑體" pitchFamily="34" charset="-120"/>
                <a:ea typeface="微軟正黑體" pitchFamily="34" charset="-120"/>
              </a:rPr>
              <a:t>值最高的rule</a:t>
            </a:r>
            <a:r>
              <a:rPr lang="zh-TW" altLang="en-US" sz="5100" dirty="0" smtClean="0">
                <a:latin typeface="微軟正黑體" pitchFamily="34" charset="-120"/>
                <a:ea typeface="微軟正黑體" pitchFamily="34" charset="-120"/>
              </a:rPr>
              <a:t>表示</a:t>
            </a:r>
            <a:r>
              <a:rPr lang="en-US" altLang="zh-TW" sz="5100" dirty="0" err="1" smtClean="0">
                <a:latin typeface="微軟正黑體" pitchFamily="34" charset="-120"/>
                <a:ea typeface="微軟正黑體" pitchFamily="34" charset="-120"/>
              </a:rPr>
              <a:t>該rule將此instance分類正確的可能性越高，因此該rule的class</a:t>
            </a:r>
            <a:r>
              <a:rPr lang="en-US" altLang="zh-TW" sz="5100" dirty="0" err="1" smtClean="0">
                <a:latin typeface="微軟正黑體" pitchFamily="34" charset="-120"/>
                <a:ea typeface="微軟正黑體" pitchFamily="34" charset="-120"/>
              </a:rPr>
              <a:t>可能為</a:t>
            </a:r>
            <a:r>
              <a:rPr lang="en-US" altLang="zh-TW" sz="5100" dirty="0" err="1" smtClean="0">
                <a:latin typeface="微軟正黑體" pitchFamily="34" charset="-120"/>
                <a:ea typeface="微軟正黑體" pitchFamily="34" charset="-120"/>
              </a:rPr>
              <a:t>instance的class值</a:t>
            </a:r>
            <a:endParaRPr lang="en-US" altLang="zh-TW" sz="5100" dirty="0" smtClean="0">
              <a:latin typeface="微軟正黑體" pitchFamily="34" charset="-120"/>
              <a:ea typeface="微軟正黑體" pitchFamily="34" charset="-120"/>
            </a:endParaRPr>
          </a:p>
          <a:p>
            <a:pPr lvl="0">
              <a:lnSpc>
                <a:spcPct val="140000"/>
              </a:lnSpc>
              <a:buNone/>
              <a:defRPr/>
            </a:pPr>
            <a:endParaRPr lang="en-US" altLang="zh-TW" sz="5100" dirty="0" smtClean="0">
              <a:latin typeface="微軟正黑體" pitchFamily="34" charset="-120"/>
              <a:ea typeface="微軟正黑體" pitchFamily="34" charset="-120"/>
            </a:endParaRPr>
          </a:p>
          <a:p>
            <a:pPr lvl="0">
              <a:defRPr/>
            </a:pPr>
            <a:endParaRPr lang="en-US" altLang="zh-TW" sz="3600" dirty="0" smtClean="0">
              <a:latin typeface="微軟正黑體" pitchFamily="34" charset="-120"/>
              <a:ea typeface="微軟正黑體" pitchFamily="34" charset="-120"/>
            </a:endParaRPr>
          </a:p>
          <a:p>
            <a:endParaRPr lang="zh-TW" altLang="en-US" dirty="0"/>
          </a:p>
        </p:txBody>
      </p:sp>
      <p:sp>
        <p:nvSpPr>
          <p:cNvPr id="4" name="投影片編號版面配置區 3"/>
          <p:cNvSpPr>
            <a:spLocks noGrp="1"/>
          </p:cNvSpPr>
          <p:nvPr>
            <p:ph type="sldNum" sz="quarter" idx="12"/>
          </p:nvPr>
        </p:nvSpPr>
        <p:spPr/>
        <p:txBody>
          <a:bodyPr/>
          <a:lstStyle/>
          <a:p>
            <a:fld id="{4468711F-7D31-4893-9A90-99EFD4C03725}" type="slidenum">
              <a:rPr lang="zh-TW" altLang="en-US" smtClean="0"/>
              <a:pPr/>
              <a:t>9</a:t>
            </a:fld>
            <a:endParaRPr lang="zh-TW"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normAutofit fontScale="90000"/>
          </a:bodyPr>
          <a:lstStyle/>
          <a:p>
            <a:r>
              <a:rPr lang="en-US" altLang="zh-TW" dirty="0" smtClean="0"/>
              <a:t>Computing the certainty grade </a:t>
            </a:r>
            <a:br>
              <a:rPr lang="en-US" altLang="zh-TW" dirty="0" smtClean="0"/>
            </a:br>
            <a:r>
              <a:rPr lang="en-US" altLang="zh-TW" dirty="0" smtClean="0"/>
              <a:t>of each rule</a:t>
            </a:r>
            <a:endParaRPr lang="zh-TW" altLang="en-US" dirty="0"/>
          </a:p>
        </p:txBody>
      </p:sp>
      <p:pic>
        <p:nvPicPr>
          <p:cNvPr id="2050" name="Picture 2"/>
          <p:cNvPicPr>
            <a:picLocks noChangeAspect="1" noChangeArrowheads="1"/>
          </p:cNvPicPr>
          <p:nvPr/>
        </p:nvPicPr>
        <p:blipFill>
          <a:blip r:embed="rId2" cstate="print"/>
          <a:srcRect/>
          <a:stretch>
            <a:fillRect/>
          </a:stretch>
        </p:blipFill>
        <p:spPr bwMode="auto">
          <a:xfrm>
            <a:off x="683568" y="1124744"/>
            <a:ext cx="7272808" cy="1192263"/>
          </a:xfrm>
          <a:prstGeom prst="rect">
            <a:avLst/>
          </a:prstGeom>
          <a:noFill/>
          <a:ln w="9525">
            <a:noFill/>
            <a:miter lim="800000"/>
            <a:headEnd/>
            <a:tailEnd/>
          </a:ln>
        </p:spPr>
      </p:pic>
      <p:sp>
        <p:nvSpPr>
          <p:cNvPr id="5" name="文字方塊 4"/>
          <p:cNvSpPr txBox="1"/>
          <p:nvPr/>
        </p:nvSpPr>
        <p:spPr>
          <a:xfrm>
            <a:off x="251520" y="3140968"/>
            <a:ext cx="8640960" cy="3785652"/>
          </a:xfrm>
          <a:prstGeom prst="rect">
            <a:avLst/>
          </a:prstGeom>
          <a:noFill/>
        </p:spPr>
        <p:txBody>
          <a:bodyPr wrap="square" rtlCol="0">
            <a:spAutoFit/>
          </a:bodyPr>
          <a:lstStyle/>
          <a:p>
            <a:r>
              <a:rPr lang="en-US" altLang="zh-TW" sz="2400" dirty="0" smtClean="0">
                <a:solidFill>
                  <a:srgbClr val="FF0000"/>
                </a:solidFill>
                <a:latin typeface="微軟正黑體" pitchFamily="34" charset="-120"/>
                <a:ea typeface="微軟正黑體" pitchFamily="34" charset="-120"/>
              </a:rPr>
              <a:t>Example:</a:t>
            </a:r>
          </a:p>
          <a:p>
            <a:r>
              <a:rPr lang="en-US" altLang="zh-TW" sz="2400" dirty="0" smtClean="0">
                <a:latin typeface="微軟正黑體" pitchFamily="34" charset="-120"/>
                <a:ea typeface="微軟正黑體" pitchFamily="34" charset="-120"/>
              </a:rPr>
              <a:t>4 instances, 共有3個類別</a:t>
            </a:r>
          </a:p>
          <a:p>
            <a:r>
              <a:rPr lang="zh-TW" altLang="en-US" sz="2400" dirty="0" smtClean="0">
                <a:latin typeface="微軟正黑體" pitchFamily="34" charset="-120"/>
                <a:ea typeface="微軟正黑體" pitchFamily="34" charset="-120"/>
              </a:rPr>
              <a:t>計算</a:t>
            </a:r>
            <a:r>
              <a:rPr lang="en-US" altLang="zh-TW" sz="2400" dirty="0" smtClean="0">
                <a:latin typeface="微軟正黑體" pitchFamily="34" charset="-120"/>
                <a:ea typeface="微軟正黑體" pitchFamily="34" charset="-120"/>
              </a:rPr>
              <a:t>R</a:t>
            </a:r>
            <a:r>
              <a:rPr lang="en-US" altLang="zh-TW" sz="2400" baseline="-25000" dirty="0" smtClean="0">
                <a:latin typeface="微軟正黑體" pitchFamily="34" charset="-120"/>
                <a:ea typeface="微軟正黑體" pitchFamily="34" charset="-120"/>
              </a:rPr>
              <a:t>1</a:t>
            </a:r>
            <a:r>
              <a:rPr lang="en-US" altLang="zh-TW" sz="2400" dirty="0" smtClean="0">
                <a:latin typeface="微軟正黑體" pitchFamily="34" charset="-120"/>
                <a:ea typeface="微軟正黑體" pitchFamily="34" charset="-120"/>
              </a:rPr>
              <a:t>對4個instances之compatibility grade</a:t>
            </a:r>
          </a:p>
          <a:p>
            <a:pPr lvl="1">
              <a:buFont typeface="Arial" pitchFamily="34" charset="0"/>
              <a:buChar char="•"/>
            </a:pPr>
            <a:r>
              <a:rPr lang="el-GR" altLang="zh-TW" sz="2400" dirty="0" smtClean="0">
                <a:latin typeface="微軟正黑體" pitchFamily="34" charset="-120"/>
                <a:ea typeface="微軟正黑體" pitchFamily="34" charset="-120"/>
              </a:rPr>
              <a:t>μ </a:t>
            </a:r>
            <a:r>
              <a:rPr lang="en-US" altLang="zh-TW" sz="2400" baseline="-25000" dirty="0" smtClean="0">
                <a:latin typeface="微軟正黑體" pitchFamily="34" charset="-120"/>
                <a:ea typeface="微軟正黑體" pitchFamily="34" charset="-120"/>
              </a:rPr>
              <a:t>1</a:t>
            </a:r>
            <a:r>
              <a:rPr lang="en-US" altLang="zh-TW" sz="2400" dirty="0" smtClean="0">
                <a:latin typeface="微軟正黑體" pitchFamily="34" charset="-120"/>
                <a:ea typeface="微軟正黑體" pitchFamily="34" charset="-120"/>
              </a:rPr>
              <a:t>(X</a:t>
            </a:r>
            <a:r>
              <a:rPr lang="en-US" altLang="zh-TW" sz="2400" baseline="-25000" dirty="0" smtClean="0">
                <a:latin typeface="微軟正黑體" pitchFamily="34" charset="-120"/>
                <a:ea typeface="微軟正黑體" pitchFamily="34" charset="-120"/>
              </a:rPr>
              <a:t>1</a:t>
            </a:r>
            <a:r>
              <a:rPr lang="en-US" altLang="zh-TW" sz="2400" dirty="0" smtClean="0">
                <a:latin typeface="微軟正黑體" pitchFamily="34" charset="-120"/>
                <a:ea typeface="微軟正黑體" pitchFamily="34" charset="-120"/>
              </a:rPr>
              <a:t>) = 0.72, (X</a:t>
            </a:r>
            <a:r>
              <a:rPr lang="en-US" altLang="zh-TW" sz="2400" baseline="-25000" dirty="0" smtClean="0">
                <a:latin typeface="微軟正黑體" pitchFamily="34" charset="-120"/>
                <a:ea typeface="微軟正黑體" pitchFamily="34" charset="-120"/>
              </a:rPr>
              <a:t>1</a:t>
            </a:r>
            <a:r>
              <a:rPr lang="en-US" altLang="zh-TW" sz="2400" dirty="0" smtClean="0">
                <a:latin typeface="微軟正黑體" pitchFamily="34" charset="-120"/>
                <a:ea typeface="微軟正黑體" pitchFamily="34" charset="-120"/>
              </a:rPr>
              <a:t> is class 1), </a:t>
            </a:r>
            <a:r>
              <a:rPr lang="el-GR" altLang="zh-TW" sz="2400" dirty="0" smtClean="0">
                <a:latin typeface="微軟正黑體" pitchFamily="34" charset="-120"/>
                <a:ea typeface="微軟正黑體" pitchFamily="34" charset="-120"/>
              </a:rPr>
              <a:t>μ </a:t>
            </a:r>
            <a:r>
              <a:rPr lang="en-US" altLang="zh-TW" sz="2400" baseline="-25000" dirty="0" smtClean="0">
                <a:latin typeface="微軟正黑體" pitchFamily="34" charset="-120"/>
                <a:ea typeface="微軟正黑體" pitchFamily="34" charset="-120"/>
              </a:rPr>
              <a:t>1</a:t>
            </a:r>
            <a:r>
              <a:rPr lang="en-US" altLang="zh-TW" sz="2400" dirty="0" smtClean="0">
                <a:latin typeface="微軟正黑體" pitchFamily="34" charset="-120"/>
                <a:ea typeface="微軟正黑體" pitchFamily="34" charset="-120"/>
              </a:rPr>
              <a:t>(X</a:t>
            </a:r>
            <a:r>
              <a:rPr lang="en-US" altLang="zh-TW" sz="2400" baseline="-25000" dirty="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 = 0.55, (X</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 is class 1)</a:t>
            </a:r>
          </a:p>
          <a:p>
            <a:pPr lvl="1">
              <a:buFont typeface="Arial" pitchFamily="34" charset="0"/>
              <a:buChar char="•"/>
            </a:pPr>
            <a:r>
              <a:rPr lang="el-GR" altLang="zh-TW" sz="2400" dirty="0" smtClean="0">
                <a:latin typeface="微軟正黑體" pitchFamily="34" charset="-120"/>
                <a:ea typeface="微軟正黑體" pitchFamily="34" charset="-120"/>
              </a:rPr>
              <a:t>μ </a:t>
            </a:r>
            <a:r>
              <a:rPr lang="en-US" altLang="zh-TW" sz="2400" baseline="-25000" dirty="0" smtClean="0">
                <a:latin typeface="微軟正黑體" pitchFamily="34" charset="-120"/>
                <a:ea typeface="微軟正黑體" pitchFamily="34" charset="-120"/>
              </a:rPr>
              <a:t>1</a:t>
            </a:r>
            <a:r>
              <a:rPr lang="en-US" altLang="zh-TW" sz="2400" dirty="0" smtClean="0">
                <a:latin typeface="微軟正黑體" pitchFamily="34" charset="-120"/>
                <a:ea typeface="微軟正黑體" pitchFamily="34" charset="-120"/>
              </a:rPr>
              <a:t>(X</a:t>
            </a:r>
            <a:r>
              <a:rPr lang="en-US" altLang="zh-TW" sz="2400" baseline="-25000" dirty="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 = 0.05, (X</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 is class 2), </a:t>
            </a:r>
            <a:r>
              <a:rPr lang="el-GR" altLang="zh-TW" sz="2400" dirty="0" smtClean="0">
                <a:latin typeface="微軟正黑體" pitchFamily="34" charset="-120"/>
                <a:ea typeface="微軟正黑體" pitchFamily="34" charset="-120"/>
              </a:rPr>
              <a:t>μ </a:t>
            </a:r>
            <a:r>
              <a:rPr lang="en-US" altLang="zh-TW" sz="2400" baseline="-25000" dirty="0" smtClean="0">
                <a:latin typeface="微軟正黑體" pitchFamily="34" charset="-120"/>
                <a:ea typeface="微軟正黑體" pitchFamily="34" charset="-120"/>
              </a:rPr>
              <a:t>1</a:t>
            </a:r>
            <a:r>
              <a:rPr lang="en-US" altLang="zh-TW" sz="2400" dirty="0" smtClean="0">
                <a:latin typeface="微軟正黑體" pitchFamily="34" charset="-120"/>
                <a:ea typeface="微軟正黑體" pitchFamily="34" charset="-120"/>
              </a:rPr>
              <a:t>(X</a:t>
            </a:r>
            <a:r>
              <a:rPr lang="en-US" altLang="zh-TW" sz="2400" baseline="-25000" dirty="0" smtClean="0">
                <a:latin typeface="微軟正黑體" pitchFamily="34" charset="-120"/>
                <a:ea typeface="微軟正黑體" pitchFamily="34" charset="-120"/>
              </a:rPr>
              <a:t>4</a:t>
            </a:r>
            <a:r>
              <a:rPr lang="en-US" altLang="zh-TW" sz="2400" dirty="0" smtClean="0">
                <a:latin typeface="微軟正黑體" pitchFamily="34" charset="-120"/>
                <a:ea typeface="微軟正黑體" pitchFamily="34" charset="-120"/>
              </a:rPr>
              <a:t>) = 0.19, (X</a:t>
            </a:r>
            <a:r>
              <a:rPr lang="en-US" altLang="zh-TW" sz="2400" baseline="-25000" dirty="0" smtClean="0">
                <a:latin typeface="微軟正黑體" pitchFamily="34" charset="-120"/>
                <a:ea typeface="微軟正黑體" pitchFamily="34" charset="-120"/>
              </a:rPr>
              <a:t>4</a:t>
            </a:r>
            <a:r>
              <a:rPr lang="en-US" altLang="zh-TW" sz="2400" dirty="0" smtClean="0">
                <a:latin typeface="微軟正黑體" pitchFamily="34" charset="-120"/>
                <a:ea typeface="微軟正黑體" pitchFamily="34" charset="-120"/>
              </a:rPr>
              <a:t> is class 3)</a:t>
            </a:r>
          </a:p>
          <a:p>
            <a:r>
              <a:rPr lang="zh-TW" altLang="en-US" sz="2400" dirty="0" smtClean="0">
                <a:solidFill>
                  <a:srgbClr val="0070C0"/>
                </a:solidFill>
                <a:latin typeface="微軟正黑體" pitchFamily="34" charset="-120"/>
                <a:ea typeface="微軟正黑體" pitchFamily="34" charset="-120"/>
              </a:rPr>
              <a:t>則</a:t>
            </a:r>
            <a:r>
              <a:rPr lang="en-US" altLang="zh-TW" sz="2400" dirty="0" smtClean="0">
                <a:solidFill>
                  <a:srgbClr val="0070C0"/>
                </a:solidFill>
                <a:latin typeface="微軟正黑體" pitchFamily="34" charset="-120"/>
                <a:ea typeface="微軟正黑體" pitchFamily="34" charset="-120"/>
              </a:rPr>
              <a:t>R</a:t>
            </a:r>
            <a:r>
              <a:rPr lang="en-US" altLang="zh-TW" sz="2400" baseline="-25000" dirty="0" smtClean="0">
                <a:solidFill>
                  <a:srgbClr val="0070C0"/>
                </a:solidFill>
                <a:latin typeface="微軟正黑體" pitchFamily="34" charset="-120"/>
                <a:ea typeface="微軟正黑體" pitchFamily="34" charset="-120"/>
              </a:rPr>
              <a:t>1</a:t>
            </a:r>
            <a:r>
              <a:rPr lang="en-US" altLang="zh-TW" sz="2400" dirty="0" smtClean="0">
                <a:solidFill>
                  <a:srgbClr val="0070C0"/>
                </a:solidFill>
                <a:latin typeface="微軟正黑體" pitchFamily="34" charset="-120"/>
                <a:ea typeface="微軟正黑體" pitchFamily="34" charset="-120"/>
              </a:rPr>
              <a:t>為class </a:t>
            </a:r>
            <a:r>
              <a:rPr lang="en-US" altLang="zh-TW" sz="2400" dirty="0" smtClean="0">
                <a:solidFill>
                  <a:srgbClr val="0070C0"/>
                </a:solidFill>
                <a:latin typeface="微軟正黑體" pitchFamily="34" charset="-120"/>
                <a:ea typeface="微軟正黑體" pitchFamily="34" charset="-120"/>
              </a:rPr>
              <a:t>1的certainty grade為0.714, </a:t>
            </a:r>
            <a:endParaRPr lang="en-US" altLang="zh-TW" sz="2400" dirty="0" smtClean="0">
              <a:solidFill>
                <a:srgbClr val="0070C0"/>
              </a:solidFill>
              <a:latin typeface="微軟正黑體" pitchFamily="34" charset="-120"/>
              <a:ea typeface="微軟正黑體" pitchFamily="34" charset="-120"/>
            </a:endParaRPr>
          </a:p>
          <a:p>
            <a:r>
              <a:rPr lang="en-US" altLang="zh-TW" sz="2400" dirty="0" smtClean="0">
                <a:latin typeface="微軟正黑體" pitchFamily="34" charset="-120"/>
                <a:ea typeface="微軟正黑體" pitchFamily="34" charset="-120"/>
              </a:rPr>
              <a:t>Conf(class1) = (.72+.55)/(.72+.55+.05+.19)=0.84</a:t>
            </a:r>
          </a:p>
          <a:p>
            <a:r>
              <a:rPr lang="en-US" altLang="zh-TW" sz="2400" dirty="0" smtClean="0">
                <a:latin typeface="微軟正黑體" pitchFamily="34" charset="-120"/>
                <a:ea typeface="微軟正黑體" pitchFamily="34" charset="-120"/>
              </a:rPr>
              <a:t>Conf(class3) = .19 /(.72+.55+.05+.19)= 0.126</a:t>
            </a:r>
          </a:p>
          <a:p>
            <a:r>
              <a:rPr lang="en-US" altLang="zh-TW" sz="2400" i="1" dirty="0" smtClean="0">
                <a:latin typeface="微軟正黑體" pitchFamily="34" charset="-120"/>
                <a:ea typeface="微軟正黑體" pitchFamily="34" charset="-120"/>
              </a:rPr>
              <a:t>w</a:t>
            </a:r>
            <a:r>
              <a:rPr lang="en-US" altLang="zh-TW" sz="2400" baseline="-25000" dirty="0" smtClean="0">
                <a:latin typeface="微軟正黑體" pitchFamily="34" charset="-120"/>
                <a:ea typeface="微軟正黑體" pitchFamily="34" charset="-120"/>
              </a:rPr>
              <a:t>1</a:t>
            </a:r>
            <a:r>
              <a:rPr lang="en-US" altLang="zh-TW" sz="2400" dirty="0" smtClean="0">
                <a:latin typeface="微軟正黑體" pitchFamily="34" charset="-120"/>
                <a:ea typeface="微軟正黑體" pitchFamily="34" charset="-120"/>
              </a:rPr>
              <a:t> = 0.84-0.126 = 0.714</a:t>
            </a:r>
          </a:p>
          <a:p>
            <a:r>
              <a:rPr lang="en-US" altLang="zh-TW" sz="2400" dirty="0" smtClean="0">
                <a:latin typeface="微軟正黑體" pitchFamily="34" charset="-120"/>
                <a:ea typeface="微軟正黑體" pitchFamily="34" charset="-120"/>
              </a:rPr>
              <a:t> </a:t>
            </a:r>
            <a:endParaRPr lang="zh-TW" altLang="en-US" sz="2400" dirty="0">
              <a:latin typeface="微軟正黑體" pitchFamily="34" charset="-120"/>
              <a:ea typeface="微軟正黑體" pitchFamily="34" charset="-120"/>
            </a:endParaRPr>
          </a:p>
        </p:txBody>
      </p:sp>
      <p:pic>
        <p:nvPicPr>
          <p:cNvPr id="5122" name="Picture 2"/>
          <p:cNvPicPr>
            <a:picLocks noChangeAspect="1" noChangeArrowheads="1"/>
          </p:cNvPicPr>
          <p:nvPr/>
        </p:nvPicPr>
        <p:blipFill>
          <a:blip r:embed="rId3" cstate="print"/>
          <a:srcRect/>
          <a:stretch>
            <a:fillRect/>
          </a:stretch>
        </p:blipFill>
        <p:spPr bwMode="auto">
          <a:xfrm>
            <a:off x="251520" y="2276872"/>
            <a:ext cx="8755335" cy="620066"/>
          </a:xfrm>
          <a:prstGeom prst="rect">
            <a:avLst/>
          </a:prstGeom>
          <a:noFill/>
          <a:ln w="9525">
            <a:noFill/>
            <a:miter lim="800000"/>
            <a:headEnd/>
            <a:tailEnd/>
          </a:ln>
        </p:spPr>
      </p:pic>
      <p:sp>
        <p:nvSpPr>
          <p:cNvPr id="6" name="投影片編號版面配置區 5"/>
          <p:cNvSpPr>
            <a:spLocks noGrp="1"/>
          </p:cNvSpPr>
          <p:nvPr>
            <p:ph type="sldNum" sz="quarter" idx="12"/>
          </p:nvPr>
        </p:nvSpPr>
        <p:spPr/>
        <p:txBody>
          <a:bodyPr/>
          <a:lstStyle/>
          <a:p>
            <a:fld id="{4468711F-7D31-4893-9A90-99EFD4C03725}" type="slidenum">
              <a:rPr lang="zh-TW" altLang="en-US" smtClean="0"/>
              <a:pPr/>
              <a:t>10</a:t>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79512" y="-27384"/>
            <a:ext cx="8784976" cy="1143000"/>
          </a:xfrm>
        </p:spPr>
        <p:txBody>
          <a:bodyPr>
            <a:noAutofit/>
          </a:bodyPr>
          <a:lstStyle/>
          <a:p>
            <a:r>
              <a:rPr lang="en-US" altLang="zh-TW" sz="3600" dirty="0" smtClean="0"/>
              <a:t>Fuzzy reasoning based on a single winner rule</a:t>
            </a:r>
            <a:endParaRPr lang="zh-TW" altLang="en-US" sz="3600" dirty="0"/>
          </a:p>
        </p:txBody>
      </p:sp>
      <p:sp>
        <p:nvSpPr>
          <p:cNvPr id="4" name="矩形 3"/>
          <p:cNvSpPr/>
          <p:nvPr/>
        </p:nvSpPr>
        <p:spPr>
          <a:xfrm>
            <a:off x="251520" y="908720"/>
            <a:ext cx="8496944" cy="369332"/>
          </a:xfrm>
          <a:prstGeom prst="rect">
            <a:avLst/>
          </a:prstGeom>
        </p:spPr>
        <p:txBody>
          <a:bodyPr wrap="square">
            <a:spAutoFit/>
          </a:bodyPr>
          <a:lstStyle/>
          <a:p>
            <a:pPr algn="ctr"/>
            <a:r>
              <a:rPr lang="en-US" altLang="zh-TW" dirty="0" err="1" smtClean="0">
                <a:solidFill>
                  <a:srgbClr val="C00000"/>
                </a:solidFill>
                <a:latin typeface="微軟正黑體" pitchFamily="34" charset="-120"/>
                <a:ea typeface="微軟正黑體" pitchFamily="34" charset="-120"/>
              </a:rPr>
              <a:t>X</a:t>
            </a:r>
            <a:r>
              <a:rPr lang="en-US" altLang="zh-TW" i="1" baseline="-25000" dirty="0" err="1" smtClean="0">
                <a:solidFill>
                  <a:srgbClr val="C00000"/>
                </a:solidFill>
                <a:latin typeface="微軟正黑體" pitchFamily="34" charset="-120"/>
                <a:ea typeface="微軟正黑體" pitchFamily="34" charset="-120"/>
              </a:rPr>
              <a:t>p</a:t>
            </a:r>
            <a:r>
              <a:rPr lang="en-US" altLang="zh-TW" dirty="0" smtClean="0">
                <a:solidFill>
                  <a:srgbClr val="C00000"/>
                </a:solidFill>
                <a:latin typeface="微軟正黑體" pitchFamily="34" charset="-120"/>
                <a:ea typeface="微軟正黑體" pitchFamily="34" charset="-120"/>
              </a:rPr>
              <a:t> ( testing pattern, unknown class)</a:t>
            </a:r>
            <a:r>
              <a:rPr lang="en-US" altLang="zh-TW" dirty="0" err="1" smtClean="0">
                <a:solidFill>
                  <a:srgbClr val="C00000"/>
                </a:solidFill>
                <a:latin typeface="微軟正黑體" pitchFamily="34" charset="-120"/>
                <a:ea typeface="微軟正黑體" pitchFamily="34" charset="-120"/>
              </a:rPr>
              <a:t>由具有最高u</a:t>
            </a:r>
            <a:r>
              <a:rPr lang="en-US" altLang="zh-TW" i="1" baseline="-25000" dirty="0" err="1" smtClean="0">
                <a:solidFill>
                  <a:srgbClr val="C00000"/>
                </a:solidFill>
                <a:latin typeface="微軟正黑體" pitchFamily="34" charset="-120"/>
                <a:ea typeface="微軟正黑體" pitchFamily="34" charset="-120"/>
              </a:rPr>
              <a:t>j</a:t>
            </a:r>
            <a:r>
              <a:rPr lang="en-US" altLang="zh-TW" dirty="0" smtClean="0">
                <a:solidFill>
                  <a:srgbClr val="C00000"/>
                </a:solidFill>
                <a:latin typeface="微軟正黑體" pitchFamily="34" charset="-120"/>
                <a:ea typeface="微軟正黑體" pitchFamily="34" charset="-120"/>
              </a:rPr>
              <a:t>(</a:t>
            </a:r>
            <a:r>
              <a:rPr lang="en-US" altLang="zh-TW" dirty="0" err="1" smtClean="0">
                <a:solidFill>
                  <a:srgbClr val="C00000"/>
                </a:solidFill>
                <a:latin typeface="微軟正黑體" pitchFamily="34" charset="-120"/>
                <a:ea typeface="微軟正黑體" pitchFamily="34" charset="-120"/>
              </a:rPr>
              <a:t>X</a:t>
            </a:r>
            <a:r>
              <a:rPr lang="en-US" altLang="zh-TW" i="1" baseline="-25000" dirty="0" err="1" smtClean="0">
                <a:solidFill>
                  <a:srgbClr val="C00000"/>
                </a:solidFill>
                <a:latin typeface="微軟正黑體" pitchFamily="34" charset="-120"/>
                <a:ea typeface="微軟正黑體" pitchFamily="34" charset="-120"/>
              </a:rPr>
              <a:t>p</a:t>
            </a:r>
            <a:r>
              <a:rPr lang="en-US" altLang="zh-TW" i="1" dirty="0" smtClean="0">
                <a:solidFill>
                  <a:srgbClr val="C00000"/>
                </a:solidFill>
                <a:latin typeface="微軟正黑體" pitchFamily="34" charset="-120"/>
                <a:ea typeface="微軟正黑體" pitchFamily="34" charset="-120"/>
              </a:rPr>
              <a:t>)</a:t>
            </a:r>
            <a:r>
              <a:rPr lang="en-US" altLang="zh-TW" dirty="0" err="1" smtClean="0">
                <a:solidFill>
                  <a:srgbClr val="C00000"/>
                </a:solidFill>
                <a:latin typeface="微軟正黑體" pitchFamily="34" charset="-120"/>
                <a:ea typeface="微軟正黑體" pitchFamily="34" charset="-120"/>
              </a:rPr>
              <a:t>的rule</a:t>
            </a:r>
            <a:r>
              <a:rPr lang="zh-TW" altLang="en-US" dirty="0" smtClean="0">
                <a:solidFill>
                  <a:srgbClr val="C00000"/>
                </a:solidFill>
                <a:latin typeface="微軟正黑體" pitchFamily="34" charset="-120"/>
                <a:ea typeface="微軟正黑體" pitchFamily="34" charset="-120"/>
              </a:rPr>
              <a:t>決定類別</a:t>
            </a:r>
            <a:endParaRPr lang="zh-TW" altLang="en-US" dirty="0">
              <a:solidFill>
                <a:srgbClr val="C00000"/>
              </a:solidFill>
              <a:latin typeface="微軟正黑體" pitchFamily="34" charset="-120"/>
              <a:ea typeface="微軟正黑體" pitchFamily="34" charset="-120"/>
            </a:endParaRPr>
          </a:p>
        </p:txBody>
      </p:sp>
      <p:pic>
        <p:nvPicPr>
          <p:cNvPr id="3074" name="Picture 2"/>
          <p:cNvPicPr>
            <a:picLocks noChangeAspect="1" noChangeArrowheads="1"/>
          </p:cNvPicPr>
          <p:nvPr/>
        </p:nvPicPr>
        <p:blipFill>
          <a:blip r:embed="rId2" cstate="print"/>
          <a:srcRect b="-371"/>
          <a:stretch>
            <a:fillRect/>
          </a:stretch>
        </p:blipFill>
        <p:spPr bwMode="auto">
          <a:xfrm>
            <a:off x="467544" y="2132856"/>
            <a:ext cx="8125520" cy="750038"/>
          </a:xfrm>
          <a:prstGeom prst="rect">
            <a:avLst/>
          </a:prstGeom>
          <a:noFill/>
          <a:ln w="9525">
            <a:noFill/>
            <a:miter lim="800000"/>
            <a:headEnd/>
            <a:tailEnd/>
          </a:ln>
        </p:spPr>
      </p:pic>
      <p:sp>
        <p:nvSpPr>
          <p:cNvPr id="7" name="文字方塊 6"/>
          <p:cNvSpPr txBox="1"/>
          <p:nvPr/>
        </p:nvSpPr>
        <p:spPr>
          <a:xfrm>
            <a:off x="1763688" y="1556792"/>
            <a:ext cx="4536504" cy="584775"/>
          </a:xfrm>
          <a:prstGeom prst="rect">
            <a:avLst/>
          </a:prstGeom>
          <a:noFill/>
        </p:spPr>
        <p:txBody>
          <a:bodyPr wrap="square" rtlCol="0">
            <a:spAutoFit/>
          </a:bodyPr>
          <a:lstStyle/>
          <a:p>
            <a:pPr algn="ctr"/>
            <a:r>
              <a:rPr lang="en-US" altLang="zh-TW" sz="3200" dirty="0" smtClean="0">
                <a:solidFill>
                  <a:srgbClr val="FF0000"/>
                </a:solidFill>
              </a:rPr>
              <a:t>Without certainty grade</a:t>
            </a:r>
            <a:endParaRPr lang="zh-TW" altLang="en-US" sz="3200" dirty="0">
              <a:solidFill>
                <a:srgbClr val="FF0000"/>
              </a:solidFill>
            </a:endParaRPr>
          </a:p>
        </p:txBody>
      </p:sp>
      <p:pic>
        <p:nvPicPr>
          <p:cNvPr id="4098" name="Picture 2"/>
          <p:cNvPicPr>
            <a:picLocks noChangeAspect="1" noChangeArrowheads="1"/>
          </p:cNvPicPr>
          <p:nvPr/>
        </p:nvPicPr>
        <p:blipFill>
          <a:blip r:embed="rId3" cstate="print"/>
          <a:srcRect/>
          <a:stretch>
            <a:fillRect/>
          </a:stretch>
        </p:blipFill>
        <p:spPr bwMode="auto">
          <a:xfrm>
            <a:off x="179512" y="4365104"/>
            <a:ext cx="8679507" cy="741687"/>
          </a:xfrm>
          <a:prstGeom prst="rect">
            <a:avLst/>
          </a:prstGeom>
          <a:noFill/>
          <a:ln w="9525">
            <a:noFill/>
            <a:miter lim="800000"/>
            <a:headEnd/>
            <a:tailEnd/>
          </a:ln>
        </p:spPr>
      </p:pic>
      <p:sp>
        <p:nvSpPr>
          <p:cNvPr id="8" name="矩形 7"/>
          <p:cNvSpPr/>
          <p:nvPr/>
        </p:nvSpPr>
        <p:spPr>
          <a:xfrm>
            <a:off x="2195736" y="3789040"/>
            <a:ext cx="3921716" cy="584775"/>
          </a:xfrm>
          <a:prstGeom prst="rect">
            <a:avLst/>
          </a:prstGeom>
        </p:spPr>
        <p:txBody>
          <a:bodyPr wrap="none">
            <a:spAutoFit/>
          </a:bodyPr>
          <a:lstStyle/>
          <a:p>
            <a:pPr algn="ctr"/>
            <a:r>
              <a:rPr lang="en-US" altLang="zh-TW" sz="3200" dirty="0" smtClean="0">
                <a:solidFill>
                  <a:srgbClr val="FF0000"/>
                </a:solidFill>
              </a:rPr>
              <a:t>Within certainty grade</a:t>
            </a:r>
            <a:endParaRPr lang="zh-TW" altLang="en-US" sz="3200" dirty="0">
              <a:solidFill>
                <a:srgbClr val="FF0000"/>
              </a:solidFill>
            </a:endParaRPr>
          </a:p>
        </p:txBody>
      </p:sp>
      <p:sp>
        <p:nvSpPr>
          <p:cNvPr id="9" name="投影片編號版面配置區 8"/>
          <p:cNvSpPr>
            <a:spLocks noGrp="1"/>
          </p:cNvSpPr>
          <p:nvPr>
            <p:ph type="sldNum" sz="quarter" idx="12"/>
          </p:nvPr>
        </p:nvSpPr>
        <p:spPr/>
        <p:txBody>
          <a:bodyPr/>
          <a:lstStyle/>
          <a:p>
            <a:fld id="{4468711F-7D31-4893-9A90-99EFD4C03725}" type="slidenum">
              <a:rPr lang="zh-TW" altLang="en-US" smtClean="0"/>
              <a:pPr/>
              <a:t>11</a:t>
            </a:fld>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1520" y="116632"/>
            <a:ext cx="8280920" cy="7848302"/>
          </a:xfrm>
          <a:prstGeom prst="rect">
            <a:avLst/>
          </a:prstGeom>
        </p:spPr>
        <p:txBody>
          <a:bodyPr wrap="square">
            <a:spAutoFit/>
          </a:bodyPr>
          <a:lstStyle/>
          <a:p>
            <a:pPr algn="just"/>
            <a:r>
              <a:rPr lang="en-US" altLang="zh-TW" sz="2400" dirty="0" smtClean="0">
                <a:solidFill>
                  <a:srgbClr val="FF0000"/>
                </a:solidFill>
              </a:rPr>
              <a:t>Testing example:</a:t>
            </a:r>
          </a:p>
          <a:p>
            <a:pPr algn="just"/>
            <a:r>
              <a:rPr lang="en-US" altLang="zh-TW" sz="2400" dirty="0" smtClean="0"/>
              <a:t>A</a:t>
            </a:r>
            <a:r>
              <a:rPr lang="en-US" altLang="zh-TW" sz="2400" baseline="-25000" dirty="0" smtClean="0"/>
              <a:t>1</a:t>
            </a:r>
            <a:r>
              <a:rPr lang="en-US" altLang="zh-TW" sz="2400" dirty="0" smtClean="0"/>
              <a:t>: height={high, medium, low}</a:t>
            </a:r>
          </a:p>
          <a:p>
            <a:pPr algn="just"/>
            <a:r>
              <a:rPr lang="en-US" altLang="zh-TW" sz="2400" dirty="0" smtClean="0"/>
              <a:t>A</a:t>
            </a:r>
            <a:r>
              <a:rPr lang="en-US" altLang="zh-TW" sz="2400" baseline="-25000" dirty="0" smtClean="0"/>
              <a:t>2</a:t>
            </a:r>
            <a:r>
              <a:rPr lang="en-US" altLang="zh-TW" sz="2400" dirty="0" smtClean="0"/>
              <a:t>: weight={heavy, middle, light}</a:t>
            </a:r>
          </a:p>
          <a:p>
            <a:r>
              <a:rPr lang="en-US" altLang="zh-TW" sz="2400" dirty="0" smtClean="0"/>
              <a:t>R</a:t>
            </a:r>
            <a:r>
              <a:rPr lang="en-US" altLang="zh-TW" sz="2400" baseline="-25000" dirty="0" smtClean="0"/>
              <a:t>1</a:t>
            </a:r>
            <a:r>
              <a:rPr lang="en-US" altLang="zh-TW" sz="2400" dirty="0" smtClean="0"/>
              <a:t>: </a:t>
            </a:r>
            <a:r>
              <a:rPr lang="en-US" altLang="zh-TW" sz="2400" dirty="0" smtClean="0">
                <a:solidFill>
                  <a:srgbClr val="00B0F0"/>
                </a:solidFill>
              </a:rPr>
              <a:t>If </a:t>
            </a:r>
            <a:r>
              <a:rPr lang="en-US" altLang="zh-TW" sz="2400" i="1" dirty="0" smtClean="0">
                <a:solidFill>
                  <a:srgbClr val="00B0F0"/>
                </a:solidFill>
              </a:rPr>
              <a:t>x</a:t>
            </a:r>
            <a:r>
              <a:rPr lang="en-US" altLang="zh-TW" sz="2400" baseline="-25000" dirty="0" smtClean="0">
                <a:solidFill>
                  <a:srgbClr val="00B0F0"/>
                </a:solidFill>
              </a:rPr>
              <a:t>1</a:t>
            </a:r>
            <a:r>
              <a:rPr lang="en-US" altLang="zh-TW" sz="2400" dirty="0" smtClean="0">
                <a:solidFill>
                  <a:srgbClr val="00B0F0"/>
                </a:solidFill>
              </a:rPr>
              <a:t> is high </a:t>
            </a:r>
            <a:r>
              <a:rPr lang="en-US" altLang="zh-TW" sz="2400" dirty="0" smtClean="0"/>
              <a:t>and </a:t>
            </a:r>
            <a:r>
              <a:rPr lang="en-US" altLang="zh-TW" sz="2400" i="1" dirty="0" smtClean="0">
                <a:solidFill>
                  <a:srgbClr val="00B0F0"/>
                </a:solidFill>
              </a:rPr>
              <a:t>x</a:t>
            </a:r>
            <a:r>
              <a:rPr lang="en-US" altLang="zh-TW" sz="2400" baseline="-25000" dirty="0" smtClean="0">
                <a:solidFill>
                  <a:srgbClr val="00B0F0"/>
                </a:solidFill>
              </a:rPr>
              <a:t>2</a:t>
            </a:r>
            <a:r>
              <a:rPr lang="en-US" altLang="zh-TW" sz="2400" dirty="0" smtClean="0">
                <a:solidFill>
                  <a:srgbClr val="00B0F0"/>
                </a:solidFill>
              </a:rPr>
              <a:t> is heavy </a:t>
            </a:r>
            <a:r>
              <a:rPr lang="en-US" altLang="zh-TW" sz="2400" dirty="0" smtClean="0"/>
              <a:t>then </a:t>
            </a:r>
            <a:r>
              <a:rPr lang="en-US" altLang="zh-TW" sz="2400" dirty="0" smtClean="0">
                <a:solidFill>
                  <a:srgbClr val="00B0F0"/>
                </a:solidFill>
              </a:rPr>
              <a:t>basketball player</a:t>
            </a:r>
            <a:r>
              <a:rPr lang="en-US" altLang="zh-TW" sz="2400" dirty="0" smtClean="0"/>
              <a:t> with </a:t>
            </a:r>
            <a:r>
              <a:rPr lang="en-US" altLang="zh-TW" sz="2400" i="1" dirty="0" smtClean="0"/>
              <a:t>w</a:t>
            </a:r>
            <a:r>
              <a:rPr lang="en-US" altLang="zh-TW" sz="2400" baseline="-25000" dirty="0" smtClean="0"/>
              <a:t>1</a:t>
            </a:r>
            <a:r>
              <a:rPr lang="en-US" altLang="zh-TW" sz="2400" dirty="0" smtClean="0"/>
              <a:t>=0.8</a:t>
            </a:r>
          </a:p>
          <a:p>
            <a:pPr algn="just"/>
            <a:r>
              <a:rPr lang="en-US" altLang="zh-TW" sz="2400" dirty="0" smtClean="0"/>
              <a:t>R</a:t>
            </a:r>
            <a:r>
              <a:rPr lang="en-US" altLang="zh-TW" sz="2400" baseline="-25000" dirty="0" smtClean="0"/>
              <a:t>2</a:t>
            </a:r>
            <a:r>
              <a:rPr lang="en-US" altLang="zh-TW" sz="2400" dirty="0" smtClean="0"/>
              <a:t>: if </a:t>
            </a:r>
            <a:r>
              <a:rPr lang="en-US" altLang="zh-TW" sz="2400" dirty="0" smtClean="0">
                <a:solidFill>
                  <a:srgbClr val="00B0F0"/>
                </a:solidFill>
              </a:rPr>
              <a:t>x</a:t>
            </a:r>
            <a:r>
              <a:rPr lang="en-US" altLang="zh-TW" sz="2400" baseline="-25000" dirty="0" smtClean="0">
                <a:solidFill>
                  <a:srgbClr val="00B0F0"/>
                </a:solidFill>
              </a:rPr>
              <a:t>1</a:t>
            </a:r>
            <a:r>
              <a:rPr lang="en-US" altLang="zh-TW" sz="2400" dirty="0" smtClean="0">
                <a:solidFill>
                  <a:srgbClr val="00B0F0"/>
                </a:solidFill>
              </a:rPr>
              <a:t> is high and x</a:t>
            </a:r>
            <a:r>
              <a:rPr lang="en-US" altLang="zh-TW" sz="2400" baseline="-25000" dirty="0" smtClean="0">
                <a:solidFill>
                  <a:srgbClr val="00B0F0"/>
                </a:solidFill>
              </a:rPr>
              <a:t>2</a:t>
            </a:r>
            <a:r>
              <a:rPr lang="en-US" altLang="zh-TW" sz="2400" dirty="0" smtClean="0">
                <a:solidFill>
                  <a:srgbClr val="00B0F0"/>
                </a:solidFill>
              </a:rPr>
              <a:t> is middle  </a:t>
            </a:r>
            <a:r>
              <a:rPr lang="en-US" altLang="zh-TW" sz="2400" dirty="0" smtClean="0"/>
              <a:t>then </a:t>
            </a:r>
            <a:r>
              <a:rPr lang="en-US" altLang="zh-TW" sz="2400" dirty="0" smtClean="0">
                <a:solidFill>
                  <a:srgbClr val="00B0F0"/>
                </a:solidFill>
              </a:rPr>
              <a:t>runner</a:t>
            </a:r>
            <a:r>
              <a:rPr lang="en-US" altLang="zh-TW" sz="2400" dirty="0" smtClean="0"/>
              <a:t> with </a:t>
            </a:r>
            <a:r>
              <a:rPr lang="en-US" altLang="zh-TW" sz="2400" i="1" dirty="0" smtClean="0"/>
              <a:t>w</a:t>
            </a:r>
            <a:r>
              <a:rPr lang="en-US" altLang="zh-TW" sz="2400" baseline="-25000" dirty="0" smtClean="0"/>
              <a:t>2</a:t>
            </a:r>
            <a:r>
              <a:rPr lang="en-US" altLang="zh-TW" sz="2400" dirty="0" smtClean="0"/>
              <a:t>=0.7</a:t>
            </a:r>
          </a:p>
          <a:p>
            <a:pPr algn="just"/>
            <a:r>
              <a:rPr lang="en-US" altLang="zh-TW" sz="2400" dirty="0" smtClean="0"/>
              <a:t>…</a:t>
            </a:r>
          </a:p>
          <a:p>
            <a:pPr lvl="0" algn="just">
              <a:defRPr/>
            </a:pPr>
            <a:r>
              <a:rPr lang="en-US" altLang="zh-TW" sz="2400" dirty="0" smtClean="0"/>
              <a:t>LBJ </a:t>
            </a:r>
            <a:r>
              <a:rPr lang="en-US" altLang="zh-TW" sz="2400" dirty="0"/>
              <a:t>=(height: </a:t>
            </a:r>
            <a:r>
              <a:rPr lang="en-US" altLang="zh-TW" sz="2400" dirty="0" smtClean="0"/>
              <a:t>210cm</a:t>
            </a:r>
            <a:r>
              <a:rPr lang="en-US" altLang="zh-TW" sz="2400" dirty="0"/>
              <a:t>, weight: </a:t>
            </a:r>
            <a:r>
              <a:rPr lang="en-US" altLang="zh-TW" sz="2400" dirty="0" smtClean="0"/>
              <a:t>100kg</a:t>
            </a:r>
            <a:r>
              <a:rPr lang="en-US" altLang="zh-TW" sz="2400" dirty="0"/>
              <a:t>, class: </a:t>
            </a:r>
            <a:r>
              <a:rPr lang="en-US" altLang="zh-TW" sz="2400" dirty="0" smtClean="0"/>
              <a:t>unknown)</a:t>
            </a:r>
            <a:endParaRPr lang="en-US" altLang="zh-TW" sz="2400" dirty="0"/>
          </a:p>
          <a:p>
            <a:pPr lvl="0">
              <a:defRPr/>
            </a:pPr>
            <a:r>
              <a:rPr lang="en-US" altLang="zh-TW" sz="2400" dirty="0"/>
              <a:t>        =&gt;{{</a:t>
            </a:r>
            <a:r>
              <a:rPr lang="en-US" altLang="zh-TW" sz="2400" dirty="0" smtClean="0"/>
              <a:t>0.9/high</a:t>
            </a:r>
            <a:r>
              <a:rPr lang="en-US" altLang="zh-TW" sz="2400" dirty="0"/>
              <a:t>,  </a:t>
            </a:r>
            <a:r>
              <a:rPr lang="en-US" altLang="zh-TW" sz="2400" dirty="0" smtClean="0"/>
              <a:t>0.1/medium</a:t>
            </a:r>
            <a:r>
              <a:rPr lang="en-US" altLang="zh-TW" sz="2400" dirty="0"/>
              <a:t>}, </a:t>
            </a:r>
            <a:r>
              <a:rPr lang="en-US" altLang="zh-TW" sz="2400" dirty="0" smtClean="0"/>
              <a:t>{0.8/heavy, 0.2/middle}}</a:t>
            </a:r>
          </a:p>
          <a:p>
            <a:pPr lvl="0">
              <a:defRPr/>
            </a:pPr>
            <a:r>
              <a:rPr lang="en-US" altLang="zh-TW" sz="2400" dirty="0" smtClean="0">
                <a:solidFill>
                  <a:srgbClr val="FF0000"/>
                </a:solidFill>
              </a:rPr>
              <a:t>Without certainty grade:</a:t>
            </a:r>
          </a:p>
          <a:p>
            <a:pPr lvl="0">
              <a:defRPr/>
            </a:pPr>
            <a:r>
              <a:rPr lang="el-GR" altLang="zh-TW" sz="2400" dirty="0">
                <a:latin typeface="微軟正黑體" pitchFamily="34" charset="-120"/>
                <a:ea typeface="微軟正黑體" pitchFamily="34" charset="-120"/>
              </a:rPr>
              <a:t>μ </a:t>
            </a:r>
            <a:r>
              <a:rPr lang="en-US" altLang="zh-TW" sz="2400" baseline="-25000" dirty="0" smtClean="0">
                <a:latin typeface="微軟正黑體" pitchFamily="34" charset="-120"/>
                <a:ea typeface="微軟正黑體" pitchFamily="34" charset="-120"/>
              </a:rPr>
              <a:t>1</a:t>
            </a:r>
            <a:r>
              <a:rPr lang="en-US" altLang="zh-TW" sz="2400" dirty="0" smtClean="0">
                <a:latin typeface="微軟正黑體" pitchFamily="34" charset="-120"/>
                <a:ea typeface="微軟正黑體" pitchFamily="34" charset="-120"/>
              </a:rPr>
              <a:t>(LBJ) = 0.9 * 0.8 = </a:t>
            </a:r>
            <a:r>
              <a:rPr lang="en-US" altLang="zh-TW" sz="2400" u="sng" dirty="0" smtClean="0">
                <a:latin typeface="微軟正黑體" pitchFamily="34" charset="-120"/>
                <a:ea typeface="微軟正黑體" pitchFamily="34" charset="-120"/>
              </a:rPr>
              <a:t>0.72</a:t>
            </a:r>
          </a:p>
          <a:p>
            <a:pPr lvl="0">
              <a:defRPr/>
            </a:pPr>
            <a:r>
              <a:rPr lang="el-GR" altLang="zh-TW" sz="2400" dirty="0">
                <a:latin typeface="微軟正黑體" pitchFamily="34" charset="-120"/>
                <a:ea typeface="微軟正黑體" pitchFamily="34" charset="-120"/>
              </a:rPr>
              <a:t>μ </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(LBJ) = 0.9 * 0.2 = 0.18</a:t>
            </a:r>
            <a:endParaRPr lang="en-US" altLang="zh-TW" sz="2400" dirty="0" smtClean="0"/>
          </a:p>
          <a:p>
            <a:pPr lvl="0">
              <a:defRPr/>
            </a:pPr>
            <a:r>
              <a:rPr lang="en-US" altLang="zh-TW" sz="2400" dirty="0" smtClean="0"/>
              <a:t>…</a:t>
            </a:r>
          </a:p>
          <a:p>
            <a:pPr lvl="0">
              <a:defRPr/>
            </a:pPr>
            <a:r>
              <a:rPr lang="en-US" altLang="zh-TW" sz="2400" dirty="0" smtClean="0"/>
              <a:t>Hence LBJ is a basketball player</a:t>
            </a:r>
          </a:p>
          <a:p>
            <a:pPr lvl="0">
              <a:defRPr/>
            </a:pPr>
            <a:r>
              <a:rPr lang="en-US" altLang="zh-TW" sz="2400" dirty="0" smtClean="0">
                <a:solidFill>
                  <a:srgbClr val="FF0000"/>
                </a:solidFill>
              </a:rPr>
              <a:t>Within certainty grade:</a:t>
            </a:r>
          </a:p>
          <a:p>
            <a:pPr lvl="0">
              <a:defRPr/>
            </a:pPr>
            <a:r>
              <a:rPr lang="el-GR" altLang="zh-TW" sz="2400" dirty="0" smtClean="0">
                <a:latin typeface="微軟正黑體" pitchFamily="34" charset="-120"/>
                <a:ea typeface="微軟正黑體" pitchFamily="34" charset="-120"/>
              </a:rPr>
              <a:t>μ </a:t>
            </a:r>
            <a:r>
              <a:rPr lang="en-US" altLang="zh-TW" sz="2400" baseline="-25000" dirty="0" smtClean="0">
                <a:latin typeface="微軟正黑體" pitchFamily="34" charset="-120"/>
                <a:ea typeface="微軟正黑體" pitchFamily="34" charset="-120"/>
              </a:rPr>
              <a:t>1</a:t>
            </a:r>
            <a:r>
              <a:rPr lang="en-US" altLang="zh-TW" sz="2400" dirty="0" smtClean="0">
                <a:latin typeface="微軟正黑體" pitchFamily="34" charset="-120"/>
                <a:ea typeface="微軟正黑體" pitchFamily="34" charset="-120"/>
              </a:rPr>
              <a:t>(LBJ) = 0.9 * 0.8 * 0.8 = </a:t>
            </a:r>
            <a:r>
              <a:rPr lang="en-US" altLang="zh-TW" sz="2400" u="sng" dirty="0" smtClean="0">
                <a:latin typeface="微軟正黑體" pitchFamily="34" charset="-120"/>
                <a:ea typeface="微軟正黑體" pitchFamily="34" charset="-120"/>
              </a:rPr>
              <a:t>0.577</a:t>
            </a:r>
          </a:p>
          <a:p>
            <a:pPr>
              <a:defRPr/>
            </a:pPr>
            <a:r>
              <a:rPr lang="el-GR" altLang="zh-TW" sz="2400" dirty="0" smtClean="0">
                <a:latin typeface="微軟正黑體" pitchFamily="34" charset="-120"/>
                <a:ea typeface="微軟正黑體" pitchFamily="34" charset="-120"/>
              </a:rPr>
              <a:t>μ </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(LBJ) = 0.9 * 0.2 * 0.7 = 0.126</a:t>
            </a:r>
            <a:endParaRPr lang="en-US" altLang="zh-TW" sz="2400" dirty="0" smtClean="0"/>
          </a:p>
          <a:p>
            <a:pPr lvl="0">
              <a:defRPr/>
            </a:pPr>
            <a:r>
              <a:rPr lang="en-US" altLang="zh-TW" sz="2400" dirty="0" smtClean="0">
                <a:latin typeface="微軟正黑體" pitchFamily="34" charset="-120"/>
                <a:ea typeface="微軟正黑體" pitchFamily="34" charset="-120"/>
              </a:rPr>
              <a:t>…</a:t>
            </a:r>
          </a:p>
          <a:p>
            <a:pPr>
              <a:defRPr/>
            </a:pPr>
            <a:r>
              <a:rPr lang="en-US" altLang="zh-TW" sz="2400" dirty="0" smtClean="0"/>
              <a:t>Hence LBJ is a basketball player</a:t>
            </a:r>
          </a:p>
          <a:p>
            <a:pPr lvl="0">
              <a:defRPr/>
            </a:pPr>
            <a:endParaRPr lang="en-US" altLang="zh-TW" sz="2400" dirty="0" smtClean="0">
              <a:latin typeface="微軟正黑體" pitchFamily="34" charset="-120"/>
              <a:ea typeface="微軟正黑體" pitchFamily="34" charset="-120"/>
            </a:endParaRPr>
          </a:p>
          <a:p>
            <a:pPr lvl="0">
              <a:defRPr/>
            </a:pPr>
            <a:r>
              <a:rPr lang="en-US" altLang="zh-TW" sz="2400" dirty="0" smtClean="0">
                <a:latin typeface="微軟正黑體" pitchFamily="34" charset="-120"/>
                <a:ea typeface="微軟正黑體" pitchFamily="34" charset="-120"/>
              </a:rPr>
              <a:t> </a:t>
            </a:r>
            <a:endParaRPr lang="en-US" altLang="zh-TW" sz="2400" dirty="0" smtClean="0"/>
          </a:p>
          <a:p>
            <a:pPr lvl="0">
              <a:defRPr/>
            </a:pPr>
            <a:endParaRPr lang="en-US" altLang="zh-TW" sz="2400" dirty="0" smtClean="0"/>
          </a:p>
        </p:txBody>
      </p:sp>
      <p:sp>
        <p:nvSpPr>
          <p:cNvPr id="3" name="投影片編號版面配置區 2"/>
          <p:cNvSpPr>
            <a:spLocks noGrp="1"/>
          </p:cNvSpPr>
          <p:nvPr>
            <p:ph type="sldNum" sz="quarter" idx="12"/>
          </p:nvPr>
        </p:nvSpPr>
        <p:spPr/>
        <p:txBody>
          <a:bodyPr/>
          <a:lstStyle/>
          <a:p>
            <a:fld id="{4468711F-7D31-4893-9A90-99EFD4C03725}" type="slidenum">
              <a:rPr lang="zh-TW" altLang="en-US" smtClean="0"/>
              <a:pPr/>
              <a:t>12</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The proposed weighting function (without certainty grade)</a:t>
            </a:r>
            <a:endParaRPr lang="zh-TW" altLang="en-US" dirty="0"/>
          </a:p>
        </p:txBody>
      </p:sp>
      <p:grpSp>
        <p:nvGrpSpPr>
          <p:cNvPr id="9" name="群組 8"/>
          <p:cNvGrpSpPr/>
          <p:nvPr/>
        </p:nvGrpSpPr>
        <p:grpSpPr>
          <a:xfrm>
            <a:off x="0" y="2003823"/>
            <a:ext cx="5508104" cy="4521521"/>
            <a:chOff x="0" y="1196752"/>
            <a:chExt cx="5508104" cy="4521521"/>
          </a:xfrm>
        </p:grpSpPr>
        <p:pic>
          <p:nvPicPr>
            <p:cNvPr id="1026" name="Picture 2"/>
            <p:cNvPicPr>
              <a:picLocks noChangeAspect="1" noChangeArrowheads="1"/>
            </p:cNvPicPr>
            <p:nvPr/>
          </p:nvPicPr>
          <p:blipFill>
            <a:blip r:embed="rId2" cstate="print"/>
            <a:srcRect/>
            <a:stretch>
              <a:fillRect/>
            </a:stretch>
          </p:blipFill>
          <p:spPr bwMode="auto">
            <a:xfrm>
              <a:off x="0" y="1412776"/>
              <a:ext cx="5029374" cy="4305497"/>
            </a:xfrm>
            <a:prstGeom prst="rect">
              <a:avLst/>
            </a:prstGeom>
            <a:noFill/>
            <a:ln w="9525">
              <a:noFill/>
              <a:miter lim="800000"/>
              <a:headEnd/>
              <a:tailEnd/>
            </a:ln>
          </p:spPr>
        </p:pic>
        <p:sp>
          <p:nvSpPr>
            <p:cNvPr id="7" name="圓角矩形圖說文字 6"/>
            <p:cNvSpPr/>
            <p:nvPr/>
          </p:nvSpPr>
          <p:spPr>
            <a:xfrm>
              <a:off x="3203848" y="3501008"/>
              <a:ext cx="2304256" cy="1080120"/>
            </a:xfrm>
            <a:prstGeom prst="wedgeRoundRectCallout">
              <a:avLst>
                <a:gd name="adj1" fmla="val -93489"/>
                <a:gd name="adj2" fmla="val -33887"/>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TW" altLang="en-US" dirty="0" smtClean="0">
                  <a:latin typeface="微軟正黑體" pitchFamily="34" charset="-120"/>
                  <a:ea typeface="微軟正黑體" pitchFamily="34" charset="-120"/>
                </a:rPr>
                <a:t>在</a:t>
              </a:r>
              <a:r>
                <a:rPr lang="en-US" altLang="zh-TW" dirty="0" smtClean="0">
                  <a:latin typeface="微軟正黑體" pitchFamily="34" charset="-120"/>
                  <a:ea typeface="微軟正黑體" pitchFamily="34" charset="-120"/>
                </a:rPr>
                <a:t>threshold </a:t>
              </a:r>
              <a:r>
                <a:rPr lang="en-US" altLang="zh-TW" dirty="0" err="1" smtClean="0">
                  <a:latin typeface="微軟正黑體" pitchFamily="34" charset="-120"/>
                  <a:ea typeface="微軟正黑體" pitchFamily="34" charset="-120"/>
                </a:rPr>
                <a:t>之下的</a:t>
              </a:r>
              <a:r>
                <a:rPr lang="en-US" altLang="zh-TW" dirty="0" smtClean="0">
                  <a:latin typeface="微軟正黑體" pitchFamily="34" charset="-120"/>
                  <a:ea typeface="微軟正黑體" pitchFamily="34" charset="-120"/>
                </a:rPr>
                <a:t> compatibility </a:t>
              </a:r>
              <a:r>
                <a:rPr lang="en-US" altLang="zh-TW" dirty="0" err="1" smtClean="0">
                  <a:latin typeface="微軟正黑體" pitchFamily="34" charset="-120"/>
                  <a:ea typeface="微軟正黑體" pitchFamily="34" charset="-120"/>
                </a:rPr>
                <a:t>grade保持不變</a:t>
              </a:r>
              <a:endParaRPr lang="zh-TW" altLang="en-US" dirty="0">
                <a:latin typeface="微軟正黑體" pitchFamily="34" charset="-120"/>
                <a:ea typeface="微軟正黑體" pitchFamily="34" charset="-120"/>
              </a:endParaRPr>
            </a:p>
          </p:txBody>
        </p:sp>
        <p:sp>
          <p:nvSpPr>
            <p:cNvPr id="8" name="圓角矩形圖說文字 7"/>
            <p:cNvSpPr/>
            <p:nvPr/>
          </p:nvSpPr>
          <p:spPr>
            <a:xfrm>
              <a:off x="1331640" y="1196752"/>
              <a:ext cx="2592288" cy="864096"/>
            </a:xfrm>
            <a:prstGeom prst="wedgeRoundRectCallout">
              <a:avLst>
                <a:gd name="adj1" fmla="val -1692"/>
                <a:gd name="adj2" fmla="val 101769"/>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dirty="0" smtClean="0">
                  <a:latin typeface="微軟正黑體" pitchFamily="34" charset="-120"/>
                  <a:ea typeface="微軟正黑體" pitchFamily="34" charset="-120"/>
                </a:rPr>
                <a:t>增強超過</a:t>
              </a:r>
              <a:r>
                <a:rPr lang="en-US" altLang="zh-TW" dirty="0" smtClean="0">
                  <a:latin typeface="微軟正黑體" pitchFamily="34" charset="-120"/>
                  <a:ea typeface="微軟正黑體" pitchFamily="34" charset="-120"/>
                </a:rPr>
                <a:t>threshold 的 compatibility grade</a:t>
              </a:r>
              <a:endParaRPr lang="zh-TW" altLang="en-US" dirty="0">
                <a:latin typeface="微軟正黑體" pitchFamily="34" charset="-120"/>
                <a:ea typeface="微軟正黑體" pitchFamily="34" charset="-120"/>
              </a:endParaRPr>
            </a:p>
          </p:txBody>
        </p:sp>
      </p:grpSp>
      <p:pic>
        <p:nvPicPr>
          <p:cNvPr id="1028" name="Picture 4"/>
          <p:cNvPicPr>
            <a:picLocks noChangeAspect="1" noChangeArrowheads="1"/>
          </p:cNvPicPr>
          <p:nvPr/>
        </p:nvPicPr>
        <p:blipFill>
          <a:blip r:embed="rId3" cstate="print"/>
          <a:srcRect/>
          <a:stretch>
            <a:fillRect/>
          </a:stretch>
        </p:blipFill>
        <p:spPr bwMode="auto">
          <a:xfrm>
            <a:off x="3995936" y="2060848"/>
            <a:ext cx="5002176" cy="886396"/>
          </a:xfrm>
          <a:prstGeom prst="rect">
            <a:avLst/>
          </a:prstGeom>
          <a:noFill/>
          <a:ln w="9525">
            <a:noFill/>
            <a:miter lim="800000"/>
            <a:headEnd/>
            <a:tailEnd/>
          </a:ln>
        </p:spPr>
      </p:pic>
      <p:sp>
        <p:nvSpPr>
          <p:cNvPr id="10" name="文字方塊 9"/>
          <p:cNvSpPr txBox="1"/>
          <p:nvPr/>
        </p:nvSpPr>
        <p:spPr>
          <a:xfrm>
            <a:off x="5868144" y="3284984"/>
            <a:ext cx="2664296" cy="461665"/>
          </a:xfrm>
          <a:prstGeom prst="rect">
            <a:avLst/>
          </a:prstGeom>
          <a:noFill/>
        </p:spPr>
        <p:txBody>
          <a:bodyPr wrap="square" rtlCol="0">
            <a:spAutoFit/>
          </a:bodyPr>
          <a:lstStyle/>
          <a:p>
            <a:r>
              <a:rPr lang="en-US" altLang="zh-TW" sz="2400" dirty="0" smtClean="0">
                <a:solidFill>
                  <a:srgbClr val="FF0000"/>
                </a:solidFill>
              </a:rPr>
              <a:t>How to determine </a:t>
            </a:r>
            <a:r>
              <a:rPr lang="en-US" altLang="zh-TW" sz="2400" i="1" dirty="0" err="1" smtClean="0">
                <a:solidFill>
                  <a:srgbClr val="FF0000"/>
                </a:solidFill>
              </a:rPr>
              <a:t>t</a:t>
            </a:r>
            <a:r>
              <a:rPr lang="en-US" altLang="zh-TW" sz="2400" i="1" baseline="-25000" dirty="0" err="1" smtClean="0">
                <a:solidFill>
                  <a:srgbClr val="FF0000"/>
                </a:solidFill>
              </a:rPr>
              <a:t>j</a:t>
            </a:r>
            <a:r>
              <a:rPr lang="en-US" altLang="zh-TW" sz="2400" dirty="0" smtClean="0">
                <a:solidFill>
                  <a:srgbClr val="FF0000"/>
                </a:solidFill>
              </a:rPr>
              <a:t>?</a:t>
            </a:r>
            <a:endParaRPr lang="zh-TW" altLang="en-US" sz="2400" dirty="0">
              <a:solidFill>
                <a:srgbClr val="FF0000"/>
              </a:solidFill>
            </a:endParaRPr>
          </a:p>
        </p:txBody>
      </p:sp>
      <p:sp>
        <p:nvSpPr>
          <p:cNvPr id="11" name="文字方塊 10"/>
          <p:cNvSpPr txBox="1"/>
          <p:nvPr/>
        </p:nvSpPr>
        <p:spPr>
          <a:xfrm>
            <a:off x="5724128" y="3861048"/>
            <a:ext cx="3096344" cy="2308324"/>
          </a:xfrm>
          <a:prstGeom prst="rect">
            <a:avLst/>
          </a:prstGeom>
          <a:noFill/>
        </p:spPr>
        <p:txBody>
          <a:bodyPr wrap="square" rtlCol="0">
            <a:spAutoFit/>
          </a:bodyPr>
          <a:lstStyle/>
          <a:p>
            <a:pPr algn="just"/>
            <a:r>
              <a:rPr lang="zh-TW" altLang="en-US" dirty="0" smtClean="0">
                <a:latin typeface="微軟正黑體" pitchFamily="34" charset="-120"/>
                <a:ea typeface="微軟正黑體" pitchFamily="34" charset="-120"/>
              </a:rPr>
              <a:t>若現在共有</a:t>
            </a:r>
            <a:r>
              <a:rPr lang="en-US" altLang="zh-TW" dirty="0" smtClean="0">
                <a:latin typeface="微軟正黑體" pitchFamily="34" charset="-120"/>
                <a:ea typeface="微軟正黑體" pitchFamily="34" charset="-120"/>
              </a:rPr>
              <a:t>9條已訓練完成的rules(</a:t>
            </a:r>
            <a:r>
              <a:rPr lang="en-US" altLang="zh-TW" dirty="0" err="1" smtClean="0">
                <a:latin typeface="微軟正黑體" pitchFamily="34" charset="-120"/>
                <a:ea typeface="微軟正黑體" pitchFamily="34" charset="-120"/>
              </a:rPr>
              <a:t>使用前面的方法</a:t>
            </a:r>
            <a:r>
              <a:rPr lang="en-US" altLang="zh-TW" dirty="0" smtClean="0">
                <a:latin typeface="微軟正黑體" pitchFamily="34" charset="-120"/>
                <a:ea typeface="微軟正黑體" pitchFamily="34" charset="-120"/>
              </a:rPr>
              <a:t>)，</a:t>
            </a:r>
            <a:r>
              <a:rPr lang="en-US" altLang="zh-TW" dirty="0" err="1" smtClean="0">
                <a:latin typeface="微軟正黑體" pitchFamily="34" charset="-120"/>
                <a:ea typeface="微軟正黑體" pitchFamily="34" charset="-120"/>
              </a:rPr>
              <a:t>則對於每一個已知class的instance</a:t>
            </a:r>
            <a:r>
              <a:rPr lang="zh-TW" altLang="en-US" dirty="0" smtClean="0">
                <a:latin typeface="微軟正黑體" pitchFamily="34" charset="-120"/>
                <a:ea typeface="微軟正黑體" pitchFamily="34" charset="-120"/>
              </a:rPr>
              <a:t>，</a:t>
            </a:r>
            <a:r>
              <a:rPr lang="en-US" altLang="zh-TW" dirty="0" err="1" smtClean="0">
                <a:latin typeface="微軟正黑體" pitchFamily="34" charset="-120"/>
                <a:ea typeface="微軟正黑體" pitchFamily="34" charset="-120"/>
              </a:rPr>
              <a:t>a條rules分類的結果正確，b條rules的分類結果錯誤，總共會有a+b</a:t>
            </a:r>
            <a:r>
              <a:rPr lang="en-US" altLang="zh-TW" dirty="0" smtClean="0">
                <a:latin typeface="微軟正黑體" pitchFamily="34" charset="-120"/>
                <a:ea typeface="微軟正黑體" pitchFamily="34" charset="-120"/>
              </a:rPr>
              <a:t>=9個compatibility </a:t>
            </a:r>
            <a:r>
              <a:rPr lang="en-US" altLang="zh-TW" dirty="0" err="1" smtClean="0">
                <a:latin typeface="微軟正黑體" pitchFamily="34" charset="-120"/>
                <a:ea typeface="微軟正黑體" pitchFamily="34" charset="-120"/>
              </a:rPr>
              <a:t>grade，則t</a:t>
            </a:r>
            <a:r>
              <a:rPr lang="en-US" altLang="zh-TW" baseline="-25000" dirty="0" err="1" smtClean="0">
                <a:latin typeface="微軟正黑體" pitchFamily="34" charset="-120"/>
                <a:ea typeface="微軟正黑體" pitchFamily="34" charset="-120"/>
              </a:rPr>
              <a:t>j</a:t>
            </a:r>
            <a:r>
              <a:rPr lang="en-US" altLang="zh-TW" dirty="0" err="1" smtClean="0">
                <a:latin typeface="微軟正黑體" pitchFamily="34" charset="-120"/>
                <a:ea typeface="微軟正黑體" pitchFamily="34" charset="-120"/>
              </a:rPr>
              <a:t>為a條rules中分數最低之值</a:t>
            </a:r>
            <a:endParaRPr lang="zh-TW" altLang="en-US" baseline="-25000" dirty="0">
              <a:latin typeface="微軟正黑體" pitchFamily="34" charset="-120"/>
              <a:ea typeface="微軟正黑體" pitchFamily="34" charset="-120"/>
            </a:endParaRPr>
          </a:p>
        </p:txBody>
      </p:sp>
      <p:sp>
        <p:nvSpPr>
          <p:cNvPr id="12" name="投影片編號版面配置區 11"/>
          <p:cNvSpPr>
            <a:spLocks noGrp="1"/>
          </p:cNvSpPr>
          <p:nvPr>
            <p:ph type="sldNum" sz="quarter" idx="12"/>
          </p:nvPr>
        </p:nvSpPr>
        <p:spPr/>
        <p:txBody>
          <a:bodyPr/>
          <a:lstStyle/>
          <a:p>
            <a:fld id="{4468711F-7D31-4893-9A90-99EFD4C03725}" type="slidenum">
              <a:rPr lang="zh-TW" altLang="en-US" smtClean="0"/>
              <a:pPr/>
              <a:t>13</a:t>
            </a:fld>
            <a:endParaRPr lang="zh-TW"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35496" y="116632"/>
            <a:ext cx="8856984" cy="6723034"/>
          </a:xfrm>
          <a:prstGeom prst="rect">
            <a:avLst/>
          </a:prstGeom>
          <a:noFill/>
          <a:ln w="9525">
            <a:noFill/>
            <a:miter lim="800000"/>
            <a:headEnd/>
            <a:tailEnd/>
          </a:ln>
        </p:spPr>
      </p:pic>
      <p:sp>
        <p:nvSpPr>
          <p:cNvPr id="3" name="投影片編號版面配置區 2"/>
          <p:cNvSpPr>
            <a:spLocks noGrp="1"/>
          </p:cNvSpPr>
          <p:nvPr>
            <p:ph type="sldNum" sz="quarter" idx="12"/>
          </p:nvPr>
        </p:nvSpPr>
        <p:spPr/>
        <p:txBody>
          <a:bodyPr/>
          <a:lstStyle/>
          <a:p>
            <a:fld id="{4468711F-7D31-4893-9A90-99EFD4C03725}" type="slidenum">
              <a:rPr lang="zh-TW" altLang="en-US" smtClean="0"/>
              <a:pPr/>
              <a:t>14</a:t>
            </a:fld>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The proposed weighting function (within certainty grade)</a:t>
            </a:r>
            <a:endParaRPr lang="zh-TW" altLang="en-US" dirty="0"/>
          </a:p>
        </p:txBody>
      </p:sp>
      <p:pic>
        <p:nvPicPr>
          <p:cNvPr id="6146" name="Picture 2"/>
          <p:cNvPicPr>
            <a:picLocks noChangeAspect="1" noChangeArrowheads="1"/>
          </p:cNvPicPr>
          <p:nvPr/>
        </p:nvPicPr>
        <p:blipFill>
          <a:blip r:embed="rId2" cstate="print"/>
          <a:srcRect/>
          <a:stretch>
            <a:fillRect/>
          </a:stretch>
        </p:blipFill>
        <p:spPr bwMode="auto">
          <a:xfrm>
            <a:off x="251520" y="1556792"/>
            <a:ext cx="4457949" cy="4552021"/>
          </a:xfrm>
          <a:prstGeom prst="rect">
            <a:avLst/>
          </a:prstGeom>
          <a:noFill/>
          <a:ln w="9525">
            <a:noFill/>
            <a:miter lim="800000"/>
            <a:headEnd/>
            <a:tailEnd/>
          </a:ln>
        </p:spPr>
      </p:pic>
      <p:sp>
        <p:nvSpPr>
          <p:cNvPr id="5" name="圓角矩形圖說文字 4"/>
          <p:cNvSpPr/>
          <p:nvPr/>
        </p:nvSpPr>
        <p:spPr>
          <a:xfrm>
            <a:off x="1619672" y="1772816"/>
            <a:ext cx="1152128" cy="288032"/>
          </a:xfrm>
          <a:prstGeom prst="wedgeRoundRectCallout">
            <a:avLst>
              <a:gd name="adj1" fmla="val 11157"/>
              <a:gd name="adj2" fmla="val 169597"/>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dirty="0" smtClean="0"/>
              <a:t>Original</a:t>
            </a:r>
            <a:endParaRPr lang="zh-TW" altLang="en-US" dirty="0"/>
          </a:p>
        </p:txBody>
      </p:sp>
      <p:sp>
        <p:nvSpPr>
          <p:cNvPr id="6" name="圓角矩形圖說文字 5"/>
          <p:cNvSpPr/>
          <p:nvPr/>
        </p:nvSpPr>
        <p:spPr>
          <a:xfrm>
            <a:off x="3131840" y="3284984"/>
            <a:ext cx="1152128" cy="288032"/>
          </a:xfrm>
          <a:prstGeom prst="wedgeRoundRectCallout">
            <a:avLst>
              <a:gd name="adj1" fmla="val -25179"/>
              <a:gd name="adj2" fmla="val -16316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dirty="0" smtClean="0"/>
              <a:t>New</a:t>
            </a:r>
            <a:endParaRPr lang="zh-TW" altLang="en-US" dirty="0"/>
          </a:p>
        </p:txBody>
      </p:sp>
      <p:sp>
        <p:nvSpPr>
          <p:cNvPr id="7" name="文字方塊 6"/>
          <p:cNvSpPr txBox="1"/>
          <p:nvPr/>
        </p:nvSpPr>
        <p:spPr>
          <a:xfrm>
            <a:off x="4716016" y="1772816"/>
            <a:ext cx="3600400" cy="646331"/>
          </a:xfrm>
          <a:prstGeom prst="rect">
            <a:avLst/>
          </a:prstGeom>
          <a:noFill/>
        </p:spPr>
        <p:txBody>
          <a:bodyPr wrap="square" rtlCol="0">
            <a:spAutoFit/>
          </a:bodyPr>
          <a:lstStyle/>
          <a:p>
            <a:r>
              <a:rPr lang="zh-TW" altLang="en-US" dirty="0" smtClean="0"/>
              <a:t>原始的</a:t>
            </a:r>
            <a:r>
              <a:rPr lang="en-US" altLang="zh-TW" i="1" dirty="0" err="1" smtClean="0"/>
              <a:t>u</a:t>
            </a:r>
            <a:r>
              <a:rPr lang="en-US" altLang="zh-TW" i="1" baseline="-25000" dirty="0" err="1" smtClean="0"/>
              <a:t>j</a:t>
            </a:r>
            <a:r>
              <a:rPr lang="en-US" altLang="zh-TW" i="1" baseline="30000" dirty="0" err="1" smtClean="0"/>
              <a:t>in</a:t>
            </a:r>
            <a:r>
              <a:rPr lang="en-US" altLang="zh-TW" dirty="0" err="1" smtClean="0"/>
              <a:t>使用certainty</a:t>
            </a:r>
            <a:r>
              <a:rPr lang="en-US" altLang="zh-TW" dirty="0" smtClean="0"/>
              <a:t> grade</a:t>
            </a:r>
            <a:r>
              <a:rPr lang="zh-TW" altLang="en-US" dirty="0" smtClean="0"/>
              <a:t>之後值變小</a:t>
            </a:r>
            <a:endParaRPr lang="zh-TW" altLang="en-US" dirty="0"/>
          </a:p>
        </p:txBody>
      </p:sp>
      <p:pic>
        <p:nvPicPr>
          <p:cNvPr id="6147" name="Picture 3"/>
          <p:cNvPicPr>
            <a:picLocks noChangeAspect="1" noChangeArrowheads="1"/>
          </p:cNvPicPr>
          <p:nvPr/>
        </p:nvPicPr>
        <p:blipFill>
          <a:blip r:embed="rId3" cstate="print"/>
          <a:srcRect/>
          <a:stretch>
            <a:fillRect/>
          </a:stretch>
        </p:blipFill>
        <p:spPr bwMode="auto">
          <a:xfrm>
            <a:off x="4572000" y="2708920"/>
            <a:ext cx="4152900" cy="904875"/>
          </a:xfrm>
          <a:prstGeom prst="rect">
            <a:avLst/>
          </a:prstGeom>
          <a:noFill/>
          <a:ln w="9525">
            <a:noFill/>
            <a:miter lim="800000"/>
            <a:headEnd/>
            <a:tailEnd/>
          </a:ln>
        </p:spPr>
      </p:pic>
      <p:pic>
        <p:nvPicPr>
          <p:cNvPr id="6148" name="Picture 4"/>
          <p:cNvPicPr>
            <a:picLocks noChangeAspect="1" noChangeArrowheads="1"/>
          </p:cNvPicPr>
          <p:nvPr/>
        </p:nvPicPr>
        <p:blipFill>
          <a:blip r:embed="rId4" cstate="print"/>
          <a:srcRect/>
          <a:stretch>
            <a:fillRect/>
          </a:stretch>
        </p:blipFill>
        <p:spPr bwMode="auto">
          <a:xfrm>
            <a:off x="4572000" y="4005064"/>
            <a:ext cx="4190231" cy="1575397"/>
          </a:xfrm>
          <a:prstGeom prst="rect">
            <a:avLst/>
          </a:prstGeom>
          <a:noFill/>
          <a:ln w="9525">
            <a:noFill/>
            <a:miter lim="800000"/>
            <a:headEnd/>
            <a:tailEnd/>
          </a:ln>
        </p:spPr>
      </p:pic>
      <p:sp>
        <p:nvSpPr>
          <p:cNvPr id="9" name="投影片編號版面配置區 8"/>
          <p:cNvSpPr>
            <a:spLocks noGrp="1"/>
          </p:cNvSpPr>
          <p:nvPr>
            <p:ph type="sldNum" sz="quarter" idx="12"/>
          </p:nvPr>
        </p:nvSpPr>
        <p:spPr/>
        <p:txBody>
          <a:bodyPr/>
          <a:lstStyle/>
          <a:p>
            <a:fld id="{4468711F-7D31-4893-9A90-99EFD4C03725}" type="slidenum">
              <a:rPr lang="zh-TW" altLang="en-US" smtClean="0"/>
              <a:pPr/>
              <a:t>15</a:t>
            </a:fld>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cstate="print"/>
          <a:srcRect/>
          <a:stretch>
            <a:fillRect/>
          </a:stretch>
        </p:blipFill>
        <p:spPr bwMode="auto">
          <a:xfrm>
            <a:off x="0" y="548680"/>
            <a:ext cx="3188591" cy="3255877"/>
          </a:xfrm>
          <a:prstGeom prst="rect">
            <a:avLst/>
          </a:prstGeom>
          <a:noFill/>
          <a:ln w="9525">
            <a:noFill/>
            <a:miter lim="800000"/>
            <a:headEnd/>
            <a:tailEnd/>
          </a:ln>
        </p:spPr>
      </p:pic>
      <p:pic>
        <p:nvPicPr>
          <p:cNvPr id="7170" name="Picture 2"/>
          <p:cNvPicPr>
            <a:picLocks noChangeAspect="1" noChangeArrowheads="1"/>
          </p:cNvPicPr>
          <p:nvPr/>
        </p:nvPicPr>
        <p:blipFill>
          <a:blip r:embed="rId3" cstate="print"/>
          <a:srcRect/>
          <a:stretch>
            <a:fillRect/>
          </a:stretch>
        </p:blipFill>
        <p:spPr bwMode="auto">
          <a:xfrm>
            <a:off x="2555776" y="1025214"/>
            <a:ext cx="6134348" cy="819610"/>
          </a:xfrm>
          <a:prstGeom prst="rect">
            <a:avLst/>
          </a:prstGeom>
          <a:noFill/>
          <a:ln w="9525">
            <a:noFill/>
            <a:miter lim="800000"/>
            <a:headEnd/>
            <a:tailEnd/>
          </a:ln>
        </p:spPr>
      </p:pic>
      <p:pic>
        <p:nvPicPr>
          <p:cNvPr id="7171" name="Picture 3"/>
          <p:cNvPicPr>
            <a:picLocks noChangeAspect="1" noChangeArrowheads="1"/>
          </p:cNvPicPr>
          <p:nvPr/>
        </p:nvPicPr>
        <p:blipFill>
          <a:blip r:embed="rId4" cstate="print"/>
          <a:srcRect/>
          <a:stretch>
            <a:fillRect/>
          </a:stretch>
        </p:blipFill>
        <p:spPr bwMode="auto">
          <a:xfrm>
            <a:off x="2267745" y="2070345"/>
            <a:ext cx="6336704" cy="782591"/>
          </a:xfrm>
          <a:prstGeom prst="rect">
            <a:avLst/>
          </a:prstGeom>
          <a:noFill/>
          <a:ln w="9525">
            <a:noFill/>
            <a:miter lim="800000"/>
            <a:headEnd/>
            <a:tailEnd/>
          </a:ln>
        </p:spPr>
      </p:pic>
      <p:pic>
        <p:nvPicPr>
          <p:cNvPr id="7172" name="Picture 4"/>
          <p:cNvPicPr>
            <a:picLocks noChangeAspect="1" noChangeArrowheads="1"/>
          </p:cNvPicPr>
          <p:nvPr/>
        </p:nvPicPr>
        <p:blipFill>
          <a:blip r:embed="rId5" cstate="print"/>
          <a:srcRect/>
          <a:stretch>
            <a:fillRect/>
          </a:stretch>
        </p:blipFill>
        <p:spPr bwMode="auto">
          <a:xfrm>
            <a:off x="107504" y="4149080"/>
            <a:ext cx="8884228" cy="2016224"/>
          </a:xfrm>
          <a:prstGeom prst="rect">
            <a:avLst/>
          </a:prstGeom>
          <a:noFill/>
          <a:ln w="9525">
            <a:noFill/>
            <a:miter lim="800000"/>
            <a:headEnd/>
            <a:tailEnd/>
          </a:ln>
        </p:spPr>
      </p:pic>
      <p:sp>
        <p:nvSpPr>
          <p:cNvPr id="6" name="投影片編號版面配置區 5"/>
          <p:cNvSpPr>
            <a:spLocks noGrp="1"/>
          </p:cNvSpPr>
          <p:nvPr>
            <p:ph type="sldNum" sz="quarter" idx="12"/>
          </p:nvPr>
        </p:nvSpPr>
        <p:spPr/>
        <p:txBody>
          <a:bodyPr/>
          <a:lstStyle/>
          <a:p>
            <a:fld id="{4468711F-7D31-4893-9A90-99EFD4C03725}" type="slidenum">
              <a:rPr lang="zh-TW" altLang="en-US" smtClean="0"/>
              <a:pPr/>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t>
            </a:r>
            <a:endParaRPr lang="zh-TW" altLang="en-US" dirty="0"/>
          </a:p>
        </p:txBody>
      </p:sp>
      <p:pic>
        <p:nvPicPr>
          <p:cNvPr id="8194" name="Picture 2"/>
          <p:cNvPicPr>
            <a:picLocks noChangeAspect="1" noChangeArrowheads="1"/>
          </p:cNvPicPr>
          <p:nvPr/>
        </p:nvPicPr>
        <p:blipFill>
          <a:blip r:embed="rId2" cstate="print"/>
          <a:srcRect/>
          <a:stretch>
            <a:fillRect/>
          </a:stretch>
        </p:blipFill>
        <p:spPr bwMode="auto">
          <a:xfrm>
            <a:off x="225461" y="2204864"/>
            <a:ext cx="8918539" cy="2016224"/>
          </a:xfrm>
          <a:prstGeom prst="rect">
            <a:avLst/>
          </a:prstGeom>
          <a:noFill/>
          <a:ln w="9525">
            <a:noFill/>
            <a:miter lim="800000"/>
            <a:headEnd/>
            <a:tailEnd/>
          </a:ln>
        </p:spPr>
      </p:pic>
      <p:sp>
        <p:nvSpPr>
          <p:cNvPr id="5" name="文字方塊 4"/>
          <p:cNvSpPr txBox="1"/>
          <p:nvPr/>
        </p:nvSpPr>
        <p:spPr>
          <a:xfrm>
            <a:off x="179512" y="1484784"/>
            <a:ext cx="7200800" cy="523220"/>
          </a:xfrm>
          <a:prstGeom prst="rect">
            <a:avLst/>
          </a:prstGeom>
          <a:noFill/>
        </p:spPr>
        <p:txBody>
          <a:bodyPr wrap="square" rtlCol="0">
            <a:spAutoFit/>
          </a:bodyPr>
          <a:lstStyle/>
          <a:p>
            <a:r>
              <a:rPr lang="en-US" altLang="zh-TW" sz="2800" dirty="0" smtClean="0"/>
              <a:t>Data is collected from the UCI ML repository</a:t>
            </a:r>
            <a:endParaRPr lang="zh-TW" altLang="en-US" sz="2800" dirty="0"/>
          </a:p>
        </p:txBody>
      </p:sp>
      <p:sp>
        <p:nvSpPr>
          <p:cNvPr id="6" name="文字方塊 5"/>
          <p:cNvSpPr txBox="1"/>
          <p:nvPr/>
        </p:nvSpPr>
        <p:spPr>
          <a:xfrm>
            <a:off x="251520" y="4437112"/>
            <a:ext cx="8352928" cy="2062103"/>
          </a:xfrm>
          <a:prstGeom prst="rect">
            <a:avLst/>
          </a:prstGeom>
          <a:noFill/>
        </p:spPr>
        <p:txBody>
          <a:bodyPr wrap="square" rtlCol="0">
            <a:spAutoFit/>
          </a:bodyPr>
          <a:lstStyle/>
          <a:p>
            <a:r>
              <a:rPr lang="en-US" altLang="zh-TW" sz="3200" dirty="0" smtClean="0"/>
              <a:t>3 testing methods:</a:t>
            </a:r>
          </a:p>
          <a:p>
            <a:pPr lvl="1">
              <a:buFont typeface="Arial" pitchFamily="34" charset="0"/>
              <a:buChar char="•"/>
            </a:pPr>
            <a:r>
              <a:rPr lang="en-US" altLang="zh-TW" sz="3200" dirty="0" smtClean="0"/>
              <a:t>2FT (full train and full test)</a:t>
            </a:r>
          </a:p>
          <a:p>
            <a:pPr lvl="1">
              <a:buFont typeface="Arial" pitchFamily="34" charset="0"/>
              <a:buChar char="•"/>
            </a:pPr>
            <a:r>
              <a:rPr lang="en-US" altLang="zh-TW" sz="3200" dirty="0" smtClean="0"/>
              <a:t>2CV (two-fold cross validation)</a:t>
            </a:r>
          </a:p>
          <a:p>
            <a:pPr lvl="1">
              <a:buFont typeface="Arial" pitchFamily="34" charset="0"/>
              <a:buChar char="•"/>
            </a:pPr>
            <a:r>
              <a:rPr lang="en-US" altLang="zh-TW" sz="3200" dirty="0" smtClean="0"/>
              <a:t>LV1 (leave one out)</a:t>
            </a:r>
            <a:endParaRPr lang="zh-TW" altLang="en-US" sz="3200" dirty="0"/>
          </a:p>
        </p:txBody>
      </p:sp>
      <p:sp>
        <p:nvSpPr>
          <p:cNvPr id="7" name="投影片編號版面配置區 6"/>
          <p:cNvSpPr>
            <a:spLocks noGrp="1"/>
          </p:cNvSpPr>
          <p:nvPr>
            <p:ph type="sldNum" sz="quarter" idx="12"/>
          </p:nvPr>
        </p:nvSpPr>
        <p:spPr/>
        <p:txBody>
          <a:bodyPr/>
          <a:lstStyle/>
          <a:p>
            <a:fld id="{4468711F-7D31-4893-9A90-99EFD4C03725}" type="slidenum">
              <a:rPr lang="zh-TW" altLang="en-US" smtClean="0"/>
              <a:pPr/>
              <a:t>17</a:t>
            </a:fld>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p:cNvPicPr>
            <a:picLocks noChangeAspect="1" noChangeArrowheads="1"/>
          </p:cNvPicPr>
          <p:nvPr/>
        </p:nvPicPr>
        <p:blipFill>
          <a:blip r:embed="rId2" cstate="print"/>
          <a:srcRect/>
          <a:stretch>
            <a:fillRect/>
          </a:stretch>
        </p:blipFill>
        <p:spPr bwMode="auto">
          <a:xfrm>
            <a:off x="35496" y="188640"/>
            <a:ext cx="8990856" cy="6669360"/>
          </a:xfrm>
          <a:prstGeom prst="rect">
            <a:avLst/>
          </a:prstGeom>
          <a:noFill/>
          <a:ln w="9525">
            <a:noFill/>
            <a:miter lim="800000"/>
            <a:headEnd/>
            <a:tailEnd/>
          </a:ln>
        </p:spPr>
      </p:pic>
      <p:sp>
        <p:nvSpPr>
          <p:cNvPr id="3" name="投影片編號版面配置區 2"/>
          <p:cNvSpPr>
            <a:spLocks noGrp="1"/>
          </p:cNvSpPr>
          <p:nvPr>
            <p:ph type="sldNum" sz="quarter" idx="12"/>
          </p:nvPr>
        </p:nvSpPr>
        <p:spPr/>
        <p:txBody>
          <a:bodyPr/>
          <a:lstStyle/>
          <a:p>
            <a:fld id="{4468711F-7D31-4893-9A90-99EFD4C03725}" type="slidenum">
              <a:rPr lang="zh-TW" altLang="en-US" smtClean="0"/>
              <a:pPr/>
              <a:t>18</a:t>
            </a:fld>
            <a:endParaRPr lang="zh-TW" altLang="en-US"/>
          </a:p>
        </p:txBody>
      </p:sp>
      <p:sp>
        <p:nvSpPr>
          <p:cNvPr id="5" name="圓角矩形圖說文字 4"/>
          <p:cNvSpPr/>
          <p:nvPr/>
        </p:nvSpPr>
        <p:spPr>
          <a:xfrm>
            <a:off x="323528" y="980728"/>
            <a:ext cx="1944216" cy="216024"/>
          </a:xfrm>
          <a:prstGeom prst="wedgeRoundRectCallout">
            <a:avLst>
              <a:gd name="adj1" fmla="val 63883"/>
              <a:gd name="adj2" fmla="val -12569"/>
              <a:gd name="adj3" fmla="val 16667"/>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smtClean="0">
                <a:solidFill>
                  <a:schemeClr val="tx1"/>
                </a:solidFill>
              </a:rPr>
              <a:t>Without weighting fun.</a:t>
            </a:r>
            <a:endParaRPr lang="zh-TW" altLang="en-US" sz="1400"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srcRect/>
          <a:stretch>
            <a:fillRect/>
          </a:stretch>
        </p:blipFill>
        <p:spPr bwMode="auto">
          <a:xfrm>
            <a:off x="0" y="1"/>
            <a:ext cx="9144000" cy="6858000"/>
          </a:xfrm>
          <a:prstGeom prst="rect">
            <a:avLst/>
          </a:prstGeom>
          <a:noFill/>
          <a:ln w="9525">
            <a:noFill/>
            <a:miter lim="800000"/>
            <a:headEnd/>
            <a:tailEnd/>
          </a:ln>
        </p:spPr>
      </p:pic>
      <p:sp>
        <p:nvSpPr>
          <p:cNvPr id="3" name="投影片編號版面配置區 2"/>
          <p:cNvSpPr>
            <a:spLocks noGrp="1"/>
          </p:cNvSpPr>
          <p:nvPr>
            <p:ph type="sldNum" sz="quarter" idx="12"/>
          </p:nvPr>
        </p:nvSpPr>
        <p:spPr/>
        <p:txBody>
          <a:bodyPr/>
          <a:lstStyle/>
          <a:p>
            <a:fld id="{4468711F-7D31-4893-9A90-99EFD4C03725}" type="slidenum">
              <a:rPr lang="zh-TW" altLang="en-US" smtClean="0"/>
              <a:pPr/>
              <a:t>19</a:t>
            </a:fld>
            <a:endParaRPr lang="zh-TW"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srcRect/>
          <a:stretch>
            <a:fillRect/>
          </a:stretch>
        </p:blipFill>
        <p:spPr bwMode="auto">
          <a:xfrm>
            <a:off x="0" y="216024"/>
            <a:ext cx="9060136" cy="6669360"/>
          </a:xfrm>
          <a:prstGeom prst="rect">
            <a:avLst/>
          </a:prstGeom>
          <a:noFill/>
          <a:ln w="9525">
            <a:noFill/>
            <a:miter lim="800000"/>
            <a:headEnd/>
            <a:tailEnd/>
          </a:ln>
        </p:spPr>
      </p:pic>
      <p:sp>
        <p:nvSpPr>
          <p:cNvPr id="3" name="投影片編號版面配置區 2"/>
          <p:cNvSpPr>
            <a:spLocks noGrp="1"/>
          </p:cNvSpPr>
          <p:nvPr>
            <p:ph type="sldNum" sz="quarter" idx="12"/>
          </p:nvPr>
        </p:nvSpPr>
        <p:spPr/>
        <p:txBody>
          <a:bodyPr/>
          <a:lstStyle/>
          <a:p>
            <a:fld id="{4468711F-7D31-4893-9A90-99EFD4C03725}" type="slidenum">
              <a:rPr lang="zh-TW" altLang="en-US" smtClean="0"/>
              <a:pPr/>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Conclusion</a:t>
            </a:r>
            <a:endParaRPr lang="zh-TW" altLang="en-US" dirty="0"/>
          </a:p>
        </p:txBody>
      </p:sp>
      <p:sp>
        <p:nvSpPr>
          <p:cNvPr id="3" name="內容版面配置區 2"/>
          <p:cNvSpPr>
            <a:spLocks noGrp="1"/>
          </p:cNvSpPr>
          <p:nvPr>
            <p:ph idx="1"/>
          </p:nvPr>
        </p:nvSpPr>
        <p:spPr/>
        <p:txBody>
          <a:bodyPr/>
          <a:lstStyle/>
          <a:p>
            <a:r>
              <a:rPr lang="en-US" altLang="zh-TW" dirty="0" smtClean="0"/>
              <a:t>The weighting function enhances the compatibility grade of some patterns to classify them truly.</a:t>
            </a:r>
          </a:p>
          <a:p>
            <a:r>
              <a:rPr lang="en-US" altLang="zh-TW" dirty="0" smtClean="0"/>
              <a:t>Experimental results shows that the proposed can improve the classification accuracy.</a:t>
            </a:r>
            <a:endParaRPr lang="zh-TW" altLang="en-US" dirty="0"/>
          </a:p>
        </p:txBody>
      </p:sp>
      <p:sp>
        <p:nvSpPr>
          <p:cNvPr id="4" name="投影片編號版面配置區 3"/>
          <p:cNvSpPr>
            <a:spLocks noGrp="1"/>
          </p:cNvSpPr>
          <p:nvPr>
            <p:ph type="sldNum" sz="quarter" idx="12"/>
          </p:nvPr>
        </p:nvSpPr>
        <p:spPr/>
        <p:txBody>
          <a:bodyPr/>
          <a:lstStyle/>
          <a:p>
            <a:fld id="{4468711F-7D31-4893-9A90-99EFD4C03725}" type="slidenum">
              <a:rPr lang="zh-TW" altLang="en-US" smtClean="0"/>
              <a:pPr/>
              <a:t>21</a:t>
            </a:fld>
            <a:endParaRPr lang="zh-TW"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750px-GNU_Tux_Revolution_-_white_background_-1280x1024.png"/>
          <p:cNvPicPr>
            <a:picLocks noChangeAspect="1"/>
          </p:cNvPicPr>
          <p:nvPr/>
        </p:nvPicPr>
        <p:blipFill>
          <a:blip r:embed="rId2" cstate="print">
            <a:lum bright="10000"/>
          </a:blip>
          <a:srcRect t="33200" b="22700"/>
          <a:stretch>
            <a:fillRect/>
          </a:stretch>
        </p:blipFill>
        <p:spPr>
          <a:xfrm>
            <a:off x="323528" y="2780928"/>
            <a:ext cx="8572500" cy="302433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4" name="文字方塊 3"/>
          <p:cNvSpPr txBox="1"/>
          <p:nvPr/>
        </p:nvSpPr>
        <p:spPr>
          <a:xfrm>
            <a:off x="1547664" y="1124744"/>
            <a:ext cx="6192688" cy="1569660"/>
          </a:xfrm>
          <a:prstGeom prst="rect">
            <a:avLst/>
          </a:prstGeom>
          <a:noFill/>
        </p:spPr>
        <p:txBody>
          <a:bodyPr wrap="square" rtlCol="0">
            <a:spAutoFit/>
          </a:bodyPr>
          <a:lstStyle/>
          <a:p>
            <a:pPr algn="ctr"/>
            <a:r>
              <a:rPr lang="en-US" altLang="zh-TW" sz="9600" dirty="0" smtClean="0"/>
              <a:t>Thank you!!</a:t>
            </a:r>
            <a:endParaRPr lang="zh-TW" altLang="en-US" sz="9600" dirty="0"/>
          </a:p>
        </p:txBody>
      </p:sp>
      <p:sp>
        <p:nvSpPr>
          <p:cNvPr id="6" name="投影片編號版面配置區 5"/>
          <p:cNvSpPr>
            <a:spLocks noGrp="1"/>
          </p:cNvSpPr>
          <p:nvPr>
            <p:ph type="sldNum" sz="quarter" idx="12"/>
          </p:nvPr>
        </p:nvSpPr>
        <p:spPr/>
        <p:txBody>
          <a:bodyPr/>
          <a:lstStyle/>
          <a:p>
            <a:fld id="{4468711F-7D31-4893-9A90-99EFD4C03725}" type="slidenum">
              <a:rPr lang="zh-TW" altLang="en-US" smtClean="0"/>
              <a:pPr/>
              <a:t>22</a:t>
            </a:fld>
            <a:endParaRPr lang="zh-TW" altLang="en-US"/>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227</TotalTime>
  <Words>1051</Words>
  <Application>Microsoft Office PowerPoint</Application>
  <PresentationFormat>如螢幕大小 (4:3)</PresentationFormat>
  <Paragraphs>206</Paragraphs>
  <Slides>22</Slides>
  <Notes>0</Notes>
  <HiddenSlides>0</HiddenSlides>
  <MMClips>0</MMClips>
  <ScaleCrop>false</ScaleCrop>
  <HeadingPairs>
    <vt:vector size="4" baseType="variant">
      <vt:variant>
        <vt:lpstr>佈景主題</vt:lpstr>
      </vt:variant>
      <vt:variant>
        <vt:i4>1</vt:i4>
      </vt:variant>
      <vt:variant>
        <vt:lpstr>投影片標題</vt:lpstr>
      </vt:variant>
      <vt:variant>
        <vt:i4>22</vt:i4>
      </vt:variant>
    </vt:vector>
  </HeadingPairs>
  <TitlesOfParts>
    <vt:vector size="23" baseType="lpstr">
      <vt:lpstr>Office 佈景主題</vt:lpstr>
      <vt:lpstr>A weighting function for improving fuzzy classification systems performance</vt:lpstr>
      <vt:lpstr>Abstract</vt:lpstr>
      <vt:lpstr>Data representation</vt:lpstr>
      <vt:lpstr>Example of fuzzy set</vt:lpstr>
      <vt:lpstr>投影片 5</vt:lpstr>
      <vt:lpstr>Fuzzy if-then rule</vt:lpstr>
      <vt:lpstr>Fuzzy rules generation</vt:lpstr>
      <vt:lpstr>投影片 8</vt:lpstr>
      <vt:lpstr>Training the fuzzy rules </vt:lpstr>
      <vt:lpstr>Computing the certainty grade  of each rule</vt:lpstr>
      <vt:lpstr>Fuzzy reasoning based on a single winner rule</vt:lpstr>
      <vt:lpstr>投影片 12</vt:lpstr>
      <vt:lpstr>The proposed weighting function (without certainty grade)</vt:lpstr>
      <vt:lpstr>投影片 14</vt:lpstr>
      <vt:lpstr>The proposed weighting function (within certainty grade)</vt:lpstr>
      <vt:lpstr>投影片 16</vt:lpstr>
      <vt:lpstr>Experiment</vt:lpstr>
      <vt:lpstr>投影片 18</vt:lpstr>
      <vt:lpstr>投影片 19</vt:lpstr>
      <vt:lpstr>投影片 20</vt:lpstr>
      <vt:lpstr>Conclusion</vt:lpstr>
      <vt:lpstr>投影片 22</vt:lpstr>
    </vt:vector>
  </TitlesOfParts>
  <Company>comstar</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weighting function for improving fuzzy classification systems performance</dc:title>
  <dc:creator>chenhh</dc:creator>
  <cp:lastModifiedBy>chenhh</cp:lastModifiedBy>
  <cp:revision>186</cp:revision>
  <dcterms:created xsi:type="dcterms:W3CDTF">2011-05-29T02:14:44Z</dcterms:created>
  <dcterms:modified xsi:type="dcterms:W3CDTF">2011-08-22T16:51:52Z</dcterms:modified>
</cp:coreProperties>
</file>