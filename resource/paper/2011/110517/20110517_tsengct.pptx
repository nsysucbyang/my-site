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3" r:id="rId17"/>
    <p:sldId id="272" r:id="rId18"/>
    <p:sldId id="271" r:id="rId19"/>
    <p:sldId id="274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grpSp>
        <p:nvGrpSpPr>
          <p:cNvPr id="2" name="群組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手繪多邊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手繪多邊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手繪多邊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線接點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版面配置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19" name="頁尾版面配置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＞形箭號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＞形箭號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8" name="手繪多邊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手繪多邊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線接點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＞形箭號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＞形箭號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手繪多邊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0" name="文字版面配置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0" name="日期版面配置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90679F3-455E-4BF5-83CF-CE5D75803B1C}" type="datetimeFigureOut">
              <a:rPr lang="zh-TW" altLang="en-US" smtClean="0"/>
              <a:t>05/17/2011</a:t>
            </a:fld>
            <a:endParaRPr lang="zh-TW" altLang="en-US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60C1741-E207-4D90-9C1F-535AE5C250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84482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/>
              <a:t>A fast algorithm for finding the positions of all squares in a </a:t>
            </a:r>
            <a:r>
              <a:rPr lang="en-US" altLang="zh-TW" sz="3200" dirty="0" smtClean="0"/>
              <a:t>run-length encoded </a:t>
            </a:r>
            <a:r>
              <a:rPr lang="en-US" altLang="zh-TW" sz="3200" dirty="0"/>
              <a:t>string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TW" altLang="zh-TW" sz="1800" dirty="0">
                <a:solidFill>
                  <a:schemeClr val="tx1"/>
                </a:solidFill>
              </a:rPr>
              <a:t>J. J. Liu(劉嘉傑), G. S. Huang(黃光璿</a:t>
            </a:r>
            <a:r>
              <a:rPr lang="zh-TW" altLang="zh-TW" sz="1800" dirty="0" smtClean="0">
                <a:solidFill>
                  <a:schemeClr val="tx1"/>
                </a:solidFill>
              </a:rPr>
              <a:t>) </a:t>
            </a:r>
            <a:r>
              <a:rPr lang="zh-TW" altLang="zh-TW" sz="1800" dirty="0">
                <a:solidFill>
                  <a:schemeClr val="tx1"/>
                </a:solidFill>
              </a:rPr>
              <a:t>and Y. L. Wang(王有禮</a:t>
            </a:r>
            <a:r>
              <a:rPr lang="zh-TW" altLang="zh-TW" sz="1800" dirty="0" smtClean="0">
                <a:solidFill>
                  <a:schemeClr val="tx1"/>
                </a:solidFill>
              </a:rPr>
              <a:t>)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r>
              <a:rPr lang="en-US" altLang="zh-TW" sz="1800" dirty="0">
                <a:solidFill>
                  <a:schemeClr val="tx1"/>
                </a:solidFill>
              </a:rPr>
              <a:t>Theoretical Computer </a:t>
            </a:r>
            <a:r>
              <a:rPr lang="en-US" altLang="zh-TW" sz="1800" dirty="0" smtClean="0">
                <a:solidFill>
                  <a:schemeClr val="tx1"/>
                </a:solidFill>
              </a:rPr>
              <a:t>Science, Vol. 410, pp.3942-3948, 2009</a:t>
            </a:r>
          </a:p>
          <a:p>
            <a:r>
              <a:rPr lang="en-US" altLang="zh-TW" sz="1800" dirty="0" smtClean="0">
                <a:solidFill>
                  <a:schemeClr val="tx1"/>
                </a:solidFill>
              </a:rPr>
              <a:t>Presenter</a:t>
            </a:r>
            <a:r>
              <a:rPr lang="zh-TW" altLang="en-US" sz="1800" dirty="0" smtClean="0">
                <a:solidFill>
                  <a:schemeClr val="tx1"/>
                </a:solidFill>
              </a:rPr>
              <a:t>：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Chiou</a:t>
            </a:r>
            <a:r>
              <a:rPr lang="en-US" altLang="zh-TW" sz="1800" dirty="0" smtClean="0">
                <a:solidFill>
                  <a:schemeClr val="tx1"/>
                </a:solidFill>
              </a:rPr>
              <a:t>-Ting Tseng</a:t>
            </a:r>
          </a:p>
          <a:p>
            <a:r>
              <a:rPr lang="en-US" altLang="zh-TW" sz="1800" dirty="0" smtClean="0">
                <a:solidFill>
                  <a:schemeClr val="tx1"/>
                </a:solidFill>
              </a:rPr>
              <a:t>Date: May. 17, 2011</a:t>
            </a:r>
          </a:p>
        </p:txBody>
      </p:sp>
    </p:spTree>
    <p:extLst>
      <p:ext uri="{BB962C8B-B14F-4D97-AF65-F5344CB8AC3E}">
        <p14:creationId xmlns:p14="http://schemas.microsoft.com/office/powerpoint/2010/main" val="224535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Squares are strings of the form </a:t>
            </a:r>
            <a:r>
              <a:rPr lang="en-US" altLang="zh-TW" i="1" dirty="0" err="1"/>
              <a:t>ww</a:t>
            </a:r>
            <a:r>
              <a:rPr lang="en-US" altLang="zh-TW" dirty="0"/>
              <a:t> where </a:t>
            </a:r>
            <a:r>
              <a:rPr lang="en-US" altLang="zh-TW" i="1" dirty="0"/>
              <a:t>w</a:t>
            </a:r>
            <a:r>
              <a:rPr lang="en-US" altLang="zh-TW" dirty="0"/>
              <a:t> is any nonempty string. Main and </a:t>
            </a:r>
            <a:r>
              <a:rPr lang="en-US" altLang="zh-TW" dirty="0" smtClean="0"/>
              <a:t>Lorentz proposed </a:t>
            </a:r>
            <a:r>
              <a:rPr lang="en-US" altLang="zh-TW" dirty="0"/>
              <a:t>an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/>
              <a:t>log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)-time </a:t>
            </a:r>
            <a:r>
              <a:rPr lang="en-US" altLang="zh-TW" dirty="0"/>
              <a:t>algorithm for finding the positions of all squares in a </a:t>
            </a:r>
            <a:r>
              <a:rPr lang="en-US" altLang="zh-TW" dirty="0" smtClean="0"/>
              <a:t>string of </a:t>
            </a:r>
            <a:r>
              <a:rPr lang="en-US" altLang="zh-TW" dirty="0"/>
              <a:t>length </a:t>
            </a:r>
            <a:r>
              <a:rPr lang="en-US" altLang="zh-TW" i="1" dirty="0"/>
              <a:t>n</a:t>
            </a:r>
            <a:r>
              <a:rPr lang="en-US" altLang="zh-TW" dirty="0"/>
              <a:t>. Based on their result, we show how to find the positions of all squares in </a:t>
            </a:r>
            <a:r>
              <a:rPr lang="en-US" altLang="zh-TW" dirty="0" smtClean="0"/>
              <a:t>a run-length </a:t>
            </a:r>
            <a:r>
              <a:rPr lang="en-US" altLang="zh-TW" dirty="0"/>
              <a:t>encoded string in time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</a:t>
            </a:r>
            <a:r>
              <a:rPr lang="en-US" altLang="zh-TW" dirty="0"/>
              <a:t>log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</a:t>
            </a:r>
            <a:r>
              <a:rPr lang="en-US" altLang="zh-TW" dirty="0"/>
              <a:t>where </a:t>
            </a:r>
            <a:r>
              <a:rPr lang="en-US" altLang="zh-TW" i="1" dirty="0"/>
              <a:t>N</a:t>
            </a:r>
            <a:r>
              <a:rPr lang="en-US" altLang="zh-TW" dirty="0"/>
              <a:t> is the number of runs in this </a:t>
            </a:r>
            <a:r>
              <a:rPr lang="en-US" altLang="zh-TW" dirty="0" smtClean="0"/>
              <a:t>string, provided </a:t>
            </a:r>
            <a:r>
              <a:rPr lang="en-US" altLang="zh-TW" dirty="0"/>
              <a:t>that we do not explicitly compute at all </a:t>
            </a:r>
            <a:r>
              <a:rPr lang="en-US" altLang="zh-TW" dirty="0" smtClean="0"/>
              <a:t>“trivial squares” occurring </a:t>
            </a:r>
            <a:r>
              <a:rPr lang="en-US" altLang="zh-TW" dirty="0"/>
              <a:t>within </a:t>
            </a:r>
            <a:r>
              <a:rPr lang="en-US" altLang="zh-TW" dirty="0" smtClean="0"/>
              <a:t>runs. The </a:t>
            </a:r>
            <a:r>
              <a:rPr lang="en-US" altLang="zh-TW" dirty="0"/>
              <a:t>algorithm is optimal and its time complexity is independent of the length of the </a:t>
            </a:r>
            <a:r>
              <a:rPr lang="en-US" altLang="zh-TW" dirty="0" smtClean="0"/>
              <a:t>original uncompressed </a:t>
            </a:r>
            <a:r>
              <a:rPr lang="en-US" altLang="zh-TW" dirty="0"/>
              <a:t>string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095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n </a:t>
            </a:r>
            <a:r>
              <a:rPr lang="en-US" altLang="zh-TW" dirty="0"/>
              <a:t>immediately repeated nonempty string</a:t>
            </a:r>
            <a:endParaRPr lang="en-US" altLang="zh-TW" dirty="0" smtClean="0"/>
          </a:p>
          <a:p>
            <a:r>
              <a:rPr lang="en-US" altLang="zh-TW" dirty="0" err="1" smtClean="0"/>
              <a:t>aa</a:t>
            </a:r>
            <a:endParaRPr lang="en-US" altLang="zh-TW" dirty="0" smtClean="0"/>
          </a:p>
          <a:p>
            <a:r>
              <a:rPr lang="en-US" altLang="zh-TW" dirty="0" err="1" smtClean="0"/>
              <a:t>abab</a:t>
            </a:r>
            <a:endParaRPr lang="en-US" altLang="zh-TW" dirty="0" smtClean="0"/>
          </a:p>
          <a:p>
            <a:r>
              <a:rPr lang="en-US" altLang="zh-TW" dirty="0" err="1" smtClean="0"/>
              <a:t>xyzxyz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Square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5913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 remark that the total number of occurrences of squares in </a:t>
            </a:r>
            <a:r>
              <a:rPr lang="en-US" altLang="zh-TW" i="1" dirty="0"/>
              <a:t>a</a:t>
            </a:r>
            <a:r>
              <a:rPr lang="en-US" altLang="zh-TW" i="1" baseline="30000" dirty="0"/>
              <a:t>n</a:t>
            </a:r>
            <a:r>
              <a:rPr lang="en-US" altLang="zh-TW" dirty="0"/>
              <a:t> is </a:t>
            </a:r>
            <a:r>
              <a:rPr lang="el-GR" altLang="zh-TW" dirty="0" smtClean="0"/>
              <a:t>Θ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/>
              <a:t>)</a:t>
            </a:r>
            <a:r>
              <a:rPr lang="en-US" altLang="zh-TW" dirty="0" smtClean="0"/>
              <a:t>, </a:t>
            </a:r>
            <a:r>
              <a:rPr lang="en-US" altLang="zh-TW" dirty="0"/>
              <a:t>which indicates that an </a:t>
            </a:r>
            <a:r>
              <a:rPr lang="en-US" altLang="zh-TW" dirty="0" smtClean="0"/>
              <a:t>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/>
              <a:t>)</a:t>
            </a:r>
            <a:r>
              <a:rPr lang="en-US" altLang="zh-TW" dirty="0" smtClean="0"/>
              <a:t>-</a:t>
            </a:r>
            <a:r>
              <a:rPr lang="en-US" altLang="zh-TW" dirty="0"/>
              <a:t>time </a:t>
            </a:r>
            <a:r>
              <a:rPr lang="en-US" altLang="zh-TW" dirty="0" smtClean="0"/>
              <a:t>algorithm is </a:t>
            </a:r>
            <a:r>
              <a:rPr lang="en-US" altLang="zh-TW" dirty="0"/>
              <a:t>optimal if one needs to enumerate one occurrence at a time</a:t>
            </a:r>
            <a:r>
              <a:rPr lang="en-US" altLang="zh-TW" dirty="0" smtClean="0"/>
              <a:t>.</a:t>
            </a:r>
          </a:p>
          <a:p>
            <a:r>
              <a:rPr lang="en-US" altLang="zh-TW" dirty="0" err="1" smtClean="0"/>
              <a:t>aaaaaa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itchFamily="2" charset="2"/>
              </a:rPr>
              <a:t> 5 * </a:t>
            </a:r>
            <a:r>
              <a:rPr lang="en-US" altLang="zh-TW" dirty="0" err="1" smtClean="0">
                <a:sym typeface="Wingdings" pitchFamily="2" charset="2"/>
              </a:rPr>
              <a:t>aa</a:t>
            </a:r>
            <a:r>
              <a:rPr lang="en-US" altLang="zh-TW" dirty="0" smtClean="0">
                <a:sym typeface="Wingdings" pitchFamily="2" charset="2"/>
              </a:rPr>
              <a:t> + 3 * </a:t>
            </a:r>
            <a:r>
              <a:rPr lang="en-US" altLang="zh-TW" dirty="0" err="1" smtClean="0">
                <a:sym typeface="Wingdings" pitchFamily="2" charset="2"/>
              </a:rPr>
              <a:t>aaaa</a:t>
            </a:r>
            <a:r>
              <a:rPr lang="en-US" altLang="zh-TW" dirty="0" smtClean="0">
                <a:sym typeface="Wingdings" pitchFamily="2" charset="2"/>
              </a:rPr>
              <a:t> + 1 * </a:t>
            </a:r>
            <a:r>
              <a:rPr lang="en-US" altLang="zh-TW" dirty="0" err="1" smtClean="0">
                <a:sym typeface="Wingdings" pitchFamily="2" charset="2"/>
              </a:rPr>
              <a:t>aaaaaa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Optimality</a:t>
            </a:r>
            <a:endParaRPr lang="zh-TW" altLang="en-US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971600" y="407707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1124000" y="422947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331640" y="4381872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71600" y="453427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86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Related Squares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25" y="2292255"/>
            <a:ext cx="715327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543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Divide and Conquer</a:t>
            </a:r>
          </a:p>
          <a:p>
            <a:r>
              <a:rPr lang="en-US" altLang="zh-TW" dirty="0" smtClean="0"/>
              <a:t>Suppose </a:t>
            </a:r>
            <a:r>
              <a:rPr lang="en-US" altLang="zh-TW" dirty="0"/>
              <a:t>that </a:t>
            </a:r>
            <a:r>
              <a:rPr lang="en-US" altLang="zh-TW" dirty="0" smtClean="0"/>
              <a:t>a string </a:t>
            </a:r>
            <a:r>
              <a:rPr lang="en-US" altLang="zh-TW" i="1" dirty="0"/>
              <a:t>x</a:t>
            </a:r>
            <a:r>
              <a:rPr lang="en-US" altLang="zh-TW" dirty="0"/>
              <a:t> is divided into two nonempty strings </a:t>
            </a:r>
            <a:r>
              <a:rPr lang="en-US" altLang="zh-TW" i="1" dirty="0"/>
              <a:t>u</a:t>
            </a:r>
            <a:r>
              <a:rPr lang="en-US" altLang="zh-TW" dirty="0"/>
              <a:t> and </a:t>
            </a:r>
            <a:r>
              <a:rPr lang="en-US" altLang="zh-TW" i="1" dirty="0"/>
              <a:t>v</a:t>
            </a:r>
            <a:r>
              <a:rPr lang="en-US" altLang="zh-TW" dirty="0"/>
              <a:t>. If </a:t>
            </a:r>
            <a:r>
              <a:rPr lang="en-US" altLang="zh-TW" i="1" dirty="0" err="1"/>
              <a:t>ww</a:t>
            </a:r>
            <a:r>
              <a:rPr lang="en-US" altLang="zh-TW" dirty="0"/>
              <a:t> is a square of </a:t>
            </a:r>
            <a:r>
              <a:rPr lang="en-US" altLang="zh-TW" i="1" dirty="0"/>
              <a:t>x</a:t>
            </a:r>
            <a:r>
              <a:rPr lang="en-US" altLang="zh-TW" dirty="0"/>
              <a:t>, then clearly either </a:t>
            </a:r>
            <a:r>
              <a:rPr lang="en-US" altLang="zh-TW" i="1" dirty="0" err="1"/>
              <a:t>ww</a:t>
            </a:r>
            <a:r>
              <a:rPr lang="en-US" altLang="zh-TW" dirty="0"/>
              <a:t> occurs in </a:t>
            </a:r>
            <a:r>
              <a:rPr lang="en-US" altLang="zh-TW" i="1" dirty="0"/>
              <a:t>u</a:t>
            </a:r>
            <a:r>
              <a:rPr lang="en-US" altLang="zh-TW" dirty="0"/>
              <a:t> or in </a:t>
            </a:r>
            <a:r>
              <a:rPr lang="en-US" altLang="zh-TW" i="1" dirty="0"/>
              <a:t>v</a:t>
            </a:r>
            <a:r>
              <a:rPr lang="en-US" altLang="zh-TW" dirty="0"/>
              <a:t>, or </a:t>
            </a:r>
            <a:r>
              <a:rPr lang="en-US" altLang="zh-TW" dirty="0" smtClean="0"/>
              <a:t>as the </a:t>
            </a:r>
            <a:r>
              <a:rPr lang="en-US" altLang="zh-TW" dirty="0"/>
              <a:t>concatenation of a suffix of </a:t>
            </a:r>
            <a:r>
              <a:rPr lang="en-US" altLang="zh-TW" i="1" dirty="0"/>
              <a:t>u</a:t>
            </a:r>
            <a:r>
              <a:rPr lang="en-US" altLang="zh-TW" dirty="0"/>
              <a:t> and a prefix of </a:t>
            </a:r>
            <a:r>
              <a:rPr lang="en-US" altLang="zh-TW" i="1" dirty="0"/>
              <a:t>v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r>
              <a:rPr lang="en-US" altLang="zh-TW" dirty="0" smtClean="0"/>
              <a:t>square(</a:t>
            </a:r>
            <a:r>
              <a:rPr lang="en-US" altLang="zh-TW" dirty="0" err="1" smtClean="0"/>
              <a:t>uv</a:t>
            </a:r>
            <a:r>
              <a:rPr lang="en-US" altLang="zh-TW" dirty="0" smtClean="0"/>
              <a:t>) = square(u) ∪ square(v)</a:t>
            </a:r>
            <a:r>
              <a:rPr lang="en-US" altLang="zh-TW" dirty="0"/>
              <a:t> ∪</a:t>
            </a:r>
            <a:r>
              <a:rPr lang="en-US" altLang="zh-TW" dirty="0" smtClean="0"/>
              <a:t> cross(u, v) </a:t>
            </a:r>
            <a:r>
              <a:rPr lang="en-US" altLang="zh-TW" dirty="0"/>
              <a:t>for </a:t>
            </a:r>
            <a:r>
              <a:rPr lang="en-US" altLang="zh-TW" dirty="0" smtClean="0"/>
              <a:t>u, </a:t>
            </a:r>
            <a:r>
              <a:rPr lang="en-US" altLang="zh-TW" dirty="0"/>
              <a:t>v </a:t>
            </a:r>
            <a:r>
              <a:rPr lang="en-US" altLang="zh-TW" dirty="0" smtClean="0"/>
              <a:t>nonempty</a:t>
            </a:r>
          </a:p>
          <a:p>
            <a:r>
              <a:rPr lang="en-US" altLang="zh-TW" dirty="0"/>
              <a:t>s</a:t>
            </a:r>
            <a:r>
              <a:rPr lang="en-US" altLang="zh-TW" dirty="0" smtClean="0"/>
              <a:t>quare(y)=∅ </a:t>
            </a:r>
            <a:r>
              <a:rPr lang="en-US" altLang="zh-TW" dirty="0"/>
              <a:t>if </a:t>
            </a:r>
            <a:r>
              <a:rPr lang="en-US" altLang="zh-TW" dirty="0" smtClean="0"/>
              <a:t>|y|≤1: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and </a:t>
            </a:r>
            <a:r>
              <a:rPr lang="en-US" altLang="zh-TW" b="0" dirty="0"/>
              <a:t>Lorentz's </a:t>
            </a:r>
            <a:r>
              <a:rPr lang="en-US" altLang="zh-TW" b="0" dirty="0" smtClean="0"/>
              <a:t>Idea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82505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LP(v</a:t>
            </a:r>
            <a:r>
              <a:rPr lang="en-US" altLang="zh-TW" dirty="0"/>
              <a:t>,</a:t>
            </a:r>
            <a:r>
              <a:rPr lang="en-US" altLang="zh-TW" dirty="0" smtClean="0"/>
              <a:t> j): </a:t>
            </a:r>
            <a:r>
              <a:rPr lang="en-US" altLang="zh-TW" dirty="0"/>
              <a:t>the length of the longest substring of v that starts at position j (for </a:t>
            </a:r>
            <a:r>
              <a:rPr lang="en-US" altLang="zh-TW" dirty="0" smtClean="0"/>
              <a:t>2</a:t>
            </a:r>
            <a:r>
              <a:rPr lang="en-US" altLang="zh-TW" dirty="0"/>
              <a:t> ≤ </a:t>
            </a:r>
            <a:r>
              <a:rPr lang="en-US" altLang="zh-TW" dirty="0" smtClean="0"/>
              <a:t>j</a:t>
            </a:r>
            <a:r>
              <a:rPr lang="en-US" altLang="zh-TW" dirty="0"/>
              <a:t> ≤ |</a:t>
            </a:r>
            <a:r>
              <a:rPr lang="en-US" altLang="zh-TW" dirty="0" smtClean="0"/>
              <a:t>v|) </a:t>
            </a:r>
            <a:r>
              <a:rPr lang="en-US" altLang="zh-TW" dirty="0"/>
              <a:t>and matches a prefix of v;</a:t>
            </a:r>
          </a:p>
          <a:p>
            <a:r>
              <a:rPr lang="en-US" altLang="zh-TW" dirty="0"/>
              <a:t> </a:t>
            </a:r>
            <a:r>
              <a:rPr lang="en-US" altLang="zh-TW" dirty="0" smtClean="0"/>
              <a:t>LS(u</a:t>
            </a:r>
            <a:r>
              <a:rPr lang="en-US" altLang="zh-TW" dirty="0"/>
              <a:t>,</a:t>
            </a:r>
            <a:r>
              <a:rPr lang="en-US" altLang="zh-TW" dirty="0" smtClean="0"/>
              <a:t> v, j): </a:t>
            </a:r>
            <a:r>
              <a:rPr lang="en-US" altLang="zh-TW" dirty="0"/>
              <a:t>the length of the longest substring of v that ends at position j (for </a:t>
            </a:r>
            <a:r>
              <a:rPr lang="en-US" altLang="zh-TW" dirty="0" smtClean="0"/>
              <a:t>1</a:t>
            </a:r>
            <a:r>
              <a:rPr lang="en-US" altLang="zh-TW" dirty="0"/>
              <a:t> ≤ </a:t>
            </a:r>
            <a:r>
              <a:rPr lang="en-US" altLang="zh-TW" dirty="0" smtClean="0"/>
              <a:t>j </a:t>
            </a:r>
            <a:r>
              <a:rPr lang="en-US" altLang="zh-TW" dirty="0"/>
              <a:t>≤ </a:t>
            </a:r>
            <a:r>
              <a:rPr lang="en-US" altLang="zh-TW" dirty="0" smtClean="0"/>
              <a:t>|v|) </a:t>
            </a:r>
            <a:r>
              <a:rPr lang="en-US" altLang="zh-TW" dirty="0"/>
              <a:t>and matches a suffix of u.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 </a:t>
            </a:r>
            <a:r>
              <a:rPr lang="en-US" altLang="zh-TW" dirty="0" smtClean="0"/>
              <a:t>and </a:t>
            </a:r>
            <a:r>
              <a:rPr lang="en-US" altLang="zh-TW" b="0" dirty="0"/>
              <a:t>Lorentz's Idea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815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06561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447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Let j and k be integers with 1 ≤ j ≤ |</a:t>
            </a:r>
            <a:r>
              <a:rPr lang="en-US" altLang="zh-TW" dirty="0" err="1"/>
              <a:t>v|</a:t>
            </a:r>
            <a:r>
              <a:rPr lang="en-US" altLang="zh-TW" dirty="0" err="1" smtClean="0"/>
              <a:t>and</a:t>
            </a:r>
            <a:r>
              <a:rPr lang="en-US" altLang="zh-TW" dirty="0" smtClean="0"/>
              <a:t> j</a:t>
            </a:r>
            <a:r>
              <a:rPr lang="en-US" altLang="zh-TW" dirty="0"/>
              <a:t> ≤ </a:t>
            </a:r>
            <a:r>
              <a:rPr lang="en-US" altLang="zh-TW" dirty="0" smtClean="0"/>
              <a:t>k </a:t>
            </a:r>
            <a:r>
              <a:rPr lang="en-US" altLang="zh-TW" dirty="0"/>
              <a:t>&lt; 2j. There is a square of length 2j in </a:t>
            </a:r>
            <a:r>
              <a:rPr lang="en-US" altLang="zh-TW" dirty="0" err="1" smtClean="0"/>
              <a:t>uv</a:t>
            </a:r>
            <a:r>
              <a:rPr lang="en-US" altLang="zh-TW" dirty="0" smtClean="0"/>
              <a:t> ending </a:t>
            </a:r>
            <a:r>
              <a:rPr lang="en-US" altLang="zh-TW" dirty="0"/>
              <a:t>at position k of v if and only if 2j </a:t>
            </a:r>
            <a:r>
              <a:rPr lang="en-US" altLang="zh-TW" dirty="0" smtClean="0"/>
              <a:t>– LS(u</a:t>
            </a:r>
            <a:r>
              <a:rPr lang="en-US" altLang="zh-TW" dirty="0"/>
              <a:t>,</a:t>
            </a:r>
            <a:r>
              <a:rPr lang="en-US" altLang="zh-TW" dirty="0" smtClean="0"/>
              <a:t> v, j)</a:t>
            </a:r>
            <a:r>
              <a:rPr lang="en-US" altLang="zh-TW" dirty="0"/>
              <a:t> ≤ </a:t>
            </a:r>
            <a:r>
              <a:rPr lang="en-US" altLang="zh-TW" dirty="0" smtClean="0"/>
              <a:t>k</a:t>
            </a:r>
            <a:r>
              <a:rPr lang="en-US" altLang="zh-TW" dirty="0"/>
              <a:t> ≤ </a:t>
            </a:r>
            <a:r>
              <a:rPr lang="en-US" altLang="zh-TW" dirty="0" smtClean="0"/>
              <a:t>j + LP(v</a:t>
            </a:r>
            <a:r>
              <a:rPr lang="en-US" altLang="zh-TW" dirty="0"/>
              <a:t>,</a:t>
            </a:r>
            <a:r>
              <a:rPr lang="en-US" altLang="zh-TW" dirty="0" smtClean="0"/>
              <a:t> j </a:t>
            </a:r>
            <a:r>
              <a:rPr lang="en-US" altLang="zh-TW" dirty="0"/>
              <a:t>+</a:t>
            </a:r>
            <a:r>
              <a:rPr lang="en-US" altLang="zh-TW" dirty="0" smtClean="0"/>
              <a:t> 1).</a:t>
            </a:r>
          </a:p>
          <a:p>
            <a:r>
              <a:rPr lang="en-US" altLang="zh-TW" dirty="0"/>
              <a:t>LS(u, v, j) </a:t>
            </a:r>
            <a:r>
              <a:rPr lang="en-US" altLang="zh-TW" dirty="0" smtClean="0"/>
              <a:t>+ </a:t>
            </a:r>
            <a:r>
              <a:rPr lang="en-US" altLang="zh-TW" dirty="0"/>
              <a:t>LP(v, j + 1</a:t>
            </a:r>
            <a:r>
              <a:rPr lang="en-US" altLang="zh-TW" dirty="0" smtClean="0"/>
              <a:t>) ≥ j</a:t>
            </a:r>
          </a:p>
          <a:p>
            <a:r>
              <a:rPr lang="en-US" altLang="zh-TW" dirty="0" smtClean="0"/>
              <a:t>k + </a:t>
            </a:r>
            <a:r>
              <a:rPr lang="en-US" altLang="zh-TW" dirty="0"/>
              <a:t>LS(u, v, j</a:t>
            </a:r>
            <a:r>
              <a:rPr lang="en-US" altLang="zh-TW" dirty="0" smtClean="0"/>
              <a:t>) ≥ 2j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239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a</a:t>
            </a:r>
            <a:r>
              <a:rPr lang="en-US" altLang="zh-TW" u="sng" dirty="0" err="1" smtClean="0"/>
              <a:t>abbbabb</a:t>
            </a:r>
            <a:r>
              <a:rPr lang="en-US" altLang="zh-TW" dirty="0" err="1" smtClean="0"/>
              <a:t>bbb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Wingdings" pitchFamily="2" charset="2"/>
              </a:rPr>
              <a:t> (a, 2)(b, 3)(a, 1)(b, 5)</a:t>
            </a:r>
            <a:endParaRPr lang="en-US" altLang="zh-TW" dirty="0" smtClean="0"/>
          </a:p>
          <a:p>
            <a:r>
              <a:rPr lang="en-US" altLang="zh-TW" dirty="0" smtClean="0"/>
              <a:t>Main </a:t>
            </a:r>
            <a:r>
              <a:rPr lang="en-US" altLang="zh-TW" dirty="0"/>
              <a:t>and Lorentz's algorithm cannot be applied directly to find all squares inside </a:t>
            </a:r>
            <a:r>
              <a:rPr lang="el-GR" altLang="zh-TW" dirty="0" smtClean="0"/>
              <a:t>σ</a:t>
            </a:r>
            <a:r>
              <a:rPr lang="en-US" altLang="zh-TW" dirty="0" smtClean="0"/>
              <a:t>(x) because </a:t>
            </a:r>
            <a:r>
              <a:rPr lang="en-US" altLang="zh-TW" dirty="0"/>
              <a:t>some squares are </a:t>
            </a:r>
            <a:r>
              <a:rPr lang="en-US" altLang="zh-TW" dirty="0" smtClean="0"/>
              <a:t>missing by </a:t>
            </a:r>
            <a:r>
              <a:rPr lang="en-US" altLang="zh-TW" dirty="0"/>
              <a:t>using their </a:t>
            </a:r>
            <a:r>
              <a:rPr lang="en-US" altLang="zh-TW" dirty="0" smtClean="0"/>
              <a:t>algorithm.</a:t>
            </a:r>
          </a:p>
          <a:p>
            <a:r>
              <a:rPr lang="en-US" altLang="zh-TW" dirty="0" smtClean="0"/>
              <a:t>A </a:t>
            </a:r>
            <a:r>
              <a:rPr lang="en-US" altLang="zh-TW" dirty="0"/>
              <a:t>square of x either occurs entirely within a run or overlaps with at least two consecutive runs (in the </a:t>
            </a:r>
            <a:r>
              <a:rPr lang="en-US" altLang="zh-TW" dirty="0" smtClean="0"/>
              <a:t>latter case </a:t>
            </a:r>
            <a:r>
              <a:rPr lang="en-US" altLang="zh-TW" dirty="0"/>
              <a:t>in fact it has to span at least four runs).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 Length Encoded Version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6561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There are </a:t>
                </a:r>
                <a:r>
                  <a:rPr lang="en-US" altLang="zh-TW" i="1" dirty="0" smtClean="0"/>
                  <a:t>O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k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squares in </a:t>
                </a:r>
                <a:r>
                  <a:rPr lang="en-US" altLang="zh-TW" i="1" dirty="0" err="1"/>
                  <a:t>a</a:t>
                </a:r>
                <a:r>
                  <a:rPr lang="en-US" altLang="zh-TW" i="1" baseline="30000" dirty="0" err="1"/>
                  <a:t>k</a:t>
                </a:r>
                <a:r>
                  <a:rPr lang="en-US" altLang="zh-TW" dirty="0"/>
                  <a:t> and their positions can be expressed as </a:t>
                </a:r>
                <a:r>
                  <a:rPr lang="en-US" altLang="zh-TW" dirty="0" smtClean="0"/>
                  <a:t>([2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k], 2), ([4, k], 4), …, ([2⌊k/2⌋, k], 2⌊</a:t>
                </a:r>
                <a:r>
                  <a:rPr lang="en-US" altLang="zh-TW" dirty="0"/>
                  <a:t>k/2⌋</a:t>
                </a:r>
                <a:r>
                  <a:rPr lang="en-US" altLang="zh-TW" dirty="0" smtClean="0"/>
                  <a:t>). </a:t>
                </a:r>
              </a:p>
              <a:p>
                <a:r>
                  <a:rPr lang="en-US" altLang="zh-TW" dirty="0" smtClean="0"/>
                  <a:t>Actually, there </a:t>
                </a:r>
                <a:r>
                  <a:rPr lang="en-US" altLang="zh-TW" dirty="0"/>
                  <a:t>is a more compact way to represent these positions, namely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TW" i="1" dirty="0">
                                <a:latin typeface="Cambria Math"/>
                              </a:rPr>
                              <m:t>, 2</m:t>
                            </m:r>
                            <m:r>
                              <a:rPr lang="en-US" altLang="zh-TW" i="1" dirty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/>
                          </a:rPr>
                          <m:t>|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𝑡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=[1,  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TW" b="0" i="1" dirty="0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altLang="zh-TW" b="0" i="1" dirty="0" smtClean="0">
                                <a:latin typeface="Cambria Math"/>
                              </a:rPr>
                              <m:t>/2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/>
                          </a:rPr>
                          <m:t>]</m:t>
                        </m:r>
                      </m:sub>
                    </m:sSub>
                  </m:oMath>
                </a14:m>
                <a:r>
                  <a:rPr lang="en-US" altLang="zh-TW" dirty="0"/>
                  <a:t>. </a:t>
                </a:r>
                <a:endParaRPr lang="en-US" altLang="zh-TW" dirty="0" smtClean="0"/>
              </a:p>
              <a:p>
                <a:r>
                  <a:rPr lang="en-US" altLang="zh-TW" dirty="0" smtClean="0"/>
                  <a:t>Thus</a:t>
                </a:r>
                <a:r>
                  <a:rPr lang="en-US" altLang="zh-TW" dirty="0"/>
                  <a:t>, these </a:t>
                </a:r>
                <a:r>
                  <a:rPr lang="en-US" altLang="zh-TW" dirty="0" smtClean="0"/>
                  <a:t>O(k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positions can be implicitly expressed by a </a:t>
                </a:r>
                <a:r>
                  <a:rPr lang="en-US" altLang="zh-TW" dirty="0" smtClean="0"/>
                  <a:t>mathematical expression </a:t>
                </a:r>
                <a:r>
                  <a:rPr lang="en-US" altLang="zh-TW" dirty="0"/>
                  <a:t>in </a:t>
                </a:r>
                <a:r>
                  <a:rPr lang="en-US" altLang="zh-TW" dirty="0" smtClean="0"/>
                  <a:t>O(1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time.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Compact Representation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249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D1: X </a:t>
            </a:r>
            <a:r>
              <a:rPr lang="en-US" altLang="zh-TW" dirty="0" smtClean="0"/>
              <a:t>= </a:t>
            </a:r>
            <a:r>
              <a:rPr lang="en-US" altLang="zh-TW" dirty="0"/>
              <a:t>UV and neither U nor V is empty.</a:t>
            </a:r>
          </a:p>
          <a:p>
            <a:r>
              <a:rPr lang="en-US" altLang="zh-TW" dirty="0"/>
              <a:t>D2: </a:t>
            </a:r>
            <a:r>
              <a:rPr lang="en-US" altLang="zh-TW" dirty="0" smtClean="0"/>
              <a:t>The squares can </a:t>
            </a:r>
            <a:r>
              <a:rPr lang="en-US" altLang="zh-TW" dirty="0"/>
              <a:t>be further divided into three cases:</a:t>
            </a:r>
          </a:p>
          <a:p>
            <a:pPr lvl="1"/>
            <a:r>
              <a:rPr lang="en-US" altLang="zh-TW" dirty="0"/>
              <a:t>Case A: centered at the junction of u and v;</a:t>
            </a:r>
          </a:p>
          <a:p>
            <a:pPr lvl="1"/>
            <a:r>
              <a:rPr lang="en-US" altLang="zh-TW" dirty="0"/>
              <a:t>Case B: centered at v;</a:t>
            </a:r>
          </a:p>
          <a:p>
            <a:pPr lvl="1"/>
            <a:r>
              <a:rPr lang="en-US" altLang="zh-TW" dirty="0"/>
              <a:t>Case C: centered at u.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Divide and Conquer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41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 insufficiency for LP and LS to determine squares in UV can be supplemented by two additional tables TL and HD which </a:t>
                </a:r>
                <a:r>
                  <a:rPr lang="en-US" altLang="zh-TW" dirty="0"/>
                  <a:t>are defined as follows. Let k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= LP(V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i). </a:t>
                </a:r>
                <a:r>
                  <a:rPr lang="en-US" altLang="zh-TW" dirty="0"/>
                  <a:t>If </a:t>
                </a:r>
                <a:r>
                  <a:rPr lang="en-US" altLang="zh-TW" dirty="0" smtClean="0"/>
                  <a:t>k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≤Q - i</a:t>
                </a:r>
                <a:r>
                  <a:rPr lang="en-US" altLang="zh-TW" dirty="0"/>
                  <a:t>, then by the definition of LP, we have </a:t>
                </a:r>
                <a:r>
                  <a:rPr lang="en-US" altLang="zh-TW" dirty="0" smtClean="0"/>
                  <a:t>V[1+k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] ≠ V[i+k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]. Let X[</a:t>
                </a:r>
                <a:r>
                  <a:rPr lang="el-GR" altLang="zh-TW" dirty="0" smtClean="0"/>
                  <a:t>α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] 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 smtClean="0">
                            <a:latin typeface="Cambria Math"/>
                          </a:rPr>
                          <m:t>υ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 smtClean="0">
                            <a:latin typeface="Cambria Math"/>
                          </a:rPr>
                          <m:t>ν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) = V[1+k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and X[</a:t>
                </a:r>
                <a14:m>
                  <m:oMath xmlns:m="http://schemas.openxmlformats.org/officeDocument/2006/math">
                    <m:r>
                      <a:rPr lang="el-GR" altLang="zh-TW" i="1" dirty="0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altLang="zh-TW" baseline="-25000" dirty="0"/>
                  <a:t>i</a:t>
                </a:r>
                <a:r>
                  <a:rPr lang="en-US" altLang="zh-TW" dirty="0"/>
                  <a:t>] =(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υ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,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ν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 smtClean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) </a:t>
                </a:r>
                <a:r>
                  <a:rPr lang="en-US" altLang="zh-TW" dirty="0" smtClean="0"/>
                  <a:t>V[i+k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]. </a:t>
                </a:r>
                <a:r>
                  <a:rPr lang="en-US" altLang="zh-TW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υ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 is the 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υ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/>
                  <a:t> , let </a:t>
                </a:r>
                <a:r>
                  <a:rPr lang="en-US" altLang="zh-TW" dirty="0" smtClean="0"/>
                  <a:t>TL(V</a:t>
                </a:r>
                <a:r>
                  <a:rPr lang="en-US" altLang="zh-TW" dirty="0"/>
                  <a:t>,</a:t>
                </a:r>
                <a:r>
                  <a:rPr lang="en-US" altLang="zh-TW" dirty="0" smtClean="0"/>
                  <a:t> i) </a:t>
                </a:r>
                <a:r>
                  <a:rPr lang="en-US" altLang="zh-TW" dirty="0"/>
                  <a:t>be 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ν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,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ν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 smtClean="0"/>
                  <a:t>}/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i="1" dirty="0">
                            <a:latin typeface="Cambria Math"/>
                          </a:rPr>
                          <m:t>ν</m:t>
                        </m:r>
                      </m:e>
                      <m:sub>
                        <m:sSub>
                          <m:sSubPr>
                            <m:ctrlPr>
                              <a:rPr lang="el-G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l-GR" altLang="zh-TW" i="1" dirty="0">
                                <a:latin typeface="Cambria Math"/>
                                <a:ea typeface="Cambria Math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40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7048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47031"/>
            <a:ext cx="629602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957122"/>
            <a:ext cx="6191250" cy="250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1431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dirty="0"/>
              <a:t>square </a:t>
            </a:r>
            <a:r>
              <a:rPr lang="en-US" altLang="zh-TW" dirty="0" err="1"/>
              <a:t>ww</a:t>
            </a:r>
            <a:r>
              <a:rPr lang="en-US" altLang="zh-TW" dirty="0"/>
              <a:t> is divided into A</a:t>
            </a:r>
            <a:r>
              <a:rPr lang="en-US" altLang="zh-TW" baseline="-25000" dirty="0"/>
              <a:t>1</a:t>
            </a:r>
            <a:r>
              <a:rPr lang="en-US" altLang="zh-TW" dirty="0"/>
              <a:t>B</a:t>
            </a:r>
            <a:r>
              <a:rPr lang="en-US" altLang="zh-TW" baseline="-25000" dirty="0"/>
              <a:t>1</a:t>
            </a:r>
            <a:r>
              <a:rPr lang="en-US" altLang="zh-TW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B</a:t>
            </a:r>
            <a:r>
              <a:rPr lang="en-US" altLang="zh-TW" baseline="-25000" dirty="0"/>
              <a:t>2</a:t>
            </a:r>
            <a:r>
              <a:rPr lang="en-US" altLang="zh-TW" dirty="0"/>
              <a:t> </a:t>
            </a:r>
            <a:r>
              <a:rPr lang="en-US" altLang="zh-TW" dirty="0" smtClean="0"/>
              <a:t>where 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is a suffix of u, B</a:t>
            </a:r>
            <a:r>
              <a:rPr lang="en-US" altLang="zh-TW" baseline="-25000" dirty="0"/>
              <a:t>1</a:t>
            </a:r>
            <a:r>
              <a:rPr lang="en-US" altLang="zh-TW" dirty="0"/>
              <a:t> is a prefix of v, A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 smtClean="0"/>
              <a:t>= </a:t>
            </a:r>
            <a:r>
              <a:rPr lang="en-US" altLang="zh-TW" dirty="0"/>
              <a:t>A2, and B</a:t>
            </a:r>
            <a:r>
              <a:rPr lang="en-US" altLang="zh-TW" baseline="-25000" dirty="0"/>
              <a:t>1</a:t>
            </a:r>
            <a:r>
              <a:rPr lang="en-US" altLang="zh-TW" dirty="0"/>
              <a:t> </a:t>
            </a:r>
            <a:r>
              <a:rPr lang="en-US" altLang="zh-TW" dirty="0" smtClean="0"/>
              <a:t>= </a:t>
            </a:r>
            <a:r>
              <a:rPr lang="en-US" altLang="zh-TW" dirty="0"/>
              <a:t>B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. j is </a:t>
            </a:r>
            <a:r>
              <a:rPr lang="en-US" altLang="zh-TW" dirty="0"/>
              <a:t>the end </a:t>
            </a:r>
            <a:r>
              <a:rPr lang="en-US" altLang="zh-TW" dirty="0" smtClean="0"/>
              <a:t>point of A2.</a:t>
            </a:r>
          </a:p>
          <a:p>
            <a:r>
              <a:rPr lang="en-US" altLang="zh-TW" dirty="0" smtClean="0"/>
              <a:t>LS(U, V, j) + HD(U, V, j) + LP(V, j+1) + TL(V, j+1) ≥ j</a:t>
            </a:r>
          </a:p>
          <a:p>
            <a:r>
              <a:rPr lang="en-US" altLang="zh-TW" dirty="0" smtClean="0"/>
              <a:t>LS(U</a:t>
            </a:r>
            <a:r>
              <a:rPr lang="en-US" altLang="zh-TW" dirty="0"/>
              <a:t>, V, j) + HD(U, V, j) </a:t>
            </a:r>
            <a:r>
              <a:rPr lang="en-US" altLang="zh-TW" dirty="0" smtClean="0"/>
              <a:t>&gt;0 and  </a:t>
            </a:r>
            <a:r>
              <a:rPr lang="en-US" altLang="zh-TW" dirty="0"/>
              <a:t>LP(V, j+1) + TL(V, j+1) </a:t>
            </a:r>
            <a:r>
              <a:rPr lang="en-US" altLang="zh-TW" dirty="0" smtClean="0"/>
              <a:t>&gt; 0</a:t>
            </a:r>
            <a:endParaRPr lang="en-US" altLang="zh-TW" dirty="0"/>
          </a:p>
          <a:p>
            <a:r>
              <a:rPr lang="en-US" altLang="zh-TW" dirty="0" smtClean="0"/>
              <a:t>j=3, 1 + 1/3 + 1 + 2/3 = 3 ≥ 3</a:t>
            </a:r>
          </a:p>
          <a:p>
            <a:r>
              <a:rPr lang="en-US" altLang="zh-TW" u="sng" dirty="0" err="1" smtClean="0"/>
              <a:t>bdddd</a:t>
            </a:r>
            <a:r>
              <a:rPr lang="en-US" altLang="zh-TW" dirty="0" err="1" smtClean="0"/>
              <a:t>abb</a:t>
            </a:r>
            <a:r>
              <a:rPr lang="en-US" altLang="zh-TW" u="sng" dirty="0" err="1" smtClean="0"/>
              <a:t>bdddd</a:t>
            </a:r>
            <a:r>
              <a:rPr lang="en-US" altLang="zh-TW" dirty="0" err="1" smtClean="0"/>
              <a:t>abb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Decision Equation – Case 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4455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Similar to case B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Decision Equation – Case </a:t>
            </a:r>
            <a:r>
              <a:rPr lang="en-US" altLang="zh-TW" dirty="0" smtClean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1081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Let </a:t>
            </a:r>
            <a:r>
              <a:rPr lang="en-US" altLang="zh-TW" dirty="0" smtClean="0"/>
              <a:t>U’=U-U[P] </a:t>
            </a:r>
            <a:r>
              <a:rPr lang="en-US" altLang="zh-TW" dirty="0"/>
              <a:t>and </a:t>
            </a:r>
            <a:r>
              <a:rPr lang="en-US" altLang="zh-TW" dirty="0" smtClean="0"/>
              <a:t>V’=V-V[1]. </a:t>
            </a:r>
            <a:r>
              <a:rPr lang="en-US" altLang="zh-TW" dirty="0"/>
              <a:t>There is a square centered at the boundary of u </a:t>
            </a:r>
            <a:r>
              <a:rPr lang="en-US" altLang="zh-TW" dirty="0" smtClean="0"/>
              <a:t>and v if and </a:t>
            </a:r>
            <a:r>
              <a:rPr lang="en-US" altLang="zh-TW" dirty="0"/>
              <a:t>only if there exists j with </a:t>
            </a:r>
            <a:r>
              <a:rPr lang="en-US" altLang="zh-TW" dirty="0" smtClean="0"/>
              <a:t>0</a:t>
            </a:r>
            <a:r>
              <a:rPr lang="en-US" altLang="zh-TW" dirty="0"/>
              <a:t> ≤ </a:t>
            </a:r>
            <a:r>
              <a:rPr lang="en-US" altLang="zh-TW" dirty="0" smtClean="0"/>
              <a:t>j</a:t>
            </a:r>
            <a:r>
              <a:rPr lang="en-US" altLang="zh-TW" dirty="0"/>
              <a:t> ≤ </a:t>
            </a:r>
            <a:r>
              <a:rPr lang="en-US" altLang="zh-TW" dirty="0" smtClean="0"/>
              <a:t>min[P – 2, </a:t>
            </a:r>
            <a:r>
              <a:rPr lang="en-US" altLang="zh-TW" dirty="0"/>
              <a:t>Q </a:t>
            </a:r>
            <a:r>
              <a:rPr lang="en-US" altLang="zh-TW" dirty="0" smtClean="0"/>
              <a:t>– 2] </a:t>
            </a:r>
            <a:r>
              <a:rPr lang="en-US" altLang="zh-TW" dirty="0"/>
              <a:t>such </a:t>
            </a:r>
            <a:r>
              <a:rPr lang="en-US" altLang="zh-TW" dirty="0" smtClean="0"/>
              <a:t>that</a:t>
            </a:r>
          </a:p>
          <a:p>
            <a:pPr lvl="1"/>
            <a:r>
              <a:rPr lang="en-US" altLang="zh-TW" dirty="0" smtClean="0"/>
              <a:t>LS(U’, V’, j) = j</a:t>
            </a:r>
          </a:p>
          <a:p>
            <a:pPr lvl="1"/>
            <a:r>
              <a:rPr lang="en-US" altLang="zh-TW" dirty="0" smtClean="0"/>
              <a:t>u</a:t>
            </a:r>
            <a:r>
              <a:rPr lang="en-US" altLang="zh-TW" baseline="-25000" dirty="0" smtClean="0"/>
              <a:t>P-1-j</a:t>
            </a:r>
            <a:r>
              <a:rPr lang="en-US" altLang="zh-TW" dirty="0" smtClean="0"/>
              <a:t> =</a:t>
            </a:r>
            <a:r>
              <a:rPr lang="el-GR" altLang="zh-TW" dirty="0"/>
              <a:t>υ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 u</a:t>
            </a:r>
            <a:r>
              <a:rPr lang="en-US" altLang="zh-TW" baseline="-25000" dirty="0" smtClean="0"/>
              <a:t>p</a:t>
            </a:r>
            <a:r>
              <a:rPr lang="en-US" altLang="zh-TW" dirty="0" smtClean="0"/>
              <a:t>=</a:t>
            </a:r>
            <a:r>
              <a:rPr lang="el-GR" altLang="zh-TW" dirty="0"/>
              <a:t>υ</a:t>
            </a:r>
            <a:r>
              <a:rPr lang="en-US" altLang="zh-TW" baseline="-25000" dirty="0" smtClean="0"/>
              <a:t>2+j</a:t>
            </a:r>
            <a:r>
              <a:rPr lang="en-US" altLang="zh-TW" dirty="0" smtClean="0"/>
              <a:t>, </a:t>
            </a:r>
            <a:r>
              <a:rPr lang="el-GR" altLang="zh-TW" dirty="0"/>
              <a:t>ν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≤ </a:t>
            </a:r>
            <a:r>
              <a:rPr lang="el-GR" altLang="zh-TW" dirty="0" smtClean="0"/>
              <a:t>μ</a:t>
            </a:r>
            <a:r>
              <a:rPr lang="en-US" altLang="zh-TW" baseline="-25000" dirty="0" smtClean="0"/>
              <a:t>P-1-j</a:t>
            </a:r>
            <a:r>
              <a:rPr lang="en-US" altLang="zh-TW" dirty="0"/>
              <a:t> </a:t>
            </a:r>
            <a:r>
              <a:rPr lang="en-US" altLang="zh-TW" dirty="0" smtClean="0"/>
              <a:t>and </a:t>
            </a:r>
            <a:r>
              <a:rPr lang="el-GR" altLang="zh-TW" dirty="0" smtClean="0"/>
              <a:t>μ</a:t>
            </a:r>
            <a:r>
              <a:rPr lang="en-US" altLang="zh-TW" baseline="-25000" dirty="0" smtClean="0"/>
              <a:t>2</a:t>
            </a:r>
            <a:r>
              <a:rPr lang="en-US" altLang="zh-TW" dirty="0"/>
              <a:t> </a:t>
            </a:r>
            <a:r>
              <a:rPr lang="en-US" altLang="zh-TW" dirty="0" smtClean="0"/>
              <a:t>≤</a:t>
            </a:r>
            <a:r>
              <a:rPr lang="el-GR" altLang="zh-TW" dirty="0"/>
              <a:t> </a:t>
            </a:r>
            <a:r>
              <a:rPr lang="el-GR" altLang="zh-TW" dirty="0" smtClean="0"/>
              <a:t>ν</a:t>
            </a:r>
            <a:r>
              <a:rPr lang="en-US" altLang="zh-TW" baseline="-25000" dirty="0" smtClean="0"/>
              <a:t>2+j</a:t>
            </a:r>
            <a:endParaRPr lang="zh-TW" altLang="en-US" dirty="0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 </a:t>
            </a:r>
            <a:r>
              <a:rPr lang="en-US" altLang="zh-TW" dirty="0" smtClean="0"/>
              <a:t>A (Junction)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221088"/>
            <a:ext cx="5200650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2086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53"/>
          <a:stretch/>
        </p:blipFill>
        <p:spPr bwMode="auto">
          <a:xfrm>
            <a:off x="0" y="0"/>
            <a:ext cx="906445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7376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Step 1: O(1)</a:t>
                </a:r>
              </a:p>
              <a:p>
                <a:r>
                  <a:rPr lang="en-US" altLang="zh-TW" dirty="0" smtClean="0"/>
                  <a:t>Step 2: O(N)</a:t>
                </a:r>
              </a:p>
              <a:p>
                <a:r>
                  <a:rPr lang="en-US" altLang="zh-TW" dirty="0" smtClean="0"/>
                  <a:t>Let T </a:t>
                </a:r>
                <a:r>
                  <a:rPr lang="en-US" altLang="zh-TW" dirty="0"/>
                  <a:t>(</a:t>
                </a:r>
                <a:r>
                  <a:rPr lang="en-US" altLang="zh-TW" dirty="0" smtClean="0"/>
                  <a:t>N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be the time-complexity for solving </a:t>
                </a:r>
                <a:r>
                  <a:rPr lang="en-US" altLang="zh-TW" dirty="0" smtClean="0"/>
                  <a:t>SQUARES(X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. </a:t>
                </a:r>
                <a:r>
                  <a:rPr lang="en-US" altLang="zh-TW" dirty="0"/>
                  <a:t>Therefore, each of Steps 3 and 4 needs T </a:t>
                </a:r>
                <a:r>
                  <a:rPr lang="en-US" altLang="zh-TW" dirty="0" smtClean="0"/>
                  <a:t>(N/2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time. </a:t>
                </a:r>
                <a:endParaRPr lang="en-US" altLang="zh-TW" dirty="0" smtClean="0"/>
              </a:p>
              <a:p>
                <a:r>
                  <a:rPr lang="en-US" altLang="zh-TW" dirty="0"/>
                  <a:t>B</a:t>
                </a:r>
                <a:r>
                  <a:rPr lang="en-US" altLang="zh-TW" dirty="0" smtClean="0"/>
                  <a:t>oth </a:t>
                </a:r>
                <a:r>
                  <a:rPr lang="en-US" altLang="zh-TW" dirty="0"/>
                  <a:t>arrays LP and LS can be computed in time </a:t>
                </a:r>
                <a:r>
                  <a:rPr lang="en-US" altLang="zh-TW" dirty="0" smtClean="0"/>
                  <a:t>O(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|UV|). </a:t>
                </a:r>
                <a:r>
                  <a:rPr lang="en-US" altLang="zh-TW" dirty="0"/>
                  <a:t>Thus, arrays HD and TL can also be </a:t>
                </a:r>
                <a:r>
                  <a:rPr lang="en-US" altLang="zh-TW" dirty="0" smtClean="0"/>
                  <a:t>computed in </a:t>
                </a:r>
                <a:r>
                  <a:rPr lang="en-US" altLang="zh-TW" dirty="0"/>
                  <a:t>time </a:t>
                </a:r>
                <a:r>
                  <a:rPr lang="en-US" altLang="zh-TW" dirty="0" smtClean="0"/>
                  <a:t>O(N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after LP and LS are obtained. </a:t>
                </a:r>
                <a:r>
                  <a:rPr lang="en-US" altLang="zh-TW" dirty="0" smtClean="0"/>
                  <a:t>Thus, Steps </a:t>
                </a:r>
                <a:r>
                  <a:rPr lang="en-US" altLang="zh-TW" dirty="0"/>
                  <a:t>5, 6, and 7 can be done in time </a:t>
                </a:r>
                <a:r>
                  <a:rPr lang="en-US" altLang="zh-TW" dirty="0" smtClean="0"/>
                  <a:t>O(N</a:t>
                </a:r>
                <a:r>
                  <a:rPr lang="en-US" altLang="zh-TW" dirty="0"/>
                  <a:t>)</a:t>
                </a:r>
                <a:r>
                  <a:rPr lang="en-US" altLang="zh-TW" dirty="0" smtClean="0"/>
                  <a:t>. </a:t>
                </a:r>
              </a:p>
              <a:p>
                <a:r>
                  <a:rPr lang="en-US" altLang="zh-TW" dirty="0" smtClean="0"/>
                  <a:t>Therefore</a:t>
                </a:r>
                <a:r>
                  <a:rPr lang="en-US" altLang="zh-TW" dirty="0"/>
                  <a:t>, the time </a:t>
                </a:r>
                <a:r>
                  <a:rPr lang="en-US" altLang="zh-TW" dirty="0" smtClean="0"/>
                  <a:t>complexity of </a:t>
                </a:r>
                <a:r>
                  <a:rPr lang="en-US" altLang="zh-TW" dirty="0"/>
                  <a:t>Algorithm SQUARES can be obtained by solving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𝑁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i="1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>
                                    <a:latin typeface="Cambria Math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altLang="zh-TW" dirty="0" smtClean="0"/>
                  <a:t>+O(N), </a:t>
                </a:r>
                <a:r>
                  <a:rPr lang="en-US" altLang="zh-TW" dirty="0"/>
                  <a:t>which is </a:t>
                </a:r>
                <a:r>
                  <a:rPr lang="en-US" altLang="zh-TW" dirty="0" smtClean="0"/>
                  <a:t>O(N </a:t>
                </a:r>
                <a:r>
                  <a:rPr lang="en-US" altLang="zh-TW" dirty="0"/>
                  <a:t>log </a:t>
                </a:r>
                <a:r>
                  <a:rPr lang="en-US" altLang="zh-TW" dirty="0" smtClean="0"/>
                  <a:t>N).</a:t>
                </a:r>
                <a:endParaRPr lang="zh-TW" altLang="en-US" dirty="0"/>
              </a:p>
            </p:txBody>
          </p:sp>
        </mc:Choice>
        <mc:Fallback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291" r="-10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Time Complexity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39112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匯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476</TotalTime>
  <Words>1112</Words>
  <Application>Microsoft Office PowerPoint</Application>
  <PresentationFormat>如螢幕大小 (4:3)</PresentationFormat>
  <Paragraphs>64</Paragraphs>
  <Slides>19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0" baseType="lpstr">
      <vt:lpstr>匯合</vt:lpstr>
      <vt:lpstr>A fast algorithm for finding the positions of all squares in a run-length encoded string</vt:lpstr>
      <vt:lpstr>Abstract</vt:lpstr>
      <vt:lpstr>Square</vt:lpstr>
      <vt:lpstr>Optimality</vt:lpstr>
      <vt:lpstr>Related Squares</vt:lpstr>
      <vt:lpstr>Main and Lorentz's Idea</vt:lpstr>
      <vt:lpstr>Main and Lorentz's Idea</vt:lpstr>
      <vt:lpstr>Example</vt:lpstr>
      <vt:lpstr>Lemma 1</vt:lpstr>
      <vt:lpstr>Run Length Encoded Version</vt:lpstr>
      <vt:lpstr>Compact Representation</vt:lpstr>
      <vt:lpstr>Divide and Conquer</vt:lpstr>
      <vt:lpstr>Algorithm</vt:lpstr>
      <vt:lpstr>Example</vt:lpstr>
      <vt:lpstr>Decision Equation – Case B</vt:lpstr>
      <vt:lpstr>Decision Equation – Case C</vt:lpstr>
      <vt:lpstr>Case A (Junction)</vt:lpstr>
      <vt:lpstr>PowerPoint 簡報</vt:lpstr>
      <vt:lpstr>Time Complexity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finding the positions of all squares in a run-length encoded string</dc:title>
  <dc:creator>ab</dc:creator>
  <cp:lastModifiedBy>ab</cp:lastModifiedBy>
  <cp:revision>21</cp:revision>
  <dcterms:created xsi:type="dcterms:W3CDTF">2011-05-15T10:58:54Z</dcterms:created>
  <dcterms:modified xsi:type="dcterms:W3CDTF">2011-05-17T09:34:55Z</dcterms:modified>
</cp:coreProperties>
</file>