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68" r:id="rId4"/>
    <p:sldId id="269" r:id="rId5"/>
    <p:sldId id="270" r:id="rId6"/>
    <p:sldId id="276" r:id="rId7"/>
    <p:sldId id="271" r:id="rId8"/>
    <p:sldId id="272" r:id="rId9"/>
    <p:sldId id="273" r:id="rId10"/>
    <p:sldId id="274" r:id="rId11"/>
    <p:sldId id="275" r:id="rId12"/>
    <p:sldId id="267" r:id="rId1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67" autoAdjust="0"/>
    <p:restoredTop sz="94660"/>
  </p:normalViewPr>
  <p:slideViewPr>
    <p:cSldViewPr>
      <p:cViewPr varScale="1">
        <p:scale>
          <a:sx n="68" d="100"/>
          <a:sy n="68" d="100"/>
        </p:scale>
        <p:origin x="-72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-3870" y="-102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F6BFC2-2341-4398-A2B1-2832265BDCE8}" type="datetimeFigureOut">
              <a:rPr lang="zh-TW" altLang="en-US" smtClean="0"/>
              <a:pPr/>
              <a:t>2011/11/28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830CE-8043-4104-8B69-CC3ADE173B0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標楷體" pitchFamily="65" charset="-120"/>
                <a:ea typeface="標楷體" pitchFamily="65" charset="-120"/>
                <a:cs typeface="Times New Roman" pitchFamily="18" charset="0"/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17" name="副標題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 smtClean="0"/>
              <a:t>按一下以編輯母片副標題樣式</a:t>
            </a:r>
            <a:endParaRPr kumimoji="0" lang="en-US"/>
          </a:p>
        </p:txBody>
      </p:sp>
      <p:sp>
        <p:nvSpPr>
          <p:cNvPr id="30" name="日期版面配置區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標楷體" pitchFamily="65" charset="-120"/>
                <a:ea typeface="標楷體" pitchFamily="65" charset="-120"/>
                <a:cs typeface="Times New Roman" pitchFamily="18" charset="0"/>
              </a:defRPr>
            </a:lvl1pPr>
          </a:lstStyle>
          <a:p>
            <a:fld id="{58930D72-1038-48C3-9962-56D9F1950A5B}" type="datetimeFigureOut">
              <a:rPr lang="zh-TW" altLang="en-US" smtClean="0"/>
              <a:pPr/>
              <a:t>2011/11/28</a:t>
            </a:fld>
            <a:endParaRPr lang="zh-TW" altLang="en-US"/>
          </a:p>
        </p:txBody>
      </p:sp>
      <p:sp>
        <p:nvSpPr>
          <p:cNvPr id="19" name="頁尾版面配置區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標楷體" pitchFamily="65" charset="-120"/>
                <a:ea typeface="標楷體" pitchFamily="65" charset="-120"/>
                <a:cs typeface="Times New Roman" pitchFamily="18" charset="0"/>
              </a:defRPr>
            </a:lvl1pPr>
          </a:lstStyle>
          <a:p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標楷體" pitchFamily="65" charset="-120"/>
                <a:ea typeface="標楷體" pitchFamily="65" charset="-120"/>
                <a:cs typeface="Times New Roman" pitchFamily="18" charset="0"/>
              </a:defRPr>
            </a:lvl1pPr>
          </a:lstStyle>
          <a:p>
            <a:fld id="{4528765C-DAD9-4D6A-A1DD-18793253CD8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>
            <a:normAutofit/>
          </a:bodyPr>
          <a:lstStyle>
            <a:lvl1pPr>
              <a:defRPr sz="4400">
                <a:latin typeface="+mj-lt"/>
                <a:ea typeface="標楷體" pitchFamily="65" charset="-120"/>
                <a:cs typeface="Times New Roman" pitchFamily="18" charset="0"/>
              </a:defRPr>
            </a:lvl1pPr>
          </a:lstStyle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911824"/>
          </a:xfrm>
        </p:spPr>
        <p:txBody>
          <a:bodyPr/>
          <a:lstStyle>
            <a:lvl1pPr>
              <a:defRPr>
                <a:latin typeface="標楷體" pitchFamily="65" charset="-120"/>
                <a:ea typeface="標楷體" pitchFamily="65" charset="-120"/>
                <a:cs typeface="Times New Roman" pitchFamily="18" charset="0"/>
              </a:defRPr>
            </a:lvl1pPr>
            <a:lvl2pPr>
              <a:defRPr>
                <a:latin typeface="標楷體" pitchFamily="65" charset="-120"/>
                <a:ea typeface="標楷體" pitchFamily="65" charset="-120"/>
                <a:cs typeface="Times New Roman" pitchFamily="18" charset="0"/>
              </a:defRPr>
            </a:lvl2pPr>
            <a:lvl3pPr>
              <a:defRPr>
                <a:latin typeface="標楷體" pitchFamily="65" charset="-120"/>
                <a:ea typeface="標楷體" pitchFamily="65" charset="-120"/>
                <a:cs typeface="Times New Roman" pitchFamily="18" charset="0"/>
              </a:defRPr>
            </a:lvl3pPr>
            <a:lvl4pPr>
              <a:defRPr>
                <a:latin typeface="標楷體" pitchFamily="65" charset="-120"/>
                <a:ea typeface="標楷體" pitchFamily="65" charset="-120"/>
                <a:cs typeface="Times New Roman" pitchFamily="18" charset="0"/>
              </a:defRPr>
            </a:lvl4pPr>
            <a:lvl5pPr>
              <a:defRPr>
                <a:latin typeface="標楷體" pitchFamily="65" charset="-120"/>
                <a:ea typeface="標楷體" pitchFamily="65" charset="-120"/>
                <a:cs typeface="Times New Roman" pitchFamily="18" charset="0"/>
              </a:defRPr>
            </a:lvl5pPr>
          </a:lstStyle>
          <a:p>
            <a:pPr lvl="0" eaLnBrk="1" latinLnBrk="0" hangingPunct="1"/>
            <a:r>
              <a:rPr lang="zh-TW" altLang="en-US" dirty="0" smtClean="0"/>
              <a:t>按一下以編輯母片文字樣式</a:t>
            </a:r>
          </a:p>
          <a:p>
            <a:pPr lvl="1" eaLnBrk="1" latinLnBrk="0" hangingPunct="1"/>
            <a:r>
              <a:rPr lang="zh-TW" altLang="en-US" dirty="0" smtClean="0"/>
              <a:t>第二層</a:t>
            </a:r>
          </a:p>
          <a:p>
            <a:pPr lvl="2" eaLnBrk="1" latinLnBrk="0" hangingPunct="1"/>
            <a:r>
              <a:rPr lang="zh-TW" altLang="en-US" dirty="0" smtClean="0"/>
              <a:t>第三層</a:t>
            </a:r>
          </a:p>
          <a:p>
            <a:pPr lvl="3" eaLnBrk="1" latinLnBrk="0" hangingPunct="1"/>
            <a:r>
              <a:rPr lang="zh-TW" altLang="en-US" dirty="0" smtClean="0"/>
              <a:t>第四層</a:t>
            </a:r>
          </a:p>
          <a:p>
            <a:pPr lvl="4" eaLnBrk="1" latinLnBrk="0" hangingPunct="1"/>
            <a:r>
              <a:rPr lang="zh-TW" altLang="en-US" dirty="0" smtClean="0"/>
              <a:t>第五層</a:t>
            </a:r>
            <a:endParaRPr kumimoji="0"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30D72-1038-48C3-9962-56D9F1950A5B}" type="datetimeFigureOut">
              <a:rPr lang="zh-TW" altLang="en-US" smtClean="0"/>
              <a:pPr/>
              <a:t>2011/11/28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8765C-DAD9-4D6A-A1DD-18793253CD8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30D72-1038-48C3-9962-56D9F1950A5B}" type="datetimeFigureOut">
              <a:rPr lang="zh-TW" altLang="en-US" smtClean="0"/>
              <a:pPr/>
              <a:t>2011/11/28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8765C-DAD9-4D6A-A1DD-18793253CD8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30D72-1038-48C3-9962-56D9F1950A5B}" type="datetimeFigureOut">
              <a:rPr lang="zh-TW" altLang="en-US" smtClean="0"/>
              <a:pPr/>
              <a:t>2011/11/28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8765C-DAD9-4D6A-A1DD-18793253CD8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30D72-1038-48C3-9962-56D9F1950A5B}" type="datetimeFigureOut">
              <a:rPr lang="zh-TW" altLang="en-US" smtClean="0"/>
              <a:pPr/>
              <a:t>2011/11/28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8765C-DAD9-4D6A-A1DD-18793253CD8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30D72-1038-48C3-9962-56D9F1950A5B}" type="datetimeFigureOut">
              <a:rPr lang="zh-TW" altLang="en-US" smtClean="0"/>
              <a:pPr/>
              <a:t>2011/11/28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8765C-DAD9-4D6A-A1DD-18793253CD8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30D72-1038-48C3-9962-56D9F1950A5B}" type="datetimeFigureOut">
              <a:rPr lang="zh-TW" altLang="en-US" smtClean="0"/>
              <a:pPr/>
              <a:t>2011/11/28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8765C-DAD9-4D6A-A1DD-18793253CD8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30D72-1038-48C3-9962-56D9F1950A5B}" type="datetimeFigureOut">
              <a:rPr lang="zh-TW" altLang="en-US" smtClean="0"/>
              <a:pPr/>
              <a:t>2011/11/28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8765C-DAD9-4D6A-A1DD-18793253CD8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剪去並圓角化單一角落矩形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直角三角形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30D72-1038-48C3-9962-56D9F1950A5B}" type="datetimeFigureOut">
              <a:rPr lang="zh-TW" altLang="en-US" smtClean="0"/>
              <a:pPr/>
              <a:t>2011/11/28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4528765C-DAD9-4D6A-A1DD-18793253CD8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 smtClean="0"/>
              <a:t>按一下圖示以新增圖片</a:t>
            </a:r>
            <a:endParaRPr kumimoji="0" lang="en-US" dirty="0"/>
          </a:p>
        </p:txBody>
      </p:sp>
      <p:sp>
        <p:nvSpPr>
          <p:cNvPr id="10" name="手繪多邊形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手繪多邊形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30D72-1038-48C3-9962-56D9F1950A5B}" type="datetimeFigureOut">
              <a:rPr lang="zh-TW" altLang="en-US" smtClean="0"/>
              <a:pPr/>
              <a:t>2011/11/28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8765C-DAD9-4D6A-A1DD-18793253CD8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30D72-1038-48C3-9962-56D9F1950A5B}" type="datetimeFigureOut">
              <a:rPr lang="zh-TW" altLang="en-US" smtClean="0"/>
              <a:pPr/>
              <a:t>2011/11/28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8765C-DAD9-4D6A-A1DD-18793253CD8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手繪多邊形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標楷體" pitchFamily="65" charset="-12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8" name="手繪多邊形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標楷體" pitchFamily="65" charset="-12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9" name="標題版面配置區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0" name="文字版面配置區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smtClean="0"/>
              <a:t>第二層</a:t>
            </a:r>
          </a:p>
          <a:p>
            <a:pPr lvl="2" eaLnBrk="1" latinLnBrk="0" hangingPunct="1"/>
            <a:r>
              <a:rPr kumimoji="0" lang="zh-TW" altLang="en-US" smtClean="0"/>
              <a:t>第三層</a:t>
            </a:r>
          </a:p>
          <a:p>
            <a:pPr lvl="3" eaLnBrk="1" latinLnBrk="0" hangingPunct="1"/>
            <a:r>
              <a:rPr kumimoji="0" lang="zh-TW" altLang="en-US" smtClean="0"/>
              <a:t>第四層</a:t>
            </a:r>
          </a:p>
          <a:p>
            <a:pPr lvl="4" eaLnBrk="1" latinLnBrk="0" hangingPunct="1"/>
            <a:r>
              <a:rPr kumimoji="0" lang="zh-TW" altLang="en-US" smtClean="0"/>
              <a:t>第五層</a:t>
            </a:r>
            <a:endParaRPr kumimoji="0" lang="en-US"/>
          </a:p>
        </p:txBody>
      </p:sp>
      <p:sp>
        <p:nvSpPr>
          <p:cNvPr id="10" name="日期版面配置區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defRPr>
            </a:lvl1pPr>
          </a:lstStyle>
          <a:p>
            <a:fld id="{58930D72-1038-48C3-9962-56D9F1950A5B}" type="datetimeFigureOut">
              <a:rPr lang="zh-TW" altLang="en-US" smtClean="0"/>
              <a:pPr/>
              <a:t>2011/11/28</a:t>
            </a:fld>
            <a:endParaRPr lang="zh-TW" altLang="en-US"/>
          </a:p>
        </p:txBody>
      </p:sp>
      <p:sp>
        <p:nvSpPr>
          <p:cNvPr id="22" name="頁尾版面配置區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defRPr>
            </a:lvl1pPr>
          </a:lstStyle>
          <a:p>
            <a:endParaRPr lang="zh-TW" altLang="en-US"/>
          </a:p>
        </p:txBody>
      </p:sp>
      <p:sp>
        <p:nvSpPr>
          <p:cNvPr id="18" name="投影片編號版面配置區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defRPr>
            </a:lvl1pPr>
          </a:lstStyle>
          <a:p>
            <a:fld id="{4528765C-DAD9-4D6A-A1DD-18793253CD8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grpSp>
        <p:nvGrpSpPr>
          <p:cNvPr id="2" name="群組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手繪多邊形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>
                <a:latin typeface="標楷體" pitchFamily="65" charset="-12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13" name="手繪多邊形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>
                <a:latin typeface="標楷體" pitchFamily="65" charset="-120"/>
                <a:ea typeface="標楷體" pitchFamily="65" charset="-120"/>
                <a:cs typeface="Times New Roman" pitchFamily="18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標楷體" pitchFamily="65" charset="-120"/>
          <a:ea typeface="標楷體" pitchFamily="65" charset="-120"/>
          <a:cs typeface="Times New Roman" pitchFamily="18" charset="0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標楷體" pitchFamily="65" charset="-120"/>
          <a:ea typeface="標楷體" pitchFamily="65" charset="-120"/>
          <a:cs typeface="Times New Roman" pitchFamily="18" charset="0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標楷體" pitchFamily="65" charset="-120"/>
          <a:ea typeface="標楷體" pitchFamily="65" charset="-120"/>
          <a:cs typeface="Times New Roman" pitchFamily="18" charset="0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標楷體" pitchFamily="65" charset="-120"/>
          <a:ea typeface="標楷體" pitchFamily="65" charset="-120"/>
          <a:cs typeface="Times New Roman" pitchFamily="18" charset="0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標楷體" pitchFamily="65" charset="-120"/>
          <a:ea typeface="標楷體" pitchFamily="65" charset="-120"/>
          <a:cs typeface="Times New Roman" pitchFamily="18" charset="0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標楷體" pitchFamily="65" charset="-120"/>
          <a:ea typeface="標楷體" pitchFamily="65" charset="-120"/>
          <a:cs typeface="Times New Roman" pitchFamily="18" charset="0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620688"/>
            <a:ext cx="9144000" cy="864096"/>
          </a:xfrm>
        </p:spPr>
        <p:txBody>
          <a:bodyPr>
            <a:normAutofit/>
          </a:bodyPr>
          <a:lstStyle/>
          <a:p>
            <a:pPr algn="ctr"/>
            <a:r>
              <a:rPr lang="en-US" altLang="zh-TW" sz="4400" dirty="0" smtClean="0">
                <a:solidFill>
                  <a:schemeClr val="tx2">
                    <a:satMod val="130000"/>
                  </a:schemeClr>
                </a:solidFill>
                <a:effectLst/>
                <a:latin typeface="Times New Roman" pitchFamily="18" charset="0"/>
              </a:rPr>
              <a:t>Scaled and permuted string matching</a:t>
            </a:r>
            <a:endParaRPr lang="zh-TW" altLang="en-US" sz="4400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fr-FR" altLang="zh-TW" sz="2400" dirty="0" smtClean="0">
                <a:latin typeface="Times New Roman" pitchFamily="18" charset="0"/>
                <a:ea typeface="微軟正黑體" pitchFamily="34" charset="-120"/>
              </a:rPr>
              <a:t>Ayelet </a:t>
            </a:r>
            <a:r>
              <a:rPr lang="fr-FR" altLang="zh-TW" sz="2400" dirty="0" smtClean="0">
                <a:latin typeface="Times New Roman" pitchFamily="18" charset="0"/>
                <a:ea typeface="微軟正黑體" pitchFamily="34" charset="-120"/>
              </a:rPr>
              <a:t>Butman, </a:t>
            </a:r>
            <a:r>
              <a:rPr lang="fr-FR" altLang="zh-TW" sz="2400" dirty="0" smtClean="0">
                <a:latin typeface="Times New Roman" pitchFamily="18" charset="0"/>
                <a:ea typeface="微軟正黑體" pitchFamily="34" charset="-120"/>
              </a:rPr>
              <a:t>Revital </a:t>
            </a:r>
            <a:r>
              <a:rPr lang="fr-FR" altLang="zh-TW" sz="2400" dirty="0" smtClean="0">
                <a:latin typeface="Times New Roman" pitchFamily="18" charset="0"/>
                <a:ea typeface="微軟正黑體" pitchFamily="34" charset="-120"/>
              </a:rPr>
              <a:t>Eres, </a:t>
            </a:r>
            <a:r>
              <a:rPr lang="fr-FR" altLang="zh-TW" sz="2400" dirty="0" smtClean="0">
                <a:latin typeface="Times New Roman" pitchFamily="18" charset="0"/>
                <a:ea typeface="微軟正黑體" pitchFamily="34" charset="-120"/>
              </a:rPr>
              <a:t>Gad M. </a:t>
            </a:r>
            <a:r>
              <a:rPr lang="fr-FR" altLang="zh-TW" sz="2400" dirty="0" smtClean="0">
                <a:latin typeface="Times New Roman" pitchFamily="18" charset="0"/>
                <a:ea typeface="微軟正黑體" pitchFamily="34" charset="-120"/>
              </a:rPr>
              <a:t>Landau</a:t>
            </a:r>
          </a:p>
          <a:p>
            <a:pPr algn="ctr"/>
            <a:r>
              <a:rPr lang="en-US" altLang="zh-TW" sz="2400" dirty="0" smtClean="0">
                <a:latin typeface="Times New Roman" pitchFamily="18" charset="0"/>
                <a:ea typeface="微軟正黑體" pitchFamily="34" charset="-120"/>
              </a:rPr>
              <a:t>Information </a:t>
            </a:r>
            <a:r>
              <a:rPr lang="en-US" altLang="zh-TW" sz="2400" dirty="0" smtClean="0">
                <a:latin typeface="Times New Roman" pitchFamily="18" charset="0"/>
                <a:ea typeface="微軟正黑體" pitchFamily="34" charset="-120"/>
              </a:rPr>
              <a:t>Processing Letters</a:t>
            </a:r>
          </a:p>
          <a:p>
            <a:pPr algn="ctr"/>
            <a:r>
              <a:rPr lang="en-US" altLang="zh-TW" sz="2400" dirty="0" smtClean="0">
                <a:latin typeface="Times New Roman" pitchFamily="18" charset="0"/>
                <a:ea typeface="微軟正黑體" pitchFamily="34" charset="-120"/>
              </a:rPr>
              <a:t>Vol. 92, pp. 293-297, 2004</a:t>
            </a:r>
            <a:endParaRPr lang="zh-TW" altLang="en-US" sz="2400" dirty="0" smtClean="0">
              <a:latin typeface="Times New Roman" pitchFamily="18" charset="0"/>
              <a:ea typeface="微軟正黑體" pitchFamily="34" charset="-120"/>
            </a:endParaRPr>
          </a:p>
          <a:p>
            <a:pPr algn="ctr"/>
            <a:endParaRPr lang="zh-TW" altLang="en-US" sz="2400" dirty="0"/>
          </a:p>
        </p:txBody>
      </p:sp>
      <p:sp>
        <p:nvSpPr>
          <p:cNvPr id="4" name="副標題 2"/>
          <p:cNvSpPr txBox="1">
            <a:spLocks/>
          </p:cNvSpPr>
          <p:nvPr/>
        </p:nvSpPr>
        <p:spPr bwMode="auto">
          <a:xfrm>
            <a:off x="519113" y="4941168"/>
            <a:ext cx="8105775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/>
          <a:lstStyle/>
          <a:p>
            <a:pPr algn="ctr"/>
            <a:r>
              <a:rPr kumimoji="0" lang="en-US" altLang="zh-TW" sz="2400" dirty="0">
                <a:latin typeface="Times New Roman" pitchFamily="18" charset="0"/>
                <a:ea typeface="微軟正黑體" pitchFamily="34" charset="-120"/>
                <a:cs typeface="Times New Roman" pitchFamily="18" charset="0"/>
              </a:rPr>
              <a:t>Speaker: Kai-Yuan Cheng</a:t>
            </a:r>
          </a:p>
          <a:p>
            <a:pPr algn="ctr">
              <a:lnSpc>
                <a:spcPct val="80000"/>
              </a:lnSpc>
            </a:pPr>
            <a:r>
              <a:rPr kumimoji="0" lang="en-US" altLang="zh-TW" sz="2400" dirty="0">
                <a:latin typeface="Times New Roman" pitchFamily="18" charset="0"/>
                <a:ea typeface="微軟正黑體" pitchFamily="34" charset="-120"/>
                <a:cs typeface="Times New Roman" pitchFamily="18" charset="0"/>
              </a:rPr>
              <a:t>Date: </a:t>
            </a:r>
            <a:r>
              <a:rPr kumimoji="0" lang="en-US" altLang="zh-TW" sz="2400" dirty="0" smtClean="0">
                <a:latin typeface="Times New Roman" pitchFamily="18" charset="0"/>
                <a:ea typeface="微軟正黑體" pitchFamily="34" charset="-120"/>
                <a:cs typeface="Times New Roman" pitchFamily="18" charset="0"/>
              </a:rPr>
              <a:t>Nov. </a:t>
            </a:r>
            <a:r>
              <a:rPr kumimoji="0" lang="en-US" altLang="zh-TW" sz="2400" smtClean="0">
                <a:latin typeface="Times New Roman" pitchFamily="18" charset="0"/>
                <a:ea typeface="微軟正黑體" pitchFamily="34" charset="-120"/>
                <a:cs typeface="Times New Roman" pitchFamily="18" charset="0"/>
              </a:rPr>
              <a:t>28, </a:t>
            </a:r>
            <a:r>
              <a:rPr kumimoji="0" lang="en-US" altLang="zh-TW" sz="2400" dirty="0">
                <a:latin typeface="Times New Roman" pitchFamily="18" charset="0"/>
                <a:ea typeface="微軟正黑體" pitchFamily="34" charset="-120"/>
                <a:cs typeface="Times New Roman" pitchFamily="18" charset="0"/>
              </a:rPr>
              <a:t>2011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The goal of scaled permuted string matching is to find all occurrences of a pattern in a text, in all possible scales and permutations. Given a text of length n and a pattern of length m we present an O(n) algorithm.</a:t>
            </a:r>
            <a:endParaRPr lang="zh-TW" altLang="en-US" dirty="0">
              <a:latin typeface="+mj-lt"/>
            </a:endParaRP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400" dirty="0" smtClean="0">
                <a:latin typeface="+mj-lt"/>
              </a:rPr>
              <a:t>Abstract</a:t>
            </a:r>
            <a:endParaRPr lang="zh-TW" altLang="en-US" sz="44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Run-length compress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 = </a:t>
            </a:r>
            <a:r>
              <a:rPr lang="en-US" altLang="zh-TW" dirty="0" err="1" smtClean="0"/>
              <a:t>aabbbaccaab</a:t>
            </a:r>
            <a:endParaRPr lang="en-US" altLang="zh-TW" dirty="0" smtClean="0"/>
          </a:p>
          <a:p>
            <a:r>
              <a:rPr lang="en-US" altLang="zh-TW" dirty="0" smtClean="0"/>
              <a:t>P’= a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b</a:t>
            </a:r>
            <a:r>
              <a:rPr lang="en-US" altLang="zh-TW" baseline="30000" dirty="0" smtClean="0"/>
              <a:t>3</a:t>
            </a:r>
            <a:r>
              <a:rPr lang="en-US" altLang="zh-TW" dirty="0" smtClean="0"/>
              <a:t>a</a:t>
            </a:r>
            <a:r>
              <a:rPr lang="en-US" altLang="zh-TW" baseline="30000" dirty="0" smtClean="0"/>
              <a:t>1</a:t>
            </a:r>
            <a:r>
              <a:rPr lang="en-US" altLang="zh-TW" dirty="0" smtClean="0"/>
              <a:t>c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a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b</a:t>
            </a:r>
            <a:r>
              <a:rPr lang="en-US" altLang="zh-TW" baseline="30000" dirty="0" smtClean="0"/>
              <a:t>1</a:t>
            </a:r>
            <a:endParaRPr lang="zh-TW" altLang="en-US" baseline="30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Permuted string matching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2276872"/>
            <a:ext cx="6505575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Example. Let P= a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b</a:t>
            </a:r>
            <a:r>
              <a:rPr lang="en-US" altLang="zh-TW" baseline="30000" dirty="0" smtClean="0"/>
              <a:t>3</a:t>
            </a:r>
            <a:r>
              <a:rPr lang="en-US" altLang="zh-TW" dirty="0" smtClean="0"/>
              <a:t>c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d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 and T=c</a:t>
            </a:r>
            <a:r>
              <a:rPr lang="en-US" altLang="zh-TW" baseline="30000" dirty="0" smtClean="0"/>
              <a:t>3</a:t>
            </a:r>
            <a:r>
              <a:rPr lang="en-US" altLang="zh-TW" dirty="0" smtClean="0"/>
              <a:t>a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c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a</a:t>
            </a:r>
            <a:r>
              <a:rPr lang="en-US" altLang="zh-TW" baseline="30000" dirty="0" smtClean="0"/>
              <a:t>3</a:t>
            </a:r>
            <a:r>
              <a:rPr lang="en-US" altLang="zh-TW" dirty="0" smtClean="0"/>
              <a:t>d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b</a:t>
            </a:r>
            <a:r>
              <a:rPr lang="en-US" altLang="zh-TW" baseline="30000" dirty="0" smtClean="0"/>
              <a:t>3</a:t>
            </a:r>
            <a:r>
              <a:rPr lang="en-US" altLang="zh-TW" dirty="0" smtClean="0"/>
              <a:t>c</a:t>
            </a:r>
            <a:r>
              <a:rPr lang="en-US" altLang="zh-TW" baseline="30000" dirty="0" smtClean="0"/>
              <a:t>1</a:t>
            </a:r>
          </a:p>
          <a:p>
            <a:endParaRPr lang="en-US" altLang="zh-TW" dirty="0" smtClean="0"/>
          </a:p>
          <a:p>
            <a:endParaRPr lang="en-US" altLang="zh-TW" dirty="0" smtClean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755937" y="2673000"/>
          <a:ext cx="3239999" cy="756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62857"/>
                <a:gridCol w="462857"/>
                <a:gridCol w="462857"/>
                <a:gridCol w="462857"/>
                <a:gridCol w="462857"/>
                <a:gridCol w="462857"/>
                <a:gridCol w="462857"/>
              </a:tblGrid>
              <a:tr h="37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r>
                        <a:rPr lang="en-US" altLang="zh-TW" baseline="30000" dirty="0" smtClean="0"/>
                        <a:t>3</a:t>
                      </a:r>
                      <a:endParaRPr lang="zh-TW" altLang="en-US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r>
                        <a:rPr lang="en-US" altLang="zh-TW" baseline="30000" dirty="0" smtClean="0"/>
                        <a:t>2</a:t>
                      </a:r>
                      <a:endParaRPr lang="zh-TW" altLang="en-US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r>
                        <a:rPr lang="en-US" altLang="zh-TW" baseline="30000" dirty="0" smtClean="0"/>
                        <a:t>2</a:t>
                      </a:r>
                      <a:endParaRPr lang="zh-TW" altLang="en-US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r>
                        <a:rPr lang="en-US" altLang="zh-TW" baseline="30000" dirty="0" smtClean="0"/>
                        <a:t>3</a:t>
                      </a:r>
                      <a:endParaRPr lang="zh-TW" altLang="en-US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r>
                        <a:rPr lang="en-US" altLang="zh-TW" baseline="30000" dirty="0" smtClean="0"/>
                        <a:t>2</a:t>
                      </a:r>
                      <a:endParaRPr lang="zh-TW" altLang="en-US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r>
                        <a:rPr lang="en-US" altLang="zh-TW" baseline="30000" dirty="0" smtClean="0"/>
                        <a:t>3</a:t>
                      </a:r>
                      <a:endParaRPr lang="zh-TW" altLang="en-US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r>
                        <a:rPr lang="en-US" altLang="zh-TW" baseline="30000" dirty="0" smtClean="0"/>
                        <a:t>1</a:t>
                      </a:r>
                      <a:endParaRPr lang="zh-TW" altLang="en-US" baseline="30000" dirty="0"/>
                    </a:p>
                  </a:txBody>
                  <a:tcPr/>
                </a:tc>
              </a:tr>
              <a:tr h="37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755576" y="3897136"/>
          <a:ext cx="3239999" cy="756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62857"/>
                <a:gridCol w="462857"/>
                <a:gridCol w="462857"/>
                <a:gridCol w="462857"/>
                <a:gridCol w="462857"/>
                <a:gridCol w="462857"/>
                <a:gridCol w="462857"/>
              </a:tblGrid>
              <a:tr h="37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r>
                        <a:rPr lang="en-US" altLang="zh-TW" baseline="30000" dirty="0" smtClean="0"/>
                        <a:t>3</a:t>
                      </a:r>
                      <a:endParaRPr lang="zh-TW" altLang="en-US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r>
                        <a:rPr lang="en-US" altLang="zh-TW" baseline="30000" dirty="0" smtClean="0"/>
                        <a:t>2</a:t>
                      </a:r>
                      <a:endParaRPr lang="zh-TW" altLang="en-US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r>
                        <a:rPr lang="en-US" altLang="zh-TW" baseline="30000" dirty="0" smtClean="0"/>
                        <a:t>2</a:t>
                      </a:r>
                      <a:endParaRPr lang="zh-TW" altLang="en-US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r>
                        <a:rPr lang="en-US" altLang="zh-TW" baseline="30000" dirty="0" smtClean="0"/>
                        <a:t>3</a:t>
                      </a:r>
                      <a:endParaRPr lang="zh-TW" altLang="en-US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r>
                        <a:rPr lang="en-US" altLang="zh-TW" baseline="30000" dirty="0" smtClean="0"/>
                        <a:t>2</a:t>
                      </a:r>
                      <a:endParaRPr lang="zh-TW" altLang="en-US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r>
                        <a:rPr lang="en-US" altLang="zh-TW" baseline="30000" dirty="0" smtClean="0"/>
                        <a:t>3</a:t>
                      </a:r>
                      <a:endParaRPr lang="zh-TW" altLang="en-US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r>
                        <a:rPr lang="en-US" altLang="zh-TW" baseline="30000" dirty="0" smtClean="0"/>
                        <a:t>1</a:t>
                      </a:r>
                      <a:endParaRPr lang="zh-TW" altLang="en-US" baseline="30000" dirty="0"/>
                    </a:p>
                  </a:txBody>
                  <a:tcPr/>
                </a:tc>
              </a:tr>
              <a:tr h="378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Time complexity</a:t>
            </a:r>
            <a:endParaRPr lang="zh-TW" alt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6362" y="2944812"/>
            <a:ext cx="6391275" cy="184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Scaled permuted string matching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916832"/>
            <a:ext cx="7694569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412776"/>
            <a:ext cx="8240254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412776"/>
            <a:ext cx="8130358" cy="3888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620688"/>
            <a:ext cx="7059559" cy="5733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Time complexity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n-lt"/>
              </a:rPr>
              <a:t>The total length of all the new texts T’s (1≦s </a:t>
            </a:r>
            <a:r>
              <a:rPr lang="en-US" altLang="zh-TW" dirty="0" smtClean="0"/>
              <a:t>≦</a:t>
            </a:r>
            <a:r>
              <a:rPr lang="en-US" altLang="zh-TW" dirty="0" smtClean="0">
                <a:latin typeface="+mn-lt"/>
              </a:rPr>
              <a:t>n/m) is O(n).</a:t>
            </a:r>
          </a:p>
          <a:p>
            <a:r>
              <a:rPr lang="en-US" altLang="zh-TW" dirty="0" smtClean="0">
                <a:latin typeface="+mn-lt"/>
              </a:rPr>
              <a:t>the number of new symbols that we produce from T</a:t>
            </a:r>
            <a:r>
              <a:rPr lang="en-US" altLang="zh-TW" i="1" baseline="-25000" dirty="0" smtClean="0">
                <a:latin typeface="+mn-lt"/>
              </a:rPr>
              <a:t>i</a:t>
            </a:r>
            <a:r>
              <a:rPr lang="en-US" altLang="zh-TW" dirty="0" smtClean="0">
                <a:latin typeface="+mn-lt"/>
              </a:rPr>
              <a:t>  is bounded by 2√ </a:t>
            </a:r>
            <a:r>
              <a:rPr lang="en-US" altLang="zh-TW" dirty="0" err="1" smtClean="0">
                <a:latin typeface="+mn-lt"/>
              </a:rPr>
              <a:t>r</a:t>
            </a:r>
            <a:r>
              <a:rPr lang="en-US" altLang="zh-TW" baseline="-25000" dirty="0" err="1" smtClean="0">
                <a:latin typeface="+mn-lt"/>
              </a:rPr>
              <a:t>i</a:t>
            </a:r>
            <a:r>
              <a:rPr lang="en-US" altLang="zh-TW" dirty="0" smtClean="0">
                <a:latin typeface="+mn-lt"/>
              </a:rPr>
              <a:t> .</a:t>
            </a:r>
          </a:p>
          <a:p>
            <a:r>
              <a:rPr lang="en-US" altLang="zh-TW" dirty="0" smtClean="0">
                <a:latin typeface="+mn-lt"/>
              </a:rPr>
              <a:t> 2*</a:t>
            </a:r>
          </a:p>
        </p:txBody>
      </p:sp>
      <p:cxnSp>
        <p:nvCxnSpPr>
          <p:cNvPr id="5" name="直線接點 4"/>
          <p:cNvCxnSpPr/>
          <p:nvPr/>
        </p:nvCxnSpPr>
        <p:spPr>
          <a:xfrm>
            <a:off x="2771800" y="2780928"/>
            <a:ext cx="36004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方塊 5"/>
          <p:cNvSpPr txBox="1"/>
          <p:nvPr/>
        </p:nvSpPr>
        <p:spPr>
          <a:xfrm>
            <a:off x="7596336" y="2267580"/>
            <a:ext cx="323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/>
              <a:t>r</a:t>
            </a:r>
            <a:r>
              <a:rPr lang="en-US" altLang="zh-TW" i="1" baseline="-25000" dirty="0" err="1" smtClean="0"/>
              <a:t>i</a:t>
            </a:r>
            <a:endParaRPr lang="zh-TW" altLang="en-US" i="1" baseline="-25000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29122" y="3140968"/>
            <a:ext cx="219075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 txBox="1">
            <a:spLocks/>
          </p:cNvSpPr>
          <p:nvPr/>
        </p:nvSpPr>
        <p:spPr>
          <a:xfrm>
            <a:off x="822325" y="2857500"/>
            <a:ext cx="7499350" cy="1143000"/>
          </a:xfrm>
          <a:prstGeom prst="rect">
            <a:avLst/>
          </a:prstGeom>
        </p:spPr>
        <p:txBody>
          <a:bodyPr vert="horz" l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標楷體" pitchFamily="65" charset="-120"/>
                <a:cs typeface="Times New Roman" pitchFamily="18" charset="0"/>
              </a:rPr>
              <a:t>Thank you!!!</a:t>
            </a:r>
            <a:endParaRPr kumimoji="0" lang="zh-TW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標楷體" pitchFamily="65" charset="-12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流線">
  <a:themeElements>
    <a:clrScheme name="灰階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pplab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流線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505</TotalTime>
  <Words>172</Words>
  <Application>Microsoft Office PowerPoint</Application>
  <PresentationFormat>如螢幕大小 (4:3)</PresentationFormat>
  <Paragraphs>39</Paragraphs>
  <Slides>12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3" baseType="lpstr">
      <vt:lpstr>流線</vt:lpstr>
      <vt:lpstr>Scaled and permuted string matching</vt:lpstr>
      <vt:lpstr>Abstract</vt:lpstr>
      <vt:lpstr>Run-length compress</vt:lpstr>
      <vt:lpstr>Permuted string matching</vt:lpstr>
      <vt:lpstr>投影片 5</vt:lpstr>
      <vt:lpstr>Time complexity</vt:lpstr>
      <vt:lpstr>Scaled permuted string matching</vt:lpstr>
      <vt:lpstr>投影片 8</vt:lpstr>
      <vt:lpstr>投影片 9</vt:lpstr>
      <vt:lpstr>投影片 10</vt:lpstr>
      <vt:lpstr>Time complexity</vt:lpstr>
      <vt:lpstr>投影片 12</vt:lpstr>
    </vt:vector>
  </TitlesOfParts>
  <Company>nsysu-pplab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 algorithms for LCS Consecutive Suffix Alignment</dc:title>
  <dc:creator>dark</dc:creator>
  <cp:lastModifiedBy>Guest</cp:lastModifiedBy>
  <cp:revision>37</cp:revision>
  <dcterms:created xsi:type="dcterms:W3CDTF">2011-09-26T06:39:43Z</dcterms:created>
  <dcterms:modified xsi:type="dcterms:W3CDTF">2011-11-28T11:27:15Z</dcterms:modified>
</cp:coreProperties>
</file>