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2" d="100"/>
          <a:sy n="102" d="100"/>
        </p:scale>
        <p:origin x="-23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79D75-2194-4B6E-B82E-931A99A5E462}" type="datetimeFigureOut">
              <a:rPr lang="zh-TW" altLang="en-US" smtClean="0"/>
              <a:t>2011/2/15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99FA8-C932-4659-BC07-19DCEC0134A4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79D75-2194-4B6E-B82E-931A99A5E462}" type="datetimeFigureOut">
              <a:rPr lang="zh-TW" altLang="en-US" smtClean="0"/>
              <a:t>2011/2/15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99FA8-C932-4659-BC07-19DCEC0134A4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79D75-2194-4B6E-B82E-931A99A5E462}" type="datetimeFigureOut">
              <a:rPr lang="zh-TW" altLang="en-US" smtClean="0"/>
              <a:t>2011/2/15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99FA8-C932-4659-BC07-19DCEC0134A4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79D75-2194-4B6E-B82E-931A99A5E462}" type="datetimeFigureOut">
              <a:rPr lang="zh-TW" altLang="en-US" smtClean="0"/>
              <a:t>2011/2/15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99FA8-C932-4659-BC07-19DCEC0134A4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79D75-2194-4B6E-B82E-931A99A5E462}" type="datetimeFigureOut">
              <a:rPr lang="zh-TW" altLang="en-US" smtClean="0"/>
              <a:t>2011/2/15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99FA8-C932-4659-BC07-19DCEC0134A4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79D75-2194-4B6E-B82E-931A99A5E462}" type="datetimeFigureOut">
              <a:rPr lang="zh-TW" altLang="en-US" smtClean="0"/>
              <a:t>2011/2/15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99FA8-C932-4659-BC07-19DCEC0134A4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79D75-2194-4B6E-B82E-931A99A5E462}" type="datetimeFigureOut">
              <a:rPr lang="zh-TW" altLang="en-US" smtClean="0"/>
              <a:t>2011/2/15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99FA8-C932-4659-BC07-19DCEC0134A4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79D75-2194-4B6E-B82E-931A99A5E462}" type="datetimeFigureOut">
              <a:rPr lang="zh-TW" altLang="en-US" smtClean="0"/>
              <a:t>2011/2/15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99FA8-C932-4659-BC07-19DCEC0134A4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79D75-2194-4B6E-B82E-931A99A5E462}" type="datetimeFigureOut">
              <a:rPr lang="zh-TW" altLang="en-US" smtClean="0"/>
              <a:t>2011/2/15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99FA8-C932-4659-BC07-19DCEC0134A4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79D75-2194-4B6E-B82E-931A99A5E462}" type="datetimeFigureOut">
              <a:rPr lang="zh-TW" altLang="en-US" smtClean="0"/>
              <a:t>2011/2/15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99FA8-C932-4659-BC07-19DCEC0134A4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79D75-2194-4B6E-B82E-931A99A5E462}" type="datetimeFigureOut">
              <a:rPr lang="zh-TW" altLang="en-US" smtClean="0"/>
              <a:t>2011/2/15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99FA8-C932-4659-BC07-19DCEC0134A4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179D75-2194-4B6E-B82E-931A99A5E462}" type="datetimeFigureOut">
              <a:rPr lang="zh-TW" altLang="en-US" smtClean="0"/>
              <a:t>2011/2/15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E99FA8-C932-4659-BC07-19DCEC0134A4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>
                <a:latin typeface="Times New Roman" pitchFamily="18" charset="0"/>
                <a:cs typeface="Times New Roman" pitchFamily="18" charset="0"/>
              </a:rPr>
              <a:t>Prediction of protein structural class with Rough Sets</a:t>
            </a:r>
            <a:endParaRPr lang="zh-TW" alt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TW" sz="18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Youfang</a:t>
            </a:r>
            <a:r>
              <a:rPr lang="en-US" altLang="zh-TW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Cao, </a:t>
            </a:r>
            <a:r>
              <a:rPr lang="en-US" altLang="zh-TW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Shi </a:t>
            </a:r>
            <a:r>
              <a:rPr lang="en-US" altLang="zh-TW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Liu, </a:t>
            </a:r>
            <a:r>
              <a:rPr lang="en-US" altLang="zh-TW" sz="18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Lida</a:t>
            </a:r>
            <a:r>
              <a:rPr lang="en-US" altLang="zh-TW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Zhang, </a:t>
            </a:r>
            <a:r>
              <a:rPr lang="en-US" altLang="zh-TW" sz="18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Jie</a:t>
            </a:r>
            <a:r>
              <a:rPr lang="en-US" altLang="zh-TW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Qin, </a:t>
            </a:r>
            <a:r>
              <a:rPr lang="en-US" altLang="zh-TW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Jiang </a:t>
            </a:r>
            <a:r>
              <a:rPr lang="en-US" altLang="zh-TW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Wang </a:t>
            </a:r>
            <a:r>
              <a:rPr lang="en-US" altLang="zh-TW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</a:t>
            </a:r>
          </a:p>
          <a:p>
            <a:r>
              <a:rPr lang="en-US" altLang="zh-TW" sz="18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Kexuan</a:t>
            </a:r>
            <a:r>
              <a:rPr lang="en-US" altLang="zh-TW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Tang(</a:t>
            </a:r>
            <a:r>
              <a:rPr lang="zh-TW" altLang="en-U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唐克軒</a:t>
            </a:r>
            <a:r>
              <a:rPr lang="en-US" altLang="zh-TW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en-US" altLang="zh-TW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BMC Bioinformatics 2006, </a:t>
            </a:r>
            <a:r>
              <a:rPr lang="en-US" altLang="zh-TW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7:20</a:t>
            </a:r>
          </a:p>
          <a:p>
            <a:pPr>
              <a:lnSpc>
                <a:spcPct val="80000"/>
              </a:lnSpc>
            </a:pPr>
            <a:r>
              <a:rPr lang="en-US" altLang="zh-TW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Speaker: Chong-</a:t>
            </a:r>
            <a:r>
              <a:rPr lang="en-US" altLang="zh-TW" sz="18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Jie</a:t>
            </a:r>
            <a:r>
              <a:rPr lang="en-US" altLang="zh-TW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Wang</a:t>
            </a:r>
          </a:p>
          <a:p>
            <a:pPr>
              <a:lnSpc>
                <a:spcPct val="80000"/>
              </a:lnSpc>
            </a:pPr>
            <a:r>
              <a:rPr lang="en-US" altLang="zh-TW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Date:</a:t>
            </a:r>
            <a:r>
              <a:rPr lang="zh-TW" altLang="en-U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February 15, 2011</a:t>
            </a:r>
          </a:p>
          <a:p>
            <a:endParaRPr lang="zh-TW" altLang="en-US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 smtClean="0">
                <a:latin typeface="Times New Roman" pitchFamily="18" charset="0"/>
                <a:cs typeface="Times New Roman" pitchFamily="18" charset="0"/>
              </a:rPr>
              <a:t>Abstract</a:t>
            </a:r>
            <a:endParaRPr lang="zh-TW" alt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b="1" dirty="0" smtClean="0">
                <a:latin typeface="Times New Roman" pitchFamily="18" charset="0"/>
                <a:cs typeface="Times New Roman" pitchFamily="18" charset="0"/>
              </a:rPr>
              <a:t>Background</a:t>
            </a:r>
            <a:r>
              <a:rPr lang="en-US" altLang="zh-TW" sz="28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A new method for the prediction of protein structural classes is constructed based on </a:t>
            </a:r>
            <a:r>
              <a:rPr lang="en-US" altLang="zh-TW" sz="2800" dirty="0">
                <a:latin typeface="Times New Roman" pitchFamily="18" charset="0"/>
                <a:cs typeface="Times New Roman" pitchFamily="18" charset="0"/>
              </a:rPr>
              <a:t>Rough Sets algorithm, which is a rule-based data mining method. Amino acid compositions 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and 8 physicochemical </a:t>
            </a:r>
            <a:r>
              <a:rPr lang="en-US" altLang="zh-TW" sz="2800" dirty="0">
                <a:latin typeface="Times New Roman" pitchFamily="18" charset="0"/>
                <a:cs typeface="Times New Roman" pitchFamily="18" charset="0"/>
              </a:rPr>
              <a:t>properties data are used 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as conditional </a:t>
            </a:r>
            <a:r>
              <a:rPr lang="en-US" altLang="zh-TW" sz="2800" dirty="0">
                <a:latin typeface="Times New Roman" pitchFamily="18" charset="0"/>
                <a:cs typeface="Times New Roman" pitchFamily="18" charset="0"/>
              </a:rPr>
              <a:t>attributes for the construction 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of decision </a:t>
            </a:r>
            <a:r>
              <a:rPr lang="en-US" altLang="zh-TW" sz="2800" dirty="0">
                <a:latin typeface="Times New Roman" pitchFamily="18" charset="0"/>
                <a:cs typeface="Times New Roman" pitchFamily="18" charset="0"/>
              </a:rPr>
              <a:t>system. After reducing the decision system, 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decision rules </a:t>
            </a:r>
            <a:r>
              <a:rPr lang="en-US" altLang="zh-TW" sz="2800" dirty="0">
                <a:latin typeface="Times New Roman" pitchFamily="18" charset="0"/>
                <a:cs typeface="Times New Roman" pitchFamily="18" charset="0"/>
              </a:rPr>
              <a:t>are generated, which can 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be used </a:t>
            </a:r>
            <a:r>
              <a:rPr lang="en-US" altLang="zh-TW" sz="2800" dirty="0">
                <a:latin typeface="Times New Roman" pitchFamily="18" charset="0"/>
                <a:cs typeface="Times New Roman" pitchFamily="18" charset="0"/>
              </a:rPr>
              <a:t>to classify new objects.</a:t>
            </a:r>
            <a:endParaRPr lang="zh-TW" alt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Results: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In this study, self-consistency and jackknife tests on the datasets constructed by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G.P. Zhou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(Journal of Protein Chemistry, 1998, 17: 729–738) are used to verify the performance of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this method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, and are compared with some of prior works. The results showed that the rough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sets approach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is very promising and may play a complementary role to the existing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powerful approaches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, such as the component-coupled, neural network, SVM, and </a:t>
            </a:r>
            <a:r>
              <a:rPr lang="en-US" altLang="zh-TW" dirty="0" err="1">
                <a:latin typeface="Times New Roman" pitchFamily="18" charset="0"/>
                <a:cs typeface="Times New Roman" pitchFamily="18" charset="0"/>
              </a:rPr>
              <a:t>LogitBoost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 approaches.</a:t>
            </a:r>
          </a:p>
          <a:p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Conclusion: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The results with high success rates indicate that the rough sets approach as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proposed in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this paper might hold a high potential to become a useful tool in bioinformatics.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dataset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Extracted from SCOP</a:t>
            </a:r>
          </a:p>
          <a:p>
            <a:endParaRPr lang="en-US" altLang="zh-TW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Two datasets: the one of 277 </a:t>
            </a:r>
            <a:r>
              <a:rPr lang="en-US" altLang="zh-TW" sz="2800" dirty="0">
                <a:latin typeface="Times New Roman" pitchFamily="18" charset="0"/>
                <a:cs typeface="Times New Roman" pitchFamily="18" charset="0"/>
              </a:rPr>
              <a:t>domains contains 46651 decision 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rules and the other </a:t>
            </a:r>
            <a:r>
              <a:rPr lang="fr-FR" altLang="zh-TW" sz="2800" dirty="0" smtClean="0">
                <a:latin typeface="Times New Roman" pitchFamily="18" charset="0"/>
                <a:cs typeface="Times New Roman" pitchFamily="18" charset="0"/>
              </a:rPr>
              <a:t>498 </a:t>
            </a:r>
            <a:r>
              <a:rPr lang="fr-FR" altLang="zh-TW" sz="2800" dirty="0">
                <a:latin typeface="Times New Roman" pitchFamily="18" charset="0"/>
                <a:cs typeface="Times New Roman" pitchFamily="18" charset="0"/>
              </a:rPr>
              <a:t>domains contains 52474 </a:t>
            </a:r>
            <a:r>
              <a:rPr lang="fr-FR" altLang="zh-TW" sz="2800" dirty="0" smtClean="0">
                <a:latin typeface="Times New Roman" pitchFamily="18" charset="0"/>
                <a:cs typeface="Times New Roman" pitchFamily="18" charset="0"/>
              </a:rPr>
              <a:t>decision 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rules</a:t>
            </a:r>
            <a:endParaRPr lang="zh-TW" alt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圖片 3" descr="t1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835696" y="4509120"/>
            <a:ext cx="5334000" cy="15430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 smtClean="0">
                <a:latin typeface="Times New Roman" pitchFamily="18" charset="0"/>
                <a:cs typeface="Times New Roman" pitchFamily="18" charset="0"/>
              </a:rPr>
              <a:t>Result : self-consistency</a:t>
            </a:r>
            <a:endParaRPr lang="zh-TW" alt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內容版面配置區 3" descr="t2.bmp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838200" y="2558256"/>
            <a:ext cx="7467600" cy="2609850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 smtClean="0">
                <a:latin typeface="Times New Roman" pitchFamily="18" charset="0"/>
                <a:cs typeface="Times New Roman" pitchFamily="18" charset="0"/>
              </a:rPr>
              <a:t>Result : jackknife</a:t>
            </a:r>
            <a:endParaRPr lang="zh-TW" alt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內容版面配置區 3" descr="t3.bmp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890587" y="2596356"/>
            <a:ext cx="7362825" cy="2533650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 smtClean="0">
                <a:latin typeface="Times New Roman" pitchFamily="18" charset="0"/>
                <a:cs typeface="Times New Roman" pitchFamily="18" charset="0"/>
              </a:rPr>
              <a:t>Rough sets</a:t>
            </a:r>
            <a:endParaRPr lang="zh-TW" alt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dirty="0">
                <a:latin typeface="Times New Roman" pitchFamily="18" charset="0"/>
                <a:cs typeface="Times New Roman" pitchFamily="18" charset="0"/>
              </a:rPr>
              <a:t>construction of 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decision tables </a:t>
            </a:r>
          </a:p>
          <a:p>
            <a:endParaRPr lang="en-US" altLang="zh-TW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TW" sz="2800" dirty="0">
                <a:latin typeface="Times New Roman" pitchFamily="18" charset="0"/>
                <a:cs typeface="Times New Roman" pitchFamily="18" charset="0"/>
              </a:rPr>
              <a:t>model 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induction</a:t>
            </a:r>
          </a:p>
          <a:p>
            <a:endParaRPr lang="en-US" altLang="zh-TW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TW" sz="2800" dirty="0">
                <a:latin typeface="Times New Roman" pitchFamily="18" charset="0"/>
                <a:cs typeface="Times New Roman" pitchFamily="18" charset="0"/>
              </a:rPr>
              <a:t>model evaluation</a:t>
            </a:r>
            <a:endParaRPr lang="zh-TW" alt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 smtClean="0">
                <a:latin typeface="Times New Roman" pitchFamily="18" charset="0"/>
                <a:cs typeface="Times New Roman" pitchFamily="18" charset="0"/>
              </a:rPr>
              <a:t>construction of decision tables</a:t>
            </a:r>
            <a:endParaRPr lang="zh-TW" altLang="en-US" sz="40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A = {</a:t>
            </a:r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U, 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∪</a:t>
            </a:r>
            <a:r>
              <a:rPr lang="zh-TW" altLang="en-US" sz="28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}}</a:t>
            </a:r>
          </a:p>
          <a:p>
            <a:pPr lvl="1"/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A: conditional attribute set</a:t>
            </a:r>
          </a:p>
          <a:p>
            <a:pPr lvl="1"/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d: decision attribute</a:t>
            </a:r>
            <a:endParaRPr lang="en-US" altLang="zh-TW" sz="2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altLang="zh-TW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A is made of 2 parts: </a:t>
            </a:r>
          </a:p>
          <a:p>
            <a:pPr lvl="1"/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zh-TW" sz="24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 = {A, R, N, …, Y, V},</a:t>
            </a:r>
            <a:r>
              <a:rPr lang="zh-TW" alt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altLang="zh-TW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zh-TW" sz="24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zh-TW" alt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2000" dirty="0" smtClean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zh-TW" alt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KR, ED,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AGP,</a:t>
            </a:r>
            <a:r>
              <a:rPr lang="zh-TW" alt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da-DK" altLang="zh-TW" sz="2400" dirty="0" smtClean="0">
                <a:latin typeface="Times New Roman" pitchFamily="18" charset="0"/>
                <a:cs typeface="Times New Roman" pitchFamily="18" charset="0"/>
              </a:rPr>
              <a:t>KRED</a:t>
            </a:r>
            <a:r>
              <a:rPr lang="da-DK" altLang="zh-TW" sz="2400" dirty="0">
                <a:latin typeface="Times New Roman" pitchFamily="18" charset="0"/>
                <a:cs typeface="Times New Roman" pitchFamily="18" charset="0"/>
              </a:rPr>
              <a:t>, KR-ED, FIKMNY, LVIFM, ST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>
              <a:buNone/>
            </a:pPr>
            <a:endParaRPr lang="en-US" altLang="zh-TW" sz="2800" baseline="-25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altLang="zh-TW" sz="2800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buNone/>
            </a:pPr>
            <a:endParaRPr lang="en-US" altLang="zh-TW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 smtClean="0">
                <a:latin typeface="Times New Roman" pitchFamily="18" charset="0"/>
                <a:cs typeface="Times New Roman" pitchFamily="18" charset="0"/>
              </a:rPr>
              <a:t>model induction</a:t>
            </a:r>
            <a:endParaRPr lang="en-US" altLang="zh-TW" sz="4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i="1" dirty="0">
                <a:latin typeface="Times New Roman" pitchFamily="18" charset="0"/>
                <a:cs typeface="Times New Roman" pitchFamily="18" charset="0"/>
              </a:rPr>
              <a:t>IND</a:t>
            </a:r>
            <a:r>
              <a:rPr lang="en-US" altLang="zh-TW" sz="2800" i="1" baseline="-250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sz="28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TW" sz="2800" i="1" dirty="0" err="1">
                <a:latin typeface="Times New Roman" pitchFamily="18" charset="0"/>
                <a:cs typeface="Times New Roman" pitchFamily="18" charset="0"/>
              </a:rPr>
              <a:t>A,x,d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):</a:t>
            </a:r>
            <a:r>
              <a:rPr lang="zh-TW" alt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2800" dirty="0">
                <a:latin typeface="Times New Roman" pitchFamily="18" charset="0"/>
                <a:cs typeface="Times New Roman" pitchFamily="18" charset="0"/>
              </a:rPr>
              <a:t>the set of objects that are 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indiscernible</a:t>
            </a:r>
            <a:r>
              <a:rPr lang="zh-TW" alt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from </a:t>
            </a:r>
            <a:r>
              <a:rPr lang="en-US" altLang="zh-TW" sz="280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TW" sz="2800" dirty="0">
                <a:latin typeface="Times New Roman" pitchFamily="18" charset="0"/>
                <a:cs typeface="Times New Roman" pitchFamily="18" charset="0"/>
              </a:rPr>
              <a:t> with respect to the decision attribute 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d</a:t>
            </a:r>
          </a:p>
          <a:p>
            <a:endParaRPr lang="en-US" altLang="zh-TW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TW" sz="2800" i="1" dirty="0">
                <a:latin typeface="Times New Roman" pitchFamily="18" charset="0"/>
                <a:cs typeface="Times New Roman" pitchFamily="18" charset="0"/>
              </a:rPr>
              <a:t>RED</a:t>
            </a:r>
            <a:r>
              <a:rPr lang="en-US" altLang="zh-TW" sz="2800" i="1" baseline="-250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sz="28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TW" sz="2800" i="1" dirty="0" err="1">
                <a:latin typeface="Times New Roman" pitchFamily="18" charset="0"/>
                <a:cs typeface="Times New Roman" pitchFamily="18" charset="0"/>
              </a:rPr>
              <a:t>x,d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):</a:t>
            </a:r>
            <a:r>
              <a:rPr lang="zh-TW" alt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2800" dirty="0">
                <a:latin typeface="Times New Roman" pitchFamily="18" charset="0"/>
                <a:cs typeface="Times New Roman" pitchFamily="18" charset="0"/>
              </a:rPr>
              <a:t>the set 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of</a:t>
            </a:r>
            <a:r>
              <a:rPr lang="zh-TW" alt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minimal </a:t>
            </a:r>
            <a:r>
              <a:rPr lang="en-US" altLang="zh-TW" sz="2800" dirty="0">
                <a:latin typeface="Times New Roman" pitchFamily="18" charset="0"/>
                <a:cs typeface="Times New Roman" pitchFamily="18" charset="0"/>
              </a:rPr>
              <a:t>sets of attributes </a:t>
            </a:r>
            <a:r>
              <a:rPr lang="en-US" altLang="zh-TW" sz="2800" i="1" dirty="0">
                <a:latin typeface="Times New Roman" pitchFamily="18" charset="0"/>
                <a:cs typeface="Times New Roman" pitchFamily="18" charset="0"/>
              </a:rPr>
              <a:t>B </a:t>
            </a:r>
            <a:r>
              <a:rPr lang="en-US" altLang="zh-TW" sz="2800" dirty="0">
                <a:latin typeface="Times New Roman" pitchFamily="18" charset="0"/>
                <a:cs typeface="Times New Roman" pitchFamily="18" charset="0"/>
              </a:rPr>
              <a:t>⊆</a:t>
            </a:r>
            <a:r>
              <a:rPr lang="en-US" altLang="zh-TW" sz="2800" i="1" dirty="0"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altLang="zh-TW" sz="2800" dirty="0">
                <a:latin typeface="Times New Roman" pitchFamily="18" charset="0"/>
                <a:cs typeface="Times New Roman" pitchFamily="18" charset="0"/>
              </a:rPr>
              <a:t>such that </a:t>
            </a:r>
            <a:r>
              <a:rPr lang="en-US" altLang="zh-TW" sz="2800" i="1" dirty="0">
                <a:latin typeface="Times New Roman" pitchFamily="18" charset="0"/>
                <a:cs typeface="Times New Roman" pitchFamily="18" charset="0"/>
              </a:rPr>
              <a:t>IND</a:t>
            </a:r>
            <a:r>
              <a:rPr lang="en-US" altLang="zh-TW" sz="2800" i="1" baseline="-250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sz="28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28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TW" sz="2800" i="1" dirty="0" err="1">
                <a:latin typeface="Times New Roman" pitchFamily="18" charset="0"/>
                <a:cs typeface="Times New Roman" pitchFamily="18" charset="0"/>
              </a:rPr>
              <a:t>B,x,d</a:t>
            </a:r>
            <a:r>
              <a:rPr lang="en-US" altLang="zh-TW" sz="28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altLang="zh-TW" sz="28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zh-TW" altLang="en-US" sz="28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IND</a:t>
            </a:r>
            <a:r>
              <a:rPr lang="en-US" altLang="zh-TW" sz="2800" i="1" baseline="-250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28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TW" sz="2800" i="1" dirty="0" err="1">
                <a:latin typeface="Times New Roman" pitchFamily="18" charset="0"/>
                <a:cs typeface="Times New Roman" pitchFamily="18" charset="0"/>
              </a:rPr>
              <a:t>A,x,d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endParaRPr lang="en-US" altLang="zh-TW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 smtClean="0">
                <a:latin typeface="Times New Roman" pitchFamily="18" charset="0"/>
                <a:cs typeface="Times New Roman" pitchFamily="18" charset="0"/>
              </a:rPr>
              <a:t>Thanks for your listening</a:t>
            </a:r>
            <a:endParaRPr lang="zh-TW" alt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副標題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384</Words>
  <Application>Microsoft Office PowerPoint</Application>
  <PresentationFormat>如螢幕大小 (4:3)</PresentationFormat>
  <Paragraphs>37</Paragraphs>
  <Slides>10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1" baseType="lpstr">
      <vt:lpstr>Office 佈景主題</vt:lpstr>
      <vt:lpstr>Prediction of protein structural class with Rough Sets</vt:lpstr>
      <vt:lpstr>Abstract</vt:lpstr>
      <vt:lpstr>Abstract</vt:lpstr>
      <vt:lpstr>dataset</vt:lpstr>
      <vt:lpstr>Result : self-consistency</vt:lpstr>
      <vt:lpstr>Result : jackknife</vt:lpstr>
      <vt:lpstr>Rough sets</vt:lpstr>
      <vt:lpstr>construction of decision tables</vt:lpstr>
      <vt:lpstr>model induction</vt:lpstr>
      <vt:lpstr>Thanks for your listening</vt:lpstr>
    </vt:vector>
  </TitlesOfParts>
  <Company>pplab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Prediction of protein structural class with Rough Sets</dc:title>
  <dc:creator>王重傑</dc:creator>
  <cp:lastModifiedBy>王重傑</cp:lastModifiedBy>
  <cp:revision>10</cp:revision>
  <dcterms:created xsi:type="dcterms:W3CDTF">2011-02-15T08:35:55Z</dcterms:created>
  <dcterms:modified xsi:type="dcterms:W3CDTF">2011-02-15T10:06:47Z</dcterms:modified>
</cp:coreProperties>
</file>