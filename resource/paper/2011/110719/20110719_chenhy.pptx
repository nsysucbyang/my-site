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2" r:id="rId4"/>
    <p:sldId id="293" r:id="rId5"/>
    <p:sldId id="300" r:id="rId6"/>
    <p:sldId id="301" r:id="rId7"/>
    <p:sldId id="303" r:id="rId8"/>
    <p:sldId id="305" r:id="rId9"/>
    <p:sldId id="302" r:id="rId10"/>
    <p:sldId id="304" r:id="rId11"/>
    <p:sldId id="306" r:id="rId12"/>
    <p:sldId id="307" r:id="rId13"/>
    <p:sldId id="290" r:id="rId14"/>
    <p:sldId id="308" r:id="rId15"/>
    <p:sldId id="292" r:id="rId16"/>
    <p:sldId id="291" r:id="rId17"/>
    <p:sldId id="311" r:id="rId18"/>
    <p:sldId id="310" r:id="rId19"/>
    <p:sldId id="309" r:id="rId20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48" autoAdjust="0"/>
    <p:restoredTop sz="81784" autoAdjust="0"/>
  </p:normalViewPr>
  <p:slideViewPr>
    <p:cSldViewPr>
      <p:cViewPr varScale="1">
        <p:scale>
          <a:sx n="106" d="100"/>
          <a:sy n="106" d="100"/>
        </p:scale>
        <p:origin x="-102" y="-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6EA5F3-94E4-4F7A-AC07-FCE66639B35A}" type="datetimeFigureOut">
              <a:rPr lang="zh-TW" altLang="en-US" smtClean="0"/>
              <a:t>2011/7/18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75A31A-74A8-4798-85F1-ED8970345F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0301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A87D0A-8D72-4A12-B6F4-2D70E9050589}" type="datetimeFigureOut">
              <a:rPr lang="zh-TW" altLang="en-US"/>
              <a:pPr>
                <a:defRPr/>
              </a:pPr>
              <a:t>2011/7/18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84CF82-A9AE-4268-9497-FFC67A3ADAA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01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5304AF-B224-4445-9AE4-B7650C7B3616}" type="datetimeFigureOut">
              <a:rPr lang="zh-TW" altLang="en-US"/>
              <a:pPr>
                <a:defRPr/>
              </a:pPr>
              <a:t>2011/7/18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2FDB3-9A8C-4355-8F1B-1FD935E6DAE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0150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8DB94C-87E5-4077-BC91-73AF7E8169C3}" type="datetimeFigureOut">
              <a:rPr lang="zh-TW" altLang="en-US"/>
              <a:pPr>
                <a:defRPr/>
              </a:pPr>
              <a:t>2011/7/18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7E59EC-7354-4DDD-9A8A-310C296ACDE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91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610FB1-0584-4237-8E45-15165FF7CB9F}" type="datetimeFigureOut">
              <a:rPr lang="zh-TW" altLang="en-US"/>
              <a:pPr>
                <a:defRPr/>
              </a:pPr>
              <a:t>2011/7/18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B5203F-7F56-456C-9DFC-64E25C44A7B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5980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EB2774-9042-48AC-B3CE-D46C5BDDDE0D}" type="datetimeFigureOut">
              <a:rPr lang="zh-TW" altLang="en-US"/>
              <a:pPr>
                <a:defRPr/>
              </a:pPr>
              <a:t>2011/7/18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E3F07-97A7-4CEE-B190-0EAA322A0DC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8583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7D4F32-C364-42C1-BF55-D8FDA76BAE3B}" type="datetimeFigureOut">
              <a:rPr lang="zh-TW" altLang="en-US"/>
              <a:pPr>
                <a:defRPr/>
              </a:pPr>
              <a:t>2011/7/18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A6D154-E159-48B9-A6F3-81EB04F3AB5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491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CDC56-C89D-4BE5-A649-0F8DEB867E2F}" type="datetimeFigureOut">
              <a:rPr lang="zh-TW" altLang="en-US"/>
              <a:pPr>
                <a:defRPr/>
              </a:pPr>
              <a:t>2011/7/18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424784-AD13-4080-BFAC-BA75534B03C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8553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742AE-97D1-4875-8D42-3FF228F75098}" type="datetimeFigureOut">
              <a:rPr lang="zh-TW" altLang="en-US"/>
              <a:pPr>
                <a:defRPr/>
              </a:pPr>
              <a:t>2011/7/18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4585D6-6A74-4F5F-A10A-39A26C80B83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3948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B01E2E-6A5F-4CA5-908E-A19C356BF55C}" type="datetimeFigureOut">
              <a:rPr lang="zh-TW" altLang="en-US"/>
              <a:pPr>
                <a:defRPr/>
              </a:pPr>
              <a:t>2011/7/18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00A074-4C14-4B45-944F-53D0B7706B9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3826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8F2A4D-44B9-4DBC-836F-FD98F3AF9BFF}" type="datetimeFigureOut">
              <a:rPr lang="zh-TW" altLang="en-US"/>
              <a:pPr>
                <a:defRPr/>
              </a:pPr>
              <a:t>2011/7/18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CA295C-7F92-4711-840D-EE26E104FC6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8311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319B6A-84D4-4391-B7E5-706DC8F093D5}" type="datetimeFigureOut">
              <a:rPr lang="zh-TW" altLang="en-US"/>
              <a:pPr>
                <a:defRPr/>
              </a:pPr>
              <a:t>2011/7/18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F181AC-B57B-4E63-A225-FD07A1E9EC5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6833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08C5AD4-FB66-4C86-AB8D-D984E889BCC6}" type="datetimeFigureOut">
              <a:rPr lang="zh-TW" altLang="en-US"/>
              <a:pPr>
                <a:defRPr/>
              </a:pPr>
              <a:t>2011/7/18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0EDE5FD-EEE6-40C5-AF40-54426C020AF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prosite.expasy.org/scanprosite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1"/>
          <p:cNvSpPr>
            <a:spLocks noGrp="1"/>
          </p:cNvSpPr>
          <p:nvPr>
            <p:ph type="ctrTitle"/>
          </p:nvPr>
        </p:nvSpPr>
        <p:spPr>
          <a:xfrm>
            <a:off x="395536" y="692150"/>
            <a:ext cx="8424936" cy="4681066"/>
          </a:xfrm>
        </p:spPr>
        <p:txBody>
          <a:bodyPr/>
          <a:lstStyle/>
          <a:p>
            <a:pPr eaLnBrk="1" hangingPunct="1"/>
            <a:r>
              <a:rPr lang="en-US" altLang="zh-TW" sz="40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Efficient Discovery of Structural Motifs </a:t>
            </a:r>
            <a:r>
              <a:rPr lang="en-US" altLang="zh-TW" sz="40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from Protein </a:t>
            </a:r>
            <a:r>
              <a:rPr lang="en-US" altLang="zh-TW" sz="40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Sequences with Combination </a:t>
            </a:r>
            <a:r>
              <a:rPr lang="en-US" altLang="zh-TW" sz="40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of Flexible </a:t>
            </a:r>
            <a:r>
              <a:rPr lang="en-US" altLang="zh-TW" sz="40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Intra- and Inter-block Gap Constraints</a:t>
            </a:r>
            <a:r>
              <a:rPr lang="en-US" altLang="zh-TW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/>
            </a:r>
            <a:br>
              <a:rPr lang="en-US" altLang="zh-TW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</a:br>
            <a:r>
              <a:rPr lang="en-US" altLang="zh-TW" sz="24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/>
            </a:r>
            <a:br>
              <a:rPr lang="en-US" altLang="zh-TW" sz="24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</a:br>
            <a:r>
              <a:rPr lang="en-US" altLang="zh-TW" sz="24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Chen-Ming </a:t>
            </a:r>
            <a:r>
              <a:rPr lang="en-US" altLang="zh-TW" sz="24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Hsu, </a:t>
            </a:r>
            <a:r>
              <a:rPr lang="en-US" altLang="zh-TW" sz="2400" dirty="0" err="1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Chien</a:t>
            </a:r>
            <a:r>
              <a:rPr lang="en-US" altLang="zh-TW" sz="24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-Yu </a:t>
            </a:r>
            <a:r>
              <a:rPr lang="en-US" altLang="zh-TW" sz="24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Chen, </a:t>
            </a:r>
            <a:r>
              <a:rPr lang="en-US" altLang="zh-TW" sz="2400" dirty="0" err="1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Ching</a:t>
            </a:r>
            <a:r>
              <a:rPr lang="en-US" altLang="zh-TW" sz="24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-Chi </a:t>
            </a:r>
            <a:r>
              <a:rPr lang="en-US" altLang="zh-TW" sz="24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Hsu, </a:t>
            </a:r>
            <a:r>
              <a:rPr lang="en-US" altLang="zh-TW" sz="24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and Baw-</a:t>
            </a:r>
            <a:r>
              <a:rPr lang="en-US" altLang="zh-TW" sz="2400" dirty="0" err="1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Jhiune</a:t>
            </a:r>
            <a:r>
              <a:rPr lang="en-US" altLang="zh-TW" sz="24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 Liu</a:t>
            </a:r>
            <a:r>
              <a:rPr lang="en-US" altLang="zh-TW" sz="24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/>
            </a:r>
            <a:br>
              <a:rPr lang="en-US" altLang="zh-TW" sz="24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</a:br>
            <a:r>
              <a:rPr lang="en-US" altLang="zh-TW" sz="24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/>
            </a:r>
            <a:br>
              <a:rPr lang="en-US" altLang="zh-TW" sz="24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</a:br>
            <a:r>
              <a:rPr lang="en-US" altLang="zh-TW" sz="22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Pacific </a:t>
            </a:r>
            <a:r>
              <a:rPr lang="en-US" altLang="zh-TW" sz="22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Area Conference on Knowledge Discovery and Data </a:t>
            </a:r>
            <a:r>
              <a:rPr lang="en-US" altLang="zh-TW" sz="22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Mining (PAKDD) </a:t>
            </a:r>
            <a:r>
              <a:rPr lang="en-US" altLang="zh-TW" sz="22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2006, LNAI 3918, pp. 530 – 539, 2006.</a:t>
            </a:r>
            <a:r>
              <a:rPr lang="en-US" altLang="zh-TW" sz="22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/>
            </a:r>
            <a:br>
              <a:rPr lang="en-US" altLang="zh-TW" sz="22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</a:br>
            <a:endParaRPr lang="zh-TW" altLang="en-US" sz="2200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2051" name="副標題 2"/>
          <p:cNvSpPr>
            <a:spLocks noGrp="1"/>
          </p:cNvSpPr>
          <p:nvPr>
            <p:ph type="subTitle" idx="1"/>
          </p:nvPr>
        </p:nvSpPr>
        <p:spPr>
          <a:xfrm>
            <a:off x="1331913" y="5301208"/>
            <a:ext cx="6400800" cy="576064"/>
          </a:xfrm>
        </p:spPr>
        <p:txBody>
          <a:bodyPr/>
          <a:lstStyle/>
          <a:p>
            <a:pPr algn="r" eaLnBrk="1" hangingPunct="1"/>
            <a:endParaRPr lang="en-US" altLang="zh-TW" sz="2000" dirty="0" smtClean="0">
              <a:solidFill>
                <a:schemeClr val="tx1"/>
              </a:solidFill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  <a:p>
            <a:pPr algn="r" eaLnBrk="1" hangingPunct="1"/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Presenter: Hong-Yu Chen</a:t>
            </a:r>
          </a:p>
          <a:p>
            <a:pPr algn="r" eaLnBrk="1" hangingPunct="1"/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 Date: 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July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 19, 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2011</a:t>
            </a:r>
            <a:endParaRPr lang="zh-TW" altLang="en-US" sz="2000" dirty="0" smtClean="0">
              <a:solidFill>
                <a:schemeClr val="tx1"/>
              </a:solidFill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Abstract (1/2)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Discovering protein structural signatures directly from their primary information is a challenging task, because the residues associated with a functional motif are not necessarily clustered in one region of the sequence. This work proposes an algorithm that aims to discover conserved sequential blocks interleaved by large irregular gaps from a set of unaligned biological sequences. Different from the previous works that employ only one type </a:t>
            </a:r>
            <a:r>
              <a:rPr lang="en-US" altLang="zh-TW" sz="26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of constraint </a:t>
            </a: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on gap flexibility, we propose using combination of intra- and </a:t>
            </a:r>
            <a:r>
              <a:rPr lang="en-US" altLang="zh-TW" sz="26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inter-block </a:t>
            </a:r>
            <a:r>
              <a:rPr lang="en-US" altLang="zh-TW" sz="26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gap </a:t>
            </a: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constraints to discover longer patterns with larger irregular gaps.</a:t>
            </a:r>
            <a:endParaRPr lang="zh-TW" altLang="en-US" sz="26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Abstract (2/2)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smaller flexible intra-block gap constraint is used to relax the restriction in local motif blocks but still keep them compact, and the larger flexible inter-block gap constraint is proposed to allow longer irregular gaps between compact motif blocks. Using two types of gap constraints for different purposes improves </a:t>
            </a:r>
            <a:r>
              <a:rPr lang="en-US" altLang="zh-TW" sz="26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efficiency </a:t>
            </a: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of mining process while keeping high accuracy of mining results</a:t>
            </a:r>
            <a:r>
              <a:rPr lang="en-US" altLang="zh-TW" sz="26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. The </a:t>
            </a: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efficiency of the algorithm also helps to identify functional motifs that </a:t>
            </a:r>
            <a:r>
              <a:rPr lang="en-US" altLang="zh-TW" sz="26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are conserved </a:t>
            </a: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 only a small subset of the input sequences.</a:t>
            </a:r>
            <a:endParaRPr lang="zh-TW" altLang="en-US" sz="26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583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Introduction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For a set of proteins that share a common function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or structure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 it is often that only a few of common residues are conserved among them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.</a:t>
            </a:r>
          </a:p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Limited insertions and deletions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are admitted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within a motif block, and large insertions and deletions may happen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between motif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blocks during evolution.</a:t>
            </a:r>
          </a:p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Exact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components in a pattern</a:t>
            </a:r>
          </a:p>
          <a:p>
            <a:pPr lvl="1"/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Ex.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N-R-</a:t>
            </a:r>
            <a:r>
              <a:rPr lang="en-US" altLang="zh-TW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x(5,19)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-Y-</a:t>
            </a:r>
            <a:r>
              <a:rPr lang="en-US" altLang="zh-TW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-G-</a:t>
            </a:r>
            <a:r>
              <a:rPr lang="en-US" altLang="zh-TW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x(3)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-D</a:t>
            </a:r>
          </a:p>
          <a:p>
            <a:pPr lvl="2"/>
            <a:r>
              <a:rPr lang="en-US" altLang="zh-TW" sz="22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Rigid </a:t>
            </a:r>
            <a:r>
              <a:rPr lang="en-US" altLang="zh-TW" sz="22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gaps, a gap of fixed length</a:t>
            </a:r>
          </a:p>
          <a:p>
            <a:pPr lvl="2"/>
            <a:r>
              <a:rPr lang="en-US" altLang="zh-TW" sz="22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Flexible </a:t>
            </a:r>
            <a:r>
              <a:rPr lang="en-US" altLang="zh-TW" sz="22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gap, a gap of flexible length</a:t>
            </a:r>
            <a:endParaRPr lang="zh-TW" altLang="en-US" sz="22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602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Current mining algorithms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Pratt v2.1</a:t>
            </a:r>
          </a:p>
          <a:p>
            <a:pPr lvl="1"/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About </a:t>
            </a:r>
            <a:r>
              <a:rPr lang="en-US" altLang="zh-TW" sz="2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100 sequences, support constraint = 70</a:t>
            </a:r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%</a:t>
            </a:r>
          </a:p>
          <a:p>
            <a:pPr lvl="1"/>
            <a:endParaRPr lang="en-US" altLang="zh-TW" sz="20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lvl="1"/>
            <a:endParaRPr lang="en-US" altLang="zh-TW" sz="20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lvl="1"/>
            <a:endParaRPr lang="en-US" altLang="zh-TW" sz="20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457200" lvl="1" indent="0">
              <a:buNone/>
            </a:pPr>
            <a:endParaRPr lang="en-US" altLang="zh-TW" sz="20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lvl="1"/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Longer </a:t>
            </a:r>
            <a:r>
              <a:rPr lang="en-US" altLang="zh-TW" sz="2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patterns cannot be </a:t>
            </a:r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discovered</a:t>
            </a:r>
          </a:p>
          <a:p>
            <a:r>
              <a:rPr lang="en-US" altLang="zh-TW" sz="2400" dirty="0" err="1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Teiresias</a:t>
            </a:r>
            <a:endParaRPr lang="en-US" altLang="zh-TW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lvl="1"/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Only fixed gaps are considered</a:t>
            </a:r>
          </a:p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Note: worse when lower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support constraint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is requested</a:t>
            </a:r>
            <a:endParaRPr lang="en-US" altLang="zh-TW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221" y="2492896"/>
            <a:ext cx="7785503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9972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MAGIIC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Discover 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flexible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long patterns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from a set of unaligned biological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sequences.</a:t>
            </a:r>
          </a:p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Using combination of 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intra-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and 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inter-block gap constraints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to find patterns with large irregular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gaps.</a:t>
            </a:r>
          </a:p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Gap constraints</a:t>
            </a:r>
          </a:p>
          <a:p>
            <a:pPr lvl="1"/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Intra-block </a:t>
            </a:r>
            <a:r>
              <a:rPr lang="en-US" altLang="zh-TW" sz="2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gaps, rigid gap, x(a)</a:t>
            </a:r>
          </a:p>
          <a:p>
            <a:pPr lvl="1"/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Inter-block </a:t>
            </a:r>
            <a:r>
              <a:rPr lang="en-US" altLang="zh-TW" sz="2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gaps, flexible gap, x(</a:t>
            </a:r>
            <a:r>
              <a:rPr lang="en-US" altLang="zh-TW" sz="20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a,b</a:t>
            </a:r>
            <a:r>
              <a:rPr lang="en-US" altLang="zh-TW" sz="2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), a &lt; </a:t>
            </a:r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b</a:t>
            </a:r>
          </a:p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Based on the </a:t>
            </a:r>
            <a:r>
              <a:rPr lang="en-US" altLang="zh-TW" sz="24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PrefixSpan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algorithm</a:t>
            </a:r>
            <a:endParaRPr lang="en-US" altLang="zh-TW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2924943"/>
            <a:ext cx="3384376" cy="2909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7796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PrefixSpan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Sequential pattern mining: Finding time-related frequent patterns (frequent subsequences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</a:p>
          <a:p>
            <a:pPr lvl="1"/>
            <a:r>
              <a:rPr lang="en-US" altLang="zh-TW" sz="2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&lt;e(</a:t>
            </a:r>
            <a:r>
              <a:rPr lang="en-US" altLang="zh-TW" sz="20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ab</a:t>
            </a:r>
            <a:r>
              <a:rPr lang="en-US" altLang="zh-TW" sz="2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)dc&gt; is a </a:t>
            </a:r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subsequence </a:t>
            </a:r>
            <a:r>
              <a:rPr lang="en-US" altLang="zh-TW" sz="2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of &lt;(</a:t>
            </a:r>
            <a:r>
              <a:rPr lang="en-US" altLang="zh-TW" sz="20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ef</a:t>
            </a:r>
            <a:r>
              <a:rPr lang="en-US" altLang="zh-TW" sz="2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)(</a:t>
            </a:r>
            <a:r>
              <a:rPr lang="en-US" altLang="zh-TW" sz="20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ab</a:t>
            </a:r>
            <a:r>
              <a:rPr lang="en-US" altLang="zh-TW" sz="2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)(</a:t>
            </a:r>
            <a:r>
              <a:rPr lang="en-US" altLang="zh-TW" sz="20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df</a:t>
            </a:r>
            <a:r>
              <a:rPr lang="en-US" altLang="zh-TW" sz="2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r>
              <a:rPr lang="en-US" altLang="zh-TW" sz="20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cb</a:t>
            </a:r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&gt;</a:t>
            </a:r>
          </a:p>
          <a:p>
            <a:pPr lvl="1"/>
            <a:r>
              <a:rPr lang="en-US" altLang="zh-TW" sz="20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&lt;(</a:t>
            </a:r>
            <a:r>
              <a:rPr lang="en-US" altLang="zh-TW" sz="2000" dirty="0" err="1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ab</a:t>
            </a:r>
            <a:r>
              <a:rPr lang="en-US" altLang="zh-TW" sz="20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)c&gt; is a sequential </a:t>
            </a:r>
            <a:r>
              <a:rPr lang="en-US" altLang="zh-TW" sz="20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pattern</a:t>
            </a:r>
            <a:r>
              <a:rPr lang="en-US" altLang="zh-TW" sz="20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 </a:t>
            </a:r>
            <a:r>
              <a:rPr lang="en-US" altLang="zh-TW" sz="2000" dirty="0" err="1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min_sup</a:t>
            </a:r>
            <a:r>
              <a:rPr lang="en-US" altLang="zh-TW" sz="20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sz="20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= 2</a:t>
            </a:r>
          </a:p>
          <a:p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General idea: examine only the prefixes and project only their corresponding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postfixes</a:t>
            </a:r>
          </a:p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Avoiding generating a large amount of pattern candidates</a:t>
            </a:r>
          </a:p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Pseudo projecting technique</a:t>
            </a:r>
          </a:p>
          <a:p>
            <a:pPr lvl="1"/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Record only the sequence identifiers and the associated event identifiers</a:t>
            </a:r>
          </a:p>
        </p:txBody>
      </p:sp>
      <p:pic>
        <p:nvPicPr>
          <p:cNvPr id="6" name="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176" y="2060848"/>
            <a:ext cx="2915816" cy="164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33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Completeness of </a:t>
            </a:r>
            <a:r>
              <a:rPr lang="en-US" altLang="zh-TW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PrefixSpan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4" name=" 52"/>
          <p:cNvSpPr>
            <a:spLocks noGrp="1"/>
          </p:cNvSpPr>
          <p:nvPr/>
        </p:nvSpPr>
        <p:spPr bwMode="auto">
          <a:xfrm>
            <a:off x="7132638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itchFamily="34" charset="0"/>
                <a:ea typeface="新細明體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fld id="{903A04F8-BED4-490B-A363-4A3C04307964}" type="slidenum">
              <a:rPr lang="zh-TW" altLang="en-US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pPr/>
              <a:t>8</a:t>
            </a:fld>
            <a:endParaRPr lang="en-US" altLang="zh-TW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pic>
        <p:nvPicPr>
          <p:cNvPr id="6" name="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038" y="1600200"/>
            <a:ext cx="1905000" cy="1371600"/>
          </a:xfrm>
          <a:prstGeom prst="rect">
            <a:avLst/>
          </a:prstGeom>
        </p:spPr>
      </p:pic>
      <p:sp>
        <p:nvSpPr>
          <p:cNvPr id="7" name="Text Box 2071"/>
          <p:cNvSpPr txBox="1">
            <a:spLocks noChangeArrowheads="1"/>
          </p:cNvSpPr>
          <p:nvPr/>
        </p:nvSpPr>
        <p:spPr bwMode="auto">
          <a:xfrm>
            <a:off x="3627438" y="1192213"/>
            <a:ext cx="68480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r>
              <a:rPr lang="en-US" altLang="zh-TW" sz="200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SDB</a:t>
            </a:r>
          </a:p>
        </p:txBody>
      </p:sp>
      <p:sp>
        <p:nvSpPr>
          <p:cNvPr id="8" name="Text Box 2072"/>
          <p:cNvSpPr txBox="1">
            <a:spLocks noChangeArrowheads="1"/>
          </p:cNvSpPr>
          <p:nvPr/>
        </p:nvSpPr>
        <p:spPr bwMode="auto">
          <a:xfrm>
            <a:off x="5211763" y="1631950"/>
            <a:ext cx="293541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r>
              <a:rPr lang="en-US" altLang="zh-TW" sz="1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Length-1 sequential patterns</a:t>
            </a:r>
          </a:p>
          <a:p>
            <a:r>
              <a:rPr lang="en-US" altLang="zh-TW" sz="1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&lt;a&gt;, &lt;b&gt;, &lt;c&gt;, &lt;d&gt;, &lt;e&gt;, &lt;f&gt;</a:t>
            </a:r>
          </a:p>
        </p:txBody>
      </p:sp>
      <p:sp>
        <p:nvSpPr>
          <p:cNvPr id="9" name="Text Box 2073"/>
          <p:cNvSpPr txBox="1">
            <a:spLocks noChangeArrowheads="1"/>
          </p:cNvSpPr>
          <p:nvPr/>
        </p:nvSpPr>
        <p:spPr bwMode="auto">
          <a:xfrm>
            <a:off x="198438" y="3429000"/>
            <a:ext cx="2335896" cy="147732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r>
              <a:rPr lang="zh-TW" altLang="en-US" sz="1800" u="sng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&lt;</a:t>
            </a:r>
            <a:r>
              <a:rPr lang="en-US" altLang="zh-TW" sz="1800" u="sng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a&gt;-projected database</a:t>
            </a:r>
          </a:p>
          <a:p>
            <a:r>
              <a:rPr lang="en-US" altLang="zh-TW" sz="1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&lt;(</a:t>
            </a:r>
            <a:r>
              <a:rPr lang="en-US" altLang="zh-TW" sz="18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abc</a:t>
            </a:r>
            <a:r>
              <a:rPr lang="en-US" altLang="zh-TW" sz="1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)(ac)d(</a:t>
            </a:r>
            <a:r>
              <a:rPr lang="en-US" altLang="zh-TW" sz="18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cf</a:t>
            </a:r>
            <a:r>
              <a:rPr lang="en-US" altLang="zh-TW" sz="1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)&gt;</a:t>
            </a:r>
          </a:p>
          <a:p>
            <a:r>
              <a:rPr lang="en-US" altLang="zh-TW" sz="1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&lt;(_d)c(</a:t>
            </a:r>
            <a:r>
              <a:rPr lang="en-US" altLang="zh-TW" sz="18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bc</a:t>
            </a:r>
            <a:r>
              <a:rPr lang="en-US" altLang="zh-TW" sz="1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)(</a:t>
            </a:r>
            <a:r>
              <a:rPr lang="en-US" altLang="zh-TW" sz="18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ae</a:t>
            </a:r>
            <a:r>
              <a:rPr lang="en-US" altLang="zh-TW" sz="1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)&gt;</a:t>
            </a:r>
          </a:p>
          <a:p>
            <a:r>
              <a:rPr lang="en-US" altLang="zh-TW" sz="1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&lt;(_b)(</a:t>
            </a:r>
            <a:r>
              <a:rPr lang="en-US" altLang="zh-TW" sz="18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df</a:t>
            </a:r>
            <a:r>
              <a:rPr lang="en-US" altLang="zh-TW" sz="1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r>
              <a:rPr lang="en-US" altLang="zh-TW" sz="18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cb</a:t>
            </a:r>
            <a:r>
              <a:rPr lang="en-US" altLang="zh-TW" sz="1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&gt;</a:t>
            </a:r>
          </a:p>
          <a:p>
            <a:r>
              <a:rPr lang="en-US" altLang="zh-TW" sz="1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&lt;(_f)</a:t>
            </a:r>
            <a:r>
              <a:rPr lang="en-US" altLang="zh-TW" sz="18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cbc</a:t>
            </a:r>
            <a:r>
              <a:rPr lang="en-US" altLang="zh-TW" sz="1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&gt;</a:t>
            </a:r>
          </a:p>
        </p:txBody>
      </p:sp>
      <p:grpSp>
        <p:nvGrpSpPr>
          <p:cNvPr id="10" name="Group 2096"/>
          <p:cNvGrpSpPr>
            <a:grpSpLocks/>
          </p:cNvGrpSpPr>
          <p:nvPr/>
        </p:nvGrpSpPr>
        <p:grpSpPr bwMode="auto">
          <a:xfrm>
            <a:off x="503238" y="2895600"/>
            <a:ext cx="3352800" cy="533400"/>
            <a:chOff x="384" y="1920"/>
            <a:chExt cx="2112" cy="336"/>
          </a:xfrm>
        </p:grpSpPr>
        <p:sp>
          <p:nvSpPr>
            <p:cNvPr id="35" name="Line 2075"/>
            <p:cNvSpPr>
              <a:spLocks noChangeShapeType="1"/>
            </p:cNvSpPr>
            <p:nvPr/>
          </p:nvSpPr>
          <p:spPr bwMode="auto">
            <a:xfrm flipH="1">
              <a:off x="960" y="1968"/>
              <a:ext cx="15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9pPr>
            </a:lstStyle>
            <a:p>
              <a:endParaRPr lang="zh-TW" altLang="en-US"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36" name="Text Box 2076"/>
            <p:cNvSpPr txBox="1">
              <a:spLocks noChangeArrowheads="1"/>
            </p:cNvSpPr>
            <p:nvPr/>
          </p:nvSpPr>
          <p:spPr bwMode="auto">
            <a:xfrm>
              <a:off x="384" y="1920"/>
              <a:ext cx="119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9pPr>
            </a:lstStyle>
            <a:p>
              <a:r>
                <a:rPr lang="en-US" altLang="zh-TW" sz="1800">
                  <a:latin typeface="Times New Roman" pitchFamily="18" charset="0"/>
                  <a:ea typeface="標楷體" pitchFamily="65" charset="-120"/>
                  <a:cs typeface="Times New Roman" pitchFamily="18" charset="0"/>
                </a:rPr>
                <a:t>Having prefix &lt;a&gt;</a:t>
              </a:r>
            </a:p>
          </p:txBody>
        </p:sp>
      </p:grpSp>
      <p:grpSp>
        <p:nvGrpSpPr>
          <p:cNvPr id="11" name="Group 2100"/>
          <p:cNvGrpSpPr>
            <a:grpSpLocks/>
          </p:cNvGrpSpPr>
          <p:nvPr/>
        </p:nvGrpSpPr>
        <p:grpSpPr bwMode="auto">
          <a:xfrm>
            <a:off x="106363" y="4876806"/>
            <a:ext cx="3695705" cy="1223964"/>
            <a:chOff x="134" y="3168"/>
            <a:chExt cx="2328" cy="771"/>
          </a:xfrm>
        </p:grpSpPr>
        <p:sp>
          <p:nvSpPr>
            <p:cNvPr id="27" name="Text Box 2080"/>
            <p:cNvSpPr txBox="1">
              <a:spLocks noChangeArrowheads="1"/>
            </p:cNvSpPr>
            <p:nvPr/>
          </p:nvSpPr>
          <p:spPr bwMode="auto">
            <a:xfrm>
              <a:off x="1152" y="3648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9pPr>
            </a:lstStyle>
            <a:p>
              <a:r>
                <a:rPr lang="zh-TW" altLang="en-US" sz="2400">
                  <a:latin typeface="Times New Roman" pitchFamily="18" charset="0"/>
                  <a:ea typeface="標楷體" pitchFamily="65" charset="-120"/>
                  <a:cs typeface="Times New Roman" pitchFamily="18" charset="0"/>
                </a:rPr>
                <a:t>…</a:t>
              </a:r>
            </a:p>
          </p:txBody>
        </p:sp>
        <p:grpSp>
          <p:nvGrpSpPr>
            <p:cNvPr id="28" name="Group 2097"/>
            <p:cNvGrpSpPr>
              <a:grpSpLocks/>
            </p:cNvGrpSpPr>
            <p:nvPr/>
          </p:nvGrpSpPr>
          <p:grpSpPr bwMode="auto">
            <a:xfrm>
              <a:off x="134" y="3168"/>
              <a:ext cx="2328" cy="741"/>
              <a:chOff x="134" y="3168"/>
              <a:chExt cx="2328" cy="741"/>
            </a:xfrm>
          </p:grpSpPr>
          <p:sp>
            <p:nvSpPr>
              <p:cNvPr id="29" name="Text Box 2077"/>
              <p:cNvSpPr txBox="1">
                <a:spLocks noChangeArrowheads="1"/>
              </p:cNvSpPr>
              <p:nvPr/>
            </p:nvSpPr>
            <p:spPr bwMode="auto">
              <a:xfrm>
                <a:off x="144" y="3327"/>
                <a:ext cx="113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9pPr>
              </a:lstStyle>
              <a:p>
                <a:r>
                  <a:rPr lang="en-US" altLang="zh-TW" sz="160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Having prefix &lt;aa&gt;</a:t>
                </a:r>
              </a:p>
            </p:txBody>
          </p:sp>
          <p:sp>
            <p:nvSpPr>
              <p:cNvPr id="30" name="Text Box 2078"/>
              <p:cNvSpPr txBox="1">
                <a:spLocks noChangeArrowheads="1"/>
              </p:cNvSpPr>
              <p:nvPr/>
            </p:nvSpPr>
            <p:spPr bwMode="auto">
              <a:xfrm>
                <a:off x="134" y="3683"/>
                <a:ext cx="823" cy="21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9pPr>
              </a:lstStyle>
              <a:p>
                <a:r>
                  <a:rPr lang="zh-TW" altLang="en-US" sz="1600" u="sng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&lt;</a:t>
                </a:r>
                <a:r>
                  <a:rPr lang="en-US" altLang="zh-TW" sz="1600" u="sng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aa&gt;-proj. db</a:t>
                </a:r>
              </a:p>
            </p:txBody>
          </p:sp>
          <p:sp>
            <p:nvSpPr>
              <p:cNvPr id="31" name="Line 2079"/>
              <p:cNvSpPr>
                <a:spLocks noChangeShapeType="1"/>
              </p:cNvSpPr>
              <p:nvPr/>
            </p:nvSpPr>
            <p:spPr bwMode="auto">
              <a:xfrm flipH="1">
                <a:off x="576" y="3168"/>
                <a:ext cx="384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9pPr>
              </a:lstStyle>
              <a:p>
                <a:endParaRPr lang="zh-TW" altLang="en-US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  <p:sp>
            <p:nvSpPr>
              <p:cNvPr id="32" name="Text Box 2081"/>
              <p:cNvSpPr txBox="1">
                <a:spLocks noChangeArrowheads="1"/>
              </p:cNvSpPr>
              <p:nvPr/>
            </p:nvSpPr>
            <p:spPr bwMode="auto">
              <a:xfrm>
                <a:off x="1440" y="3696"/>
                <a:ext cx="809" cy="21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9pPr>
              </a:lstStyle>
              <a:p>
                <a:r>
                  <a:rPr lang="zh-TW" altLang="en-US" sz="1600" u="sng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&lt;</a:t>
                </a:r>
                <a:r>
                  <a:rPr lang="en-US" altLang="zh-TW" sz="1600" u="sng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af&gt;-proj. db</a:t>
                </a:r>
              </a:p>
            </p:txBody>
          </p:sp>
          <p:sp>
            <p:nvSpPr>
              <p:cNvPr id="33" name="Line 2082"/>
              <p:cNvSpPr>
                <a:spLocks noChangeShapeType="1"/>
              </p:cNvSpPr>
              <p:nvPr/>
            </p:nvSpPr>
            <p:spPr bwMode="auto">
              <a:xfrm>
                <a:off x="1200" y="3168"/>
                <a:ext cx="720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9pPr>
              </a:lstStyle>
              <a:p>
                <a:endParaRPr lang="zh-TW" altLang="en-US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  <p:sp>
            <p:nvSpPr>
              <p:cNvPr id="34" name="Text Box 2083"/>
              <p:cNvSpPr txBox="1">
                <a:spLocks noChangeArrowheads="1"/>
              </p:cNvSpPr>
              <p:nvPr/>
            </p:nvSpPr>
            <p:spPr bwMode="auto">
              <a:xfrm>
                <a:off x="1344" y="3360"/>
                <a:ext cx="1118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9pPr>
              </a:lstStyle>
              <a:p>
                <a:r>
                  <a:rPr lang="en-US" altLang="zh-TW" sz="160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Having prefix &lt;af&gt;</a:t>
                </a:r>
              </a:p>
            </p:txBody>
          </p:sp>
        </p:grpSp>
      </p:grpSp>
      <p:grpSp>
        <p:nvGrpSpPr>
          <p:cNvPr id="12" name="Group 2099"/>
          <p:cNvGrpSpPr>
            <a:grpSpLocks/>
          </p:cNvGrpSpPr>
          <p:nvPr/>
        </p:nvGrpSpPr>
        <p:grpSpPr bwMode="auto">
          <a:xfrm>
            <a:off x="4465644" y="2819401"/>
            <a:ext cx="4149730" cy="1147763"/>
            <a:chOff x="2880" y="1872"/>
            <a:chExt cx="2614" cy="723"/>
          </a:xfrm>
        </p:grpSpPr>
        <p:sp>
          <p:nvSpPr>
            <p:cNvPr id="24" name="Text Box 2085"/>
            <p:cNvSpPr txBox="1">
              <a:spLocks noChangeArrowheads="1"/>
            </p:cNvSpPr>
            <p:nvPr/>
          </p:nvSpPr>
          <p:spPr bwMode="auto">
            <a:xfrm>
              <a:off x="5184" y="2304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9pPr>
            </a:lstStyle>
            <a:p>
              <a:r>
                <a:rPr lang="zh-TW" altLang="en-US" sz="2400">
                  <a:latin typeface="Times New Roman" pitchFamily="18" charset="0"/>
                  <a:ea typeface="標楷體" pitchFamily="65" charset="-120"/>
                  <a:cs typeface="Times New Roman" pitchFamily="18" charset="0"/>
                </a:rPr>
                <a:t>…</a:t>
              </a:r>
            </a:p>
          </p:txBody>
        </p:sp>
        <p:sp>
          <p:nvSpPr>
            <p:cNvPr id="25" name="Line 2087"/>
            <p:cNvSpPr>
              <a:spLocks noChangeShapeType="1"/>
            </p:cNvSpPr>
            <p:nvPr/>
          </p:nvSpPr>
          <p:spPr bwMode="auto">
            <a:xfrm>
              <a:off x="2880" y="1968"/>
              <a:ext cx="240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9pPr>
            </a:lstStyle>
            <a:p>
              <a:endParaRPr lang="zh-TW" altLang="en-US"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26" name="Text Box 2089"/>
            <p:cNvSpPr txBox="1">
              <a:spLocks noChangeArrowheads="1"/>
            </p:cNvSpPr>
            <p:nvPr/>
          </p:nvSpPr>
          <p:spPr bwMode="auto">
            <a:xfrm>
              <a:off x="3648" y="1872"/>
              <a:ext cx="169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9pPr>
            </a:lstStyle>
            <a:p>
              <a:r>
                <a:rPr lang="en-US" altLang="zh-TW" sz="1800">
                  <a:latin typeface="Times New Roman" pitchFamily="18" charset="0"/>
                  <a:ea typeface="標楷體" pitchFamily="65" charset="-120"/>
                  <a:cs typeface="Times New Roman" pitchFamily="18" charset="0"/>
                </a:rPr>
                <a:t>Having prefix &lt;c&gt;, …, &lt;f&gt;</a:t>
              </a:r>
            </a:p>
          </p:txBody>
        </p:sp>
      </p:grpSp>
      <p:grpSp>
        <p:nvGrpSpPr>
          <p:cNvPr id="13" name="Group 2101"/>
          <p:cNvGrpSpPr>
            <a:grpSpLocks/>
          </p:cNvGrpSpPr>
          <p:nvPr/>
        </p:nvGrpSpPr>
        <p:grpSpPr bwMode="auto">
          <a:xfrm>
            <a:off x="3170238" y="2971800"/>
            <a:ext cx="4419600" cy="3248026"/>
            <a:chOff x="2064" y="1968"/>
            <a:chExt cx="2784" cy="2046"/>
          </a:xfrm>
        </p:grpSpPr>
        <p:sp>
          <p:nvSpPr>
            <p:cNvPr id="15" name="Text Box 2092"/>
            <p:cNvSpPr txBox="1">
              <a:spLocks noChangeArrowheads="1"/>
            </p:cNvSpPr>
            <p:nvPr/>
          </p:nvSpPr>
          <p:spPr bwMode="auto">
            <a:xfrm>
              <a:off x="3648" y="2976"/>
              <a:ext cx="55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itchFamily="34" charset="0"/>
                  <a:ea typeface="+mn-ea"/>
                  <a:cs typeface="+mn-cs"/>
                </a:defRPr>
              </a:lvl9pPr>
            </a:lstStyle>
            <a:p>
              <a:r>
                <a:rPr lang="zh-TW" altLang="en-US" sz="2400">
                  <a:latin typeface="Times New Roman" pitchFamily="18" charset="0"/>
                  <a:ea typeface="標楷體" pitchFamily="65" charset="-120"/>
                  <a:cs typeface="Times New Roman" pitchFamily="18" charset="0"/>
                </a:rPr>
                <a:t>… …</a:t>
              </a:r>
            </a:p>
          </p:txBody>
        </p:sp>
        <p:grpSp>
          <p:nvGrpSpPr>
            <p:cNvPr id="16" name="Group 2098"/>
            <p:cNvGrpSpPr>
              <a:grpSpLocks/>
            </p:cNvGrpSpPr>
            <p:nvPr/>
          </p:nvGrpSpPr>
          <p:grpSpPr bwMode="auto">
            <a:xfrm>
              <a:off x="2064" y="1968"/>
              <a:ext cx="2784" cy="2046"/>
              <a:chOff x="2064" y="1968"/>
              <a:chExt cx="2784" cy="2046"/>
            </a:xfrm>
          </p:grpSpPr>
          <p:sp>
            <p:nvSpPr>
              <p:cNvPr id="17" name="Text Box 2084"/>
              <p:cNvSpPr txBox="1">
                <a:spLocks noChangeArrowheads="1"/>
              </p:cNvSpPr>
              <p:nvPr/>
            </p:nvSpPr>
            <p:spPr bwMode="auto">
              <a:xfrm>
                <a:off x="3168" y="2304"/>
                <a:ext cx="1480" cy="233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9pPr>
              </a:lstStyle>
              <a:p>
                <a:r>
                  <a:rPr lang="zh-TW" altLang="en-US" sz="1800" u="sng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&lt;</a:t>
                </a:r>
                <a:r>
                  <a:rPr lang="en-US" altLang="zh-TW" sz="1800" u="sng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b&gt;-projected database</a:t>
                </a:r>
              </a:p>
            </p:txBody>
          </p:sp>
          <p:sp>
            <p:nvSpPr>
              <p:cNvPr id="18" name="Line 2086"/>
              <p:cNvSpPr>
                <a:spLocks noChangeShapeType="1"/>
              </p:cNvSpPr>
              <p:nvPr/>
            </p:nvSpPr>
            <p:spPr bwMode="auto">
              <a:xfrm>
                <a:off x="2640" y="1968"/>
                <a:ext cx="1392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9pPr>
              </a:lstStyle>
              <a:p>
                <a:endParaRPr lang="zh-TW" altLang="en-US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  <p:sp>
            <p:nvSpPr>
              <p:cNvPr id="19" name="Text Box 2088"/>
              <p:cNvSpPr txBox="1">
                <a:spLocks noChangeArrowheads="1"/>
              </p:cNvSpPr>
              <p:nvPr/>
            </p:nvSpPr>
            <p:spPr bwMode="auto">
              <a:xfrm>
                <a:off x="2064" y="2064"/>
                <a:ext cx="1201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9pPr>
              </a:lstStyle>
              <a:p>
                <a:r>
                  <a:rPr lang="en-US" altLang="zh-TW" sz="180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Having prefix &lt;b&gt;</a:t>
                </a:r>
              </a:p>
            </p:txBody>
          </p:sp>
          <p:sp>
            <p:nvSpPr>
              <p:cNvPr id="20" name="Line 2090"/>
              <p:cNvSpPr>
                <a:spLocks noChangeShapeType="1"/>
              </p:cNvSpPr>
              <p:nvPr/>
            </p:nvSpPr>
            <p:spPr bwMode="auto">
              <a:xfrm flipH="1">
                <a:off x="3600" y="3264"/>
                <a:ext cx="24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9pPr>
              </a:lstStyle>
              <a:p>
                <a:endParaRPr lang="zh-TW" altLang="en-US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  <p:sp>
            <p:nvSpPr>
              <p:cNvPr id="21" name="Line 2091"/>
              <p:cNvSpPr>
                <a:spLocks noChangeShapeType="1"/>
              </p:cNvSpPr>
              <p:nvPr/>
            </p:nvSpPr>
            <p:spPr bwMode="auto">
              <a:xfrm>
                <a:off x="4032" y="3264"/>
                <a:ext cx="24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9pPr>
              </a:lstStyle>
              <a:p>
                <a:endParaRPr lang="zh-TW" altLang="en-US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  <p:sp>
            <p:nvSpPr>
              <p:cNvPr id="22" name="Rectangle 2093"/>
              <p:cNvSpPr>
                <a:spLocks noChangeArrowheads="1"/>
              </p:cNvSpPr>
              <p:nvPr/>
            </p:nvSpPr>
            <p:spPr bwMode="auto">
              <a:xfrm>
                <a:off x="3168" y="2544"/>
                <a:ext cx="1680" cy="720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9pPr>
              </a:lstStyle>
              <a:p>
                <a:endParaRPr lang="zh-TW" altLang="en-US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  <p:sp>
            <p:nvSpPr>
              <p:cNvPr id="23" name="Text Box 2094"/>
              <p:cNvSpPr txBox="1">
                <a:spLocks noChangeArrowheads="1"/>
              </p:cNvSpPr>
              <p:nvPr/>
            </p:nvSpPr>
            <p:spPr bwMode="auto">
              <a:xfrm>
                <a:off x="3398" y="3684"/>
                <a:ext cx="1360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9pPr>
              </a:lstStyle>
              <a:p>
                <a:r>
                  <a:rPr lang="zh-TW" altLang="en-US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……………..</a:t>
                </a:r>
              </a:p>
            </p:txBody>
          </p:sp>
        </p:grpSp>
      </p:grpSp>
      <p:sp>
        <p:nvSpPr>
          <p:cNvPr id="14" name="AutoShape 2095"/>
          <p:cNvSpPr>
            <a:spLocks noChangeArrowheads="1"/>
          </p:cNvSpPr>
          <p:nvPr/>
        </p:nvSpPr>
        <p:spPr bwMode="auto">
          <a:xfrm>
            <a:off x="3170238" y="3997325"/>
            <a:ext cx="2501900" cy="1150938"/>
          </a:xfrm>
          <a:prstGeom prst="wedgeRoundRectCallout">
            <a:avLst>
              <a:gd name="adj1" fmla="val -74935"/>
              <a:gd name="adj2" fmla="val -70690"/>
              <a:gd name="adj3" fmla="val 16667"/>
            </a:avLst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r>
              <a:rPr lang="en-US" altLang="zh-TW" sz="160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Length-2 sequential</a:t>
            </a:r>
          </a:p>
          <a:p>
            <a:r>
              <a:rPr lang="en-US" altLang="zh-TW" sz="160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patterns</a:t>
            </a:r>
          </a:p>
          <a:p>
            <a:r>
              <a:rPr lang="en-US" altLang="zh-TW" sz="160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&lt;aa&gt;, &lt;ab&gt;, &lt;(ab)&gt;,</a:t>
            </a:r>
          </a:p>
          <a:p>
            <a:r>
              <a:rPr lang="en-US" altLang="zh-TW" sz="160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&lt;ac&gt;, &lt;ad&gt;, &lt;af&gt;</a:t>
            </a:r>
          </a:p>
          <a:p>
            <a:pPr algn="ctr"/>
            <a:endParaRPr lang="zh-TW" altLang="en-US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868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Patameters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of MAGIIC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Ex.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N-R-</a:t>
            </a:r>
            <a:r>
              <a:rPr lang="en-US" altLang="zh-TW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x(5,19)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-Y-</a:t>
            </a:r>
            <a:r>
              <a:rPr lang="en-US" altLang="zh-TW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-G-</a:t>
            </a:r>
            <a:r>
              <a:rPr lang="en-US" altLang="zh-TW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x(3)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-D</a:t>
            </a:r>
            <a:endParaRPr lang="en-US" altLang="zh-TW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1628800"/>
            <a:ext cx="7953375" cy="302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2712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MAGIIC method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Based on the </a:t>
            </a:r>
            <a:r>
              <a:rPr lang="en-US" altLang="zh-TW" sz="24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PrefixSpan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algorithm</a:t>
            </a:r>
          </a:p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Contribution of MAGIIC</a:t>
            </a:r>
          </a:p>
          <a:p>
            <a:pPr lvl="1"/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B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ounded-</a:t>
            </a:r>
            <a:r>
              <a:rPr lang="en-US" altLang="zh-TW" sz="2400" dirty="0" smtClean="0">
                <a:solidFill>
                  <a:srgbClr val="0070C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prefix-growth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based on the prefix-growth procedure of the </a:t>
            </a:r>
            <a:r>
              <a:rPr lang="en-US" altLang="zh-TW" sz="2400" dirty="0" err="1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PrefixSpan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algorithm.</a:t>
            </a:r>
          </a:p>
          <a:p>
            <a:pPr lvl="2"/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Incorporates </a:t>
            </a:r>
            <a:r>
              <a:rPr lang="en-US" altLang="zh-TW" sz="2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intra- and inter-block gap constraints</a:t>
            </a:r>
            <a:endParaRPr lang="en-US" altLang="zh-TW" sz="20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lvl="1"/>
            <a:r>
              <a:rPr lang="en-US" altLang="zh-TW" sz="24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Complete </a:t>
            </a:r>
            <a:r>
              <a:rPr lang="en-US" altLang="zh-TW" sz="2400" dirty="0">
                <a:solidFill>
                  <a:srgbClr val="0070C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projected database</a:t>
            </a:r>
          </a:p>
          <a:p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966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Complete projected 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database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916832"/>
            <a:ext cx="8676456" cy="4192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3927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Bounded-prefix-growth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γ</a:t>
            </a:r>
            <a:r>
              <a:rPr lang="en-US" altLang="zh-TW" sz="2400" baseline="-25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min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= 1, </a:t>
            </a:r>
            <a:r>
              <a:rPr lang="el-GR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γ</a:t>
            </a:r>
            <a:r>
              <a:rPr lang="en-US" altLang="zh-TW" sz="2400" baseline="-25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max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=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</a:t>
            </a:r>
          </a:p>
          <a:p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Only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when the size of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currently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growing block (the right most block) of the pattern 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satisfies the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minimum block 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size constraint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 larger scanning range with respect to the inter-block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constraints will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also be considered during the mining process.</a:t>
            </a:r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044428"/>
            <a:ext cx="7018734" cy="2711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7660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Experiment - first data set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Support constraint = 70%</a:t>
            </a:r>
          </a:p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Size of a motif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block</a:t>
            </a:r>
          </a:p>
          <a:p>
            <a:pPr lvl="1"/>
            <a:r>
              <a:rPr lang="en-US" altLang="zh-TW" sz="2400" dirty="0" err="1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K</a:t>
            </a:r>
            <a:r>
              <a:rPr lang="en-US" altLang="zh-TW" sz="2400" baseline="-25000" dirty="0" err="1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max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= 100, </a:t>
            </a:r>
            <a:r>
              <a:rPr lang="en-US" altLang="zh-TW" sz="2400" dirty="0" err="1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K</a:t>
            </a:r>
            <a:r>
              <a:rPr lang="en-US" altLang="zh-TW" sz="2400" baseline="-25000" dirty="0" err="1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min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= 4</a:t>
            </a:r>
          </a:p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Size of a pattern</a:t>
            </a:r>
          </a:p>
          <a:p>
            <a:pPr lvl="1"/>
            <a:r>
              <a:rPr lang="en-US" altLang="zh-TW" sz="2400" dirty="0" err="1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n</a:t>
            </a:r>
            <a:r>
              <a:rPr lang="en-US" altLang="zh-TW" sz="2400" baseline="-25000" dirty="0" err="1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max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= 100</a:t>
            </a:r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Bound of an intra-block gap</a:t>
            </a:r>
          </a:p>
          <a:p>
            <a:pPr lvl="1"/>
            <a:r>
              <a:rPr lang="el-GR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γ</a:t>
            </a:r>
            <a:r>
              <a:rPr lang="en-US" altLang="zh-TW" sz="2400" baseline="-25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min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= 0, </a:t>
            </a:r>
            <a:r>
              <a:rPr lang="el-GR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γ</a:t>
            </a:r>
            <a:r>
              <a:rPr lang="en-US" altLang="zh-TW" sz="2400" baseline="-25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max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= 2</a:t>
            </a:r>
            <a:endParaRPr lang="en-US" altLang="zh-TW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Bound of an inter-block gap</a:t>
            </a:r>
          </a:p>
          <a:p>
            <a:pPr lvl="1"/>
            <a:r>
              <a:rPr lang="el-GR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τ</a:t>
            </a:r>
            <a:r>
              <a:rPr lang="en-US" altLang="zh-TW" sz="2400" baseline="-25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min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=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3, </a:t>
            </a:r>
            <a:r>
              <a:rPr lang="el-GR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τ</a:t>
            </a:r>
            <a:r>
              <a:rPr lang="en-US" altLang="zh-TW" sz="2400" baseline="-25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max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= 100</a:t>
            </a:r>
          </a:p>
          <a:p>
            <a:endParaRPr lang="en-US" altLang="zh-TW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137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First data </a:t>
            </a:r>
            <a:r>
              <a:rPr lang="en-US" altLang="zh-TW" sz="4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set (50 proteins, </a:t>
            </a:r>
            <a:br>
              <a:rPr lang="en-US" altLang="zh-TW" sz="4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sz="4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Arsenate </a:t>
            </a:r>
            <a:r>
              <a:rPr lang="en-US" altLang="zh-TW" sz="40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reductase</a:t>
            </a:r>
            <a:r>
              <a:rPr lang="en-US" altLang="zh-TW" sz="4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and </a:t>
            </a:r>
            <a:r>
              <a:rPr lang="en-US" altLang="zh-TW" sz="4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related)</a:t>
            </a:r>
            <a:endParaRPr lang="zh-TW" altLang="en-US" sz="40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258" y="1483771"/>
            <a:ext cx="7272808" cy="54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4044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Experiment 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- second 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data set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Support constraint = 70%</a:t>
            </a:r>
          </a:p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Minimum size of a motif block = 4</a:t>
            </a:r>
          </a:p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Up bound of an inter-block gap constraint = 20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569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</a:t>
            </a:r>
            <a:r>
              <a:rPr lang="en-US" altLang="zh-TW" sz="36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econd </a:t>
            </a:r>
            <a:r>
              <a:rPr lang="en-US" altLang="zh-TW" sz="3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data </a:t>
            </a:r>
            <a:r>
              <a:rPr lang="en-US" altLang="zh-TW" sz="36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set (100/272 proteins</a:t>
            </a:r>
            <a:r>
              <a:rPr lang="en-US" altLang="zh-TW" sz="3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 </a:t>
            </a:r>
            <a:r>
              <a:rPr lang="en-US" altLang="zh-TW" sz="36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/>
            </a:r>
            <a:br>
              <a:rPr lang="en-US" altLang="zh-TW" sz="36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sz="36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CXXCXGXG </a:t>
            </a:r>
            <a:r>
              <a:rPr lang="en-US" altLang="zh-TW" sz="3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domain signature of </a:t>
            </a:r>
            <a:r>
              <a:rPr lang="en-US" altLang="zh-TW" sz="36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DnaJ</a:t>
            </a:r>
            <a:r>
              <a:rPr lang="en-US" altLang="zh-TW" sz="3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endParaRPr lang="zh-TW" altLang="en-US" sz="36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596720"/>
            <a:ext cx="9082980" cy="2984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圓角矩形圖說文字 6"/>
          <p:cNvSpPr/>
          <p:nvPr/>
        </p:nvSpPr>
        <p:spPr>
          <a:xfrm>
            <a:off x="3851920" y="692696"/>
            <a:ext cx="5114727" cy="936104"/>
          </a:xfrm>
          <a:prstGeom prst="wedgeRoundRectCallout">
            <a:avLst>
              <a:gd name="adj1" fmla="val -35061"/>
              <a:gd name="adj2" fmla="val 9881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DnaJ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central cysteine-rich (CR) domain.</a:t>
            </a:r>
          </a:p>
          <a:p>
            <a:pPr algn="ctr"/>
            <a:r>
              <a:rPr lang="en-US" altLang="zh-TW" dirty="0" err="1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DnaJ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CR domain consists of two zinc centers, each of which is composed of four conserved </a:t>
            </a:r>
            <a:r>
              <a:rPr lang="en-US" altLang="zh-TW" dirty="0" err="1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cysteines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.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8" y="4797152"/>
            <a:ext cx="9077325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8137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</a:t>
            </a:r>
            <a:r>
              <a:rPr lang="en-US" altLang="zh-TW" sz="36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econd </a:t>
            </a:r>
            <a:r>
              <a:rPr lang="en-US" altLang="zh-TW" sz="3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data </a:t>
            </a:r>
            <a:r>
              <a:rPr lang="en-US" altLang="zh-TW" sz="36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set (100/272 proteins</a:t>
            </a:r>
            <a:r>
              <a:rPr lang="en-US" altLang="zh-TW" sz="3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 </a:t>
            </a:r>
            <a:r>
              <a:rPr lang="en-US" altLang="zh-TW" sz="36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/>
            </a:r>
            <a:br>
              <a:rPr lang="en-US" altLang="zh-TW" sz="36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sz="36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CXXCXGXG </a:t>
            </a:r>
            <a:r>
              <a:rPr lang="en-US" altLang="zh-TW" sz="3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domain signature of </a:t>
            </a:r>
            <a:r>
              <a:rPr lang="en-US" altLang="zh-TW" sz="36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DnaJ</a:t>
            </a:r>
            <a:r>
              <a:rPr lang="en-US" altLang="zh-TW" sz="3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endParaRPr lang="zh-TW" altLang="en-US" sz="36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Evaluated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by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employing the </a:t>
            </a:r>
            <a:r>
              <a:rPr lang="en-US" altLang="zh-TW" sz="2400" dirty="0" err="1" smtClean="0">
                <a:latin typeface="Times New Roman" pitchFamily="18" charset="0"/>
                <a:ea typeface="標楷體" pitchFamily="65" charset="-120"/>
                <a:cs typeface="Times New Roman" pitchFamily="18" charset="0"/>
                <a:hlinkClick r:id="rId2"/>
              </a:rPr>
              <a:t>ScanProsite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 Swiss-</a:t>
            </a:r>
            <a:r>
              <a:rPr lang="en-US" altLang="zh-TW" sz="2400" dirty="0" err="1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Prot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database</a:t>
            </a:r>
          </a:p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Precision rate = TP / (TP + FP)</a:t>
            </a:r>
          </a:p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Recall rate = TP / (TP + FN)</a:t>
            </a:r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24" y="1484784"/>
            <a:ext cx="8748464" cy="3051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152797"/>
              </p:ext>
            </p:extLst>
          </p:nvPr>
        </p:nvGraphicFramePr>
        <p:xfrm>
          <a:off x="4956719" y="5268808"/>
          <a:ext cx="379174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3915"/>
                <a:gridCol w="1263915"/>
                <a:gridCol w="1263915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Positives</a:t>
                      </a:r>
                      <a:endParaRPr lang="zh-TW" altLang="en-US" dirty="0"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Negatives</a:t>
                      </a:r>
                      <a:endParaRPr lang="zh-TW" altLang="en-US" dirty="0"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True</a:t>
                      </a:r>
                      <a:endParaRPr lang="zh-TW" altLang="en-US" dirty="0"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TP</a:t>
                      </a:r>
                      <a:endParaRPr lang="zh-TW" altLang="en-US" dirty="0"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TN</a:t>
                      </a:r>
                      <a:endParaRPr lang="zh-TW" altLang="en-US" dirty="0"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False</a:t>
                      </a:r>
                      <a:endParaRPr lang="zh-TW" altLang="en-US" dirty="0"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FP</a:t>
                      </a:r>
                      <a:endParaRPr lang="zh-TW" altLang="en-US" dirty="0"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FN</a:t>
                      </a:r>
                      <a:endParaRPr lang="zh-TW" altLang="en-US" dirty="0"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207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Example (1EXK.pdb)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323747"/>
            <a:ext cx="8964488" cy="2489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38" y="1259954"/>
            <a:ext cx="7248525" cy="310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7043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Conclusion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Current mining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technologies might individually find each motif block but fail to connect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them with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large irregular gaps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.</a:t>
            </a:r>
          </a:p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MAGIIC employs 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intra-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and inter-block 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gap constraints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to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discover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clusters of conserved residues present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 protein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sequences.</a:t>
            </a:r>
          </a:p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efficiency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of MAGIIC remains even when the constraints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are relaxed.</a:t>
            </a:r>
          </a:p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How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to incorporate MAGIIC in the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study of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protein binding or protein-protein interaction deserves further study.</a:t>
            </a:r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424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32822</TotalTime>
  <Words>914</Words>
  <Application>Microsoft Office PowerPoint</Application>
  <PresentationFormat>如螢幕大小 (4:3)</PresentationFormat>
  <Paragraphs>136</Paragraphs>
  <Slides>19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0" baseType="lpstr">
      <vt:lpstr>Office 佈景主題</vt:lpstr>
      <vt:lpstr>Efficient Discovery of Structural Motifs from Protein Sequences with Combination of Flexible Intra- and Inter-block Gap Constraints  Chen-Ming Hsu, Chien-Yu Chen, Ching-Chi Hsu, and Baw-Jhiune Liu  Pacific Area Conference on Knowledge Discovery and Data Mining (PAKDD) 2006, LNAI 3918, pp. 530 – 539, 2006. </vt:lpstr>
      <vt:lpstr>Abstract (1/2)</vt:lpstr>
      <vt:lpstr>Abstract (2/2)</vt:lpstr>
      <vt:lpstr>Introduction</vt:lpstr>
      <vt:lpstr>Current mining algorithms</vt:lpstr>
      <vt:lpstr>MAGIIC</vt:lpstr>
      <vt:lpstr>PrefixSpan</vt:lpstr>
      <vt:lpstr>Completeness of PrefixSpan</vt:lpstr>
      <vt:lpstr>Patameters of MAGIIC</vt:lpstr>
      <vt:lpstr>MAGIIC method</vt:lpstr>
      <vt:lpstr>Complete projected database</vt:lpstr>
      <vt:lpstr>Bounded-prefix-growth</vt:lpstr>
      <vt:lpstr>Experiment - first data set</vt:lpstr>
      <vt:lpstr>First data set (50 proteins,  Arsenate reductase and related)</vt:lpstr>
      <vt:lpstr>Experiment - second data set</vt:lpstr>
      <vt:lpstr>Second data set (100/272 proteins,  CXXCXGXG domain signature of DnaJ)</vt:lpstr>
      <vt:lpstr>Second data set (100/272 proteins,  CXXCXGXG domain signature of DnaJ)</vt:lpstr>
      <vt:lpstr>Example (1EXK.pdb)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Hong-Yu Chen</dc:creator>
  <cp:lastModifiedBy>Hong-Yu Chen</cp:lastModifiedBy>
  <cp:revision>386</cp:revision>
  <dcterms:created xsi:type="dcterms:W3CDTF">2010-10-17T09:22:10Z</dcterms:created>
  <dcterms:modified xsi:type="dcterms:W3CDTF">2011-07-19T10:29:07Z</dcterms:modified>
</cp:coreProperties>
</file>