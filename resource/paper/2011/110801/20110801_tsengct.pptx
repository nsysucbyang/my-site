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257" r:id="rId3"/>
    <p:sldId id="258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2" r:id="rId12"/>
    <p:sldId id="285" r:id="rId13"/>
    <p:sldId id="259" r:id="rId14"/>
    <p:sldId id="269" r:id="rId15"/>
    <p:sldId id="270" r:id="rId16"/>
    <p:sldId id="303" r:id="rId17"/>
    <p:sldId id="271" r:id="rId18"/>
    <p:sldId id="274" r:id="rId19"/>
    <p:sldId id="275" r:id="rId20"/>
    <p:sldId id="272" r:id="rId21"/>
    <p:sldId id="276" r:id="rId22"/>
    <p:sldId id="277" r:id="rId23"/>
    <p:sldId id="278" r:id="rId24"/>
    <p:sldId id="279" r:id="rId25"/>
    <p:sldId id="281" r:id="rId26"/>
    <p:sldId id="291" r:id="rId27"/>
    <p:sldId id="280" r:id="rId28"/>
    <p:sldId id="283" r:id="rId29"/>
    <p:sldId id="282" r:id="rId30"/>
    <p:sldId id="284" r:id="rId31"/>
    <p:sldId id="286" r:id="rId32"/>
    <p:sldId id="287" r:id="rId33"/>
    <p:sldId id="288" r:id="rId34"/>
    <p:sldId id="289" r:id="rId35"/>
    <p:sldId id="290" r:id="rId36"/>
    <p:sldId id="293" r:id="rId37"/>
    <p:sldId id="292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2" r:id="rId46"/>
    <p:sldId id="301" r:id="rId47"/>
    <p:sldId id="304" r:id="rId4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預設章節" id="{37C17C97-2B91-435B-A95D-4CA12E383AFE}">
          <p14:sldIdLst>
            <p14:sldId id="256"/>
            <p14:sldId id="257"/>
            <p14:sldId id="258"/>
            <p14:sldId id="260"/>
            <p14:sldId id="263"/>
            <p14:sldId id="264"/>
            <p14:sldId id="265"/>
            <p14:sldId id="266"/>
            <p14:sldId id="267"/>
            <p14:sldId id="268"/>
            <p14:sldId id="262"/>
            <p14:sldId id="285"/>
            <p14:sldId id="259"/>
            <p14:sldId id="269"/>
            <p14:sldId id="270"/>
            <p14:sldId id="303"/>
            <p14:sldId id="271"/>
            <p14:sldId id="274"/>
            <p14:sldId id="275"/>
            <p14:sldId id="272"/>
            <p14:sldId id="276"/>
            <p14:sldId id="277"/>
            <p14:sldId id="278"/>
            <p14:sldId id="279"/>
            <p14:sldId id="281"/>
            <p14:sldId id="291"/>
            <p14:sldId id="280"/>
            <p14:sldId id="283"/>
            <p14:sldId id="282"/>
            <p14:sldId id="284"/>
            <p14:sldId id="286"/>
            <p14:sldId id="287"/>
            <p14:sldId id="288"/>
            <p14:sldId id="289"/>
            <p14:sldId id="290"/>
            <p14:sldId id="293"/>
          </p14:sldIdLst>
        </p14:section>
        <p14:section name="未命名的章節" id="{D75F1F4D-42F2-4CFB-9D79-E688DC8AE98F}">
          <p14:sldIdLst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105E7-463C-4DF2-8E9E-2967E54A7EAF}" type="datetimeFigureOut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A98E3-B008-4431-AF6F-A4DA30EFE02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6337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D803EE3-0C8D-45B0-9DB0-B0EB1C4F2A6A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97E090D-C76F-44D0-A545-A643A1FD6553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57166C-30AB-40FB-85B9-126EC5F50F90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3DCECA-A318-4B95-BBE6-F08CD97D6F54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1725B0-14A1-4106-BBB3-DA4314F6F2F5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E7F936-60BE-4ADE-9652-5741A1A5532B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1E771E-91D0-45DD-BB17-D26DA1303161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9025A5B-F425-4E66-A762-DC08B17CDBA7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F9D574D-6874-4829-A89C-EBA5674EA4EC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215424-E473-484F-86BE-57F454EA9D4D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477F8E-40A4-497B-8C2F-AE41305E4A16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62000" y="1524000"/>
            <a:ext cx="3810000" cy="4114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114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82F72E3-BBBE-4F32-B1FA-8224A68196D7}" type="datetime1">
              <a:rPr lang="zh-TW" altLang="en-US" smtClean="0"/>
              <a:pPr/>
              <a:t>2011/8/1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6 -</a:t>
            </a:r>
            <a:fld id="{18B3EE36-4F52-4A46-B6DC-7AEA933A81B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80841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66236F-EE39-4CF0-840A-C9C10E328B4D}" type="datetime1">
              <a:rPr lang="zh-TW" altLang="en-US" smtClean="0"/>
              <a:pPr/>
              <a:t>2011/8/1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5FF27AF-7B23-47B2-812F-5C2C0C89661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file:///C:\Documents%20and%20Settings\chuck\&#26700;&#38754;\align_struc.vsd\Drawing\~Page-1\Sheet.132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Structural Alignment of RNA </a:t>
            </a:r>
            <a:r>
              <a:rPr lang="en-US" altLang="zh-TW" b="1" dirty="0" smtClean="0"/>
              <a:t>with Complex </a:t>
            </a:r>
            <a:r>
              <a:rPr lang="en-US" altLang="zh-TW" b="1" dirty="0" err="1"/>
              <a:t>Pseudoknot</a:t>
            </a:r>
            <a:r>
              <a:rPr lang="en-US" altLang="zh-TW" b="1" dirty="0"/>
              <a:t> </a:t>
            </a:r>
            <a:r>
              <a:rPr lang="en-US" altLang="zh-TW" b="1" dirty="0" smtClean="0"/>
              <a:t>Structure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sz="2800" dirty="0">
                <a:solidFill>
                  <a:schemeClr val="tx1"/>
                </a:solidFill>
              </a:rPr>
              <a:t>Thomas K.F. </a:t>
            </a:r>
            <a:r>
              <a:rPr lang="en-US" altLang="zh-TW" sz="2800" dirty="0" smtClean="0">
                <a:solidFill>
                  <a:schemeClr val="tx1"/>
                </a:solidFill>
              </a:rPr>
              <a:t>Wong, </a:t>
            </a:r>
            <a:r>
              <a:rPr lang="en-US" altLang="zh-TW" sz="2800" dirty="0">
                <a:solidFill>
                  <a:schemeClr val="tx1"/>
                </a:solidFill>
              </a:rPr>
              <a:t>T.W. </a:t>
            </a:r>
            <a:r>
              <a:rPr lang="en-US" altLang="zh-TW" sz="2800" dirty="0" smtClean="0">
                <a:solidFill>
                  <a:schemeClr val="tx1"/>
                </a:solidFill>
              </a:rPr>
              <a:t>Lam, </a:t>
            </a:r>
            <a:r>
              <a:rPr lang="en-US" altLang="zh-TW" sz="2800" dirty="0">
                <a:solidFill>
                  <a:schemeClr val="tx1"/>
                </a:solidFill>
              </a:rPr>
              <a:t>Wing-Kin </a:t>
            </a:r>
            <a:r>
              <a:rPr lang="en-US" altLang="zh-TW" sz="2800" dirty="0" smtClean="0">
                <a:solidFill>
                  <a:schemeClr val="tx1"/>
                </a:solidFill>
              </a:rPr>
              <a:t>Sung(</a:t>
            </a:r>
            <a:r>
              <a:rPr lang="zh-TW" altLang="en-US" sz="2800" dirty="0">
                <a:solidFill>
                  <a:schemeClr val="tx1"/>
                </a:solidFill>
              </a:rPr>
              <a:t>宋永健</a:t>
            </a:r>
            <a:r>
              <a:rPr lang="en-US" altLang="zh-TW" sz="2800" dirty="0" smtClean="0">
                <a:solidFill>
                  <a:schemeClr val="tx1"/>
                </a:solidFill>
              </a:rPr>
              <a:t>), </a:t>
            </a:r>
            <a:r>
              <a:rPr lang="en-US" altLang="zh-TW" sz="2800" dirty="0">
                <a:solidFill>
                  <a:schemeClr val="tx1"/>
                </a:solidFill>
              </a:rPr>
              <a:t>and S.M.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Yiu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en-US" altLang="zh-TW" sz="2800" dirty="0" smtClean="0">
                <a:solidFill>
                  <a:schemeClr val="tx1"/>
                </a:solidFill>
              </a:rPr>
              <a:t>Journal of Computational Biology, Vol. 18, No. 1, pp. 97-108, 2011</a:t>
            </a:r>
          </a:p>
          <a:p>
            <a:r>
              <a:rPr lang="en-US" altLang="zh-TW" sz="2800" dirty="0" smtClean="0">
                <a:solidFill>
                  <a:schemeClr val="tx1"/>
                </a:solidFill>
              </a:rPr>
              <a:t>Presenter</a:t>
            </a:r>
            <a:r>
              <a:rPr lang="zh-TW" altLang="en-US" sz="2800" dirty="0">
                <a:solidFill>
                  <a:schemeClr val="tx1"/>
                </a:solidFill>
              </a:rPr>
              <a:t>：</a:t>
            </a:r>
            <a:r>
              <a:rPr lang="en-US" altLang="zh-TW" sz="2800" dirty="0" err="1">
                <a:solidFill>
                  <a:schemeClr val="tx1"/>
                </a:solidFill>
              </a:rPr>
              <a:t>Chiou</a:t>
            </a:r>
            <a:r>
              <a:rPr lang="en-US" altLang="zh-TW" sz="2800" dirty="0">
                <a:solidFill>
                  <a:schemeClr val="tx1"/>
                </a:solidFill>
              </a:rPr>
              <a:t>-Ting Tseng</a:t>
            </a:r>
          </a:p>
          <a:p>
            <a:r>
              <a:rPr lang="en-US" altLang="zh-TW" sz="2800" dirty="0">
                <a:solidFill>
                  <a:schemeClr val="tx1"/>
                </a:solidFill>
              </a:rPr>
              <a:t>Date: </a:t>
            </a:r>
            <a:r>
              <a:rPr lang="en-US" altLang="zh-TW" sz="2800" dirty="0" smtClean="0">
                <a:solidFill>
                  <a:schemeClr val="tx1"/>
                </a:solidFill>
              </a:rPr>
              <a:t>Aug. </a:t>
            </a:r>
            <a:r>
              <a:rPr lang="en-US" altLang="zh-TW" sz="2800" dirty="0" smtClean="0">
                <a:solidFill>
                  <a:schemeClr val="tx1"/>
                </a:solidFill>
              </a:rPr>
              <a:t>1</a:t>
            </a:r>
            <a:r>
              <a:rPr lang="en-US" altLang="zh-TW" sz="2800" dirty="0" smtClean="0">
                <a:solidFill>
                  <a:schemeClr val="tx1"/>
                </a:solidFill>
              </a:rPr>
              <a:t>, 2011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852453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The secondary structure of an </a:t>
            </a:r>
            <a:r>
              <a:rPr lang="en-US" altLang="zh-TW" dirty="0" err="1"/>
              <a:t>ncRNA</a:t>
            </a:r>
            <a:r>
              <a:rPr lang="en-US" altLang="zh-TW" dirty="0"/>
              <a:t> molecule is </a:t>
            </a:r>
            <a:r>
              <a:rPr lang="en-US" altLang="zh-TW" dirty="0" smtClean="0"/>
              <a:t>known to </a:t>
            </a:r>
            <a:r>
              <a:rPr lang="en-US" altLang="zh-TW" dirty="0"/>
              <a:t>play an important role in its biological functions. Aligning a </a:t>
            </a:r>
            <a:r>
              <a:rPr lang="en-US" altLang="zh-TW" dirty="0" smtClean="0"/>
              <a:t>known </a:t>
            </a:r>
            <a:r>
              <a:rPr lang="en-US" altLang="zh-TW" dirty="0" err="1" smtClean="0"/>
              <a:t>ncRNA</a:t>
            </a:r>
            <a:r>
              <a:rPr lang="en-US" altLang="zh-TW" dirty="0" smtClean="0"/>
              <a:t> </a:t>
            </a:r>
            <a:r>
              <a:rPr lang="en-US" altLang="zh-TW" dirty="0"/>
              <a:t>to a target candidate to determine the sequence and </a:t>
            </a:r>
            <a:r>
              <a:rPr lang="en-US" altLang="zh-TW" dirty="0" smtClean="0"/>
              <a:t>structural similarity </a:t>
            </a:r>
            <a:r>
              <a:rPr lang="en-US" altLang="zh-TW" dirty="0"/>
              <a:t>helps in identifying de novo </a:t>
            </a:r>
            <a:r>
              <a:rPr lang="en-US" altLang="zh-TW" dirty="0" err="1"/>
              <a:t>ncRNA</a:t>
            </a:r>
            <a:r>
              <a:rPr lang="en-US" altLang="zh-TW" dirty="0"/>
              <a:t> molecules that are in </a:t>
            </a:r>
            <a:r>
              <a:rPr lang="en-US" altLang="zh-TW" dirty="0" smtClean="0"/>
              <a:t>the same </a:t>
            </a:r>
            <a:r>
              <a:rPr lang="en-US" altLang="zh-TW" dirty="0"/>
              <a:t>family of the known </a:t>
            </a:r>
            <a:r>
              <a:rPr lang="en-US" altLang="zh-TW" dirty="0" err="1"/>
              <a:t>ncRNA</a:t>
            </a:r>
            <a:r>
              <a:rPr lang="en-US" altLang="zh-TW" dirty="0"/>
              <a:t>. However, existing algorithms </a:t>
            </a:r>
            <a:r>
              <a:rPr lang="en-US" altLang="zh-TW" dirty="0" smtClean="0"/>
              <a:t>cannot handle </a:t>
            </a:r>
            <a:r>
              <a:rPr lang="en-US" altLang="zh-TW" dirty="0"/>
              <a:t>complex </a:t>
            </a:r>
            <a:r>
              <a:rPr lang="en-US" altLang="zh-TW" dirty="0" err="1"/>
              <a:t>pseudoknot</a:t>
            </a:r>
            <a:r>
              <a:rPr lang="en-US" altLang="zh-TW" dirty="0"/>
              <a:t> structures which are found in nature. </a:t>
            </a:r>
            <a:r>
              <a:rPr lang="en-US" altLang="zh-TW" dirty="0" smtClean="0"/>
              <a:t>In this </a:t>
            </a:r>
            <a:r>
              <a:rPr lang="en-US" altLang="zh-TW" dirty="0"/>
              <a:t>paper, we propose algorithms to handle two types of complex </a:t>
            </a:r>
            <a:r>
              <a:rPr lang="en-US" altLang="zh-TW" dirty="0" err="1" smtClean="0"/>
              <a:t>pseudoknots</a:t>
            </a:r>
            <a:r>
              <a:rPr lang="en-US" altLang="zh-TW" dirty="0" smtClean="0"/>
              <a:t>: </a:t>
            </a:r>
            <a:r>
              <a:rPr lang="en-US" altLang="zh-TW" dirty="0" smtClean="0">
                <a:solidFill>
                  <a:srgbClr val="FF0000"/>
                </a:solidFill>
              </a:rPr>
              <a:t>simple </a:t>
            </a:r>
            <a:r>
              <a:rPr lang="en-US" altLang="zh-TW" dirty="0">
                <a:solidFill>
                  <a:srgbClr val="FF0000"/>
                </a:solidFill>
              </a:rPr>
              <a:t>non-standard </a:t>
            </a:r>
            <a:r>
              <a:rPr lang="en-US" altLang="zh-TW" dirty="0" err="1">
                <a:solidFill>
                  <a:srgbClr val="FF0000"/>
                </a:solidFill>
              </a:rPr>
              <a:t>pseudoknots</a:t>
            </a:r>
            <a:r>
              <a:rPr lang="en-US" altLang="zh-TW" dirty="0">
                <a:solidFill>
                  <a:srgbClr val="FF0000"/>
                </a:solidFill>
              </a:rPr>
              <a:t> and recursive </a:t>
            </a:r>
            <a:r>
              <a:rPr lang="en-US" altLang="zh-TW" dirty="0" err="1" smtClean="0">
                <a:solidFill>
                  <a:srgbClr val="FF0000"/>
                </a:solidFill>
              </a:rPr>
              <a:t>pseudoknots</a:t>
            </a:r>
            <a:r>
              <a:rPr lang="en-US" altLang="zh-TW" dirty="0" smtClean="0"/>
              <a:t>. 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824805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Although our methods are not designed for general </a:t>
            </a:r>
            <a:r>
              <a:rPr lang="en-US" altLang="zh-TW" dirty="0" err="1">
                <a:solidFill>
                  <a:srgbClr val="FF0000"/>
                </a:solidFill>
              </a:rPr>
              <a:t>pseudoknots</a:t>
            </a:r>
            <a:r>
              <a:rPr lang="en-US" altLang="zh-TW" dirty="0">
                <a:solidFill>
                  <a:srgbClr val="FF0000"/>
                </a:solidFill>
              </a:rPr>
              <a:t>, it already cover all known </a:t>
            </a:r>
            <a:r>
              <a:rPr lang="en-US" altLang="zh-TW" dirty="0" err="1">
                <a:solidFill>
                  <a:srgbClr val="FF0000"/>
                </a:solidFill>
              </a:rPr>
              <a:t>ncRNAs</a:t>
            </a:r>
            <a:r>
              <a:rPr lang="en-US" altLang="zh-TW" dirty="0">
                <a:solidFill>
                  <a:srgbClr val="FF0000"/>
                </a:solidFill>
              </a:rPr>
              <a:t> in both </a:t>
            </a:r>
            <a:r>
              <a:rPr lang="en-US" altLang="zh-TW" dirty="0" err="1">
                <a:solidFill>
                  <a:srgbClr val="FF0000"/>
                </a:solidFill>
              </a:rPr>
              <a:t>Rfam</a:t>
            </a:r>
            <a:r>
              <a:rPr lang="en-US" altLang="zh-TW" dirty="0">
                <a:solidFill>
                  <a:srgbClr val="FF0000"/>
                </a:solidFill>
              </a:rPr>
              <a:t> and </a:t>
            </a:r>
            <a:r>
              <a:rPr lang="en-US" altLang="zh-TW" dirty="0" err="1">
                <a:solidFill>
                  <a:srgbClr val="FF0000"/>
                </a:solidFill>
              </a:rPr>
              <a:t>PseudoBase</a:t>
            </a:r>
            <a:r>
              <a:rPr lang="en-US" altLang="zh-TW" dirty="0">
                <a:solidFill>
                  <a:srgbClr val="FF0000"/>
                </a:solidFill>
              </a:rPr>
              <a:t> databases.</a:t>
            </a:r>
            <a:r>
              <a:rPr lang="en-US" altLang="zh-TW" dirty="0"/>
              <a:t> A preliminary evaluation on our algorithms show that it is useful to identify </a:t>
            </a:r>
            <a:r>
              <a:rPr lang="en-US" altLang="zh-TW" dirty="0" err="1"/>
              <a:t>ncRNA</a:t>
            </a:r>
            <a:r>
              <a:rPr lang="en-US" altLang="zh-TW" dirty="0"/>
              <a:t> molecules in other species which are in the same family of a known </a:t>
            </a:r>
            <a:r>
              <a:rPr lang="en-US" altLang="zh-TW" dirty="0" err="1"/>
              <a:t>ncRNA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608205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620000" cy="769938"/>
          </a:xfrm>
        </p:spPr>
        <p:txBody>
          <a:bodyPr/>
          <a:lstStyle/>
          <a:p>
            <a:r>
              <a:rPr lang="en-US" altLang="zh-TW"/>
              <a:t>Secondary Structure of RNA</a:t>
            </a:r>
            <a:endParaRPr lang="en-US" altLang="zh-TW" sz="2800"/>
          </a:p>
        </p:txBody>
      </p:sp>
      <p:pic>
        <p:nvPicPr>
          <p:cNvPr id="101381" name="Picture 5" descr="Fig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lum bright="-48000" contrast="7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685800" y="1066800"/>
            <a:ext cx="7054850" cy="5329238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zh-TW" dirty="0"/>
          </a:p>
          <a:p>
            <a:fld id="{18B3EE36-4F52-4A46-B6DC-7AEA933A81B6}" type="slidenum">
              <a:rPr lang="en-US" altLang="zh-TW" smtClean="0"/>
              <a:pPr/>
              <a:t>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41779019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620000" cy="769938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The RNA Maximum Base Pair Matching Problem</a:t>
            </a:r>
          </a:p>
        </p:txBody>
      </p:sp>
      <p:sp>
        <p:nvSpPr>
          <p:cNvPr id="2017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r>
              <a:rPr lang="en-US" altLang="zh-TW">
                <a:latin typeface="Times New Roman" pitchFamily="18" charset="0"/>
              </a:rPr>
              <a:t>Originally, for predicting the secondary structure with </a:t>
            </a:r>
            <a:r>
              <a:rPr lang="en-US" altLang="zh-TW" u="sng">
                <a:solidFill>
                  <a:schemeClr val="hlink"/>
                </a:solidFill>
                <a:latin typeface="Times New Roman" pitchFamily="18" charset="0"/>
              </a:rPr>
              <a:t>minimum free energy</a:t>
            </a:r>
            <a:r>
              <a:rPr lang="en-US" altLang="zh-TW">
                <a:latin typeface="Times New Roman" pitchFamily="18" charset="0"/>
              </a:rPr>
              <a:t>, we may assign G</a:t>
            </a:r>
            <a:r>
              <a:rPr lang="en-US" altLang="zh-TW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altLang="zh-TW">
                <a:latin typeface="Times New Roman" pitchFamily="18" charset="0"/>
              </a:rPr>
              <a:t>C, A=U, G</a:t>
            </a:r>
            <a:r>
              <a:rPr lang="en-US" altLang="zh-TW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TW">
                <a:latin typeface="Times New Roman" pitchFamily="18" charset="0"/>
              </a:rPr>
              <a:t>U to –3, -2, -1.</a:t>
            </a:r>
          </a:p>
          <a:p>
            <a:r>
              <a:rPr lang="en-US" altLang="zh-TW">
                <a:latin typeface="Times New Roman" pitchFamily="18" charset="0"/>
              </a:rPr>
              <a:t>Here, the problem becomes to find the secondary structure with </a:t>
            </a:r>
            <a:r>
              <a:rPr lang="en-US" altLang="zh-TW" u="sng">
                <a:solidFill>
                  <a:schemeClr val="hlink"/>
                </a:solidFill>
                <a:latin typeface="Times New Roman" pitchFamily="18" charset="0"/>
              </a:rPr>
              <a:t>maximum number of base pairs.</a:t>
            </a:r>
            <a:r>
              <a:rPr lang="en-US" altLang="zh-TW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en-US" altLang="zh-TW">
                <a:latin typeface="Times New Roman" pitchFamily="18" charset="0"/>
              </a:rPr>
              <a:t>This problem is called </a:t>
            </a:r>
            <a:r>
              <a:rPr lang="en-US" altLang="zh-TW" u="sng">
                <a:solidFill>
                  <a:schemeClr val="hlink"/>
                </a:solidFill>
                <a:latin typeface="Times New Roman" pitchFamily="18" charset="0"/>
              </a:rPr>
              <a:t>RNA maximum base pair matching problem</a:t>
            </a:r>
            <a:r>
              <a:rPr lang="en-US" altLang="zh-TW">
                <a:latin typeface="Times New Roman" pitchFamily="18" charset="0"/>
              </a:rPr>
              <a:t>.</a:t>
            </a:r>
            <a:r>
              <a:rPr lang="en-US" altLang="zh-TW" u="sng">
                <a:latin typeface="Times New Roman" pitchFamily="18" charset="0"/>
              </a:rPr>
              <a:t> </a:t>
            </a:r>
            <a:endParaRPr lang="en-US" altLang="zh-TW">
              <a:latin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786144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620000" cy="769938"/>
          </a:xfrm>
        </p:spPr>
        <p:txBody>
          <a:bodyPr/>
          <a:lstStyle/>
          <a:p>
            <a:r>
              <a:rPr lang="en-US" altLang="zh-TW"/>
              <a:t>Notations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i="1" dirty="0">
                <a:latin typeface="Times New Roman" pitchFamily="18" charset="0"/>
              </a:rPr>
              <a:t>M </a:t>
            </a:r>
            <a:r>
              <a:rPr lang="en-US" altLang="zh-TW" sz="2400" i="1" baseline="-25000" dirty="0" err="1">
                <a:latin typeface="Times New Roman" pitchFamily="18" charset="0"/>
              </a:rPr>
              <a:t>i,j</a:t>
            </a:r>
            <a:r>
              <a:rPr lang="en-US" altLang="zh-TW" sz="2400" dirty="0">
                <a:latin typeface="Times New Roman" pitchFamily="18" charset="0"/>
              </a:rPr>
              <a:t>: Maximum # of base pairs on </a:t>
            </a:r>
            <a:r>
              <a:rPr lang="en-US" altLang="zh-TW" sz="2800" i="1" dirty="0">
                <a:latin typeface="Times New Roman" pitchFamily="18" charset="0"/>
              </a:rPr>
              <a:t>R </a:t>
            </a:r>
            <a:r>
              <a:rPr lang="en-US" altLang="zh-TW" sz="2800" i="1" baseline="-25000" dirty="0" err="1">
                <a:latin typeface="Times New Roman" pitchFamily="18" charset="0"/>
              </a:rPr>
              <a:t>i,j</a:t>
            </a:r>
            <a:r>
              <a:rPr lang="en-US" altLang="zh-TW" sz="2800" dirty="0">
                <a:latin typeface="Times New Roman" pitchFamily="18" charset="0"/>
              </a:rPr>
              <a:t>=</a:t>
            </a:r>
            <a:r>
              <a:rPr lang="en-US" altLang="zh-TW" sz="2800" i="1" dirty="0">
                <a:latin typeface="Times New Roman" pitchFamily="18" charset="0"/>
              </a:rPr>
              <a:t>r</a:t>
            </a:r>
            <a:r>
              <a:rPr lang="en-US" altLang="zh-TW" sz="2800" baseline="-25000" dirty="0">
                <a:latin typeface="Times New Roman" pitchFamily="18" charset="0"/>
              </a:rPr>
              <a:t>i</a:t>
            </a:r>
            <a:r>
              <a:rPr lang="en-US" altLang="zh-TW" sz="2800" i="1" dirty="0">
                <a:latin typeface="Times New Roman" pitchFamily="18" charset="0"/>
              </a:rPr>
              <a:t>r</a:t>
            </a:r>
            <a:r>
              <a:rPr lang="en-US" altLang="zh-TW" sz="2800" baseline="-25000" dirty="0">
                <a:latin typeface="Times New Roman" pitchFamily="18" charset="0"/>
              </a:rPr>
              <a:t>i+1</a:t>
            </a:r>
            <a:r>
              <a:rPr lang="en-US" altLang="zh-TW" sz="2800" i="1" dirty="0">
                <a:latin typeface="Times New Roman" pitchFamily="18" charset="0"/>
              </a:rPr>
              <a:t>r</a:t>
            </a:r>
            <a:r>
              <a:rPr lang="en-US" altLang="zh-TW" sz="2800" baseline="-25000" dirty="0">
                <a:latin typeface="Times New Roman" pitchFamily="18" charset="0"/>
              </a:rPr>
              <a:t>i+2</a:t>
            </a:r>
            <a:r>
              <a:rPr lang="en-US" altLang="zh-TW" sz="2800" dirty="0">
                <a:latin typeface="Times New Roman" pitchFamily="18" charset="0"/>
              </a:rPr>
              <a:t>…</a:t>
            </a:r>
            <a:r>
              <a:rPr lang="en-US" altLang="zh-TW" sz="2800" i="1" dirty="0" err="1">
                <a:latin typeface="Times New Roman" pitchFamily="18" charset="0"/>
              </a:rPr>
              <a:t>r</a:t>
            </a:r>
            <a:r>
              <a:rPr lang="en-US" altLang="zh-TW" sz="2800" baseline="-25000" dirty="0" err="1">
                <a:latin typeface="Times New Roman" pitchFamily="18" charset="0"/>
              </a:rPr>
              <a:t>j</a:t>
            </a:r>
            <a:endParaRPr lang="en-US" altLang="zh-TW" sz="24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i="1" dirty="0">
                <a:latin typeface="Times New Roman" pitchFamily="18" charset="0"/>
              </a:rPr>
              <a:t>WW</a:t>
            </a:r>
            <a:r>
              <a:rPr lang="en-US" altLang="zh-TW" sz="2400" dirty="0">
                <a:latin typeface="Times New Roman" pitchFamily="18" charset="0"/>
              </a:rPr>
              <a:t> = {(A, U), (U, A),(G, C),(C, G),(G, U),(U, G)}. </a:t>
            </a:r>
          </a:p>
          <a:p>
            <a:pPr>
              <a:lnSpc>
                <a:spcPct val="90000"/>
              </a:lnSpc>
            </a:pPr>
            <a:r>
              <a:rPr lang="el-GR" altLang="zh-TW" sz="2400" dirty="0">
                <a:latin typeface="Times New Roman" pitchFamily="18" charset="0"/>
              </a:rPr>
              <a:t>ρ</a:t>
            </a:r>
            <a:r>
              <a:rPr lang="en-US" altLang="zh-TW" sz="2400" dirty="0">
                <a:latin typeface="Times New Roman" pitchFamily="18" charset="0"/>
              </a:rPr>
              <a:t>(</a:t>
            </a:r>
            <a:r>
              <a:rPr lang="en-US" altLang="zh-TW" sz="2400" dirty="0" err="1"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latin typeface="Times New Roman" pitchFamily="18" charset="0"/>
              </a:rPr>
              <a:t>i</a:t>
            </a:r>
            <a:r>
              <a:rPr lang="en-US" altLang="zh-TW" sz="2400" dirty="0" err="1">
                <a:latin typeface="Times New Roman" pitchFamily="18" charset="0"/>
              </a:rPr>
              <a:t>,r</a:t>
            </a:r>
            <a:r>
              <a:rPr lang="en-US" altLang="zh-TW" sz="2400" i="1" baseline="-25000" dirty="0" err="1">
                <a:latin typeface="Times New Roman" pitchFamily="18" charset="0"/>
              </a:rPr>
              <a:t>j</a:t>
            </a:r>
            <a:r>
              <a:rPr lang="en-US" altLang="zh-TW" sz="2400" dirty="0">
                <a:latin typeface="Times New Roman" pitchFamily="18" charset="0"/>
              </a:rPr>
              <a:t>): to indicate whether </a:t>
            </a:r>
            <a:r>
              <a:rPr lang="en-US" altLang="zh-TW" sz="2400" i="1" dirty="0" err="1"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latin typeface="Times New Roman" pitchFamily="18" charset="0"/>
              </a:rPr>
              <a:t>i</a:t>
            </a:r>
            <a:r>
              <a:rPr lang="en-US" altLang="zh-TW" sz="2400" dirty="0">
                <a:latin typeface="Times New Roman" pitchFamily="18" charset="0"/>
              </a:rPr>
              <a:t> and </a:t>
            </a:r>
            <a:r>
              <a:rPr lang="en-US" altLang="zh-TW" sz="2400" i="1" dirty="0" err="1"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latin typeface="Times New Roman" pitchFamily="18" charset="0"/>
              </a:rPr>
              <a:t>j</a:t>
            </a:r>
            <a:r>
              <a:rPr lang="en-US" altLang="zh-TW" sz="2400" dirty="0">
                <a:latin typeface="Times New Roman" pitchFamily="18" charset="0"/>
              </a:rPr>
              <a:t> can be a legal base pair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                 </a:t>
            </a:r>
            <a:r>
              <a:rPr lang="en-US" altLang="zh-TW" sz="2400" dirty="0">
                <a:latin typeface="Times New Roman" pitchFamily="18" charset="0"/>
              </a:rPr>
              <a:t>     1   if (</a:t>
            </a:r>
            <a:r>
              <a:rPr lang="en-US" altLang="zh-TW" sz="2400" i="1" dirty="0" err="1"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latin typeface="Times New Roman" pitchFamily="18" charset="0"/>
              </a:rPr>
              <a:t>i</a:t>
            </a:r>
            <a:r>
              <a:rPr lang="en-US" altLang="zh-TW" sz="2400" dirty="0" err="1">
                <a:latin typeface="Times New Roman" pitchFamily="18" charset="0"/>
              </a:rPr>
              <a:t>,</a:t>
            </a:r>
            <a:r>
              <a:rPr lang="en-US" altLang="zh-TW" sz="2400" i="1" dirty="0" err="1"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latin typeface="Times New Roman" pitchFamily="18" charset="0"/>
              </a:rPr>
              <a:t>j</a:t>
            </a:r>
            <a:r>
              <a:rPr lang="en-US" altLang="zh-TW" sz="2400" dirty="0">
                <a:latin typeface="Times New Roman" pitchFamily="18" charset="0"/>
              </a:rPr>
              <a:t>) 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TW" sz="2400" dirty="0">
                <a:latin typeface="Times New Roman" pitchFamily="18" charset="0"/>
              </a:rPr>
              <a:t>  </a:t>
            </a:r>
            <a:r>
              <a:rPr lang="en-US" altLang="zh-TW" sz="2400" i="1" dirty="0">
                <a:latin typeface="Times New Roman" pitchFamily="18" charset="0"/>
              </a:rPr>
              <a:t>WW</a:t>
            </a:r>
            <a:r>
              <a:rPr lang="en-US" altLang="zh-TW" sz="2400" dirty="0">
                <a:latin typeface="Times New Roman" pitchFamily="18" charset="0"/>
              </a:rPr>
              <a:t> 	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itchFamily="18" charset="0"/>
              </a:rPr>
              <a:t>    </a:t>
            </a:r>
            <a:r>
              <a:rPr lang="el-GR" altLang="zh-TW" sz="2400" dirty="0">
                <a:latin typeface="Times New Roman" pitchFamily="18" charset="0"/>
              </a:rPr>
              <a:t>ρ</a:t>
            </a:r>
            <a:r>
              <a:rPr lang="en-US" altLang="zh-TW" sz="2400" dirty="0">
                <a:latin typeface="Times New Roman" pitchFamily="18" charset="0"/>
              </a:rPr>
              <a:t>(</a:t>
            </a:r>
            <a:r>
              <a:rPr lang="en-US" altLang="zh-TW" sz="2400" dirty="0" err="1"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latin typeface="Times New Roman" pitchFamily="18" charset="0"/>
              </a:rPr>
              <a:t>i</a:t>
            </a:r>
            <a:r>
              <a:rPr lang="en-US" altLang="zh-TW" sz="2400" dirty="0" err="1">
                <a:latin typeface="Times New Roman" pitchFamily="18" charset="0"/>
              </a:rPr>
              <a:t>,r</a:t>
            </a:r>
            <a:r>
              <a:rPr lang="en-US" altLang="zh-TW" sz="2400" i="1" baseline="-25000" dirty="0" err="1">
                <a:latin typeface="Times New Roman" pitchFamily="18" charset="0"/>
              </a:rPr>
              <a:t>j</a:t>
            </a:r>
            <a:r>
              <a:rPr lang="en-US" altLang="zh-TW" sz="2400" dirty="0">
                <a:latin typeface="Times New Roman" pitchFamily="18" charset="0"/>
              </a:rPr>
              <a:t>) =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itchFamily="18" charset="0"/>
              </a:rPr>
              <a:t>                        0   otherwise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i="1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4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sz="2400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= 0 if </a:t>
            </a:r>
            <a:r>
              <a:rPr lang="en-US" altLang="zh-TW" sz="2400" i="1" dirty="0">
                <a:latin typeface="Times New Roman" pitchFamily="18" charset="0"/>
              </a:rPr>
              <a:t>j</a:t>
            </a:r>
            <a:r>
              <a:rPr lang="en-US" altLang="zh-TW" sz="2400" dirty="0">
                <a:latin typeface="Times New Roman" pitchFamily="18" charset="0"/>
              </a:rPr>
              <a:t> – </a:t>
            </a:r>
            <a:r>
              <a:rPr lang="en-US" altLang="zh-TW" sz="2400" i="1" dirty="0">
                <a:latin typeface="Times New Roman" pitchFamily="18" charset="0"/>
              </a:rPr>
              <a:t>i</a:t>
            </a:r>
            <a:r>
              <a:rPr lang="en-US" altLang="zh-TW" sz="2400" dirty="0">
                <a:latin typeface="Times New Roman" pitchFamily="18" charset="0"/>
              </a:rPr>
              <a:t> ≤ 3,  since RNA sequence </a:t>
            </a:r>
            <a:r>
              <a:rPr lang="en-US" altLang="zh-TW" sz="2400" u="sng" dirty="0">
                <a:solidFill>
                  <a:schemeClr val="hlink"/>
                </a:solidFill>
                <a:latin typeface="Times New Roman" pitchFamily="18" charset="0"/>
              </a:rPr>
              <a:t>does not fold too sharply on itself</a:t>
            </a:r>
            <a:r>
              <a:rPr lang="en-US" altLang="zh-TW" sz="2400" dirty="0">
                <a:latin typeface="Times New Roman" pitchFamily="18" charset="0"/>
              </a:rPr>
              <a:t>.</a:t>
            </a:r>
            <a:r>
              <a:rPr lang="en-US" altLang="zh-TW" sz="2800" dirty="0">
                <a:latin typeface="Times New Roman" pitchFamily="18" charset="0"/>
              </a:rPr>
              <a:t> </a:t>
            </a:r>
            <a:endParaRPr lang="en-US" altLang="zh-TW" sz="2800" u="sng" dirty="0">
              <a:latin typeface="Times New Roman" pitchFamily="18" charset="0"/>
            </a:endParaRPr>
          </a:p>
        </p:txBody>
      </p:sp>
      <p:graphicFrame>
        <p:nvGraphicFramePr>
          <p:cNvPr id="202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37914902"/>
              </p:ext>
            </p:extLst>
          </p:nvPr>
        </p:nvGraphicFramePr>
        <p:xfrm>
          <a:off x="2209800" y="3068960"/>
          <a:ext cx="360363" cy="1008063"/>
        </p:xfrm>
        <a:graphic>
          <a:graphicData uri="http://schemas.openxmlformats.org/presentationml/2006/ole">
            <p:oleObj spid="_x0000_s1046" name="方程式" r:id="rId3" imgW="164885" imgH="215619" progId="Equation.3">
              <p:embed/>
            </p:oleObj>
          </a:graphicData>
        </a:graphic>
      </p:graphicFrame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6783005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</p:spPr>
        <p:txBody>
          <a:bodyPr/>
          <a:lstStyle/>
          <a:p>
            <a:r>
              <a:rPr lang="en-US" altLang="zh-TW" dirty="0"/>
              <a:t>Case 1 of Matching</a:t>
            </a:r>
            <a:endParaRPr lang="en-US" altLang="zh-TW" sz="2800" dirty="0"/>
          </a:p>
        </p:txBody>
      </p:sp>
      <p:pic>
        <p:nvPicPr>
          <p:cNvPr id="131076" name="Picture 4" descr="Fig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lum bright="-24000" contrast="4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143000" y="2286000"/>
            <a:ext cx="6389688" cy="44259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1082" name="Rectangle 10"/>
          <p:cNvSpPr>
            <a:spLocks noChangeArrowheads="1"/>
          </p:cNvSpPr>
          <p:nvPr/>
        </p:nvSpPr>
        <p:spPr bwMode="auto">
          <a:xfrm>
            <a:off x="762000" y="1066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>
                <a:latin typeface="Times New Roman" pitchFamily="18" charset="0"/>
              </a:rPr>
              <a:t>Case 1: </a:t>
            </a:r>
            <a:r>
              <a:rPr lang="en-US" altLang="zh-TW" sz="2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2800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800">
                <a:latin typeface="Times New Roman" pitchFamily="18" charset="0"/>
                <a:cs typeface="Times New Roman" pitchFamily="18" charset="0"/>
              </a:rPr>
              <a:t> is not paired with any other base.</a:t>
            </a:r>
            <a:r>
              <a:rPr lang="en-US" altLang="zh-TW" sz="3200">
                <a:latin typeface="Times New Roman" pitchFamily="18" charset="0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3200">
                <a:latin typeface="Times New Roman" pitchFamily="18" charset="0"/>
              </a:rPr>
              <a:t>         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baseline="-250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baseline="-250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baseline="-2500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TW" sz="3200" u="sng">
              <a:latin typeface="Times New Roman" pitchFamily="18" charset="0"/>
            </a:endParaRPr>
          </a:p>
        </p:txBody>
      </p:sp>
      <p:pic>
        <p:nvPicPr>
          <p:cNvPr id="131083" name="Picture 11" descr="nP1"/>
          <p:cNvPicPr>
            <a:picLocks noChangeAspect="1" noChangeArrowheads="1"/>
          </p:cNvPicPr>
          <p:nvPr/>
        </p:nvPicPr>
        <p:blipFill>
          <a:blip r:embed="rId3" cstate="print">
            <a:lum bright="-24000" contrast="4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32038"/>
            <a:ext cx="65151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514497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zh-TW" dirty="0" smtClean="0"/>
          </a:p>
          <a:p>
            <a:fld id="{9DC0C8D3-1BC4-4415-9619-A89139CEEF6C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sp>
        <p:nvSpPr>
          <p:cNvPr id="2037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</p:spPr>
        <p:txBody>
          <a:bodyPr/>
          <a:lstStyle/>
          <a:p>
            <a:r>
              <a:rPr lang="en-US" altLang="zh-TW"/>
              <a:t>Case 2 of Matching</a:t>
            </a:r>
            <a:endParaRPr lang="en-US" altLang="zh-TW" sz="2800"/>
          </a:p>
        </p:txBody>
      </p:sp>
      <p:sp>
        <p:nvSpPr>
          <p:cNvPr id="203780" name="Rectangle 1028"/>
          <p:cNvSpPr>
            <a:spLocks noChangeArrowheads="1"/>
          </p:cNvSpPr>
          <p:nvPr/>
        </p:nvSpPr>
        <p:spPr bwMode="auto">
          <a:xfrm>
            <a:off x="762000" y="1066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>
                <a:latin typeface="Times New Roman" pitchFamily="18" charset="0"/>
              </a:rPr>
              <a:t>Case 2: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 is paired with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l-GR" altLang="zh-TW">
                <a:latin typeface="Times New Roman" pitchFamily="18" charset="0"/>
              </a:rPr>
              <a:t>ρ</a:t>
            </a:r>
            <a:r>
              <a:rPr lang="en-US" altLang="zh-TW">
                <a:latin typeface="Times New Roman" pitchFamily="18" charset="0"/>
              </a:rPr>
              <a:t>(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i</a:t>
            </a:r>
            <a:r>
              <a:rPr lang="en-US" altLang="zh-TW">
                <a:latin typeface="Times New Roman" pitchFamily="18" charset="0"/>
              </a:rPr>
              <a:t>,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</a:rPr>
              <a:t>) 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= 1.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baseline="-250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=1+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i+</a:t>
            </a:r>
            <a:r>
              <a:rPr lang="en-US" altLang="zh-TW" baseline="-2500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baseline="-25000">
                <a:latin typeface="Times New Roman" pitchFamily="18" charset="0"/>
                <a:cs typeface="Times New Roman" pitchFamily="18" charset="0"/>
              </a:rPr>
              <a:t>-1</a:t>
            </a:r>
            <a:endParaRPr lang="en-US" altLang="zh-TW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3782" name="Picture 1030" descr="Fig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lum bright="-30000" contrast="54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619250" y="2276475"/>
            <a:ext cx="5616575" cy="4384675"/>
          </a:xfrm>
          <a:ln/>
        </p:spPr>
      </p:pic>
      <p:pic>
        <p:nvPicPr>
          <p:cNvPr id="203783" name="Picture 1031" descr="nP2"/>
          <p:cNvPicPr>
            <a:picLocks noChangeAspect="1" noChangeArrowheads="1"/>
          </p:cNvPicPr>
          <p:nvPr/>
        </p:nvPicPr>
        <p:blipFill>
          <a:blip r:embed="rId3" cstate="print">
            <a:lum bright="-24000" contrast="4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133600"/>
            <a:ext cx="573405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639474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zh-TW" dirty="0" smtClean="0"/>
          </a:p>
          <a:p>
            <a:fld id="{78E2E59B-CFE4-4486-98FB-7BB9BDC07B23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sp>
        <p:nvSpPr>
          <p:cNvPr id="2048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</p:spPr>
        <p:txBody>
          <a:bodyPr/>
          <a:lstStyle/>
          <a:p>
            <a:r>
              <a:rPr lang="en-US" altLang="zh-TW"/>
              <a:t>Case 3 of Matching</a:t>
            </a:r>
            <a:endParaRPr lang="en-US" altLang="zh-TW" sz="2800"/>
          </a:p>
        </p:txBody>
      </p:sp>
      <p:sp>
        <p:nvSpPr>
          <p:cNvPr id="204803" name="Rectangle 1027"/>
          <p:cNvSpPr>
            <a:spLocks noChangeArrowheads="1"/>
          </p:cNvSpPr>
          <p:nvPr/>
        </p:nvSpPr>
        <p:spPr bwMode="auto">
          <a:xfrm>
            <a:off x="762000" y="1066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>
                <a:latin typeface="Times New Roman" pitchFamily="18" charset="0"/>
              </a:rPr>
              <a:t>Case 3: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 is paired with some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, where </a:t>
            </a:r>
            <a:r>
              <a:rPr lang="en-US" altLang="zh-TW" i="1">
                <a:latin typeface="Times New Roman" pitchFamily="18" charset="0"/>
              </a:rPr>
              <a:t>i</a:t>
            </a:r>
            <a:r>
              <a:rPr lang="en-US" altLang="zh-TW">
                <a:latin typeface="Times New Roman" pitchFamily="18" charset="0"/>
              </a:rPr>
              <a:t>+1 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altLang="zh-TW" i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>
                <a:latin typeface="Times New Roman" pitchFamily="18" charset="0"/>
              </a:rPr>
              <a:t>≤ </a:t>
            </a:r>
            <a:r>
              <a:rPr lang="en-US" altLang="zh-TW" i="1">
                <a:latin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</a:rPr>
              <a:t>-4 and </a:t>
            </a:r>
            <a:r>
              <a:rPr lang="el-GR" altLang="zh-TW">
                <a:latin typeface="Times New Roman" pitchFamily="18" charset="0"/>
              </a:rPr>
              <a:t>ρ</a:t>
            </a:r>
            <a:r>
              <a:rPr lang="en-US" altLang="zh-TW">
                <a:latin typeface="Times New Roman" pitchFamily="18" charset="0"/>
              </a:rPr>
              <a:t>(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k</a:t>
            </a:r>
            <a:r>
              <a:rPr lang="en-US" altLang="zh-TW">
                <a:latin typeface="Times New Roman" pitchFamily="18" charset="0"/>
              </a:rPr>
              <a:t>,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</a:rPr>
              <a:t>) = 1</a:t>
            </a:r>
            <a:endParaRPr lang="en-US" altLang="zh-TW" baseline="-25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06" name="Picture 1030" descr="Fig6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lum bright="-30000" contrast="48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908175" y="2752725"/>
            <a:ext cx="5407025" cy="3905250"/>
          </a:xfrm>
          <a:ln/>
        </p:spPr>
      </p:pic>
      <p:graphicFrame>
        <p:nvGraphicFramePr>
          <p:cNvPr id="204809" name="Object 1033"/>
          <p:cNvGraphicFramePr>
            <a:graphicFrameLocks noChangeAspect="1"/>
          </p:cNvGraphicFramePr>
          <p:nvPr/>
        </p:nvGraphicFramePr>
        <p:xfrm>
          <a:off x="1828800" y="1981200"/>
          <a:ext cx="5257800" cy="719138"/>
        </p:xfrm>
        <a:graphic>
          <a:graphicData uri="http://schemas.openxmlformats.org/presentationml/2006/ole">
            <p:oleObj spid="_x0000_s2070" name="Equation" r:id="rId4" imgW="2133600" imgH="292100" progId="Equation.3">
              <p:embed/>
            </p:oleObj>
          </a:graphicData>
        </a:graphic>
      </p:graphicFrame>
      <p:pic>
        <p:nvPicPr>
          <p:cNvPr id="204810" name="Picture 1034" descr="nP3"/>
          <p:cNvPicPr>
            <a:picLocks noChangeAspect="1" noChangeArrowheads="1"/>
          </p:cNvPicPr>
          <p:nvPr/>
        </p:nvPicPr>
        <p:blipFill>
          <a:blip r:embed="rId5" cstate="print">
            <a:lum bright="-24000" contrast="4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1163"/>
            <a:ext cx="5505450" cy="390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3335724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zh-TW" dirty="0" smtClean="0"/>
          </a:p>
          <a:p>
            <a:fld id="{BABD6AF2-FFBC-4A58-BC15-0ED67C4E775B}" type="slidenum">
              <a:rPr lang="en-US" altLang="zh-TW" smtClean="0"/>
              <a:pPr/>
              <a:t>10</a:t>
            </a:fld>
            <a:endParaRPr lang="en-US" altLang="zh-TW" dirty="0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620000" cy="769938"/>
          </a:xfrm>
        </p:spPr>
        <p:txBody>
          <a:bodyPr/>
          <a:lstStyle/>
          <a:p>
            <a:r>
              <a:rPr lang="en-US" altLang="zh-TW"/>
              <a:t>Summary of the Algorithm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419600"/>
          </a:xfrm>
        </p:spPr>
        <p:txBody>
          <a:bodyPr/>
          <a:lstStyle/>
          <a:p>
            <a:r>
              <a:rPr lang="en-US" altLang="zh-TW" sz="28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altLang="zh-TW" sz="2800" i="1">
                <a:latin typeface="Times New Roman" pitchFamily="18" charset="0"/>
              </a:rPr>
              <a:t>j</a:t>
            </a:r>
            <a:r>
              <a:rPr lang="en-US" altLang="zh-TW" sz="2800">
                <a:latin typeface="Times New Roman" pitchFamily="18" charset="0"/>
              </a:rPr>
              <a:t> – </a:t>
            </a:r>
            <a:r>
              <a:rPr lang="en-US" altLang="zh-TW" sz="2800" i="1">
                <a:latin typeface="Times New Roman" pitchFamily="18" charset="0"/>
              </a:rPr>
              <a:t>i</a:t>
            </a:r>
            <a:r>
              <a:rPr lang="en-US" altLang="zh-TW" sz="2800">
                <a:latin typeface="Times New Roman" pitchFamily="18" charset="0"/>
              </a:rPr>
              <a:t> ≤ 3, then </a:t>
            </a:r>
            <a:r>
              <a:rPr lang="en-US" altLang="zh-TW" sz="2800" i="1"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en-US" altLang="zh-TW" sz="2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800" baseline="-250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sz="2800" i="1" baseline="-2500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800">
                <a:latin typeface="Times New Roman" pitchFamily="18" charset="0"/>
                <a:cs typeface="Times New Roman" pitchFamily="18" charset="0"/>
              </a:rPr>
              <a:t> = 0</a:t>
            </a:r>
            <a:r>
              <a:rPr lang="en-US" altLang="zh-TW" sz="2800">
                <a:latin typeface="Times New Roman" pitchFamily="18" charset="0"/>
              </a:rPr>
              <a:t>.</a:t>
            </a:r>
            <a:r>
              <a:rPr lang="en-US" altLang="zh-TW">
                <a:latin typeface="Times New Roman" pitchFamily="18" charset="0"/>
              </a:rPr>
              <a:t> </a:t>
            </a:r>
          </a:p>
          <a:p>
            <a:r>
              <a:rPr lang="en-US" altLang="zh-TW" sz="28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altLang="zh-TW" sz="2800" i="1">
                <a:latin typeface="Times New Roman" pitchFamily="18" charset="0"/>
              </a:rPr>
              <a:t>j</a:t>
            </a:r>
            <a:r>
              <a:rPr lang="en-US" altLang="zh-TW" sz="2800">
                <a:latin typeface="Times New Roman" pitchFamily="18" charset="0"/>
              </a:rPr>
              <a:t> – </a:t>
            </a:r>
            <a:r>
              <a:rPr lang="en-US" altLang="zh-TW" sz="2800" i="1">
                <a:latin typeface="Times New Roman" pitchFamily="18" charset="0"/>
              </a:rPr>
              <a:t>i</a:t>
            </a:r>
            <a:r>
              <a:rPr lang="en-US" altLang="zh-TW" sz="2800">
                <a:latin typeface="Times New Roman" pitchFamily="18" charset="0"/>
              </a:rPr>
              <a:t> &gt; 3, then</a:t>
            </a:r>
          </a:p>
          <a:p>
            <a:endParaRPr lang="en-US" altLang="zh-TW" sz="2800">
              <a:latin typeface="Times New Roman" pitchFamily="18" charset="0"/>
            </a:endParaRPr>
          </a:p>
          <a:p>
            <a:endParaRPr lang="en-US" altLang="zh-TW" sz="2800">
              <a:latin typeface="Times New Roman" pitchFamily="18" charset="0"/>
            </a:endParaRPr>
          </a:p>
          <a:p>
            <a:endParaRPr lang="en-US" altLang="zh-TW" sz="2800">
              <a:latin typeface="Times New Roman" pitchFamily="18" charset="0"/>
            </a:endParaRPr>
          </a:p>
          <a:p>
            <a:endParaRPr lang="en-US" altLang="zh-TW" sz="2800">
              <a:latin typeface="Times New Roman" pitchFamily="18" charset="0"/>
            </a:endParaRPr>
          </a:p>
          <a:p>
            <a:endParaRPr lang="en-US" altLang="zh-TW" sz="2800">
              <a:latin typeface="Times New Roman" pitchFamily="18" charset="0"/>
            </a:endParaRPr>
          </a:p>
          <a:p>
            <a:r>
              <a:rPr lang="en-US" altLang="zh-TW" sz="2800">
                <a:latin typeface="Times New Roman" pitchFamily="18" charset="0"/>
              </a:rPr>
              <a:t>Time complexity: O(n</a:t>
            </a:r>
            <a:r>
              <a:rPr lang="en-US" altLang="zh-TW" sz="2800" baseline="30000">
                <a:latin typeface="Times New Roman" pitchFamily="18" charset="0"/>
              </a:rPr>
              <a:t>3</a:t>
            </a:r>
            <a:r>
              <a:rPr lang="en-US" altLang="zh-TW" sz="2800">
                <a:latin typeface="Times New Roman" pitchFamily="18" charset="0"/>
              </a:rPr>
              <a:t>)</a:t>
            </a:r>
          </a:p>
        </p:txBody>
      </p:sp>
      <p:graphicFrame>
        <p:nvGraphicFramePr>
          <p:cNvPr id="205830" name="Object 6"/>
          <p:cNvGraphicFramePr>
            <a:graphicFrameLocks noChangeAspect="1"/>
          </p:cNvGraphicFramePr>
          <p:nvPr/>
        </p:nvGraphicFramePr>
        <p:xfrm>
          <a:off x="1128713" y="3048000"/>
          <a:ext cx="6657975" cy="2017713"/>
        </p:xfrm>
        <a:graphic>
          <a:graphicData uri="http://schemas.openxmlformats.org/presentationml/2006/ole">
            <p:oleObj spid="_x0000_s3094" name="Equation" r:id="rId3" imgW="2933700" imgH="8890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125899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17550"/>
          </a:xfrm>
        </p:spPr>
        <p:txBody>
          <a:bodyPr/>
          <a:lstStyle/>
          <a:p>
            <a:r>
              <a:rPr lang="en-US" altLang="zh-TW"/>
              <a:t>Pseudoknots</a:t>
            </a:r>
            <a:endParaRPr lang="en-US" altLang="zh-TW" sz="2800"/>
          </a:p>
        </p:txBody>
      </p:sp>
      <p:pic>
        <p:nvPicPr>
          <p:cNvPr id="129028" name="Picture 4" descr="Fig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4000" contrast="6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900113" y="1773238"/>
            <a:ext cx="6985000" cy="43783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9031" name="Rectangle 7"/>
          <p:cNvSpPr>
            <a:spLocks noChangeArrowheads="1"/>
          </p:cNvSpPr>
          <p:nvPr/>
        </p:nvSpPr>
        <p:spPr bwMode="auto">
          <a:xfrm>
            <a:off x="685800" y="1143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>
                <a:latin typeface="Times New Roman" pitchFamily="18" charset="0"/>
              </a:rPr>
              <a:t>Two base pairs (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i</a:t>
            </a:r>
            <a:r>
              <a:rPr lang="en-US" altLang="zh-TW">
                <a:latin typeface="Times New Roman" pitchFamily="18" charset="0"/>
              </a:rPr>
              <a:t>,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j</a:t>
            </a:r>
            <a:r>
              <a:rPr lang="en-US" altLang="zh-TW">
                <a:latin typeface="Times New Roman" pitchFamily="18" charset="0"/>
              </a:rPr>
              <a:t>) and (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k</a:t>
            </a:r>
            <a:r>
              <a:rPr lang="en-US" altLang="zh-TW">
                <a:latin typeface="Times New Roman" pitchFamily="18" charset="0"/>
              </a:rPr>
              <a:t>,</a:t>
            </a:r>
            <a:r>
              <a:rPr lang="en-US" altLang="zh-TW" i="1">
                <a:latin typeface="Times New Roman" pitchFamily="18" charset="0"/>
              </a:rPr>
              <a:t>r</a:t>
            </a:r>
            <a:r>
              <a:rPr lang="en-US" altLang="zh-TW" i="1" baseline="-25000">
                <a:latin typeface="Times New Roman" pitchFamily="18" charset="0"/>
              </a:rPr>
              <a:t>l</a:t>
            </a:r>
            <a:r>
              <a:rPr lang="en-US" altLang="zh-TW">
                <a:latin typeface="Times New Roman" pitchFamily="18" charset="0"/>
              </a:rPr>
              <a:t>) are called a </a:t>
            </a:r>
            <a:r>
              <a:rPr lang="en-US" altLang="zh-TW" u="sng">
                <a:solidFill>
                  <a:srgbClr val="FF3300"/>
                </a:solidFill>
                <a:latin typeface="Times New Roman" pitchFamily="18" charset="0"/>
              </a:rPr>
              <a:t>pseudoknot</a:t>
            </a:r>
            <a:r>
              <a:rPr lang="en-US" altLang="zh-TW">
                <a:latin typeface="Times New Roman" pitchFamily="18" charset="0"/>
              </a:rPr>
              <a:t>  if  </a:t>
            </a:r>
            <a:r>
              <a:rPr lang="en-US" altLang="zh-TW" i="1">
                <a:latin typeface="Times New Roman" pitchFamily="18" charset="0"/>
              </a:rPr>
              <a:t>i </a:t>
            </a:r>
            <a:r>
              <a:rPr lang="en-US" altLang="zh-TW">
                <a:latin typeface="Times New Roman" pitchFamily="18" charset="0"/>
              </a:rPr>
              <a:t>&lt; </a:t>
            </a:r>
            <a:r>
              <a:rPr lang="en-US" altLang="zh-TW" i="1">
                <a:latin typeface="Times New Roman" pitchFamily="18" charset="0"/>
              </a:rPr>
              <a:t>k </a:t>
            </a:r>
            <a:r>
              <a:rPr lang="en-US" altLang="zh-TW">
                <a:latin typeface="Times New Roman" pitchFamily="18" charset="0"/>
              </a:rPr>
              <a:t>&lt; </a:t>
            </a:r>
            <a:r>
              <a:rPr lang="en-US" altLang="zh-TW" i="1">
                <a:latin typeface="Times New Roman" pitchFamily="18" charset="0"/>
              </a:rPr>
              <a:t>j </a:t>
            </a:r>
            <a:r>
              <a:rPr lang="en-US" altLang="zh-TW">
                <a:latin typeface="Times New Roman" pitchFamily="18" charset="0"/>
              </a:rPr>
              <a:t>&lt; </a:t>
            </a:r>
            <a:r>
              <a:rPr lang="en-US" altLang="zh-TW" i="1">
                <a:latin typeface="Times New Roman" pitchFamily="18" charset="0"/>
              </a:rPr>
              <a:t>l.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2153228" y="227687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059832" y="226758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953428" y="226758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508104" y="148478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48264" y="335699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6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953428" y="369405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331640" y="429309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986896" y="363573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808052" y="345106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279056" y="225799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152166" y="52578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788024" y="46624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00623" y="457183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71852" y="456597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16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452320" y="45811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753628" y="321297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860960" y="308173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879556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2776"/>
            <a:ext cx="3870350" cy="248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95135250"/>
              </p:ext>
            </p:extLst>
          </p:nvPr>
        </p:nvGraphicFramePr>
        <p:xfrm>
          <a:off x="891807" y="4869160"/>
          <a:ext cx="6344489" cy="576064"/>
        </p:xfrm>
        <a:graphic>
          <a:graphicData uri="http://schemas.openxmlformats.org/presentationml/2006/ole">
            <p:oleObj spid="_x0000_s7185" name="Visio" r:id="rId4" imgW="2588362" imgH="234305" progId="Visio.Drawing.11">
              <p:link updateAutomatic="1"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1892223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Recently, Han et al</a:t>
            </a:r>
            <a:r>
              <a:rPr lang="en-US" altLang="zh-TW" dirty="0" smtClean="0"/>
              <a:t>. </a:t>
            </a:r>
            <a:r>
              <a:rPr lang="en-US" altLang="zh-TW" dirty="0"/>
              <a:t>developed PAL to solve the problem that </a:t>
            </a:r>
            <a:r>
              <a:rPr lang="en-US" altLang="zh-TW" dirty="0" smtClean="0"/>
              <a:t>supports secondary </a:t>
            </a:r>
            <a:r>
              <a:rPr lang="en-US" altLang="zh-TW" dirty="0"/>
              <a:t>structures with standard </a:t>
            </a:r>
            <a:r>
              <a:rPr lang="en-US" altLang="zh-TW" dirty="0" err="1"/>
              <a:t>pseudoknot</a:t>
            </a:r>
            <a:r>
              <a:rPr lang="en-US" altLang="zh-TW" dirty="0"/>
              <a:t> of </a:t>
            </a:r>
            <a:r>
              <a:rPr lang="en-US" altLang="zh-TW" dirty="0" smtClean="0">
                <a:solidFill>
                  <a:srgbClr val="FF0000"/>
                </a:solidFill>
              </a:rPr>
              <a:t>degree</a:t>
            </a:r>
            <a:r>
              <a:rPr lang="en-US" altLang="zh-TW" dirty="0" smtClean="0"/>
              <a:t> </a:t>
            </a:r>
            <a:r>
              <a:rPr lang="en-US" altLang="zh-TW" i="1" dirty="0"/>
              <a:t>k </a:t>
            </a:r>
            <a:r>
              <a:rPr lang="en-US" altLang="zh-TW" dirty="0"/>
              <a:t>and their </a:t>
            </a:r>
            <a:r>
              <a:rPr lang="en-US" altLang="zh-TW" dirty="0" smtClean="0"/>
              <a:t>algorithm runs </a:t>
            </a:r>
            <a:r>
              <a:rPr lang="en-US" altLang="zh-TW" dirty="0"/>
              <a:t>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 err="1"/>
              <a:t>kmn</a:t>
            </a:r>
            <a:r>
              <a:rPr lang="en-US" altLang="zh-TW" i="1" baseline="30000" dirty="0" err="1"/>
              <a:t>k</a:t>
            </a:r>
            <a:r>
              <a:rPr lang="en-US" altLang="zh-TW" dirty="0"/>
              <a:t>) where </a:t>
            </a:r>
            <a:r>
              <a:rPr lang="en-US" altLang="zh-TW" i="1" dirty="0"/>
              <a:t>m </a:t>
            </a:r>
            <a:r>
              <a:rPr lang="en-US" altLang="zh-TW" dirty="0"/>
              <a:t>is the length of the query sequence and </a:t>
            </a:r>
            <a:r>
              <a:rPr lang="en-US" altLang="zh-TW" i="1" dirty="0"/>
              <a:t>n </a:t>
            </a:r>
            <a:r>
              <a:rPr lang="en-US" altLang="zh-TW" dirty="0"/>
              <a:t>is the </a:t>
            </a:r>
            <a:r>
              <a:rPr lang="en-US" altLang="zh-TW" dirty="0" smtClean="0"/>
              <a:t>length of </a:t>
            </a:r>
            <a:r>
              <a:rPr lang="en-US" altLang="zh-TW" dirty="0"/>
              <a:t>the target sequence.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Previous 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77072"/>
            <a:ext cx="8800373" cy="141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2872999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01069"/>
            <a:ext cx="505777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Their algorithm cannot handle more complex </a:t>
            </a:r>
            <a:r>
              <a:rPr lang="en-US" altLang="zh-TW" dirty="0" err="1" smtClean="0"/>
              <a:t>pseudoknot</a:t>
            </a:r>
            <a:r>
              <a:rPr lang="en-US" altLang="zh-TW" dirty="0" smtClean="0"/>
              <a:t> structures </a:t>
            </a:r>
            <a:r>
              <a:rPr lang="en-US" altLang="zh-TW" dirty="0"/>
              <a:t>such as one with 3 base pairs mutually crossing each other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Unhandled Case - 1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05158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structure allowing </a:t>
            </a:r>
            <a:r>
              <a:rPr lang="en-US" altLang="zh-TW" dirty="0" smtClean="0"/>
              <a:t>recursive </a:t>
            </a:r>
            <a:r>
              <a:rPr lang="en-US" altLang="zh-TW" dirty="0" err="1" smtClean="0"/>
              <a:t>pseudoknots</a:t>
            </a:r>
            <a:r>
              <a:rPr lang="en-US" altLang="zh-TW" dirty="0" smtClean="0"/>
              <a:t> </a:t>
            </a:r>
            <a:r>
              <a:rPr lang="en-US" altLang="zh-TW" dirty="0"/>
              <a:t>(i.e. </a:t>
            </a:r>
            <a:r>
              <a:rPr lang="en-US" altLang="zh-TW" dirty="0" err="1"/>
              <a:t>pseudoknot</a:t>
            </a:r>
            <a:r>
              <a:rPr lang="en-US" altLang="zh-TW" dirty="0"/>
              <a:t>/regular structures exist within another </a:t>
            </a:r>
            <a:r>
              <a:rPr lang="en-US" altLang="zh-TW" dirty="0" err="1" smtClean="0"/>
              <a:t>pseudoknot</a:t>
            </a:r>
            <a:r>
              <a:rPr lang="en-US" altLang="zh-TW" dirty="0" smtClean="0"/>
              <a:t> structure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Unhandled Case -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773855"/>
            <a:ext cx="2523753" cy="4039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341757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</a:t>
            </a:r>
            <a:r>
              <a:rPr lang="en-US" altLang="zh-TW" dirty="0" err="1"/>
              <a:t>Rfam</a:t>
            </a:r>
            <a:r>
              <a:rPr lang="en-US" altLang="zh-TW" dirty="0"/>
              <a:t> 9.1 </a:t>
            </a:r>
            <a:r>
              <a:rPr lang="en-US" altLang="zh-TW" dirty="0" smtClean="0"/>
              <a:t>database, </a:t>
            </a:r>
            <a:r>
              <a:rPr lang="en-US" altLang="zh-TW" dirty="0"/>
              <a:t>among 71 </a:t>
            </a:r>
            <a:r>
              <a:rPr lang="en-US" altLang="zh-TW" dirty="0" err="1" smtClean="0"/>
              <a:t>pseudoknotted</a:t>
            </a:r>
            <a:r>
              <a:rPr lang="en-US" altLang="zh-TW" dirty="0" smtClean="0"/>
              <a:t> families</a:t>
            </a:r>
            <a:r>
              <a:rPr lang="en-US" altLang="zh-TW" dirty="0"/>
              <a:t>, 18 of them have complex </a:t>
            </a:r>
            <a:r>
              <a:rPr lang="en-US" altLang="zh-TW" dirty="0" err="1"/>
              <a:t>pseudoknot</a:t>
            </a:r>
            <a:r>
              <a:rPr lang="en-US" altLang="zh-TW" dirty="0"/>
              <a:t> structure.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the </a:t>
            </a:r>
            <a:r>
              <a:rPr lang="en-US" altLang="zh-TW" dirty="0" err="1" smtClean="0"/>
              <a:t>PseudoBase</a:t>
            </a:r>
            <a:r>
              <a:rPr lang="en-US" altLang="zh-TW" dirty="0" smtClean="0"/>
              <a:t> database, </a:t>
            </a:r>
            <a:r>
              <a:rPr lang="en-US" altLang="zh-TW" dirty="0"/>
              <a:t>among 304 </a:t>
            </a:r>
            <a:r>
              <a:rPr lang="en-US" altLang="zh-TW" dirty="0" err="1"/>
              <a:t>pseudoknot</a:t>
            </a:r>
            <a:r>
              <a:rPr lang="en-US" altLang="zh-TW" dirty="0"/>
              <a:t> RNAs, 8 of them have complex </a:t>
            </a:r>
            <a:r>
              <a:rPr lang="en-US" altLang="zh-TW" dirty="0" err="1" smtClean="0"/>
              <a:t>pseudoknot</a:t>
            </a:r>
            <a:r>
              <a:rPr lang="en-US" altLang="zh-TW" dirty="0" smtClean="0"/>
              <a:t> structures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Database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964814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Regular Structure</a:t>
            </a:r>
          </a:p>
          <a:p>
            <a:r>
              <a:rPr lang="en-US" altLang="zh-TW" dirty="0" smtClean="0"/>
              <a:t>Standard </a:t>
            </a:r>
            <a:r>
              <a:rPr lang="en-US" altLang="zh-TW" dirty="0" err="1" smtClean="0"/>
              <a:t>Pseudoknot</a:t>
            </a:r>
            <a:endParaRPr lang="en-US" altLang="zh-TW" dirty="0" smtClean="0"/>
          </a:p>
          <a:p>
            <a:r>
              <a:rPr lang="en-US" altLang="zh-TW" dirty="0" smtClean="0"/>
              <a:t>Simple non-standard </a:t>
            </a:r>
            <a:r>
              <a:rPr lang="en-US" altLang="zh-TW" dirty="0" err="1"/>
              <a:t>Pseudoknot</a:t>
            </a:r>
            <a:endParaRPr lang="en-US" altLang="zh-TW" dirty="0"/>
          </a:p>
          <a:p>
            <a:r>
              <a:rPr lang="en-US" altLang="zh-TW" dirty="0" smtClean="0"/>
              <a:t>Recursive </a:t>
            </a:r>
            <a:r>
              <a:rPr lang="en-US" altLang="zh-TW" dirty="0" err="1" smtClean="0"/>
              <a:t>Pseudoknot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Classes of Structures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8254504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regular structure is one without </a:t>
            </a:r>
            <a:r>
              <a:rPr lang="en-US" altLang="zh-TW" dirty="0" err="1" smtClean="0"/>
              <a:t>Pseudoknots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Regular Structure</a:t>
            </a:r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564904"/>
            <a:ext cx="5104556" cy="327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9632722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structure is </a:t>
            </a:r>
            <a:r>
              <a:rPr lang="en-US" altLang="zh-TW" dirty="0" smtClean="0"/>
              <a:t>a standard </a:t>
            </a:r>
            <a:r>
              <a:rPr lang="en-US" altLang="zh-TW" dirty="0" err="1"/>
              <a:t>pseudoknot</a:t>
            </a:r>
            <a:r>
              <a:rPr lang="en-US" altLang="zh-TW" dirty="0"/>
              <a:t> of degree </a:t>
            </a:r>
            <a:r>
              <a:rPr lang="en-US" altLang="zh-TW" i="1" dirty="0"/>
              <a:t>k </a:t>
            </a:r>
            <a:r>
              <a:rPr lang="en-US" altLang="zh-TW" dirty="0"/>
              <a:t>if the RNA sequence can be divided into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consecutive </a:t>
            </a:r>
            <a:r>
              <a:rPr lang="en-US" altLang="zh-TW" dirty="0"/>
              <a:t>regions </a:t>
            </a:r>
            <a:r>
              <a:rPr lang="en-US" altLang="zh-TW" dirty="0" smtClean="0"/>
              <a:t>such </a:t>
            </a:r>
            <a:r>
              <a:rPr lang="en-US" altLang="zh-TW" dirty="0"/>
              <a:t>that base pairs must have end </a:t>
            </a:r>
            <a:r>
              <a:rPr lang="en-US" altLang="zh-TW" dirty="0" smtClean="0"/>
              <a:t>points in </a:t>
            </a:r>
            <a:r>
              <a:rPr lang="en-US" altLang="zh-TW" dirty="0"/>
              <a:t>adjacent regions and base pairs that are in the same adjacent regions </a:t>
            </a:r>
            <a:r>
              <a:rPr lang="en-US" altLang="zh-TW" dirty="0" smtClean="0"/>
              <a:t>cannot cross </a:t>
            </a:r>
            <a:r>
              <a:rPr lang="en-US" altLang="zh-TW" dirty="0"/>
              <a:t>each other.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</a:t>
            </a:r>
            <a:r>
              <a:rPr lang="en-US" altLang="zh-TW" dirty="0" err="1"/>
              <a:t>Pseudoknot</a:t>
            </a:r>
            <a:endParaRPr lang="en-US" altLang="zh-TW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4115" y="4170809"/>
            <a:ext cx="8800373" cy="141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00680645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Simple non-standard </a:t>
            </a:r>
            <a:r>
              <a:rPr lang="en-US" altLang="zh-TW" dirty="0" err="1" smtClean="0"/>
              <a:t>Pseudoknot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83" y="1502811"/>
            <a:ext cx="8998421" cy="36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577649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After</a:t>
            </a:r>
            <a:r>
              <a:rPr lang="zh-TW" altLang="en-US" dirty="0" smtClean="0"/>
              <a:t> </a:t>
            </a:r>
            <a:r>
              <a:rPr lang="en-US" altLang="zh-TW" dirty="0" smtClean="0"/>
              <a:t>removing recursive regions either </a:t>
            </a:r>
            <a:r>
              <a:rPr lang="en-US" altLang="zh-TW" dirty="0"/>
              <a:t>regular structure, standard </a:t>
            </a:r>
            <a:r>
              <a:rPr lang="en-US" altLang="zh-TW" dirty="0" err="1"/>
              <a:t>pseudoknot</a:t>
            </a:r>
            <a:r>
              <a:rPr lang="en-US" altLang="zh-TW" dirty="0"/>
              <a:t> of </a:t>
            </a:r>
            <a:r>
              <a:rPr lang="en-US" altLang="zh-TW" dirty="0" smtClean="0"/>
              <a:t>degree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≤</a:t>
            </a:r>
            <a:r>
              <a:rPr lang="en-US" altLang="zh-TW" i="1" dirty="0" smtClean="0"/>
              <a:t> </a:t>
            </a:r>
            <a:r>
              <a:rPr lang="en-US" altLang="zh-TW" i="1" dirty="0"/>
              <a:t>k </a:t>
            </a:r>
            <a:r>
              <a:rPr lang="en-US" altLang="zh-TW" dirty="0"/>
              <a:t>or simple non-standard-</a:t>
            </a:r>
            <a:r>
              <a:rPr lang="en-US" altLang="zh-TW" dirty="0" err="1"/>
              <a:t>pseudoknot</a:t>
            </a:r>
            <a:r>
              <a:rPr lang="en-US" altLang="zh-TW" dirty="0"/>
              <a:t> of degree ≤</a:t>
            </a:r>
            <a:r>
              <a:rPr lang="en-US" altLang="zh-TW" i="1" dirty="0"/>
              <a:t>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left</a:t>
            </a:r>
            <a:r>
              <a:rPr lang="en-US" altLang="zh-TW" i="1" dirty="0" smtClean="0"/>
              <a:t>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</a:t>
            </a:r>
            <a:r>
              <a:rPr lang="en-US" altLang="zh-TW" dirty="0" err="1"/>
              <a:t>Pseudoknot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008" y="3271714"/>
            <a:ext cx="8964488" cy="1957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618530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Scoring Function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84784"/>
            <a:ext cx="84963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14" y="3224310"/>
            <a:ext cx="9012882" cy="99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5782889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Transformation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88720" y="1299592"/>
            <a:ext cx="498348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21596"/>
            <a:ext cx="2324100" cy="3078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326844"/>
            <a:ext cx="2476500" cy="355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00257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Transformation</a:t>
            </a:r>
            <a:endParaRPr lang="zh-TW" alt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017624"/>
            <a:ext cx="2714253" cy="378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9974" y="3140968"/>
            <a:ext cx="2655962" cy="362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 flipV="1">
            <a:off x="755576" y="2276872"/>
            <a:ext cx="8388424" cy="26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361140" y="226758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11560" y="225828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x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051720" y="226758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x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1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22" name="弧形 21"/>
          <p:cNvSpPr/>
          <p:nvPr/>
        </p:nvSpPr>
        <p:spPr>
          <a:xfrm>
            <a:off x="1115616" y="1988840"/>
            <a:ext cx="2490780" cy="651356"/>
          </a:xfrm>
          <a:prstGeom prst="arc">
            <a:avLst>
              <a:gd name="adj1" fmla="val 10764675"/>
              <a:gd name="adj2" fmla="val 2159505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弧形 22"/>
          <p:cNvSpPr/>
          <p:nvPr/>
        </p:nvSpPr>
        <p:spPr>
          <a:xfrm>
            <a:off x="942101" y="1844824"/>
            <a:ext cx="2833544" cy="889248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弧形 23"/>
          <p:cNvSpPr/>
          <p:nvPr/>
        </p:nvSpPr>
        <p:spPr>
          <a:xfrm rot="10800000">
            <a:off x="2358872" y="1844824"/>
            <a:ext cx="3581279" cy="903198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弧形 24"/>
          <p:cNvSpPr/>
          <p:nvPr/>
        </p:nvSpPr>
        <p:spPr>
          <a:xfrm rot="10800000">
            <a:off x="2475234" y="1988840"/>
            <a:ext cx="3248894" cy="638780"/>
          </a:xfrm>
          <a:prstGeom prst="arc">
            <a:avLst>
              <a:gd name="adj1" fmla="val 10756139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弧形 25"/>
          <p:cNvSpPr/>
          <p:nvPr/>
        </p:nvSpPr>
        <p:spPr>
          <a:xfrm>
            <a:off x="2771800" y="1675656"/>
            <a:ext cx="5296918" cy="1105272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2699792" y="2276872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275856" y="227687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508526" y="234888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x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2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0" name="弧形 29"/>
          <p:cNvSpPr/>
          <p:nvPr/>
        </p:nvSpPr>
        <p:spPr>
          <a:xfrm>
            <a:off x="3851920" y="2060848"/>
            <a:ext cx="1097868" cy="433772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3923928" y="234888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j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300868" y="2303398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r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012160" y="227687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x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3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660232" y="22768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k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308304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942722" y="2276872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l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662802" y="227687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y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40" name="弧形 39"/>
          <p:cNvSpPr/>
          <p:nvPr/>
        </p:nvSpPr>
        <p:spPr>
          <a:xfrm>
            <a:off x="4027610" y="1772816"/>
            <a:ext cx="2792281" cy="1105272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119392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</a:t>
            </a:r>
            <a:r>
              <a:rPr lang="en-US" altLang="zh-TW" i="1" dirty="0"/>
              <a:t>t </a:t>
            </a:r>
            <a:r>
              <a:rPr lang="en-US" altLang="zh-TW" dirty="0"/>
              <a:t>is odd, define the </a:t>
            </a:r>
            <a:r>
              <a:rPr lang="en-US" altLang="zh-TW" dirty="0" err="1" smtClean="0"/>
              <a:t>subregion</a:t>
            </a:r>
            <a:r>
              <a:rPr lang="en-US" altLang="zh-TW" i="1" dirty="0" smtClean="0"/>
              <a:t> R</a:t>
            </a:r>
            <a:r>
              <a:rPr lang="en-US" altLang="zh-TW" i="1" baseline="-25000" dirty="0" smtClean="0"/>
              <a:t>odd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S</a:t>
            </a:r>
            <a:r>
              <a:rPr lang="en-US" altLang="zh-TW" i="1" dirty="0"/>
              <a:t>, v</a:t>
            </a:r>
            <a:r>
              <a:rPr lang="en-US" altLang="zh-TW" dirty="0"/>
              <a:t>) = [</a:t>
            </a:r>
            <a:r>
              <a:rPr lang="en-US" altLang="zh-TW" i="1" dirty="0"/>
              <a:t>p, q</a:t>
            </a:r>
            <a:r>
              <a:rPr lang="en-US" altLang="zh-TW" dirty="0"/>
              <a:t>]∪[</a:t>
            </a:r>
            <a:r>
              <a:rPr lang="en-US" altLang="zh-TW" i="1" dirty="0"/>
              <a:t>r, s</a:t>
            </a:r>
            <a:r>
              <a:rPr lang="en-US" altLang="zh-TW" dirty="0"/>
              <a:t>]. Otherwise, define the </a:t>
            </a:r>
            <a:r>
              <a:rPr lang="en-US" altLang="zh-TW" dirty="0" err="1"/>
              <a:t>subregion</a:t>
            </a:r>
            <a:r>
              <a:rPr lang="en-US" altLang="zh-TW" dirty="0"/>
              <a:t> </a:t>
            </a:r>
            <a:r>
              <a:rPr lang="en-US" altLang="zh-TW" i="1" dirty="0" err="1"/>
              <a:t>R</a:t>
            </a:r>
            <a:r>
              <a:rPr lang="en-US" altLang="zh-TW" i="1" baseline="-25000" dirty="0" err="1"/>
              <a:t>even</a:t>
            </a:r>
            <a:r>
              <a:rPr lang="en-US" altLang="zh-TW" dirty="0"/>
              <a:t>(</a:t>
            </a:r>
            <a:r>
              <a:rPr lang="en-US" altLang="zh-TW" i="1" dirty="0"/>
              <a:t>S, x</a:t>
            </a:r>
            <a:r>
              <a:rPr lang="en-US" altLang="zh-TW" baseline="-25000" dirty="0"/>
              <a:t>3</a:t>
            </a:r>
            <a:r>
              <a:rPr lang="en-US" altLang="zh-TW" i="1" dirty="0"/>
              <a:t>, v</a:t>
            </a:r>
            <a:r>
              <a:rPr lang="en-US" altLang="zh-TW" dirty="0"/>
              <a:t>) </a:t>
            </a:r>
            <a:r>
              <a:rPr lang="en-US" altLang="zh-TW" dirty="0" smtClean="0"/>
              <a:t>= </a:t>
            </a:r>
            <a:r>
              <a:rPr lang="pt-BR" altLang="zh-TW" dirty="0" smtClean="0"/>
              <a:t>[</a:t>
            </a:r>
            <a:r>
              <a:rPr lang="pt-BR" altLang="zh-TW" i="1" dirty="0"/>
              <a:t>p, q</a:t>
            </a:r>
            <a:r>
              <a:rPr lang="pt-BR" altLang="zh-TW" dirty="0"/>
              <a:t>] ∪</a:t>
            </a:r>
            <a:r>
              <a:rPr lang="pt-BR" altLang="zh-TW" i="1" dirty="0"/>
              <a:t> </a:t>
            </a:r>
            <a:r>
              <a:rPr lang="pt-BR" altLang="zh-TW" dirty="0"/>
              <a:t>[</a:t>
            </a:r>
            <a:r>
              <a:rPr lang="pt-BR" altLang="zh-TW" i="1" dirty="0"/>
              <a:t>r, x</a:t>
            </a:r>
            <a:r>
              <a:rPr lang="pt-BR" altLang="zh-TW" baseline="-25000" dirty="0"/>
              <a:t>3</a:t>
            </a:r>
            <a:r>
              <a:rPr lang="pt-BR" altLang="zh-TW" dirty="0"/>
              <a:t> </a:t>
            </a:r>
            <a:r>
              <a:rPr lang="pt-BR" altLang="zh-TW" i="1" dirty="0"/>
              <a:t>− </a:t>
            </a:r>
            <a:r>
              <a:rPr lang="pt-BR" altLang="zh-TW" dirty="0"/>
              <a:t>1] ∪</a:t>
            </a:r>
            <a:r>
              <a:rPr lang="pt-BR" altLang="zh-TW" i="1" dirty="0"/>
              <a:t> </a:t>
            </a:r>
            <a:r>
              <a:rPr lang="pt-BR" altLang="zh-TW" dirty="0"/>
              <a:t>[</a:t>
            </a:r>
            <a:r>
              <a:rPr lang="pt-BR" altLang="zh-TW" i="1" dirty="0"/>
              <a:t>s, y</a:t>
            </a:r>
            <a:r>
              <a:rPr lang="pt-BR" altLang="zh-TW" dirty="0"/>
              <a:t>].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Substructure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9070519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 is odd</a:t>
            </a:r>
          </a:p>
          <a:p>
            <a:pPr lvl="1"/>
            <a:r>
              <a:rPr lang="en-US" altLang="zh-TW" dirty="0" smtClean="0"/>
              <a:t>(p, q) paired</a:t>
            </a:r>
          </a:p>
          <a:p>
            <a:pPr lvl="1"/>
            <a:r>
              <a:rPr lang="en-US" altLang="zh-TW" dirty="0" smtClean="0"/>
              <a:t>p is single, q, r, s</a:t>
            </a:r>
            <a:r>
              <a:rPr lang="zh-TW" altLang="en-US" dirty="0" smtClean="0"/>
              <a:t>同理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(q, r), (p, r) are paired/ single</a:t>
            </a:r>
            <a:r>
              <a:rPr lang="zh-TW" altLang="en-US" dirty="0" smtClean="0"/>
              <a:t> 同理</a:t>
            </a:r>
            <a:endParaRPr lang="en-US" altLang="zh-TW" dirty="0" smtClean="0"/>
          </a:p>
          <a:p>
            <a:r>
              <a:rPr lang="en-US" altLang="zh-TW" dirty="0" smtClean="0"/>
              <a:t>t is even</a:t>
            </a:r>
            <a:r>
              <a:rPr lang="zh-TW" altLang="en-US" dirty="0" smtClean="0"/>
              <a:t>同理</a:t>
            </a:r>
            <a:endParaRPr lang="en-US" altLang="zh-TW" dirty="0" smtClean="0"/>
          </a:p>
          <a:p>
            <a:r>
              <a:rPr lang="en-US" altLang="zh-TW" dirty="0" smtClean="0"/>
              <a:t>(p, q, r, s)</a:t>
            </a:r>
            <a:r>
              <a:rPr lang="zh-TW" altLang="en-US" dirty="0" smtClean="0"/>
              <a:t>組合的演變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5177890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Dynamic Programming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2132856"/>
            <a:ext cx="8955405" cy="4606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6" y="1313706"/>
            <a:ext cx="8954940" cy="71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線接點 4"/>
          <p:cNvCxnSpPr/>
          <p:nvPr/>
        </p:nvCxnSpPr>
        <p:spPr>
          <a:xfrm>
            <a:off x="3347864" y="1988840"/>
            <a:ext cx="244827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6084168" y="1628800"/>
            <a:ext cx="14401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736565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56792"/>
            <a:ext cx="7286556" cy="469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347864" y="6381328"/>
            <a:ext cx="570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Note: </a:t>
            </a:r>
            <a:r>
              <a:rPr lang="zh-TW" altLang="en-US" dirty="0" smtClean="0"/>
              <a:t>本頁僅為方便說明各種情形，非本演算法之輸出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400260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Match Both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3785"/>
          <a:stretch/>
        </p:blipFill>
        <p:spPr bwMode="auto">
          <a:xfrm>
            <a:off x="1043608" y="3573016"/>
            <a:ext cx="7286556" cy="216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7102"/>
            <a:ext cx="8210365" cy="889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145116" y="364502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945316" y="370774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419872" y="3797424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582682" y="37974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87624" y="50131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975566" y="4969575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699116" y="482851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164288" y="496957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h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1622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Match Single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6024" y="2376012"/>
            <a:ext cx="8532440" cy="69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直線接點 14"/>
          <p:cNvCxnSpPr/>
          <p:nvPr/>
        </p:nvCxnSpPr>
        <p:spPr>
          <a:xfrm>
            <a:off x="827584" y="3789040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弧形 17"/>
          <p:cNvSpPr/>
          <p:nvPr/>
        </p:nvSpPr>
        <p:spPr>
          <a:xfrm>
            <a:off x="2195736" y="3284984"/>
            <a:ext cx="3816424" cy="1033264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03046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46890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2" name="直線接點 21"/>
          <p:cNvCxnSpPr/>
          <p:nvPr/>
        </p:nvCxnSpPr>
        <p:spPr>
          <a:xfrm>
            <a:off x="868633" y="4509120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026846" y="45811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364088" y="465313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825636" y="46531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55776" y="385175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555776" y="457183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</a:t>
            </a:r>
            <a:r>
              <a:rPr lang="en-US" altLang="zh-TW" dirty="0" smtClean="0">
                <a:solidFill>
                  <a:srgbClr val="FF0000"/>
                </a:solidFill>
              </a:rPr>
              <a:t>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220072" y="386104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899592" y="5301208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2720084" y="53732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886550" y="544522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022036" y="536017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186674" y="5435932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f-1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76865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Insert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9368"/>
            <a:ext cx="702945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827584" y="3789040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 6"/>
          <p:cNvSpPr/>
          <p:nvPr/>
        </p:nvSpPr>
        <p:spPr>
          <a:xfrm>
            <a:off x="2195736" y="3284984"/>
            <a:ext cx="3816424" cy="1033264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03046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46890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868633" y="4293096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547664" y="43651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868144" y="4437112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555776" y="385175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907704" y="435581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</a:t>
            </a:r>
            <a:r>
              <a:rPr lang="en-US" altLang="zh-TW" dirty="0" smtClean="0">
                <a:solidFill>
                  <a:srgbClr val="FF0000"/>
                </a:solidFill>
              </a:rPr>
              <a:t>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220072" y="386104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7" name="直線接點 16"/>
          <p:cNvCxnSpPr/>
          <p:nvPr/>
        </p:nvCxnSpPr>
        <p:spPr>
          <a:xfrm>
            <a:off x="899592" y="6002704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098854" y="601199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90606" y="608400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542854" y="388591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3" name="直線接點 22"/>
          <p:cNvCxnSpPr/>
          <p:nvPr/>
        </p:nvCxnSpPr>
        <p:spPr>
          <a:xfrm>
            <a:off x="899592" y="5210616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形 23"/>
          <p:cNvSpPr/>
          <p:nvPr/>
        </p:nvSpPr>
        <p:spPr>
          <a:xfrm>
            <a:off x="2267744" y="4706560"/>
            <a:ext cx="3816424" cy="1033264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102474" y="528262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918898" y="528262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27784" y="527333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342516" y="528262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823652" y="6074712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f-1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771526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Delete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8113" y="1916832"/>
            <a:ext cx="886777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827584" y="3789040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 6"/>
          <p:cNvSpPr/>
          <p:nvPr/>
        </p:nvSpPr>
        <p:spPr>
          <a:xfrm>
            <a:off x="2195736" y="3284984"/>
            <a:ext cx="3816424" cy="1033264"/>
          </a:xfrm>
          <a:prstGeom prst="arc">
            <a:avLst>
              <a:gd name="adj1" fmla="val 10764675"/>
              <a:gd name="adj2" fmla="val 953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03046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46890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868633" y="4643844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28900" y="47158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389990" y="4715852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555776" y="385175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220072" y="386104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036878" y="465512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68144" y="47158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23381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other cases, (</a:t>
            </a:r>
            <a:r>
              <a:rPr lang="en-US" altLang="zh-TW" i="1" dirty="0"/>
              <a:t>q, r</a:t>
            </a:r>
            <a:r>
              <a:rPr lang="en-US" altLang="zh-TW" dirty="0"/>
              <a:t>) is a base pair or (</a:t>
            </a:r>
            <a:r>
              <a:rPr lang="en-US" altLang="zh-TW" i="1" dirty="0"/>
              <a:t>p, s</a:t>
            </a:r>
            <a:r>
              <a:rPr lang="en-US" altLang="zh-TW" dirty="0"/>
              <a:t>) is a base pair, are </a:t>
            </a:r>
            <a:r>
              <a:rPr lang="en-US" altLang="zh-TW" dirty="0" smtClean="0"/>
              <a:t>similar.</a:t>
            </a:r>
          </a:p>
          <a:p>
            <a:r>
              <a:rPr lang="en-US" altLang="zh-TW" dirty="0" smtClean="0"/>
              <a:t>Note that </a:t>
            </a:r>
            <a:r>
              <a:rPr lang="en-US" altLang="zh-TW" dirty="0"/>
              <a:t>if more than one such base pair exists (e.g. both (</a:t>
            </a:r>
            <a:r>
              <a:rPr lang="en-US" altLang="zh-TW" i="1" dirty="0"/>
              <a:t>q, r</a:t>
            </a:r>
            <a:r>
              <a:rPr lang="en-US" altLang="zh-TW" dirty="0"/>
              <a:t>) and (</a:t>
            </a:r>
            <a:r>
              <a:rPr lang="en-US" altLang="zh-TW" i="1" dirty="0"/>
              <a:t>p, s</a:t>
            </a:r>
            <a:r>
              <a:rPr lang="en-US" altLang="zh-TW" dirty="0"/>
              <a:t>) are </a:t>
            </a:r>
            <a:r>
              <a:rPr lang="en-US" altLang="zh-TW" dirty="0" smtClean="0"/>
              <a:t>base pairs</a:t>
            </a:r>
            <a:r>
              <a:rPr lang="en-US" altLang="zh-TW" dirty="0"/>
              <a:t>), we only need to follow the recursion on one of the pairs.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Other Base Pair 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772186"/>
            <a:ext cx="2116460" cy="304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5914818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 Base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534" y="1456953"/>
            <a:ext cx="9017962" cy="233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827584" y="4005064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2030466" y="407707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46890" y="407707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868633" y="4509120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026846" y="45811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868144" y="465313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555776" y="406778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562326" y="457183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</a:t>
            </a:r>
            <a:r>
              <a:rPr lang="en-US" altLang="zh-TW" dirty="0" smtClean="0">
                <a:solidFill>
                  <a:srgbClr val="FF0000"/>
                </a:solidFill>
              </a:rPr>
              <a:t>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7" name="直線接點 16"/>
          <p:cNvCxnSpPr/>
          <p:nvPr/>
        </p:nvCxnSpPr>
        <p:spPr>
          <a:xfrm>
            <a:off x="827584" y="5147900"/>
            <a:ext cx="698477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771800" y="52199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827095" y="529191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036878" y="52199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29704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there exists a set </a:t>
            </a:r>
            <a:r>
              <a:rPr lang="en-US" altLang="zh-TW" dirty="0" smtClean="0"/>
              <a:t>of base </a:t>
            </a:r>
            <a:r>
              <a:rPr lang="en-US" altLang="zh-TW" dirty="0"/>
              <a:t>pairs, say {(</a:t>
            </a:r>
            <a:r>
              <a:rPr lang="en-US" altLang="zh-TW" i="1" dirty="0"/>
              <a:t>i</a:t>
            </a:r>
            <a:r>
              <a:rPr lang="en-US" altLang="zh-TW" baseline="-25000" dirty="0"/>
              <a:t>1</a:t>
            </a:r>
            <a:r>
              <a:rPr lang="en-US" altLang="zh-TW" i="1" dirty="0"/>
              <a:t>, j</a:t>
            </a:r>
            <a:r>
              <a:rPr lang="en-US" altLang="zh-TW" baseline="-25000" dirty="0"/>
              <a:t>1</a:t>
            </a:r>
            <a:r>
              <a:rPr lang="en-US" altLang="zh-TW" dirty="0"/>
              <a:t>)</a:t>
            </a:r>
            <a:r>
              <a:rPr lang="en-US" altLang="zh-TW" i="1" dirty="0"/>
              <a:t>, ..., </a:t>
            </a:r>
            <a:r>
              <a:rPr lang="en-US" altLang="zh-TW" dirty="0"/>
              <a:t>(</a:t>
            </a:r>
            <a:r>
              <a:rPr lang="en-US" altLang="zh-TW" i="1" dirty="0"/>
              <a:t>i</a:t>
            </a:r>
            <a:r>
              <a:rPr lang="en-US" altLang="zh-TW" i="1" baseline="-25000" dirty="0"/>
              <a:t>d</a:t>
            </a:r>
            <a:r>
              <a:rPr lang="en-US" altLang="zh-TW" i="1" dirty="0"/>
              <a:t>, </a:t>
            </a:r>
            <a:r>
              <a:rPr lang="en-US" altLang="zh-TW" i="1" dirty="0" err="1"/>
              <a:t>j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)}, such that all </a:t>
            </a:r>
            <a:r>
              <a:rPr lang="en-US" altLang="zh-TW" i="1" dirty="0" err="1"/>
              <a:t>i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, </a:t>
            </a:r>
            <a:r>
              <a:rPr lang="en-US" altLang="zh-TW" i="1" dirty="0" err="1" smtClean="0"/>
              <a:t>j</a:t>
            </a:r>
            <a:r>
              <a:rPr lang="en-US" altLang="zh-TW" i="1" baseline="-25000" dirty="0" err="1" smtClean="0"/>
              <a:t>k</a:t>
            </a:r>
            <a:r>
              <a:rPr lang="en-US" altLang="zh-TW" i="1" baseline="-25000" dirty="0" smtClean="0"/>
              <a:t> </a:t>
            </a:r>
            <a:r>
              <a:rPr lang="en-US" altLang="zh-TW" dirty="0" smtClean="0"/>
              <a:t>(</a:t>
            </a:r>
            <a:r>
              <a:rPr lang="en-US" altLang="zh-TW" dirty="0"/>
              <a:t>1 </a:t>
            </a:r>
            <a:r>
              <a:rPr lang="en-US" altLang="zh-TW" i="1" dirty="0"/>
              <a:t>≤ k ≤ d</a:t>
            </a:r>
            <a:r>
              <a:rPr lang="en-US" altLang="zh-TW" dirty="0"/>
              <a:t>) equals </a:t>
            </a:r>
            <a:r>
              <a:rPr lang="en-US" altLang="zh-TW" dirty="0" smtClean="0"/>
              <a:t>to </a:t>
            </a:r>
            <a:r>
              <a:rPr lang="en-US" altLang="zh-TW" i="1" dirty="0" smtClean="0"/>
              <a:t>p </a:t>
            </a:r>
            <a:r>
              <a:rPr lang="en-US" altLang="zh-TW" dirty="0"/>
              <a:t>(if </a:t>
            </a:r>
            <a:r>
              <a:rPr lang="en-US" altLang="zh-TW" i="1" dirty="0"/>
              <a:t>x ≤ p &lt; x</a:t>
            </a:r>
            <a:r>
              <a:rPr lang="en-US" altLang="zh-TW" baseline="-25000" dirty="0"/>
              <a:t>1</a:t>
            </a:r>
            <a:r>
              <a:rPr lang="en-US" altLang="zh-TW" dirty="0"/>
              <a:t>), </a:t>
            </a:r>
            <a:r>
              <a:rPr lang="en-US" altLang="zh-TW" i="1" dirty="0"/>
              <a:t>q </a:t>
            </a:r>
            <a:r>
              <a:rPr lang="en-US" altLang="zh-TW" dirty="0"/>
              <a:t>(if </a:t>
            </a:r>
            <a:r>
              <a:rPr lang="en-US" altLang="zh-TW" i="1" dirty="0"/>
              <a:t>x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i="1" dirty="0"/>
              <a:t>≤ q &lt; x</a:t>
            </a:r>
            <a:r>
              <a:rPr lang="en-US" altLang="zh-TW" baseline="-25000" dirty="0"/>
              <a:t>2</a:t>
            </a:r>
            <a:r>
              <a:rPr lang="en-US" altLang="zh-TW" dirty="0"/>
              <a:t>), </a:t>
            </a:r>
            <a:r>
              <a:rPr lang="en-US" altLang="zh-TW" i="1" dirty="0"/>
              <a:t>r </a:t>
            </a:r>
            <a:r>
              <a:rPr lang="en-US" altLang="zh-TW" dirty="0"/>
              <a:t>(if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en-US" altLang="zh-TW" i="1" dirty="0"/>
              <a:t>≤ r &lt; x</a:t>
            </a:r>
            <a:r>
              <a:rPr lang="en-US" altLang="zh-TW" baseline="-25000" dirty="0"/>
              <a:t>3</a:t>
            </a:r>
            <a:r>
              <a:rPr lang="en-US" altLang="zh-TW" dirty="0"/>
              <a:t>) or </a:t>
            </a:r>
            <a:r>
              <a:rPr lang="en-US" altLang="zh-TW" i="1" dirty="0"/>
              <a:t>s </a:t>
            </a:r>
            <a:r>
              <a:rPr lang="en-US" altLang="zh-TW" dirty="0"/>
              <a:t>(if </a:t>
            </a:r>
            <a:r>
              <a:rPr lang="en-US" altLang="zh-TW" i="1" dirty="0"/>
              <a:t>x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en-US" altLang="zh-TW" i="1" dirty="0"/>
              <a:t>≤ s ≤ y</a:t>
            </a:r>
            <a:r>
              <a:rPr lang="en-US" altLang="zh-TW" dirty="0" smtClean="0"/>
              <a:t>), then </a:t>
            </a:r>
            <a:r>
              <a:rPr lang="en-US" altLang="zh-TW" i="1" dirty="0" err="1"/>
              <a:t>pair</a:t>
            </a:r>
            <a:r>
              <a:rPr lang="en-US" altLang="zh-TW" i="1" baseline="-25000" dirty="0" err="1"/>
              <a:t>min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 is the pair with minimum value of </a:t>
            </a:r>
            <a:r>
              <a:rPr lang="en-US" altLang="zh-TW" i="1" dirty="0"/>
              <a:t>i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Migration of (p, q, r, s)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1430" y="3717032"/>
            <a:ext cx="84010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805376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</a:t>
            </a:r>
            <a:r>
              <a:rPr lang="en-US" altLang="zh-TW" dirty="0" smtClean="0"/>
              <a:t>f </a:t>
            </a:r>
            <a:r>
              <a:rPr lang="en-US" altLang="zh-TW" dirty="0"/>
              <a:t>there exists </a:t>
            </a:r>
            <a:r>
              <a:rPr lang="en-US" altLang="zh-TW" dirty="0" smtClean="0"/>
              <a:t>a set </a:t>
            </a:r>
            <a:r>
              <a:rPr lang="en-US" altLang="zh-TW" dirty="0"/>
              <a:t>of single bases (i.e. the positions which do not belong to any base pair</a:t>
            </a:r>
            <a:r>
              <a:rPr lang="en-US" altLang="zh-TW" dirty="0" smtClean="0"/>
              <a:t>), say </a:t>
            </a:r>
            <a:r>
              <a:rPr lang="en-US" altLang="zh-TW" i="1" dirty="0"/>
              <a:t>{u</a:t>
            </a:r>
            <a:r>
              <a:rPr lang="en-US" altLang="zh-TW" baseline="-25000" dirty="0"/>
              <a:t>1</a:t>
            </a:r>
            <a:r>
              <a:rPr lang="en-US" altLang="zh-TW" i="1" dirty="0"/>
              <a:t>, ..., </a:t>
            </a:r>
            <a:r>
              <a:rPr lang="en-US" altLang="zh-TW" i="1" dirty="0" err="1"/>
              <a:t>u</a:t>
            </a:r>
            <a:r>
              <a:rPr lang="en-US" altLang="zh-TW" i="1" baseline="-25000" dirty="0" err="1"/>
              <a:t>d</a:t>
            </a:r>
            <a:r>
              <a:rPr lang="en-US" altLang="zh-TW" i="1" dirty="0"/>
              <a:t>}</a:t>
            </a:r>
            <a:r>
              <a:rPr lang="en-US" altLang="zh-TW" dirty="0"/>
              <a:t>, such that all </a:t>
            </a:r>
            <a:r>
              <a:rPr lang="en-US" altLang="zh-TW" i="1" dirty="0" err="1"/>
              <a:t>u</a:t>
            </a:r>
            <a:r>
              <a:rPr lang="en-US" altLang="zh-TW" i="1" baseline="-25000" dirty="0" err="1"/>
              <a:t>k</a:t>
            </a:r>
            <a:r>
              <a:rPr lang="en-US" altLang="zh-TW" dirty="0"/>
              <a:t>(1 </a:t>
            </a:r>
            <a:r>
              <a:rPr lang="en-US" altLang="zh-TW" i="1" dirty="0"/>
              <a:t>≤ k ≤ d</a:t>
            </a:r>
            <a:r>
              <a:rPr lang="en-US" altLang="zh-TW" dirty="0"/>
              <a:t>) equals to </a:t>
            </a:r>
            <a:r>
              <a:rPr lang="en-US" altLang="zh-TW" i="1" dirty="0"/>
              <a:t>p </a:t>
            </a:r>
            <a:r>
              <a:rPr lang="en-US" altLang="zh-TW" dirty="0"/>
              <a:t>(if </a:t>
            </a:r>
            <a:r>
              <a:rPr lang="en-US" altLang="zh-TW" i="1" dirty="0"/>
              <a:t>x ≤ p &lt; x</a:t>
            </a:r>
            <a:r>
              <a:rPr lang="en-US" altLang="zh-TW" baseline="-25000" dirty="0"/>
              <a:t>1</a:t>
            </a:r>
            <a:r>
              <a:rPr lang="en-US" altLang="zh-TW" dirty="0" smtClean="0"/>
              <a:t>), </a:t>
            </a:r>
            <a:r>
              <a:rPr lang="en-US" altLang="zh-TW" i="1" dirty="0" smtClean="0"/>
              <a:t>q </a:t>
            </a:r>
            <a:r>
              <a:rPr lang="en-US" altLang="zh-TW" dirty="0"/>
              <a:t>(if </a:t>
            </a:r>
            <a:r>
              <a:rPr lang="en-US" altLang="zh-TW" i="1" dirty="0"/>
              <a:t>x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i="1" dirty="0"/>
              <a:t>≤ q &lt; x</a:t>
            </a:r>
            <a:r>
              <a:rPr lang="en-US" altLang="zh-TW" baseline="-25000" dirty="0"/>
              <a:t>2</a:t>
            </a:r>
            <a:r>
              <a:rPr lang="en-US" altLang="zh-TW" dirty="0"/>
              <a:t>), </a:t>
            </a:r>
            <a:r>
              <a:rPr lang="en-US" altLang="zh-TW" i="1" dirty="0"/>
              <a:t>r </a:t>
            </a:r>
            <a:r>
              <a:rPr lang="en-US" altLang="zh-TW" dirty="0"/>
              <a:t>(if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en-US" altLang="zh-TW" i="1" dirty="0"/>
              <a:t>≤ r &lt; x</a:t>
            </a:r>
            <a:r>
              <a:rPr lang="en-US" altLang="zh-TW" baseline="-25000" dirty="0"/>
              <a:t>3</a:t>
            </a:r>
            <a:r>
              <a:rPr lang="en-US" altLang="zh-TW" dirty="0"/>
              <a:t>) or </a:t>
            </a:r>
            <a:r>
              <a:rPr lang="en-US" altLang="zh-TW" i="1" dirty="0"/>
              <a:t>s </a:t>
            </a:r>
            <a:r>
              <a:rPr lang="en-US" altLang="zh-TW" dirty="0"/>
              <a:t>(if </a:t>
            </a:r>
            <a:r>
              <a:rPr lang="en-US" altLang="zh-TW" i="1" dirty="0"/>
              <a:t>x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en-US" altLang="zh-TW" i="1" dirty="0"/>
              <a:t>≤ s ≤ y</a:t>
            </a:r>
            <a:r>
              <a:rPr lang="en-US" altLang="zh-TW" dirty="0"/>
              <a:t>), then </a:t>
            </a:r>
            <a:r>
              <a:rPr lang="en-US" altLang="zh-TW" i="1" dirty="0" err="1"/>
              <a:t>single</a:t>
            </a:r>
            <a:r>
              <a:rPr lang="en-US" altLang="zh-TW" i="1" baseline="-25000" dirty="0" err="1"/>
              <a:t>min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 </a:t>
            </a:r>
            <a:r>
              <a:rPr lang="en-US" altLang="zh-TW" dirty="0" smtClean="0"/>
              <a:t>is the </a:t>
            </a:r>
            <a:r>
              <a:rPr lang="en-US" altLang="zh-TW" dirty="0"/>
              <a:t>one with minimum value.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Migration of (p, q, r, s)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008" y="4077072"/>
            <a:ext cx="9036496" cy="2305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384308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any sequence </a:t>
            </a:r>
            <a:r>
              <a:rPr lang="en-US" altLang="zh-TW" i="1" dirty="0"/>
              <a:t>S</a:t>
            </a:r>
            <a:r>
              <a:rPr lang="en-US" altLang="zh-TW" dirty="0"/>
              <a:t>[1..</a:t>
            </a:r>
            <a:r>
              <a:rPr lang="en-US" altLang="zh-TW" i="1" dirty="0"/>
              <a:t>m</a:t>
            </a:r>
            <a:r>
              <a:rPr lang="en-US" altLang="zh-TW" dirty="0"/>
              <a:t>] with simple non-standard </a:t>
            </a:r>
            <a:r>
              <a:rPr lang="en-US" altLang="zh-TW" dirty="0" err="1"/>
              <a:t>pseudoknot</a:t>
            </a:r>
            <a:r>
              <a:rPr lang="en-US" altLang="zh-TW" dirty="0"/>
              <a:t> </a:t>
            </a:r>
            <a:r>
              <a:rPr lang="en-US" altLang="zh-TW" dirty="0" smtClean="0"/>
              <a:t>of degree </a:t>
            </a:r>
            <a:r>
              <a:rPr lang="en-US" altLang="zh-TW" dirty="0"/>
              <a:t>4 and any sequence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[1</a:t>
            </a:r>
            <a:r>
              <a:rPr lang="en-US" altLang="zh-TW" dirty="0"/>
              <a:t>..</a:t>
            </a:r>
            <a:r>
              <a:rPr lang="en-US" altLang="zh-TW" i="1" dirty="0"/>
              <a:t>n</a:t>
            </a:r>
            <a:r>
              <a:rPr lang="en-US" altLang="zh-TW" dirty="0"/>
              <a:t>], let </a:t>
            </a:r>
            <a:r>
              <a:rPr lang="en-US" altLang="zh-TW" i="1" dirty="0"/>
              <a:t>c</a:t>
            </a:r>
            <a:r>
              <a:rPr lang="en-US" altLang="zh-TW" dirty="0"/>
              <a:t> be the max length of [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n</a:t>
            </a:r>
            <a:r>
              <a:rPr lang="en-US" altLang="zh-TW" dirty="0"/>
              <a:t>], the </a:t>
            </a:r>
            <a:r>
              <a:rPr lang="en-US" altLang="zh-TW" dirty="0" smtClean="0"/>
              <a:t>optimal alignment </a:t>
            </a:r>
            <a:r>
              <a:rPr lang="en-US" altLang="zh-TW" dirty="0"/>
              <a:t>score between </a:t>
            </a:r>
            <a:r>
              <a:rPr lang="en-US" altLang="zh-TW" i="1" dirty="0"/>
              <a:t>S</a:t>
            </a:r>
            <a:r>
              <a:rPr lang="en-US" altLang="zh-TW" dirty="0"/>
              <a:t>[1..</a:t>
            </a:r>
            <a:r>
              <a:rPr lang="en-US" altLang="zh-TW" i="1" dirty="0"/>
              <a:t>m</a:t>
            </a:r>
            <a:r>
              <a:rPr lang="en-US" altLang="zh-TW" dirty="0"/>
              <a:t>] and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[1</a:t>
            </a:r>
            <a:r>
              <a:rPr lang="en-US" altLang="zh-TW" dirty="0"/>
              <a:t>..</a:t>
            </a:r>
            <a:r>
              <a:rPr lang="en-US" altLang="zh-TW" i="1" dirty="0"/>
              <a:t>n</a:t>
            </a:r>
            <a:r>
              <a:rPr lang="en-US" altLang="zh-TW" dirty="0"/>
              <a:t>] can be computed in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cmn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).</a:t>
            </a:r>
          </a:p>
          <a:p>
            <a:r>
              <a:rPr lang="en-US" altLang="zh-TW" dirty="0" smtClean="0"/>
              <a:t>All (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f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h</a:t>
            </a:r>
            <a:r>
              <a:rPr lang="en-US" altLang="zh-TW" dirty="0" smtClean="0"/>
              <a:t>) takes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/>
              <a:t>n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There are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) (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)’s required to find.</a:t>
            </a:r>
          </a:p>
          <a:p>
            <a:r>
              <a:rPr lang="en-US" altLang="zh-TW" dirty="0" smtClean="0"/>
              <a:t>When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 is even, we need to find trough all 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 for Degree 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919669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Note that the factor </a:t>
            </a:r>
            <a:r>
              <a:rPr lang="en-US" altLang="zh-TW" i="1" dirty="0"/>
              <a:t>c </a:t>
            </a:r>
            <a:r>
              <a:rPr lang="en-US" altLang="zh-TW" dirty="0"/>
              <a:t>is only needed when </a:t>
            </a:r>
            <a:r>
              <a:rPr lang="en-US" altLang="zh-TW" i="1" dirty="0"/>
              <a:t>t </a:t>
            </a:r>
            <a:r>
              <a:rPr lang="en-US" altLang="zh-TW" dirty="0"/>
              <a:t>is even due to the extra </a:t>
            </a:r>
            <a:r>
              <a:rPr lang="en-US" altLang="zh-TW" dirty="0" smtClean="0"/>
              <a:t>parameter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3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examined all sequences in </a:t>
            </a:r>
            <a:r>
              <a:rPr lang="en-US" altLang="zh-TW" dirty="0" err="1"/>
              <a:t>Rfam</a:t>
            </a:r>
            <a:r>
              <a:rPr lang="en-US" altLang="zh-TW" dirty="0"/>
              <a:t> and </a:t>
            </a:r>
            <a:r>
              <a:rPr lang="en-US" altLang="zh-TW" dirty="0" err="1"/>
              <a:t>PseudoBase</a:t>
            </a:r>
            <a:r>
              <a:rPr lang="en-US" altLang="zh-TW" dirty="0"/>
              <a:t>, we found that </a:t>
            </a:r>
            <a:r>
              <a:rPr lang="en-US" altLang="zh-TW" dirty="0" smtClean="0"/>
              <a:t>usually the </a:t>
            </a:r>
            <a:r>
              <a:rPr lang="en-US" altLang="zh-TW" dirty="0"/>
              <a:t>length of the final segment </a:t>
            </a:r>
            <a:r>
              <a:rPr lang="en-US" altLang="zh-TW" i="1" dirty="0"/>
              <a:t>c </a:t>
            </a:r>
            <a:r>
              <a:rPr lang="en-US" altLang="zh-TW" dirty="0"/>
              <a:t>is short (</a:t>
            </a:r>
            <a:r>
              <a:rPr lang="en-US" altLang="zh-TW" i="1" dirty="0"/>
              <a:t>&lt; </a:t>
            </a:r>
            <a:r>
              <a:rPr lang="en-US" altLang="zh-TW" dirty="0"/>
              <a:t>15) and the average length is </a:t>
            </a:r>
            <a:r>
              <a:rPr lang="en-US" altLang="zh-TW" dirty="0" smtClean="0"/>
              <a:t>only 5.4 </a:t>
            </a:r>
            <a:r>
              <a:rPr lang="en-US" altLang="zh-TW" dirty="0"/>
              <a:t>with most of the cases having lengths from 5 to 7. </a:t>
            </a:r>
            <a:endParaRPr lang="en-US" altLang="zh-TW" dirty="0" smtClean="0"/>
          </a:p>
          <a:p>
            <a:r>
              <a:rPr lang="en-US" altLang="zh-TW" dirty="0" smtClean="0"/>
              <a:t>So</a:t>
            </a:r>
            <a:r>
              <a:rPr lang="en-US" altLang="zh-TW" dirty="0"/>
              <a:t>, we can assume that </a:t>
            </a:r>
            <a:r>
              <a:rPr lang="en-US" altLang="zh-TW" i="1" dirty="0"/>
              <a:t>c </a:t>
            </a:r>
            <a:r>
              <a:rPr lang="en-US" altLang="zh-TW" dirty="0" smtClean="0"/>
              <a:t>is a </a:t>
            </a:r>
            <a:r>
              <a:rPr lang="en-US" altLang="zh-TW" dirty="0"/>
              <a:t>constant.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</a:t>
            </a:r>
            <a:r>
              <a:rPr lang="en-US" altLang="zh-TW" dirty="0" smtClean="0"/>
              <a:t>Complexity for </a:t>
            </a:r>
            <a:r>
              <a:rPr lang="en-US" altLang="zh-TW" dirty="0"/>
              <a:t>Degree 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865387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any sequence </a:t>
            </a:r>
            <a:r>
              <a:rPr lang="en-US" altLang="zh-TW" i="1" dirty="0"/>
              <a:t>S</a:t>
            </a:r>
            <a:r>
              <a:rPr lang="en-US" altLang="zh-TW" dirty="0"/>
              <a:t>[1..</a:t>
            </a:r>
            <a:r>
              <a:rPr lang="en-US" altLang="zh-TW" i="1" dirty="0"/>
              <a:t>m</a:t>
            </a:r>
            <a:r>
              <a:rPr lang="en-US" altLang="zh-TW" dirty="0"/>
              <a:t>] with simple non-standard </a:t>
            </a:r>
            <a:r>
              <a:rPr lang="en-US" altLang="zh-TW" dirty="0" err="1"/>
              <a:t>pseudoknot</a:t>
            </a:r>
            <a:r>
              <a:rPr lang="en-US" altLang="zh-TW" dirty="0"/>
              <a:t> </a:t>
            </a:r>
            <a:r>
              <a:rPr lang="en-US" altLang="zh-TW" dirty="0" smtClean="0"/>
              <a:t>of degree </a:t>
            </a:r>
            <a:r>
              <a:rPr lang="en-US" altLang="zh-TW" i="1" dirty="0"/>
              <a:t>k</a:t>
            </a:r>
            <a:r>
              <a:rPr lang="en-US" altLang="zh-TW" dirty="0"/>
              <a:t> and any sequence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[1</a:t>
            </a:r>
            <a:r>
              <a:rPr lang="en-US" altLang="zh-TW" dirty="0"/>
              <a:t>...</a:t>
            </a:r>
            <a:r>
              <a:rPr lang="en-US" altLang="zh-TW" i="1" dirty="0"/>
              <a:t>n</a:t>
            </a:r>
            <a:r>
              <a:rPr lang="en-US" altLang="zh-TW" dirty="0"/>
              <a:t>], the optimal alignment score between </a:t>
            </a:r>
            <a:r>
              <a:rPr lang="en-US" altLang="zh-TW" i="1" dirty="0"/>
              <a:t>S</a:t>
            </a:r>
            <a:r>
              <a:rPr lang="en-US" altLang="zh-TW" dirty="0"/>
              <a:t>[1..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] and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[1</a:t>
            </a:r>
            <a:r>
              <a:rPr lang="en-US" altLang="zh-TW" dirty="0"/>
              <a:t>..</a:t>
            </a:r>
            <a:r>
              <a:rPr lang="en-US" altLang="zh-TW" i="1" dirty="0"/>
              <a:t>n</a:t>
            </a:r>
            <a:r>
              <a:rPr lang="en-US" altLang="zh-TW" dirty="0"/>
              <a:t>] can be computed 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 err="1"/>
              <a:t>kmn</a:t>
            </a:r>
            <a:r>
              <a:rPr lang="en-US" altLang="zh-TW" i="1" baseline="30000" dirty="0" err="1"/>
              <a:t>k</a:t>
            </a:r>
            <a:r>
              <a:rPr lang="en-US" altLang="zh-TW" dirty="0"/>
              <a:t>).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 for Degree </a:t>
            </a:r>
            <a:r>
              <a:rPr lang="en-US" altLang="zh-TW" i="1" dirty="0" smtClean="0"/>
              <a:t>k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xmlns="" val="25977088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</a:t>
            </a:r>
            <a:r>
              <a:rPr lang="en-US" altLang="zh-TW" dirty="0" err="1"/>
              <a:t>Pseudoknot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16770"/>
            <a:ext cx="8839299" cy="390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732346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Dynamic Programming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008" y="1269783"/>
            <a:ext cx="9036496" cy="2735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3994158"/>
            <a:ext cx="8352928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1331640" y="465313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755104" y="465313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y</a:t>
            </a:r>
            <a:r>
              <a:rPr lang="en-US" altLang="zh-TW" baseline="-25000" dirty="0" err="1" smtClean="0">
                <a:solidFill>
                  <a:srgbClr val="FF0000"/>
                </a:solidFill>
              </a:rPr>
              <a:t>p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12160" y="471585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y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p</a:t>
            </a:r>
            <a:r>
              <a:rPr lang="en-US" altLang="zh-TW" dirty="0" smtClean="0">
                <a:solidFill>
                  <a:srgbClr val="FF0000"/>
                </a:solidFill>
              </a:rPr>
              <a:t>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244408" y="479715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971600" y="5373216"/>
            <a:ext cx="7603348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1331640" y="53732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793576" y="544522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081608" y="54452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w+1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295619" y="545797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92095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To compute the optimal alignment score between a query sequence </a:t>
                </a:r>
                <a:r>
                  <a:rPr lang="en-US" altLang="zh-TW" i="1" dirty="0" smtClean="0"/>
                  <a:t>S</a:t>
                </a:r>
                <a:r>
                  <a:rPr lang="en-US" altLang="zh-TW" dirty="0" smtClean="0"/>
                  <a:t>[1</a:t>
                </a:r>
                <a:r>
                  <a:rPr lang="en-US" altLang="zh-TW" dirty="0"/>
                  <a:t>...</a:t>
                </a:r>
                <a:r>
                  <a:rPr lang="en-US" altLang="zh-TW" i="1" dirty="0"/>
                  <a:t>m</a:t>
                </a:r>
                <a:r>
                  <a:rPr lang="en-US" altLang="zh-TW" dirty="0"/>
                  <a:t>] with recursive </a:t>
                </a:r>
                <a:r>
                  <a:rPr lang="en-US" altLang="zh-TW" dirty="0" err="1"/>
                  <a:t>pseudoknot</a:t>
                </a:r>
                <a:r>
                  <a:rPr lang="en-US" altLang="zh-TW" dirty="0"/>
                  <a:t> of degree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(≥ 4) and a target </a:t>
                </a:r>
                <a:r>
                  <a:rPr lang="en-US" altLang="zh-TW" dirty="0" smtClean="0"/>
                  <a:t>sequence 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[1</a:t>
                </a:r>
                <a:r>
                  <a:rPr lang="en-US" altLang="zh-TW" dirty="0"/>
                  <a:t>...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], it can be done with the following time </a:t>
                </a:r>
                <a:r>
                  <a:rPr lang="en-US" altLang="zh-TW" dirty="0" smtClean="0"/>
                  <a:t>complexity</a:t>
                </a: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𝑘𝑚</m:t>
                                    </m:r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it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odd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structure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𝑚</m:t>
                                    </m:r>
                                    <m:sSup>
                                      <m:sSup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+2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>
                                    <a:latin typeface="Cambria Math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it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even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latin typeface="Cambria Math"/>
                                  </a:rPr>
                                  <m:t>structure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t="-1213" r="-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65575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selected two families in </a:t>
            </a:r>
            <a:r>
              <a:rPr lang="en-US" altLang="zh-TW" dirty="0" err="1"/>
              <a:t>Rfam</a:t>
            </a:r>
            <a:r>
              <a:rPr lang="en-US" altLang="zh-TW" dirty="0"/>
              <a:t> 9.1 database to test the effectiveness of </a:t>
            </a:r>
            <a:r>
              <a:rPr lang="en-US" altLang="zh-TW" dirty="0" smtClean="0"/>
              <a:t>our algorithms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RF00094</a:t>
            </a:r>
            <a:r>
              <a:rPr lang="en-US" altLang="zh-TW" dirty="0" smtClean="0"/>
              <a:t> </a:t>
            </a:r>
            <a:r>
              <a:rPr lang="en-US" altLang="zh-TW" dirty="0"/>
              <a:t>is a family with members having </a:t>
            </a:r>
            <a:r>
              <a:rPr lang="en-US" altLang="zh-TW" dirty="0">
                <a:solidFill>
                  <a:srgbClr val="FF0000"/>
                </a:solidFill>
              </a:rPr>
              <a:t>recursive </a:t>
            </a:r>
            <a:r>
              <a:rPr lang="en-US" altLang="zh-TW" dirty="0" err="1" smtClean="0">
                <a:solidFill>
                  <a:srgbClr val="FF0000"/>
                </a:solidFill>
              </a:rPr>
              <a:t>pseudoknots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RF00140</a:t>
            </a:r>
            <a:r>
              <a:rPr lang="en-US" altLang="zh-TW" dirty="0"/>
              <a:t> is another with members having </a:t>
            </a:r>
            <a:r>
              <a:rPr lang="en-US" altLang="zh-TW" dirty="0">
                <a:solidFill>
                  <a:srgbClr val="FF0000"/>
                </a:solidFill>
              </a:rPr>
              <a:t>simple non-standard </a:t>
            </a:r>
            <a:r>
              <a:rPr lang="en-US" altLang="zh-TW" dirty="0" err="1">
                <a:solidFill>
                  <a:srgbClr val="FF0000"/>
                </a:solidFill>
              </a:rPr>
              <a:t>pseudoknots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Both structures of RF00094 and RF00140 are of degree </a:t>
            </a:r>
            <a:r>
              <a:rPr lang="en-US" altLang="zh-TW" dirty="0" smtClean="0"/>
              <a:t>4.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Dataset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028731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Since </a:t>
            </a:r>
            <a:r>
              <a:rPr lang="en-US" altLang="zh-TW" dirty="0"/>
              <a:t>there is no existing </a:t>
            </a:r>
            <a:r>
              <a:rPr lang="en-US" altLang="zh-TW" dirty="0" smtClean="0"/>
              <a:t>software which </a:t>
            </a:r>
            <a:r>
              <a:rPr lang="en-US" altLang="zh-TW" dirty="0"/>
              <a:t>can perform structural alignment for complex </a:t>
            </a:r>
            <a:r>
              <a:rPr lang="en-US" altLang="zh-TW" dirty="0" err="1"/>
              <a:t>pseudoknot</a:t>
            </a:r>
            <a:r>
              <a:rPr lang="en-US" altLang="zh-TW" dirty="0"/>
              <a:t> </a:t>
            </a:r>
            <a:r>
              <a:rPr lang="en-US" altLang="zh-TW" dirty="0" smtClean="0"/>
              <a:t>structure, we </a:t>
            </a:r>
            <a:r>
              <a:rPr lang="en-US" altLang="zh-TW" dirty="0"/>
              <a:t>compared the performance of our programs with </a:t>
            </a:r>
            <a:r>
              <a:rPr lang="en-US" altLang="zh-TW" dirty="0" smtClean="0"/>
              <a:t>BLAST.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use </a:t>
            </a:r>
            <a:r>
              <a:rPr lang="en-US" altLang="zh-TW" dirty="0" smtClean="0"/>
              <a:t>default parameters </a:t>
            </a:r>
            <a:r>
              <a:rPr lang="en-US" altLang="zh-TW" dirty="0"/>
              <a:t>for BLAST except the </a:t>
            </a:r>
            <a:r>
              <a:rPr lang="en-US" altLang="zh-TW" dirty="0" err="1"/>
              <a:t>wordsize</a:t>
            </a:r>
            <a:r>
              <a:rPr lang="en-US" altLang="zh-TW" dirty="0"/>
              <a:t> is set to 7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Although our method is not designed for generic </a:t>
            </a:r>
            <a:r>
              <a:rPr lang="en-US" altLang="zh-TW" dirty="0" err="1"/>
              <a:t>pseudoknots</a:t>
            </a:r>
            <a:r>
              <a:rPr lang="en-US" altLang="zh-TW" dirty="0"/>
              <a:t>, we found </a:t>
            </a:r>
            <a:r>
              <a:rPr lang="en-US" altLang="zh-TW" dirty="0" smtClean="0"/>
              <a:t>that our </a:t>
            </a:r>
            <a:r>
              <a:rPr lang="en-US" altLang="zh-TW" dirty="0"/>
              <a:t>method already cover all </a:t>
            </a:r>
            <a:r>
              <a:rPr lang="en-US" altLang="zh-TW" dirty="0" err="1"/>
              <a:t>ncRNAs</a:t>
            </a:r>
            <a:r>
              <a:rPr lang="en-US" altLang="zh-TW" dirty="0"/>
              <a:t> with complex </a:t>
            </a:r>
            <a:r>
              <a:rPr lang="en-US" altLang="zh-TW" dirty="0" err="1"/>
              <a:t>pseudoknots</a:t>
            </a:r>
            <a:r>
              <a:rPr lang="en-US" altLang="zh-TW" dirty="0"/>
              <a:t> in both </a:t>
            </a:r>
            <a:r>
              <a:rPr lang="en-US" altLang="zh-TW" dirty="0" err="1" smtClean="0"/>
              <a:t>Rfam</a:t>
            </a:r>
            <a:r>
              <a:rPr lang="en-US" altLang="zh-TW" dirty="0" smtClean="0"/>
              <a:t> 9.1 </a:t>
            </a:r>
            <a:r>
              <a:rPr lang="en-US" altLang="zh-TW" dirty="0"/>
              <a:t>and </a:t>
            </a:r>
            <a:r>
              <a:rPr lang="en-US" altLang="zh-TW" dirty="0" err="1"/>
              <a:t>PseudoBase</a:t>
            </a:r>
            <a:r>
              <a:rPr lang="en-US" altLang="zh-TW" dirty="0"/>
              <a:t> databases.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645692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Comparison of resulting scores from our program and BLAST when </a:t>
            </a:r>
            <a:r>
              <a:rPr lang="en-US" altLang="zh-TW" dirty="0" smtClean="0"/>
              <a:t>scanning the </a:t>
            </a:r>
            <a:r>
              <a:rPr lang="en-US" altLang="zh-TW" dirty="0"/>
              <a:t>whole genome (AB118824) for family RF00094 using AB037948/685-775 as </a:t>
            </a:r>
            <a:r>
              <a:rPr lang="en-US" altLang="zh-TW" dirty="0" smtClean="0"/>
              <a:t>the query </a:t>
            </a:r>
            <a:r>
              <a:rPr lang="en-US" altLang="zh-TW" dirty="0"/>
              <a:t>sequence. The circled points are the known members of the same family </a:t>
            </a:r>
            <a:r>
              <a:rPr lang="en-US" altLang="zh-TW" dirty="0" smtClean="0"/>
              <a:t>in genome </a:t>
            </a:r>
            <a:r>
              <a:rPr lang="en-US" altLang="zh-TW" dirty="0"/>
              <a:t>AB118824.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860947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6238" y="1385888"/>
            <a:ext cx="8391525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714977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http://bioinformatics.oxfordjournals.org/content/early/2011/06/08/bioinformatics.btr338.full.pdf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F27AF-7B23-47B2-812F-5C2C0C896619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軟體</a:t>
            </a:r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1210</TotalTime>
  <Words>1630</Words>
  <Application>Microsoft Office PowerPoint</Application>
  <PresentationFormat>如螢幕大小 (4:3)</PresentationFormat>
  <Paragraphs>259</Paragraphs>
  <Slides>47</Slides>
  <Notes>0</Notes>
  <HiddenSlides>0</HiddenSlides>
  <MMClips>0</MMClips>
  <ScaleCrop>false</ScaleCrop>
  <HeadingPairs>
    <vt:vector size="8" baseType="variant">
      <vt:variant>
        <vt:lpstr>佈景主題</vt:lpstr>
      </vt:variant>
      <vt:variant>
        <vt:i4>1</vt:i4>
      </vt:variant>
      <vt:variant>
        <vt:lpstr>連結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47</vt:i4>
      </vt:variant>
    </vt:vector>
  </HeadingPairs>
  <TitlesOfParts>
    <vt:vector size="51" baseType="lpstr">
      <vt:lpstr>匯合</vt:lpstr>
      <vt:lpstr>C:\Documents and Settings\chuck\桌面\align_struc.vsd\Drawing\~Page-1\Sheet.132</vt:lpstr>
      <vt:lpstr>方程式</vt:lpstr>
      <vt:lpstr>Equation</vt:lpstr>
      <vt:lpstr>Structural Alignment of RNA with Complex Pseudoknot Structure</vt:lpstr>
      <vt:lpstr>Abstract</vt:lpstr>
      <vt:lpstr>Abstract</vt:lpstr>
      <vt:lpstr>Secondary Structure of RNA</vt:lpstr>
      <vt:lpstr>The RNA Maximum Base Pair Matching Problem</vt:lpstr>
      <vt:lpstr>Notations</vt:lpstr>
      <vt:lpstr>Case 1 of Matching</vt:lpstr>
      <vt:lpstr>Case 2 of Matching</vt:lpstr>
      <vt:lpstr>Case 3 of Matching</vt:lpstr>
      <vt:lpstr>Summary of the Algorithm</vt:lpstr>
      <vt:lpstr>Pseudoknots</vt:lpstr>
      <vt:lpstr>Example</vt:lpstr>
      <vt:lpstr>Previous Work</vt:lpstr>
      <vt:lpstr>Unhandled Case - 1</vt:lpstr>
      <vt:lpstr>Unhandled Case - 2</vt:lpstr>
      <vt:lpstr>Database</vt:lpstr>
      <vt:lpstr>Classes of Structures</vt:lpstr>
      <vt:lpstr>Regular Structure</vt:lpstr>
      <vt:lpstr>Standard Pseudoknot</vt:lpstr>
      <vt:lpstr>Simple non-standard Pseudoknot</vt:lpstr>
      <vt:lpstr>Recursive Pseudoknot</vt:lpstr>
      <vt:lpstr>Scoring Function</vt:lpstr>
      <vt:lpstr>Transformation</vt:lpstr>
      <vt:lpstr>Transformation</vt:lpstr>
      <vt:lpstr>Substructure</vt:lpstr>
      <vt:lpstr>Outline</vt:lpstr>
      <vt:lpstr>Dynamic Programming</vt:lpstr>
      <vt:lpstr>Example</vt:lpstr>
      <vt:lpstr>Match Both</vt:lpstr>
      <vt:lpstr>Match Single</vt:lpstr>
      <vt:lpstr>Insert</vt:lpstr>
      <vt:lpstr>Delete</vt:lpstr>
      <vt:lpstr>The Other Base Pair </vt:lpstr>
      <vt:lpstr>Single Base</vt:lpstr>
      <vt:lpstr>Migration of (p, q, r, s)</vt:lpstr>
      <vt:lpstr>Migration of (p, q, r, s)</vt:lpstr>
      <vt:lpstr>Time Complexity for Degree 4</vt:lpstr>
      <vt:lpstr>Time Complexity for Degree 4</vt:lpstr>
      <vt:lpstr>Time Complexity for Degree k</vt:lpstr>
      <vt:lpstr>Recursive Pseudoknot</vt:lpstr>
      <vt:lpstr>Dynamic Programming</vt:lpstr>
      <vt:lpstr>Time Complexity</vt:lpstr>
      <vt:lpstr>Dataset</vt:lpstr>
      <vt:lpstr>Result </vt:lpstr>
      <vt:lpstr>Result</vt:lpstr>
      <vt:lpstr>Result</vt:lpstr>
      <vt:lpstr>軟體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Alignment of RNA with Complex Pseudoknot Structure</dc:title>
  <dc:creator>ab</dc:creator>
  <cp:lastModifiedBy>Guest</cp:lastModifiedBy>
  <cp:revision>48</cp:revision>
  <dcterms:created xsi:type="dcterms:W3CDTF">2011-07-30T12:06:21Z</dcterms:created>
  <dcterms:modified xsi:type="dcterms:W3CDTF">2011-08-01T11:49:37Z</dcterms:modified>
</cp:coreProperties>
</file>