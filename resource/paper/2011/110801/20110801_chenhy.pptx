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72" r:id="rId4"/>
    <p:sldId id="293" r:id="rId5"/>
    <p:sldId id="300" r:id="rId6"/>
    <p:sldId id="315" r:id="rId7"/>
    <p:sldId id="312" r:id="rId8"/>
    <p:sldId id="313" r:id="rId9"/>
    <p:sldId id="324" r:id="rId10"/>
    <p:sldId id="326" r:id="rId11"/>
    <p:sldId id="325" r:id="rId12"/>
    <p:sldId id="323" r:id="rId13"/>
    <p:sldId id="316" r:id="rId14"/>
    <p:sldId id="317" r:id="rId15"/>
    <p:sldId id="318" r:id="rId16"/>
    <p:sldId id="319" r:id="rId17"/>
    <p:sldId id="320" r:id="rId18"/>
    <p:sldId id="321" r:id="rId19"/>
    <p:sldId id="327" r:id="rId20"/>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Calibri" pitchFamily="34" charset="0"/>
        <a:ea typeface="新細明體" charset="-120"/>
        <a:cs typeface="+mn-cs"/>
      </a:defRPr>
    </a:lvl1pPr>
    <a:lvl2pPr marL="457200" algn="l" rtl="0" fontAlgn="base">
      <a:spcBef>
        <a:spcPct val="0"/>
      </a:spcBef>
      <a:spcAft>
        <a:spcPct val="0"/>
      </a:spcAft>
      <a:defRPr kumimoji="1" kern="1200">
        <a:solidFill>
          <a:schemeClr val="tx1"/>
        </a:solidFill>
        <a:latin typeface="Calibri" pitchFamily="34" charset="0"/>
        <a:ea typeface="新細明體" charset="-120"/>
        <a:cs typeface="+mn-cs"/>
      </a:defRPr>
    </a:lvl2pPr>
    <a:lvl3pPr marL="914400" algn="l" rtl="0" fontAlgn="base">
      <a:spcBef>
        <a:spcPct val="0"/>
      </a:spcBef>
      <a:spcAft>
        <a:spcPct val="0"/>
      </a:spcAft>
      <a:defRPr kumimoji="1" kern="1200">
        <a:solidFill>
          <a:schemeClr val="tx1"/>
        </a:solidFill>
        <a:latin typeface="Calibri" pitchFamily="34" charset="0"/>
        <a:ea typeface="新細明體" charset="-120"/>
        <a:cs typeface="+mn-cs"/>
      </a:defRPr>
    </a:lvl3pPr>
    <a:lvl4pPr marL="1371600" algn="l" rtl="0" fontAlgn="base">
      <a:spcBef>
        <a:spcPct val="0"/>
      </a:spcBef>
      <a:spcAft>
        <a:spcPct val="0"/>
      </a:spcAft>
      <a:defRPr kumimoji="1" kern="1200">
        <a:solidFill>
          <a:schemeClr val="tx1"/>
        </a:solidFill>
        <a:latin typeface="Calibri" pitchFamily="34" charset="0"/>
        <a:ea typeface="新細明體" charset="-120"/>
        <a:cs typeface="+mn-cs"/>
      </a:defRPr>
    </a:lvl4pPr>
    <a:lvl5pPr marL="1828800" algn="l" rtl="0" fontAlgn="base">
      <a:spcBef>
        <a:spcPct val="0"/>
      </a:spcBef>
      <a:spcAft>
        <a:spcPct val="0"/>
      </a:spcAft>
      <a:defRPr kumimoji="1" kern="1200">
        <a:solidFill>
          <a:schemeClr val="tx1"/>
        </a:solidFill>
        <a:latin typeface="Calibri" pitchFamily="34" charset="0"/>
        <a:ea typeface="新細明體" charset="-120"/>
        <a:cs typeface="+mn-cs"/>
      </a:defRPr>
    </a:lvl5pPr>
    <a:lvl6pPr marL="2286000" algn="l" defTabSz="914400" rtl="0" eaLnBrk="1" latinLnBrk="0" hangingPunct="1">
      <a:defRPr kumimoji="1" kern="1200">
        <a:solidFill>
          <a:schemeClr val="tx1"/>
        </a:solidFill>
        <a:latin typeface="Calibri" pitchFamily="34" charset="0"/>
        <a:ea typeface="新細明體" charset="-120"/>
        <a:cs typeface="+mn-cs"/>
      </a:defRPr>
    </a:lvl6pPr>
    <a:lvl7pPr marL="2743200" algn="l" defTabSz="914400" rtl="0" eaLnBrk="1" latinLnBrk="0" hangingPunct="1">
      <a:defRPr kumimoji="1" kern="1200">
        <a:solidFill>
          <a:schemeClr val="tx1"/>
        </a:solidFill>
        <a:latin typeface="Calibri" pitchFamily="34" charset="0"/>
        <a:ea typeface="新細明體" charset="-120"/>
        <a:cs typeface="+mn-cs"/>
      </a:defRPr>
    </a:lvl7pPr>
    <a:lvl8pPr marL="3200400" algn="l" defTabSz="914400" rtl="0" eaLnBrk="1" latinLnBrk="0" hangingPunct="1">
      <a:defRPr kumimoji="1" kern="1200">
        <a:solidFill>
          <a:schemeClr val="tx1"/>
        </a:solidFill>
        <a:latin typeface="Calibri" pitchFamily="34" charset="0"/>
        <a:ea typeface="新細明體" charset="-120"/>
        <a:cs typeface="+mn-cs"/>
      </a:defRPr>
    </a:lvl8pPr>
    <a:lvl9pPr marL="3657600" algn="l" defTabSz="914400" rtl="0" eaLnBrk="1" latinLnBrk="0" hangingPunct="1">
      <a:defRPr kumimoji="1" kern="1200">
        <a:solidFill>
          <a:schemeClr val="tx1"/>
        </a:solidFill>
        <a:latin typeface="Calibri" pitchFamily="34" charset="0"/>
        <a:ea typeface="新細明體"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48" autoAdjust="0"/>
    <p:restoredTop sz="81784" autoAdjust="0"/>
  </p:normalViewPr>
  <p:slideViewPr>
    <p:cSldViewPr>
      <p:cViewPr varScale="1">
        <p:scale>
          <a:sx n="73" d="100"/>
          <a:sy n="73" d="100"/>
        </p:scale>
        <p:origin x="-426"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6EA5F3-94E4-4F7A-AC07-FCE66639B35A}" type="datetimeFigureOut">
              <a:rPr lang="zh-TW" altLang="en-US" smtClean="0"/>
              <a:pPr/>
              <a:t>2011/8/1</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75A31A-74A8-4798-85F1-ED8970345F52}" type="slidenum">
              <a:rPr lang="zh-TW" altLang="en-US" smtClean="0"/>
              <a:pPr/>
              <a:t>‹#›</a:t>
            </a:fld>
            <a:endParaRPr lang="zh-TW" altLang="en-US"/>
          </a:p>
        </p:txBody>
      </p:sp>
    </p:spTree>
    <p:extLst>
      <p:ext uri="{BB962C8B-B14F-4D97-AF65-F5344CB8AC3E}">
        <p14:creationId xmlns:p14="http://schemas.microsoft.com/office/powerpoint/2010/main" xmlns="" val="2860301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lvl1pPr>
              <a:defRPr/>
            </a:lvl1pPr>
          </a:lstStyle>
          <a:p>
            <a:pPr>
              <a:defRPr/>
            </a:pPr>
            <a:fld id="{F7A87D0A-8D72-4A12-B6F4-2D70E9050589}" type="datetimeFigureOut">
              <a:rPr lang="zh-TW" altLang="en-US"/>
              <a:pPr>
                <a:defRPr/>
              </a:pPr>
              <a:t>2011/8/1</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5484CF82-A9AE-4268-9497-FFC67A3ADAAC}" type="slidenum">
              <a:rPr lang="zh-TW" altLang="en-US"/>
              <a:pPr>
                <a:defRPr/>
              </a:pPr>
              <a:t>‹#›</a:t>
            </a:fld>
            <a:endParaRPr lang="zh-TW" altLang="en-US"/>
          </a:p>
        </p:txBody>
      </p:sp>
    </p:spTree>
    <p:extLst>
      <p:ext uri="{BB962C8B-B14F-4D97-AF65-F5344CB8AC3E}">
        <p14:creationId xmlns:p14="http://schemas.microsoft.com/office/powerpoint/2010/main" xmlns="" val="8801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225304AF-B224-4445-9AE4-B7650C7B3616}" type="datetimeFigureOut">
              <a:rPr lang="zh-TW" altLang="en-US"/>
              <a:pPr>
                <a:defRPr/>
              </a:pPr>
              <a:t>2011/8/1</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6162FDB3-9A8C-4355-8F1B-1FD935E6DAEE}" type="slidenum">
              <a:rPr lang="zh-TW" altLang="en-US"/>
              <a:pPr>
                <a:defRPr/>
              </a:pPr>
              <a:t>‹#›</a:t>
            </a:fld>
            <a:endParaRPr lang="zh-TW" altLang="en-US"/>
          </a:p>
        </p:txBody>
      </p:sp>
    </p:spTree>
    <p:extLst>
      <p:ext uri="{BB962C8B-B14F-4D97-AF65-F5344CB8AC3E}">
        <p14:creationId xmlns:p14="http://schemas.microsoft.com/office/powerpoint/2010/main" xmlns="" val="1200150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lvl1pPr>
              <a:defRPr/>
            </a:lvl1pPr>
          </a:lstStyle>
          <a:p>
            <a:pPr>
              <a:defRPr/>
            </a:pPr>
            <a:fld id="{FD8DB94C-87E5-4077-BC91-73AF7E8169C3}" type="datetimeFigureOut">
              <a:rPr lang="zh-TW" altLang="en-US"/>
              <a:pPr>
                <a:defRPr/>
              </a:pPr>
              <a:t>2011/8/1</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687E59EC-7354-4DDD-9A8A-310C296ACDEB}" type="slidenum">
              <a:rPr lang="zh-TW" altLang="en-US"/>
              <a:pPr>
                <a:defRPr/>
              </a:pPr>
              <a:t>‹#›</a:t>
            </a:fld>
            <a:endParaRPr lang="zh-TW" altLang="en-US"/>
          </a:p>
        </p:txBody>
      </p:sp>
    </p:spTree>
    <p:extLst>
      <p:ext uri="{BB962C8B-B14F-4D97-AF65-F5344CB8AC3E}">
        <p14:creationId xmlns:p14="http://schemas.microsoft.com/office/powerpoint/2010/main" xmlns="" val="22191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3"/>
          <p:cNvSpPr>
            <a:spLocks noGrp="1"/>
          </p:cNvSpPr>
          <p:nvPr>
            <p:ph type="dt" sz="half" idx="10"/>
          </p:nvPr>
        </p:nvSpPr>
        <p:spPr/>
        <p:txBody>
          <a:bodyPr/>
          <a:lstStyle>
            <a:lvl1pPr>
              <a:defRPr/>
            </a:lvl1pPr>
          </a:lstStyle>
          <a:p>
            <a:pPr>
              <a:defRPr/>
            </a:pPr>
            <a:fld id="{FF610FB1-0584-4237-8E45-15165FF7CB9F}" type="datetimeFigureOut">
              <a:rPr lang="zh-TW" altLang="en-US"/>
              <a:pPr>
                <a:defRPr/>
              </a:pPr>
              <a:t>2011/8/1</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37B5203F-7F56-456C-9DFC-64E25C44A7B3}" type="slidenum">
              <a:rPr lang="zh-TW" altLang="en-US"/>
              <a:pPr>
                <a:defRPr/>
              </a:pPr>
              <a:t>‹#›</a:t>
            </a:fld>
            <a:endParaRPr lang="zh-TW" altLang="en-US"/>
          </a:p>
        </p:txBody>
      </p:sp>
    </p:spTree>
    <p:extLst>
      <p:ext uri="{BB962C8B-B14F-4D97-AF65-F5344CB8AC3E}">
        <p14:creationId xmlns:p14="http://schemas.microsoft.com/office/powerpoint/2010/main" xmlns="" val="1025980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3"/>
          <p:cNvSpPr>
            <a:spLocks noGrp="1"/>
          </p:cNvSpPr>
          <p:nvPr>
            <p:ph type="dt" sz="half" idx="10"/>
          </p:nvPr>
        </p:nvSpPr>
        <p:spPr/>
        <p:txBody>
          <a:bodyPr/>
          <a:lstStyle>
            <a:lvl1pPr>
              <a:defRPr/>
            </a:lvl1pPr>
          </a:lstStyle>
          <a:p>
            <a:pPr>
              <a:defRPr/>
            </a:pPr>
            <a:fld id="{EDEB2774-9042-48AC-B3CE-D46C5BDDDE0D}" type="datetimeFigureOut">
              <a:rPr lang="zh-TW" altLang="en-US"/>
              <a:pPr>
                <a:defRPr/>
              </a:pPr>
              <a:t>2011/8/1</a:t>
            </a:fld>
            <a:endParaRPr lang="zh-TW" altLang="en-US"/>
          </a:p>
        </p:txBody>
      </p:sp>
      <p:sp>
        <p:nvSpPr>
          <p:cNvPr id="8" name="頁尾版面配置區 4"/>
          <p:cNvSpPr>
            <a:spLocks noGrp="1"/>
          </p:cNvSpPr>
          <p:nvPr>
            <p:ph type="ftr" sz="quarter" idx="11"/>
          </p:nvPr>
        </p:nvSpPr>
        <p:spPr/>
        <p:txBody>
          <a:bodyPr/>
          <a:lstStyle>
            <a:lvl1pPr>
              <a:defRPr/>
            </a:lvl1pPr>
          </a:lstStyle>
          <a:p>
            <a:pPr>
              <a:defRPr/>
            </a:pPr>
            <a:endParaRPr lang="zh-TW" altLang="en-US"/>
          </a:p>
        </p:txBody>
      </p:sp>
      <p:sp>
        <p:nvSpPr>
          <p:cNvPr id="9" name="投影片編號版面配置區 5"/>
          <p:cNvSpPr>
            <a:spLocks noGrp="1"/>
          </p:cNvSpPr>
          <p:nvPr>
            <p:ph type="sldNum" sz="quarter" idx="12"/>
          </p:nvPr>
        </p:nvSpPr>
        <p:spPr/>
        <p:txBody>
          <a:bodyPr/>
          <a:lstStyle>
            <a:lvl1pPr>
              <a:defRPr/>
            </a:lvl1pPr>
          </a:lstStyle>
          <a:p>
            <a:pPr>
              <a:defRPr/>
            </a:pPr>
            <a:fld id="{BCFE3F07-97A7-4CEE-B190-0EAA322A0DC2}" type="slidenum">
              <a:rPr lang="zh-TW" altLang="en-US"/>
              <a:pPr>
                <a:defRPr/>
              </a:pPr>
              <a:t>‹#›</a:t>
            </a:fld>
            <a:endParaRPr lang="zh-TW" altLang="en-US"/>
          </a:p>
        </p:txBody>
      </p:sp>
    </p:spTree>
    <p:extLst>
      <p:ext uri="{BB962C8B-B14F-4D97-AF65-F5344CB8AC3E}">
        <p14:creationId xmlns:p14="http://schemas.microsoft.com/office/powerpoint/2010/main" xmlns="" val="3198583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3"/>
          <p:cNvSpPr>
            <a:spLocks noGrp="1"/>
          </p:cNvSpPr>
          <p:nvPr>
            <p:ph type="dt" sz="half" idx="10"/>
          </p:nvPr>
        </p:nvSpPr>
        <p:spPr/>
        <p:txBody>
          <a:bodyPr/>
          <a:lstStyle>
            <a:lvl1pPr>
              <a:defRPr/>
            </a:lvl1pPr>
          </a:lstStyle>
          <a:p>
            <a:pPr>
              <a:defRPr/>
            </a:pPr>
            <a:fld id="{977D4F32-C364-42C1-BF55-D8FDA76BAE3B}" type="datetimeFigureOut">
              <a:rPr lang="zh-TW" altLang="en-US"/>
              <a:pPr>
                <a:defRPr/>
              </a:pPr>
              <a:t>2011/8/1</a:t>
            </a:fld>
            <a:endParaRPr lang="zh-TW" altLang="en-US"/>
          </a:p>
        </p:txBody>
      </p:sp>
      <p:sp>
        <p:nvSpPr>
          <p:cNvPr id="4" name="頁尾版面配置區 4"/>
          <p:cNvSpPr>
            <a:spLocks noGrp="1"/>
          </p:cNvSpPr>
          <p:nvPr>
            <p:ph type="ftr" sz="quarter" idx="11"/>
          </p:nvPr>
        </p:nvSpPr>
        <p:spPr/>
        <p:txBody>
          <a:bodyPr/>
          <a:lstStyle>
            <a:lvl1pPr>
              <a:defRPr/>
            </a:lvl1pPr>
          </a:lstStyle>
          <a:p>
            <a:pPr>
              <a:defRPr/>
            </a:pPr>
            <a:endParaRPr lang="zh-TW" altLang="en-US"/>
          </a:p>
        </p:txBody>
      </p:sp>
      <p:sp>
        <p:nvSpPr>
          <p:cNvPr id="5" name="投影片編號版面配置區 5"/>
          <p:cNvSpPr>
            <a:spLocks noGrp="1"/>
          </p:cNvSpPr>
          <p:nvPr>
            <p:ph type="sldNum" sz="quarter" idx="12"/>
          </p:nvPr>
        </p:nvSpPr>
        <p:spPr/>
        <p:txBody>
          <a:bodyPr/>
          <a:lstStyle>
            <a:lvl1pPr>
              <a:defRPr/>
            </a:lvl1pPr>
          </a:lstStyle>
          <a:p>
            <a:pPr>
              <a:defRPr/>
            </a:pPr>
            <a:fld id="{39A6D154-E159-48B9-A6F3-81EB04F3AB56}" type="slidenum">
              <a:rPr lang="zh-TW" altLang="en-US"/>
              <a:pPr>
                <a:defRPr/>
              </a:pPr>
              <a:t>‹#›</a:t>
            </a:fld>
            <a:endParaRPr lang="zh-TW" altLang="en-US"/>
          </a:p>
        </p:txBody>
      </p:sp>
    </p:spTree>
    <p:extLst>
      <p:ext uri="{BB962C8B-B14F-4D97-AF65-F5344CB8AC3E}">
        <p14:creationId xmlns:p14="http://schemas.microsoft.com/office/powerpoint/2010/main" xmlns="" val="134491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pPr>
              <a:defRPr/>
            </a:pPr>
            <a:fld id="{9B6CDC56-C89D-4BE5-A649-0F8DEB867E2F}" type="datetimeFigureOut">
              <a:rPr lang="zh-TW" altLang="en-US"/>
              <a:pPr>
                <a:defRPr/>
              </a:pPr>
              <a:t>2011/8/1</a:t>
            </a:fld>
            <a:endParaRPr lang="zh-TW" altLang="en-US"/>
          </a:p>
        </p:txBody>
      </p:sp>
      <p:sp>
        <p:nvSpPr>
          <p:cNvPr id="3" name="頁尾版面配置區 4"/>
          <p:cNvSpPr>
            <a:spLocks noGrp="1"/>
          </p:cNvSpPr>
          <p:nvPr>
            <p:ph type="ftr" sz="quarter" idx="11"/>
          </p:nvPr>
        </p:nvSpPr>
        <p:spPr/>
        <p:txBody>
          <a:bodyPr/>
          <a:lstStyle>
            <a:lvl1pPr>
              <a:defRPr/>
            </a:lvl1pPr>
          </a:lstStyle>
          <a:p>
            <a:pPr>
              <a:defRPr/>
            </a:pPr>
            <a:endParaRPr lang="zh-TW" altLang="en-US"/>
          </a:p>
        </p:txBody>
      </p:sp>
      <p:sp>
        <p:nvSpPr>
          <p:cNvPr id="4" name="投影片編號版面配置區 5"/>
          <p:cNvSpPr>
            <a:spLocks noGrp="1"/>
          </p:cNvSpPr>
          <p:nvPr>
            <p:ph type="sldNum" sz="quarter" idx="12"/>
          </p:nvPr>
        </p:nvSpPr>
        <p:spPr/>
        <p:txBody>
          <a:bodyPr/>
          <a:lstStyle>
            <a:lvl1pPr>
              <a:defRPr/>
            </a:lvl1pPr>
          </a:lstStyle>
          <a:p>
            <a:pPr>
              <a:defRPr/>
            </a:pPr>
            <a:fld id="{E7424784-AD13-4080-BFAC-BA75534B03CD}" type="slidenum">
              <a:rPr lang="zh-TW" altLang="en-US"/>
              <a:pPr>
                <a:defRPr/>
              </a:pPr>
              <a:t>‹#›</a:t>
            </a:fld>
            <a:endParaRPr lang="zh-TW" altLang="en-US"/>
          </a:p>
        </p:txBody>
      </p:sp>
    </p:spTree>
    <p:extLst>
      <p:ext uri="{BB962C8B-B14F-4D97-AF65-F5344CB8AC3E}">
        <p14:creationId xmlns:p14="http://schemas.microsoft.com/office/powerpoint/2010/main" xmlns="" val="3398553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C49742AE-97D1-4875-8D42-3FF228F75098}" type="datetimeFigureOut">
              <a:rPr lang="zh-TW" altLang="en-US"/>
              <a:pPr>
                <a:defRPr/>
              </a:pPr>
              <a:t>2011/8/1</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9C4585D6-6A74-4F5F-A10A-39A26C80B83C}" type="slidenum">
              <a:rPr lang="zh-TW" altLang="en-US"/>
              <a:pPr>
                <a:defRPr/>
              </a:pPr>
              <a:t>‹#›</a:t>
            </a:fld>
            <a:endParaRPr lang="zh-TW" altLang="en-US"/>
          </a:p>
        </p:txBody>
      </p:sp>
    </p:spTree>
    <p:extLst>
      <p:ext uri="{BB962C8B-B14F-4D97-AF65-F5344CB8AC3E}">
        <p14:creationId xmlns:p14="http://schemas.microsoft.com/office/powerpoint/2010/main" xmlns="" val="963948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63B01E2E-6A5F-4CA5-908E-A19C356BF55C}" type="datetimeFigureOut">
              <a:rPr lang="zh-TW" altLang="en-US"/>
              <a:pPr>
                <a:defRPr/>
              </a:pPr>
              <a:t>2011/8/1</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9900A074-4C14-4B45-944F-53D0B7706B90}" type="slidenum">
              <a:rPr lang="zh-TW" altLang="en-US"/>
              <a:pPr>
                <a:defRPr/>
              </a:pPr>
              <a:t>‹#›</a:t>
            </a:fld>
            <a:endParaRPr lang="zh-TW" altLang="en-US"/>
          </a:p>
        </p:txBody>
      </p:sp>
    </p:spTree>
    <p:extLst>
      <p:ext uri="{BB962C8B-B14F-4D97-AF65-F5344CB8AC3E}">
        <p14:creationId xmlns:p14="http://schemas.microsoft.com/office/powerpoint/2010/main" xmlns="" val="1153826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5A8F2A4D-44B9-4DBC-836F-FD98F3AF9BFF}" type="datetimeFigureOut">
              <a:rPr lang="zh-TW" altLang="en-US"/>
              <a:pPr>
                <a:defRPr/>
              </a:pPr>
              <a:t>2011/8/1</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2CCA295C-7F92-4711-840D-EE26E104FC6E}" type="slidenum">
              <a:rPr lang="zh-TW" altLang="en-US"/>
              <a:pPr>
                <a:defRPr/>
              </a:pPr>
              <a:t>‹#›</a:t>
            </a:fld>
            <a:endParaRPr lang="zh-TW" altLang="en-US"/>
          </a:p>
        </p:txBody>
      </p:sp>
    </p:spTree>
    <p:extLst>
      <p:ext uri="{BB962C8B-B14F-4D97-AF65-F5344CB8AC3E}">
        <p14:creationId xmlns:p14="http://schemas.microsoft.com/office/powerpoint/2010/main" xmlns="" val="3748311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26319B6A-84D4-4391-B7E5-706DC8F093D5}" type="datetimeFigureOut">
              <a:rPr lang="zh-TW" altLang="en-US"/>
              <a:pPr>
                <a:defRPr/>
              </a:pPr>
              <a:t>2011/8/1</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F0F181AC-B57B-4E63-A225-FD07A1E9EC56}" type="slidenum">
              <a:rPr lang="zh-TW" altLang="en-US"/>
              <a:pPr>
                <a:defRPr/>
              </a:pPr>
              <a:t>‹#›</a:t>
            </a:fld>
            <a:endParaRPr lang="zh-TW" altLang="en-US"/>
          </a:p>
        </p:txBody>
      </p:sp>
    </p:spTree>
    <p:extLst>
      <p:ext uri="{BB962C8B-B14F-4D97-AF65-F5344CB8AC3E}">
        <p14:creationId xmlns:p14="http://schemas.microsoft.com/office/powerpoint/2010/main" xmlns="" val="1656833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標題版面配置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7" name="文字版面配置區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kumimoji="0" sz="1200">
                <a:solidFill>
                  <a:schemeClr val="tx1">
                    <a:tint val="75000"/>
                  </a:schemeClr>
                </a:solidFill>
                <a:latin typeface="+mn-lt"/>
                <a:ea typeface="+mn-ea"/>
              </a:defRPr>
            </a:lvl1pPr>
          </a:lstStyle>
          <a:p>
            <a:pPr>
              <a:defRPr/>
            </a:pPr>
            <a:fld id="{208C5AD4-FB66-4C86-AB8D-D984E889BCC6}" type="datetimeFigureOut">
              <a:rPr lang="zh-TW" altLang="en-US"/>
              <a:pPr>
                <a:defRPr/>
              </a:pPr>
              <a:t>2011/8/1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kumimoji="0" sz="1200">
                <a:solidFill>
                  <a:schemeClr val="tx1">
                    <a:tint val="75000"/>
                  </a:schemeClr>
                </a:solidFill>
                <a:latin typeface="+mn-lt"/>
                <a:ea typeface="+mn-ea"/>
              </a:defRPr>
            </a:lvl1pPr>
          </a:lstStyle>
          <a:p>
            <a:pPr>
              <a:defRPr/>
            </a:pPr>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kumimoji="0" sz="1200">
                <a:solidFill>
                  <a:schemeClr val="tx1">
                    <a:tint val="75000"/>
                  </a:schemeClr>
                </a:solidFill>
                <a:latin typeface="+mn-lt"/>
                <a:ea typeface="+mn-ea"/>
              </a:defRPr>
            </a:lvl1pPr>
          </a:lstStyle>
          <a:p>
            <a:pPr>
              <a:defRPr/>
            </a:pPr>
            <a:fld id="{D0EDE5FD-EEE6-40C5-AF40-54426C020AFC}"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新細明體" charset="-120"/>
        </a:defRPr>
      </a:lvl2pPr>
      <a:lvl3pPr algn="ctr" rtl="0" eaLnBrk="0" fontAlgn="base" hangingPunct="0">
        <a:spcBef>
          <a:spcPct val="0"/>
        </a:spcBef>
        <a:spcAft>
          <a:spcPct val="0"/>
        </a:spcAft>
        <a:defRPr sz="4400">
          <a:solidFill>
            <a:schemeClr val="tx1"/>
          </a:solidFill>
          <a:latin typeface="Calibri" pitchFamily="34" charset="0"/>
          <a:ea typeface="新細明體" charset="-120"/>
        </a:defRPr>
      </a:lvl3pPr>
      <a:lvl4pPr algn="ctr" rtl="0" eaLnBrk="0" fontAlgn="base" hangingPunct="0">
        <a:spcBef>
          <a:spcPct val="0"/>
        </a:spcBef>
        <a:spcAft>
          <a:spcPct val="0"/>
        </a:spcAft>
        <a:defRPr sz="4400">
          <a:solidFill>
            <a:schemeClr val="tx1"/>
          </a:solidFill>
          <a:latin typeface="Calibri" pitchFamily="34" charset="0"/>
          <a:ea typeface="新細明體" charset="-120"/>
        </a:defRPr>
      </a:lvl4pPr>
      <a:lvl5pPr algn="ctr" rtl="0" eaLnBrk="0" fontAlgn="base" hangingPunct="0">
        <a:spcBef>
          <a:spcPct val="0"/>
        </a:spcBef>
        <a:spcAft>
          <a:spcPct val="0"/>
        </a:spcAft>
        <a:defRPr sz="4400">
          <a:solidFill>
            <a:schemeClr val="tx1"/>
          </a:solidFill>
          <a:latin typeface="Calibri" pitchFamily="34" charset="0"/>
          <a:ea typeface="新細明體" charset="-120"/>
        </a:defRPr>
      </a:lvl5pPr>
      <a:lvl6pPr marL="457200" algn="ctr" rtl="0" fontAlgn="base">
        <a:spcBef>
          <a:spcPct val="0"/>
        </a:spcBef>
        <a:spcAft>
          <a:spcPct val="0"/>
        </a:spcAft>
        <a:defRPr sz="4400">
          <a:solidFill>
            <a:schemeClr val="tx1"/>
          </a:solidFill>
          <a:latin typeface="Calibri" pitchFamily="34" charset="0"/>
          <a:ea typeface="新細明體" charset="-120"/>
        </a:defRPr>
      </a:lvl6pPr>
      <a:lvl7pPr marL="914400" algn="ctr" rtl="0" fontAlgn="base">
        <a:spcBef>
          <a:spcPct val="0"/>
        </a:spcBef>
        <a:spcAft>
          <a:spcPct val="0"/>
        </a:spcAft>
        <a:defRPr sz="4400">
          <a:solidFill>
            <a:schemeClr val="tx1"/>
          </a:solidFill>
          <a:latin typeface="Calibri" pitchFamily="34" charset="0"/>
          <a:ea typeface="新細明體" charset="-120"/>
        </a:defRPr>
      </a:lvl7pPr>
      <a:lvl8pPr marL="1371600" algn="ctr" rtl="0" fontAlgn="base">
        <a:spcBef>
          <a:spcPct val="0"/>
        </a:spcBef>
        <a:spcAft>
          <a:spcPct val="0"/>
        </a:spcAft>
        <a:defRPr sz="4400">
          <a:solidFill>
            <a:schemeClr val="tx1"/>
          </a:solidFill>
          <a:latin typeface="Calibri" pitchFamily="34" charset="0"/>
          <a:ea typeface="新細明體" charset="-120"/>
        </a:defRPr>
      </a:lvl8pPr>
      <a:lvl9pPr marL="1828800" algn="ctr" rtl="0" fontAlgn="base">
        <a:spcBef>
          <a:spcPct val="0"/>
        </a:spcBef>
        <a:spcAft>
          <a:spcPct val="0"/>
        </a:spcAft>
        <a:defRPr sz="4400">
          <a:solidFill>
            <a:schemeClr val="tx1"/>
          </a:solidFill>
          <a:latin typeface="Calibri" pitchFamily="34" charset="0"/>
          <a:ea typeface="新細明體" charset="-12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elib.zib.de/pub/Packages/mathprog/matching/weighted/"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標題 1"/>
          <p:cNvSpPr>
            <a:spLocks noGrp="1"/>
          </p:cNvSpPr>
          <p:nvPr>
            <p:ph type="ctrTitle"/>
          </p:nvPr>
        </p:nvSpPr>
        <p:spPr>
          <a:xfrm>
            <a:off x="395536" y="692150"/>
            <a:ext cx="8424936" cy="4681066"/>
          </a:xfrm>
        </p:spPr>
        <p:txBody>
          <a:bodyPr/>
          <a:lstStyle/>
          <a:p>
            <a:pPr eaLnBrk="1" hangingPunct="1"/>
            <a:r>
              <a:rPr lang="en-US" altLang="zh-TW" sz="4000" dirty="0" smtClean="0">
                <a:latin typeface="Times New Roman" pitchFamily="18" charset="0"/>
                <a:ea typeface="DFKai-SB" pitchFamily="65" charset="-120"/>
                <a:cs typeface="Times New Roman" pitchFamily="18" charset="0"/>
              </a:rPr>
              <a:t>Disulfide Bond Prediction </a:t>
            </a:r>
            <a:r>
              <a:rPr lang="en-US" altLang="zh-TW" sz="4000" dirty="0" smtClean="0">
                <a:latin typeface="Times New Roman" pitchFamily="18" charset="0"/>
                <a:ea typeface="DFKai-SB" pitchFamily="65" charset="-120"/>
                <a:cs typeface="Times New Roman" pitchFamily="18" charset="0"/>
              </a:rPr>
              <a:t>Using </a:t>
            </a:r>
            <a:r>
              <a:rPr lang="en-US" altLang="zh-TW" sz="4000" dirty="0" smtClean="0">
                <a:latin typeface="Times New Roman" pitchFamily="18" charset="0"/>
                <a:ea typeface="DFKai-SB" pitchFamily="65" charset="-120"/>
                <a:cs typeface="Times New Roman" pitchFamily="18" charset="0"/>
              </a:rPr>
              <a:t>Neural Network and</a:t>
            </a:r>
            <a:br>
              <a:rPr lang="en-US" altLang="zh-TW" sz="4000" dirty="0" smtClean="0">
                <a:latin typeface="Times New Roman" pitchFamily="18" charset="0"/>
                <a:ea typeface="DFKai-SB" pitchFamily="65" charset="-120"/>
                <a:cs typeface="Times New Roman" pitchFamily="18" charset="0"/>
              </a:rPr>
            </a:br>
            <a:r>
              <a:rPr lang="en-US" altLang="zh-TW" sz="4000" dirty="0" smtClean="0">
                <a:latin typeface="Times New Roman" pitchFamily="18" charset="0"/>
                <a:ea typeface="DFKai-SB" pitchFamily="65" charset="-120"/>
                <a:cs typeface="Times New Roman" pitchFamily="18" charset="0"/>
              </a:rPr>
              <a:t>Secondary Structure Information</a:t>
            </a:r>
            <a:r>
              <a:rPr lang="en-US" altLang="zh-TW" dirty="0" smtClean="0">
                <a:latin typeface="Times New Roman" pitchFamily="18" charset="0"/>
                <a:ea typeface="DFKai-SB" pitchFamily="65" charset="-120"/>
                <a:cs typeface="Times New Roman" pitchFamily="18" charset="0"/>
              </a:rPr>
              <a:t/>
            </a:r>
            <a:br>
              <a:rPr lang="en-US" altLang="zh-TW" dirty="0" smtClean="0">
                <a:latin typeface="Times New Roman" pitchFamily="18" charset="0"/>
                <a:ea typeface="DFKai-SB" pitchFamily="65" charset="-120"/>
                <a:cs typeface="Times New Roman" pitchFamily="18" charset="0"/>
              </a:rPr>
            </a:br>
            <a:r>
              <a:rPr lang="en-US" altLang="zh-TW" sz="2400" dirty="0" smtClean="0">
                <a:latin typeface="Times New Roman" pitchFamily="18" charset="0"/>
                <a:ea typeface="DFKai-SB" pitchFamily="65" charset="-120"/>
                <a:cs typeface="Times New Roman" pitchFamily="18" charset="0"/>
              </a:rPr>
              <a:t/>
            </a:r>
            <a:br>
              <a:rPr lang="en-US" altLang="zh-TW" sz="2400" dirty="0" smtClean="0">
                <a:latin typeface="Times New Roman" pitchFamily="18" charset="0"/>
                <a:ea typeface="DFKai-SB" pitchFamily="65" charset="-120"/>
                <a:cs typeface="Times New Roman" pitchFamily="18" charset="0"/>
              </a:rPr>
            </a:br>
            <a:r>
              <a:rPr lang="en-US" altLang="zh-TW" sz="2400" dirty="0" err="1" smtClean="0">
                <a:latin typeface="Times New Roman" pitchFamily="18" charset="0"/>
                <a:ea typeface="DFKai-SB" pitchFamily="65" charset="-120"/>
                <a:cs typeface="Times New Roman" pitchFamily="18" charset="0"/>
              </a:rPr>
              <a:t>Ouyan</a:t>
            </a:r>
            <a:r>
              <a:rPr lang="en-US" altLang="zh-TW" sz="2400" dirty="0" smtClean="0">
                <a:latin typeface="Times New Roman" pitchFamily="18" charset="0"/>
                <a:ea typeface="DFKai-SB" pitchFamily="65" charset="-120"/>
                <a:cs typeface="Times New Roman" pitchFamily="18" charset="0"/>
              </a:rPr>
              <a:t> Shi, </a:t>
            </a:r>
            <a:r>
              <a:rPr lang="en-US" altLang="zh-TW" sz="2400" dirty="0" err="1" smtClean="0">
                <a:latin typeface="Times New Roman" pitchFamily="18" charset="0"/>
                <a:ea typeface="DFKai-SB" pitchFamily="65" charset="-120"/>
                <a:cs typeface="Times New Roman" pitchFamily="18" charset="0"/>
              </a:rPr>
              <a:t>Huiyun</a:t>
            </a:r>
            <a:r>
              <a:rPr lang="en-US" altLang="zh-TW" sz="2400" dirty="0" smtClean="0">
                <a:latin typeface="Times New Roman" pitchFamily="18" charset="0"/>
                <a:ea typeface="DFKai-SB" pitchFamily="65" charset="-120"/>
                <a:cs typeface="Times New Roman" pitchFamily="18" charset="0"/>
              </a:rPr>
              <a:t> Yang, </a:t>
            </a:r>
            <a:r>
              <a:rPr lang="en-US" altLang="zh-TW" sz="2400" dirty="0" err="1" smtClean="0">
                <a:latin typeface="Times New Roman" pitchFamily="18" charset="0"/>
                <a:ea typeface="DFKai-SB" pitchFamily="65" charset="-120"/>
                <a:cs typeface="Times New Roman" pitchFamily="18" charset="0"/>
              </a:rPr>
              <a:t>Chunquan</a:t>
            </a:r>
            <a:r>
              <a:rPr lang="en-US" altLang="zh-TW" sz="2400" dirty="0" smtClean="0">
                <a:latin typeface="Times New Roman" pitchFamily="18" charset="0"/>
                <a:ea typeface="DFKai-SB" pitchFamily="65" charset="-120"/>
                <a:cs typeface="Times New Roman" pitchFamily="18" charset="0"/>
              </a:rPr>
              <a:t> </a:t>
            </a:r>
            <a:r>
              <a:rPr lang="en-US" altLang="zh-TW" sz="2400" dirty="0" err="1" smtClean="0">
                <a:latin typeface="Times New Roman" pitchFamily="18" charset="0"/>
                <a:ea typeface="DFKai-SB" pitchFamily="65" charset="-120"/>
                <a:cs typeface="Times New Roman" pitchFamily="18" charset="0"/>
              </a:rPr>
              <a:t>Cai</a:t>
            </a:r>
            <a:r>
              <a:rPr lang="en-US" altLang="zh-TW" sz="2400" dirty="0" smtClean="0">
                <a:latin typeface="Times New Roman" pitchFamily="18" charset="0"/>
                <a:ea typeface="DFKai-SB" pitchFamily="65" charset="-120"/>
                <a:cs typeface="Times New Roman" pitchFamily="18" charset="0"/>
              </a:rPr>
              <a:t>, Jing Yang, </a:t>
            </a:r>
            <a:r>
              <a:rPr lang="en-US" altLang="zh-TW" sz="2400" dirty="0" err="1" smtClean="0">
                <a:latin typeface="Times New Roman" pitchFamily="18" charset="0"/>
                <a:ea typeface="DFKai-SB" pitchFamily="65" charset="-120"/>
                <a:cs typeface="Times New Roman" pitchFamily="18" charset="0"/>
              </a:rPr>
              <a:t>Xin</a:t>
            </a:r>
            <a:r>
              <a:rPr lang="en-US" altLang="zh-TW" sz="2400" dirty="0" smtClean="0">
                <a:latin typeface="Times New Roman" pitchFamily="18" charset="0"/>
                <a:ea typeface="DFKai-SB" pitchFamily="65" charset="-120"/>
                <a:cs typeface="Times New Roman" pitchFamily="18" charset="0"/>
              </a:rPr>
              <a:t> </a:t>
            </a:r>
            <a:r>
              <a:rPr lang="en-US" altLang="zh-TW" sz="2400" dirty="0" err="1" smtClean="0">
                <a:latin typeface="Times New Roman" pitchFamily="18" charset="0"/>
                <a:ea typeface="DFKai-SB" pitchFamily="65" charset="-120"/>
                <a:cs typeface="Times New Roman" pitchFamily="18" charset="0"/>
              </a:rPr>
              <a:t>Tian</a:t>
            </a:r>
            <a:r>
              <a:rPr lang="en-US" altLang="zh-TW" sz="2400" dirty="0" smtClean="0">
                <a:latin typeface="Times New Roman" pitchFamily="18" charset="0"/>
                <a:ea typeface="DFKai-SB" pitchFamily="65" charset="-120"/>
                <a:cs typeface="Times New Roman" pitchFamily="18" charset="0"/>
              </a:rPr>
              <a:t/>
            </a:r>
            <a:br>
              <a:rPr lang="en-US" altLang="zh-TW" sz="2400" dirty="0" smtClean="0">
                <a:latin typeface="Times New Roman" pitchFamily="18" charset="0"/>
                <a:ea typeface="DFKai-SB" pitchFamily="65" charset="-120"/>
                <a:cs typeface="Times New Roman" pitchFamily="18" charset="0"/>
              </a:rPr>
            </a:br>
            <a:r>
              <a:rPr lang="en-US" altLang="zh-TW" sz="2400" dirty="0" smtClean="0">
                <a:latin typeface="Times New Roman" pitchFamily="18" charset="0"/>
                <a:ea typeface="DFKai-SB" pitchFamily="65" charset="-120"/>
                <a:cs typeface="Times New Roman" pitchFamily="18" charset="0"/>
              </a:rPr>
              <a:t/>
            </a:r>
            <a:br>
              <a:rPr lang="en-US" altLang="zh-TW" sz="2400" dirty="0" smtClean="0">
                <a:latin typeface="Times New Roman" pitchFamily="18" charset="0"/>
                <a:ea typeface="DFKai-SB" pitchFamily="65" charset="-120"/>
                <a:cs typeface="Times New Roman" pitchFamily="18" charset="0"/>
              </a:rPr>
            </a:br>
            <a:r>
              <a:rPr lang="en-US" altLang="zh-TW" sz="2200" dirty="0">
                <a:latin typeface="Times New Roman" pitchFamily="18" charset="0"/>
                <a:ea typeface="DFKai-SB" pitchFamily="65" charset="-120"/>
                <a:cs typeface="Times New Roman" pitchFamily="18" charset="0"/>
              </a:rPr>
              <a:t>Bioinformatics and Biomedical Engineering, 2008. ICBBE 2008. The 2nd International Conference </a:t>
            </a:r>
            <a:r>
              <a:rPr lang="en-US" altLang="zh-TW" sz="2200" dirty="0" smtClean="0">
                <a:latin typeface="Times New Roman" pitchFamily="18" charset="0"/>
                <a:ea typeface="DFKai-SB" pitchFamily="65" charset="-120"/>
                <a:cs typeface="Times New Roman" pitchFamily="18" charset="0"/>
              </a:rPr>
              <a:t>on.</a:t>
            </a:r>
            <a:endParaRPr lang="zh-TW" altLang="en-US" sz="2200" dirty="0" smtClean="0">
              <a:latin typeface="Times New Roman" pitchFamily="18" charset="0"/>
              <a:ea typeface="DFKai-SB" pitchFamily="65" charset="-120"/>
              <a:cs typeface="Times New Roman" pitchFamily="18" charset="0"/>
            </a:endParaRPr>
          </a:p>
        </p:txBody>
      </p:sp>
      <p:sp>
        <p:nvSpPr>
          <p:cNvPr id="2051" name="副標題 2"/>
          <p:cNvSpPr>
            <a:spLocks noGrp="1"/>
          </p:cNvSpPr>
          <p:nvPr>
            <p:ph type="subTitle" idx="1"/>
          </p:nvPr>
        </p:nvSpPr>
        <p:spPr>
          <a:xfrm>
            <a:off x="1331913" y="5301208"/>
            <a:ext cx="6400800" cy="576064"/>
          </a:xfrm>
        </p:spPr>
        <p:txBody>
          <a:bodyPr/>
          <a:lstStyle/>
          <a:p>
            <a:pPr algn="r" eaLnBrk="1" hangingPunct="1"/>
            <a:endParaRPr lang="en-US" altLang="zh-TW" sz="2000" dirty="0" smtClean="0">
              <a:solidFill>
                <a:schemeClr val="tx1"/>
              </a:solidFill>
              <a:latin typeface="Times New Roman" pitchFamily="18" charset="0"/>
              <a:ea typeface="DFKai-SB" pitchFamily="65" charset="-120"/>
              <a:cs typeface="Times New Roman" pitchFamily="18" charset="0"/>
            </a:endParaRPr>
          </a:p>
          <a:p>
            <a:pPr algn="r" eaLnBrk="1" hangingPunct="1"/>
            <a:r>
              <a:rPr lang="en-US" altLang="zh-TW" sz="2000" dirty="0" smtClean="0">
                <a:solidFill>
                  <a:schemeClr val="tx1"/>
                </a:solidFill>
                <a:latin typeface="Times New Roman" pitchFamily="18" charset="0"/>
                <a:ea typeface="DFKai-SB" pitchFamily="65" charset="-120"/>
                <a:cs typeface="Times New Roman" pitchFamily="18" charset="0"/>
              </a:rPr>
              <a:t>Presenter: Hong-Yu Chen</a:t>
            </a:r>
          </a:p>
          <a:p>
            <a:pPr algn="r" eaLnBrk="1" hangingPunct="1"/>
            <a:r>
              <a:rPr lang="en-US" altLang="zh-TW" sz="2000" dirty="0" smtClean="0">
                <a:solidFill>
                  <a:schemeClr val="tx1"/>
                </a:solidFill>
                <a:latin typeface="Times New Roman" pitchFamily="18" charset="0"/>
                <a:ea typeface="DFKai-SB" pitchFamily="65" charset="-120"/>
                <a:cs typeface="Times New Roman" pitchFamily="18" charset="0"/>
              </a:rPr>
              <a:t> Date: Aug. 1, 2011</a:t>
            </a:r>
            <a:endParaRPr lang="zh-TW" altLang="en-US" sz="2000" dirty="0" smtClean="0">
              <a:solidFill>
                <a:schemeClr val="tx1"/>
              </a:solidFill>
              <a:latin typeface="Times New Roman" pitchFamily="18" charset="0"/>
              <a:ea typeface="DFKai-SB" pitchFamily="65" charset="-120"/>
              <a:cs typeface="Times New Roman" pitchFamily="18" charset="0"/>
            </a:endParaRPr>
          </a:p>
        </p:txBody>
      </p:sp>
    </p:spTree>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標題 1"/>
          <p:cNvSpPr>
            <a:spLocks noGrp="1"/>
          </p:cNvSpPr>
          <p:nvPr>
            <p:ph type="title"/>
          </p:nvPr>
        </p:nvSpPr>
        <p:spPr/>
        <p:txBody>
          <a:bodyPr/>
          <a:lstStyle/>
          <a:p>
            <a:pPr eaLnBrk="1" hangingPunct="1"/>
            <a:r>
              <a:rPr lang="en-US" altLang="zh-TW" dirty="0" smtClean="0">
                <a:latin typeface="Times New Roman" pitchFamily="18" charset="0"/>
                <a:ea typeface="DFKai-SB" pitchFamily="65" charset="-120"/>
                <a:cs typeface="Times New Roman" pitchFamily="18" charset="0"/>
              </a:rPr>
              <a:t>Abstract (1/2)</a:t>
            </a:r>
            <a:endParaRPr lang="zh-TW" altLang="en-US" dirty="0" smtClean="0">
              <a:latin typeface="Times New Roman" pitchFamily="18" charset="0"/>
              <a:ea typeface="DFKai-SB" pitchFamily="65" charset="-120"/>
              <a:cs typeface="Times New Roman" pitchFamily="18" charset="0"/>
            </a:endParaRPr>
          </a:p>
        </p:txBody>
      </p:sp>
      <p:sp>
        <p:nvSpPr>
          <p:cNvPr id="3075" name="內容版面配置區 2"/>
          <p:cNvSpPr>
            <a:spLocks noGrp="1"/>
          </p:cNvSpPr>
          <p:nvPr>
            <p:ph idx="1"/>
          </p:nvPr>
        </p:nvSpPr>
        <p:spPr/>
        <p:txBody>
          <a:bodyPr/>
          <a:lstStyle/>
          <a:p>
            <a:r>
              <a:rPr lang="en-US" altLang="zh-TW" sz="2600" dirty="0">
                <a:latin typeface="Times New Roman" pitchFamily="18" charset="0"/>
                <a:ea typeface="標楷體" pitchFamily="65" charset="-120"/>
                <a:cs typeface="Times New Roman" pitchFamily="18" charset="0"/>
              </a:rPr>
              <a:t>In protein-folding prediction, the location of disulfide bonds can strongly reduce the search in the conformational space. Therefore the correct prediction of the disulfide connectivity starting from the protein residue sequence may also help in predicting its 3D structure. In this paper, we describe a </a:t>
            </a:r>
            <a:r>
              <a:rPr lang="en-US" altLang="zh-TW" sz="2600" dirty="0" smtClean="0">
                <a:latin typeface="Times New Roman" pitchFamily="18" charset="0"/>
                <a:ea typeface="標楷體" pitchFamily="65" charset="-120"/>
                <a:cs typeface="Times New Roman" pitchFamily="18" charset="0"/>
              </a:rPr>
              <a:t>method to </a:t>
            </a:r>
            <a:r>
              <a:rPr lang="en-US" altLang="zh-TW" sz="2600" dirty="0">
                <a:latin typeface="Times New Roman" pitchFamily="18" charset="0"/>
                <a:ea typeface="標楷體" pitchFamily="65" charset="-120"/>
                <a:cs typeface="Times New Roman" pitchFamily="18" charset="0"/>
              </a:rPr>
              <a:t>predict disulfide connectivity in a protein given only the </a:t>
            </a:r>
            <a:r>
              <a:rPr lang="en-US" altLang="zh-TW" sz="2600" dirty="0" smtClean="0">
                <a:latin typeface="Times New Roman" pitchFamily="18" charset="0"/>
                <a:ea typeface="標楷體" pitchFamily="65" charset="-120"/>
                <a:cs typeface="Times New Roman" pitchFamily="18" charset="0"/>
              </a:rPr>
              <a:t>amino acid </a:t>
            </a:r>
            <a:r>
              <a:rPr lang="en-US" altLang="zh-TW" sz="2600" dirty="0">
                <a:latin typeface="Times New Roman" pitchFamily="18" charset="0"/>
                <a:ea typeface="標楷體" pitchFamily="65" charset="-120"/>
                <a:cs typeface="Times New Roman" pitchFamily="18" charset="0"/>
              </a:rPr>
              <a:t>sequence, using neural network, and given input </a:t>
            </a:r>
            <a:r>
              <a:rPr lang="en-US" altLang="zh-TW" sz="2600" dirty="0" smtClean="0">
                <a:latin typeface="Times New Roman" pitchFamily="18" charset="0"/>
                <a:ea typeface="標楷體" pitchFamily="65" charset="-120"/>
                <a:cs typeface="Times New Roman" pitchFamily="18" charset="0"/>
              </a:rPr>
              <a:t>of symmetric </a:t>
            </a:r>
            <a:r>
              <a:rPr lang="en-US" altLang="zh-TW" sz="2600" dirty="0">
                <a:latin typeface="Times New Roman" pitchFamily="18" charset="0"/>
                <a:ea typeface="標楷體" pitchFamily="65" charset="-120"/>
                <a:cs typeface="Times New Roman" pitchFamily="18" charset="0"/>
              </a:rPr>
              <a:t>flanking regions of N-terminus and </a:t>
            </a:r>
            <a:r>
              <a:rPr lang="en-US" altLang="zh-TW" sz="2600" dirty="0" smtClean="0">
                <a:latin typeface="Times New Roman" pitchFamily="18" charset="0"/>
                <a:ea typeface="標楷體" pitchFamily="65" charset="-120"/>
                <a:cs typeface="Times New Roman" pitchFamily="18" charset="0"/>
              </a:rPr>
              <a:t>C-terminus </a:t>
            </a:r>
            <a:r>
              <a:rPr lang="en-US" altLang="zh-TW" sz="2600" dirty="0" err="1" smtClean="0">
                <a:latin typeface="Times New Roman" pitchFamily="18" charset="0"/>
                <a:ea typeface="標楷體" pitchFamily="65" charset="-120"/>
                <a:cs typeface="Times New Roman" pitchFamily="18" charset="0"/>
              </a:rPr>
              <a:t>cystines</a:t>
            </a:r>
            <a:r>
              <a:rPr lang="en-US" altLang="zh-TW" sz="2600" dirty="0" smtClean="0">
                <a:latin typeface="Times New Roman" pitchFamily="18" charset="0"/>
                <a:ea typeface="標楷體" pitchFamily="65" charset="-120"/>
                <a:cs typeface="Times New Roman" pitchFamily="18" charset="0"/>
              </a:rPr>
              <a:t> </a:t>
            </a:r>
            <a:r>
              <a:rPr lang="en-US" altLang="zh-TW" sz="2600" dirty="0">
                <a:latin typeface="Times New Roman" pitchFamily="18" charset="0"/>
                <a:ea typeface="標楷體" pitchFamily="65" charset="-120"/>
                <a:cs typeface="Times New Roman" pitchFamily="18" charset="0"/>
              </a:rPr>
              <a:t>augmented with residue secondary structure (helix, sheet</a:t>
            </a:r>
            <a:r>
              <a:rPr lang="en-US" altLang="zh-TW" sz="2600" dirty="0" smtClean="0">
                <a:latin typeface="Times New Roman" pitchFamily="18" charset="0"/>
                <a:ea typeface="標楷體" pitchFamily="65" charset="-120"/>
                <a:cs typeface="Times New Roman" pitchFamily="18" charset="0"/>
              </a:rPr>
              <a:t>, and coil) as well as evolutionary information.</a:t>
            </a:r>
            <a:endParaRPr lang="zh-TW" altLang="en-US" sz="2600" dirty="0" smtClean="0">
              <a:latin typeface="Times New Roman" pitchFamily="18" charset="0"/>
              <a:ea typeface="標楷體" pitchFamily="65" charset="-120"/>
              <a:cs typeface="Times New Roman" pitchFamily="18" charset="0"/>
            </a:endParaRPr>
          </a:p>
        </p:txBody>
      </p:sp>
    </p:spTree>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標題 1"/>
          <p:cNvSpPr>
            <a:spLocks noGrp="1"/>
          </p:cNvSpPr>
          <p:nvPr>
            <p:ph type="title"/>
          </p:nvPr>
        </p:nvSpPr>
        <p:spPr/>
        <p:txBody>
          <a:bodyPr/>
          <a:lstStyle/>
          <a:p>
            <a:pPr eaLnBrk="1" hangingPunct="1"/>
            <a:r>
              <a:rPr lang="en-US" altLang="zh-TW" dirty="0" smtClean="0">
                <a:latin typeface="Times New Roman" pitchFamily="18" charset="0"/>
                <a:ea typeface="DFKai-SB" pitchFamily="65" charset="-120"/>
                <a:cs typeface="Times New Roman" pitchFamily="18" charset="0"/>
              </a:rPr>
              <a:t>Abstract (2/2)</a:t>
            </a:r>
            <a:endParaRPr lang="zh-TW" altLang="en-US" dirty="0" smtClean="0">
              <a:latin typeface="Times New Roman" pitchFamily="18" charset="0"/>
              <a:ea typeface="DFKai-SB" pitchFamily="65" charset="-120"/>
              <a:cs typeface="Times New Roman" pitchFamily="18" charset="0"/>
            </a:endParaRPr>
          </a:p>
        </p:txBody>
      </p:sp>
      <p:sp>
        <p:nvSpPr>
          <p:cNvPr id="3075" name="內容版面配置區 2"/>
          <p:cNvSpPr>
            <a:spLocks noGrp="1"/>
          </p:cNvSpPr>
          <p:nvPr>
            <p:ph idx="1"/>
          </p:nvPr>
        </p:nvSpPr>
        <p:spPr/>
        <p:txBody>
          <a:bodyPr/>
          <a:lstStyle/>
          <a:p>
            <a:r>
              <a:rPr lang="en-US" altLang="zh-TW" sz="2600" dirty="0">
                <a:latin typeface="Times New Roman" pitchFamily="18" charset="0"/>
                <a:ea typeface="標楷體" pitchFamily="65" charset="-120"/>
                <a:cs typeface="Times New Roman" pitchFamily="18" charset="0"/>
              </a:rPr>
              <a:t>252 </a:t>
            </a:r>
            <a:r>
              <a:rPr lang="en-US" altLang="zh-TW" sz="2600" dirty="0" smtClean="0">
                <a:latin typeface="Times New Roman" pitchFamily="18" charset="0"/>
                <a:ea typeface="標楷體" pitchFamily="65" charset="-120"/>
                <a:cs typeface="Times New Roman" pitchFamily="18" charset="0"/>
              </a:rPr>
              <a:t>protein sequences </a:t>
            </a:r>
            <a:r>
              <a:rPr lang="en-US" altLang="zh-TW" sz="2600" dirty="0">
                <a:latin typeface="Times New Roman" pitchFamily="18" charset="0"/>
                <a:ea typeface="標楷體" pitchFamily="65" charset="-120"/>
                <a:cs typeface="Times New Roman" pitchFamily="18" charset="0"/>
              </a:rPr>
              <a:t>were selected from the SWISS-PROT database. </a:t>
            </a:r>
            <a:r>
              <a:rPr lang="en-US" altLang="zh-TW" sz="2600" dirty="0" smtClean="0">
                <a:latin typeface="Times New Roman" pitchFamily="18" charset="0"/>
                <a:ea typeface="標楷體" pitchFamily="65" charset="-120"/>
                <a:cs typeface="Times New Roman" pitchFamily="18" charset="0"/>
              </a:rPr>
              <a:t>From the </a:t>
            </a:r>
            <a:r>
              <a:rPr lang="en-US" altLang="zh-TW" sz="2600" dirty="0">
                <a:latin typeface="Times New Roman" pitchFamily="18" charset="0"/>
                <a:ea typeface="標楷體" pitchFamily="65" charset="-120"/>
                <a:cs typeface="Times New Roman" pitchFamily="18" charset="0"/>
              </a:rPr>
              <a:t>results of 4-fold cross validation, we find that merging </a:t>
            </a:r>
            <a:r>
              <a:rPr lang="en-US" altLang="zh-TW" sz="2600" dirty="0" smtClean="0">
                <a:latin typeface="Times New Roman" pitchFamily="18" charset="0"/>
                <a:ea typeface="標楷體" pitchFamily="65" charset="-120"/>
                <a:cs typeface="Times New Roman" pitchFamily="18" charset="0"/>
              </a:rPr>
              <a:t>protein secondary </a:t>
            </a:r>
            <a:r>
              <a:rPr lang="en-US" altLang="zh-TW" sz="2600" dirty="0">
                <a:latin typeface="Times New Roman" pitchFamily="18" charset="0"/>
                <a:ea typeface="標楷體" pitchFamily="65" charset="-120"/>
                <a:cs typeface="Times New Roman" pitchFamily="18" charset="0"/>
              </a:rPr>
              <a:t>structure allows us to obtain significant </a:t>
            </a:r>
            <a:r>
              <a:rPr lang="en-US" altLang="zh-TW" sz="2600" dirty="0" smtClean="0">
                <a:latin typeface="Times New Roman" pitchFamily="18" charset="0"/>
                <a:ea typeface="標楷體" pitchFamily="65" charset="-120"/>
                <a:cs typeface="Times New Roman" pitchFamily="18" charset="0"/>
              </a:rPr>
              <a:t>prediction accuracy </a:t>
            </a:r>
            <a:r>
              <a:rPr lang="en-US" altLang="zh-TW" sz="2600" dirty="0">
                <a:latin typeface="Times New Roman" pitchFamily="18" charset="0"/>
                <a:ea typeface="標楷體" pitchFamily="65" charset="-120"/>
                <a:cs typeface="Times New Roman" pitchFamily="18" charset="0"/>
              </a:rPr>
              <a:t>improvements.</a:t>
            </a:r>
            <a:endParaRPr lang="zh-TW" altLang="en-US" sz="2600" dirty="0" smtClean="0">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xmlns="" val="871583319"/>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Introduction</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dirty="0">
                <a:latin typeface="Times New Roman" pitchFamily="18" charset="0"/>
                <a:ea typeface="標楷體" pitchFamily="65" charset="-120"/>
                <a:cs typeface="Times New Roman" pitchFamily="18" charset="0"/>
              </a:rPr>
              <a:t>Given an even number of </a:t>
            </a:r>
            <a:r>
              <a:rPr lang="en-US" altLang="zh-TW" dirty="0" err="1">
                <a:latin typeface="Times New Roman" pitchFamily="18" charset="0"/>
                <a:ea typeface="標楷體" pitchFamily="65" charset="-120"/>
                <a:cs typeface="Times New Roman" pitchFamily="18" charset="0"/>
              </a:rPr>
              <a:t>cysteines</a:t>
            </a:r>
            <a:r>
              <a:rPr lang="en-US" altLang="zh-TW" dirty="0">
                <a:latin typeface="Times New Roman" pitchFamily="18" charset="0"/>
                <a:ea typeface="標楷體" pitchFamily="65" charset="-120"/>
                <a:cs typeface="Times New Roman" pitchFamily="18" charset="0"/>
              </a:rPr>
              <a:t> believed to </a:t>
            </a:r>
            <a:r>
              <a:rPr lang="en-US" altLang="zh-TW" dirty="0" smtClean="0">
                <a:latin typeface="Times New Roman" pitchFamily="18" charset="0"/>
                <a:ea typeface="標楷體" pitchFamily="65" charset="-120"/>
                <a:cs typeface="Times New Roman" pitchFamily="18" charset="0"/>
              </a:rPr>
              <a:t>form disulfide </a:t>
            </a:r>
            <a:r>
              <a:rPr lang="en-US" altLang="zh-TW" dirty="0">
                <a:latin typeface="Times New Roman" pitchFamily="18" charset="0"/>
                <a:ea typeface="標楷體" pitchFamily="65" charset="-120"/>
                <a:cs typeface="Times New Roman" pitchFamily="18" charset="0"/>
              </a:rPr>
              <a:t>bonds, the problem is to </a:t>
            </a:r>
            <a:r>
              <a:rPr lang="en-US" altLang="zh-TW" dirty="0">
                <a:solidFill>
                  <a:srgbClr val="FF0000"/>
                </a:solidFill>
                <a:latin typeface="Times New Roman" pitchFamily="18" charset="0"/>
                <a:ea typeface="標楷體" pitchFamily="65" charset="-120"/>
                <a:cs typeface="Times New Roman" pitchFamily="18" charset="0"/>
              </a:rPr>
              <a:t>determine the </a:t>
            </a:r>
            <a:r>
              <a:rPr lang="en-US" altLang="zh-TW" dirty="0" smtClean="0">
                <a:solidFill>
                  <a:srgbClr val="FF0000"/>
                </a:solidFill>
                <a:latin typeface="Times New Roman" pitchFamily="18" charset="0"/>
                <a:ea typeface="標楷體" pitchFamily="65" charset="-120"/>
                <a:cs typeface="Times New Roman" pitchFamily="18" charset="0"/>
              </a:rPr>
              <a:t>correct connectivity </a:t>
            </a:r>
            <a:r>
              <a:rPr lang="en-US" altLang="zh-TW" dirty="0">
                <a:solidFill>
                  <a:srgbClr val="FF0000"/>
                </a:solidFill>
                <a:latin typeface="Times New Roman" pitchFamily="18" charset="0"/>
                <a:ea typeface="標楷體" pitchFamily="65" charset="-120"/>
                <a:cs typeface="Times New Roman" pitchFamily="18" charset="0"/>
              </a:rPr>
              <a:t>pattern</a:t>
            </a:r>
            <a:r>
              <a:rPr lang="en-US" altLang="zh-TW" dirty="0">
                <a:latin typeface="Times New Roman" pitchFamily="18" charset="0"/>
                <a:ea typeface="標楷體" pitchFamily="65" charset="-120"/>
                <a:cs typeface="Times New Roman" pitchFamily="18" charset="0"/>
              </a:rPr>
              <a:t> among all the possible </a:t>
            </a:r>
            <a:r>
              <a:rPr lang="en-US" altLang="zh-TW" dirty="0" smtClean="0">
                <a:latin typeface="Times New Roman" pitchFamily="18" charset="0"/>
                <a:ea typeface="標楷體" pitchFamily="65" charset="-120"/>
                <a:cs typeface="Times New Roman" pitchFamily="18" charset="0"/>
              </a:rPr>
              <a:t>alternatives.</a:t>
            </a:r>
          </a:p>
          <a:p>
            <a:r>
              <a:rPr lang="en-US" altLang="zh-TW" dirty="0" smtClean="0">
                <a:latin typeface="Times New Roman" pitchFamily="18" charset="0"/>
                <a:ea typeface="標楷體" pitchFamily="65" charset="-120"/>
                <a:cs typeface="Times New Roman" pitchFamily="18" charset="0"/>
              </a:rPr>
              <a:t>Cysteine -</a:t>
            </a:r>
            <a:r>
              <a:rPr lang="zh-TW" altLang="en-US" dirty="0" smtClean="0">
                <a:latin typeface="Times New Roman" pitchFamily="18" charset="0"/>
                <a:ea typeface="標楷體" pitchFamily="65" charset="-120"/>
                <a:cs typeface="Times New Roman" pitchFamily="18" charset="0"/>
              </a:rPr>
              <a:t> 半</a:t>
            </a:r>
            <a:r>
              <a:rPr lang="zh-TW" altLang="en-US" dirty="0">
                <a:latin typeface="Times New Roman" pitchFamily="18" charset="0"/>
                <a:ea typeface="標楷體" pitchFamily="65" charset="-120"/>
                <a:cs typeface="Times New Roman" pitchFamily="18" charset="0"/>
              </a:rPr>
              <a:t>胱氨</a:t>
            </a:r>
            <a:r>
              <a:rPr lang="zh-TW" altLang="en-US" dirty="0" smtClean="0">
                <a:latin typeface="Times New Roman" pitchFamily="18" charset="0"/>
                <a:ea typeface="標楷體" pitchFamily="65" charset="-120"/>
                <a:cs typeface="Times New Roman" pitchFamily="18" charset="0"/>
              </a:rPr>
              <a:t>酸</a:t>
            </a:r>
            <a:r>
              <a:rPr lang="en-US" altLang="zh-TW" dirty="0">
                <a:latin typeface="Times New Roman" pitchFamily="18" charset="0"/>
                <a:ea typeface="標楷體" pitchFamily="65" charset="-120"/>
                <a:cs typeface="Times New Roman" pitchFamily="18" charset="0"/>
              </a:rPr>
              <a:t/>
            </a:r>
            <a:br>
              <a:rPr lang="en-US" altLang="zh-TW" dirty="0">
                <a:latin typeface="Times New Roman" pitchFamily="18" charset="0"/>
                <a:ea typeface="標楷體" pitchFamily="65" charset="-120"/>
                <a:cs typeface="Times New Roman" pitchFamily="18" charset="0"/>
              </a:rPr>
            </a:br>
            <a:r>
              <a:rPr lang="en-US" altLang="zh-TW" dirty="0" err="1" smtClean="0">
                <a:latin typeface="Times New Roman" pitchFamily="18" charset="0"/>
                <a:ea typeface="標楷體" pitchFamily="65" charset="-120"/>
                <a:cs typeface="Times New Roman" pitchFamily="18" charset="0"/>
              </a:rPr>
              <a:t>Cystine</a:t>
            </a:r>
            <a:r>
              <a:rPr lang="en-US" altLang="zh-TW" dirty="0" smtClean="0">
                <a:latin typeface="Times New Roman" pitchFamily="18" charset="0"/>
                <a:ea typeface="標楷體" pitchFamily="65" charset="-120"/>
                <a:cs typeface="Times New Roman" pitchFamily="18" charset="0"/>
              </a:rPr>
              <a:t> - </a:t>
            </a:r>
            <a:r>
              <a:rPr lang="zh-TW" altLang="en-US" dirty="0" smtClean="0">
                <a:latin typeface="Times New Roman" pitchFamily="18" charset="0"/>
                <a:ea typeface="標楷體" pitchFamily="65" charset="-120"/>
                <a:cs typeface="Times New Roman" pitchFamily="18" charset="0"/>
              </a:rPr>
              <a:t>胱</a:t>
            </a:r>
            <a:r>
              <a:rPr lang="zh-TW" altLang="en-US" dirty="0">
                <a:latin typeface="Times New Roman" pitchFamily="18" charset="0"/>
                <a:ea typeface="標楷體" pitchFamily="65" charset="-120"/>
                <a:cs typeface="Times New Roman" pitchFamily="18" charset="0"/>
              </a:rPr>
              <a:t>氨</a:t>
            </a:r>
            <a:r>
              <a:rPr lang="zh-TW" altLang="en-US" dirty="0" smtClean="0">
                <a:latin typeface="Times New Roman" pitchFamily="18" charset="0"/>
                <a:ea typeface="標楷體" pitchFamily="65" charset="-120"/>
                <a:cs typeface="Times New Roman" pitchFamily="18" charset="0"/>
              </a:rPr>
              <a:t>酸</a:t>
            </a:r>
            <a:endParaRPr lang="en-US" altLang="zh-TW" dirty="0" smtClean="0">
              <a:latin typeface="Times New Roman" pitchFamily="18" charset="0"/>
              <a:ea typeface="標楷體" pitchFamily="65" charset="-120"/>
              <a:cs typeface="Times New Roman" pitchFamily="18" charset="0"/>
            </a:endParaRPr>
          </a:p>
          <a:p>
            <a:r>
              <a:rPr lang="en-US" altLang="zh-TW" dirty="0" smtClean="0">
                <a:latin typeface="Times New Roman" pitchFamily="18" charset="0"/>
                <a:ea typeface="標楷體" pitchFamily="65" charset="-120"/>
                <a:cs typeface="Times New Roman" pitchFamily="18" charset="0"/>
              </a:rPr>
              <a:t>Protein-folding</a:t>
            </a:r>
          </a:p>
          <a:p>
            <a:endParaRPr lang="zh-TW" altLang="en-US" dirty="0">
              <a:latin typeface="Times New Roman" pitchFamily="18" charset="0"/>
              <a:ea typeface="標楷體" pitchFamily="65" charset="-120"/>
              <a:cs typeface="Times New Roman" pitchFamily="18" charset="0"/>
            </a:endParaRPr>
          </a:p>
        </p:txBody>
      </p:sp>
      <p:pic>
        <p:nvPicPr>
          <p:cNvPr id="9218" name="Picture 2" descr="File:Cystein - Cysteine.sv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572000" y="4149080"/>
            <a:ext cx="2376265" cy="154585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872602139"/>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The protein data sets</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800" dirty="0">
                <a:latin typeface="Times New Roman" pitchFamily="18" charset="0"/>
                <a:ea typeface="標楷體" pitchFamily="65" charset="-120"/>
                <a:cs typeface="Times New Roman" pitchFamily="18" charset="0"/>
              </a:rPr>
              <a:t>252 protein sequences from the SWISS-PROT database </a:t>
            </a:r>
            <a:r>
              <a:rPr lang="en-US" altLang="zh-TW" sz="2800" dirty="0" smtClean="0">
                <a:latin typeface="Times New Roman" pitchFamily="18" charset="0"/>
                <a:ea typeface="標楷體" pitchFamily="65" charset="-120"/>
                <a:cs typeface="Times New Roman" pitchFamily="18" charset="0"/>
              </a:rPr>
              <a:t>having </a:t>
            </a:r>
            <a:r>
              <a:rPr lang="en-US" altLang="zh-TW" sz="2800" dirty="0" smtClean="0">
                <a:solidFill>
                  <a:srgbClr val="FF0000"/>
                </a:solidFill>
                <a:latin typeface="Times New Roman" pitchFamily="18" charset="0"/>
                <a:ea typeface="標楷體" pitchFamily="65" charset="-120"/>
                <a:cs typeface="Times New Roman" pitchFamily="18" charset="0"/>
              </a:rPr>
              <a:t>at </a:t>
            </a:r>
            <a:r>
              <a:rPr lang="en-US" altLang="zh-TW" sz="2800" dirty="0">
                <a:solidFill>
                  <a:srgbClr val="FF0000"/>
                </a:solidFill>
                <a:latin typeface="Times New Roman" pitchFamily="18" charset="0"/>
                <a:ea typeface="標楷體" pitchFamily="65" charset="-120"/>
                <a:cs typeface="Times New Roman" pitchFamily="18" charset="0"/>
              </a:rPr>
              <a:t>least two and at most five</a:t>
            </a:r>
            <a:r>
              <a:rPr lang="en-US" altLang="zh-TW" sz="2800" dirty="0">
                <a:latin typeface="Times New Roman" pitchFamily="18" charset="0"/>
                <a:ea typeface="標楷體" pitchFamily="65" charset="-120"/>
                <a:cs typeface="Times New Roman" pitchFamily="18" charset="0"/>
              </a:rPr>
              <a:t> (i.e. </a:t>
            </a:r>
            <a:r>
              <a:rPr lang="en-US" altLang="zh-TW" sz="2800" dirty="0" smtClean="0">
                <a:latin typeface="Times New Roman" pitchFamily="18" charset="0"/>
                <a:ea typeface="標楷體" pitchFamily="65" charset="-120"/>
                <a:cs typeface="Times New Roman" pitchFamily="18" charset="0"/>
              </a:rPr>
              <a:t>4–10 </a:t>
            </a:r>
            <a:r>
              <a:rPr lang="en-US" altLang="zh-TW" sz="2800" dirty="0" err="1" smtClean="0">
                <a:latin typeface="Times New Roman" pitchFamily="18" charset="0"/>
                <a:ea typeface="標楷體" pitchFamily="65" charset="-120"/>
                <a:cs typeface="Times New Roman" pitchFamily="18" charset="0"/>
              </a:rPr>
              <a:t>cysteines</a:t>
            </a:r>
            <a:r>
              <a:rPr lang="en-US" altLang="zh-TW" sz="2800" dirty="0" smtClean="0">
                <a:latin typeface="Times New Roman" pitchFamily="18" charset="0"/>
                <a:ea typeface="標楷體" pitchFamily="65" charset="-120"/>
                <a:cs typeface="Times New Roman" pitchFamily="18" charset="0"/>
              </a:rPr>
              <a:t> </a:t>
            </a:r>
            <a:r>
              <a:rPr lang="en-US" altLang="zh-TW" sz="2800" dirty="0">
                <a:latin typeface="Times New Roman" pitchFamily="18" charset="0"/>
                <a:ea typeface="標楷體" pitchFamily="65" charset="-120"/>
                <a:cs typeface="Times New Roman" pitchFamily="18" charset="0"/>
              </a:rPr>
              <a:t>in the protein forming disulfide bonds) </a:t>
            </a:r>
            <a:r>
              <a:rPr lang="en-US" altLang="zh-TW" sz="2800" dirty="0" smtClean="0">
                <a:latin typeface="Times New Roman" pitchFamily="18" charset="0"/>
                <a:ea typeface="標楷體" pitchFamily="65" charset="-120"/>
                <a:cs typeface="Times New Roman" pitchFamily="18" charset="0"/>
              </a:rPr>
              <a:t>intra-chain disulfide </a:t>
            </a:r>
            <a:r>
              <a:rPr lang="en-US" altLang="zh-TW" sz="2800" dirty="0">
                <a:latin typeface="Times New Roman" pitchFamily="18" charset="0"/>
                <a:ea typeface="標楷體" pitchFamily="65" charset="-120"/>
                <a:cs typeface="Times New Roman" pitchFamily="18" charset="0"/>
              </a:rPr>
              <a:t>bonds, and for which structural data were available </a:t>
            </a:r>
            <a:r>
              <a:rPr lang="en-US" altLang="zh-TW" sz="2800" dirty="0" smtClean="0">
                <a:latin typeface="Times New Roman" pitchFamily="18" charset="0"/>
                <a:ea typeface="標楷體" pitchFamily="65" charset="-120"/>
                <a:cs typeface="Times New Roman" pitchFamily="18" charset="0"/>
              </a:rPr>
              <a:t>in the </a:t>
            </a:r>
            <a:r>
              <a:rPr lang="en-US" altLang="zh-TW" sz="2800" dirty="0">
                <a:latin typeface="Times New Roman" pitchFamily="18" charset="0"/>
                <a:ea typeface="標楷體" pitchFamily="65" charset="-120"/>
                <a:cs typeface="Times New Roman" pitchFamily="18" charset="0"/>
              </a:rPr>
              <a:t>Protein Data Bank (PDB</a:t>
            </a:r>
            <a:r>
              <a:rPr lang="en-US" altLang="zh-TW" sz="2800" dirty="0" smtClean="0">
                <a:latin typeface="Times New Roman" pitchFamily="18" charset="0"/>
                <a:ea typeface="標楷體" pitchFamily="65" charset="-120"/>
                <a:cs typeface="Times New Roman" pitchFamily="18" charset="0"/>
              </a:rPr>
              <a:t>).</a:t>
            </a:r>
          </a:p>
          <a:p>
            <a:r>
              <a:rPr lang="en-US" altLang="zh-TW" sz="2800" dirty="0">
                <a:latin typeface="Times New Roman" pitchFamily="18" charset="0"/>
                <a:ea typeface="標楷體" pitchFamily="65" charset="-120"/>
                <a:cs typeface="Times New Roman" pitchFamily="18" charset="0"/>
              </a:rPr>
              <a:t>4-fold cross </a:t>
            </a:r>
            <a:r>
              <a:rPr lang="en-US" altLang="zh-TW" sz="2800" dirty="0" smtClean="0">
                <a:latin typeface="Times New Roman" pitchFamily="18" charset="0"/>
                <a:ea typeface="標楷體" pitchFamily="65" charset="-120"/>
                <a:cs typeface="Times New Roman" pitchFamily="18" charset="0"/>
              </a:rPr>
              <a:t>validation.</a:t>
            </a:r>
          </a:p>
        </p:txBody>
      </p:sp>
    </p:spTree>
    <p:extLst>
      <p:ext uri="{BB962C8B-B14F-4D97-AF65-F5344CB8AC3E}">
        <p14:creationId xmlns:p14="http://schemas.microsoft.com/office/powerpoint/2010/main" xmlns="" val="3379972792"/>
      </p:ext>
    </p:extLst>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ea typeface="標楷體" pitchFamily="65" charset="-120"/>
                <a:cs typeface="Times New Roman" pitchFamily="18" charset="0"/>
              </a:rPr>
              <a:t>Performance Measures</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400" dirty="0">
                <a:latin typeface="Times New Roman" pitchFamily="18" charset="0"/>
                <a:ea typeface="標楷體" pitchFamily="65" charset="-120"/>
                <a:cs typeface="Times New Roman" pitchFamily="18" charset="0"/>
              </a:rPr>
              <a:t>P and N represent </a:t>
            </a:r>
            <a:r>
              <a:rPr lang="en-US" altLang="zh-TW" sz="2400" dirty="0" smtClean="0">
                <a:latin typeface="Times New Roman" pitchFamily="18" charset="0"/>
                <a:ea typeface="標楷體" pitchFamily="65" charset="-120"/>
                <a:cs typeface="Times New Roman" pitchFamily="18" charset="0"/>
              </a:rPr>
              <a:t>a training </a:t>
            </a:r>
            <a:r>
              <a:rPr lang="en-US" altLang="zh-TW" sz="2400" dirty="0">
                <a:latin typeface="Times New Roman" pitchFamily="18" charset="0"/>
                <a:ea typeface="標楷體" pitchFamily="65" charset="-120"/>
                <a:cs typeface="Times New Roman" pitchFamily="18" charset="0"/>
              </a:rPr>
              <a:t>file of positive and negative examples, respectively, </a:t>
            </a:r>
            <a:r>
              <a:rPr lang="en-US" altLang="zh-TW" sz="2400" dirty="0" smtClean="0">
                <a:latin typeface="Times New Roman" pitchFamily="18" charset="0"/>
                <a:ea typeface="標楷體" pitchFamily="65" charset="-120"/>
                <a:cs typeface="Times New Roman" pitchFamily="18" charset="0"/>
              </a:rPr>
              <a:t>of sequence </a:t>
            </a:r>
            <a:r>
              <a:rPr lang="en-US" altLang="zh-TW" sz="2400" dirty="0">
                <a:latin typeface="Times New Roman" pitchFamily="18" charset="0"/>
                <a:ea typeface="標楷體" pitchFamily="65" charset="-120"/>
                <a:cs typeface="Times New Roman" pitchFamily="18" charset="0"/>
              </a:rPr>
              <a:t>length </a:t>
            </a:r>
            <a:r>
              <a:rPr lang="en-US" altLang="zh-TW" sz="2400" dirty="0" smtClean="0">
                <a:latin typeface="Times New Roman" pitchFamily="18" charset="0"/>
                <a:ea typeface="標楷體" pitchFamily="65" charset="-120"/>
                <a:cs typeface="Times New Roman" pitchFamily="18" charset="0"/>
              </a:rPr>
              <a:t>2w.</a:t>
            </a:r>
          </a:p>
          <a:p>
            <a:pPr lvl="1"/>
            <a:r>
              <a:rPr lang="en-US" altLang="zh-TW" sz="2000" dirty="0" smtClean="0">
                <a:latin typeface="Times New Roman" pitchFamily="18" charset="0"/>
                <a:ea typeface="標楷體" pitchFamily="65" charset="-120"/>
                <a:cs typeface="Times New Roman" pitchFamily="18" charset="0"/>
              </a:rPr>
              <a:t>e.g</a:t>
            </a:r>
            <a:r>
              <a:rPr lang="en-US" altLang="zh-TW" sz="2000" dirty="0">
                <a:latin typeface="Times New Roman" pitchFamily="18" charset="0"/>
                <a:ea typeface="標楷體" pitchFamily="65" charset="-120"/>
                <a:cs typeface="Times New Roman" pitchFamily="18" charset="0"/>
              </a:rPr>
              <a:t>. two 15-mers corresponding to </a:t>
            </a:r>
            <a:r>
              <a:rPr lang="en-US" altLang="zh-TW" sz="2000" dirty="0" smtClean="0">
                <a:latin typeface="Times New Roman" pitchFamily="18" charset="0"/>
                <a:ea typeface="標楷體" pitchFamily="65" charset="-120"/>
                <a:cs typeface="Times New Roman" pitchFamily="18" charset="0"/>
              </a:rPr>
              <a:t>the symmetric </a:t>
            </a:r>
            <a:r>
              <a:rPr lang="en-US" altLang="zh-TW" sz="2000" dirty="0" err="1">
                <a:latin typeface="Times New Roman" pitchFamily="18" charset="0"/>
                <a:ea typeface="標楷體" pitchFamily="65" charset="-120"/>
                <a:cs typeface="Times New Roman" pitchFamily="18" charset="0"/>
              </a:rPr>
              <a:t>cystine</a:t>
            </a:r>
            <a:r>
              <a:rPr lang="en-US" altLang="zh-TW" sz="2000" dirty="0">
                <a:latin typeface="Times New Roman" pitchFamily="18" charset="0"/>
                <a:ea typeface="標楷體" pitchFamily="65" charset="-120"/>
                <a:cs typeface="Times New Roman" pitchFamily="18" charset="0"/>
              </a:rPr>
              <a:t>-centered size w=2n+1=15 window </a:t>
            </a:r>
            <a:r>
              <a:rPr lang="en-US" altLang="zh-TW" sz="2000" dirty="0" smtClean="0">
                <a:latin typeface="Times New Roman" pitchFamily="18" charset="0"/>
                <a:ea typeface="標楷體" pitchFamily="65" charset="-120"/>
                <a:cs typeface="Times New Roman" pitchFamily="18" charset="0"/>
              </a:rPr>
              <a:t>contents of </a:t>
            </a:r>
            <a:r>
              <a:rPr lang="en-US" altLang="zh-TW" sz="2000" dirty="0" err="1">
                <a:latin typeface="Times New Roman" pitchFamily="18" charset="0"/>
                <a:ea typeface="標楷體" pitchFamily="65" charset="-120"/>
                <a:cs typeface="Times New Roman" pitchFamily="18" charset="0"/>
              </a:rPr>
              <a:t>cystines</a:t>
            </a:r>
            <a:r>
              <a:rPr lang="en-US" altLang="zh-TW" sz="2000" dirty="0">
                <a:latin typeface="Times New Roman" pitchFamily="18" charset="0"/>
                <a:ea typeface="標楷體" pitchFamily="65" charset="-120"/>
                <a:cs typeface="Times New Roman" pitchFamily="18" charset="0"/>
              </a:rPr>
              <a:t> (i.e. the n residues N-terminal and C-terminal </a:t>
            </a:r>
            <a:r>
              <a:rPr lang="en-US" altLang="zh-TW" sz="2000" dirty="0" smtClean="0">
                <a:latin typeface="Times New Roman" pitchFamily="18" charset="0"/>
                <a:ea typeface="標楷體" pitchFamily="65" charset="-120"/>
                <a:cs typeface="Times New Roman" pitchFamily="18" charset="0"/>
              </a:rPr>
              <a:t>to each </a:t>
            </a:r>
            <a:r>
              <a:rPr lang="en-US" altLang="zh-TW" sz="2000" dirty="0" err="1">
                <a:latin typeface="Times New Roman" pitchFamily="18" charset="0"/>
                <a:ea typeface="標楷體" pitchFamily="65" charset="-120"/>
                <a:cs typeface="Times New Roman" pitchFamily="18" charset="0"/>
              </a:rPr>
              <a:t>cystine</a:t>
            </a:r>
            <a:r>
              <a:rPr lang="en-US" altLang="zh-TW" sz="2000" dirty="0">
                <a:latin typeface="Times New Roman" pitchFamily="18" charset="0"/>
                <a:ea typeface="標楷體" pitchFamily="65" charset="-120"/>
                <a:cs typeface="Times New Roman" pitchFamily="18" charset="0"/>
              </a:rPr>
              <a:t>, where n=7</a:t>
            </a:r>
            <a:r>
              <a:rPr lang="en-US" altLang="zh-TW" sz="2000" dirty="0" smtClean="0">
                <a:latin typeface="Times New Roman" pitchFamily="18" charset="0"/>
                <a:ea typeface="標楷體" pitchFamily="65" charset="-120"/>
                <a:cs typeface="Times New Roman" pitchFamily="18" charset="0"/>
              </a:rPr>
              <a:t>).</a:t>
            </a:r>
          </a:p>
          <a:p>
            <a:r>
              <a:rPr lang="en-US" altLang="zh-TW" sz="2400" dirty="0">
                <a:latin typeface="Times New Roman" pitchFamily="18" charset="0"/>
                <a:ea typeface="標楷體" pitchFamily="65" charset="-120"/>
                <a:cs typeface="Times New Roman" pitchFamily="18" charset="0"/>
              </a:rPr>
              <a:t>P </a:t>
            </a:r>
            <a:r>
              <a:rPr lang="en-US" altLang="zh-TW" sz="2400" dirty="0" smtClean="0">
                <a:latin typeface="Times New Roman" pitchFamily="18" charset="0"/>
                <a:ea typeface="標楷體" pitchFamily="65" charset="-120"/>
                <a:cs typeface="Times New Roman" pitchFamily="18" charset="0"/>
              </a:rPr>
              <a:t>denotes </a:t>
            </a:r>
            <a:r>
              <a:rPr lang="en-US" altLang="zh-TW" sz="2400" dirty="0">
                <a:latin typeface="Times New Roman" pitchFamily="18" charset="0"/>
                <a:ea typeface="標楷體" pitchFamily="65" charset="-120"/>
                <a:cs typeface="Times New Roman" pitchFamily="18" charset="0"/>
              </a:rPr>
              <a:t>the pairs of </a:t>
            </a:r>
            <a:r>
              <a:rPr lang="en-US" altLang="zh-TW" sz="2400" dirty="0" smtClean="0">
                <a:latin typeface="Times New Roman" pitchFamily="18" charset="0"/>
                <a:ea typeface="標楷體" pitchFamily="65" charset="-120"/>
                <a:cs typeface="Times New Roman" pitchFamily="18" charset="0"/>
              </a:rPr>
              <a:t>window contents </a:t>
            </a:r>
            <a:r>
              <a:rPr lang="en-US" altLang="zh-TW" sz="2400" dirty="0">
                <a:latin typeface="Times New Roman" pitchFamily="18" charset="0"/>
                <a:ea typeface="標楷體" pitchFamily="65" charset="-120"/>
                <a:cs typeface="Times New Roman" pitchFamily="18" charset="0"/>
              </a:rPr>
              <a:t>for all the </a:t>
            </a:r>
            <a:r>
              <a:rPr lang="en-US" altLang="zh-TW" sz="2400" dirty="0" err="1">
                <a:latin typeface="Times New Roman" pitchFamily="18" charset="0"/>
                <a:ea typeface="標楷體" pitchFamily="65" charset="-120"/>
                <a:cs typeface="Times New Roman" pitchFamily="18" charset="0"/>
              </a:rPr>
              <a:t>cystines</a:t>
            </a:r>
            <a:r>
              <a:rPr lang="en-US" altLang="zh-TW" sz="2400" dirty="0">
                <a:latin typeface="Times New Roman" pitchFamily="18" charset="0"/>
                <a:ea typeface="標楷體" pitchFamily="65" charset="-120"/>
                <a:cs typeface="Times New Roman" pitchFamily="18" charset="0"/>
              </a:rPr>
              <a:t> involved in an intra-chain </a:t>
            </a:r>
            <a:r>
              <a:rPr lang="en-US" altLang="zh-TW" sz="2400" dirty="0" smtClean="0">
                <a:latin typeface="Times New Roman" pitchFamily="18" charset="0"/>
                <a:ea typeface="標楷體" pitchFamily="65" charset="-120"/>
                <a:cs typeface="Times New Roman" pitchFamily="18" charset="0"/>
              </a:rPr>
              <a:t>bond.</a:t>
            </a:r>
          </a:p>
          <a:p>
            <a:r>
              <a:rPr lang="en-US" altLang="zh-TW" sz="2400" dirty="0">
                <a:latin typeface="Times New Roman" pitchFamily="18" charset="0"/>
                <a:ea typeface="標楷體" pitchFamily="65" charset="-120"/>
                <a:cs typeface="Times New Roman" pitchFamily="18" charset="0"/>
              </a:rPr>
              <a:t>N denote the corresponding set of possible pairs </a:t>
            </a:r>
            <a:r>
              <a:rPr lang="en-US" altLang="zh-TW" sz="2400" dirty="0" smtClean="0">
                <a:latin typeface="Times New Roman" pitchFamily="18" charset="0"/>
                <a:ea typeface="標楷體" pitchFamily="65" charset="-120"/>
                <a:cs typeface="Times New Roman" pitchFamily="18" charset="0"/>
              </a:rPr>
              <a:t>of </a:t>
            </a:r>
            <a:r>
              <a:rPr lang="en-US" altLang="zh-TW" sz="2400" dirty="0" err="1" smtClean="0">
                <a:latin typeface="Times New Roman" pitchFamily="18" charset="0"/>
                <a:ea typeface="標楷體" pitchFamily="65" charset="-120"/>
                <a:cs typeface="Times New Roman" pitchFamily="18" charset="0"/>
              </a:rPr>
              <a:t>cystines</a:t>
            </a:r>
            <a:r>
              <a:rPr lang="en-US" altLang="zh-TW" sz="2400" dirty="0" smtClean="0">
                <a:latin typeface="Times New Roman" pitchFamily="18" charset="0"/>
                <a:ea typeface="標楷體" pitchFamily="65" charset="-120"/>
                <a:cs typeface="Times New Roman" pitchFamily="18" charset="0"/>
              </a:rPr>
              <a:t> </a:t>
            </a:r>
            <a:r>
              <a:rPr lang="en-US" altLang="zh-TW" sz="2400" dirty="0">
                <a:latin typeface="Times New Roman" pitchFamily="18" charset="0"/>
                <a:ea typeface="標楷體" pitchFamily="65" charset="-120"/>
                <a:cs typeface="Times New Roman" pitchFamily="18" charset="0"/>
              </a:rPr>
              <a:t>that are not intra-chain disulfide bonds.</a:t>
            </a:r>
          </a:p>
          <a:p>
            <a:r>
              <a:rPr lang="en-US" altLang="zh-TW" sz="2400" dirty="0">
                <a:latin typeface="Times New Roman" pitchFamily="18" charset="0"/>
                <a:ea typeface="標楷體" pitchFamily="65" charset="-120"/>
                <a:cs typeface="Times New Roman" pitchFamily="18" charset="0"/>
              </a:rPr>
              <a:t>From DSSP </a:t>
            </a:r>
            <a:r>
              <a:rPr lang="en-US" altLang="zh-TW" sz="2400" dirty="0" smtClean="0">
                <a:latin typeface="Times New Roman" pitchFamily="18" charset="0"/>
                <a:ea typeface="標楷體" pitchFamily="65" charset="-120"/>
                <a:cs typeface="Times New Roman" pitchFamily="18" charset="0"/>
              </a:rPr>
              <a:t>files</a:t>
            </a:r>
          </a:p>
          <a:p>
            <a:pPr lvl="1"/>
            <a:r>
              <a:rPr lang="zh-TW" altLang="en-US" sz="2000" dirty="0">
                <a:latin typeface="Times New Roman" pitchFamily="18" charset="0"/>
                <a:ea typeface="標楷體" pitchFamily="65" charset="-120"/>
                <a:cs typeface="Times New Roman" pitchFamily="18" charset="0"/>
              </a:rPr>
              <a:t>已知三維結構的蛋白質二級結構</a:t>
            </a:r>
            <a:endParaRPr lang="en-US" altLang="zh-TW" sz="2000" dirty="0" smtClean="0">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xmlns="" val="335866712"/>
      </p:ext>
    </p:extLst>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lstStyle/>
              <a:p>
                <a:r>
                  <a:rPr lang="en-US" altLang="zh-TW" sz="2400" dirty="0" smtClean="0">
                    <a:latin typeface="Times New Roman" pitchFamily="18" charset="0"/>
                    <a:ea typeface="標楷體" pitchFamily="65" charset="-120"/>
                    <a:cs typeface="Times New Roman" pitchFamily="18" charset="0"/>
                  </a:rPr>
                  <a:t>Sensitivity, </a:t>
                </a:r>
                <a14:m>
                  <m:oMath xmlns:m="http://schemas.openxmlformats.org/officeDocument/2006/math">
                    <m:r>
                      <m:rPr>
                        <m:sty m:val="p"/>
                      </m:rPr>
                      <a:rPr lang="en-US" altLang="zh-TW" sz="2400" b="0" i="0" smtClean="0">
                        <a:latin typeface="Cambria Math"/>
                        <a:ea typeface="標楷體" pitchFamily="65" charset="-120"/>
                        <a:cs typeface="Times New Roman" pitchFamily="18" charset="0"/>
                      </a:rPr>
                      <m:t>Sn</m:t>
                    </m:r>
                    <m:r>
                      <a:rPr lang="en-US" altLang="zh-TW" sz="2400" b="0" i="0" smtClean="0">
                        <a:latin typeface="Cambria Math"/>
                        <a:ea typeface="標楷體" pitchFamily="65" charset="-120"/>
                        <a:cs typeface="Times New Roman" pitchFamily="18" charset="0"/>
                      </a:rPr>
                      <m:t>=</m:t>
                    </m:r>
                    <m:f>
                      <m:fPr>
                        <m:ctrlPr>
                          <a:rPr lang="en-US" altLang="zh-TW" sz="2400" i="1" smtClean="0">
                            <a:latin typeface="Cambria Math"/>
                            <a:ea typeface="標楷體" pitchFamily="65" charset="-120"/>
                            <a:cs typeface="Times New Roman" pitchFamily="18" charset="0"/>
                          </a:rPr>
                        </m:ctrlPr>
                      </m:fPr>
                      <m:num>
                        <m:r>
                          <a:rPr lang="en-US" altLang="zh-TW" sz="2400" b="0" i="1" smtClean="0">
                            <a:latin typeface="Cambria Math"/>
                            <a:ea typeface="標楷體" pitchFamily="65" charset="-120"/>
                            <a:cs typeface="Times New Roman" pitchFamily="18" charset="0"/>
                          </a:rPr>
                          <m:t>𝑇𝑃</m:t>
                        </m:r>
                      </m:num>
                      <m:den>
                        <m:r>
                          <a:rPr lang="en-US" altLang="zh-TW" sz="2400" b="0" i="1" smtClean="0">
                            <a:latin typeface="Cambria Math"/>
                            <a:ea typeface="標楷體" pitchFamily="65" charset="-120"/>
                            <a:cs typeface="Times New Roman" pitchFamily="18" charset="0"/>
                          </a:rPr>
                          <m:t>𝑇𝑃</m:t>
                        </m:r>
                        <m:r>
                          <a:rPr lang="en-US" altLang="zh-TW" sz="2400" b="0" i="1" smtClean="0">
                            <a:latin typeface="Cambria Math"/>
                            <a:ea typeface="標楷體" pitchFamily="65" charset="-120"/>
                            <a:cs typeface="Times New Roman" pitchFamily="18" charset="0"/>
                          </a:rPr>
                          <m:t>+</m:t>
                        </m:r>
                        <m:r>
                          <a:rPr lang="en-US" altLang="zh-TW" sz="2400" b="0" i="1" smtClean="0">
                            <a:latin typeface="Cambria Math"/>
                            <a:ea typeface="標楷體" pitchFamily="65" charset="-120"/>
                            <a:cs typeface="Times New Roman" pitchFamily="18" charset="0"/>
                          </a:rPr>
                          <m:t>𝐹𝑁</m:t>
                        </m:r>
                      </m:den>
                    </m:f>
                  </m:oMath>
                </a14:m>
                <a:endParaRPr lang="en-US" altLang="zh-TW" sz="2400" dirty="0" smtClean="0">
                  <a:latin typeface="Times New Roman" pitchFamily="18" charset="0"/>
                  <a:ea typeface="標楷體" pitchFamily="65" charset="-120"/>
                  <a:cs typeface="Times New Roman" pitchFamily="18" charset="0"/>
                </a:endParaRPr>
              </a:p>
              <a:p>
                <a:r>
                  <a:rPr lang="en-US" altLang="zh-TW" sz="2400" dirty="0" smtClean="0">
                    <a:latin typeface="Times New Roman" pitchFamily="18" charset="0"/>
                    <a:ea typeface="標楷體" pitchFamily="65" charset="-120"/>
                    <a:cs typeface="Times New Roman" pitchFamily="18" charset="0"/>
                  </a:rPr>
                  <a:t>Specificity, </a:t>
                </a:r>
                <a14:m>
                  <m:oMath xmlns:m="http://schemas.openxmlformats.org/officeDocument/2006/math">
                    <m:r>
                      <m:rPr>
                        <m:sty m:val="p"/>
                      </m:rPr>
                      <a:rPr lang="en-US" altLang="zh-TW" sz="2400" b="0" i="0" smtClean="0">
                        <a:latin typeface="Cambria Math"/>
                        <a:ea typeface="標楷體" pitchFamily="65" charset="-120"/>
                        <a:cs typeface="Times New Roman" pitchFamily="18" charset="0"/>
                      </a:rPr>
                      <m:t>Sp</m:t>
                    </m:r>
                    <m:r>
                      <a:rPr lang="en-US" altLang="zh-TW" sz="2400" b="0" i="0" smtClean="0">
                        <a:latin typeface="Cambria Math"/>
                        <a:ea typeface="標楷體" pitchFamily="65" charset="-120"/>
                        <a:cs typeface="Times New Roman" pitchFamily="18" charset="0"/>
                      </a:rPr>
                      <m:t>=</m:t>
                    </m:r>
                    <m:f>
                      <m:fPr>
                        <m:ctrlPr>
                          <a:rPr lang="en-US" altLang="zh-TW" sz="2400" i="1" smtClean="0">
                            <a:latin typeface="Cambria Math"/>
                            <a:ea typeface="標楷體" pitchFamily="65" charset="-120"/>
                            <a:cs typeface="Times New Roman" pitchFamily="18" charset="0"/>
                          </a:rPr>
                        </m:ctrlPr>
                      </m:fPr>
                      <m:num>
                        <m:r>
                          <a:rPr lang="en-US" altLang="zh-TW" sz="2400" b="0" i="1" smtClean="0">
                            <a:latin typeface="Cambria Math"/>
                            <a:ea typeface="標楷體" pitchFamily="65" charset="-120"/>
                            <a:cs typeface="Times New Roman" pitchFamily="18" charset="0"/>
                          </a:rPr>
                          <m:t>𝑇𝑁</m:t>
                        </m:r>
                      </m:num>
                      <m:den>
                        <m:r>
                          <a:rPr lang="en-US" altLang="zh-TW" sz="2400" b="0" i="1" smtClean="0">
                            <a:latin typeface="Cambria Math"/>
                            <a:ea typeface="標楷體" pitchFamily="65" charset="-120"/>
                            <a:cs typeface="Times New Roman" pitchFamily="18" charset="0"/>
                          </a:rPr>
                          <m:t>𝑇𝑁</m:t>
                        </m:r>
                        <m:r>
                          <a:rPr lang="en-US" altLang="zh-TW" sz="2400" b="0" i="1" smtClean="0">
                            <a:latin typeface="Cambria Math"/>
                            <a:ea typeface="標楷體" pitchFamily="65" charset="-120"/>
                            <a:cs typeface="Times New Roman" pitchFamily="18" charset="0"/>
                          </a:rPr>
                          <m:t>+</m:t>
                        </m:r>
                        <m:r>
                          <a:rPr lang="en-US" altLang="zh-TW" sz="2400" b="0" i="1" smtClean="0">
                            <a:latin typeface="Cambria Math"/>
                            <a:ea typeface="標楷體" pitchFamily="65" charset="-120"/>
                            <a:cs typeface="Times New Roman" pitchFamily="18" charset="0"/>
                          </a:rPr>
                          <m:t>𝐹𝑃</m:t>
                        </m:r>
                      </m:den>
                    </m:f>
                  </m:oMath>
                </a14:m>
                <a:endParaRPr lang="en-US" altLang="zh-TW" sz="2400" dirty="0" smtClean="0">
                  <a:latin typeface="Times New Roman" pitchFamily="18" charset="0"/>
                  <a:ea typeface="標楷體" pitchFamily="65" charset="-120"/>
                  <a:cs typeface="Times New Roman" pitchFamily="18" charset="0"/>
                </a:endParaRPr>
              </a:p>
              <a:p>
                <a:r>
                  <a:rPr lang="en-US" altLang="zh-TW" sz="2400" dirty="0">
                    <a:latin typeface="Times New Roman" pitchFamily="18" charset="0"/>
                    <a:ea typeface="標楷體" pitchFamily="65" charset="-120"/>
                    <a:cs typeface="Times New Roman" pitchFamily="18" charset="0"/>
                  </a:rPr>
                  <a:t>Matthew’s correlation </a:t>
                </a:r>
                <a:r>
                  <a:rPr lang="en-US" altLang="zh-TW" sz="2400" dirty="0" smtClean="0">
                    <a:latin typeface="Times New Roman" pitchFamily="18" charset="0"/>
                    <a:ea typeface="標楷體" pitchFamily="65" charset="-120"/>
                    <a:cs typeface="Times New Roman" pitchFamily="18" charset="0"/>
                  </a:rPr>
                  <a:t>coefficient, </a:t>
                </a:r>
                <a14:m>
                  <m:oMath xmlns:m="http://schemas.openxmlformats.org/officeDocument/2006/math">
                    <m:r>
                      <a:rPr lang="en-US" altLang="zh-TW" sz="2400" b="0" i="1" smtClean="0">
                        <a:latin typeface="Cambria Math"/>
                        <a:ea typeface="標楷體" pitchFamily="65" charset="-120"/>
                        <a:cs typeface="Times New Roman" pitchFamily="18" charset="0"/>
                      </a:rPr>
                      <m:t>𝑀𝑐𝑐</m:t>
                    </m:r>
                    <m:r>
                      <a:rPr lang="en-US" altLang="zh-TW" sz="2400" b="0" i="1" smtClean="0">
                        <a:latin typeface="Cambria Math"/>
                        <a:ea typeface="標楷體" pitchFamily="65" charset="-120"/>
                        <a:cs typeface="Times New Roman" pitchFamily="18" charset="0"/>
                      </a:rPr>
                      <m:t>=</m:t>
                    </m:r>
                    <m:f>
                      <m:fPr>
                        <m:ctrlPr>
                          <a:rPr lang="en-US" altLang="zh-TW" sz="2400" b="0" i="1" smtClean="0">
                            <a:latin typeface="Cambria Math"/>
                            <a:ea typeface="標楷體" pitchFamily="65" charset="-120"/>
                            <a:cs typeface="Times New Roman" pitchFamily="18" charset="0"/>
                          </a:rPr>
                        </m:ctrlPr>
                      </m:fPr>
                      <m:num>
                        <m:r>
                          <a:rPr lang="en-US" altLang="zh-TW" sz="2400" b="0" i="1" smtClean="0">
                            <a:latin typeface="Cambria Math"/>
                            <a:ea typeface="標楷體" pitchFamily="65" charset="-120"/>
                            <a:cs typeface="Times New Roman" pitchFamily="18" charset="0"/>
                          </a:rPr>
                          <m:t>𝑇𝑃</m:t>
                        </m:r>
                        <m:r>
                          <a:rPr lang="en-US" altLang="zh-TW" sz="2400" b="0" i="1" smtClean="0">
                            <a:latin typeface="Cambria Math"/>
                            <a:ea typeface="Cambria Math"/>
                            <a:cs typeface="Times New Roman" pitchFamily="18" charset="0"/>
                          </a:rPr>
                          <m:t>×</m:t>
                        </m:r>
                        <m:r>
                          <a:rPr lang="en-US" altLang="zh-TW" sz="2400" b="0" i="1" smtClean="0">
                            <a:latin typeface="Cambria Math"/>
                            <a:ea typeface="Cambria Math"/>
                            <a:cs typeface="Times New Roman" pitchFamily="18" charset="0"/>
                          </a:rPr>
                          <m:t>𝑇𝑁</m:t>
                        </m:r>
                        <m:r>
                          <a:rPr lang="en-US" altLang="zh-TW" sz="2400" b="0" i="1" smtClean="0">
                            <a:latin typeface="Cambria Math"/>
                            <a:ea typeface="Cambria Math"/>
                            <a:cs typeface="Times New Roman" pitchFamily="18" charset="0"/>
                          </a:rPr>
                          <m:t>−</m:t>
                        </m:r>
                        <m:r>
                          <a:rPr lang="en-US" altLang="zh-TW" sz="2400" b="0" i="1" smtClean="0">
                            <a:latin typeface="Cambria Math"/>
                            <a:ea typeface="Cambria Math"/>
                            <a:cs typeface="Times New Roman" pitchFamily="18" charset="0"/>
                          </a:rPr>
                          <m:t>𝐹𝑁</m:t>
                        </m:r>
                        <m:r>
                          <a:rPr lang="en-US" altLang="zh-TW" sz="2400" b="0" i="1" smtClean="0">
                            <a:latin typeface="Cambria Math"/>
                            <a:ea typeface="Cambria Math"/>
                            <a:cs typeface="Times New Roman" pitchFamily="18" charset="0"/>
                          </a:rPr>
                          <m:t>×</m:t>
                        </m:r>
                        <m:r>
                          <a:rPr lang="en-US" altLang="zh-TW" sz="2400" b="0" i="1" smtClean="0">
                            <a:latin typeface="Cambria Math"/>
                            <a:ea typeface="Cambria Math"/>
                            <a:cs typeface="Times New Roman" pitchFamily="18" charset="0"/>
                          </a:rPr>
                          <m:t>𝐹𝑃</m:t>
                        </m:r>
                      </m:num>
                      <m:den>
                        <m:rad>
                          <m:radPr>
                            <m:degHide m:val="on"/>
                            <m:ctrlPr>
                              <a:rPr lang="en-US" altLang="zh-TW" sz="2400" b="0" i="1" smtClean="0">
                                <a:latin typeface="Cambria Math"/>
                                <a:ea typeface="標楷體" pitchFamily="65" charset="-120"/>
                                <a:cs typeface="Times New Roman" pitchFamily="18" charset="0"/>
                              </a:rPr>
                            </m:ctrlPr>
                          </m:radPr>
                          <m:deg/>
                          <m:e>
                            <m:r>
                              <a:rPr lang="en-US" altLang="zh-TW" sz="2400" b="0" i="1" smtClean="0">
                                <a:latin typeface="Cambria Math"/>
                                <a:ea typeface="標楷體" pitchFamily="65" charset="-120"/>
                                <a:cs typeface="Times New Roman" pitchFamily="18" charset="0"/>
                              </a:rPr>
                              <m:t>(</m:t>
                            </m:r>
                            <m:r>
                              <a:rPr lang="en-US" altLang="zh-TW" sz="2400" b="0" i="1" smtClean="0">
                                <a:latin typeface="Cambria Math"/>
                                <a:ea typeface="標楷體" pitchFamily="65" charset="-120"/>
                                <a:cs typeface="Times New Roman" pitchFamily="18" charset="0"/>
                              </a:rPr>
                              <m:t>𝑇𝑃</m:t>
                            </m:r>
                            <m:r>
                              <a:rPr lang="en-US" altLang="zh-TW" sz="2400" b="0" i="1" smtClean="0">
                                <a:latin typeface="Cambria Math"/>
                                <a:ea typeface="標楷體" pitchFamily="65" charset="-120"/>
                                <a:cs typeface="Times New Roman" pitchFamily="18" charset="0"/>
                              </a:rPr>
                              <m:t>+</m:t>
                            </m:r>
                            <m:r>
                              <a:rPr lang="en-US" altLang="zh-TW" sz="2400" b="0" i="1" smtClean="0">
                                <a:latin typeface="Cambria Math"/>
                                <a:ea typeface="標楷體" pitchFamily="65" charset="-120"/>
                                <a:cs typeface="Times New Roman" pitchFamily="18" charset="0"/>
                              </a:rPr>
                              <m:t>𝐹𝑁</m:t>
                            </m:r>
                            <m:r>
                              <a:rPr lang="en-US" altLang="zh-TW" sz="2400" b="0" i="1" smtClean="0">
                                <a:latin typeface="Cambria Math"/>
                                <a:ea typeface="標楷體" pitchFamily="65" charset="-120"/>
                                <a:cs typeface="Times New Roman" pitchFamily="18" charset="0"/>
                              </a:rPr>
                              <m:t>)×(</m:t>
                            </m:r>
                            <m:r>
                              <a:rPr lang="en-US" altLang="zh-TW" sz="2400" b="0" i="1" smtClean="0">
                                <a:latin typeface="Cambria Math"/>
                                <a:ea typeface="Cambria Math"/>
                                <a:cs typeface="Times New Roman" pitchFamily="18" charset="0"/>
                              </a:rPr>
                              <m:t>𝑇𝑁</m:t>
                            </m:r>
                            <m:r>
                              <a:rPr lang="en-US" altLang="zh-TW" sz="2400" b="0" i="1" smtClean="0">
                                <a:latin typeface="Cambria Math"/>
                                <a:ea typeface="Cambria Math"/>
                                <a:cs typeface="Times New Roman" pitchFamily="18" charset="0"/>
                              </a:rPr>
                              <m:t>+</m:t>
                            </m:r>
                            <m:r>
                              <a:rPr lang="en-US" altLang="zh-TW" sz="2400" b="0" i="1" smtClean="0">
                                <a:latin typeface="Cambria Math"/>
                                <a:ea typeface="Cambria Math"/>
                                <a:cs typeface="Times New Roman" pitchFamily="18" charset="0"/>
                              </a:rPr>
                              <m:t>𝐹𝑃</m:t>
                            </m:r>
                            <m:r>
                              <a:rPr lang="en-US" altLang="zh-TW" sz="2400" b="0" i="1" smtClean="0">
                                <a:latin typeface="Cambria Math"/>
                                <a:ea typeface="Cambria Math"/>
                                <a:cs typeface="Times New Roman" pitchFamily="18" charset="0"/>
                              </a:rPr>
                              <m:t>)×(</m:t>
                            </m:r>
                            <m:r>
                              <a:rPr lang="en-US" altLang="zh-TW" sz="2400" b="0" i="1" smtClean="0">
                                <a:latin typeface="Cambria Math"/>
                                <a:ea typeface="Cambria Math"/>
                                <a:cs typeface="Times New Roman" pitchFamily="18" charset="0"/>
                              </a:rPr>
                              <m:t>𝑇𝑃</m:t>
                            </m:r>
                            <m:r>
                              <a:rPr lang="en-US" altLang="zh-TW" sz="2400" b="0" i="1" smtClean="0">
                                <a:latin typeface="Cambria Math"/>
                                <a:ea typeface="Cambria Math"/>
                                <a:cs typeface="Times New Roman" pitchFamily="18" charset="0"/>
                              </a:rPr>
                              <m:t>+</m:t>
                            </m:r>
                            <m:r>
                              <a:rPr lang="en-US" altLang="zh-TW" sz="2400" b="0" i="1" smtClean="0">
                                <a:latin typeface="Cambria Math"/>
                                <a:ea typeface="Cambria Math"/>
                                <a:cs typeface="Times New Roman" pitchFamily="18" charset="0"/>
                              </a:rPr>
                              <m:t>𝐹𝑃</m:t>
                            </m:r>
                            <m:r>
                              <a:rPr lang="en-US" altLang="zh-TW" sz="2400" b="0" i="1" smtClean="0">
                                <a:latin typeface="Cambria Math"/>
                                <a:ea typeface="Cambria Math"/>
                                <a:cs typeface="Times New Roman" pitchFamily="18" charset="0"/>
                              </a:rPr>
                              <m:t>)×(</m:t>
                            </m:r>
                            <m:r>
                              <a:rPr lang="en-US" altLang="zh-TW" sz="2400" b="0" i="1" smtClean="0">
                                <a:latin typeface="Cambria Math"/>
                                <a:ea typeface="Cambria Math"/>
                                <a:cs typeface="Times New Roman" pitchFamily="18" charset="0"/>
                              </a:rPr>
                              <m:t>𝑇𝑁</m:t>
                            </m:r>
                            <m:r>
                              <a:rPr lang="en-US" altLang="zh-TW" sz="2400" b="0" i="1" smtClean="0">
                                <a:latin typeface="Cambria Math"/>
                                <a:ea typeface="Cambria Math"/>
                                <a:cs typeface="Times New Roman" pitchFamily="18" charset="0"/>
                              </a:rPr>
                              <m:t>+</m:t>
                            </m:r>
                            <m:r>
                              <a:rPr lang="en-US" altLang="zh-TW" sz="2400" b="0" i="1" smtClean="0">
                                <a:latin typeface="Cambria Math"/>
                                <a:ea typeface="Cambria Math"/>
                                <a:cs typeface="Times New Roman" pitchFamily="18" charset="0"/>
                              </a:rPr>
                              <m:t>𝐹𝑁</m:t>
                            </m:r>
                            <m:r>
                              <a:rPr lang="en-US" altLang="zh-TW" sz="2400" b="0" i="1" smtClean="0">
                                <a:latin typeface="Cambria Math"/>
                                <a:ea typeface="Cambria Math"/>
                                <a:cs typeface="Times New Roman" pitchFamily="18" charset="0"/>
                              </a:rPr>
                              <m:t>)</m:t>
                            </m:r>
                          </m:e>
                        </m:rad>
                      </m:den>
                    </m:f>
                  </m:oMath>
                </a14:m>
                <a:endParaRPr lang="en-US" altLang="zh-TW" sz="2400" dirty="0" smtClean="0">
                  <a:latin typeface="Times New Roman" pitchFamily="18" charset="0"/>
                  <a:ea typeface="標楷體" pitchFamily="65" charset="-120"/>
                  <a:cs typeface="Times New Roman" pitchFamily="18" charset="0"/>
                </a:endParaRPr>
              </a:p>
              <a:p>
                <a14:m>
                  <m:oMath xmlns:m="http://schemas.openxmlformats.org/officeDocument/2006/math">
                    <m:r>
                      <a:rPr lang="en-US" altLang="zh-TW" sz="2400" b="0" i="1" smtClean="0">
                        <a:latin typeface="Cambria Math"/>
                        <a:ea typeface="標楷體" pitchFamily="65" charset="-120"/>
                        <a:cs typeface="Times New Roman" pitchFamily="18" charset="0"/>
                      </a:rPr>
                      <m:t>𝑄𝑝</m:t>
                    </m:r>
                    <m:r>
                      <a:rPr lang="en-US" altLang="zh-TW" sz="2400" b="0" i="1" smtClean="0">
                        <a:latin typeface="Cambria Math"/>
                        <a:ea typeface="標楷體" pitchFamily="65" charset="-120"/>
                        <a:cs typeface="Times New Roman" pitchFamily="18" charset="0"/>
                      </a:rPr>
                      <m:t>=</m:t>
                    </m:r>
                    <m:r>
                      <a:rPr lang="zh-TW" altLang="en-US" sz="2400" b="0" i="1" smtClean="0">
                        <a:latin typeface="Cambria Math"/>
                        <a:ea typeface="標楷體" pitchFamily="65" charset="-120"/>
                        <a:cs typeface="Times New Roman" pitchFamily="18" charset="0"/>
                      </a:rPr>
                      <m:t>𝛿</m:t>
                    </m:r>
                    <m:d>
                      <m:dPr>
                        <m:ctrlPr>
                          <a:rPr lang="en-US" altLang="zh-TW" sz="2400" b="0" i="1" smtClean="0">
                            <a:latin typeface="Cambria Math"/>
                            <a:ea typeface="標楷體" pitchFamily="65" charset="-120"/>
                            <a:cs typeface="Times New Roman" pitchFamily="18" charset="0"/>
                          </a:rPr>
                        </m:ctrlPr>
                      </m:dPr>
                      <m:e>
                        <m:r>
                          <a:rPr lang="en-US" altLang="zh-TW" sz="2400" i="1">
                            <a:latin typeface="Cambria Math"/>
                            <a:ea typeface="標楷體" pitchFamily="65" charset="-120"/>
                            <a:cs typeface="Times New Roman" pitchFamily="18" charset="0"/>
                          </a:rPr>
                          <m:t>𝑐𝑜𝑟𝑟𝑒𝑐𝑡</m:t>
                        </m:r>
                        <m:r>
                          <a:rPr lang="en-US" altLang="zh-TW" sz="2400" i="1">
                            <a:latin typeface="Cambria Math"/>
                            <a:ea typeface="標楷體" pitchFamily="65" charset="-120"/>
                            <a:cs typeface="Times New Roman" pitchFamily="18" charset="0"/>
                          </a:rPr>
                          <m:t> </m:t>
                        </m:r>
                        <m:r>
                          <a:rPr lang="en-US" altLang="zh-TW" sz="2400" i="1">
                            <a:latin typeface="Cambria Math"/>
                            <a:ea typeface="標楷體" pitchFamily="65" charset="-120"/>
                            <a:cs typeface="Times New Roman" pitchFamily="18" charset="0"/>
                          </a:rPr>
                          <m:t>𝑝𝑎𝑡𝑡𝑒𝑟𝑛</m:t>
                        </m:r>
                        <m:r>
                          <a:rPr lang="en-US" altLang="zh-TW" sz="2400" b="0" i="1" smtClean="0">
                            <a:latin typeface="Cambria Math"/>
                            <a:ea typeface="標楷體" pitchFamily="65" charset="-120"/>
                            <a:cs typeface="Times New Roman" pitchFamily="18" charset="0"/>
                          </a:rPr>
                          <m:t>,</m:t>
                        </m:r>
                        <m:r>
                          <a:rPr lang="en-US" altLang="zh-TW" sz="2400" i="1">
                            <a:latin typeface="Cambria Math"/>
                            <a:ea typeface="標楷體" pitchFamily="65" charset="-120"/>
                            <a:cs typeface="Times New Roman" pitchFamily="18" charset="0"/>
                          </a:rPr>
                          <m:t>𝑝𝑟𝑒𝑑𝑖𝑐𝑡𝑒𝑑</m:t>
                        </m:r>
                        <m:r>
                          <a:rPr lang="en-US" altLang="zh-TW" sz="2400" i="1">
                            <a:latin typeface="Cambria Math"/>
                            <a:ea typeface="標楷體" pitchFamily="65" charset="-120"/>
                            <a:cs typeface="Times New Roman" pitchFamily="18" charset="0"/>
                          </a:rPr>
                          <m:t> </m:t>
                        </m:r>
                        <m:r>
                          <a:rPr lang="en-US" altLang="zh-TW" sz="2400" i="1">
                            <a:latin typeface="Cambria Math"/>
                            <a:ea typeface="標楷體" pitchFamily="65" charset="-120"/>
                            <a:cs typeface="Times New Roman" pitchFamily="18" charset="0"/>
                          </a:rPr>
                          <m:t>𝑝𝑎𝑡𝑡𝑒𝑟𝑛</m:t>
                        </m:r>
                      </m:e>
                    </m:d>
                    <m:r>
                      <a:rPr lang="en-US" altLang="zh-TW" sz="2400" b="0" i="1" smtClean="0">
                        <a:latin typeface="Cambria Math"/>
                        <a:ea typeface="標楷體" pitchFamily="65" charset="-120"/>
                        <a:cs typeface="Times New Roman" pitchFamily="18" charset="0"/>
                      </a:rPr>
                      <m:t>,</m:t>
                    </m:r>
                  </m:oMath>
                </a14:m>
                <a:endParaRPr lang="en-US" altLang="zh-TW" sz="2400" dirty="0" smtClean="0">
                  <a:latin typeface="Times New Roman" pitchFamily="18" charset="0"/>
                  <a:ea typeface="標楷體" pitchFamily="65" charset="-120"/>
                  <a:cs typeface="Times New Roman" pitchFamily="18" charset="0"/>
                </a:endParaRPr>
              </a:p>
              <a:p>
                <a:pPr lvl="1"/>
                <a:r>
                  <a:rPr lang="en-US" altLang="zh-TW" sz="2000" dirty="0" smtClean="0">
                    <a:latin typeface="Times New Roman" pitchFamily="18" charset="0"/>
                    <a:ea typeface="標楷體" pitchFamily="65" charset="-120"/>
                    <a:cs typeface="Times New Roman" pitchFamily="18" charset="0"/>
                  </a:rPr>
                  <a:t>where </a:t>
                </a:r>
                <a:r>
                  <a:rPr lang="en-US" altLang="zh-TW" sz="2000" dirty="0">
                    <a:latin typeface="Times New Roman" pitchFamily="18" charset="0"/>
                    <a:ea typeface="標楷體" pitchFamily="65" charset="-120"/>
                    <a:cs typeface="Times New Roman" pitchFamily="18" charset="0"/>
                  </a:rPr>
                  <a:t>δ (x, y) is 1 if and only if the predicted pattern </a:t>
                </a:r>
                <a:r>
                  <a:rPr lang="en-US" altLang="zh-TW" sz="2000" dirty="0" smtClean="0">
                    <a:latin typeface="Times New Roman" pitchFamily="18" charset="0"/>
                    <a:ea typeface="標楷體" pitchFamily="65" charset="-120"/>
                    <a:cs typeface="Times New Roman" pitchFamily="18" charset="0"/>
                  </a:rPr>
                  <a:t>coincides with </a:t>
                </a:r>
                <a:r>
                  <a:rPr lang="en-US" altLang="zh-TW" sz="2000" dirty="0">
                    <a:latin typeface="Times New Roman" pitchFamily="18" charset="0"/>
                    <a:ea typeface="標楷體" pitchFamily="65" charset="-120"/>
                    <a:cs typeface="Times New Roman" pitchFamily="18" charset="0"/>
                  </a:rPr>
                  <a:t>the correct pattern</a:t>
                </a:r>
                <a:r>
                  <a:rPr lang="en-US" altLang="zh-TW" sz="2000" dirty="0" smtClean="0">
                    <a:latin typeface="Times New Roman" pitchFamily="18" charset="0"/>
                    <a:ea typeface="標楷體" pitchFamily="65" charset="-120"/>
                    <a:cs typeface="Times New Roman" pitchFamily="18" charset="0"/>
                  </a:rPr>
                  <a:t>.</a:t>
                </a:r>
              </a:p>
              <a:p>
                <a14:m>
                  <m:oMath xmlns:m="http://schemas.openxmlformats.org/officeDocument/2006/math">
                    <m:r>
                      <a:rPr lang="en-US" altLang="zh-TW" sz="2400" b="0" i="1" smtClean="0">
                        <a:latin typeface="Cambria Math"/>
                        <a:ea typeface="標楷體" pitchFamily="65" charset="-120"/>
                        <a:cs typeface="Times New Roman" pitchFamily="18" charset="0"/>
                      </a:rPr>
                      <m:t>𝑄𝑐</m:t>
                    </m:r>
                    <m:r>
                      <a:rPr lang="en-US" altLang="zh-TW" sz="2400" b="0" i="1" smtClean="0">
                        <a:latin typeface="Cambria Math"/>
                        <a:ea typeface="標楷體" pitchFamily="65" charset="-120"/>
                        <a:cs typeface="Times New Roman" pitchFamily="18" charset="0"/>
                      </a:rPr>
                      <m:t>=</m:t>
                    </m:r>
                    <m:f>
                      <m:fPr>
                        <m:ctrlPr>
                          <a:rPr lang="en-US" altLang="zh-TW" sz="2400" b="0" i="1" smtClean="0">
                            <a:latin typeface="Cambria Math"/>
                            <a:ea typeface="標楷體" pitchFamily="65" charset="-120"/>
                            <a:cs typeface="Times New Roman" pitchFamily="18" charset="0"/>
                          </a:rPr>
                        </m:ctrlPr>
                      </m:fPr>
                      <m:num>
                        <m:r>
                          <a:rPr lang="en-US" altLang="zh-TW" sz="2400" i="1">
                            <a:latin typeface="Cambria Math"/>
                            <a:ea typeface="標楷體" pitchFamily="65" charset="-120"/>
                            <a:cs typeface="Times New Roman" pitchFamily="18" charset="0"/>
                          </a:rPr>
                          <m:t>𝑛𝑢𝑚𝑏𝑒𝑟</m:t>
                        </m:r>
                        <m:r>
                          <a:rPr lang="en-US" altLang="zh-TW" sz="2400" i="1">
                            <a:latin typeface="Cambria Math"/>
                            <a:ea typeface="標楷體" pitchFamily="65" charset="-120"/>
                            <a:cs typeface="Times New Roman" pitchFamily="18" charset="0"/>
                          </a:rPr>
                          <m:t> </m:t>
                        </m:r>
                        <m:r>
                          <a:rPr lang="en-US" altLang="zh-TW" sz="2400" i="1">
                            <a:latin typeface="Cambria Math"/>
                            <a:ea typeface="標楷體" pitchFamily="65" charset="-120"/>
                            <a:cs typeface="Times New Roman" pitchFamily="18" charset="0"/>
                          </a:rPr>
                          <m:t>𝑜𝑓</m:t>
                        </m:r>
                        <m:r>
                          <a:rPr lang="en-US" altLang="zh-TW" sz="2400" i="1">
                            <a:latin typeface="Cambria Math"/>
                            <a:ea typeface="標楷體" pitchFamily="65" charset="-120"/>
                            <a:cs typeface="Times New Roman" pitchFamily="18" charset="0"/>
                          </a:rPr>
                          <m:t> </m:t>
                        </m:r>
                        <m:r>
                          <a:rPr lang="en-US" altLang="zh-TW" sz="2400" i="1">
                            <a:latin typeface="Cambria Math"/>
                            <a:ea typeface="標楷體" pitchFamily="65" charset="-120"/>
                            <a:cs typeface="Times New Roman" pitchFamily="18" charset="0"/>
                          </a:rPr>
                          <m:t>𝑐𝑜𝑟𝑟𝑒𝑐𝑡𝑙𝑦</m:t>
                        </m:r>
                        <m:r>
                          <a:rPr lang="en-US" altLang="zh-TW" sz="2400" i="1">
                            <a:latin typeface="Cambria Math"/>
                            <a:ea typeface="標楷體" pitchFamily="65" charset="-120"/>
                            <a:cs typeface="Times New Roman" pitchFamily="18" charset="0"/>
                          </a:rPr>
                          <m:t> </m:t>
                        </m:r>
                        <m:r>
                          <a:rPr lang="en-US" altLang="zh-TW" sz="2400" i="1">
                            <a:latin typeface="Cambria Math"/>
                            <a:ea typeface="標楷體" pitchFamily="65" charset="-120"/>
                            <a:cs typeface="Times New Roman" pitchFamily="18" charset="0"/>
                          </a:rPr>
                          <m:t>𝑝𝑟𝑒𝑑𝑖𝑐𝑡𝑒𝑑</m:t>
                        </m:r>
                        <m:r>
                          <a:rPr lang="en-US" altLang="zh-TW" sz="2400" i="1">
                            <a:latin typeface="Cambria Math"/>
                            <a:ea typeface="標楷體" pitchFamily="65" charset="-120"/>
                            <a:cs typeface="Times New Roman" pitchFamily="18" charset="0"/>
                          </a:rPr>
                          <m:t> </m:t>
                        </m:r>
                        <m:r>
                          <a:rPr lang="en-US" altLang="zh-TW" sz="2400" i="1">
                            <a:latin typeface="Cambria Math"/>
                            <a:ea typeface="標楷體" pitchFamily="65" charset="-120"/>
                            <a:cs typeface="Times New Roman" pitchFamily="18" charset="0"/>
                          </a:rPr>
                          <m:t>𝑝𝑎𝑖𝑟𝑠</m:t>
                        </m:r>
                      </m:num>
                      <m:den>
                        <m:r>
                          <a:rPr lang="en-US" altLang="zh-TW" sz="2400" i="1">
                            <a:latin typeface="Cambria Math"/>
                            <a:ea typeface="標楷體" pitchFamily="65" charset="-120"/>
                            <a:cs typeface="Times New Roman" pitchFamily="18" charset="0"/>
                          </a:rPr>
                          <m:t>𝑛𝑢𝑚𝑏𝑒𝑟</m:t>
                        </m:r>
                        <m:r>
                          <a:rPr lang="en-US" altLang="zh-TW" sz="2400" i="1">
                            <a:latin typeface="Cambria Math"/>
                            <a:ea typeface="標楷體" pitchFamily="65" charset="-120"/>
                            <a:cs typeface="Times New Roman" pitchFamily="18" charset="0"/>
                          </a:rPr>
                          <m:t> </m:t>
                        </m:r>
                        <m:r>
                          <a:rPr lang="en-US" altLang="zh-TW" sz="2400" i="1">
                            <a:latin typeface="Cambria Math"/>
                            <a:ea typeface="標楷體" pitchFamily="65" charset="-120"/>
                            <a:cs typeface="Times New Roman" pitchFamily="18" charset="0"/>
                          </a:rPr>
                          <m:t>𝑜𝑓</m:t>
                        </m:r>
                        <m:r>
                          <a:rPr lang="en-US" altLang="zh-TW" sz="2400" i="1">
                            <a:latin typeface="Cambria Math"/>
                            <a:ea typeface="標楷體" pitchFamily="65" charset="-120"/>
                            <a:cs typeface="Times New Roman" pitchFamily="18" charset="0"/>
                          </a:rPr>
                          <m:t> </m:t>
                        </m:r>
                        <m:r>
                          <a:rPr lang="en-US" altLang="zh-TW" sz="2400" i="1">
                            <a:latin typeface="Cambria Math"/>
                            <a:ea typeface="標楷體" pitchFamily="65" charset="-120"/>
                            <a:cs typeface="Times New Roman" pitchFamily="18" charset="0"/>
                          </a:rPr>
                          <m:t>𝑝𝑜𝑠𝑠𝑖𝑏𝑙𝑒</m:t>
                        </m:r>
                        <m:r>
                          <a:rPr lang="en-US" altLang="zh-TW" sz="2400" i="1">
                            <a:latin typeface="Cambria Math"/>
                            <a:ea typeface="標楷體" pitchFamily="65" charset="-120"/>
                            <a:cs typeface="Times New Roman" pitchFamily="18" charset="0"/>
                          </a:rPr>
                          <m:t> </m:t>
                        </m:r>
                        <m:r>
                          <a:rPr lang="en-US" altLang="zh-TW" sz="2400" i="1">
                            <a:latin typeface="Cambria Math"/>
                            <a:ea typeface="標楷體" pitchFamily="65" charset="-120"/>
                            <a:cs typeface="Times New Roman" pitchFamily="18" charset="0"/>
                          </a:rPr>
                          <m:t>𝑝𝑎𝑖𝑟𝑠</m:t>
                        </m:r>
                      </m:den>
                    </m:f>
                  </m:oMath>
                </a14:m>
                <a:endParaRPr lang="en-US" altLang="zh-TW" sz="2400" dirty="0" smtClean="0">
                  <a:latin typeface="Times New Roman" pitchFamily="18" charset="0"/>
                  <a:ea typeface="標楷體" pitchFamily="65" charset="-120"/>
                  <a:cs typeface="Times New Roman" pitchFamily="18" charset="0"/>
                </a:endParaRPr>
              </a:p>
              <a:p>
                <a:r>
                  <a:rPr lang="en-US" altLang="zh-TW" sz="2400" dirty="0">
                    <a:latin typeface="Times New Roman" pitchFamily="18" charset="0"/>
                    <a:ea typeface="標楷體" pitchFamily="65" charset="-120"/>
                    <a:cs typeface="Times New Roman" pitchFamily="18" charset="0"/>
                  </a:rPr>
                  <a:t>Pair vs. Pattern</a:t>
                </a:r>
              </a:p>
              <a:p>
                <a:endParaRPr lang="en-US" altLang="zh-TW" sz="2400" dirty="0">
                  <a:latin typeface="Times New Roman" pitchFamily="18" charset="0"/>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cstate="print"/>
                <a:stretch>
                  <a:fillRect l="-963" r="-1111" b="-2695"/>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3795601364"/>
      </p:ext>
    </p:extLst>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ea typeface="標楷體" pitchFamily="65" charset="-120"/>
                <a:cs typeface="Times New Roman" pitchFamily="18" charset="0"/>
              </a:rPr>
              <a:t>Neural Network Model</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800" dirty="0">
                <a:latin typeface="Times New Roman" pitchFamily="18" charset="0"/>
                <a:ea typeface="標楷體" pitchFamily="65" charset="-120"/>
                <a:cs typeface="Times New Roman" pitchFamily="18" charset="0"/>
              </a:rPr>
              <a:t>The amino acid environment of </a:t>
            </a:r>
            <a:r>
              <a:rPr lang="en-US" altLang="zh-TW" sz="2800" dirty="0" err="1">
                <a:latin typeface="Times New Roman" pitchFamily="18" charset="0"/>
                <a:ea typeface="標楷體" pitchFamily="65" charset="-120"/>
                <a:cs typeface="Times New Roman" pitchFamily="18" charset="0"/>
              </a:rPr>
              <a:t>cystines</a:t>
            </a:r>
            <a:r>
              <a:rPr lang="en-US" altLang="zh-TW" sz="2800" dirty="0">
                <a:latin typeface="Times New Roman" pitchFamily="18" charset="0"/>
                <a:ea typeface="標楷體" pitchFamily="65" charset="-120"/>
                <a:cs typeface="Times New Roman" pitchFamily="18" charset="0"/>
              </a:rPr>
              <a:t> shows </a:t>
            </a:r>
            <a:r>
              <a:rPr lang="en-US" altLang="zh-TW" sz="2800" dirty="0" smtClean="0">
                <a:latin typeface="Times New Roman" pitchFamily="18" charset="0"/>
                <a:ea typeface="標楷體" pitchFamily="65" charset="-120"/>
                <a:cs typeface="Times New Roman" pitchFamily="18" charset="0"/>
              </a:rPr>
              <a:t>peculiar sequence </a:t>
            </a:r>
            <a:r>
              <a:rPr lang="en-US" altLang="zh-TW" sz="2800" dirty="0">
                <a:latin typeface="Times New Roman" pitchFamily="18" charset="0"/>
                <a:ea typeface="標楷體" pitchFamily="65" charset="-120"/>
                <a:cs typeface="Times New Roman" pitchFamily="18" charset="0"/>
              </a:rPr>
              <a:t>characteristics that allow the </a:t>
            </a:r>
            <a:r>
              <a:rPr lang="en-US" altLang="zh-TW" sz="2800" dirty="0">
                <a:solidFill>
                  <a:srgbClr val="FF0000"/>
                </a:solidFill>
                <a:latin typeface="Times New Roman" pitchFamily="18" charset="0"/>
                <a:ea typeface="標楷體" pitchFamily="65" charset="-120"/>
                <a:cs typeface="Times New Roman" pitchFamily="18" charset="0"/>
              </a:rPr>
              <a:t>discrimination </a:t>
            </a:r>
            <a:r>
              <a:rPr lang="en-US" altLang="zh-TW" sz="2800" dirty="0" smtClean="0">
                <a:solidFill>
                  <a:srgbClr val="FF0000"/>
                </a:solidFill>
                <a:latin typeface="Times New Roman" pitchFamily="18" charset="0"/>
                <a:ea typeface="標楷體" pitchFamily="65" charset="-120"/>
                <a:cs typeface="Times New Roman" pitchFamily="18" charset="0"/>
              </a:rPr>
              <a:t>between </a:t>
            </a:r>
            <a:r>
              <a:rPr lang="en-US" altLang="zh-TW" sz="2800" dirty="0" err="1" smtClean="0">
                <a:solidFill>
                  <a:srgbClr val="FF0000"/>
                </a:solidFill>
                <a:latin typeface="Times New Roman" pitchFamily="18" charset="0"/>
                <a:ea typeface="標楷體" pitchFamily="65" charset="-120"/>
                <a:cs typeface="Times New Roman" pitchFamily="18" charset="0"/>
              </a:rPr>
              <a:t>cystines</a:t>
            </a:r>
            <a:r>
              <a:rPr lang="en-US" altLang="zh-TW" sz="2800" dirty="0" smtClean="0">
                <a:solidFill>
                  <a:srgbClr val="FF0000"/>
                </a:solidFill>
                <a:latin typeface="Times New Roman" pitchFamily="18" charset="0"/>
                <a:ea typeface="標楷體" pitchFamily="65" charset="-120"/>
                <a:cs typeface="Times New Roman" pitchFamily="18" charset="0"/>
              </a:rPr>
              <a:t> </a:t>
            </a:r>
            <a:r>
              <a:rPr lang="en-US" altLang="zh-TW" sz="2800" dirty="0">
                <a:solidFill>
                  <a:srgbClr val="FF0000"/>
                </a:solidFill>
                <a:latin typeface="Times New Roman" pitchFamily="18" charset="0"/>
                <a:ea typeface="標楷體" pitchFamily="65" charset="-120"/>
                <a:cs typeface="Times New Roman" pitchFamily="18" charset="0"/>
              </a:rPr>
              <a:t>and free </a:t>
            </a:r>
            <a:r>
              <a:rPr lang="en-US" altLang="zh-TW" sz="2800" dirty="0" err="1">
                <a:solidFill>
                  <a:srgbClr val="FF0000"/>
                </a:solidFill>
                <a:latin typeface="Times New Roman" pitchFamily="18" charset="0"/>
                <a:ea typeface="標楷體" pitchFamily="65" charset="-120"/>
                <a:cs typeface="Times New Roman" pitchFamily="18" charset="0"/>
              </a:rPr>
              <a:t>cysteines</a:t>
            </a:r>
            <a:r>
              <a:rPr lang="en-US" altLang="zh-TW" sz="2800" dirty="0">
                <a:solidFill>
                  <a:srgbClr val="FF0000"/>
                </a:solidFill>
                <a:latin typeface="Times New Roman" pitchFamily="18" charset="0"/>
                <a:ea typeface="標楷體" pitchFamily="65" charset="-120"/>
                <a:cs typeface="Times New Roman" pitchFamily="18" charset="0"/>
              </a:rPr>
              <a:t> using machine </a:t>
            </a:r>
            <a:r>
              <a:rPr lang="en-US" altLang="zh-TW" sz="2800" dirty="0" smtClean="0">
                <a:solidFill>
                  <a:srgbClr val="FF0000"/>
                </a:solidFill>
                <a:latin typeface="Times New Roman" pitchFamily="18" charset="0"/>
                <a:ea typeface="標楷體" pitchFamily="65" charset="-120"/>
                <a:cs typeface="Times New Roman" pitchFamily="18" charset="0"/>
              </a:rPr>
              <a:t>learning</a:t>
            </a:r>
            <a:r>
              <a:rPr lang="en-US" altLang="zh-TW" sz="2800" dirty="0" smtClean="0">
                <a:latin typeface="Times New Roman" pitchFamily="18" charset="0"/>
                <a:ea typeface="標楷體" pitchFamily="65" charset="-120"/>
                <a:cs typeface="Times New Roman" pitchFamily="18" charset="0"/>
              </a:rPr>
              <a:t>.</a:t>
            </a:r>
          </a:p>
          <a:p>
            <a:r>
              <a:rPr lang="en-US" altLang="zh-TW" sz="2800" dirty="0" smtClean="0">
                <a:latin typeface="Times New Roman" pitchFamily="18" charset="0"/>
                <a:ea typeface="標楷體" pitchFamily="65" charset="-120"/>
                <a:cs typeface="Times New Roman" pitchFamily="18" charset="0"/>
              </a:rPr>
              <a:t>The </a:t>
            </a:r>
            <a:r>
              <a:rPr lang="en-US" altLang="zh-TW" sz="2800" dirty="0">
                <a:latin typeface="Times New Roman" pitchFamily="18" charset="0"/>
                <a:ea typeface="標楷體" pitchFamily="65" charset="-120"/>
                <a:cs typeface="Times New Roman" pitchFamily="18" charset="0"/>
              </a:rPr>
              <a:t>secondary structure conformation assumed </a:t>
            </a:r>
            <a:r>
              <a:rPr lang="en-US" altLang="zh-TW" sz="2800" dirty="0" smtClean="0">
                <a:latin typeface="Times New Roman" pitchFamily="18" charset="0"/>
                <a:ea typeface="標楷體" pitchFamily="65" charset="-120"/>
                <a:cs typeface="Times New Roman" pitchFamily="18" charset="0"/>
              </a:rPr>
              <a:t>by the </a:t>
            </a:r>
            <a:r>
              <a:rPr lang="en-US" altLang="zh-TW" sz="2800" dirty="0" err="1">
                <a:latin typeface="Times New Roman" pitchFamily="18" charset="0"/>
                <a:ea typeface="標楷體" pitchFamily="65" charset="-120"/>
                <a:cs typeface="Times New Roman" pitchFamily="18" charset="0"/>
              </a:rPr>
              <a:t>cysteines</a:t>
            </a:r>
            <a:r>
              <a:rPr lang="en-US" altLang="zh-TW" sz="2800" dirty="0">
                <a:latin typeface="Times New Roman" pitchFamily="18" charset="0"/>
                <a:ea typeface="標楷體" pitchFamily="65" charset="-120"/>
                <a:cs typeface="Times New Roman" pitchFamily="18" charset="0"/>
              </a:rPr>
              <a:t> and their </a:t>
            </a:r>
            <a:r>
              <a:rPr lang="en-US" altLang="zh-TW" sz="2800" dirty="0">
                <a:solidFill>
                  <a:srgbClr val="FF0000"/>
                </a:solidFill>
                <a:latin typeface="Times New Roman" pitchFamily="18" charset="0"/>
                <a:ea typeface="標楷體" pitchFamily="65" charset="-120"/>
                <a:cs typeface="Times New Roman" pitchFamily="18" charset="0"/>
              </a:rPr>
              <a:t>neighboring residues is </a:t>
            </a:r>
            <a:r>
              <a:rPr lang="en-US" altLang="zh-TW" sz="2800" dirty="0" smtClean="0">
                <a:solidFill>
                  <a:srgbClr val="FF0000"/>
                </a:solidFill>
                <a:latin typeface="Times New Roman" pitchFamily="18" charset="0"/>
                <a:ea typeface="標楷體" pitchFamily="65" charset="-120"/>
                <a:cs typeface="Times New Roman" pitchFamily="18" charset="0"/>
              </a:rPr>
              <a:t>remarkably different </a:t>
            </a:r>
            <a:r>
              <a:rPr lang="en-US" altLang="zh-TW" sz="2800" dirty="0">
                <a:solidFill>
                  <a:srgbClr val="FF0000"/>
                </a:solidFill>
                <a:latin typeface="Times New Roman" pitchFamily="18" charset="0"/>
                <a:ea typeface="標楷體" pitchFamily="65" charset="-120"/>
                <a:cs typeface="Times New Roman" pitchFamily="18" charset="0"/>
              </a:rPr>
              <a:t>when comparing disulfide-bonded versus </a:t>
            </a:r>
            <a:r>
              <a:rPr lang="en-US" altLang="zh-TW" sz="2800" dirty="0" smtClean="0">
                <a:solidFill>
                  <a:srgbClr val="FF0000"/>
                </a:solidFill>
                <a:latin typeface="Times New Roman" pitchFamily="18" charset="0"/>
                <a:ea typeface="標楷體" pitchFamily="65" charset="-120"/>
                <a:cs typeface="Times New Roman" pitchFamily="18" charset="0"/>
              </a:rPr>
              <a:t>free </a:t>
            </a:r>
            <a:r>
              <a:rPr lang="en-US" altLang="zh-TW" sz="2800" dirty="0" err="1" smtClean="0">
                <a:solidFill>
                  <a:srgbClr val="FF0000"/>
                </a:solidFill>
                <a:latin typeface="Times New Roman" pitchFamily="18" charset="0"/>
                <a:ea typeface="標楷體" pitchFamily="65" charset="-120"/>
                <a:cs typeface="Times New Roman" pitchFamily="18" charset="0"/>
              </a:rPr>
              <a:t>cysteines</a:t>
            </a:r>
            <a:r>
              <a:rPr lang="en-US" altLang="zh-TW" sz="2800" dirty="0" smtClean="0">
                <a:latin typeface="Times New Roman" pitchFamily="18" charset="0"/>
                <a:ea typeface="標楷體" pitchFamily="65" charset="-120"/>
                <a:cs typeface="Times New Roman" pitchFamily="18" charset="0"/>
              </a:rPr>
              <a:t>.</a:t>
            </a:r>
          </a:p>
          <a:p>
            <a:endParaRPr lang="en-US" altLang="zh-TW" sz="2800" dirty="0" smtClean="0">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xmlns="" val="16850115"/>
      </p:ext>
    </p:extLst>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ea typeface="標楷體" pitchFamily="65" charset="-120"/>
                <a:cs typeface="Times New Roman" pitchFamily="18" charset="0"/>
              </a:rPr>
              <a:t>Neural Network Model</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sz="2800" dirty="0" smtClean="0">
              <a:latin typeface="Times New Roman" pitchFamily="18" charset="0"/>
              <a:ea typeface="標楷體" pitchFamily="65" charset="-120"/>
              <a:cs typeface="Times New Roman" pitchFamily="18" charset="0"/>
            </a:endParaRPr>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67544" y="1608594"/>
            <a:ext cx="4752528" cy="20021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235098" y="1916832"/>
            <a:ext cx="3317159" cy="9127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50" name="Picture 6"/>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868144" y="3192887"/>
            <a:ext cx="2494694" cy="30243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578219" y="4293096"/>
            <a:ext cx="4713861" cy="14874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650652873"/>
      </p:ext>
    </p:extLst>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ea typeface="標楷體" pitchFamily="65" charset="-120"/>
                <a:cs typeface="Times New Roman" pitchFamily="18" charset="0"/>
              </a:rPr>
              <a:t>Neural Network Model</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sz="2800" dirty="0" smtClean="0">
              <a:latin typeface="Times New Roman" pitchFamily="18" charset="0"/>
              <a:ea typeface="標楷體" pitchFamily="65" charset="-120"/>
              <a:cs typeface="Times New Roman" pitchFamily="18" charset="0"/>
            </a:endParaRPr>
          </a:p>
        </p:txBody>
      </p:sp>
      <p:pic>
        <p:nvPicPr>
          <p:cNvPr id="7172"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83568" y="1340768"/>
            <a:ext cx="7766202" cy="49685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267445" y="1639803"/>
            <a:ext cx="3383546" cy="14254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72877753"/>
      </p:ext>
    </p:extLst>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ea typeface="標楷體" pitchFamily="65" charset="-120"/>
                <a:cs typeface="Times New Roman" pitchFamily="18" charset="0"/>
              </a:rPr>
              <a:t>Neural Network Model</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800" dirty="0">
                <a:latin typeface="Times New Roman" pitchFamily="18" charset="0"/>
                <a:ea typeface="標楷體" pitchFamily="65" charset="-120"/>
                <a:cs typeface="Times New Roman" pitchFamily="18" charset="0"/>
              </a:rPr>
              <a:t>Standard feed-forward back-propagation network architecture with a single hidden layer was used.</a:t>
            </a:r>
          </a:p>
          <a:p>
            <a:endParaRPr lang="en-US" altLang="zh-TW" sz="2800" dirty="0" smtClean="0">
              <a:latin typeface="Times New Roman" pitchFamily="18" charset="0"/>
              <a:ea typeface="標楷體" pitchFamily="65" charset="-120"/>
              <a:cs typeface="Times New Roman" pitchFamily="18" charset="0"/>
            </a:endParaRPr>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99592" y="2688505"/>
            <a:ext cx="5528287" cy="34047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555561" y="3861048"/>
            <a:ext cx="1824751" cy="22121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3937643"/>
      </p:ext>
    </p:extLst>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2400" dirty="0" smtClean="0">
                <a:latin typeface="Times New Roman" pitchFamily="18" charset="0"/>
                <a:ea typeface="標楷體" pitchFamily="65" charset="-120"/>
                <a:cs typeface="Times New Roman" pitchFamily="18" charset="0"/>
              </a:rPr>
              <a:t>The </a:t>
            </a:r>
            <a:r>
              <a:rPr lang="en-US" altLang="zh-TW" sz="2400" dirty="0">
                <a:latin typeface="Times New Roman" pitchFamily="18" charset="0"/>
                <a:ea typeface="標楷體" pitchFamily="65" charset="-120"/>
                <a:cs typeface="Times New Roman" pitchFamily="18" charset="0"/>
              </a:rPr>
              <a:t>secondary </a:t>
            </a:r>
            <a:r>
              <a:rPr lang="en-US" altLang="zh-TW" sz="2400" dirty="0" smtClean="0">
                <a:latin typeface="Times New Roman" pitchFamily="18" charset="0"/>
                <a:ea typeface="標楷體" pitchFamily="65" charset="-120"/>
                <a:cs typeface="Times New Roman" pitchFamily="18" charset="0"/>
              </a:rPr>
              <a:t>structure conformation </a:t>
            </a:r>
            <a:r>
              <a:rPr lang="en-US" altLang="zh-TW" sz="2400" dirty="0">
                <a:latin typeface="Times New Roman" pitchFamily="18" charset="0"/>
                <a:ea typeface="標楷體" pitchFamily="65" charset="-120"/>
                <a:cs typeface="Times New Roman" pitchFamily="18" charset="0"/>
              </a:rPr>
              <a:t>frequencies detected in the dataset and </a:t>
            </a:r>
            <a:r>
              <a:rPr lang="en-US" altLang="zh-TW" sz="2400" dirty="0" smtClean="0">
                <a:latin typeface="Times New Roman" pitchFamily="18" charset="0"/>
                <a:ea typeface="標楷體" pitchFamily="65" charset="-120"/>
                <a:cs typeface="Times New Roman" pitchFamily="18" charset="0"/>
              </a:rPr>
              <a:t>computed using </a:t>
            </a:r>
            <a:r>
              <a:rPr lang="en-US" altLang="zh-TW" sz="2400" dirty="0">
                <a:latin typeface="Times New Roman" pitchFamily="18" charset="0"/>
                <a:ea typeface="標楷體" pitchFamily="65" charset="-120"/>
                <a:cs typeface="Times New Roman" pitchFamily="18" charset="0"/>
              </a:rPr>
              <a:t>DSSP annotations</a:t>
            </a:r>
            <a:endParaRPr lang="zh-TW" altLang="en-US" sz="2400"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sz="2400" dirty="0" smtClean="0">
              <a:latin typeface="Times New Roman" pitchFamily="18" charset="0"/>
              <a:ea typeface="標楷體" pitchFamily="65" charset="-120"/>
              <a:cs typeface="Times New Roman" pitchFamily="18" charset="0"/>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99593" y="1484784"/>
            <a:ext cx="7344815" cy="20975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63935" y="3645024"/>
            <a:ext cx="5696297" cy="28732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677299639"/>
      </p:ext>
    </p:extLst>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lstStyle/>
              <a:p>
                <a14:m>
                  <m:oMath xmlns:m="http://schemas.openxmlformats.org/officeDocument/2006/math">
                    <m:r>
                      <a:rPr lang="en-US" altLang="zh-TW" sz="2400" b="0" i="1" smtClean="0">
                        <a:latin typeface="Cambria Math"/>
                        <a:ea typeface="標楷體" pitchFamily="65" charset="-120"/>
                        <a:cs typeface="Times New Roman" pitchFamily="18" charset="0"/>
                      </a:rPr>
                      <m:t>0.4739</m:t>
                    </m:r>
                    <m:r>
                      <a:rPr lang="en-US" altLang="zh-TW" sz="2400" b="0" i="1" smtClean="0">
                        <a:latin typeface="Cambria Math"/>
                        <a:ea typeface="Cambria Math"/>
                        <a:cs typeface="Times New Roman" pitchFamily="18" charset="0"/>
                      </a:rPr>
                      <m:t>×0.2977=0.1411 (14.11%)</m:t>
                    </m:r>
                  </m:oMath>
                </a14:m>
                <a:endParaRPr lang="en-US" altLang="zh-TW" sz="2400" dirty="0" smtClean="0">
                  <a:latin typeface="Times New Roman" pitchFamily="18" charset="0"/>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cstate="print"/>
                <a:stretch>
                  <a:fillRect l="-963" t="-539"/>
                </a:stretch>
              </a:blipFill>
            </p:spPr>
            <p:txBody>
              <a:bodyPr/>
              <a:lstStyle/>
              <a:p>
                <a:r>
                  <a:rPr lang="zh-TW" altLang="en-US">
                    <a:noFill/>
                  </a:rPr>
                  <a:t> </a:t>
                </a:r>
              </a:p>
            </p:txBody>
          </p:sp>
        </mc:Fallback>
      </mc:AlternateContent>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55576" y="2132856"/>
            <a:ext cx="6115050" cy="3981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02012212"/>
      </p:ext>
    </p:extLst>
  </p:cSld>
  <p:clrMapOvr>
    <a:masterClrMapping/>
  </p:clrMapOvr>
  <p:transition>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Neural Network</a:t>
            </a:r>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lstStyle/>
              <a:p>
                <a:r>
                  <a:rPr lang="en-US" altLang="zh-TW" sz="2800" dirty="0" smtClean="0">
                    <a:latin typeface="Times New Roman" pitchFamily="18" charset="0"/>
                    <a:ea typeface="標楷體" pitchFamily="65" charset="-120"/>
                    <a:cs typeface="Times New Roman" pitchFamily="18" charset="0"/>
                  </a:rPr>
                  <a:t>Input encoding</a:t>
                </a:r>
              </a:p>
              <a:p>
                <a:pPr lvl="1"/>
                <a:r>
                  <a:rPr lang="en-US" altLang="zh-TW" sz="2200" dirty="0" smtClean="0">
                    <a:latin typeface="Times New Roman" pitchFamily="18" charset="0"/>
                    <a:ea typeface="標楷體" pitchFamily="65" charset="-120"/>
                    <a:cs typeface="Times New Roman" pitchFamily="18" charset="0"/>
                  </a:rPr>
                  <a:t>Two-size </a:t>
                </a:r>
                <a:r>
                  <a:rPr lang="en-US" altLang="zh-TW" sz="2200" dirty="0">
                    <a:latin typeface="Times New Roman" pitchFamily="18" charset="0"/>
                    <a:ea typeface="標楷體" pitchFamily="65" charset="-120"/>
                    <a:cs typeface="Times New Roman" pitchFamily="18" charset="0"/>
                  </a:rPr>
                  <a:t>w windows centered at </a:t>
                </a:r>
                <a:r>
                  <a:rPr lang="en-US" altLang="zh-TW" sz="2200" dirty="0" err="1" smtClean="0">
                    <a:latin typeface="Times New Roman" pitchFamily="18" charset="0"/>
                    <a:ea typeface="標楷體" pitchFamily="65" charset="-120"/>
                    <a:cs typeface="Times New Roman" pitchFamily="18" charset="0"/>
                  </a:rPr>
                  <a:t>Nterminus</a:t>
                </a:r>
                <a:r>
                  <a:rPr lang="en-US" altLang="zh-TW" sz="2200" dirty="0" smtClean="0">
                    <a:latin typeface="Times New Roman" pitchFamily="18" charset="0"/>
                    <a:ea typeface="標楷體" pitchFamily="65" charset="-120"/>
                    <a:cs typeface="Times New Roman" pitchFamily="18" charset="0"/>
                  </a:rPr>
                  <a:t> and </a:t>
                </a:r>
                <a:r>
                  <a:rPr lang="en-US" altLang="zh-TW" sz="2200" dirty="0">
                    <a:latin typeface="Times New Roman" pitchFamily="18" charset="0"/>
                    <a:ea typeface="標楷體" pitchFamily="65" charset="-120"/>
                    <a:cs typeface="Times New Roman" pitchFamily="18" charset="0"/>
                  </a:rPr>
                  <a:t>respective C-terminus </a:t>
                </a:r>
                <a:r>
                  <a:rPr lang="en-US" altLang="zh-TW" sz="2200" dirty="0" err="1">
                    <a:latin typeface="Times New Roman" pitchFamily="18" charset="0"/>
                    <a:ea typeface="標楷體" pitchFamily="65" charset="-120"/>
                    <a:cs typeface="Times New Roman" pitchFamily="18" charset="0"/>
                  </a:rPr>
                  <a:t>cystines</a:t>
                </a:r>
                <a:r>
                  <a:rPr lang="en-US" altLang="zh-TW" sz="2200" dirty="0" smtClean="0">
                    <a:latin typeface="Times New Roman" pitchFamily="18" charset="0"/>
                    <a:ea typeface="標楷體" pitchFamily="65" charset="-120"/>
                    <a:cs typeface="Times New Roman" pitchFamily="18" charset="0"/>
                  </a:rPr>
                  <a:t>.</a:t>
                </a:r>
              </a:p>
              <a:p>
                <a:pPr lvl="1"/>
                <a:r>
                  <a:rPr lang="en-US" altLang="zh-TW" sz="2200" dirty="0">
                    <a:latin typeface="Times New Roman" pitchFamily="18" charset="0"/>
                    <a:ea typeface="標楷體" pitchFamily="65" charset="-120"/>
                    <a:cs typeface="Times New Roman" pitchFamily="18" charset="0"/>
                  </a:rPr>
                  <a:t>For each </a:t>
                </a:r>
                <a:r>
                  <a:rPr lang="en-US" altLang="zh-TW" sz="2200" dirty="0" smtClean="0">
                    <a:latin typeface="Times New Roman" pitchFamily="18" charset="0"/>
                    <a:ea typeface="標楷體" pitchFamily="65" charset="-120"/>
                    <a:cs typeface="Times New Roman" pitchFamily="18" charset="0"/>
                  </a:rPr>
                  <a:t>residue in </a:t>
                </a:r>
                <a:r>
                  <a:rPr lang="en-US" altLang="zh-TW" sz="2200" dirty="0">
                    <a:latin typeface="Times New Roman" pitchFamily="18" charset="0"/>
                    <a:ea typeface="標楷體" pitchFamily="65" charset="-120"/>
                    <a:cs typeface="Times New Roman" pitchFamily="18" charset="0"/>
                  </a:rPr>
                  <a:t>this window, 20 units were used for the scores in the </a:t>
                </a:r>
                <a:r>
                  <a:rPr lang="en-US" altLang="zh-TW" sz="2200" dirty="0" smtClean="0">
                    <a:latin typeface="Times New Roman" pitchFamily="18" charset="0"/>
                    <a:ea typeface="標楷體" pitchFamily="65" charset="-120"/>
                    <a:cs typeface="Times New Roman" pitchFamily="18" charset="0"/>
                  </a:rPr>
                  <a:t>PSSM.</a:t>
                </a:r>
              </a:p>
              <a:p>
                <a:pPr lvl="1"/>
                <a:r>
                  <a:rPr lang="en-US" altLang="zh-TW" sz="2200" dirty="0" smtClean="0">
                    <a:latin typeface="Times New Roman" pitchFamily="18" charset="0"/>
                    <a:ea typeface="標楷體" pitchFamily="65" charset="-120"/>
                    <a:cs typeface="Times New Roman" pitchFamily="18" charset="0"/>
                  </a:rPr>
                  <a:t>Extract DSSP secondary structure annotations of each of the 2w residues. (</a:t>
                </a:r>
                <a:r>
                  <a:rPr lang="pt-BR" altLang="zh-TW" sz="2200" dirty="0">
                    <a:latin typeface="Times New Roman" pitchFamily="18" charset="0"/>
                    <a:ea typeface="標楷體" pitchFamily="65" charset="-120"/>
                    <a:cs typeface="Times New Roman" pitchFamily="18" charset="0"/>
                  </a:rPr>
                  <a:t>H </a:t>
                </a:r>
                <a:r>
                  <a:rPr lang="pt-BR" altLang="zh-TW" sz="2200" dirty="0" smtClean="0">
                    <a:latin typeface="Times New Roman" pitchFamily="18" charset="0"/>
                    <a:ea typeface="標楷體" pitchFamily="65" charset="-120"/>
                    <a:cs typeface="Times New Roman" pitchFamily="18" charset="0"/>
                  </a:rPr>
                  <a:t>was encoded </a:t>
                </a:r>
                <a:r>
                  <a:rPr lang="pt-BR" altLang="zh-TW" sz="2200" dirty="0">
                    <a:latin typeface="Times New Roman" pitchFamily="18" charset="0"/>
                    <a:ea typeface="標楷體" pitchFamily="65" charset="-120"/>
                    <a:cs typeface="Times New Roman" pitchFamily="18" charset="0"/>
                  </a:rPr>
                  <a:t>as 100, E as 010, C as </a:t>
                </a:r>
                <a:r>
                  <a:rPr lang="pt-BR" altLang="zh-TW" sz="2200" dirty="0" smtClean="0">
                    <a:latin typeface="Times New Roman" pitchFamily="18" charset="0"/>
                    <a:ea typeface="標楷體" pitchFamily="65" charset="-120"/>
                    <a:cs typeface="Times New Roman" pitchFamily="18" charset="0"/>
                  </a:rPr>
                  <a:t>001.)</a:t>
                </a:r>
                <a:endParaRPr lang="en-US" altLang="zh-TW" sz="2200" dirty="0" smtClean="0">
                  <a:latin typeface="Times New Roman" pitchFamily="18" charset="0"/>
                  <a:ea typeface="標楷體" pitchFamily="65" charset="-120"/>
                  <a:cs typeface="Times New Roman" pitchFamily="18" charset="0"/>
                </a:endParaRPr>
              </a:p>
              <a:p>
                <a14:m>
                  <m:oMath xmlns:m="http://schemas.openxmlformats.org/officeDocument/2006/math">
                    <m:r>
                      <a:rPr lang="en-US" altLang="zh-TW" sz="2600" b="0" i="1" smtClean="0">
                        <a:latin typeface="Cambria Math"/>
                        <a:ea typeface="標楷體" pitchFamily="65" charset="-120"/>
                        <a:cs typeface="Times New Roman" pitchFamily="18" charset="0"/>
                      </a:rPr>
                      <m:t>2</m:t>
                    </m:r>
                    <m:r>
                      <a:rPr lang="en-US" altLang="zh-TW" sz="2600" b="0" i="1" smtClean="0">
                        <a:latin typeface="Cambria Math"/>
                        <a:ea typeface="標楷體" pitchFamily="65" charset="-120"/>
                        <a:cs typeface="Times New Roman" pitchFamily="18" charset="0"/>
                      </a:rPr>
                      <m:t>𝑤</m:t>
                    </m:r>
                    <m:r>
                      <a:rPr lang="en-US" altLang="zh-TW" sz="2600" b="0" i="1" smtClean="0">
                        <a:latin typeface="Cambria Math"/>
                        <a:ea typeface="Cambria Math"/>
                        <a:cs typeface="Times New Roman" pitchFamily="18" charset="0"/>
                      </a:rPr>
                      <m:t>×23 </m:t>
                    </m:r>
                  </m:oMath>
                </a14:m>
                <a:r>
                  <a:rPr lang="en-US" altLang="zh-TW" sz="2600" dirty="0" smtClean="0">
                    <a:latin typeface="Times New Roman" pitchFamily="18" charset="0"/>
                    <a:ea typeface="標楷體" pitchFamily="65" charset="-120"/>
                    <a:cs typeface="Times New Roman" pitchFamily="18" charset="0"/>
                  </a:rPr>
                  <a:t>units</a:t>
                </a:r>
              </a:p>
              <a:p>
                <a:r>
                  <a:rPr lang="en-US" altLang="zh-TW" sz="2600" dirty="0">
                    <a:latin typeface="Times New Roman" pitchFamily="18" charset="0"/>
                    <a:ea typeface="標楷體" pitchFamily="65" charset="-120"/>
                    <a:cs typeface="Times New Roman" pitchFamily="18" charset="0"/>
                  </a:rPr>
                  <a:t>Of several architectures tested, 50 units </a:t>
                </a:r>
                <a:r>
                  <a:rPr lang="en-US" altLang="zh-TW" sz="2600" dirty="0" smtClean="0">
                    <a:latin typeface="Times New Roman" pitchFamily="18" charset="0"/>
                    <a:ea typeface="標楷體" pitchFamily="65" charset="-120"/>
                    <a:cs typeface="Times New Roman" pitchFamily="18" charset="0"/>
                  </a:rPr>
                  <a:t>of hidden </a:t>
                </a:r>
                <a:r>
                  <a:rPr lang="en-US" altLang="zh-TW" sz="2600" dirty="0">
                    <a:latin typeface="Times New Roman" pitchFamily="18" charset="0"/>
                    <a:ea typeface="標楷體" pitchFamily="65" charset="-120"/>
                    <a:cs typeface="Times New Roman" pitchFamily="18" charset="0"/>
                  </a:rPr>
                  <a:t>layer showed the best performance</a:t>
                </a:r>
                <a:r>
                  <a:rPr lang="en-US" altLang="zh-TW" sz="2600" dirty="0" smtClean="0">
                    <a:latin typeface="Times New Roman" pitchFamily="18" charset="0"/>
                    <a:ea typeface="標楷體" pitchFamily="65" charset="-120"/>
                    <a:cs typeface="Times New Roman" pitchFamily="18" charset="0"/>
                  </a:rPr>
                  <a:t>.</a:t>
                </a:r>
              </a:p>
              <a:p>
                <a:r>
                  <a:rPr lang="en-US" altLang="zh-TW" sz="2600" dirty="0" smtClean="0">
                    <a:latin typeface="Times New Roman" pitchFamily="18" charset="0"/>
                    <a:ea typeface="標楷體" pitchFamily="65" charset="-120"/>
                    <a:cs typeface="Times New Roman" pitchFamily="18" charset="0"/>
                  </a:rPr>
                  <a:t>By MATLAB software</a:t>
                </a:r>
                <a:endParaRPr lang="en-US" altLang="zh-TW" sz="2600" dirty="0" smtClean="0">
                  <a:latin typeface="Times New Roman" pitchFamily="18" charset="0"/>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cstate="print"/>
                <a:stretch>
                  <a:fillRect l="-1259" t="-1348" b="-3908"/>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1502012212"/>
      </p:ext>
    </p:extLst>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Final disulfide connectivity</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800" dirty="0" smtClean="0">
                <a:latin typeface="Times New Roman" pitchFamily="18" charset="0"/>
                <a:ea typeface="標楷體" pitchFamily="65" charset="-120"/>
                <a:cs typeface="Times New Roman" pitchFamily="18" charset="0"/>
              </a:rPr>
              <a:t>Obtained </a:t>
            </a:r>
            <a:r>
              <a:rPr lang="en-US" altLang="zh-TW" sz="2800" dirty="0">
                <a:latin typeface="Times New Roman" pitchFamily="18" charset="0"/>
                <a:ea typeface="標楷體" pitchFamily="65" charset="-120"/>
                <a:cs typeface="Times New Roman" pitchFamily="18" charset="0"/>
              </a:rPr>
              <a:t>by running </a:t>
            </a:r>
            <a:r>
              <a:rPr lang="en-US" altLang="zh-TW" sz="2800" dirty="0" smtClean="0">
                <a:latin typeface="Times New Roman" pitchFamily="18" charset="0"/>
                <a:ea typeface="標楷體" pitchFamily="65" charset="-120"/>
                <a:cs typeface="Times New Roman" pitchFamily="18" charset="0"/>
              </a:rPr>
              <a:t>the </a:t>
            </a:r>
            <a:r>
              <a:rPr lang="en-US" altLang="zh-TW" sz="2800" dirty="0" err="1" smtClean="0">
                <a:latin typeface="Times New Roman" pitchFamily="18" charset="0"/>
                <a:ea typeface="標楷體" pitchFamily="65" charset="-120"/>
                <a:cs typeface="Times New Roman" pitchFamily="18" charset="0"/>
                <a:hlinkClick r:id="rId2"/>
              </a:rPr>
              <a:t>wmatch</a:t>
            </a:r>
            <a:r>
              <a:rPr lang="en-US" altLang="zh-TW" sz="2800" dirty="0" smtClean="0">
                <a:latin typeface="Times New Roman" pitchFamily="18" charset="0"/>
                <a:ea typeface="標楷體" pitchFamily="65" charset="-120"/>
                <a:cs typeface="Times New Roman" pitchFamily="18" charset="0"/>
              </a:rPr>
              <a:t> program.</a:t>
            </a:r>
          </a:p>
          <a:p>
            <a:r>
              <a:rPr lang="en-US" altLang="zh-TW" sz="2800" dirty="0">
                <a:latin typeface="Times New Roman" pitchFamily="18" charset="0"/>
                <a:ea typeface="標楷體" pitchFamily="65" charset="-120"/>
                <a:cs typeface="Times New Roman" pitchFamily="18" charset="0"/>
              </a:rPr>
              <a:t>Maximum Weight </a:t>
            </a:r>
            <a:r>
              <a:rPr lang="en-US" altLang="zh-TW" sz="2800" dirty="0" smtClean="0">
                <a:latin typeface="Times New Roman" pitchFamily="18" charset="0"/>
                <a:ea typeface="標楷體" pitchFamily="65" charset="-120"/>
                <a:cs typeface="Times New Roman" pitchFamily="18" charset="0"/>
              </a:rPr>
              <a:t>Matching</a:t>
            </a:r>
          </a:p>
          <a:p>
            <a:endParaRPr lang="en-US" altLang="zh-TW" sz="2800" dirty="0" smtClean="0">
              <a:latin typeface="Times New Roman" pitchFamily="18" charset="0"/>
              <a:ea typeface="標楷體" pitchFamily="65" charset="-120"/>
              <a:cs typeface="Times New Roman" pitchFamily="18" charset="0"/>
            </a:endParaRPr>
          </a:p>
        </p:txBody>
      </p:sp>
      <p:pic>
        <p:nvPicPr>
          <p:cNvPr id="3074" name="Picture 2" descr="Matching example"/>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331640" y="2996952"/>
            <a:ext cx="2808312" cy="271470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502012212"/>
      </p:ext>
    </p:extLst>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Results and discussion</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sz="2400" dirty="0" smtClean="0">
              <a:latin typeface="Times New Roman" pitchFamily="18" charset="0"/>
              <a:ea typeface="標楷體" pitchFamily="65" charset="-120"/>
              <a:cs typeface="Times New Roman" pitchFamily="18" charset="0"/>
            </a:endParaRP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47664" y="1268760"/>
            <a:ext cx="5912657" cy="27363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63688" y="4077072"/>
            <a:ext cx="5382170" cy="24756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869414671"/>
      </p:ext>
    </p:extLst>
  </p:cSld>
  <p:clrMapOvr>
    <a:masterClrMapping/>
  </p:clrMapOvr>
  <p:transition>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sz="2400" dirty="0" smtClean="0">
              <a:latin typeface="Times New Roman" pitchFamily="18" charset="0"/>
              <a:ea typeface="標楷體" pitchFamily="65" charset="-120"/>
              <a:cs typeface="Times New Roman" pitchFamily="18" charset="0"/>
            </a:endParaRPr>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57200" y="1298029"/>
            <a:ext cx="8229600" cy="4867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869414671"/>
      </p:ext>
    </p:extLst>
  </p:cSld>
  <p:clrMapOvr>
    <a:masterClrMapping/>
  </p:clrMapOvr>
  <p:transition>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Conclusion</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ea typeface="標楷體" pitchFamily="65" charset="-120"/>
                <a:cs typeface="Times New Roman" pitchFamily="18" charset="0"/>
              </a:rPr>
              <a:t>Disulfide bond prediction</a:t>
            </a:r>
          </a:p>
          <a:p>
            <a:pPr lvl="1"/>
            <a:r>
              <a:rPr lang="en-US" altLang="zh-TW" dirty="0">
                <a:latin typeface="Times New Roman" pitchFamily="18" charset="0"/>
                <a:ea typeface="標楷體" pitchFamily="65" charset="-120"/>
                <a:cs typeface="Times New Roman" pitchFamily="18" charset="0"/>
              </a:rPr>
              <a:t>Predicting cysteine oxidation </a:t>
            </a:r>
            <a:r>
              <a:rPr lang="en-US" altLang="zh-TW" dirty="0" smtClean="0">
                <a:latin typeface="Times New Roman" pitchFamily="18" charset="0"/>
                <a:ea typeface="標楷體" pitchFamily="65" charset="-120"/>
                <a:cs typeface="Times New Roman" pitchFamily="18" charset="0"/>
              </a:rPr>
              <a:t>state</a:t>
            </a:r>
          </a:p>
          <a:p>
            <a:pPr lvl="1"/>
            <a:r>
              <a:rPr lang="en-US" altLang="zh-TW" dirty="0" smtClean="0">
                <a:latin typeface="Times New Roman" pitchFamily="18" charset="0"/>
                <a:ea typeface="標楷體" pitchFamily="65" charset="-120"/>
                <a:cs typeface="Times New Roman" pitchFamily="18" charset="0"/>
              </a:rPr>
              <a:t>Training (SVM, NN,</a:t>
            </a:r>
            <a:r>
              <a:rPr lang="zh-TW" altLang="en-US" dirty="0" smtClean="0">
                <a:latin typeface="Times New Roman" pitchFamily="18" charset="0"/>
                <a:ea typeface="標楷體" pitchFamily="65" charset="-120"/>
                <a:cs typeface="Times New Roman" pitchFamily="18" charset="0"/>
              </a:rPr>
              <a:t> </a:t>
            </a:r>
            <a:r>
              <a:rPr lang="en-US" altLang="zh-TW" dirty="0" smtClean="0">
                <a:latin typeface="Times New Roman" pitchFamily="18" charset="0"/>
                <a:ea typeface="標楷體" pitchFamily="65" charset="-120"/>
                <a:cs typeface="Times New Roman" pitchFamily="18" charset="0"/>
              </a:rPr>
              <a:t>…)</a:t>
            </a:r>
          </a:p>
          <a:p>
            <a:pPr lvl="2"/>
            <a:r>
              <a:rPr lang="en-US" altLang="zh-TW" dirty="0" smtClean="0">
                <a:latin typeface="Times New Roman" pitchFamily="18" charset="0"/>
                <a:ea typeface="標楷體" pitchFamily="65" charset="-120"/>
                <a:cs typeface="Times New Roman" pitchFamily="18" charset="0"/>
              </a:rPr>
              <a:t>Evolutionary information</a:t>
            </a:r>
          </a:p>
          <a:p>
            <a:pPr lvl="2"/>
            <a:r>
              <a:rPr lang="en-US" altLang="zh-TW" dirty="0" smtClean="0">
                <a:latin typeface="Times New Roman" pitchFamily="18" charset="0"/>
                <a:ea typeface="標楷體" pitchFamily="65" charset="-120"/>
                <a:cs typeface="Times New Roman" pitchFamily="18" charset="0"/>
              </a:rPr>
              <a:t>PSSM</a:t>
            </a:r>
          </a:p>
          <a:p>
            <a:pPr lvl="2"/>
            <a:r>
              <a:rPr lang="en-US" altLang="zh-TW" dirty="0" smtClean="0">
                <a:latin typeface="Times New Roman" pitchFamily="18" charset="0"/>
                <a:ea typeface="標楷體" pitchFamily="65" charset="-120"/>
                <a:cs typeface="Times New Roman" pitchFamily="18" charset="0"/>
              </a:rPr>
              <a:t>Secondary structure</a:t>
            </a:r>
          </a:p>
          <a:p>
            <a:pPr lvl="1"/>
            <a:r>
              <a:rPr lang="en-US" altLang="zh-TW" dirty="0">
                <a:latin typeface="Times New Roman" pitchFamily="18" charset="0"/>
                <a:ea typeface="標楷體" pitchFamily="65" charset="-120"/>
                <a:cs typeface="Times New Roman" pitchFamily="18" charset="0"/>
              </a:rPr>
              <a:t>Maximum Weight </a:t>
            </a:r>
            <a:r>
              <a:rPr lang="en-US" altLang="zh-TW" dirty="0" smtClean="0">
                <a:latin typeface="Times New Roman" pitchFamily="18" charset="0"/>
                <a:ea typeface="標楷體" pitchFamily="65" charset="-120"/>
                <a:cs typeface="Times New Roman" pitchFamily="18" charset="0"/>
              </a:rPr>
              <a:t>Matching</a:t>
            </a:r>
            <a:endParaRPr lang="en-US" altLang="zh-TW" sz="3200" dirty="0" smtClean="0">
              <a:latin typeface="Times New Roman" pitchFamily="18" charset="0"/>
              <a:ea typeface="標楷體" pitchFamily="65" charset="-120"/>
              <a:cs typeface="Times New Roman" pitchFamily="18" charset="0"/>
            </a:endParaRPr>
          </a:p>
          <a:p>
            <a:endParaRPr lang="en-US" altLang="zh-TW" dirty="0" smtClean="0">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xmlns="" val="2877067438"/>
      </p:ext>
    </p:extLst>
  </p:cSld>
  <p:clrMapOvr>
    <a:masterClrMapping/>
  </p:clrMapOvr>
  <p:transition>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dirty="0" smtClean="0">
              <a:latin typeface="Times New Roman" pitchFamily="18" charset="0"/>
              <a:ea typeface="標楷體" pitchFamily="65" charset="-120"/>
              <a:cs typeface="Times New Roman" pitchFamily="18" charset="0"/>
            </a:endParaRPr>
          </a:p>
          <a:p>
            <a:r>
              <a:rPr lang="en-US" altLang="zh-TW" dirty="0" smtClean="0">
                <a:latin typeface="Times New Roman" pitchFamily="18" charset="0"/>
                <a:ea typeface="標楷體" pitchFamily="65" charset="-120"/>
                <a:cs typeface="Times New Roman" pitchFamily="18" charset="0"/>
              </a:rPr>
              <a:t>Thank you for listening.</a:t>
            </a:r>
          </a:p>
          <a:p>
            <a:endParaRPr lang="en-US" altLang="zh-TW" dirty="0" smtClean="0">
              <a:latin typeface="Times New Roman" pitchFamily="18" charset="0"/>
              <a:ea typeface="標楷體" pitchFamily="65" charset="-120"/>
              <a:cs typeface="Times New Roman" pitchFamily="18" charset="0"/>
            </a:endParaRPr>
          </a:p>
          <a:p>
            <a:r>
              <a:rPr lang="en-US" altLang="zh-TW" dirty="0" smtClean="0">
                <a:latin typeface="Times New Roman" pitchFamily="18" charset="0"/>
                <a:ea typeface="標楷體" pitchFamily="65" charset="-120"/>
                <a:cs typeface="Times New Roman" pitchFamily="18" charset="0"/>
              </a:rPr>
              <a:t>Thank C. J. </a:t>
            </a:r>
            <a:r>
              <a:rPr lang="en-US" altLang="zh-TW" smtClean="0">
                <a:latin typeface="Times New Roman" pitchFamily="18" charset="0"/>
                <a:ea typeface="標楷體" pitchFamily="65" charset="-120"/>
                <a:cs typeface="Times New Roman" pitchFamily="18" charset="0"/>
              </a:rPr>
              <a:t>Wang </a:t>
            </a:r>
            <a:r>
              <a:rPr lang="en-US" altLang="zh-TW" dirty="0" smtClean="0">
                <a:latin typeface="Times New Roman" pitchFamily="18" charset="0"/>
                <a:ea typeface="標楷體" pitchFamily="65" charset="-120"/>
                <a:cs typeface="Times New Roman" pitchFamily="18" charset="0"/>
              </a:rPr>
              <a:t>and K. Y. Chen.</a:t>
            </a:r>
          </a:p>
        </p:txBody>
      </p:sp>
    </p:spTree>
    <p:extLst>
      <p:ext uri="{BB962C8B-B14F-4D97-AF65-F5344CB8AC3E}">
        <p14:creationId xmlns:p14="http://schemas.microsoft.com/office/powerpoint/2010/main" xmlns="" val="4027827111"/>
      </p:ext>
    </p:extLst>
  </p:cSld>
  <p:clrMapOvr>
    <a:masterClrMapping/>
  </p:clrMapOvr>
  <p:transition>
    <p:cut/>
  </p:transition>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34076</TotalTime>
  <Words>491</Words>
  <Application>Microsoft Office PowerPoint</Application>
  <PresentationFormat>如螢幕大小 (4:3)</PresentationFormat>
  <Paragraphs>50</Paragraphs>
  <Slides>19</Slides>
  <Notes>0</Notes>
  <HiddenSlides>0</HiddenSlides>
  <MMClips>0</MMClips>
  <ScaleCrop>false</ScaleCrop>
  <HeadingPairs>
    <vt:vector size="4" baseType="variant">
      <vt:variant>
        <vt:lpstr>佈景主題</vt:lpstr>
      </vt:variant>
      <vt:variant>
        <vt:i4>1</vt:i4>
      </vt:variant>
      <vt:variant>
        <vt:lpstr>投影片標題</vt:lpstr>
      </vt:variant>
      <vt:variant>
        <vt:i4>19</vt:i4>
      </vt:variant>
    </vt:vector>
  </HeadingPairs>
  <TitlesOfParts>
    <vt:vector size="20" baseType="lpstr">
      <vt:lpstr>Office 佈景主題</vt:lpstr>
      <vt:lpstr>Disulfide Bond Prediction Using Neural Network and Secondary Structure Information  Ouyan Shi, Huiyun Yang, Chunquan Cai, Jing Yang, Xin Tian  Bioinformatics and Biomedical Engineering, 2008. ICBBE 2008. The 2nd International Conference on.</vt:lpstr>
      <vt:lpstr>Abstract (1/2)</vt:lpstr>
      <vt:lpstr>Abstract (2/2)</vt:lpstr>
      <vt:lpstr>Introduction</vt:lpstr>
      <vt:lpstr>The protein data sets</vt:lpstr>
      <vt:lpstr>Performance Measures</vt:lpstr>
      <vt:lpstr>投影片 7</vt:lpstr>
      <vt:lpstr>Neural Network Model</vt:lpstr>
      <vt:lpstr>Neural Network Model</vt:lpstr>
      <vt:lpstr>Neural Network Model</vt:lpstr>
      <vt:lpstr>Neural Network Model</vt:lpstr>
      <vt:lpstr>The secondary structure conformation frequencies detected in the dataset and computed using DSSP annotations</vt:lpstr>
      <vt:lpstr>投影片 13</vt:lpstr>
      <vt:lpstr>Neural Network</vt:lpstr>
      <vt:lpstr>Final disulfide connectivity</vt:lpstr>
      <vt:lpstr>Results and discussion</vt:lpstr>
      <vt:lpstr>投影片 17</vt:lpstr>
      <vt:lpstr>Conclusion</vt:lpstr>
      <vt:lpstr>投影片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Hong-Yu Chen</dc:creator>
  <cp:lastModifiedBy>Guest</cp:lastModifiedBy>
  <cp:revision>465</cp:revision>
  <dcterms:created xsi:type="dcterms:W3CDTF">2010-10-17T09:22:10Z</dcterms:created>
  <dcterms:modified xsi:type="dcterms:W3CDTF">2011-08-01T13:28:18Z</dcterms:modified>
</cp:coreProperties>
</file>