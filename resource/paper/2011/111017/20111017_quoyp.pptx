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8" r:id="rId4"/>
    <p:sldId id="265" r:id="rId5"/>
    <p:sldId id="266" r:id="rId6"/>
    <p:sldId id="271" r:id="rId7"/>
    <p:sldId id="267" r:id="rId8"/>
    <p:sldId id="272" r:id="rId9"/>
    <p:sldId id="268" r:id="rId10"/>
    <p:sldId id="275" r:id="rId11"/>
    <p:sldId id="269" r:id="rId12"/>
    <p:sldId id="274" r:id="rId13"/>
    <p:sldId id="262" r:id="rId14"/>
    <p:sldId id="286" r:id="rId15"/>
    <p:sldId id="281" r:id="rId16"/>
    <p:sldId id="282" r:id="rId17"/>
    <p:sldId id="264" r:id="rId18"/>
    <p:sldId id="284" r:id="rId19"/>
    <p:sldId id="287" r:id="rId20"/>
    <p:sldId id="288" r:id="rId21"/>
    <p:sldId id="289" r:id="rId22"/>
    <p:sldId id="290" r:id="rId23"/>
    <p:sldId id="291" r:id="rId24"/>
    <p:sldId id="276" r:id="rId25"/>
    <p:sldId id="277" r:id="rId26"/>
    <p:sldId id="278" r:id="rId27"/>
    <p:sldId id="279" r:id="rId28"/>
    <p:sldId id="280" r:id="rId2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27" autoAdjust="0"/>
    <p:restoredTop sz="94672" autoAdjust="0"/>
  </p:normalViewPr>
  <p:slideViewPr>
    <p:cSldViewPr>
      <p:cViewPr>
        <p:scale>
          <a:sx n="100" d="100"/>
          <a:sy n="100" d="100"/>
        </p:scale>
        <p:origin x="-72" y="330"/>
      </p:cViewPr>
      <p:guideLst>
        <p:guide orient="horz" pos="2160"/>
        <p:guide pos="2880"/>
      </p:guideLst>
    </p:cSldViewPr>
  </p:slideViewPr>
  <p:outlineViewPr>
    <p:cViewPr>
      <p:scale>
        <a:sx n="33" d="100"/>
        <a:sy n="33" d="100"/>
      </p:scale>
      <p:origin x="54" y="0"/>
    </p:cViewPr>
  </p:outlineViewPr>
  <p:notesTextViewPr>
    <p:cViewPr>
      <p:scale>
        <a:sx n="1" d="1"/>
        <a:sy n="1" d="1"/>
      </p:scale>
      <p:origin x="0" y="0"/>
    </p:cViewPr>
  </p:notesTextViewPr>
  <p:sorterViewPr>
    <p:cViewPr>
      <p:scale>
        <a:sx n="90" d="100"/>
        <a:sy n="90" d="100"/>
      </p:scale>
      <p:origin x="0" y="2328"/>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E5EE002-1657-4A53-AFE1-6FD69EE22397}" type="datetimeFigureOut">
              <a:rPr lang="zh-TW" altLang="en-US" smtClean="0"/>
              <a:pPr/>
              <a:t>2011/10/17</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9E8CB0-1C24-47F1-8095-D74E70B9D910}" type="slidenum">
              <a:rPr lang="zh-TW" altLang="en-US" smtClean="0"/>
              <a:pPr/>
              <a:t>‹#›</a:t>
            </a:fld>
            <a:endParaRPr lang="zh-TW" altLang="en-US"/>
          </a:p>
        </p:txBody>
      </p:sp>
    </p:spTree>
    <p:extLst>
      <p:ext uri="{BB962C8B-B14F-4D97-AF65-F5344CB8AC3E}">
        <p14:creationId xmlns:p14="http://schemas.microsoft.com/office/powerpoint/2010/main" xmlns="" val="1901318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759E8CB0-1C24-47F1-8095-D74E70B9D910}" type="slidenum">
              <a:rPr lang="zh-TW" altLang="en-US" smtClean="0"/>
              <a:pPr/>
              <a:t>1</a:t>
            </a:fld>
            <a:endParaRPr lang="zh-TW" altLang="en-US"/>
          </a:p>
        </p:txBody>
      </p:sp>
    </p:spTree>
    <p:extLst>
      <p:ext uri="{BB962C8B-B14F-4D97-AF65-F5344CB8AC3E}">
        <p14:creationId xmlns:p14="http://schemas.microsoft.com/office/powerpoint/2010/main" xmlns="" val="981247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70B31558-5C52-4BF0-95A4-436178229F59}" type="datetime1">
              <a:rPr lang="zh-TW" altLang="en-US" smtClean="0"/>
              <a:pPr/>
              <a:t>2011/10/17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D870293-7AC5-405D-BC93-EA31FAB876FC}" type="slidenum">
              <a:rPr lang="zh-TW" altLang="en-US" smtClean="0"/>
              <a:pPr/>
              <a:t>‹#›</a:t>
            </a:fld>
            <a:endParaRPr lang="zh-TW" altLang="en-US"/>
          </a:p>
        </p:txBody>
      </p:sp>
    </p:spTree>
    <p:extLst>
      <p:ext uri="{BB962C8B-B14F-4D97-AF65-F5344CB8AC3E}">
        <p14:creationId xmlns:p14="http://schemas.microsoft.com/office/powerpoint/2010/main" xmlns="" val="3348456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BDD3F8D4-A364-4D9C-BF22-23ECDBCAF58A}" type="datetime1">
              <a:rPr lang="zh-TW" altLang="en-US" smtClean="0"/>
              <a:pPr/>
              <a:t>2011/10/17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D870293-7AC5-405D-BC93-EA31FAB876FC}" type="slidenum">
              <a:rPr lang="zh-TW" altLang="en-US" smtClean="0"/>
              <a:pPr/>
              <a:t>‹#›</a:t>
            </a:fld>
            <a:endParaRPr lang="zh-TW" altLang="en-US"/>
          </a:p>
        </p:txBody>
      </p:sp>
    </p:spTree>
    <p:extLst>
      <p:ext uri="{BB962C8B-B14F-4D97-AF65-F5344CB8AC3E}">
        <p14:creationId xmlns:p14="http://schemas.microsoft.com/office/powerpoint/2010/main" xmlns="" val="4001577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831725BA-26F2-4225-B004-FA44AA9E3957}" type="datetime1">
              <a:rPr lang="zh-TW" altLang="en-US" smtClean="0"/>
              <a:pPr/>
              <a:t>2011/10/17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D870293-7AC5-405D-BC93-EA31FAB876FC}" type="slidenum">
              <a:rPr lang="zh-TW" altLang="en-US" smtClean="0"/>
              <a:pPr/>
              <a:t>‹#›</a:t>
            </a:fld>
            <a:endParaRPr lang="zh-TW" altLang="en-US"/>
          </a:p>
        </p:txBody>
      </p:sp>
    </p:spTree>
    <p:extLst>
      <p:ext uri="{BB962C8B-B14F-4D97-AF65-F5344CB8AC3E}">
        <p14:creationId xmlns:p14="http://schemas.microsoft.com/office/powerpoint/2010/main" xmlns="" val="1317556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7C780674-4EFA-4A9C-870F-FAD464684F61}" type="datetime1">
              <a:rPr lang="zh-TW" altLang="en-US" smtClean="0"/>
              <a:pPr/>
              <a:t>2011/10/17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D870293-7AC5-405D-BC93-EA31FAB876FC}" type="slidenum">
              <a:rPr lang="zh-TW" altLang="en-US" smtClean="0"/>
              <a:pPr/>
              <a:t>‹#›</a:t>
            </a:fld>
            <a:endParaRPr lang="zh-TW" altLang="en-US"/>
          </a:p>
        </p:txBody>
      </p:sp>
    </p:spTree>
    <p:extLst>
      <p:ext uri="{BB962C8B-B14F-4D97-AF65-F5344CB8AC3E}">
        <p14:creationId xmlns:p14="http://schemas.microsoft.com/office/powerpoint/2010/main" xmlns="" val="1780541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1C8A473D-AAAF-453D-BC81-59F045C84C56}" type="datetime1">
              <a:rPr lang="zh-TW" altLang="en-US" smtClean="0"/>
              <a:pPr/>
              <a:t>2011/10/17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ED870293-7AC5-405D-BC93-EA31FAB876FC}" type="slidenum">
              <a:rPr lang="zh-TW" altLang="en-US" smtClean="0"/>
              <a:pPr/>
              <a:t>‹#›</a:t>
            </a:fld>
            <a:endParaRPr lang="zh-TW" altLang="en-US"/>
          </a:p>
        </p:txBody>
      </p:sp>
    </p:spTree>
    <p:extLst>
      <p:ext uri="{BB962C8B-B14F-4D97-AF65-F5344CB8AC3E}">
        <p14:creationId xmlns:p14="http://schemas.microsoft.com/office/powerpoint/2010/main" xmlns="" val="3315176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01C7862C-AB6E-422B-8AA5-7778478FC333}" type="datetime1">
              <a:rPr lang="zh-TW" altLang="en-US" smtClean="0"/>
              <a:pPr/>
              <a:t>2011/10/17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ED870293-7AC5-405D-BC93-EA31FAB876FC}" type="slidenum">
              <a:rPr lang="zh-TW" altLang="en-US" smtClean="0"/>
              <a:pPr/>
              <a:t>‹#›</a:t>
            </a:fld>
            <a:endParaRPr lang="zh-TW" altLang="en-US"/>
          </a:p>
        </p:txBody>
      </p:sp>
    </p:spTree>
    <p:extLst>
      <p:ext uri="{BB962C8B-B14F-4D97-AF65-F5344CB8AC3E}">
        <p14:creationId xmlns:p14="http://schemas.microsoft.com/office/powerpoint/2010/main" xmlns="" val="1902341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4CAF3C9A-2187-45A9-96B5-52EC7B873CEF}" type="datetime1">
              <a:rPr lang="zh-TW" altLang="en-US" smtClean="0"/>
              <a:pPr/>
              <a:t>2011/10/17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ED870293-7AC5-405D-BC93-EA31FAB876FC}" type="slidenum">
              <a:rPr lang="zh-TW" altLang="en-US" smtClean="0"/>
              <a:pPr/>
              <a:t>‹#›</a:t>
            </a:fld>
            <a:endParaRPr lang="zh-TW" altLang="en-US"/>
          </a:p>
        </p:txBody>
      </p:sp>
    </p:spTree>
    <p:extLst>
      <p:ext uri="{BB962C8B-B14F-4D97-AF65-F5344CB8AC3E}">
        <p14:creationId xmlns:p14="http://schemas.microsoft.com/office/powerpoint/2010/main" xmlns="" val="535212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FA304B72-7A8C-46F4-A890-066BBBBABA2E}" type="datetime1">
              <a:rPr lang="zh-TW" altLang="en-US" smtClean="0"/>
              <a:pPr/>
              <a:t>2011/10/17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D870293-7AC5-405D-BC93-EA31FAB876FC}" type="slidenum">
              <a:rPr lang="zh-TW" altLang="en-US" smtClean="0"/>
              <a:pPr/>
              <a:t>‹#›</a:t>
            </a:fld>
            <a:endParaRPr lang="zh-TW" altLang="en-US"/>
          </a:p>
        </p:txBody>
      </p:sp>
    </p:spTree>
    <p:extLst>
      <p:ext uri="{BB962C8B-B14F-4D97-AF65-F5344CB8AC3E}">
        <p14:creationId xmlns:p14="http://schemas.microsoft.com/office/powerpoint/2010/main" xmlns="" val="2838966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2D5DA6E7-382F-4497-A66E-D9CD13A041BA}" type="datetime1">
              <a:rPr lang="zh-TW" altLang="en-US" smtClean="0"/>
              <a:pPr/>
              <a:t>2011/10/17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D870293-7AC5-405D-BC93-EA31FAB876FC}" type="slidenum">
              <a:rPr lang="zh-TW" altLang="en-US" smtClean="0"/>
              <a:pPr/>
              <a:t>‹#›</a:t>
            </a:fld>
            <a:endParaRPr lang="zh-TW" altLang="en-US"/>
          </a:p>
        </p:txBody>
      </p:sp>
    </p:spTree>
    <p:extLst>
      <p:ext uri="{BB962C8B-B14F-4D97-AF65-F5344CB8AC3E}">
        <p14:creationId xmlns:p14="http://schemas.microsoft.com/office/powerpoint/2010/main" xmlns="" val="2876080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D2948FA-E94A-43C2-8987-CB2DD0C06383}" type="datetime1">
              <a:rPr lang="zh-TW" altLang="en-US" smtClean="0"/>
              <a:pPr/>
              <a:t>2011/10/17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D870293-7AC5-405D-BC93-EA31FAB876FC}" type="slidenum">
              <a:rPr lang="zh-TW" altLang="en-US" smtClean="0"/>
              <a:pPr/>
              <a:t>‹#›</a:t>
            </a:fld>
            <a:endParaRPr lang="zh-TW" altLang="en-US"/>
          </a:p>
        </p:txBody>
      </p:sp>
    </p:spTree>
    <p:extLst>
      <p:ext uri="{BB962C8B-B14F-4D97-AF65-F5344CB8AC3E}">
        <p14:creationId xmlns:p14="http://schemas.microsoft.com/office/powerpoint/2010/main" xmlns="" val="3706359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31472890-9752-408D-8ACD-B79C66B59297}" type="datetime1">
              <a:rPr lang="zh-TW" altLang="en-US" smtClean="0"/>
              <a:pPr/>
              <a:t>2011/10/17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D870293-7AC5-405D-BC93-EA31FAB876FC}" type="slidenum">
              <a:rPr lang="zh-TW" altLang="en-US" smtClean="0"/>
              <a:pPr/>
              <a:t>‹#›</a:t>
            </a:fld>
            <a:endParaRPr lang="zh-TW" altLang="en-US"/>
          </a:p>
        </p:txBody>
      </p:sp>
    </p:spTree>
    <p:extLst>
      <p:ext uri="{BB962C8B-B14F-4D97-AF65-F5344CB8AC3E}">
        <p14:creationId xmlns:p14="http://schemas.microsoft.com/office/powerpoint/2010/main" xmlns="" val="3166673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246F64-5265-427B-8B97-95DDC11A24A0}" type="datetime1">
              <a:rPr lang="zh-TW" altLang="en-US" smtClean="0"/>
              <a:pPr/>
              <a:t>2011/10/17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870293-7AC5-405D-BC93-EA31FAB876FC}" type="slidenum">
              <a:rPr lang="zh-TW" altLang="en-US" smtClean="0"/>
              <a:pPr/>
              <a:t>‹#›</a:t>
            </a:fld>
            <a:endParaRPr lang="zh-TW" altLang="en-US"/>
          </a:p>
        </p:txBody>
      </p:sp>
    </p:spTree>
    <p:extLst>
      <p:ext uri="{BB962C8B-B14F-4D97-AF65-F5344CB8AC3E}">
        <p14:creationId xmlns:p14="http://schemas.microsoft.com/office/powerpoint/2010/main" xmlns="" val="25219647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zlab.umassmed.edu/"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hyperlink" Target="http://en.wikipedia.org/wiki/Multiprotein_complex"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smtClean="0"/>
              <a:t>Integrating atom-based and</a:t>
            </a:r>
            <a:br>
              <a:rPr lang="en-US" altLang="zh-TW" dirty="0" smtClean="0"/>
            </a:br>
            <a:r>
              <a:rPr lang="en-US" altLang="zh-TW" dirty="0" smtClean="0"/>
              <a:t>residue-based scoring functions</a:t>
            </a:r>
            <a:br>
              <a:rPr lang="en-US" altLang="zh-TW" dirty="0" smtClean="0"/>
            </a:br>
            <a:r>
              <a:rPr lang="en-US" altLang="zh-TW" dirty="0" smtClean="0"/>
              <a:t>for protein–protein docking</a:t>
            </a:r>
            <a:endParaRPr lang="zh-TW" altLang="en-US" dirty="0"/>
          </a:p>
        </p:txBody>
      </p:sp>
      <p:sp>
        <p:nvSpPr>
          <p:cNvPr id="5" name="副標題 4"/>
          <p:cNvSpPr>
            <a:spLocks noGrp="1"/>
          </p:cNvSpPr>
          <p:nvPr>
            <p:ph type="subTitle" idx="1"/>
          </p:nvPr>
        </p:nvSpPr>
        <p:spPr/>
        <p:txBody>
          <a:bodyPr>
            <a:normAutofit fontScale="70000" lnSpcReduction="20000"/>
          </a:bodyPr>
          <a:lstStyle/>
          <a:p>
            <a:r>
              <a:rPr lang="en-US" altLang="zh-TW" dirty="0" smtClean="0"/>
              <a:t>Thom </a:t>
            </a:r>
            <a:r>
              <a:rPr lang="en-US" altLang="zh-TW" dirty="0" err="1" smtClean="0"/>
              <a:t>Vreven</a:t>
            </a:r>
            <a:r>
              <a:rPr lang="en-US" altLang="zh-TW" dirty="0" smtClean="0"/>
              <a:t>, </a:t>
            </a:r>
            <a:r>
              <a:rPr lang="en-US" altLang="zh-TW" dirty="0" err="1" smtClean="0"/>
              <a:t>Howook</a:t>
            </a:r>
            <a:r>
              <a:rPr lang="en-US" altLang="zh-TW" dirty="0" smtClean="0"/>
              <a:t> Hwang, and </a:t>
            </a:r>
            <a:r>
              <a:rPr lang="en-US" altLang="zh-TW" dirty="0" err="1" smtClean="0"/>
              <a:t>Zhiping</a:t>
            </a:r>
            <a:r>
              <a:rPr lang="en-US" altLang="zh-TW" dirty="0" smtClean="0"/>
              <a:t> </a:t>
            </a:r>
            <a:r>
              <a:rPr lang="en-US" altLang="zh-TW" dirty="0" err="1" smtClean="0"/>
              <a:t>Weng</a:t>
            </a:r>
            <a:r>
              <a:rPr lang="en-US" altLang="zh-TW" dirty="0" smtClean="0"/>
              <a:t>*</a:t>
            </a:r>
            <a:br>
              <a:rPr lang="en-US" altLang="zh-TW" dirty="0" smtClean="0"/>
            </a:br>
            <a:r>
              <a:rPr lang="en-US" altLang="zh-TW" dirty="0" smtClean="0"/>
              <a:t>PROTEIN SCIENCE </a:t>
            </a:r>
            <a:r>
              <a:rPr lang="en-US" altLang="zh-TW" dirty="0" smtClean="0"/>
              <a:t>2011 </a:t>
            </a:r>
            <a:r>
              <a:rPr lang="en-US" altLang="zh-TW" dirty="0" err="1" smtClean="0"/>
              <a:t>Vol</a:t>
            </a:r>
            <a:r>
              <a:rPr lang="en-US" altLang="zh-TW" dirty="0" smtClean="0"/>
              <a:t> 20:1576-1586</a:t>
            </a:r>
            <a:r>
              <a:rPr lang="en-US" altLang="zh-TW" dirty="0" smtClean="0"/>
              <a:t/>
            </a:r>
            <a:br>
              <a:rPr lang="en-US" altLang="zh-TW" dirty="0" smtClean="0"/>
            </a:br>
            <a:r>
              <a:rPr lang="en-US" altLang="zh-TW" dirty="0" smtClean="0"/>
              <a:t/>
            </a:r>
            <a:br>
              <a:rPr lang="en-US" altLang="zh-TW" dirty="0" smtClean="0"/>
            </a:br>
            <a:r>
              <a:rPr lang="en-US" altLang="zh-TW" dirty="0" smtClean="0"/>
              <a:t>Presenter: </a:t>
            </a:r>
            <a:r>
              <a:rPr lang="en-US" altLang="zh-TW" dirty="0" err="1" smtClean="0"/>
              <a:t>Guo</a:t>
            </a:r>
            <a:r>
              <a:rPr lang="en-US" altLang="zh-TW" dirty="0" smtClean="0"/>
              <a:t> Yi-</a:t>
            </a:r>
            <a:r>
              <a:rPr lang="en-US" altLang="zh-TW" dirty="0" err="1" smtClean="0"/>
              <a:t>Pu</a:t>
            </a:r>
            <a:r>
              <a:rPr lang="en-US" altLang="zh-TW" dirty="0" smtClean="0"/>
              <a:t/>
            </a:r>
            <a:br>
              <a:rPr lang="en-US" altLang="zh-TW" dirty="0" smtClean="0"/>
            </a:br>
            <a:r>
              <a:rPr lang="en-US" altLang="zh-TW" dirty="0" smtClean="0"/>
              <a:t>2011/10/17</a:t>
            </a:r>
            <a:endParaRPr lang="zh-TW" altLang="en-US" dirty="0"/>
          </a:p>
        </p:txBody>
      </p:sp>
      <p:sp>
        <p:nvSpPr>
          <p:cNvPr id="3" name="投影片編號版面配置區 2"/>
          <p:cNvSpPr>
            <a:spLocks noGrp="1"/>
          </p:cNvSpPr>
          <p:nvPr>
            <p:ph type="sldNum" sz="quarter" idx="12"/>
          </p:nvPr>
        </p:nvSpPr>
        <p:spPr/>
        <p:txBody>
          <a:bodyPr/>
          <a:lstStyle/>
          <a:p>
            <a:fld id="{ED870293-7AC5-405D-BC93-EA31FAB876FC}" type="slidenum">
              <a:rPr lang="zh-TW" altLang="en-US" smtClean="0"/>
              <a:pPr/>
              <a:t>1</a:t>
            </a:fld>
            <a:endParaRPr lang="zh-TW" altLang="en-US"/>
          </a:p>
        </p:txBody>
      </p:sp>
    </p:spTree>
    <p:extLst>
      <p:ext uri="{BB962C8B-B14F-4D97-AF65-F5344CB8AC3E}">
        <p14:creationId xmlns:p14="http://schemas.microsoft.com/office/powerpoint/2010/main" xmlns="" val="1432057831"/>
      </p:ext>
    </p:extLst>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Abstract (1/2)</a:t>
            </a:r>
            <a:endParaRPr lang="zh-TW" altLang="en-US" dirty="0"/>
          </a:p>
        </p:txBody>
      </p:sp>
      <p:sp>
        <p:nvSpPr>
          <p:cNvPr id="3" name="內容版面配置區 2"/>
          <p:cNvSpPr>
            <a:spLocks noGrp="1"/>
          </p:cNvSpPr>
          <p:nvPr>
            <p:ph idx="1"/>
          </p:nvPr>
        </p:nvSpPr>
        <p:spPr/>
        <p:txBody>
          <a:bodyPr>
            <a:normAutofit/>
          </a:bodyPr>
          <a:lstStyle/>
          <a:p>
            <a:pPr marL="0" indent="360000">
              <a:buNone/>
            </a:pPr>
            <a:r>
              <a:rPr lang="en-US" altLang="zh-TW" sz="2200" dirty="0" smtClean="0"/>
              <a:t>Most scoring functions for protein–protein docking algorithms are either atom-based or residue-based, with the former being able to produce higher quality structures and latter more tolerant to conformational changes upon binding.</a:t>
            </a:r>
          </a:p>
          <a:p>
            <a:pPr marL="0" indent="360000">
              <a:buNone/>
            </a:pPr>
            <a:r>
              <a:rPr lang="en-US" altLang="zh-TW" sz="2200" dirty="0" smtClean="0"/>
              <a:t>Earlier, we developed the ZRANK algorithm for </a:t>
            </a:r>
            <a:r>
              <a:rPr lang="en-US" altLang="zh-TW" sz="2200" dirty="0" err="1" smtClean="0"/>
              <a:t>reranking</a:t>
            </a:r>
            <a:r>
              <a:rPr lang="en-US" altLang="zh-TW" sz="2200" dirty="0" smtClean="0"/>
              <a:t> docking predictions, with a scoring function that contained only atom-based terms. Here we combine ZRANK’s atom-based potentials with five residue-based potentials published by other labs, as well as an atom-based potential IFACE that we published after ZRANK.</a:t>
            </a:r>
            <a:endParaRPr lang="zh-TW" altLang="en-US" sz="2200" dirty="0"/>
          </a:p>
        </p:txBody>
      </p:sp>
      <p:sp>
        <p:nvSpPr>
          <p:cNvPr id="4" name="投影片編號版面配置區 3"/>
          <p:cNvSpPr>
            <a:spLocks noGrp="1"/>
          </p:cNvSpPr>
          <p:nvPr>
            <p:ph type="sldNum" sz="quarter" idx="12"/>
          </p:nvPr>
        </p:nvSpPr>
        <p:spPr/>
        <p:txBody>
          <a:bodyPr/>
          <a:lstStyle/>
          <a:p>
            <a:fld id="{ED870293-7AC5-405D-BC93-EA31FAB876FC}" type="slidenum">
              <a:rPr lang="zh-TW" altLang="en-US" smtClean="0"/>
              <a:pPr/>
              <a:t>2</a:t>
            </a:fld>
            <a:endParaRPr lang="zh-TW" altLang="en-US"/>
          </a:p>
        </p:txBody>
      </p:sp>
    </p:spTree>
    <p:extLst>
      <p:ext uri="{BB962C8B-B14F-4D97-AF65-F5344CB8AC3E}">
        <p14:creationId xmlns:p14="http://schemas.microsoft.com/office/powerpoint/2010/main" xmlns="" val="2710536616"/>
      </p:ext>
    </p:extLst>
  </p:cSld>
  <p:clrMapOvr>
    <a:masterClrMapping/>
  </p:clrMapOvr>
  <p:transition>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Abstract (2/2)</a:t>
            </a:r>
            <a:endParaRPr lang="zh-TW" altLang="en-US" dirty="0"/>
          </a:p>
        </p:txBody>
      </p:sp>
      <p:sp>
        <p:nvSpPr>
          <p:cNvPr id="3" name="內容版面配置區 2"/>
          <p:cNvSpPr>
            <a:spLocks noGrp="1"/>
          </p:cNvSpPr>
          <p:nvPr>
            <p:ph idx="1"/>
          </p:nvPr>
        </p:nvSpPr>
        <p:spPr/>
        <p:txBody>
          <a:bodyPr>
            <a:normAutofit fontScale="70000" lnSpcReduction="20000"/>
          </a:bodyPr>
          <a:lstStyle/>
          <a:p>
            <a:pPr marL="0" indent="360000">
              <a:lnSpc>
                <a:spcPct val="120000"/>
              </a:lnSpc>
              <a:buNone/>
            </a:pPr>
            <a:r>
              <a:rPr lang="en-US" altLang="zh-TW" dirty="0" smtClean="0"/>
              <a:t>We simultaneously optimized the weights for selected combinations of terms in the scoring function, using decoys generated with the protein–protein docking algorithm ZDOCK. We performed rigorous cross validation of the combinations using 96 test cases from a docking benchmark. Judged by the integrative success rate of making 1000 predictions per complex, addition of IFACE and the best residue-based pair potential reduced the number of cases without a correct prediction by 38 and 27% relative to ZDOCK and ZRANK, respectively.</a:t>
            </a:r>
          </a:p>
          <a:p>
            <a:pPr marL="0" indent="360000">
              <a:lnSpc>
                <a:spcPct val="120000"/>
              </a:lnSpc>
              <a:buNone/>
            </a:pPr>
            <a:r>
              <a:rPr lang="en-US" altLang="zh-TW" dirty="0" smtClean="0"/>
              <a:t>Thus combination of residue-based and atom-based potentials into a scoring function can improve performance for protein–protein docking. The resulting scoring function is called IRAD (integration of residue- and atom-based potentials for docking) and is available at </a:t>
            </a:r>
            <a:r>
              <a:rPr lang="en-US" altLang="zh-TW" dirty="0" smtClean="0">
                <a:hlinkClick r:id="rId2"/>
              </a:rPr>
              <a:t>http://zlab.umassmed.edu</a:t>
            </a:r>
            <a:r>
              <a:rPr lang="en-US" altLang="zh-TW" dirty="0" smtClean="0"/>
              <a:t>.</a:t>
            </a:r>
            <a:endParaRPr lang="zh-TW" altLang="en-US" dirty="0"/>
          </a:p>
        </p:txBody>
      </p:sp>
      <p:sp>
        <p:nvSpPr>
          <p:cNvPr id="4" name="投影片編號版面配置區 3"/>
          <p:cNvSpPr>
            <a:spLocks noGrp="1"/>
          </p:cNvSpPr>
          <p:nvPr>
            <p:ph type="sldNum" sz="quarter" idx="12"/>
          </p:nvPr>
        </p:nvSpPr>
        <p:spPr/>
        <p:txBody>
          <a:bodyPr/>
          <a:lstStyle/>
          <a:p>
            <a:fld id="{ED870293-7AC5-405D-BC93-EA31FAB876FC}" type="slidenum">
              <a:rPr lang="zh-TW" altLang="en-US" smtClean="0"/>
              <a:pPr/>
              <a:t>3</a:t>
            </a:fld>
            <a:endParaRPr lang="zh-TW" altLang="en-US"/>
          </a:p>
        </p:txBody>
      </p:sp>
    </p:spTree>
    <p:extLst>
      <p:ext uri="{BB962C8B-B14F-4D97-AF65-F5344CB8AC3E}">
        <p14:creationId xmlns:p14="http://schemas.microsoft.com/office/powerpoint/2010/main" xmlns="" val="143282172"/>
      </p:ext>
    </p:extLst>
  </p:cSld>
  <p:clrMapOvr>
    <a:masterClrMapping/>
  </p:clrMapOvr>
  <p:transition>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Introduction</a:t>
            </a:r>
            <a:endParaRPr lang="zh-TW" altLang="en-US" dirty="0"/>
          </a:p>
        </p:txBody>
      </p:sp>
      <p:sp>
        <p:nvSpPr>
          <p:cNvPr id="3" name="文字版面配置區 2"/>
          <p:cNvSpPr>
            <a:spLocks noGrp="1"/>
          </p:cNvSpPr>
          <p:nvPr>
            <p:ph type="body" idx="1"/>
          </p:nvPr>
        </p:nvSpPr>
        <p:spPr/>
        <p:txBody>
          <a:bodyPr/>
          <a:lstStyle/>
          <a:p>
            <a:r>
              <a:rPr lang="en-US" altLang="zh-TW" dirty="0" smtClean="0"/>
              <a:t>1.</a:t>
            </a:r>
            <a:endParaRPr lang="zh-TW" altLang="en-US" dirty="0"/>
          </a:p>
        </p:txBody>
      </p:sp>
      <p:sp>
        <p:nvSpPr>
          <p:cNvPr id="8" name="投影片編號版面配置區 7"/>
          <p:cNvSpPr>
            <a:spLocks noGrp="1"/>
          </p:cNvSpPr>
          <p:nvPr>
            <p:ph type="sldNum" sz="quarter" idx="12"/>
          </p:nvPr>
        </p:nvSpPr>
        <p:spPr/>
        <p:txBody>
          <a:bodyPr/>
          <a:lstStyle/>
          <a:p>
            <a:fld id="{ED870293-7AC5-405D-BC93-EA31FAB876FC}" type="slidenum">
              <a:rPr lang="zh-TW" altLang="en-US" smtClean="0"/>
              <a:pPr/>
              <a:t>4</a:t>
            </a:fld>
            <a:endParaRPr lang="zh-TW" altLang="en-US"/>
          </a:p>
        </p:txBody>
      </p:sp>
    </p:spTree>
    <p:extLst>
      <p:ext uri="{BB962C8B-B14F-4D97-AF65-F5344CB8AC3E}">
        <p14:creationId xmlns:p14="http://schemas.microsoft.com/office/powerpoint/2010/main" xmlns="" val="291394795"/>
      </p:ext>
    </p:extLst>
  </p:cSld>
  <p:clrMapOvr>
    <a:masterClrMapping/>
  </p:clrMapOvr>
  <p:transition>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protein–protein docking</a:t>
            </a:r>
            <a:endParaRPr lang="zh-TW" altLang="en-US" dirty="0"/>
          </a:p>
        </p:txBody>
      </p:sp>
      <p:sp>
        <p:nvSpPr>
          <p:cNvPr id="3" name="內容版面配置區 2"/>
          <p:cNvSpPr>
            <a:spLocks noGrp="1"/>
          </p:cNvSpPr>
          <p:nvPr>
            <p:ph idx="1"/>
          </p:nvPr>
        </p:nvSpPr>
        <p:spPr/>
        <p:txBody>
          <a:bodyPr/>
          <a:lstStyle/>
          <a:p>
            <a:pPr marL="0" indent="0">
              <a:buNone/>
            </a:pPr>
            <a:r>
              <a:rPr lang="en-US" altLang="zh-TW" dirty="0" smtClean="0"/>
              <a:t>To predict a complex structure starting from the unbound structures of the component proteins.</a:t>
            </a:r>
          </a:p>
          <a:p>
            <a:pPr marL="0" indent="0">
              <a:buNone/>
            </a:pPr>
            <a:endParaRPr lang="en-US" altLang="zh-TW" dirty="0" smtClean="0"/>
          </a:p>
          <a:p>
            <a:r>
              <a:rPr lang="en-US" altLang="zh-TW" b="1" dirty="0" smtClean="0"/>
              <a:t>Complex</a:t>
            </a:r>
            <a:r>
              <a:rPr lang="en-US" altLang="zh-TW" dirty="0" smtClean="0"/>
              <a:t> (Multi-protein complex)</a:t>
            </a:r>
            <a:br>
              <a:rPr lang="en-US" altLang="zh-TW" dirty="0" smtClean="0"/>
            </a:br>
            <a:r>
              <a:rPr lang="en-US" altLang="zh-TW" dirty="0" smtClean="0"/>
              <a:t>is a group of two or more associated polypeptide (</a:t>
            </a:r>
            <a:r>
              <a:rPr lang="zh-TW" altLang="en-US" sz="2400" dirty="0" smtClean="0"/>
              <a:t>多肽</a:t>
            </a:r>
            <a:r>
              <a:rPr lang="en-US" altLang="zh-TW" dirty="0" smtClean="0"/>
              <a:t>) chains. </a:t>
            </a:r>
            <a:r>
              <a:rPr lang="en-US" altLang="zh-TW" sz="2000" dirty="0" smtClean="0"/>
              <a:t>-</a:t>
            </a:r>
            <a:r>
              <a:rPr lang="zh-TW" altLang="en-US" sz="2000" dirty="0" smtClean="0"/>
              <a:t> </a:t>
            </a:r>
            <a:r>
              <a:rPr lang="en-US" altLang="zh-TW" sz="2000" dirty="0" smtClean="0">
                <a:hlinkClick r:id="rId2"/>
              </a:rPr>
              <a:t>Wiki</a:t>
            </a:r>
            <a:endParaRPr lang="zh-TW" altLang="en-US" sz="2000" dirty="0"/>
          </a:p>
        </p:txBody>
      </p:sp>
      <p:sp>
        <p:nvSpPr>
          <p:cNvPr id="8" name="投影片編號版面配置區 7"/>
          <p:cNvSpPr>
            <a:spLocks noGrp="1"/>
          </p:cNvSpPr>
          <p:nvPr>
            <p:ph type="sldNum" sz="quarter" idx="12"/>
          </p:nvPr>
        </p:nvSpPr>
        <p:spPr/>
        <p:txBody>
          <a:bodyPr/>
          <a:lstStyle/>
          <a:p>
            <a:fld id="{ED870293-7AC5-405D-BC93-EA31FAB876FC}" type="slidenum">
              <a:rPr lang="zh-TW" altLang="en-US" smtClean="0"/>
              <a:pPr/>
              <a:t>5</a:t>
            </a:fld>
            <a:endParaRPr lang="zh-TW" altLang="en-US"/>
          </a:p>
        </p:txBody>
      </p:sp>
    </p:spTree>
    <p:extLst>
      <p:ext uri="{BB962C8B-B14F-4D97-AF65-F5344CB8AC3E}">
        <p14:creationId xmlns:p14="http://schemas.microsoft.com/office/powerpoint/2010/main" xmlns="" val="3772137807"/>
      </p:ext>
    </p:extLst>
  </p:cSld>
  <p:clrMapOvr>
    <a:masterClrMapping/>
  </p:clrMapOvr>
  <p:transition>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How?</a:t>
            </a:r>
            <a:endParaRPr lang="zh-TW" altLang="en-US" dirty="0"/>
          </a:p>
        </p:txBody>
      </p:sp>
      <p:sp>
        <p:nvSpPr>
          <p:cNvPr id="3" name="內容版面配置區 2"/>
          <p:cNvSpPr>
            <a:spLocks noGrp="1"/>
          </p:cNvSpPr>
          <p:nvPr>
            <p:ph idx="1"/>
          </p:nvPr>
        </p:nvSpPr>
        <p:spPr/>
        <p:txBody>
          <a:bodyPr>
            <a:normAutofit/>
          </a:bodyPr>
          <a:lstStyle/>
          <a:p>
            <a:pPr marL="0" indent="0">
              <a:buNone/>
            </a:pPr>
            <a:r>
              <a:rPr lang="en-US" altLang="zh-TW" dirty="0" smtClean="0"/>
              <a:t>The proteins are kept rigid (</a:t>
            </a:r>
            <a:r>
              <a:rPr lang="zh-TW" altLang="en-US" sz="2400" dirty="0" smtClean="0"/>
              <a:t>剛硬</a:t>
            </a:r>
            <a:r>
              <a:rPr lang="en-US" altLang="zh-TW" dirty="0" smtClean="0"/>
              <a:t>), and search the six-dimensional (6D) rotational and translational space. ← time consuming.</a:t>
            </a:r>
          </a:p>
          <a:p>
            <a:pPr marL="0" indent="0">
              <a:buNone/>
            </a:pPr>
            <a:endParaRPr lang="en-US" altLang="zh-TW" dirty="0" smtClean="0"/>
          </a:p>
          <a:p>
            <a:pPr marL="0" indent="0">
              <a:buNone/>
            </a:pPr>
            <a:r>
              <a:rPr lang="en-US" altLang="zh-TW" dirty="0" smtClean="0"/>
              <a:t>So, approached in a stepwise fashion (</a:t>
            </a:r>
            <a:r>
              <a:rPr lang="zh-TW" altLang="en-US" sz="2400" dirty="0" smtClean="0"/>
              <a:t>逐步形成</a:t>
            </a:r>
            <a:r>
              <a:rPr lang="en-US" altLang="zh-TW" dirty="0" smtClean="0"/>
              <a:t>):</a:t>
            </a:r>
          </a:p>
          <a:p>
            <a:pPr marL="971550" lvl="1" indent="-514350">
              <a:buFont typeface="+mj-lt"/>
              <a:buAutoNum type="arabicPeriod"/>
            </a:pPr>
            <a:r>
              <a:rPr lang="en-US" altLang="zh-TW" dirty="0"/>
              <a:t>Initial stage: </a:t>
            </a:r>
            <a:r>
              <a:rPr lang="en-US" altLang="zh-TW" sz="2000" dirty="0"/>
              <a:t>rapidly computable scoring functions</a:t>
            </a:r>
          </a:p>
          <a:p>
            <a:pPr marL="857250" lvl="2" indent="0">
              <a:buNone/>
            </a:pPr>
            <a:r>
              <a:rPr lang="zh-TW" altLang="en-US" dirty="0" smtClean="0"/>
              <a:t>        ↓ </a:t>
            </a:r>
            <a:r>
              <a:rPr lang="en-US" altLang="zh-TW" sz="2000" dirty="0" smtClean="0"/>
              <a:t>many possible (1,000 to 10,000)</a:t>
            </a:r>
          </a:p>
          <a:p>
            <a:pPr marL="971550" lvl="1" indent="-514350">
              <a:buFont typeface="+mj-lt"/>
              <a:buAutoNum type="arabicPeriod"/>
            </a:pPr>
            <a:r>
              <a:rPr lang="en-US" altLang="zh-TW" dirty="0" smtClean="0"/>
              <a:t>Refinement stage</a:t>
            </a:r>
            <a:r>
              <a:rPr lang="en-US" altLang="zh-TW" dirty="0"/>
              <a:t>: </a:t>
            </a:r>
            <a:r>
              <a:rPr lang="en-US" altLang="zh-TW" sz="2000" dirty="0"/>
              <a:t>more time consuming scoring functions</a:t>
            </a:r>
            <a:endParaRPr lang="zh-TW" altLang="en-US" sz="2000" dirty="0"/>
          </a:p>
        </p:txBody>
      </p:sp>
      <p:sp>
        <p:nvSpPr>
          <p:cNvPr id="4" name="投影片編號版面配置區 3"/>
          <p:cNvSpPr>
            <a:spLocks noGrp="1"/>
          </p:cNvSpPr>
          <p:nvPr>
            <p:ph type="sldNum" sz="quarter" idx="12"/>
          </p:nvPr>
        </p:nvSpPr>
        <p:spPr/>
        <p:txBody>
          <a:bodyPr/>
          <a:lstStyle/>
          <a:p>
            <a:fld id="{ED870293-7AC5-405D-BC93-EA31FAB876FC}" type="slidenum">
              <a:rPr lang="zh-TW" altLang="en-US" smtClean="0"/>
              <a:pPr/>
              <a:t>6</a:t>
            </a:fld>
            <a:endParaRPr lang="zh-TW" altLang="en-US"/>
          </a:p>
        </p:txBody>
      </p:sp>
    </p:spTree>
    <p:extLst>
      <p:ext uri="{BB962C8B-B14F-4D97-AF65-F5344CB8AC3E}">
        <p14:creationId xmlns:p14="http://schemas.microsoft.com/office/powerpoint/2010/main" xmlns="" val="2033545838"/>
      </p:ext>
    </p:extLst>
  </p:cSld>
  <p:clrMapOvr>
    <a:masterClrMapping/>
  </p:clrMapOvr>
  <p:transition>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ZDOCK</a:t>
            </a:r>
            <a:endParaRPr lang="zh-TW" altLang="en-US" dirty="0"/>
          </a:p>
        </p:txBody>
      </p:sp>
      <p:sp>
        <p:nvSpPr>
          <p:cNvPr id="3" name="內容版面配置區 2"/>
          <p:cNvSpPr>
            <a:spLocks noGrp="1"/>
          </p:cNvSpPr>
          <p:nvPr>
            <p:ph idx="1"/>
          </p:nvPr>
        </p:nvSpPr>
        <p:spPr/>
        <p:txBody>
          <a:bodyPr/>
          <a:lstStyle/>
          <a:p>
            <a:r>
              <a:rPr lang="en-US" altLang="zh-TW" dirty="0" smtClean="0"/>
              <a:t>For initial stage docking.</a:t>
            </a:r>
          </a:p>
          <a:p>
            <a:r>
              <a:rPr lang="en-US" altLang="zh-TW" dirty="0" smtClean="0"/>
              <a:t>Performs an exhaustive </a:t>
            </a:r>
            <a:r>
              <a:rPr lang="en-US" altLang="zh-TW" u="sng" dirty="0" smtClean="0"/>
              <a:t>rigid body</a:t>
            </a:r>
            <a:r>
              <a:rPr lang="en-US" altLang="zh-TW" dirty="0" smtClean="0"/>
              <a:t> search in the </a:t>
            </a:r>
            <a:r>
              <a:rPr lang="en-US" altLang="zh-TW" u="sng" dirty="0" smtClean="0"/>
              <a:t>6D rotational and translational space</a:t>
            </a:r>
            <a:r>
              <a:rPr lang="en-US" altLang="zh-TW" dirty="0" smtClean="0"/>
              <a:t>.</a:t>
            </a:r>
          </a:p>
          <a:p>
            <a:pPr lvl="1"/>
            <a:r>
              <a:rPr lang="en-US" altLang="zh-TW" dirty="0" smtClean="0"/>
              <a:t>Euler angles: 15° or 6°</a:t>
            </a:r>
          </a:p>
          <a:p>
            <a:pPr lvl="1"/>
            <a:r>
              <a:rPr lang="en-US" altLang="zh-TW" dirty="0" smtClean="0"/>
              <a:t>3 translational degrees of freedom: 1.2 Å</a:t>
            </a:r>
          </a:p>
          <a:p>
            <a:pPr lvl="1"/>
            <a:r>
              <a:rPr lang="en-US" altLang="zh-TW" dirty="0" smtClean="0"/>
              <a:t>For each set of rotational angles, only the best scoring translation is retained.</a:t>
            </a:r>
          </a:p>
          <a:p>
            <a:pPr lvl="1"/>
            <a:r>
              <a:rPr lang="en-US" altLang="zh-TW" dirty="0" smtClean="0"/>
              <a:t>15° </a:t>
            </a:r>
            <a:r>
              <a:rPr lang="zh-TW" altLang="en-US" dirty="0" smtClean="0"/>
              <a:t>→ </a:t>
            </a:r>
            <a:r>
              <a:rPr lang="en-US" altLang="zh-TW" dirty="0" smtClean="0"/>
              <a:t>3600; 6° </a:t>
            </a:r>
            <a:r>
              <a:rPr lang="zh-TW" altLang="en-US" dirty="0" smtClean="0"/>
              <a:t>→ </a:t>
            </a:r>
            <a:r>
              <a:rPr lang="en-US" altLang="zh-TW" dirty="0" smtClean="0"/>
              <a:t>54,000 predictions.</a:t>
            </a:r>
            <a:endParaRPr lang="zh-TW" altLang="en-US" dirty="0"/>
          </a:p>
        </p:txBody>
      </p:sp>
      <p:sp>
        <p:nvSpPr>
          <p:cNvPr id="4" name="投影片編號版面配置區 3"/>
          <p:cNvSpPr>
            <a:spLocks noGrp="1"/>
          </p:cNvSpPr>
          <p:nvPr>
            <p:ph type="sldNum" sz="quarter" idx="12"/>
          </p:nvPr>
        </p:nvSpPr>
        <p:spPr/>
        <p:txBody>
          <a:bodyPr/>
          <a:lstStyle/>
          <a:p>
            <a:fld id="{ED870293-7AC5-405D-BC93-EA31FAB876FC}" type="slidenum">
              <a:rPr lang="zh-TW" altLang="en-US" smtClean="0"/>
              <a:pPr/>
              <a:t>7</a:t>
            </a:fld>
            <a:endParaRPr lang="zh-TW" altLang="en-US"/>
          </a:p>
        </p:txBody>
      </p:sp>
    </p:spTree>
    <p:extLst>
      <p:ext uri="{BB962C8B-B14F-4D97-AF65-F5344CB8AC3E}">
        <p14:creationId xmlns:p14="http://schemas.microsoft.com/office/powerpoint/2010/main" xmlns="" val="2300955352"/>
      </p:ext>
    </p:extLst>
  </p:cSld>
  <p:clrMapOvr>
    <a:masterClrMapping/>
  </p:clrMapOvr>
  <p:transition>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IFACE</a:t>
            </a:r>
            <a:endParaRPr lang="zh-TW" altLang="en-US" dirty="0"/>
          </a:p>
        </p:txBody>
      </p:sp>
      <p:sp>
        <p:nvSpPr>
          <p:cNvPr id="7" name="內容版面配置區 6"/>
          <p:cNvSpPr>
            <a:spLocks noGrp="1"/>
          </p:cNvSpPr>
          <p:nvPr>
            <p:ph idx="1"/>
          </p:nvPr>
        </p:nvSpPr>
        <p:spPr/>
        <p:txBody>
          <a:bodyPr/>
          <a:lstStyle/>
          <a:p>
            <a:pPr>
              <a:lnSpc>
                <a:spcPct val="150000"/>
              </a:lnSpc>
            </a:pPr>
            <a:r>
              <a:rPr lang="en-US" altLang="zh-TW" smtClean="0"/>
              <a:t>A new statistical pair potential.</a:t>
            </a:r>
          </a:p>
          <a:p>
            <a:pPr>
              <a:lnSpc>
                <a:spcPct val="150000"/>
              </a:lnSpc>
            </a:pPr>
            <a:r>
              <a:rPr lang="en-US" altLang="zh-TW" smtClean="0"/>
              <a:t>In the latest version, ZDOCK 3.0.</a:t>
            </a:r>
            <a:endParaRPr lang="en-US" altLang="zh-TW" dirty="0" smtClean="0"/>
          </a:p>
        </p:txBody>
      </p:sp>
      <p:sp>
        <p:nvSpPr>
          <p:cNvPr id="4" name="投影片編號版面配置區 3"/>
          <p:cNvSpPr>
            <a:spLocks noGrp="1"/>
          </p:cNvSpPr>
          <p:nvPr>
            <p:ph type="sldNum" sz="quarter" idx="12"/>
          </p:nvPr>
        </p:nvSpPr>
        <p:spPr/>
        <p:txBody>
          <a:bodyPr/>
          <a:lstStyle/>
          <a:p>
            <a:fld id="{ED870293-7AC5-405D-BC93-EA31FAB876FC}" type="slidenum">
              <a:rPr lang="zh-TW" altLang="en-US" smtClean="0"/>
              <a:pPr/>
              <a:t>8</a:t>
            </a:fld>
            <a:endParaRPr lang="zh-TW" altLang="en-US"/>
          </a:p>
        </p:txBody>
      </p:sp>
    </p:spTree>
    <p:extLst>
      <p:ext uri="{BB962C8B-B14F-4D97-AF65-F5344CB8AC3E}">
        <p14:creationId xmlns:p14="http://schemas.microsoft.com/office/powerpoint/2010/main" xmlns="" val="834413692"/>
      </p:ext>
    </p:extLst>
  </p:cSld>
  <p:clrMapOvr>
    <a:masterClrMapping/>
  </p:clrMapOvr>
  <p:transition>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ZRANK</a:t>
            </a:r>
            <a:endParaRPr lang="zh-TW" altLang="en-US" dirty="0"/>
          </a:p>
        </p:txBody>
      </p:sp>
      <p:sp>
        <p:nvSpPr>
          <p:cNvPr id="7" name="內容版面配置區 6"/>
          <p:cNvSpPr>
            <a:spLocks noGrp="1"/>
          </p:cNvSpPr>
          <p:nvPr>
            <p:ph idx="1"/>
          </p:nvPr>
        </p:nvSpPr>
        <p:spPr/>
        <p:txBody>
          <a:bodyPr/>
          <a:lstStyle/>
          <a:p>
            <a:pPr>
              <a:lnSpc>
                <a:spcPct val="150000"/>
              </a:lnSpc>
            </a:pPr>
            <a:r>
              <a:rPr lang="en-US" altLang="zh-TW" dirty="0" smtClean="0"/>
              <a:t>A </a:t>
            </a:r>
            <a:r>
              <a:rPr lang="en-US" altLang="zh-TW" dirty="0" err="1" smtClean="0"/>
              <a:t>reranking</a:t>
            </a:r>
            <a:r>
              <a:rPr lang="en-US" altLang="zh-TW" dirty="0" smtClean="0"/>
              <a:t> program.</a:t>
            </a:r>
          </a:p>
          <a:p>
            <a:pPr>
              <a:lnSpc>
                <a:spcPct val="150000"/>
              </a:lnSpc>
            </a:pPr>
            <a:r>
              <a:rPr lang="en-US" altLang="zh-TW" dirty="0" smtClean="0"/>
              <a:t>Developed before ZDOCK 3.0.</a:t>
            </a:r>
          </a:p>
          <a:p>
            <a:pPr>
              <a:lnSpc>
                <a:spcPct val="150000"/>
              </a:lnSpc>
            </a:pPr>
            <a:r>
              <a:rPr lang="en-US" altLang="zh-TW" dirty="0" smtClean="0"/>
              <a:t>Effective in </a:t>
            </a:r>
            <a:r>
              <a:rPr lang="en-US" altLang="zh-TW" dirty="0" err="1" smtClean="0"/>
              <a:t>reranking</a:t>
            </a:r>
            <a:r>
              <a:rPr lang="en-US" altLang="zh-TW" dirty="0" smtClean="0"/>
              <a:t> ZDOCK 2.1 and ZDOCK 2.3 predictions with high computational speed.</a:t>
            </a:r>
            <a:endParaRPr lang="zh-TW" altLang="en-US" dirty="0"/>
          </a:p>
        </p:txBody>
      </p:sp>
      <p:sp>
        <p:nvSpPr>
          <p:cNvPr id="4" name="投影片編號版面配置區 3"/>
          <p:cNvSpPr>
            <a:spLocks noGrp="1"/>
          </p:cNvSpPr>
          <p:nvPr>
            <p:ph type="sldNum" sz="quarter" idx="12"/>
          </p:nvPr>
        </p:nvSpPr>
        <p:spPr/>
        <p:txBody>
          <a:bodyPr/>
          <a:lstStyle/>
          <a:p>
            <a:fld id="{ED870293-7AC5-405D-BC93-EA31FAB876FC}" type="slidenum">
              <a:rPr lang="zh-TW" altLang="en-US" smtClean="0"/>
              <a:pPr/>
              <a:t>9</a:t>
            </a:fld>
            <a:endParaRPr lang="zh-TW" altLang="en-US"/>
          </a:p>
        </p:txBody>
      </p:sp>
    </p:spTree>
    <p:extLst>
      <p:ext uri="{BB962C8B-B14F-4D97-AF65-F5344CB8AC3E}">
        <p14:creationId xmlns:p14="http://schemas.microsoft.com/office/powerpoint/2010/main" xmlns="" val="2489021743"/>
      </p:ext>
    </p:extLst>
  </p:cSld>
  <p:clrMapOvr>
    <a:masterClrMapping/>
  </p:clrMapOvr>
  <p:transition>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標題 15"/>
          <p:cNvSpPr>
            <a:spLocks noGrp="1"/>
          </p:cNvSpPr>
          <p:nvPr>
            <p:ph type="title"/>
          </p:nvPr>
        </p:nvSpPr>
        <p:spPr/>
        <p:txBody>
          <a:bodyPr/>
          <a:lstStyle/>
          <a:p>
            <a:r>
              <a:rPr lang="en-US" altLang="zh-TW" dirty="0" smtClean="0"/>
              <a:t>Conformational changes</a:t>
            </a:r>
            <a:endParaRPr lang="zh-TW" altLang="en-US" dirty="0"/>
          </a:p>
        </p:txBody>
      </p:sp>
      <p:sp>
        <p:nvSpPr>
          <p:cNvPr id="3" name="內容版面配置區 2"/>
          <p:cNvSpPr>
            <a:spLocks noGrp="1"/>
          </p:cNvSpPr>
          <p:nvPr>
            <p:ph idx="1"/>
          </p:nvPr>
        </p:nvSpPr>
        <p:spPr/>
        <p:txBody>
          <a:bodyPr/>
          <a:lstStyle/>
          <a:p>
            <a:pPr marL="0" indent="0">
              <a:buNone/>
            </a:pPr>
            <a:r>
              <a:rPr lang="en-US" altLang="zh-TW" dirty="0" smtClean="0"/>
              <a:t>Proteins undergo (</a:t>
            </a:r>
            <a:r>
              <a:rPr lang="zh-TW" altLang="en-US" sz="2400" dirty="0" smtClean="0"/>
              <a:t>經歷</a:t>
            </a:r>
            <a:r>
              <a:rPr lang="en-US" altLang="zh-TW" dirty="0" smtClean="0"/>
              <a:t>) conformational (</a:t>
            </a:r>
            <a:r>
              <a:rPr lang="zh-TW" altLang="en-US" sz="2400" dirty="0" smtClean="0"/>
              <a:t>結構上</a:t>
            </a:r>
            <a:r>
              <a:rPr lang="en-US" altLang="zh-TW" dirty="0" smtClean="0"/>
              <a:t>) changes upon complex formation (</a:t>
            </a:r>
            <a:r>
              <a:rPr lang="zh-TW" altLang="en-US" sz="2400" dirty="0" smtClean="0"/>
              <a:t>形成</a:t>
            </a:r>
            <a:r>
              <a:rPr lang="en-US" altLang="zh-TW" dirty="0" smtClean="0"/>
              <a:t>):</a:t>
            </a:r>
          </a:p>
          <a:p>
            <a:pPr marL="0" indent="0">
              <a:buNone/>
            </a:pPr>
            <a:endParaRPr lang="en-US" altLang="zh-TW" dirty="0" smtClean="0"/>
          </a:p>
          <a:p>
            <a:r>
              <a:rPr lang="en-US" altLang="zh-TW" dirty="0" smtClean="0"/>
              <a:t>often only on surface side chains</a:t>
            </a:r>
          </a:p>
          <a:p>
            <a:r>
              <a:rPr lang="en-US" altLang="zh-TW" dirty="0" smtClean="0"/>
              <a:t>sometimes on the backbones of surface loops</a:t>
            </a:r>
          </a:p>
          <a:p>
            <a:r>
              <a:rPr lang="en-US" altLang="zh-TW" dirty="0" smtClean="0"/>
              <a:t>sometimes involving entire domains</a:t>
            </a:r>
            <a:endParaRPr lang="zh-TW" altLang="en-US" dirty="0"/>
          </a:p>
        </p:txBody>
      </p:sp>
      <p:sp>
        <p:nvSpPr>
          <p:cNvPr id="4" name="投影片編號版面配置區 3"/>
          <p:cNvSpPr>
            <a:spLocks noGrp="1"/>
          </p:cNvSpPr>
          <p:nvPr>
            <p:ph type="sldNum" sz="quarter" idx="12"/>
          </p:nvPr>
        </p:nvSpPr>
        <p:spPr/>
        <p:txBody>
          <a:bodyPr/>
          <a:lstStyle/>
          <a:p>
            <a:fld id="{ED870293-7AC5-405D-BC93-EA31FAB876FC}" type="slidenum">
              <a:rPr lang="zh-TW" altLang="en-US" smtClean="0"/>
              <a:pPr/>
              <a:t>10</a:t>
            </a:fld>
            <a:endParaRPr lang="zh-TW" altLang="en-US"/>
          </a:p>
        </p:txBody>
      </p:sp>
    </p:spTree>
    <p:extLst>
      <p:ext uri="{BB962C8B-B14F-4D97-AF65-F5344CB8AC3E}">
        <p14:creationId xmlns:p14="http://schemas.microsoft.com/office/powerpoint/2010/main" xmlns="" val="2154905941"/>
      </p:ext>
    </p:extLst>
  </p:cSld>
  <p:clrMapOvr>
    <a:masterClrMapping/>
  </p:clrMapOvr>
  <p:transition>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Atom-based vs. Residue-based</a:t>
            </a:r>
            <a:endParaRPr lang="zh-TW" altLang="en-US" dirty="0"/>
          </a:p>
        </p:txBody>
      </p:sp>
      <p:sp>
        <p:nvSpPr>
          <p:cNvPr id="3" name="內容版面配置區 2"/>
          <p:cNvSpPr>
            <a:spLocks noGrp="1"/>
          </p:cNvSpPr>
          <p:nvPr>
            <p:ph idx="1"/>
          </p:nvPr>
        </p:nvSpPr>
        <p:spPr/>
        <p:txBody>
          <a:bodyPr/>
          <a:lstStyle/>
          <a:p>
            <a:r>
              <a:rPr lang="en-US" altLang="zh-TW" dirty="0" smtClean="0"/>
              <a:t>Atom-based potentials</a:t>
            </a:r>
          </a:p>
          <a:p>
            <a:pPr lvl="1"/>
            <a:r>
              <a:rPr lang="en-US" altLang="zh-TW" dirty="0" smtClean="0"/>
              <a:t>can be more accurate than residue-based potentials on high quality structures.</a:t>
            </a:r>
          </a:p>
          <a:p>
            <a:r>
              <a:rPr lang="en-US" altLang="zh-TW" dirty="0" smtClean="0"/>
              <a:t>Residue-based potentials</a:t>
            </a:r>
          </a:p>
          <a:p>
            <a:pPr lvl="1"/>
            <a:r>
              <a:rPr lang="en-US" altLang="zh-TW" dirty="0" smtClean="0"/>
              <a:t>can better tolerate (</a:t>
            </a:r>
            <a:r>
              <a:rPr lang="zh-TW" altLang="en-US" sz="2400" dirty="0" smtClean="0"/>
              <a:t>容許</a:t>
            </a:r>
            <a:r>
              <a:rPr lang="en-US" altLang="zh-TW" dirty="0" smtClean="0"/>
              <a:t>) </a:t>
            </a:r>
            <a:r>
              <a:rPr lang="en-US" altLang="zh-TW" u="sng" dirty="0" smtClean="0"/>
              <a:t>conformational changes</a:t>
            </a:r>
            <a:r>
              <a:rPr lang="en-US" altLang="zh-TW" dirty="0" smtClean="0"/>
              <a:t>.</a:t>
            </a:r>
          </a:p>
          <a:p>
            <a:pPr lvl="1"/>
            <a:r>
              <a:rPr lang="en-US" altLang="zh-TW" dirty="0" smtClean="0"/>
              <a:t>The parameterization is residue-type specific, which may be able to capture </a:t>
            </a:r>
            <a:r>
              <a:rPr lang="en-US" altLang="zh-TW" u="sng" dirty="0" smtClean="0"/>
              <a:t>the biophysical interactions</a:t>
            </a:r>
            <a:r>
              <a:rPr lang="en-US" altLang="zh-TW" dirty="0" smtClean="0"/>
              <a:t> missed by the atom types used in atom-based potentials.</a:t>
            </a:r>
            <a:endParaRPr lang="zh-TW" altLang="en-US" dirty="0"/>
          </a:p>
        </p:txBody>
      </p:sp>
      <p:sp>
        <p:nvSpPr>
          <p:cNvPr id="4" name="投影片編號版面配置區 3"/>
          <p:cNvSpPr>
            <a:spLocks noGrp="1"/>
          </p:cNvSpPr>
          <p:nvPr>
            <p:ph type="sldNum" sz="quarter" idx="12"/>
          </p:nvPr>
        </p:nvSpPr>
        <p:spPr/>
        <p:txBody>
          <a:bodyPr/>
          <a:lstStyle/>
          <a:p>
            <a:fld id="{ED870293-7AC5-405D-BC93-EA31FAB876FC}" type="slidenum">
              <a:rPr lang="zh-TW" altLang="en-US" smtClean="0"/>
              <a:pPr/>
              <a:t>11</a:t>
            </a:fld>
            <a:endParaRPr lang="zh-TW" altLang="en-US"/>
          </a:p>
        </p:txBody>
      </p:sp>
    </p:spTree>
    <p:extLst>
      <p:ext uri="{BB962C8B-B14F-4D97-AF65-F5344CB8AC3E}">
        <p14:creationId xmlns:p14="http://schemas.microsoft.com/office/powerpoint/2010/main" xmlns="" val="712897796"/>
      </p:ext>
    </p:extLst>
  </p:cSld>
  <p:clrMapOvr>
    <a:masterClrMapping/>
  </p:clrMapOvr>
  <p:transition>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Atom-based + Residue-based</a:t>
            </a:r>
            <a:endParaRPr lang="zh-TW" altLang="en-US" dirty="0"/>
          </a:p>
        </p:txBody>
      </p:sp>
      <p:sp>
        <p:nvSpPr>
          <p:cNvPr id="3" name="內容版面配置區 2"/>
          <p:cNvSpPr>
            <a:spLocks noGrp="1"/>
          </p:cNvSpPr>
          <p:nvPr>
            <p:ph idx="1"/>
          </p:nvPr>
        </p:nvSpPr>
        <p:spPr/>
        <p:txBody>
          <a:bodyPr/>
          <a:lstStyle/>
          <a:p>
            <a:r>
              <a:rPr lang="en-US" altLang="zh-TW" dirty="0" smtClean="0"/>
              <a:t>Previous work:</a:t>
            </a:r>
          </a:p>
          <a:p>
            <a:pPr marL="457200" lvl="1" indent="0">
              <a:buNone/>
            </a:pPr>
            <a:r>
              <a:rPr lang="en-US" altLang="zh-TW" dirty="0" smtClean="0"/>
              <a:t>were applied to different stages of the pipeline, but not within a single scoring function.</a:t>
            </a:r>
          </a:p>
          <a:p>
            <a:endParaRPr lang="en-US" altLang="zh-TW" dirty="0" smtClean="0"/>
          </a:p>
          <a:p>
            <a:r>
              <a:rPr lang="en-US" altLang="zh-TW" dirty="0" smtClean="0"/>
              <a:t>This work:</a:t>
            </a:r>
          </a:p>
          <a:p>
            <a:pPr marL="971550" lvl="1" indent="-514350">
              <a:buFont typeface="+mj-lt"/>
              <a:buAutoNum type="arabicPeriod"/>
            </a:pPr>
            <a:r>
              <a:rPr lang="en-US" altLang="zh-TW" dirty="0" smtClean="0"/>
              <a:t>the atom-based potentials in ZRANK +</a:t>
            </a:r>
          </a:p>
          <a:p>
            <a:pPr marL="971550" lvl="1" indent="-514350">
              <a:buFont typeface="+mj-lt"/>
              <a:buAutoNum type="arabicPeriod"/>
            </a:pPr>
            <a:r>
              <a:rPr lang="en-US" altLang="zh-TW" dirty="0" smtClean="0"/>
              <a:t>several residue-based potentials (other labs) +</a:t>
            </a:r>
          </a:p>
          <a:p>
            <a:pPr marL="971550" lvl="1" indent="-514350">
              <a:buFont typeface="+mj-lt"/>
              <a:buAutoNum type="arabicPeriod"/>
            </a:pPr>
            <a:r>
              <a:rPr lang="en-US" altLang="zh-TW" dirty="0" smtClean="0"/>
              <a:t>the atom-based potential IFACE</a:t>
            </a:r>
            <a:endParaRPr lang="zh-TW" altLang="en-US" dirty="0"/>
          </a:p>
        </p:txBody>
      </p:sp>
      <p:sp>
        <p:nvSpPr>
          <p:cNvPr id="4" name="投影片編號版面配置區 3"/>
          <p:cNvSpPr>
            <a:spLocks noGrp="1"/>
          </p:cNvSpPr>
          <p:nvPr>
            <p:ph type="sldNum" sz="quarter" idx="12"/>
          </p:nvPr>
        </p:nvSpPr>
        <p:spPr/>
        <p:txBody>
          <a:bodyPr/>
          <a:lstStyle/>
          <a:p>
            <a:fld id="{ED870293-7AC5-405D-BC93-EA31FAB876FC}" type="slidenum">
              <a:rPr lang="zh-TW" altLang="en-US" smtClean="0"/>
              <a:pPr/>
              <a:t>12</a:t>
            </a:fld>
            <a:endParaRPr lang="zh-TW" altLang="en-US"/>
          </a:p>
        </p:txBody>
      </p:sp>
    </p:spTree>
    <p:extLst>
      <p:ext uri="{BB962C8B-B14F-4D97-AF65-F5344CB8AC3E}">
        <p14:creationId xmlns:p14="http://schemas.microsoft.com/office/powerpoint/2010/main" xmlns="" val="1971566840"/>
      </p:ext>
    </p:extLst>
  </p:cSld>
  <p:clrMapOvr>
    <a:masterClrMapping/>
  </p:clrMapOvr>
  <p:transition>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Results</a:t>
            </a:r>
            <a:endParaRPr lang="zh-TW" altLang="en-US" dirty="0"/>
          </a:p>
        </p:txBody>
      </p:sp>
      <p:sp>
        <p:nvSpPr>
          <p:cNvPr id="3" name="文字版面配置區 2"/>
          <p:cNvSpPr>
            <a:spLocks noGrp="1"/>
          </p:cNvSpPr>
          <p:nvPr>
            <p:ph type="body" idx="1"/>
          </p:nvPr>
        </p:nvSpPr>
        <p:spPr/>
        <p:txBody>
          <a:bodyPr/>
          <a:lstStyle/>
          <a:p>
            <a:r>
              <a:rPr lang="en-US" altLang="zh-TW" dirty="0" smtClean="0"/>
              <a:t>2.</a:t>
            </a:r>
            <a:endParaRPr lang="zh-TW" altLang="en-US" dirty="0"/>
          </a:p>
        </p:txBody>
      </p:sp>
      <p:sp>
        <p:nvSpPr>
          <p:cNvPr id="4" name="投影片編號版面配置區 3"/>
          <p:cNvSpPr>
            <a:spLocks noGrp="1"/>
          </p:cNvSpPr>
          <p:nvPr>
            <p:ph type="sldNum" sz="quarter" idx="12"/>
          </p:nvPr>
        </p:nvSpPr>
        <p:spPr/>
        <p:txBody>
          <a:bodyPr/>
          <a:lstStyle/>
          <a:p>
            <a:fld id="{ED870293-7AC5-405D-BC93-EA31FAB876FC}" type="slidenum">
              <a:rPr lang="zh-TW" altLang="en-US" smtClean="0"/>
              <a:pPr/>
              <a:t>13</a:t>
            </a:fld>
            <a:endParaRPr lang="zh-TW" altLang="en-US"/>
          </a:p>
        </p:txBody>
      </p:sp>
    </p:spTree>
    <p:extLst>
      <p:ext uri="{BB962C8B-B14F-4D97-AF65-F5344CB8AC3E}">
        <p14:creationId xmlns:p14="http://schemas.microsoft.com/office/powerpoint/2010/main" xmlns="" val="3537559670"/>
      </p:ext>
    </p:extLst>
  </p:cSld>
  <p:clrMapOvr>
    <a:masterClrMapping/>
  </p:clrMapOvr>
  <p:transition spd="slow">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Results</a:t>
            </a:r>
            <a:endParaRPr lang="zh-TW" altLang="en-US" dirty="0"/>
          </a:p>
        </p:txBody>
      </p:sp>
      <p:sp>
        <p:nvSpPr>
          <p:cNvPr id="3" name="文字版面配置區 2"/>
          <p:cNvSpPr>
            <a:spLocks noGrp="1"/>
          </p:cNvSpPr>
          <p:nvPr>
            <p:ph type="body" idx="1"/>
          </p:nvPr>
        </p:nvSpPr>
        <p:spPr/>
        <p:txBody>
          <a:bodyPr/>
          <a:lstStyle/>
          <a:p>
            <a:r>
              <a:rPr lang="en-US" altLang="zh-TW" dirty="0"/>
              <a:t>2-1. The potentials</a:t>
            </a:r>
            <a:endParaRPr lang="zh-TW" altLang="en-US" dirty="0"/>
          </a:p>
        </p:txBody>
      </p:sp>
      <p:sp>
        <p:nvSpPr>
          <p:cNvPr id="4" name="投影片編號版面配置區 3"/>
          <p:cNvSpPr>
            <a:spLocks noGrp="1"/>
          </p:cNvSpPr>
          <p:nvPr>
            <p:ph type="sldNum" sz="quarter" idx="12"/>
          </p:nvPr>
        </p:nvSpPr>
        <p:spPr/>
        <p:txBody>
          <a:bodyPr/>
          <a:lstStyle/>
          <a:p>
            <a:fld id="{ED870293-7AC5-405D-BC93-EA31FAB876FC}" type="slidenum">
              <a:rPr lang="zh-TW" altLang="en-US" smtClean="0"/>
              <a:pPr/>
              <a:t>14</a:t>
            </a:fld>
            <a:endParaRPr lang="zh-TW" altLang="en-US"/>
          </a:p>
        </p:txBody>
      </p:sp>
    </p:spTree>
    <p:extLst>
      <p:ext uri="{BB962C8B-B14F-4D97-AF65-F5344CB8AC3E}">
        <p14:creationId xmlns:p14="http://schemas.microsoft.com/office/powerpoint/2010/main" xmlns="" val="1306247797"/>
      </p:ext>
    </p:extLst>
  </p:cSld>
  <p:clrMapOvr>
    <a:masterClrMapping/>
  </p:clrMapOvr>
  <p:transition>
    <p:cu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The potentials (atom-based)</a:t>
            </a:r>
            <a:endParaRPr lang="zh-TW" altLang="en-US" dirty="0"/>
          </a:p>
        </p:txBody>
      </p:sp>
      <p:sp>
        <p:nvSpPr>
          <p:cNvPr id="10" name="內容版面配置區 9"/>
          <p:cNvSpPr>
            <a:spLocks noGrp="1"/>
          </p:cNvSpPr>
          <p:nvPr>
            <p:ph idx="1"/>
          </p:nvPr>
        </p:nvSpPr>
        <p:spPr/>
        <p:txBody>
          <a:bodyPr/>
          <a:lstStyle/>
          <a:p>
            <a:r>
              <a:rPr lang="en-US" altLang="zh-TW" smtClean="0"/>
              <a:t>ZRANK scoring function</a:t>
            </a:r>
          </a:p>
          <a:p>
            <a:pPr lvl="1"/>
            <a:r>
              <a:rPr lang="en-US" altLang="zh-TW" smtClean="0"/>
              <a:t>Van der Waals (attractive/repulsive)</a:t>
            </a:r>
          </a:p>
          <a:p>
            <a:pPr lvl="1"/>
            <a:r>
              <a:rPr lang="en-US" altLang="zh-TW" smtClean="0"/>
              <a:t>Electrostatics (short-range/long-range)</a:t>
            </a:r>
          </a:p>
          <a:p>
            <a:pPr lvl="1"/>
            <a:r>
              <a:rPr lang="en-US" altLang="zh-TW" smtClean="0"/>
              <a:t>ACE desolvation contact energy</a:t>
            </a:r>
          </a:p>
          <a:p>
            <a:r>
              <a:rPr lang="en-US" altLang="zh-TW" smtClean="0"/>
              <a:t>ZDOCK 3.0</a:t>
            </a:r>
          </a:p>
          <a:p>
            <a:pPr lvl="1"/>
            <a:r>
              <a:rPr lang="en-US" altLang="zh-TW" smtClean="0"/>
              <a:t>Van der Waals (attractive/repulsive)</a:t>
            </a:r>
          </a:p>
          <a:p>
            <a:pPr lvl="1"/>
            <a:r>
              <a:rPr lang="en-US" altLang="zh-TW" smtClean="0"/>
              <a:t>Electrostatics</a:t>
            </a:r>
          </a:p>
          <a:p>
            <a:pPr lvl="1"/>
            <a:r>
              <a:rPr lang="en-US" altLang="zh-TW" smtClean="0"/>
              <a:t>IFACE desolvation contact energy</a:t>
            </a:r>
            <a:endParaRPr lang="zh-TW" altLang="en-US" dirty="0"/>
          </a:p>
        </p:txBody>
      </p:sp>
      <p:sp>
        <p:nvSpPr>
          <p:cNvPr id="4" name="投影片編號版面配置區 3"/>
          <p:cNvSpPr>
            <a:spLocks noGrp="1"/>
          </p:cNvSpPr>
          <p:nvPr>
            <p:ph type="sldNum" sz="quarter" idx="12"/>
          </p:nvPr>
        </p:nvSpPr>
        <p:spPr/>
        <p:txBody>
          <a:bodyPr/>
          <a:lstStyle/>
          <a:p>
            <a:fld id="{ED870293-7AC5-405D-BC93-EA31FAB876FC}" type="slidenum">
              <a:rPr lang="zh-TW" altLang="en-US" smtClean="0"/>
              <a:pPr/>
              <a:t>15</a:t>
            </a:fld>
            <a:endParaRPr lang="zh-TW" altLang="en-US"/>
          </a:p>
        </p:txBody>
      </p:sp>
    </p:spTree>
    <p:extLst>
      <p:ext uri="{BB962C8B-B14F-4D97-AF65-F5344CB8AC3E}">
        <p14:creationId xmlns:p14="http://schemas.microsoft.com/office/powerpoint/2010/main" xmlns="" val="1224517175"/>
      </p:ext>
    </p:extLst>
  </p:cSld>
  <p:clrMapOvr>
    <a:masterClrMapping/>
  </p:clrMapOvr>
  <p:transition>
    <p:cu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The potentials (residue-based)</a:t>
            </a:r>
            <a:endParaRPr lang="zh-TW" altLang="en-US" dirty="0"/>
          </a:p>
        </p:txBody>
      </p:sp>
      <p:sp>
        <p:nvSpPr>
          <p:cNvPr id="7" name="內容版面配置區 6"/>
          <p:cNvSpPr>
            <a:spLocks noGrp="1"/>
          </p:cNvSpPr>
          <p:nvPr>
            <p:ph idx="1"/>
          </p:nvPr>
        </p:nvSpPr>
        <p:spPr/>
        <p:txBody>
          <a:bodyPr>
            <a:normAutofit fontScale="92500" lnSpcReduction="10000"/>
          </a:bodyPr>
          <a:lstStyle/>
          <a:p>
            <a:r>
              <a:rPr lang="en-US" altLang="zh-TW" dirty="0" smtClean="0"/>
              <a:t>Glaser, Steinberg, </a:t>
            </a:r>
            <a:r>
              <a:rPr lang="en-US" altLang="zh-TW" dirty="0" err="1" smtClean="0"/>
              <a:t>Vakser</a:t>
            </a:r>
            <a:r>
              <a:rPr lang="en-US" altLang="zh-TW" dirty="0" smtClean="0"/>
              <a:t>, and Ben-Tal (GSVB)</a:t>
            </a:r>
          </a:p>
          <a:p>
            <a:r>
              <a:rPr lang="en-US" altLang="zh-TW" dirty="0" smtClean="0"/>
              <a:t>Tobi and </a:t>
            </a:r>
            <a:r>
              <a:rPr lang="en-US" altLang="zh-TW" dirty="0" err="1" smtClean="0"/>
              <a:t>Bahar</a:t>
            </a:r>
            <a:r>
              <a:rPr lang="en-US" altLang="zh-TW" dirty="0" smtClean="0"/>
              <a:t> (TB)</a:t>
            </a:r>
          </a:p>
          <a:p>
            <a:r>
              <a:rPr lang="en-US" altLang="zh-TW" dirty="0" smtClean="0"/>
              <a:t>Lu, Lu, and Skolnick (LLS)</a:t>
            </a:r>
          </a:p>
          <a:p>
            <a:pPr marL="0" indent="0">
              <a:buNone/>
            </a:pPr>
            <a:r>
              <a:rPr lang="en-US" altLang="zh-TW" dirty="0" smtClean="0"/>
              <a:t>The pair potential developed for protein folding:</a:t>
            </a:r>
          </a:p>
          <a:p>
            <a:r>
              <a:rPr lang="sv-SE" altLang="zh-TW" dirty="0" smtClean="0"/>
              <a:t>Zhang, Kolinski, and Skolnick (ZKS)</a:t>
            </a:r>
          </a:p>
          <a:p>
            <a:r>
              <a:rPr lang="en-US" altLang="zh-TW" dirty="0" smtClean="0"/>
              <a:t>uses an alternative definition of</a:t>
            </a:r>
            <a:br>
              <a:rPr lang="en-US" altLang="zh-TW" dirty="0" smtClean="0"/>
            </a:br>
            <a:r>
              <a:rPr lang="en-US" altLang="zh-TW" dirty="0" smtClean="0"/>
              <a:t>the interaction site (ZKS/a).</a:t>
            </a:r>
          </a:p>
          <a:p>
            <a:pPr marL="0" indent="0">
              <a:buNone/>
            </a:pPr>
            <a:r>
              <a:rPr lang="en-US" altLang="zh-TW" dirty="0" err="1" smtClean="0"/>
              <a:t>Nonpairwise</a:t>
            </a:r>
            <a:r>
              <a:rPr lang="en-US" altLang="zh-TW" dirty="0" smtClean="0"/>
              <a:t>:</a:t>
            </a:r>
          </a:p>
          <a:p>
            <a:r>
              <a:rPr lang="en-US" altLang="zh-TW" dirty="0" err="1" smtClean="0"/>
              <a:t>Chakrabarti</a:t>
            </a:r>
            <a:r>
              <a:rPr lang="en-US" altLang="zh-TW" dirty="0" smtClean="0"/>
              <a:t> </a:t>
            </a:r>
            <a:r>
              <a:rPr lang="en-US" altLang="zh-TW" dirty="0"/>
              <a:t>and </a:t>
            </a:r>
            <a:r>
              <a:rPr lang="en-US" altLang="zh-TW" dirty="0" err="1"/>
              <a:t>Janin</a:t>
            </a:r>
            <a:r>
              <a:rPr lang="en-US" altLang="zh-TW" dirty="0"/>
              <a:t> (CJ</a:t>
            </a:r>
            <a:r>
              <a:rPr lang="en-US" altLang="zh-TW" dirty="0" smtClean="0"/>
              <a:t>).</a:t>
            </a:r>
            <a:endParaRPr lang="zh-TW" altLang="en-US" dirty="0"/>
          </a:p>
        </p:txBody>
      </p:sp>
      <p:sp>
        <p:nvSpPr>
          <p:cNvPr id="4" name="投影片編號版面配置區 3"/>
          <p:cNvSpPr>
            <a:spLocks noGrp="1"/>
          </p:cNvSpPr>
          <p:nvPr>
            <p:ph type="sldNum" sz="quarter" idx="12"/>
          </p:nvPr>
        </p:nvSpPr>
        <p:spPr/>
        <p:txBody>
          <a:bodyPr/>
          <a:lstStyle/>
          <a:p>
            <a:fld id="{ED870293-7AC5-405D-BC93-EA31FAB876FC}" type="slidenum">
              <a:rPr lang="zh-TW" altLang="en-US" smtClean="0"/>
              <a:pPr/>
              <a:t>16</a:t>
            </a:fld>
            <a:endParaRPr lang="zh-TW" altLang="en-US"/>
          </a:p>
        </p:txBody>
      </p:sp>
    </p:spTree>
    <p:extLst>
      <p:ext uri="{BB962C8B-B14F-4D97-AF65-F5344CB8AC3E}">
        <p14:creationId xmlns:p14="http://schemas.microsoft.com/office/powerpoint/2010/main" xmlns="" val="2740094855"/>
      </p:ext>
    </p:extLst>
  </p:cSld>
  <p:clrMapOvr>
    <a:masterClrMapping/>
  </p:clrMapOvr>
  <p:transition>
    <p:cu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19263" y="346075"/>
            <a:ext cx="5705475" cy="6172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投影片編號版面配置區 1"/>
          <p:cNvSpPr>
            <a:spLocks noGrp="1"/>
          </p:cNvSpPr>
          <p:nvPr>
            <p:ph type="sldNum" sz="quarter" idx="12"/>
          </p:nvPr>
        </p:nvSpPr>
        <p:spPr/>
        <p:txBody>
          <a:bodyPr/>
          <a:lstStyle/>
          <a:p>
            <a:fld id="{ED870293-7AC5-405D-BC93-EA31FAB876FC}" type="slidenum">
              <a:rPr lang="zh-TW" altLang="en-US" smtClean="0"/>
              <a:pPr/>
              <a:t>17</a:t>
            </a:fld>
            <a:endParaRPr lang="zh-TW" altLang="en-US"/>
          </a:p>
        </p:txBody>
      </p:sp>
    </p:spTree>
    <p:extLst>
      <p:ext uri="{BB962C8B-B14F-4D97-AF65-F5344CB8AC3E}">
        <p14:creationId xmlns:p14="http://schemas.microsoft.com/office/powerpoint/2010/main" xmlns="" val="44919401"/>
      </p:ext>
    </p:extLst>
  </p:cSld>
  <p:clrMapOvr>
    <a:masterClrMapping/>
  </p:clrMapOvr>
  <p:transition>
    <p:cu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Results</a:t>
            </a:r>
            <a:endParaRPr lang="zh-TW" altLang="en-US" dirty="0"/>
          </a:p>
        </p:txBody>
      </p:sp>
      <p:sp>
        <p:nvSpPr>
          <p:cNvPr id="3" name="文字版面配置區 2"/>
          <p:cNvSpPr>
            <a:spLocks noGrp="1"/>
          </p:cNvSpPr>
          <p:nvPr>
            <p:ph type="body" idx="1"/>
          </p:nvPr>
        </p:nvSpPr>
        <p:spPr/>
        <p:txBody>
          <a:bodyPr/>
          <a:lstStyle/>
          <a:p>
            <a:r>
              <a:rPr lang="en-US" altLang="zh-TW" dirty="0"/>
              <a:t>2-2. Combining potentials</a:t>
            </a:r>
            <a:endParaRPr lang="zh-TW" altLang="en-US" dirty="0"/>
          </a:p>
        </p:txBody>
      </p:sp>
      <p:sp>
        <p:nvSpPr>
          <p:cNvPr id="4" name="投影片編號版面配置區 3"/>
          <p:cNvSpPr>
            <a:spLocks noGrp="1"/>
          </p:cNvSpPr>
          <p:nvPr>
            <p:ph type="sldNum" sz="quarter" idx="12"/>
          </p:nvPr>
        </p:nvSpPr>
        <p:spPr/>
        <p:txBody>
          <a:bodyPr/>
          <a:lstStyle/>
          <a:p>
            <a:fld id="{ED870293-7AC5-405D-BC93-EA31FAB876FC}" type="slidenum">
              <a:rPr lang="zh-TW" altLang="en-US" smtClean="0"/>
              <a:pPr/>
              <a:t>18</a:t>
            </a:fld>
            <a:endParaRPr lang="zh-TW" altLang="en-US"/>
          </a:p>
        </p:txBody>
      </p:sp>
    </p:spTree>
    <p:extLst>
      <p:ext uri="{BB962C8B-B14F-4D97-AF65-F5344CB8AC3E}">
        <p14:creationId xmlns:p14="http://schemas.microsoft.com/office/powerpoint/2010/main" xmlns="" val="639637913"/>
      </p:ext>
    </p:extLst>
  </p:cSld>
  <p:clrMapOvr>
    <a:masterClrMapping/>
  </p:clrMapOvr>
  <p:transition spd="slow">
    <p:cu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標題 30"/>
          <p:cNvSpPr>
            <a:spLocks noGrp="1"/>
          </p:cNvSpPr>
          <p:nvPr>
            <p:ph type="title"/>
          </p:nvPr>
        </p:nvSpPr>
        <p:spPr/>
        <p:txBody>
          <a:bodyPr/>
          <a:lstStyle/>
          <a:p>
            <a:r>
              <a:rPr lang="en-US" altLang="zh-TW" dirty="0" smtClean="0"/>
              <a:t>Combining potentials (1/4)</a:t>
            </a:r>
            <a:endParaRPr lang="zh-TW" altLang="en-US" dirty="0"/>
          </a:p>
        </p:txBody>
      </p:sp>
      <p:sp>
        <p:nvSpPr>
          <p:cNvPr id="3" name="內容版面配置區 2"/>
          <p:cNvSpPr>
            <a:spLocks noGrp="1"/>
          </p:cNvSpPr>
          <p:nvPr>
            <p:ph idx="1"/>
          </p:nvPr>
        </p:nvSpPr>
        <p:spPr/>
        <p:txBody>
          <a:bodyPr/>
          <a:lstStyle/>
          <a:p>
            <a:pPr marL="0" indent="0">
              <a:buNone/>
            </a:pPr>
            <a:r>
              <a:rPr lang="en-US" altLang="zh-TW" dirty="0" smtClean="0"/>
              <a:t>We tested the </a:t>
            </a:r>
            <a:r>
              <a:rPr lang="en-US" altLang="zh-TW" dirty="0" err="1" smtClean="0"/>
              <a:t>reranking</a:t>
            </a:r>
            <a:r>
              <a:rPr lang="en-US" altLang="zh-TW" dirty="0" smtClean="0"/>
              <a:t> performance of linear combinations of the potentials introduced above.</a:t>
            </a:r>
          </a:p>
          <a:p>
            <a:pPr marL="0" indent="0">
              <a:buNone/>
            </a:pPr>
            <a:endParaRPr lang="en-US" altLang="zh-TW" dirty="0" smtClean="0"/>
          </a:p>
          <a:p>
            <a:pPr marL="0" indent="0">
              <a:buNone/>
            </a:pPr>
            <a:r>
              <a:rPr lang="en-US" altLang="zh-TW" dirty="0" smtClean="0"/>
              <a:t>Because the number of terms we can combine with this procedure is limited, we only tested combinations of up to 10 different potentials.</a:t>
            </a:r>
            <a:endParaRPr lang="zh-TW" altLang="en-US" dirty="0"/>
          </a:p>
        </p:txBody>
      </p:sp>
      <p:sp>
        <p:nvSpPr>
          <p:cNvPr id="4" name="投影片編號版面配置區 3"/>
          <p:cNvSpPr>
            <a:spLocks noGrp="1"/>
          </p:cNvSpPr>
          <p:nvPr>
            <p:ph type="sldNum" sz="quarter" idx="12"/>
          </p:nvPr>
        </p:nvSpPr>
        <p:spPr/>
        <p:txBody>
          <a:bodyPr/>
          <a:lstStyle/>
          <a:p>
            <a:fld id="{ED870293-7AC5-405D-BC93-EA31FAB876FC}" type="slidenum">
              <a:rPr lang="zh-TW" altLang="en-US" smtClean="0"/>
              <a:pPr/>
              <a:t>19</a:t>
            </a:fld>
            <a:endParaRPr lang="zh-TW" altLang="en-US"/>
          </a:p>
        </p:txBody>
      </p:sp>
    </p:spTree>
    <p:extLst>
      <p:ext uri="{BB962C8B-B14F-4D97-AF65-F5344CB8AC3E}">
        <p14:creationId xmlns:p14="http://schemas.microsoft.com/office/powerpoint/2010/main" xmlns="" val="3216666154"/>
      </p:ext>
    </p:extLst>
  </p:cSld>
  <p:clrMapOvr>
    <a:masterClrMapping/>
  </p:clrMapOvr>
  <p:transition>
    <p:cu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標題 24"/>
          <p:cNvSpPr>
            <a:spLocks noGrp="1"/>
          </p:cNvSpPr>
          <p:nvPr>
            <p:ph type="title"/>
          </p:nvPr>
        </p:nvSpPr>
        <p:spPr/>
        <p:txBody>
          <a:bodyPr/>
          <a:lstStyle/>
          <a:p>
            <a:r>
              <a:rPr lang="en-US" altLang="zh-TW" dirty="0" smtClean="0"/>
              <a:t>Combining potentials (2/4)</a:t>
            </a:r>
            <a:endParaRPr lang="zh-TW" altLang="en-US" dirty="0"/>
          </a:p>
        </p:txBody>
      </p:sp>
      <p:sp>
        <p:nvSpPr>
          <p:cNvPr id="3" name="內容版面配置區 2"/>
          <p:cNvSpPr>
            <a:spLocks noGrp="1"/>
          </p:cNvSpPr>
          <p:nvPr>
            <p:ph idx="1"/>
          </p:nvPr>
        </p:nvSpPr>
        <p:spPr/>
        <p:txBody>
          <a:bodyPr/>
          <a:lstStyle/>
          <a:p>
            <a:r>
              <a:rPr lang="en-US" altLang="zh-TW" smtClean="0"/>
              <a:t>Decoys:</a:t>
            </a:r>
            <a:br>
              <a:rPr lang="en-US" altLang="zh-TW" smtClean="0"/>
            </a:br>
            <a:r>
              <a:rPr lang="en-US" altLang="zh-TW" smtClean="0"/>
              <a:t>generated with ZDOCK 3.0 for the complexes from our docking benchmark (3.0).</a:t>
            </a:r>
          </a:p>
          <a:p>
            <a:r>
              <a:rPr lang="en-US" altLang="zh-TW" smtClean="0"/>
              <a:t>For training and testing:</a:t>
            </a:r>
            <a:br>
              <a:rPr lang="en-US" altLang="zh-TW" smtClean="0"/>
            </a:br>
            <a:r>
              <a:rPr lang="en-US" altLang="zh-TW" smtClean="0"/>
              <a:t>8-fold cross-validation</a:t>
            </a:r>
          </a:p>
          <a:p>
            <a:r>
              <a:rPr lang="en-US" altLang="zh-TW" smtClean="0"/>
              <a:t>Optimize weights:</a:t>
            </a:r>
            <a:br>
              <a:rPr lang="en-US" altLang="zh-TW" smtClean="0"/>
            </a:br>
            <a:r>
              <a:rPr lang="en-US" altLang="zh-TW" smtClean="0"/>
              <a:t>downhill simplex algorithm</a:t>
            </a:r>
            <a:endParaRPr lang="zh-TW" altLang="en-US" dirty="0"/>
          </a:p>
        </p:txBody>
      </p:sp>
      <p:sp>
        <p:nvSpPr>
          <p:cNvPr id="4" name="投影片編號版面配置區 3"/>
          <p:cNvSpPr>
            <a:spLocks noGrp="1"/>
          </p:cNvSpPr>
          <p:nvPr>
            <p:ph type="sldNum" sz="quarter" idx="12"/>
          </p:nvPr>
        </p:nvSpPr>
        <p:spPr/>
        <p:txBody>
          <a:bodyPr/>
          <a:lstStyle/>
          <a:p>
            <a:fld id="{ED870293-7AC5-405D-BC93-EA31FAB876FC}" type="slidenum">
              <a:rPr lang="zh-TW" altLang="en-US" smtClean="0"/>
              <a:pPr/>
              <a:t>20</a:t>
            </a:fld>
            <a:endParaRPr lang="zh-TW" altLang="en-US"/>
          </a:p>
        </p:txBody>
      </p:sp>
    </p:spTree>
    <p:extLst>
      <p:ext uri="{BB962C8B-B14F-4D97-AF65-F5344CB8AC3E}">
        <p14:creationId xmlns:p14="http://schemas.microsoft.com/office/powerpoint/2010/main" xmlns="" val="1045115224"/>
      </p:ext>
    </p:extLst>
  </p:cSld>
  <p:clrMapOvr>
    <a:masterClrMapping/>
  </p:clrMapOvr>
  <p:transition>
    <p:cu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標題 12"/>
          <p:cNvSpPr>
            <a:spLocks noGrp="1"/>
          </p:cNvSpPr>
          <p:nvPr>
            <p:ph type="title"/>
          </p:nvPr>
        </p:nvSpPr>
        <p:spPr/>
        <p:txBody>
          <a:bodyPr/>
          <a:lstStyle/>
          <a:p>
            <a:r>
              <a:rPr lang="en-US" altLang="zh-TW" dirty="0" smtClean="0"/>
              <a:t>Combining potentials (3/4)</a:t>
            </a:r>
            <a:endParaRPr lang="zh-TW" altLang="en-US" dirty="0"/>
          </a:p>
        </p:txBody>
      </p:sp>
      <p:sp>
        <p:nvSpPr>
          <p:cNvPr id="3" name="內容版面配置區 2"/>
          <p:cNvSpPr>
            <a:spLocks noGrp="1"/>
          </p:cNvSpPr>
          <p:nvPr>
            <p:ph idx="1"/>
          </p:nvPr>
        </p:nvSpPr>
        <p:spPr/>
        <p:txBody>
          <a:bodyPr/>
          <a:lstStyle/>
          <a:p>
            <a:r>
              <a:rPr lang="en-US" altLang="zh-TW" dirty="0" smtClean="0"/>
              <a:t>Success rate</a:t>
            </a:r>
          </a:p>
          <a:p>
            <a:pPr lvl="1"/>
            <a:r>
              <a:rPr lang="en-US" altLang="zh-TW" dirty="0" smtClean="0"/>
              <a:t>The number of cases that have at least one hit in a set of predictions.</a:t>
            </a:r>
          </a:p>
          <a:p>
            <a:pPr lvl="1"/>
            <a:r>
              <a:rPr lang="en-US" altLang="zh-TW" dirty="0" smtClean="0"/>
              <a:t>Where a hit has a RMSD of less than 2.5 Å relative to the native complex.</a:t>
            </a:r>
          </a:p>
          <a:p>
            <a:r>
              <a:rPr lang="en-US" altLang="zh-TW" dirty="0" smtClean="0"/>
              <a:t>Hit rate</a:t>
            </a:r>
          </a:p>
          <a:p>
            <a:pPr lvl="1"/>
            <a:r>
              <a:rPr lang="en-US" altLang="zh-TW" dirty="0" smtClean="0"/>
              <a:t>The number of hits in a set of predictions.</a:t>
            </a:r>
            <a:endParaRPr lang="en-US" altLang="zh-TW" dirty="0"/>
          </a:p>
        </p:txBody>
      </p:sp>
      <p:sp>
        <p:nvSpPr>
          <p:cNvPr id="4" name="投影片編號版面配置區 3"/>
          <p:cNvSpPr>
            <a:spLocks noGrp="1"/>
          </p:cNvSpPr>
          <p:nvPr>
            <p:ph type="sldNum" sz="quarter" idx="12"/>
          </p:nvPr>
        </p:nvSpPr>
        <p:spPr/>
        <p:txBody>
          <a:bodyPr/>
          <a:lstStyle/>
          <a:p>
            <a:fld id="{ED870293-7AC5-405D-BC93-EA31FAB876FC}" type="slidenum">
              <a:rPr lang="zh-TW" altLang="en-US" smtClean="0"/>
              <a:pPr/>
              <a:t>21</a:t>
            </a:fld>
            <a:endParaRPr lang="zh-TW" altLang="en-US"/>
          </a:p>
        </p:txBody>
      </p:sp>
    </p:spTree>
    <p:extLst>
      <p:ext uri="{BB962C8B-B14F-4D97-AF65-F5344CB8AC3E}">
        <p14:creationId xmlns:p14="http://schemas.microsoft.com/office/powerpoint/2010/main" xmlns="" val="2536497896"/>
      </p:ext>
    </p:extLst>
  </p:cSld>
  <p:clrMapOvr>
    <a:masterClrMapping/>
  </p:clrMapOvr>
  <p:transition>
    <p:cu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標題 9"/>
          <p:cNvSpPr>
            <a:spLocks noGrp="1"/>
          </p:cNvSpPr>
          <p:nvPr>
            <p:ph type="title"/>
          </p:nvPr>
        </p:nvSpPr>
        <p:spPr/>
        <p:txBody>
          <a:bodyPr/>
          <a:lstStyle/>
          <a:p>
            <a:r>
              <a:rPr lang="en-US" altLang="zh-TW" dirty="0" smtClean="0"/>
              <a:t>Combining potentials (4/4)</a:t>
            </a:r>
            <a:endParaRPr lang="zh-TW" altLang="en-US" dirty="0"/>
          </a:p>
        </p:txBody>
      </p:sp>
      <p:sp>
        <p:nvSpPr>
          <p:cNvPr id="3" name="內容版面配置區 2"/>
          <p:cNvSpPr>
            <a:spLocks noGrp="1"/>
          </p:cNvSpPr>
          <p:nvPr>
            <p:ph idx="1"/>
          </p:nvPr>
        </p:nvSpPr>
        <p:spPr/>
        <p:txBody>
          <a:bodyPr/>
          <a:lstStyle/>
          <a:p>
            <a:pPr>
              <a:lnSpc>
                <a:spcPct val="150000"/>
              </a:lnSpc>
            </a:pPr>
            <a:r>
              <a:rPr lang="en-US" altLang="zh-TW" dirty="0" smtClean="0"/>
              <a:t>Integrated success rate (ISR)</a:t>
            </a:r>
            <a:endParaRPr lang="zh-TW" altLang="en-US" dirty="0" smtClean="0"/>
          </a:p>
          <a:p>
            <a:pPr lvl="1">
              <a:lnSpc>
                <a:spcPct val="150000"/>
              </a:lnSpc>
            </a:pPr>
            <a:r>
              <a:rPr lang="en-US" altLang="zh-TW" dirty="0" smtClean="0"/>
              <a:t>the area under the </a:t>
            </a:r>
            <a:r>
              <a:rPr lang="en-US" altLang="zh-TW" u="sng" dirty="0" smtClean="0"/>
              <a:t>success rate</a:t>
            </a:r>
            <a:r>
              <a:rPr lang="en-US" altLang="zh-TW" dirty="0" smtClean="0"/>
              <a:t> curve for 1–1000 predictions, normalized to 1.</a:t>
            </a:r>
          </a:p>
          <a:p>
            <a:pPr lvl="1">
              <a:lnSpc>
                <a:spcPct val="150000"/>
              </a:lnSpc>
            </a:pPr>
            <a:r>
              <a:rPr lang="en-US" altLang="zh-TW" dirty="0" smtClean="0"/>
              <a:t>The worst performance is at ISR = 0;</a:t>
            </a:r>
            <a:br>
              <a:rPr lang="en-US" altLang="zh-TW" dirty="0" smtClean="0"/>
            </a:br>
            <a:r>
              <a:rPr lang="en-US" altLang="zh-TW" dirty="0" smtClean="0"/>
              <a:t>the perfect performance is at ISR = 1.</a:t>
            </a:r>
            <a:endParaRPr lang="zh-TW" altLang="en-US" dirty="0"/>
          </a:p>
        </p:txBody>
      </p:sp>
      <p:sp>
        <p:nvSpPr>
          <p:cNvPr id="4" name="投影片編號版面配置區 3"/>
          <p:cNvSpPr>
            <a:spLocks noGrp="1"/>
          </p:cNvSpPr>
          <p:nvPr>
            <p:ph type="sldNum" sz="quarter" idx="12"/>
          </p:nvPr>
        </p:nvSpPr>
        <p:spPr/>
        <p:txBody>
          <a:bodyPr/>
          <a:lstStyle/>
          <a:p>
            <a:fld id="{ED870293-7AC5-405D-BC93-EA31FAB876FC}" type="slidenum">
              <a:rPr lang="zh-TW" altLang="en-US" smtClean="0"/>
              <a:pPr/>
              <a:t>22</a:t>
            </a:fld>
            <a:endParaRPr lang="zh-TW" altLang="en-US"/>
          </a:p>
        </p:txBody>
      </p:sp>
    </p:spTree>
    <p:extLst>
      <p:ext uri="{BB962C8B-B14F-4D97-AF65-F5344CB8AC3E}">
        <p14:creationId xmlns:p14="http://schemas.microsoft.com/office/powerpoint/2010/main" xmlns="" val="1688695437"/>
      </p:ext>
    </p:extLst>
  </p:cSld>
  <p:clrMapOvr>
    <a:masterClrMapping/>
  </p:clrMapOvr>
  <p:transition>
    <p:cu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ED870293-7AC5-405D-BC93-EA31FAB876FC}" type="slidenum">
              <a:rPr lang="zh-TW" altLang="en-US" smtClean="0"/>
              <a:pPr/>
              <a:t>23</a:t>
            </a:fld>
            <a:endParaRPr lang="zh-TW" altLang="en-US"/>
          </a:p>
        </p:txBody>
      </p:sp>
      <p:pic>
        <p:nvPicPr>
          <p:cNvPr id="3" name="圖片 2"/>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761468" y="571101"/>
            <a:ext cx="7621064" cy="5715798"/>
          </a:xfrm>
          <a:prstGeom prst="rect">
            <a:avLst/>
          </a:prstGeom>
        </p:spPr>
      </p:pic>
    </p:spTree>
    <p:extLst>
      <p:ext uri="{BB962C8B-B14F-4D97-AF65-F5344CB8AC3E}">
        <p14:creationId xmlns:p14="http://schemas.microsoft.com/office/powerpoint/2010/main" xmlns="" val="2969747936"/>
      </p:ext>
    </p:extLst>
  </p:cSld>
  <p:clrMapOvr>
    <a:masterClrMapping/>
  </p:clrMapOvr>
  <p:transition>
    <p:cu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Methods</a:t>
            </a:r>
            <a:endParaRPr lang="zh-TW" altLang="en-US" dirty="0"/>
          </a:p>
        </p:txBody>
      </p:sp>
      <p:sp>
        <p:nvSpPr>
          <p:cNvPr id="3" name="文字版面配置區 2"/>
          <p:cNvSpPr>
            <a:spLocks noGrp="1"/>
          </p:cNvSpPr>
          <p:nvPr>
            <p:ph type="body" idx="1"/>
          </p:nvPr>
        </p:nvSpPr>
        <p:spPr/>
        <p:txBody>
          <a:bodyPr/>
          <a:lstStyle/>
          <a:p>
            <a:r>
              <a:rPr lang="en-US" altLang="zh-TW" dirty="0" smtClean="0"/>
              <a:t>3.</a:t>
            </a:r>
            <a:endParaRPr lang="zh-TW" altLang="en-US" dirty="0"/>
          </a:p>
        </p:txBody>
      </p:sp>
      <p:sp>
        <p:nvSpPr>
          <p:cNvPr id="4" name="投影片編號版面配置區 3"/>
          <p:cNvSpPr>
            <a:spLocks noGrp="1"/>
          </p:cNvSpPr>
          <p:nvPr>
            <p:ph type="sldNum" sz="quarter" idx="12"/>
          </p:nvPr>
        </p:nvSpPr>
        <p:spPr/>
        <p:txBody>
          <a:bodyPr/>
          <a:lstStyle/>
          <a:p>
            <a:fld id="{ED870293-7AC5-405D-BC93-EA31FAB876FC}" type="slidenum">
              <a:rPr lang="zh-TW" altLang="en-US" smtClean="0"/>
              <a:pPr/>
              <a:t>24</a:t>
            </a:fld>
            <a:endParaRPr lang="zh-TW" altLang="en-US"/>
          </a:p>
        </p:txBody>
      </p:sp>
    </p:spTree>
    <p:extLst>
      <p:ext uri="{BB962C8B-B14F-4D97-AF65-F5344CB8AC3E}">
        <p14:creationId xmlns:p14="http://schemas.microsoft.com/office/powerpoint/2010/main" xmlns="" val="354743278"/>
      </p:ext>
    </p:extLst>
  </p:cSld>
  <p:clrMapOvr>
    <a:masterClrMapping/>
  </p:clrMapOvr>
  <p:transition spd="slow">
    <p:cu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ED870293-7AC5-405D-BC93-EA31FAB876FC}" type="slidenum">
              <a:rPr lang="zh-TW" altLang="en-US" smtClean="0"/>
              <a:pPr/>
              <a:t>25</a:t>
            </a:fld>
            <a:endParaRPr lang="zh-TW" altLang="en-US"/>
          </a:p>
        </p:txBody>
      </p:sp>
    </p:spTree>
    <p:extLst>
      <p:ext uri="{BB962C8B-B14F-4D97-AF65-F5344CB8AC3E}">
        <p14:creationId xmlns:p14="http://schemas.microsoft.com/office/powerpoint/2010/main" xmlns="" val="2207463504"/>
      </p:ext>
    </p:extLst>
  </p:cSld>
  <p:clrMapOvr>
    <a:masterClrMapping/>
  </p:clrMapOvr>
  <p:transition spd="slow">
    <p:cu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Conclusions</a:t>
            </a:r>
            <a:endParaRPr lang="zh-TW" altLang="en-US" dirty="0"/>
          </a:p>
        </p:txBody>
      </p:sp>
      <p:sp>
        <p:nvSpPr>
          <p:cNvPr id="3" name="文字版面配置區 2"/>
          <p:cNvSpPr>
            <a:spLocks noGrp="1"/>
          </p:cNvSpPr>
          <p:nvPr>
            <p:ph type="body" idx="1"/>
          </p:nvPr>
        </p:nvSpPr>
        <p:spPr/>
        <p:txBody>
          <a:bodyPr/>
          <a:lstStyle/>
          <a:p>
            <a:r>
              <a:rPr lang="en-US" altLang="zh-TW" smtClean="0"/>
              <a:t>4.</a:t>
            </a:r>
            <a:endParaRPr lang="zh-TW" altLang="en-US" dirty="0"/>
          </a:p>
        </p:txBody>
      </p:sp>
      <p:sp>
        <p:nvSpPr>
          <p:cNvPr id="4" name="投影片編號版面配置區 3"/>
          <p:cNvSpPr>
            <a:spLocks noGrp="1"/>
          </p:cNvSpPr>
          <p:nvPr>
            <p:ph type="sldNum" sz="quarter" idx="12"/>
          </p:nvPr>
        </p:nvSpPr>
        <p:spPr/>
        <p:txBody>
          <a:bodyPr/>
          <a:lstStyle/>
          <a:p>
            <a:fld id="{ED870293-7AC5-405D-BC93-EA31FAB876FC}" type="slidenum">
              <a:rPr lang="zh-TW" altLang="en-US" smtClean="0"/>
              <a:pPr/>
              <a:t>26</a:t>
            </a:fld>
            <a:endParaRPr lang="zh-TW" altLang="en-US"/>
          </a:p>
        </p:txBody>
      </p:sp>
    </p:spTree>
    <p:extLst>
      <p:ext uri="{BB962C8B-B14F-4D97-AF65-F5344CB8AC3E}">
        <p14:creationId xmlns:p14="http://schemas.microsoft.com/office/powerpoint/2010/main" xmlns="" val="4063618933"/>
      </p:ext>
    </p:extLst>
  </p:cSld>
  <p:clrMapOvr>
    <a:masterClrMapping/>
  </p:clrMapOvr>
  <p:transition>
    <p:cu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標題 15"/>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the IRAD scoring function improves over ZDOCK and ZRANK:</a:t>
            </a:r>
          </a:p>
          <a:p>
            <a:pPr lvl="1"/>
            <a:r>
              <a:rPr lang="en-US" altLang="zh-TW" dirty="0" smtClean="0"/>
              <a:t>an gain in success rate of about 10%.</a:t>
            </a:r>
          </a:p>
          <a:p>
            <a:pPr lvl="1"/>
            <a:r>
              <a:rPr lang="en-US" altLang="zh-TW" dirty="0" smtClean="0"/>
              <a:t>reducing the number of </a:t>
            </a:r>
            <a:r>
              <a:rPr lang="en-US" altLang="zh-TW" u="sng" dirty="0" smtClean="0"/>
              <a:t>cases for which ZDOCK and ZRANK do not find hits</a:t>
            </a:r>
            <a:r>
              <a:rPr lang="en-US" altLang="zh-TW" dirty="0" smtClean="0"/>
              <a:t> by up to 40% for the top 1000 predictions.</a:t>
            </a:r>
          </a:p>
          <a:p>
            <a:r>
              <a:rPr lang="en-US" altLang="zh-TW" dirty="0" smtClean="0"/>
              <a:t>The resulting scoring function is balanced for the different types of complexes.</a:t>
            </a:r>
            <a:endParaRPr lang="zh-TW" altLang="en-US" dirty="0"/>
          </a:p>
        </p:txBody>
      </p:sp>
      <p:sp>
        <p:nvSpPr>
          <p:cNvPr id="4" name="投影片編號版面配置區 3"/>
          <p:cNvSpPr>
            <a:spLocks noGrp="1"/>
          </p:cNvSpPr>
          <p:nvPr>
            <p:ph type="sldNum" sz="quarter" idx="12"/>
          </p:nvPr>
        </p:nvSpPr>
        <p:spPr/>
        <p:txBody>
          <a:bodyPr/>
          <a:lstStyle/>
          <a:p>
            <a:fld id="{ED870293-7AC5-405D-BC93-EA31FAB876FC}" type="slidenum">
              <a:rPr lang="zh-TW" altLang="en-US" smtClean="0"/>
              <a:pPr/>
              <a:t>27</a:t>
            </a:fld>
            <a:endParaRPr lang="zh-TW" altLang="en-US"/>
          </a:p>
        </p:txBody>
      </p:sp>
    </p:spTree>
    <p:extLst>
      <p:ext uri="{BB962C8B-B14F-4D97-AF65-F5344CB8AC3E}">
        <p14:creationId xmlns:p14="http://schemas.microsoft.com/office/powerpoint/2010/main" xmlns="" val="585863077"/>
      </p:ext>
    </p:extLst>
  </p:cSld>
  <p:clrMapOvr>
    <a:masterClrMapping/>
  </p:clrMapOvr>
  <p:transition>
    <p:cu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The End</a:t>
            </a:r>
            <a:endParaRPr lang="zh-TW" altLang="en-US" dirty="0"/>
          </a:p>
        </p:txBody>
      </p:sp>
      <p:sp>
        <p:nvSpPr>
          <p:cNvPr id="3" name="文字版面配置區 2"/>
          <p:cNvSpPr>
            <a:spLocks noGrp="1"/>
          </p:cNvSpPr>
          <p:nvPr>
            <p:ph type="body" idx="1"/>
          </p:nvPr>
        </p:nvSpPr>
        <p:spPr/>
        <p:txBody>
          <a:bodyPr/>
          <a:lstStyle/>
          <a:p>
            <a:r>
              <a:rPr lang="en-US" altLang="zh-TW" smtClean="0"/>
              <a:t>Thanks.</a:t>
            </a:r>
            <a:endParaRPr lang="zh-TW" altLang="en-US" dirty="0"/>
          </a:p>
        </p:txBody>
      </p:sp>
      <p:sp>
        <p:nvSpPr>
          <p:cNvPr id="4" name="投影片編號版面配置區 3"/>
          <p:cNvSpPr>
            <a:spLocks noGrp="1"/>
          </p:cNvSpPr>
          <p:nvPr>
            <p:ph type="sldNum" sz="quarter" idx="12"/>
          </p:nvPr>
        </p:nvSpPr>
        <p:spPr/>
        <p:txBody>
          <a:bodyPr/>
          <a:lstStyle/>
          <a:p>
            <a:fld id="{ED870293-7AC5-405D-BC93-EA31FAB876FC}" type="slidenum">
              <a:rPr lang="zh-TW" altLang="en-US" smtClean="0"/>
              <a:pPr/>
              <a:t>28</a:t>
            </a:fld>
            <a:endParaRPr lang="zh-TW" altLang="en-US"/>
          </a:p>
        </p:txBody>
      </p:sp>
    </p:spTree>
    <p:extLst>
      <p:ext uri="{BB962C8B-B14F-4D97-AF65-F5344CB8AC3E}">
        <p14:creationId xmlns:p14="http://schemas.microsoft.com/office/powerpoint/2010/main" xmlns="" val="2196554616"/>
      </p:ext>
    </p:extLst>
  </p:cSld>
  <p:clrMapOvr>
    <a:masterClrMapping/>
  </p:clrMapOvr>
  <p:transition>
    <p:cut/>
  </p:transition>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訂">
      <a:majorFont>
        <a:latin typeface="Calibri"/>
        <a:ea typeface="微軟正黑體"/>
        <a:cs typeface=""/>
      </a:majorFont>
      <a:minorFont>
        <a:latin typeface="Calibri"/>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1644</TotalTime>
  <Words>890</Words>
  <Application>Microsoft Office PowerPoint</Application>
  <PresentationFormat>如螢幕大小 (4:3)</PresentationFormat>
  <Paragraphs>136</Paragraphs>
  <Slides>28</Slides>
  <Notes>1</Notes>
  <HiddenSlides>4</HiddenSlides>
  <MMClips>0</MMClips>
  <ScaleCrop>false</ScaleCrop>
  <HeadingPairs>
    <vt:vector size="4" baseType="variant">
      <vt:variant>
        <vt:lpstr>佈景主題</vt:lpstr>
      </vt:variant>
      <vt:variant>
        <vt:i4>1</vt:i4>
      </vt:variant>
      <vt:variant>
        <vt:lpstr>投影片標題</vt:lpstr>
      </vt:variant>
      <vt:variant>
        <vt:i4>28</vt:i4>
      </vt:variant>
    </vt:vector>
  </HeadingPairs>
  <TitlesOfParts>
    <vt:vector size="29" baseType="lpstr">
      <vt:lpstr>Office 佈景主題</vt:lpstr>
      <vt:lpstr>Integrating atom-based and residue-based scoring functions for protein–protein docking</vt:lpstr>
      <vt:lpstr>Abstract (1/2)</vt:lpstr>
      <vt:lpstr>Abstract (2/2)</vt:lpstr>
      <vt:lpstr>Introduction</vt:lpstr>
      <vt:lpstr>protein–protein docking</vt:lpstr>
      <vt:lpstr>How?</vt:lpstr>
      <vt:lpstr>ZDOCK</vt:lpstr>
      <vt:lpstr>IFACE</vt:lpstr>
      <vt:lpstr>ZRANK</vt:lpstr>
      <vt:lpstr>Conformational changes</vt:lpstr>
      <vt:lpstr>Atom-based vs. Residue-based</vt:lpstr>
      <vt:lpstr>Atom-based + Residue-based</vt:lpstr>
      <vt:lpstr>Results</vt:lpstr>
      <vt:lpstr>Results</vt:lpstr>
      <vt:lpstr>The potentials (atom-based)</vt:lpstr>
      <vt:lpstr>The potentials (residue-based)</vt:lpstr>
      <vt:lpstr>投影片 17</vt:lpstr>
      <vt:lpstr>Results</vt:lpstr>
      <vt:lpstr>Combining potentials (1/4)</vt:lpstr>
      <vt:lpstr>Combining potentials (2/4)</vt:lpstr>
      <vt:lpstr>Combining potentials (3/4)</vt:lpstr>
      <vt:lpstr>Combining potentials (4/4)</vt:lpstr>
      <vt:lpstr>投影片 23</vt:lpstr>
      <vt:lpstr>Methods</vt:lpstr>
      <vt:lpstr>投影片 25</vt:lpstr>
      <vt:lpstr>Conclusions</vt:lpstr>
      <vt:lpstr>投影片 27</vt:lpstr>
      <vt:lpstr>The End</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Integrating atom-based and residue-based scoring functions for protein–protein docking</dc:title>
  <dc:creator>YiPo</dc:creator>
  <cp:lastModifiedBy>Guest</cp:lastModifiedBy>
  <cp:revision>60</cp:revision>
  <dcterms:created xsi:type="dcterms:W3CDTF">2011-10-11T04:30:29Z</dcterms:created>
  <dcterms:modified xsi:type="dcterms:W3CDTF">2011-10-17T13:36:36Z</dcterms:modified>
</cp:coreProperties>
</file>