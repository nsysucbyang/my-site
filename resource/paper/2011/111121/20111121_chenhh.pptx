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7"/>
  </p:notesMasterIdLst>
  <p:sldIdLst>
    <p:sldId id="256" r:id="rId2"/>
    <p:sldId id="257" r:id="rId3"/>
    <p:sldId id="259" r:id="rId4"/>
    <p:sldId id="258" r:id="rId5"/>
    <p:sldId id="260" r:id="rId6"/>
    <p:sldId id="269" r:id="rId7"/>
    <p:sldId id="270" r:id="rId8"/>
    <p:sldId id="310" r:id="rId9"/>
    <p:sldId id="277" r:id="rId10"/>
    <p:sldId id="271" r:id="rId11"/>
    <p:sldId id="282" r:id="rId12"/>
    <p:sldId id="272" r:id="rId13"/>
    <p:sldId id="273" r:id="rId14"/>
    <p:sldId id="274" r:id="rId15"/>
    <p:sldId id="275" r:id="rId16"/>
    <p:sldId id="276" r:id="rId17"/>
    <p:sldId id="279" r:id="rId18"/>
    <p:sldId id="280" r:id="rId19"/>
    <p:sldId id="281" r:id="rId20"/>
    <p:sldId id="278" r:id="rId21"/>
    <p:sldId id="309" r:id="rId22"/>
    <p:sldId id="308" r:id="rId23"/>
    <p:sldId id="283" r:id="rId24"/>
    <p:sldId id="285" r:id="rId25"/>
    <p:sldId id="263" r:id="rId26"/>
    <p:sldId id="262" r:id="rId27"/>
    <p:sldId id="261" r:id="rId28"/>
    <p:sldId id="265" r:id="rId29"/>
    <p:sldId id="267" r:id="rId30"/>
    <p:sldId id="268" r:id="rId31"/>
    <p:sldId id="264" r:id="rId32"/>
    <p:sldId id="266" r:id="rId33"/>
    <p:sldId id="286" r:id="rId34"/>
    <p:sldId id="287" r:id="rId35"/>
    <p:sldId id="289" r:id="rId36"/>
    <p:sldId id="288" r:id="rId37"/>
    <p:sldId id="290" r:id="rId38"/>
    <p:sldId id="291" r:id="rId39"/>
    <p:sldId id="292" r:id="rId40"/>
    <p:sldId id="293" r:id="rId41"/>
    <p:sldId id="294" r:id="rId42"/>
    <p:sldId id="295" r:id="rId43"/>
    <p:sldId id="296" r:id="rId44"/>
    <p:sldId id="297" r:id="rId45"/>
    <p:sldId id="298" r:id="rId46"/>
    <p:sldId id="311" r:id="rId47"/>
    <p:sldId id="299" r:id="rId48"/>
    <p:sldId id="300" r:id="rId49"/>
    <p:sldId id="301" r:id="rId50"/>
    <p:sldId id="302" r:id="rId51"/>
    <p:sldId id="307" r:id="rId52"/>
    <p:sldId id="303" r:id="rId53"/>
    <p:sldId id="304" r:id="rId54"/>
    <p:sldId id="305" r:id="rId55"/>
    <p:sldId id="306" r:id="rId5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0" d="100"/>
          <a:sy n="90" d="100"/>
        </p:scale>
        <p:origin x="-2244" y="-1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A16CA1-B10C-46E1-B9FC-AFBB5228A746}" type="datetimeFigureOut">
              <a:rPr lang="zh-TW" altLang="en-US" smtClean="0"/>
              <a:t>2011/11/21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9FCCD2-7500-42A7-9BAC-B1E5898D2FC0}" type="slidenum">
              <a:rPr lang="zh-TW" altLang="en-US" smtClean="0"/>
              <a:t>‹#›</a:t>
            </a:fld>
            <a:endParaRPr lang="zh-TW" altLang="en-US"/>
          </a:p>
        </p:txBody>
      </p:sp>
    </p:spTree>
    <p:extLst>
      <p:ext uri="{BB962C8B-B14F-4D97-AF65-F5344CB8AC3E}">
        <p14:creationId xmlns:p14="http://schemas.microsoft.com/office/powerpoint/2010/main" val="1593168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B9FCCD2-7500-42A7-9BAC-B1E5898D2FC0}" type="slidenum">
              <a:rPr lang="zh-TW" altLang="en-US" smtClean="0"/>
              <a:t>24</a:t>
            </a:fld>
            <a:endParaRPr lang="zh-TW" altLang="en-US"/>
          </a:p>
        </p:txBody>
      </p:sp>
    </p:spTree>
    <p:extLst>
      <p:ext uri="{BB962C8B-B14F-4D97-AF65-F5344CB8AC3E}">
        <p14:creationId xmlns:p14="http://schemas.microsoft.com/office/powerpoint/2010/main" val="757754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B9FCCD2-7500-42A7-9BAC-B1E5898D2FC0}" type="slidenum">
              <a:rPr lang="zh-TW" altLang="en-US" smtClean="0"/>
              <a:t>37</a:t>
            </a:fld>
            <a:endParaRPr lang="zh-TW" altLang="en-US"/>
          </a:p>
        </p:txBody>
      </p:sp>
    </p:spTree>
    <p:extLst>
      <p:ext uri="{BB962C8B-B14F-4D97-AF65-F5344CB8AC3E}">
        <p14:creationId xmlns:p14="http://schemas.microsoft.com/office/powerpoint/2010/main" val="201019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9652E32-7BC8-4435-A966-078D0F3B37EE}" type="datetime1">
              <a:rPr lang="zh-TW" altLang="en-US" smtClean="0"/>
              <a:t>2011/11/21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288330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2E6389B-5790-4C03-A19C-9810ABCF0E9B}" type="datetime1">
              <a:rPr lang="zh-TW" altLang="en-US" smtClean="0"/>
              <a:t>2011/11/21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435364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4D802BB6-F703-4C28-912F-A62680E1D835}" type="datetime1">
              <a:rPr lang="zh-TW" altLang="en-US" smtClean="0"/>
              <a:t>2011/11/21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624382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C2868E36-680B-4CDF-A439-23B7D001A8BF}" type="datetime1">
              <a:rPr lang="zh-TW" altLang="en-US" smtClean="0"/>
              <a:t>2011/11/21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3026310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E6F3C6FC-54D2-4CAB-B113-3AC0B7E463E1}" type="datetime1">
              <a:rPr lang="zh-TW" altLang="en-US" smtClean="0"/>
              <a:t>2011/11/21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1007402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F5B6E74-B579-41A3-83E9-90B5C2C1906E}" type="datetime1">
              <a:rPr lang="zh-TW" altLang="en-US" smtClean="0"/>
              <a:t>2011/11/21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3578824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49FDDD5-639B-47BB-8F01-AE9E5298C9C0}" type="datetime1">
              <a:rPr lang="zh-TW" altLang="en-US" smtClean="0"/>
              <a:t>2011/11/21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69134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31B6FF6-7252-465C-8D48-861CE4F63FF7}" type="datetime1">
              <a:rPr lang="zh-TW" altLang="en-US" smtClean="0"/>
              <a:t>2011/11/21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2893909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AD0E648-B883-4AD6-BE04-C4B177DC8267}" type="datetime1">
              <a:rPr lang="zh-TW" altLang="en-US" smtClean="0"/>
              <a:t>2011/11/21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3206069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21BD6E0-0171-4DE7-9E0A-4074682C273D}" type="datetime1">
              <a:rPr lang="zh-TW" altLang="en-US" smtClean="0"/>
              <a:t>2011/11/21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1270740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1B596D6-70AC-4EA1-A67D-54F2EC64A1CE}" type="datetime1">
              <a:rPr lang="zh-TW" altLang="en-US" smtClean="0"/>
              <a:t>2011/11/21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1410537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D7EF6-5A14-4159-BD67-D4261423DD96}" type="datetime1">
              <a:rPr lang="zh-TW" altLang="en-US" smtClean="0"/>
              <a:t>2011/11/21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B2A201-8A46-40D3-BE72-AC6B75F3F883}" type="slidenum">
              <a:rPr lang="zh-TW" altLang="en-US" smtClean="0"/>
              <a:pPr/>
              <a:t>‹#›</a:t>
            </a:fld>
            <a:endParaRPr lang="zh-TW" altLang="en-US"/>
          </a:p>
        </p:txBody>
      </p:sp>
    </p:spTree>
    <p:extLst>
      <p:ext uri="{BB962C8B-B14F-4D97-AF65-F5344CB8AC3E}">
        <p14:creationId xmlns:p14="http://schemas.microsoft.com/office/powerpoint/2010/main" val="199183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0.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14.wmf"/></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21.wmf"/><Relationship Id="rId5" Type="http://schemas.openxmlformats.org/officeDocument/2006/relationships/oleObject" Target="../embeddings/oleObject3.bin"/><Relationship Id="rId4" Type="http://schemas.openxmlformats.org/officeDocument/2006/relationships/image" Target="../media/image20.wmf"/></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38.gi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37.wmf"/><Relationship Id="rId5" Type="http://schemas.openxmlformats.org/officeDocument/2006/relationships/oleObject" Target="../embeddings/oleObject5.bin"/><Relationship Id="rId4" Type="http://schemas.openxmlformats.org/officeDocument/2006/relationships/image" Target="../media/image36.wmf"/></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42.wmf"/><Relationship Id="rId5" Type="http://schemas.openxmlformats.org/officeDocument/2006/relationships/oleObject" Target="../embeddings/oleObject7.bin"/><Relationship Id="rId4" Type="http://schemas.openxmlformats.org/officeDocument/2006/relationships/image" Target="../media/image41.wmf"/></Relationships>
</file>

<file path=ppt/slides/_rels/slide24.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notesSlide" Target="../notesSlides/notesSlide1.xml"/><Relationship Id="rId7" Type="http://schemas.openxmlformats.org/officeDocument/2006/relationships/image" Target="../media/image44.wmf"/><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oleObject" Target="../embeddings/oleObject9.bin"/><Relationship Id="rId5" Type="http://schemas.openxmlformats.org/officeDocument/2006/relationships/image" Target="../media/image46.emf"/><Relationship Id="rId4" Type="http://schemas.openxmlformats.org/officeDocument/2006/relationships/image" Target="../media/image45.emf"/><Relationship Id="rId9" Type="http://schemas.openxmlformats.org/officeDocument/2006/relationships/image" Target="../media/image48.emf"/></Relationships>
</file>

<file path=ppt/slides/_rels/slide25.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400.png"/></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110.png"/></Relationships>
</file>

<file path=ppt/slides/_rels/slide30.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230.png"/></Relationships>
</file>

<file path=ppt/slides/_rels/slide3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0.png"/><Relationship Id="rId1" Type="http://schemas.openxmlformats.org/officeDocument/2006/relationships/slideLayout" Target="../slideLayouts/slideLayout6.xml"/><Relationship Id="rId5" Type="http://schemas.openxmlformats.org/officeDocument/2006/relationships/image" Target="../media/image57.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62.png"/></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6.xml"/><Relationship Id="rId4" Type="http://schemas.openxmlformats.org/officeDocument/2006/relationships/image" Target="../media/image74.png"/></Relationships>
</file>

<file path=ppt/slides/_rels/slide4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6.xml"/><Relationship Id="rId4" Type="http://schemas.openxmlformats.org/officeDocument/2006/relationships/image" Target="../media/image78.png"/></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9.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hyperlink" Target="http://www.scholarpedia.org/article/Hilbert-Huang_transform" TargetMode="Externa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hyperlink" Target="http://www.mathworks.com/matlabcentral/fileexchange/21409-empirical-mode-decomposition" TargetMode="External"/><Relationship Id="rId2" Type="http://schemas.openxmlformats.org/officeDocument/2006/relationships/hyperlink" Target="http://www.mathworks.com/matlabcentral/fileexchange/19681-hilbert-huang-transform" TargetMode="External"/><Relationship Id="rId1" Type="http://schemas.openxmlformats.org/officeDocument/2006/relationships/slideLayout" Target="../slideLayouts/slideLayout6.xml"/><Relationship Id="rId5" Type="http://schemas.openxmlformats.org/officeDocument/2006/relationships/hyperlink" Target="http://rcada.ncu.edu.tw/class2008.htm" TargetMode="External"/><Relationship Id="rId4" Type="http://schemas.openxmlformats.org/officeDocument/2006/relationships/hyperlink" Target="http://rcada.ncu.edu.tw/research1.htm" TargetMode="External"/></Relationships>
</file>

<file path=ppt/slides/_rels/slide5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07504" y="44624"/>
            <a:ext cx="8856984" cy="1470025"/>
          </a:xfrm>
        </p:spPr>
        <p:txBody>
          <a:bodyPr>
            <a:normAutofit/>
          </a:bodyPr>
          <a:lstStyle/>
          <a:p>
            <a:r>
              <a:rPr lang="en-US" altLang="zh-TW" sz="2600" b="1" dirty="0" smtClean="0"/>
              <a:t>The empirical mode decomposition and the Hilbert spectrum for nonlinear and non-stationary time series analysis</a:t>
            </a:r>
            <a:endParaRPr lang="zh-TW" altLang="en-US" sz="2600" b="1" dirty="0"/>
          </a:p>
        </p:txBody>
      </p:sp>
      <p:sp>
        <p:nvSpPr>
          <p:cNvPr id="3" name="副標題 2"/>
          <p:cNvSpPr>
            <a:spLocks noGrp="1"/>
          </p:cNvSpPr>
          <p:nvPr>
            <p:ph type="subTitle" idx="1"/>
          </p:nvPr>
        </p:nvSpPr>
        <p:spPr>
          <a:xfrm>
            <a:off x="179512" y="1268760"/>
            <a:ext cx="8820472" cy="1752600"/>
          </a:xfrm>
        </p:spPr>
        <p:txBody>
          <a:bodyPr>
            <a:normAutofit/>
          </a:bodyPr>
          <a:lstStyle/>
          <a:p>
            <a:r>
              <a:rPr lang="en-US" altLang="zh-TW" sz="2000" dirty="0" smtClean="0"/>
              <a:t>By </a:t>
            </a:r>
            <a:r>
              <a:rPr lang="en-US" altLang="zh-TW" sz="2000" dirty="0" err="1" smtClean="0"/>
              <a:t>Norden</a:t>
            </a:r>
            <a:r>
              <a:rPr lang="en-US" altLang="zh-TW" sz="2000" dirty="0" smtClean="0"/>
              <a:t> E. Huang(</a:t>
            </a:r>
            <a:r>
              <a:rPr lang="zh-TW" altLang="en-US" sz="2000" dirty="0" smtClean="0">
                <a:latin typeface="微軟正黑體" pitchFamily="34" charset="-120"/>
                <a:ea typeface="微軟正黑體" pitchFamily="34" charset="-120"/>
              </a:rPr>
              <a:t>黃鍔</a:t>
            </a:r>
            <a:r>
              <a:rPr lang="en-US" altLang="zh-TW" sz="2000" dirty="0" smtClean="0"/>
              <a:t>)</a:t>
            </a:r>
            <a:r>
              <a:rPr lang="en-US" altLang="zh-TW" sz="2000" baseline="30000" dirty="0" smtClean="0"/>
              <a:t>1</a:t>
            </a:r>
            <a:r>
              <a:rPr lang="en-US" altLang="zh-TW" sz="2000" dirty="0" smtClean="0"/>
              <a:t> , </a:t>
            </a:r>
            <a:r>
              <a:rPr lang="en-US" altLang="zh-TW" sz="2000" dirty="0" err="1" smtClean="0"/>
              <a:t>Zheng</a:t>
            </a:r>
            <a:r>
              <a:rPr lang="en-US" altLang="zh-TW" sz="2000" dirty="0" smtClean="0"/>
              <a:t> Shen</a:t>
            </a:r>
            <a:r>
              <a:rPr lang="en-US" altLang="zh-TW" sz="2000" baseline="30000" dirty="0" smtClean="0"/>
              <a:t>2</a:t>
            </a:r>
            <a:r>
              <a:rPr lang="en-US" altLang="zh-TW" sz="2000" dirty="0" smtClean="0"/>
              <a:t>, Steven R. Long</a:t>
            </a:r>
            <a:r>
              <a:rPr lang="en-US" altLang="zh-TW" sz="2000" baseline="30000" dirty="0" smtClean="0"/>
              <a:t>3</a:t>
            </a:r>
            <a:r>
              <a:rPr lang="en-US" altLang="zh-TW" sz="2000" dirty="0" smtClean="0"/>
              <a:t>,</a:t>
            </a:r>
          </a:p>
          <a:p>
            <a:r>
              <a:rPr lang="en-US" altLang="zh-TW" sz="2000" dirty="0" err="1" smtClean="0"/>
              <a:t>Manli</a:t>
            </a:r>
            <a:r>
              <a:rPr lang="en-US" altLang="zh-TW" sz="2000" dirty="0" smtClean="0"/>
              <a:t> C. Wu</a:t>
            </a:r>
            <a:r>
              <a:rPr lang="en-US" altLang="zh-TW" sz="2000" baseline="30000" dirty="0" smtClean="0"/>
              <a:t>4</a:t>
            </a:r>
            <a:r>
              <a:rPr lang="en-US" altLang="zh-TW" sz="2000" dirty="0" smtClean="0"/>
              <a:t> , </a:t>
            </a:r>
            <a:r>
              <a:rPr lang="en-US" altLang="zh-TW" sz="2000" dirty="0" err="1" smtClean="0"/>
              <a:t>Hsing</a:t>
            </a:r>
            <a:r>
              <a:rPr lang="en-US" altLang="zh-TW" sz="2000" dirty="0" smtClean="0"/>
              <a:t> H. Shih</a:t>
            </a:r>
            <a:r>
              <a:rPr lang="en-US" altLang="zh-TW" sz="2000" baseline="30000" dirty="0" smtClean="0"/>
              <a:t>5</a:t>
            </a:r>
            <a:r>
              <a:rPr lang="en-US" altLang="zh-TW" sz="2000" dirty="0" smtClean="0"/>
              <a:t>, </a:t>
            </a:r>
            <a:r>
              <a:rPr lang="en-US" altLang="zh-TW" sz="2000" dirty="0" err="1" smtClean="0"/>
              <a:t>Quanan</a:t>
            </a:r>
            <a:r>
              <a:rPr lang="en-US" altLang="zh-TW" sz="2000" dirty="0" smtClean="0"/>
              <a:t> Zheng</a:t>
            </a:r>
            <a:r>
              <a:rPr lang="en-US" altLang="zh-TW" sz="2000" baseline="30000" dirty="0" smtClean="0"/>
              <a:t>6</a:t>
            </a:r>
            <a:r>
              <a:rPr lang="en-US" altLang="zh-TW" sz="2000" dirty="0" smtClean="0"/>
              <a:t>, </a:t>
            </a:r>
            <a:r>
              <a:rPr lang="en-US" altLang="zh-TW" sz="2000" dirty="0" err="1" smtClean="0"/>
              <a:t>Nai-Chyuan</a:t>
            </a:r>
            <a:r>
              <a:rPr lang="en-US" altLang="zh-TW" sz="2000" dirty="0" smtClean="0"/>
              <a:t> Yen</a:t>
            </a:r>
            <a:r>
              <a:rPr lang="en-US" altLang="zh-TW" sz="2000" baseline="30000" dirty="0" smtClean="0"/>
              <a:t>7</a:t>
            </a:r>
            <a:r>
              <a:rPr lang="en-US" altLang="zh-TW" sz="2000" dirty="0" smtClean="0"/>
              <a:t>,Chi Chao Tung</a:t>
            </a:r>
            <a:r>
              <a:rPr lang="en-US" altLang="zh-TW" sz="2000" baseline="30000" dirty="0" smtClean="0"/>
              <a:t>8</a:t>
            </a:r>
            <a:r>
              <a:rPr lang="en-US" altLang="zh-TW" sz="2000" dirty="0" smtClean="0"/>
              <a:t> and Henry H. Liu</a:t>
            </a:r>
            <a:r>
              <a:rPr lang="en-US" altLang="zh-TW" sz="2000" baseline="30000" dirty="0" smtClean="0"/>
              <a:t>9</a:t>
            </a:r>
            <a:endParaRPr lang="zh-TW" altLang="en-US" sz="2000" baseline="30000" dirty="0"/>
          </a:p>
        </p:txBody>
      </p:sp>
      <p:sp>
        <p:nvSpPr>
          <p:cNvPr id="4" name="矩形 3"/>
          <p:cNvSpPr/>
          <p:nvPr/>
        </p:nvSpPr>
        <p:spPr>
          <a:xfrm>
            <a:off x="325979" y="2348880"/>
            <a:ext cx="8784976" cy="2800767"/>
          </a:xfrm>
          <a:prstGeom prst="rect">
            <a:avLst/>
          </a:prstGeom>
        </p:spPr>
        <p:txBody>
          <a:bodyPr wrap="square">
            <a:spAutoFit/>
          </a:bodyPr>
          <a:lstStyle/>
          <a:p>
            <a:pPr marL="342900" indent="-342900" algn="ctr">
              <a:buFont typeface="+mj-lt"/>
              <a:buAutoNum type="arabicPeriod"/>
            </a:pPr>
            <a:r>
              <a:rPr lang="en-US" altLang="zh-TW" sz="1600" dirty="0" smtClean="0"/>
              <a:t>Laboratory for </a:t>
            </a:r>
            <a:r>
              <a:rPr lang="en-US" altLang="zh-TW" sz="1600" dirty="0" err="1" smtClean="0"/>
              <a:t>Hydrospheric</a:t>
            </a:r>
            <a:r>
              <a:rPr lang="en-US" altLang="zh-TW" sz="1600" dirty="0" smtClean="0"/>
              <a:t> Processes/Oceans and Ice Branch, NASA Goddard Space Flight Center, Greenbelt, MD 20771, USA</a:t>
            </a:r>
          </a:p>
          <a:p>
            <a:pPr marL="342900" indent="-342900" algn="ctr">
              <a:buFont typeface="+mj-lt"/>
              <a:buAutoNum type="arabicPeriod"/>
            </a:pPr>
            <a:r>
              <a:rPr lang="en-US" altLang="zh-TW" sz="1600" dirty="0" smtClean="0"/>
              <a:t>Department of Earth and Planetary Sciences, The John Hopkins University, Baltimore, USA</a:t>
            </a:r>
          </a:p>
          <a:p>
            <a:pPr marL="342900" indent="-342900" algn="ctr">
              <a:buFont typeface="+mj-lt"/>
              <a:buAutoNum type="arabicPeriod"/>
            </a:pPr>
            <a:r>
              <a:rPr lang="en-US" altLang="zh-TW" sz="1600" dirty="0" smtClean="0"/>
              <a:t>Laboratory for </a:t>
            </a:r>
            <a:r>
              <a:rPr lang="en-US" altLang="zh-TW" sz="1600" dirty="0" err="1" smtClean="0"/>
              <a:t>Hydrospheric</a:t>
            </a:r>
            <a:r>
              <a:rPr lang="en-US" altLang="zh-TW" sz="1600" dirty="0" smtClean="0"/>
              <a:t> Processes/Observational Science Branch, NASA Wallops Flight Facility, Wallops Island, USA</a:t>
            </a:r>
          </a:p>
          <a:p>
            <a:pPr marL="342900" indent="-342900" algn="ctr">
              <a:buFont typeface="+mj-lt"/>
              <a:buAutoNum type="arabicPeriod"/>
            </a:pPr>
            <a:r>
              <a:rPr lang="en-US" altLang="zh-TW" sz="1600" dirty="0" smtClean="0"/>
              <a:t>Laboratory for Atmospheres, NASA Goddard Space Flight Center, Greenbelt, USA</a:t>
            </a:r>
          </a:p>
          <a:p>
            <a:pPr marL="342900" indent="-342900" algn="ctr">
              <a:buFont typeface="+mj-lt"/>
              <a:buAutoNum type="arabicPeriod"/>
            </a:pPr>
            <a:r>
              <a:rPr lang="en-US" altLang="zh-TW" sz="1600" dirty="0" smtClean="0"/>
              <a:t>NOAA National Ocean Service, Silver Spring, USA</a:t>
            </a:r>
          </a:p>
          <a:p>
            <a:pPr marL="342900" indent="-342900" algn="ctr">
              <a:buFont typeface="+mj-lt"/>
              <a:buAutoNum type="arabicPeriod"/>
            </a:pPr>
            <a:r>
              <a:rPr lang="en-US" altLang="zh-TW" sz="1600" dirty="0" smtClean="0"/>
              <a:t>College of Marine Studies, University of Delaware, USA</a:t>
            </a:r>
          </a:p>
          <a:p>
            <a:pPr marL="342900" indent="-342900" algn="ctr">
              <a:buFont typeface="+mj-lt"/>
              <a:buAutoNum type="arabicPeriod"/>
            </a:pPr>
            <a:r>
              <a:rPr lang="en-US" altLang="zh-TW" sz="1600" dirty="0" smtClean="0"/>
              <a:t>Naval Research Laboratory, Washington, DC, USA</a:t>
            </a:r>
          </a:p>
          <a:p>
            <a:pPr marL="342900" indent="-342900" algn="ctr">
              <a:buFont typeface="+mj-lt"/>
              <a:buAutoNum type="arabicPeriod"/>
            </a:pPr>
            <a:r>
              <a:rPr lang="en-US" altLang="zh-TW" sz="1600" dirty="0" smtClean="0"/>
              <a:t>Department of Civil Engineering, North Carolina State University, Raleigh, USA</a:t>
            </a:r>
          </a:p>
          <a:p>
            <a:pPr marL="342900" indent="-342900" algn="ctr">
              <a:buFont typeface="+mj-lt"/>
              <a:buAutoNum type="arabicPeriod"/>
            </a:pPr>
            <a:r>
              <a:rPr lang="en-US" altLang="zh-TW" sz="1600" dirty="0" smtClean="0"/>
              <a:t>Naval Surface Warfare Center, </a:t>
            </a:r>
            <a:r>
              <a:rPr lang="en-US" altLang="zh-TW" sz="1600" dirty="0" err="1" smtClean="0"/>
              <a:t>Carderock</a:t>
            </a:r>
            <a:r>
              <a:rPr lang="en-US" altLang="zh-TW" sz="1600" dirty="0" smtClean="0"/>
              <a:t> Division, Bethesda, USA</a:t>
            </a:r>
            <a:endParaRPr lang="zh-TW" altLang="en-US" sz="1600" dirty="0"/>
          </a:p>
        </p:txBody>
      </p:sp>
      <p:sp>
        <p:nvSpPr>
          <p:cNvPr id="5" name="矩形 4"/>
          <p:cNvSpPr/>
          <p:nvPr/>
        </p:nvSpPr>
        <p:spPr>
          <a:xfrm>
            <a:off x="683568" y="5373216"/>
            <a:ext cx="7675004" cy="369332"/>
          </a:xfrm>
          <a:prstGeom prst="rect">
            <a:avLst/>
          </a:prstGeom>
        </p:spPr>
        <p:txBody>
          <a:bodyPr wrap="square">
            <a:spAutoFit/>
          </a:bodyPr>
          <a:lstStyle/>
          <a:p>
            <a:r>
              <a:rPr lang="en-US" altLang="zh-TW" dirty="0" smtClean="0"/>
              <a:t>Proceedings of the Royal Society London A, Vol. 454, pp. 903–995, 1998</a:t>
            </a:r>
            <a:endParaRPr lang="zh-TW" altLang="en-US" dirty="0"/>
          </a:p>
        </p:txBody>
      </p:sp>
      <p:sp>
        <p:nvSpPr>
          <p:cNvPr id="6" name="矩形 5"/>
          <p:cNvSpPr/>
          <p:nvPr/>
        </p:nvSpPr>
        <p:spPr>
          <a:xfrm>
            <a:off x="5453355" y="5949280"/>
            <a:ext cx="3672408" cy="646331"/>
          </a:xfrm>
          <a:prstGeom prst="rect">
            <a:avLst/>
          </a:prstGeom>
        </p:spPr>
        <p:txBody>
          <a:bodyPr wrap="square">
            <a:spAutoFit/>
          </a:bodyPr>
          <a:lstStyle/>
          <a:p>
            <a:r>
              <a:rPr lang="en-US" altLang="zh-TW" dirty="0" smtClean="0"/>
              <a:t>Presenter: Hung-</a:t>
            </a:r>
            <a:r>
              <a:rPr lang="en-US" altLang="zh-TW" dirty="0" err="1" smtClean="0"/>
              <a:t>Hsin</a:t>
            </a:r>
            <a:r>
              <a:rPr lang="en-US" altLang="zh-TW" dirty="0" smtClean="0"/>
              <a:t> Chen (</a:t>
            </a:r>
            <a:r>
              <a:rPr lang="en-US" altLang="zh-TW" dirty="0" err="1" smtClean="0">
                <a:latin typeface="微軟正黑體" pitchFamily="34" charset="-120"/>
                <a:ea typeface="微軟正黑體" pitchFamily="34" charset="-120"/>
              </a:rPr>
              <a:t>陳紘昕</a:t>
            </a:r>
            <a:r>
              <a:rPr lang="en-US" altLang="zh-TW" dirty="0" smtClean="0"/>
              <a:t>)</a:t>
            </a:r>
          </a:p>
          <a:p>
            <a:r>
              <a:rPr lang="en-US" altLang="zh-TW" dirty="0" smtClean="0"/>
              <a:t>Date: Nov. 21, 2011</a:t>
            </a:r>
            <a:endParaRPr lang="zh-TW" altLang="en-US" dirty="0"/>
          </a:p>
        </p:txBody>
      </p:sp>
    </p:spTree>
    <p:extLst>
      <p:ext uri="{BB962C8B-B14F-4D97-AF65-F5344CB8AC3E}">
        <p14:creationId xmlns:p14="http://schemas.microsoft.com/office/powerpoint/2010/main" val="36673423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Abstract (1)</a:t>
            </a:r>
            <a:endParaRPr lang="zh-TW" altLang="en-US" dirty="0"/>
          </a:p>
        </p:txBody>
      </p:sp>
      <p:sp>
        <p:nvSpPr>
          <p:cNvPr id="3" name="內容版面配置區 2"/>
          <p:cNvSpPr>
            <a:spLocks noGrp="1"/>
          </p:cNvSpPr>
          <p:nvPr>
            <p:ph idx="1"/>
          </p:nvPr>
        </p:nvSpPr>
        <p:spPr>
          <a:xfrm>
            <a:off x="457200" y="1052736"/>
            <a:ext cx="8229600" cy="5544616"/>
          </a:xfrm>
        </p:spPr>
        <p:txBody>
          <a:bodyPr>
            <a:noAutofit/>
          </a:bodyPr>
          <a:lstStyle/>
          <a:p>
            <a:pPr marL="0" indent="0" algn="just">
              <a:buNone/>
            </a:pPr>
            <a:r>
              <a:rPr lang="en-US" altLang="zh-TW" sz="2400" dirty="0" smtClean="0"/>
              <a:t>A  new  method  for  analyzing  nonlinear  and  non-stationary  data  has  been  developed. The key part of the method is the </a:t>
            </a:r>
            <a:r>
              <a:rPr lang="en-US" altLang="zh-TW" sz="2400" dirty="0" smtClean="0">
                <a:solidFill>
                  <a:srgbClr val="FF0000"/>
                </a:solidFill>
              </a:rPr>
              <a:t>‘empirical mode decomposition’ </a:t>
            </a:r>
            <a:r>
              <a:rPr lang="en-US" altLang="zh-TW" sz="2400" dirty="0" smtClean="0">
                <a:solidFill>
                  <a:srgbClr val="00B0F0"/>
                </a:solidFill>
              </a:rPr>
              <a:t>method with which any complicated data set can be decomposed into a finite and often small number of ‘intrinsic mode functions’ that admit well-behaved Hilbert transforms. </a:t>
            </a:r>
            <a:r>
              <a:rPr lang="en-US" altLang="zh-TW" sz="2400" dirty="0" smtClean="0"/>
              <a:t>This decomposition method is adaptive, and, therefore, highly efficient. Since the decomposition is based on the local characteristic time scale of the data, </a:t>
            </a:r>
            <a:r>
              <a:rPr lang="en-US" altLang="zh-TW" sz="2400" u="sng" dirty="0" smtClean="0"/>
              <a:t>it is applicable to nonlinear and non-stationary processes</a:t>
            </a:r>
            <a:r>
              <a:rPr lang="en-US" altLang="zh-TW" sz="2400" dirty="0" smtClean="0"/>
              <a:t>. With the Hilbert transform, the intrinsic mode functions yield instantaneous frequencies as functions of time that give sharp identifications of imbedded structures. The final presentation of the results is an energy-frequency-time distribution, designated as the Hilbert spectrum. </a:t>
            </a:r>
            <a:endParaRPr lang="zh-TW" altLang="en-US" sz="2400" dirty="0"/>
          </a:p>
        </p:txBody>
      </p:sp>
      <p:sp>
        <p:nvSpPr>
          <p:cNvPr id="4" name="投影片編號版面配置區 3"/>
          <p:cNvSpPr>
            <a:spLocks noGrp="1"/>
          </p:cNvSpPr>
          <p:nvPr>
            <p:ph type="sldNum" sz="quarter" idx="12"/>
          </p:nvPr>
        </p:nvSpPr>
        <p:spPr/>
        <p:txBody>
          <a:bodyPr/>
          <a:lstStyle/>
          <a:p>
            <a:fld id="{DFB2A201-8A46-40D3-BE72-AC6B75F3F883}" type="slidenum">
              <a:rPr lang="zh-TW" altLang="en-US" smtClean="0"/>
              <a:pPr/>
              <a:t>2</a:t>
            </a:fld>
            <a:endParaRPr lang="zh-TW" altLang="en-US"/>
          </a:p>
        </p:txBody>
      </p:sp>
    </p:spTree>
    <p:extLst>
      <p:ext uri="{BB962C8B-B14F-4D97-AF65-F5344CB8AC3E}">
        <p14:creationId xmlns:p14="http://schemas.microsoft.com/office/powerpoint/2010/main" val="9718630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(2)</a:t>
            </a:r>
            <a:endParaRPr lang="zh-TW" altLang="en-US" dirty="0"/>
          </a:p>
        </p:txBody>
      </p:sp>
      <p:sp>
        <p:nvSpPr>
          <p:cNvPr id="3" name="內容版面配置區 2"/>
          <p:cNvSpPr>
            <a:spLocks noGrp="1"/>
          </p:cNvSpPr>
          <p:nvPr>
            <p:ph idx="1"/>
          </p:nvPr>
        </p:nvSpPr>
        <p:spPr>
          <a:xfrm>
            <a:off x="395536" y="1484784"/>
            <a:ext cx="8229600" cy="5040560"/>
          </a:xfrm>
        </p:spPr>
        <p:txBody>
          <a:bodyPr>
            <a:noAutofit/>
          </a:bodyPr>
          <a:lstStyle/>
          <a:p>
            <a:pPr marL="0" indent="0" algn="just">
              <a:buNone/>
            </a:pPr>
            <a:r>
              <a:rPr lang="en-US" altLang="zh-TW" sz="2400" dirty="0" smtClean="0"/>
              <a:t>In this method, the main conceptual innovations are the introduction of ‘intrinsic mode functions’ based on local properties of the signal, which makes the instantaneous frequency meaningful; and the introduction of the instantaneous frequencies for complicated data sets, which eliminate the need for spurious harmonics to represent nonlinear and non-stationary signals. Examples from the numerical results of the classical nonlinear equation systems and data representing natural phenomena are given to demonstrate the power of this new method. Classical nonlinear system data are especially interesting, for they serve to illustrate the roles played by the nonlinear and non-stationary effects in the energy-frequency-time distribution.</a:t>
            </a:r>
            <a:endParaRPr lang="zh-TW" altLang="en-US" sz="2400" dirty="0" smtClean="0"/>
          </a:p>
          <a:p>
            <a:pPr marL="0" indent="0" algn="just">
              <a:buNone/>
            </a:pPr>
            <a:endParaRPr lang="en-US" altLang="zh-TW" sz="2400" dirty="0" smtClean="0"/>
          </a:p>
          <a:p>
            <a:pPr algn="just"/>
            <a:endParaRPr lang="zh-TW" altLang="en-US" sz="2400" dirty="0"/>
          </a:p>
        </p:txBody>
      </p:sp>
      <p:sp>
        <p:nvSpPr>
          <p:cNvPr id="4" name="投影片編號版面配置區 3"/>
          <p:cNvSpPr>
            <a:spLocks noGrp="1"/>
          </p:cNvSpPr>
          <p:nvPr>
            <p:ph type="sldNum" sz="quarter" idx="12"/>
          </p:nvPr>
        </p:nvSpPr>
        <p:spPr/>
        <p:txBody>
          <a:bodyPr/>
          <a:lstStyle/>
          <a:p>
            <a:fld id="{DFB2A201-8A46-40D3-BE72-AC6B75F3F883}" type="slidenum">
              <a:rPr lang="zh-TW" altLang="en-US" smtClean="0"/>
              <a:pPr/>
              <a:t>3</a:t>
            </a:fld>
            <a:endParaRPr lang="zh-TW" altLang="en-US"/>
          </a:p>
        </p:txBody>
      </p:sp>
    </p:spTree>
    <p:extLst>
      <p:ext uri="{BB962C8B-B14F-4D97-AF65-F5344CB8AC3E}">
        <p14:creationId xmlns:p14="http://schemas.microsoft.com/office/powerpoint/2010/main" val="18505451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latin typeface="微軟正黑體" pitchFamily="34" charset="-120"/>
                <a:ea typeface="微軟正黑體" pitchFamily="34" charset="-120"/>
              </a:rPr>
              <a:t>黃鍔博士 </a:t>
            </a:r>
            <a:r>
              <a:rPr lang="en-US" altLang="zh-TW"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Norden</a:t>
            </a:r>
            <a:r>
              <a:rPr lang="en-US" altLang="zh-TW" dirty="0" smtClean="0">
                <a:latin typeface="微軟正黑體" pitchFamily="34" charset="-120"/>
                <a:ea typeface="微軟正黑體" pitchFamily="34" charset="-120"/>
              </a:rPr>
              <a:t> E. Huang) </a:t>
            </a:r>
            <a:r>
              <a:rPr lang="zh-TW" altLang="en-US" dirty="0" smtClean="0">
                <a:latin typeface="微軟正黑體" pitchFamily="34" charset="-120"/>
                <a:ea typeface="微軟正黑體" pitchFamily="34" charset="-120"/>
              </a:rPr>
              <a:t>簡介</a:t>
            </a:r>
            <a:endParaRPr lang="zh-TW" altLang="en-US" dirty="0">
              <a:latin typeface="微軟正黑體" pitchFamily="34" charset="-120"/>
              <a:ea typeface="微軟正黑體" pitchFamily="34" charset="-120"/>
            </a:endParaRPr>
          </a:p>
        </p:txBody>
      </p:sp>
      <p:sp>
        <p:nvSpPr>
          <p:cNvPr id="3" name="內容版面配置區 2"/>
          <p:cNvSpPr>
            <a:spLocks noGrp="1"/>
          </p:cNvSpPr>
          <p:nvPr>
            <p:ph idx="1"/>
          </p:nvPr>
        </p:nvSpPr>
        <p:spPr>
          <a:xfrm>
            <a:off x="179512" y="1340768"/>
            <a:ext cx="8507288" cy="5328592"/>
          </a:xfrm>
        </p:spPr>
        <p:txBody>
          <a:bodyPr>
            <a:noAutofit/>
          </a:bodyPr>
          <a:lstStyle/>
          <a:p>
            <a:r>
              <a:rPr lang="en-US" altLang="zh-TW" sz="2400" dirty="0" smtClean="0">
                <a:latin typeface="微軟正黑體" pitchFamily="34" charset="-120"/>
                <a:ea typeface="微軟正黑體" pitchFamily="34" charset="-120"/>
              </a:rPr>
              <a:t>1960 </a:t>
            </a:r>
            <a:r>
              <a:rPr lang="zh-TW" altLang="en-US" sz="2400" dirty="0" smtClean="0">
                <a:latin typeface="微軟正黑體" pitchFamily="34" charset="-120"/>
                <a:ea typeface="微軟正黑體" pitchFamily="34" charset="-120"/>
              </a:rPr>
              <a:t>年從臺灣大學土木系畢業</a:t>
            </a:r>
          </a:p>
          <a:p>
            <a:r>
              <a:rPr lang="en-US" altLang="zh-TW" sz="2400" dirty="0" smtClean="0">
                <a:latin typeface="微軟正黑體" pitchFamily="34" charset="-120"/>
                <a:ea typeface="微軟正黑體" pitchFamily="34" charset="-120"/>
              </a:rPr>
              <a:t>1962 </a:t>
            </a:r>
            <a:r>
              <a:rPr lang="zh-TW" altLang="en-US" sz="2400" dirty="0" smtClean="0">
                <a:latin typeface="微軟正黑體" pitchFamily="34" charset="-120"/>
                <a:ea typeface="微軟正黑體" pitchFamily="34" charset="-120"/>
              </a:rPr>
              <a:t>年進入美國約翰．霍普金斯大學力學系</a:t>
            </a:r>
          </a:p>
          <a:p>
            <a:r>
              <a:rPr lang="zh-TW" altLang="en-US" sz="2400" dirty="0" smtClean="0">
                <a:latin typeface="微軟正黑體" pitchFamily="34" charset="-120"/>
                <a:ea typeface="微軟正黑體" pitchFamily="34" charset="-120"/>
              </a:rPr>
              <a:t>華盛頓大學海洋地理學系研究員</a:t>
            </a:r>
          </a:p>
          <a:p>
            <a:r>
              <a:rPr lang="zh-TW" altLang="en-US" sz="2400" dirty="0" smtClean="0">
                <a:latin typeface="微軟正黑體" pitchFamily="34" charset="-120"/>
                <a:ea typeface="微軟正黑體" pitchFamily="34" charset="-120"/>
              </a:rPr>
              <a:t>北卡羅來納州立大學海洋地理學系副教授</a:t>
            </a:r>
          </a:p>
          <a:p>
            <a:r>
              <a:rPr lang="en-US" altLang="zh-TW" sz="2400" dirty="0" smtClean="0">
                <a:latin typeface="微軟正黑體" pitchFamily="34" charset="-120"/>
                <a:ea typeface="微軟正黑體" pitchFamily="34" charset="-120"/>
              </a:rPr>
              <a:t>1975 </a:t>
            </a:r>
            <a:r>
              <a:rPr lang="zh-TW" altLang="en-US" sz="2400" dirty="0" smtClean="0">
                <a:latin typeface="微軟正黑體" pitchFamily="34" charset="-120"/>
                <a:ea typeface="微軟正黑體" pitchFamily="34" charset="-120"/>
              </a:rPr>
              <a:t>年起進入美國太空總署</a:t>
            </a:r>
            <a:r>
              <a:rPr lang="en-US" altLang="zh-TW" sz="2400" dirty="0" smtClean="0">
                <a:latin typeface="微軟正黑體" pitchFamily="34" charset="-120"/>
                <a:ea typeface="微軟正黑體" pitchFamily="34" charset="-120"/>
              </a:rPr>
              <a:t>(NASA)</a:t>
            </a:r>
          </a:p>
          <a:p>
            <a:r>
              <a:rPr lang="en-US" altLang="zh-TW" sz="2400" dirty="0">
                <a:solidFill>
                  <a:srgbClr val="FF0000"/>
                </a:solidFill>
                <a:latin typeface="微軟正黑體" pitchFamily="34" charset="-120"/>
                <a:ea typeface="微軟正黑體" pitchFamily="34" charset="-120"/>
              </a:rPr>
              <a:t>1998發表本篇論文 </a:t>
            </a:r>
            <a:r>
              <a:rPr lang="en-US" altLang="zh-TW" sz="2400" dirty="0" smtClean="0">
                <a:solidFill>
                  <a:srgbClr val="FF0000"/>
                </a:solidFill>
                <a:latin typeface="微軟正黑體" pitchFamily="34" charset="-120"/>
                <a:ea typeface="微軟正黑體" pitchFamily="34" charset="-120"/>
              </a:rPr>
              <a:t/>
            </a:r>
            <a:br>
              <a:rPr lang="en-US" altLang="zh-TW" sz="2400" dirty="0" smtClean="0">
                <a:solidFill>
                  <a:srgbClr val="FF0000"/>
                </a:solidFill>
                <a:latin typeface="微軟正黑體" pitchFamily="34" charset="-120"/>
                <a:ea typeface="微軟正黑體" pitchFamily="34" charset="-120"/>
              </a:rPr>
            </a:br>
            <a:r>
              <a:rPr lang="en-US" altLang="zh-TW" sz="2400" dirty="0" smtClean="0">
                <a:solidFill>
                  <a:srgbClr val="FF0000"/>
                </a:solidFill>
                <a:latin typeface="微軟正黑體" pitchFamily="34" charset="-120"/>
                <a:ea typeface="微軟正黑體" pitchFamily="34" charset="-120"/>
              </a:rPr>
              <a:t>Hilbert-Huang </a:t>
            </a:r>
            <a:r>
              <a:rPr lang="en-US" altLang="zh-TW" sz="2400" dirty="0">
                <a:solidFill>
                  <a:srgbClr val="FF0000"/>
                </a:solidFill>
                <a:latin typeface="微軟正黑體" pitchFamily="34" charset="-120"/>
                <a:ea typeface="微軟正黑體" pitchFamily="34" charset="-120"/>
              </a:rPr>
              <a:t>transform (HHT</a:t>
            </a:r>
            <a:r>
              <a:rPr lang="en-US" altLang="zh-TW" sz="2400" dirty="0" smtClean="0">
                <a:solidFill>
                  <a:srgbClr val="FF0000"/>
                </a:solidFill>
                <a:latin typeface="微軟正黑體" pitchFamily="34" charset="-120"/>
                <a:ea typeface="微軟正黑體" pitchFamily="34" charset="-120"/>
              </a:rPr>
              <a:t>)</a:t>
            </a:r>
            <a:r>
              <a:rPr lang="en-US" altLang="zh-TW" sz="2400" dirty="0" err="1" smtClean="0">
                <a:solidFill>
                  <a:srgbClr val="FF0000"/>
                </a:solidFill>
                <a:latin typeface="微軟正黑體" pitchFamily="34" charset="-120"/>
                <a:ea typeface="微軟正黑體" pitchFamily="34" charset="-120"/>
              </a:rPr>
              <a:t>聞名國際</a:t>
            </a:r>
            <a:endParaRPr lang="zh-TW" altLang="en-US" sz="2400" dirty="0" smtClean="0">
              <a:solidFill>
                <a:srgbClr val="FF0000"/>
              </a:solidFill>
              <a:latin typeface="微軟正黑體" pitchFamily="34" charset="-120"/>
              <a:ea typeface="微軟正黑體" pitchFamily="34" charset="-120"/>
            </a:endParaRPr>
          </a:p>
          <a:p>
            <a:r>
              <a:rPr lang="en-US" altLang="zh-TW" sz="2400" dirty="0" smtClean="0">
                <a:latin typeface="微軟正黑體" pitchFamily="34" charset="-120"/>
                <a:ea typeface="微軟正黑體" pitchFamily="34" charset="-120"/>
              </a:rPr>
              <a:t>2000 </a:t>
            </a:r>
            <a:r>
              <a:rPr lang="zh-TW" altLang="en-US" sz="2400" dirty="0" smtClean="0">
                <a:latin typeface="微軟正黑體" pitchFamily="34" charset="-120"/>
                <a:ea typeface="微軟正黑體" pitchFamily="34" charset="-120"/>
              </a:rPr>
              <a:t>美國國家工程學院院士</a:t>
            </a:r>
            <a:endParaRPr lang="en-US" altLang="zh-TW" sz="2400" dirty="0" smtClean="0">
              <a:latin typeface="微軟正黑體" pitchFamily="34" charset="-120"/>
              <a:ea typeface="微軟正黑體" pitchFamily="34" charset="-120"/>
            </a:endParaRPr>
          </a:p>
          <a:p>
            <a:r>
              <a:rPr lang="en-US" altLang="zh-TW" sz="2400" dirty="0" smtClean="0">
                <a:latin typeface="微軟正黑體" pitchFamily="34" charset="-120"/>
                <a:ea typeface="微軟正黑體" pitchFamily="34" charset="-120"/>
              </a:rPr>
              <a:t>2003 </a:t>
            </a:r>
            <a:r>
              <a:rPr lang="zh-TW" altLang="en-US" sz="2400" dirty="0" smtClean="0">
                <a:latin typeface="微軟正黑體" pitchFamily="34" charset="-120"/>
                <a:ea typeface="微軟正黑體" pitchFamily="34" charset="-120"/>
              </a:rPr>
              <a:t>美國 </a:t>
            </a:r>
            <a:r>
              <a:rPr lang="en-US" altLang="zh-TW" sz="2400" dirty="0" smtClean="0">
                <a:latin typeface="微軟正黑體" pitchFamily="34" charset="-120"/>
                <a:ea typeface="微軟正黑體" pitchFamily="34" charset="-120"/>
              </a:rPr>
              <a:t>NASA </a:t>
            </a:r>
            <a:r>
              <a:rPr lang="zh-TW" altLang="en-US" sz="2400" dirty="0" smtClean="0">
                <a:latin typeface="微軟正黑體" pitchFamily="34" charset="-120"/>
                <a:ea typeface="微軟正黑體" pitchFamily="34" charset="-120"/>
              </a:rPr>
              <a:t>發明獎</a:t>
            </a:r>
          </a:p>
          <a:p>
            <a:r>
              <a:rPr lang="en-US" altLang="zh-TW" sz="2400" dirty="0" smtClean="0">
                <a:latin typeface="微軟正黑體" pitchFamily="34" charset="-120"/>
                <a:ea typeface="微軟正黑體" pitchFamily="34" charset="-120"/>
              </a:rPr>
              <a:t>2004 </a:t>
            </a:r>
            <a:r>
              <a:rPr lang="zh-TW" altLang="en-US" sz="2400" dirty="0" smtClean="0">
                <a:latin typeface="微軟正黑體" pitchFamily="34" charset="-120"/>
                <a:ea typeface="微軟正黑體" pitchFamily="34" charset="-120"/>
              </a:rPr>
              <a:t>中央研究院院士 </a:t>
            </a:r>
            <a:r>
              <a:rPr lang="en-US" altLang="zh-TW" sz="2400" dirty="0" smtClean="0">
                <a:latin typeface="微軟正黑體" pitchFamily="34" charset="-120"/>
                <a:ea typeface="微軟正黑體" pitchFamily="34" charset="-120"/>
              </a:rPr>
              <a:t>(</a:t>
            </a:r>
            <a:r>
              <a:rPr lang="zh-TW" altLang="en-US" sz="2400" dirty="0" smtClean="0">
                <a:latin typeface="微軟正黑體" pitchFamily="34" charset="-120"/>
                <a:ea typeface="微軟正黑體" pitchFamily="34" charset="-120"/>
              </a:rPr>
              <a:t>第二十五屆</a:t>
            </a:r>
            <a:r>
              <a:rPr lang="en-US" altLang="zh-TW" sz="2400" dirty="0" smtClean="0">
                <a:latin typeface="微軟正黑體" pitchFamily="34" charset="-120"/>
                <a:ea typeface="微軟正黑體" pitchFamily="34" charset="-120"/>
              </a:rPr>
              <a:t>)</a:t>
            </a:r>
          </a:p>
          <a:p>
            <a:r>
              <a:rPr lang="en-US" altLang="zh-TW" sz="2400" dirty="0" smtClean="0">
                <a:latin typeface="微軟正黑體" pitchFamily="34" charset="-120"/>
                <a:ea typeface="微軟正黑體" pitchFamily="34" charset="-120"/>
              </a:rPr>
              <a:t>2002~2006 </a:t>
            </a:r>
            <a:r>
              <a:rPr lang="zh-TW" altLang="en-US" sz="2400" dirty="0" smtClean="0">
                <a:latin typeface="微軟正黑體" pitchFamily="34" charset="-120"/>
                <a:ea typeface="微軟正黑體" pitchFamily="34" charset="-120"/>
              </a:rPr>
              <a:t>美國</a:t>
            </a:r>
            <a:r>
              <a:rPr lang="zh-TW" altLang="en-US" sz="2400" dirty="0">
                <a:latin typeface="微軟正黑體" pitchFamily="34" charset="-120"/>
                <a:ea typeface="微軟正黑體" pitchFamily="34" charset="-120"/>
              </a:rPr>
              <a:t>服務貢獻</a:t>
            </a:r>
            <a:r>
              <a:rPr lang="zh-TW" altLang="en-US" sz="2400" dirty="0" smtClean="0">
                <a:latin typeface="微軟正黑體" pitchFamily="34" charset="-120"/>
                <a:ea typeface="微軟正黑體" pitchFamily="34" charset="-120"/>
              </a:rPr>
              <a:t>獎</a:t>
            </a:r>
            <a:endParaRPr lang="en-US" altLang="zh-TW" sz="2400" dirty="0" smtClean="0">
              <a:latin typeface="微軟正黑體" pitchFamily="34" charset="-120"/>
              <a:ea typeface="微軟正黑體" pitchFamily="34" charset="-120"/>
            </a:endParaRPr>
          </a:p>
          <a:p>
            <a:r>
              <a:rPr lang="en-US" altLang="zh-TW" sz="2400" dirty="0" smtClean="0">
                <a:latin typeface="微軟正黑體" pitchFamily="34" charset="-120"/>
                <a:ea typeface="微軟正黑體" pitchFamily="34" charset="-120"/>
              </a:rPr>
              <a:t>2006~now </a:t>
            </a:r>
            <a:r>
              <a:rPr lang="en-US" altLang="zh-TW" sz="2400" dirty="0" err="1" smtClean="0">
                <a:solidFill>
                  <a:srgbClr val="FF0000"/>
                </a:solidFill>
                <a:latin typeface="微軟正黑體" pitchFamily="34" charset="-120"/>
                <a:ea typeface="微軟正黑體" pitchFamily="34" charset="-120"/>
              </a:rPr>
              <a:t>中央大學講座教授</a:t>
            </a:r>
            <a:endParaRPr lang="zh-TW" altLang="en-US" sz="2400" dirty="0">
              <a:solidFill>
                <a:srgbClr val="FF0000"/>
              </a:solidFill>
              <a:latin typeface="微軟正黑體" pitchFamily="34" charset="-120"/>
              <a:ea typeface="微軟正黑體" pitchFamily="34" charset="-120"/>
            </a:endParaRPr>
          </a:p>
        </p:txBody>
      </p:sp>
      <p:sp>
        <p:nvSpPr>
          <p:cNvPr id="5" name="投影片編號版面配置區 4"/>
          <p:cNvSpPr>
            <a:spLocks noGrp="1"/>
          </p:cNvSpPr>
          <p:nvPr>
            <p:ph type="sldNum" sz="quarter" idx="12"/>
          </p:nvPr>
        </p:nvSpPr>
        <p:spPr/>
        <p:txBody>
          <a:bodyPr/>
          <a:lstStyle/>
          <a:p>
            <a:fld id="{DFB2A201-8A46-40D3-BE72-AC6B75F3F883}" type="slidenum">
              <a:rPr lang="zh-TW" altLang="en-US" smtClean="0"/>
              <a:pPr/>
              <a:t>4</a:t>
            </a:fld>
            <a:endParaRPr lang="zh-TW" altLang="en-US"/>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6256" y="1556792"/>
            <a:ext cx="1944216" cy="1944216"/>
          </a:xfrm>
          <a:prstGeom prst="rect">
            <a:avLst/>
          </a:prstGeom>
        </p:spPr>
      </p:pic>
    </p:spTree>
    <p:extLst>
      <p:ext uri="{BB962C8B-B14F-4D97-AF65-F5344CB8AC3E}">
        <p14:creationId xmlns:p14="http://schemas.microsoft.com/office/powerpoint/2010/main" val="40174297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p:sp>
        <p:nvSpPr>
          <p:cNvPr id="3" name="內容版面配置區 2"/>
          <p:cNvSpPr>
            <a:spLocks noGrp="1"/>
          </p:cNvSpPr>
          <p:nvPr>
            <p:ph idx="1"/>
          </p:nvPr>
        </p:nvSpPr>
        <p:spPr/>
        <p:txBody>
          <a:bodyPr/>
          <a:lstStyle/>
          <a:p>
            <a:r>
              <a:rPr lang="zh-TW" altLang="en-US" dirty="0" smtClean="0">
                <a:latin typeface="微軟正黑體" pitchFamily="34" charset="-120"/>
                <a:ea typeface="微軟正黑體" pitchFamily="34" charset="-120"/>
              </a:rPr>
              <a:t>在訊號處理與頻譜分析的</a:t>
            </a:r>
            <a:r>
              <a:rPr lang="zh-TW" altLang="en-US" dirty="0" smtClean="0">
                <a:solidFill>
                  <a:srgbClr val="FF0000"/>
                </a:solidFill>
                <a:latin typeface="微軟正黑體" pitchFamily="34" charset="-120"/>
                <a:ea typeface="微軟正黑體" pitchFamily="34" charset="-120"/>
              </a:rPr>
              <a:t>目的</a:t>
            </a:r>
            <a:r>
              <a:rPr lang="zh-TW" altLang="en-US" dirty="0" smtClean="0">
                <a:latin typeface="微軟正黑體" pitchFamily="34" charset="-120"/>
                <a:ea typeface="微軟正黑體" pitchFamily="34" charset="-120"/>
              </a:rPr>
              <a:t>是要描述信號的</a:t>
            </a:r>
            <a:r>
              <a:rPr lang="zh-TW" altLang="en-US" dirty="0" smtClean="0">
                <a:solidFill>
                  <a:srgbClr val="FF0000"/>
                </a:solidFill>
                <a:latin typeface="微軟正黑體" pitchFamily="34" charset="-120"/>
                <a:ea typeface="微軟正黑體" pitchFamily="34" charset="-120"/>
              </a:rPr>
              <a:t>頻譜含量在時間上變化</a:t>
            </a:r>
            <a:r>
              <a:rPr lang="zh-TW" altLang="en-US" dirty="0" smtClean="0">
                <a:latin typeface="微軟正黑體" pitchFamily="34" charset="-120"/>
                <a:ea typeface="微軟正黑體" pitchFamily="34" charset="-120"/>
              </a:rPr>
              <a:t>，以便能在時間和頻譜上同時表示</a:t>
            </a:r>
            <a:r>
              <a:rPr lang="zh-TW" altLang="en-US" dirty="0" smtClean="0">
                <a:solidFill>
                  <a:srgbClr val="FF0000"/>
                </a:solidFill>
                <a:latin typeface="微軟正黑體" pitchFamily="34" charset="-120"/>
                <a:ea typeface="微軟正黑體" pitchFamily="34" charset="-120"/>
              </a:rPr>
              <a:t>信號的能量或者強度</a:t>
            </a:r>
            <a:r>
              <a:rPr lang="zh-TW" altLang="en-US" dirty="0" smtClean="0">
                <a:latin typeface="微軟正黑體" pitchFamily="34" charset="-120"/>
                <a:ea typeface="微軟正黑體" pitchFamily="34" charset="-120"/>
              </a:rPr>
              <a:t>。</a:t>
            </a:r>
            <a:endParaRPr lang="en-US" altLang="zh-TW" dirty="0" smtClean="0">
              <a:latin typeface="微軟正黑體" pitchFamily="34" charset="-120"/>
              <a:ea typeface="微軟正黑體" pitchFamily="34" charset="-120"/>
            </a:endParaRPr>
          </a:p>
          <a:p>
            <a:endParaRPr lang="en-US" altLang="zh-TW" dirty="0" smtClean="0">
              <a:latin typeface="微軟正黑體" pitchFamily="34" charset="-120"/>
              <a:ea typeface="微軟正黑體" pitchFamily="34" charset="-120"/>
            </a:endParaRPr>
          </a:p>
          <a:p>
            <a:r>
              <a:rPr lang="zh-TW" altLang="en-US" dirty="0" smtClean="0">
                <a:latin typeface="微軟正黑體" pitchFamily="34" charset="-120"/>
                <a:ea typeface="微軟正黑體" pitchFamily="34" charset="-120"/>
              </a:rPr>
              <a:t>傳統的方法不適合分析</a:t>
            </a:r>
            <a:r>
              <a:rPr lang="en-US" altLang="zh-TW" dirty="0" smtClean="0">
                <a:latin typeface="微軟正黑體" pitchFamily="34" charset="-120"/>
                <a:ea typeface="微軟正黑體" pitchFamily="34" charset="-120"/>
              </a:rPr>
              <a:t>non-</a:t>
            </a:r>
            <a:r>
              <a:rPr lang="en-US" altLang="zh-TW" dirty="0" err="1" smtClean="0">
                <a:latin typeface="微軟正黑體" pitchFamily="34" charset="-120"/>
                <a:ea typeface="微軟正黑體" pitchFamily="34" charset="-120"/>
              </a:rPr>
              <a:t>statationary</a:t>
            </a:r>
            <a:r>
              <a:rPr lang="en-US" altLang="zh-TW" dirty="0" smtClean="0">
                <a:latin typeface="微軟正黑體" pitchFamily="34" charset="-120"/>
                <a:ea typeface="微軟正黑體" pitchFamily="34" charset="-120"/>
              </a:rPr>
              <a:t> data</a:t>
            </a:r>
            <a:r>
              <a:rPr lang="zh-TW" altLang="en-US" dirty="0" smtClean="0">
                <a:latin typeface="微軟正黑體" pitchFamily="34" charset="-120"/>
                <a:ea typeface="微軟正黑體" pitchFamily="34" charset="-120"/>
              </a:rPr>
              <a:t>。</a:t>
            </a:r>
            <a:endParaRPr lang="en-US" altLang="zh-TW" dirty="0" smtClean="0">
              <a:latin typeface="微軟正黑體" pitchFamily="34" charset="-120"/>
              <a:ea typeface="微軟正黑體" pitchFamily="34" charset="-120"/>
            </a:endParaRPr>
          </a:p>
          <a:p>
            <a:pPr marL="0" indent="0">
              <a:buNone/>
            </a:pPr>
            <a:endParaRPr lang="zh-TW" altLang="en-US" dirty="0">
              <a:solidFill>
                <a:srgbClr val="FF0000"/>
              </a:solidFill>
              <a:latin typeface="微軟正黑體" pitchFamily="34" charset="-120"/>
              <a:ea typeface="微軟正黑體" pitchFamily="34" charset="-120"/>
            </a:endParaRPr>
          </a:p>
        </p:txBody>
      </p:sp>
      <p:sp>
        <p:nvSpPr>
          <p:cNvPr id="4" name="投影片編號版面配置區 3"/>
          <p:cNvSpPr>
            <a:spLocks noGrp="1"/>
          </p:cNvSpPr>
          <p:nvPr>
            <p:ph type="sldNum" sz="quarter" idx="12"/>
          </p:nvPr>
        </p:nvSpPr>
        <p:spPr/>
        <p:txBody>
          <a:bodyPr/>
          <a:lstStyle/>
          <a:p>
            <a:fld id="{DFB2A201-8A46-40D3-BE72-AC6B75F3F883}" type="slidenum">
              <a:rPr lang="zh-TW" altLang="en-US" smtClean="0"/>
              <a:pPr/>
              <a:t>5</a:t>
            </a:fld>
            <a:endParaRPr lang="zh-TW" altLang="en-US"/>
          </a:p>
        </p:txBody>
      </p:sp>
    </p:spTree>
    <p:extLst>
      <p:ext uri="{BB962C8B-B14F-4D97-AF65-F5344CB8AC3E}">
        <p14:creationId xmlns:p14="http://schemas.microsoft.com/office/powerpoint/2010/main" val="3454674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Fourier series</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6</a:t>
            </a:fld>
            <a:endParaRPr lang="zh-TW" altLang="en-US"/>
          </a:p>
        </p:txBody>
      </p:sp>
      <mc:AlternateContent xmlns:mc="http://schemas.openxmlformats.org/markup-compatibility/2006" xmlns:a14="http://schemas.microsoft.com/office/drawing/2010/main">
        <mc:Choice Requires="a14">
          <p:sp>
            <p:nvSpPr>
              <p:cNvPr id="4" name="矩形 3"/>
              <p:cNvSpPr/>
              <p:nvPr/>
            </p:nvSpPr>
            <p:spPr>
              <a:xfrm>
                <a:off x="611560" y="1556792"/>
                <a:ext cx="7858690" cy="461665"/>
              </a:xfrm>
              <a:prstGeom prst="rect">
                <a:avLst/>
              </a:prstGeom>
            </p:spPr>
            <p:txBody>
              <a:bodyPr wrap="none">
                <a:spAutoFit/>
              </a:bodyPr>
              <a:lstStyle/>
              <a:p>
                <a:r>
                  <a:rPr lang="en-US" altLang="zh-TW" sz="2400" dirty="0" smtClean="0"/>
                  <a:t>f</a:t>
                </a:r>
                <a14:m>
                  <m:oMath xmlns:m="http://schemas.openxmlformats.org/officeDocument/2006/math">
                    <m:d>
                      <m:dPr>
                        <m:ctrlPr>
                          <a:rPr lang="zh-TW" altLang="zh-TW" sz="2400" i="1">
                            <a:latin typeface="Cambria Math"/>
                          </a:rPr>
                        </m:ctrlPr>
                      </m:dPr>
                      <m:e>
                        <m:r>
                          <m:rPr>
                            <m:sty m:val="p"/>
                          </m:rPr>
                          <a:rPr lang="en-US" altLang="zh-TW" sz="2400">
                            <a:latin typeface="Cambria Math"/>
                          </a:rPr>
                          <m:t>t</m:t>
                        </m:r>
                      </m:e>
                    </m:d>
                    <m:r>
                      <a:rPr lang="en-US" altLang="zh-TW" sz="2400">
                        <a:latin typeface="Cambria Math"/>
                      </a:rPr>
                      <m:t>=</m:t>
                    </m:r>
                    <m:sSub>
                      <m:sSubPr>
                        <m:ctrlPr>
                          <a:rPr lang="zh-TW" altLang="zh-TW" sz="2400" i="1">
                            <a:latin typeface="Cambria Math"/>
                          </a:rPr>
                        </m:ctrlPr>
                      </m:sSubPr>
                      <m:e>
                        <m:r>
                          <m:rPr>
                            <m:sty m:val="p"/>
                          </m:rPr>
                          <a:rPr lang="en-US" altLang="zh-TW" sz="2400">
                            <a:latin typeface="Cambria Math"/>
                          </a:rPr>
                          <m:t>a</m:t>
                        </m:r>
                      </m:e>
                      <m:sub>
                        <m:r>
                          <a:rPr lang="en-US" altLang="zh-TW" sz="2400">
                            <a:latin typeface="Cambria Math"/>
                          </a:rPr>
                          <m:t>0</m:t>
                        </m:r>
                      </m:sub>
                    </m:sSub>
                    <m:r>
                      <a:rPr lang="en-US" altLang="zh-TW" sz="2400">
                        <a:latin typeface="Cambria Math"/>
                      </a:rPr>
                      <m:t>+</m:t>
                    </m:r>
                    <m:nary>
                      <m:naryPr>
                        <m:chr m:val="∑"/>
                        <m:limLoc m:val="undOvr"/>
                        <m:ctrlPr>
                          <a:rPr lang="zh-TW" altLang="zh-TW" sz="2400" i="1">
                            <a:latin typeface="Cambria Math"/>
                          </a:rPr>
                        </m:ctrlPr>
                      </m:naryPr>
                      <m:sub>
                        <m:r>
                          <m:rPr>
                            <m:sty m:val="p"/>
                          </m:rPr>
                          <a:rPr lang="en-US" altLang="zh-TW" sz="2400">
                            <a:latin typeface="Cambria Math"/>
                          </a:rPr>
                          <m:t>k</m:t>
                        </m:r>
                        <m:r>
                          <a:rPr lang="en-US" altLang="zh-TW" sz="2400">
                            <a:latin typeface="Cambria Math"/>
                          </a:rPr>
                          <m:t>=1</m:t>
                        </m:r>
                      </m:sub>
                      <m:sup>
                        <m:r>
                          <a:rPr lang="en-US" altLang="zh-TW" sz="2400">
                            <a:latin typeface="Cambria Math"/>
                          </a:rPr>
                          <m:t>∞</m:t>
                        </m:r>
                      </m:sup>
                      <m:e>
                        <m:sSub>
                          <m:sSubPr>
                            <m:ctrlPr>
                              <a:rPr lang="zh-TW" altLang="zh-TW" sz="2400" i="1">
                                <a:latin typeface="Cambria Math"/>
                              </a:rPr>
                            </m:ctrlPr>
                          </m:sSubPr>
                          <m:e>
                            <m:r>
                              <m:rPr>
                                <m:sty m:val="p"/>
                              </m:rPr>
                              <a:rPr lang="en-US" altLang="zh-TW" sz="2400">
                                <a:latin typeface="Cambria Math"/>
                              </a:rPr>
                              <m:t>a</m:t>
                            </m:r>
                          </m:e>
                          <m:sub>
                            <m:r>
                              <m:rPr>
                                <m:sty m:val="p"/>
                              </m:rPr>
                              <a:rPr lang="en-US" altLang="zh-TW" sz="2400">
                                <a:latin typeface="Cambria Math"/>
                              </a:rPr>
                              <m:t>k</m:t>
                            </m:r>
                          </m:sub>
                        </m:sSub>
                      </m:e>
                    </m:nary>
                    <m:func>
                      <m:funcPr>
                        <m:ctrlPr>
                          <a:rPr lang="zh-TW" altLang="zh-TW" sz="2400" i="1">
                            <a:latin typeface="Cambria Math"/>
                          </a:rPr>
                        </m:ctrlPr>
                      </m:funcPr>
                      <m:fName>
                        <m:r>
                          <m:rPr>
                            <m:sty m:val="p"/>
                          </m:rPr>
                          <a:rPr lang="en-US" altLang="zh-TW" sz="2400">
                            <a:latin typeface="Cambria Math"/>
                          </a:rPr>
                          <m:t>cos</m:t>
                        </m:r>
                      </m:fName>
                      <m:e>
                        <m:d>
                          <m:dPr>
                            <m:ctrlPr>
                              <a:rPr lang="zh-TW" altLang="zh-TW" sz="2400" i="1">
                                <a:latin typeface="Cambria Math"/>
                              </a:rPr>
                            </m:ctrlPr>
                          </m:dPr>
                          <m:e>
                            <m:sSub>
                              <m:sSubPr>
                                <m:ctrlPr>
                                  <a:rPr lang="zh-TW" altLang="en-US"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e>
                        </m:d>
                      </m:e>
                    </m:func>
                    <m:r>
                      <a:rPr lang="en-US" altLang="zh-TW" sz="2400">
                        <a:latin typeface="Cambria Math"/>
                      </a:rPr>
                      <m:t>+</m:t>
                    </m:r>
                    <m:sSub>
                      <m:sSubPr>
                        <m:ctrlPr>
                          <a:rPr lang="zh-TW" altLang="zh-TW" sz="2400" i="1">
                            <a:latin typeface="Cambria Math"/>
                          </a:rPr>
                        </m:ctrlPr>
                      </m:sSubPr>
                      <m:e>
                        <m:r>
                          <m:rPr>
                            <m:sty m:val="p"/>
                          </m:rPr>
                          <a:rPr lang="en-US" altLang="zh-TW" sz="2400">
                            <a:latin typeface="Cambria Math"/>
                          </a:rPr>
                          <m:t>b</m:t>
                        </m:r>
                      </m:e>
                      <m:sub>
                        <m:r>
                          <m:rPr>
                            <m:sty m:val="p"/>
                          </m:rPr>
                          <a:rPr lang="en-US" altLang="zh-TW" sz="2400">
                            <a:latin typeface="Cambria Math"/>
                          </a:rPr>
                          <m:t>k</m:t>
                        </m:r>
                      </m:sub>
                    </m:sSub>
                    <m:r>
                      <m:rPr>
                        <m:sty m:val="p"/>
                      </m:rPr>
                      <a:rPr lang="en-US" altLang="zh-TW" sz="2400">
                        <a:latin typeface="Cambria Math"/>
                      </a:rPr>
                      <m:t>sin</m:t>
                    </m:r>
                    <m:d>
                      <m:dPr>
                        <m:ctrlPr>
                          <a:rPr lang="zh-TW" altLang="zh-TW" sz="2400" i="1">
                            <a:latin typeface="Cambria Math"/>
                          </a:rPr>
                        </m:ctrlPr>
                      </m:dPr>
                      <m:e>
                        <m:sSub>
                          <m:sSubPr>
                            <m:ctrlPr>
                              <a:rPr lang="zh-TW" altLang="en-US"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e>
                    </m:d>
                    <m:r>
                      <a:rPr lang="en-US" altLang="zh-TW" sz="2400" b="0" i="0" smtClean="0">
                        <a:latin typeface="Cambria Math"/>
                      </a:rPr>
                      <m:t> (</m:t>
                    </m:r>
                    <m:r>
                      <m:rPr>
                        <m:sty m:val="p"/>
                      </m:rPr>
                      <a:rPr lang="en-US" altLang="zh-TW" sz="2400" b="0" i="0" smtClean="0">
                        <a:solidFill>
                          <a:srgbClr val="FF0000"/>
                        </a:solidFill>
                        <a:latin typeface="Cambria Math"/>
                      </a:rPr>
                      <m:t>Fourier</m:t>
                    </m:r>
                    <m:r>
                      <a:rPr lang="en-US" altLang="zh-TW" sz="2400" b="0" i="0" smtClean="0">
                        <a:solidFill>
                          <a:srgbClr val="FF0000"/>
                        </a:solidFill>
                        <a:latin typeface="Cambria Math"/>
                      </a:rPr>
                      <m:t> </m:t>
                    </m:r>
                    <m:r>
                      <m:rPr>
                        <m:sty m:val="p"/>
                      </m:rPr>
                      <a:rPr lang="en-US" altLang="zh-TW" sz="2400" b="0" i="0" smtClean="0">
                        <a:solidFill>
                          <a:srgbClr val="FF0000"/>
                        </a:solidFill>
                        <a:latin typeface="Cambria Math"/>
                      </a:rPr>
                      <m:t>series</m:t>
                    </m:r>
                    <m:r>
                      <a:rPr lang="en-US" altLang="zh-TW" sz="2400" b="0" i="0" smtClean="0">
                        <a:solidFill>
                          <a:srgbClr val="FF0000"/>
                        </a:solidFill>
                        <a:latin typeface="Cambria Math"/>
                      </a:rPr>
                      <m:t>) </m:t>
                    </m:r>
                  </m:oMath>
                </a14:m>
                <a:endParaRPr lang="zh-TW" altLang="en-US" sz="2400" dirty="0">
                  <a:solidFill>
                    <a:srgbClr val="FF0000"/>
                  </a:solidFill>
                </a:endParaRPr>
              </a:p>
            </p:txBody>
          </p:sp>
        </mc:Choice>
        <mc:Fallback xmlns="">
          <p:sp>
            <p:nvSpPr>
              <p:cNvPr id="4" name="矩形 3"/>
              <p:cNvSpPr>
                <a:spLocks noRot="1" noChangeAspect="1" noMove="1" noResize="1" noEditPoints="1" noAdjustHandles="1" noChangeArrowheads="1" noChangeShapeType="1" noTextEdit="1"/>
              </p:cNvSpPr>
              <p:nvPr/>
            </p:nvSpPr>
            <p:spPr>
              <a:xfrm>
                <a:off x="611560" y="1556792"/>
                <a:ext cx="7858690" cy="461665"/>
              </a:xfrm>
              <a:prstGeom prst="rect">
                <a:avLst/>
              </a:prstGeom>
              <a:blipFill rotWithShape="1">
                <a:blip r:embed="rId2"/>
                <a:stretch>
                  <a:fillRect l="-1164" t="-130263" b="-1947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611560" y="2420888"/>
                <a:ext cx="7438528" cy="108048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TW" altLang="zh-TW" sz="2400" i="1" smtClean="0">
                              <a:latin typeface="Cambria Math"/>
                            </a:rPr>
                          </m:ctrlPr>
                        </m:sSupPr>
                        <m:e>
                          <m:r>
                            <m:rPr>
                              <m:sty m:val="p"/>
                            </m:rPr>
                            <a:rPr lang="en-US" altLang="zh-TW" sz="2400">
                              <a:latin typeface="Cambria Math"/>
                            </a:rPr>
                            <m:t>e</m:t>
                          </m:r>
                        </m:e>
                        <m:sup>
                          <m:r>
                            <a:rPr lang="en-US" altLang="zh-TW" sz="2400" i="1">
                              <a:latin typeface="Cambria Math"/>
                            </a:rPr>
                            <m:t>𝑖</m:t>
                          </m:r>
                          <m:sSub>
                            <m:sSubPr>
                              <m:ctrlPr>
                                <a:rPr lang="zh-TW" altLang="zh-TW"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sup>
                      </m:sSup>
                      <m:r>
                        <a:rPr lang="en-US" altLang="zh-TW" sz="2400">
                          <a:latin typeface="Cambria Math"/>
                        </a:rPr>
                        <m:t>=</m:t>
                      </m:r>
                      <m:func>
                        <m:funcPr>
                          <m:ctrlPr>
                            <a:rPr lang="zh-TW" altLang="zh-TW" sz="2400" i="1">
                              <a:latin typeface="Cambria Math"/>
                            </a:rPr>
                          </m:ctrlPr>
                        </m:funcPr>
                        <m:fName>
                          <m:r>
                            <m:rPr>
                              <m:sty m:val="p"/>
                            </m:rPr>
                            <a:rPr lang="en-US" altLang="zh-TW" sz="2400">
                              <a:latin typeface="Cambria Math"/>
                            </a:rPr>
                            <m:t>cos</m:t>
                          </m:r>
                        </m:fName>
                        <m:e>
                          <m:d>
                            <m:dPr>
                              <m:ctrlPr>
                                <a:rPr lang="zh-TW" altLang="zh-TW" sz="2400" i="1">
                                  <a:latin typeface="Cambria Math"/>
                                </a:rPr>
                              </m:ctrlPr>
                            </m:dPr>
                            <m:e>
                              <m:sSub>
                                <m:sSubPr>
                                  <m:ctrlPr>
                                    <a:rPr lang="zh-TW" altLang="zh-TW"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e>
                          </m:d>
                        </m:e>
                      </m:func>
                      <m:r>
                        <a:rPr lang="en-US" altLang="zh-TW" sz="2400">
                          <a:latin typeface="Cambria Math"/>
                        </a:rPr>
                        <m:t>+</m:t>
                      </m:r>
                      <m:r>
                        <a:rPr lang="en-US" altLang="zh-TW" sz="2400" i="1">
                          <a:latin typeface="Cambria Math"/>
                        </a:rPr>
                        <m:t>𝑖</m:t>
                      </m:r>
                      <m:r>
                        <m:rPr>
                          <m:sty m:val="p"/>
                        </m:rPr>
                        <a:rPr lang="en-US" altLang="zh-TW" sz="2400">
                          <a:latin typeface="Cambria Math"/>
                        </a:rPr>
                        <m:t>sin</m:t>
                      </m:r>
                      <m:d>
                        <m:dPr>
                          <m:ctrlPr>
                            <a:rPr lang="zh-TW" altLang="zh-TW" sz="2400" i="1">
                              <a:latin typeface="Cambria Math"/>
                            </a:rPr>
                          </m:ctrlPr>
                        </m:dPr>
                        <m:e>
                          <m:sSub>
                            <m:sSubPr>
                              <m:ctrlPr>
                                <a:rPr lang="zh-TW" altLang="zh-TW"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e>
                      </m:d>
                      <m:r>
                        <a:rPr lang="en-US" altLang="zh-TW" sz="2400">
                          <a:latin typeface="Cambria Math"/>
                        </a:rPr>
                        <m:t>,</m:t>
                      </m:r>
                      <m:r>
                        <a:rPr lang="en-US" altLang="zh-TW" sz="2400" i="1">
                          <a:latin typeface="Cambria Math"/>
                        </a:rPr>
                        <m:t> </m:t>
                      </m:r>
                      <m:r>
                        <a:rPr lang="en-US" altLang="zh-TW" sz="2400" b="0" i="1" smtClean="0">
                          <a:latin typeface="Cambria Math"/>
                        </a:rPr>
                        <m:t> </m:t>
                      </m:r>
                      <m:sSup>
                        <m:sSupPr>
                          <m:ctrlPr>
                            <a:rPr lang="zh-TW" altLang="zh-TW" sz="2400" i="1">
                              <a:latin typeface="Cambria Math"/>
                            </a:rPr>
                          </m:ctrlPr>
                        </m:sSupPr>
                        <m:e>
                          <m:r>
                            <a:rPr lang="en-US" altLang="zh-TW" sz="2400" i="1">
                              <a:latin typeface="Cambria Math"/>
                            </a:rPr>
                            <m:t>𝑖</m:t>
                          </m:r>
                        </m:e>
                        <m:sup>
                          <m:r>
                            <a:rPr lang="en-US" altLang="zh-TW" sz="2400" i="1">
                              <a:latin typeface="Cambria Math"/>
                            </a:rPr>
                            <m:t>2</m:t>
                          </m:r>
                        </m:sup>
                      </m:sSup>
                      <m:r>
                        <a:rPr lang="en-US" altLang="zh-TW" sz="2400">
                          <a:latin typeface="Cambria Math"/>
                        </a:rPr>
                        <m:t>=</m:t>
                      </m:r>
                      <m:r>
                        <a:rPr lang="en-US" altLang="zh-TW" sz="2400" i="1">
                          <a:latin typeface="Cambria Math"/>
                        </a:rPr>
                        <m:t>−</m:t>
                      </m:r>
                      <m:r>
                        <a:rPr lang="en-US" altLang="zh-TW" sz="2400">
                          <a:latin typeface="Cambria Math"/>
                        </a:rPr>
                        <m:t>1</m:t>
                      </m:r>
                    </m:oMath>
                  </m:oMathPara>
                </a14:m>
                <a:endParaRPr lang="zh-TW" altLang="zh-TW" sz="2400" dirty="0"/>
              </a:p>
              <a:p>
                <a:pPr algn="ctr"/>
                <a14:m>
                  <m:oMath xmlns:m="http://schemas.openxmlformats.org/officeDocument/2006/math">
                    <m:func>
                      <m:funcPr>
                        <m:ctrlPr>
                          <a:rPr lang="zh-TW" altLang="zh-TW" sz="2400" i="1">
                            <a:latin typeface="Cambria Math"/>
                          </a:rPr>
                        </m:ctrlPr>
                      </m:funcPr>
                      <m:fName>
                        <m:r>
                          <m:rPr>
                            <m:sty m:val="p"/>
                          </m:rPr>
                          <a:rPr lang="en-US" altLang="zh-TW" sz="2400">
                            <a:latin typeface="Cambria Math"/>
                          </a:rPr>
                          <m:t>cos</m:t>
                        </m:r>
                      </m:fName>
                      <m:e>
                        <m:d>
                          <m:dPr>
                            <m:ctrlPr>
                              <a:rPr lang="zh-TW" altLang="zh-TW" sz="2400" i="1">
                                <a:latin typeface="Cambria Math"/>
                              </a:rPr>
                            </m:ctrlPr>
                          </m:dPr>
                          <m:e>
                            <m:sSub>
                              <m:sSubPr>
                                <m:ctrlPr>
                                  <a:rPr lang="zh-TW" altLang="zh-TW"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e>
                        </m:d>
                      </m:e>
                    </m:func>
                    <m:r>
                      <a:rPr lang="en-US" altLang="zh-TW" sz="2400">
                        <a:latin typeface="Cambria Math"/>
                      </a:rPr>
                      <m:t>=</m:t>
                    </m:r>
                    <m:f>
                      <m:fPr>
                        <m:ctrlPr>
                          <a:rPr lang="zh-TW" altLang="zh-TW" sz="2400" i="1">
                            <a:latin typeface="Cambria Math"/>
                          </a:rPr>
                        </m:ctrlPr>
                      </m:fPr>
                      <m:num>
                        <m:sSup>
                          <m:sSupPr>
                            <m:ctrlPr>
                              <a:rPr lang="zh-TW" altLang="zh-TW" sz="2400" i="1">
                                <a:latin typeface="Cambria Math"/>
                              </a:rPr>
                            </m:ctrlPr>
                          </m:sSupPr>
                          <m:e>
                            <m:r>
                              <m:rPr>
                                <m:sty m:val="p"/>
                              </m:rPr>
                              <a:rPr lang="en-US" altLang="zh-TW" sz="2400">
                                <a:latin typeface="Cambria Math"/>
                              </a:rPr>
                              <m:t>e</m:t>
                            </m:r>
                          </m:e>
                          <m:sup>
                            <m:r>
                              <a:rPr lang="en-US" altLang="zh-TW" sz="2400" i="1">
                                <a:latin typeface="Cambria Math"/>
                              </a:rPr>
                              <m:t>𝑖</m:t>
                            </m:r>
                            <m:sSub>
                              <m:sSubPr>
                                <m:ctrlPr>
                                  <a:rPr lang="zh-TW" altLang="zh-TW"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sup>
                        </m:sSup>
                        <m:r>
                          <a:rPr lang="en-US" altLang="zh-TW" sz="2400">
                            <a:latin typeface="Cambria Math"/>
                          </a:rPr>
                          <m:t>+</m:t>
                        </m:r>
                        <m:sSup>
                          <m:sSupPr>
                            <m:ctrlPr>
                              <a:rPr lang="zh-TW" altLang="zh-TW" sz="2400" i="1">
                                <a:latin typeface="Cambria Math"/>
                              </a:rPr>
                            </m:ctrlPr>
                          </m:sSupPr>
                          <m:e>
                            <m:r>
                              <m:rPr>
                                <m:sty m:val="p"/>
                              </m:rPr>
                              <a:rPr lang="en-US" altLang="zh-TW" sz="2400">
                                <a:latin typeface="Cambria Math"/>
                              </a:rPr>
                              <m:t>e</m:t>
                            </m:r>
                          </m:e>
                          <m:sup>
                            <m:r>
                              <a:rPr lang="en-US" altLang="zh-TW" sz="2400" i="1">
                                <a:latin typeface="Cambria Math"/>
                              </a:rPr>
                              <m:t>−</m:t>
                            </m:r>
                            <m:r>
                              <a:rPr lang="en-US" altLang="zh-TW" sz="2400" i="1">
                                <a:latin typeface="Cambria Math"/>
                              </a:rPr>
                              <m:t>𝑖</m:t>
                            </m:r>
                            <m:sSub>
                              <m:sSubPr>
                                <m:ctrlPr>
                                  <a:rPr lang="zh-TW" altLang="zh-TW"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sup>
                        </m:sSup>
                      </m:num>
                      <m:den>
                        <m:r>
                          <a:rPr lang="en-US" altLang="zh-TW" sz="2400">
                            <a:latin typeface="Cambria Math"/>
                          </a:rPr>
                          <m:t>2</m:t>
                        </m:r>
                      </m:den>
                    </m:f>
                  </m:oMath>
                </a14:m>
                <a:r>
                  <a:rPr lang="en-US" altLang="zh-TW" sz="2400" dirty="0"/>
                  <a:t>, </a:t>
                </a:r>
                <a14:m>
                  <m:oMath xmlns:m="http://schemas.openxmlformats.org/officeDocument/2006/math">
                    <m:func>
                      <m:funcPr>
                        <m:ctrlPr>
                          <a:rPr lang="zh-TW" altLang="zh-TW" sz="2400" i="1">
                            <a:latin typeface="Cambria Math"/>
                          </a:rPr>
                        </m:ctrlPr>
                      </m:funcPr>
                      <m:fName>
                        <m:r>
                          <m:rPr>
                            <m:sty m:val="p"/>
                          </m:rPr>
                          <a:rPr lang="en-US" altLang="zh-TW" sz="2400">
                            <a:latin typeface="Cambria Math"/>
                          </a:rPr>
                          <m:t>sin</m:t>
                        </m:r>
                      </m:fName>
                      <m:e>
                        <m:d>
                          <m:dPr>
                            <m:ctrlPr>
                              <a:rPr lang="zh-TW" altLang="zh-TW" sz="2400" i="1">
                                <a:latin typeface="Cambria Math"/>
                              </a:rPr>
                            </m:ctrlPr>
                          </m:dPr>
                          <m:e>
                            <m:sSub>
                              <m:sSubPr>
                                <m:ctrlPr>
                                  <a:rPr lang="zh-TW" altLang="zh-TW"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e>
                        </m:d>
                      </m:e>
                    </m:func>
                    <m:r>
                      <a:rPr lang="en-US" altLang="zh-TW" sz="2400">
                        <a:latin typeface="Cambria Math"/>
                      </a:rPr>
                      <m:t>=</m:t>
                    </m:r>
                    <m:f>
                      <m:fPr>
                        <m:ctrlPr>
                          <a:rPr lang="zh-TW" altLang="zh-TW" sz="2400" i="1">
                            <a:latin typeface="Cambria Math"/>
                          </a:rPr>
                        </m:ctrlPr>
                      </m:fPr>
                      <m:num>
                        <m:sSup>
                          <m:sSupPr>
                            <m:ctrlPr>
                              <a:rPr lang="zh-TW" altLang="zh-TW" sz="2400" i="1">
                                <a:latin typeface="Cambria Math"/>
                              </a:rPr>
                            </m:ctrlPr>
                          </m:sSupPr>
                          <m:e>
                            <m:r>
                              <m:rPr>
                                <m:sty m:val="p"/>
                              </m:rPr>
                              <a:rPr lang="en-US" altLang="zh-TW" sz="2400">
                                <a:latin typeface="Cambria Math"/>
                              </a:rPr>
                              <m:t>e</m:t>
                            </m:r>
                          </m:e>
                          <m:sup>
                            <m:r>
                              <a:rPr lang="en-US" altLang="zh-TW" sz="2400" i="1">
                                <a:latin typeface="Cambria Math"/>
                              </a:rPr>
                              <m:t>𝑖</m:t>
                            </m:r>
                            <m:sSub>
                              <m:sSubPr>
                                <m:ctrlPr>
                                  <a:rPr lang="zh-TW" altLang="zh-TW"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sup>
                        </m:sSup>
                        <m:r>
                          <a:rPr lang="en-US" altLang="zh-TW" sz="2400" i="1">
                            <a:latin typeface="Cambria Math"/>
                          </a:rPr>
                          <m:t>−</m:t>
                        </m:r>
                        <m:sSup>
                          <m:sSupPr>
                            <m:ctrlPr>
                              <a:rPr lang="zh-TW" altLang="zh-TW" sz="2400" i="1">
                                <a:latin typeface="Cambria Math"/>
                              </a:rPr>
                            </m:ctrlPr>
                          </m:sSupPr>
                          <m:e>
                            <m:r>
                              <m:rPr>
                                <m:sty m:val="p"/>
                              </m:rPr>
                              <a:rPr lang="en-US" altLang="zh-TW" sz="2400">
                                <a:latin typeface="Cambria Math"/>
                              </a:rPr>
                              <m:t>e</m:t>
                            </m:r>
                          </m:e>
                          <m:sup>
                            <m:r>
                              <a:rPr lang="en-US" altLang="zh-TW" sz="2400" i="1">
                                <a:latin typeface="Cambria Math"/>
                              </a:rPr>
                              <m:t>−</m:t>
                            </m:r>
                            <m:r>
                              <a:rPr lang="en-US" altLang="zh-TW" sz="2400" i="1">
                                <a:latin typeface="Cambria Math"/>
                              </a:rPr>
                              <m:t>𝑖</m:t>
                            </m:r>
                            <m:sSub>
                              <m:sSubPr>
                                <m:ctrlPr>
                                  <a:rPr lang="zh-TW" altLang="zh-TW"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sup>
                        </m:sSup>
                      </m:num>
                      <m:den>
                        <m:r>
                          <a:rPr lang="en-US" altLang="zh-TW" sz="2400">
                            <a:latin typeface="Cambria Math"/>
                          </a:rPr>
                          <m:t>2</m:t>
                        </m:r>
                      </m:den>
                    </m:f>
                  </m:oMath>
                </a14:m>
                <a:endParaRPr lang="zh-TW" altLang="zh-TW" sz="2400" dirty="0"/>
              </a:p>
            </p:txBody>
          </p:sp>
        </mc:Choice>
        <mc:Fallback xmlns="">
          <p:sp>
            <p:nvSpPr>
              <p:cNvPr id="5" name="矩形 4"/>
              <p:cNvSpPr>
                <a:spLocks noRot="1" noChangeAspect="1" noMove="1" noResize="1" noEditPoints="1" noAdjustHandles="1" noChangeArrowheads="1" noChangeShapeType="1" noTextEdit="1"/>
              </p:cNvSpPr>
              <p:nvPr/>
            </p:nvSpPr>
            <p:spPr>
              <a:xfrm>
                <a:off x="611560" y="2420888"/>
                <a:ext cx="7438528" cy="1080489"/>
              </a:xfrm>
              <a:prstGeom prst="rect">
                <a:avLst/>
              </a:prstGeom>
              <a:blipFill rotWithShape="1">
                <a:blip r:embed="rId3"/>
                <a:stretch>
                  <a:fillRect b="-508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874440" y="3573016"/>
                <a:ext cx="6768752" cy="79130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zh-TW" sz="2400" i="1">
                              <a:latin typeface="Cambria Math"/>
                            </a:rPr>
                          </m:ctrlPr>
                        </m:sSubPr>
                        <m:e>
                          <m:r>
                            <m:rPr>
                              <m:sty m:val="p"/>
                            </m:rPr>
                            <a:rPr lang="en-US" altLang="zh-TW" sz="2400">
                              <a:latin typeface="Cambria Math"/>
                            </a:rPr>
                            <m:t>c</m:t>
                          </m:r>
                        </m:e>
                        <m:sub>
                          <m:r>
                            <a:rPr lang="en-US" altLang="zh-TW" sz="2400">
                              <a:latin typeface="Cambria Math"/>
                            </a:rPr>
                            <m:t>0</m:t>
                          </m:r>
                        </m:sub>
                      </m:sSub>
                      <m:r>
                        <a:rPr lang="en-US" altLang="zh-TW" sz="2400">
                          <a:latin typeface="Cambria Math"/>
                        </a:rPr>
                        <m:t>=</m:t>
                      </m:r>
                      <m:sSub>
                        <m:sSubPr>
                          <m:ctrlPr>
                            <a:rPr lang="zh-TW" altLang="zh-TW" sz="2400" i="1">
                              <a:latin typeface="Cambria Math"/>
                            </a:rPr>
                          </m:ctrlPr>
                        </m:sSubPr>
                        <m:e>
                          <m:r>
                            <m:rPr>
                              <m:sty m:val="p"/>
                            </m:rPr>
                            <a:rPr lang="en-US" altLang="zh-TW" sz="2400">
                              <a:latin typeface="Cambria Math"/>
                            </a:rPr>
                            <m:t>a</m:t>
                          </m:r>
                        </m:e>
                        <m:sub>
                          <m:r>
                            <a:rPr lang="en-US" altLang="zh-TW" sz="2400">
                              <a:latin typeface="Cambria Math"/>
                            </a:rPr>
                            <m:t>0</m:t>
                          </m:r>
                        </m:sub>
                      </m:sSub>
                      <m:r>
                        <a:rPr lang="en-US" altLang="zh-TW" sz="2400">
                          <a:latin typeface="Cambria Math"/>
                        </a:rPr>
                        <m:t>, </m:t>
                      </m:r>
                      <m:r>
                        <a:rPr lang="en-US" altLang="zh-TW" sz="2400" i="1">
                          <a:latin typeface="Cambria Math"/>
                        </a:rPr>
                        <m:t> </m:t>
                      </m:r>
                      <m:sSub>
                        <m:sSubPr>
                          <m:ctrlPr>
                            <a:rPr lang="zh-TW" altLang="zh-TW" sz="2400" i="1">
                              <a:latin typeface="Cambria Math"/>
                            </a:rPr>
                          </m:ctrlPr>
                        </m:sSubPr>
                        <m:e>
                          <m:r>
                            <m:rPr>
                              <m:sty m:val="p"/>
                            </m:rPr>
                            <a:rPr lang="en-US" altLang="zh-TW" sz="2400">
                              <a:latin typeface="Cambria Math"/>
                            </a:rPr>
                            <m:t>c</m:t>
                          </m:r>
                        </m:e>
                        <m:sub>
                          <m:r>
                            <m:rPr>
                              <m:sty m:val="p"/>
                            </m:rPr>
                            <a:rPr lang="en-US" altLang="zh-TW" sz="2400">
                              <a:latin typeface="Cambria Math"/>
                            </a:rPr>
                            <m:t>k</m:t>
                          </m:r>
                        </m:sub>
                      </m:sSub>
                      <m:r>
                        <a:rPr lang="en-US" altLang="zh-TW" sz="2400">
                          <a:latin typeface="Cambria Math"/>
                        </a:rPr>
                        <m:t>=</m:t>
                      </m:r>
                      <m:f>
                        <m:fPr>
                          <m:ctrlPr>
                            <a:rPr lang="zh-TW" altLang="zh-TW" sz="2400" i="1">
                              <a:latin typeface="Cambria Math"/>
                            </a:rPr>
                          </m:ctrlPr>
                        </m:fPr>
                        <m:num>
                          <m:sSub>
                            <m:sSubPr>
                              <m:ctrlPr>
                                <a:rPr lang="zh-TW" altLang="zh-TW" sz="2400" i="1">
                                  <a:latin typeface="Cambria Math"/>
                                </a:rPr>
                              </m:ctrlPr>
                            </m:sSubPr>
                            <m:e>
                              <m:r>
                                <m:rPr>
                                  <m:sty m:val="p"/>
                                </m:rPr>
                                <a:rPr lang="en-US" altLang="zh-TW" sz="2400">
                                  <a:latin typeface="Cambria Math"/>
                                </a:rPr>
                                <m:t>a</m:t>
                              </m:r>
                            </m:e>
                            <m:sub>
                              <m:r>
                                <m:rPr>
                                  <m:sty m:val="p"/>
                                </m:rPr>
                                <a:rPr lang="en-US" altLang="zh-TW" sz="2400">
                                  <a:latin typeface="Cambria Math"/>
                                </a:rPr>
                                <m:t>k</m:t>
                              </m:r>
                            </m:sub>
                          </m:sSub>
                          <m:r>
                            <a:rPr lang="en-US" altLang="zh-TW" sz="2400" i="1">
                              <a:latin typeface="Cambria Math"/>
                            </a:rPr>
                            <m:t>−</m:t>
                          </m:r>
                          <m:r>
                            <a:rPr lang="en-US" altLang="zh-TW" sz="2400" i="1">
                              <a:latin typeface="Cambria Math"/>
                            </a:rPr>
                            <m:t>𝑖</m:t>
                          </m:r>
                          <m:sSub>
                            <m:sSubPr>
                              <m:ctrlPr>
                                <a:rPr lang="zh-TW" altLang="zh-TW" sz="2400" i="1">
                                  <a:latin typeface="Cambria Math"/>
                                </a:rPr>
                              </m:ctrlPr>
                            </m:sSubPr>
                            <m:e>
                              <m:r>
                                <m:rPr>
                                  <m:sty m:val="p"/>
                                </m:rPr>
                                <a:rPr lang="en-US" altLang="zh-TW" sz="2400">
                                  <a:latin typeface="Cambria Math"/>
                                </a:rPr>
                                <m:t>b</m:t>
                              </m:r>
                            </m:e>
                            <m:sub>
                              <m:r>
                                <m:rPr>
                                  <m:sty m:val="p"/>
                                </m:rPr>
                                <a:rPr lang="en-US" altLang="zh-TW" sz="2400">
                                  <a:latin typeface="Cambria Math"/>
                                </a:rPr>
                                <m:t>k</m:t>
                              </m:r>
                            </m:sub>
                          </m:sSub>
                        </m:num>
                        <m:den>
                          <m:r>
                            <a:rPr lang="en-US" altLang="zh-TW" sz="2400">
                              <a:latin typeface="Cambria Math"/>
                            </a:rPr>
                            <m:t>2</m:t>
                          </m:r>
                        </m:den>
                      </m:f>
                      <m:r>
                        <a:rPr lang="en-US" altLang="zh-TW" sz="2400">
                          <a:latin typeface="Cambria Math"/>
                        </a:rPr>
                        <m:t>, </m:t>
                      </m:r>
                      <m:sSub>
                        <m:sSubPr>
                          <m:ctrlPr>
                            <a:rPr lang="zh-TW" altLang="zh-TW" sz="2400" i="1">
                              <a:latin typeface="Cambria Math"/>
                            </a:rPr>
                          </m:ctrlPr>
                        </m:sSubPr>
                        <m:e>
                          <m:r>
                            <a:rPr lang="en-US" altLang="zh-TW" sz="2400" i="1">
                              <a:latin typeface="Cambria Math"/>
                            </a:rPr>
                            <m:t>  </m:t>
                          </m:r>
                          <m:r>
                            <m:rPr>
                              <m:sty m:val="p"/>
                            </m:rPr>
                            <a:rPr lang="en-US" altLang="zh-TW" sz="2400">
                              <a:latin typeface="Cambria Math"/>
                            </a:rPr>
                            <m:t>c</m:t>
                          </m:r>
                        </m:e>
                        <m:sub>
                          <m:r>
                            <a:rPr lang="en-US" altLang="zh-TW" sz="2400" i="1">
                              <a:latin typeface="Cambria Math"/>
                            </a:rPr>
                            <m:t>−</m:t>
                          </m:r>
                          <m:r>
                            <m:rPr>
                              <m:sty m:val="p"/>
                            </m:rPr>
                            <a:rPr lang="en-US" altLang="zh-TW" sz="2400">
                              <a:latin typeface="Cambria Math"/>
                            </a:rPr>
                            <m:t>k</m:t>
                          </m:r>
                        </m:sub>
                      </m:sSub>
                      <m:r>
                        <a:rPr lang="en-US" altLang="zh-TW" sz="2400">
                          <a:latin typeface="Cambria Math"/>
                        </a:rPr>
                        <m:t>=</m:t>
                      </m:r>
                      <m:acc>
                        <m:accPr>
                          <m:chr m:val="̅"/>
                          <m:ctrlPr>
                            <a:rPr lang="zh-TW" altLang="zh-TW" sz="2400" i="1">
                              <a:latin typeface="Cambria Math"/>
                            </a:rPr>
                          </m:ctrlPr>
                        </m:accPr>
                        <m:e>
                          <m:sSub>
                            <m:sSubPr>
                              <m:ctrlPr>
                                <a:rPr lang="zh-TW" altLang="zh-TW" sz="2400" i="1">
                                  <a:latin typeface="Cambria Math"/>
                                </a:rPr>
                              </m:ctrlPr>
                            </m:sSubPr>
                            <m:e>
                              <m:r>
                                <m:rPr>
                                  <m:sty m:val="p"/>
                                </m:rPr>
                                <a:rPr lang="en-US" altLang="zh-TW" sz="2400">
                                  <a:latin typeface="Cambria Math"/>
                                </a:rPr>
                                <m:t>c</m:t>
                              </m:r>
                            </m:e>
                            <m:sub>
                              <m:r>
                                <m:rPr>
                                  <m:sty m:val="p"/>
                                </m:rPr>
                                <a:rPr lang="en-US" altLang="zh-TW" sz="2400">
                                  <a:latin typeface="Cambria Math"/>
                                </a:rPr>
                                <m:t>k</m:t>
                              </m:r>
                            </m:sub>
                          </m:sSub>
                        </m:e>
                      </m:acc>
                      <m:r>
                        <a:rPr lang="en-US" altLang="zh-TW" sz="2400">
                          <a:latin typeface="Cambria Math"/>
                        </a:rPr>
                        <m:t>=</m:t>
                      </m:r>
                      <m:f>
                        <m:fPr>
                          <m:ctrlPr>
                            <a:rPr lang="zh-TW" altLang="zh-TW" sz="2400" i="1">
                              <a:latin typeface="Cambria Math"/>
                            </a:rPr>
                          </m:ctrlPr>
                        </m:fPr>
                        <m:num>
                          <m:sSub>
                            <m:sSubPr>
                              <m:ctrlPr>
                                <a:rPr lang="zh-TW" altLang="zh-TW" sz="2400" i="1">
                                  <a:latin typeface="Cambria Math"/>
                                </a:rPr>
                              </m:ctrlPr>
                            </m:sSubPr>
                            <m:e>
                              <m:r>
                                <m:rPr>
                                  <m:sty m:val="p"/>
                                </m:rPr>
                                <a:rPr lang="en-US" altLang="zh-TW" sz="2400">
                                  <a:latin typeface="Cambria Math"/>
                                </a:rPr>
                                <m:t>a</m:t>
                              </m:r>
                            </m:e>
                            <m:sub>
                              <m:r>
                                <m:rPr>
                                  <m:sty m:val="p"/>
                                </m:rPr>
                                <a:rPr lang="en-US" altLang="zh-TW" sz="2400">
                                  <a:latin typeface="Cambria Math"/>
                                </a:rPr>
                                <m:t>k</m:t>
                              </m:r>
                            </m:sub>
                          </m:sSub>
                          <m:r>
                            <a:rPr lang="en-US" altLang="zh-TW" sz="2400">
                              <a:latin typeface="Cambria Math"/>
                            </a:rPr>
                            <m:t>+</m:t>
                          </m:r>
                          <m:r>
                            <a:rPr lang="en-US" altLang="zh-TW" sz="2400" i="1">
                              <a:latin typeface="Cambria Math"/>
                            </a:rPr>
                            <m:t>𝑖</m:t>
                          </m:r>
                          <m:sSub>
                            <m:sSubPr>
                              <m:ctrlPr>
                                <a:rPr lang="zh-TW" altLang="zh-TW" sz="2400" i="1">
                                  <a:latin typeface="Cambria Math"/>
                                </a:rPr>
                              </m:ctrlPr>
                            </m:sSubPr>
                            <m:e>
                              <m:r>
                                <m:rPr>
                                  <m:sty m:val="p"/>
                                </m:rPr>
                                <a:rPr lang="en-US" altLang="zh-TW" sz="2400">
                                  <a:latin typeface="Cambria Math"/>
                                </a:rPr>
                                <m:t>b</m:t>
                              </m:r>
                            </m:e>
                            <m:sub>
                              <m:r>
                                <m:rPr>
                                  <m:sty m:val="p"/>
                                </m:rPr>
                                <a:rPr lang="en-US" altLang="zh-TW" sz="2400">
                                  <a:latin typeface="Cambria Math"/>
                                </a:rPr>
                                <m:t>k</m:t>
                              </m:r>
                            </m:sub>
                          </m:sSub>
                        </m:num>
                        <m:den>
                          <m:r>
                            <a:rPr lang="en-US" altLang="zh-TW" sz="2400">
                              <a:latin typeface="Cambria Math"/>
                            </a:rPr>
                            <m:t>2</m:t>
                          </m:r>
                        </m:den>
                      </m:f>
                    </m:oMath>
                  </m:oMathPara>
                </a14:m>
                <a:endParaRPr lang="zh-TW" altLang="zh-TW" sz="2400" dirty="0"/>
              </a:p>
            </p:txBody>
          </p:sp>
        </mc:Choice>
        <mc:Fallback xmlns="">
          <p:sp>
            <p:nvSpPr>
              <p:cNvPr id="6" name="矩形 5"/>
              <p:cNvSpPr>
                <a:spLocks noRot="1" noChangeAspect="1" noMove="1" noResize="1" noEditPoints="1" noAdjustHandles="1" noChangeArrowheads="1" noChangeShapeType="1" noTextEdit="1"/>
              </p:cNvSpPr>
              <p:nvPr/>
            </p:nvSpPr>
            <p:spPr>
              <a:xfrm>
                <a:off x="874440" y="3573016"/>
                <a:ext cx="6768752" cy="791307"/>
              </a:xfrm>
              <a:prstGeom prst="rect">
                <a:avLst/>
              </a:prstGeom>
              <a:blipFill rotWithShape="1">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428010" y="5157192"/>
                <a:ext cx="5805628" cy="10956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sz="2400">
                          <a:latin typeface="Cambria Math"/>
                        </a:rPr>
                        <m:t>f</m:t>
                      </m:r>
                      <m:d>
                        <m:dPr>
                          <m:ctrlPr>
                            <a:rPr lang="zh-TW" altLang="zh-TW" sz="2400" i="1">
                              <a:latin typeface="Cambria Math"/>
                            </a:rPr>
                          </m:ctrlPr>
                        </m:dPr>
                        <m:e>
                          <m:r>
                            <m:rPr>
                              <m:sty m:val="p"/>
                            </m:rPr>
                            <a:rPr lang="en-US" altLang="zh-TW" sz="2400">
                              <a:latin typeface="Cambria Math"/>
                            </a:rPr>
                            <m:t>t</m:t>
                          </m:r>
                        </m:e>
                      </m:d>
                      <m:r>
                        <a:rPr lang="en-US" altLang="zh-TW" sz="2400">
                          <a:latin typeface="Cambria Math"/>
                        </a:rPr>
                        <m:t>=</m:t>
                      </m:r>
                      <m:nary>
                        <m:naryPr>
                          <m:chr m:val="∑"/>
                          <m:limLoc m:val="undOvr"/>
                          <m:ctrlPr>
                            <a:rPr lang="zh-TW" altLang="zh-TW" sz="2400" i="1">
                              <a:latin typeface="Cambria Math"/>
                            </a:rPr>
                          </m:ctrlPr>
                        </m:naryPr>
                        <m:sub>
                          <m:r>
                            <m:rPr>
                              <m:sty m:val="p"/>
                            </m:rPr>
                            <a:rPr lang="en-US" altLang="zh-TW" sz="2400">
                              <a:latin typeface="Cambria Math"/>
                            </a:rPr>
                            <m:t>k</m:t>
                          </m:r>
                          <m:r>
                            <a:rPr lang="en-US" altLang="zh-TW" sz="2400">
                              <a:latin typeface="Cambria Math"/>
                            </a:rPr>
                            <m:t>=</m:t>
                          </m:r>
                          <m:r>
                            <a:rPr lang="en-US" altLang="zh-TW" sz="2400" i="1">
                              <a:latin typeface="Cambria Math"/>
                            </a:rPr>
                            <m:t>−</m:t>
                          </m:r>
                          <m:r>
                            <a:rPr lang="en-US" altLang="zh-TW" sz="2400">
                              <a:latin typeface="Cambria Math"/>
                            </a:rPr>
                            <m:t>∞</m:t>
                          </m:r>
                        </m:sub>
                        <m:sup>
                          <m:r>
                            <a:rPr lang="en-US" altLang="zh-TW" sz="2400">
                              <a:latin typeface="Cambria Math"/>
                            </a:rPr>
                            <m:t>∞</m:t>
                          </m:r>
                        </m:sup>
                        <m:e>
                          <m:sSup>
                            <m:sSupPr>
                              <m:ctrlPr>
                                <a:rPr lang="zh-TW" altLang="zh-TW" sz="2400" i="1">
                                  <a:latin typeface="Cambria Math"/>
                                </a:rPr>
                              </m:ctrlPr>
                            </m:sSupPr>
                            <m:e>
                              <m:sSub>
                                <m:sSubPr>
                                  <m:ctrlPr>
                                    <a:rPr lang="zh-TW" altLang="zh-TW" sz="2400" i="1">
                                      <a:latin typeface="Cambria Math"/>
                                    </a:rPr>
                                  </m:ctrlPr>
                                </m:sSubPr>
                                <m:e>
                                  <m:r>
                                    <m:rPr>
                                      <m:sty m:val="p"/>
                                    </m:rPr>
                                    <a:rPr lang="en-US" altLang="zh-TW" sz="2400">
                                      <a:latin typeface="Cambria Math"/>
                                    </a:rPr>
                                    <m:t>c</m:t>
                                  </m:r>
                                </m:e>
                                <m:sub>
                                  <m:r>
                                    <m:rPr>
                                      <m:sty m:val="p"/>
                                    </m:rPr>
                                    <a:rPr lang="en-US" altLang="zh-TW" sz="2400">
                                      <a:latin typeface="Cambria Math"/>
                                    </a:rPr>
                                    <m:t>k</m:t>
                                  </m:r>
                                </m:sub>
                              </m:sSub>
                              <m:r>
                                <m:rPr>
                                  <m:sty m:val="p"/>
                                </m:rPr>
                                <a:rPr lang="en-US" altLang="zh-TW" sz="2400">
                                  <a:latin typeface="Cambria Math"/>
                                </a:rPr>
                                <m:t>e</m:t>
                              </m:r>
                            </m:e>
                            <m:sup>
                              <m:r>
                                <a:rPr lang="en-US" altLang="zh-TW" sz="2400" i="1">
                                  <a:latin typeface="Cambria Math"/>
                                </a:rPr>
                                <m:t>𝑖</m:t>
                              </m:r>
                              <m:sSub>
                                <m:sSubPr>
                                  <m:ctrlPr>
                                    <a:rPr lang="zh-TW" altLang="zh-TW"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sup>
                          </m:sSup>
                        </m:e>
                      </m:nary>
                      <m:r>
                        <a:rPr lang="en-US" altLang="zh-TW" sz="2400">
                          <a:latin typeface="Cambria Math"/>
                        </a:rPr>
                        <m:t>, </m:t>
                      </m:r>
                      <m:sSub>
                        <m:sSubPr>
                          <m:ctrlPr>
                            <a:rPr lang="zh-TW" altLang="zh-TW" sz="2400" i="1">
                              <a:latin typeface="Cambria Math"/>
                            </a:rPr>
                          </m:ctrlPr>
                        </m:sSubPr>
                        <m:e>
                          <m:r>
                            <m:rPr>
                              <m:sty m:val="p"/>
                            </m:rPr>
                            <a:rPr lang="en-US" altLang="zh-TW" sz="2400">
                              <a:latin typeface="Cambria Math"/>
                            </a:rPr>
                            <m:t>c</m:t>
                          </m:r>
                        </m:e>
                        <m:sub>
                          <m:r>
                            <m:rPr>
                              <m:sty m:val="p"/>
                            </m:rPr>
                            <a:rPr lang="en-US" altLang="zh-TW" sz="2400">
                              <a:latin typeface="Cambria Math"/>
                            </a:rPr>
                            <m:t>k</m:t>
                          </m:r>
                        </m:sub>
                      </m:sSub>
                      <m:r>
                        <a:rPr lang="en-US" altLang="zh-TW" sz="2400">
                          <a:latin typeface="Cambria Math"/>
                        </a:rPr>
                        <m:t>=</m:t>
                      </m:r>
                      <m:f>
                        <m:fPr>
                          <m:ctrlPr>
                            <a:rPr lang="zh-TW" altLang="zh-TW" sz="2400" i="1">
                              <a:latin typeface="Cambria Math"/>
                            </a:rPr>
                          </m:ctrlPr>
                        </m:fPr>
                        <m:num>
                          <m:r>
                            <a:rPr lang="en-US" altLang="zh-TW" sz="2400">
                              <a:latin typeface="Cambria Math"/>
                            </a:rPr>
                            <m:t>1</m:t>
                          </m:r>
                        </m:num>
                        <m:den>
                          <m:r>
                            <a:rPr lang="en-US" altLang="zh-TW" sz="2400">
                              <a:latin typeface="Cambria Math"/>
                            </a:rPr>
                            <m:t>2</m:t>
                          </m:r>
                          <m:r>
                            <m:rPr>
                              <m:sty m:val="p"/>
                            </m:rPr>
                            <a:rPr lang="en-US" altLang="zh-TW" sz="2400">
                              <a:latin typeface="Cambria Math"/>
                            </a:rPr>
                            <m:t>a</m:t>
                          </m:r>
                        </m:den>
                      </m:f>
                      <m:nary>
                        <m:naryPr>
                          <m:limLoc m:val="subSup"/>
                          <m:ctrlPr>
                            <a:rPr lang="zh-TW" altLang="zh-TW" sz="2400" i="1">
                              <a:latin typeface="Cambria Math"/>
                            </a:rPr>
                          </m:ctrlPr>
                        </m:naryPr>
                        <m:sub>
                          <m:r>
                            <a:rPr lang="en-US" altLang="zh-TW" sz="2400" i="1">
                              <a:latin typeface="Cambria Math"/>
                            </a:rPr>
                            <m:t>−</m:t>
                          </m:r>
                          <m:r>
                            <m:rPr>
                              <m:sty m:val="p"/>
                            </m:rPr>
                            <a:rPr lang="en-US" altLang="zh-TW" sz="2400">
                              <a:latin typeface="Cambria Math"/>
                            </a:rPr>
                            <m:t>a</m:t>
                          </m:r>
                        </m:sub>
                        <m:sup>
                          <m:r>
                            <m:rPr>
                              <m:sty m:val="p"/>
                            </m:rPr>
                            <a:rPr lang="en-US" altLang="zh-TW" sz="2400">
                              <a:latin typeface="Cambria Math"/>
                            </a:rPr>
                            <m:t>a</m:t>
                          </m:r>
                        </m:sup>
                        <m:e>
                          <m:r>
                            <m:rPr>
                              <m:sty m:val="p"/>
                            </m:rPr>
                            <a:rPr lang="en-US" altLang="zh-TW" sz="2400">
                              <a:latin typeface="Cambria Math"/>
                            </a:rPr>
                            <m:t>f</m:t>
                          </m:r>
                          <m:d>
                            <m:dPr>
                              <m:ctrlPr>
                                <a:rPr lang="zh-TW" altLang="zh-TW" sz="2400" i="1">
                                  <a:latin typeface="Cambria Math"/>
                                </a:rPr>
                              </m:ctrlPr>
                            </m:dPr>
                            <m:e>
                              <m:r>
                                <m:rPr>
                                  <m:sty m:val="p"/>
                                </m:rPr>
                                <a:rPr lang="en-US" altLang="zh-TW" sz="2400">
                                  <a:latin typeface="Cambria Math"/>
                                </a:rPr>
                                <m:t>t</m:t>
                              </m:r>
                            </m:e>
                          </m:d>
                          <m:sSup>
                            <m:sSupPr>
                              <m:ctrlPr>
                                <a:rPr lang="zh-TW" altLang="zh-TW" sz="2400" i="1">
                                  <a:latin typeface="Cambria Math"/>
                                </a:rPr>
                              </m:ctrlPr>
                            </m:sSupPr>
                            <m:e>
                              <m:r>
                                <m:rPr>
                                  <m:sty m:val="p"/>
                                </m:rPr>
                                <a:rPr lang="en-US" altLang="zh-TW" sz="2400">
                                  <a:latin typeface="Cambria Math"/>
                                </a:rPr>
                                <m:t>e</m:t>
                              </m:r>
                            </m:e>
                            <m:sup>
                              <m:r>
                                <a:rPr lang="en-US" altLang="zh-TW" sz="2400" i="1">
                                  <a:latin typeface="Cambria Math"/>
                                </a:rPr>
                                <m:t>−</m:t>
                              </m:r>
                              <m:r>
                                <a:rPr lang="en-US" altLang="zh-TW" sz="2400" i="1">
                                  <a:latin typeface="Cambria Math"/>
                                </a:rPr>
                                <m:t>𝑖</m:t>
                              </m:r>
                              <m:sSub>
                                <m:sSubPr>
                                  <m:ctrlPr>
                                    <a:rPr lang="zh-TW" altLang="zh-TW" sz="2400" i="1">
                                      <a:latin typeface="Cambria Math"/>
                                    </a:rPr>
                                  </m:ctrlPr>
                                </m:sSubPr>
                                <m:e>
                                  <m:r>
                                    <a:rPr lang="en-US" altLang="zh-TW" sz="2400" i="1">
                                      <a:latin typeface="Cambria Math"/>
                                    </a:rPr>
                                    <m:t>𝜔</m:t>
                                  </m:r>
                                </m:e>
                                <m:sub>
                                  <m:r>
                                    <a:rPr lang="en-US" altLang="zh-TW" sz="2400" i="1">
                                      <a:latin typeface="Cambria Math"/>
                                    </a:rPr>
                                    <m:t>𝑘</m:t>
                                  </m:r>
                                </m:sub>
                              </m:sSub>
                              <m:r>
                                <m:rPr>
                                  <m:sty m:val="p"/>
                                </m:rPr>
                                <a:rPr lang="en-US" altLang="zh-TW" sz="2400">
                                  <a:latin typeface="Cambria Math"/>
                                </a:rPr>
                                <m:t>t</m:t>
                              </m:r>
                            </m:sup>
                          </m:sSup>
                        </m:e>
                      </m:nary>
                      <m:r>
                        <m:rPr>
                          <m:sty m:val="p"/>
                        </m:rPr>
                        <a:rPr lang="en-US" altLang="zh-TW" sz="2400">
                          <a:latin typeface="Cambria Math"/>
                        </a:rPr>
                        <m:t>dt</m:t>
                      </m:r>
                    </m:oMath>
                  </m:oMathPara>
                </a14:m>
                <a:endParaRPr lang="zh-TW" altLang="zh-TW" sz="2400" dirty="0"/>
              </a:p>
            </p:txBody>
          </p:sp>
        </mc:Choice>
        <mc:Fallback xmlns="">
          <p:sp>
            <p:nvSpPr>
              <p:cNvPr id="7" name="矩形 6"/>
              <p:cNvSpPr>
                <a:spLocks noRot="1" noChangeAspect="1" noMove="1" noResize="1" noEditPoints="1" noAdjustHandles="1" noChangeArrowheads="1" noChangeShapeType="1" noTextEdit="1"/>
              </p:cNvSpPr>
              <p:nvPr/>
            </p:nvSpPr>
            <p:spPr>
              <a:xfrm>
                <a:off x="1428010" y="5157192"/>
                <a:ext cx="5805628" cy="1095685"/>
              </a:xfrm>
              <a:prstGeom prst="rect">
                <a:avLst/>
              </a:prstGeom>
              <a:blipFill rotWithShape="1">
                <a:blip r:embed="rId5"/>
                <a:stretch>
                  <a:fillRect/>
                </a:stretch>
              </a:blipFill>
            </p:spPr>
            <p:txBody>
              <a:bodyPr/>
              <a:lstStyle/>
              <a:p>
                <a:r>
                  <a:rPr lang="zh-TW" altLang="en-US">
                    <a:noFill/>
                  </a:rPr>
                  <a:t> </a:t>
                </a:r>
              </a:p>
            </p:txBody>
          </p:sp>
        </mc:Fallback>
      </mc:AlternateContent>
      <p:sp>
        <p:nvSpPr>
          <p:cNvPr id="9" name="文字方塊 8"/>
          <p:cNvSpPr txBox="1"/>
          <p:nvPr/>
        </p:nvSpPr>
        <p:spPr>
          <a:xfrm>
            <a:off x="668962" y="4567833"/>
            <a:ext cx="5343197" cy="461665"/>
          </a:xfrm>
          <a:prstGeom prst="rect">
            <a:avLst/>
          </a:prstGeom>
          <a:noFill/>
        </p:spPr>
        <p:txBody>
          <a:bodyPr wrap="square" rtlCol="0">
            <a:spAutoFit/>
          </a:bodyPr>
          <a:lstStyle/>
          <a:p>
            <a:r>
              <a:rPr lang="en-US" altLang="zh-TW" sz="2400" dirty="0" smtClean="0">
                <a:solidFill>
                  <a:srgbClr val="FF0000"/>
                </a:solidFill>
              </a:rPr>
              <a:t>Complex form of Fourier series:</a:t>
            </a:r>
            <a:endParaRPr lang="zh-TW" altLang="en-US" sz="2400" dirty="0">
              <a:solidFill>
                <a:srgbClr val="FF0000"/>
              </a:solidFill>
            </a:endParaRPr>
          </a:p>
        </p:txBody>
      </p:sp>
    </p:spTree>
    <p:extLst>
      <p:ext uri="{BB962C8B-B14F-4D97-AF65-F5344CB8AC3E}">
        <p14:creationId xmlns:p14="http://schemas.microsoft.com/office/powerpoint/2010/main" val="12387905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smtClean="0"/>
              <a:t>Fourier transform</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7</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468365955"/>
              </p:ext>
            </p:extLst>
          </p:nvPr>
        </p:nvGraphicFramePr>
        <p:xfrm>
          <a:off x="251520" y="1596163"/>
          <a:ext cx="5112568" cy="853440"/>
        </p:xfrm>
        <a:graphic>
          <a:graphicData uri="http://schemas.openxmlformats.org/drawingml/2006/table">
            <a:tbl>
              <a:tblPr firstRow="1" firstCol="1" bandRow="1">
                <a:tableStyleId>{2D5ABB26-0587-4C30-8999-92F81FD0307C}</a:tableStyleId>
              </a:tblPr>
              <a:tblGrid>
                <a:gridCol w="5112568"/>
              </a:tblGrid>
              <a:tr h="0">
                <a:tc>
                  <a:txBody>
                    <a:bodyPr/>
                    <a:lstStyle/>
                    <a:p>
                      <a:pPr algn="ctr">
                        <a:spcAft>
                          <a:spcPts val="0"/>
                        </a:spcAft>
                      </a:pPr>
                      <a:endParaRPr lang="zh-TW" sz="2800" kern="100" dirty="0">
                        <a:effectLst/>
                        <a:latin typeface="Calibri"/>
                        <a:ea typeface="新細明體"/>
                        <a:cs typeface="Times New Roman"/>
                      </a:endParaRPr>
                    </a:p>
                  </a:txBody>
                  <a:tcPr marL="68580" marR="68580" marT="0" marB="0"/>
                </a:tc>
              </a:tr>
              <a:tr h="0">
                <a:tc>
                  <a:txBody>
                    <a:bodyPr/>
                    <a:lstStyle/>
                    <a:p>
                      <a:pPr algn="ctr">
                        <a:spcAft>
                          <a:spcPts val="0"/>
                        </a:spcAft>
                      </a:pPr>
                      <a:endParaRPr lang="zh-TW" sz="2800" kern="100" dirty="0">
                        <a:effectLst/>
                        <a:latin typeface="Calibri"/>
                        <a:ea typeface="新細明體"/>
                        <a:cs typeface="Times New Roman"/>
                      </a:endParaRPr>
                    </a:p>
                  </a:txBody>
                  <a:tcPr marL="68580" marR="68580" marT="0" marB="0"/>
                </a:tc>
              </a:tr>
            </a:tbl>
          </a:graphicData>
        </a:graphic>
      </p:graphicFrame>
      <p:sp>
        <p:nvSpPr>
          <p:cNvPr id="7" name="文字方塊 6"/>
          <p:cNvSpPr txBox="1"/>
          <p:nvPr/>
        </p:nvSpPr>
        <p:spPr>
          <a:xfrm>
            <a:off x="5652120" y="2132856"/>
            <a:ext cx="1656184" cy="461665"/>
          </a:xfrm>
          <a:prstGeom prst="rect">
            <a:avLst/>
          </a:prstGeom>
          <a:noFill/>
        </p:spPr>
        <p:txBody>
          <a:bodyPr wrap="square" rtlCol="0">
            <a:spAutoFit/>
          </a:bodyPr>
          <a:lstStyle/>
          <a:p>
            <a:r>
              <a:rPr lang="en-US" altLang="zh-TW" sz="2400" dirty="0" smtClean="0">
                <a:solidFill>
                  <a:srgbClr val="FF0000"/>
                </a:solidFill>
              </a:rPr>
              <a:t>continuous</a:t>
            </a:r>
            <a:endParaRPr lang="zh-TW" altLang="en-US" sz="2400" dirty="0">
              <a:solidFill>
                <a:srgbClr val="FF0000"/>
              </a:solidFill>
            </a:endParaRPr>
          </a:p>
        </p:txBody>
      </p:sp>
      <mc:AlternateContent xmlns:mc="http://schemas.openxmlformats.org/markup-compatibility/2006" xmlns:a14="http://schemas.microsoft.com/office/drawing/2010/main">
        <mc:Choice Requires="a14">
          <p:sp>
            <p:nvSpPr>
              <p:cNvPr id="9" name="矩形 8"/>
              <p:cNvSpPr/>
              <p:nvPr/>
            </p:nvSpPr>
            <p:spPr>
              <a:xfrm>
                <a:off x="539552" y="1412776"/>
                <a:ext cx="4680520" cy="1412694"/>
              </a:xfrm>
              <a:prstGeom prst="rect">
                <a:avLst/>
              </a:prstGeom>
            </p:spPr>
            <p:txBody>
              <a:bodyPr wrap="square">
                <a:spAutoFit/>
              </a:bodyPr>
              <a:lstStyle/>
              <a:p>
                <a:pPr algn="ctr">
                  <a:spcAft>
                    <a:spcPts val="0"/>
                  </a:spcAft>
                </a:pPr>
                <a:r>
                  <a:rPr lang="en-US" altLang="zh-TW" sz="2400" kern="100" dirty="0" smtClean="0"/>
                  <a:t>F(</a:t>
                </a:r>
                <a14:m>
                  <m:oMath xmlns:m="http://schemas.openxmlformats.org/officeDocument/2006/math">
                    <m:r>
                      <a:rPr lang="en-US" altLang="zh-TW" sz="2400" kern="100">
                        <a:latin typeface="Cambria Math"/>
                      </a:rPr>
                      <m:t>𝜔</m:t>
                    </m:r>
                    <m:r>
                      <a:rPr lang="en-US" altLang="zh-TW" sz="2400" kern="100">
                        <a:latin typeface="Cambria Math"/>
                      </a:rPr>
                      <m:t>)= </m:t>
                    </m:r>
                    <m:f>
                      <m:fPr>
                        <m:ctrlPr>
                          <a:rPr lang="zh-TW" altLang="zh-TW" sz="2400" i="1" kern="100">
                            <a:latin typeface="Cambria Math"/>
                          </a:rPr>
                        </m:ctrlPr>
                      </m:fPr>
                      <m:num>
                        <m:r>
                          <a:rPr lang="en-US" altLang="zh-TW" sz="2400" kern="100">
                            <a:latin typeface="Cambria Math"/>
                          </a:rPr>
                          <m:t>1</m:t>
                        </m:r>
                      </m:num>
                      <m:den>
                        <m:r>
                          <a:rPr lang="en-US" altLang="zh-TW" sz="2400" kern="100">
                            <a:latin typeface="Cambria Math"/>
                          </a:rPr>
                          <m:t>2</m:t>
                        </m:r>
                        <m:r>
                          <a:rPr lang="en-US" altLang="zh-TW" sz="2400" kern="100">
                            <a:latin typeface="Cambria Math"/>
                          </a:rPr>
                          <m:t>𝜋</m:t>
                        </m:r>
                      </m:den>
                    </m:f>
                    <m:nary>
                      <m:naryPr>
                        <m:limLoc m:val="subSup"/>
                        <m:ctrlPr>
                          <a:rPr lang="zh-TW" altLang="zh-TW" sz="2400" i="1" kern="100">
                            <a:latin typeface="Cambria Math"/>
                          </a:rPr>
                        </m:ctrlPr>
                      </m:naryPr>
                      <m:sub>
                        <m:r>
                          <a:rPr lang="en-US" altLang="zh-TW" sz="2400" kern="100">
                            <a:latin typeface="Cambria Math"/>
                          </a:rPr>
                          <m:t>−∞</m:t>
                        </m:r>
                      </m:sub>
                      <m:sup>
                        <m:r>
                          <a:rPr lang="en-US" altLang="zh-TW" sz="2400" kern="100">
                            <a:latin typeface="Cambria Math"/>
                          </a:rPr>
                          <m:t>∞</m:t>
                        </m:r>
                      </m:sup>
                      <m:e>
                        <m:r>
                          <m:rPr>
                            <m:sty m:val="p"/>
                          </m:rPr>
                          <a:rPr lang="en-US" altLang="zh-TW" sz="2400" kern="100">
                            <a:latin typeface="Cambria Math"/>
                          </a:rPr>
                          <m:t>f</m:t>
                        </m:r>
                        <m:d>
                          <m:dPr>
                            <m:ctrlPr>
                              <a:rPr lang="zh-TW" altLang="zh-TW" sz="2400" i="1" kern="100">
                                <a:latin typeface="Cambria Math"/>
                              </a:rPr>
                            </m:ctrlPr>
                          </m:dPr>
                          <m:e>
                            <m:r>
                              <m:rPr>
                                <m:sty m:val="p"/>
                              </m:rPr>
                              <a:rPr lang="en-US" altLang="zh-TW" sz="2400" kern="100">
                                <a:latin typeface="Cambria Math"/>
                              </a:rPr>
                              <m:t>t</m:t>
                            </m:r>
                          </m:e>
                        </m:d>
                        <m:sSup>
                          <m:sSupPr>
                            <m:ctrlPr>
                              <a:rPr lang="zh-TW" altLang="zh-TW" sz="2400" i="1" kern="100">
                                <a:latin typeface="Cambria Math"/>
                              </a:rPr>
                            </m:ctrlPr>
                          </m:sSupPr>
                          <m:e>
                            <m:r>
                              <m:rPr>
                                <m:sty m:val="p"/>
                              </m:rPr>
                              <a:rPr lang="en-US" altLang="zh-TW" sz="2400" kern="100">
                                <a:latin typeface="Cambria Math"/>
                              </a:rPr>
                              <m:t>e</m:t>
                            </m:r>
                          </m:e>
                          <m:sup>
                            <m:r>
                              <a:rPr lang="en-US" altLang="zh-TW" sz="2400" kern="100">
                                <a:latin typeface="Cambria Math"/>
                              </a:rPr>
                              <m:t>−</m:t>
                            </m:r>
                            <m:r>
                              <a:rPr lang="en-US" altLang="zh-TW" sz="2400" kern="100">
                                <a:latin typeface="Cambria Math"/>
                              </a:rPr>
                              <m:t>𝑖</m:t>
                            </m:r>
                            <m:r>
                              <a:rPr lang="en-US" altLang="zh-TW" sz="2400" kern="100">
                                <a:latin typeface="Cambria Math"/>
                              </a:rPr>
                              <m:t>𝜔</m:t>
                            </m:r>
                            <m:r>
                              <m:rPr>
                                <m:sty m:val="p"/>
                              </m:rPr>
                              <a:rPr lang="en-US" altLang="zh-TW" sz="2400" kern="100">
                                <a:latin typeface="Cambria Math"/>
                              </a:rPr>
                              <m:t>t</m:t>
                            </m:r>
                          </m:sup>
                        </m:sSup>
                      </m:e>
                    </m:nary>
                    <m:r>
                      <m:rPr>
                        <m:sty m:val="p"/>
                      </m:rPr>
                      <a:rPr lang="en-US" altLang="zh-TW" sz="2400" kern="100">
                        <a:latin typeface="Cambria Math"/>
                      </a:rPr>
                      <m:t>dt</m:t>
                    </m:r>
                  </m:oMath>
                </a14:m>
                <a:endParaRPr lang="en-US" altLang="zh-TW" sz="2400" kern="100" dirty="0" smtClean="0"/>
              </a:p>
              <a:p>
                <a:pPr algn="ctr"/>
                <a14:m>
                  <m:oMathPara xmlns:m="http://schemas.openxmlformats.org/officeDocument/2006/math">
                    <m:oMathParaPr>
                      <m:jc m:val="centerGroup"/>
                    </m:oMathParaPr>
                    <m:oMath xmlns:m="http://schemas.openxmlformats.org/officeDocument/2006/math">
                      <m:r>
                        <a:rPr lang="en-US" altLang="zh-TW" sz="2400" kern="100">
                          <a:latin typeface="Cambria Math"/>
                        </a:rPr>
                        <m:t>𝑓</m:t>
                      </m:r>
                      <m:d>
                        <m:dPr>
                          <m:ctrlPr>
                            <a:rPr lang="zh-TW" altLang="zh-TW" sz="2400" i="1" kern="100">
                              <a:latin typeface="Cambria Math"/>
                            </a:rPr>
                          </m:ctrlPr>
                        </m:dPr>
                        <m:e>
                          <m:r>
                            <m:rPr>
                              <m:sty m:val="p"/>
                            </m:rPr>
                            <a:rPr lang="en-US" altLang="zh-TW" sz="2400" kern="100">
                              <a:latin typeface="Cambria Math"/>
                            </a:rPr>
                            <m:t>t</m:t>
                          </m:r>
                        </m:e>
                      </m:d>
                      <m:r>
                        <a:rPr lang="en-US" altLang="zh-TW" sz="2400" kern="100">
                          <a:latin typeface="Cambria Math"/>
                        </a:rPr>
                        <m:t>= </m:t>
                      </m:r>
                      <m:nary>
                        <m:naryPr>
                          <m:limLoc m:val="subSup"/>
                          <m:ctrlPr>
                            <a:rPr lang="zh-TW" altLang="zh-TW" sz="2400" i="1" kern="100">
                              <a:latin typeface="Cambria Math"/>
                            </a:rPr>
                          </m:ctrlPr>
                        </m:naryPr>
                        <m:sub>
                          <m:r>
                            <a:rPr lang="en-US" altLang="zh-TW" sz="2400" kern="100">
                              <a:latin typeface="Cambria Math"/>
                            </a:rPr>
                            <m:t>−∞</m:t>
                          </m:r>
                        </m:sub>
                        <m:sup>
                          <m:r>
                            <a:rPr lang="en-US" altLang="zh-TW" sz="2400" kern="100">
                              <a:latin typeface="Cambria Math"/>
                            </a:rPr>
                            <m:t>∞</m:t>
                          </m:r>
                        </m:sup>
                        <m:e>
                          <m:r>
                            <a:rPr lang="en-US" altLang="zh-TW" sz="2400" kern="100">
                              <a:latin typeface="Cambria Math"/>
                            </a:rPr>
                            <m:t>𝐹</m:t>
                          </m:r>
                          <m:r>
                            <a:rPr lang="en-US" altLang="zh-TW" sz="2400" kern="100">
                              <a:latin typeface="Cambria Math"/>
                            </a:rPr>
                            <m:t>(</m:t>
                          </m:r>
                          <m:r>
                            <a:rPr lang="en-US" altLang="zh-TW" sz="2400" kern="100">
                              <a:latin typeface="Cambria Math"/>
                            </a:rPr>
                            <m:t>𝜔</m:t>
                          </m:r>
                          <m:r>
                            <a:rPr lang="en-US" altLang="zh-TW" sz="2400" kern="100">
                              <a:latin typeface="Cambria Math"/>
                            </a:rPr>
                            <m:t>)</m:t>
                          </m:r>
                        </m:e>
                      </m:nary>
                      <m:sSup>
                        <m:sSupPr>
                          <m:ctrlPr>
                            <a:rPr lang="zh-TW" altLang="zh-TW" sz="2400" i="1" kern="100">
                              <a:latin typeface="Cambria Math"/>
                            </a:rPr>
                          </m:ctrlPr>
                        </m:sSupPr>
                        <m:e>
                          <m:r>
                            <m:rPr>
                              <m:sty m:val="p"/>
                            </m:rPr>
                            <a:rPr lang="en-US" altLang="zh-TW" sz="2400" kern="100">
                              <a:latin typeface="Cambria Math"/>
                            </a:rPr>
                            <m:t>e</m:t>
                          </m:r>
                        </m:e>
                        <m:sup>
                          <m:r>
                            <a:rPr lang="en-US" altLang="zh-TW" sz="2400" kern="100">
                              <a:latin typeface="Cambria Math"/>
                            </a:rPr>
                            <m:t>𝑖</m:t>
                          </m:r>
                          <m:r>
                            <a:rPr lang="en-US" altLang="zh-TW" sz="2400" kern="100">
                              <a:latin typeface="Cambria Math"/>
                            </a:rPr>
                            <m:t>𝜔</m:t>
                          </m:r>
                          <m:r>
                            <a:rPr lang="en-US" altLang="zh-TW" sz="2400" kern="100">
                              <a:latin typeface="Cambria Math"/>
                            </a:rPr>
                            <m:t>𝑡</m:t>
                          </m:r>
                        </m:sup>
                      </m:sSup>
                      <m:r>
                        <a:rPr lang="en-US" altLang="zh-TW" sz="2400" kern="100">
                          <a:latin typeface="Cambria Math"/>
                        </a:rPr>
                        <m:t>𝑑</m:t>
                      </m:r>
                      <m:r>
                        <a:rPr lang="en-US" altLang="zh-TW" sz="2400" kern="100">
                          <a:latin typeface="Cambria Math"/>
                        </a:rPr>
                        <m:t>𝜔</m:t>
                      </m:r>
                    </m:oMath>
                  </m:oMathPara>
                </a14:m>
                <a:endParaRPr lang="zh-TW" altLang="zh-TW" sz="2400" kern="100" dirty="0">
                  <a:cs typeface="Times New Roman"/>
                </a:endParaRPr>
              </a:p>
            </p:txBody>
          </p:sp>
        </mc:Choice>
        <mc:Fallback xmlns="">
          <p:sp>
            <p:nvSpPr>
              <p:cNvPr id="9" name="矩形 8"/>
              <p:cNvSpPr>
                <a:spLocks noRot="1" noChangeAspect="1" noMove="1" noResize="1" noEditPoints="1" noAdjustHandles="1" noChangeArrowheads="1" noChangeShapeType="1" noTextEdit="1"/>
              </p:cNvSpPr>
              <p:nvPr/>
            </p:nvSpPr>
            <p:spPr>
              <a:xfrm>
                <a:off x="539552" y="1412776"/>
                <a:ext cx="4680520" cy="1412694"/>
              </a:xfrm>
              <a:prstGeom prst="rect">
                <a:avLst/>
              </a:prstGeom>
              <a:blipFill rotWithShape="1">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p:cNvSpPr txBox="1"/>
              <p:nvPr/>
            </p:nvSpPr>
            <p:spPr>
              <a:xfrm>
                <a:off x="395536" y="2924944"/>
                <a:ext cx="4392488" cy="21699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a:rPr>
                          </m:ctrlPr>
                        </m:sSubPr>
                        <m:e>
                          <m:r>
                            <a:rPr lang="en-US" altLang="zh-TW" sz="2400" b="0" i="1" smtClean="0">
                              <a:latin typeface="Cambria Math"/>
                            </a:rPr>
                            <m:t>𝑋</m:t>
                          </m:r>
                        </m:e>
                        <m:sub>
                          <m:r>
                            <a:rPr lang="en-US" altLang="zh-TW" sz="2400" b="0" i="1" smtClean="0">
                              <a:latin typeface="Cambria Math"/>
                            </a:rPr>
                            <m:t>𝑘</m:t>
                          </m:r>
                        </m:sub>
                      </m:sSub>
                      <m:r>
                        <a:rPr lang="en-US" altLang="zh-TW" sz="2400" b="0" i="1" smtClean="0">
                          <a:latin typeface="Cambria Math"/>
                        </a:rPr>
                        <m:t>=</m:t>
                      </m:r>
                      <m:nary>
                        <m:naryPr>
                          <m:chr m:val="∑"/>
                          <m:ctrlPr>
                            <a:rPr lang="en-US" altLang="zh-TW" sz="2400" b="0" i="1" smtClean="0">
                              <a:latin typeface="Cambria Math"/>
                            </a:rPr>
                          </m:ctrlPr>
                        </m:naryPr>
                        <m:sub>
                          <m:r>
                            <m:rPr>
                              <m:brk m:alnAt="23"/>
                            </m:rPr>
                            <a:rPr lang="en-US" altLang="zh-TW" sz="2400" b="0" i="1" smtClean="0">
                              <a:latin typeface="Cambria Math"/>
                            </a:rPr>
                            <m:t>𝑛</m:t>
                          </m:r>
                          <m:r>
                            <a:rPr lang="en-US" altLang="zh-TW" sz="2400" b="0" i="1" smtClean="0">
                              <a:latin typeface="Cambria Math"/>
                            </a:rPr>
                            <m:t>=0</m:t>
                          </m:r>
                        </m:sub>
                        <m:sup>
                          <m:r>
                            <a:rPr lang="en-US" altLang="zh-TW" sz="2400" b="0" i="1" smtClean="0">
                              <a:latin typeface="Cambria Math"/>
                            </a:rPr>
                            <m:t>𝑁</m:t>
                          </m:r>
                          <m:r>
                            <a:rPr lang="en-US" altLang="zh-TW" sz="2400" b="0" i="1" smtClean="0">
                              <a:latin typeface="Cambria Math"/>
                            </a:rPr>
                            <m:t>−1</m:t>
                          </m:r>
                        </m:sup>
                        <m:e>
                          <m:sSub>
                            <m:sSubPr>
                              <m:ctrlPr>
                                <a:rPr lang="en-US" altLang="zh-TW" sz="2400" b="0" i="1" smtClean="0">
                                  <a:latin typeface="Cambria Math"/>
                                </a:rPr>
                              </m:ctrlPr>
                            </m:sSubPr>
                            <m:e>
                              <m:r>
                                <a:rPr lang="en-US" altLang="zh-TW" sz="2400" b="0" i="1" smtClean="0">
                                  <a:latin typeface="Cambria Math"/>
                                </a:rPr>
                                <m:t>𝑥</m:t>
                              </m:r>
                            </m:e>
                            <m:sub>
                              <m:r>
                                <a:rPr lang="en-US" altLang="zh-TW" sz="2400" b="0" i="1" smtClean="0">
                                  <a:latin typeface="Cambria Math"/>
                                </a:rPr>
                                <m:t>𝑛</m:t>
                              </m:r>
                            </m:sub>
                          </m:sSub>
                          <m:sSup>
                            <m:sSupPr>
                              <m:ctrlPr>
                                <a:rPr lang="en-US" altLang="zh-TW" sz="2400" b="0" i="1" smtClean="0">
                                  <a:latin typeface="Cambria Math"/>
                                </a:rPr>
                              </m:ctrlPr>
                            </m:sSupPr>
                            <m:e>
                              <m:r>
                                <a:rPr lang="en-US" altLang="zh-TW" sz="2400" b="0" i="1" smtClean="0">
                                  <a:latin typeface="Cambria Math"/>
                                </a:rPr>
                                <m:t>𝑒</m:t>
                              </m:r>
                            </m:e>
                            <m:sup>
                              <m:r>
                                <a:rPr lang="en-US" altLang="zh-TW" sz="2400" b="0" i="1" smtClean="0">
                                  <a:latin typeface="Cambria Math"/>
                                </a:rPr>
                                <m:t>−</m:t>
                              </m:r>
                              <m:r>
                                <a:rPr lang="en-US" altLang="zh-TW" sz="2400" b="0" i="1" smtClean="0">
                                  <a:latin typeface="Cambria Math"/>
                                </a:rPr>
                                <m:t>𝑖</m:t>
                              </m:r>
                              <m:sSub>
                                <m:sSubPr>
                                  <m:ctrlPr>
                                    <a:rPr lang="en-US" altLang="zh-TW" sz="2400" b="0" i="1" smtClean="0">
                                      <a:latin typeface="Cambria Math"/>
                                    </a:rPr>
                                  </m:ctrlPr>
                                </m:sSubPr>
                                <m:e>
                                  <m:r>
                                    <a:rPr lang="en-US" altLang="zh-TW" sz="2400" b="0" i="1" smtClean="0">
                                      <a:latin typeface="Cambria Math"/>
                                      <a:ea typeface="Cambria Math"/>
                                    </a:rPr>
                                    <m:t>𝜔</m:t>
                                  </m:r>
                                </m:e>
                                <m:sub>
                                  <m:r>
                                    <a:rPr lang="en-US" altLang="zh-TW" sz="2400" b="0" i="1" smtClean="0">
                                      <a:latin typeface="Cambria Math"/>
                                    </a:rPr>
                                    <m:t>𝑘</m:t>
                                  </m:r>
                                </m:sub>
                              </m:sSub>
                              <m:r>
                                <a:rPr lang="en-US" altLang="zh-TW" sz="2400" b="0" i="1" smtClean="0">
                                  <a:latin typeface="Cambria Math"/>
                                </a:rPr>
                                <m:t>𝑛</m:t>
                              </m:r>
                            </m:sup>
                          </m:sSup>
                        </m:e>
                      </m:nary>
                    </m:oMath>
                  </m:oMathPara>
                </a14:m>
                <a:endParaRPr lang="en-US" altLang="zh-TW" sz="2400" dirty="0" smtClean="0"/>
              </a:p>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a:rPr>
                          </m:ctrlPr>
                        </m:sSubPr>
                        <m:e>
                          <m:r>
                            <a:rPr lang="en-US" altLang="zh-TW" sz="2400" b="0" i="1" smtClean="0">
                              <a:latin typeface="Cambria Math"/>
                            </a:rPr>
                            <m:t>𝑥</m:t>
                          </m:r>
                        </m:e>
                        <m:sub>
                          <m:r>
                            <a:rPr lang="en-US" altLang="zh-TW" sz="2400" b="0" i="1" smtClean="0">
                              <a:latin typeface="Cambria Math"/>
                            </a:rPr>
                            <m:t>𝑛</m:t>
                          </m:r>
                        </m:sub>
                      </m:sSub>
                      <m:r>
                        <a:rPr lang="en-US" altLang="zh-TW" sz="2400" b="0" i="1" smtClean="0">
                          <a:latin typeface="Cambria Math"/>
                        </a:rPr>
                        <m:t>=</m:t>
                      </m:r>
                      <m:f>
                        <m:fPr>
                          <m:ctrlPr>
                            <a:rPr lang="en-US" altLang="zh-TW" sz="2400" b="0" i="1" smtClean="0">
                              <a:latin typeface="Cambria Math"/>
                            </a:rPr>
                          </m:ctrlPr>
                        </m:fPr>
                        <m:num>
                          <m:r>
                            <a:rPr lang="en-US" altLang="zh-TW" sz="2400" b="0" i="1" smtClean="0">
                              <a:latin typeface="Cambria Math"/>
                            </a:rPr>
                            <m:t>1</m:t>
                          </m:r>
                        </m:num>
                        <m:den>
                          <m:r>
                            <a:rPr lang="en-US" altLang="zh-TW" sz="2400" b="0" i="1" smtClean="0">
                              <a:latin typeface="Cambria Math"/>
                            </a:rPr>
                            <m:t>𝑁</m:t>
                          </m:r>
                        </m:den>
                      </m:f>
                      <m:nary>
                        <m:naryPr>
                          <m:chr m:val="∑"/>
                          <m:ctrlPr>
                            <a:rPr lang="en-US" altLang="zh-TW" sz="2400" b="0" i="1" smtClean="0">
                              <a:latin typeface="Cambria Math"/>
                            </a:rPr>
                          </m:ctrlPr>
                        </m:naryPr>
                        <m:sub>
                          <m:r>
                            <m:rPr>
                              <m:brk m:alnAt="23"/>
                            </m:rPr>
                            <a:rPr lang="en-US" altLang="zh-TW" sz="2400" b="0" i="1" smtClean="0">
                              <a:latin typeface="Cambria Math"/>
                            </a:rPr>
                            <m:t>𝑘</m:t>
                          </m:r>
                          <m:r>
                            <a:rPr lang="en-US" altLang="zh-TW" sz="2400" b="0" i="1" smtClean="0">
                              <a:latin typeface="Cambria Math"/>
                            </a:rPr>
                            <m:t>=0</m:t>
                          </m:r>
                        </m:sub>
                        <m:sup>
                          <m:r>
                            <a:rPr lang="en-US" altLang="zh-TW" sz="2400" b="0" i="1" smtClean="0">
                              <a:latin typeface="Cambria Math"/>
                            </a:rPr>
                            <m:t>𝑁</m:t>
                          </m:r>
                          <m:r>
                            <a:rPr lang="en-US" altLang="zh-TW" sz="2400" b="0" i="1" smtClean="0">
                              <a:latin typeface="Cambria Math"/>
                            </a:rPr>
                            <m:t>−1</m:t>
                          </m:r>
                        </m:sup>
                        <m:e>
                          <m:sSub>
                            <m:sSubPr>
                              <m:ctrlPr>
                                <a:rPr lang="en-US" altLang="zh-TW" sz="2400" b="0" i="1" smtClean="0">
                                  <a:latin typeface="Cambria Math"/>
                                </a:rPr>
                              </m:ctrlPr>
                            </m:sSubPr>
                            <m:e>
                              <m:r>
                                <a:rPr lang="en-US" altLang="zh-TW" sz="2400" b="0" i="1" smtClean="0">
                                  <a:latin typeface="Cambria Math"/>
                                </a:rPr>
                                <m:t>𝑋</m:t>
                              </m:r>
                            </m:e>
                            <m:sub>
                              <m:r>
                                <a:rPr lang="en-US" altLang="zh-TW" sz="2400" b="0" i="1" smtClean="0">
                                  <a:latin typeface="Cambria Math"/>
                                </a:rPr>
                                <m:t>𝑘</m:t>
                              </m:r>
                            </m:sub>
                          </m:sSub>
                          <m:sSup>
                            <m:sSupPr>
                              <m:ctrlPr>
                                <a:rPr lang="en-US" altLang="zh-TW" sz="2400" b="0" i="1" smtClean="0">
                                  <a:latin typeface="Cambria Math"/>
                                </a:rPr>
                              </m:ctrlPr>
                            </m:sSupPr>
                            <m:e>
                              <m:r>
                                <a:rPr lang="en-US" altLang="zh-TW" sz="2400" b="0" i="1" smtClean="0">
                                  <a:latin typeface="Cambria Math"/>
                                </a:rPr>
                                <m:t>𝑒</m:t>
                              </m:r>
                            </m:e>
                            <m:sup>
                              <m:r>
                                <a:rPr lang="en-US" altLang="zh-TW" sz="2400" b="0" i="1" smtClean="0">
                                  <a:latin typeface="Cambria Math"/>
                                </a:rPr>
                                <m:t>𝑖</m:t>
                              </m:r>
                              <m:sSub>
                                <m:sSubPr>
                                  <m:ctrlPr>
                                    <a:rPr lang="en-US" altLang="zh-TW" sz="2400" b="0" i="1" smtClean="0">
                                      <a:latin typeface="Cambria Math"/>
                                    </a:rPr>
                                  </m:ctrlPr>
                                </m:sSubPr>
                                <m:e>
                                  <m:r>
                                    <a:rPr lang="en-US" altLang="zh-TW" sz="2400" b="0" i="1" smtClean="0">
                                      <a:latin typeface="Cambria Math"/>
                                      <a:ea typeface="Cambria Math"/>
                                    </a:rPr>
                                    <m:t>𝜔</m:t>
                                  </m:r>
                                </m:e>
                                <m:sub>
                                  <m:r>
                                    <a:rPr lang="en-US" altLang="zh-TW" sz="2400" b="0" i="1" smtClean="0">
                                      <a:latin typeface="Cambria Math"/>
                                    </a:rPr>
                                    <m:t>𝑛</m:t>
                                  </m:r>
                                </m:sub>
                              </m:sSub>
                              <m:r>
                                <a:rPr lang="en-US" altLang="zh-TW" sz="2400" b="0" i="1" smtClean="0">
                                  <a:latin typeface="Cambria Math"/>
                                </a:rPr>
                                <m:t>𝑘</m:t>
                              </m:r>
                            </m:sup>
                          </m:sSup>
                        </m:e>
                      </m:nary>
                    </m:oMath>
                  </m:oMathPara>
                </a14:m>
                <a:endParaRPr lang="zh-TW" altLang="en-US" sz="24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395536" y="2924944"/>
                <a:ext cx="4392488" cy="2169953"/>
              </a:xfrm>
              <a:prstGeom prst="rect">
                <a:avLst/>
              </a:prstGeom>
              <a:blipFill rotWithShape="1">
                <a:blip r:embed="rId3"/>
                <a:stretch>
                  <a:fillRect/>
                </a:stretch>
              </a:blipFill>
            </p:spPr>
            <p:txBody>
              <a:bodyPr/>
              <a:lstStyle/>
              <a:p>
                <a:r>
                  <a:rPr lang="zh-TW" altLang="en-US">
                    <a:noFill/>
                  </a:rPr>
                  <a:t> </a:t>
                </a:r>
              </a:p>
            </p:txBody>
          </p:sp>
        </mc:Fallback>
      </mc:AlternateContent>
      <p:sp>
        <p:nvSpPr>
          <p:cNvPr id="12" name="文字方塊 11"/>
          <p:cNvSpPr txBox="1"/>
          <p:nvPr/>
        </p:nvSpPr>
        <p:spPr>
          <a:xfrm>
            <a:off x="5829808" y="3861048"/>
            <a:ext cx="1656184" cy="461665"/>
          </a:xfrm>
          <a:prstGeom prst="rect">
            <a:avLst/>
          </a:prstGeom>
          <a:noFill/>
        </p:spPr>
        <p:txBody>
          <a:bodyPr wrap="square" rtlCol="0">
            <a:spAutoFit/>
          </a:bodyPr>
          <a:lstStyle/>
          <a:p>
            <a:r>
              <a:rPr lang="en-US" altLang="zh-TW" sz="2400" dirty="0" smtClean="0">
                <a:solidFill>
                  <a:srgbClr val="FF0000"/>
                </a:solidFill>
              </a:rPr>
              <a:t>discrete</a:t>
            </a:r>
            <a:endParaRPr lang="zh-TW" altLang="en-US" sz="2400" dirty="0">
              <a:solidFill>
                <a:srgbClr val="FF0000"/>
              </a:solidFill>
            </a:endParaRPr>
          </a:p>
        </p:txBody>
      </p:sp>
      <p:sp>
        <p:nvSpPr>
          <p:cNvPr id="10" name="文字方塊 9"/>
          <p:cNvSpPr txBox="1"/>
          <p:nvPr/>
        </p:nvSpPr>
        <p:spPr>
          <a:xfrm>
            <a:off x="1115616" y="5506812"/>
            <a:ext cx="6768752" cy="1200329"/>
          </a:xfrm>
          <a:prstGeom prst="rect">
            <a:avLst/>
          </a:prstGeom>
          <a:noFill/>
        </p:spPr>
        <p:txBody>
          <a:bodyPr wrap="square" rtlCol="0">
            <a:spAutoFit/>
          </a:bodyPr>
          <a:lstStyle/>
          <a:p>
            <a:r>
              <a:rPr lang="en-US" altLang="zh-TW" sz="2400" dirty="0" smtClean="0"/>
              <a:t>x=[1,2,3,4,5,6,7, 8]</a:t>
            </a:r>
          </a:p>
          <a:p>
            <a:r>
              <a:rPr lang="en-US" altLang="zh-TW" sz="2400" dirty="0" smtClean="0"/>
              <a:t>X=</a:t>
            </a:r>
            <a:r>
              <a:rPr lang="nn-NO" altLang="zh-TW" sz="2400" dirty="0" smtClean="0"/>
              <a:t> [36,   </a:t>
            </a:r>
            <a:r>
              <a:rPr lang="nn-NO" altLang="zh-TW" sz="2400" dirty="0">
                <a:solidFill>
                  <a:srgbClr val="0070C0"/>
                </a:solidFill>
              </a:rPr>
              <a:t>-</a:t>
            </a:r>
            <a:r>
              <a:rPr lang="nn-NO" altLang="zh-TW" sz="2400" dirty="0" smtClean="0">
                <a:solidFill>
                  <a:srgbClr val="0070C0"/>
                </a:solidFill>
              </a:rPr>
              <a:t>4+ 9.6569i</a:t>
            </a:r>
            <a:r>
              <a:rPr lang="nn-NO" altLang="zh-TW" sz="2400" dirty="0" smtClean="0">
                <a:solidFill>
                  <a:srgbClr val="FF0000"/>
                </a:solidFill>
              </a:rPr>
              <a:t>,   </a:t>
            </a:r>
            <a:r>
              <a:rPr lang="nn-NO" altLang="zh-TW" sz="2400" dirty="0">
                <a:solidFill>
                  <a:srgbClr val="FF0000"/>
                </a:solidFill>
              </a:rPr>
              <a:t>-</a:t>
            </a:r>
            <a:r>
              <a:rPr lang="nn-NO" altLang="zh-TW" sz="2400" dirty="0" smtClean="0">
                <a:solidFill>
                  <a:srgbClr val="FF0000"/>
                </a:solidFill>
              </a:rPr>
              <a:t>4 </a:t>
            </a:r>
            <a:r>
              <a:rPr lang="nn-NO" altLang="zh-TW" sz="2400" dirty="0">
                <a:solidFill>
                  <a:srgbClr val="FF0000"/>
                </a:solidFill>
              </a:rPr>
              <a:t>+ </a:t>
            </a:r>
            <a:r>
              <a:rPr lang="nn-NO" altLang="zh-TW" sz="2400" dirty="0" smtClean="0">
                <a:solidFill>
                  <a:srgbClr val="FF0000"/>
                </a:solidFill>
              </a:rPr>
              <a:t>4i</a:t>
            </a:r>
            <a:r>
              <a:rPr lang="nn-NO" altLang="zh-TW" sz="2400" dirty="0" smtClean="0">
                <a:solidFill>
                  <a:srgbClr val="00B050"/>
                </a:solidFill>
              </a:rPr>
              <a:t>,  </a:t>
            </a:r>
            <a:r>
              <a:rPr lang="nn-NO" altLang="zh-TW" sz="2400" dirty="0">
                <a:solidFill>
                  <a:srgbClr val="00B050"/>
                </a:solidFill>
              </a:rPr>
              <a:t>-</a:t>
            </a:r>
            <a:r>
              <a:rPr lang="nn-NO" altLang="zh-TW" sz="2400" dirty="0" smtClean="0">
                <a:solidFill>
                  <a:srgbClr val="00B050"/>
                </a:solidFill>
              </a:rPr>
              <a:t>4. </a:t>
            </a:r>
            <a:r>
              <a:rPr lang="nn-NO" altLang="zh-TW" sz="2400" dirty="0">
                <a:solidFill>
                  <a:srgbClr val="00B050"/>
                </a:solidFill>
              </a:rPr>
              <a:t>+ 1.6569i</a:t>
            </a:r>
            <a:r>
              <a:rPr lang="nn-NO" altLang="zh-TW" sz="2400" dirty="0"/>
              <a:t>, </a:t>
            </a:r>
            <a:br>
              <a:rPr lang="nn-NO" altLang="zh-TW" sz="2400" dirty="0"/>
            </a:br>
            <a:r>
              <a:rPr lang="nn-NO" altLang="zh-TW" sz="2400" dirty="0"/>
              <a:t>       -4, </a:t>
            </a:r>
            <a:r>
              <a:rPr lang="nn-NO" altLang="zh-TW" sz="2400" dirty="0" smtClean="0"/>
              <a:t>   </a:t>
            </a:r>
            <a:r>
              <a:rPr lang="nn-NO" altLang="zh-TW" sz="2400" dirty="0" smtClean="0">
                <a:solidFill>
                  <a:srgbClr val="00B050"/>
                </a:solidFill>
              </a:rPr>
              <a:t>-4-1.6569i </a:t>
            </a:r>
            <a:r>
              <a:rPr lang="nn-NO" altLang="zh-TW" sz="2400" dirty="0" smtClean="0"/>
              <a:t>,   </a:t>
            </a:r>
            <a:r>
              <a:rPr lang="nn-NO" altLang="zh-TW" sz="2400" dirty="0">
                <a:solidFill>
                  <a:srgbClr val="FF0000"/>
                </a:solidFill>
              </a:rPr>
              <a:t>-</a:t>
            </a:r>
            <a:r>
              <a:rPr lang="nn-NO" altLang="zh-TW" sz="2400" dirty="0" smtClean="0">
                <a:solidFill>
                  <a:srgbClr val="FF0000"/>
                </a:solidFill>
              </a:rPr>
              <a:t>4 </a:t>
            </a:r>
            <a:r>
              <a:rPr lang="nn-NO" altLang="zh-TW" sz="2400" dirty="0">
                <a:solidFill>
                  <a:srgbClr val="FF0000"/>
                </a:solidFill>
              </a:rPr>
              <a:t>- </a:t>
            </a:r>
            <a:r>
              <a:rPr lang="nn-NO" altLang="zh-TW" sz="2400" dirty="0" smtClean="0">
                <a:solidFill>
                  <a:srgbClr val="FF0000"/>
                </a:solidFill>
              </a:rPr>
              <a:t>4i</a:t>
            </a:r>
            <a:r>
              <a:rPr lang="nn-NO" altLang="zh-TW" sz="2400" dirty="0" smtClean="0"/>
              <a:t>,   </a:t>
            </a:r>
            <a:r>
              <a:rPr lang="nn-NO" altLang="zh-TW" sz="2400" dirty="0">
                <a:solidFill>
                  <a:srgbClr val="0070C0"/>
                </a:solidFill>
              </a:rPr>
              <a:t>-</a:t>
            </a:r>
            <a:r>
              <a:rPr lang="nn-NO" altLang="zh-TW" sz="2400" dirty="0" smtClean="0">
                <a:solidFill>
                  <a:srgbClr val="0070C0"/>
                </a:solidFill>
              </a:rPr>
              <a:t>4 </a:t>
            </a:r>
            <a:r>
              <a:rPr lang="nn-NO" altLang="zh-TW" sz="2400" dirty="0">
                <a:solidFill>
                  <a:srgbClr val="0070C0"/>
                </a:solidFill>
              </a:rPr>
              <a:t>- </a:t>
            </a:r>
            <a:r>
              <a:rPr lang="nn-NO" altLang="zh-TW" sz="2400" dirty="0" smtClean="0">
                <a:solidFill>
                  <a:srgbClr val="0070C0"/>
                </a:solidFill>
              </a:rPr>
              <a:t>9.6569i</a:t>
            </a:r>
            <a:r>
              <a:rPr lang="nn-NO" altLang="zh-TW" sz="2400" dirty="0" smtClean="0"/>
              <a:t>]</a:t>
            </a:r>
            <a:endParaRPr lang="zh-TW" altLang="en-US" sz="2400" dirty="0"/>
          </a:p>
        </p:txBody>
      </p:sp>
    </p:spTree>
    <p:extLst>
      <p:ext uri="{BB962C8B-B14F-4D97-AF65-F5344CB8AC3E}">
        <p14:creationId xmlns:p14="http://schemas.microsoft.com/office/powerpoint/2010/main" val="6897699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DFB2A201-8A46-40D3-BE72-AC6B75F3F883}" type="slidenum">
              <a:rPr lang="zh-TW" altLang="en-US" smtClean="0"/>
              <a:pPr/>
              <a:t>8</a:t>
            </a:fld>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385856"/>
            <a:ext cx="9049780" cy="5760640"/>
          </a:xfrm>
          <a:prstGeom prst="rect">
            <a:avLst/>
          </a:prstGeom>
        </p:spPr>
      </p:pic>
    </p:spTree>
    <p:extLst>
      <p:ext uri="{BB962C8B-B14F-4D97-AF65-F5344CB8AC3E}">
        <p14:creationId xmlns:p14="http://schemas.microsoft.com/office/powerpoint/2010/main" val="2572433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DFB2A201-8A46-40D3-BE72-AC6B75F3F883}" type="slidenum">
              <a:rPr lang="zh-TW" altLang="en-US" smtClean="0"/>
              <a:pPr/>
              <a:t>9</a:t>
            </a:fld>
            <a:endParaRPr lang="zh-TW" altLang="en-US"/>
          </a:p>
        </p:txBody>
      </p:sp>
      <p:sp>
        <p:nvSpPr>
          <p:cNvPr id="4" name="Rectangle 5"/>
          <p:cNvSpPr>
            <a:spLocks noChangeArrowheads="1"/>
          </p:cNvSpPr>
          <p:nvPr/>
        </p:nvSpPr>
        <p:spPr bwMode="auto">
          <a:xfrm>
            <a:off x="395288" y="688336"/>
            <a:ext cx="5035033" cy="136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tabLst>
                <a:tab pos="914400" algn="l"/>
              </a:tabLst>
            </a:pPr>
            <a:r>
              <a:rPr lang="en-US" altLang="zh-TW" dirty="0"/>
              <a:t>Example: </a:t>
            </a:r>
            <a:r>
              <a:rPr lang="en-US" altLang="zh-TW" i="1" dirty="0"/>
              <a:t>x</a:t>
            </a:r>
            <a:r>
              <a:rPr lang="en-US" altLang="zh-TW" dirty="0"/>
              <a:t>(</a:t>
            </a:r>
            <a:r>
              <a:rPr lang="en-US" altLang="zh-TW" i="1" dirty="0"/>
              <a:t>t</a:t>
            </a:r>
            <a:r>
              <a:rPr lang="en-US" altLang="zh-TW" dirty="0"/>
              <a:t>) = </a:t>
            </a:r>
            <a:r>
              <a:rPr lang="en-US" altLang="zh-TW" dirty="0" err="1"/>
              <a:t>cos</a:t>
            </a:r>
            <a:r>
              <a:rPr lang="en-US" altLang="zh-TW" dirty="0"/>
              <a:t>(</a:t>
            </a:r>
            <a:r>
              <a:rPr lang="en-US" altLang="zh-TW" i="1" dirty="0">
                <a:sym typeface="Symbol" pitchFamily="18" charset="2"/>
              </a:rPr>
              <a:t></a:t>
            </a:r>
            <a:r>
              <a:rPr lang="en-US" altLang="zh-TW" i="1" dirty="0"/>
              <a:t> t</a:t>
            </a:r>
            <a:r>
              <a:rPr lang="en-US" altLang="zh-TW" dirty="0">
                <a:sym typeface="Symbol" pitchFamily="18" charset="2"/>
              </a:rPr>
              <a:t>) </a:t>
            </a:r>
            <a:r>
              <a:rPr lang="en-US" altLang="zh-TW" dirty="0" smtClean="0">
                <a:sym typeface="Symbol" pitchFamily="18" charset="2"/>
              </a:rPr>
              <a:t>(0.5Hz) when </a:t>
            </a:r>
            <a:r>
              <a:rPr lang="en-US" altLang="zh-TW" i="1" dirty="0">
                <a:sym typeface="Symbol" pitchFamily="18" charset="2"/>
              </a:rPr>
              <a:t>t</a:t>
            </a:r>
            <a:r>
              <a:rPr lang="en-US" altLang="zh-TW" dirty="0">
                <a:sym typeface="Symbol" pitchFamily="18" charset="2"/>
              </a:rPr>
              <a:t> &lt; 10,</a:t>
            </a:r>
            <a:endParaRPr lang="en-US" altLang="zh-TW" i="1" dirty="0">
              <a:sym typeface="Symbol" pitchFamily="18" charset="2"/>
            </a:endParaRPr>
          </a:p>
          <a:p>
            <a:pPr eaLnBrk="0" hangingPunct="0">
              <a:spcBef>
                <a:spcPct val="20000"/>
              </a:spcBef>
              <a:tabLst>
                <a:tab pos="914400" algn="l"/>
              </a:tabLst>
            </a:pPr>
            <a:r>
              <a:rPr lang="en-US" altLang="zh-TW" i="1" dirty="0">
                <a:sym typeface="Symbol" pitchFamily="18" charset="2"/>
              </a:rPr>
              <a:t>	  x</a:t>
            </a:r>
            <a:r>
              <a:rPr lang="en-US" altLang="zh-TW" dirty="0">
                <a:sym typeface="Symbol" pitchFamily="18" charset="2"/>
              </a:rPr>
              <a:t>(</a:t>
            </a:r>
            <a:r>
              <a:rPr lang="en-US" altLang="zh-TW" i="1" dirty="0">
                <a:sym typeface="Symbol" pitchFamily="18" charset="2"/>
              </a:rPr>
              <a:t>t</a:t>
            </a:r>
            <a:r>
              <a:rPr lang="en-US" altLang="zh-TW" dirty="0">
                <a:sym typeface="Symbol" pitchFamily="18" charset="2"/>
              </a:rPr>
              <a:t>) = </a:t>
            </a:r>
            <a:r>
              <a:rPr lang="en-US" altLang="zh-TW" dirty="0" err="1">
                <a:sym typeface="Symbol" pitchFamily="18" charset="2"/>
              </a:rPr>
              <a:t>cos</a:t>
            </a:r>
            <a:r>
              <a:rPr lang="en-US" altLang="zh-TW" dirty="0">
                <a:sym typeface="Symbol" pitchFamily="18" charset="2"/>
              </a:rPr>
              <a:t>(3</a:t>
            </a:r>
            <a:r>
              <a:rPr lang="en-US" altLang="zh-TW" i="1" dirty="0">
                <a:sym typeface="Symbol" pitchFamily="18" charset="2"/>
              </a:rPr>
              <a:t></a:t>
            </a:r>
            <a:r>
              <a:rPr lang="en-US" altLang="zh-TW" i="1" dirty="0"/>
              <a:t> t</a:t>
            </a:r>
            <a:r>
              <a:rPr lang="en-US" altLang="zh-TW" dirty="0">
                <a:sym typeface="Symbol" pitchFamily="18" charset="2"/>
              </a:rPr>
              <a:t>) </a:t>
            </a:r>
            <a:r>
              <a:rPr lang="en-US" altLang="zh-TW" dirty="0" smtClean="0">
                <a:sym typeface="Symbol" pitchFamily="18" charset="2"/>
              </a:rPr>
              <a:t>(1.5 Hz) when </a:t>
            </a:r>
            <a:r>
              <a:rPr lang="en-US" altLang="zh-TW" dirty="0">
                <a:sym typeface="Symbol" pitchFamily="18" charset="2"/>
              </a:rPr>
              <a:t>10 </a:t>
            </a:r>
            <a:r>
              <a:rPr lang="en-US" altLang="zh-TW" i="1" dirty="0"/>
              <a:t> </a:t>
            </a:r>
            <a:r>
              <a:rPr lang="en-US" altLang="zh-TW" i="1" dirty="0">
                <a:sym typeface="Symbol" pitchFamily="18" charset="2"/>
              </a:rPr>
              <a:t>t</a:t>
            </a:r>
            <a:r>
              <a:rPr lang="en-US" altLang="zh-TW" dirty="0">
                <a:sym typeface="Symbol" pitchFamily="18" charset="2"/>
              </a:rPr>
              <a:t> &lt; 20,</a:t>
            </a:r>
            <a:endParaRPr lang="en-US" altLang="zh-TW" i="1" dirty="0">
              <a:sym typeface="Symbol" pitchFamily="18" charset="2"/>
            </a:endParaRPr>
          </a:p>
          <a:p>
            <a:pPr eaLnBrk="0" hangingPunct="0">
              <a:spcBef>
                <a:spcPct val="20000"/>
              </a:spcBef>
              <a:tabLst>
                <a:tab pos="914400" algn="l"/>
              </a:tabLst>
            </a:pPr>
            <a:r>
              <a:rPr lang="en-US" altLang="zh-TW" i="1" dirty="0">
                <a:sym typeface="Symbol" pitchFamily="18" charset="2"/>
              </a:rPr>
              <a:t>	  x</a:t>
            </a:r>
            <a:r>
              <a:rPr lang="en-US" altLang="zh-TW" dirty="0">
                <a:sym typeface="Symbol" pitchFamily="18" charset="2"/>
              </a:rPr>
              <a:t>(</a:t>
            </a:r>
            <a:r>
              <a:rPr lang="en-US" altLang="zh-TW" i="1" dirty="0">
                <a:sym typeface="Symbol" pitchFamily="18" charset="2"/>
              </a:rPr>
              <a:t>t</a:t>
            </a:r>
            <a:r>
              <a:rPr lang="en-US" altLang="zh-TW" dirty="0">
                <a:sym typeface="Symbol" pitchFamily="18" charset="2"/>
              </a:rPr>
              <a:t>) = </a:t>
            </a:r>
            <a:r>
              <a:rPr lang="en-US" altLang="zh-TW" dirty="0" err="1">
                <a:sym typeface="Symbol" pitchFamily="18" charset="2"/>
              </a:rPr>
              <a:t>cos</a:t>
            </a:r>
            <a:r>
              <a:rPr lang="en-US" altLang="zh-TW" dirty="0">
                <a:sym typeface="Symbol" pitchFamily="18" charset="2"/>
              </a:rPr>
              <a:t>(2</a:t>
            </a:r>
            <a:r>
              <a:rPr lang="en-US" altLang="zh-TW" i="1" dirty="0">
                <a:sym typeface="Symbol" pitchFamily="18" charset="2"/>
              </a:rPr>
              <a:t></a:t>
            </a:r>
            <a:r>
              <a:rPr lang="en-US" altLang="zh-TW" i="1" dirty="0"/>
              <a:t> t</a:t>
            </a:r>
            <a:r>
              <a:rPr lang="en-US" altLang="zh-TW" dirty="0" smtClean="0">
                <a:sym typeface="Symbol" pitchFamily="18" charset="2"/>
              </a:rPr>
              <a:t>) (1 Hz) </a:t>
            </a:r>
            <a:r>
              <a:rPr lang="en-US" altLang="zh-TW" dirty="0">
                <a:sym typeface="Symbol" pitchFamily="18" charset="2"/>
              </a:rPr>
              <a:t>when </a:t>
            </a:r>
            <a:r>
              <a:rPr lang="en-US" altLang="zh-TW" i="1" dirty="0">
                <a:sym typeface="Symbol" pitchFamily="18" charset="2"/>
              </a:rPr>
              <a:t>t</a:t>
            </a:r>
            <a:r>
              <a:rPr lang="en-US" altLang="zh-TW" dirty="0">
                <a:sym typeface="Symbol" pitchFamily="18" charset="2"/>
              </a:rPr>
              <a:t> </a:t>
            </a:r>
            <a:r>
              <a:rPr lang="en-US" altLang="zh-TW" dirty="0"/>
              <a:t> 20 </a:t>
            </a:r>
            <a:endParaRPr lang="en-US" altLang="zh-TW" dirty="0">
              <a:sym typeface="Symbol" pitchFamily="18" charset="2"/>
            </a:endParaRPr>
          </a:p>
          <a:p>
            <a:pPr eaLnBrk="0" hangingPunct="0">
              <a:spcBef>
                <a:spcPct val="20000"/>
              </a:spcBef>
              <a:tabLst>
                <a:tab pos="914400" algn="l"/>
              </a:tabLst>
            </a:pPr>
            <a:endParaRPr lang="en-US" altLang="zh-TW" dirty="0">
              <a:sym typeface="Symbol" pitchFamily="18" charset="2"/>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1989138"/>
            <a:ext cx="8801100" cy="27622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6"/>
          <p:cNvSpPr>
            <a:spLocks noChangeArrowheads="1"/>
          </p:cNvSpPr>
          <p:nvPr/>
        </p:nvSpPr>
        <p:spPr bwMode="auto">
          <a:xfrm>
            <a:off x="3347864" y="5337511"/>
            <a:ext cx="22349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TW" altLang="en-US" dirty="0">
                <a:latin typeface="微軟正黑體" pitchFamily="34" charset="-120"/>
                <a:ea typeface="微軟正黑體" pitchFamily="34" charset="-120"/>
              </a:rPr>
              <a:t>最大頻率超過 </a:t>
            </a:r>
            <a:r>
              <a:rPr lang="en-US" altLang="zh-TW" dirty="0" smtClean="0">
                <a:latin typeface="微軟正黑體" pitchFamily="34" charset="-120"/>
                <a:ea typeface="微軟正黑體" pitchFamily="34" charset="-120"/>
              </a:rPr>
              <a:t>1.5Hz</a:t>
            </a:r>
            <a:endParaRPr lang="en-US" altLang="zh-TW" dirty="0">
              <a:latin typeface="微軟正黑體" pitchFamily="34" charset="-120"/>
              <a:ea typeface="微軟正黑體" pitchFamily="34" charset="-120"/>
            </a:endParaRPr>
          </a:p>
        </p:txBody>
      </p:sp>
    </p:spTree>
    <p:extLst>
      <p:ext uri="{BB962C8B-B14F-4D97-AF65-F5344CB8AC3E}">
        <p14:creationId xmlns:p14="http://schemas.microsoft.com/office/powerpoint/2010/main" val="18363977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Disadvantages of Fourier transform</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10</a:t>
            </a:fld>
            <a:endParaRPr lang="zh-TW" altLang="en-US"/>
          </a:p>
        </p:txBody>
      </p:sp>
      <p:sp>
        <p:nvSpPr>
          <p:cNvPr id="4" name="矩形 3"/>
          <p:cNvSpPr/>
          <p:nvPr/>
        </p:nvSpPr>
        <p:spPr>
          <a:xfrm>
            <a:off x="323528" y="1255372"/>
            <a:ext cx="5976664" cy="5262979"/>
          </a:xfrm>
          <a:prstGeom prst="rect">
            <a:avLst/>
          </a:prstGeom>
        </p:spPr>
        <p:txBody>
          <a:bodyPr wrap="square">
            <a:spAutoFit/>
          </a:bodyPr>
          <a:lstStyle/>
          <a:p>
            <a:pPr marL="342900" indent="-342900">
              <a:buFont typeface="+mj-lt"/>
              <a:buAutoNum type="arabicPeriod"/>
            </a:pPr>
            <a:r>
              <a:rPr lang="zh-TW" altLang="en-US" sz="2400" dirty="0">
                <a:latin typeface="微軟正黑體" pitchFamily="34" charset="-120"/>
                <a:ea typeface="微軟正黑體" pitchFamily="34" charset="-120"/>
              </a:rPr>
              <a:t>建構原始資料訊號的基本函數為</a:t>
            </a:r>
            <a:r>
              <a:rPr lang="zh-TW" altLang="en-US" sz="2400" dirty="0" smtClean="0">
                <a:latin typeface="微軟正黑體" pitchFamily="34" charset="-120"/>
                <a:ea typeface="微軟正黑體" pitchFamily="34" charset="-120"/>
              </a:rPr>
              <a:t>固定頻率</a:t>
            </a:r>
            <a:r>
              <a:rPr lang="zh-TW" altLang="en-US" sz="2400" dirty="0">
                <a:latin typeface="微軟正黑體" pitchFamily="34" charset="-120"/>
                <a:ea typeface="微軟正黑體" pitchFamily="34" charset="-120"/>
              </a:rPr>
              <a:t>之諧和函數</a:t>
            </a:r>
            <a:r>
              <a:rPr lang="zh-TW" altLang="en-US" sz="2400" dirty="0" smtClean="0">
                <a:latin typeface="微軟正黑體" pitchFamily="34" charset="-120"/>
                <a:ea typeface="微軟正黑體" pitchFamily="34" charset="-120"/>
              </a:rPr>
              <a:t>，</a:t>
            </a:r>
            <a:r>
              <a:rPr lang="en-US" altLang="zh-TW" sz="2400" dirty="0" smtClean="0">
                <a:latin typeface="微軟正黑體" pitchFamily="34" charset="-120"/>
                <a:ea typeface="微軟正黑體" pitchFamily="34" charset="-120"/>
              </a:rPr>
              <a:t>FT</a:t>
            </a:r>
            <a:r>
              <a:rPr lang="zh-TW" altLang="en-US" sz="2400" dirty="0" smtClean="0">
                <a:latin typeface="微軟正黑體" pitchFamily="34" charset="-120"/>
                <a:ea typeface="微軟正黑體" pitchFamily="34" charset="-120"/>
              </a:rPr>
              <a:t>僅</a:t>
            </a:r>
            <a:r>
              <a:rPr lang="zh-TW" altLang="en-US" sz="2400" dirty="0">
                <a:latin typeface="微軟正黑體" pitchFamily="34" charset="-120"/>
                <a:ea typeface="微軟正黑體" pitchFamily="34" charset="-120"/>
              </a:rPr>
              <a:t>適用於</a:t>
            </a:r>
            <a:r>
              <a:rPr lang="zh-TW" altLang="en-US" sz="2400" dirty="0" smtClean="0">
                <a:latin typeface="微軟正黑體" pitchFamily="34" charset="-120"/>
                <a:ea typeface="微軟正黑體" pitchFamily="34" charset="-120"/>
              </a:rPr>
              <a:t>分析</a:t>
            </a:r>
            <a:r>
              <a:rPr lang="zh-TW" altLang="en-US" sz="2400" dirty="0">
                <a:latin typeface="微軟正黑體" pitchFamily="34" charset="-120"/>
                <a:ea typeface="微軟正黑體" pitchFamily="34" charset="-120"/>
              </a:rPr>
              <a:t>呈穩態分佈之時間序列</a:t>
            </a:r>
            <a:r>
              <a:rPr lang="en-US" altLang="zh-TW" sz="2400" dirty="0">
                <a:latin typeface="微軟正黑體" pitchFamily="34" charset="-120"/>
                <a:ea typeface="微軟正黑體" pitchFamily="34" charset="-120"/>
              </a:rPr>
              <a:t>(stationary </a:t>
            </a:r>
            <a:r>
              <a:rPr lang="en-US" altLang="zh-TW" sz="2400" dirty="0" smtClean="0">
                <a:latin typeface="微軟正黑體" pitchFamily="34" charset="-120"/>
                <a:ea typeface="微軟正黑體" pitchFamily="34" charset="-120"/>
              </a:rPr>
              <a:t>time series)</a:t>
            </a:r>
            <a:r>
              <a:rPr lang="zh-TW" altLang="en-US" sz="2400" dirty="0" smtClean="0">
                <a:latin typeface="微軟正黑體" pitchFamily="34" charset="-120"/>
                <a:ea typeface="微軟正黑體" pitchFamily="34" charset="-120"/>
              </a:rPr>
              <a:t>亦即</a:t>
            </a:r>
            <a:r>
              <a:rPr lang="zh-TW" altLang="en-US" sz="2400" dirty="0">
                <a:latin typeface="微軟正黑體" pitchFamily="34" charset="-120"/>
                <a:ea typeface="微軟正黑體" pitchFamily="34" charset="-120"/>
              </a:rPr>
              <a:t>資料分佈的各個統計值</a:t>
            </a:r>
            <a:r>
              <a:rPr lang="en-US" altLang="zh-TW" sz="2400" dirty="0">
                <a:latin typeface="微軟正黑體" pitchFamily="34" charset="-120"/>
                <a:ea typeface="微軟正黑體" pitchFamily="34" charset="-120"/>
              </a:rPr>
              <a:t>(</a:t>
            </a:r>
            <a:r>
              <a:rPr lang="zh-TW" altLang="en-US" sz="2400" dirty="0" smtClean="0">
                <a:latin typeface="微軟正黑體" pitchFamily="34" charset="-120"/>
                <a:ea typeface="微軟正黑體" pitchFamily="34" charset="-120"/>
              </a:rPr>
              <a:t>譬如數據</a:t>
            </a:r>
            <a:r>
              <a:rPr lang="zh-TW" altLang="en-US" sz="2400" dirty="0">
                <a:latin typeface="微軟正黑體" pitchFamily="34" charset="-120"/>
                <a:ea typeface="微軟正黑體" pitchFamily="34" charset="-120"/>
              </a:rPr>
              <a:t>平均值與自我關聯函數等</a:t>
            </a:r>
            <a:r>
              <a:rPr lang="en-US" altLang="zh-TW" sz="2400" dirty="0">
                <a:latin typeface="微軟正黑體" pitchFamily="34" charset="-120"/>
                <a:ea typeface="微軟正黑體" pitchFamily="34" charset="-120"/>
              </a:rPr>
              <a:t>)</a:t>
            </a:r>
            <a:r>
              <a:rPr lang="zh-TW" altLang="en-US" sz="2400" dirty="0">
                <a:latin typeface="微軟正黑體" pitchFamily="34" charset="-120"/>
                <a:ea typeface="微軟正黑體" pitchFamily="34" charset="-120"/>
              </a:rPr>
              <a:t>不隨</a:t>
            </a:r>
            <a:r>
              <a:rPr lang="zh-TW" altLang="en-US" sz="2400" dirty="0" smtClean="0">
                <a:latin typeface="微軟正黑體" pitchFamily="34" charset="-120"/>
                <a:ea typeface="微軟正黑體" pitchFamily="34" charset="-120"/>
              </a:rPr>
              <a:t>時間變化</a:t>
            </a:r>
            <a:r>
              <a:rPr lang="zh-TW" altLang="en-US" sz="2400" dirty="0">
                <a:latin typeface="微軟正黑體" pitchFamily="34" charset="-120"/>
                <a:ea typeface="微軟正黑體" pitchFamily="34" charset="-120"/>
              </a:rPr>
              <a:t>的序列</a:t>
            </a:r>
            <a:r>
              <a:rPr lang="zh-TW" altLang="en-US" sz="2400" dirty="0" smtClean="0">
                <a:latin typeface="微軟正黑體" pitchFamily="34" charset="-120"/>
                <a:ea typeface="微軟正黑體" pitchFamily="34" charset="-120"/>
              </a:rPr>
              <a:t>。</a:t>
            </a:r>
            <a:endParaRPr lang="en-US" altLang="zh-TW" sz="2400" dirty="0" smtClean="0">
              <a:latin typeface="微軟正黑體" pitchFamily="34" charset="-120"/>
              <a:ea typeface="微軟正黑體" pitchFamily="34" charset="-120"/>
            </a:endParaRPr>
          </a:p>
          <a:p>
            <a:pPr marL="342900" indent="-342900">
              <a:buFont typeface="+mj-lt"/>
              <a:buAutoNum type="arabicPeriod"/>
            </a:pPr>
            <a:endParaRPr lang="en-US" altLang="zh-TW" sz="2400" dirty="0" smtClean="0">
              <a:latin typeface="微軟正黑體" pitchFamily="34" charset="-120"/>
              <a:ea typeface="微軟正黑體" pitchFamily="34" charset="-120"/>
            </a:endParaRPr>
          </a:p>
          <a:p>
            <a:pPr marL="342900" indent="-342900">
              <a:buFont typeface="+mj-lt"/>
              <a:buAutoNum type="arabicPeriod"/>
            </a:pPr>
            <a:r>
              <a:rPr lang="zh-TW" altLang="en-US" sz="2400" dirty="0" smtClean="0">
                <a:latin typeface="微軟正黑體" pitchFamily="34" charset="-120"/>
                <a:ea typeface="微軟正黑體" pitchFamily="34" charset="-120"/>
              </a:rPr>
              <a:t>分析</a:t>
            </a:r>
            <a:r>
              <a:rPr lang="zh-TW" altLang="en-US" sz="2400" dirty="0">
                <a:latin typeface="微軟正黑體" pitchFamily="34" charset="-120"/>
                <a:ea typeface="微軟正黑體" pitchFamily="34" charset="-120"/>
              </a:rPr>
              <a:t>非</a:t>
            </a:r>
            <a:r>
              <a:rPr lang="zh-TW" altLang="en-US" sz="2400" dirty="0" smtClean="0">
                <a:latin typeface="微軟正黑體" pitchFamily="34" charset="-120"/>
                <a:ea typeface="微軟正黑體" pitchFamily="34" charset="-120"/>
              </a:rPr>
              <a:t>線性</a:t>
            </a:r>
            <a:r>
              <a:rPr lang="zh-TW" altLang="en-US" sz="2400" dirty="0">
                <a:latin typeface="微軟正黑體" pitchFamily="34" charset="-120"/>
                <a:ea typeface="微軟正黑體" pitchFamily="34" charset="-120"/>
              </a:rPr>
              <a:t>系統中常見之非諧和振盪訊號時，</a:t>
            </a:r>
            <a:r>
              <a:rPr lang="zh-TW" altLang="en-US" sz="2400" dirty="0" smtClean="0">
                <a:latin typeface="微軟正黑體" pitchFamily="34" charset="-120"/>
                <a:ea typeface="微軟正黑體" pitchFamily="34" charset="-120"/>
              </a:rPr>
              <a:t>傅立葉</a:t>
            </a:r>
            <a:r>
              <a:rPr lang="zh-TW" altLang="en-US" sz="2400" dirty="0">
                <a:latin typeface="微軟正黑體" pitchFamily="34" charset="-120"/>
                <a:ea typeface="微軟正黑體" pitchFamily="34" charset="-120"/>
              </a:rPr>
              <a:t>頻譜會出現許多額外的峰值於諧和</a:t>
            </a:r>
            <a:r>
              <a:rPr lang="zh-TW" altLang="en-US" sz="2400" dirty="0" smtClean="0">
                <a:latin typeface="微軟正黑體" pitchFamily="34" charset="-120"/>
                <a:ea typeface="微軟正黑體" pitchFamily="34" charset="-120"/>
              </a:rPr>
              <a:t>頻率</a:t>
            </a:r>
            <a:r>
              <a:rPr lang="en-US" altLang="zh-TW" sz="2400" dirty="0" smtClean="0">
                <a:latin typeface="微軟正黑體" pitchFamily="34" charset="-120"/>
                <a:ea typeface="微軟正黑體" pitchFamily="34" charset="-120"/>
              </a:rPr>
              <a:t>(</a:t>
            </a:r>
            <a:r>
              <a:rPr lang="en-US" altLang="zh-TW" sz="2400" dirty="0">
                <a:latin typeface="微軟正黑體" pitchFamily="34" charset="-120"/>
                <a:ea typeface="微軟正黑體" pitchFamily="34" charset="-120"/>
              </a:rPr>
              <a:t>harmonic frequencies)</a:t>
            </a:r>
            <a:r>
              <a:rPr lang="zh-TW" altLang="en-US" sz="2400" dirty="0" smtClean="0">
                <a:latin typeface="微軟正黑體" pitchFamily="34" charset="-120"/>
                <a:ea typeface="微軟正黑體" pitchFamily="34" charset="-120"/>
              </a:rPr>
              <a:t>處。</a:t>
            </a:r>
            <a:r>
              <a:rPr lang="zh-TW" altLang="en-US" sz="2400" dirty="0">
                <a:latin typeface="微軟正黑體" pitchFamily="34" charset="-120"/>
                <a:ea typeface="微軟正黑體" pitchFamily="34" charset="-120"/>
              </a:rPr>
              <a:t>此額外的頻率與原</a:t>
            </a:r>
            <a:r>
              <a:rPr lang="zh-TW" altLang="en-US" sz="2400" dirty="0" smtClean="0">
                <a:latin typeface="微軟正黑體" pitchFamily="34" charset="-120"/>
                <a:ea typeface="微軟正黑體" pitchFamily="34" charset="-120"/>
              </a:rPr>
              <a:t>訊號之間</a:t>
            </a:r>
            <a:r>
              <a:rPr lang="zh-TW" altLang="en-US" sz="2400" dirty="0">
                <a:latin typeface="微軟正黑體" pitchFamily="34" charset="-120"/>
                <a:ea typeface="微軟正黑體" pitchFamily="34" charset="-120"/>
              </a:rPr>
              <a:t>並無直接對應的物理意義，純粹</a:t>
            </a:r>
            <a:r>
              <a:rPr lang="zh-TW" altLang="en-US" sz="2400" dirty="0" smtClean="0">
                <a:latin typeface="微軟正黑體" pitchFamily="34" charset="-120"/>
                <a:ea typeface="微軟正黑體" pitchFamily="34" charset="-120"/>
              </a:rPr>
              <a:t>只是因為</a:t>
            </a:r>
            <a:r>
              <a:rPr lang="zh-TW" altLang="en-US" sz="2400" dirty="0">
                <a:latin typeface="微軟正黑體" pitchFamily="34" charset="-120"/>
                <a:ea typeface="微軟正黑體" pitchFamily="34" charset="-120"/>
              </a:rPr>
              <a:t>傅立葉展開過程中需疊加許多高頻</a:t>
            </a:r>
            <a:r>
              <a:rPr lang="zh-TW" altLang="en-US" sz="2400" dirty="0" smtClean="0">
                <a:latin typeface="微軟正黑體" pitchFamily="34" charset="-120"/>
                <a:ea typeface="微軟正黑體" pitchFamily="34" charset="-120"/>
              </a:rPr>
              <a:t>之諧和</a:t>
            </a:r>
            <a:r>
              <a:rPr lang="zh-TW" altLang="en-US" sz="2400" dirty="0">
                <a:latin typeface="微軟正黑體" pitchFamily="34" charset="-120"/>
                <a:ea typeface="微軟正黑體" pitchFamily="34" charset="-120"/>
              </a:rPr>
              <a:t>函數來模擬被扭曲之波形。</a:t>
            </a: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7332" y="1556792"/>
            <a:ext cx="2520280" cy="3960440"/>
          </a:xfrm>
          <a:prstGeom prst="rect">
            <a:avLst/>
          </a:prstGeom>
        </p:spPr>
      </p:pic>
    </p:spTree>
    <p:extLst>
      <p:ext uri="{BB962C8B-B14F-4D97-AF65-F5344CB8AC3E}">
        <p14:creationId xmlns:p14="http://schemas.microsoft.com/office/powerpoint/2010/main" val="38975225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116632"/>
            <a:ext cx="8229600" cy="1143000"/>
          </a:xfrm>
        </p:spPr>
        <p:txBody>
          <a:bodyPr/>
          <a:lstStyle/>
          <a:p>
            <a:r>
              <a:rPr lang="en-US" altLang="zh-TW" dirty="0" smtClean="0"/>
              <a:t>Convolution</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11</a:t>
            </a:fld>
            <a:endParaRPr lang="zh-TW" altLang="en-US"/>
          </a:p>
        </p:txBody>
      </p:sp>
      <mc:AlternateContent xmlns:mc="http://schemas.openxmlformats.org/markup-compatibility/2006" xmlns:a14="http://schemas.microsoft.com/office/drawing/2010/main">
        <mc:Choice Requires="a14">
          <p:sp>
            <p:nvSpPr>
              <p:cNvPr id="5" name="文字方塊 4"/>
              <p:cNvSpPr txBox="1"/>
              <p:nvPr/>
            </p:nvSpPr>
            <p:spPr>
              <a:xfrm>
                <a:off x="1115616" y="1268760"/>
                <a:ext cx="7134512" cy="172220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TW" b="0" i="1" smtClean="0">
                          <a:latin typeface="Cambria Math"/>
                        </a:rPr>
                        <m:t>(</m:t>
                      </m:r>
                      <m:r>
                        <a:rPr lang="en-US" altLang="zh-TW" b="0" i="1" smtClean="0">
                          <a:latin typeface="Cambria Math"/>
                        </a:rPr>
                        <m:t>𝑓</m:t>
                      </m:r>
                      <m:r>
                        <a:rPr lang="en-US" altLang="zh-TW" b="0" i="1" smtClean="0">
                          <a:latin typeface="Cambria Math"/>
                          <a:ea typeface="Cambria Math"/>
                        </a:rPr>
                        <m:t>∗</m:t>
                      </m:r>
                      <m:r>
                        <a:rPr lang="en-US" altLang="zh-TW" b="0" i="1" smtClean="0">
                          <a:latin typeface="Cambria Math"/>
                          <a:ea typeface="Cambria Math"/>
                        </a:rPr>
                        <m:t>𝑔</m:t>
                      </m:r>
                      <m:r>
                        <a:rPr lang="en-US" altLang="zh-TW" b="0" i="1" smtClean="0">
                          <a:latin typeface="Cambria Math"/>
                          <a:ea typeface="Cambria Math"/>
                        </a:rPr>
                        <m:t>)</m:t>
                      </m:r>
                      <m:d>
                        <m:dPr>
                          <m:ctrlPr>
                            <a:rPr lang="en-US" altLang="zh-TW" b="0" i="1" smtClean="0">
                              <a:latin typeface="Cambria Math"/>
                              <a:ea typeface="Cambria Math"/>
                            </a:rPr>
                          </m:ctrlPr>
                        </m:dPr>
                        <m:e>
                          <m:r>
                            <a:rPr lang="en-US" altLang="zh-TW" b="0" i="1" smtClean="0">
                              <a:latin typeface="Cambria Math"/>
                              <a:ea typeface="Cambria Math"/>
                            </a:rPr>
                            <m:t>𝑡</m:t>
                          </m:r>
                        </m:e>
                      </m:d>
                      <m:r>
                        <a:rPr lang="en-US" altLang="zh-TW" b="0" i="1" smtClean="0">
                          <a:latin typeface="Cambria Math"/>
                          <a:ea typeface="Cambria Math"/>
                        </a:rPr>
                        <m:t>=</m:t>
                      </m:r>
                      <m:nary>
                        <m:naryPr>
                          <m:ctrlPr>
                            <a:rPr lang="en-US" altLang="zh-TW" b="0" i="1" smtClean="0">
                              <a:latin typeface="Cambria Math"/>
                              <a:ea typeface="Cambria Math"/>
                            </a:rPr>
                          </m:ctrlPr>
                        </m:naryPr>
                        <m:sub>
                          <m:r>
                            <m:rPr>
                              <m:brk m:alnAt="23"/>
                            </m:rPr>
                            <a:rPr lang="en-US" altLang="zh-TW" b="0" i="1" smtClean="0">
                              <a:latin typeface="Cambria Math"/>
                              <a:ea typeface="Cambria Math"/>
                            </a:rPr>
                            <m:t>−</m:t>
                          </m:r>
                          <m:r>
                            <a:rPr lang="en-US" altLang="zh-TW" b="0" i="1" smtClean="0">
                              <a:latin typeface="Cambria Math"/>
                              <a:ea typeface="Cambria Math"/>
                            </a:rPr>
                            <m:t>∞</m:t>
                          </m:r>
                        </m:sub>
                        <m:sup>
                          <m:r>
                            <a:rPr lang="en-US" altLang="zh-TW" b="0" i="1" smtClean="0">
                              <a:latin typeface="Cambria Math"/>
                              <a:ea typeface="Cambria Math"/>
                            </a:rPr>
                            <m:t>∞</m:t>
                          </m:r>
                        </m:sup>
                        <m:e>
                          <m:r>
                            <a:rPr lang="en-US" altLang="zh-TW" b="0" i="1" smtClean="0">
                              <a:latin typeface="Cambria Math"/>
                              <a:ea typeface="Cambria Math"/>
                            </a:rPr>
                            <m:t>𝑓</m:t>
                          </m:r>
                          <m:d>
                            <m:dPr>
                              <m:ctrlPr>
                                <a:rPr lang="en-US" altLang="zh-TW" b="0" i="1" smtClean="0">
                                  <a:latin typeface="Cambria Math"/>
                                  <a:ea typeface="Cambria Math"/>
                                </a:rPr>
                              </m:ctrlPr>
                            </m:dPr>
                            <m:e>
                              <m:r>
                                <a:rPr lang="en-US" altLang="zh-TW" b="0" i="1" smtClean="0">
                                  <a:latin typeface="Cambria Math"/>
                                  <a:ea typeface="Cambria Math"/>
                                </a:rPr>
                                <m:t>𝜏</m:t>
                              </m:r>
                            </m:e>
                          </m:d>
                          <m:r>
                            <a:rPr lang="en-US" altLang="zh-TW" b="0" i="1" smtClean="0">
                              <a:latin typeface="Cambria Math"/>
                              <a:ea typeface="Cambria Math"/>
                            </a:rPr>
                            <m:t>𝑔</m:t>
                          </m:r>
                          <m:d>
                            <m:dPr>
                              <m:ctrlPr>
                                <a:rPr lang="en-US" altLang="zh-TW" b="0" i="1" smtClean="0">
                                  <a:latin typeface="Cambria Math"/>
                                  <a:ea typeface="Cambria Math"/>
                                </a:rPr>
                              </m:ctrlPr>
                            </m:dPr>
                            <m:e>
                              <m:r>
                                <a:rPr lang="en-US" altLang="zh-TW" b="0" i="1" smtClean="0">
                                  <a:latin typeface="Cambria Math"/>
                                  <a:ea typeface="Cambria Math"/>
                                </a:rPr>
                                <m:t>𝑡</m:t>
                              </m:r>
                              <m:r>
                                <a:rPr lang="en-US" altLang="zh-TW" b="0" i="1" smtClean="0">
                                  <a:latin typeface="Cambria Math"/>
                                  <a:ea typeface="Cambria Math"/>
                                </a:rPr>
                                <m:t>−</m:t>
                              </m:r>
                              <m:r>
                                <a:rPr lang="en-US" altLang="zh-TW" b="0" i="1" smtClean="0">
                                  <a:latin typeface="Cambria Math"/>
                                  <a:ea typeface="Cambria Math"/>
                                </a:rPr>
                                <m:t>𝜏</m:t>
                              </m:r>
                            </m:e>
                          </m:d>
                          <m:r>
                            <a:rPr lang="en-US" altLang="zh-TW" b="0" i="1" smtClean="0">
                              <a:latin typeface="Cambria Math"/>
                              <a:ea typeface="Cambria Math"/>
                            </a:rPr>
                            <m:t>𝑑</m:t>
                          </m:r>
                          <m:r>
                            <a:rPr lang="en-US" altLang="zh-TW" b="0" i="1" smtClean="0">
                              <a:latin typeface="Cambria Math"/>
                              <a:ea typeface="Cambria Math"/>
                            </a:rPr>
                            <m:t>𝜏</m:t>
                          </m:r>
                          <m:r>
                            <a:rPr lang="en-US" altLang="zh-TW" b="0" i="1" smtClean="0">
                              <a:latin typeface="Cambria Math"/>
                              <a:ea typeface="Cambria Math"/>
                            </a:rPr>
                            <m:t>=</m:t>
                          </m:r>
                        </m:e>
                      </m:nary>
                      <m:nary>
                        <m:naryPr>
                          <m:ctrlPr>
                            <a:rPr lang="en-US" altLang="zh-TW" i="1">
                              <a:latin typeface="Cambria Math"/>
                              <a:ea typeface="Cambria Math"/>
                            </a:rPr>
                          </m:ctrlPr>
                        </m:naryPr>
                        <m:sub>
                          <m:r>
                            <m:rPr>
                              <m:brk m:alnAt="23"/>
                            </m:rPr>
                            <a:rPr lang="en-US" altLang="zh-TW" i="1">
                              <a:latin typeface="Cambria Math"/>
                              <a:ea typeface="Cambria Math"/>
                            </a:rPr>
                            <m:t>−</m:t>
                          </m:r>
                          <m:r>
                            <a:rPr lang="en-US" altLang="zh-TW" i="1">
                              <a:latin typeface="Cambria Math"/>
                              <a:ea typeface="Cambria Math"/>
                            </a:rPr>
                            <m:t>∞</m:t>
                          </m:r>
                        </m:sub>
                        <m:sup>
                          <m:r>
                            <a:rPr lang="en-US" altLang="zh-TW" i="1">
                              <a:latin typeface="Cambria Math"/>
                              <a:ea typeface="Cambria Math"/>
                            </a:rPr>
                            <m:t>∞</m:t>
                          </m:r>
                        </m:sup>
                        <m:e>
                          <m:r>
                            <a:rPr lang="en-US" altLang="zh-TW" i="1">
                              <a:latin typeface="Cambria Math"/>
                              <a:ea typeface="Cambria Math"/>
                            </a:rPr>
                            <m:t>𝑓</m:t>
                          </m:r>
                          <m:d>
                            <m:dPr>
                              <m:ctrlPr>
                                <a:rPr lang="en-US" altLang="zh-TW" i="1">
                                  <a:latin typeface="Cambria Math"/>
                                  <a:ea typeface="Cambria Math"/>
                                </a:rPr>
                              </m:ctrlPr>
                            </m:dPr>
                            <m:e>
                              <m:r>
                                <a:rPr lang="en-US" altLang="zh-TW" b="0" i="1" smtClean="0">
                                  <a:latin typeface="Cambria Math"/>
                                  <a:ea typeface="Cambria Math"/>
                                </a:rPr>
                                <m:t>𝑡</m:t>
                              </m:r>
                              <m:r>
                                <a:rPr lang="en-US" altLang="zh-TW" b="0" i="1" smtClean="0">
                                  <a:latin typeface="Cambria Math"/>
                                  <a:ea typeface="Cambria Math"/>
                                </a:rPr>
                                <m:t>−</m:t>
                              </m:r>
                              <m:r>
                                <a:rPr lang="en-US" altLang="zh-TW" i="1">
                                  <a:latin typeface="Cambria Math"/>
                                  <a:ea typeface="Cambria Math"/>
                                </a:rPr>
                                <m:t>𝜏</m:t>
                              </m:r>
                            </m:e>
                          </m:d>
                          <m:r>
                            <a:rPr lang="en-US" altLang="zh-TW" i="1">
                              <a:latin typeface="Cambria Math"/>
                              <a:ea typeface="Cambria Math"/>
                            </a:rPr>
                            <m:t>𝑔</m:t>
                          </m:r>
                          <m:d>
                            <m:dPr>
                              <m:ctrlPr>
                                <a:rPr lang="en-US" altLang="zh-TW" i="1">
                                  <a:latin typeface="Cambria Math"/>
                                  <a:ea typeface="Cambria Math"/>
                                </a:rPr>
                              </m:ctrlPr>
                            </m:dPr>
                            <m:e>
                              <m:r>
                                <a:rPr lang="en-US" altLang="zh-TW" i="1">
                                  <a:latin typeface="Cambria Math"/>
                                  <a:ea typeface="Cambria Math"/>
                                </a:rPr>
                                <m:t>𝜏</m:t>
                              </m:r>
                            </m:e>
                          </m:d>
                          <m:r>
                            <a:rPr lang="en-US" altLang="zh-TW" i="1">
                              <a:latin typeface="Cambria Math"/>
                              <a:ea typeface="Cambria Math"/>
                            </a:rPr>
                            <m:t>𝑑</m:t>
                          </m:r>
                          <m:r>
                            <a:rPr lang="en-US" altLang="zh-TW" i="1">
                              <a:latin typeface="Cambria Math"/>
                              <a:ea typeface="Cambria Math"/>
                            </a:rPr>
                            <m:t>𝜏</m:t>
                          </m:r>
                        </m:e>
                      </m:nary>
                    </m:oMath>
                  </m:oMathPara>
                </a14:m>
                <a:endParaRPr lang="en-US" altLang="zh-TW" dirty="0" smtClean="0"/>
              </a:p>
              <a:p>
                <a:pPr/>
                <a14:m>
                  <m:oMathPara xmlns:m="http://schemas.openxmlformats.org/officeDocument/2006/math">
                    <m:oMathParaPr>
                      <m:jc m:val="left"/>
                    </m:oMathParaPr>
                    <m:oMath xmlns:m="http://schemas.openxmlformats.org/officeDocument/2006/math">
                      <m:d>
                        <m:dPr>
                          <m:ctrlPr>
                            <a:rPr lang="en-US" altLang="zh-TW" i="1">
                              <a:latin typeface="Cambria Math"/>
                            </a:rPr>
                          </m:ctrlPr>
                        </m:dPr>
                        <m:e>
                          <m:r>
                            <a:rPr lang="en-US" altLang="zh-TW" i="1">
                              <a:latin typeface="Cambria Math"/>
                            </a:rPr>
                            <m:t>𝑓</m:t>
                          </m:r>
                          <m:r>
                            <a:rPr lang="en-US" altLang="zh-TW" i="1">
                              <a:latin typeface="Cambria Math"/>
                              <a:ea typeface="Cambria Math"/>
                            </a:rPr>
                            <m:t>∗</m:t>
                          </m:r>
                          <m:r>
                            <a:rPr lang="en-US" altLang="zh-TW" i="1">
                              <a:latin typeface="Cambria Math"/>
                              <a:ea typeface="Cambria Math"/>
                            </a:rPr>
                            <m:t>𝑔</m:t>
                          </m:r>
                        </m:e>
                      </m:d>
                      <m:d>
                        <m:dPr>
                          <m:begChr m:val="["/>
                          <m:endChr m:val="]"/>
                          <m:ctrlPr>
                            <a:rPr lang="en-US" altLang="zh-TW" b="0" i="1" smtClean="0">
                              <a:latin typeface="Cambria Math"/>
                              <a:ea typeface="Cambria Math"/>
                            </a:rPr>
                          </m:ctrlPr>
                        </m:dPr>
                        <m:e>
                          <m:r>
                            <a:rPr lang="en-US" altLang="zh-TW" b="0" i="1" smtClean="0">
                              <a:latin typeface="Cambria Math"/>
                              <a:ea typeface="Cambria Math"/>
                            </a:rPr>
                            <m:t>𝑡</m:t>
                          </m:r>
                        </m:e>
                      </m:d>
                      <m:r>
                        <a:rPr lang="en-US" altLang="zh-TW" b="0" i="1" smtClean="0">
                          <a:latin typeface="Cambria Math"/>
                          <a:ea typeface="Cambria Math"/>
                        </a:rPr>
                        <m:t>=</m:t>
                      </m:r>
                      <m:nary>
                        <m:naryPr>
                          <m:chr m:val="∑"/>
                          <m:ctrlPr>
                            <a:rPr lang="en-US" altLang="zh-TW" b="0" i="1" smtClean="0">
                              <a:latin typeface="Cambria Math"/>
                              <a:ea typeface="Cambria Math"/>
                            </a:rPr>
                          </m:ctrlPr>
                        </m:naryPr>
                        <m:sub>
                          <m:r>
                            <m:rPr>
                              <m:brk m:alnAt="23"/>
                            </m:rPr>
                            <a:rPr lang="en-US" altLang="zh-TW" b="0" i="1" smtClean="0">
                              <a:latin typeface="Cambria Math"/>
                              <a:ea typeface="Cambria Math"/>
                            </a:rPr>
                            <m:t>𝑡</m:t>
                          </m:r>
                          <m:r>
                            <a:rPr lang="en-US" altLang="zh-TW" b="0" i="1" smtClean="0">
                              <a:latin typeface="Cambria Math"/>
                              <a:ea typeface="Cambria Math"/>
                            </a:rPr>
                            <m:t>=−∞</m:t>
                          </m:r>
                        </m:sub>
                        <m:sup>
                          <m:r>
                            <a:rPr lang="en-US" altLang="zh-TW" b="0" i="1" smtClean="0">
                              <a:latin typeface="Cambria Math"/>
                              <a:ea typeface="Cambria Math"/>
                            </a:rPr>
                            <m:t>∞</m:t>
                          </m:r>
                        </m:sup>
                        <m:e>
                          <m:r>
                            <a:rPr lang="en-US" altLang="zh-TW" b="0" i="1" smtClean="0">
                              <a:latin typeface="Cambria Math"/>
                              <a:ea typeface="Cambria Math"/>
                            </a:rPr>
                            <m:t>𝑓</m:t>
                          </m:r>
                          <m:d>
                            <m:dPr>
                              <m:begChr m:val="["/>
                              <m:endChr m:val="]"/>
                              <m:ctrlPr>
                                <a:rPr lang="en-US" altLang="zh-TW" b="0" i="1" smtClean="0">
                                  <a:latin typeface="Cambria Math"/>
                                  <a:ea typeface="Cambria Math"/>
                                </a:rPr>
                              </m:ctrlPr>
                            </m:dPr>
                            <m:e>
                              <m:r>
                                <a:rPr lang="en-US" altLang="zh-TW" b="0" i="1" smtClean="0">
                                  <a:latin typeface="Cambria Math"/>
                                  <a:ea typeface="Cambria Math"/>
                                </a:rPr>
                                <m:t>𝜏</m:t>
                              </m:r>
                            </m:e>
                          </m:d>
                          <m:r>
                            <a:rPr lang="en-US" altLang="zh-TW" b="0" i="1" smtClean="0">
                              <a:latin typeface="Cambria Math"/>
                              <a:ea typeface="Cambria Math"/>
                            </a:rPr>
                            <m:t>𝑔</m:t>
                          </m:r>
                          <m:d>
                            <m:dPr>
                              <m:begChr m:val="["/>
                              <m:endChr m:val="]"/>
                              <m:ctrlPr>
                                <a:rPr lang="en-US" altLang="zh-TW" b="0" i="1" smtClean="0">
                                  <a:latin typeface="Cambria Math"/>
                                  <a:ea typeface="Cambria Math"/>
                                </a:rPr>
                              </m:ctrlPr>
                            </m:dPr>
                            <m:e>
                              <m:r>
                                <a:rPr lang="en-US" altLang="zh-TW" b="0" i="1" smtClean="0">
                                  <a:latin typeface="Cambria Math"/>
                                  <a:ea typeface="Cambria Math"/>
                                </a:rPr>
                                <m:t>𝑡</m:t>
                              </m:r>
                              <m:r>
                                <a:rPr lang="en-US" altLang="zh-TW" b="0" i="1" smtClean="0">
                                  <a:latin typeface="Cambria Math"/>
                                  <a:ea typeface="Cambria Math"/>
                                </a:rPr>
                                <m:t>−</m:t>
                              </m:r>
                              <m:r>
                                <a:rPr lang="en-US" altLang="zh-TW" b="0" i="1" smtClean="0">
                                  <a:latin typeface="Cambria Math"/>
                                  <a:ea typeface="Cambria Math"/>
                                </a:rPr>
                                <m:t>𝜏</m:t>
                              </m:r>
                            </m:e>
                          </m:d>
                          <m:r>
                            <a:rPr lang="en-US" altLang="zh-TW" b="0" i="1" smtClean="0">
                              <a:latin typeface="Cambria Math"/>
                              <a:ea typeface="Cambria Math"/>
                            </a:rPr>
                            <m:t>=</m:t>
                          </m:r>
                          <m:nary>
                            <m:naryPr>
                              <m:chr m:val="∑"/>
                              <m:ctrlPr>
                                <a:rPr lang="en-US" altLang="zh-TW" i="1">
                                  <a:latin typeface="Cambria Math"/>
                                  <a:ea typeface="Cambria Math"/>
                                </a:rPr>
                              </m:ctrlPr>
                            </m:naryPr>
                            <m:sub>
                              <m:r>
                                <m:rPr>
                                  <m:brk m:alnAt="23"/>
                                </m:rPr>
                                <a:rPr lang="en-US" altLang="zh-TW" i="1">
                                  <a:latin typeface="Cambria Math"/>
                                  <a:ea typeface="Cambria Math"/>
                                </a:rPr>
                                <m:t>𝑡</m:t>
                              </m:r>
                              <m:r>
                                <a:rPr lang="en-US" altLang="zh-TW" i="1">
                                  <a:latin typeface="Cambria Math"/>
                                  <a:ea typeface="Cambria Math"/>
                                </a:rPr>
                                <m:t>=−∞</m:t>
                              </m:r>
                            </m:sub>
                            <m:sup>
                              <m:r>
                                <a:rPr lang="en-US" altLang="zh-TW" i="1">
                                  <a:latin typeface="Cambria Math"/>
                                  <a:ea typeface="Cambria Math"/>
                                </a:rPr>
                                <m:t>∞</m:t>
                              </m:r>
                            </m:sup>
                            <m:e>
                              <m:r>
                                <a:rPr lang="en-US" altLang="zh-TW" i="1">
                                  <a:latin typeface="Cambria Math"/>
                                  <a:ea typeface="Cambria Math"/>
                                </a:rPr>
                                <m:t>𝑓</m:t>
                              </m:r>
                              <m:d>
                                <m:dPr>
                                  <m:begChr m:val="["/>
                                  <m:endChr m:val="]"/>
                                  <m:ctrlPr>
                                    <a:rPr lang="en-US" altLang="zh-TW" i="1">
                                      <a:latin typeface="Cambria Math"/>
                                      <a:ea typeface="Cambria Math"/>
                                    </a:rPr>
                                  </m:ctrlPr>
                                </m:dPr>
                                <m:e>
                                  <m:r>
                                    <a:rPr lang="en-US" altLang="zh-TW" b="0" i="1" smtClean="0">
                                      <a:latin typeface="Cambria Math"/>
                                      <a:ea typeface="Cambria Math"/>
                                    </a:rPr>
                                    <m:t>𝑡</m:t>
                                  </m:r>
                                  <m:r>
                                    <a:rPr lang="en-US" altLang="zh-TW" b="0" i="1" smtClean="0">
                                      <a:latin typeface="Cambria Math"/>
                                      <a:ea typeface="Cambria Math"/>
                                    </a:rPr>
                                    <m:t>−</m:t>
                                  </m:r>
                                  <m:r>
                                    <a:rPr lang="en-US" altLang="zh-TW" i="1">
                                      <a:latin typeface="Cambria Math"/>
                                      <a:ea typeface="Cambria Math"/>
                                    </a:rPr>
                                    <m:t>𝜏</m:t>
                                  </m:r>
                                </m:e>
                              </m:d>
                              <m:r>
                                <a:rPr lang="en-US" altLang="zh-TW" i="1">
                                  <a:latin typeface="Cambria Math"/>
                                  <a:ea typeface="Cambria Math"/>
                                </a:rPr>
                                <m:t>𝑔</m:t>
                              </m:r>
                              <m:d>
                                <m:dPr>
                                  <m:begChr m:val="["/>
                                  <m:endChr m:val="]"/>
                                  <m:ctrlPr>
                                    <a:rPr lang="en-US" altLang="zh-TW" i="1">
                                      <a:latin typeface="Cambria Math"/>
                                      <a:ea typeface="Cambria Math"/>
                                    </a:rPr>
                                  </m:ctrlPr>
                                </m:dPr>
                                <m:e>
                                  <m:r>
                                    <a:rPr lang="en-US" altLang="zh-TW" i="1">
                                      <a:latin typeface="Cambria Math"/>
                                      <a:ea typeface="Cambria Math"/>
                                    </a:rPr>
                                    <m:t>𝜏</m:t>
                                  </m:r>
                                </m:e>
                              </m:d>
                            </m:e>
                          </m:nary>
                        </m:e>
                      </m:nary>
                    </m:oMath>
                  </m:oMathPara>
                </a14:m>
                <a:endParaRPr lang="zh-TW" altLang="en-US" dirty="0"/>
              </a:p>
              <a:p>
                <a:endParaRPr lang="zh-TW" altLang="en-US"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1115616" y="1268760"/>
                <a:ext cx="7134512" cy="1722203"/>
              </a:xfrm>
              <a:prstGeom prst="rect">
                <a:avLst/>
              </a:prstGeom>
              <a:blipFill rotWithShape="1">
                <a:blip r:embed="rId2"/>
                <a:stretch>
                  <a:fillRect/>
                </a:stretch>
              </a:blipFill>
            </p:spPr>
            <p:txBody>
              <a:bodyPr/>
              <a:lstStyle/>
              <a:p>
                <a:r>
                  <a:rPr lang="zh-TW" altLang="en-US">
                    <a:noFill/>
                  </a:rPr>
                  <a:t> </a:t>
                </a:r>
              </a:p>
            </p:txBody>
          </p:sp>
        </mc:Fallback>
      </mc:AlternateContent>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7979" y="2852936"/>
            <a:ext cx="5603946" cy="1760214"/>
          </a:xfrm>
          <a:prstGeom prst="rect">
            <a:avLst/>
          </a:prstGeom>
        </p:spPr>
      </p:pic>
      <p:sp>
        <p:nvSpPr>
          <p:cNvPr id="9" name="矩形 8"/>
          <p:cNvSpPr/>
          <p:nvPr/>
        </p:nvSpPr>
        <p:spPr>
          <a:xfrm>
            <a:off x="539552" y="6277962"/>
            <a:ext cx="4063420" cy="369332"/>
          </a:xfrm>
          <a:prstGeom prst="rect">
            <a:avLst/>
          </a:prstGeom>
        </p:spPr>
        <p:txBody>
          <a:bodyPr wrap="none">
            <a:spAutoFit/>
          </a:bodyPr>
          <a:lstStyle/>
          <a:p>
            <a:r>
              <a:rPr lang="en-US" altLang="zh-TW" dirty="0"/>
              <a:t>http://en.wikipedia.org/wiki/Convolution</a:t>
            </a:r>
            <a:endParaRPr lang="zh-TW" altLang="en-US" dirty="0"/>
          </a:p>
        </p:txBody>
      </p:sp>
      <p:pic>
        <p:nvPicPr>
          <p:cNvPr id="10" name="圖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3648" y="4613150"/>
            <a:ext cx="5472608" cy="1578637"/>
          </a:xfrm>
          <a:prstGeom prst="rect">
            <a:avLst/>
          </a:prstGeom>
        </p:spPr>
      </p:pic>
    </p:spTree>
    <p:extLst>
      <p:ext uri="{BB962C8B-B14F-4D97-AF65-F5344CB8AC3E}">
        <p14:creationId xmlns:p14="http://schemas.microsoft.com/office/powerpoint/2010/main" val="41812250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Time-frequency analysis</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12</a:t>
            </a:fld>
            <a:endParaRPr lang="zh-TW" altLang="en-US"/>
          </a:p>
        </p:txBody>
      </p:sp>
      <p:sp>
        <p:nvSpPr>
          <p:cNvPr id="4" name="文字方塊 3"/>
          <p:cNvSpPr txBox="1"/>
          <p:nvPr/>
        </p:nvSpPr>
        <p:spPr>
          <a:xfrm>
            <a:off x="323528" y="1449650"/>
            <a:ext cx="8532440" cy="1251496"/>
          </a:xfrm>
          <a:prstGeom prst="rect">
            <a:avLst/>
          </a:prstGeom>
          <a:noFill/>
        </p:spPr>
        <p:txBody>
          <a:bodyPr wrap="square" rtlCol="0">
            <a:spAutoFit/>
          </a:bodyPr>
          <a:lstStyle/>
          <a:p>
            <a:pPr>
              <a:lnSpc>
                <a:spcPct val="130000"/>
              </a:lnSpc>
            </a:pPr>
            <a:r>
              <a:rPr lang="zh-TW" altLang="en-US" sz="2000" dirty="0" smtClean="0">
                <a:latin typeface="微軟正黑體" pitchFamily="34" charset="-120"/>
                <a:ea typeface="微軟正黑體" pitchFamily="34" charset="-120"/>
              </a:rPr>
              <a:t>因為</a:t>
            </a:r>
            <a:r>
              <a:rPr lang="en-US" altLang="zh-TW" sz="2000" dirty="0" smtClean="0">
                <a:latin typeface="微軟正黑體" pitchFamily="34" charset="-120"/>
                <a:ea typeface="微軟正黑體" pitchFamily="34" charset="-120"/>
              </a:rPr>
              <a:t>FT轉換後只有得到全部frequency的分佈，無法得知訊號在時間t的frequency的局部特性，所以有以下常見的方法來得到time-frequency的性質。</a:t>
            </a:r>
            <a:endParaRPr lang="zh-TW" altLang="en-US" sz="2000" dirty="0">
              <a:latin typeface="微軟正黑體" pitchFamily="34" charset="-120"/>
              <a:ea typeface="微軟正黑體" pitchFamily="34" charset="-120"/>
            </a:endParaRPr>
          </a:p>
        </p:txBody>
      </p:sp>
      <p:sp>
        <p:nvSpPr>
          <p:cNvPr id="5" name="文字方塊 4"/>
          <p:cNvSpPr txBox="1"/>
          <p:nvPr/>
        </p:nvSpPr>
        <p:spPr>
          <a:xfrm>
            <a:off x="899592" y="2924944"/>
            <a:ext cx="7344816" cy="1569660"/>
          </a:xfrm>
          <a:prstGeom prst="rect">
            <a:avLst/>
          </a:prstGeom>
          <a:noFill/>
        </p:spPr>
        <p:txBody>
          <a:bodyPr wrap="square" rtlCol="0">
            <a:spAutoFit/>
          </a:bodyPr>
          <a:lstStyle/>
          <a:p>
            <a:pPr marL="342900" indent="-342900">
              <a:buFont typeface="+mj-lt"/>
              <a:buAutoNum type="arabicPeriod"/>
            </a:pPr>
            <a:r>
              <a:rPr lang="en-US" altLang="zh-TW" sz="3200" dirty="0" smtClean="0"/>
              <a:t>Short-time Fourier transform (STFT)</a:t>
            </a:r>
          </a:p>
          <a:p>
            <a:pPr marL="342900" indent="-342900">
              <a:buFont typeface="+mj-lt"/>
              <a:buAutoNum type="arabicPeriod"/>
            </a:pPr>
            <a:r>
              <a:rPr lang="en-US" altLang="zh-TW" sz="3200" dirty="0" smtClean="0"/>
              <a:t>Wavelet transform</a:t>
            </a:r>
          </a:p>
          <a:p>
            <a:pPr marL="342900" indent="-342900">
              <a:buFont typeface="+mj-lt"/>
              <a:buAutoNum type="arabicPeriod"/>
            </a:pPr>
            <a:r>
              <a:rPr lang="en-US" altLang="zh-TW" sz="3200" dirty="0" smtClean="0"/>
              <a:t>Wigner-</a:t>
            </a:r>
            <a:r>
              <a:rPr lang="en-US" altLang="zh-TW" sz="3200" dirty="0" err="1" smtClean="0"/>
              <a:t>ville</a:t>
            </a:r>
            <a:r>
              <a:rPr lang="en-US" altLang="zh-TW" sz="3200" dirty="0" smtClean="0"/>
              <a:t> distribution</a:t>
            </a:r>
            <a:endParaRPr lang="zh-TW" altLang="en-US" sz="3200" dirty="0"/>
          </a:p>
        </p:txBody>
      </p:sp>
      <p:sp>
        <p:nvSpPr>
          <p:cNvPr id="6" name="矩形 5"/>
          <p:cNvSpPr/>
          <p:nvPr/>
        </p:nvSpPr>
        <p:spPr>
          <a:xfrm>
            <a:off x="660773" y="4869160"/>
            <a:ext cx="7560840" cy="1631216"/>
          </a:xfrm>
          <a:prstGeom prst="rect">
            <a:avLst/>
          </a:prstGeom>
        </p:spPr>
        <p:txBody>
          <a:bodyPr wrap="square">
            <a:spAutoFit/>
          </a:bodyPr>
          <a:lstStyle/>
          <a:p>
            <a:r>
              <a:rPr lang="zh-TW" altLang="en-US" sz="2000" dirty="0">
                <a:latin typeface="微軟正黑體" pitchFamily="34" charset="-120"/>
                <a:ea typeface="微軟正黑體" pitchFamily="34" charset="-120"/>
              </a:rPr>
              <a:t>上述三種方法</a:t>
            </a:r>
            <a:r>
              <a:rPr lang="zh-TW" altLang="en-US" sz="2000" dirty="0" smtClean="0">
                <a:latin typeface="微軟正黑體" pitchFamily="34" charset="-120"/>
                <a:ea typeface="微軟正黑體" pitchFamily="34" charset="-120"/>
              </a:rPr>
              <a:t>有以下共同</a:t>
            </a:r>
            <a:r>
              <a:rPr lang="zh-TW" altLang="en-US" sz="2000" dirty="0">
                <a:latin typeface="微軟正黑體" pitchFamily="34" charset="-120"/>
                <a:ea typeface="微軟正黑體" pitchFamily="34" charset="-120"/>
              </a:rPr>
              <a:t>缺點</a:t>
            </a:r>
            <a:r>
              <a:rPr lang="zh-TW" altLang="en-US" sz="2000" dirty="0" smtClean="0">
                <a:latin typeface="微軟正黑體" pitchFamily="34" charset="-120"/>
                <a:ea typeface="微軟正黑體" pitchFamily="34" charset="-120"/>
              </a:rPr>
              <a:t>，</a:t>
            </a:r>
            <a:endParaRPr lang="en-US" altLang="zh-TW" sz="2000" dirty="0" smtClean="0">
              <a:latin typeface="微軟正黑體" pitchFamily="34" charset="-120"/>
              <a:ea typeface="微軟正黑體" pitchFamily="34" charset="-120"/>
            </a:endParaRPr>
          </a:p>
          <a:p>
            <a:pPr marL="342900" indent="-342900">
              <a:buFont typeface="+mj-lt"/>
              <a:buAutoNum type="arabicPeriod"/>
            </a:pPr>
            <a:r>
              <a:rPr lang="zh-TW" altLang="en-US" sz="2000" dirty="0" smtClean="0">
                <a:latin typeface="微軟正黑體" pitchFamily="34" charset="-120"/>
                <a:ea typeface="微軟正黑體" pitchFamily="34" charset="-120"/>
              </a:rPr>
              <a:t>在頻譜</a:t>
            </a:r>
            <a:r>
              <a:rPr lang="zh-TW" altLang="en-US" sz="2000" dirty="0">
                <a:latin typeface="微軟正黑體" pitchFamily="34" charset="-120"/>
                <a:ea typeface="微軟正黑體" pitchFamily="34" charset="-120"/>
              </a:rPr>
              <a:t>解析上皆是以固定頻率與振幅之函數</a:t>
            </a:r>
            <a:r>
              <a:rPr lang="zh-TW" altLang="en-US" sz="2000" dirty="0" smtClean="0">
                <a:latin typeface="微軟正黑體" pitchFamily="34" charset="-120"/>
                <a:ea typeface="微軟正黑體" pitchFamily="34" charset="-120"/>
              </a:rPr>
              <a:t>作為基本</a:t>
            </a:r>
            <a:r>
              <a:rPr lang="zh-TW" altLang="en-US" sz="2000" dirty="0">
                <a:latin typeface="微軟正黑體" pitchFamily="34" charset="-120"/>
                <a:ea typeface="微軟正黑體" pitchFamily="34" charset="-120"/>
              </a:rPr>
              <a:t>模態</a:t>
            </a:r>
            <a:r>
              <a:rPr lang="zh-TW" altLang="en-US" sz="2000" dirty="0" smtClean="0">
                <a:latin typeface="微軟正黑體" pitchFamily="34" charset="-120"/>
                <a:ea typeface="微軟正黑體" pitchFamily="34" charset="-120"/>
              </a:rPr>
              <a:t>函數，不適用於</a:t>
            </a:r>
            <a:r>
              <a:rPr lang="en-US" altLang="zh-TW" sz="2000" dirty="0" smtClean="0">
                <a:latin typeface="微軟正黑體" pitchFamily="34" charset="-120"/>
                <a:ea typeface="微軟正黑體" pitchFamily="34" charset="-120"/>
              </a:rPr>
              <a:t>non-stationary data</a:t>
            </a:r>
            <a:r>
              <a:rPr lang="zh-TW" altLang="en-US" sz="2000" dirty="0" smtClean="0">
                <a:latin typeface="微軟正黑體" pitchFamily="34" charset="-120"/>
                <a:ea typeface="微軟正黑體" pitchFamily="34" charset="-120"/>
              </a:rPr>
              <a:t>。</a:t>
            </a:r>
            <a:endParaRPr lang="en-US" altLang="zh-TW" sz="2000" dirty="0" smtClean="0">
              <a:latin typeface="微軟正黑體" pitchFamily="34" charset="-120"/>
              <a:ea typeface="微軟正黑體" pitchFamily="34" charset="-120"/>
            </a:endParaRPr>
          </a:p>
          <a:p>
            <a:pPr marL="342900" indent="-342900">
              <a:buFont typeface="+mj-lt"/>
              <a:buAutoNum type="arabicPeriod"/>
            </a:pPr>
            <a:r>
              <a:rPr lang="zh-TW" altLang="en-US" sz="2000" dirty="0" smtClean="0">
                <a:latin typeface="微軟正黑體" pitchFamily="34" charset="-120"/>
                <a:ea typeface="微軟正黑體" pitchFamily="34" charset="-120"/>
              </a:rPr>
              <a:t>無法</a:t>
            </a:r>
            <a:r>
              <a:rPr lang="zh-TW" altLang="en-US" sz="2000" dirty="0">
                <a:latin typeface="微軟正黑體" pitchFamily="34" charset="-120"/>
                <a:ea typeface="微軟正黑體" pitchFamily="34" charset="-120"/>
              </a:rPr>
              <a:t>明確</a:t>
            </a:r>
            <a:r>
              <a:rPr lang="zh-TW" altLang="en-US" sz="2000" dirty="0" smtClean="0">
                <a:latin typeface="微軟正黑體" pitchFamily="34" charset="-120"/>
                <a:ea typeface="微軟正黑體" pitchFamily="34" charset="-120"/>
              </a:rPr>
              <a:t>定義</a:t>
            </a:r>
            <a:r>
              <a:rPr lang="zh-TW" altLang="en-US" sz="2000" dirty="0">
                <a:latin typeface="微軟正黑體" pitchFamily="34" charset="-120"/>
                <a:ea typeface="微軟正黑體" pitchFamily="34" charset="-120"/>
              </a:rPr>
              <a:t>訊號之瞬時振盪</a:t>
            </a:r>
            <a:r>
              <a:rPr lang="zh-TW" altLang="en-US" sz="2000" dirty="0" smtClean="0">
                <a:latin typeface="微軟正黑體" pitchFamily="34" charset="-120"/>
                <a:ea typeface="微軟正黑體" pitchFamily="34" charset="-120"/>
              </a:rPr>
              <a:t>頻率</a:t>
            </a:r>
            <a:endParaRPr lang="en-US" altLang="zh-TW" sz="2000" dirty="0" smtClean="0">
              <a:latin typeface="微軟正黑體" pitchFamily="34" charset="-120"/>
              <a:ea typeface="微軟正黑體" pitchFamily="34" charset="-120"/>
            </a:endParaRPr>
          </a:p>
          <a:p>
            <a:pPr marL="342900" indent="-342900">
              <a:buFont typeface="+mj-lt"/>
              <a:buAutoNum type="arabicPeriod"/>
            </a:pPr>
            <a:r>
              <a:rPr lang="zh-TW" altLang="en-US" sz="2000" dirty="0" smtClean="0">
                <a:latin typeface="微軟正黑體" pitchFamily="34" charset="-120"/>
                <a:ea typeface="微軟正黑體" pitchFamily="34" charset="-120"/>
              </a:rPr>
              <a:t>都會受到</a:t>
            </a:r>
            <a:r>
              <a:rPr lang="en-US" altLang="zh-TW" sz="2000" dirty="0" smtClean="0">
                <a:latin typeface="微軟正黑體" pitchFamily="34" charset="-120"/>
                <a:ea typeface="微軟正黑體" pitchFamily="34" charset="-120"/>
              </a:rPr>
              <a:t>Uncertainty </a:t>
            </a:r>
            <a:r>
              <a:rPr lang="en-US" altLang="zh-TW" sz="2000" dirty="0" err="1" smtClean="0">
                <a:latin typeface="微軟正黑體" pitchFamily="34" charset="-120"/>
                <a:ea typeface="微軟正黑體" pitchFamily="34" charset="-120"/>
              </a:rPr>
              <a:t>principle的限制</a:t>
            </a:r>
            <a:endParaRPr lang="zh-TW" altLang="en-US" sz="2000" dirty="0">
              <a:latin typeface="微軟正黑體" pitchFamily="34" charset="-120"/>
              <a:ea typeface="微軟正黑體" pitchFamily="34" charset="-120"/>
            </a:endParaRPr>
          </a:p>
        </p:txBody>
      </p:sp>
    </p:spTree>
    <p:extLst>
      <p:ext uri="{BB962C8B-B14F-4D97-AF65-F5344CB8AC3E}">
        <p14:creationId xmlns:p14="http://schemas.microsoft.com/office/powerpoint/2010/main" val="26504989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Short-time </a:t>
            </a:r>
            <a:r>
              <a:rPr lang="en-US" altLang="zh-TW" dirty="0"/>
              <a:t>Fourier transform (</a:t>
            </a:r>
            <a:r>
              <a:rPr lang="en-US" altLang="zh-TW" dirty="0" smtClean="0"/>
              <a:t>STFT)</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13</a:t>
            </a:fld>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872" y="1330626"/>
            <a:ext cx="6856414" cy="720080"/>
          </a:xfrm>
          <a:prstGeom prst="rect">
            <a:avLst/>
          </a:prstGeo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537" y="2177886"/>
            <a:ext cx="6483387" cy="792088"/>
          </a:xfrm>
          <a:prstGeom prst="rect">
            <a:avLst/>
          </a:prstGeom>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7212" y="3284984"/>
            <a:ext cx="6326036" cy="2016224"/>
          </a:xfrm>
          <a:prstGeom prst="rect">
            <a:avLst/>
          </a:prstGeom>
        </p:spPr>
      </p:pic>
      <p:sp>
        <p:nvSpPr>
          <p:cNvPr id="7" name="文字方塊 6"/>
          <p:cNvSpPr txBox="1"/>
          <p:nvPr/>
        </p:nvSpPr>
        <p:spPr>
          <a:xfrm>
            <a:off x="1103684" y="5334677"/>
            <a:ext cx="6552728" cy="1200329"/>
          </a:xfrm>
          <a:prstGeom prst="rect">
            <a:avLst/>
          </a:prstGeom>
          <a:noFill/>
        </p:spPr>
        <p:txBody>
          <a:bodyPr wrap="square" rtlCol="0">
            <a:spAutoFit/>
          </a:bodyPr>
          <a:lstStyle/>
          <a:p>
            <a:pPr marL="342900" indent="-342900">
              <a:buFont typeface="Arial" pitchFamily="34" charset="0"/>
              <a:buChar char="•"/>
            </a:pPr>
            <a:r>
              <a:rPr lang="en-US" altLang="zh-TW" sz="2400" dirty="0" smtClean="0"/>
              <a:t>Small window has better time resolution</a:t>
            </a:r>
          </a:p>
          <a:p>
            <a:pPr marL="342900" indent="-342900">
              <a:buFont typeface="Arial" pitchFamily="34" charset="0"/>
              <a:buChar char="•"/>
            </a:pPr>
            <a:r>
              <a:rPr lang="en-US" altLang="zh-TW" sz="2400" dirty="0" smtClean="0"/>
              <a:t>Large window has better frequency resolution</a:t>
            </a:r>
          </a:p>
          <a:p>
            <a:pPr marL="342900" indent="-342900">
              <a:buFont typeface="Arial" pitchFamily="34" charset="0"/>
              <a:buChar char="•"/>
            </a:pPr>
            <a:r>
              <a:rPr lang="en-US" altLang="zh-TW" sz="2400" dirty="0" smtClean="0">
                <a:solidFill>
                  <a:srgbClr val="FF0000"/>
                </a:solidFill>
              </a:rPr>
              <a:t>Fixed width of window size</a:t>
            </a:r>
            <a:endParaRPr lang="zh-TW" altLang="en-US" sz="2400" dirty="0">
              <a:solidFill>
                <a:srgbClr val="FF0000"/>
              </a:solidFill>
            </a:endParaRPr>
          </a:p>
        </p:txBody>
      </p:sp>
    </p:spTree>
    <p:extLst>
      <p:ext uri="{BB962C8B-B14F-4D97-AF65-F5344CB8AC3E}">
        <p14:creationId xmlns:p14="http://schemas.microsoft.com/office/powerpoint/2010/main" val="24679329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a:t>Uncertainty </a:t>
            </a:r>
            <a:r>
              <a:rPr lang="en-US" altLang="zh-TW" b="1" dirty="0" smtClean="0"/>
              <a:t>principle</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14</a:t>
            </a:fld>
            <a:endParaRPr lang="zh-TW" altLang="en-US"/>
          </a:p>
        </p:txBody>
      </p:sp>
      <p:sp>
        <p:nvSpPr>
          <p:cNvPr id="4" name="矩形 3"/>
          <p:cNvSpPr/>
          <p:nvPr/>
        </p:nvSpPr>
        <p:spPr>
          <a:xfrm>
            <a:off x="323528" y="1385865"/>
            <a:ext cx="8280920" cy="3785652"/>
          </a:xfrm>
          <a:prstGeom prst="rect">
            <a:avLst/>
          </a:prstGeom>
        </p:spPr>
        <p:txBody>
          <a:bodyPr wrap="square">
            <a:spAutoFit/>
          </a:bodyPr>
          <a:lstStyle/>
          <a:p>
            <a:r>
              <a:rPr lang="zh-TW" altLang="zh-TW" sz="2400" dirty="0" smtClean="0">
                <a:latin typeface="微軟正黑體" pitchFamily="34" charset="-120"/>
                <a:ea typeface="微軟正黑體" pitchFamily="34" charset="-120"/>
              </a:rPr>
              <a:t>由</a:t>
            </a:r>
            <a:r>
              <a:rPr lang="en-US" altLang="zh-TW" sz="2400" dirty="0">
                <a:latin typeface="微軟正黑體" pitchFamily="34" charset="-120"/>
                <a:ea typeface="微軟正黑體" pitchFamily="34" charset="-120"/>
              </a:rPr>
              <a:t>Werner Heisenberg</a:t>
            </a:r>
            <a:r>
              <a:rPr lang="zh-TW" altLang="zh-TW" sz="2400" dirty="0">
                <a:latin typeface="微軟正黑體" pitchFamily="34" charset="-120"/>
                <a:ea typeface="微軟正黑體" pitchFamily="34" charset="-120"/>
              </a:rPr>
              <a:t>所提出，其說明了任何訊號不可能同時準確的觀察到時間與頻率的分佈</a:t>
            </a:r>
            <a:r>
              <a:rPr lang="zh-TW" altLang="zh-TW" sz="2400" dirty="0" smtClean="0">
                <a:latin typeface="微軟正黑體" pitchFamily="34" charset="-120"/>
                <a:ea typeface="微軟正黑體" pitchFamily="34" charset="-120"/>
              </a:rPr>
              <a:t>。</a:t>
            </a:r>
            <a:endParaRPr lang="en-US" altLang="zh-TW" sz="2400" dirty="0" smtClean="0">
              <a:latin typeface="微軟正黑體" pitchFamily="34" charset="-120"/>
              <a:ea typeface="微軟正黑體" pitchFamily="34" charset="-120"/>
            </a:endParaRPr>
          </a:p>
          <a:p>
            <a:endParaRPr lang="en-US" altLang="zh-TW" sz="2400" dirty="0">
              <a:latin typeface="微軟正黑體" pitchFamily="34" charset="-120"/>
              <a:ea typeface="微軟正黑體" pitchFamily="34" charset="-120"/>
            </a:endParaRPr>
          </a:p>
          <a:p>
            <a:r>
              <a:rPr lang="zh-TW" altLang="zh-TW" sz="2400" dirty="0" smtClean="0">
                <a:latin typeface="微軟正黑體" pitchFamily="34" charset="-120"/>
                <a:ea typeface="微軟正黑體" pitchFamily="34" charset="-120"/>
              </a:rPr>
              <a:t>簡單</a:t>
            </a:r>
            <a:r>
              <a:rPr lang="zh-TW" altLang="zh-TW" sz="2400" dirty="0">
                <a:latin typeface="微軟正黑體" pitchFamily="34" charset="-120"/>
                <a:ea typeface="微軟正黑體" pitchFamily="34" charset="-120"/>
              </a:rPr>
              <a:t>的說，如果人們觀察一個很短暫</a:t>
            </a:r>
            <a:r>
              <a:rPr lang="en-US" altLang="zh-TW" sz="2400" dirty="0">
                <a:latin typeface="微軟正黑體" pitchFamily="34" charset="-120"/>
                <a:ea typeface="微軟正黑體" pitchFamily="34" charset="-120"/>
              </a:rPr>
              <a:t>(</a:t>
            </a:r>
            <a:r>
              <a:rPr lang="zh-TW" altLang="zh-TW" sz="2400" dirty="0">
                <a:latin typeface="微軟正黑體" pitchFamily="34" charset="-120"/>
                <a:ea typeface="微軟正黑體" pitchFamily="34" charset="-120"/>
              </a:rPr>
              <a:t>時間域</a:t>
            </a:r>
            <a:r>
              <a:rPr lang="en-US" altLang="zh-TW" sz="2400" dirty="0">
                <a:latin typeface="微軟正黑體" pitchFamily="34" charset="-120"/>
                <a:ea typeface="微軟正黑體" pitchFamily="34" charset="-120"/>
              </a:rPr>
              <a:t>)</a:t>
            </a:r>
            <a:r>
              <a:rPr lang="zh-TW" altLang="zh-TW" sz="2400" dirty="0">
                <a:latin typeface="微軟正黑體" pitchFamily="34" charset="-120"/>
                <a:ea typeface="微軟正黑體" pitchFamily="34" charset="-120"/>
              </a:rPr>
              <a:t>的訊號</a:t>
            </a:r>
            <a:r>
              <a:rPr lang="en-US" altLang="zh-TW" sz="2400" dirty="0">
                <a:latin typeface="微軟正黑體" pitchFamily="34" charset="-120"/>
                <a:ea typeface="微軟正黑體" pitchFamily="34" charset="-120"/>
              </a:rPr>
              <a:t>(</a:t>
            </a:r>
            <a:r>
              <a:rPr lang="zh-TW" altLang="zh-TW" sz="2400" dirty="0">
                <a:latin typeface="微軟正黑體" pitchFamily="34" charset="-120"/>
                <a:ea typeface="微軟正黑體" pitchFamily="34" charset="-120"/>
              </a:rPr>
              <a:t>如音樂</a:t>
            </a:r>
            <a:r>
              <a:rPr lang="en-US" altLang="zh-TW" sz="2400" dirty="0">
                <a:latin typeface="微軟正黑體" pitchFamily="34" charset="-120"/>
                <a:ea typeface="微軟正黑體" pitchFamily="34" charset="-120"/>
              </a:rPr>
              <a:t>)</a:t>
            </a:r>
            <a:r>
              <a:rPr lang="zh-TW" altLang="zh-TW" sz="2400" dirty="0">
                <a:latin typeface="微軟正黑體" pitchFamily="34" charset="-120"/>
                <a:ea typeface="微軟正黑體" pitchFamily="34" charset="-120"/>
              </a:rPr>
              <a:t>，則很難以準確判定此訊號是屬於那些頻率，只能大概猜測其頻率範圍。反之，如果能夠長時間觀察到訊號，則能夠較準確判定訊號的頻率域</a:t>
            </a:r>
            <a:r>
              <a:rPr lang="zh-TW" altLang="zh-TW" sz="2400" dirty="0" smtClean="0">
                <a:latin typeface="微軟正黑體" pitchFamily="34" charset="-120"/>
                <a:ea typeface="微軟正黑體" pitchFamily="34" charset="-120"/>
              </a:rPr>
              <a:t>。</a:t>
            </a:r>
            <a:endParaRPr lang="en-US" altLang="zh-TW" sz="2400" dirty="0" smtClean="0">
              <a:latin typeface="微軟正黑體" pitchFamily="34" charset="-120"/>
              <a:ea typeface="微軟正黑體" pitchFamily="34" charset="-120"/>
            </a:endParaRPr>
          </a:p>
          <a:p>
            <a:endParaRPr lang="en-US" altLang="zh-TW" sz="2400" dirty="0">
              <a:latin typeface="微軟正黑體" pitchFamily="34" charset="-120"/>
              <a:ea typeface="微軟正黑體" pitchFamily="34" charset="-120"/>
            </a:endParaRPr>
          </a:p>
          <a:p>
            <a:r>
              <a:rPr lang="zh-TW" altLang="en-US" sz="2400" dirty="0" smtClean="0">
                <a:solidFill>
                  <a:srgbClr val="00B0F0"/>
                </a:solidFill>
                <a:latin typeface="微軟正黑體" pitchFamily="34" charset="-120"/>
                <a:ea typeface="微軟正黑體" pitchFamily="34" charset="-120"/>
              </a:rPr>
              <a:t>當</a:t>
            </a:r>
            <a:r>
              <a:rPr lang="en-US" altLang="zh-TW" sz="2400" dirty="0" err="1" smtClean="0">
                <a:solidFill>
                  <a:srgbClr val="00B0F0"/>
                </a:solidFill>
                <a:latin typeface="微軟正黑體" pitchFamily="34" charset="-120"/>
                <a:ea typeface="微軟正黑體" pitchFamily="34" charset="-120"/>
              </a:rPr>
              <a:t>STFT的window為Gaussian</a:t>
            </a:r>
            <a:r>
              <a:rPr lang="en-US" altLang="zh-TW" sz="2400" dirty="0" smtClean="0">
                <a:solidFill>
                  <a:srgbClr val="00B0F0"/>
                </a:solidFill>
                <a:latin typeface="微軟正黑體" pitchFamily="34" charset="-120"/>
                <a:ea typeface="微軟正黑體" pitchFamily="34" charset="-120"/>
              </a:rPr>
              <a:t> </a:t>
            </a:r>
            <a:r>
              <a:rPr lang="en-US" altLang="zh-TW" sz="2400" dirty="0" err="1" smtClean="0">
                <a:solidFill>
                  <a:srgbClr val="00B0F0"/>
                </a:solidFill>
                <a:latin typeface="微軟正黑體" pitchFamily="34" charset="-120"/>
                <a:ea typeface="微軟正黑體" pitchFamily="34" charset="-120"/>
              </a:rPr>
              <a:t>function時，可達到Uncertainty</a:t>
            </a:r>
            <a:r>
              <a:rPr lang="en-US" altLang="zh-TW" sz="2400" dirty="0" smtClean="0">
                <a:solidFill>
                  <a:srgbClr val="00B0F0"/>
                </a:solidFill>
                <a:latin typeface="微軟正黑體" pitchFamily="34" charset="-120"/>
                <a:ea typeface="微軟正黑體" pitchFamily="34" charset="-120"/>
              </a:rPr>
              <a:t> </a:t>
            </a:r>
            <a:r>
              <a:rPr lang="en-US" altLang="zh-TW" sz="2400" dirty="0" err="1" smtClean="0">
                <a:solidFill>
                  <a:srgbClr val="00B0F0"/>
                </a:solidFill>
                <a:latin typeface="微軟正黑體" pitchFamily="34" charset="-120"/>
                <a:ea typeface="微軟正黑體" pitchFamily="34" charset="-120"/>
              </a:rPr>
              <a:t>princple的下限，此時又稱為</a:t>
            </a:r>
            <a:r>
              <a:rPr lang="en-US" altLang="zh-TW" sz="2400" u="sng" dirty="0" err="1" smtClean="0">
                <a:solidFill>
                  <a:srgbClr val="00B0F0"/>
                </a:solidFill>
                <a:latin typeface="微軟正黑體" pitchFamily="34" charset="-120"/>
                <a:ea typeface="微軟正黑體" pitchFamily="34" charset="-120"/>
              </a:rPr>
              <a:t>Gabor</a:t>
            </a:r>
            <a:r>
              <a:rPr lang="en-US" altLang="zh-TW" sz="2400" u="sng" dirty="0" smtClean="0">
                <a:solidFill>
                  <a:srgbClr val="00B0F0"/>
                </a:solidFill>
                <a:latin typeface="微軟正黑體" pitchFamily="34" charset="-120"/>
                <a:ea typeface="微軟正黑體" pitchFamily="34" charset="-120"/>
              </a:rPr>
              <a:t> transf</a:t>
            </a:r>
            <a:r>
              <a:rPr lang="en-US" altLang="zh-TW" sz="2400" dirty="0" smtClean="0">
                <a:solidFill>
                  <a:srgbClr val="00B0F0"/>
                </a:solidFill>
                <a:latin typeface="微軟正黑體" pitchFamily="34" charset="-120"/>
                <a:ea typeface="微軟正黑體" pitchFamily="34" charset="-120"/>
              </a:rPr>
              <a:t>orm.</a:t>
            </a:r>
            <a:endParaRPr lang="zh-TW" altLang="zh-TW" sz="2400" dirty="0">
              <a:solidFill>
                <a:srgbClr val="00B0F0"/>
              </a:solidFill>
              <a:latin typeface="微軟正黑體" pitchFamily="34" charset="-120"/>
              <a:ea typeface="微軟正黑體" pitchFamily="34" charset="-120"/>
            </a:endParaRPr>
          </a:p>
        </p:txBody>
      </p:sp>
      <p:sp>
        <p:nvSpPr>
          <p:cNvPr id="5" name="矩形 4"/>
          <p:cNvSpPr/>
          <p:nvPr/>
        </p:nvSpPr>
        <p:spPr>
          <a:xfrm>
            <a:off x="323528" y="6061938"/>
            <a:ext cx="6624736" cy="369332"/>
          </a:xfrm>
          <a:prstGeom prst="rect">
            <a:avLst/>
          </a:prstGeom>
        </p:spPr>
        <p:txBody>
          <a:bodyPr wrap="square">
            <a:spAutoFit/>
          </a:bodyPr>
          <a:lstStyle/>
          <a:p>
            <a:r>
              <a:rPr lang="en-US" altLang="zh-TW" dirty="0"/>
              <a:t>http://en.wikipedia.org/wiki/Uncertainty_principle</a:t>
            </a:r>
            <a:endParaRPr lang="zh-TW" altLang="en-US" dirty="0"/>
          </a:p>
        </p:txBody>
      </p:sp>
      <p:graphicFrame>
        <p:nvGraphicFramePr>
          <p:cNvPr id="6" name="物件 5"/>
          <p:cNvGraphicFramePr>
            <a:graphicFrameLocks noChangeAspect="1"/>
          </p:cNvGraphicFramePr>
          <p:nvPr>
            <p:extLst>
              <p:ext uri="{D42A27DB-BD31-4B8C-83A1-F6EECF244321}">
                <p14:modId xmlns:p14="http://schemas.microsoft.com/office/powerpoint/2010/main" val="2658997092"/>
              </p:ext>
            </p:extLst>
          </p:nvPr>
        </p:nvGraphicFramePr>
        <p:xfrm>
          <a:off x="539552" y="5301208"/>
          <a:ext cx="2703418" cy="576064"/>
        </p:xfrm>
        <a:graphic>
          <a:graphicData uri="http://schemas.openxmlformats.org/presentationml/2006/ole">
            <mc:AlternateContent xmlns:mc="http://schemas.openxmlformats.org/markup-compatibility/2006">
              <mc:Choice xmlns:v="urn:schemas-microsoft-com:vml" Requires="v">
                <p:oleObj spid="_x0000_s1217" name="Equation" r:id="rId3" imgW="1892300" imgH="406400" progId="Equation.DSMT4">
                  <p:embed/>
                </p:oleObj>
              </mc:Choice>
              <mc:Fallback>
                <p:oleObj name="Equation" r:id="rId3" imgW="1892300" imgH="4064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5301208"/>
                        <a:ext cx="2703418" cy="57606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1747564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DFB2A201-8A46-40D3-BE72-AC6B75F3F883}" type="slidenum">
              <a:rPr lang="zh-TW" altLang="en-US" smtClean="0"/>
              <a:pPr/>
              <a:t>15</a:t>
            </a:fld>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977" y="222717"/>
            <a:ext cx="3573730" cy="1152128"/>
          </a:xfrm>
          <a:prstGeom prst="rect">
            <a:avLst/>
          </a:prstGeo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1656691"/>
            <a:ext cx="3858306" cy="2631848"/>
          </a:xfrm>
          <a:prstGeom prst="rect">
            <a:avLst/>
          </a:prstGeom>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51782" y="1656691"/>
            <a:ext cx="4268690" cy="2813355"/>
          </a:xfrm>
          <a:prstGeom prst="rect">
            <a:avLst/>
          </a:prstGeom>
        </p:spPr>
      </p:pic>
      <p:pic>
        <p:nvPicPr>
          <p:cNvPr id="7" name="圖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743" y="4288539"/>
            <a:ext cx="3746787" cy="2486054"/>
          </a:xfrm>
          <a:prstGeom prst="rect">
            <a:avLst/>
          </a:prstGeom>
        </p:spPr>
      </p:pic>
      <p:pic>
        <p:nvPicPr>
          <p:cNvPr id="8" name="圖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51782" y="4367769"/>
            <a:ext cx="4233389" cy="2490229"/>
          </a:xfrm>
          <a:prstGeom prst="rect">
            <a:avLst/>
          </a:prstGeom>
        </p:spPr>
      </p:pic>
    </p:spTree>
    <p:extLst>
      <p:ext uri="{BB962C8B-B14F-4D97-AF65-F5344CB8AC3E}">
        <p14:creationId xmlns:p14="http://schemas.microsoft.com/office/powerpoint/2010/main" val="4606379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Wavelet transform</a:t>
            </a:r>
            <a:endParaRPr lang="zh-TW" altLang="en-US" dirty="0"/>
          </a:p>
        </p:txBody>
      </p:sp>
      <p:sp>
        <p:nvSpPr>
          <p:cNvPr id="2" name="投影片編號版面配置區 1"/>
          <p:cNvSpPr>
            <a:spLocks noGrp="1"/>
          </p:cNvSpPr>
          <p:nvPr>
            <p:ph type="sldNum" sz="quarter" idx="12"/>
          </p:nvPr>
        </p:nvSpPr>
        <p:spPr/>
        <p:txBody>
          <a:bodyPr/>
          <a:lstStyle/>
          <a:p>
            <a:fld id="{DFB2A201-8A46-40D3-BE72-AC6B75F3F883}" type="slidenum">
              <a:rPr lang="zh-TW" altLang="en-US" smtClean="0"/>
              <a:pPr/>
              <a:t>16</a:t>
            </a:fld>
            <a:endParaRPr lang="zh-TW" altLang="en-US"/>
          </a:p>
        </p:txBody>
      </p:sp>
      <p:graphicFrame>
        <p:nvGraphicFramePr>
          <p:cNvPr id="4" name="物件 3"/>
          <p:cNvGraphicFramePr>
            <a:graphicFrameLocks noChangeAspect="1"/>
          </p:cNvGraphicFramePr>
          <p:nvPr>
            <p:extLst>
              <p:ext uri="{D42A27DB-BD31-4B8C-83A1-F6EECF244321}">
                <p14:modId xmlns:p14="http://schemas.microsoft.com/office/powerpoint/2010/main" val="642748966"/>
              </p:ext>
            </p:extLst>
          </p:nvPr>
        </p:nvGraphicFramePr>
        <p:xfrm>
          <a:off x="2116777" y="1988840"/>
          <a:ext cx="3419475" cy="682625"/>
        </p:xfrm>
        <a:graphic>
          <a:graphicData uri="http://schemas.openxmlformats.org/presentationml/2006/ole">
            <mc:AlternateContent xmlns:mc="http://schemas.openxmlformats.org/markup-compatibility/2006">
              <mc:Choice xmlns:v="urn:schemas-microsoft-com:vml" Requires="v">
                <p:oleObj spid="_x0000_s2423" name="Equation" r:id="rId3" imgW="3416300" imgH="685800" progId="Equation.DSMT4">
                  <p:embed/>
                </p:oleObj>
              </mc:Choice>
              <mc:Fallback>
                <p:oleObj name="Equation" r:id="rId3" imgW="3416300" imgH="6858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6777" y="1988840"/>
                        <a:ext cx="3419475"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p:nvPr/>
        </p:nvSpPr>
        <p:spPr>
          <a:xfrm>
            <a:off x="539552" y="1412776"/>
            <a:ext cx="3918958" cy="461665"/>
          </a:xfrm>
          <a:prstGeom prst="rect">
            <a:avLst/>
          </a:prstGeom>
        </p:spPr>
        <p:txBody>
          <a:bodyPr wrap="none">
            <a:spAutoFit/>
          </a:bodyPr>
          <a:lstStyle/>
          <a:p>
            <a:r>
              <a:rPr lang="en-US" altLang="zh-TW" sz="2400" dirty="0" smtClean="0">
                <a:solidFill>
                  <a:srgbClr val="3333FF"/>
                </a:solidFill>
                <a:ea typeface="新細明體" pitchFamily="18" charset="-120"/>
              </a:rPr>
              <a:t>Continuous wavelet </a:t>
            </a:r>
            <a:r>
              <a:rPr lang="en-US" altLang="zh-TW" sz="2400" dirty="0">
                <a:solidFill>
                  <a:srgbClr val="3333FF"/>
                </a:solidFill>
                <a:ea typeface="新細明體" pitchFamily="18" charset="-120"/>
              </a:rPr>
              <a:t>transform</a:t>
            </a:r>
            <a:endParaRPr lang="zh-TW" altLang="en-US" sz="2400" dirty="0"/>
          </a:p>
        </p:txBody>
      </p:sp>
      <p:sp>
        <p:nvSpPr>
          <p:cNvPr id="6" name="矩形 5"/>
          <p:cNvSpPr/>
          <p:nvPr/>
        </p:nvSpPr>
        <p:spPr>
          <a:xfrm>
            <a:off x="1835696" y="2849362"/>
            <a:ext cx="5375574" cy="369332"/>
          </a:xfrm>
          <a:prstGeom prst="rect">
            <a:avLst/>
          </a:prstGeom>
        </p:spPr>
        <p:txBody>
          <a:bodyPr wrap="none">
            <a:spAutoFit/>
          </a:bodyPr>
          <a:lstStyle/>
          <a:p>
            <a:r>
              <a:rPr lang="en-US" altLang="zh-TW" i="1" dirty="0">
                <a:ea typeface="新細明體" pitchFamily="18" charset="-120"/>
                <a:sym typeface="Symbol" pitchFamily="18" charset="2"/>
              </a:rPr>
              <a:t></a:t>
            </a:r>
            <a:r>
              <a:rPr lang="en-US" altLang="zh-TW" dirty="0">
                <a:ea typeface="新細明體" pitchFamily="18" charset="-120"/>
              </a:rPr>
              <a:t>(</a:t>
            </a:r>
            <a:r>
              <a:rPr lang="en-US" altLang="zh-TW" i="1" dirty="0">
                <a:ea typeface="新細明體" pitchFamily="18" charset="-120"/>
              </a:rPr>
              <a:t>t</a:t>
            </a:r>
            <a:r>
              <a:rPr lang="en-US" altLang="zh-TW" dirty="0">
                <a:ea typeface="新細明體" pitchFamily="18" charset="-120"/>
              </a:rPr>
              <a:t>): mother wavelet, </a:t>
            </a:r>
            <a:r>
              <a:rPr lang="en-US" altLang="zh-TW" i="1" dirty="0">
                <a:solidFill>
                  <a:srgbClr val="FF0000"/>
                </a:solidFill>
                <a:ea typeface="新細明體" pitchFamily="18" charset="-120"/>
              </a:rPr>
              <a:t>a</a:t>
            </a:r>
            <a:r>
              <a:rPr lang="en-US" altLang="zh-TW" dirty="0">
                <a:solidFill>
                  <a:srgbClr val="FF0000"/>
                </a:solidFill>
                <a:ea typeface="新細明體" pitchFamily="18" charset="-120"/>
              </a:rPr>
              <a:t>: location</a:t>
            </a:r>
            <a:r>
              <a:rPr lang="en-US" altLang="zh-TW" dirty="0">
                <a:ea typeface="新細明體" pitchFamily="18" charset="-120"/>
              </a:rPr>
              <a:t>, </a:t>
            </a:r>
            <a:r>
              <a:rPr lang="en-US" altLang="zh-TW" i="1" dirty="0">
                <a:solidFill>
                  <a:srgbClr val="FF0000"/>
                </a:solidFill>
                <a:ea typeface="新細明體" pitchFamily="18" charset="-120"/>
              </a:rPr>
              <a:t>b</a:t>
            </a:r>
            <a:r>
              <a:rPr lang="en-US" altLang="zh-TW" dirty="0">
                <a:solidFill>
                  <a:srgbClr val="FF0000"/>
                </a:solidFill>
                <a:ea typeface="新細明體" pitchFamily="18" charset="-120"/>
              </a:rPr>
              <a:t>: </a:t>
            </a:r>
            <a:r>
              <a:rPr lang="en-US" altLang="zh-TW" dirty="0" smtClean="0">
                <a:solidFill>
                  <a:srgbClr val="FF0000"/>
                </a:solidFill>
                <a:ea typeface="新細明體" pitchFamily="18" charset="-120"/>
              </a:rPr>
              <a:t>scaling (frequency)</a:t>
            </a:r>
            <a:endParaRPr lang="zh-TW" altLang="en-US" dirty="0"/>
          </a:p>
        </p:txBody>
      </p:sp>
      <p:sp>
        <p:nvSpPr>
          <p:cNvPr id="7" name="矩形 6"/>
          <p:cNvSpPr/>
          <p:nvPr/>
        </p:nvSpPr>
        <p:spPr>
          <a:xfrm>
            <a:off x="642817" y="3576788"/>
            <a:ext cx="4918013" cy="461665"/>
          </a:xfrm>
          <a:prstGeom prst="rect">
            <a:avLst/>
          </a:prstGeom>
        </p:spPr>
        <p:txBody>
          <a:bodyPr wrap="none">
            <a:spAutoFit/>
          </a:bodyPr>
          <a:lstStyle/>
          <a:p>
            <a:r>
              <a:rPr lang="en-US" altLang="zh-TW" sz="2400" dirty="0" smtClean="0">
                <a:solidFill>
                  <a:srgbClr val="3333FF"/>
                </a:solidFill>
                <a:ea typeface="新細明體" pitchFamily="18" charset="-120"/>
              </a:rPr>
              <a:t>Continuous inverse </a:t>
            </a:r>
            <a:r>
              <a:rPr lang="en-US" altLang="zh-TW" sz="2400" dirty="0">
                <a:solidFill>
                  <a:srgbClr val="3333FF"/>
                </a:solidFill>
                <a:ea typeface="新細明體" pitchFamily="18" charset="-120"/>
              </a:rPr>
              <a:t>wavelet transform</a:t>
            </a:r>
            <a:endParaRPr lang="zh-TW" altLang="en-US" sz="2400" dirty="0"/>
          </a:p>
        </p:txBody>
      </p:sp>
      <p:graphicFrame>
        <p:nvGraphicFramePr>
          <p:cNvPr id="8" name="物件 7"/>
          <p:cNvGraphicFramePr>
            <a:graphicFrameLocks noChangeAspect="1"/>
          </p:cNvGraphicFramePr>
          <p:nvPr>
            <p:extLst>
              <p:ext uri="{D42A27DB-BD31-4B8C-83A1-F6EECF244321}">
                <p14:modId xmlns:p14="http://schemas.microsoft.com/office/powerpoint/2010/main" val="3980574570"/>
              </p:ext>
            </p:extLst>
          </p:nvPr>
        </p:nvGraphicFramePr>
        <p:xfrm>
          <a:off x="1957810" y="4365104"/>
          <a:ext cx="2803525" cy="536575"/>
        </p:xfrm>
        <a:graphic>
          <a:graphicData uri="http://schemas.openxmlformats.org/presentationml/2006/ole">
            <mc:AlternateContent xmlns:mc="http://schemas.openxmlformats.org/markup-compatibility/2006">
              <mc:Choice xmlns:v="urn:schemas-microsoft-com:vml" Requires="v">
                <p:oleObj spid="_x0000_s2424" name="Equation" r:id="rId5" imgW="2806700" imgH="533400" progId="Equation.DSMT4">
                  <p:embed/>
                </p:oleObj>
              </mc:Choice>
              <mc:Fallback>
                <p:oleObj name="Equation" r:id="rId5" imgW="2806700" imgH="5334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7810" y="4365104"/>
                        <a:ext cx="28035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矩形 9"/>
          <p:cNvSpPr/>
          <p:nvPr/>
        </p:nvSpPr>
        <p:spPr>
          <a:xfrm>
            <a:off x="1902840" y="5013176"/>
            <a:ext cx="3310574" cy="646331"/>
          </a:xfrm>
          <a:prstGeom prst="rect">
            <a:avLst/>
          </a:prstGeom>
        </p:spPr>
        <p:txBody>
          <a:bodyPr wrap="square">
            <a:spAutoFit/>
          </a:bodyPr>
          <a:lstStyle/>
          <a:p>
            <a:r>
              <a:rPr lang="en-US" altLang="zh-TW" i="1" dirty="0">
                <a:ea typeface="新細明體" pitchFamily="18" charset="-120"/>
                <a:sym typeface="Symbol" pitchFamily="18" charset="2"/>
              </a:rPr>
              <a:t></a:t>
            </a:r>
            <a:r>
              <a:rPr lang="en-US" altLang="zh-TW" i="1" baseline="-25000" dirty="0" err="1">
                <a:ea typeface="新細明體" pitchFamily="18" charset="-120"/>
              </a:rPr>
              <a:t>a</a:t>
            </a:r>
            <a:r>
              <a:rPr lang="en-US" altLang="zh-TW" baseline="-25000" dirty="0" err="1">
                <a:ea typeface="新細明體" pitchFamily="18" charset="-120"/>
              </a:rPr>
              <a:t>,</a:t>
            </a:r>
            <a:r>
              <a:rPr lang="en-US" altLang="zh-TW" i="1" baseline="-25000" dirty="0" err="1">
                <a:ea typeface="新細明體" pitchFamily="18" charset="-120"/>
              </a:rPr>
              <a:t>b</a:t>
            </a:r>
            <a:r>
              <a:rPr lang="en-US" altLang="zh-TW" dirty="0">
                <a:ea typeface="新細明體" pitchFamily="18" charset="-120"/>
              </a:rPr>
              <a:t>(</a:t>
            </a:r>
            <a:r>
              <a:rPr lang="en-US" altLang="zh-TW" i="1" dirty="0">
                <a:ea typeface="新細明體" pitchFamily="18" charset="-120"/>
              </a:rPr>
              <a:t>t</a:t>
            </a:r>
            <a:r>
              <a:rPr lang="en-US" altLang="zh-TW" dirty="0">
                <a:ea typeface="新細明體" pitchFamily="18" charset="-120"/>
              </a:rPr>
              <a:t>) is dual orthogonal to </a:t>
            </a:r>
            <a:r>
              <a:rPr lang="en-US" altLang="zh-TW" i="1" dirty="0">
                <a:ea typeface="新細明體" pitchFamily="18" charset="-120"/>
                <a:sym typeface="Symbol" pitchFamily="18" charset="2"/>
              </a:rPr>
              <a:t></a:t>
            </a:r>
            <a:r>
              <a:rPr lang="en-US" altLang="zh-TW" dirty="0">
                <a:ea typeface="新細明體" pitchFamily="18" charset="-120"/>
              </a:rPr>
              <a:t>(</a:t>
            </a:r>
            <a:r>
              <a:rPr lang="en-US" altLang="zh-TW" i="1" dirty="0">
                <a:ea typeface="新細明體" pitchFamily="18" charset="-120"/>
              </a:rPr>
              <a:t>t</a:t>
            </a:r>
            <a:r>
              <a:rPr lang="en-US" altLang="zh-TW" dirty="0" smtClean="0">
                <a:ea typeface="新細明體" pitchFamily="18" charset="-120"/>
              </a:rPr>
              <a:t>)</a:t>
            </a:r>
            <a:br>
              <a:rPr lang="en-US" altLang="zh-TW" dirty="0" smtClean="0">
                <a:ea typeface="新細明體" pitchFamily="18" charset="-120"/>
              </a:rPr>
            </a:br>
            <a:r>
              <a:rPr lang="en-US" altLang="zh-TW" dirty="0" smtClean="0">
                <a:ea typeface="新細明體" pitchFamily="18" charset="-120"/>
              </a:rPr>
              <a:t> (scaling function, father wave)</a:t>
            </a:r>
            <a:endParaRPr lang="zh-TW" altLang="en-US" dirty="0"/>
          </a:p>
        </p:txBody>
      </p:sp>
    </p:spTree>
    <p:extLst>
      <p:ext uri="{BB962C8B-B14F-4D97-AF65-F5344CB8AC3E}">
        <p14:creationId xmlns:p14="http://schemas.microsoft.com/office/powerpoint/2010/main" val="30964347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DFB2A201-8A46-40D3-BE72-AC6B75F3F883}" type="slidenum">
              <a:rPr lang="zh-TW" altLang="en-US" smtClean="0"/>
              <a:pPr/>
              <a:t>17</a:t>
            </a:fld>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60648"/>
            <a:ext cx="3546550" cy="3227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992" y="252129"/>
            <a:ext cx="3793803" cy="3009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3789040"/>
            <a:ext cx="3987189" cy="2520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6496" y="3843130"/>
            <a:ext cx="281940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4499992" y="3573016"/>
            <a:ext cx="3672408" cy="369332"/>
          </a:xfrm>
          <a:prstGeom prst="rect">
            <a:avLst/>
          </a:prstGeom>
          <a:noFill/>
        </p:spPr>
        <p:txBody>
          <a:bodyPr wrap="square" rtlCol="0">
            <a:spAutoFit/>
          </a:bodyPr>
          <a:lstStyle/>
          <a:p>
            <a:r>
              <a:rPr lang="en-US" altLang="zh-TW" dirty="0" err="1" smtClean="0">
                <a:solidFill>
                  <a:srgbClr val="FF0000"/>
                </a:solidFill>
              </a:rPr>
              <a:t>Haar</a:t>
            </a:r>
            <a:r>
              <a:rPr lang="en-US" altLang="zh-TW" dirty="0" smtClean="0">
                <a:solidFill>
                  <a:srgbClr val="FF0000"/>
                </a:solidFill>
              </a:rPr>
              <a:t> scaling function</a:t>
            </a:r>
            <a:endParaRPr lang="zh-TW" altLang="en-US" dirty="0">
              <a:solidFill>
                <a:srgbClr val="FF0000"/>
              </a:solidFill>
            </a:endParaRPr>
          </a:p>
        </p:txBody>
      </p:sp>
      <mc:AlternateContent xmlns:mc="http://schemas.openxmlformats.org/markup-compatibility/2006" xmlns:a14="http://schemas.microsoft.com/office/drawing/2010/main">
        <mc:Choice Requires="a14">
          <p:sp>
            <p:nvSpPr>
              <p:cNvPr id="5" name="文字方塊 4"/>
              <p:cNvSpPr txBox="1"/>
              <p:nvPr/>
            </p:nvSpPr>
            <p:spPr>
              <a:xfrm>
                <a:off x="4788024" y="5229200"/>
                <a:ext cx="2592288" cy="4069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a:ea typeface="Cambria Math"/>
                        </a:rPr>
                        <m:t>∅</m:t>
                      </m:r>
                      <m:r>
                        <a:rPr lang="en-US" altLang="zh-TW" b="0" i="1" smtClean="0">
                          <a:latin typeface="Cambria Math"/>
                        </a:rPr>
                        <m:t>(</m:t>
                      </m:r>
                      <m:sSup>
                        <m:sSupPr>
                          <m:ctrlPr>
                            <a:rPr lang="en-US" altLang="zh-TW" b="0" i="1" smtClean="0">
                              <a:latin typeface="Cambria Math"/>
                            </a:rPr>
                          </m:ctrlPr>
                        </m:sSupPr>
                        <m:e>
                          <m:r>
                            <a:rPr lang="en-US" altLang="zh-TW" b="0" i="1" smtClean="0">
                              <a:latin typeface="Cambria Math"/>
                            </a:rPr>
                            <m:t>2</m:t>
                          </m:r>
                        </m:e>
                        <m:sup>
                          <m:r>
                            <a:rPr lang="en-US" altLang="zh-TW" b="0" i="1" smtClean="0">
                              <a:latin typeface="Cambria Math"/>
                            </a:rPr>
                            <m:t>𝑗</m:t>
                          </m:r>
                        </m:sup>
                      </m:sSup>
                      <m:r>
                        <a:rPr lang="en-US" altLang="zh-TW" b="0" i="1" smtClean="0">
                          <a:latin typeface="Cambria Math"/>
                        </a:rPr>
                        <m:t>𝑥</m:t>
                      </m:r>
                      <m:r>
                        <a:rPr lang="en-US" altLang="zh-TW" b="0" i="1" smtClean="0">
                          <a:latin typeface="Cambria Math"/>
                        </a:rPr>
                        <m:t>)∈</m:t>
                      </m:r>
                      <m:sSub>
                        <m:sSubPr>
                          <m:ctrlPr>
                            <a:rPr lang="en-US" altLang="zh-TW" b="0" i="1" smtClean="0">
                              <a:latin typeface="Cambria Math"/>
                              <a:ea typeface="Cambria Math"/>
                            </a:rPr>
                          </m:ctrlPr>
                        </m:sSubPr>
                        <m:e>
                          <m:r>
                            <a:rPr lang="en-US" altLang="zh-TW" b="0" i="1" smtClean="0">
                              <a:latin typeface="Cambria Math"/>
                              <a:ea typeface="Cambria Math"/>
                            </a:rPr>
                            <m:t>𝑉</m:t>
                          </m:r>
                        </m:e>
                        <m:sub>
                          <m:r>
                            <a:rPr lang="en-US" altLang="zh-TW" b="0" i="1" smtClean="0">
                              <a:latin typeface="Cambria Math"/>
                              <a:ea typeface="Cambria Math"/>
                            </a:rPr>
                            <m:t>𝑗</m:t>
                          </m:r>
                        </m:sub>
                      </m:sSub>
                    </m:oMath>
                  </m:oMathPara>
                </a14:m>
                <a:endParaRPr lang="zh-TW" altLang="en-US"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4788024" y="5229200"/>
                <a:ext cx="2592288" cy="406906"/>
              </a:xfrm>
              <a:prstGeom prst="rect">
                <a:avLst/>
              </a:prstGeom>
              <a:blipFill rotWithShape="1">
                <a:blip r:embed="rId6"/>
                <a:stretch>
                  <a:fillRect b="-597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134713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DFB2A201-8A46-40D3-BE72-AC6B75F3F883}" type="slidenum">
              <a:rPr lang="zh-TW" altLang="en-US" smtClean="0"/>
              <a:pPr/>
              <a:t>18</a:t>
            </a:fld>
            <a:endParaRPr lang="zh-TW"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1" y="260648"/>
            <a:ext cx="3184528"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332656"/>
            <a:ext cx="3528392" cy="2782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3933056"/>
            <a:ext cx="3612059" cy="2447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4411" y="3789040"/>
            <a:ext cx="28289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7" name="文字方塊 6"/>
              <p:cNvSpPr txBox="1"/>
              <p:nvPr/>
            </p:nvSpPr>
            <p:spPr>
              <a:xfrm>
                <a:off x="4499992" y="4509120"/>
                <a:ext cx="4133767" cy="164173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TW" i="1" smtClean="0">
                          <a:latin typeface="Cambria Math"/>
                          <a:ea typeface="Cambria Math"/>
                        </a:rPr>
                        <m:t>∅</m:t>
                      </m:r>
                      <m:d>
                        <m:dPr>
                          <m:ctrlPr>
                            <a:rPr lang="en-US" altLang="zh-TW" b="0" i="1" smtClean="0">
                              <a:latin typeface="Cambria Math"/>
                            </a:rPr>
                          </m:ctrlPr>
                        </m:dPr>
                        <m:e>
                          <m:sSup>
                            <m:sSupPr>
                              <m:ctrlPr>
                                <a:rPr lang="en-US" altLang="zh-TW" b="0" i="1" smtClean="0">
                                  <a:latin typeface="Cambria Math"/>
                                </a:rPr>
                              </m:ctrlPr>
                            </m:sSupPr>
                            <m:e>
                              <m:r>
                                <a:rPr lang="en-US" altLang="zh-TW" b="0" i="1" smtClean="0">
                                  <a:latin typeface="Cambria Math"/>
                                </a:rPr>
                                <m:t>2</m:t>
                              </m:r>
                            </m:e>
                            <m:sup>
                              <m:r>
                                <a:rPr lang="en-US" altLang="zh-TW" b="0" i="1" smtClean="0">
                                  <a:latin typeface="Cambria Math"/>
                                </a:rPr>
                                <m:t>𝑗</m:t>
                              </m:r>
                            </m:sup>
                          </m:sSup>
                          <m:r>
                            <a:rPr lang="en-US" altLang="zh-TW" b="0" i="1" smtClean="0">
                              <a:latin typeface="Cambria Math"/>
                            </a:rPr>
                            <m:t>𝑥</m:t>
                          </m:r>
                        </m:e>
                      </m:d>
                      <m:r>
                        <a:rPr lang="en-US" altLang="zh-TW" b="0" i="1" smtClean="0">
                          <a:latin typeface="Cambria Math"/>
                          <a:ea typeface="Cambria Math"/>
                        </a:rPr>
                        <m:t>∈</m:t>
                      </m:r>
                      <m:sSub>
                        <m:sSubPr>
                          <m:ctrlPr>
                            <a:rPr lang="en-US" altLang="zh-TW" b="0" i="1" smtClean="0">
                              <a:latin typeface="Cambria Math"/>
                              <a:ea typeface="Cambria Math"/>
                            </a:rPr>
                          </m:ctrlPr>
                        </m:sSubPr>
                        <m:e>
                          <m:r>
                            <a:rPr lang="en-US" altLang="zh-TW" b="0" i="1" smtClean="0">
                              <a:latin typeface="Cambria Math"/>
                              <a:ea typeface="Cambria Math"/>
                            </a:rPr>
                            <m:t>𝑉</m:t>
                          </m:r>
                        </m:e>
                        <m:sub>
                          <m:r>
                            <a:rPr lang="en-US" altLang="zh-TW" b="0" i="1" smtClean="0">
                              <a:latin typeface="Cambria Math"/>
                              <a:ea typeface="Cambria Math"/>
                            </a:rPr>
                            <m:t>𝑗</m:t>
                          </m:r>
                        </m:sub>
                      </m:sSub>
                    </m:oMath>
                  </m:oMathPara>
                </a14:m>
                <a:endParaRPr lang="en-US" altLang="zh-TW" b="0" dirty="0" smtClean="0">
                  <a:ea typeface="Cambria Math"/>
                </a:endParaRPr>
              </a:p>
              <a:p>
                <a:pPr/>
                <a14:m>
                  <m:oMathPara xmlns:m="http://schemas.openxmlformats.org/officeDocument/2006/math">
                    <m:oMathParaPr>
                      <m:jc m:val="left"/>
                    </m:oMathParaPr>
                    <m:oMath xmlns:m="http://schemas.openxmlformats.org/officeDocument/2006/math">
                      <m:r>
                        <a:rPr lang="en-US" altLang="zh-TW" b="0" i="1" smtClean="0">
                          <a:latin typeface="Cambria Math"/>
                          <a:ea typeface="Cambria Math"/>
                        </a:rPr>
                        <m:t>𝜑</m:t>
                      </m:r>
                      <m:d>
                        <m:dPr>
                          <m:ctrlPr>
                            <a:rPr lang="en-US" altLang="zh-TW" b="0" i="1" smtClean="0">
                              <a:latin typeface="Cambria Math"/>
                              <a:ea typeface="Cambria Math"/>
                            </a:rPr>
                          </m:ctrlPr>
                        </m:dPr>
                        <m:e>
                          <m:sSup>
                            <m:sSupPr>
                              <m:ctrlPr>
                                <a:rPr lang="en-US" altLang="zh-TW" b="0" i="1" smtClean="0">
                                  <a:latin typeface="Cambria Math"/>
                                  <a:ea typeface="Cambria Math"/>
                                </a:rPr>
                              </m:ctrlPr>
                            </m:sSupPr>
                            <m:e>
                              <m:r>
                                <a:rPr lang="en-US" altLang="zh-TW" b="0" i="1" smtClean="0">
                                  <a:latin typeface="Cambria Math"/>
                                  <a:ea typeface="Cambria Math"/>
                                </a:rPr>
                                <m:t>2</m:t>
                              </m:r>
                            </m:e>
                            <m:sup>
                              <m:r>
                                <a:rPr lang="en-US" altLang="zh-TW" b="0" i="1" smtClean="0">
                                  <a:latin typeface="Cambria Math"/>
                                  <a:ea typeface="Cambria Math"/>
                                </a:rPr>
                                <m:t>𝑗</m:t>
                              </m:r>
                            </m:sup>
                          </m:sSup>
                          <m:r>
                            <a:rPr lang="en-US" altLang="zh-TW" b="0" i="1" smtClean="0">
                              <a:latin typeface="Cambria Math"/>
                              <a:ea typeface="Cambria Math"/>
                            </a:rPr>
                            <m:t>𝑥</m:t>
                          </m:r>
                        </m:e>
                      </m:d>
                      <m:r>
                        <a:rPr lang="en-US" altLang="zh-TW" b="0" i="1" smtClean="0">
                          <a:latin typeface="Cambria Math"/>
                          <a:ea typeface="Cambria Math"/>
                        </a:rPr>
                        <m:t>∈</m:t>
                      </m:r>
                      <m:sSub>
                        <m:sSubPr>
                          <m:ctrlPr>
                            <a:rPr lang="en-US" altLang="zh-TW" b="0" i="1" smtClean="0">
                              <a:latin typeface="Cambria Math"/>
                              <a:ea typeface="Cambria Math"/>
                            </a:rPr>
                          </m:ctrlPr>
                        </m:sSubPr>
                        <m:e>
                          <m:r>
                            <a:rPr lang="en-US" altLang="zh-TW" b="0" i="1" smtClean="0">
                              <a:latin typeface="Cambria Math"/>
                              <a:ea typeface="Cambria Math"/>
                            </a:rPr>
                            <m:t>𝑉</m:t>
                          </m:r>
                        </m:e>
                        <m:sub>
                          <m:r>
                            <a:rPr lang="en-US" altLang="zh-TW" b="0" i="1" smtClean="0">
                              <a:latin typeface="Cambria Math"/>
                              <a:ea typeface="Cambria Math"/>
                            </a:rPr>
                            <m:t>𝑗</m:t>
                          </m:r>
                          <m:r>
                            <a:rPr lang="en-US" altLang="zh-TW" b="0" i="1" smtClean="0">
                              <a:latin typeface="Cambria Math"/>
                              <a:ea typeface="Cambria Math"/>
                            </a:rPr>
                            <m:t>+1</m:t>
                          </m:r>
                        </m:sub>
                      </m:sSub>
                      <m:r>
                        <a:rPr lang="en-US" altLang="zh-TW" b="0" i="1" smtClean="0">
                          <a:latin typeface="Cambria Math"/>
                          <a:ea typeface="Cambria Math"/>
                        </a:rPr>
                        <m:t>=</m:t>
                      </m:r>
                      <m:sSub>
                        <m:sSubPr>
                          <m:ctrlPr>
                            <a:rPr lang="en-US" altLang="zh-TW" b="0" i="1" smtClean="0">
                              <a:latin typeface="Cambria Math"/>
                              <a:ea typeface="Cambria Math"/>
                            </a:rPr>
                          </m:ctrlPr>
                        </m:sSubPr>
                        <m:e>
                          <m:r>
                            <a:rPr lang="en-US" altLang="zh-TW" b="0" i="1" smtClean="0">
                              <a:latin typeface="Cambria Math"/>
                              <a:ea typeface="Cambria Math"/>
                            </a:rPr>
                            <m:t>𝑊</m:t>
                          </m:r>
                        </m:e>
                        <m:sub>
                          <m:r>
                            <a:rPr lang="en-US" altLang="zh-TW" b="0" i="1" smtClean="0">
                              <a:latin typeface="Cambria Math"/>
                              <a:ea typeface="Cambria Math"/>
                            </a:rPr>
                            <m:t>𝑗</m:t>
                          </m:r>
                        </m:sub>
                      </m:sSub>
                    </m:oMath>
                  </m:oMathPara>
                </a14:m>
                <a:endParaRPr lang="en-US" altLang="zh-TW" b="0" dirty="0" smtClean="0">
                  <a:ea typeface="Cambria Math"/>
                </a:endParaRPr>
              </a:p>
              <a:p>
                <a14:m>
                  <m:oMath xmlns:m="http://schemas.openxmlformats.org/officeDocument/2006/math">
                    <m:r>
                      <a:rPr lang="en-US" altLang="zh-TW" i="1">
                        <a:latin typeface="Cambria Math"/>
                        <a:ea typeface="Cambria Math"/>
                      </a:rPr>
                      <m:t>∅</m:t>
                    </m:r>
                    <m:d>
                      <m:dPr>
                        <m:ctrlPr>
                          <a:rPr lang="en-US" altLang="zh-TW" i="1">
                            <a:latin typeface="Cambria Math"/>
                          </a:rPr>
                        </m:ctrlPr>
                      </m:dPr>
                      <m:e>
                        <m:sSup>
                          <m:sSupPr>
                            <m:ctrlPr>
                              <a:rPr lang="en-US" altLang="zh-TW" i="1">
                                <a:latin typeface="Cambria Math"/>
                              </a:rPr>
                            </m:ctrlPr>
                          </m:sSupPr>
                          <m:e>
                            <m:r>
                              <a:rPr lang="en-US" altLang="zh-TW" i="1">
                                <a:latin typeface="Cambria Math"/>
                              </a:rPr>
                              <m:t>2</m:t>
                            </m:r>
                          </m:e>
                          <m:sup>
                            <m:r>
                              <a:rPr lang="en-US" altLang="zh-TW" i="1">
                                <a:latin typeface="Cambria Math"/>
                              </a:rPr>
                              <m:t>𝑗</m:t>
                            </m:r>
                          </m:sup>
                        </m:sSup>
                        <m:r>
                          <a:rPr lang="en-US" altLang="zh-TW" i="1">
                            <a:latin typeface="Cambria Math"/>
                          </a:rPr>
                          <m:t>𝑥</m:t>
                        </m:r>
                      </m:e>
                    </m:d>
                    <m:r>
                      <a:rPr lang="en-US" altLang="zh-TW" i="1" smtClean="0">
                        <a:latin typeface="Cambria Math"/>
                        <a:ea typeface="Cambria Math"/>
                      </a:rPr>
                      <m:t>⊥</m:t>
                    </m:r>
                  </m:oMath>
                </a14:m>
                <a:r>
                  <a:rPr lang="en-US" altLang="zh-TW" dirty="0">
                    <a:ea typeface="Cambria Math"/>
                  </a:rPr>
                  <a:t> </a:t>
                </a:r>
                <a14:m>
                  <m:oMath xmlns:m="http://schemas.openxmlformats.org/officeDocument/2006/math">
                    <m:r>
                      <a:rPr lang="en-US" altLang="zh-TW" i="1">
                        <a:latin typeface="Cambria Math"/>
                        <a:ea typeface="Cambria Math"/>
                      </a:rPr>
                      <m:t>𝜑</m:t>
                    </m:r>
                    <m:d>
                      <m:dPr>
                        <m:ctrlPr>
                          <a:rPr lang="en-US" altLang="zh-TW" i="1">
                            <a:latin typeface="Cambria Math"/>
                            <a:ea typeface="Cambria Math"/>
                          </a:rPr>
                        </m:ctrlPr>
                      </m:dPr>
                      <m:e>
                        <m:sSup>
                          <m:sSupPr>
                            <m:ctrlPr>
                              <a:rPr lang="en-US" altLang="zh-TW" i="1">
                                <a:latin typeface="Cambria Math"/>
                                <a:ea typeface="Cambria Math"/>
                              </a:rPr>
                            </m:ctrlPr>
                          </m:sSupPr>
                          <m:e>
                            <m:r>
                              <a:rPr lang="en-US" altLang="zh-TW" i="1">
                                <a:latin typeface="Cambria Math"/>
                                <a:ea typeface="Cambria Math"/>
                              </a:rPr>
                              <m:t>2</m:t>
                            </m:r>
                          </m:e>
                          <m:sup>
                            <m:r>
                              <a:rPr lang="en-US" altLang="zh-TW" i="1">
                                <a:latin typeface="Cambria Math"/>
                                <a:ea typeface="Cambria Math"/>
                              </a:rPr>
                              <m:t>𝑗</m:t>
                            </m:r>
                          </m:sup>
                        </m:sSup>
                        <m:r>
                          <a:rPr lang="en-US" altLang="zh-TW" i="1">
                            <a:latin typeface="Cambria Math"/>
                            <a:ea typeface="Cambria Math"/>
                          </a:rPr>
                          <m:t>𝑥</m:t>
                        </m:r>
                      </m:e>
                    </m:d>
                  </m:oMath>
                </a14:m>
                <a:endParaRPr lang="en-US" altLang="zh-TW" dirty="0" smtClean="0">
                  <a:ea typeface="Cambria Math"/>
                </a:endParaRPr>
              </a:p>
              <a:p>
                <a14:m>
                  <m:oMath xmlns:m="http://schemas.openxmlformats.org/officeDocument/2006/math">
                    <m:sSub>
                      <m:sSubPr>
                        <m:ctrlPr>
                          <a:rPr lang="en-US" altLang="zh-TW" i="1" smtClean="0">
                            <a:solidFill>
                              <a:srgbClr val="FF0000"/>
                            </a:solidFill>
                            <a:latin typeface="Cambria Math"/>
                            <a:ea typeface="Cambria Math"/>
                          </a:rPr>
                        </m:ctrlPr>
                      </m:sSubPr>
                      <m:e>
                        <m:r>
                          <a:rPr lang="en-US" altLang="zh-TW" i="1">
                            <a:solidFill>
                              <a:srgbClr val="FF0000"/>
                            </a:solidFill>
                            <a:latin typeface="Cambria Math"/>
                            <a:ea typeface="Cambria Math"/>
                          </a:rPr>
                          <m:t>𝑉</m:t>
                        </m:r>
                      </m:e>
                      <m:sub>
                        <m:r>
                          <a:rPr lang="en-US" altLang="zh-TW" i="1">
                            <a:solidFill>
                              <a:srgbClr val="FF0000"/>
                            </a:solidFill>
                            <a:latin typeface="Cambria Math"/>
                            <a:ea typeface="Cambria Math"/>
                          </a:rPr>
                          <m:t>𝑗</m:t>
                        </m:r>
                        <m:r>
                          <a:rPr lang="en-US" altLang="zh-TW" b="0" i="1" smtClean="0">
                            <a:solidFill>
                              <a:srgbClr val="FF0000"/>
                            </a:solidFill>
                            <a:latin typeface="Cambria Math"/>
                            <a:ea typeface="Cambria Math"/>
                          </a:rPr>
                          <m:t>+1</m:t>
                        </m:r>
                      </m:sub>
                    </m:sSub>
                  </m:oMath>
                </a14:m>
                <a:r>
                  <a:rPr lang="en-US" altLang="zh-TW" dirty="0" smtClean="0">
                    <a:solidFill>
                      <a:srgbClr val="FF0000"/>
                    </a:solidFill>
                  </a:rPr>
                  <a:t>=</a:t>
                </a:r>
                <a:r>
                  <a:rPr lang="en-US" altLang="zh-TW" dirty="0">
                    <a:solidFill>
                      <a:srgbClr val="FF0000"/>
                    </a:solidFill>
                    <a:ea typeface="Cambria Math"/>
                  </a:rPr>
                  <a:t> </a:t>
                </a:r>
                <a14:m>
                  <m:oMath xmlns:m="http://schemas.openxmlformats.org/officeDocument/2006/math">
                    <m:sSub>
                      <m:sSubPr>
                        <m:ctrlPr>
                          <a:rPr lang="en-US" altLang="zh-TW" i="1" smtClean="0">
                            <a:solidFill>
                              <a:srgbClr val="FF0000"/>
                            </a:solidFill>
                            <a:latin typeface="Cambria Math"/>
                            <a:ea typeface="Cambria Math"/>
                          </a:rPr>
                        </m:ctrlPr>
                      </m:sSubPr>
                      <m:e>
                        <m:r>
                          <a:rPr lang="en-US" altLang="zh-TW" b="0" i="1" smtClean="0">
                            <a:solidFill>
                              <a:srgbClr val="FF0000"/>
                            </a:solidFill>
                            <a:latin typeface="Cambria Math"/>
                            <a:ea typeface="Cambria Math"/>
                          </a:rPr>
                          <m:t>𝑊</m:t>
                        </m:r>
                      </m:e>
                      <m:sub>
                        <m:r>
                          <a:rPr lang="en-US" altLang="zh-TW" i="1">
                            <a:solidFill>
                              <a:srgbClr val="FF0000"/>
                            </a:solidFill>
                            <a:latin typeface="Cambria Math"/>
                            <a:ea typeface="Cambria Math"/>
                          </a:rPr>
                          <m:t>𝑗</m:t>
                        </m:r>
                      </m:sub>
                    </m:sSub>
                    <m:r>
                      <a:rPr lang="en-US" altLang="zh-TW" i="1" smtClean="0">
                        <a:solidFill>
                          <a:srgbClr val="FF0000"/>
                        </a:solidFill>
                        <a:latin typeface="Cambria Math"/>
                        <a:ea typeface="Cambria Math"/>
                      </a:rPr>
                      <m:t>⨁</m:t>
                    </m:r>
                    <m:sSub>
                      <m:sSubPr>
                        <m:ctrlPr>
                          <a:rPr lang="en-US" altLang="zh-TW" i="1">
                            <a:solidFill>
                              <a:srgbClr val="FF0000"/>
                            </a:solidFill>
                            <a:latin typeface="Cambria Math"/>
                            <a:ea typeface="Cambria Math"/>
                          </a:rPr>
                        </m:ctrlPr>
                      </m:sSubPr>
                      <m:e>
                        <m:r>
                          <a:rPr lang="en-US" altLang="zh-TW" b="0" i="1" smtClean="0">
                            <a:solidFill>
                              <a:srgbClr val="FF0000"/>
                            </a:solidFill>
                            <a:latin typeface="Cambria Math"/>
                            <a:ea typeface="Cambria Math"/>
                          </a:rPr>
                          <m:t>𝑉</m:t>
                        </m:r>
                      </m:e>
                      <m:sub>
                        <m:r>
                          <a:rPr lang="en-US" altLang="zh-TW" i="1">
                            <a:solidFill>
                              <a:srgbClr val="FF0000"/>
                            </a:solidFill>
                            <a:latin typeface="Cambria Math"/>
                            <a:ea typeface="Cambria Math"/>
                          </a:rPr>
                          <m:t>𝑗</m:t>
                        </m:r>
                      </m:sub>
                    </m:sSub>
                    <m:r>
                      <a:rPr lang="en-US" altLang="zh-TW" b="0" i="1" smtClean="0">
                        <a:solidFill>
                          <a:srgbClr val="FF0000"/>
                        </a:solidFill>
                        <a:latin typeface="Cambria Math"/>
                        <a:ea typeface="Cambria Math"/>
                      </a:rPr>
                      <m:t>=</m:t>
                    </m:r>
                    <m:sSub>
                      <m:sSubPr>
                        <m:ctrlPr>
                          <a:rPr lang="en-US" altLang="zh-TW" i="1">
                            <a:solidFill>
                              <a:srgbClr val="FF0000"/>
                            </a:solidFill>
                            <a:latin typeface="Cambria Math"/>
                            <a:ea typeface="Cambria Math"/>
                          </a:rPr>
                        </m:ctrlPr>
                      </m:sSubPr>
                      <m:e>
                        <m:r>
                          <a:rPr lang="en-US" altLang="zh-TW" i="1">
                            <a:solidFill>
                              <a:srgbClr val="FF0000"/>
                            </a:solidFill>
                            <a:latin typeface="Cambria Math"/>
                            <a:ea typeface="Cambria Math"/>
                          </a:rPr>
                          <m:t>𝑊</m:t>
                        </m:r>
                      </m:e>
                      <m:sub>
                        <m:r>
                          <a:rPr lang="en-US" altLang="zh-TW" i="1">
                            <a:solidFill>
                              <a:srgbClr val="FF0000"/>
                            </a:solidFill>
                            <a:latin typeface="Cambria Math"/>
                            <a:ea typeface="Cambria Math"/>
                          </a:rPr>
                          <m:t>𝑗</m:t>
                        </m:r>
                      </m:sub>
                    </m:sSub>
                    <m:r>
                      <a:rPr lang="en-US" altLang="zh-TW" i="1">
                        <a:solidFill>
                          <a:srgbClr val="FF0000"/>
                        </a:solidFill>
                        <a:latin typeface="Cambria Math"/>
                        <a:ea typeface="Cambria Math"/>
                      </a:rPr>
                      <m:t>⨁</m:t>
                    </m:r>
                    <m:sSub>
                      <m:sSubPr>
                        <m:ctrlPr>
                          <a:rPr lang="en-US" altLang="zh-TW" i="1">
                            <a:solidFill>
                              <a:srgbClr val="FF0000"/>
                            </a:solidFill>
                            <a:latin typeface="Cambria Math"/>
                            <a:ea typeface="Cambria Math"/>
                          </a:rPr>
                        </m:ctrlPr>
                      </m:sSubPr>
                      <m:e>
                        <m:r>
                          <a:rPr lang="en-US" altLang="zh-TW" b="0" i="1" smtClean="0">
                            <a:solidFill>
                              <a:srgbClr val="FF0000"/>
                            </a:solidFill>
                            <a:latin typeface="Cambria Math"/>
                            <a:ea typeface="Cambria Math"/>
                          </a:rPr>
                          <m:t>𝑊</m:t>
                        </m:r>
                      </m:e>
                      <m:sub>
                        <m:r>
                          <a:rPr lang="en-US" altLang="zh-TW" i="1">
                            <a:solidFill>
                              <a:srgbClr val="FF0000"/>
                            </a:solidFill>
                            <a:latin typeface="Cambria Math"/>
                            <a:ea typeface="Cambria Math"/>
                          </a:rPr>
                          <m:t>𝑗</m:t>
                        </m:r>
                        <m:r>
                          <a:rPr lang="en-US" altLang="zh-TW" b="0" i="1" smtClean="0">
                            <a:solidFill>
                              <a:srgbClr val="FF0000"/>
                            </a:solidFill>
                            <a:latin typeface="Cambria Math"/>
                            <a:ea typeface="Cambria Math"/>
                          </a:rPr>
                          <m:t>−1</m:t>
                        </m:r>
                      </m:sub>
                    </m:sSub>
                    <m:r>
                      <a:rPr lang="en-US" altLang="zh-TW" i="1">
                        <a:solidFill>
                          <a:srgbClr val="FF0000"/>
                        </a:solidFill>
                        <a:latin typeface="Cambria Math"/>
                        <a:ea typeface="Cambria Math"/>
                      </a:rPr>
                      <m:t>⨁</m:t>
                    </m:r>
                    <m:sSub>
                      <m:sSubPr>
                        <m:ctrlPr>
                          <a:rPr lang="en-US" altLang="zh-TW" i="1">
                            <a:solidFill>
                              <a:srgbClr val="FF0000"/>
                            </a:solidFill>
                            <a:latin typeface="Cambria Math"/>
                            <a:ea typeface="Cambria Math"/>
                          </a:rPr>
                        </m:ctrlPr>
                      </m:sSubPr>
                      <m:e>
                        <m:r>
                          <a:rPr lang="en-US" altLang="zh-TW" i="1">
                            <a:solidFill>
                              <a:srgbClr val="FF0000"/>
                            </a:solidFill>
                            <a:latin typeface="Cambria Math"/>
                            <a:ea typeface="Cambria Math"/>
                          </a:rPr>
                          <m:t>𝑉</m:t>
                        </m:r>
                      </m:e>
                      <m:sub>
                        <m:r>
                          <a:rPr lang="en-US" altLang="zh-TW" i="1">
                            <a:solidFill>
                              <a:srgbClr val="FF0000"/>
                            </a:solidFill>
                            <a:latin typeface="Cambria Math"/>
                            <a:ea typeface="Cambria Math"/>
                          </a:rPr>
                          <m:t>𝑗</m:t>
                        </m:r>
                        <m:r>
                          <a:rPr lang="en-US" altLang="zh-TW" i="1">
                            <a:solidFill>
                              <a:srgbClr val="FF0000"/>
                            </a:solidFill>
                            <a:latin typeface="Cambria Math"/>
                            <a:ea typeface="Cambria Math"/>
                          </a:rPr>
                          <m:t>−1</m:t>
                        </m:r>
                      </m:sub>
                    </m:sSub>
                    <m:r>
                      <a:rPr lang="en-US" altLang="zh-TW" b="0" i="1" smtClean="0">
                        <a:solidFill>
                          <a:srgbClr val="FF0000"/>
                        </a:solidFill>
                        <a:latin typeface="Cambria Math"/>
                        <a:ea typeface="Cambria Math"/>
                      </a:rPr>
                      <m:t>=…=</m:t>
                    </m:r>
                    <m:sSub>
                      <m:sSubPr>
                        <m:ctrlPr>
                          <a:rPr lang="en-US" altLang="zh-TW" i="1">
                            <a:solidFill>
                              <a:srgbClr val="FF0000"/>
                            </a:solidFill>
                            <a:latin typeface="Cambria Math"/>
                            <a:ea typeface="Cambria Math"/>
                          </a:rPr>
                        </m:ctrlPr>
                      </m:sSubPr>
                      <m:e>
                        <m:r>
                          <a:rPr lang="en-US" altLang="zh-TW" i="1">
                            <a:solidFill>
                              <a:srgbClr val="FF0000"/>
                            </a:solidFill>
                            <a:latin typeface="Cambria Math"/>
                            <a:ea typeface="Cambria Math"/>
                          </a:rPr>
                          <m:t>𝑊</m:t>
                        </m:r>
                      </m:e>
                      <m:sub>
                        <m:r>
                          <a:rPr lang="en-US" altLang="zh-TW" i="1">
                            <a:solidFill>
                              <a:srgbClr val="FF0000"/>
                            </a:solidFill>
                            <a:latin typeface="Cambria Math"/>
                            <a:ea typeface="Cambria Math"/>
                          </a:rPr>
                          <m:t>𝑗</m:t>
                        </m:r>
                      </m:sub>
                    </m:sSub>
                    <m:r>
                      <a:rPr lang="en-US" altLang="zh-TW" i="1">
                        <a:solidFill>
                          <a:srgbClr val="FF0000"/>
                        </a:solidFill>
                        <a:latin typeface="Cambria Math"/>
                        <a:ea typeface="Cambria Math"/>
                      </a:rPr>
                      <m:t>⨁</m:t>
                    </m:r>
                    <m:sSub>
                      <m:sSubPr>
                        <m:ctrlPr>
                          <a:rPr lang="en-US" altLang="zh-TW" i="1">
                            <a:solidFill>
                              <a:srgbClr val="FF0000"/>
                            </a:solidFill>
                            <a:latin typeface="Cambria Math"/>
                            <a:ea typeface="Cambria Math"/>
                          </a:rPr>
                        </m:ctrlPr>
                      </m:sSubPr>
                      <m:e>
                        <m:r>
                          <a:rPr lang="en-US" altLang="zh-TW" i="1">
                            <a:solidFill>
                              <a:srgbClr val="FF0000"/>
                            </a:solidFill>
                            <a:latin typeface="Cambria Math"/>
                            <a:ea typeface="Cambria Math"/>
                          </a:rPr>
                          <m:t>𝑊</m:t>
                        </m:r>
                      </m:e>
                      <m:sub>
                        <m:r>
                          <a:rPr lang="en-US" altLang="zh-TW" i="1">
                            <a:solidFill>
                              <a:srgbClr val="FF0000"/>
                            </a:solidFill>
                            <a:latin typeface="Cambria Math"/>
                            <a:ea typeface="Cambria Math"/>
                          </a:rPr>
                          <m:t>𝑗</m:t>
                        </m:r>
                        <m:r>
                          <a:rPr lang="en-US" altLang="zh-TW" i="1">
                            <a:solidFill>
                              <a:srgbClr val="FF0000"/>
                            </a:solidFill>
                            <a:latin typeface="Cambria Math"/>
                            <a:ea typeface="Cambria Math"/>
                          </a:rPr>
                          <m:t>−1</m:t>
                        </m:r>
                      </m:sub>
                    </m:sSub>
                    <m:r>
                      <a:rPr lang="en-US" altLang="zh-TW" i="1">
                        <a:solidFill>
                          <a:srgbClr val="FF0000"/>
                        </a:solidFill>
                        <a:latin typeface="Cambria Math"/>
                        <a:ea typeface="Cambria Math"/>
                      </a:rPr>
                      <m:t>⨁</m:t>
                    </m:r>
                    <m:sSub>
                      <m:sSubPr>
                        <m:ctrlPr>
                          <a:rPr lang="en-US" altLang="zh-TW" i="1">
                            <a:solidFill>
                              <a:srgbClr val="FF0000"/>
                            </a:solidFill>
                            <a:latin typeface="Cambria Math"/>
                            <a:ea typeface="Cambria Math"/>
                          </a:rPr>
                        </m:ctrlPr>
                      </m:sSubPr>
                      <m:e>
                        <m:r>
                          <a:rPr lang="en-US" altLang="zh-TW" i="1">
                            <a:solidFill>
                              <a:srgbClr val="FF0000"/>
                            </a:solidFill>
                            <a:latin typeface="Cambria Math"/>
                            <a:ea typeface="Cambria Math"/>
                          </a:rPr>
                          <m:t>𝑊</m:t>
                        </m:r>
                      </m:e>
                      <m:sub>
                        <m:r>
                          <a:rPr lang="en-US" altLang="zh-TW" i="1">
                            <a:solidFill>
                              <a:srgbClr val="FF0000"/>
                            </a:solidFill>
                            <a:latin typeface="Cambria Math"/>
                            <a:ea typeface="Cambria Math"/>
                          </a:rPr>
                          <m:t>𝑗</m:t>
                        </m:r>
                        <m:r>
                          <a:rPr lang="en-US" altLang="zh-TW" i="1">
                            <a:solidFill>
                              <a:srgbClr val="FF0000"/>
                            </a:solidFill>
                            <a:latin typeface="Cambria Math"/>
                            <a:ea typeface="Cambria Math"/>
                          </a:rPr>
                          <m:t>−2</m:t>
                        </m:r>
                      </m:sub>
                    </m:sSub>
                  </m:oMath>
                </a14:m>
                <a:r>
                  <a:rPr lang="en-US" altLang="zh-TW" dirty="0">
                    <a:solidFill>
                      <a:srgbClr val="FF0000"/>
                    </a:solidFill>
                    <a:ea typeface="Cambria Math"/>
                  </a:rPr>
                  <a:t> </a:t>
                </a:r>
                <a14:m>
                  <m:oMath xmlns:m="http://schemas.openxmlformats.org/officeDocument/2006/math">
                    <m:r>
                      <a:rPr lang="en-US" altLang="zh-TW" b="0" i="0" smtClean="0">
                        <a:solidFill>
                          <a:srgbClr val="FF0000"/>
                        </a:solidFill>
                        <a:latin typeface="Cambria Math"/>
                        <a:ea typeface="Cambria Math"/>
                      </a:rPr>
                      <m:t>…</m:t>
                    </m:r>
                    <m:r>
                      <a:rPr lang="en-US" altLang="zh-TW" i="1">
                        <a:solidFill>
                          <a:srgbClr val="FF0000"/>
                        </a:solidFill>
                        <a:latin typeface="Cambria Math"/>
                        <a:ea typeface="Cambria Math"/>
                      </a:rPr>
                      <m:t>⨁</m:t>
                    </m:r>
                    <m:sSub>
                      <m:sSubPr>
                        <m:ctrlPr>
                          <a:rPr lang="en-US" altLang="zh-TW" i="1">
                            <a:solidFill>
                              <a:srgbClr val="FF0000"/>
                            </a:solidFill>
                            <a:latin typeface="Cambria Math"/>
                            <a:ea typeface="Cambria Math"/>
                          </a:rPr>
                        </m:ctrlPr>
                      </m:sSubPr>
                      <m:e>
                        <m:r>
                          <a:rPr lang="en-US" altLang="zh-TW" i="1">
                            <a:solidFill>
                              <a:srgbClr val="FF0000"/>
                            </a:solidFill>
                            <a:latin typeface="Cambria Math"/>
                            <a:ea typeface="Cambria Math"/>
                          </a:rPr>
                          <m:t>𝑊</m:t>
                        </m:r>
                      </m:e>
                      <m:sub>
                        <m:r>
                          <a:rPr lang="en-US" altLang="zh-TW" b="0" i="1" smtClean="0">
                            <a:solidFill>
                              <a:srgbClr val="FF0000"/>
                            </a:solidFill>
                            <a:latin typeface="Cambria Math"/>
                            <a:ea typeface="Cambria Math"/>
                          </a:rPr>
                          <m:t>0</m:t>
                        </m:r>
                      </m:sub>
                    </m:sSub>
                  </m:oMath>
                </a14:m>
                <a:r>
                  <a:rPr lang="en-US" altLang="zh-TW" dirty="0">
                    <a:solidFill>
                      <a:srgbClr val="FF0000"/>
                    </a:solidFill>
                    <a:ea typeface="Cambria Math"/>
                  </a:rPr>
                  <a:t> </a:t>
                </a:r>
                <a14:m>
                  <m:oMath xmlns:m="http://schemas.openxmlformats.org/officeDocument/2006/math">
                    <m:r>
                      <a:rPr lang="en-US" altLang="zh-TW" i="1">
                        <a:solidFill>
                          <a:srgbClr val="FF0000"/>
                        </a:solidFill>
                        <a:latin typeface="Cambria Math"/>
                        <a:ea typeface="Cambria Math"/>
                      </a:rPr>
                      <m:t>⨁</m:t>
                    </m:r>
                    <m:sSub>
                      <m:sSubPr>
                        <m:ctrlPr>
                          <a:rPr lang="en-US" altLang="zh-TW" i="1">
                            <a:solidFill>
                              <a:srgbClr val="FF0000"/>
                            </a:solidFill>
                            <a:latin typeface="Cambria Math"/>
                            <a:ea typeface="Cambria Math"/>
                          </a:rPr>
                        </m:ctrlPr>
                      </m:sSubPr>
                      <m:e>
                        <m:r>
                          <a:rPr lang="en-US" altLang="zh-TW" b="0" i="1" smtClean="0">
                            <a:solidFill>
                              <a:srgbClr val="FF0000"/>
                            </a:solidFill>
                            <a:latin typeface="Cambria Math"/>
                            <a:ea typeface="Cambria Math"/>
                          </a:rPr>
                          <m:t>𝑉</m:t>
                        </m:r>
                      </m:e>
                      <m:sub>
                        <m:r>
                          <a:rPr lang="en-US" altLang="zh-TW" b="0" i="1" smtClean="0">
                            <a:solidFill>
                              <a:srgbClr val="FF0000"/>
                            </a:solidFill>
                            <a:latin typeface="Cambria Math"/>
                            <a:ea typeface="Cambria Math"/>
                          </a:rPr>
                          <m:t>0</m:t>
                        </m:r>
                      </m:sub>
                    </m:sSub>
                  </m:oMath>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4499992" y="4509120"/>
                <a:ext cx="4133767" cy="1641731"/>
              </a:xfrm>
              <a:prstGeom prst="rect">
                <a:avLst/>
              </a:prstGeom>
              <a:blipFill rotWithShape="1">
                <a:blip r:embed="rId6"/>
                <a:stretch>
                  <a:fillRect b="-111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301671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DFB2A201-8A46-40D3-BE72-AC6B75F3F883}" type="slidenum">
              <a:rPr lang="zh-TW" altLang="en-US" smtClean="0"/>
              <a:pPr/>
              <a:t>19</a:t>
            </a:fld>
            <a:endParaRPr lang="zh-TW" alt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1" y="404664"/>
            <a:ext cx="3744416" cy="3281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427585"/>
            <a:ext cx="3412053" cy="3059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471" y="3701416"/>
            <a:ext cx="3426516" cy="2920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0032" y="3673018"/>
            <a:ext cx="3335782" cy="2930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51494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DFB2A201-8A46-40D3-BE72-AC6B75F3F883}" type="slidenum">
              <a:rPr lang="zh-TW" altLang="en-US" smtClean="0"/>
              <a:pPr/>
              <a:t>20</a:t>
            </a:fld>
            <a:endParaRPr lang="zh-TW" altLang="en-US"/>
          </a:p>
        </p:txBody>
      </p:sp>
      <p:sp>
        <p:nvSpPr>
          <p:cNvPr id="5" name="Text Box 3"/>
          <p:cNvSpPr txBox="1">
            <a:spLocks noChangeArrowheads="1"/>
          </p:cNvSpPr>
          <p:nvPr/>
        </p:nvSpPr>
        <p:spPr bwMode="auto">
          <a:xfrm>
            <a:off x="563777" y="260648"/>
            <a:ext cx="7993062"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TW" altLang="en-US" dirty="0"/>
              <a:t>限制：</a:t>
            </a:r>
          </a:p>
          <a:p>
            <a:pPr>
              <a:spcBef>
                <a:spcPct val="100000"/>
              </a:spcBef>
            </a:pPr>
            <a:r>
              <a:rPr lang="en-US" altLang="zh-TW" dirty="0"/>
              <a:t>(1)                                                               when </a:t>
            </a:r>
            <a:r>
              <a:rPr lang="en-US" altLang="zh-TW" i="1" dirty="0"/>
              <a:t>a</a:t>
            </a:r>
            <a:r>
              <a:rPr lang="en-US" altLang="zh-TW" baseline="-25000" dirty="0"/>
              <a:t>1</a:t>
            </a:r>
            <a:r>
              <a:rPr lang="en-US" altLang="zh-TW" dirty="0"/>
              <a:t> = </a:t>
            </a:r>
            <a:r>
              <a:rPr lang="en-US" altLang="zh-TW" i="1" dirty="0"/>
              <a:t>a</a:t>
            </a:r>
            <a:r>
              <a:rPr lang="en-US" altLang="zh-TW" dirty="0"/>
              <a:t> and </a:t>
            </a:r>
            <a:r>
              <a:rPr lang="en-US" altLang="zh-TW" i="1" dirty="0"/>
              <a:t>b</a:t>
            </a:r>
            <a:r>
              <a:rPr lang="en-US" altLang="zh-TW" baseline="-25000" dirty="0"/>
              <a:t>1</a:t>
            </a:r>
            <a:r>
              <a:rPr lang="en-US" altLang="zh-TW" dirty="0"/>
              <a:t> = </a:t>
            </a:r>
            <a:r>
              <a:rPr lang="en-US" altLang="zh-TW" i="1" dirty="0"/>
              <a:t>b</a:t>
            </a:r>
            <a:r>
              <a:rPr lang="en-US" altLang="zh-TW" dirty="0"/>
              <a:t>, </a:t>
            </a:r>
          </a:p>
          <a:p>
            <a:pPr>
              <a:spcBef>
                <a:spcPct val="50000"/>
              </a:spcBef>
            </a:pPr>
            <a:endParaRPr lang="en-US" altLang="zh-TW" dirty="0"/>
          </a:p>
          <a:p>
            <a:r>
              <a:rPr lang="en-US" altLang="zh-TW" dirty="0"/>
              <a:t>                                                                   otherwise   </a:t>
            </a:r>
          </a:p>
          <a:p>
            <a:pPr>
              <a:spcBef>
                <a:spcPct val="100000"/>
              </a:spcBef>
            </a:pPr>
            <a:r>
              <a:rPr lang="en-US" altLang="zh-TW" dirty="0"/>
              <a:t>(2) </a:t>
            </a:r>
            <a:r>
              <a:rPr lang="en-US" altLang="zh-TW" i="1" dirty="0">
                <a:sym typeface="Symbol" pitchFamily="18" charset="2"/>
              </a:rPr>
              <a:t></a:t>
            </a:r>
            <a:r>
              <a:rPr lang="en-US" altLang="zh-TW" dirty="0">
                <a:sym typeface="Symbol" pitchFamily="18" charset="2"/>
              </a:rPr>
              <a:t>(</a:t>
            </a:r>
            <a:r>
              <a:rPr lang="en-US" altLang="zh-TW" i="1" dirty="0">
                <a:sym typeface="Symbol" pitchFamily="18" charset="2"/>
              </a:rPr>
              <a:t>t</a:t>
            </a:r>
            <a:r>
              <a:rPr lang="en-US" altLang="zh-TW" dirty="0">
                <a:sym typeface="Symbol" pitchFamily="18" charset="2"/>
              </a:rPr>
              <a:t>) has a finite time interval</a:t>
            </a:r>
          </a:p>
          <a:p>
            <a:pPr>
              <a:spcBef>
                <a:spcPct val="50000"/>
              </a:spcBef>
            </a:pPr>
            <a:r>
              <a:rPr lang="en-US" altLang="zh-TW" dirty="0" smtClean="0">
                <a:solidFill>
                  <a:srgbClr val="3333FF"/>
                </a:solidFill>
                <a:latin typeface="微軟正黑體" pitchFamily="34" charset="-120"/>
                <a:ea typeface="微軟正黑體" pitchFamily="34" charset="-120"/>
              </a:rPr>
              <a:t>Two </a:t>
            </a:r>
            <a:r>
              <a:rPr lang="en-US" altLang="zh-TW" dirty="0">
                <a:solidFill>
                  <a:srgbClr val="3333FF"/>
                </a:solidFill>
                <a:latin typeface="微軟正黑體" pitchFamily="34" charset="-120"/>
                <a:ea typeface="微軟正黑體" pitchFamily="34" charset="-120"/>
              </a:rPr>
              <a:t>parameters, </a:t>
            </a:r>
            <a:r>
              <a:rPr lang="en-US" altLang="zh-TW" i="1" dirty="0">
                <a:solidFill>
                  <a:srgbClr val="3333FF"/>
                </a:solidFill>
                <a:latin typeface="微軟正黑體" pitchFamily="34" charset="-120"/>
                <a:ea typeface="微軟正黑體" pitchFamily="34" charset="-120"/>
              </a:rPr>
              <a:t>a</a:t>
            </a:r>
            <a:r>
              <a:rPr lang="en-US" altLang="zh-TW" dirty="0">
                <a:solidFill>
                  <a:srgbClr val="3333FF"/>
                </a:solidFill>
                <a:latin typeface="微軟正黑體" pitchFamily="34" charset="-120"/>
                <a:ea typeface="微軟正黑體" pitchFamily="34" charset="-120"/>
              </a:rPr>
              <a:t>: </a:t>
            </a:r>
            <a:r>
              <a:rPr lang="zh-TW" altLang="en-US" dirty="0">
                <a:solidFill>
                  <a:srgbClr val="3333FF"/>
                </a:solidFill>
                <a:latin typeface="微軟正黑體" pitchFamily="34" charset="-120"/>
                <a:ea typeface="微軟正黑體" pitchFamily="34" charset="-120"/>
              </a:rPr>
              <a:t>調整位置</a:t>
            </a:r>
            <a:r>
              <a:rPr lang="en-US" altLang="zh-TW" dirty="0">
                <a:solidFill>
                  <a:srgbClr val="3333FF"/>
                </a:solidFill>
                <a:latin typeface="微軟正黑體" pitchFamily="34" charset="-120"/>
                <a:ea typeface="微軟正黑體" pitchFamily="34" charset="-120"/>
              </a:rPr>
              <a:t>,    </a:t>
            </a:r>
            <a:r>
              <a:rPr lang="en-US" altLang="zh-TW" i="1" dirty="0">
                <a:solidFill>
                  <a:srgbClr val="3333FF"/>
                </a:solidFill>
                <a:latin typeface="微軟正黑體" pitchFamily="34" charset="-120"/>
                <a:ea typeface="微軟正黑體" pitchFamily="34" charset="-120"/>
              </a:rPr>
              <a:t>b</a:t>
            </a:r>
            <a:r>
              <a:rPr lang="en-US" altLang="zh-TW" dirty="0">
                <a:solidFill>
                  <a:srgbClr val="3333FF"/>
                </a:solidFill>
                <a:latin typeface="微軟正黑體" pitchFamily="34" charset="-120"/>
                <a:ea typeface="微軟正黑體" pitchFamily="34" charset="-120"/>
              </a:rPr>
              <a:t>: </a:t>
            </a:r>
            <a:r>
              <a:rPr lang="zh-TW" altLang="en-US" dirty="0">
                <a:solidFill>
                  <a:srgbClr val="3333FF"/>
                </a:solidFill>
                <a:latin typeface="微軟正黑體" pitchFamily="34" charset="-120"/>
                <a:ea typeface="微軟正黑體" pitchFamily="34" charset="-120"/>
              </a:rPr>
              <a:t>調整寬度 </a:t>
            </a:r>
          </a:p>
          <a:p>
            <a:pPr>
              <a:spcBef>
                <a:spcPct val="50000"/>
              </a:spcBef>
            </a:pPr>
            <a:r>
              <a:rPr lang="zh-TW" altLang="en-US" dirty="0" smtClean="0">
                <a:latin typeface="微軟正黑體" pitchFamily="34" charset="-120"/>
                <a:ea typeface="微軟正黑體" pitchFamily="34" charset="-120"/>
              </a:rPr>
              <a:t>所以頻率較高的部份，可用較高的頻率</a:t>
            </a:r>
            <a:r>
              <a:rPr lang="en-US" altLang="zh-TW" dirty="0" err="1" smtClean="0">
                <a:latin typeface="微軟正黑體" pitchFamily="34" charset="-120"/>
                <a:ea typeface="微軟正黑體" pitchFamily="34" charset="-120"/>
              </a:rPr>
              <a:t>b來分析資料</a:t>
            </a:r>
            <a:r>
              <a:rPr lang="en-US" altLang="zh-TW" dirty="0" smtClean="0">
                <a:latin typeface="微軟正黑體" pitchFamily="34" charset="-120"/>
                <a:ea typeface="微軟正黑體" pitchFamily="34" charset="-120"/>
              </a:rPr>
              <a:t>。</a:t>
            </a:r>
            <a:endParaRPr lang="zh-TW" altLang="en-US" dirty="0">
              <a:latin typeface="微軟正黑體" pitchFamily="34" charset="-120"/>
              <a:ea typeface="微軟正黑體" pitchFamily="34" charset="-12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125080206"/>
              </p:ext>
            </p:extLst>
          </p:nvPr>
        </p:nvGraphicFramePr>
        <p:xfrm>
          <a:off x="1067064" y="693118"/>
          <a:ext cx="3044825" cy="682625"/>
        </p:xfrm>
        <a:graphic>
          <a:graphicData uri="http://schemas.openxmlformats.org/presentationml/2006/ole">
            <mc:AlternateContent xmlns:mc="http://schemas.openxmlformats.org/markup-compatibility/2006">
              <mc:Choice xmlns:v="urn:schemas-microsoft-com:vml" Requires="v">
                <p:oleObj spid="_x0000_s3439" name="Equation" r:id="rId3" imgW="3047760" imgH="685800" progId="Equation.DSMT4">
                  <p:embed/>
                </p:oleObj>
              </mc:Choice>
              <mc:Fallback>
                <p:oleObj name="Equation" r:id="rId3" imgW="3047760" imgH="685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064" y="693118"/>
                        <a:ext cx="3044825" cy="682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428362601"/>
              </p:ext>
            </p:extLst>
          </p:nvPr>
        </p:nvGraphicFramePr>
        <p:xfrm>
          <a:off x="995056" y="1413198"/>
          <a:ext cx="3082925" cy="682625"/>
        </p:xfrm>
        <a:graphic>
          <a:graphicData uri="http://schemas.openxmlformats.org/presentationml/2006/ole">
            <mc:AlternateContent xmlns:mc="http://schemas.openxmlformats.org/markup-compatibility/2006">
              <mc:Choice xmlns:v="urn:schemas-microsoft-com:vml" Requires="v">
                <p:oleObj spid="_x0000_s3440" name="Equation" r:id="rId5" imgW="3085920" imgH="685800" progId="Equation.DSMT4">
                  <p:embed/>
                </p:oleObj>
              </mc:Choice>
              <mc:Fallback>
                <p:oleObj name="Equation" r:id="rId5" imgW="3085920" imgH="685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5056" y="1413198"/>
                        <a:ext cx="3082925" cy="682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圖片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9792" y="3299776"/>
            <a:ext cx="3998878" cy="3322008"/>
          </a:xfrm>
          <a:prstGeom prst="rect">
            <a:avLst/>
          </a:prstGeom>
        </p:spPr>
      </p:pic>
    </p:spTree>
    <p:extLst>
      <p:ext uri="{BB962C8B-B14F-4D97-AF65-F5344CB8AC3E}">
        <p14:creationId xmlns:p14="http://schemas.microsoft.com/office/powerpoint/2010/main" val="19323437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DFB2A201-8A46-40D3-BE72-AC6B75F3F883}" type="slidenum">
              <a:rPr lang="zh-TW" altLang="en-US" smtClean="0"/>
              <a:pPr/>
              <a:t>21</a:t>
            </a:fld>
            <a:endParaRPr lang="zh-TW" altLang="en-US"/>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927152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DFB2A201-8A46-40D3-BE72-AC6B75F3F883}" type="slidenum">
              <a:rPr lang="zh-TW" altLang="en-US" smtClean="0"/>
              <a:pPr/>
              <a:t>22</a:t>
            </a:fld>
            <a:endParaRPr lang="zh-TW" altLang="en-US"/>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863670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fontScale="90000"/>
          </a:bodyPr>
          <a:lstStyle/>
          <a:p>
            <a:r>
              <a:rPr lang="en-US" altLang="zh-TW" dirty="0"/>
              <a:t>Wigner-</a:t>
            </a:r>
            <a:r>
              <a:rPr lang="en-US" altLang="zh-TW" dirty="0" err="1"/>
              <a:t>ville</a:t>
            </a:r>
            <a:r>
              <a:rPr lang="en-US" altLang="zh-TW" dirty="0"/>
              <a:t> distribution </a:t>
            </a:r>
            <a:r>
              <a:rPr lang="en-US" altLang="zh-TW" dirty="0" smtClean="0"/>
              <a:t/>
            </a:r>
            <a:br>
              <a:rPr lang="en-US" altLang="zh-TW" dirty="0" smtClean="0"/>
            </a:br>
            <a:r>
              <a:rPr lang="en-US" altLang="zh-TW" dirty="0" smtClean="0"/>
              <a:t>(Heisenberg wavelet)</a:t>
            </a:r>
            <a:endParaRPr lang="zh-TW" altLang="en-US" dirty="0"/>
          </a:p>
        </p:txBody>
      </p:sp>
      <p:sp>
        <p:nvSpPr>
          <p:cNvPr id="2" name="投影片編號版面配置區 1"/>
          <p:cNvSpPr>
            <a:spLocks noGrp="1"/>
          </p:cNvSpPr>
          <p:nvPr>
            <p:ph type="sldNum" sz="quarter" idx="12"/>
          </p:nvPr>
        </p:nvSpPr>
        <p:spPr/>
        <p:txBody>
          <a:bodyPr/>
          <a:lstStyle/>
          <a:p>
            <a:fld id="{DFB2A201-8A46-40D3-BE72-AC6B75F3F883}" type="slidenum">
              <a:rPr lang="zh-TW" altLang="en-US" smtClean="0"/>
              <a:pPr/>
              <a:t>23</a:t>
            </a:fld>
            <a:endParaRPr lang="zh-TW" altLang="en-US"/>
          </a:p>
        </p:txBody>
      </p:sp>
      <p:graphicFrame>
        <p:nvGraphicFramePr>
          <p:cNvPr id="4" name="物件 3"/>
          <p:cNvGraphicFramePr>
            <a:graphicFrameLocks noChangeAspect="1"/>
          </p:cNvGraphicFramePr>
          <p:nvPr>
            <p:extLst>
              <p:ext uri="{D42A27DB-BD31-4B8C-83A1-F6EECF244321}">
                <p14:modId xmlns:p14="http://schemas.microsoft.com/office/powerpoint/2010/main" val="3751688593"/>
              </p:ext>
            </p:extLst>
          </p:nvPr>
        </p:nvGraphicFramePr>
        <p:xfrm>
          <a:off x="1692251" y="2275929"/>
          <a:ext cx="5053012" cy="546100"/>
        </p:xfrm>
        <a:graphic>
          <a:graphicData uri="http://schemas.openxmlformats.org/presentationml/2006/ole">
            <mc:AlternateContent xmlns:mc="http://schemas.openxmlformats.org/markup-compatibility/2006">
              <mc:Choice xmlns:v="urn:schemas-microsoft-com:vml" Requires="v">
                <p:oleObj spid="_x0000_s7634" name="Equation" r:id="rId3" imgW="5080000" imgH="546100" progId="Equation.DSMT4">
                  <p:embed/>
                </p:oleObj>
              </mc:Choice>
              <mc:Fallback>
                <p:oleObj name="Equation" r:id="rId3" imgW="5080000" imgH="5461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51" y="2275929"/>
                        <a:ext cx="5053012"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物件 4"/>
          <p:cNvGraphicFramePr>
            <a:graphicFrameLocks noChangeAspect="1"/>
          </p:cNvGraphicFramePr>
          <p:nvPr>
            <p:extLst>
              <p:ext uri="{D42A27DB-BD31-4B8C-83A1-F6EECF244321}">
                <p14:modId xmlns:p14="http://schemas.microsoft.com/office/powerpoint/2010/main" val="290665365"/>
              </p:ext>
            </p:extLst>
          </p:nvPr>
        </p:nvGraphicFramePr>
        <p:xfrm>
          <a:off x="1763688" y="1556792"/>
          <a:ext cx="5168900" cy="546100"/>
        </p:xfrm>
        <a:graphic>
          <a:graphicData uri="http://schemas.openxmlformats.org/presentationml/2006/ole">
            <mc:AlternateContent xmlns:mc="http://schemas.openxmlformats.org/markup-compatibility/2006">
              <mc:Choice xmlns:v="urn:schemas-microsoft-com:vml" Requires="v">
                <p:oleObj spid="_x0000_s7635" name="Equation" r:id="rId5" imgW="5194300" imgH="546100" progId="Equation.DSMT4">
                  <p:embed/>
                </p:oleObj>
              </mc:Choice>
              <mc:Fallback>
                <p:oleObj name="Equation" r:id="rId5" imgW="5194300" imgH="5461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8" y="1556792"/>
                        <a:ext cx="51689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物件 5"/>
          <p:cNvGraphicFramePr>
            <a:graphicFrameLocks noChangeAspect="1"/>
          </p:cNvGraphicFramePr>
          <p:nvPr>
            <p:extLst>
              <p:ext uri="{D42A27DB-BD31-4B8C-83A1-F6EECF244321}">
                <p14:modId xmlns:p14="http://schemas.microsoft.com/office/powerpoint/2010/main" val="1008394676"/>
              </p:ext>
            </p:extLst>
          </p:nvPr>
        </p:nvGraphicFramePr>
        <p:xfrm>
          <a:off x="1979712" y="3606805"/>
          <a:ext cx="3725863" cy="401638"/>
        </p:xfrm>
        <a:graphic>
          <a:graphicData uri="http://schemas.openxmlformats.org/presentationml/2006/ole">
            <mc:AlternateContent xmlns:mc="http://schemas.openxmlformats.org/markup-compatibility/2006">
              <mc:Choice xmlns:v="urn:schemas-microsoft-com:vml" Requires="v">
                <p:oleObj spid="_x0000_s7636" name="Equation" r:id="rId7" imgW="3721100" imgH="406400" progId="Equation.DSMT4">
                  <p:embed/>
                </p:oleObj>
              </mc:Choice>
              <mc:Fallback>
                <p:oleObj name="Equation" r:id="rId7" imgW="3721100" imgH="4064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712" y="3606805"/>
                        <a:ext cx="372586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971600" y="3068960"/>
            <a:ext cx="7131761" cy="738664"/>
          </a:xfrm>
          <a:prstGeom prst="rect">
            <a:avLst/>
          </a:prstGeom>
        </p:spPr>
        <p:txBody>
          <a:bodyPr wrap="none">
            <a:spAutoFit/>
          </a:bodyPr>
          <a:lstStyle/>
          <a:p>
            <a:r>
              <a:rPr lang="en-US" altLang="zh-TW" sz="2400" dirty="0">
                <a:ea typeface="新細明體" pitchFamily="18" charset="-120"/>
              </a:rPr>
              <a:t>Signal auto-correlation </a:t>
            </a:r>
            <a:r>
              <a:rPr lang="en-US" altLang="zh-TW" sz="2400" dirty="0" smtClean="0">
                <a:ea typeface="新細明體" pitchFamily="18" charset="-120"/>
              </a:rPr>
              <a:t>function, </a:t>
            </a:r>
            <a:r>
              <a:rPr lang="en-US" altLang="zh-TW" sz="2400" dirty="0" smtClean="0"/>
              <a:t>then </a:t>
            </a:r>
            <a:r>
              <a:rPr lang="en-US" altLang="zh-TW" sz="2400" dirty="0"/>
              <a:t>Fourier transform</a:t>
            </a:r>
            <a:endParaRPr lang="zh-TW" altLang="en-US" sz="2400" dirty="0"/>
          </a:p>
          <a:p>
            <a:r>
              <a:rPr lang="en-US" altLang="zh-TW" dirty="0" smtClean="0">
                <a:ea typeface="新細明體" pitchFamily="18" charset="-120"/>
              </a:rPr>
              <a:t> </a:t>
            </a:r>
            <a:endParaRPr lang="zh-TW" altLang="en-US" dirty="0"/>
          </a:p>
        </p:txBody>
      </p:sp>
      <p:sp>
        <p:nvSpPr>
          <p:cNvPr id="9" name="文字方塊 8"/>
          <p:cNvSpPr txBox="1"/>
          <p:nvPr/>
        </p:nvSpPr>
        <p:spPr>
          <a:xfrm>
            <a:off x="539552" y="4653136"/>
            <a:ext cx="7776864" cy="707886"/>
          </a:xfrm>
          <a:prstGeom prst="rect">
            <a:avLst/>
          </a:prstGeom>
          <a:noFill/>
        </p:spPr>
        <p:txBody>
          <a:bodyPr wrap="square" rtlCol="0">
            <a:spAutoFit/>
          </a:bodyPr>
          <a:lstStyle/>
          <a:p>
            <a:pPr algn="ctr"/>
            <a:r>
              <a:rPr lang="zh-TW" altLang="en-US" sz="2000" dirty="0" smtClean="0">
                <a:solidFill>
                  <a:srgbClr val="FF0000"/>
                </a:solidFill>
                <a:latin typeface="微軟正黑體" pitchFamily="34" charset="-120"/>
                <a:ea typeface="微軟正黑體" pitchFamily="34" charset="-120"/>
              </a:rPr>
              <a:t>解析度比</a:t>
            </a:r>
            <a:r>
              <a:rPr lang="en-US" altLang="zh-TW" sz="2000" dirty="0" err="1" smtClean="0">
                <a:solidFill>
                  <a:srgbClr val="FF0000"/>
                </a:solidFill>
                <a:latin typeface="微軟正黑體" pitchFamily="34" charset="-120"/>
                <a:ea typeface="微軟正黑體" pitchFamily="34" charset="-120"/>
              </a:rPr>
              <a:t>STFT好，但轉換後的頻率域有時會出現負能量</a:t>
            </a:r>
            <a:r>
              <a:rPr lang="en-US" altLang="zh-TW" sz="2000" dirty="0" smtClean="0">
                <a:solidFill>
                  <a:srgbClr val="FF0000"/>
                </a:solidFill>
                <a:latin typeface="微軟正黑體" pitchFamily="34" charset="-120"/>
                <a:ea typeface="微軟正黑體" pitchFamily="34" charset="-120"/>
              </a:rPr>
              <a:t>，</a:t>
            </a:r>
            <a:br>
              <a:rPr lang="en-US" altLang="zh-TW" sz="2000" dirty="0" smtClean="0">
                <a:solidFill>
                  <a:srgbClr val="FF0000"/>
                </a:solidFill>
                <a:latin typeface="微軟正黑體" pitchFamily="34" charset="-120"/>
                <a:ea typeface="微軟正黑體" pitchFamily="34" charset="-120"/>
              </a:rPr>
            </a:br>
            <a:r>
              <a:rPr lang="en-US" altLang="zh-TW" sz="2000" dirty="0" err="1" smtClean="0">
                <a:solidFill>
                  <a:srgbClr val="FF0000"/>
                </a:solidFill>
                <a:latin typeface="微軟正黑體" pitchFamily="34" charset="-120"/>
                <a:ea typeface="微軟正黑體" pitchFamily="34" charset="-120"/>
              </a:rPr>
              <a:t>難以解釋物理意義</a:t>
            </a:r>
            <a:endParaRPr lang="zh-TW" altLang="en-US" sz="2000" dirty="0">
              <a:solidFill>
                <a:srgbClr val="FF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9257023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投影片編號版面配置區 4"/>
          <p:cNvSpPr>
            <a:spLocks noGrp="1"/>
          </p:cNvSpPr>
          <p:nvPr>
            <p:ph type="sldNum" sz="quarter" idx="12"/>
          </p:nvPr>
        </p:nvSpPr>
        <p:spPr/>
        <p:txBody>
          <a:bodyPr/>
          <a:lstStyle/>
          <a:p>
            <a:fld id="{8EF97E1E-3089-453F-84D3-A6BE60A906BA}" type="slidenum">
              <a:rPr lang="en-US" altLang="zh-TW"/>
              <a:pPr/>
              <a:t>24</a:t>
            </a:fld>
            <a:endParaRPr lang="en-US" altLang="zh-TW"/>
          </a:p>
        </p:txBody>
      </p:sp>
      <p:sp>
        <p:nvSpPr>
          <p:cNvPr id="14342"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grpSp>
        <p:nvGrpSpPr>
          <p:cNvPr id="4" name="群組 3"/>
          <p:cNvGrpSpPr/>
          <p:nvPr/>
        </p:nvGrpSpPr>
        <p:grpSpPr>
          <a:xfrm>
            <a:off x="-71437" y="1035843"/>
            <a:ext cx="9144000" cy="2465165"/>
            <a:chOff x="0" y="2420938"/>
            <a:chExt cx="9144000" cy="3643312"/>
          </a:xfrm>
        </p:grpSpPr>
        <p:sp>
          <p:nvSpPr>
            <p:cNvPr id="14339" name="Rectangle 3"/>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14341" name="Rectangle 5"/>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14343" name="Rectangle 7"/>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14344" name="Rectangle 8"/>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pic>
          <p:nvPicPr>
            <p:cNvPr id="14345"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2420938"/>
              <a:ext cx="4375150" cy="353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6"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0563" y="2420938"/>
              <a:ext cx="4384675"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8" name="Text Box 12"/>
            <p:cNvSpPr txBox="1">
              <a:spLocks noChangeArrowheads="1"/>
            </p:cNvSpPr>
            <p:nvPr/>
          </p:nvSpPr>
          <p:spPr bwMode="auto">
            <a:xfrm>
              <a:off x="250825" y="2997200"/>
              <a:ext cx="576263"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TW" altLang="zh-TW"/>
            </a:p>
          </p:txBody>
        </p:sp>
        <p:sp>
          <p:nvSpPr>
            <p:cNvPr id="14349" name="Text Box 13"/>
            <p:cNvSpPr txBox="1">
              <a:spLocks noChangeArrowheads="1"/>
            </p:cNvSpPr>
            <p:nvPr/>
          </p:nvSpPr>
          <p:spPr bwMode="auto">
            <a:xfrm rot="16200000">
              <a:off x="-20637" y="3046412"/>
              <a:ext cx="1079500" cy="701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ltLang="zh-TW" sz="2000" i="1"/>
            </a:p>
            <a:p>
              <a:r>
                <a:rPr lang="en-US" altLang="zh-TW" sz="2000" i="1"/>
                <a:t>f</a:t>
              </a:r>
              <a:r>
                <a:rPr lang="en-US" altLang="zh-TW" sz="2000"/>
                <a:t>-axis</a:t>
              </a:r>
            </a:p>
          </p:txBody>
        </p:sp>
        <p:sp>
          <p:nvSpPr>
            <p:cNvPr id="14350" name="Text Box 14"/>
            <p:cNvSpPr txBox="1">
              <a:spLocks noChangeArrowheads="1"/>
            </p:cNvSpPr>
            <p:nvPr/>
          </p:nvSpPr>
          <p:spPr bwMode="auto">
            <a:xfrm rot="16200000">
              <a:off x="4230688" y="3194050"/>
              <a:ext cx="107950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TW" sz="2000" i="1" dirty="0"/>
                <a:t>f</a:t>
              </a:r>
              <a:r>
                <a:rPr lang="en-US" altLang="zh-TW" sz="2000" dirty="0"/>
                <a:t>-axis</a:t>
              </a:r>
            </a:p>
          </p:txBody>
        </p:sp>
        <p:sp>
          <p:nvSpPr>
            <p:cNvPr id="14351" name="Text Box 15"/>
            <p:cNvSpPr txBox="1">
              <a:spLocks noChangeArrowheads="1"/>
            </p:cNvSpPr>
            <p:nvPr/>
          </p:nvSpPr>
          <p:spPr bwMode="auto">
            <a:xfrm>
              <a:off x="2954338" y="5759450"/>
              <a:ext cx="681037"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TW" sz="2000" i="1"/>
                <a:t>t</a:t>
              </a:r>
              <a:r>
                <a:rPr lang="en-US" altLang="zh-TW" sz="2000"/>
                <a:t>-axis</a:t>
              </a:r>
            </a:p>
          </p:txBody>
        </p:sp>
        <p:sp>
          <p:nvSpPr>
            <p:cNvPr id="14352" name="Text Box 16"/>
            <p:cNvSpPr txBox="1">
              <a:spLocks noChangeArrowheads="1"/>
            </p:cNvSpPr>
            <p:nvPr/>
          </p:nvSpPr>
          <p:spPr bwMode="auto">
            <a:xfrm>
              <a:off x="7164388" y="5713413"/>
              <a:ext cx="681037"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TW" sz="2000" i="1"/>
                <a:t>t</a:t>
              </a:r>
              <a:r>
                <a:rPr lang="en-US" altLang="zh-TW" sz="2000"/>
                <a:t>-axis</a:t>
              </a:r>
            </a:p>
          </p:txBody>
        </p:sp>
      </p:grpSp>
      <p:sp>
        <p:nvSpPr>
          <p:cNvPr id="2" name="矩形 1"/>
          <p:cNvSpPr/>
          <p:nvPr/>
        </p:nvSpPr>
        <p:spPr>
          <a:xfrm>
            <a:off x="723196" y="146323"/>
            <a:ext cx="1545295" cy="369332"/>
          </a:xfrm>
          <a:prstGeom prst="rect">
            <a:avLst/>
          </a:prstGeom>
        </p:spPr>
        <p:txBody>
          <a:bodyPr wrap="none">
            <a:spAutoFit/>
          </a:bodyPr>
          <a:lstStyle/>
          <a:p>
            <a:pPr>
              <a:spcBef>
                <a:spcPct val="50000"/>
              </a:spcBef>
            </a:pPr>
            <a:r>
              <a:rPr lang="en-US" altLang="zh-TW" i="1" dirty="0">
                <a:ea typeface="新細明體" pitchFamily="18" charset="-120"/>
              </a:rPr>
              <a:t>x</a:t>
            </a:r>
            <a:r>
              <a:rPr lang="en-US" altLang="zh-TW" dirty="0">
                <a:ea typeface="新細明體" pitchFamily="18" charset="-120"/>
              </a:rPr>
              <a:t>(</a:t>
            </a:r>
            <a:r>
              <a:rPr lang="en-US" altLang="zh-TW" i="1" dirty="0">
                <a:ea typeface="新細明體" pitchFamily="18" charset="-120"/>
              </a:rPr>
              <a:t>t</a:t>
            </a:r>
            <a:r>
              <a:rPr lang="en-US" altLang="zh-TW" dirty="0">
                <a:ea typeface="新細明體" pitchFamily="18" charset="-120"/>
              </a:rPr>
              <a:t>) = </a:t>
            </a:r>
            <a:r>
              <a:rPr lang="en-US" altLang="zh-TW" dirty="0" err="1">
                <a:ea typeface="新細明體" pitchFamily="18" charset="-120"/>
              </a:rPr>
              <a:t>cos</a:t>
            </a:r>
            <a:r>
              <a:rPr lang="en-US" altLang="zh-TW" dirty="0">
                <a:ea typeface="新細明體" pitchFamily="18" charset="-120"/>
              </a:rPr>
              <a:t>(2</a:t>
            </a:r>
            <a:r>
              <a:rPr lang="en-US" altLang="zh-TW" i="1" dirty="0">
                <a:ea typeface="新細明體" pitchFamily="18" charset="-120"/>
                <a:sym typeface="Symbol" pitchFamily="18" charset="2"/>
              </a:rPr>
              <a:t></a:t>
            </a:r>
            <a:r>
              <a:rPr lang="en-US" altLang="zh-TW" i="1" dirty="0">
                <a:ea typeface="新細明體" pitchFamily="18" charset="-120"/>
              </a:rPr>
              <a:t>t</a:t>
            </a:r>
            <a:r>
              <a:rPr lang="en-US" altLang="zh-TW" dirty="0">
                <a:ea typeface="新細明體" pitchFamily="18" charset="-120"/>
              </a:rPr>
              <a:t>) </a:t>
            </a:r>
          </a:p>
        </p:txBody>
      </p:sp>
      <p:sp>
        <p:nvSpPr>
          <p:cNvPr id="3" name="矩形 2"/>
          <p:cNvSpPr/>
          <p:nvPr/>
        </p:nvSpPr>
        <p:spPr>
          <a:xfrm>
            <a:off x="2266282" y="708194"/>
            <a:ext cx="6241770" cy="369332"/>
          </a:xfrm>
          <a:prstGeom prst="rect">
            <a:avLst/>
          </a:prstGeom>
        </p:spPr>
        <p:txBody>
          <a:bodyPr wrap="square">
            <a:spAutoFit/>
          </a:bodyPr>
          <a:lstStyle/>
          <a:p>
            <a:pPr>
              <a:spcBef>
                <a:spcPct val="50000"/>
              </a:spcBef>
            </a:pPr>
            <a:r>
              <a:rPr lang="en-US" altLang="zh-TW" dirty="0">
                <a:ea typeface="新細明體" pitchFamily="18" charset="-120"/>
              </a:rPr>
              <a:t>by WDF                                    	 </a:t>
            </a:r>
            <a:r>
              <a:rPr lang="en-US" altLang="zh-TW" dirty="0" smtClean="0">
                <a:ea typeface="新細明體" pitchFamily="18" charset="-120"/>
              </a:rPr>
              <a:t>        by </a:t>
            </a:r>
            <a:r>
              <a:rPr lang="en-US" altLang="zh-TW" dirty="0">
                <a:ea typeface="新細明體" pitchFamily="18" charset="-120"/>
              </a:rPr>
              <a:t>Gabor transform </a:t>
            </a:r>
            <a:endParaRPr lang="en-US" altLang="zh-TW" dirty="0">
              <a:solidFill>
                <a:srgbClr val="3333FF"/>
              </a:solidFill>
              <a:ea typeface="細明體" pitchFamily="49" charset="-120"/>
            </a:endParaRPr>
          </a:p>
        </p:txBody>
      </p:sp>
      <p:graphicFrame>
        <p:nvGraphicFramePr>
          <p:cNvPr id="5" name="物件 4"/>
          <p:cNvGraphicFramePr>
            <a:graphicFrameLocks noChangeAspect="1"/>
          </p:cNvGraphicFramePr>
          <p:nvPr>
            <p:extLst>
              <p:ext uri="{D42A27DB-BD31-4B8C-83A1-F6EECF244321}">
                <p14:modId xmlns:p14="http://schemas.microsoft.com/office/powerpoint/2010/main" val="1004147421"/>
              </p:ext>
            </p:extLst>
          </p:nvPr>
        </p:nvGraphicFramePr>
        <p:xfrm>
          <a:off x="447675" y="3661717"/>
          <a:ext cx="3108325" cy="487363"/>
        </p:xfrm>
        <a:graphic>
          <a:graphicData uri="http://schemas.openxmlformats.org/presentationml/2006/ole">
            <mc:AlternateContent xmlns:mc="http://schemas.openxmlformats.org/markup-compatibility/2006">
              <mc:Choice xmlns:v="urn:schemas-microsoft-com:vml" Requires="v">
                <p:oleObj spid="_x0000_s9363" name="Equation" r:id="rId6" imgW="2501900" imgH="393700" progId="Equation.DSMT4">
                  <p:embed/>
                </p:oleObj>
              </mc:Choice>
              <mc:Fallback>
                <p:oleObj name="Equation" r:id="rId6" imgW="2501900" imgH="393700" progId="Equation.DSMT4">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7675" y="3661717"/>
                        <a:ext cx="310832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2"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6084" y="4077072"/>
            <a:ext cx="4483100" cy="2622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62797" y="4077072"/>
            <a:ext cx="4338637" cy="2665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55657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Phase </a:t>
            </a:r>
            <a:r>
              <a:rPr lang="en-US" altLang="zh-TW"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相位</a:t>
            </a:r>
            <a:r>
              <a:rPr lang="en-US" altLang="zh-TW" dirty="0" smtClean="0">
                <a:latin typeface="微軟正黑體" pitchFamily="34" charset="-120"/>
                <a:ea typeface="微軟正黑體" pitchFamily="34" charset="-120"/>
              </a:rPr>
              <a:t>)</a:t>
            </a:r>
            <a:endParaRPr lang="zh-TW" altLang="en-US" dirty="0">
              <a:latin typeface="微軟正黑體" pitchFamily="34" charset="-120"/>
              <a:ea typeface="微軟正黑體" pitchFamily="34" charset="-120"/>
            </a:endParaRPr>
          </a:p>
        </p:txBody>
      </p:sp>
      <p:sp>
        <p:nvSpPr>
          <p:cNvPr id="4" name="投影片編號版面配置區 3"/>
          <p:cNvSpPr>
            <a:spLocks noGrp="1"/>
          </p:cNvSpPr>
          <p:nvPr>
            <p:ph type="sldNum" sz="quarter" idx="12"/>
          </p:nvPr>
        </p:nvSpPr>
        <p:spPr/>
        <p:txBody>
          <a:bodyPr/>
          <a:lstStyle/>
          <a:p>
            <a:fld id="{DFB2A201-8A46-40D3-BE72-AC6B75F3F883}" type="slidenum">
              <a:rPr lang="zh-TW" altLang="en-US" smtClean="0"/>
              <a:pPr/>
              <a:t>25</a:t>
            </a:fld>
            <a:endParaRPr lang="zh-TW" altLang="en-US"/>
          </a:p>
        </p:txBody>
      </p:sp>
      <p:sp>
        <p:nvSpPr>
          <p:cNvPr id="5" name="矩形 4"/>
          <p:cNvSpPr/>
          <p:nvPr/>
        </p:nvSpPr>
        <p:spPr>
          <a:xfrm>
            <a:off x="393710" y="6196662"/>
            <a:ext cx="4317207" cy="369332"/>
          </a:xfrm>
          <a:prstGeom prst="rect">
            <a:avLst/>
          </a:prstGeom>
        </p:spPr>
        <p:txBody>
          <a:bodyPr wrap="none">
            <a:spAutoFit/>
          </a:bodyPr>
          <a:lstStyle/>
          <a:p>
            <a:r>
              <a:rPr lang="en-US" altLang="zh-TW" dirty="0"/>
              <a:t>http://en.wikipedia.org/wiki/Phase_(waves)</a:t>
            </a:r>
            <a:endParaRPr lang="zh-TW" altLang="en-US" dirty="0"/>
          </a:p>
        </p:txBody>
      </p:sp>
      <mc:AlternateContent xmlns:mc="http://schemas.openxmlformats.org/markup-compatibility/2006" xmlns:a14="http://schemas.microsoft.com/office/drawing/2010/main">
        <mc:Choice Requires="a14">
          <p:sp>
            <p:nvSpPr>
              <p:cNvPr id="8" name="文字方塊 7"/>
              <p:cNvSpPr txBox="1"/>
              <p:nvPr/>
            </p:nvSpPr>
            <p:spPr>
              <a:xfrm>
                <a:off x="107504" y="1124744"/>
                <a:ext cx="9073008" cy="2863284"/>
              </a:xfrm>
              <a:prstGeom prst="rect">
                <a:avLst/>
              </a:prstGeom>
              <a:noFill/>
            </p:spPr>
            <p:txBody>
              <a:bodyPr wrap="square" rtlCol="0">
                <a:spAutoFit/>
              </a:bodyPr>
              <a:lstStyle/>
              <a:p>
                <a:pPr>
                  <a:lnSpc>
                    <a:spcPct val="120000"/>
                  </a:lnSpc>
                </a:pPr>
                <a14:m>
                  <m:oMathPara xmlns:m="http://schemas.openxmlformats.org/officeDocument/2006/math">
                    <m:oMathParaPr>
                      <m:jc m:val="left"/>
                    </m:oMathParaPr>
                    <m:oMath xmlns:m="http://schemas.openxmlformats.org/officeDocument/2006/math">
                      <m:r>
                        <a:rPr lang="en-US" altLang="zh-TW" sz="2200" b="0" i="1" smtClean="0">
                          <a:latin typeface="Cambria Math"/>
                        </a:rPr>
                        <m:t>𝑥</m:t>
                      </m:r>
                      <m:d>
                        <m:dPr>
                          <m:ctrlPr>
                            <a:rPr lang="en-US" altLang="zh-TW" sz="2200" b="0" i="1" smtClean="0">
                              <a:latin typeface="Cambria Math"/>
                            </a:rPr>
                          </m:ctrlPr>
                        </m:dPr>
                        <m:e>
                          <m:r>
                            <a:rPr lang="en-US" altLang="zh-TW" sz="2200" b="0" i="1" smtClean="0">
                              <a:latin typeface="Cambria Math"/>
                            </a:rPr>
                            <m:t>𝑡</m:t>
                          </m:r>
                        </m:e>
                      </m:d>
                      <m:r>
                        <a:rPr lang="en-US" altLang="zh-TW" sz="2200" b="0" i="1" smtClean="0">
                          <a:latin typeface="Cambria Math"/>
                        </a:rPr>
                        <m:t>=</m:t>
                      </m:r>
                      <m:r>
                        <a:rPr lang="en-US" altLang="zh-TW" sz="2200" b="0" i="1" smtClean="0">
                          <a:latin typeface="Cambria Math"/>
                        </a:rPr>
                        <m:t>𝑟𝑐𝑜𝑠</m:t>
                      </m:r>
                      <m:d>
                        <m:dPr>
                          <m:ctrlPr>
                            <a:rPr lang="en-US" altLang="zh-TW" sz="2200" b="0" i="1" smtClean="0">
                              <a:latin typeface="Cambria Math"/>
                            </a:rPr>
                          </m:ctrlPr>
                        </m:dPr>
                        <m:e>
                          <m:r>
                            <a:rPr lang="en-US" altLang="zh-TW" sz="2200" b="0" i="1" smtClean="0">
                              <a:latin typeface="Cambria Math"/>
                            </a:rPr>
                            <m:t>2</m:t>
                          </m:r>
                          <m:r>
                            <a:rPr lang="en-US" altLang="zh-TW" sz="2200" b="0" i="1" smtClean="0">
                              <a:latin typeface="Cambria Math"/>
                              <a:ea typeface="Cambria Math"/>
                            </a:rPr>
                            <m:t>𝜋</m:t>
                          </m:r>
                          <m:r>
                            <a:rPr lang="en-US" altLang="zh-TW" sz="2200" b="0" i="1" smtClean="0">
                              <a:latin typeface="Cambria Math"/>
                              <a:ea typeface="Cambria Math"/>
                            </a:rPr>
                            <m:t>𝑓𝑡</m:t>
                          </m:r>
                          <m:r>
                            <a:rPr lang="en-US" altLang="zh-TW" sz="2200" b="0" i="1" smtClean="0">
                              <a:latin typeface="Cambria Math"/>
                              <a:ea typeface="Cambria Math"/>
                            </a:rPr>
                            <m:t>+</m:t>
                          </m:r>
                          <m:r>
                            <a:rPr lang="en-US" altLang="zh-TW" sz="2200" b="0" i="1" smtClean="0">
                              <a:latin typeface="Cambria Math"/>
                              <a:ea typeface="Cambria Math"/>
                            </a:rPr>
                            <m:t>𝜃</m:t>
                          </m:r>
                        </m:e>
                      </m:d>
                      <m:r>
                        <a:rPr lang="en-US" altLang="zh-TW" sz="2200" b="0" i="1" smtClean="0">
                          <a:latin typeface="Cambria Math"/>
                          <a:ea typeface="Cambria Math"/>
                        </a:rPr>
                        <m:t>=</m:t>
                      </m:r>
                      <m:r>
                        <a:rPr lang="en-US" altLang="zh-TW" sz="2200" b="0" i="1" smtClean="0">
                          <a:latin typeface="Cambria Math"/>
                          <a:ea typeface="Cambria Math"/>
                        </a:rPr>
                        <m:t>𝑟𝑐𝑜𝑠</m:t>
                      </m:r>
                      <m:d>
                        <m:dPr>
                          <m:ctrlPr>
                            <a:rPr lang="en-US" altLang="zh-TW" sz="2200" b="0" i="1" smtClean="0">
                              <a:latin typeface="Cambria Math"/>
                              <a:ea typeface="Cambria Math"/>
                            </a:rPr>
                          </m:ctrlPr>
                        </m:dPr>
                        <m:e>
                          <m:f>
                            <m:fPr>
                              <m:ctrlPr>
                                <a:rPr lang="en-US" altLang="zh-TW" sz="2200" b="0" i="1" smtClean="0">
                                  <a:latin typeface="Cambria Math"/>
                                  <a:ea typeface="Cambria Math"/>
                                </a:rPr>
                              </m:ctrlPr>
                            </m:fPr>
                            <m:num>
                              <m:r>
                                <a:rPr lang="en-US" altLang="zh-TW" sz="2200" b="0" i="1" smtClean="0">
                                  <a:latin typeface="Cambria Math"/>
                                  <a:ea typeface="Cambria Math"/>
                                </a:rPr>
                                <m:t>2</m:t>
                              </m:r>
                              <m:r>
                                <a:rPr lang="en-US" altLang="zh-TW" sz="2200" b="0" i="1" smtClean="0">
                                  <a:latin typeface="Cambria Math"/>
                                  <a:ea typeface="Cambria Math"/>
                                </a:rPr>
                                <m:t>𝜋</m:t>
                              </m:r>
                            </m:num>
                            <m:den>
                              <m:r>
                                <a:rPr lang="en-US" altLang="zh-TW" sz="2200" b="0" i="1" smtClean="0">
                                  <a:latin typeface="Cambria Math"/>
                                  <a:ea typeface="Cambria Math"/>
                                </a:rPr>
                                <m:t>𝑇</m:t>
                              </m:r>
                            </m:den>
                          </m:f>
                          <m:r>
                            <a:rPr lang="en-US" altLang="zh-TW" sz="2200" b="0" i="1" smtClean="0">
                              <a:latin typeface="Cambria Math"/>
                              <a:ea typeface="Cambria Math"/>
                            </a:rPr>
                            <m:t>𝑡</m:t>
                          </m:r>
                          <m:r>
                            <a:rPr lang="en-US" altLang="zh-TW" sz="2200" b="0" i="1" smtClean="0">
                              <a:latin typeface="Cambria Math"/>
                              <a:ea typeface="Cambria Math"/>
                            </a:rPr>
                            <m:t>+</m:t>
                          </m:r>
                          <m:r>
                            <a:rPr lang="en-US" altLang="zh-TW" sz="2200" b="0" i="1" smtClean="0">
                              <a:latin typeface="Cambria Math"/>
                              <a:ea typeface="Cambria Math"/>
                            </a:rPr>
                            <m:t>𝜃</m:t>
                          </m:r>
                        </m:e>
                      </m:d>
                      <m:r>
                        <a:rPr lang="en-US" altLang="zh-TW" sz="2200" b="0" i="1" smtClean="0">
                          <a:latin typeface="Cambria Math"/>
                          <a:ea typeface="Cambria Math"/>
                        </a:rPr>
                        <m:t>=</m:t>
                      </m:r>
                      <m:r>
                        <a:rPr lang="en-US" altLang="zh-TW" sz="2200" b="0" i="1" smtClean="0">
                          <a:latin typeface="Cambria Math"/>
                          <a:ea typeface="Cambria Math"/>
                        </a:rPr>
                        <m:t>𝑟𝑐𝑜𝑠</m:t>
                      </m:r>
                      <m:d>
                        <m:dPr>
                          <m:ctrlPr>
                            <a:rPr lang="en-US" altLang="zh-TW" sz="2200" b="0" i="1" smtClean="0">
                              <a:latin typeface="Cambria Math"/>
                              <a:ea typeface="Cambria Math"/>
                            </a:rPr>
                          </m:ctrlPr>
                        </m:dPr>
                        <m:e>
                          <m:r>
                            <a:rPr lang="en-US" altLang="zh-TW" sz="2200" b="0" i="1" smtClean="0">
                              <a:latin typeface="Cambria Math"/>
                              <a:ea typeface="Cambria Math"/>
                            </a:rPr>
                            <m:t>𝜔</m:t>
                          </m:r>
                          <m:r>
                            <a:rPr lang="en-US" altLang="zh-TW" sz="2200" b="0" i="1" smtClean="0">
                              <a:latin typeface="Cambria Math"/>
                              <a:ea typeface="Cambria Math"/>
                            </a:rPr>
                            <m:t>𝑡</m:t>
                          </m:r>
                          <m:r>
                            <a:rPr lang="en-US" altLang="zh-TW" sz="2200" b="0" i="1" smtClean="0">
                              <a:latin typeface="Cambria Math"/>
                              <a:ea typeface="Cambria Math"/>
                            </a:rPr>
                            <m:t>+</m:t>
                          </m:r>
                          <m:r>
                            <a:rPr lang="en-US" altLang="zh-TW" sz="2200" b="0" i="1" smtClean="0">
                              <a:latin typeface="Cambria Math"/>
                              <a:ea typeface="Cambria Math"/>
                            </a:rPr>
                            <m:t>𝜃</m:t>
                          </m:r>
                        </m:e>
                      </m:d>
                    </m:oMath>
                  </m:oMathPara>
                </a14:m>
                <a:endParaRPr lang="en-US" altLang="zh-TW" sz="2200" b="0" dirty="0" smtClean="0">
                  <a:ea typeface="Cambria Math"/>
                </a:endParaRPr>
              </a:p>
              <a:p>
                <a:pPr>
                  <a:lnSpc>
                    <a:spcPct val="120000"/>
                  </a:lnSpc>
                </a:pPr>
                <a14:m>
                  <m:oMath xmlns:m="http://schemas.openxmlformats.org/officeDocument/2006/math">
                    <m:r>
                      <a:rPr lang="en-US" altLang="zh-TW" sz="2200" i="1" smtClean="0">
                        <a:solidFill>
                          <a:srgbClr val="FF0000"/>
                        </a:solidFill>
                        <a:latin typeface="Cambria Math"/>
                        <a:ea typeface="Cambria Math"/>
                      </a:rPr>
                      <m:t>𝜃</m:t>
                    </m:r>
                  </m:oMath>
                </a14:m>
                <a:r>
                  <a:rPr lang="en-US" altLang="zh-TW" sz="2200" dirty="0" smtClean="0">
                    <a:solidFill>
                      <a:srgbClr val="FF0000"/>
                    </a:solidFill>
                    <a:ea typeface="Cambria Math"/>
                  </a:rPr>
                  <a:t>: </a:t>
                </a:r>
                <a:r>
                  <a:rPr lang="en-US" altLang="zh-TW" sz="2200" u="sng" dirty="0" smtClean="0">
                    <a:solidFill>
                      <a:srgbClr val="FF0000"/>
                    </a:solidFill>
                    <a:ea typeface="Cambria Math"/>
                  </a:rPr>
                  <a:t>phase</a:t>
                </a:r>
                <a:r>
                  <a:rPr lang="en-US" altLang="zh-TW" sz="2200" dirty="0" smtClean="0">
                    <a:solidFill>
                      <a:srgbClr val="FF0000"/>
                    </a:solidFill>
                    <a:ea typeface="Cambria Math"/>
                  </a:rPr>
                  <a:t>,  </a:t>
                </a:r>
                <a14:m>
                  <m:oMath xmlns:m="http://schemas.openxmlformats.org/officeDocument/2006/math">
                    <m:r>
                      <a:rPr lang="en-US" altLang="zh-TW" sz="2200" i="1">
                        <a:solidFill>
                          <a:srgbClr val="FF0000"/>
                        </a:solidFill>
                        <a:latin typeface="Cambria Math"/>
                        <a:ea typeface="Cambria Math"/>
                      </a:rPr>
                      <m:t>𝜔</m:t>
                    </m:r>
                  </m:oMath>
                </a14:m>
                <a:r>
                  <a:rPr lang="en-US" altLang="zh-TW" sz="2200" u="sng" dirty="0" smtClean="0">
                    <a:solidFill>
                      <a:srgbClr val="FF0000"/>
                    </a:solidFill>
                    <a:ea typeface="Cambria Math"/>
                  </a:rPr>
                  <a:t>:  angular velocity </a:t>
                </a:r>
                <a:r>
                  <a:rPr lang="en-US" altLang="zh-TW" sz="2200" dirty="0" smtClean="0">
                    <a:solidFill>
                      <a:srgbClr val="FF0000"/>
                    </a:solidFill>
                    <a:ea typeface="Cambria Math"/>
                  </a:rPr>
                  <a:t>or </a:t>
                </a:r>
                <a:r>
                  <a:rPr lang="en-US" altLang="zh-TW" sz="2200" u="sng" dirty="0" smtClean="0">
                    <a:solidFill>
                      <a:srgbClr val="FF0000"/>
                    </a:solidFill>
                    <a:ea typeface="Cambria Math"/>
                  </a:rPr>
                  <a:t>angular frequency</a:t>
                </a:r>
                <a:endParaRPr lang="en-US" altLang="zh-TW" sz="2200" b="0" u="sng" dirty="0" smtClean="0">
                  <a:solidFill>
                    <a:srgbClr val="FF0000"/>
                  </a:solidFill>
                  <a:ea typeface="Cambria Math"/>
                </a:endParaRPr>
              </a:p>
              <a:p>
                <a:pPr>
                  <a:lnSpc>
                    <a:spcPct val="120000"/>
                  </a:lnSpc>
                </a:pPr>
                <a14:m>
                  <m:oMathPara xmlns:m="http://schemas.openxmlformats.org/officeDocument/2006/math">
                    <m:oMathParaPr>
                      <m:jc m:val="centerGroup"/>
                    </m:oMathParaPr>
                    <m:oMath xmlns:m="http://schemas.openxmlformats.org/officeDocument/2006/math">
                      <m:r>
                        <a:rPr lang="en-US" altLang="zh-TW" sz="2200" b="0" i="1" smtClean="0">
                          <a:latin typeface="Cambria Math"/>
                        </a:rPr>
                        <m:t>𝑦</m:t>
                      </m:r>
                      <m:d>
                        <m:dPr>
                          <m:ctrlPr>
                            <a:rPr lang="en-US" altLang="zh-TW" sz="2200" i="1">
                              <a:latin typeface="Cambria Math"/>
                            </a:rPr>
                          </m:ctrlPr>
                        </m:dPr>
                        <m:e>
                          <m:r>
                            <a:rPr lang="en-US" altLang="zh-TW" sz="2200" i="1">
                              <a:latin typeface="Cambria Math"/>
                            </a:rPr>
                            <m:t>𝑡</m:t>
                          </m:r>
                        </m:e>
                      </m:d>
                      <m:r>
                        <a:rPr lang="en-US" altLang="zh-TW" sz="2200" i="1">
                          <a:latin typeface="Cambria Math"/>
                        </a:rPr>
                        <m:t>=</m:t>
                      </m:r>
                      <m:r>
                        <a:rPr lang="en-US" altLang="zh-TW" sz="2200" i="1">
                          <a:latin typeface="Cambria Math"/>
                        </a:rPr>
                        <m:t>𝑟𝑠𝑖𝑛</m:t>
                      </m:r>
                      <m:d>
                        <m:dPr>
                          <m:ctrlPr>
                            <a:rPr lang="en-US" altLang="zh-TW" sz="2200" i="1">
                              <a:latin typeface="Cambria Math"/>
                            </a:rPr>
                          </m:ctrlPr>
                        </m:dPr>
                        <m:e>
                          <m:r>
                            <a:rPr lang="en-US" altLang="zh-TW" sz="2200" i="1">
                              <a:latin typeface="Cambria Math"/>
                            </a:rPr>
                            <m:t>2</m:t>
                          </m:r>
                          <m:r>
                            <a:rPr lang="en-US" altLang="zh-TW" sz="2200" i="1">
                              <a:latin typeface="Cambria Math"/>
                              <a:ea typeface="Cambria Math"/>
                            </a:rPr>
                            <m:t>𝜋</m:t>
                          </m:r>
                          <m:r>
                            <a:rPr lang="en-US" altLang="zh-TW" sz="2200" i="1">
                              <a:latin typeface="Cambria Math"/>
                              <a:ea typeface="Cambria Math"/>
                            </a:rPr>
                            <m:t>𝑓𝑡</m:t>
                          </m:r>
                          <m:r>
                            <a:rPr lang="en-US" altLang="zh-TW" sz="2200" i="1">
                              <a:latin typeface="Cambria Math"/>
                              <a:ea typeface="Cambria Math"/>
                            </a:rPr>
                            <m:t>+</m:t>
                          </m:r>
                          <m:r>
                            <a:rPr lang="en-US" altLang="zh-TW" sz="2200" i="1">
                              <a:latin typeface="Cambria Math"/>
                              <a:ea typeface="Cambria Math"/>
                            </a:rPr>
                            <m:t>𝜃</m:t>
                          </m:r>
                        </m:e>
                      </m:d>
                      <m:r>
                        <a:rPr lang="en-US" altLang="zh-TW" sz="2200" i="1">
                          <a:latin typeface="Cambria Math"/>
                          <a:ea typeface="Cambria Math"/>
                        </a:rPr>
                        <m:t>=</m:t>
                      </m:r>
                      <m:r>
                        <a:rPr lang="en-US" altLang="zh-TW" sz="2200" i="1">
                          <a:latin typeface="Cambria Math"/>
                          <a:ea typeface="Cambria Math"/>
                        </a:rPr>
                        <m:t>𝑟𝑐𝑜𝑠</m:t>
                      </m:r>
                      <m:d>
                        <m:dPr>
                          <m:ctrlPr>
                            <a:rPr lang="en-US" altLang="zh-TW" sz="2200" i="1">
                              <a:latin typeface="Cambria Math"/>
                              <a:ea typeface="Cambria Math"/>
                            </a:rPr>
                          </m:ctrlPr>
                        </m:dPr>
                        <m:e>
                          <m:f>
                            <m:fPr>
                              <m:ctrlPr>
                                <a:rPr lang="en-US" altLang="zh-TW" sz="2200" i="1">
                                  <a:latin typeface="Cambria Math"/>
                                  <a:ea typeface="Cambria Math"/>
                                </a:rPr>
                              </m:ctrlPr>
                            </m:fPr>
                            <m:num>
                              <m:r>
                                <a:rPr lang="en-US" altLang="zh-TW" sz="2200" i="1">
                                  <a:latin typeface="Cambria Math"/>
                                  <a:ea typeface="Cambria Math"/>
                                </a:rPr>
                                <m:t>2</m:t>
                              </m:r>
                              <m:r>
                                <a:rPr lang="en-US" altLang="zh-TW" sz="2200" i="1">
                                  <a:latin typeface="Cambria Math"/>
                                  <a:ea typeface="Cambria Math"/>
                                </a:rPr>
                                <m:t>𝜋</m:t>
                              </m:r>
                            </m:num>
                            <m:den>
                              <m:r>
                                <a:rPr lang="en-US" altLang="zh-TW" sz="2200" i="1">
                                  <a:latin typeface="Cambria Math"/>
                                  <a:ea typeface="Cambria Math"/>
                                </a:rPr>
                                <m:t>𝑇</m:t>
                              </m:r>
                            </m:den>
                          </m:f>
                          <m:r>
                            <a:rPr lang="en-US" altLang="zh-TW" sz="2200" i="1">
                              <a:latin typeface="Cambria Math"/>
                              <a:ea typeface="Cambria Math"/>
                            </a:rPr>
                            <m:t>𝑡</m:t>
                          </m:r>
                          <m:r>
                            <a:rPr lang="en-US" altLang="zh-TW" sz="2200" i="1">
                              <a:latin typeface="Cambria Math"/>
                              <a:ea typeface="Cambria Math"/>
                            </a:rPr>
                            <m:t>+</m:t>
                          </m:r>
                          <m:r>
                            <a:rPr lang="en-US" altLang="zh-TW" sz="2200" i="1">
                              <a:latin typeface="Cambria Math"/>
                              <a:ea typeface="Cambria Math"/>
                            </a:rPr>
                            <m:t>𝜃</m:t>
                          </m:r>
                          <m:r>
                            <a:rPr lang="en-US" altLang="zh-TW" sz="2200" b="0" i="1" smtClean="0">
                              <a:latin typeface="Cambria Math"/>
                              <a:ea typeface="Cambria Math"/>
                            </a:rPr>
                            <m:t>−</m:t>
                          </m:r>
                          <m:f>
                            <m:fPr>
                              <m:ctrlPr>
                                <a:rPr lang="en-US" altLang="zh-TW" sz="2200" b="0" i="1" smtClean="0">
                                  <a:latin typeface="Cambria Math"/>
                                  <a:ea typeface="Cambria Math"/>
                                </a:rPr>
                              </m:ctrlPr>
                            </m:fPr>
                            <m:num>
                              <m:r>
                                <a:rPr lang="en-US" altLang="zh-TW" sz="2200" i="1">
                                  <a:latin typeface="Cambria Math"/>
                                  <a:ea typeface="Cambria Math"/>
                                </a:rPr>
                                <m:t>𝜋</m:t>
                              </m:r>
                            </m:num>
                            <m:den>
                              <m:r>
                                <a:rPr lang="en-US" altLang="zh-TW" sz="2200" b="0" i="1" smtClean="0">
                                  <a:latin typeface="Cambria Math"/>
                                  <a:ea typeface="Cambria Math"/>
                                </a:rPr>
                                <m:t>2</m:t>
                              </m:r>
                            </m:den>
                          </m:f>
                        </m:e>
                      </m:d>
                      <m:r>
                        <a:rPr lang="en-US" altLang="zh-TW" sz="2200" i="1">
                          <a:latin typeface="Cambria Math"/>
                          <a:ea typeface="Cambria Math"/>
                        </a:rPr>
                        <m:t>=</m:t>
                      </m:r>
                      <m:r>
                        <a:rPr lang="en-US" altLang="zh-TW" sz="2200" i="1">
                          <a:latin typeface="Cambria Math"/>
                          <a:ea typeface="Cambria Math"/>
                        </a:rPr>
                        <m:t>𝑟𝑐𝑜𝑠</m:t>
                      </m:r>
                      <m:d>
                        <m:dPr>
                          <m:ctrlPr>
                            <a:rPr lang="en-US" altLang="zh-TW" sz="2200" i="1">
                              <a:latin typeface="Cambria Math"/>
                              <a:ea typeface="Cambria Math"/>
                            </a:rPr>
                          </m:ctrlPr>
                        </m:dPr>
                        <m:e>
                          <m:r>
                            <a:rPr lang="en-US" altLang="zh-TW" sz="2200" i="1">
                              <a:latin typeface="Cambria Math"/>
                              <a:ea typeface="Cambria Math"/>
                            </a:rPr>
                            <m:t>𝜔</m:t>
                          </m:r>
                          <m:r>
                            <a:rPr lang="en-US" altLang="zh-TW" sz="2200" i="1">
                              <a:latin typeface="Cambria Math"/>
                              <a:ea typeface="Cambria Math"/>
                            </a:rPr>
                            <m:t>𝑡</m:t>
                          </m:r>
                          <m:r>
                            <a:rPr lang="en-US" altLang="zh-TW" sz="2200" i="1">
                              <a:latin typeface="Cambria Math"/>
                              <a:ea typeface="Cambria Math"/>
                            </a:rPr>
                            <m:t>+</m:t>
                          </m:r>
                          <m:r>
                            <a:rPr lang="en-US" altLang="zh-TW" sz="2200" i="1">
                              <a:latin typeface="Cambria Math"/>
                              <a:ea typeface="Cambria Math"/>
                            </a:rPr>
                            <m:t>𝜃</m:t>
                          </m:r>
                          <m:r>
                            <a:rPr lang="en-US" altLang="zh-TW" sz="2200" i="1">
                              <a:latin typeface="Cambria Math"/>
                              <a:ea typeface="Cambria Math"/>
                            </a:rPr>
                            <m:t>−</m:t>
                          </m:r>
                          <m:f>
                            <m:fPr>
                              <m:ctrlPr>
                                <a:rPr lang="en-US" altLang="zh-TW" sz="2200" i="1">
                                  <a:latin typeface="Cambria Math"/>
                                  <a:ea typeface="Cambria Math"/>
                                </a:rPr>
                              </m:ctrlPr>
                            </m:fPr>
                            <m:num>
                              <m:r>
                                <a:rPr lang="en-US" altLang="zh-TW" sz="2200" i="1">
                                  <a:latin typeface="Cambria Math"/>
                                  <a:ea typeface="Cambria Math"/>
                                </a:rPr>
                                <m:t>𝜋</m:t>
                              </m:r>
                            </m:num>
                            <m:den>
                              <m:r>
                                <a:rPr lang="en-US" altLang="zh-TW" sz="2200" i="1">
                                  <a:latin typeface="Cambria Math"/>
                                  <a:ea typeface="Cambria Math"/>
                                </a:rPr>
                                <m:t>2</m:t>
                              </m:r>
                            </m:den>
                          </m:f>
                        </m:e>
                      </m:d>
                    </m:oMath>
                  </m:oMathPara>
                </a14:m>
                <a:endParaRPr lang="en-US" altLang="zh-TW" sz="2200" dirty="0">
                  <a:ea typeface="Cambria Math"/>
                </a:endParaRPr>
              </a:p>
              <a:p>
                <a:pPr>
                  <a:lnSpc>
                    <a:spcPct val="120000"/>
                  </a:lnSpc>
                </a:pPr>
                <a14:m>
                  <m:oMath xmlns:m="http://schemas.openxmlformats.org/officeDocument/2006/math">
                    <m:r>
                      <a:rPr lang="en-US" altLang="zh-TW" sz="2200" i="1" smtClean="0">
                        <a:solidFill>
                          <a:srgbClr val="FF0000"/>
                        </a:solidFill>
                        <a:latin typeface="Cambria Math"/>
                        <a:ea typeface="Cambria Math"/>
                      </a:rPr>
                      <m:t>𝜃</m:t>
                    </m:r>
                    <m:r>
                      <a:rPr lang="en-US" altLang="zh-TW" sz="2200" i="1" smtClean="0">
                        <a:solidFill>
                          <a:srgbClr val="FF0000"/>
                        </a:solidFill>
                        <a:latin typeface="Cambria Math"/>
                        <a:ea typeface="Cambria Math"/>
                      </a:rPr>
                      <m:t>−</m:t>
                    </m:r>
                    <m:f>
                      <m:fPr>
                        <m:ctrlPr>
                          <a:rPr lang="en-US" altLang="zh-TW" sz="2200" i="1">
                            <a:solidFill>
                              <a:srgbClr val="FF0000"/>
                            </a:solidFill>
                            <a:latin typeface="Cambria Math"/>
                            <a:ea typeface="Cambria Math"/>
                          </a:rPr>
                        </m:ctrlPr>
                      </m:fPr>
                      <m:num>
                        <m:r>
                          <a:rPr lang="en-US" altLang="zh-TW" sz="2200" i="1">
                            <a:solidFill>
                              <a:srgbClr val="FF0000"/>
                            </a:solidFill>
                            <a:latin typeface="Cambria Math"/>
                            <a:ea typeface="Cambria Math"/>
                          </a:rPr>
                          <m:t>𝜋</m:t>
                        </m:r>
                      </m:num>
                      <m:den>
                        <m:r>
                          <a:rPr lang="en-US" altLang="zh-TW" sz="2200" i="1">
                            <a:solidFill>
                              <a:srgbClr val="FF0000"/>
                            </a:solidFill>
                            <a:latin typeface="Cambria Math"/>
                            <a:ea typeface="Cambria Math"/>
                          </a:rPr>
                          <m:t>2</m:t>
                        </m:r>
                      </m:den>
                    </m:f>
                  </m:oMath>
                </a14:m>
                <a:r>
                  <a:rPr lang="en-US" altLang="zh-TW" sz="2200" dirty="0">
                    <a:solidFill>
                      <a:srgbClr val="FF0000"/>
                    </a:solidFill>
                    <a:ea typeface="Cambria Math"/>
                  </a:rPr>
                  <a:t>: </a:t>
                </a:r>
                <a:r>
                  <a:rPr lang="en-US" altLang="zh-TW" sz="2200" u="sng" dirty="0" smtClean="0">
                    <a:solidFill>
                      <a:srgbClr val="FF0000"/>
                    </a:solidFill>
                    <a:ea typeface="Cambria Math"/>
                  </a:rPr>
                  <a:t>phase</a:t>
                </a:r>
                <a:r>
                  <a:rPr lang="en-US" altLang="zh-TW" sz="2200" dirty="0" smtClean="0">
                    <a:solidFill>
                      <a:srgbClr val="FF0000"/>
                    </a:solidFill>
                    <a:ea typeface="Cambria Math"/>
                  </a:rPr>
                  <a:t>  </a:t>
                </a:r>
                <a:endParaRPr lang="en-US" altLang="zh-TW" sz="2200" dirty="0" smtClean="0"/>
              </a:p>
            </p:txBody>
          </p:sp>
        </mc:Choice>
        <mc:Fallback xmlns="">
          <p:sp>
            <p:nvSpPr>
              <p:cNvPr id="8" name="文字方塊 7"/>
              <p:cNvSpPr txBox="1">
                <a:spLocks noRot="1" noChangeAspect="1" noMove="1" noResize="1" noEditPoints="1" noAdjustHandles="1" noChangeArrowheads="1" noChangeShapeType="1" noTextEdit="1"/>
              </p:cNvSpPr>
              <p:nvPr/>
            </p:nvSpPr>
            <p:spPr>
              <a:xfrm>
                <a:off x="107504" y="1124744"/>
                <a:ext cx="9073008" cy="2863284"/>
              </a:xfrm>
              <a:prstGeom prst="rect">
                <a:avLst/>
              </a:prstGeom>
              <a:blipFill rotWithShape="1">
                <a:blip r:embed="rId2"/>
                <a:stretch>
                  <a:fillRect l="-67" b="-106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93710" y="4365104"/>
                <a:ext cx="3696204" cy="7937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solidFill>
                            <a:schemeClr val="tx1"/>
                          </a:solidFill>
                          <a:latin typeface="Cambria Math"/>
                          <a:ea typeface="Cambria Math"/>
                        </a:rPr>
                        <m:t>𝜔</m:t>
                      </m:r>
                      <m:r>
                        <a:rPr lang="en-US" altLang="zh-TW" sz="2400" b="0" i="1" smtClean="0">
                          <a:solidFill>
                            <a:schemeClr val="tx1"/>
                          </a:solidFill>
                          <a:latin typeface="Cambria Math"/>
                          <a:ea typeface="Cambria Math"/>
                        </a:rPr>
                        <m:t>(</m:t>
                      </m:r>
                      <m:f>
                        <m:fPr>
                          <m:ctrlPr>
                            <a:rPr lang="en-US" altLang="zh-TW" sz="2400" b="0" i="1" smtClean="0">
                              <a:solidFill>
                                <a:schemeClr val="tx1"/>
                              </a:solidFill>
                              <a:latin typeface="Cambria Math"/>
                              <a:ea typeface="Cambria Math"/>
                            </a:rPr>
                          </m:ctrlPr>
                        </m:fPr>
                        <m:num>
                          <m:r>
                            <a:rPr lang="en-US" altLang="zh-TW" sz="2400" b="0" i="1" smtClean="0">
                              <a:solidFill>
                                <a:schemeClr val="tx1"/>
                              </a:solidFill>
                              <a:latin typeface="Cambria Math"/>
                              <a:ea typeface="Cambria Math"/>
                            </a:rPr>
                            <m:t>𝑟𝑎𝑑</m:t>
                          </m:r>
                        </m:num>
                        <m:den>
                          <m:r>
                            <a:rPr lang="en-US" altLang="zh-TW" sz="2400" b="0" i="1" smtClean="0">
                              <a:solidFill>
                                <a:schemeClr val="tx1"/>
                              </a:solidFill>
                              <a:latin typeface="Cambria Math"/>
                              <a:ea typeface="Cambria Math"/>
                            </a:rPr>
                            <m:t>𝑠</m:t>
                          </m:r>
                        </m:den>
                      </m:f>
                      <m:r>
                        <a:rPr lang="en-US" altLang="zh-TW" sz="2400" b="0" i="1" smtClean="0">
                          <a:solidFill>
                            <a:schemeClr val="tx1"/>
                          </a:solidFill>
                          <a:latin typeface="Cambria Math"/>
                          <a:ea typeface="Cambria Math"/>
                        </a:rPr>
                        <m:t>)=</m:t>
                      </m:r>
                      <m:r>
                        <a:rPr lang="en-US" altLang="zh-TW" sz="2400" i="1">
                          <a:solidFill>
                            <a:schemeClr val="tx1"/>
                          </a:solidFill>
                          <a:latin typeface="Cambria Math"/>
                        </a:rPr>
                        <m:t>2</m:t>
                      </m:r>
                      <m:r>
                        <a:rPr lang="en-US" altLang="zh-TW" sz="2400" i="1">
                          <a:solidFill>
                            <a:schemeClr val="tx1"/>
                          </a:solidFill>
                          <a:latin typeface="Cambria Math"/>
                          <a:ea typeface="Cambria Math"/>
                        </a:rPr>
                        <m:t>𝜋</m:t>
                      </m:r>
                      <m:r>
                        <a:rPr lang="en-US" altLang="zh-TW" sz="2400" i="1">
                          <a:solidFill>
                            <a:schemeClr val="tx1"/>
                          </a:solidFill>
                          <a:latin typeface="Cambria Math"/>
                          <a:ea typeface="Cambria Math"/>
                        </a:rPr>
                        <m:t>𝑓</m:t>
                      </m:r>
                      <m:r>
                        <a:rPr lang="en-US" altLang="zh-TW" sz="2400" b="0" i="1" smtClean="0">
                          <a:solidFill>
                            <a:schemeClr val="tx1"/>
                          </a:solidFill>
                          <a:latin typeface="Cambria Math"/>
                          <a:ea typeface="Cambria Math"/>
                        </a:rPr>
                        <m:t>=</m:t>
                      </m:r>
                      <m:f>
                        <m:fPr>
                          <m:ctrlPr>
                            <a:rPr lang="en-US" altLang="zh-TW" sz="2400" b="0" i="1" smtClean="0">
                              <a:solidFill>
                                <a:schemeClr val="tx1"/>
                              </a:solidFill>
                              <a:latin typeface="Cambria Math"/>
                              <a:ea typeface="Cambria Math"/>
                            </a:rPr>
                          </m:ctrlPr>
                        </m:fPr>
                        <m:num>
                          <m:r>
                            <a:rPr lang="en-US" altLang="zh-TW" sz="2400" i="1">
                              <a:solidFill>
                                <a:schemeClr val="tx1"/>
                              </a:solidFill>
                              <a:latin typeface="Cambria Math"/>
                            </a:rPr>
                            <m:t>2</m:t>
                          </m:r>
                          <m:r>
                            <a:rPr lang="en-US" altLang="zh-TW" sz="2400" i="1">
                              <a:solidFill>
                                <a:schemeClr val="tx1"/>
                              </a:solidFill>
                              <a:latin typeface="Cambria Math"/>
                              <a:ea typeface="Cambria Math"/>
                            </a:rPr>
                            <m:t>𝜋</m:t>
                          </m:r>
                        </m:num>
                        <m:den>
                          <m:r>
                            <a:rPr lang="en-US" altLang="zh-TW" sz="2400" b="0" i="1" smtClean="0">
                              <a:solidFill>
                                <a:schemeClr val="tx1"/>
                              </a:solidFill>
                              <a:latin typeface="Cambria Math"/>
                              <a:ea typeface="Cambria Math"/>
                            </a:rPr>
                            <m:t>𝑇</m:t>
                          </m:r>
                        </m:den>
                      </m:f>
                      <m:r>
                        <a:rPr lang="en-US" altLang="zh-TW" sz="2400" b="0" i="1" smtClean="0">
                          <a:solidFill>
                            <a:schemeClr val="tx1"/>
                          </a:solidFill>
                          <a:latin typeface="Cambria Math"/>
                          <a:ea typeface="Cambria Math"/>
                        </a:rPr>
                        <m:t>=</m:t>
                      </m:r>
                      <m:f>
                        <m:fPr>
                          <m:ctrlPr>
                            <a:rPr lang="en-US" altLang="zh-TW" sz="2400" b="0" i="1" smtClean="0">
                              <a:solidFill>
                                <a:schemeClr val="tx1"/>
                              </a:solidFill>
                              <a:latin typeface="Cambria Math"/>
                              <a:ea typeface="Cambria Math"/>
                            </a:rPr>
                          </m:ctrlPr>
                        </m:fPr>
                        <m:num>
                          <m:r>
                            <a:rPr lang="en-US" altLang="zh-TW" sz="2400" b="0" i="1" smtClean="0">
                              <a:solidFill>
                                <a:schemeClr val="tx1"/>
                              </a:solidFill>
                              <a:latin typeface="Cambria Math"/>
                              <a:ea typeface="Cambria Math"/>
                            </a:rPr>
                            <m:t>𝑑</m:t>
                          </m:r>
                          <m:r>
                            <a:rPr lang="en-US" altLang="zh-TW" sz="2400" b="0" i="1" smtClean="0">
                              <a:solidFill>
                                <a:schemeClr val="tx1"/>
                              </a:solidFill>
                              <a:latin typeface="Cambria Math"/>
                              <a:ea typeface="Cambria Math"/>
                            </a:rPr>
                            <m:t>𝜃</m:t>
                          </m:r>
                        </m:num>
                        <m:den>
                          <m:r>
                            <a:rPr lang="en-US" altLang="zh-TW" sz="2400" b="0" i="1" smtClean="0">
                              <a:solidFill>
                                <a:schemeClr val="tx1"/>
                              </a:solidFill>
                              <a:latin typeface="Cambria Math"/>
                              <a:ea typeface="Cambria Math"/>
                            </a:rPr>
                            <m:t>𝑑𝑡</m:t>
                          </m:r>
                        </m:den>
                      </m:f>
                    </m:oMath>
                  </m:oMathPara>
                </a14:m>
                <a:endParaRPr lang="zh-TW" altLang="en-US" sz="2400" dirty="0">
                  <a:solidFill>
                    <a:schemeClr val="tx1"/>
                  </a:solidFill>
                </a:endParaRPr>
              </a:p>
            </p:txBody>
          </p:sp>
        </mc:Choice>
        <mc:Fallback xmlns="">
          <p:sp>
            <p:nvSpPr>
              <p:cNvPr id="12" name="矩形 11"/>
              <p:cNvSpPr>
                <a:spLocks noRot="1" noChangeAspect="1" noMove="1" noResize="1" noEditPoints="1" noAdjustHandles="1" noChangeArrowheads="1" noChangeShapeType="1" noTextEdit="1"/>
              </p:cNvSpPr>
              <p:nvPr/>
            </p:nvSpPr>
            <p:spPr>
              <a:xfrm>
                <a:off x="393710" y="4365104"/>
                <a:ext cx="3696204" cy="793743"/>
              </a:xfrm>
              <a:prstGeom prst="rect">
                <a:avLst/>
              </a:prstGeom>
              <a:blipFill rotWithShape="1">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p:cNvSpPr txBox="1"/>
              <p:nvPr/>
            </p:nvSpPr>
            <p:spPr>
              <a:xfrm>
                <a:off x="4491270" y="4408032"/>
                <a:ext cx="4032448" cy="707886"/>
              </a:xfrm>
              <a:prstGeom prst="rect">
                <a:avLst/>
              </a:prstGeom>
              <a:noFill/>
            </p:spPr>
            <p:txBody>
              <a:bodyPr wrap="square" rtlCol="0">
                <a:spAutoFit/>
              </a:bodyPr>
              <a:lstStyle/>
              <a:p>
                <a:r>
                  <a:rPr lang="en-US" altLang="zh-TW" sz="2000" dirty="0" err="1" smtClean="0">
                    <a:latin typeface="微軟正黑體" pitchFamily="34" charset="-120"/>
                    <a:ea typeface="微軟正黑體" pitchFamily="34" charset="-120"/>
                  </a:rPr>
                  <a:t>每單位時間旋轉角度</a:t>
                </a:r>
                <a:r>
                  <a:rPr lang="en-US" altLang="zh-TW" sz="2000" dirty="0" smtClean="0">
                    <a:latin typeface="微軟正黑體" pitchFamily="34" charset="-120"/>
                    <a:ea typeface="微軟正黑體" pitchFamily="34" charset="-120"/>
                  </a:rPr>
                  <a:t>(</a:t>
                </a:r>
                <a:r>
                  <a:rPr lang="en-US" altLang="zh-TW" sz="2000" dirty="0" err="1" smtClean="0">
                    <a:latin typeface="微軟正黑體" pitchFamily="34" charset="-120"/>
                    <a:ea typeface="微軟正黑體" pitchFamily="34" charset="-120"/>
                  </a:rPr>
                  <a:t>角速度</a:t>
                </a:r>
                <a:r>
                  <a:rPr lang="en-US" altLang="zh-TW" sz="2000" dirty="0" smtClean="0">
                    <a:latin typeface="微軟正黑體" pitchFamily="34" charset="-120"/>
                    <a:ea typeface="微軟正黑體" pitchFamily="34" charset="-120"/>
                  </a:rPr>
                  <a:t>)</a:t>
                </a:r>
              </a:p>
              <a:p>
                <a:r>
                  <a:rPr lang="zh-TW" altLang="en-US" sz="2000" dirty="0" smtClean="0">
                    <a:latin typeface="微軟正黑體" pitchFamily="34" charset="-120"/>
                    <a:ea typeface="微軟正黑體" pitchFamily="34" charset="-120"/>
                  </a:rPr>
                  <a:t>頻率</a:t>
                </a:r>
                <a:r>
                  <a:rPr lang="en-US" altLang="zh-TW" sz="2000" dirty="0" smtClean="0">
                    <a:latin typeface="微軟正黑體" pitchFamily="34" charset="-120"/>
                    <a:ea typeface="微軟正黑體" pitchFamily="34" charset="-120"/>
                  </a:rPr>
                  <a:t>(Hz)</a:t>
                </a:r>
                <a:r>
                  <a:rPr lang="zh-TW" altLang="en-US" sz="2000" dirty="0" smtClean="0">
                    <a:latin typeface="微軟正黑體" pitchFamily="34" charset="-120"/>
                    <a:ea typeface="微軟正黑體" pitchFamily="34" charset="-120"/>
                  </a:rPr>
                  <a:t>的</a:t>
                </a:r>
                <a14:m>
                  <m:oMath xmlns:m="http://schemas.openxmlformats.org/officeDocument/2006/math">
                    <m:r>
                      <a:rPr lang="en-US" altLang="zh-TW" sz="2000" i="1">
                        <a:latin typeface="Cambria Math"/>
                      </a:rPr>
                      <m:t>2</m:t>
                    </m:r>
                    <m:r>
                      <a:rPr lang="en-US" altLang="zh-TW" sz="2000" i="1">
                        <a:latin typeface="Cambria Math"/>
                        <a:ea typeface="Cambria Math"/>
                      </a:rPr>
                      <m:t>𝜋</m:t>
                    </m:r>
                  </m:oMath>
                </a14:m>
                <a:r>
                  <a:rPr lang="zh-TW" altLang="en-US" sz="2000" dirty="0" smtClean="0">
                    <a:latin typeface="微軟正黑體" pitchFamily="34" charset="-120"/>
                    <a:ea typeface="微軟正黑體" pitchFamily="34" charset="-120"/>
                  </a:rPr>
                  <a:t>倍 </a:t>
                </a:r>
                <a:r>
                  <a:rPr lang="en-US" altLang="zh-TW" sz="2000" dirty="0" smtClean="0">
                    <a:latin typeface="微軟正黑體" pitchFamily="34" charset="-120"/>
                    <a:ea typeface="微軟正黑體" pitchFamily="34" charset="-120"/>
                  </a:rPr>
                  <a:t>(</a:t>
                </a:r>
                <a:r>
                  <a:rPr lang="en-US" altLang="zh-TW" sz="2000" dirty="0" err="1" smtClean="0">
                    <a:latin typeface="微軟正黑體" pitchFamily="34" charset="-120"/>
                    <a:ea typeface="微軟正黑體" pitchFamily="34" charset="-120"/>
                  </a:rPr>
                  <a:t>角頻率</a:t>
                </a:r>
                <a:r>
                  <a:rPr lang="en-US" altLang="zh-TW" sz="2000" dirty="0" smtClean="0">
                    <a:latin typeface="微軟正黑體" pitchFamily="34" charset="-120"/>
                    <a:ea typeface="微軟正黑體" pitchFamily="34" charset="-120"/>
                  </a:rPr>
                  <a:t>)</a:t>
                </a:r>
                <a:endParaRPr lang="zh-TW" altLang="en-US" sz="2000" dirty="0">
                  <a:latin typeface="微軟正黑體" pitchFamily="34" charset="-120"/>
                  <a:ea typeface="微軟正黑體" pitchFamily="34" charset="-120"/>
                </a:endParaRPr>
              </a:p>
            </p:txBody>
          </p:sp>
        </mc:Choice>
        <mc:Fallback xmlns="">
          <p:sp>
            <p:nvSpPr>
              <p:cNvPr id="14" name="文字方塊 13"/>
              <p:cNvSpPr txBox="1">
                <a:spLocks noRot="1" noChangeAspect="1" noMove="1" noResize="1" noEditPoints="1" noAdjustHandles="1" noChangeArrowheads="1" noChangeShapeType="1" noTextEdit="1"/>
              </p:cNvSpPr>
              <p:nvPr/>
            </p:nvSpPr>
            <p:spPr>
              <a:xfrm>
                <a:off x="4491270" y="4408032"/>
                <a:ext cx="4032448" cy="707886"/>
              </a:xfrm>
              <a:prstGeom prst="rect">
                <a:avLst/>
              </a:prstGeom>
              <a:blipFill rotWithShape="1">
                <a:blip r:embed="rId4"/>
                <a:stretch>
                  <a:fillRect l="-1664" t="-4310" b="-1465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092266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Instantaneous phase </a:t>
            </a:r>
            <a:r>
              <a:rPr lang="en-US" altLang="zh-TW"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瞬時相位</a:t>
            </a:r>
            <a:r>
              <a:rPr lang="en-US" altLang="zh-TW" dirty="0" smtClean="0">
                <a:latin typeface="微軟正黑體" pitchFamily="34" charset="-120"/>
                <a:ea typeface="微軟正黑體" pitchFamily="34" charset="-120"/>
              </a:rPr>
              <a:t>)</a:t>
            </a:r>
            <a:endParaRPr lang="zh-TW" altLang="en-US" dirty="0">
              <a:latin typeface="微軟正黑體" pitchFamily="34" charset="-120"/>
              <a:ea typeface="微軟正黑體" pitchFamily="34" charset="-120"/>
            </a:endParaRPr>
          </a:p>
        </p:txBody>
      </p:sp>
      <p:sp>
        <p:nvSpPr>
          <p:cNvPr id="5" name="投影片編號版面配置區 4"/>
          <p:cNvSpPr>
            <a:spLocks noGrp="1"/>
          </p:cNvSpPr>
          <p:nvPr>
            <p:ph type="sldNum" sz="quarter" idx="12"/>
          </p:nvPr>
        </p:nvSpPr>
        <p:spPr/>
        <p:txBody>
          <a:bodyPr/>
          <a:lstStyle/>
          <a:p>
            <a:fld id="{DFB2A201-8A46-40D3-BE72-AC6B75F3F883}" type="slidenum">
              <a:rPr lang="zh-TW" altLang="en-US" smtClean="0"/>
              <a:pPr/>
              <a:t>26</a:t>
            </a:fld>
            <a:endParaRPr lang="zh-TW" altLang="en-US"/>
          </a:p>
        </p:txBody>
      </p:sp>
      <p:sp>
        <p:nvSpPr>
          <p:cNvPr id="6" name="矩形 5"/>
          <p:cNvSpPr/>
          <p:nvPr/>
        </p:nvSpPr>
        <p:spPr>
          <a:xfrm>
            <a:off x="338741" y="6277962"/>
            <a:ext cx="6120680" cy="369332"/>
          </a:xfrm>
          <a:prstGeom prst="rect">
            <a:avLst/>
          </a:prstGeom>
        </p:spPr>
        <p:txBody>
          <a:bodyPr wrap="square">
            <a:spAutoFit/>
          </a:bodyPr>
          <a:lstStyle/>
          <a:p>
            <a:r>
              <a:rPr lang="en-US" altLang="zh-TW" dirty="0"/>
              <a:t>http://en.wikipedia.org/wiki/Instantaneous_phase</a:t>
            </a:r>
            <a:endParaRPr lang="zh-TW" altLang="en-US" dirty="0"/>
          </a:p>
        </p:txBody>
      </p:sp>
      <p:sp>
        <p:nvSpPr>
          <p:cNvPr id="8" name="文字方塊 7"/>
          <p:cNvSpPr txBox="1"/>
          <p:nvPr/>
        </p:nvSpPr>
        <p:spPr>
          <a:xfrm>
            <a:off x="881336" y="1469975"/>
            <a:ext cx="5400600" cy="523220"/>
          </a:xfrm>
          <a:prstGeom prst="rect">
            <a:avLst/>
          </a:prstGeom>
          <a:noFill/>
        </p:spPr>
        <p:txBody>
          <a:bodyPr wrap="square" rtlCol="0">
            <a:spAutoFit/>
          </a:bodyPr>
          <a:lstStyle/>
          <a:p>
            <a:r>
              <a:rPr lang="en-US" altLang="zh-TW" sz="2800" dirty="0" smtClean="0"/>
              <a:t>If </a:t>
            </a:r>
            <a:r>
              <a:rPr lang="en-US" altLang="zh-TW" sz="2800" i="1" dirty="0" smtClean="0">
                <a:solidFill>
                  <a:srgbClr val="FF0000"/>
                </a:solidFill>
              </a:rPr>
              <a:t>x</a:t>
            </a:r>
            <a:r>
              <a:rPr lang="en-US" altLang="zh-TW" sz="2800" dirty="0" smtClean="0">
                <a:solidFill>
                  <a:srgbClr val="FF0000"/>
                </a:solidFill>
              </a:rPr>
              <a:t>(</a:t>
            </a:r>
            <a:r>
              <a:rPr lang="en-US" altLang="zh-TW" sz="2800" i="1" dirty="0" smtClean="0">
                <a:solidFill>
                  <a:srgbClr val="FF0000"/>
                </a:solidFill>
              </a:rPr>
              <a:t>t</a:t>
            </a:r>
            <a:r>
              <a:rPr lang="en-US" altLang="zh-TW" sz="2800" dirty="0" smtClean="0">
                <a:solidFill>
                  <a:srgbClr val="FF0000"/>
                </a:solidFill>
              </a:rPr>
              <a:t>) is a complex number</a:t>
            </a:r>
            <a:r>
              <a:rPr lang="en-US" altLang="zh-TW" sz="2800" dirty="0" smtClean="0"/>
              <a:t>:</a:t>
            </a:r>
            <a:endParaRPr lang="zh-TW" altLang="en-US" sz="2800" dirty="0"/>
          </a:p>
        </p:txBody>
      </p:sp>
      <p:pic>
        <p:nvPicPr>
          <p:cNvPr id="9" name="圖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2080" y="1430623"/>
            <a:ext cx="2095500" cy="2257425"/>
          </a:xfrm>
          <a:prstGeom prst="rect">
            <a:avLst/>
          </a:prstGeom>
        </p:spPr>
      </p:pic>
      <p:sp>
        <p:nvSpPr>
          <p:cNvPr id="10" name="文字方塊 9"/>
          <p:cNvSpPr txBox="1"/>
          <p:nvPr/>
        </p:nvSpPr>
        <p:spPr>
          <a:xfrm>
            <a:off x="981133" y="2348880"/>
            <a:ext cx="3024336" cy="954107"/>
          </a:xfrm>
          <a:prstGeom prst="rect">
            <a:avLst/>
          </a:prstGeom>
          <a:noFill/>
        </p:spPr>
        <p:txBody>
          <a:bodyPr wrap="square" rtlCol="0">
            <a:spAutoFit/>
          </a:bodyPr>
          <a:lstStyle/>
          <a:p>
            <a:r>
              <a:rPr lang="en-US" altLang="zh-TW" sz="2800" i="1" dirty="0" smtClean="0"/>
              <a:t>X</a:t>
            </a:r>
            <a:r>
              <a:rPr lang="en-US" altLang="zh-TW" sz="2800" dirty="0" smtClean="0"/>
              <a:t>(</a:t>
            </a:r>
            <a:r>
              <a:rPr lang="en-US" altLang="zh-TW" sz="2800" i="1" dirty="0" smtClean="0"/>
              <a:t>t</a:t>
            </a:r>
            <a:r>
              <a:rPr lang="en-US" altLang="zh-TW" sz="2800" dirty="0" smtClean="0"/>
              <a:t>) = </a:t>
            </a:r>
            <a:r>
              <a:rPr lang="en-US" altLang="zh-TW" sz="2800" i="1" dirty="0" smtClean="0"/>
              <a:t>a</a:t>
            </a:r>
            <a:r>
              <a:rPr lang="en-US" altLang="zh-TW" sz="2800" dirty="0" smtClean="0"/>
              <a:t> + </a:t>
            </a:r>
            <a:r>
              <a:rPr lang="en-US" altLang="zh-TW" sz="2800" i="1" dirty="0" smtClean="0"/>
              <a:t>b</a:t>
            </a:r>
            <a:r>
              <a:rPr lang="en-US" altLang="zh-TW" sz="2800" dirty="0" smtClean="0"/>
              <a:t>i</a:t>
            </a:r>
          </a:p>
          <a:p>
            <a:r>
              <a:rPr lang="el-GR" altLang="zh-TW" sz="2800" dirty="0" smtClean="0">
                <a:latin typeface="Times New Roman"/>
                <a:cs typeface="Times New Roman"/>
              </a:rPr>
              <a:t>Φ</a:t>
            </a:r>
            <a:r>
              <a:rPr lang="en-US" altLang="zh-TW" sz="2800" dirty="0" smtClean="0">
                <a:latin typeface="Times New Roman"/>
                <a:cs typeface="Times New Roman"/>
              </a:rPr>
              <a:t>(</a:t>
            </a:r>
            <a:r>
              <a:rPr lang="en-US" altLang="zh-TW" sz="2800" i="1" dirty="0" smtClean="0">
                <a:latin typeface="Times New Roman"/>
                <a:cs typeface="Times New Roman"/>
              </a:rPr>
              <a:t>t</a:t>
            </a:r>
            <a:r>
              <a:rPr lang="en-US" altLang="zh-TW" sz="2800" dirty="0" smtClean="0">
                <a:latin typeface="Times New Roman"/>
                <a:cs typeface="Times New Roman"/>
              </a:rPr>
              <a:t>) = tan</a:t>
            </a:r>
            <a:r>
              <a:rPr lang="en-US" altLang="zh-TW" sz="2800" baseline="30000" dirty="0" smtClean="0">
                <a:latin typeface="Times New Roman"/>
                <a:cs typeface="Times New Roman"/>
              </a:rPr>
              <a:t>-1</a:t>
            </a:r>
            <a:r>
              <a:rPr lang="en-US" altLang="zh-TW" sz="2800" dirty="0" smtClean="0">
                <a:latin typeface="Times New Roman"/>
                <a:cs typeface="Times New Roman"/>
              </a:rPr>
              <a:t>(b/a) </a:t>
            </a:r>
            <a:endParaRPr lang="zh-TW" altLang="en-US" sz="2800" dirty="0"/>
          </a:p>
        </p:txBody>
      </p:sp>
      <p:sp>
        <p:nvSpPr>
          <p:cNvPr id="12" name="矩形 11"/>
          <p:cNvSpPr/>
          <p:nvPr/>
        </p:nvSpPr>
        <p:spPr>
          <a:xfrm>
            <a:off x="611560" y="3637146"/>
            <a:ext cx="7718469" cy="954107"/>
          </a:xfrm>
          <a:prstGeom prst="rect">
            <a:avLst/>
          </a:prstGeom>
        </p:spPr>
        <p:txBody>
          <a:bodyPr wrap="square">
            <a:spAutoFit/>
          </a:bodyPr>
          <a:lstStyle/>
          <a:p>
            <a:r>
              <a:rPr lang="en-US" altLang="zh-TW" sz="2800" dirty="0"/>
              <a:t>If </a:t>
            </a:r>
            <a:r>
              <a:rPr lang="en-US" altLang="zh-TW" sz="2800" i="1" dirty="0">
                <a:solidFill>
                  <a:srgbClr val="FF0000"/>
                </a:solidFill>
              </a:rPr>
              <a:t>x</a:t>
            </a:r>
            <a:r>
              <a:rPr lang="en-US" altLang="zh-TW" sz="2800" dirty="0">
                <a:solidFill>
                  <a:srgbClr val="FF0000"/>
                </a:solidFill>
              </a:rPr>
              <a:t>(</a:t>
            </a:r>
            <a:r>
              <a:rPr lang="en-US" altLang="zh-TW" sz="2800" i="1" dirty="0">
                <a:solidFill>
                  <a:srgbClr val="FF0000"/>
                </a:solidFill>
              </a:rPr>
              <a:t>t</a:t>
            </a:r>
            <a:r>
              <a:rPr lang="en-US" altLang="zh-TW" sz="2800" dirty="0">
                <a:solidFill>
                  <a:srgbClr val="FF0000"/>
                </a:solidFill>
              </a:rPr>
              <a:t>)</a:t>
            </a:r>
            <a:r>
              <a:rPr lang="en-US" altLang="zh-TW" sz="2800" dirty="0"/>
              <a:t> is a </a:t>
            </a:r>
            <a:r>
              <a:rPr lang="en-US" altLang="zh-TW" sz="2800" dirty="0">
                <a:solidFill>
                  <a:srgbClr val="FF0000"/>
                </a:solidFill>
              </a:rPr>
              <a:t>real number</a:t>
            </a:r>
            <a:r>
              <a:rPr lang="en-US" altLang="zh-TW" sz="2800" dirty="0"/>
              <a:t>, it is determined from the signal's </a:t>
            </a:r>
            <a:r>
              <a:rPr lang="en-US" altLang="zh-TW" sz="2800" dirty="0" smtClean="0">
                <a:solidFill>
                  <a:srgbClr val="FF0000"/>
                </a:solidFill>
              </a:rPr>
              <a:t>analytic representation </a:t>
            </a:r>
            <a:r>
              <a:rPr lang="en-US" altLang="zh-TW" sz="2800" i="1" dirty="0" err="1">
                <a:solidFill>
                  <a:srgbClr val="FF0000"/>
                </a:solidFill>
              </a:rPr>
              <a:t>x</a:t>
            </a:r>
            <a:r>
              <a:rPr lang="en-US" altLang="zh-TW" sz="2800" baseline="-25000" dirty="0" err="1" smtClean="0">
                <a:solidFill>
                  <a:srgbClr val="FF0000"/>
                </a:solidFill>
              </a:rPr>
              <a:t>a</a:t>
            </a:r>
            <a:r>
              <a:rPr lang="en-US" altLang="zh-TW" sz="2800" dirty="0" smtClean="0">
                <a:solidFill>
                  <a:srgbClr val="FF0000"/>
                </a:solidFill>
              </a:rPr>
              <a:t>(</a:t>
            </a:r>
            <a:r>
              <a:rPr lang="en-US" altLang="zh-TW" sz="2800" i="1" dirty="0" smtClean="0">
                <a:solidFill>
                  <a:srgbClr val="FF0000"/>
                </a:solidFill>
              </a:rPr>
              <a:t>t</a:t>
            </a:r>
            <a:r>
              <a:rPr lang="en-US" altLang="zh-TW" sz="2800" dirty="0" smtClean="0">
                <a:solidFill>
                  <a:srgbClr val="FF0000"/>
                </a:solidFill>
              </a:rPr>
              <a:t>)=</a:t>
            </a:r>
            <a:r>
              <a:rPr lang="en-US" altLang="zh-TW" sz="2800" dirty="0" err="1" smtClean="0">
                <a:solidFill>
                  <a:srgbClr val="FF0000"/>
                </a:solidFill>
              </a:rPr>
              <a:t>c+di</a:t>
            </a:r>
            <a:endParaRPr lang="zh-TW" altLang="en-US" sz="2800" dirty="0">
              <a:solidFill>
                <a:srgbClr val="FF0000"/>
              </a:solidFill>
            </a:endParaRPr>
          </a:p>
        </p:txBody>
      </p:sp>
      <p:sp>
        <p:nvSpPr>
          <p:cNvPr id="13" name="矩形 12"/>
          <p:cNvSpPr/>
          <p:nvPr/>
        </p:nvSpPr>
        <p:spPr>
          <a:xfrm>
            <a:off x="888435" y="4869160"/>
            <a:ext cx="3270191" cy="954107"/>
          </a:xfrm>
          <a:prstGeom prst="rect">
            <a:avLst/>
          </a:prstGeom>
        </p:spPr>
        <p:txBody>
          <a:bodyPr wrap="none">
            <a:spAutoFit/>
          </a:bodyPr>
          <a:lstStyle/>
          <a:p>
            <a:r>
              <a:rPr lang="en-US" altLang="zh-TW" sz="2800" i="1" dirty="0"/>
              <a:t>X</a:t>
            </a:r>
            <a:r>
              <a:rPr lang="en-US" altLang="zh-TW" sz="2800" dirty="0"/>
              <a:t>(</a:t>
            </a:r>
            <a:r>
              <a:rPr lang="en-US" altLang="zh-TW" sz="2800" i="1" dirty="0"/>
              <a:t>t</a:t>
            </a:r>
            <a:r>
              <a:rPr lang="en-US" altLang="zh-TW" sz="2800" dirty="0"/>
              <a:t>) = </a:t>
            </a:r>
            <a:r>
              <a:rPr lang="en-US" altLang="zh-TW" sz="2800" i="1" dirty="0"/>
              <a:t>c =&gt; </a:t>
            </a:r>
            <a:r>
              <a:rPr lang="en-US" altLang="zh-TW" sz="2800" i="1" dirty="0" err="1"/>
              <a:t>x</a:t>
            </a:r>
            <a:r>
              <a:rPr lang="en-US" altLang="zh-TW" sz="2800" i="1" baseline="-25000" dirty="0" err="1"/>
              <a:t>a</a:t>
            </a:r>
            <a:r>
              <a:rPr lang="en-US" altLang="zh-TW" sz="2800" i="1" dirty="0"/>
              <a:t>(t) = </a:t>
            </a:r>
            <a:r>
              <a:rPr lang="en-US" altLang="zh-TW" sz="2800" i="1" dirty="0" err="1"/>
              <a:t>c+di</a:t>
            </a:r>
            <a:endParaRPr lang="en-US" altLang="zh-TW" sz="2800" dirty="0"/>
          </a:p>
          <a:p>
            <a:r>
              <a:rPr lang="el-GR" altLang="zh-TW" sz="2800" dirty="0" smtClean="0">
                <a:latin typeface="Times New Roman"/>
                <a:cs typeface="Times New Roman"/>
              </a:rPr>
              <a:t>Φ</a:t>
            </a:r>
            <a:r>
              <a:rPr lang="en-US" altLang="zh-TW" sz="2800" dirty="0">
                <a:latin typeface="Times New Roman"/>
                <a:cs typeface="Times New Roman"/>
              </a:rPr>
              <a:t>(</a:t>
            </a:r>
            <a:r>
              <a:rPr lang="en-US" altLang="zh-TW" sz="2800" i="1" dirty="0">
                <a:latin typeface="Times New Roman"/>
                <a:cs typeface="Times New Roman"/>
              </a:rPr>
              <a:t>t</a:t>
            </a:r>
            <a:r>
              <a:rPr lang="en-US" altLang="zh-TW" sz="2800" dirty="0">
                <a:latin typeface="Times New Roman"/>
                <a:cs typeface="Times New Roman"/>
              </a:rPr>
              <a:t>) = </a:t>
            </a:r>
            <a:r>
              <a:rPr lang="en-US" altLang="zh-TW" sz="2800" dirty="0" smtClean="0">
                <a:latin typeface="Times New Roman"/>
                <a:cs typeface="Times New Roman"/>
              </a:rPr>
              <a:t>tan</a:t>
            </a:r>
            <a:r>
              <a:rPr lang="en-US" altLang="zh-TW" sz="2800" baseline="30000" dirty="0" smtClean="0">
                <a:latin typeface="Times New Roman"/>
                <a:cs typeface="Times New Roman"/>
              </a:rPr>
              <a:t>-1</a:t>
            </a:r>
            <a:r>
              <a:rPr lang="en-US" altLang="zh-TW" sz="2800" dirty="0" smtClean="0">
                <a:latin typeface="Times New Roman"/>
                <a:cs typeface="Times New Roman"/>
              </a:rPr>
              <a:t>(d/c) </a:t>
            </a:r>
            <a:endParaRPr lang="zh-TW" altLang="en-US" sz="2800" dirty="0"/>
          </a:p>
        </p:txBody>
      </p:sp>
    </p:spTree>
    <p:extLst>
      <p:ext uri="{BB962C8B-B14F-4D97-AF65-F5344CB8AC3E}">
        <p14:creationId xmlns:p14="http://schemas.microsoft.com/office/powerpoint/2010/main" val="7066569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99392"/>
            <a:ext cx="8229600" cy="1143000"/>
          </a:xfrm>
        </p:spPr>
        <p:txBody>
          <a:bodyPr/>
          <a:lstStyle/>
          <a:p>
            <a:r>
              <a:rPr lang="en-US" altLang="zh-TW" dirty="0"/>
              <a:t>Analytic </a:t>
            </a:r>
            <a:r>
              <a:rPr lang="en-US" altLang="zh-TW" dirty="0" smtClean="0"/>
              <a:t>signal representation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539552" y="980728"/>
                <a:ext cx="8229600" cy="3168351"/>
              </a:xfrm>
            </p:spPr>
            <p:txBody>
              <a:bodyPr>
                <a:normAutofit fontScale="92500" lnSpcReduction="10000"/>
              </a:bodyPr>
              <a:lstStyle/>
              <a:p>
                <a:r>
                  <a:rPr lang="zh-TW" altLang="en-US" dirty="0" smtClean="0">
                    <a:solidFill>
                      <a:srgbClr val="FF0000"/>
                    </a:solidFill>
                    <a:latin typeface="微軟正黑體" pitchFamily="34" charset="-120"/>
                    <a:ea typeface="微軟正黑體" pitchFamily="34" charset="-120"/>
                  </a:rPr>
                  <a:t>任何實數值</a:t>
                </a:r>
                <a:r>
                  <a:rPr lang="zh-TW" altLang="en-US" dirty="0" smtClean="0">
                    <a:latin typeface="微軟正黑體" pitchFamily="34" charset="-120"/>
                    <a:ea typeface="微軟正黑體" pitchFamily="34" charset="-120"/>
                  </a:rPr>
                  <a:t>的訊號經</a:t>
                </a:r>
                <a:r>
                  <a:rPr lang="en-US" altLang="zh-TW" dirty="0" smtClean="0">
                    <a:latin typeface="微軟正黑體" pitchFamily="34" charset="-120"/>
                    <a:ea typeface="微軟正黑體" pitchFamily="34" charset="-120"/>
                  </a:rPr>
                  <a:t>Fourier </a:t>
                </a:r>
                <a:r>
                  <a:rPr lang="en-US" altLang="zh-TW" dirty="0" err="1" smtClean="0">
                    <a:latin typeface="微軟正黑體" pitchFamily="34" charset="-120"/>
                    <a:ea typeface="微軟正黑體" pitchFamily="34" charset="-120"/>
                  </a:rPr>
                  <a:t>transform後，會產生</a:t>
                </a:r>
                <a:r>
                  <a:rPr lang="en-US" altLang="zh-TW" dirty="0" err="1" smtClean="0">
                    <a:solidFill>
                      <a:srgbClr val="FF0000"/>
                    </a:solidFill>
                    <a:latin typeface="微軟正黑體" pitchFamily="34" charset="-120"/>
                    <a:ea typeface="微軟正黑體" pitchFamily="34" charset="-120"/>
                  </a:rPr>
                  <a:t>共軛對稱</a:t>
                </a:r>
                <a:r>
                  <a:rPr lang="en-US" altLang="zh-TW" dirty="0" err="1" smtClean="0">
                    <a:latin typeface="微軟正黑體" pitchFamily="34" charset="-120"/>
                    <a:ea typeface="微軟正黑體" pitchFamily="34" charset="-120"/>
                  </a:rPr>
                  <a:t>的</a:t>
                </a:r>
                <a:r>
                  <a:rPr lang="zh-TW" altLang="en-US" dirty="0" smtClean="0">
                    <a:latin typeface="微軟正黑體" pitchFamily="34" charset="-120"/>
                    <a:ea typeface="微軟正黑體" pitchFamily="34" charset="-120"/>
                  </a:rPr>
                  <a:t>複數，所以只需一半</a:t>
                </a:r>
                <a:r>
                  <a:rPr lang="en-US" altLang="zh-TW"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正頻率，不需考慮負頻率</a:t>
                </a:r>
                <a:r>
                  <a:rPr lang="en-US" altLang="zh-TW" dirty="0" smtClean="0">
                    <a:latin typeface="微軟正黑體" pitchFamily="34" charset="-120"/>
                    <a:ea typeface="微軟正黑體" pitchFamily="34" charset="-120"/>
                  </a:rPr>
                  <a:t>)</a:t>
                </a:r>
                <a:r>
                  <a:rPr lang="zh-TW" altLang="en-US" dirty="0" smtClean="0">
                    <a:latin typeface="微軟正黑體" pitchFamily="34" charset="-120"/>
                    <a:ea typeface="微軟正黑體" pitchFamily="34" charset="-120"/>
                  </a:rPr>
                  <a:t>資料即可。</a:t>
                </a:r>
                <a:endParaRPr lang="en-US" altLang="zh-TW" dirty="0" smtClean="0">
                  <a:latin typeface="微軟正黑體" pitchFamily="34" charset="-120"/>
                  <a:ea typeface="微軟正黑體" pitchFamily="34" charset="-12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a:ea typeface="微軟正黑體" pitchFamily="34" charset="-120"/>
                            </a:rPr>
                          </m:ctrlPr>
                        </m:sSubPr>
                        <m:e>
                          <m:r>
                            <a:rPr lang="en-US" altLang="zh-TW" b="0" i="1" smtClean="0">
                              <a:latin typeface="Cambria Math"/>
                              <a:ea typeface="微軟正黑體" pitchFamily="34" charset="-120"/>
                            </a:rPr>
                            <m:t>𝑌</m:t>
                          </m:r>
                        </m:e>
                        <m:sub>
                          <m:r>
                            <a:rPr lang="en-US" altLang="zh-TW" b="0" i="1" smtClean="0">
                              <a:latin typeface="Cambria Math"/>
                              <a:ea typeface="微軟正黑體" pitchFamily="34" charset="-120"/>
                            </a:rPr>
                            <m:t>𝑘</m:t>
                          </m:r>
                        </m:sub>
                      </m:sSub>
                      <m:r>
                        <a:rPr lang="en-US" altLang="zh-TW" b="0" i="1" smtClean="0">
                          <a:latin typeface="Cambria Math"/>
                          <a:ea typeface="微軟正黑體" pitchFamily="34" charset="-120"/>
                        </a:rPr>
                        <m:t>=</m:t>
                      </m:r>
                      <m:nary>
                        <m:naryPr>
                          <m:chr m:val="∑"/>
                          <m:ctrlPr>
                            <a:rPr lang="en-US" altLang="zh-TW" b="0" i="1" smtClean="0">
                              <a:latin typeface="Cambria Math"/>
                              <a:ea typeface="微軟正黑體" pitchFamily="34" charset="-120"/>
                            </a:rPr>
                          </m:ctrlPr>
                        </m:naryPr>
                        <m:sub>
                          <m:r>
                            <m:rPr>
                              <m:brk m:alnAt="23"/>
                            </m:rPr>
                            <a:rPr lang="en-US" altLang="zh-TW" b="0" i="1" smtClean="0">
                              <a:latin typeface="Cambria Math"/>
                              <a:ea typeface="微軟正黑體" pitchFamily="34" charset="-120"/>
                            </a:rPr>
                            <m:t>𝑛</m:t>
                          </m:r>
                          <m:r>
                            <a:rPr lang="en-US" altLang="zh-TW" b="0" i="1" smtClean="0">
                              <a:latin typeface="Cambria Math"/>
                              <a:ea typeface="微軟正黑體" pitchFamily="34" charset="-120"/>
                            </a:rPr>
                            <m:t>=0</m:t>
                          </m:r>
                        </m:sub>
                        <m:sup>
                          <m:r>
                            <a:rPr lang="en-US" altLang="zh-TW" b="0" i="1" smtClean="0">
                              <a:latin typeface="Cambria Math"/>
                              <a:ea typeface="微軟正黑體" pitchFamily="34" charset="-120"/>
                            </a:rPr>
                            <m:t>𝑁</m:t>
                          </m:r>
                          <m:r>
                            <a:rPr lang="en-US" altLang="zh-TW" b="0" i="1" smtClean="0">
                              <a:latin typeface="Cambria Math"/>
                              <a:ea typeface="微軟正黑體" pitchFamily="34" charset="-120"/>
                            </a:rPr>
                            <m:t>−1</m:t>
                          </m:r>
                        </m:sup>
                        <m:e>
                          <m:sSub>
                            <m:sSubPr>
                              <m:ctrlPr>
                                <a:rPr lang="en-US" altLang="zh-TW" b="0" i="1" smtClean="0">
                                  <a:latin typeface="Cambria Math"/>
                                  <a:ea typeface="微軟正黑體" pitchFamily="34" charset="-120"/>
                                </a:rPr>
                              </m:ctrlPr>
                            </m:sSubPr>
                            <m:e>
                              <m:r>
                                <a:rPr lang="en-US" altLang="zh-TW" b="0" i="1" smtClean="0">
                                  <a:latin typeface="Cambria Math"/>
                                  <a:ea typeface="微軟正黑體" pitchFamily="34" charset="-120"/>
                                </a:rPr>
                                <m:t>𝑥</m:t>
                              </m:r>
                            </m:e>
                            <m:sub>
                              <m:r>
                                <a:rPr lang="en-US" altLang="zh-TW" b="0" i="1" smtClean="0">
                                  <a:latin typeface="Cambria Math"/>
                                  <a:ea typeface="微軟正黑體" pitchFamily="34" charset="-120"/>
                                </a:rPr>
                                <m:t>𝑛</m:t>
                              </m:r>
                            </m:sub>
                          </m:sSub>
                          <m:sSup>
                            <m:sSupPr>
                              <m:ctrlPr>
                                <a:rPr lang="en-US" altLang="zh-TW" b="0" i="1" smtClean="0">
                                  <a:latin typeface="Cambria Math"/>
                                  <a:ea typeface="微軟正黑體" pitchFamily="34" charset="-120"/>
                                </a:rPr>
                              </m:ctrlPr>
                            </m:sSupPr>
                            <m:e>
                              <m:r>
                                <a:rPr lang="en-US" altLang="zh-TW" b="0" i="1" smtClean="0">
                                  <a:latin typeface="Cambria Math"/>
                                  <a:ea typeface="微軟正黑體" pitchFamily="34" charset="-120"/>
                                </a:rPr>
                                <m:t>𝑒</m:t>
                              </m:r>
                            </m:e>
                            <m:sup>
                              <m:r>
                                <a:rPr lang="en-US" altLang="zh-TW" b="0" i="1" smtClean="0">
                                  <a:latin typeface="Cambria Math"/>
                                  <a:ea typeface="微軟正黑體" pitchFamily="34" charset="-120"/>
                                </a:rPr>
                                <m:t>−</m:t>
                              </m:r>
                              <m:r>
                                <a:rPr lang="en-US" altLang="zh-TW" b="0" i="1" smtClean="0">
                                  <a:latin typeface="Cambria Math"/>
                                  <a:ea typeface="微軟正黑體" pitchFamily="34" charset="-120"/>
                                </a:rPr>
                                <m:t>𝑖</m:t>
                              </m:r>
                              <m:r>
                                <a:rPr lang="en-US" altLang="zh-TW" b="0" i="1" smtClean="0">
                                  <a:latin typeface="Cambria Math"/>
                                  <a:ea typeface="微軟正黑體" pitchFamily="34" charset="-120"/>
                                </a:rPr>
                                <m:t>2</m:t>
                              </m:r>
                              <m:r>
                                <a:rPr lang="en-US" altLang="zh-TW" b="0" i="1" smtClean="0">
                                  <a:latin typeface="Cambria Math"/>
                                  <a:ea typeface="Cambria Math"/>
                                </a:rPr>
                                <m:t>𝜋</m:t>
                              </m:r>
                              <m:f>
                                <m:fPr>
                                  <m:ctrlPr>
                                    <a:rPr lang="en-US" altLang="zh-TW" b="0" i="1" smtClean="0">
                                      <a:latin typeface="Cambria Math"/>
                                      <a:ea typeface="Cambria Math"/>
                                    </a:rPr>
                                  </m:ctrlPr>
                                </m:fPr>
                                <m:num>
                                  <m:r>
                                    <a:rPr lang="en-US" altLang="zh-TW" b="0" i="1" smtClean="0">
                                      <a:latin typeface="Cambria Math"/>
                                      <a:ea typeface="Cambria Math"/>
                                    </a:rPr>
                                    <m:t>𝑘</m:t>
                                  </m:r>
                                </m:num>
                                <m:den>
                                  <m:r>
                                    <a:rPr lang="en-US" altLang="zh-TW" b="0" i="1" smtClean="0">
                                      <a:latin typeface="Cambria Math"/>
                                      <a:ea typeface="Cambria Math"/>
                                    </a:rPr>
                                    <m:t>𝑁</m:t>
                                  </m:r>
                                </m:den>
                              </m:f>
                              <m:r>
                                <a:rPr lang="en-US" altLang="zh-TW" b="0" i="1" smtClean="0">
                                  <a:latin typeface="Cambria Math"/>
                                  <a:ea typeface="Cambria Math"/>
                                </a:rPr>
                                <m:t>𝑛</m:t>
                              </m:r>
                            </m:sup>
                          </m:sSup>
                          <m:r>
                            <a:rPr lang="en-US" altLang="zh-TW" b="0" i="1" smtClean="0">
                              <a:latin typeface="Cambria Math"/>
                              <a:ea typeface="微軟正黑體" pitchFamily="34" charset="-120"/>
                            </a:rPr>
                            <m:t>=</m:t>
                          </m:r>
                          <m:nary>
                            <m:naryPr>
                              <m:chr m:val="∑"/>
                              <m:ctrlPr>
                                <a:rPr lang="en-US" altLang="zh-TW" i="1">
                                  <a:latin typeface="Cambria Math"/>
                                  <a:ea typeface="微軟正黑體" pitchFamily="34" charset="-120"/>
                                </a:rPr>
                              </m:ctrlPr>
                            </m:naryPr>
                            <m:sub>
                              <m:r>
                                <m:rPr>
                                  <m:brk m:alnAt="23"/>
                                </m:rPr>
                                <a:rPr lang="en-US" altLang="zh-TW" i="1">
                                  <a:latin typeface="Cambria Math"/>
                                  <a:ea typeface="微軟正黑體" pitchFamily="34" charset="-120"/>
                                </a:rPr>
                                <m:t>𝑛</m:t>
                              </m:r>
                              <m:r>
                                <a:rPr lang="en-US" altLang="zh-TW" i="1">
                                  <a:latin typeface="Cambria Math"/>
                                  <a:ea typeface="微軟正黑體" pitchFamily="34" charset="-120"/>
                                </a:rPr>
                                <m:t>=0</m:t>
                              </m:r>
                            </m:sub>
                            <m:sup>
                              <m:r>
                                <a:rPr lang="en-US" altLang="zh-TW" i="1">
                                  <a:latin typeface="Cambria Math"/>
                                  <a:ea typeface="微軟正黑體" pitchFamily="34" charset="-120"/>
                                </a:rPr>
                                <m:t>𝑁</m:t>
                              </m:r>
                              <m:r>
                                <a:rPr lang="en-US" altLang="zh-TW" i="1">
                                  <a:latin typeface="Cambria Math"/>
                                  <a:ea typeface="微軟正黑體" pitchFamily="34" charset="-120"/>
                                </a:rPr>
                                <m:t>−1</m:t>
                              </m:r>
                            </m:sup>
                            <m:e>
                              <m:sSub>
                                <m:sSubPr>
                                  <m:ctrlPr>
                                    <a:rPr lang="en-US" altLang="zh-TW" i="1">
                                      <a:latin typeface="Cambria Math"/>
                                      <a:ea typeface="微軟正黑體" pitchFamily="34" charset="-120"/>
                                    </a:rPr>
                                  </m:ctrlPr>
                                </m:sSubPr>
                                <m:e>
                                  <m:r>
                                    <a:rPr lang="en-US" altLang="zh-TW" i="1">
                                      <a:latin typeface="Cambria Math"/>
                                      <a:ea typeface="微軟正黑體" pitchFamily="34" charset="-120"/>
                                    </a:rPr>
                                    <m:t>𝑥</m:t>
                                  </m:r>
                                </m:e>
                                <m:sub>
                                  <m:r>
                                    <a:rPr lang="en-US" altLang="zh-TW" i="1">
                                      <a:latin typeface="Cambria Math"/>
                                      <a:ea typeface="微軟正黑體" pitchFamily="34" charset="-120"/>
                                    </a:rPr>
                                    <m:t>𝑛</m:t>
                                  </m:r>
                                </m:sub>
                              </m:sSub>
                              <m:sSup>
                                <m:sSupPr>
                                  <m:ctrlPr>
                                    <a:rPr lang="en-US" altLang="zh-TW" i="1">
                                      <a:latin typeface="Cambria Math"/>
                                      <a:ea typeface="微軟正黑體" pitchFamily="34" charset="-120"/>
                                    </a:rPr>
                                  </m:ctrlPr>
                                </m:sSupPr>
                                <m:e>
                                  <m:r>
                                    <a:rPr lang="en-US" altLang="zh-TW" i="1">
                                      <a:latin typeface="Cambria Math"/>
                                      <a:ea typeface="微軟正黑體" pitchFamily="34" charset="-120"/>
                                    </a:rPr>
                                    <m:t>𝑒</m:t>
                                  </m:r>
                                </m:e>
                                <m:sup>
                                  <m:r>
                                    <a:rPr lang="en-US" altLang="zh-TW" i="1">
                                      <a:latin typeface="Cambria Math"/>
                                      <a:ea typeface="微軟正黑體" pitchFamily="34" charset="-120"/>
                                    </a:rPr>
                                    <m:t>−</m:t>
                                  </m:r>
                                  <m:r>
                                    <a:rPr lang="en-US" altLang="zh-TW" i="1">
                                      <a:latin typeface="Cambria Math"/>
                                      <a:ea typeface="微軟正黑體" pitchFamily="34" charset="-120"/>
                                    </a:rPr>
                                    <m:t>𝑖</m:t>
                                  </m:r>
                                  <m:sSub>
                                    <m:sSubPr>
                                      <m:ctrlPr>
                                        <a:rPr lang="en-US" altLang="zh-TW" i="1" smtClean="0">
                                          <a:latin typeface="Cambria Math"/>
                                          <a:ea typeface="微軟正黑體" pitchFamily="34" charset="-120"/>
                                        </a:rPr>
                                      </m:ctrlPr>
                                    </m:sSubPr>
                                    <m:e>
                                      <m:r>
                                        <a:rPr lang="en-US" altLang="zh-TW" i="1" smtClean="0">
                                          <a:latin typeface="Cambria Math"/>
                                          <a:ea typeface="Cambria Math"/>
                                        </a:rPr>
                                        <m:t>𝜔</m:t>
                                      </m:r>
                                    </m:e>
                                    <m:sub>
                                      <m:r>
                                        <a:rPr lang="en-US" altLang="zh-TW" b="0" i="1" smtClean="0">
                                          <a:latin typeface="Cambria Math"/>
                                          <a:ea typeface="微軟正黑體" pitchFamily="34" charset="-120"/>
                                        </a:rPr>
                                        <m:t>𝑘</m:t>
                                      </m:r>
                                    </m:sub>
                                  </m:sSub>
                                  <m:r>
                                    <a:rPr lang="en-US" altLang="zh-TW" i="1">
                                      <a:latin typeface="Cambria Math"/>
                                      <a:ea typeface="Cambria Math"/>
                                    </a:rPr>
                                    <m:t>𝑛</m:t>
                                  </m:r>
                                </m:sup>
                              </m:sSup>
                            </m:e>
                          </m:nary>
                        </m:e>
                      </m:nary>
                    </m:oMath>
                  </m:oMathPara>
                </a14:m>
                <a:endParaRPr lang="en-US" altLang="zh-TW" dirty="0" smtClean="0">
                  <a:latin typeface="微軟正黑體" pitchFamily="34" charset="-120"/>
                  <a:ea typeface="微軟正黑體" pitchFamily="34" charset="-120"/>
                </a:endParaRPr>
              </a:p>
              <a:p>
                <a:pPr marL="0" indent="0">
                  <a:buNone/>
                </a:pPr>
                <a:r>
                  <a:rPr lang="en-US" altLang="zh-TW" dirty="0" err="1" smtClean="0"/>
                  <a:t>x</a:t>
                </a:r>
                <a:r>
                  <a:rPr lang="en-US" altLang="zh-TW" i="1" baseline="-25000" dirty="0" err="1" smtClean="0"/>
                  <a:t>n</a:t>
                </a:r>
                <a:r>
                  <a:rPr lang="en-US" altLang="zh-TW" dirty="0" smtClean="0"/>
                  <a:t>: real number,  </a:t>
                </a:r>
                <a:r>
                  <a:rPr lang="en-US" altLang="zh-TW" dirty="0" err="1"/>
                  <a:t>Y</a:t>
                </a:r>
                <a:r>
                  <a:rPr lang="en-US" altLang="zh-TW" i="1" baseline="-25000" dirty="0" err="1" smtClean="0"/>
                  <a:t>k</a:t>
                </a:r>
                <a:r>
                  <a:rPr lang="en-US" altLang="zh-TW" dirty="0" smtClean="0"/>
                  <a:t>: complex number </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539552" y="980728"/>
                <a:ext cx="8229600" cy="3168351"/>
              </a:xfrm>
              <a:blipFill rotWithShape="1">
                <a:blip r:embed="rId2"/>
                <a:stretch>
                  <a:fillRect l="-1778" t="-4038" r="-2148" b="-4231"/>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fld id="{DFB2A201-8A46-40D3-BE72-AC6B75F3F883}" type="slidenum">
              <a:rPr lang="zh-TW" altLang="en-US" smtClean="0"/>
              <a:pPr/>
              <a:t>27</a:t>
            </a:fld>
            <a:endParaRPr lang="zh-TW" altLang="en-US"/>
          </a:p>
        </p:txBody>
      </p:sp>
      <p:sp>
        <p:nvSpPr>
          <p:cNvPr id="8" name="文字方塊 7"/>
          <p:cNvSpPr txBox="1"/>
          <p:nvPr/>
        </p:nvSpPr>
        <p:spPr>
          <a:xfrm>
            <a:off x="827584" y="4941168"/>
            <a:ext cx="6768752" cy="1384995"/>
          </a:xfrm>
          <a:prstGeom prst="rect">
            <a:avLst/>
          </a:prstGeom>
          <a:noFill/>
        </p:spPr>
        <p:txBody>
          <a:bodyPr wrap="square" rtlCol="0">
            <a:spAutoFit/>
          </a:bodyPr>
          <a:lstStyle/>
          <a:p>
            <a:r>
              <a:rPr lang="en-US" altLang="zh-TW" sz="2800" dirty="0" smtClean="0"/>
              <a:t>x=[1,2,3,4,5,6,7, 8]</a:t>
            </a:r>
          </a:p>
          <a:p>
            <a:r>
              <a:rPr lang="en-US" altLang="zh-TW" sz="2800" dirty="0" smtClean="0"/>
              <a:t>Y=</a:t>
            </a:r>
            <a:r>
              <a:rPr lang="nn-NO" altLang="zh-TW" sz="2800" dirty="0" smtClean="0"/>
              <a:t> [36,   </a:t>
            </a:r>
            <a:r>
              <a:rPr lang="nn-NO" altLang="zh-TW" sz="2800" dirty="0">
                <a:solidFill>
                  <a:srgbClr val="0070C0"/>
                </a:solidFill>
              </a:rPr>
              <a:t>-</a:t>
            </a:r>
            <a:r>
              <a:rPr lang="nn-NO" altLang="zh-TW" sz="2800" dirty="0" smtClean="0">
                <a:solidFill>
                  <a:srgbClr val="0070C0"/>
                </a:solidFill>
              </a:rPr>
              <a:t>4+ 9.6569i</a:t>
            </a:r>
            <a:r>
              <a:rPr lang="nn-NO" altLang="zh-TW" sz="2800" dirty="0" smtClean="0">
                <a:solidFill>
                  <a:srgbClr val="FF0000"/>
                </a:solidFill>
              </a:rPr>
              <a:t>,   </a:t>
            </a:r>
            <a:r>
              <a:rPr lang="nn-NO" altLang="zh-TW" sz="2800" dirty="0">
                <a:solidFill>
                  <a:srgbClr val="FF0000"/>
                </a:solidFill>
              </a:rPr>
              <a:t>-</a:t>
            </a:r>
            <a:r>
              <a:rPr lang="nn-NO" altLang="zh-TW" sz="2800" dirty="0" smtClean="0">
                <a:solidFill>
                  <a:srgbClr val="FF0000"/>
                </a:solidFill>
              </a:rPr>
              <a:t>4 </a:t>
            </a:r>
            <a:r>
              <a:rPr lang="nn-NO" altLang="zh-TW" sz="2800" dirty="0">
                <a:solidFill>
                  <a:srgbClr val="FF0000"/>
                </a:solidFill>
              </a:rPr>
              <a:t>+ </a:t>
            </a:r>
            <a:r>
              <a:rPr lang="nn-NO" altLang="zh-TW" sz="2800" dirty="0" smtClean="0">
                <a:solidFill>
                  <a:srgbClr val="FF0000"/>
                </a:solidFill>
              </a:rPr>
              <a:t>4i</a:t>
            </a:r>
            <a:r>
              <a:rPr lang="nn-NO" altLang="zh-TW" sz="2800" dirty="0" smtClean="0">
                <a:solidFill>
                  <a:srgbClr val="00B050"/>
                </a:solidFill>
              </a:rPr>
              <a:t>,  </a:t>
            </a:r>
            <a:r>
              <a:rPr lang="nn-NO" altLang="zh-TW" sz="2800" dirty="0">
                <a:solidFill>
                  <a:srgbClr val="00B050"/>
                </a:solidFill>
              </a:rPr>
              <a:t>-</a:t>
            </a:r>
            <a:r>
              <a:rPr lang="nn-NO" altLang="zh-TW" sz="2800" dirty="0" smtClean="0">
                <a:solidFill>
                  <a:srgbClr val="00B050"/>
                </a:solidFill>
              </a:rPr>
              <a:t>4. </a:t>
            </a:r>
            <a:r>
              <a:rPr lang="nn-NO" altLang="zh-TW" sz="2800" dirty="0">
                <a:solidFill>
                  <a:srgbClr val="00B050"/>
                </a:solidFill>
              </a:rPr>
              <a:t>+ 1.6569i</a:t>
            </a:r>
            <a:r>
              <a:rPr lang="nn-NO" altLang="zh-TW" sz="2800" dirty="0"/>
              <a:t>, </a:t>
            </a:r>
            <a:br>
              <a:rPr lang="nn-NO" altLang="zh-TW" sz="2800" dirty="0"/>
            </a:br>
            <a:r>
              <a:rPr lang="nn-NO" altLang="zh-TW" sz="2800" dirty="0"/>
              <a:t>       -4, </a:t>
            </a:r>
            <a:r>
              <a:rPr lang="nn-NO" altLang="zh-TW" sz="2800" dirty="0" smtClean="0"/>
              <a:t>   </a:t>
            </a:r>
            <a:r>
              <a:rPr lang="nn-NO" altLang="zh-TW" sz="2800" dirty="0" smtClean="0">
                <a:solidFill>
                  <a:srgbClr val="00B050"/>
                </a:solidFill>
              </a:rPr>
              <a:t>-4-1.6569i </a:t>
            </a:r>
            <a:r>
              <a:rPr lang="nn-NO" altLang="zh-TW" sz="2800" dirty="0" smtClean="0"/>
              <a:t>,   </a:t>
            </a:r>
            <a:r>
              <a:rPr lang="nn-NO" altLang="zh-TW" sz="2800" dirty="0">
                <a:solidFill>
                  <a:srgbClr val="FF0000"/>
                </a:solidFill>
              </a:rPr>
              <a:t>-</a:t>
            </a:r>
            <a:r>
              <a:rPr lang="nn-NO" altLang="zh-TW" sz="2800" dirty="0" smtClean="0">
                <a:solidFill>
                  <a:srgbClr val="FF0000"/>
                </a:solidFill>
              </a:rPr>
              <a:t>4 </a:t>
            </a:r>
            <a:r>
              <a:rPr lang="nn-NO" altLang="zh-TW" sz="2800" dirty="0">
                <a:solidFill>
                  <a:srgbClr val="FF0000"/>
                </a:solidFill>
              </a:rPr>
              <a:t>- </a:t>
            </a:r>
            <a:r>
              <a:rPr lang="nn-NO" altLang="zh-TW" sz="2800" dirty="0" smtClean="0">
                <a:solidFill>
                  <a:srgbClr val="FF0000"/>
                </a:solidFill>
              </a:rPr>
              <a:t>4i</a:t>
            </a:r>
            <a:r>
              <a:rPr lang="nn-NO" altLang="zh-TW" sz="2800" dirty="0" smtClean="0"/>
              <a:t>,   </a:t>
            </a:r>
            <a:r>
              <a:rPr lang="nn-NO" altLang="zh-TW" sz="2800" dirty="0">
                <a:solidFill>
                  <a:srgbClr val="0070C0"/>
                </a:solidFill>
              </a:rPr>
              <a:t>-</a:t>
            </a:r>
            <a:r>
              <a:rPr lang="nn-NO" altLang="zh-TW" sz="2800" dirty="0" smtClean="0">
                <a:solidFill>
                  <a:srgbClr val="0070C0"/>
                </a:solidFill>
              </a:rPr>
              <a:t>4 </a:t>
            </a:r>
            <a:r>
              <a:rPr lang="nn-NO" altLang="zh-TW" sz="2800" dirty="0">
                <a:solidFill>
                  <a:srgbClr val="0070C0"/>
                </a:solidFill>
              </a:rPr>
              <a:t>- </a:t>
            </a:r>
            <a:r>
              <a:rPr lang="nn-NO" altLang="zh-TW" sz="2800" dirty="0" smtClean="0">
                <a:solidFill>
                  <a:srgbClr val="0070C0"/>
                </a:solidFill>
              </a:rPr>
              <a:t>9.6569i</a:t>
            </a:r>
            <a:r>
              <a:rPr lang="nn-NO" altLang="zh-TW" sz="2800" dirty="0" smtClean="0"/>
              <a:t>]</a:t>
            </a:r>
            <a:endParaRPr lang="zh-TW" altLang="en-US" sz="2800" dirty="0"/>
          </a:p>
        </p:txBody>
      </p:sp>
      <mc:AlternateContent xmlns:mc="http://schemas.openxmlformats.org/markup-compatibility/2006" xmlns:a14="http://schemas.microsoft.com/office/drawing/2010/main">
        <mc:Choice Requires="a14">
          <p:sp>
            <p:nvSpPr>
              <p:cNvPr id="9" name="文字方塊 8"/>
              <p:cNvSpPr txBox="1"/>
              <p:nvPr/>
            </p:nvSpPr>
            <p:spPr>
              <a:xfrm>
                <a:off x="395535" y="4288592"/>
                <a:ext cx="8429615" cy="40305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a:rPr>
                        <m:t>𝑟</m:t>
                      </m:r>
                      <m:sSup>
                        <m:sSupPr>
                          <m:ctrlPr>
                            <a:rPr lang="en-US" altLang="zh-TW" i="1" smtClean="0">
                              <a:latin typeface="Cambria Math"/>
                            </a:rPr>
                          </m:ctrlPr>
                        </m:sSupPr>
                        <m:e>
                          <m:r>
                            <a:rPr lang="en-US" altLang="zh-TW" b="0" i="1" smtClean="0">
                              <a:latin typeface="Cambria Math"/>
                            </a:rPr>
                            <m:t>𝑒</m:t>
                          </m:r>
                        </m:e>
                        <m:sup>
                          <m:r>
                            <a:rPr lang="en-US" altLang="zh-TW" b="0" i="1" smtClean="0">
                              <a:latin typeface="Cambria Math"/>
                            </a:rPr>
                            <m:t>𝑖</m:t>
                          </m:r>
                          <m:r>
                            <a:rPr lang="en-US" altLang="zh-TW" b="0" i="1" smtClean="0">
                              <a:latin typeface="Cambria Math"/>
                              <a:ea typeface="Cambria Math"/>
                            </a:rPr>
                            <m:t>𝜃</m:t>
                          </m:r>
                        </m:sup>
                      </m:sSup>
                      <m:r>
                        <a:rPr lang="en-US" altLang="zh-TW" b="0" i="1" smtClean="0">
                          <a:latin typeface="Cambria Math"/>
                        </a:rPr>
                        <m:t>=</m:t>
                      </m:r>
                      <m:r>
                        <a:rPr lang="en-US" altLang="zh-TW" b="0" i="1" smtClean="0">
                          <a:latin typeface="Cambria Math"/>
                        </a:rPr>
                        <m:t>𝑟𝑐𝑜𝑠</m:t>
                      </m:r>
                      <m:r>
                        <a:rPr lang="en-US" altLang="zh-TW" b="0" i="1" smtClean="0">
                          <a:latin typeface="Cambria Math"/>
                          <a:ea typeface="Cambria Math"/>
                        </a:rPr>
                        <m:t>𝜃</m:t>
                      </m:r>
                      <m:r>
                        <a:rPr lang="en-US" altLang="zh-TW" b="0" i="1" smtClean="0">
                          <a:latin typeface="Cambria Math"/>
                          <a:ea typeface="Cambria Math"/>
                        </a:rPr>
                        <m:t>+</m:t>
                      </m:r>
                      <m:r>
                        <a:rPr lang="en-US" altLang="zh-TW" b="0" i="1" smtClean="0">
                          <a:latin typeface="Cambria Math"/>
                          <a:ea typeface="Cambria Math"/>
                        </a:rPr>
                        <m:t>𝑖𝑟𝑠𝑖𝑛</m:t>
                      </m:r>
                      <m:r>
                        <a:rPr lang="en-US" altLang="zh-TW" b="0" i="1" smtClean="0">
                          <a:latin typeface="Cambria Math"/>
                          <a:ea typeface="Cambria Math"/>
                        </a:rPr>
                        <m:t>𝜃</m:t>
                      </m:r>
                      <m:r>
                        <a:rPr lang="en-US" altLang="zh-TW" b="0" i="1" smtClean="0">
                          <a:latin typeface="Cambria Math"/>
                          <a:ea typeface="Cambria Math"/>
                        </a:rPr>
                        <m:t>=</m:t>
                      </m:r>
                      <m:r>
                        <a:rPr lang="en-US" altLang="zh-TW" b="0" i="1" smtClean="0">
                          <a:latin typeface="Cambria Math"/>
                          <a:ea typeface="Cambria Math"/>
                        </a:rPr>
                        <m:t>𝑟𝑐𝑜𝑠</m:t>
                      </m:r>
                      <m:d>
                        <m:dPr>
                          <m:ctrlPr>
                            <a:rPr lang="en-US" altLang="zh-TW" b="0" i="1" smtClean="0">
                              <a:latin typeface="Cambria Math"/>
                              <a:ea typeface="Cambria Math"/>
                            </a:rPr>
                          </m:ctrlPr>
                        </m:dPr>
                        <m:e>
                          <m:r>
                            <a:rPr lang="en-US" altLang="zh-TW" b="0" i="1" smtClean="0">
                              <a:latin typeface="Cambria Math"/>
                              <a:ea typeface="Cambria Math"/>
                            </a:rPr>
                            <m:t>−</m:t>
                          </m:r>
                          <m:r>
                            <a:rPr lang="en-US" altLang="zh-TW" b="0" i="1" smtClean="0">
                              <a:latin typeface="Cambria Math"/>
                              <a:ea typeface="Cambria Math"/>
                            </a:rPr>
                            <m:t>𝜃</m:t>
                          </m:r>
                        </m:e>
                      </m:d>
                      <m:r>
                        <a:rPr lang="en-US" altLang="zh-TW" b="0" i="1" smtClean="0">
                          <a:latin typeface="Cambria Math"/>
                          <a:ea typeface="Cambria Math"/>
                        </a:rPr>
                        <m:t>−</m:t>
                      </m:r>
                      <m:r>
                        <a:rPr lang="en-US" altLang="zh-TW" b="0" i="1" smtClean="0">
                          <a:latin typeface="Cambria Math"/>
                          <a:ea typeface="Cambria Math"/>
                        </a:rPr>
                        <m:t>𝑖𝑟𝑠𝑖𝑛</m:t>
                      </m:r>
                      <m:d>
                        <m:dPr>
                          <m:ctrlPr>
                            <a:rPr lang="en-US" altLang="zh-TW" b="0" i="1" smtClean="0">
                              <a:latin typeface="Cambria Math"/>
                              <a:ea typeface="Cambria Math"/>
                            </a:rPr>
                          </m:ctrlPr>
                        </m:dPr>
                        <m:e>
                          <m:r>
                            <a:rPr lang="en-US" altLang="zh-TW" b="0" i="1" smtClean="0">
                              <a:latin typeface="Cambria Math"/>
                              <a:ea typeface="Cambria Math"/>
                            </a:rPr>
                            <m:t>−</m:t>
                          </m:r>
                          <m:r>
                            <a:rPr lang="en-US" altLang="zh-TW" b="0" i="1" smtClean="0">
                              <a:latin typeface="Cambria Math"/>
                              <a:ea typeface="Cambria Math"/>
                            </a:rPr>
                            <m:t>𝜃</m:t>
                          </m:r>
                        </m:e>
                      </m:d>
                      <m:r>
                        <a:rPr lang="en-US" altLang="zh-TW" b="0" i="1" smtClean="0">
                          <a:latin typeface="Cambria Math"/>
                          <a:ea typeface="Cambria Math"/>
                        </a:rPr>
                        <m:t>=</m:t>
                      </m:r>
                      <m:acc>
                        <m:accPr>
                          <m:chr m:val="̅"/>
                          <m:ctrlPr>
                            <a:rPr lang="en-US" altLang="zh-TW" b="0" i="1" smtClean="0">
                              <a:latin typeface="Cambria Math"/>
                              <a:ea typeface="Cambria Math"/>
                            </a:rPr>
                          </m:ctrlPr>
                        </m:accPr>
                        <m:e>
                          <m:r>
                            <a:rPr lang="en-US" altLang="zh-TW" i="1">
                              <a:latin typeface="Cambria Math"/>
                              <a:ea typeface="Cambria Math"/>
                            </a:rPr>
                            <m:t>𝑟𝑐𝑜𝑠</m:t>
                          </m:r>
                          <m:d>
                            <m:dPr>
                              <m:ctrlPr>
                                <a:rPr lang="en-US" altLang="zh-TW" i="1">
                                  <a:latin typeface="Cambria Math"/>
                                  <a:ea typeface="Cambria Math"/>
                                </a:rPr>
                              </m:ctrlPr>
                            </m:dPr>
                            <m:e>
                              <m:r>
                                <a:rPr lang="en-US" altLang="zh-TW" i="1">
                                  <a:latin typeface="Cambria Math"/>
                                  <a:ea typeface="Cambria Math"/>
                                </a:rPr>
                                <m:t>−</m:t>
                              </m:r>
                              <m:r>
                                <a:rPr lang="en-US" altLang="zh-TW" i="1">
                                  <a:latin typeface="Cambria Math"/>
                                  <a:ea typeface="Cambria Math"/>
                                </a:rPr>
                                <m:t>𝜃</m:t>
                              </m:r>
                            </m:e>
                          </m:d>
                          <m:r>
                            <a:rPr lang="en-US" altLang="zh-TW" b="0" i="1" smtClean="0">
                              <a:latin typeface="Cambria Math"/>
                              <a:ea typeface="Cambria Math"/>
                            </a:rPr>
                            <m:t>+</m:t>
                          </m:r>
                          <m:r>
                            <a:rPr lang="en-US" altLang="zh-TW" i="1">
                              <a:latin typeface="Cambria Math"/>
                              <a:ea typeface="Cambria Math"/>
                            </a:rPr>
                            <m:t>𝑖𝑟𝑠𝑖𝑛</m:t>
                          </m:r>
                          <m:d>
                            <m:dPr>
                              <m:ctrlPr>
                                <a:rPr lang="en-US" altLang="zh-TW" i="1">
                                  <a:latin typeface="Cambria Math"/>
                                  <a:ea typeface="Cambria Math"/>
                                </a:rPr>
                              </m:ctrlPr>
                            </m:dPr>
                            <m:e>
                              <m:r>
                                <a:rPr lang="en-US" altLang="zh-TW" i="1">
                                  <a:latin typeface="Cambria Math"/>
                                  <a:ea typeface="Cambria Math"/>
                                </a:rPr>
                                <m:t>−</m:t>
                              </m:r>
                              <m:r>
                                <a:rPr lang="en-US" altLang="zh-TW" i="1">
                                  <a:latin typeface="Cambria Math"/>
                                  <a:ea typeface="Cambria Math"/>
                                </a:rPr>
                                <m:t>𝜃</m:t>
                              </m:r>
                            </m:e>
                          </m:d>
                        </m:e>
                      </m:acc>
                      <m:r>
                        <a:rPr lang="en-US" altLang="zh-TW" b="0" i="1" smtClean="0">
                          <a:latin typeface="Cambria Math"/>
                        </a:rPr>
                        <m:t>=</m:t>
                      </m:r>
                      <m:acc>
                        <m:accPr>
                          <m:chr m:val="̅"/>
                          <m:ctrlPr>
                            <a:rPr lang="en-US" altLang="zh-TW" b="0" i="1" smtClean="0">
                              <a:latin typeface="Cambria Math"/>
                            </a:rPr>
                          </m:ctrlPr>
                        </m:accPr>
                        <m:e>
                          <m:sSup>
                            <m:sSupPr>
                              <m:ctrlPr>
                                <a:rPr lang="en-US" altLang="zh-TW" b="0" i="1" smtClean="0">
                                  <a:latin typeface="Cambria Math"/>
                                </a:rPr>
                              </m:ctrlPr>
                            </m:sSupPr>
                            <m:e>
                              <m:r>
                                <a:rPr lang="en-US" altLang="zh-TW" b="0" i="1" smtClean="0">
                                  <a:latin typeface="Cambria Math"/>
                                </a:rPr>
                                <m:t>𝑟𝑒</m:t>
                              </m:r>
                            </m:e>
                            <m:sup>
                              <m:r>
                                <a:rPr lang="en-US" altLang="zh-TW" b="0" i="1" smtClean="0">
                                  <a:latin typeface="Cambria Math"/>
                                </a:rPr>
                                <m:t>𝑖</m:t>
                              </m:r>
                              <m:r>
                                <a:rPr lang="en-US" altLang="zh-TW" b="0" i="1" smtClean="0">
                                  <a:latin typeface="Cambria Math"/>
                                </a:rPr>
                                <m:t>(−</m:t>
                              </m:r>
                              <m:r>
                                <a:rPr lang="en-US" altLang="zh-TW" b="0" i="1" smtClean="0">
                                  <a:latin typeface="Cambria Math"/>
                                  <a:ea typeface="Cambria Math"/>
                                </a:rPr>
                                <m:t>𝜃</m:t>
                              </m:r>
                              <m:r>
                                <a:rPr lang="en-US" altLang="zh-TW" b="0" i="1" smtClean="0">
                                  <a:latin typeface="Cambria Math"/>
                                  <a:ea typeface="Cambria Math"/>
                                </a:rPr>
                                <m:t>)</m:t>
                              </m:r>
                            </m:sup>
                          </m:sSup>
                        </m:e>
                      </m:acc>
                    </m:oMath>
                  </m:oMathPara>
                </a14:m>
                <a:endParaRPr lang="zh-TW" altLang="en-US"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395535" y="4288592"/>
                <a:ext cx="8429615" cy="403059"/>
              </a:xfrm>
              <a:prstGeom prst="rect">
                <a:avLst/>
              </a:prstGeom>
              <a:blipFill rotWithShape="1">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02584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DFB2A201-8A46-40D3-BE72-AC6B75F3F883}" type="slidenum">
              <a:rPr lang="zh-TW" altLang="en-US" smtClean="0"/>
              <a:pPr/>
              <a:t>28</a:t>
            </a:fld>
            <a:endParaRPr lang="zh-TW" altLang="en-US"/>
          </a:p>
        </p:txBody>
      </p:sp>
      <p:sp>
        <p:nvSpPr>
          <p:cNvPr id="6" name="內容版面配置區 2"/>
          <p:cNvSpPr txBox="1">
            <a:spLocks/>
          </p:cNvSpPr>
          <p:nvPr/>
        </p:nvSpPr>
        <p:spPr>
          <a:xfrm>
            <a:off x="443204" y="332656"/>
            <a:ext cx="8229600" cy="266429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30000"/>
              </a:lnSpc>
            </a:pPr>
            <a:r>
              <a:rPr lang="zh-TW" altLang="en-US" dirty="0" smtClean="0">
                <a:latin typeface="微軟正黑體" pitchFamily="34" charset="-120"/>
                <a:ea typeface="微軟正黑體" pitchFamily="34" charset="-120"/>
              </a:rPr>
              <a:t>如果原始訊號經變換得到合成訊號，合成訊號經</a:t>
            </a:r>
            <a:r>
              <a:rPr lang="en-US" altLang="zh-TW" dirty="0" smtClean="0">
                <a:latin typeface="微軟正黑體" pitchFamily="34" charset="-120"/>
                <a:ea typeface="微軟正黑體" pitchFamily="34" charset="-120"/>
              </a:rPr>
              <a:t>FT</a:t>
            </a:r>
            <a:r>
              <a:rPr lang="zh-TW" altLang="en-US" dirty="0" smtClean="0">
                <a:latin typeface="微軟正黑體" pitchFamily="34" charset="-120"/>
                <a:ea typeface="微軟正黑體" pitchFamily="34" charset="-120"/>
              </a:rPr>
              <a:t>轉換後，</a:t>
            </a:r>
            <a:r>
              <a:rPr lang="zh-TW" altLang="en-US" dirty="0" smtClean="0">
                <a:solidFill>
                  <a:srgbClr val="00B0F0"/>
                </a:solidFill>
                <a:latin typeface="微軟正黑體" pitchFamily="34" charset="-120"/>
                <a:ea typeface="微軟正黑體" pitchFamily="34" charset="-120"/>
              </a:rPr>
              <a:t>不會產生負頻率</a:t>
            </a:r>
            <a:r>
              <a:rPr lang="en-US" altLang="zh-TW"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即在頻率域時</a:t>
            </a:r>
            <a:r>
              <a:rPr lang="en-US" altLang="zh-TW" dirty="0" smtClean="0">
                <a:latin typeface="微軟正黑體" pitchFamily="34" charset="-120"/>
                <a:ea typeface="微軟正黑體" pitchFamily="34" charset="-120"/>
              </a:rPr>
              <a:t>，</a:t>
            </a:r>
            <a:r>
              <a:rPr lang="zh-TW" altLang="en-US" dirty="0" smtClean="0">
                <a:latin typeface="微軟正黑體" pitchFamily="34" charset="-120"/>
                <a:ea typeface="微軟正黑體" pitchFamily="34" charset="-120"/>
              </a:rPr>
              <a:t>第二象限為</a:t>
            </a:r>
            <a:r>
              <a:rPr lang="en-US" altLang="zh-TW" dirty="0" smtClean="0">
                <a:latin typeface="微軟正黑體" pitchFamily="34" charset="-120"/>
                <a:ea typeface="微軟正黑體" pitchFamily="34" charset="-120"/>
              </a:rPr>
              <a:t>0)</a:t>
            </a:r>
            <a:r>
              <a:rPr lang="zh-TW" altLang="en-US" dirty="0" smtClean="0">
                <a:latin typeface="微軟正黑體" pitchFamily="34" charset="-120"/>
                <a:ea typeface="微軟正黑體" pitchFamily="34" charset="-120"/>
              </a:rPr>
              <a:t>，則將合成訊號頻率域轉換回合成訊號時間域時，實數值的部份即代表原始訊號，不需考慮複數值</a:t>
            </a:r>
            <a:r>
              <a:rPr lang="en-US" altLang="zh-TW" i="1" dirty="0" err="1" smtClean="0">
                <a:latin typeface="微軟正黑體" pitchFamily="34" charset="-120"/>
                <a:ea typeface="微軟正黑體" pitchFamily="34" charset="-120"/>
              </a:rPr>
              <a:t>i</a:t>
            </a:r>
            <a:r>
              <a:rPr lang="en-US" altLang="zh-TW" dirty="0" err="1" smtClean="0">
                <a:latin typeface="微軟正黑體" pitchFamily="34" charset="-120"/>
                <a:ea typeface="微軟正黑體" pitchFamily="34" charset="-120"/>
              </a:rPr>
              <a:t>的部份</a:t>
            </a:r>
            <a:r>
              <a:rPr lang="zh-TW" altLang="en-US" dirty="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稱這個合成訊號為analytic</a:t>
            </a:r>
            <a:r>
              <a:rPr lang="en-US" altLang="zh-TW" dirty="0" smtClean="0">
                <a:latin typeface="微軟正黑體" pitchFamily="34" charset="-120"/>
                <a:ea typeface="微軟正黑體" pitchFamily="34" charset="-120"/>
              </a:rPr>
              <a:t> signal。</a:t>
            </a:r>
            <a:endParaRPr lang="zh-TW" altLang="en-US" dirty="0" smtClean="0">
              <a:latin typeface="微軟正黑體" pitchFamily="34" charset="-120"/>
              <a:ea typeface="微軟正黑體" pitchFamily="34" charset="-120"/>
            </a:endParaRPr>
          </a:p>
          <a:p>
            <a:pPr>
              <a:lnSpc>
                <a:spcPct val="130000"/>
              </a:lnSpc>
            </a:pPr>
            <a:endParaRPr lang="zh-TW" altLang="en-US" dirty="0">
              <a:latin typeface="微軟正黑體" pitchFamily="34" charset="-120"/>
              <a:ea typeface="微軟正黑體" pitchFamily="34" charset="-120"/>
            </a:endParaRPr>
          </a:p>
        </p:txBody>
      </p:sp>
      <mc:AlternateContent xmlns:mc="http://schemas.openxmlformats.org/markup-compatibility/2006" xmlns:a14="http://schemas.microsoft.com/office/drawing/2010/main">
        <mc:Choice Requires="a14">
          <p:sp>
            <p:nvSpPr>
              <p:cNvPr id="8" name="文字方塊 7"/>
              <p:cNvSpPr txBox="1"/>
              <p:nvPr/>
            </p:nvSpPr>
            <p:spPr>
              <a:xfrm>
                <a:off x="530626" y="4705804"/>
                <a:ext cx="7880921" cy="1603516"/>
              </a:xfrm>
              <a:prstGeom prst="rect">
                <a:avLst/>
              </a:prstGeom>
              <a:noFill/>
            </p:spPr>
            <p:txBody>
              <a:bodyPr wrap="square" rtlCol="0">
                <a:spAutoFit/>
              </a:bodyPr>
              <a:lstStyle/>
              <a:p>
                <a14:m>
                  <m:oMath xmlns:m="http://schemas.openxmlformats.org/officeDocument/2006/math">
                    <m:r>
                      <a:rPr lang="en-US" altLang="zh-TW" sz="2400" b="0" i="1" smtClean="0">
                        <a:latin typeface="Cambria Math"/>
                      </a:rPr>
                      <m:t>𝑥</m:t>
                    </m:r>
                    <m:d>
                      <m:dPr>
                        <m:ctrlPr>
                          <a:rPr lang="en-US" altLang="zh-TW" sz="2400" b="0" i="1" smtClean="0">
                            <a:latin typeface="Cambria Math"/>
                          </a:rPr>
                        </m:ctrlPr>
                      </m:dPr>
                      <m:e>
                        <m:r>
                          <a:rPr lang="en-US" altLang="zh-TW" sz="2400" b="0" i="1" smtClean="0">
                            <a:latin typeface="Cambria Math"/>
                          </a:rPr>
                          <m:t>𝑡</m:t>
                        </m:r>
                      </m:e>
                    </m:d>
                    <m:r>
                      <a:rPr lang="en-US" altLang="zh-TW" sz="2400" b="0" i="1" smtClean="0">
                        <a:latin typeface="Cambria Math"/>
                      </a:rPr>
                      <m:t>=</m:t>
                    </m:r>
                    <m:func>
                      <m:funcPr>
                        <m:ctrlPr>
                          <a:rPr lang="en-US" altLang="zh-TW" sz="2400" b="0" i="1" smtClean="0">
                            <a:latin typeface="Cambria Math"/>
                          </a:rPr>
                        </m:ctrlPr>
                      </m:funcPr>
                      <m:fName>
                        <m:r>
                          <m:rPr>
                            <m:sty m:val="p"/>
                          </m:rPr>
                          <a:rPr lang="en-US" altLang="zh-TW" sz="2400" b="0" i="0" smtClean="0">
                            <a:latin typeface="Cambria Math"/>
                          </a:rPr>
                          <m:t>cos</m:t>
                        </m:r>
                      </m:fName>
                      <m:e>
                        <m:d>
                          <m:dPr>
                            <m:ctrlPr>
                              <a:rPr lang="en-US" altLang="zh-TW" sz="2400" b="0" i="1" smtClean="0">
                                <a:latin typeface="Cambria Math"/>
                              </a:rPr>
                            </m:ctrlPr>
                          </m:dPr>
                          <m:e>
                            <m:sSub>
                              <m:sSubPr>
                                <m:ctrlPr>
                                  <a:rPr lang="en-US" altLang="zh-TW" sz="2400" b="0" i="1" smtClean="0">
                                    <a:latin typeface="Cambria Math"/>
                                  </a:rPr>
                                </m:ctrlPr>
                              </m:sSubPr>
                              <m:e>
                                <m:r>
                                  <a:rPr lang="en-US" altLang="zh-TW" sz="2400" b="0" i="1" smtClean="0">
                                    <a:latin typeface="Cambria Math"/>
                                    <a:ea typeface="Cambria Math"/>
                                  </a:rPr>
                                  <m:t>𝜔</m:t>
                                </m:r>
                              </m:e>
                              <m:sub>
                                <m:r>
                                  <a:rPr lang="en-US" altLang="zh-TW" sz="2400" b="0" i="1" smtClean="0">
                                    <a:latin typeface="Cambria Math"/>
                                  </a:rPr>
                                  <m:t>0</m:t>
                                </m:r>
                              </m:sub>
                            </m:sSub>
                            <m:r>
                              <a:rPr lang="en-US" altLang="zh-TW" sz="2400" b="0" i="1" smtClean="0">
                                <a:latin typeface="Cambria Math"/>
                              </a:rPr>
                              <m:t>𝑡</m:t>
                            </m:r>
                          </m:e>
                        </m:d>
                      </m:e>
                    </m:func>
                  </m:oMath>
                </a14:m>
                <a:r>
                  <a:rPr lang="zh-TW" altLang="en-US" sz="2400" dirty="0" smtClean="0"/>
                  <a:t>    </a:t>
                </a:r>
                <a:r>
                  <a:rPr lang="en-US" altLang="zh-TW" sz="2400" dirty="0" smtClean="0"/>
                  <a:t>(original signal)</a:t>
                </a:r>
              </a:p>
              <a:p>
                <a14:m>
                  <m:oMath xmlns:m="http://schemas.openxmlformats.org/officeDocument/2006/math">
                    <m:acc>
                      <m:accPr>
                        <m:chr m:val="̂"/>
                        <m:ctrlPr>
                          <a:rPr lang="zh-TW" altLang="en-US" sz="2400" i="1" smtClean="0">
                            <a:latin typeface="Cambria Math"/>
                          </a:rPr>
                        </m:ctrlPr>
                      </m:accPr>
                      <m:e>
                        <m:r>
                          <a:rPr lang="en-US" altLang="zh-TW" sz="2400" b="0" i="1" smtClean="0">
                            <a:latin typeface="Cambria Math"/>
                          </a:rPr>
                          <m:t>𝑥</m:t>
                        </m:r>
                        <m:r>
                          <a:rPr lang="en-US" altLang="zh-TW" sz="2400" b="0" i="1" smtClean="0">
                            <a:latin typeface="Cambria Math"/>
                          </a:rPr>
                          <m:t>(</m:t>
                        </m:r>
                        <m:r>
                          <a:rPr lang="en-US" altLang="zh-TW" sz="2400" b="0" i="1" smtClean="0">
                            <a:latin typeface="Cambria Math"/>
                          </a:rPr>
                          <m:t>𝑡</m:t>
                        </m:r>
                        <m:r>
                          <a:rPr lang="en-US" altLang="zh-TW" sz="2400" b="0" i="1" smtClean="0">
                            <a:latin typeface="Cambria Math"/>
                          </a:rPr>
                          <m:t>)</m:t>
                        </m:r>
                      </m:e>
                    </m:acc>
                    <m:r>
                      <a:rPr lang="en-US" altLang="zh-TW" sz="2400" b="0" i="1" smtClean="0">
                        <a:latin typeface="Cambria Math"/>
                      </a:rPr>
                      <m:t>=</m:t>
                    </m:r>
                    <m:r>
                      <m:rPr>
                        <m:sty m:val="p"/>
                      </m:rPr>
                      <a:rPr lang="en-US" altLang="zh-TW" sz="2400" b="0" i="0" smtClean="0">
                        <a:latin typeface="Cambria Math"/>
                      </a:rPr>
                      <m:t>sin</m:t>
                    </m:r>
                    <m:r>
                      <a:rPr lang="en-US" altLang="zh-TW" sz="2400" b="0" i="1" smtClean="0">
                        <a:latin typeface="Cambria Math"/>
                      </a:rPr>
                      <m:t>⁡(</m:t>
                    </m:r>
                    <m:sSub>
                      <m:sSubPr>
                        <m:ctrlPr>
                          <a:rPr lang="en-US" altLang="zh-TW" sz="2400" i="1">
                            <a:latin typeface="Cambria Math"/>
                          </a:rPr>
                        </m:ctrlPr>
                      </m:sSubPr>
                      <m:e>
                        <m:r>
                          <a:rPr lang="en-US" altLang="zh-TW" sz="2400" i="1">
                            <a:latin typeface="Cambria Math"/>
                            <a:ea typeface="Cambria Math"/>
                          </a:rPr>
                          <m:t>𝜔</m:t>
                        </m:r>
                      </m:e>
                      <m:sub>
                        <m:r>
                          <a:rPr lang="en-US" altLang="zh-TW" sz="2400" i="1">
                            <a:latin typeface="Cambria Math"/>
                          </a:rPr>
                          <m:t>0</m:t>
                        </m:r>
                      </m:sub>
                    </m:sSub>
                    <m:r>
                      <a:rPr lang="en-US" altLang="zh-TW" sz="2400" i="1">
                        <a:latin typeface="Cambria Math"/>
                      </a:rPr>
                      <m:t>𝑡</m:t>
                    </m:r>
                    <m:r>
                      <a:rPr lang="en-US" altLang="zh-TW" sz="2400" b="0" i="1" smtClean="0">
                        <a:latin typeface="Cambria Math"/>
                      </a:rPr>
                      <m:t>)</m:t>
                    </m:r>
                  </m:oMath>
                </a14:m>
                <a:r>
                  <a:rPr lang="zh-TW" altLang="en-US" sz="2400" dirty="0" smtClean="0"/>
                  <a:t>   </a:t>
                </a:r>
                <a:r>
                  <a:rPr lang="en-US" altLang="zh-TW" sz="2400" dirty="0" smtClean="0"/>
                  <a:t>(Hilbert transform of x(t))</a:t>
                </a:r>
              </a:p>
              <a:p>
                <a14:m>
                  <m:oMath xmlns:m="http://schemas.openxmlformats.org/officeDocument/2006/math">
                    <m:sSub>
                      <m:sSubPr>
                        <m:ctrlPr>
                          <a:rPr lang="en-US" altLang="zh-TW" sz="2400" i="1" smtClean="0">
                            <a:solidFill>
                              <a:srgbClr val="FF0000"/>
                            </a:solidFill>
                            <a:latin typeface="Cambria Math"/>
                          </a:rPr>
                        </m:ctrlPr>
                      </m:sSubPr>
                      <m:e>
                        <m:r>
                          <a:rPr lang="en-US" altLang="zh-TW" sz="2400" b="0" i="1" smtClean="0">
                            <a:solidFill>
                              <a:srgbClr val="FF0000"/>
                            </a:solidFill>
                            <a:latin typeface="Cambria Math"/>
                          </a:rPr>
                          <m:t>𝑥</m:t>
                        </m:r>
                      </m:e>
                      <m:sub>
                        <m:r>
                          <a:rPr lang="en-US" altLang="zh-TW" sz="2400" b="0" i="1" smtClean="0">
                            <a:solidFill>
                              <a:srgbClr val="FF0000"/>
                            </a:solidFill>
                            <a:latin typeface="Cambria Math"/>
                          </a:rPr>
                          <m:t>𝑎</m:t>
                        </m:r>
                      </m:sub>
                    </m:sSub>
                    <m:d>
                      <m:dPr>
                        <m:ctrlPr>
                          <a:rPr lang="en-US" altLang="zh-TW" sz="2400" b="0" i="1" smtClean="0">
                            <a:solidFill>
                              <a:srgbClr val="FF0000"/>
                            </a:solidFill>
                            <a:latin typeface="Cambria Math"/>
                          </a:rPr>
                        </m:ctrlPr>
                      </m:dPr>
                      <m:e>
                        <m:r>
                          <a:rPr lang="en-US" altLang="zh-TW" sz="2400" b="0" i="1" smtClean="0">
                            <a:solidFill>
                              <a:srgbClr val="FF0000"/>
                            </a:solidFill>
                            <a:latin typeface="Cambria Math"/>
                          </a:rPr>
                          <m:t>𝑡</m:t>
                        </m:r>
                      </m:e>
                    </m:d>
                    <m:r>
                      <a:rPr lang="en-US" altLang="zh-TW" sz="2400" b="0" i="1" smtClean="0">
                        <a:solidFill>
                          <a:srgbClr val="FF0000"/>
                        </a:solidFill>
                        <a:latin typeface="Cambria Math"/>
                      </a:rPr>
                      <m:t>=</m:t>
                    </m:r>
                    <m:func>
                      <m:funcPr>
                        <m:ctrlPr>
                          <a:rPr lang="en-US" altLang="zh-TW" sz="2400" i="1">
                            <a:solidFill>
                              <a:srgbClr val="FF0000"/>
                            </a:solidFill>
                            <a:latin typeface="Cambria Math"/>
                          </a:rPr>
                        </m:ctrlPr>
                      </m:funcPr>
                      <m:fName>
                        <m:r>
                          <m:rPr>
                            <m:sty m:val="p"/>
                          </m:rPr>
                          <a:rPr lang="en-US" altLang="zh-TW" sz="2400">
                            <a:solidFill>
                              <a:srgbClr val="FF0000"/>
                            </a:solidFill>
                            <a:latin typeface="Cambria Math"/>
                          </a:rPr>
                          <m:t>cos</m:t>
                        </m:r>
                      </m:fName>
                      <m:e>
                        <m:d>
                          <m:dPr>
                            <m:ctrlPr>
                              <a:rPr lang="en-US" altLang="zh-TW" sz="2400" i="1">
                                <a:solidFill>
                                  <a:srgbClr val="FF0000"/>
                                </a:solidFill>
                                <a:latin typeface="Cambria Math"/>
                              </a:rPr>
                            </m:ctrlPr>
                          </m:dPr>
                          <m:e>
                            <m:sSub>
                              <m:sSubPr>
                                <m:ctrlPr>
                                  <a:rPr lang="en-US" altLang="zh-TW" sz="2400" i="1">
                                    <a:solidFill>
                                      <a:srgbClr val="FF0000"/>
                                    </a:solidFill>
                                    <a:latin typeface="Cambria Math"/>
                                  </a:rPr>
                                </m:ctrlPr>
                              </m:sSubPr>
                              <m:e>
                                <m:r>
                                  <a:rPr lang="en-US" altLang="zh-TW" sz="2400" i="1">
                                    <a:solidFill>
                                      <a:srgbClr val="FF0000"/>
                                    </a:solidFill>
                                    <a:latin typeface="Cambria Math"/>
                                    <a:ea typeface="Cambria Math"/>
                                  </a:rPr>
                                  <m:t>𝜔</m:t>
                                </m:r>
                              </m:e>
                              <m:sub>
                                <m:r>
                                  <a:rPr lang="en-US" altLang="zh-TW" sz="2400" i="1">
                                    <a:solidFill>
                                      <a:srgbClr val="FF0000"/>
                                    </a:solidFill>
                                    <a:latin typeface="Cambria Math"/>
                                  </a:rPr>
                                  <m:t>0</m:t>
                                </m:r>
                              </m:sub>
                            </m:sSub>
                            <m:r>
                              <a:rPr lang="en-US" altLang="zh-TW" sz="2400" i="1">
                                <a:solidFill>
                                  <a:srgbClr val="FF0000"/>
                                </a:solidFill>
                                <a:latin typeface="Cambria Math"/>
                              </a:rPr>
                              <m:t>𝑡</m:t>
                            </m:r>
                          </m:e>
                        </m:d>
                      </m:e>
                    </m:func>
                    <m:r>
                      <a:rPr lang="en-US" altLang="zh-TW" sz="2400" b="0" i="0" smtClean="0">
                        <a:solidFill>
                          <a:srgbClr val="FF0000"/>
                        </a:solidFill>
                        <a:latin typeface="Cambria Math"/>
                      </a:rPr>
                      <m:t>+</m:t>
                    </m:r>
                    <m:func>
                      <m:funcPr>
                        <m:ctrlPr>
                          <a:rPr lang="en-US" altLang="zh-TW" sz="2400" b="0" i="1" smtClean="0">
                            <a:solidFill>
                              <a:srgbClr val="FF0000"/>
                            </a:solidFill>
                            <a:latin typeface="Cambria Math"/>
                          </a:rPr>
                        </m:ctrlPr>
                      </m:funcPr>
                      <m:fName>
                        <m:r>
                          <m:rPr>
                            <m:sty m:val="p"/>
                          </m:rPr>
                          <a:rPr lang="en-US" altLang="zh-TW" sz="2400" b="0" i="0" smtClean="0">
                            <a:solidFill>
                              <a:srgbClr val="FF0000"/>
                            </a:solidFill>
                            <a:latin typeface="Cambria Math"/>
                          </a:rPr>
                          <m:t>i</m:t>
                        </m:r>
                        <m:r>
                          <m:rPr>
                            <m:sty m:val="p"/>
                          </m:rPr>
                          <a:rPr lang="en-US" altLang="zh-TW" sz="2400">
                            <a:solidFill>
                              <a:srgbClr val="FF0000"/>
                            </a:solidFill>
                            <a:latin typeface="Cambria Math"/>
                          </a:rPr>
                          <m:t>sin</m:t>
                        </m:r>
                      </m:fName>
                      <m:e>
                        <m:d>
                          <m:dPr>
                            <m:ctrlPr>
                              <a:rPr lang="en-US" altLang="zh-TW" sz="2400" i="1">
                                <a:solidFill>
                                  <a:srgbClr val="FF0000"/>
                                </a:solidFill>
                                <a:latin typeface="Cambria Math"/>
                              </a:rPr>
                            </m:ctrlPr>
                          </m:dPr>
                          <m:e>
                            <m:sSub>
                              <m:sSubPr>
                                <m:ctrlPr>
                                  <a:rPr lang="en-US" altLang="zh-TW" sz="2400" i="1">
                                    <a:solidFill>
                                      <a:srgbClr val="FF0000"/>
                                    </a:solidFill>
                                    <a:latin typeface="Cambria Math"/>
                                  </a:rPr>
                                </m:ctrlPr>
                              </m:sSubPr>
                              <m:e>
                                <m:r>
                                  <a:rPr lang="en-US" altLang="zh-TW" sz="2400" i="1">
                                    <a:solidFill>
                                      <a:srgbClr val="FF0000"/>
                                    </a:solidFill>
                                    <a:latin typeface="Cambria Math"/>
                                    <a:ea typeface="Cambria Math"/>
                                  </a:rPr>
                                  <m:t>𝜔</m:t>
                                </m:r>
                              </m:e>
                              <m:sub>
                                <m:r>
                                  <a:rPr lang="en-US" altLang="zh-TW" sz="2400" i="1">
                                    <a:solidFill>
                                      <a:srgbClr val="FF0000"/>
                                    </a:solidFill>
                                    <a:latin typeface="Cambria Math"/>
                                  </a:rPr>
                                  <m:t>0</m:t>
                                </m:r>
                              </m:sub>
                            </m:sSub>
                            <m:r>
                              <a:rPr lang="en-US" altLang="zh-TW" sz="2400" i="1">
                                <a:solidFill>
                                  <a:srgbClr val="FF0000"/>
                                </a:solidFill>
                                <a:latin typeface="Cambria Math"/>
                              </a:rPr>
                              <m:t>𝑡</m:t>
                            </m:r>
                          </m:e>
                        </m:d>
                      </m:e>
                    </m:func>
                    <m:r>
                      <a:rPr lang="en-US" altLang="zh-TW" sz="2400" b="0" i="1" smtClean="0">
                        <a:solidFill>
                          <a:srgbClr val="FF0000"/>
                        </a:solidFill>
                        <a:latin typeface="Cambria Math"/>
                      </a:rPr>
                      <m:t>=</m:t>
                    </m:r>
                    <m:sSup>
                      <m:sSupPr>
                        <m:ctrlPr>
                          <a:rPr lang="en-US" altLang="zh-TW" sz="2400" b="0" i="1" smtClean="0">
                            <a:solidFill>
                              <a:srgbClr val="FF0000"/>
                            </a:solidFill>
                            <a:latin typeface="Cambria Math"/>
                          </a:rPr>
                        </m:ctrlPr>
                      </m:sSupPr>
                      <m:e>
                        <m:r>
                          <a:rPr lang="en-US" altLang="zh-TW" sz="2400" b="0" i="1" smtClean="0">
                            <a:solidFill>
                              <a:srgbClr val="FF0000"/>
                            </a:solidFill>
                            <a:latin typeface="Cambria Math"/>
                          </a:rPr>
                          <m:t>𝑒</m:t>
                        </m:r>
                      </m:e>
                      <m:sup>
                        <m:r>
                          <a:rPr lang="en-US" altLang="zh-TW" sz="2400" b="0" i="1" smtClean="0">
                            <a:solidFill>
                              <a:srgbClr val="FF0000"/>
                            </a:solidFill>
                            <a:latin typeface="Cambria Math"/>
                          </a:rPr>
                          <m:t>𝑖</m:t>
                        </m:r>
                        <m:sSub>
                          <m:sSubPr>
                            <m:ctrlPr>
                              <a:rPr lang="en-US" altLang="zh-TW" sz="2400" i="1">
                                <a:solidFill>
                                  <a:srgbClr val="FF0000"/>
                                </a:solidFill>
                                <a:latin typeface="Cambria Math"/>
                              </a:rPr>
                            </m:ctrlPr>
                          </m:sSubPr>
                          <m:e>
                            <m:r>
                              <a:rPr lang="en-US" altLang="zh-TW" sz="2400" i="1">
                                <a:solidFill>
                                  <a:srgbClr val="FF0000"/>
                                </a:solidFill>
                                <a:latin typeface="Cambria Math"/>
                                <a:ea typeface="Cambria Math"/>
                              </a:rPr>
                              <m:t>𝜔</m:t>
                            </m:r>
                          </m:e>
                          <m:sub>
                            <m:r>
                              <a:rPr lang="en-US" altLang="zh-TW" sz="2400" i="1">
                                <a:solidFill>
                                  <a:srgbClr val="FF0000"/>
                                </a:solidFill>
                                <a:latin typeface="Cambria Math"/>
                              </a:rPr>
                              <m:t>0</m:t>
                            </m:r>
                          </m:sub>
                        </m:sSub>
                        <m:r>
                          <a:rPr lang="en-US" altLang="zh-TW" sz="2400" i="1">
                            <a:solidFill>
                              <a:srgbClr val="FF0000"/>
                            </a:solidFill>
                            <a:latin typeface="Cambria Math"/>
                          </a:rPr>
                          <m:t>𝑡</m:t>
                        </m:r>
                      </m:sup>
                    </m:sSup>
                  </m:oMath>
                </a14:m>
                <a:r>
                  <a:rPr lang="en-US" altLang="zh-TW" sz="2400" dirty="0" smtClean="0">
                    <a:solidFill>
                      <a:srgbClr val="FF0000"/>
                    </a:solidFill>
                  </a:rPr>
                  <a:t>  (analytic signal)</a:t>
                </a:r>
                <a:endParaRPr lang="en-US" altLang="zh-TW" sz="2400" dirty="0" smtClean="0"/>
              </a:p>
              <a:p>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530626" y="4705804"/>
                <a:ext cx="7880921" cy="1603516"/>
              </a:xfrm>
              <a:prstGeom prst="rect">
                <a:avLst/>
              </a:prstGeom>
              <a:blipFill rotWithShape="1">
                <a:blip r:embed="rId2"/>
                <a:stretch>
                  <a:fillRect t="-3042"/>
                </a:stretch>
              </a:blipFill>
            </p:spPr>
            <p:txBody>
              <a:bodyPr/>
              <a:lstStyle/>
              <a:p>
                <a:r>
                  <a:rPr lang="zh-TW" altLang="en-US">
                    <a:noFill/>
                  </a:rPr>
                  <a:t> </a:t>
                </a:r>
              </a:p>
            </p:txBody>
          </p:sp>
        </mc:Fallback>
      </mc:AlternateContent>
      <p:sp>
        <p:nvSpPr>
          <p:cNvPr id="9" name="矩形 8"/>
          <p:cNvSpPr/>
          <p:nvPr/>
        </p:nvSpPr>
        <p:spPr>
          <a:xfrm>
            <a:off x="516631" y="6309320"/>
            <a:ext cx="4323812" cy="369332"/>
          </a:xfrm>
          <a:prstGeom prst="rect">
            <a:avLst/>
          </a:prstGeom>
        </p:spPr>
        <p:txBody>
          <a:bodyPr wrap="none">
            <a:spAutoFit/>
          </a:bodyPr>
          <a:lstStyle/>
          <a:p>
            <a:r>
              <a:rPr lang="en-US" altLang="zh-TW" dirty="0"/>
              <a:t>http://en.wikipedia.org/wiki/Analytic_signal</a:t>
            </a:r>
            <a:endParaRPr lang="zh-TW" altLang="en-US" dirty="0"/>
          </a:p>
        </p:txBody>
      </p:sp>
    </p:spTree>
    <p:extLst>
      <p:ext uri="{BB962C8B-B14F-4D97-AF65-F5344CB8AC3E}">
        <p14:creationId xmlns:p14="http://schemas.microsoft.com/office/powerpoint/2010/main" val="5611508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DFB2A201-8A46-40D3-BE72-AC6B75F3F883}" type="slidenum">
              <a:rPr lang="zh-TW" altLang="en-US" smtClean="0"/>
              <a:pPr/>
              <a:t>29</a:t>
            </a:fld>
            <a:endParaRPr lang="zh-TW" altLang="en-US"/>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1175251"/>
            <a:ext cx="4556259" cy="1872208"/>
          </a:xfrm>
          <a:prstGeom prst="rect">
            <a:avLst/>
          </a:prstGeom>
        </p:spPr>
      </p:pic>
      <p:pic>
        <p:nvPicPr>
          <p:cNvPr id="4" name="圖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9107" y="1075657"/>
            <a:ext cx="3424893" cy="2852936"/>
          </a:xfrm>
          <a:prstGeom prst="rect">
            <a:avLst/>
          </a:prstGeom>
        </p:spPr>
      </p:pic>
      <p:sp>
        <p:nvSpPr>
          <p:cNvPr id="5" name="圓角矩形圖說文字 4"/>
          <p:cNvSpPr/>
          <p:nvPr/>
        </p:nvSpPr>
        <p:spPr>
          <a:xfrm>
            <a:off x="683568" y="188640"/>
            <a:ext cx="4320480" cy="720080"/>
          </a:xfrm>
          <a:prstGeom prst="wedgeRoundRectCallout">
            <a:avLst>
              <a:gd name="adj1" fmla="val -35938"/>
              <a:gd name="adj2" fmla="val 125401"/>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TW" altLang="en-US" sz="2000" dirty="0" smtClean="0">
                <a:latin typeface="微軟正黑體" pitchFamily="34" charset="-120"/>
                <a:ea typeface="微軟正黑體" pitchFamily="34" charset="-120"/>
              </a:rPr>
              <a:t>經過</a:t>
            </a:r>
            <a:r>
              <a:rPr lang="en-US" altLang="zh-TW" sz="2000" dirty="0" err="1" smtClean="0">
                <a:latin typeface="微軟正黑體" pitchFamily="34" charset="-120"/>
                <a:ea typeface="微軟正黑體" pitchFamily="34" charset="-120"/>
              </a:rPr>
              <a:t>FT轉換後的解析信號頻率域</a:t>
            </a:r>
            <a:r>
              <a:rPr lang="en-US" altLang="zh-TW" sz="2000" dirty="0" smtClean="0">
                <a:latin typeface="微軟正黑體" pitchFamily="34" charset="-120"/>
                <a:ea typeface="微軟正黑體" pitchFamily="34" charset="-120"/>
              </a:rPr>
              <a:t>，</a:t>
            </a:r>
            <a:br>
              <a:rPr lang="en-US" altLang="zh-TW" sz="2000" dirty="0" smtClean="0">
                <a:latin typeface="微軟正黑體" pitchFamily="34" charset="-120"/>
                <a:ea typeface="微軟正黑體" pitchFamily="34" charset="-120"/>
              </a:rPr>
            </a:br>
            <a:r>
              <a:rPr lang="en-US" altLang="zh-TW" sz="2000" dirty="0" smtClean="0">
                <a:latin typeface="微軟正黑體" pitchFamily="34" charset="-120"/>
                <a:ea typeface="微軟正黑體" pitchFamily="34" charset="-120"/>
              </a:rPr>
              <a:t>負頻率部份為0</a:t>
            </a:r>
            <a:endParaRPr lang="zh-TW" altLang="en-US" sz="2000" dirty="0">
              <a:latin typeface="微軟正黑體" pitchFamily="34" charset="-120"/>
              <a:ea typeface="微軟正黑體" pitchFamily="34" charset="-120"/>
            </a:endParaRPr>
          </a:p>
        </p:txBody>
      </p:sp>
      <mc:AlternateContent xmlns:mc="http://schemas.openxmlformats.org/markup-compatibility/2006" xmlns:a14="http://schemas.microsoft.com/office/drawing/2010/main">
        <mc:Choice Requires="a14">
          <p:sp>
            <p:nvSpPr>
              <p:cNvPr id="6" name="文字方塊 5"/>
              <p:cNvSpPr txBox="1"/>
              <p:nvPr/>
            </p:nvSpPr>
            <p:spPr>
              <a:xfrm>
                <a:off x="251520" y="3282262"/>
                <a:ext cx="5184576"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a:rPr>
                        <m:t>𝑋</m:t>
                      </m:r>
                      <m:d>
                        <m:dPr>
                          <m:ctrlPr>
                            <a:rPr lang="en-US" altLang="zh-TW" b="0" i="1" smtClean="0">
                              <a:latin typeface="Cambria Math"/>
                            </a:rPr>
                          </m:ctrlPr>
                        </m:dPr>
                        <m:e>
                          <m:r>
                            <a:rPr lang="en-US" altLang="zh-TW" b="0" i="1" smtClean="0">
                              <a:latin typeface="Cambria Math"/>
                            </a:rPr>
                            <m:t>𝑓</m:t>
                          </m:r>
                        </m:e>
                      </m:d>
                      <m:r>
                        <a:rPr lang="en-US" altLang="zh-TW" b="0" i="1" smtClean="0">
                          <a:latin typeface="Cambria Math"/>
                        </a:rPr>
                        <m:t>:</m:t>
                      </m:r>
                      <m:r>
                        <a:rPr lang="en-US" altLang="zh-TW" b="0" i="1" smtClean="0">
                          <a:latin typeface="Cambria Math"/>
                        </a:rPr>
                        <m:t>𝐹𝑜𝑢𝑟𝑖𝑒𝑟</m:t>
                      </m:r>
                      <m:r>
                        <a:rPr lang="en-US" altLang="zh-TW" b="0" i="1" smtClean="0">
                          <a:latin typeface="Cambria Math"/>
                        </a:rPr>
                        <m:t> </m:t>
                      </m:r>
                      <m:r>
                        <a:rPr lang="en-US" altLang="zh-TW" b="0" i="1" smtClean="0">
                          <a:latin typeface="Cambria Math"/>
                        </a:rPr>
                        <m:t>𝑡𝑟𝑎𝑛𝑠𝑓𝑜𝑟𝑚</m:t>
                      </m:r>
                      <m:r>
                        <a:rPr lang="en-US" altLang="zh-TW" b="0" i="1" smtClean="0">
                          <a:latin typeface="Cambria Math"/>
                        </a:rPr>
                        <m:t> </m:t>
                      </m:r>
                      <m:r>
                        <a:rPr lang="en-US" altLang="zh-TW" b="0" i="1" smtClean="0">
                          <a:latin typeface="Cambria Math"/>
                        </a:rPr>
                        <m:t>𝑜𝑓</m:t>
                      </m:r>
                      <m:r>
                        <a:rPr lang="en-US" altLang="zh-TW" b="0" i="1" smtClean="0">
                          <a:latin typeface="Cambria Math"/>
                        </a:rPr>
                        <m:t> </m:t>
                      </m:r>
                      <m:r>
                        <a:rPr lang="en-US" altLang="zh-TW" b="0" i="1" smtClean="0">
                          <a:latin typeface="Cambria Math"/>
                        </a:rPr>
                        <m:t>𝑜𝑟𝑖𝑔𝑖𝑛𝑎𝑙</m:t>
                      </m:r>
                      <m:r>
                        <a:rPr lang="en-US" altLang="zh-TW" b="0" i="1" smtClean="0">
                          <a:latin typeface="Cambria Math"/>
                        </a:rPr>
                        <m:t> </m:t>
                      </m:r>
                      <m:r>
                        <a:rPr lang="en-US" altLang="zh-TW" b="0" i="1" smtClean="0">
                          <a:latin typeface="Cambria Math"/>
                        </a:rPr>
                        <m:t>𝑓𝑢𝑛𝑐𝑡𝑖𝑜𝑛</m:t>
                      </m:r>
                      <m:r>
                        <a:rPr lang="en-US" altLang="zh-TW" b="0" i="1" smtClean="0">
                          <a:latin typeface="Cambria Math"/>
                        </a:rPr>
                        <m:t> </m:t>
                      </m:r>
                      <m:r>
                        <a:rPr lang="en-US" altLang="zh-TW" b="0" i="1" smtClean="0">
                          <a:latin typeface="Cambria Math"/>
                        </a:rPr>
                        <m:t>𝑥</m:t>
                      </m:r>
                      <m:d>
                        <m:dPr>
                          <m:ctrlPr>
                            <a:rPr lang="en-US" altLang="zh-TW" b="0" i="1" smtClean="0">
                              <a:latin typeface="Cambria Math"/>
                            </a:rPr>
                          </m:ctrlPr>
                        </m:dPr>
                        <m:e>
                          <m:r>
                            <a:rPr lang="en-US" altLang="zh-TW" b="0" i="1" smtClean="0">
                              <a:latin typeface="Cambria Math"/>
                            </a:rPr>
                            <m:t>𝑡</m:t>
                          </m:r>
                        </m:e>
                      </m:d>
                    </m:oMath>
                  </m:oMathPara>
                </a14:m>
                <a:endParaRPr lang="en-US" altLang="zh-TW" b="0" dirty="0" smtClean="0"/>
              </a:p>
              <a:p>
                <a:pPr/>
                <a14:m>
                  <m:oMathPara xmlns:m="http://schemas.openxmlformats.org/officeDocument/2006/math">
                    <m:oMathParaPr>
                      <m:jc m:val="left"/>
                    </m:oMathParaPr>
                    <m:oMath xmlns:m="http://schemas.openxmlformats.org/officeDocument/2006/math">
                      <m:r>
                        <a:rPr lang="en-US" altLang="zh-TW" b="0" i="1" smtClean="0">
                          <a:latin typeface="Cambria Math"/>
                        </a:rPr>
                        <m:t>𝑢</m:t>
                      </m:r>
                      <m:d>
                        <m:dPr>
                          <m:ctrlPr>
                            <a:rPr lang="en-US" altLang="zh-TW" b="0" i="1" smtClean="0">
                              <a:latin typeface="Cambria Math"/>
                            </a:rPr>
                          </m:ctrlPr>
                        </m:dPr>
                        <m:e>
                          <m:r>
                            <a:rPr lang="en-US" altLang="zh-TW" b="0" i="1" smtClean="0">
                              <a:latin typeface="Cambria Math"/>
                            </a:rPr>
                            <m:t>𝑓</m:t>
                          </m:r>
                        </m:e>
                      </m:d>
                      <m:r>
                        <a:rPr lang="en-US" altLang="zh-TW" b="0" i="1" smtClean="0">
                          <a:latin typeface="Cambria Math"/>
                        </a:rPr>
                        <m:t>:</m:t>
                      </m:r>
                      <m:r>
                        <a:rPr lang="en-US" altLang="zh-TW" b="0" i="1" smtClean="0">
                          <a:latin typeface="Cambria Math"/>
                        </a:rPr>
                        <m:t>𝑢𝑛𝑖𝑡</m:t>
                      </m:r>
                      <m:r>
                        <a:rPr lang="en-US" altLang="zh-TW" b="0" i="1" smtClean="0">
                          <a:latin typeface="Cambria Math"/>
                        </a:rPr>
                        <m:t> </m:t>
                      </m:r>
                      <m:r>
                        <a:rPr lang="en-US" altLang="zh-TW" b="0" i="1" smtClean="0">
                          <a:latin typeface="Cambria Math"/>
                        </a:rPr>
                        <m:t>𝑠𝑡𝑒𝑝</m:t>
                      </m:r>
                      <m:r>
                        <a:rPr lang="en-US" altLang="zh-TW" b="0" i="1" smtClean="0">
                          <a:latin typeface="Cambria Math"/>
                        </a:rPr>
                        <m:t> </m:t>
                      </m:r>
                      <m:r>
                        <a:rPr lang="en-US" altLang="zh-TW" b="0" i="1" smtClean="0">
                          <a:latin typeface="Cambria Math"/>
                        </a:rPr>
                        <m:t>𝑓𝑢𝑛𝑐𝑡𝑖𝑜𝑛</m:t>
                      </m:r>
                    </m:oMath>
                  </m:oMathPara>
                </a14:m>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251520" y="3282262"/>
                <a:ext cx="5184576" cy="646331"/>
              </a:xfrm>
              <a:prstGeom prst="rect">
                <a:avLst/>
              </a:prstGeom>
              <a:blipFill rotWithShape="1">
                <a:blip r:embed="rId4"/>
                <a:stretch>
                  <a:fillRect r="-1410" b="-6604"/>
                </a:stretch>
              </a:blipFill>
            </p:spPr>
            <p:txBody>
              <a:bodyPr/>
              <a:lstStyle/>
              <a:p>
                <a:r>
                  <a:rPr lang="zh-TW" altLang="en-US">
                    <a:noFill/>
                  </a:rPr>
                  <a:t> </a:t>
                </a:r>
              </a:p>
            </p:txBody>
          </p:sp>
        </mc:Fallback>
      </mc:AlternateContent>
      <p:pic>
        <p:nvPicPr>
          <p:cNvPr id="7" name="圖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0527" y="5103440"/>
            <a:ext cx="7332815" cy="936104"/>
          </a:xfrm>
          <a:prstGeom prst="rect">
            <a:avLst/>
          </a:prstGeom>
        </p:spPr>
      </p:pic>
      <p:sp>
        <p:nvSpPr>
          <p:cNvPr id="8" name="文字方塊 7"/>
          <p:cNvSpPr txBox="1"/>
          <p:nvPr/>
        </p:nvSpPr>
        <p:spPr>
          <a:xfrm>
            <a:off x="471724" y="4365104"/>
            <a:ext cx="693711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zh-TW" altLang="en-US" sz="2400" dirty="0" smtClean="0">
                <a:latin typeface="微軟正黑體" pitchFamily="34" charset="-120"/>
                <a:ea typeface="微軟正黑體" pitchFamily="34" charset="-120"/>
              </a:rPr>
              <a:t>可由解析訊號頻率域得到原始訊號的頻率域訊號</a:t>
            </a:r>
            <a:endParaRPr lang="zh-TW" altLang="en-US" sz="2400" dirty="0">
              <a:latin typeface="微軟正黑體" pitchFamily="34" charset="-120"/>
              <a:ea typeface="微軟正黑體" pitchFamily="34" charset="-120"/>
            </a:endParaRPr>
          </a:p>
        </p:txBody>
      </p:sp>
    </p:spTree>
    <p:extLst>
      <p:ext uri="{BB962C8B-B14F-4D97-AF65-F5344CB8AC3E}">
        <p14:creationId xmlns:p14="http://schemas.microsoft.com/office/powerpoint/2010/main" val="386310559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DFB2A201-8A46-40D3-BE72-AC6B75F3F883}" type="slidenum">
              <a:rPr lang="zh-TW" altLang="en-US" smtClean="0"/>
              <a:pPr/>
              <a:t>30</a:t>
            </a:fld>
            <a:endParaRPr lang="zh-TW" altLang="en-US"/>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182" y="1341785"/>
            <a:ext cx="7485232" cy="2376264"/>
          </a:xfrm>
          <a:prstGeom prst="rect">
            <a:avLst/>
          </a:prstGeom>
        </p:spPr>
      </p:pic>
      <p:sp>
        <p:nvSpPr>
          <p:cNvPr id="4" name="圓角矩形圖說文字 3"/>
          <p:cNvSpPr/>
          <p:nvPr/>
        </p:nvSpPr>
        <p:spPr>
          <a:xfrm>
            <a:off x="539552" y="261665"/>
            <a:ext cx="7704856" cy="504056"/>
          </a:xfrm>
          <a:prstGeom prst="wedgeRoundRectCallout">
            <a:avLst>
              <a:gd name="adj1" fmla="val -41485"/>
              <a:gd name="adj2" fmla="val 149852"/>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TW" altLang="en-US" sz="2000" dirty="0" smtClean="0">
                <a:latin typeface="微軟正黑體" pitchFamily="34" charset="-120"/>
                <a:ea typeface="微軟正黑體" pitchFamily="34" charset="-120"/>
              </a:rPr>
              <a:t>將</a:t>
            </a:r>
            <a:r>
              <a:rPr lang="en-US" altLang="zh-TW" sz="2000" dirty="0" err="1" smtClean="0">
                <a:latin typeface="微軟正黑體" pitchFamily="34" charset="-120"/>
                <a:ea typeface="微軟正黑體" pitchFamily="34" charset="-120"/>
              </a:rPr>
              <a:t>解析信號頻率域</a:t>
            </a:r>
            <a:r>
              <a:rPr lang="zh-TW" altLang="en-US" sz="2000" dirty="0" smtClean="0">
                <a:latin typeface="微軟正黑體" pitchFamily="34" charset="-120"/>
                <a:ea typeface="微軟正黑體" pitchFamily="34" charset="-120"/>
              </a:rPr>
              <a:t>做</a:t>
            </a:r>
            <a:r>
              <a:rPr lang="en-US" altLang="zh-TW" sz="2000" dirty="0" err="1" smtClean="0">
                <a:latin typeface="微軟正黑體" pitchFamily="34" charset="-120"/>
                <a:ea typeface="微軟正黑體" pitchFamily="34" charset="-120"/>
              </a:rPr>
              <a:t>IFT轉換得到解析信號</a:t>
            </a:r>
            <a:r>
              <a:rPr lang="zh-TW" altLang="en-US" sz="2000" dirty="0" smtClean="0">
                <a:latin typeface="微軟正黑體" pitchFamily="34" charset="-120"/>
                <a:ea typeface="微軟正黑體" pitchFamily="34" charset="-120"/>
              </a:rPr>
              <a:t>時間域</a:t>
            </a:r>
            <a:endParaRPr lang="zh-TW" altLang="en-US" sz="2000" dirty="0">
              <a:latin typeface="微軟正黑體" pitchFamily="34" charset="-120"/>
              <a:ea typeface="微軟正黑體" pitchFamily="34" charset="-120"/>
            </a:endParaRPr>
          </a:p>
        </p:txBody>
      </p:sp>
      <p:sp>
        <p:nvSpPr>
          <p:cNvPr id="5" name="矩形 4"/>
          <p:cNvSpPr/>
          <p:nvPr/>
        </p:nvSpPr>
        <p:spPr>
          <a:xfrm>
            <a:off x="3131840" y="2277889"/>
            <a:ext cx="1656184" cy="151216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 name="文字方塊 5"/>
              <p:cNvSpPr txBox="1"/>
              <p:nvPr/>
            </p:nvSpPr>
            <p:spPr>
              <a:xfrm>
                <a:off x="683568" y="3975447"/>
                <a:ext cx="7884368" cy="461665"/>
              </a:xfrm>
              <a:prstGeom prst="rect">
                <a:avLst/>
              </a:prstGeom>
              <a:noFill/>
            </p:spPr>
            <p:txBody>
              <a:bodyPr wrap="square" rtlCol="0">
                <a:spAutoFit/>
              </a:bodyPr>
              <a:lstStyle/>
              <a:p>
                <a:r>
                  <a:rPr lang="en-US" altLang="zh-TW" sz="2400" dirty="0" smtClean="0">
                    <a:solidFill>
                      <a:srgbClr val="FF0000"/>
                    </a:solidFill>
                    <a:latin typeface="微軟正黑體" pitchFamily="34" charset="-120"/>
                    <a:ea typeface="微軟正黑體" pitchFamily="34" charset="-120"/>
                  </a:rPr>
                  <a:t>x(t)</a:t>
                </a:r>
                <a:r>
                  <a:rPr lang="zh-TW" altLang="en-US" sz="2400" dirty="0" smtClean="0">
                    <a:solidFill>
                      <a:srgbClr val="FF0000"/>
                    </a:solidFill>
                    <a:latin typeface="微軟正黑體" pitchFamily="34" charset="-120"/>
                    <a:ea typeface="微軟正黑體" pitchFamily="34" charset="-120"/>
                  </a:rPr>
                  <a:t>做</a:t>
                </a:r>
                <a:r>
                  <a:rPr lang="en-US" altLang="zh-TW" sz="2400" dirty="0" smtClean="0">
                    <a:solidFill>
                      <a:srgbClr val="FF0000"/>
                    </a:solidFill>
                    <a:latin typeface="微軟正黑體" pitchFamily="34" charset="-120"/>
                    <a:ea typeface="微軟正黑體" pitchFamily="34" charset="-120"/>
                  </a:rPr>
                  <a:t>Hilbert </a:t>
                </a:r>
                <a:r>
                  <a:rPr lang="en-US" altLang="zh-TW" sz="2400" dirty="0" err="1" smtClean="0">
                    <a:solidFill>
                      <a:srgbClr val="FF0000"/>
                    </a:solidFill>
                    <a:latin typeface="微軟正黑體" pitchFamily="34" charset="-120"/>
                    <a:ea typeface="微軟正黑體" pitchFamily="34" charset="-120"/>
                  </a:rPr>
                  <a:t>transform即x</a:t>
                </a:r>
                <a:r>
                  <a:rPr lang="en-US" altLang="zh-TW" sz="2400" dirty="0" smtClean="0">
                    <a:solidFill>
                      <a:srgbClr val="FF0000"/>
                    </a:solidFill>
                    <a:latin typeface="微軟正黑體" pitchFamily="34" charset="-120"/>
                    <a:ea typeface="微軟正黑體" pitchFamily="34" charset="-120"/>
                  </a:rPr>
                  <a:t>(t)與 1/(</a:t>
                </a:r>
                <a14:m>
                  <m:oMath xmlns:m="http://schemas.openxmlformats.org/officeDocument/2006/math">
                    <m:r>
                      <a:rPr lang="en-US" altLang="zh-TW" sz="2400" i="1" smtClean="0">
                        <a:solidFill>
                          <a:srgbClr val="FF0000"/>
                        </a:solidFill>
                        <a:latin typeface="Cambria Math"/>
                        <a:ea typeface="Cambria Math"/>
                      </a:rPr>
                      <m:t>𝜋</m:t>
                    </m:r>
                    <m:r>
                      <a:rPr lang="en-US" altLang="zh-TW" sz="2400" b="0" i="1" smtClean="0">
                        <a:solidFill>
                          <a:srgbClr val="FF0000"/>
                        </a:solidFill>
                        <a:latin typeface="Cambria Math"/>
                        <a:ea typeface="Cambria Math"/>
                      </a:rPr>
                      <m:t>𝑡</m:t>
                    </m:r>
                    <m:r>
                      <a:rPr lang="en-US" altLang="zh-TW" sz="2400" b="0" i="1" smtClean="0">
                        <a:solidFill>
                          <a:srgbClr val="FF0000"/>
                        </a:solidFill>
                        <a:latin typeface="Cambria Math"/>
                        <a:ea typeface="Cambria Math"/>
                      </a:rPr>
                      <m:t>)</m:t>
                    </m:r>
                    <m:r>
                      <a:rPr lang="en-US" altLang="zh-TW" sz="2400" b="0" i="0" smtClean="0">
                        <a:solidFill>
                          <a:srgbClr val="FF0000"/>
                        </a:solidFill>
                        <a:latin typeface="Cambria Math"/>
                        <a:ea typeface="Cambria Math"/>
                      </a:rPr>
                      <m:t> </m:t>
                    </m:r>
                    <m:r>
                      <m:rPr>
                        <m:sty m:val="p"/>
                      </m:rPr>
                      <a:rPr lang="en-US" altLang="zh-TW" sz="2400" b="0" i="0" smtClean="0">
                        <a:solidFill>
                          <a:srgbClr val="FF0000"/>
                        </a:solidFill>
                        <a:latin typeface="Cambria Math"/>
                        <a:ea typeface="Cambria Math"/>
                      </a:rPr>
                      <m:t>convolution</m:t>
                    </m:r>
                  </m:oMath>
                </a14:m>
                <a:endParaRPr lang="zh-TW" altLang="en-US" sz="2400" dirty="0">
                  <a:solidFill>
                    <a:srgbClr val="FF0000"/>
                  </a:solidFill>
                  <a:latin typeface="微軟正黑體" pitchFamily="34" charset="-120"/>
                  <a:ea typeface="微軟正黑體" pitchFamily="34" charset="-120"/>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683568" y="3975447"/>
                <a:ext cx="7884368" cy="461665"/>
              </a:xfrm>
              <a:prstGeom prst="rect">
                <a:avLst/>
              </a:prstGeom>
              <a:blipFill rotWithShape="1">
                <a:blip r:embed="rId3"/>
                <a:stretch>
                  <a:fillRect l="-1159" t="-9211" b="-302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417037" y="5157192"/>
                <a:ext cx="7949886" cy="75642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000" b="0" i="1" smtClean="0">
                          <a:latin typeface="Cambria Math"/>
                        </a:rPr>
                        <m:t>𝐻</m:t>
                      </m:r>
                      <m:d>
                        <m:dPr>
                          <m:ctrlPr>
                            <a:rPr lang="en-US" altLang="zh-TW" sz="2000" b="0" i="1" smtClean="0">
                              <a:latin typeface="Cambria Math"/>
                            </a:rPr>
                          </m:ctrlPr>
                        </m:dPr>
                        <m:e>
                          <m:r>
                            <a:rPr lang="en-US" altLang="zh-TW" sz="2000" b="0" i="1" smtClean="0">
                              <a:latin typeface="Cambria Math"/>
                            </a:rPr>
                            <m:t>𝑥</m:t>
                          </m:r>
                        </m:e>
                      </m:d>
                      <m:r>
                        <a:rPr lang="en-US" altLang="zh-TW" sz="2000" b="0" i="1" smtClean="0">
                          <a:latin typeface="Cambria Math"/>
                        </a:rPr>
                        <m:t>(</m:t>
                      </m:r>
                      <m:r>
                        <a:rPr lang="en-US" altLang="zh-TW" sz="2000" b="0" i="1" smtClean="0">
                          <a:latin typeface="Cambria Math"/>
                        </a:rPr>
                        <m:t>𝑡</m:t>
                      </m:r>
                      <m:r>
                        <a:rPr lang="en-US" altLang="zh-TW" sz="2000" b="0" i="1" smtClean="0">
                          <a:latin typeface="Cambria Math"/>
                        </a:rPr>
                        <m:t>)=</m:t>
                      </m:r>
                      <m:r>
                        <a:rPr lang="en-US" altLang="zh-TW" sz="2000" b="0" i="1" smtClean="0">
                          <a:latin typeface="Cambria Math"/>
                        </a:rPr>
                        <m:t>𝑝</m:t>
                      </m:r>
                      <m:r>
                        <a:rPr lang="en-US" altLang="zh-TW" sz="2000" b="0" i="1" smtClean="0">
                          <a:latin typeface="Cambria Math"/>
                        </a:rPr>
                        <m:t>.</m:t>
                      </m:r>
                      <m:r>
                        <a:rPr lang="en-US" altLang="zh-TW" sz="2000" b="0" i="1" smtClean="0">
                          <a:latin typeface="Cambria Math"/>
                        </a:rPr>
                        <m:t>𝑣</m:t>
                      </m:r>
                      <m:r>
                        <a:rPr lang="en-US" altLang="zh-TW" sz="2000" b="0" i="1" smtClean="0">
                          <a:latin typeface="Cambria Math"/>
                        </a:rPr>
                        <m:t>.</m:t>
                      </m:r>
                      <m:nary>
                        <m:naryPr>
                          <m:ctrlPr>
                            <a:rPr lang="en-US" altLang="zh-TW" sz="2000" b="0" i="1" smtClean="0">
                              <a:latin typeface="Cambria Math"/>
                            </a:rPr>
                          </m:ctrlPr>
                        </m:naryPr>
                        <m:sub>
                          <m:r>
                            <m:rPr>
                              <m:brk m:alnAt="23"/>
                            </m:rPr>
                            <a:rPr lang="en-US" altLang="zh-TW" sz="2000" b="0" i="1" smtClean="0">
                              <a:latin typeface="Cambria Math"/>
                            </a:rPr>
                            <m:t>−</m:t>
                          </m:r>
                          <m:r>
                            <a:rPr lang="en-US" altLang="zh-TW" sz="2000" b="0" i="1" smtClean="0">
                              <a:latin typeface="Cambria Math"/>
                              <a:ea typeface="Cambria Math"/>
                            </a:rPr>
                            <m:t>∞</m:t>
                          </m:r>
                        </m:sub>
                        <m:sup>
                          <m:r>
                            <a:rPr lang="en-US" altLang="zh-TW" sz="2000" b="0" i="1" smtClean="0">
                              <a:latin typeface="Cambria Math"/>
                              <a:ea typeface="Cambria Math"/>
                            </a:rPr>
                            <m:t>∞</m:t>
                          </m:r>
                        </m:sup>
                        <m:e>
                          <m:r>
                            <a:rPr lang="en-US" altLang="zh-TW" sz="2000" b="0" i="1" smtClean="0">
                              <a:latin typeface="Cambria Math"/>
                            </a:rPr>
                            <m:t>𝑥</m:t>
                          </m:r>
                          <m:d>
                            <m:dPr>
                              <m:ctrlPr>
                                <a:rPr lang="en-US" altLang="zh-TW" sz="2000" b="0" i="1" smtClean="0">
                                  <a:latin typeface="Cambria Math"/>
                                </a:rPr>
                              </m:ctrlPr>
                            </m:dPr>
                            <m:e>
                              <m:r>
                                <a:rPr lang="en-US" altLang="zh-TW" sz="2000" b="0" i="1" smtClean="0">
                                  <a:latin typeface="Cambria Math"/>
                                  <a:ea typeface="Cambria Math"/>
                                </a:rPr>
                                <m:t>𝜏</m:t>
                              </m:r>
                            </m:e>
                          </m:d>
                          <m:r>
                            <a:rPr lang="en-US" altLang="zh-TW" sz="2000" b="0" i="1" smtClean="0">
                              <a:latin typeface="Cambria Math"/>
                              <a:ea typeface="Cambria Math"/>
                            </a:rPr>
                            <m:t>h</m:t>
                          </m:r>
                          <m:d>
                            <m:dPr>
                              <m:ctrlPr>
                                <a:rPr lang="en-US" altLang="zh-TW" sz="2000" b="0" i="1" smtClean="0">
                                  <a:latin typeface="Cambria Math"/>
                                  <a:ea typeface="Cambria Math"/>
                                </a:rPr>
                              </m:ctrlPr>
                            </m:dPr>
                            <m:e>
                              <m:r>
                                <a:rPr lang="en-US" altLang="zh-TW" sz="2000" b="0" i="1" smtClean="0">
                                  <a:latin typeface="Cambria Math"/>
                                  <a:ea typeface="Cambria Math"/>
                                </a:rPr>
                                <m:t>𝑡</m:t>
                              </m:r>
                              <m:r>
                                <a:rPr lang="en-US" altLang="zh-TW" sz="2000" b="0" i="1" smtClean="0">
                                  <a:latin typeface="Cambria Math"/>
                                  <a:ea typeface="Cambria Math"/>
                                </a:rPr>
                                <m:t>−</m:t>
                              </m:r>
                              <m:r>
                                <a:rPr lang="en-US" altLang="zh-TW" sz="2000" b="0" i="1" smtClean="0">
                                  <a:latin typeface="Cambria Math"/>
                                  <a:ea typeface="Cambria Math"/>
                                </a:rPr>
                                <m:t>𝜏</m:t>
                              </m:r>
                            </m:e>
                          </m:d>
                          <m:r>
                            <a:rPr lang="en-US" altLang="zh-TW" sz="2000" b="0" i="1" smtClean="0">
                              <a:latin typeface="Cambria Math"/>
                              <a:ea typeface="Cambria Math"/>
                            </a:rPr>
                            <m:t>𝑑</m:t>
                          </m:r>
                          <m:r>
                            <a:rPr lang="en-US" altLang="zh-TW" sz="2000" b="0" i="1" smtClean="0">
                              <a:latin typeface="Cambria Math"/>
                              <a:ea typeface="Cambria Math"/>
                            </a:rPr>
                            <m:t>𝜏</m:t>
                          </m:r>
                          <m:r>
                            <a:rPr lang="en-US" altLang="zh-TW" sz="2000" b="0" i="1" smtClean="0">
                              <a:latin typeface="Cambria Math"/>
                              <a:ea typeface="Cambria Math"/>
                            </a:rPr>
                            <m:t>= </m:t>
                          </m:r>
                          <m:f>
                            <m:fPr>
                              <m:ctrlPr>
                                <a:rPr lang="en-US" altLang="zh-TW" sz="2000" b="0" i="1" smtClean="0">
                                  <a:latin typeface="Cambria Math"/>
                                  <a:ea typeface="Cambria Math"/>
                                </a:rPr>
                              </m:ctrlPr>
                            </m:fPr>
                            <m:num>
                              <m:r>
                                <a:rPr lang="en-US" altLang="zh-TW" sz="2000" b="0" i="1" smtClean="0">
                                  <a:latin typeface="Cambria Math"/>
                                  <a:ea typeface="Cambria Math"/>
                                </a:rPr>
                                <m:t>1</m:t>
                              </m:r>
                            </m:num>
                            <m:den>
                              <m:r>
                                <a:rPr lang="en-US" altLang="zh-TW" sz="2000" b="0" i="1" smtClean="0">
                                  <a:latin typeface="Cambria Math"/>
                                  <a:ea typeface="Cambria Math"/>
                                </a:rPr>
                                <m:t>𝜋</m:t>
                              </m:r>
                            </m:den>
                          </m:f>
                          <m:r>
                            <a:rPr lang="en-US" altLang="zh-TW" sz="2000" b="0" i="1" smtClean="0">
                              <a:latin typeface="Cambria Math"/>
                              <a:ea typeface="Cambria Math"/>
                            </a:rPr>
                            <m:t>𝑝</m:t>
                          </m:r>
                          <m:r>
                            <a:rPr lang="en-US" altLang="zh-TW" sz="2000" b="0" i="1" smtClean="0">
                              <a:latin typeface="Cambria Math"/>
                              <a:ea typeface="Cambria Math"/>
                            </a:rPr>
                            <m:t>.</m:t>
                          </m:r>
                          <m:r>
                            <a:rPr lang="en-US" altLang="zh-TW" sz="2000" b="0" i="1" smtClean="0">
                              <a:latin typeface="Cambria Math"/>
                              <a:ea typeface="Cambria Math"/>
                            </a:rPr>
                            <m:t>𝑣</m:t>
                          </m:r>
                          <m:r>
                            <a:rPr lang="en-US" altLang="zh-TW" sz="2000" b="0" i="1" smtClean="0">
                              <a:latin typeface="Cambria Math"/>
                              <a:ea typeface="Cambria Math"/>
                            </a:rPr>
                            <m:t>.</m:t>
                          </m:r>
                          <m:nary>
                            <m:naryPr>
                              <m:ctrlPr>
                                <a:rPr lang="en-US" altLang="zh-TW" sz="2000" b="0" i="1" smtClean="0">
                                  <a:latin typeface="Cambria Math"/>
                                  <a:ea typeface="Cambria Math"/>
                                </a:rPr>
                              </m:ctrlPr>
                            </m:naryPr>
                            <m:sub>
                              <m:r>
                                <m:rPr>
                                  <m:brk m:alnAt="23"/>
                                </m:rPr>
                                <a:rPr lang="en-US" altLang="zh-TW" sz="2000" b="0" i="1" smtClean="0">
                                  <a:latin typeface="Cambria Math"/>
                                  <a:ea typeface="Cambria Math"/>
                                </a:rPr>
                                <m:t>−</m:t>
                              </m:r>
                              <m:r>
                                <a:rPr lang="en-US" altLang="zh-TW" sz="2000" b="0" i="1" smtClean="0">
                                  <a:latin typeface="Cambria Math"/>
                                  <a:ea typeface="Cambria Math"/>
                                </a:rPr>
                                <m:t>∞</m:t>
                              </m:r>
                            </m:sub>
                            <m:sup>
                              <m:r>
                                <a:rPr lang="en-US" altLang="zh-TW" sz="2000" b="0" i="1" smtClean="0">
                                  <a:latin typeface="Cambria Math"/>
                                  <a:ea typeface="Cambria Math"/>
                                </a:rPr>
                                <m:t>∞</m:t>
                              </m:r>
                            </m:sup>
                            <m:e>
                              <m:f>
                                <m:fPr>
                                  <m:ctrlPr>
                                    <a:rPr lang="en-US" altLang="zh-TW" sz="2000" b="0" i="1" smtClean="0">
                                      <a:latin typeface="Cambria Math"/>
                                      <a:ea typeface="Cambria Math"/>
                                    </a:rPr>
                                  </m:ctrlPr>
                                </m:fPr>
                                <m:num>
                                  <m:r>
                                    <a:rPr lang="en-US" altLang="zh-TW" sz="2000" b="0" i="1" smtClean="0">
                                      <a:latin typeface="Cambria Math"/>
                                      <a:ea typeface="Cambria Math"/>
                                    </a:rPr>
                                    <m:t>𝑥</m:t>
                                  </m:r>
                                  <m:r>
                                    <a:rPr lang="en-US" altLang="zh-TW" sz="2000" b="0" i="1" smtClean="0">
                                      <a:latin typeface="Cambria Math"/>
                                      <a:ea typeface="Cambria Math"/>
                                    </a:rPr>
                                    <m:t>(</m:t>
                                  </m:r>
                                  <m:r>
                                    <a:rPr lang="en-US" altLang="zh-TW" sz="2000" b="0" i="1" smtClean="0">
                                      <a:latin typeface="Cambria Math"/>
                                      <a:ea typeface="Cambria Math"/>
                                    </a:rPr>
                                    <m:t>𝜏</m:t>
                                  </m:r>
                                  <m:r>
                                    <a:rPr lang="en-US" altLang="zh-TW" sz="2000" b="0" i="1" smtClean="0">
                                      <a:latin typeface="Cambria Math"/>
                                      <a:ea typeface="Cambria Math"/>
                                    </a:rPr>
                                    <m:t>)</m:t>
                                  </m:r>
                                </m:num>
                                <m:den>
                                  <m:r>
                                    <a:rPr lang="en-US" altLang="zh-TW" sz="2000" b="0" i="1" smtClean="0">
                                      <a:latin typeface="Cambria Math"/>
                                      <a:ea typeface="Cambria Math"/>
                                    </a:rPr>
                                    <m:t>𝑡</m:t>
                                  </m:r>
                                  <m:r>
                                    <a:rPr lang="en-US" altLang="zh-TW" sz="2000" b="0" i="1" smtClean="0">
                                      <a:latin typeface="Cambria Math"/>
                                      <a:ea typeface="Cambria Math"/>
                                    </a:rPr>
                                    <m:t>−</m:t>
                                  </m:r>
                                  <m:r>
                                    <a:rPr lang="en-US" altLang="zh-TW" sz="2000" b="0" i="1" smtClean="0">
                                      <a:latin typeface="Cambria Math"/>
                                      <a:ea typeface="Cambria Math"/>
                                    </a:rPr>
                                    <m:t>𝜏</m:t>
                                  </m:r>
                                </m:den>
                              </m:f>
                              <m:r>
                                <a:rPr lang="en-US" altLang="zh-TW" sz="2000" b="0" i="1" smtClean="0">
                                  <a:latin typeface="Cambria Math"/>
                                  <a:ea typeface="Cambria Math"/>
                                </a:rPr>
                                <m:t>𝑑</m:t>
                              </m:r>
                              <m:r>
                                <a:rPr lang="en-US" altLang="zh-TW" sz="2000" b="0" i="1" smtClean="0">
                                  <a:latin typeface="Cambria Math"/>
                                  <a:ea typeface="Cambria Math"/>
                                </a:rPr>
                                <m:t>𝜏</m:t>
                              </m:r>
                            </m:e>
                          </m:nary>
                        </m:e>
                      </m:nary>
                    </m:oMath>
                  </m:oMathPara>
                </a14:m>
                <a:endParaRPr lang="zh-TW" altLang="en-US" sz="20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417037" y="5157192"/>
                <a:ext cx="7949886" cy="756426"/>
              </a:xfrm>
              <a:prstGeom prst="rect">
                <a:avLst/>
              </a:prstGeom>
              <a:blipFill rotWithShape="1">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553272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a:xfrm>
            <a:off x="6588224" y="6351193"/>
            <a:ext cx="2133600" cy="365125"/>
          </a:xfrm>
        </p:spPr>
        <p:txBody>
          <a:bodyPr/>
          <a:lstStyle/>
          <a:p>
            <a:fld id="{DFB2A201-8A46-40D3-BE72-AC6B75F3F883}" type="slidenum">
              <a:rPr lang="zh-TW" altLang="en-US" smtClean="0"/>
              <a:pPr/>
              <a:t>31</a:t>
            </a:fld>
            <a:endParaRPr lang="zh-TW" altLang="en-US"/>
          </a:p>
        </p:txBody>
      </p:sp>
      <p:sp>
        <p:nvSpPr>
          <p:cNvPr id="6" name="矩形 5"/>
          <p:cNvSpPr/>
          <p:nvPr/>
        </p:nvSpPr>
        <p:spPr>
          <a:xfrm>
            <a:off x="1547664" y="5505821"/>
            <a:ext cx="7002017" cy="830997"/>
          </a:xfrm>
          <a:prstGeom prst="rect">
            <a:avLst/>
          </a:prstGeom>
        </p:spPr>
        <p:txBody>
          <a:bodyPr wrap="square">
            <a:spAutoFit/>
          </a:bodyPr>
          <a:lstStyle/>
          <a:p>
            <a:r>
              <a:rPr lang="en-US" altLang="zh-TW" sz="2400" dirty="0" smtClean="0"/>
              <a:t>Blue: original signal</a:t>
            </a:r>
          </a:p>
          <a:p>
            <a:r>
              <a:rPr lang="en-US" altLang="zh-TW" sz="2400" dirty="0" smtClean="0"/>
              <a:t>Red: magnitude </a:t>
            </a:r>
            <a:r>
              <a:rPr lang="en-US" altLang="zh-TW" sz="2400" dirty="0"/>
              <a:t>of its analytic </a:t>
            </a:r>
            <a:r>
              <a:rPr lang="en-US" altLang="zh-TW" sz="2400" dirty="0" smtClean="0"/>
              <a:t>signal (envelope)</a:t>
            </a:r>
            <a:endParaRPr lang="zh-TW" altLang="en-US" sz="2400" dirty="0"/>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8953" y="116632"/>
            <a:ext cx="5629501" cy="5342397"/>
          </a:xfrm>
          <a:prstGeom prst="rect">
            <a:avLst/>
          </a:prstGeom>
        </p:spPr>
      </p:pic>
    </p:spTree>
    <p:extLst>
      <p:ext uri="{BB962C8B-B14F-4D97-AF65-F5344CB8AC3E}">
        <p14:creationId xmlns:p14="http://schemas.microsoft.com/office/powerpoint/2010/main" val="17337648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a:bodyPr>
          <a:lstStyle/>
          <a:p>
            <a:r>
              <a:rPr lang="en-US" altLang="zh-TW" dirty="0"/>
              <a:t>Instantaneous </a:t>
            </a:r>
            <a:r>
              <a:rPr lang="en-US" altLang="zh-TW" dirty="0" smtClean="0"/>
              <a:t>frequency</a:t>
            </a:r>
            <a:r>
              <a:rPr lang="en-US" altLang="zh-TW" dirty="0" smtClean="0">
                <a:latin typeface="微軟正黑體" pitchFamily="34" charset="-120"/>
                <a:ea typeface="微軟正黑體" pitchFamily="34" charset="-120"/>
              </a:rPr>
              <a:t> (1)</a:t>
            </a:r>
            <a:endParaRPr lang="zh-TW" altLang="en-US" dirty="0"/>
          </a:p>
        </p:txBody>
      </p:sp>
      <p:sp>
        <p:nvSpPr>
          <p:cNvPr id="2" name="投影片編號版面配置區 1"/>
          <p:cNvSpPr>
            <a:spLocks noGrp="1"/>
          </p:cNvSpPr>
          <p:nvPr>
            <p:ph type="sldNum" sz="quarter" idx="12"/>
          </p:nvPr>
        </p:nvSpPr>
        <p:spPr/>
        <p:txBody>
          <a:bodyPr/>
          <a:lstStyle/>
          <a:p>
            <a:fld id="{DFB2A201-8A46-40D3-BE72-AC6B75F3F883}" type="slidenum">
              <a:rPr lang="zh-TW" altLang="en-US" smtClean="0"/>
              <a:pPr/>
              <a:t>32</a:t>
            </a:fld>
            <a:endParaRPr lang="zh-TW" altLang="en-US"/>
          </a:p>
        </p:txBody>
      </p:sp>
      <mc:AlternateContent xmlns:mc="http://schemas.openxmlformats.org/markup-compatibility/2006" xmlns:a14="http://schemas.microsoft.com/office/drawing/2010/main">
        <mc:Choice Requires="a14">
          <p:sp>
            <p:nvSpPr>
              <p:cNvPr id="4" name="文字方塊 3"/>
              <p:cNvSpPr txBox="1"/>
              <p:nvPr/>
            </p:nvSpPr>
            <p:spPr>
              <a:xfrm>
                <a:off x="611560" y="1340768"/>
                <a:ext cx="7880921" cy="5617948"/>
              </a:xfrm>
              <a:prstGeom prst="rect">
                <a:avLst/>
              </a:prstGeom>
              <a:noFill/>
            </p:spPr>
            <p:txBody>
              <a:bodyPr wrap="square" rtlCol="0">
                <a:spAutoFit/>
              </a:bodyPr>
              <a:lstStyle/>
              <a:p>
                <a:pPr>
                  <a:lnSpc>
                    <a:spcPct val="120000"/>
                  </a:lnSpc>
                </a:pPr>
                <a14:m>
                  <m:oMath xmlns:m="http://schemas.openxmlformats.org/officeDocument/2006/math">
                    <m:r>
                      <a:rPr lang="en-US" altLang="zh-TW" sz="2400" b="0" i="1" smtClean="0">
                        <a:latin typeface="Cambria Math"/>
                      </a:rPr>
                      <m:t>𝑥</m:t>
                    </m:r>
                    <m:d>
                      <m:dPr>
                        <m:ctrlPr>
                          <a:rPr lang="en-US" altLang="zh-TW" sz="2400" b="0" i="1" smtClean="0">
                            <a:latin typeface="Cambria Math"/>
                          </a:rPr>
                        </m:ctrlPr>
                      </m:dPr>
                      <m:e>
                        <m:r>
                          <a:rPr lang="en-US" altLang="zh-TW" sz="2400" b="0" i="1" smtClean="0">
                            <a:latin typeface="Cambria Math"/>
                          </a:rPr>
                          <m:t>𝑡</m:t>
                        </m:r>
                      </m:e>
                    </m:d>
                    <m:r>
                      <a:rPr lang="en-US" altLang="zh-TW" sz="2400" b="0" i="1" smtClean="0">
                        <a:latin typeface="Cambria Math"/>
                      </a:rPr>
                      <m:t>=</m:t>
                    </m:r>
                    <m:func>
                      <m:funcPr>
                        <m:ctrlPr>
                          <a:rPr lang="en-US" altLang="zh-TW" sz="2400" b="0" i="1" smtClean="0">
                            <a:latin typeface="Cambria Math"/>
                          </a:rPr>
                        </m:ctrlPr>
                      </m:funcPr>
                      <m:fName>
                        <m:r>
                          <m:rPr>
                            <m:sty m:val="p"/>
                          </m:rPr>
                          <a:rPr lang="en-US" altLang="zh-TW" sz="2400" b="0" i="0" smtClean="0">
                            <a:latin typeface="Cambria Math"/>
                          </a:rPr>
                          <m:t>cos</m:t>
                        </m:r>
                      </m:fName>
                      <m:e>
                        <m:d>
                          <m:dPr>
                            <m:ctrlPr>
                              <a:rPr lang="en-US" altLang="zh-TW" sz="2400" b="0" i="1" smtClean="0">
                                <a:latin typeface="Cambria Math"/>
                              </a:rPr>
                            </m:ctrlPr>
                          </m:dPr>
                          <m:e>
                            <m:sSub>
                              <m:sSubPr>
                                <m:ctrlPr>
                                  <a:rPr lang="en-US" altLang="zh-TW" sz="2400" b="0" i="1" smtClean="0">
                                    <a:latin typeface="Cambria Math"/>
                                  </a:rPr>
                                </m:ctrlPr>
                              </m:sSubPr>
                              <m:e>
                                <m:r>
                                  <a:rPr lang="en-US" altLang="zh-TW" sz="2400" b="0" i="1" smtClean="0">
                                    <a:latin typeface="Cambria Math"/>
                                    <a:ea typeface="Cambria Math"/>
                                  </a:rPr>
                                  <m:t>𝜔</m:t>
                                </m:r>
                              </m:e>
                              <m:sub>
                                <m:r>
                                  <a:rPr lang="en-US" altLang="zh-TW" sz="2400" b="0" i="1" smtClean="0">
                                    <a:latin typeface="Cambria Math"/>
                                  </a:rPr>
                                  <m:t>0</m:t>
                                </m:r>
                              </m:sub>
                            </m:sSub>
                            <m:r>
                              <a:rPr lang="en-US" altLang="zh-TW" sz="2400" b="0" i="1" smtClean="0">
                                <a:latin typeface="Cambria Math"/>
                              </a:rPr>
                              <m:t>𝑡</m:t>
                            </m:r>
                            <m:r>
                              <a:rPr lang="en-US" altLang="zh-TW" sz="2400" b="0" i="1" smtClean="0">
                                <a:latin typeface="Cambria Math"/>
                              </a:rPr>
                              <m:t>+</m:t>
                            </m:r>
                            <m:r>
                              <a:rPr lang="en-US" altLang="zh-TW" sz="2400" b="0" i="1" smtClean="0">
                                <a:latin typeface="Cambria Math"/>
                                <a:ea typeface="Cambria Math"/>
                              </a:rPr>
                              <m:t>𝜃</m:t>
                            </m:r>
                          </m:e>
                        </m:d>
                      </m:e>
                    </m:func>
                  </m:oMath>
                </a14:m>
                <a:r>
                  <a:rPr lang="zh-TW" altLang="en-US" sz="2400" dirty="0" smtClean="0"/>
                  <a:t>    </a:t>
                </a:r>
                <a:r>
                  <a:rPr lang="en-US" altLang="zh-TW" sz="2400" dirty="0" smtClean="0"/>
                  <a:t>(original signal)</a:t>
                </a:r>
              </a:p>
              <a:p>
                <a:pPr>
                  <a:lnSpc>
                    <a:spcPct val="120000"/>
                  </a:lnSpc>
                </a:pPr>
                <a14:m>
                  <m:oMath xmlns:m="http://schemas.openxmlformats.org/officeDocument/2006/math">
                    <m:acc>
                      <m:accPr>
                        <m:chr m:val="̂"/>
                        <m:ctrlPr>
                          <a:rPr lang="zh-TW" altLang="en-US" sz="2400" i="1" smtClean="0">
                            <a:latin typeface="Cambria Math"/>
                          </a:rPr>
                        </m:ctrlPr>
                      </m:accPr>
                      <m:e>
                        <m:r>
                          <a:rPr lang="en-US" altLang="zh-TW" sz="2400" b="0" i="1" smtClean="0">
                            <a:latin typeface="Cambria Math"/>
                          </a:rPr>
                          <m:t>𝑥</m:t>
                        </m:r>
                        <m:r>
                          <a:rPr lang="en-US" altLang="zh-TW" sz="2400" b="0" i="1" smtClean="0">
                            <a:latin typeface="Cambria Math"/>
                          </a:rPr>
                          <m:t>(</m:t>
                        </m:r>
                        <m:r>
                          <a:rPr lang="en-US" altLang="zh-TW" sz="2400" b="0" i="1" smtClean="0">
                            <a:latin typeface="Cambria Math"/>
                          </a:rPr>
                          <m:t>𝑡</m:t>
                        </m:r>
                        <m:r>
                          <a:rPr lang="en-US" altLang="zh-TW" sz="2400" b="0" i="1" smtClean="0">
                            <a:latin typeface="Cambria Math"/>
                          </a:rPr>
                          <m:t>)</m:t>
                        </m:r>
                      </m:e>
                    </m:acc>
                    <m:r>
                      <a:rPr lang="en-US" altLang="zh-TW" sz="2400" b="0" i="1" smtClean="0">
                        <a:latin typeface="Cambria Math"/>
                      </a:rPr>
                      <m:t>=</m:t>
                    </m:r>
                    <m:r>
                      <m:rPr>
                        <m:sty m:val="p"/>
                      </m:rPr>
                      <a:rPr lang="en-US" altLang="zh-TW" sz="2400" b="0" i="0" smtClean="0">
                        <a:latin typeface="Cambria Math"/>
                      </a:rPr>
                      <m:t>sin</m:t>
                    </m:r>
                    <m:r>
                      <a:rPr lang="en-US" altLang="zh-TW" sz="2400" b="0" i="1" smtClean="0">
                        <a:latin typeface="Cambria Math"/>
                      </a:rPr>
                      <m:t>⁡(</m:t>
                    </m:r>
                    <m:sSub>
                      <m:sSubPr>
                        <m:ctrlPr>
                          <a:rPr lang="en-US" altLang="zh-TW" sz="2400" i="1">
                            <a:latin typeface="Cambria Math"/>
                          </a:rPr>
                        </m:ctrlPr>
                      </m:sSubPr>
                      <m:e>
                        <m:r>
                          <a:rPr lang="en-US" altLang="zh-TW" sz="2400" i="1">
                            <a:latin typeface="Cambria Math"/>
                            <a:ea typeface="Cambria Math"/>
                          </a:rPr>
                          <m:t>𝜔</m:t>
                        </m:r>
                      </m:e>
                      <m:sub>
                        <m:r>
                          <a:rPr lang="en-US" altLang="zh-TW" sz="2400" i="1">
                            <a:latin typeface="Cambria Math"/>
                          </a:rPr>
                          <m:t>0</m:t>
                        </m:r>
                      </m:sub>
                    </m:sSub>
                    <m:r>
                      <a:rPr lang="en-US" altLang="zh-TW" sz="2400" i="1">
                        <a:latin typeface="Cambria Math"/>
                      </a:rPr>
                      <m:t>𝑡</m:t>
                    </m:r>
                    <m:r>
                      <a:rPr lang="en-US" altLang="zh-TW" sz="2400" b="0" i="1" smtClean="0">
                        <a:latin typeface="Cambria Math"/>
                      </a:rPr>
                      <m:t>+</m:t>
                    </m:r>
                    <m:r>
                      <a:rPr lang="en-US" altLang="zh-TW" sz="2400" b="0" i="1" smtClean="0">
                        <a:latin typeface="Cambria Math"/>
                        <a:ea typeface="Cambria Math"/>
                      </a:rPr>
                      <m:t>𝜃</m:t>
                    </m:r>
                    <m:r>
                      <a:rPr lang="en-US" altLang="zh-TW" sz="2400" b="0" i="1" smtClean="0">
                        <a:latin typeface="Cambria Math"/>
                      </a:rPr>
                      <m:t>)</m:t>
                    </m:r>
                  </m:oMath>
                </a14:m>
                <a:r>
                  <a:rPr lang="zh-TW" altLang="en-US" sz="2400" dirty="0" smtClean="0"/>
                  <a:t>   </a:t>
                </a:r>
                <a:r>
                  <a:rPr lang="en-US" altLang="zh-TW" sz="2400" dirty="0" smtClean="0"/>
                  <a:t>(Hilbert transform of x(t))</a:t>
                </a:r>
              </a:p>
              <a:p>
                <a:pPr>
                  <a:lnSpc>
                    <a:spcPct val="120000"/>
                  </a:lnSpc>
                </a:pPr>
                <a:r>
                  <a:rPr lang="en-US" altLang="zh-TW" sz="2400" dirty="0" smtClean="0">
                    <a:solidFill>
                      <a:srgbClr val="FF0000"/>
                    </a:solidFill>
                  </a:rPr>
                  <a:t>Analytic signal:</a:t>
                </a:r>
                <a:endParaRPr lang="en-US" altLang="zh-TW" sz="2400" dirty="0" smtClean="0"/>
              </a:p>
              <a:p>
                <a:pPr>
                  <a:lnSpc>
                    <a:spcPct val="120000"/>
                  </a:lnSpc>
                </a:pPr>
                <a14:m>
                  <m:oMathPara xmlns:m="http://schemas.openxmlformats.org/officeDocument/2006/math">
                    <m:oMathParaPr>
                      <m:jc m:val="left"/>
                    </m:oMathParaPr>
                    <m:oMath xmlns:m="http://schemas.openxmlformats.org/officeDocument/2006/math">
                      <m:sSub>
                        <m:sSubPr>
                          <m:ctrlPr>
                            <a:rPr lang="en-US" altLang="zh-TW" sz="2400" i="1" smtClean="0">
                              <a:solidFill>
                                <a:schemeClr val="tx1"/>
                              </a:solidFill>
                              <a:latin typeface="Cambria Math"/>
                            </a:rPr>
                          </m:ctrlPr>
                        </m:sSubPr>
                        <m:e>
                          <m:r>
                            <a:rPr lang="en-US" altLang="zh-TW" sz="2400" b="0" i="1" smtClean="0">
                              <a:solidFill>
                                <a:schemeClr val="tx1"/>
                              </a:solidFill>
                              <a:latin typeface="Cambria Math"/>
                            </a:rPr>
                            <m:t>𝑥</m:t>
                          </m:r>
                        </m:e>
                        <m:sub>
                          <m:r>
                            <a:rPr lang="en-US" altLang="zh-TW" sz="2400" b="0" i="1" smtClean="0">
                              <a:solidFill>
                                <a:schemeClr val="tx1"/>
                              </a:solidFill>
                              <a:latin typeface="Cambria Math"/>
                            </a:rPr>
                            <m:t>𝑎</m:t>
                          </m:r>
                        </m:sub>
                      </m:sSub>
                      <m:d>
                        <m:dPr>
                          <m:ctrlPr>
                            <a:rPr lang="en-US" altLang="zh-TW" sz="2400" b="0" i="1" smtClean="0">
                              <a:solidFill>
                                <a:schemeClr val="tx1"/>
                              </a:solidFill>
                              <a:latin typeface="Cambria Math"/>
                            </a:rPr>
                          </m:ctrlPr>
                        </m:dPr>
                        <m:e>
                          <m:r>
                            <a:rPr lang="en-US" altLang="zh-TW" sz="2400" b="0" i="1" smtClean="0">
                              <a:solidFill>
                                <a:schemeClr val="tx1"/>
                              </a:solidFill>
                              <a:latin typeface="Cambria Math"/>
                            </a:rPr>
                            <m:t>𝑡</m:t>
                          </m:r>
                        </m:e>
                      </m:d>
                      <m:r>
                        <a:rPr lang="en-US" altLang="zh-TW" sz="2400" b="0" i="1" smtClean="0">
                          <a:solidFill>
                            <a:schemeClr val="tx1"/>
                          </a:solidFill>
                          <a:latin typeface="Cambria Math"/>
                        </a:rPr>
                        <m:t>=</m:t>
                      </m:r>
                      <m:func>
                        <m:funcPr>
                          <m:ctrlPr>
                            <a:rPr lang="en-US" altLang="zh-TW" sz="2400" i="1">
                              <a:solidFill>
                                <a:schemeClr val="tx1"/>
                              </a:solidFill>
                              <a:latin typeface="Cambria Math"/>
                            </a:rPr>
                          </m:ctrlPr>
                        </m:funcPr>
                        <m:fName>
                          <m:r>
                            <m:rPr>
                              <m:sty m:val="p"/>
                            </m:rPr>
                            <a:rPr lang="en-US" altLang="zh-TW" sz="2400">
                              <a:solidFill>
                                <a:schemeClr val="tx1"/>
                              </a:solidFill>
                              <a:latin typeface="Cambria Math"/>
                            </a:rPr>
                            <m:t>cos</m:t>
                          </m:r>
                        </m:fName>
                        <m:e>
                          <m:d>
                            <m:dPr>
                              <m:ctrlPr>
                                <a:rPr lang="en-US" altLang="zh-TW" sz="2400" i="1">
                                  <a:solidFill>
                                    <a:schemeClr val="tx1"/>
                                  </a:solidFill>
                                  <a:latin typeface="Cambria Math"/>
                                </a:rPr>
                              </m:ctrlPr>
                            </m:dPr>
                            <m:e>
                              <m:sSub>
                                <m:sSubPr>
                                  <m:ctrlPr>
                                    <a:rPr lang="en-US" altLang="zh-TW" sz="2400" i="1">
                                      <a:solidFill>
                                        <a:schemeClr val="tx1"/>
                                      </a:solidFill>
                                      <a:latin typeface="Cambria Math"/>
                                    </a:rPr>
                                  </m:ctrlPr>
                                </m:sSubPr>
                                <m:e>
                                  <m:r>
                                    <a:rPr lang="en-US" altLang="zh-TW" sz="2400" i="1">
                                      <a:solidFill>
                                        <a:schemeClr val="tx1"/>
                                      </a:solidFill>
                                      <a:latin typeface="Cambria Math"/>
                                      <a:ea typeface="Cambria Math"/>
                                    </a:rPr>
                                    <m:t>𝜔</m:t>
                                  </m:r>
                                </m:e>
                                <m:sub>
                                  <m:r>
                                    <a:rPr lang="en-US" altLang="zh-TW" sz="2400" i="1">
                                      <a:solidFill>
                                        <a:schemeClr val="tx1"/>
                                      </a:solidFill>
                                      <a:latin typeface="Cambria Math"/>
                                    </a:rPr>
                                    <m:t>0</m:t>
                                  </m:r>
                                </m:sub>
                              </m:sSub>
                              <m:r>
                                <a:rPr lang="en-US" altLang="zh-TW" sz="2400" i="1">
                                  <a:solidFill>
                                    <a:schemeClr val="tx1"/>
                                  </a:solidFill>
                                  <a:latin typeface="Cambria Math"/>
                                </a:rPr>
                                <m:t>𝑡</m:t>
                              </m:r>
                              <m:r>
                                <a:rPr lang="en-US" altLang="zh-TW" sz="2400" b="0" i="1" smtClean="0">
                                  <a:solidFill>
                                    <a:schemeClr val="tx1"/>
                                  </a:solidFill>
                                  <a:latin typeface="Cambria Math"/>
                                </a:rPr>
                                <m:t>+</m:t>
                              </m:r>
                              <m:r>
                                <a:rPr lang="en-US" altLang="zh-TW" sz="2400" b="0" i="1" smtClean="0">
                                  <a:solidFill>
                                    <a:schemeClr val="tx1"/>
                                  </a:solidFill>
                                  <a:latin typeface="Cambria Math"/>
                                  <a:ea typeface="Cambria Math"/>
                                </a:rPr>
                                <m:t>𝜃</m:t>
                              </m:r>
                            </m:e>
                          </m:d>
                        </m:e>
                      </m:func>
                      <m:r>
                        <a:rPr lang="en-US" altLang="zh-TW" sz="2400" b="0" i="0" smtClean="0">
                          <a:solidFill>
                            <a:schemeClr val="tx1"/>
                          </a:solidFill>
                          <a:latin typeface="Cambria Math"/>
                        </a:rPr>
                        <m:t>+</m:t>
                      </m:r>
                      <m:func>
                        <m:funcPr>
                          <m:ctrlPr>
                            <a:rPr lang="en-US" altLang="zh-TW" sz="2400" b="0" i="1" smtClean="0">
                              <a:solidFill>
                                <a:schemeClr val="tx1"/>
                              </a:solidFill>
                              <a:latin typeface="Cambria Math"/>
                            </a:rPr>
                          </m:ctrlPr>
                        </m:funcPr>
                        <m:fName>
                          <m:r>
                            <m:rPr>
                              <m:sty m:val="p"/>
                            </m:rPr>
                            <a:rPr lang="en-US" altLang="zh-TW" sz="2400" b="0" i="0" smtClean="0">
                              <a:solidFill>
                                <a:schemeClr val="tx1"/>
                              </a:solidFill>
                              <a:latin typeface="Cambria Math"/>
                            </a:rPr>
                            <m:t>i</m:t>
                          </m:r>
                          <m:r>
                            <m:rPr>
                              <m:sty m:val="p"/>
                            </m:rPr>
                            <a:rPr lang="en-US" altLang="zh-TW" sz="2400">
                              <a:solidFill>
                                <a:schemeClr val="tx1"/>
                              </a:solidFill>
                              <a:latin typeface="Cambria Math"/>
                            </a:rPr>
                            <m:t>sin</m:t>
                          </m:r>
                        </m:fName>
                        <m:e>
                          <m:d>
                            <m:dPr>
                              <m:ctrlPr>
                                <a:rPr lang="en-US" altLang="zh-TW" sz="2400" i="1">
                                  <a:solidFill>
                                    <a:schemeClr val="tx1"/>
                                  </a:solidFill>
                                  <a:latin typeface="Cambria Math"/>
                                </a:rPr>
                              </m:ctrlPr>
                            </m:dPr>
                            <m:e>
                              <m:sSub>
                                <m:sSubPr>
                                  <m:ctrlPr>
                                    <a:rPr lang="en-US" altLang="zh-TW" sz="2400" i="1">
                                      <a:solidFill>
                                        <a:schemeClr val="tx1"/>
                                      </a:solidFill>
                                      <a:latin typeface="Cambria Math"/>
                                    </a:rPr>
                                  </m:ctrlPr>
                                </m:sSubPr>
                                <m:e>
                                  <m:r>
                                    <a:rPr lang="en-US" altLang="zh-TW" sz="2400" i="1">
                                      <a:solidFill>
                                        <a:schemeClr val="tx1"/>
                                      </a:solidFill>
                                      <a:latin typeface="Cambria Math"/>
                                      <a:ea typeface="Cambria Math"/>
                                    </a:rPr>
                                    <m:t>𝜔</m:t>
                                  </m:r>
                                </m:e>
                                <m:sub>
                                  <m:r>
                                    <a:rPr lang="en-US" altLang="zh-TW" sz="2400" i="1">
                                      <a:solidFill>
                                        <a:schemeClr val="tx1"/>
                                      </a:solidFill>
                                      <a:latin typeface="Cambria Math"/>
                                    </a:rPr>
                                    <m:t>0</m:t>
                                  </m:r>
                                </m:sub>
                              </m:sSub>
                              <m:r>
                                <a:rPr lang="en-US" altLang="zh-TW" sz="2400" i="1">
                                  <a:solidFill>
                                    <a:schemeClr val="tx1"/>
                                  </a:solidFill>
                                  <a:latin typeface="Cambria Math"/>
                                </a:rPr>
                                <m:t>𝑡</m:t>
                              </m:r>
                              <m:r>
                                <a:rPr lang="en-US" altLang="zh-TW" sz="2400" b="0" i="1" smtClean="0">
                                  <a:solidFill>
                                    <a:schemeClr val="tx1"/>
                                  </a:solidFill>
                                  <a:latin typeface="Cambria Math"/>
                                </a:rPr>
                                <m:t>+</m:t>
                              </m:r>
                              <m:r>
                                <a:rPr lang="en-US" altLang="zh-TW" sz="2400" b="0" i="1" smtClean="0">
                                  <a:solidFill>
                                    <a:schemeClr val="tx1"/>
                                  </a:solidFill>
                                  <a:latin typeface="Cambria Math"/>
                                  <a:ea typeface="Cambria Math"/>
                                </a:rPr>
                                <m:t>𝜃</m:t>
                              </m:r>
                            </m:e>
                          </m:d>
                        </m:e>
                      </m:func>
                      <m:r>
                        <a:rPr lang="en-US" altLang="zh-TW" sz="2400" b="0" i="1" smtClean="0">
                          <a:solidFill>
                            <a:schemeClr val="tx1"/>
                          </a:solidFill>
                          <a:latin typeface="Cambria Math"/>
                        </a:rPr>
                        <m:t>=</m:t>
                      </m:r>
                      <m:sSup>
                        <m:sSupPr>
                          <m:ctrlPr>
                            <a:rPr lang="en-US" altLang="zh-TW" sz="2400" b="0" i="1" smtClean="0">
                              <a:solidFill>
                                <a:schemeClr val="tx1"/>
                              </a:solidFill>
                              <a:latin typeface="Cambria Math"/>
                            </a:rPr>
                          </m:ctrlPr>
                        </m:sSupPr>
                        <m:e>
                          <m:r>
                            <a:rPr lang="en-US" altLang="zh-TW" sz="2400" b="0" i="1" smtClean="0">
                              <a:solidFill>
                                <a:schemeClr val="tx1"/>
                              </a:solidFill>
                              <a:latin typeface="Cambria Math"/>
                            </a:rPr>
                            <m:t>𝑒</m:t>
                          </m:r>
                        </m:e>
                        <m:sup>
                          <m:r>
                            <a:rPr lang="en-US" altLang="zh-TW" sz="2400" b="0" i="1" smtClean="0">
                              <a:solidFill>
                                <a:schemeClr val="tx1"/>
                              </a:solidFill>
                              <a:latin typeface="Cambria Math"/>
                            </a:rPr>
                            <m:t>𝑖</m:t>
                          </m:r>
                          <m:sSub>
                            <m:sSubPr>
                              <m:ctrlPr>
                                <a:rPr lang="en-US" altLang="zh-TW" sz="2400" i="1">
                                  <a:solidFill>
                                    <a:schemeClr val="tx1"/>
                                  </a:solidFill>
                                  <a:latin typeface="Cambria Math"/>
                                </a:rPr>
                              </m:ctrlPr>
                            </m:sSubPr>
                            <m:e>
                              <m:r>
                                <a:rPr lang="en-US" altLang="zh-TW" sz="2400" b="0" i="1" smtClean="0">
                                  <a:solidFill>
                                    <a:schemeClr val="tx1"/>
                                  </a:solidFill>
                                  <a:latin typeface="Cambria Math"/>
                                </a:rPr>
                                <m:t>(</m:t>
                              </m:r>
                              <m:r>
                                <a:rPr lang="en-US" altLang="zh-TW" sz="2400" i="1">
                                  <a:solidFill>
                                    <a:schemeClr val="tx1"/>
                                  </a:solidFill>
                                  <a:latin typeface="Cambria Math"/>
                                  <a:ea typeface="Cambria Math"/>
                                </a:rPr>
                                <m:t>𝜔</m:t>
                              </m:r>
                            </m:e>
                            <m:sub>
                              <m:r>
                                <a:rPr lang="en-US" altLang="zh-TW" sz="2400" i="1">
                                  <a:solidFill>
                                    <a:schemeClr val="tx1"/>
                                  </a:solidFill>
                                  <a:latin typeface="Cambria Math"/>
                                </a:rPr>
                                <m:t>0</m:t>
                              </m:r>
                            </m:sub>
                          </m:sSub>
                          <m:r>
                            <a:rPr lang="en-US" altLang="zh-TW" sz="2400" b="0" i="1" smtClean="0">
                              <a:solidFill>
                                <a:schemeClr val="tx1"/>
                              </a:solidFill>
                              <a:latin typeface="Cambria Math"/>
                            </a:rPr>
                            <m:t>+</m:t>
                          </m:r>
                          <m:r>
                            <a:rPr lang="en-US" altLang="zh-TW" sz="2400" b="0" i="1" smtClean="0">
                              <a:solidFill>
                                <a:schemeClr val="tx1"/>
                              </a:solidFill>
                              <a:latin typeface="Cambria Math"/>
                              <a:ea typeface="Cambria Math"/>
                            </a:rPr>
                            <m:t>𝜃</m:t>
                          </m:r>
                          <m:r>
                            <a:rPr lang="en-US" altLang="zh-TW" sz="2400" b="0" i="1" smtClean="0">
                              <a:solidFill>
                                <a:schemeClr val="tx1"/>
                              </a:solidFill>
                              <a:latin typeface="Cambria Math"/>
                              <a:ea typeface="Cambria Math"/>
                            </a:rPr>
                            <m:t>)</m:t>
                          </m:r>
                          <m:r>
                            <a:rPr lang="en-US" altLang="zh-TW" sz="2400" i="1">
                              <a:solidFill>
                                <a:schemeClr val="tx1"/>
                              </a:solidFill>
                              <a:latin typeface="Cambria Math"/>
                            </a:rPr>
                            <m:t>𝑡</m:t>
                          </m:r>
                        </m:sup>
                      </m:sSup>
                    </m:oMath>
                  </m:oMathPara>
                </a14:m>
                <a:endParaRPr lang="en-US" altLang="zh-TW" sz="2400" dirty="0" smtClean="0">
                  <a:solidFill>
                    <a:srgbClr val="FF0000"/>
                  </a:solidFill>
                </a:endParaRPr>
              </a:p>
              <a:p>
                <a:pPr>
                  <a:lnSpc>
                    <a:spcPct val="120000"/>
                  </a:lnSpc>
                </a:pPr>
                <a:r>
                  <a:rPr lang="en-US" altLang="zh-TW" sz="2400" dirty="0" smtClean="0">
                    <a:solidFill>
                      <a:srgbClr val="FF0000"/>
                    </a:solidFill>
                  </a:rPr>
                  <a:t>Instantaneous angle:</a:t>
                </a:r>
              </a:p>
              <a:p>
                <a:pPr>
                  <a:lnSpc>
                    <a:spcPct val="120000"/>
                  </a:lnSpc>
                </a:pPr>
                <a14:m>
                  <m:oMathPara xmlns:m="http://schemas.openxmlformats.org/officeDocument/2006/math">
                    <m:oMathParaPr>
                      <m:jc m:val="left"/>
                    </m:oMathParaPr>
                    <m:oMath xmlns:m="http://schemas.openxmlformats.org/officeDocument/2006/math">
                      <m:r>
                        <a:rPr lang="en-US" altLang="zh-TW" sz="2400" i="1" smtClean="0">
                          <a:latin typeface="Cambria Math"/>
                          <a:ea typeface="Cambria Math"/>
                        </a:rPr>
                        <m:t>𝜑</m:t>
                      </m:r>
                      <m:d>
                        <m:dPr>
                          <m:ctrlPr>
                            <a:rPr lang="en-US" altLang="zh-TW" sz="2400" b="0" i="1" smtClean="0">
                              <a:latin typeface="Cambria Math"/>
                              <a:ea typeface="Cambria Math"/>
                            </a:rPr>
                          </m:ctrlPr>
                        </m:dPr>
                        <m:e>
                          <m:r>
                            <a:rPr lang="en-US" altLang="zh-TW" sz="2400" b="0" i="1" smtClean="0">
                              <a:latin typeface="Cambria Math"/>
                              <a:ea typeface="Cambria Math"/>
                            </a:rPr>
                            <m:t>𝑡</m:t>
                          </m:r>
                        </m:e>
                      </m:d>
                      <m:r>
                        <a:rPr lang="en-US" altLang="zh-TW" sz="2400" b="0" i="1" smtClean="0">
                          <a:latin typeface="Cambria Math"/>
                          <a:ea typeface="Cambria Math"/>
                        </a:rPr>
                        <m:t>=</m:t>
                      </m:r>
                      <m:sSup>
                        <m:sSupPr>
                          <m:ctrlPr>
                            <a:rPr lang="en-US" altLang="zh-TW" sz="2400" b="0" i="1" smtClean="0">
                              <a:latin typeface="Cambria Math"/>
                              <a:ea typeface="Cambria Math"/>
                            </a:rPr>
                          </m:ctrlPr>
                        </m:sSupPr>
                        <m:e>
                          <m:r>
                            <a:rPr lang="en-US" altLang="zh-TW" sz="2400" b="0" i="1" smtClean="0">
                              <a:latin typeface="Cambria Math"/>
                              <a:ea typeface="Cambria Math"/>
                            </a:rPr>
                            <m:t>𝑡𝑎𝑛</m:t>
                          </m:r>
                        </m:e>
                        <m:sup>
                          <m:r>
                            <a:rPr lang="en-US" altLang="zh-TW" sz="2400" b="0" i="1" smtClean="0">
                              <a:latin typeface="Cambria Math"/>
                              <a:ea typeface="Cambria Math"/>
                            </a:rPr>
                            <m:t>−1</m:t>
                          </m:r>
                        </m:sup>
                      </m:sSup>
                      <m:d>
                        <m:dPr>
                          <m:ctrlPr>
                            <a:rPr lang="en-US" altLang="zh-TW" sz="2400" b="0" i="1" smtClean="0">
                              <a:latin typeface="Cambria Math"/>
                              <a:ea typeface="Cambria Math"/>
                            </a:rPr>
                          </m:ctrlPr>
                        </m:dPr>
                        <m:e>
                          <m:sSub>
                            <m:sSubPr>
                              <m:ctrlPr>
                                <a:rPr lang="en-US" altLang="zh-TW" sz="2400" b="0" i="1" smtClean="0">
                                  <a:latin typeface="Cambria Math"/>
                                  <a:ea typeface="Cambria Math"/>
                                </a:rPr>
                              </m:ctrlPr>
                            </m:sSubPr>
                            <m:e>
                              <m:r>
                                <a:rPr lang="en-US" altLang="zh-TW" sz="2400" b="0" i="1" smtClean="0">
                                  <a:latin typeface="Cambria Math"/>
                                  <a:ea typeface="Cambria Math"/>
                                </a:rPr>
                                <m:t>𝑥</m:t>
                              </m:r>
                            </m:e>
                            <m:sub>
                              <m:r>
                                <a:rPr lang="en-US" altLang="zh-TW" sz="2400" b="0" i="1" smtClean="0">
                                  <a:latin typeface="Cambria Math"/>
                                  <a:ea typeface="Cambria Math"/>
                                </a:rPr>
                                <m:t>𝑎</m:t>
                              </m:r>
                            </m:sub>
                          </m:sSub>
                          <m:d>
                            <m:dPr>
                              <m:ctrlPr>
                                <a:rPr lang="en-US" altLang="zh-TW" sz="2400" b="0" i="1" smtClean="0">
                                  <a:latin typeface="Cambria Math"/>
                                  <a:ea typeface="Cambria Math"/>
                                </a:rPr>
                              </m:ctrlPr>
                            </m:dPr>
                            <m:e>
                              <m:r>
                                <a:rPr lang="en-US" altLang="zh-TW" sz="2400" b="0" i="1" smtClean="0">
                                  <a:latin typeface="Cambria Math"/>
                                  <a:ea typeface="Cambria Math"/>
                                </a:rPr>
                                <m:t>𝑡</m:t>
                              </m:r>
                            </m:e>
                          </m:d>
                        </m:e>
                      </m:d>
                      <m:r>
                        <a:rPr lang="en-US" altLang="zh-TW" sz="2400" b="0" i="0" smtClean="0">
                          <a:latin typeface="Cambria Math"/>
                          <a:ea typeface="Cambria Math"/>
                        </a:rPr>
                        <m:t>=</m:t>
                      </m:r>
                      <m:sSub>
                        <m:sSubPr>
                          <m:ctrlPr>
                            <a:rPr lang="en-US" altLang="zh-TW" sz="2400" b="0" i="1" smtClean="0">
                              <a:latin typeface="Cambria Math"/>
                              <a:ea typeface="Cambria Math"/>
                            </a:rPr>
                          </m:ctrlPr>
                        </m:sSubPr>
                        <m:e>
                          <m:r>
                            <a:rPr lang="en-US" altLang="zh-TW" sz="2400" b="0" i="1" smtClean="0">
                              <a:latin typeface="Cambria Math"/>
                              <a:ea typeface="Cambria Math"/>
                            </a:rPr>
                            <m:t>𝜔</m:t>
                          </m:r>
                        </m:e>
                        <m:sub>
                          <m:r>
                            <a:rPr lang="en-US" altLang="zh-TW" sz="2400" b="0" i="1" smtClean="0">
                              <a:latin typeface="Cambria Math"/>
                              <a:ea typeface="Cambria Math"/>
                            </a:rPr>
                            <m:t>0</m:t>
                          </m:r>
                        </m:sub>
                      </m:sSub>
                      <m:r>
                        <a:rPr lang="en-US" altLang="zh-TW" sz="2400" b="0" i="1" smtClean="0">
                          <a:latin typeface="Cambria Math"/>
                          <a:ea typeface="Cambria Math"/>
                        </a:rPr>
                        <m:t>𝑡</m:t>
                      </m:r>
                      <m:r>
                        <a:rPr lang="en-US" altLang="zh-TW" sz="2400" b="0" i="1" smtClean="0">
                          <a:latin typeface="Cambria Math"/>
                          <a:ea typeface="Cambria Math"/>
                        </a:rPr>
                        <m:t>+</m:t>
                      </m:r>
                      <m:r>
                        <a:rPr lang="en-US" altLang="zh-TW" sz="2400" b="0" i="1" smtClean="0">
                          <a:latin typeface="Cambria Math"/>
                          <a:ea typeface="Cambria Math"/>
                        </a:rPr>
                        <m:t>𝜃</m:t>
                      </m:r>
                    </m:oMath>
                  </m:oMathPara>
                </a14:m>
                <a:endParaRPr lang="en-US" altLang="zh-TW" sz="2400" dirty="0" smtClean="0"/>
              </a:p>
              <a:p>
                <a:pPr>
                  <a:lnSpc>
                    <a:spcPct val="120000"/>
                  </a:lnSpc>
                </a:pPr>
                <a:r>
                  <a:rPr lang="en-US" altLang="zh-TW" sz="2400" dirty="0" smtClean="0">
                    <a:solidFill>
                      <a:srgbClr val="FF0000"/>
                    </a:solidFill>
                  </a:rPr>
                  <a:t>Instantaneous angular frequency:</a:t>
                </a:r>
              </a:p>
              <a:p>
                <a:pPr>
                  <a:lnSpc>
                    <a:spcPct val="120000"/>
                  </a:lnSpc>
                </a:pPr>
                <a14:m>
                  <m:oMathPara xmlns:m="http://schemas.openxmlformats.org/officeDocument/2006/math">
                    <m:oMathParaPr>
                      <m:jc m:val="left"/>
                    </m:oMathParaPr>
                    <m:oMath xmlns:m="http://schemas.openxmlformats.org/officeDocument/2006/math">
                      <m:r>
                        <a:rPr lang="en-US" altLang="zh-TW" sz="2400" i="1" smtClean="0">
                          <a:latin typeface="Cambria Math"/>
                          <a:ea typeface="Cambria Math"/>
                        </a:rPr>
                        <m:t>𝜔</m:t>
                      </m:r>
                      <m:d>
                        <m:dPr>
                          <m:ctrlPr>
                            <a:rPr lang="en-US" altLang="zh-TW" sz="2400" b="0" i="1" smtClean="0">
                              <a:latin typeface="Cambria Math"/>
                              <a:ea typeface="Cambria Math"/>
                            </a:rPr>
                          </m:ctrlPr>
                        </m:dPr>
                        <m:e>
                          <m:r>
                            <a:rPr lang="en-US" altLang="zh-TW" sz="2400" b="0" i="1" smtClean="0">
                              <a:latin typeface="Cambria Math"/>
                              <a:ea typeface="Cambria Math"/>
                            </a:rPr>
                            <m:t>𝑡</m:t>
                          </m:r>
                        </m:e>
                      </m:d>
                      <m:r>
                        <a:rPr lang="en-US" altLang="zh-TW" sz="2400" b="0" i="1" smtClean="0">
                          <a:latin typeface="Cambria Math"/>
                          <a:ea typeface="Cambria Math"/>
                        </a:rPr>
                        <m:t>=</m:t>
                      </m:r>
                      <m:f>
                        <m:fPr>
                          <m:ctrlPr>
                            <a:rPr lang="en-US" altLang="zh-TW" sz="2400" b="0" i="1" smtClean="0">
                              <a:latin typeface="Cambria Math"/>
                              <a:ea typeface="Cambria Math"/>
                            </a:rPr>
                          </m:ctrlPr>
                        </m:fPr>
                        <m:num>
                          <m:r>
                            <a:rPr lang="en-US" altLang="zh-TW" sz="2400" b="0" i="1" smtClean="0">
                              <a:latin typeface="Cambria Math"/>
                              <a:ea typeface="Cambria Math"/>
                            </a:rPr>
                            <m:t>𝑑</m:t>
                          </m:r>
                          <m:r>
                            <a:rPr lang="en-US" altLang="zh-TW" sz="2400" i="1">
                              <a:latin typeface="Cambria Math"/>
                              <a:ea typeface="Cambria Math"/>
                            </a:rPr>
                            <m:t>𝜑</m:t>
                          </m:r>
                          <m:d>
                            <m:dPr>
                              <m:ctrlPr>
                                <a:rPr lang="en-US" altLang="zh-TW" sz="2400" i="1">
                                  <a:latin typeface="Cambria Math"/>
                                  <a:ea typeface="Cambria Math"/>
                                </a:rPr>
                              </m:ctrlPr>
                            </m:dPr>
                            <m:e>
                              <m:r>
                                <a:rPr lang="en-US" altLang="zh-TW" sz="2400" i="1">
                                  <a:latin typeface="Cambria Math"/>
                                  <a:ea typeface="Cambria Math"/>
                                </a:rPr>
                                <m:t>𝑡</m:t>
                              </m:r>
                            </m:e>
                          </m:d>
                        </m:num>
                        <m:den>
                          <m:r>
                            <a:rPr lang="en-US" altLang="zh-TW" sz="2400" b="0" i="1" smtClean="0">
                              <a:latin typeface="Cambria Math"/>
                              <a:ea typeface="Cambria Math"/>
                            </a:rPr>
                            <m:t>𝑑𝑡</m:t>
                          </m:r>
                        </m:den>
                      </m:f>
                      <m:r>
                        <a:rPr lang="en-US" altLang="zh-TW" sz="2400" b="0" i="1" smtClean="0">
                          <a:latin typeface="Cambria Math"/>
                          <a:ea typeface="Cambria Math"/>
                        </a:rPr>
                        <m:t>=</m:t>
                      </m:r>
                      <m:sSub>
                        <m:sSubPr>
                          <m:ctrlPr>
                            <a:rPr lang="en-US" altLang="zh-TW" sz="2400" b="0" i="1" smtClean="0">
                              <a:latin typeface="Cambria Math"/>
                              <a:ea typeface="Cambria Math"/>
                            </a:rPr>
                          </m:ctrlPr>
                        </m:sSubPr>
                        <m:e>
                          <m:r>
                            <a:rPr lang="en-US" altLang="zh-TW" sz="2400" b="0" i="1" smtClean="0">
                              <a:latin typeface="Cambria Math"/>
                              <a:ea typeface="Cambria Math"/>
                            </a:rPr>
                            <m:t>𝜔</m:t>
                          </m:r>
                        </m:e>
                        <m:sub>
                          <m:r>
                            <a:rPr lang="en-US" altLang="zh-TW" sz="2400" b="0" i="1" smtClean="0">
                              <a:latin typeface="Cambria Math"/>
                              <a:ea typeface="Cambria Math"/>
                            </a:rPr>
                            <m:t>0</m:t>
                          </m:r>
                        </m:sub>
                      </m:sSub>
                    </m:oMath>
                  </m:oMathPara>
                </a14:m>
                <a:endParaRPr lang="en-US" altLang="zh-TW" sz="2400" dirty="0" smtClean="0"/>
              </a:p>
              <a:p>
                <a:pPr>
                  <a:lnSpc>
                    <a:spcPct val="120000"/>
                  </a:lnSpc>
                </a:pPr>
                <a:r>
                  <a:rPr lang="en-US" altLang="zh-TW" sz="2400" dirty="0" smtClean="0">
                    <a:solidFill>
                      <a:srgbClr val="FF0000"/>
                    </a:solidFill>
                  </a:rPr>
                  <a:t>Instantaneous frequency:</a:t>
                </a:r>
              </a:p>
              <a:p>
                <a:pPr>
                  <a:lnSpc>
                    <a:spcPct val="120000"/>
                  </a:lnSpc>
                </a:pPr>
                <a:r>
                  <a:rPr lang="en-US" altLang="zh-TW" sz="2400" dirty="0" smtClean="0">
                    <a:ea typeface="Cambria Math"/>
                  </a:rPr>
                  <a:t>f</a:t>
                </a:r>
                <a14:m>
                  <m:oMath xmlns:m="http://schemas.openxmlformats.org/officeDocument/2006/math">
                    <m:d>
                      <m:dPr>
                        <m:ctrlPr>
                          <a:rPr lang="en-US" altLang="zh-TW" sz="2400" i="1">
                            <a:latin typeface="Cambria Math"/>
                            <a:ea typeface="Cambria Math"/>
                          </a:rPr>
                        </m:ctrlPr>
                      </m:dPr>
                      <m:e>
                        <m:r>
                          <a:rPr lang="en-US" altLang="zh-TW" sz="2400" i="1">
                            <a:latin typeface="Cambria Math"/>
                            <a:ea typeface="Cambria Math"/>
                          </a:rPr>
                          <m:t>𝑡</m:t>
                        </m:r>
                      </m:e>
                    </m:d>
                    <m:r>
                      <a:rPr lang="en-US" altLang="zh-TW" sz="2400" i="1">
                        <a:latin typeface="Cambria Math"/>
                        <a:ea typeface="Cambria Math"/>
                      </a:rPr>
                      <m:t>=</m:t>
                    </m:r>
                    <m:f>
                      <m:fPr>
                        <m:ctrlPr>
                          <a:rPr lang="en-US" altLang="zh-TW" sz="2400" i="1" smtClean="0">
                            <a:latin typeface="Cambria Math"/>
                            <a:ea typeface="Cambria Math"/>
                          </a:rPr>
                        </m:ctrlPr>
                      </m:fPr>
                      <m:num>
                        <m:r>
                          <a:rPr lang="en-US" altLang="zh-TW" sz="2400" b="0" i="1" smtClean="0">
                            <a:latin typeface="Cambria Math"/>
                            <a:ea typeface="Cambria Math"/>
                          </a:rPr>
                          <m:t>1</m:t>
                        </m:r>
                      </m:num>
                      <m:den>
                        <m:r>
                          <a:rPr lang="en-US" altLang="zh-TW" sz="2400" b="0" i="1" smtClean="0">
                            <a:latin typeface="Cambria Math"/>
                            <a:ea typeface="Cambria Math"/>
                          </a:rPr>
                          <m:t>2</m:t>
                        </m:r>
                        <m:r>
                          <a:rPr lang="en-US" altLang="zh-TW" sz="2400" b="0" i="1" smtClean="0">
                            <a:latin typeface="Cambria Math"/>
                            <a:ea typeface="Cambria Math"/>
                          </a:rPr>
                          <m:t>𝜋</m:t>
                        </m:r>
                      </m:den>
                    </m:f>
                    <m:f>
                      <m:fPr>
                        <m:ctrlPr>
                          <a:rPr lang="en-US" altLang="zh-TW" sz="2400" i="1">
                            <a:latin typeface="Cambria Math"/>
                            <a:ea typeface="Cambria Math"/>
                          </a:rPr>
                        </m:ctrlPr>
                      </m:fPr>
                      <m:num>
                        <m:r>
                          <a:rPr lang="en-US" altLang="zh-TW" sz="2400" i="1">
                            <a:latin typeface="Cambria Math"/>
                            <a:ea typeface="Cambria Math"/>
                          </a:rPr>
                          <m:t>𝑑</m:t>
                        </m:r>
                        <m:r>
                          <a:rPr lang="en-US" altLang="zh-TW" sz="2400" i="1">
                            <a:latin typeface="Cambria Math"/>
                            <a:ea typeface="Cambria Math"/>
                          </a:rPr>
                          <m:t>𝜑</m:t>
                        </m:r>
                        <m:d>
                          <m:dPr>
                            <m:ctrlPr>
                              <a:rPr lang="en-US" altLang="zh-TW" sz="2400" i="1">
                                <a:latin typeface="Cambria Math"/>
                                <a:ea typeface="Cambria Math"/>
                              </a:rPr>
                            </m:ctrlPr>
                          </m:dPr>
                          <m:e>
                            <m:r>
                              <a:rPr lang="en-US" altLang="zh-TW" sz="2400" i="1">
                                <a:latin typeface="Cambria Math"/>
                                <a:ea typeface="Cambria Math"/>
                              </a:rPr>
                              <m:t>𝑡</m:t>
                            </m:r>
                          </m:e>
                        </m:d>
                      </m:num>
                      <m:den>
                        <m:r>
                          <a:rPr lang="en-US" altLang="zh-TW" sz="2400" i="1">
                            <a:latin typeface="Cambria Math"/>
                            <a:ea typeface="Cambria Math"/>
                          </a:rPr>
                          <m:t>𝑑𝑡</m:t>
                        </m:r>
                      </m:den>
                    </m:f>
                    <m:r>
                      <a:rPr lang="en-US" altLang="zh-TW" sz="2400" i="1">
                        <a:latin typeface="Cambria Math"/>
                        <a:ea typeface="Cambria Math"/>
                      </a:rPr>
                      <m:t>=</m:t>
                    </m:r>
                    <m:f>
                      <m:fPr>
                        <m:ctrlPr>
                          <a:rPr lang="en-US" altLang="zh-TW" sz="2400" i="1" smtClean="0">
                            <a:latin typeface="Cambria Math"/>
                            <a:ea typeface="Cambria Math"/>
                          </a:rPr>
                        </m:ctrlPr>
                      </m:fPr>
                      <m:num>
                        <m:sSub>
                          <m:sSubPr>
                            <m:ctrlPr>
                              <a:rPr lang="en-US" altLang="zh-TW" sz="2400" i="1">
                                <a:latin typeface="Cambria Math"/>
                                <a:ea typeface="Cambria Math"/>
                              </a:rPr>
                            </m:ctrlPr>
                          </m:sSubPr>
                          <m:e>
                            <m:r>
                              <a:rPr lang="en-US" altLang="zh-TW" sz="2400" i="1">
                                <a:latin typeface="Cambria Math"/>
                                <a:ea typeface="Cambria Math"/>
                              </a:rPr>
                              <m:t>𝜔</m:t>
                            </m:r>
                          </m:e>
                          <m:sub>
                            <m:r>
                              <a:rPr lang="en-US" altLang="zh-TW" sz="2400" i="1">
                                <a:latin typeface="Cambria Math"/>
                                <a:ea typeface="Cambria Math"/>
                              </a:rPr>
                              <m:t>0</m:t>
                            </m:r>
                          </m:sub>
                        </m:sSub>
                      </m:num>
                      <m:den>
                        <m:r>
                          <a:rPr lang="en-US" altLang="zh-TW" sz="2400" i="1">
                            <a:latin typeface="Cambria Math"/>
                            <a:ea typeface="Cambria Math"/>
                          </a:rPr>
                          <m:t>2</m:t>
                        </m:r>
                        <m:r>
                          <a:rPr lang="en-US" altLang="zh-TW" sz="2400" i="1">
                            <a:latin typeface="Cambria Math"/>
                            <a:ea typeface="Cambria Math"/>
                          </a:rPr>
                          <m:t>𝜋</m:t>
                        </m:r>
                      </m:den>
                    </m:f>
                  </m:oMath>
                </a14:m>
                <a:endParaRPr lang="en-US" altLang="zh-TW" sz="2400" dirty="0" smtClean="0"/>
              </a:p>
              <a:p>
                <a:pPr>
                  <a:lnSpc>
                    <a:spcPct val="120000"/>
                  </a:lnSpc>
                </a:pPr>
                <a:endParaRPr lang="zh-TW" altLang="en-US" sz="24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611560" y="1340768"/>
                <a:ext cx="7880921" cy="5617948"/>
              </a:xfrm>
              <a:prstGeom prst="rect">
                <a:avLst/>
              </a:prstGeom>
              <a:blipFill rotWithShape="1">
                <a:blip r:embed="rId2"/>
                <a:stretch>
                  <a:fillRect l="-1160" t="-108"/>
                </a:stretch>
              </a:blipFill>
            </p:spPr>
            <p:txBody>
              <a:bodyPr/>
              <a:lstStyle/>
              <a:p>
                <a:r>
                  <a:rPr lang="zh-TW" altLang="en-US">
                    <a:noFill/>
                  </a:rPr>
                  <a:t> </a:t>
                </a:r>
              </a:p>
            </p:txBody>
          </p:sp>
        </mc:Fallback>
      </mc:AlternateContent>
      <p:sp>
        <p:nvSpPr>
          <p:cNvPr id="8" name="文字方塊 7"/>
          <p:cNvSpPr txBox="1"/>
          <p:nvPr/>
        </p:nvSpPr>
        <p:spPr>
          <a:xfrm>
            <a:off x="4788024" y="4797152"/>
            <a:ext cx="3312368" cy="830997"/>
          </a:xfrm>
          <a:prstGeom prst="rect">
            <a:avLst/>
          </a:prstGeom>
          <a:noFill/>
        </p:spPr>
        <p:txBody>
          <a:bodyPr wrap="square" rtlCol="0">
            <a:spAutoFit/>
          </a:bodyPr>
          <a:lstStyle/>
          <a:p>
            <a:r>
              <a:rPr lang="zh-TW" altLang="en-US" sz="2400" dirty="0" smtClean="0">
                <a:solidFill>
                  <a:srgbClr val="00B0F0"/>
                </a:solidFill>
                <a:latin typeface="微軟正黑體" pitchFamily="34" charset="-120"/>
                <a:ea typeface="微軟正黑體" pitchFamily="34" charset="-120"/>
              </a:rPr>
              <a:t>三角函數為固定頻率，</a:t>
            </a:r>
            <a:r>
              <a:rPr lang="en-US" altLang="zh-TW" sz="2400" dirty="0" smtClean="0">
                <a:solidFill>
                  <a:srgbClr val="00B0F0"/>
                </a:solidFill>
                <a:latin typeface="微軟正黑體" pitchFamily="34" charset="-120"/>
                <a:ea typeface="微軟正黑體" pitchFamily="34" charset="-120"/>
              </a:rPr>
              <a:t/>
            </a:r>
            <a:br>
              <a:rPr lang="en-US" altLang="zh-TW" sz="2400" dirty="0" smtClean="0">
                <a:solidFill>
                  <a:srgbClr val="00B0F0"/>
                </a:solidFill>
                <a:latin typeface="微軟正黑體" pitchFamily="34" charset="-120"/>
                <a:ea typeface="微軟正黑體" pitchFamily="34" charset="-120"/>
              </a:rPr>
            </a:br>
            <a:r>
              <a:rPr lang="zh-TW" altLang="en-US" sz="2400" dirty="0" smtClean="0">
                <a:solidFill>
                  <a:srgbClr val="00B0F0"/>
                </a:solidFill>
                <a:latin typeface="微軟正黑體" pitchFamily="34" charset="-120"/>
                <a:ea typeface="微軟正黑體" pitchFamily="34" charset="-120"/>
              </a:rPr>
              <a:t>所以瞬時頻率為常數</a:t>
            </a:r>
            <a:endParaRPr lang="zh-TW" altLang="en-US" sz="2400" dirty="0">
              <a:solidFill>
                <a:srgbClr val="00B0F0"/>
              </a:solidFill>
              <a:latin typeface="微軟正黑體" pitchFamily="34" charset="-120"/>
              <a:ea typeface="微軟正黑體" pitchFamily="34" charset="-120"/>
            </a:endParaRPr>
          </a:p>
        </p:txBody>
      </p:sp>
    </p:spTree>
    <p:extLst>
      <p:ext uri="{BB962C8B-B14F-4D97-AF65-F5344CB8AC3E}">
        <p14:creationId xmlns:p14="http://schemas.microsoft.com/office/powerpoint/2010/main" val="26432408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Instantaneous frequency</a:t>
            </a:r>
            <a:r>
              <a:rPr lang="en-US" altLang="zh-TW" dirty="0">
                <a:latin typeface="微軟正黑體" pitchFamily="34" charset="-120"/>
                <a:ea typeface="微軟正黑體" pitchFamily="34" charset="-120"/>
              </a:rPr>
              <a:t> </a:t>
            </a:r>
            <a:r>
              <a:rPr lang="en-US" altLang="zh-TW" dirty="0" smtClean="0">
                <a:latin typeface="微軟正黑體" pitchFamily="34" charset="-120"/>
                <a:ea typeface="微軟正黑體" pitchFamily="34" charset="-120"/>
              </a:rPr>
              <a:t>(2)</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33</a:t>
            </a:fld>
            <a:endParaRPr lang="zh-TW" altLang="en-US"/>
          </a:p>
        </p:txBody>
      </p:sp>
      <p:sp>
        <p:nvSpPr>
          <p:cNvPr id="4" name="矩形 3"/>
          <p:cNvSpPr/>
          <p:nvPr/>
        </p:nvSpPr>
        <p:spPr>
          <a:xfrm>
            <a:off x="323528" y="1484784"/>
            <a:ext cx="7776864" cy="4456476"/>
          </a:xfrm>
          <a:prstGeom prst="rect">
            <a:avLst/>
          </a:prstGeom>
        </p:spPr>
        <p:txBody>
          <a:bodyPr wrap="square">
            <a:spAutoFit/>
          </a:bodyPr>
          <a:lstStyle/>
          <a:p>
            <a:pPr>
              <a:lnSpc>
                <a:spcPct val="150000"/>
              </a:lnSpc>
            </a:pPr>
            <a:r>
              <a:rPr lang="zh-TW" altLang="en-US" sz="2400" dirty="0">
                <a:latin typeface="微軟正黑體" pitchFamily="34" charset="-120"/>
                <a:ea typeface="微軟正黑體" pitchFamily="34" charset="-120"/>
              </a:rPr>
              <a:t>以此種方式得出之瞬時頻率仍</a:t>
            </a:r>
            <a:r>
              <a:rPr lang="zh-TW" altLang="en-US" sz="2400" dirty="0" smtClean="0">
                <a:latin typeface="微軟正黑體" pitchFamily="34" charset="-120"/>
                <a:ea typeface="微軟正黑體" pitchFamily="34" charset="-120"/>
              </a:rPr>
              <a:t>存有</a:t>
            </a:r>
            <a:r>
              <a:rPr lang="zh-TW" altLang="en-US" sz="2400" dirty="0">
                <a:latin typeface="微軟正黑體" pitchFamily="34" charset="-120"/>
                <a:ea typeface="微軟正黑體" pitchFamily="34" charset="-120"/>
              </a:rPr>
              <a:t>一些</a:t>
            </a:r>
            <a:r>
              <a:rPr lang="zh-TW" altLang="en-US" sz="2400" dirty="0" smtClean="0">
                <a:latin typeface="微軟正黑體" pitchFamily="34" charset="-120"/>
                <a:ea typeface="微軟正黑體" pitchFamily="34" charset="-120"/>
              </a:rPr>
              <a:t>問題。</a:t>
            </a:r>
            <a:endParaRPr lang="en-US" altLang="zh-TW" sz="2400" dirty="0" smtClean="0">
              <a:latin typeface="微軟正黑體" pitchFamily="34" charset="-120"/>
              <a:ea typeface="微軟正黑體" pitchFamily="34" charset="-120"/>
            </a:endParaRPr>
          </a:p>
          <a:p>
            <a:pPr marL="342900" indent="-342900">
              <a:lnSpc>
                <a:spcPct val="150000"/>
              </a:lnSpc>
              <a:buFont typeface="+mj-lt"/>
              <a:buAutoNum type="arabicPeriod"/>
            </a:pPr>
            <a:r>
              <a:rPr lang="zh-TW" altLang="en-US" sz="2400" dirty="0" smtClean="0">
                <a:latin typeface="微軟正黑體" pitchFamily="34" charset="-120"/>
                <a:ea typeface="微軟正黑體" pitchFamily="34" charset="-120"/>
              </a:rPr>
              <a:t>此方法得到的瞬時頻率為</a:t>
            </a:r>
            <a:r>
              <a:rPr lang="zh-TW" altLang="en-US" sz="2400" dirty="0">
                <a:latin typeface="微軟正黑體" pitchFamily="34" charset="-120"/>
                <a:ea typeface="微軟正黑體" pitchFamily="34" charset="-120"/>
              </a:rPr>
              <a:t>單值</a:t>
            </a:r>
            <a:r>
              <a:rPr lang="zh-TW" altLang="en-US" sz="2400" dirty="0" smtClean="0">
                <a:latin typeface="微軟正黑體" pitchFamily="34" charset="-120"/>
                <a:ea typeface="微軟正黑體" pitchFamily="34" charset="-120"/>
              </a:rPr>
              <a:t>函數</a:t>
            </a:r>
            <a:r>
              <a:rPr lang="en-US" altLang="zh-TW" sz="2400" dirty="0">
                <a:latin typeface="微軟正黑體" pitchFamily="34" charset="-120"/>
                <a:ea typeface="微軟正黑體" pitchFamily="34" charset="-120"/>
              </a:rPr>
              <a:t>(single-valued function)</a:t>
            </a:r>
            <a:r>
              <a:rPr lang="zh-TW" altLang="en-US" sz="2400" dirty="0">
                <a:latin typeface="微軟正黑體" pitchFamily="34" charset="-120"/>
                <a:ea typeface="微軟正黑體" pitchFamily="34" charset="-120"/>
              </a:rPr>
              <a:t>；亦即在任一時刻</a:t>
            </a:r>
            <a:r>
              <a:rPr lang="zh-TW" altLang="en-US" sz="2400" dirty="0" smtClean="0">
                <a:latin typeface="微軟正黑體" pitchFamily="34" charset="-120"/>
                <a:ea typeface="微軟正黑體" pitchFamily="34" charset="-120"/>
              </a:rPr>
              <a:t>僅定義</a:t>
            </a:r>
            <a:r>
              <a:rPr lang="zh-TW" altLang="en-US" sz="2400" dirty="0">
                <a:latin typeface="微軟正黑體" pitchFamily="34" charset="-120"/>
                <a:ea typeface="微軟正黑體" pitchFamily="34" charset="-120"/>
              </a:rPr>
              <a:t>了唯一的一個頻率值，此與一般複雜</a:t>
            </a:r>
            <a:r>
              <a:rPr lang="zh-TW" altLang="en-US" sz="2400" dirty="0" smtClean="0">
                <a:latin typeface="微軟正黑體" pitchFamily="34" charset="-120"/>
                <a:ea typeface="微軟正黑體" pitchFamily="34" charset="-120"/>
              </a:rPr>
              <a:t>訊號</a:t>
            </a:r>
            <a:r>
              <a:rPr lang="zh-TW" altLang="en-US" sz="2400" dirty="0">
                <a:latin typeface="微軟正黑體" pitchFamily="34" charset="-120"/>
                <a:ea typeface="微軟正黑體" pitchFamily="34" charset="-120"/>
              </a:rPr>
              <a:t>是由多個不同振盪頻率所組成之概念</a:t>
            </a:r>
            <a:r>
              <a:rPr lang="zh-TW" altLang="en-US" sz="2400" dirty="0" smtClean="0">
                <a:latin typeface="微軟正黑體" pitchFamily="34" charset="-120"/>
                <a:ea typeface="微軟正黑體" pitchFamily="34" charset="-120"/>
              </a:rPr>
              <a:t>不符。</a:t>
            </a:r>
            <a:endParaRPr lang="en-US" altLang="zh-TW" sz="2400" dirty="0" smtClean="0">
              <a:latin typeface="微軟正黑體" pitchFamily="34" charset="-120"/>
              <a:ea typeface="微軟正黑體" pitchFamily="34" charset="-120"/>
            </a:endParaRPr>
          </a:p>
          <a:p>
            <a:pPr marL="342900" indent="-342900">
              <a:lnSpc>
                <a:spcPct val="150000"/>
              </a:lnSpc>
              <a:buFont typeface="+mj-lt"/>
              <a:buAutoNum type="arabicPeriod"/>
            </a:pPr>
            <a:r>
              <a:rPr lang="zh-TW" altLang="en-US" sz="2400" dirty="0" smtClean="0">
                <a:latin typeface="微軟正黑體" pitchFamily="34" charset="-120"/>
                <a:ea typeface="微軟正黑體" pitchFamily="34" charset="-120"/>
              </a:rPr>
              <a:t>第二</a:t>
            </a:r>
            <a:r>
              <a:rPr lang="zh-TW" altLang="en-US" sz="2400" dirty="0">
                <a:latin typeface="微軟正黑體" pitchFamily="34" charset="-120"/>
                <a:ea typeface="微軟正黑體" pitchFamily="34" charset="-120"/>
              </a:rPr>
              <a:t>個問題為倘若將原始</a:t>
            </a:r>
            <a:r>
              <a:rPr lang="zh-TW" altLang="en-US" sz="2400" dirty="0" smtClean="0">
                <a:latin typeface="微軟正黑體" pitchFamily="34" charset="-120"/>
                <a:ea typeface="微軟正黑體" pitchFamily="34" charset="-120"/>
              </a:rPr>
              <a:t>訊號</a:t>
            </a:r>
            <a:r>
              <a:rPr lang="en-US" altLang="zh-TW" sz="2400" dirty="0" smtClean="0">
                <a:latin typeface="微軟正黑體" pitchFamily="34" charset="-120"/>
                <a:ea typeface="微軟正黑體" pitchFamily="34" charset="-120"/>
              </a:rPr>
              <a:t>X(t</a:t>
            </a:r>
            <a:r>
              <a:rPr lang="en-US" altLang="zh-TW" sz="2400" dirty="0">
                <a:latin typeface="微軟正黑體" pitchFamily="34" charset="-120"/>
                <a:ea typeface="微軟正黑體" pitchFamily="34" charset="-120"/>
              </a:rPr>
              <a:t>)</a:t>
            </a:r>
            <a:r>
              <a:rPr lang="zh-TW" altLang="en-US" sz="2400" dirty="0" smtClean="0">
                <a:latin typeface="微軟正黑體" pitchFamily="34" charset="-120"/>
                <a:ea typeface="微軟正黑體" pitchFamily="34" charset="-120"/>
              </a:rPr>
              <a:t>直接作</a:t>
            </a:r>
            <a:r>
              <a:rPr lang="en-US" altLang="zh-TW" sz="2400" dirty="0">
                <a:latin typeface="微軟正黑體" pitchFamily="34" charset="-120"/>
                <a:ea typeface="微軟正黑體" pitchFamily="34" charset="-120"/>
              </a:rPr>
              <a:t>Hilbert </a:t>
            </a:r>
            <a:r>
              <a:rPr lang="zh-TW" altLang="en-US" sz="2400" dirty="0">
                <a:latin typeface="微軟正黑體" pitchFamily="34" charset="-120"/>
                <a:ea typeface="微軟正黑體" pitchFamily="34" charset="-120"/>
              </a:rPr>
              <a:t>轉換，所得到之瞬時</a:t>
            </a:r>
            <a:r>
              <a:rPr lang="zh-TW" altLang="en-US" sz="2400" dirty="0" smtClean="0">
                <a:latin typeface="微軟正黑體" pitchFamily="34" charset="-120"/>
                <a:ea typeface="微軟正黑體" pitchFamily="34" charset="-120"/>
              </a:rPr>
              <a:t>頻率</a:t>
            </a:r>
            <a:r>
              <a:rPr lang="en-US" altLang="zh-TW" sz="2400" dirty="0" smtClean="0">
                <a:latin typeface="微軟正黑體" pitchFamily="34" charset="-120"/>
                <a:ea typeface="微軟正黑體" pitchFamily="34" charset="-120"/>
              </a:rPr>
              <a:t>ω(t</a:t>
            </a:r>
            <a:r>
              <a:rPr lang="en-US" altLang="zh-TW" sz="2400" dirty="0">
                <a:latin typeface="微軟正黑體" pitchFamily="34" charset="-120"/>
                <a:ea typeface="微軟正黑體" pitchFamily="34" charset="-120"/>
              </a:rPr>
              <a:t>)</a:t>
            </a:r>
            <a:r>
              <a:rPr lang="zh-TW" altLang="en-US" sz="2400" dirty="0">
                <a:latin typeface="微軟正黑體" pitchFamily="34" charset="-120"/>
                <a:ea typeface="微軟正黑體" pitchFamily="34" charset="-120"/>
              </a:rPr>
              <a:t>在</a:t>
            </a:r>
            <a:r>
              <a:rPr lang="zh-TW" altLang="en-US" sz="2400" dirty="0" smtClean="0">
                <a:latin typeface="微軟正黑體" pitchFamily="34" charset="-120"/>
                <a:ea typeface="微軟正黑體" pitchFamily="34" charset="-120"/>
              </a:rPr>
              <a:t>很多</a:t>
            </a:r>
            <a:r>
              <a:rPr lang="zh-TW" altLang="en-US" sz="2400" dirty="0">
                <a:latin typeface="微軟正黑體" pitchFamily="34" charset="-120"/>
                <a:ea typeface="微軟正黑體" pitchFamily="34" charset="-120"/>
              </a:rPr>
              <a:t>情況下不具任何物理</a:t>
            </a:r>
            <a:r>
              <a:rPr lang="zh-TW" altLang="en-US" sz="2400" dirty="0" smtClean="0">
                <a:latin typeface="微軟正黑體" pitchFamily="34" charset="-120"/>
                <a:ea typeface="微軟正黑體" pitchFamily="34" charset="-120"/>
              </a:rPr>
              <a:t>意義。</a:t>
            </a:r>
            <a:endParaRPr lang="zh-TW" altLang="en-US" sz="2400" dirty="0">
              <a:latin typeface="微軟正黑體" pitchFamily="34" charset="-120"/>
              <a:ea typeface="微軟正黑體" pitchFamily="34" charset="-120"/>
            </a:endParaRPr>
          </a:p>
        </p:txBody>
      </p:sp>
    </p:spTree>
    <p:extLst>
      <p:ext uri="{BB962C8B-B14F-4D97-AF65-F5344CB8AC3E}">
        <p14:creationId xmlns:p14="http://schemas.microsoft.com/office/powerpoint/2010/main" val="98387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188640"/>
            <a:ext cx="8229600" cy="1143000"/>
          </a:xfrm>
        </p:spPr>
        <p:txBody>
          <a:bodyPr/>
          <a:lstStyle/>
          <a:p>
            <a:r>
              <a:rPr lang="en-US" altLang="zh-TW" dirty="0"/>
              <a:t>Instantaneous frequency</a:t>
            </a:r>
            <a:r>
              <a:rPr lang="en-US" altLang="zh-TW" dirty="0">
                <a:latin typeface="微軟正黑體" pitchFamily="34" charset="-120"/>
                <a:ea typeface="微軟正黑體" pitchFamily="34" charset="-120"/>
              </a:rPr>
              <a:t> </a:t>
            </a:r>
            <a:r>
              <a:rPr lang="en-US" altLang="zh-TW" dirty="0" smtClean="0">
                <a:latin typeface="微軟正黑體" pitchFamily="34" charset="-120"/>
                <a:ea typeface="微軟正黑體" pitchFamily="34" charset="-120"/>
              </a:rPr>
              <a:t>(3)</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34</a:t>
            </a:fld>
            <a:endParaRPr lang="zh-TW" altLang="en-US"/>
          </a:p>
        </p:txBody>
      </p:sp>
      <mc:AlternateContent xmlns:mc="http://schemas.openxmlformats.org/markup-compatibility/2006" xmlns:a14="http://schemas.microsoft.com/office/drawing/2010/main">
        <mc:Choice Requires="a14">
          <p:sp>
            <p:nvSpPr>
              <p:cNvPr id="4" name="矩形 3"/>
              <p:cNvSpPr/>
              <p:nvPr/>
            </p:nvSpPr>
            <p:spPr>
              <a:xfrm>
                <a:off x="975048" y="1196752"/>
                <a:ext cx="4572000" cy="956480"/>
              </a:xfrm>
              <a:prstGeom prst="rect">
                <a:avLst/>
              </a:prstGeom>
            </p:spPr>
            <p:txBody>
              <a:bodyPr>
                <a:spAutoFit/>
              </a:bodyPr>
              <a:lstStyle/>
              <a:p>
                <a14:m>
                  <m:oMath xmlns:m="http://schemas.openxmlformats.org/officeDocument/2006/math">
                    <m:r>
                      <a:rPr lang="en-US" altLang="zh-TW" i="1" smtClean="0">
                        <a:latin typeface="Cambria Math"/>
                      </a:rPr>
                      <m:t>𝑥</m:t>
                    </m:r>
                    <m:d>
                      <m:dPr>
                        <m:ctrlPr>
                          <a:rPr lang="en-US" altLang="zh-TW" i="1">
                            <a:latin typeface="Cambria Math"/>
                          </a:rPr>
                        </m:ctrlPr>
                      </m:dPr>
                      <m:e>
                        <m:r>
                          <a:rPr lang="en-US" altLang="zh-TW" i="1">
                            <a:latin typeface="Cambria Math"/>
                          </a:rPr>
                          <m:t>𝑡</m:t>
                        </m:r>
                      </m:e>
                    </m:d>
                    <m:r>
                      <a:rPr lang="en-US" altLang="zh-TW" i="1">
                        <a:latin typeface="Cambria Math"/>
                      </a:rPr>
                      <m:t>=</m:t>
                    </m:r>
                    <m:func>
                      <m:funcPr>
                        <m:ctrlPr>
                          <a:rPr lang="en-US" altLang="zh-TW" i="1">
                            <a:latin typeface="Cambria Math"/>
                          </a:rPr>
                        </m:ctrlPr>
                      </m:funcPr>
                      <m:fName>
                        <m:r>
                          <m:rPr>
                            <m:sty m:val="p"/>
                          </m:rPr>
                          <a:rPr lang="el-GR" altLang="zh-TW" i="1" smtClean="0">
                            <a:latin typeface="Cambria Math"/>
                          </a:rPr>
                          <m:t>α</m:t>
                        </m:r>
                        <m:r>
                          <a:rPr lang="en-US" altLang="zh-TW" b="0" i="0" smtClean="0">
                            <a:latin typeface="Cambria Math"/>
                          </a:rPr>
                          <m:t>+</m:t>
                        </m:r>
                        <m:r>
                          <a:rPr lang="en-US" altLang="zh-TW" b="0" i="1" smtClean="0">
                            <a:latin typeface="Cambria Math"/>
                          </a:rPr>
                          <m:t>𝑠𝑖𝑛</m:t>
                        </m:r>
                      </m:fName>
                      <m:e>
                        <m:d>
                          <m:dPr>
                            <m:ctrlPr>
                              <a:rPr lang="en-US" altLang="zh-TW" i="1">
                                <a:latin typeface="Cambria Math"/>
                              </a:rPr>
                            </m:ctrlPr>
                          </m:dPr>
                          <m:e>
                            <m:sSub>
                              <m:sSubPr>
                                <m:ctrlPr>
                                  <a:rPr lang="en-US" altLang="zh-TW" i="1">
                                    <a:latin typeface="Cambria Math"/>
                                  </a:rPr>
                                </m:ctrlPr>
                              </m:sSubPr>
                              <m:e>
                                <m:r>
                                  <a:rPr lang="en-US" altLang="zh-TW" i="1">
                                    <a:latin typeface="Cambria Math"/>
                                    <a:ea typeface="Cambria Math"/>
                                  </a:rPr>
                                  <m:t>𝜔</m:t>
                                </m:r>
                              </m:e>
                              <m:sub>
                                <m:r>
                                  <a:rPr lang="en-US" altLang="zh-TW" i="1">
                                    <a:latin typeface="Cambria Math"/>
                                  </a:rPr>
                                  <m:t>0</m:t>
                                </m:r>
                              </m:sub>
                            </m:sSub>
                            <m:r>
                              <a:rPr lang="en-US" altLang="zh-TW" i="1">
                                <a:latin typeface="Cambria Math"/>
                              </a:rPr>
                              <m:t>𝑡</m:t>
                            </m:r>
                          </m:e>
                        </m:d>
                      </m:e>
                    </m:func>
                  </m:oMath>
                </a14:m>
                <a:r>
                  <a:rPr lang="zh-TW" altLang="en-US" dirty="0"/>
                  <a:t>    </a:t>
                </a:r>
                <a:r>
                  <a:rPr lang="en-US" altLang="zh-TW" dirty="0"/>
                  <a:t>(original signal)</a:t>
                </a:r>
              </a:p>
              <a:p>
                <a14:m>
                  <m:oMath xmlns:m="http://schemas.openxmlformats.org/officeDocument/2006/math">
                    <m:acc>
                      <m:accPr>
                        <m:chr m:val="̂"/>
                        <m:ctrlPr>
                          <a:rPr lang="zh-TW" altLang="en-US" i="1">
                            <a:latin typeface="Cambria Math"/>
                          </a:rPr>
                        </m:ctrlPr>
                      </m:accPr>
                      <m:e>
                        <m:r>
                          <a:rPr lang="en-US" altLang="zh-TW" b="0" i="1" smtClean="0">
                            <a:latin typeface="Cambria Math"/>
                          </a:rPr>
                          <m:t>𝑌</m:t>
                        </m:r>
                        <m:r>
                          <a:rPr lang="en-US" altLang="zh-TW" b="0" i="1" smtClean="0">
                            <a:latin typeface="Cambria Math"/>
                          </a:rPr>
                          <m:t>(</m:t>
                        </m:r>
                        <m:r>
                          <a:rPr lang="en-US" altLang="zh-TW" b="0" i="1" smtClean="0">
                            <a:latin typeface="Cambria Math"/>
                          </a:rPr>
                          <m:t>𝑡</m:t>
                        </m:r>
                        <m:r>
                          <a:rPr lang="en-US" altLang="zh-TW" b="0" i="1" smtClean="0">
                            <a:latin typeface="Cambria Math"/>
                          </a:rPr>
                          <m:t>)</m:t>
                        </m:r>
                      </m:e>
                    </m:acc>
                    <m:r>
                      <a:rPr lang="en-US" altLang="zh-TW" i="1">
                        <a:latin typeface="Cambria Math"/>
                      </a:rPr>
                      <m:t>=</m:t>
                    </m:r>
                    <m:r>
                      <a:rPr lang="en-US" altLang="zh-TW" b="0" i="0" smtClean="0">
                        <a:latin typeface="Cambria Math"/>
                      </a:rPr>
                      <m:t>−</m:t>
                    </m:r>
                    <m:r>
                      <a:rPr lang="en-US" altLang="zh-TW" b="0" i="1" smtClean="0">
                        <a:latin typeface="Cambria Math"/>
                      </a:rPr>
                      <m:t>𝑐𝑜𝑠</m:t>
                    </m:r>
                    <m:r>
                      <a:rPr lang="en-US" altLang="zh-TW" i="1">
                        <a:latin typeface="Cambria Math"/>
                      </a:rPr>
                      <m:t>⁡(</m:t>
                    </m:r>
                    <m:sSub>
                      <m:sSubPr>
                        <m:ctrlPr>
                          <a:rPr lang="en-US" altLang="zh-TW" i="1">
                            <a:latin typeface="Cambria Math"/>
                          </a:rPr>
                        </m:ctrlPr>
                      </m:sSubPr>
                      <m:e>
                        <m:r>
                          <a:rPr lang="en-US" altLang="zh-TW" i="1">
                            <a:latin typeface="Cambria Math"/>
                            <a:ea typeface="Cambria Math"/>
                          </a:rPr>
                          <m:t>𝜔</m:t>
                        </m:r>
                      </m:e>
                      <m:sub>
                        <m:r>
                          <a:rPr lang="en-US" altLang="zh-TW" i="1">
                            <a:latin typeface="Cambria Math"/>
                          </a:rPr>
                          <m:t>0</m:t>
                        </m:r>
                      </m:sub>
                    </m:sSub>
                    <m:r>
                      <a:rPr lang="en-US" altLang="zh-TW" i="1">
                        <a:latin typeface="Cambria Math"/>
                      </a:rPr>
                      <m:t>𝑡</m:t>
                    </m:r>
                    <m:r>
                      <a:rPr lang="en-US" altLang="zh-TW" i="1">
                        <a:latin typeface="Cambria Math"/>
                      </a:rPr>
                      <m:t>)</m:t>
                    </m:r>
                  </m:oMath>
                </a14:m>
                <a:r>
                  <a:rPr lang="zh-TW" altLang="en-US" dirty="0"/>
                  <a:t>   </a:t>
                </a:r>
                <a:r>
                  <a:rPr lang="en-US" altLang="zh-TW" dirty="0"/>
                  <a:t>(Hilbert transform of x(t</a:t>
                </a:r>
                <a:r>
                  <a:rPr lang="en-US" altLang="zh-TW" dirty="0" smtClean="0"/>
                  <a:t>))</a:t>
                </a:r>
              </a:p>
              <a:p>
                <a:pPr/>
                <a14:m>
                  <m:oMathPara xmlns:m="http://schemas.openxmlformats.org/officeDocument/2006/math">
                    <m:oMathParaPr>
                      <m:jc m:val="left"/>
                    </m:oMathParaPr>
                    <m:oMath xmlns:m="http://schemas.openxmlformats.org/officeDocument/2006/math">
                      <m:r>
                        <a:rPr lang="en-US" altLang="zh-TW" b="0" i="1" smtClean="0">
                          <a:latin typeface="Cambria Math"/>
                        </a:rPr>
                        <m:t>𝑍</m:t>
                      </m:r>
                      <m:d>
                        <m:dPr>
                          <m:ctrlPr>
                            <a:rPr lang="en-US" altLang="zh-TW" i="1">
                              <a:latin typeface="Cambria Math"/>
                            </a:rPr>
                          </m:ctrlPr>
                        </m:dPr>
                        <m:e>
                          <m:r>
                            <a:rPr lang="en-US" altLang="zh-TW" i="1">
                              <a:latin typeface="Cambria Math"/>
                            </a:rPr>
                            <m:t>𝑡</m:t>
                          </m:r>
                        </m:e>
                      </m:d>
                      <m:r>
                        <a:rPr lang="en-US" altLang="zh-TW" i="1">
                          <a:latin typeface="Cambria Math"/>
                        </a:rPr>
                        <m:t>=</m:t>
                      </m:r>
                      <m:func>
                        <m:funcPr>
                          <m:ctrlPr>
                            <a:rPr lang="en-US" altLang="zh-TW" i="1" smtClean="0">
                              <a:latin typeface="Cambria Math"/>
                            </a:rPr>
                          </m:ctrlPr>
                        </m:funcPr>
                        <m:fName>
                          <m:r>
                            <m:rPr>
                              <m:sty m:val="p"/>
                            </m:rPr>
                            <a:rPr lang="el-GR" altLang="zh-TW" i="1">
                              <a:latin typeface="Cambria Math"/>
                            </a:rPr>
                            <m:t>α</m:t>
                          </m:r>
                          <m:r>
                            <a:rPr lang="en-US" altLang="zh-TW">
                              <a:latin typeface="Cambria Math"/>
                            </a:rPr>
                            <m:t>+</m:t>
                          </m:r>
                          <m:r>
                            <a:rPr lang="en-US" altLang="zh-TW" i="1">
                              <a:latin typeface="Cambria Math"/>
                            </a:rPr>
                            <m:t>𝑠𝑖𝑛</m:t>
                          </m:r>
                        </m:fName>
                        <m:e>
                          <m:d>
                            <m:dPr>
                              <m:ctrlPr>
                                <a:rPr lang="en-US" altLang="zh-TW" i="1">
                                  <a:latin typeface="Cambria Math"/>
                                </a:rPr>
                              </m:ctrlPr>
                            </m:dPr>
                            <m:e>
                              <m:sSub>
                                <m:sSubPr>
                                  <m:ctrlPr>
                                    <a:rPr lang="en-US" altLang="zh-TW" i="1">
                                      <a:latin typeface="Cambria Math"/>
                                    </a:rPr>
                                  </m:ctrlPr>
                                </m:sSubPr>
                                <m:e>
                                  <m:r>
                                    <a:rPr lang="en-US" altLang="zh-TW" i="1">
                                      <a:latin typeface="Cambria Math"/>
                                      <a:ea typeface="Cambria Math"/>
                                    </a:rPr>
                                    <m:t>𝜔</m:t>
                                  </m:r>
                                </m:e>
                                <m:sub>
                                  <m:r>
                                    <a:rPr lang="en-US" altLang="zh-TW" i="1">
                                      <a:latin typeface="Cambria Math"/>
                                    </a:rPr>
                                    <m:t>0</m:t>
                                  </m:r>
                                </m:sub>
                              </m:sSub>
                              <m:r>
                                <a:rPr lang="en-US" altLang="zh-TW" i="1">
                                  <a:latin typeface="Cambria Math"/>
                                </a:rPr>
                                <m:t>𝑡</m:t>
                              </m:r>
                            </m:e>
                          </m:d>
                        </m:e>
                      </m:func>
                      <m:r>
                        <a:rPr lang="en-US" altLang="zh-TW" b="0" i="0" smtClean="0">
                          <a:latin typeface="Cambria Math"/>
                        </a:rPr>
                        <m:t>−</m:t>
                      </m:r>
                      <m:r>
                        <a:rPr lang="en-US" altLang="zh-TW" b="0" i="1" smtClean="0">
                          <a:latin typeface="Cambria Math"/>
                        </a:rPr>
                        <m:t>𝑖</m:t>
                      </m:r>
                      <m:r>
                        <a:rPr lang="en-US" altLang="zh-TW" i="1">
                          <a:latin typeface="Cambria Math"/>
                        </a:rPr>
                        <m:t>𝑐𝑜𝑠</m:t>
                      </m:r>
                      <m:r>
                        <a:rPr lang="en-US" altLang="zh-TW" i="1">
                          <a:latin typeface="Cambria Math"/>
                        </a:rPr>
                        <m:t>⁡(</m:t>
                      </m:r>
                      <m:sSub>
                        <m:sSubPr>
                          <m:ctrlPr>
                            <a:rPr lang="en-US" altLang="zh-TW" i="1">
                              <a:latin typeface="Cambria Math"/>
                            </a:rPr>
                          </m:ctrlPr>
                        </m:sSubPr>
                        <m:e>
                          <m:r>
                            <a:rPr lang="en-US" altLang="zh-TW" i="1">
                              <a:latin typeface="Cambria Math"/>
                              <a:ea typeface="Cambria Math"/>
                            </a:rPr>
                            <m:t>𝜔</m:t>
                          </m:r>
                        </m:e>
                        <m:sub>
                          <m:r>
                            <a:rPr lang="en-US" altLang="zh-TW" i="1">
                              <a:latin typeface="Cambria Math"/>
                            </a:rPr>
                            <m:t>0</m:t>
                          </m:r>
                        </m:sub>
                      </m:sSub>
                      <m:r>
                        <a:rPr lang="en-US" altLang="zh-TW" i="1">
                          <a:latin typeface="Cambria Math"/>
                        </a:rPr>
                        <m:t>𝑡</m:t>
                      </m:r>
                      <m:r>
                        <a:rPr lang="en-US" altLang="zh-TW" i="1">
                          <a:latin typeface="Cambria Math"/>
                        </a:rPr>
                        <m:t>)</m:t>
                      </m:r>
                    </m:oMath>
                  </m:oMathPara>
                </a14:m>
                <a:endParaRPr lang="en-US" altLang="zh-TW" dirty="0"/>
              </a:p>
            </p:txBody>
          </p:sp>
        </mc:Choice>
        <mc:Fallback xmlns="">
          <p:sp>
            <p:nvSpPr>
              <p:cNvPr id="4" name="矩形 3"/>
              <p:cNvSpPr>
                <a:spLocks noRot="1" noChangeAspect="1" noMove="1" noResize="1" noEditPoints="1" noAdjustHandles="1" noChangeArrowheads="1" noChangeShapeType="1" noTextEdit="1"/>
              </p:cNvSpPr>
              <p:nvPr/>
            </p:nvSpPr>
            <p:spPr>
              <a:xfrm>
                <a:off x="975048" y="1196752"/>
                <a:ext cx="4572000" cy="956480"/>
              </a:xfrm>
              <a:prstGeom prst="rect">
                <a:avLst/>
              </a:prstGeom>
              <a:blipFill rotWithShape="1">
                <a:blip r:embed="rId2"/>
                <a:stretch>
                  <a:fillRect t="-3185" b="-2548"/>
                </a:stretch>
              </a:blipFill>
            </p:spPr>
            <p:txBody>
              <a:bodyPr/>
              <a:lstStyle/>
              <a:p>
                <a:r>
                  <a:rPr lang="zh-TW" altLang="en-US">
                    <a:noFill/>
                  </a:rPr>
                  <a:t> </a:t>
                </a:r>
              </a:p>
            </p:txBody>
          </p:sp>
        </mc:Fallback>
      </mc:AlternateContent>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3060" y="2998697"/>
            <a:ext cx="3456384" cy="3202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p:cNvSpPr txBox="1"/>
          <p:nvPr/>
        </p:nvSpPr>
        <p:spPr>
          <a:xfrm>
            <a:off x="1388840" y="6237312"/>
            <a:ext cx="3744416" cy="369332"/>
          </a:xfrm>
          <a:prstGeom prst="rect">
            <a:avLst/>
          </a:prstGeom>
          <a:noFill/>
        </p:spPr>
        <p:txBody>
          <a:bodyPr wrap="square" rtlCol="0">
            <a:spAutoFit/>
          </a:bodyPr>
          <a:lstStyle/>
          <a:p>
            <a:r>
              <a:rPr lang="en-US" altLang="zh-TW" dirty="0" smtClean="0">
                <a:solidFill>
                  <a:srgbClr val="C00000"/>
                </a:solidFill>
              </a:rPr>
              <a:t>a: </a:t>
            </a:r>
            <a:r>
              <a:rPr lang="el-GR" altLang="zh-TW" dirty="0" smtClean="0">
                <a:solidFill>
                  <a:srgbClr val="C00000"/>
                </a:solidFill>
                <a:latin typeface="Times New Roman"/>
                <a:cs typeface="Times New Roman"/>
              </a:rPr>
              <a:t>α</a:t>
            </a:r>
            <a:r>
              <a:rPr lang="en-US" altLang="zh-TW" dirty="0" smtClean="0">
                <a:solidFill>
                  <a:srgbClr val="C00000"/>
                </a:solidFill>
                <a:latin typeface="Times New Roman"/>
                <a:cs typeface="Times New Roman"/>
              </a:rPr>
              <a:t>=0, b: 0&lt;</a:t>
            </a:r>
            <a:r>
              <a:rPr lang="el-GR" altLang="zh-TW" dirty="0" smtClean="0">
                <a:solidFill>
                  <a:srgbClr val="C00000"/>
                </a:solidFill>
                <a:latin typeface="Times New Roman"/>
                <a:cs typeface="Times New Roman"/>
              </a:rPr>
              <a:t>α</a:t>
            </a:r>
            <a:r>
              <a:rPr lang="en-US" altLang="zh-TW" dirty="0" smtClean="0">
                <a:solidFill>
                  <a:srgbClr val="C00000"/>
                </a:solidFill>
                <a:latin typeface="Times New Roman"/>
                <a:cs typeface="Times New Roman"/>
              </a:rPr>
              <a:t>&lt;1, c: </a:t>
            </a:r>
            <a:r>
              <a:rPr lang="el-GR" altLang="zh-TW" dirty="0" smtClean="0">
                <a:solidFill>
                  <a:srgbClr val="C00000"/>
                </a:solidFill>
                <a:latin typeface="Times New Roman"/>
                <a:cs typeface="Times New Roman"/>
              </a:rPr>
              <a:t>α</a:t>
            </a:r>
            <a:r>
              <a:rPr lang="en-US" altLang="zh-TW" dirty="0" smtClean="0">
                <a:solidFill>
                  <a:srgbClr val="C00000"/>
                </a:solidFill>
                <a:latin typeface="Times New Roman"/>
                <a:cs typeface="Times New Roman"/>
              </a:rPr>
              <a:t>&gt;1</a:t>
            </a:r>
            <a:endParaRPr lang="zh-TW" altLang="en-US" dirty="0">
              <a:solidFill>
                <a:srgbClr val="C00000"/>
              </a:solidFill>
            </a:endParaRPr>
          </a:p>
        </p:txBody>
      </p:sp>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7798" y="1081619"/>
            <a:ext cx="2741301" cy="2776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0863" y="4094361"/>
            <a:ext cx="2885317" cy="260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字方塊 6"/>
          <p:cNvSpPr txBox="1"/>
          <p:nvPr/>
        </p:nvSpPr>
        <p:spPr>
          <a:xfrm>
            <a:off x="975048" y="2132856"/>
            <a:ext cx="4029000" cy="923330"/>
          </a:xfrm>
          <a:prstGeom prst="rect">
            <a:avLst/>
          </a:prstGeom>
          <a:noFill/>
        </p:spPr>
        <p:txBody>
          <a:bodyPr wrap="square" rtlCol="0">
            <a:spAutoFit/>
          </a:bodyPr>
          <a:lstStyle/>
          <a:p>
            <a:r>
              <a:rPr lang="zh-TW" altLang="en-US" dirty="0" smtClean="0">
                <a:solidFill>
                  <a:srgbClr val="FF0000"/>
                </a:solidFill>
                <a:latin typeface="微軟正黑體" pitchFamily="34" charset="-120"/>
                <a:ea typeface="微軟正黑體" pitchFamily="34" charset="-120"/>
              </a:rPr>
              <a:t>由此可知若訊號振盪平均值</a:t>
            </a:r>
            <a:r>
              <a:rPr lang="el-GR" altLang="zh-TW" dirty="0" smtClean="0">
                <a:solidFill>
                  <a:srgbClr val="FF0000"/>
                </a:solidFill>
                <a:latin typeface="微軟正黑體" pitchFamily="34" charset="-120"/>
                <a:ea typeface="微軟正黑體" pitchFamily="34" charset="-120"/>
                <a:cs typeface="Times New Roman"/>
              </a:rPr>
              <a:t>α</a:t>
            </a:r>
            <a:r>
              <a:rPr lang="zh-TW" altLang="en-US" dirty="0" smtClean="0">
                <a:solidFill>
                  <a:srgbClr val="FF0000"/>
                </a:solidFill>
                <a:latin typeface="微軟正黑體" pitchFamily="34" charset="-120"/>
                <a:ea typeface="微軟正黑體" pitchFamily="34" charset="-120"/>
                <a:cs typeface="Times New Roman"/>
              </a:rPr>
              <a:t>不為</a:t>
            </a:r>
            <a:r>
              <a:rPr lang="en-US" altLang="zh-TW" dirty="0" smtClean="0">
                <a:solidFill>
                  <a:srgbClr val="FF0000"/>
                </a:solidFill>
                <a:latin typeface="微軟正黑體" pitchFamily="34" charset="-120"/>
                <a:ea typeface="微軟正黑體" pitchFamily="34" charset="-120"/>
                <a:cs typeface="Times New Roman"/>
              </a:rPr>
              <a:t>0時，轉換不具物理意義，因此必須對x(t)</a:t>
            </a:r>
            <a:r>
              <a:rPr lang="en-US" altLang="zh-TW" dirty="0" err="1" smtClean="0">
                <a:solidFill>
                  <a:srgbClr val="FF0000"/>
                </a:solidFill>
                <a:latin typeface="微軟正黑體" pitchFamily="34" charset="-120"/>
                <a:ea typeface="微軟正黑體" pitchFamily="34" charset="-120"/>
                <a:cs typeface="Times New Roman"/>
              </a:rPr>
              <a:t>做前處理</a:t>
            </a:r>
            <a:endParaRPr lang="zh-TW" altLang="en-US" dirty="0">
              <a:solidFill>
                <a:srgbClr val="FF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15339990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Hilbert-Huang transform (HHT)</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35</a:t>
            </a:fld>
            <a:endParaRPr lang="zh-TW" alt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81" y="1628800"/>
            <a:ext cx="8884630" cy="4536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69804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a:t>
            </a:r>
            <a:r>
              <a:rPr lang="en-US" altLang="zh-TW" sz="3600" b="1" dirty="0" smtClean="0"/>
              <a:t>mpirical </a:t>
            </a:r>
            <a:r>
              <a:rPr lang="en-US" altLang="zh-TW" sz="3600" b="1" dirty="0"/>
              <a:t>mode </a:t>
            </a:r>
            <a:r>
              <a:rPr lang="en-US" altLang="zh-TW" sz="3600" b="1" dirty="0" smtClean="0"/>
              <a:t>decomposition (EMD) (1)</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36</a:t>
            </a:fld>
            <a:endParaRPr lang="zh-TW" altLang="en-US"/>
          </a:p>
        </p:txBody>
      </p:sp>
      <p:sp>
        <p:nvSpPr>
          <p:cNvPr id="4" name="矩形 3"/>
          <p:cNvSpPr/>
          <p:nvPr/>
        </p:nvSpPr>
        <p:spPr>
          <a:xfrm>
            <a:off x="191073" y="1412776"/>
            <a:ext cx="8496944" cy="2308324"/>
          </a:xfrm>
          <a:prstGeom prst="rect">
            <a:avLst/>
          </a:prstGeom>
        </p:spPr>
        <p:txBody>
          <a:bodyPr wrap="square">
            <a:spAutoFit/>
          </a:bodyPr>
          <a:lstStyle/>
          <a:p>
            <a:r>
              <a:rPr lang="en-US" altLang="zh-TW" dirty="0">
                <a:latin typeface="微軟正黑體" pitchFamily="34" charset="-120"/>
                <a:ea typeface="微軟正黑體" pitchFamily="34" charset="-120"/>
              </a:rPr>
              <a:t>Huang </a:t>
            </a:r>
            <a:r>
              <a:rPr lang="en-US" altLang="zh-TW" i="1" dirty="0">
                <a:latin typeface="微軟正黑體" pitchFamily="34" charset="-120"/>
                <a:ea typeface="微軟正黑體" pitchFamily="34" charset="-120"/>
              </a:rPr>
              <a:t>et al. </a:t>
            </a:r>
            <a:r>
              <a:rPr lang="zh-TW" altLang="en-US" dirty="0" smtClean="0">
                <a:latin typeface="微軟正黑體" pitchFamily="34" charset="-120"/>
                <a:ea typeface="微軟正黑體" pitchFamily="34" charset="-120"/>
              </a:rPr>
              <a:t>獲致一個</a:t>
            </a:r>
            <a:r>
              <a:rPr lang="zh-TW" altLang="en-US" dirty="0">
                <a:latin typeface="微軟正黑體" pitchFamily="34" charset="-120"/>
                <a:ea typeface="微軟正黑體" pitchFamily="34" charset="-120"/>
              </a:rPr>
              <a:t>結論。一個具備符合瞬時頻率物理意義</a:t>
            </a:r>
            <a:r>
              <a:rPr lang="zh-TW" altLang="en-US" dirty="0" smtClean="0">
                <a:latin typeface="微軟正黑體" pitchFamily="34" charset="-120"/>
                <a:ea typeface="微軟正黑體" pitchFamily="34" charset="-120"/>
              </a:rPr>
              <a:t>的時間</a:t>
            </a:r>
            <a:r>
              <a:rPr lang="zh-TW" altLang="en-US" dirty="0">
                <a:latin typeface="微軟正黑體" pitchFamily="34" charset="-120"/>
                <a:ea typeface="微軟正黑體" pitchFamily="34" charset="-120"/>
              </a:rPr>
              <a:t>序列必須滿足兩個條件</a:t>
            </a:r>
            <a:r>
              <a:rPr lang="zh-TW" altLang="en-US" dirty="0" smtClean="0">
                <a:latin typeface="微軟正黑體" pitchFamily="34" charset="-120"/>
                <a:ea typeface="微軟正黑體" pitchFamily="34" charset="-120"/>
              </a:rPr>
              <a:t>：</a:t>
            </a:r>
            <a:endParaRPr lang="en-US" altLang="zh-TW" dirty="0" smtClean="0">
              <a:latin typeface="微軟正黑體" pitchFamily="34" charset="-120"/>
              <a:ea typeface="微軟正黑體" pitchFamily="34" charset="-120"/>
            </a:endParaRPr>
          </a:p>
          <a:p>
            <a:pPr marL="342900" indent="-342900">
              <a:buFont typeface="+mj-lt"/>
              <a:buAutoNum type="arabicPeriod"/>
            </a:pPr>
            <a:r>
              <a:rPr lang="zh-TW" altLang="en-US" dirty="0" smtClean="0">
                <a:latin typeface="微軟正黑體" pitchFamily="34" charset="-120"/>
                <a:ea typeface="微軟正黑體" pitchFamily="34" charset="-120"/>
              </a:rPr>
              <a:t>此</a:t>
            </a:r>
            <a:r>
              <a:rPr lang="zh-TW" altLang="en-US" dirty="0">
                <a:latin typeface="微軟正黑體" pitchFamily="34" charset="-120"/>
                <a:ea typeface="微軟正黑體" pitchFamily="34" charset="-120"/>
              </a:rPr>
              <a:t>時間</a:t>
            </a:r>
            <a:r>
              <a:rPr lang="zh-TW" altLang="en-US" dirty="0" smtClean="0">
                <a:latin typeface="微軟正黑體" pitchFamily="34" charset="-120"/>
                <a:ea typeface="微軟正黑體" pitchFamily="34" charset="-120"/>
              </a:rPr>
              <a:t>序列於</a:t>
            </a:r>
            <a:r>
              <a:rPr lang="zh-TW" altLang="en-US" dirty="0">
                <a:latin typeface="微軟正黑體" pitchFamily="34" charset="-120"/>
                <a:ea typeface="微軟正黑體" pitchFamily="34" charset="-120"/>
              </a:rPr>
              <a:t>任兩相鄰局部極值</a:t>
            </a:r>
            <a:r>
              <a:rPr lang="en-US" altLang="zh-TW" dirty="0">
                <a:latin typeface="微軟正黑體" pitchFamily="34" charset="-120"/>
                <a:ea typeface="微軟正黑體" pitchFamily="34" charset="-120"/>
              </a:rPr>
              <a:t>(local extremes)</a:t>
            </a:r>
            <a:r>
              <a:rPr lang="zh-TW" altLang="en-US" dirty="0">
                <a:latin typeface="微軟正黑體" pitchFamily="34" charset="-120"/>
                <a:ea typeface="微軟正黑體" pitchFamily="34" charset="-120"/>
              </a:rPr>
              <a:t>之間</a:t>
            </a:r>
            <a:r>
              <a:rPr lang="zh-TW" altLang="en-US" dirty="0" smtClean="0">
                <a:latin typeface="微軟正黑體" pitchFamily="34" charset="-120"/>
                <a:ea typeface="微軟正黑體" pitchFamily="34" charset="-120"/>
              </a:rPr>
              <a:t>必須通過</a:t>
            </a:r>
            <a:r>
              <a:rPr lang="zh-TW" altLang="en-US" dirty="0">
                <a:latin typeface="微軟正黑體" pitchFamily="34" charset="-120"/>
                <a:ea typeface="微軟正黑體" pitchFamily="34" charset="-120"/>
              </a:rPr>
              <a:t>一零點</a:t>
            </a:r>
            <a:r>
              <a:rPr lang="en-US" altLang="zh-TW" dirty="0">
                <a:latin typeface="微軟正黑體" pitchFamily="34" charset="-120"/>
                <a:ea typeface="微軟正黑體" pitchFamily="34" charset="-120"/>
              </a:rPr>
              <a:t>(zero point)</a:t>
            </a:r>
            <a:r>
              <a:rPr lang="zh-TW" altLang="en-US" dirty="0" smtClean="0">
                <a:latin typeface="微軟正黑體" pitchFamily="34" charset="-120"/>
                <a:ea typeface="微軟正黑體" pitchFamily="34" charset="-120"/>
              </a:rPr>
              <a:t>；</a:t>
            </a:r>
            <a:endParaRPr lang="en-US" altLang="zh-TW" dirty="0" smtClean="0">
              <a:latin typeface="微軟正黑體" pitchFamily="34" charset="-120"/>
              <a:ea typeface="微軟正黑體" pitchFamily="34" charset="-120"/>
            </a:endParaRPr>
          </a:p>
          <a:p>
            <a:pPr marL="342900" indent="-342900">
              <a:buFont typeface="+mj-lt"/>
              <a:buAutoNum type="arabicPeriod"/>
            </a:pPr>
            <a:r>
              <a:rPr lang="zh-TW" altLang="en-US" dirty="0" smtClean="0">
                <a:latin typeface="微軟正黑體" pitchFamily="34" charset="-120"/>
                <a:ea typeface="微軟正黑體" pitchFamily="34" charset="-120"/>
              </a:rPr>
              <a:t>此</a:t>
            </a:r>
            <a:r>
              <a:rPr lang="zh-TW" altLang="en-US" dirty="0">
                <a:latin typeface="微軟正黑體" pitchFamily="34" charset="-120"/>
                <a:ea typeface="微軟正黑體" pitchFamily="34" charset="-120"/>
              </a:rPr>
              <a:t>時間序列的</a:t>
            </a:r>
            <a:r>
              <a:rPr lang="zh-TW" altLang="en-US" dirty="0" smtClean="0">
                <a:latin typeface="微軟正黑體" pitchFamily="34" charset="-120"/>
                <a:ea typeface="微軟正黑體" pitchFamily="34" charset="-120"/>
              </a:rPr>
              <a:t>局部</a:t>
            </a:r>
            <a:r>
              <a:rPr lang="zh-TW" altLang="en-US" dirty="0">
                <a:latin typeface="微軟正黑體" pitchFamily="34" charset="-120"/>
                <a:ea typeface="微軟正黑體" pitchFamily="34" charset="-120"/>
              </a:rPr>
              <a:t>平均值</a:t>
            </a:r>
            <a:r>
              <a:rPr lang="en-US" altLang="zh-TW" dirty="0">
                <a:latin typeface="微軟正黑體" pitchFamily="34" charset="-120"/>
                <a:ea typeface="微軟正黑體" pitchFamily="34" charset="-120"/>
              </a:rPr>
              <a:t>(local mean)</a:t>
            </a:r>
            <a:r>
              <a:rPr lang="zh-TW" altLang="en-US" dirty="0">
                <a:latin typeface="微軟正黑體" pitchFamily="34" charset="-120"/>
                <a:ea typeface="微軟正黑體" pitchFamily="34" charset="-120"/>
              </a:rPr>
              <a:t>必須為零</a:t>
            </a:r>
            <a:r>
              <a:rPr lang="zh-TW" altLang="en-US" dirty="0" smtClean="0">
                <a:latin typeface="微軟正黑體" pitchFamily="34" charset="-120"/>
                <a:ea typeface="微軟正黑體" pitchFamily="34" charset="-120"/>
              </a:rPr>
              <a:t>。</a:t>
            </a:r>
            <a:endParaRPr lang="en-US" altLang="zh-TW" dirty="0" smtClean="0">
              <a:latin typeface="微軟正黑體" pitchFamily="34" charset="-120"/>
              <a:ea typeface="微軟正黑體" pitchFamily="34" charset="-120"/>
            </a:endParaRPr>
          </a:p>
          <a:p>
            <a:pPr marL="342900" indent="-342900">
              <a:buFont typeface="+mj-lt"/>
              <a:buAutoNum type="arabicPeriod"/>
            </a:pPr>
            <a:endParaRPr lang="en-US" altLang="zh-TW" dirty="0">
              <a:latin typeface="微軟正黑體" pitchFamily="34" charset="-120"/>
              <a:ea typeface="微軟正黑體" pitchFamily="34" charset="-120"/>
            </a:endParaRPr>
          </a:p>
          <a:p>
            <a:r>
              <a:rPr lang="zh-TW" altLang="en-US" dirty="0" smtClean="0">
                <a:latin typeface="微軟正黑體" pitchFamily="34" charset="-120"/>
                <a:ea typeface="微軟正黑體" pitchFamily="34" charset="-120"/>
              </a:rPr>
              <a:t>使用</a:t>
            </a:r>
            <a:r>
              <a:rPr lang="en-US" altLang="zh-TW" dirty="0" err="1" smtClean="0">
                <a:latin typeface="微軟正黑體" pitchFamily="34" charset="-120"/>
                <a:ea typeface="微軟正黑體" pitchFamily="34" charset="-120"/>
              </a:rPr>
              <a:t>EMD先將原始訊號分解成多個滿足上列條件的</a:t>
            </a:r>
            <a:r>
              <a:rPr lang="en-US" altLang="zh-TW" dirty="0" smtClean="0">
                <a:latin typeface="微軟正黑體" pitchFamily="34" charset="-120"/>
                <a:ea typeface="微軟正黑體" pitchFamily="34" charset="-120"/>
              </a:rPr>
              <a:t> Intrinsic </a:t>
            </a:r>
            <a:r>
              <a:rPr lang="en-US" altLang="zh-TW" dirty="0">
                <a:latin typeface="微軟正黑體" pitchFamily="34" charset="-120"/>
                <a:ea typeface="微軟正黑體" pitchFamily="34" charset="-120"/>
              </a:rPr>
              <a:t>Mode </a:t>
            </a:r>
            <a:r>
              <a:rPr lang="en-US" altLang="zh-TW" dirty="0" smtClean="0">
                <a:latin typeface="微軟正黑體" pitchFamily="34" charset="-120"/>
                <a:ea typeface="微軟正黑體" pitchFamily="34" charset="-120"/>
              </a:rPr>
              <a:t>Function</a:t>
            </a:r>
            <a:r>
              <a:rPr lang="zh-TW" altLang="en-US" dirty="0" smtClean="0">
                <a:latin typeface="微軟正黑體" pitchFamily="34" charset="-120"/>
                <a:ea typeface="微軟正黑體" pitchFamily="34" charset="-120"/>
              </a:rPr>
              <a:t>（</a:t>
            </a:r>
            <a:r>
              <a:rPr lang="en-US" altLang="zh-TW" dirty="0" smtClean="0">
                <a:latin typeface="微軟正黑體" pitchFamily="34" charset="-120"/>
                <a:ea typeface="微軟正黑體" pitchFamily="34" charset="-120"/>
              </a:rPr>
              <a:t>IMF</a:t>
            </a:r>
            <a:r>
              <a:rPr lang="zh-TW" altLang="en-US" dirty="0">
                <a:latin typeface="微軟正黑體" pitchFamily="34" charset="-120"/>
                <a:ea typeface="微軟正黑體" pitchFamily="34" charset="-120"/>
              </a:rPr>
              <a:t>）</a:t>
            </a:r>
          </a:p>
        </p:txBody>
      </p:sp>
      <p:pic>
        <p:nvPicPr>
          <p:cNvPr id="122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525"/>
          <a:stretch/>
        </p:blipFill>
        <p:spPr bwMode="auto">
          <a:xfrm>
            <a:off x="467544" y="4005064"/>
            <a:ext cx="7636312" cy="1513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47162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 </a:t>
            </a:r>
            <a:r>
              <a:rPr lang="en-US" altLang="zh-TW" sz="3600" b="1" dirty="0" smtClean="0"/>
              <a:t>(2)</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37</a:t>
            </a:fld>
            <a:endParaRPr lang="zh-TW" altLang="en-US"/>
          </a:p>
        </p:txBody>
      </p:sp>
      <p:pic>
        <p:nvPicPr>
          <p:cNvPr id="133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1628800"/>
            <a:ext cx="6361734" cy="201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683568" y="1212114"/>
            <a:ext cx="6408712" cy="400110"/>
          </a:xfrm>
          <a:prstGeom prst="rect">
            <a:avLst/>
          </a:prstGeom>
          <a:noFill/>
        </p:spPr>
        <p:txBody>
          <a:bodyPr wrap="square" rtlCol="0">
            <a:spAutoFit/>
          </a:bodyPr>
          <a:lstStyle/>
          <a:p>
            <a:r>
              <a:rPr lang="en-US" altLang="zh-TW" sz="2000" dirty="0" smtClean="0">
                <a:solidFill>
                  <a:srgbClr val="C00000"/>
                </a:solidFill>
                <a:latin typeface="微軟正黑體" pitchFamily="34" charset="-120"/>
                <a:ea typeface="微軟正黑體" pitchFamily="34" charset="-120"/>
              </a:rPr>
              <a:t>IMF</a:t>
            </a:r>
            <a:r>
              <a:rPr lang="en-US" altLang="zh-TW" sz="2000" baseline="-25000" dirty="0" smtClean="0">
                <a:solidFill>
                  <a:srgbClr val="C00000"/>
                </a:solidFill>
                <a:latin typeface="微軟正黑體" pitchFamily="34" charset="-120"/>
                <a:ea typeface="微軟正黑體" pitchFamily="34" charset="-120"/>
              </a:rPr>
              <a:t>1</a:t>
            </a:r>
            <a:r>
              <a:rPr lang="en-US" altLang="zh-TW" sz="2000" dirty="0" smtClean="0">
                <a:solidFill>
                  <a:srgbClr val="C00000"/>
                </a:solidFill>
                <a:latin typeface="微軟正黑體" pitchFamily="34" charset="-120"/>
                <a:ea typeface="微軟正黑體" pitchFamily="34" charset="-120"/>
              </a:rPr>
              <a:t> iteration 0, step1:  </a:t>
            </a:r>
            <a:r>
              <a:rPr lang="en-US" altLang="zh-TW" sz="2000" dirty="0" err="1" smtClean="0">
                <a:solidFill>
                  <a:srgbClr val="C00000"/>
                </a:solidFill>
                <a:latin typeface="微軟正黑體" pitchFamily="34" charset="-120"/>
                <a:ea typeface="微軟正黑體" pitchFamily="34" charset="-120"/>
              </a:rPr>
              <a:t>找出</a:t>
            </a:r>
            <a:r>
              <a:rPr lang="en-US" altLang="zh-TW" sz="2000" dirty="0" smtClean="0">
                <a:solidFill>
                  <a:srgbClr val="C00000"/>
                </a:solidFill>
                <a:latin typeface="微軟正黑體" pitchFamily="34" charset="-120"/>
                <a:ea typeface="微軟正黑體" pitchFamily="34" charset="-120"/>
              </a:rPr>
              <a:t> local maximum</a:t>
            </a:r>
            <a:endParaRPr lang="zh-TW" altLang="en-US" sz="2000" dirty="0">
              <a:solidFill>
                <a:srgbClr val="C00000"/>
              </a:solidFill>
              <a:latin typeface="微軟正黑體" pitchFamily="34" charset="-120"/>
              <a:ea typeface="微軟正黑體" pitchFamily="34" charset="-120"/>
            </a:endParaRPr>
          </a:p>
        </p:txBody>
      </p:sp>
      <p:pic>
        <p:nvPicPr>
          <p:cNvPr id="13315"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3676"/>
          <a:stretch/>
        </p:blipFill>
        <p:spPr bwMode="auto">
          <a:xfrm>
            <a:off x="971600" y="4544904"/>
            <a:ext cx="7199808" cy="219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820587" y="3933056"/>
            <a:ext cx="7923451" cy="369332"/>
          </a:xfrm>
          <a:prstGeom prst="rect">
            <a:avLst/>
          </a:prstGeom>
        </p:spPr>
        <p:txBody>
          <a:bodyPr wrap="none">
            <a:spAutoFit/>
          </a:bodyPr>
          <a:lstStyle/>
          <a:p>
            <a:r>
              <a:rPr lang="en-US" altLang="zh-TW" dirty="0">
                <a:solidFill>
                  <a:srgbClr val="C00000"/>
                </a:solidFill>
                <a:latin typeface="微軟正黑體" pitchFamily="34" charset="-120"/>
                <a:ea typeface="微軟正黑體" pitchFamily="34" charset="-120"/>
              </a:rPr>
              <a:t>IMF</a:t>
            </a:r>
            <a:r>
              <a:rPr lang="en-US" altLang="zh-TW" baseline="-25000" dirty="0">
                <a:solidFill>
                  <a:srgbClr val="C00000"/>
                </a:solidFill>
                <a:latin typeface="微軟正黑體" pitchFamily="34" charset="-120"/>
                <a:ea typeface="微軟正黑體" pitchFamily="34" charset="-120"/>
              </a:rPr>
              <a:t>1</a:t>
            </a:r>
            <a:r>
              <a:rPr lang="en-US" altLang="zh-TW" dirty="0">
                <a:solidFill>
                  <a:srgbClr val="C00000"/>
                </a:solidFill>
                <a:latin typeface="微軟正黑體" pitchFamily="34" charset="-120"/>
                <a:ea typeface="微軟正黑體" pitchFamily="34" charset="-120"/>
              </a:rPr>
              <a:t> iteration </a:t>
            </a:r>
            <a:r>
              <a:rPr lang="en-US" altLang="zh-TW" dirty="0" smtClean="0">
                <a:solidFill>
                  <a:srgbClr val="C00000"/>
                </a:solidFill>
                <a:latin typeface="微軟正黑體" pitchFamily="34" charset="-120"/>
                <a:ea typeface="微軟正黑體" pitchFamily="34" charset="-120"/>
              </a:rPr>
              <a:t>0, step2:  </a:t>
            </a:r>
            <a:r>
              <a:rPr lang="en-US" altLang="zh-TW" dirty="0" err="1">
                <a:solidFill>
                  <a:srgbClr val="C00000"/>
                </a:solidFill>
                <a:latin typeface="微軟正黑體" pitchFamily="34" charset="-120"/>
                <a:ea typeface="微軟正黑體" pitchFamily="34" charset="-120"/>
              </a:rPr>
              <a:t>找出</a:t>
            </a:r>
            <a:r>
              <a:rPr lang="en-US" altLang="zh-TW" dirty="0">
                <a:solidFill>
                  <a:srgbClr val="C00000"/>
                </a:solidFill>
                <a:latin typeface="微軟正黑體" pitchFamily="34" charset="-120"/>
                <a:ea typeface="微軟正黑體" pitchFamily="34" charset="-120"/>
              </a:rPr>
              <a:t> local </a:t>
            </a:r>
            <a:r>
              <a:rPr lang="en-US" altLang="zh-TW" dirty="0" err="1" smtClean="0">
                <a:solidFill>
                  <a:srgbClr val="C00000"/>
                </a:solidFill>
                <a:latin typeface="微軟正黑體" pitchFamily="34" charset="-120"/>
                <a:ea typeface="微軟正黑體" pitchFamily="34" charset="-120"/>
              </a:rPr>
              <a:t>maximum的</a:t>
            </a:r>
            <a:r>
              <a:rPr lang="en-US" altLang="zh-TW" dirty="0" smtClean="0">
                <a:solidFill>
                  <a:srgbClr val="C00000"/>
                </a:solidFill>
                <a:latin typeface="微軟正黑體" pitchFamily="34" charset="-120"/>
                <a:ea typeface="微軟正黑體" pitchFamily="34" charset="-120"/>
              </a:rPr>
              <a:t> envelope (cubic function)</a:t>
            </a:r>
            <a:endParaRPr lang="zh-TW" altLang="en-US" dirty="0">
              <a:solidFill>
                <a:srgbClr val="C0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374850588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 </a:t>
            </a:r>
            <a:r>
              <a:rPr lang="en-US" altLang="zh-TW" sz="3600" b="1" dirty="0" smtClean="0"/>
              <a:t>(3)</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38</a:t>
            </a:fld>
            <a:endParaRPr lang="zh-TW" altLang="en-US"/>
          </a:p>
        </p:txBody>
      </p:sp>
      <p:pic>
        <p:nvPicPr>
          <p:cNvPr id="1433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288"/>
          <a:stretch/>
        </p:blipFill>
        <p:spPr bwMode="auto">
          <a:xfrm>
            <a:off x="683568" y="1846053"/>
            <a:ext cx="7102376" cy="2154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729160" y="1235529"/>
            <a:ext cx="8136904" cy="369332"/>
          </a:xfrm>
          <a:prstGeom prst="rect">
            <a:avLst/>
          </a:prstGeom>
        </p:spPr>
        <p:txBody>
          <a:bodyPr wrap="square">
            <a:spAutoFit/>
          </a:bodyPr>
          <a:lstStyle/>
          <a:p>
            <a:r>
              <a:rPr lang="en-US" altLang="zh-TW" dirty="0">
                <a:solidFill>
                  <a:srgbClr val="C00000"/>
                </a:solidFill>
                <a:latin typeface="微軟正黑體" pitchFamily="34" charset="-120"/>
                <a:ea typeface="微軟正黑體" pitchFamily="34" charset="-120"/>
              </a:rPr>
              <a:t>IMF</a:t>
            </a:r>
            <a:r>
              <a:rPr lang="en-US" altLang="zh-TW" baseline="-25000" dirty="0">
                <a:solidFill>
                  <a:srgbClr val="C00000"/>
                </a:solidFill>
                <a:latin typeface="微軟正黑體" pitchFamily="34" charset="-120"/>
                <a:ea typeface="微軟正黑體" pitchFamily="34" charset="-120"/>
              </a:rPr>
              <a:t>1</a:t>
            </a:r>
            <a:r>
              <a:rPr lang="en-US" altLang="zh-TW" dirty="0">
                <a:solidFill>
                  <a:srgbClr val="C00000"/>
                </a:solidFill>
                <a:latin typeface="微軟正黑體" pitchFamily="34" charset="-120"/>
                <a:ea typeface="微軟正黑體" pitchFamily="34" charset="-120"/>
              </a:rPr>
              <a:t> iteration </a:t>
            </a:r>
            <a:r>
              <a:rPr lang="en-US" altLang="zh-TW" dirty="0" smtClean="0">
                <a:solidFill>
                  <a:srgbClr val="C00000"/>
                </a:solidFill>
                <a:latin typeface="微軟正黑體" pitchFamily="34" charset="-120"/>
                <a:ea typeface="微軟正黑體" pitchFamily="34" charset="-120"/>
              </a:rPr>
              <a:t>0, step3, 4:  </a:t>
            </a:r>
            <a:r>
              <a:rPr lang="en-US" altLang="zh-TW" dirty="0" err="1" smtClean="0">
                <a:solidFill>
                  <a:srgbClr val="C00000"/>
                </a:solidFill>
                <a:latin typeface="微軟正黑體" pitchFamily="34" charset="-120"/>
                <a:ea typeface="微軟正黑體" pitchFamily="34" charset="-120"/>
              </a:rPr>
              <a:t>找出</a:t>
            </a:r>
            <a:r>
              <a:rPr lang="en-US" altLang="zh-TW" dirty="0" smtClean="0">
                <a:solidFill>
                  <a:srgbClr val="C00000"/>
                </a:solidFill>
                <a:latin typeface="微軟正黑體" pitchFamily="34" charset="-120"/>
                <a:ea typeface="微軟正黑體" pitchFamily="34" charset="-120"/>
              </a:rPr>
              <a:t> local </a:t>
            </a:r>
            <a:r>
              <a:rPr lang="en-US" altLang="zh-TW" dirty="0" err="1" smtClean="0">
                <a:solidFill>
                  <a:srgbClr val="C00000"/>
                </a:solidFill>
                <a:latin typeface="微軟正黑體" pitchFamily="34" charset="-120"/>
                <a:ea typeface="微軟正黑體" pitchFamily="34" charset="-120"/>
              </a:rPr>
              <a:t>miniimum的</a:t>
            </a:r>
            <a:r>
              <a:rPr lang="en-US" altLang="zh-TW" dirty="0" smtClean="0">
                <a:solidFill>
                  <a:srgbClr val="C00000"/>
                </a:solidFill>
                <a:latin typeface="微軟正黑體" pitchFamily="34" charset="-120"/>
                <a:ea typeface="微軟正黑體" pitchFamily="34" charset="-120"/>
              </a:rPr>
              <a:t> envelope (cubic function)</a:t>
            </a:r>
            <a:endParaRPr lang="zh-TW" altLang="en-US" dirty="0">
              <a:solidFill>
                <a:srgbClr val="C00000"/>
              </a:solidFill>
              <a:latin typeface="微軟正黑體" pitchFamily="34" charset="-120"/>
              <a:ea typeface="微軟正黑體" pitchFamily="34" charset="-120"/>
            </a:endParaRPr>
          </a:p>
        </p:txBody>
      </p:sp>
      <p:pic>
        <p:nvPicPr>
          <p:cNvPr id="1433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3956"/>
          <a:stretch/>
        </p:blipFill>
        <p:spPr bwMode="auto">
          <a:xfrm>
            <a:off x="683568" y="4653136"/>
            <a:ext cx="6915862" cy="2117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611560" y="4149080"/>
            <a:ext cx="8208912" cy="369332"/>
          </a:xfrm>
          <a:prstGeom prst="rect">
            <a:avLst/>
          </a:prstGeom>
        </p:spPr>
        <p:txBody>
          <a:bodyPr wrap="square">
            <a:spAutoFit/>
          </a:bodyPr>
          <a:lstStyle/>
          <a:p>
            <a:r>
              <a:rPr lang="en-US" altLang="zh-TW" dirty="0">
                <a:solidFill>
                  <a:srgbClr val="C00000"/>
                </a:solidFill>
                <a:latin typeface="微軟正黑體" pitchFamily="34" charset="-120"/>
                <a:ea typeface="微軟正黑體" pitchFamily="34" charset="-120"/>
              </a:rPr>
              <a:t>IMF</a:t>
            </a:r>
            <a:r>
              <a:rPr lang="en-US" altLang="zh-TW" baseline="-25000" dirty="0">
                <a:solidFill>
                  <a:srgbClr val="C00000"/>
                </a:solidFill>
                <a:latin typeface="微軟正黑體" pitchFamily="34" charset="-120"/>
                <a:ea typeface="微軟正黑體" pitchFamily="34" charset="-120"/>
              </a:rPr>
              <a:t>1</a:t>
            </a:r>
            <a:r>
              <a:rPr lang="en-US" altLang="zh-TW" dirty="0">
                <a:solidFill>
                  <a:srgbClr val="C00000"/>
                </a:solidFill>
                <a:latin typeface="微軟正黑體" pitchFamily="34" charset="-120"/>
                <a:ea typeface="微軟正黑體" pitchFamily="34" charset="-120"/>
              </a:rPr>
              <a:t> iteration </a:t>
            </a:r>
            <a:r>
              <a:rPr lang="en-US" altLang="zh-TW" dirty="0" smtClean="0">
                <a:solidFill>
                  <a:srgbClr val="C00000"/>
                </a:solidFill>
                <a:latin typeface="微軟正黑體" pitchFamily="34" charset="-120"/>
                <a:ea typeface="微軟正黑體" pitchFamily="34" charset="-120"/>
              </a:rPr>
              <a:t>0, step 5:  </a:t>
            </a:r>
            <a:r>
              <a:rPr lang="en-US" altLang="zh-TW" dirty="0" err="1" smtClean="0">
                <a:solidFill>
                  <a:srgbClr val="C00000"/>
                </a:solidFill>
                <a:latin typeface="微軟正黑體" pitchFamily="34" charset="-120"/>
                <a:ea typeface="微軟正黑體" pitchFamily="34" charset="-120"/>
              </a:rPr>
              <a:t>找出upper</a:t>
            </a:r>
            <a:r>
              <a:rPr lang="en-US" altLang="zh-TW" dirty="0" smtClean="0">
                <a:solidFill>
                  <a:srgbClr val="C00000"/>
                </a:solidFill>
                <a:latin typeface="微軟正黑體" pitchFamily="34" charset="-120"/>
                <a:ea typeface="微軟正黑體" pitchFamily="34" charset="-120"/>
              </a:rPr>
              <a:t> &amp; lower </a:t>
            </a:r>
            <a:r>
              <a:rPr lang="en-US" altLang="zh-TW" dirty="0" err="1" smtClean="0">
                <a:solidFill>
                  <a:srgbClr val="C00000"/>
                </a:solidFill>
                <a:latin typeface="微軟正黑體" pitchFamily="34" charset="-120"/>
                <a:ea typeface="微軟正黑體" pitchFamily="34" charset="-120"/>
              </a:rPr>
              <a:t>envelope的mean</a:t>
            </a:r>
            <a:r>
              <a:rPr lang="en-US" altLang="zh-TW" dirty="0" smtClean="0">
                <a:solidFill>
                  <a:srgbClr val="C00000"/>
                </a:solidFill>
                <a:latin typeface="微軟正黑體" pitchFamily="34" charset="-120"/>
                <a:ea typeface="微軟正黑體" pitchFamily="34" charset="-120"/>
              </a:rPr>
              <a:t> envelope m</a:t>
            </a:r>
            <a:r>
              <a:rPr lang="en-US" altLang="zh-TW" baseline="-25000" dirty="0" smtClean="0">
                <a:solidFill>
                  <a:srgbClr val="C00000"/>
                </a:solidFill>
                <a:latin typeface="微軟正黑體" pitchFamily="34" charset="-120"/>
                <a:ea typeface="微軟正黑體" pitchFamily="34" charset="-120"/>
              </a:rPr>
              <a:t>1</a:t>
            </a:r>
            <a:endParaRPr lang="zh-TW" altLang="en-US" baseline="-25000" dirty="0">
              <a:solidFill>
                <a:srgbClr val="C0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7487659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 </a:t>
            </a:r>
            <a:r>
              <a:rPr lang="en-US" altLang="zh-TW" sz="3600" b="1" dirty="0" smtClean="0"/>
              <a:t>(4)</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39</a:t>
            </a:fld>
            <a:endParaRPr lang="zh-TW" altLang="en-US"/>
          </a:p>
        </p:txBody>
      </p:sp>
      <p:pic>
        <p:nvPicPr>
          <p:cNvPr id="1536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864"/>
          <a:stretch/>
        </p:blipFill>
        <p:spPr bwMode="auto">
          <a:xfrm>
            <a:off x="267193" y="1268760"/>
            <a:ext cx="8481271" cy="431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2987824" y="5657671"/>
            <a:ext cx="5904656" cy="1200329"/>
          </a:xfrm>
          <a:prstGeom prst="rect">
            <a:avLst/>
          </a:prstGeom>
        </p:spPr>
        <p:txBody>
          <a:bodyPr wrap="square">
            <a:spAutoFit/>
          </a:bodyPr>
          <a:lstStyle/>
          <a:p>
            <a:r>
              <a:rPr lang="zh-TW" altLang="en-US" sz="2400" dirty="0">
                <a:latin typeface="微軟正黑體" pitchFamily="34" charset="-120"/>
                <a:ea typeface="微軟正黑體" pitchFamily="34" charset="-120"/>
              </a:rPr>
              <a:t>篩檢過程有兩個目的</a:t>
            </a:r>
          </a:p>
          <a:p>
            <a:r>
              <a:rPr lang="en-US" altLang="zh-TW" sz="2400" dirty="0">
                <a:latin typeface="微軟正黑體" pitchFamily="34" charset="-120"/>
                <a:ea typeface="微軟正黑體" pitchFamily="34" charset="-120"/>
              </a:rPr>
              <a:t>1.</a:t>
            </a:r>
            <a:r>
              <a:rPr lang="zh-TW" altLang="en-US" sz="2400" dirty="0">
                <a:latin typeface="微軟正黑體" pitchFamily="34" charset="-120"/>
                <a:ea typeface="微軟正黑體" pitchFamily="34" charset="-120"/>
              </a:rPr>
              <a:t>可消除載波</a:t>
            </a:r>
          </a:p>
          <a:p>
            <a:r>
              <a:rPr lang="en-US" altLang="zh-TW" sz="2400" dirty="0">
                <a:latin typeface="微軟正黑體" pitchFamily="34" charset="-120"/>
                <a:ea typeface="微軟正黑體" pitchFamily="34" charset="-120"/>
              </a:rPr>
              <a:t>2.</a:t>
            </a:r>
            <a:r>
              <a:rPr lang="zh-TW" altLang="en-US" sz="2400" dirty="0">
                <a:latin typeface="微軟正黑體" pitchFamily="34" charset="-120"/>
                <a:ea typeface="微軟正黑體" pitchFamily="34" charset="-120"/>
              </a:rPr>
              <a:t>使得波形更對稱</a:t>
            </a:r>
          </a:p>
        </p:txBody>
      </p:sp>
    </p:spTree>
    <p:extLst>
      <p:ext uri="{BB962C8B-B14F-4D97-AF65-F5344CB8AC3E}">
        <p14:creationId xmlns:p14="http://schemas.microsoft.com/office/powerpoint/2010/main" val="248981568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a:t>
            </a:r>
            <a:r>
              <a:rPr lang="en-US" altLang="zh-TW" sz="3600" b="1" dirty="0" smtClean="0"/>
              <a:t>)(</a:t>
            </a:r>
            <a:r>
              <a:rPr lang="en-US" altLang="zh-TW" sz="3600" b="1" dirty="0"/>
              <a:t>4)</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40</a:t>
            </a:fld>
            <a:endParaRPr lang="zh-TW" altLang="en-US"/>
          </a:p>
        </p:txBody>
      </p:sp>
      <p:pic>
        <p:nvPicPr>
          <p:cNvPr id="1638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2239"/>
          <a:stretch/>
        </p:blipFill>
        <p:spPr bwMode="auto">
          <a:xfrm>
            <a:off x="1130060" y="2060849"/>
            <a:ext cx="7258364" cy="258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611560" y="1340768"/>
            <a:ext cx="7416824" cy="369332"/>
          </a:xfrm>
          <a:prstGeom prst="rect">
            <a:avLst/>
          </a:prstGeom>
        </p:spPr>
        <p:txBody>
          <a:bodyPr wrap="square">
            <a:spAutoFit/>
          </a:bodyPr>
          <a:lstStyle/>
          <a:p>
            <a:r>
              <a:rPr lang="en-US" altLang="zh-TW" dirty="0">
                <a:solidFill>
                  <a:srgbClr val="C00000"/>
                </a:solidFill>
                <a:latin typeface="微軟正黑體" pitchFamily="34" charset="-120"/>
                <a:ea typeface="微軟正黑體" pitchFamily="34" charset="-120"/>
              </a:rPr>
              <a:t>IMF</a:t>
            </a:r>
            <a:r>
              <a:rPr lang="en-US" altLang="zh-TW" baseline="-25000" dirty="0">
                <a:solidFill>
                  <a:srgbClr val="C00000"/>
                </a:solidFill>
                <a:latin typeface="微軟正黑體" pitchFamily="34" charset="-120"/>
                <a:ea typeface="微軟正黑體" pitchFamily="34" charset="-120"/>
              </a:rPr>
              <a:t>1</a:t>
            </a:r>
            <a:r>
              <a:rPr lang="en-US" altLang="zh-TW" dirty="0">
                <a:solidFill>
                  <a:srgbClr val="C00000"/>
                </a:solidFill>
                <a:latin typeface="微軟正黑體" pitchFamily="34" charset="-120"/>
                <a:ea typeface="微軟正黑體" pitchFamily="34" charset="-120"/>
              </a:rPr>
              <a:t> iteration </a:t>
            </a:r>
            <a:r>
              <a:rPr lang="en-US" altLang="zh-TW" dirty="0" smtClean="0">
                <a:solidFill>
                  <a:srgbClr val="C00000"/>
                </a:solidFill>
                <a:latin typeface="微軟正黑體" pitchFamily="34" charset="-120"/>
                <a:ea typeface="微軟正黑體" pitchFamily="34" charset="-120"/>
              </a:rPr>
              <a:t>1, 重複上述step得到h1的mean envelope m</a:t>
            </a:r>
            <a:r>
              <a:rPr lang="en-US" altLang="zh-TW" baseline="-25000" dirty="0" smtClean="0">
                <a:solidFill>
                  <a:srgbClr val="C00000"/>
                </a:solidFill>
                <a:latin typeface="微軟正黑體" pitchFamily="34" charset="-120"/>
                <a:ea typeface="微軟正黑體" pitchFamily="34" charset="-120"/>
              </a:rPr>
              <a:t>11</a:t>
            </a:r>
            <a:endParaRPr lang="zh-TW" altLang="en-US" baseline="-25000" dirty="0">
              <a:solidFill>
                <a:srgbClr val="C00000"/>
              </a:solidFill>
              <a:latin typeface="微軟正黑體" pitchFamily="34" charset="-120"/>
              <a:ea typeface="微軟正黑體" pitchFamily="34" charset="-120"/>
            </a:endParaRPr>
          </a:p>
        </p:txBody>
      </p:sp>
      <p:pic>
        <p:nvPicPr>
          <p:cNvPr id="1638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3234"/>
          <a:stretch/>
        </p:blipFill>
        <p:spPr bwMode="auto">
          <a:xfrm>
            <a:off x="283058" y="4645411"/>
            <a:ext cx="8073827" cy="2139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p:cNvSpPr txBox="1"/>
          <p:nvPr/>
        </p:nvSpPr>
        <p:spPr>
          <a:xfrm>
            <a:off x="626004" y="2951413"/>
            <a:ext cx="504056" cy="400110"/>
          </a:xfrm>
          <a:prstGeom prst="rect">
            <a:avLst/>
          </a:prstGeom>
          <a:noFill/>
        </p:spPr>
        <p:txBody>
          <a:bodyPr wrap="square" rtlCol="0">
            <a:spAutoFit/>
          </a:bodyPr>
          <a:lstStyle/>
          <a:p>
            <a:r>
              <a:rPr lang="en-US" altLang="zh-TW" sz="2000" dirty="0" smtClean="0"/>
              <a:t>h</a:t>
            </a:r>
            <a:r>
              <a:rPr lang="en-US" altLang="zh-TW" sz="2000" baseline="-25000" dirty="0" smtClean="0"/>
              <a:t>1</a:t>
            </a:r>
            <a:endParaRPr lang="zh-TW" altLang="en-US" sz="2000" baseline="-25000" dirty="0"/>
          </a:p>
        </p:txBody>
      </p:sp>
    </p:spTree>
    <p:extLst>
      <p:ext uri="{BB962C8B-B14F-4D97-AF65-F5344CB8AC3E}">
        <p14:creationId xmlns:p14="http://schemas.microsoft.com/office/powerpoint/2010/main" val="98135687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a:t>
            </a:r>
            <a:r>
              <a:rPr lang="en-US" altLang="zh-TW" sz="3600" b="1" dirty="0" smtClean="0"/>
              <a:t>)(5)</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41</a:t>
            </a:fld>
            <a:endParaRPr lang="zh-TW" altLang="en-US"/>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2060848"/>
            <a:ext cx="9076631" cy="474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611560" y="1340768"/>
            <a:ext cx="8064896" cy="646331"/>
          </a:xfrm>
          <a:prstGeom prst="rect">
            <a:avLst/>
          </a:prstGeom>
        </p:spPr>
        <p:txBody>
          <a:bodyPr wrap="square">
            <a:spAutoFit/>
          </a:bodyPr>
          <a:lstStyle/>
          <a:p>
            <a:r>
              <a:rPr lang="en-US" altLang="zh-TW" dirty="0">
                <a:solidFill>
                  <a:srgbClr val="C00000"/>
                </a:solidFill>
                <a:latin typeface="微軟正黑體" pitchFamily="34" charset="-120"/>
                <a:ea typeface="微軟正黑體" pitchFamily="34" charset="-120"/>
              </a:rPr>
              <a:t>IMF</a:t>
            </a:r>
            <a:r>
              <a:rPr lang="en-US" altLang="zh-TW" baseline="-25000" dirty="0">
                <a:solidFill>
                  <a:srgbClr val="C00000"/>
                </a:solidFill>
                <a:latin typeface="微軟正黑體" pitchFamily="34" charset="-120"/>
                <a:ea typeface="微軟正黑體" pitchFamily="34" charset="-120"/>
              </a:rPr>
              <a:t>1</a:t>
            </a:r>
            <a:r>
              <a:rPr lang="en-US" altLang="zh-TW" dirty="0">
                <a:solidFill>
                  <a:srgbClr val="C00000"/>
                </a:solidFill>
                <a:latin typeface="微軟正黑體" pitchFamily="34" charset="-120"/>
                <a:ea typeface="微軟正黑體" pitchFamily="34" charset="-120"/>
              </a:rPr>
              <a:t> iteration </a:t>
            </a:r>
            <a:r>
              <a:rPr lang="en-US" altLang="zh-TW" dirty="0" smtClean="0">
                <a:solidFill>
                  <a:srgbClr val="C00000"/>
                </a:solidFill>
                <a:latin typeface="微軟正黑體" pitchFamily="34" charset="-120"/>
                <a:ea typeface="微軟正黑體" pitchFamily="34" charset="-120"/>
              </a:rPr>
              <a:t>k, 重複上述步驟直到h</a:t>
            </a:r>
            <a:r>
              <a:rPr lang="en-US" altLang="zh-TW" baseline="-25000" dirty="0" smtClean="0">
                <a:solidFill>
                  <a:srgbClr val="C00000"/>
                </a:solidFill>
                <a:latin typeface="微軟正黑體" pitchFamily="34" charset="-120"/>
                <a:ea typeface="微軟正黑體" pitchFamily="34" charset="-120"/>
              </a:rPr>
              <a:t>1k</a:t>
            </a:r>
            <a:r>
              <a:rPr lang="en-US" altLang="zh-TW" dirty="0" smtClean="0">
                <a:solidFill>
                  <a:srgbClr val="C00000"/>
                </a:solidFill>
                <a:latin typeface="微軟正黑體" pitchFamily="34" charset="-120"/>
                <a:ea typeface="微軟正黑體" pitchFamily="34" charset="-120"/>
              </a:rPr>
              <a:t>與h</a:t>
            </a:r>
            <a:r>
              <a:rPr lang="en-US" altLang="zh-TW" baseline="-25000" dirty="0" smtClean="0">
                <a:solidFill>
                  <a:srgbClr val="C00000"/>
                </a:solidFill>
                <a:latin typeface="微軟正黑體" pitchFamily="34" charset="-120"/>
                <a:ea typeface="微軟正黑體" pitchFamily="34" charset="-120"/>
              </a:rPr>
              <a:t>1(k-1)</a:t>
            </a:r>
            <a:r>
              <a:rPr lang="en-US" altLang="zh-TW" dirty="0" smtClean="0">
                <a:solidFill>
                  <a:srgbClr val="C00000"/>
                </a:solidFill>
                <a:latin typeface="微軟正黑體" pitchFamily="34" charset="-120"/>
                <a:ea typeface="微軟正黑體" pitchFamily="34" charset="-120"/>
              </a:rPr>
              <a:t>的SD之值小於0.1(自訂，建議為0.2~0.3)，得到原始訊號的IMF</a:t>
            </a:r>
            <a:r>
              <a:rPr lang="en-US" altLang="zh-TW" baseline="-25000" dirty="0" smtClean="0">
                <a:solidFill>
                  <a:srgbClr val="C00000"/>
                </a:solidFill>
                <a:latin typeface="微軟正黑體" pitchFamily="34" charset="-120"/>
                <a:ea typeface="微軟正黑體" pitchFamily="34" charset="-120"/>
              </a:rPr>
              <a:t>1 </a:t>
            </a:r>
            <a:r>
              <a:rPr lang="en-US" altLang="zh-TW" dirty="0" smtClean="0">
                <a:solidFill>
                  <a:srgbClr val="C00000"/>
                </a:solidFill>
                <a:latin typeface="微軟正黑體" pitchFamily="34" charset="-120"/>
                <a:ea typeface="微軟正黑體" pitchFamily="34" charset="-120"/>
              </a:rPr>
              <a:t>c</a:t>
            </a:r>
            <a:r>
              <a:rPr lang="en-US" altLang="zh-TW" baseline="-25000" dirty="0" smtClean="0">
                <a:solidFill>
                  <a:srgbClr val="C00000"/>
                </a:solidFill>
                <a:latin typeface="微軟正黑體" pitchFamily="34" charset="-120"/>
                <a:ea typeface="微軟正黑體" pitchFamily="34" charset="-120"/>
              </a:rPr>
              <a:t>1</a:t>
            </a:r>
            <a:endParaRPr lang="zh-TW" altLang="en-US" baseline="-25000" dirty="0">
              <a:solidFill>
                <a:srgbClr val="C0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332858834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a:t>Empirical mode decomposition (EMD</a:t>
            </a:r>
            <a:r>
              <a:rPr lang="en-US" altLang="zh-TW" sz="3600" b="1" dirty="0" smtClean="0"/>
              <a:t>)(6)</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42</a:t>
            </a:fld>
            <a:endParaRPr lang="zh-TW" altLang="en-US"/>
          </a:p>
        </p:txBody>
      </p:sp>
      <p:sp>
        <p:nvSpPr>
          <p:cNvPr id="4" name="矩形 3"/>
          <p:cNvSpPr/>
          <p:nvPr/>
        </p:nvSpPr>
        <p:spPr>
          <a:xfrm>
            <a:off x="611560" y="1340768"/>
            <a:ext cx="8064896" cy="461665"/>
          </a:xfrm>
          <a:prstGeom prst="rect">
            <a:avLst/>
          </a:prstGeom>
        </p:spPr>
        <p:txBody>
          <a:bodyPr wrap="square">
            <a:spAutoFit/>
          </a:bodyPr>
          <a:lstStyle/>
          <a:p>
            <a:r>
              <a:rPr lang="zh-TW" altLang="en-US" sz="2400" dirty="0" smtClean="0">
                <a:solidFill>
                  <a:srgbClr val="C00000"/>
                </a:solidFill>
                <a:latin typeface="微軟正黑體" pitchFamily="34" charset="-120"/>
                <a:ea typeface="微軟正黑體" pitchFamily="34" charset="-120"/>
              </a:rPr>
              <a:t>將</a:t>
            </a:r>
            <a:r>
              <a:rPr lang="en-US" altLang="zh-TW" sz="2400" dirty="0" smtClean="0">
                <a:solidFill>
                  <a:srgbClr val="C00000"/>
                </a:solidFill>
                <a:latin typeface="微軟正黑體" pitchFamily="34" charset="-120"/>
                <a:ea typeface="微軟正黑體" pitchFamily="34" charset="-120"/>
              </a:rPr>
              <a:t>x(t)-c</a:t>
            </a:r>
            <a:r>
              <a:rPr lang="en-US" altLang="zh-TW" sz="2400" baseline="-25000" dirty="0" smtClean="0">
                <a:solidFill>
                  <a:srgbClr val="C00000"/>
                </a:solidFill>
                <a:latin typeface="微軟正黑體" pitchFamily="34" charset="-120"/>
                <a:ea typeface="微軟正黑體" pitchFamily="34" charset="-120"/>
              </a:rPr>
              <a:t>1</a:t>
            </a:r>
            <a:r>
              <a:rPr lang="en-US" altLang="zh-TW" sz="2400" dirty="0" smtClean="0">
                <a:solidFill>
                  <a:srgbClr val="C00000"/>
                </a:solidFill>
                <a:latin typeface="微軟正黑體" pitchFamily="34" charset="-120"/>
                <a:ea typeface="微軟正黑體" pitchFamily="34" charset="-120"/>
              </a:rPr>
              <a:t>之後，繼續上述的分解得到IMF</a:t>
            </a:r>
            <a:r>
              <a:rPr lang="en-US" altLang="zh-TW" sz="2400" baseline="-25000" dirty="0" smtClean="0">
                <a:solidFill>
                  <a:srgbClr val="C00000"/>
                </a:solidFill>
                <a:latin typeface="微軟正黑體" pitchFamily="34" charset="-120"/>
                <a:ea typeface="微軟正黑體" pitchFamily="34" charset="-120"/>
              </a:rPr>
              <a:t>2</a:t>
            </a:r>
            <a:r>
              <a:rPr lang="en-US" altLang="zh-TW" sz="2400" dirty="0" smtClean="0">
                <a:solidFill>
                  <a:srgbClr val="C00000"/>
                </a:solidFill>
                <a:latin typeface="微軟正黑體" pitchFamily="34" charset="-120"/>
                <a:ea typeface="微軟正黑體" pitchFamily="34" charset="-120"/>
              </a:rPr>
              <a:t> c</a:t>
            </a:r>
            <a:r>
              <a:rPr lang="en-US" altLang="zh-TW" sz="2400" baseline="-25000" dirty="0" smtClean="0">
                <a:solidFill>
                  <a:srgbClr val="C00000"/>
                </a:solidFill>
                <a:latin typeface="微軟正黑體" pitchFamily="34" charset="-120"/>
                <a:ea typeface="微軟正黑體" pitchFamily="34" charset="-120"/>
              </a:rPr>
              <a:t>2</a:t>
            </a:r>
            <a:endParaRPr lang="zh-TW" altLang="en-US" sz="2400" baseline="-25000" dirty="0">
              <a:solidFill>
                <a:srgbClr val="C00000"/>
              </a:solidFill>
              <a:latin typeface="微軟正黑體" pitchFamily="34" charset="-120"/>
              <a:ea typeface="微軟正黑體" pitchFamily="34" charset="-120"/>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829992"/>
            <a:ext cx="7922904" cy="4866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40534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smtClean="0"/>
              <a:t>Empirical </a:t>
            </a:r>
            <a:r>
              <a:rPr lang="en-US" altLang="zh-TW" sz="3600" b="1" dirty="0"/>
              <a:t>mode decomposition (EMD</a:t>
            </a:r>
            <a:r>
              <a:rPr lang="en-US" altLang="zh-TW" sz="3600" b="1" dirty="0" smtClean="0"/>
              <a:t>)(7)</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43</a:t>
            </a:fld>
            <a:endParaRPr lang="zh-TW" altLang="en-US"/>
          </a:p>
        </p:txBody>
      </p:sp>
      <p:sp>
        <p:nvSpPr>
          <p:cNvPr id="4" name="矩形 3"/>
          <p:cNvSpPr/>
          <p:nvPr/>
        </p:nvSpPr>
        <p:spPr>
          <a:xfrm>
            <a:off x="755576" y="1226003"/>
            <a:ext cx="4943982" cy="369332"/>
          </a:xfrm>
          <a:prstGeom prst="rect">
            <a:avLst/>
          </a:prstGeom>
        </p:spPr>
        <p:txBody>
          <a:bodyPr wrap="none">
            <a:spAutoFit/>
          </a:bodyPr>
          <a:lstStyle/>
          <a:p>
            <a:r>
              <a:rPr lang="zh-TW" altLang="en-US" dirty="0">
                <a:solidFill>
                  <a:srgbClr val="C00000"/>
                </a:solidFill>
                <a:latin typeface="微軟正黑體" pitchFamily="34" charset="-120"/>
                <a:ea typeface="微軟正黑體" pitchFamily="34" charset="-120"/>
              </a:rPr>
              <a:t>將</a:t>
            </a:r>
            <a:r>
              <a:rPr lang="en-US" altLang="zh-TW" dirty="0">
                <a:solidFill>
                  <a:srgbClr val="C00000"/>
                </a:solidFill>
                <a:latin typeface="微軟正黑體" pitchFamily="34" charset="-120"/>
                <a:ea typeface="微軟正黑體" pitchFamily="34" charset="-120"/>
              </a:rPr>
              <a:t>x(t)-</a:t>
            </a:r>
            <a:r>
              <a:rPr lang="en-US" altLang="zh-TW" dirty="0" smtClean="0">
                <a:solidFill>
                  <a:srgbClr val="C00000"/>
                </a:solidFill>
                <a:latin typeface="微軟正黑體" pitchFamily="34" charset="-120"/>
                <a:ea typeface="微軟正黑體" pitchFamily="34" charset="-120"/>
              </a:rPr>
              <a:t>c</a:t>
            </a:r>
            <a:r>
              <a:rPr lang="en-US" altLang="zh-TW" baseline="-25000" dirty="0" smtClean="0">
                <a:solidFill>
                  <a:srgbClr val="C00000"/>
                </a:solidFill>
                <a:latin typeface="微軟正黑體" pitchFamily="34" charset="-120"/>
                <a:ea typeface="微軟正黑體" pitchFamily="34" charset="-120"/>
              </a:rPr>
              <a:t>1</a:t>
            </a:r>
            <a:r>
              <a:rPr lang="en-US" altLang="zh-TW" dirty="0" smtClean="0">
                <a:solidFill>
                  <a:srgbClr val="C00000"/>
                </a:solidFill>
                <a:latin typeface="微軟正黑體" pitchFamily="34" charset="-120"/>
                <a:ea typeface="微軟正黑體" pitchFamily="34" charset="-120"/>
              </a:rPr>
              <a:t>-c</a:t>
            </a:r>
            <a:r>
              <a:rPr lang="en-US" altLang="zh-TW" baseline="-25000" dirty="0" smtClean="0">
                <a:solidFill>
                  <a:srgbClr val="C00000"/>
                </a:solidFill>
                <a:latin typeface="微軟正黑體" pitchFamily="34" charset="-120"/>
                <a:ea typeface="微軟正黑體" pitchFamily="34" charset="-120"/>
              </a:rPr>
              <a:t>2</a:t>
            </a:r>
            <a:r>
              <a:rPr lang="en-US" altLang="zh-TW" dirty="0" smtClean="0">
                <a:solidFill>
                  <a:srgbClr val="C00000"/>
                </a:solidFill>
                <a:latin typeface="微軟正黑體" pitchFamily="34" charset="-120"/>
                <a:ea typeface="微軟正黑體" pitchFamily="34" charset="-120"/>
              </a:rPr>
              <a:t>之後</a:t>
            </a:r>
            <a:r>
              <a:rPr lang="en-US" altLang="zh-TW" dirty="0">
                <a:solidFill>
                  <a:srgbClr val="C00000"/>
                </a:solidFill>
                <a:latin typeface="微軟正黑體" pitchFamily="34" charset="-120"/>
                <a:ea typeface="微軟正黑體" pitchFamily="34" charset="-120"/>
              </a:rPr>
              <a:t>，繼續上述的分解得到</a:t>
            </a:r>
            <a:r>
              <a:rPr lang="en-US" altLang="zh-TW" dirty="0" smtClean="0">
                <a:solidFill>
                  <a:srgbClr val="C00000"/>
                </a:solidFill>
                <a:latin typeface="微軟正黑體" pitchFamily="34" charset="-120"/>
                <a:ea typeface="微軟正黑體" pitchFamily="34" charset="-120"/>
              </a:rPr>
              <a:t>IMF</a:t>
            </a:r>
            <a:r>
              <a:rPr lang="en-US" altLang="zh-TW" baseline="-25000" dirty="0" smtClean="0">
                <a:solidFill>
                  <a:srgbClr val="C00000"/>
                </a:solidFill>
                <a:latin typeface="微軟正黑體" pitchFamily="34" charset="-120"/>
                <a:ea typeface="微軟正黑體" pitchFamily="34" charset="-120"/>
              </a:rPr>
              <a:t>3</a:t>
            </a:r>
            <a:r>
              <a:rPr lang="en-US" altLang="zh-TW" dirty="0" smtClean="0">
                <a:solidFill>
                  <a:srgbClr val="C00000"/>
                </a:solidFill>
                <a:latin typeface="微軟正黑體" pitchFamily="34" charset="-120"/>
                <a:ea typeface="微軟正黑體" pitchFamily="34" charset="-120"/>
              </a:rPr>
              <a:t> c</a:t>
            </a:r>
            <a:r>
              <a:rPr lang="en-US" altLang="zh-TW" baseline="-25000" dirty="0" smtClean="0">
                <a:solidFill>
                  <a:srgbClr val="C00000"/>
                </a:solidFill>
                <a:latin typeface="微軟正黑體" pitchFamily="34" charset="-120"/>
                <a:ea typeface="微軟正黑體" pitchFamily="34" charset="-120"/>
              </a:rPr>
              <a:t>3</a:t>
            </a:r>
            <a:endParaRPr lang="zh-TW" altLang="en-US" baseline="-25000" dirty="0">
              <a:solidFill>
                <a:srgbClr val="C00000"/>
              </a:solidFill>
              <a:latin typeface="微軟正黑體" pitchFamily="34" charset="-120"/>
              <a:ea typeface="微軟正黑體" pitchFamily="34" charset="-120"/>
            </a:endParaRP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3410" y="1916832"/>
            <a:ext cx="6404463" cy="4703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181860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39552" y="77335"/>
            <a:ext cx="8229600" cy="1143000"/>
          </a:xfrm>
        </p:spPr>
        <p:txBody>
          <a:bodyPr>
            <a:normAutofit/>
          </a:bodyPr>
          <a:lstStyle/>
          <a:p>
            <a:r>
              <a:rPr lang="en-US" altLang="zh-TW" sz="3200" b="1" dirty="0"/>
              <a:t>Empirical mode decomposition (EMD</a:t>
            </a:r>
            <a:r>
              <a:rPr lang="en-US" altLang="zh-TW" sz="3200" b="1" dirty="0" smtClean="0"/>
              <a:t>)(8)</a:t>
            </a:r>
            <a:endParaRPr lang="zh-TW" altLang="en-US" sz="32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44</a:t>
            </a:fld>
            <a:endParaRPr lang="zh-TW" altLang="en-US"/>
          </a:p>
        </p:txBody>
      </p:sp>
      <p:sp>
        <p:nvSpPr>
          <p:cNvPr id="4" name="矩形 3"/>
          <p:cNvSpPr/>
          <p:nvPr/>
        </p:nvSpPr>
        <p:spPr>
          <a:xfrm>
            <a:off x="539552" y="980728"/>
            <a:ext cx="8208912" cy="830997"/>
          </a:xfrm>
          <a:prstGeom prst="rect">
            <a:avLst/>
          </a:prstGeom>
        </p:spPr>
        <p:txBody>
          <a:bodyPr wrap="square">
            <a:spAutoFit/>
          </a:bodyPr>
          <a:lstStyle/>
          <a:p>
            <a:r>
              <a:rPr lang="zh-TW" altLang="en-US" sz="2400" dirty="0">
                <a:latin typeface="微軟正黑體" pitchFamily="34" charset="-120"/>
                <a:ea typeface="微軟正黑體" pitchFamily="34" charset="-120"/>
              </a:rPr>
              <a:t>當訊號之極值數目小於</a:t>
            </a:r>
            <a:r>
              <a:rPr lang="en-US" altLang="zh-TW" sz="2400" dirty="0">
                <a:latin typeface="微軟正黑體" pitchFamily="34" charset="-120"/>
                <a:ea typeface="微軟正黑體" pitchFamily="34" charset="-120"/>
              </a:rPr>
              <a:t>2</a:t>
            </a:r>
            <a:r>
              <a:rPr lang="zh-TW" altLang="en-US" sz="2400" dirty="0" smtClean="0">
                <a:latin typeface="微軟正黑體" pitchFamily="34" charset="-120"/>
                <a:ea typeface="微軟正黑體" pitchFamily="34" charset="-120"/>
              </a:rPr>
              <a:t>，或是</a:t>
            </a:r>
            <a:r>
              <a:rPr lang="zh-TW" altLang="en-US" sz="2400" dirty="0">
                <a:latin typeface="微軟正黑體" pitchFamily="34" charset="-120"/>
                <a:ea typeface="微軟正黑體" pitchFamily="34" charset="-120"/>
              </a:rPr>
              <a:t>訊號能量已經小於設定的門檻值（例如原始</a:t>
            </a:r>
            <a:r>
              <a:rPr lang="zh-TW" altLang="en-US" sz="2400" dirty="0" smtClean="0">
                <a:latin typeface="微軟正黑體" pitchFamily="34" charset="-120"/>
                <a:ea typeface="微軟正黑體" pitchFamily="34" charset="-120"/>
              </a:rPr>
              <a:t>訊號</a:t>
            </a:r>
            <a:r>
              <a:rPr lang="en-US" altLang="zh-TW" sz="2400" dirty="0" smtClean="0">
                <a:latin typeface="微軟正黑體" pitchFamily="34" charset="-120"/>
                <a:ea typeface="微軟正黑體" pitchFamily="34" charset="-120"/>
              </a:rPr>
              <a:t>1</a:t>
            </a:r>
            <a:r>
              <a:rPr lang="en-US" altLang="zh-TW" sz="2400" dirty="0">
                <a:latin typeface="微軟正黑體" pitchFamily="34" charset="-120"/>
                <a:ea typeface="微軟正黑體" pitchFamily="34" charset="-120"/>
              </a:rPr>
              <a:t>%</a:t>
            </a:r>
            <a:r>
              <a:rPr lang="zh-TW" altLang="en-US" sz="2400" dirty="0">
                <a:latin typeface="微軟正黑體" pitchFamily="34" charset="-120"/>
                <a:ea typeface="微軟正黑體" pitchFamily="34" charset="-120"/>
              </a:rPr>
              <a:t>），整個篩檢過程即停止。</a:t>
            </a:r>
          </a:p>
        </p:txBody>
      </p:sp>
      <p:pic>
        <p:nvPicPr>
          <p:cNvPr id="2048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3347864" y="3068959"/>
            <a:ext cx="5257443" cy="3666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5525"/>
          <a:stretch/>
        </p:blipFill>
        <p:spPr bwMode="auto">
          <a:xfrm>
            <a:off x="3851920" y="2060848"/>
            <a:ext cx="4539968" cy="900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p:cNvSpPr txBox="1"/>
          <p:nvPr/>
        </p:nvSpPr>
        <p:spPr>
          <a:xfrm>
            <a:off x="899592" y="6165304"/>
            <a:ext cx="2376264" cy="369332"/>
          </a:xfrm>
          <a:prstGeom prst="rect">
            <a:avLst/>
          </a:prstGeom>
          <a:noFill/>
        </p:spPr>
        <p:txBody>
          <a:bodyPr wrap="square" rtlCol="0">
            <a:spAutoFit/>
          </a:bodyPr>
          <a:lstStyle/>
          <a:p>
            <a:r>
              <a:rPr lang="zh-TW" altLang="en-US" dirty="0" smtClean="0">
                <a:solidFill>
                  <a:srgbClr val="C00000"/>
                </a:solidFill>
                <a:latin typeface="微軟正黑體" pitchFamily="34" charset="-120"/>
                <a:ea typeface="微軟正黑體" pitchFamily="34" charset="-120"/>
              </a:rPr>
              <a:t>殘餘序列，非</a:t>
            </a:r>
            <a:r>
              <a:rPr lang="en-US" altLang="zh-TW" dirty="0" smtClean="0">
                <a:solidFill>
                  <a:srgbClr val="C00000"/>
                </a:solidFill>
                <a:latin typeface="微軟正黑體" pitchFamily="34" charset="-120"/>
                <a:ea typeface="微軟正黑體" pitchFamily="34" charset="-120"/>
              </a:rPr>
              <a:t>IMF</a:t>
            </a:r>
            <a:endParaRPr lang="zh-TW" altLang="en-US" dirty="0">
              <a:solidFill>
                <a:srgbClr val="C00000"/>
              </a:solidFill>
              <a:latin typeface="微軟正黑體" pitchFamily="34" charset="-120"/>
              <a:ea typeface="微軟正黑體" pitchFamily="34" charset="-120"/>
            </a:endParaRPr>
          </a:p>
        </p:txBody>
      </p:sp>
      <mc:AlternateContent xmlns:mc="http://schemas.openxmlformats.org/markup-compatibility/2006" xmlns:a14="http://schemas.microsoft.com/office/drawing/2010/main">
        <mc:Choice Requires="a14">
          <p:sp>
            <p:nvSpPr>
              <p:cNvPr id="7" name="文字方塊 6"/>
              <p:cNvSpPr txBox="1"/>
              <p:nvPr/>
            </p:nvSpPr>
            <p:spPr>
              <a:xfrm>
                <a:off x="539552" y="2197823"/>
                <a:ext cx="2016224" cy="8711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a:rPr>
                        <m:t>𝑋</m:t>
                      </m:r>
                      <m:d>
                        <m:dPr>
                          <m:ctrlPr>
                            <a:rPr lang="en-US" altLang="zh-TW" b="0" i="1" smtClean="0">
                              <a:latin typeface="Cambria Math"/>
                            </a:rPr>
                          </m:ctrlPr>
                        </m:dPr>
                        <m:e>
                          <m:r>
                            <a:rPr lang="en-US" altLang="zh-TW" b="0" i="1" smtClean="0">
                              <a:latin typeface="Cambria Math"/>
                            </a:rPr>
                            <m:t>𝑡</m:t>
                          </m:r>
                        </m:e>
                      </m:d>
                      <m:r>
                        <a:rPr lang="en-US" altLang="zh-TW" b="0" i="1" smtClean="0">
                          <a:latin typeface="Cambria Math"/>
                        </a:rPr>
                        <m:t>=</m:t>
                      </m:r>
                      <m:nary>
                        <m:naryPr>
                          <m:chr m:val="∑"/>
                          <m:ctrlPr>
                            <a:rPr lang="en-US" altLang="zh-TW" b="0" i="1" smtClean="0">
                              <a:latin typeface="Cambria Math"/>
                            </a:rPr>
                          </m:ctrlPr>
                        </m:naryPr>
                        <m:sub>
                          <m:r>
                            <m:rPr>
                              <m:brk m:alnAt="23"/>
                            </m:rPr>
                            <a:rPr lang="en-US" altLang="zh-TW" b="0" i="1" smtClean="0">
                              <a:latin typeface="Cambria Math"/>
                            </a:rPr>
                            <m:t>𝑖</m:t>
                          </m:r>
                          <m:r>
                            <a:rPr lang="en-US" altLang="zh-TW" b="0" i="1" smtClean="0">
                              <a:latin typeface="Cambria Math"/>
                            </a:rPr>
                            <m:t>=1</m:t>
                          </m:r>
                        </m:sub>
                        <m:sup>
                          <m:r>
                            <a:rPr lang="en-US" altLang="zh-TW" b="0" i="1" smtClean="0">
                              <a:latin typeface="Cambria Math"/>
                            </a:rPr>
                            <m:t>6</m:t>
                          </m:r>
                        </m:sup>
                        <m:e>
                          <m:sSub>
                            <m:sSubPr>
                              <m:ctrlPr>
                                <a:rPr lang="en-US" altLang="zh-TW" b="0" i="1" smtClean="0">
                                  <a:latin typeface="Cambria Math"/>
                                </a:rPr>
                              </m:ctrlPr>
                            </m:sSubPr>
                            <m:e>
                              <m:r>
                                <a:rPr lang="en-US" altLang="zh-TW" b="0" i="1" smtClean="0">
                                  <a:latin typeface="Cambria Math"/>
                                </a:rPr>
                                <m:t>𝑐</m:t>
                              </m:r>
                            </m:e>
                            <m:sub>
                              <m:r>
                                <a:rPr lang="en-US" altLang="zh-TW" b="0" i="1" smtClean="0">
                                  <a:latin typeface="Cambria Math"/>
                                </a:rPr>
                                <m:t>𝑖</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𝑟</m:t>
                              </m:r>
                            </m:e>
                            <m:sub>
                              <m:r>
                                <a:rPr lang="en-US" altLang="zh-TW" b="0" i="1" smtClean="0">
                                  <a:latin typeface="Cambria Math"/>
                                </a:rPr>
                                <m:t>𝑛</m:t>
                              </m:r>
                            </m:sub>
                          </m:sSub>
                        </m:e>
                      </m:nary>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539552" y="2197823"/>
                <a:ext cx="2016224" cy="871136"/>
              </a:xfrm>
              <a:prstGeom prst="rect">
                <a:avLst/>
              </a:prstGeom>
              <a:blipFill rotWithShape="1">
                <a:blip r:embed="rId4"/>
                <a:stretch>
                  <a:fillRect/>
                </a:stretch>
              </a:blipFill>
            </p:spPr>
            <p:txBody>
              <a:bodyPr/>
              <a:lstStyle/>
              <a:p>
                <a:r>
                  <a:rPr lang="zh-TW" altLang="en-US">
                    <a:noFill/>
                  </a:rPr>
                  <a:t> </a:t>
                </a:r>
              </a:p>
            </p:txBody>
          </p:sp>
        </mc:Fallback>
      </mc:AlternateContent>
      <p:sp>
        <p:nvSpPr>
          <p:cNvPr id="8" name="文字方塊 7"/>
          <p:cNvSpPr txBox="1"/>
          <p:nvPr/>
        </p:nvSpPr>
        <p:spPr>
          <a:xfrm>
            <a:off x="395536" y="3212976"/>
            <a:ext cx="2952328" cy="1200329"/>
          </a:xfrm>
          <a:prstGeom prst="rect">
            <a:avLst/>
          </a:prstGeom>
          <a:noFill/>
        </p:spPr>
        <p:txBody>
          <a:bodyPr wrap="square" rtlCol="0">
            <a:spAutoFit/>
          </a:bodyPr>
          <a:lstStyle/>
          <a:p>
            <a:r>
              <a:rPr lang="zh-TW" altLang="en-US" dirty="0" smtClean="0">
                <a:solidFill>
                  <a:srgbClr val="C00000"/>
                </a:solidFill>
                <a:latin typeface="微軟正黑體" pitchFamily="34" charset="-120"/>
                <a:ea typeface="微軟正黑體" pitchFamily="34" charset="-120"/>
              </a:rPr>
              <a:t>即</a:t>
            </a:r>
            <a:r>
              <a:rPr lang="en-US" altLang="zh-TW" dirty="0" err="1" smtClean="0">
                <a:solidFill>
                  <a:srgbClr val="C00000"/>
                </a:solidFill>
                <a:latin typeface="微軟正黑體" pitchFamily="34" charset="-120"/>
                <a:ea typeface="微軟正黑體" pitchFamily="34" charset="-120"/>
              </a:rPr>
              <a:t>可由IMF訊號疊加後復原到原始訊號X</a:t>
            </a:r>
            <a:r>
              <a:rPr lang="en-US" altLang="zh-TW" dirty="0" smtClean="0">
                <a:solidFill>
                  <a:srgbClr val="C00000"/>
                </a:solidFill>
                <a:latin typeface="微軟正黑體" pitchFamily="34" charset="-120"/>
                <a:ea typeface="微軟正黑體" pitchFamily="34" charset="-120"/>
              </a:rPr>
              <a:t>(t)</a:t>
            </a:r>
          </a:p>
          <a:p>
            <a:endParaRPr lang="en-US" altLang="zh-TW" dirty="0">
              <a:solidFill>
                <a:srgbClr val="C00000"/>
              </a:solidFill>
              <a:latin typeface="微軟正黑體" pitchFamily="34" charset="-120"/>
              <a:ea typeface="微軟正黑體" pitchFamily="34" charset="-120"/>
            </a:endParaRPr>
          </a:p>
          <a:p>
            <a:r>
              <a:rPr lang="en-US" altLang="zh-TW" dirty="0" err="1" smtClean="0">
                <a:solidFill>
                  <a:srgbClr val="C00000"/>
                </a:solidFill>
                <a:latin typeface="微軟正黑體" pitchFamily="34" charset="-120"/>
                <a:ea typeface="微軟正黑體" pitchFamily="34" charset="-120"/>
              </a:rPr>
              <a:t>IMF訊號之間接近正交</a:t>
            </a:r>
            <a:r>
              <a:rPr lang="en-US" altLang="zh-TW" dirty="0" smtClean="0">
                <a:solidFill>
                  <a:srgbClr val="C00000"/>
                </a:solidFill>
                <a:latin typeface="微軟正黑體" pitchFamily="34" charset="-120"/>
                <a:ea typeface="微軟正黑體" pitchFamily="34" charset="-120"/>
              </a:rPr>
              <a:t>!!</a:t>
            </a:r>
            <a:endParaRPr lang="zh-TW" altLang="en-US" dirty="0">
              <a:solidFill>
                <a:srgbClr val="C00000"/>
              </a:solidFill>
              <a:latin typeface="微軟正黑體" pitchFamily="34" charset="-120"/>
              <a:ea typeface="微軟正黑體" pitchFamily="34" charset="-120"/>
            </a:endParaRPr>
          </a:p>
        </p:txBody>
      </p:sp>
    </p:spTree>
    <p:extLst>
      <p:ext uri="{BB962C8B-B14F-4D97-AF65-F5344CB8AC3E}">
        <p14:creationId xmlns:p14="http://schemas.microsoft.com/office/powerpoint/2010/main" val="18200579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b="1" dirty="0" smtClean="0"/>
              <a:t>Reconstruction (1)</a:t>
            </a:r>
            <a:endParaRPr lang="zh-TW" altLang="en-US" sz="3600"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45</a:t>
            </a:fld>
            <a:endParaRPr lang="zh-TW" altLang="en-US"/>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429891"/>
            <a:ext cx="6248911" cy="4862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1187624" y="1484784"/>
            <a:ext cx="792088" cy="461665"/>
          </a:xfrm>
          <a:prstGeom prst="rect">
            <a:avLst/>
          </a:prstGeom>
          <a:noFill/>
        </p:spPr>
        <p:txBody>
          <a:bodyPr wrap="square" rtlCol="0">
            <a:spAutoFit/>
          </a:bodyPr>
          <a:lstStyle/>
          <a:p>
            <a:r>
              <a:rPr lang="en-US" altLang="zh-TW" sz="2400" dirty="0" smtClean="0"/>
              <a:t>c</a:t>
            </a:r>
            <a:r>
              <a:rPr lang="en-US" altLang="zh-TW" sz="2400" baseline="-25000" dirty="0" smtClean="0"/>
              <a:t>1</a:t>
            </a:r>
            <a:endParaRPr lang="zh-TW" altLang="en-US" sz="2400" baseline="-25000" dirty="0"/>
          </a:p>
        </p:txBody>
      </p:sp>
      <p:sp>
        <p:nvSpPr>
          <p:cNvPr id="6" name="文字方塊 5"/>
          <p:cNvSpPr txBox="1"/>
          <p:nvPr/>
        </p:nvSpPr>
        <p:spPr>
          <a:xfrm>
            <a:off x="971600" y="2204863"/>
            <a:ext cx="1224136" cy="461665"/>
          </a:xfrm>
          <a:prstGeom prst="rect">
            <a:avLst/>
          </a:prstGeom>
          <a:noFill/>
        </p:spPr>
        <p:txBody>
          <a:bodyPr wrap="square" rtlCol="0">
            <a:spAutoFit/>
          </a:bodyPr>
          <a:lstStyle/>
          <a:p>
            <a:r>
              <a:rPr lang="en-US" altLang="zh-TW" sz="2400" dirty="0" smtClean="0"/>
              <a:t>c</a:t>
            </a:r>
            <a:r>
              <a:rPr lang="en-US" altLang="zh-TW" sz="2400" baseline="-25000" dirty="0" smtClean="0"/>
              <a:t>1</a:t>
            </a:r>
            <a:r>
              <a:rPr lang="en-US" altLang="zh-TW" sz="2400" dirty="0" smtClean="0"/>
              <a:t>+c</a:t>
            </a:r>
            <a:r>
              <a:rPr lang="en-US" altLang="zh-TW" sz="2400" baseline="-25000" dirty="0" smtClean="0"/>
              <a:t>2</a:t>
            </a:r>
            <a:endParaRPr lang="zh-TW" altLang="en-US" sz="2400" baseline="-25000" dirty="0"/>
          </a:p>
        </p:txBody>
      </p:sp>
      <p:sp>
        <p:nvSpPr>
          <p:cNvPr id="7" name="文字方塊 6"/>
          <p:cNvSpPr txBox="1"/>
          <p:nvPr/>
        </p:nvSpPr>
        <p:spPr>
          <a:xfrm>
            <a:off x="827584" y="2996952"/>
            <a:ext cx="1224136" cy="461665"/>
          </a:xfrm>
          <a:prstGeom prst="rect">
            <a:avLst/>
          </a:prstGeom>
          <a:noFill/>
        </p:spPr>
        <p:txBody>
          <a:bodyPr wrap="square" rtlCol="0">
            <a:spAutoFit/>
          </a:bodyPr>
          <a:lstStyle/>
          <a:p>
            <a:r>
              <a:rPr lang="en-US" altLang="zh-TW" sz="2400" dirty="0" smtClean="0"/>
              <a:t>c</a:t>
            </a:r>
            <a:r>
              <a:rPr lang="en-US" altLang="zh-TW" sz="2400" baseline="-25000" dirty="0" smtClean="0"/>
              <a:t>1</a:t>
            </a:r>
            <a:r>
              <a:rPr lang="en-US" altLang="zh-TW" sz="2400" dirty="0" smtClean="0"/>
              <a:t>+c</a:t>
            </a:r>
            <a:r>
              <a:rPr lang="en-US" altLang="zh-TW" sz="2400" baseline="-25000" dirty="0" smtClean="0"/>
              <a:t>2</a:t>
            </a:r>
            <a:r>
              <a:rPr lang="en-US" altLang="zh-TW" sz="2400" dirty="0"/>
              <a:t>+c</a:t>
            </a:r>
            <a:r>
              <a:rPr lang="en-US" altLang="zh-TW" sz="2400" baseline="-25000" dirty="0"/>
              <a:t>3</a:t>
            </a:r>
            <a:endParaRPr lang="zh-TW" altLang="en-US" sz="2400" baseline="-25000" dirty="0"/>
          </a:p>
        </p:txBody>
      </p:sp>
      <p:sp>
        <p:nvSpPr>
          <p:cNvPr id="5" name="文字方塊 4"/>
          <p:cNvSpPr txBox="1"/>
          <p:nvPr/>
        </p:nvSpPr>
        <p:spPr>
          <a:xfrm>
            <a:off x="1187624" y="4077072"/>
            <a:ext cx="504056" cy="369332"/>
          </a:xfrm>
          <a:prstGeom prst="rect">
            <a:avLst/>
          </a:prstGeom>
          <a:noFill/>
        </p:spPr>
        <p:txBody>
          <a:bodyPr wrap="square" rtlCol="0">
            <a:spAutoFit/>
          </a:bodyPr>
          <a:lstStyle/>
          <a:p>
            <a:pPr algn="ctr"/>
            <a:r>
              <a:rPr lang="en-US" altLang="zh-TW" dirty="0" smtClean="0"/>
              <a:t>…</a:t>
            </a:r>
            <a:endParaRPr lang="zh-TW" altLang="en-US" dirty="0"/>
          </a:p>
        </p:txBody>
      </p:sp>
      <p:sp>
        <p:nvSpPr>
          <p:cNvPr id="9" name="文字方塊 8"/>
          <p:cNvSpPr txBox="1"/>
          <p:nvPr/>
        </p:nvSpPr>
        <p:spPr>
          <a:xfrm>
            <a:off x="1235790" y="5589240"/>
            <a:ext cx="504056" cy="369332"/>
          </a:xfrm>
          <a:prstGeom prst="rect">
            <a:avLst/>
          </a:prstGeom>
          <a:noFill/>
        </p:spPr>
        <p:txBody>
          <a:bodyPr wrap="square" rtlCol="0">
            <a:spAutoFit/>
          </a:bodyPr>
          <a:lstStyle/>
          <a:p>
            <a:pPr algn="ctr"/>
            <a:r>
              <a:rPr lang="en-US" altLang="zh-TW" dirty="0" smtClean="0"/>
              <a:t>X(t)</a:t>
            </a:r>
            <a:endParaRPr lang="zh-TW" altLang="en-US" dirty="0"/>
          </a:p>
        </p:txBody>
      </p:sp>
    </p:spTree>
    <p:extLst>
      <p:ext uri="{BB962C8B-B14F-4D97-AF65-F5344CB8AC3E}">
        <p14:creationId xmlns:p14="http://schemas.microsoft.com/office/powerpoint/2010/main" val="220744340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Reconstruction </a:t>
            </a:r>
            <a:r>
              <a:rPr lang="en-US" altLang="zh-TW" b="1" dirty="0" smtClean="0"/>
              <a:t>(2)</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46</a:t>
            </a:fld>
            <a:endParaRPr lang="zh-TW" alt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817" y="1624951"/>
            <a:ext cx="6336704" cy="4918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13112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Hilbert transform</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47</a:t>
            </a:fld>
            <a:endParaRPr lang="zh-TW" altLang="en-US"/>
          </a:p>
        </p:txBody>
      </p:sp>
      <p:sp>
        <p:nvSpPr>
          <p:cNvPr id="4" name="矩形 3"/>
          <p:cNvSpPr/>
          <p:nvPr/>
        </p:nvSpPr>
        <p:spPr>
          <a:xfrm>
            <a:off x="539552" y="1412776"/>
            <a:ext cx="8280920" cy="923330"/>
          </a:xfrm>
          <a:prstGeom prst="rect">
            <a:avLst/>
          </a:prstGeom>
        </p:spPr>
        <p:txBody>
          <a:bodyPr wrap="square">
            <a:spAutoFit/>
          </a:bodyPr>
          <a:lstStyle/>
          <a:p>
            <a:r>
              <a:rPr lang="zh-TW" altLang="en-US" dirty="0" smtClean="0">
                <a:latin typeface="微軟正黑體" pitchFamily="34" charset="-120"/>
                <a:ea typeface="微軟正黑體" pitchFamily="34" charset="-120"/>
              </a:rPr>
              <a:t>由於 </a:t>
            </a:r>
            <a:r>
              <a:rPr lang="en-US" altLang="zh-TW" dirty="0" smtClean="0">
                <a:latin typeface="微軟正黑體" pitchFamily="34" charset="-120"/>
                <a:ea typeface="微軟正黑體" pitchFamily="34" charset="-120"/>
              </a:rPr>
              <a:t>IMF</a:t>
            </a:r>
            <a:r>
              <a:rPr lang="en-US" altLang="zh-TW" baseline="-25000" dirty="0" smtClean="0">
                <a:latin typeface="微軟正黑體" pitchFamily="34" charset="-120"/>
                <a:ea typeface="微軟正黑體" pitchFamily="34" charset="-120"/>
              </a:rPr>
              <a:t>1</a:t>
            </a:r>
            <a:r>
              <a:rPr lang="en-US" altLang="zh-TW" dirty="0" smtClean="0">
                <a:latin typeface="微軟正黑體" pitchFamily="34" charset="-120"/>
                <a:ea typeface="微軟正黑體" pitchFamily="34" charset="-120"/>
              </a:rPr>
              <a:t>~IMF</a:t>
            </a:r>
            <a:r>
              <a:rPr lang="en-US" altLang="zh-TW" baseline="-25000" dirty="0" smtClean="0">
                <a:latin typeface="微軟正黑體" pitchFamily="34" charset="-120"/>
                <a:ea typeface="微軟正黑體" pitchFamily="34" charset="-120"/>
              </a:rPr>
              <a:t>n</a:t>
            </a:r>
            <a:r>
              <a:rPr lang="en-US" altLang="zh-TW" dirty="0" smtClean="0">
                <a:latin typeface="微軟正黑體" pitchFamily="34" charset="-120"/>
                <a:ea typeface="微軟正黑體" pitchFamily="34" charset="-120"/>
              </a:rPr>
              <a:t>會</a:t>
            </a:r>
            <a:r>
              <a:rPr lang="zh-TW" altLang="en-US" dirty="0" smtClean="0">
                <a:latin typeface="微軟正黑體" pitchFamily="34" charset="-120"/>
                <a:ea typeface="微軟正黑體" pitchFamily="34" charset="-120"/>
              </a:rPr>
              <a:t>滿足瞬時頻率有物理意義的兩個條件，因此可以做轉換得</a:t>
            </a:r>
            <a:r>
              <a:rPr lang="en-US" altLang="zh-TW" dirty="0" smtClean="0">
                <a:latin typeface="微軟正黑體" pitchFamily="34" charset="-120"/>
                <a:ea typeface="微軟正黑體" pitchFamily="34" charset="-120"/>
              </a:rPr>
              <a:t>Y(t)</a:t>
            </a:r>
            <a:r>
              <a:rPr lang="zh-TW" altLang="en-US" dirty="0" smtClean="0">
                <a:latin typeface="微軟正黑體" pitchFamily="34" charset="-120"/>
                <a:ea typeface="微軟正黑體" pitchFamily="34" charset="-120"/>
              </a:rPr>
              <a:t>。</a:t>
            </a:r>
            <a:endParaRPr lang="en-US" altLang="zh-TW" dirty="0" smtClean="0">
              <a:latin typeface="微軟正黑體" pitchFamily="34" charset="-120"/>
              <a:ea typeface="微軟正黑體" pitchFamily="34" charset="-120"/>
            </a:endParaRPr>
          </a:p>
          <a:p>
            <a:pPr marL="342900" indent="-342900">
              <a:buFont typeface="+mj-lt"/>
              <a:buAutoNum type="arabicPeriod"/>
            </a:pPr>
            <a:r>
              <a:rPr lang="zh-TW" altLang="en-US" dirty="0" smtClean="0">
                <a:latin typeface="微軟正黑體" pitchFamily="34" charset="-120"/>
                <a:ea typeface="微軟正黑體" pitchFamily="34" charset="-120"/>
              </a:rPr>
              <a:t>此</a:t>
            </a:r>
            <a:r>
              <a:rPr lang="zh-TW" altLang="en-US" dirty="0">
                <a:latin typeface="微軟正黑體" pitchFamily="34" charset="-120"/>
                <a:ea typeface="微軟正黑體" pitchFamily="34" charset="-120"/>
              </a:rPr>
              <a:t>時間序列於任兩相鄰局部極</a:t>
            </a:r>
            <a:r>
              <a:rPr lang="zh-TW" altLang="en-US" dirty="0" smtClean="0">
                <a:latin typeface="微軟正黑體" pitchFamily="34" charset="-120"/>
                <a:ea typeface="微軟正黑體" pitchFamily="34" charset="-120"/>
              </a:rPr>
              <a:t>值之間</a:t>
            </a:r>
            <a:r>
              <a:rPr lang="zh-TW" altLang="en-US" dirty="0">
                <a:latin typeface="微軟正黑體" pitchFamily="34" charset="-120"/>
                <a:ea typeface="微軟正黑體" pitchFamily="34" charset="-120"/>
              </a:rPr>
              <a:t>必須通過一零點</a:t>
            </a:r>
            <a:r>
              <a:rPr lang="en-US" altLang="zh-TW" dirty="0">
                <a:latin typeface="微軟正黑體" pitchFamily="34" charset="-120"/>
                <a:ea typeface="微軟正黑體" pitchFamily="34" charset="-120"/>
              </a:rPr>
              <a:t>(zero point)</a:t>
            </a:r>
            <a:r>
              <a:rPr lang="zh-TW" altLang="en-US" dirty="0">
                <a:latin typeface="微軟正黑體" pitchFamily="34" charset="-120"/>
                <a:ea typeface="微軟正黑體" pitchFamily="34" charset="-120"/>
              </a:rPr>
              <a:t>；</a:t>
            </a:r>
            <a:endParaRPr lang="en-US" altLang="zh-TW" dirty="0">
              <a:latin typeface="微軟正黑體" pitchFamily="34" charset="-120"/>
              <a:ea typeface="微軟正黑體" pitchFamily="34" charset="-120"/>
            </a:endParaRPr>
          </a:p>
          <a:p>
            <a:pPr marL="342900" indent="-342900">
              <a:buFont typeface="+mj-lt"/>
              <a:buAutoNum type="arabicPeriod"/>
            </a:pPr>
            <a:r>
              <a:rPr lang="zh-TW" altLang="en-US" dirty="0">
                <a:latin typeface="微軟正黑體" pitchFamily="34" charset="-120"/>
                <a:ea typeface="微軟正黑體" pitchFamily="34" charset="-120"/>
              </a:rPr>
              <a:t>此時間序列的局部平均值</a:t>
            </a:r>
            <a:r>
              <a:rPr lang="en-US" altLang="zh-TW" dirty="0">
                <a:latin typeface="微軟正黑體" pitchFamily="34" charset="-120"/>
                <a:ea typeface="微軟正黑體" pitchFamily="34" charset="-120"/>
              </a:rPr>
              <a:t>(local mean)</a:t>
            </a:r>
            <a:r>
              <a:rPr lang="zh-TW" altLang="en-US" dirty="0">
                <a:latin typeface="微軟正黑體" pitchFamily="34" charset="-120"/>
                <a:ea typeface="微軟正黑體" pitchFamily="34" charset="-120"/>
              </a:rPr>
              <a:t>必須為零。</a:t>
            </a:r>
            <a:endParaRPr lang="en-US" altLang="zh-TW" dirty="0">
              <a:latin typeface="微軟正黑體" pitchFamily="34" charset="-120"/>
              <a:ea typeface="微軟正黑體" pitchFamily="34" charset="-120"/>
            </a:endParaRP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0114" y="2336106"/>
            <a:ext cx="2824380" cy="1111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p:cNvSpPr txBox="1"/>
          <p:nvPr/>
        </p:nvSpPr>
        <p:spPr>
          <a:xfrm>
            <a:off x="796570" y="3508962"/>
            <a:ext cx="3888432" cy="461665"/>
          </a:xfrm>
          <a:prstGeom prst="rect">
            <a:avLst/>
          </a:prstGeom>
          <a:noFill/>
        </p:spPr>
        <p:txBody>
          <a:bodyPr wrap="square" rtlCol="0">
            <a:spAutoFit/>
          </a:bodyPr>
          <a:lstStyle/>
          <a:p>
            <a:r>
              <a:rPr lang="en-US" altLang="zh-TW" sz="2400" dirty="0" smtClean="0">
                <a:solidFill>
                  <a:srgbClr val="C00000"/>
                </a:solidFill>
              </a:rPr>
              <a:t>Analytic  signal Z(t):</a:t>
            </a:r>
            <a:endParaRPr lang="zh-TW" altLang="en-US" sz="2400" dirty="0">
              <a:solidFill>
                <a:srgbClr val="C00000"/>
              </a:solidFill>
            </a:endParaRPr>
          </a:p>
        </p:txBody>
      </p:sp>
      <mc:AlternateContent xmlns:mc="http://schemas.openxmlformats.org/markup-compatibility/2006" xmlns:a14="http://schemas.microsoft.com/office/drawing/2010/main">
        <mc:Choice Requires="a14">
          <p:sp>
            <p:nvSpPr>
              <p:cNvPr id="6" name="矩形 5"/>
              <p:cNvSpPr/>
              <p:nvPr/>
            </p:nvSpPr>
            <p:spPr>
              <a:xfrm>
                <a:off x="3059832" y="4253184"/>
                <a:ext cx="4581447" cy="17715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a:rPr>
                        <m:t>𝑍</m:t>
                      </m:r>
                      <m:d>
                        <m:dPr>
                          <m:ctrlPr>
                            <a:rPr lang="en-US" altLang="zh-TW" i="1">
                              <a:latin typeface="Cambria Math"/>
                            </a:rPr>
                          </m:ctrlPr>
                        </m:dPr>
                        <m:e>
                          <m:r>
                            <a:rPr lang="en-US" altLang="zh-TW" i="1">
                              <a:latin typeface="Cambria Math"/>
                            </a:rPr>
                            <m:t>𝑡</m:t>
                          </m:r>
                        </m:e>
                      </m:d>
                      <m:r>
                        <a:rPr lang="en-US" altLang="zh-TW" i="1">
                          <a:latin typeface="Cambria Math"/>
                        </a:rPr>
                        <m:t>=</m:t>
                      </m:r>
                      <m:nary>
                        <m:naryPr>
                          <m:chr m:val="∑"/>
                          <m:ctrlPr>
                            <a:rPr lang="en-US" altLang="zh-TW" i="1" smtClean="0">
                              <a:latin typeface="Cambria Math"/>
                            </a:rPr>
                          </m:ctrlPr>
                        </m:naryPr>
                        <m:sub>
                          <m:r>
                            <m:rPr>
                              <m:brk m:alnAt="23"/>
                            </m:rPr>
                            <a:rPr lang="en-US" altLang="zh-TW" b="0" i="1" smtClean="0">
                              <a:latin typeface="Cambria Math"/>
                            </a:rPr>
                            <m:t>𝑗</m:t>
                          </m:r>
                          <m:r>
                            <a:rPr lang="en-US" altLang="zh-TW" b="0" i="1" smtClean="0">
                              <a:latin typeface="Cambria Math"/>
                            </a:rPr>
                            <m:t>=1</m:t>
                          </m:r>
                        </m:sub>
                        <m:sup>
                          <m:r>
                            <a:rPr lang="en-US" altLang="zh-TW" b="0" i="1" smtClean="0">
                              <a:latin typeface="Cambria Math"/>
                            </a:rPr>
                            <m:t>𝑛</m:t>
                          </m:r>
                        </m:sup>
                        <m:e>
                          <m:sSub>
                            <m:sSubPr>
                              <m:ctrlPr>
                                <a:rPr lang="en-US" altLang="zh-TW" i="1" smtClean="0">
                                  <a:latin typeface="Cambria Math"/>
                                </a:rPr>
                              </m:ctrlPr>
                            </m:sSubPr>
                            <m:e>
                              <m:r>
                                <a:rPr lang="en-US" altLang="zh-TW" b="0" i="1" smtClean="0">
                                  <a:latin typeface="Cambria Math"/>
                                </a:rPr>
                                <m:t>𝑎</m:t>
                              </m:r>
                            </m:e>
                            <m:sub>
                              <m:r>
                                <a:rPr lang="en-US" altLang="zh-TW" b="0" i="1" smtClean="0">
                                  <a:latin typeface="Cambria Math"/>
                                </a:rPr>
                                <m:t>𝑗</m:t>
                              </m:r>
                            </m:sub>
                          </m:sSub>
                          <m:d>
                            <m:dPr>
                              <m:ctrlPr>
                                <a:rPr lang="en-US" altLang="zh-TW" i="1">
                                  <a:latin typeface="Cambria Math"/>
                                </a:rPr>
                              </m:ctrlPr>
                            </m:dPr>
                            <m:e>
                              <m:r>
                                <a:rPr lang="en-US" altLang="zh-TW" i="1">
                                  <a:latin typeface="Cambria Math"/>
                                </a:rPr>
                                <m:t>𝑡</m:t>
                              </m:r>
                            </m:e>
                          </m:d>
                          <m:sSup>
                            <m:sSupPr>
                              <m:ctrlPr>
                                <a:rPr lang="en-US" altLang="zh-TW" i="1">
                                  <a:latin typeface="Cambria Math"/>
                                </a:rPr>
                              </m:ctrlPr>
                            </m:sSupPr>
                            <m:e>
                              <m:r>
                                <a:rPr lang="en-US" altLang="zh-TW" i="1">
                                  <a:latin typeface="Cambria Math"/>
                                </a:rPr>
                                <m:t>𝑒</m:t>
                              </m:r>
                            </m:e>
                            <m:sup>
                              <m:r>
                                <a:rPr lang="en-US" altLang="zh-TW" i="1">
                                  <a:latin typeface="Cambria Math"/>
                                </a:rPr>
                                <m:t>𝑖</m:t>
                              </m:r>
                              <m:sSub>
                                <m:sSubPr>
                                  <m:ctrlPr>
                                    <a:rPr lang="en-US" altLang="zh-TW" i="1" smtClean="0">
                                      <a:latin typeface="Cambria Math"/>
                                    </a:rPr>
                                  </m:ctrlPr>
                                </m:sSubPr>
                                <m:e>
                                  <m:r>
                                    <a:rPr lang="en-US" altLang="zh-TW" i="1" smtClean="0">
                                      <a:latin typeface="Cambria Math"/>
                                      <a:ea typeface="Cambria Math"/>
                                    </a:rPr>
                                    <m:t>𝜃</m:t>
                                  </m:r>
                                </m:e>
                                <m:sub>
                                  <m:r>
                                    <a:rPr lang="en-US" altLang="zh-TW" b="0" i="1" smtClean="0">
                                      <a:latin typeface="Cambria Math"/>
                                    </a:rPr>
                                    <m:t>𝑗</m:t>
                                  </m:r>
                                </m:sub>
                              </m:sSub>
                              <m:r>
                                <a:rPr lang="en-US" altLang="zh-TW" b="0" i="1" smtClean="0">
                                  <a:latin typeface="Cambria Math"/>
                                </a:rPr>
                                <m:t>(</m:t>
                              </m:r>
                              <m:r>
                                <a:rPr lang="en-US" altLang="zh-TW" b="0" i="1" smtClean="0">
                                  <a:latin typeface="Cambria Math"/>
                                </a:rPr>
                                <m:t>𝑡</m:t>
                              </m:r>
                              <m:r>
                                <a:rPr lang="en-US" altLang="zh-TW" b="0" i="1" smtClean="0">
                                  <a:latin typeface="Cambria Math"/>
                                </a:rPr>
                                <m:t>)</m:t>
                              </m:r>
                            </m:sup>
                          </m:sSup>
                        </m:e>
                      </m:nary>
                      <m:r>
                        <a:rPr lang="en-US" altLang="zh-TW" b="0" i="1" smtClean="0">
                          <a:latin typeface="Cambria Math"/>
                        </a:rPr>
                        <m:t>=</m:t>
                      </m:r>
                      <m:nary>
                        <m:naryPr>
                          <m:chr m:val="∑"/>
                          <m:ctrlPr>
                            <a:rPr lang="en-US" altLang="zh-TW" i="1">
                              <a:latin typeface="Cambria Math"/>
                            </a:rPr>
                          </m:ctrlPr>
                        </m:naryPr>
                        <m:sub>
                          <m:r>
                            <m:rPr>
                              <m:brk m:alnAt="23"/>
                            </m:rPr>
                            <a:rPr lang="en-US" altLang="zh-TW" i="1">
                              <a:latin typeface="Cambria Math"/>
                            </a:rPr>
                            <m:t>𝑗</m:t>
                          </m:r>
                          <m:r>
                            <a:rPr lang="en-US" altLang="zh-TW" i="1">
                              <a:latin typeface="Cambria Math"/>
                            </a:rPr>
                            <m:t>=1</m:t>
                          </m:r>
                        </m:sub>
                        <m:sup>
                          <m:r>
                            <a:rPr lang="en-US" altLang="zh-TW" i="1">
                              <a:latin typeface="Cambria Math"/>
                            </a:rPr>
                            <m:t>𝑛</m:t>
                          </m:r>
                        </m:sup>
                        <m:e>
                          <m:sSub>
                            <m:sSubPr>
                              <m:ctrlPr>
                                <a:rPr lang="en-US" altLang="zh-TW" i="1">
                                  <a:latin typeface="Cambria Math"/>
                                </a:rPr>
                              </m:ctrlPr>
                            </m:sSubPr>
                            <m:e>
                              <m:r>
                                <a:rPr lang="en-US" altLang="zh-TW" i="1">
                                  <a:latin typeface="Cambria Math"/>
                                </a:rPr>
                                <m:t>𝑎</m:t>
                              </m:r>
                            </m:e>
                            <m:sub>
                              <m:r>
                                <a:rPr lang="en-US" altLang="zh-TW" i="1">
                                  <a:latin typeface="Cambria Math"/>
                                </a:rPr>
                                <m:t>𝑗</m:t>
                              </m:r>
                            </m:sub>
                          </m:sSub>
                          <m:d>
                            <m:dPr>
                              <m:ctrlPr>
                                <a:rPr lang="en-US" altLang="zh-TW" i="1">
                                  <a:latin typeface="Cambria Math"/>
                                </a:rPr>
                              </m:ctrlPr>
                            </m:dPr>
                            <m:e>
                              <m:r>
                                <a:rPr lang="en-US" altLang="zh-TW" i="1">
                                  <a:latin typeface="Cambria Math"/>
                                </a:rPr>
                                <m:t>𝑡</m:t>
                              </m:r>
                            </m:e>
                          </m:d>
                          <m:sSup>
                            <m:sSupPr>
                              <m:ctrlPr>
                                <a:rPr lang="en-US" altLang="zh-TW" i="1">
                                  <a:latin typeface="Cambria Math"/>
                                </a:rPr>
                              </m:ctrlPr>
                            </m:sSupPr>
                            <m:e>
                              <m:r>
                                <a:rPr lang="en-US" altLang="zh-TW" i="1">
                                  <a:latin typeface="Cambria Math"/>
                                </a:rPr>
                                <m:t>𝑒</m:t>
                              </m:r>
                            </m:e>
                            <m:sup>
                              <m:r>
                                <a:rPr lang="en-US" altLang="zh-TW" i="1">
                                  <a:latin typeface="Cambria Math"/>
                                </a:rPr>
                                <m:t>𝑖</m:t>
                              </m:r>
                              <m:nary>
                                <m:naryPr>
                                  <m:limLoc m:val="undOvr"/>
                                  <m:subHide m:val="on"/>
                                  <m:supHide m:val="on"/>
                                  <m:ctrlPr>
                                    <a:rPr lang="en-US" altLang="zh-TW" i="1" smtClean="0">
                                      <a:latin typeface="Cambria Math"/>
                                    </a:rPr>
                                  </m:ctrlPr>
                                </m:naryPr>
                                <m:sub/>
                                <m:sup/>
                                <m:e>
                                  <m:sSub>
                                    <m:sSubPr>
                                      <m:ctrlPr>
                                        <a:rPr lang="en-US" altLang="zh-TW" i="1" smtClean="0">
                                          <a:latin typeface="Cambria Math"/>
                                        </a:rPr>
                                      </m:ctrlPr>
                                    </m:sSubPr>
                                    <m:e>
                                      <m:r>
                                        <a:rPr lang="en-US" altLang="zh-TW" i="1" smtClean="0">
                                          <a:latin typeface="Cambria Math"/>
                                          <a:ea typeface="Cambria Math"/>
                                        </a:rPr>
                                        <m:t>𝜔</m:t>
                                      </m:r>
                                    </m:e>
                                    <m:sub>
                                      <m:r>
                                        <a:rPr lang="en-US" altLang="zh-TW" b="0" i="1" smtClean="0">
                                          <a:latin typeface="Cambria Math"/>
                                        </a:rPr>
                                        <m:t>𝑗</m:t>
                                      </m:r>
                                    </m:sub>
                                  </m:sSub>
                                  <m:d>
                                    <m:dPr>
                                      <m:ctrlPr>
                                        <a:rPr lang="en-US" altLang="zh-TW" b="0" i="1" smtClean="0">
                                          <a:latin typeface="Cambria Math"/>
                                        </a:rPr>
                                      </m:ctrlPr>
                                    </m:dPr>
                                    <m:e>
                                      <m:r>
                                        <a:rPr lang="en-US" altLang="zh-TW" b="0" i="1" smtClean="0">
                                          <a:latin typeface="Cambria Math"/>
                                        </a:rPr>
                                        <m:t>𝑡</m:t>
                                      </m:r>
                                    </m:e>
                                  </m:d>
                                  <m:r>
                                    <a:rPr lang="en-US" altLang="zh-TW" b="0" i="1" smtClean="0">
                                      <a:latin typeface="Cambria Math"/>
                                    </a:rPr>
                                    <m:t>𝑑𝑡</m:t>
                                  </m:r>
                                </m:e>
                              </m:nary>
                            </m:sup>
                          </m:sSup>
                        </m:e>
                      </m:nary>
                    </m:oMath>
                  </m:oMathPara>
                </a14:m>
                <a:endParaRPr lang="en-US" altLang="zh-TW" dirty="0" smtClean="0"/>
              </a:p>
              <a:p>
                <a:pPr/>
                <a14:m>
                  <m:oMathPara xmlns:m="http://schemas.openxmlformats.org/officeDocument/2006/math">
                    <m:oMathParaPr>
                      <m:jc m:val="left"/>
                    </m:oMathParaPr>
                    <m:oMath xmlns:m="http://schemas.openxmlformats.org/officeDocument/2006/math">
                      <m:r>
                        <a:rPr lang="en-US" altLang="zh-TW" b="0" i="1" smtClean="0">
                          <a:latin typeface="Cambria Math"/>
                        </a:rPr>
                        <m:t>𝑋</m:t>
                      </m:r>
                      <m:d>
                        <m:dPr>
                          <m:ctrlPr>
                            <a:rPr lang="en-US" altLang="zh-TW" b="0" i="1" smtClean="0">
                              <a:latin typeface="Cambria Math"/>
                            </a:rPr>
                          </m:ctrlPr>
                        </m:dPr>
                        <m:e>
                          <m:r>
                            <a:rPr lang="en-US" altLang="zh-TW" b="0" i="1" smtClean="0">
                              <a:latin typeface="Cambria Math"/>
                            </a:rPr>
                            <m:t>𝑡</m:t>
                          </m:r>
                        </m:e>
                      </m:d>
                      <m:r>
                        <a:rPr lang="en-US" altLang="zh-TW" b="0" i="1" smtClean="0">
                          <a:latin typeface="Cambria Math"/>
                        </a:rPr>
                        <m:t>=</m:t>
                      </m:r>
                      <m:r>
                        <a:rPr lang="en-US" altLang="zh-TW" b="0" i="1" smtClean="0">
                          <a:latin typeface="Cambria Math"/>
                        </a:rPr>
                        <m:t>𝑅𝑒</m:t>
                      </m:r>
                      <m:d>
                        <m:dPr>
                          <m:ctrlPr>
                            <a:rPr lang="en-US" altLang="zh-TW" b="0" i="1" smtClean="0">
                              <a:latin typeface="Cambria Math"/>
                            </a:rPr>
                          </m:ctrlPr>
                        </m:dPr>
                        <m:e>
                          <m:nary>
                            <m:naryPr>
                              <m:chr m:val="∑"/>
                              <m:ctrlPr>
                                <a:rPr lang="en-US" altLang="zh-TW" i="1">
                                  <a:latin typeface="Cambria Math"/>
                                </a:rPr>
                              </m:ctrlPr>
                            </m:naryPr>
                            <m:sub>
                              <m:r>
                                <m:rPr>
                                  <m:brk m:alnAt="23"/>
                                </m:rPr>
                                <a:rPr lang="en-US" altLang="zh-TW" i="1">
                                  <a:latin typeface="Cambria Math"/>
                                </a:rPr>
                                <m:t>𝑗</m:t>
                              </m:r>
                              <m:r>
                                <a:rPr lang="en-US" altLang="zh-TW" i="1">
                                  <a:latin typeface="Cambria Math"/>
                                </a:rPr>
                                <m:t>=1</m:t>
                              </m:r>
                            </m:sub>
                            <m:sup>
                              <m:r>
                                <a:rPr lang="en-US" altLang="zh-TW" i="1">
                                  <a:latin typeface="Cambria Math"/>
                                </a:rPr>
                                <m:t>𝑛</m:t>
                              </m:r>
                            </m:sup>
                            <m:e>
                              <m:sSub>
                                <m:sSubPr>
                                  <m:ctrlPr>
                                    <a:rPr lang="en-US" altLang="zh-TW" i="1">
                                      <a:latin typeface="Cambria Math"/>
                                    </a:rPr>
                                  </m:ctrlPr>
                                </m:sSubPr>
                                <m:e>
                                  <m:r>
                                    <a:rPr lang="en-US" altLang="zh-TW" i="1">
                                      <a:latin typeface="Cambria Math"/>
                                    </a:rPr>
                                    <m:t>𝑎</m:t>
                                  </m:r>
                                </m:e>
                                <m:sub>
                                  <m:r>
                                    <a:rPr lang="en-US" altLang="zh-TW" i="1">
                                      <a:latin typeface="Cambria Math"/>
                                    </a:rPr>
                                    <m:t>𝑗</m:t>
                                  </m:r>
                                </m:sub>
                              </m:sSub>
                              <m:d>
                                <m:dPr>
                                  <m:ctrlPr>
                                    <a:rPr lang="en-US" altLang="zh-TW" i="1">
                                      <a:latin typeface="Cambria Math"/>
                                    </a:rPr>
                                  </m:ctrlPr>
                                </m:dPr>
                                <m:e>
                                  <m:r>
                                    <a:rPr lang="en-US" altLang="zh-TW" i="1">
                                      <a:latin typeface="Cambria Math"/>
                                    </a:rPr>
                                    <m:t>𝑡</m:t>
                                  </m:r>
                                </m:e>
                              </m:d>
                              <m:sSup>
                                <m:sSupPr>
                                  <m:ctrlPr>
                                    <a:rPr lang="en-US" altLang="zh-TW" i="1">
                                      <a:latin typeface="Cambria Math"/>
                                    </a:rPr>
                                  </m:ctrlPr>
                                </m:sSupPr>
                                <m:e>
                                  <m:r>
                                    <a:rPr lang="en-US" altLang="zh-TW" i="1">
                                      <a:latin typeface="Cambria Math"/>
                                    </a:rPr>
                                    <m:t>𝑒</m:t>
                                  </m:r>
                                </m:e>
                                <m:sup>
                                  <m:r>
                                    <a:rPr lang="en-US" altLang="zh-TW" i="1">
                                      <a:latin typeface="Cambria Math"/>
                                    </a:rPr>
                                    <m:t>𝑖</m:t>
                                  </m:r>
                                  <m:nary>
                                    <m:naryPr>
                                      <m:limLoc m:val="undOvr"/>
                                      <m:subHide m:val="on"/>
                                      <m:supHide m:val="on"/>
                                      <m:ctrlPr>
                                        <a:rPr lang="en-US" altLang="zh-TW" i="1">
                                          <a:latin typeface="Cambria Math"/>
                                        </a:rPr>
                                      </m:ctrlPr>
                                    </m:naryPr>
                                    <m:sub/>
                                    <m:sup/>
                                    <m:e>
                                      <m:sSub>
                                        <m:sSubPr>
                                          <m:ctrlPr>
                                            <a:rPr lang="en-US" altLang="zh-TW" i="1">
                                              <a:latin typeface="Cambria Math"/>
                                            </a:rPr>
                                          </m:ctrlPr>
                                        </m:sSubPr>
                                        <m:e>
                                          <m:r>
                                            <a:rPr lang="en-US" altLang="zh-TW" i="1">
                                              <a:latin typeface="Cambria Math"/>
                                              <a:ea typeface="Cambria Math"/>
                                            </a:rPr>
                                            <m:t>𝜔</m:t>
                                          </m:r>
                                        </m:e>
                                        <m:sub>
                                          <m:r>
                                            <a:rPr lang="en-US" altLang="zh-TW" i="1">
                                              <a:latin typeface="Cambria Math"/>
                                            </a:rPr>
                                            <m:t>𝑗</m:t>
                                          </m:r>
                                        </m:sub>
                                      </m:sSub>
                                      <m:d>
                                        <m:dPr>
                                          <m:ctrlPr>
                                            <a:rPr lang="en-US" altLang="zh-TW" i="1">
                                              <a:latin typeface="Cambria Math"/>
                                            </a:rPr>
                                          </m:ctrlPr>
                                        </m:dPr>
                                        <m:e>
                                          <m:r>
                                            <a:rPr lang="en-US" altLang="zh-TW" i="1">
                                              <a:latin typeface="Cambria Math"/>
                                            </a:rPr>
                                            <m:t>𝑡</m:t>
                                          </m:r>
                                        </m:e>
                                      </m:d>
                                      <m:r>
                                        <a:rPr lang="en-US" altLang="zh-TW" i="1">
                                          <a:latin typeface="Cambria Math"/>
                                        </a:rPr>
                                        <m:t>𝑑𝑡</m:t>
                                      </m:r>
                                    </m:e>
                                  </m:nary>
                                </m:sup>
                              </m:sSup>
                            </m:e>
                          </m:nary>
                        </m:e>
                      </m:d>
                    </m:oMath>
                  </m:oMathPara>
                </a14:m>
                <a:endParaRPr lang="zh-TW" altLang="en-US" dirty="0"/>
              </a:p>
            </p:txBody>
          </p:sp>
        </mc:Choice>
        <mc:Fallback xmlns="">
          <p:sp>
            <p:nvSpPr>
              <p:cNvPr id="6" name="矩形 5"/>
              <p:cNvSpPr>
                <a:spLocks noRot="1" noChangeAspect="1" noMove="1" noResize="1" noEditPoints="1" noAdjustHandles="1" noChangeArrowheads="1" noChangeShapeType="1" noTextEdit="1"/>
              </p:cNvSpPr>
              <p:nvPr/>
            </p:nvSpPr>
            <p:spPr>
              <a:xfrm>
                <a:off x="3059832" y="4253184"/>
                <a:ext cx="4581447" cy="1771575"/>
              </a:xfrm>
              <a:prstGeom prst="rect">
                <a:avLst/>
              </a:prstGeom>
              <a:blipFill rotWithShape="1">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467544" y="4509119"/>
                <a:ext cx="2061205" cy="1042529"/>
              </a:xfrm>
              <a:prstGeom prst="rect">
                <a:avLst/>
              </a:prstGeom>
            </p:spPr>
            <p:txBody>
              <a:bodyPr wrap="none">
                <a:spAutoFit/>
              </a:bodyPr>
              <a:lstStyle/>
              <a:p>
                <a:pPr/>
                <a14:m>
                  <m:oMath xmlns:m="http://schemas.openxmlformats.org/officeDocument/2006/math">
                    <m:r>
                      <a:rPr lang="en-US" altLang="zh-TW" i="1" smtClean="0">
                        <a:latin typeface="Cambria Math"/>
                        <a:ea typeface="Cambria Math"/>
                      </a:rPr>
                      <m:t>𝜔</m:t>
                    </m:r>
                    <m:d>
                      <m:dPr>
                        <m:ctrlPr>
                          <a:rPr lang="en-US" altLang="zh-TW" i="1">
                            <a:latin typeface="Cambria Math"/>
                            <a:ea typeface="Cambria Math"/>
                          </a:rPr>
                        </m:ctrlPr>
                      </m:dPr>
                      <m:e>
                        <m:r>
                          <a:rPr lang="en-US" altLang="zh-TW" i="1">
                            <a:latin typeface="Cambria Math"/>
                            <a:ea typeface="Cambria Math"/>
                          </a:rPr>
                          <m:t>𝑡</m:t>
                        </m:r>
                      </m:e>
                    </m:d>
                    <m:r>
                      <a:rPr lang="en-US" altLang="zh-TW" i="1">
                        <a:latin typeface="Cambria Math"/>
                        <a:ea typeface="Cambria Math"/>
                      </a:rPr>
                      <m:t>=</m:t>
                    </m:r>
                    <m:f>
                      <m:fPr>
                        <m:ctrlPr>
                          <a:rPr lang="en-US" altLang="zh-TW" i="1">
                            <a:latin typeface="Cambria Math"/>
                            <a:ea typeface="Cambria Math"/>
                          </a:rPr>
                        </m:ctrlPr>
                      </m:fPr>
                      <m:num>
                        <m:r>
                          <a:rPr lang="en-US" altLang="zh-TW" i="1">
                            <a:latin typeface="Cambria Math"/>
                            <a:ea typeface="Cambria Math"/>
                          </a:rPr>
                          <m:t>𝑑</m:t>
                        </m:r>
                        <m:r>
                          <a:rPr lang="en-US" altLang="zh-TW" i="1">
                            <a:latin typeface="Cambria Math"/>
                            <a:ea typeface="Cambria Math"/>
                          </a:rPr>
                          <m:t>𝜃</m:t>
                        </m:r>
                        <m:d>
                          <m:dPr>
                            <m:ctrlPr>
                              <a:rPr lang="en-US" altLang="zh-TW" i="1">
                                <a:latin typeface="Cambria Math"/>
                                <a:ea typeface="Cambria Math"/>
                              </a:rPr>
                            </m:ctrlPr>
                          </m:dPr>
                          <m:e>
                            <m:r>
                              <a:rPr lang="en-US" altLang="zh-TW" i="1">
                                <a:latin typeface="Cambria Math"/>
                                <a:ea typeface="Cambria Math"/>
                              </a:rPr>
                              <m:t>𝑡</m:t>
                            </m:r>
                          </m:e>
                        </m:d>
                      </m:num>
                      <m:den>
                        <m:r>
                          <a:rPr lang="en-US" altLang="zh-TW" i="1">
                            <a:latin typeface="Cambria Math"/>
                            <a:ea typeface="Cambria Math"/>
                          </a:rPr>
                          <m:t>𝑑𝑡</m:t>
                        </m:r>
                      </m:den>
                    </m:f>
                  </m:oMath>
                </a14:m>
                <a:r>
                  <a:rPr lang="en-US" altLang="zh-TW" dirty="0" smtClean="0">
                    <a:ea typeface="Cambria Math"/>
                  </a:rPr>
                  <a:t> (rad/s)</a:t>
                </a:r>
                <a:br>
                  <a:rPr lang="en-US" altLang="zh-TW" dirty="0" smtClean="0">
                    <a:ea typeface="Cambria Math"/>
                  </a:rPr>
                </a:br>
                <a14:m>
                  <m:oMathPara xmlns:m="http://schemas.openxmlformats.org/officeDocument/2006/math">
                    <m:oMathParaPr>
                      <m:jc m:val="left"/>
                    </m:oMathParaPr>
                    <m:oMath xmlns:m="http://schemas.openxmlformats.org/officeDocument/2006/math">
                      <m:r>
                        <a:rPr lang="en-US" altLang="zh-TW" b="0" i="1" smtClean="0">
                          <a:latin typeface="Cambria Math"/>
                          <a:ea typeface="Cambria Math"/>
                        </a:rPr>
                        <m:t>𝑓</m:t>
                      </m:r>
                      <m:d>
                        <m:dPr>
                          <m:ctrlPr>
                            <a:rPr lang="en-US" altLang="zh-TW" b="0" i="1" smtClean="0">
                              <a:latin typeface="Cambria Math"/>
                              <a:ea typeface="Cambria Math"/>
                            </a:rPr>
                          </m:ctrlPr>
                        </m:dPr>
                        <m:e>
                          <m:r>
                            <a:rPr lang="en-US" altLang="zh-TW" b="0" i="1" smtClean="0">
                              <a:latin typeface="Cambria Math"/>
                              <a:ea typeface="Cambria Math"/>
                            </a:rPr>
                            <m:t>𝑡</m:t>
                          </m:r>
                        </m:e>
                      </m:d>
                      <m:r>
                        <a:rPr lang="en-US" altLang="zh-TW" b="0" i="1" smtClean="0">
                          <a:latin typeface="Cambria Math"/>
                          <a:ea typeface="Cambria Math"/>
                        </a:rPr>
                        <m:t>=</m:t>
                      </m:r>
                      <m:f>
                        <m:fPr>
                          <m:ctrlPr>
                            <a:rPr lang="en-US" altLang="zh-TW" b="0" i="1" smtClean="0">
                              <a:latin typeface="Cambria Math"/>
                              <a:ea typeface="Cambria Math"/>
                            </a:rPr>
                          </m:ctrlPr>
                        </m:fPr>
                        <m:num>
                          <m:r>
                            <a:rPr lang="en-US" altLang="zh-TW" i="1">
                              <a:latin typeface="Cambria Math"/>
                              <a:ea typeface="Cambria Math"/>
                            </a:rPr>
                            <m:t>𝜔</m:t>
                          </m:r>
                          <m:d>
                            <m:dPr>
                              <m:ctrlPr>
                                <a:rPr lang="en-US" altLang="zh-TW" i="1">
                                  <a:latin typeface="Cambria Math"/>
                                  <a:ea typeface="Cambria Math"/>
                                </a:rPr>
                              </m:ctrlPr>
                            </m:dPr>
                            <m:e>
                              <m:r>
                                <a:rPr lang="en-US" altLang="zh-TW" i="1">
                                  <a:latin typeface="Cambria Math"/>
                                  <a:ea typeface="Cambria Math"/>
                                </a:rPr>
                                <m:t>𝑡</m:t>
                              </m:r>
                            </m:e>
                          </m:d>
                        </m:num>
                        <m:den>
                          <m:r>
                            <a:rPr lang="en-US" altLang="zh-TW" b="0" i="1" smtClean="0">
                              <a:latin typeface="Cambria Math"/>
                              <a:ea typeface="Cambria Math"/>
                            </a:rPr>
                            <m:t>2</m:t>
                          </m:r>
                          <m:r>
                            <a:rPr lang="en-US" altLang="zh-TW" b="0" i="1" smtClean="0">
                              <a:latin typeface="Cambria Math"/>
                              <a:ea typeface="Cambria Math"/>
                            </a:rPr>
                            <m:t>𝜋</m:t>
                          </m:r>
                        </m:den>
                      </m:f>
                      <m:r>
                        <a:rPr lang="en-US" altLang="zh-TW" b="0" i="1" smtClean="0">
                          <a:latin typeface="Cambria Math"/>
                          <a:ea typeface="Cambria Math"/>
                        </a:rPr>
                        <m:t> (</m:t>
                      </m:r>
                      <m:r>
                        <a:rPr lang="en-US" altLang="zh-TW" b="0" i="1" smtClean="0">
                          <a:latin typeface="Cambria Math"/>
                          <a:ea typeface="Cambria Math"/>
                        </a:rPr>
                        <m:t>𝐻𝑧</m:t>
                      </m:r>
                      <m:r>
                        <a:rPr lang="en-US" altLang="zh-TW" b="0" i="1" smtClean="0">
                          <a:latin typeface="Cambria Math"/>
                          <a:ea typeface="Cambria Math"/>
                        </a:rPr>
                        <m:t>)</m:t>
                      </m:r>
                    </m:oMath>
                  </m:oMathPara>
                </a14:m>
                <a:endParaRPr lang="en-US" altLang="zh-TW" dirty="0" smtClean="0"/>
              </a:p>
            </p:txBody>
          </p:sp>
        </mc:Choice>
        <mc:Fallback xmlns="">
          <p:sp>
            <p:nvSpPr>
              <p:cNvPr id="7" name="矩形 6"/>
              <p:cNvSpPr>
                <a:spLocks noRot="1" noChangeAspect="1" noMove="1" noResize="1" noEditPoints="1" noAdjustHandles="1" noChangeArrowheads="1" noChangeShapeType="1" noTextEdit="1"/>
              </p:cNvSpPr>
              <p:nvPr/>
            </p:nvSpPr>
            <p:spPr>
              <a:xfrm>
                <a:off x="467544" y="4509119"/>
                <a:ext cx="2061205" cy="1042529"/>
              </a:xfrm>
              <a:prstGeom prst="rect">
                <a:avLst/>
              </a:prstGeom>
              <a:blipFill rotWithShape="1">
                <a:blip r:embed="rId4"/>
                <a:stretch>
                  <a:fillRect r="-20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6029260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Hilbert </a:t>
            </a:r>
            <a:r>
              <a:rPr lang="en-US" altLang="zh-TW" dirty="0" smtClean="0"/>
              <a:t>spectrum</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48</a:t>
            </a:fld>
            <a:endParaRPr lang="zh-TW" altLang="en-US"/>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2750502"/>
            <a:ext cx="5134372" cy="4107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9" name="矩形 8"/>
              <p:cNvSpPr/>
              <p:nvPr/>
            </p:nvSpPr>
            <p:spPr>
              <a:xfrm>
                <a:off x="539552" y="1268760"/>
                <a:ext cx="5341462" cy="198785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altLang="zh-TW" i="1" smtClean="0">
                          <a:latin typeface="Cambria Math"/>
                        </a:rPr>
                        <m:t>𝑍</m:t>
                      </m:r>
                      <m:d>
                        <m:dPr>
                          <m:ctrlPr>
                            <a:rPr lang="en-US" altLang="zh-TW" i="1">
                              <a:latin typeface="Cambria Math"/>
                            </a:rPr>
                          </m:ctrlPr>
                        </m:dPr>
                        <m:e>
                          <m:r>
                            <a:rPr lang="en-US" altLang="zh-TW" i="1">
                              <a:latin typeface="Cambria Math"/>
                            </a:rPr>
                            <m:t>𝑡</m:t>
                          </m:r>
                        </m:e>
                      </m:d>
                      <m:r>
                        <a:rPr lang="en-US" altLang="zh-TW" i="1">
                          <a:latin typeface="Cambria Math"/>
                        </a:rPr>
                        <m:t>=</m:t>
                      </m:r>
                      <m:nary>
                        <m:naryPr>
                          <m:chr m:val="∑"/>
                          <m:ctrlPr>
                            <a:rPr lang="en-US" altLang="zh-TW" i="1">
                              <a:latin typeface="Cambria Math"/>
                            </a:rPr>
                          </m:ctrlPr>
                        </m:naryPr>
                        <m:sub>
                          <m:r>
                            <m:rPr>
                              <m:brk m:alnAt="23"/>
                            </m:rPr>
                            <a:rPr lang="en-US" altLang="zh-TW" i="1">
                              <a:latin typeface="Cambria Math"/>
                            </a:rPr>
                            <m:t>𝑗</m:t>
                          </m:r>
                          <m:r>
                            <a:rPr lang="en-US" altLang="zh-TW" i="1">
                              <a:latin typeface="Cambria Math"/>
                            </a:rPr>
                            <m:t>=1</m:t>
                          </m:r>
                        </m:sub>
                        <m:sup>
                          <m:r>
                            <a:rPr lang="en-US" altLang="zh-TW" i="1">
                              <a:latin typeface="Cambria Math"/>
                            </a:rPr>
                            <m:t>𝑛</m:t>
                          </m:r>
                        </m:sup>
                        <m:e>
                          <m:sSub>
                            <m:sSubPr>
                              <m:ctrlPr>
                                <a:rPr lang="en-US" altLang="zh-TW" i="1">
                                  <a:latin typeface="Cambria Math"/>
                                </a:rPr>
                              </m:ctrlPr>
                            </m:sSubPr>
                            <m:e>
                              <m:r>
                                <a:rPr lang="en-US" altLang="zh-TW" i="1">
                                  <a:latin typeface="Cambria Math"/>
                                </a:rPr>
                                <m:t>𝑎</m:t>
                              </m:r>
                            </m:e>
                            <m:sub>
                              <m:r>
                                <a:rPr lang="en-US" altLang="zh-TW" i="1">
                                  <a:latin typeface="Cambria Math"/>
                                </a:rPr>
                                <m:t>𝑗</m:t>
                              </m:r>
                            </m:sub>
                          </m:sSub>
                          <m:d>
                            <m:dPr>
                              <m:ctrlPr>
                                <a:rPr lang="en-US" altLang="zh-TW" i="1">
                                  <a:latin typeface="Cambria Math"/>
                                </a:rPr>
                              </m:ctrlPr>
                            </m:dPr>
                            <m:e>
                              <m:r>
                                <a:rPr lang="en-US" altLang="zh-TW" i="1">
                                  <a:latin typeface="Cambria Math"/>
                                </a:rPr>
                                <m:t>𝑡</m:t>
                              </m:r>
                            </m:e>
                          </m:d>
                          <m:sSup>
                            <m:sSupPr>
                              <m:ctrlPr>
                                <a:rPr lang="en-US" altLang="zh-TW" i="1">
                                  <a:latin typeface="Cambria Math"/>
                                </a:rPr>
                              </m:ctrlPr>
                            </m:sSupPr>
                            <m:e>
                              <m:r>
                                <a:rPr lang="en-US" altLang="zh-TW" i="1">
                                  <a:latin typeface="Cambria Math"/>
                                </a:rPr>
                                <m:t>𝑒</m:t>
                              </m:r>
                            </m:e>
                            <m:sup>
                              <m:r>
                                <a:rPr lang="en-US" altLang="zh-TW" i="1">
                                  <a:latin typeface="Cambria Math"/>
                                </a:rPr>
                                <m:t>𝑖</m:t>
                              </m:r>
                              <m:nary>
                                <m:naryPr>
                                  <m:limLoc m:val="undOvr"/>
                                  <m:subHide m:val="on"/>
                                  <m:supHide m:val="on"/>
                                  <m:ctrlPr>
                                    <a:rPr lang="en-US" altLang="zh-TW" i="1">
                                      <a:latin typeface="Cambria Math"/>
                                    </a:rPr>
                                  </m:ctrlPr>
                                </m:naryPr>
                                <m:sub/>
                                <m:sup/>
                                <m:e>
                                  <m:sSub>
                                    <m:sSubPr>
                                      <m:ctrlPr>
                                        <a:rPr lang="en-US" altLang="zh-TW" i="1">
                                          <a:latin typeface="Cambria Math"/>
                                        </a:rPr>
                                      </m:ctrlPr>
                                    </m:sSubPr>
                                    <m:e>
                                      <m:r>
                                        <a:rPr lang="en-US" altLang="zh-TW" i="1">
                                          <a:latin typeface="Cambria Math"/>
                                          <a:ea typeface="Cambria Math"/>
                                        </a:rPr>
                                        <m:t>𝜔</m:t>
                                      </m:r>
                                    </m:e>
                                    <m:sub>
                                      <m:r>
                                        <a:rPr lang="en-US" altLang="zh-TW" i="1">
                                          <a:latin typeface="Cambria Math"/>
                                        </a:rPr>
                                        <m:t>𝑗</m:t>
                                      </m:r>
                                    </m:sub>
                                  </m:sSub>
                                  <m:d>
                                    <m:dPr>
                                      <m:ctrlPr>
                                        <a:rPr lang="en-US" altLang="zh-TW" i="1">
                                          <a:latin typeface="Cambria Math"/>
                                        </a:rPr>
                                      </m:ctrlPr>
                                    </m:dPr>
                                    <m:e>
                                      <m:r>
                                        <a:rPr lang="en-US" altLang="zh-TW" i="1">
                                          <a:latin typeface="Cambria Math"/>
                                        </a:rPr>
                                        <m:t>𝑡</m:t>
                                      </m:r>
                                    </m:e>
                                  </m:d>
                                  <m:r>
                                    <a:rPr lang="en-US" altLang="zh-TW" i="1">
                                      <a:latin typeface="Cambria Math"/>
                                    </a:rPr>
                                    <m:t>𝑑𝑡</m:t>
                                  </m:r>
                                </m:e>
                              </m:nary>
                            </m:sup>
                          </m:sSup>
                        </m:e>
                      </m:nary>
                    </m:oMath>
                  </m:oMathPara>
                </a14:m>
                <a:endParaRPr lang="en-US" altLang="zh-TW" dirty="0" smtClean="0">
                  <a:latin typeface="微軟正黑體" pitchFamily="34" charset="-120"/>
                  <a:ea typeface="微軟正黑體" pitchFamily="34" charset="-120"/>
                </a:endParaRPr>
              </a:p>
              <a:p>
                <a:pPr/>
                <a14:m>
                  <m:oMathPara xmlns:m="http://schemas.openxmlformats.org/officeDocument/2006/math">
                    <m:oMathParaPr>
                      <m:jc m:val="left"/>
                    </m:oMathParaPr>
                    <m:oMath xmlns:m="http://schemas.openxmlformats.org/officeDocument/2006/math">
                      <m:r>
                        <a:rPr lang="zh-TW" altLang="en-US" b="0" i="1" smtClean="0">
                          <a:latin typeface="Cambria Math"/>
                        </a:rPr>
                        <m:t>令</m:t>
                      </m:r>
                      <m:r>
                        <a:rPr lang="en-US" altLang="zh-TW" b="0" i="1" smtClean="0">
                          <a:latin typeface="Cambria Math"/>
                        </a:rPr>
                        <m:t>𝐻</m:t>
                      </m:r>
                      <m:d>
                        <m:dPr>
                          <m:ctrlPr>
                            <a:rPr lang="en-US" altLang="zh-TW" b="0" i="1" smtClean="0">
                              <a:latin typeface="Cambria Math"/>
                            </a:rPr>
                          </m:ctrlPr>
                        </m:dPr>
                        <m:e>
                          <m:r>
                            <a:rPr lang="en-US" altLang="zh-TW" b="0" i="1" smtClean="0">
                              <a:latin typeface="Cambria Math"/>
                              <a:ea typeface="Cambria Math"/>
                            </a:rPr>
                            <m:t>𝜔</m:t>
                          </m:r>
                          <m:r>
                            <a:rPr lang="en-US" altLang="zh-TW" b="0" i="1" smtClean="0">
                              <a:latin typeface="Cambria Math"/>
                              <a:ea typeface="Cambria Math"/>
                            </a:rPr>
                            <m:t>,</m:t>
                          </m:r>
                          <m:r>
                            <a:rPr lang="en-US" altLang="zh-TW" b="0" i="1" smtClean="0">
                              <a:latin typeface="Cambria Math"/>
                              <a:ea typeface="Cambria Math"/>
                            </a:rPr>
                            <m:t>𝑡</m:t>
                          </m:r>
                        </m:e>
                      </m:d>
                      <m:r>
                        <a:rPr lang="zh-TW" altLang="en-US" b="0" i="1" smtClean="0">
                          <a:latin typeface="Cambria Math"/>
                          <a:ea typeface="Cambria Math"/>
                        </a:rPr>
                        <m:t>為</m:t>
                      </m:r>
                      <m:r>
                        <a:rPr lang="en-US" altLang="zh-TW" b="0" i="1" smtClean="0">
                          <a:latin typeface="Cambria Math"/>
                          <a:ea typeface="Cambria Math"/>
                        </a:rPr>
                        <m:t>𝑍</m:t>
                      </m:r>
                      <m:d>
                        <m:dPr>
                          <m:ctrlPr>
                            <a:rPr lang="en-US" altLang="zh-TW" b="0" i="1" smtClean="0">
                              <a:latin typeface="Cambria Math"/>
                              <a:ea typeface="Cambria Math"/>
                            </a:rPr>
                          </m:ctrlPr>
                        </m:dPr>
                        <m:e>
                          <m:r>
                            <a:rPr lang="en-US" altLang="zh-TW" b="0" i="1" smtClean="0">
                              <a:latin typeface="Cambria Math"/>
                              <a:ea typeface="Cambria Math"/>
                            </a:rPr>
                            <m:t>𝑡</m:t>
                          </m:r>
                        </m:e>
                      </m:d>
                      <m:r>
                        <a:rPr lang="zh-TW" altLang="en-US" b="0" i="1" smtClean="0">
                          <a:latin typeface="Cambria Math"/>
                          <a:ea typeface="Cambria Math"/>
                        </a:rPr>
                        <m:t>中在時間</m:t>
                      </m:r>
                      <m:r>
                        <a:rPr lang="en-US" altLang="zh-TW" b="0" i="1" smtClean="0">
                          <a:latin typeface="Cambria Math"/>
                          <a:ea typeface="Cambria Math"/>
                        </a:rPr>
                        <m:t>𝑡</m:t>
                      </m:r>
                      <m:r>
                        <a:rPr lang="zh-TW" altLang="en-US" b="0" i="1" smtClean="0">
                          <a:latin typeface="Cambria Math"/>
                          <a:ea typeface="Cambria Math"/>
                        </a:rPr>
                        <m:t>，角頻率為</m:t>
                      </m:r>
                      <m:r>
                        <a:rPr lang="en-US" altLang="zh-TW" i="1">
                          <a:latin typeface="Cambria Math"/>
                          <a:ea typeface="Cambria Math"/>
                        </a:rPr>
                        <m:t>𝜔</m:t>
                      </m:r>
                      <m:r>
                        <a:rPr lang="zh-TW" altLang="en-US" b="0" i="1" smtClean="0">
                          <a:latin typeface="Cambria Math"/>
                          <a:ea typeface="Cambria Math"/>
                        </a:rPr>
                        <m:t>的能量強度</m:t>
                      </m:r>
                    </m:oMath>
                  </m:oMathPara>
                </a14:m>
                <a:endParaRPr lang="en-US" altLang="zh-TW" dirty="0">
                  <a:latin typeface="微軟正黑體" pitchFamily="34" charset="-120"/>
                  <a:ea typeface="微軟正黑體" pitchFamily="34" charset="-120"/>
                </a:endParaRPr>
              </a:p>
              <a:p>
                <a:r>
                  <a:rPr lang="zh-TW" altLang="en-US" dirty="0">
                    <a:solidFill>
                      <a:srgbClr val="C00000"/>
                    </a:solidFill>
                    <a:latin typeface="微軟正黑體" pitchFamily="34" charset="-120"/>
                    <a:ea typeface="微軟正黑體" pitchFamily="34" charset="-120"/>
                  </a:rPr>
                  <a:t>可由此關係式得下面的</a:t>
                </a:r>
                <a:r>
                  <a:rPr lang="en-US" altLang="zh-TW" dirty="0">
                    <a:solidFill>
                      <a:srgbClr val="C00000"/>
                    </a:solidFill>
                    <a:latin typeface="微軟正黑體" pitchFamily="34" charset="-120"/>
                    <a:ea typeface="微軟正黑體" pitchFamily="34" charset="-120"/>
                  </a:rPr>
                  <a:t>Hilbert </a:t>
                </a:r>
                <a:r>
                  <a:rPr lang="en-US" altLang="zh-TW" dirty="0" smtClean="0">
                    <a:solidFill>
                      <a:srgbClr val="C00000"/>
                    </a:solidFill>
                    <a:latin typeface="微軟正黑體" pitchFamily="34" charset="-120"/>
                    <a:ea typeface="微軟正黑體" pitchFamily="34" charset="-120"/>
                  </a:rPr>
                  <a:t>spectrum </a:t>
                </a:r>
                <a14:m>
                  <m:oMath xmlns:m="http://schemas.openxmlformats.org/officeDocument/2006/math">
                    <m:r>
                      <a:rPr lang="en-US" altLang="zh-TW" i="1">
                        <a:solidFill>
                          <a:srgbClr val="C00000"/>
                        </a:solidFill>
                        <a:latin typeface="Cambria Math"/>
                      </a:rPr>
                      <m:t>𝐻</m:t>
                    </m:r>
                    <m:d>
                      <m:dPr>
                        <m:ctrlPr>
                          <a:rPr lang="en-US" altLang="zh-TW" i="1">
                            <a:solidFill>
                              <a:srgbClr val="C00000"/>
                            </a:solidFill>
                            <a:latin typeface="Cambria Math"/>
                          </a:rPr>
                        </m:ctrlPr>
                      </m:dPr>
                      <m:e>
                        <m:r>
                          <a:rPr lang="en-US" altLang="zh-TW" i="1">
                            <a:solidFill>
                              <a:srgbClr val="C00000"/>
                            </a:solidFill>
                            <a:latin typeface="Cambria Math"/>
                            <a:ea typeface="Cambria Math"/>
                          </a:rPr>
                          <m:t>𝜔</m:t>
                        </m:r>
                        <m:r>
                          <a:rPr lang="en-US" altLang="zh-TW" i="1">
                            <a:solidFill>
                              <a:srgbClr val="C00000"/>
                            </a:solidFill>
                            <a:latin typeface="Cambria Math"/>
                            <a:ea typeface="Cambria Math"/>
                          </a:rPr>
                          <m:t>,</m:t>
                        </m:r>
                        <m:r>
                          <a:rPr lang="en-US" altLang="zh-TW" i="1">
                            <a:solidFill>
                              <a:srgbClr val="C00000"/>
                            </a:solidFill>
                            <a:latin typeface="Cambria Math"/>
                            <a:ea typeface="Cambria Math"/>
                          </a:rPr>
                          <m:t>𝑡</m:t>
                        </m:r>
                      </m:e>
                    </m:d>
                  </m:oMath>
                </a14:m>
                <a:endParaRPr lang="zh-TW" altLang="en-US" dirty="0">
                  <a:solidFill>
                    <a:srgbClr val="C00000"/>
                  </a:solidFill>
                  <a:latin typeface="微軟正黑體" pitchFamily="34" charset="-120"/>
                  <a:ea typeface="微軟正黑體" pitchFamily="34" charset="-120"/>
                </a:endParaRPr>
              </a:p>
              <a:p>
                <a:endParaRPr lang="en-US" altLang="zh-TW" dirty="0" smtClean="0">
                  <a:latin typeface="微軟正黑體" pitchFamily="34" charset="-120"/>
                  <a:ea typeface="微軟正黑體" pitchFamily="34" charset="-120"/>
                </a:endParaRPr>
              </a:p>
              <a:p>
                <a:endParaRPr lang="zh-TW" altLang="en-US" dirty="0">
                  <a:latin typeface="微軟正黑體" pitchFamily="34" charset="-120"/>
                  <a:ea typeface="微軟正黑體" pitchFamily="34" charset="-120"/>
                </a:endParaRPr>
              </a:p>
            </p:txBody>
          </p:sp>
        </mc:Choice>
        <mc:Fallback xmlns="">
          <p:sp>
            <p:nvSpPr>
              <p:cNvPr id="9" name="矩形 8"/>
              <p:cNvSpPr>
                <a:spLocks noRot="1" noChangeAspect="1" noMove="1" noResize="1" noEditPoints="1" noAdjustHandles="1" noChangeArrowheads="1" noChangeShapeType="1" noTextEdit="1"/>
              </p:cNvSpPr>
              <p:nvPr/>
            </p:nvSpPr>
            <p:spPr>
              <a:xfrm>
                <a:off x="539552" y="1268760"/>
                <a:ext cx="5341462" cy="1987852"/>
              </a:xfrm>
              <a:prstGeom prst="rect">
                <a:avLst/>
              </a:prstGeom>
              <a:blipFill rotWithShape="1">
                <a:blip r:embed="rId3"/>
                <a:stretch>
                  <a:fillRect l="-102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2941432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Marginal Hilbert spectrum (1)</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49</a:t>
            </a:fld>
            <a:endParaRPr lang="zh-TW" altLang="en-US"/>
          </a:p>
        </p:txBody>
      </p:sp>
      <mc:AlternateContent xmlns:mc="http://schemas.openxmlformats.org/markup-compatibility/2006" xmlns:a14="http://schemas.microsoft.com/office/drawing/2010/main">
        <mc:Choice Requires="a14">
          <p:sp>
            <p:nvSpPr>
              <p:cNvPr id="4" name="矩形 3"/>
              <p:cNvSpPr/>
              <p:nvPr/>
            </p:nvSpPr>
            <p:spPr>
              <a:xfrm>
                <a:off x="1115616" y="1556792"/>
                <a:ext cx="657205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2000" b="0" i="1" smtClean="0">
                          <a:latin typeface="Cambria Math"/>
                        </a:rPr>
                        <m:t>由</m:t>
                      </m:r>
                      <m:r>
                        <a:rPr lang="en-US" altLang="zh-TW" sz="2000" i="1">
                          <a:latin typeface="Cambria Math"/>
                        </a:rPr>
                        <m:t>𝐻</m:t>
                      </m:r>
                      <m:d>
                        <m:dPr>
                          <m:ctrlPr>
                            <a:rPr lang="en-US" altLang="zh-TW" sz="2000" i="1">
                              <a:latin typeface="Cambria Math"/>
                            </a:rPr>
                          </m:ctrlPr>
                        </m:dPr>
                        <m:e>
                          <m:r>
                            <a:rPr lang="en-US" altLang="zh-TW" sz="2000" i="1">
                              <a:latin typeface="Cambria Math"/>
                              <a:ea typeface="Cambria Math"/>
                            </a:rPr>
                            <m:t>𝜔</m:t>
                          </m:r>
                          <m:r>
                            <a:rPr lang="en-US" altLang="zh-TW" sz="2000" i="1">
                              <a:latin typeface="Cambria Math"/>
                              <a:ea typeface="Cambria Math"/>
                            </a:rPr>
                            <m:t>,</m:t>
                          </m:r>
                          <m:r>
                            <a:rPr lang="en-US" altLang="zh-TW" sz="2000" i="1">
                              <a:latin typeface="Cambria Math"/>
                              <a:ea typeface="Cambria Math"/>
                            </a:rPr>
                            <m:t>𝑡</m:t>
                          </m:r>
                        </m:e>
                      </m:d>
                      <m:r>
                        <a:rPr lang="zh-TW" altLang="en-US" sz="2000" b="0" i="1" smtClean="0">
                          <a:latin typeface="Cambria Math"/>
                          <a:ea typeface="Cambria Math"/>
                        </a:rPr>
                        <m:t>對時間</m:t>
                      </m:r>
                      <m:r>
                        <a:rPr lang="en-US" altLang="zh-TW" sz="2000" b="0" i="1" smtClean="0">
                          <a:latin typeface="Cambria Math"/>
                          <a:ea typeface="Cambria Math"/>
                        </a:rPr>
                        <m:t>𝑡</m:t>
                      </m:r>
                      <m:r>
                        <a:rPr lang="zh-TW" altLang="en-US" sz="2000" b="0" i="1" smtClean="0">
                          <a:latin typeface="Cambria Math"/>
                          <a:ea typeface="Cambria Math"/>
                        </a:rPr>
                        <m:t>積分，可得到</m:t>
                      </m:r>
                      <m:r>
                        <a:rPr lang="en-US" altLang="zh-TW" sz="2000" b="0" i="1" smtClean="0">
                          <a:latin typeface="Cambria Math"/>
                          <a:ea typeface="Cambria Math"/>
                        </a:rPr>
                        <m:t>𝑚𝑎𝑟𝑔𝑖𝑛𝑎𝑙</m:t>
                      </m:r>
                      <m:r>
                        <a:rPr lang="en-US" altLang="zh-TW" sz="2000" b="0" i="1" smtClean="0">
                          <a:latin typeface="Cambria Math"/>
                          <a:ea typeface="Cambria Math"/>
                        </a:rPr>
                        <m:t> </m:t>
                      </m:r>
                      <m:r>
                        <a:rPr lang="en-US" altLang="zh-TW" sz="2000" b="0" i="1" smtClean="0">
                          <a:latin typeface="Cambria Math"/>
                          <a:ea typeface="Cambria Math"/>
                        </a:rPr>
                        <m:t>𝑠𝑝𝑒𝑐𝑡𝑟𝑢𝑚</m:t>
                      </m:r>
                      <m:r>
                        <a:rPr lang="en-US" altLang="zh-TW" sz="2000" b="0" i="1" smtClean="0">
                          <a:latin typeface="Cambria Math"/>
                          <a:ea typeface="Cambria Math"/>
                        </a:rPr>
                        <m:t> </m:t>
                      </m:r>
                      <m:r>
                        <a:rPr lang="en-US" altLang="zh-TW" sz="2000" b="0" i="1" smtClean="0">
                          <a:latin typeface="Cambria Math"/>
                          <a:ea typeface="Cambria Math"/>
                        </a:rPr>
                        <m:t>h</m:t>
                      </m:r>
                      <m:r>
                        <a:rPr lang="en-US" altLang="zh-TW" sz="2000" b="0" i="1" smtClean="0">
                          <a:latin typeface="Cambria Math"/>
                          <a:ea typeface="Cambria Math"/>
                        </a:rPr>
                        <m:t>(</m:t>
                      </m:r>
                      <m:r>
                        <a:rPr lang="en-US" altLang="zh-TW" sz="2000" b="0" i="1" smtClean="0">
                          <a:latin typeface="Cambria Math"/>
                          <a:ea typeface="Cambria Math"/>
                        </a:rPr>
                        <m:t>𝜔</m:t>
                      </m:r>
                      <m:r>
                        <a:rPr lang="en-US" altLang="zh-TW" sz="2000" b="0" i="1" smtClean="0">
                          <a:latin typeface="Cambria Math"/>
                          <a:ea typeface="Cambria Math"/>
                        </a:rPr>
                        <m:t>)</m:t>
                      </m:r>
                    </m:oMath>
                  </m:oMathPara>
                </a14:m>
                <a:endParaRPr lang="zh-TW" altLang="en-US" sz="2000" dirty="0">
                  <a:latin typeface="微軟正黑體" pitchFamily="34" charset="-120"/>
                  <a:ea typeface="微軟正黑體" pitchFamily="34" charset="-120"/>
                </a:endParaRPr>
              </a:p>
            </p:txBody>
          </p:sp>
        </mc:Choice>
        <mc:Fallback xmlns="">
          <p:sp>
            <p:nvSpPr>
              <p:cNvPr id="4" name="矩形 3"/>
              <p:cNvSpPr>
                <a:spLocks noRot="1" noChangeAspect="1" noMove="1" noResize="1" noEditPoints="1" noAdjustHandles="1" noChangeArrowheads="1" noChangeShapeType="1" noTextEdit="1"/>
              </p:cNvSpPr>
              <p:nvPr/>
            </p:nvSpPr>
            <p:spPr>
              <a:xfrm>
                <a:off x="1115616" y="1556792"/>
                <a:ext cx="6572056" cy="400110"/>
              </a:xfrm>
              <a:prstGeom prst="rect">
                <a:avLst/>
              </a:prstGeom>
              <a:blipFill rotWithShape="1">
                <a:blip r:embed="rId2"/>
                <a:stretch>
                  <a:fillRect b="-15152"/>
                </a:stretch>
              </a:blipFill>
            </p:spPr>
            <p:txBody>
              <a:bodyPr/>
              <a:lstStyle/>
              <a:p>
                <a:r>
                  <a:rPr lang="zh-TW" altLang="en-US">
                    <a:noFill/>
                  </a:rPr>
                  <a:t> </a:t>
                </a:r>
              </a:p>
            </p:txBody>
          </p:sp>
        </mc:Fallback>
      </mc:AlternateContent>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177" y="2132856"/>
            <a:ext cx="4476934" cy="1855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755576" y="4437112"/>
            <a:ext cx="7920880" cy="830997"/>
          </a:xfrm>
          <a:prstGeom prst="rect">
            <a:avLst/>
          </a:prstGeom>
        </p:spPr>
        <p:txBody>
          <a:bodyPr wrap="square">
            <a:spAutoFit/>
          </a:bodyPr>
          <a:lstStyle/>
          <a:p>
            <a:pPr algn="ctr"/>
            <a:r>
              <a:rPr lang="zh-TW" altLang="en-US" sz="2400" dirty="0">
                <a:solidFill>
                  <a:srgbClr val="C00000"/>
                </a:solidFill>
                <a:latin typeface="微軟正黑體" pitchFamily="34" charset="-120"/>
                <a:ea typeface="微軟正黑體" pitchFamily="34" charset="-120"/>
              </a:rPr>
              <a:t>對時間積分，則可</a:t>
            </a:r>
            <a:r>
              <a:rPr lang="zh-TW" altLang="en-US" sz="2400" dirty="0" smtClean="0">
                <a:solidFill>
                  <a:srgbClr val="C00000"/>
                </a:solidFill>
                <a:latin typeface="微軟正黑體" pitchFamily="34" charset="-120"/>
                <a:ea typeface="微軟正黑體" pitchFamily="34" charset="-120"/>
              </a:rPr>
              <a:t>表示</a:t>
            </a:r>
            <a:r>
              <a:rPr lang="zh-TW" altLang="en-US" sz="2400" dirty="0">
                <a:solidFill>
                  <a:srgbClr val="C00000"/>
                </a:solidFill>
                <a:latin typeface="微軟正黑體" pitchFamily="34" charset="-120"/>
                <a:ea typeface="微軟正黑體" pitchFamily="34" charset="-120"/>
              </a:rPr>
              <a:t>每個頻率所對應到的振幅或能量的總和。</a:t>
            </a:r>
          </a:p>
        </p:txBody>
      </p:sp>
    </p:spTree>
    <p:extLst>
      <p:ext uri="{BB962C8B-B14F-4D97-AF65-F5344CB8AC3E}">
        <p14:creationId xmlns:p14="http://schemas.microsoft.com/office/powerpoint/2010/main" val="313638210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Marginal Hilbert spectrum </a:t>
            </a:r>
            <a:r>
              <a:rPr lang="en-US" altLang="zh-TW" dirty="0" smtClean="0"/>
              <a:t>(2)</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50</a:t>
            </a:fld>
            <a:endParaRPr lang="zh-TW" altLang="en-US"/>
          </a:p>
        </p:txBody>
      </p:sp>
      <p:sp>
        <p:nvSpPr>
          <p:cNvPr id="4" name="文字方塊 3"/>
          <p:cNvSpPr txBox="1"/>
          <p:nvPr/>
        </p:nvSpPr>
        <p:spPr>
          <a:xfrm>
            <a:off x="323528" y="1412776"/>
            <a:ext cx="8352928" cy="461665"/>
          </a:xfrm>
          <a:prstGeom prst="rect">
            <a:avLst/>
          </a:prstGeom>
          <a:noFill/>
        </p:spPr>
        <p:txBody>
          <a:bodyPr wrap="square" rtlCol="0">
            <a:spAutoFit/>
          </a:bodyPr>
          <a:lstStyle/>
          <a:p>
            <a:r>
              <a:rPr lang="en-US" altLang="zh-TW" sz="2400" dirty="0" smtClean="0">
                <a:solidFill>
                  <a:srgbClr val="C00000"/>
                </a:solidFill>
                <a:latin typeface="微軟正黑體" pitchFamily="34" charset="-120"/>
                <a:ea typeface="微軟正黑體" pitchFamily="34" charset="-120"/>
              </a:rPr>
              <a:t>Marginal Hilbert </a:t>
            </a:r>
            <a:r>
              <a:rPr lang="en-US" altLang="zh-TW" sz="2400" dirty="0" err="1" smtClean="0">
                <a:solidFill>
                  <a:srgbClr val="C00000"/>
                </a:solidFill>
                <a:latin typeface="微軟正黑體" pitchFamily="34" charset="-120"/>
                <a:ea typeface="微軟正黑體" pitchFamily="34" charset="-120"/>
              </a:rPr>
              <a:t>spectrum與Fourier</a:t>
            </a:r>
            <a:r>
              <a:rPr lang="en-US" altLang="zh-TW" sz="2400" dirty="0" smtClean="0">
                <a:solidFill>
                  <a:srgbClr val="C00000"/>
                </a:solidFill>
                <a:latin typeface="微軟正黑體" pitchFamily="34" charset="-120"/>
                <a:ea typeface="微軟正黑體" pitchFamily="34" charset="-120"/>
              </a:rPr>
              <a:t> spectrum</a:t>
            </a:r>
            <a:r>
              <a:rPr lang="zh-TW" altLang="en-US" sz="2400" dirty="0" smtClean="0">
                <a:solidFill>
                  <a:srgbClr val="C00000"/>
                </a:solidFill>
                <a:latin typeface="微軟正黑體" pitchFamily="34" charset="-120"/>
                <a:ea typeface="微軟正黑體" pitchFamily="34" charset="-120"/>
              </a:rPr>
              <a:t>意義不同</a:t>
            </a:r>
            <a:endParaRPr lang="zh-TW" altLang="en-US" sz="2400" dirty="0">
              <a:solidFill>
                <a:srgbClr val="C00000"/>
              </a:solidFill>
              <a:latin typeface="微軟正黑體" pitchFamily="34" charset="-120"/>
              <a:ea typeface="微軟正黑體" pitchFamily="34" charset="-120"/>
            </a:endParaRPr>
          </a:p>
        </p:txBody>
      </p:sp>
      <p:pic>
        <p:nvPicPr>
          <p:cNvPr id="2560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1868419"/>
            <a:ext cx="6264696" cy="4989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469311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Comparison</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51</a:t>
            </a:fld>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2109176093"/>
              </p:ext>
            </p:extLst>
          </p:nvPr>
        </p:nvGraphicFramePr>
        <p:xfrm>
          <a:off x="179512" y="1412776"/>
          <a:ext cx="8136904" cy="4176465"/>
        </p:xfrm>
        <a:graphic>
          <a:graphicData uri="http://schemas.openxmlformats.org/drawingml/2006/table">
            <a:tbl>
              <a:tblPr firstRow="1" bandRow="1">
                <a:tableStyleId>{F5AB1C69-6EDB-4FF4-983F-18BD219EF322}</a:tableStyleId>
              </a:tblPr>
              <a:tblGrid>
                <a:gridCol w="2034226"/>
                <a:gridCol w="2034226"/>
                <a:gridCol w="2034226"/>
                <a:gridCol w="2034226"/>
              </a:tblGrid>
              <a:tr h="382537">
                <a:tc>
                  <a:txBody>
                    <a:bodyPr/>
                    <a:lstStyle/>
                    <a:p>
                      <a:pPr algn="ctr"/>
                      <a:endParaRPr lang="zh-TW" altLang="en-US" dirty="0"/>
                    </a:p>
                  </a:txBody>
                  <a:tcPr anchor="ctr"/>
                </a:tc>
                <a:tc>
                  <a:txBody>
                    <a:bodyPr/>
                    <a:lstStyle/>
                    <a:p>
                      <a:pPr algn="ctr"/>
                      <a:r>
                        <a:rPr lang="en-US" altLang="zh-TW" dirty="0" smtClean="0"/>
                        <a:t>Fourier</a:t>
                      </a:r>
                      <a:endParaRPr lang="zh-TW" altLang="en-US" dirty="0"/>
                    </a:p>
                  </a:txBody>
                  <a:tcPr anchor="ctr"/>
                </a:tc>
                <a:tc>
                  <a:txBody>
                    <a:bodyPr/>
                    <a:lstStyle/>
                    <a:p>
                      <a:pPr algn="ctr"/>
                      <a:r>
                        <a:rPr lang="en-US" altLang="zh-TW" dirty="0" smtClean="0"/>
                        <a:t>Fourier</a:t>
                      </a:r>
                      <a:endParaRPr lang="zh-TW" altLang="en-US" dirty="0"/>
                    </a:p>
                  </a:txBody>
                  <a:tcPr anchor="ctr"/>
                </a:tc>
                <a:tc>
                  <a:txBody>
                    <a:bodyPr/>
                    <a:lstStyle/>
                    <a:p>
                      <a:pPr algn="ctr"/>
                      <a:r>
                        <a:rPr lang="en-US" altLang="zh-TW" dirty="0" smtClean="0"/>
                        <a:t>HHT</a:t>
                      </a:r>
                      <a:endParaRPr lang="zh-TW" altLang="en-US" dirty="0"/>
                    </a:p>
                  </a:txBody>
                  <a:tcPr anchor="ctr"/>
                </a:tc>
              </a:tr>
              <a:tr h="382537">
                <a:tc>
                  <a:txBody>
                    <a:bodyPr/>
                    <a:lstStyle/>
                    <a:p>
                      <a:pPr algn="ctr"/>
                      <a:r>
                        <a:rPr lang="it-IT" altLang="zh-TW" dirty="0" smtClean="0"/>
                        <a:t>Basis	</a:t>
                      </a:r>
                      <a:endParaRPr lang="zh-TW" altLang="en-US" dirty="0"/>
                    </a:p>
                  </a:txBody>
                  <a:tcPr anchor="ctr"/>
                </a:tc>
                <a:tc>
                  <a:txBody>
                    <a:bodyPr/>
                    <a:lstStyle/>
                    <a:p>
                      <a:pPr algn="ctr"/>
                      <a:r>
                        <a:rPr lang="it-IT" altLang="zh-TW" dirty="0" smtClean="0"/>
                        <a:t>a priori</a:t>
                      </a:r>
                      <a:endParaRPr lang="zh-TW" altLang="en-US" dirty="0"/>
                    </a:p>
                  </a:txBody>
                  <a:tcPr anchor="ctr"/>
                </a:tc>
                <a:tc>
                  <a:txBody>
                    <a:bodyPr/>
                    <a:lstStyle/>
                    <a:p>
                      <a:pPr algn="ctr"/>
                      <a:r>
                        <a:rPr lang="it-IT" altLang="zh-TW" dirty="0" smtClean="0"/>
                        <a:t>a priori</a:t>
                      </a:r>
                      <a:endParaRPr lang="zh-TW" alt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it-IT" altLang="zh-TW" dirty="0" smtClean="0"/>
                        <a:t>adaptive</a:t>
                      </a:r>
                      <a:endParaRPr lang="zh-TW" altLang="en-US" dirty="0" smtClean="0"/>
                    </a:p>
                  </a:txBody>
                  <a:tcPr anchor="ctr"/>
                </a:tc>
              </a:tr>
              <a:tr h="943242">
                <a:tc>
                  <a:txBody>
                    <a:bodyPr/>
                    <a:lstStyle/>
                    <a:p>
                      <a:pPr algn="ctr"/>
                      <a:r>
                        <a:rPr lang="en-US" altLang="zh-TW" dirty="0" smtClean="0"/>
                        <a:t>Frequency</a:t>
                      </a:r>
                      <a:endParaRPr lang="zh-TW" altLang="en-US" dirty="0"/>
                    </a:p>
                  </a:txBody>
                  <a:tcPr anchor="ctr"/>
                </a:tc>
                <a:tc>
                  <a:txBody>
                    <a:bodyPr/>
                    <a:lstStyle/>
                    <a:p>
                      <a:pPr algn="ctr"/>
                      <a:r>
                        <a:rPr lang="en-US" altLang="zh-TW" dirty="0" smtClean="0"/>
                        <a:t>convolution: global, uncertainty</a:t>
                      </a:r>
                      <a:endParaRPr lang="zh-TW" altLang="en-US" dirty="0"/>
                    </a:p>
                  </a:txBody>
                  <a:tcPr anchor="ctr"/>
                </a:tc>
                <a:tc>
                  <a:txBody>
                    <a:bodyPr/>
                    <a:lstStyle/>
                    <a:p>
                      <a:pPr algn="ctr"/>
                      <a:r>
                        <a:rPr lang="en-US" altLang="zh-TW" dirty="0" smtClean="0"/>
                        <a:t>convolution: regional, uncertainty</a:t>
                      </a:r>
                      <a:endParaRPr lang="zh-TW" altLang="en-US" dirty="0"/>
                    </a:p>
                  </a:txBody>
                  <a:tcPr anchor="ctr"/>
                </a:tc>
                <a:tc>
                  <a:txBody>
                    <a:bodyPr/>
                    <a:lstStyle/>
                    <a:p>
                      <a:pPr algn="ctr"/>
                      <a:r>
                        <a:rPr lang="en-US" altLang="zh-TW" dirty="0" smtClean="0"/>
                        <a:t>differentiation: local, certainty</a:t>
                      </a:r>
                      <a:endParaRPr lang="zh-TW" altLang="en-US" dirty="0"/>
                    </a:p>
                  </a:txBody>
                  <a:tcPr anchor="ctr"/>
                </a:tc>
              </a:tr>
              <a:tr h="660269">
                <a:tc>
                  <a:txBody>
                    <a:bodyPr/>
                    <a:lstStyle/>
                    <a:p>
                      <a:pPr algn="ctr"/>
                      <a:r>
                        <a:rPr lang="en-US" altLang="zh-TW" dirty="0" smtClean="0"/>
                        <a:t>Presentation</a:t>
                      </a:r>
                      <a:endParaRPr lang="zh-TW" altLang="en-US" dirty="0"/>
                    </a:p>
                  </a:txBody>
                  <a:tcPr anchor="ctr"/>
                </a:tc>
                <a:tc>
                  <a:txBody>
                    <a:bodyPr/>
                    <a:lstStyle/>
                    <a:p>
                      <a:pPr algn="ctr"/>
                      <a:r>
                        <a:rPr lang="en-US" altLang="zh-TW" dirty="0" smtClean="0"/>
                        <a:t>energy-frequency</a:t>
                      </a:r>
                      <a:endParaRPr lang="zh-TW" altLang="en-US" dirty="0"/>
                    </a:p>
                  </a:txBody>
                  <a:tcPr anchor="ctr"/>
                </a:tc>
                <a:tc>
                  <a:txBody>
                    <a:bodyPr/>
                    <a:lstStyle/>
                    <a:p>
                      <a:pPr algn="ctr"/>
                      <a:r>
                        <a:rPr lang="en-US" altLang="zh-TW" dirty="0" smtClean="0"/>
                        <a:t>energy-time-frequency</a:t>
                      </a:r>
                      <a:endParaRPr lang="zh-TW" altLang="en-US" dirty="0"/>
                    </a:p>
                  </a:txBody>
                  <a:tcPr anchor="ctr"/>
                </a:tc>
                <a:tc>
                  <a:txBody>
                    <a:bodyPr/>
                    <a:lstStyle/>
                    <a:p>
                      <a:pPr algn="ctr"/>
                      <a:r>
                        <a:rPr lang="en-US" altLang="zh-TW" dirty="0" smtClean="0"/>
                        <a:t>energy-time-frequency</a:t>
                      </a:r>
                      <a:endParaRPr lang="zh-TW" altLang="en-US" dirty="0"/>
                    </a:p>
                  </a:txBody>
                  <a:tcPr anchor="ctr"/>
                </a:tc>
              </a:tr>
              <a:tr h="382537">
                <a:tc>
                  <a:txBody>
                    <a:bodyPr/>
                    <a:lstStyle/>
                    <a:p>
                      <a:pPr algn="ctr"/>
                      <a:r>
                        <a:rPr lang="en-US" altLang="zh-TW" dirty="0" smtClean="0"/>
                        <a:t>Nonlinear</a:t>
                      </a:r>
                      <a:endParaRPr lang="zh-TW" altLang="en-US" dirty="0"/>
                    </a:p>
                  </a:txBody>
                  <a:tcPr anchor="ctr"/>
                </a:tc>
                <a:tc>
                  <a:txBody>
                    <a:bodyPr/>
                    <a:lstStyle/>
                    <a:p>
                      <a:pPr algn="ctr"/>
                      <a:r>
                        <a:rPr lang="en-US" altLang="zh-TW" dirty="0" smtClean="0"/>
                        <a:t>No</a:t>
                      </a:r>
                      <a:endParaRPr lang="zh-TW" altLang="en-US" dirty="0"/>
                    </a:p>
                  </a:txBody>
                  <a:tcPr anchor="ctr"/>
                </a:tc>
                <a:tc>
                  <a:txBody>
                    <a:bodyPr/>
                    <a:lstStyle/>
                    <a:p>
                      <a:pPr algn="ctr"/>
                      <a:r>
                        <a:rPr lang="en-US" altLang="zh-TW" dirty="0" smtClean="0"/>
                        <a:t>No</a:t>
                      </a:r>
                      <a:endParaRPr lang="zh-TW" altLang="en-US" dirty="0"/>
                    </a:p>
                  </a:txBody>
                  <a:tcPr anchor="ctr"/>
                </a:tc>
                <a:tc>
                  <a:txBody>
                    <a:bodyPr/>
                    <a:lstStyle/>
                    <a:p>
                      <a:pPr algn="ctr"/>
                      <a:r>
                        <a:rPr lang="en-US" altLang="zh-TW" dirty="0" smtClean="0"/>
                        <a:t>Yes</a:t>
                      </a:r>
                      <a:endParaRPr lang="zh-TW" altLang="en-US" dirty="0"/>
                    </a:p>
                  </a:txBody>
                  <a:tcPr anchor="ctr"/>
                </a:tc>
              </a:tr>
              <a:tr h="382537">
                <a:tc>
                  <a:txBody>
                    <a:bodyPr/>
                    <a:lstStyle/>
                    <a:p>
                      <a:pPr algn="ctr"/>
                      <a:r>
                        <a:rPr lang="en-US" altLang="zh-TW" dirty="0" smtClean="0"/>
                        <a:t>Non-stationary</a:t>
                      </a:r>
                      <a:endParaRPr lang="zh-TW" altLang="en-US" dirty="0"/>
                    </a:p>
                  </a:txBody>
                  <a:tcPr anchor="ctr"/>
                </a:tc>
                <a:tc>
                  <a:txBody>
                    <a:bodyPr/>
                    <a:lstStyle/>
                    <a:p>
                      <a:pPr algn="ctr"/>
                      <a:r>
                        <a:rPr lang="en-US" altLang="zh-TW" dirty="0" smtClean="0"/>
                        <a:t>No</a:t>
                      </a:r>
                      <a:endParaRPr lang="zh-TW" altLang="en-US" dirty="0"/>
                    </a:p>
                  </a:txBody>
                  <a:tcPr anchor="ctr"/>
                </a:tc>
                <a:tc>
                  <a:txBody>
                    <a:bodyPr/>
                    <a:lstStyle/>
                    <a:p>
                      <a:pPr algn="ctr"/>
                      <a:r>
                        <a:rPr lang="en-US" altLang="zh-TW" dirty="0" smtClean="0"/>
                        <a:t>Yes</a:t>
                      </a:r>
                      <a:endParaRPr lang="zh-TW" altLang="en-US" dirty="0"/>
                    </a:p>
                  </a:txBody>
                  <a:tcPr anchor="ctr"/>
                </a:tc>
                <a:tc>
                  <a:txBody>
                    <a:bodyPr/>
                    <a:lstStyle/>
                    <a:p>
                      <a:pPr algn="ctr"/>
                      <a:r>
                        <a:rPr lang="en-US" altLang="zh-TW" dirty="0" smtClean="0"/>
                        <a:t>Yes</a:t>
                      </a:r>
                      <a:endParaRPr lang="zh-TW" altLang="en-US" dirty="0"/>
                    </a:p>
                  </a:txBody>
                  <a:tcPr anchor="ctr"/>
                </a:tc>
              </a:tr>
              <a:tr h="660269">
                <a:tc>
                  <a:txBody>
                    <a:bodyPr/>
                    <a:lstStyle/>
                    <a:p>
                      <a:pPr algn="ctr"/>
                      <a:r>
                        <a:rPr lang="en-US" altLang="zh-TW" dirty="0" smtClean="0"/>
                        <a:t>Feature extraction</a:t>
                      </a:r>
                      <a:endParaRPr lang="zh-TW" altLang="en-US" dirty="0"/>
                    </a:p>
                  </a:txBody>
                  <a:tcPr anchor="ctr"/>
                </a:tc>
                <a:tc>
                  <a:txBody>
                    <a:bodyPr/>
                    <a:lstStyle/>
                    <a:p>
                      <a:pPr algn="ctr"/>
                      <a:r>
                        <a:rPr lang="en-US" altLang="zh-TW" dirty="0" smtClean="0"/>
                        <a:t>No</a:t>
                      </a:r>
                      <a:endParaRPr lang="zh-TW" altLang="en-US" dirty="0"/>
                    </a:p>
                  </a:txBody>
                  <a:tcPr anchor="ctr"/>
                </a:tc>
                <a:tc>
                  <a:txBody>
                    <a:bodyPr/>
                    <a:lstStyle/>
                    <a:p>
                      <a:pPr algn="ctr"/>
                      <a:r>
                        <a:rPr lang="en-US" altLang="zh-TW" dirty="0" smtClean="0"/>
                        <a:t>Discrete: No</a:t>
                      </a:r>
                    </a:p>
                    <a:p>
                      <a:pPr algn="ctr"/>
                      <a:r>
                        <a:rPr lang="en-US" altLang="zh-TW" dirty="0" smtClean="0"/>
                        <a:t>Continuous: Yes</a:t>
                      </a:r>
                      <a:endParaRPr lang="zh-TW" altLang="en-US" dirty="0"/>
                    </a:p>
                  </a:txBody>
                  <a:tcPr anchor="ctr"/>
                </a:tc>
                <a:tc>
                  <a:txBody>
                    <a:bodyPr/>
                    <a:lstStyle/>
                    <a:p>
                      <a:pPr algn="ctr"/>
                      <a:r>
                        <a:rPr lang="en-US" altLang="zh-TW" dirty="0" smtClean="0"/>
                        <a:t>yes</a:t>
                      </a:r>
                      <a:endParaRPr lang="zh-TW" altLang="en-US" dirty="0"/>
                    </a:p>
                  </a:txBody>
                  <a:tcPr anchor="ctr"/>
                </a:tc>
              </a:tr>
              <a:tr h="382537">
                <a:tc>
                  <a:txBody>
                    <a:bodyPr/>
                    <a:lstStyle/>
                    <a:p>
                      <a:pPr algn="ctr"/>
                      <a:r>
                        <a:rPr lang="en-US" altLang="zh-TW" dirty="0" smtClean="0"/>
                        <a:t>Theoretical base</a:t>
                      </a:r>
                      <a:endParaRPr lang="zh-TW" altLang="en-US" dirty="0"/>
                    </a:p>
                  </a:txBody>
                  <a:tcPr anchor="ctr"/>
                </a:tc>
                <a:tc>
                  <a:txBody>
                    <a:bodyPr/>
                    <a:lstStyle/>
                    <a:p>
                      <a:pPr algn="ctr"/>
                      <a:r>
                        <a:rPr lang="en-US" altLang="zh-TW" dirty="0" smtClean="0"/>
                        <a:t>theory complete</a:t>
                      </a:r>
                      <a:endParaRPr lang="zh-TW" altLang="en-US" dirty="0"/>
                    </a:p>
                  </a:txBody>
                  <a:tcPr anchor="ctr"/>
                </a:tc>
                <a:tc>
                  <a:txBody>
                    <a:bodyPr/>
                    <a:lstStyle/>
                    <a:p>
                      <a:pPr algn="ctr"/>
                      <a:r>
                        <a:rPr lang="en-US" altLang="zh-TW" dirty="0" smtClean="0"/>
                        <a:t>theory complete</a:t>
                      </a:r>
                      <a:endParaRPr lang="zh-TW" altLang="en-US" dirty="0"/>
                    </a:p>
                  </a:txBody>
                  <a:tcPr anchor="ctr"/>
                </a:tc>
                <a:tc>
                  <a:txBody>
                    <a:bodyPr/>
                    <a:lstStyle/>
                    <a:p>
                      <a:pPr algn="ctr"/>
                      <a:r>
                        <a:rPr lang="en-US" altLang="zh-TW" dirty="0" smtClean="0"/>
                        <a:t>empirical</a:t>
                      </a:r>
                      <a:endParaRPr lang="zh-TW" altLang="en-US" dirty="0"/>
                    </a:p>
                  </a:txBody>
                  <a:tcPr anchor="ctr"/>
                </a:tc>
              </a:tr>
            </a:tbl>
          </a:graphicData>
        </a:graphic>
      </p:graphicFrame>
      <p:sp>
        <p:nvSpPr>
          <p:cNvPr id="8" name="矩形 7"/>
          <p:cNvSpPr/>
          <p:nvPr/>
        </p:nvSpPr>
        <p:spPr>
          <a:xfrm>
            <a:off x="467544" y="5805264"/>
            <a:ext cx="8496944" cy="646331"/>
          </a:xfrm>
          <a:prstGeom prst="rect">
            <a:avLst/>
          </a:prstGeom>
        </p:spPr>
        <p:txBody>
          <a:bodyPr wrap="square">
            <a:spAutoFit/>
          </a:bodyPr>
          <a:lstStyle/>
          <a:p>
            <a:r>
              <a:rPr lang="en-US" altLang="zh-TW" dirty="0">
                <a:hlinkClick r:id="rId2"/>
              </a:rPr>
              <a:t>http://</a:t>
            </a:r>
            <a:r>
              <a:rPr lang="en-US" altLang="zh-TW" dirty="0" smtClean="0">
                <a:hlinkClick r:id="rId2"/>
              </a:rPr>
              <a:t>www.scholarpedia.org/article/Hilbert-Huang_transform</a:t>
            </a:r>
            <a:endParaRPr lang="en-US" altLang="zh-TW" dirty="0" smtClean="0"/>
          </a:p>
          <a:p>
            <a:endParaRPr lang="zh-TW" altLang="en-US" dirty="0"/>
          </a:p>
        </p:txBody>
      </p:sp>
    </p:spTree>
    <p:extLst>
      <p:ext uri="{BB962C8B-B14F-4D97-AF65-F5344CB8AC3E}">
        <p14:creationId xmlns:p14="http://schemas.microsoft.com/office/powerpoint/2010/main" val="6701228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Application- finance</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52</a:t>
            </a:fld>
            <a:endParaRPr lang="zh-TW" altLang="en-US"/>
          </a:p>
        </p:txBody>
      </p:sp>
      <p:sp>
        <p:nvSpPr>
          <p:cNvPr id="4" name="矩形 3"/>
          <p:cNvSpPr/>
          <p:nvPr/>
        </p:nvSpPr>
        <p:spPr>
          <a:xfrm>
            <a:off x="683568" y="1340768"/>
            <a:ext cx="8064896" cy="4524315"/>
          </a:xfrm>
          <a:prstGeom prst="rect">
            <a:avLst/>
          </a:prstGeom>
        </p:spPr>
        <p:txBody>
          <a:bodyPr wrap="square">
            <a:spAutoFit/>
          </a:bodyPr>
          <a:lstStyle/>
          <a:p>
            <a:pPr marL="342900" indent="-342900">
              <a:buFont typeface="+mj-lt"/>
              <a:buAutoNum type="arabicPeriod"/>
            </a:pPr>
            <a:r>
              <a:rPr lang="zh-TW" altLang="en-US" dirty="0" smtClean="0"/>
              <a:t>蔡</a:t>
            </a:r>
            <a:r>
              <a:rPr lang="zh-TW" altLang="en-US" dirty="0">
                <a:latin typeface="微軟正黑體" pitchFamily="34" charset="-120"/>
                <a:ea typeface="微軟正黑體" pitchFamily="34" charset="-120"/>
              </a:rPr>
              <a:t>茹</a:t>
            </a:r>
            <a:r>
              <a:rPr lang="zh-TW" altLang="en-US" dirty="0" smtClean="0">
                <a:latin typeface="微軟正黑體" pitchFamily="34" charset="-120"/>
                <a:ea typeface="微軟正黑體" pitchFamily="34" charset="-120"/>
              </a:rPr>
              <a:t>鈴 </a:t>
            </a:r>
            <a:r>
              <a:rPr lang="en-US" altLang="zh-TW" dirty="0" smtClean="0">
                <a:latin typeface="微軟正黑體" pitchFamily="34" charset="-120"/>
                <a:ea typeface="微軟正黑體" pitchFamily="34" charset="-120"/>
              </a:rPr>
              <a:t>(96)，</a:t>
            </a:r>
            <a:r>
              <a:rPr lang="zh-TW" altLang="en-US" dirty="0" smtClean="0">
                <a:latin typeface="微軟正黑體" pitchFamily="34" charset="-120"/>
                <a:ea typeface="微軟正黑體" pitchFamily="34" charset="-120"/>
              </a:rPr>
              <a:t>小</a:t>
            </a:r>
            <a:r>
              <a:rPr lang="zh-TW" altLang="en-US" dirty="0">
                <a:latin typeface="微軟正黑體" pitchFamily="34" charset="-120"/>
                <a:ea typeface="微軟正黑體" pitchFamily="34" charset="-120"/>
              </a:rPr>
              <a:t>波轉換與</a:t>
            </a:r>
            <a:r>
              <a:rPr lang="en-US" altLang="zh-TW" dirty="0">
                <a:latin typeface="微軟正黑體" pitchFamily="34" charset="-120"/>
                <a:ea typeface="微軟正黑體" pitchFamily="34" charset="-120"/>
              </a:rPr>
              <a:t>HHT</a:t>
            </a:r>
            <a:r>
              <a:rPr lang="zh-TW" altLang="en-US" dirty="0">
                <a:latin typeface="微軟正黑體" pitchFamily="34" charset="-120"/>
                <a:ea typeface="微軟正黑體" pitchFamily="34" charset="-120"/>
              </a:rPr>
              <a:t>轉換法在金融股價預測之</a:t>
            </a:r>
            <a:r>
              <a:rPr lang="zh-TW" altLang="en-US" dirty="0" smtClean="0">
                <a:latin typeface="微軟正黑體" pitchFamily="34" charset="-120"/>
                <a:ea typeface="微軟正黑體" pitchFamily="34" charset="-120"/>
              </a:rPr>
              <a:t>應用</a:t>
            </a:r>
            <a:r>
              <a:rPr lang="en-US" altLang="zh-TW" dirty="0" err="1">
                <a:latin typeface="微軟正黑體" pitchFamily="34" charset="-120"/>
                <a:ea typeface="微軟正黑體" pitchFamily="34" charset="-120"/>
              </a:rPr>
              <a:t>碩士論文，應用數學所，逢甲大學</a:t>
            </a:r>
            <a:endParaRPr lang="en-US" altLang="zh-TW" dirty="0" smtClean="0">
              <a:latin typeface="微軟正黑體" pitchFamily="34" charset="-120"/>
              <a:ea typeface="微軟正黑體" pitchFamily="34" charset="-120"/>
            </a:endParaRPr>
          </a:p>
          <a:p>
            <a:pPr marL="342900" indent="-342900">
              <a:buFont typeface="+mj-lt"/>
              <a:buAutoNum type="arabicPeriod"/>
            </a:pPr>
            <a:r>
              <a:rPr lang="zh-TW" altLang="en-US" dirty="0" smtClean="0">
                <a:latin typeface="微軟正黑體" pitchFamily="34" charset="-120"/>
                <a:ea typeface="微軟正黑體" pitchFamily="34" charset="-120"/>
              </a:rPr>
              <a:t>柯宏儒</a:t>
            </a:r>
            <a:r>
              <a:rPr lang="en-US" altLang="zh-TW" dirty="0" smtClean="0">
                <a:latin typeface="微軟正黑體" pitchFamily="34" charset="-120"/>
                <a:ea typeface="微軟正黑體" pitchFamily="34" charset="-120"/>
              </a:rPr>
              <a:t>(97)， </a:t>
            </a:r>
            <a:r>
              <a:rPr lang="zh-TW" altLang="en-US" dirty="0" smtClean="0">
                <a:latin typeface="微軟正黑體" pitchFamily="34" charset="-120"/>
                <a:ea typeface="微軟正黑體" pitchFamily="34" charset="-120"/>
              </a:rPr>
              <a:t>以</a:t>
            </a:r>
            <a:r>
              <a:rPr lang="zh-TW" altLang="en-US" dirty="0">
                <a:latin typeface="微軟正黑體" pitchFamily="34" charset="-120"/>
                <a:ea typeface="微軟正黑體" pitchFamily="34" charset="-120"/>
              </a:rPr>
              <a:t>小波與</a:t>
            </a:r>
            <a:r>
              <a:rPr lang="en-US" altLang="zh-TW" dirty="0">
                <a:latin typeface="微軟正黑體" pitchFamily="34" charset="-120"/>
                <a:ea typeface="微軟正黑體" pitchFamily="34" charset="-120"/>
              </a:rPr>
              <a:t>HHT</a:t>
            </a:r>
            <a:r>
              <a:rPr lang="zh-TW" altLang="en-US" dirty="0">
                <a:latin typeface="微軟正黑體" pitchFamily="34" charset="-120"/>
                <a:ea typeface="微軟正黑體" pitchFamily="34" charset="-120"/>
              </a:rPr>
              <a:t>轉換為基礎利用二次自我迴歸模型預測金融</a:t>
            </a:r>
            <a:r>
              <a:rPr lang="zh-TW" altLang="en-US" dirty="0" smtClean="0">
                <a:latin typeface="微軟正黑體" pitchFamily="34" charset="-120"/>
                <a:ea typeface="微軟正黑體" pitchFamily="34" charset="-120"/>
              </a:rPr>
              <a:t>股價</a:t>
            </a:r>
            <a:r>
              <a:rPr lang="zh-TW" altLang="en-US" dirty="0">
                <a:latin typeface="微軟正黑體" pitchFamily="34" charset="-120"/>
                <a:ea typeface="微軟正黑體" pitchFamily="34" charset="-120"/>
              </a:rPr>
              <a:t>，</a:t>
            </a:r>
            <a:r>
              <a:rPr lang="en-US" altLang="zh-TW" dirty="0" smtClean="0">
                <a:latin typeface="微軟正黑體" pitchFamily="34" charset="-120"/>
                <a:ea typeface="微軟正黑體" pitchFamily="34" charset="-120"/>
              </a:rPr>
              <a:t> </a:t>
            </a:r>
            <a:r>
              <a:rPr lang="en-US" altLang="zh-TW" dirty="0" err="1" smtClean="0">
                <a:latin typeface="微軟正黑體" pitchFamily="34" charset="-120"/>
                <a:ea typeface="微軟正黑體" pitchFamily="34" charset="-120"/>
              </a:rPr>
              <a:t>碩士論文，應用數學所，逢甲大學</a:t>
            </a:r>
            <a:endParaRPr lang="en-US" altLang="zh-TW" dirty="0" smtClean="0">
              <a:latin typeface="微軟正黑體" pitchFamily="34" charset="-120"/>
              <a:ea typeface="微軟正黑體" pitchFamily="34" charset="-120"/>
            </a:endParaRPr>
          </a:p>
          <a:p>
            <a:r>
              <a:rPr lang="zh-TW" altLang="en-US" dirty="0" smtClean="0">
                <a:solidFill>
                  <a:srgbClr val="C00000"/>
                </a:solidFill>
                <a:latin typeface="微軟正黑體" pitchFamily="34" charset="-120"/>
                <a:ea typeface="微軟正黑體" pitchFamily="34" charset="-120"/>
              </a:rPr>
              <a:t>以</a:t>
            </a:r>
            <a:r>
              <a:rPr lang="en-US" altLang="zh-TW" dirty="0" err="1" smtClean="0">
                <a:solidFill>
                  <a:srgbClr val="C00000"/>
                </a:solidFill>
                <a:latin typeface="微軟正黑體" pitchFamily="34" charset="-120"/>
                <a:ea typeface="微軟正黑體" pitchFamily="34" charset="-120"/>
              </a:rPr>
              <a:t>HHT做為金融股價預測，其預測準確率小波轉換高，且較容易觀察股價訊息</a:t>
            </a:r>
            <a:endParaRPr lang="en-US" altLang="zh-TW" dirty="0" smtClean="0">
              <a:solidFill>
                <a:srgbClr val="C00000"/>
              </a:solidFill>
              <a:latin typeface="微軟正黑體" pitchFamily="34" charset="-120"/>
              <a:ea typeface="微軟正黑體" pitchFamily="34" charset="-120"/>
            </a:endParaRPr>
          </a:p>
          <a:p>
            <a:endParaRPr lang="en-US" altLang="zh-TW" dirty="0">
              <a:solidFill>
                <a:srgbClr val="C00000"/>
              </a:solidFill>
              <a:latin typeface="微軟正黑體" pitchFamily="34" charset="-120"/>
              <a:ea typeface="微軟正黑體" pitchFamily="34" charset="-120"/>
            </a:endParaRPr>
          </a:p>
          <a:p>
            <a:r>
              <a:rPr lang="nb-NO" altLang="zh-TW" dirty="0" smtClean="0">
                <a:latin typeface="微軟正黑體" pitchFamily="34" charset="-120"/>
                <a:ea typeface="微軟正黑體" pitchFamily="34" charset="-120"/>
              </a:rPr>
              <a:t>3. Norden </a:t>
            </a:r>
            <a:r>
              <a:rPr lang="nb-NO" altLang="zh-TW" dirty="0">
                <a:latin typeface="微軟正黑體" pitchFamily="34" charset="-120"/>
                <a:ea typeface="微軟正黑體" pitchFamily="34" charset="-120"/>
              </a:rPr>
              <a:t>E. </a:t>
            </a:r>
            <a:r>
              <a:rPr lang="nb-NO" altLang="zh-TW" dirty="0" smtClean="0">
                <a:latin typeface="微軟正黑體" pitchFamily="34" charset="-120"/>
                <a:ea typeface="微軟正黑體" pitchFamily="34" charset="-120"/>
              </a:rPr>
              <a:t>Huang, </a:t>
            </a:r>
            <a:r>
              <a:rPr lang="nb-NO" altLang="zh-TW" dirty="0">
                <a:latin typeface="微軟正黑體" pitchFamily="34" charset="-120"/>
                <a:ea typeface="微軟正黑體" pitchFamily="34" charset="-120"/>
              </a:rPr>
              <a:t>Man-Li </a:t>
            </a:r>
            <a:r>
              <a:rPr lang="nb-NO" altLang="zh-TW" dirty="0" smtClean="0">
                <a:latin typeface="微軟正黑體" pitchFamily="34" charset="-120"/>
                <a:ea typeface="微軟正黑體" pitchFamily="34" charset="-120"/>
              </a:rPr>
              <a:t>Wu, </a:t>
            </a:r>
            <a:r>
              <a:rPr lang="nb-NO" altLang="zh-TW" dirty="0">
                <a:latin typeface="微軟正黑體" pitchFamily="34" charset="-120"/>
                <a:ea typeface="微軟正黑體" pitchFamily="34" charset="-120"/>
              </a:rPr>
              <a:t>Wendong </a:t>
            </a:r>
            <a:r>
              <a:rPr lang="nb-NO" altLang="zh-TW" dirty="0" smtClean="0">
                <a:latin typeface="微軟正黑體" pitchFamily="34" charset="-120"/>
                <a:ea typeface="微軟正黑體" pitchFamily="34" charset="-120"/>
              </a:rPr>
              <a:t>Qu, </a:t>
            </a:r>
            <a:r>
              <a:rPr lang="nb-NO" altLang="zh-TW" dirty="0">
                <a:latin typeface="微軟正黑體" pitchFamily="34" charset="-120"/>
                <a:ea typeface="微軟正黑體" pitchFamily="34" charset="-120"/>
              </a:rPr>
              <a:t>Steven R. </a:t>
            </a:r>
            <a:r>
              <a:rPr lang="nb-NO" altLang="zh-TW" dirty="0" smtClean="0">
                <a:latin typeface="微軟正黑體" pitchFamily="34" charset="-120"/>
                <a:ea typeface="微軟正黑體" pitchFamily="34" charset="-120"/>
              </a:rPr>
              <a:t>Long , </a:t>
            </a:r>
            <a:r>
              <a:rPr lang="nb-NO" altLang="zh-TW" dirty="0">
                <a:latin typeface="微軟正黑體" pitchFamily="34" charset="-120"/>
                <a:ea typeface="微軟正黑體" pitchFamily="34" charset="-120"/>
              </a:rPr>
              <a:t>Samuel S. P. </a:t>
            </a:r>
            <a:r>
              <a:rPr lang="nb-NO" altLang="zh-TW" dirty="0" smtClean="0">
                <a:latin typeface="微軟正黑體" pitchFamily="34" charset="-120"/>
                <a:ea typeface="微軟正黑體" pitchFamily="34" charset="-120"/>
              </a:rPr>
              <a:t>Shen,  </a:t>
            </a:r>
            <a:r>
              <a:rPr lang="en-US" altLang="zh-TW" dirty="0" smtClean="0"/>
              <a:t>”</a:t>
            </a:r>
            <a:r>
              <a:rPr lang="en-US" altLang="zh-TW" dirty="0" smtClean="0">
                <a:latin typeface="微軟正黑體" pitchFamily="34" charset="-120"/>
                <a:ea typeface="微軟正黑體" pitchFamily="34" charset="-120"/>
              </a:rPr>
              <a:t>Applications </a:t>
            </a:r>
            <a:r>
              <a:rPr lang="en-US" altLang="zh-TW" dirty="0">
                <a:latin typeface="微軟正黑體" pitchFamily="34" charset="-120"/>
                <a:ea typeface="微軟正黑體" pitchFamily="34" charset="-120"/>
              </a:rPr>
              <a:t>of Hilbert–Huang transform to non-stationary financial time series </a:t>
            </a:r>
            <a:r>
              <a:rPr lang="en-US" altLang="zh-TW" dirty="0" smtClean="0">
                <a:latin typeface="微軟正黑體" pitchFamily="34" charset="-120"/>
                <a:ea typeface="微軟正黑體" pitchFamily="34" charset="-120"/>
              </a:rPr>
              <a:t>analysis, </a:t>
            </a:r>
            <a:r>
              <a:rPr lang="en-US" altLang="zh-TW" dirty="0" smtClean="0"/>
              <a:t>” </a:t>
            </a:r>
            <a:r>
              <a:rPr lang="en-US" altLang="zh-TW" dirty="0"/>
              <a:t>Applied Stochastic Models in Business and </a:t>
            </a:r>
            <a:r>
              <a:rPr lang="en-US" altLang="zh-TW" dirty="0" smtClean="0"/>
              <a:t>Industry, Vol. 19, Issue 3, pp. 245-268, 2003.</a:t>
            </a:r>
          </a:p>
          <a:p>
            <a:r>
              <a:rPr lang="zh-TW" altLang="en-US" dirty="0" smtClean="0">
                <a:solidFill>
                  <a:srgbClr val="C00000"/>
                </a:solidFill>
                <a:latin typeface="微軟正黑體" pitchFamily="34" charset="-120"/>
                <a:ea typeface="微軟正黑體" pitchFamily="34" charset="-120"/>
              </a:rPr>
              <a:t>說明了</a:t>
            </a:r>
            <a:r>
              <a:rPr lang="en-US" altLang="zh-TW" dirty="0" err="1" smtClean="0">
                <a:solidFill>
                  <a:srgbClr val="C00000"/>
                </a:solidFill>
                <a:latin typeface="微軟正黑體" pitchFamily="34" charset="-120"/>
                <a:ea typeface="微軟正黑體" pitchFamily="34" charset="-120"/>
              </a:rPr>
              <a:t>HHT用於金融商品時間序列時的的特性</a:t>
            </a:r>
            <a:endParaRPr lang="en-US" altLang="zh-TW" dirty="0" smtClean="0">
              <a:solidFill>
                <a:srgbClr val="C00000"/>
              </a:solidFill>
              <a:latin typeface="微軟正黑體" pitchFamily="34" charset="-120"/>
              <a:ea typeface="微軟正黑體" pitchFamily="34" charset="-120"/>
            </a:endParaRPr>
          </a:p>
          <a:p>
            <a:endParaRPr lang="en-US" altLang="zh-TW" dirty="0" smtClean="0">
              <a:solidFill>
                <a:srgbClr val="C00000"/>
              </a:solidFill>
              <a:latin typeface="微軟正黑體" pitchFamily="34" charset="-120"/>
              <a:ea typeface="微軟正黑體" pitchFamily="34" charset="-120"/>
            </a:endParaRPr>
          </a:p>
          <a:p>
            <a:r>
              <a:rPr lang="en-US" altLang="zh-TW" dirty="0">
                <a:latin typeface="微軟正黑體" pitchFamily="34" charset="-120"/>
                <a:ea typeface="微軟正黑體" pitchFamily="34" charset="-120"/>
              </a:rPr>
              <a:t>4. Lean </a:t>
            </a:r>
            <a:r>
              <a:rPr lang="en-US" altLang="zh-TW" dirty="0" err="1" smtClean="0">
                <a:latin typeface="微軟正黑體" pitchFamily="34" charset="-120"/>
                <a:ea typeface="微軟正黑體" pitchFamily="34" charset="-120"/>
              </a:rPr>
              <a:t>Yua</a:t>
            </a:r>
            <a:r>
              <a:rPr lang="en-US" altLang="zh-TW" dirty="0" smtClean="0">
                <a:latin typeface="微軟正黑體" pitchFamily="34" charset="-120"/>
                <a:ea typeface="微軟正黑體" pitchFamily="34" charset="-120"/>
              </a:rPr>
              <a:t>, </a:t>
            </a:r>
            <a:r>
              <a:rPr lang="en-US" altLang="zh-TW" dirty="0" err="1">
                <a:latin typeface="微軟正黑體" pitchFamily="34" charset="-120"/>
                <a:ea typeface="微軟正黑體" pitchFamily="34" charset="-120"/>
              </a:rPr>
              <a:t>Shouyang</a:t>
            </a:r>
            <a:r>
              <a:rPr lang="en-US" altLang="zh-TW" dirty="0">
                <a:latin typeface="微軟正黑體" pitchFamily="34" charset="-120"/>
                <a:ea typeface="微軟正黑體" pitchFamily="34" charset="-120"/>
              </a:rPr>
              <a:t> </a:t>
            </a:r>
            <a:r>
              <a:rPr lang="en-US" altLang="zh-TW" dirty="0" smtClean="0">
                <a:latin typeface="微軟正黑體" pitchFamily="34" charset="-120"/>
                <a:ea typeface="微軟正黑體" pitchFamily="34" charset="-120"/>
              </a:rPr>
              <a:t>Wang, </a:t>
            </a:r>
            <a:r>
              <a:rPr lang="en-US" altLang="zh-TW" dirty="0">
                <a:latin typeface="微軟正黑體" pitchFamily="34" charset="-120"/>
                <a:ea typeface="微軟正黑體" pitchFamily="34" charset="-120"/>
              </a:rPr>
              <a:t>Kin Keung </a:t>
            </a:r>
            <a:r>
              <a:rPr lang="en-US" altLang="zh-TW" dirty="0" smtClean="0">
                <a:latin typeface="微軟正黑體" pitchFamily="34" charset="-120"/>
                <a:ea typeface="微軟正黑體" pitchFamily="34" charset="-120"/>
              </a:rPr>
              <a:t>Lai, </a:t>
            </a:r>
            <a:r>
              <a:rPr lang="en-US" altLang="zh-TW" dirty="0" err="1">
                <a:latin typeface="微軟正黑體" pitchFamily="34" charset="-120"/>
                <a:ea typeface="微軟正黑體" pitchFamily="34" charset="-120"/>
              </a:rPr>
              <a:t>Fenghua</a:t>
            </a:r>
            <a:r>
              <a:rPr lang="en-US" altLang="zh-TW" dirty="0">
                <a:latin typeface="微軟正黑體" pitchFamily="34" charset="-120"/>
                <a:ea typeface="微軟正黑體" pitchFamily="34" charset="-120"/>
              </a:rPr>
              <a:t> Wen, “A </a:t>
            </a:r>
            <a:r>
              <a:rPr lang="en-US" altLang="zh-TW" dirty="0" err="1">
                <a:latin typeface="微軟正黑體" pitchFamily="34" charset="-120"/>
                <a:ea typeface="微軟正黑體" pitchFamily="34" charset="-120"/>
              </a:rPr>
              <a:t>multiscale</a:t>
            </a:r>
            <a:r>
              <a:rPr lang="en-US" altLang="zh-TW" dirty="0">
                <a:latin typeface="微軟正黑體" pitchFamily="34" charset="-120"/>
                <a:ea typeface="微軟正黑體" pitchFamily="34" charset="-120"/>
              </a:rPr>
              <a:t> neural network learning paradigm for financial crisis forecasting,” </a:t>
            </a:r>
            <a:r>
              <a:rPr lang="en-US" altLang="zh-TW" dirty="0" err="1" smtClean="0">
                <a:latin typeface="微軟正黑體" pitchFamily="34" charset="-120"/>
                <a:ea typeface="微軟正黑體" pitchFamily="34" charset="-120"/>
              </a:rPr>
              <a:t>Neurocomputing</a:t>
            </a:r>
            <a:r>
              <a:rPr lang="en-US" altLang="zh-TW" dirty="0" smtClean="0">
                <a:latin typeface="微軟正黑體" pitchFamily="34" charset="-120"/>
                <a:ea typeface="微軟正黑體" pitchFamily="34" charset="-120"/>
              </a:rPr>
              <a:t>, Vol.  73, Issue 4-6, pp. 716-725, 2010.</a:t>
            </a:r>
          </a:p>
          <a:p>
            <a:endParaRPr lang="zh-TW" altLang="en-US" dirty="0">
              <a:latin typeface="微軟正黑體" pitchFamily="34" charset="-120"/>
              <a:ea typeface="微軟正黑體" pitchFamily="34" charset="-120"/>
            </a:endParaRPr>
          </a:p>
        </p:txBody>
      </p:sp>
    </p:spTree>
    <p:extLst>
      <p:ext uri="{BB962C8B-B14F-4D97-AF65-F5344CB8AC3E}">
        <p14:creationId xmlns:p14="http://schemas.microsoft.com/office/powerpoint/2010/main" val="380995094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Application-Bioinformatics</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53</a:t>
            </a:fld>
            <a:endParaRPr lang="zh-TW" altLang="en-US"/>
          </a:p>
        </p:txBody>
      </p:sp>
      <p:sp>
        <p:nvSpPr>
          <p:cNvPr id="4" name="文字方塊 3"/>
          <p:cNvSpPr txBox="1"/>
          <p:nvPr/>
        </p:nvSpPr>
        <p:spPr>
          <a:xfrm>
            <a:off x="683568" y="1556792"/>
            <a:ext cx="7488832" cy="3788858"/>
          </a:xfrm>
          <a:prstGeom prst="rect">
            <a:avLst/>
          </a:prstGeom>
          <a:noFill/>
        </p:spPr>
        <p:txBody>
          <a:bodyPr wrap="square" rtlCol="0">
            <a:spAutoFit/>
          </a:bodyPr>
          <a:lstStyle/>
          <a:p>
            <a:pPr marL="342900" indent="-342900">
              <a:lnSpc>
                <a:spcPct val="150000"/>
              </a:lnSpc>
              <a:buFont typeface="+mj-lt"/>
              <a:buAutoNum type="arabicPeriod"/>
            </a:pPr>
            <a:r>
              <a:rPr lang="pl-PL" altLang="zh-TW" dirty="0"/>
              <a:t>Feng Shi , Qiu-Jian Chen &amp; Na-na Li </a:t>
            </a:r>
            <a:r>
              <a:rPr lang="en-US" altLang="zh-TW" dirty="0" smtClean="0"/>
              <a:t>, “Hilbert </a:t>
            </a:r>
            <a:r>
              <a:rPr lang="en-US" altLang="zh-TW" dirty="0"/>
              <a:t>Huang transform for predicting proteins subcellular location,” J. Biomedical Science and </a:t>
            </a:r>
            <a:r>
              <a:rPr lang="en-US" altLang="zh-TW" dirty="0" smtClean="0"/>
              <a:t>Engineering, Vol. 1, pp. 59-63, 2003.</a:t>
            </a:r>
          </a:p>
          <a:p>
            <a:pPr marL="342900" indent="-342900">
              <a:lnSpc>
                <a:spcPct val="150000"/>
              </a:lnSpc>
              <a:buFont typeface="+mj-lt"/>
              <a:buAutoNum type="arabicPeriod"/>
            </a:pPr>
            <a:r>
              <a:rPr lang="sv-SE" altLang="zh-TW" dirty="0"/>
              <a:t>Rong </a:t>
            </a:r>
            <a:r>
              <a:rPr lang="sv-SE" altLang="zh-TW" dirty="0" smtClean="0"/>
              <a:t>Jianga, </a:t>
            </a:r>
            <a:r>
              <a:rPr lang="sv-SE" altLang="zh-TW" dirty="0"/>
              <a:t>Hong </a:t>
            </a:r>
            <a:r>
              <a:rPr lang="sv-SE" altLang="zh-TW" dirty="0" smtClean="0"/>
              <a:t>Yana, ”</a:t>
            </a:r>
            <a:r>
              <a:rPr lang="en-US" altLang="zh-TW" dirty="0" smtClean="0"/>
              <a:t>Studies </a:t>
            </a:r>
            <a:r>
              <a:rPr lang="en-US" altLang="zh-TW" dirty="0"/>
              <a:t>of spectral properties of short genes using the wavelet subspace Hilbert–</a:t>
            </a:r>
            <a:r>
              <a:rPr lang="en-US" altLang="zh-TW" dirty="0" err="1"/>
              <a:t>Huangtransform</a:t>
            </a:r>
            <a:r>
              <a:rPr lang="en-US" altLang="zh-TW" dirty="0"/>
              <a:t>(WSHHT),” </a:t>
            </a:r>
            <a:r>
              <a:rPr lang="en-US" altLang="zh-TW" dirty="0" err="1"/>
              <a:t>Physica</a:t>
            </a:r>
            <a:r>
              <a:rPr lang="en-US" altLang="zh-TW" dirty="0"/>
              <a:t> A: Statistical Mechanics and its </a:t>
            </a:r>
            <a:r>
              <a:rPr lang="en-US" altLang="zh-TW" dirty="0" smtClean="0"/>
              <a:t>Applications, vol. 387, pp. 4223-4247, 2008.</a:t>
            </a:r>
          </a:p>
          <a:p>
            <a:pPr marL="342900" indent="-342900">
              <a:lnSpc>
                <a:spcPct val="150000"/>
              </a:lnSpc>
              <a:buFont typeface="+mj-lt"/>
              <a:buAutoNum type="arabicPeriod"/>
            </a:pPr>
            <a:r>
              <a:rPr lang="en-US" altLang="zh-TW" dirty="0"/>
              <a:t>Wei-</a:t>
            </a:r>
            <a:r>
              <a:rPr lang="en-US" altLang="zh-TW" dirty="0" err="1"/>
              <a:t>Feng</a:t>
            </a:r>
            <a:r>
              <a:rPr lang="en-US" altLang="zh-TW" dirty="0"/>
              <a:t> </a:t>
            </a:r>
            <a:r>
              <a:rPr lang="en-US" altLang="zh-TW" dirty="0" smtClean="0"/>
              <a:t>Zhang, </a:t>
            </a:r>
            <a:r>
              <a:rPr lang="en-US" altLang="zh-TW" dirty="0"/>
              <a:t>Hong </a:t>
            </a:r>
            <a:r>
              <a:rPr lang="en-US" altLang="zh-TW" dirty="0" smtClean="0"/>
              <a:t>Yan, “Exon </a:t>
            </a:r>
            <a:r>
              <a:rPr lang="en-US" altLang="zh-TW" dirty="0"/>
              <a:t>prediction using empirical mode decomposition and Fourier transform of structural profiles of DNA sequences ,” Pattern </a:t>
            </a:r>
            <a:r>
              <a:rPr lang="en-US" altLang="zh-TW" dirty="0" smtClean="0"/>
              <a:t>Recognition, vol. 45, pp.947-955, 2012.</a:t>
            </a:r>
            <a:endParaRPr lang="zh-TW" altLang="en-US" dirty="0"/>
          </a:p>
        </p:txBody>
      </p:sp>
    </p:spTree>
    <p:extLst>
      <p:ext uri="{BB962C8B-B14F-4D97-AF65-F5344CB8AC3E}">
        <p14:creationId xmlns:p14="http://schemas.microsoft.com/office/powerpoint/2010/main" val="286028360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Program</a:t>
            </a:r>
            <a:endParaRPr lang="zh-TW" altLang="en-US" dirty="0"/>
          </a:p>
        </p:txBody>
      </p:sp>
      <p:sp>
        <p:nvSpPr>
          <p:cNvPr id="3" name="投影片編號版面配置區 2"/>
          <p:cNvSpPr>
            <a:spLocks noGrp="1"/>
          </p:cNvSpPr>
          <p:nvPr>
            <p:ph type="sldNum" sz="quarter" idx="12"/>
          </p:nvPr>
        </p:nvSpPr>
        <p:spPr/>
        <p:txBody>
          <a:bodyPr/>
          <a:lstStyle/>
          <a:p>
            <a:fld id="{DFB2A201-8A46-40D3-BE72-AC6B75F3F883}" type="slidenum">
              <a:rPr lang="zh-TW" altLang="en-US" smtClean="0"/>
              <a:pPr/>
              <a:t>54</a:t>
            </a:fld>
            <a:endParaRPr lang="zh-TW" altLang="en-US"/>
          </a:p>
        </p:txBody>
      </p:sp>
      <p:sp>
        <p:nvSpPr>
          <p:cNvPr id="4" name="矩形 3"/>
          <p:cNvSpPr/>
          <p:nvPr/>
        </p:nvSpPr>
        <p:spPr>
          <a:xfrm>
            <a:off x="467544" y="1484784"/>
            <a:ext cx="8352928" cy="5693866"/>
          </a:xfrm>
          <a:prstGeom prst="rect">
            <a:avLst/>
          </a:prstGeom>
        </p:spPr>
        <p:txBody>
          <a:bodyPr wrap="square">
            <a:spAutoFit/>
          </a:bodyPr>
          <a:lstStyle/>
          <a:p>
            <a:r>
              <a:rPr lang="en-US" altLang="zh-TW" sz="2800" dirty="0" err="1" smtClean="0">
                <a:solidFill>
                  <a:srgbClr val="FF0000"/>
                </a:solidFill>
              </a:rPr>
              <a:t>Matlab</a:t>
            </a:r>
            <a:r>
              <a:rPr lang="en-US" altLang="zh-TW" sz="2800" dirty="0" smtClean="0">
                <a:solidFill>
                  <a:srgbClr val="FF0000"/>
                </a:solidFill>
              </a:rPr>
              <a:t>: </a:t>
            </a:r>
          </a:p>
          <a:p>
            <a:pPr marL="457200" indent="-457200">
              <a:buFont typeface="Arial" pitchFamily="34" charset="0"/>
              <a:buChar char="•"/>
            </a:pPr>
            <a:r>
              <a:rPr lang="en-US" altLang="zh-TW" sz="2800" dirty="0" smtClean="0">
                <a:hlinkClick r:id="rId2"/>
              </a:rPr>
              <a:t>http</a:t>
            </a:r>
            <a:r>
              <a:rPr lang="en-US" altLang="zh-TW" sz="2800" dirty="0">
                <a:hlinkClick r:id="rId2"/>
              </a:rPr>
              <a:t>://</a:t>
            </a:r>
            <a:r>
              <a:rPr lang="en-US" altLang="zh-TW" sz="2800" dirty="0" smtClean="0">
                <a:hlinkClick r:id="rId2"/>
              </a:rPr>
              <a:t>www.mathworks.com/matlabcentral/fileexchange/19681-hilbert-huang-transform</a:t>
            </a:r>
            <a:endParaRPr lang="en-US" altLang="zh-TW" sz="2800" dirty="0" smtClean="0"/>
          </a:p>
          <a:p>
            <a:pPr marL="457200" indent="-457200">
              <a:buFont typeface="Arial" pitchFamily="34" charset="0"/>
              <a:buChar char="•"/>
            </a:pPr>
            <a:r>
              <a:rPr lang="en-US" altLang="zh-TW" sz="2800" dirty="0">
                <a:hlinkClick r:id="rId3"/>
              </a:rPr>
              <a:t>http://</a:t>
            </a:r>
            <a:r>
              <a:rPr lang="en-US" altLang="zh-TW" sz="2800" dirty="0" smtClean="0">
                <a:hlinkClick r:id="rId3"/>
              </a:rPr>
              <a:t>www.mathworks.com/matlabcentral/fileexchange/21409-empirical-mode-decomposition</a:t>
            </a:r>
            <a:r>
              <a:rPr lang="en-US" altLang="zh-TW" sz="2800" dirty="0" smtClean="0"/>
              <a:t/>
            </a:r>
            <a:br>
              <a:rPr lang="en-US" altLang="zh-TW" sz="2800" dirty="0" smtClean="0"/>
            </a:br>
            <a:endParaRPr lang="en-US" altLang="zh-TW" sz="2800" dirty="0" smtClean="0"/>
          </a:p>
          <a:p>
            <a:pPr marL="457200" indent="-457200">
              <a:buFont typeface="Arial" pitchFamily="34" charset="0"/>
              <a:buChar char="•"/>
            </a:pPr>
            <a:r>
              <a:rPr lang="zh-TW" altLang="en-US" sz="2800" dirty="0">
                <a:latin typeface="微軟正黑體" pitchFamily="34" charset="-120"/>
                <a:ea typeface="微軟正黑體" pitchFamily="34" charset="-120"/>
              </a:rPr>
              <a:t>數據分析方法研究中心 </a:t>
            </a:r>
            <a:r>
              <a:rPr lang="en-US" altLang="zh-TW" sz="2800" dirty="0">
                <a:latin typeface="微軟正黑體" pitchFamily="34" charset="-120"/>
                <a:ea typeface="微軟正黑體" pitchFamily="34" charset="-120"/>
              </a:rPr>
              <a:t>- </a:t>
            </a:r>
            <a:r>
              <a:rPr lang="zh-TW" altLang="en-US" sz="2800" dirty="0">
                <a:latin typeface="微軟正黑體" pitchFamily="34" charset="-120"/>
                <a:ea typeface="微軟正黑體" pitchFamily="34" charset="-120"/>
              </a:rPr>
              <a:t>國立中央</a:t>
            </a:r>
            <a:r>
              <a:rPr lang="zh-TW" altLang="en-US" sz="2800" dirty="0" smtClean="0">
                <a:latin typeface="微軟正黑體" pitchFamily="34" charset="-120"/>
                <a:ea typeface="微軟正黑體" pitchFamily="34" charset="-120"/>
              </a:rPr>
              <a:t>大學</a:t>
            </a:r>
            <a:r>
              <a:rPr lang="en-US" altLang="zh-TW" sz="2800" dirty="0" smtClean="0">
                <a:hlinkClick r:id="rId4"/>
              </a:rPr>
              <a:t>  http</a:t>
            </a:r>
            <a:r>
              <a:rPr lang="en-US" altLang="zh-TW" sz="2800" dirty="0">
                <a:hlinkClick r:id="rId4"/>
              </a:rPr>
              <a:t>://</a:t>
            </a:r>
            <a:r>
              <a:rPr lang="en-US" altLang="zh-TW" sz="2800" dirty="0" smtClean="0">
                <a:hlinkClick r:id="rId4"/>
              </a:rPr>
              <a:t>rcada.ncu.edu.tw/research1.htm</a:t>
            </a:r>
            <a:endParaRPr lang="en-US" altLang="zh-TW" sz="2800" dirty="0"/>
          </a:p>
          <a:p>
            <a:pPr marL="457200" indent="-457200">
              <a:buFont typeface="Arial" pitchFamily="34" charset="0"/>
              <a:buChar char="•"/>
            </a:pPr>
            <a:r>
              <a:rPr lang="en-US" altLang="zh-TW" sz="2800" smtClean="0"/>
              <a:t>Video lecture</a:t>
            </a:r>
            <a:br>
              <a:rPr lang="en-US" altLang="zh-TW" sz="2800" smtClean="0"/>
            </a:br>
            <a:r>
              <a:rPr lang="en-US" altLang="zh-TW" sz="2800" smtClean="0">
                <a:hlinkClick r:id="rId5"/>
              </a:rPr>
              <a:t>http</a:t>
            </a:r>
            <a:r>
              <a:rPr lang="en-US" altLang="zh-TW" sz="2800" dirty="0">
                <a:hlinkClick r:id="rId5"/>
              </a:rPr>
              <a:t>://rcada.ncu.edu.tw/class2008.htm</a:t>
            </a:r>
            <a:endParaRPr lang="en-US" altLang="zh-TW" sz="2800" dirty="0"/>
          </a:p>
          <a:p>
            <a:endParaRPr lang="zh-TW" altLang="en-US" sz="2800" dirty="0"/>
          </a:p>
          <a:p>
            <a:pPr marL="457200" indent="-457200">
              <a:buFont typeface="Arial" pitchFamily="34" charset="0"/>
              <a:buChar char="•"/>
            </a:pPr>
            <a:endParaRPr lang="en-US" altLang="zh-TW" sz="2800" dirty="0" smtClean="0"/>
          </a:p>
          <a:p>
            <a:endParaRPr lang="zh-TW" altLang="en-US" sz="2800" dirty="0"/>
          </a:p>
        </p:txBody>
      </p:sp>
      <p:sp>
        <p:nvSpPr>
          <p:cNvPr id="5" name="矩形 4"/>
          <p:cNvSpPr/>
          <p:nvPr/>
        </p:nvSpPr>
        <p:spPr>
          <a:xfrm>
            <a:off x="971600" y="5297171"/>
            <a:ext cx="7200800" cy="523220"/>
          </a:xfrm>
          <a:prstGeom prst="rect">
            <a:avLst/>
          </a:prstGeom>
        </p:spPr>
        <p:txBody>
          <a:bodyPr wrap="square">
            <a:spAutoFit/>
          </a:bodyPr>
          <a:lstStyle/>
          <a:p>
            <a:endParaRPr lang="zh-TW" altLang="en-US" sz="2800" dirty="0"/>
          </a:p>
        </p:txBody>
      </p:sp>
    </p:spTree>
    <p:extLst>
      <p:ext uri="{BB962C8B-B14F-4D97-AF65-F5344CB8AC3E}">
        <p14:creationId xmlns:p14="http://schemas.microsoft.com/office/powerpoint/2010/main" val="48706144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750px-GNU_Tux_Revolution_-_white_background_-1280x1024.png"/>
          <p:cNvPicPr>
            <a:picLocks noChangeAspect="1"/>
          </p:cNvPicPr>
          <p:nvPr/>
        </p:nvPicPr>
        <p:blipFill>
          <a:blip r:embed="rId2" cstate="print">
            <a:lum bright="10000"/>
          </a:blip>
          <a:srcRect/>
          <a:stretch>
            <a:fillRect/>
          </a:stretch>
        </p:blipFill>
        <p:spPr>
          <a:xfrm>
            <a:off x="323528" y="2996952"/>
            <a:ext cx="8572500" cy="302433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4" name="文字方塊 3"/>
          <p:cNvSpPr txBox="1"/>
          <p:nvPr/>
        </p:nvSpPr>
        <p:spPr>
          <a:xfrm>
            <a:off x="1475656" y="1196752"/>
            <a:ext cx="6192688" cy="1569660"/>
          </a:xfrm>
          <a:prstGeom prst="rect">
            <a:avLst/>
          </a:prstGeom>
          <a:noFill/>
        </p:spPr>
        <p:txBody>
          <a:bodyPr wrap="square" rtlCol="0">
            <a:spAutoFit/>
          </a:bodyPr>
          <a:lstStyle/>
          <a:p>
            <a:pPr algn="ctr"/>
            <a:r>
              <a:rPr lang="en-US" altLang="zh-TW" sz="9600" dirty="0" smtClean="0"/>
              <a:t>Thank you!!</a:t>
            </a:r>
            <a:endParaRPr lang="zh-TW" altLang="en-US" sz="9600" dirty="0"/>
          </a:p>
        </p:txBody>
      </p:sp>
    </p:spTree>
    <p:extLst>
      <p:ext uri="{BB962C8B-B14F-4D97-AF65-F5344CB8AC3E}">
        <p14:creationId xmlns:p14="http://schemas.microsoft.com/office/powerpoint/2010/main" val="22851566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754</TotalTime>
  <Words>3687</Words>
  <Application>Microsoft Office PowerPoint</Application>
  <PresentationFormat>如螢幕大小 (4:3)</PresentationFormat>
  <Paragraphs>339</Paragraphs>
  <Slides>55</Slides>
  <Notes>2</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55</vt:i4>
      </vt:variant>
    </vt:vector>
  </HeadingPairs>
  <TitlesOfParts>
    <vt:vector size="57" baseType="lpstr">
      <vt:lpstr>Office 佈景主題</vt:lpstr>
      <vt:lpstr>Equation</vt:lpstr>
      <vt:lpstr>The empirical mode decomposition and the Hilbert spectrum for nonlinear and non-stationary time series analysis</vt:lpstr>
      <vt:lpstr>Abstract (1)</vt:lpstr>
      <vt:lpstr>Abstract (2)</vt:lpstr>
      <vt:lpstr>黃鍔博士 (Norden E. Huang) 簡介</vt:lpstr>
      <vt:lpstr>Introduction</vt:lpstr>
      <vt:lpstr>Fourier series</vt:lpstr>
      <vt:lpstr>Fourier transform</vt:lpstr>
      <vt:lpstr>PowerPoint 簡報</vt:lpstr>
      <vt:lpstr>PowerPoint 簡報</vt:lpstr>
      <vt:lpstr>Disadvantages of Fourier transform</vt:lpstr>
      <vt:lpstr>Convolution</vt:lpstr>
      <vt:lpstr>Time-frequency analysis</vt:lpstr>
      <vt:lpstr>Short-time Fourier transform (STFT)</vt:lpstr>
      <vt:lpstr>Uncertainty principle</vt:lpstr>
      <vt:lpstr>PowerPoint 簡報</vt:lpstr>
      <vt:lpstr>Wavelet transform</vt:lpstr>
      <vt:lpstr>PowerPoint 簡報</vt:lpstr>
      <vt:lpstr>PowerPoint 簡報</vt:lpstr>
      <vt:lpstr>PowerPoint 簡報</vt:lpstr>
      <vt:lpstr>PowerPoint 簡報</vt:lpstr>
      <vt:lpstr>PowerPoint 簡報</vt:lpstr>
      <vt:lpstr>PowerPoint 簡報</vt:lpstr>
      <vt:lpstr>Wigner-ville distribution  (Heisenberg wavelet)</vt:lpstr>
      <vt:lpstr>PowerPoint 簡報</vt:lpstr>
      <vt:lpstr>Phase (相位)</vt:lpstr>
      <vt:lpstr>Instantaneous phase (瞬時相位)</vt:lpstr>
      <vt:lpstr>Analytic signal representation</vt:lpstr>
      <vt:lpstr>PowerPoint 簡報</vt:lpstr>
      <vt:lpstr>PowerPoint 簡報</vt:lpstr>
      <vt:lpstr>PowerPoint 簡報</vt:lpstr>
      <vt:lpstr>PowerPoint 簡報</vt:lpstr>
      <vt:lpstr>Instantaneous frequency (1)</vt:lpstr>
      <vt:lpstr>Instantaneous frequency (2)</vt:lpstr>
      <vt:lpstr>Instantaneous frequency (3)</vt:lpstr>
      <vt:lpstr>Hilbert-Huang transform (HHT)</vt:lpstr>
      <vt:lpstr>Empirical mode decomposition (EMD) (1)</vt:lpstr>
      <vt:lpstr>Empirical mode decomposition (EMD) (2)</vt:lpstr>
      <vt:lpstr>Empirical mode decomposition (EMD) (3)</vt:lpstr>
      <vt:lpstr>Empirical mode decomposition (EMD) (4)</vt:lpstr>
      <vt:lpstr>Empirical mode decomposition (EMD)(4)</vt:lpstr>
      <vt:lpstr>Empirical mode decomposition (EMD)(5)</vt:lpstr>
      <vt:lpstr>Empirical mode decomposition (EMD)(6)</vt:lpstr>
      <vt:lpstr>Empirical mode decomposition (EMD)(7)</vt:lpstr>
      <vt:lpstr>Empirical mode decomposition (EMD)(8)</vt:lpstr>
      <vt:lpstr>Reconstruction (1)</vt:lpstr>
      <vt:lpstr>Reconstruction (2)</vt:lpstr>
      <vt:lpstr>Hilbert transform</vt:lpstr>
      <vt:lpstr>Hilbert spectrum</vt:lpstr>
      <vt:lpstr>Marginal Hilbert spectrum (1)</vt:lpstr>
      <vt:lpstr>Marginal Hilbert spectrum (2)</vt:lpstr>
      <vt:lpstr>Comparison</vt:lpstr>
      <vt:lpstr>Application- finance</vt:lpstr>
      <vt:lpstr>Application-Bioinformatics</vt:lpstr>
      <vt:lpstr>Program</vt:lpstr>
      <vt:lpstr>PowerPoint 簡報</vt:lpstr>
    </vt:vector>
  </TitlesOfParts>
  <Company>nsysu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empirical mode decomposition and the Hilbert spectrum for nonlinear and non-stationary time series analysis</dc:title>
  <dc:creator>par67vm</dc:creator>
  <cp:lastModifiedBy>par67vm</cp:lastModifiedBy>
  <cp:revision>454</cp:revision>
  <dcterms:created xsi:type="dcterms:W3CDTF">2011-11-14T14:36:19Z</dcterms:created>
  <dcterms:modified xsi:type="dcterms:W3CDTF">2011-11-21T10:03:06Z</dcterms:modified>
</cp:coreProperties>
</file>