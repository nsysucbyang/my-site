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6" r:id="rId9"/>
    <p:sldId id="265" r:id="rId10"/>
    <p:sldId id="267" r:id="rId11"/>
    <p:sldId id="268" r:id="rId12"/>
    <p:sldId id="269" r:id="rId13"/>
    <p:sldId id="270" r:id="rId14"/>
    <p:sldId id="271" r:id="rId15"/>
    <p:sldId id="272" r:id="rId16"/>
    <p:sldId id="273" r:id="rId1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1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2843631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2545274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3810120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100913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1782114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2469006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3747390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306057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1526013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2516479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09EE248-C38E-4E5F-B1D1-6ABBE07C4CA6}" type="datetimeFigureOut">
              <a:rPr lang="zh-TW" altLang="en-US" smtClean="0"/>
              <a:t>2011/11/20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2662476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9EE248-C38E-4E5F-B1D1-6ABBE07C4CA6}" type="datetimeFigureOut">
              <a:rPr lang="zh-TW" altLang="en-US" smtClean="0"/>
              <a:t>2011/11/20</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56BA96-74DB-4906-B9E4-DD346EC177E6}" type="slidenum">
              <a:rPr lang="zh-TW" altLang="en-US" smtClean="0"/>
              <a:t>‹#›</a:t>
            </a:fld>
            <a:endParaRPr lang="zh-TW" altLang="en-US"/>
          </a:p>
        </p:txBody>
      </p:sp>
    </p:spTree>
    <p:extLst>
      <p:ext uri="{BB962C8B-B14F-4D97-AF65-F5344CB8AC3E}">
        <p14:creationId xmlns:p14="http://schemas.microsoft.com/office/powerpoint/2010/main" val="205721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340768"/>
            <a:ext cx="7772400" cy="1470025"/>
          </a:xfrm>
        </p:spPr>
        <p:txBody>
          <a:bodyPr/>
          <a:lstStyle/>
          <a:p>
            <a:r>
              <a:rPr lang="zh-TW" altLang="en-US" dirty="0" smtClean="0"/>
              <a:t>共演化機制在動態資產配置模型建構之研究</a:t>
            </a:r>
            <a:endParaRPr lang="zh-TW" altLang="en-US" dirty="0"/>
          </a:p>
        </p:txBody>
      </p:sp>
      <p:sp>
        <p:nvSpPr>
          <p:cNvPr id="3" name="副標題 2"/>
          <p:cNvSpPr>
            <a:spLocks noGrp="1"/>
          </p:cNvSpPr>
          <p:nvPr>
            <p:ph type="subTitle" idx="1"/>
          </p:nvPr>
        </p:nvSpPr>
        <p:spPr>
          <a:xfrm>
            <a:off x="395536" y="3886200"/>
            <a:ext cx="8424936" cy="1752600"/>
          </a:xfrm>
        </p:spPr>
        <p:txBody>
          <a:bodyPr>
            <a:normAutofit fontScale="70000" lnSpcReduction="20000"/>
          </a:bodyPr>
          <a:lstStyle/>
          <a:p>
            <a:pPr algn="r"/>
            <a:r>
              <a:rPr lang="zh-TW" altLang="en-US" dirty="0" smtClean="0"/>
              <a:t>林文修</a:t>
            </a:r>
            <a:r>
              <a:rPr lang="en-US" altLang="zh-TW" dirty="0" smtClean="0"/>
              <a:t>,</a:t>
            </a:r>
            <a:r>
              <a:rPr lang="zh-TW" altLang="en-US" dirty="0" smtClean="0"/>
              <a:t> 林聖庭</a:t>
            </a:r>
            <a:r>
              <a:rPr lang="en-US" altLang="zh-TW" dirty="0" smtClean="0"/>
              <a:t>,</a:t>
            </a:r>
            <a:r>
              <a:rPr lang="zh-TW" altLang="en-US" dirty="0" smtClean="0"/>
              <a:t> 陳奕帆</a:t>
            </a:r>
            <a:endParaRPr lang="en-US" altLang="zh-TW" dirty="0" smtClean="0"/>
          </a:p>
          <a:p>
            <a:pPr algn="r"/>
            <a:r>
              <a:rPr lang="en-US" altLang="zh-TW" dirty="0" smtClean="0"/>
              <a:t>Proceedings of the 2011 Conference on Technologies and Applications of Artificial Intelligence (TAAI 2011)</a:t>
            </a:r>
          </a:p>
          <a:p>
            <a:pPr algn="r"/>
            <a:r>
              <a:rPr lang="en-US" altLang="zh-TW" dirty="0" smtClean="0"/>
              <a:t>Presenter : Chang-</a:t>
            </a:r>
            <a:r>
              <a:rPr lang="en-US" altLang="zh-TW" dirty="0" err="1" smtClean="0"/>
              <a:t>Hao</a:t>
            </a:r>
            <a:r>
              <a:rPr lang="en-US" altLang="zh-TW" dirty="0" smtClean="0"/>
              <a:t> Huang</a:t>
            </a:r>
          </a:p>
          <a:p>
            <a:pPr algn="r"/>
            <a:r>
              <a:rPr lang="en-US" altLang="zh-TW" dirty="0" smtClean="0"/>
              <a:t>Date : Nov. 21, 2011</a:t>
            </a:r>
            <a:endParaRPr lang="zh-TW" altLang="en-US" dirty="0"/>
          </a:p>
        </p:txBody>
      </p:sp>
    </p:spTree>
    <p:extLst>
      <p:ext uri="{BB962C8B-B14F-4D97-AF65-F5344CB8AC3E}">
        <p14:creationId xmlns:p14="http://schemas.microsoft.com/office/powerpoint/2010/main" val="8114295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77500" lnSpcReduction="20000"/>
          </a:bodyPr>
          <a:lstStyle/>
          <a:p>
            <a:r>
              <a:rPr lang="zh-TW" altLang="en-US" dirty="0"/>
              <a:t>本研究主要目的</a:t>
            </a:r>
            <a:r>
              <a:rPr lang="zh-TW" altLang="en-US" dirty="0" smtClean="0"/>
              <a:t>是改善傳統資產配置模型，無法有效動態調整配置內容，以及選股</a:t>
            </a:r>
            <a:r>
              <a:rPr lang="zh-TW" altLang="en-US" dirty="0" smtClean="0">
                <a:latin typeface="新細明體"/>
                <a:ea typeface="新細明體"/>
              </a:rPr>
              <a:t>、資產配置與資金配置無法同時完成的問題。因此</a:t>
            </a:r>
            <a:r>
              <a:rPr lang="zh-TW" altLang="en-US" dirty="0" smtClean="0"/>
              <a:t>，本研究研發一種基因表達規劃法</a:t>
            </a:r>
            <a:r>
              <a:rPr lang="en-US" altLang="zh-TW" dirty="0" smtClean="0"/>
              <a:t>(Gene Expression Programming, GEP</a:t>
            </a:r>
            <a:r>
              <a:rPr lang="en-US" altLang="zh-TW" dirty="0"/>
              <a:t>)</a:t>
            </a:r>
            <a:r>
              <a:rPr lang="zh-TW" altLang="en-US" dirty="0" smtClean="0"/>
              <a:t>與遺傳演算法</a:t>
            </a:r>
            <a:r>
              <a:rPr lang="en-US" altLang="zh-TW" dirty="0" smtClean="0"/>
              <a:t>(Genetic Algorithms, GA)</a:t>
            </a:r>
            <a:r>
              <a:rPr lang="zh-TW" altLang="en-US" dirty="0" smtClean="0"/>
              <a:t>一起共演化機制</a:t>
            </a:r>
            <a:r>
              <a:rPr lang="en-US" altLang="zh-TW" dirty="0" smtClean="0"/>
              <a:t>(Co-Evolution Mechanism</a:t>
            </a:r>
            <a:r>
              <a:rPr lang="zh-TW" altLang="en-US" dirty="0" smtClean="0"/>
              <a:t>，</a:t>
            </a:r>
            <a:r>
              <a:rPr lang="en-US" altLang="zh-TW" dirty="0" smtClean="0"/>
              <a:t>CO-EC)</a:t>
            </a:r>
            <a:r>
              <a:rPr lang="zh-TW" altLang="en-US" dirty="0" smtClean="0"/>
              <a:t>，</a:t>
            </a:r>
            <a:r>
              <a:rPr lang="zh-TW" altLang="en-US" dirty="0" smtClean="0"/>
              <a:t>建置一個台灣股票為基礎的資產配置模型</a:t>
            </a:r>
            <a:r>
              <a:rPr lang="zh-TW" altLang="en-US" dirty="0" smtClean="0"/>
              <a:t>，試圖找出報酬</a:t>
            </a:r>
            <a:r>
              <a:rPr lang="en-US" altLang="zh-TW" dirty="0" smtClean="0"/>
              <a:t>-</a:t>
            </a:r>
            <a:r>
              <a:rPr lang="zh-TW" altLang="en-US" dirty="0" smtClean="0"/>
              <a:t>風險適配的資產配置</a:t>
            </a:r>
            <a:r>
              <a:rPr lang="zh-TW" altLang="en-US" dirty="0" smtClean="0">
                <a:latin typeface="新細明體"/>
              </a:rPr>
              <a:t>。實驗結果證實</a:t>
            </a:r>
            <a:r>
              <a:rPr lang="zh-TW" altLang="en-US" dirty="0" smtClean="0">
                <a:latin typeface="新細明體"/>
                <a:sym typeface="Wingdings" pitchFamily="2" charset="2"/>
              </a:rPr>
              <a:t>：</a:t>
            </a:r>
            <a:r>
              <a:rPr lang="en-US" altLang="zh-TW" dirty="0" smtClean="0">
                <a:latin typeface="新細明體"/>
                <a:sym typeface="Wingdings" pitchFamily="2" charset="2"/>
              </a:rPr>
              <a:t>(1)</a:t>
            </a:r>
            <a:r>
              <a:rPr lang="zh-TW" altLang="en-US" dirty="0" smtClean="0">
                <a:latin typeface="新細明體"/>
                <a:sym typeface="Wingdings" pitchFamily="2" charset="2"/>
              </a:rPr>
              <a:t>本研究提出之共演化機制模型</a:t>
            </a:r>
            <a:r>
              <a:rPr lang="en-US" altLang="zh-TW" dirty="0" smtClean="0">
                <a:latin typeface="新細明體"/>
                <a:sym typeface="Wingdings" pitchFamily="2" charset="2"/>
              </a:rPr>
              <a:t>(CO-EC)</a:t>
            </a:r>
            <a:r>
              <a:rPr lang="zh-TW" altLang="en-US" dirty="0" smtClean="0">
                <a:latin typeface="新細明體"/>
                <a:sym typeface="Wingdings" pitchFamily="2" charset="2"/>
              </a:rPr>
              <a:t>，能大幅提昇資產配置的平均報酬率</a:t>
            </a:r>
            <a:r>
              <a:rPr lang="zh-TW" altLang="en-US" dirty="0" smtClean="0">
                <a:latin typeface="新細明體"/>
              </a:rPr>
              <a:t>。</a:t>
            </a:r>
            <a:r>
              <a:rPr lang="en-US" altLang="zh-TW" dirty="0" smtClean="0">
                <a:latin typeface="新細明體"/>
              </a:rPr>
              <a:t>(2)</a:t>
            </a:r>
            <a:r>
              <a:rPr lang="zh-TW" altLang="en-US" dirty="0" smtClean="0">
                <a:latin typeface="新細明體"/>
              </a:rPr>
              <a:t>使用 </a:t>
            </a:r>
            <a:r>
              <a:rPr lang="en-US" altLang="zh-TW" dirty="0" smtClean="0">
                <a:latin typeface="新細明體"/>
              </a:rPr>
              <a:t>GEP</a:t>
            </a:r>
            <a:r>
              <a:rPr lang="zh-TW" altLang="en-US" dirty="0" smtClean="0">
                <a:latin typeface="新細明體"/>
              </a:rPr>
              <a:t> 以財務和非財務變數建構出的選股準則，相較於傳統</a:t>
            </a:r>
            <a:r>
              <a:rPr lang="en-US" altLang="zh-TW" dirty="0" smtClean="0">
                <a:latin typeface="新細明體"/>
              </a:rPr>
              <a:t>GA</a:t>
            </a:r>
            <a:r>
              <a:rPr lang="zh-TW" altLang="en-US" dirty="0" smtClean="0">
                <a:latin typeface="新細明體"/>
              </a:rPr>
              <a:t> </a:t>
            </a:r>
            <a:r>
              <a:rPr lang="en-US" altLang="zh-TW" dirty="0" smtClean="0">
                <a:latin typeface="新細明體"/>
              </a:rPr>
              <a:t>(SGA)</a:t>
            </a:r>
            <a:r>
              <a:rPr lang="zh-TW" altLang="en-US" dirty="0" smtClean="0">
                <a:latin typeface="新細明體"/>
              </a:rPr>
              <a:t>只使用單變數，在變動環境下的穩定度有較好的表現。</a:t>
            </a:r>
            <a:r>
              <a:rPr lang="en-US" altLang="zh-TW" dirty="0" smtClean="0">
                <a:latin typeface="新細明體"/>
              </a:rPr>
              <a:t>(3)</a:t>
            </a:r>
            <a:r>
              <a:rPr lang="zh-TW" altLang="en-US" dirty="0" smtClean="0">
                <a:latin typeface="新細明體"/>
              </a:rPr>
              <a:t>時間序列資料在 </a:t>
            </a:r>
            <a:r>
              <a:rPr lang="en-US" altLang="zh-TW" dirty="0" smtClean="0">
                <a:latin typeface="新細明體"/>
              </a:rPr>
              <a:t>GEP</a:t>
            </a:r>
            <a:r>
              <a:rPr lang="zh-TW" altLang="en-US" dirty="0" smtClean="0">
                <a:latin typeface="新細明體"/>
              </a:rPr>
              <a:t> 中以每五十代更換季資料的實驗，讓適應值</a:t>
            </a:r>
            <a:r>
              <a:rPr lang="en-US" altLang="zh-TW" dirty="0" smtClean="0">
                <a:latin typeface="新細明體"/>
              </a:rPr>
              <a:t>(</a:t>
            </a:r>
            <a:r>
              <a:rPr lang="zh-TW" altLang="en-US" dirty="0" smtClean="0">
                <a:latin typeface="新細明體"/>
              </a:rPr>
              <a:t>效果</a:t>
            </a:r>
            <a:r>
              <a:rPr lang="en-US" altLang="zh-TW" dirty="0" smtClean="0">
                <a:latin typeface="新細明體"/>
              </a:rPr>
              <a:t>)</a:t>
            </a:r>
            <a:r>
              <a:rPr lang="zh-TW" altLang="en-US" dirty="0" smtClean="0">
                <a:latin typeface="新細明體"/>
              </a:rPr>
              <a:t>有效的提昇。</a:t>
            </a:r>
            <a:endParaRPr lang="en-US" altLang="zh-TW" dirty="0" smtClean="0">
              <a:latin typeface="新細明體"/>
            </a:endParaRPr>
          </a:p>
        </p:txBody>
      </p:sp>
    </p:spTree>
    <p:extLst>
      <p:ext uri="{BB962C8B-B14F-4D97-AF65-F5344CB8AC3E}">
        <p14:creationId xmlns:p14="http://schemas.microsoft.com/office/powerpoint/2010/main" val="4792123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周</a:t>
            </a:r>
            <a:r>
              <a:rPr lang="zh-TW" altLang="en-US" dirty="0" smtClean="0"/>
              <a:t>行一</a:t>
            </a:r>
            <a:r>
              <a:rPr lang="en-US" altLang="zh-TW" dirty="0" smtClean="0"/>
              <a:t>(2005)</a:t>
            </a:r>
            <a:r>
              <a:rPr lang="zh-TW" altLang="en-US" dirty="0" smtClean="0"/>
              <a:t> 指出投資組合中，應建立核心投資與衛星投資的概念</a:t>
            </a:r>
            <a:r>
              <a:rPr lang="zh-TW" altLang="en-US" dirty="0" smtClean="0"/>
              <a:t>，</a:t>
            </a:r>
            <a:r>
              <a:rPr lang="zh-TW" altLang="en-US" dirty="0"/>
              <a:t>兩者皆能進行資產配置</a:t>
            </a:r>
            <a:r>
              <a:rPr lang="zh-TW" altLang="en-US" dirty="0" smtClean="0">
                <a:latin typeface="新細明體"/>
              </a:rPr>
              <a:t>。</a:t>
            </a:r>
            <a:endParaRPr lang="en-US" altLang="zh-TW" dirty="0" smtClean="0">
              <a:latin typeface="新細明體"/>
            </a:endParaRPr>
          </a:p>
          <a:p>
            <a:r>
              <a:rPr lang="zh-TW" altLang="en-US" dirty="0">
                <a:latin typeface="新細明體"/>
              </a:rPr>
              <a:t>核心</a:t>
            </a:r>
            <a:r>
              <a:rPr lang="zh-TW" altLang="en-US" dirty="0" smtClean="0">
                <a:latin typeface="新細明體"/>
              </a:rPr>
              <a:t>投資</a:t>
            </a:r>
            <a:r>
              <a:rPr lang="zh-TW" altLang="en-US" dirty="0">
                <a:latin typeface="新細明體"/>
              </a:rPr>
              <a:t> </a:t>
            </a:r>
            <a:r>
              <a:rPr lang="en-US" altLang="zh-TW" dirty="0" smtClean="0">
                <a:latin typeface="新細明體"/>
              </a:rPr>
              <a:t>:</a:t>
            </a:r>
            <a:r>
              <a:rPr lang="zh-TW" altLang="en-US" dirty="0" smtClean="0">
                <a:latin typeface="新細明體"/>
              </a:rPr>
              <a:t> 分散風險</a:t>
            </a:r>
            <a:r>
              <a:rPr lang="zh-TW" altLang="en-US" dirty="0" smtClean="0">
                <a:latin typeface="新細明體"/>
              </a:rPr>
              <a:t>、</a:t>
            </a:r>
            <a:r>
              <a:rPr lang="zh-TW" altLang="en-US" dirty="0" smtClean="0">
                <a:latin typeface="新細明體"/>
              </a:rPr>
              <a:t>中長期持有</a:t>
            </a:r>
            <a:r>
              <a:rPr lang="zh-TW" altLang="en-US" dirty="0" smtClean="0">
                <a:latin typeface="新細明體"/>
              </a:rPr>
              <a:t>、</a:t>
            </a:r>
            <a:r>
              <a:rPr lang="zh-TW" altLang="en-US" dirty="0"/>
              <a:t>不做</a:t>
            </a:r>
            <a:r>
              <a:rPr lang="zh-TW" altLang="en-US" dirty="0" smtClean="0"/>
              <a:t>頻繁交易</a:t>
            </a:r>
            <a:r>
              <a:rPr lang="zh-TW" altLang="en-US" dirty="0" smtClean="0"/>
              <a:t>，靠資產配置獲利</a:t>
            </a:r>
            <a:r>
              <a:rPr lang="zh-TW" altLang="en-US" dirty="0" smtClean="0">
                <a:latin typeface="新細明體"/>
              </a:rPr>
              <a:t>。</a:t>
            </a:r>
            <a:endParaRPr lang="en-US" altLang="zh-TW" dirty="0" smtClean="0">
              <a:latin typeface="新細明體"/>
            </a:endParaRPr>
          </a:p>
          <a:p>
            <a:r>
              <a:rPr lang="zh-TW" altLang="en-US" dirty="0">
                <a:latin typeface="新細明體"/>
              </a:rPr>
              <a:t>衛星</a:t>
            </a:r>
            <a:r>
              <a:rPr lang="zh-TW" altLang="en-US" dirty="0" smtClean="0">
                <a:latin typeface="新細明體"/>
              </a:rPr>
              <a:t>投資 </a:t>
            </a:r>
            <a:r>
              <a:rPr lang="en-US" altLang="zh-TW" dirty="0" smtClean="0">
                <a:latin typeface="新細明體"/>
              </a:rPr>
              <a:t>:</a:t>
            </a:r>
            <a:r>
              <a:rPr lang="zh-TW" altLang="en-US" dirty="0" smtClean="0">
                <a:latin typeface="新細明體"/>
              </a:rPr>
              <a:t> 允許投資人根據市場狀況，進行波段操作</a:t>
            </a:r>
            <a:r>
              <a:rPr lang="zh-TW" altLang="en-US" dirty="0" smtClean="0">
                <a:latin typeface="新細明體"/>
              </a:rPr>
              <a:t>。</a:t>
            </a:r>
            <a:endParaRPr lang="zh-TW" altLang="en-US" dirty="0"/>
          </a:p>
        </p:txBody>
      </p:sp>
    </p:spTree>
    <p:extLst>
      <p:ext uri="{BB962C8B-B14F-4D97-AF65-F5344CB8AC3E}">
        <p14:creationId xmlns:p14="http://schemas.microsoft.com/office/powerpoint/2010/main" val="18139189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99392"/>
            <a:ext cx="6238771" cy="695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72996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資產配置模組</a:t>
            </a:r>
            <a:endParaRPr lang="zh-TW" altLang="en-US" dirty="0"/>
          </a:p>
        </p:txBody>
      </p:sp>
      <p:sp>
        <p:nvSpPr>
          <p:cNvPr id="3" name="內容版面配置區 2"/>
          <p:cNvSpPr>
            <a:spLocks noGrp="1"/>
          </p:cNvSpPr>
          <p:nvPr>
            <p:ph idx="1"/>
          </p:nvPr>
        </p:nvSpPr>
        <p:spPr>
          <a:xfrm>
            <a:off x="395536" y="1628800"/>
            <a:ext cx="8229600" cy="4525963"/>
          </a:xfrm>
        </p:spPr>
        <p:txBody>
          <a:bodyPr/>
          <a:lstStyle/>
          <a:p>
            <a:r>
              <a:rPr lang="zh-TW" altLang="en-US" dirty="0" smtClean="0"/>
              <a:t>資產配置投資組合由核心資產</a:t>
            </a:r>
            <a:r>
              <a:rPr lang="en-US" altLang="zh-TW" dirty="0" smtClean="0"/>
              <a:t>(1)</a:t>
            </a:r>
            <a:r>
              <a:rPr lang="zh-TW" altLang="en-US" dirty="0" smtClean="0"/>
              <a:t>和衛星資產</a:t>
            </a:r>
            <a:r>
              <a:rPr lang="en-US" altLang="zh-TW" dirty="0" smtClean="0"/>
              <a:t>(0)</a:t>
            </a:r>
            <a:r>
              <a:rPr lang="zh-TW" altLang="en-US" dirty="0" smtClean="0"/>
              <a:t>所組成，此模組由</a:t>
            </a:r>
            <a:r>
              <a:rPr lang="en-US" altLang="zh-TW" dirty="0" smtClean="0"/>
              <a:t>GA</a:t>
            </a:r>
            <a:r>
              <a:rPr lang="zh-TW" altLang="en-US" dirty="0" smtClean="0"/>
              <a:t>產生</a:t>
            </a:r>
            <a:r>
              <a:rPr lang="en-US" altLang="zh-TW" dirty="0">
                <a:latin typeface="新細明體"/>
                <a:ea typeface="新細明體"/>
              </a:rPr>
              <a:t>。</a:t>
            </a:r>
            <a:endParaRPr lang="zh-TW"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3429000"/>
            <a:ext cx="5904656" cy="2236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2882688" y="3059668"/>
            <a:ext cx="466794" cy="369332"/>
          </a:xfrm>
          <a:prstGeom prst="rect">
            <a:avLst/>
          </a:prstGeom>
          <a:noFill/>
        </p:spPr>
        <p:txBody>
          <a:bodyPr wrap="none" rtlCol="0">
            <a:spAutoFit/>
          </a:bodyPr>
          <a:lstStyle/>
          <a:p>
            <a:r>
              <a:rPr lang="en-US" altLang="zh-TW" dirty="0" smtClean="0"/>
              <a:t>1%</a:t>
            </a:r>
            <a:endParaRPr lang="zh-TW" altLang="en-US" dirty="0"/>
          </a:p>
        </p:txBody>
      </p:sp>
      <p:sp>
        <p:nvSpPr>
          <p:cNvPr id="6" name="文字方塊 5"/>
          <p:cNvSpPr txBox="1"/>
          <p:nvPr/>
        </p:nvSpPr>
        <p:spPr>
          <a:xfrm>
            <a:off x="5508104" y="3059668"/>
            <a:ext cx="758541" cy="369332"/>
          </a:xfrm>
          <a:prstGeom prst="rect">
            <a:avLst/>
          </a:prstGeom>
          <a:noFill/>
        </p:spPr>
        <p:txBody>
          <a:bodyPr wrap="none" rtlCol="0">
            <a:spAutoFit/>
          </a:bodyPr>
          <a:lstStyle/>
          <a:p>
            <a:r>
              <a:rPr lang="en-US" altLang="zh-TW" dirty="0" smtClean="0"/>
              <a:t>0.01%</a:t>
            </a:r>
            <a:endParaRPr lang="zh-TW" altLang="en-US" dirty="0"/>
          </a:p>
        </p:txBody>
      </p:sp>
    </p:spTree>
    <p:extLst>
      <p:ext uri="{BB962C8B-B14F-4D97-AF65-F5344CB8AC3E}">
        <p14:creationId xmlns:p14="http://schemas.microsoft.com/office/powerpoint/2010/main" val="4971603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選股模組</a:t>
            </a:r>
            <a:endParaRPr lang="zh-TW" altLang="en-US" dirty="0"/>
          </a:p>
        </p:txBody>
      </p:sp>
      <p:sp>
        <p:nvSpPr>
          <p:cNvPr id="3" name="內容版面配置區 2"/>
          <p:cNvSpPr>
            <a:spLocks noGrp="1"/>
          </p:cNvSpPr>
          <p:nvPr>
            <p:ph idx="1"/>
          </p:nvPr>
        </p:nvSpPr>
        <p:spPr/>
        <p:txBody>
          <a:bodyPr/>
          <a:lstStyle/>
          <a:p>
            <a:r>
              <a:rPr lang="zh-TW" altLang="en-US" dirty="0"/>
              <a:t>本模組</a:t>
            </a:r>
            <a:r>
              <a:rPr lang="zh-TW" altLang="en-US" dirty="0" smtClean="0"/>
              <a:t>採用</a:t>
            </a:r>
            <a:r>
              <a:rPr lang="en-US" altLang="zh-TW" dirty="0" smtClean="0"/>
              <a:t>GEP</a:t>
            </a:r>
            <a:r>
              <a:rPr lang="zh-TW" altLang="en-US" dirty="0" smtClean="0"/>
              <a:t>，</a:t>
            </a:r>
            <a:r>
              <a:rPr lang="zh-TW" altLang="en-US" dirty="0"/>
              <a:t>利用自動定義</a:t>
            </a:r>
            <a:r>
              <a:rPr lang="zh-TW" altLang="en-US" dirty="0" smtClean="0"/>
              <a:t>函數將技術指標</a:t>
            </a:r>
            <a:r>
              <a:rPr lang="zh-TW" altLang="en-US" dirty="0" smtClean="0">
                <a:latin typeface="新細明體"/>
                <a:ea typeface="新細明體"/>
              </a:rPr>
              <a:t>、財務比率和非財務比率模型加入</a:t>
            </a:r>
            <a:r>
              <a:rPr lang="en-US" altLang="zh-TW" dirty="0" smtClean="0">
                <a:latin typeface="新細明體"/>
                <a:ea typeface="新細明體"/>
              </a:rPr>
              <a:t>GEP</a:t>
            </a:r>
            <a:r>
              <a:rPr lang="zh-TW" altLang="en-US" dirty="0" smtClean="0">
                <a:latin typeface="新細明體"/>
                <a:ea typeface="新細明體"/>
              </a:rPr>
              <a:t>，並將自動定義函數做些許調整，自行演化出最適合之子函數。</a:t>
            </a:r>
            <a:endParaRPr lang="en-US" altLang="zh-TW" dirty="0" smtClean="0">
              <a:latin typeface="新細明體"/>
              <a:ea typeface="新細明體"/>
            </a:endParaRPr>
          </a:p>
        </p:txBody>
      </p:sp>
    </p:spTree>
    <p:extLst>
      <p:ext uri="{BB962C8B-B14F-4D97-AF65-F5344CB8AC3E}">
        <p14:creationId xmlns:p14="http://schemas.microsoft.com/office/powerpoint/2010/main" val="2506040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a:xfrm>
            <a:off x="457200" y="260648"/>
            <a:ext cx="8229600" cy="5865515"/>
          </a:xfrm>
        </p:spPr>
        <p:txBody>
          <a:bodyPr/>
          <a:lstStyle/>
          <a:p>
            <a:pPr marL="0" indent="0">
              <a:buNone/>
            </a:pPr>
            <a:r>
              <a:rPr lang="zh-TW" altLang="en-US" dirty="0"/>
              <a:t>　</a:t>
            </a:r>
            <a:r>
              <a:rPr lang="zh-TW" altLang="en-US" dirty="0" smtClean="0"/>
              <a:t>終端節點集合</a:t>
            </a:r>
            <a:endParaRPr lang="zh-TW"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883816"/>
            <a:ext cx="4320480" cy="5676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字方塊 3"/>
          <p:cNvSpPr txBox="1"/>
          <p:nvPr/>
        </p:nvSpPr>
        <p:spPr>
          <a:xfrm>
            <a:off x="4932040" y="261223"/>
            <a:ext cx="3960440" cy="4031873"/>
          </a:xfrm>
          <a:prstGeom prst="rect">
            <a:avLst/>
          </a:prstGeom>
          <a:noFill/>
        </p:spPr>
        <p:txBody>
          <a:bodyPr wrap="square" rtlCol="0">
            <a:spAutoFit/>
          </a:bodyPr>
          <a:lstStyle/>
          <a:p>
            <a:r>
              <a:rPr lang="zh-TW" altLang="en-US" sz="3200" dirty="0" smtClean="0"/>
              <a:t>     函數節點集合</a:t>
            </a:r>
            <a:endParaRPr lang="en-US" altLang="zh-TW" sz="3200" dirty="0" smtClean="0"/>
          </a:p>
          <a:p>
            <a:r>
              <a:rPr lang="zh-TW" altLang="en-US" sz="3200" dirty="0" smtClean="0"/>
              <a:t>　</a:t>
            </a:r>
            <a:r>
              <a:rPr lang="en-US" altLang="zh-TW" sz="3200" dirty="0" smtClean="0"/>
              <a:t>(a) </a:t>
            </a:r>
            <a:r>
              <a:rPr lang="zh-TW" altLang="en-US" sz="3200" dirty="0" smtClean="0"/>
              <a:t>算術運算子 </a:t>
            </a:r>
            <a:r>
              <a:rPr lang="en-US" altLang="zh-TW" sz="3200" dirty="0" smtClean="0"/>
              <a:t>:</a:t>
            </a:r>
            <a:r>
              <a:rPr lang="zh-TW" altLang="en-US" sz="3200" dirty="0" smtClean="0"/>
              <a:t> </a:t>
            </a:r>
            <a:endParaRPr lang="en-US" altLang="zh-TW" sz="3200" dirty="0" smtClean="0"/>
          </a:p>
          <a:p>
            <a:r>
              <a:rPr lang="zh-TW" altLang="en-US" sz="3200" dirty="0" smtClean="0"/>
              <a:t>　＋</a:t>
            </a:r>
            <a:r>
              <a:rPr lang="zh-TW" altLang="en-US" sz="3200" dirty="0" smtClean="0">
                <a:latin typeface="新細明體"/>
              </a:rPr>
              <a:t>、</a:t>
            </a:r>
            <a:r>
              <a:rPr lang="zh-TW" altLang="en-US" sz="3200" dirty="0" smtClean="0"/>
              <a:t>－</a:t>
            </a:r>
            <a:r>
              <a:rPr lang="zh-TW" altLang="en-US" sz="3200" dirty="0" smtClean="0">
                <a:latin typeface="新細明體"/>
              </a:rPr>
              <a:t>、＊、</a:t>
            </a:r>
            <a:r>
              <a:rPr lang="en-US" altLang="zh-TW" sz="3200" dirty="0" smtClean="0">
                <a:latin typeface="新細明體"/>
              </a:rPr>
              <a:t>/</a:t>
            </a:r>
            <a:r>
              <a:rPr lang="zh-TW" altLang="en-US" sz="3200" dirty="0" smtClean="0">
                <a:latin typeface="新細明體"/>
              </a:rPr>
              <a:t>　</a:t>
            </a:r>
            <a:r>
              <a:rPr lang="zh-TW" altLang="en-US" sz="3200" dirty="0" smtClean="0">
                <a:latin typeface="新細明體"/>
              </a:rPr>
              <a:t>。</a:t>
            </a:r>
            <a:endParaRPr lang="en-US" altLang="zh-TW" sz="3200" dirty="0">
              <a:latin typeface="新細明體"/>
            </a:endParaRPr>
          </a:p>
          <a:p>
            <a:r>
              <a:rPr lang="zh-TW" altLang="en-US" sz="3200" dirty="0">
                <a:latin typeface="新細明體"/>
              </a:rPr>
              <a:t>    </a:t>
            </a:r>
            <a:r>
              <a:rPr lang="en-US" altLang="zh-TW" sz="3200" dirty="0">
                <a:latin typeface="新細明體"/>
              </a:rPr>
              <a:t>(b) </a:t>
            </a:r>
            <a:r>
              <a:rPr lang="zh-TW" altLang="en-US" sz="3200" dirty="0">
                <a:latin typeface="新細明體"/>
              </a:rPr>
              <a:t>比較運算子 </a:t>
            </a:r>
            <a:r>
              <a:rPr lang="en-US" altLang="zh-TW" sz="3200" dirty="0" smtClean="0">
                <a:latin typeface="新細明體"/>
              </a:rPr>
              <a:t>:</a:t>
            </a:r>
          </a:p>
          <a:p>
            <a:r>
              <a:rPr lang="zh-TW" altLang="en-US" sz="3200" dirty="0" smtClean="0">
                <a:latin typeface="新細明體"/>
              </a:rPr>
              <a:t>　 </a:t>
            </a:r>
            <a:r>
              <a:rPr lang="en-US" altLang="zh-TW" sz="3200" dirty="0">
                <a:latin typeface="新細明體"/>
              </a:rPr>
              <a:t>&gt;</a:t>
            </a:r>
            <a:r>
              <a:rPr lang="zh-TW" altLang="en-US" sz="3200" dirty="0" smtClean="0">
                <a:latin typeface="新細明體"/>
              </a:rPr>
              <a:t>、</a:t>
            </a:r>
            <a:r>
              <a:rPr lang="en-US" altLang="zh-TW" sz="3200" dirty="0" smtClean="0">
                <a:latin typeface="新細明體"/>
              </a:rPr>
              <a:t>&lt;</a:t>
            </a:r>
            <a:r>
              <a:rPr lang="zh-TW" altLang="en-US" sz="3200" dirty="0" smtClean="0">
                <a:latin typeface="新細明體"/>
              </a:rPr>
              <a:t> 、</a:t>
            </a:r>
            <a:r>
              <a:rPr lang="en-US" altLang="zh-TW" sz="3200" dirty="0" smtClean="0">
                <a:latin typeface="新細明體"/>
              </a:rPr>
              <a:t>=</a:t>
            </a:r>
            <a:r>
              <a:rPr lang="zh-TW" altLang="en-US" sz="3200" dirty="0" smtClean="0">
                <a:latin typeface="新細明體"/>
              </a:rPr>
              <a:t>。</a:t>
            </a:r>
            <a:endParaRPr lang="en-US" altLang="zh-TW" sz="3200" dirty="0" smtClean="0">
              <a:latin typeface="新細明體"/>
            </a:endParaRPr>
          </a:p>
          <a:p>
            <a:r>
              <a:rPr lang="zh-TW" altLang="en-US" sz="3200" dirty="0" smtClean="0">
                <a:latin typeface="新細明體"/>
              </a:rPr>
              <a:t>    </a:t>
            </a:r>
            <a:r>
              <a:rPr lang="en-US" altLang="zh-TW" sz="3200" dirty="0" smtClean="0"/>
              <a:t>(C) </a:t>
            </a:r>
            <a:r>
              <a:rPr lang="zh-TW" altLang="en-US" sz="3200" dirty="0" smtClean="0"/>
              <a:t>邏輯運算子 </a:t>
            </a:r>
            <a:r>
              <a:rPr lang="en-US" altLang="zh-TW" sz="3200" dirty="0" smtClean="0"/>
              <a:t>:</a:t>
            </a:r>
            <a:r>
              <a:rPr lang="zh-TW" altLang="en-US" sz="3200" dirty="0" smtClean="0"/>
              <a:t> 　　　　　</a:t>
            </a:r>
            <a:endParaRPr lang="en-US" altLang="zh-TW" sz="3200" dirty="0" smtClean="0"/>
          </a:p>
          <a:p>
            <a:r>
              <a:rPr lang="zh-TW" altLang="en-US" sz="3200" dirty="0" smtClean="0"/>
              <a:t>　</a:t>
            </a:r>
            <a:r>
              <a:rPr lang="en-US" altLang="zh-TW" sz="3200" dirty="0" smtClean="0"/>
              <a:t> AND</a:t>
            </a:r>
            <a:r>
              <a:rPr lang="zh-TW" altLang="en-US" sz="3200" dirty="0" smtClean="0">
                <a:latin typeface="新細明體"/>
              </a:rPr>
              <a:t>、</a:t>
            </a:r>
            <a:r>
              <a:rPr lang="en-US" altLang="zh-TW" sz="3200" dirty="0" smtClean="0">
                <a:latin typeface="新細明體"/>
              </a:rPr>
              <a:t>OR</a:t>
            </a:r>
            <a:r>
              <a:rPr lang="zh-TW" altLang="en-US" sz="3200" dirty="0" smtClean="0">
                <a:latin typeface="新細明體"/>
              </a:rPr>
              <a:t>、</a:t>
            </a:r>
            <a:r>
              <a:rPr lang="en-US" altLang="zh-TW" sz="3200" dirty="0" smtClean="0">
                <a:latin typeface="新細明體"/>
              </a:rPr>
              <a:t>NOT</a:t>
            </a:r>
            <a:r>
              <a:rPr lang="zh-TW" altLang="en-US" sz="3200" dirty="0" smtClean="0">
                <a:latin typeface="新細明體"/>
              </a:rPr>
              <a:t>。 </a:t>
            </a:r>
            <a:r>
              <a:rPr lang="zh-TW" altLang="en-US" sz="3200" dirty="0" smtClean="0"/>
              <a:t>　　　　　　　　　</a:t>
            </a:r>
            <a:endParaRPr lang="en-US" altLang="zh-TW" sz="3200" dirty="0" smtClean="0">
              <a:latin typeface="新細明體"/>
            </a:endParaRPr>
          </a:p>
          <a:p>
            <a:endParaRPr lang="zh-TW" altLang="en-US" sz="3200" dirty="0"/>
          </a:p>
        </p:txBody>
      </p:sp>
    </p:spTree>
    <p:extLst>
      <p:ext uri="{BB962C8B-B14F-4D97-AF65-F5344CB8AC3E}">
        <p14:creationId xmlns:p14="http://schemas.microsoft.com/office/powerpoint/2010/main" val="41217092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資金配置</a:t>
            </a:r>
            <a:r>
              <a:rPr lang="zh-TW" altLang="en-US" dirty="0"/>
              <a:t>模組</a:t>
            </a:r>
          </a:p>
        </p:txBody>
      </p:sp>
      <p:sp>
        <p:nvSpPr>
          <p:cNvPr id="3" name="內容版面配置區 2"/>
          <p:cNvSpPr>
            <a:spLocks noGrp="1"/>
          </p:cNvSpPr>
          <p:nvPr>
            <p:ph idx="1"/>
          </p:nvPr>
        </p:nvSpPr>
        <p:spPr/>
        <p:txBody>
          <a:bodyPr/>
          <a:lstStyle/>
          <a:p>
            <a:r>
              <a:rPr lang="zh-TW" altLang="en-US" dirty="0" smtClean="0"/>
              <a:t>此模組使用</a:t>
            </a:r>
            <a:r>
              <a:rPr lang="en-US" altLang="zh-TW" dirty="0" smtClean="0"/>
              <a:t>GA</a:t>
            </a:r>
            <a:r>
              <a:rPr lang="zh-TW" altLang="en-US" dirty="0" smtClean="0"/>
              <a:t>，每一條染色體代表一組投資組合，該染色體分兩大區塊，分別為原染色體（個股選擇</a:t>
            </a:r>
            <a:r>
              <a:rPr lang="zh-TW" altLang="en-US" dirty="0" smtClean="0">
                <a:latin typeface="新細明體"/>
                <a:ea typeface="新細明體"/>
              </a:rPr>
              <a:t>、個股資金配置比例</a:t>
            </a:r>
            <a:r>
              <a:rPr lang="zh-TW" altLang="en-US" dirty="0" smtClean="0"/>
              <a:t>）</a:t>
            </a:r>
            <a:r>
              <a:rPr lang="zh-TW" altLang="en-US" dirty="0" smtClean="0">
                <a:latin typeface="新細明體"/>
              </a:rPr>
              <a:t>、存款比例</a:t>
            </a:r>
            <a:endParaRPr lang="zh-TW"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2798" y="3645023"/>
            <a:ext cx="6267514" cy="3212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25110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16632"/>
            <a:ext cx="8229600" cy="1143000"/>
          </a:xfrm>
        </p:spPr>
        <p:txBody>
          <a:bodyPr/>
          <a:lstStyle/>
          <a:p>
            <a:r>
              <a:rPr lang="en-US" altLang="zh-TW" dirty="0" smtClean="0"/>
              <a:t>Fitness function</a:t>
            </a:r>
            <a:endParaRPr lang="zh-TW" altLang="en-US" dirty="0"/>
          </a:p>
        </p:txBody>
      </p:sp>
      <p:sp>
        <p:nvSpPr>
          <p:cNvPr id="3" name="內容版面配置區 2"/>
          <p:cNvSpPr>
            <a:spLocks noGrp="1"/>
          </p:cNvSpPr>
          <p:nvPr>
            <p:ph idx="1"/>
          </p:nvPr>
        </p:nvSpPr>
        <p:spPr>
          <a:xfrm>
            <a:off x="457200" y="1600200"/>
            <a:ext cx="8229600" cy="5069160"/>
          </a:xfrm>
        </p:spPr>
        <p:txBody>
          <a:bodyPr>
            <a:normAutofit/>
          </a:bodyPr>
          <a:lstStyle/>
          <a:p>
            <a:endParaRPr lang="en-US" altLang="zh-TW" dirty="0" smtClean="0"/>
          </a:p>
          <a:p>
            <a:r>
              <a:rPr lang="zh-TW" altLang="en-US" dirty="0" smtClean="0"/>
              <a:t>投資標的歷史報酬率</a:t>
            </a:r>
            <a:endParaRPr lang="en-US" altLang="zh-TW" dirty="0" smtClean="0"/>
          </a:p>
          <a:p>
            <a:endParaRPr lang="en-US" altLang="zh-TW" dirty="0" smtClean="0"/>
          </a:p>
          <a:p>
            <a:pPr marL="0" indent="0">
              <a:buNone/>
            </a:pPr>
            <a:endParaRPr lang="en-US" altLang="zh-TW" dirty="0" smtClean="0"/>
          </a:p>
          <a:p>
            <a:r>
              <a:rPr lang="zh-TW" altLang="en-US" dirty="0" smtClean="0"/>
              <a:t>投資組合之績效指標平均值</a:t>
            </a:r>
          </a:p>
        </p:txBody>
      </p:sp>
      <p:graphicFrame>
        <p:nvGraphicFramePr>
          <p:cNvPr id="4" name="物件 3"/>
          <p:cNvGraphicFramePr>
            <a:graphicFrameLocks noChangeAspect="1"/>
          </p:cNvGraphicFramePr>
          <p:nvPr>
            <p:extLst>
              <p:ext uri="{D42A27DB-BD31-4B8C-83A1-F6EECF244321}">
                <p14:modId xmlns:p14="http://schemas.microsoft.com/office/powerpoint/2010/main" val="722983378"/>
              </p:ext>
            </p:extLst>
          </p:nvPr>
        </p:nvGraphicFramePr>
        <p:xfrm>
          <a:off x="683568" y="1412776"/>
          <a:ext cx="5835650" cy="792163"/>
        </p:xfrm>
        <a:graphic>
          <a:graphicData uri="http://schemas.openxmlformats.org/presentationml/2006/ole">
            <mc:AlternateContent xmlns:mc="http://schemas.openxmlformats.org/markup-compatibility/2006">
              <mc:Choice xmlns:v="urn:schemas-microsoft-com:vml" Requires="v">
                <p:oleObj spid="_x0000_s6164" name="方程式" r:id="rId3" imgW="1777680" imgH="241200" progId="Equation.3">
                  <p:embed/>
                </p:oleObj>
              </mc:Choice>
              <mc:Fallback>
                <p:oleObj name="方程式" r:id="rId3" imgW="1777680" imgH="241200" progId="Equation.3">
                  <p:embed/>
                  <p:pic>
                    <p:nvPicPr>
                      <p:cNvPr id="0" name="物件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568" y="1412776"/>
                        <a:ext cx="58356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物件 4"/>
          <p:cNvGraphicFramePr>
            <a:graphicFrameLocks noChangeAspect="1"/>
          </p:cNvGraphicFramePr>
          <p:nvPr>
            <p:extLst>
              <p:ext uri="{D42A27DB-BD31-4B8C-83A1-F6EECF244321}">
                <p14:modId xmlns:p14="http://schemas.microsoft.com/office/powerpoint/2010/main" val="126476266"/>
              </p:ext>
            </p:extLst>
          </p:nvPr>
        </p:nvGraphicFramePr>
        <p:xfrm>
          <a:off x="899592" y="4725144"/>
          <a:ext cx="3384376" cy="1301370"/>
        </p:xfrm>
        <a:graphic>
          <a:graphicData uri="http://schemas.openxmlformats.org/presentationml/2006/ole">
            <mc:AlternateContent xmlns:mc="http://schemas.openxmlformats.org/markup-compatibility/2006">
              <mc:Choice xmlns:v="urn:schemas-microsoft-com:vml" Requires="v">
                <p:oleObj spid="_x0000_s6165" name="方程式" r:id="rId5" imgW="1650960" imgH="634680" progId="Equation.3">
                  <p:embed/>
                </p:oleObj>
              </mc:Choice>
              <mc:Fallback>
                <p:oleObj name="方程式" r:id="rId5" imgW="1650960" imgH="634680" progId="Equation.3">
                  <p:embed/>
                  <p:pic>
                    <p:nvPicPr>
                      <p:cNvPr id="0" name="物件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92" y="4725144"/>
                        <a:ext cx="3384376" cy="1301370"/>
                      </a:xfrm>
                      <a:prstGeom prst="rect">
                        <a:avLst/>
                      </a:prstGeom>
                      <a:noFill/>
                      <a:ln>
                        <a:noFill/>
                      </a:ln>
                    </p:spPr>
                  </p:pic>
                </p:oleObj>
              </mc:Fallback>
            </mc:AlternateContent>
          </a:graphicData>
        </a:graphic>
      </p:graphicFrame>
      <p:graphicFrame>
        <p:nvGraphicFramePr>
          <p:cNvPr id="6" name="物件 5"/>
          <p:cNvGraphicFramePr>
            <a:graphicFrameLocks noChangeAspect="1"/>
          </p:cNvGraphicFramePr>
          <p:nvPr>
            <p:extLst>
              <p:ext uri="{D42A27DB-BD31-4B8C-83A1-F6EECF244321}">
                <p14:modId xmlns:p14="http://schemas.microsoft.com/office/powerpoint/2010/main" val="2633417521"/>
              </p:ext>
            </p:extLst>
          </p:nvPr>
        </p:nvGraphicFramePr>
        <p:xfrm>
          <a:off x="899592" y="2780928"/>
          <a:ext cx="2194126" cy="1008112"/>
        </p:xfrm>
        <a:graphic>
          <a:graphicData uri="http://schemas.openxmlformats.org/presentationml/2006/ole">
            <mc:AlternateContent xmlns:mc="http://schemas.openxmlformats.org/markup-compatibility/2006">
              <mc:Choice xmlns:v="urn:schemas-microsoft-com:vml" Requires="v">
                <p:oleObj spid="_x0000_s6166" name="方程式" r:id="rId7" imgW="939600" imgH="431640" progId="Equation.3">
                  <p:embed/>
                </p:oleObj>
              </mc:Choice>
              <mc:Fallback>
                <p:oleObj name="方程式" r:id="rId7" imgW="939600" imgH="431640" progId="Equation.3">
                  <p:embed/>
                  <p:pic>
                    <p:nvPicPr>
                      <p:cNvPr id="0" name=""/>
                      <p:cNvPicPr/>
                      <p:nvPr/>
                    </p:nvPicPr>
                    <p:blipFill>
                      <a:blip r:embed="rId8"/>
                      <a:stretch>
                        <a:fillRect/>
                      </a:stretch>
                    </p:blipFill>
                    <p:spPr>
                      <a:xfrm>
                        <a:off x="899592" y="2780928"/>
                        <a:ext cx="2194126" cy="1008112"/>
                      </a:xfrm>
                      <a:prstGeom prst="rect">
                        <a:avLst/>
                      </a:prstGeom>
                    </p:spPr>
                  </p:pic>
                </p:oleObj>
              </mc:Fallback>
            </mc:AlternateContent>
          </a:graphicData>
        </a:graphic>
      </p:graphicFrame>
      <p:sp>
        <p:nvSpPr>
          <p:cNvPr id="7" name="文字方塊 6"/>
          <p:cNvSpPr txBox="1"/>
          <p:nvPr/>
        </p:nvSpPr>
        <p:spPr>
          <a:xfrm>
            <a:off x="4860032" y="4857834"/>
            <a:ext cx="3528392" cy="1569660"/>
          </a:xfrm>
          <a:prstGeom prst="rect">
            <a:avLst/>
          </a:prstGeom>
          <a:noFill/>
        </p:spPr>
        <p:txBody>
          <a:bodyPr wrap="square" rtlCol="0">
            <a:spAutoFit/>
          </a:bodyPr>
          <a:lstStyle/>
          <a:p>
            <a:r>
              <a:rPr lang="en-US" altLang="zh-TW" sz="2600" dirty="0" smtClean="0"/>
              <a:t>I</a:t>
            </a:r>
            <a:r>
              <a:rPr lang="en-US" altLang="zh-TW" sz="2600" baseline="-25000" dirty="0" smtClean="0"/>
              <a:t>i1</a:t>
            </a:r>
            <a:r>
              <a:rPr lang="en-US" altLang="zh-TW" sz="2600" dirty="0" smtClean="0"/>
              <a:t> : Standard  Deviation</a:t>
            </a:r>
          </a:p>
          <a:p>
            <a:r>
              <a:rPr lang="en-US" altLang="zh-TW" sz="2600" dirty="0" smtClean="0"/>
              <a:t>I</a:t>
            </a:r>
            <a:r>
              <a:rPr lang="en-US" altLang="zh-TW" sz="2600" baseline="-25000" dirty="0" smtClean="0"/>
              <a:t>i2</a:t>
            </a:r>
            <a:r>
              <a:rPr lang="en-US" altLang="zh-TW" sz="2600" dirty="0" smtClean="0"/>
              <a:t> : </a:t>
            </a:r>
            <a:r>
              <a:rPr lang="el-GR" altLang="zh-TW" sz="2600" dirty="0" smtClean="0"/>
              <a:t>β</a:t>
            </a:r>
            <a:r>
              <a:rPr lang="en-US" altLang="zh-TW" sz="2600" dirty="0" smtClean="0"/>
              <a:t>  Coefficient</a:t>
            </a:r>
          </a:p>
          <a:p>
            <a:r>
              <a:rPr lang="en-US" altLang="zh-TW" sz="2600" dirty="0" smtClean="0"/>
              <a:t>I</a:t>
            </a:r>
            <a:r>
              <a:rPr lang="en-US" altLang="zh-TW" sz="2600" baseline="-25000" dirty="0" smtClean="0"/>
              <a:t>i3</a:t>
            </a:r>
            <a:r>
              <a:rPr lang="en-US" altLang="zh-TW" sz="2600" dirty="0" smtClean="0"/>
              <a:t> : Sharp Index</a:t>
            </a:r>
            <a:endParaRPr lang="zh-TW" altLang="en-US" sz="2600" baseline="-25000" dirty="0" smtClean="0"/>
          </a:p>
          <a:p>
            <a:endParaRPr lang="zh-TW" altLang="en-US" dirty="0"/>
          </a:p>
        </p:txBody>
      </p:sp>
    </p:spTree>
    <p:extLst>
      <p:ext uri="{BB962C8B-B14F-4D97-AF65-F5344CB8AC3E}">
        <p14:creationId xmlns:p14="http://schemas.microsoft.com/office/powerpoint/2010/main" val="27727089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8176"/>
            <a:ext cx="5400600" cy="6657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93044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實驗資料</a:t>
            </a:r>
            <a:endParaRPr lang="zh-TW" altLang="en-US" dirty="0"/>
          </a:p>
        </p:txBody>
      </p:sp>
      <p:sp>
        <p:nvSpPr>
          <p:cNvPr id="3" name="內容版面配置區 2"/>
          <p:cNvSpPr>
            <a:spLocks noGrp="1"/>
          </p:cNvSpPr>
          <p:nvPr>
            <p:ph idx="1"/>
          </p:nvPr>
        </p:nvSpPr>
        <p:spPr>
          <a:xfrm>
            <a:off x="457200" y="1412776"/>
            <a:ext cx="8229600" cy="4525963"/>
          </a:xfrm>
        </p:spPr>
        <p:txBody>
          <a:bodyPr/>
          <a:lstStyle/>
          <a:p>
            <a:r>
              <a:rPr lang="zh-TW" altLang="en-US" dirty="0" smtClean="0"/>
              <a:t>資料：台灣中型</a:t>
            </a:r>
            <a:r>
              <a:rPr lang="en-US" altLang="zh-TW" dirty="0" smtClean="0"/>
              <a:t>100</a:t>
            </a:r>
            <a:r>
              <a:rPr lang="zh-TW" altLang="en-US" dirty="0" smtClean="0"/>
              <a:t>指數成分股</a:t>
            </a:r>
            <a:r>
              <a:rPr lang="zh-TW" altLang="el-GR" dirty="0" smtClean="0">
                <a:latin typeface="新細明體"/>
                <a:ea typeface="新細明體"/>
              </a:rPr>
              <a:t>、</a:t>
            </a:r>
            <a:r>
              <a:rPr lang="zh-TW" altLang="en-US" dirty="0" smtClean="0">
                <a:latin typeface="新細明體"/>
                <a:ea typeface="新細明體"/>
              </a:rPr>
              <a:t>台灣五十成分股及產業主題股。</a:t>
            </a:r>
            <a:endParaRPr lang="en-US" altLang="zh-TW" dirty="0" smtClean="0">
              <a:latin typeface="新細明體"/>
              <a:ea typeface="新細明體"/>
            </a:endParaRPr>
          </a:p>
          <a:p>
            <a:r>
              <a:rPr lang="zh-TW" altLang="en-US" dirty="0">
                <a:latin typeface="新細明體"/>
                <a:ea typeface="新細明體"/>
              </a:rPr>
              <a:t>時間</a:t>
            </a:r>
            <a:r>
              <a:rPr lang="zh-TW" altLang="en-US" dirty="0" smtClean="0">
                <a:latin typeface="新細明體"/>
                <a:ea typeface="新細明體"/>
              </a:rPr>
              <a:t>：</a:t>
            </a:r>
            <a:r>
              <a:rPr lang="en-US" altLang="zh-TW" dirty="0" smtClean="0">
                <a:latin typeface="新細明體"/>
                <a:ea typeface="新細明體"/>
              </a:rPr>
              <a:t>2008</a:t>
            </a:r>
            <a:r>
              <a:rPr lang="zh-TW" altLang="en-US" dirty="0" smtClean="0">
                <a:latin typeface="新細明體"/>
                <a:ea typeface="新細明體"/>
              </a:rPr>
              <a:t>年</a:t>
            </a:r>
            <a:r>
              <a:rPr lang="en-US" altLang="zh-TW" dirty="0" smtClean="0">
                <a:latin typeface="新細明體"/>
                <a:ea typeface="新細明體"/>
              </a:rPr>
              <a:t>1</a:t>
            </a:r>
            <a:r>
              <a:rPr lang="zh-TW" altLang="en-US" dirty="0" smtClean="0">
                <a:latin typeface="新細明體"/>
                <a:ea typeface="新細明體"/>
              </a:rPr>
              <a:t>月</a:t>
            </a:r>
            <a:r>
              <a:rPr lang="en-US" altLang="zh-TW" dirty="0" smtClean="0">
                <a:latin typeface="新細明體"/>
                <a:ea typeface="新細明體"/>
              </a:rPr>
              <a:t>1</a:t>
            </a:r>
            <a:r>
              <a:rPr lang="zh-TW" altLang="en-US" dirty="0" smtClean="0">
                <a:latin typeface="新細明體"/>
                <a:ea typeface="新細明體"/>
              </a:rPr>
              <a:t>日</a:t>
            </a:r>
            <a:r>
              <a:rPr lang="en-US" altLang="zh-TW" dirty="0" smtClean="0">
                <a:latin typeface="新細明體"/>
                <a:ea typeface="新細明體"/>
              </a:rPr>
              <a:t>~2010</a:t>
            </a:r>
            <a:r>
              <a:rPr lang="zh-TW" altLang="en-US" dirty="0" smtClean="0">
                <a:latin typeface="新細明體"/>
                <a:ea typeface="新細明體"/>
              </a:rPr>
              <a:t>年</a:t>
            </a:r>
            <a:r>
              <a:rPr lang="en-US" altLang="zh-TW" dirty="0" smtClean="0">
                <a:latin typeface="新細明體"/>
                <a:ea typeface="新細明體"/>
              </a:rPr>
              <a:t>3</a:t>
            </a:r>
            <a:r>
              <a:rPr lang="zh-TW" altLang="en-US" dirty="0" smtClean="0">
                <a:latin typeface="新細明體"/>
                <a:ea typeface="新細明體"/>
              </a:rPr>
              <a:t>月</a:t>
            </a:r>
            <a:r>
              <a:rPr lang="en-US" altLang="zh-TW" dirty="0" smtClean="0">
                <a:latin typeface="新細明體"/>
                <a:ea typeface="新細明體"/>
              </a:rPr>
              <a:t>31</a:t>
            </a:r>
            <a:r>
              <a:rPr lang="zh-TW" altLang="en-US" dirty="0" smtClean="0">
                <a:latin typeface="新細明體"/>
                <a:ea typeface="新細明體"/>
              </a:rPr>
              <a:t>日</a:t>
            </a:r>
            <a:endParaRPr lang="zh-TW" alt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0484" y="3068960"/>
            <a:ext cx="6143844" cy="3832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13116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假設與限制</a:t>
            </a:r>
            <a:endParaRPr lang="zh-TW" altLang="en-US" dirty="0"/>
          </a:p>
        </p:txBody>
      </p:sp>
      <p:sp>
        <p:nvSpPr>
          <p:cNvPr id="3" name="內容版面配置區 2"/>
          <p:cNvSpPr>
            <a:spLocks noGrp="1"/>
          </p:cNvSpPr>
          <p:nvPr>
            <p:ph idx="1"/>
          </p:nvPr>
        </p:nvSpPr>
        <p:spPr/>
        <p:txBody>
          <a:bodyPr/>
          <a:lstStyle/>
          <a:p>
            <a:r>
              <a:rPr lang="zh-TW" altLang="en-US" dirty="0" smtClean="0"/>
              <a:t>投資任一上市公司股票之股份總額不得超過該公司已發行股份總數之百分之十</a:t>
            </a:r>
            <a:endParaRPr lang="en-US" altLang="zh-TW" dirty="0" smtClean="0"/>
          </a:p>
          <a:p>
            <a:endParaRPr lang="en-US" altLang="zh-TW" dirty="0" smtClean="0"/>
          </a:p>
          <a:p>
            <a:r>
              <a:rPr lang="zh-TW" altLang="en-US" dirty="0" smtClean="0"/>
              <a:t>核心資產必須大於等於</a:t>
            </a:r>
            <a:r>
              <a:rPr lang="en-US" altLang="zh-TW" dirty="0" smtClean="0"/>
              <a:t>70%</a:t>
            </a:r>
          </a:p>
          <a:p>
            <a:endParaRPr lang="en-US" altLang="zh-TW" dirty="0" smtClean="0"/>
          </a:p>
          <a:p>
            <a:r>
              <a:rPr lang="zh-TW" altLang="en-US" dirty="0" smtClean="0"/>
              <a:t>不</a:t>
            </a:r>
            <a:r>
              <a:rPr lang="zh-TW" altLang="en-US" dirty="0"/>
              <a:t>考慮交易成本</a:t>
            </a:r>
          </a:p>
        </p:txBody>
      </p:sp>
    </p:spTree>
    <p:extLst>
      <p:ext uri="{BB962C8B-B14F-4D97-AF65-F5344CB8AC3E}">
        <p14:creationId xmlns:p14="http://schemas.microsoft.com/office/powerpoint/2010/main" val="39725685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實驗設計</a:t>
            </a:r>
            <a:endParaRPr lang="zh-TW" altLang="en-US" dirty="0"/>
          </a:p>
        </p:txBody>
      </p:sp>
      <p:sp>
        <p:nvSpPr>
          <p:cNvPr id="3" name="內容版面配置區 2"/>
          <p:cNvSpPr>
            <a:spLocks noGrp="1"/>
          </p:cNvSpPr>
          <p:nvPr>
            <p:ph idx="1"/>
          </p:nvPr>
        </p:nvSpPr>
        <p:spPr/>
        <p:txBody>
          <a:bodyPr>
            <a:normAutofit fontScale="92500" lnSpcReduction="10000"/>
          </a:bodyPr>
          <a:lstStyle/>
          <a:p>
            <a:r>
              <a:rPr lang="zh-TW" altLang="en-US" dirty="0" smtClean="0"/>
              <a:t>實驗一：投資人以追求穩定收益為目標</a:t>
            </a:r>
            <a:r>
              <a:rPr lang="zh-TW" altLang="en-US" dirty="0" smtClean="0">
                <a:latin typeface="新細明體"/>
                <a:ea typeface="新細明體"/>
              </a:rPr>
              <a:t>，核心資產適應值權重 </a:t>
            </a:r>
            <a:r>
              <a:rPr lang="en-US" altLang="zh-TW" dirty="0" smtClean="0">
                <a:latin typeface="新細明體"/>
                <a:ea typeface="新細明體"/>
              </a:rPr>
              <a:t>W</a:t>
            </a:r>
            <a:r>
              <a:rPr lang="en-US" altLang="zh-TW" baseline="-25000" dirty="0" smtClean="0">
                <a:latin typeface="新細明體"/>
                <a:ea typeface="新細明體"/>
              </a:rPr>
              <a:t>0 </a:t>
            </a:r>
            <a:r>
              <a:rPr lang="en-US" altLang="zh-TW" dirty="0" smtClean="0">
                <a:latin typeface="新細明體"/>
                <a:ea typeface="新細明體"/>
              </a:rPr>
              <a:t>= 0.2</a:t>
            </a:r>
            <a:r>
              <a:rPr lang="zh-TW" altLang="en-US" dirty="0" smtClean="0">
                <a:latin typeface="新細明體"/>
                <a:ea typeface="新細明體"/>
              </a:rPr>
              <a:t> 、</a:t>
            </a:r>
            <a:r>
              <a:rPr lang="en-US" altLang="zh-TW" dirty="0" smtClean="0">
                <a:latin typeface="新細明體"/>
                <a:ea typeface="新細明體"/>
              </a:rPr>
              <a:t>W</a:t>
            </a:r>
            <a:r>
              <a:rPr lang="en-US" altLang="zh-TW" baseline="-25000" dirty="0" smtClean="0">
                <a:latin typeface="新細明體"/>
                <a:ea typeface="新細明體"/>
              </a:rPr>
              <a:t>1</a:t>
            </a:r>
            <a:r>
              <a:rPr lang="en-US" altLang="zh-TW" dirty="0" smtClean="0">
                <a:latin typeface="新細明體"/>
                <a:ea typeface="新細明體"/>
              </a:rPr>
              <a:t> = 0.8</a:t>
            </a:r>
          </a:p>
          <a:p>
            <a:pPr marL="0" indent="0">
              <a:buNone/>
            </a:pPr>
            <a:r>
              <a:rPr lang="zh-TW" altLang="en-US" dirty="0" smtClean="0">
                <a:latin typeface="新細明體"/>
                <a:ea typeface="新細明體"/>
              </a:rPr>
              <a:t>   衛星資產</a:t>
            </a:r>
            <a:r>
              <a:rPr lang="zh-TW" altLang="en-US" dirty="0">
                <a:latin typeface="新細明體"/>
              </a:rPr>
              <a:t>適應值權</a:t>
            </a:r>
            <a:r>
              <a:rPr lang="zh-TW" altLang="en-US" dirty="0" smtClean="0">
                <a:latin typeface="新細明體"/>
              </a:rPr>
              <a:t>重 </a:t>
            </a:r>
            <a:r>
              <a:rPr lang="en-US" altLang="zh-TW" dirty="0">
                <a:latin typeface="新細明體"/>
              </a:rPr>
              <a:t>W</a:t>
            </a:r>
            <a:r>
              <a:rPr lang="en-US" altLang="zh-TW" baseline="-25000" dirty="0">
                <a:latin typeface="新細明體"/>
              </a:rPr>
              <a:t>0 </a:t>
            </a:r>
            <a:r>
              <a:rPr lang="en-US" altLang="zh-TW" dirty="0">
                <a:latin typeface="新細明體"/>
              </a:rPr>
              <a:t>= </a:t>
            </a:r>
            <a:r>
              <a:rPr lang="en-US" altLang="zh-TW" dirty="0" smtClean="0">
                <a:latin typeface="新細明體"/>
              </a:rPr>
              <a:t>0.8</a:t>
            </a:r>
            <a:r>
              <a:rPr lang="zh-TW" altLang="en-US" dirty="0" smtClean="0">
                <a:latin typeface="新細明體"/>
              </a:rPr>
              <a:t> 、</a:t>
            </a:r>
            <a:r>
              <a:rPr lang="en-US" altLang="zh-TW" dirty="0">
                <a:latin typeface="新細明體"/>
              </a:rPr>
              <a:t>W</a:t>
            </a:r>
            <a:r>
              <a:rPr lang="en-US" altLang="zh-TW" baseline="-25000" dirty="0">
                <a:latin typeface="新細明體"/>
              </a:rPr>
              <a:t>1</a:t>
            </a:r>
            <a:r>
              <a:rPr lang="en-US" altLang="zh-TW" dirty="0">
                <a:latin typeface="新細明體"/>
              </a:rPr>
              <a:t> = </a:t>
            </a:r>
            <a:r>
              <a:rPr lang="en-US" altLang="zh-TW" dirty="0" smtClean="0">
                <a:latin typeface="新細明體"/>
              </a:rPr>
              <a:t>0.2</a:t>
            </a:r>
            <a:endParaRPr lang="en-US" altLang="zh-TW" dirty="0" smtClean="0">
              <a:latin typeface="新細明體"/>
              <a:ea typeface="新細明體"/>
            </a:endParaRPr>
          </a:p>
          <a:p>
            <a:r>
              <a:rPr lang="zh-TW" altLang="en-US" dirty="0">
                <a:latin typeface="新細明體"/>
                <a:ea typeface="新細明體"/>
              </a:rPr>
              <a:t>實驗</a:t>
            </a:r>
            <a:r>
              <a:rPr lang="zh-TW" altLang="en-US" dirty="0" smtClean="0">
                <a:latin typeface="新細明體"/>
                <a:ea typeface="新細明體"/>
              </a:rPr>
              <a:t>二：投資人以追求兼顧資本及固定收益為目標，</a:t>
            </a:r>
            <a:r>
              <a:rPr lang="zh-TW" altLang="en-US" dirty="0" smtClean="0">
                <a:latin typeface="新細明體"/>
              </a:rPr>
              <a:t>核心資產與</a:t>
            </a:r>
            <a:r>
              <a:rPr lang="zh-TW" altLang="en-US" dirty="0" smtClean="0">
                <a:latin typeface="新細明體"/>
              </a:rPr>
              <a:t>衛星資產的</a:t>
            </a:r>
            <a:r>
              <a:rPr lang="zh-TW" altLang="en-US" dirty="0" smtClean="0">
                <a:latin typeface="新細明體"/>
              </a:rPr>
              <a:t>適應值權重皆為</a:t>
            </a:r>
            <a:r>
              <a:rPr lang="en-US" altLang="zh-TW" dirty="0" smtClean="0">
                <a:latin typeface="新細明體"/>
              </a:rPr>
              <a:t>W</a:t>
            </a:r>
            <a:r>
              <a:rPr lang="en-US" altLang="zh-TW" baseline="-25000" dirty="0" smtClean="0">
                <a:latin typeface="新細明體"/>
              </a:rPr>
              <a:t>0 </a:t>
            </a:r>
            <a:r>
              <a:rPr lang="en-US" altLang="zh-TW" dirty="0" smtClean="0">
                <a:latin typeface="新細明體"/>
              </a:rPr>
              <a:t>= 0.5</a:t>
            </a:r>
            <a:r>
              <a:rPr lang="zh-TW" altLang="en-US" dirty="0" smtClean="0">
                <a:latin typeface="新細明體"/>
              </a:rPr>
              <a:t> 、</a:t>
            </a:r>
            <a:r>
              <a:rPr lang="en-US" altLang="zh-TW" dirty="0" smtClean="0">
                <a:latin typeface="新細明體"/>
              </a:rPr>
              <a:t>W</a:t>
            </a:r>
            <a:r>
              <a:rPr lang="en-US" altLang="zh-TW" baseline="-25000" dirty="0" smtClean="0">
                <a:latin typeface="新細明體"/>
              </a:rPr>
              <a:t>1</a:t>
            </a:r>
            <a:r>
              <a:rPr lang="en-US" altLang="zh-TW" dirty="0" smtClean="0">
                <a:latin typeface="新細明體"/>
              </a:rPr>
              <a:t> = 0.5</a:t>
            </a:r>
            <a:endParaRPr lang="en-US" altLang="zh-TW" dirty="0" smtClean="0">
              <a:latin typeface="新細明體"/>
              <a:ea typeface="新細明體"/>
            </a:endParaRPr>
          </a:p>
          <a:p>
            <a:r>
              <a:rPr lang="zh-TW" altLang="en-US" dirty="0" smtClean="0"/>
              <a:t>實驗三：追求最大資本利得</a:t>
            </a:r>
            <a:endParaRPr lang="en-US" altLang="zh-TW" dirty="0" smtClean="0"/>
          </a:p>
          <a:p>
            <a:pPr marL="0" indent="0">
              <a:buNone/>
            </a:pPr>
            <a:r>
              <a:rPr lang="zh-TW" altLang="en-US" dirty="0" smtClean="0">
                <a:latin typeface="新細明體"/>
              </a:rPr>
              <a:t>    核心</a:t>
            </a:r>
            <a:r>
              <a:rPr lang="zh-TW" altLang="en-US" dirty="0">
                <a:latin typeface="新細明體"/>
              </a:rPr>
              <a:t>資產適應值權重 </a:t>
            </a:r>
            <a:r>
              <a:rPr lang="en-US" altLang="zh-TW" dirty="0">
                <a:latin typeface="新細明體"/>
              </a:rPr>
              <a:t>W</a:t>
            </a:r>
            <a:r>
              <a:rPr lang="en-US" altLang="zh-TW" baseline="-25000" dirty="0">
                <a:latin typeface="新細明體"/>
              </a:rPr>
              <a:t>0 </a:t>
            </a:r>
            <a:r>
              <a:rPr lang="en-US" altLang="zh-TW" dirty="0">
                <a:latin typeface="新細明體"/>
              </a:rPr>
              <a:t>= </a:t>
            </a:r>
            <a:r>
              <a:rPr lang="en-US" altLang="zh-TW" dirty="0" smtClean="0">
                <a:latin typeface="新細明體"/>
              </a:rPr>
              <a:t>0.8</a:t>
            </a:r>
            <a:r>
              <a:rPr lang="zh-TW" altLang="en-US" dirty="0" smtClean="0">
                <a:latin typeface="新細明體"/>
              </a:rPr>
              <a:t> </a:t>
            </a:r>
            <a:r>
              <a:rPr lang="zh-TW" altLang="en-US" dirty="0">
                <a:latin typeface="新細明體"/>
              </a:rPr>
              <a:t>、</a:t>
            </a:r>
            <a:r>
              <a:rPr lang="en-US" altLang="zh-TW" dirty="0">
                <a:latin typeface="新細明體"/>
              </a:rPr>
              <a:t>W</a:t>
            </a:r>
            <a:r>
              <a:rPr lang="en-US" altLang="zh-TW" baseline="-25000" dirty="0">
                <a:latin typeface="新細明體"/>
              </a:rPr>
              <a:t>1</a:t>
            </a:r>
            <a:r>
              <a:rPr lang="en-US" altLang="zh-TW" dirty="0">
                <a:latin typeface="新細明體"/>
              </a:rPr>
              <a:t> = </a:t>
            </a:r>
            <a:r>
              <a:rPr lang="en-US" altLang="zh-TW" dirty="0" smtClean="0">
                <a:latin typeface="新細明體"/>
              </a:rPr>
              <a:t>0.2</a:t>
            </a:r>
            <a:endParaRPr lang="en-US" altLang="zh-TW" dirty="0">
              <a:latin typeface="新細明體"/>
            </a:endParaRPr>
          </a:p>
          <a:p>
            <a:pPr marL="0" indent="0">
              <a:buNone/>
            </a:pPr>
            <a:r>
              <a:rPr lang="zh-TW" altLang="en-US" dirty="0">
                <a:latin typeface="新細明體"/>
              </a:rPr>
              <a:t>   </a:t>
            </a:r>
            <a:r>
              <a:rPr lang="zh-TW" altLang="en-US" dirty="0" smtClean="0">
                <a:latin typeface="新細明體"/>
              </a:rPr>
              <a:t> 衛星</a:t>
            </a:r>
            <a:r>
              <a:rPr lang="zh-TW" altLang="en-US" dirty="0">
                <a:latin typeface="新細明體"/>
              </a:rPr>
              <a:t>資產</a:t>
            </a:r>
            <a:r>
              <a:rPr lang="zh-TW" altLang="en-US" dirty="0" smtClean="0">
                <a:latin typeface="新細明體"/>
              </a:rPr>
              <a:t>適應值權重 </a:t>
            </a:r>
            <a:r>
              <a:rPr lang="en-US" altLang="zh-TW" dirty="0" smtClean="0">
                <a:latin typeface="新細明體"/>
              </a:rPr>
              <a:t>W</a:t>
            </a:r>
            <a:r>
              <a:rPr lang="en-US" altLang="zh-TW" baseline="-25000" dirty="0" smtClean="0">
                <a:latin typeface="新細明體"/>
              </a:rPr>
              <a:t>0 </a:t>
            </a:r>
            <a:r>
              <a:rPr lang="en-US" altLang="zh-TW" dirty="0" smtClean="0">
                <a:latin typeface="新細明體"/>
              </a:rPr>
              <a:t>= 0.2</a:t>
            </a:r>
            <a:r>
              <a:rPr lang="zh-TW" altLang="en-US" dirty="0" smtClean="0">
                <a:latin typeface="新細明體"/>
              </a:rPr>
              <a:t> 、</a:t>
            </a:r>
            <a:r>
              <a:rPr lang="en-US" altLang="zh-TW" dirty="0" smtClean="0">
                <a:latin typeface="新細明體"/>
              </a:rPr>
              <a:t>W</a:t>
            </a:r>
            <a:r>
              <a:rPr lang="en-US" altLang="zh-TW" baseline="-25000" dirty="0" smtClean="0">
                <a:latin typeface="新細明體"/>
              </a:rPr>
              <a:t>1</a:t>
            </a:r>
            <a:r>
              <a:rPr lang="en-US" altLang="zh-TW" dirty="0" smtClean="0">
                <a:latin typeface="新細明體"/>
              </a:rPr>
              <a:t> = 0.8</a:t>
            </a:r>
            <a:endParaRPr lang="en-US" altLang="zh-TW" dirty="0">
              <a:latin typeface="新細明體"/>
            </a:endParaRPr>
          </a:p>
        </p:txBody>
      </p:sp>
    </p:spTree>
    <p:extLst>
      <p:ext uri="{BB962C8B-B14F-4D97-AF65-F5344CB8AC3E}">
        <p14:creationId xmlns:p14="http://schemas.microsoft.com/office/powerpoint/2010/main" val="26518516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6" y="441406"/>
            <a:ext cx="4580715" cy="2843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3717032"/>
            <a:ext cx="4574509" cy="2831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9180" y="402022"/>
            <a:ext cx="4867356" cy="3026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95467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dirty="0"/>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657403"/>
            <a:ext cx="2901125" cy="3096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2239" y="1570116"/>
            <a:ext cx="2880320" cy="3227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2559" y="1574562"/>
            <a:ext cx="2757913" cy="3179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26760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547051"/>
            <a:ext cx="4230134" cy="2595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3464033"/>
            <a:ext cx="4230134" cy="2602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8" y="548679"/>
            <a:ext cx="4248472" cy="2614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92903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1139</TotalTime>
  <Words>616</Words>
  <Application>Microsoft Office PowerPoint</Application>
  <PresentationFormat>如螢幕大小 (4:3)</PresentationFormat>
  <Paragraphs>51</Paragraphs>
  <Slides>16</Slides>
  <Notes>0</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16</vt:i4>
      </vt:variant>
    </vt:vector>
  </HeadingPairs>
  <TitlesOfParts>
    <vt:vector size="18" baseType="lpstr">
      <vt:lpstr>Office 佈景主題</vt:lpstr>
      <vt:lpstr>Microsoft 方程式編輯器 3.0</vt:lpstr>
      <vt:lpstr>共演化機制在動態資產配置模型建構之研究</vt:lpstr>
      <vt:lpstr>Abstract</vt:lpstr>
      <vt:lpstr>PowerPoint 簡報</vt:lpstr>
      <vt:lpstr>PowerPoint 簡報</vt:lpstr>
      <vt:lpstr>資產配置模組</vt:lpstr>
      <vt:lpstr>選股模組</vt:lpstr>
      <vt:lpstr>PowerPoint 簡報</vt:lpstr>
      <vt:lpstr>資金配置模組</vt:lpstr>
      <vt:lpstr>Fitness function</vt:lpstr>
      <vt:lpstr>PowerPoint 簡報</vt:lpstr>
      <vt:lpstr>實驗資料</vt:lpstr>
      <vt:lpstr>假設與限制</vt:lpstr>
      <vt:lpstr>實驗設計</vt:lpstr>
      <vt:lpstr>PowerPoint 簡報</vt:lpstr>
      <vt:lpstr>PowerPoint 簡報</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共演化機制在動態資產配置模型建構之研究</dc:title>
  <dc:creator>HCH</dc:creator>
  <cp:lastModifiedBy>HCH</cp:lastModifiedBy>
  <cp:revision>21</cp:revision>
  <dcterms:created xsi:type="dcterms:W3CDTF">2011-11-20T15:34:51Z</dcterms:created>
  <dcterms:modified xsi:type="dcterms:W3CDTF">2011-11-21T10:34:49Z</dcterms:modified>
</cp:coreProperties>
</file>