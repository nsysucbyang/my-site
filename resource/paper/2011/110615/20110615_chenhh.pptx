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doc" ContentType="application/msword"/>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sldIdLst>
    <p:sldId id="257" r:id="rId2"/>
    <p:sldId id="256" r:id="rId3"/>
    <p:sldId id="258" r:id="rId4"/>
    <p:sldId id="265" r:id="rId5"/>
    <p:sldId id="266" r:id="rId6"/>
    <p:sldId id="267" r:id="rId7"/>
    <p:sldId id="268" r:id="rId8"/>
    <p:sldId id="285" r:id="rId9"/>
    <p:sldId id="286" r:id="rId10"/>
    <p:sldId id="287" r:id="rId11"/>
    <p:sldId id="260" r:id="rId12"/>
    <p:sldId id="289" r:id="rId13"/>
    <p:sldId id="261" r:id="rId14"/>
    <p:sldId id="277" r:id="rId15"/>
    <p:sldId id="278" r:id="rId16"/>
    <p:sldId id="279" r:id="rId17"/>
    <p:sldId id="280" r:id="rId18"/>
    <p:sldId id="290" r:id="rId19"/>
    <p:sldId id="262" r:id="rId20"/>
    <p:sldId id="263" r:id="rId21"/>
    <p:sldId id="288" r:id="rId22"/>
    <p:sldId id="271" r:id="rId23"/>
    <p:sldId id="291" r:id="rId24"/>
    <p:sldId id="269" r:id="rId25"/>
    <p:sldId id="272" r:id="rId26"/>
    <p:sldId id="270" r:id="rId27"/>
    <p:sldId id="273" r:id="rId28"/>
    <p:sldId id="281" r:id="rId29"/>
    <p:sldId id="284" r:id="rId3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95" autoAdjust="0"/>
  </p:normalViewPr>
  <p:slideViewPr>
    <p:cSldViewPr>
      <p:cViewPr varScale="1">
        <p:scale>
          <a:sx n="85" d="100"/>
          <a:sy n="85" d="100"/>
        </p:scale>
        <p:origin x="-71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B1E744-3270-439B-983B-7828FB7A86D7}" type="datetimeFigureOut">
              <a:rPr lang="zh-TW" altLang="en-US" smtClean="0"/>
              <a:pPr/>
              <a:t>2011/6/15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82EDC32-6CE7-402B-9304-9F6FE0B2B826}"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E1A4BE5-4F47-4CA8-A5A6-1F9224BED969}" type="datetime1">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FDEFBCD-05C6-493F-9208-274781BB43B1}" type="datetime1">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710185C-DB5C-4E95-A537-4CD412A7CD88}" type="datetime1">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F47DEF3-CB73-40AA-A2EB-25902848ECDA}" type="datetime1">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391B758-601D-4933-AC47-0DDBCBB0A0E0}" type="datetime1">
              <a:rPr lang="zh-TW" altLang="en-US" smtClean="0"/>
              <a:pPr/>
              <a:t>2011/6/15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681AE65-B908-4878-A9D6-DC7E4BF6EE01}" type="datetime1">
              <a:rPr lang="zh-TW" altLang="en-US" smtClean="0"/>
              <a:pPr/>
              <a:t>2011/6/15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D065827-8E92-4CDF-A104-1FE1B4817D7A}" type="datetime1">
              <a:rPr lang="zh-TW" altLang="en-US" smtClean="0"/>
              <a:pPr/>
              <a:t>2011/6/15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B225C67-0938-4369-8E76-D6CDED64532A}" type="datetime1">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60ED52E-D02A-481D-B4BE-FF5483CD7BF6}" type="datetime1">
              <a:rPr lang="zh-TW" altLang="en-US" smtClean="0"/>
              <a:pPr/>
              <a:t>2011/6/15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CFE00C3-6B4B-4C2F-BA7F-8764ECFBA59F}" type="datetime1">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EAC0C13-39FB-417C-8BA7-141F646FA435}" type="datetime1">
              <a:rPr lang="zh-TW" altLang="en-US" smtClean="0"/>
              <a:pPr/>
              <a:t>2011/6/15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58685C2-6A2E-4873-8297-09AE79A8BE05}"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42E02F-D37C-45DD-B0BE-B1FB1B058CB2}" type="datetime1">
              <a:rPr lang="zh-TW" altLang="en-US" smtClean="0"/>
              <a:pPr/>
              <a:t>2011/6/15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8685C2-6A2E-4873-8297-09AE79A8BE05}"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rn.com/abstract=1314585"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Office_Word_97_-_2003___1.doc"/><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9.xml.rels><?xml version="1.0" encoding="UTF-8" standalone="yes"?>
<Relationships xmlns="http://schemas.openxmlformats.org/package/2006/relationships"><Relationship Id="rId3" Type="http://schemas.openxmlformats.org/officeDocument/2006/relationships/oleObject" Target="../embeddings/Microsoft_Office_Word_97_-_2003___2.doc"/><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Microsoft_Office_Word_97_-_2003___3.doc"/></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Office_Word_97_-_2003___4.doc"/><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oleObject" Target="../embeddings/Microsoft_Office_Word_97_-_2003___5.doc"/></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7.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8.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11.v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2.v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13.v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6.xml"/><Relationship Id="rId1" Type="http://schemas.openxmlformats.org/officeDocument/2006/relationships/vmlDrawing" Target="../drawings/vmlDrawing14.vml"/><Relationship Id="rId4" Type="http://schemas.openxmlformats.org/officeDocument/2006/relationships/oleObject" Target="../embeddings/oleObject18.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oleObject" Target="../embeddings/oleObject20.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oleObject" Target="../embeddings/oleObject22.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6.xml"/><Relationship Id="rId1" Type="http://schemas.openxmlformats.org/officeDocument/2006/relationships/vmlDrawing" Target="../drawings/vmlDrawing17.vml"/><Relationship Id="rId4" Type="http://schemas.openxmlformats.org/officeDocument/2006/relationships/oleObject" Target="../embeddings/oleObject24.bin"/></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504" y="188640"/>
            <a:ext cx="8784976" cy="1470025"/>
          </a:xfrm>
        </p:spPr>
        <p:txBody>
          <a:bodyPr>
            <a:normAutofit/>
          </a:bodyPr>
          <a:lstStyle/>
          <a:p>
            <a:r>
              <a:rPr lang="en-US" altLang="zh-TW" dirty="0" smtClean="0"/>
              <a:t>The Black-</a:t>
            </a:r>
            <a:r>
              <a:rPr lang="en-US" altLang="zh-TW" dirty="0" err="1" smtClean="0"/>
              <a:t>Litterman</a:t>
            </a:r>
            <a:r>
              <a:rPr lang="en-US" altLang="zh-TW" dirty="0" smtClean="0"/>
              <a:t> Model in Detail</a:t>
            </a:r>
            <a:endParaRPr lang="zh-TW" altLang="en-US" dirty="0"/>
          </a:p>
        </p:txBody>
      </p:sp>
      <p:sp>
        <p:nvSpPr>
          <p:cNvPr id="3" name="副標題 2"/>
          <p:cNvSpPr>
            <a:spLocks noGrp="1"/>
          </p:cNvSpPr>
          <p:nvPr>
            <p:ph type="subTitle" idx="1"/>
          </p:nvPr>
        </p:nvSpPr>
        <p:spPr>
          <a:xfrm>
            <a:off x="251520" y="1700808"/>
            <a:ext cx="8640960" cy="1152128"/>
          </a:xfrm>
        </p:spPr>
        <p:txBody>
          <a:bodyPr/>
          <a:lstStyle/>
          <a:p>
            <a:r>
              <a:rPr lang="en-US" altLang="zh-TW" dirty="0" smtClean="0"/>
              <a:t>Jay Walters</a:t>
            </a:r>
            <a:endParaRPr lang="zh-TW" altLang="en-US" dirty="0"/>
          </a:p>
        </p:txBody>
      </p:sp>
      <p:sp>
        <p:nvSpPr>
          <p:cNvPr id="4" name="矩形 3"/>
          <p:cNvSpPr/>
          <p:nvPr/>
        </p:nvSpPr>
        <p:spPr>
          <a:xfrm>
            <a:off x="611560" y="2636912"/>
            <a:ext cx="8208912" cy="461665"/>
          </a:xfrm>
          <a:prstGeom prst="rect">
            <a:avLst/>
          </a:prstGeom>
        </p:spPr>
        <p:txBody>
          <a:bodyPr wrap="square">
            <a:spAutoFit/>
          </a:bodyPr>
          <a:lstStyle/>
          <a:p>
            <a:pPr algn="ctr"/>
            <a:r>
              <a:rPr lang="en-US" altLang="zh-TW" sz="2400" dirty="0" smtClean="0"/>
              <a:t>Harvard Management Company</a:t>
            </a:r>
            <a:endParaRPr lang="zh-TW" altLang="en-US" sz="2400" dirty="0"/>
          </a:p>
        </p:txBody>
      </p:sp>
      <p:sp>
        <p:nvSpPr>
          <p:cNvPr id="6" name="文字方塊 5"/>
          <p:cNvSpPr txBox="1"/>
          <p:nvPr/>
        </p:nvSpPr>
        <p:spPr>
          <a:xfrm>
            <a:off x="3347864" y="5229200"/>
            <a:ext cx="5400600" cy="954107"/>
          </a:xfrm>
          <a:prstGeom prst="rect">
            <a:avLst/>
          </a:prstGeom>
          <a:noFill/>
        </p:spPr>
        <p:txBody>
          <a:bodyPr wrap="square" rtlCol="0">
            <a:spAutoFit/>
          </a:bodyPr>
          <a:lstStyle/>
          <a:p>
            <a:r>
              <a:rPr lang="en-US" altLang="zh-TW" sz="2800" dirty="0" smtClean="0"/>
              <a:t>Presenter: Hung-</a:t>
            </a:r>
            <a:r>
              <a:rPr lang="en-US" altLang="zh-TW" sz="2800" dirty="0" err="1" smtClean="0"/>
              <a:t>Hsin</a:t>
            </a:r>
            <a:r>
              <a:rPr lang="en-US" altLang="zh-TW" sz="2800" dirty="0" smtClean="0"/>
              <a:t> Chen (</a:t>
            </a:r>
            <a:r>
              <a:rPr lang="en-US" altLang="zh-TW" sz="2800" dirty="0" err="1" smtClean="0">
                <a:latin typeface="微軟正黑體" pitchFamily="34" charset="-120"/>
                <a:ea typeface="微軟正黑體" pitchFamily="34" charset="-120"/>
              </a:rPr>
              <a:t>陳紘昕</a:t>
            </a:r>
            <a:r>
              <a:rPr lang="en-US" altLang="zh-TW" sz="2800" dirty="0" smtClean="0"/>
              <a:t>)</a:t>
            </a:r>
          </a:p>
          <a:p>
            <a:r>
              <a:rPr lang="en-US" altLang="zh-TW" sz="2800" dirty="0" smtClean="0"/>
              <a:t>Date: June 15, 2011</a:t>
            </a:r>
            <a:endParaRPr lang="zh-TW" altLang="en-US" sz="2800" dirty="0"/>
          </a:p>
        </p:txBody>
      </p:sp>
      <p:sp>
        <p:nvSpPr>
          <p:cNvPr id="7" name="矩形 6"/>
          <p:cNvSpPr/>
          <p:nvPr/>
        </p:nvSpPr>
        <p:spPr>
          <a:xfrm>
            <a:off x="251520" y="3573016"/>
            <a:ext cx="8712968" cy="830997"/>
          </a:xfrm>
          <a:prstGeom prst="rect">
            <a:avLst/>
          </a:prstGeom>
        </p:spPr>
        <p:txBody>
          <a:bodyPr wrap="square">
            <a:spAutoFit/>
          </a:bodyPr>
          <a:lstStyle/>
          <a:p>
            <a:pPr algn="ctr"/>
            <a:r>
              <a:rPr lang="en-US" altLang="zh-TW" sz="2400" dirty="0" smtClean="0"/>
              <a:t>Working paper, available at SSRN: </a:t>
            </a:r>
            <a:r>
              <a:rPr lang="en-US" altLang="zh-TW" sz="2400" dirty="0" smtClean="0">
                <a:hlinkClick r:id="rId2"/>
              </a:rPr>
              <a:t>http://ssrn.com/abstract=1314585</a:t>
            </a:r>
            <a:r>
              <a:rPr lang="en-US" altLang="zh-TW" sz="2400" dirty="0" smtClean="0"/>
              <a:t>, (February 16, 2009), 51 pages</a:t>
            </a:r>
            <a:endParaRPr lang="zh-TW" alt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Abstract</a:t>
            </a:r>
            <a:endParaRPr lang="zh-TW" altLang="en-US" dirty="0"/>
          </a:p>
        </p:txBody>
      </p:sp>
      <p:sp>
        <p:nvSpPr>
          <p:cNvPr id="6" name="文字方塊 5"/>
          <p:cNvSpPr txBox="1"/>
          <p:nvPr/>
        </p:nvSpPr>
        <p:spPr>
          <a:xfrm>
            <a:off x="395536" y="1412776"/>
            <a:ext cx="8352928" cy="4401205"/>
          </a:xfrm>
          <a:prstGeom prst="rect">
            <a:avLst/>
          </a:prstGeom>
          <a:noFill/>
        </p:spPr>
        <p:txBody>
          <a:bodyPr wrap="square" rtlCol="0">
            <a:spAutoFit/>
          </a:bodyPr>
          <a:lstStyle/>
          <a:p>
            <a:pPr algn="just"/>
            <a:r>
              <a:rPr lang="en-US" altLang="zh-TW" sz="2800" dirty="0" smtClean="0"/>
              <a:t>In this paper, we survey the literature on the Black-</a:t>
            </a:r>
            <a:r>
              <a:rPr lang="en-US" altLang="zh-TW" sz="2800" dirty="0" err="1" smtClean="0"/>
              <a:t>Litterman</a:t>
            </a:r>
            <a:r>
              <a:rPr lang="en-US" altLang="zh-TW" sz="2800" dirty="0" smtClean="0"/>
              <a:t> model. This paper provides a complete description of the model including full derivations from underlying principles. The model is derived both from </a:t>
            </a:r>
            <a:r>
              <a:rPr lang="en-US" altLang="zh-TW" sz="2800" dirty="0" err="1" smtClean="0"/>
              <a:t>Theil’s</a:t>
            </a:r>
            <a:r>
              <a:rPr lang="en-US" altLang="zh-TW" sz="2800" dirty="0" smtClean="0"/>
              <a:t> mixed Estimation model and from </a:t>
            </a:r>
            <a:r>
              <a:rPr lang="en-US" altLang="zh-TW" sz="2800" dirty="0" err="1" smtClean="0"/>
              <a:t>Baye’s</a:t>
            </a:r>
            <a:r>
              <a:rPr lang="en-US" altLang="zh-TW" sz="2800" dirty="0" smtClean="0"/>
              <a:t> Theory. The various parameters of the model are also considered, along with information on their computation or calibration. Further consideration is given to several of the key papers, with worked examples illustrating the concepts.</a:t>
            </a:r>
            <a:endParaRPr lang="zh-TW" altLang="en-US" sz="2800" dirty="0"/>
          </a:p>
        </p:txBody>
      </p:sp>
      <p:sp>
        <p:nvSpPr>
          <p:cNvPr id="5" name="投影片編號版面配置區 4"/>
          <p:cNvSpPr>
            <a:spLocks noGrp="1"/>
          </p:cNvSpPr>
          <p:nvPr>
            <p:ph type="sldNum" sz="quarter" idx="12"/>
          </p:nvPr>
        </p:nvSpPr>
        <p:spPr/>
        <p:txBody>
          <a:bodyPr/>
          <a:lstStyle/>
          <a:p>
            <a:fld id="{B58685C2-6A2E-4873-8297-09AE79A8BE0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文字方塊 2"/>
          <p:cNvSpPr txBox="1"/>
          <p:nvPr/>
        </p:nvSpPr>
        <p:spPr>
          <a:xfrm>
            <a:off x="251520" y="1556792"/>
            <a:ext cx="8640960" cy="4524315"/>
          </a:xfrm>
          <a:prstGeom prst="rect">
            <a:avLst/>
          </a:prstGeom>
          <a:noFill/>
        </p:spPr>
        <p:txBody>
          <a:bodyPr wrap="square" rtlCol="0">
            <a:spAutoFit/>
          </a:bodyPr>
          <a:lstStyle/>
          <a:p>
            <a:pPr>
              <a:buFont typeface="Arial" pitchFamily="34" charset="0"/>
              <a:buChar char="•"/>
            </a:pPr>
            <a:r>
              <a:rPr lang="en-US" altLang="zh-TW" sz="3200" dirty="0" smtClean="0"/>
              <a:t>Proposed  by Fischer Black and Robert </a:t>
            </a:r>
            <a:r>
              <a:rPr lang="en-US" altLang="zh-TW" sz="3200" dirty="0" err="1" smtClean="0"/>
              <a:t>Litterman</a:t>
            </a:r>
            <a:r>
              <a:rPr lang="en-US" altLang="zh-TW" sz="3200" dirty="0" smtClean="0"/>
              <a:t> in 1992.</a:t>
            </a:r>
          </a:p>
          <a:p>
            <a:pPr>
              <a:buFont typeface="Arial" pitchFamily="34" charset="0"/>
              <a:buChar char="•"/>
            </a:pPr>
            <a:endParaRPr lang="en-US" altLang="zh-TW" sz="3200" dirty="0" smtClean="0"/>
          </a:p>
          <a:p>
            <a:pPr>
              <a:buFont typeface="Arial" pitchFamily="34" charset="0"/>
              <a:buChar char="•"/>
            </a:pPr>
            <a:r>
              <a:rPr lang="en-US" altLang="zh-TW" sz="3200" dirty="0" smtClean="0"/>
              <a:t>The model makes two contributions to the asset allocation problem.</a:t>
            </a:r>
          </a:p>
          <a:p>
            <a:pPr marL="514350" indent="-514350">
              <a:buFont typeface="+mj-lt"/>
              <a:buAutoNum type="arabicPeriod"/>
            </a:pPr>
            <a:r>
              <a:rPr lang="en-US" altLang="zh-TW" sz="3200" dirty="0" smtClean="0">
                <a:solidFill>
                  <a:srgbClr val="00B0F0"/>
                </a:solidFill>
              </a:rPr>
              <a:t>Using CAPM equilibrium market portfolio as a starting point  for estimation of asset returns.</a:t>
            </a:r>
          </a:p>
          <a:p>
            <a:pPr marL="514350" indent="-514350">
              <a:buFont typeface="+mj-lt"/>
              <a:buAutoNum type="arabicPeriod"/>
            </a:pPr>
            <a:r>
              <a:rPr lang="en-US" altLang="zh-TW" sz="3200" dirty="0" smtClean="0">
                <a:solidFill>
                  <a:srgbClr val="00B0F0"/>
                </a:solidFill>
              </a:rPr>
              <a:t>Blending the investors view with prior information.</a:t>
            </a:r>
            <a:endParaRPr lang="zh-TW" altLang="en-US" sz="3200" dirty="0">
              <a:solidFill>
                <a:srgbClr val="00B0F0"/>
              </a:solidFill>
            </a:endParaRPr>
          </a:p>
        </p:txBody>
      </p:sp>
      <p:sp>
        <p:nvSpPr>
          <p:cNvPr id="4" name="投影片編號版面配置區 3"/>
          <p:cNvSpPr>
            <a:spLocks noGrp="1"/>
          </p:cNvSpPr>
          <p:nvPr>
            <p:ph type="sldNum" sz="quarter" idx="12"/>
          </p:nvPr>
        </p:nvSpPr>
        <p:spPr/>
        <p:txBody>
          <a:bodyPr/>
          <a:lstStyle/>
          <a:p>
            <a:fld id="{B58685C2-6A2E-4873-8297-09AE79A8BE0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標題 1"/>
          <p:cNvSpPr>
            <a:spLocks noGrp="1"/>
          </p:cNvSpPr>
          <p:nvPr>
            <p:ph type="title"/>
          </p:nvPr>
        </p:nvSpPr>
        <p:spPr/>
        <p:txBody>
          <a:bodyPr/>
          <a:lstStyle/>
          <a:p>
            <a:pPr eaLnBrk="1" hangingPunct="1"/>
            <a:r>
              <a:rPr lang="en-US" altLang="zh-TW" smtClean="0">
                <a:latin typeface="Times New Roman" pitchFamily="18" charset="0"/>
                <a:cs typeface="Times New Roman" pitchFamily="18" charset="0"/>
              </a:rPr>
              <a:t>Portfolio theory</a:t>
            </a:r>
            <a:endParaRPr lang="zh-TW" altLang="en-US" smtClean="0">
              <a:latin typeface="Times New Roman" pitchFamily="18" charset="0"/>
              <a:cs typeface="Times New Roman" pitchFamily="18" charset="0"/>
            </a:endParaRPr>
          </a:p>
        </p:txBody>
      </p:sp>
      <p:sp>
        <p:nvSpPr>
          <p:cNvPr id="17411" name="投影片編號版面配置區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782F3DA1-129E-4B18-80F7-CC3E86087A39}" type="slidenum">
              <a:rPr lang="en-US" altLang="zh-TW" smtClean="0"/>
              <a:pPr/>
              <a:t>4</a:t>
            </a:fld>
            <a:endParaRPr lang="en-US" altLang="zh-TW" smtClean="0"/>
          </a:p>
        </p:txBody>
      </p:sp>
      <p:sp>
        <p:nvSpPr>
          <p:cNvPr id="17412" name="內容版面配置區 2"/>
          <p:cNvSpPr>
            <a:spLocks noGrp="1"/>
          </p:cNvSpPr>
          <p:nvPr>
            <p:ph sz="quarter" idx="1"/>
          </p:nvPr>
        </p:nvSpPr>
        <p:spPr>
          <a:xfrm>
            <a:off x="539750" y="1341438"/>
            <a:ext cx="7416800" cy="1150937"/>
          </a:xfrm>
        </p:spPr>
        <p:txBody>
          <a:bodyPr/>
          <a:lstStyle/>
          <a:p>
            <a:pPr eaLnBrk="1" hangingPunct="1"/>
            <a:r>
              <a:rPr lang="en-US" altLang="zh-TW" sz="2800" dirty="0" smtClean="0">
                <a:solidFill>
                  <a:srgbClr val="0070C0"/>
                </a:solidFill>
                <a:latin typeface="Times New Roman" pitchFamily="18" charset="0"/>
                <a:cs typeface="Times New Roman" pitchFamily="18" charset="0"/>
              </a:rPr>
              <a:t>The definition of the risk</a:t>
            </a:r>
            <a:r>
              <a:rPr lang="en-US" altLang="zh-TW" sz="2800" dirty="0" smtClean="0">
                <a:latin typeface="Times New Roman" pitchFamily="18" charset="0"/>
                <a:cs typeface="Times New Roman" pitchFamily="18" charset="0"/>
              </a:rPr>
              <a:t>:</a:t>
            </a:r>
          </a:p>
          <a:p>
            <a:pPr lvl="1" eaLnBrk="1" hangingPunct="1"/>
            <a:r>
              <a:rPr lang="en-US" altLang="zh-TW" sz="2800" dirty="0" smtClean="0">
                <a:latin typeface="Times New Roman" pitchFamily="18" charset="0"/>
                <a:cs typeface="Times New Roman" pitchFamily="18" charset="0"/>
              </a:rPr>
              <a:t>The variance of the expected return</a:t>
            </a:r>
            <a:endParaRPr lang="zh-TW" altLang="en-US" sz="2800" dirty="0" smtClean="0">
              <a:latin typeface="Times New Roman" pitchFamily="18" charset="0"/>
              <a:cs typeface="Times New Roman" pitchFamily="18" charset="0"/>
            </a:endParaRPr>
          </a:p>
        </p:txBody>
      </p:sp>
      <p:sp>
        <p:nvSpPr>
          <p:cNvPr id="17413" name="矩形 4"/>
          <p:cNvSpPr>
            <a:spLocks noChangeArrowheads="1"/>
          </p:cNvSpPr>
          <p:nvPr/>
        </p:nvSpPr>
        <p:spPr bwMode="auto">
          <a:xfrm>
            <a:off x="251520" y="3212976"/>
            <a:ext cx="5516563" cy="1860550"/>
          </a:xfrm>
          <a:prstGeom prst="rect">
            <a:avLst/>
          </a:prstGeom>
          <a:noFill/>
          <a:ln w="9525">
            <a:noFill/>
            <a:miter lim="800000"/>
            <a:headEnd/>
            <a:tailEnd/>
          </a:ln>
        </p:spPr>
        <p:txBody>
          <a:bodyPr>
            <a:spAutoFit/>
          </a:bodyPr>
          <a:lstStyle/>
          <a:p>
            <a:pPr marL="271463" indent="-271463">
              <a:buFont typeface="Arial" charset="0"/>
              <a:buChar char="•"/>
            </a:pPr>
            <a:r>
              <a:rPr kumimoji="0" lang="en-US" altLang="zh-TW" sz="3200" dirty="0">
                <a:solidFill>
                  <a:srgbClr val="0070C0"/>
                </a:solidFill>
                <a:latin typeface="Times New Roman" pitchFamily="18" charset="0"/>
                <a:ea typeface="微軟正黑體" pitchFamily="34" charset="-120"/>
                <a:cs typeface="Times New Roman" pitchFamily="18" charset="0"/>
              </a:rPr>
              <a:t>Two main risks</a:t>
            </a:r>
            <a:r>
              <a:rPr kumimoji="0" lang="en-US" altLang="zh-TW" sz="3200" dirty="0">
                <a:latin typeface="Times New Roman" pitchFamily="18" charset="0"/>
                <a:ea typeface="微軟正黑體" pitchFamily="34" charset="-120"/>
                <a:cs typeface="Times New Roman" pitchFamily="18" charset="0"/>
              </a:rPr>
              <a:t>:</a:t>
            </a:r>
          </a:p>
          <a:p>
            <a:pPr lvl="1">
              <a:buFont typeface="Arial" charset="0"/>
              <a:buChar char="•"/>
            </a:pPr>
            <a:r>
              <a:rPr kumimoji="0" lang="en-US" altLang="zh-TW" sz="2800" dirty="0">
                <a:solidFill>
                  <a:srgbClr val="FF0000"/>
                </a:solidFill>
                <a:latin typeface="Times New Roman" pitchFamily="18" charset="0"/>
                <a:ea typeface="微軟正黑體" pitchFamily="34" charset="-120"/>
                <a:cs typeface="Times New Roman" pitchFamily="18" charset="0"/>
              </a:rPr>
              <a:t>Systematic risk</a:t>
            </a:r>
          </a:p>
          <a:p>
            <a:pPr lvl="1">
              <a:buFont typeface="Arial" charset="0"/>
              <a:buChar char="•"/>
            </a:pPr>
            <a:r>
              <a:rPr kumimoji="0" lang="en-US" altLang="zh-TW" sz="2800" dirty="0">
                <a:solidFill>
                  <a:srgbClr val="FF0000"/>
                </a:solidFill>
                <a:latin typeface="Times New Roman" pitchFamily="18" charset="0"/>
                <a:ea typeface="微軟正黑體" pitchFamily="34" charset="-120"/>
                <a:cs typeface="Times New Roman" pitchFamily="18" charset="0"/>
              </a:rPr>
              <a:t>Unsystematic risk </a:t>
            </a:r>
            <a:r>
              <a:rPr kumimoji="0" lang="en-US" altLang="zh-TW" sz="2800" dirty="0">
                <a:latin typeface="Times New Roman" pitchFamily="18" charset="0"/>
                <a:ea typeface="微軟正黑體" pitchFamily="34" charset="-120"/>
                <a:cs typeface="Times New Roman" pitchFamily="18" charset="0"/>
              </a:rPr>
              <a:t/>
            </a:r>
            <a:br>
              <a:rPr kumimoji="0" lang="en-US" altLang="zh-TW" sz="2800" dirty="0">
                <a:latin typeface="Times New Roman" pitchFamily="18" charset="0"/>
                <a:ea typeface="微軟正黑體" pitchFamily="34" charset="-120"/>
                <a:cs typeface="Times New Roman" pitchFamily="18" charset="0"/>
              </a:rPr>
            </a:br>
            <a:r>
              <a:rPr kumimoji="0" lang="en-US" altLang="zh-TW" sz="2800" dirty="0">
                <a:latin typeface="Times New Roman" pitchFamily="18" charset="0"/>
                <a:ea typeface="微軟正黑體" pitchFamily="34" charset="-120"/>
                <a:cs typeface="Times New Roman" pitchFamily="18" charset="0"/>
              </a:rPr>
              <a:t>(can be reduced by portfolio)</a:t>
            </a:r>
            <a:endParaRPr kumimoji="0" lang="zh-TW" altLang="en-US" sz="2800" dirty="0">
              <a:latin typeface="Times New Roman" pitchFamily="18" charset="0"/>
              <a:ea typeface="微軟正黑體" pitchFamily="34" charset="-120"/>
              <a:cs typeface="Times New Roman" pitchFamily="18" charset="0"/>
            </a:endParaRPr>
          </a:p>
        </p:txBody>
      </p:sp>
      <p:pic>
        <p:nvPicPr>
          <p:cNvPr id="6" name="Picture 3"/>
          <p:cNvPicPr>
            <a:picLocks noChangeAspect="1" noChangeArrowheads="1"/>
          </p:cNvPicPr>
          <p:nvPr/>
        </p:nvPicPr>
        <p:blipFill>
          <a:blip r:embed="rId2" cstate="print"/>
          <a:srcRect/>
          <a:stretch>
            <a:fillRect/>
          </a:stretch>
        </p:blipFill>
        <p:spPr bwMode="auto">
          <a:xfrm>
            <a:off x="4824206" y="2780928"/>
            <a:ext cx="4319794" cy="309632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box(in)">
                                      <p:cBhvr>
                                        <p:cTn id="7" dur="500"/>
                                        <p:tgtEl>
                                          <p:spTgt spid="174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標題 1"/>
          <p:cNvSpPr>
            <a:spLocks noGrp="1"/>
          </p:cNvSpPr>
          <p:nvPr>
            <p:ph type="title"/>
          </p:nvPr>
        </p:nvSpPr>
        <p:spPr/>
        <p:txBody>
          <a:bodyPr/>
          <a:lstStyle/>
          <a:p>
            <a:pPr eaLnBrk="1" hangingPunct="1"/>
            <a:r>
              <a:rPr lang="en-US" altLang="zh-TW" dirty="0" smtClean="0">
                <a:latin typeface="Times New Roman" pitchFamily="18" charset="0"/>
                <a:cs typeface="Times New Roman" pitchFamily="18" charset="0"/>
              </a:rPr>
              <a:t>Expected return of the portfolio</a:t>
            </a:r>
            <a:endParaRPr lang="zh-TW" altLang="en-US" dirty="0" smtClean="0">
              <a:latin typeface="Times New Roman" pitchFamily="18" charset="0"/>
              <a:cs typeface="Times New Roman" pitchFamily="18" charset="0"/>
            </a:endParaRPr>
          </a:p>
        </p:txBody>
      </p:sp>
      <p:sp>
        <p:nvSpPr>
          <p:cNvPr id="1028" name="投影片編號版面配置區 3"/>
          <p:cNvSpPr>
            <a:spLocks noGrp="1"/>
          </p:cNvSpPr>
          <p:nvPr>
            <p:ph type="sldNum" sz="quarter" idx="12"/>
          </p:nvPr>
        </p:nvSpPr>
        <p:spPr bwMode="auto">
          <a:noFill/>
          <a:ln>
            <a:miter lim="800000"/>
            <a:headEnd/>
            <a:tailEnd/>
          </a:ln>
        </p:spPr>
        <p:txBody>
          <a:bodyPr wrap="square" lIns="91440" tIns="45720" rIns="91440" bIns="45720" numCol="1" anchor="t" anchorCtr="0" compatLnSpc="1">
            <a:prstTxWarp prst="textNoShape">
              <a:avLst/>
            </a:prstTxWarp>
          </a:bodyPr>
          <a:lstStyle/>
          <a:p>
            <a:fld id="{6A6F460C-4B69-42CC-BB03-FB4C5CB58104}" type="slidenum">
              <a:rPr lang="en-US" altLang="zh-TW" smtClean="0"/>
              <a:pPr/>
              <a:t>5</a:t>
            </a:fld>
            <a:endParaRPr lang="en-US" altLang="zh-TW" smtClean="0"/>
          </a:p>
        </p:txBody>
      </p:sp>
      <p:graphicFrame>
        <p:nvGraphicFramePr>
          <p:cNvPr id="1026" name="Rectangle 2"/>
          <p:cNvGraphicFramePr>
            <a:graphicFrameLocks/>
          </p:cNvGraphicFramePr>
          <p:nvPr/>
        </p:nvGraphicFramePr>
        <p:xfrm>
          <a:off x="900113" y="1341438"/>
          <a:ext cx="6096000" cy="4064000"/>
        </p:xfrm>
        <a:graphic>
          <a:graphicData uri="http://schemas.openxmlformats.org/presentationml/2006/ole">
            <p:oleObj spid="_x0000_s1026" name="OpenOffice.org" r:id="rId3" imgW="0" imgH="0" progId="">
              <p:embed/>
            </p:oleObj>
          </a:graphicData>
        </a:graphic>
      </p:graphicFrame>
      <p:sp>
        <p:nvSpPr>
          <p:cNvPr id="12" name="矩形 11"/>
          <p:cNvSpPr/>
          <p:nvPr/>
        </p:nvSpPr>
        <p:spPr>
          <a:xfrm>
            <a:off x="1043608" y="1340768"/>
            <a:ext cx="4381500" cy="523875"/>
          </a:xfrm>
          <a:prstGeom prst="rect">
            <a:avLst/>
          </a:prstGeom>
        </p:spPr>
        <p:txBody>
          <a:bodyPr wrap="none">
            <a:spAutoFit/>
          </a:bodyPr>
          <a:lstStyle/>
          <a:p>
            <a:pPr fontAlgn="auto">
              <a:spcBef>
                <a:spcPts val="0"/>
              </a:spcBef>
              <a:spcAft>
                <a:spcPts val="0"/>
              </a:spcAft>
              <a:buFont typeface="Arial" pitchFamily="34" charset="0"/>
              <a:buChar char="•"/>
              <a:defRPr/>
            </a:pPr>
            <a:r>
              <a:rPr kumimoji="0" lang="en-US" altLang="zh-TW" sz="2800" b="1" dirty="0">
                <a:solidFill>
                  <a:srgbClr val="0070C0"/>
                </a:solidFill>
                <a:latin typeface="Times New Roman" pitchFamily="18" charset="0"/>
                <a:ea typeface="+mn-ea"/>
                <a:cs typeface="Times New Roman" pitchFamily="18" charset="0"/>
              </a:rPr>
              <a:t>Portfolio expected return: </a:t>
            </a:r>
            <a:endParaRPr kumimoji="0" lang="zh-TW" altLang="en-US" sz="2800" b="1" dirty="0">
              <a:solidFill>
                <a:srgbClr val="0070C0"/>
              </a:solidFill>
              <a:latin typeface="Times New Roman" pitchFamily="18" charset="0"/>
              <a:ea typeface="+mn-ea"/>
              <a:cs typeface="Times New Roman" pitchFamily="18" charset="0"/>
            </a:endParaRPr>
          </a:p>
        </p:txBody>
      </p:sp>
      <p:sp>
        <p:nvSpPr>
          <p:cNvPr id="14" name="矩形 13"/>
          <p:cNvSpPr/>
          <p:nvPr/>
        </p:nvSpPr>
        <p:spPr>
          <a:xfrm>
            <a:off x="755576" y="5661248"/>
            <a:ext cx="7605713" cy="954107"/>
          </a:xfrm>
          <a:prstGeom prst="rect">
            <a:avLst/>
          </a:prstGeom>
        </p:spPr>
        <p:txBody>
          <a:bodyPr>
            <a:spAutoFit/>
          </a:bodyPr>
          <a:lstStyle/>
          <a:p>
            <a:pPr fontAlgn="auto">
              <a:spcBef>
                <a:spcPts val="0"/>
              </a:spcBef>
              <a:spcAft>
                <a:spcPts val="0"/>
              </a:spcAft>
              <a:defRPr/>
            </a:pPr>
            <a:r>
              <a:rPr kumimoji="0" lang="en-US" altLang="zh-TW" sz="2800" dirty="0" smtClean="0">
                <a:latin typeface="Times New Roman" pitchFamily="18" charset="0"/>
                <a:ea typeface="+mn-ea"/>
                <a:cs typeface="Times New Roman" pitchFamily="18" charset="0"/>
              </a:rPr>
              <a:t>The expected return of the portfolio is</a:t>
            </a:r>
          </a:p>
          <a:p>
            <a:pPr fontAlgn="auto">
              <a:spcBef>
                <a:spcPts val="0"/>
              </a:spcBef>
              <a:spcAft>
                <a:spcPts val="0"/>
              </a:spcAft>
              <a:defRPr/>
            </a:pPr>
            <a:r>
              <a:rPr kumimoji="0" lang="en-US" altLang="zh-TW" sz="2800" dirty="0" smtClean="0">
                <a:latin typeface="Times New Roman" pitchFamily="18" charset="0"/>
                <a:ea typeface="+mn-ea"/>
                <a:cs typeface="Times New Roman" pitchFamily="18" charset="0"/>
              </a:rPr>
              <a:t>20</a:t>
            </a:r>
            <a:r>
              <a:rPr kumimoji="0" lang="en-US" altLang="zh-TW" sz="2800" dirty="0">
                <a:latin typeface="Times New Roman" pitchFamily="18" charset="0"/>
                <a:ea typeface="+mn-ea"/>
                <a:cs typeface="Times New Roman" pitchFamily="18" charset="0"/>
              </a:rPr>
              <a:t>% * 6% + 50% * 7% + 30% * 5% = 6.2%</a:t>
            </a:r>
            <a:endParaRPr kumimoji="0" lang="zh-TW" altLang="en-US" sz="2800" dirty="0">
              <a:latin typeface="Times New Roman" pitchFamily="18" charset="0"/>
              <a:ea typeface="+mn-ea"/>
              <a:cs typeface="Times New Roman" pitchFamily="18" charset="0"/>
            </a:endParaRPr>
          </a:p>
        </p:txBody>
      </p:sp>
      <p:graphicFrame>
        <p:nvGraphicFramePr>
          <p:cNvPr id="9" name="表格 8"/>
          <p:cNvGraphicFramePr>
            <a:graphicFrameLocks noGrp="1"/>
          </p:cNvGraphicFramePr>
          <p:nvPr/>
        </p:nvGraphicFramePr>
        <p:xfrm>
          <a:off x="1331640" y="3645024"/>
          <a:ext cx="5832648" cy="1737360"/>
        </p:xfrm>
        <a:graphic>
          <a:graphicData uri="http://schemas.openxmlformats.org/drawingml/2006/table">
            <a:tbl>
              <a:tblPr firstRow="1" bandRow="1">
                <a:tableStyleId>{F5AB1C69-6EDB-4FF4-983F-18BD219EF322}</a:tableStyleId>
              </a:tblPr>
              <a:tblGrid>
                <a:gridCol w="1944216"/>
                <a:gridCol w="1944216"/>
                <a:gridCol w="1944216"/>
              </a:tblGrid>
              <a:tr h="306506">
                <a:tc>
                  <a:txBody>
                    <a:bodyPr/>
                    <a:lstStyle/>
                    <a:p>
                      <a:endParaRPr lang="zh-TW" altLang="en-US" dirty="0"/>
                    </a:p>
                  </a:txBody>
                  <a:tcPr/>
                </a:tc>
                <a:tc>
                  <a:txBody>
                    <a:bodyPr/>
                    <a:lstStyle/>
                    <a:p>
                      <a:pPr algn="ctr"/>
                      <a:r>
                        <a:rPr lang="en-US" altLang="zh-TW" dirty="0" smtClean="0"/>
                        <a:t>Expected return</a:t>
                      </a:r>
                      <a:endParaRPr lang="zh-TW" altLang="en-US" dirty="0"/>
                    </a:p>
                  </a:txBody>
                  <a:tcPr/>
                </a:tc>
                <a:tc>
                  <a:txBody>
                    <a:bodyPr/>
                    <a:lstStyle/>
                    <a:p>
                      <a:pPr algn="ctr"/>
                      <a:r>
                        <a:rPr lang="en-US" altLang="zh-TW" dirty="0" smtClean="0"/>
                        <a:t>Weight</a:t>
                      </a:r>
                      <a:endParaRPr lang="zh-TW" altLang="en-US" dirty="0"/>
                    </a:p>
                  </a:txBody>
                  <a:tcPr/>
                </a:tc>
              </a:tr>
              <a:tr h="377885">
                <a:tc>
                  <a:txBody>
                    <a:bodyPr/>
                    <a:lstStyle/>
                    <a:p>
                      <a:pPr algn="ctr"/>
                      <a:r>
                        <a:rPr lang="en-US" altLang="zh-TW" sz="2400" dirty="0" smtClean="0"/>
                        <a:t>Asset 1</a:t>
                      </a:r>
                      <a:endParaRPr lang="zh-TW" altLang="en-US" sz="2400" dirty="0"/>
                    </a:p>
                  </a:txBody>
                  <a:tcPr/>
                </a:tc>
                <a:tc>
                  <a:txBody>
                    <a:bodyPr/>
                    <a:lstStyle/>
                    <a:p>
                      <a:pPr algn="ctr"/>
                      <a:r>
                        <a:rPr lang="en-US" altLang="zh-TW" sz="2400" dirty="0" smtClean="0"/>
                        <a:t>6%</a:t>
                      </a:r>
                      <a:endParaRPr lang="zh-TW" altLang="en-US" sz="2400" dirty="0"/>
                    </a:p>
                  </a:txBody>
                  <a:tcPr/>
                </a:tc>
                <a:tc>
                  <a:txBody>
                    <a:bodyPr/>
                    <a:lstStyle/>
                    <a:p>
                      <a:pPr algn="ctr"/>
                      <a:r>
                        <a:rPr lang="en-US" altLang="zh-TW" sz="2400" dirty="0" smtClean="0"/>
                        <a:t>20%</a:t>
                      </a:r>
                      <a:endParaRPr lang="zh-TW" altLang="en-US" sz="2400" dirty="0"/>
                    </a:p>
                  </a:txBody>
                  <a:tcPr/>
                </a:tc>
              </a:tr>
              <a:tr h="377885">
                <a:tc>
                  <a:txBody>
                    <a:bodyPr/>
                    <a:lstStyle/>
                    <a:p>
                      <a:pPr algn="ctr"/>
                      <a:r>
                        <a:rPr lang="en-US" altLang="zh-TW" sz="2400" dirty="0" smtClean="0"/>
                        <a:t>Asset 2</a:t>
                      </a:r>
                      <a:endParaRPr lang="zh-TW" altLang="en-US" sz="2400" dirty="0"/>
                    </a:p>
                  </a:txBody>
                  <a:tcPr/>
                </a:tc>
                <a:tc>
                  <a:txBody>
                    <a:bodyPr/>
                    <a:lstStyle/>
                    <a:p>
                      <a:pPr algn="ctr"/>
                      <a:r>
                        <a:rPr lang="en-US" altLang="zh-TW" sz="2400" dirty="0" smtClean="0"/>
                        <a:t>7%</a:t>
                      </a:r>
                      <a:endParaRPr lang="zh-TW" altLang="en-US" sz="2400" dirty="0"/>
                    </a:p>
                  </a:txBody>
                  <a:tcPr/>
                </a:tc>
                <a:tc>
                  <a:txBody>
                    <a:bodyPr/>
                    <a:lstStyle/>
                    <a:p>
                      <a:pPr algn="ctr"/>
                      <a:r>
                        <a:rPr lang="en-US" altLang="zh-TW" sz="2400" dirty="0" smtClean="0"/>
                        <a:t>50%</a:t>
                      </a:r>
                      <a:endParaRPr lang="zh-TW" altLang="en-US" sz="2400" dirty="0"/>
                    </a:p>
                  </a:txBody>
                  <a:tcPr/>
                </a:tc>
              </a:tr>
              <a:tr h="377885">
                <a:tc>
                  <a:txBody>
                    <a:bodyPr/>
                    <a:lstStyle/>
                    <a:p>
                      <a:pPr algn="ctr"/>
                      <a:r>
                        <a:rPr lang="en-US" altLang="zh-TW" sz="2400" dirty="0" smtClean="0"/>
                        <a:t>Asset 3</a:t>
                      </a:r>
                      <a:endParaRPr lang="zh-TW" altLang="en-US" sz="2400" dirty="0"/>
                    </a:p>
                  </a:txBody>
                  <a:tcPr/>
                </a:tc>
                <a:tc>
                  <a:txBody>
                    <a:bodyPr/>
                    <a:lstStyle/>
                    <a:p>
                      <a:pPr algn="ctr"/>
                      <a:r>
                        <a:rPr lang="en-US" altLang="zh-TW" sz="2400" dirty="0" smtClean="0"/>
                        <a:t>5%</a:t>
                      </a:r>
                      <a:endParaRPr lang="zh-TW" altLang="en-US" sz="2400" dirty="0"/>
                    </a:p>
                  </a:txBody>
                  <a:tcPr/>
                </a:tc>
                <a:tc>
                  <a:txBody>
                    <a:bodyPr/>
                    <a:lstStyle/>
                    <a:p>
                      <a:pPr algn="ctr"/>
                      <a:r>
                        <a:rPr lang="en-US" altLang="zh-TW" sz="2400" dirty="0" smtClean="0"/>
                        <a:t>30%</a:t>
                      </a:r>
                      <a:endParaRPr lang="zh-TW" altLang="en-US" sz="2400" dirty="0"/>
                    </a:p>
                  </a:txBody>
                  <a:tcPr/>
                </a:tc>
              </a:tr>
            </a:tbl>
          </a:graphicData>
        </a:graphic>
      </p:graphicFrame>
      <p:sp>
        <p:nvSpPr>
          <p:cNvPr id="10" name="矩形 9"/>
          <p:cNvSpPr/>
          <p:nvPr/>
        </p:nvSpPr>
        <p:spPr>
          <a:xfrm>
            <a:off x="539552" y="3068960"/>
            <a:ext cx="1558440" cy="523220"/>
          </a:xfrm>
          <a:prstGeom prst="rect">
            <a:avLst/>
          </a:prstGeom>
        </p:spPr>
        <p:txBody>
          <a:bodyPr wrap="none">
            <a:spAutoFit/>
          </a:bodyPr>
          <a:lstStyle/>
          <a:p>
            <a:pPr fontAlgn="auto">
              <a:spcBef>
                <a:spcPts val="0"/>
              </a:spcBef>
              <a:spcAft>
                <a:spcPts val="0"/>
              </a:spcAft>
              <a:defRPr/>
            </a:pPr>
            <a:r>
              <a:rPr lang="en-US" altLang="zh-TW" sz="2800" dirty="0" smtClean="0">
                <a:solidFill>
                  <a:srgbClr val="0070C0"/>
                </a:solidFill>
                <a:latin typeface="Times New Roman" pitchFamily="18" charset="0"/>
                <a:cs typeface="Times New Roman" pitchFamily="18" charset="0"/>
              </a:rPr>
              <a:t>Example:</a:t>
            </a:r>
          </a:p>
        </p:txBody>
      </p:sp>
      <p:graphicFrame>
        <p:nvGraphicFramePr>
          <p:cNvPr id="13" name="物件 12"/>
          <p:cNvGraphicFramePr>
            <a:graphicFrameLocks noChangeAspect="1"/>
          </p:cNvGraphicFramePr>
          <p:nvPr/>
        </p:nvGraphicFramePr>
        <p:xfrm>
          <a:off x="2483768" y="1916832"/>
          <a:ext cx="3574579" cy="1215175"/>
        </p:xfrm>
        <a:graphic>
          <a:graphicData uri="http://schemas.openxmlformats.org/presentationml/2006/ole">
            <p:oleObj spid="_x0000_s1028" name="方程式" r:id="rId4" imgW="126972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Variance of the portfolio</a:t>
            </a:r>
            <a:endParaRPr lang="zh-TW" altLang="en-US" dirty="0"/>
          </a:p>
        </p:txBody>
      </p:sp>
      <p:sp>
        <p:nvSpPr>
          <p:cNvPr id="4" name="投影片編號版面配置區 3"/>
          <p:cNvSpPr>
            <a:spLocks noGrp="1"/>
          </p:cNvSpPr>
          <p:nvPr>
            <p:ph type="sldNum" sz="quarter" idx="12"/>
          </p:nvPr>
        </p:nvSpPr>
        <p:spPr/>
        <p:txBody>
          <a:bodyPr/>
          <a:lstStyle/>
          <a:p>
            <a:fld id="{B58685C2-6A2E-4873-8297-09AE79A8BE05}" type="slidenum">
              <a:rPr lang="zh-TW" altLang="en-US" smtClean="0"/>
              <a:pPr/>
              <a:t>6</a:t>
            </a:fld>
            <a:endParaRPr lang="zh-TW" altLang="en-US"/>
          </a:p>
        </p:txBody>
      </p:sp>
      <p:graphicFrame>
        <p:nvGraphicFramePr>
          <p:cNvPr id="5" name="內容版面配置區 4"/>
          <p:cNvGraphicFramePr>
            <a:graphicFrameLocks/>
          </p:cNvGraphicFramePr>
          <p:nvPr>
            <p:ph idx="1"/>
          </p:nvPr>
        </p:nvGraphicFramePr>
        <p:xfrm>
          <a:off x="4064793" y="1600200"/>
          <a:ext cx="1014413" cy="676275"/>
        </p:xfrm>
        <a:graphic>
          <a:graphicData uri="http://schemas.openxmlformats.org/presentationml/2006/ole">
            <p:oleObj spid="_x0000_s2050" name="方程式" r:id="rId3" imgW="0" imgH="0" progId="Equation.3">
              <p:embed/>
            </p:oleObj>
          </a:graphicData>
        </a:graphic>
      </p:graphicFrame>
      <p:graphicFrame>
        <p:nvGraphicFramePr>
          <p:cNvPr id="6" name="物件 5"/>
          <p:cNvGraphicFramePr>
            <a:graphicFrameLocks noChangeAspect="1"/>
          </p:cNvGraphicFramePr>
          <p:nvPr/>
        </p:nvGraphicFramePr>
        <p:xfrm>
          <a:off x="1475656" y="1916832"/>
          <a:ext cx="5832648" cy="4438650"/>
        </p:xfrm>
        <a:graphic>
          <a:graphicData uri="http://schemas.openxmlformats.org/presentationml/2006/ole">
            <p:oleObj spid="_x0000_s2051" name="方程式" r:id="rId4" imgW="2361960" imgH="1955520" progId="Equation.3">
              <p:embed/>
            </p:oleObj>
          </a:graphicData>
        </a:graphic>
      </p:graphicFrame>
      <p:sp>
        <p:nvSpPr>
          <p:cNvPr id="7" name="矩形 6"/>
          <p:cNvSpPr/>
          <p:nvPr/>
        </p:nvSpPr>
        <p:spPr>
          <a:xfrm>
            <a:off x="755576" y="1340768"/>
            <a:ext cx="4513415" cy="523220"/>
          </a:xfrm>
          <a:prstGeom prst="rect">
            <a:avLst/>
          </a:prstGeom>
        </p:spPr>
        <p:txBody>
          <a:bodyPr wrap="none">
            <a:spAutoFit/>
          </a:bodyPr>
          <a:lstStyle/>
          <a:p>
            <a:pPr fontAlgn="auto">
              <a:spcBef>
                <a:spcPts val="0"/>
              </a:spcBef>
              <a:spcAft>
                <a:spcPts val="0"/>
              </a:spcAft>
              <a:defRPr/>
            </a:pPr>
            <a:r>
              <a:rPr lang="en-US" altLang="zh-TW" sz="2800" b="1" dirty="0" smtClean="0">
                <a:solidFill>
                  <a:srgbClr val="0070C0"/>
                </a:solidFill>
                <a:latin typeface="Times New Roman" pitchFamily="18" charset="0"/>
                <a:cs typeface="Times New Roman" pitchFamily="18" charset="0"/>
              </a:rPr>
              <a:t>Taking 2 assets for example:</a:t>
            </a:r>
            <a:endParaRPr kumimoji="0" lang="zh-TW" altLang="en-US" sz="2800" b="1" dirty="0">
              <a:solidFill>
                <a:srgbClr val="0070C0"/>
              </a:solidFill>
              <a:latin typeface="Times New Roman" pitchFamily="18" charset="0"/>
              <a:ea typeface="+mn-ea"/>
              <a:cs typeface="Times New Roman" pitchFamily="18" charset="0"/>
            </a:endParaRPr>
          </a:p>
        </p:txBody>
      </p:sp>
      <p:sp>
        <p:nvSpPr>
          <p:cNvPr id="8" name="矩形 7"/>
          <p:cNvSpPr/>
          <p:nvPr/>
        </p:nvSpPr>
        <p:spPr>
          <a:xfrm>
            <a:off x="1331640" y="5805264"/>
            <a:ext cx="1584176" cy="7200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332656"/>
            <a:ext cx="8229600" cy="1143000"/>
          </a:xfrm>
        </p:spPr>
        <p:txBody>
          <a:bodyPr/>
          <a:lstStyle/>
          <a:p>
            <a:r>
              <a:rPr lang="en-US" altLang="zh-TW" dirty="0" smtClean="0"/>
              <a:t>Correlation of the assets</a:t>
            </a:r>
            <a:endParaRPr lang="zh-TW" altLang="en-US" dirty="0"/>
          </a:p>
        </p:txBody>
      </p:sp>
      <p:sp>
        <p:nvSpPr>
          <p:cNvPr id="4" name="投影片編號版面配置區 3"/>
          <p:cNvSpPr>
            <a:spLocks noGrp="1"/>
          </p:cNvSpPr>
          <p:nvPr>
            <p:ph type="sldNum" sz="quarter" idx="12"/>
          </p:nvPr>
        </p:nvSpPr>
        <p:spPr/>
        <p:txBody>
          <a:bodyPr/>
          <a:lstStyle/>
          <a:p>
            <a:fld id="{B58685C2-6A2E-4873-8297-09AE79A8BE05}" type="slidenum">
              <a:rPr lang="zh-TW" altLang="en-US" smtClean="0"/>
              <a:pPr/>
              <a:t>7</a:t>
            </a:fld>
            <a:endParaRPr lang="zh-TW" altLang="en-US"/>
          </a:p>
        </p:txBody>
      </p:sp>
      <p:graphicFrame>
        <p:nvGraphicFramePr>
          <p:cNvPr id="3074" name="Object 2"/>
          <p:cNvGraphicFramePr>
            <a:graphicFrameLocks noChangeAspect="1"/>
          </p:cNvGraphicFramePr>
          <p:nvPr/>
        </p:nvGraphicFramePr>
        <p:xfrm>
          <a:off x="2123728" y="1412776"/>
          <a:ext cx="4262437" cy="2160588"/>
        </p:xfrm>
        <a:graphic>
          <a:graphicData uri="http://schemas.openxmlformats.org/presentationml/2006/ole">
            <p:oleObj spid="_x0000_s3074" name="方程式" r:id="rId3" imgW="1879560" imgH="952200" progId="Equation.3">
              <p:embed/>
            </p:oleObj>
          </a:graphicData>
        </a:graphic>
      </p:graphicFrame>
      <p:grpSp>
        <p:nvGrpSpPr>
          <p:cNvPr id="10" name="群組 9"/>
          <p:cNvGrpSpPr/>
          <p:nvPr/>
        </p:nvGrpSpPr>
        <p:grpSpPr>
          <a:xfrm>
            <a:off x="395536" y="4338970"/>
            <a:ext cx="8452569" cy="1754326"/>
            <a:chOff x="395536" y="4221088"/>
            <a:chExt cx="8452569" cy="1754326"/>
          </a:xfrm>
        </p:grpSpPr>
        <p:sp>
          <p:nvSpPr>
            <p:cNvPr id="6" name="文字方塊 5"/>
            <p:cNvSpPr txBox="1"/>
            <p:nvPr/>
          </p:nvSpPr>
          <p:spPr>
            <a:xfrm>
              <a:off x="395536" y="4221088"/>
              <a:ext cx="6840760" cy="1754326"/>
            </a:xfrm>
            <a:prstGeom prst="rect">
              <a:avLst/>
            </a:prstGeom>
            <a:noFill/>
          </p:spPr>
          <p:txBody>
            <a:bodyPr wrap="square" rtlCol="0">
              <a:spAutoFit/>
            </a:bodyPr>
            <a:lstStyle/>
            <a:p>
              <a:pPr>
                <a:lnSpc>
                  <a:spcPct val="150000"/>
                </a:lnSpc>
                <a:buFont typeface="Arial" pitchFamily="34" charset="0"/>
                <a:buChar char="•"/>
              </a:pPr>
              <a:r>
                <a:rPr lang="el-GR" altLang="zh-TW" sz="2400" i="1" dirty="0" smtClean="0"/>
                <a:t>Γ</a:t>
              </a:r>
              <a:r>
                <a:rPr lang="en-US" altLang="zh-TW" sz="2400" baseline="-25000" dirty="0" smtClean="0"/>
                <a:t>12</a:t>
              </a:r>
              <a:r>
                <a:rPr lang="en-US" altLang="zh-TW" sz="2400" dirty="0" smtClean="0"/>
                <a:t> = 1 (</a:t>
              </a:r>
              <a:r>
                <a:rPr lang="en-US" altLang="zh-TW" sz="2400" dirty="0" err="1" smtClean="0"/>
                <a:t>完全正相關</a:t>
              </a:r>
              <a:r>
                <a:rPr lang="en-US" altLang="zh-TW" sz="2400" dirty="0" smtClean="0"/>
                <a:t>) </a:t>
              </a:r>
            </a:p>
            <a:p>
              <a:pPr>
                <a:lnSpc>
                  <a:spcPct val="150000"/>
                </a:lnSpc>
                <a:buFont typeface="Arial" pitchFamily="34" charset="0"/>
                <a:buChar char="•"/>
              </a:pPr>
              <a:r>
                <a:rPr lang="el-GR" altLang="zh-TW" sz="2400" i="1" dirty="0" smtClean="0"/>
                <a:t>Γ</a:t>
              </a:r>
              <a:r>
                <a:rPr lang="en-US" altLang="zh-TW" sz="2400" baseline="-25000" dirty="0" smtClean="0"/>
                <a:t>12 </a:t>
              </a:r>
              <a:r>
                <a:rPr lang="en-US" altLang="zh-TW" sz="2400" dirty="0" smtClean="0"/>
                <a:t> = -1(</a:t>
              </a:r>
              <a:r>
                <a:rPr lang="en-US" altLang="zh-TW" sz="2400" dirty="0" err="1" smtClean="0"/>
                <a:t>完全負相關</a:t>
              </a:r>
              <a:r>
                <a:rPr lang="en-US" altLang="zh-TW" sz="2400" dirty="0" smtClean="0"/>
                <a:t>)</a:t>
              </a:r>
            </a:p>
            <a:p>
              <a:pPr>
                <a:lnSpc>
                  <a:spcPct val="150000"/>
                </a:lnSpc>
                <a:buFont typeface="Arial" pitchFamily="34" charset="0"/>
                <a:buChar char="•"/>
              </a:pPr>
              <a:r>
                <a:rPr lang="en-US" altLang="zh-TW" sz="2400" dirty="0" smtClean="0"/>
                <a:t>-1 &lt; </a:t>
              </a:r>
              <a:r>
                <a:rPr lang="el-GR" altLang="zh-TW" sz="2400" i="1" dirty="0" smtClean="0"/>
                <a:t>Γ</a:t>
              </a:r>
              <a:r>
                <a:rPr lang="en-US" altLang="zh-TW" sz="2400" baseline="-25000" dirty="0" smtClean="0"/>
                <a:t>12 </a:t>
              </a:r>
              <a:r>
                <a:rPr lang="en-US" altLang="zh-TW" sz="2400" dirty="0" smtClean="0"/>
                <a:t>&lt; 1 (</a:t>
              </a:r>
              <a:r>
                <a:rPr lang="en-US" altLang="zh-TW" sz="2400" dirty="0" err="1" smtClean="0"/>
                <a:t>部分相關</a:t>
              </a:r>
              <a:r>
                <a:rPr lang="en-US" altLang="zh-TW" sz="2400" dirty="0" smtClean="0"/>
                <a:t>)</a:t>
              </a:r>
              <a:endParaRPr lang="zh-TW" altLang="en-US" sz="2400" dirty="0"/>
            </a:p>
          </p:txBody>
        </p:sp>
        <p:graphicFrame>
          <p:nvGraphicFramePr>
            <p:cNvPr id="3075" name="Object 3"/>
            <p:cNvGraphicFramePr>
              <a:graphicFrameLocks noChangeAspect="1"/>
            </p:cNvGraphicFramePr>
            <p:nvPr/>
          </p:nvGraphicFramePr>
          <p:xfrm>
            <a:off x="3491880" y="4221088"/>
            <a:ext cx="2908300" cy="576262"/>
          </p:xfrm>
          <a:graphic>
            <a:graphicData uri="http://schemas.openxmlformats.org/presentationml/2006/ole">
              <p:oleObj spid="_x0000_s3075" name="方程式" r:id="rId4" imgW="1282680" imgH="253800" progId="Equation.3">
                <p:embed/>
              </p:oleObj>
            </a:graphicData>
          </a:graphic>
        </p:graphicFrame>
        <p:graphicFrame>
          <p:nvGraphicFramePr>
            <p:cNvPr id="3076" name="Object 4"/>
            <p:cNvGraphicFramePr>
              <a:graphicFrameLocks noChangeAspect="1"/>
            </p:cNvGraphicFramePr>
            <p:nvPr/>
          </p:nvGraphicFramePr>
          <p:xfrm>
            <a:off x="3491880" y="4797152"/>
            <a:ext cx="2908300" cy="576263"/>
          </p:xfrm>
          <a:graphic>
            <a:graphicData uri="http://schemas.openxmlformats.org/presentationml/2006/ole">
              <p:oleObj spid="_x0000_s3076" name="方程式" r:id="rId5" imgW="1282680" imgH="253800" progId="Equation.3">
                <p:embed/>
              </p:oleObj>
            </a:graphicData>
          </a:graphic>
        </p:graphicFrame>
        <p:graphicFrame>
          <p:nvGraphicFramePr>
            <p:cNvPr id="3077" name="Object 5"/>
            <p:cNvGraphicFramePr>
              <a:graphicFrameLocks noChangeAspect="1"/>
            </p:cNvGraphicFramePr>
            <p:nvPr/>
          </p:nvGraphicFramePr>
          <p:xfrm>
            <a:off x="3491880" y="5373216"/>
            <a:ext cx="5356225" cy="576263"/>
          </p:xfrm>
          <a:graphic>
            <a:graphicData uri="http://schemas.openxmlformats.org/presentationml/2006/ole">
              <p:oleObj spid="_x0000_s3077" name="方程式" r:id="rId6" imgW="2361960" imgH="253800" progId="Equation.3">
                <p:embed/>
              </p:oleObj>
            </a:graphicData>
          </a:graphic>
        </p:graphicFrame>
      </p:grpSp>
      <p:sp>
        <p:nvSpPr>
          <p:cNvPr id="11" name="文字方塊 10"/>
          <p:cNvSpPr txBox="1"/>
          <p:nvPr/>
        </p:nvSpPr>
        <p:spPr>
          <a:xfrm>
            <a:off x="3923928" y="1628800"/>
            <a:ext cx="4536504" cy="461665"/>
          </a:xfrm>
          <a:prstGeom prst="rect">
            <a:avLst/>
          </a:prstGeom>
          <a:noFill/>
        </p:spPr>
        <p:txBody>
          <a:bodyPr wrap="square" rtlCol="0">
            <a:spAutoFit/>
          </a:bodyPr>
          <a:lstStyle/>
          <a:p>
            <a:r>
              <a:rPr lang="en-US" altLang="zh-TW" sz="2400" dirty="0" smtClean="0">
                <a:solidFill>
                  <a:srgbClr val="00B0F0"/>
                </a:solidFill>
              </a:rPr>
              <a:t>Pearson correlation coefficient</a:t>
            </a:r>
            <a:endParaRPr lang="zh-TW" altLang="en-US" sz="2400" dirty="0">
              <a:solidFill>
                <a:srgbClr val="00B0F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B58685C2-6A2E-4873-8297-09AE79A8BE05}" type="slidenum">
              <a:rPr lang="zh-TW" altLang="en-US" smtClean="0"/>
              <a:pPr/>
              <a:t>8</a:t>
            </a:fld>
            <a:endParaRPr lang="zh-TW" altLang="en-US"/>
          </a:p>
        </p:txBody>
      </p:sp>
      <p:sp>
        <p:nvSpPr>
          <p:cNvPr id="5" name="Text Box 5"/>
          <p:cNvSpPr txBox="1">
            <a:spLocks noChangeArrowheads="1"/>
          </p:cNvSpPr>
          <p:nvPr/>
        </p:nvSpPr>
        <p:spPr bwMode="auto">
          <a:xfrm>
            <a:off x="2195736" y="476672"/>
            <a:ext cx="5039890" cy="584775"/>
          </a:xfrm>
          <a:prstGeom prst="rect">
            <a:avLst/>
          </a:prstGeom>
          <a:noFill/>
          <a:ln w="9525">
            <a:noFill/>
            <a:miter lim="800000"/>
            <a:headEnd/>
            <a:tailEnd/>
          </a:ln>
          <a:effectLst/>
        </p:spPr>
        <p:txBody>
          <a:bodyPr wrap="square">
            <a:spAutoFit/>
          </a:bodyPr>
          <a:lstStyle/>
          <a:p>
            <a:pPr algn="l"/>
            <a:r>
              <a:rPr lang="en-US" altLang="zh-TW" sz="3200" b="1" i="1" dirty="0">
                <a:solidFill>
                  <a:schemeClr val="tx2"/>
                </a:solidFill>
                <a:effectLst>
                  <a:outerShdw blurRad="38100" dist="38100" dir="2700000" algn="tl">
                    <a:srgbClr val="000000"/>
                  </a:outerShdw>
                </a:effectLst>
                <a:ea typeface="細明體" pitchFamily="49" charset="-120"/>
              </a:rPr>
              <a:t>A</a:t>
            </a:r>
            <a:r>
              <a:rPr lang="zh-TW" altLang="en-US" sz="3200" b="1" dirty="0">
                <a:solidFill>
                  <a:schemeClr val="tx2"/>
                </a:solidFill>
                <a:effectLst>
                  <a:outerShdw blurRad="38100" dist="38100" dir="2700000" algn="tl">
                    <a:srgbClr val="000000"/>
                  </a:outerShdw>
                </a:effectLst>
                <a:latin typeface="標楷體" pitchFamily="65" charset="-120"/>
                <a:ea typeface="標楷體" pitchFamily="65" charset="-120"/>
              </a:rPr>
              <a:t>、</a:t>
            </a:r>
            <a:r>
              <a:rPr lang="en-US" altLang="zh-TW" sz="3200" b="1" i="1" dirty="0">
                <a:solidFill>
                  <a:schemeClr val="tx2"/>
                </a:solidFill>
                <a:effectLst>
                  <a:outerShdw blurRad="38100" dist="38100" dir="2700000" algn="tl">
                    <a:srgbClr val="000000"/>
                  </a:outerShdw>
                </a:effectLst>
                <a:ea typeface="細明體" pitchFamily="49" charset="-120"/>
              </a:rPr>
              <a:t>B</a:t>
            </a:r>
            <a:r>
              <a:rPr lang="zh-TW" altLang="en-US" sz="3200" b="1" dirty="0">
                <a:solidFill>
                  <a:schemeClr val="tx2"/>
                </a:solidFill>
                <a:effectLst>
                  <a:outerShdw blurRad="38100" dist="38100" dir="2700000" algn="tl">
                    <a:srgbClr val="000000"/>
                  </a:outerShdw>
                </a:effectLst>
                <a:latin typeface="標楷體" pitchFamily="65" charset="-120"/>
                <a:ea typeface="標楷體" pitchFamily="65" charset="-120"/>
              </a:rPr>
              <a:t>、</a:t>
            </a:r>
            <a:r>
              <a:rPr lang="en-US" altLang="zh-TW" sz="3200" b="1" i="1" dirty="0">
                <a:solidFill>
                  <a:schemeClr val="tx2"/>
                </a:solidFill>
                <a:effectLst>
                  <a:outerShdw blurRad="38100" dist="38100" dir="2700000" algn="tl">
                    <a:srgbClr val="000000"/>
                  </a:outerShdw>
                </a:effectLst>
                <a:ea typeface="細明體" pitchFamily="49" charset="-120"/>
              </a:rPr>
              <a:t>C</a:t>
            </a:r>
            <a:r>
              <a:rPr lang="en-US" altLang="zh-TW" sz="3200" b="1" dirty="0">
                <a:solidFill>
                  <a:schemeClr val="tx2"/>
                </a:solidFill>
                <a:effectLst>
                  <a:outerShdw blurRad="38100" dist="38100" dir="2700000" algn="tl">
                    <a:srgbClr val="000000"/>
                  </a:outerShdw>
                </a:effectLst>
                <a:ea typeface="細明體" pitchFamily="49" charset="-120"/>
              </a:rPr>
              <a:t> </a:t>
            </a:r>
            <a:r>
              <a:rPr lang="zh-TW" altLang="en-US" sz="3200" b="1" dirty="0">
                <a:solidFill>
                  <a:schemeClr val="tx2"/>
                </a:solidFill>
                <a:effectLst>
                  <a:outerShdw blurRad="38100" dist="38100" dir="2700000" algn="tl">
                    <a:srgbClr val="000000"/>
                  </a:outerShdw>
                </a:effectLst>
                <a:latin typeface="標楷體" pitchFamily="65" charset="-120"/>
                <a:ea typeface="標楷體" pitchFamily="65" charset="-120"/>
              </a:rPr>
              <a:t>證券之報酬率</a:t>
            </a:r>
            <a:r>
              <a:rPr lang="zh-TW" altLang="en-US" sz="3200" dirty="0">
                <a:solidFill>
                  <a:schemeClr val="tx2"/>
                </a:solidFill>
              </a:rPr>
              <a:t> </a:t>
            </a:r>
          </a:p>
        </p:txBody>
      </p:sp>
      <p:graphicFrame>
        <p:nvGraphicFramePr>
          <p:cNvPr id="6" name="Object 1024"/>
          <p:cNvGraphicFramePr>
            <a:graphicFrameLocks noChangeAspect="1"/>
          </p:cNvGraphicFramePr>
          <p:nvPr/>
        </p:nvGraphicFramePr>
        <p:xfrm>
          <a:off x="467544" y="1340768"/>
          <a:ext cx="8124825" cy="4536504"/>
        </p:xfrm>
        <a:graphic>
          <a:graphicData uri="http://schemas.openxmlformats.org/presentationml/2006/ole">
            <p:oleObj spid="_x0000_s45058" name="文件" r:id="rId3" imgW="6501785" imgH="2769052" progId="Word.Document.8">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B58685C2-6A2E-4873-8297-09AE79A8BE05}" type="slidenum">
              <a:rPr lang="zh-TW" altLang="en-US" smtClean="0"/>
              <a:pPr/>
              <a:t>9</a:t>
            </a:fld>
            <a:endParaRPr lang="zh-TW" altLang="en-US"/>
          </a:p>
        </p:txBody>
      </p:sp>
      <p:graphicFrame>
        <p:nvGraphicFramePr>
          <p:cNvPr id="46082" name="Object 2"/>
          <p:cNvGraphicFramePr>
            <a:graphicFrameLocks noChangeAspect="1"/>
          </p:cNvGraphicFramePr>
          <p:nvPr/>
        </p:nvGraphicFramePr>
        <p:xfrm>
          <a:off x="1259632" y="116632"/>
          <a:ext cx="6281936" cy="3382357"/>
        </p:xfrm>
        <a:graphic>
          <a:graphicData uri="http://schemas.openxmlformats.org/presentationml/2006/ole">
            <p:oleObj spid="_x0000_s46082" name="文件" r:id="rId3" imgW="5753880" imgH="3169440" progId="Word.Document.8">
              <p:embed/>
            </p:oleObj>
          </a:graphicData>
        </a:graphic>
      </p:graphicFrame>
      <p:graphicFrame>
        <p:nvGraphicFramePr>
          <p:cNvPr id="46083" name="Object 3"/>
          <p:cNvGraphicFramePr>
            <a:graphicFrameLocks noChangeAspect="1"/>
          </p:cNvGraphicFramePr>
          <p:nvPr/>
        </p:nvGraphicFramePr>
        <p:xfrm>
          <a:off x="1331640" y="3573016"/>
          <a:ext cx="6133728" cy="3256389"/>
        </p:xfrm>
        <a:graphic>
          <a:graphicData uri="http://schemas.openxmlformats.org/presentationml/2006/ole">
            <p:oleObj spid="_x0000_s46083" name="文件" r:id="rId4" imgW="5801400" imgH="3080160" progId="Word.Document.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circle(out)">
                                      <p:cBhvr>
                                        <p:cTn id="7" dur="2000"/>
                                        <p:tgtEl>
                                          <p:spTgt spid="46082"/>
                                        </p:tgtEl>
                                      </p:cBhvr>
                                    </p:animEffect>
                                  </p:childTnLst>
                                </p:cTn>
                              </p:par>
                            </p:childTnLst>
                          </p:cTn>
                        </p:par>
                        <p:par>
                          <p:cTn id="8" fill="hold">
                            <p:stCondLst>
                              <p:cond delay="2000"/>
                            </p:stCondLst>
                            <p:childTnLst>
                              <p:par>
                                <p:cTn id="9" presetID="8" presetClass="entr" presetSubtype="32" fill="hold" nodeType="afterEffect">
                                  <p:stCondLst>
                                    <p:cond delay="0"/>
                                  </p:stCondLst>
                                  <p:childTnLst>
                                    <p:set>
                                      <p:cBhvr>
                                        <p:cTn id="10" dur="1" fill="hold">
                                          <p:stCondLst>
                                            <p:cond delay="0"/>
                                          </p:stCondLst>
                                        </p:cTn>
                                        <p:tgtEl>
                                          <p:spTgt spid="46083"/>
                                        </p:tgtEl>
                                        <p:attrNameLst>
                                          <p:attrName>style.visibility</p:attrName>
                                        </p:attrNameLst>
                                      </p:cBhvr>
                                      <p:to>
                                        <p:strVal val="visible"/>
                                      </p:to>
                                    </p:set>
                                    <p:animEffect transition="in" filter="diamond(out)">
                                      <p:cBhvr>
                                        <p:cTn id="11" dur="20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B58685C2-6A2E-4873-8297-09AE79A8BE05}" type="slidenum">
              <a:rPr lang="zh-TW" altLang="en-US" smtClean="0"/>
              <a:pPr/>
              <a:t>10</a:t>
            </a:fld>
            <a:endParaRPr lang="zh-TW" altLang="en-US"/>
          </a:p>
        </p:txBody>
      </p:sp>
      <p:graphicFrame>
        <p:nvGraphicFramePr>
          <p:cNvPr id="47106" name="Object 2"/>
          <p:cNvGraphicFramePr>
            <a:graphicFrameLocks noChangeAspect="1"/>
          </p:cNvGraphicFramePr>
          <p:nvPr/>
        </p:nvGraphicFramePr>
        <p:xfrm>
          <a:off x="1115616" y="116632"/>
          <a:ext cx="6425952" cy="3314125"/>
        </p:xfrm>
        <a:graphic>
          <a:graphicData uri="http://schemas.openxmlformats.org/presentationml/2006/ole">
            <p:oleObj spid="_x0000_s47106" name="文件" r:id="rId3" imgW="6001560" imgH="3095280" progId="Word.Document.8">
              <p:embed/>
            </p:oleObj>
          </a:graphicData>
        </a:graphic>
      </p:graphicFrame>
      <p:graphicFrame>
        <p:nvGraphicFramePr>
          <p:cNvPr id="47107" name="Object 3"/>
          <p:cNvGraphicFramePr>
            <a:graphicFrameLocks noChangeAspect="1"/>
          </p:cNvGraphicFramePr>
          <p:nvPr/>
        </p:nvGraphicFramePr>
        <p:xfrm>
          <a:off x="1115616" y="3429000"/>
          <a:ext cx="6408712" cy="3202796"/>
        </p:xfrm>
        <a:graphic>
          <a:graphicData uri="http://schemas.openxmlformats.org/presentationml/2006/ole">
            <p:oleObj spid="_x0000_s47107" name="文件" r:id="rId4" imgW="5715720" imgH="2927520" progId="Word.Document.8">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edge">
                                      <p:cBhvr>
                                        <p:cTn id="7" dur="2000"/>
                                        <p:tgtEl>
                                          <p:spTgt spid="47106"/>
                                        </p:tgtEl>
                                      </p:cBhvr>
                                    </p:animEffect>
                                  </p:childTnLst>
                                </p:cTn>
                              </p:par>
                            </p:childTnLst>
                          </p:cTn>
                        </p:par>
                        <p:par>
                          <p:cTn id="8" fill="hold">
                            <p:stCondLst>
                              <p:cond delay="2000"/>
                            </p:stCondLst>
                            <p:childTnLst>
                              <p:par>
                                <p:cTn id="9" presetID="6" presetClass="entr" presetSubtype="32" fill="hold" nodeType="afterEffect">
                                  <p:stCondLst>
                                    <p:cond delay="0"/>
                                  </p:stCondLst>
                                  <p:childTnLst>
                                    <p:set>
                                      <p:cBhvr>
                                        <p:cTn id="10" dur="1" fill="hold">
                                          <p:stCondLst>
                                            <p:cond delay="0"/>
                                          </p:stCondLst>
                                        </p:cTn>
                                        <p:tgtEl>
                                          <p:spTgt spid="47107"/>
                                        </p:tgtEl>
                                        <p:attrNameLst>
                                          <p:attrName>style.visibility</p:attrName>
                                        </p:attrNameLst>
                                      </p:cBhvr>
                                      <p:to>
                                        <p:strVal val="visible"/>
                                      </p:to>
                                    </p:set>
                                    <p:animEffect transition="in" filter="circle(out)">
                                      <p:cBhvr>
                                        <p:cTn id="11" dur="2000"/>
                                        <p:tgtEl>
                                          <p:spTgt spid="47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88640"/>
            <a:ext cx="8229600" cy="1143000"/>
          </a:xfrm>
        </p:spPr>
        <p:txBody>
          <a:bodyPr>
            <a:normAutofit fontScale="90000"/>
          </a:bodyPr>
          <a:lstStyle/>
          <a:p>
            <a:r>
              <a:rPr lang="en-US" altLang="zh-TW" dirty="0" smtClean="0"/>
              <a:t>CAPM </a:t>
            </a:r>
            <a:r>
              <a:rPr lang="en-US" altLang="zh-TW" dirty="0" smtClean="0"/>
              <a:t>(</a:t>
            </a:r>
            <a:r>
              <a:rPr lang="en-US" altLang="zh-TW" dirty="0" smtClean="0"/>
              <a:t>capital asset pricing model) </a:t>
            </a:r>
            <a:r>
              <a:rPr lang="en-US" altLang="zh-TW" dirty="0" smtClean="0"/>
              <a:t>equilibrium </a:t>
            </a:r>
            <a:r>
              <a:rPr lang="en-US" altLang="zh-TW" dirty="0" smtClean="0"/>
              <a:t>returns</a:t>
            </a:r>
            <a:endParaRPr lang="zh-TW" altLang="en-US" dirty="0"/>
          </a:p>
        </p:txBody>
      </p:sp>
      <p:sp>
        <p:nvSpPr>
          <p:cNvPr id="3" name="文字方塊 2"/>
          <p:cNvSpPr txBox="1"/>
          <p:nvPr/>
        </p:nvSpPr>
        <p:spPr>
          <a:xfrm>
            <a:off x="323528" y="1412776"/>
            <a:ext cx="8568952" cy="830997"/>
          </a:xfrm>
          <a:prstGeom prst="rect">
            <a:avLst/>
          </a:prstGeom>
          <a:noFill/>
        </p:spPr>
        <p:txBody>
          <a:bodyPr wrap="square" rtlCol="0">
            <a:spAutoFit/>
          </a:bodyPr>
          <a:lstStyle/>
          <a:p>
            <a:pPr>
              <a:buFont typeface="Arial" pitchFamily="34" charset="0"/>
              <a:buChar char="•"/>
            </a:pPr>
            <a:r>
              <a:rPr lang="en-US" altLang="zh-TW" sz="2400" dirty="0" smtClean="0">
                <a:solidFill>
                  <a:srgbClr val="00B0F0"/>
                </a:solidFill>
              </a:rPr>
              <a:t>CAPM </a:t>
            </a:r>
            <a:r>
              <a:rPr lang="en-US" altLang="zh-TW" sz="2400" dirty="0" smtClean="0">
                <a:solidFill>
                  <a:srgbClr val="00B0F0"/>
                </a:solidFill>
              </a:rPr>
              <a:t>describes the linear relationship between risk and return when the market is equilibrium.</a:t>
            </a:r>
          </a:p>
        </p:txBody>
      </p:sp>
      <p:sp>
        <p:nvSpPr>
          <p:cNvPr id="4" name="矩形 3"/>
          <p:cNvSpPr/>
          <p:nvPr/>
        </p:nvSpPr>
        <p:spPr>
          <a:xfrm>
            <a:off x="467544" y="2333685"/>
            <a:ext cx="8314693" cy="2308324"/>
          </a:xfrm>
          <a:prstGeom prst="rect">
            <a:avLst/>
          </a:prstGeom>
        </p:spPr>
        <p:txBody>
          <a:bodyPr wrap="square">
            <a:spAutoFit/>
          </a:bodyPr>
          <a:lstStyle/>
          <a:p>
            <a:pPr algn="ctr"/>
            <a:r>
              <a:rPr lang="en-US" altLang="zh-TW" sz="2400" i="1" dirty="0" smtClean="0"/>
              <a:t>E</a:t>
            </a:r>
            <a:r>
              <a:rPr lang="en-US" altLang="zh-TW" sz="2400" dirty="0" smtClean="0"/>
              <a:t>(</a:t>
            </a:r>
            <a:r>
              <a:rPr lang="en-US" altLang="zh-TW" sz="2400" dirty="0" err="1" smtClean="0"/>
              <a:t>r</a:t>
            </a:r>
            <a:r>
              <a:rPr lang="en-US" altLang="zh-TW" sz="2400" baseline="-25000" dirty="0" err="1" smtClean="0"/>
              <a:t>i</a:t>
            </a:r>
            <a:r>
              <a:rPr lang="en-US" altLang="zh-TW" sz="2400" dirty="0" smtClean="0"/>
              <a:t>)  = </a:t>
            </a:r>
            <a:r>
              <a:rPr lang="en-US" altLang="zh-TW" sz="2400" i="1" dirty="0" err="1" smtClean="0"/>
              <a:t>r</a:t>
            </a:r>
            <a:r>
              <a:rPr lang="en-US" altLang="zh-TW" sz="2400" i="1" baseline="-25000" dirty="0" err="1" smtClean="0"/>
              <a:t>f</a:t>
            </a:r>
            <a:r>
              <a:rPr lang="en-US" altLang="zh-TW" sz="2400" dirty="0" smtClean="0"/>
              <a:t> + </a:t>
            </a:r>
            <a:r>
              <a:rPr lang="el-GR" altLang="zh-TW" sz="2400" dirty="0" smtClean="0">
                <a:solidFill>
                  <a:srgbClr val="FF0000"/>
                </a:solidFill>
              </a:rPr>
              <a:t>β</a:t>
            </a:r>
            <a:r>
              <a:rPr lang="en-US" altLang="zh-TW" sz="2400" i="1" baseline="-25000" dirty="0" err="1" smtClean="0">
                <a:solidFill>
                  <a:srgbClr val="FF0000"/>
                </a:solidFill>
              </a:rPr>
              <a:t>i</a:t>
            </a:r>
            <a:r>
              <a:rPr lang="en-US" altLang="zh-TW" sz="2400" dirty="0" smtClean="0"/>
              <a:t>*</a:t>
            </a:r>
            <a:r>
              <a:rPr lang="en-US" altLang="zh-TW" sz="2400" dirty="0" err="1" smtClean="0"/>
              <a:t>r</a:t>
            </a:r>
            <a:r>
              <a:rPr lang="en-US" altLang="zh-TW" sz="2400" i="1" baseline="-25000" dirty="0" err="1" smtClean="0"/>
              <a:t>m</a:t>
            </a:r>
            <a:r>
              <a:rPr lang="en-US" altLang="zh-TW" sz="2400" dirty="0" smtClean="0"/>
              <a:t> + </a:t>
            </a:r>
            <a:r>
              <a:rPr lang="el-GR" altLang="zh-TW" sz="2400" i="1" dirty="0" smtClean="0"/>
              <a:t>α</a:t>
            </a:r>
            <a:r>
              <a:rPr lang="en-US" altLang="zh-TW" sz="2400" baseline="-25000" dirty="0" err="1" smtClean="0"/>
              <a:t>i</a:t>
            </a:r>
            <a:endParaRPr lang="en-US" altLang="zh-TW" sz="2400" baseline="-25000" dirty="0" smtClean="0"/>
          </a:p>
          <a:p>
            <a:pPr>
              <a:buFont typeface="Arial" pitchFamily="34" charset="0"/>
              <a:buChar char="•"/>
            </a:pPr>
            <a:r>
              <a:rPr lang="en-US" altLang="zh-TW" sz="2400" dirty="0" err="1" smtClean="0"/>
              <a:t>r</a:t>
            </a:r>
            <a:r>
              <a:rPr lang="en-US" altLang="zh-TW" sz="2400" baseline="-25000" dirty="0" err="1" smtClean="0"/>
              <a:t>f</a:t>
            </a:r>
            <a:r>
              <a:rPr lang="en-US" altLang="zh-TW" sz="2400" dirty="0" smtClean="0"/>
              <a:t>: risk free rate </a:t>
            </a:r>
          </a:p>
          <a:p>
            <a:pPr>
              <a:buFont typeface="Arial" pitchFamily="34" charset="0"/>
              <a:buChar char="•"/>
            </a:pPr>
            <a:r>
              <a:rPr lang="en-US" altLang="zh-TW" sz="2400" dirty="0" err="1" smtClean="0"/>
              <a:t>r</a:t>
            </a:r>
            <a:r>
              <a:rPr lang="en-US" altLang="zh-TW" sz="2400" i="1" baseline="-25000" dirty="0" err="1" smtClean="0"/>
              <a:t>m</a:t>
            </a:r>
            <a:r>
              <a:rPr lang="en-US" altLang="zh-TW" sz="2400" dirty="0" smtClean="0"/>
              <a:t>: excess return of the </a:t>
            </a:r>
            <a:r>
              <a:rPr lang="en-US" altLang="zh-TW" sz="2400" dirty="0" smtClean="0">
                <a:solidFill>
                  <a:srgbClr val="FF0000"/>
                </a:solidFill>
              </a:rPr>
              <a:t>market portfolio</a:t>
            </a:r>
          </a:p>
          <a:p>
            <a:pPr>
              <a:buFont typeface="Arial" pitchFamily="34" charset="0"/>
              <a:buChar char="•"/>
            </a:pPr>
            <a:r>
              <a:rPr lang="el-GR" altLang="zh-TW" sz="2400" dirty="0" smtClean="0"/>
              <a:t>β</a:t>
            </a:r>
            <a:r>
              <a:rPr lang="en-US" altLang="zh-TW" sz="2400" i="1" baseline="-25000" dirty="0" err="1" smtClean="0"/>
              <a:t>i</a:t>
            </a:r>
            <a:r>
              <a:rPr lang="en-US" altLang="zh-TW" sz="2400" dirty="0" smtClean="0"/>
              <a:t>: regression coefficient，</a:t>
            </a:r>
            <a:r>
              <a:rPr lang="el-GR" altLang="zh-TW" sz="2400" dirty="0" smtClean="0"/>
              <a:t> β</a:t>
            </a:r>
            <a:r>
              <a:rPr lang="en-US" altLang="zh-TW" sz="2400" dirty="0" smtClean="0"/>
              <a:t> = </a:t>
            </a:r>
            <a:r>
              <a:rPr lang="el-GR" altLang="zh-TW" sz="2400" dirty="0" smtClean="0"/>
              <a:t>ρ</a:t>
            </a:r>
            <a:r>
              <a:rPr lang="en-US" altLang="zh-TW" sz="2400" dirty="0" smtClean="0"/>
              <a:t> *</a:t>
            </a:r>
            <a:r>
              <a:rPr lang="el-GR" altLang="zh-TW" sz="2400" dirty="0" smtClean="0"/>
              <a:t> σ</a:t>
            </a:r>
            <a:r>
              <a:rPr lang="en-US" altLang="zh-TW" sz="2400" baseline="-25000" dirty="0" smtClean="0"/>
              <a:t>p</a:t>
            </a:r>
            <a:r>
              <a:rPr lang="en-US" altLang="zh-TW" sz="2400" dirty="0" smtClean="0"/>
              <a:t>/</a:t>
            </a:r>
            <a:r>
              <a:rPr lang="el-GR" altLang="zh-TW" sz="2400" dirty="0" smtClean="0"/>
              <a:t> σ</a:t>
            </a:r>
            <a:r>
              <a:rPr lang="en-US" altLang="zh-TW" sz="2400" baseline="-25000" dirty="0" smtClean="0"/>
              <a:t>m</a:t>
            </a:r>
          </a:p>
          <a:p>
            <a:pPr>
              <a:buFont typeface="Arial" pitchFamily="34" charset="0"/>
              <a:buChar char="•"/>
            </a:pPr>
            <a:r>
              <a:rPr lang="el-GR" altLang="zh-TW" sz="2400" dirty="0" smtClean="0"/>
              <a:t>α</a:t>
            </a:r>
            <a:r>
              <a:rPr lang="en-US" altLang="zh-TW" sz="2400" i="1" baseline="-25000" dirty="0" err="1" smtClean="0"/>
              <a:t>i</a:t>
            </a:r>
            <a:r>
              <a:rPr lang="en-US" altLang="zh-TW" sz="2400" dirty="0" smtClean="0"/>
              <a:t>: residual (specific excess return)</a:t>
            </a:r>
          </a:p>
          <a:p>
            <a:pPr>
              <a:buFont typeface="Arial" pitchFamily="34" charset="0"/>
              <a:buChar char="•"/>
            </a:pPr>
            <a:endParaRPr lang="en-US" altLang="zh-TW" sz="2400" dirty="0" smtClean="0"/>
          </a:p>
        </p:txBody>
      </p:sp>
      <p:sp>
        <p:nvSpPr>
          <p:cNvPr id="5" name="投影片編號版面配置區 4"/>
          <p:cNvSpPr>
            <a:spLocks noGrp="1"/>
          </p:cNvSpPr>
          <p:nvPr>
            <p:ph type="sldNum" sz="quarter" idx="12"/>
          </p:nvPr>
        </p:nvSpPr>
        <p:spPr/>
        <p:txBody>
          <a:bodyPr/>
          <a:lstStyle/>
          <a:p>
            <a:fld id="{B58685C2-6A2E-4873-8297-09AE79A8BE05}" type="slidenum">
              <a:rPr lang="zh-TW" altLang="en-US" smtClean="0"/>
              <a:pPr/>
              <a:t>11</a:t>
            </a:fld>
            <a:endParaRPr lang="zh-TW" altLang="en-US"/>
          </a:p>
        </p:txBody>
      </p:sp>
      <p:pic>
        <p:nvPicPr>
          <p:cNvPr id="6" name="圖片 5" descr="fd5f61cee83558fb7dd62a3928e6fd89.png"/>
          <p:cNvPicPr>
            <a:picLocks noChangeAspect="1"/>
          </p:cNvPicPr>
          <p:nvPr/>
        </p:nvPicPr>
        <p:blipFill>
          <a:blip r:embed="rId2" cstate="print"/>
          <a:stretch>
            <a:fillRect/>
          </a:stretch>
        </p:blipFill>
        <p:spPr>
          <a:xfrm>
            <a:off x="899592" y="5445224"/>
            <a:ext cx="2868063" cy="576064"/>
          </a:xfrm>
          <a:prstGeom prst="rect">
            <a:avLst/>
          </a:prstGeom>
        </p:spPr>
      </p:pic>
      <p:sp>
        <p:nvSpPr>
          <p:cNvPr id="7" name="文字方塊 6"/>
          <p:cNvSpPr txBox="1"/>
          <p:nvPr/>
        </p:nvSpPr>
        <p:spPr>
          <a:xfrm>
            <a:off x="611560" y="4725144"/>
            <a:ext cx="4176464" cy="461665"/>
          </a:xfrm>
          <a:prstGeom prst="rect">
            <a:avLst/>
          </a:prstGeom>
          <a:noFill/>
        </p:spPr>
        <p:txBody>
          <a:bodyPr wrap="square" rtlCol="0">
            <a:spAutoFit/>
          </a:bodyPr>
          <a:lstStyle/>
          <a:p>
            <a:r>
              <a:rPr lang="zh-TW" altLang="en-US" sz="2400" dirty="0" smtClean="0">
                <a:solidFill>
                  <a:srgbClr val="FF0000"/>
                </a:solidFill>
              </a:rPr>
              <a:t>較常見的寫法</a:t>
            </a:r>
            <a:r>
              <a:rPr lang="en-US" altLang="zh-TW" sz="2400" dirty="0" smtClean="0">
                <a:solidFill>
                  <a:srgbClr val="FF0000"/>
                </a:solidFill>
              </a:rPr>
              <a:t>(from </a:t>
            </a:r>
            <a:r>
              <a:rPr lang="en-US" altLang="zh-TW" sz="2400" dirty="0" err="1" smtClean="0">
                <a:solidFill>
                  <a:srgbClr val="FF0000"/>
                </a:solidFill>
              </a:rPr>
              <a:t>wikipedia</a:t>
            </a:r>
            <a:r>
              <a:rPr lang="en-US" altLang="zh-TW" sz="2400" dirty="0" smtClean="0">
                <a:solidFill>
                  <a:srgbClr val="FF0000"/>
                </a:solidFill>
              </a:rPr>
              <a:t>):</a:t>
            </a:r>
            <a:endParaRPr lang="zh-TW" altLang="en-US" sz="2400" dirty="0">
              <a:solidFill>
                <a:srgbClr val="FF0000"/>
              </a:solidFill>
            </a:endParaRPr>
          </a:p>
        </p:txBody>
      </p:sp>
      <p:pic>
        <p:nvPicPr>
          <p:cNvPr id="9" name="圖片 8" descr="cb0265577e5b2d749617e8b4a5c9f3f2.png"/>
          <p:cNvPicPr>
            <a:picLocks noChangeAspect="1"/>
          </p:cNvPicPr>
          <p:nvPr/>
        </p:nvPicPr>
        <p:blipFill>
          <a:blip r:embed="rId3" cstate="print"/>
          <a:stretch>
            <a:fillRect/>
          </a:stretch>
        </p:blipFill>
        <p:spPr>
          <a:xfrm>
            <a:off x="4499992" y="5373216"/>
            <a:ext cx="2280253" cy="72008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B58685C2-6A2E-4873-8297-09AE79A8BE05}" type="slidenum">
              <a:rPr lang="zh-TW" altLang="en-US" smtClean="0"/>
              <a:pPr/>
              <a:t>12</a:t>
            </a:fld>
            <a:endParaRPr lang="zh-TW" altLang="en-US"/>
          </a:p>
        </p:txBody>
      </p:sp>
      <p:sp>
        <p:nvSpPr>
          <p:cNvPr id="4" name="矩形 3"/>
          <p:cNvSpPr/>
          <p:nvPr/>
        </p:nvSpPr>
        <p:spPr>
          <a:xfrm>
            <a:off x="251520" y="620688"/>
            <a:ext cx="8568952" cy="1015663"/>
          </a:xfrm>
          <a:prstGeom prst="rect">
            <a:avLst/>
          </a:prstGeom>
        </p:spPr>
        <p:txBody>
          <a:bodyPr wrap="square">
            <a:spAutoFit/>
          </a:bodyPr>
          <a:lstStyle/>
          <a:p>
            <a:pPr>
              <a:buFont typeface="Arial" pitchFamily="34" charset="0"/>
              <a:buChar char="•"/>
            </a:pPr>
            <a:r>
              <a:rPr lang="el-GR" altLang="zh-TW" sz="2000" dirty="0" smtClean="0"/>
              <a:t>α</a:t>
            </a:r>
            <a:r>
              <a:rPr lang="en-US" altLang="zh-TW" sz="2000" i="1" baseline="-25000" dirty="0" err="1" smtClean="0"/>
              <a:t>i</a:t>
            </a:r>
            <a:r>
              <a:rPr lang="zh-TW" altLang="en-US" sz="2000" dirty="0" smtClean="0"/>
              <a:t>代表個別資產獨有的超額報酬，其風險可由投資組合減少</a:t>
            </a:r>
            <a:endParaRPr lang="en-US" altLang="zh-TW" sz="2000" dirty="0" smtClean="0"/>
          </a:p>
          <a:p>
            <a:pPr>
              <a:buFont typeface="Arial" pitchFamily="34" charset="0"/>
              <a:buChar char="•"/>
            </a:pPr>
            <a:r>
              <a:rPr lang="el-GR" altLang="zh-TW" sz="2000" dirty="0" smtClean="0"/>
              <a:t>β</a:t>
            </a:r>
            <a:r>
              <a:rPr lang="en-US" altLang="zh-TW" sz="2000" i="1" baseline="-25000" dirty="0" err="1" smtClean="0"/>
              <a:t>i</a:t>
            </a:r>
            <a:r>
              <a:rPr lang="zh-TW" altLang="en-US" sz="2000" dirty="0" smtClean="0"/>
              <a:t>與市場投資組合報酬有關，其風險無法由投資組合消除的系統性風險。</a:t>
            </a:r>
            <a:endParaRPr lang="en-US" altLang="zh-TW" sz="2000" dirty="0" smtClean="0">
              <a:solidFill>
                <a:srgbClr val="00B0F0"/>
              </a:solidFill>
            </a:endParaRPr>
          </a:p>
          <a:p>
            <a:pPr>
              <a:buFont typeface="Arial" pitchFamily="34" charset="0"/>
              <a:buChar char="•"/>
            </a:pPr>
            <a:r>
              <a:rPr lang="el-GR" altLang="zh-TW" sz="2000" dirty="0" smtClean="0">
                <a:solidFill>
                  <a:srgbClr val="00B0F0"/>
                </a:solidFill>
              </a:rPr>
              <a:t>β</a:t>
            </a:r>
            <a:r>
              <a:rPr lang="en-US" altLang="zh-TW" sz="2000" i="1" baseline="-25000" dirty="0" err="1" smtClean="0">
                <a:solidFill>
                  <a:srgbClr val="00B0F0"/>
                </a:solidFill>
              </a:rPr>
              <a:t>i</a:t>
            </a:r>
            <a:r>
              <a:rPr lang="zh-TW" altLang="en-US" sz="2000" dirty="0" smtClean="0">
                <a:solidFill>
                  <a:srgbClr val="00B0F0"/>
                </a:solidFill>
              </a:rPr>
              <a:t>可視為個別資產與市場投資組合相關的波動程度</a:t>
            </a:r>
            <a:r>
              <a:rPr lang="en-US" altLang="zh-TW" sz="2000" dirty="0" smtClean="0">
                <a:solidFill>
                  <a:srgbClr val="00B0F0"/>
                </a:solidFill>
              </a:rPr>
              <a:t>(</a:t>
            </a:r>
            <a:r>
              <a:rPr lang="en-US" altLang="zh-TW" sz="2000" dirty="0" err="1" smtClean="0">
                <a:solidFill>
                  <a:srgbClr val="00B0F0"/>
                </a:solidFill>
              </a:rPr>
              <a:t>常用</a:t>
            </a:r>
            <a:r>
              <a:rPr lang="en-US" altLang="zh-TW" sz="2000" dirty="0" smtClean="0">
                <a:solidFill>
                  <a:srgbClr val="00B0F0"/>
                </a:solidFill>
              </a:rPr>
              <a:t>)</a:t>
            </a:r>
          </a:p>
        </p:txBody>
      </p:sp>
      <p:sp>
        <p:nvSpPr>
          <p:cNvPr id="5" name="矩形 4"/>
          <p:cNvSpPr/>
          <p:nvPr/>
        </p:nvSpPr>
        <p:spPr>
          <a:xfrm>
            <a:off x="2411760" y="116632"/>
            <a:ext cx="2640466" cy="461665"/>
          </a:xfrm>
          <a:prstGeom prst="rect">
            <a:avLst/>
          </a:prstGeom>
        </p:spPr>
        <p:txBody>
          <a:bodyPr wrap="none">
            <a:spAutoFit/>
          </a:bodyPr>
          <a:lstStyle/>
          <a:p>
            <a:pPr algn="ctr"/>
            <a:r>
              <a:rPr lang="en-US" altLang="zh-TW" sz="2400" i="1" dirty="0" smtClean="0"/>
              <a:t>E</a:t>
            </a:r>
            <a:r>
              <a:rPr lang="en-US" altLang="zh-TW" sz="2400" dirty="0" smtClean="0"/>
              <a:t>(</a:t>
            </a:r>
            <a:r>
              <a:rPr lang="en-US" altLang="zh-TW" sz="2400" dirty="0" err="1" smtClean="0"/>
              <a:t>r</a:t>
            </a:r>
            <a:r>
              <a:rPr lang="en-US" altLang="zh-TW" sz="2400" baseline="-25000" dirty="0" err="1" smtClean="0"/>
              <a:t>i</a:t>
            </a:r>
            <a:r>
              <a:rPr lang="en-US" altLang="zh-TW" sz="2400" dirty="0" smtClean="0"/>
              <a:t>)  = </a:t>
            </a:r>
            <a:r>
              <a:rPr lang="en-US" altLang="zh-TW" sz="2400" i="1" dirty="0" err="1" smtClean="0"/>
              <a:t>r</a:t>
            </a:r>
            <a:r>
              <a:rPr lang="en-US" altLang="zh-TW" sz="2400" i="1" baseline="-25000" dirty="0" err="1" smtClean="0"/>
              <a:t>f</a:t>
            </a:r>
            <a:r>
              <a:rPr lang="en-US" altLang="zh-TW" sz="2400" dirty="0" smtClean="0"/>
              <a:t> + </a:t>
            </a:r>
            <a:r>
              <a:rPr lang="el-GR" altLang="zh-TW" sz="2400" dirty="0" smtClean="0">
                <a:solidFill>
                  <a:srgbClr val="FF0000"/>
                </a:solidFill>
              </a:rPr>
              <a:t>β</a:t>
            </a:r>
            <a:r>
              <a:rPr lang="en-US" altLang="zh-TW" sz="2400" i="1" baseline="-25000" dirty="0" err="1" smtClean="0">
                <a:solidFill>
                  <a:srgbClr val="FF0000"/>
                </a:solidFill>
              </a:rPr>
              <a:t>i</a:t>
            </a:r>
            <a:r>
              <a:rPr lang="en-US" altLang="zh-TW" sz="2400" dirty="0" smtClean="0"/>
              <a:t>*</a:t>
            </a:r>
            <a:r>
              <a:rPr lang="en-US" altLang="zh-TW" sz="2400" dirty="0" err="1" smtClean="0"/>
              <a:t>r</a:t>
            </a:r>
            <a:r>
              <a:rPr lang="en-US" altLang="zh-TW" sz="2400" i="1" baseline="-25000" dirty="0" err="1" smtClean="0"/>
              <a:t>m</a:t>
            </a:r>
            <a:r>
              <a:rPr lang="en-US" altLang="zh-TW" sz="2400" dirty="0" smtClean="0"/>
              <a:t> + </a:t>
            </a:r>
            <a:r>
              <a:rPr lang="el-GR" altLang="zh-TW" sz="2400" i="1" dirty="0" smtClean="0"/>
              <a:t>α</a:t>
            </a:r>
            <a:r>
              <a:rPr lang="en-US" altLang="zh-TW" sz="2400" baseline="-25000" dirty="0" err="1" smtClean="0"/>
              <a:t>i</a:t>
            </a:r>
            <a:endParaRPr lang="en-US" altLang="zh-TW" sz="2400" baseline="-25000" dirty="0" smtClean="0"/>
          </a:p>
        </p:txBody>
      </p:sp>
      <p:pic>
        <p:nvPicPr>
          <p:cNvPr id="6" name="圖片 5" descr="funddj.png"/>
          <p:cNvPicPr>
            <a:picLocks noChangeAspect="1"/>
          </p:cNvPicPr>
          <p:nvPr/>
        </p:nvPicPr>
        <p:blipFill>
          <a:blip r:embed="rId2" cstate="print"/>
          <a:stretch>
            <a:fillRect/>
          </a:stretch>
        </p:blipFill>
        <p:spPr>
          <a:xfrm>
            <a:off x="755576" y="1844824"/>
            <a:ext cx="7344816" cy="4896544"/>
          </a:xfrm>
          <a:prstGeom prst="rect">
            <a:avLst/>
          </a:prstGeom>
        </p:spPr>
      </p:pic>
      <p:sp>
        <p:nvSpPr>
          <p:cNvPr id="7" name="矩形 6"/>
          <p:cNvSpPr/>
          <p:nvPr/>
        </p:nvSpPr>
        <p:spPr>
          <a:xfrm>
            <a:off x="7740352" y="2060848"/>
            <a:ext cx="360040" cy="46805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lstStyle/>
          <a:p>
            <a:r>
              <a:rPr lang="en-US" altLang="zh-TW" dirty="0" smtClean="0"/>
              <a:t>Market portfolio</a:t>
            </a:r>
            <a:endParaRPr lang="zh-TW" altLang="en-US" dirty="0"/>
          </a:p>
        </p:txBody>
      </p:sp>
      <p:sp>
        <p:nvSpPr>
          <p:cNvPr id="3" name="投影片編號版面配置區 2"/>
          <p:cNvSpPr>
            <a:spLocks noGrp="1"/>
          </p:cNvSpPr>
          <p:nvPr>
            <p:ph type="sldNum" sz="quarter" idx="12"/>
          </p:nvPr>
        </p:nvSpPr>
        <p:spPr/>
        <p:txBody>
          <a:bodyPr/>
          <a:lstStyle/>
          <a:p>
            <a:fld id="{B58685C2-6A2E-4873-8297-09AE79A8BE05}" type="slidenum">
              <a:rPr lang="zh-TW" altLang="en-US" smtClean="0"/>
              <a:pPr/>
              <a:t>13</a:t>
            </a:fld>
            <a:endParaRPr lang="zh-TW" altLang="en-US"/>
          </a:p>
        </p:txBody>
      </p:sp>
      <p:pic>
        <p:nvPicPr>
          <p:cNvPr id="4" name="圖片 3" descr="Markowitz_frontier (1).jpg"/>
          <p:cNvPicPr>
            <a:picLocks noChangeAspect="1"/>
          </p:cNvPicPr>
          <p:nvPr/>
        </p:nvPicPr>
        <p:blipFill>
          <a:blip r:embed="rId2" cstate="print"/>
          <a:stretch>
            <a:fillRect/>
          </a:stretch>
        </p:blipFill>
        <p:spPr>
          <a:xfrm>
            <a:off x="899592" y="908720"/>
            <a:ext cx="6264696" cy="3816424"/>
          </a:xfrm>
          <a:prstGeom prst="rect">
            <a:avLst/>
          </a:prstGeom>
        </p:spPr>
      </p:pic>
      <p:sp>
        <p:nvSpPr>
          <p:cNvPr id="5" name="文字方塊 4"/>
          <p:cNvSpPr txBox="1"/>
          <p:nvPr/>
        </p:nvSpPr>
        <p:spPr>
          <a:xfrm>
            <a:off x="251520" y="5229200"/>
            <a:ext cx="8712968" cy="1292662"/>
          </a:xfrm>
          <a:prstGeom prst="rect">
            <a:avLst/>
          </a:prstGeom>
          <a:noFill/>
        </p:spPr>
        <p:txBody>
          <a:bodyPr wrap="square" rtlCol="0">
            <a:spAutoFit/>
          </a:bodyPr>
          <a:lstStyle/>
          <a:p>
            <a:pPr>
              <a:buFont typeface="Arial" pitchFamily="34" charset="0"/>
              <a:buChar char="•"/>
            </a:pPr>
            <a:r>
              <a:rPr lang="en-US" altLang="zh-TW" dirty="0" smtClean="0"/>
              <a:t>CAL(capital allocation line): </a:t>
            </a:r>
          </a:p>
          <a:p>
            <a:pPr lvl="1">
              <a:buFont typeface="Arial" pitchFamily="34" charset="0"/>
              <a:buChar char="•"/>
            </a:pPr>
            <a:r>
              <a:rPr lang="en-US" altLang="zh-TW" sz="2000" dirty="0" err="1" smtClean="0"/>
              <a:t>資金投資在</a:t>
            </a:r>
            <a:r>
              <a:rPr lang="en-US" altLang="zh-TW" sz="2000" u="sng" dirty="0" err="1" smtClean="0"/>
              <a:t>無風險資產</a:t>
            </a:r>
            <a:r>
              <a:rPr lang="en-US" altLang="zh-TW" sz="2000" dirty="0" err="1" smtClean="0"/>
              <a:t>與</a:t>
            </a:r>
            <a:r>
              <a:rPr lang="en-US" altLang="zh-TW" sz="2000" u="sng" dirty="0" err="1" smtClean="0"/>
              <a:t>風險資產</a:t>
            </a:r>
            <a:r>
              <a:rPr lang="en-US" altLang="zh-TW" sz="2000" dirty="0" err="1" smtClean="0"/>
              <a:t>時，在不同比例下所產生的最佳結果</a:t>
            </a:r>
            <a:endParaRPr lang="en-US" altLang="zh-TW" sz="2000" dirty="0" smtClean="0"/>
          </a:p>
          <a:p>
            <a:pPr lvl="1">
              <a:buFont typeface="Arial" pitchFamily="34" charset="0"/>
              <a:buChar char="•"/>
            </a:pPr>
            <a:r>
              <a:rPr lang="zh-TW" altLang="en-US" sz="2000" dirty="0" smtClean="0"/>
              <a:t>與單純只投資在風險性資產所得到的效率前緣有切點</a:t>
            </a:r>
            <a:endParaRPr lang="en-US" altLang="zh-TW" sz="2000" dirty="0" smtClean="0"/>
          </a:p>
          <a:p>
            <a:pPr lvl="1">
              <a:buFont typeface="Arial" pitchFamily="34" charset="0"/>
              <a:buChar char="•"/>
            </a:pPr>
            <a:r>
              <a:rPr lang="zh-TW" altLang="en-US" sz="2000" dirty="0" smtClean="0"/>
              <a:t>此切點之投資組稱為</a:t>
            </a:r>
            <a:r>
              <a:rPr lang="en-US" altLang="zh-TW" sz="2000" dirty="0" smtClean="0"/>
              <a:t>market portfolio (tangency portfolio)</a:t>
            </a:r>
            <a:endParaRPr lang="zh-TW" altLang="en-US" sz="2000" dirty="0"/>
          </a:p>
        </p:txBody>
      </p:sp>
      <p:sp>
        <p:nvSpPr>
          <p:cNvPr id="6" name="圓角矩形圖說文字 5"/>
          <p:cNvSpPr/>
          <p:nvPr/>
        </p:nvSpPr>
        <p:spPr>
          <a:xfrm>
            <a:off x="6660232" y="3645024"/>
            <a:ext cx="2232248" cy="576064"/>
          </a:xfrm>
          <a:prstGeom prst="wedgeRoundRectCallout">
            <a:avLst>
              <a:gd name="adj1" fmla="val -104246"/>
              <a:gd name="adj2" fmla="val -39172"/>
              <a:gd name="adj3" fmla="val 16667"/>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solidFill>
                  <a:srgbClr val="002060"/>
                </a:solidFill>
              </a:rPr>
              <a:t>完全以風險性資產所形成的效率前緣</a:t>
            </a:r>
            <a:endParaRPr lang="zh-TW" altLang="en-US" dirty="0">
              <a:solidFill>
                <a:srgbClr val="002060"/>
              </a:solidFill>
            </a:endParaRPr>
          </a:p>
        </p:txBody>
      </p:sp>
      <p:sp>
        <p:nvSpPr>
          <p:cNvPr id="7" name="圓角矩形圖說文字 6"/>
          <p:cNvSpPr/>
          <p:nvPr/>
        </p:nvSpPr>
        <p:spPr>
          <a:xfrm>
            <a:off x="107504" y="548680"/>
            <a:ext cx="2232248" cy="1008112"/>
          </a:xfrm>
          <a:prstGeom prst="wedgeRoundRectCallout">
            <a:avLst>
              <a:gd name="adj1" fmla="val 138722"/>
              <a:gd name="adj2" fmla="val 89993"/>
              <a:gd name="adj3" fmla="val 16667"/>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en-US" sz="2000" dirty="0" smtClean="0">
                <a:solidFill>
                  <a:srgbClr val="002060"/>
                </a:solidFill>
              </a:rPr>
              <a:t>風險性資產加上無風險資產所形成的效率前緣</a:t>
            </a:r>
            <a:endParaRPr lang="zh-TW" altLang="en-US" sz="2000" dirty="0">
              <a:solidFill>
                <a:srgbClr val="00206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Portfolio without risk-free asset</a:t>
            </a:r>
            <a:endParaRPr lang="zh-TW" altLang="en-US" dirty="0"/>
          </a:p>
        </p:txBody>
      </p:sp>
      <p:sp>
        <p:nvSpPr>
          <p:cNvPr id="2" name="投影片編號版面配置區 1"/>
          <p:cNvSpPr>
            <a:spLocks noGrp="1"/>
          </p:cNvSpPr>
          <p:nvPr>
            <p:ph type="sldNum" sz="quarter" idx="12"/>
          </p:nvPr>
        </p:nvSpPr>
        <p:spPr/>
        <p:txBody>
          <a:bodyPr/>
          <a:lstStyle/>
          <a:p>
            <a:fld id="{B58685C2-6A2E-4873-8297-09AE79A8BE05}" type="slidenum">
              <a:rPr lang="zh-TW" altLang="en-US" smtClean="0"/>
              <a:pPr/>
              <a:t>14</a:t>
            </a:fld>
            <a:endParaRPr lang="zh-TW" altLang="en-US"/>
          </a:p>
        </p:txBody>
      </p:sp>
      <p:graphicFrame>
        <p:nvGraphicFramePr>
          <p:cNvPr id="34818" name="Object 2"/>
          <p:cNvGraphicFramePr>
            <a:graphicFrameLocks noChangeAspect="1"/>
          </p:cNvGraphicFramePr>
          <p:nvPr/>
        </p:nvGraphicFramePr>
        <p:xfrm>
          <a:off x="467544" y="1700808"/>
          <a:ext cx="7880350" cy="4319587"/>
        </p:xfrm>
        <a:graphic>
          <a:graphicData uri="http://schemas.openxmlformats.org/presentationml/2006/ole">
            <p:oleObj spid="_x0000_s34818" name="方程式" r:id="rId3" imgW="2501640" imgH="1371600" progId="Equation.3">
              <p:embed/>
            </p:oleObj>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Portfolio with risk-free asset</a:t>
            </a:r>
            <a:endParaRPr lang="zh-TW" altLang="en-US" dirty="0"/>
          </a:p>
        </p:txBody>
      </p:sp>
      <p:sp>
        <p:nvSpPr>
          <p:cNvPr id="2" name="投影片編號版面配置區 1"/>
          <p:cNvSpPr>
            <a:spLocks noGrp="1"/>
          </p:cNvSpPr>
          <p:nvPr>
            <p:ph type="sldNum" sz="quarter" idx="12"/>
          </p:nvPr>
        </p:nvSpPr>
        <p:spPr/>
        <p:txBody>
          <a:bodyPr/>
          <a:lstStyle/>
          <a:p>
            <a:fld id="{B58685C2-6A2E-4873-8297-09AE79A8BE05}" type="slidenum">
              <a:rPr lang="zh-TW" altLang="en-US" smtClean="0"/>
              <a:pPr/>
              <a:t>15</a:t>
            </a:fld>
            <a:endParaRPr lang="zh-TW" altLang="en-US"/>
          </a:p>
        </p:txBody>
      </p:sp>
      <p:graphicFrame>
        <p:nvGraphicFramePr>
          <p:cNvPr id="35842" name="Object 2"/>
          <p:cNvGraphicFramePr>
            <a:graphicFrameLocks noChangeAspect="1"/>
          </p:cNvGraphicFramePr>
          <p:nvPr/>
        </p:nvGraphicFramePr>
        <p:xfrm>
          <a:off x="1331640" y="2780928"/>
          <a:ext cx="6200775" cy="3000375"/>
        </p:xfrm>
        <a:graphic>
          <a:graphicData uri="http://schemas.openxmlformats.org/presentationml/2006/ole">
            <p:oleObj spid="_x0000_s35842" name="方程式" r:id="rId3" imgW="1968480" imgH="952200" progId="Equation.3">
              <p:embed/>
            </p:oleObj>
          </a:graphicData>
        </a:graphic>
      </p:graphicFrame>
      <p:sp>
        <p:nvSpPr>
          <p:cNvPr id="4" name="文字方塊 3"/>
          <p:cNvSpPr txBox="1"/>
          <p:nvPr/>
        </p:nvSpPr>
        <p:spPr>
          <a:xfrm>
            <a:off x="323528" y="1628800"/>
            <a:ext cx="8568952" cy="584775"/>
          </a:xfrm>
          <a:prstGeom prst="rect">
            <a:avLst/>
          </a:prstGeom>
          <a:noFill/>
        </p:spPr>
        <p:txBody>
          <a:bodyPr wrap="square" rtlCol="0">
            <a:spAutoFit/>
          </a:bodyPr>
          <a:lstStyle/>
          <a:p>
            <a:r>
              <a:rPr lang="en-US" altLang="zh-TW" sz="3200" dirty="0" smtClean="0"/>
              <a:t>Add risk free asset with return R</a:t>
            </a:r>
            <a:r>
              <a:rPr lang="en-US" altLang="zh-TW" sz="3200" baseline="-25000" dirty="0" smtClean="0"/>
              <a:t>0</a:t>
            </a:r>
            <a:r>
              <a:rPr lang="en-US" altLang="zh-TW" sz="3200" dirty="0" smtClean="0"/>
              <a:t> and weight  W</a:t>
            </a:r>
            <a:r>
              <a:rPr lang="en-US" altLang="zh-TW" sz="3200" baseline="-25000" dirty="0" smtClean="0"/>
              <a:t>0</a:t>
            </a:r>
            <a:endParaRPr lang="zh-TW" altLang="en-US" sz="3200" baseline="-25000" dirty="0"/>
          </a:p>
        </p:txBody>
      </p:sp>
      <p:sp>
        <p:nvSpPr>
          <p:cNvPr id="6" name="文字方塊 5"/>
          <p:cNvSpPr txBox="1"/>
          <p:nvPr/>
        </p:nvSpPr>
        <p:spPr>
          <a:xfrm>
            <a:off x="5148064" y="5229200"/>
            <a:ext cx="3600400" cy="369332"/>
          </a:xfrm>
          <a:prstGeom prst="rect">
            <a:avLst/>
          </a:prstGeom>
          <a:noFill/>
        </p:spPr>
        <p:txBody>
          <a:bodyPr wrap="square" rtlCol="0">
            <a:spAutoFit/>
          </a:bodyPr>
          <a:lstStyle/>
          <a:p>
            <a:r>
              <a:rPr lang="en-US" altLang="zh-TW" dirty="0" smtClean="0">
                <a:solidFill>
                  <a:srgbClr val="FF0000"/>
                </a:solidFill>
              </a:rPr>
              <a:t>(</a:t>
            </a:r>
            <a:r>
              <a:rPr lang="zh-TW" altLang="en-US" dirty="0" smtClean="0">
                <a:solidFill>
                  <a:srgbClr val="FF0000"/>
                </a:solidFill>
              </a:rPr>
              <a:t>無風險資產不會產生價格變動</a:t>
            </a:r>
            <a:r>
              <a:rPr lang="en-US" altLang="zh-TW" dirty="0" smtClean="0">
                <a:solidFill>
                  <a:srgbClr val="FF0000"/>
                </a:solidFill>
              </a:rPr>
              <a:t>)</a:t>
            </a:r>
            <a:endParaRPr lang="zh-TW" altLang="en-US"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B58685C2-6A2E-4873-8297-09AE79A8BE05}" type="slidenum">
              <a:rPr lang="zh-TW" altLang="en-US" smtClean="0"/>
              <a:pPr/>
              <a:t>16</a:t>
            </a:fld>
            <a:endParaRPr lang="zh-TW" altLang="en-US"/>
          </a:p>
        </p:txBody>
      </p:sp>
      <p:sp>
        <p:nvSpPr>
          <p:cNvPr id="7" name="文字方塊 6"/>
          <p:cNvSpPr txBox="1"/>
          <p:nvPr/>
        </p:nvSpPr>
        <p:spPr>
          <a:xfrm>
            <a:off x="755576" y="260648"/>
            <a:ext cx="5400600" cy="584775"/>
          </a:xfrm>
          <a:prstGeom prst="rect">
            <a:avLst/>
          </a:prstGeom>
          <a:noFill/>
        </p:spPr>
        <p:txBody>
          <a:bodyPr wrap="square" rtlCol="0">
            <a:spAutoFit/>
          </a:bodyPr>
          <a:lstStyle/>
          <a:p>
            <a:r>
              <a:rPr lang="en-US" altLang="zh-TW" sz="3200" dirty="0" smtClean="0"/>
              <a:t>Let </a:t>
            </a:r>
            <a:r>
              <a:rPr lang="en-US" altLang="zh-TW" sz="3200" dirty="0" smtClean="0">
                <a:solidFill>
                  <a:srgbClr val="00B0F0"/>
                </a:solidFill>
              </a:rPr>
              <a:t>excess return: </a:t>
            </a:r>
            <a:r>
              <a:rPr lang="en-US" altLang="zh-TW" sz="3200" i="1" dirty="0" err="1" smtClean="0">
                <a:solidFill>
                  <a:srgbClr val="00B0F0"/>
                </a:solidFill>
              </a:rPr>
              <a:t>r</a:t>
            </a:r>
            <a:r>
              <a:rPr lang="en-US" altLang="zh-TW" sz="3200" i="1" baseline="-25000" dirty="0" err="1" smtClean="0">
                <a:solidFill>
                  <a:srgbClr val="00B0F0"/>
                </a:solidFill>
              </a:rPr>
              <a:t>i</a:t>
            </a:r>
            <a:r>
              <a:rPr lang="en-US" altLang="zh-TW" sz="3200" dirty="0" smtClean="0">
                <a:solidFill>
                  <a:srgbClr val="00B0F0"/>
                </a:solidFill>
              </a:rPr>
              <a:t>=</a:t>
            </a:r>
            <a:r>
              <a:rPr lang="en-US" altLang="zh-TW" sz="3200" i="1" dirty="0" smtClean="0">
                <a:solidFill>
                  <a:srgbClr val="00B0F0"/>
                </a:solidFill>
              </a:rPr>
              <a:t>R</a:t>
            </a:r>
            <a:r>
              <a:rPr lang="en-US" altLang="zh-TW" sz="3200" baseline="-25000" dirty="0" smtClean="0">
                <a:solidFill>
                  <a:srgbClr val="00B0F0"/>
                </a:solidFill>
              </a:rPr>
              <a:t>i</a:t>
            </a:r>
            <a:r>
              <a:rPr lang="en-US" altLang="zh-TW" sz="3200" dirty="0" smtClean="0">
                <a:solidFill>
                  <a:srgbClr val="00B0F0"/>
                </a:solidFill>
              </a:rPr>
              <a:t>-</a:t>
            </a:r>
            <a:r>
              <a:rPr lang="en-US" altLang="zh-TW" sz="3200" i="1" dirty="0" smtClean="0">
                <a:solidFill>
                  <a:srgbClr val="00B0F0"/>
                </a:solidFill>
              </a:rPr>
              <a:t>R</a:t>
            </a:r>
            <a:r>
              <a:rPr lang="en-US" altLang="zh-TW" sz="3200" baseline="-25000" dirty="0" smtClean="0">
                <a:solidFill>
                  <a:srgbClr val="00B0F0"/>
                </a:solidFill>
              </a:rPr>
              <a:t>0</a:t>
            </a:r>
            <a:endParaRPr lang="zh-TW" altLang="en-US" sz="3200" baseline="-25000" dirty="0">
              <a:solidFill>
                <a:srgbClr val="00B0F0"/>
              </a:solidFill>
            </a:endParaRPr>
          </a:p>
        </p:txBody>
      </p:sp>
      <p:graphicFrame>
        <p:nvGraphicFramePr>
          <p:cNvPr id="8" name="物件 7"/>
          <p:cNvGraphicFramePr>
            <a:graphicFrameLocks noChangeAspect="1"/>
          </p:cNvGraphicFramePr>
          <p:nvPr/>
        </p:nvGraphicFramePr>
        <p:xfrm>
          <a:off x="1115616" y="1052736"/>
          <a:ext cx="6372225" cy="720725"/>
        </p:xfrm>
        <a:graphic>
          <a:graphicData uri="http://schemas.openxmlformats.org/presentationml/2006/ole">
            <p:oleObj spid="_x0000_s36866" name="方程式" r:id="rId3" imgW="2247840" imgH="253800" progId="Equation.3">
              <p:embed/>
            </p:oleObj>
          </a:graphicData>
        </a:graphic>
      </p:graphicFrame>
      <p:sp>
        <p:nvSpPr>
          <p:cNvPr id="9" name="文字方塊 8"/>
          <p:cNvSpPr txBox="1"/>
          <p:nvPr/>
        </p:nvSpPr>
        <p:spPr>
          <a:xfrm>
            <a:off x="827584" y="1988840"/>
            <a:ext cx="7128792" cy="2062103"/>
          </a:xfrm>
          <a:prstGeom prst="rect">
            <a:avLst/>
          </a:prstGeom>
          <a:noFill/>
        </p:spPr>
        <p:txBody>
          <a:bodyPr wrap="square" rtlCol="0">
            <a:spAutoFit/>
          </a:bodyPr>
          <a:lstStyle/>
          <a:p>
            <a:r>
              <a:rPr lang="en-US" altLang="zh-TW" sz="3200" dirty="0" smtClean="0"/>
              <a:t>Given </a:t>
            </a:r>
            <a:r>
              <a:rPr lang="en-US" altLang="zh-TW" sz="3200" i="1" dirty="0" err="1" smtClean="0"/>
              <a:t>r</a:t>
            </a:r>
            <a:r>
              <a:rPr lang="en-US" altLang="zh-TW" sz="3200" i="1" baseline="-25000" dirty="0" err="1" smtClean="0"/>
              <a:t>p</a:t>
            </a:r>
            <a:endParaRPr lang="en-US" altLang="zh-TW" sz="3200" i="1" baseline="-25000" dirty="0" smtClean="0"/>
          </a:p>
          <a:p>
            <a:r>
              <a:rPr lang="en-US" altLang="zh-TW" sz="3200" dirty="0" smtClean="0"/>
              <a:t>minimize </a:t>
            </a:r>
            <a:r>
              <a:rPr lang="el-GR" altLang="zh-TW" sz="3200" i="1" dirty="0" smtClean="0"/>
              <a:t>σ</a:t>
            </a:r>
            <a:r>
              <a:rPr lang="en-US" altLang="zh-TW" sz="3200" i="1" baseline="-25000" dirty="0" smtClean="0"/>
              <a:t>p</a:t>
            </a:r>
            <a:r>
              <a:rPr lang="en-US" altLang="zh-TW" sz="3200" baseline="30000" dirty="0" smtClean="0"/>
              <a:t>2</a:t>
            </a:r>
          </a:p>
          <a:p>
            <a:r>
              <a:rPr lang="en-US" altLang="zh-TW" sz="3200" dirty="0" smtClean="0"/>
              <a:t>Subject to </a:t>
            </a:r>
            <a:r>
              <a:rPr lang="en-US" altLang="zh-TW" sz="3200" i="1" dirty="0" err="1" smtClean="0"/>
              <a:t>Wr</a:t>
            </a:r>
            <a:r>
              <a:rPr lang="en-US" altLang="zh-TW" sz="3200" baseline="30000" dirty="0" err="1" smtClean="0"/>
              <a:t>T</a:t>
            </a:r>
            <a:r>
              <a:rPr lang="en-US" altLang="zh-TW" sz="3200" dirty="0" smtClean="0"/>
              <a:t>=</a:t>
            </a:r>
            <a:r>
              <a:rPr lang="en-US" altLang="zh-TW" sz="3200" i="1" dirty="0" err="1" smtClean="0"/>
              <a:t>r</a:t>
            </a:r>
            <a:r>
              <a:rPr lang="en-US" altLang="zh-TW" sz="3200" i="1" baseline="-25000" dirty="0" err="1" smtClean="0"/>
              <a:t>p</a:t>
            </a:r>
            <a:endParaRPr lang="en-US" altLang="zh-TW" sz="3200" i="1" baseline="-25000" dirty="0" smtClean="0"/>
          </a:p>
          <a:p>
            <a:r>
              <a:rPr lang="en-US" altLang="zh-TW" sz="3200" dirty="0" smtClean="0"/>
              <a:t>Then we get:</a:t>
            </a:r>
          </a:p>
        </p:txBody>
      </p:sp>
      <p:graphicFrame>
        <p:nvGraphicFramePr>
          <p:cNvPr id="10" name="物件 9"/>
          <p:cNvGraphicFramePr>
            <a:graphicFrameLocks noChangeAspect="1"/>
          </p:cNvGraphicFramePr>
          <p:nvPr/>
        </p:nvGraphicFramePr>
        <p:xfrm>
          <a:off x="2123728" y="3933056"/>
          <a:ext cx="4660937" cy="2708920"/>
        </p:xfrm>
        <a:graphic>
          <a:graphicData uri="http://schemas.openxmlformats.org/presentationml/2006/ole">
            <p:oleObj spid="_x0000_s36867" name="方程式" r:id="rId4" imgW="1485720" imgH="863280" progId="Equation.3">
              <p:embed/>
            </p:oleObj>
          </a:graphicData>
        </a:graphic>
      </p:graphicFrame>
      <p:sp>
        <p:nvSpPr>
          <p:cNvPr id="11" name="矩形 10"/>
          <p:cNvSpPr/>
          <p:nvPr/>
        </p:nvSpPr>
        <p:spPr>
          <a:xfrm>
            <a:off x="899592" y="2060848"/>
            <a:ext cx="3816424" cy="14401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B58685C2-6A2E-4873-8297-09AE79A8BE05}" type="slidenum">
              <a:rPr lang="zh-TW" altLang="en-US" smtClean="0"/>
              <a:pPr/>
              <a:t>17</a:t>
            </a:fld>
            <a:endParaRPr lang="zh-TW" altLang="en-US"/>
          </a:p>
        </p:txBody>
      </p:sp>
      <p:sp>
        <p:nvSpPr>
          <p:cNvPr id="3" name="文字方塊 2"/>
          <p:cNvSpPr txBox="1"/>
          <p:nvPr/>
        </p:nvSpPr>
        <p:spPr>
          <a:xfrm>
            <a:off x="323528" y="59140"/>
            <a:ext cx="8280920" cy="1569660"/>
          </a:xfrm>
          <a:prstGeom prst="rect">
            <a:avLst/>
          </a:prstGeom>
          <a:noFill/>
        </p:spPr>
        <p:txBody>
          <a:bodyPr wrap="square" rtlCol="0">
            <a:spAutoFit/>
          </a:bodyPr>
          <a:lstStyle/>
          <a:p>
            <a:r>
              <a:rPr lang="zh-TW" altLang="en-US" sz="3200" dirty="0" smtClean="0"/>
              <a:t>因為只含風險性資產與包含無風險性資產投資組合</a:t>
            </a:r>
            <a:r>
              <a:rPr lang="en-US" altLang="zh-TW" sz="3200" dirty="0" err="1" smtClean="0"/>
              <a:t>的efficient</a:t>
            </a:r>
            <a:r>
              <a:rPr lang="en-US" altLang="zh-TW" sz="3200" dirty="0" smtClean="0"/>
              <a:t> </a:t>
            </a:r>
            <a:r>
              <a:rPr lang="en-US" altLang="zh-TW" sz="3200" dirty="0" err="1" smtClean="0"/>
              <a:t>frontier只交於一點T，T的return</a:t>
            </a:r>
            <a:r>
              <a:rPr lang="en-US" altLang="zh-TW" sz="3200" dirty="0" smtClean="0"/>
              <a:t> </a:t>
            </a:r>
            <a:r>
              <a:rPr lang="en-US" altLang="zh-TW" sz="3200" dirty="0" err="1" smtClean="0"/>
              <a:t>R</a:t>
            </a:r>
            <a:r>
              <a:rPr lang="en-US" altLang="zh-TW" sz="3200" baseline="-25000" dirty="0" err="1" smtClean="0"/>
              <a:t>T</a:t>
            </a:r>
            <a:r>
              <a:rPr lang="en-US" altLang="zh-TW" sz="3200" dirty="0" err="1" smtClean="0"/>
              <a:t>，且T不包含任何risk</a:t>
            </a:r>
            <a:r>
              <a:rPr lang="en-US" altLang="zh-TW" sz="3200" dirty="0" smtClean="0"/>
              <a:t>-free asset</a:t>
            </a:r>
            <a:endParaRPr lang="zh-TW" altLang="en-US" sz="3200" dirty="0"/>
          </a:p>
        </p:txBody>
      </p:sp>
      <p:graphicFrame>
        <p:nvGraphicFramePr>
          <p:cNvPr id="4" name="物件 3"/>
          <p:cNvGraphicFramePr>
            <a:graphicFrameLocks noChangeAspect="1"/>
          </p:cNvGraphicFramePr>
          <p:nvPr/>
        </p:nvGraphicFramePr>
        <p:xfrm>
          <a:off x="683569" y="1731168"/>
          <a:ext cx="7344816" cy="3898165"/>
        </p:xfrm>
        <a:graphic>
          <a:graphicData uri="http://schemas.openxmlformats.org/presentationml/2006/ole">
            <p:oleObj spid="_x0000_s37890" name="方程式" r:id="rId3" imgW="2463480" imgH="1498320" progId="Equation.3">
              <p:embed/>
            </p:oleObj>
          </a:graphicData>
        </a:graphic>
      </p:graphicFrame>
      <p:sp>
        <p:nvSpPr>
          <p:cNvPr id="5" name="文字方塊 4"/>
          <p:cNvSpPr txBox="1"/>
          <p:nvPr/>
        </p:nvSpPr>
        <p:spPr>
          <a:xfrm>
            <a:off x="971600" y="6021288"/>
            <a:ext cx="7128792" cy="584775"/>
          </a:xfrm>
          <a:prstGeom prst="rect">
            <a:avLst/>
          </a:prstGeom>
          <a:noFill/>
        </p:spPr>
        <p:txBody>
          <a:bodyPr wrap="square" rtlCol="0">
            <a:spAutoFit/>
          </a:bodyPr>
          <a:lstStyle/>
          <a:p>
            <a:r>
              <a:rPr lang="zh-TW" altLang="en-US" sz="3200" dirty="0" smtClean="0"/>
              <a:t>此時</a:t>
            </a:r>
            <a:r>
              <a:rPr lang="en-US" altLang="zh-TW" sz="3200" dirty="0" err="1" smtClean="0"/>
              <a:t>R</a:t>
            </a:r>
            <a:r>
              <a:rPr lang="en-US" altLang="zh-TW" sz="3200" baseline="-25000" dirty="0" err="1" smtClean="0"/>
              <a:t>T</a:t>
            </a:r>
            <a:r>
              <a:rPr lang="en-US" altLang="zh-TW" sz="3200" dirty="0" err="1" smtClean="0"/>
              <a:t>為market</a:t>
            </a:r>
            <a:r>
              <a:rPr lang="en-US" altLang="zh-TW" sz="3200" dirty="0" smtClean="0"/>
              <a:t> </a:t>
            </a:r>
            <a:r>
              <a:rPr lang="en-US" altLang="zh-TW" sz="3200" dirty="0" err="1" smtClean="0"/>
              <a:t>portfolio之return</a:t>
            </a:r>
            <a:endParaRPr lang="zh-TW" alt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B58685C2-6A2E-4873-8297-09AE79A8BE05}" type="slidenum">
              <a:rPr lang="zh-TW" altLang="en-US" smtClean="0"/>
              <a:pPr/>
              <a:t>18</a:t>
            </a:fld>
            <a:endParaRPr lang="zh-TW" altLang="en-US"/>
          </a:p>
        </p:txBody>
      </p:sp>
      <p:sp>
        <p:nvSpPr>
          <p:cNvPr id="3" name="文字方塊 2"/>
          <p:cNvSpPr txBox="1"/>
          <p:nvPr/>
        </p:nvSpPr>
        <p:spPr>
          <a:xfrm>
            <a:off x="539552" y="3212976"/>
            <a:ext cx="7776864" cy="461665"/>
          </a:xfrm>
          <a:prstGeom prst="rect">
            <a:avLst/>
          </a:prstGeom>
          <a:noFill/>
        </p:spPr>
        <p:txBody>
          <a:bodyPr wrap="square" rtlCol="0">
            <a:spAutoFit/>
          </a:bodyPr>
          <a:lstStyle/>
          <a:p>
            <a:r>
              <a:rPr lang="zh-TW" altLang="en-US" sz="2400" dirty="0" smtClean="0"/>
              <a:t>由</a:t>
            </a:r>
            <a:r>
              <a:rPr lang="el-GR" altLang="zh-TW" sz="2400" dirty="0" smtClean="0">
                <a:latin typeface="Times New Roman"/>
                <a:cs typeface="Times New Roman"/>
              </a:rPr>
              <a:t>β</a:t>
            </a:r>
            <a:r>
              <a:rPr lang="zh-TW" altLang="en-US" sz="2400" dirty="0" smtClean="0">
                <a:latin typeface="Times New Roman"/>
                <a:cs typeface="Times New Roman"/>
              </a:rPr>
              <a:t>值可算出各資產在市場均衡時的期望報酬率</a:t>
            </a:r>
            <a:r>
              <a:rPr lang="en-US" altLang="zh-TW" sz="2400" dirty="0" smtClean="0">
                <a:latin typeface="Times New Roman"/>
                <a:cs typeface="Times New Roman"/>
              </a:rPr>
              <a:t>:</a:t>
            </a:r>
            <a:endParaRPr lang="zh-TW" altLang="en-US" sz="2400" dirty="0"/>
          </a:p>
        </p:txBody>
      </p:sp>
      <p:pic>
        <p:nvPicPr>
          <p:cNvPr id="4" name="圖片 3" descr="cb0265577e5b2d749617e8b4a5c9f3f2.png"/>
          <p:cNvPicPr>
            <a:picLocks noChangeAspect="1"/>
          </p:cNvPicPr>
          <p:nvPr/>
        </p:nvPicPr>
        <p:blipFill>
          <a:blip r:embed="rId2" cstate="print"/>
          <a:stretch>
            <a:fillRect/>
          </a:stretch>
        </p:blipFill>
        <p:spPr>
          <a:xfrm>
            <a:off x="2555776" y="1556792"/>
            <a:ext cx="3192354" cy="1008112"/>
          </a:xfrm>
          <a:prstGeom prst="rect">
            <a:avLst/>
          </a:prstGeom>
        </p:spPr>
      </p:pic>
      <p:pic>
        <p:nvPicPr>
          <p:cNvPr id="5" name="圖片 4" descr="fd5f61cee83558fb7dd62a3928e6fd89.png"/>
          <p:cNvPicPr>
            <a:picLocks noChangeAspect="1"/>
          </p:cNvPicPr>
          <p:nvPr/>
        </p:nvPicPr>
        <p:blipFill>
          <a:blip r:embed="rId3" cstate="print"/>
          <a:stretch>
            <a:fillRect/>
          </a:stretch>
        </p:blipFill>
        <p:spPr>
          <a:xfrm>
            <a:off x="1907704" y="4221088"/>
            <a:ext cx="5377618" cy="1080120"/>
          </a:xfrm>
          <a:prstGeom prst="rect">
            <a:avLst/>
          </a:prstGeom>
        </p:spPr>
      </p:pic>
      <p:sp>
        <p:nvSpPr>
          <p:cNvPr id="6" name="文字方塊 5"/>
          <p:cNvSpPr txBox="1"/>
          <p:nvPr/>
        </p:nvSpPr>
        <p:spPr>
          <a:xfrm>
            <a:off x="547936" y="557064"/>
            <a:ext cx="5976664" cy="461665"/>
          </a:xfrm>
          <a:prstGeom prst="rect">
            <a:avLst/>
          </a:prstGeom>
          <a:noFill/>
        </p:spPr>
        <p:txBody>
          <a:bodyPr wrap="square" rtlCol="0">
            <a:spAutoFit/>
          </a:bodyPr>
          <a:lstStyle/>
          <a:p>
            <a:r>
              <a:rPr lang="zh-TW" altLang="en-US" sz="2400" dirty="0" smtClean="0"/>
              <a:t>由</a:t>
            </a:r>
            <a:r>
              <a:rPr lang="en-US" altLang="zh-TW" sz="2400" dirty="0" smtClean="0"/>
              <a:t>market portfolio </a:t>
            </a:r>
            <a:r>
              <a:rPr lang="en-US" altLang="zh-TW" sz="2400" dirty="0" err="1" smtClean="0"/>
              <a:t>R</a:t>
            </a:r>
            <a:r>
              <a:rPr lang="en-US" altLang="zh-TW" sz="2400" baseline="-25000" dirty="0" err="1" smtClean="0"/>
              <a:t>T</a:t>
            </a:r>
            <a:r>
              <a:rPr lang="en-US" altLang="zh-TW" sz="2400" dirty="0" err="1" smtClean="0"/>
              <a:t>可算出各資產之</a:t>
            </a:r>
            <a:r>
              <a:rPr lang="el-GR" altLang="zh-TW" sz="2400" dirty="0" smtClean="0">
                <a:latin typeface="Times New Roman"/>
                <a:cs typeface="Times New Roman"/>
              </a:rPr>
              <a:t>β</a:t>
            </a:r>
            <a:r>
              <a:rPr lang="zh-TW" altLang="en-US" sz="2400" dirty="0" smtClean="0">
                <a:latin typeface="Times New Roman"/>
                <a:cs typeface="Times New Roman"/>
              </a:rPr>
              <a:t>值</a:t>
            </a:r>
            <a:r>
              <a:rPr lang="en-US" altLang="zh-TW" sz="2400" dirty="0" smtClean="0">
                <a:latin typeface="Times New Roman"/>
                <a:cs typeface="Times New Roman"/>
              </a:rPr>
              <a:t>:</a:t>
            </a:r>
            <a:endParaRPr lang="zh-TW"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Reverse optimization (MV model)</a:t>
            </a:r>
            <a:endParaRPr lang="zh-TW" altLang="en-US" dirty="0"/>
          </a:p>
        </p:txBody>
      </p:sp>
      <p:sp>
        <p:nvSpPr>
          <p:cNvPr id="3" name="投影片編號版面配置區 2"/>
          <p:cNvSpPr>
            <a:spLocks noGrp="1"/>
          </p:cNvSpPr>
          <p:nvPr>
            <p:ph type="sldNum" sz="quarter" idx="12"/>
          </p:nvPr>
        </p:nvSpPr>
        <p:spPr/>
        <p:txBody>
          <a:bodyPr/>
          <a:lstStyle/>
          <a:p>
            <a:fld id="{B58685C2-6A2E-4873-8297-09AE79A8BE05}" type="slidenum">
              <a:rPr lang="zh-TW" altLang="en-US" smtClean="0"/>
              <a:pPr/>
              <a:t>19</a:t>
            </a:fld>
            <a:endParaRPr lang="zh-TW" altLang="en-US"/>
          </a:p>
        </p:txBody>
      </p:sp>
      <p:sp>
        <p:nvSpPr>
          <p:cNvPr id="7" name="文字方塊 6"/>
          <p:cNvSpPr txBox="1"/>
          <p:nvPr/>
        </p:nvSpPr>
        <p:spPr>
          <a:xfrm>
            <a:off x="395536" y="3933056"/>
            <a:ext cx="8568952" cy="1938992"/>
          </a:xfrm>
          <a:prstGeom prst="rect">
            <a:avLst/>
          </a:prstGeom>
          <a:noFill/>
        </p:spPr>
        <p:txBody>
          <a:bodyPr wrap="square" rtlCol="0">
            <a:spAutoFit/>
          </a:bodyPr>
          <a:lstStyle/>
          <a:p>
            <a:pPr>
              <a:buFont typeface="Arial" pitchFamily="34" charset="0"/>
              <a:buChar char="•"/>
            </a:pPr>
            <a:r>
              <a:rPr lang="en-US" altLang="zh-TW" sz="2400" dirty="0" smtClean="0"/>
              <a:t>U: object function</a:t>
            </a:r>
          </a:p>
          <a:p>
            <a:pPr>
              <a:buFont typeface="Arial" pitchFamily="34" charset="0"/>
              <a:buChar char="•"/>
            </a:pPr>
            <a:r>
              <a:rPr lang="en-US" altLang="zh-TW" sz="2400" dirty="0" smtClean="0">
                <a:solidFill>
                  <a:srgbClr val="00B0F0"/>
                </a:solidFill>
              </a:rPr>
              <a:t>w: weights for each asset (unknown)</a:t>
            </a:r>
          </a:p>
          <a:p>
            <a:pPr>
              <a:buFont typeface="Arial" pitchFamily="34" charset="0"/>
              <a:buChar char="•"/>
            </a:pPr>
            <a:r>
              <a:rPr lang="el-GR" altLang="zh-TW" sz="2400" dirty="0" smtClean="0"/>
              <a:t>Π</a:t>
            </a:r>
            <a:r>
              <a:rPr lang="en-US" altLang="zh-TW" sz="2400" dirty="0" smtClean="0"/>
              <a:t>: vector of equilibrium returns for each asset (from CAPM)</a:t>
            </a:r>
          </a:p>
          <a:p>
            <a:pPr>
              <a:buFont typeface="Arial" pitchFamily="34" charset="0"/>
              <a:buChar char="•"/>
            </a:pPr>
            <a:r>
              <a:rPr lang="el-GR" altLang="zh-TW" sz="2400" dirty="0" smtClean="0"/>
              <a:t>δ</a:t>
            </a:r>
            <a:r>
              <a:rPr lang="en-US" altLang="zh-TW" sz="2400" dirty="0" smtClean="0"/>
              <a:t>: risk aversion parameter of the market (user specified)</a:t>
            </a:r>
          </a:p>
          <a:p>
            <a:pPr>
              <a:buFont typeface="Arial" pitchFamily="34" charset="0"/>
              <a:buChar char="•"/>
            </a:pPr>
            <a:r>
              <a:rPr lang="el-GR" altLang="zh-TW" sz="2400" dirty="0" smtClean="0"/>
              <a:t>Σ</a:t>
            </a:r>
            <a:r>
              <a:rPr lang="en-US" altLang="zh-TW" sz="2400" dirty="0" smtClean="0"/>
              <a:t>: covariance matrix for the asset (from historical return)</a:t>
            </a:r>
            <a:endParaRPr lang="zh-TW" altLang="en-US" sz="2400" dirty="0"/>
          </a:p>
        </p:txBody>
      </p:sp>
      <p:grpSp>
        <p:nvGrpSpPr>
          <p:cNvPr id="16" name="群組 15"/>
          <p:cNvGrpSpPr/>
          <p:nvPr/>
        </p:nvGrpSpPr>
        <p:grpSpPr>
          <a:xfrm>
            <a:off x="5148064" y="1556792"/>
            <a:ext cx="1800200" cy="1809492"/>
            <a:chOff x="5076056" y="1412776"/>
            <a:chExt cx="1800200" cy="1809492"/>
          </a:xfrm>
        </p:grpSpPr>
        <p:sp>
          <p:nvSpPr>
            <p:cNvPr id="9" name="圓角矩形 8"/>
            <p:cNvSpPr/>
            <p:nvPr/>
          </p:nvSpPr>
          <p:spPr>
            <a:xfrm>
              <a:off x="5076056" y="1412776"/>
              <a:ext cx="1800200" cy="1368152"/>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1" name="文字方塊 10"/>
            <p:cNvSpPr txBox="1"/>
            <p:nvPr/>
          </p:nvSpPr>
          <p:spPr>
            <a:xfrm>
              <a:off x="5292080" y="2852936"/>
              <a:ext cx="1368152" cy="369332"/>
            </a:xfrm>
            <a:prstGeom prst="rect">
              <a:avLst/>
            </a:prstGeom>
            <a:noFill/>
          </p:spPr>
          <p:txBody>
            <a:bodyPr wrap="square" rtlCol="0">
              <a:spAutoFit/>
            </a:bodyPr>
            <a:lstStyle/>
            <a:p>
              <a:r>
                <a:rPr lang="en-US" altLang="zh-TW" dirty="0" smtClean="0">
                  <a:solidFill>
                    <a:srgbClr val="FF0000"/>
                  </a:solidFill>
                </a:rPr>
                <a:t>Portfolio</a:t>
              </a:r>
              <a:r>
                <a:rPr lang="zh-TW" altLang="en-US" dirty="0" smtClean="0">
                  <a:solidFill>
                    <a:srgbClr val="FF0000"/>
                  </a:solidFill>
                </a:rPr>
                <a:t> </a:t>
              </a:r>
              <a:r>
                <a:rPr lang="en-US" altLang="zh-TW" dirty="0" smtClean="0">
                  <a:solidFill>
                    <a:srgbClr val="FF0000"/>
                  </a:solidFill>
                </a:rPr>
                <a:t>risk</a:t>
              </a:r>
              <a:endParaRPr lang="zh-TW" altLang="en-US" dirty="0">
                <a:solidFill>
                  <a:srgbClr val="FF0000"/>
                </a:solidFill>
              </a:endParaRPr>
            </a:p>
          </p:txBody>
        </p:sp>
      </p:grpSp>
      <p:grpSp>
        <p:nvGrpSpPr>
          <p:cNvPr id="17" name="群組 16"/>
          <p:cNvGrpSpPr/>
          <p:nvPr/>
        </p:nvGrpSpPr>
        <p:grpSpPr>
          <a:xfrm>
            <a:off x="1907704" y="1484784"/>
            <a:ext cx="2088232" cy="2014483"/>
            <a:chOff x="2699792" y="3068960"/>
            <a:chExt cx="2088232" cy="2014483"/>
          </a:xfrm>
        </p:grpSpPr>
        <p:sp>
          <p:nvSpPr>
            <p:cNvPr id="8" name="圓角矩形 7"/>
            <p:cNvSpPr/>
            <p:nvPr/>
          </p:nvSpPr>
          <p:spPr>
            <a:xfrm>
              <a:off x="3131840" y="3068960"/>
              <a:ext cx="1296144" cy="1368152"/>
            </a:xfrm>
            <a:prstGeom prst="roundRect">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0" name="文字方塊 9"/>
            <p:cNvSpPr txBox="1"/>
            <p:nvPr/>
          </p:nvSpPr>
          <p:spPr>
            <a:xfrm>
              <a:off x="2699792" y="4437112"/>
              <a:ext cx="2088232" cy="646331"/>
            </a:xfrm>
            <a:prstGeom prst="rect">
              <a:avLst/>
            </a:prstGeom>
            <a:noFill/>
          </p:spPr>
          <p:txBody>
            <a:bodyPr wrap="square" rtlCol="0">
              <a:spAutoFit/>
            </a:bodyPr>
            <a:lstStyle/>
            <a:p>
              <a:pPr algn="ctr"/>
              <a:r>
                <a:rPr lang="en-US" altLang="zh-TW" dirty="0" smtClean="0">
                  <a:solidFill>
                    <a:srgbClr val="FF0000"/>
                  </a:solidFill>
                </a:rPr>
                <a:t>Portfolio</a:t>
              </a:r>
              <a:r>
                <a:rPr lang="zh-TW" altLang="en-US" dirty="0" smtClean="0">
                  <a:solidFill>
                    <a:srgbClr val="FF0000"/>
                  </a:solidFill>
                </a:rPr>
                <a:t> </a:t>
              </a:r>
              <a:r>
                <a:rPr lang="en-US" altLang="zh-TW" dirty="0" smtClean="0">
                  <a:solidFill>
                    <a:srgbClr val="FF0000"/>
                  </a:solidFill>
                </a:rPr>
                <a:t>equilibrium</a:t>
              </a:r>
              <a:r>
                <a:rPr lang="zh-TW" altLang="en-US" dirty="0" smtClean="0">
                  <a:solidFill>
                    <a:srgbClr val="FF0000"/>
                  </a:solidFill>
                </a:rPr>
                <a:t> </a:t>
              </a:r>
              <a:r>
                <a:rPr lang="en-US" altLang="zh-TW" dirty="0" smtClean="0">
                  <a:solidFill>
                    <a:srgbClr val="FF0000"/>
                  </a:solidFill>
                </a:rPr>
                <a:t>return</a:t>
              </a:r>
              <a:endParaRPr lang="zh-TW" altLang="en-US" dirty="0">
                <a:solidFill>
                  <a:srgbClr val="FF0000"/>
                </a:solidFill>
              </a:endParaRPr>
            </a:p>
          </p:txBody>
        </p:sp>
      </p:grpSp>
      <p:graphicFrame>
        <p:nvGraphicFramePr>
          <p:cNvPr id="14" name="物件 13"/>
          <p:cNvGraphicFramePr>
            <a:graphicFrameLocks noChangeAspect="1"/>
          </p:cNvGraphicFramePr>
          <p:nvPr/>
        </p:nvGraphicFramePr>
        <p:xfrm>
          <a:off x="1403648" y="1412776"/>
          <a:ext cx="5553088" cy="1656184"/>
        </p:xfrm>
        <a:graphic>
          <a:graphicData uri="http://schemas.openxmlformats.org/presentationml/2006/ole">
            <p:oleObj spid="_x0000_s53250" name="方程式" r:id="rId3" imgW="1447560" imgH="431640" progId="Equation.3">
              <p:embed/>
            </p:oleObj>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B58685C2-6A2E-4873-8297-09AE79A8BE05}" type="slidenum">
              <a:rPr lang="zh-TW" altLang="en-US" smtClean="0"/>
              <a:pPr/>
              <a:t>20</a:t>
            </a:fld>
            <a:endParaRPr lang="zh-TW" altLang="en-US"/>
          </a:p>
        </p:txBody>
      </p:sp>
      <p:sp>
        <p:nvSpPr>
          <p:cNvPr id="4" name="文字方塊 3"/>
          <p:cNvSpPr txBox="1"/>
          <p:nvPr/>
        </p:nvSpPr>
        <p:spPr>
          <a:xfrm>
            <a:off x="323528" y="260648"/>
            <a:ext cx="7776864" cy="523220"/>
          </a:xfrm>
          <a:prstGeom prst="rect">
            <a:avLst/>
          </a:prstGeom>
          <a:noFill/>
        </p:spPr>
        <p:txBody>
          <a:bodyPr wrap="square" rtlCol="0">
            <a:spAutoFit/>
          </a:bodyPr>
          <a:lstStyle/>
          <a:p>
            <a:r>
              <a:rPr lang="zh-TW" altLang="en-US" sz="2800" dirty="0" smtClean="0"/>
              <a:t>假設</a:t>
            </a:r>
            <a:r>
              <a:rPr lang="en-US" altLang="zh-TW" sz="2800" dirty="0" smtClean="0"/>
              <a:t>equation </a:t>
            </a:r>
            <a:r>
              <a:rPr lang="en-US" altLang="zh-TW" sz="2800" dirty="0" err="1" smtClean="0"/>
              <a:t>U</a:t>
            </a:r>
            <a:r>
              <a:rPr lang="en-US" altLang="zh-TW" sz="2800" dirty="0" err="1" smtClean="0"/>
              <a:t>無任何限制式</a:t>
            </a:r>
            <a:endParaRPr lang="zh-TW" altLang="en-US" sz="2800" dirty="0"/>
          </a:p>
        </p:txBody>
      </p:sp>
      <p:sp>
        <p:nvSpPr>
          <p:cNvPr id="7" name="文字方塊 6"/>
          <p:cNvSpPr txBox="1"/>
          <p:nvPr/>
        </p:nvSpPr>
        <p:spPr>
          <a:xfrm>
            <a:off x="179512" y="4509120"/>
            <a:ext cx="8784976" cy="1938992"/>
          </a:xfrm>
          <a:prstGeom prst="rect">
            <a:avLst/>
          </a:prstGeom>
          <a:noFill/>
        </p:spPr>
        <p:txBody>
          <a:bodyPr wrap="square" rtlCol="0">
            <a:spAutoFit/>
          </a:bodyPr>
          <a:lstStyle/>
          <a:p>
            <a:pPr>
              <a:buFont typeface="Arial" pitchFamily="34" charset="0"/>
              <a:buChar char="•"/>
            </a:pPr>
            <a:r>
              <a:rPr lang="el-GR" altLang="zh-TW" sz="2400" dirty="0" smtClean="0"/>
              <a:t>δ</a:t>
            </a:r>
            <a:r>
              <a:rPr lang="zh-TW" altLang="en-US" sz="2400" dirty="0" smtClean="0"/>
              <a:t>為使用者</a:t>
            </a:r>
            <a:r>
              <a:rPr lang="zh-TW" altLang="en-US" sz="2400" dirty="0" smtClean="0"/>
              <a:t>自訂</a:t>
            </a:r>
            <a:endParaRPr lang="en-US" altLang="zh-TW" sz="2400" dirty="0" smtClean="0"/>
          </a:p>
          <a:p>
            <a:pPr>
              <a:buFont typeface="Arial" pitchFamily="34" charset="0"/>
              <a:buChar char="•"/>
            </a:pPr>
            <a:r>
              <a:rPr lang="zh-TW" altLang="en-US" sz="2400" dirty="0" smtClean="0">
                <a:solidFill>
                  <a:srgbClr val="0070C0"/>
                </a:solidFill>
              </a:rPr>
              <a:t>可算出在給訂</a:t>
            </a:r>
            <a:r>
              <a:rPr lang="en-US" altLang="zh-TW" sz="2400" dirty="0" smtClean="0">
                <a:solidFill>
                  <a:srgbClr val="0070C0"/>
                </a:solidFill>
              </a:rPr>
              <a:t>equilibrium return </a:t>
            </a:r>
            <a:r>
              <a:rPr lang="el-GR" altLang="zh-TW" sz="2400" dirty="0" smtClean="0">
                <a:solidFill>
                  <a:srgbClr val="0070C0"/>
                </a:solidFill>
              </a:rPr>
              <a:t>Π </a:t>
            </a:r>
            <a:r>
              <a:rPr lang="en-US" altLang="zh-TW" sz="2400" dirty="0" smtClean="0">
                <a:solidFill>
                  <a:srgbClr val="0070C0"/>
                </a:solidFill>
              </a:rPr>
              <a:t>及</a:t>
            </a:r>
            <a:r>
              <a:rPr lang="el-GR" altLang="zh-TW" sz="2400" dirty="0" smtClean="0">
                <a:solidFill>
                  <a:srgbClr val="0070C0"/>
                </a:solidFill>
              </a:rPr>
              <a:t> δ</a:t>
            </a:r>
            <a:r>
              <a:rPr lang="zh-TW" altLang="en-US" sz="2400" dirty="0" smtClean="0">
                <a:solidFill>
                  <a:srgbClr val="0070C0"/>
                </a:solidFill>
              </a:rPr>
              <a:t>時具有最小風險資金配置</a:t>
            </a:r>
            <a:r>
              <a:rPr lang="en-US" altLang="zh-TW" sz="2400" dirty="0" smtClean="0">
                <a:solidFill>
                  <a:srgbClr val="0070C0"/>
                </a:solidFill>
              </a:rPr>
              <a:t/>
            </a:r>
            <a:br>
              <a:rPr lang="en-US" altLang="zh-TW" sz="2400" dirty="0" smtClean="0">
                <a:solidFill>
                  <a:srgbClr val="0070C0"/>
                </a:solidFill>
              </a:rPr>
            </a:br>
            <a:r>
              <a:rPr lang="en-US" altLang="zh-TW" sz="2400" dirty="0" smtClean="0">
                <a:solidFill>
                  <a:srgbClr val="0070C0"/>
                </a:solidFill>
              </a:rPr>
              <a:t>  </a:t>
            </a:r>
            <a:r>
              <a:rPr lang="zh-TW" altLang="en-US" sz="2400" dirty="0" smtClean="0">
                <a:solidFill>
                  <a:srgbClr val="0070C0"/>
                </a:solidFill>
              </a:rPr>
              <a:t>權重</a:t>
            </a:r>
            <a:r>
              <a:rPr lang="en-US" altLang="zh-TW" sz="2400" dirty="0" smtClean="0">
                <a:solidFill>
                  <a:srgbClr val="0070C0"/>
                </a:solidFill>
              </a:rPr>
              <a:t>w</a:t>
            </a:r>
            <a:endParaRPr lang="en-US" altLang="zh-TW" sz="2400" dirty="0" smtClean="0">
              <a:solidFill>
                <a:srgbClr val="0070C0"/>
              </a:solidFill>
            </a:endParaRPr>
          </a:p>
          <a:p>
            <a:pPr>
              <a:buFont typeface="Arial" pitchFamily="34" charset="0"/>
              <a:buChar char="•"/>
            </a:pPr>
            <a:r>
              <a:rPr lang="zh-TW" altLang="en-US" sz="2400" dirty="0" smtClean="0">
                <a:solidFill>
                  <a:srgbClr val="FF0000"/>
                </a:solidFill>
              </a:rPr>
              <a:t>若使用</a:t>
            </a:r>
            <a:r>
              <a:rPr lang="en-US" altLang="zh-TW" sz="2400" dirty="0" smtClean="0">
                <a:solidFill>
                  <a:srgbClr val="FF0000"/>
                </a:solidFill>
              </a:rPr>
              <a:t>historical excess return </a:t>
            </a:r>
            <a:r>
              <a:rPr lang="en-US" altLang="zh-TW" sz="2400" dirty="0" err="1" smtClean="0">
                <a:solidFill>
                  <a:srgbClr val="FF0000"/>
                </a:solidFill>
              </a:rPr>
              <a:t>而非使用equilibrium</a:t>
            </a:r>
            <a:r>
              <a:rPr lang="en-US" altLang="zh-TW" sz="2400" dirty="0" smtClean="0">
                <a:solidFill>
                  <a:srgbClr val="FF0000"/>
                </a:solidFill>
              </a:rPr>
              <a:t> excess </a:t>
            </a:r>
            <a:r>
              <a:rPr lang="en-US" altLang="zh-TW" sz="2400" dirty="0" err="1" smtClean="0">
                <a:solidFill>
                  <a:srgbClr val="FF0000"/>
                </a:solidFill>
              </a:rPr>
              <a:t>return來計算求得w，則w之值的變動量會相當大</a:t>
            </a:r>
            <a:r>
              <a:rPr lang="en-US" altLang="zh-TW" sz="2400" dirty="0" smtClean="0">
                <a:solidFill>
                  <a:srgbClr val="FF0000"/>
                </a:solidFill>
              </a:rPr>
              <a:t>。 </a:t>
            </a:r>
            <a:endParaRPr lang="zh-TW" altLang="en-US" sz="2400" dirty="0">
              <a:solidFill>
                <a:srgbClr val="FF0000"/>
              </a:solidFill>
            </a:endParaRPr>
          </a:p>
        </p:txBody>
      </p:sp>
      <p:graphicFrame>
        <p:nvGraphicFramePr>
          <p:cNvPr id="8" name="物件 7"/>
          <p:cNvGraphicFramePr>
            <a:graphicFrameLocks noChangeAspect="1"/>
          </p:cNvGraphicFramePr>
          <p:nvPr/>
        </p:nvGraphicFramePr>
        <p:xfrm>
          <a:off x="1763688" y="1124744"/>
          <a:ext cx="4608512" cy="2974585"/>
        </p:xfrm>
        <a:graphic>
          <a:graphicData uri="http://schemas.openxmlformats.org/presentationml/2006/ole">
            <p:oleObj spid="_x0000_s52225" name="方程式" r:id="rId3" imgW="1396800" imgH="901440" progId="Equation.3">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The reference model</a:t>
            </a:r>
            <a:endParaRPr lang="zh-TW" altLang="en-US" dirty="0"/>
          </a:p>
        </p:txBody>
      </p:sp>
      <p:sp>
        <p:nvSpPr>
          <p:cNvPr id="3" name="文字方塊 2"/>
          <p:cNvSpPr txBox="1"/>
          <p:nvPr/>
        </p:nvSpPr>
        <p:spPr>
          <a:xfrm>
            <a:off x="467544" y="1268760"/>
            <a:ext cx="8424936" cy="4893647"/>
          </a:xfrm>
          <a:prstGeom prst="rect">
            <a:avLst/>
          </a:prstGeom>
          <a:noFill/>
        </p:spPr>
        <p:txBody>
          <a:bodyPr wrap="square" rtlCol="0">
            <a:spAutoFit/>
          </a:bodyPr>
          <a:lstStyle/>
          <a:p>
            <a:r>
              <a:rPr lang="zh-TW" altLang="en-US" sz="2400" dirty="0" smtClean="0"/>
              <a:t>假設資產</a:t>
            </a:r>
            <a:r>
              <a:rPr lang="en-US" altLang="zh-TW" sz="2400" dirty="0" smtClean="0"/>
              <a:t>(</a:t>
            </a:r>
            <a:r>
              <a:rPr lang="en-US" altLang="zh-TW" sz="2400" dirty="0" err="1" smtClean="0"/>
              <a:t>投資組合</a:t>
            </a:r>
            <a:r>
              <a:rPr lang="en-US" altLang="zh-TW" sz="2400" dirty="0" smtClean="0"/>
              <a:t>)expected return</a:t>
            </a:r>
            <a:r>
              <a:rPr lang="zh-TW" altLang="en-US" sz="2400" dirty="0" smtClean="0"/>
              <a:t>率為</a:t>
            </a:r>
            <a:r>
              <a:rPr lang="en-US" altLang="zh-TW" sz="2400" dirty="0" smtClean="0"/>
              <a:t>n</a:t>
            </a:r>
            <a:r>
              <a:rPr lang="en-US" altLang="zh-TW" sz="2400" dirty="0" smtClean="0"/>
              <a:t>ormal distribution</a:t>
            </a:r>
            <a:endParaRPr lang="en-US" altLang="zh-TW" sz="2400" dirty="0" smtClean="0"/>
          </a:p>
          <a:p>
            <a:pPr algn="ctr"/>
            <a:r>
              <a:rPr lang="en-US" altLang="zh-TW" sz="2400" i="1" dirty="0" smtClean="0"/>
              <a:t>E</a:t>
            </a:r>
            <a:r>
              <a:rPr lang="en-US" altLang="zh-TW" sz="2400" dirty="0" smtClean="0"/>
              <a:t>(</a:t>
            </a:r>
            <a:r>
              <a:rPr lang="en-US" altLang="zh-TW" sz="2400" i="1" dirty="0" smtClean="0"/>
              <a:t>r</a:t>
            </a:r>
            <a:r>
              <a:rPr lang="en-US" altLang="zh-TW" sz="2400" dirty="0" smtClean="0"/>
              <a:t>) ~ </a:t>
            </a:r>
            <a:r>
              <a:rPr lang="en-US" altLang="zh-TW" sz="2400" i="1" dirty="0" smtClean="0"/>
              <a:t>N</a:t>
            </a:r>
            <a:r>
              <a:rPr lang="en-US" altLang="zh-TW" sz="2400" dirty="0" smtClean="0"/>
              <a:t>(</a:t>
            </a:r>
            <a:r>
              <a:rPr lang="el-GR" altLang="zh-TW" sz="2400" i="1" dirty="0" smtClean="0"/>
              <a:t>μ</a:t>
            </a:r>
            <a:r>
              <a:rPr lang="en-US" altLang="zh-TW" sz="2400" dirty="0" smtClean="0"/>
              <a:t>, </a:t>
            </a:r>
            <a:r>
              <a:rPr lang="el-GR" altLang="zh-TW" sz="2400" i="1" dirty="0" smtClean="0"/>
              <a:t>Σ</a:t>
            </a:r>
            <a:r>
              <a:rPr lang="en-US" altLang="zh-TW" sz="2400" dirty="0" smtClean="0"/>
              <a:t>)  </a:t>
            </a:r>
          </a:p>
          <a:p>
            <a:endParaRPr lang="en-US" altLang="zh-TW" sz="2400" dirty="0" smtClean="0"/>
          </a:p>
          <a:p>
            <a:r>
              <a:rPr lang="zh-TW" altLang="en-US" sz="2400" dirty="0" smtClean="0"/>
              <a:t>假設</a:t>
            </a:r>
            <a:r>
              <a:rPr lang="en-US" altLang="zh-TW" sz="2400" dirty="0" smtClean="0"/>
              <a:t>mean return </a:t>
            </a:r>
            <a:r>
              <a:rPr lang="el-GR" altLang="zh-TW" sz="2400" i="1" dirty="0" smtClean="0"/>
              <a:t>μ</a:t>
            </a:r>
            <a:r>
              <a:rPr lang="zh-TW" altLang="en-US" sz="2400" dirty="0" smtClean="0"/>
              <a:t>為</a:t>
            </a:r>
            <a:r>
              <a:rPr lang="en-US" altLang="zh-TW" sz="2400" dirty="0" smtClean="0"/>
              <a:t>normal distribution</a:t>
            </a:r>
            <a:endParaRPr lang="en-US" altLang="zh-TW" sz="2400" dirty="0" smtClean="0"/>
          </a:p>
          <a:p>
            <a:r>
              <a:rPr lang="en-US" altLang="zh-TW" sz="2400" dirty="0" smtClean="0"/>
              <a:t>(</a:t>
            </a:r>
            <a:r>
              <a:rPr lang="en-US" altLang="zh-TW" sz="2400" dirty="0" err="1" smtClean="0"/>
              <a:t>無法很</a:t>
            </a:r>
            <a:r>
              <a:rPr lang="zh-TW" altLang="en-US" sz="2400" dirty="0" smtClean="0"/>
              <a:t>精</a:t>
            </a:r>
            <a:r>
              <a:rPr lang="en-US" altLang="zh-TW" sz="2400" dirty="0" err="1" smtClean="0"/>
              <a:t>確的算出</a:t>
            </a:r>
            <a:r>
              <a:rPr lang="el-GR" altLang="zh-TW" sz="2400" dirty="0" smtClean="0"/>
              <a:t> μ</a:t>
            </a:r>
            <a:r>
              <a:rPr lang="zh-TW" altLang="en-US" sz="2400" dirty="0" smtClean="0"/>
              <a:t>之值</a:t>
            </a:r>
            <a:r>
              <a:rPr lang="en-US" altLang="zh-TW" sz="2400" dirty="0" smtClean="0"/>
              <a:t>, 即</a:t>
            </a:r>
            <a:r>
              <a:rPr lang="el-GR" altLang="zh-TW" sz="2400" dirty="0" smtClean="0"/>
              <a:t>μ</a:t>
            </a:r>
            <a:r>
              <a:rPr lang="zh-TW" altLang="en-US" sz="2400" dirty="0" smtClean="0"/>
              <a:t>為隨機變數</a:t>
            </a:r>
            <a:r>
              <a:rPr lang="en-US" altLang="zh-TW" sz="2400" dirty="0" smtClean="0"/>
              <a:t>)</a:t>
            </a:r>
          </a:p>
          <a:p>
            <a:pPr algn="ctr"/>
            <a:r>
              <a:rPr lang="el-GR" altLang="zh-TW" sz="2400" i="1" dirty="0" smtClean="0"/>
              <a:t>μ</a:t>
            </a:r>
            <a:r>
              <a:rPr lang="en-US" altLang="zh-TW" sz="2400" dirty="0" smtClean="0"/>
              <a:t> ~ </a:t>
            </a:r>
            <a:r>
              <a:rPr lang="en-US" altLang="zh-TW" sz="2400" i="1" dirty="0" smtClean="0"/>
              <a:t>N</a:t>
            </a:r>
            <a:r>
              <a:rPr lang="en-US" altLang="zh-TW" sz="2400" dirty="0" smtClean="0"/>
              <a:t>(</a:t>
            </a:r>
            <a:r>
              <a:rPr lang="el-GR" altLang="zh-TW" sz="2400" dirty="0" smtClean="0"/>
              <a:t>π</a:t>
            </a:r>
            <a:r>
              <a:rPr lang="en-US" altLang="zh-TW" sz="2400" dirty="0" smtClean="0"/>
              <a:t>, </a:t>
            </a:r>
            <a:r>
              <a:rPr lang="el-GR" altLang="zh-TW" sz="2400" i="1" dirty="0" smtClean="0"/>
              <a:t>Σ</a:t>
            </a:r>
            <a:r>
              <a:rPr lang="el-GR" altLang="zh-TW" sz="2400" baseline="-25000" dirty="0" smtClean="0"/>
              <a:t>π</a:t>
            </a:r>
            <a:r>
              <a:rPr lang="en-US" altLang="zh-TW" sz="2400" dirty="0" smtClean="0"/>
              <a:t>)</a:t>
            </a:r>
          </a:p>
          <a:p>
            <a:r>
              <a:rPr lang="en-US" altLang="zh-TW" sz="2400" dirty="0" smtClean="0"/>
              <a:t> 			or  </a:t>
            </a:r>
            <a:r>
              <a:rPr lang="el-GR" altLang="zh-TW" sz="2400" dirty="0" smtClean="0"/>
              <a:t>π</a:t>
            </a:r>
            <a:r>
              <a:rPr lang="en-US" altLang="zh-TW" sz="2400" dirty="0" smtClean="0"/>
              <a:t> = </a:t>
            </a:r>
            <a:r>
              <a:rPr lang="el-GR" altLang="zh-TW" sz="2400" dirty="0" smtClean="0"/>
              <a:t>μ</a:t>
            </a:r>
            <a:r>
              <a:rPr lang="en-US" altLang="zh-TW" sz="2400" dirty="0" smtClean="0"/>
              <a:t>  + </a:t>
            </a:r>
            <a:r>
              <a:rPr lang="el-GR" altLang="zh-TW" sz="2400" dirty="0" smtClean="0"/>
              <a:t>ε</a:t>
            </a:r>
            <a:r>
              <a:rPr lang="en-US" altLang="zh-TW" sz="2400" dirty="0" smtClean="0"/>
              <a:t>, </a:t>
            </a:r>
            <a:r>
              <a:rPr lang="el-GR" altLang="zh-TW" sz="2400" dirty="0" smtClean="0"/>
              <a:t>ε</a:t>
            </a:r>
            <a:r>
              <a:rPr lang="en-US" altLang="zh-TW" sz="2400" dirty="0" smtClean="0"/>
              <a:t> ~ </a:t>
            </a:r>
            <a:r>
              <a:rPr lang="en-US" altLang="zh-TW" sz="2400" i="1" dirty="0" smtClean="0"/>
              <a:t>N</a:t>
            </a:r>
            <a:r>
              <a:rPr lang="en-US" altLang="zh-TW" sz="2400" dirty="0" smtClean="0"/>
              <a:t>(0, </a:t>
            </a:r>
            <a:r>
              <a:rPr lang="el-GR" altLang="zh-TW" sz="2400" i="1" dirty="0" smtClean="0"/>
              <a:t>Σ</a:t>
            </a:r>
            <a:r>
              <a:rPr lang="el-GR" altLang="zh-TW" sz="2400" baseline="-25000" dirty="0" smtClean="0"/>
              <a:t>π</a:t>
            </a:r>
            <a:r>
              <a:rPr lang="en-US" altLang="zh-TW" sz="2400" dirty="0" smtClean="0"/>
              <a:t>)</a:t>
            </a:r>
          </a:p>
          <a:p>
            <a:endParaRPr lang="en-US" altLang="zh-TW" sz="2400" dirty="0" smtClean="0"/>
          </a:p>
          <a:p>
            <a:r>
              <a:rPr lang="el-GR" altLang="zh-TW" sz="2400" dirty="0" smtClean="0"/>
              <a:t>ε</a:t>
            </a:r>
            <a:r>
              <a:rPr lang="zh-TW" altLang="en-US" sz="2400" dirty="0" smtClean="0"/>
              <a:t>  </a:t>
            </a:r>
            <a:r>
              <a:rPr lang="en-US" altLang="zh-TW" sz="2400" dirty="0" smtClean="0"/>
              <a:t>is white noise and to be uncorrelated with </a:t>
            </a:r>
            <a:r>
              <a:rPr lang="el-GR" altLang="zh-TW" sz="2400" i="1" dirty="0" smtClean="0"/>
              <a:t>μ</a:t>
            </a:r>
            <a:r>
              <a:rPr lang="en-US" altLang="zh-TW" sz="2400" dirty="0" smtClean="0"/>
              <a:t> then</a:t>
            </a:r>
          </a:p>
          <a:p>
            <a:pPr algn="ctr"/>
            <a:r>
              <a:rPr lang="en-US" altLang="zh-TW" sz="2400" dirty="0" smtClean="0"/>
              <a:t> </a:t>
            </a:r>
            <a:r>
              <a:rPr lang="el-GR" altLang="zh-TW" sz="2400" i="1" dirty="0" smtClean="0"/>
              <a:t>Σ</a:t>
            </a:r>
            <a:r>
              <a:rPr lang="en-US" altLang="zh-TW" sz="2400" i="1" baseline="-25000" dirty="0" smtClean="0"/>
              <a:t>r</a:t>
            </a:r>
            <a:r>
              <a:rPr lang="en-US" altLang="zh-TW" sz="2400" i="1" dirty="0" smtClean="0"/>
              <a:t> = </a:t>
            </a:r>
            <a:r>
              <a:rPr lang="el-GR" altLang="zh-TW" sz="2400" i="1" dirty="0" smtClean="0"/>
              <a:t>Σ</a:t>
            </a:r>
            <a:r>
              <a:rPr lang="en-US" altLang="zh-TW" sz="2400" i="1" dirty="0" smtClean="0"/>
              <a:t> + </a:t>
            </a:r>
            <a:r>
              <a:rPr lang="el-GR" altLang="zh-TW" sz="2400" i="1" dirty="0" smtClean="0"/>
              <a:t>Σ</a:t>
            </a:r>
            <a:r>
              <a:rPr lang="el-GR" altLang="zh-TW" sz="2400" baseline="-25000" dirty="0" smtClean="0"/>
              <a:t>π</a:t>
            </a:r>
            <a:endParaRPr lang="en-US" altLang="zh-TW" sz="2400" dirty="0" smtClean="0"/>
          </a:p>
          <a:p>
            <a:endParaRPr lang="en-US" altLang="zh-TW" sz="2400" dirty="0" smtClean="0"/>
          </a:p>
          <a:p>
            <a:r>
              <a:rPr lang="en-US" altLang="zh-TW" sz="2400" dirty="0" smtClean="0"/>
              <a:t> The reference model for Black-</a:t>
            </a:r>
            <a:r>
              <a:rPr lang="en-US" altLang="zh-TW" sz="2400" dirty="0" err="1" smtClean="0"/>
              <a:t>Litterman</a:t>
            </a:r>
            <a:r>
              <a:rPr lang="en-US" altLang="zh-TW" sz="2400" dirty="0" smtClean="0"/>
              <a:t> model expected return:</a:t>
            </a:r>
          </a:p>
          <a:p>
            <a:pPr algn="ctr"/>
            <a:r>
              <a:rPr lang="en-US" altLang="zh-TW" sz="2400" dirty="0" smtClean="0"/>
              <a:t>E(</a:t>
            </a:r>
            <a:r>
              <a:rPr lang="en-US" altLang="zh-TW" sz="2400" i="1" dirty="0" smtClean="0"/>
              <a:t>r</a:t>
            </a:r>
            <a:r>
              <a:rPr lang="en-US" altLang="zh-TW" sz="2400" dirty="0" smtClean="0"/>
              <a:t>) ~ </a:t>
            </a:r>
            <a:r>
              <a:rPr lang="en-US" altLang="zh-TW" sz="2400" i="1" dirty="0" smtClean="0"/>
              <a:t>N</a:t>
            </a:r>
            <a:r>
              <a:rPr lang="en-US" altLang="zh-TW" sz="2400" dirty="0" smtClean="0"/>
              <a:t>(</a:t>
            </a:r>
            <a:r>
              <a:rPr lang="el-GR" altLang="zh-TW" sz="2400" dirty="0" smtClean="0"/>
              <a:t>π</a:t>
            </a:r>
            <a:r>
              <a:rPr lang="en-US" altLang="zh-TW" sz="2400" dirty="0" smtClean="0"/>
              <a:t>, </a:t>
            </a:r>
            <a:r>
              <a:rPr lang="el-GR" altLang="zh-TW" sz="2400" i="1" dirty="0" smtClean="0"/>
              <a:t>Σ</a:t>
            </a:r>
            <a:r>
              <a:rPr lang="en-US" altLang="zh-TW" sz="2400" baseline="-25000" dirty="0" smtClean="0"/>
              <a:t>r</a:t>
            </a:r>
            <a:r>
              <a:rPr lang="en-US" altLang="zh-TW" sz="2400" dirty="0" smtClean="0"/>
              <a:t>)</a:t>
            </a:r>
          </a:p>
        </p:txBody>
      </p:sp>
      <p:sp>
        <p:nvSpPr>
          <p:cNvPr id="5" name="投影片編號版面配置區 4"/>
          <p:cNvSpPr>
            <a:spLocks noGrp="1"/>
          </p:cNvSpPr>
          <p:nvPr>
            <p:ph type="sldNum" sz="quarter" idx="12"/>
          </p:nvPr>
        </p:nvSpPr>
        <p:spPr/>
        <p:txBody>
          <a:bodyPr/>
          <a:lstStyle/>
          <a:p>
            <a:fld id="{B58685C2-6A2E-4873-8297-09AE79A8BE05}"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Estimation of the </a:t>
            </a:r>
            <a:r>
              <a:rPr lang="en-US" altLang="zh-TW" dirty="0" smtClean="0"/>
              <a:t>mean return</a:t>
            </a:r>
            <a:endParaRPr lang="zh-TW" altLang="en-US" dirty="0"/>
          </a:p>
        </p:txBody>
      </p:sp>
      <p:sp>
        <p:nvSpPr>
          <p:cNvPr id="2" name="投影片編號版面配置區 1"/>
          <p:cNvSpPr>
            <a:spLocks noGrp="1"/>
          </p:cNvSpPr>
          <p:nvPr>
            <p:ph type="sldNum" sz="quarter" idx="12"/>
          </p:nvPr>
        </p:nvSpPr>
        <p:spPr/>
        <p:txBody>
          <a:bodyPr/>
          <a:lstStyle/>
          <a:p>
            <a:fld id="{B58685C2-6A2E-4873-8297-09AE79A8BE05}" type="slidenum">
              <a:rPr lang="zh-TW" altLang="en-US" smtClean="0"/>
              <a:pPr/>
              <a:t>22</a:t>
            </a:fld>
            <a:endParaRPr lang="zh-TW" altLang="en-US"/>
          </a:p>
        </p:txBody>
      </p:sp>
      <p:graphicFrame>
        <p:nvGraphicFramePr>
          <p:cNvPr id="5" name="物件 4"/>
          <p:cNvGraphicFramePr>
            <a:graphicFrameLocks noChangeAspect="1"/>
          </p:cNvGraphicFramePr>
          <p:nvPr/>
        </p:nvGraphicFramePr>
        <p:xfrm>
          <a:off x="1763688" y="4005064"/>
          <a:ext cx="5184576" cy="864095"/>
        </p:xfrm>
        <a:graphic>
          <a:graphicData uri="http://schemas.openxmlformats.org/presentationml/2006/ole">
            <p:oleObj spid="_x0000_s22531" name="方程式" r:id="rId3" imgW="850680" imgH="203040" progId="Equation.3">
              <p:embed/>
            </p:oleObj>
          </a:graphicData>
        </a:graphic>
      </p:graphicFrame>
      <p:sp>
        <p:nvSpPr>
          <p:cNvPr id="6" name="文字方塊 5"/>
          <p:cNvSpPr txBox="1"/>
          <p:nvPr/>
        </p:nvSpPr>
        <p:spPr>
          <a:xfrm>
            <a:off x="467544" y="5589240"/>
            <a:ext cx="8280920" cy="523220"/>
          </a:xfrm>
          <a:prstGeom prst="rect">
            <a:avLst/>
          </a:prstGeom>
          <a:noFill/>
        </p:spPr>
        <p:txBody>
          <a:bodyPr wrap="square" rtlCol="0">
            <a:spAutoFit/>
          </a:bodyPr>
          <a:lstStyle/>
          <a:p>
            <a:pPr algn="ctr"/>
            <a:r>
              <a:rPr lang="en-US" altLang="zh-TW" sz="2800" dirty="0" smtClean="0"/>
              <a:t>This </a:t>
            </a:r>
            <a:r>
              <a:rPr lang="en-US" altLang="zh-TW" sz="2800" dirty="0" smtClean="0"/>
              <a:t>is the prior distribution</a:t>
            </a:r>
            <a:endParaRPr lang="zh-TW" altLang="en-US" sz="2800" dirty="0"/>
          </a:p>
        </p:txBody>
      </p:sp>
      <p:sp>
        <p:nvSpPr>
          <p:cNvPr id="7" name="文字方塊 6"/>
          <p:cNvSpPr txBox="1"/>
          <p:nvPr/>
        </p:nvSpPr>
        <p:spPr>
          <a:xfrm>
            <a:off x="323528" y="1340768"/>
            <a:ext cx="7920880" cy="2249398"/>
          </a:xfrm>
          <a:prstGeom prst="rect">
            <a:avLst/>
          </a:prstGeom>
          <a:noFill/>
        </p:spPr>
        <p:txBody>
          <a:bodyPr wrap="square" rtlCol="0">
            <a:spAutoFit/>
          </a:bodyPr>
          <a:lstStyle/>
          <a:p>
            <a:pPr>
              <a:lnSpc>
                <a:spcPct val="150000"/>
              </a:lnSpc>
              <a:buFont typeface="Arial" pitchFamily="34" charset="0"/>
              <a:buChar char="•"/>
            </a:pPr>
            <a:r>
              <a:rPr lang="en-US" altLang="zh-TW" sz="2400" dirty="0" err="1" smtClean="0"/>
              <a:t>已經計算出各資產的equilibrium</a:t>
            </a:r>
            <a:r>
              <a:rPr lang="en-US" altLang="zh-TW" sz="2400" dirty="0" smtClean="0"/>
              <a:t> return </a:t>
            </a:r>
            <a:r>
              <a:rPr lang="el-GR" altLang="zh-TW" sz="2400" dirty="0" smtClean="0"/>
              <a:t>Π</a:t>
            </a:r>
            <a:r>
              <a:rPr lang="en-US" altLang="zh-TW" sz="2400" dirty="0" smtClean="0"/>
              <a:t> (from CAPM)</a:t>
            </a:r>
          </a:p>
          <a:p>
            <a:pPr>
              <a:lnSpc>
                <a:spcPct val="150000"/>
              </a:lnSpc>
              <a:buFont typeface="Arial" pitchFamily="34" charset="0"/>
              <a:buChar char="•"/>
            </a:pPr>
            <a:r>
              <a:rPr lang="en-US" altLang="zh-TW" sz="2400" dirty="0" err="1" smtClean="0"/>
              <a:t>真正covariance</a:t>
            </a:r>
            <a:r>
              <a:rPr lang="en-US" altLang="zh-TW" sz="2400" dirty="0" smtClean="0"/>
              <a:t> </a:t>
            </a:r>
            <a:r>
              <a:rPr lang="en-US" altLang="zh-TW" sz="2400" dirty="0" err="1" smtClean="0"/>
              <a:t>matrix仍未知</a:t>
            </a:r>
            <a:endParaRPr lang="en-US" altLang="zh-TW" sz="2400" dirty="0" smtClean="0"/>
          </a:p>
          <a:p>
            <a:pPr>
              <a:lnSpc>
                <a:spcPct val="150000"/>
              </a:lnSpc>
              <a:buFont typeface="Arial" pitchFamily="34" charset="0"/>
              <a:buChar char="•"/>
            </a:pPr>
            <a:r>
              <a:rPr lang="en-US" altLang="zh-TW" sz="2400" dirty="0" err="1" smtClean="0"/>
              <a:t>只知以historical</a:t>
            </a:r>
            <a:r>
              <a:rPr lang="en-US" altLang="zh-TW" sz="2400" dirty="0" smtClean="0"/>
              <a:t> </a:t>
            </a:r>
            <a:r>
              <a:rPr lang="en-US" altLang="zh-TW" sz="2400" dirty="0" err="1" smtClean="0"/>
              <a:t>return所算出的covariance</a:t>
            </a:r>
            <a:r>
              <a:rPr lang="en-US" altLang="zh-TW" sz="2400" dirty="0" smtClean="0"/>
              <a:t> matrix </a:t>
            </a:r>
            <a:r>
              <a:rPr lang="el-GR" altLang="zh-TW" sz="2400" dirty="0" smtClean="0"/>
              <a:t>Σ</a:t>
            </a:r>
            <a:endParaRPr lang="en-US" altLang="zh-TW" sz="2400" dirty="0" smtClean="0"/>
          </a:p>
          <a:p>
            <a:pPr>
              <a:lnSpc>
                <a:spcPct val="150000"/>
              </a:lnSpc>
              <a:buFont typeface="Arial" pitchFamily="34" charset="0"/>
              <a:buChar char="•"/>
            </a:pPr>
            <a:r>
              <a:rPr lang="zh-TW" altLang="en-US" sz="2400" dirty="0" smtClean="0"/>
              <a:t>假設每次抽樣均為</a:t>
            </a:r>
            <a:r>
              <a:rPr lang="en-US" altLang="zh-TW" sz="2400" dirty="0" err="1" smtClean="0"/>
              <a:t>i.i.d，則可用</a:t>
            </a:r>
            <a:r>
              <a:rPr lang="el-GR" altLang="zh-TW" sz="2400" dirty="0" smtClean="0"/>
              <a:t> </a:t>
            </a:r>
            <a:r>
              <a:rPr lang="el-GR" altLang="zh-TW" sz="2400" dirty="0" smtClean="0"/>
              <a:t>τΣ</a:t>
            </a:r>
            <a:r>
              <a:rPr lang="zh-TW" altLang="en-US" sz="2400" dirty="0" smtClean="0"/>
              <a:t>來估計</a:t>
            </a:r>
            <a:endParaRPr lang="en-US" altLang="zh-TW" sz="2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Calibrating </a:t>
            </a:r>
            <a:r>
              <a:rPr lang="el-GR" altLang="zh-TW" dirty="0" smtClean="0"/>
              <a:t>τ</a:t>
            </a:r>
            <a:endParaRPr lang="zh-TW" altLang="en-US" dirty="0"/>
          </a:p>
        </p:txBody>
      </p:sp>
      <p:sp>
        <p:nvSpPr>
          <p:cNvPr id="3" name="投影片編號版面配置區 2"/>
          <p:cNvSpPr>
            <a:spLocks noGrp="1"/>
          </p:cNvSpPr>
          <p:nvPr>
            <p:ph type="sldNum" sz="quarter" idx="12"/>
          </p:nvPr>
        </p:nvSpPr>
        <p:spPr/>
        <p:txBody>
          <a:bodyPr/>
          <a:lstStyle/>
          <a:p>
            <a:fld id="{B58685C2-6A2E-4873-8297-09AE79A8BE05}" type="slidenum">
              <a:rPr lang="zh-TW" altLang="en-US" smtClean="0"/>
              <a:pPr/>
              <a:t>23</a:t>
            </a:fld>
            <a:endParaRPr lang="zh-TW" altLang="en-US"/>
          </a:p>
        </p:txBody>
      </p:sp>
      <p:pic>
        <p:nvPicPr>
          <p:cNvPr id="57346" name="Picture 2"/>
          <p:cNvPicPr>
            <a:picLocks noChangeAspect="1" noChangeArrowheads="1"/>
          </p:cNvPicPr>
          <p:nvPr/>
        </p:nvPicPr>
        <p:blipFill>
          <a:blip r:embed="rId2" cstate="print"/>
          <a:srcRect/>
          <a:stretch>
            <a:fillRect/>
          </a:stretch>
        </p:blipFill>
        <p:spPr bwMode="auto">
          <a:xfrm>
            <a:off x="179512" y="2132856"/>
            <a:ext cx="8934327" cy="324036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188640"/>
            <a:ext cx="8229600" cy="1143000"/>
          </a:xfrm>
        </p:spPr>
        <p:txBody>
          <a:bodyPr/>
          <a:lstStyle/>
          <a:p>
            <a:r>
              <a:rPr lang="en-US" altLang="zh-TW" dirty="0" smtClean="0"/>
              <a:t>The views</a:t>
            </a:r>
            <a:endParaRPr lang="zh-TW" altLang="en-US" dirty="0"/>
          </a:p>
        </p:txBody>
      </p:sp>
      <p:sp>
        <p:nvSpPr>
          <p:cNvPr id="3" name="投影片編號版面配置區 2"/>
          <p:cNvSpPr>
            <a:spLocks noGrp="1"/>
          </p:cNvSpPr>
          <p:nvPr>
            <p:ph type="sldNum" sz="quarter" idx="12"/>
          </p:nvPr>
        </p:nvSpPr>
        <p:spPr/>
        <p:txBody>
          <a:bodyPr/>
          <a:lstStyle/>
          <a:p>
            <a:fld id="{B58685C2-6A2E-4873-8297-09AE79A8BE05}" type="slidenum">
              <a:rPr lang="zh-TW" altLang="en-US" smtClean="0"/>
              <a:pPr/>
              <a:t>24</a:t>
            </a:fld>
            <a:endParaRPr lang="zh-TW" altLang="en-US"/>
          </a:p>
        </p:txBody>
      </p:sp>
      <p:sp>
        <p:nvSpPr>
          <p:cNvPr id="4" name="文字方塊 3"/>
          <p:cNvSpPr txBox="1"/>
          <p:nvPr/>
        </p:nvSpPr>
        <p:spPr>
          <a:xfrm>
            <a:off x="323528" y="1124744"/>
            <a:ext cx="7992888" cy="830997"/>
          </a:xfrm>
          <a:prstGeom prst="rect">
            <a:avLst/>
          </a:prstGeom>
          <a:noFill/>
        </p:spPr>
        <p:txBody>
          <a:bodyPr wrap="square" rtlCol="0">
            <a:spAutoFit/>
          </a:bodyPr>
          <a:lstStyle/>
          <a:p>
            <a:pPr>
              <a:buFont typeface="Arial" pitchFamily="34" charset="0"/>
              <a:buChar char="•"/>
            </a:pPr>
            <a:r>
              <a:rPr lang="zh-TW" altLang="en-US" sz="2400" dirty="0" smtClean="0"/>
              <a:t>使用者可自訂對資產報酬率的</a:t>
            </a:r>
            <a:r>
              <a:rPr lang="zh-TW" altLang="en-US" sz="2400" dirty="0" smtClean="0"/>
              <a:t>看法</a:t>
            </a:r>
            <a:r>
              <a:rPr lang="en-US" altLang="zh-TW" sz="2400" dirty="0" smtClean="0"/>
              <a:t>(views)</a:t>
            </a:r>
            <a:endParaRPr lang="en-US" altLang="zh-TW" sz="2400" dirty="0" smtClean="0"/>
          </a:p>
          <a:p>
            <a:pPr>
              <a:buFont typeface="Arial" pitchFamily="34" charset="0"/>
              <a:buChar char="•"/>
            </a:pPr>
            <a:r>
              <a:rPr lang="zh-TW" altLang="en-US" sz="2400" dirty="0" smtClean="0"/>
              <a:t>假設有</a:t>
            </a:r>
            <a:r>
              <a:rPr lang="en-US" altLang="zh-TW" sz="2400" dirty="0" smtClean="0"/>
              <a:t>4個資產，2個看法</a:t>
            </a:r>
            <a:endParaRPr lang="zh-TW" altLang="en-US" sz="2400" dirty="0"/>
          </a:p>
        </p:txBody>
      </p:sp>
      <p:pic>
        <p:nvPicPr>
          <p:cNvPr id="21506" name="Picture 2"/>
          <p:cNvPicPr>
            <a:picLocks noChangeAspect="1" noChangeArrowheads="1"/>
          </p:cNvPicPr>
          <p:nvPr/>
        </p:nvPicPr>
        <p:blipFill>
          <a:blip r:embed="rId2" cstate="print"/>
          <a:srcRect/>
          <a:stretch>
            <a:fillRect/>
          </a:stretch>
        </p:blipFill>
        <p:spPr bwMode="auto">
          <a:xfrm>
            <a:off x="251520" y="2276872"/>
            <a:ext cx="3095625" cy="1181100"/>
          </a:xfrm>
          <a:prstGeom prst="rect">
            <a:avLst/>
          </a:prstGeom>
          <a:noFill/>
          <a:ln w="9525">
            <a:noFill/>
            <a:miter lim="800000"/>
            <a:headEnd/>
            <a:tailEnd/>
          </a:ln>
        </p:spPr>
      </p:pic>
      <p:pic>
        <p:nvPicPr>
          <p:cNvPr id="21507" name="Picture 3"/>
          <p:cNvPicPr>
            <a:picLocks noChangeAspect="1" noChangeArrowheads="1"/>
          </p:cNvPicPr>
          <p:nvPr/>
        </p:nvPicPr>
        <p:blipFill>
          <a:blip r:embed="rId3" cstate="print"/>
          <a:srcRect/>
          <a:stretch>
            <a:fillRect/>
          </a:stretch>
        </p:blipFill>
        <p:spPr bwMode="auto">
          <a:xfrm>
            <a:off x="467544" y="3429000"/>
            <a:ext cx="1171575" cy="1162050"/>
          </a:xfrm>
          <a:prstGeom prst="rect">
            <a:avLst/>
          </a:prstGeom>
          <a:noFill/>
          <a:ln w="9525">
            <a:noFill/>
            <a:miter lim="800000"/>
            <a:headEnd/>
            <a:tailEnd/>
          </a:ln>
        </p:spPr>
      </p:pic>
      <p:pic>
        <p:nvPicPr>
          <p:cNvPr id="21508" name="Picture 4"/>
          <p:cNvPicPr>
            <a:picLocks noChangeAspect="1" noChangeArrowheads="1"/>
          </p:cNvPicPr>
          <p:nvPr/>
        </p:nvPicPr>
        <p:blipFill>
          <a:blip r:embed="rId4" cstate="print"/>
          <a:srcRect/>
          <a:stretch>
            <a:fillRect/>
          </a:stretch>
        </p:blipFill>
        <p:spPr bwMode="auto">
          <a:xfrm>
            <a:off x="395536" y="4797152"/>
            <a:ext cx="2371725" cy="1095375"/>
          </a:xfrm>
          <a:prstGeom prst="rect">
            <a:avLst/>
          </a:prstGeom>
          <a:noFill/>
          <a:ln w="9525">
            <a:noFill/>
            <a:miter lim="800000"/>
            <a:headEnd/>
            <a:tailEnd/>
          </a:ln>
        </p:spPr>
      </p:pic>
      <p:sp>
        <p:nvSpPr>
          <p:cNvPr id="8" name="文字方塊 7"/>
          <p:cNvSpPr txBox="1"/>
          <p:nvPr/>
        </p:nvSpPr>
        <p:spPr>
          <a:xfrm>
            <a:off x="3563888" y="2348880"/>
            <a:ext cx="5256584" cy="1938992"/>
          </a:xfrm>
          <a:prstGeom prst="rect">
            <a:avLst/>
          </a:prstGeom>
          <a:noFill/>
        </p:spPr>
        <p:txBody>
          <a:bodyPr wrap="square" rtlCol="0">
            <a:spAutoFit/>
          </a:bodyPr>
          <a:lstStyle/>
          <a:p>
            <a:r>
              <a:rPr lang="zh-TW" altLang="en-US" sz="2400" dirty="0" smtClean="0"/>
              <a:t>使用者對各資產的看法</a:t>
            </a:r>
            <a:endParaRPr lang="en-US" altLang="zh-TW" sz="2400" dirty="0" smtClean="0"/>
          </a:p>
          <a:p>
            <a:pPr>
              <a:buFont typeface="Arial" pitchFamily="34" charset="0"/>
              <a:buChar char="•"/>
            </a:pPr>
            <a:r>
              <a:rPr lang="en-US" altLang="zh-TW" sz="2400" dirty="0" smtClean="0">
                <a:solidFill>
                  <a:srgbClr val="FF0000"/>
                </a:solidFill>
              </a:rPr>
              <a:t>Relative views:  </a:t>
            </a:r>
            <a:r>
              <a:rPr lang="en-US" altLang="zh-TW" sz="2400" dirty="0" smtClean="0">
                <a:solidFill>
                  <a:srgbClr val="FF0000"/>
                </a:solidFill>
              </a:rPr>
              <a:t>資產1</a:t>
            </a:r>
            <a:r>
              <a:rPr lang="en-US" altLang="zh-TW" sz="2400" dirty="0" smtClean="0">
                <a:solidFill>
                  <a:srgbClr val="FF0000"/>
                </a:solidFill>
              </a:rPr>
              <a:t>比資產3報酬率高2</a:t>
            </a:r>
            <a:r>
              <a:rPr lang="en-US" altLang="zh-TW" sz="2400" dirty="0" smtClean="0">
                <a:solidFill>
                  <a:srgbClr val="FF0000"/>
                </a:solidFill>
              </a:rPr>
              <a:t>%,  </a:t>
            </a:r>
            <a:r>
              <a:rPr lang="en-US" altLang="zh-TW" sz="2400" dirty="0" err="1" smtClean="0">
                <a:solidFill>
                  <a:srgbClr val="FF0000"/>
                </a:solidFill>
              </a:rPr>
              <a:t>但有</a:t>
            </a:r>
            <a:r>
              <a:rPr lang="el-GR" altLang="zh-TW" sz="2400" dirty="0" smtClean="0">
                <a:solidFill>
                  <a:srgbClr val="FF0000"/>
                </a:solidFill>
                <a:latin typeface="微軟正黑體"/>
                <a:ea typeface="微軟正黑體"/>
              </a:rPr>
              <a:t>ω</a:t>
            </a:r>
            <a:r>
              <a:rPr lang="en-US" altLang="zh-TW" sz="2400" baseline="-25000" dirty="0" smtClean="0">
                <a:solidFill>
                  <a:srgbClr val="FF0000"/>
                </a:solidFill>
                <a:latin typeface="微軟正黑體"/>
                <a:ea typeface="微軟正黑體"/>
              </a:rPr>
              <a:t>11</a:t>
            </a:r>
            <a:r>
              <a:rPr lang="en-US" altLang="zh-TW" sz="2400" dirty="0" smtClean="0">
                <a:solidFill>
                  <a:srgbClr val="FF0000"/>
                </a:solidFill>
                <a:latin typeface="微軟正黑體"/>
                <a:ea typeface="微軟正黑體"/>
              </a:rPr>
              <a:t>的</a:t>
            </a:r>
            <a:r>
              <a:rPr lang="en-US" altLang="zh-TW" sz="2400" dirty="0" smtClean="0">
                <a:solidFill>
                  <a:srgbClr val="FF0000"/>
                </a:solidFill>
                <a:latin typeface="+mn-ea"/>
              </a:rPr>
              <a:t>不確定性</a:t>
            </a:r>
            <a:endParaRPr lang="en-US" altLang="zh-TW" sz="2400" dirty="0" smtClean="0">
              <a:solidFill>
                <a:srgbClr val="FF0000"/>
              </a:solidFill>
              <a:latin typeface="+mn-ea"/>
            </a:endParaRPr>
          </a:p>
          <a:p>
            <a:pPr>
              <a:buFont typeface="Arial" pitchFamily="34" charset="0"/>
              <a:buChar char="•"/>
            </a:pPr>
            <a:r>
              <a:rPr lang="en-US" altLang="zh-TW" sz="2400" dirty="0" smtClean="0">
                <a:solidFill>
                  <a:srgbClr val="00B0F0"/>
                </a:solidFill>
              </a:rPr>
              <a:t>Absolute views: 資產2</a:t>
            </a:r>
            <a:r>
              <a:rPr lang="en-US" altLang="zh-TW" sz="2400" dirty="0" smtClean="0">
                <a:solidFill>
                  <a:srgbClr val="00B0F0"/>
                </a:solidFill>
              </a:rPr>
              <a:t>報酬率為3</a:t>
            </a:r>
            <a:r>
              <a:rPr lang="en-US" altLang="zh-TW" sz="2400" dirty="0" smtClean="0">
                <a:solidFill>
                  <a:srgbClr val="00B0F0"/>
                </a:solidFill>
              </a:rPr>
              <a:t>%, </a:t>
            </a:r>
            <a:r>
              <a:rPr lang="en-US" altLang="zh-TW" sz="2400" dirty="0" err="1" smtClean="0">
                <a:solidFill>
                  <a:srgbClr val="00B0F0"/>
                </a:solidFill>
              </a:rPr>
              <a:t>但有</a:t>
            </a:r>
            <a:r>
              <a:rPr lang="en-US" altLang="zh-TW" sz="2400" dirty="0" smtClean="0">
                <a:solidFill>
                  <a:srgbClr val="00B0F0"/>
                </a:solidFill>
              </a:rPr>
              <a:t> </a:t>
            </a:r>
            <a:r>
              <a:rPr lang="en-US" altLang="zh-TW" sz="2400" dirty="0" err="1" smtClean="0">
                <a:solidFill>
                  <a:srgbClr val="00B0F0"/>
                </a:solidFill>
              </a:rPr>
              <a:t>但有</a:t>
            </a:r>
            <a:r>
              <a:rPr lang="el-GR" altLang="zh-TW" sz="2400" dirty="0" smtClean="0">
                <a:solidFill>
                  <a:srgbClr val="00B0F0"/>
                </a:solidFill>
                <a:latin typeface="微軟正黑體"/>
                <a:ea typeface="微軟正黑體"/>
              </a:rPr>
              <a:t>ω</a:t>
            </a:r>
            <a:r>
              <a:rPr lang="en-US" altLang="zh-TW" sz="2400" baseline="-25000" dirty="0" smtClean="0">
                <a:solidFill>
                  <a:srgbClr val="00B0F0"/>
                </a:solidFill>
                <a:latin typeface="微軟正黑體"/>
                <a:ea typeface="微軟正黑體"/>
              </a:rPr>
              <a:t>22</a:t>
            </a:r>
            <a:r>
              <a:rPr lang="en-US" altLang="zh-TW" sz="2400" dirty="0" smtClean="0">
                <a:solidFill>
                  <a:srgbClr val="00B0F0"/>
                </a:solidFill>
                <a:latin typeface="微軟正黑體"/>
                <a:ea typeface="微軟正黑體"/>
              </a:rPr>
              <a:t>的</a:t>
            </a:r>
            <a:r>
              <a:rPr lang="en-US" altLang="zh-TW" sz="2400" dirty="0" smtClean="0">
                <a:solidFill>
                  <a:srgbClr val="00B0F0"/>
                </a:solidFill>
                <a:latin typeface="+mn-ea"/>
              </a:rPr>
              <a:t>不確定性</a:t>
            </a:r>
            <a:endParaRPr lang="zh-TW" altLang="en-US" sz="2400" dirty="0">
              <a:solidFill>
                <a:srgbClr val="00B0F0"/>
              </a:solidFill>
            </a:endParaRPr>
          </a:p>
        </p:txBody>
      </p:sp>
      <p:sp>
        <p:nvSpPr>
          <p:cNvPr id="10" name="文字方塊 9"/>
          <p:cNvSpPr txBox="1"/>
          <p:nvPr/>
        </p:nvSpPr>
        <p:spPr>
          <a:xfrm>
            <a:off x="3275856" y="4941168"/>
            <a:ext cx="5544616" cy="830997"/>
          </a:xfrm>
          <a:prstGeom prst="rect">
            <a:avLst/>
          </a:prstGeom>
          <a:noFill/>
        </p:spPr>
        <p:txBody>
          <a:bodyPr wrap="square" rtlCol="0">
            <a:spAutoFit/>
          </a:bodyPr>
          <a:lstStyle/>
          <a:p>
            <a:r>
              <a:rPr lang="en-US" altLang="zh-TW" sz="2400" dirty="0" smtClean="0"/>
              <a:t>Covariance of the views </a:t>
            </a:r>
            <a:r>
              <a:rPr lang="en-US" altLang="zh-TW" sz="2400" dirty="0" smtClean="0"/>
              <a:t>(must be diagonal</a:t>
            </a:r>
            <a:r>
              <a:rPr lang="en-US" altLang="zh-TW" sz="2400" dirty="0" smtClean="0"/>
              <a:t>),</a:t>
            </a:r>
          </a:p>
          <a:p>
            <a:r>
              <a:rPr lang="en-US" altLang="zh-TW" sz="2400" dirty="0" smtClean="0"/>
              <a:t>Need to be estimated</a:t>
            </a:r>
            <a:endParaRPr lang="zh-TW" alt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B58685C2-6A2E-4873-8297-09AE79A8BE05}" type="slidenum">
              <a:rPr lang="zh-TW" altLang="en-US" smtClean="0"/>
              <a:pPr/>
              <a:t>25</a:t>
            </a:fld>
            <a:endParaRPr lang="zh-TW" altLang="en-US"/>
          </a:p>
        </p:txBody>
      </p:sp>
      <p:graphicFrame>
        <p:nvGraphicFramePr>
          <p:cNvPr id="4" name="物件 3"/>
          <p:cNvGraphicFramePr>
            <a:graphicFrameLocks noChangeAspect="1"/>
          </p:cNvGraphicFramePr>
          <p:nvPr/>
        </p:nvGraphicFramePr>
        <p:xfrm>
          <a:off x="683568" y="620688"/>
          <a:ext cx="3049587" cy="1439862"/>
        </p:xfrm>
        <a:graphic>
          <a:graphicData uri="http://schemas.openxmlformats.org/presentationml/2006/ole">
            <p:oleObj spid="_x0000_s23554" name="方程式" r:id="rId3" imgW="914400" imgH="431640" progId="Equation.3">
              <p:embed/>
            </p:oleObj>
          </a:graphicData>
        </a:graphic>
      </p:graphicFrame>
      <p:sp>
        <p:nvSpPr>
          <p:cNvPr id="5" name="文字方塊 4"/>
          <p:cNvSpPr txBox="1"/>
          <p:nvPr/>
        </p:nvSpPr>
        <p:spPr>
          <a:xfrm>
            <a:off x="611560" y="2780928"/>
            <a:ext cx="6696744" cy="954107"/>
          </a:xfrm>
          <a:prstGeom prst="rect">
            <a:avLst/>
          </a:prstGeom>
          <a:noFill/>
        </p:spPr>
        <p:txBody>
          <a:bodyPr wrap="square" rtlCol="0">
            <a:spAutoFit/>
          </a:bodyPr>
          <a:lstStyle/>
          <a:p>
            <a:r>
              <a:rPr lang="en-US" altLang="zh-TW" sz="2800" dirty="0" err="1" smtClean="0"/>
              <a:t>Q已知，只需估計</a:t>
            </a:r>
            <a:r>
              <a:rPr lang="el-GR" altLang="zh-TW" sz="2800" dirty="0" smtClean="0"/>
              <a:t>Ω</a:t>
            </a:r>
            <a:r>
              <a:rPr lang="zh-TW" altLang="en-US" sz="2800" dirty="0" smtClean="0"/>
              <a:t>之值。</a:t>
            </a:r>
            <a:endParaRPr lang="en-US" altLang="zh-TW" sz="2800" dirty="0" smtClean="0"/>
          </a:p>
          <a:p>
            <a:r>
              <a:rPr lang="zh-TW" altLang="en-US" sz="2800" dirty="0" smtClean="0"/>
              <a:t>由上式可知</a:t>
            </a:r>
            <a:r>
              <a:rPr lang="en-US" altLang="zh-TW" sz="2800" dirty="0" smtClean="0"/>
              <a:t>:</a:t>
            </a:r>
            <a:endParaRPr lang="zh-TW" altLang="en-US" sz="2800" dirty="0"/>
          </a:p>
        </p:txBody>
      </p:sp>
      <p:graphicFrame>
        <p:nvGraphicFramePr>
          <p:cNvPr id="6" name="物件 5"/>
          <p:cNvGraphicFramePr>
            <a:graphicFrameLocks noChangeAspect="1"/>
          </p:cNvGraphicFramePr>
          <p:nvPr/>
        </p:nvGraphicFramePr>
        <p:xfrm>
          <a:off x="2843808" y="3861048"/>
          <a:ext cx="2640293" cy="720080"/>
        </p:xfrm>
        <a:graphic>
          <a:graphicData uri="http://schemas.openxmlformats.org/presentationml/2006/ole">
            <p:oleObj spid="_x0000_s23555" name="方程式" r:id="rId4" imgW="838080" imgH="228600" progId="Equation.3">
              <p:embed/>
            </p:oleObj>
          </a:graphicData>
        </a:graphic>
      </p:graphicFrame>
      <p:sp>
        <p:nvSpPr>
          <p:cNvPr id="7" name="矩形 6"/>
          <p:cNvSpPr/>
          <p:nvPr/>
        </p:nvSpPr>
        <p:spPr>
          <a:xfrm>
            <a:off x="3851920" y="692696"/>
            <a:ext cx="4146456" cy="461665"/>
          </a:xfrm>
          <a:prstGeom prst="rect">
            <a:avLst/>
          </a:prstGeom>
        </p:spPr>
        <p:txBody>
          <a:bodyPr wrap="none">
            <a:spAutoFit/>
          </a:bodyPr>
          <a:lstStyle/>
          <a:p>
            <a:r>
              <a:rPr lang="en-US" altLang="zh-TW" sz="2400" dirty="0" smtClean="0"/>
              <a:t>(Estimation </a:t>
            </a:r>
            <a:r>
              <a:rPr lang="en-US" altLang="zh-TW" sz="2400" dirty="0" smtClean="0"/>
              <a:t>of the mean </a:t>
            </a:r>
            <a:r>
              <a:rPr lang="en-US" altLang="zh-TW" sz="2400" dirty="0" smtClean="0"/>
              <a:t>return)</a:t>
            </a:r>
            <a:endParaRPr lang="zh-TW" altLang="en-US" sz="2400" dirty="0"/>
          </a:p>
        </p:txBody>
      </p:sp>
      <p:sp>
        <p:nvSpPr>
          <p:cNvPr id="8" name="矩形 7"/>
          <p:cNvSpPr/>
          <p:nvPr/>
        </p:nvSpPr>
        <p:spPr>
          <a:xfrm>
            <a:off x="3923928" y="1412776"/>
            <a:ext cx="4194546" cy="830997"/>
          </a:xfrm>
          <a:prstGeom prst="rect">
            <a:avLst/>
          </a:prstGeom>
        </p:spPr>
        <p:txBody>
          <a:bodyPr wrap="none">
            <a:spAutoFit/>
          </a:bodyPr>
          <a:lstStyle/>
          <a:p>
            <a:r>
              <a:rPr lang="en-US" altLang="zh-TW" sz="2400" dirty="0" smtClean="0"/>
              <a:t>(Given the mean return, </a:t>
            </a:r>
            <a:br>
              <a:rPr lang="en-US" altLang="zh-TW" sz="2400" dirty="0" smtClean="0"/>
            </a:br>
            <a:r>
              <a:rPr lang="en-US" altLang="zh-TW" sz="2400" dirty="0" smtClean="0"/>
              <a:t> estimation </a:t>
            </a:r>
            <a:r>
              <a:rPr lang="en-US" altLang="zh-TW" sz="2400" dirty="0" smtClean="0"/>
              <a:t>of the mean </a:t>
            </a:r>
            <a:r>
              <a:rPr lang="en-US" altLang="zh-TW" sz="2400" dirty="0" smtClean="0"/>
              <a:t>return)</a:t>
            </a:r>
            <a:endParaRPr lang="zh-TW"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39552" y="188640"/>
            <a:ext cx="8229600" cy="1143000"/>
          </a:xfrm>
        </p:spPr>
        <p:txBody>
          <a:bodyPr/>
          <a:lstStyle/>
          <a:p>
            <a:r>
              <a:rPr lang="en-US" altLang="zh-TW" dirty="0" err="1" smtClean="0"/>
              <a:t>Baye’s</a:t>
            </a:r>
            <a:r>
              <a:rPr lang="en-US" altLang="zh-TW" dirty="0" smtClean="0"/>
              <a:t> theory</a:t>
            </a:r>
            <a:endParaRPr lang="zh-TW" altLang="en-US" dirty="0"/>
          </a:p>
        </p:txBody>
      </p:sp>
      <p:sp>
        <p:nvSpPr>
          <p:cNvPr id="3" name="投影片編號版面配置區 2"/>
          <p:cNvSpPr>
            <a:spLocks noGrp="1"/>
          </p:cNvSpPr>
          <p:nvPr>
            <p:ph type="sldNum" sz="quarter" idx="12"/>
          </p:nvPr>
        </p:nvSpPr>
        <p:spPr/>
        <p:txBody>
          <a:bodyPr/>
          <a:lstStyle/>
          <a:p>
            <a:fld id="{B58685C2-6A2E-4873-8297-09AE79A8BE05}" type="slidenum">
              <a:rPr lang="zh-TW" altLang="en-US" smtClean="0"/>
              <a:pPr/>
              <a:t>26</a:t>
            </a:fld>
            <a:endParaRPr lang="zh-TW" altLang="en-US"/>
          </a:p>
        </p:txBody>
      </p:sp>
      <p:graphicFrame>
        <p:nvGraphicFramePr>
          <p:cNvPr id="24579" name="Object 3"/>
          <p:cNvGraphicFramePr>
            <a:graphicFrameLocks noChangeAspect="1"/>
          </p:cNvGraphicFramePr>
          <p:nvPr/>
        </p:nvGraphicFramePr>
        <p:xfrm>
          <a:off x="539552" y="2780928"/>
          <a:ext cx="8100392" cy="3645896"/>
        </p:xfrm>
        <a:graphic>
          <a:graphicData uri="http://schemas.openxmlformats.org/presentationml/2006/ole">
            <p:oleObj spid="_x0000_s24579" name="方程式" r:id="rId3" imgW="2679480" imgH="1206360" progId="Equation.3">
              <p:embed/>
            </p:oleObj>
          </a:graphicData>
        </a:graphic>
      </p:graphicFrame>
      <p:graphicFrame>
        <p:nvGraphicFramePr>
          <p:cNvPr id="6" name="物件 5"/>
          <p:cNvGraphicFramePr>
            <a:graphicFrameLocks noChangeAspect="1"/>
          </p:cNvGraphicFramePr>
          <p:nvPr/>
        </p:nvGraphicFramePr>
        <p:xfrm>
          <a:off x="1763688" y="1412776"/>
          <a:ext cx="4608045" cy="1224012"/>
        </p:xfrm>
        <a:graphic>
          <a:graphicData uri="http://schemas.openxmlformats.org/presentationml/2006/ole">
            <p:oleObj spid="_x0000_s24580" name="方程式" r:id="rId4" imgW="1625400" imgH="431640" progId="Equation.3">
              <p:embed/>
            </p:oleObj>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B58685C2-6A2E-4873-8297-09AE79A8BE05}" type="slidenum">
              <a:rPr lang="zh-TW" altLang="en-US" smtClean="0"/>
              <a:pPr/>
              <a:t>27</a:t>
            </a:fld>
            <a:endParaRPr lang="zh-TW" altLang="en-US"/>
          </a:p>
        </p:txBody>
      </p:sp>
      <p:sp>
        <p:nvSpPr>
          <p:cNvPr id="4" name="文字方塊 3"/>
          <p:cNvSpPr txBox="1"/>
          <p:nvPr/>
        </p:nvSpPr>
        <p:spPr>
          <a:xfrm>
            <a:off x="107504" y="476672"/>
            <a:ext cx="8712968" cy="954107"/>
          </a:xfrm>
          <a:prstGeom prst="rect">
            <a:avLst/>
          </a:prstGeom>
          <a:noFill/>
        </p:spPr>
        <p:txBody>
          <a:bodyPr wrap="square" rtlCol="0">
            <a:spAutoFit/>
          </a:bodyPr>
          <a:lstStyle/>
          <a:p>
            <a:r>
              <a:rPr lang="en-US" altLang="zh-TW" sz="2800" dirty="0" smtClean="0"/>
              <a:t>We have get the posterior </a:t>
            </a:r>
            <a:r>
              <a:rPr lang="en-US" altLang="zh-TW" sz="2800" dirty="0" smtClean="0"/>
              <a:t>distribution of mean return</a:t>
            </a:r>
            <a:endParaRPr lang="en-US" altLang="zh-TW" sz="2800" dirty="0" smtClean="0"/>
          </a:p>
          <a:p>
            <a:pPr>
              <a:buFont typeface="Symbol"/>
              <a:buChar char="Þ"/>
            </a:pPr>
            <a:r>
              <a:rPr lang="en-US" altLang="zh-TW" sz="2800" dirty="0" smtClean="0"/>
              <a:t>We want to get the distribution of expected mean</a:t>
            </a:r>
          </a:p>
        </p:txBody>
      </p:sp>
      <p:graphicFrame>
        <p:nvGraphicFramePr>
          <p:cNvPr id="56322" name="Object 2"/>
          <p:cNvGraphicFramePr>
            <a:graphicFrameLocks noChangeAspect="1"/>
          </p:cNvGraphicFramePr>
          <p:nvPr/>
        </p:nvGraphicFramePr>
        <p:xfrm>
          <a:off x="1802755" y="3645024"/>
          <a:ext cx="6585669" cy="2995247"/>
        </p:xfrm>
        <a:graphic>
          <a:graphicData uri="http://schemas.openxmlformats.org/presentationml/2006/ole">
            <p:oleObj spid="_x0000_s56322" name="方程式" r:id="rId3" imgW="2679480" imgH="1218960" progId="Equation.3">
              <p:embed/>
            </p:oleObj>
          </a:graphicData>
        </a:graphic>
      </p:graphicFrame>
      <p:sp>
        <p:nvSpPr>
          <p:cNvPr id="6" name="向下箭號 5"/>
          <p:cNvSpPr/>
          <p:nvPr/>
        </p:nvSpPr>
        <p:spPr>
          <a:xfrm>
            <a:off x="3851920" y="3068960"/>
            <a:ext cx="432048"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物件 6"/>
          <p:cNvGraphicFramePr>
            <a:graphicFrameLocks noChangeAspect="1"/>
          </p:cNvGraphicFramePr>
          <p:nvPr/>
        </p:nvGraphicFramePr>
        <p:xfrm>
          <a:off x="3131840" y="1556792"/>
          <a:ext cx="2088232" cy="1392155"/>
        </p:xfrm>
        <a:graphic>
          <a:graphicData uri="http://schemas.openxmlformats.org/presentationml/2006/ole">
            <p:oleObj spid="_x0000_s56323" name="方程式" r:id="rId4" imgW="1028520" imgH="685800" progId="Equation.3">
              <p:embed/>
            </p:oleObj>
          </a:graphicData>
        </a:graphic>
      </p:graphicFrame>
      <p:sp>
        <p:nvSpPr>
          <p:cNvPr id="8" name="文字方塊 7"/>
          <p:cNvSpPr txBox="1"/>
          <p:nvPr/>
        </p:nvSpPr>
        <p:spPr>
          <a:xfrm>
            <a:off x="467544" y="1988840"/>
            <a:ext cx="1080120" cy="523220"/>
          </a:xfrm>
          <a:prstGeom prst="rect">
            <a:avLst/>
          </a:prstGeom>
          <a:noFill/>
        </p:spPr>
        <p:txBody>
          <a:bodyPr wrap="square" rtlCol="0">
            <a:spAutoFit/>
          </a:bodyPr>
          <a:lstStyle/>
          <a:p>
            <a:r>
              <a:rPr lang="en-US" altLang="zh-TW" sz="2800" dirty="0" smtClean="0">
                <a:solidFill>
                  <a:srgbClr val="FF0000"/>
                </a:solidFill>
              </a:rPr>
              <a:t>Prior</a:t>
            </a:r>
            <a:endParaRPr lang="zh-TW" altLang="en-US" sz="2800" dirty="0">
              <a:solidFill>
                <a:srgbClr val="FF0000"/>
              </a:solidFill>
            </a:endParaRPr>
          </a:p>
        </p:txBody>
      </p:sp>
      <p:sp>
        <p:nvSpPr>
          <p:cNvPr id="9" name="文字方塊 8"/>
          <p:cNvSpPr txBox="1"/>
          <p:nvPr/>
        </p:nvSpPr>
        <p:spPr>
          <a:xfrm>
            <a:off x="179512" y="4437112"/>
            <a:ext cx="1584176" cy="523220"/>
          </a:xfrm>
          <a:prstGeom prst="rect">
            <a:avLst/>
          </a:prstGeom>
          <a:noFill/>
        </p:spPr>
        <p:txBody>
          <a:bodyPr wrap="square" rtlCol="0">
            <a:spAutoFit/>
          </a:bodyPr>
          <a:lstStyle/>
          <a:p>
            <a:r>
              <a:rPr lang="en-US" altLang="zh-TW" sz="2800" dirty="0" smtClean="0">
                <a:solidFill>
                  <a:srgbClr val="FF0000"/>
                </a:solidFill>
              </a:rPr>
              <a:t>Posterior</a:t>
            </a:r>
            <a:endParaRPr lang="zh-TW" altLang="en-US" sz="2800"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fontScale="90000"/>
          </a:bodyPr>
          <a:lstStyle/>
          <a:p>
            <a:r>
              <a:rPr lang="en-US" altLang="zh-TW" dirty="0" smtClean="0"/>
              <a:t>Calculating new weight for each asset</a:t>
            </a:r>
            <a:endParaRPr lang="zh-TW" altLang="en-US" dirty="0"/>
          </a:p>
        </p:txBody>
      </p:sp>
      <p:sp>
        <p:nvSpPr>
          <p:cNvPr id="2" name="投影片編號版面配置區 1"/>
          <p:cNvSpPr>
            <a:spLocks noGrp="1"/>
          </p:cNvSpPr>
          <p:nvPr>
            <p:ph type="sldNum" sz="quarter" idx="12"/>
          </p:nvPr>
        </p:nvSpPr>
        <p:spPr/>
        <p:txBody>
          <a:bodyPr/>
          <a:lstStyle/>
          <a:p>
            <a:fld id="{B58685C2-6A2E-4873-8297-09AE79A8BE05}" type="slidenum">
              <a:rPr lang="zh-TW" altLang="en-US" smtClean="0"/>
              <a:pPr/>
              <a:t>28</a:t>
            </a:fld>
            <a:endParaRPr lang="zh-TW" altLang="en-US"/>
          </a:p>
        </p:txBody>
      </p:sp>
      <p:sp>
        <p:nvSpPr>
          <p:cNvPr id="5" name="文字方塊 4"/>
          <p:cNvSpPr txBox="1"/>
          <p:nvPr/>
        </p:nvSpPr>
        <p:spPr>
          <a:xfrm>
            <a:off x="395536" y="1268760"/>
            <a:ext cx="8424936" cy="461665"/>
          </a:xfrm>
          <a:prstGeom prst="rect">
            <a:avLst/>
          </a:prstGeom>
          <a:noFill/>
        </p:spPr>
        <p:txBody>
          <a:bodyPr wrap="square" rtlCol="0">
            <a:spAutoFit/>
          </a:bodyPr>
          <a:lstStyle/>
          <a:p>
            <a:r>
              <a:rPr lang="zh-TW" altLang="en-US" sz="2400" dirty="0" smtClean="0"/>
              <a:t>得到新的</a:t>
            </a:r>
            <a:r>
              <a:rPr lang="en-US" altLang="zh-TW" sz="2400" dirty="0" smtClean="0"/>
              <a:t>E(r)</a:t>
            </a:r>
            <a:r>
              <a:rPr lang="en-US" altLang="zh-TW" sz="2400" dirty="0" err="1" smtClean="0"/>
              <a:t>的return</a:t>
            </a:r>
            <a:r>
              <a:rPr lang="zh-TW" altLang="en-US" sz="2400" dirty="0" smtClean="0"/>
              <a:t>與</a:t>
            </a:r>
            <a:r>
              <a:rPr lang="en-US" altLang="zh-TW" sz="2400" dirty="0" err="1" smtClean="0"/>
              <a:t>covariance，可重新計算新的資金分配</a:t>
            </a:r>
            <a:r>
              <a:rPr lang="en-US" altLang="zh-TW" sz="2400" dirty="0" smtClean="0"/>
              <a:t> </a:t>
            </a:r>
            <a:endParaRPr lang="zh-TW" altLang="en-US" sz="2400" dirty="0"/>
          </a:p>
        </p:txBody>
      </p:sp>
      <p:graphicFrame>
        <p:nvGraphicFramePr>
          <p:cNvPr id="61441" name="Object 1"/>
          <p:cNvGraphicFramePr>
            <a:graphicFrameLocks noChangeAspect="1"/>
          </p:cNvGraphicFramePr>
          <p:nvPr/>
        </p:nvGraphicFramePr>
        <p:xfrm>
          <a:off x="2267744" y="4365104"/>
          <a:ext cx="4004552" cy="936104"/>
        </p:xfrm>
        <a:graphic>
          <a:graphicData uri="http://schemas.openxmlformats.org/presentationml/2006/ole">
            <p:oleObj spid="_x0000_s61441" name="方程式" r:id="rId3" imgW="977760" imgH="228600" progId="Equation.3">
              <p:embed/>
            </p:oleObj>
          </a:graphicData>
        </a:graphic>
      </p:graphicFrame>
      <p:graphicFrame>
        <p:nvGraphicFramePr>
          <p:cNvPr id="61442" name="Object 2"/>
          <p:cNvGraphicFramePr>
            <a:graphicFrameLocks noChangeAspect="1"/>
          </p:cNvGraphicFramePr>
          <p:nvPr/>
        </p:nvGraphicFramePr>
        <p:xfrm>
          <a:off x="1475656" y="2204864"/>
          <a:ext cx="5553075" cy="1655763"/>
        </p:xfrm>
        <a:graphic>
          <a:graphicData uri="http://schemas.openxmlformats.org/presentationml/2006/ole">
            <p:oleObj spid="_x0000_s61442" name="方程式" r:id="rId4" imgW="1447560" imgH="431640" progId="Equation.3">
              <p:embed/>
            </p:oleObj>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750px-GNU_Tux_Revolution_-_white_background_-1280x1024.png"/>
          <p:cNvPicPr>
            <a:picLocks noChangeAspect="1"/>
          </p:cNvPicPr>
          <p:nvPr/>
        </p:nvPicPr>
        <p:blipFill>
          <a:blip r:embed="rId2" cstate="print">
            <a:lum bright="10000"/>
          </a:blip>
          <a:srcRect t="33200" b="22700"/>
          <a:stretch>
            <a:fillRect/>
          </a:stretch>
        </p:blipFill>
        <p:spPr>
          <a:xfrm>
            <a:off x="323528" y="2780928"/>
            <a:ext cx="8572500" cy="30243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文字方塊 3"/>
          <p:cNvSpPr txBox="1"/>
          <p:nvPr/>
        </p:nvSpPr>
        <p:spPr>
          <a:xfrm>
            <a:off x="1547664" y="1124744"/>
            <a:ext cx="6192688" cy="1569660"/>
          </a:xfrm>
          <a:prstGeom prst="rect">
            <a:avLst/>
          </a:prstGeom>
          <a:noFill/>
        </p:spPr>
        <p:txBody>
          <a:bodyPr wrap="square" rtlCol="0">
            <a:spAutoFit/>
          </a:bodyPr>
          <a:lstStyle/>
          <a:p>
            <a:pPr algn="ctr"/>
            <a:r>
              <a:rPr lang="en-US" altLang="zh-TW" sz="9600" dirty="0" smtClean="0"/>
              <a:t>Thank you!!</a:t>
            </a:r>
            <a:endParaRPr lang="zh-TW" altLang="en-US" sz="9600" dirty="0"/>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TotalTime>
  <Words>942</Words>
  <Application>Microsoft Office PowerPoint</Application>
  <PresentationFormat>如螢幕大小 (4:3)</PresentationFormat>
  <Paragraphs>156</Paragraphs>
  <Slides>29</Slides>
  <Notes>0</Notes>
  <HiddenSlides>0</HiddenSlides>
  <MMClips>0</MMClips>
  <ScaleCrop>false</ScaleCrop>
  <HeadingPairs>
    <vt:vector size="6" baseType="variant">
      <vt:variant>
        <vt:lpstr>佈景主題</vt:lpstr>
      </vt:variant>
      <vt:variant>
        <vt:i4>1</vt:i4>
      </vt:variant>
      <vt:variant>
        <vt:lpstr>內嵌 OLE 伺服程式</vt:lpstr>
      </vt:variant>
      <vt:variant>
        <vt:i4>4</vt:i4>
      </vt:variant>
      <vt:variant>
        <vt:lpstr>投影片標題</vt:lpstr>
      </vt:variant>
      <vt:variant>
        <vt:i4>29</vt:i4>
      </vt:variant>
    </vt:vector>
  </HeadingPairs>
  <TitlesOfParts>
    <vt:vector size="34" baseType="lpstr">
      <vt:lpstr>Office 佈景主題</vt:lpstr>
      <vt:lpstr>OpenOffice.org</vt:lpstr>
      <vt:lpstr>方程式</vt:lpstr>
      <vt:lpstr>文件</vt:lpstr>
      <vt:lpstr>Microsoft 方程式編輯器 3.0</vt:lpstr>
      <vt:lpstr>The Black-Litterman Model in Detail</vt:lpstr>
      <vt:lpstr>Abstract</vt:lpstr>
      <vt:lpstr>Introduction</vt:lpstr>
      <vt:lpstr>Portfolio theory</vt:lpstr>
      <vt:lpstr>Expected return of the portfolio</vt:lpstr>
      <vt:lpstr>Variance of the portfolio</vt:lpstr>
      <vt:lpstr>Correlation of the assets</vt:lpstr>
      <vt:lpstr>投影片 8</vt:lpstr>
      <vt:lpstr>投影片 9</vt:lpstr>
      <vt:lpstr>投影片 10</vt:lpstr>
      <vt:lpstr>CAPM (capital asset pricing model) equilibrium returns</vt:lpstr>
      <vt:lpstr>投影片 12</vt:lpstr>
      <vt:lpstr>Market portfolio</vt:lpstr>
      <vt:lpstr>Portfolio without risk-free asset</vt:lpstr>
      <vt:lpstr>Portfolio with risk-free asset</vt:lpstr>
      <vt:lpstr>投影片 16</vt:lpstr>
      <vt:lpstr>投影片 17</vt:lpstr>
      <vt:lpstr>投影片 18</vt:lpstr>
      <vt:lpstr>Reverse optimization (MV model)</vt:lpstr>
      <vt:lpstr>投影片 20</vt:lpstr>
      <vt:lpstr>The reference model</vt:lpstr>
      <vt:lpstr>Estimation of the mean return</vt:lpstr>
      <vt:lpstr>Calibrating τ</vt:lpstr>
      <vt:lpstr>The views</vt:lpstr>
      <vt:lpstr>投影片 25</vt:lpstr>
      <vt:lpstr>Baye’s theory</vt:lpstr>
      <vt:lpstr>投影片 27</vt:lpstr>
      <vt:lpstr>Calculating new weight for each asset</vt:lpstr>
      <vt:lpstr>投影片 29</vt:lpstr>
    </vt:vector>
  </TitlesOfParts>
  <Company>comstar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Black-Litterman Model in Detail</dc:title>
  <dc:creator>chenhh</dc:creator>
  <cp:lastModifiedBy>par67vm</cp:lastModifiedBy>
  <cp:revision>280</cp:revision>
  <dcterms:created xsi:type="dcterms:W3CDTF">2011-06-08T14:19:57Z</dcterms:created>
  <dcterms:modified xsi:type="dcterms:W3CDTF">2011-06-15T07:24:12Z</dcterms:modified>
</cp:coreProperties>
</file>