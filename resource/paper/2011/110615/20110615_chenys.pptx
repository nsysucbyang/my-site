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77" r:id="rId4"/>
    <p:sldId id="280" r:id="rId5"/>
    <p:sldId id="294" r:id="rId6"/>
    <p:sldId id="286" r:id="rId7"/>
    <p:sldId id="287" r:id="rId8"/>
    <p:sldId id="288" r:id="rId9"/>
    <p:sldId id="289" r:id="rId10"/>
    <p:sldId id="290"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93" r:id="rId24"/>
    <p:sldId id="269" r:id="rId25"/>
    <p:sldId id="270" r:id="rId26"/>
    <p:sldId id="272" r:id="rId27"/>
    <p:sldId id="273" r:id="rId28"/>
    <p:sldId id="274" r:id="rId29"/>
    <p:sldId id="275" r:id="rId30"/>
    <p:sldId id="276" r:id="rId31"/>
    <p:sldId id="279" r:id="rId32"/>
    <p:sldId id="281" r:id="rId33"/>
    <p:sldId id="282" r:id="rId34"/>
    <p:sldId id="283" r:id="rId35"/>
    <p:sldId id="284" r:id="rId36"/>
    <p:sldId id="291" r:id="rId3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3501" autoAdjust="0"/>
    <p:restoredTop sz="86454" autoAdjust="0"/>
  </p:normalViewPr>
  <p:slideViewPr>
    <p:cSldViewPr>
      <p:cViewPr varScale="1">
        <p:scale>
          <a:sx n="71" d="100"/>
          <a:sy n="71" d="100"/>
        </p:scale>
        <p:origin x="-96" y="-138"/>
      </p:cViewPr>
      <p:guideLst>
        <p:guide orient="horz" pos="2160"/>
        <p:guide pos="2880"/>
      </p:guideLst>
    </p:cSldViewPr>
  </p:slideViewPr>
  <p:outlineViewPr>
    <p:cViewPr>
      <p:scale>
        <a:sx n="33" d="100"/>
        <a:sy n="33" d="100"/>
      </p:scale>
      <p:origin x="228" y="193026"/>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1ED3C0F-FCD5-447B-8BAD-EAE407001EE3}" type="datetimeFigureOut">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29FA7B0-B3DB-4610-BA9E-B398B094EB2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ED3C0F-FCD5-447B-8BAD-EAE407001EE3}" type="datetimeFigureOut">
              <a:rPr lang="zh-TW" altLang="en-US" smtClean="0"/>
              <a:pPr/>
              <a:t>2011/6/15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9FA7B0-B3DB-4610-BA9E-B398B094EB2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484784"/>
            <a:ext cx="7772400" cy="2304256"/>
          </a:xfrm>
        </p:spPr>
        <p:txBody>
          <a:bodyPr>
            <a:normAutofit fontScale="90000"/>
          </a:bodyPr>
          <a:lstStyle/>
          <a:p>
            <a:r>
              <a:rPr lang="en-US" altLang="zh-TW" dirty="0" smtClean="0"/>
              <a:t>A survey of motif discovery methods in an integrated framework</a:t>
            </a:r>
            <a:br>
              <a:rPr lang="en-US" altLang="zh-TW" dirty="0" smtClean="0"/>
            </a:br>
            <a:r>
              <a:rPr lang="en-US" altLang="zh-TW" dirty="0" smtClean="0"/>
              <a:t> </a:t>
            </a:r>
            <a:r>
              <a:rPr lang="en-US" altLang="zh-TW" sz="2200" dirty="0" err="1" smtClean="0"/>
              <a:t>Geir</a:t>
            </a:r>
            <a:r>
              <a:rPr lang="en-US" altLang="zh-TW" sz="2200" dirty="0" smtClean="0"/>
              <a:t> </a:t>
            </a:r>
            <a:r>
              <a:rPr lang="en-US" altLang="zh-TW" sz="2200" dirty="0" err="1" smtClean="0"/>
              <a:t>Kjetil</a:t>
            </a:r>
            <a:r>
              <a:rPr lang="en-US" altLang="zh-TW" sz="2200" dirty="0" smtClean="0"/>
              <a:t> </a:t>
            </a:r>
            <a:r>
              <a:rPr lang="en-US" altLang="zh-TW" sz="2200" dirty="0" err="1" smtClean="0"/>
              <a:t>Sandve</a:t>
            </a:r>
            <a:r>
              <a:rPr lang="en-US" altLang="zh-TW" sz="2200" dirty="0" smtClean="0"/>
              <a:t> and Finn </a:t>
            </a:r>
            <a:r>
              <a:rPr lang="en-US" altLang="zh-TW" sz="2200" dirty="0" err="1" smtClean="0"/>
              <a:t>Drabløs</a:t>
            </a:r>
            <a:r>
              <a:rPr lang="en-US" altLang="zh-TW" sz="2200" dirty="0" smtClean="0"/>
              <a:t> </a:t>
            </a:r>
            <a:br>
              <a:rPr lang="en-US" altLang="zh-TW" sz="2200" dirty="0" smtClean="0"/>
            </a:br>
            <a:r>
              <a:rPr lang="en-US" altLang="zh-TW" sz="2200" dirty="0" smtClean="0"/>
              <a:t> Biology Direct  2006</a:t>
            </a:r>
            <a:endParaRPr lang="zh-TW" altLang="en-US" sz="2200" dirty="0"/>
          </a:p>
        </p:txBody>
      </p:sp>
      <p:sp>
        <p:nvSpPr>
          <p:cNvPr id="3" name="副標題 2"/>
          <p:cNvSpPr>
            <a:spLocks noGrp="1"/>
          </p:cNvSpPr>
          <p:nvPr>
            <p:ph type="subTitle" idx="1"/>
          </p:nvPr>
        </p:nvSpPr>
        <p:spPr>
          <a:xfrm>
            <a:off x="4572000" y="4653136"/>
            <a:ext cx="3960440" cy="1008112"/>
          </a:xfrm>
        </p:spPr>
        <p:txBody>
          <a:bodyPr>
            <a:normAutofit/>
          </a:bodyPr>
          <a:lstStyle/>
          <a:p>
            <a:pPr algn="l"/>
            <a:r>
              <a:rPr lang="en-US" altLang="zh-TW" sz="2000" dirty="0" smtClean="0"/>
              <a:t>Presenter: </a:t>
            </a:r>
            <a:r>
              <a:rPr lang="en-US" altLang="zh-TW" sz="2000" dirty="0" err="1" smtClean="0"/>
              <a:t>Yun-shuan</a:t>
            </a:r>
            <a:r>
              <a:rPr lang="en-US" altLang="zh-TW" sz="2000" dirty="0" smtClean="0"/>
              <a:t> Chen</a:t>
            </a:r>
          </a:p>
          <a:p>
            <a:pPr algn="l"/>
            <a:r>
              <a:rPr lang="en-US" altLang="zh-TW" sz="2000" dirty="0" smtClean="0"/>
              <a:t>Data: 2011/6/15</a:t>
            </a:r>
            <a:endParaRPr lang="zh-TW" alt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Abstract</a:t>
            </a:r>
            <a:endParaRPr lang="zh-TW" altLang="en-US" dirty="0"/>
          </a:p>
        </p:txBody>
      </p:sp>
      <p:sp>
        <p:nvSpPr>
          <p:cNvPr id="3" name="內容版面配置區 2"/>
          <p:cNvSpPr>
            <a:spLocks noGrp="1"/>
          </p:cNvSpPr>
          <p:nvPr>
            <p:ph idx="1"/>
          </p:nvPr>
        </p:nvSpPr>
        <p:spPr>
          <a:xfrm>
            <a:off x="457200" y="1268760"/>
            <a:ext cx="8229600" cy="5184576"/>
          </a:xfrm>
        </p:spPr>
        <p:txBody>
          <a:bodyPr>
            <a:noAutofit/>
          </a:bodyPr>
          <a:lstStyle/>
          <a:p>
            <a:r>
              <a:rPr lang="en-US" altLang="zh-TW" sz="1800" b="1" dirty="0" smtClean="0"/>
              <a:t>Background:</a:t>
            </a:r>
          </a:p>
          <a:p>
            <a:pPr lvl="1"/>
            <a:r>
              <a:rPr lang="en-US" altLang="zh-TW" sz="1400" b="1" dirty="0" smtClean="0"/>
              <a:t>There has been a growing interest in computational discovery of regulatory </a:t>
            </a:r>
            <a:r>
              <a:rPr lang="en-US" altLang="zh-TW" sz="1400" dirty="0" smtClean="0"/>
              <a:t>elements, and a multitude of motif discovery methods have been proposed. Computational motif discovery has been used with some success in simple organisms like yeast. However, as we move to higher organisms with more complex genomes, more sensitive methods are needed. Several recent methods try to integrate additional sources of information, including microarray experiments (gene expression and </a:t>
            </a:r>
            <a:r>
              <a:rPr lang="en-US" altLang="zh-TW" sz="1400" dirty="0" err="1" smtClean="0"/>
              <a:t>ChlP</a:t>
            </a:r>
            <a:r>
              <a:rPr lang="en-US" altLang="zh-TW" sz="1400" dirty="0" smtClean="0"/>
              <a:t>-chip). There is also a growing awareness that regulatory elements work in combination, and that this combinatorial behavior must be modeled for successful motif discovery. However, the multitude of methods and approaches makes it difficult to get a good understanding of the current status of the field.</a:t>
            </a:r>
          </a:p>
          <a:p>
            <a:r>
              <a:rPr lang="en-US" altLang="zh-TW" sz="1800" b="1" dirty="0" smtClean="0"/>
              <a:t>Results: </a:t>
            </a:r>
          </a:p>
          <a:p>
            <a:pPr lvl="1"/>
            <a:r>
              <a:rPr lang="en-US" altLang="zh-TW" sz="1400" b="1" dirty="0" smtClean="0"/>
              <a:t>This paper presents a survey of methods for motif discovery in DNA, based on a </a:t>
            </a:r>
            <a:r>
              <a:rPr lang="en-US" altLang="zh-TW" sz="1400" dirty="0" smtClean="0"/>
              <a:t>structured and well defined framework that integrates all relevant elements. Existing methods are discussed according to this framework.</a:t>
            </a:r>
          </a:p>
          <a:p>
            <a:r>
              <a:rPr lang="en-US" altLang="zh-TW" sz="1800" b="1" dirty="0" smtClean="0"/>
              <a:t>Conclusion:</a:t>
            </a:r>
          </a:p>
          <a:p>
            <a:pPr lvl="1"/>
            <a:r>
              <a:rPr lang="en-US" altLang="zh-TW" sz="1400" b="1" dirty="0" smtClean="0"/>
              <a:t>The survey shows that although no single method takes all relevant elements into </a:t>
            </a:r>
            <a:r>
              <a:rPr lang="en-US" altLang="zh-TW" sz="1400" dirty="0" smtClean="0"/>
              <a:t>consideration, a very large number of different models treating the various elements separately have been tried. Very often the choices that have been made are not explicitly stated, making it difficult to compare different implementations. Also, the tests that have been used are often not comparable. Therefore, a stringent framework and improved test methods are needed to evaluate the different approaches in order to conclude which ones are most promising.</a:t>
            </a:r>
            <a:endParaRPr lang="zh-TW" alt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Sequence motif</a:t>
            </a:r>
            <a:endParaRPr lang="zh-TW" altLang="en-US" dirty="0"/>
          </a:p>
        </p:txBody>
      </p:sp>
      <p:sp>
        <p:nvSpPr>
          <p:cNvPr id="3" name="內容版面配置區 2"/>
          <p:cNvSpPr>
            <a:spLocks noGrp="1"/>
          </p:cNvSpPr>
          <p:nvPr>
            <p:ph idx="1"/>
          </p:nvPr>
        </p:nvSpPr>
        <p:spPr/>
        <p:txBody>
          <a:bodyPr/>
          <a:lstStyle/>
          <a:p>
            <a:r>
              <a:rPr lang="en-US" altLang="zh-TW" dirty="0" smtClean="0"/>
              <a:t>In genetics, a sequence motif is a nucleotide or amino-acid sequence pattern that is widespread and has, or is conjectured to have, a biological significance. For proteins, a sequence motif is distinguished from a structural motif, a motif formed by the three dimensional arrangement of amino acids, which may not be adjacent.</a:t>
            </a:r>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Regulatory sequence</a:t>
            </a:r>
            <a:endParaRPr lang="zh-TW" altLang="en-US" dirty="0"/>
          </a:p>
        </p:txBody>
      </p:sp>
      <p:sp>
        <p:nvSpPr>
          <p:cNvPr id="3" name="內容版面配置區 2"/>
          <p:cNvSpPr>
            <a:spLocks noGrp="1"/>
          </p:cNvSpPr>
          <p:nvPr>
            <p:ph idx="1"/>
          </p:nvPr>
        </p:nvSpPr>
        <p:spPr/>
        <p:txBody>
          <a:bodyPr>
            <a:normAutofit/>
          </a:bodyPr>
          <a:lstStyle/>
          <a:p>
            <a:r>
              <a:rPr lang="en-US" altLang="zh-TW" dirty="0" smtClean="0"/>
              <a:t>A regulatory sequence (also called a regulatory region or a regulatory area) is a segment of DNA where regulatory proteins such as transcription factors bind preferentially. These regulatory proteins bind to short stretches of DNA called regulatory regions, which are appropriately positioned in the genome, usually a short distance 'upstream' of the gene being regulated. </a:t>
            </a:r>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80898" name="Picture 2"/>
          <p:cNvPicPr>
            <a:picLocks noGrp="1" noChangeAspect="1" noChangeArrowheads="1"/>
          </p:cNvPicPr>
          <p:nvPr>
            <p:ph idx="1"/>
          </p:nvPr>
        </p:nvPicPr>
        <p:blipFill>
          <a:blip r:embed="rId2" cstate="print"/>
          <a:srcRect/>
          <a:stretch>
            <a:fillRect/>
          </a:stretch>
        </p:blipFill>
        <p:spPr bwMode="auto">
          <a:xfrm>
            <a:off x="553096" y="1412776"/>
            <a:ext cx="8051352" cy="452596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smtClean="0"/>
              <a:t>Single motif models (Level 1)</a:t>
            </a:r>
          </a:p>
        </p:txBody>
      </p:sp>
      <p:sp>
        <p:nvSpPr>
          <p:cNvPr id="3" name="內容版面配置區 2"/>
          <p:cNvSpPr>
            <a:spLocks noGrp="1"/>
          </p:cNvSpPr>
          <p:nvPr>
            <p:ph idx="1"/>
          </p:nvPr>
        </p:nvSpPr>
        <p:spPr/>
        <p:txBody>
          <a:bodyPr>
            <a:normAutofit/>
          </a:bodyPr>
          <a:lstStyle/>
          <a:p>
            <a:r>
              <a:rPr lang="en-US" altLang="zh-TW" dirty="0" smtClean="0"/>
              <a:t>(Level 1) framework represents the </a:t>
            </a:r>
            <a:r>
              <a:rPr lang="en-US" altLang="zh-TW" dirty="0" smtClean="0">
                <a:solidFill>
                  <a:srgbClr val="FF0000"/>
                </a:solidFill>
              </a:rPr>
              <a:t>binding of transcription factors (TFs) to short contiguous sequence segments(TFBS)</a:t>
            </a:r>
            <a:r>
              <a:rPr lang="en-US" altLang="zh-TW" dirty="0" smtClean="0"/>
              <a:t>.</a:t>
            </a:r>
          </a:p>
          <a:p>
            <a:r>
              <a:rPr lang="en-US" altLang="zh-TW" dirty="0" smtClean="0"/>
              <a:t>These sequence segments are modeled by single motif models that give a distinct score </a:t>
            </a:r>
            <a:r>
              <a:rPr lang="en-US" altLang="zh-TW" dirty="0" smtClean="0">
                <a:solidFill>
                  <a:srgbClr val="FF0000"/>
                </a:solidFill>
              </a:rPr>
              <a:t>for each sequence segment in a regulatory region</a:t>
            </a:r>
            <a:r>
              <a:rPr lang="en-US" altLang="zh-TW" dirty="0" smtClean="0"/>
              <a:t>. </a:t>
            </a:r>
            <a:endParaRPr lang="zh-TW"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Single motif models (Level 1)</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i="1" dirty="0" smtClean="0"/>
              <a:t>A single motif model is defined as a function                    that maps a sequence position p as a non-negative integer to a real numbered motif score             . It consists of a match score m*(p) and an occurrence prior            .</a:t>
            </a:r>
          </a:p>
          <a:p>
            <a:r>
              <a:rPr lang="en-US" altLang="zh-TW" dirty="0" smtClean="0"/>
              <a:t>The function </a:t>
            </a:r>
            <a:r>
              <a:rPr lang="en-US" altLang="zh-TW" i="1" dirty="0" smtClean="0"/>
              <a:t>            returns a value indicating whether an </a:t>
            </a:r>
            <a:r>
              <a:rPr lang="en-US" altLang="zh-TW" dirty="0" smtClean="0"/>
              <a:t>occurrence of the motif is found at position </a:t>
            </a:r>
            <a:r>
              <a:rPr lang="en-US" altLang="zh-TW" i="1" dirty="0" smtClean="0"/>
              <a:t>p. This function </a:t>
            </a:r>
            <a:r>
              <a:rPr lang="en-US" altLang="zh-TW" dirty="0" smtClean="0"/>
              <a:t>is typically the product or sum of two conceptually different functions. </a:t>
            </a:r>
          </a:p>
          <a:p>
            <a:pPr lvl="1"/>
            <a:r>
              <a:rPr lang="en-US" altLang="zh-TW" i="1" dirty="0" smtClean="0"/>
              <a:t>m*(p) gives the </a:t>
            </a:r>
            <a:r>
              <a:rPr lang="en-US" altLang="zh-TW" dirty="0" smtClean="0"/>
              <a:t>degree of match between the substring beginning at position </a:t>
            </a:r>
            <a:r>
              <a:rPr lang="en-US" altLang="zh-TW" i="1" dirty="0" smtClean="0"/>
              <a:t>p and an underlying consensus model.</a:t>
            </a:r>
          </a:p>
          <a:p>
            <a:pPr lvl="1"/>
            <a:r>
              <a:rPr lang="en-US" altLang="zh-TW" i="1" dirty="0" smtClean="0"/>
              <a:t>           gives the prior belief that position p </a:t>
            </a:r>
            <a:r>
              <a:rPr lang="en-US" altLang="zh-TW" dirty="0" smtClean="0"/>
              <a:t>represents a regulatory element for gene </a:t>
            </a:r>
            <a:r>
              <a:rPr lang="en-US" altLang="zh-TW" i="1" dirty="0" smtClean="0"/>
              <a:t>g.</a:t>
            </a:r>
            <a:endParaRPr lang="zh-TW" altLang="en-US" dirty="0"/>
          </a:p>
        </p:txBody>
      </p:sp>
      <p:graphicFrame>
        <p:nvGraphicFramePr>
          <p:cNvPr id="4" name="物件 3"/>
          <p:cNvGraphicFramePr>
            <a:graphicFrameLocks noChangeAspect="1"/>
          </p:cNvGraphicFramePr>
          <p:nvPr/>
        </p:nvGraphicFramePr>
        <p:xfrm>
          <a:off x="7020272" y="1628800"/>
          <a:ext cx="1216787" cy="385316"/>
        </p:xfrm>
        <a:graphic>
          <a:graphicData uri="http://schemas.openxmlformats.org/presentationml/2006/ole">
            <p:oleObj spid="_x0000_s39938" name="方程式" r:id="rId3" imgW="761760" imgH="241200" progId="Equation.3">
              <p:embed/>
            </p:oleObj>
          </a:graphicData>
        </a:graphic>
      </p:graphicFrame>
      <p:graphicFrame>
        <p:nvGraphicFramePr>
          <p:cNvPr id="39940" name="Object 4"/>
          <p:cNvGraphicFramePr>
            <a:graphicFrameLocks noChangeAspect="1"/>
          </p:cNvGraphicFramePr>
          <p:nvPr/>
        </p:nvGraphicFramePr>
        <p:xfrm>
          <a:off x="6372200" y="2276872"/>
          <a:ext cx="690562" cy="385763"/>
        </p:xfrm>
        <a:graphic>
          <a:graphicData uri="http://schemas.openxmlformats.org/presentationml/2006/ole">
            <p:oleObj spid="_x0000_s39940" name="方程式" r:id="rId4" imgW="431640" imgH="241200" progId="Equation.3">
              <p:embed/>
            </p:oleObj>
          </a:graphicData>
        </a:graphic>
      </p:graphicFrame>
      <p:graphicFrame>
        <p:nvGraphicFramePr>
          <p:cNvPr id="39942" name="Object 6"/>
          <p:cNvGraphicFramePr>
            <a:graphicFrameLocks noChangeAspect="1"/>
          </p:cNvGraphicFramePr>
          <p:nvPr/>
        </p:nvGraphicFramePr>
        <p:xfrm>
          <a:off x="2771800" y="3284984"/>
          <a:ext cx="647700" cy="385762"/>
        </p:xfrm>
        <a:graphic>
          <a:graphicData uri="http://schemas.openxmlformats.org/presentationml/2006/ole">
            <p:oleObj spid="_x0000_s39942" name="方程式" r:id="rId5" imgW="406080" imgH="241200" progId="Equation.3">
              <p:embed/>
            </p:oleObj>
          </a:graphicData>
        </a:graphic>
      </p:graphicFrame>
      <p:graphicFrame>
        <p:nvGraphicFramePr>
          <p:cNvPr id="39943" name="Object 7"/>
          <p:cNvGraphicFramePr>
            <a:graphicFrameLocks noChangeAspect="1"/>
          </p:cNvGraphicFramePr>
          <p:nvPr/>
        </p:nvGraphicFramePr>
        <p:xfrm>
          <a:off x="1691680" y="2924944"/>
          <a:ext cx="688975" cy="385762"/>
        </p:xfrm>
        <a:graphic>
          <a:graphicData uri="http://schemas.openxmlformats.org/presentationml/2006/ole">
            <p:oleObj spid="_x0000_s39943" name="方程式" r:id="rId6" imgW="431640" imgH="241200" progId="Equation.3">
              <p:embed/>
            </p:oleObj>
          </a:graphicData>
        </a:graphic>
      </p:graphicFrame>
      <p:graphicFrame>
        <p:nvGraphicFramePr>
          <p:cNvPr id="39945" name="Object 9"/>
          <p:cNvGraphicFramePr>
            <a:graphicFrameLocks noChangeAspect="1"/>
          </p:cNvGraphicFramePr>
          <p:nvPr/>
        </p:nvGraphicFramePr>
        <p:xfrm>
          <a:off x="1331640" y="5373216"/>
          <a:ext cx="647700" cy="385762"/>
        </p:xfrm>
        <a:graphic>
          <a:graphicData uri="http://schemas.openxmlformats.org/presentationml/2006/ole">
            <p:oleObj spid="_x0000_s39945" name="方程式" r:id="rId7" imgW="406080" imgH="241200" progId="Equation.3">
              <p:embed/>
            </p:oleObj>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Single motif models (Level 1)</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b="1" i="1" dirty="0" smtClean="0"/>
              <a:t>Match models</a:t>
            </a:r>
          </a:p>
          <a:p>
            <a:pPr lvl="1"/>
            <a:r>
              <a:rPr lang="en-US" altLang="zh-TW" dirty="0" smtClean="0"/>
              <a:t>the match model </a:t>
            </a:r>
            <a:r>
              <a:rPr lang="en-US" altLang="zh-TW" i="1" dirty="0" smtClean="0"/>
              <a:t>m*(p) is a </a:t>
            </a:r>
            <a:r>
              <a:rPr lang="en-US" altLang="zh-TW" dirty="0" smtClean="0"/>
              <a:t>function that gives a distinct score for any given substring</a:t>
            </a:r>
          </a:p>
          <a:p>
            <a:pPr lvl="1"/>
            <a:r>
              <a:rPr lang="en-US" altLang="zh-TW" dirty="0" smtClean="0"/>
              <a:t>the number of free parameters has to be restricted to allow training of the model from a limited number of examples (e.g. known regulatory elements).</a:t>
            </a:r>
          </a:p>
          <a:p>
            <a:pPr lvl="1"/>
            <a:r>
              <a:rPr lang="en-US" altLang="zh-TW" dirty="0" smtClean="0"/>
              <a:t>two groups</a:t>
            </a:r>
          </a:p>
          <a:p>
            <a:pPr lvl="2"/>
            <a:r>
              <a:rPr lang="en-US" altLang="zh-TW" dirty="0" smtClean="0"/>
              <a:t>deterministic models with binary scores</a:t>
            </a:r>
          </a:p>
          <a:p>
            <a:pPr lvl="2"/>
            <a:r>
              <a:rPr lang="en-US" altLang="zh-TW" dirty="0" smtClean="0"/>
              <a:t>probabilistic models with weighted scores.</a:t>
            </a:r>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Single motif models (Level 1)</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i="1" dirty="0" smtClean="0"/>
              <a:t>Probabilistic match models</a:t>
            </a:r>
          </a:p>
          <a:p>
            <a:pPr lvl="1"/>
            <a:r>
              <a:rPr lang="en-US" altLang="zh-TW" dirty="0" smtClean="0"/>
              <a:t>The most widely used probabilistic model is the position weight matrix (PWM), also known as position specific scoring matrix (PSSM), that assumes independence between positions.</a:t>
            </a:r>
          </a:p>
          <a:p>
            <a:pPr lvl="1"/>
            <a:r>
              <a:rPr lang="en-US" altLang="zh-TW" dirty="0" smtClean="0"/>
              <a:t>The score of an aligned substring is the log-likelihood of the substring under a product multinomial distribution.</a:t>
            </a:r>
          </a:p>
          <a:p>
            <a:pPr lvl="1"/>
            <a:r>
              <a:rPr lang="en-US" altLang="zh-TW" dirty="0" smtClean="0"/>
              <a:t>PWM scores can also be described in a physical framework as the sum of binding energies for all nucleotides aligned with the PWM.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Single motif models (Level 1)</a:t>
            </a:r>
            <a:endParaRPr lang="zh-TW" altLang="en-US" dirty="0"/>
          </a:p>
        </p:txBody>
      </p:sp>
      <p:sp>
        <p:nvSpPr>
          <p:cNvPr id="3" name="內容版面配置區 2"/>
          <p:cNvSpPr>
            <a:spLocks noGrp="1"/>
          </p:cNvSpPr>
          <p:nvPr>
            <p:ph idx="1"/>
          </p:nvPr>
        </p:nvSpPr>
        <p:spPr/>
        <p:txBody>
          <a:bodyPr>
            <a:normAutofit fontScale="62500" lnSpcReduction="20000"/>
          </a:bodyPr>
          <a:lstStyle/>
          <a:p>
            <a:r>
              <a:rPr lang="en-US" altLang="zh-TW" dirty="0" smtClean="0"/>
              <a:t>The most direct way of incorporating dependencies within motifs is to extend the PWM to include pairs of correlated positions.</a:t>
            </a:r>
          </a:p>
          <a:p>
            <a:r>
              <a:rPr lang="en-US" altLang="zh-TW" dirty="0" smtClean="0"/>
              <a:t>Another straightforward approach is to use a mixture model in which the motif occurs as one of a limited number of stochastic prototypes. Each stochastic prototype may be a traditional PWM, or any other model discussed in this section.</a:t>
            </a:r>
          </a:p>
          <a:p>
            <a:r>
              <a:rPr lang="en-US" altLang="zh-TW" dirty="0" smtClean="0"/>
              <a:t>A third extension is to model probabilistic motifs as nth order </a:t>
            </a:r>
            <a:r>
              <a:rPr lang="en-US" altLang="zh-TW" dirty="0" smtClean="0">
                <a:solidFill>
                  <a:srgbClr val="FF0000"/>
                </a:solidFill>
              </a:rPr>
              <a:t>Markov chains</a:t>
            </a:r>
            <a:r>
              <a:rPr lang="en-US" altLang="zh-TW" dirty="0" smtClean="0"/>
              <a:t>. </a:t>
            </a:r>
          </a:p>
          <a:p>
            <a:pPr lvl="1"/>
            <a:r>
              <a:rPr lang="en-US" altLang="zh-TW" dirty="0" smtClean="0"/>
              <a:t>it is hard to find a good compromise between a high n that may give too many free parameters and a low n that may miss out the dependencies of interest.</a:t>
            </a:r>
          </a:p>
          <a:p>
            <a:pPr lvl="1"/>
            <a:r>
              <a:rPr lang="en-US" altLang="zh-TW" dirty="0" smtClean="0"/>
              <a:t>If the relative importance of dependencies varies within a motif, a variable-length Markov model (VLMM) may be preferable. Furthermore, if some long-range dependencies seem to be significantly stronger than dependencies between neighboring positions, the order of the positions in the Markov chain may also be permuted before a VLMM is applied.</a:t>
            </a:r>
            <a:endParaRPr lang="zh-TW"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Single motif models (Level 1)</a:t>
            </a:r>
            <a:endParaRPr lang="zh-TW" altLang="en-US" dirty="0"/>
          </a:p>
        </p:txBody>
      </p:sp>
      <p:sp>
        <p:nvSpPr>
          <p:cNvPr id="3" name="內容版面配置區 2"/>
          <p:cNvSpPr>
            <a:spLocks noGrp="1"/>
          </p:cNvSpPr>
          <p:nvPr>
            <p:ph idx="1"/>
          </p:nvPr>
        </p:nvSpPr>
        <p:spPr/>
        <p:txBody>
          <a:bodyPr/>
          <a:lstStyle/>
          <a:p>
            <a:r>
              <a:rPr lang="en-US" altLang="zh-TW" b="1" i="1" dirty="0" smtClean="0"/>
              <a:t>Match models</a:t>
            </a:r>
          </a:p>
          <a:p>
            <a:pPr lvl="1"/>
            <a:r>
              <a:rPr lang="en-US" altLang="zh-TW" i="1" dirty="0" smtClean="0"/>
              <a:t>Deterministic match models</a:t>
            </a:r>
            <a:endParaRPr lang="en-US" altLang="zh-TW" dirty="0" smtClean="0"/>
          </a:p>
          <a:p>
            <a:pPr lvl="1"/>
            <a:r>
              <a:rPr lang="en-US" altLang="zh-TW" dirty="0" smtClean="0"/>
              <a:t>A </a:t>
            </a:r>
            <a:r>
              <a:rPr lang="en-US" altLang="zh-TW" dirty="0"/>
              <a:t>deterministic match model evaluates to a binary </a:t>
            </a:r>
            <a:r>
              <a:rPr lang="en-US" altLang="zh-TW" dirty="0" smtClean="0"/>
              <a:t>value indicating </a:t>
            </a:r>
            <a:r>
              <a:rPr lang="en-US" altLang="zh-TW" dirty="0"/>
              <a:t>either hit or no-hit.</a:t>
            </a:r>
            <a:endParaRPr lang="en-US" altLang="zh-TW" dirty="0" smtClean="0"/>
          </a:p>
          <a:p>
            <a:pPr lvl="2"/>
            <a:r>
              <a:rPr lang="en-US" altLang="zh-TW" dirty="0" err="1" smtClean="0"/>
              <a:t>Oligos</a:t>
            </a:r>
            <a:endParaRPr lang="en-US" altLang="zh-TW" dirty="0" smtClean="0"/>
          </a:p>
          <a:p>
            <a:pPr lvl="2"/>
            <a:r>
              <a:rPr lang="en-US" altLang="zh-TW" dirty="0" smtClean="0"/>
              <a:t>Regular expressions</a:t>
            </a:r>
            <a:endParaRPr lang="en-US" altLang="zh-TW" dirty="0"/>
          </a:p>
          <a:p>
            <a:pPr lvl="2"/>
            <a:r>
              <a:rPr lang="en-US" altLang="zh-TW" dirty="0" smtClean="0"/>
              <a:t>Mismatch expressions</a:t>
            </a:r>
            <a:endParaRPr lang="zh-TW"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Deterministic match models</a:t>
            </a:r>
            <a:endParaRPr lang="zh-TW" altLang="en-US" dirty="0"/>
          </a:p>
        </p:txBody>
      </p:sp>
      <p:sp>
        <p:nvSpPr>
          <p:cNvPr id="3" name="內容版面配置區 2"/>
          <p:cNvSpPr>
            <a:spLocks noGrp="1"/>
          </p:cNvSpPr>
          <p:nvPr>
            <p:ph idx="1"/>
          </p:nvPr>
        </p:nvSpPr>
        <p:spPr/>
        <p:txBody>
          <a:bodyPr>
            <a:normAutofit/>
          </a:bodyPr>
          <a:lstStyle/>
          <a:p>
            <a:pPr marL="342900" lvl="1" indent="-342900">
              <a:buFont typeface="Arial" pitchFamily="34" charset="0"/>
              <a:buChar char="•"/>
            </a:pPr>
            <a:r>
              <a:rPr lang="en-US" altLang="zh-TW" dirty="0" err="1" smtClean="0"/>
              <a:t>Oligos</a:t>
            </a:r>
            <a:endParaRPr lang="en-US" altLang="zh-TW" dirty="0" smtClean="0"/>
          </a:p>
          <a:p>
            <a:pPr lvl="1"/>
            <a:r>
              <a:rPr lang="en-US" altLang="zh-TW" dirty="0" smtClean="0"/>
              <a:t>the </a:t>
            </a:r>
            <a:r>
              <a:rPr lang="en-US" altLang="zh-TW" dirty="0"/>
              <a:t>simplest deterministic </a:t>
            </a:r>
            <a:r>
              <a:rPr lang="en-US" altLang="zh-TW" dirty="0" smtClean="0"/>
              <a:t>model</a:t>
            </a:r>
          </a:p>
          <a:p>
            <a:pPr lvl="1"/>
            <a:r>
              <a:rPr lang="en-US" altLang="zh-TW" dirty="0" smtClean="0"/>
              <a:t>a </a:t>
            </a:r>
            <a:r>
              <a:rPr lang="en-US" altLang="zh-TW" dirty="0"/>
              <a:t>function that is 1 for a single specific substring, and </a:t>
            </a:r>
            <a:r>
              <a:rPr lang="en-US" altLang="zh-TW" dirty="0" smtClean="0"/>
              <a:t>0 for </a:t>
            </a:r>
            <a:r>
              <a:rPr lang="en-US" altLang="zh-TW" dirty="0"/>
              <a:t>all other </a:t>
            </a:r>
            <a:r>
              <a:rPr lang="en-US" altLang="zh-TW" dirty="0" smtClean="0"/>
              <a:t>substrings</a:t>
            </a:r>
          </a:p>
          <a:p>
            <a:pPr lvl="1"/>
            <a:r>
              <a:rPr lang="en-US" altLang="zh-TW" dirty="0" smtClean="0"/>
              <a:t>commonly used </a:t>
            </a:r>
            <a:r>
              <a:rPr lang="en-US" altLang="zh-TW" dirty="0"/>
              <a:t>in early motif discovery methods, but has also </a:t>
            </a:r>
            <a:r>
              <a:rPr lang="en-US" altLang="zh-TW" dirty="0" smtClean="0"/>
              <a:t>been used </a:t>
            </a:r>
            <a:r>
              <a:rPr lang="en-US" altLang="zh-TW" dirty="0"/>
              <a:t>in recent word-counting </a:t>
            </a:r>
            <a:r>
              <a:rPr lang="en-US" altLang="zh-TW" dirty="0" smtClean="0"/>
              <a:t>methods </a:t>
            </a:r>
            <a:r>
              <a:rPr lang="en-US" altLang="zh-TW" dirty="0"/>
              <a:t>and </a:t>
            </a:r>
            <a:r>
              <a:rPr lang="en-US" altLang="zh-TW" dirty="0" smtClean="0"/>
              <a:t>dictionary models.</a:t>
            </a:r>
            <a:endParaRPr lang="zh-TW"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Deterministic match models</a:t>
            </a:r>
            <a:endParaRPr lang="zh-TW" altLang="en-US" dirty="0"/>
          </a:p>
        </p:txBody>
      </p:sp>
      <p:sp>
        <p:nvSpPr>
          <p:cNvPr id="3" name="內容版面配置區 2"/>
          <p:cNvSpPr>
            <a:spLocks noGrp="1"/>
          </p:cNvSpPr>
          <p:nvPr>
            <p:ph idx="1"/>
          </p:nvPr>
        </p:nvSpPr>
        <p:spPr/>
        <p:txBody>
          <a:bodyPr>
            <a:normAutofit/>
          </a:bodyPr>
          <a:lstStyle/>
          <a:p>
            <a:r>
              <a:rPr lang="en-US" altLang="zh-TW" dirty="0" smtClean="0"/>
              <a:t>Regular </a:t>
            </a:r>
            <a:r>
              <a:rPr lang="en-US" altLang="zh-TW" dirty="0"/>
              <a:t>expression </a:t>
            </a:r>
            <a:r>
              <a:rPr lang="en-US" altLang="zh-TW" dirty="0" smtClean="0"/>
              <a:t>model</a:t>
            </a:r>
          </a:p>
          <a:p>
            <a:pPr lvl="1"/>
            <a:r>
              <a:rPr lang="en-US" altLang="zh-TW" i="1" dirty="0" smtClean="0"/>
              <a:t>m</a:t>
            </a:r>
            <a:r>
              <a:rPr lang="en-US" altLang="zh-TW" i="1" dirty="0"/>
              <a:t>*(p) returns 1 if the </a:t>
            </a:r>
            <a:r>
              <a:rPr lang="en-US" altLang="zh-TW" i="1" dirty="0" smtClean="0"/>
              <a:t>given </a:t>
            </a:r>
            <a:r>
              <a:rPr lang="en-US" altLang="zh-TW" dirty="0" smtClean="0"/>
              <a:t>substring </a:t>
            </a:r>
            <a:r>
              <a:rPr lang="en-US" altLang="zh-TW" dirty="0"/>
              <a:t>is matched by an underlying regular </a:t>
            </a:r>
            <a:r>
              <a:rPr lang="en-US" altLang="zh-TW" dirty="0" smtClean="0"/>
              <a:t>expression</a:t>
            </a:r>
          </a:p>
          <a:p>
            <a:pPr lvl="1"/>
            <a:r>
              <a:rPr lang="en-US" altLang="zh-TW" i="1" dirty="0" smtClean="0"/>
              <a:t>the </a:t>
            </a:r>
            <a:r>
              <a:rPr lang="en-US" altLang="zh-TW" i="1" dirty="0"/>
              <a:t>models used </a:t>
            </a:r>
            <a:r>
              <a:rPr lang="en-US" altLang="zh-TW" i="1" dirty="0" smtClean="0"/>
              <a:t>in </a:t>
            </a:r>
            <a:r>
              <a:rPr lang="en-US" altLang="zh-TW" dirty="0" smtClean="0"/>
              <a:t>motif </a:t>
            </a:r>
            <a:r>
              <a:rPr lang="en-US" altLang="zh-TW" dirty="0"/>
              <a:t>discovery are typically composed of exact </a:t>
            </a:r>
            <a:r>
              <a:rPr lang="en-US" altLang="zh-TW" dirty="0" smtClean="0"/>
              <a:t>symbols, ambiguous </a:t>
            </a:r>
            <a:r>
              <a:rPr lang="en-US" altLang="zh-TW" dirty="0"/>
              <a:t>symbols, fixed gaps and/or flexible </a:t>
            </a:r>
            <a:r>
              <a:rPr lang="en-US" altLang="zh-TW" dirty="0" smtClean="0"/>
              <a:t>gaps</a:t>
            </a:r>
            <a:endParaRPr lang="zh-TW"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Deterministic match models</a:t>
            </a:r>
            <a:endParaRPr lang="zh-TW" altLang="en-US" dirty="0"/>
          </a:p>
        </p:txBody>
      </p:sp>
      <p:sp>
        <p:nvSpPr>
          <p:cNvPr id="3" name="內容版面配置區 2"/>
          <p:cNvSpPr>
            <a:spLocks noGrp="1"/>
          </p:cNvSpPr>
          <p:nvPr>
            <p:ph idx="1"/>
          </p:nvPr>
        </p:nvSpPr>
        <p:spPr/>
        <p:txBody>
          <a:bodyPr>
            <a:normAutofit/>
          </a:bodyPr>
          <a:lstStyle/>
          <a:p>
            <a:r>
              <a:rPr lang="en-US" altLang="zh-TW" dirty="0" smtClean="0"/>
              <a:t>Mismatch expression models</a:t>
            </a:r>
          </a:p>
          <a:p>
            <a:pPr lvl="1"/>
            <a:r>
              <a:rPr lang="en-US" altLang="zh-TW" dirty="0" smtClean="0"/>
              <a:t>evaluate </a:t>
            </a:r>
            <a:r>
              <a:rPr lang="en-US" altLang="zh-TW" dirty="0"/>
              <a:t>to 1 if </a:t>
            </a:r>
            <a:r>
              <a:rPr lang="en-US" altLang="zh-TW" dirty="0" smtClean="0"/>
              <a:t>the number </a:t>
            </a:r>
            <a:r>
              <a:rPr lang="en-US" altLang="zh-TW" dirty="0"/>
              <a:t>of mismatches (</a:t>
            </a:r>
            <a:r>
              <a:rPr lang="en-US" altLang="zh-TW" dirty="0">
                <a:solidFill>
                  <a:srgbClr val="FF0000"/>
                </a:solidFill>
              </a:rPr>
              <a:t>Hamming distance</a:t>
            </a:r>
            <a:r>
              <a:rPr lang="en-US" altLang="zh-TW" dirty="0"/>
              <a:t>) between </a:t>
            </a:r>
            <a:r>
              <a:rPr lang="en-US" altLang="zh-TW" dirty="0" smtClean="0"/>
              <a:t>a substring </a:t>
            </a:r>
            <a:r>
              <a:rPr lang="en-US" altLang="zh-TW" dirty="0"/>
              <a:t>and the underlying consensus substring is </a:t>
            </a:r>
            <a:r>
              <a:rPr lang="en-US" altLang="zh-TW" dirty="0" smtClean="0"/>
              <a:t>below a </a:t>
            </a:r>
            <a:r>
              <a:rPr lang="en-US" altLang="zh-TW" dirty="0"/>
              <a:t>given </a:t>
            </a:r>
            <a:r>
              <a:rPr lang="en-US" altLang="zh-TW" dirty="0" smtClean="0"/>
              <a:t>threshold.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Occurrence priors</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a:t>The genetic context of a regulatory element is </a:t>
            </a:r>
            <a:r>
              <a:rPr lang="en-US" altLang="zh-TW" dirty="0" smtClean="0"/>
              <a:t>important for </a:t>
            </a:r>
            <a:r>
              <a:rPr lang="en-US" altLang="zh-TW" dirty="0"/>
              <a:t>its </a:t>
            </a:r>
            <a:r>
              <a:rPr lang="en-US" altLang="zh-TW" dirty="0" smtClean="0">
                <a:solidFill>
                  <a:srgbClr val="FF0000"/>
                </a:solidFill>
              </a:rPr>
              <a:t>activity</a:t>
            </a:r>
            <a:r>
              <a:rPr lang="en-US" altLang="zh-TW" dirty="0" smtClean="0"/>
              <a:t>.</a:t>
            </a:r>
          </a:p>
          <a:p>
            <a:pPr lvl="1"/>
            <a:r>
              <a:rPr lang="en-US" altLang="zh-TW" dirty="0" smtClean="0"/>
              <a:t>relevant factors</a:t>
            </a:r>
          </a:p>
          <a:p>
            <a:pPr lvl="2"/>
            <a:r>
              <a:rPr lang="en-US" altLang="zh-TW" dirty="0" smtClean="0"/>
              <a:t>Distance </a:t>
            </a:r>
            <a:r>
              <a:rPr lang="en-US" altLang="zh-TW" dirty="0"/>
              <a:t>to transcription start </a:t>
            </a:r>
            <a:r>
              <a:rPr lang="en-US" altLang="zh-TW" dirty="0" smtClean="0"/>
              <a:t>site</a:t>
            </a:r>
          </a:p>
          <a:p>
            <a:pPr lvl="2"/>
            <a:r>
              <a:rPr lang="en-US" altLang="zh-TW" dirty="0" smtClean="0"/>
              <a:t>sequence </a:t>
            </a:r>
            <a:r>
              <a:rPr lang="en-US" altLang="zh-TW" dirty="0"/>
              <a:t>conservation in </a:t>
            </a:r>
            <a:r>
              <a:rPr lang="en-US" altLang="zh-TW" dirty="0" err="1"/>
              <a:t>orthologous</a:t>
            </a:r>
            <a:r>
              <a:rPr lang="en-US" altLang="zh-TW" dirty="0"/>
              <a:t> </a:t>
            </a:r>
            <a:r>
              <a:rPr lang="en-US" altLang="zh-TW" dirty="0" smtClean="0"/>
              <a:t>genes</a:t>
            </a:r>
          </a:p>
          <a:p>
            <a:pPr lvl="2"/>
            <a:r>
              <a:rPr lang="en-US" altLang="zh-TW" dirty="0" smtClean="0"/>
              <a:t>DNA </a:t>
            </a:r>
            <a:r>
              <a:rPr lang="en-US" altLang="zh-TW" dirty="0" err="1" smtClean="0"/>
              <a:t>structureand</a:t>
            </a:r>
            <a:r>
              <a:rPr lang="en-US" altLang="zh-TW" dirty="0" smtClean="0"/>
              <a:t> </a:t>
            </a:r>
            <a:r>
              <a:rPr lang="en-US" altLang="zh-TW" dirty="0"/>
              <a:t>presence of </a:t>
            </a:r>
            <a:r>
              <a:rPr lang="en-US" altLang="zh-TW" dirty="0" err="1" smtClean="0"/>
              <a:t>CpG</a:t>
            </a:r>
            <a:r>
              <a:rPr lang="en-US" altLang="zh-TW" dirty="0" smtClean="0"/>
              <a:t>-islands</a:t>
            </a:r>
          </a:p>
          <a:p>
            <a:r>
              <a:rPr lang="en-US" altLang="zh-TW" dirty="0" smtClean="0"/>
              <a:t>In </a:t>
            </a:r>
            <a:r>
              <a:rPr lang="en-US" altLang="zh-TW" dirty="0"/>
              <a:t>our model, these context features are represented by </a:t>
            </a:r>
            <a:r>
              <a:rPr lang="en-US" altLang="zh-TW" dirty="0" smtClean="0"/>
              <a:t>an occurrence </a:t>
            </a:r>
            <a:r>
              <a:rPr lang="en-US" altLang="zh-TW" dirty="0"/>
              <a:t>prior, </a:t>
            </a:r>
            <a:r>
              <a:rPr lang="en-US" altLang="zh-TW" i="1" dirty="0" err="1"/>
              <a:t>o</a:t>
            </a:r>
            <a:r>
              <a:rPr lang="en-US" altLang="zh-TW" sz="1900" i="1" dirty="0" err="1"/>
              <a:t>g</a:t>
            </a:r>
            <a:r>
              <a:rPr lang="en-US" altLang="zh-TW" i="1" dirty="0"/>
              <a:t>(p), representing the prior belief </a:t>
            </a:r>
            <a:r>
              <a:rPr lang="en-US" altLang="zh-TW" i="1" dirty="0" smtClean="0"/>
              <a:t>that </a:t>
            </a:r>
            <a:r>
              <a:rPr lang="en-US" altLang="zh-TW" dirty="0" smtClean="0"/>
              <a:t>an </a:t>
            </a:r>
            <a:r>
              <a:rPr lang="en-US" altLang="zh-TW" dirty="0"/>
              <a:t>(unspecified) regulatory element is located at a </a:t>
            </a:r>
            <a:r>
              <a:rPr lang="en-US" altLang="zh-TW" dirty="0" smtClean="0"/>
              <a:t>given position </a:t>
            </a:r>
            <a:r>
              <a:rPr lang="en-US" altLang="zh-TW" i="1" dirty="0"/>
              <a:t>p.</a:t>
            </a:r>
            <a:endParaRPr lang="zh-TW"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Occurrence priors</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Ex1: motif abundance ratio.</a:t>
            </a:r>
          </a:p>
          <a:p>
            <a:pPr lvl="1"/>
            <a:r>
              <a:rPr lang="en-US" altLang="zh-TW" dirty="0" smtClean="0"/>
              <a:t>the simplest kind</a:t>
            </a:r>
          </a:p>
          <a:p>
            <a:pPr lvl="1"/>
            <a:r>
              <a:rPr lang="en-US" altLang="zh-TW" dirty="0" smtClean="0"/>
              <a:t>This </a:t>
            </a:r>
            <a:r>
              <a:rPr lang="en-US" altLang="zh-TW" dirty="0"/>
              <a:t>ratio influences only the number </a:t>
            </a:r>
            <a:r>
              <a:rPr lang="en-US" altLang="zh-TW" dirty="0" smtClean="0"/>
              <a:t>of substrings </a:t>
            </a:r>
            <a:r>
              <a:rPr lang="en-US" altLang="zh-TW" dirty="0"/>
              <a:t>that count as </a:t>
            </a:r>
            <a:r>
              <a:rPr lang="en-US" altLang="zh-TW" dirty="0" smtClean="0"/>
              <a:t>occurrences.</a:t>
            </a:r>
          </a:p>
          <a:p>
            <a:r>
              <a:rPr lang="en-US" altLang="zh-TW" dirty="0" smtClean="0"/>
              <a:t>Ex2: strand bias</a:t>
            </a:r>
          </a:p>
          <a:p>
            <a:pPr lvl="1"/>
            <a:r>
              <a:rPr lang="en-US" altLang="zh-TW" dirty="0" smtClean="0"/>
              <a:t>corresponds </a:t>
            </a:r>
            <a:r>
              <a:rPr lang="en-US" altLang="zh-TW" dirty="0"/>
              <a:t>to an occurrence </a:t>
            </a:r>
            <a:r>
              <a:rPr lang="en-US" altLang="zh-TW" dirty="0" smtClean="0"/>
              <a:t>prior that </a:t>
            </a:r>
            <a:r>
              <a:rPr lang="en-US" altLang="zh-TW" dirty="0"/>
              <a:t>is higher on one strand than on the </a:t>
            </a:r>
            <a:r>
              <a:rPr lang="en-US" altLang="zh-TW" dirty="0" smtClean="0"/>
              <a:t>other</a:t>
            </a:r>
          </a:p>
          <a:p>
            <a:r>
              <a:rPr lang="en-US" altLang="zh-TW" dirty="0" smtClean="0"/>
              <a:t>Several methods optionally </a:t>
            </a:r>
            <a:r>
              <a:rPr lang="en-US" altLang="zh-TW" dirty="0"/>
              <a:t>constrain the search to only one of </a:t>
            </a:r>
            <a:r>
              <a:rPr lang="en-US" altLang="zh-TW" dirty="0" smtClean="0"/>
              <a:t>the strands</a:t>
            </a:r>
            <a:r>
              <a:rPr lang="en-US" altLang="zh-TW" dirty="0"/>
              <a:t>, which corresponds to a </a:t>
            </a:r>
            <a:r>
              <a:rPr lang="en-US" altLang="zh-TW" dirty="0">
                <a:solidFill>
                  <a:srgbClr val="FF0000"/>
                </a:solidFill>
              </a:rPr>
              <a:t>binary strand bias</a:t>
            </a:r>
            <a:r>
              <a:rPr lang="en-US" altLang="zh-TW" dirty="0"/>
              <a:t>.</a:t>
            </a:r>
            <a:endParaRPr lang="zh-TW"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Occurrence priors</a:t>
            </a:r>
            <a:endParaRPr lang="zh-TW" altLang="en-US" dirty="0"/>
          </a:p>
        </p:txBody>
      </p:sp>
      <p:sp>
        <p:nvSpPr>
          <p:cNvPr id="3" name="內容版面配置區 2"/>
          <p:cNvSpPr>
            <a:spLocks noGrp="1"/>
          </p:cNvSpPr>
          <p:nvPr>
            <p:ph idx="1"/>
          </p:nvPr>
        </p:nvSpPr>
        <p:spPr/>
        <p:txBody>
          <a:bodyPr>
            <a:normAutofit fontScale="70000" lnSpcReduction="20000"/>
          </a:bodyPr>
          <a:lstStyle/>
          <a:p>
            <a:r>
              <a:rPr lang="en-US" altLang="zh-TW" i="1" dirty="0"/>
              <a:t>Spatial distribution of binding </a:t>
            </a:r>
            <a:r>
              <a:rPr lang="en-US" altLang="zh-TW" i="1" dirty="0" smtClean="0"/>
              <a:t>sites</a:t>
            </a:r>
          </a:p>
          <a:p>
            <a:pPr lvl="1"/>
            <a:r>
              <a:rPr lang="en-US" altLang="zh-TW" dirty="0" smtClean="0"/>
              <a:t>In </a:t>
            </a:r>
            <a:r>
              <a:rPr lang="en-US" altLang="zh-TW" dirty="0"/>
              <a:t>higher organisms, regulatory elements may be </a:t>
            </a:r>
            <a:r>
              <a:rPr lang="en-US" altLang="zh-TW" dirty="0" smtClean="0"/>
              <a:t>located far </a:t>
            </a:r>
            <a:r>
              <a:rPr lang="en-US" altLang="zh-TW" dirty="0"/>
              <a:t>upstream of the gene, downstream of the gene, </a:t>
            </a:r>
            <a:r>
              <a:rPr lang="en-US" altLang="zh-TW" dirty="0" smtClean="0"/>
              <a:t>in </a:t>
            </a:r>
            <a:r>
              <a:rPr lang="en-US" altLang="zh-TW" dirty="0" err="1" smtClean="0"/>
              <a:t>introns</a:t>
            </a:r>
            <a:r>
              <a:rPr lang="en-US" altLang="zh-TW" dirty="0"/>
              <a:t>, and even in </a:t>
            </a:r>
            <a:r>
              <a:rPr lang="en-US" altLang="zh-TW" dirty="0" err="1"/>
              <a:t>exons</a:t>
            </a:r>
            <a:r>
              <a:rPr lang="en-US" altLang="zh-TW" dirty="0"/>
              <a:t>. </a:t>
            </a:r>
            <a:endParaRPr lang="en-US" altLang="zh-TW" dirty="0" smtClean="0"/>
          </a:p>
          <a:p>
            <a:pPr lvl="2"/>
            <a:r>
              <a:rPr lang="zh-TW" altLang="en-US" dirty="0" smtClean="0"/>
              <a:t>外顯子（</a:t>
            </a:r>
            <a:r>
              <a:rPr lang="en-US" altLang="zh-TW" dirty="0" smtClean="0"/>
              <a:t> </a:t>
            </a:r>
            <a:r>
              <a:rPr lang="en-US" altLang="zh-TW" dirty="0" err="1" smtClean="0"/>
              <a:t>exons</a:t>
            </a:r>
            <a:r>
              <a:rPr lang="en-US" altLang="zh-TW" dirty="0" smtClean="0"/>
              <a:t> or expressed region</a:t>
            </a:r>
            <a:r>
              <a:rPr lang="zh-TW" altLang="en-US" dirty="0" smtClean="0"/>
              <a:t>）是真核生物基因的一部分，它在剪接（</a:t>
            </a:r>
            <a:r>
              <a:rPr lang="en-US" altLang="zh-TW" dirty="0" smtClean="0"/>
              <a:t>Splicing</a:t>
            </a:r>
            <a:r>
              <a:rPr lang="zh-TW" altLang="en-US" dirty="0" smtClean="0"/>
              <a:t>）後仍會被保存下來，並可在蛋白質生物合成過程中被表達為蛋白質。</a:t>
            </a:r>
            <a:endParaRPr lang="en-US" altLang="zh-TW" dirty="0" smtClean="0"/>
          </a:p>
          <a:p>
            <a:pPr lvl="2"/>
            <a:r>
              <a:rPr lang="zh-TW" altLang="en-US" dirty="0" smtClean="0"/>
              <a:t>內含子（</a:t>
            </a:r>
            <a:r>
              <a:rPr lang="en-US" altLang="zh-TW" dirty="0" smtClean="0"/>
              <a:t> </a:t>
            </a:r>
            <a:r>
              <a:rPr lang="en-US" altLang="zh-TW" dirty="0" err="1" smtClean="0"/>
              <a:t>introns</a:t>
            </a:r>
            <a:r>
              <a:rPr lang="en-US" altLang="zh-TW" dirty="0" smtClean="0"/>
              <a:t> or intervening sequences</a:t>
            </a:r>
            <a:r>
              <a:rPr lang="zh-TW" altLang="en-US" dirty="0" smtClean="0"/>
              <a:t>）則會在剪接過程中被除去。所有的外顯子一同組成了遺傳信息，該信息會體現在蛋白質上。</a:t>
            </a:r>
            <a:endParaRPr lang="en-US" altLang="zh-TW" dirty="0" smtClean="0"/>
          </a:p>
          <a:p>
            <a:pPr lvl="1"/>
            <a:r>
              <a:rPr lang="en-US" altLang="zh-TW" dirty="0" smtClean="0"/>
              <a:t>Most </a:t>
            </a:r>
            <a:r>
              <a:rPr lang="en-US" altLang="zh-TW" dirty="0"/>
              <a:t>known </a:t>
            </a:r>
            <a:r>
              <a:rPr lang="en-US" altLang="zh-TW" dirty="0" smtClean="0"/>
              <a:t>elements are </a:t>
            </a:r>
            <a:r>
              <a:rPr lang="en-US" altLang="zh-TW" dirty="0"/>
              <a:t>located immediately upstream of the </a:t>
            </a:r>
            <a:r>
              <a:rPr lang="en-US" altLang="zh-TW" dirty="0" smtClean="0"/>
              <a:t>transcription start </a:t>
            </a:r>
            <a:r>
              <a:rPr lang="en-US" altLang="zh-TW" dirty="0"/>
              <a:t>site (TSS</a:t>
            </a:r>
            <a:r>
              <a:rPr lang="en-US" altLang="zh-TW" dirty="0" smtClean="0"/>
              <a:t>).</a:t>
            </a:r>
          </a:p>
          <a:p>
            <a:pPr lvl="1"/>
            <a:r>
              <a:rPr lang="en-US" altLang="zh-TW" dirty="0" smtClean="0">
                <a:solidFill>
                  <a:srgbClr val="FF0000"/>
                </a:solidFill>
              </a:rPr>
              <a:t>this </a:t>
            </a:r>
            <a:r>
              <a:rPr lang="en-US" altLang="zh-TW" dirty="0">
                <a:solidFill>
                  <a:srgbClr val="FF0000"/>
                </a:solidFill>
              </a:rPr>
              <a:t>can be represented </a:t>
            </a:r>
            <a:r>
              <a:rPr lang="en-US" altLang="zh-TW" dirty="0" smtClean="0">
                <a:solidFill>
                  <a:srgbClr val="FF0000"/>
                </a:solidFill>
              </a:rPr>
              <a:t>by a </a:t>
            </a:r>
            <a:r>
              <a:rPr lang="en-US" altLang="zh-TW" dirty="0">
                <a:solidFill>
                  <a:srgbClr val="FF0000"/>
                </a:solidFill>
              </a:rPr>
              <a:t>function giving the prior belief that a regulatory </a:t>
            </a:r>
            <a:r>
              <a:rPr lang="en-US" altLang="zh-TW" dirty="0" smtClean="0">
                <a:solidFill>
                  <a:srgbClr val="FF0000"/>
                </a:solidFill>
              </a:rPr>
              <a:t>element is </a:t>
            </a:r>
            <a:r>
              <a:rPr lang="en-US" altLang="zh-TW" dirty="0">
                <a:solidFill>
                  <a:srgbClr val="FF0000"/>
                </a:solidFill>
              </a:rPr>
              <a:t>located at a given position relative to the </a:t>
            </a:r>
            <a:r>
              <a:rPr lang="en-US" altLang="zh-TW" dirty="0" smtClean="0">
                <a:solidFill>
                  <a:srgbClr val="FF0000"/>
                </a:solidFill>
              </a:rPr>
              <a:t>TSS.</a:t>
            </a:r>
          </a:p>
          <a:p>
            <a:pPr lvl="1"/>
            <a:r>
              <a:rPr lang="en-US" altLang="zh-TW" dirty="0" smtClean="0">
                <a:solidFill>
                  <a:srgbClr val="FF0000"/>
                </a:solidFill>
              </a:rPr>
              <a:t>the </a:t>
            </a:r>
            <a:r>
              <a:rPr lang="en-US" altLang="zh-TW" dirty="0">
                <a:solidFill>
                  <a:srgbClr val="FF0000"/>
                </a:solidFill>
              </a:rPr>
              <a:t>by far most common approach is to </a:t>
            </a:r>
            <a:r>
              <a:rPr lang="en-US" altLang="zh-TW" dirty="0" smtClean="0">
                <a:solidFill>
                  <a:srgbClr val="FF0000"/>
                </a:solidFill>
              </a:rPr>
              <a:t>only search </a:t>
            </a:r>
            <a:r>
              <a:rPr lang="en-US" altLang="zh-TW" dirty="0">
                <a:solidFill>
                  <a:srgbClr val="FF0000"/>
                </a:solidFill>
              </a:rPr>
              <a:t>for motifs in a fixed region upstream of TSS, </a:t>
            </a:r>
            <a:r>
              <a:rPr lang="en-US" altLang="zh-TW" dirty="0" smtClean="0">
                <a:solidFill>
                  <a:srgbClr val="FF0000"/>
                </a:solidFill>
              </a:rPr>
              <a:t>which corresponds </a:t>
            </a:r>
            <a:r>
              <a:rPr lang="en-US" altLang="zh-TW" dirty="0">
                <a:solidFill>
                  <a:srgbClr val="FF0000"/>
                </a:solidFill>
              </a:rPr>
              <a:t>to a binary function for </a:t>
            </a:r>
            <a:r>
              <a:rPr lang="en-US" altLang="zh-TW" i="1" dirty="0" err="1">
                <a:solidFill>
                  <a:srgbClr val="FF0000"/>
                </a:solidFill>
              </a:rPr>
              <a:t>o</a:t>
            </a:r>
            <a:r>
              <a:rPr lang="en-US" altLang="zh-TW" sz="1600" i="1" dirty="0" err="1">
                <a:solidFill>
                  <a:srgbClr val="FF0000"/>
                </a:solidFill>
              </a:rPr>
              <a:t>g</a:t>
            </a:r>
            <a:r>
              <a:rPr lang="en-US" altLang="zh-TW" i="1" dirty="0">
                <a:solidFill>
                  <a:srgbClr val="FF0000"/>
                </a:solidFill>
              </a:rPr>
              <a:t>(p).</a:t>
            </a:r>
            <a:endParaRPr lang="zh-TW" altLang="en-US"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Occurrence priors</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i="1" dirty="0"/>
              <a:t>Conservation in </a:t>
            </a:r>
            <a:r>
              <a:rPr lang="en-US" altLang="zh-TW" i="1" dirty="0" err="1"/>
              <a:t>orthologous</a:t>
            </a:r>
            <a:r>
              <a:rPr lang="en-US" altLang="zh-TW" i="1" dirty="0"/>
              <a:t> sequences</a:t>
            </a:r>
          </a:p>
          <a:p>
            <a:pPr lvl="1"/>
            <a:r>
              <a:rPr lang="en-US" altLang="zh-TW" dirty="0" err="1" smtClean="0"/>
              <a:t>phylogenetic</a:t>
            </a:r>
            <a:r>
              <a:rPr lang="en-US" altLang="zh-TW" dirty="0" smtClean="0"/>
              <a:t> </a:t>
            </a:r>
            <a:r>
              <a:rPr lang="en-US" altLang="zh-TW" dirty="0" err="1" smtClean="0"/>
              <a:t>footprinting</a:t>
            </a:r>
            <a:endParaRPr lang="en-US" altLang="zh-TW" dirty="0" smtClean="0"/>
          </a:p>
          <a:p>
            <a:pPr lvl="2"/>
            <a:r>
              <a:rPr lang="en-US" altLang="zh-TW" dirty="0" smtClean="0"/>
              <a:t>describe </a:t>
            </a:r>
            <a:r>
              <a:rPr lang="en-US" altLang="zh-TW" dirty="0" err="1"/>
              <a:t>phylogenetic</a:t>
            </a:r>
            <a:r>
              <a:rPr lang="en-US" altLang="zh-TW" dirty="0"/>
              <a:t> comparisons that reveal </a:t>
            </a:r>
            <a:r>
              <a:rPr lang="en-US" altLang="zh-TW" dirty="0" smtClean="0"/>
              <a:t>conserved elements </a:t>
            </a:r>
            <a:r>
              <a:rPr lang="en-US" altLang="zh-TW" dirty="0"/>
              <a:t>in regulatory regions of homologous (in </a:t>
            </a:r>
            <a:r>
              <a:rPr lang="en-US" altLang="zh-TW" dirty="0" smtClean="0"/>
              <a:t>particular </a:t>
            </a:r>
            <a:r>
              <a:rPr lang="en-US" altLang="zh-TW" dirty="0" err="1" smtClean="0"/>
              <a:t>orthologous</a:t>
            </a:r>
            <a:r>
              <a:rPr lang="en-US" altLang="zh-TW" dirty="0"/>
              <a:t>) </a:t>
            </a:r>
            <a:r>
              <a:rPr lang="en-US" altLang="zh-TW" dirty="0" smtClean="0"/>
              <a:t>genes</a:t>
            </a:r>
          </a:p>
          <a:p>
            <a:pPr lvl="1"/>
            <a:r>
              <a:rPr lang="en-US" altLang="zh-TW" dirty="0" smtClean="0"/>
              <a:t>regulatory </a:t>
            </a:r>
            <a:r>
              <a:rPr lang="en-US" altLang="zh-TW" dirty="0"/>
              <a:t>elements are functionally important </a:t>
            </a:r>
            <a:r>
              <a:rPr lang="en-US" altLang="zh-TW" dirty="0" smtClean="0"/>
              <a:t>and are </a:t>
            </a:r>
            <a:r>
              <a:rPr lang="en-US" altLang="zh-TW" dirty="0"/>
              <a:t>under evolutionary selection, they should </a:t>
            </a:r>
            <a:r>
              <a:rPr lang="en-US" altLang="zh-TW" dirty="0" smtClean="0"/>
              <a:t>evolve much </a:t>
            </a:r>
            <a:r>
              <a:rPr lang="en-US" altLang="zh-TW" dirty="0"/>
              <a:t>more slowly than other non-coding sequences.</a:t>
            </a:r>
          </a:p>
          <a:p>
            <a:pPr lvl="1"/>
            <a:r>
              <a:rPr lang="en-US" altLang="zh-TW" dirty="0" smtClean="0"/>
              <a:t>highly </a:t>
            </a:r>
            <a:r>
              <a:rPr lang="en-US" altLang="zh-TW" dirty="0"/>
              <a:t>conserved regions were around 320 </a:t>
            </a:r>
            <a:r>
              <a:rPr lang="en-US" altLang="zh-TW" dirty="0" smtClean="0"/>
              <a:t>times more </a:t>
            </a:r>
            <a:r>
              <a:rPr lang="en-US" altLang="zh-TW" dirty="0"/>
              <a:t>likely to contain regulatory elements than </a:t>
            </a:r>
            <a:r>
              <a:rPr lang="en-US" altLang="zh-TW" dirty="0" smtClean="0"/>
              <a:t>non-conserved regions</a:t>
            </a:r>
            <a:r>
              <a:rPr lang="en-US" altLang="zh-TW" dirty="0"/>
              <a:t>, based on findings from a set of </a:t>
            </a:r>
            <a:r>
              <a:rPr lang="en-US" altLang="zh-TW" dirty="0" smtClean="0"/>
              <a:t>liver-specific genes.</a:t>
            </a:r>
          </a:p>
          <a:p>
            <a:pPr lvl="2"/>
            <a:r>
              <a:rPr lang="zh-TW" altLang="en-US" dirty="0" smtClean="0"/>
              <a:t>平行同源基因</a:t>
            </a:r>
            <a:r>
              <a:rPr lang="en-US" altLang="zh-TW" dirty="0" smtClean="0"/>
              <a:t>(</a:t>
            </a:r>
            <a:r>
              <a:rPr lang="en-US" altLang="zh-TW" dirty="0" err="1" smtClean="0"/>
              <a:t>paralogous</a:t>
            </a:r>
            <a:r>
              <a:rPr lang="en-US" altLang="zh-TW" dirty="0" smtClean="0"/>
              <a:t> gene)</a:t>
            </a:r>
            <a:r>
              <a:rPr lang="zh-TW" altLang="en-US" dirty="0" smtClean="0"/>
              <a:t>：一個物種內由同一祖先複製而來的基因，編碼的蛋白具有相似或相關功能</a:t>
            </a:r>
            <a:endParaRPr lang="en-US" altLang="zh-TW" dirty="0" smtClean="0"/>
          </a:p>
          <a:p>
            <a:pPr lvl="2"/>
            <a:r>
              <a:rPr lang="zh-TW" altLang="en-US" dirty="0" smtClean="0"/>
              <a:t>垂直同源基因</a:t>
            </a:r>
            <a:r>
              <a:rPr lang="en-US" altLang="zh-TW" dirty="0" smtClean="0"/>
              <a:t>(</a:t>
            </a:r>
            <a:r>
              <a:rPr lang="en-US" altLang="zh-TW" dirty="0" err="1" smtClean="0"/>
              <a:t>orthologous</a:t>
            </a:r>
            <a:r>
              <a:rPr lang="en-US" altLang="zh-TW" dirty="0" smtClean="0"/>
              <a:t> gene)</a:t>
            </a:r>
            <a:r>
              <a:rPr lang="zh-TW" altLang="en-US" dirty="0" smtClean="0"/>
              <a:t>：不同物種間的同源性基因，編碼的蛋白具相似或相同功能</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Occurrence priors</a:t>
            </a:r>
            <a:endParaRPr lang="zh-TW" altLang="en-US" dirty="0"/>
          </a:p>
        </p:txBody>
      </p:sp>
      <p:sp>
        <p:nvSpPr>
          <p:cNvPr id="3" name="內容版面配置區 2"/>
          <p:cNvSpPr>
            <a:spLocks noGrp="1"/>
          </p:cNvSpPr>
          <p:nvPr>
            <p:ph idx="1"/>
          </p:nvPr>
        </p:nvSpPr>
        <p:spPr/>
        <p:txBody>
          <a:bodyPr>
            <a:normAutofit/>
          </a:bodyPr>
          <a:lstStyle/>
          <a:p>
            <a:r>
              <a:rPr lang="en-US" altLang="zh-TW" i="1" dirty="0" smtClean="0"/>
              <a:t>Conservation in </a:t>
            </a:r>
            <a:r>
              <a:rPr lang="en-US" altLang="zh-TW" i="1" dirty="0" err="1" smtClean="0"/>
              <a:t>orthologous</a:t>
            </a:r>
            <a:r>
              <a:rPr lang="en-US" altLang="zh-TW" i="1" dirty="0" smtClean="0"/>
              <a:t> sequences</a:t>
            </a:r>
            <a:endParaRPr lang="en-US" altLang="zh-TW" dirty="0" smtClean="0"/>
          </a:p>
          <a:p>
            <a:pPr lvl="1"/>
            <a:r>
              <a:rPr lang="en-US" altLang="zh-TW" dirty="0" smtClean="0"/>
              <a:t>Several </a:t>
            </a:r>
            <a:r>
              <a:rPr lang="en-US" altLang="zh-TW" dirty="0"/>
              <a:t>methods exploit information about </a:t>
            </a:r>
            <a:r>
              <a:rPr lang="en-US" altLang="zh-TW" dirty="0" smtClean="0"/>
              <a:t>conservation in </a:t>
            </a:r>
            <a:r>
              <a:rPr lang="en-US" altLang="zh-TW" dirty="0" err="1"/>
              <a:t>orthologous</a:t>
            </a:r>
            <a:r>
              <a:rPr lang="en-US" altLang="zh-TW" dirty="0"/>
              <a:t> gene regulatory regions by searching </a:t>
            </a:r>
            <a:r>
              <a:rPr lang="en-US" altLang="zh-TW" dirty="0" smtClean="0"/>
              <a:t>for motifs </a:t>
            </a:r>
            <a:r>
              <a:rPr lang="en-US" altLang="zh-TW" dirty="0"/>
              <a:t>only in highly conserved sequence parts (</a:t>
            </a:r>
            <a:r>
              <a:rPr lang="en-US" altLang="zh-TW" dirty="0" smtClean="0"/>
              <a:t>typically human-mouse </a:t>
            </a:r>
            <a:r>
              <a:rPr lang="en-US" altLang="zh-TW" dirty="0" err="1"/>
              <a:t>orthologs</a:t>
            </a:r>
            <a:r>
              <a:rPr lang="en-US" altLang="zh-TW" dirty="0" smtClean="0"/>
              <a:t>). </a:t>
            </a:r>
          </a:p>
          <a:p>
            <a:pPr lvl="1"/>
            <a:r>
              <a:rPr lang="en-US" altLang="zh-TW" dirty="0" smtClean="0"/>
              <a:t>This approach corresponds </a:t>
            </a:r>
            <a:r>
              <a:rPr lang="en-US" altLang="zh-TW" dirty="0"/>
              <a:t>to using a binary occurrence prior that is 1 </a:t>
            </a:r>
            <a:r>
              <a:rPr lang="en-US" altLang="zh-TW" dirty="0" smtClean="0"/>
              <a:t>if the </a:t>
            </a:r>
            <a:r>
              <a:rPr lang="en-US" altLang="zh-TW" dirty="0"/>
              <a:t>conservation score is above a given threshold and </a:t>
            </a:r>
            <a:r>
              <a:rPr lang="en-US" altLang="zh-TW" dirty="0" smtClean="0"/>
              <a:t>0 otherwise.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Occurrence priors</a:t>
            </a:r>
            <a:endParaRPr lang="zh-TW" altLang="en-US" dirty="0"/>
          </a:p>
        </p:txBody>
      </p:sp>
      <p:sp>
        <p:nvSpPr>
          <p:cNvPr id="3" name="內容版面配置區 2"/>
          <p:cNvSpPr>
            <a:spLocks noGrp="1"/>
          </p:cNvSpPr>
          <p:nvPr>
            <p:ph idx="1"/>
          </p:nvPr>
        </p:nvSpPr>
        <p:spPr/>
        <p:txBody>
          <a:bodyPr>
            <a:normAutofit fontScale="85000" lnSpcReduction="10000"/>
          </a:bodyPr>
          <a:lstStyle/>
          <a:p>
            <a:r>
              <a:rPr lang="en-US" altLang="zh-TW" i="1" dirty="0" smtClean="0"/>
              <a:t>DNA structure</a:t>
            </a:r>
          </a:p>
          <a:p>
            <a:pPr lvl="1"/>
            <a:r>
              <a:rPr lang="en-US" altLang="zh-TW" dirty="0" smtClean="0"/>
              <a:t>The three-dimensional structure of DNA, densely packed as chromatin, inhibits transcriptional initiation </a:t>
            </a:r>
            <a:r>
              <a:rPr lang="en-US" altLang="zh-TW" i="1" dirty="0" smtClean="0"/>
              <a:t>in vivo</a:t>
            </a:r>
            <a:r>
              <a:rPr lang="en-US" altLang="zh-TW" dirty="0" smtClean="0"/>
              <a:t>.</a:t>
            </a:r>
          </a:p>
          <a:p>
            <a:pPr lvl="1"/>
            <a:r>
              <a:rPr lang="en-US" altLang="zh-TW" dirty="0" smtClean="0"/>
              <a:t>The </a:t>
            </a:r>
            <a:r>
              <a:rPr lang="en-US" altLang="zh-TW" dirty="0" err="1" smtClean="0"/>
              <a:t>bendability</a:t>
            </a:r>
            <a:r>
              <a:rPr lang="en-US" altLang="zh-TW" dirty="0" smtClean="0"/>
              <a:t> of a region, as well as its position in DNA loops, may indicate whether it contains regulatory elements or not.</a:t>
            </a:r>
          </a:p>
          <a:p>
            <a:pPr lvl="1"/>
            <a:r>
              <a:rPr lang="en-US" altLang="zh-TW" dirty="0" smtClean="0">
                <a:solidFill>
                  <a:srgbClr val="FF0000"/>
                </a:solidFill>
              </a:rPr>
              <a:t>Only a few motif discovery methods take DNA structure into consideration. </a:t>
            </a:r>
            <a:r>
              <a:rPr lang="en-US" altLang="zh-TW" dirty="0" err="1" smtClean="0"/>
              <a:t>Beiko</a:t>
            </a:r>
            <a:r>
              <a:rPr lang="en-US" altLang="zh-TW" dirty="0" smtClean="0"/>
              <a:t> and </a:t>
            </a:r>
            <a:r>
              <a:rPr lang="en-US" altLang="zh-TW" dirty="0" err="1" smtClean="0"/>
              <a:t>Charlebois</a:t>
            </a:r>
            <a:r>
              <a:rPr lang="en-US" altLang="zh-TW" dirty="0" smtClean="0"/>
              <a:t> [60] average structure scores of all k-</a:t>
            </a:r>
            <a:r>
              <a:rPr lang="en-US" altLang="zh-TW" dirty="0" err="1" smtClean="0"/>
              <a:t>mers</a:t>
            </a:r>
            <a:r>
              <a:rPr lang="en-US" altLang="zh-TW" dirty="0" smtClean="0"/>
              <a:t> in a window around a given position, independently of any particular motif. Conversely, </a:t>
            </a:r>
            <a:r>
              <a:rPr lang="en-US" altLang="zh-TW" dirty="0" err="1" smtClean="0"/>
              <a:t>Pudimat</a:t>
            </a:r>
            <a:r>
              <a:rPr lang="en-US" altLang="zh-TW" dirty="0" smtClean="0"/>
              <a:t> </a:t>
            </a:r>
            <a:r>
              <a:rPr lang="en-US" altLang="zh-TW" i="1" dirty="0" smtClean="0"/>
              <a:t>et al. [61] incorporate helical </a:t>
            </a:r>
            <a:r>
              <a:rPr lang="en-US" altLang="zh-TW" dirty="0" smtClean="0"/>
              <a:t>parameter features [62,63] in a Bayesian net that is specific for each motif.</a:t>
            </a:r>
            <a:endParaRPr lang="zh-TW"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Occurrence priors</a:t>
            </a:r>
            <a:endParaRPr lang="zh-TW" altLang="en-US" dirty="0"/>
          </a:p>
        </p:txBody>
      </p:sp>
      <p:sp>
        <p:nvSpPr>
          <p:cNvPr id="3" name="內容版面配置區 2"/>
          <p:cNvSpPr>
            <a:spLocks noGrp="1"/>
          </p:cNvSpPr>
          <p:nvPr>
            <p:ph idx="1"/>
          </p:nvPr>
        </p:nvSpPr>
        <p:spPr/>
        <p:txBody>
          <a:bodyPr>
            <a:normAutofit/>
          </a:bodyPr>
          <a:lstStyle/>
          <a:p>
            <a:r>
              <a:rPr lang="en-US" altLang="zh-TW" i="1" dirty="0" err="1" smtClean="0"/>
              <a:t>Nudeotide</a:t>
            </a:r>
            <a:r>
              <a:rPr lang="en-US" altLang="zh-TW" i="1" dirty="0" smtClean="0"/>
              <a:t> distribution</a:t>
            </a:r>
          </a:p>
          <a:p>
            <a:pPr lvl="1"/>
            <a:r>
              <a:rPr lang="en-US" altLang="zh-TW" dirty="0" smtClean="0"/>
              <a:t>Both high GC content and presence of </a:t>
            </a:r>
            <a:r>
              <a:rPr lang="en-US" altLang="zh-TW" dirty="0" err="1" smtClean="0"/>
              <a:t>CpG</a:t>
            </a:r>
            <a:r>
              <a:rPr lang="en-US" altLang="zh-TW" dirty="0" smtClean="0"/>
              <a:t>-islands may indicate that a region contains regulatory elements.</a:t>
            </a:r>
            <a:endParaRPr lang="zh-TW"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Composite motif models (Level 2)</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t>(Level 2) framework represents modules: </a:t>
            </a:r>
          </a:p>
          <a:p>
            <a:pPr lvl="1"/>
            <a:r>
              <a:rPr lang="en-US" altLang="zh-TW" dirty="0" smtClean="0"/>
              <a:t>clusters of TFs that bind to DNA in proximity to each other, but with a certain flexibility regarding distance between binding sites.</a:t>
            </a:r>
          </a:p>
          <a:p>
            <a:r>
              <a:rPr lang="en-US" altLang="zh-TW" dirty="0" smtClean="0"/>
              <a:t>This is modeled by a composite motif model, consisting of a set of single motifs.</a:t>
            </a:r>
          </a:p>
          <a:p>
            <a:pPr lvl="1"/>
            <a:r>
              <a:rPr lang="en-US" altLang="zh-TW" dirty="0" smtClean="0"/>
              <a:t>Given a set of positions, one for each single motif, the score of a composite motif can be calculated from the score of single motifs at given positions as well as inter-motif distances.</a:t>
            </a:r>
            <a:endParaRPr lang="zh-TW"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Composite motif models (Level 2)</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Werner [12] states that "</a:t>
            </a:r>
            <a:r>
              <a:rPr lang="en-US" altLang="zh-TW" dirty="0" smtClean="0">
                <a:solidFill>
                  <a:srgbClr val="FF0000"/>
                </a:solidFill>
              </a:rPr>
              <a:t>Within a promoter module, both sequential order and distance can be crucial for function, indicating that these modules may be the critical determinants of a promoter rather than individual binding sites</a:t>
            </a:r>
            <a:r>
              <a:rPr lang="en-US" altLang="zh-TW" dirty="0" smtClean="0"/>
              <a:t>". </a:t>
            </a:r>
          </a:p>
          <a:p>
            <a:r>
              <a:rPr lang="en-US" altLang="zh-TW" dirty="0" smtClean="0"/>
              <a:t>The multitude of models developed for the discovery of modules is another indication of the conceived importance of this. It is therefore natural to define a computational motif model that represents a combination of single motifs.</a:t>
            </a:r>
            <a:endParaRPr lang="zh-TW"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Composite motif models (Level 2)</a:t>
            </a:r>
            <a:endParaRPr lang="zh-TW" altLang="en-US" dirty="0"/>
          </a:p>
        </p:txBody>
      </p:sp>
      <p:sp>
        <p:nvSpPr>
          <p:cNvPr id="3" name="內容版面配置區 2"/>
          <p:cNvSpPr>
            <a:spLocks noGrp="1"/>
          </p:cNvSpPr>
          <p:nvPr>
            <p:ph idx="1"/>
          </p:nvPr>
        </p:nvSpPr>
        <p:spPr/>
        <p:txBody>
          <a:bodyPr/>
          <a:lstStyle/>
          <a:p>
            <a:r>
              <a:rPr lang="en-US" altLang="zh-TW" i="1" dirty="0" smtClean="0"/>
              <a:t>A composite motif model is defined as a function                      that maps a set of single motif sequence positions       as non-negative integers to a real numbered composite motif score            . It consists of single motifs        .</a:t>
            </a:r>
            <a:endParaRPr lang="zh-TW" altLang="en-US" dirty="0"/>
          </a:p>
        </p:txBody>
      </p:sp>
      <p:graphicFrame>
        <p:nvGraphicFramePr>
          <p:cNvPr id="4" name="物件 3"/>
          <p:cNvGraphicFramePr>
            <a:graphicFrameLocks noChangeAspect="1"/>
          </p:cNvGraphicFramePr>
          <p:nvPr/>
        </p:nvGraphicFramePr>
        <p:xfrm>
          <a:off x="2339752" y="2108853"/>
          <a:ext cx="1800200" cy="600067"/>
        </p:xfrm>
        <a:graphic>
          <a:graphicData uri="http://schemas.openxmlformats.org/presentationml/2006/ole">
            <p:oleObj spid="_x0000_s1026" name="方程式" r:id="rId3" imgW="761760" imgH="253800" progId="Equation.3">
              <p:embed/>
            </p:oleObj>
          </a:graphicData>
        </a:graphic>
      </p:graphicFrame>
      <p:graphicFrame>
        <p:nvGraphicFramePr>
          <p:cNvPr id="1028" name="Object 4"/>
          <p:cNvGraphicFramePr>
            <a:graphicFrameLocks noChangeAspect="1"/>
          </p:cNvGraphicFramePr>
          <p:nvPr/>
        </p:nvGraphicFramePr>
        <p:xfrm>
          <a:off x="5076056" y="2636912"/>
          <a:ext cx="360213" cy="431105"/>
        </p:xfrm>
        <a:graphic>
          <a:graphicData uri="http://schemas.openxmlformats.org/presentationml/2006/ole">
            <p:oleObj spid="_x0000_s1028" name="方程式" r:id="rId4" imgW="152280" imgH="203040" progId="Equation.3">
              <p:embed/>
            </p:oleObj>
          </a:graphicData>
        </a:graphic>
      </p:graphicFrame>
      <p:graphicFrame>
        <p:nvGraphicFramePr>
          <p:cNvPr id="1029" name="Object 5"/>
          <p:cNvGraphicFramePr>
            <a:graphicFrameLocks noChangeAspect="1"/>
          </p:cNvGraphicFramePr>
          <p:nvPr/>
        </p:nvGraphicFramePr>
        <p:xfrm>
          <a:off x="1907183" y="3573016"/>
          <a:ext cx="936625" cy="517525"/>
        </p:xfrm>
        <a:graphic>
          <a:graphicData uri="http://schemas.openxmlformats.org/presentationml/2006/ole">
            <p:oleObj spid="_x0000_s1029" name="方程式" r:id="rId5" imgW="393480" imgH="241200" progId="Equation.3">
              <p:embed/>
            </p:oleObj>
          </a:graphicData>
        </a:graphic>
      </p:graphicFrame>
      <p:graphicFrame>
        <p:nvGraphicFramePr>
          <p:cNvPr id="1030" name="Object 6"/>
          <p:cNvGraphicFramePr>
            <a:graphicFrameLocks noChangeAspect="1"/>
          </p:cNvGraphicFramePr>
          <p:nvPr/>
        </p:nvGraphicFramePr>
        <p:xfrm>
          <a:off x="7394575" y="3633142"/>
          <a:ext cx="514350" cy="515938"/>
        </p:xfrm>
        <a:graphic>
          <a:graphicData uri="http://schemas.openxmlformats.org/presentationml/2006/ole">
            <p:oleObj spid="_x0000_s1030" name="方程式" r:id="rId6" imgW="215640" imgH="241200" progId="Equation.3">
              <p:embed/>
            </p:oleObj>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Composite motif models (Level 2)</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b="1" i="1" dirty="0" smtClean="0"/>
              <a:t>Distance functions</a:t>
            </a:r>
            <a:endParaRPr lang="en-US" altLang="zh-TW" dirty="0" smtClean="0"/>
          </a:p>
          <a:p>
            <a:pPr lvl="1"/>
            <a:r>
              <a:rPr lang="en-US" altLang="zh-TW" dirty="0" smtClean="0"/>
              <a:t>Many different models have been proposed to capture the importance of inter-motif distances within a module. Several methods put constraints on the distances between consecutive motifs, </a:t>
            </a:r>
            <a:r>
              <a:rPr lang="en-US" altLang="zh-TW" dirty="0" smtClean="0">
                <a:solidFill>
                  <a:srgbClr val="FF0000"/>
                </a:solidFill>
              </a:rPr>
              <a:t>requiring either fixed distances, distances below thresholds, or distances within intervals</a:t>
            </a:r>
            <a:r>
              <a:rPr lang="en-US" altLang="zh-TW" dirty="0" smtClean="0"/>
              <a:t>.</a:t>
            </a:r>
          </a:p>
          <a:p>
            <a:pPr lvl="1"/>
            <a:r>
              <a:rPr lang="en-US" altLang="zh-TW" dirty="0" smtClean="0"/>
              <a:t>Another common way of capturing the importance of proximity is to constrain all single motifs to be within a window of a certain length. This corresponds to a threshold on the maximum distance between any two single motifs. </a:t>
            </a:r>
          </a:p>
          <a:p>
            <a:pPr lvl="1"/>
            <a:r>
              <a:rPr lang="en-US" altLang="zh-TW" dirty="0" smtClean="0"/>
              <a:t>A more general approach is to define non-binary score functions on the distances between single motifs. This can simply be functions that increase linearly with distance.</a:t>
            </a:r>
          </a:p>
          <a:p>
            <a:pPr lvl="1"/>
            <a:r>
              <a:rPr lang="en-US" altLang="zh-TW" dirty="0" smtClean="0"/>
              <a:t>The conservation of inter-motif distances across modules can also serve as a basis for distance score functions.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Composite motif models (Level 2)</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b="1" i="1" dirty="0" smtClean="0"/>
              <a:t>Combining single motifs</a:t>
            </a:r>
          </a:p>
          <a:p>
            <a:pPr lvl="1"/>
            <a:r>
              <a:rPr lang="en-US" altLang="zh-TW" dirty="0" smtClean="0"/>
              <a:t>There are many ways in which a set of single motif and distance scores can be combined into a single measure. </a:t>
            </a:r>
          </a:p>
          <a:p>
            <a:pPr lvl="1"/>
            <a:r>
              <a:rPr lang="en-US" altLang="zh-TW" dirty="0" smtClean="0"/>
              <a:t>using deterministic match models and constraints on distances</a:t>
            </a:r>
          </a:p>
          <a:p>
            <a:pPr lvl="2"/>
            <a:r>
              <a:rPr lang="en-US" altLang="zh-TW" dirty="0" smtClean="0"/>
              <a:t>all component scores are binary</a:t>
            </a:r>
          </a:p>
          <a:p>
            <a:pPr lvl="2"/>
            <a:r>
              <a:rPr lang="en-US" altLang="zh-TW" dirty="0" smtClean="0"/>
              <a:t>many probabilistic methods use thresholds on single motif scores to obtain only binary values. The composite motif score is then typically the intersection of component scores. A variation of this is to require that </a:t>
            </a:r>
            <a:r>
              <a:rPr lang="en-US" altLang="zh-TW" i="1" dirty="0" smtClean="0"/>
              <a:t>M out of N single motif scores are 1. </a:t>
            </a:r>
            <a:r>
              <a:rPr lang="en-US" altLang="zh-TW" dirty="0" smtClean="0"/>
              <a:t>Similarly, the count of binary single motif values can be used directly as a composite motif score.</a:t>
            </a:r>
          </a:p>
          <a:p>
            <a:endParaRPr lang="en-US" altLang="zh-TW"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Composite motif models (Level 2)</a:t>
            </a:r>
            <a:endParaRPr lang="zh-TW" altLang="en-US" dirty="0"/>
          </a:p>
        </p:txBody>
      </p:sp>
      <p:sp>
        <p:nvSpPr>
          <p:cNvPr id="3" name="內容版面配置區 2"/>
          <p:cNvSpPr>
            <a:spLocks noGrp="1"/>
          </p:cNvSpPr>
          <p:nvPr>
            <p:ph idx="1"/>
          </p:nvPr>
        </p:nvSpPr>
        <p:spPr/>
        <p:txBody>
          <a:bodyPr>
            <a:normAutofit/>
          </a:bodyPr>
          <a:lstStyle/>
          <a:p>
            <a:r>
              <a:rPr lang="en-US" altLang="zh-TW" b="1" i="1" dirty="0" smtClean="0"/>
              <a:t>Combining single motifs</a:t>
            </a:r>
            <a:endParaRPr lang="en-US" altLang="zh-TW" dirty="0" smtClean="0"/>
          </a:p>
          <a:p>
            <a:pPr lvl="1"/>
            <a:r>
              <a:rPr lang="en-US" altLang="zh-TW" dirty="0" smtClean="0"/>
              <a:t>For methods using deterministic match models and constraints on distances, all component scores are binary.</a:t>
            </a:r>
          </a:p>
          <a:p>
            <a:pPr lvl="2"/>
            <a:r>
              <a:rPr lang="en-US" altLang="zh-TW" dirty="0" smtClean="0"/>
              <a:t>The composite motif score is then typically the intersection of component scores.</a:t>
            </a:r>
          </a:p>
          <a:p>
            <a:pPr lvl="1"/>
            <a:r>
              <a:rPr lang="en-US" altLang="zh-TW" dirty="0" smtClean="0"/>
              <a:t>For methods that use non-binary single motif scores, a common approach is to calculate </a:t>
            </a:r>
            <a:r>
              <a:rPr lang="en-US" altLang="zh-TW" dirty="0" smtClean="0">
                <a:solidFill>
                  <a:srgbClr val="FF0000"/>
                </a:solidFill>
              </a:rPr>
              <a:t>the sum of single motif and distance scores</a:t>
            </a:r>
            <a:r>
              <a:rPr lang="en-US" altLang="zh-TW" dirty="0" smtClean="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Gene level models (Level 3)</a:t>
            </a:r>
            <a:endParaRPr lang="zh-TW" altLang="en-US" dirty="0"/>
          </a:p>
        </p:txBody>
      </p:sp>
      <p:sp>
        <p:nvSpPr>
          <p:cNvPr id="3" name="內容版面配置區 2"/>
          <p:cNvSpPr>
            <a:spLocks noGrp="1"/>
          </p:cNvSpPr>
          <p:nvPr>
            <p:ph idx="1"/>
          </p:nvPr>
        </p:nvSpPr>
        <p:spPr/>
        <p:txBody>
          <a:bodyPr>
            <a:normAutofit fontScale="85000" lnSpcReduction="10000"/>
          </a:bodyPr>
          <a:lstStyle/>
          <a:p>
            <a:r>
              <a:rPr lang="en-US" altLang="zh-TW" dirty="0" smtClean="0"/>
              <a:t>The third level of the framework (Level 3) represents how several modules may act together, possibly in a combinatorial manner, to determine the regulation of a single gene. This is modeled by a gene score function that combines composite motif scores across the regulatory </a:t>
            </a:r>
            <a:r>
              <a:rPr lang="en-US" altLang="zh-TW" dirty="0" err="1" smtClean="0"/>
              <a:t>reglon</a:t>
            </a:r>
            <a:r>
              <a:rPr lang="en-US" altLang="zh-TW" dirty="0" smtClean="0"/>
              <a:t>(s).</a:t>
            </a:r>
          </a:p>
          <a:p>
            <a:r>
              <a:rPr lang="en-US" altLang="zh-TW" dirty="0" smtClean="0"/>
              <a:t>Scores at this level may, however, be relevant both </a:t>
            </a:r>
          </a:p>
          <a:p>
            <a:pPr lvl="1"/>
            <a:r>
              <a:rPr lang="en-US" altLang="zh-TW" dirty="0" smtClean="0">
                <a:solidFill>
                  <a:srgbClr val="FF0000"/>
                </a:solidFill>
              </a:rPr>
              <a:t>when predicting which genes are regulated by a TF or module</a:t>
            </a:r>
            <a:endParaRPr lang="en-US" altLang="zh-TW" dirty="0" smtClean="0"/>
          </a:p>
          <a:p>
            <a:pPr lvl="1"/>
            <a:r>
              <a:rPr lang="en-US" altLang="zh-TW" dirty="0" smtClean="0">
                <a:solidFill>
                  <a:srgbClr val="FF0000"/>
                </a:solidFill>
              </a:rPr>
              <a:t>when evaluating the significance of a </a:t>
            </a:r>
            <a:r>
              <a:rPr lang="en-US" altLang="zh-TW" i="1" dirty="0" smtClean="0">
                <a:solidFill>
                  <a:srgbClr val="FF0000"/>
                </a:solidFill>
              </a:rPr>
              <a:t>de novo </a:t>
            </a:r>
            <a:r>
              <a:rPr lang="en-US" altLang="zh-TW" dirty="0" smtClean="0">
                <a:solidFill>
                  <a:srgbClr val="FF0000"/>
                </a:solidFill>
              </a:rPr>
              <a:t>discovered motif</a:t>
            </a:r>
            <a:r>
              <a:rPr lang="en-US" altLang="zh-TW" dirty="0" smtClean="0"/>
              <a:t>.</a:t>
            </a:r>
            <a:endParaRPr lang="zh-TW"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Gene level models (Level 3)</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i="1" dirty="0" smtClean="0"/>
              <a:t>A gene score model is defined as a function </a:t>
            </a:r>
            <a:br>
              <a:rPr lang="en-US" altLang="zh-TW" i="1" dirty="0" smtClean="0"/>
            </a:br>
            <a:r>
              <a:rPr lang="en-US" altLang="zh-TW" i="1" dirty="0" smtClean="0"/>
              <a:t>                   that maps a gene index g as a non-negative integer to a real numbered gene score          . It consists of composite motif models            .</a:t>
            </a:r>
          </a:p>
          <a:p>
            <a:r>
              <a:rPr lang="en-US" altLang="zh-TW" dirty="0" smtClean="0"/>
              <a:t>The gene level score is calculated from composite motif scores,           </a:t>
            </a:r>
            <a:r>
              <a:rPr lang="en-US" altLang="zh-TW" i="1" dirty="0" smtClean="0"/>
              <a:t>, across the regulatory region of gene g, and is </a:t>
            </a:r>
            <a:r>
              <a:rPr lang="en-US" altLang="zh-TW" dirty="0" smtClean="0"/>
              <a:t>referred to as gene score. For methods that only discover binding sites for single TFs, the composite motif score is simply the single motif score.</a:t>
            </a:r>
            <a:endParaRPr lang="zh-TW" altLang="en-US" dirty="0"/>
          </a:p>
        </p:txBody>
      </p:sp>
      <p:graphicFrame>
        <p:nvGraphicFramePr>
          <p:cNvPr id="27651" name="Object 3"/>
          <p:cNvGraphicFramePr>
            <a:graphicFrameLocks noChangeAspect="1"/>
          </p:cNvGraphicFramePr>
          <p:nvPr/>
        </p:nvGraphicFramePr>
        <p:xfrm>
          <a:off x="899592" y="1981608"/>
          <a:ext cx="1584176" cy="474973"/>
        </p:xfrm>
        <a:graphic>
          <a:graphicData uri="http://schemas.openxmlformats.org/presentationml/2006/ole">
            <p:oleObj spid="_x0000_s27651" name="方程式" r:id="rId3" imgW="761760" imgH="228600" progId="Equation.3">
              <p:embed/>
            </p:oleObj>
          </a:graphicData>
        </a:graphic>
      </p:graphicFrame>
      <p:graphicFrame>
        <p:nvGraphicFramePr>
          <p:cNvPr id="27652" name="Object 4"/>
          <p:cNvGraphicFramePr>
            <a:graphicFrameLocks noChangeAspect="1"/>
          </p:cNvGraphicFramePr>
          <p:nvPr/>
        </p:nvGraphicFramePr>
        <p:xfrm>
          <a:off x="1763687" y="2708920"/>
          <a:ext cx="817079" cy="432048"/>
        </p:xfrm>
        <a:graphic>
          <a:graphicData uri="http://schemas.openxmlformats.org/presentationml/2006/ole">
            <p:oleObj spid="_x0000_s27652" name="方程式" r:id="rId4" imgW="431640" imgH="228600" progId="Equation.3">
              <p:embed/>
            </p:oleObj>
          </a:graphicData>
        </a:graphic>
      </p:graphicFrame>
      <p:graphicFrame>
        <p:nvGraphicFramePr>
          <p:cNvPr id="27654" name="Object 6"/>
          <p:cNvGraphicFramePr>
            <a:graphicFrameLocks noChangeAspect="1"/>
          </p:cNvGraphicFramePr>
          <p:nvPr/>
        </p:nvGraphicFramePr>
        <p:xfrm>
          <a:off x="2051720" y="3068960"/>
          <a:ext cx="864096" cy="443796"/>
        </p:xfrm>
        <a:graphic>
          <a:graphicData uri="http://schemas.openxmlformats.org/presentationml/2006/ole">
            <p:oleObj spid="_x0000_s27654" name="方程式" r:id="rId5" imgW="444240" imgH="228600" progId="Equation.3">
              <p:embed/>
            </p:oleObj>
          </a:graphicData>
        </a:graphic>
      </p:graphicFrame>
      <p:graphicFrame>
        <p:nvGraphicFramePr>
          <p:cNvPr id="27656" name="Object 8"/>
          <p:cNvGraphicFramePr>
            <a:graphicFrameLocks noChangeAspect="1"/>
          </p:cNvGraphicFramePr>
          <p:nvPr/>
        </p:nvGraphicFramePr>
        <p:xfrm>
          <a:off x="2979242" y="3894934"/>
          <a:ext cx="800670" cy="423885"/>
        </p:xfrm>
        <a:graphic>
          <a:graphicData uri="http://schemas.openxmlformats.org/presentationml/2006/ole">
            <p:oleObj spid="_x0000_s27656" name="方程式" r:id="rId6" imgW="431640" imgH="228600" progId="Equation.3">
              <p:embed/>
            </p:oleObj>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Gene level models (Level 3)</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b="1" i="1" dirty="0" smtClean="0"/>
              <a:t>Multiple binding sites</a:t>
            </a:r>
          </a:p>
          <a:p>
            <a:pPr lvl="1"/>
            <a:r>
              <a:rPr lang="en-US" altLang="zh-TW" dirty="0" smtClean="0"/>
              <a:t>The </a:t>
            </a:r>
            <a:r>
              <a:rPr lang="en-US" altLang="zh-TW" dirty="0" smtClean="0">
                <a:solidFill>
                  <a:srgbClr val="FF0000"/>
                </a:solidFill>
              </a:rPr>
              <a:t>gene level score </a:t>
            </a:r>
            <a:r>
              <a:rPr lang="en-US" altLang="zh-TW" dirty="0" smtClean="0"/>
              <a:t>is often defined simply as </a:t>
            </a:r>
            <a:r>
              <a:rPr lang="en-US" altLang="zh-TW" dirty="0" smtClean="0">
                <a:solidFill>
                  <a:srgbClr val="FF0000"/>
                </a:solidFill>
              </a:rPr>
              <a:t>the maximum motif score in the regulatory region(s) of a gene</a:t>
            </a:r>
            <a:r>
              <a:rPr lang="en-US" altLang="zh-TW" dirty="0" smtClean="0"/>
              <a:t>. This corresponds to an implicit assumption of exactly one relevant occurrence of a motif in the regulatory </a:t>
            </a:r>
            <a:r>
              <a:rPr lang="en-US" altLang="zh-TW" dirty="0" err="1" smtClean="0"/>
              <a:t>reglon</a:t>
            </a:r>
            <a:r>
              <a:rPr lang="en-US" altLang="zh-TW" dirty="0" smtClean="0"/>
              <a:t>(s).</a:t>
            </a:r>
          </a:p>
          <a:p>
            <a:pPr lvl="1"/>
            <a:r>
              <a:rPr lang="en-US" altLang="zh-TW" dirty="0" smtClean="0"/>
              <a:t>the presence of multiple binding sites for TFs plays an important biological role</a:t>
            </a:r>
          </a:p>
          <a:p>
            <a:pPr lvl="1"/>
            <a:r>
              <a:rPr lang="en-US" altLang="zh-TW" dirty="0" smtClean="0"/>
              <a:t>Many methods calculate gene score from all motif scores across the regulatory region(s) of a gene.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Gene level models (Level 3)</a:t>
            </a:r>
            <a:endParaRPr lang="zh-TW" altLang="en-US" dirty="0"/>
          </a:p>
        </p:txBody>
      </p:sp>
      <p:sp>
        <p:nvSpPr>
          <p:cNvPr id="3" name="內容版面配置區 2"/>
          <p:cNvSpPr>
            <a:spLocks noGrp="1"/>
          </p:cNvSpPr>
          <p:nvPr>
            <p:ph idx="1"/>
          </p:nvPr>
        </p:nvSpPr>
        <p:spPr/>
        <p:txBody>
          <a:bodyPr>
            <a:normAutofit/>
          </a:bodyPr>
          <a:lstStyle/>
          <a:p>
            <a:r>
              <a:rPr lang="en-US" altLang="zh-TW" b="1" i="1" dirty="0" smtClean="0"/>
              <a:t>Multiple modules</a:t>
            </a:r>
          </a:p>
          <a:p>
            <a:pPr lvl="1"/>
            <a:r>
              <a:rPr lang="en-US" altLang="zh-TW" dirty="0" smtClean="0"/>
              <a:t>In addition to multiple binding sites for the same module, </a:t>
            </a:r>
            <a:r>
              <a:rPr lang="en-US" altLang="zh-TW" dirty="0" smtClean="0">
                <a:solidFill>
                  <a:srgbClr val="FF0000"/>
                </a:solidFill>
              </a:rPr>
              <a:t>a set of different modules may also be introduced at the gene level</a:t>
            </a:r>
            <a:r>
              <a:rPr lang="en-US" altLang="zh-TW" dirty="0" smtClean="0"/>
              <a:t>. A gene may be seen as having several regulatory regions, with tight distance constraints between binding sites within a regulatory region (module), and larger and more variable distances between different regulatory regions.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Genome level models (Level 4)</a:t>
            </a:r>
            <a:endParaRPr lang="zh-TW" altLang="en-US" dirty="0"/>
          </a:p>
        </p:txBody>
      </p:sp>
      <p:sp>
        <p:nvSpPr>
          <p:cNvPr id="3" name="內容版面配置區 2"/>
          <p:cNvSpPr>
            <a:spLocks noGrp="1"/>
          </p:cNvSpPr>
          <p:nvPr>
            <p:ph idx="1"/>
          </p:nvPr>
        </p:nvSpPr>
        <p:spPr/>
        <p:txBody>
          <a:bodyPr>
            <a:normAutofit fontScale="70000" lnSpcReduction="20000"/>
          </a:bodyPr>
          <a:lstStyle/>
          <a:p>
            <a:r>
              <a:rPr lang="en-US" altLang="zh-TW" dirty="0" smtClean="0"/>
              <a:t>Motif scores at the genome level are generally used for significance evaluation of </a:t>
            </a:r>
            <a:r>
              <a:rPr lang="en-US" altLang="zh-TW" i="1" dirty="0" smtClean="0"/>
              <a:t>de novo motifs. </a:t>
            </a:r>
            <a:r>
              <a:rPr lang="en-US" altLang="zh-TW" dirty="0" smtClean="0">
                <a:solidFill>
                  <a:srgbClr val="FF0000"/>
                </a:solidFill>
              </a:rPr>
              <a:t>Here we focus on the first situation, evaluation of motif significance at the genome level. </a:t>
            </a:r>
          </a:p>
          <a:p>
            <a:r>
              <a:rPr lang="en-US" altLang="zh-TW" dirty="0" smtClean="0"/>
              <a:t>In most cases the genome level score is based on just the (assumed) regulatory regions for a selected subset of the genes.</a:t>
            </a:r>
          </a:p>
          <a:p>
            <a:r>
              <a:rPr lang="en-US" altLang="zh-TW" i="1" dirty="0" smtClean="0"/>
              <a:t>A genome score model is defined as a function                        that maps a genome index </a:t>
            </a:r>
            <a:r>
              <a:rPr lang="en-US" altLang="zh-TW" i="1" dirty="0" err="1" smtClean="0"/>
              <a:t>i</a:t>
            </a:r>
            <a:r>
              <a:rPr lang="en-US" altLang="zh-TW" i="1" dirty="0" smtClean="0"/>
              <a:t> as a non-negative integer to a real numbered genome score               . It consists of a gene score model</a:t>
            </a:r>
            <a:br>
              <a:rPr lang="en-US" altLang="zh-TW" i="1" dirty="0" smtClean="0"/>
            </a:br>
            <a:r>
              <a:rPr lang="en-US" altLang="zh-TW" i="1" dirty="0" smtClean="0"/>
              <a:t>             and a gene membership function              .</a:t>
            </a:r>
          </a:p>
          <a:p>
            <a:r>
              <a:rPr lang="en-US" altLang="zh-TW" dirty="0" smtClean="0"/>
              <a:t>Genome score (motif significance) is typically based on either the genome level overrepresentation of the motif, or on the correspondence between gene scores and experimental data.</a:t>
            </a:r>
            <a:endParaRPr lang="zh-TW" altLang="en-US" dirty="0"/>
          </a:p>
        </p:txBody>
      </p:sp>
      <p:graphicFrame>
        <p:nvGraphicFramePr>
          <p:cNvPr id="4" name="物件 3"/>
          <p:cNvGraphicFramePr>
            <a:graphicFrameLocks noChangeAspect="1"/>
          </p:cNvGraphicFramePr>
          <p:nvPr/>
        </p:nvGraphicFramePr>
        <p:xfrm>
          <a:off x="6156176" y="2996952"/>
          <a:ext cx="1432579" cy="432048"/>
        </p:xfrm>
        <a:graphic>
          <a:graphicData uri="http://schemas.openxmlformats.org/presentationml/2006/ole">
            <p:oleObj spid="_x0000_s28674" name="方程式" r:id="rId3" imgW="799920" imgH="241200" progId="Equation.3">
              <p:embed/>
            </p:oleObj>
          </a:graphicData>
        </a:graphic>
      </p:graphicFrame>
      <p:graphicFrame>
        <p:nvGraphicFramePr>
          <p:cNvPr id="28675" name="Object 3"/>
          <p:cNvGraphicFramePr>
            <a:graphicFrameLocks noChangeAspect="1"/>
          </p:cNvGraphicFramePr>
          <p:nvPr/>
        </p:nvGraphicFramePr>
        <p:xfrm>
          <a:off x="3707904" y="3501008"/>
          <a:ext cx="872659" cy="504056"/>
        </p:xfrm>
        <a:graphic>
          <a:graphicData uri="http://schemas.openxmlformats.org/presentationml/2006/ole">
            <p:oleObj spid="_x0000_s28675" name="方程式" r:id="rId4" imgW="419040" imgH="241200" progId="Equation.3">
              <p:embed/>
            </p:oleObj>
          </a:graphicData>
        </a:graphic>
      </p:graphicFrame>
      <p:graphicFrame>
        <p:nvGraphicFramePr>
          <p:cNvPr id="28676" name="Object 4"/>
          <p:cNvGraphicFramePr>
            <a:graphicFrameLocks noChangeAspect="1"/>
          </p:cNvGraphicFramePr>
          <p:nvPr/>
        </p:nvGraphicFramePr>
        <p:xfrm>
          <a:off x="899592" y="3861048"/>
          <a:ext cx="774129" cy="435720"/>
        </p:xfrm>
        <a:graphic>
          <a:graphicData uri="http://schemas.openxmlformats.org/presentationml/2006/ole">
            <p:oleObj spid="_x0000_s28676" name="方程式" r:id="rId5" imgW="406080" imgH="228600" progId="Equation.3">
              <p:embed/>
            </p:oleObj>
          </a:graphicData>
        </a:graphic>
      </p:graphicFrame>
      <p:graphicFrame>
        <p:nvGraphicFramePr>
          <p:cNvPr id="28677" name="Object 5"/>
          <p:cNvGraphicFramePr>
            <a:graphicFrameLocks noChangeAspect="1"/>
          </p:cNvGraphicFramePr>
          <p:nvPr/>
        </p:nvGraphicFramePr>
        <p:xfrm>
          <a:off x="5436096" y="3861048"/>
          <a:ext cx="846138" cy="387350"/>
        </p:xfrm>
        <a:graphic>
          <a:graphicData uri="http://schemas.openxmlformats.org/presentationml/2006/ole">
            <p:oleObj spid="_x0000_s28677" name="方程式" r:id="rId6" imgW="444240" imgH="203040" progId="Equation.3">
              <p:embed/>
            </p:oleObj>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Genome level models (Level 4)</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b="1" i="1" dirty="0" smtClean="0"/>
              <a:t>Motif overrepresentation</a:t>
            </a:r>
          </a:p>
          <a:p>
            <a:pPr lvl="1"/>
            <a:r>
              <a:rPr lang="en-US" altLang="zh-TW" dirty="0" smtClean="0"/>
              <a:t>Computational motif discovery is possible primarily because motifs representing regulatory motifs are </a:t>
            </a:r>
            <a:r>
              <a:rPr lang="en-US" altLang="zh-TW" dirty="0" smtClean="0">
                <a:solidFill>
                  <a:srgbClr val="FF0000"/>
                </a:solidFill>
              </a:rPr>
              <a:t>overrepresented</a:t>
            </a:r>
            <a:r>
              <a:rPr lang="en-US" altLang="zh-TW" dirty="0" smtClean="0"/>
              <a:t>. Many methods use this overrepresentation directly when evaluating the significance of a discovered motif.</a:t>
            </a:r>
          </a:p>
          <a:p>
            <a:pPr lvl="1"/>
            <a:r>
              <a:rPr lang="en-US" altLang="zh-TW" dirty="0" smtClean="0"/>
              <a:t>The exact way of calculating motif significance varies from method to method, but can roughly be divided into five different approaches.</a:t>
            </a:r>
          </a:p>
          <a:p>
            <a:pPr lvl="2"/>
            <a:r>
              <a:rPr lang="en-US" altLang="zh-TW" dirty="0" smtClean="0"/>
              <a:t>The most direct approach is to determine overrepresentation by comparing observed motif scores </a:t>
            </a:r>
            <a:r>
              <a:rPr lang="en-US" altLang="zh-TW" dirty="0" smtClean="0">
                <a:solidFill>
                  <a:srgbClr val="FF0000"/>
                </a:solidFill>
              </a:rPr>
              <a:t>with expected scores </a:t>
            </a:r>
            <a:r>
              <a:rPr lang="en-US" altLang="zh-TW" dirty="0" smtClean="0"/>
              <a:t>from a background model</a:t>
            </a:r>
            <a:r>
              <a:rPr lang="en-US" altLang="zh-TW" smtClean="0"/>
              <a:t>. More specifically, the </a:t>
            </a:r>
            <a:r>
              <a:rPr lang="en-US" altLang="zh-TW" i="1" smtClean="0"/>
              <a:t>p value</a:t>
            </a:r>
            <a:r>
              <a:rPr lang="en-US" altLang="zh-TW" smtClean="0"/>
              <a:t> and </a:t>
            </a:r>
            <a:r>
              <a:rPr lang="en-US" altLang="zh-TW" i="1" smtClean="0"/>
              <a:t>z-score of the observed sum of </a:t>
            </a:r>
            <a:r>
              <a:rPr lang="en-US" altLang="zh-TW" smtClean="0"/>
              <a:t>gene scores has been used. The background is typically a higher order Markov model, with parameters estimated from the sequences used for motif discovery. Shuffled control sequences may also be used as background.</a:t>
            </a:r>
            <a:endParaRPr lang="zh-TW"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Genome level models (Level 4)</a:t>
            </a:r>
            <a:endParaRPr lang="zh-TW" altLang="en-US" dirty="0"/>
          </a:p>
        </p:txBody>
      </p:sp>
      <p:sp>
        <p:nvSpPr>
          <p:cNvPr id="3" name="內容版面配置區 2"/>
          <p:cNvSpPr>
            <a:spLocks noGrp="1"/>
          </p:cNvSpPr>
          <p:nvPr>
            <p:ph idx="1"/>
          </p:nvPr>
        </p:nvSpPr>
        <p:spPr/>
        <p:txBody>
          <a:bodyPr>
            <a:normAutofit fontScale="70000" lnSpcReduction="20000"/>
          </a:bodyPr>
          <a:lstStyle/>
          <a:p>
            <a:r>
              <a:rPr lang="en-US" altLang="zh-TW" b="1" i="1" dirty="0" smtClean="0"/>
              <a:t>Motif overrepresentation</a:t>
            </a:r>
          </a:p>
          <a:p>
            <a:pPr lvl="2"/>
            <a:r>
              <a:rPr lang="en-US" altLang="zh-TW" dirty="0" smtClean="0"/>
              <a:t>A simpler approach is to compare only the raw sum of gene scores when ranking motifs. </a:t>
            </a:r>
            <a:r>
              <a:rPr lang="en-US" altLang="zh-TW" dirty="0" smtClean="0">
                <a:solidFill>
                  <a:srgbClr val="FF0000"/>
                </a:solidFill>
              </a:rPr>
              <a:t>This is equivalent to the first approach under the assumption of equal expected scores for all motifs in the background model</a:t>
            </a:r>
            <a:r>
              <a:rPr lang="en-US" altLang="zh-TW" dirty="0" smtClean="0"/>
              <a:t>.</a:t>
            </a:r>
          </a:p>
          <a:p>
            <a:pPr lvl="2"/>
            <a:r>
              <a:rPr lang="en-US" altLang="zh-TW" dirty="0" smtClean="0"/>
              <a:t>A third approach is to use a significance measure related to the information content (IC) of discovered PWMs. For methods that use mixture models of log-ratio PWMs and background, the PWM with highest IC corresponds to a maximum likelihood solution of the mixture model.</a:t>
            </a:r>
          </a:p>
          <a:p>
            <a:pPr lvl="2"/>
            <a:r>
              <a:rPr lang="en-US" altLang="zh-TW" dirty="0" smtClean="0"/>
              <a:t>A common approach in deterministic motif discovery is to calculate two separate values when evaluating motifs, one concerning the support, or coverage, of a motif, and a second concerning the unexpectedness of a motif.</a:t>
            </a:r>
          </a:p>
          <a:p>
            <a:pPr lvl="2"/>
            <a:r>
              <a:rPr lang="en-US" altLang="zh-TW" dirty="0" smtClean="0"/>
              <a:t>The fifth approach is completely different, and </a:t>
            </a:r>
            <a:r>
              <a:rPr lang="en-US" altLang="zh-TW" dirty="0" smtClean="0">
                <a:solidFill>
                  <a:srgbClr val="FF0000"/>
                </a:solidFill>
              </a:rPr>
              <a:t>focuses only on overrepresentation of motif combinations</a:t>
            </a:r>
            <a:r>
              <a:rPr lang="en-US" altLang="zh-TW" dirty="0" smtClean="0"/>
              <a:t>. Motif significance is based on the observed versus expected scores of </a:t>
            </a:r>
            <a:r>
              <a:rPr lang="en-US" altLang="zh-TW" i="1" dirty="0" smtClean="0"/>
              <a:t>composite motifs, given the observed score distribution </a:t>
            </a:r>
            <a:r>
              <a:rPr lang="en-US" altLang="zh-TW" dirty="0" smtClean="0"/>
              <a:t>of </a:t>
            </a:r>
            <a:r>
              <a:rPr lang="en-US" altLang="zh-TW" i="1" dirty="0" smtClean="0"/>
              <a:t>single motifs.</a:t>
            </a:r>
            <a:endParaRPr lang="zh-TW"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Genome level models (Level 4)</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b="1" i="1" dirty="0" smtClean="0"/>
              <a:t>Correspondence with experimental data</a:t>
            </a:r>
          </a:p>
          <a:p>
            <a:pPr lvl="1"/>
            <a:r>
              <a:rPr lang="en-US" altLang="zh-TW" dirty="0" smtClean="0"/>
              <a:t>The correspondence between gene level scores and experimental data may be used as a measure of motif significance.</a:t>
            </a:r>
          </a:p>
          <a:p>
            <a:pPr lvl="2"/>
            <a:r>
              <a:rPr lang="en-US" altLang="zh-TW" dirty="0" smtClean="0"/>
              <a:t>One approach is to evaluate the fit of a logistic regression from gene scores </a:t>
            </a:r>
            <a:r>
              <a:rPr lang="en-US" altLang="zh-TW" i="1" dirty="0" err="1" smtClean="0"/>
              <a:t>G</a:t>
            </a:r>
            <a:r>
              <a:rPr lang="en-US" altLang="zh-TW" sz="1700" i="1" dirty="0" err="1" smtClean="0"/>
              <a:t>c</a:t>
            </a:r>
            <a:r>
              <a:rPr lang="en-US" altLang="zh-TW" i="1" dirty="0" smtClean="0"/>
              <a:t>(g) to membership values </a:t>
            </a:r>
            <a:r>
              <a:rPr lang="en-US" altLang="zh-TW" sz="2600" i="1" dirty="0" err="1" smtClean="0"/>
              <a:t>μ</a:t>
            </a:r>
            <a:r>
              <a:rPr lang="en-US" altLang="zh-TW" i="1" dirty="0" err="1" smtClean="0"/>
              <a:t>F</a:t>
            </a:r>
            <a:r>
              <a:rPr lang="en-US" altLang="zh-TW" i="1" dirty="0" smtClean="0"/>
              <a:t>(g).</a:t>
            </a:r>
          </a:p>
          <a:p>
            <a:pPr lvl="2"/>
            <a:r>
              <a:rPr lang="en-US" altLang="zh-TW" i="1" dirty="0" smtClean="0"/>
              <a:t>A </a:t>
            </a:r>
            <a:r>
              <a:rPr lang="en-US" altLang="zh-TW" dirty="0" smtClean="0"/>
              <a:t>simplification of this approach is to compare binary gene scores with binary membership values, and calculate the mismatch ratio or ROC</a:t>
            </a:r>
            <a:r>
              <a:rPr lang="en-US" altLang="zh-TW" sz="1200" dirty="0" smtClean="0"/>
              <a:t>50 </a:t>
            </a:r>
            <a:r>
              <a:rPr lang="en-US" altLang="zh-TW" dirty="0" smtClean="0"/>
              <a:t>score.</a:t>
            </a:r>
          </a:p>
          <a:p>
            <a:pPr lvl="2"/>
            <a:r>
              <a:rPr lang="en-US" altLang="zh-TW" dirty="0" smtClean="0"/>
              <a:t>Alternatively, grouping of genes can be avoided altogether, and motif significance can be measured as the fit of a linear regression directly from gene scores to observed log-expression in </a:t>
            </a:r>
            <a:r>
              <a:rPr lang="en-US" altLang="zh-TW" smtClean="0"/>
              <a:t>microarray experiments.</a:t>
            </a:r>
            <a:endParaRPr lang="en-US" altLang="zh-TW" b="1" i="1"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Comparison of methods</a:t>
            </a:r>
            <a:endParaRPr lang="zh-TW" altLang="en-US" dirty="0"/>
          </a:p>
        </p:txBody>
      </p:sp>
      <p:sp>
        <p:nvSpPr>
          <p:cNvPr id="3" name="內容版面配置區 2"/>
          <p:cNvSpPr>
            <a:spLocks noGrp="1"/>
          </p:cNvSpPr>
          <p:nvPr>
            <p:ph idx="1"/>
          </p:nvPr>
        </p:nvSpPr>
        <p:spPr/>
        <p:txBody>
          <a:bodyPr>
            <a:normAutofit fontScale="70000" lnSpcReduction="20000"/>
          </a:bodyPr>
          <a:lstStyle/>
          <a:p>
            <a:r>
              <a:rPr lang="en-US" altLang="zh-TW" dirty="0" smtClean="0"/>
              <a:t>The method "</a:t>
            </a:r>
            <a:r>
              <a:rPr lang="en-US" altLang="zh-TW" dirty="0" smtClean="0">
                <a:solidFill>
                  <a:srgbClr val="FF0000"/>
                </a:solidFill>
              </a:rPr>
              <a:t>motif </a:t>
            </a:r>
            <a:r>
              <a:rPr lang="en-US" altLang="zh-TW" dirty="0" err="1" smtClean="0">
                <a:solidFill>
                  <a:srgbClr val="FF0000"/>
                </a:solidFill>
              </a:rPr>
              <a:t>regressor</a:t>
            </a:r>
            <a:r>
              <a:rPr lang="en-US" altLang="zh-TW" dirty="0" smtClean="0"/>
              <a:t>" represents a relatively simple, yet promising approach [89]. First it uses the </a:t>
            </a:r>
            <a:r>
              <a:rPr lang="en-US" altLang="zh-TW" dirty="0" err="1" smtClean="0"/>
              <a:t>MDScan</a:t>
            </a:r>
            <a:r>
              <a:rPr lang="en-US" altLang="zh-TW" dirty="0" smtClean="0"/>
              <a:t> algorithm [87] to discover single motifs based on </a:t>
            </a:r>
            <a:r>
              <a:rPr lang="en-US" altLang="zh-TW" dirty="0" err="1" smtClean="0"/>
              <a:t>CHiP</a:t>
            </a:r>
            <a:r>
              <a:rPr lang="en-US" altLang="zh-TW" dirty="0" smtClean="0"/>
              <a:t>-chip data. Motifs that are too similar to the background distribution are filtered out, and the remaining motifs are used as features in a multiple regression from gene level scores of motifs to gene expression levels. In this way, only motifs that serve (independent) explanatory roles on gene expression are retained.</a:t>
            </a:r>
          </a:p>
          <a:p>
            <a:r>
              <a:rPr lang="en-US" altLang="zh-TW" dirty="0" smtClean="0"/>
              <a:t>Another interesting approach is the </a:t>
            </a:r>
            <a:r>
              <a:rPr lang="en-US" altLang="zh-TW" dirty="0" smtClean="0">
                <a:solidFill>
                  <a:srgbClr val="FF0000"/>
                </a:solidFill>
              </a:rPr>
              <a:t>LOGOS</a:t>
            </a:r>
            <a:r>
              <a:rPr lang="en-US" altLang="zh-TW" dirty="0" smtClean="0"/>
              <a:t> method [73] that uses a hidden Markov model (HMM) to model the combinatorial nature of binding sites. Furthermore, single motifs are modeled by a HMDM model [29] that promotes binding sites with certain spatial distributions on single nucleotide conservation. All of this is combined using a coherent probabilistic model.</a:t>
            </a:r>
            <a:endParaRPr lang="zh-TW" altLang="en-US"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2121</TotalTime>
  <Words>3027</Words>
  <Application>Microsoft Office PowerPoint</Application>
  <PresentationFormat>如螢幕大小 (4:3)</PresentationFormat>
  <Paragraphs>169</Paragraphs>
  <Slides>36</Slides>
  <Notes>0</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36</vt:i4>
      </vt:variant>
    </vt:vector>
  </HeadingPairs>
  <TitlesOfParts>
    <vt:vector size="38" baseType="lpstr">
      <vt:lpstr>Office 佈景主題</vt:lpstr>
      <vt:lpstr>方程式</vt:lpstr>
      <vt:lpstr>A survey of motif discovery methods in an integrated framework  Geir Kjetil Sandve and Finn Drabløs   Biology Direct  2006</vt:lpstr>
      <vt:lpstr>Abstract</vt:lpstr>
      <vt:lpstr>Sequence motif</vt:lpstr>
      <vt:lpstr>Regulatory sequence</vt:lpstr>
      <vt:lpstr>投影片 5</vt:lpstr>
      <vt:lpstr>Single motif models (Level 1)</vt:lpstr>
      <vt:lpstr>Single motif models (Level 1)</vt:lpstr>
      <vt:lpstr>Single motif models (Level 1)</vt:lpstr>
      <vt:lpstr>Single motif models (Level 1)</vt:lpstr>
      <vt:lpstr>Single motif models (Level 1)</vt:lpstr>
      <vt:lpstr>Single motif models (Level 1)</vt:lpstr>
      <vt:lpstr>Deterministic match models</vt:lpstr>
      <vt:lpstr>Deterministic match models</vt:lpstr>
      <vt:lpstr>Deterministic match models</vt:lpstr>
      <vt:lpstr>Occurrence priors</vt:lpstr>
      <vt:lpstr>Occurrence priors</vt:lpstr>
      <vt:lpstr>Occurrence priors</vt:lpstr>
      <vt:lpstr>Occurrence priors</vt:lpstr>
      <vt:lpstr>Occurrence priors</vt:lpstr>
      <vt:lpstr>Occurrence priors</vt:lpstr>
      <vt:lpstr>Occurrence priors</vt:lpstr>
      <vt:lpstr>Composite motif models (Level 2)</vt:lpstr>
      <vt:lpstr>Composite motif models (Level 2)</vt:lpstr>
      <vt:lpstr>Composite motif models (Level 2)</vt:lpstr>
      <vt:lpstr>Composite motif models (Level 2)</vt:lpstr>
      <vt:lpstr>Composite motif models (Level 2)</vt:lpstr>
      <vt:lpstr>Composite motif models (Level 2)</vt:lpstr>
      <vt:lpstr>Gene level models (Level 3)</vt:lpstr>
      <vt:lpstr>Gene level models (Level 3)</vt:lpstr>
      <vt:lpstr>Gene level models (Level 3)</vt:lpstr>
      <vt:lpstr>Gene level models (Level 3)</vt:lpstr>
      <vt:lpstr>Genome level models (Level 4)</vt:lpstr>
      <vt:lpstr>Genome level models (Level 4)</vt:lpstr>
      <vt:lpstr>Genome level models (Level 4)</vt:lpstr>
      <vt:lpstr>Genome level models (Level 4)</vt:lpstr>
      <vt:lpstr>Comparison of methods</vt:lpstr>
    </vt:vector>
  </TitlesOfParts>
  <Company>PPLAB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survey of motif discovery methods in an integrated framework Geir Kjetil Sandve and Finn Drabløs</dc:title>
  <dc:creator>William</dc:creator>
  <cp:lastModifiedBy>.</cp:lastModifiedBy>
  <cp:revision>189</cp:revision>
  <dcterms:created xsi:type="dcterms:W3CDTF">2011-06-12T12:34:51Z</dcterms:created>
  <dcterms:modified xsi:type="dcterms:W3CDTF">2011-06-15T11:53:45Z</dcterms:modified>
</cp:coreProperties>
</file>