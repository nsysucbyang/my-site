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2" r:id="rId14"/>
    <p:sldId id="268" r:id="rId15"/>
    <p:sldId id="270" r:id="rId16"/>
    <p:sldId id="269" r:id="rId17"/>
    <p:sldId id="271" r:id="rId18"/>
    <p:sldId id="273" r:id="rId19"/>
    <p:sldId id="274" r:id="rId20"/>
    <p:sldId id="283" r:id="rId21"/>
    <p:sldId id="275" r:id="rId22"/>
    <p:sldId id="284" r:id="rId23"/>
    <p:sldId id="287" r:id="rId24"/>
    <p:sldId id="285" r:id="rId25"/>
    <p:sldId id="286" r:id="rId26"/>
    <p:sldId id="276" r:id="rId27"/>
    <p:sldId id="288" r:id="rId28"/>
    <p:sldId id="277" r:id="rId29"/>
    <p:sldId id="278" r:id="rId30"/>
    <p:sldId id="279" r:id="rId31"/>
    <p:sldId id="280" r:id="rId32"/>
    <p:sldId id="281" r:id="rId33"/>
    <p:sldId id="282" r:id="rId34"/>
    <p:sldId id="292" r:id="rId35"/>
    <p:sldId id="291" r:id="rId36"/>
    <p:sldId id="294" r:id="rId37"/>
    <p:sldId id="290" r:id="rId38"/>
    <p:sldId id="295" r:id="rId39"/>
    <p:sldId id="293" r:id="rId4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1110" y="-96"/>
      </p:cViewPr>
      <p:guideLst>
        <p:guide orient="horz" pos="2160"/>
        <p:guide pos="2880"/>
      </p:guideLst>
    </p:cSldViewPr>
  </p:slideViewPr>
  <p:notesTextViewPr>
    <p:cViewPr>
      <p:scale>
        <a:sx n="1" d="1"/>
        <a:sy n="1" d="1"/>
      </p:scale>
      <p:origin x="0" y="0"/>
    </p:cViewPr>
  </p:notesTextViewPr>
  <p:sorterViewPr>
    <p:cViewPr>
      <p:scale>
        <a:sx n="100" d="100"/>
        <a:sy n="100" d="100"/>
      </p:scale>
      <p:origin x="0" y="502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6FA8C1-6457-4769-9618-915968914D6F}" type="datetimeFigureOut">
              <a:rPr lang="zh-TW" altLang="en-US" smtClean="0"/>
              <a:t>2011/12/12</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60C7AA-0885-464E-959D-A05661A36585}" type="slidenum">
              <a:rPr lang="zh-TW" altLang="en-US" smtClean="0"/>
              <a:t>‹#›</a:t>
            </a:fld>
            <a:endParaRPr lang="zh-TW" altLang="en-US"/>
          </a:p>
        </p:txBody>
      </p:sp>
    </p:spTree>
    <p:extLst>
      <p:ext uri="{BB962C8B-B14F-4D97-AF65-F5344CB8AC3E}">
        <p14:creationId xmlns:p14="http://schemas.microsoft.com/office/powerpoint/2010/main" val="4122679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62CB015A-7B6F-46FA-B8A4-806CAB0F6AD6}" type="datetime1">
              <a:rPr lang="zh-TW" altLang="en-US" smtClean="0"/>
              <a:t>2011/12/12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4EE35EF-5712-4DA8-A867-60964FABEE4F}" type="slidenum">
              <a:rPr lang="zh-TW" altLang="en-US" smtClean="0"/>
              <a:t>‹#›</a:t>
            </a:fld>
            <a:endParaRPr lang="zh-TW" altLang="en-US"/>
          </a:p>
        </p:txBody>
      </p:sp>
    </p:spTree>
    <p:extLst>
      <p:ext uri="{BB962C8B-B14F-4D97-AF65-F5344CB8AC3E}">
        <p14:creationId xmlns:p14="http://schemas.microsoft.com/office/powerpoint/2010/main" val="2967257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9BAD13E-97C5-4520-9A7C-E4E9502C7145}" type="datetime1">
              <a:rPr lang="zh-TW" altLang="en-US" smtClean="0"/>
              <a:t>2011/12/12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4EE35EF-5712-4DA8-A867-60964FABEE4F}" type="slidenum">
              <a:rPr lang="zh-TW" altLang="en-US" smtClean="0"/>
              <a:t>‹#›</a:t>
            </a:fld>
            <a:endParaRPr lang="zh-TW" altLang="en-US"/>
          </a:p>
        </p:txBody>
      </p:sp>
    </p:spTree>
    <p:extLst>
      <p:ext uri="{BB962C8B-B14F-4D97-AF65-F5344CB8AC3E}">
        <p14:creationId xmlns:p14="http://schemas.microsoft.com/office/powerpoint/2010/main" val="2361207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D027654F-9BA1-4CC4-8B2F-D08F20256DC9}" type="datetime1">
              <a:rPr lang="zh-TW" altLang="en-US" smtClean="0"/>
              <a:t>2011/12/12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4EE35EF-5712-4DA8-A867-60964FABEE4F}" type="slidenum">
              <a:rPr lang="zh-TW" altLang="en-US" smtClean="0"/>
              <a:t>‹#›</a:t>
            </a:fld>
            <a:endParaRPr lang="zh-TW" altLang="en-US"/>
          </a:p>
        </p:txBody>
      </p:sp>
    </p:spTree>
    <p:extLst>
      <p:ext uri="{BB962C8B-B14F-4D97-AF65-F5344CB8AC3E}">
        <p14:creationId xmlns:p14="http://schemas.microsoft.com/office/powerpoint/2010/main" val="4276787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916BF657-2EE5-4F4D-B85A-738A5218DBB7}" type="datetime1">
              <a:rPr lang="zh-TW" altLang="en-US" smtClean="0"/>
              <a:t>2011/12/12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4EE35EF-5712-4DA8-A867-60964FABEE4F}" type="slidenum">
              <a:rPr lang="zh-TW" altLang="en-US" smtClean="0"/>
              <a:t>‹#›</a:t>
            </a:fld>
            <a:endParaRPr lang="zh-TW" altLang="en-US"/>
          </a:p>
        </p:txBody>
      </p:sp>
    </p:spTree>
    <p:extLst>
      <p:ext uri="{BB962C8B-B14F-4D97-AF65-F5344CB8AC3E}">
        <p14:creationId xmlns:p14="http://schemas.microsoft.com/office/powerpoint/2010/main" val="3054184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4E4A2B1C-6775-4839-AE0F-3273B22049D4}" type="datetime1">
              <a:rPr lang="zh-TW" altLang="en-US" smtClean="0"/>
              <a:t>2011/12/12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84EE35EF-5712-4DA8-A867-60964FABEE4F}" type="slidenum">
              <a:rPr lang="zh-TW" altLang="en-US" smtClean="0"/>
              <a:t>‹#›</a:t>
            </a:fld>
            <a:endParaRPr lang="zh-TW" altLang="en-US"/>
          </a:p>
        </p:txBody>
      </p:sp>
    </p:spTree>
    <p:extLst>
      <p:ext uri="{BB962C8B-B14F-4D97-AF65-F5344CB8AC3E}">
        <p14:creationId xmlns:p14="http://schemas.microsoft.com/office/powerpoint/2010/main" val="68401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696CDD10-C5D4-4E51-BD0B-F095701C488B}" type="datetime1">
              <a:rPr lang="zh-TW" altLang="en-US" smtClean="0"/>
              <a:t>2011/12/12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84EE35EF-5712-4DA8-A867-60964FABEE4F}" type="slidenum">
              <a:rPr lang="zh-TW" altLang="en-US" smtClean="0"/>
              <a:t>‹#›</a:t>
            </a:fld>
            <a:endParaRPr lang="zh-TW" altLang="en-US"/>
          </a:p>
        </p:txBody>
      </p:sp>
    </p:spTree>
    <p:extLst>
      <p:ext uri="{BB962C8B-B14F-4D97-AF65-F5344CB8AC3E}">
        <p14:creationId xmlns:p14="http://schemas.microsoft.com/office/powerpoint/2010/main" val="151990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710E379D-5165-4EC0-9848-3FB5A4882D98}" type="datetime1">
              <a:rPr lang="zh-TW" altLang="en-US" smtClean="0"/>
              <a:t>2011/12/12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a:t>
            </a:fld>
            <a:endParaRPr lang="zh-TW" altLang="en-US"/>
          </a:p>
        </p:txBody>
      </p:sp>
    </p:spTree>
    <p:extLst>
      <p:ext uri="{BB962C8B-B14F-4D97-AF65-F5344CB8AC3E}">
        <p14:creationId xmlns:p14="http://schemas.microsoft.com/office/powerpoint/2010/main" val="490378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4E9BDB2E-94B9-4E94-A401-D17B929953C7}" type="datetime1">
              <a:rPr lang="zh-TW" altLang="en-US" smtClean="0"/>
              <a:t>2011/12/12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4EE35EF-5712-4DA8-A867-60964FABEE4F}" type="slidenum">
              <a:rPr lang="zh-TW" altLang="en-US" smtClean="0"/>
              <a:t>‹#›</a:t>
            </a:fld>
            <a:endParaRPr lang="zh-TW" altLang="en-US"/>
          </a:p>
        </p:txBody>
      </p:sp>
    </p:spTree>
    <p:extLst>
      <p:ext uri="{BB962C8B-B14F-4D97-AF65-F5344CB8AC3E}">
        <p14:creationId xmlns:p14="http://schemas.microsoft.com/office/powerpoint/2010/main" val="973538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B4F573B-2AC1-4E73-B82D-17A1C23DB11B}" type="datetime1">
              <a:rPr lang="zh-TW" altLang="en-US" smtClean="0"/>
              <a:t>2011/12/12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4EE35EF-5712-4DA8-A867-60964FABEE4F}" type="slidenum">
              <a:rPr lang="zh-TW" altLang="en-US" smtClean="0"/>
              <a:t>‹#›</a:t>
            </a:fld>
            <a:endParaRPr lang="zh-TW" altLang="en-US"/>
          </a:p>
        </p:txBody>
      </p:sp>
    </p:spTree>
    <p:extLst>
      <p:ext uri="{BB962C8B-B14F-4D97-AF65-F5344CB8AC3E}">
        <p14:creationId xmlns:p14="http://schemas.microsoft.com/office/powerpoint/2010/main" val="3084283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1228ED9-4801-491F-850A-2767A03432B7}" type="datetime1">
              <a:rPr lang="zh-TW" altLang="en-US" smtClean="0"/>
              <a:t>2011/12/12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4EE35EF-5712-4DA8-A867-60964FABEE4F}" type="slidenum">
              <a:rPr lang="zh-TW" altLang="en-US" smtClean="0"/>
              <a:t>‹#›</a:t>
            </a:fld>
            <a:endParaRPr lang="zh-TW" altLang="en-US"/>
          </a:p>
        </p:txBody>
      </p:sp>
    </p:spTree>
    <p:extLst>
      <p:ext uri="{BB962C8B-B14F-4D97-AF65-F5344CB8AC3E}">
        <p14:creationId xmlns:p14="http://schemas.microsoft.com/office/powerpoint/2010/main" val="353588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1CABCFB-018D-4851-9DC3-D16555D2C7C5}" type="datetime1">
              <a:rPr lang="zh-TW" altLang="en-US" smtClean="0"/>
              <a:t>2011/12/12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4EE35EF-5712-4DA8-A867-60964FABEE4F}" type="slidenum">
              <a:rPr lang="zh-TW" altLang="en-US" smtClean="0"/>
              <a:t>‹#›</a:t>
            </a:fld>
            <a:endParaRPr lang="zh-TW" altLang="en-US"/>
          </a:p>
        </p:txBody>
      </p:sp>
    </p:spTree>
    <p:extLst>
      <p:ext uri="{BB962C8B-B14F-4D97-AF65-F5344CB8AC3E}">
        <p14:creationId xmlns:p14="http://schemas.microsoft.com/office/powerpoint/2010/main" val="725724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1C798F-70FC-41C3-92B0-F111301412B7}" type="datetime1">
              <a:rPr lang="zh-TW" altLang="en-US" smtClean="0"/>
              <a:t>2011/12/12</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EE35EF-5712-4DA8-A867-60964FABEE4F}" type="slidenum">
              <a:rPr lang="zh-TW" altLang="en-US" smtClean="0"/>
              <a:t>‹#›</a:t>
            </a:fld>
            <a:endParaRPr lang="zh-TW" altLang="en-US"/>
          </a:p>
        </p:txBody>
      </p:sp>
    </p:spTree>
    <p:extLst>
      <p:ext uri="{BB962C8B-B14F-4D97-AF65-F5344CB8AC3E}">
        <p14:creationId xmlns:p14="http://schemas.microsoft.com/office/powerpoint/2010/main" val="2105045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emf"/><Relationship Id="rId4" Type="http://schemas.openxmlformats.org/officeDocument/2006/relationships/image" Target="../media/image9.emf"/></Relationships>
</file>

<file path=ppt/slides/_rels/slide2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7.xml"/><Relationship Id="rId4" Type="http://schemas.openxmlformats.org/officeDocument/2006/relationships/image" Target="../media/image17.emf"/></Relationships>
</file>

<file path=ppt/slides/_rels/slide2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smtClean="0"/>
              <a:t>運用 </a:t>
            </a:r>
            <a:r>
              <a:rPr lang="en-US" altLang="zh-TW" dirty="0" smtClean="0"/>
              <a:t>CUDA </a:t>
            </a:r>
            <a:r>
              <a:rPr lang="zh-TW" altLang="en-US" dirty="0" smtClean="0"/>
              <a:t>平行處理技術實現</a:t>
            </a:r>
            <a:r>
              <a:rPr lang="en-US" altLang="zh-TW" dirty="0" smtClean="0"/>
              <a:t/>
            </a:r>
            <a:br>
              <a:rPr lang="en-US" altLang="zh-TW" dirty="0" smtClean="0"/>
            </a:br>
            <a:r>
              <a:rPr lang="zh-TW" altLang="en-US" dirty="0" smtClean="0"/>
              <a:t>蛋白質表面測地線特徵比對</a:t>
            </a:r>
            <a:endParaRPr lang="zh-TW" altLang="en-US" dirty="0"/>
          </a:p>
        </p:txBody>
      </p:sp>
      <p:sp>
        <p:nvSpPr>
          <p:cNvPr id="3" name="副標題 2"/>
          <p:cNvSpPr>
            <a:spLocks noGrp="1"/>
          </p:cNvSpPr>
          <p:nvPr>
            <p:ph type="subTitle" idx="1"/>
          </p:nvPr>
        </p:nvSpPr>
        <p:spPr/>
        <p:txBody>
          <a:bodyPr>
            <a:noAutofit/>
          </a:bodyPr>
          <a:lstStyle/>
          <a:p>
            <a:r>
              <a:rPr lang="zh-TW" altLang="en-US" sz="2000" dirty="0" smtClean="0"/>
              <a:t>陳天盛、羅英倉、白敦文*</a:t>
            </a:r>
          </a:p>
          <a:p>
            <a:r>
              <a:rPr lang="zh-TW" altLang="en-US" sz="2000" dirty="0" smtClean="0"/>
              <a:t>國立臺灣海洋大學資訊工程學系</a:t>
            </a:r>
          </a:p>
          <a:p>
            <a:r>
              <a:rPr lang="en-US" altLang="zh-TW" sz="2000" dirty="0" smtClean="0"/>
              <a:t>2011 National Computer Symposium p120-131</a:t>
            </a:r>
          </a:p>
          <a:p>
            <a:r>
              <a:rPr lang="en-US" altLang="zh-TW" sz="2000" dirty="0" smtClean="0"/>
              <a:t>Presenter: Yi-</a:t>
            </a:r>
            <a:r>
              <a:rPr lang="en-US" altLang="zh-TW" sz="2000" dirty="0" err="1" smtClean="0"/>
              <a:t>Pu</a:t>
            </a:r>
            <a:r>
              <a:rPr lang="en-US" altLang="zh-TW" sz="2000" dirty="0" smtClean="0"/>
              <a:t> </a:t>
            </a:r>
            <a:r>
              <a:rPr lang="en-US" altLang="zh-TW" sz="2000" dirty="0" err="1" smtClean="0"/>
              <a:t>Guo</a:t>
            </a:r>
            <a:endParaRPr lang="en-US" altLang="zh-TW" sz="2000" dirty="0" smtClean="0"/>
          </a:p>
          <a:p>
            <a:r>
              <a:rPr lang="en-US" altLang="zh-TW" sz="2000" dirty="0" smtClean="0"/>
              <a:t>2011/12/12</a:t>
            </a:r>
          </a:p>
          <a:p>
            <a:endParaRPr lang="zh-TW" altLang="en-US" sz="2000"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1</a:t>
            </a:fld>
            <a:endParaRPr lang="zh-TW" altLang="en-US"/>
          </a:p>
        </p:txBody>
      </p:sp>
    </p:spTree>
    <p:extLst>
      <p:ext uri="{BB962C8B-B14F-4D97-AF65-F5344CB8AC3E}">
        <p14:creationId xmlns:p14="http://schemas.microsoft.com/office/powerpoint/2010/main" val="18151270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(1/2)</a:t>
            </a:r>
            <a:endParaRPr lang="zh-TW" altLang="en-US" dirty="0"/>
          </a:p>
        </p:txBody>
      </p:sp>
      <p:sp>
        <p:nvSpPr>
          <p:cNvPr id="3" name="內容版面配置區 2"/>
          <p:cNvSpPr>
            <a:spLocks noGrp="1"/>
          </p:cNvSpPr>
          <p:nvPr>
            <p:ph idx="1"/>
          </p:nvPr>
        </p:nvSpPr>
        <p:spPr/>
        <p:txBody>
          <a:bodyPr>
            <a:normAutofit/>
          </a:bodyPr>
          <a:lstStyle/>
          <a:p>
            <a:pPr marL="0" indent="432000">
              <a:lnSpc>
                <a:spcPct val="150000"/>
              </a:lnSpc>
              <a:buNone/>
            </a:pPr>
            <a:r>
              <a:rPr lang="en-US" altLang="zh-TW" sz="2000" dirty="0" smtClean="0"/>
              <a:t>The conformation of a protein structure is strongly related to its biological functions. For </a:t>
            </a:r>
            <a:r>
              <a:rPr lang="en-US" altLang="zh-TW" sz="2000" dirty="0" err="1" smtClean="0"/>
              <a:t>bioinformaticians</a:t>
            </a:r>
            <a:r>
              <a:rPr lang="en-US" altLang="zh-TW" sz="2000" dirty="0" smtClean="0"/>
              <a:t> and structure biologists, comparing topologies or surface conformations among structures is the most intuitive approach to verify or predict protein functions. Geodesic distance is one of the best deformation invariant features for protein surface comparison, which allows two deformed structures possessing conserved shape descriptors. However, the computational complexity for creating geodesic distance features is still a challenging and time-consuming work.</a:t>
            </a:r>
            <a:endParaRPr lang="zh-TW" altLang="en-US" sz="2000"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2</a:t>
            </a:fld>
            <a:endParaRPr lang="zh-TW" altLang="en-US"/>
          </a:p>
        </p:txBody>
      </p:sp>
    </p:spTree>
    <p:extLst>
      <p:ext uri="{BB962C8B-B14F-4D97-AF65-F5344CB8AC3E}">
        <p14:creationId xmlns:p14="http://schemas.microsoft.com/office/powerpoint/2010/main" val="3974299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Abstract (2/2)</a:t>
            </a:r>
            <a:endParaRPr lang="zh-TW" altLang="en-US" dirty="0"/>
          </a:p>
        </p:txBody>
      </p:sp>
      <p:sp>
        <p:nvSpPr>
          <p:cNvPr id="3" name="內容版面配置區 2"/>
          <p:cNvSpPr>
            <a:spLocks noGrp="1"/>
          </p:cNvSpPr>
          <p:nvPr>
            <p:ph idx="1"/>
          </p:nvPr>
        </p:nvSpPr>
        <p:spPr/>
        <p:txBody>
          <a:bodyPr>
            <a:normAutofit/>
          </a:bodyPr>
          <a:lstStyle/>
          <a:p>
            <a:pPr marL="0" indent="0">
              <a:lnSpc>
                <a:spcPct val="150000"/>
              </a:lnSpc>
              <a:buNone/>
            </a:pPr>
            <a:r>
              <a:rPr lang="en-US" altLang="zh-TW" sz="2000" dirty="0" smtClean="0"/>
              <a:t>Hence, this study applied CUDA parallel computing architecture to reduce required computational time. By combining geodesic distance characteristics and CUDA technologies, the proposed system is able to provide a robust and efficient system for protein surface comparison and classification. A testing dataset from 3D domain swapping proteins was employed in this study for system verification. According to the experimental results, the proposed shape features not only facilitated the identification of deformed proteins but also achieved a 52-fold improvement by utilizing the CUDA algorithms.</a:t>
            </a:r>
            <a:endParaRPr lang="zh-TW" altLang="en-US" sz="2000"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3</a:t>
            </a:fld>
            <a:endParaRPr lang="zh-TW" altLang="en-US"/>
          </a:p>
        </p:txBody>
      </p:sp>
    </p:spTree>
    <p:extLst>
      <p:ext uri="{BB962C8B-B14F-4D97-AF65-F5344CB8AC3E}">
        <p14:creationId xmlns:p14="http://schemas.microsoft.com/office/powerpoint/2010/main" val="9702535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背景介紹</a:t>
            </a:r>
            <a:endParaRPr lang="zh-TW" altLang="en-US" dirty="0"/>
          </a:p>
        </p:txBody>
      </p:sp>
      <p:sp>
        <p:nvSpPr>
          <p:cNvPr id="3" name="內容版面配置區 2"/>
          <p:cNvSpPr>
            <a:spLocks noGrp="1"/>
          </p:cNvSpPr>
          <p:nvPr>
            <p:ph idx="1"/>
          </p:nvPr>
        </p:nvSpPr>
        <p:spPr/>
        <p:txBody>
          <a:bodyPr/>
          <a:lstStyle/>
          <a:p>
            <a:pPr>
              <a:lnSpc>
                <a:spcPct val="150000"/>
              </a:lnSpc>
            </a:pPr>
            <a:r>
              <a:rPr lang="zh-TW" altLang="en-US" dirty="0" smtClean="0"/>
              <a:t>蛋白質序列的研究有不錯的成果。</a:t>
            </a:r>
            <a:endParaRPr lang="en-US" altLang="zh-TW" dirty="0" smtClean="0"/>
          </a:p>
          <a:p>
            <a:pPr>
              <a:lnSpc>
                <a:spcPct val="150000"/>
              </a:lnSpc>
            </a:pPr>
            <a:r>
              <a:rPr lang="zh-TW" altLang="en-US" dirty="0" smtClean="0"/>
              <a:t>但是，蛋白質結構資訊的研究仍相對少數，</a:t>
            </a:r>
            <a:r>
              <a:rPr lang="en-US" altLang="zh-TW" dirty="0" smtClean="0"/>
              <a:t/>
            </a:r>
            <a:br>
              <a:rPr lang="en-US" altLang="zh-TW" dirty="0" smtClean="0"/>
            </a:br>
            <a:r>
              <a:rPr lang="zh-TW" altLang="en-US" dirty="0" smtClean="0"/>
              <a:t>尤其著重於蛋白質表面結構更少有。</a:t>
            </a:r>
            <a:endParaRPr lang="en-US" altLang="zh-TW" dirty="0" smtClean="0"/>
          </a:p>
          <a:p>
            <a:pPr>
              <a:lnSpc>
                <a:spcPct val="150000"/>
              </a:lnSpc>
            </a:pPr>
            <a:r>
              <a:rPr lang="zh-TW" altLang="en-US" dirty="0" smtClean="0"/>
              <a:t>主要因為：蛋白質於幾何空間的結合構型具動態性及變易性，增加研究困難度。</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4</a:t>
            </a:fld>
            <a:endParaRPr lang="zh-TW" altLang="en-US"/>
          </a:p>
        </p:txBody>
      </p:sp>
    </p:spTree>
    <p:extLst>
      <p:ext uri="{BB962C8B-B14F-4D97-AF65-F5344CB8AC3E}">
        <p14:creationId xmlns:p14="http://schemas.microsoft.com/office/powerpoint/2010/main" val="4987445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研究目標</a:t>
            </a:r>
            <a:endParaRPr lang="zh-TW" altLang="en-US" dirty="0"/>
          </a:p>
        </p:txBody>
      </p:sp>
      <p:sp>
        <p:nvSpPr>
          <p:cNvPr id="3" name="內容版面配置區 2"/>
          <p:cNvSpPr>
            <a:spLocks noGrp="1"/>
          </p:cNvSpPr>
          <p:nvPr>
            <p:ph idx="1"/>
          </p:nvPr>
        </p:nvSpPr>
        <p:spPr/>
        <p:txBody>
          <a:bodyPr>
            <a:normAutofit lnSpcReduction="10000"/>
          </a:bodyPr>
          <a:lstStyle/>
          <a:p>
            <a:pPr>
              <a:lnSpc>
                <a:spcPct val="150000"/>
              </a:lnSpc>
            </a:pPr>
            <a:r>
              <a:rPr lang="zh-TW" altLang="en-US" dirty="0" smtClean="0"/>
              <a:t>對蛋白質立體結構的動態表面，進行比對研究。開發可以容忍表面構型變化的分析系統。</a:t>
            </a:r>
            <a:endParaRPr lang="en-US" altLang="zh-TW" dirty="0" smtClean="0"/>
          </a:p>
          <a:p>
            <a:pPr>
              <a:lnSpc>
                <a:spcPct val="150000"/>
              </a:lnSpc>
            </a:pPr>
            <a:r>
              <a:rPr lang="zh-TW" altLang="en-US" dirty="0" smtClean="0"/>
              <a:t>需運用龐大的硬體資源與較長的時間。</a:t>
            </a:r>
            <a:r>
              <a:rPr lang="en-US" altLang="zh-TW" dirty="0" smtClean="0"/>
              <a:t/>
            </a:r>
            <a:br>
              <a:rPr lang="en-US" altLang="zh-TW" dirty="0" smtClean="0"/>
            </a:br>
            <a:r>
              <a:rPr lang="zh-TW" altLang="en-US" dirty="0" smtClean="0"/>
              <a:t>於是導入 </a:t>
            </a:r>
            <a:r>
              <a:rPr lang="en-US" altLang="zh-TW" dirty="0" smtClean="0"/>
              <a:t>NVIDIA </a:t>
            </a:r>
            <a:r>
              <a:rPr lang="zh-TW" altLang="en-US" dirty="0" smtClean="0"/>
              <a:t>的 </a:t>
            </a:r>
            <a:r>
              <a:rPr lang="en-US" altLang="zh-TW" dirty="0"/>
              <a:t>CUDA (Compute Unified Device Architecture</a:t>
            </a:r>
            <a:r>
              <a:rPr lang="en-US" altLang="zh-TW" dirty="0" smtClean="0"/>
              <a:t>) </a:t>
            </a:r>
            <a:r>
              <a:rPr lang="zh-TW" altLang="en-US" dirty="0" smtClean="0"/>
              <a:t>平行運算架構。</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5</a:t>
            </a:fld>
            <a:endParaRPr lang="zh-TW" altLang="en-US"/>
          </a:p>
        </p:txBody>
      </p:sp>
    </p:spTree>
    <p:extLst>
      <p:ext uri="{BB962C8B-B14F-4D97-AF65-F5344CB8AC3E}">
        <p14:creationId xmlns:p14="http://schemas.microsoft.com/office/powerpoint/2010/main" val="18322568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文獻回顧與討論 </a:t>
            </a:r>
            <a:r>
              <a:rPr lang="en-US" altLang="zh-TW" dirty="0" smtClean="0"/>
              <a:t>(1/2)</a:t>
            </a:r>
            <a:endParaRPr lang="zh-TW" altLang="en-US" dirty="0"/>
          </a:p>
        </p:txBody>
      </p:sp>
      <p:sp>
        <p:nvSpPr>
          <p:cNvPr id="5" name="內容版面配置區 4"/>
          <p:cNvSpPr>
            <a:spLocks noGrp="1"/>
          </p:cNvSpPr>
          <p:nvPr>
            <p:ph idx="1"/>
          </p:nvPr>
        </p:nvSpPr>
        <p:spPr/>
        <p:txBody>
          <a:bodyPr/>
          <a:lstStyle/>
          <a:p>
            <a:pPr>
              <a:lnSpc>
                <a:spcPct val="150000"/>
              </a:lnSpc>
            </a:pPr>
            <a:r>
              <a:rPr lang="zh-TW" altLang="en-US" dirty="0" smtClean="0"/>
              <a:t>早期都將蛋白質結構假設為 剛體。近年來開始注重蛋白質結構及表面為動態的特性，而確實能夠提昇分析正確性。</a:t>
            </a:r>
            <a:endParaRPr lang="en-US" altLang="zh-TW" dirty="0" smtClean="0"/>
          </a:p>
          <a:p>
            <a:pPr>
              <a:lnSpc>
                <a:spcPct val="150000"/>
              </a:lnSpc>
            </a:pPr>
            <a:r>
              <a:rPr lang="zh-TW" altLang="en-US" dirty="0" smtClean="0"/>
              <a:t>尋求「在表面結構形狀改變後，仍可保持其原有構形」的特徵。</a:t>
            </a:r>
            <a:endParaRPr lang="zh-TW" altLang="en-US" dirty="0"/>
          </a:p>
        </p:txBody>
      </p:sp>
      <p:sp>
        <p:nvSpPr>
          <p:cNvPr id="3" name="投影片編號版面配置區 2"/>
          <p:cNvSpPr>
            <a:spLocks noGrp="1"/>
          </p:cNvSpPr>
          <p:nvPr>
            <p:ph type="sldNum" sz="quarter" idx="12"/>
          </p:nvPr>
        </p:nvSpPr>
        <p:spPr/>
        <p:txBody>
          <a:bodyPr/>
          <a:lstStyle/>
          <a:p>
            <a:fld id="{84EE35EF-5712-4DA8-A867-60964FABEE4F}" type="slidenum">
              <a:rPr lang="zh-TW" altLang="en-US" smtClean="0"/>
              <a:t>6</a:t>
            </a:fld>
            <a:endParaRPr lang="zh-TW" altLang="en-US"/>
          </a:p>
        </p:txBody>
      </p:sp>
    </p:spTree>
    <p:extLst>
      <p:ext uri="{BB962C8B-B14F-4D97-AF65-F5344CB8AC3E}">
        <p14:creationId xmlns:p14="http://schemas.microsoft.com/office/powerpoint/2010/main" val="18235977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文獻回顧與討論 </a:t>
            </a:r>
            <a:r>
              <a:rPr lang="en-US" altLang="zh-TW" smtClean="0"/>
              <a:t>(2/2)</a:t>
            </a:r>
            <a:endParaRPr lang="zh-TW" altLang="en-US" dirty="0"/>
          </a:p>
        </p:txBody>
      </p:sp>
      <p:sp>
        <p:nvSpPr>
          <p:cNvPr id="3" name="內容版面配置區 2"/>
          <p:cNvSpPr>
            <a:spLocks noGrp="1"/>
          </p:cNvSpPr>
          <p:nvPr>
            <p:ph idx="1"/>
          </p:nvPr>
        </p:nvSpPr>
        <p:spPr/>
        <p:txBody>
          <a:bodyPr/>
          <a:lstStyle/>
          <a:p>
            <a:pPr>
              <a:lnSpc>
                <a:spcPct val="150000"/>
              </a:lnSpc>
            </a:pPr>
            <a:r>
              <a:rPr lang="zh-TW" altLang="en-US" dirty="0" smtClean="0"/>
              <a:t>測地線距離特徵 正具有形變不變性 </a:t>
            </a:r>
            <a:r>
              <a:rPr lang="en-US" altLang="zh-TW" dirty="0" smtClean="0"/>
              <a:t>(deformation invariant)</a:t>
            </a:r>
            <a:r>
              <a:rPr lang="zh-TW" altLang="en-US" dirty="0" smtClean="0"/>
              <a:t>。</a:t>
            </a:r>
            <a:endParaRPr lang="en-US" altLang="zh-TW" dirty="0" smtClean="0"/>
          </a:p>
          <a:p>
            <a:pPr>
              <a:lnSpc>
                <a:spcPct val="150000"/>
              </a:lnSpc>
            </a:pPr>
            <a:r>
              <a:rPr lang="zh-TW" altLang="en-US" dirty="0" smtClean="0"/>
              <a:t>美中不足處：需計算每一點到所有其他表面點的表面最短距離。</a:t>
            </a:r>
            <a:r>
              <a:rPr lang="en-US" altLang="zh-TW" dirty="0" smtClean="0"/>
              <a:t/>
            </a:r>
            <a:br>
              <a:rPr lang="en-US" altLang="zh-TW" dirty="0" smtClean="0"/>
            </a:br>
            <a:r>
              <a:rPr lang="zh-TW" altLang="en-US" dirty="0" smtClean="0"/>
              <a:t>→ 過程繁雜，執行費時。</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7</a:t>
            </a:fld>
            <a:endParaRPr lang="zh-TW" altLang="en-US"/>
          </a:p>
        </p:txBody>
      </p:sp>
    </p:spTree>
    <p:extLst>
      <p:ext uri="{BB962C8B-B14F-4D97-AF65-F5344CB8AC3E}">
        <p14:creationId xmlns:p14="http://schemas.microsoft.com/office/powerpoint/2010/main" val="40586381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研究技術介紹</a:t>
            </a:r>
            <a:endParaRPr lang="zh-TW" altLang="en-US" dirty="0"/>
          </a:p>
        </p:txBody>
      </p:sp>
      <p:sp>
        <p:nvSpPr>
          <p:cNvPr id="7" name="文字版面配置區 6"/>
          <p:cNvSpPr>
            <a:spLocks noGrp="1"/>
          </p:cNvSpPr>
          <p:nvPr>
            <p:ph type="body" idx="1"/>
          </p:nvPr>
        </p:nvSpPr>
        <p:spPr/>
        <p:txBody>
          <a:bodyPr/>
          <a:lstStyle/>
          <a:p>
            <a:endParaRPr lang="zh-TW" altLang="en-US"/>
          </a:p>
        </p:txBody>
      </p:sp>
      <p:sp>
        <p:nvSpPr>
          <p:cNvPr id="3" name="投影片編號版面配置區 2"/>
          <p:cNvSpPr>
            <a:spLocks noGrp="1"/>
          </p:cNvSpPr>
          <p:nvPr>
            <p:ph type="sldNum" sz="quarter" idx="12"/>
          </p:nvPr>
        </p:nvSpPr>
        <p:spPr/>
        <p:txBody>
          <a:bodyPr/>
          <a:lstStyle/>
          <a:p>
            <a:fld id="{84EE35EF-5712-4DA8-A867-60964FABEE4F}" type="slidenum">
              <a:rPr lang="zh-TW" altLang="en-US" smtClean="0"/>
              <a:t>8</a:t>
            </a:fld>
            <a:endParaRPr lang="zh-TW" altLang="en-US"/>
          </a:p>
        </p:txBody>
      </p:sp>
    </p:spTree>
    <p:extLst>
      <p:ext uri="{BB962C8B-B14F-4D97-AF65-F5344CB8AC3E}">
        <p14:creationId xmlns:p14="http://schemas.microsoft.com/office/powerpoint/2010/main" val="11297252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測地線距離特徵</a:t>
            </a:r>
            <a:endParaRPr lang="zh-TW" altLang="en-US" dirty="0"/>
          </a:p>
        </p:txBody>
      </p:sp>
      <p:sp>
        <p:nvSpPr>
          <p:cNvPr id="3" name="內容版面配置區 2"/>
          <p:cNvSpPr>
            <a:spLocks noGrp="1"/>
          </p:cNvSpPr>
          <p:nvPr>
            <p:ph idx="1"/>
          </p:nvPr>
        </p:nvSpPr>
        <p:spPr/>
        <p:txBody>
          <a:bodyPr/>
          <a:lstStyle/>
          <a:p>
            <a:pPr marL="0" indent="0">
              <a:lnSpc>
                <a:spcPct val="150000"/>
              </a:lnSpc>
              <a:buNone/>
            </a:pPr>
            <a:r>
              <a:rPr lang="zh-TW" altLang="en-US" dirty="0" smtClean="0"/>
              <a:t>測地線距離 </a:t>
            </a:r>
            <a:r>
              <a:rPr lang="en-US" altLang="zh-TW" dirty="0" smtClean="0"/>
              <a:t>(Geodesic Distance)</a:t>
            </a:r>
          </a:p>
          <a:p>
            <a:pPr marL="0" indent="0">
              <a:lnSpc>
                <a:spcPct val="150000"/>
              </a:lnSpc>
              <a:buNone/>
            </a:pPr>
            <a:r>
              <a:rPr lang="zh-TW" altLang="en-US" dirty="0" smtClean="0"/>
              <a:t>定義：空間中兩點，沿著扭曲表面上空間最短行進距離的路徑。</a:t>
            </a:r>
            <a:endParaRPr lang="en-US" altLang="zh-TW" dirty="0" smtClean="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9</a:t>
            </a:fld>
            <a:endParaRPr lang="zh-TW" altLang="en-US"/>
          </a:p>
        </p:txBody>
      </p:sp>
    </p:spTree>
    <p:extLst>
      <p:ext uri="{BB962C8B-B14F-4D97-AF65-F5344CB8AC3E}">
        <p14:creationId xmlns:p14="http://schemas.microsoft.com/office/powerpoint/2010/main" val="37866832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913" y="908720"/>
            <a:ext cx="7496175" cy="362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字方塊 1"/>
          <p:cNvSpPr txBox="1"/>
          <p:nvPr/>
        </p:nvSpPr>
        <p:spPr>
          <a:xfrm>
            <a:off x="1248013" y="5147900"/>
            <a:ext cx="6647974" cy="369332"/>
          </a:xfrm>
          <a:prstGeom prst="rect">
            <a:avLst/>
          </a:prstGeom>
          <a:noFill/>
        </p:spPr>
        <p:txBody>
          <a:bodyPr wrap="none" rtlCol="0">
            <a:spAutoFit/>
          </a:bodyPr>
          <a:lstStyle/>
          <a:p>
            <a:r>
              <a:rPr lang="zh-TW" altLang="en-US" dirty="0" smtClean="0"/>
              <a:t>在拓撲結構不變的情況下，各點間相對的測地線距離依然相等。</a:t>
            </a:r>
            <a:endParaRPr lang="zh-TW" altLang="en-US" dirty="0"/>
          </a:p>
        </p:txBody>
      </p:sp>
      <p:sp>
        <p:nvSpPr>
          <p:cNvPr id="3" name="投影片編號版面配置區 2"/>
          <p:cNvSpPr>
            <a:spLocks noGrp="1"/>
          </p:cNvSpPr>
          <p:nvPr>
            <p:ph type="sldNum" sz="quarter" idx="12"/>
          </p:nvPr>
        </p:nvSpPr>
        <p:spPr/>
        <p:txBody>
          <a:bodyPr/>
          <a:lstStyle/>
          <a:p>
            <a:fld id="{84EE35EF-5712-4DA8-A867-60964FABEE4F}" type="slidenum">
              <a:rPr lang="zh-TW" altLang="en-US" smtClean="0"/>
              <a:t>10</a:t>
            </a:fld>
            <a:endParaRPr lang="zh-TW" altLang="en-US"/>
          </a:p>
        </p:txBody>
      </p:sp>
    </p:spTree>
    <p:extLst>
      <p:ext uri="{BB962C8B-B14F-4D97-AF65-F5344CB8AC3E}">
        <p14:creationId xmlns:p14="http://schemas.microsoft.com/office/powerpoint/2010/main" val="1410318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CUDA </a:t>
            </a:r>
            <a:r>
              <a:rPr lang="zh-TW" altLang="en-US" dirty="0" smtClean="0"/>
              <a:t>平行運算技術</a:t>
            </a:r>
            <a:endParaRPr lang="zh-TW" altLang="en-US" dirty="0"/>
          </a:p>
        </p:txBody>
      </p:sp>
      <p:sp>
        <p:nvSpPr>
          <p:cNvPr id="3" name="內容版面配置區 2"/>
          <p:cNvSpPr>
            <a:spLocks noGrp="1"/>
          </p:cNvSpPr>
          <p:nvPr>
            <p:ph idx="1"/>
          </p:nvPr>
        </p:nvSpPr>
        <p:spPr/>
        <p:txBody>
          <a:bodyPr/>
          <a:lstStyle/>
          <a:p>
            <a:pPr marL="0" indent="0">
              <a:lnSpc>
                <a:spcPct val="150000"/>
              </a:lnSpc>
              <a:buNone/>
            </a:pPr>
            <a:r>
              <a:rPr lang="en-US" altLang="zh-TW" dirty="0" smtClean="0"/>
              <a:t>Compute Unified Device Architecture (CUDA)</a:t>
            </a:r>
          </a:p>
          <a:p>
            <a:pPr>
              <a:lnSpc>
                <a:spcPct val="150000"/>
              </a:lnSpc>
            </a:pPr>
            <a:r>
              <a:rPr lang="zh-TW" altLang="en-US" dirty="0" smtClean="0"/>
              <a:t>知名 </a:t>
            </a:r>
            <a:r>
              <a:rPr lang="en-US" altLang="zh-TW" dirty="0" smtClean="0"/>
              <a:t>GPU </a:t>
            </a:r>
            <a:r>
              <a:rPr lang="zh-TW" altLang="en-US" dirty="0" smtClean="0"/>
              <a:t>供應商 </a:t>
            </a:r>
            <a:r>
              <a:rPr lang="en-US" altLang="zh-TW" dirty="0" smtClean="0"/>
              <a:t>NVIDIA </a:t>
            </a:r>
            <a:r>
              <a:rPr lang="zh-TW" altLang="en-US" dirty="0" smtClean="0"/>
              <a:t>開發。</a:t>
            </a:r>
            <a:endParaRPr lang="en-US" altLang="zh-TW" dirty="0" smtClean="0"/>
          </a:p>
          <a:p>
            <a:pPr>
              <a:lnSpc>
                <a:spcPct val="150000"/>
              </a:lnSpc>
            </a:pPr>
            <a:r>
              <a:rPr lang="zh-TW" altLang="en-US" dirty="0" smtClean="0"/>
              <a:t>利用 </a:t>
            </a:r>
            <a:r>
              <a:rPr lang="en-US" altLang="zh-TW" dirty="0" smtClean="0"/>
              <a:t>GPU </a:t>
            </a:r>
            <a:r>
              <a:rPr lang="zh-TW" altLang="en-US" dirty="0" smtClean="0"/>
              <a:t>來平行運算。</a:t>
            </a:r>
            <a:endParaRPr lang="en-US" altLang="zh-TW" dirty="0" smtClean="0"/>
          </a:p>
          <a:p>
            <a:pPr>
              <a:lnSpc>
                <a:spcPct val="150000"/>
              </a:lnSpc>
            </a:pPr>
            <a:r>
              <a:rPr lang="zh-TW" altLang="en-US" dirty="0" smtClean="0"/>
              <a:t>可使用 </a:t>
            </a:r>
            <a:r>
              <a:rPr lang="en-US" altLang="zh-TW" dirty="0" smtClean="0"/>
              <a:t>FROTRAN</a:t>
            </a:r>
            <a:r>
              <a:rPr lang="zh-TW" altLang="en-US" dirty="0" smtClean="0"/>
              <a:t>、</a:t>
            </a:r>
            <a:r>
              <a:rPr lang="en-US" altLang="zh-TW" dirty="0" smtClean="0"/>
              <a:t>C</a:t>
            </a:r>
            <a:r>
              <a:rPr lang="zh-TW" altLang="en-US" dirty="0" smtClean="0"/>
              <a:t>、</a:t>
            </a:r>
            <a:r>
              <a:rPr lang="en-US" altLang="zh-TW" dirty="0" smtClean="0"/>
              <a:t>C++ </a:t>
            </a:r>
            <a:r>
              <a:rPr lang="zh-TW" altLang="en-US" dirty="0" smtClean="0"/>
              <a:t>等語言，經由 </a:t>
            </a:r>
            <a:r>
              <a:rPr lang="en-US" altLang="zh-TW" dirty="0" smtClean="0"/>
              <a:t>NVCC </a:t>
            </a:r>
            <a:r>
              <a:rPr lang="zh-TW" altLang="en-US" dirty="0" smtClean="0"/>
              <a:t>編譯成 </a:t>
            </a:r>
            <a:r>
              <a:rPr lang="en-US" altLang="zh-TW" dirty="0" smtClean="0"/>
              <a:t>CUDA </a:t>
            </a:r>
            <a:r>
              <a:rPr lang="zh-TW" altLang="en-US" dirty="0" smtClean="0"/>
              <a:t>程式。</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11</a:t>
            </a:fld>
            <a:endParaRPr lang="zh-TW" altLang="en-US"/>
          </a:p>
        </p:txBody>
      </p:sp>
    </p:spTree>
    <p:extLst>
      <p:ext uri="{BB962C8B-B14F-4D97-AF65-F5344CB8AC3E}">
        <p14:creationId xmlns:p14="http://schemas.microsoft.com/office/powerpoint/2010/main" val="645723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研究方法與步驟</a:t>
            </a:r>
            <a:endParaRPr lang="zh-TW" altLang="en-US" dirty="0"/>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12</a:t>
            </a:fld>
            <a:endParaRPr lang="zh-TW" altLang="en-US"/>
          </a:p>
        </p:txBody>
      </p:sp>
    </p:spTree>
    <p:extLst>
      <p:ext uri="{BB962C8B-B14F-4D97-AF65-F5344CB8AC3E}">
        <p14:creationId xmlns:p14="http://schemas.microsoft.com/office/powerpoint/2010/main" val="2703049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流程步驟</a:t>
            </a:r>
            <a:endParaRPr lang="zh-TW" altLang="en-US" dirty="0"/>
          </a:p>
        </p:txBody>
      </p:sp>
      <p:sp>
        <p:nvSpPr>
          <p:cNvPr id="3" name="內容版面配置區 2"/>
          <p:cNvSpPr>
            <a:spLocks noGrp="1"/>
          </p:cNvSpPr>
          <p:nvPr>
            <p:ph idx="1"/>
          </p:nvPr>
        </p:nvSpPr>
        <p:spPr/>
        <p:txBody>
          <a:bodyPr>
            <a:normAutofit/>
          </a:bodyPr>
          <a:lstStyle/>
          <a:p>
            <a:pPr marL="514350" indent="-514350">
              <a:buFont typeface="+mj-lt"/>
              <a:buAutoNum type="arabicPeriod"/>
            </a:pPr>
            <a:r>
              <a:rPr lang="zh-TW" altLang="en-US" sz="2800" dirty="0"/>
              <a:t>輸入 </a:t>
            </a:r>
            <a:r>
              <a:rPr lang="en-US" altLang="zh-TW" sz="2800" dirty="0"/>
              <a:t>PDB </a:t>
            </a:r>
            <a:r>
              <a:rPr lang="zh-TW" altLang="en-US" sz="2800" dirty="0"/>
              <a:t>檔</a:t>
            </a:r>
          </a:p>
          <a:p>
            <a:pPr marL="514350" indent="-514350">
              <a:buFont typeface="+mj-lt"/>
              <a:buAutoNum type="arabicPeriod"/>
            </a:pPr>
            <a:r>
              <a:rPr lang="zh-TW" altLang="en-US" sz="2800" dirty="0"/>
              <a:t>擷取骨幹</a:t>
            </a:r>
          </a:p>
          <a:p>
            <a:pPr marL="514350" indent="-514350">
              <a:buFont typeface="+mj-lt"/>
              <a:buAutoNum type="arabicPeriod"/>
            </a:pPr>
            <a:r>
              <a:rPr lang="zh-TW" altLang="en-US" sz="2800" dirty="0"/>
              <a:t>擷取蛋白質結構表面點</a:t>
            </a:r>
          </a:p>
          <a:p>
            <a:pPr marL="514350" indent="-514350">
              <a:buFont typeface="+mj-lt"/>
              <a:buAutoNum type="arabicPeriod"/>
            </a:pPr>
            <a:r>
              <a:rPr lang="zh-TW" altLang="en-US" sz="2800" dirty="0"/>
              <a:t>表面點縮減取樣</a:t>
            </a:r>
          </a:p>
          <a:p>
            <a:pPr marL="514350" indent="-514350">
              <a:buFont typeface="+mj-lt"/>
              <a:buAutoNum type="arabicPeriod"/>
            </a:pPr>
            <a:r>
              <a:rPr lang="zh-TW" altLang="en-US" sz="2800" dirty="0"/>
              <a:t>計算測地線距離</a:t>
            </a:r>
          </a:p>
          <a:p>
            <a:pPr marL="514350" indent="-514350">
              <a:buFont typeface="+mj-lt"/>
              <a:buAutoNum type="arabicPeriod"/>
            </a:pPr>
            <a:r>
              <a:rPr lang="zh-TW" altLang="en-US" sz="2800" dirty="0"/>
              <a:t>計算平均測地線距離</a:t>
            </a:r>
          </a:p>
          <a:p>
            <a:pPr marL="514350" indent="-514350">
              <a:buFont typeface="+mj-lt"/>
              <a:buAutoNum type="arabicPeriod"/>
            </a:pPr>
            <a:r>
              <a:rPr lang="zh-TW" altLang="en-US" sz="2800" dirty="0"/>
              <a:t>編碼測地線特徵值</a:t>
            </a:r>
          </a:p>
          <a:p>
            <a:pPr marL="514350" indent="-514350">
              <a:buFont typeface="+mj-lt"/>
              <a:buAutoNum type="arabicPeriod"/>
            </a:pPr>
            <a:r>
              <a:rPr lang="zh-TW" altLang="en-US" sz="2800" dirty="0"/>
              <a:t>測地線特徵向量排比與排名</a:t>
            </a:r>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13</a:t>
            </a:fld>
            <a:endParaRPr lang="zh-TW" altLang="en-US"/>
          </a:p>
        </p:txBody>
      </p:sp>
    </p:spTree>
    <p:extLst>
      <p:ext uri="{BB962C8B-B14F-4D97-AF65-F5344CB8AC3E}">
        <p14:creationId xmlns:p14="http://schemas.microsoft.com/office/powerpoint/2010/main" val="3718107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r>
              <a:rPr lang="zh-TW" altLang="en-US" smtClean="0"/>
              <a:t>流程步驟</a:t>
            </a:r>
            <a:endParaRPr lang="zh-TW" altLang="en-US" dirty="0"/>
          </a:p>
        </p:txBody>
      </p:sp>
      <p:sp>
        <p:nvSpPr>
          <p:cNvPr id="5" name="內容版面配置區 4"/>
          <p:cNvSpPr>
            <a:spLocks noGrp="1"/>
          </p:cNvSpPr>
          <p:nvPr>
            <p:ph idx="1"/>
          </p:nvPr>
        </p:nvSpPr>
        <p:spPr/>
        <p:txBody>
          <a:bodyPr>
            <a:normAutofit/>
          </a:bodyPr>
          <a:lstStyle/>
          <a:p>
            <a:pPr marL="514350" indent="-514350">
              <a:buFont typeface="+mj-lt"/>
              <a:buAutoNum type="arabicPeriod"/>
            </a:pPr>
            <a:r>
              <a:rPr lang="en-US" altLang="zh-TW" sz="2800" dirty="0" smtClean="0"/>
              <a:t>PDB file importing</a:t>
            </a:r>
          </a:p>
          <a:p>
            <a:pPr marL="514350" indent="-514350">
              <a:buFont typeface="+mj-lt"/>
              <a:buAutoNum type="arabicPeriod"/>
            </a:pPr>
            <a:r>
              <a:rPr lang="en-US" altLang="zh-TW" sz="2800" dirty="0" smtClean="0"/>
              <a:t>Backbone atom retrieval</a:t>
            </a:r>
          </a:p>
          <a:p>
            <a:pPr marL="514350" indent="-514350">
              <a:buFont typeface="+mj-lt"/>
              <a:buAutoNum type="arabicPeriod"/>
            </a:pPr>
            <a:r>
              <a:rPr lang="en-US" altLang="zh-TW" sz="2800" dirty="0" smtClean="0"/>
              <a:t>Protein surface point retrieval</a:t>
            </a:r>
          </a:p>
          <a:p>
            <a:pPr marL="514350" indent="-514350">
              <a:buFont typeface="+mj-lt"/>
              <a:buAutoNum type="arabicPeriod"/>
            </a:pPr>
            <a:r>
              <a:rPr lang="en-US" altLang="zh-TW" sz="2800" dirty="0" smtClean="0"/>
              <a:t>Surface point </a:t>
            </a:r>
            <a:r>
              <a:rPr lang="en-US" altLang="zh-TW" sz="2800" dirty="0" err="1" smtClean="0"/>
              <a:t>downsampling</a:t>
            </a:r>
            <a:endParaRPr lang="en-US" altLang="zh-TW" sz="2800" dirty="0" smtClean="0"/>
          </a:p>
          <a:p>
            <a:pPr marL="514350" indent="-514350">
              <a:buFont typeface="+mj-lt"/>
              <a:buAutoNum type="arabicPeriod"/>
            </a:pPr>
            <a:r>
              <a:rPr lang="en-US" altLang="zh-TW" sz="2800" dirty="0" smtClean="0"/>
              <a:t>GD value calculation</a:t>
            </a:r>
          </a:p>
          <a:p>
            <a:pPr marL="514350" indent="-514350">
              <a:buFont typeface="+mj-lt"/>
              <a:buAutoNum type="arabicPeriod"/>
            </a:pPr>
            <a:r>
              <a:rPr lang="en-US" altLang="zh-TW" sz="2800" dirty="0" smtClean="0"/>
              <a:t>Averaging GD values</a:t>
            </a:r>
          </a:p>
          <a:p>
            <a:pPr marL="514350" indent="-514350">
              <a:buFont typeface="+mj-lt"/>
              <a:buAutoNum type="arabicPeriod"/>
            </a:pPr>
            <a:r>
              <a:rPr lang="en-US" altLang="zh-TW" sz="2800" dirty="0" smtClean="0"/>
              <a:t>GD value encoding</a:t>
            </a:r>
          </a:p>
          <a:p>
            <a:pPr marL="514350" indent="-514350">
              <a:buFont typeface="+mj-lt"/>
              <a:buAutoNum type="arabicPeriod"/>
            </a:pPr>
            <a:r>
              <a:rPr lang="en-US" altLang="zh-TW" sz="2800" dirty="0" smtClean="0"/>
              <a:t>GD vector alignment and ranking</a:t>
            </a:r>
            <a:endParaRPr lang="zh-TW" altLang="en-US" sz="2800" dirty="0"/>
          </a:p>
        </p:txBody>
      </p:sp>
      <p:sp>
        <p:nvSpPr>
          <p:cNvPr id="2" name="投影片編號版面配置區 1"/>
          <p:cNvSpPr>
            <a:spLocks noGrp="1"/>
          </p:cNvSpPr>
          <p:nvPr>
            <p:ph type="sldNum" sz="quarter" idx="12"/>
          </p:nvPr>
        </p:nvSpPr>
        <p:spPr/>
        <p:txBody>
          <a:bodyPr/>
          <a:lstStyle/>
          <a:p>
            <a:fld id="{84EE35EF-5712-4DA8-A867-60964FABEE4F}" type="slidenum">
              <a:rPr lang="zh-TW" altLang="en-US" smtClean="0"/>
              <a:t>14</a:t>
            </a:fld>
            <a:endParaRPr lang="zh-TW" altLang="en-US"/>
          </a:p>
        </p:txBody>
      </p:sp>
    </p:spTree>
    <p:extLst>
      <p:ext uri="{BB962C8B-B14F-4D97-AF65-F5344CB8AC3E}">
        <p14:creationId xmlns:p14="http://schemas.microsoft.com/office/powerpoint/2010/main" val="39986242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6813" y="604838"/>
            <a:ext cx="6810375" cy="564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投影片編號版面配置區 1"/>
          <p:cNvSpPr>
            <a:spLocks noGrp="1"/>
          </p:cNvSpPr>
          <p:nvPr>
            <p:ph type="sldNum" sz="quarter" idx="12"/>
          </p:nvPr>
        </p:nvSpPr>
        <p:spPr/>
        <p:txBody>
          <a:bodyPr/>
          <a:lstStyle/>
          <a:p>
            <a:fld id="{84EE35EF-5712-4DA8-A867-60964FABEE4F}" type="slidenum">
              <a:rPr lang="zh-TW" altLang="en-US" smtClean="0"/>
              <a:t>15</a:t>
            </a:fld>
            <a:endParaRPr lang="zh-TW" altLang="en-US"/>
          </a:p>
        </p:txBody>
      </p:sp>
      <p:sp>
        <p:nvSpPr>
          <p:cNvPr id="3" name="文字方塊 2"/>
          <p:cNvSpPr txBox="1"/>
          <p:nvPr/>
        </p:nvSpPr>
        <p:spPr>
          <a:xfrm>
            <a:off x="3779912" y="899428"/>
            <a:ext cx="3073085" cy="369332"/>
          </a:xfrm>
          <a:prstGeom prst="rect">
            <a:avLst/>
          </a:prstGeom>
          <a:noFill/>
        </p:spPr>
        <p:txBody>
          <a:bodyPr wrap="none" rtlCol="0">
            <a:spAutoFit/>
          </a:bodyPr>
          <a:lstStyle/>
          <a:p>
            <a:r>
              <a:rPr lang="zh-TW" altLang="en-US" dirty="0"/>
              <a:t>是</a:t>
            </a:r>
            <a:r>
              <a:rPr lang="zh-TW" altLang="en-US" dirty="0" smtClean="0"/>
              <a:t>步驟 </a:t>
            </a:r>
            <a:r>
              <a:rPr lang="en-US" altLang="zh-TW" dirty="0" smtClean="0"/>
              <a:t>5 </a:t>
            </a:r>
            <a:r>
              <a:rPr lang="zh-TW" altLang="en-US" dirty="0" smtClean="0"/>
              <a:t>與 </a:t>
            </a:r>
            <a:r>
              <a:rPr lang="en-US" altLang="zh-TW" dirty="0" smtClean="0"/>
              <a:t>8 </a:t>
            </a:r>
            <a:r>
              <a:rPr lang="zh-TW" altLang="en-US" dirty="0" smtClean="0"/>
              <a:t>使用了 </a:t>
            </a:r>
            <a:r>
              <a:rPr lang="en-US" altLang="zh-TW" dirty="0" smtClean="0"/>
              <a:t>CUDA</a:t>
            </a:r>
            <a:r>
              <a:rPr lang="zh-TW" altLang="en-US" dirty="0" smtClean="0"/>
              <a:t>。</a:t>
            </a:r>
            <a:endParaRPr lang="zh-TW" altLang="en-US" dirty="0"/>
          </a:p>
        </p:txBody>
      </p:sp>
    </p:spTree>
    <p:extLst>
      <p:ext uri="{BB962C8B-B14F-4D97-AF65-F5344CB8AC3E}">
        <p14:creationId xmlns:p14="http://schemas.microsoft.com/office/powerpoint/2010/main" val="3833983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1. </a:t>
            </a:r>
            <a:r>
              <a:rPr lang="zh-TW" altLang="en-US" smtClean="0"/>
              <a:t>輸入 </a:t>
            </a:r>
            <a:r>
              <a:rPr lang="en-US" altLang="zh-TW" smtClean="0"/>
              <a:t>PDB </a:t>
            </a:r>
            <a:r>
              <a:rPr lang="zh-TW" altLang="en-US" smtClean="0"/>
              <a:t>檔</a:t>
            </a:r>
            <a:endParaRPr lang="zh-TW" altLang="en-US" dirty="0"/>
          </a:p>
        </p:txBody>
      </p:sp>
      <p:sp>
        <p:nvSpPr>
          <p:cNvPr id="3" name="內容版面配置區 2"/>
          <p:cNvSpPr>
            <a:spLocks noGrp="1"/>
          </p:cNvSpPr>
          <p:nvPr>
            <p:ph idx="1"/>
          </p:nvPr>
        </p:nvSpPr>
        <p:spPr/>
        <p:txBody>
          <a:bodyPr/>
          <a:lstStyle/>
          <a:p>
            <a:pPr marL="0" indent="0">
              <a:lnSpc>
                <a:spcPct val="150000"/>
              </a:lnSpc>
              <a:buNone/>
            </a:pPr>
            <a:r>
              <a:rPr lang="zh-TW" altLang="en-US" dirty="0" smtClean="0"/>
              <a:t>取自 </a:t>
            </a:r>
            <a:r>
              <a:rPr lang="en-US" altLang="zh-TW" dirty="0" smtClean="0"/>
              <a:t>PDB </a:t>
            </a:r>
            <a:r>
              <a:rPr lang="zh-TW" altLang="en-US" dirty="0" smtClean="0"/>
              <a:t>官方網站。</a:t>
            </a:r>
            <a:endParaRPr lang="zh-TW" altLang="en-US" dirty="0"/>
          </a:p>
        </p:txBody>
      </p:sp>
      <p:sp>
        <p:nvSpPr>
          <p:cNvPr id="10" name="投影片編號版面配置區 9"/>
          <p:cNvSpPr>
            <a:spLocks noGrp="1"/>
          </p:cNvSpPr>
          <p:nvPr>
            <p:ph type="sldNum" sz="quarter" idx="12"/>
          </p:nvPr>
        </p:nvSpPr>
        <p:spPr/>
        <p:txBody>
          <a:bodyPr/>
          <a:lstStyle/>
          <a:p>
            <a:fld id="{84EE35EF-5712-4DA8-A867-60964FABEE4F}" type="slidenum">
              <a:rPr lang="zh-TW" altLang="en-US" smtClean="0"/>
              <a:t>16</a:t>
            </a:fld>
            <a:endParaRPr lang="zh-TW" altLang="en-US"/>
          </a:p>
        </p:txBody>
      </p:sp>
    </p:spTree>
    <p:extLst>
      <p:ext uri="{BB962C8B-B14F-4D97-AF65-F5344CB8AC3E}">
        <p14:creationId xmlns:p14="http://schemas.microsoft.com/office/powerpoint/2010/main" val="4080479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2. </a:t>
            </a:r>
            <a:r>
              <a:rPr lang="zh-TW" altLang="en-US" smtClean="0"/>
              <a:t>擷取骨幹</a:t>
            </a:r>
            <a:endParaRPr lang="zh-TW" altLang="en-US" dirty="0"/>
          </a:p>
        </p:txBody>
      </p:sp>
      <p:sp>
        <p:nvSpPr>
          <p:cNvPr id="5" name="內容版面配置區 4"/>
          <p:cNvSpPr>
            <a:spLocks noGrp="1"/>
          </p:cNvSpPr>
          <p:nvPr>
            <p:ph idx="1"/>
          </p:nvPr>
        </p:nvSpPr>
        <p:spPr/>
        <p:txBody>
          <a:bodyPr/>
          <a:lstStyle/>
          <a:p>
            <a:pPr marL="0" indent="0">
              <a:lnSpc>
                <a:spcPct val="150000"/>
              </a:lnSpc>
              <a:buNone/>
            </a:pPr>
            <a:r>
              <a:rPr lang="zh-TW" altLang="en-US" dirty="0" smtClean="0"/>
              <a:t>　忽略支鏈部份的元素，僅針對骨幹的原子進行研究分析，可以簡化蛋白質的整體架構，減少計算分析所需的系統時間。</a:t>
            </a:r>
            <a:endParaRPr lang="zh-TW" altLang="en-US" dirty="0"/>
          </a:p>
        </p:txBody>
      </p:sp>
      <p:sp>
        <p:nvSpPr>
          <p:cNvPr id="8" name="投影片編號版面配置區 7"/>
          <p:cNvSpPr>
            <a:spLocks noGrp="1"/>
          </p:cNvSpPr>
          <p:nvPr>
            <p:ph type="sldNum" sz="quarter" idx="12"/>
          </p:nvPr>
        </p:nvSpPr>
        <p:spPr/>
        <p:txBody>
          <a:bodyPr/>
          <a:lstStyle/>
          <a:p>
            <a:fld id="{84EE35EF-5712-4DA8-A867-60964FABEE4F}" type="slidenum">
              <a:rPr lang="zh-TW" altLang="en-US" smtClean="0"/>
              <a:t>17</a:t>
            </a:fld>
            <a:endParaRPr lang="zh-TW" altLang="en-US"/>
          </a:p>
        </p:txBody>
      </p:sp>
    </p:spTree>
    <p:extLst>
      <p:ext uri="{BB962C8B-B14F-4D97-AF65-F5344CB8AC3E}">
        <p14:creationId xmlns:p14="http://schemas.microsoft.com/office/powerpoint/2010/main" val="3260420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3. </a:t>
            </a:r>
            <a:r>
              <a:rPr lang="zh-TW" altLang="en-US" smtClean="0"/>
              <a:t>擷取蛋白質結構表面點</a:t>
            </a:r>
            <a:endParaRPr lang="zh-TW" altLang="en-US" dirty="0"/>
          </a:p>
        </p:txBody>
      </p:sp>
      <p:sp>
        <p:nvSpPr>
          <p:cNvPr id="3" name="內容版面配置區 2"/>
          <p:cNvSpPr>
            <a:spLocks noGrp="1"/>
          </p:cNvSpPr>
          <p:nvPr>
            <p:ph idx="1"/>
          </p:nvPr>
        </p:nvSpPr>
        <p:spPr/>
        <p:txBody>
          <a:bodyPr>
            <a:normAutofit lnSpcReduction="10000"/>
          </a:bodyPr>
          <a:lstStyle/>
          <a:p>
            <a:pPr marL="457200" indent="-457200">
              <a:lnSpc>
                <a:spcPct val="150000"/>
              </a:lnSpc>
              <a:buFont typeface="+mj-lt"/>
              <a:buAutoNum type="arabicPeriod"/>
            </a:pPr>
            <a:r>
              <a:rPr lang="zh-TW" altLang="en-US" sz="2400" dirty="0" smtClean="0"/>
              <a:t>使用各原子於三維空間的座標，在記憶體空間宣告整個蛋白質的體積形狀及大小。</a:t>
            </a:r>
            <a:endParaRPr lang="en-US" altLang="zh-TW" sz="2400" dirty="0" smtClean="0"/>
          </a:p>
          <a:p>
            <a:pPr marL="457200" indent="-457200">
              <a:lnSpc>
                <a:spcPct val="150000"/>
              </a:lnSpc>
              <a:buFont typeface="+mj-lt"/>
              <a:buAutoNum type="arabicPeriod"/>
            </a:pPr>
            <a:r>
              <a:rPr lang="zh-TW" altLang="en-US" sz="2400" dirty="0" smtClean="0"/>
              <a:t>並藉由水分子沿著整個蛋白質結構表面進行滾動，形成可接觸面積 </a:t>
            </a:r>
            <a:r>
              <a:rPr lang="en-US" altLang="zh-TW" sz="2400" dirty="0" smtClean="0"/>
              <a:t>(ASA)</a:t>
            </a:r>
            <a:r>
              <a:rPr lang="zh-TW" altLang="en-US" sz="2400" dirty="0" smtClean="0"/>
              <a:t> 的定義。</a:t>
            </a:r>
            <a:endParaRPr lang="en-US" altLang="zh-TW" sz="2400" dirty="0" smtClean="0"/>
          </a:p>
          <a:p>
            <a:pPr marL="457200" indent="-457200">
              <a:lnSpc>
                <a:spcPct val="150000"/>
              </a:lnSpc>
              <a:buFont typeface="+mj-lt"/>
              <a:buAutoNum type="arabicPeriod"/>
            </a:pPr>
            <a:r>
              <a:rPr lang="zh-TW" altLang="en-US" sz="2400" dirty="0" smtClean="0"/>
              <a:t>並以基本單元的正立方體，將蛋白質進行數位網格化。</a:t>
            </a:r>
            <a:endParaRPr lang="en-US" altLang="zh-TW" sz="2400" dirty="0" smtClean="0"/>
          </a:p>
          <a:p>
            <a:pPr marL="457200" indent="-457200">
              <a:lnSpc>
                <a:spcPct val="150000"/>
              </a:lnSpc>
              <a:buFont typeface="+mj-lt"/>
              <a:buAutoNum type="arabicPeriod"/>
            </a:pPr>
            <a:r>
              <a:rPr lang="zh-TW" altLang="en-US" sz="2400" dirty="0" smtClean="0"/>
              <a:t>最後再透過 數學形像處理學 </a:t>
            </a:r>
            <a:r>
              <a:rPr lang="en-US" altLang="zh-TW" sz="2400" dirty="0" smtClean="0"/>
              <a:t>(mathematical morphology)</a:t>
            </a:r>
            <a:r>
              <a:rPr lang="zh-TW" altLang="en-US" sz="2400" dirty="0" smtClean="0"/>
              <a:t> 技術，定義蛋白質的表面區域，並記錄所有表面點的座標位置。</a:t>
            </a:r>
            <a:endParaRPr lang="zh-TW" altLang="en-US" sz="2400" dirty="0"/>
          </a:p>
        </p:txBody>
      </p:sp>
      <p:sp>
        <p:nvSpPr>
          <p:cNvPr id="10" name="投影片編號版面配置區 9"/>
          <p:cNvSpPr>
            <a:spLocks noGrp="1"/>
          </p:cNvSpPr>
          <p:nvPr>
            <p:ph type="sldNum" sz="quarter" idx="12"/>
          </p:nvPr>
        </p:nvSpPr>
        <p:spPr/>
        <p:txBody>
          <a:bodyPr/>
          <a:lstStyle/>
          <a:p>
            <a:fld id="{84EE35EF-5712-4DA8-A867-60964FABEE4F}" type="slidenum">
              <a:rPr lang="zh-TW" altLang="en-US" smtClean="0"/>
              <a:t>18</a:t>
            </a:fld>
            <a:endParaRPr lang="zh-TW" altLang="en-US"/>
          </a:p>
        </p:txBody>
      </p:sp>
    </p:spTree>
    <p:extLst>
      <p:ext uri="{BB962C8B-B14F-4D97-AF65-F5344CB8AC3E}">
        <p14:creationId xmlns:p14="http://schemas.microsoft.com/office/powerpoint/2010/main" val="2628886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4. </a:t>
            </a:r>
            <a:r>
              <a:rPr lang="zh-TW" altLang="en-US" smtClean="0"/>
              <a:t>表面點縮減取樣</a:t>
            </a:r>
            <a:endParaRPr lang="zh-TW" altLang="en-US" dirty="0"/>
          </a:p>
        </p:txBody>
      </p:sp>
      <p:sp>
        <p:nvSpPr>
          <p:cNvPr id="3" name="內容版面配置區 2"/>
          <p:cNvSpPr>
            <a:spLocks noGrp="1"/>
          </p:cNvSpPr>
          <p:nvPr>
            <p:ph idx="1"/>
          </p:nvPr>
        </p:nvSpPr>
        <p:spPr/>
        <p:txBody>
          <a:bodyPr/>
          <a:lstStyle/>
          <a:p>
            <a:pPr>
              <a:lnSpc>
                <a:spcPct val="150000"/>
              </a:lnSpc>
            </a:pPr>
            <a:r>
              <a:rPr lang="zh-TW" altLang="en-US" dirty="0" smtClean="0"/>
              <a:t>於同一平面中，以 </a:t>
            </a:r>
            <a:r>
              <a:rPr lang="en-US" altLang="zh-TW" dirty="0" smtClean="0"/>
              <a:t>3x3 </a:t>
            </a:r>
            <a:r>
              <a:rPr lang="zh-TW" altLang="en-US" dirty="0" smtClean="0"/>
              <a:t>的網格為單位，取出其中一點做為該範圍的代表。</a:t>
            </a:r>
            <a:endParaRPr lang="en-US" altLang="zh-TW" dirty="0" smtClean="0"/>
          </a:p>
          <a:p>
            <a:pPr>
              <a:lnSpc>
                <a:spcPct val="150000"/>
              </a:lnSpc>
            </a:pPr>
            <a:r>
              <a:rPr lang="zh-TW" altLang="en-US" dirty="0" smtClean="0"/>
              <a:t>能大幅降低運算量，縮短計算時間。</a:t>
            </a:r>
            <a:endParaRPr lang="zh-TW" altLang="en-US" dirty="0"/>
          </a:p>
        </p:txBody>
      </p:sp>
      <p:sp>
        <p:nvSpPr>
          <p:cNvPr id="18" name="投影片編號版面配置區 17"/>
          <p:cNvSpPr>
            <a:spLocks noGrp="1"/>
          </p:cNvSpPr>
          <p:nvPr>
            <p:ph type="sldNum" sz="quarter" idx="12"/>
          </p:nvPr>
        </p:nvSpPr>
        <p:spPr/>
        <p:txBody>
          <a:bodyPr/>
          <a:lstStyle/>
          <a:p>
            <a:fld id="{84EE35EF-5712-4DA8-A867-60964FABEE4F}" type="slidenum">
              <a:rPr lang="zh-TW" altLang="en-US" smtClean="0"/>
              <a:t>19</a:t>
            </a:fld>
            <a:endParaRPr lang="zh-TW" altLang="en-US"/>
          </a:p>
        </p:txBody>
      </p:sp>
    </p:spTree>
    <p:extLst>
      <p:ext uri="{BB962C8B-B14F-4D97-AF65-F5344CB8AC3E}">
        <p14:creationId xmlns:p14="http://schemas.microsoft.com/office/powerpoint/2010/main" val="202465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387724"/>
            <a:ext cx="2581275"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7" y="854224"/>
            <a:ext cx="159067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9117" y="2387724"/>
            <a:ext cx="2581275"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向右箭號 1"/>
          <p:cNvSpPr/>
          <p:nvPr/>
        </p:nvSpPr>
        <p:spPr>
          <a:xfrm>
            <a:off x="3851920" y="2780928"/>
            <a:ext cx="1515418"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文字方塊 2"/>
          <p:cNvSpPr txBox="1"/>
          <p:nvPr/>
        </p:nvSpPr>
        <p:spPr>
          <a:xfrm>
            <a:off x="3824044" y="2555612"/>
            <a:ext cx="1107996" cy="369332"/>
          </a:xfrm>
          <a:prstGeom prst="rect">
            <a:avLst/>
          </a:prstGeom>
          <a:noFill/>
        </p:spPr>
        <p:txBody>
          <a:bodyPr wrap="none" rtlCol="0">
            <a:spAutoFit/>
          </a:bodyPr>
          <a:lstStyle/>
          <a:p>
            <a:r>
              <a:rPr lang="zh-TW" altLang="en-US" dirty="0" smtClean="0"/>
              <a:t>縮減取樣</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20</a:t>
            </a:fld>
            <a:endParaRPr lang="zh-TW" altLang="en-US"/>
          </a:p>
        </p:txBody>
      </p:sp>
      <p:sp>
        <p:nvSpPr>
          <p:cNvPr id="5" name="文字方塊 4"/>
          <p:cNvSpPr txBox="1"/>
          <p:nvPr/>
        </p:nvSpPr>
        <p:spPr>
          <a:xfrm>
            <a:off x="2123729" y="4149080"/>
            <a:ext cx="4896543" cy="1338828"/>
          </a:xfrm>
          <a:prstGeom prst="rect">
            <a:avLst/>
          </a:prstGeom>
          <a:noFill/>
        </p:spPr>
        <p:txBody>
          <a:bodyPr wrap="square" rtlCol="0">
            <a:spAutoFit/>
          </a:bodyPr>
          <a:lstStyle/>
          <a:p>
            <a:pPr>
              <a:lnSpc>
                <a:spcPct val="150000"/>
              </a:lnSpc>
            </a:pPr>
            <a:r>
              <a:rPr lang="zh-TW" altLang="en-US" b="1" dirty="0" smtClean="0"/>
              <a:t>化簡表面點示意圖</a:t>
            </a:r>
            <a:endParaRPr lang="en-US" altLang="zh-TW" b="1" dirty="0" smtClean="0"/>
          </a:p>
          <a:p>
            <a:pPr>
              <a:lnSpc>
                <a:spcPct val="150000"/>
              </a:lnSpc>
            </a:pPr>
            <a:r>
              <a:rPr lang="zh-TW" altLang="en-US" dirty="0" smtClean="0"/>
              <a:t>三維空間中某一平面的區塊，</a:t>
            </a:r>
            <a:r>
              <a:rPr lang="en-US" altLang="zh-TW" dirty="0" smtClean="0"/>
              <a:t>12 </a:t>
            </a:r>
            <a:r>
              <a:rPr lang="zh-TW" altLang="en-US" dirty="0" smtClean="0"/>
              <a:t>個表面點經過縮減取樣之後，僅剩下 </a:t>
            </a:r>
            <a:r>
              <a:rPr lang="en-US" altLang="zh-TW" dirty="0" smtClean="0"/>
              <a:t>6 </a:t>
            </a:r>
            <a:r>
              <a:rPr lang="zh-TW" altLang="en-US" dirty="0" smtClean="0"/>
              <a:t>個表面點。</a:t>
            </a:r>
            <a:endParaRPr lang="zh-TW" altLang="en-US" dirty="0"/>
          </a:p>
        </p:txBody>
      </p:sp>
    </p:spTree>
    <p:extLst>
      <p:ext uri="{BB962C8B-B14F-4D97-AF65-F5344CB8AC3E}">
        <p14:creationId xmlns:p14="http://schemas.microsoft.com/office/powerpoint/2010/main" val="2805725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5. </a:t>
            </a:r>
            <a:r>
              <a:rPr lang="zh-TW" altLang="en-US" smtClean="0"/>
              <a:t>計算測地線距離</a:t>
            </a:r>
            <a:endParaRPr lang="zh-TW" altLang="en-US" dirty="0"/>
          </a:p>
        </p:txBody>
      </p:sp>
      <p:sp>
        <p:nvSpPr>
          <p:cNvPr id="3" name="內容版面配置區 2"/>
          <p:cNvSpPr>
            <a:spLocks noGrp="1"/>
          </p:cNvSpPr>
          <p:nvPr>
            <p:ph idx="1"/>
          </p:nvPr>
        </p:nvSpPr>
        <p:spPr/>
        <p:txBody>
          <a:bodyPr/>
          <a:lstStyle/>
          <a:p>
            <a:pPr marL="0" indent="0">
              <a:lnSpc>
                <a:spcPct val="150000"/>
              </a:lnSpc>
              <a:buNone/>
            </a:pPr>
            <a:r>
              <a:rPr lang="zh-TW" altLang="en-US" dirty="0" smtClean="0"/>
              <a:t>分做三個子步驟：</a:t>
            </a:r>
            <a:endParaRPr lang="en-US" altLang="zh-TW" dirty="0" smtClean="0"/>
          </a:p>
          <a:p>
            <a:pPr marL="971550" lvl="1" indent="-514350">
              <a:lnSpc>
                <a:spcPct val="150000"/>
              </a:lnSpc>
              <a:buFont typeface="+mj-lt"/>
              <a:buAutoNum type="arabicParenR"/>
            </a:pPr>
            <a:r>
              <a:rPr lang="zh-TW" altLang="en-US" dirty="0" smtClean="0"/>
              <a:t>表面</a:t>
            </a:r>
            <a:r>
              <a:rPr lang="zh-TW" altLang="en-US" dirty="0" smtClean="0"/>
              <a:t>點之間測</a:t>
            </a:r>
            <a:r>
              <a:rPr lang="zh-TW" altLang="en-US" dirty="0" smtClean="0"/>
              <a:t>地線距離</a:t>
            </a:r>
            <a:endParaRPr lang="en-US" altLang="zh-TW" dirty="0" smtClean="0"/>
          </a:p>
          <a:p>
            <a:pPr marL="971550" lvl="1" indent="-514350">
              <a:lnSpc>
                <a:spcPct val="150000"/>
              </a:lnSpc>
              <a:buFont typeface="+mj-lt"/>
              <a:buAutoNum type="arabicParenR"/>
            </a:pPr>
            <a:r>
              <a:rPr lang="zh-TW" altLang="en-US" dirty="0" smtClean="0"/>
              <a:t>原子之間測地線距離</a:t>
            </a:r>
            <a:endParaRPr lang="en-US" altLang="zh-TW" dirty="0" smtClean="0"/>
          </a:p>
          <a:p>
            <a:pPr marL="971550" lvl="1" indent="-514350">
              <a:lnSpc>
                <a:spcPct val="150000"/>
              </a:lnSpc>
              <a:buFont typeface="+mj-lt"/>
              <a:buAutoNum type="arabicParenR"/>
            </a:pPr>
            <a:r>
              <a:rPr lang="zh-TW" altLang="en-US" dirty="0" smtClean="0"/>
              <a:t>胺基酸之間測地線距離</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pPr/>
              <a:t>21</a:t>
            </a:fld>
            <a:endParaRPr lang="zh-TW" altLang="en-US"/>
          </a:p>
        </p:txBody>
      </p:sp>
    </p:spTree>
    <p:extLst>
      <p:ext uri="{BB962C8B-B14F-4D97-AF65-F5344CB8AC3E}">
        <p14:creationId xmlns:p14="http://schemas.microsoft.com/office/powerpoint/2010/main" val="28567886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 </a:t>
            </a:r>
            <a:r>
              <a:rPr lang="zh-TW" altLang="en-US" dirty="0" smtClean="0"/>
              <a:t>表面點之間測地線距離</a:t>
            </a:r>
            <a:endParaRPr lang="zh-TW" altLang="en-US" dirty="0"/>
          </a:p>
        </p:txBody>
      </p:sp>
      <mc:AlternateContent xmlns:mc="http://schemas.openxmlformats.org/markup-compatibility/2006">
        <mc:Choice xmlns:a14="http://schemas.microsoft.com/office/drawing/2010/main" Requires="a14">
          <p:sp>
            <p:nvSpPr>
              <p:cNvPr id="7" name="內容版面配置區 6"/>
              <p:cNvSpPr>
                <a:spLocks noGrp="1"/>
              </p:cNvSpPr>
              <p:nvPr>
                <p:ph idx="1"/>
              </p:nvPr>
            </p:nvSpPr>
            <p:spPr/>
            <p:txBody>
              <a:bodyPr/>
              <a:lstStyle/>
              <a:p>
                <a:pPr>
                  <a:lnSpc>
                    <a:spcPct val="150000"/>
                  </a:lnSpc>
                </a:pPr>
                <a:r>
                  <a:rPr lang="zh-TW" altLang="en-US" dirty="0" smtClean="0"/>
                  <a:t>使用 </a:t>
                </a:r>
                <a:r>
                  <a:rPr lang="en-US" altLang="zh-TW" dirty="0" smtClean="0"/>
                  <a:t>Floyd-</a:t>
                </a:r>
                <a:r>
                  <a:rPr lang="en-US" altLang="zh-TW" dirty="0" err="1" smtClean="0"/>
                  <a:t>Warshall</a:t>
                </a:r>
                <a:r>
                  <a:rPr lang="en-US" altLang="zh-TW" dirty="0" smtClean="0"/>
                  <a:t> </a:t>
                </a:r>
                <a:r>
                  <a:rPr lang="zh-TW" altLang="en-US" dirty="0" smtClean="0"/>
                  <a:t>演算法，計算兩兩表面點之間的測地線距離。</a:t>
                </a:r>
                <a:endParaRPr lang="en-US" altLang="zh-TW" dirty="0" smtClean="0"/>
              </a:p>
              <a:p>
                <a:pPr>
                  <a:lnSpc>
                    <a:spcPct val="150000"/>
                  </a:lnSpc>
                </a:pPr>
                <a:r>
                  <a:rPr lang="zh-TW" altLang="en-US" dirty="0" smtClean="0"/>
                  <a:t>初始的相鄰矩陣：</a:t>
                </a:r>
                <a:r>
                  <a:rPr lang="en-US" altLang="zh-TW" dirty="0" smtClean="0"/>
                  <a:t/>
                </a:r>
                <a:br>
                  <a:rPr lang="en-US" altLang="zh-TW" dirty="0" smtClean="0"/>
                </a:br>
                <a:r>
                  <a:rPr lang="zh-TW" altLang="en-US" dirty="0" smtClean="0"/>
                  <a:t>設定門檻值來決定表面點間是否連通。</a:t>
                </a:r>
                <a:endParaRPr lang="en-US" altLang="zh-TW" dirty="0" smtClean="0"/>
              </a:p>
              <a:p>
                <a:pPr>
                  <a:lnSpc>
                    <a:spcPct val="150000"/>
                  </a:lnSpc>
                </a:pPr>
                <a:r>
                  <a:rPr lang="zh-TW" altLang="en-US" dirty="0" smtClean="0"/>
                  <a:t>原為 </a:t>
                </a:r>
                <a14:m>
                  <m:oMath xmlns:m="http://schemas.openxmlformats.org/officeDocument/2006/math">
                    <m:rad>
                      <m:radPr>
                        <m:degHide m:val="on"/>
                        <m:ctrlPr>
                          <a:rPr lang="zh-TW" altLang="en-US" smtClean="0"/>
                        </m:ctrlPr>
                      </m:radPr>
                      <m:deg/>
                      <m:e>
                        <m:r>
                          <a:rPr lang="zh-TW" altLang="en-US" smtClean="0"/>
                          <m:t>２</m:t>
                        </m:r>
                      </m:e>
                    </m:rad>
                  </m:oMath>
                </a14:m>
                <a:r>
                  <a:rPr lang="zh-TW" altLang="en-US" dirty="0" smtClean="0"/>
                  <a:t>，因步驟 </a:t>
                </a:r>
                <a:r>
                  <a:rPr lang="en-US" altLang="zh-TW" dirty="0" smtClean="0"/>
                  <a:t>4</a:t>
                </a:r>
                <a:r>
                  <a:rPr lang="zh-TW" altLang="en-US" dirty="0" smtClean="0"/>
                  <a:t>，調整為 </a:t>
                </a:r>
                <a14:m>
                  <m:oMath xmlns:m="http://schemas.openxmlformats.org/officeDocument/2006/math">
                    <m:r>
                      <a:rPr lang="en-US" altLang="zh-TW" smtClean="0"/>
                      <m:t>2</m:t>
                    </m:r>
                    <m:rad>
                      <m:radPr>
                        <m:degHide m:val="on"/>
                        <m:ctrlPr>
                          <a:rPr lang="zh-TW" altLang="en-US" smtClean="0"/>
                        </m:ctrlPr>
                      </m:radPr>
                      <m:deg/>
                      <m:e>
                        <m:r>
                          <a:rPr lang="en-US" altLang="zh-TW" smtClean="0"/>
                          <m:t>2</m:t>
                        </m:r>
                      </m:e>
                    </m:rad>
                  </m:oMath>
                </a14:m>
                <a:r>
                  <a:rPr lang="zh-TW" altLang="en-US" dirty="0" smtClean="0"/>
                  <a:t>。</a:t>
                </a:r>
                <a:endParaRPr lang="zh-TW" altLang="en-US" dirty="0"/>
              </a:p>
            </p:txBody>
          </p:sp>
        </mc:Choice>
        <mc:Fallback>
          <p:sp>
            <p:nvSpPr>
              <p:cNvPr id="7" name="內容版面配置區 6"/>
              <p:cNvSpPr>
                <a:spLocks noGrp="1" noRot="1" noChangeAspect="1" noMove="1" noResize="1" noEditPoints="1" noAdjustHandles="1" noChangeArrowheads="1" noChangeShapeType="1" noTextEdit="1"/>
              </p:cNvSpPr>
              <p:nvPr>
                <p:ph idx="1"/>
              </p:nvPr>
            </p:nvSpPr>
            <p:spPr>
              <a:blipFill rotWithShape="1">
                <a:blip r:embed="rId2"/>
                <a:stretch>
                  <a:fillRect l="-163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84EE35EF-5712-4DA8-A867-60964FABEE4F}" type="slidenum">
              <a:rPr lang="zh-TW" altLang="en-US" smtClean="0"/>
              <a:pPr/>
              <a:t>22</a:t>
            </a:fld>
            <a:endParaRPr lang="zh-TW" altLang="en-US"/>
          </a:p>
        </p:txBody>
      </p:sp>
    </p:spTree>
    <p:extLst>
      <p:ext uri="{BB962C8B-B14F-4D97-AF65-F5344CB8AC3E}">
        <p14:creationId xmlns:p14="http://schemas.microsoft.com/office/powerpoint/2010/main" val="1201479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向右箭號 1"/>
          <p:cNvSpPr/>
          <p:nvPr/>
        </p:nvSpPr>
        <p:spPr>
          <a:xfrm>
            <a:off x="3851920" y="2780928"/>
            <a:ext cx="1515418"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文字方塊 2"/>
          <p:cNvSpPr txBox="1"/>
          <p:nvPr/>
        </p:nvSpPr>
        <p:spPr>
          <a:xfrm>
            <a:off x="3824044" y="2555612"/>
            <a:ext cx="1107996" cy="369332"/>
          </a:xfrm>
          <a:prstGeom prst="rect">
            <a:avLst/>
          </a:prstGeom>
          <a:noFill/>
        </p:spPr>
        <p:txBody>
          <a:bodyPr wrap="none" rtlCol="0">
            <a:spAutoFit/>
          </a:bodyPr>
          <a:lstStyle/>
          <a:p>
            <a:r>
              <a:rPr lang="zh-TW" altLang="en-US" dirty="0" smtClean="0"/>
              <a:t>縮減取樣</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23</a:t>
            </a:fld>
            <a:endParaRPr lang="zh-TW" altLang="en-US"/>
          </a:p>
        </p:txBody>
      </p:sp>
      <mc:AlternateContent xmlns:mc="http://schemas.openxmlformats.org/markup-compatibility/2006">
        <mc:Choice xmlns:a14="http://schemas.microsoft.com/office/drawing/2010/main" Requires="a14">
          <p:sp>
            <p:nvSpPr>
              <p:cNvPr id="5" name="文字方塊 4"/>
              <p:cNvSpPr txBox="1"/>
              <p:nvPr/>
            </p:nvSpPr>
            <p:spPr>
              <a:xfrm>
                <a:off x="1763689" y="4409362"/>
                <a:ext cx="5616623" cy="963854"/>
              </a:xfrm>
              <a:prstGeom prst="rect">
                <a:avLst/>
              </a:prstGeom>
              <a:noFill/>
            </p:spPr>
            <p:txBody>
              <a:bodyPr wrap="square" rtlCol="0">
                <a:spAutoFit/>
              </a:bodyPr>
              <a:lstStyle/>
              <a:p>
                <a:pPr>
                  <a:lnSpc>
                    <a:spcPct val="150000"/>
                  </a:lnSpc>
                </a:pPr>
                <a:r>
                  <a:rPr lang="zh-TW" altLang="en-US" b="1" dirty="0" smtClean="0"/>
                  <a:t>表面點連通示意圖</a:t>
                </a:r>
                <a:endParaRPr lang="en-US" altLang="zh-TW" b="1" dirty="0" smtClean="0"/>
              </a:p>
              <a:p>
                <a:pPr>
                  <a:lnSpc>
                    <a:spcPct val="150000"/>
                  </a:lnSpc>
                </a:pPr>
                <a:r>
                  <a:rPr lang="zh-TW" altLang="en-US" dirty="0" smtClean="0"/>
                  <a:t>化簡前的連通門檻值為 </a:t>
                </a:r>
                <a14:m>
                  <m:oMath xmlns:m="http://schemas.openxmlformats.org/officeDocument/2006/math">
                    <m:rad>
                      <m:radPr>
                        <m:degHide m:val="on"/>
                        <m:ctrlPr>
                          <a:rPr lang="zh-TW" altLang="en-US" i="1" smtClean="0">
                            <a:latin typeface="Cambria Math"/>
                          </a:rPr>
                        </m:ctrlPr>
                      </m:radPr>
                      <m:deg/>
                      <m:e>
                        <m:r>
                          <a:rPr lang="en-US" altLang="zh-TW" b="0" i="1" smtClean="0">
                            <a:latin typeface="Cambria Math"/>
                          </a:rPr>
                          <m:t>2</m:t>
                        </m:r>
                      </m:e>
                    </m:rad>
                  </m:oMath>
                </a14:m>
                <a:r>
                  <a:rPr lang="zh-TW" altLang="en-US" dirty="0" smtClean="0"/>
                  <a:t>，化簡後則須調整為 </a:t>
                </a:r>
                <a14:m>
                  <m:oMath xmlns:m="http://schemas.openxmlformats.org/officeDocument/2006/math">
                    <m:r>
                      <a:rPr lang="en-US" altLang="zh-TW" b="0" i="1" smtClean="0">
                        <a:latin typeface="Cambria Math"/>
                      </a:rPr>
                      <m:t>2</m:t>
                    </m:r>
                    <m:rad>
                      <m:radPr>
                        <m:degHide m:val="on"/>
                        <m:ctrlPr>
                          <a:rPr lang="en-US" altLang="zh-TW" b="0" i="1" smtClean="0">
                            <a:latin typeface="Cambria Math"/>
                          </a:rPr>
                        </m:ctrlPr>
                      </m:radPr>
                      <m:deg/>
                      <m:e>
                        <m:r>
                          <a:rPr lang="en-US" altLang="zh-TW" b="0" i="1" smtClean="0">
                            <a:latin typeface="Cambria Math"/>
                          </a:rPr>
                          <m:t>2</m:t>
                        </m:r>
                      </m:e>
                    </m:rad>
                  </m:oMath>
                </a14:m>
                <a:r>
                  <a:rPr lang="zh-TW" altLang="en-US" dirty="0" smtClean="0"/>
                  <a:t>。</a:t>
                </a:r>
                <a:endParaRPr lang="zh-TW" altLang="en-US" dirty="0"/>
              </a:p>
            </p:txBody>
          </p:sp>
        </mc:Choice>
        <mc:Fallback>
          <p:sp>
            <p:nvSpPr>
              <p:cNvPr id="5" name="文字方塊 4"/>
              <p:cNvSpPr txBox="1">
                <a:spLocks noRot="1" noChangeAspect="1" noMove="1" noResize="1" noEditPoints="1" noAdjustHandles="1" noChangeArrowheads="1" noChangeShapeType="1" noTextEdit="1"/>
              </p:cNvSpPr>
              <p:nvPr/>
            </p:nvSpPr>
            <p:spPr>
              <a:xfrm>
                <a:off x="1763689" y="4409362"/>
                <a:ext cx="5616623" cy="963854"/>
              </a:xfrm>
              <a:prstGeom prst="rect">
                <a:avLst/>
              </a:prstGeom>
              <a:blipFill rotWithShape="1">
                <a:blip r:embed="rId2"/>
                <a:stretch>
                  <a:fillRect l="-868" b="-3165"/>
                </a:stretch>
              </a:blipFill>
            </p:spPr>
            <p:txBody>
              <a:bodyPr/>
              <a:lstStyle/>
              <a:p>
                <a:r>
                  <a:rPr lang="zh-TW" altLang="en-US">
                    <a:noFill/>
                  </a:rPr>
                  <a:t> </a:t>
                </a:r>
              </a:p>
            </p:txBody>
          </p:sp>
        </mc:Fallback>
      </mc:AlternateContent>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7" y="2387724"/>
            <a:ext cx="2581275"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104" y="2466789"/>
            <a:ext cx="2581275"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3607" y="692696"/>
            <a:ext cx="1552575"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6813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2) </a:t>
            </a:r>
            <a:r>
              <a:rPr lang="zh-TW" altLang="en-US" smtClean="0"/>
              <a:t>原子之間測地線距離</a:t>
            </a:r>
            <a:endParaRPr lang="zh-TW" altLang="en-US" dirty="0"/>
          </a:p>
        </p:txBody>
      </p:sp>
      <p:sp>
        <p:nvSpPr>
          <p:cNvPr id="3" name="內容版面配置區 2"/>
          <p:cNvSpPr>
            <a:spLocks noGrp="1"/>
          </p:cNvSpPr>
          <p:nvPr>
            <p:ph idx="1"/>
          </p:nvPr>
        </p:nvSpPr>
        <p:spPr/>
        <p:txBody>
          <a:bodyPr/>
          <a:lstStyle/>
          <a:p>
            <a:pPr>
              <a:lnSpc>
                <a:spcPct val="150000"/>
              </a:lnSpc>
            </a:pPr>
            <a:r>
              <a:rPr lang="zh-TW" altLang="en-US" dirty="0" smtClean="0"/>
              <a:t>利用上一步的結果，藉由兩兩原子之間的所有相關表面點距離的平均計算。</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pPr/>
              <a:t>24</a:t>
            </a:fld>
            <a:endParaRPr lang="zh-TW" alt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3517354"/>
            <a:ext cx="414337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3717032"/>
            <a:ext cx="3800475"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1560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3) </a:t>
            </a:r>
            <a:r>
              <a:rPr lang="zh-TW" altLang="en-US" smtClean="0"/>
              <a:t>胺基酸之間測地線距離</a:t>
            </a:r>
            <a:endParaRPr lang="zh-TW" altLang="en-US" dirty="0"/>
          </a:p>
        </p:txBody>
      </p:sp>
      <p:sp>
        <p:nvSpPr>
          <p:cNvPr id="10" name="內容版面配置區 9"/>
          <p:cNvSpPr>
            <a:spLocks noGrp="1"/>
          </p:cNvSpPr>
          <p:nvPr>
            <p:ph idx="1"/>
          </p:nvPr>
        </p:nvSpPr>
        <p:spPr/>
        <p:txBody>
          <a:bodyPr/>
          <a:lstStyle/>
          <a:p>
            <a:pPr>
              <a:lnSpc>
                <a:spcPct val="150000"/>
              </a:lnSpc>
            </a:pPr>
            <a:r>
              <a:rPr lang="zh-TW" altLang="en-US" dirty="0" smtClean="0"/>
              <a:t>利用上一步的結果，藉由兩兩胺基酸之間的所有原子對的交叉測地線距離進行平均值運算。</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pPr/>
              <a:t>25</a:t>
            </a:fld>
            <a:endParaRPr lang="zh-TW"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317" y="4077072"/>
            <a:ext cx="3495675"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032" y="4077072"/>
            <a:ext cx="3419475"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5111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6. </a:t>
            </a:r>
            <a:r>
              <a:rPr lang="zh-TW" altLang="en-US" dirty="0" smtClean="0"/>
              <a:t>計算</a:t>
            </a:r>
            <a:r>
              <a:rPr lang="zh-TW" altLang="en-US" dirty="0"/>
              <a:t>平均測地線距離</a:t>
            </a:r>
          </a:p>
        </p:txBody>
      </p:sp>
      <p:sp>
        <p:nvSpPr>
          <p:cNvPr id="3" name="內容版面配置區 2"/>
          <p:cNvSpPr>
            <a:spLocks noGrp="1"/>
          </p:cNvSpPr>
          <p:nvPr>
            <p:ph idx="1"/>
          </p:nvPr>
        </p:nvSpPr>
        <p:spPr/>
        <p:txBody>
          <a:bodyPr/>
          <a:lstStyle/>
          <a:p>
            <a:pPr>
              <a:lnSpc>
                <a:spcPct val="150000"/>
              </a:lnSpc>
            </a:pPr>
            <a:r>
              <a:rPr lang="zh-TW" altLang="en-US" dirty="0" smtClean="0"/>
              <a:t>先給定一個視窗範圍 </a:t>
            </a:r>
            <a:r>
              <a:rPr lang="en-US" altLang="zh-TW" dirty="0" smtClean="0"/>
              <a:t>(</a:t>
            </a:r>
            <a:r>
              <a:rPr lang="zh-TW" altLang="en-US" dirty="0" smtClean="0"/>
              <a:t>本系統預設為前後各 </a:t>
            </a:r>
            <a:r>
              <a:rPr lang="en-US" altLang="zh-TW" dirty="0" smtClean="0"/>
              <a:t>10 </a:t>
            </a:r>
            <a:r>
              <a:rPr lang="zh-TW" altLang="en-US" dirty="0" smtClean="0"/>
              <a:t>個胺基酸</a:t>
            </a:r>
            <a:r>
              <a:rPr lang="en-US" altLang="zh-TW" dirty="0" smtClean="0"/>
              <a:t>)</a:t>
            </a:r>
            <a:r>
              <a:rPr lang="zh-TW" altLang="en-US" dirty="0" smtClean="0"/>
              <a:t>，依序列編號，計算範圍內所有表面胺基酸測地線距離的平均。</a:t>
            </a:r>
            <a:endParaRPr lang="en-US" altLang="zh-TW" dirty="0" smtClean="0"/>
          </a:p>
          <a:p>
            <a:pPr>
              <a:lnSpc>
                <a:spcPct val="150000"/>
              </a:lnSpc>
            </a:pPr>
            <a:r>
              <a:rPr lang="zh-TW" altLang="en-US" dirty="0" smtClean="0"/>
              <a:t>非表面胺基酸 </a:t>
            </a:r>
            <a:r>
              <a:rPr lang="en-US" altLang="zh-TW" dirty="0" smtClean="0"/>
              <a:t>(</a:t>
            </a:r>
            <a:r>
              <a:rPr lang="zh-TW" altLang="en-US" dirty="0" smtClean="0"/>
              <a:t>不含表面原子點的胺基酸</a:t>
            </a:r>
            <a:r>
              <a:rPr lang="en-US" altLang="zh-TW" dirty="0" smtClean="0"/>
              <a:t>)</a:t>
            </a:r>
            <a:r>
              <a:rPr lang="zh-TW" altLang="en-US" dirty="0" smtClean="0"/>
              <a:t> 不列入平均的計算。</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26</a:t>
            </a:fld>
            <a:endParaRPr lang="zh-TW" altLang="en-US"/>
          </a:p>
        </p:txBody>
      </p:sp>
    </p:spTree>
    <p:extLst>
      <p:ext uri="{BB962C8B-B14F-4D97-AF65-F5344CB8AC3E}">
        <p14:creationId xmlns:p14="http://schemas.microsoft.com/office/powerpoint/2010/main" val="32603187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84EE35EF-5712-4DA8-A867-60964FABEE4F}" type="slidenum">
              <a:rPr lang="zh-TW" altLang="en-US" smtClean="0"/>
              <a:t>27</a:t>
            </a:fld>
            <a:endParaRPr lang="zh-TW" alt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621" y="1196752"/>
            <a:ext cx="4067175" cy="226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128" y="1777777"/>
            <a:ext cx="227647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9992" y="4100552"/>
            <a:ext cx="3305175"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向右箭號 5"/>
          <p:cNvSpPr/>
          <p:nvPr/>
        </p:nvSpPr>
        <p:spPr>
          <a:xfrm>
            <a:off x="2021499" y="4538516"/>
            <a:ext cx="1515418"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1993623" y="4313200"/>
            <a:ext cx="1107996" cy="369332"/>
          </a:xfrm>
          <a:prstGeom prst="rect">
            <a:avLst/>
          </a:prstGeom>
          <a:noFill/>
        </p:spPr>
        <p:txBody>
          <a:bodyPr wrap="none" rtlCol="0">
            <a:spAutoFit/>
          </a:bodyPr>
          <a:lstStyle/>
          <a:p>
            <a:r>
              <a:rPr lang="zh-TW" altLang="en-US" dirty="0" smtClean="0"/>
              <a:t>計算平均</a:t>
            </a:r>
            <a:endParaRPr lang="zh-TW" altLang="en-US" dirty="0"/>
          </a:p>
        </p:txBody>
      </p:sp>
    </p:spTree>
    <p:extLst>
      <p:ext uri="{BB962C8B-B14F-4D97-AF65-F5344CB8AC3E}">
        <p14:creationId xmlns:p14="http://schemas.microsoft.com/office/powerpoint/2010/main" val="2683419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7. </a:t>
            </a:r>
            <a:r>
              <a:rPr lang="zh-TW" altLang="en-US" smtClean="0"/>
              <a:t>編碼測地線特徵值</a:t>
            </a:r>
            <a:endParaRPr lang="zh-TW" altLang="en-US" dirty="0"/>
          </a:p>
        </p:txBody>
      </p:sp>
      <p:sp>
        <p:nvSpPr>
          <p:cNvPr id="3" name="內容版面配置區 2"/>
          <p:cNvSpPr>
            <a:spLocks noGrp="1"/>
          </p:cNvSpPr>
          <p:nvPr>
            <p:ph idx="1"/>
          </p:nvPr>
        </p:nvSpPr>
        <p:spPr/>
        <p:txBody>
          <a:bodyPr/>
          <a:lstStyle/>
          <a:p>
            <a:pPr>
              <a:lnSpc>
                <a:spcPct val="150000"/>
              </a:lnSpc>
            </a:pPr>
            <a:r>
              <a:rPr lang="zh-TW" altLang="en-US" dirty="0" smtClean="0"/>
              <a:t>為加速兩個蛋白質表面結構的匹配分析。</a:t>
            </a:r>
            <a:endParaRPr lang="en-US" altLang="zh-TW" dirty="0" smtClean="0"/>
          </a:p>
          <a:p>
            <a:pPr>
              <a:lnSpc>
                <a:spcPct val="150000"/>
              </a:lnSpc>
            </a:pPr>
            <a:r>
              <a:rPr lang="zh-TW" altLang="en-US" dirty="0" smtClean="0"/>
              <a:t>將測地線特徵值向量轉換成對應的英文字母，並形成一個測地線特徵值序列。</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pPr/>
              <a:t>28</a:t>
            </a:fld>
            <a:endParaRPr lang="zh-TW" alt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205" y="4005064"/>
            <a:ext cx="235267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7989" y="4723804"/>
            <a:ext cx="4266419" cy="1081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0972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8. </a:t>
            </a:r>
            <a:r>
              <a:rPr lang="zh-TW" altLang="en-US" smtClean="0"/>
              <a:t>測地線特徵向量排比與排名</a:t>
            </a:r>
            <a:endParaRPr lang="zh-TW" altLang="en-US" dirty="0"/>
          </a:p>
        </p:txBody>
      </p:sp>
      <p:sp>
        <p:nvSpPr>
          <p:cNvPr id="16" name="內容版面配置區 15"/>
          <p:cNvSpPr>
            <a:spLocks noGrp="1"/>
          </p:cNvSpPr>
          <p:nvPr>
            <p:ph idx="1"/>
          </p:nvPr>
        </p:nvSpPr>
        <p:spPr/>
        <p:txBody>
          <a:bodyPr/>
          <a:lstStyle/>
          <a:p>
            <a:pPr>
              <a:lnSpc>
                <a:spcPct val="150000"/>
              </a:lnSpc>
            </a:pPr>
            <a:r>
              <a:rPr lang="zh-TW" altLang="en-US" dirty="0" smtClean="0"/>
              <a:t>事先將所有的蛋白質結構進行上述七個步驟的運算。</a:t>
            </a:r>
            <a:endParaRPr lang="en-US" altLang="zh-TW" dirty="0" smtClean="0"/>
          </a:p>
          <a:p>
            <a:pPr>
              <a:lnSpc>
                <a:spcPct val="150000"/>
              </a:lnSpc>
            </a:pPr>
            <a:r>
              <a:rPr lang="zh-TW" altLang="en-US" dirty="0" smtClean="0"/>
              <a:t>當系統輸入待查詢的蛋白質結構代碼後，系統執行區域測地線特徵序列的轉換分析，並與各資料群進行兩兩序列相似度比對。</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pPr/>
              <a:t>29</a:t>
            </a:fld>
            <a:endParaRPr lang="zh-TW" altLang="en-US"/>
          </a:p>
        </p:txBody>
      </p:sp>
    </p:spTree>
    <p:extLst>
      <p:ext uri="{BB962C8B-B14F-4D97-AF65-F5344CB8AC3E}">
        <p14:creationId xmlns:p14="http://schemas.microsoft.com/office/powerpoint/2010/main" val="1248601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演算法說明</a:t>
            </a:r>
            <a:endParaRPr lang="zh-TW" altLang="en-US" dirty="0"/>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30</a:t>
            </a:fld>
            <a:endParaRPr lang="zh-TW" altLang="en-US"/>
          </a:p>
        </p:txBody>
      </p:sp>
    </p:spTree>
    <p:extLst>
      <p:ext uri="{BB962C8B-B14F-4D97-AF65-F5344CB8AC3E}">
        <p14:creationId xmlns:p14="http://schemas.microsoft.com/office/powerpoint/2010/main" val="25142765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實驗結果</a:t>
            </a:r>
            <a:endParaRPr lang="zh-TW" altLang="en-US" dirty="0"/>
          </a:p>
        </p:txBody>
      </p:sp>
      <p:sp>
        <p:nvSpPr>
          <p:cNvPr id="11" name="文字版面配置區 10"/>
          <p:cNvSpPr>
            <a:spLocks noGrp="1"/>
          </p:cNvSpPr>
          <p:nvPr>
            <p:ph type="body" idx="1"/>
          </p:nvPr>
        </p:nvSpPr>
        <p:spPr/>
        <p:txBody>
          <a:bodyPr/>
          <a:lstStyle/>
          <a:p>
            <a:endParaRPr lang="zh-TW" altLang="en-US"/>
          </a:p>
        </p:txBody>
      </p:sp>
      <p:sp>
        <p:nvSpPr>
          <p:cNvPr id="3" name="投影片編號版面配置區 2"/>
          <p:cNvSpPr>
            <a:spLocks noGrp="1"/>
          </p:cNvSpPr>
          <p:nvPr>
            <p:ph type="sldNum" sz="quarter" idx="12"/>
          </p:nvPr>
        </p:nvSpPr>
        <p:spPr/>
        <p:txBody>
          <a:bodyPr/>
          <a:lstStyle/>
          <a:p>
            <a:fld id="{84EE35EF-5712-4DA8-A867-60964FABEE4F}" type="slidenum">
              <a:rPr lang="zh-TW" altLang="en-US" smtClean="0"/>
              <a:t>31</a:t>
            </a:fld>
            <a:endParaRPr lang="zh-TW" altLang="en-US"/>
          </a:p>
        </p:txBody>
      </p:sp>
    </p:spTree>
    <p:extLst>
      <p:ext uri="{BB962C8B-B14F-4D97-AF65-F5344CB8AC3E}">
        <p14:creationId xmlns:p14="http://schemas.microsoft.com/office/powerpoint/2010/main" val="4483082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測試環境</a:t>
            </a:r>
            <a:endParaRPr lang="zh-TW" altLang="en-US" dirty="0"/>
          </a:p>
        </p:txBody>
      </p:sp>
      <p:sp>
        <p:nvSpPr>
          <p:cNvPr id="3" name="內容版面配置區 2"/>
          <p:cNvSpPr>
            <a:spLocks noGrp="1"/>
          </p:cNvSpPr>
          <p:nvPr>
            <p:ph idx="1"/>
          </p:nvPr>
        </p:nvSpPr>
        <p:spPr/>
        <p:txBody>
          <a:bodyPr/>
          <a:lstStyle/>
          <a:p>
            <a:r>
              <a:rPr lang="en-US" altLang="zh-TW" smtClean="0"/>
              <a:t>Windows 7 (64 Bit)</a:t>
            </a:r>
          </a:p>
          <a:p>
            <a:r>
              <a:rPr lang="en-US" altLang="zh-TW" smtClean="0"/>
              <a:t>12GB RAM</a:t>
            </a:r>
          </a:p>
          <a:p>
            <a:r>
              <a:rPr lang="en-US" altLang="zh-TW" smtClean="0"/>
              <a:t>Intel Core i7 950 3.06G</a:t>
            </a:r>
          </a:p>
          <a:p>
            <a:r>
              <a:rPr lang="en-US" altLang="zh-TW" smtClean="0"/>
              <a:t>NVIDIA GeForce GTX 580</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pPr/>
              <a:t>32</a:t>
            </a:fld>
            <a:endParaRPr lang="zh-TW" altLang="en-US"/>
          </a:p>
        </p:txBody>
      </p:sp>
    </p:spTree>
    <p:extLst>
      <p:ext uri="{BB962C8B-B14F-4D97-AF65-F5344CB8AC3E}">
        <p14:creationId xmlns:p14="http://schemas.microsoft.com/office/powerpoint/2010/main" val="33193306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測試樣本</a:t>
            </a:r>
            <a:endParaRPr lang="zh-TW" altLang="en-US" dirty="0"/>
          </a:p>
        </p:txBody>
      </p:sp>
      <p:sp>
        <p:nvSpPr>
          <p:cNvPr id="3" name="內容版面配置區 2"/>
          <p:cNvSpPr>
            <a:spLocks noGrp="1"/>
          </p:cNvSpPr>
          <p:nvPr>
            <p:ph idx="1"/>
          </p:nvPr>
        </p:nvSpPr>
        <p:spPr/>
        <p:txBody>
          <a:bodyPr/>
          <a:lstStyle/>
          <a:p>
            <a:pPr>
              <a:lnSpc>
                <a:spcPct val="150000"/>
              </a:lnSpc>
            </a:pPr>
            <a:r>
              <a:rPr lang="en-US" altLang="zh-TW" dirty="0" smtClean="0"/>
              <a:t>3D domain swapping </a:t>
            </a:r>
            <a:r>
              <a:rPr lang="zh-TW" altLang="en-US" dirty="0" smtClean="0"/>
              <a:t>的資料集。</a:t>
            </a:r>
            <a:endParaRPr lang="en-US" altLang="zh-TW" dirty="0" smtClean="0"/>
          </a:p>
          <a:p>
            <a:pPr>
              <a:lnSpc>
                <a:spcPct val="150000"/>
              </a:lnSpc>
            </a:pPr>
            <a:r>
              <a:rPr lang="zh-TW" altLang="en-US" dirty="0" smtClean="0"/>
              <a:t>分為 </a:t>
            </a:r>
            <a:r>
              <a:rPr lang="en-US" altLang="zh-TW" dirty="0" smtClean="0"/>
              <a:t>33 </a:t>
            </a:r>
            <a:r>
              <a:rPr lang="zh-TW" altLang="en-US" dirty="0" smtClean="0"/>
              <a:t>個不同的蛋白質結構群，</a:t>
            </a:r>
            <a:r>
              <a:rPr lang="en-US" altLang="zh-TW" dirty="0" smtClean="0"/>
              <a:t/>
            </a:r>
            <a:br>
              <a:rPr lang="en-US" altLang="zh-TW" dirty="0" smtClean="0"/>
            </a:br>
            <a:r>
              <a:rPr lang="zh-TW" altLang="en-US" dirty="0" smtClean="0"/>
              <a:t>共 </a:t>
            </a:r>
            <a:r>
              <a:rPr lang="en-US" altLang="zh-TW" dirty="0" smtClean="0"/>
              <a:t>402 </a:t>
            </a:r>
            <a:r>
              <a:rPr lang="zh-TW" altLang="en-US" dirty="0" smtClean="0"/>
              <a:t>個 </a:t>
            </a:r>
            <a:r>
              <a:rPr lang="en-US" altLang="zh-TW" dirty="0" smtClean="0"/>
              <a:t>PDB </a:t>
            </a:r>
            <a:r>
              <a:rPr lang="zh-TW" altLang="en-US" dirty="0" smtClean="0"/>
              <a:t>檔。</a:t>
            </a:r>
            <a:endParaRPr lang="en-US" altLang="zh-TW" dirty="0" smtClean="0"/>
          </a:p>
          <a:p>
            <a:pPr>
              <a:lnSpc>
                <a:spcPct val="150000"/>
              </a:lnSpc>
            </a:pPr>
            <a:r>
              <a:rPr lang="en-US" altLang="zh-TW" dirty="0" smtClean="0"/>
              <a:t>Leave-one-out cross verification.</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pPr/>
              <a:t>33</a:t>
            </a:fld>
            <a:endParaRPr lang="zh-TW" altLang="en-US"/>
          </a:p>
        </p:txBody>
      </p:sp>
    </p:spTree>
    <p:extLst>
      <p:ext uri="{BB962C8B-B14F-4D97-AF65-F5344CB8AC3E}">
        <p14:creationId xmlns:p14="http://schemas.microsoft.com/office/powerpoint/2010/main" val="40849771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PR Curve </a:t>
            </a:r>
            <a:r>
              <a:rPr lang="zh-TW" altLang="en-US" smtClean="0"/>
              <a:t>統計曲線圖</a:t>
            </a:r>
            <a:endParaRPr lang="zh-TW" altLang="en-US" dirty="0"/>
          </a:p>
        </p:txBody>
      </p:sp>
      <p:sp>
        <p:nvSpPr>
          <p:cNvPr id="7" name="內容版面配置區 6"/>
          <p:cNvSpPr>
            <a:spLocks noGrp="1"/>
          </p:cNvSpPr>
          <p:nvPr>
            <p:ph idx="1"/>
          </p:nvPr>
        </p:nvSpPr>
        <p:spPr/>
        <p:txBody>
          <a:bodyPr/>
          <a:lstStyle/>
          <a:p>
            <a:pPr>
              <a:lnSpc>
                <a:spcPct val="150000"/>
              </a:lnSpc>
            </a:pPr>
            <a:r>
              <a:rPr lang="zh-TW" altLang="en-US" dirty="0" smtClean="0"/>
              <a:t>測試結果，面積區域約為 </a:t>
            </a:r>
            <a:r>
              <a:rPr lang="en-US" altLang="zh-TW" dirty="0" smtClean="0"/>
              <a:t>0.954</a:t>
            </a:r>
            <a:r>
              <a:rPr lang="zh-TW" altLang="en-US" dirty="0" smtClean="0"/>
              <a:t>。</a:t>
            </a:r>
            <a:endParaRPr lang="en-US" altLang="zh-TW" dirty="0" smtClean="0"/>
          </a:p>
          <a:p>
            <a:pPr>
              <a:lnSpc>
                <a:spcPct val="150000"/>
              </a:lnSpc>
            </a:pPr>
            <a:r>
              <a:rPr lang="zh-TW" altLang="en-US" dirty="0" smtClean="0"/>
              <a:t>由測地線特徵值比對蛋白質表面結構的相似性是具有高效能的辨識特徵。</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pPr/>
              <a:t>34</a:t>
            </a:fld>
            <a:endParaRPr lang="zh-TW" altLang="en-US"/>
          </a:p>
        </p:txBody>
      </p:sp>
    </p:spTree>
    <p:extLst>
      <p:ext uri="{BB962C8B-B14F-4D97-AF65-F5344CB8AC3E}">
        <p14:creationId xmlns:p14="http://schemas.microsoft.com/office/powerpoint/2010/main" val="12251107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84EE35EF-5712-4DA8-A867-60964FABEE4F}" type="slidenum">
              <a:rPr lang="zh-TW" altLang="en-US" smtClean="0"/>
              <a:t>35</a:t>
            </a:fld>
            <a:endParaRPr lang="zh-TW" alt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9263" y="1552575"/>
            <a:ext cx="5705475" cy="375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03940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CUDA </a:t>
            </a:r>
            <a:r>
              <a:rPr lang="zh-TW" altLang="en-US" smtClean="0"/>
              <a:t>加速成果</a:t>
            </a:r>
            <a:endParaRPr lang="zh-TW" altLang="en-US" dirty="0"/>
          </a:p>
        </p:txBody>
      </p:sp>
      <p:sp>
        <p:nvSpPr>
          <p:cNvPr id="3" name="內容版面配置區 2"/>
          <p:cNvSpPr>
            <a:spLocks noGrp="1"/>
          </p:cNvSpPr>
          <p:nvPr>
            <p:ph idx="1"/>
          </p:nvPr>
        </p:nvSpPr>
        <p:spPr/>
        <p:txBody>
          <a:bodyPr/>
          <a:lstStyle/>
          <a:p>
            <a:pPr>
              <a:lnSpc>
                <a:spcPct val="150000"/>
              </a:lnSpc>
            </a:pPr>
            <a:r>
              <a:rPr lang="zh-TW" altLang="en-US" dirty="0" smtClean="0"/>
              <a:t>經由計算測地線特徵值到產生特徵值序列所需完成的時間曲線，如下頁圖。</a:t>
            </a:r>
            <a:endParaRPr lang="zh-TW" altLang="en-US" dirty="0"/>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pPr/>
              <a:t>36</a:t>
            </a:fld>
            <a:endParaRPr lang="zh-TW" altLang="en-US"/>
          </a:p>
        </p:txBody>
      </p:sp>
    </p:spTree>
    <p:extLst>
      <p:ext uri="{BB962C8B-B14F-4D97-AF65-F5344CB8AC3E}">
        <p14:creationId xmlns:p14="http://schemas.microsoft.com/office/powerpoint/2010/main" val="2504367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84EE35EF-5712-4DA8-A867-60964FABEE4F}" type="slidenum">
              <a:rPr lang="zh-TW" altLang="en-US" smtClean="0"/>
              <a:t>37</a:t>
            </a:fld>
            <a:endParaRPr lang="zh-TW" alt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963" y="352425"/>
            <a:ext cx="7458075" cy="615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31689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標題 16"/>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a:lnSpc>
                <a:spcPct val="150000"/>
              </a:lnSpc>
            </a:pPr>
            <a:r>
              <a:rPr lang="zh-TW" altLang="en-US" sz="2000" dirty="0" smtClean="0"/>
              <a:t>資料集當中，最大的蛋白質</a:t>
            </a:r>
            <a:r>
              <a:rPr lang="en-US" altLang="zh-TW" sz="2000" dirty="0" smtClean="0"/>
              <a:t/>
            </a:r>
            <a:br>
              <a:rPr lang="en-US" altLang="zh-TW" sz="2000" dirty="0" smtClean="0"/>
            </a:br>
            <a:r>
              <a:rPr lang="zh-TW" altLang="en-US" sz="2000" dirty="0" smtClean="0"/>
              <a:t>約 </a:t>
            </a:r>
            <a:r>
              <a:rPr lang="en-US" altLang="zh-TW" sz="2000" dirty="0" smtClean="0"/>
              <a:t>37 </a:t>
            </a:r>
            <a:r>
              <a:rPr lang="zh-TW" altLang="en-US" sz="2000" dirty="0" smtClean="0"/>
              <a:t>分鐘 → </a:t>
            </a:r>
            <a:r>
              <a:rPr lang="en-US" altLang="zh-TW" sz="2000" dirty="0" smtClean="0"/>
              <a:t>34.05 </a:t>
            </a:r>
            <a:r>
              <a:rPr lang="zh-TW" altLang="en-US" sz="2000" dirty="0" smtClean="0"/>
              <a:t>秒 </a:t>
            </a:r>
            <a:r>
              <a:rPr lang="en-US" altLang="zh-TW" sz="2000" dirty="0" smtClean="0"/>
              <a:t>(65 </a:t>
            </a:r>
            <a:r>
              <a:rPr lang="zh-TW" altLang="en-US" sz="2000" dirty="0" smtClean="0"/>
              <a:t>倍</a:t>
            </a:r>
            <a:r>
              <a:rPr lang="en-US" altLang="zh-TW" sz="2000" dirty="0" smtClean="0"/>
              <a:t>)</a:t>
            </a:r>
          </a:p>
          <a:p>
            <a:pPr>
              <a:lnSpc>
                <a:spcPct val="150000"/>
              </a:lnSpc>
            </a:pPr>
            <a:r>
              <a:rPr lang="zh-TW" altLang="en-US" sz="2000" dirty="0" smtClean="0"/>
              <a:t>計算全部 </a:t>
            </a:r>
            <a:r>
              <a:rPr lang="en-US" altLang="zh-TW" sz="2000" dirty="0" smtClean="0"/>
              <a:t>402 </a:t>
            </a:r>
            <a:r>
              <a:rPr lang="zh-TW" altLang="en-US" sz="2000" dirty="0" smtClean="0"/>
              <a:t>個蛋白質</a:t>
            </a:r>
            <a:r>
              <a:rPr lang="en-US" altLang="zh-TW" sz="2000" dirty="0" smtClean="0"/>
              <a:t/>
            </a:r>
            <a:br>
              <a:rPr lang="en-US" altLang="zh-TW" sz="2000" dirty="0" smtClean="0"/>
            </a:br>
            <a:r>
              <a:rPr lang="en-US" altLang="zh-TW" sz="2000" dirty="0" smtClean="0"/>
              <a:t>30896 </a:t>
            </a:r>
            <a:r>
              <a:rPr lang="zh-TW" altLang="en-US" sz="2000" dirty="0" smtClean="0"/>
              <a:t>秒 → </a:t>
            </a:r>
            <a:r>
              <a:rPr lang="en-US" altLang="zh-TW" sz="2000" dirty="0" smtClean="0"/>
              <a:t>577 </a:t>
            </a:r>
            <a:r>
              <a:rPr lang="zh-TW" altLang="en-US" sz="2000" dirty="0" smtClean="0"/>
              <a:t>秒 </a:t>
            </a:r>
            <a:r>
              <a:rPr lang="en-US" altLang="zh-TW" sz="2000" dirty="0" smtClean="0"/>
              <a:t>(54 </a:t>
            </a:r>
            <a:r>
              <a:rPr lang="zh-TW" altLang="en-US" sz="2000" dirty="0" smtClean="0"/>
              <a:t>倍</a:t>
            </a:r>
            <a:r>
              <a:rPr lang="en-US" altLang="zh-TW" sz="2000" dirty="0" smtClean="0"/>
              <a:t>)</a:t>
            </a:r>
          </a:p>
          <a:p>
            <a:pPr>
              <a:lnSpc>
                <a:spcPct val="150000"/>
              </a:lnSpc>
            </a:pPr>
            <a:r>
              <a:rPr lang="en-US" altLang="zh-TW" sz="2000" dirty="0" smtClean="0"/>
              <a:t>402 </a:t>
            </a:r>
            <a:r>
              <a:rPr lang="zh-TW" altLang="en-US" sz="2000" dirty="0" smtClean="0"/>
              <a:t>條序列進行交叉比對至排名的部份</a:t>
            </a:r>
            <a:r>
              <a:rPr lang="en-US" altLang="zh-TW" sz="2000" dirty="0" smtClean="0"/>
              <a:t/>
            </a:r>
            <a:br>
              <a:rPr lang="en-US" altLang="zh-TW" sz="2000" dirty="0" smtClean="0"/>
            </a:br>
            <a:r>
              <a:rPr lang="en-US" altLang="zh-TW" sz="2000" dirty="0" smtClean="0"/>
              <a:t>1237 </a:t>
            </a:r>
            <a:r>
              <a:rPr lang="zh-TW" altLang="en-US" sz="2000" dirty="0" smtClean="0"/>
              <a:t>秒 → </a:t>
            </a:r>
            <a:r>
              <a:rPr lang="en-US" altLang="zh-TW" sz="2000" dirty="0" smtClean="0"/>
              <a:t>36 </a:t>
            </a:r>
            <a:r>
              <a:rPr lang="zh-TW" altLang="en-US" sz="2000" dirty="0" smtClean="0"/>
              <a:t>秒 </a:t>
            </a:r>
            <a:r>
              <a:rPr lang="en-US" altLang="zh-TW" sz="2000" dirty="0" smtClean="0"/>
              <a:t>(34 </a:t>
            </a:r>
            <a:r>
              <a:rPr lang="zh-TW" altLang="en-US" sz="2000" dirty="0" smtClean="0"/>
              <a:t>倍</a:t>
            </a:r>
            <a:r>
              <a:rPr lang="en-US" altLang="zh-TW" sz="2000" dirty="0" smtClean="0"/>
              <a:t>)</a:t>
            </a:r>
          </a:p>
          <a:p>
            <a:pPr>
              <a:lnSpc>
                <a:spcPct val="150000"/>
              </a:lnSpc>
            </a:pPr>
            <a:r>
              <a:rPr lang="zh-TW" altLang="en-US" sz="2000" dirty="0" smtClean="0"/>
              <a:t>輸入檔案至排名結束</a:t>
            </a:r>
            <a:r>
              <a:rPr lang="en-US" altLang="zh-TW" sz="2000" dirty="0" smtClean="0"/>
              <a:t/>
            </a:r>
            <a:br>
              <a:rPr lang="en-US" altLang="zh-TW" sz="2000" dirty="0" smtClean="0"/>
            </a:br>
            <a:r>
              <a:rPr lang="en-US" altLang="zh-TW" sz="2000" dirty="0" smtClean="0"/>
              <a:t>32134 </a:t>
            </a:r>
            <a:r>
              <a:rPr lang="zh-TW" altLang="en-US" sz="2000" dirty="0" smtClean="0"/>
              <a:t>秒 → </a:t>
            </a:r>
            <a:r>
              <a:rPr lang="en-US" altLang="zh-TW" sz="2000" dirty="0" smtClean="0"/>
              <a:t>613 </a:t>
            </a:r>
            <a:r>
              <a:rPr lang="zh-TW" altLang="en-US" sz="2000" dirty="0" smtClean="0"/>
              <a:t>秒 </a:t>
            </a:r>
            <a:r>
              <a:rPr lang="en-US" altLang="zh-TW" sz="2000" dirty="0" smtClean="0"/>
              <a:t>(52.4 </a:t>
            </a:r>
            <a:r>
              <a:rPr lang="zh-TW" altLang="en-US" sz="2000" dirty="0" smtClean="0"/>
              <a:t>倍</a:t>
            </a:r>
            <a:r>
              <a:rPr lang="en-US" altLang="zh-TW" sz="2000" dirty="0" smtClean="0"/>
              <a:t>)</a:t>
            </a:r>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pPr/>
              <a:t>38</a:t>
            </a:fld>
            <a:endParaRPr lang="zh-TW" altLang="en-US"/>
          </a:p>
        </p:txBody>
      </p:sp>
    </p:spTree>
    <p:extLst>
      <p:ext uri="{BB962C8B-B14F-4D97-AF65-F5344CB8AC3E}">
        <p14:creationId xmlns:p14="http://schemas.microsoft.com/office/powerpoint/2010/main" val="36683210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Thank You for Listening.</a:t>
            </a:r>
            <a:endParaRPr lang="zh-TW" altLang="en-US" dirty="0"/>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84EE35EF-5712-4DA8-A867-60964FABEE4F}" type="slidenum">
              <a:rPr lang="zh-TW" altLang="en-US" smtClean="0"/>
              <a:t>39</a:t>
            </a:fld>
            <a:endParaRPr lang="zh-TW" altLang="en-US"/>
          </a:p>
        </p:txBody>
      </p:sp>
    </p:spTree>
    <p:extLst>
      <p:ext uri="{BB962C8B-B14F-4D97-AF65-F5344CB8AC3E}">
        <p14:creationId xmlns:p14="http://schemas.microsoft.com/office/powerpoint/2010/main" val="329486978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520</TotalTime>
  <Words>1175</Words>
  <Application>Microsoft Office PowerPoint</Application>
  <PresentationFormat>如螢幕大小 (4:3)</PresentationFormat>
  <Paragraphs>154</Paragraphs>
  <Slides>39</Slides>
  <Notes>0</Notes>
  <HiddenSlides>2</HiddenSlides>
  <MMClips>0</MMClips>
  <ScaleCrop>false</ScaleCrop>
  <HeadingPairs>
    <vt:vector size="4" baseType="variant">
      <vt:variant>
        <vt:lpstr>佈景主題</vt:lpstr>
      </vt:variant>
      <vt:variant>
        <vt:i4>1</vt:i4>
      </vt:variant>
      <vt:variant>
        <vt:lpstr>投影片標題</vt:lpstr>
      </vt:variant>
      <vt:variant>
        <vt:i4>39</vt:i4>
      </vt:variant>
    </vt:vector>
  </HeadingPairs>
  <TitlesOfParts>
    <vt:vector size="40" baseType="lpstr">
      <vt:lpstr>Office 佈景主題</vt:lpstr>
      <vt:lpstr>運用 CUDA 平行處理技術實現 蛋白質表面測地線特徵比對</vt:lpstr>
      <vt:lpstr>Abstract (1/2)</vt:lpstr>
      <vt:lpstr>Abstract (2/2)</vt:lpstr>
      <vt:lpstr>背景介紹</vt:lpstr>
      <vt:lpstr>研究目標</vt:lpstr>
      <vt:lpstr>文獻回顧與討論 (1/2)</vt:lpstr>
      <vt:lpstr>文獻回顧與討論 (2/2)</vt:lpstr>
      <vt:lpstr>研究技術介紹</vt:lpstr>
      <vt:lpstr>測地線距離特徵</vt:lpstr>
      <vt:lpstr>PowerPoint 簡報</vt:lpstr>
      <vt:lpstr>CUDA 平行運算技術</vt:lpstr>
      <vt:lpstr>研究方法與步驟</vt:lpstr>
      <vt:lpstr>流程步驟</vt:lpstr>
      <vt:lpstr>流程步驟</vt:lpstr>
      <vt:lpstr>PowerPoint 簡報</vt:lpstr>
      <vt:lpstr>1. 輸入 PDB 檔</vt:lpstr>
      <vt:lpstr>2. 擷取骨幹</vt:lpstr>
      <vt:lpstr>3. 擷取蛋白質結構表面點</vt:lpstr>
      <vt:lpstr>4. 表面點縮減取樣</vt:lpstr>
      <vt:lpstr>PowerPoint 簡報</vt:lpstr>
      <vt:lpstr>5. 計算測地線距離</vt:lpstr>
      <vt:lpstr>1) 表面點之間測地線距離</vt:lpstr>
      <vt:lpstr>PowerPoint 簡報</vt:lpstr>
      <vt:lpstr>2) 原子之間測地線距離</vt:lpstr>
      <vt:lpstr>3) 胺基酸之間測地線距離</vt:lpstr>
      <vt:lpstr>6. 計算平均測地線距離</vt:lpstr>
      <vt:lpstr>PowerPoint 簡報</vt:lpstr>
      <vt:lpstr>7. 編碼測地線特徵值</vt:lpstr>
      <vt:lpstr>8. 測地線特徵向量排比與排名</vt:lpstr>
      <vt:lpstr>演算法說明</vt:lpstr>
      <vt:lpstr>實驗結果</vt:lpstr>
      <vt:lpstr>測試環境</vt:lpstr>
      <vt:lpstr>測試樣本</vt:lpstr>
      <vt:lpstr>PR Curve 統計曲線圖</vt:lpstr>
      <vt:lpstr>PowerPoint 簡報</vt:lpstr>
      <vt:lpstr>CUDA 加速成果</vt:lpstr>
      <vt:lpstr>PowerPoint 簡報</vt:lpstr>
      <vt:lpstr>PowerPoint 簡報</vt:lpstr>
      <vt:lpstr>Thank You for Listening.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運用CUDA平行處理技術實現 蛋白質表面測地線特徵比對</dc:title>
  <dc:creator>YiPo</dc:creator>
  <cp:lastModifiedBy>YiPo</cp:lastModifiedBy>
  <cp:revision>31</cp:revision>
  <dcterms:created xsi:type="dcterms:W3CDTF">2011-12-09T09:31:29Z</dcterms:created>
  <dcterms:modified xsi:type="dcterms:W3CDTF">2011-12-11T18:06:44Z</dcterms:modified>
</cp:coreProperties>
</file>