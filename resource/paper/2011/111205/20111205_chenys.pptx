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59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8" r:id="rId20"/>
    <p:sldId id="279" r:id="rId21"/>
    <p:sldId id="273" r:id="rId22"/>
    <p:sldId id="274" r:id="rId23"/>
    <p:sldId id="275" r:id="rId24"/>
    <p:sldId id="276" r:id="rId2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19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2011/12/5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11560" y="126876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Evolving Accurate and Compact Classification Rules</a:t>
            </a:r>
            <a:br>
              <a:rPr lang="en-US" altLang="zh-TW" dirty="0" smtClean="0"/>
            </a:br>
            <a:r>
              <a:rPr lang="en-US" altLang="zh-TW" dirty="0" smtClean="0"/>
              <a:t>With Gene Expression Programming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47664" y="3140968"/>
            <a:ext cx="6400800" cy="720080"/>
          </a:xfrm>
        </p:spPr>
        <p:txBody>
          <a:bodyPr>
            <a:normAutofit/>
          </a:bodyPr>
          <a:lstStyle/>
          <a:p>
            <a:r>
              <a:rPr lang="en-US" altLang="zh-TW" sz="2000" dirty="0" smtClean="0"/>
              <a:t>IEEE TRANSACTIONS ON EVOLUTIONARY COMPUTATION, VOL. 7, NO. 6, DECEMBER 2003</a:t>
            </a:r>
            <a:endParaRPr lang="zh-TW" altLang="en-US" sz="2000" dirty="0"/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3851920" y="4725144"/>
            <a:ext cx="4744616" cy="720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Presenter:</a:t>
            </a:r>
            <a:r>
              <a:rPr kumimoji="0" lang="en-US" altLang="zh-TW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Chen </a:t>
            </a:r>
            <a:r>
              <a:rPr kumimoji="0" lang="en-US" altLang="zh-TW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Yun-Shiuan</a:t>
            </a:r>
            <a:endParaRPr kumimoji="0" lang="en-US" altLang="zh-TW" sz="2000" b="0" i="0" u="none" strike="noStrike" kern="1200" cap="none" spc="0" normalizeH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2000" baseline="0" dirty="0" smtClean="0">
                <a:solidFill>
                  <a:schemeClr val="tx1">
                    <a:tint val="75000"/>
                  </a:schemeClr>
                </a:solidFill>
              </a:rPr>
              <a:t>              Data:</a:t>
            </a:r>
            <a:r>
              <a:rPr lang="en-US" altLang="zh-TW" sz="2000" dirty="0" smtClean="0">
                <a:solidFill>
                  <a:schemeClr val="tx1">
                    <a:tint val="75000"/>
                  </a:schemeClr>
                </a:solidFill>
              </a:rPr>
              <a:t> 2011/12/5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altLang="zh-TW" b="1" i="1" dirty="0" smtClean="0"/>
              <a:t>		Classification </a:t>
            </a:r>
            <a:r>
              <a:rPr lang="en-US" altLang="zh-TW" b="1" i="1" dirty="0" smtClean="0"/>
              <a:t>is one of the fundamental tasks of </a:t>
            </a:r>
            <a:r>
              <a:rPr lang="en-US" altLang="zh-TW" b="1" i="1" dirty="0" smtClean="0"/>
              <a:t>data </a:t>
            </a:r>
            <a:r>
              <a:rPr lang="en-US" altLang="zh-TW" b="1" dirty="0" smtClean="0"/>
              <a:t>mining</a:t>
            </a:r>
            <a:r>
              <a:rPr lang="en-US" altLang="zh-TW" b="1" dirty="0" smtClean="0"/>
              <a:t>. Most rule induction and decision tree algorithms </a:t>
            </a:r>
            <a:r>
              <a:rPr lang="en-US" altLang="zh-TW" b="1" dirty="0" smtClean="0"/>
              <a:t>perform local</a:t>
            </a:r>
            <a:r>
              <a:rPr lang="en-US" altLang="zh-TW" b="1" dirty="0" smtClean="0"/>
              <a:t>, greedy search to generate classification rules that are </a:t>
            </a:r>
            <a:r>
              <a:rPr lang="en-US" altLang="zh-TW" b="1" dirty="0" smtClean="0"/>
              <a:t>often more </a:t>
            </a:r>
            <a:r>
              <a:rPr lang="en-US" altLang="zh-TW" b="1" dirty="0" smtClean="0"/>
              <a:t>complex than necessary. Evolutionary algorithms for </a:t>
            </a:r>
            <a:r>
              <a:rPr lang="en-US" altLang="zh-TW" b="1" dirty="0" smtClean="0"/>
              <a:t>pattern classification </a:t>
            </a:r>
            <a:r>
              <a:rPr lang="en-US" altLang="zh-TW" b="1" dirty="0" smtClean="0"/>
              <a:t>have recently received increased attention </a:t>
            </a:r>
            <a:r>
              <a:rPr lang="en-US" altLang="zh-TW" b="1" dirty="0" smtClean="0"/>
              <a:t>because they </a:t>
            </a:r>
            <a:r>
              <a:rPr lang="en-US" altLang="zh-TW" b="1" dirty="0" smtClean="0"/>
              <a:t>can perform global searches. In this paper, we propose </a:t>
            </a:r>
            <a:r>
              <a:rPr lang="en-US" altLang="zh-TW" b="1" dirty="0" smtClean="0"/>
              <a:t>a new </a:t>
            </a:r>
            <a:r>
              <a:rPr lang="en-US" altLang="zh-TW" b="1" dirty="0" smtClean="0"/>
              <a:t>approach for discovering classification rules by using </a:t>
            </a:r>
            <a:r>
              <a:rPr lang="en-US" altLang="zh-TW" b="1" dirty="0" smtClean="0"/>
              <a:t>gene expression </a:t>
            </a:r>
            <a:r>
              <a:rPr lang="en-US" altLang="zh-TW" b="1" dirty="0" smtClean="0"/>
              <a:t>programming (GEP), a new technique of </a:t>
            </a:r>
            <a:r>
              <a:rPr lang="en-US" altLang="zh-TW" b="1" dirty="0" smtClean="0"/>
              <a:t>genetic programming </a:t>
            </a:r>
            <a:r>
              <a:rPr lang="en-US" altLang="zh-TW" b="1" dirty="0" smtClean="0"/>
              <a:t>(GP) with linear representation. The </a:t>
            </a:r>
            <a:r>
              <a:rPr lang="en-US" altLang="zh-TW" b="1" dirty="0" smtClean="0"/>
              <a:t>antecedent of </a:t>
            </a:r>
            <a:r>
              <a:rPr lang="en-US" altLang="zh-TW" b="1" dirty="0" smtClean="0"/>
              <a:t>discovered rules may involve many different combinations </a:t>
            </a:r>
            <a:r>
              <a:rPr lang="en-US" altLang="zh-TW" b="1" dirty="0" smtClean="0"/>
              <a:t>of attributes</a:t>
            </a:r>
            <a:r>
              <a:rPr lang="en-US" altLang="zh-TW" b="1" dirty="0" smtClean="0"/>
              <a:t>. To guide the search process, we suggest a fitness </a:t>
            </a:r>
            <a:r>
              <a:rPr lang="en-US" altLang="zh-TW" b="1" dirty="0" smtClean="0"/>
              <a:t>function considering </a:t>
            </a:r>
            <a:r>
              <a:rPr lang="en-US" altLang="zh-TW" b="1" dirty="0" smtClean="0"/>
              <a:t>both the rule consistency gain and </a:t>
            </a:r>
            <a:r>
              <a:rPr lang="en-US" altLang="zh-TW" b="1" dirty="0" smtClean="0"/>
              <a:t>completeness. A </a:t>
            </a:r>
            <a:r>
              <a:rPr lang="en-US" altLang="zh-TW" b="1" dirty="0" smtClean="0"/>
              <a:t>multiclass classification problem is formulated as </a:t>
            </a:r>
            <a:r>
              <a:rPr lang="en-US" altLang="zh-TW" b="1" dirty="0" smtClean="0"/>
              <a:t>multiple two-class </a:t>
            </a:r>
            <a:r>
              <a:rPr lang="en-US" altLang="zh-TW" b="1" dirty="0" smtClean="0"/>
              <a:t>problems by using the one-against-all learning </a:t>
            </a:r>
            <a:r>
              <a:rPr lang="en-US" altLang="zh-TW" b="1" dirty="0" smtClean="0"/>
              <a:t>method. The </a:t>
            </a:r>
            <a:r>
              <a:rPr lang="en-US" altLang="zh-TW" b="1" dirty="0" smtClean="0"/>
              <a:t>covering strategy is applied to learn multiple rules if </a:t>
            </a:r>
            <a:r>
              <a:rPr lang="en-US" altLang="zh-TW" b="1" dirty="0" smtClean="0"/>
              <a:t>applicable for </a:t>
            </a:r>
            <a:r>
              <a:rPr lang="en-US" altLang="zh-TW" b="1" dirty="0" smtClean="0"/>
              <a:t>each class. Compact rule sets are subsequently </a:t>
            </a:r>
            <a:r>
              <a:rPr lang="en-US" altLang="zh-TW" b="1" dirty="0" smtClean="0"/>
              <a:t>evolved using </a:t>
            </a:r>
            <a:r>
              <a:rPr lang="en-US" altLang="zh-TW" b="1" dirty="0" smtClean="0"/>
              <a:t>a two-phase pruning method based on the minimum </a:t>
            </a:r>
            <a:r>
              <a:rPr lang="en-US" altLang="zh-TW" b="1" dirty="0" smtClean="0"/>
              <a:t>description length </a:t>
            </a:r>
            <a:r>
              <a:rPr lang="en-US" altLang="zh-TW" b="1" dirty="0" smtClean="0"/>
              <a:t>(MDL) principle and the integration theory. </a:t>
            </a:r>
            <a:r>
              <a:rPr lang="en-US" altLang="zh-TW" b="1" dirty="0" smtClean="0"/>
              <a:t>Our approach </a:t>
            </a:r>
            <a:r>
              <a:rPr lang="en-US" altLang="zh-TW" b="1" dirty="0" smtClean="0"/>
              <a:t>is also noise tolerant and able to deal with both </a:t>
            </a:r>
            <a:r>
              <a:rPr lang="en-US" altLang="zh-TW" b="1" dirty="0" smtClean="0"/>
              <a:t>numeric and </a:t>
            </a:r>
            <a:r>
              <a:rPr lang="en-US" altLang="zh-TW" b="1" dirty="0" smtClean="0"/>
              <a:t>nominal attributes. Experiments with several benchmark </a:t>
            </a:r>
            <a:r>
              <a:rPr lang="en-US" altLang="zh-TW" b="1" dirty="0" smtClean="0"/>
              <a:t>data sets </a:t>
            </a:r>
            <a:r>
              <a:rPr lang="en-US" altLang="zh-TW" b="1" dirty="0" smtClean="0"/>
              <a:t>have shown up to 20% improvement in validation </a:t>
            </a:r>
            <a:r>
              <a:rPr lang="en-US" altLang="zh-TW" b="1" dirty="0" smtClean="0"/>
              <a:t>accuracy, compared </a:t>
            </a:r>
            <a:r>
              <a:rPr lang="en-US" altLang="zh-TW" b="1" dirty="0" smtClean="0"/>
              <a:t>with C4.5 algorithms. Furthermore, the proposed </a:t>
            </a:r>
            <a:r>
              <a:rPr lang="en-US" altLang="zh-TW" b="1" dirty="0" smtClean="0"/>
              <a:t>GEP approach </a:t>
            </a:r>
            <a:r>
              <a:rPr lang="en-US" altLang="zh-TW" b="1" dirty="0" smtClean="0"/>
              <a:t>is more efficient and tends to generate shorter </a:t>
            </a:r>
            <a:r>
              <a:rPr lang="en-US" altLang="zh-TW" b="1" dirty="0" smtClean="0"/>
              <a:t>solutions compared </a:t>
            </a:r>
            <a:r>
              <a:rPr lang="en-US" altLang="zh-TW" b="1" dirty="0" smtClean="0"/>
              <a:t>with canonical tree-based GP classifiers.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Gene Programming (GP)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 a robust, domain-independent mechanism for </a:t>
            </a:r>
            <a:r>
              <a:rPr lang="en-US" altLang="zh-TW" dirty="0" smtClean="0"/>
              <a:t>numeric and </a:t>
            </a:r>
            <a:r>
              <a:rPr lang="en-US" altLang="zh-TW" dirty="0" smtClean="0"/>
              <a:t>symbolic optimization, GAs have been applied to </a:t>
            </a:r>
            <a:r>
              <a:rPr lang="en-US" altLang="zh-TW" dirty="0" smtClean="0"/>
              <a:t>evolve a </a:t>
            </a:r>
            <a:r>
              <a:rPr lang="en-US" altLang="zh-TW" dirty="0" smtClean="0"/>
              <a:t>set of production rules for more than two decades, </a:t>
            </a:r>
            <a:r>
              <a:rPr lang="en-US" altLang="zh-TW" dirty="0" smtClean="0"/>
              <a:t>which forms </a:t>
            </a:r>
            <a:r>
              <a:rPr lang="en-US" altLang="zh-TW" dirty="0" smtClean="0"/>
              <a:t>a machine learning paradigm called learning </a:t>
            </a:r>
            <a:r>
              <a:rPr lang="en-US" altLang="zh-TW" dirty="0" smtClean="0"/>
              <a:t>classifier systems </a:t>
            </a:r>
            <a:r>
              <a:rPr lang="en-US" altLang="zh-TW" dirty="0" smtClean="0"/>
              <a:t>(LCS</a:t>
            </a:r>
            <a:r>
              <a:rPr lang="en-US" altLang="zh-TW" dirty="0" smtClean="0"/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Gene Programming (GP)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GA-based classifier systems usually fall </a:t>
            </a:r>
            <a:r>
              <a:rPr lang="en-US" altLang="zh-TW" dirty="0" smtClean="0"/>
              <a:t>into two </a:t>
            </a:r>
            <a:r>
              <a:rPr lang="en-US" altLang="zh-TW" dirty="0" smtClean="0"/>
              <a:t>basic classes: the Michigan approach and the </a:t>
            </a:r>
            <a:r>
              <a:rPr lang="en-US" altLang="zh-TW" dirty="0" smtClean="0"/>
              <a:t>Pittsburgh approach.</a:t>
            </a:r>
          </a:p>
          <a:p>
            <a:r>
              <a:rPr lang="en-US" altLang="zh-TW" dirty="0" smtClean="0"/>
              <a:t>The </a:t>
            </a:r>
            <a:r>
              <a:rPr lang="en-US" altLang="zh-TW" dirty="0" smtClean="0"/>
              <a:t>main difference between these two stems </a:t>
            </a:r>
            <a:r>
              <a:rPr lang="en-US" altLang="zh-TW" dirty="0" smtClean="0"/>
              <a:t>from the </a:t>
            </a:r>
            <a:r>
              <a:rPr lang="en-US" altLang="zh-TW" dirty="0" smtClean="0"/>
              <a:t>chromosome encoding schemes in the population of individuals.</a:t>
            </a:r>
          </a:p>
          <a:p>
            <a:r>
              <a:rPr lang="en-US" altLang="zh-TW" dirty="0" smtClean="0"/>
              <a:t>Michigan approach</a:t>
            </a:r>
          </a:p>
          <a:p>
            <a:pPr lvl="1"/>
            <a:r>
              <a:rPr lang="en-US" altLang="zh-TW" dirty="0" smtClean="0"/>
              <a:t>each individual with </a:t>
            </a:r>
            <a:r>
              <a:rPr lang="en-US" altLang="zh-TW" dirty="0" smtClean="0"/>
              <a:t>fixed length encodes a single production </a:t>
            </a:r>
            <a:r>
              <a:rPr lang="en-US" altLang="zh-TW" dirty="0" smtClean="0"/>
              <a:t>rule.</a:t>
            </a:r>
          </a:p>
          <a:p>
            <a:pPr lvl="1"/>
            <a:r>
              <a:rPr lang="en-US" altLang="zh-TW" dirty="0" smtClean="0"/>
              <a:t>more </a:t>
            </a:r>
            <a:r>
              <a:rPr lang="en-US" altLang="zh-TW" dirty="0" smtClean="0"/>
              <a:t>flexible to handle incremental-mode learning, in which training examples arrive over time and dynamically changing </a:t>
            </a:r>
            <a:r>
              <a:rPr lang="en-US" altLang="zh-TW" dirty="0" smtClean="0"/>
              <a:t>domains</a:t>
            </a:r>
            <a:endParaRPr lang="en-US" altLang="zh-TW" b="1" dirty="0" smtClean="0"/>
          </a:p>
          <a:p>
            <a:r>
              <a:rPr lang="en-US" altLang="zh-TW" dirty="0" smtClean="0"/>
              <a:t>Pittsburgh approach</a:t>
            </a:r>
          </a:p>
          <a:p>
            <a:pPr lvl="1"/>
            <a:r>
              <a:rPr lang="en-US" altLang="zh-TW" dirty="0" smtClean="0"/>
              <a:t>each </a:t>
            </a:r>
            <a:r>
              <a:rPr lang="en-US" altLang="zh-TW" dirty="0" smtClean="0"/>
              <a:t>individual is represented by </a:t>
            </a:r>
            <a:r>
              <a:rPr lang="en-US" altLang="zh-TW" dirty="0" smtClean="0"/>
              <a:t>a variable-length </a:t>
            </a:r>
            <a:r>
              <a:rPr lang="en-US" altLang="zh-TW" dirty="0" smtClean="0"/>
              <a:t>string and encodes a complete set of </a:t>
            </a:r>
            <a:r>
              <a:rPr lang="en-US" altLang="zh-TW" dirty="0" smtClean="0"/>
              <a:t>rules</a:t>
            </a:r>
          </a:p>
          <a:p>
            <a:pPr lvl="1"/>
            <a:r>
              <a:rPr lang="en-US" altLang="zh-TW" dirty="0" smtClean="0"/>
              <a:t>better </a:t>
            </a:r>
            <a:r>
              <a:rPr lang="en-US" altLang="zh-TW" dirty="0" smtClean="0"/>
              <a:t>suited for static </a:t>
            </a:r>
            <a:r>
              <a:rPr lang="en-US" altLang="zh-TW" dirty="0" smtClean="0"/>
              <a:t>domains and </a:t>
            </a:r>
            <a:r>
              <a:rPr lang="en-US" altLang="zh-TW" dirty="0" smtClean="0"/>
              <a:t>batch-mode learning, in which all training examples </a:t>
            </a:r>
            <a:r>
              <a:rPr lang="en-US" altLang="zh-TW" dirty="0" smtClean="0"/>
              <a:t>are available </a:t>
            </a:r>
            <a:r>
              <a:rPr lang="en-US" altLang="zh-TW" dirty="0" smtClean="0"/>
              <a:t>before the learning process </a:t>
            </a:r>
            <a:r>
              <a:rPr lang="en-US" altLang="zh-TW" dirty="0" smtClean="0"/>
              <a:t>starts.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Gene </a:t>
            </a:r>
            <a:r>
              <a:rPr lang="en-US" altLang="zh-TW" dirty="0" smtClean="0"/>
              <a:t>Expression Programming </a:t>
            </a:r>
            <a:r>
              <a:rPr lang="en-US" altLang="zh-TW" dirty="0" smtClean="0"/>
              <a:t>(</a:t>
            </a:r>
            <a:r>
              <a:rPr lang="en-US" altLang="zh-TW" dirty="0" smtClean="0"/>
              <a:t>GEP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Like GP, five general </a:t>
            </a:r>
            <a:r>
              <a:rPr lang="en-US" altLang="zh-TW" dirty="0" smtClean="0"/>
              <a:t>components: </a:t>
            </a:r>
          </a:p>
          <a:p>
            <a:pPr lvl="1"/>
            <a:r>
              <a:rPr lang="en-US" altLang="zh-TW" dirty="0" smtClean="0"/>
              <a:t>function set</a:t>
            </a:r>
          </a:p>
          <a:p>
            <a:pPr lvl="1"/>
            <a:r>
              <a:rPr lang="en-US" altLang="zh-TW" dirty="0" smtClean="0"/>
              <a:t>terminal set</a:t>
            </a:r>
          </a:p>
          <a:p>
            <a:pPr lvl="1"/>
            <a:r>
              <a:rPr lang="en-US" altLang="zh-TW" dirty="0" smtClean="0"/>
              <a:t>fitness function</a:t>
            </a:r>
          </a:p>
          <a:p>
            <a:pPr lvl="1"/>
            <a:r>
              <a:rPr lang="en-US" altLang="zh-TW" dirty="0" smtClean="0"/>
              <a:t>control parameters</a:t>
            </a:r>
          </a:p>
          <a:p>
            <a:pPr lvl="1"/>
            <a:r>
              <a:rPr lang="en-US" altLang="zh-TW" dirty="0" smtClean="0"/>
              <a:t>stop criteria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Gene Expression Programming(GEP)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Chromosomes: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Expression Trees: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2043" t="27743" r="3969" b="16772"/>
          <a:stretch>
            <a:fillRect/>
          </a:stretch>
        </p:blipFill>
        <p:spPr bwMode="auto">
          <a:xfrm>
            <a:off x="2123728" y="2204864"/>
            <a:ext cx="5400600" cy="469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l="1830" t="2639" r="2984"/>
          <a:stretch>
            <a:fillRect/>
          </a:stretch>
        </p:blipFill>
        <p:spPr bwMode="auto">
          <a:xfrm>
            <a:off x="3995936" y="2996952"/>
            <a:ext cx="2475891" cy="3513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Flowchart of GEP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481" t="4147" r="3921" b="1795"/>
          <a:stretch>
            <a:fillRect/>
          </a:stretch>
        </p:blipFill>
        <p:spPr bwMode="auto">
          <a:xfrm>
            <a:off x="2483768" y="1412776"/>
            <a:ext cx="4104456" cy="505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GEP operators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8064896" cy="467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One-Against All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Also called </a:t>
            </a:r>
            <a:r>
              <a:rPr lang="en-US" altLang="zh-TW" dirty="0" smtClean="0"/>
              <a:t>“binary </a:t>
            </a:r>
            <a:r>
              <a:rPr lang="en-US" altLang="zh-TW" dirty="0" smtClean="0"/>
              <a:t>decomposition”</a:t>
            </a:r>
          </a:p>
          <a:p>
            <a:r>
              <a:rPr lang="en-US" altLang="zh-TW" i="1" dirty="0" smtClean="0"/>
              <a:t>One-against-all </a:t>
            </a:r>
            <a:r>
              <a:rPr lang="en-US" altLang="zh-TW" i="1" dirty="0" smtClean="0"/>
              <a:t>learning method </a:t>
            </a:r>
            <a:r>
              <a:rPr lang="en-US" altLang="zh-TW" i="1" dirty="0" smtClean="0"/>
              <a:t>transform the n</a:t>
            </a:r>
            <a:r>
              <a:rPr lang="en-US" altLang="zh-TW" dirty="0" smtClean="0"/>
              <a:t>-class </a:t>
            </a:r>
            <a:r>
              <a:rPr lang="en-US" altLang="zh-TW" dirty="0" smtClean="0"/>
              <a:t>problem into </a:t>
            </a:r>
            <a:r>
              <a:rPr lang="en-US" altLang="zh-TW" dirty="0" smtClean="0"/>
              <a:t>n 2-class </a:t>
            </a:r>
            <a:r>
              <a:rPr lang="en-US" altLang="zh-TW" dirty="0" smtClean="0"/>
              <a:t>problems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In this paper, we apply the covering strategy to learn </a:t>
            </a:r>
            <a:r>
              <a:rPr lang="en-US" altLang="zh-TW" dirty="0" smtClean="0"/>
              <a:t>multiple rules </a:t>
            </a:r>
            <a:r>
              <a:rPr lang="en-US" altLang="zh-TW" dirty="0" smtClean="0"/>
              <a:t>for each binary classification </a:t>
            </a:r>
            <a:r>
              <a:rPr lang="en-US" altLang="zh-TW" dirty="0" smtClean="0"/>
              <a:t>problem.</a:t>
            </a:r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 smtClean="0"/>
              <a:t>each class in </a:t>
            </a:r>
            <a:r>
              <a:rPr lang="en-US" altLang="zh-TW" dirty="0" smtClean="0"/>
              <a:t>the given </a:t>
            </a:r>
            <a:r>
              <a:rPr lang="en-US" altLang="zh-TW" dirty="0" smtClean="0"/>
              <a:t>training set, we learn a rule that covers as many </a:t>
            </a:r>
            <a:r>
              <a:rPr lang="en-US" altLang="zh-TW" dirty="0" smtClean="0"/>
              <a:t>positive examples </a:t>
            </a:r>
            <a:r>
              <a:rPr lang="en-US" altLang="zh-TW" dirty="0" smtClean="0"/>
              <a:t>as possible and as few negative examples as </a:t>
            </a:r>
            <a:r>
              <a:rPr lang="en-US" altLang="zh-TW" dirty="0" smtClean="0"/>
              <a:t>possible. Then</a:t>
            </a:r>
            <a:r>
              <a:rPr lang="en-US" altLang="zh-TW" dirty="0" smtClean="0"/>
              <a:t>, we remove all positive examples that have been </a:t>
            </a:r>
            <a:r>
              <a:rPr lang="en-US" altLang="zh-TW" dirty="0" smtClean="0"/>
              <a:t>covered from </a:t>
            </a:r>
            <a:r>
              <a:rPr lang="en-US" altLang="zh-TW" dirty="0" smtClean="0"/>
              <a:t>the training set and repeat the procedure to learn </a:t>
            </a:r>
            <a:r>
              <a:rPr lang="en-US" altLang="zh-TW" dirty="0" smtClean="0"/>
              <a:t>another rule</a:t>
            </a:r>
            <a:r>
              <a:rPr lang="en-US" altLang="zh-TW" dirty="0" smtClean="0"/>
              <a:t>. These steps are repeated until no positive examples </a:t>
            </a:r>
            <a:r>
              <a:rPr lang="en-US" altLang="zh-TW" dirty="0" smtClean="0"/>
              <a:t>remain in </a:t>
            </a:r>
            <a:r>
              <a:rPr lang="en-US" altLang="zh-TW" dirty="0" smtClean="0"/>
              <a:t>the training </a:t>
            </a:r>
            <a:r>
              <a:rPr lang="en-US" altLang="zh-TW" dirty="0" smtClean="0"/>
              <a:t>set.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One-Against All Learning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There are two additional issues to be considered in </a:t>
            </a:r>
            <a:r>
              <a:rPr lang="en-US" altLang="zh-TW" dirty="0" smtClean="0"/>
              <a:t>developing an </a:t>
            </a:r>
            <a:r>
              <a:rPr lang="en-US" altLang="zh-TW" dirty="0" smtClean="0"/>
              <a:t>efficient </a:t>
            </a:r>
            <a:r>
              <a:rPr lang="en-US" altLang="zh-TW" dirty="0" smtClean="0"/>
              <a:t>classifier.</a:t>
            </a:r>
          </a:p>
          <a:p>
            <a:pPr lvl="1"/>
            <a:r>
              <a:rPr lang="en-US" altLang="zh-TW" dirty="0" smtClean="0"/>
              <a:t>One </a:t>
            </a:r>
            <a:r>
              <a:rPr lang="en-US" altLang="zh-TW" dirty="0" smtClean="0"/>
              <a:t>is the problem of over fitting </a:t>
            </a:r>
            <a:r>
              <a:rPr lang="en-US" altLang="zh-TW" dirty="0" smtClean="0"/>
              <a:t>noisy data</a:t>
            </a:r>
            <a:r>
              <a:rPr lang="en-US" altLang="zh-TW" dirty="0" smtClean="0"/>
              <a:t>. In our approach, </a:t>
            </a:r>
            <a:r>
              <a:rPr lang="en-US" altLang="zh-TW" dirty="0" smtClean="0"/>
              <a:t>the MDL principle </a:t>
            </a:r>
            <a:r>
              <a:rPr lang="en-US" altLang="zh-TW" dirty="0" smtClean="0"/>
              <a:t>is applied to </a:t>
            </a:r>
            <a:r>
              <a:rPr lang="en-US" altLang="zh-TW" dirty="0" smtClean="0"/>
              <a:t>avoid overly </a:t>
            </a:r>
            <a:r>
              <a:rPr lang="en-US" altLang="zh-TW" dirty="0" smtClean="0"/>
              <a:t>specific rules that try to fit noisy </a:t>
            </a:r>
            <a:r>
              <a:rPr lang="en-US" altLang="zh-TW" dirty="0" smtClean="0"/>
              <a:t>examples.</a:t>
            </a:r>
          </a:p>
          <a:p>
            <a:pPr lvl="1"/>
            <a:r>
              <a:rPr lang="en-US" altLang="zh-TW" dirty="0" smtClean="0"/>
              <a:t>Another issue arises </a:t>
            </a:r>
            <a:r>
              <a:rPr lang="en-US" altLang="zh-TW" dirty="0" smtClean="0"/>
              <a:t>when the generated GEP rules are applied to new </a:t>
            </a:r>
            <a:r>
              <a:rPr lang="en-US" altLang="zh-TW" dirty="0" smtClean="0"/>
              <a:t>cases. It </a:t>
            </a:r>
            <a:r>
              <a:rPr lang="en-US" altLang="zh-TW" dirty="0" smtClean="0"/>
              <a:t>is possible for more than one GEP expression to return a </a:t>
            </a:r>
            <a:r>
              <a:rPr lang="en-US" altLang="zh-TW" dirty="0" smtClean="0"/>
              <a:t>positive value</a:t>
            </a:r>
            <a:r>
              <a:rPr lang="en-US" altLang="zh-TW" dirty="0" smtClean="0"/>
              <a:t>, which results in a “classification conflict</a:t>
            </a:r>
            <a:r>
              <a:rPr lang="en-US" altLang="zh-TW" dirty="0" smtClean="0"/>
              <a:t>.” In the worst </a:t>
            </a:r>
            <a:r>
              <a:rPr lang="en-US" altLang="zh-TW" dirty="0" smtClean="0"/>
              <a:t>case, all rules may not be satisfied. So there is the </a:t>
            </a:r>
            <a:r>
              <a:rPr lang="en-US" altLang="zh-TW" dirty="0" smtClean="0"/>
              <a:t>need for </a:t>
            </a:r>
            <a:r>
              <a:rPr lang="en-US" altLang="zh-TW" dirty="0" smtClean="0"/>
              <a:t>a strategy to solve classification conflict and rejection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err="1" smtClean="0"/>
              <a:t>Numerization</a:t>
            </a:r>
            <a:r>
              <a:rPr lang="en-US" altLang="zh-TW" dirty="0" smtClean="0"/>
              <a:t> of Nominal Attributes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There </a:t>
            </a:r>
            <a:r>
              <a:rPr lang="en-US" altLang="zh-TW" dirty="0" smtClean="0"/>
              <a:t>are two ways to perform </a:t>
            </a:r>
            <a:r>
              <a:rPr lang="en-US" altLang="zh-TW" dirty="0" err="1" smtClean="0"/>
              <a:t>numerization</a:t>
            </a:r>
            <a:r>
              <a:rPr lang="en-US" altLang="zh-TW" dirty="0" smtClean="0"/>
              <a:t> of nominal attributes.</a:t>
            </a:r>
          </a:p>
          <a:p>
            <a:r>
              <a:rPr lang="en-US" altLang="zh-TW" dirty="0" smtClean="0"/>
              <a:t>One method is to map the values of a nominal </a:t>
            </a:r>
            <a:r>
              <a:rPr lang="en-US" altLang="zh-TW" dirty="0" smtClean="0"/>
              <a:t>attribute to </a:t>
            </a:r>
            <a:r>
              <a:rPr lang="en-US" altLang="zh-TW" dirty="0" smtClean="0"/>
              <a:t>integers, so that the attribute can be considered as </a:t>
            </a:r>
            <a:r>
              <a:rPr lang="en-US" altLang="zh-TW" dirty="0" smtClean="0"/>
              <a:t>numeric inside </a:t>
            </a:r>
            <a:r>
              <a:rPr lang="en-US" altLang="zh-TW" dirty="0" smtClean="0"/>
              <a:t>the </a:t>
            </a:r>
            <a:r>
              <a:rPr lang="en-US" altLang="zh-TW" dirty="0" smtClean="0"/>
              <a:t>GEP.\</a:t>
            </a:r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 smtClean="0"/>
              <a:t>example, if an attribute can take three </a:t>
            </a:r>
            <a:r>
              <a:rPr lang="en-US" altLang="zh-TW" dirty="0" smtClean="0"/>
              <a:t>possible values</a:t>
            </a:r>
            <a:r>
              <a:rPr lang="en-US" altLang="zh-TW" dirty="0" smtClean="0"/>
              <a:t>, then these nominal values are mapped into a set </a:t>
            </a:r>
            <a:r>
              <a:rPr lang="en-US" altLang="zh-TW" dirty="0" smtClean="0"/>
              <a:t>of integers</a:t>
            </a:r>
            <a:r>
              <a:rPr lang="en-US" altLang="zh-TW" dirty="0" smtClean="0"/>
              <a:t>, i.e., {0, 1, 2}. The disadvantage of this approach, </a:t>
            </a:r>
            <a:r>
              <a:rPr lang="en-US" altLang="zh-TW" dirty="0" smtClean="0"/>
              <a:t>however, lies </a:t>
            </a:r>
            <a:r>
              <a:rPr lang="en-US" altLang="zh-TW" dirty="0" smtClean="0"/>
              <a:t>in the fact that it imposes an order that does not </a:t>
            </a:r>
            <a:r>
              <a:rPr lang="en-US" altLang="zh-TW" dirty="0" smtClean="0"/>
              <a:t>exist in </a:t>
            </a:r>
            <a:r>
              <a:rPr lang="en-US" altLang="zh-TW" dirty="0" smtClean="0"/>
              <a:t>the original </a:t>
            </a:r>
            <a:r>
              <a:rPr lang="en-US" altLang="zh-TW" dirty="0" smtClean="0"/>
              <a:t>data.</a:t>
            </a:r>
          </a:p>
          <a:p>
            <a:r>
              <a:rPr lang="en-US" altLang="zh-TW" dirty="0" smtClean="0"/>
              <a:t>Another </a:t>
            </a:r>
            <a:r>
              <a:rPr lang="en-US" altLang="zh-TW" dirty="0" smtClean="0"/>
              <a:t>method is to divide a nominal </a:t>
            </a:r>
            <a:r>
              <a:rPr lang="en-US" altLang="zh-TW" dirty="0" smtClean="0"/>
              <a:t>attribute into </a:t>
            </a:r>
            <a:r>
              <a:rPr lang="en-US" altLang="zh-TW" dirty="0" smtClean="0"/>
              <a:t>binary attributes, which is called “</a:t>
            </a:r>
            <a:r>
              <a:rPr lang="en-US" altLang="zh-TW" dirty="0" err="1" smtClean="0"/>
              <a:t>binarization</a:t>
            </a:r>
            <a:r>
              <a:rPr lang="en-US" altLang="zh-TW" dirty="0" smtClean="0"/>
              <a:t>,” </a:t>
            </a:r>
            <a:r>
              <a:rPr lang="en-US" altLang="zh-TW" dirty="0" smtClean="0"/>
              <a:t>if there </a:t>
            </a:r>
            <a:r>
              <a:rPr lang="en-US" altLang="zh-TW" dirty="0" smtClean="0"/>
              <a:t>are possible values (here, ), with 0/1 </a:t>
            </a:r>
            <a:r>
              <a:rPr lang="en-US" altLang="zh-TW" dirty="0" smtClean="0"/>
              <a:t>representing the </a:t>
            </a:r>
            <a:r>
              <a:rPr lang="en-US" altLang="zh-TW" dirty="0" smtClean="0"/>
              <a:t>absence/presence of each value. This method overcomes </a:t>
            </a:r>
            <a:r>
              <a:rPr lang="en-US" altLang="zh-TW" dirty="0" smtClean="0"/>
              <a:t>the shortcomings </a:t>
            </a:r>
            <a:r>
              <a:rPr lang="en-US" altLang="zh-TW" dirty="0" smtClean="0"/>
              <a:t>of the first-integer approach, but will generate </a:t>
            </a:r>
            <a:r>
              <a:rPr lang="en-US" altLang="zh-TW" dirty="0" smtClean="0"/>
              <a:t>a large </a:t>
            </a:r>
            <a:r>
              <a:rPr lang="en-US" altLang="zh-TW" dirty="0" smtClean="0"/>
              <a:t>set of derived attributes if is large. In this paper, we </a:t>
            </a:r>
            <a:r>
              <a:rPr lang="en-US" altLang="zh-TW" dirty="0" smtClean="0"/>
              <a:t>use the </a:t>
            </a:r>
            <a:r>
              <a:rPr lang="en-US" altLang="zh-TW" dirty="0" err="1" smtClean="0"/>
              <a:t>binarization</a:t>
            </a:r>
            <a:r>
              <a:rPr lang="en-US" altLang="zh-TW" dirty="0" smtClean="0"/>
              <a:t> approach.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Fitness Function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Use consistency gain</a:t>
            </a:r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 smtClean="0"/>
              <a:t>measure takes into account the distribution of </a:t>
            </a:r>
            <a:r>
              <a:rPr lang="en-US" altLang="zh-TW" dirty="0" smtClean="0"/>
              <a:t>positive and </a:t>
            </a:r>
            <a:r>
              <a:rPr lang="en-US" altLang="zh-TW" dirty="0" smtClean="0"/>
              <a:t>negative examples in the training </a:t>
            </a:r>
            <a:r>
              <a:rPr lang="en-US" altLang="zh-TW" dirty="0" smtClean="0"/>
              <a:t>set.</a:t>
            </a:r>
          </a:p>
          <a:p>
            <a:pPr lvl="1"/>
            <a:r>
              <a:rPr lang="en-US" altLang="zh-TW" dirty="0" smtClean="0"/>
              <a:t>consistency gain </a:t>
            </a:r>
            <a:r>
              <a:rPr lang="en-US" altLang="zh-TW" dirty="0" smtClean="0"/>
              <a:t>of rule 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 is </a:t>
            </a:r>
            <a:r>
              <a:rPr lang="en-US" altLang="zh-TW" dirty="0" smtClean="0"/>
              <a:t>defined </a:t>
            </a:r>
            <a:r>
              <a:rPr lang="en-US" altLang="zh-TW" dirty="0" smtClean="0"/>
              <a:t>as: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The fitness function has the form</a:t>
            </a:r>
          </a:p>
          <a:p>
            <a:pPr lvl="1">
              <a:buNone/>
            </a:pPr>
            <a:endParaRPr lang="en-US" altLang="zh-TW" dirty="0" smtClean="0"/>
          </a:p>
          <a:p>
            <a:pPr lvl="1">
              <a:buNone/>
            </a:pPr>
            <a:r>
              <a:rPr lang="en-US" altLang="zh-TW" dirty="0" smtClean="0"/>
              <a:t> </a:t>
            </a:r>
            <a:endParaRPr lang="en-US" altLang="zh-TW" dirty="0" smtClean="0"/>
          </a:p>
          <a:p>
            <a:pPr lvl="1">
              <a:buNone/>
            </a:pPr>
            <a:r>
              <a:rPr lang="en-US" altLang="zh-TW" dirty="0" smtClean="0"/>
              <a:t> </a:t>
            </a:r>
            <a:endParaRPr lang="en-US" altLang="zh-TW" dirty="0" smtClean="0"/>
          </a:p>
          <a:p>
            <a:pPr lvl="1"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       where </a:t>
            </a:r>
            <a:r>
              <a:rPr lang="en-US" altLang="zh-TW" i="1" dirty="0" err="1" smtClean="0"/>
              <a:t>compl</a:t>
            </a:r>
            <a:r>
              <a:rPr lang="en-US" altLang="zh-TW" i="1" dirty="0" smtClean="0"/>
              <a:t>(R)=p/P</a:t>
            </a:r>
            <a:r>
              <a:rPr lang="en-US" altLang="zh-TW" dirty="0" smtClean="0"/>
              <a:t> is the rule completeness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t="21849" r="3283" b="12602"/>
          <a:stretch>
            <a:fillRect/>
          </a:stretch>
        </p:blipFill>
        <p:spPr bwMode="auto">
          <a:xfrm>
            <a:off x="1835696" y="3212976"/>
            <a:ext cx="4896544" cy="673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 t="3917"/>
          <a:stretch>
            <a:fillRect/>
          </a:stretch>
        </p:blipFill>
        <p:spPr bwMode="auto">
          <a:xfrm>
            <a:off x="1835696" y="4365104"/>
            <a:ext cx="6192688" cy="998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Two-phase rule pruning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In order to evolve an accurate, noise-tolerant and </a:t>
            </a:r>
            <a:r>
              <a:rPr lang="en-US" altLang="zh-TW" dirty="0" smtClean="0"/>
              <a:t>compact rule </a:t>
            </a:r>
            <a:r>
              <a:rPr lang="en-US" altLang="zh-TW" dirty="0" smtClean="0"/>
              <a:t>set, we apply two phases of rule pruning: </a:t>
            </a:r>
            <a:r>
              <a:rPr lang="en-US" altLang="zh-TW" dirty="0" err="1" smtClean="0"/>
              <a:t>prepruning</a:t>
            </a:r>
            <a:r>
              <a:rPr lang="en-US" altLang="zh-TW" dirty="0" smtClean="0"/>
              <a:t> </a:t>
            </a:r>
            <a:r>
              <a:rPr lang="en-US" altLang="zh-TW" dirty="0" smtClean="0"/>
              <a:t>and </a:t>
            </a:r>
            <a:r>
              <a:rPr lang="en-US" altLang="zh-TW" dirty="0" err="1" smtClean="0"/>
              <a:t>postpruning</a:t>
            </a:r>
            <a:r>
              <a:rPr lang="en-US" altLang="zh-TW" dirty="0" smtClean="0"/>
              <a:t>. </a:t>
            </a:r>
            <a:endParaRPr lang="en-US" altLang="zh-TW" dirty="0" smtClean="0"/>
          </a:p>
          <a:p>
            <a:r>
              <a:rPr lang="en-US" altLang="zh-TW" dirty="0" smtClean="0"/>
              <a:t>If the </a:t>
            </a:r>
            <a:r>
              <a:rPr lang="en-US" altLang="zh-TW" dirty="0" smtClean="0"/>
              <a:t>training data are not noise </a:t>
            </a:r>
            <a:r>
              <a:rPr lang="en-US" altLang="zh-TW" dirty="0" smtClean="0"/>
              <a:t>free, </a:t>
            </a:r>
            <a:r>
              <a:rPr lang="en-US" altLang="zh-TW" dirty="0" smtClean="0"/>
              <a:t>it tends to </a:t>
            </a:r>
            <a:r>
              <a:rPr lang="en-US" altLang="zh-TW" dirty="0" smtClean="0"/>
              <a:t>generate some </a:t>
            </a:r>
            <a:r>
              <a:rPr lang="en-US" altLang="zh-TW" dirty="0" smtClean="0"/>
              <a:t>specific rules that fit the noisy data very well, but do </a:t>
            </a:r>
            <a:r>
              <a:rPr lang="en-US" altLang="zh-TW" dirty="0" smtClean="0"/>
              <a:t>not generalize </a:t>
            </a:r>
            <a:r>
              <a:rPr lang="en-US" altLang="zh-TW" dirty="0" smtClean="0"/>
              <a:t>the concept to be learned well, thus resulting in </a:t>
            </a:r>
            <a:r>
              <a:rPr lang="en-US" altLang="zh-TW" dirty="0" err="1" smtClean="0"/>
              <a:t>overfitting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One </a:t>
            </a:r>
            <a:r>
              <a:rPr lang="en-US" altLang="zh-TW" dirty="0" smtClean="0"/>
              <a:t>common approach to deal with this problem is </a:t>
            </a:r>
            <a:r>
              <a:rPr lang="en-US" altLang="zh-TW" dirty="0" smtClean="0"/>
              <a:t>early stopping. In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prepruning</a:t>
            </a:r>
            <a:r>
              <a:rPr lang="en-US" altLang="zh-TW" dirty="0" smtClean="0"/>
              <a:t> process, we employ a stop </a:t>
            </a:r>
            <a:r>
              <a:rPr lang="en-US" altLang="zh-TW" dirty="0" smtClean="0"/>
              <a:t>criterion based </a:t>
            </a:r>
            <a:r>
              <a:rPr lang="en-US" altLang="zh-TW" dirty="0" smtClean="0"/>
              <a:t>on the MDL principle to determine when to </a:t>
            </a:r>
            <a:r>
              <a:rPr lang="en-US" altLang="zh-TW" dirty="0" smtClean="0"/>
              <a:t>stop learning </a:t>
            </a:r>
            <a:r>
              <a:rPr lang="en-US" altLang="zh-TW" dirty="0" smtClean="0"/>
              <a:t>more rules for that class. The MDL principle tries </a:t>
            </a:r>
            <a:r>
              <a:rPr lang="en-US" altLang="zh-TW" dirty="0" smtClean="0"/>
              <a:t>to avoid </a:t>
            </a:r>
            <a:r>
              <a:rPr lang="en-US" altLang="zh-TW" dirty="0" smtClean="0"/>
              <a:t>learning complicated rules that cover only a small </a:t>
            </a:r>
            <a:r>
              <a:rPr lang="en-US" altLang="zh-TW" dirty="0" smtClean="0"/>
              <a:t>number of </a:t>
            </a:r>
            <a:r>
              <a:rPr lang="en-US" altLang="zh-TW" dirty="0" smtClean="0"/>
              <a:t>examples, which may result from noisy data.</a:t>
            </a:r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Two-phase rule </a:t>
            </a:r>
            <a:r>
              <a:rPr lang="en-US" altLang="zh-TW" dirty="0" smtClean="0"/>
              <a:t>pruning - </a:t>
            </a:r>
            <a:r>
              <a:rPr lang="en-US" altLang="zh-TW" dirty="0" err="1" smtClean="0"/>
              <a:t>prepuning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Following the Occam’s razor </a:t>
            </a:r>
            <a:r>
              <a:rPr lang="en-US" altLang="zh-TW" dirty="0" smtClean="0"/>
              <a:t>principle, </a:t>
            </a:r>
            <a:r>
              <a:rPr lang="en-US" altLang="zh-TW" dirty="0" smtClean="0"/>
              <a:t>the MDL </a:t>
            </a:r>
            <a:r>
              <a:rPr lang="en-US" altLang="zh-TW" dirty="0" smtClean="0"/>
              <a:t>principle states </a:t>
            </a:r>
            <a:r>
              <a:rPr lang="en-US" altLang="zh-TW" dirty="0" smtClean="0"/>
              <a:t>that the best theory is the one that minimizes the total </a:t>
            </a:r>
            <a:r>
              <a:rPr lang="en-US" altLang="zh-TW" dirty="0" smtClean="0"/>
              <a:t>description length. In </a:t>
            </a:r>
            <a:r>
              <a:rPr lang="en-US" altLang="zh-TW" dirty="0" smtClean="0"/>
              <a:t>our approach, we follow the method used in </a:t>
            </a:r>
            <a:r>
              <a:rPr lang="en-US" altLang="zh-TW" dirty="0" smtClean="0"/>
              <a:t>C4.5 and define </a:t>
            </a:r>
            <a:r>
              <a:rPr lang="en-US" altLang="zh-TW" dirty="0" smtClean="0"/>
              <a:t>the description length of a rule set </a:t>
            </a:r>
            <a:r>
              <a:rPr lang="en-US" altLang="zh-TW" dirty="0" smtClean="0"/>
              <a:t>as:</a:t>
            </a:r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</a:t>
            </a:r>
            <a:endParaRPr lang="en-US" altLang="zh-TW" dirty="0" smtClean="0"/>
          </a:p>
        </p:txBody>
      </p:sp>
      <p:grpSp>
        <p:nvGrpSpPr>
          <p:cNvPr id="7" name="群組 6"/>
          <p:cNvGrpSpPr/>
          <p:nvPr/>
        </p:nvGrpSpPr>
        <p:grpSpPr>
          <a:xfrm>
            <a:off x="2267744" y="3645024"/>
            <a:ext cx="5112568" cy="2376264"/>
            <a:chOff x="2843808" y="3573016"/>
            <a:chExt cx="4624630" cy="1944216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15790" r="17105" b="80419"/>
            <a:stretch>
              <a:fillRect/>
            </a:stretch>
          </p:blipFill>
          <p:spPr bwMode="auto">
            <a:xfrm>
              <a:off x="2843808" y="5085184"/>
              <a:ext cx="3672408" cy="4320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 r="23333"/>
            <a:stretch>
              <a:fillRect/>
            </a:stretch>
          </p:blipFill>
          <p:spPr bwMode="auto">
            <a:xfrm>
              <a:off x="2987824" y="3573016"/>
              <a:ext cx="3312368" cy="6854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915816" y="4293096"/>
              <a:ext cx="4552622" cy="5760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Two-phase rule </a:t>
            </a:r>
            <a:r>
              <a:rPr lang="en-US" altLang="zh-TW" dirty="0" smtClean="0"/>
              <a:t>pruning - </a:t>
            </a:r>
            <a:r>
              <a:rPr lang="en-US" altLang="zh-TW" dirty="0" err="1" smtClean="0"/>
              <a:t>prepruning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662" y="1437778"/>
            <a:ext cx="5472658" cy="5291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Two-phase rule pruning - </a:t>
            </a:r>
            <a:r>
              <a:rPr lang="en-US" altLang="zh-TW" dirty="0" err="1" smtClean="0"/>
              <a:t>postpruning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1. Order all generated rules according </a:t>
            </a:r>
            <a:r>
              <a:rPr lang="en-US" altLang="zh-TW" dirty="0" smtClean="0"/>
              <a:t>to their </a:t>
            </a:r>
            <a:r>
              <a:rPr lang="en-US" altLang="zh-TW" dirty="0" smtClean="0"/>
              <a:t>fitness values.</a:t>
            </a:r>
          </a:p>
          <a:p>
            <a:r>
              <a:rPr lang="en-US" altLang="zh-TW" dirty="0" smtClean="0"/>
              <a:t>2. Select the rule with the highest </a:t>
            </a:r>
            <a:r>
              <a:rPr lang="en-US" altLang="zh-TW" dirty="0" smtClean="0"/>
              <a:t>fitness value</a:t>
            </a:r>
            <a:r>
              <a:rPr lang="en-US" altLang="zh-TW" dirty="0" smtClean="0"/>
              <a:t>, and add it to the </a:t>
            </a:r>
            <a:r>
              <a:rPr lang="en-US" altLang="zh-TW" dirty="0" smtClean="0"/>
              <a:t>ordered rule </a:t>
            </a:r>
            <a:r>
              <a:rPr lang="en-US" altLang="zh-TW" dirty="0" smtClean="0"/>
              <a:t>set.</a:t>
            </a:r>
          </a:p>
          <a:p>
            <a:r>
              <a:rPr lang="en-US" altLang="zh-TW" dirty="0" smtClean="0"/>
              <a:t>3. Remove all positive and negative </a:t>
            </a:r>
            <a:r>
              <a:rPr lang="en-US" altLang="zh-TW" dirty="0" smtClean="0"/>
              <a:t>examples covered </a:t>
            </a:r>
            <a:r>
              <a:rPr lang="en-US" altLang="zh-TW" dirty="0" smtClean="0"/>
              <a:t>by the selected rule.</a:t>
            </a:r>
          </a:p>
          <a:p>
            <a:r>
              <a:rPr lang="en-US" altLang="zh-TW" dirty="0" smtClean="0"/>
              <a:t>4. </a:t>
            </a:r>
            <a:r>
              <a:rPr lang="en-US" altLang="zh-TW" dirty="0" err="1" smtClean="0"/>
              <a:t>Recompute</a:t>
            </a:r>
            <a:r>
              <a:rPr lang="en-US" altLang="zh-TW" dirty="0" smtClean="0"/>
              <a:t> the fitness values of </a:t>
            </a:r>
            <a:r>
              <a:rPr lang="en-US" altLang="zh-TW" dirty="0" smtClean="0"/>
              <a:t>the remaining </a:t>
            </a:r>
            <a:r>
              <a:rPr lang="en-US" altLang="zh-TW" dirty="0" smtClean="0"/>
              <a:t>rules on the remaining examples.</a:t>
            </a:r>
          </a:p>
          <a:p>
            <a:r>
              <a:rPr lang="en-US" altLang="zh-TW" dirty="0" smtClean="0"/>
              <a:t>5. Repeat steps 1–4 until there is no </a:t>
            </a:r>
            <a:r>
              <a:rPr lang="en-US" altLang="zh-TW" dirty="0" smtClean="0"/>
              <a:t>example left</a:t>
            </a:r>
            <a:r>
              <a:rPr lang="en-US" altLang="zh-TW" dirty="0" smtClean="0"/>
              <a:t>, or until none of the </a:t>
            </a:r>
            <a:r>
              <a:rPr lang="en-US" altLang="zh-TW" dirty="0" smtClean="0"/>
              <a:t>remaining rules </a:t>
            </a:r>
            <a:r>
              <a:rPr lang="en-US" altLang="zh-TW" dirty="0" smtClean="0"/>
              <a:t>yields a positive </a:t>
            </a:r>
            <a:r>
              <a:rPr lang="en-US" altLang="zh-TW" dirty="0" smtClean="0"/>
              <a:t>fitness value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6. A default class is selected in </a:t>
            </a:r>
            <a:r>
              <a:rPr lang="en-US" altLang="zh-TW" dirty="0" err="1" smtClean="0"/>
              <a:t>casethat</a:t>
            </a:r>
            <a:r>
              <a:rPr lang="en-US" altLang="zh-TW" dirty="0" smtClean="0"/>
              <a:t> </a:t>
            </a:r>
            <a:r>
              <a:rPr lang="en-US" altLang="zh-TW" dirty="0" smtClean="0"/>
              <a:t>all rules reject a new example.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Other experiments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340768"/>
            <a:ext cx="5253999" cy="515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 – Monk’s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A data set with 6 attributes and 2 classes </a:t>
            </a:r>
          </a:p>
          <a:p>
            <a:pPr lvl="1"/>
            <a:r>
              <a:rPr lang="en-US" altLang="zh-TW" dirty="0" err="1" smtClean="0"/>
              <a:t>head_shape</a:t>
            </a:r>
            <a:r>
              <a:rPr lang="en-US" altLang="zh-TW" dirty="0" smtClean="0"/>
              <a:t>: {round, square, octagon</a:t>
            </a:r>
            <a:r>
              <a:rPr lang="en-US" altLang="zh-TW" dirty="0" smtClean="0"/>
              <a:t>}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 </a:t>
            </a:r>
            <a:r>
              <a:rPr lang="en-US" altLang="zh-TW" dirty="0" err="1" smtClean="0"/>
              <a:t>body_shape</a:t>
            </a:r>
            <a:r>
              <a:rPr lang="en-US" altLang="zh-TW" dirty="0" smtClean="0"/>
              <a:t>: {round, square, octagon</a:t>
            </a:r>
            <a:r>
              <a:rPr lang="en-US" altLang="zh-TW" dirty="0" smtClean="0"/>
              <a:t>}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is_smiling</a:t>
            </a:r>
            <a:r>
              <a:rPr lang="en-US" altLang="zh-TW" dirty="0" smtClean="0"/>
              <a:t>: {yes, no</a:t>
            </a:r>
            <a:r>
              <a:rPr lang="en-US" altLang="zh-TW" dirty="0" smtClean="0"/>
              <a:t>}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holding</a:t>
            </a:r>
            <a:r>
              <a:rPr lang="en-US" altLang="zh-TW" dirty="0" smtClean="0"/>
              <a:t>: {sword, balloon, flag</a:t>
            </a:r>
            <a:r>
              <a:rPr lang="en-US" altLang="zh-TW" dirty="0" smtClean="0"/>
              <a:t>}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jacket_color</a:t>
            </a:r>
            <a:r>
              <a:rPr lang="en-US" altLang="zh-TW" dirty="0" smtClean="0"/>
              <a:t>: {red, yellow, green, blue</a:t>
            </a:r>
            <a:r>
              <a:rPr lang="en-US" altLang="zh-TW" dirty="0" smtClean="0"/>
              <a:t>}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has_tie</a:t>
            </a:r>
            <a:r>
              <a:rPr lang="en-US" altLang="zh-TW" dirty="0" smtClean="0"/>
              <a:t>: {yes, no</a:t>
            </a:r>
            <a:r>
              <a:rPr lang="en-US" altLang="zh-TW" dirty="0" smtClean="0"/>
              <a:t>}</a:t>
            </a:r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 </a:t>
            </a:r>
            <a:endParaRPr lang="en-US" altLang="zh-TW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3789040"/>
            <a:ext cx="4752528" cy="279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字方塊 5"/>
          <p:cNvSpPr txBox="1"/>
          <p:nvPr/>
        </p:nvSpPr>
        <p:spPr>
          <a:xfrm>
            <a:off x="467544" y="5517232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Problem M3 has 5% noise </a:t>
            </a:r>
            <a:r>
              <a:rPr lang="en-US" altLang="zh-TW" dirty="0" smtClean="0"/>
              <a:t>in training </a:t>
            </a:r>
            <a:r>
              <a:rPr lang="en-US" altLang="zh-TW" dirty="0" smtClean="0"/>
              <a:t>set.</a:t>
            </a:r>
          </a:p>
          <a:p>
            <a:endParaRPr lang="zh-TW" altLang="en-US" dirty="0"/>
          </a:p>
        </p:txBody>
      </p:sp>
      <p:cxnSp>
        <p:nvCxnSpPr>
          <p:cNvPr id="8" name="直線單箭頭接點 7"/>
          <p:cNvCxnSpPr>
            <a:stCxn id="6" idx="3"/>
          </p:cNvCxnSpPr>
          <p:nvPr/>
        </p:nvCxnSpPr>
        <p:spPr>
          <a:xfrm flipV="1">
            <a:off x="3419872" y="5733256"/>
            <a:ext cx="864096" cy="2456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– Monk’s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GEP rules for Monk’s problem 2.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276872"/>
            <a:ext cx="5976664" cy="4168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– Monk’s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988840"/>
            <a:ext cx="6443743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268760"/>
            <a:ext cx="7344816" cy="5367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268760"/>
            <a:ext cx="6768752" cy="533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340768"/>
            <a:ext cx="6552728" cy="5322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56490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Thank you!!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1064</Words>
  <Application>Microsoft Office PowerPoint</Application>
  <PresentationFormat>如螢幕大小 (4:3)</PresentationFormat>
  <Paragraphs>97</Paragraphs>
  <Slides>24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5" baseType="lpstr">
      <vt:lpstr>Office 佈景主題</vt:lpstr>
      <vt:lpstr>Evolving Accurate and Compact Classification Rules With Gene Expression Programming</vt:lpstr>
      <vt:lpstr>Abstract</vt:lpstr>
      <vt:lpstr>Gene Programming (GP)</vt:lpstr>
      <vt:lpstr>Gene Programming (GP)</vt:lpstr>
      <vt:lpstr>Gene Expression Programming (GEP)</vt:lpstr>
      <vt:lpstr>Gene Expression Programming(GEP)</vt:lpstr>
      <vt:lpstr>Flowchart of GEP</vt:lpstr>
      <vt:lpstr>GEP operators</vt:lpstr>
      <vt:lpstr>One-Against All Learning</vt:lpstr>
      <vt:lpstr>One-Against All Learning</vt:lpstr>
      <vt:lpstr>Numerization of Nominal Attributes</vt:lpstr>
      <vt:lpstr>Fitness Function</vt:lpstr>
      <vt:lpstr>Two-phase rule pruning</vt:lpstr>
      <vt:lpstr>Two-phase rule pruning - prepuning</vt:lpstr>
      <vt:lpstr>Two-phase rule pruning - prepruning</vt:lpstr>
      <vt:lpstr>Two-phase rule pruning - postpruning</vt:lpstr>
      <vt:lpstr>Other experiments</vt:lpstr>
      <vt:lpstr>Experiment – Monk’s Problem</vt:lpstr>
      <vt:lpstr>Result – Monk’s Problem</vt:lpstr>
      <vt:lpstr>Result – Monk’s Problem</vt:lpstr>
      <vt:lpstr>Experimental results</vt:lpstr>
      <vt:lpstr>Experimental results</vt:lpstr>
      <vt:lpstr>Experimental results</vt:lpstr>
      <vt:lpstr>Thank you!!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Evolving Accurate and Compact Classification Rules With Gene Expression Programming</dc:title>
  <cp:lastModifiedBy>William</cp:lastModifiedBy>
  <cp:revision>38</cp:revision>
  <dcterms:modified xsi:type="dcterms:W3CDTF">2011-12-05T10:23:08Z</dcterms:modified>
</cp:coreProperties>
</file>