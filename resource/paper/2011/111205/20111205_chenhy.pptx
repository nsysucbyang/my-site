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94" r:id="rId4"/>
    <p:sldId id="295" r:id="rId5"/>
    <p:sldId id="297" r:id="rId6"/>
    <p:sldId id="296" r:id="rId7"/>
    <p:sldId id="293" r:id="rId8"/>
    <p:sldId id="298" r:id="rId9"/>
    <p:sldId id="312" r:id="rId10"/>
    <p:sldId id="299" r:id="rId11"/>
    <p:sldId id="313" r:id="rId12"/>
    <p:sldId id="314" r:id="rId13"/>
    <p:sldId id="315" r:id="rId14"/>
    <p:sldId id="300" r:id="rId15"/>
    <p:sldId id="302" r:id="rId16"/>
    <p:sldId id="304" r:id="rId17"/>
    <p:sldId id="316" r:id="rId18"/>
    <p:sldId id="305" r:id="rId19"/>
    <p:sldId id="306" r:id="rId20"/>
    <p:sldId id="307" r:id="rId21"/>
    <p:sldId id="308" r:id="rId22"/>
    <p:sldId id="309" r:id="rId23"/>
  </p:sldIdLst>
  <p:sldSz cx="9144000" cy="6858000" type="screen4x3"/>
  <p:notesSz cx="6858000" cy="9144000"/>
  <p:defaultTextStyle>
    <a:defPPr>
      <a:defRPr lang="zh-TW"/>
    </a:defPPr>
    <a:lvl1pPr algn="l" rtl="0" fontAlgn="base">
      <a:spcBef>
        <a:spcPct val="0"/>
      </a:spcBef>
      <a:spcAft>
        <a:spcPct val="0"/>
      </a:spcAft>
      <a:defRPr kumimoji="1" kern="1200">
        <a:solidFill>
          <a:schemeClr val="tx1"/>
        </a:solidFill>
        <a:latin typeface="Calibri" pitchFamily="34" charset="0"/>
        <a:ea typeface="新細明體" charset="-120"/>
        <a:cs typeface="+mn-cs"/>
      </a:defRPr>
    </a:lvl1pPr>
    <a:lvl2pPr marL="457200" algn="l" rtl="0" fontAlgn="base">
      <a:spcBef>
        <a:spcPct val="0"/>
      </a:spcBef>
      <a:spcAft>
        <a:spcPct val="0"/>
      </a:spcAft>
      <a:defRPr kumimoji="1" kern="1200">
        <a:solidFill>
          <a:schemeClr val="tx1"/>
        </a:solidFill>
        <a:latin typeface="Calibri" pitchFamily="34" charset="0"/>
        <a:ea typeface="新細明體" charset="-120"/>
        <a:cs typeface="+mn-cs"/>
      </a:defRPr>
    </a:lvl2pPr>
    <a:lvl3pPr marL="914400" algn="l" rtl="0" fontAlgn="base">
      <a:spcBef>
        <a:spcPct val="0"/>
      </a:spcBef>
      <a:spcAft>
        <a:spcPct val="0"/>
      </a:spcAft>
      <a:defRPr kumimoji="1" kern="1200">
        <a:solidFill>
          <a:schemeClr val="tx1"/>
        </a:solidFill>
        <a:latin typeface="Calibri" pitchFamily="34" charset="0"/>
        <a:ea typeface="新細明體" charset="-120"/>
        <a:cs typeface="+mn-cs"/>
      </a:defRPr>
    </a:lvl3pPr>
    <a:lvl4pPr marL="1371600" algn="l" rtl="0" fontAlgn="base">
      <a:spcBef>
        <a:spcPct val="0"/>
      </a:spcBef>
      <a:spcAft>
        <a:spcPct val="0"/>
      </a:spcAft>
      <a:defRPr kumimoji="1" kern="1200">
        <a:solidFill>
          <a:schemeClr val="tx1"/>
        </a:solidFill>
        <a:latin typeface="Calibri" pitchFamily="34" charset="0"/>
        <a:ea typeface="新細明體" charset="-120"/>
        <a:cs typeface="+mn-cs"/>
      </a:defRPr>
    </a:lvl4pPr>
    <a:lvl5pPr marL="1828800" algn="l" rtl="0" fontAlgn="base">
      <a:spcBef>
        <a:spcPct val="0"/>
      </a:spcBef>
      <a:spcAft>
        <a:spcPct val="0"/>
      </a:spcAft>
      <a:defRPr kumimoji="1" kern="1200">
        <a:solidFill>
          <a:schemeClr val="tx1"/>
        </a:solidFill>
        <a:latin typeface="Calibri" pitchFamily="34" charset="0"/>
        <a:ea typeface="新細明體" charset="-120"/>
        <a:cs typeface="+mn-cs"/>
      </a:defRPr>
    </a:lvl5pPr>
    <a:lvl6pPr marL="2286000" algn="l" defTabSz="914400" rtl="0" eaLnBrk="1" latinLnBrk="0" hangingPunct="1">
      <a:defRPr kumimoji="1" kern="1200">
        <a:solidFill>
          <a:schemeClr val="tx1"/>
        </a:solidFill>
        <a:latin typeface="Calibri" pitchFamily="34" charset="0"/>
        <a:ea typeface="新細明體" charset="-120"/>
        <a:cs typeface="+mn-cs"/>
      </a:defRPr>
    </a:lvl6pPr>
    <a:lvl7pPr marL="2743200" algn="l" defTabSz="914400" rtl="0" eaLnBrk="1" latinLnBrk="0" hangingPunct="1">
      <a:defRPr kumimoji="1" kern="1200">
        <a:solidFill>
          <a:schemeClr val="tx1"/>
        </a:solidFill>
        <a:latin typeface="Calibri" pitchFamily="34" charset="0"/>
        <a:ea typeface="新細明體" charset="-120"/>
        <a:cs typeface="+mn-cs"/>
      </a:defRPr>
    </a:lvl7pPr>
    <a:lvl8pPr marL="3200400" algn="l" defTabSz="914400" rtl="0" eaLnBrk="1" latinLnBrk="0" hangingPunct="1">
      <a:defRPr kumimoji="1" kern="1200">
        <a:solidFill>
          <a:schemeClr val="tx1"/>
        </a:solidFill>
        <a:latin typeface="Calibri" pitchFamily="34" charset="0"/>
        <a:ea typeface="新細明體" charset="-120"/>
        <a:cs typeface="+mn-cs"/>
      </a:defRPr>
    </a:lvl8pPr>
    <a:lvl9pPr marL="3657600" algn="l" defTabSz="914400" rtl="0" eaLnBrk="1" latinLnBrk="0" hangingPunct="1">
      <a:defRPr kumimoji="1" kern="1200">
        <a:solidFill>
          <a:schemeClr val="tx1"/>
        </a:solidFill>
        <a:latin typeface="Calibri" pitchFamily="34" charset="0"/>
        <a:ea typeface="新細明體" charset="-120"/>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48" autoAdjust="0"/>
    <p:restoredTop sz="81784" autoAdjust="0"/>
  </p:normalViewPr>
  <p:slideViewPr>
    <p:cSldViewPr>
      <p:cViewPr varScale="1">
        <p:scale>
          <a:sx n="73" d="100"/>
          <a:sy n="73" d="100"/>
        </p:scale>
        <p:origin x="-426" y="-9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6EA5F3-94E4-4F7A-AC07-FCE66639B35A}" type="datetimeFigureOut">
              <a:rPr lang="zh-TW" altLang="en-US" smtClean="0"/>
              <a:pPr/>
              <a:t>2011/12/5</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075A31A-74A8-4798-85F1-ED8970345F52}" type="slidenum">
              <a:rPr lang="zh-TW" altLang="en-US" smtClean="0"/>
              <a:pPr/>
              <a:t>‹#›</a:t>
            </a:fld>
            <a:endParaRPr lang="zh-TW" altLang="en-US"/>
          </a:p>
        </p:txBody>
      </p:sp>
    </p:spTree>
    <p:extLst>
      <p:ext uri="{BB962C8B-B14F-4D97-AF65-F5344CB8AC3E}">
        <p14:creationId xmlns="" xmlns:p14="http://schemas.microsoft.com/office/powerpoint/2010/main" val="2860301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lvl1pPr>
              <a:defRPr/>
            </a:lvl1pPr>
          </a:lstStyle>
          <a:p>
            <a:pPr>
              <a:defRPr/>
            </a:pPr>
            <a:fld id="{F7A87D0A-8D72-4A12-B6F4-2D70E9050589}" type="datetimeFigureOut">
              <a:rPr lang="zh-TW" altLang="en-US"/>
              <a:pPr>
                <a:defRPr/>
              </a:pPr>
              <a:t>2011/12/5</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5484CF82-A9AE-4268-9497-FFC67A3ADAAC}" type="slidenum">
              <a:rPr lang="zh-TW" altLang="en-US"/>
              <a:pPr>
                <a:defRPr/>
              </a:pPr>
              <a:t>‹#›</a:t>
            </a:fld>
            <a:endParaRPr lang="zh-TW" altLang="en-US"/>
          </a:p>
        </p:txBody>
      </p:sp>
    </p:spTree>
    <p:extLst>
      <p:ext uri="{BB962C8B-B14F-4D97-AF65-F5344CB8AC3E}">
        <p14:creationId xmlns="" xmlns:p14="http://schemas.microsoft.com/office/powerpoint/2010/main" val="8801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pPr>
              <a:defRPr/>
            </a:pPr>
            <a:fld id="{225304AF-B224-4445-9AE4-B7650C7B3616}" type="datetimeFigureOut">
              <a:rPr lang="zh-TW" altLang="en-US"/>
              <a:pPr>
                <a:defRPr/>
              </a:pPr>
              <a:t>2011/12/5</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6162FDB3-9A8C-4355-8F1B-1FD935E6DAEE}" type="slidenum">
              <a:rPr lang="zh-TW" altLang="en-US"/>
              <a:pPr>
                <a:defRPr/>
              </a:pPr>
              <a:t>‹#›</a:t>
            </a:fld>
            <a:endParaRPr lang="zh-TW" altLang="en-US"/>
          </a:p>
        </p:txBody>
      </p:sp>
    </p:spTree>
    <p:extLst>
      <p:ext uri="{BB962C8B-B14F-4D97-AF65-F5344CB8AC3E}">
        <p14:creationId xmlns="" xmlns:p14="http://schemas.microsoft.com/office/powerpoint/2010/main" val="1200150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lvl1pPr>
              <a:defRPr/>
            </a:lvl1pPr>
          </a:lstStyle>
          <a:p>
            <a:pPr>
              <a:defRPr/>
            </a:pPr>
            <a:fld id="{FD8DB94C-87E5-4077-BC91-73AF7E8169C3}" type="datetimeFigureOut">
              <a:rPr lang="zh-TW" altLang="en-US"/>
              <a:pPr>
                <a:defRPr/>
              </a:pPr>
              <a:t>2011/12/5</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687E59EC-7354-4DDD-9A8A-310C296ACDEB}" type="slidenum">
              <a:rPr lang="zh-TW" altLang="en-US"/>
              <a:pPr>
                <a:defRPr/>
              </a:pPr>
              <a:t>‹#›</a:t>
            </a:fld>
            <a:endParaRPr lang="zh-TW" altLang="en-US"/>
          </a:p>
        </p:txBody>
      </p:sp>
    </p:spTree>
    <p:extLst>
      <p:ext uri="{BB962C8B-B14F-4D97-AF65-F5344CB8AC3E}">
        <p14:creationId xmlns="" xmlns:p14="http://schemas.microsoft.com/office/powerpoint/2010/main" val="22191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3"/>
          <p:cNvSpPr>
            <a:spLocks noGrp="1"/>
          </p:cNvSpPr>
          <p:nvPr>
            <p:ph type="dt" sz="half" idx="10"/>
          </p:nvPr>
        </p:nvSpPr>
        <p:spPr/>
        <p:txBody>
          <a:bodyPr/>
          <a:lstStyle>
            <a:lvl1pPr>
              <a:defRPr/>
            </a:lvl1pPr>
          </a:lstStyle>
          <a:p>
            <a:pPr>
              <a:defRPr/>
            </a:pPr>
            <a:fld id="{FF610FB1-0584-4237-8E45-15165FF7CB9F}" type="datetimeFigureOut">
              <a:rPr lang="zh-TW" altLang="en-US"/>
              <a:pPr>
                <a:defRPr/>
              </a:pPr>
              <a:t>2011/12/5</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37B5203F-7F56-456C-9DFC-64E25C44A7B3}" type="slidenum">
              <a:rPr lang="zh-TW" altLang="en-US"/>
              <a:pPr>
                <a:defRPr/>
              </a:pPr>
              <a:t>‹#›</a:t>
            </a:fld>
            <a:endParaRPr lang="zh-TW" altLang="en-US"/>
          </a:p>
        </p:txBody>
      </p:sp>
    </p:spTree>
    <p:extLst>
      <p:ext uri="{BB962C8B-B14F-4D97-AF65-F5344CB8AC3E}">
        <p14:creationId xmlns="" xmlns:p14="http://schemas.microsoft.com/office/powerpoint/2010/main" val="1025980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3"/>
          <p:cNvSpPr>
            <a:spLocks noGrp="1"/>
          </p:cNvSpPr>
          <p:nvPr>
            <p:ph type="dt" sz="half" idx="10"/>
          </p:nvPr>
        </p:nvSpPr>
        <p:spPr/>
        <p:txBody>
          <a:bodyPr/>
          <a:lstStyle>
            <a:lvl1pPr>
              <a:defRPr/>
            </a:lvl1pPr>
          </a:lstStyle>
          <a:p>
            <a:pPr>
              <a:defRPr/>
            </a:pPr>
            <a:fld id="{EDEB2774-9042-48AC-B3CE-D46C5BDDDE0D}" type="datetimeFigureOut">
              <a:rPr lang="zh-TW" altLang="en-US"/>
              <a:pPr>
                <a:defRPr/>
              </a:pPr>
              <a:t>2011/12/5</a:t>
            </a:fld>
            <a:endParaRPr lang="zh-TW" altLang="en-US"/>
          </a:p>
        </p:txBody>
      </p:sp>
      <p:sp>
        <p:nvSpPr>
          <p:cNvPr id="8" name="頁尾版面配置區 4"/>
          <p:cNvSpPr>
            <a:spLocks noGrp="1"/>
          </p:cNvSpPr>
          <p:nvPr>
            <p:ph type="ftr" sz="quarter" idx="11"/>
          </p:nvPr>
        </p:nvSpPr>
        <p:spPr/>
        <p:txBody>
          <a:bodyPr/>
          <a:lstStyle>
            <a:lvl1pPr>
              <a:defRPr/>
            </a:lvl1pPr>
          </a:lstStyle>
          <a:p>
            <a:pPr>
              <a:defRPr/>
            </a:pPr>
            <a:endParaRPr lang="zh-TW" altLang="en-US"/>
          </a:p>
        </p:txBody>
      </p:sp>
      <p:sp>
        <p:nvSpPr>
          <p:cNvPr id="9" name="投影片編號版面配置區 5"/>
          <p:cNvSpPr>
            <a:spLocks noGrp="1"/>
          </p:cNvSpPr>
          <p:nvPr>
            <p:ph type="sldNum" sz="quarter" idx="12"/>
          </p:nvPr>
        </p:nvSpPr>
        <p:spPr/>
        <p:txBody>
          <a:bodyPr/>
          <a:lstStyle>
            <a:lvl1pPr>
              <a:defRPr/>
            </a:lvl1pPr>
          </a:lstStyle>
          <a:p>
            <a:pPr>
              <a:defRPr/>
            </a:pPr>
            <a:fld id="{BCFE3F07-97A7-4CEE-B190-0EAA322A0DC2}" type="slidenum">
              <a:rPr lang="zh-TW" altLang="en-US"/>
              <a:pPr>
                <a:defRPr/>
              </a:pPr>
              <a:t>‹#›</a:t>
            </a:fld>
            <a:endParaRPr lang="zh-TW" altLang="en-US"/>
          </a:p>
        </p:txBody>
      </p:sp>
    </p:spTree>
    <p:extLst>
      <p:ext uri="{BB962C8B-B14F-4D97-AF65-F5344CB8AC3E}">
        <p14:creationId xmlns="" xmlns:p14="http://schemas.microsoft.com/office/powerpoint/2010/main" val="31985833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3"/>
          <p:cNvSpPr>
            <a:spLocks noGrp="1"/>
          </p:cNvSpPr>
          <p:nvPr>
            <p:ph type="dt" sz="half" idx="10"/>
          </p:nvPr>
        </p:nvSpPr>
        <p:spPr/>
        <p:txBody>
          <a:bodyPr/>
          <a:lstStyle>
            <a:lvl1pPr>
              <a:defRPr/>
            </a:lvl1pPr>
          </a:lstStyle>
          <a:p>
            <a:pPr>
              <a:defRPr/>
            </a:pPr>
            <a:fld id="{977D4F32-C364-42C1-BF55-D8FDA76BAE3B}" type="datetimeFigureOut">
              <a:rPr lang="zh-TW" altLang="en-US"/>
              <a:pPr>
                <a:defRPr/>
              </a:pPr>
              <a:t>2011/12/5</a:t>
            </a:fld>
            <a:endParaRPr lang="zh-TW" altLang="en-US"/>
          </a:p>
        </p:txBody>
      </p:sp>
      <p:sp>
        <p:nvSpPr>
          <p:cNvPr id="4" name="頁尾版面配置區 4"/>
          <p:cNvSpPr>
            <a:spLocks noGrp="1"/>
          </p:cNvSpPr>
          <p:nvPr>
            <p:ph type="ftr" sz="quarter" idx="11"/>
          </p:nvPr>
        </p:nvSpPr>
        <p:spPr/>
        <p:txBody>
          <a:bodyPr/>
          <a:lstStyle>
            <a:lvl1pPr>
              <a:defRPr/>
            </a:lvl1pPr>
          </a:lstStyle>
          <a:p>
            <a:pPr>
              <a:defRPr/>
            </a:pPr>
            <a:endParaRPr lang="zh-TW" altLang="en-US"/>
          </a:p>
        </p:txBody>
      </p:sp>
      <p:sp>
        <p:nvSpPr>
          <p:cNvPr id="5" name="投影片編號版面配置區 5"/>
          <p:cNvSpPr>
            <a:spLocks noGrp="1"/>
          </p:cNvSpPr>
          <p:nvPr>
            <p:ph type="sldNum" sz="quarter" idx="12"/>
          </p:nvPr>
        </p:nvSpPr>
        <p:spPr/>
        <p:txBody>
          <a:bodyPr/>
          <a:lstStyle>
            <a:lvl1pPr>
              <a:defRPr/>
            </a:lvl1pPr>
          </a:lstStyle>
          <a:p>
            <a:pPr>
              <a:defRPr/>
            </a:pPr>
            <a:fld id="{39A6D154-E159-48B9-A6F3-81EB04F3AB56}" type="slidenum">
              <a:rPr lang="zh-TW" altLang="en-US"/>
              <a:pPr>
                <a:defRPr/>
              </a:pPr>
              <a:t>‹#›</a:t>
            </a:fld>
            <a:endParaRPr lang="zh-TW" altLang="en-US"/>
          </a:p>
        </p:txBody>
      </p:sp>
    </p:spTree>
    <p:extLst>
      <p:ext uri="{BB962C8B-B14F-4D97-AF65-F5344CB8AC3E}">
        <p14:creationId xmlns="" xmlns:p14="http://schemas.microsoft.com/office/powerpoint/2010/main" val="134491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3"/>
          <p:cNvSpPr>
            <a:spLocks noGrp="1"/>
          </p:cNvSpPr>
          <p:nvPr>
            <p:ph type="dt" sz="half" idx="10"/>
          </p:nvPr>
        </p:nvSpPr>
        <p:spPr/>
        <p:txBody>
          <a:bodyPr/>
          <a:lstStyle>
            <a:lvl1pPr>
              <a:defRPr/>
            </a:lvl1pPr>
          </a:lstStyle>
          <a:p>
            <a:pPr>
              <a:defRPr/>
            </a:pPr>
            <a:fld id="{9B6CDC56-C89D-4BE5-A649-0F8DEB867E2F}" type="datetimeFigureOut">
              <a:rPr lang="zh-TW" altLang="en-US"/>
              <a:pPr>
                <a:defRPr/>
              </a:pPr>
              <a:t>2011/12/5</a:t>
            </a:fld>
            <a:endParaRPr lang="zh-TW" altLang="en-US"/>
          </a:p>
        </p:txBody>
      </p:sp>
      <p:sp>
        <p:nvSpPr>
          <p:cNvPr id="3" name="頁尾版面配置區 4"/>
          <p:cNvSpPr>
            <a:spLocks noGrp="1"/>
          </p:cNvSpPr>
          <p:nvPr>
            <p:ph type="ftr" sz="quarter" idx="11"/>
          </p:nvPr>
        </p:nvSpPr>
        <p:spPr/>
        <p:txBody>
          <a:bodyPr/>
          <a:lstStyle>
            <a:lvl1pPr>
              <a:defRPr/>
            </a:lvl1pPr>
          </a:lstStyle>
          <a:p>
            <a:pPr>
              <a:defRPr/>
            </a:pPr>
            <a:endParaRPr lang="zh-TW" altLang="en-US"/>
          </a:p>
        </p:txBody>
      </p:sp>
      <p:sp>
        <p:nvSpPr>
          <p:cNvPr id="4" name="投影片編號版面配置區 5"/>
          <p:cNvSpPr>
            <a:spLocks noGrp="1"/>
          </p:cNvSpPr>
          <p:nvPr>
            <p:ph type="sldNum" sz="quarter" idx="12"/>
          </p:nvPr>
        </p:nvSpPr>
        <p:spPr/>
        <p:txBody>
          <a:bodyPr/>
          <a:lstStyle>
            <a:lvl1pPr>
              <a:defRPr/>
            </a:lvl1pPr>
          </a:lstStyle>
          <a:p>
            <a:pPr>
              <a:defRPr/>
            </a:pPr>
            <a:fld id="{E7424784-AD13-4080-BFAC-BA75534B03CD}" type="slidenum">
              <a:rPr lang="zh-TW" altLang="en-US"/>
              <a:pPr>
                <a:defRPr/>
              </a:pPr>
              <a:t>‹#›</a:t>
            </a:fld>
            <a:endParaRPr lang="zh-TW" altLang="en-US"/>
          </a:p>
        </p:txBody>
      </p:sp>
    </p:spTree>
    <p:extLst>
      <p:ext uri="{BB962C8B-B14F-4D97-AF65-F5344CB8AC3E}">
        <p14:creationId xmlns="" xmlns:p14="http://schemas.microsoft.com/office/powerpoint/2010/main" val="3398553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3"/>
          <p:cNvSpPr>
            <a:spLocks noGrp="1"/>
          </p:cNvSpPr>
          <p:nvPr>
            <p:ph type="dt" sz="half" idx="10"/>
          </p:nvPr>
        </p:nvSpPr>
        <p:spPr/>
        <p:txBody>
          <a:bodyPr/>
          <a:lstStyle>
            <a:lvl1pPr>
              <a:defRPr/>
            </a:lvl1pPr>
          </a:lstStyle>
          <a:p>
            <a:pPr>
              <a:defRPr/>
            </a:pPr>
            <a:fld id="{C49742AE-97D1-4875-8D42-3FF228F75098}" type="datetimeFigureOut">
              <a:rPr lang="zh-TW" altLang="en-US"/>
              <a:pPr>
                <a:defRPr/>
              </a:pPr>
              <a:t>2011/12/5</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9C4585D6-6A74-4F5F-A10A-39A26C80B83C}" type="slidenum">
              <a:rPr lang="zh-TW" altLang="en-US"/>
              <a:pPr>
                <a:defRPr/>
              </a:pPr>
              <a:t>‹#›</a:t>
            </a:fld>
            <a:endParaRPr lang="zh-TW" altLang="en-US"/>
          </a:p>
        </p:txBody>
      </p:sp>
    </p:spTree>
    <p:extLst>
      <p:ext uri="{BB962C8B-B14F-4D97-AF65-F5344CB8AC3E}">
        <p14:creationId xmlns="" xmlns:p14="http://schemas.microsoft.com/office/powerpoint/2010/main" val="963948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3"/>
          <p:cNvSpPr>
            <a:spLocks noGrp="1"/>
          </p:cNvSpPr>
          <p:nvPr>
            <p:ph type="dt" sz="half" idx="10"/>
          </p:nvPr>
        </p:nvSpPr>
        <p:spPr/>
        <p:txBody>
          <a:bodyPr/>
          <a:lstStyle>
            <a:lvl1pPr>
              <a:defRPr/>
            </a:lvl1pPr>
          </a:lstStyle>
          <a:p>
            <a:pPr>
              <a:defRPr/>
            </a:pPr>
            <a:fld id="{63B01E2E-6A5F-4CA5-908E-A19C356BF55C}" type="datetimeFigureOut">
              <a:rPr lang="zh-TW" altLang="en-US"/>
              <a:pPr>
                <a:defRPr/>
              </a:pPr>
              <a:t>2011/12/5</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9900A074-4C14-4B45-944F-53D0B7706B90}" type="slidenum">
              <a:rPr lang="zh-TW" altLang="en-US"/>
              <a:pPr>
                <a:defRPr/>
              </a:pPr>
              <a:t>‹#›</a:t>
            </a:fld>
            <a:endParaRPr lang="zh-TW" altLang="en-US"/>
          </a:p>
        </p:txBody>
      </p:sp>
    </p:spTree>
    <p:extLst>
      <p:ext uri="{BB962C8B-B14F-4D97-AF65-F5344CB8AC3E}">
        <p14:creationId xmlns="" xmlns:p14="http://schemas.microsoft.com/office/powerpoint/2010/main" val="1153826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pPr>
              <a:defRPr/>
            </a:pPr>
            <a:fld id="{5A8F2A4D-44B9-4DBC-836F-FD98F3AF9BFF}" type="datetimeFigureOut">
              <a:rPr lang="zh-TW" altLang="en-US"/>
              <a:pPr>
                <a:defRPr/>
              </a:pPr>
              <a:t>2011/12/5</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2CCA295C-7F92-4711-840D-EE26E104FC6E}" type="slidenum">
              <a:rPr lang="zh-TW" altLang="en-US"/>
              <a:pPr>
                <a:defRPr/>
              </a:pPr>
              <a:t>‹#›</a:t>
            </a:fld>
            <a:endParaRPr lang="zh-TW" altLang="en-US"/>
          </a:p>
        </p:txBody>
      </p:sp>
    </p:spTree>
    <p:extLst>
      <p:ext uri="{BB962C8B-B14F-4D97-AF65-F5344CB8AC3E}">
        <p14:creationId xmlns="" xmlns:p14="http://schemas.microsoft.com/office/powerpoint/2010/main" val="3748311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pPr>
              <a:defRPr/>
            </a:pPr>
            <a:fld id="{26319B6A-84D4-4391-B7E5-706DC8F093D5}" type="datetimeFigureOut">
              <a:rPr lang="zh-TW" altLang="en-US"/>
              <a:pPr>
                <a:defRPr/>
              </a:pPr>
              <a:t>2011/12/5</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F0F181AC-B57B-4E63-A225-FD07A1E9EC56}" type="slidenum">
              <a:rPr lang="zh-TW" altLang="en-US"/>
              <a:pPr>
                <a:defRPr/>
              </a:pPr>
              <a:t>‹#›</a:t>
            </a:fld>
            <a:endParaRPr lang="zh-TW" altLang="en-US"/>
          </a:p>
        </p:txBody>
      </p:sp>
    </p:spTree>
    <p:extLst>
      <p:ext uri="{BB962C8B-B14F-4D97-AF65-F5344CB8AC3E}">
        <p14:creationId xmlns="" xmlns:p14="http://schemas.microsoft.com/office/powerpoint/2010/main" val="1656833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標題版面配置區 1"/>
          <p:cNvSpPr>
            <a:spLocks noGrp="1"/>
          </p:cNvSpPr>
          <p:nvPr>
            <p:ph type="title"/>
          </p:nvPr>
        </p:nvSpPr>
        <p:spPr bwMode="auto">
          <a:xfrm>
            <a:off x="457200" y="274638"/>
            <a:ext cx="82296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1027" name="文字版面配置區 2"/>
          <p:cNvSpPr>
            <a:spLocks noGrp="1"/>
          </p:cNvSpPr>
          <p:nvPr>
            <p:ph type="body" idx="1"/>
          </p:nvPr>
        </p:nvSpPr>
        <p:spPr bwMode="auto">
          <a:xfrm>
            <a:off x="457200" y="1600200"/>
            <a:ext cx="8229600"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kumimoji="0" sz="1200">
                <a:solidFill>
                  <a:schemeClr val="tx1">
                    <a:tint val="75000"/>
                  </a:schemeClr>
                </a:solidFill>
                <a:latin typeface="+mn-lt"/>
                <a:ea typeface="+mn-ea"/>
              </a:defRPr>
            </a:lvl1pPr>
          </a:lstStyle>
          <a:p>
            <a:pPr>
              <a:defRPr/>
            </a:pPr>
            <a:fld id="{208C5AD4-FB66-4C86-AB8D-D984E889BCC6}" type="datetimeFigureOut">
              <a:rPr lang="zh-TW" altLang="en-US"/>
              <a:pPr>
                <a:defRPr/>
              </a:pPr>
              <a:t>2011/12/5</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kumimoji="0" sz="1200">
                <a:solidFill>
                  <a:schemeClr val="tx1">
                    <a:tint val="75000"/>
                  </a:schemeClr>
                </a:solidFill>
                <a:latin typeface="+mn-lt"/>
                <a:ea typeface="+mn-ea"/>
              </a:defRPr>
            </a:lvl1pPr>
          </a:lstStyle>
          <a:p>
            <a:pPr>
              <a:defRPr/>
            </a:pPr>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kumimoji="0" sz="1200">
                <a:solidFill>
                  <a:schemeClr val="tx1">
                    <a:tint val="75000"/>
                  </a:schemeClr>
                </a:solidFill>
                <a:latin typeface="+mn-lt"/>
                <a:ea typeface="+mn-ea"/>
              </a:defRPr>
            </a:lvl1pPr>
          </a:lstStyle>
          <a:p>
            <a:pPr>
              <a:defRPr/>
            </a:pPr>
            <a:fld id="{D0EDE5FD-EEE6-40C5-AF40-54426C020AFC}" type="slidenum">
              <a:rPr lang="zh-TW" altLang="en-US"/>
              <a:pPr>
                <a:defRPr/>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新細明體" charset="-120"/>
        </a:defRPr>
      </a:lvl2pPr>
      <a:lvl3pPr algn="ctr" rtl="0" eaLnBrk="0" fontAlgn="base" hangingPunct="0">
        <a:spcBef>
          <a:spcPct val="0"/>
        </a:spcBef>
        <a:spcAft>
          <a:spcPct val="0"/>
        </a:spcAft>
        <a:defRPr sz="4400">
          <a:solidFill>
            <a:schemeClr val="tx1"/>
          </a:solidFill>
          <a:latin typeface="Calibri" pitchFamily="34" charset="0"/>
          <a:ea typeface="新細明體" charset="-120"/>
        </a:defRPr>
      </a:lvl3pPr>
      <a:lvl4pPr algn="ctr" rtl="0" eaLnBrk="0" fontAlgn="base" hangingPunct="0">
        <a:spcBef>
          <a:spcPct val="0"/>
        </a:spcBef>
        <a:spcAft>
          <a:spcPct val="0"/>
        </a:spcAft>
        <a:defRPr sz="4400">
          <a:solidFill>
            <a:schemeClr val="tx1"/>
          </a:solidFill>
          <a:latin typeface="Calibri" pitchFamily="34" charset="0"/>
          <a:ea typeface="新細明體" charset="-120"/>
        </a:defRPr>
      </a:lvl4pPr>
      <a:lvl5pPr algn="ctr" rtl="0" eaLnBrk="0" fontAlgn="base" hangingPunct="0">
        <a:spcBef>
          <a:spcPct val="0"/>
        </a:spcBef>
        <a:spcAft>
          <a:spcPct val="0"/>
        </a:spcAft>
        <a:defRPr sz="4400">
          <a:solidFill>
            <a:schemeClr val="tx1"/>
          </a:solidFill>
          <a:latin typeface="Calibri" pitchFamily="34" charset="0"/>
          <a:ea typeface="新細明體" charset="-120"/>
        </a:defRPr>
      </a:lvl5pPr>
      <a:lvl6pPr marL="457200" algn="ctr" rtl="0" fontAlgn="base">
        <a:spcBef>
          <a:spcPct val="0"/>
        </a:spcBef>
        <a:spcAft>
          <a:spcPct val="0"/>
        </a:spcAft>
        <a:defRPr sz="4400">
          <a:solidFill>
            <a:schemeClr val="tx1"/>
          </a:solidFill>
          <a:latin typeface="Calibri" pitchFamily="34" charset="0"/>
          <a:ea typeface="新細明體" charset="-120"/>
        </a:defRPr>
      </a:lvl6pPr>
      <a:lvl7pPr marL="914400" algn="ctr" rtl="0" fontAlgn="base">
        <a:spcBef>
          <a:spcPct val="0"/>
        </a:spcBef>
        <a:spcAft>
          <a:spcPct val="0"/>
        </a:spcAft>
        <a:defRPr sz="4400">
          <a:solidFill>
            <a:schemeClr val="tx1"/>
          </a:solidFill>
          <a:latin typeface="Calibri" pitchFamily="34" charset="0"/>
          <a:ea typeface="新細明體" charset="-120"/>
        </a:defRPr>
      </a:lvl7pPr>
      <a:lvl8pPr marL="1371600" algn="ctr" rtl="0" fontAlgn="base">
        <a:spcBef>
          <a:spcPct val="0"/>
        </a:spcBef>
        <a:spcAft>
          <a:spcPct val="0"/>
        </a:spcAft>
        <a:defRPr sz="4400">
          <a:solidFill>
            <a:schemeClr val="tx1"/>
          </a:solidFill>
          <a:latin typeface="Calibri" pitchFamily="34" charset="0"/>
          <a:ea typeface="新細明體" charset="-120"/>
        </a:defRPr>
      </a:lvl8pPr>
      <a:lvl9pPr marL="1828800" algn="ctr" rtl="0" fontAlgn="base">
        <a:spcBef>
          <a:spcPct val="0"/>
        </a:spcBef>
        <a:spcAft>
          <a:spcPct val="0"/>
        </a:spcAft>
        <a:defRPr sz="4400">
          <a:solidFill>
            <a:schemeClr val="tx1"/>
          </a:solidFill>
          <a:latin typeface="Calibri" pitchFamily="34" charset="0"/>
          <a:ea typeface="新細明體" charset="-12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標題 1"/>
          <p:cNvSpPr>
            <a:spLocks noGrp="1"/>
          </p:cNvSpPr>
          <p:nvPr>
            <p:ph type="ctrTitle"/>
          </p:nvPr>
        </p:nvSpPr>
        <p:spPr>
          <a:xfrm>
            <a:off x="395536" y="692150"/>
            <a:ext cx="8424936" cy="4681066"/>
          </a:xfrm>
        </p:spPr>
        <p:txBody>
          <a:bodyPr/>
          <a:lstStyle/>
          <a:p>
            <a:pPr eaLnBrk="1" hangingPunct="1"/>
            <a:r>
              <a:rPr lang="zh-TW" altLang="en-US" sz="4000" dirty="0">
                <a:latin typeface="Times New Roman" pitchFamily="18" charset="0"/>
                <a:ea typeface="DFKai-SB" pitchFamily="65" charset="-120"/>
                <a:cs typeface="Times New Roman" pitchFamily="18" charset="0"/>
              </a:rPr>
              <a:t>植基於符號組之改良式</a:t>
            </a:r>
            <a:r>
              <a:rPr lang="en-US" altLang="zh-TW" sz="4000" dirty="0">
                <a:latin typeface="Times New Roman" pitchFamily="18" charset="0"/>
                <a:ea typeface="DFKai-SB" pitchFamily="65" charset="-120"/>
                <a:cs typeface="Times New Roman" pitchFamily="18" charset="0"/>
              </a:rPr>
              <a:t>BLIM </a:t>
            </a:r>
            <a:r>
              <a:rPr lang="zh-TW" altLang="en-US" sz="4000" dirty="0">
                <a:latin typeface="Times New Roman" pitchFamily="18" charset="0"/>
                <a:ea typeface="DFKai-SB" pitchFamily="65" charset="-120"/>
                <a:cs typeface="Times New Roman" pitchFamily="18" charset="0"/>
              </a:rPr>
              <a:t>演算法</a:t>
            </a:r>
            <a:r>
              <a:rPr lang="en-US" altLang="zh-TW" dirty="0" smtClean="0">
                <a:latin typeface="Times New Roman" pitchFamily="18" charset="0"/>
                <a:ea typeface="DFKai-SB" pitchFamily="65" charset="-120"/>
                <a:cs typeface="Times New Roman" pitchFamily="18" charset="0"/>
              </a:rPr>
              <a:t/>
            </a:r>
            <a:br>
              <a:rPr lang="en-US" altLang="zh-TW" dirty="0" smtClean="0">
                <a:latin typeface="Times New Roman" pitchFamily="18" charset="0"/>
                <a:ea typeface="DFKai-SB" pitchFamily="65" charset="-120"/>
                <a:cs typeface="Times New Roman" pitchFamily="18" charset="0"/>
              </a:rPr>
            </a:br>
            <a:r>
              <a:rPr lang="en-US" altLang="zh-TW" sz="2400" dirty="0" smtClean="0">
                <a:latin typeface="Times New Roman" pitchFamily="18" charset="0"/>
                <a:ea typeface="DFKai-SB" pitchFamily="65" charset="-120"/>
                <a:cs typeface="Times New Roman" pitchFamily="18" charset="0"/>
              </a:rPr>
              <a:t/>
            </a:r>
            <a:br>
              <a:rPr lang="en-US" altLang="zh-TW" sz="2400" dirty="0" smtClean="0">
                <a:latin typeface="Times New Roman" pitchFamily="18" charset="0"/>
                <a:ea typeface="DFKai-SB" pitchFamily="65" charset="-120"/>
                <a:cs typeface="Times New Roman" pitchFamily="18" charset="0"/>
              </a:rPr>
            </a:br>
            <a:r>
              <a:rPr lang="zh-TW" altLang="en-US" sz="2400" dirty="0" smtClean="0">
                <a:latin typeface="Times New Roman" pitchFamily="18" charset="0"/>
                <a:ea typeface="DFKai-SB" pitchFamily="65" charset="-120"/>
                <a:cs typeface="Times New Roman" pitchFamily="18" charset="0"/>
              </a:rPr>
              <a:t>林柏豪</a:t>
            </a:r>
            <a:r>
              <a:rPr lang="en-US" altLang="zh-TW" sz="2400" dirty="0" smtClean="0">
                <a:latin typeface="Times New Roman" pitchFamily="18" charset="0"/>
                <a:ea typeface="DFKai-SB" pitchFamily="65" charset="-120"/>
                <a:cs typeface="Times New Roman" pitchFamily="18" charset="0"/>
              </a:rPr>
              <a:t>,</a:t>
            </a:r>
            <a:r>
              <a:rPr lang="zh-TW" altLang="en-US" sz="2400" dirty="0">
                <a:latin typeface="Times New Roman" pitchFamily="18" charset="0"/>
                <a:ea typeface="DFKai-SB" pitchFamily="65" charset="-120"/>
                <a:cs typeface="Times New Roman" pitchFamily="18" charset="0"/>
              </a:rPr>
              <a:t>黃健</a:t>
            </a:r>
            <a:r>
              <a:rPr lang="zh-TW" altLang="en-US" sz="2400" dirty="0" smtClean="0">
                <a:latin typeface="Times New Roman" pitchFamily="18" charset="0"/>
                <a:ea typeface="DFKai-SB" pitchFamily="65" charset="-120"/>
                <a:cs typeface="Times New Roman" pitchFamily="18" charset="0"/>
              </a:rPr>
              <a:t>峯</a:t>
            </a:r>
            <a:r>
              <a:rPr lang="en-US" altLang="zh-TW" sz="2400" dirty="0" smtClean="0">
                <a:latin typeface="Times New Roman" pitchFamily="18" charset="0"/>
                <a:ea typeface="DFKai-SB" pitchFamily="65" charset="-120"/>
                <a:cs typeface="Times New Roman" pitchFamily="18" charset="0"/>
              </a:rPr>
              <a:t>,</a:t>
            </a:r>
            <a:r>
              <a:rPr lang="zh-TW" altLang="en-US" sz="2400" dirty="0" smtClean="0">
                <a:latin typeface="Times New Roman" pitchFamily="18" charset="0"/>
                <a:ea typeface="DFKai-SB" pitchFamily="65" charset="-120"/>
                <a:cs typeface="Times New Roman" pitchFamily="18" charset="0"/>
              </a:rPr>
              <a:t>陳建源</a:t>
            </a:r>
            <a:r>
              <a:rPr lang="en-US" altLang="zh-TW" sz="2400" dirty="0" smtClean="0">
                <a:latin typeface="Times New Roman" pitchFamily="18" charset="0"/>
                <a:ea typeface="DFKai-SB" pitchFamily="65" charset="-120"/>
                <a:cs typeface="Times New Roman" pitchFamily="18" charset="0"/>
              </a:rPr>
              <a:t>,</a:t>
            </a:r>
            <a:r>
              <a:rPr lang="zh-TW" altLang="en-US" sz="2400" dirty="0">
                <a:latin typeface="Times New Roman" pitchFamily="18" charset="0"/>
                <a:ea typeface="DFKai-SB" pitchFamily="65" charset="-120"/>
                <a:cs typeface="Times New Roman" pitchFamily="18" charset="0"/>
              </a:rPr>
              <a:t>林鈺峰</a:t>
            </a:r>
            <a:r>
              <a:rPr lang="en-US" altLang="zh-TW" sz="2400" dirty="0" smtClean="0">
                <a:latin typeface="Times New Roman" pitchFamily="18" charset="0"/>
                <a:ea typeface="DFKai-SB" pitchFamily="65" charset="-120"/>
                <a:cs typeface="Times New Roman" pitchFamily="18" charset="0"/>
              </a:rPr>
              <a:t/>
            </a:r>
            <a:br>
              <a:rPr lang="en-US" altLang="zh-TW" sz="2400" dirty="0" smtClean="0">
                <a:latin typeface="Times New Roman" pitchFamily="18" charset="0"/>
                <a:ea typeface="DFKai-SB" pitchFamily="65" charset="-120"/>
                <a:cs typeface="Times New Roman" pitchFamily="18" charset="0"/>
              </a:rPr>
            </a:br>
            <a:r>
              <a:rPr lang="en-US" altLang="zh-TW" sz="2400" dirty="0">
                <a:latin typeface="Times New Roman" pitchFamily="18" charset="0"/>
                <a:ea typeface="DFKai-SB" pitchFamily="65" charset="-120"/>
                <a:cs typeface="Times New Roman" pitchFamily="18" charset="0"/>
              </a:rPr>
              <a:t/>
            </a:r>
            <a:br>
              <a:rPr lang="en-US" altLang="zh-TW" sz="2400" dirty="0">
                <a:latin typeface="Times New Roman" pitchFamily="18" charset="0"/>
                <a:ea typeface="DFKai-SB" pitchFamily="65" charset="-120"/>
                <a:cs typeface="Times New Roman" pitchFamily="18" charset="0"/>
              </a:rPr>
            </a:br>
            <a:r>
              <a:rPr lang="en-US" altLang="zh-TW" sz="2400" dirty="0" smtClean="0">
                <a:latin typeface="Times New Roman" pitchFamily="18" charset="0"/>
                <a:ea typeface="DFKai-SB" pitchFamily="65" charset="-120"/>
                <a:cs typeface="Times New Roman" pitchFamily="18" charset="0"/>
              </a:rPr>
              <a:t>Proceedings </a:t>
            </a:r>
            <a:r>
              <a:rPr lang="en-US" altLang="zh-TW" sz="2400" smtClean="0">
                <a:latin typeface="Times New Roman" pitchFamily="18" charset="0"/>
                <a:ea typeface="DFKai-SB" pitchFamily="65" charset="-120"/>
                <a:cs typeface="Times New Roman" pitchFamily="18" charset="0"/>
              </a:rPr>
              <a:t>of Workshop </a:t>
            </a:r>
            <a:r>
              <a:rPr lang="en-US" altLang="zh-TW" sz="2400" dirty="0" smtClean="0">
                <a:latin typeface="Times New Roman" pitchFamily="18" charset="0"/>
                <a:ea typeface="DFKai-SB" pitchFamily="65" charset="-120"/>
                <a:cs typeface="Times New Roman" pitchFamily="18" charset="0"/>
              </a:rPr>
              <a:t>on AB,</a:t>
            </a:r>
            <a:br>
              <a:rPr lang="en-US" altLang="zh-TW" sz="2400" dirty="0" smtClean="0">
                <a:latin typeface="Times New Roman" pitchFamily="18" charset="0"/>
                <a:ea typeface="DFKai-SB" pitchFamily="65" charset="-120"/>
                <a:cs typeface="Times New Roman" pitchFamily="18" charset="0"/>
              </a:rPr>
            </a:br>
            <a:r>
              <a:rPr lang="en-US" altLang="zh-TW" sz="2400" dirty="0" smtClean="0">
                <a:latin typeface="Times New Roman" pitchFamily="18" charset="0"/>
                <a:ea typeface="DFKai-SB" pitchFamily="65" charset="-120"/>
                <a:cs typeface="Times New Roman" pitchFamily="18" charset="0"/>
              </a:rPr>
              <a:t>2011 </a:t>
            </a:r>
            <a:r>
              <a:rPr lang="en-US" altLang="zh-TW" sz="2400" dirty="0" smtClean="0">
                <a:latin typeface="Times New Roman" pitchFamily="18" charset="0"/>
                <a:ea typeface="DFKai-SB" pitchFamily="65" charset="-120"/>
                <a:cs typeface="Times New Roman" pitchFamily="18" charset="0"/>
              </a:rPr>
              <a:t>National </a:t>
            </a:r>
            <a:r>
              <a:rPr lang="en-US" altLang="zh-TW" sz="2400" dirty="0">
                <a:latin typeface="Times New Roman" pitchFamily="18" charset="0"/>
                <a:ea typeface="DFKai-SB" pitchFamily="65" charset="-120"/>
                <a:cs typeface="Times New Roman" pitchFamily="18" charset="0"/>
              </a:rPr>
              <a:t>Computer </a:t>
            </a:r>
            <a:r>
              <a:rPr lang="en-US" altLang="zh-TW" sz="2400" dirty="0" smtClean="0">
                <a:latin typeface="Times New Roman" pitchFamily="18" charset="0"/>
                <a:ea typeface="DFKai-SB" pitchFamily="65" charset="-120"/>
                <a:cs typeface="Times New Roman" pitchFamily="18" charset="0"/>
              </a:rPr>
              <a:t>Symposium,</a:t>
            </a:r>
            <a:br>
              <a:rPr lang="en-US" altLang="zh-TW" sz="2400" dirty="0" smtClean="0">
                <a:latin typeface="Times New Roman" pitchFamily="18" charset="0"/>
                <a:ea typeface="DFKai-SB" pitchFamily="65" charset="-120"/>
                <a:cs typeface="Times New Roman" pitchFamily="18" charset="0"/>
              </a:rPr>
            </a:br>
            <a:r>
              <a:rPr lang="en-US" altLang="zh-TW" sz="2400" dirty="0" smtClean="0">
                <a:latin typeface="Times New Roman" pitchFamily="18" charset="0"/>
                <a:ea typeface="DFKai-SB" pitchFamily="65" charset="-120"/>
                <a:cs typeface="Times New Roman" pitchFamily="18" charset="0"/>
              </a:rPr>
              <a:t>pp. 108-119, </a:t>
            </a:r>
            <a:r>
              <a:rPr lang="en-US" altLang="zh-TW" sz="2400" dirty="0" err="1" smtClean="0">
                <a:latin typeface="Times New Roman" pitchFamily="18" charset="0"/>
                <a:ea typeface="DFKai-SB" pitchFamily="65" charset="-120"/>
                <a:cs typeface="Times New Roman" pitchFamily="18" charset="0"/>
              </a:rPr>
              <a:t>Chiayi</a:t>
            </a:r>
            <a:r>
              <a:rPr lang="en-US" altLang="zh-TW" sz="2400" dirty="0" smtClean="0">
                <a:latin typeface="Times New Roman" pitchFamily="18" charset="0"/>
                <a:ea typeface="DFKai-SB" pitchFamily="65" charset="-120"/>
                <a:cs typeface="Times New Roman" pitchFamily="18" charset="0"/>
              </a:rPr>
              <a:t>, Taiwan, Dec. 2-3, 2011.</a:t>
            </a:r>
            <a:endParaRPr lang="zh-TW" altLang="en-US" sz="2200" dirty="0" smtClean="0">
              <a:latin typeface="Times New Roman" pitchFamily="18" charset="0"/>
              <a:ea typeface="DFKai-SB" pitchFamily="65" charset="-120"/>
              <a:cs typeface="Times New Roman" pitchFamily="18" charset="0"/>
            </a:endParaRPr>
          </a:p>
        </p:txBody>
      </p:sp>
      <p:sp>
        <p:nvSpPr>
          <p:cNvPr id="2051" name="副標題 2"/>
          <p:cNvSpPr>
            <a:spLocks noGrp="1"/>
          </p:cNvSpPr>
          <p:nvPr>
            <p:ph type="subTitle" idx="1"/>
          </p:nvPr>
        </p:nvSpPr>
        <p:spPr>
          <a:xfrm>
            <a:off x="1331913" y="5301208"/>
            <a:ext cx="6400800" cy="576064"/>
          </a:xfrm>
        </p:spPr>
        <p:txBody>
          <a:bodyPr/>
          <a:lstStyle/>
          <a:p>
            <a:pPr algn="r" eaLnBrk="1" hangingPunct="1"/>
            <a:r>
              <a:rPr lang="en-US" altLang="zh-TW" sz="2000" dirty="0" smtClean="0">
                <a:solidFill>
                  <a:schemeClr val="tx1"/>
                </a:solidFill>
                <a:latin typeface="Times New Roman" pitchFamily="18" charset="0"/>
                <a:ea typeface="DFKai-SB" pitchFamily="65" charset="-120"/>
                <a:cs typeface="Times New Roman" pitchFamily="18" charset="0"/>
              </a:rPr>
              <a:t>Presenter: Hong-Yu Chen</a:t>
            </a:r>
          </a:p>
          <a:p>
            <a:pPr algn="r" eaLnBrk="1" hangingPunct="1"/>
            <a:r>
              <a:rPr lang="en-US" altLang="zh-TW" sz="2000" dirty="0" smtClean="0">
                <a:solidFill>
                  <a:schemeClr val="tx1"/>
                </a:solidFill>
                <a:latin typeface="Times New Roman" pitchFamily="18" charset="0"/>
                <a:ea typeface="DFKai-SB" pitchFamily="65" charset="-120"/>
                <a:cs typeface="Times New Roman" pitchFamily="18" charset="0"/>
              </a:rPr>
              <a:t>Date: Dec. 5, 2011</a:t>
            </a:r>
            <a:endParaRPr lang="zh-TW" altLang="en-US" sz="2000" dirty="0" smtClean="0">
              <a:solidFill>
                <a:schemeClr val="tx1"/>
              </a:solidFill>
              <a:latin typeface="Times New Roman" pitchFamily="18" charset="0"/>
              <a:ea typeface="DFKai-SB" pitchFamily="65" charset="-12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標題 1"/>
          <p:cNvSpPr>
            <a:spLocks noGrp="1"/>
          </p:cNvSpPr>
          <p:nvPr>
            <p:ph type="title"/>
          </p:nvPr>
        </p:nvSpPr>
        <p:spPr/>
        <p:txBody>
          <a:bodyPr/>
          <a:lstStyle/>
          <a:p>
            <a:pPr eaLnBrk="1" hangingPunct="1"/>
            <a:r>
              <a:rPr lang="en-US" altLang="zh-TW" dirty="0" smtClean="0">
                <a:latin typeface="Times New Roman" pitchFamily="18" charset="0"/>
                <a:ea typeface="DFKai-SB" pitchFamily="65" charset="-120"/>
                <a:cs typeface="Times New Roman" pitchFamily="18" charset="0"/>
              </a:rPr>
              <a:t>Abstract</a:t>
            </a:r>
            <a:endParaRPr lang="zh-TW" altLang="en-US" dirty="0" smtClean="0">
              <a:latin typeface="Times New Roman" pitchFamily="18" charset="0"/>
              <a:ea typeface="DFKai-SB" pitchFamily="65" charset="-120"/>
              <a:cs typeface="Times New Roman" pitchFamily="18" charset="0"/>
            </a:endParaRPr>
          </a:p>
        </p:txBody>
      </p:sp>
      <mc:AlternateContent xmlns:mc="http://schemas.openxmlformats.org/markup-compatibility/2006">
        <mc:Choice xmlns="" xmlns:a14="http://schemas.microsoft.com/office/drawing/2010/main" Requires="a14">
          <p:sp>
            <p:nvSpPr>
              <p:cNvPr id="3075" name="內容版面配置區 2"/>
              <p:cNvSpPr>
                <a:spLocks noGrp="1"/>
              </p:cNvSpPr>
              <p:nvPr>
                <p:ph idx="1"/>
              </p:nvPr>
            </p:nvSpPr>
            <p:spPr/>
            <p:txBody>
              <a:bodyPr/>
              <a:lstStyle/>
              <a:p>
                <a:r>
                  <a:rPr lang="en-US" altLang="zh-TW" sz="2500" dirty="0" smtClean="0">
                    <a:latin typeface="Times New Roman" pitchFamily="18" charset="0"/>
                    <a:ea typeface="標楷體" pitchFamily="65" charset="-120"/>
                    <a:cs typeface="Times New Roman" pitchFamily="18" charset="0"/>
                  </a:rPr>
                  <a:t>In this paper we present a new matching algorithm </a:t>
                </a:r>
                <a:r>
                  <a:rPr lang="en-US" altLang="zh-TW" sz="2500" dirty="0">
                    <a:latin typeface="Times New Roman" pitchFamily="18" charset="0"/>
                    <a:ea typeface="標楷體" pitchFamily="65" charset="-120"/>
                    <a:cs typeface="Times New Roman" pitchFamily="18" charset="0"/>
                  </a:rPr>
                  <a:t>to improve the BLIM algorithm by </a:t>
                </a:r>
                <a:r>
                  <a:rPr lang="en-US" altLang="zh-TW" sz="2500" dirty="0" smtClean="0">
                    <a:latin typeface="Times New Roman" pitchFamily="18" charset="0"/>
                    <a:ea typeface="標楷體" pitchFamily="65" charset="-120"/>
                    <a:cs typeface="Times New Roman" pitchFamily="18" charset="0"/>
                  </a:rPr>
                  <a:t>using q-grams (</a:t>
                </a:r>
                <a:r>
                  <a:rPr lang="zh-TW" altLang="en-US" sz="2500" dirty="0">
                    <a:latin typeface="Times New Roman" pitchFamily="18" charset="0"/>
                    <a:ea typeface="標楷體" pitchFamily="65" charset="-120"/>
                    <a:cs typeface="Times New Roman" pitchFamily="18" charset="0"/>
                  </a:rPr>
                  <a:t>符號組</a:t>
                </a:r>
                <a:r>
                  <a:rPr lang="en-US" altLang="zh-TW" sz="2500" dirty="0" smtClean="0">
                    <a:latin typeface="Times New Roman" pitchFamily="18" charset="0"/>
                    <a:ea typeface="標楷體" pitchFamily="65" charset="-120"/>
                    <a:cs typeface="Times New Roman" pitchFamily="18" charset="0"/>
                  </a:rPr>
                  <a:t>) </a:t>
                </a:r>
                <a:r>
                  <a:rPr lang="en-US" altLang="zh-TW" sz="2500" dirty="0">
                    <a:latin typeface="Times New Roman" pitchFamily="18" charset="0"/>
                    <a:ea typeface="標楷體" pitchFamily="65" charset="-120"/>
                    <a:cs typeface="Times New Roman" pitchFamily="18" charset="0"/>
                  </a:rPr>
                  <a:t>in the matching phase. Our analysis shows that</a:t>
                </a:r>
                <a:r>
                  <a:rPr lang="en-US" altLang="zh-TW" sz="2500" dirty="0" smtClean="0">
                    <a:latin typeface="Times New Roman" pitchFamily="18" charset="0"/>
                    <a:ea typeface="標楷體" pitchFamily="65" charset="-120"/>
                    <a:cs typeface="Times New Roman" pitchFamily="18" charset="0"/>
                  </a:rPr>
                  <a:t>, in </a:t>
                </a:r>
                <a:r>
                  <a:rPr lang="en-US" altLang="zh-TW" sz="2500" dirty="0">
                    <a:latin typeface="Times New Roman" pitchFamily="18" charset="0"/>
                    <a:ea typeface="標楷體" pitchFamily="65" charset="-120"/>
                    <a:cs typeface="Times New Roman" pitchFamily="18" charset="0"/>
                  </a:rPr>
                  <a:t>the best case, the time complexity of our algorithm </a:t>
                </a:r>
                <a:r>
                  <a:rPr lang="en-US" altLang="zh-TW" sz="2500" dirty="0" smtClean="0">
                    <a:latin typeface="Times New Roman" pitchFamily="18" charset="0"/>
                    <a:ea typeface="標楷體" pitchFamily="65" charset="-120"/>
                    <a:cs typeface="Times New Roman" pitchFamily="18" charset="0"/>
                  </a:rPr>
                  <a:t>is </a:t>
                </a:r>
                <a14:m>
                  <m:oMath xmlns:m="http://schemas.openxmlformats.org/officeDocument/2006/math">
                    <m:r>
                      <a:rPr lang="en-US" altLang="zh-TW" sz="2500" b="0" i="1" smtClean="0">
                        <a:latin typeface="Cambria Math"/>
                        <a:ea typeface="標楷體" pitchFamily="65" charset="-120"/>
                        <a:cs typeface="Times New Roman" pitchFamily="18" charset="0"/>
                      </a:rPr>
                      <m:t>𝑂</m:t>
                    </m:r>
                    <m:r>
                      <a:rPr lang="en-US" altLang="zh-TW" sz="2500" b="0" i="1" smtClean="0">
                        <a:latin typeface="Cambria Math"/>
                        <a:ea typeface="標楷體" pitchFamily="65" charset="-120"/>
                        <a:cs typeface="Times New Roman" pitchFamily="18" charset="0"/>
                      </a:rPr>
                      <m:t>(</m:t>
                    </m:r>
                    <m:f>
                      <m:fPr>
                        <m:ctrlPr>
                          <a:rPr lang="en-US" altLang="zh-TW" sz="2500" b="0" i="1" smtClean="0">
                            <a:latin typeface="Cambria Math"/>
                            <a:ea typeface="標楷體" pitchFamily="65" charset="-120"/>
                            <a:cs typeface="Times New Roman" pitchFamily="18" charset="0"/>
                          </a:rPr>
                        </m:ctrlPr>
                      </m:fPr>
                      <m:num>
                        <m:r>
                          <a:rPr lang="en-US" altLang="zh-TW" sz="2500" b="0" i="1" smtClean="0">
                            <a:latin typeface="Cambria Math"/>
                            <a:ea typeface="標楷體" pitchFamily="65" charset="-120"/>
                            <a:cs typeface="Times New Roman" pitchFamily="18" charset="0"/>
                          </a:rPr>
                          <m:t>𝑛</m:t>
                        </m:r>
                      </m:num>
                      <m:den>
                        <m:r>
                          <a:rPr lang="en-US" altLang="zh-TW" sz="2500" b="0" i="1" smtClean="0">
                            <a:latin typeface="Cambria Math"/>
                            <a:ea typeface="標楷體" pitchFamily="65" charset="-120"/>
                            <a:cs typeface="Times New Roman" pitchFamily="18" charset="0"/>
                          </a:rPr>
                          <m:t>𝑚</m:t>
                        </m:r>
                      </m:den>
                    </m:f>
                    <m:r>
                      <a:rPr lang="en-US" altLang="zh-TW" sz="2500" b="0" i="1" smtClean="0">
                        <a:latin typeface="Cambria Math"/>
                        <a:ea typeface="標楷體" pitchFamily="65" charset="-120"/>
                        <a:cs typeface="Times New Roman" pitchFamily="18" charset="0"/>
                      </a:rPr>
                      <m:t>)</m:t>
                    </m:r>
                  </m:oMath>
                </a14:m>
                <a:r>
                  <a:rPr lang="en-US" altLang="zh-TW" sz="2500" dirty="0">
                    <a:latin typeface="Times New Roman" pitchFamily="18" charset="0"/>
                    <a:ea typeface="標楷體" pitchFamily="65" charset="-120"/>
                    <a:cs typeface="Times New Roman" pitchFamily="18" charset="0"/>
                  </a:rPr>
                  <a:t>, where </a:t>
                </a:r>
                <a14:m>
                  <m:oMath xmlns:m="http://schemas.openxmlformats.org/officeDocument/2006/math">
                    <m:r>
                      <a:rPr lang="en-US" altLang="zh-TW" sz="2500" i="1">
                        <a:latin typeface="Cambria Math"/>
                        <a:ea typeface="標楷體" pitchFamily="65" charset="-120"/>
                        <a:cs typeface="Times New Roman" pitchFamily="18" charset="0"/>
                      </a:rPr>
                      <m:t>𝑛</m:t>
                    </m:r>
                  </m:oMath>
                </a14:m>
                <a:r>
                  <a:rPr lang="en-US" altLang="zh-TW" sz="2500" dirty="0" smtClean="0">
                    <a:latin typeface="Times New Roman" pitchFamily="18" charset="0"/>
                    <a:ea typeface="標楷體" pitchFamily="65" charset="-120"/>
                    <a:cs typeface="Times New Roman" pitchFamily="18" charset="0"/>
                  </a:rPr>
                  <a:t> </a:t>
                </a:r>
                <a:r>
                  <a:rPr lang="en-US" altLang="zh-TW" sz="2500" dirty="0">
                    <a:latin typeface="Times New Roman" pitchFamily="18" charset="0"/>
                    <a:ea typeface="標楷體" pitchFamily="65" charset="-120"/>
                    <a:cs typeface="Times New Roman" pitchFamily="18" charset="0"/>
                  </a:rPr>
                  <a:t>is the length of sequence, and </a:t>
                </a:r>
                <a14:m>
                  <m:oMath xmlns:m="http://schemas.openxmlformats.org/officeDocument/2006/math">
                    <m:r>
                      <a:rPr lang="en-US" altLang="zh-TW" sz="2500" i="1">
                        <a:latin typeface="Cambria Math"/>
                        <a:ea typeface="標楷體" pitchFamily="65" charset="-120"/>
                        <a:cs typeface="Times New Roman" pitchFamily="18" charset="0"/>
                      </a:rPr>
                      <m:t>𝑚</m:t>
                    </m:r>
                  </m:oMath>
                </a14:m>
                <a:r>
                  <a:rPr lang="en-US" altLang="zh-TW" sz="2500" dirty="0">
                    <a:latin typeface="Times New Roman" pitchFamily="18" charset="0"/>
                    <a:ea typeface="標楷體" pitchFamily="65" charset="-120"/>
                    <a:cs typeface="Times New Roman" pitchFamily="18" charset="0"/>
                  </a:rPr>
                  <a:t> </a:t>
                </a:r>
                <a:r>
                  <a:rPr lang="en-US" altLang="zh-TW" sz="2500" dirty="0" smtClean="0">
                    <a:latin typeface="Times New Roman" pitchFamily="18" charset="0"/>
                    <a:ea typeface="標楷體" pitchFamily="65" charset="-120"/>
                    <a:cs typeface="Times New Roman" pitchFamily="18" charset="0"/>
                  </a:rPr>
                  <a:t>is the </a:t>
                </a:r>
                <a:r>
                  <a:rPr lang="en-US" altLang="zh-TW" sz="2500" dirty="0">
                    <a:latin typeface="Times New Roman" pitchFamily="18" charset="0"/>
                    <a:ea typeface="標楷體" pitchFamily="65" charset="-120"/>
                    <a:cs typeface="Times New Roman" pitchFamily="18" charset="0"/>
                  </a:rPr>
                  <a:t>length of pattern. The experiments show that </a:t>
                </a:r>
                <a:r>
                  <a:rPr lang="en-US" altLang="zh-TW" sz="2500" dirty="0" smtClean="0">
                    <a:latin typeface="Times New Roman" pitchFamily="18" charset="0"/>
                    <a:ea typeface="標楷體" pitchFamily="65" charset="-120"/>
                    <a:cs typeface="Times New Roman" pitchFamily="18" charset="0"/>
                  </a:rPr>
                  <a:t>the matching </a:t>
                </a:r>
                <a:r>
                  <a:rPr lang="en-US" altLang="zh-TW" sz="2500" dirty="0">
                    <a:latin typeface="Times New Roman" pitchFamily="18" charset="0"/>
                    <a:ea typeface="標楷體" pitchFamily="65" charset="-120"/>
                    <a:cs typeface="Times New Roman" pitchFamily="18" charset="0"/>
                  </a:rPr>
                  <a:t>time of our algorithm is reduced by about 20 </a:t>
                </a:r>
                <a:r>
                  <a:rPr lang="en-US" altLang="zh-TW" sz="2500" dirty="0" smtClean="0">
                    <a:latin typeface="Times New Roman" pitchFamily="18" charset="0"/>
                    <a:ea typeface="標楷體" pitchFamily="65" charset="-120"/>
                    <a:cs typeface="Times New Roman" pitchFamily="18" charset="0"/>
                  </a:rPr>
                  <a:t>– 40</a:t>
                </a:r>
                <a:r>
                  <a:rPr lang="en-US" altLang="zh-TW" sz="2500" dirty="0">
                    <a:latin typeface="Times New Roman" pitchFamily="18" charset="0"/>
                    <a:ea typeface="標楷體" pitchFamily="65" charset="-120"/>
                    <a:cs typeface="Times New Roman" pitchFamily="18" charset="0"/>
                  </a:rPr>
                  <a:t>%.</a:t>
                </a:r>
                <a:endParaRPr lang="zh-TW" altLang="en-US" sz="2500" dirty="0" smtClean="0">
                  <a:latin typeface="Times New Roman" pitchFamily="18" charset="0"/>
                  <a:ea typeface="標楷體" pitchFamily="65" charset="-120"/>
                  <a:cs typeface="Times New Roman" pitchFamily="18" charset="0"/>
                </a:endParaRPr>
              </a:p>
            </p:txBody>
          </p:sp>
        </mc:Choice>
        <mc:Fallback>
          <p:sp>
            <p:nvSpPr>
              <p:cNvPr id="3075" name="內容版面配置區 2"/>
              <p:cNvSpPr>
                <a:spLocks noGrp="1" noRot="1" noChangeAspect="1" noMove="1" noResize="1" noEditPoints="1" noAdjustHandles="1" noChangeArrowheads="1" noChangeShapeType="1" noTextEdit="1"/>
              </p:cNvSpPr>
              <p:nvPr>
                <p:ph idx="1"/>
              </p:nvPr>
            </p:nvSpPr>
            <p:spPr>
              <a:blipFill rotWithShape="1">
                <a:blip r:embed="rId2" cstate="print"/>
                <a:stretch>
                  <a:fillRect l="-1037" t="-1078" r="-593"/>
                </a:stretch>
              </a:blipFill>
            </p:spPr>
            <p:txBody>
              <a:bodyPr/>
              <a:lstStyle/>
              <a:p>
                <a:r>
                  <a:rPr lang="zh-TW" altLang="en-US">
                    <a:noFill/>
                  </a:rPr>
                  <a:t> </a:t>
                </a:r>
              </a:p>
            </p:txBody>
          </p:sp>
        </mc:Fallback>
      </mc:AlternateContent>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Pattern </a:t>
            </a:r>
            <a:r>
              <a:rPr lang="en-US" altLang="zh-TW" dirty="0">
                <a:latin typeface="Times New Roman" pitchFamily="18" charset="0"/>
                <a:ea typeface="標楷體" pitchFamily="65" charset="-120"/>
                <a:cs typeface="Times New Roman" pitchFamily="18" charset="0"/>
              </a:rPr>
              <a:t>matching</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zh-TW" altLang="en-US" sz="2500" dirty="0">
                <a:latin typeface="Times New Roman" pitchFamily="18" charset="0"/>
                <a:ea typeface="標楷體" pitchFamily="65" charset="-120"/>
                <a:cs typeface="Times New Roman" pitchFamily="18" charset="0"/>
              </a:rPr>
              <a:t>應用</a:t>
            </a:r>
            <a:r>
              <a:rPr lang="zh-TW" altLang="en-US" sz="2500" dirty="0" smtClean="0">
                <a:latin typeface="Times New Roman" pitchFamily="18" charset="0"/>
                <a:ea typeface="標楷體" pitchFamily="65" charset="-120"/>
                <a:cs typeface="Times New Roman" pitchFamily="18" charset="0"/>
              </a:rPr>
              <a:t>領域</a:t>
            </a:r>
            <a:endParaRPr lang="en-US" altLang="zh-TW" sz="2500" dirty="0">
              <a:latin typeface="Times New Roman" pitchFamily="18" charset="0"/>
              <a:ea typeface="標楷體" pitchFamily="65" charset="-120"/>
              <a:cs typeface="Times New Roman" pitchFamily="18" charset="0"/>
            </a:endParaRPr>
          </a:p>
          <a:p>
            <a:pPr lvl="1"/>
            <a:r>
              <a:rPr lang="zh-TW" altLang="en-US" sz="2100" dirty="0">
                <a:latin typeface="Times New Roman" pitchFamily="18" charset="0"/>
                <a:ea typeface="標楷體" pitchFamily="65" charset="-120"/>
                <a:cs typeface="Times New Roman" pitchFamily="18" charset="0"/>
              </a:rPr>
              <a:t>影像處理、資訊安全、入侵偵測、病毒掃描、資料探勘、生物資訊</a:t>
            </a:r>
            <a:r>
              <a:rPr lang="zh-TW" altLang="en-US" sz="2100" dirty="0" smtClean="0">
                <a:latin typeface="Times New Roman" pitchFamily="18" charset="0"/>
                <a:ea typeface="標楷體" pitchFamily="65" charset="-120"/>
                <a:cs typeface="Times New Roman" pitchFamily="18" charset="0"/>
              </a:rPr>
              <a:t>等。</a:t>
            </a:r>
            <a:endParaRPr lang="en-US" altLang="zh-TW" sz="2100" dirty="0" smtClean="0">
              <a:latin typeface="Times New Roman" pitchFamily="18" charset="0"/>
              <a:ea typeface="標楷體" pitchFamily="65" charset="-120"/>
              <a:cs typeface="Times New Roman" pitchFamily="18" charset="0"/>
            </a:endParaRPr>
          </a:p>
          <a:p>
            <a:r>
              <a:rPr lang="zh-TW" altLang="en-US" sz="2500" dirty="0" smtClean="0">
                <a:latin typeface="Times New Roman" pitchFamily="18" charset="0"/>
                <a:ea typeface="標楷體" pitchFamily="65" charset="-120"/>
                <a:cs typeface="Times New Roman" pitchFamily="18" charset="0"/>
              </a:rPr>
              <a:t>主要問題</a:t>
            </a:r>
            <a:endParaRPr lang="en-US" altLang="zh-TW" sz="2500" dirty="0" smtClean="0">
              <a:latin typeface="Times New Roman" pitchFamily="18" charset="0"/>
              <a:ea typeface="標楷體" pitchFamily="65" charset="-120"/>
              <a:cs typeface="Times New Roman" pitchFamily="18" charset="0"/>
            </a:endParaRPr>
          </a:p>
          <a:p>
            <a:pPr lvl="1"/>
            <a:r>
              <a:rPr lang="zh-TW" altLang="en-US" sz="2100" dirty="0">
                <a:latin typeface="Times New Roman" pitchFamily="18" charset="0"/>
                <a:ea typeface="標楷體" pitchFamily="65" charset="-120"/>
                <a:cs typeface="Times New Roman" pitchFamily="18" charset="0"/>
              </a:rPr>
              <a:t>針對在給定一個</a:t>
            </a:r>
            <a:r>
              <a:rPr lang="zh-TW" altLang="en-US" sz="2100" dirty="0" smtClean="0">
                <a:latin typeface="Times New Roman" pitchFamily="18" charset="0"/>
                <a:ea typeface="標楷體" pitchFamily="65" charset="-120"/>
                <a:cs typeface="Times New Roman" pitchFamily="18" charset="0"/>
              </a:rPr>
              <a:t>長度 </a:t>
            </a:r>
            <a:r>
              <a:rPr lang="en-US" altLang="zh-TW" sz="2100" dirty="0" smtClean="0">
                <a:latin typeface="Times New Roman" pitchFamily="18" charset="0"/>
                <a:ea typeface="標楷體" pitchFamily="65" charset="-120"/>
                <a:cs typeface="Times New Roman" pitchFamily="18" charset="0"/>
              </a:rPr>
              <a:t>n </a:t>
            </a:r>
            <a:r>
              <a:rPr lang="zh-TW" altLang="en-US" sz="2100" dirty="0">
                <a:latin typeface="Times New Roman" pitchFamily="18" charset="0"/>
                <a:ea typeface="標楷體" pitchFamily="65" charset="-120"/>
                <a:cs typeface="Times New Roman" pitchFamily="18" charset="0"/>
              </a:rPr>
              <a:t>的</a:t>
            </a:r>
            <a:r>
              <a:rPr lang="zh-TW" altLang="en-US" sz="2100" dirty="0" smtClean="0">
                <a:latin typeface="Times New Roman" pitchFamily="18" charset="0"/>
                <a:ea typeface="標楷體" pitchFamily="65" charset="-120"/>
                <a:cs typeface="Times New Roman" pitchFamily="18" charset="0"/>
              </a:rPr>
              <a:t>序列中</a:t>
            </a:r>
            <a:r>
              <a:rPr lang="zh-TW" altLang="en-US" sz="2100" dirty="0">
                <a:latin typeface="Times New Roman" pitchFamily="18" charset="0"/>
                <a:ea typeface="標楷體" pitchFamily="65" charset="-120"/>
                <a:cs typeface="Times New Roman" pitchFamily="18" charset="0"/>
              </a:rPr>
              <a:t>，尋找</a:t>
            </a:r>
            <a:r>
              <a:rPr lang="zh-TW" altLang="en-US" sz="2100" dirty="0" smtClean="0">
                <a:latin typeface="Times New Roman" pitchFamily="18" charset="0"/>
                <a:ea typeface="標楷體" pitchFamily="65" charset="-120"/>
                <a:cs typeface="Times New Roman" pitchFamily="18" charset="0"/>
              </a:rPr>
              <a:t>長度 </a:t>
            </a:r>
            <a:r>
              <a:rPr lang="en-US" altLang="zh-TW" sz="2100" dirty="0" smtClean="0">
                <a:latin typeface="Times New Roman" pitchFamily="18" charset="0"/>
                <a:ea typeface="標楷體" pitchFamily="65" charset="-120"/>
                <a:cs typeface="Times New Roman" pitchFamily="18" charset="0"/>
              </a:rPr>
              <a:t>m </a:t>
            </a:r>
            <a:r>
              <a:rPr lang="zh-TW" altLang="en-US" sz="2100" dirty="0">
                <a:latin typeface="Times New Roman" pitchFamily="18" charset="0"/>
                <a:ea typeface="標楷體" pitchFamily="65" charset="-120"/>
                <a:cs typeface="Times New Roman" pitchFamily="18" charset="0"/>
              </a:rPr>
              <a:t>的樣式在序列中的所有</a:t>
            </a:r>
            <a:r>
              <a:rPr lang="zh-TW" altLang="en-US" sz="2100" dirty="0" smtClean="0">
                <a:latin typeface="Times New Roman" pitchFamily="18" charset="0"/>
                <a:ea typeface="標楷體" pitchFamily="65" charset="-120"/>
                <a:cs typeface="Times New Roman" pitchFamily="18" charset="0"/>
              </a:rPr>
              <a:t>位置。</a:t>
            </a:r>
            <a:endParaRPr lang="en-US" altLang="zh-TW" sz="2100" dirty="0" smtClean="0">
              <a:latin typeface="Times New Roman" pitchFamily="18" charset="0"/>
              <a:ea typeface="標楷體" pitchFamily="65" charset="-120"/>
              <a:cs typeface="Times New Roman" pitchFamily="18" charset="0"/>
            </a:endParaRPr>
          </a:p>
          <a:p>
            <a:r>
              <a:rPr lang="zh-TW" altLang="en-US" sz="2500" dirty="0" smtClean="0">
                <a:latin typeface="Times New Roman" pitchFamily="18" charset="0"/>
                <a:ea typeface="標楷體" pitchFamily="65" charset="-120"/>
                <a:cs typeface="Times New Roman" pitchFamily="18" charset="0"/>
              </a:rPr>
              <a:t>演算法</a:t>
            </a:r>
            <a:r>
              <a:rPr lang="zh-TW" altLang="en-US" sz="2500" dirty="0">
                <a:latin typeface="Times New Roman" pitchFamily="18" charset="0"/>
                <a:ea typeface="標楷體" pitchFamily="65" charset="-120"/>
                <a:cs typeface="Times New Roman" pitchFamily="18" charset="0"/>
              </a:rPr>
              <a:t>分類</a:t>
            </a:r>
            <a:endParaRPr lang="en-US" altLang="zh-TW" sz="2500" dirty="0" smtClean="0">
              <a:latin typeface="Times New Roman" pitchFamily="18" charset="0"/>
              <a:ea typeface="標楷體" pitchFamily="65" charset="-120"/>
              <a:cs typeface="Times New Roman" pitchFamily="18" charset="0"/>
            </a:endParaRPr>
          </a:p>
          <a:p>
            <a:pPr lvl="1"/>
            <a:r>
              <a:rPr lang="zh-TW" altLang="en-US" sz="2100" dirty="0">
                <a:latin typeface="Times New Roman" pitchFamily="18" charset="0"/>
                <a:ea typeface="標楷體" pitchFamily="65" charset="-120"/>
                <a:cs typeface="Times New Roman" pitchFamily="18" charset="0"/>
              </a:rPr>
              <a:t>有限狀態機、符號關係、位元同步</a:t>
            </a:r>
            <a:r>
              <a:rPr lang="zh-TW" altLang="en-US" sz="2100" dirty="0" smtClean="0">
                <a:latin typeface="Times New Roman" pitchFamily="18" charset="0"/>
                <a:ea typeface="標楷體" pitchFamily="65" charset="-120"/>
                <a:cs typeface="Times New Roman" pitchFamily="18" charset="0"/>
              </a:rPr>
              <a:t>處理和</a:t>
            </a:r>
            <a:r>
              <a:rPr lang="zh-TW" altLang="en-US" sz="2100" dirty="0">
                <a:latin typeface="Times New Roman" pitchFamily="18" charset="0"/>
                <a:ea typeface="標楷體" pitchFamily="65" charset="-120"/>
                <a:cs typeface="Times New Roman" pitchFamily="18" charset="0"/>
              </a:rPr>
              <a:t>過濾器。</a:t>
            </a:r>
            <a:endParaRPr lang="en-US" altLang="zh-TW" sz="2100" dirty="0" smtClean="0">
              <a:latin typeface="Times New Roman" pitchFamily="18" charset="0"/>
              <a:ea typeface="標楷體" pitchFamily="65" charset="-120"/>
              <a:cs typeface="Times New Roman" pitchFamily="18" charset="0"/>
            </a:endParaRPr>
          </a:p>
          <a:p>
            <a:endParaRPr lang="en-US" altLang="zh-TW" sz="2500" dirty="0" smtClean="0">
              <a:latin typeface="Times New Roman" pitchFamily="18" charset="0"/>
              <a:ea typeface="標楷體" pitchFamily="65" charset="-120"/>
              <a:cs typeface="Times New Roman" pitchFamily="18" charset="0"/>
            </a:endParaRPr>
          </a:p>
        </p:txBody>
      </p:sp>
    </p:spTree>
    <p:extLst>
      <p:ext uri="{BB962C8B-B14F-4D97-AF65-F5344CB8AC3E}">
        <p14:creationId xmlns="" xmlns:p14="http://schemas.microsoft.com/office/powerpoint/2010/main" val="27051033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itchFamily="18" charset="0"/>
                <a:ea typeface="標楷體" pitchFamily="65" charset="-120"/>
                <a:cs typeface="Times New Roman" pitchFamily="18" charset="0"/>
              </a:rPr>
              <a:t>Pattern matching</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zh-TW" altLang="en-US" sz="2500" dirty="0">
                <a:latin typeface="Times New Roman" pitchFamily="18" charset="0"/>
                <a:ea typeface="標楷體" pitchFamily="65" charset="-120"/>
                <a:cs typeface="Times New Roman" pitchFamily="18" charset="0"/>
              </a:rPr>
              <a:t>有限狀態</a:t>
            </a:r>
            <a:r>
              <a:rPr lang="zh-TW" altLang="en-US" sz="2500" dirty="0" smtClean="0">
                <a:latin typeface="Times New Roman" pitchFamily="18" charset="0"/>
                <a:ea typeface="標楷體" pitchFamily="65" charset="-120"/>
                <a:cs typeface="Times New Roman" pitchFamily="18" charset="0"/>
              </a:rPr>
              <a:t>機</a:t>
            </a:r>
            <a:endParaRPr lang="en-US" altLang="zh-TW" sz="2500" dirty="0" smtClean="0">
              <a:latin typeface="Times New Roman" pitchFamily="18" charset="0"/>
              <a:ea typeface="標楷體" pitchFamily="65" charset="-120"/>
              <a:cs typeface="Times New Roman" pitchFamily="18" charset="0"/>
            </a:endParaRPr>
          </a:p>
          <a:p>
            <a:pPr lvl="1"/>
            <a:r>
              <a:rPr lang="zh-TW" altLang="en-US" sz="2100" dirty="0">
                <a:latin typeface="Times New Roman" pitchFamily="18" charset="0"/>
                <a:ea typeface="標楷體" pitchFamily="65" charset="-120"/>
                <a:cs typeface="Times New Roman" pitchFamily="18" charset="0"/>
              </a:rPr>
              <a:t>在比對前根據樣式建立有限狀態機。記錄符號</a:t>
            </a:r>
            <a:r>
              <a:rPr lang="zh-TW" altLang="en-US" sz="2100" dirty="0" smtClean="0">
                <a:latin typeface="Times New Roman" pitchFamily="18" charset="0"/>
                <a:ea typeface="標楷體" pitchFamily="65" charset="-120"/>
                <a:cs typeface="Times New Roman" pitchFamily="18" charset="0"/>
              </a:rPr>
              <a:t>之間</a:t>
            </a:r>
            <a:r>
              <a:rPr lang="zh-TW" altLang="en-US" sz="2100" dirty="0">
                <a:latin typeface="Times New Roman" pitchFamily="18" charset="0"/>
                <a:ea typeface="標楷體" pitchFamily="65" charset="-120"/>
                <a:cs typeface="Times New Roman" pitchFamily="18" charset="0"/>
              </a:rPr>
              <a:t>的位置、排列、樣式</a:t>
            </a:r>
            <a:r>
              <a:rPr lang="zh-TW" altLang="en-US" sz="2100" dirty="0" smtClean="0">
                <a:latin typeface="Times New Roman" pitchFamily="18" charset="0"/>
                <a:ea typeface="標楷體" pitchFamily="65" charset="-120"/>
                <a:cs typeface="Times New Roman" pitchFamily="18" charset="0"/>
              </a:rPr>
              <a:t>字首 </a:t>
            </a:r>
            <a:r>
              <a:rPr lang="en-US" altLang="zh-TW" sz="2100" dirty="0" smtClean="0">
                <a:latin typeface="Times New Roman" pitchFamily="18" charset="0"/>
                <a:ea typeface="標楷體" pitchFamily="65" charset="-120"/>
                <a:cs typeface="Times New Roman" pitchFamily="18" charset="0"/>
              </a:rPr>
              <a:t>(</a:t>
            </a:r>
            <a:r>
              <a:rPr lang="en-US" altLang="zh-TW" sz="2100" dirty="0">
                <a:latin typeface="Times New Roman" pitchFamily="18" charset="0"/>
                <a:ea typeface="標楷體" pitchFamily="65" charset="-120"/>
                <a:cs typeface="Times New Roman" pitchFamily="18" charset="0"/>
              </a:rPr>
              <a:t>prefix</a:t>
            </a:r>
            <a:r>
              <a:rPr lang="en-US" altLang="zh-TW" sz="2100" dirty="0" smtClean="0">
                <a:latin typeface="Times New Roman" pitchFamily="18" charset="0"/>
                <a:ea typeface="標楷體" pitchFamily="65" charset="-120"/>
                <a:cs typeface="Times New Roman" pitchFamily="18" charset="0"/>
              </a:rPr>
              <a:t>)</a:t>
            </a:r>
            <a:r>
              <a:rPr lang="zh-TW" altLang="en-US" sz="2100" dirty="0" smtClean="0">
                <a:latin typeface="Times New Roman" pitchFamily="18" charset="0"/>
                <a:ea typeface="標楷體" pitchFamily="65" charset="-120"/>
                <a:cs typeface="Times New Roman" pitchFamily="18" charset="0"/>
              </a:rPr>
              <a:t> 與</a:t>
            </a:r>
            <a:r>
              <a:rPr lang="zh-TW" altLang="en-US" sz="2100" dirty="0">
                <a:latin typeface="Times New Roman" pitchFamily="18" charset="0"/>
                <a:ea typeface="標楷體" pitchFamily="65" charset="-120"/>
                <a:cs typeface="Times New Roman" pitchFamily="18" charset="0"/>
              </a:rPr>
              <a:t>字</a:t>
            </a:r>
            <a:r>
              <a:rPr lang="zh-TW" altLang="en-US" sz="2100" dirty="0" smtClean="0">
                <a:latin typeface="Times New Roman" pitchFamily="18" charset="0"/>
                <a:ea typeface="標楷體" pitchFamily="65" charset="-120"/>
                <a:cs typeface="Times New Roman" pitchFamily="18" charset="0"/>
              </a:rPr>
              <a:t>尾 </a:t>
            </a:r>
            <a:r>
              <a:rPr lang="en-US" altLang="zh-TW" sz="2100" dirty="0" smtClean="0">
                <a:latin typeface="Times New Roman" pitchFamily="18" charset="0"/>
                <a:ea typeface="標楷體" pitchFamily="65" charset="-120"/>
                <a:cs typeface="Times New Roman" pitchFamily="18" charset="0"/>
              </a:rPr>
              <a:t>(</a:t>
            </a:r>
            <a:r>
              <a:rPr lang="en-US" altLang="zh-TW" sz="2100" dirty="0">
                <a:latin typeface="Times New Roman" pitchFamily="18" charset="0"/>
                <a:ea typeface="標楷體" pitchFamily="65" charset="-120"/>
                <a:cs typeface="Times New Roman" pitchFamily="18" charset="0"/>
              </a:rPr>
              <a:t>suffix</a:t>
            </a:r>
            <a:r>
              <a:rPr lang="en-US" altLang="zh-TW" sz="2100" dirty="0" smtClean="0">
                <a:latin typeface="Times New Roman" pitchFamily="18" charset="0"/>
                <a:ea typeface="標楷體" pitchFamily="65" charset="-120"/>
                <a:cs typeface="Times New Roman" pitchFamily="18" charset="0"/>
              </a:rPr>
              <a:t>)</a:t>
            </a:r>
            <a:r>
              <a:rPr lang="zh-TW" altLang="en-US" sz="2100" dirty="0" smtClean="0">
                <a:latin typeface="Times New Roman" pitchFamily="18" charset="0"/>
                <a:ea typeface="標楷體" pitchFamily="65" charset="-120"/>
                <a:cs typeface="Times New Roman" pitchFamily="18" charset="0"/>
              </a:rPr>
              <a:t> 等</a:t>
            </a:r>
            <a:r>
              <a:rPr lang="zh-TW" altLang="en-US" sz="2100" dirty="0">
                <a:latin typeface="Times New Roman" pitchFamily="18" charset="0"/>
                <a:ea typeface="標楷體" pitchFamily="65" charset="-120"/>
                <a:cs typeface="Times New Roman" pitchFamily="18" charset="0"/>
              </a:rPr>
              <a:t>關係</a:t>
            </a:r>
            <a:r>
              <a:rPr lang="zh-TW" altLang="en-US" sz="2100" dirty="0" smtClean="0">
                <a:latin typeface="Times New Roman" pitchFamily="18" charset="0"/>
                <a:ea typeface="標楷體" pitchFamily="65" charset="-120"/>
                <a:cs typeface="Times New Roman" pitchFamily="18" charset="0"/>
              </a:rPr>
              <a:t>。</a:t>
            </a:r>
            <a:endParaRPr lang="en-US" altLang="zh-TW" sz="2100" dirty="0" smtClean="0">
              <a:latin typeface="Times New Roman" pitchFamily="18" charset="0"/>
              <a:ea typeface="標楷體" pitchFamily="65" charset="-120"/>
              <a:cs typeface="Times New Roman" pitchFamily="18" charset="0"/>
            </a:endParaRPr>
          </a:p>
          <a:p>
            <a:pPr lvl="1"/>
            <a:r>
              <a:rPr lang="en-US" altLang="zh-TW" sz="2100" dirty="0" smtClean="0">
                <a:latin typeface="Times New Roman" pitchFamily="18" charset="0"/>
                <a:ea typeface="標楷體" pitchFamily="65" charset="-120"/>
                <a:cs typeface="Times New Roman" pitchFamily="18" charset="0"/>
              </a:rPr>
              <a:t>KMP algorithm – Knuth, Morris and Pratt, 1977</a:t>
            </a:r>
          </a:p>
          <a:p>
            <a:pPr lvl="1"/>
            <a:r>
              <a:rPr lang="zh-TW" altLang="en-US" sz="2100" dirty="0">
                <a:latin typeface="Times New Roman" pitchFamily="18" charset="0"/>
                <a:ea typeface="標楷體" pitchFamily="65" charset="-120"/>
                <a:cs typeface="Times New Roman" pitchFamily="18" charset="0"/>
              </a:rPr>
              <a:t>建立有限</a:t>
            </a:r>
            <a:r>
              <a:rPr lang="zh-TW" altLang="en-US" sz="2100" dirty="0" smtClean="0">
                <a:latin typeface="Times New Roman" pitchFamily="18" charset="0"/>
                <a:ea typeface="標楷體" pitchFamily="65" charset="-120"/>
                <a:cs typeface="Times New Roman" pitchFamily="18" charset="0"/>
              </a:rPr>
              <a:t>狀態</a:t>
            </a:r>
            <a:r>
              <a:rPr lang="zh-TW" altLang="en-US" sz="2100" dirty="0">
                <a:latin typeface="Times New Roman" pitchFamily="18" charset="0"/>
                <a:ea typeface="標楷體" pitchFamily="65" charset="-120"/>
                <a:cs typeface="Times New Roman" pitchFamily="18" charset="0"/>
              </a:rPr>
              <a:t>機需要大量的儲存空間</a:t>
            </a:r>
            <a:endParaRPr lang="en-US" altLang="zh-TW" sz="2100" dirty="0" smtClean="0">
              <a:latin typeface="Times New Roman" pitchFamily="18" charset="0"/>
              <a:ea typeface="標楷體" pitchFamily="65" charset="-120"/>
              <a:cs typeface="Times New Roman" pitchFamily="18" charset="0"/>
            </a:endParaRPr>
          </a:p>
          <a:p>
            <a:r>
              <a:rPr lang="zh-TW" altLang="en-US" sz="2500" dirty="0" smtClean="0">
                <a:latin typeface="Times New Roman" pitchFamily="18" charset="0"/>
                <a:ea typeface="標楷體" pitchFamily="65" charset="-120"/>
                <a:cs typeface="Times New Roman" pitchFamily="18" charset="0"/>
              </a:rPr>
              <a:t>符號關係</a:t>
            </a:r>
            <a:endParaRPr lang="en-US" altLang="zh-TW" sz="2500" dirty="0" smtClean="0">
              <a:latin typeface="Times New Roman" pitchFamily="18" charset="0"/>
              <a:ea typeface="標楷體" pitchFamily="65" charset="-120"/>
              <a:cs typeface="Times New Roman" pitchFamily="18" charset="0"/>
            </a:endParaRPr>
          </a:p>
          <a:p>
            <a:pPr lvl="1"/>
            <a:r>
              <a:rPr lang="zh-TW" altLang="en-US" sz="2100" dirty="0">
                <a:latin typeface="Times New Roman" pitchFamily="18" charset="0"/>
                <a:ea typeface="標楷體" pitchFamily="65" charset="-120"/>
                <a:cs typeface="Times New Roman" pitchFamily="18" charset="0"/>
              </a:rPr>
              <a:t>在比對階段仍為符號比對，當符號比對</a:t>
            </a:r>
            <a:r>
              <a:rPr lang="zh-TW" altLang="en-US" sz="2100" dirty="0" smtClean="0">
                <a:latin typeface="Times New Roman" pitchFamily="18" charset="0"/>
                <a:ea typeface="標楷體" pitchFamily="65" charset="-120"/>
                <a:cs typeface="Times New Roman" pitchFamily="18" charset="0"/>
              </a:rPr>
              <a:t>不符合時，此時</a:t>
            </a:r>
            <a:r>
              <a:rPr lang="zh-TW" altLang="en-US" sz="2100" dirty="0">
                <a:latin typeface="Times New Roman" pitchFamily="18" charset="0"/>
                <a:ea typeface="標楷體" pitchFamily="65" charset="-120"/>
                <a:cs typeface="Times New Roman" pitchFamily="18" charset="0"/>
              </a:rPr>
              <a:t>必須查詢在</a:t>
            </a:r>
            <a:r>
              <a:rPr lang="zh-TW" altLang="en-US" sz="2100" dirty="0" smtClean="0">
                <a:latin typeface="Times New Roman" pitchFamily="18" charset="0"/>
                <a:ea typeface="標楷體" pitchFamily="65" charset="-120"/>
                <a:cs typeface="Times New Roman" pitchFamily="18" charset="0"/>
              </a:rPr>
              <a:t>比對前</a:t>
            </a:r>
            <a:r>
              <a:rPr lang="zh-TW" altLang="en-US" sz="2100" dirty="0">
                <a:solidFill>
                  <a:srgbClr val="FF0000"/>
                </a:solidFill>
                <a:latin typeface="Times New Roman" pitchFamily="18" charset="0"/>
                <a:ea typeface="標楷體" pitchFamily="65" charset="-120"/>
                <a:cs typeface="Times New Roman" pitchFamily="18" charset="0"/>
              </a:rPr>
              <a:t>根據樣式關係所建立的「位移表」</a:t>
            </a:r>
            <a:r>
              <a:rPr lang="zh-TW" altLang="en-US" sz="2100" dirty="0">
                <a:latin typeface="Times New Roman" pitchFamily="18" charset="0"/>
                <a:ea typeface="標楷體" pitchFamily="65" charset="-120"/>
                <a:cs typeface="Times New Roman" pitchFamily="18" charset="0"/>
              </a:rPr>
              <a:t>得到下個</a:t>
            </a:r>
            <a:r>
              <a:rPr lang="zh-TW" altLang="en-US" sz="2100" dirty="0" smtClean="0">
                <a:latin typeface="Times New Roman" pitchFamily="18" charset="0"/>
                <a:ea typeface="標楷體" pitchFamily="65" charset="-120"/>
                <a:cs typeface="Times New Roman" pitchFamily="18" charset="0"/>
              </a:rPr>
              <a:t>讀入</a:t>
            </a:r>
            <a:r>
              <a:rPr lang="zh-TW" altLang="en-US" sz="2100" dirty="0">
                <a:latin typeface="Times New Roman" pitchFamily="18" charset="0"/>
                <a:ea typeface="標楷體" pitchFamily="65" charset="-120"/>
                <a:cs typeface="Times New Roman" pitchFamily="18" charset="0"/>
              </a:rPr>
              <a:t>符號的序列位置以加快比對</a:t>
            </a:r>
            <a:r>
              <a:rPr lang="zh-TW" altLang="en-US" sz="2100" dirty="0" smtClean="0">
                <a:latin typeface="Times New Roman" pitchFamily="18" charset="0"/>
                <a:ea typeface="標楷體" pitchFamily="65" charset="-120"/>
                <a:cs typeface="Times New Roman" pitchFamily="18" charset="0"/>
              </a:rPr>
              <a:t>速度。</a:t>
            </a:r>
            <a:endParaRPr lang="en-US" altLang="zh-TW" sz="2100" dirty="0" smtClean="0">
              <a:latin typeface="Times New Roman" pitchFamily="18" charset="0"/>
              <a:ea typeface="標楷體" pitchFamily="65" charset="-120"/>
              <a:cs typeface="Times New Roman" pitchFamily="18" charset="0"/>
            </a:endParaRPr>
          </a:p>
          <a:p>
            <a:pPr lvl="1"/>
            <a:r>
              <a:rPr lang="en-US" altLang="zh-TW" sz="2100" dirty="0" smtClean="0">
                <a:latin typeface="Times New Roman" pitchFamily="18" charset="0"/>
                <a:ea typeface="標楷體" pitchFamily="65" charset="-120"/>
                <a:cs typeface="Times New Roman" pitchFamily="18" charset="0"/>
              </a:rPr>
              <a:t>BM</a:t>
            </a:r>
            <a:r>
              <a:rPr lang="zh-TW" altLang="en-US" sz="2100" dirty="0" smtClean="0">
                <a:latin typeface="Times New Roman" pitchFamily="18" charset="0"/>
                <a:ea typeface="標楷體" pitchFamily="65" charset="-120"/>
                <a:cs typeface="Times New Roman" pitchFamily="18" charset="0"/>
              </a:rPr>
              <a:t> </a:t>
            </a:r>
            <a:r>
              <a:rPr lang="en-US" altLang="zh-TW" sz="2100" dirty="0" smtClean="0">
                <a:latin typeface="Times New Roman" pitchFamily="18" charset="0"/>
                <a:ea typeface="標楷體" pitchFamily="65" charset="-120"/>
                <a:cs typeface="Times New Roman" pitchFamily="18" charset="0"/>
              </a:rPr>
              <a:t>algorithm </a:t>
            </a:r>
            <a:r>
              <a:rPr lang="en-US" altLang="zh-TW" sz="2100" dirty="0">
                <a:latin typeface="Times New Roman" pitchFamily="18" charset="0"/>
                <a:ea typeface="標楷體" pitchFamily="65" charset="-120"/>
                <a:cs typeface="Times New Roman" pitchFamily="18" charset="0"/>
              </a:rPr>
              <a:t>– </a:t>
            </a:r>
            <a:r>
              <a:rPr lang="en-US" altLang="zh-TW" sz="2100" dirty="0" smtClean="0">
                <a:latin typeface="Times New Roman" pitchFamily="18" charset="0"/>
                <a:ea typeface="標楷體" pitchFamily="65" charset="-120"/>
                <a:cs typeface="Times New Roman" pitchFamily="18" charset="0"/>
              </a:rPr>
              <a:t>Boyer and Moore</a:t>
            </a:r>
          </a:p>
          <a:p>
            <a:pPr lvl="1"/>
            <a:r>
              <a:rPr lang="zh-TW" altLang="en-US" sz="2100" dirty="0">
                <a:latin typeface="Times New Roman" pitchFamily="18" charset="0"/>
                <a:ea typeface="標楷體" pitchFamily="65" charset="-120"/>
                <a:cs typeface="Times New Roman" pitchFamily="18" charset="0"/>
              </a:rPr>
              <a:t>僅記錄樣式中符號之間的關係，不需大量的</a:t>
            </a:r>
            <a:r>
              <a:rPr lang="zh-TW" altLang="en-US" sz="2100" dirty="0" smtClean="0">
                <a:latin typeface="Times New Roman" pitchFamily="18" charset="0"/>
                <a:ea typeface="標楷體" pitchFamily="65" charset="-120"/>
                <a:cs typeface="Times New Roman" pitchFamily="18" charset="0"/>
              </a:rPr>
              <a:t>儲存空間。</a:t>
            </a:r>
            <a:endParaRPr lang="en-US" altLang="zh-TW" sz="2100" dirty="0" smtClean="0">
              <a:latin typeface="Times New Roman" pitchFamily="18" charset="0"/>
              <a:ea typeface="標楷體" pitchFamily="65" charset="-120"/>
              <a:cs typeface="Times New Roman" pitchFamily="18" charset="0"/>
            </a:endParaRPr>
          </a:p>
          <a:p>
            <a:pPr lvl="1"/>
            <a:r>
              <a:rPr lang="zh-TW" altLang="en-US" sz="2100" dirty="0">
                <a:latin typeface="Times New Roman" pitchFamily="18" charset="0"/>
                <a:ea typeface="標楷體" pitchFamily="65" charset="-120"/>
                <a:cs typeface="Times New Roman" pitchFamily="18" charset="0"/>
              </a:rPr>
              <a:t>在最佳情況下，</a:t>
            </a:r>
            <a:r>
              <a:rPr lang="zh-TW" altLang="en-US" sz="2100" dirty="0" smtClean="0">
                <a:latin typeface="Times New Roman" pitchFamily="18" charset="0"/>
                <a:ea typeface="標楷體" pitchFamily="65" charset="-120"/>
                <a:cs typeface="Times New Roman" pitchFamily="18" charset="0"/>
              </a:rPr>
              <a:t>只需 </a:t>
            </a:r>
            <a:r>
              <a:rPr lang="en-US" altLang="zh-TW" sz="2100" dirty="0" smtClean="0">
                <a:latin typeface="Times New Roman" pitchFamily="18" charset="0"/>
                <a:ea typeface="標楷體" pitchFamily="65" charset="-120"/>
                <a:cs typeface="Times New Roman" pitchFamily="18" charset="0"/>
              </a:rPr>
              <a:t>n </a:t>
            </a:r>
            <a:r>
              <a:rPr lang="en-US" altLang="zh-TW" sz="2100" dirty="0">
                <a:latin typeface="Times New Roman" pitchFamily="18" charset="0"/>
                <a:ea typeface="標楷體" pitchFamily="65" charset="-120"/>
                <a:cs typeface="Times New Roman" pitchFamily="18" charset="0"/>
              </a:rPr>
              <a:t>/ </a:t>
            </a:r>
            <a:r>
              <a:rPr lang="en-US" altLang="zh-TW" sz="2100" dirty="0" smtClean="0">
                <a:latin typeface="Times New Roman" pitchFamily="18" charset="0"/>
                <a:ea typeface="標楷體" pitchFamily="65" charset="-120"/>
                <a:cs typeface="Times New Roman" pitchFamily="18" charset="0"/>
              </a:rPr>
              <a:t>m</a:t>
            </a:r>
            <a:r>
              <a:rPr lang="zh-TW" altLang="en-US" sz="2100" dirty="0" smtClean="0">
                <a:latin typeface="Times New Roman" pitchFamily="18" charset="0"/>
                <a:ea typeface="標楷體" pitchFamily="65" charset="-120"/>
                <a:cs typeface="Times New Roman" pitchFamily="18" charset="0"/>
              </a:rPr>
              <a:t> 次</a:t>
            </a:r>
            <a:r>
              <a:rPr lang="zh-TW" altLang="en-US" sz="2100" dirty="0">
                <a:latin typeface="Times New Roman" pitchFamily="18" charset="0"/>
                <a:ea typeface="標楷體" pitchFamily="65" charset="-120"/>
                <a:cs typeface="Times New Roman" pitchFamily="18" charset="0"/>
              </a:rPr>
              <a:t>比對，但是</a:t>
            </a:r>
            <a:r>
              <a:rPr lang="zh-TW" altLang="en-US" sz="2100" dirty="0" smtClean="0">
                <a:latin typeface="Times New Roman" pitchFamily="18" charset="0"/>
                <a:ea typeface="標楷體" pitchFamily="65" charset="-120"/>
                <a:cs typeface="Times New Roman" pitchFamily="18" charset="0"/>
              </a:rPr>
              <a:t>最差</a:t>
            </a:r>
            <a:r>
              <a:rPr lang="zh-TW" altLang="en-US" sz="2100" dirty="0">
                <a:latin typeface="Times New Roman" pitchFamily="18" charset="0"/>
                <a:ea typeface="標楷體" pitchFamily="65" charset="-120"/>
                <a:cs typeface="Times New Roman" pitchFamily="18" charset="0"/>
              </a:rPr>
              <a:t>情況仍</a:t>
            </a:r>
            <a:r>
              <a:rPr lang="zh-TW" altLang="en-US" sz="2100" dirty="0" smtClean="0">
                <a:latin typeface="Times New Roman" pitchFamily="18" charset="0"/>
                <a:ea typeface="標楷體" pitchFamily="65" charset="-120"/>
                <a:cs typeface="Times New Roman" pitchFamily="18" charset="0"/>
              </a:rPr>
              <a:t>需要 </a:t>
            </a:r>
            <a:r>
              <a:rPr lang="en-US" altLang="zh-TW" sz="2100" dirty="0" smtClean="0">
                <a:latin typeface="Times New Roman" pitchFamily="18" charset="0"/>
                <a:ea typeface="標楷體" pitchFamily="65" charset="-120"/>
                <a:cs typeface="Times New Roman" pitchFamily="18" charset="0"/>
              </a:rPr>
              <a:t>n*m</a:t>
            </a:r>
            <a:r>
              <a:rPr lang="zh-TW" altLang="en-US" sz="2100" dirty="0" smtClean="0">
                <a:latin typeface="Times New Roman" pitchFamily="18" charset="0"/>
                <a:ea typeface="標楷體" pitchFamily="65" charset="-120"/>
                <a:cs typeface="Times New Roman" pitchFamily="18" charset="0"/>
              </a:rPr>
              <a:t> 次</a:t>
            </a:r>
            <a:r>
              <a:rPr lang="zh-TW" altLang="en-US" sz="2100" dirty="0">
                <a:latin typeface="Times New Roman" pitchFamily="18" charset="0"/>
                <a:ea typeface="標楷體" pitchFamily="65" charset="-120"/>
                <a:cs typeface="Times New Roman" pitchFamily="18" charset="0"/>
              </a:rPr>
              <a:t>比對。</a:t>
            </a:r>
            <a:endParaRPr lang="en-US" altLang="zh-TW" sz="2100" dirty="0" smtClean="0">
              <a:latin typeface="Times New Roman" pitchFamily="18" charset="0"/>
              <a:ea typeface="標楷體" pitchFamily="65" charset="-120"/>
              <a:cs typeface="Times New Roman" pitchFamily="18" charset="0"/>
            </a:endParaRPr>
          </a:p>
        </p:txBody>
      </p:sp>
    </p:spTree>
    <p:extLst>
      <p:ext uri="{BB962C8B-B14F-4D97-AF65-F5344CB8AC3E}">
        <p14:creationId xmlns="" xmlns:p14="http://schemas.microsoft.com/office/powerpoint/2010/main" val="41275309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itchFamily="18" charset="0"/>
                <a:ea typeface="標楷體" pitchFamily="65" charset="-120"/>
                <a:cs typeface="Times New Roman" pitchFamily="18" charset="0"/>
              </a:rPr>
              <a:t>Pattern matching</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zh-TW" altLang="en-US" sz="2500" dirty="0">
                <a:latin typeface="Times New Roman" pitchFamily="18" charset="0"/>
                <a:ea typeface="標楷體" pitchFamily="65" charset="-120"/>
                <a:cs typeface="Times New Roman" pitchFamily="18" charset="0"/>
              </a:rPr>
              <a:t>位元同步</a:t>
            </a:r>
            <a:r>
              <a:rPr lang="zh-TW" altLang="en-US" sz="2500" dirty="0" smtClean="0">
                <a:latin typeface="Times New Roman" pitchFamily="18" charset="0"/>
                <a:ea typeface="標楷體" pitchFamily="65" charset="-120"/>
                <a:cs typeface="Times New Roman" pitchFamily="18" charset="0"/>
              </a:rPr>
              <a:t>處理</a:t>
            </a:r>
            <a:endParaRPr lang="en-US" altLang="zh-TW" sz="2500" dirty="0" smtClean="0">
              <a:latin typeface="Times New Roman" pitchFamily="18" charset="0"/>
              <a:ea typeface="標楷體" pitchFamily="65" charset="-120"/>
              <a:cs typeface="Times New Roman" pitchFamily="18" charset="0"/>
            </a:endParaRPr>
          </a:p>
          <a:p>
            <a:pPr lvl="1"/>
            <a:r>
              <a:rPr lang="zh-TW" altLang="en-US" sz="2100" dirty="0" smtClean="0">
                <a:solidFill>
                  <a:srgbClr val="FF0000"/>
                </a:solidFill>
                <a:latin typeface="Times New Roman" pitchFamily="18" charset="0"/>
                <a:ea typeface="標楷體" pitchFamily="65" charset="-120"/>
                <a:cs typeface="Times New Roman" pitchFamily="18" charset="0"/>
              </a:rPr>
              <a:t>根據樣式中符號出現的位置以位元值記錄</a:t>
            </a:r>
            <a:r>
              <a:rPr lang="zh-TW" altLang="en-US" sz="2100" dirty="0" smtClean="0">
                <a:latin typeface="Times New Roman" pitchFamily="18" charset="0"/>
                <a:ea typeface="標楷體" pitchFamily="65" charset="-120"/>
                <a:cs typeface="Times New Roman" pitchFamily="18" charset="0"/>
              </a:rPr>
              <a:t>，形成狀態表，比對時查詢狀態表</a:t>
            </a:r>
            <a:r>
              <a:rPr lang="zh-TW" altLang="en-US" sz="2100" dirty="0" smtClean="0">
                <a:solidFill>
                  <a:srgbClr val="FF0000"/>
                </a:solidFill>
                <a:latin typeface="Times New Roman" pitchFamily="18" charset="0"/>
                <a:ea typeface="標楷體" pitchFamily="65" charset="-120"/>
                <a:cs typeface="Times New Roman" pitchFamily="18" charset="0"/>
              </a:rPr>
              <a:t>利用位元運算改變狀態</a:t>
            </a:r>
            <a:r>
              <a:rPr lang="zh-TW" altLang="en-US" sz="2100" dirty="0" smtClean="0">
                <a:latin typeface="Times New Roman" pitchFamily="18" charset="0"/>
                <a:ea typeface="標楷體" pitchFamily="65" charset="-120"/>
                <a:cs typeface="Times New Roman" pitchFamily="18" charset="0"/>
              </a:rPr>
              <a:t>。</a:t>
            </a:r>
            <a:endParaRPr lang="en-US" altLang="zh-TW" sz="2100" dirty="0" smtClean="0">
              <a:latin typeface="Times New Roman" pitchFamily="18" charset="0"/>
              <a:ea typeface="標楷體" pitchFamily="65" charset="-120"/>
              <a:cs typeface="Times New Roman" pitchFamily="18" charset="0"/>
            </a:endParaRPr>
          </a:p>
          <a:p>
            <a:pPr lvl="1"/>
            <a:r>
              <a:rPr lang="zh-TW" altLang="en-US" sz="2100" dirty="0" smtClean="0">
                <a:latin typeface="Times New Roman" pitchFamily="18" charset="0"/>
                <a:ea typeface="標楷體" pitchFamily="65" charset="-120"/>
                <a:cs typeface="Times New Roman" pitchFamily="18" charset="0"/>
              </a:rPr>
              <a:t>雖然 </a:t>
            </a:r>
            <a:r>
              <a:rPr lang="en-US" altLang="zh-TW" sz="2100" dirty="0" smtClean="0">
                <a:latin typeface="Times New Roman" pitchFamily="18" charset="0"/>
                <a:ea typeface="標楷體" pitchFamily="65" charset="-120"/>
                <a:cs typeface="Times New Roman" pitchFamily="18" charset="0"/>
              </a:rPr>
              <a:t>Shift-And algorithm</a:t>
            </a:r>
            <a:r>
              <a:rPr lang="zh-TW" altLang="en-US" sz="2100" dirty="0" smtClean="0">
                <a:latin typeface="Times New Roman" pitchFamily="18" charset="0"/>
                <a:ea typeface="標楷體" pitchFamily="65" charset="-120"/>
                <a:cs typeface="Times New Roman" pitchFamily="18" charset="0"/>
              </a:rPr>
              <a:t> 在任何情況都需 </a:t>
            </a:r>
            <a:r>
              <a:rPr lang="en-US" altLang="zh-TW" sz="2100" dirty="0" smtClean="0">
                <a:latin typeface="Times New Roman" pitchFamily="18" charset="0"/>
                <a:ea typeface="標楷體" pitchFamily="65" charset="-120"/>
                <a:cs typeface="Times New Roman" pitchFamily="18" charset="0"/>
              </a:rPr>
              <a:t>n </a:t>
            </a:r>
            <a:r>
              <a:rPr lang="zh-TW" altLang="en-US" sz="2100" dirty="0" smtClean="0">
                <a:latin typeface="Times New Roman" pitchFamily="18" charset="0"/>
                <a:ea typeface="標楷體" pitchFamily="65" charset="-120"/>
                <a:cs typeface="Times New Roman" pitchFamily="18" charset="0"/>
              </a:rPr>
              <a:t>次比對，但因使用位元運算，所以提升比對速度。</a:t>
            </a:r>
            <a:endParaRPr lang="en-US" altLang="zh-TW" sz="2100" dirty="0" smtClean="0">
              <a:latin typeface="Times New Roman" pitchFamily="18" charset="0"/>
              <a:ea typeface="標楷體" pitchFamily="65" charset="-120"/>
              <a:cs typeface="Times New Roman" pitchFamily="18" charset="0"/>
            </a:endParaRPr>
          </a:p>
          <a:p>
            <a:pPr lvl="1"/>
            <a:r>
              <a:rPr lang="en-US" altLang="zh-TW" sz="2100" dirty="0" smtClean="0">
                <a:latin typeface="Times New Roman" pitchFamily="18" charset="0"/>
                <a:ea typeface="標楷體" pitchFamily="65" charset="-120"/>
                <a:cs typeface="Times New Roman" pitchFamily="18" charset="0"/>
              </a:rPr>
              <a:t>BNDM</a:t>
            </a:r>
            <a:r>
              <a:rPr lang="zh-TW" altLang="en-US" sz="2100" dirty="0" smtClean="0">
                <a:latin typeface="Times New Roman" pitchFamily="18" charset="0"/>
                <a:ea typeface="標楷體" pitchFamily="65" charset="-120"/>
                <a:cs typeface="Times New Roman" pitchFamily="18" charset="0"/>
              </a:rPr>
              <a:t> 利用</a:t>
            </a:r>
            <a:r>
              <a:rPr lang="zh-TW" altLang="en-US" sz="2100" dirty="0" smtClean="0">
                <a:solidFill>
                  <a:srgbClr val="FF0000"/>
                </a:solidFill>
                <a:latin typeface="Times New Roman" pitchFamily="18" charset="0"/>
                <a:ea typeface="標楷體" pitchFamily="65" charset="-120"/>
                <a:cs typeface="Times New Roman" pitchFamily="18" charset="0"/>
              </a:rPr>
              <a:t>移動視窗</a:t>
            </a:r>
            <a:r>
              <a:rPr lang="zh-TW" altLang="en-US" sz="2100" dirty="0" smtClean="0">
                <a:latin typeface="Times New Roman" pitchFamily="18" charset="0"/>
                <a:ea typeface="標楷體" pitchFamily="65" charset="-120"/>
                <a:cs typeface="Times New Roman" pitchFamily="18" charset="0"/>
              </a:rPr>
              <a:t>引入符號關係的概念，當比對失敗或視窗內符號比對完畢，則根據符號關係移動到下一個視窗位置。</a:t>
            </a:r>
            <a:endParaRPr lang="en-US" altLang="zh-TW" sz="2100" dirty="0" smtClean="0">
              <a:latin typeface="Times New Roman" pitchFamily="18" charset="0"/>
              <a:ea typeface="標楷體" pitchFamily="65" charset="-120"/>
              <a:cs typeface="Times New Roman" pitchFamily="18" charset="0"/>
            </a:endParaRPr>
          </a:p>
          <a:p>
            <a:pPr lvl="1"/>
            <a:r>
              <a:rPr lang="zh-TW" altLang="en-US" sz="2100" dirty="0" smtClean="0">
                <a:solidFill>
                  <a:srgbClr val="FF0000"/>
                </a:solidFill>
                <a:latin typeface="Times New Roman" pitchFamily="18" charset="0"/>
                <a:ea typeface="標楷體" pitchFamily="65" charset="-120"/>
                <a:cs typeface="Times New Roman" pitchFamily="18" charset="0"/>
              </a:rPr>
              <a:t>不利於長樣式比對</a:t>
            </a:r>
            <a:r>
              <a:rPr lang="zh-TW" altLang="en-US" sz="2100" dirty="0" smtClean="0">
                <a:latin typeface="Times New Roman" pitchFamily="18" charset="0"/>
                <a:ea typeface="標楷體" pitchFamily="65" charset="-120"/>
                <a:cs typeface="Times New Roman" pitchFamily="18" charset="0"/>
              </a:rPr>
              <a:t>，受計算機的 </a:t>
            </a:r>
            <a:r>
              <a:rPr lang="en-US" altLang="zh-TW" sz="2100" dirty="0" smtClean="0">
                <a:latin typeface="Times New Roman" pitchFamily="18" charset="0"/>
                <a:ea typeface="標楷體" pitchFamily="65" charset="-120"/>
                <a:cs typeface="Times New Roman" pitchFamily="18" charset="0"/>
              </a:rPr>
              <a:t>word size</a:t>
            </a:r>
            <a:r>
              <a:rPr lang="zh-TW" altLang="en-US" sz="2100" dirty="0" smtClean="0">
                <a:latin typeface="Times New Roman" pitchFamily="18" charset="0"/>
                <a:ea typeface="標楷體" pitchFamily="65" charset="-120"/>
                <a:cs typeface="Times New Roman" pitchFamily="18" charset="0"/>
              </a:rPr>
              <a:t> 所限制。</a:t>
            </a:r>
            <a:endParaRPr lang="en-US" altLang="zh-TW" sz="2100" dirty="0">
              <a:latin typeface="Times New Roman" pitchFamily="18" charset="0"/>
              <a:ea typeface="標楷體" pitchFamily="65" charset="-120"/>
              <a:cs typeface="Times New Roman" pitchFamily="18" charset="0"/>
            </a:endParaRPr>
          </a:p>
          <a:p>
            <a:r>
              <a:rPr lang="zh-TW" altLang="en-US" sz="2500" dirty="0">
                <a:latin typeface="Times New Roman" pitchFamily="18" charset="0"/>
                <a:ea typeface="標楷體" pitchFamily="65" charset="-120"/>
                <a:cs typeface="Times New Roman" pitchFamily="18" charset="0"/>
              </a:rPr>
              <a:t>過濾器</a:t>
            </a:r>
            <a:r>
              <a:rPr lang="zh-TW" altLang="en-US" sz="2500" dirty="0" smtClean="0">
                <a:latin typeface="Times New Roman" pitchFamily="18" charset="0"/>
                <a:ea typeface="標楷體" pitchFamily="65" charset="-120"/>
                <a:cs typeface="Times New Roman" pitchFamily="18" charset="0"/>
              </a:rPr>
              <a:t>概念</a:t>
            </a:r>
            <a:endParaRPr lang="en-US" altLang="zh-TW" sz="2500" dirty="0" smtClean="0">
              <a:latin typeface="Times New Roman" pitchFamily="18" charset="0"/>
              <a:ea typeface="標楷體" pitchFamily="65" charset="-120"/>
              <a:cs typeface="Times New Roman" pitchFamily="18" charset="0"/>
            </a:endParaRPr>
          </a:p>
          <a:p>
            <a:pPr lvl="1"/>
            <a:r>
              <a:rPr lang="en-US" altLang="zh-TW" sz="2100" dirty="0" err="1" smtClean="0">
                <a:latin typeface="Times New Roman" pitchFamily="18" charset="0"/>
                <a:ea typeface="標楷體" pitchFamily="65" charset="-120"/>
                <a:cs typeface="Times New Roman" pitchFamily="18" charset="0"/>
              </a:rPr>
              <a:t>Lecroq</a:t>
            </a:r>
            <a:r>
              <a:rPr lang="en-US" altLang="zh-TW" sz="2100" dirty="0" smtClean="0">
                <a:latin typeface="Times New Roman" pitchFamily="18" charset="0"/>
                <a:ea typeface="標楷體" pitchFamily="65" charset="-120"/>
                <a:cs typeface="Times New Roman" pitchFamily="18" charset="0"/>
              </a:rPr>
              <a:t> algorithm </a:t>
            </a:r>
            <a:r>
              <a:rPr lang="zh-TW" altLang="en-US" sz="2100" dirty="0" smtClean="0">
                <a:solidFill>
                  <a:srgbClr val="FF0000"/>
                </a:solidFill>
                <a:latin typeface="Times New Roman" pitchFamily="18" charset="0"/>
                <a:ea typeface="標楷體" pitchFamily="65" charset="-120"/>
                <a:cs typeface="Times New Roman" pitchFamily="18" charset="0"/>
              </a:rPr>
              <a:t>每次讀入一組序列中連續的符號 </a:t>
            </a:r>
            <a:r>
              <a:rPr lang="en-US" altLang="zh-TW" sz="2100" dirty="0" smtClean="0">
                <a:solidFill>
                  <a:srgbClr val="FF0000"/>
                </a:solidFill>
                <a:latin typeface="Times New Roman" pitchFamily="18" charset="0"/>
                <a:ea typeface="標楷體" pitchFamily="65" charset="-120"/>
                <a:cs typeface="Times New Roman" pitchFamily="18" charset="0"/>
              </a:rPr>
              <a:t>(q-grams)</a:t>
            </a:r>
            <a:r>
              <a:rPr lang="zh-TW" altLang="en-US" sz="2100" dirty="0" smtClean="0">
                <a:solidFill>
                  <a:srgbClr val="FF0000"/>
                </a:solidFill>
                <a:latin typeface="Times New Roman" pitchFamily="18" charset="0"/>
                <a:ea typeface="標楷體" pitchFamily="65" charset="-120"/>
                <a:cs typeface="Times New Roman" pitchFamily="18" charset="0"/>
              </a:rPr>
              <a:t> 計算出赫序值，來判斷此符號組是否為樣式的一部分</a:t>
            </a:r>
            <a:r>
              <a:rPr lang="zh-TW" altLang="en-US" sz="2100" dirty="0" smtClean="0">
                <a:latin typeface="Times New Roman" pitchFamily="18" charset="0"/>
                <a:ea typeface="標楷體" pitchFamily="65" charset="-120"/>
                <a:cs typeface="Times New Roman" pitchFamily="18" charset="0"/>
              </a:rPr>
              <a:t>，若可能為樣式，則將整段序列加以檢查。</a:t>
            </a:r>
            <a:endParaRPr lang="en-US" altLang="zh-TW" sz="2100" dirty="0" smtClean="0">
              <a:latin typeface="Times New Roman" pitchFamily="18" charset="0"/>
              <a:ea typeface="標楷體" pitchFamily="65" charset="-120"/>
              <a:cs typeface="Times New Roman" pitchFamily="18" charset="0"/>
            </a:endParaRPr>
          </a:p>
          <a:p>
            <a:pPr lvl="1"/>
            <a:r>
              <a:rPr lang="en-US" altLang="zh-TW" sz="2100" dirty="0" err="1" smtClean="0">
                <a:latin typeface="Times New Roman" pitchFamily="18" charset="0"/>
                <a:ea typeface="標楷體" pitchFamily="65" charset="-120"/>
                <a:cs typeface="Times New Roman" pitchFamily="18" charset="0"/>
              </a:rPr>
              <a:t>BNDMq</a:t>
            </a:r>
            <a:endParaRPr lang="en-US" altLang="zh-TW" sz="2100" dirty="0">
              <a:latin typeface="Times New Roman" pitchFamily="18" charset="0"/>
              <a:ea typeface="標楷體" pitchFamily="65" charset="-120"/>
              <a:cs typeface="Times New Roman" pitchFamily="18" charset="0"/>
            </a:endParaRPr>
          </a:p>
          <a:p>
            <a:endParaRPr lang="en-US" altLang="zh-TW" sz="2500" dirty="0" smtClean="0">
              <a:latin typeface="Times New Roman" pitchFamily="18" charset="0"/>
              <a:ea typeface="標楷體" pitchFamily="65" charset="-120"/>
              <a:cs typeface="Times New Roman" pitchFamily="18" charset="0"/>
            </a:endParaRPr>
          </a:p>
        </p:txBody>
      </p:sp>
    </p:spTree>
    <p:extLst>
      <p:ext uri="{BB962C8B-B14F-4D97-AF65-F5344CB8AC3E}">
        <p14:creationId xmlns="" xmlns:p14="http://schemas.microsoft.com/office/powerpoint/2010/main" val="10386854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This paper</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zh-TW" altLang="en-US" sz="2500" dirty="0">
                <a:latin typeface="Times New Roman" pitchFamily="18" charset="0"/>
                <a:ea typeface="標楷體" pitchFamily="65" charset="-120"/>
                <a:cs typeface="Times New Roman" pitchFamily="18" charset="0"/>
              </a:rPr>
              <a:t>架構</a:t>
            </a:r>
            <a:r>
              <a:rPr lang="zh-TW" altLang="en-US" sz="2500" dirty="0" smtClean="0">
                <a:latin typeface="Times New Roman" pitchFamily="18" charset="0"/>
                <a:ea typeface="標楷體" pitchFamily="65" charset="-120"/>
                <a:cs typeface="Times New Roman" pitchFamily="18" charset="0"/>
              </a:rPr>
              <a:t>在 </a:t>
            </a:r>
            <a:r>
              <a:rPr lang="en-US" altLang="zh-TW" sz="2500" dirty="0" smtClean="0">
                <a:latin typeface="Times New Roman" pitchFamily="18" charset="0"/>
                <a:ea typeface="標楷體" pitchFamily="65" charset="-120"/>
                <a:cs typeface="Times New Roman" pitchFamily="18" charset="0"/>
              </a:rPr>
              <a:t>BLIM </a:t>
            </a:r>
            <a:r>
              <a:rPr lang="zh-TW" altLang="en-US" sz="2500" dirty="0" smtClean="0">
                <a:latin typeface="Times New Roman" pitchFamily="18" charset="0"/>
                <a:ea typeface="標楷體" pitchFamily="65" charset="-120"/>
                <a:cs typeface="Times New Roman" pitchFamily="18" charset="0"/>
              </a:rPr>
              <a:t>演算法 </a:t>
            </a:r>
            <a:r>
              <a:rPr lang="en-US" altLang="zh-TW" sz="2500" dirty="0" smtClean="0">
                <a:latin typeface="Times New Roman" pitchFamily="18" charset="0"/>
                <a:ea typeface="標楷體" pitchFamily="65" charset="-120"/>
                <a:cs typeface="Times New Roman" pitchFamily="18" charset="0"/>
              </a:rPr>
              <a:t>(</a:t>
            </a:r>
            <a:r>
              <a:rPr lang="zh-TW" altLang="en-US" sz="2500" dirty="0" smtClean="0">
                <a:latin typeface="Times New Roman" pitchFamily="18" charset="0"/>
                <a:ea typeface="標楷體" pitchFamily="65" charset="-120"/>
                <a:cs typeface="Times New Roman" pitchFamily="18" charset="0"/>
              </a:rPr>
              <a:t>改善位元</a:t>
            </a:r>
            <a:r>
              <a:rPr lang="zh-TW" altLang="en-US" sz="2500" dirty="0">
                <a:latin typeface="Times New Roman" pitchFamily="18" charset="0"/>
                <a:ea typeface="標楷體" pitchFamily="65" charset="-120"/>
                <a:cs typeface="Times New Roman" pitchFamily="18" charset="0"/>
              </a:rPr>
              <a:t>同步</a:t>
            </a:r>
            <a:r>
              <a:rPr lang="zh-TW" altLang="en-US" sz="2500" dirty="0" smtClean="0">
                <a:latin typeface="Times New Roman" pitchFamily="18" charset="0"/>
                <a:ea typeface="標楷體" pitchFamily="65" charset="-120"/>
                <a:cs typeface="Times New Roman" pitchFamily="18" charset="0"/>
              </a:rPr>
              <a:t>處理演算法</a:t>
            </a:r>
            <a:r>
              <a:rPr lang="en-US" altLang="zh-TW" sz="2500" dirty="0" smtClean="0">
                <a:latin typeface="Times New Roman" pitchFamily="18" charset="0"/>
                <a:ea typeface="標楷體" pitchFamily="65" charset="-120"/>
                <a:cs typeface="Times New Roman" pitchFamily="18" charset="0"/>
              </a:rPr>
              <a:t>)</a:t>
            </a:r>
            <a:r>
              <a:rPr lang="zh-TW" altLang="en-US" sz="2500" dirty="0" smtClean="0">
                <a:latin typeface="Times New Roman" pitchFamily="18" charset="0"/>
                <a:ea typeface="標楷體" pitchFamily="65" charset="-120"/>
                <a:cs typeface="Times New Roman" pitchFamily="18" charset="0"/>
              </a:rPr>
              <a:t>，</a:t>
            </a:r>
            <a:r>
              <a:rPr lang="zh-TW" altLang="en-US" sz="2500" dirty="0">
                <a:latin typeface="Times New Roman" pitchFamily="18" charset="0"/>
                <a:ea typeface="標楷體" pitchFamily="65" charset="-120"/>
                <a:cs typeface="Times New Roman" pitchFamily="18" charset="0"/>
              </a:rPr>
              <a:t>利用</a:t>
            </a:r>
            <a:r>
              <a:rPr lang="zh-TW" altLang="en-US" sz="2500" dirty="0" smtClean="0">
                <a:latin typeface="Times New Roman" pitchFamily="18" charset="0"/>
                <a:ea typeface="標楷體" pitchFamily="65" charset="-120"/>
                <a:cs typeface="Times New Roman" pitchFamily="18" charset="0"/>
              </a:rPr>
              <a:t>過濾器的</a:t>
            </a:r>
            <a:r>
              <a:rPr lang="zh-TW" altLang="en-US" sz="2500" dirty="0">
                <a:latin typeface="Times New Roman" pitchFamily="18" charset="0"/>
                <a:ea typeface="標楷體" pitchFamily="65" charset="-120"/>
                <a:cs typeface="Times New Roman" pitchFamily="18" charset="0"/>
              </a:rPr>
              <a:t>概念，提出改良型樣式比對</a:t>
            </a:r>
            <a:r>
              <a:rPr lang="zh-TW" altLang="en-US" sz="2500" dirty="0" smtClean="0">
                <a:latin typeface="Times New Roman" pitchFamily="18" charset="0"/>
                <a:ea typeface="標楷體" pitchFamily="65" charset="-120"/>
                <a:cs typeface="Times New Roman" pitchFamily="18" charset="0"/>
              </a:rPr>
              <a:t>演算法。</a:t>
            </a:r>
            <a:endParaRPr lang="en-US" altLang="zh-TW" sz="2500" dirty="0" smtClean="0">
              <a:latin typeface="Times New Roman" pitchFamily="18" charset="0"/>
              <a:ea typeface="標楷體" pitchFamily="65" charset="-120"/>
              <a:cs typeface="Times New Roman" pitchFamily="18" charset="0"/>
            </a:endParaRPr>
          </a:p>
          <a:p>
            <a:r>
              <a:rPr lang="zh-TW" altLang="en-US" sz="2500" dirty="0">
                <a:latin typeface="Times New Roman" pitchFamily="18" charset="0"/>
                <a:ea typeface="標楷體" pitchFamily="65" charset="-120"/>
                <a:cs typeface="Times New Roman" pitchFamily="18" charset="0"/>
              </a:rPr>
              <a:t>在每次移動視窗中的第一次比對時，</a:t>
            </a:r>
            <a:r>
              <a:rPr lang="zh-TW" altLang="en-US" sz="2500" dirty="0">
                <a:solidFill>
                  <a:srgbClr val="FF0000"/>
                </a:solidFill>
                <a:latin typeface="Times New Roman" pitchFamily="18" charset="0"/>
                <a:ea typeface="標楷體" pitchFamily="65" charset="-120"/>
                <a:cs typeface="Times New Roman" pitchFamily="18" charset="0"/>
              </a:rPr>
              <a:t>讀入一組移動</a:t>
            </a:r>
            <a:r>
              <a:rPr lang="zh-TW" altLang="en-US" sz="2500" dirty="0" smtClean="0">
                <a:solidFill>
                  <a:srgbClr val="FF0000"/>
                </a:solidFill>
                <a:latin typeface="Times New Roman" pitchFamily="18" charset="0"/>
                <a:ea typeface="標楷體" pitchFamily="65" charset="-120"/>
                <a:cs typeface="Times New Roman" pitchFamily="18" charset="0"/>
              </a:rPr>
              <a:t>視窗</a:t>
            </a:r>
            <a:r>
              <a:rPr lang="zh-TW" altLang="en-US" sz="2500" dirty="0">
                <a:solidFill>
                  <a:srgbClr val="FF0000"/>
                </a:solidFill>
                <a:latin typeface="Times New Roman" pitchFamily="18" charset="0"/>
                <a:ea typeface="標楷體" pitchFamily="65" charset="-120"/>
                <a:cs typeface="Times New Roman" pitchFamily="18" charset="0"/>
              </a:rPr>
              <a:t>中的數個符號</a:t>
            </a:r>
            <a:r>
              <a:rPr lang="zh-TW" altLang="en-US" sz="2500" dirty="0">
                <a:latin typeface="Times New Roman" pitchFamily="18" charset="0"/>
                <a:ea typeface="標楷體" pitchFamily="65" charset="-120"/>
                <a:cs typeface="Times New Roman" pitchFamily="18" charset="0"/>
              </a:rPr>
              <a:t>，組成符號</a:t>
            </a:r>
            <a:r>
              <a:rPr lang="zh-TW" altLang="en-US" sz="2500" dirty="0" smtClean="0">
                <a:latin typeface="Times New Roman" pitchFamily="18" charset="0"/>
                <a:ea typeface="標楷體" pitchFamily="65" charset="-120"/>
                <a:cs typeface="Times New Roman" pitchFamily="18" charset="0"/>
              </a:rPr>
              <a:t>組 </a:t>
            </a:r>
            <a:r>
              <a:rPr lang="en-US" altLang="zh-TW" sz="2500" dirty="0" smtClean="0">
                <a:latin typeface="Times New Roman" pitchFamily="18" charset="0"/>
                <a:ea typeface="標楷體" pitchFamily="65" charset="-120"/>
                <a:cs typeface="Times New Roman" pitchFamily="18" charset="0"/>
              </a:rPr>
              <a:t>(</a:t>
            </a:r>
            <a:r>
              <a:rPr lang="en-US" altLang="zh-TW" sz="2500" dirty="0">
                <a:latin typeface="Times New Roman" pitchFamily="18" charset="0"/>
                <a:ea typeface="標楷體" pitchFamily="65" charset="-120"/>
                <a:cs typeface="Times New Roman" pitchFamily="18" charset="0"/>
              </a:rPr>
              <a:t>q-grams)</a:t>
            </a:r>
            <a:r>
              <a:rPr lang="zh-TW" altLang="en-US" sz="2500" dirty="0">
                <a:latin typeface="Times New Roman" pitchFamily="18" charset="0"/>
                <a:ea typeface="標楷體" pitchFamily="65" charset="-120"/>
                <a:cs typeface="Times New Roman" pitchFamily="18" charset="0"/>
              </a:rPr>
              <a:t>，篩選</a:t>
            </a:r>
            <a:r>
              <a:rPr lang="zh-TW" altLang="en-US" sz="2500" dirty="0" smtClean="0">
                <a:latin typeface="Times New Roman" pitchFamily="18" charset="0"/>
                <a:ea typeface="標楷體" pitchFamily="65" charset="-120"/>
                <a:cs typeface="Times New Roman" pitchFamily="18" charset="0"/>
              </a:rPr>
              <a:t>樣式</a:t>
            </a:r>
            <a:r>
              <a:rPr lang="zh-TW" altLang="en-US" sz="2500" dirty="0">
                <a:latin typeface="Times New Roman" pitchFamily="18" charset="0"/>
                <a:ea typeface="標楷體" pitchFamily="65" charset="-120"/>
                <a:cs typeface="Times New Roman" pitchFamily="18" charset="0"/>
              </a:rPr>
              <a:t>出現的可能，藉此減少比對次數，提昇</a:t>
            </a:r>
            <a:r>
              <a:rPr lang="zh-TW" altLang="en-US" sz="2500" dirty="0" smtClean="0">
                <a:latin typeface="Times New Roman" pitchFamily="18" charset="0"/>
                <a:ea typeface="標楷體" pitchFamily="65" charset="-120"/>
                <a:cs typeface="Times New Roman" pitchFamily="18" charset="0"/>
              </a:rPr>
              <a:t>演算法效率</a:t>
            </a:r>
            <a:r>
              <a:rPr lang="zh-TW" altLang="en-US" sz="2500" dirty="0">
                <a:latin typeface="Times New Roman" pitchFamily="18" charset="0"/>
                <a:ea typeface="標楷體" pitchFamily="65" charset="-120"/>
                <a:cs typeface="Times New Roman" pitchFamily="18" charset="0"/>
              </a:rPr>
              <a:t>。</a:t>
            </a:r>
            <a:endParaRPr lang="en-US" altLang="zh-TW" sz="2500" dirty="0" smtClean="0">
              <a:latin typeface="Times New Roman" pitchFamily="18" charset="0"/>
              <a:ea typeface="標楷體" pitchFamily="65" charset="-120"/>
              <a:cs typeface="Times New Roman" pitchFamily="18" charset="0"/>
            </a:endParaRPr>
          </a:p>
        </p:txBody>
      </p:sp>
    </p:spTree>
    <p:extLst>
      <p:ext uri="{BB962C8B-B14F-4D97-AF65-F5344CB8AC3E}">
        <p14:creationId xmlns="" xmlns:p14="http://schemas.microsoft.com/office/powerpoint/2010/main" val="10386854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BLIM</a:t>
            </a:r>
            <a:endParaRPr lang="zh-TW" altLang="en-US" dirty="0">
              <a:latin typeface="Times New Roman" pitchFamily="18" charset="0"/>
              <a:ea typeface="標楷體" pitchFamily="65" charset="-120"/>
              <a:cs typeface="Times New Roman" pitchFamily="18" charset="0"/>
            </a:endParaRPr>
          </a:p>
        </p:txBody>
      </p:sp>
      <mc:AlternateContent xmlns:mc="http://schemas.openxmlformats.org/markup-compatibility/2006">
        <mc:Choice xmlns="" xmlns:a14="http://schemas.microsoft.com/office/drawing/2010/main" Requires="a14">
          <p:sp>
            <p:nvSpPr>
              <p:cNvPr id="3" name="內容版面配置區 2"/>
              <p:cNvSpPr>
                <a:spLocks noGrp="1"/>
              </p:cNvSpPr>
              <p:nvPr>
                <p:ph idx="1"/>
              </p:nvPr>
            </p:nvSpPr>
            <p:spPr/>
            <p:txBody>
              <a:bodyPr/>
              <a:lstStyle/>
              <a:p>
                <a:r>
                  <a:rPr lang="en-US" altLang="zh-TW" sz="2500" dirty="0" smtClean="0">
                    <a:latin typeface="Times New Roman" pitchFamily="18" charset="0"/>
                    <a:ea typeface="標楷體" pitchFamily="65" charset="-120"/>
                    <a:cs typeface="Times New Roman" pitchFamily="18" charset="0"/>
                  </a:rPr>
                  <a:t>BLIM: A </a:t>
                </a:r>
                <a:r>
                  <a:rPr lang="en-US" altLang="zh-TW" sz="2500" dirty="0">
                    <a:latin typeface="Times New Roman" pitchFamily="18" charset="0"/>
                    <a:ea typeface="標楷體" pitchFamily="65" charset="-120"/>
                    <a:cs typeface="Times New Roman" pitchFamily="18" charset="0"/>
                  </a:rPr>
                  <a:t>New Bit-parallel Pattern Matching </a:t>
                </a:r>
                <a:r>
                  <a:rPr lang="en-US" altLang="zh-TW" sz="2500" dirty="0" smtClean="0">
                    <a:latin typeface="Times New Roman" pitchFamily="18" charset="0"/>
                    <a:ea typeface="標楷體" pitchFamily="65" charset="-120"/>
                    <a:cs typeface="Times New Roman" pitchFamily="18" charset="0"/>
                  </a:rPr>
                  <a:t>Algorithm Overcoming </a:t>
                </a:r>
                <a:r>
                  <a:rPr lang="en-US" altLang="zh-TW" sz="2500" dirty="0">
                    <a:latin typeface="Times New Roman" pitchFamily="18" charset="0"/>
                    <a:ea typeface="標楷體" pitchFamily="65" charset="-120"/>
                    <a:cs typeface="Times New Roman" pitchFamily="18" charset="0"/>
                  </a:rPr>
                  <a:t>Computer Word Size </a:t>
                </a:r>
                <a:r>
                  <a:rPr lang="en-US" altLang="zh-TW" sz="2500" dirty="0" smtClean="0">
                    <a:latin typeface="Times New Roman" pitchFamily="18" charset="0"/>
                    <a:ea typeface="標楷體" pitchFamily="65" charset="-120"/>
                    <a:cs typeface="Times New Roman" pitchFamily="18" charset="0"/>
                  </a:rPr>
                  <a:t>Limitation</a:t>
                </a:r>
                <a:r>
                  <a:rPr lang="en-US" altLang="zh-TW" sz="2500" dirty="0">
                    <a:latin typeface="Times New Roman" pitchFamily="18" charset="0"/>
                    <a:ea typeface="標楷體" pitchFamily="65" charset="-120"/>
                    <a:cs typeface="Times New Roman" pitchFamily="18" charset="0"/>
                  </a:rPr>
                  <a:t>, </a:t>
                </a:r>
                <a:r>
                  <a:rPr lang="en-US" altLang="zh-TW" sz="2500" dirty="0" err="1" smtClean="0">
                    <a:latin typeface="Times New Roman" pitchFamily="18" charset="0"/>
                    <a:ea typeface="標楷體" pitchFamily="65" charset="-120"/>
                    <a:cs typeface="Times New Roman" pitchFamily="18" charset="0"/>
                  </a:rPr>
                  <a:t>Külekci</a:t>
                </a:r>
                <a:r>
                  <a:rPr lang="en-US" altLang="zh-TW" sz="2500" dirty="0" smtClean="0">
                    <a:latin typeface="Times New Roman" pitchFamily="18" charset="0"/>
                    <a:ea typeface="標楷體" pitchFamily="65" charset="-120"/>
                    <a:cs typeface="Times New Roman" pitchFamily="18" charset="0"/>
                  </a:rPr>
                  <a:t>, 2008</a:t>
                </a:r>
              </a:p>
              <a:p>
                <a:r>
                  <a:rPr lang="zh-TW" altLang="en-US" sz="2500" dirty="0" smtClean="0">
                    <a:latin typeface="Times New Roman" pitchFamily="18" charset="0"/>
                    <a:ea typeface="標楷體" pitchFamily="65" charset="-120"/>
                    <a:cs typeface="Times New Roman" pitchFamily="18" charset="0"/>
                  </a:rPr>
                  <a:t>將</a:t>
                </a:r>
                <a:r>
                  <a:rPr lang="zh-TW" altLang="en-US" sz="2500" dirty="0">
                    <a:latin typeface="Times New Roman" pitchFamily="18" charset="0"/>
                    <a:ea typeface="標楷體" pitchFamily="65" charset="-120"/>
                    <a:cs typeface="Times New Roman" pitchFamily="18" charset="0"/>
                  </a:rPr>
                  <a:t>記錄符號出現在樣式中的位置，改為</a:t>
                </a:r>
                <a:r>
                  <a:rPr lang="zh-TW" altLang="en-US" sz="2500" dirty="0">
                    <a:solidFill>
                      <a:srgbClr val="FF0000"/>
                    </a:solidFill>
                    <a:latin typeface="Times New Roman" pitchFamily="18" charset="0"/>
                    <a:ea typeface="標楷體" pitchFamily="65" charset="-120"/>
                    <a:cs typeface="Times New Roman" pitchFamily="18" charset="0"/>
                  </a:rPr>
                  <a:t>記錄樣式在移動視窗中的</a:t>
                </a:r>
                <a:r>
                  <a:rPr lang="zh-TW" altLang="en-US" sz="2500" dirty="0" smtClean="0">
                    <a:solidFill>
                      <a:srgbClr val="FF0000"/>
                    </a:solidFill>
                    <a:latin typeface="Times New Roman" pitchFamily="18" charset="0"/>
                    <a:ea typeface="標楷體" pitchFamily="65" charset="-120"/>
                    <a:cs typeface="Times New Roman" pitchFamily="18" charset="0"/>
                  </a:rPr>
                  <a:t>位置</a:t>
                </a:r>
                <a:r>
                  <a:rPr lang="zh-TW" altLang="en-US" sz="2500" dirty="0" smtClean="0">
                    <a:latin typeface="Times New Roman" pitchFamily="18" charset="0"/>
                    <a:ea typeface="標楷體" pitchFamily="65" charset="-120"/>
                    <a:cs typeface="Times New Roman" pitchFamily="18" charset="0"/>
                  </a:rPr>
                  <a:t>，解決位元同步處理概念的比對演算法受到計算機處理器所能處理的位元長度 </a:t>
                </a:r>
                <a:r>
                  <a:rPr lang="en-US" altLang="zh-TW" sz="2500" dirty="0" smtClean="0">
                    <a:latin typeface="Times New Roman" pitchFamily="18" charset="0"/>
                    <a:ea typeface="標楷體" pitchFamily="65" charset="-120"/>
                    <a:cs typeface="Times New Roman" pitchFamily="18" charset="0"/>
                  </a:rPr>
                  <a:t>(word size)</a:t>
                </a:r>
                <a:r>
                  <a:rPr lang="zh-TW" altLang="en-US" sz="2500" dirty="0" smtClean="0">
                    <a:latin typeface="Times New Roman" pitchFamily="18" charset="0"/>
                    <a:ea typeface="標楷體" pitchFamily="65" charset="-120"/>
                    <a:cs typeface="Times New Roman" pitchFamily="18" charset="0"/>
                  </a:rPr>
                  <a:t> 限制，樣式長度有其極限之</a:t>
                </a:r>
                <a:r>
                  <a:rPr lang="zh-TW" altLang="en-US" sz="2500" dirty="0">
                    <a:latin typeface="Times New Roman" pitchFamily="18" charset="0"/>
                    <a:ea typeface="標楷體" pitchFamily="65" charset="-120"/>
                    <a:cs typeface="Times New Roman" pitchFamily="18" charset="0"/>
                  </a:rPr>
                  <a:t>問題</a:t>
                </a:r>
                <a:r>
                  <a:rPr lang="zh-TW" altLang="en-US" sz="2500" dirty="0" smtClean="0">
                    <a:latin typeface="Times New Roman" pitchFamily="18" charset="0"/>
                    <a:ea typeface="標楷體" pitchFamily="65" charset="-120"/>
                    <a:cs typeface="Times New Roman" pitchFamily="18" charset="0"/>
                  </a:rPr>
                  <a:t>。</a:t>
                </a:r>
                <a:endParaRPr lang="en-US" altLang="zh-TW" sz="2500" dirty="0" smtClean="0">
                  <a:latin typeface="Times New Roman" pitchFamily="18" charset="0"/>
                  <a:ea typeface="標楷體" pitchFamily="65" charset="-120"/>
                  <a:cs typeface="Times New Roman" pitchFamily="18" charset="0"/>
                </a:endParaRPr>
              </a:p>
              <a:p>
                <a14:m>
                  <m:oMath xmlns:m="http://schemas.openxmlformats.org/officeDocument/2006/math">
                    <m:r>
                      <a:rPr lang="en-US" altLang="zh-TW" sz="2500" b="0" i="1" smtClean="0">
                        <a:latin typeface="Cambria Math"/>
                        <a:ea typeface="標楷體" pitchFamily="65" charset="-120"/>
                        <a:cs typeface="Times New Roman" pitchFamily="18" charset="0"/>
                      </a:rPr>
                      <m:t>𝑛</m:t>
                    </m:r>
                    <m:r>
                      <a:rPr lang="en-US" altLang="zh-TW" sz="2500" b="0" i="1" smtClean="0">
                        <a:latin typeface="Cambria Math"/>
                        <a:ea typeface="標楷體" pitchFamily="65" charset="-120"/>
                        <a:cs typeface="Times New Roman" pitchFamily="18" charset="0"/>
                      </a:rPr>
                      <m:t>=</m:t>
                    </m:r>
                    <m:r>
                      <a:rPr lang="en-US" altLang="zh-TW" sz="2500" b="0" i="1" smtClean="0">
                        <a:latin typeface="Cambria Math"/>
                        <a:ea typeface="標楷體" pitchFamily="65" charset="-120"/>
                        <a:cs typeface="Times New Roman" pitchFamily="18" charset="0"/>
                      </a:rPr>
                      <m:t>𝑙𝑒𝑛𝑔𝑡h</m:t>
                    </m:r>
                    <m:r>
                      <a:rPr lang="en-US" altLang="zh-TW" sz="2500" b="0" i="1" smtClean="0">
                        <a:latin typeface="Cambria Math"/>
                        <a:ea typeface="標楷體" pitchFamily="65" charset="-120"/>
                        <a:cs typeface="Times New Roman" pitchFamily="18" charset="0"/>
                      </a:rPr>
                      <m:t> </m:t>
                    </m:r>
                    <m:r>
                      <a:rPr lang="en-US" altLang="zh-TW" sz="2500" b="0" i="1" smtClean="0">
                        <a:latin typeface="Cambria Math"/>
                        <a:ea typeface="標楷體" pitchFamily="65" charset="-120"/>
                        <a:cs typeface="Times New Roman" pitchFamily="18" charset="0"/>
                      </a:rPr>
                      <m:t>𝑜𝑓</m:t>
                    </m:r>
                    <m:r>
                      <a:rPr lang="en-US" altLang="zh-TW" sz="2500" b="0" i="1" smtClean="0">
                        <a:latin typeface="Cambria Math"/>
                        <a:ea typeface="標楷體" pitchFamily="65" charset="-120"/>
                        <a:cs typeface="Times New Roman" pitchFamily="18" charset="0"/>
                      </a:rPr>
                      <m:t> </m:t>
                    </m:r>
                    <m:r>
                      <a:rPr lang="en-US" altLang="zh-TW" sz="2500" b="0" i="1" smtClean="0">
                        <a:latin typeface="Cambria Math"/>
                        <a:ea typeface="標楷體" pitchFamily="65" charset="-120"/>
                        <a:cs typeface="Times New Roman" pitchFamily="18" charset="0"/>
                      </a:rPr>
                      <m:t>𝑠𝑒𝑞𝑢𝑒𝑛𝑐𝑒</m:t>
                    </m:r>
                  </m:oMath>
                </a14:m>
                <a:endParaRPr lang="en-US" altLang="zh-TW" sz="2500" b="0" i="1" smtClean="0">
                  <a:latin typeface="Cambria Math"/>
                  <a:ea typeface="標楷體" pitchFamily="65" charset="-120"/>
                  <a:cs typeface="Times New Roman" pitchFamily="18" charset="0"/>
                </a:endParaRPr>
              </a:p>
              <a:p>
                <a14:m>
                  <m:oMath xmlns:m="http://schemas.openxmlformats.org/officeDocument/2006/math">
                    <m:r>
                      <a:rPr lang="en-US" altLang="zh-TW" sz="2500" b="0" i="1" smtClean="0">
                        <a:latin typeface="Cambria Math"/>
                        <a:ea typeface="標楷體" pitchFamily="65" charset="-120"/>
                        <a:cs typeface="Times New Roman" pitchFamily="18" charset="0"/>
                      </a:rPr>
                      <m:t>𝑚</m:t>
                    </m:r>
                    <m:r>
                      <a:rPr lang="en-US" altLang="zh-TW" sz="2500" b="0" i="1" smtClean="0">
                        <a:latin typeface="Cambria Math"/>
                        <a:ea typeface="標楷體" pitchFamily="65" charset="-120"/>
                        <a:cs typeface="Times New Roman" pitchFamily="18" charset="0"/>
                      </a:rPr>
                      <m:t>=</m:t>
                    </m:r>
                    <m:r>
                      <a:rPr lang="en-US" altLang="zh-TW" sz="2500" b="0" i="1" smtClean="0">
                        <a:latin typeface="Cambria Math"/>
                        <a:ea typeface="標楷體" pitchFamily="65" charset="-120"/>
                        <a:cs typeface="Times New Roman" pitchFamily="18" charset="0"/>
                      </a:rPr>
                      <m:t>𝑙𝑒𝑛𝑔𝑡h</m:t>
                    </m:r>
                    <m:r>
                      <a:rPr lang="en-US" altLang="zh-TW" sz="2500" b="0" i="1" smtClean="0">
                        <a:latin typeface="Cambria Math"/>
                        <a:ea typeface="標楷體" pitchFamily="65" charset="-120"/>
                        <a:cs typeface="Times New Roman" pitchFamily="18" charset="0"/>
                      </a:rPr>
                      <m:t> </m:t>
                    </m:r>
                    <m:r>
                      <a:rPr lang="en-US" altLang="zh-TW" sz="2500" b="0" i="1" smtClean="0">
                        <a:latin typeface="Cambria Math"/>
                        <a:ea typeface="標楷體" pitchFamily="65" charset="-120"/>
                        <a:cs typeface="Times New Roman" pitchFamily="18" charset="0"/>
                      </a:rPr>
                      <m:t>𝑜𝑓</m:t>
                    </m:r>
                    <m:r>
                      <a:rPr lang="en-US" altLang="zh-TW" sz="2500" b="0" i="1" smtClean="0">
                        <a:latin typeface="Cambria Math"/>
                        <a:ea typeface="標楷體" pitchFamily="65" charset="-120"/>
                        <a:cs typeface="Times New Roman" pitchFamily="18" charset="0"/>
                      </a:rPr>
                      <m:t> </m:t>
                    </m:r>
                    <m:r>
                      <a:rPr lang="en-US" altLang="zh-TW" sz="2500" b="0" i="1" smtClean="0">
                        <a:latin typeface="Cambria Math"/>
                        <a:ea typeface="標楷體" pitchFamily="65" charset="-120"/>
                        <a:cs typeface="Times New Roman" pitchFamily="18" charset="0"/>
                      </a:rPr>
                      <m:t>𝑝𝑎𝑡𝑡𝑒𝑟𝑛</m:t>
                    </m:r>
                  </m:oMath>
                </a14:m>
                <a:endParaRPr lang="en-US" altLang="zh-TW" sz="2500" b="0" i="1" dirty="0" smtClean="0">
                  <a:latin typeface="Cambria Math"/>
                  <a:ea typeface="標楷體" pitchFamily="65" charset="-120"/>
                  <a:cs typeface="Times New Roman" pitchFamily="18" charset="0"/>
                </a:endParaRPr>
              </a:p>
              <a:p>
                <a14:m>
                  <m:oMath xmlns:m="http://schemas.openxmlformats.org/officeDocument/2006/math">
                    <m:r>
                      <a:rPr lang="en-US" altLang="zh-TW" sz="2500" b="0" i="1" smtClean="0">
                        <a:latin typeface="Cambria Math"/>
                        <a:ea typeface="標楷體" pitchFamily="65" charset="-120"/>
                        <a:cs typeface="Times New Roman" pitchFamily="18" charset="0"/>
                      </a:rPr>
                      <m:t>𝑊</m:t>
                    </m:r>
                    <m:r>
                      <a:rPr lang="en-US" altLang="zh-TW" sz="2500" b="0" i="1" smtClean="0">
                        <a:latin typeface="Cambria Math"/>
                        <a:ea typeface="標楷體" pitchFamily="65" charset="-120"/>
                        <a:cs typeface="Times New Roman" pitchFamily="18" charset="0"/>
                      </a:rPr>
                      <m:t>=</m:t>
                    </m:r>
                    <m:r>
                      <a:rPr lang="en-US" altLang="zh-TW" sz="2500" b="0" i="1" smtClean="0">
                        <a:latin typeface="Cambria Math"/>
                        <a:ea typeface="標楷體" pitchFamily="65" charset="-120"/>
                        <a:cs typeface="Times New Roman" pitchFamily="18" charset="0"/>
                      </a:rPr>
                      <m:t>𝑤𝑜𝑟𝑑</m:t>
                    </m:r>
                    <m:r>
                      <a:rPr lang="en-US" altLang="zh-TW" sz="2500" b="0" i="1" smtClean="0">
                        <a:latin typeface="Cambria Math"/>
                        <a:ea typeface="標楷體" pitchFamily="65" charset="-120"/>
                        <a:cs typeface="Times New Roman" pitchFamily="18" charset="0"/>
                      </a:rPr>
                      <m:t> </m:t>
                    </m:r>
                    <m:r>
                      <a:rPr lang="en-US" altLang="zh-TW" sz="2500" b="0" i="1" smtClean="0">
                        <a:latin typeface="Cambria Math"/>
                        <a:ea typeface="標楷體" pitchFamily="65" charset="-120"/>
                        <a:cs typeface="Times New Roman" pitchFamily="18" charset="0"/>
                      </a:rPr>
                      <m:t>𝑠𝑖𝑧𝑒</m:t>
                    </m:r>
                  </m:oMath>
                </a14:m>
                <a:endParaRPr lang="en-US" altLang="zh-TW" sz="2500" dirty="0" smtClean="0">
                  <a:latin typeface="Times New Roman" pitchFamily="18" charset="0"/>
                  <a:ea typeface="標楷體" pitchFamily="65" charset="-120"/>
                  <a:cs typeface="Times New Roman"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cstate="print"/>
                <a:stretch>
                  <a:fillRect l="-1037" t="-1078" r="-296"/>
                </a:stretch>
              </a:blipFill>
            </p:spPr>
            <p:txBody>
              <a:bodyPr/>
              <a:lstStyle/>
              <a:p>
                <a:r>
                  <a:rPr lang="zh-TW" altLang="en-US">
                    <a:noFill/>
                  </a:rPr>
                  <a:t> </a:t>
                </a:r>
              </a:p>
            </p:txBody>
          </p:sp>
        </mc:Fallback>
      </mc:AlternateContent>
    </p:spTree>
    <p:extLst>
      <p:ext uri="{BB962C8B-B14F-4D97-AF65-F5344CB8AC3E}">
        <p14:creationId xmlns="" xmlns:p14="http://schemas.microsoft.com/office/powerpoint/2010/main" val="28726021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3682752" cy="1143000"/>
          </a:xfrm>
        </p:spPr>
        <p:txBody>
          <a:bodyPr/>
          <a:lstStyle/>
          <a:p>
            <a:r>
              <a:rPr lang="en-US" altLang="zh-TW" dirty="0" smtClean="0">
                <a:latin typeface="Times New Roman" pitchFamily="18" charset="0"/>
                <a:ea typeface="標楷體" pitchFamily="65" charset="-120"/>
                <a:cs typeface="Times New Roman" pitchFamily="18" charset="0"/>
              </a:rPr>
              <a:t>BLIM –</a:t>
            </a:r>
            <a:br>
              <a:rPr lang="en-US" altLang="zh-TW" dirty="0" smtClean="0">
                <a:latin typeface="Times New Roman" pitchFamily="18" charset="0"/>
                <a:ea typeface="標楷體" pitchFamily="65" charset="-120"/>
                <a:cs typeface="Times New Roman" pitchFamily="18" charset="0"/>
              </a:rPr>
            </a:br>
            <a:r>
              <a:rPr lang="zh-TW" altLang="en-US" dirty="0" smtClean="0">
                <a:latin typeface="Times New Roman" pitchFamily="18" charset="0"/>
                <a:ea typeface="標楷體" pitchFamily="65" charset="-120"/>
                <a:cs typeface="Times New Roman" pitchFamily="18" charset="0"/>
              </a:rPr>
              <a:t>前處理</a:t>
            </a:r>
            <a:r>
              <a:rPr lang="zh-TW" altLang="en-US" dirty="0">
                <a:latin typeface="Times New Roman" pitchFamily="18" charset="0"/>
                <a:ea typeface="標楷體" pitchFamily="65" charset="-120"/>
                <a:cs typeface="Times New Roman" pitchFamily="18" charset="0"/>
              </a:rPr>
              <a:t>階段</a:t>
            </a:r>
          </a:p>
        </p:txBody>
      </p:sp>
      <mc:AlternateContent xmlns:mc="http://schemas.openxmlformats.org/markup-compatibility/2006">
        <mc:Choice xmlns="" xmlns:a14="http://schemas.microsoft.com/office/drawing/2010/main" Requires="a14">
          <p:sp>
            <p:nvSpPr>
              <p:cNvPr id="3" name="內容版面配置區 2"/>
              <p:cNvSpPr>
                <a:spLocks noGrp="1"/>
              </p:cNvSpPr>
              <p:nvPr>
                <p:ph idx="1"/>
              </p:nvPr>
            </p:nvSpPr>
            <p:spPr/>
            <p:txBody>
              <a:bodyPr/>
              <a:lstStyle/>
              <a:p>
                <a:r>
                  <a:rPr lang="zh-TW" altLang="en-US" sz="2500" dirty="0" smtClean="0">
                    <a:latin typeface="Times New Roman" pitchFamily="18" charset="0"/>
                    <a:ea typeface="標楷體" pitchFamily="65" charset="-120"/>
                    <a:cs typeface="Times New Roman" pitchFamily="18" charset="0"/>
                  </a:rPr>
                  <a:t>字母系統 </a:t>
                </a:r>
                <a14:m>
                  <m:oMath xmlns:m="http://schemas.openxmlformats.org/officeDocument/2006/math">
                    <m:r>
                      <m:rPr>
                        <m:sty m:val="p"/>
                      </m:rPr>
                      <a:rPr lang="el-GR" altLang="zh-TW" sz="2800" i="1" smtClean="0">
                        <a:latin typeface="Cambria Math"/>
                        <a:ea typeface="Cambria Math"/>
                        <a:cs typeface="Times New Roman" pitchFamily="18" charset="0"/>
                      </a:rPr>
                      <m:t>Σ</m:t>
                    </m:r>
                    <m:r>
                      <a:rPr lang="en-US" altLang="zh-TW" sz="2800" b="0" i="1" smtClean="0">
                        <a:latin typeface="Cambria Math"/>
                        <a:ea typeface="Cambria Math"/>
                        <a:cs typeface="Times New Roman" pitchFamily="18" charset="0"/>
                      </a:rPr>
                      <m:t>={</m:t>
                    </m:r>
                    <m:r>
                      <a:rPr lang="en-US" altLang="zh-TW" sz="2800" b="0" i="1" smtClean="0">
                        <a:latin typeface="Cambria Math"/>
                        <a:ea typeface="Cambria Math"/>
                        <a:cs typeface="Times New Roman" pitchFamily="18" charset="0"/>
                      </a:rPr>
                      <m:t>𝑎</m:t>
                    </m:r>
                    <m:r>
                      <a:rPr lang="en-US" altLang="zh-TW" sz="2800" b="0" i="1" smtClean="0">
                        <a:latin typeface="Cambria Math"/>
                        <a:ea typeface="Cambria Math"/>
                        <a:cs typeface="Times New Roman" pitchFamily="18" charset="0"/>
                      </a:rPr>
                      <m:t>,</m:t>
                    </m:r>
                    <m:r>
                      <a:rPr lang="en-US" altLang="zh-TW" sz="2800" b="0" i="1" smtClean="0">
                        <a:latin typeface="Cambria Math"/>
                        <a:ea typeface="Cambria Math"/>
                        <a:cs typeface="Times New Roman" pitchFamily="18" charset="0"/>
                      </a:rPr>
                      <m:t>𝑏</m:t>
                    </m:r>
                    <m:r>
                      <a:rPr lang="en-US" altLang="zh-TW" sz="2800" b="0" i="1" smtClean="0">
                        <a:latin typeface="Cambria Math"/>
                        <a:ea typeface="Cambria Math"/>
                        <a:cs typeface="Times New Roman" pitchFamily="18" charset="0"/>
                      </a:rPr>
                      <m:t>,</m:t>
                    </m:r>
                    <m:r>
                      <a:rPr lang="en-US" altLang="zh-TW" sz="2800" b="0" i="1" smtClean="0">
                        <a:latin typeface="Cambria Math"/>
                        <a:ea typeface="Cambria Math"/>
                        <a:cs typeface="Times New Roman" pitchFamily="18" charset="0"/>
                      </a:rPr>
                      <m:t>𝑐</m:t>
                    </m:r>
                    <m:r>
                      <a:rPr lang="en-US" altLang="zh-TW" sz="2800" b="0" i="1" smtClean="0">
                        <a:latin typeface="Cambria Math"/>
                        <a:ea typeface="Cambria Math"/>
                        <a:cs typeface="Times New Roman" pitchFamily="18" charset="0"/>
                      </a:rPr>
                      <m:t>,</m:t>
                    </m:r>
                    <m:r>
                      <a:rPr lang="en-US" altLang="zh-TW" sz="2800" b="0" i="1" smtClean="0">
                        <a:latin typeface="Cambria Math"/>
                        <a:ea typeface="Cambria Math"/>
                        <a:cs typeface="Times New Roman" pitchFamily="18" charset="0"/>
                      </a:rPr>
                      <m:t>𝑑</m:t>
                    </m:r>
                    <m:r>
                      <a:rPr lang="en-US" altLang="zh-TW" sz="2800" b="0" i="1" smtClean="0">
                        <a:latin typeface="Cambria Math"/>
                        <a:ea typeface="Cambria Math"/>
                        <a:cs typeface="Times New Roman" pitchFamily="18" charset="0"/>
                      </a:rPr>
                      <m:t>}</m:t>
                    </m:r>
                  </m:oMath>
                </a14:m>
                <a:endParaRPr lang="en-US" altLang="zh-TW" sz="2500" b="0" i="1" dirty="0" smtClean="0">
                  <a:latin typeface="Cambria Math"/>
                  <a:ea typeface="標楷體" pitchFamily="65" charset="-120"/>
                  <a:cs typeface="Times New Roman" pitchFamily="18" charset="0"/>
                </a:endParaRPr>
              </a:p>
              <a:p>
                <a14:m>
                  <m:oMath xmlns:m="http://schemas.openxmlformats.org/officeDocument/2006/math">
                    <m:r>
                      <a:rPr lang="en-US" altLang="zh-TW" sz="2500" b="0" i="1" smtClean="0">
                        <a:latin typeface="Cambria Math"/>
                        <a:ea typeface="標楷體" pitchFamily="65" charset="-120"/>
                        <a:cs typeface="Times New Roman" pitchFamily="18" charset="0"/>
                      </a:rPr>
                      <m:t>𝑃</m:t>
                    </m:r>
                    <m:r>
                      <a:rPr lang="en-US" altLang="zh-TW" sz="2500" b="0" i="1" smtClean="0">
                        <a:latin typeface="Cambria Math"/>
                        <a:ea typeface="標楷體" pitchFamily="65" charset="-120"/>
                        <a:cs typeface="Times New Roman" pitchFamily="18" charset="0"/>
                      </a:rPr>
                      <m:t>="</m:t>
                    </m:r>
                    <m:r>
                      <a:rPr lang="en-US" altLang="zh-TW" sz="2500" b="0" i="1" smtClean="0">
                        <a:latin typeface="Cambria Math"/>
                        <a:ea typeface="標楷體" pitchFamily="65" charset="-120"/>
                        <a:cs typeface="Times New Roman" pitchFamily="18" charset="0"/>
                      </a:rPr>
                      <m:t>𝑎𝑏𝑐𝑎𝑏</m:t>
                    </m:r>
                    <m:r>
                      <a:rPr lang="en-US" altLang="zh-TW" sz="2500" b="0" i="1" smtClean="0">
                        <a:latin typeface="Cambria Math"/>
                        <a:ea typeface="標楷體" pitchFamily="65" charset="-120"/>
                        <a:cs typeface="Times New Roman" pitchFamily="18" charset="0"/>
                      </a:rPr>
                      <m:t>"</m:t>
                    </m:r>
                  </m:oMath>
                </a14:m>
                <a:endParaRPr lang="en-US" altLang="zh-TW" sz="2500" b="0" i="1" dirty="0" smtClean="0">
                  <a:latin typeface="Cambria Math"/>
                  <a:ea typeface="標楷體" pitchFamily="65" charset="-120"/>
                  <a:cs typeface="Times New Roman" pitchFamily="18" charset="0"/>
                </a:endParaRPr>
              </a:p>
              <a:p>
                <a14:m>
                  <m:oMath xmlns:m="http://schemas.openxmlformats.org/officeDocument/2006/math">
                    <m:r>
                      <a:rPr lang="en-US" altLang="zh-TW" sz="2500" b="0" i="1" smtClean="0">
                        <a:latin typeface="Cambria Math"/>
                        <a:ea typeface="標楷體" pitchFamily="65" charset="-120"/>
                        <a:cs typeface="Times New Roman" pitchFamily="18" charset="0"/>
                      </a:rPr>
                      <m:t>𝑊</m:t>
                    </m:r>
                    <m:r>
                      <a:rPr lang="en-US" altLang="zh-TW" sz="2500" b="0" i="1" smtClean="0">
                        <a:latin typeface="Cambria Math"/>
                        <a:ea typeface="標楷體" pitchFamily="65" charset="-120"/>
                        <a:cs typeface="Times New Roman" pitchFamily="18" charset="0"/>
                      </a:rPr>
                      <m:t>=8</m:t>
                    </m:r>
                  </m:oMath>
                </a14:m>
                <a:endParaRPr lang="en-US" altLang="zh-TW" sz="2500" b="0" dirty="0" smtClean="0">
                  <a:latin typeface="Cambria Math"/>
                  <a:ea typeface="標楷體" pitchFamily="65" charset="-120"/>
                  <a:cs typeface="Times New Roman" pitchFamily="18" charset="0"/>
                </a:endParaRPr>
              </a:p>
              <a:p>
                <a14:m>
                  <m:oMath xmlns:m="http://schemas.openxmlformats.org/officeDocument/2006/math">
                    <m:r>
                      <a:rPr lang="en-US" altLang="zh-TW" sz="2500" b="0" i="1" smtClean="0">
                        <a:latin typeface="Cambria Math"/>
                        <a:ea typeface="標楷體" pitchFamily="65" charset="-120"/>
                        <a:cs typeface="Times New Roman" pitchFamily="18" charset="0"/>
                      </a:rPr>
                      <m:t>𝑤𝑠</m:t>
                    </m:r>
                    <m:r>
                      <a:rPr lang="en-US" altLang="zh-TW" sz="2500" b="0" i="1" smtClean="0">
                        <a:latin typeface="Cambria Math"/>
                        <a:ea typeface="標楷體" pitchFamily="65" charset="-120"/>
                        <a:cs typeface="Times New Roman" pitchFamily="18" charset="0"/>
                      </a:rPr>
                      <m:t>=</m:t>
                    </m:r>
                    <m:r>
                      <a:rPr lang="en-US" altLang="zh-TW" sz="2500" b="0" i="1" smtClean="0">
                        <a:latin typeface="Cambria Math"/>
                        <a:ea typeface="標楷體" pitchFamily="65" charset="-120"/>
                        <a:cs typeface="Times New Roman" pitchFamily="18" charset="0"/>
                      </a:rPr>
                      <m:t>𝑊</m:t>
                    </m:r>
                    <m:r>
                      <a:rPr lang="en-US" altLang="zh-TW" sz="2500" b="0" i="1" smtClean="0">
                        <a:latin typeface="Cambria Math"/>
                        <a:ea typeface="標楷體" pitchFamily="65" charset="-120"/>
                        <a:cs typeface="Times New Roman" pitchFamily="18" charset="0"/>
                      </a:rPr>
                      <m:t>+</m:t>
                    </m:r>
                    <m:r>
                      <a:rPr lang="en-US" altLang="zh-TW" sz="2500" b="0" i="1" smtClean="0">
                        <a:latin typeface="Cambria Math"/>
                        <a:ea typeface="標楷體" pitchFamily="65" charset="-120"/>
                        <a:cs typeface="Times New Roman" pitchFamily="18" charset="0"/>
                      </a:rPr>
                      <m:t>𝑚</m:t>
                    </m:r>
                    <m:r>
                      <a:rPr lang="en-US" altLang="zh-TW" sz="2500" b="0" i="1" smtClean="0">
                        <a:latin typeface="Cambria Math"/>
                        <a:ea typeface="標楷體" pitchFamily="65" charset="-120"/>
                        <a:cs typeface="Times New Roman" pitchFamily="18" charset="0"/>
                      </a:rPr>
                      <m:t>−1=12</m:t>
                    </m:r>
                  </m:oMath>
                </a14:m>
                <a:endParaRPr lang="en-US" altLang="zh-TW" sz="2500" b="0" dirty="0" smtClean="0">
                  <a:latin typeface="Times New Roman" pitchFamily="18" charset="0"/>
                  <a:ea typeface="標楷體" pitchFamily="65" charset="-120"/>
                  <a:cs typeface="Times New Roman" pitchFamily="18" charset="0"/>
                </a:endParaRPr>
              </a:p>
              <a:p>
                <a:r>
                  <a:rPr lang="zh-TW" altLang="en-US" sz="2500" dirty="0" smtClean="0">
                    <a:latin typeface="Times New Roman" pitchFamily="18" charset="0"/>
                    <a:ea typeface="標楷體" pitchFamily="65" charset="-120"/>
                    <a:cs typeface="Times New Roman" pitchFamily="18" charset="0"/>
                  </a:rPr>
                  <a:t>查詢</a:t>
                </a:r>
                <a:r>
                  <a:rPr lang="zh-TW" altLang="en-US" sz="2500" dirty="0">
                    <a:latin typeface="Times New Roman" pitchFamily="18" charset="0"/>
                    <a:ea typeface="標楷體" pitchFamily="65" charset="-120"/>
                    <a:cs typeface="Times New Roman" pitchFamily="18" charset="0"/>
                  </a:rPr>
                  <a:t>表 </a:t>
                </a:r>
                <a:r>
                  <a:rPr lang="en-US" altLang="zh-TW" sz="2500" dirty="0" smtClean="0">
                    <a:latin typeface="Times New Roman" pitchFamily="18" charset="0"/>
                    <a:ea typeface="標楷體" pitchFamily="65" charset="-120"/>
                    <a:cs typeface="Times New Roman" pitchFamily="18" charset="0"/>
                  </a:rPr>
                  <a:t>B, </a:t>
                </a:r>
                <a14:m>
                  <m:oMath xmlns:m="http://schemas.openxmlformats.org/officeDocument/2006/math">
                    <m:r>
                      <a:rPr lang="en-US" altLang="zh-TW" sz="2500" b="0" i="1" smtClean="0">
                        <a:latin typeface="Cambria Math"/>
                        <a:ea typeface="標楷體" pitchFamily="65" charset="-120"/>
                        <a:cs typeface="Times New Roman" pitchFamily="18" charset="0"/>
                      </a:rPr>
                      <m:t>𝐵</m:t>
                    </m:r>
                    <m:d>
                      <m:dPr>
                        <m:begChr m:val="["/>
                        <m:endChr m:val="]"/>
                        <m:ctrlPr>
                          <a:rPr lang="en-US" altLang="zh-TW" sz="2500" b="0" i="1" smtClean="0">
                            <a:latin typeface="Cambria Math"/>
                            <a:ea typeface="標楷體" pitchFamily="65" charset="-120"/>
                            <a:cs typeface="Times New Roman" pitchFamily="18" charset="0"/>
                          </a:rPr>
                        </m:ctrlPr>
                      </m:dPr>
                      <m:e>
                        <m:r>
                          <a:rPr lang="en-US" altLang="zh-TW" sz="2500" b="0" i="1" smtClean="0">
                            <a:latin typeface="Cambria Math"/>
                            <a:ea typeface="標楷體" pitchFamily="65" charset="-120"/>
                            <a:cs typeface="Times New Roman" pitchFamily="18" charset="0"/>
                          </a:rPr>
                          <m:t>𝑐</m:t>
                        </m:r>
                      </m:e>
                    </m:d>
                    <m:d>
                      <m:dPr>
                        <m:begChr m:val="["/>
                        <m:endChr m:val="]"/>
                        <m:ctrlPr>
                          <a:rPr lang="en-US" altLang="zh-TW" sz="2500" b="0" i="1" smtClean="0">
                            <a:latin typeface="Cambria Math"/>
                            <a:ea typeface="標楷體" pitchFamily="65" charset="-120"/>
                            <a:cs typeface="Times New Roman" pitchFamily="18" charset="0"/>
                          </a:rPr>
                        </m:ctrlPr>
                      </m:dPr>
                      <m:e>
                        <m:r>
                          <a:rPr lang="en-US" altLang="zh-TW" sz="2500" b="0" i="1" smtClean="0">
                            <a:latin typeface="Cambria Math"/>
                            <a:ea typeface="標楷體" pitchFamily="65" charset="-120"/>
                            <a:cs typeface="Times New Roman" pitchFamily="18" charset="0"/>
                          </a:rPr>
                          <m:t>7</m:t>
                        </m:r>
                      </m:e>
                    </m:d>
                    <m:r>
                      <a:rPr lang="en-US" altLang="zh-TW" sz="2500" b="0" i="1" smtClean="0">
                        <a:latin typeface="Cambria Math"/>
                        <a:ea typeface="標楷體" pitchFamily="65" charset="-120"/>
                        <a:cs typeface="Times New Roman" pitchFamily="18" charset="0"/>
                      </a:rPr>
                      <m:t>=00100111</m:t>
                    </m:r>
                  </m:oMath>
                </a14:m>
                <a:endParaRPr lang="en-US" altLang="zh-TW" sz="2500" dirty="0">
                  <a:latin typeface="Times New Roman" pitchFamily="18" charset="0"/>
                  <a:ea typeface="標楷體" pitchFamily="65" charset="-120"/>
                  <a:cs typeface="Times New Roman" pitchFamily="18" charset="0"/>
                </a:endParaRPr>
              </a:p>
              <a:p>
                <a:endParaRPr lang="en-US" altLang="zh-TW" sz="2500" dirty="0">
                  <a:latin typeface="Times New Roman" pitchFamily="18" charset="0"/>
                  <a:ea typeface="標楷體" pitchFamily="65" charset="-120"/>
                  <a:cs typeface="Times New Roman"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cstate="print"/>
                <a:stretch>
                  <a:fillRect l="-1037" t="-135"/>
                </a:stretch>
              </a:blipFill>
            </p:spPr>
            <p:txBody>
              <a:bodyPr/>
              <a:lstStyle/>
              <a:p>
                <a:r>
                  <a:rPr lang="zh-TW" altLang="en-US">
                    <a:noFill/>
                  </a:rPr>
                  <a:t> </a:t>
                </a:r>
              </a:p>
            </p:txBody>
          </p:sp>
        </mc:Fallback>
      </mc:AlternateContent>
      <p:pic>
        <p:nvPicPr>
          <p:cNvPr id="5122" name="Picture 2"/>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601634" y="28687"/>
            <a:ext cx="4434862" cy="354432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815307" y="3956788"/>
            <a:ext cx="6348981" cy="256855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576004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BLIM – </a:t>
            </a:r>
            <a:r>
              <a:rPr lang="zh-TW" altLang="en-US" dirty="0" smtClean="0">
                <a:latin typeface="Times New Roman" pitchFamily="18" charset="0"/>
                <a:ea typeface="標楷體" pitchFamily="65" charset="-120"/>
                <a:cs typeface="Times New Roman" pitchFamily="18" charset="0"/>
              </a:rPr>
              <a:t>前處理</a:t>
            </a:r>
            <a:r>
              <a:rPr lang="zh-TW" altLang="en-US" dirty="0">
                <a:latin typeface="Times New Roman" pitchFamily="18" charset="0"/>
                <a:ea typeface="標楷體" pitchFamily="65" charset="-120"/>
                <a:cs typeface="Times New Roman" pitchFamily="18" charset="0"/>
              </a:rPr>
              <a:t>階段</a:t>
            </a:r>
          </a:p>
        </p:txBody>
      </p:sp>
      <mc:AlternateContent xmlns:mc="http://schemas.openxmlformats.org/markup-compatibility/2006">
        <mc:Choice xmlns="" xmlns:a14="http://schemas.microsoft.com/office/drawing/2010/main" Requires="a14">
          <p:sp>
            <p:nvSpPr>
              <p:cNvPr id="3" name="內容版面配置區 2"/>
              <p:cNvSpPr>
                <a:spLocks noGrp="1"/>
              </p:cNvSpPr>
              <p:nvPr>
                <p:ph idx="1"/>
              </p:nvPr>
            </p:nvSpPr>
            <p:spPr/>
            <p:txBody>
              <a:bodyPr/>
              <a:lstStyle/>
              <a:p>
                <a:r>
                  <a:rPr lang="zh-TW" altLang="en-US" sz="2500" dirty="0" smtClean="0">
                    <a:latin typeface="Times New Roman" pitchFamily="18" charset="0"/>
                    <a:ea typeface="標楷體" pitchFamily="65" charset="-120"/>
                    <a:cs typeface="Times New Roman" pitchFamily="18" charset="0"/>
                  </a:rPr>
                  <a:t>位移表 </a:t>
                </a:r>
                <a:r>
                  <a:rPr lang="en-US" altLang="zh-TW" sz="2500" dirty="0" smtClean="0">
                    <a:latin typeface="Times New Roman" pitchFamily="18" charset="0"/>
                    <a:ea typeface="標楷體" pitchFamily="65" charset="-120"/>
                    <a:cs typeface="Times New Roman" pitchFamily="18" charset="0"/>
                  </a:rPr>
                  <a:t>S (</a:t>
                </a:r>
                <a:r>
                  <a:rPr lang="zh-TW" altLang="en-US" sz="2500" dirty="0" smtClean="0">
                    <a:latin typeface="Times New Roman" pitchFamily="18" charset="0"/>
                    <a:ea typeface="標楷體" pitchFamily="65" charset="-120"/>
                    <a:cs typeface="Times New Roman" pitchFamily="18" charset="0"/>
                  </a:rPr>
                  <a:t>計算移動視窗的下個位置</a:t>
                </a:r>
                <a:r>
                  <a:rPr lang="en-US" altLang="zh-TW" sz="2500" dirty="0" smtClean="0">
                    <a:latin typeface="Times New Roman" pitchFamily="18" charset="0"/>
                    <a:ea typeface="標楷體" pitchFamily="65" charset="-120"/>
                    <a:cs typeface="Times New Roman" pitchFamily="18" charset="0"/>
                  </a:rPr>
                  <a:t>)</a:t>
                </a:r>
              </a:p>
              <a:p>
                <a:pPr lvl="1"/>
                <a14:m>
                  <m:oMath xmlns:m="http://schemas.openxmlformats.org/officeDocument/2006/math">
                    <m:r>
                      <a:rPr lang="en-US" altLang="zh-TW" sz="2400" b="0" i="1" smtClean="0">
                        <a:latin typeface="Cambria Math"/>
                        <a:ea typeface="標楷體" pitchFamily="65" charset="-120"/>
                        <a:cs typeface="Times New Roman" pitchFamily="18" charset="0"/>
                      </a:rPr>
                      <m:t>𝑤𝑠</m:t>
                    </m:r>
                    <m:r>
                      <a:rPr lang="en-US" altLang="zh-TW" sz="2400" b="0" i="1" smtClean="0">
                        <a:latin typeface="Cambria Math"/>
                        <a:ea typeface="標楷體" pitchFamily="65" charset="-120"/>
                        <a:cs typeface="Times New Roman" pitchFamily="18" charset="0"/>
                      </a:rPr>
                      <m:t>=12, </m:t>
                    </m:r>
                    <m:r>
                      <a:rPr lang="en-US" altLang="zh-TW" sz="2400" b="0" i="1" smtClean="0">
                        <a:latin typeface="Cambria Math"/>
                        <a:ea typeface="標楷體" pitchFamily="65" charset="-120"/>
                        <a:cs typeface="Times New Roman" pitchFamily="18" charset="0"/>
                      </a:rPr>
                      <m:t>𝑃</m:t>
                    </m:r>
                    <m:r>
                      <a:rPr lang="en-US" altLang="zh-TW" sz="2400" b="0" i="1" smtClean="0">
                        <a:latin typeface="Cambria Math"/>
                        <a:ea typeface="標楷體" pitchFamily="65" charset="-120"/>
                        <a:cs typeface="Times New Roman" pitchFamily="18" charset="0"/>
                      </a:rPr>
                      <m:t>="</m:t>
                    </m:r>
                    <m:r>
                      <a:rPr lang="en-US" altLang="zh-TW" sz="2400" b="0" i="1" smtClean="0">
                        <a:latin typeface="Cambria Math"/>
                        <a:ea typeface="標楷體" pitchFamily="65" charset="-120"/>
                        <a:cs typeface="Times New Roman" pitchFamily="18" charset="0"/>
                      </a:rPr>
                      <m:t>𝑎𝑏𝑐𝑎𝑏</m:t>
                    </m:r>
                    <m:r>
                      <a:rPr lang="en-US" altLang="zh-TW" sz="2400" b="0" i="1" smtClean="0">
                        <a:latin typeface="Cambria Math"/>
                        <a:ea typeface="標楷體" pitchFamily="65" charset="-120"/>
                        <a:cs typeface="Times New Roman" pitchFamily="18" charset="0"/>
                      </a:rPr>
                      <m:t>"</m:t>
                    </m:r>
                  </m:oMath>
                </a14:m>
                <a:endParaRPr lang="en-US" altLang="zh-TW" sz="2400" dirty="0">
                  <a:latin typeface="Cambria Math"/>
                  <a:ea typeface="標楷體" pitchFamily="65" charset="-120"/>
                  <a:cs typeface="Times New Roman" pitchFamily="18" charset="0"/>
                </a:endParaRPr>
              </a:p>
              <a:p>
                <a:pPr marL="457200" lvl="1" indent="0">
                  <a:buNone/>
                </a:pPr>
                <a:endParaRPr lang="en-US" altLang="zh-TW" sz="2100" dirty="0" smtClean="0">
                  <a:latin typeface="Times New Roman" pitchFamily="18" charset="0"/>
                  <a:ea typeface="標楷體" pitchFamily="65" charset="-120"/>
                  <a:cs typeface="Times New Roman" pitchFamily="18" charset="0"/>
                </a:endParaRPr>
              </a:p>
              <a:p>
                <a:endParaRPr lang="en-US" altLang="zh-TW" sz="2500" dirty="0" smtClean="0">
                  <a:latin typeface="Times New Roman" pitchFamily="18" charset="0"/>
                  <a:ea typeface="標楷體" pitchFamily="65" charset="-120"/>
                  <a:cs typeface="Times New Roman" pitchFamily="18" charset="0"/>
                </a:endParaRPr>
              </a:p>
              <a:p>
                <a:endParaRPr lang="en-US" altLang="zh-TW" sz="2500" dirty="0">
                  <a:latin typeface="Times New Roman" pitchFamily="18" charset="0"/>
                  <a:ea typeface="標楷體" pitchFamily="65" charset="-120"/>
                  <a:cs typeface="Times New Roman" pitchFamily="18" charset="0"/>
                </a:endParaRPr>
              </a:p>
              <a:p>
                <a:endParaRPr lang="en-US" altLang="zh-TW" sz="2500" dirty="0" smtClean="0">
                  <a:latin typeface="Times New Roman" pitchFamily="18" charset="0"/>
                  <a:ea typeface="標楷體" pitchFamily="65" charset="-120"/>
                  <a:cs typeface="Times New Roman" pitchFamily="18" charset="0"/>
                </a:endParaRPr>
              </a:p>
              <a:p>
                <a:pPr marL="0" indent="0">
                  <a:buNone/>
                </a:pPr>
                <a:endParaRPr lang="en-US" altLang="zh-TW" sz="2500" dirty="0">
                  <a:latin typeface="Times New Roman" pitchFamily="18" charset="0"/>
                  <a:ea typeface="標楷體" pitchFamily="65" charset="-120"/>
                  <a:cs typeface="Times New Roman" pitchFamily="18" charset="0"/>
                </a:endParaRPr>
              </a:p>
              <a:p>
                <a:r>
                  <a:rPr lang="zh-TW" altLang="en-US" sz="2500" dirty="0" smtClean="0">
                    <a:latin typeface="Times New Roman" pitchFamily="18" charset="0"/>
                    <a:ea typeface="標楷體" pitchFamily="65" charset="-120"/>
                    <a:cs typeface="Times New Roman" pitchFamily="18" charset="0"/>
                  </a:rPr>
                  <a:t>順序表 </a:t>
                </a:r>
                <a:r>
                  <a:rPr lang="en-US" altLang="zh-TW" sz="2500" dirty="0" smtClean="0">
                    <a:latin typeface="Times New Roman" pitchFamily="18" charset="0"/>
                    <a:ea typeface="標楷體" pitchFamily="65" charset="-120"/>
                    <a:cs typeface="Times New Roman" pitchFamily="18" charset="0"/>
                  </a:rPr>
                  <a:t>I (</a:t>
                </a:r>
                <a:r>
                  <a:rPr lang="zh-TW" altLang="en-US" sz="2500" dirty="0" smtClean="0">
                    <a:latin typeface="Times New Roman" pitchFamily="18" charset="0"/>
                    <a:ea typeface="標楷體" pitchFamily="65" charset="-120"/>
                    <a:cs typeface="Times New Roman" pitchFamily="18" charset="0"/>
                  </a:rPr>
                  <a:t>計算移動視窗中讀入符號的順序</a:t>
                </a:r>
                <a:r>
                  <a:rPr lang="en-US" altLang="zh-TW" sz="2500" dirty="0" smtClean="0">
                    <a:latin typeface="Times New Roman" pitchFamily="18" charset="0"/>
                    <a:ea typeface="標楷體" pitchFamily="65" charset="-120"/>
                    <a:cs typeface="Times New Roman" pitchFamily="18" charset="0"/>
                  </a:rPr>
                  <a:t>)</a:t>
                </a:r>
              </a:p>
              <a:p>
                <a:pPr lvl="1"/>
                <a:r>
                  <a:rPr lang="zh-TW" altLang="en-US" sz="2100" dirty="0" smtClean="0">
                    <a:latin typeface="Times New Roman" pitchFamily="18" charset="0"/>
                    <a:ea typeface="標楷體" pitchFamily="65" charset="-120"/>
                    <a:cs typeface="Times New Roman" pitchFamily="18" charset="0"/>
                  </a:rPr>
                  <a:t>避免移動視窗最左邊與最右邊有太多的重複比對</a:t>
                </a:r>
                <a:endParaRPr lang="en-US" altLang="zh-TW" sz="2100" dirty="0" smtClean="0">
                  <a:latin typeface="Times New Roman" pitchFamily="18" charset="0"/>
                  <a:ea typeface="標楷體" pitchFamily="65" charset="-120"/>
                  <a:cs typeface="Times New Roman" pitchFamily="18" charset="0"/>
                </a:endParaRPr>
              </a:p>
              <a:p>
                <a:pPr lvl="1"/>
                <a14:m>
                  <m:oMath xmlns:m="http://schemas.openxmlformats.org/officeDocument/2006/math">
                    <m:r>
                      <a:rPr lang="en-US" altLang="zh-TW" sz="2100" b="0" i="1" smtClean="0">
                        <a:latin typeface="Cambria Math"/>
                        <a:ea typeface="標楷體" pitchFamily="65" charset="-120"/>
                        <a:cs typeface="Times New Roman" pitchFamily="18" charset="0"/>
                      </a:rPr>
                      <m:t>𝑚</m:t>
                    </m:r>
                    <m:r>
                      <a:rPr lang="en-US" altLang="zh-TW" sz="2100" b="0" i="1" smtClean="0">
                        <a:latin typeface="Cambria Math"/>
                        <a:ea typeface="標楷體" pitchFamily="65" charset="-120"/>
                        <a:cs typeface="Times New Roman" pitchFamily="18" charset="0"/>
                      </a:rPr>
                      <m:t>−</m:t>
                    </m:r>
                    <m:r>
                      <a:rPr lang="en-US" altLang="zh-TW" sz="2100" b="0" i="1" smtClean="0">
                        <a:latin typeface="Cambria Math"/>
                        <a:ea typeface="標楷體" pitchFamily="65" charset="-120"/>
                        <a:cs typeface="Times New Roman" pitchFamily="18" charset="0"/>
                      </a:rPr>
                      <m:t>𝑖</m:t>
                    </m:r>
                    <m:r>
                      <a:rPr lang="en-US" altLang="zh-TW" sz="2100" b="0" i="1" smtClean="0">
                        <a:latin typeface="Cambria Math"/>
                        <a:ea typeface="標楷體" pitchFamily="65" charset="-120"/>
                        <a:cs typeface="Times New Roman" pitchFamily="18" charset="0"/>
                      </a:rPr>
                      <m:t>, 2</m:t>
                    </m:r>
                    <m:r>
                      <a:rPr lang="en-US" altLang="zh-TW" sz="2100" b="0" i="1" smtClean="0">
                        <a:latin typeface="Cambria Math"/>
                        <a:ea typeface="標楷體" pitchFamily="65" charset="-120"/>
                        <a:cs typeface="Times New Roman" pitchFamily="18" charset="0"/>
                      </a:rPr>
                      <m:t>𝑚</m:t>
                    </m:r>
                    <m:r>
                      <a:rPr lang="en-US" altLang="zh-TW" sz="2100" b="0" i="1" smtClean="0">
                        <a:latin typeface="Cambria Math"/>
                        <a:ea typeface="標楷體" pitchFamily="65" charset="-120"/>
                        <a:cs typeface="Times New Roman" pitchFamily="18" charset="0"/>
                      </a:rPr>
                      <m:t>−</m:t>
                    </m:r>
                    <m:r>
                      <a:rPr lang="en-US" altLang="zh-TW" sz="2100" b="0" i="1" smtClean="0">
                        <a:latin typeface="Cambria Math"/>
                        <a:ea typeface="標楷體" pitchFamily="65" charset="-120"/>
                        <a:cs typeface="Times New Roman" pitchFamily="18" charset="0"/>
                      </a:rPr>
                      <m:t>𝑖</m:t>
                    </m:r>
                    <m:r>
                      <a:rPr lang="en-US" altLang="zh-TW" sz="2100" b="0" i="1" smtClean="0">
                        <a:latin typeface="Cambria Math"/>
                        <a:ea typeface="標楷體" pitchFamily="65" charset="-120"/>
                        <a:cs typeface="Times New Roman" pitchFamily="18" charset="0"/>
                      </a:rPr>
                      <m:t>,…,</m:t>
                    </m:r>
                    <m:r>
                      <a:rPr lang="en-US" altLang="zh-TW" sz="2100" b="0" i="1" smtClean="0">
                        <a:latin typeface="Cambria Math"/>
                        <a:ea typeface="標楷體" pitchFamily="65" charset="-120"/>
                        <a:cs typeface="Times New Roman" pitchFamily="18" charset="0"/>
                      </a:rPr>
                      <m:t>𝑧𝑚</m:t>
                    </m:r>
                    <m:r>
                      <a:rPr lang="en-US" altLang="zh-TW" sz="2100" b="0" i="1" smtClean="0">
                        <a:latin typeface="Cambria Math"/>
                        <a:ea typeface="標楷體" pitchFamily="65" charset="-120"/>
                        <a:cs typeface="Times New Roman" pitchFamily="18" charset="0"/>
                      </a:rPr>
                      <m:t>−</m:t>
                    </m:r>
                    <m:r>
                      <a:rPr lang="en-US" altLang="zh-TW" sz="2100" b="0" i="1" smtClean="0">
                        <a:latin typeface="Cambria Math"/>
                        <a:ea typeface="標楷體" pitchFamily="65" charset="-120"/>
                        <a:cs typeface="Times New Roman" pitchFamily="18" charset="0"/>
                      </a:rPr>
                      <m:t>𝑖</m:t>
                    </m:r>
                    <m:r>
                      <a:rPr lang="zh-TW" altLang="en-US" sz="2100" b="0" i="1" smtClean="0">
                        <a:latin typeface="Cambria Math"/>
                        <a:ea typeface="標楷體" pitchFamily="65" charset="-120"/>
                        <a:cs typeface="Times New Roman" pitchFamily="18" charset="0"/>
                      </a:rPr>
                      <m:t>，</m:t>
                    </m:r>
                    <m:r>
                      <a:rPr lang="en-US" altLang="zh-TW" sz="2100" b="0" i="1" smtClean="0">
                        <a:latin typeface="Cambria Math"/>
                        <a:ea typeface="標楷體" pitchFamily="65" charset="-120"/>
                        <a:cs typeface="Times New Roman" pitchFamily="18" charset="0"/>
                      </a:rPr>
                      <m:t>𝑧𝑚</m:t>
                    </m:r>
                    <m:r>
                      <a:rPr lang="en-US" altLang="zh-TW" sz="2100" b="0" i="1" smtClean="0">
                        <a:latin typeface="Cambria Math"/>
                        <a:ea typeface="標楷體" pitchFamily="65" charset="-120"/>
                        <a:cs typeface="Times New Roman" pitchFamily="18" charset="0"/>
                      </a:rPr>
                      <m:t>−</m:t>
                    </m:r>
                    <m:r>
                      <a:rPr lang="en-US" altLang="zh-TW" sz="2100" b="0" i="1" smtClean="0">
                        <a:latin typeface="Cambria Math"/>
                        <a:ea typeface="標楷體" pitchFamily="65" charset="-120"/>
                        <a:cs typeface="Times New Roman" pitchFamily="18" charset="0"/>
                      </a:rPr>
                      <m:t>𝑖</m:t>
                    </m:r>
                    <m:r>
                      <a:rPr lang="en-US" altLang="zh-TW" sz="2100" b="0" i="1" smtClean="0">
                        <a:latin typeface="Cambria Math"/>
                        <a:ea typeface="標楷體" pitchFamily="65" charset="-120"/>
                        <a:cs typeface="Times New Roman" pitchFamily="18" charset="0"/>
                      </a:rPr>
                      <m:t>&lt;</m:t>
                    </m:r>
                    <m:r>
                      <a:rPr lang="en-US" altLang="zh-TW" sz="2100" b="0" i="1" smtClean="0">
                        <a:latin typeface="Cambria Math"/>
                        <a:ea typeface="標楷體" pitchFamily="65" charset="-120"/>
                        <a:cs typeface="Times New Roman" pitchFamily="18" charset="0"/>
                      </a:rPr>
                      <m:t>𝑤𝑠</m:t>
                    </m:r>
                    <m:r>
                      <a:rPr lang="zh-TW" altLang="en-US" sz="2100" b="0" i="1" smtClean="0">
                        <a:latin typeface="Cambria Math"/>
                        <a:ea typeface="標楷體" pitchFamily="65" charset="-120"/>
                        <a:cs typeface="Times New Roman" pitchFamily="18" charset="0"/>
                      </a:rPr>
                      <m:t>，</m:t>
                    </m:r>
                    <m:r>
                      <a:rPr lang="en-US" altLang="zh-TW" sz="2100" b="0" i="1" smtClean="0">
                        <a:latin typeface="Cambria Math"/>
                        <a:ea typeface="標楷體" pitchFamily="65" charset="-120"/>
                        <a:cs typeface="Times New Roman" pitchFamily="18" charset="0"/>
                      </a:rPr>
                      <m:t>𝑖</m:t>
                    </m:r>
                    <m:r>
                      <a:rPr lang="en-US" altLang="zh-TW" sz="2100" b="0" i="1" smtClean="0">
                        <a:latin typeface="Cambria Math"/>
                        <a:ea typeface="標楷體" pitchFamily="65" charset="-120"/>
                        <a:cs typeface="Times New Roman" pitchFamily="18" charset="0"/>
                      </a:rPr>
                      <m:t>=1, 2,…,</m:t>
                    </m:r>
                    <m:r>
                      <a:rPr lang="en-US" altLang="zh-TW" sz="2100" b="0" i="1" smtClean="0">
                        <a:latin typeface="Cambria Math"/>
                        <a:ea typeface="標楷體" pitchFamily="65" charset="-120"/>
                        <a:cs typeface="Times New Roman" pitchFamily="18" charset="0"/>
                      </a:rPr>
                      <m:t>𝑚</m:t>
                    </m:r>
                  </m:oMath>
                </a14:m>
                <a:endParaRPr lang="en-US" altLang="zh-TW" sz="2100" b="0" dirty="0" smtClean="0">
                  <a:latin typeface="Times New Roman" pitchFamily="18" charset="0"/>
                  <a:ea typeface="標楷體" pitchFamily="65" charset="-120"/>
                  <a:cs typeface="Times New Roman" pitchFamily="18" charset="0"/>
                </a:endParaRPr>
              </a:p>
              <a:p>
                <a:pPr lvl="1"/>
                <a:r>
                  <a:rPr lang="en-US" altLang="zh-TW" sz="2100" dirty="0" smtClean="0">
                    <a:latin typeface="Times New Roman" pitchFamily="18" charset="0"/>
                    <a:ea typeface="標楷體" pitchFamily="65" charset="-120"/>
                    <a:cs typeface="Times New Roman" pitchFamily="18" charset="0"/>
                  </a:rPr>
                  <a:t>Ex: 4, 9, 3, 8, 2, 7, 1, 6, 11, 0, 5, 10</a:t>
                </a:r>
              </a:p>
              <a:p>
                <a:endParaRPr lang="en-US" altLang="zh-TW" sz="2500" dirty="0" smtClean="0">
                  <a:latin typeface="Times New Roman" pitchFamily="18" charset="0"/>
                  <a:ea typeface="標楷體" pitchFamily="65" charset="-120"/>
                  <a:cs typeface="Times New Roman"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cstate="print"/>
                <a:stretch>
                  <a:fillRect l="-1037" t="-1078" b="-7143"/>
                </a:stretch>
              </a:blipFill>
            </p:spPr>
            <p:txBody>
              <a:bodyPr/>
              <a:lstStyle/>
              <a:p>
                <a:r>
                  <a:rPr lang="zh-TW" altLang="en-US">
                    <a:noFill/>
                  </a:rPr>
                  <a:t> </a:t>
                </a:r>
              </a:p>
            </p:txBody>
          </p:sp>
        </mc:Fallback>
      </mc:AlternateContent>
      <mc:AlternateContent xmlns:mc="http://schemas.openxmlformats.org/markup-compatibility/2006">
        <mc:Choice xmlns="" xmlns:a14="http://schemas.microsoft.com/office/drawing/2010/main" Requires="a14">
          <p:graphicFrame>
            <p:nvGraphicFramePr>
              <p:cNvPr id="4" name="表格 3"/>
              <p:cNvGraphicFramePr>
                <a:graphicFrameLocks noGrp="1"/>
              </p:cNvGraphicFramePr>
              <p:nvPr>
                <p:extLst>
                  <p:ext uri="{D42A27DB-BD31-4B8C-83A1-F6EECF244321}">
                    <p14:modId xmlns:p14="http://schemas.microsoft.com/office/powerpoint/2010/main" val="1484683103"/>
                  </p:ext>
                </p:extLst>
              </p:nvPr>
            </p:nvGraphicFramePr>
            <p:xfrm>
              <a:off x="971600" y="2654920"/>
              <a:ext cx="4896544" cy="1854200"/>
            </p:xfrm>
            <a:graphic>
              <a:graphicData uri="http://schemas.openxmlformats.org/drawingml/2006/table">
                <a:tbl>
                  <a:tblPr firstRow="1" bandRow="1">
                    <a:tableStyleId>{5C22544A-7EE6-4342-B048-85BDC9FD1C3A}</a:tableStyleId>
                  </a:tblPr>
                  <a:tblGrid>
                    <a:gridCol w="2448272"/>
                    <a:gridCol w="2448272"/>
                  </a:tblGrid>
                  <a:tr h="370840">
                    <a:tc>
                      <a:txBody>
                        <a:bodyPr/>
                        <a:lstStyle/>
                        <a:p>
                          <a:pPr algn="ctr"/>
                          <a:r>
                            <a:rPr lang="zh-TW" altLang="en-US" dirty="0" smtClean="0">
                              <a:latin typeface="Times New Roman" pitchFamily="18" charset="0"/>
                              <a:ea typeface="標楷體" pitchFamily="65" charset="-120"/>
                              <a:cs typeface="Times New Roman" pitchFamily="18" charset="0"/>
                            </a:rPr>
                            <a:t>符號</a:t>
                          </a:r>
                          <a:endParaRPr lang="zh-TW" altLang="en-US" dirty="0">
                            <a:latin typeface="Times New Roman" pitchFamily="18" charset="0"/>
                            <a:ea typeface="標楷體" pitchFamily="65" charset="-120"/>
                            <a:cs typeface="Times New Roman" pitchFamily="18" charset="0"/>
                          </a:endParaRPr>
                        </a:p>
                      </a:txBody>
                      <a:tcPr/>
                    </a:tc>
                    <a:tc>
                      <a:txBody>
                        <a:bodyPr/>
                        <a:lstStyle/>
                        <a:p>
                          <a:pPr algn="ctr"/>
                          <a:r>
                            <a:rPr lang="zh-TW" altLang="en-US" dirty="0" smtClean="0">
                              <a:latin typeface="Times New Roman" pitchFamily="18" charset="0"/>
                              <a:ea typeface="標楷體" pitchFamily="65" charset="-120"/>
                              <a:cs typeface="Times New Roman" pitchFamily="18" charset="0"/>
                            </a:rPr>
                            <a:t>位移值</a:t>
                          </a:r>
                          <a:endParaRPr lang="zh-TW" altLang="en-US" dirty="0">
                            <a:latin typeface="Times New Roman" pitchFamily="18" charset="0"/>
                            <a:ea typeface="標楷體" pitchFamily="65" charset="-120"/>
                            <a:cs typeface="Times New Roman" pitchFamily="18" charset="0"/>
                          </a:endParaRPr>
                        </a:p>
                      </a:txBody>
                      <a:tcPr/>
                    </a:tc>
                  </a:tr>
                  <a:tr h="370840">
                    <a:tc>
                      <a:txBody>
                        <a:bodyPr/>
                        <a:lstStyle/>
                        <a:p>
                          <a:pPr algn="ctr"/>
                          <a:r>
                            <a:rPr lang="en-US" altLang="zh-TW" dirty="0" smtClean="0">
                              <a:latin typeface="Times New Roman" pitchFamily="18" charset="0"/>
                              <a:ea typeface="標楷體" pitchFamily="65" charset="-120"/>
                              <a:cs typeface="Times New Roman" pitchFamily="18" charset="0"/>
                            </a:rPr>
                            <a:t>a</a:t>
                          </a:r>
                          <a:endParaRPr lang="zh-TW" altLang="en-US" dirty="0">
                            <a:latin typeface="Times New Roman" pitchFamily="18" charset="0"/>
                            <a:ea typeface="標楷體" pitchFamily="65" charset="-120"/>
                            <a:cs typeface="Times New Roman" pitchFamily="18" charset="0"/>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latin typeface="Cambria Math"/>
                                    <a:ea typeface="標楷體" pitchFamily="65" charset="-120"/>
                                    <a:cs typeface="Times New Roman" pitchFamily="18" charset="0"/>
                                  </a:rPr>
                                  <m:t>9=12−</m:t>
                                </m:r>
                                <m:r>
                                  <m:rPr>
                                    <m:sty m:val="p"/>
                                  </m:rPr>
                                  <a:rPr lang="en-US" altLang="zh-TW" b="0" i="0" smtClean="0">
                                    <a:latin typeface="Cambria Math"/>
                                    <a:ea typeface="標楷體" pitchFamily="65" charset="-120"/>
                                    <a:cs typeface="Times New Roman" pitchFamily="18" charset="0"/>
                                  </a:rPr>
                                  <m:t>max</m:t>
                                </m:r>
                                <m:r>
                                  <a:rPr lang="en-US" altLang="zh-TW" b="0" i="1" smtClean="0">
                                    <a:latin typeface="Cambria Math"/>
                                    <a:ea typeface="標楷體" pitchFamily="65" charset="-120"/>
                                    <a:cs typeface="Times New Roman" pitchFamily="18" charset="0"/>
                                  </a:rPr>
                                  <m:t>⁡(0, 3)</m:t>
                                </m:r>
                              </m:oMath>
                            </m:oMathPara>
                          </a14:m>
                          <a:endParaRPr lang="zh-TW" altLang="en-US" dirty="0">
                            <a:latin typeface="Times New Roman" pitchFamily="18" charset="0"/>
                            <a:ea typeface="標楷體" pitchFamily="65" charset="-120"/>
                            <a:cs typeface="Times New Roman" pitchFamily="18" charset="0"/>
                          </a:endParaRPr>
                        </a:p>
                      </a:txBody>
                      <a:tcPr/>
                    </a:tc>
                  </a:tr>
                  <a:tr h="370840">
                    <a:tc>
                      <a:txBody>
                        <a:bodyPr/>
                        <a:lstStyle/>
                        <a:p>
                          <a:pPr algn="ctr"/>
                          <a:r>
                            <a:rPr lang="en-US" altLang="zh-TW" dirty="0" smtClean="0">
                              <a:latin typeface="Times New Roman" pitchFamily="18" charset="0"/>
                              <a:ea typeface="標楷體" pitchFamily="65" charset="-120"/>
                              <a:cs typeface="Times New Roman" pitchFamily="18" charset="0"/>
                            </a:rPr>
                            <a:t>b</a:t>
                          </a:r>
                          <a:endParaRPr lang="zh-TW" altLang="en-US" dirty="0">
                            <a:latin typeface="Times New Roman" pitchFamily="18" charset="0"/>
                            <a:ea typeface="標楷體" pitchFamily="65" charset="-120"/>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latin typeface="Cambria Math"/>
                                    <a:ea typeface="標楷體" pitchFamily="65" charset="-120"/>
                                    <a:cs typeface="Times New Roman" pitchFamily="18" charset="0"/>
                                  </a:rPr>
                                  <m:t>8=12−</m:t>
                                </m:r>
                                <m:r>
                                  <m:rPr>
                                    <m:sty m:val="p"/>
                                  </m:rPr>
                                  <a:rPr lang="en-US" altLang="zh-TW" b="0" i="0" smtClean="0">
                                    <a:latin typeface="Cambria Math"/>
                                    <a:ea typeface="標楷體" pitchFamily="65" charset="-120"/>
                                    <a:cs typeface="Times New Roman" pitchFamily="18" charset="0"/>
                                  </a:rPr>
                                  <m:t>max</m:t>
                                </m:r>
                                <m:r>
                                  <a:rPr lang="en-US" altLang="zh-TW" b="0" i="1" smtClean="0">
                                    <a:latin typeface="Cambria Math"/>
                                    <a:ea typeface="標楷體" pitchFamily="65" charset="-120"/>
                                    <a:cs typeface="Times New Roman" pitchFamily="18" charset="0"/>
                                  </a:rPr>
                                  <m:t>⁡(1, 4)</m:t>
                                </m:r>
                              </m:oMath>
                            </m:oMathPara>
                          </a14:m>
                          <a:endParaRPr lang="zh-TW" altLang="en-US" dirty="0">
                            <a:latin typeface="Times New Roman" pitchFamily="18" charset="0"/>
                            <a:ea typeface="標楷體" pitchFamily="65" charset="-120"/>
                            <a:cs typeface="Times New Roman" pitchFamily="18" charset="0"/>
                          </a:endParaRPr>
                        </a:p>
                      </a:txBody>
                      <a:tcPr/>
                    </a:tc>
                  </a:tr>
                  <a:tr h="370840">
                    <a:tc>
                      <a:txBody>
                        <a:bodyPr/>
                        <a:lstStyle/>
                        <a:p>
                          <a:pPr algn="ctr"/>
                          <a:r>
                            <a:rPr lang="en-US" altLang="zh-TW" dirty="0" smtClean="0">
                              <a:latin typeface="Times New Roman" pitchFamily="18" charset="0"/>
                              <a:ea typeface="標楷體" pitchFamily="65" charset="-120"/>
                              <a:cs typeface="Times New Roman" pitchFamily="18" charset="0"/>
                            </a:rPr>
                            <a:t>c</a:t>
                          </a:r>
                          <a:endParaRPr lang="zh-TW" altLang="en-US" dirty="0">
                            <a:latin typeface="Times New Roman" pitchFamily="18" charset="0"/>
                            <a:ea typeface="標楷體" pitchFamily="65" charset="-120"/>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b="0" i="1" smtClean="0">
                                    <a:latin typeface="Cambria Math"/>
                                    <a:ea typeface="標楷體" pitchFamily="65" charset="-120"/>
                                    <a:cs typeface="Times New Roman" pitchFamily="18" charset="0"/>
                                  </a:rPr>
                                  <m:t>10=12−</m:t>
                                </m:r>
                                <m:r>
                                  <m:rPr>
                                    <m:sty m:val="p"/>
                                  </m:rPr>
                                  <a:rPr lang="en-US" altLang="zh-TW" b="0" i="0" smtClean="0">
                                    <a:latin typeface="Cambria Math"/>
                                    <a:ea typeface="標楷體" pitchFamily="65" charset="-120"/>
                                    <a:cs typeface="Times New Roman" pitchFamily="18" charset="0"/>
                                  </a:rPr>
                                  <m:t>max</m:t>
                                </m:r>
                                <m:r>
                                  <a:rPr lang="en-US" altLang="zh-TW" b="0" i="1" smtClean="0">
                                    <a:latin typeface="Cambria Math"/>
                                    <a:ea typeface="標楷體" pitchFamily="65" charset="-120"/>
                                    <a:cs typeface="Times New Roman" pitchFamily="18" charset="0"/>
                                  </a:rPr>
                                  <m:t>⁡(2)</m:t>
                                </m:r>
                              </m:oMath>
                            </m:oMathPara>
                          </a14:m>
                          <a:endParaRPr lang="zh-TW" altLang="en-US" dirty="0">
                            <a:latin typeface="Times New Roman" pitchFamily="18" charset="0"/>
                            <a:ea typeface="標楷體" pitchFamily="65" charset="-120"/>
                            <a:cs typeface="Times New Roman" pitchFamily="18" charset="0"/>
                          </a:endParaRPr>
                        </a:p>
                      </a:txBody>
                      <a:tcPr/>
                    </a:tc>
                  </a:tr>
                  <a:tr h="370840">
                    <a:tc>
                      <a:txBody>
                        <a:bodyPr/>
                        <a:lstStyle/>
                        <a:p>
                          <a:pPr algn="ctr"/>
                          <a:r>
                            <a:rPr lang="en-US" altLang="zh-TW" dirty="0" smtClean="0">
                              <a:latin typeface="Times New Roman" pitchFamily="18" charset="0"/>
                              <a:ea typeface="標楷體" pitchFamily="65" charset="-120"/>
                              <a:cs typeface="Times New Roman" pitchFamily="18" charset="0"/>
                            </a:rPr>
                            <a:t>d</a:t>
                          </a:r>
                          <a:endParaRPr lang="zh-TW" altLang="en-US" dirty="0">
                            <a:latin typeface="Times New Roman" pitchFamily="18" charset="0"/>
                            <a:ea typeface="標楷體" pitchFamily="65" charset="-120"/>
                            <a:cs typeface="Times New Roman" pitchFamily="18" charset="0"/>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TW" b="0" i="1" smtClean="0">
                                    <a:latin typeface="Cambria Math"/>
                                    <a:ea typeface="標楷體" pitchFamily="65" charset="-120"/>
                                    <a:cs typeface="Times New Roman" pitchFamily="18" charset="0"/>
                                  </a:rPr>
                                  <m:t>13=12+1</m:t>
                                </m:r>
                              </m:oMath>
                            </m:oMathPara>
                          </a14:m>
                          <a:endParaRPr lang="zh-TW" altLang="en-US" dirty="0">
                            <a:latin typeface="Times New Roman" pitchFamily="18" charset="0"/>
                            <a:ea typeface="標楷體" pitchFamily="65" charset="-120"/>
                            <a:cs typeface="Times New Roman" pitchFamily="18" charset="0"/>
                          </a:endParaRPr>
                        </a:p>
                      </a:txBody>
                      <a:tcPr/>
                    </a:tc>
                  </a:tr>
                </a:tbl>
              </a:graphicData>
            </a:graphic>
          </p:graphicFrame>
        </mc:Choice>
        <mc:Fallback>
          <p:graphicFrame>
            <p:nvGraphicFramePr>
              <p:cNvPr id="4" name="表格 3"/>
              <p:cNvGraphicFramePr>
                <a:graphicFrameLocks noGrp="1"/>
              </p:cNvGraphicFramePr>
              <p:nvPr>
                <p:extLst>
                  <p:ext uri="{D42A27DB-BD31-4B8C-83A1-F6EECF244321}">
                    <p14:modId xmlns:a14="http://schemas.microsoft.com/office/drawing/2010/main" xmlns="" xmlns:p14="http://schemas.microsoft.com/office/powerpoint/2010/main" val="1484683103"/>
                  </p:ext>
                </p:extLst>
              </p:nvPr>
            </p:nvGraphicFramePr>
            <p:xfrm>
              <a:off x="971600" y="2654920"/>
              <a:ext cx="4896544" cy="1854200"/>
            </p:xfrm>
            <a:graphic>
              <a:graphicData uri="http://schemas.openxmlformats.org/drawingml/2006/table">
                <a:tbl>
                  <a:tblPr firstRow="1" bandRow="1">
                    <a:tableStyleId>{5C22544A-7EE6-4342-B048-85BDC9FD1C3A}</a:tableStyleId>
                  </a:tblPr>
                  <a:tblGrid>
                    <a:gridCol w="2448272"/>
                    <a:gridCol w="2448272"/>
                  </a:tblGrid>
                  <a:tr h="370840">
                    <a:tc>
                      <a:txBody>
                        <a:bodyPr/>
                        <a:lstStyle/>
                        <a:p>
                          <a:pPr algn="ctr"/>
                          <a:r>
                            <a:rPr lang="zh-TW" altLang="en-US" dirty="0" smtClean="0">
                              <a:latin typeface="Times New Roman" pitchFamily="18" charset="0"/>
                              <a:ea typeface="標楷體" pitchFamily="65" charset="-120"/>
                              <a:cs typeface="Times New Roman" pitchFamily="18" charset="0"/>
                            </a:rPr>
                            <a:t>符號</a:t>
                          </a:r>
                          <a:endParaRPr lang="zh-TW" altLang="en-US" dirty="0">
                            <a:latin typeface="Times New Roman" pitchFamily="18" charset="0"/>
                            <a:ea typeface="標楷體" pitchFamily="65" charset="-120"/>
                            <a:cs typeface="Times New Roman" pitchFamily="18" charset="0"/>
                          </a:endParaRPr>
                        </a:p>
                      </a:txBody>
                      <a:tcPr/>
                    </a:tc>
                    <a:tc>
                      <a:txBody>
                        <a:bodyPr/>
                        <a:lstStyle/>
                        <a:p>
                          <a:pPr algn="ctr"/>
                          <a:r>
                            <a:rPr lang="zh-TW" altLang="en-US" dirty="0" smtClean="0">
                              <a:latin typeface="Times New Roman" pitchFamily="18" charset="0"/>
                              <a:ea typeface="標楷體" pitchFamily="65" charset="-120"/>
                              <a:cs typeface="Times New Roman" pitchFamily="18" charset="0"/>
                            </a:rPr>
                            <a:t>位移值</a:t>
                          </a:r>
                          <a:endParaRPr lang="zh-TW" altLang="en-US" dirty="0">
                            <a:latin typeface="Times New Roman" pitchFamily="18" charset="0"/>
                            <a:ea typeface="標楷體" pitchFamily="65" charset="-120"/>
                            <a:cs typeface="Times New Roman" pitchFamily="18" charset="0"/>
                          </a:endParaRPr>
                        </a:p>
                      </a:txBody>
                      <a:tcPr/>
                    </a:tc>
                  </a:tr>
                  <a:tr h="370840">
                    <a:tc>
                      <a:txBody>
                        <a:bodyPr/>
                        <a:lstStyle/>
                        <a:p>
                          <a:pPr algn="ctr"/>
                          <a:r>
                            <a:rPr lang="en-US" altLang="zh-TW" dirty="0" smtClean="0">
                              <a:latin typeface="Times New Roman" pitchFamily="18" charset="0"/>
                              <a:ea typeface="標楷體" pitchFamily="65" charset="-120"/>
                              <a:cs typeface="Times New Roman" pitchFamily="18" charset="0"/>
                            </a:rPr>
                            <a:t>a</a:t>
                          </a:r>
                          <a:endParaRPr lang="zh-TW" altLang="en-US" dirty="0">
                            <a:latin typeface="Times New Roman" pitchFamily="18" charset="0"/>
                            <a:ea typeface="標楷體" pitchFamily="65" charset="-120"/>
                            <a:cs typeface="Times New Roman" pitchFamily="18" charset="0"/>
                          </a:endParaRPr>
                        </a:p>
                      </a:txBody>
                      <a:tcPr/>
                    </a:tc>
                    <a:tc>
                      <a:txBody>
                        <a:bodyPr/>
                        <a:lstStyle/>
                        <a:p>
                          <a:endParaRPr lang="zh-TW"/>
                        </a:p>
                      </a:txBody>
                      <a:tcPr>
                        <a:blipFill rotWithShape="1">
                          <a:blip r:embed="rId3"/>
                          <a:stretch>
                            <a:fillRect l="-100000" t="-106557" b="-322951"/>
                          </a:stretch>
                        </a:blipFill>
                      </a:tcPr>
                    </a:tc>
                  </a:tr>
                  <a:tr h="370840">
                    <a:tc>
                      <a:txBody>
                        <a:bodyPr/>
                        <a:lstStyle/>
                        <a:p>
                          <a:pPr algn="ctr"/>
                          <a:r>
                            <a:rPr lang="en-US" altLang="zh-TW" dirty="0" smtClean="0">
                              <a:latin typeface="Times New Roman" pitchFamily="18" charset="0"/>
                              <a:ea typeface="標楷體" pitchFamily="65" charset="-120"/>
                              <a:cs typeface="Times New Roman" pitchFamily="18" charset="0"/>
                            </a:rPr>
                            <a:t>b</a:t>
                          </a:r>
                          <a:endParaRPr lang="zh-TW" altLang="en-US" dirty="0">
                            <a:latin typeface="Times New Roman" pitchFamily="18" charset="0"/>
                            <a:ea typeface="標楷體" pitchFamily="65" charset="-120"/>
                            <a:cs typeface="Times New Roman" pitchFamily="18" charset="0"/>
                          </a:endParaRPr>
                        </a:p>
                      </a:txBody>
                      <a:tcPr/>
                    </a:tc>
                    <a:tc>
                      <a:txBody>
                        <a:bodyPr/>
                        <a:lstStyle/>
                        <a:p>
                          <a:endParaRPr lang="zh-TW"/>
                        </a:p>
                      </a:txBody>
                      <a:tcPr>
                        <a:blipFill rotWithShape="1">
                          <a:blip r:embed="rId3"/>
                          <a:stretch>
                            <a:fillRect l="-100000" t="-210000" b="-228333"/>
                          </a:stretch>
                        </a:blipFill>
                      </a:tcPr>
                    </a:tc>
                  </a:tr>
                  <a:tr h="370840">
                    <a:tc>
                      <a:txBody>
                        <a:bodyPr/>
                        <a:lstStyle/>
                        <a:p>
                          <a:pPr algn="ctr"/>
                          <a:r>
                            <a:rPr lang="en-US" altLang="zh-TW" dirty="0" smtClean="0">
                              <a:latin typeface="Times New Roman" pitchFamily="18" charset="0"/>
                              <a:ea typeface="標楷體" pitchFamily="65" charset="-120"/>
                              <a:cs typeface="Times New Roman" pitchFamily="18" charset="0"/>
                            </a:rPr>
                            <a:t>c</a:t>
                          </a:r>
                          <a:endParaRPr lang="zh-TW" altLang="en-US" dirty="0">
                            <a:latin typeface="Times New Roman" pitchFamily="18" charset="0"/>
                            <a:ea typeface="標楷體" pitchFamily="65" charset="-120"/>
                            <a:cs typeface="Times New Roman" pitchFamily="18" charset="0"/>
                          </a:endParaRPr>
                        </a:p>
                      </a:txBody>
                      <a:tcPr/>
                    </a:tc>
                    <a:tc>
                      <a:txBody>
                        <a:bodyPr/>
                        <a:lstStyle/>
                        <a:p>
                          <a:endParaRPr lang="zh-TW"/>
                        </a:p>
                      </a:txBody>
                      <a:tcPr>
                        <a:blipFill rotWithShape="1">
                          <a:blip r:embed="rId3"/>
                          <a:stretch>
                            <a:fillRect l="-100000" t="-304918" b="-124590"/>
                          </a:stretch>
                        </a:blipFill>
                      </a:tcPr>
                    </a:tc>
                  </a:tr>
                  <a:tr h="370840">
                    <a:tc>
                      <a:txBody>
                        <a:bodyPr/>
                        <a:lstStyle/>
                        <a:p>
                          <a:pPr algn="ctr"/>
                          <a:r>
                            <a:rPr lang="en-US" altLang="zh-TW" dirty="0" smtClean="0">
                              <a:latin typeface="Times New Roman" pitchFamily="18" charset="0"/>
                              <a:ea typeface="標楷體" pitchFamily="65" charset="-120"/>
                              <a:cs typeface="Times New Roman" pitchFamily="18" charset="0"/>
                            </a:rPr>
                            <a:t>d</a:t>
                          </a:r>
                          <a:endParaRPr lang="zh-TW" altLang="en-US" dirty="0">
                            <a:latin typeface="Times New Roman" pitchFamily="18" charset="0"/>
                            <a:ea typeface="標楷體" pitchFamily="65" charset="-120"/>
                            <a:cs typeface="Times New Roman" pitchFamily="18" charset="0"/>
                          </a:endParaRPr>
                        </a:p>
                      </a:txBody>
                      <a:tcPr/>
                    </a:tc>
                    <a:tc>
                      <a:txBody>
                        <a:bodyPr/>
                        <a:lstStyle/>
                        <a:p>
                          <a:endParaRPr lang="zh-TW"/>
                        </a:p>
                      </a:txBody>
                      <a:tcPr>
                        <a:blipFill rotWithShape="1">
                          <a:blip r:embed="rId3"/>
                          <a:stretch>
                            <a:fillRect l="-100000" t="-404918" b="-24590"/>
                          </a:stretch>
                        </a:blipFill>
                      </a:tcPr>
                    </a:tc>
                  </a:tr>
                </a:tbl>
              </a:graphicData>
            </a:graphic>
          </p:graphicFrame>
        </mc:Fallback>
      </mc:AlternateContent>
    </p:spTree>
    <p:extLst>
      <p:ext uri="{BB962C8B-B14F-4D97-AF65-F5344CB8AC3E}">
        <p14:creationId xmlns="" xmlns:p14="http://schemas.microsoft.com/office/powerpoint/2010/main" val="12759395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BLIM – </a:t>
            </a:r>
            <a:r>
              <a:rPr lang="zh-TW" altLang="en-US" dirty="0" smtClean="0">
                <a:latin typeface="Times New Roman" pitchFamily="18" charset="0"/>
                <a:ea typeface="標楷體" pitchFamily="65" charset="-120"/>
                <a:cs typeface="Times New Roman" pitchFamily="18" charset="0"/>
              </a:rPr>
              <a:t>比對階段</a:t>
            </a:r>
            <a:endParaRPr lang="zh-TW" altLang="en-US" dirty="0">
              <a:latin typeface="Times New Roman" pitchFamily="18" charset="0"/>
              <a:ea typeface="標楷體" pitchFamily="65" charset="-120"/>
              <a:cs typeface="Times New Roman" pitchFamily="18" charset="0"/>
            </a:endParaRPr>
          </a:p>
        </p:txBody>
      </p:sp>
      <mc:AlternateContent xmlns:mc="http://schemas.openxmlformats.org/markup-compatibility/2006">
        <mc:Choice xmlns="" xmlns:a14="http://schemas.microsoft.com/office/drawing/2010/main" Requires="a14">
          <p:sp>
            <p:nvSpPr>
              <p:cNvPr id="3" name="內容版面配置區 2"/>
              <p:cNvSpPr>
                <a:spLocks noGrp="1"/>
              </p:cNvSpPr>
              <p:nvPr>
                <p:ph idx="1"/>
              </p:nvPr>
            </p:nvSpPr>
            <p:spPr/>
            <p:txBody>
              <a:bodyPr/>
              <a:lstStyle/>
              <a:p>
                <a:r>
                  <a:rPr lang="zh-TW" altLang="en-US" sz="2500" dirty="0" smtClean="0">
                    <a:latin typeface="Times New Roman" pitchFamily="18" charset="0"/>
                    <a:ea typeface="標楷體" pitchFamily="65" charset="-120"/>
                    <a:cs typeface="Times New Roman" pitchFamily="18" charset="0"/>
                  </a:rPr>
                  <a:t>比對狀態值</a:t>
                </a:r>
                <a:r>
                  <a:rPr lang="en-US" altLang="zh-TW" sz="2500" dirty="0">
                    <a:latin typeface="Times New Roman" pitchFamily="18" charset="0"/>
                    <a:ea typeface="標楷體" pitchFamily="65" charset="-120"/>
                    <a:cs typeface="Times New Roman" pitchFamily="18" charset="0"/>
                  </a:rPr>
                  <a:t> </a:t>
                </a:r>
                <a:r>
                  <a:rPr lang="en-US" altLang="zh-TW" sz="2500" dirty="0" smtClean="0">
                    <a:latin typeface="Times New Roman" pitchFamily="18" charset="0"/>
                    <a:ea typeface="標楷體" pitchFamily="65" charset="-120"/>
                    <a:cs typeface="Times New Roman" pitchFamily="18" charset="0"/>
                  </a:rPr>
                  <a:t>D (W </a:t>
                </a:r>
                <a:r>
                  <a:rPr lang="zh-TW" altLang="en-US" sz="2500" dirty="0" smtClean="0">
                    <a:latin typeface="Times New Roman" pitchFamily="18" charset="0"/>
                    <a:ea typeface="標楷體" pitchFamily="65" charset="-120"/>
                    <a:cs typeface="Times New Roman" pitchFamily="18" charset="0"/>
                  </a:rPr>
                  <a:t>位元</a:t>
                </a:r>
                <a:r>
                  <a:rPr lang="en-US" altLang="zh-TW" sz="2500" dirty="0" smtClean="0">
                    <a:latin typeface="Times New Roman" pitchFamily="18" charset="0"/>
                    <a:ea typeface="標楷體" pitchFamily="65" charset="-120"/>
                    <a:cs typeface="Times New Roman" pitchFamily="18" charset="0"/>
                  </a:rPr>
                  <a:t>)</a:t>
                </a:r>
              </a:p>
              <a:p>
                <a14:m>
                  <m:oMath xmlns:m="http://schemas.openxmlformats.org/officeDocument/2006/math">
                    <m:r>
                      <a:rPr lang="en-US" altLang="zh-TW" sz="2500" i="1">
                        <a:latin typeface="Cambria Math"/>
                        <a:ea typeface="標楷體" pitchFamily="65" charset="-120"/>
                        <a:cs typeface="Times New Roman" pitchFamily="18" charset="0"/>
                      </a:rPr>
                      <m:t>𝐷</m:t>
                    </m:r>
                    <m:r>
                      <a:rPr lang="en-US" altLang="zh-TW" sz="2500" b="0" i="1" dirty="0" smtClean="0">
                        <a:latin typeface="Cambria Math"/>
                        <a:ea typeface="標楷體" pitchFamily="65" charset="-120"/>
                        <a:cs typeface="Times New Roman" pitchFamily="18" charset="0"/>
                      </a:rPr>
                      <m:t>=</m:t>
                    </m:r>
                    <m:r>
                      <a:rPr lang="en-US" altLang="zh-TW" sz="2500" b="0" i="1" dirty="0" smtClean="0">
                        <a:latin typeface="Cambria Math"/>
                        <a:ea typeface="標楷體" pitchFamily="65" charset="-120"/>
                        <a:cs typeface="Times New Roman" pitchFamily="18" charset="0"/>
                      </a:rPr>
                      <m:t>𝐵</m:t>
                    </m:r>
                    <m:d>
                      <m:dPr>
                        <m:begChr m:val="["/>
                        <m:endChr m:val="]"/>
                        <m:ctrlPr>
                          <a:rPr lang="en-US" altLang="zh-TW" sz="2500" b="0" i="1" dirty="0" smtClean="0">
                            <a:latin typeface="Cambria Math"/>
                            <a:ea typeface="標楷體" pitchFamily="65" charset="-120"/>
                            <a:cs typeface="Times New Roman" pitchFamily="18" charset="0"/>
                          </a:rPr>
                        </m:ctrlPr>
                      </m:dPr>
                      <m:e>
                        <m:r>
                          <a:rPr lang="en-US" altLang="zh-TW" sz="2500" b="0" i="1" dirty="0" smtClean="0">
                            <a:latin typeface="Cambria Math"/>
                            <a:ea typeface="標楷體" pitchFamily="65" charset="-120"/>
                            <a:cs typeface="Times New Roman" pitchFamily="18" charset="0"/>
                          </a:rPr>
                          <m:t>𝑇</m:t>
                        </m:r>
                        <m:d>
                          <m:dPr>
                            <m:begChr m:val="["/>
                            <m:endChr m:val="]"/>
                            <m:ctrlPr>
                              <a:rPr lang="en-US" altLang="zh-TW" sz="2500" b="0" i="1" dirty="0" smtClean="0">
                                <a:latin typeface="Cambria Math"/>
                                <a:ea typeface="標楷體" pitchFamily="65" charset="-120"/>
                                <a:cs typeface="Times New Roman" pitchFamily="18" charset="0"/>
                              </a:rPr>
                            </m:ctrlPr>
                          </m:dPr>
                          <m:e>
                            <m:r>
                              <a:rPr lang="en-US" altLang="zh-TW" sz="2500" b="0" i="1" dirty="0" smtClean="0">
                                <a:latin typeface="Cambria Math"/>
                                <a:ea typeface="標楷體" pitchFamily="65" charset="-120"/>
                                <a:cs typeface="Times New Roman" pitchFamily="18" charset="0"/>
                              </a:rPr>
                              <m:t>𝑖</m:t>
                            </m:r>
                            <m:r>
                              <a:rPr lang="en-US" altLang="zh-TW" sz="2500" b="0" i="1" dirty="0" smtClean="0">
                                <a:latin typeface="Cambria Math"/>
                                <a:ea typeface="標楷體" pitchFamily="65" charset="-120"/>
                                <a:cs typeface="Times New Roman" pitchFamily="18" charset="0"/>
                              </a:rPr>
                              <m:t>+</m:t>
                            </m:r>
                            <m:r>
                              <a:rPr lang="en-US" altLang="zh-TW" sz="2500" b="0" i="1" dirty="0" smtClean="0">
                                <a:latin typeface="Cambria Math"/>
                                <a:ea typeface="標楷體" pitchFamily="65" charset="-120"/>
                                <a:cs typeface="Times New Roman" pitchFamily="18" charset="0"/>
                              </a:rPr>
                              <m:t>𝐼</m:t>
                            </m:r>
                            <m:d>
                              <m:dPr>
                                <m:begChr m:val="["/>
                                <m:endChr m:val="]"/>
                                <m:ctrlPr>
                                  <a:rPr lang="en-US" altLang="zh-TW" sz="2500" b="0" i="1" dirty="0" smtClean="0">
                                    <a:latin typeface="Cambria Math"/>
                                    <a:ea typeface="標楷體" pitchFamily="65" charset="-120"/>
                                    <a:cs typeface="Times New Roman" pitchFamily="18" charset="0"/>
                                  </a:rPr>
                                </m:ctrlPr>
                              </m:dPr>
                              <m:e>
                                <m:r>
                                  <a:rPr lang="en-US" altLang="zh-TW" sz="2500" b="0" i="1" dirty="0" smtClean="0">
                                    <a:latin typeface="Cambria Math"/>
                                    <a:ea typeface="標楷體" pitchFamily="65" charset="-120"/>
                                    <a:cs typeface="Times New Roman" pitchFamily="18" charset="0"/>
                                  </a:rPr>
                                  <m:t>0</m:t>
                                </m:r>
                              </m:e>
                            </m:d>
                          </m:e>
                        </m:d>
                      </m:e>
                    </m:d>
                    <m:d>
                      <m:dPr>
                        <m:begChr m:val="["/>
                        <m:endChr m:val="]"/>
                        <m:ctrlPr>
                          <a:rPr lang="en-US" altLang="zh-TW" sz="2500" b="0" i="1" dirty="0" smtClean="0">
                            <a:latin typeface="Cambria Math"/>
                            <a:ea typeface="標楷體" pitchFamily="65" charset="-120"/>
                            <a:cs typeface="Times New Roman" pitchFamily="18" charset="0"/>
                          </a:rPr>
                        </m:ctrlPr>
                      </m:dPr>
                      <m:e>
                        <m:r>
                          <a:rPr lang="en-US" altLang="zh-TW" sz="2500" b="0" i="1" dirty="0" smtClean="0">
                            <a:latin typeface="Cambria Math"/>
                            <a:ea typeface="標楷體" pitchFamily="65" charset="-120"/>
                            <a:cs typeface="Times New Roman" pitchFamily="18" charset="0"/>
                          </a:rPr>
                          <m:t>𝐼</m:t>
                        </m:r>
                        <m:d>
                          <m:dPr>
                            <m:begChr m:val="["/>
                            <m:endChr m:val="]"/>
                            <m:ctrlPr>
                              <a:rPr lang="en-US" altLang="zh-TW" sz="2500" b="0" i="1" dirty="0" smtClean="0">
                                <a:latin typeface="Cambria Math"/>
                                <a:ea typeface="標楷體" pitchFamily="65" charset="-120"/>
                                <a:cs typeface="Times New Roman" pitchFamily="18" charset="0"/>
                              </a:rPr>
                            </m:ctrlPr>
                          </m:dPr>
                          <m:e>
                            <m:r>
                              <a:rPr lang="en-US" altLang="zh-TW" sz="2500" b="0" i="1" dirty="0" smtClean="0">
                                <a:latin typeface="Cambria Math"/>
                                <a:ea typeface="標楷體" pitchFamily="65" charset="-120"/>
                                <a:cs typeface="Times New Roman" pitchFamily="18" charset="0"/>
                              </a:rPr>
                              <m:t>0</m:t>
                            </m:r>
                          </m:e>
                        </m:d>
                      </m:e>
                    </m:d>
                    <m:r>
                      <a:rPr lang="en-US" altLang="zh-TW" sz="2500" i="1" dirty="0">
                        <a:latin typeface="Cambria Math"/>
                        <a:ea typeface="標楷體" pitchFamily="65" charset="-120"/>
                        <a:cs typeface="Times New Roman" pitchFamily="18" charset="0"/>
                      </a:rPr>
                      <m:t>,</m:t>
                    </m:r>
                    <m:r>
                      <a:rPr lang="en-US" altLang="zh-TW" sz="2500" i="1" dirty="0">
                        <a:latin typeface="Cambria Math"/>
                        <a:ea typeface="標楷體" pitchFamily="65" charset="-120"/>
                        <a:cs typeface="Times New Roman" pitchFamily="18" charset="0"/>
                      </a:rPr>
                      <m:t>𝑖𝑛𝑖𝑡𝑖𝑎𝑙𝑖𝑧𝑎𝑡𝑖𝑜𝑛</m:t>
                    </m:r>
                  </m:oMath>
                </a14:m>
                <a:endParaRPr lang="en-US" altLang="zh-TW" sz="2500" dirty="0" smtClean="0">
                  <a:latin typeface="Times New Roman" pitchFamily="18" charset="0"/>
                  <a:ea typeface="標楷體" pitchFamily="65" charset="-120"/>
                  <a:cs typeface="Times New Roman" pitchFamily="18" charset="0"/>
                </a:endParaRPr>
              </a:p>
              <a:p>
                <a14:m>
                  <m:oMath xmlns:m="http://schemas.openxmlformats.org/officeDocument/2006/math">
                    <m:r>
                      <a:rPr lang="en-US" altLang="zh-TW" sz="2500" b="0" i="1" smtClean="0">
                        <a:latin typeface="Cambria Math"/>
                        <a:ea typeface="標楷體" pitchFamily="65" charset="-120"/>
                        <a:cs typeface="Times New Roman" pitchFamily="18" charset="0"/>
                      </a:rPr>
                      <m:t>𝐷</m:t>
                    </m:r>
                    <m:r>
                      <a:rPr lang="en-US" altLang="zh-TW" sz="2500" b="0" i="1" smtClean="0">
                        <a:latin typeface="Cambria Math"/>
                        <a:ea typeface="標楷體" pitchFamily="65" charset="-120"/>
                        <a:cs typeface="Times New Roman" pitchFamily="18" charset="0"/>
                      </a:rPr>
                      <m:t>=</m:t>
                    </m:r>
                    <m:r>
                      <a:rPr lang="en-US" altLang="zh-TW" sz="2500" b="0" i="1" smtClean="0">
                        <a:latin typeface="Cambria Math"/>
                        <a:ea typeface="標楷體" pitchFamily="65" charset="-120"/>
                        <a:cs typeface="Times New Roman" pitchFamily="18" charset="0"/>
                      </a:rPr>
                      <m:t>𝐷</m:t>
                    </m:r>
                    <m:r>
                      <a:rPr lang="en-US" altLang="zh-TW" sz="2500" b="0" i="1" smtClean="0">
                        <a:latin typeface="Cambria Math"/>
                        <a:ea typeface="標楷體" pitchFamily="65" charset="-120"/>
                        <a:cs typeface="Times New Roman" pitchFamily="18" charset="0"/>
                      </a:rPr>
                      <m:t> &amp; </m:t>
                    </m:r>
                    <m:r>
                      <a:rPr lang="en-US" altLang="zh-TW" sz="2500" i="1" dirty="0">
                        <a:latin typeface="Cambria Math"/>
                        <a:ea typeface="標楷體" pitchFamily="65" charset="-120"/>
                        <a:cs typeface="Times New Roman" pitchFamily="18" charset="0"/>
                      </a:rPr>
                      <m:t>𝐵</m:t>
                    </m:r>
                    <m:d>
                      <m:dPr>
                        <m:begChr m:val="["/>
                        <m:endChr m:val="]"/>
                        <m:ctrlPr>
                          <a:rPr lang="en-US" altLang="zh-TW" sz="2500" i="1" dirty="0">
                            <a:latin typeface="Cambria Math"/>
                            <a:ea typeface="標楷體" pitchFamily="65" charset="-120"/>
                            <a:cs typeface="Times New Roman" pitchFamily="18" charset="0"/>
                          </a:rPr>
                        </m:ctrlPr>
                      </m:dPr>
                      <m:e>
                        <m:r>
                          <a:rPr lang="en-US" altLang="zh-TW" sz="2500" i="1" dirty="0">
                            <a:latin typeface="Cambria Math"/>
                            <a:ea typeface="標楷體" pitchFamily="65" charset="-120"/>
                            <a:cs typeface="Times New Roman" pitchFamily="18" charset="0"/>
                          </a:rPr>
                          <m:t>𝑇</m:t>
                        </m:r>
                        <m:d>
                          <m:dPr>
                            <m:begChr m:val="["/>
                            <m:endChr m:val="]"/>
                            <m:ctrlPr>
                              <a:rPr lang="en-US" altLang="zh-TW" sz="2500" i="1" dirty="0">
                                <a:latin typeface="Cambria Math"/>
                                <a:ea typeface="標楷體" pitchFamily="65" charset="-120"/>
                                <a:cs typeface="Times New Roman" pitchFamily="18" charset="0"/>
                              </a:rPr>
                            </m:ctrlPr>
                          </m:dPr>
                          <m:e>
                            <m:r>
                              <a:rPr lang="en-US" altLang="zh-TW" sz="2500" i="1" dirty="0">
                                <a:latin typeface="Cambria Math"/>
                                <a:ea typeface="標楷體" pitchFamily="65" charset="-120"/>
                                <a:cs typeface="Times New Roman" pitchFamily="18" charset="0"/>
                              </a:rPr>
                              <m:t>𝑖</m:t>
                            </m:r>
                            <m:r>
                              <a:rPr lang="en-US" altLang="zh-TW" sz="2500" i="1" dirty="0">
                                <a:latin typeface="Cambria Math"/>
                                <a:ea typeface="標楷體" pitchFamily="65" charset="-120"/>
                                <a:cs typeface="Times New Roman" pitchFamily="18" charset="0"/>
                              </a:rPr>
                              <m:t>+</m:t>
                            </m:r>
                            <m:r>
                              <a:rPr lang="en-US" altLang="zh-TW" sz="2500" i="1" dirty="0">
                                <a:latin typeface="Cambria Math"/>
                                <a:ea typeface="標楷體" pitchFamily="65" charset="-120"/>
                                <a:cs typeface="Times New Roman" pitchFamily="18" charset="0"/>
                              </a:rPr>
                              <m:t>𝐼</m:t>
                            </m:r>
                            <m:d>
                              <m:dPr>
                                <m:begChr m:val="["/>
                                <m:endChr m:val="]"/>
                                <m:ctrlPr>
                                  <a:rPr lang="en-US" altLang="zh-TW" sz="2500" i="1" dirty="0">
                                    <a:latin typeface="Cambria Math"/>
                                    <a:ea typeface="標楷體" pitchFamily="65" charset="-120"/>
                                    <a:cs typeface="Times New Roman" pitchFamily="18" charset="0"/>
                                  </a:rPr>
                                </m:ctrlPr>
                              </m:dPr>
                              <m:e>
                                <m:r>
                                  <a:rPr lang="en-US" altLang="zh-TW" sz="2500" b="0" i="1" dirty="0" smtClean="0">
                                    <a:latin typeface="Cambria Math"/>
                                    <a:ea typeface="標楷體" pitchFamily="65" charset="-120"/>
                                    <a:cs typeface="Times New Roman" pitchFamily="18" charset="0"/>
                                  </a:rPr>
                                  <m:t>𝑗</m:t>
                                </m:r>
                              </m:e>
                            </m:d>
                          </m:e>
                        </m:d>
                      </m:e>
                    </m:d>
                    <m:d>
                      <m:dPr>
                        <m:begChr m:val="["/>
                        <m:endChr m:val="]"/>
                        <m:ctrlPr>
                          <a:rPr lang="en-US" altLang="zh-TW" sz="2500" i="1" dirty="0">
                            <a:latin typeface="Cambria Math"/>
                            <a:ea typeface="標楷體" pitchFamily="65" charset="-120"/>
                            <a:cs typeface="Times New Roman" pitchFamily="18" charset="0"/>
                          </a:rPr>
                        </m:ctrlPr>
                      </m:dPr>
                      <m:e>
                        <m:r>
                          <a:rPr lang="en-US" altLang="zh-TW" sz="2500" i="1" dirty="0">
                            <a:latin typeface="Cambria Math"/>
                            <a:ea typeface="標楷體" pitchFamily="65" charset="-120"/>
                            <a:cs typeface="Times New Roman" pitchFamily="18" charset="0"/>
                          </a:rPr>
                          <m:t>𝐼</m:t>
                        </m:r>
                        <m:d>
                          <m:dPr>
                            <m:begChr m:val="["/>
                            <m:endChr m:val="]"/>
                            <m:ctrlPr>
                              <a:rPr lang="en-US" altLang="zh-TW" sz="2500" i="1" dirty="0">
                                <a:latin typeface="Cambria Math"/>
                                <a:ea typeface="標楷體" pitchFamily="65" charset="-120"/>
                                <a:cs typeface="Times New Roman" pitchFamily="18" charset="0"/>
                              </a:rPr>
                            </m:ctrlPr>
                          </m:dPr>
                          <m:e>
                            <m:r>
                              <a:rPr lang="en-US" altLang="zh-TW" sz="2500" b="0" i="1" dirty="0" smtClean="0">
                                <a:latin typeface="Cambria Math"/>
                                <a:ea typeface="標楷體" pitchFamily="65" charset="-120"/>
                                <a:cs typeface="Times New Roman" pitchFamily="18" charset="0"/>
                              </a:rPr>
                              <m:t>𝑗</m:t>
                            </m:r>
                          </m:e>
                        </m:d>
                      </m:e>
                    </m:d>
                    <m:r>
                      <a:rPr lang="en-US" altLang="zh-TW" sz="2500" b="0" i="1" dirty="0" smtClean="0">
                        <a:latin typeface="Cambria Math"/>
                        <a:ea typeface="標楷體" pitchFamily="65" charset="-120"/>
                        <a:cs typeface="Times New Roman" pitchFamily="18" charset="0"/>
                      </a:rPr>
                      <m:t>, 0&lt;</m:t>
                    </m:r>
                    <m:r>
                      <a:rPr lang="en-US" altLang="zh-TW" sz="2500" b="0" i="1" dirty="0" smtClean="0">
                        <a:latin typeface="Cambria Math"/>
                        <a:ea typeface="標楷體" pitchFamily="65" charset="-120"/>
                        <a:cs typeface="Times New Roman" pitchFamily="18" charset="0"/>
                      </a:rPr>
                      <m:t>𝑗</m:t>
                    </m:r>
                    <m:r>
                      <a:rPr lang="en-US" altLang="zh-TW" sz="2500" b="0" i="1" dirty="0" smtClean="0">
                        <a:latin typeface="Cambria Math"/>
                        <a:ea typeface="標楷體" pitchFamily="65" charset="-120"/>
                        <a:cs typeface="Times New Roman" pitchFamily="18" charset="0"/>
                      </a:rPr>
                      <m:t>&lt;</m:t>
                    </m:r>
                    <m:r>
                      <a:rPr lang="en-US" altLang="zh-TW" sz="2500" b="0" i="1" dirty="0" smtClean="0">
                        <a:latin typeface="Cambria Math"/>
                        <a:ea typeface="標楷體" pitchFamily="65" charset="-120"/>
                        <a:cs typeface="Times New Roman" pitchFamily="18" charset="0"/>
                      </a:rPr>
                      <m:t>𝑤𝑠</m:t>
                    </m:r>
                  </m:oMath>
                </a14:m>
                <a:endParaRPr lang="en-US" altLang="zh-TW" sz="2500" dirty="0" smtClean="0">
                  <a:latin typeface="Times New Roman" pitchFamily="18" charset="0"/>
                  <a:ea typeface="標楷體" pitchFamily="65" charset="-120"/>
                  <a:cs typeface="Times New Roman" pitchFamily="18" charset="0"/>
                </a:endParaRPr>
              </a:p>
              <a:p>
                <a14:m>
                  <m:oMath xmlns:m="http://schemas.openxmlformats.org/officeDocument/2006/math">
                    <m:r>
                      <a:rPr lang="en-US" altLang="zh-TW" sz="2500" b="0" i="1" smtClean="0">
                        <a:latin typeface="Cambria Math"/>
                        <a:ea typeface="標楷體" pitchFamily="65" charset="-120"/>
                        <a:cs typeface="Times New Roman" pitchFamily="18" charset="0"/>
                      </a:rPr>
                      <m:t>𝐷</m:t>
                    </m:r>
                    <m:r>
                      <a:rPr lang="en-US" altLang="zh-TW" sz="2500" b="0" i="1" smtClean="0">
                        <a:latin typeface="Cambria Math"/>
                        <a:ea typeface="標楷體" pitchFamily="65" charset="-120"/>
                        <a:cs typeface="Times New Roman" pitchFamily="18" charset="0"/>
                      </a:rPr>
                      <m:t>=0: </m:t>
                    </m:r>
                    <m:r>
                      <a:rPr lang="zh-TW" altLang="en-US" sz="2500" i="1">
                        <a:latin typeface="Cambria Math"/>
                        <a:ea typeface="標楷體" pitchFamily="65" charset="-120"/>
                        <a:cs typeface="Times New Roman" pitchFamily="18" charset="0"/>
                      </a:rPr>
                      <m:t>比對失敗</m:t>
                    </m:r>
                  </m:oMath>
                </a14:m>
                <a:endParaRPr lang="en-US" altLang="zh-TW" sz="2500" dirty="0" smtClean="0">
                  <a:latin typeface="Times New Roman" pitchFamily="18" charset="0"/>
                  <a:ea typeface="標楷體" pitchFamily="65" charset="-120"/>
                  <a:cs typeface="Times New Roman" pitchFamily="18" charset="0"/>
                </a:endParaRPr>
              </a:p>
              <a:p>
                <a14:m>
                  <m:oMath xmlns:m="http://schemas.openxmlformats.org/officeDocument/2006/math">
                    <m:r>
                      <a:rPr lang="en-US" altLang="zh-TW" sz="2500" b="0" i="1" smtClean="0">
                        <a:latin typeface="Cambria Math"/>
                        <a:ea typeface="標楷體" pitchFamily="65" charset="-120"/>
                        <a:cs typeface="Times New Roman" pitchFamily="18" charset="0"/>
                      </a:rPr>
                      <m:t>𝑖</m:t>
                    </m:r>
                    <m:r>
                      <a:rPr lang="en-US" altLang="zh-TW" sz="2500" b="0" i="1" smtClean="0">
                        <a:latin typeface="Cambria Math"/>
                        <a:ea typeface="標楷體" pitchFamily="65" charset="-120"/>
                        <a:cs typeface="Times New Roman" pitchFamily="18" charset="0"/>
                      </a:rPr>
                      <m:t>=</m:t>
                    </m:r>
                    <m:r>
                      <a:rPr lang="en-US" altLang="zh-TW" sz="2500" b="0" i="1" smtClean="0">
                        <a:latin typeface="Cambria Math"/>
                        <a:ea typeface="標楷體" pitchFamily="65" charset="-120"/>
                        <a:cs typeface="Times New Roman" pitchFamily="18" charset="0"/>
                      </a:rPr>
                      <m:t>𝑖</m:t>
                    </m:r>
                    <m:r>
                      <a:rPr lang="en-US" altLang="zh-TW" sz="2500" b="0" i="1" smtClean="0">
                        <a:latin typeface="Cambria Math"/>
                        <a:ea typeface="標楷體" pitchFamily="65" charset="-120"/>
                        <a:cs typeface="Times New Roman" pitchFamily="18" charset="0"/>
                      </a:rPr>
                      <m:t>+</m:t>
                    </m:r>
                    <m:r>
                      <a:rPr lang="en-US" altLang="zh-TW" sz="2500" b="0" i="1" smtClean="0">
                        <a:latin typeface="Cambria Math"/>
                        <a:ea typeface="標楷體" pitchFamily="65" charset="-120"/>
                        <a:cs typeface="Times New Roman" pitchFamily="18" charset="0"/>
                      </a:rPr>
                      <m:t>𝑆</m:t>
                    </m:r>
                    <m:d>
                      <m:dPr>
                        <m:begChr m:val="["/>
                        <m:endChr m:val="]"/>
                        <m:ctrlPr>
                          <a:rPr lang="en-US" altLang="zh-TW" sz="2500" b="0" i="1" smtClean="0">
                            <a:latin typeface="Cambria Math"/>
                            <a:ea typeface="標楷體" pitchFamily="65" charset="-120"/>
                            <a:cs typeface="Times New Roman" pitchFamily="18" charset="0"/>
                          </a:rPr>
                        </m:ctrlPr>
                      </m:dPr>
                      <m:e>
                        <m:r>
                          <a:rPr lang="en-US" altLang="zh-TW" sz="2500" b="0" i="1" smtClean="0">
                            <a:latin typeface="Cambria Math"/>
                            <a:ea typeface="標楷體" pitchFamily="65" charset="-120"/>
                            <a:cs typeface="Times New Roman" pitchFamily="18" charset="0"/>
                          </a:rPr>
                          <m:t>𝑇</m:t>
                        </m:r>
                        <m:d>
                          <m:dPr>
                            <m:begChr m:val="["/>
                            <m:endChr m:val="]"/>
                            <m:ctrlPr>
                              <a:rPr lang="en-US" altLang="zh-TW" sz="2500" b="0" i="1" smtClean="0">
                                <a:latin typeface="Cambria Math"/>
                                <a:ea typeface="標楷體" pitchFamily="65" charset="-120"/>
                                <a:cs typeface="Times New Roman" pitchFamily="18" charset="0"/>
                              </a:rPr>
                            </m:ctrlPr>
                          </m:dPr>
                          <m:e>
                            <m:r>
                              <a:rPr lang="en-US" altLang="zh-TW" sz="2500" b="0" i="1" smtClean="0">
                                <a:latin typeface="Cambria Math"/>
                                <a:ea typeface="標楷體" pitchFamily="65" charset="-120"/>
                                <a:cs typeface="Times New Roman" pitchFamily="18" charset="0"/>
                              </a:rPr>
                              <m:t>𝑖</m:t>
                            </m:r>
                            <m:r>
                              <a:rPr lang="en-US" altLang="zh-TW" sz="2500" b="0" i="1" smtClean="0">
                                <a:latin typeface="Cambria Math"/>
                                <a:ea typeface="標楷體" pitchFamily="65" charset="-120"/>
                                <a:cs typeface="Times New Roman" pitchFamily="18" charset="0"/>
                              </a:rPr>
                              <m:t>+</m:t>
                            </m:r>
                            <m:r>
                              <a:rPr lang="en-US" altLang="zh-TW" sz="2500" b="0" i="1" smtClean="0">
                                <a:latin typeface="Cambria Math"/>
                                <a:ea typeface="標楷體" pitchFamily="65" charset="-120"/>
                                <a:cs typeface="Times New Roman" pitchFamily="18" charset="0"/>
                              </a:rPr>
                              <m:t>𝑤𝑠</m:t>
                            </m:r>
                          </m:e>
                        </m:d>
                      </m:e>
                    </m:d>
                  </m:oMath>
                </a14:m>
                <a:endParaRPr lang="en-US" altLang="zh-TW" sz="2500" b="0" dirty="0" smtClean="0">
                  <a:latin typeface="Times New Roman" pitchFamily="18" charset="0"/>
                  <a:ea typeface="標楷體" pitchFamily="65" charset="-120"/>
                  <a:cs typeface="Times New Roman" pitchFamily="18" charset="0"/>
                </a:endParaRPr>
              </a:p>
              <a:p>
                <a:endParaRPr lang="en-US" altLang="zh-TW" sz="2500" b="0" dirty="0" smtClean="0">
                  <a:latin typeface="Times New Roman" pitchFamily="18" charset="0"/>
                  <a:ea typeface="標楷體" pitchFamily="65" charset="-120"/>
                  <a:cs typeface="Times New Roman"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cstate="print"/>
                <a:stretch>
                  <a:fillRect l="-1037" t="-1078"/>
                </a:stretch>
              </a:blipFill>
            </p:spPr>
            <p:txBody>
              <a:bodyPr/>
              <a:lstStyle/>
              <a:p>
                <a:r>
                  <a:rPr lang="zh-TW" altLang="en-US">
                    <a:noFill/>
                  </a:rPr>
                  <a:t> </a:t>
                </a:r>
              </a:p>
            </p:txBody>
          </p:sp>
        </mc:Fallback>
      </mc:AlternateContent>
    </p:spTree>
    <p:extLst>
      <p:ext uri="{BB962C8B-B14F-4D97-AF65-F5344CB8AC3E}">
        <p14:creationId xmlns="" xmlns:p14="http://schemas.microsoft.com/office/powerpoint/2010/main" val="7352969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BLIM – </a:t>
            </a:r>
            <a:r>
              <a:rPr lang="zh-TW" altLang="en-US" dirty="0" smtClean="0">
                <a:latin typeface="Times New Roman" pitchFamily="18" charset="0"/>
                <a:ea typeface="標楷體" pitchFamily="65" charset="-120"/>
                <a:cs typeface="Times New Roman" pitchFamily="18" charset="0"/>
              </a:rPr>
              <a:t>比對階段</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endParaRPr lang="en-US" altLang="zh-TW" sz="2500" dirty="0" smtClean="0">
              <a:latin typeface="Times New Roman" pitchFamily="18" charset="0"/>
              <a:ea typeface="標楷體" pitchFamily="65" charset="-120"/>
              <a:cs typeface="Times New Roman" pitchFamily="18" charset="0"/>
            </a:endParaRPr>
          </a:p>
        </p:txBody>
      </p:sp>
      <p:pic>
        <p:nvPicPr>
          <p:cNvPr id="7171" name="Picture 3"/>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187624" y="1196752"/>
            <a:ext cx="6704002" cy="561662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3433903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BLIM q-grams – </a:t>
            </a:r>
            <a:r>
              <a:rPr lang="zh-TW" altLang="en-US" dirty="0" smtClean="0">
                <a:latin typeface="Times New Roman" pitchFamily="18" charset="0"/>
                <a:ea typeface="標楷體" pitchFamily="65" charset="-120"/>
                <a:cs typeface="Times New Roman" pitchFamily="18" charset="0"/>
              </a:rPr>
              <a:t>比對階段</a:t>
            </a:r>
            <a:endParaRPr lang="zh-TW" altLang="en-US" dirty="0">
              <a:latin typeface="Times New Roman" pitchFamily="18" charset="0"/>
              <a:ea typeface="標楷體" pitchFamily="65" charset="-120"/>
              <a:cs typeface="Times New Roman" pitchFamily="18" charset="0"/>
            </a:endParaRPr>
          </a:p>
        </p:txBody>
      </p:sp>
      <mc:AlternateContent xmlns:mc="http://schemas.openxmlformats.org/markup-compatibility/2006">
        <mc:Choice xmlns="" xmlns:a14="http://schemas.microsoft.com/office/drawing/2010/main" Requires="a14">
          <p:sp>
            <p:nvSpPr>
              <p:cNvPr id="3" name="內容版面配置區 2"/>
              <p:cNvSpPr>
                <a:spLocks noGrp="1"/>
              </p:cNvSpPr>
              <p:nvPr>
                <p:ph idx="1"/>
              </p:nvPr>
            </p:nvSpPr>
            <p:spPr>
              <a:xfrm>
                <a:off x="457200" y="1600200"/>
                <a:ext cx="4402832" cy="4525963"/>
              </a:xfrm>
            </p:spPr>
            <p:txBody>
              <a:bodyPr/>
              <a:lstStyle/>
              <a:p>
                <a:r>
                  <a:rPr lang="zh-TW" altLang="en-US" sz="2500" dirty="0" smtClean="0">
                    <a:latin typeface="Times New Roman" pitchFamily="18" charset="0"/>
                    <a:ea typeface="標楷體" pitchFamily="65" charset="-120"/>
                    <a:cs typeface="Times New Roman" pitchFamily="18" charset="0"/>
                  </a:rPr>
                  <a:t>一次讀入多個符號來篩選是否為樣式，接著再一個個讀入之後的符號。</a:t>
                </a:r>
                <a:endParaRPr lang="en-US" altLang="zh-TW" sz="2500" dirty="0" smtClean="0">
                  <a:latin typeface="Times New Roman" pitchFamily="18" charset="0"/>
                  <a:ea typeface="標楷體" pitchFamily="65" charset="-120"/>
                  <a:cs typeface="Times New Roman" pitchFamily="18" charset="0"/>
                </a:endParaRPr>
              </a:p>
              <a:p>
                <a:r>
                  <a:rPr lang="zh-TW" altLang="en-US" sz="2500" b="0" dirty="0">
                    <a:latin typeface="Times New Roman" pitchFamily="18" charset="0"/>
                    <a:ea typeface="標楷體" pitchFamily="65" charset="-120"/>
                    <a:cs typeface="Times New Roman" pitchFamily="18" charset="0"/>
                  </a:rPr>
                  <a:t>比 </a:t>
                </a:r>
                <a:r>
                  <a:rPr lang="en-US" altLang="zh-TW" sz="2500" b="0" dirty="0">
                    <a:latin typeface="Times New Roman" pitchFamily="18" charset="0"/>
                    <a:ea typeface="標楷體" pitchFamily="65" charset="-120"/>
                    <a:cs typeface="Times New Roman" pitchFamily="18" charset="0"/>
                  </a:rPr>
                  <a:t>BLIM </a:t>
                </a:r>
                <a:r>
                  <a:rPr lang="zh-TW" altLang="en-US" sz="2500" b="0" dirty="0">
                    <a:latin typeface="Times New Roman" pitchFamily="18" charset="0"/>
                    <a:ea typeface="標楷體" pitchFamily="65" charset="-120"/>
                    <a:cs typeface="Times New Roman" pitchFamily="18" charset="0"/>
                  </a:rPr>
                  <a:t>少</a:t>
                </a:r>
                <a:r>
                  <a:rPr lang="zh-TW" altLang="en-US" sz="2500" b="0" dirty="0" smtClean="0">
                    <a:latin typeface="Times New Roman" pitchFamily="18" charset="0"/>
                    <a:ea typeface="標楷體" pitchFamily="65" charset="-120"/>
                    <a:cs typeface="Times New Roman" pitchFamily="18" charset="0"/>
                  </a:rPr>
                  <a:t>了 </a:t>
                </a:r>
                <a14:m>
                  <m:oMath xmlns:m="http://schemas.openxmlformats.org/officeDocument/2006/math">
                    <m:r>
                      <a:rPr lang="en-US" altLang="zh-TW" sz="2500" b="0" i="1" smtClean="0">
                        <a:latin typeface="Cambria Math"/>
                        <a:ea typeface="標楷體" pitchFamily="65" charset="-120"/>
                        <a:cs typeface="Times New Roman" pitchFamily="18" charset="0"/>
                      </a:rPr>
                      <m:t>𝑞</m:t>
                    </m:r>
                    <m:r>
                      <a:rPr lang="en-US" altLang="zh-TW" sz="2500" b="0" i="1" smtClean="0">
                        <a:latin typeface="Cambria Math"/>
                        <a:ea typeface="標楷體" pitchFamily="65" charset="-120"/>
                        <a:cs typeface="Times New Roman" pitchFamily="18" charset="0"/>
                      </a:rPr>
                      <m:t>−1</m:t>
                    </m:r>
                  </m:oMath>
                </a14:m>
                <a:r>
                  <a:rPr lang="en-US" altLang="zh-TW" sz="2500" b="0" dirty="0" smtClean="0">
                    <a:latin typeface="Times New Roman" pitchFamily="18" charset="0"/>
                    <a:ea typeface="標楷體" pitchFamily="65" charset="-120"/>
                    <a:cs typeface="Times New Roman" pitchFamily="18" charset="0"/>
                  </a:rPr>
                  <a:t> </a:t>
                </a:r>
                <a:r>
                  <a:rPr lang="zh-TW" altLang="en-US" sz="2500" b="0" dirty="0" smtClean="0">
                    <a:latin typeface="Times New Roman" pitchFamily="18" charset="0"/>
                    <a:ea typeface="標楷體" pitchFamily="65" charset="-120"/>
                    <a:cs typeface="Times New Roman" pitchFamily="18" charset="0"/>
                  </a:rPr>
                  <a:t>次的比對次數。</a:t>
                </a:r>
                <a:endParaRPr lang="en-US" altLang="zh-TW" sz="2500" b="0" dirty="0" smtClean="0">
                  <a:latin typeface="Times New Roman" pitchFamily="18" charset="0"/>
                  <a:ea typeface="標楷體" pitchFamily="65" charset="-120"/>
                  <a:cs typeface="Times New Roman"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457200" y="1600200"/>
                <a:ext cx="4402832" cy="4525963"/>
              </a:xfrm>
              <a:blipFill rotWithShape="1">
                <a:blip r:embed="rId2" cstate="print"/>
                <a:stretch>
                  <a:fillRect l="-1939" t="-1078" r="-693"/>
                </a:stretch>
              </a:blipFill>
            </p:spPr>
            <p:txBody>
              <a:bodyPr/>
              <a:lstStyle/>
              <a:p>
                <a:r>
                  <a:rPr lang="zh-TW" altLang="en-US">
                    <a:noFill/>
                  </a:rPr>
                  <a:t> </a:t>
                </a:r>
              </a:p>
            </p:txBody>
          </p:sp>
        </mc:Fallback>
      </mc:AlternateContent>
      <p:pic>
        <p:nvPicPr>
          <p:cNvPr id="9219" name="Picture 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932040" y="1340768"/>
            <a:ext cx="3709600" cy="53285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9504306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BLIM q-grams – </a:t>
            </a:r>
            <a:r>
              <a:rPr lang="zh-TW" altLang="en-US" dirty="0" smtClean="0">
                <a:latin typeface="Times New Roman" pitchFamily="18" charset="0"/>
                <a:ea typeface="標楷體" pitchFamily="65" charset="-120"/>
                <a:cs typeface="Times New Roman" pitchFamily="18" charset="0"/>
              </a:rPr>
              <a:t>比對階段</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endParaRPr lang="en-US" altLang="zh-TW" sz="2500" dirty="0" smtClean="0">
              <a:latin typeface="Times New Roman" pitchFamily="18" charset="0"/>
              <a:ea typeface="標楷體" pitchFamily="65" charset="-120"/>
              <a:cs typeface="Times New Roman" pitchFamily="18" charset="0"/>
            </a:endParaRPr>
          </a:p>
        </p:txBody>
      </p:sp>
      <p:pic>
        <p:nvPicPr>
          <p:cNvPr id="8194"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187624" y="1196753"/>
            <a:ext cx="6704002" cy="561662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4361666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Analysis</a:t>
            </a:r>
            <a:endParaRPr lang="zh-TW" altLang="en-US" dirty="0">
              <a:latin typeface="Times New Roman" pitchFamily="18" charset="0"/>
              <a:ea typeface="標楷體" pitchFamily="65" charset="-120"/>
              <a:cs typeface="Times New Roman" pitchFamily="18" charset="0"/>
            </a:endParaRPr>
          </a:p>
        </p:txBody>
      </p:sp>
      <mc:AlternateContent xmlns:mc="http://schemas.openxmlformats.org/markup-compatibility/2006">
        <mc:Choice xmlns="" xmlns:a14="http://schemas.microsoft.com/office/drawing/2010/main" Requires="a14">
          <p:sp>
            <p:nvSpPr>
              <p:cNvPr id="3" name="內容版面配置區 2"/>
              <p:cNvSpPr>
                <a:spLocks noGrp="1"/>
              </p:cNvSpPr>
              <p:nvPr>
                <p:ph idx="1"/>
              </p:nvPr>
            </p:nvSpPr>
            <p:spPr/>
            <p:txBody>
              <a:bodyPr/>
              <a:lstStyle/>
              <a:p>
                <a14:m>
                  <m:oMath xmlns:m="http://schemas.openxmlformats.org/officeDocument/2006/math">
                    <m:r>
                      <a:rPr lang="zh-TW" altLang="en-US" sz="2500" i="1" dirty="0">
                        <a:latin typeface="Cambria Math"/>
                        <a:ea typeface="標楷體" pitchFamily="65" charset="-120"/>
                        <a:cs typeface="Times New Roman" pitchFamily="18" charset="0"/>
                      </a:rPr>
                      <m:t>𝜎</m:t>
                    </m:r>
                  </m:oMath>
                </a14:m>
                <a:r>
                  <a:rPr lang="zh-TW" altLang="en-US" sz="2500" dirty="0">
                    <a:latin typeface="Times New Roman" pitchFamily="18" charset="0"/>
                    <a:ea typeface="標楷體" pitchFamily="65" charset="-120"/>
                    <a:cs typeface="Times New Roman" pitchFamily="18" charset="0"/>
                  </a:rPr>
                  <a:t> 為字母系統 </a:t>
                </a:r>
                <a14:m>
                  <m:oMath xmlns:m="http://schemas.openxmlformats.org/officeDocument/2006/math">
                    <m:r>
                      <m:rPr>
                        <m:sty m:val="p"/>
                      </m:rPr>
                      <a:rPr lang="el-GR" altLang="zh-TW" sz="2500" i="1">
                        <a:latin typeface="Cambria Math"/>
                        <a:ea typeface="Cambria Math"/>
                        <a:cs typeface="Times New Roman" pitchFamily="18" charset="0"/>
                      </a:rPr>
                      <m:t>Σ</m:t>
                    </m:r>
                  </m:oMath>
                </a14:m>
                <a:r>
                  <a:rPr lang="en-US" altLang="zh-TW" sz="2500" dirty="0">
                    <a:latin typeface="Times New Roman" pitchFamily="18" charset="0"/>
                    <a:ea typeface="標楷體" pitchFamily="65" charset="-120"/>
                    <a:cs typeface="Times New Roman" pitchFamily="18" charset="0"/>
                  </a:rPr>
                  <a:t> </a:t>
                </a:r>
                <a:r>
                  <a:rPr lang="zh-TW" altLang="en-US" sz="2500" dirty="0">
                    <a:latin typeface="Times New Roman" pitchFamily="18" charset="0"/>
                    <a:ea typeface="標楷體" pitchFamily="65" charset="-120"/>
                    <a:cs typeface="Times New Roman" pitchFamily="18" charset="0"/>
                  </a:rPr>
                  <a:t>之</a:t>
                </a:r>
                <a:r>
                  <a:rPr lang="zh-TW" altLang="en-US" sz="2500" dirty="0" smtClean="0">
                    <a:latin typeface="Times New Roman" pitchFamily="18" charset="0"/>
                    <a:ea typeface="標楷體" pitchFamily="65" charset="-120"/>
                    <a:cs typeface="Times New Roman" pitchFamily="18" charset="0"/>
                  </a:rPr>
                  <a:t>大小</a:t>
                </a:r>
                <a:endParaRPr lang="en-US" altLang="zh-TW" sz="2500" dirty="0" smtClean="0">
                  <a:latin typeface="Times New Roman" pitchFamily="18" charset="0"/>
                  <a:ea typeface="標楷體" pitchFamily="65" charset="-120"/>
                  <a:cs typeface="Times New Roman" pitchFamily="18" charset="0"/>
                </a:endParaRPr>
              </a:p>
              <a:p>
                <a:r>
                  <a:rPr lang="zh-TW" altLang="en-US" sz="2500" dirty="0" smtClean="0">
                    <a:latin typeface="Times New Roman" pitchFamily="18" charset="0"/>
                    <a:ea typeface="標楷體" pitchFamily="65" charset="-120"/>
                    <a:cs typeface="Times New Roman" pitchFamily="18" charset="0"/>
                  </a:rPr>
                  <a:t>查詢表 </a:t>
                </a:r>
                <a:r>
                  <a:rPr lang="en-US" altLang="zh-TW" sz="2500" dirty="0" smtClean="0">
                    <a:latin typeface="Times New Roman" pitchFamily="18" charset="0"/>
                    <a:ea typeface="標楷體" pitchFamily="65" charset="-120"/>
                    <a:cs typeface="Times New Roman" pitchFamily="18" charset="0"/>
                  </a:rPr>
                  <a:t>B: </a:t>
                </a:r>
                <a:r>
                  <a:rPr lang="en-US" altLang="zh-TW" sz="2100" dirty="0" smtClean="0">
                    <a:latin typeface="Times New Roman" pitchFamily="18" charset="0"/>
                    <a:ea typeface="標楷體" pitchFamily="65" charset="-120"/>
                    <a:cs typeface="Times New Roman" pitchFamily="18" charset="0"/>
                  </a:rPr>
                  <a:t>Time: </a:t>
                </a:r>
                <a14:m>
                  <m:oMath xmlns:m="http://schemas.openxmlformats.org/officeDocument/2006/math">
                    <m:r>
                      <m:rPr>
                        <m:sty m:val="p"/>
                      </m:rPr>
                      <a:rPr lang="en-US" altLang="zh-TW" sz="2100" dirty="0">
                        <a:latin typeface="Cambria Math"/>
                        <a:ea typeface="標楷體" pitchFamily="65" charset="-120"/>
                        <a:cs typeface="Times New Roman" pitchFamily="18" charset="0"/>
                      </a:rPr>
                      <m:t>O</m:t>
                    </m:r>
                    <m:d>
                      <m:dPr>
                        <m:ctrlPr>
                          <a:rPr lang="en-US" altLang="zh-TW" sz="2100" b="0" i="1" dirty="0" smtClean="0">
                            <a:latin typeface="Cambria Math"/>
                            <a:ea typeface="標楷體" pitchFamily="65" charset="-120"/>
                            <a:cs typeface="Times New Roman" pitchFamily="18" charset="0"/>
                          </a:rPr>
                        </m:ctrlPr>
                      </m:dPr>
                      <m:e>
                        <m:d>
                          <m:dPr>
                            <m:ctrlPr>
                              <a:rPr lang="en-US" altLang="zh-TW" sz="2100" b="0" i="1" dirty="0" smtClean="0">
                                <a:latin typeface="Cambria Math"/>
                                <a:ea typeface="標楷體" pitchFamily="65" charset="-120"/>
                                <a:cs typeface="Times New Roman" pitchFamily="18" charset="0"/>
                              </a:rPr>
                            </m:ctrlPr>
                          </m:dPr>
                          <m:e>
                            <m:r>
                              <a:rPr lang="en-US" altLang="zh-TW" sz="2100" b="0" i="1" dirty="0" smtClean="0">
                                <a:latin typeface="Cambria Math"/>
                                <a:ea typeface="標楷體" pitchFamily="65" charset="-120"/>
                                <a:cs typeface="Times New Roman" pitchFamily="18" charset="0"/>
                              </a:rPr>
                              <m:t>𝑤𝑠</m:t>
                            </m:r>
                            <m:r>
                              <a:rPr lang="en-US" altLang="zh-TW" sz="2100" b="0" i="1" dirty="0" smtClean="0">
                                <a:latin typeface="Cambria Math"/>
                                <a:ea typeface="標楷體" pitchFamily="65" charset="-120"/>
                                <a:cs typeface="Times New Roman" pitchFamily="18" charset="0"/>
                              </a:rPr>
                              <m:t>+</m:t>
                            </m:r>
                            <m:r>
                              <a:rPr lang="en-US" altLang="zh-TW" sz="2100" b="0" i="1" dirty="0" smtClean="0">
                                <a:latin typeface="Cambria Math"/>
                                <a:ea typeface="標楷體" pitchFamily="65" charset="-120"/>
                                <a:cs typeface="Times New Roman" pitchFamily="18" charset="0"/>
                              </a:rPr>
                              <m:t>𝑊𝑚</m:t>
                            </m:r>
                          </m:e>
                        </m:d>
                        <m:r>
                          <a:rPr lang="zh-TW" altLang="en-US" sz="2100" b="0" i="1" dirty="0" smtClean="0">
                            <a:latin typeface="Cambria Math"/>
                            <a:ea typeface="標楷體" pitchFamily="65" charset="-120"/>
                            <a:cs typeface="Times New Roman" pitchFamily="18" charset="0"/>
                          </a:rPr>
                          <m:t>𝜎</m:t>
                        </m:r>
                      </m:e>
                    </m:d>
                  </m:oMath>
                </a14:m>
                <a:r>
                  <a:rPr lang="en-US" altLang="zh-TW" sz="2100" dirty="0" smtClean="0">
                    <a:latin typeface="Times New Roman" pitchFamily="18" charset="0"/>
                    <a:ea typeface="標楷體" pitchFamily="65" charset="-120"/>
                    <a:cs typeface="Times New Roman" pitchFamily="18" charset="0"/>
                  </a:rPr>
                  <a:t>, Space: </a:t>
                </a:r>
                <a14:m>
                  <m:oMath xmlns:m="http://schemas.openxmlformats.org/officeDocument/2006/math">
                    <m:r>
                      <m:rPr>
                        <m:sty m:val="p"/>
                      </m:rPr>
                      <a:rPr lang="en-US" altLang="zh-TW" sz="2100" dirty="0">
                        <a:latin typeface="Cambria Math"/>
                        <a:ea typeface="標楷體" pitchFamily="65" charset="-120"/>
                        <a:cs typeface="Times New Roman" pitchFamily="18" charset="0"/>
                      </a:rPr>
                      <m:t>O</m:t>
                    </m:r>
                    <m:d>
                      <m:dPr>
                        <m:ctrlPr>
                          <a:rPr lang="en-US" altLang="zh-TW" sz="2100" i="1" dirty="0" smtClean="0">
                            <a:latin typeface="Cambria Math"/>
                            <a:ea typeface="標楷體" pitchFamily="65" charset="-120"/>
                            <a:cs typeface="Times New Roman" pitchFamily="18" charset="0"/>
                          </a:rPr>
                        </m:ctrlPr>
                      </m:dPr>
                      <m:e>
                        <m:r>
                          <a:rPr lang="en-US" altLang="zh-TW" sz="2100" b="0" i="1" dirty="0" smtClean="0">
                            <a:latin typeface="Cambria Math"/>
                            <a:ea typeface="標楷體" pitchFamily="65" charset="-120"/>
                            <a:cs typeface="Times New Roman" pitchFamily="18" charset="0"/>
                          </a:rPr>
                          <m:t>𝑤𝑠</m:t>
                        </m:r>
                        <m:r>
                          <a:rPr lang="zh-TW" altLang="en-US" sz="2100" i="1" dirty="0">
                            <a:latin typeface="Cambria Math"/>
                            <a:ea typeface="標楷體" pitchFamily="65" charset="-120"/>
                            <a:cs typeface="Times New Roman" pitchFamily="18" charset="0"/>
                          </a:rPr>
                          <m:t>𝜎</m:t>
                        </m:r>
                      </m:e>
                    </m:d>
                  </m:oMath>
                </a14:m>
                <a:endParaRPr lang="en-US" altLang="zh-TW" sz="2100" dirty="0" smtClean="0">
                  <a:latin typeface="Times New Roman" pitchFamily="18" charset="0"/>
                  <a:ea typeface="標楷體" pitchFamily="65" charset="-120"/>
                  <a:cs typeface="Times New Roman" pitchFamily="18" charset="0"/>
                </a:endParaRPr>
              </a:p>
              <a:p>
                <a:r>
                  <a:rPr lang="zh-TW" altLang="en-US" sz="2500" dirty="0" smtClean="0">
                    <a:latin typeface="Times New Roman" pitchFamily="18" charset="0"/>
                    <a:ea typeface="標楷體" pitchFamily="65" charset="-120"/>
                    <a:cs typeface="Times New Roman" pitchFamily="18" charset="0"/>
                  </a:rPr>
                  <a:t>位移表 </a:t>
                </a:r>
                <a:r>
                  <a:rPr lang="en-US" altLang="zh-TW" sz="2500" dirty="0" smtClean="0">
                    <a:latin typeface="Times New Roman" pitchFamily="18" charset="0"/>
                    <a:ea typeface="標楷體" pitchFamily="65" charset="-120"/>
                    <a:cs typeface="Times New Roman" pitchFamily="18" charset="0"/>
                  </a:rPr>
                  <a:t>S: </a:t>
                </a:r>
                <a:r>
                  <a:rPr lang="en-US" altLang="zh-TW" sz="2100" dirty="0" smtClean="0">
                    <a:latin typeface="Times New Roman" pitchFamily="18" charset="0"/>
                    <a:ea typeface="標楷體" pitchFamily="65" charset="-120"/>
                    <a:cs typeface="Times New Roman" pitchFamily="18" charset="0"/>
                  </a:rPr>
                  <a:t>Time: </a:t>
                </a:r>
                <a14:m>
                  <m:oMath xmlns:m="http://schemas.openxmlformats.org/officeDocument/2006/math">
                    <m:r>
                      <m:rPr>
                        <m:sty m:val="p"/>
                      </m:rPr>
                      <a:rPr lang="en-US" altLang="zh-TW" sz="2100" dirty="0">
                        <a:latin typeface="Cambria Math"/>
                        <a:ea typeface="標楷體" pitchFamily="65" charset="-120"/>
                        <a:cs typeface="Times New Roman" pitchFamily="18" charset="0"/>
                      </a:rPr>
                      <m:t>O</m:t>
                    </m:r>
                    <m:d>
                      <m:dPr>
                        <m:ctrlPr>
                          <a:rPr lang="en-US" altLang="zh-TW" sz="2100" i="1" dirty="0">
                            <a:latin typeface="Cambria Math"/>
                            <a:ea typeface="標楷體" pitchFamily="65" charset="-120"/>
                            <a:cs typeface="Times New Roman" pitchFamily="18" charset="0"/>
                          </a:rPr>
                        </m:ctrlPr>
                      </m:dPr>
                      <m:e>
                        <m:r>
                          <a:rPr lang="zh-TW" altLang="en-US" sz="2100" i="1" dirty="0" smtClean="0">
                            <a:latin typeface="Cambria Math"/>
                            <a:ea typeface="標楷體" pitchFamily="65" charset="-120"/>
                            <a:cs typeface="Times New Roman" pitchFamily="18" charset="0"/>
                          </a:rPr>
                          <m:t>𝜎</m:t>
                        </m:r>
                        <m:r>
                          <a:rPr lang="en-US" altLang="zh-TW" sz="2100" b="0" i="1" dirty="0" smtClean="0">
                            <a:latin typeface="Cambria Math"/>
                            <a:ea typeface="標楷體" pitchFamily="65" charset="-120"/>
                            <a:cs typeface="Times New Roman" pitchFamily="18" charset="0"/>
                          </a:rPr>
                          <m:t>+</m:t>
                        </m:r>
                        <m:r>
                          <a:rPr lang="en-US" altLang="zh-TW" sz="2100" b="0" i="1" dirty="0" smtClean="0">
                            <a:latin typeface="Cambria Math"/>
                            <a:ea typeface="標楷體" pitchFamily="65" charset="-120"/>
                            <a:cs typeface="Times New Roman" pitchFamily="18" charset="0"/>
                          </a:rPr>
                          <m:t>𝑚</m:t>
                        </m:r>
                      </m:e>
                    </m:d>
                  </m:oMath>
                </a14:m>
                <a:r>
                  <a:rPr lang="en-US" altLang="zh-TW" sz="2100" dirty="0" smtClean="0">
                    <a:latin typeface="Times New Roman" pitchFamily="18" charset="0"/>
                    <a:ea typeface="標楷體" pitchFamily="65" charset="-120"/>
                    <a:cs typeface="Times New Roman" pitchFamily="18" charset="0"/>
                  </a:rPr>
                  <a:t>, Space: </a:t>
                </a:r>
                <a14:m>
                  <m:oMath xmlns:m="http://schemas.openxmlformats.org/officeDocument/2006/math">
                    <m:r>
                      <m:rPr>
                        <m:sty m:val="p"/>
                      </m:rPr>
                      <a:rPr lang="en-US" altLang="zh-TW" sz="2100" dirty="0" smtClean="0">
                        <a:latin typeface="Cambria Math"/>
                        <a:ea typeface="標楷體" pitchFamily="65" charset="-120"/>
                        <a:cs typeface="Times New Roman" pitchFamily="18" charset="0"/>
                      </a:rPr>
                      <m:t>O</m:t>
                    </m:r>
                    <m:d>
                      <m:dPr>
                        <m:ctrlPr>
                          <a:rPr lang="en-US" altLang="zh-TW" sz="2100" i="1" dirty="0" smtClean="0">
                            <a:latin typeface="Cambria Math"/>
                            <a:ea typeface="標楷體" pitchFamily="65" charset="-120"/>
                            <a:cs typeface="Times New Roman" pitchFamily="18" charset="0"/>
                          </a:rPr>
                        </m:ctrlPr>
                      </m:dPr>
                      <m:e>
                        <m:r>
                          <a:rPr lang="zh-TW" altLang="en-US" sz="2100" i="1" dirty="0">
                            <a:latin typeface="Cambria Math"/>
                            <a:ea typeface="標楷體" pitchFamily="65" charset="-120"/>
                            <a:cs typeface="Times New Roman" pitchFamily="18" charset="0"/>
                          </a:rPr>
                          <m:t>𝜎</m:t>
                        </m:r>
                      </m:e>
                    </m:d>
                  </m:oMath>
                </a14:m>
                <a:endParaRPr lang="en-US" altLang="zh-TW" sz="2100" dirty="0" smtClean="0">
                  <a:latin typeface="Times New Roman" pitchFamily="18" charset="0"/>
                  <a:ea typeface="標楷體" pitchFamily="65" charset="-120"/>
                  <a:cs typeface="Times New Roman" pitchFamily="18" charset="0"/>
                </a:endParaRPr>
              </a:p>
              <a:p>
                <a:r>
                  <a:rPr lang="zh-TW" altLang="en-US" sz="2500" dirty="0">
                    <a:latin typeface="Times New Roman" pitchFamily="18" charset="0"/>
                    <a:ea typeface="標楷體" pitchFamily="65" charset="-120"/>
                    <a:cs typeface="Times New Roman" pitchFamily="18" charset="0"/>
                  </a:rPr>
                  <a:t>順序表 </a:t>
                </a:r>
                <a:r>
                  <a:rPr lang="en-US" altLang="zh-TW" sz="2500" dirty="0" smtClean="0">
                    <a:latin typeface="Times New Roman" pitchFamily="18" charset="0"/>
                    <a:ea typeface="標楷體" pitchFamily="65" charset="-120"/>
                    <a:cs typeface="Times New Roman" pitchFamily="18" charset="0"/>
                  </a:rPr>
                  <a:t>I: </a:t>
                </a:r>
                <a:r>
                  <a:rPr lang="en-US" altLang="zh-TW" sz="2100" dirty="0" smtClean="0">
                    <a:latin typeface="Times New Roman" pitchFamily="18" charset="0"/>
                    <a:ea typeface="標楷體" pitchFamily="65" charset="-120"/>
                    <a:cs typeface="Times New Roman" pitchFamily="18" charset="0"/>
                  </a:rPr>
                  <a:t>Time: </a:t>
                </a:r>
                <a14:m>
                  <m:oMath xmlns:m="http://schemas.openxmlformats.org/officeDocument/2006/math">
                    <m:r>
                      <m:rPr>
                        <m:sty m:val="p"/>
                      </m:rPr>
                      <a:rPr lang="en-US" altLang="zh-TW" sz="2100" dirty="0">
                        <a:latin typeface="Cambria Math"/>
                        <a:ea typeface="標楷體" pitchFamily="65" charset="-120"/>
                        <a:cs typeface="Times New Roman" pitchFamily="18" charset="0"/>
                      </a:rPr>
                      <m:t>O</m:t>
                    </m:r>
                    <m:d>
                      <m:dPr>
                        <m:ctrlPr>
                          <a:rPr lang="en-US" altLang="zh-TW" sz="2100" i="1" dirty="0">
                            <a:latin typeface="Cambria Math"/>
                            <a:ea typeface="標楷體" pitchFamily="65" charset="-120"/>
                            <a:cs typeface="Times New Roman" pitchFamily="18" charset="0"/>
                          </a:rPr>
                        </m:ctrlPr>
                      </m:dPr>
                      <m:e>
                        <m:r>
                          <a:rPr lang="en-US" altLang="zh-TW" sz="2100" i="1" dirty="0">
                            <a:latin typeface="Cambria Math"/>
                            <a:ea typeface="標楷體" pitchFamily="65" charset="-120"/>
                            <a:cs typeface="Times New Roman" pitchFamily="18" charset="0"/>
                          </a:rPr>
                          <m:t>𝑤𝑠</m:t>
                        </m:r>
                      </m:e>
                    </m:d>
                  </m:oMath>
                </a14:m>
                <a:r>
                  <a:rPr lang="en-US" altLang="zh-TW" sz="2100" dirty="0" smtClean="0">
                    <a:latin typeface="Times New Roman" pitchFamily="18" charset="0"/>
                    <a:ea typeface="標楷體" pitchFamily="65" charset="-120"/>
                    <a:cs typeface="Times New Roman" pitchFamily="18" charset="0"/>
                  </a:rPr>
                  <a:t>, Space: </a:t>
                </a:r>
                <a14:m>
                  <m:oMath xmlns:m="http://schemas.openxmlformats.org/officeDocument/2006/math">
                    <m:r>
                      <m:rPr>
                        <m:sty m:val="p"/>
                      </m:rPr>
                      <a:rPr lang="en-US" altLang="zh-TW" sz="2100" dirty="0">
                        <a:latin typeface="Cambria Math"/>
                        <a:ea typeface="標楷體" pitchFamily="65" charset="-120"/>
                        <a:cs typeface="Times New Roman" pitchFamily="18" charset="0"/>
                      </a:rPr>
                      <m:t>O</m:t>
                    </m:r>
                    <m:r>
                      <a:rPr lang="en-US" altLang="zh-TW" sz="2100" i="1" dirty="0">
                        <a:latin typeface="Cambria Math"/>
                        <a:ea typeface="標楷體" pitchFamily="65" charset="-120"/>
                        <a:cs typeface="Times New Roman" pitchFamily="18" charset="0"/>
                      </a:rPr>
                      <m:t>(</m:t>
                    </m:r>
                    <m:r>
                      <a:rPr lang="en-US" altLang="zh-TW" sz="2100" i="1" dirty="0">
                        <a:latin typeface="Cambria Math"/>
                        <a:ea typeface="標楷體" pitchFamily="65" charset="-120"/>
                        <a:cs typeface="Times New Roman" pitchFamily="18" charset="0"/>
                      </a:rPr>
                      <m:t>𝑤𝑠</m:t>
                    </m:r>
                    <m:r>
                      <a:rPr lang="en-US" altLang="zh-TW" sz="2100" i="1" dirty="0">
                        <a:latin typeface="Cambria Math"/>
                        <a:ea typeface="標楷體" pitchFamily="65" charset="-120"/>
                        <a:cs typeface="Times New Roman" pitchFamily="18" charset="0"/>
                      </a:rPr>
                      <m:t>)</m:t>
                    </m:r>
                  </m:oMath>
                </a14:m>
                <a:endParaRPr lang="en-US" altLang="zh-TW" sz="2100" dirty="0" smtClean="0">
                  <a:latin typeface="Times New Roman" pitchFamily="18" charset="0"/>
                  <a:ea typeface="標楷體" pitchFamily="65" charset="-120"/>
                  <a:cs typeface="Times New Roman" pitchFamily="18" charset="0"/>
                </a:endParaRPr>
              </a:p>
              <a:p>
                <a:r>
                  <a:rPr lang="zh-TW" altLang="en-US" sz="2500" dirty="0">
                    <a:latin typeface="Times New Roman" pitchFamily="18" charset="0"/>
                    <a:ea typeface="標楷體" pitchFamily="65" charset="-120"/>
                    <a:cs typeface="Times New Roman" pitchFamily="18" charset="0"/>
                  </a:rPr>
                  <a:t>比對</a:t>
                </a:r>
                <a:r>
                  <a:rPr lang="zh-TW" altLang="en-US" sz="2500" dirty="0" smtClean="0">
                    <a:latin typeface="Times New Roman" pitchFamily="18" charset="0"/>
                    <a:ea typeface="標楷體" pitchFamily="65" charset="-120"/>
                    <a:cs typeface="Times New Roman" pitchFamily="18" charset="0"/>
                  </a:rPr>
                  <a:t>階段</a:t>
                </a:r>
                <a:endParaRPr lang="en-US" altLang="zh-TW" sz="2500" dirty="0" smtClean="0">
                  <a:latin typeface="Times New Roman" pitchFamily="18" charset="0"/>
                  <a:ea typeface="標楷體" pitchFamily="65" charset="-120"/>
                  <a:cs typeface="Times New Roman" pitchFamily="18" charset="0"/>
                </a:endParaRPr>
              </a:p>
              <a:p>
                <a:pPr lvl="1"/>
                <a:r>
                  <a:rPr lang="en-US" altLang="zh-TW" sz="2100" dirty="0">
                    <a:latin typeface="Times New Roman" pitchFamily="18" charset="0"/>
                    <a:ea typeface="標楷體" pitchFamily="65" charset="-120"/>
                    <a:cs typeface="Times New Roman" pitchFamily="18" charset="0"/>
                  </a:rPr>
                  <a:t>Best case: </a:t>
                </a:r>
                <a14:m>
                  <m:oMath xmlns:m="http://schemas.openxmlformats.org/officeDocument/2006/math">
                    <m:r>
                      <m:rPr>
                        <m:sty m:val="p"/>
                      </m:rPr>
                      <a:rPr lang="en-US" altLang="zh-TW" sz="2400" dirty="0">
                        <a:latin typeface="Cambria Math"/>
                        <a:ea typeface="標楷體" pitchFamily="65" charset="-120"/>
                        <a:cs typeface="Times New Roman" pitchFamily="18" charset="0"/>
                      </a:rPr>
                      <m:t>O</m:t>
                    </m:r>
                    <m:r>
                      <a:rPr lang="en-US" altLang="zh-TW" sz="2400" i="1" dirty="0">
                        <a:latin typeface="Cambria Math"/>
                        <a:ea typeface="標楷體" pitchFamily="65" charset="-120"/>
                        <a:cs typeface="Times New Roman" pitchFamily="18" charset="0"/>
                      </a:rPr>
                      <m:t>(</m:t>
                    </m:r>
                    <m:f>
                      <m:fPr>
                        <m:ctrlPr>
                          <a:rPr lang="en-US" altLang="zh-TW" sz="2400" i="1" dirty="0">
                            <a:latin typeface="Cambria Math"/>
                            <a:ea typeface="標楷體" pitchFamily="65" charset="-120"/>
                            <a:cs typeface="Times New Roman" pitchFamily="18" charset="0"/>
                          </a:rPr>
                        </m:ctrlPr>
                      </m:fPr>
                      <m:num>
                        <m:r>
                          <a:rPr lang="en-US" altLang="zh-TW" sz="2400" i="1" dirty="0">
                            <a:latin typeface="Cambria Math"/>
                            <a:ea typeface="標楷體" pitchFamily="65" charset="-120"/>
                            <a:cs typeface="Times New Roman" pitchFamily="18" charset="0"/>
                          </a:rPr>
                          <m:t>𝑛</m:t>
                        </m:r>
                      </m:num>
                      <m:den>
                        <m:r>
                          <a:rPr lang="en-US" altLang="zh-TW" sz="2400" i="1" dirty="0">
                            <a:latin typeface="Cambria Math"/>
                            <a:ea typeface="標楷體" pitchFamily="65" charset="-120"/>
                            <a:cs typeface="Times New Roman" pitchFamily="18" charset="0"/>
                          </a:rPr>
                          <m:t>𝑚</m:t>
                        </m:r>
                      </m:den>
                    </m:f>
                    <m:r>
                      <a:rPr lang="en-US" altLang="zh-TW" sz="2400" i="1" dirty="0">
                        <a:latin typeface="Cambria Math"/>
                        <a:ea typeface="標楷體" pitchFamily="65" charset="-120"/>
                        <a:cs typeface="Times New Roman" pitchFamily="18" charset="0"/>
                      </a:rPr>
                      <m:t>)</m:t>
                    </m:r>
                  </m:oMath>
                </a14:m>
                <a:endParaRPr lang="en-US" altLang="zh-TW" sz="2100" dirty="0">
                  <a:latin typeface="Times New Roman" pitchFamily="18" charset="0"/>
                  <a:ea typeface="標楷體" pitchFamily="65" charset="-120"/>
                  <a:cs typeface="Times New Roman" pitchFamily="18" charset="0"/>
                </a:endParaRPr>
              </a:p>
              <a:p>
                <a:pPr lvl="1"/>
                <a:r>
                  <a:rPr lang="en-US" altLang="zh-TW" sz="2100" dirty="0">
                    <a:latin typeface="Times New Roman" pitchFamily="18" charset="0"/>
                    <a:ea typeface="標楷體" pitchFamily="65" charset="-120"/>
                    <a:cs typeface="Times New Roman" pitchFamily="18" charset="0"/>
                  </a:rPr>
                  <a:t>Worst case: </a:t>
                </a:r>
                <a14:m>
                  <m:oMath xmlns:m="http://schemas.openxmlformats.org/officeDocument/2006/math">
                    <m:r>
                      <m:rPr>
                        <m:sty m:val="p"/>
                      </m:rPr>
                      <a:rPr lang="en-US" altLang="zh-TW" sz="2000" dirty="0">
                        <a:latin typeface="Cambria Math"/>
                        <a:ea typeface="標楷體" pitchFamily="65" charset="-120"/>
                        <a:cs typeface="Times New Roman" pitchFamily="18" charset="0"/>
                      </a:rPr>
                      <m:t>O</m:t>
                    </m:r>
                    <m:r>
                      <a:rPr lang="en-US" altLang="zh-TW" sz="2000" i="1" dirty="0">
                        <a:latin typeface="Cambria Math"/>
                        <a:ea typeface="標楷體" pitchFamily="65" charset="-120"/>
                        <a:cs typeface="Times New Roman" pitchFamily="18" charset="0"/>
                      </a:rPr>
                      <m:t>(</m:t>
                    </m:r>
                    <m:f>
                      <m:fPr>
                        <m:ctrlPr>
                          <a:rPr lang="en-US" altLang="zh-TW" sz="2000" i="1" dirty="0">
                            <a:latin typeface="Cambria Math"/>
                            <a:ea typeface="標楷體" pitchFamily="65" charset="-120"/>
                            <a:cs typeface="Times New Roman" pitchFamily="18" charset="0"/>
                          </a:rPr>
                        </m:ctrlPr>
                      </m:fPr>
                      <m:num>
                        <m:r>
                          <a:rPr lang="en-US" altLang="zh-TW" sz="2000" i="1" dirty="0">
                            <a:latin typeface="Cambria Math"/>
                            <a:ea typeface="標楷體" pitchFamily="65" charset="-120"/>
                            <a:cs typeface="Times New Roman" pitchFamily="18" charset="0"/>
                          </a:rPr>
                          <m:t>𝑛𝑚</m:t>
                        </m:r>
                      </m:num>
                      <m:den>
                        <m:r>
                          <a:rPr lang="en-US" altLang="zh-TW" sz="2000" i="1" dirty="0">
                            <a:latin typeface="Cambria Math"/>
                            <a:ea typeface="標楷體" pitchFamily="65" charset="-120"/>
                            <a:cs typeface="Times New Roman" pitchFamily="18" charset="0"/>
                          </a:rPr>
                          <m:t>𝑊</m:t>
                        </m:r>
                      </m:den>
                    </m:f>
                    <m:r>
                      <a:rPr lang="en-US" altLang="zh-TW" sz="2000" i="1" dirty="0">
                        <a:latin typeface="Cambria Math"/>
                        <a:ea typeface="標楷體" pitchFamily="65" charset="-120"/>
                        <a:cs typeface="Times New Roman" pitchFamily="18" charset="0"/>
                      </a:rPr>
                      <m:t>)</m:t>
                    </m:r>
                  </m:oMath>
                </a14:m>
                <a:endParaRPr lang="en-US" altLang="zh-TW" sz="2100" dirty="0">
                  <a:latin typeface="Times New Roman" pitchFamily="18" charset="0"/>
                  <a:ea typeface="標楷體" pitchFamily="65" charset="-120"/>
                  <a:cs typeface="Times New Roman" pitchFamily="18" charset="0"/>
                </a:endParaRPr>
              </a:p>
              <a:p>
                <a:pPr lvl="1"/>
                <a:r>
                  <a:rPr lang="en-US" altLang="zh-TW" sz="2100" dirty="0">
                    <a:latin typeface="Times New Roman" pitchFamily="18" charset="0"/>
                    <a:ea typeface="標楷體" pitchFamily="65" charset="-120"/>
                    <a:cs typeface="Times New Roman" pitchFamily="18" charset="0"/>
                  </a:rPr>
                  <a:t>Average case:</a:t>
                </a:r>
              </a:p>
              <a:p>
                <a:pPr lvl="2"/>
                <a14:m>
                  <m:oMath xmlns:m="http://schemas.openxmlformats.org/officeDocument/2006/math">
                    <m:r>
                      <m:rPr>
                        <m:sty m:val="p"/>
                      </m:rPr>
                      <a:rPr lang="en-US" altLang="zh-TW" sz="1700" dirty="0">
                        <a:latin typeface="Cambria Math"/>
                        <a:ea typeface="標楷體" pitchFamily="65" charset="-120"/>
                        <a:cs typeface="Times New Roman" pitchFamily="18" charset="0"/>
                      </a:rPr>
                      <m:t>O</m:t>
                    </m:r>
                    <m:d>
                      <m:dPr>
                        <m:ctrlPr>
                          <a:rPr lang="en-US" altLang="zh-TW" sz="1700" i="1" dirty="0">
                            <a:latin typeface="Cambria Math"/>
                            <a:ea typeface="標楷體" pitchFamily="65" charset="-120"/>
                            <a:cs typeface="Times New Roman" pitchFamily="18" charset="0"/>
                          </a:rPr>
                        </m:ctrlPr>
                      </m:dPr>
                      <m:e>
                        <m:r>
                          <a:rPr lang="zh-TW" altLang="en-US" sz="1700" i="1" dirty="0">
                            <a:latin typeface="Cambria Math"/>
                            <a:ea typeface="標楷體" pitchFamily="65" charset="-120"/>
                            <a:cs typeface="Times New Roman" pitchFamily="18" charset="0"/>
                          </a:rPr>
                          <m:t>平均比對次數</m:t>
                        </m:r>
                        <m:r>
                          <a:rPr lang="en-US" altLang="zh-TW" sz="1700" i="1" dirty="0">
                            <a:latin typeface="Cambria Math"/>
                            <a:ea typeface="標楷體" pitchFamily="65" charset="-120"/>
                            <a:cs typeface="Times New Roman" pitchFamily="18" charset="0"/>
                          </a:rPr>
                          <m:t>∗</m:t>
                        </m:r>
                        <m:f>
                          <m:fPr>
                            <m:ctrlPr>
                              <a:rPr lang="en-US" altLang="zh-TW" sz="1700" i="1" dirty="0">
                                <a:latin typeface="Cambria Math"/>
                                <a:ea typeface="標楷體" pitchFamily="65" charset="-120"/>
                                <a:cs typeface="Times New Roman" pitchFamily="18" charset="0"/>
                              </a:rPr>
                            </m:ctrlPr>
                          </m:fPr>
                          <m:num>
                            <m:r>
                              <a:rPr lang="en-US" altLang="zh-TW" sz="1700" i="1" dirty="0">
                                <a:latin typeface="Cambria Math"/>
                                <a:ea typeface="標楷體" pitchFamily="65" charset="-120"/>
                                <a:cs typeface="Times New Roman" pitchFamily="18" charset="0"/>
                              </a:rPr>
                              <m:t>𝑛</m:t>
                            </m:r>
                          </m:num>
                          <m:den>
                            <m:r>
                              <a:rPr lang="zh-TW" altLang="en-US" sz="1700" i="1" dirty="0">
                                <a:latin typeface="Cambria Math"/>
                                <a:ea typeface="標楷體" pitchFamily="65" charset="-120"/>
                                <a:cs typeface="Times New Roman" pitchFamily="18" charset="0"/>
                              </a:rPr>
                              <m:t>平均位移</m:t>
                            </m:r>
                          </m:den>
                        </m:f>
                      </m:e>
                    </m:d>
                  </m:oMath>
                </a14:m>
                <a:r>
                  <a:rPr lang="en-US" altLang="zh-TW" sz="1700" i="1" dirty="0" smtClean="0">
                    <a:latin typeface="Cambria Math"/>
                    <a:ea typeface="標楷體" pitchFamily="65" charset="-120"/>
                    <a:cs typeface="Times New Roman" pitchFamily="18" charset="0"/>
                  </a:rPr>
                  <a:t/>
                </a:r>
                <a:br>
                  <a:rPr lang="en-US" altLang="zh-TW" sz="1700" i="1" dirty="0" smtClean="0">
                    <a:latin typeface="Cambria Math"/>
                    <a:ea typeface="標楷體" pitchFamily="65" charset="-120"/>
                    <a:cs typeface="Times New Roman" pitchFamily="18" charset="0"/>
                  </a:rPr>
                </a:br>
                <a14:m>
                  <m:oMath xmlns:m="http://schemas.openxmlformats.org/officeDocument/2006/math">
                    <m:r>
                      <a:rPr lang="en-US" altLang="zh-TW" sz="1700" dirty="0">
                        <a:latin typeface="Cambria Math"/>
                        <a:ea typeface="標楷體" pitchFamily="65" charset="-120"/>
                        <a:cs typeface="Times New Roman" pitchFamily="18" charset="0"/>
                      </a:rPr>
                      <m:t>=</m:t>
                    </m:r>
                    <m:r>
                      <m:rPr>
                        <m:sty m:val="p"/>
                      </m:rPr>
                      <a:rPr lang="en-US" altLang="zh-TW" sz="1700" dirty="0">
                        <a:latin typeface="Cambria Math"/>
                        <a:ea typeface="標楷體" pitchFamily="65" charset="-120"/>
                        <a:cs typeface="Times New Roman" pitchFamily="18" charset="0"/>
                      </a:rPr>
                      <m:t>O</m:t>
                    </m:r>
                    <m:d>
                      <m:dPr>
                        <m:ctrlPr>
                          <a:rPr lang="en-US" altLang="zh-TW" sz="1700" i="1" dirty="0">
                            <a:latin typeface="Cambria Math"/>
                            <a:ea typeface="標楷體" pitchFamily="65" charset="-120"/>
                            <a:cs typeface="Times New Roman" pitchFamily="18" charset="0"/>
                          </a:rPr>
                        </m:ctrlPr>
                      </m:dPr>
                      <m:e>
                        <m:d>
                          <m:dPr>
                            <m:ctrlPr>
                              <a:rPr lang="en-US" altLang="zh-TW" sz="1700" i="1" dirty="0">
                                <a:latin typeface="Cambria Math"/>
                                <a:ea typeface="標楷體" pitchFamily="65" charset="-120"/>
                                <a:cs typeface="Times New Roman" pitchFamily="18" charset="0"/>
                              </a:rPr>
                            </m:ctrlPr>
                          </m:dPr>
                          <m:e>
                            <m:f>
                              <m:fPr>
                                <m:ctrlPr>
                                  <a:rPr lang="en-US" altLang="zh-TW" sz="1700" i="1" dirty="0">
                                    <a:latin typeface="Cambria Math"/>
                                    <a:ea typeface="標楷體" pitchFamily="65" charset="-120"/>
                                    <a:cs typeface="Times New Roman" pitchFamily="18" charset="0"/>
                                  </a:rPr>
                                </m:ctrlPr>
                              </m:fPr>
                              <m:num>
                                <m:r>
                                  <a:rPr lang="en-US" altLang="zh-TW" sz="1700" i="1" dirty="0">
                                    <a:latin typeface="Cambria Math"/>
                                    <a:ea typeface="標楷體" pitchFamily="65" charset="-120"/>
                                    <a:cs typeface="Times New Roman" pitchFamily="18" charset="0"/>
                                  </a:rPr>
                                  <m:t>𝑚</m:t>
                                </m:r>
                                <m:r>
                                  <a:rPr lang="en-US" altLang="zh-TW" sz="1700" i="1" dirty="0">
                                    <a:latin typeface="Cambria Math"/>
                                    <a:ea typeface="標楷體" pitchFamily="65" charset="-120"/>
                                    <a:cs typeface="Times New Roman" pitchFamily="18" charset="0"/>
                                  </a:rPr>
                                  <m:t>−1</m:t>
                                </m:r>
                              </m:num>
                              <m:den>
                                <m:r>
                                  <a:rPr lang="en-US" altLang="zh-TW" sz="1700" i="1" dirty="0">
                                    <a:latin typeface="Cambria Math"/>
                                    <a:ea typeface="標楷體" pitchFamily="65" charset="-120"/>
                                    <a:cs typeface="Times New Roman" pitchFamily="18" charset="0"/>
                                  </a:rPr>
                                  <m:t>2</m:t>
                                </m:r>
                              </m:den>
                            </m:f>
                            <m:d>
                              <m:dPr>
                                <m:ctrlPr>
                                  <a:rPr lang="en-US" altLang="zh-TW" sz="1700" i="1" dirty="0">
                                    <a:latin typeface="Cambria Math"/>
                                    <a:ea typeface="標楷體" pitchFamily="65" charset="-120"/>
                                    <a:cs typeface="Times New Roman" pitchFamily="18" charset="0"/>
                                  </a:rPr>
                                </m:ctrlPr>
                              </m:dPr>
                              <m:e>
                                <m:r>
                                  <a:rPr lang="en-US" altLang="zh-TW" sz="1700" i="1" dirty="0">
                                    <a:latin typeface="Cambria Math"/>
                                    <a:ea typeface="標楷體" pitchFamily="65" charset="-120"/>
                                    <a:cs typeface="Times New Roman" pitchFamily="18" charset="0"/>
                                  </a:rPr>
                                  <m:t>𝑊</m:t>
                                </m:r>
                                <m:sSup>
                                  <m:sSupPr>
                                    <m:ctrlPr>
                                      <a:rPr lang="en-US" altLang="zh-TW" sz="1700" i="1" dirty="0">
                                        <a:latin typeface="Cambria Math"/>
                                        <a:ea typeface="標楷體" pitchFamily="65" charset="-120"/>
                                        <a:cs typeface="Times New Roman" pitchFamily="18" charset="0"/>
                                      </a:rPr>
                                    </m:ctrlPr>
                                  </m:sSupPr>
                                  <m:e>
                                    <m:r>
                                      <a:rPr lang="zh-TW" altLang="en-US" sz="1700" i="1" dirty="0">
                                        <a:latin typeface="Cambria Math"/>
                                        <a:ea typeface="標楷體" pitchFamily="65" charset="-120"/>
                                        <a:cs typeface="Times New Roman" pitchFamily="18" charset="0"/>
                                      </a:rPr>
                                      <m:t>𝜎</m:t>
                                    </m:r>
                                  </m:e>
                                  <m:sup>
                                    <m:r>
                                      <a:rPr lang="en-US" altLang="zh-TW" sz="1700" i="1" dirty="0">
                                        <a:latin typeface="Cambria Math"/>
                                        <a:ea typeface="標楷體" pitchFamily="65" charset="-120"/>
                                        <a:cs typeface="Times New Roman" pitchFamily="18" charset="0"/>
                                      </a:rPr>
                                      <m:t>−</m:t>
                                    </m:r>
                                    <m:r>
                                      <a:rPr lang="en-US" altLang="zh-TW" sz="1700" i="1" dirty="0">
                                        <a:latin typeface="Cambria Math"/>
                                        <a:ea typeface="標楷體" pitchFamily="65" charset="-120"/>
                                        <a:cs typeface="Times New Roman" pitchFamily="18" charset="0"/>
                                      </a:rPr>
                                      <m:t>𝑚</m:t>
                                    </m:r>
                                  </m:sup>
                                </m:sSup>
                                <m:r>
                                  <a:rPr lang="en-US" altLang="zh-TW" sz="1700" i="1" dirty="0">
                                    <a:latin typeface="Cambria Math"/>
                                    <a:ea typeface="標楷體" pitchFamily="65" charset="-120"/>
                                    <a:cs typeface="Times New Roman" pitchFamily="18" charset="0"/>
                                  </a:rPr>
                                  <m:t>+1</m:t>
                                </m:r>
                              </m:e>
                            </m:d>
                            <m:r>
                              <a:rPr lang="en-US" altLang="zh-TW" sz="1700" i="1" dirty="0">
                                <a:latin typeface="Cambria Math"/>
                                <a:ea typeface="標楷體" pitchFamily="65" charset="-120"/>
                                <a:cs typeface="Times New Roman" pitchFamily="18" charset="0"/>
                              </a:rPr>
                              <m:t>+</m:t>
                            </m:r>
                            <m:r>
                              <a:rPr lang="en-US" altLang="zh-TW" sz="1700" i="1" dirty="0">
                                <a:latin typeface="Cambria Math"/>
                                <a:ea typeface="標楷體" pitchFamily="65" charset="-120"/>
                                <a:cs typeface="Times New Roman" pitchFamily="18" charset="0"/>
                              </a:rPr>
                              <m:t>𝑊</m:t>
                            </m:r>
                            <m:r>
                              <a:rPr lang="en-US" altLang="zh-TW" sz="1700" i="1" dirty="0">
                                <a:latin typeface="Cambria Math"/>
                                <a:ea typeface="標楷體" pitchFamily="65" charset="-120"/>
                                <a:cs typeface="Times New Roman" pitchFamily="18" charset="0"/>
                              </a:rPr>
                              <m:t>−</m:t>
                            </m:r>
                            <m:r>
                              <a:rPr lang="en-US" altLang="zh-TW" sz="1700" i="1" dirty="0">
                                <a:latin typeface="Cambria Math"/>
                                <a:ea typeface="標楷體" pitchFamily="65" charset="-120"/>
                                <a:cs typeface="Times New Roman" pitchFamily="18" charset="0"/>
                              </a:rPr>
                              <m:t>𝑞</m:t>
                            </m:r>
                            <m:r>
                              <a:rPr lang="en-US" altLang="zh-TW" sz="1700" i="1" dirty="0">
                                <a:latin typeface="Cambria Math"/>
                                <a:ea typeface="標楷體" pitchFamily="65" charset="-120"/>
                                <a:cs typeface="Times New Roman" pitchFamily="18" charset="0"/>
                              </a:rPr>
                              <m:t>+1</m:t>
                            </m:r>
                          </m:e>
                        </m:d>
                        <m:r>
                          <a:rPr lang="en-US" altLang="zh-TW" sz="1700" i="1" dirty="0">
                            <a:latin typeface="Cambria Math"/>
                            <a:ea typeface="標楷體" pitchFamily="65" charset="-120"/>
                            <a:cs typeface="Times New Roman" pitchFamily="18" charset="0"/>
                          </a:rPr>
                          <m:t>∗</m:t>
                        </m:r>
                        <m:f>
                          <m:fPr>
                            <m:ctrlPr>
                              <a:rPr lang="en-US" altLang="zh-TW" sz="1700" i="1" dirty="0">
                                <a:latin typeface="Cambria Math"/>
                                <a:ea typeface="標楷體" pitchFamily="65" charset="-120"/>
                                <a:cs typeface="Times New Roman" pitchFamily="18" charset="0"/>
                              </a:rPr>
                            </m:ctrlPr>
                          </m:fPr>
                          <m:num>
                            <m:r>
                              <a:rPr lang="en-US" altLang="zh-TW" sz="1700" i="1" dirty="0">
                                <a:latin typeface="Cambria Math"/>
                                <a:ea typeface="標楷體" pitchFamily="65" charset="-120"/>
                                <a:cs typeface="Times New Roman" pitchFamily="18" charset="0"/>
                              </a:rPr>
                              <m:t>𝑛</m:t>
                            </m:r>
                          </m:num>
                          <m:den>
                            <m:r>
                              <a:rPr lang="en-US" altLang="zh-TW" sz="1700" i="1">
                                <a:latin typeface="Cambria Math"/>
                                <a:ea typeface="標楷體" pitchFamily="65" charset="-120"/>
                                <a:cs typeface="Times New Roman" pitchFamily="18" charset="0"/>
                              </a:rPr>
                              <m:t>𝑊</m:t>
                            </m:r>
                            <m:r>
                              <a:rPr lang="en-US" altLang="zh-TW" sz="1700" i="1">
                                <a:latin typeface="Cambria Math"/>
                                <a:ea typeface="標楷體" pitchFamily="65" charset="-120"/>
                                <a:cs typeface="Times New Roman" pitchFamily="18" charset="0"/>
                              </a:rPr>
                              <m:t>+</m:t>
                            </m:r>
                            <m:r>
                              <a:rPr lang="en-US" altLang="zh-TW" sz="1700" i="1">
                                <a:latin typeface="Cambria Math"/>
                                <a:ea typeface="標楷體" pitchFamily="65" charset="-120"/>
                                <a:cs typeface="Times New Roman" pitchFamily="18" charset="0"/>
                              </a:rPr>
                              <m:t>𝑚</m:t>
                            </m:r>
                            <m:r>
                              <a:rPr lang="en-US" altLang="zh-TW" sz="1700" i="1">
                                <a:latin typeface="Cambria Math"/>
                                <a:ea typeface="標楷體" pitchFamily="65" charset="-120"/>
                                <a:cs typeface="Times New Roman" pitchFamily="18" charset="0"/>
                              </a:rPr>
                              <m:t>−</m:t>
                            </m:r>
                            <m:f>
                              <m:fPr>
                                <m:ctrlPr>
                                  <a:rPr lang="en-US" altLang="zh-TW" sz="1700" i="1">
                                    <a:latin typeface="Cambria Math"/>
                                    <a:ea typeface="標楷體" pitchFamily="65" charset="-120"/>
                                    <a:cs typeface="Times New Roman" pitchFamily="18" charset="0"/>
                                  </a:rPr>
                                </m:ctrlPr>
                              </m:fPr>
                              <m:num>
                                <m:r>
                                  <a:rPr lang="en-US" altLang="zh-TW" sz="1700" i="1">
                                    <a:latin typeface="Cambria Math"/>
                                    <a:ea typeface="標楷體" pitchFamily="65" charset="-120"/>
                                    <a:cs typeface="Times New Roman" pitchFamily="18" charset="0"/>
                                  </a:rPr>
                                  <m:t>𝑚</m:t>
                                </m:r>
                                <m:d>
                                  <m:dPr>
                                    <m:ctrlPr>
                                      <a:rPr lang="en-US" altLang="zh-TW" sz="1700" i="1">
                                        <a:latin typeface="Cambria Math"/>
                                        <a:ea typeface="標楷體" pitchFamily="65" charset="-120"/>
                                        <a:cs typeface="Times New Roman" pitchFamily="18" charset="0"/>
                                      </a:rPr>
                                    </m:ctrlPr>
                                  </m:dPr>
                                  <m:e>
                                    <m:r>
                                      <a:rPr lang="en-US" altLang="zh-TW" sz="1700" i="1">
                                        <a:latin typeface="Cambria Math"/>
                                        <a:ea typeface="標楷體" pitchFamily="65" charset="-120"/>
                                        <a:cs typeface="Times New Roman" pitchFamily="18" charset="0"/>
                                      </a:rPr>
                                      <m:t>𝑚</m:t>
                                    </m:r>
                                    <m:r>
                                      <a:rPr lang="en-US" altLang="zh-TW" sz="1700" i="1">
                                        <a:latin typeface="Cambria Math"/>
                                        <a:ea typeface="標楷體" pitchFamily="65" charset="-120"/>
                                        <a:cs typeface="Times New Roman" pitchFamily="18" charset="0"/>
                                      </a:rPr>
                                      <m:t>+1</m:t>
                                    </m:r>
                                  </m:e>
                                </m:d>
                              </m:num>
                              <m:den>
                                <m:r>
                                  <a:rPr lang="en-US" altLang="zh-TW" sz="1700" i="1">
                                    <a:latin typeface="Cambria Math"/>
                                    <a:ea typeface="標楷體" pitchFamily="65" charset="-120"/>
                                    <a:cs typeface="Times New Roman" pitchFamily="18" charset="0"/>
                                  </a:rPr>
                                  <m:t>2</m:t>
                                </m:r>
                                <m:r>
                                  <a:rPr lang="zh-TW" altLang="en-US" sz="1700" i="1">
                                    <a:latin typeface="Cambria Math"/>
                                    <a:ea typeface="標楷體" pitchFamily="65" charset="-120"/>
                                    <a:cs typeface="Times New Roman" pitchFamily="18" charset="0"/>
                                  </a:rPr>
                                  <m:t>𝜎</m:t>
                                </m:r>
                              </m:den>
                            </m:f>
                          </m:den>
                        </m:f>
                      </m:e>
                    </m:d>
                  </m:oMath>
                </a14:m>
                <a:endParaRPr lang="en-US" altLang="zh-TW" sz="1700" i="1" dirty="0" smtClean="0">
                  <a:latin typeface="Cambria Math"/>
                  <a:ea typeface="標楷體" pitchFamily="65" charset="-120"/>
                  <a:cs typeface="Times New Roman"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cstate="print"/>
                <a:stretch>
                  <a:fillRect l="-1037" t="-1078" b="-11590"/>
                </a:stretch>
              </a:blipFill>
            </p:spPr>
            <p:txBody>
              <a:bodyPr/>
              <a:lstStyle/>
              <a:p>
                <a:r>
                  <a:rPr lang="zh-TW" altLang="en-US">
                    <a:noFill/>
                  </a:rPr>
                  <a:t> </a:t>
                </a:r>
              </a:p>
            </p:txBody>
          </p:sp>
        </mc:Fallback>
      </mc:AlternateContent>
    </p:spTree>
    <p:extLst>
      <p:ext uri="{BB962C8B-B14F-4D97-AF65-F5344CB8AC3E}">
        <p14:creationId xmlns="" xmlns:p14="http://schemas.microsoft.com/office/powerpoint/2010/main" val="73529698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itchFamily="18" charset="0"/>
                <a:ea typeface="標楷體" pitchFamily="65" charset="-120"/>
                <a:cs typeface="Times New Roman" pitchFamily="18" charset="0"/>
              </a:rPr>
              <a:t>Uniformly distributed</a:t>
            </a:r>
            <a:endParaRPr lang="zh-TW" altLang="en-US" dirty="0">
              <a:latin typeface="Times New Roman" pitchFamily="18" charset="0"/>
              <a:ea typeface="標楷體" pitchFamily="65" charset="-120"/>
              <a:cs typeface="Times New Roman" pitchFamily="18" charset="0"/>
            </a:endParaRPr>
          </a:p>
        </p:txBody>
      </p:sp>
      <mc:AlternateContent xmlns:mc="http://schemas.openxmlformats.org/markup-compatibility/2006">
        <mc:Choice xmlns="" xmlns:a14="http://schemas.microsoft.com/office/drawing/2010/main" Requires="a14">
          <p:sp>
            <p:nvSpPr>
              <p:cNvPr id="3" name="內容版面配置區 2"/>
              <p:cNvSpPr>
                <a:spLocks noGrp="1"/>
              </p:cNvSpPr>
              <p:nvPr>
                <p:ph idx="1"/>
              </p:nvPr>
            </p:nvSpPr>
            <p:spPr/>
            <p:txBody>
              <a:bodyPr/>
              <a:lstStyle/>
              <a:p>
                <a:r>
                  <a:rPr lang="zh-TW" altLang="en-US" sz="2500" dirty="0" smtClean="0">
                    <a:latin typeface="Times New Roman" pitchFamily="18" charset="0"/>
                    <a:ea typeface="標楷體" pitchFamily="65" charset="-120"/>
                    <a:cs typeface="Times New Roman" pitchFamily="18" charset="0"/>
                  </a:rPr>
                  <a:t>平均比對次數</a:t>
                </a:r>
                <a:endParaRPr lang="en-US" altLang="zh-TW" sz="2500" dirty="0">
                  <a:latin typeface="Times New Roman" pitchFamily="18" charset="0"/>
                  <a:ea typeface="標楷體" pitchFamily="65" charset="-120"/>
                  <a:cs typeface="Times New Roman" pitchFamily="18" charset="0"/>
                </a:endParaRPr>
              </a:p>
              <a:p>
                <a:pPr lvl="1"/>
                <a:r>
                  <a:rPr lang="en-US" altLang="zh-TW" sz="2100" dirty="0">
                    <a:latin typeface="Times New Roman" pitchFamily="18" charset="0"/>
                    <a:ea typeface="標楷體" pitchFamily="65" charset="-120"/>
                    <a:cs typeface="Times New Roman" pitchFamily="18" charset="0"/>
                  </a:rPr>
                  <a:t>P</a:t>
                </a:r>
                <a:r>
                  <a:rPr lang="zh-TW" altLang="en-US" sz="2100" dirty="0">
                    <a:latin typeface="Times New Roman" pitchFamily="18" charset="0"/>
                    <a:ea typeface="標楷體" pitchFamily="65" charset="-120"/>
                    <a:cs typeface="Times New Roman" pitchFamily="18" charset="0"/>
                  </a:rPr>
                  <a:t> 出現移動視窗中的機率為 </a:t>
                </a:r>
                <a:r>
                  <a:rPr lang="en-US" altLang="zh-TW" sz="2100" dirty="0">
                    <a:latin typeface="Times New Roman" pitchFamily="18" charset="0"/>
                    <a:ea typeface="標楷體" pitchFamily="65" charset="-120"/>
                    <a:cs typeface="Times New Roman" pitchFamily="18" charset="0"/>
                  </a:rPr>
                  <a:t>H,</a:t>
                </a:r>
                <a:r>
                  <a:rPr lang="zh-TW" altLang="en-US" sz="2100" dirty="0">
                    <a:latin typeface="Times New Roman" pitchFamily="18" charset="0"/>
                    <a:ea typeface="標楷體" pitchFamily="65" charset="-120"/>
                    <a:cs typeface="Times New Roman" pitchFamily="18" charset="0"/>
                  </a:rPr>
                  <a:t> </a:t>
                </a:r>
                <a14:m>
                  <m:oMath xmlns:m="http://schemas.openxmlformats.org/officeDocument/2006/math">
                    <m:r>
                      <a:rPr lang="en-US" altLang="zh-TW" sz="2100" i="1" dirty="0">
                        <a:latin typeface="Cambria Math"/>
                        <a:ea typeface="標楷體" pitchFamily="65" charset="-120"/>
                        <a:cs typeface="Times New Roman" pitchFamily="18" charset="0"/>
                      </a:rPr>
                      <m:t>𝐻</m:t>
                    </m:r>
                    <m:r>
                      <a:rPr lang="en-US" altLang="zh-TW" sz="2100" i="1" dirty="0">
                        <a:latin typeface="Cambria Math"/>
                        <a:ea typeface="標楷體" pitchFamily="65" charset="-120"/>
                        <a:cs typeface="Times New Roman" pitchFamily="18" charset="0"/>
                      </a:rPr>
                      <m:t>=</m:t>
                    </m:r>
                    <m:f>
                      <m:fPr>
                        <m:ctrlPr>
                          <a:rPr lang="en-US" altLang="zh-TW" sz="2100" i="1" dirty="0">
                            <a:latin typeface="Cambria Math"/>
                            <a:ea typeface="標楷體" pitchFamily="65" charset="-120"/>
                            <a:cs typeface="Times New Roman" pitchFamily="18" charset="0"/>
                          </a:rPr>
                        </m:ctrlPr>
                      </m:fPr>
                      <m:num>
                        <m:r>
                          <a:rPr lang="en-US" altLang="zh-TW" sz="2100" i="1" dirty="0">
                            <a:latin typeface="Cambria Math"/>
                            <a:ea typeface="標楷體" pitchFamily="65" charset="-120"/>
                            <a:cs typeface="Times New Roman" pitchFamily="18" charset="0"/>
                          </a:rPr>
                          <m:t>𝑊</m:t>
                        </m:r>
                        <m:sSup>
                          <m:sSupPr>
                            <m:ctrlPr>
                              <a:rPr lang="en-US" altLang="zh-TW" sz="2100" i="1" dirty="0">
                                <a:latin typeface="Cambria Math"/>
                                <a:ea typeface="標楷體" pitchFamily="65" charset="-120"/>
                                <a:cs typeface="Times New Roman" pitchFamily="18" charset="0"/>
                              </a:rPr>
                            </m:ctrlPr>
                          </m:sSupPr>
                          <m:e>
                            <m:r>
                              <a:rPr lang="zh-TW" altLang="en-US" sz="2100" i="1">
                                <a:latin typeface="Cambria Math"/>
                                <a:ea typeface="標楷體" pitchFamily="65" charset="-120"/>
                                <a:cs typeface="Times New Roman" pitchFamily="18" charset="0"/>
                              </a:rPr>
                              <m:t>𝜎</m:t>
                            </m:r>
                          </m:e>
                          <m:sup>
                            <m:r>
                              <a:rPr lang="en-US" altLang="zh-TW" sz="2100" i="1" dirty="0">
                                <a:latin typeface="Cambria Math"/>
                                <a:ea typeface="標楷體" pitchFamily="65" charset="-120"/>
                                <a:cs typeface="Times New Roman" pitchFamily="18" charset="0"/>
                              </a:rPr>
                              <m:t>𝑤𝑠</m:t>
                            </m:r>
                            <m:r>
                              <a:rPr lang="en-US" altLang="zh-TW" sz="2100" i="1" dirty="0">
                                <a:latin typeface="Cambria Math"/>
                                <a:ea typeface="標楷體" pitchFamily="65" charset="-120"/>
                                <a:cs typeface="Times New Roman" pitchFamily="18" charset="0"/>
                              </a:rPr>
                              <m:t>−</m:t>
                            </m:r>
                            <m:r>
                              <a:rPr lang="en-US" altLang="zh-TW" sz="2100" i="1" dirty="0">
                                <a:latin typeface="Cambria Math"/>
                                <a:ea typeface="標楷體" pitchFamily="65" charset="-120"/>
                                <a:cs typeface="Times New Roman" pitchFamily="18" charset="0"/>
                              </a:rPr>
                              <m:t>𝑚</m:t>
                            </m:r>
                          </m:sup>
                        </m:sSup>
                      </m:num>
                      <m:den>
                        <m:sSup>
                          <m:sSupPr>
                            <m:ctrlPr>
                              <a:rPr lang="en-US" altLang="zh-TW" sz="2100" i="1" dirty="0">
                                <a:latin typeface="Cambria Math"/>
                                <a:ea typeface="標楷體" pitchFamily="65" charset="-120"/>
                                <a:cs typeface="Times New Roman" pitchFamily="18" charset="0"/>
                              </a:rPr>
                            </m:ctrlPr>
                          </m:sSupPr>
                          <m:e>
                            <m:r>
                              <a:rPr lang="zh-TW" altLang="en-US" sz="2100" i="1">
                                <a:latin typeface="Cambria Math"/>
                                <a:ea typeface="標楷體" pitchFamily="65" charset="-120"/>
                                <a:cs typeface="Times New Roman" pitchFamily="18" charset="0"/>
                              </a:rPr>
                              <m:t>𝜎</m:t>
                            </m:r>
                          </m:e>
                          <m:sup>
                            <m:r>
                              <a:rPr lang="en-US" altLang="zh-TW" sz="2100" i="1" dirty="0">
                                <a:latin typeface="Cambria Math"/>
                                <a:ea typeface="標楷體" pitchFamily="65" charset="-120"/>
                                <a:cs typeface="Times New Roman" pitchFamily="18" charset="0"/>
                              </a:rPr>
                              <m:t>𝑤𝑠</m:t>
                            </m:r>
                          </m:sup>
                        </m:sSup>
                      </m:den>
                    </m:f>
                    <m:r>
                      <a:rPr lang="en-US" altLang="zh-TW" sz="2100" i="1" dirty="0">
                        <a:latin typeface="Cambria Math"/>
                        <a:ea typeface="標楷體" pitchFamily="65" charset="-120"/>
                        <a:cs typeface="Times New Roman" pitchFamily="18" charset="0"/>
                      </a:rPr>
                      <m:t>=</m:t>
                    </m:r>
                    <m:r>
                      <a:rPr lang="en-US" altLang="zh-TW" sz="2100" i="1" dirty="0">
                        <a:latin typeface="Cambria Math"/>
                        <a:ea typeface="標楷體" pitchFamily="65" charset="-120"/>
                        <a:cs typeface="Times New Roman" pitchFamily="18" charset="0"/>
                      </a:rPr>
                      <m:t>𝑊</m:t>
                    </m:r>
                    <m:sSup>
                      <m:sSupPr>
                        <m:ctrlPr>
                          <a:rPr lang="en-US" altLang="zh-TW" sz="2100" i="1" dirty="0">
                            <a:latin typeface="Cambria Math"/>
                            <a:ea typeface="標楷體" pitchFamily="65" charset="-120"/>
                            <a:cs typeface="Times New Roman" pitchFamily="18" charset="0"/>
                          </a:rPr>
                        </m:ctrlPr>
                      </m:sSupPr>
                      <m:e>
                        <m:r>
                          <a:rPr lang="zh-TW" altLang="en-US" sz="2100" i="1">
                            <a:latin typeface="Cambria Math"/>
                            <a:ea typeface="標楷體" pitchFamily="65" charset="-120"/>
                            <a:cs typeface="Times New Roman" pitchFamily="18" charset="0"/>
                          </a:rPr>
                          <m:t>𝜎</m:t>
                        </m:r>
                      </m:e>
                      <m:sup>
                        <m:r>
                          <a:rPr lang="en-US" altLang="zh-TW" sz="2100" i="1" dirty="0">
                            <a:latin typeface="Cambria Math"/>
                            <a:ea typeface="標楷體" pitchFamily="65" charset="-120"/>
                            <a:cs typeface="Times New Roman" pitchFamily="18" charset="0"/>
                          </a:rPr>
                          <m:t>−</m:t>
                        </m:r>
                        <m:r>
                          <a:rPr lang="en-US" altLang="zh-TW" sz="2100" i="1" dirty="0">
                            <a:latin typeface="Cambria Math"/>
                            <a:ea typeface="標楷體" pitchFamily="65" charset="-120"/>
                            <a:cs typeface="Times New Roman" pitchFamily="18" charset="0"/>
                          </a:rPr>
                          <m:t>𝑚</m:t>
                        </m:r>
                      </m:sup>
                    </m:sSup>
                  </m:oMath>
                </a14:m>
                <a:endParaRPr lang="en-US" altLang="zh-TW" sz="2100" dirty="0" smtClean="0">
                  <a:latin typeface="Times New Roman" pitchFamily="18" charset="0"/>
                  <a:ea typeface="標楷體" pitchFamily="65" charset="-120"/>
                  <a:cs typeface="Times New Roman" pitchFamily="18" charset="0"/>
                </a:endParaRPr>
              </a:p>
              <a:p>
                <a:pPr lvl="1"/>
                <a:r>
                  <a:rPr lang="zh-TW" altLang="en-US" sz="2100" dirty="0" smtClean="0">
                    <a:latin typeface="Times New Roman" pitchFamily="18" charset="0"/>
                    <a:ea typeface="標楷體" pitchFamily="65" charset="-120"/>
                    <a:cs typeface="Times New Roman" pitchFamily="18" charset="0"/>
                  </a:rPr>
                  <a:t>當 </a:t>
                </a:r>
                <a:r>
                  <a:rPr lang="en-US" altLang="zh-TW" sz="2100" dirty="0" smtClean="0">
                    <a:latin typeface="Times New Roman" pitchFamily="18" charset="0"/>
                    <a:ea typeface="標楷體" pitchFamily="65" charset="-120"/>
                    <a:cs typeface="Times New Roman" pitchFamily="18" charset="0"/>
                  </a:rPr>
                  <a:t>P </a:t>
                </a:r>
                <a:r>
                  <a:rPr lang="zh-TW" altLang="en-US" sz="2100" dirty="0" smtClean="0">
                    <a:latin typeface="Times New Roman" pitchFamily="18" charset="0"/>
                    <a:ea typeface="標楷體" pitchFamily="65" charset="-120"/>
                    <a:cs typeface="Times New Roman" pitchFamily="18" charset="0"/>
                  </a:rPr>
                  <a:t>出現，需要 </a:t>
                </a:r>
                <a14:m>
                  <m:oMath xmlns:m="http://schemas.openxmlformats.org/officeDocument/2006/math">
                    <m:r>
                      <a:rPr lang="en-US" altLang="zh-TW" sz="2100" b="0" i="1" smtClean="0">
                        <a:latin typeface="Cambria Math"/>
                        <a:ea typeface="標楷體" pitchFamily="65" charset="-120"/>
                        <a:cs typeface="Times New Roman" pitchFamily="18" charset="0"/>
                      </a:rPr>
                      <m:t>𝑊</m:t>
                    </m:r>
                    <m:r>
                      <a:rPr lang="en-US" altLang="zh-TW" sz="2100" b="0" i="1" smtClean="0">
                        <a:latin typeface="Cambria Math"/>
                        <a:ea typeface="標楷體" pitchFamily="65" charset="-120"/>
                        <a:cs typeface="Times New Roman" pitchFamily="18" charset="0"/>
                      </a:rPr>
                      <m:t>+</m:t>
                    </m:r>
                    <m:r>
                      <a:rPr lang="en-US" altLang="zh-TW" sz="2100" b="0" i="1" smtClean="0">
                        <a:latin typeface="Cambria Math"/>
                        <a:ea typeface="標楷體" pitchFamily="65" charset="-120"/>
                        <a:cs typeface="Times New Roman" pitchFamily="18" charset="0"/>
                      </a:rPr>
                      <m:t>𝑚</m:t>
                    </m:r>
                    <m:r>
                      <a:rPr lang="en-US" altLang="zh-TW" sz="2100" b="0" i="1" smtClean="0">
                        <a:latin typeface="Cambria Math"/>
                        <a:ea typeface="標楷體" pitchFamily="65" charset="-120"/>
                        <a:cs typeface="Times New Roman" pitchFamily="18" charset="0"/>
                      </a:rPr>
                      <m:t>−</m:t>
                    </m:r>
                    <m:r>
                      <a:rPr lang="en-US" altLang="zh-TW" sz="2100" b="0" i="1" smtClean="0">
                        <a:latin typeface="Cambria Math"/>
                        <a:ea typeface="標楷體" pitchFamily="65" charset="-120"/>
                        <a:cs typeface="Times New Roman" pitchFamily="18" charset="0"/>
                      </a:rPr>
                      <m:t>𝑞</m:t>
                    </m:r>
                  </m:oMath>
                </a14:m>
                <a:r>
                  <a:rPr lang="zh-TW" altLang="en-US" sz="2100" dirty="0" smtClean="0">
                    <a:latin typeface="Times New Roman" pitchFamily="18" charset="0"/>
                    <a:ea typeface="標楷體" pitchFamily="65" charset="-120"/>
                    <a:cs typeface="Times New Roman" pitchFamily="18" charset="0"/>
                  </a:rPr>
                  <a:t> 次比對</a:t>
                </a:r>
                <a:endParaRPr lang="en-US" altLang="zh-TW" sz="2100" dirty="0" smtClean="0">
                  <a:latin typeface="Times New Roman" pitchFamily="18" charset="0"/>
                  <a:ea typeface="標楷體" pitchFamily="65" charset="-120"/>
                  <a:cs typeface="Times New Roman" pitchFamily="18" charset="0"/>
                </a:endParaRPr>
              </a:p>
              <a:p>
                <a:pPr lvl="1"/>
                <a:r>
                  <a:rPr lang="zh-TW" altLang="en-US" sz="2100" dirty="0">
                    <a:latin typeface="Times New Roman" pitchFamily="18" charset="0"/>
                    <a:ea typeface="標楷體" pitchFamily="65" charset="-120"/>
                    <a:cs typeface="Times New Roman" pitchFamily="18" charset="0"/>
                  </a:rPr>
                  <a:t>當 </a:t>
                </a:r>
                <a:r>
                  <a:rPr lang="en-US" altLang="zh-TW" sz="2100" dirty="0">
                    <a:latin typeface="Times New Roman" pitchFamily="18" charset="0"/>
                    <a:ea typeface="標楷體" pitchFamily="65" charset="-120"/>
                    <a:cs typeface="Times New Roman" pitchFamily="18" charset="0"/>
                  </a:rPr>
                  <a:t>P </a:t>
                </a:r>
                <a:r>
                  <a:rPr lang="zh-TW" altLang="en-US" sz="2100" dirty="0">
                    <a:latin typeface="Times New Roman" pitchFamily="18" charset="0"/>
                    <a:ea typeface="標楷體" pitchFamily="65" charset="-120"/>
                    <a:cs typeface="Times New Roman" pitchFamily="18" charset="0"/>
                  </a:rPr>
                  <a:t>沒有出現</a:t>
                </a:r>
                <a:r>
                  <a:rPr lang="zh-TW" altLang="en-US" sz="2100" dirty="0" smtClean="0">
                    <a:latin typeface="Times New Roman" pitchFamily="18" charset="0"/>
                    <a:ea typeface="標楷體" pitchFamily="65" charset="-120"/>
                    <a:cs typeface="Times New Roman" pitchFamily="18" charset="0"/>
                  </a:rPr>
                  <a:t>，符號均勻分布下，</a:t>
                </a:r>
                <a:r>
                  <a:rPr lang="en-US" altLang="zh-TW" sz="2100" dirty="0" smtClean="0">
                    <a:latin typeface="Times New Roman" pitchFamily="18" charset="0"/>
                    <a:ea typeface="標楷體" pitchFamily="65" charset="-120"/>
                    <a:cs typeface="Times New Roman" pitchFamily="18" charset="0"/>
                  </a:rPr>
                  <a:t/>
                </a:r>
                <a:br>
                  <a:rPr lang="en-US" altLang="zh-TW" sz="2100" dirty="0" smtClean="0">
                    <a:latin typeface="Times New Roman" pitchFamily="18" charset="0"/>
                    <a:ea typeface="標楷體" pitchFamily="65" charset="-120"/>
                    <a:cs typeface="Times New Roman" pitchFamily="18" charset="0"/>
                  </a:rPr>
                </a:br>
                <a14:m>
                  <m:oMath xmlns:m="http://schemas.openxmlformats.org/officeDocument/2006/math">
                    <m:f>
                      <m:fPr>
                        <m:ctrlPr>
                          <a:rPr lang="en-US" altLang="zh-TW" sz="2100" i="1" smtClean="0">
                            <a:latin typeface="Cambria Math"/>
                            <a:ea typeface="標楷體" pitchFamily="65" charset="-120"/>
                            <a:cs typeface="Times New Roman" pitchFamily="18" charset="0"/>
                          </a:rPr>
                        </m:ctrlPr>
                      </m:fPr>
                      <m:num>
                        <m:d>
                          <m:dPr>
                            <m:ctrlPr>
                              <a:rPr lang="en-US" altLang="zh-TW" sz="2100" b="0" i="1" smtClean="0">
                                <a:latin typeface="Cambria Math"/>
                                <a:ea typeface="標楷體" pitchFamily="65" charset="-120"/>
                                <a:cs typeface="Times New Roman" pitchFamily="18" charset="0"/>
                              </a:rPr>
                            </m:ctrlPr>
                          </m:dPr>
                          <m:e>
                            <m:r>
                              <a:rPr lang="en-US" altLang="zh-TW" sz="2100" b="0" i="1" smtClean="0">
                                <a:latin typeface="Cambria Math"/>
                                <a:ea typeface="標楷體" pitchFamily="65" charset="-120"/>
                                <a:cs typeface="Times New Roman" pitchFamily="18" charset="0"/>
                              </a:rPr>
                              <m:t>𝑊</m:t>
                            </m:r>
                            <m:r>
                              <a:rPr lang="en-US" altLang="zh-TW" sz="2100" b="0" i="1" smtClean="0">
                                <a:latin typeface="Cambria Math"/>
                                <a:ea typeface="標楷體" pitchFamily="65" charset="-120"/>
                                <a:cs typeface="Times New Roman" pitchFamily="18" charset="0"/>
                              </a:rPr>
                              <m:t>−</m:t>
                            </m:r>
                            <m:r>
                              <a:rPr lang="en-US" altLang="zh-TW" sz="2100" b="0" i="1" smtClean="0">
                                <a:latin typeface="Cambria Math"/>
                                <a:ea typeface="標楷體" pitchFamily="65" charset="-120"/>
                                <a:cs typeface="Times New Roman" pitchFamily="18" charset="0"/>
                              </a:rPr>
                              <m:t>𝑞</m:t>
                            </m:r>
                            <m:r>
                              <a:rPr lang="en-US" altLang="zh-TW" sz="2100" b="0" i="1" smtClean="0">
                                <a:latin typeface="Cambria Math"/>
                                <a:ea typeface="標楷體" pitchFamily="65" charset="-120"/>
                                <a:cs typeface="Times New Roman" pitchFamily="18" charset="0"/>
                              </a:rPr>
                              <m:t>+1</m:t>
                            </m:r>
                          </m:e>
                        </m:d>
                        <m:r>
                          <a:rPr lang="en-US" altLang="zh-TW" sz="2100" b="0" i="1" smtClean="0">
                            <a:latin typeface="Cambria Math"/>
                            <a:ea typeface="標楷體" pitchFamily="65" charset="-120"/>
                            <a:cs typeface="Times New Roman" pitchFamily="18" charset="0"/>
                          </a:rPr>
                          <m:t>+(</m:t>
                        </m:r>
                        <m:r>
                          <a:rPr lang="en-US" altLang="zh-TW" sz="2100" b="0" i="1" smtClean="0">
                            <a:latin typeface="Cambria Math"/>
                            <a:ea typeface="標楷體" pitchFamily="65" charset="-120"/>
                            <a:cs typeface="Times New Roman" pitchFamily="18" charset="0"/>
                          </a:rPr>
                          <m:t>𝑊</m:t>
                        </m:r>
                        <m:r>
                          <a:rPr lang="en-US" altLang="zh-TW" sz="2100" b="0" i="1" smtClean="0">
                            <a:latin typeface="Cambria Math"/>
                            <a:ea typeface="標楷體" pitchFamily="65" charset="-120"/>
                            <a:cs typeface="Times New Roman" pitchFamily="18" charset="0"/>
                          </a:rPr>
                          <m:t>+</m:t>
                        </m:r>
                        <m:r>
                          <a:rPr lang="en-US" altLang="zh-TW" sz="2100" b="0" i="1" smtClean="0">
                            <a:latin typeface="Cambria Math"/>
                            <a:ea typeface="標楷體" pitchFamily="65" charset="-120"/>
                            <a:cs typeface="Times New Roman" pitchFamily="18" charset="0"/>
                          </a:rPr>
                          <m:t>𝑚</m:t>
                        </m:r>
                        <m:r>
                          <a:rPr lang="en-US" altLang="zh-TW" sz="2100" b="0" i="1" smtClean="0">
                            <a:latin typeface="Cambria Math"/>
                            <a:ea typeface="標楷體" pitchFamily="65" charset="-120"/>
                            <a:cs typeface="Times New Roman" pitchFamily="18" charset="0"/>
                          </a:rPr>
                          <m:t>−</m:t>
                        </m:r>
                        <m:r>
                          <a:rPr lang="en-US" altLang="zh-TW" sz="2100" b="0" i="1" smtClean="0">
                            <a:latin typeface="Cambria Math"/>
                            <a:ea typeface="標楷體" pitchFamily="65" charset="-120"/>
                            <a:cs typeface="Times New Roman" pitchFamily="18" charset="0"/>
                          </a:rPr>
                          <m:t>𝑞</m:t>
                        </m:r>
                        <m:r>
                          <a:rPr lang="en-US" altLang="zh-TW" sz="2100" b="0" i="1" smtClean="0">
                            <a:latin typeface="Cambria Math"/>
                            <a:ea typeface="標楷體" pitchFamily="65" charset="-120"/>
                            <a:cs typeface="Times New Roman" pitchFamily="18" charset="0"/>
                          </a:rPr>
                          <m:t>)</m:t>
                        </m:r>
                      </m:num>
                      <m:den>
                        <m:r>
                          <a:rPr lang="en-US" altLang="zh-TW" sz="2100" b="0" i="1" smtClean="0">
                            <a:latin typeface="Cambria Math"/>
                            <a:ea typeface="標楷體" pitchFamily="65" charset="-120"/>
                            <a:cs typeface="Times New Roman" pitchFamily="18" charset="0"/>
                          </a:rPr>
                          <m:t>2</m:t>
                        </m:r>
                      </m:den>
                    </m:f>
                    <m:r>
                      <a:rPr lang="en-US" altLang="zh-TW" sz="2100" b="0" i="1" smtClean="0">
                        <a:latin typeface="Cambria Math"/>
                        <a:ea typeface="標楷體" pitchFamily="65" charset="-120"/>
                        <a:cs typeface="Times New Roman" pitchFamily="18" charset="0"/>
                      </a:rPr>
                      <m:t>=</m:t>
                    </m:r>
                    <m:r>
                      <a:rPr lang="en-US" altLang="zh-TW" sz="2100" b="0" i="1" smtClean="0">
                        <a:latin typeface="Cambria Math"/>
                        <a:ea typeface="標楷體" pitchFamily="65" charset="-120"/>
                        <a:cs typeface="Times New Roman" pitchFamily="18" charset="0"/>
                      </a:rPr>
                      <m:t>𝑊</m:t>
                    </m:r>
                    <m:r>
                      <a:rPr lang="en-US" altLang="zh-TW" sz="2100" b="0" i="1" smtClean="0">
                        <a:latin typeface="Cambria Math"/>
                        <a:ea typeface="標楷體" pitchFamily="65" charset="-120"/>
                        <a:cs typeface="Times New Roman" pitchFamily="18" charset="0"/>
                      </a:rPr>
                      <m:t>−</m:t>
                    </m:r>
                    <m:r>
                      <a:rPr lang="en-US" altLang="zh-TW" sz="2100" b="0" i="1" smtClean="0">
                        <a:latin typeface="Cambria Math"/>
                        <a:ea typeface="標楷體" pitchFamily="65" charset="-120"/>
                        <a:cs typeface="Times New Roman" pitchFamily="18" charset="0"/>
                      </a:rPr>
                      <m:t>𝑞</m:t>
                    </m:r>
                    <m:r>
                      <a:rPr lang="en-US" altLang="zh-TW" sz="2100" b="0" i="1" smtClean="0">
                        <a:latin typeface="Cambria Math"/>
                        <a:ea typeface="標楷體" pitchFamily="65" charset="-120"/>
                        <a:cs typeface="Times New Roman" pitchFamily="18" charset="0"/>
                      </a:rPr>
                      <m:t>+</m:t>
                    </m:r>
                    <m:f>
                      <m:fPr>
                        <m:ctrlPr>
                          <a:rPr lang="en-US" altLang="zh-TW" sz="2100" b="0" i="1" smtClean="0">
                            <a:latin typeface="Cambria Math"/>
                            <a:ea typeface="標楷體" pitchFamily="65" charset="-120"/>
                            <a:cs typeface="Times New Roman" pitchFamily="18" charset="0"/>
                          </a:rPr>
                        </m:ctrlPr>
                      </m:fPr>
                      <m:num>
                        <m:r>
                          <a:rPr lang="en-US" altLang="zh-TW" sz="2100" b="0" i="1" smtClean="0">
                            <a:latin typeface="Cambria Math"/>
                            <a:ea typeface="標楷體" pitchFamily="65" charset="-120"/>
                            <a:cs typeface="Times New Roman" pitchFamily="18" charset="0"/>
                          </a:rPr>
                          <m:t>𝑚</m:t>
                        </m:r>
                        <m:r>
                          <a:rPr lang="en-US" altLang="zh-TW" sz="2100" b="0" i="1" smtClean="0">
                            <a:latin typeface="Cambria Math"/>
                            <a:ea typeface="標楷體" pitchFamily="65" charset="-120"/>
                            <a:cs typeface="Times New Roman" pitchFamily="18" charset="0"/>
                          </a:rPr>
                          <m:t>+1</m:t>
                        </m:r>
                      </m:num>
                      <m:den>
                        <m:r>
                          <a:rPr lang="en-US" altLang="zh-TW" sz="2100" b="0" i="1" smtClean="0">
                            <a:latin typeface="Cambria Math"/>
                            <a:ea typeface="標楷體" pitchFamily="65" charset="-120"/>
                            <a:cs typeface="Times New Roman" pitchFamily="18" charset="0"/>
                          </a:rPr>
                          <m:t>2</m:t>
                        </m:r>
                      </m:den>
                    </m:f>
                  </m:oMath>
                </a14:m>
                <a:endParaRPr lang="en-US" altLang="zh-TW" sz="2100" dirty="0" smtClean="0">
                  <a:latin typeface="Times New Roman" pitchFamily="18" charset="0"/>
                  <a:ea typeface="標楷體" pitchFamily="65" charset="-120"/>
                  <a:cs typeface="Times New Roman" pitchFamily="18" charset="0"/>
                </a:endParaRPr>
              </a:p>
              <a:p>
                <a:r>
                  <a:rPr lang="zh-TW" altLang="en-US" sz="2500" dirty="0" smtClean="0">
                    <a:latin typeface="Times New Roman" pitchFamily="18" charset="0"/>
                    <a:ea typeface="標楷體" pitchFamily="65" charset="-120"/>
                    <a:cs typeface="Times New Roman" pitchFamily="18" charset="0"/>
                  </a:rPr>
                  <a:t>平均</a:t>
                </a:r>
                <a:r>
                  <a:rPr lang="zh-TW" altLang="en-US" sz="2500" dirty="0">
                    <a:latin typeface="Times New Roman" pitchFamily="18" charset="0"/>
                    <a:ea typeface="標楷體" pitchFamily="65" charset="-120"/>
                    <a:cs typeface="Times New Roman" pitchFamily="18" charset="0"/>
                  </a:rPr>
                  <a:t>位移 </a:t>
                </a:r>
                <a:r>
                  <a:rPr lang="en-US" altLang="zh-TW" sz="2500" dirty="0">
                    <a:latin typeface="Times New Roman" pitchFamily="18" charset="0"/>
                    <a:ea typeface="標楷體" pitchFamily="65" charset="-120"/>
                    <a:cs typeface="Times New Roman" pitchFamily="18" charset="0"/>
                  </a:rPr>
                  <a:t>(</a:t>
                </a:r>
                <a:r>
                  <a:rPr lang="zh-TW" altLang="en-US" sz="2500" dirty="0">
                    <a:latin typeface="Times New Roman" pitchFamily="18" charset="0"/>
                    <a:ea typeface="標楷體" pitchFamily="65" charset="-120"/>
                    <a:cs typeface="Times New Roman" pitchFamily="18" charset="0"/>
                  </a:rPr>
                  <a:t>同 </a:t>
                </a:r>
                <a:r>
                  <a:rPr lang="en-US" altLang="zh-TW" sz="2500" dirty="0">
                    <a:latin typeface="Times New Roman" pitchFamily="18" charset="0"/>
                    <a:ea typeface="標楷體" pitchFamily="65" charset="-120"/>
                    <a:cs typeface="Times New Roman" pitchFamily="18" charset="0"/>
                  </a:rPr>
                  <a:t>BLIM</a:t>
                </a:r>
                <a:r>
                  <a:rPr lang="en-US" altLang="zh-TW" sz="2500" dirty="0" smtClean="0">
                    <a:latin typeface="Times New Roman" pitchFamily="18" charset="0"/>
                    <a:ea typeface="標楷體" pitchFamily="65" charset="-120"/>
                    <a:cs typeface="Times New Roman" pitchFamily="18" charset="0"/>
                  </a:rPr>
                  <a:t>)</a:t>
                </a:r>
              </a:p>
              <a:p>
                <a:pPr lvl="1"/>
                <a14:m>
                  <m:oMath xmlns:m="http://schemas.openxmlformats.org/officeDocument/2006/math">
                    <m:f>
                      <m:fPr>
                        <m:ctrlPr>
                          <a:rPr lang="en-US" altLang="zh-TW" sz="2100" i="1">
                            <a:latin typeface="Cambria Math"/>
                            <a:ea typeface="標楷體" pitchFamily="65" charset="-120"/>
                            <a:cs typeface="Times New Roman" pitchFamily="18" charset="0"/>
                          </a:rPr>
                        </m:ctrlPr>
                      </m:fPr>
                      <m:num>
                        <m:d>
                          <m:dPr>
                            <m:ctrlPr>
                              <a:rPr lang="en-US" altLang="zh-TW" sz="2100" i="1">
                                <a:latin typeface="Cambria Math"/>
                                <a:ea typeface="標楷體" pitchFamily="65" charset="-120"/>
                                <a:cs typeface="Times New Roman" pitchFamily="18" charset="0"/>
                              </a:rPr>
                            </m:ctrlPr>
                          </m:dPr>
                          <m:e>
                            <m:r>
                              <a:rPr lang="zh-TW" altLang="en-US" sz="2100" i="1">
                                <a:latin typeface="Cambria Math"/>
                                <a:ea typeface="標楷體" pitchFamily="65" charset="-120"/>
                                <a:cs typeface="Times New Roman" pitchFamily="18" charset="0"/>
                              </a:rPr>
                              <m:t>𝜎</m:t>
                            </m:r>
                            <m:r>
                              <a:rPr lang="en-US" altLang="zh-TW" sz="2100" i="1">
                                <a:latin typeface="Cambria Math"/>
                                <a:ea typeface="標楷體" pitchFamily="65" charset="-120"/>
                                <a:cs typeface="Times New Roman" pitchFamily="18" charset="0"/>
                              </a:rPr>
                              <m:t>−</m:t>
                            </m:r>
                            <m:r>
                              <a:rPr lang="en-US" altLang="zh-TW" sz="2100" i="1">
                                <a:latin typeface="Cambria Math"/>
                                <a:ea typeface="標楷體" pitchFamily="65" charset="-120"/>
                                <a:cs typeface="Times New Roman" pitchFamily="18" charset="0"/>
                              </a:rPr>
                              <m:t>𝑚</m:t>
                            </m:r>
                          </m:e>
                        </m:d>
                        <m:d>
                          <m:dPr>
                            <m:ctrlPr>
                              <a:rPr lang="en-US" altLang="zh-TW" sz="2100" i="1">
                                <a:latin typeface="Cambria Math"/>
                                <a:ea typeface="標楷體" pitchFamily="65" charset="-120"/>
                                <a:cs typeface="Times New Roman" pitchFamily="18" charset="0"/>
                              </a:rPr>
                            </m:ctrlPr>
                          </m:dPr>
                          <m:e>
                            <m:r>
                              <a:rPr lang="en-US" altLang="zh-TW" sz="2100" i="1">
                                <a:latin typeface="Cambria Math"/>
                                <a:ea typeface="標楷體" pitchFamily="65" charset="-120"/>
                                <a:cs typeface="Times New Roman" pitchFamily="18" charset="0"/>
                              </a:rPr>
                              <m:t>𝑊</m:t>
                            </m:r>
                            <m:r>
                              <a:rPr lang="en-US" altLang="zh-TW" sz="2100" i="1">
                                <a:latin typeface="Cambria Math"/>
                                <a:ea typeface="標楷體" pitchFamily="65" charset="-120"/>
                                <a:cs typeface="Times New Roman" pitchFamily="18" charset="0"/>
                              </a:rPr>
                              <m:t>+</m:t>
                            </m:r>
                            <m:r>
                              <a:rPr lang="en-US" altLang="zh-TW" sz="2100" i="1">
                                <a:latin typeface="Cambria Math"/>
                                <a:ea typeface="標楷體" pitchFamily="65" charset="-120"/>
                                <a:cs typeface="Times New Roman" pitchFamily="18" charset="0"/>
                              </a:rPr>
                              <m:t>𝑚</m:t>
                            </m:r>
                          </m:e>
                        </m:d>
                        <m:r>
                          <a:rPr lang="en-US" altLang="zh-TW" sz="2100" i="1">
                            <a:latin typeface="Cambria Math"/>
                            <a:ea typeface="標楷體" pitchFamily="65" charset="-120"/>
                            <a:cs typeface="Times New Roman" pitchFamily="18" charset="0"/>
                          </a:rPr>
                          <m:t>+</m:t>
                        </m:r>
                        <m:r>
                          <a:rPr lang="en-US" altLang="zh-TW" sz="2100" i="1">
                            <a:latin typeface="Cambria Math"/>
                            <a:ea typeface="標楷體" pitchFamily="65" charset="-120"/>
                            <a:cs typeface="Times New Roman" pitchFamily="18" charset="0"/>
                          </a:rPr>
                          <m:t>𝑊</m:t>
                        </m:r>
                        <m:r>
                          <a:rPr lang="en-US" altLang="zh-TW" sz="2100" i="1">
                            <a:latin typeface="Cambria Math"/>
                            <a:ea typeface="標楷體" pitchFamily="65" charset="-120"/>
                            <a:cs typeface="Times New Roman" pitchFamily="18" charset="0"/>
                          </a:rPr>
                          <m:t>+</m:t>
                        </m:r>
                        <m:d>
                          <m:dPr>
                            <m:ctrlPr>
                              <a:rPr lang="en-US" altLang="zh-TW" sz="2100" i="1">
                                <a:latin typeface="Cambria Math"/>
                                <a:ea typeface="標楷體" pitchFamily="65" charset="-120"/>
                                <a:cs typeface="Times New Roman" pitchFamily="18" charset="0"/>
                              </a:rPr>
                            </m:ctrlPr>
                          </m:dPr>
                          <m:e>
                            <m:r>
                              <a:rPr lang="en-US" altLang="zh-TW" sz="2100" i="1">
                                <a:latin typeface="Cambria Math"/>
                                <a:ea typeface="標楷體" pitchFamily="65" charset="-120"/>
                                <a:cs typeface="Times New Roman" pitchFamily="18" charset="0"/>
                              </a:rPr>
                              <m:t>𝑊</m:t>
                            </m:r>
                            <m:r>
                              <a:rPr lang="en-US" altLang="zh-TW" sz="2100" i="1">
                                <a:latin typeface="Cambria Math"/>
                                <a:ea typeface="標楷體" pitchFamily="65" charset="-120"/>
                                <a:cs typeface="Times New Roman" pitchFamily="18" charset="0"/>
                              </a:rPr>
                              <m:t>+1</m:t>
                            </m:r>
                          </m:e>
                        </m:d>
                        <m:r>
                          <a:rPr lang="en-US" altLang="zh-TW" sz="2100" i="1">
                            <a:latin typeface="Cambria Math"/>
                            <a:ea typeface="標楷體" pitchFamily="65" charset="-120"/>
                            <a:cs typeface="Times New Roman" pitchFamily="18" charset="0"/>
                          </a:rPr>
                          <m:t>+…+(</m:t>
                        </m:r>
                        <m:r>
                          <a:rPr lang="en-US" altLang="zh-TW" sz="2100" i="1">
                            <a:latin typeface="Cambria Math"/>
                            <a:ea typeface="標楷體" pitchFamily="65" charset="-120"/>
                            <a:cs typeface="Times New Roman" pitchFamily="18" charset="0"/>
                          </a:rPr>
                          <m:t>𝑊</m:t>
                        </m:r>
                        <m:r>
                          <a:rPr lang="en-US" altLang="zh-TW" sz="2100" i="1">
                            <a:latin typeface="Cambria Math"/>
                            <a:ea typeface="標楷體" pitchFamily="65" charset="-120"/>
                            <a:cs typeface="Times New Roman" pitchFamily="18" charset="0"/>
                          </a:rPr>
                          <m:t>+</m:t>
                        </m:r>
                        <m:r>
                          <a:rPr lang="en-US" altLang="zh-TW" sz="2100" i="1">
                            <a:latin typeface="Cambria Math"/>
                            <a:ea typeface="標楷體" pitchFamily="65" charset="-120"/>
                            <a:cs typeface="Times New Roman" pitchFamily="18" charset="0"/>
                          </a:rPr>
                          <m:t>𝑚</m:t>
                        </m:r>
                        <m:r>
                          <a:rPr lang="en-US" altLang="zh-TW" sz="2100" i="1">
                            <a:latin typeface="Cambria Math"/>
                            <a:ea typeface="標楷體" pitchFamily="65" charset="-120"/>
                            <a:cs typeface="Times New Roman" pitchFamily="18" charset="0"/>
                          </a:rPr>
                          <m:t>+1)</m:t>
                        </m:r>
                      </m:num>
                      <m:den>
                        <m:r>
                          <a:rPr lang="zh-TW" altLang="en-US" sz="2100" i="1">
                            <a:latin typeface="Cambria Math"/>
                            <a:ea typeface="標楷體" pitchFamily="65" charset="-120"/>
                            <a:cs typeface="Times New Roman" pitchFamily="18" charset="0"/>
                          </a:rPr>
                          <m:t>𝜎</m:t>
                        </m:r>
                      </m:den>
                    </m:f>
                    <m:r>
                      <a:rPr lang="en-US" altLang="zh-TW" sz="2100" i="1">
                        <a:latin typeface="Cambria Math"/>
                        <a:ea typeface="標楷體" pitchFamily="65" charset="-120"/>
                        <a:cs typeface="Times New Roman" pitchFamily="18" charset="0"/>
                      </a:rPr>
                      <m:t>=</m:t>
                    </m:r>
                    <m:r>
                      <a:rPr lang="en-US" altLang="zh-TW" sz="2100" i="1">
                        <a:latin typeface="Cambria Math"/>
                        <a:ea typeface="標楷體" pitchFamily="65" charset="-120"/>
                        <a:cs typeface="Times New Roman" pitchFamily="18" charset="0"/>
                      </a:rPr>
                      <m:t>𝑊</m:t>
                    </m:r>
                    <m:r>
                      <a:rPr lang="en-US" altLang="zh-TW" sz="2100" i="1">
                        <a:latin typeface="Cambria Math"/>
                        <a:ea typeface="標楷體" pitchFamily="65" charset="-120"/>
                        <a:cs typeface="Times New Roman" pitchFamily="18" charset="0"/>
                      </a:rPr>
                      <m:t>+</m:t>
                    </m:r>
                    <m:r>
                      <a:rPr lang="en-US" altLang="zh-TW" sz="2100" i="1">
                        <a:latin typeface="Cambria Math"/>
                        <a:ea typeface="標楷體" pitchFamily="65" charset="-120"/>
                        <a:cs typeface="Times New Roman" pitchFamily="18" charset="0"/>
                      </a:rPr>
                      <m:t>𝑚</m:t>
                    </m:r>
                    <m:r>
                      <a:rPr lang="en-US" altLang="zh-TW" sz="2100" i="1">
                        <a:latin typeface="Cambria Math"/>
                        <a:ea typeface="標楷體" pitchFamily="65" charset="-120"/>
                        <a:cs typeface="Times New Roman" pitchFamily="18" charset="0"/>
                      </a:rPr>
                      <m:t>−</m:t>
                    </m:r>
                    <m:f>
                      <m:fPr>
                        <m:ctrlPr>
                          <a:rPr lang="en-US" altLang="zh-TW" sz="2100" i="1">
                            <a:latin typeface="Cambria Math"/>
                            <a:ea typeface="標楷體" pitchFamily="65" charset="-120"/>
                            <a:cs typeface="Times New Roman" pitchFamily="18" charset="0"/>
                          </a:rPr>
                        </m:ctrlPr>
                      </m:fPr>
                      <m:num>
                        <m:r>
                          <a:rPr lang="en-US" altLang="zh-TW" sz="2100" i="1">
                            <a:latin typeface="Cambria Math"/>
                            <a:ea typeface="標楷體" pitchFamily="65" charset="-120"/>
                            <a:cs typeface="Times New Roman" pitchFamily="18" charset="0"/>
                          </a:rPr>
                          <m:t>𝑚</m:t>
                        </m:r>
                        <m:r>
                          <a:rPr lang="en-US" altLang="zh-TW" sz="2100" i="1">
                            <a:latin typeface="Cambria Math"/>
                            <a:ea typeface="標楷體" pitchFamily="65" charset="-120"/>
                            <a:cs typeface="Times New Roman" pitchFamily="18" charset="0"/>
                          </a:rPr>
                          <m:t>(</m:t>
                        </m:r>
                        <m:r>
                          <a:rPr lang="en-US" altLang="zh-TW" sz="2100" i="1">
                            <a:latin typeface="Cambria Math"/>
                            <a:ea typeface="標楷體" pitchFamily="65" charset="-120"/>
                            <a:cs typeface="Times New Roman" pitchFamily="18" charset="0"/>
                          </a:rPr>
                          <m:t>𝑚</m:t>
                        </m:r>
                        <m:r>
                          <a:rPr lang="en-US" altLang="zh-TW" sz="2100" i="1">
                            <a:latin typeface="Cambria Math"/>
                            <a:ea typeface="標楷體" pitchFamily="65" charset="-120"/>
                            <a:cs typeface="Times New Roman" pitchFamily="18" charset="0"/>
                          </a:rPr>
                          <m:t>+1)</m:t>
                        </m:r>
                      </m:num>
                      <m:den>
                        <m:r>
                          <a:rPr lang="en-US" altLang="zh-TW" sz="2100" i="1">
                            <a:latin typeface="Cambria Math"/>
                            <a:ea typeface="標楷體" pitchFamily="65" charset="-120"/>
                            <a:cs typeface="Times New Roman" pitchFamily="18" charset="0"/>
                          </a:rPr>
                          <m:t>2</m:t>
                        </m:r>
                        <m:r>
                          <a:rPr lang="zh-TW" altLang="en-US" sz="2100" i="1">
                            <a:latin typeface="Cambria Math"/>
                            <a:ea typeface="標楷體" pitchFamily="65" charset="-120"/>
                            <a:cs typeface="Times New Roman" pitchFamily="18" charset="0"/>
                          </a:rPr>
                          <m:t>𝜎</m:t>
                        </m:r>
                      </m:den>
                    </m:f>
                  </m:oMath>
                </a14:m>
                <a:endParaRPr lang="en-US" altLang="zh-TW" sz="2100" dirty="0">
                  <a:latin typeface="Times New Roman" pitchFamily="18" charset="0"/>
                  <a:ea typeface="標楷體" pitchFamily="65" charset="-120"/>
                  <a:cs typeface="Times New Roman" pitchFamily="18" charset="0"/>
                </a:endParaRPr>
              </a:p>
              <a:p>
                <a:endParaRPr lang="en-US" altLang="zh-TW" sz="2500" dirty="0" smtClean="0">
                  <a:latin typeface="Times New Roman" pitchFamily="18" charset="0"/>
                  <a:ea typeface="標楷體" pitchFamily="65" charset="-120"/>
                  <a:cs typeface="Times New Roman"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cstate="print"/>
                <a:stretch>
                  <a:fillRect l="-1037" t="-1078"/>
                </a:stretch>
              </a:blipFill>
            </p:spPr>
            <p:txBody>
              <a:bodyPr/>
              <a:lstStyle/>
              <a:p>
                <a:r>
                  <a:rPr lang="zh-TW" altLang="en-US">
                    <a:noFill/>
                  </a:rPr>
                  <a:t> </a:t>
                </a:r>
              </a:p>
            </p:txBody>
          </p:sp>
        </mc:Fallback>
      </mc:AlternateContent>
    </p:spTree>
    <p:extLst>
      <p:ext uri="{BB962C8B-B14F-4D97-AF65-F5344CB8AC3E}">
        <p14:creationId xmlns="" xmlns:p14="http://schemas.microsoft.com/office/powerpoint/2010/main" val="311025449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Analysis of q (</a:t>
            </a:r>
            <a:r>
              <a:rPr lang="zh-TW" altLang="en-US" dirty="0" smtClean="0">
                <a:latin typeface="Times New Roman" pitchFamily="18" charset="0"/>
                <a:ea typeface="標楷體" pitchFamily="65" charset="-120"/>
                <a:cs typeface="Times New Roman" pitchFamily="18" charset="0"/>
              </a:rPr>
              <a:t>符號數量</a:t>
            </a:r>
            <a:r>
              <a:rPr lang="en-US" altLang="zh-TW" dirty="0" smtClean="0">
                <a:latin typeface="Times New Roman" pitchFamily="18" charset="0"/>
                <a:ea typeface="標楷體" pitchFamily="65" charset="-120"/>
                <a:cs typeface="Times New Roman" pitchFamily="18" charset="0"/>
              </a:rPr>
              <a:t>)</a:t>
            </a:r>
            <a:endParaRPr lang="zh-TW" altLang="en-US" dirty="0">
              <a:latin typeface="Times New Roman" pitchFamily="18" charset="0"/>
              <a:ea typeface="標楷體" pitchFamily="65" charset="-120"/>
              <a:cs typeface="Times New Roman" pitchFamily="18" charset="0"/>
            </a:endParaRPr>
          </a:p>
        </p:txBody>
      </p:sp>
      <mc:AlternateContent xmlns:mc="http://schemas.openxmlformats.org/markup-compatibility/2006">
        <mc:Choice xmlns="" xmlns:a14="http://schemas.microsoft.com/office/drawing/2010/main" Requires="a14">
          <p:sp>
            <p:nvSpPr>
              <p:cNvPr id="3" name="內容版面配置區 2"/>
              <p:cNvSpPr>
                <a:spLocks noGrp="1"/>
              </p:cNvSpPr>
              <p:nvPr>
                <p:ph idx="1"/>
              </p:nvPr>
            </p:nvSpPr>
            <p:spPr/>
            <p:txBody>
              <a:bodyPr/>
              <a:lstStyle/>
              <a:p>
                <a:r>
                  <a:rPr lang="zh-TW" altLang="en-US" sz="2500" dirty="0" smtClean="0">
                    <a:latin typeface="Times New Roman" pitchFamily="18" charset="0"/>
                    <a:ea typeface="標楷體" pitchFamily="65" charset="-120"/>
                    <a:cs typeface="Times New Roman" pitchFamily="18" charset="0"/>
                  </a:rPr>
                  <a:t>符號組會因為符號排列組合的總數產生新的字母系統 </a:t>
                </a:r>
                <a14:m>
                  <m:oMath xmlns:m="http://schemas.openxmlformats.org/officeDocument/2006/math">
                    <m:r>
                      <m:rPr>
                        <m:sty m:val="p"/>
                      </m:rPr>
                      <a:rPr lang="el-GR" altLang="zh-TW" sz="2500" i="1" smtClean="0">
                        <a:latin typeface="Cambria Math"/>
                        <a:ea typeface="Cambria Math"/>
                        <a:cs typeface="Times New Roman" pitchFamily="18" charset="0"/>
                      </a:rPr>
                      <m:t>Σ</m:t>
                    </m:r>
                    <m:r>
                      <a:rPr lang="en-US" altLang="zh-TW" sz="2500" b="0" i="1" smtClean="0">
                        <a:latin typeface="Cambria Math"/>
                        <a:ea typeface="Cambria Math"/>
                        <a:cs typeface="Times New Roman" pitchFamily="18" charset="0"/>
                      </a:rPr>
                      <m:t>′</m:t>
                    </m:r>
                  </m:oMath>
                </a14:m>
                <a:endParaRPr lang="en-US" altLang="zh-TW" sz="2500" dirty="0" smtClean="0">
                  <a:latin typeface="Times New Roman" pitchFamily="18" charset="0"/>
                  <a:ea typeface="標楷體" pitchFamily="65" charset="-120"/>
                  <a:cs typeface="Times New Roman" pitchFamily="18" charset="0"/>
                </a:endParaRPr>
              </a:p>
              <a:p>
                <a:r>
                  <a:rPr lang="zh-TW" altLang="en-US" sz="2500" dirty="0" smtClean="0">
                    <a:latin typeface="Times New Roman" pitchFamily="18" charset="0"/>
                    <a:ea typeface="標楷體" pitchFamily="65" charset="-120"/>
                    <a:cs typeface="Times New Roman" pitchFamily="18" charset="0"/>
                  </a:rPr>
                  <a:t>讀入 </a:t>
                </a:r>
                <a14:m>
                  <m:oMath xmlns:m="http://schemas.openxmlformats.org/officeDocument/2006/math">
                    <m:r>
                      <a:rPr lang="en-US" altLang="zh-TW" sz="2500" b="0" i="1" smtClean="0">
                        <a:latin typeface="Cambria Math"/>
                        <a:ea typeface="標楷體" pitchFamily="65" charset="-120"/>
                        <a:cs typeface="Times New Roman" pitchFamily="18" charset="0"/>
                      </a:rPr>
                      <m:t>𝑞</m:t>
                    </m:r>
                  </m:oMath>
                </a14:m>
                <a:r>
                  <a:rPr lang="en-US" altLang="zh-TW" sz="2500" dirty="0" smtClean="0">
                    <a:latin typeface="Times New Roman" pitchFamily="18" charset="0"/>
                    <a:ea typeface="標楷體" pitchFamily="65" charset="-120"/>
                    <a:cs typeface="Times New Roman" pitchFamily="18" charset="0"/>
                  </a:rPr>
                  <a:t> </a:t>
                </a:r>
                <a:r>
                  <a:rPr lang="zh-TW" altLang="en-US" sz="2500" dirty="0" smtClean="0">
                    <a:latin typeface="Times New Roman" pitchFamily="18" charset="0"/>
                    <a:ea typeface="標楷體" pitchFamily="65" charset="-120"/>
                    <a:cs typeface="Times New Roman" pitchFamily="18" charset="0"/>
                  </a:rPr>
                  <a:t>個符號比對成功的機率為 </a:t>
                </a:r>
                <a14:m>
                  <m:oMath xmlns:m="http://schemas.openxmlformats.org/officeDocument/2006/math">
                    <m:f>
                      <m:fPr>
                        <m:ctrlPr>
                          <a:rPr lang="en-US" altLang="zh-TW" sz="2500" i="1" smtClean="0">
                            <a:latin typeface="Cambria Math"/>
                            <a:ea typeface="標楷體" pitchFamily="65" charset="-120"/>
                            <a:cs typeface="Times New Roman" pitchFamily="18" charset="0"/>
                          </a:rPr>
                        </m:ctrlPr>
                      </m:fPr>
                      <m:num>
                        <m:r>
                          <a:rPr lang="en-US" altLang="zh-TW" sz="2500" b="0" i="1" smtClean="0">
                            <a:latin typeface="Cambria Math"/>
                            <a:ea typeface="標楷體" pitchFamily="65" charset="-120"/>
                            <a:cs typeface="Times New Roman" pitchFamily="18" charset="0"/>
                          </a:rPr>
                          <m:t>1</m:t>
                        </m:r>
                      </m:num>
                      <m:den>
                        <m:sSup>
                          <m:sSupPr>
                            <m:ctrlPr>
                              <a:rPr lang="en-US" altLang="zh-TW" sz="2500" i="1" smtClean="0">
                                <a:latin typeface="Cambria Math"/>
                                <a:ea typeface="標楷體" pitchFamily="65" charset="-120"/>
                                <a:cs typeface="Times New Roman" pitchFamily="18" charset="0"/>
                              </a:rPr>
                            </m:ctrlPr>
                          </m:sSupPr>
                          <m:e>
                            <m:r>
                              <a:rPr lang="zh-TW" altLang="en-US" sz="2500" i="1" smtClean="0">
                                <a:latin typeface="Cambria Math"/>
                                <a:ea typeface="標楷體" pitchFamily="65" charset="-120"/>
                                <a:cs typeface="Times New Roman" pitchFamily="18" charset="0"/>
                              </a:rPr>
                              <m:t>𝜎</m:t>
                            </m:r>
                          </m:e>
                          <m:sup>
                            <m:r>
                              <a:rPr lang="en-US" altLang="zh-TW" sz="2500" b="0" i="1" smtClean="0">
                                <a:latin typeface="Cambria Math"/>
                                <a:ea typeface="標楷體" pitchFamily="65" charset="-120"/>
                                <a:cs typeface="Times New Roman" pitchFamily="18" charset="0"/>
                              </a:rPr>
                              <m:t>𝑞</m:t>
                            </m:r>
                          </m:sup>
                        </m:sSup>
                      </m:den>
                    </m:f>
                  </m:oMath>
                </a14:m>
                <a:r>
                  <a:rPr lang="zh-TW" altLang="en-US" sz="2500" dirty="0" smtClean="0">
                    <a:latin typeface="Times New Roman" pitchFamily="18" charset="0"/>
                    <a:ea typeface="標楷體" pitchFamily="65" charset="-120"/>
                    <a:cs typeface="Times New Roman" pitchFamily="18" charset="0"/>
                  </a:rPr>
                  <a:t>，比對成功機率越低，可減少比對次數，增加比對效率。</a:t>
                </a:r>
                <a:endParaRPr lang="en-US" altLang="zh-TW" sz="2500" dirty="0" smtClean="0">
                  <a:latin typeface="Times New Roman" pitchFamily="18" charset="0"/>
                  <a:ea typeface="標楷體" pitchFamily="65" charset="-120"/>
                  <a:cs typeface="Times New Roman"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cstate="print"/>
                <a:stretch>
                  <a:fillRect l="-1037" t="-1078" r="-1037"/>
                </a:stretch>
              </a:blipFill>
            </p:spPr>
            <p:txBody>
              <a:bodyPr/>
              <a:lstStyle/>
              <a:p>
                <a:r>
                  <a:rPr lang="zh-TW" altLang="en-US">
                    <a:noFill/>
                  </a:rPr>
                  <a:t> </a:t>
                </a:r>
              </a:p>
            </p:txBody>
          </p:sp>
        </mc:Fallback>
      </mc:AlternateContent>
    </p:spTree>
    <p:extLst>
      <p:ext uri="{BB962C8B-B14F-4D97-AF65-F5344CB8AC3E}">
        <p14:creationId xmlns="" xmlns:p14="http://schemas.microsoft.com/office/powerpoint/2010/main" val="188662037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Analysis of q (</a:t>
            </a:r>
            <a:r>
              <a:rPr lang="zh-TW" altLang="en-US" dirty="0" smtClean="0">
                <a:latin typeface="Times New Roman" pitchFamily="18" charset="0"/>
                <a:ea typeface="標楷體" pitchFamily="65" charset="-120"/>
                <a:cs typeface="Times New Roman" pitchFamily="18" charset="0"/>
              </a:rPr>
              <a:t>符號數量</a:t>
            </a:r>
            <a:r>
              <a:rPr lang="en-US" altLang="zh-TW" dirty="0" smtClean="0">
                <a:latin typeface="Times New Roman" pitchFamily="18" charset="0"/>
                <a:ea typeface="標楷體" pitchFamily="65" charset="-120"/>
                <a:cs typeface="Times New Roman" pitchFamily="18" charset="0"/>
              </a:rPr>
              <a:t>)</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endParaRPr lang="en-US" altLang="zh-TW" sz="2500" dirty="0" smtClean="0">
              <a:latin typeface="Times New Roman" pitchFamily="18" charset="0"/>
              <a:ea typeface="標楷體" pitchFamily="65" charset="-120"/>
              <a:cs typeface="Times New Roman" pitchFamily="18" charset="0"/>
            </a:endParaRPr>
          </a:p>
        </p:txBody>
      </p:sp>
      <p:pic>
        <p:nvPicPr>
          <p:cNvPr id="10242"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683445" y="1323883"/>
            <a:ext cx="5624859" cy="533813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25089444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Result</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endParaRPr lang="en-US" altLang="zh-TW" sz="2500" dirty="0" smtClean="0">
              <a:latin typeface="Times New Roman" pitchFamily="18" charset="0"/>
              <a:ea typeface="標楷體" pitchFamily="65" charset="-120"/>
              <a:cs typeface="Times New Roman" pitchFamily="18" charset="0"/>
            </a:endParaRPr>
          </a:p>
        </p:txBody>
      </p:sp>
      <p:pic>
        <p:nvPicPr>
          <p:cNvPr id="1026"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0" y="1621160"/>
            <a:ext cx="4627142" cy="389607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556858" y="1621161"/>
            <a:ext cx="4587141" cy="38240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8866203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Result</a:t>
            </a:r>
            <a:endParaRPr lang="zh-TW" altLang="en-US" dirty="0">
              <a:latin typeface="Times New Roman" pitchFamily="18" charset="0"/>
              <a:ea typeface="標楷體" pitchFamily="65" charset="-120"/>
              <a:cs typeface="Times New Roman" pitchFamily="18" charset="0"/>
            </a:endParaRPr>
          </a:p>
        </p:txBody>
      </p:sp>
      <mc:AlternateContent xmlns:mc="http://schemas.openxmlformats.org/markup-compatibility/2006">
        <mc:Choice xmlns="" xmlns:a14="http://schemas.microsoft.com/office/drawing/2010/main" Requires="a14">
          <p:sp>
            <p:nvSpPr>
              <p:cNvPr id="3" name="內容版面配置區 2"/>
              <p:cNvSpPr>
                <a:spLocks noGrp="1"/>
              </p:cNvSpPr>
              <p:nvPr>
                <p:ph idx="1"/>
              </p:nvPr>
            </p:nvSpPr>
            <p:spPr/>
            <p:txBody>
              <a:bodyPr/>
              <a:lstStyle/>
              <a:p>
                <a14:m>
                  <m:oMath xmlns:m="http://schemas.openxmlformats.org/officeDocument/2006/math">
                    <m:r>
                      <a:rPr lang="zh-TW" altLang="en-US" sz="2500" i="1" smtClean="0">
                        <a:latin typeface="Cambria Math"/>
                        <a:ea typeface="標楷體" pitchFamily="65" charset="-120"/>
                        <a:cs typeface="Times New Roman" pitchFamily="18" charset="0"/>
                      </a:rPr>
                      <m:t>𝜎</m:t>
                    </m:r>
                  </m:oMath>
                </a14:m>
                <a:r>
                  <a:rPr lang="en-US" altLang="zh-TW" sz="2500" dirty="0" smtClean="0">
                    <a:latin typeface="Times New Roman" pitchFamily="18" charset="0"/>
                    <a:ea typeface="標楷體" pitchFamily="65" charset="-120"/>
                    <a:cs typeface="Times New Roman" pitchFamily="18" charset="0"/>
                  </a:rPr>
                  <a:t> = 4, length of P = 16</a:t>
                </a:r>
              </a:p>
              <a:p>
                <a:endParaRPr lang="en-US" altLang="zh-TW" sz="2500" dirty="0">
                  <a:latin typeface="Times New Roman" pitchFamily="18" charset="0"/>
                  <a:ea typeface="標楷體" pitchFamily="65" charset="-120"/>
                  <a:cs typeface="Times New Roman" pitchFamily="18" charset="0"/>
                </a:endParaRPr>
              </a:p>
              <a:p>
                <a:endParaRPr lang="en-US" altLang="zh-TW" sz="2500" dirty="0" smtClean="0">
                  <a:latin typeface="Times New Roman" pitchFamily="18" charset="0"/>
                  <a:ea typeface="標楷體" pitchFamily="65" charset="-120"/>
                  <a:cs typeface="Times New Roman" pitchFamily="18" charset="0"/>
                </a:endParaRPr>
              </a:p>
              <a:p>
                <a:endParaRPr lang="en-US" altLang="zh-TW" sz="2500" dirty="0">
                  <a:latin typeface="Times New Roman" pitchFamily="18" charset="0"/>
                  <a:ea typeface="標楷體" pitchFamily="65" charset="-120"/>
                  <a:cs typeface="Times New Roman" pitchFamily="18" charset="0"/>
                </a:endParaRPr>
              </a:p>
              <a:p>
                <a:endParaRPr lang="en-US" altLang="zh-TW" sz="2500" dirty="0" smtClean="0">
                  <a:latin typeface="Times New Roman" pitchFamily="18" charset="0"/>
                  <a:ea typeface="標楷體" pitchFamily="65" charset="-120"/>
                  <a:cs typeface="Times New Roman" pitchFamily="18" charset="0"/>
                </a:endParaRPr>
              </a:p>
              <a:p>
                <a:r>
                  <a:rPr lang="en-US" altLang="zh-TW" sz="2500" dirty="0" smtClean="0">
                    <a:latin typeface="Times New Roman" pitchFamily="18" charset="0"/>
                    <a:ea typeface="標楷體" pitchFamily="65" charset="-120"/>
                    <a:cs typeface="Times New Roman" pitchFamily="18" charset="0"/>
                  </a:rPr>
                  <a:t>n = 10000000, length of P = 16</a:t>
                </a:r>
                <a:endParaRPr lang="en-US" altLang="zh-TW" sz="2500" dirty="0">
                  <a:latin typeface="Times New Roman" pitchFamily="18" charset="0"/>
                  <a:ea typeface="標楷體" pitchFamily="65" charset="-120"/>
                  <a:cs typeface="Times New Roman"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cstate="print"/>
                <a:stretch>
                  <a:fillRect l="-1037" t="-1078"/>
                </a:stretch>
              </a:blipFill>
            </p:spPr>
            <p:txBody>
              <a:bodyPr/>
              <a:lstStyle/>
              <a:p>
                <a:r>
                  <a:rPr lang="zh-TW" altLang="en-US">
                    <a:noFill/>
                  </a:rPr>
                  <a:t> </a:t>
                </a:r>
              </a:p>
            </p:txBody>
          </p:sp>
        </mc:Fallback>
      </mc:AlternateContent>
      <p:pic>
        <p:nvPicPr>
          <p:cNvPr id="2051" name="Picture 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67544" y="2060848"/>
            <a:ext cx="8208912" cy="184179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467544" y="4323250"/>
            <a:ext cx="8195841" cy="21300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88662037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4330824" cy="1143000"/>
          </a:xfrm>
        </p:spPr>
        <p:txBody>
          <a:bodyPr/>
          <a:lstStyle/>
          <a:p>
            <a:r>
              <a:rPr lang="zh-TW" altLang="en-US" dirty="0">
                <a:latin typeface="Times New Roman" pitchFamily="18" charset="0"/>
                <a:ea typeface="標楷體" pitchFamily="65" charset="-120"/>
                <a:cs typeface="Times New Roman" pitchFamily="18" charset="0"/>
              </a:rPr>
              <a:t>比對次數</a:t>
            </a:r>
          </a:p>
        </p:txBody>
      </p:sp>
      <p:sp>
        <p:nvSpPr>
          <p:cNvPr id="3" name="內容版面配置區 2"/>
          <p:cNvSpPr>
            <a:spLocks noGrp="1"/>
          </p:cNvSpPr>
          <p:nvPr>
            <p:ph idx="1"/>
          </p:nvPr>
        </p:nvSpPr>
        <p:spPr/>
        <p:txBody>
          <a:bodyPr/>
          <a:lstStyle/>
          <a:p>
            <a:r>
              <a:rPr lang="en-US" altLang="zh-TW" sz="2500" dirty="0" smtClean="0">
                <a:latin typeface="Times New Roman" pitchFamily="18" charset="0"/>
                <a:ea typeface="標楷體" pitchFamily="65" charset="-120"/>
                <a:cs typeface="Times New Roman" pitchFamily="18" charset="0"/>
              </a:rPr>
              <a:t>n = 100000</a:t>
            </a:r>
          </a:p>
        </p:txBody>
      </p:sp>
      <p:pic>
        <p:nvPicPr>
          <p:cNvPr id="3076" name="Picture 4"/>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664056" y="261314"/>
            <a:ext cx="3526631" cy="309567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36907" y="2348880"/>
            <a:ext cx="3791077" cy="331236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3078" name="Picture 6"/>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4664056" y="3547182"/>
            <a:ext cx="3526630" cy="31100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51057804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latin typeface="Times New Roman" pitchFamily="18" charset="0"/>
              <a:ea typeface="標楷體" pitchFamily="65" charset="-120"/>
              <a:cs typeface="Times New Roman" pitchFamily="18" charset="0"/>
            </a:endParaRPr>
          </a:p>
        </p:txBody>
      </p:sp>
      <mc:AlternateContent xmlns:mc="http://schemas.openxmlformats.org/markup-compatibility/2006">
        <mc:Choice xmlns="" xmlns:a14="http://schemas.microsoft.com/office/drawing/2010/main" Requires="a14">
          <p:sp>
            <p:nvSpPr>
              <p:cNvPr id="3" name="內容版面配置區 2"/>
              <p:cNvSpPr>
                <a:spLocks noGrp="1"/>
              </p:cNvSpPr>
              <p:nvPr>
                <p:ph idx="1"/>
              </p:nvPr>
            </p:nvSpPr>
            <p:spPr/>
            <p:txBody>
              <a:bodyPr/>
              <a:lstStyle/>
              <a:p>
                <a14:m>
                  <m:oMath xmlns:m="http://schemas.openxmlformats.org/officeDocument/2006/math">
                    <m:r>
                      <a:rPr lang="zh-TW" altLang="en-US" sz="2500" i="1" smtClean="0">
                        <a:latin typeface="Cambria Math"/>
                        <a:ea typeface="標楷體" pitchFamily="65" charset="-120"/>
                        <a:cs typeface="Times New Roman" pitchFamily="18" charset="0"/>
                      </a:rPr>
                      <m:t>𝜎</m:t>
                    </m:r>
                  </m:oMath>
                </a14:m>
                <a:r>
                  <a:rPr lang="zh-TW" altLang="en-US" sz="2500" dirty="0" smtClean="0">
                    <a:latin typeface="Times New Roman" pitchFamily="18" charset="0"/>
                    <a:ea typeface="標楷體" pitchFamily="65" charset="-120"/>
                    <a:cs typeface="Times New Roman" pitchFamily="18" charset="0"/>
                  </a:rPr>
                  <a:t> </a:t>
                </a:r>
                <a:r>
                  <a:rPr lang="en-US" altLang="zh-TW" sz="2500" dirty="0" smtClean="0">
                    <a:latin typeface="Times New Roman" pitchFamily="18" charset="0"/>
                    <a:ea typeface="標楷體" pitchFamily="65" charset="-120"/>
                    <a:cs typeface="Times New Roman" pitchFamily="18" charset="0"/>
                  </a:rPr>
                  <a:t>=</a:t>
                </a:r>
                <a:r>
                  <a:rPr lang="zh-TW" altLang="en-US" sz="2500" dirty="0" smtClean="0">
                    <a:latin typeface="Times New Roman" pitchFamily="18" charset="0"/>
                    <a:ea typeface="標楷體" pitchFamily="65" charset="-120"/>
                    <a:cs typeface="Times New Roman" pitchFamily="18" charset="0"/>
                  </a:rPr>
                  <a:t> </a:t>
                </a:r>
                <a:r>
                  <a:rPr lang="en-US" altLang="zh-TW" sz="2500" dirty="0" smtClean="0">
                    <a:latin typeface="Times New Roman" pitchFamily="18" charset="0"/>
                    <a:ea typeface="標楷體" pitchFamily="65" charset="-120"/>
                    <a:cs typeface="Times New Roman" pitchFamily="18" charset="0"/>
                  </a:rPr>
                  <a:t>4, q = 4, </a:t>
                </a:r>
                <a:r>
                  <a:rPr lang="zh-TW" altLang="en-US" sz="2500" dirty="0" smtClean="0">
                    <a:latin typeface="Times New Roman" pitchFamily="18" charset="0"/>
                    <a:ea typeface="標楷體" pitchFamily="65" charset="-120"/>
                    <a:cs typeface="Times New Roman" pitchFamily="18" charset="0"/>
                  </a:rPr>
                  <a:t>比 </a:t>
                </a:r>
                <a:r>
                  <a:rPr lang="en-US" altLang="zh-TW" sz="2500" dirty="0" smtClean="0">
                    <a:latin typeface="Times New Roman" pitchFamily="18" charset="0"/>
                    <a:ea typeface="標楷體" pitchFamily="65" charset="-120"/>
                    <a:cs typeface="Times New Roman" pitchFamily="18" charset="0"/>
                  </a:rPr>
                  <a:t>BLIM </a:t>
                </a:r>
                <a:r>
                  <a:rPr lang="zh-TW" altLang="en-US" sz="2500" dirty="0" smtClean="0">
                    <a:latin typeface="Times New Roman" pitchFamily="18" charset="0"/>
                    <a:ea typeface="標楷體" pitchFamily="65" charset="-120"/>
                    <a:cs typeface="Times New Roman" pitchFamily="18" charset="0"/>
                  </a:rPr>
                  <a:t>減少約 </a:t>
                </a:r>
                <a:r>
                  <a:rPr lang="en-US" altLang="zh-TW" sz="2500" dirty="0" smtClean="0">
                    <a:latin typeface="Times New Roman" pitchFamily="18" charset="0"/>
                    <a:ea typeface="標楷體" pitchFamily="65" charset="-120"/>
                    <a:cs typeface="Times New Roman" pitchFamily="18" charset="0"/>
                  </a:rPr>
                  <a:t>40%</a:t>
                </a:r>
                <a:r>
                  <a:rPr lang="zh-TW" altLang="en-US" sz="2500" dirty="0" smtClean="0">
                    <a:latin typeface="Times New Roman" pitchFamily="18" charset="0"/>
                    <a:ea typeface="標楷體" pitchFamily="65" charset="-120"/>
                    <a:cs typeface="Times New Roman" pitchFamily="18" charset="0"/>
                  </a:rPr>
                  <a:t> 的比對時間</a:t>
                </a:r>
                <a:endParaRPr lang="en-US" altLang="zh-TW" sz="2500" dirty="0" smtClean="0">
                  <a:latin typeface="Times New Roman" pitchFamily="18" charset="0"/>
                  <a:ea typeface="標楷體" pitchFamily="65" charset="-120"/>
                  <a:cs typeface="Times New Roman" pitchFamily="18" charset="0"/>
                </a:endParaRPr>
              </a:p>
              <a:p>
                <a14:m>
                  <m:oMath xmlns:m="http://schemas.openxmlformats.org/officeDocument/2006/math">
                    <m:r>
                      <a:rPr lang="zh-TW" altLang="en-US" sz="2500" i="1">
                        <a:latin typeface="Cambria Math"/>
                        <a:ea typeface="標楷體" pitchFamily="65" charset="-120"/>
                        <a:cs typeface="Times New Roman" pitchFamily="18" charset="0"/>
                      </a:rPr>
                      <m:t>𝜎</m:t>
                    </m:r>
                  </m:oMath>
                </a14:m>
                <a:r>
                  <a:rPr lang="zh-TW" altLang="en-US" sz="2500" dirty="0">
                    <a:latin typeface="Times New Roman" pitchFamily="18" charset="0"/>
                    <a:ea typeface="標楷體" pitchFamily="65" charset="-120"/>
                    <a:cs typeface="Times New Roman" pitchFamily="18" charset="0"/>
                  </a:rPr>
                  <a:t> </a:t>
                </a:r>
                <a:r>
                  <a:rPr lang="en-US" altLang="zh-TW" sz="2500" dirty="0">
                    <a:latin typeface="Times New Roman" pitchFamily="18" charset="0"/>
                    <a:ea typeface="標楷體" pitchFamily="65" charset="-120"/>
                    <a:cs typeface="Times New Roman" pitchFamily="18" charset="0"/>
                  </a:rPr>
                  <a:t>=</a:t>
                </a:r>
                <a:r>
                  <a:rPr lang="zh-TW" altLang="en-US" sz="2500" dirty="0">
                    <a:latin typeface="Times New Roman" pitchFamily="18" charset="0"/>
                    <a:ea typeface="標楷體" pitchFamily="65" charset="-120"/>
                    <a:cs typeface="Times New Roman" pitchFamily="18" charset="0"/>
                  </a:rPr>
                  <a:t> </a:t>
                </a:r>
                <a:r>
                  <a:rPr lang="en-US" altLang="zh-TW" sz="2500" dirty="0" smtClean="0">
                    <a:latin typeface="Times New Roman" pitchFamily="18" charset="0"/>
                    <a:ea typeface="標楷體" pitchFamily="65" charset="-120"/>
                    <a:cs typeface="Times New Roman" pitchFamily="18" charset="0"/>
                  </a:rPr>
                  <a:t>20, </a:t>
                </a:r>
                <a:r>
                  <a:rPr lang="en-US" altLang="zh-TW" sz="2500" dirty="0">
                    <a:latin typeface="Times New Roman" pitchFamily="18" charset="0"/>
                    <a:ea typeface="標楷體" pitchFamily="65" charset="-120"/>
                    <a:cs typeface="Times New Roman" pitchFamily="18" charset="0"/>
                  </a:rPr>
                  <a:t>q = </a:t>
                </a:r>
                <a:r>
                  <a:rPr lang="en-US" altLang="zh-TW" sz="2500" dirty="0" smtClean="0">
                    <a:latin typeface="Times New Roman" pitchFamily="18" charset="0"/>
                    <a:ea typeface="標楷體" pitchFamily="65" charset="-120"/>
                    <a:cs typeface="Times New Roman" pitchFamily="18" charset="0"/>
                  </a:rPr>
                  <a:t>2, </a:t>
                </a:r>
                <a:r>
                  <a:rPr lang="zh-TW" altLang="en-US" sz="2500" dirty="0">
                    <a:latin typeface="Times New Roman" pitchFamily="18" charset="0"/>
                    <a:ea typeface="標楷體" pitchFamily="65" charset="-120"/>
                    <a:cs typeface="Times New Roman" pitchFamily="18" charset="0"/>
                  </a:rPr>
                  <a:t>比 </a:t>
                </a:r>
                <a:r>
                  <a:rPr lang="en-US" altLang="zh-TW" sz="2500" dirty="0">
                    <a:latin typeface="Times New Roman" pitchFamily="18" charset="0"/>
                    <a:ea typeface="標楷體" pitchFamily="65" charset="-120"/>
                    <a:cs typeface="Times New Roman" pitchFamily="18" charset="0"/>
                  </a:rPr>
                  <a:t>BLIM </a:t>
                </a:r>
                <a:r>
                  <a:rPr lang="zh-TW" altLang="en-US" sz="2500" dirty="0">
                    <a:latin typeface="Times New Roman" pitchFamily="18" charset="0"/>
                    <a:ea typeface="標楷體" pitchFamily="65" charset="-120"/>
                    <a:cs typeface="Times New Roman" pitchFamily="18" charset="0"/>
                  </a:rPr>
                  <a:t>減少約 </a:t>
                </a:r>
                <a:r>
                  <a:rPr lang="en-US" altLang="zh-TW" sz="2500" dirty="0" smtClean="0">
                    <a:latin typeface="Times New Roman" pitchFamily="18" charset="0"/>
                    <a:ea typeface="標楷體" pitchFamily="65" charset="-120"/>
                    <a:cs typeface="Times New Roman" pitchFamily="18" charset="0"/>
                  </a:rPr>
                  <a:t>20</a:t>
                </a:r>
                <a:r>
                  <a:rPr lang="en-US" altLang="zh-TW" sz="2500" dirty="0">
                    <a:latin typeface="Times New Roman" pitchFamily="18" charset="0"/>
                    <a:ea typeface="標楷體" pitchFamily="65" charset="-120"/>
                    <a:cs typeface="Times New Roman" pitchFamily="18" charset="0"/>
                  </a:rPr>
                  <a:t>%</a:t>
                </a:r>
                <a:r>
                  <a:rPr lang="zh-TW" altLang="en-US" sz="2500" dirty="0">
                    <a:latin typeface="Times New Roman" pitchFamily="18" charset="0"/>
                    <a:ea typeface="標楷體" pitchFamily="65" charset="-120"/>
                    <a:cs typeface="Times New Roman" pitchFamily="18" charset="0"/>
                  </a:rPr>
                  <a:t> 的比對時間</a:t>
                </a:r>
                <a:endParaRPr lang="en-US" altLang="zh-TW" sz="2500" dirty="0">
                  <a:latin typeface="Times New Roman" pitchFamily="18" charset="0"/>
                  <a:ea typeface="標楷體" pitchFamily="65" charset="-120"/>
                  <a:cs typeface="Times New Roman" pitchFamily="18" charset="0"/>
                </a:endParaRPr>
              </a:p>
              <a:p>
                <a:endParaRPr lang="en-US" altLang="zh-TW" sz="2500" dirty="0" smtClean="0">
                  <a:latin typeface="Times New Roman" pitchFamily="18" charset="0"/>
                  <a:ea typeface="標楷體" pitchFamily="65" charset="-120"/>
                  <a:cs typeface="Times New Roman"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cstate="print"/>
                <a:stretch>
                  <a:fillRect t="-1078"/>
                </a:stretch>
              </a:blipFill>
            </p:spPr>
            <p:txBody>
              <a:bodyPr/>
              <a:lstStyle/>
              <a:p>
                <a:r>
                  <a:rPr lang="zh-TW" altLang="en-US">
                    <a:noFill/>
                  </a:rPr>
                  <a:t> </a:t>
                </a:r>
              </a:p>
            </p:txBody>
          </p:sp>
        </mc:Fallback>
      </mc:AlternateContent>
      <p:pic>
        <p:nvPicPr>
          <p:cNvPr id="4099" name="Picture 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738" y="2640285"/>
            <a:ext cx="4590074" cy="37410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4579401" y="2640284"/>
            <a:ext cx="4564599" cy="37410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51057804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Conclusion</a:t>
            </a:r>
            <a:endParaRPr lang="zh-TW" altLang="en-US" dirty="0">
              <a:latin typeface="Times New Roman" pitchFamily="18" charset="0"/>
              <a:ea typeface="標楷體" pitchFamily="65" charset="-120"/>
              <a:cs typeface="Times New Roman" pitchFamily="18" charset="0"/>
            </a:endParaRPr>
          </a:p>
        </p:txBody>
      </p:sp>
      <mc:AlternateContent xmlns:mc="http://schemas.openxmlformats.org/markup-compatibility/2006">
        <mc:Choice xmlns="" xmlns:a14="http://schemas.microsoft.com/office/drawing/2010/main" Requires="a14">
          <p:sp>
            <p:nvSpPr>
              <p:cNvPr id="3" name="內容版面配置區 2"/>
              <p:cNvSpPr>
                <a:spLocks noGrp="1"/>
              </p:cNvSpPr>
              <p:nvPr>
                <p:ph idx="1"/>
              </p:nvPr>
            </p:nvSpPr>
            <p:spPr/>
            <p:txBody>
              <a:bodyPr/>
              <a:lstStyle/>
              <a:p>
                <a:r>
                  <a:rPr lang="en-US" altLang="zh-TW" sz="2500" dirty="0" smtClean="0">
                    <a:latin typeface="Times New Roman" pitchFamily="18" charset="0"/>
                    <a:ea typeface="標楷體" pitchFamily="65" charset="-120"/>
                    <a:cs typeface="Times New Roman" pitchFamily="18" charset="0"/>
                  </a:rPr>
                  <a:t>Best case: </a:t>
                </a:r>
                <a14:m>
                  <m:oMath xmlns:m="http://schemas.openxmlformats.org/officeDocument/2006/math">
                    <m:r>
                      <m:rPr>
                        <m:sty m:val="p"/>
                      </m:rPr>
                      <a:rPr lang="en-US" altLang="zh-TW" sz="2500" dirty="0">
                        <a:latin typeface="Cambria Math"/>
                        <a:ea typeface="標楷體" pitchFamily="65" charset="-120"/>
                        <a:cs typeface="Times New Roman" pitchFamily="18" charset="0"/>
                      </a:rPr>
                      <m:t>O</m:t>
                    </m:r>
                    <m:r>
                      <a:rPr lang="en-US" altLang="zh-TW" sz="2500" b="0" i="1" dirty="0" smtClean="0">
                        <a:latin typeface="Cambria Math"/>
                        <a:ea typeface="標楷體" pitchFamily="65" charset="-120"/>
                        <a:cs typeface="Times New Roman" pitchFamily="18" charset="0"/>
                      </a:rPr>
                      <m:t>(</m:t>
                    </m:r>
                    <m:f>
                      <m:fPr>
                        <m:ctrlPr>
                          <a:rPr lang="en-US" altLang="zh-TW" sz="2500" b="0" i="1" dirty="0" smtClean="0">
                            <a:latin typeface="Cambria Math"/>
                            <a:ea typeface="標楷體" pitchFamily="65" charset="-120"/>
                            <a:cs typeface="Times New Roman" pitchFamily="18" charset="0"/>
                          </a:rPr>
                        </m:ctrlPr>
                      </m:fPr>
                      <m:num>
                        <m:r>
                          <a:rPr lang="en-US" altLang="zh-TW" sz="2500" b="0" i="1" dirty="0" smtClean="0">
                            <a:latin typeface="Cambria Math"/>
                            <a:ea typeface="標楷體" pitchFamily="65" charset="-120"/>
                            <a:cs typeface="Times New Roman" pitchFamily="18" charset="0"/>
                          </a:rPr>
                          <m:t>𝑛</m:t>
                        </m:r>
                      </m:num>
                      <m:den>
                        <m:r>
                          <a:rPr lang="en-US" altLang="zh-TW" sz="2500" b="0" i="1" dirty="0" smtClean="0">
                            <a:latin typeface="Cambria Math"/>
                            <a:ea typeface="標楷體" pitchFamily="65" charset="-120"/>
                            <a:cs typeface="Times New Roman" pitchFamily="18" charset="0"/>
                          </a:rPr>
                          <m:t>𝑚</m:t>
                        </m:r>
                      </m:den>
                    </m:f>
                    <m:r>
                      <a:rPr lang="en-US" altLang="zh-TW" sz="2500" b="0" i="1" dirty="0" smtClean="0">
                        <a:latin typeface="Cambria Math"/>
                        <a:ea typeface="標楷體" pitchFamily="65" charset="-120"/>
                        <a:cs typeface="Times New Roman" pitchFamily="18" charset="0"/>
                      </a:rPr>
                      <m:t>)</m:t>
                    </m:r>
                  </m:oMath>
                </a14:m>
                <a:r>
                  <a:rPr lang="en-US" altLang="zh-TW" sz="2500" dirty="0" smtClean="0">
                    <a:latin typeface="Times New Roman" pitchFamily="18" charset="0"/>
                    <a:ea typeface="標楷體" pitchFamily="65" charset="-120"/>
                    <a:cs typeface="Times New Roman" pitchFamily="18" charset="0"/>
                  </a:rPr>
                  <a:t>, n = length of sequence, m = length of P</a:t>
                </a:r>
              </a:p>
              <a:p>
                <a:r>
                  <a:rPr lang="zh-TW" altLang="en-US" sz="2500" dirty="0" smtClean="0">
                    <a:latin typeface="Times New Roman" pitchFamily="18" charset="0"/>
                    <a:ea typeface="標楷體" pitchFamily="65" charset="-120"/>
                    <a:cs typeface="Times New Roman" pitchFamily="18" charset="0"/>
                  </a:rPr>
                  <a:t>字母系統越大，符號組的大小則較小。</a:t>
                </a:r>
                <a:endParaRPr lang="en-US" altLang="zh-TW" sz="2500" dirty="0" smtClean="0">
                  <a:latin typeface="Times New Roman" pitchFamily="18" charset="0"/>
                  <a:ea typeface="標楷體" pitchFamily="65" charset="-120"/>
                  <a:cs typeface="Times New Roman" pitchFamily="18" charset="0"/>
                </a:endParaRPr>
              </a:p>
              <a:p>
                <a:r>
                  <a:rPr lang="zh-TW" altLang="en-US" sz="2500" dirty="0" smtClean="0">
                    <a:latin typeface="Times New Roman" pitchFamily="18" charset="0"/>
                    <a:ea typeface="標楷體" pitchFamily="65" charset="-120"/>
                    <a:cs typeface="Times New Roman" pitchFamily="18" charset="0"/>
                  </a:rPr>
                  <a:t>最多比 </a:t>
                </a:r>
                <a:r>
                  <a:rPr lang="en-US" altLang="zh-TW" sz="2500" dirty="0" smtClean="0">
                    <a:latin typeface="Times New Roman" pitchFamily="18" charset="0"/>
                    <a:ea typeface="標楷體" pitchFamily="65" charset="-120"/>
                    <a:cs typeface="Times New Roman" pitchFamily="18" charset="0"/>
                  </a:rPr>
                  <a:t>BLIM </a:t>
                </a:r>
                <a:r>
                  <a:rPr lang="zh-TW" altLang="en-US" sz="2500" dirty="0">
                    <a:latin typeface="Times New Roman" pitchFamily="18" charset="0"/>
                    <a:ea typeface="標楷體" pitchFamily="65" charset="-120"/>
                    <a:cs typeface="Times New Roman" pitchFamily="18" charset="0"/>
                  </a:rPr>
                  <a:t>減少約 </a:t>
                </a:r>
                <a:r>
                  <a:rPr lang="en-US" altLang="zh-TW" sz="2500" dirty="0">
                    <a:latin typeface="Times New Roman" pitchFamily="18" charset="0"/>
                    <a:ea typeface="標楷體" pitchFamily="65" charset="-120"/>
                    <a:cs typeface="Times New Roman" pitchFamily="18" charset="0"/>
                  </a:rPr>
                  <a:t>40%</a:t>
                </a:r>
                <a:r>
                  <a:rPr lang="zh-TW" altLang="en-US" sz="2500" dirty="0">
                    <a:latin typeface="Times New Roman" pitchFamily="18" charset="0"/>
                    <a:ea typeface="標楷體" pitchFamily="65" charset="-120"/>
                    <a:cs typeface="Times New Roman" pitchFamily="18" charset="0"/>
                  </a:rPr>
                  <a:t> 的比對</a:t>
                </a:r>
                <a:r>
                  <a:rPr lang="zh-TW" altLang="en-US" sz="2500" dirty="0" smtClean="0">
                    <a:latin typeface="Times New Roman" pitchFamily="18" charset="0"/>
                    <a:ea typeface="標楷體" pitchFamily="65" charset="-120"/>
                    <a:cs typeface="Times New Roman" pitchFamily="18" charset="0"/>
                  </a:rPr>
                  <a:t>時間。</a:t>
                </a:r>
                <a:endParaRPr lang="en-US" altLang="zh-TW" sz="2500" dirty="0">
                  <a:latin typeface="Times New Roman" pitchFamily="18" charset="0"/>
                  <a:ea typeface="標楷體" pitchFamily="65" charset="-120"/>
                  <a:cs typeface="Times New Roman" pitchFamily="18" charset="0"/>
                </a:endParaRPr>
              </a:p>
              <a:p>
                <a:endParaRPr lang="en-US" altLang="zh-TW" sz="2500" dirty="0" smtClean="0">
                  <a:latin typeface="Times New Roman" pitchFamily="18" charset="0"/>
                  <a:ea typeface="標楷體" pitchFamily="65" charset="-120"/>
                  <a:cs typeface="Times New Roman"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cstate="print"/>
                <a:stretch>
                  <a:fillRect l="-1037" t="-135"/>
                </a:stretch>
              </a:blipFill>
            </p:spPr>
            <p:txBody>
              <a:bodyPr/>
              <a:lstStyle/>
              <a:p>
                <a:r>
                  <a:rPr lang="zh-TW" altLang="en-US">
                    <a:noFill/>
                  </a:rPr>
                  <a:t> </a:t>
                </a:r>
              </a:p>
            </p:txBody>
          </p:sp>
        </mc:Fallback>
      </mc:AlternateContent>
    </p:spTree>
    <p:extLst>
      <p:ext uri="{BB962C8B-B14F-4D97-AF65-F5344CB8AC3E}">
        <p14:creationId xmlns="" xmlns:p14="http://schemas.microsoft.com/office/powerpoint/2010/main" val="251057804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36618</TotalTime>
  <Words>497</Words>
  <Application>Microsoft Office PowerPoint</Application>
  <PresentationFormat>如螢幕大小 (4:3)</PresentationFormat>
  <Paragraphs>67</Paragraphs>
  <Slides>22</Slides>
  <Notes>0</Notes>
  <HiddenSlides>0</HiddenSlides>
  <MMClips>0</MMClips>
  <ScaleCrop>false</ScaleCrop>
  <HeadingPairs>
    <vt:vector size="4" baseType="variant">
      <vt:variant>
        <vt:lpstr>佈景主題</vt:lpstr>
      </vt:variant>
      <vt:variant>
        <vt:i4>1</vt:i4>
      </vt:variant>
      <vt:variant>
        <vt:lpstr>投影片標題</vt:lpstr>
      </vt:variant>
      <vt:variant>
        <vt:i4>22</vt:i4>
      </vt:variant>
    </vt:vector>
  </HeadingPairs>
  <TitlesOfParts>
    <vt:vector size="23" baseType="lpstr">
      <vt:lpstr>Office 佈景主題</vt:lpstr>
      <vt:lpstr>植基於符號組之改良式BLIM 演算法  林柏豪,黃健峯,陳建源,林鈺峰  Proceedings of Workshop on AB, 2011 National Computer Symposium, pp. 108-119, Chiayi, Taiwan, Dec. 2-3, 2011.</vt:lpstr>
      <vt:lpstr>Abstract</vt:lpstr>
      <vt:lpstr>Pattern matching</vt:lpstr>
      <vt:lpstr>Pattern matching</vt:lpstr>
      <vt:lpstr>Pattern matching</vt:lpstr>
      <vt:lpstr>This paper</vt:lpstr>
      <vt:lpstr>BLIM</vt:lpstr>
      <vt:lpstr>BLIM – 前處理階段</vt:lpstr>
      <vt:lpstr>BLIM – 前處理階段</vt:lpstr>
      <vt:lpstr>BLIM – 比對階段</vt:lpstr>
      <vt:lpstr>BLIM – 比對階段</vt:lpstr>
      <vt:lpstr>BLIM q-grams – 比對階段</vt:lpstr>
      <vt:lpstr>BLIM q-grams – 比對階段</vt:lpstr>
      <vt:lpstr>Analysis</vt:lpstr>
      <vt:lpstr>Uniformly distributed</vt:lpstr>
      <vt:lpstr>Analysis of q (符號數量)</vt:lpstr>
      <vt:lpstr>Analysis of q (符號數量)</vt:lpstr>
      <vt:lpstr>Result</vt:lpstr>
      <vt:lpstr>Result</vt:lpstr>
      <vt:lpstr>比對次數</vt:lpstr>
      <vt:lpstr>投影片 21</vt:lpstr>
      <vt:lpstr>Conclusion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Hong-Yu Chen</dc:creator>
  <cp:lastModifiedBy>Guest</cp:lastModifiedBy>
  <cp:revision>929</cp:revision>
  <dcterms:created xsi:type="dcterms:W3CDTF">2010-10-17T09:22:10Z</dcterms:created>
  <dcterms:modified xsi:type="dcterms:W3CDTF">2011-12-05T11:46:29Z</dcterms:modified>
</cp:coreProperties>
</file>