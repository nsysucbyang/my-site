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0" r:id="rId8"/>
    <p:sldId id="271" r:id="rId9"/>
    <p:sldId id="265" r:id="rId10"/>
    <p:sldId id="266" r:id="rId11"/>
    <p:sldId id="267" r:id="rId12"/>
    <p:sldId id="268" r:id="rId13"/>
    <p:sldId id="269" r:id="rId14"/>
    <p:sldId id="263" r:id="rId15"/>
    <p:sldId id="264" r:id="rId16"/>
    <p:sldId id="270" r:id="rId17"/>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Arial" charset="0"/>
        <a:ea typeface="新細明體" charset="-120"/>
        <a:cs typeface="+mn-cs"/>
      </a:defRPr>
    </a:lvl1pPr>
    <a:lvl2pPr marL="457200" algn="l" rtl="0" fontAlgn="base">
      <a:spcBef>
        <a:spcPct val="0"/>
      </a:spcBef>
      <a:spcAft>
        <a:spcPct val="0"/>
      </a:spcAft>
      <a:defRPr kumimoji="1" kern="1200">
        <a:solidFill>
          <a:schemeClr val="tx1"/>
        </a:solidFill>
        <a:latin typeface="Arial" charset="0"/>
        <a:ea typeface="新細明體" charset="-120"/>
        <a:cs typeface="+mn-cs"/>
      </a:defRPr>
    </a:lvl2pPr>
    <a:lvl3pPr marL="914400" algn="l" rtl="0" fontAlgn="base">
      <a:spcBef>
        <a:spcPct val="0"/>
      </a:spcBef>
      <a:spcAft>
        <a:spcPct val="0"/>
      </a:spcAft>
      <a:defRPr kumimoji="1" kern="1200">
        <a:solidFill>
          <a:schemeClr val="tx1"/>
        </a:solidFill>
        <a:latin typeface="Arial" charset="0"/>
        <a:ea typeface="新細明體" charset="-120"/>
        <a:cs typeface="+mn-cs"/>
      </a:defRPr>
    </a:lvl3pPr>
    <a:lvl4pPr marL="1371600" algn="l" rtl="0" fontAlgn="base">
      <a:spcBef>
        <a:spcPct val="0"/>
      </a:spcBef>
      <a:spcAft>
        <a:spcPct val="0"/>
      </a:spcAft>
      <a:defRPr kumimoji="1" kern="1200">
        <a:solidFill>
          <a:schemeClr val="tx1"/>
        </a:solidFill>
        <a:latin typeface="Arial" charset="0"/>
        <a:ea typeface="新細明體" charset="-120"/>
        <a:cs typeface="+mn-cs"/>
      </a:defRPr>
    </a:lvl4pPr>
    <a:lvl5pPr marL="1828800" algn="l" rtl="0" fontAlgn="base">
      <a:spcBef>
        <a:spcPct val="0"/>
      </a:spcBef>
      <a:spcAft>
        <a:spcPct val="0"/>
      </a:spcAft>
      <a:defRPr kumimoji="1" kern="1200">
        <a:solidFill>
          <a:schemeClr val="tx1"/>
        </a:solidFill>
        <a:latin typeface="Arial" charset="0"/>
        <a:ea typeface="新細明體" charset="-120"/>
        <a:cs typeface="+mn-cs"/>
      </a:defRPr>
    </a:lvl5pPr>
    <a:lvl6pPr marL="2286000" algn="l" defTabSz="914400" rtl="0" eaLnBrk="1" latinLnBrk="0" hangingPunct="1">
      <a:defRPr kumimoji="1" kern="1200">
        <a:solidFill>
          <a:schemeClr val="tx1"/>
        </a:solidFill>
        <a:latin typeface="Arial" charset="0"/>
        <a:ea typeface="新細明體" charset="-120"/>
        <a:cs typeface="+mn-cs"/>
      </a:defRPr>
    </a:lvl6pPr>
    <a:lvl7pPr marL="2743200" algn="l" defTabSz="914400" rtl="0" eaLnBrk="1" latinLnBrk="0" hangingPunct="1">
      <a:defRPr kumimoji="1" kern="1200">
        <a:solidFill>
          <a:schemeClr val="tx1"/>
        </a:solidFill>
        <a:latin typeface="Arial" charset="0"/>
        <a:ea typeface="新細明體" charset="-120"/>
        <a:cs typeface="+mn-cs"/>
      </a:defRPr>
    </a:lvl7pPr>
    <a:lvl8pPr marL="3200400" algn="l" defTabSz="914400" rtl="0" eaLnBrk="1" latinLnBrk="0" hangingPunct="1">
      <a:defRPr kumimoji="1" kern="1200">
        <a:solidFill>
          <a:schemeClr val="tx1"/>
        </a:solidFill>
        <a:latin typeface="Arial" charset="0"/>
        <a:ea typeface="新細明體" charset="-120"/>
        <a:cs typeface="+mn-cs"/>
      </a:defRPr>
    </a:lvl8pPr>
    <a:lvl9pPr marL="3657600" algn="l" defTabSz="914400" rtl="0" eaLnBrk="1" latinLnBrk="0" hangingPunct="1">
      <a:defRPr kumimoji="1" kern="1200">
        <a:solidFill>
          <a:schemeClr val="tx1"/>
        </a:solidFill>
        <a:latin typeface="Arial" charset="0"/>
        <a:ea typeface="新細明體"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498"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lvl1pPr>
              <a:defRPr/>
            </a:lvl1pPr>
          </a:lstStyle>
          <a:p>
            <a:pPr>
              <a:defRPr/>
            </a:pPr>
            <a:fld id="{2F5144F7-4582-4D41-97BD-4F903ED5F446}" type="datetimeFigureOut">
              <a:rPr lang="zh-TW" altLang="en-US"/>
              <a:pPr>
                <a:defRPr/>
              </a:pPr>
              <a:t>2011/3/1</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1EABB559-9C1A-4CE1-BF92-0D04BFB89A8E}" type="slidenum">
              <a:rPr lang="zh-TW" altLang="en-US"/>
              <a:pPr>
                <a:defRPr/>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9B7440CB-A82C-49A1-A851-1C9B99350C69}" type="datetimeFigureOut">
              <a:rPr lang="zh-TW" altLang="en-US"/>
              <a:pPr>
                <a:defRPr/>
              </a:pPr>
              <a:t>2011/3/1</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78729D1F-D134-4B85-A646-150FC816052D}" type="slidenum">
              <a:rPr lang="zh-TW" altLang="en-US"/>
              <a:pPr>
                <a:defRPr/>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pPr>
              <a:defRPr/>
            </a:pPr>
            <a:fld id="{D565D543-5232-45D8-A92A-AF45A231475D}" type="datetimeFigureOut">
              <a:rPr lang="zh-TW" altLang="en-US"/>
              <a:pPr>
                <a:defRPr/>
              </a:pPr>
              <a:t>2011/3/1</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27ABB1F2-7D8C-4CA5-A7C5-ED80A8D98D74}" type="slidenum">
              <a:rPr lang="zh-TW" altLang="en-US"/>
              <a:pPr>
                <a:defRPr/>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3"/>
          <p:cNvSpPr>
            <a:spLocks noGrp="1"/>
          </p:cNvSpPr>
          <p:nvPr>
            <p:ph type="dt" sz="half" idx="10"/>
          </p:nvPr>
        </p:nvSpPr>
        <p:spPr/>
        <p:txBody>
          <a:bodyPr/>
          <a:lstStyle>
            <a:lvl1pPr>
              <a:defRPr/>
            </a:lvl1pPr>
          </a:lstStyle>
          <a:p>
            <a:pPr>
              <a:defRPr/>
            </a:pPr>
            <a:fld id="{AB8A433E-83D0-472F-A2AE-B9E68EF5E601}" type="datetimeFigureOut">
              <a:rPr lang="zh-TW" altLang="en-US"/>
              <a:pPr>
                <a:defRPr/>
              </a:pPr>
              <a:t>2011/3/1</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8A4707AC-009E-49FA-AD3B-1EDF67851D6D}" type="slidenum">
              <a:rPr lang="zh-TW" altLang="en-US"/>
              <a:pPr>
                <a:defRPr/>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3"/>
          <p:cNvSpPr>
            <a:spLocks noGrp="1"/>
          </p:cNvSpPr>
          <p:nvPr>
            <p:ph type="dt" sz="half" idx="10"/>
          </p:nvPr>
        </p:nvSpPr>
        <p:spPr/>
        <p:txBody>
          <a:bodyPr/>
          <a:lstStyle>
            <a:lvl1pPr>
              <a:defRPr/>
            </a:lvl1pPr>
          </a:lstStyle>
          <a:p>
            <a:pPr>
              <a:defRPr/>
            </a:pPr>
            <a:fld id="{1F1C826F-3096-4282-8ECC-20FBAC75910A}" type="datetimeFigureOut">
              <a:rPr lang="zh-TW" altLang="en-US"/>
              <a:pPr>
                <a:defRPr/>
              </a:pPr>
              <a:t>2011/3/1</a:t>
            </a:fld>
            <a:endParaRPr lang="zh-TW" altLang="en-US"/>
          </a:p>
        </p:txBody>
      </p:sp>
      <p:sp>
        <p:nvSpPr>
          <p:cNvPr id="8" name="頁尾版面配置區 4"/>
          <p:cNvSpPr>
            <a:spLocks noGrp="1"/>
          </p:cNvSpPr>
          <p:nvPr>
            <p:ph type="ftr" sz="quarter" idx="11"/>
          </p:nvPr>
        </p:nvSpPr>
        <p:spPr/>
        <p:txBody>
          <a:bodyPr/>
          <a:lstStyle>
            <a:lvl1pPr>
              <a:defRPr/>
            </a:lvl1pPr>
          </a:lstStyle>
          <a:p>
            <a:pPr>
              <a:defRPr/>
            </a:pPr>
            <a:endParaRPr lang="zh-TW" altLang="en-US"/>
          </a:p>
        </p:txBody>
      </p:sp>
      <p:sp>
        <p:nvSpPr>
          <p:cNvPr id="9" name="投影片編號版面配置區 5"/>
          <p:cNvSpPr>
            <a:spLocks noGrp="1"/>
          </p:cNvSpPr>
          <p:nvPr>
            <p:ph type="sldNum" sz="quarter" idx="12"/>
          </p:nvPr>
        </p:nvSpPr>
        <p:spPr/>
        <p:txBody>
          <a:bodyPr/>
          <a:lstStyle>
            <a:lvl1pPr>
              <a:defRPr/>
            </a:lvl1pPr>
          </a:lstStyle>
          <a:p>
            <a:pPr>
              <a:defRPr/>
            </a:pPr>
            <a:fld id="{DD6A49E1-5905-4EF1-99A0-CB7A276353B9}" type="slidenum">
              <a:rPr lang="zh-TW" altLang="en-US"/>
              <a:pPr>
                <a:defRPr/>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3"/>
          <p:cNvSpPr>
            <a:spLocks noGrp="1"/>
          </p:cNvSpPr>
          <p:nvPr>
            <p:ph type="dt" sz="half" idx="10"/>
          </p:nvPr>
        </p:nvSpPr>
        <p:spPr/>
        <p:txBody>
          <a:bodyPr/>
          <a:lstStyle>
            <a:lvl1pPr>
              <a:defRPr/>
            </a:lvl1pPr>
          </a:lstStyle>
          <a:p>
            <a:pPr>
              <a:defRPr/>
            </a:pPr>
            <a:fld id="{41E39008-AC45-4189-8329-435805143C93}" type="datetimeFigureOut">
              <a:rPr lang="zh-TW" altLang="en-US"/>
              <a:pPr>
                <a:defRPr/>
              </a:pPr>
              <a:t>2011/3/1</a:t>
            </a:fld>
            <a:endParaRPr lang="zh-TW" altLang="en-US"/>
          </a:p>
        </p:txBody>
      </p:sp>
      <p:sp>
        <p:nvSpPr>
          <p:cNvPr id="4" name="頁尾版面配置區 4"/>
          <p:cNvSpPr>
            <a:spLocks noGrp="1"/>
          </p:cNvSpPr>
          <p:nvPr>
            <p:ph type="ftr" sz="quarter" idx="11"/>
          </p:nvPr>
        </p:nvSpPr>
        <p:spPr/>
        <p:txBody>
          <a:bodyPr/>
          <a:lstStyle>
            <a:lvl1pPr>
              <a:defRPr/>
            </a:lvl1pPr>
          </a:lstStyle>
          <a:p>
            <a:pPr>
              <a:defRPr/>
            </a:pPr>
            <a:endParaRPr lang="zh-TW" altLang="en-US"/>
          </a:p>
        </p:txBody>
      </p:sp>
      <p:sp>
        <p:nvSpPr>
          <p:cNvPr id="5" name="投影片編號版面配置區 5"/>
          <p:cNvSpPr>
            <a:spLocks noGrp="1"/>
          </p:cNvSpPr>
          <p:nvPr>
            <p:ph type="sldNum" sz="quarter" idx="12"/>
          </p:nvPr>
        </p:nvSpPr>
        <p:spPr/>
        <p:txBody>
          <a:bodyPr/>
          <a:lstStyle>
            <a:lvl1pPr>
              <a:defRPr/>
            </a:lvl1pPr>
          </a:lstStyle>
          <a:p>
            <a:pPr>
              <a:defRPr/>
            </a:pPr>
            <a:fld id="{0F58A767-D8B2-4CCB-9718-0A113BD291E6}" type="slidenum">
              <a:rPr lang="zh-TW" altLang="en-US"/>
              <a:pPr>
                <a:defRPr/>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pPr>
              <a:defRPr/>
            </a:pPr>
            <a:fld id="{F7AA4802-EC8E-458D-A06A-9BBDC857B0A4}" type="datetimeFigureOut">
              <a:rPr lang="zh-TW" altLang="en-US"/>
              <a:pPr>
                <a:defRPr/>
              </a:pPr>
              <a:t>2011/3/1</a:t>
            </a:fld>
            <a:endParaRPr lang="zh-TW" altLang="en-US"/>
          </a:p>
        </p:txBody>
      </p:sp>
      <p:sp>
        <p:nvSpPr>
          <p:cNvPr id="3" name="頁尾版面配置區 4"/>
          <p:cNvSpPr>
            <a:spLocks noGrp="1"/>
          </p:cNvSpPr>
          <p:nvPr>
            <p:ph type="ftr" sz="quarter" idx="11"/>
          </p:nvPr>
        </p:nvSpPr>
        <p:spPr/>
        <p:txBody>
          <a:bodyPr/>
          <a:lstStyle>
            <a:lvl1pPr>
              <a:defRPr/>
            </a:lvl1pPr>
          </a:lstStyle>
          <a:p>
            <a:pPr>
              <a:defRPr/>
            </a:pPr>
            <a:endParaRPr lang="zh-TW" altLang="en-US"/>
          </a:p>
        </p:txBody>
      </p:sp>
      <p:sp>
        <p:nvSpPr>
          <p:cNvPr id="4" name="投影片編號版面配置區 5"/>
          <p:cNvSpPr>
            <a:spLocks noGrp="1"/>
          </p:cNvSpPr>
          <p:nvPr>
            <p:ph type="sldNum" sz="quarter" idx="12"/>
          </p:nvPr>
        </p:nvSpPr>
        <p:spPr/>
        <p:txBody>
          <a:bodyPr/>
          <a:lstStyle>
            <a:lvl1pPr>
              <a:defRPr/>
            </a:lvl1pPr>
          </a:lstStyle>
          <a:p>
            <a:pPr>
              <a:defRPr/>
            </a:pPr>
            <a:fld id="{249F3AAB-617E-4C68-9A55-EBA2CD716895}" type="slidenum">
              <a:rPr lang="zh-TW" altLang="en-US"/>
              <a:pPr>
                <a:defRPr/>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7DC7FE6E-78D9-4B3F-99D8-75BA58ACEBC1}" type="datetimeFigureOut">
              <a:rPr lang="zh-TW" altLang="en-US"/>
              <a:pPr>
                <a:defRPr/>
              </a:pPr>
              <a:t>2011/3/1</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AB87F98A-6E9E-461F-AD24-2060746AD445}" type="slidenum">
              <a:rPr lang="zh-TW" altLang="en-US"/>
              <a:pPr>
                <a:defRPr/>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78C03611-D815-408E-A52C-2C8AED6772AB}" type="datetimeFigureOut">
              <a:rPr lang="zh-TW" altLang="en-US"/>
              <a:pPr>
                <a:defRPr/>
              </a:pPr>
              <a:t>2011/3/1</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EA53FEAF-1649-4F70-B920-F9AA865D3982}" type="slidenum">
              <a:rPr lang="zh-TW" altLang="en-US"/>
              <a:pPr>
                <a:defRPr/>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9F6CD381-268F-44C4-AB89-DF605DD541EA}" type="datetimeFigureOut">
              <a:rPr lang="zh-TW" altLang="en-US"/>
              <a:pPr>
                <a:defRPr/>
              </a:pPr>
              <a:t>2011/3/1</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903549AC-DF78-4FA4-A595-84D685390E6D}" type="slidenum">
              <a:rPr lang="zh-TW" altLang="en-US"/>
              <a:pPr>
                <a:defRPr/>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2C67B713-61DA-4ADD-A538-4E91291A136D}" type="datetimeFigureOut">
              <a:rPr lang="zh-TW" altLang="en-US"/>
              <a:pPr>
                <a:defRPr/>
              </a:pPr>
              <a:t>2011/3/1</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3B10AA92-309D-491E-9977-0DB8B31D3205}" type="slidenum">
              <a:rPr lang="zh-TW" altLang="en-US"/>
              <a:pPr>
                <a:defRPr/>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標題版面配置區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7" name="文字版面配置區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kumimoji="0" sz="1200" smtClean="0">
                <a:solidFill>
                  <a:schemeClr val="tx1">
                    <a:tint val="75000"/>
                  </a:schemeClr>
                </a:solidFill>
                <a:latin typeface="+mn-lt"/>
                <a:ea typeface="+mn-ea"/>
              </a:defRPr>
            </a:lvl1pPr>
          </a:lstStyle>
          <a:p>
            <a:pPr>
              <a:defRPr/>
            </a:pPr>
            <a:fld id="{B1175798-7E2A-45F2-8A59-D85AF1011C6F}" type="datetimeFigureOut">
              <a:rPr lang="zh-TW" altLang="en-US"/>
              <a:pPr>
                <a:defRPr/>
              </a:pPr>
              <a:t>2011/3/1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kumimoji="0" sz="1200">
                <a:solidFill>
                  <a:schemeClr val="tx1">
                    <a:tint val="75000"/>
                  </a:schemeClr>
                </a:solidFill>
                <a:latin typeface="+mn-lt"/>
                <a:ea typeface="+mn-ea"/>
              </a:defRPr>
            </a:lvl1pPr>
          </a:lstStyle>
          <a:p>
            <a:pPr>
              <a:defRPr/>
            </a:pPr>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kumimoji="0" sz="1200" smtClean="0">
                <a:solidFill>
                  <a:schemeClr val="tx1">
                    <a:tint val="75000"/>
                  </a:schemeClr>
                </a:solidFill>
                <a:latin typeface="+mn-lt"/>
                <a:ea typeface="+mn-ea"/>
              </a:defRPr>
            </a:lvl1pPr>
          </a:lstStyle>
          <a:p>
            <a:pPr>
              <a:defRPr/>
            </a:pPr>
            <a:fld id="{9952F519-31E9-44BB-A0DC-346BB480799E}"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ea typeface="新細明體" charset="-120"/>
        </a:defRPr>
      </a:lvl2pPr>
      <a:lvl3pPr algn="ctr" rtl="0" fontAlgn="base">
        <a:spcBef>
          <a:spcPct val="0"/>
        </a:spcBef>
        <a:spcAft>
          <a:spcPct val="0"/>
        </a:spcAft>
        <a:defRPr sz="4400">
          <a:solidFill>
            <a:schemeClr val="tx1"/>
          </a:solidFill>
          <a:latin typeface="Calibri" pitchFamily="34" charset="0"/>
          <a:ea typeface="新細明體" charset="-120"/>
        </a:defRPr>
      </a:lvl3pPr>
      <a:lvl4pPr algn="ctr" rtl="0" fontAlgn="base">
        <a:spcBef>
          <a:spcPct val="0"/>
        </a:spcBef>
        <a:spcAft>
          <a:spcPct val="0"/>
        </a:spcAft>
        <a:defRPr sz="4400">
          <a:solidFill>
            <a:schemeClr val="tx1"/>
          </a:solidFill>
          <a:latin typeface="Calibri" pitchFamily="34" charset="0"/>
          <a:ea typeface="新細明體" charset="-120"/>
        </a:defRPr>
      </a:lvl4pPr>
      <a:lvl5pPr algn="ctr" rtl="0" fontAlgn="base">
        <a:spcBef>
          <a:spcPct val="0"/>
        </a:spcBef>
        <a:spcAft>
          <a:spcPct val="0"/>
        </a:spcAft>
        <a:defRPr sz="4400">
          <a:solidFill>
            <a:schemeClr val="tx1"/>
          </a:solidFill>
          <a:latin typeface="Calibri" pitchFamily="34" charset="0"/>
          <a:ea typeface="新細明體" charset="-120"/>
        </a:defRPr>
      </a:lvl5pPr>
      <a:lvl6pPr marL="457200" algn="ctr" rtl="0" fontAlgn="base">
        <a:spcBef>
          <a:spcPct val="0"/>
        </a:spcBef>
        <a:spcAft>
          <a:spcPct val="0"/>
        </a:spcAft>
        <a:defRPr sz="4400">
          <a:solidFill>
            <a:schemeClr val="tx1"/>
          </a:solidFill>
          <a:latin typeface="Calibri" pitchFamily="34" charset="0"/>
          <a:ea typeface="新細明體" charset="-120"/>
        </a:defRPr>
      </a:lvl6pPr>
      <a:lvl7pPr marL="914400" algn="ctr" rtl="0" fontAlgn="base">
        <a:spcBef>
          <a:spcPct val="0"/>
        </a:spcBef>
        <a:spcAft>
          <a:spcPct val="0"/>
        </a:spcAft>
        <a:defRPr sz="4400">
          <a:solidFill>
            <a:schemeClr val="tx1"/>
          </a:solidFill>
          <a:latin typeface="Calibri" pitchFamily="34" charset="0"/>
          <a:ea typeface="新細明體" charset="-120"/>
        </a:defRPr>
      </a:lvl7pPr>
      <a:lvl8pPr marL="1371600" algn="ctr" rtl="0" fontAlgn="base">
        <a:spcBef>
          <a:spcPct val="0"/>
        </a:spcBef>
        <a:spcAft>
          <a:spcPct val="0"/>
        </a:spcAft>
        <a:defRPr sz="4400">
          <a:solidFill>
            <a:schemeClr val="tx1"/>
          </a:solidFill>
          <a:latin typeface="Calibri" pitchFamily="34" charset="0"/>
          <a:ea typeface="新細明體" charset="-120"/>
        </a:defRPr>
      </a:lvl8pPr>
      <a:lvl9pPr marL="1828800" algn="ctr" rtl="0" fontAlgn="base">
        <a:spcBef>
          <a:spcPct val="0"/>
        </a:spcBef>
        <a:spcAft>
          <a:spcPct val="0"/>
        </a:spcAft>
        <a:defRPr sz="4400">
          <a:solidFill>
            <a:schemeClr val="tx1"/>
          </a:solidFill>
          <a:latin typeface="Calibri" pitchFamily="34" charset="0"/>
          <a:ea typeface="新細明體" charset="-12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250825" y="836613"/>
            <a:ext cx="8642350" cy="4176712"/>
          </a:xfrm>
        </p:spPr>
        <p:txBody>
          <a:bodyPr rtlCol="0">
            <a:normAutofit fontScale="90000"/>
          </a:bodyPr>
          <a:lstStyle/>
          <a:p>
            <a:pPr fontAlgn="auto">
              <a:spcAft>
                <a:spcPts val="0"/>
              </a:spcAft>
              <a:defRPr/>
            </a:pPr>
            <a:r>
              <a:rPr lang="en-US" altLang="zh-TW" b="1" dirty="0" smtClean="0">
                <a:latin typeface="Times New Roman" pitchFamily="18" charset="0"/>
                <a:cs typeface="Times New Roman" pitchFamily="18" charset="0"/>
              </a:rPr>
              <a:t>Longest common subsequence between</a:t>
            </a:r>
            <a:br>
              <a:rPr lang="en-US" altLang="zh-TW" b="1" dirty="0" smtClean="0">
                <a:latin typeface="Times New Roman" pitchFamily="18" charset="0"/>
                <a:cs typeface="Times New Roman" pitchFamily="18" charset="0"/>
              </a:rPr>
            </a:br>
            <a:r>
              <a:rPr lang="en-US" altLang="zh-TW" b="1" dirty="0" smtClean="0">
                <a:latin typeface="Times New Roman" pitchFamily="18" charset="0"/>
                <a:cs typeface="Times New Roman" pitchFamily="18" charset="0"/>
              </a:rPr>
              <a:t>run-length-encoded strings:</a:t>
            </a:r>
            <a:br>
              <a:rPr lang="en-US" altLang="zh-TW" b="1" dirty="0" smtClean="0">
                <a:latin typeface="Times New Roman" pitchFamily="18" charset="0"/>
                <a:cs typeface="Times New Roman" pitchFamily="18" charset="0"/>
              </a:rPr>
            </a:br>
            <a:r>
              <a:rPr lang="en-US" altLang="zh-TW" b="1" dirty="0" smtClean="0">
                <a:latin typeface="Times New Roman" pitchFamily="18" charset="0"/>
                <a:cs typeface="Times New Roman" pitchFamily="18" charset="0"/>
              </a:rPr>
              <a:t>a new algorithm with improved parallelism</a:t>
            </a:r>
            <a:br>
              <a:rPr lang="en-US" altLang="zh-TW" b="1" dirty="0" smtClean="0">
                <a:latin typeface="Times New Roman" pitchFamily="18" charset="0"/>
                <a:cs typeface="Times New Roman" pitchFamily="18" charset="0"/>
              </a:rPr>
            </a:br>
            <a:r>
              <a:rPr lang="en-US" altLang="zh-TW" b="1" dirty="0" smtClean="0">
                <a:latin typeface="Times New Roman" pitchFamily="18" charset="0"/>
                <a:cs typeface="Times New Roman" pitchFamily="18" charset="0"/>
              </a:rPr>
              <a:t/>
            </a:r>
            <a:br>
              <a:rPr lang="en-US" altLang="zh-TW" b="1" dirty="0" smtClean="0">
                <a:latin typeface="Times New Roman" pitchFamily="18" charset="0"/>
                <a:cs typeface="Times New Roman" pitchFamily="18" charset="0"/>
              </a:rPr>
            </a:br>
            <a:r>
              <a:rPr lang="en-US" altLang="zh-TW" sz="2200" dirty="0" err="1"/>
              <a:t>Valerio</a:t>
            </a:r>
            <a:r>
              <a:rPr lang="en-US" altLang="zh-TW" sz="2200" dirty="0"/>
              <a:t> </a:t>
            </a:r>
            <a:r>
              <a:rPr lang="en-US" altLang="zh-TW" sz="2200" dirty="0" err="1"/>
              <a:t>Freschi</a:t>
            </a:r>
            <a:r>
              <a:rPr lang="en-US" altLang="zh-TW" sz="2200" dirty="0"/>
              <a:t>, Alessandro </a:t>
            </a:r>
            <a:r>
              <a:rPr lang="en-US" altLang="zh-TW" sz="2200" dirty="0" err="1" smtClean="0"/>
              <a:t>Bogliolo</a:t>
            </a:r>
            <a:r>
              <a:rPr lang="en-US" altLang="zh-TW" sz="2200" dirty="0" smtClean="0"/>
              <a:t/>
            </a:r>
            <a:br>
              <a:rPr lang="en-US" altLang="zh-TW" sz="2200" dirty="0" smtClean="0"/>
            </a:br>
            <a:r>
              <a:rPr lang="en-US" altLang="zh-TW" sz="2400" dirty="0" smtClean="0">
                <a:latin typeface="Times New Roman" pitchFamily="18" charset="0"/>
                <a:cs typeface="Times New Roman" pitchFamily="18" charset="0"/>
              </a:rPr>
              <a:t> Information Processing Letters, Vol. 90, pp. 167-173, 2004</a:t>
            </a:r>
            <a:endParaRPr lang="zh-TW" altLang="en-US" sz="2200" b="1" dirty="0">
              <a:latin typeface="Times New Roman" pitchFamily="18" charset="0"/>
              <a:cs typeface="Times New Roman" pitchFamily="18" charset="0"/>
            </a:endParaRPr>
          </a:p>
        </p:txBody>
      </p:sp>
      <p:sp>
        <p:nvSpPr>
          <p:cNvPr id="4" name="副標題 3"/>
          <p:cNvSpPr>
            <a:spLocks noGrp="1"/>
          </p:cNvSpPr>
          <p:nvPr>
            <p:ph type="subTitle" idx="1"/>
          </p:nvPr>
        </p:nvSpPr>
        <p:spPr>
          <a:xfrm>
            <a:off x="2484438" y="5373688"/>
            <a:ext cx="6400800" cy="1079500"/>
          </a:xfrm>
        </p:spPr>
        <p:txBody>
          <a:bodyPr>
            <a:normAutofit/>
          </a:bodyPr>
          <a:lstStyle/>
          <a:p>
            <a:pPr algn="r"/>
            <a:r>
              <a:rPr lang="en-US" altLang="zh-TW" sz="2000" smtClean="0">
                <a:solidFill>
                  <a:schemeClr val="tx1"/>
                </a:solidFill>
                <a:latin typeface="Times New Roman" pitchFamily="18" charset="0"/>
                <a:cs typeface="Times New Roman" pitchFamily="18" charset="0"/>
              </a:rPr>
              <a:t>Presenter:Chen Yun-syuan</a:t>
            </a:r>
          </a:p>
          <a:p>
            <a:pPr algn="r"/>
            <a:r>
              <a:rPr lang="en-US" altLang="zh-TW" sz="2000" smtClean="0">
                <a:solidFill>
                  <a:schemeClr val="tx1"/>
                </a:solidFill>
                <a:latin typeface="Times New Roman" pitchFamily="18" charset="0"/>
                <a:cs typeface="Times New Roman" pitchFamily="18" charset="0"/>
              </a:rPr>
              <a:t>Date:Mar. 1, 2011</a:t>
            </a:r>
            <a:endParaRPr lang="zh-TW" altLang="en-US" sz="2000" smtClean="0">
              <a:solidFill>
                <a:schemeClr val="tx1"/>
              </a:solidFill>
              <a:latin typeface="Times New Roman" pitchFamily="18" charset="0"/>
              <a:cs typeface="Times New Roman" pitchFamily="18" charset="0"/>
            </a:endParaRPr>
          </a:p>
          <a:p>
            <a:endParaRPr lang="zh-TW" altLang="en-US" smtClean="0">
              <a:solidFill>
                <a:srgbClr val="898989"/>
              </a:solidFill>
            </a:endParaRPr>
          </a:p>
        </p:txBody>
      </p:sp>
    </p:spTree>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標題 1"/>
          <p:cNvSpPr>
            <a:spLocks noGrp="1"/>
          </p:cNvSpPr>
          <p:nvPr>
            <p:ph type="title"/>
          </p:nvPr>
        </p:nvSpPr>
        <p:spPr/>
        <p:txBody>
          <a:bodyPr/>
          <a:lstStyle/>
          <a:p>
            <a:r>
              <a:rPr lang="en-US" altLang="zh-TW" smtClean="0"/>
              <a:t>Abstract</a:t>
            </a:r>
            <a:endParaRPr lang="zh-TW" altLang="en-US" smtClean="0"/>
          </a:p>
        </p:txBody>
      </p:sp>
      <p:sp>
        <p:nvSpPr>
          <p:cNvPr id="14338" name="內容版面配置區 2"/>
          <p:cNvSpPr>
            <a:spLocks noGrp="1"/>
          </p:cNvSpPr>
          <p:nvPr>
            <p:ph idx="1"/>
          </p:nvPr>
        </p:nvSpPr>
        <p:spPr>
          <a:xfrm>
            <a:off x="179388" y="1600200"/>
            <a:ext cx="8785225" cy="4708525"/>
          </a:xfrm>
        </p:spPr>
        <p:txBody>
          <a:bodyPr/>
          <a:lstStyle/>
          <a:p>
            <a:pPr>
              <a:buFont typeface="Arial" charset="0"/>
              <a:buNone/>
            </a:pPr>
            <a:r>
              <a:rPr lang="en-US" altLang="zh-TW" sz="2400" smtClean="0">
                <a:latin typeface="Times New Roman" pitchFamily="18" charset="0"/>
                <a:cs typeface="Times New Roman" pitchFamily="18" charset="0"/>
              </a:rPr>
              <a:t>	Data compression can be used to simultaneously reduce memory, communication and computation requirements of string comparison. In this paper we address the problem of computing the length of the longest common subsequence (LCS) between run-length-encoded (RLE) strings. We exploit RLE both to reduce the complexity of LCS computation from </a:t>
            </a:r>
            <a:r>
              <a:rPr lang="en-US" altLang="zh-TW" sz="2400" i="1" smtClean="0">
                <a:latin typeface="Times New Roman" pitchFamily="18" charset="0"/>
                <a:cs typeface="Times New Roman" pitchFamily="18" charset="0"/>
              </a:rPr>
              <a:t>O(M × N) </a:t>
            </a:r>
            <a:r>
              <a:rPr lang="en-US" altLang="zh-TW" sz="2400" smtClean="0">
                <a:latin typeface="Times New Roman" pitchFamily="18" charset="0"/>
                <a:cs typeface="Times New Roman" pitchFamily="18" charset="0"/>
              </a:rPr>
              <a:t>to</a:t>
            </a:r>
            <a:r>
              <a:rPr lang="en-US" altLang="zh-TW" sz="2400" i="1" smtClean="0">
                <a:latin typeface="Times New Roman" pitchFamily="18" charset="0"/>
                <a:cs typeface="Times New Roman" pitchFamily="18" charset="0"/>
              </a:rPr>
              <a:t> O(mN + Mn − mn), </a:t>
            </a:r>
            <a:r>
              <a:rPr lang="en-US" altLang="zh-TW" sz="2400" smtClean="0">
                <a:latin typeface="Times New Roman" pitchFamily="18" charset="0"/>
                <a:cs typeface="Times New Roman" pitchFamily="18" charset="0"/>
              </a:rPr>
              <a:t>where </a:t>
            </a:r>
            <a:r>
              <a:rPr lang="en-US" altLang="zh-TW" sz="2400" i="1" smtClean="0">
                <a:latin typeface="Times New Roman" pitchFamily="18" charset="0"/>
                <a:cs typeface="Times New Roman" pitchFamily="18" charset="0"/>
              </a:rPr>
              <a:t>M </a:t>
            </a:r>
            <a:r>
              <a:rPr lang="en-US" altLang="zh-TW" sz="2400" smtClean="0">
                <a:latin typeface="Times New Roman" pitchFamily="18" charset="0"/>
                <a:cs typeface="Times New Roman" pitchFamily="18" charset="0"/>
              </a:rPr>
              <a:t>and</a:t>
            </a:r>
            <a:r>
              <a:rPr lang="en-US" altLang="zh-TW" sz="2400" i="1" smtClean="0">
                <a:latin typeface="Times New Roman" pitchFamily="18" charset="0"/>
                <a:cs typeface="Times New Roman" pitchFamily="18" charset="0"/>
              </a:rPr>
              <a:t> N </a:t>
            </a:r>
            <a:r>
              <a:rPr lang="en-US" altLang="zh-TW" sz="2400" smtClean="0">
                <a:latin typeface="Times New Roman" pitchFamily="18" charset="0"/>
                <a:cs typeface="Times New Roman" pitchFamily="18" charset="0"/>
              </a:rPr>
              <a:t>are the lengths of the original strings and m and n the number of runs in their RLE representation, and to improve the inherent parallelism of the proposed algorithm, so that it may execute in </a:t>
            </a:r>
            <a:r>
              <a:rPr lang="en-US" altLang="zh-TW" sz="2400" i="1" smtClean="0">
                <a:latin typeface="Times New Roman" pitchFamily="18" charset="0"/>
                <a:cs typeface="Times New Roman" pitchFamily="18" charset="0"/>
              </a:rPr>
              <a:t>O(m + n) </a:t>
            </a:r>
            <a:r>
              <a:rPr lang="en-US" altLang="zh-TW" sz="2400" smtClean="0">
                <a:latin typeface="Times New Roman" pitchFamily="18" charset="0"/>
                <a:cs typeface="Times New Roman" pitchFamily="18" charset="0"/>
              </a:rPr>
              <a:t>steps on a systolic array of </a:t>
            </a:r>
            <a:r>
              <a:rPr lang="en-US" altLang="zh-TW" sz="2400" i="1" smtClean="0">
                <a:latin typeface="Times New Roman" pitchFamily="18" charset="0"/>
                <a:cs typeface="Times New Roman" pitchFamily="18" charset="0"/>
              </a:rPr>
              <a:t>M + N </a:t>
            </a:r>
            <a:r>
              <a:rPr lang="en-US" altLang="zh-TW" sz="2400" smtClean="0">
                <a:latin typeface="Times New Roman" pitchFamily="18" charset="0"/>
                <a:cs typeface="Times New Roman" pitchFamily="18" charset="0"/>
              </a:rPr>
              <a:t>units. We also discuss the application of the proposed algorithm to the related problem of edit distance (ED) computation.</a:t>
            </a:r>
            <a:endParaRPr lang="zh-TW" altLang="en-US" sz="2400" smtClean="0">
              <a:latin typeface="Times New Roman" pitchFamily="18" charset="0"/>
              <a:cs typeface="Times New Roman" pitchFamily="18" charset="0"/>
            </a:endParaRPr>
          </a:p>
        </p:txBody>
      </p:sp>
    </p:spTree>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標題 1"/>
          <p:cNvSpPr>
            <a:spLocks noGrp="1"/>
          </p:cNvSpPr>
          <p:nvPr>
            <p:ph type="title"/>
          </p:nvPr>
        </p:nvSpPr>
        <p:spPr/>
        <p:txBody>
          <a:bodyPr/>
          <a:lstStyle/>
          <a:p>
            <a:r>
              <a:rPr lang="en-US" altLang="zh-TW" smtClean="0"/>
              <a:t>Run-length-encoded (RLE)</a:t>
            </a:r>
            <a:endParaRPr lang="zh-TW" altLang="en-US" smtClean="0"/>
          </a:p>
        </p:txBody>
      </p:sp>
      <p:sp>
        <p:nvSpPr>
          <p:cNvPr id="15362" name="內容版面配置區 2"/>
          <p:cNvSpPr>
            <a:spLocks noGrp="1"/>
          </p:cNvSpPr>
          <p:nvPr>
            <p:ph idx="1"/>
          </p:nvPr>
        </p:nvSpPr>
        <p:spPr>
          <a:xfrm>
            <a:off x="457200" y="1600200"/>
            <a:ext cx="8229600" cy="2692400"/>
          </a:xfrm>
        </p:spPr>
        <p:txBody>
          <a:bodyPr/>
          <a:lstStyle/>
          <a:p>
            <a:r>
              <a:rPr lang="en-US" altLang="zh-TW" smtClean="0">
                <a:latin typeface="Times New Roman" pitchFamily="18" charset="0"/>
                <a:cs typeface="Times New Roman" pitchFamily="18" charset="0"/>
              </a:rPr>
              <a:t>a string-compression technique that represents a string as a sequence of runs rather than as a sequence of characters</a:t>
            </a:r>
          </a:p>
          <a:p>
            <a:r>
              <a:rPr lang="en-US" altLang="zh-TW" smtClean="0">
                <a:latin typeface="Times New Roman" pitchFamily="18" charset="0"/>
                <a:cs typeface="Times New Roman" pitchFamily="18" charset="0"/>
              </a:rPr>
              <a:t>a run is a sequence of consecutive characters taking the same value</a:t>
            </a:r>
          </a:p>
        </p:txBody>
      </p:sp>
      <p:sp>
        <p:nvSpPr>
          <p:cNvPr id="4" name="文字方塊 3"/>
          <p:cNvSpPr txBox="1"/>
          <p:nvPr/>
        </p:nvSpPr>
        <p:spPr>
          <a:xfrm>
            <a:off x="755650" y="4724400"/>
            <a:ext cx="7416800" cy="1139825"/>
          </a:xfrm>
          <a:prstGeom prst="rect">
            <a:avLst/>
          </a:prstGeom>
          <a:noFill/>
        </p:spPr>
        <p:txBody>
          <a:bodyPr>
            <a:spAutoFit/>
          </a:bodyPr>
          <a:lstStyle/>
          <a:p>
            <a:pPr algn="ctr" fontAlgn="auto">
              <a:spcBef>
                <a:spcPts val="0"/>
              </a:spcBef>
              <a:spcAft>
                <a:spcPts val="0"/>
              </a:spcAft>
              <a:defRPr/>
            </a:pPr>
            <a:r>
              <a:rPr kumimoji="0" lang="en-US" altLang="zh-TW" sz="3600" dirty="0">
                <a:latin typeface="+mj-lt"/>
                <a:ea typeface="+mn-ea"/>
                <a:cs typeface="Times New Roman" pitchFamily="18" charset="0"/>
              </a:rPr>
              <a:t>“</a:t>
            </a:r>
            <a:r>
              <a:rPr kumimoji="0" lang="en-US" altLang="zh-TW" sz="3600" dirty="0" err="1">
                <a:latin typeface="+mj-lt"/>
                <a:ea typeface="+mn-ea"/>
                <a:cs typeface="Times New Roman" pitchFamily="18" charset="0"/>
              </a:rPr>
              <a:t>accccttggg</a:t>
            </a:r>
            <a:r>
              <a:rPr kumimoji="0" lang="en-US" altLang="zh-TW" sz="3600" dirty="0">
                <a:latin typeface="+mj-lt"/>
                <a:ea typeface="+mn-ea"/>
                <a:cs typeface="Times New Roman" pitchFamily="18" charset="0"/>
              </a:rPr>
              <a:t>”  -&gt;  “1a,4c,2t,3g”</a:t>
            </a:r>
          </a:p>
          <a:p>
            <a:pPr algn="ctr" fontAlgn="auto">
              <a:spcBef>
                <a:spcPts val="0"/>
              </a:spcBef>
              <a:spcAft>
                <a:spcPts val="0"/>
              </a:spcAft>
              <a:defRPr/>
            </a:pPr>
            <a:r>
              <a:rPr kumimoji="0" lang="en-US" altLang="zh-TW" sz="3200" dirty="0">
                <a:latin typeface="+mj-lt"/>
                <a:ea typeface="+mn-ea"/>
                <a:cs typeface="Times New Roman" pitchFamily="18" charset="0"/>
              </a:rPr>
              <a:t>10 character expressed as 4 runs</a:t>
            </a:r>
            <a:endParaRPr kumimoji="0" lang="zh-TW" altLang="en-US" sz="3200" dirty="0">
              <a:latin typeface="+mj-lt"/>
              <a:ea typeface="+mn-ea"/>
              <a:cs typeface="Times New Roman" pitchFamily="18" charset="0"/>
            </a:endParaRPr>
          </a:p>
        </p:txBody>
      </p:sp>
    </p:spTree>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標題 1"/>
          <p:cNvSpPr>
            <a:spLocks noGrp="1"/>
          </p:cNvSpPr>
          <p:nvPr>
            <p:ph type="title"/>
          </p:nvPr>
        </p:nvSpPr>
        <p:spPr/>
        <p:txBody>
          <a:bodyPr/>
          <a:lstStyle/>
          <a:p>
            <a:r>
              <a:rPr lang="en-US" altLang="zh-TW" smtClean="0"/>
              <a:t>Original LCS algorithm</a:t>
            </a:r>
            <a:endParaRPr lang="zh-TW" altLang="en-US" smtClean="0"/>
          </a:p>
        </p:txBody>
      </p:sp>
      <p:pic>
        <p:nvPicPr>
          <p:cNvPr id="16386" name="Picture 2"/>
          <p:cNvPicPr>
            <a:picLocks noGrp="1" noChangeAspect="1" noChangeArrowheads="1"/>
          </p:cNvPicPr>
          <p:nvPr>
            <p:ph idx="1"/>
          </p:nvPr>
        </p:nvPicPr>
        <p:blipFill>
          <a:blip r:embed="rId2"/>
          <a:srcRect/>
          <a:stretch>
            <a:fillRect/>
          </a:stretch>
        </p:blipFill>
        <p:spPr>
          <a:xfrm>
            <a:off x="539750" y="2205038"/>
            <a:ext cx="7993063" cy="2403475"/>
          </a:xfrm>
        </p:spPr>
      </p:pic>
    </p:spTree>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標題 1"/>
          <p:cNvSpPr>
            <a:spLocks noGrp="1"/>
          </p:cNvSpPr>
          <p:nvPr>
            <p:ph type="title"/>
          </p:nvPr>
        </p:nvSpPr>
        <p:spPr/>
        <p:txBody>
          <a:bodyPr/>
          <a:lstStyle/>
          <a:p>
            <a:r>
              <a:rPr lang="en-US" altLang="zh-TW" smtClean="0"/>
              <a:t>Original LCS algorithm</a:t>
            </a:r>
            <a:endParaRPr lang="zh-TW" altLang="en-US" smtClean="0"/>
          </a:p>
        </p:txBody>
      </p:sp>
      <p:pic>
        <p:nvPicPr>
          <p:cNvPr id="17410" name="Picture 2"/>
          <p:cNvPicPr>
            <a:picLocks noGrp="1" noChangeAspect="1" noChangeArrowheads="1"/>
          </p:cNvPicPr>
          <p:nvPr>
            <p:ph idx="1"/>
          </p:nvPr>
        </p:nvPicPr>
        <p:blipFill>
          <a:blip r:embed="rId2"/>
          <a:srcRect l="3140" t="4773" r="4219" b="2950"/>
          <a:stretch>
            <a:fillRect/>
          </a:stretch>
        </p:blipFill>
        <p:spPr>
          <a:xfrm>
            <a:off x="2051050" y="1495425"/>
            <a:ext cx="4897438" cy="4813300"/>
          </a:xfrm>
        </p:spPr>
      </p:pic>
    </p:spTree>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標題 1"/>
          <p:cNvSpPr>
            <a:spLocks noGrp="1"/>
          </p:cNvSpPr>
          <p:nvPr>
            <p:ph type="title"/>
          </p:nvPr>
        </p:nvSpPr>
        <p:spPr/>
        <p:txBody>
          <a:bodyPr/>
          <a:lstStyle/>
          <a:p>
            <a:r>
              <a:rPr lang="en-US" altLang="zh-TW" smtClean="0"/>
              <a:t>LCS with RLE</a:t>
            </a:r>
            <a:endParaRPr lang="zh-TW" altLang="en-US" smtClean="0"/>
          </a:p>
        </p:txBody>
      </p:sp>
      <p:pic>
        <p:nvPicPr>
          <p:cNvPr id="18434" name="Picture 2"/>
          <p:cNvPicPr>
            <a:picLocks noGrp="1" noChangeAspect="1" noChangeArrowheads="1"/>
          </p:cNvPicPr>
          <p:nvPr>
            <p:ph idx="1"/>
          </p:nvPr>
        </p:nvPicPr>
        <p:blipFill>
          <a:blip r:embed="rId2"/>
          <a:srcRect/>
          <a:stretch>
            <a:fillRect/>
          </a:stretch>
        </p:blipFill>
        <p:spPr>
          <a:xfrm>
            <a:off x="468313" y="1568450"/>
            <a:ext cx="3873500" cy="4381500"/>
          </a:xfrm>
        </p:spPr>
      </p:pic>
      <p:sp>
        <p:nvSpPr>
          <p:cNvPr id="18435" name="文字方塊 4"/>
          <p:cNvSpPr txBox="1">
            <a:spLocks noChangeArrowheads="1"/>
          </p:cNvSpPr>
          <p:nvPr/>
        </p:nvSpPr>
        <p:spPr bwMode="auto">
          <a:xfrm>
            <a:off x="4284663" y="2622550"/>
            <a:ext cx="4248150" cy="2246313"/>
          </a:xfrm>
          <a:prstGeom prst="rect">
            <a:avLst/>
          </a:prstGeom>
          <a:noFill/>
          <a:ln w="9525">
            <a:noFill/>
            <a:miter lim="800000"/>
            <a:headEnd/>
            <a:tailEnd/>
          </a:ln>
        </p:spPr>
        <p:txBody>
          <a:bodyPr>
            <a:spAutoFit/>
          </a:bodyPr>
          <a:lstStyle/>
          <a:p>
            <a:r>
              <a:rPr kumimoji="0" lang="en-US" altLang="zh-TW" sz="2800">
                <a:latin typeface="Calibri" pitchFamily="34" charset="0"/>
              </a:rPr>
              <a:t>Fill only the output part of the block according to the roots and input part, and ignore the remain part of the block.</a:t>
            </a:r>
            <a:endParaRPr kumimoji="0" lang="zh-TW" altLang="en-US" sz="2800">
              <a:latin typeface="Calibri" pitchFamily="34" charset="0"/>
            </a:endParaRPr>
          </a:p>
        </p:txBody>
      </p:sp>
    </p:spTree>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標題 1"/>
          <p:cNvSpPr>
            <a:spLocks noGrp="1"/>
          </p:cNvSpPr>
          <p:nvPr>
            <p:ph type="title"/>
          </p:nvPr>
        </p:nvSpPr>
        <p:spPr/>
        <p:txBody>
          <a:bodyPr/>
          <a:lstStyle/>
          <a:p>
            <a:r>
              <a:rPr lang="en-US" altLang="zh-TW" smtClean="0"/>
              <a:t>LCS with RLE</a:t>
            </a:r>
            <a:endParaRPr lang="zh-TW" altLang="en-US" smtClean="0"/>
          </a:p>
        </p:txBody>
      </p:sp>
      <p:sp>
        <p:nvSpPr>
          <p:cNvPr id="19458" name="內容版面配置區 2"/>
          <p:cNvSpPr>
            <a:spLocks noGrp="1"/>
          </p:cNvSpPr>
          <p:nvPr>
            <p:ph idx="1"/>
          </p:nvPr>
        </p:nvSpPr>
        <p:spPr/>
        <p:txBody>
          <a:bodyPr/>
          <a:lstStyle/>
          <a:p>
            <a:r>
              <a:rPr lang="en-US" altLang="zh-TW" sz="2800" smtClean="0"/>
              <a:t>If matching, t</a:t>
            </a:r>
            <a:r>
              <a:rPr lang="en-US" altLang="zh-TW" sz="2800" i="1" smtClean="0"/>
              <a:t>he value of the output element LCS(i, j ) </a:t>
            </a:r>
            <a:r>
              <a:rPr lang="en-US" altLang="zh-TW" sz="2800" smtClean="0"/>
              <a:t>of a match block rooted in </a:t>
            </a:r>
            <a:r>
              <a:rPr lang="en-US" altLang="zh-TW" sz="2800" i="1" smtClean="0"/>
              <a:t>(i0, j0) </a:t>
            </a:r>
            <a:r>
              <a:rPr lang="en-US" altLang="zh-TW" sz="2800" smtClean="0"/>
              <a:t>is given by</a:t>
            </a:r>
          </a:p>
          <a:p>
            <a:pPr lvl="1">
              <a:buFont typeface="Arial" charset="0"/>
              <a:buNone/>
            </a:pPr>
            <a:r>
              <a:rPr lang="en-US" altLang="zh-TW" sz="3000" i="1" smtClean="0"/>
              <a:t>LCS(i, j ) = LCS(i − d, j − d)+ d , d = min{i −i0, j − j0}</a:t>
            </a:r>
          </a:p>
          <a:p>
            <a:pPr lvl="1">
              <a:buFont typeface="Arial" charset="0"/>
              <a:buNone/>
            </a:pPr>
            <a:endParaRPr lang="en-US" altLang="zh-TW" i="1" smtClean="0"/>
          </a:p>
          <a:p>
            <a:r>
              <a:rPr lang="en-US" altLang="zh-TW" sz="2800" smtClean="0"/>
              <a:t>If mismatching, the value of the output element </a:t>
            </a:r>
            <a:r>
              <a:rPr lang="en-US" altLang="zh-TW" sz="2800" i="1" smtClean="0"/>
              <a:t>LCS(i, j </a:t>
            </a:r>
            <a:r>
              <a:rPr lang="en-US" altLang="zh-TW" sz="2800" smtClean="0"/>
              <a:t>) of a mismatch block rooted in </a:t>
            </a:r>
            <a:r>
              <a:rPr lang="en-US" altLang="zh-TW" sz="2800" i="1" smtClean="0"/>
              <a:t>(i0, j0) </a:t>
            </a:r>
            <a:r>
              <a:rPr lang="en-US" altLang="zh-TW" sz="2800" smtClean="0"/>
              <a:t>is given by</a:t>
            </a:r>
          </a:p>
          <a:p>
            <a:pPr lvl="1">
              <a:buFont typeface="Arial" charset="0"/>
              <a:buNone/>
            </a:pPr>
            <a:r>
              <a:rPr lang="en-US" altLang="zh-TW" sz="3000" i="1" smtClean="0"/>
              <a:t>LCS(i, j ) = max LCS(i, j0) , LCS(i0, j)</a:t>
            </a:r>
          </a:p>
        </p:txBody>
      </p:sp>
    </p:spTree>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標題 1"/>
          <p:cNvSpPr>
            <a:spLocks noGrp="1"/>
          </p:cNvSpPr>
          <p:nvPr>
            <p:ph type="title"/>
          </p:nvPr>
        </p:nvSpPr>
        <p:spPr/>
        <p:txBody>
          <a:bodyPr/>
          <a:lstStyle/>
          <a:p>
            <a:r>
              <a:rPr lang="en-US" altLang="zh-TW" smtClean="0"/>
              <a:t>Algorithm of LCS with RLE</a:t>
            </a:r>
            <a:endParaRPr lang="zh-TW" altLang="en-US" smtClean="0"/>
          </a:p>
        </p:txBody>
      </p:sp>
      <p:pic>
        <p:nvPicPr>
          <p:cNvPr id="20482" name="Picture 2"/>
          <p:cNvPicPr>
            <a:picLocks noGrp="1" noChangeAspect="1" noChangeArrowheads="1"/>
          </p:cNvPicPr>
          <p:nvPr>
            <p:ph idx="1"/>
          </p:nvPr>
        </p:nvPicPr>
        <p:blipFill>
          <a:blip r:embed="rId2"/>
          <a:srcRect/>
          <a:stretch>
            <a:fillRect/>
          </a:stretch>
        </p:blipFill>
        <p:spPr>
          <a:xfrm>
            <a:off x="755650" y="1484313"/>
            <a:ext cx="7624763" cy="4968875"/>
          </a:xfrm>
        </p:spPr>
      </p:pic>
    </p:spTree>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標題 1"/>
          <p:cNvSpPr>
            <a:spLocks noGrp="1"/>
          </p:cNvSpPr>
          <p:nvPr>
            <p:ph type="title"/>
          </p:nvPr>
        </p:nvSpPr>
        <p:spPr/>
        <p:txBody>
          <a:bodyPr/>
          <a:lstStyle/>
          <a:p>
            <a:r>
              <a:rPr lang="en-US" altLang="zh-TW" smtClean="0"/>
              <a:t>Example of LCS with RLE</a:t>
            </a:r>
            <a:endParaRPr lang="zh-TW" altLang="en-US" smtClean="0"/>
          </a:p>
        </p:txBody>
      </p:sp>
      <p:graphicFrame>
        <p:nvGraphicFramePr>
          <p:cNvPr id="6" name="內容版面配置區 5"/>
          <p:cNvGraphicFramePr>
            <a:graphicFrameLocks noGrp="1"/>
          </p:cNvGraphicFramePr>
          <p:nvPr>
            <p:ph idx="1"/>
          </p:nvPr>
        </p:nvGraphicFramePr>
        <p:xfrm>
          <a:off x="1187450" y="1628775"/>
          <a:ext cx="6624638" cy="4032250"/>
        </p:xfrm>
        <a:graphic>
          <a:graphicData uri="http://schemas.openxmlformats.org/drawingml/2006/table">
            <a:tbl>
              <a:tblPr firstRow="1" bandRow="1">
                <a:tableStyleId>{5C22544A-7EE6-4342-B048-85BDC9FD1C3A}</a:tableStyleId>
              </a:tblPr>
              <a:tblGrid>
                <a:gridCol w="828092"/>
                <a:gridCol w="828092"/>
                <a:gridCol w="828092"/>
                <a:gridCol w="828092"/>
                <a:gridCol w="828092"/>
                <a:gridCol w="828092"/>
                <a:gridCol w="828092"/>
                <a:gridCol w="828092"/>
              </a:tblGrid>
              <a:tr h="504056">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0</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t</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t</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c</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c</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c</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a</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solidFill>
                            <a:sysClr val="windowText" lastClr="000000"/>
                          </a:solidFill>
                        </a:rPr>
                        <a:t>0</a:t>
                      </a:r>
                      <a:endParaRPr lang="zh-TW" altLang="en-US" b="1"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solidFill>
                            <a:sysClr val="windowText" lastClr="000000"/>
                          </a:solidFill>
                        </a:rPr>
                        <a:t>0</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0</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0</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0</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solidFill>
                            <a:sysClr val="windowText" lastClr="000000"/>
                          </a:solidFill>
                        </a:rPr>
                        <a:t>t</a:t>
                      </a:r>
                      <a:endParaRPr lang="zh-TW" altLang="en-US" b="1"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0</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b="1" dirty="0" smtClean="0">
                          <a:solidFill>
                            <a:srgbClr val="FF0000"/>
                          </a:solidFill>
                        </a:rPr>
                        <a:t>1</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rgbClr val="FF0000"/>
                          </a:solidFill>
                        </a:rPr>
                        <a:t>1</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solidFill>
                            <a:sysClr val="windowText" lastClr="000000"/>
                          </a:solidFill>
                        </a:rPr>
                        <a:t>c</a:t>
                      </a:r>
                      <a:endParaRPr lang="zh-TW" altLang="en-US" b="1"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0</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solidFill>
                            <a:sysClr val="windowText" lastClr="000000"/>
                          </a:solidFill>
                        </a:rPr>
                        <a:t>c</a:t>
                      </a:r>
                      <a:endParaRPr lang="zh-TW" altLang="en-US" b="1"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0</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solidFill>
                            <a:sysClr val="windowText" lastClr="000000"/>
                          </a:solidFill>
                        </a:rPr>
                        <a:t>c</a:t>
                      </a:r>
                      <a:endParaRPr lang="zh-TW" altLang="en-US" b="1"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0</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solidFill>
                            <a:sysClr val="windowText" lastClr="000000"/>
                          </a:solidFill>
                        </a:rPr>
                        <a:t>c</a:t>
                      </a:r>
                      <a:endParaRPr lang="zh-TW" altLang="en-US" b="1"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0</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solidFill>
                            <a:sysClr val="windowText" lastClr="000000"/>
                          </a:solidFill>
                        </a:rPr>
                        <a:t>a</a:t>
                      </a:r>
                      <a:endParaRPr lang="zh-TW" altLang="en-US" b="1"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ysClr val="windowText" lastClr="000000"/>
                          </a:solidFill>
                        </a:rPr>
                        <a:t>0</a:t>
                      </a: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矩形 6"/>
          <p:cNvSpPr/>
          <p:nvPr/>
        </p:nvSpPr>
        <p:spPr>
          <a:xfrm>
            <a:off x="2051050" y="2133600"/>
            <a:ext cx="2449513" cy="10080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TW" altLang="en-US" dirty="0">
              <a:solidFill>
                <a:srgbClr val="C00000"/>
              </a:solidFill>
            </a:endParaRPr>
          </a:p>
        </p:txBody>
      </p:sp>
    </p:spTree>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標題 1"/>
          <p:cNvSpPr>
            <a:spLocks noGrp="1"/>
          </p:cNvSpPr>
          <p:nvPr>
            <p:ph type="title"/>
          </p:nvPr>
        </p:nvSpPr>
        <p:spPr/>
        <p:txBody>
          <a:bodyPr/>
          <a:lstStyle/>
          <a:p>
            <a:r>
              <a:rPr lang="en-US" altLang="zh-TW" smtClean="0"/>
              <a:t>Example of LCS with RLE</a:t>
            </a:r>
            <a:endParaRPr lang="zh-TW" altLang="en-US" smtClean="0"/>
          </a:p>
        </p:txBody>
      </p:sp>
      <p:graphicFrame>
        <p:nvGraphicFramePr>
          <p:cNvPr id="6" name="內容版面配置區 5"/>
          <p:cNvGraphicFramePr>
            <a:graphicFrameLocks noGrp="1"/>
          </p:cNvGraphicFramePr>
          <p:nvPr>
            <p:ph idx="1"/>
          </p:nvPr>
        </p:nvGraphicFramePr>
        <p:xfrm>
          <a:off x="1187450" y="1628775"/>
          <a:ext cx="6624638" cy="4032250"/>
        </p:xfrm>
        <a:graphic>
          <a:graphicData uri="http://schemas.openxmlformats.org/drawingml/2006/table">
            <a:tbl>
              <a:tblPr firstRow="1" bandRow="1">
                <a:tableStyleId>{5C22544A-7EE6-4342-B048-85BDC9FD1C3A}</a:tableStyleId>
              </a:tblPr>
              <a:tblGrid>
                <a:gridCol w="828092"/>
                <a:gridCol w="828092"/>
                <a:gridCol w="828092"/>
                <a:gridCol w="828092"/>
                <a:gridCol w="828092"/>
                <a:gridCol w="828092"/>
                <a:gridCol w="828092"/>
                <a:gridCol w="828092"/>
              </a:tblGrid>
              <a:tr h="504056">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0</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t</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t</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c</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c</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c</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a</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t>0</a:t>
                      </a:r>
                      <a:endParaRPr lang="zh-TW"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t>t</a:t>
                      </a:r>
                      <a:endParaRPr lang="zh-TW"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b="1" dirty="0" smtClean="0">
                          <a:solidFill>
                            <a:srgbClr val="FF0000"/>
                          </a:solidFill>
                        </a:rPr>
                        <a:t>1</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rgbClr val="FF0000"/>
                          </a:solidFill>
                        </a:rPr>
                        <a:t>1</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rgbClr val="FF0000"/>
                          </a:solidFill>
                        </a:rPr>
                        <a:t>1</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t>c</a:t>
                      </a:r>
                      <a:endParaRPr lang="zh-TW"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rgbClr val="FF0000"/>
                          </a:solidFill>
                        </a:rPr>
                        <a:t>1</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t>c</a:t>
                      </a:r>
                      <a:endParaRPr lang="zh-TW"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rgbClr val="FF0000"/>
                          </a:solidFill>
                        </a:rPr>
                        <a:t>1</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t>c</a:t>
                      </a:r>
                      <a:endParaRPr lang="zh-TW"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rgbClr val="FF0000"/>
                          </a:solidFill>
                        </a:rPr>
                        <a:t>1</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t>c</a:t>
                      </a:r>
                      <a:endParaRPr lang="zh-TW"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b="1" dirty="0" smtClean="0">
                          <a:solidFill>
                            <a:srgbClr val="FF0000"/>
                          </a:solidFill>
                        </a:rPr>
                        <a:t>1</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rgbClr val="FF0000"/>
                          </a:solidFill>
                        </a:rPr>
                        <a:t>1</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t>a</a:t>
                      </a:r>
                      <a:endParaRPr lang="zh-TW"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矩形 6"/>
          <p:cNvSpPr/>
          <p:nvPr/>
        </p:nvSpPr>
        <p:spPr>
          <a:xfrm>
            <a:off x="2051050" y="2636838"/>
            <a:ext cx="2449513" cy="25209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TW" altLang="en-US" dirty="0">
              <a:solidFill>
                <a:srgbClr val="C00000"/>
              </a:solidFill>
            </a:endParaRPr>
          </a:p>
        </p:txBody>
      </p:sp>
      <p:sp>
        <p:nvSpPr>
          <p:cNvPr id="5" name="矩形 4"/>
          <p:cNvSpPr/>
          <p:nvPr/>
        </p:nvSpPr>
        <p:spPr>
          <a:xfrm>
            <a:off x="3635375" y="2133600"/>
            <a:ext cx="3384550" cy="10080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TW" altLang="en-US" dirty="0">
              <a:solidFill>
                <a:schemeClr val="tx2"/>
              </a:solidFill>
            </a:endParaRPr>
          </a:p>
        </p:txBody>
      </p:sp>
    </p:spTree>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標題 1"/>
          <p:cNvSpPr>
            <a:spLocks noGrp="1"/>
          </p:cNvSpPr>
          <p:nvPr>
            <p:ph type="title"/>
          </p:nvPr>
        </p:nvSpPr>
        <p:spPr/>
        <p:txBody>
          <a:bodyPr/>
          <a:lstStyle/>
          <a:p>
            <a:r>
              <a:rPr lang="en-US" altLang="zh-TW" smtClean="0"/>
              <a:t>Example of LCS with RLE</a:t>
            </a:r>
            <a:endParaRPr lang="zh-TW" altLang="en-US" smtClean="0"/>
          </a:p>
        </p:txBody>
      </p:sp>
      <p:graphicFrame>
        <p:nvGraphicFramePr>
          <p:cNvPr id="6" name="內容版面配置區 5"/>
          <p:cNvGraphicFramePr>
            <a:graphicFrameLocks noGrp="1"/>
          </p:cNvGraphicFramePr>
          <p:nvPr>
            <p:ph idx="1"/>
          </p:nvPr>
        </p:nvGraphicFramePr>
        <p:xfrm>
          <a:off x="1187450" y="1628775"/>
          <a:ext cx="6624638" cy="4032250"/>
        </p:xfrm>
        <a:graphic>
          <a:graphicData uri="http://schemas.openxmlformats.org/drawingml/2006/table">
            <a:tbl>
              <a:tblPr firstRow="1" bandRow="1">
                <a:tableStyleId>{5C22544A-7EE6-4342-B048-85BDC9FD1C3A}</a:tableStyleId>
              </a:tblPr>
              <a:tblGrid>
                <a:gridCol w="828092"/>
                <a:gridCol w="828092"/>
                <a:gridCol w="828092"/>
                <a:gridCol w="828092"/>
                <a:gridCol w="828092"/>
                <a:gridCol w="828092"/>
                <a:gridCol w="828092"/>
                <a:gridCol w="828092"/>
              </a:tblGrid>
              <a:tr h="504056">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0</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t</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t</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c</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c</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c</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chemeClr val="tx1"/>
                          </a:solidFill>
                        </a:rPr>
                        <a:t>a</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r>
              <a:tr h="504056">
                <a:tc>
                  <a:txBody>
                    <a:bodyPr/>
                    <a:lstStyle/>
                    <a:p>
                      <a:pPr algn="ctr"/>
                      <a:r>
                        <a:rPr lang="en-US" altLang="zh-TW" dirty="0" smtClean="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b="1" dirty="0" smtClean="0">
                          <a:solidFill>
                            <a:srgbClr val="C00000"/>
                          </a:solidFill>
                        </a:rPr>
                        <a:t>1</a:t>
                      </a:r>
                      <a:endParaRPr lang="zh-TW" altLang="en-US"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rgbClr val="FF0000"/>
                          </a:solidFill>
                        </a:rPr>
                        <a:t>2</a:t>
                      </a:r>
                      <a:endParaRPr lang="zh-TW"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rgbClr val="FF0000"/>
                          </a:solidFill>
                        </a:rPr>
                        <a:t>3</a:t>
                      </a:r>
                      <a:endParaRPr lang="zh-TW"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rgbClr val="FF0000"/>
                          </a:solidFill>
                        </a:rPr>
                        <a:t>4</a:t>
                      </a:r>
                      <a:endParaRPr lang="zh-TW"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b="1" dirty="0" smtClean="0">
                          <a:solidFill>
                            <a:srgbClr val="FF0000"/>
                          </a:solidFill>
                        </a:rPr>
                        <a:t>2</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rgbClr val="FF0000"/>
                          </a:solidFill>
                        </a:rPr>
                        <a:t>3</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rgbClr val="FF0000"/>
                          </a:solidFill>
                        </a:rPr>
                        <a:t>4</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dirty="0" smtClean="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b="1" dirty="0" smtClean="0">
                          <a:solidFill>
                            <a:srgbClr val="FF0000"/>
                          </a:solidFill>
                        </a:rPr>
                        <a:t>1</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rgbClr val="FF0000"/>
                          </a:solidFill>
                        </a:rPr>
                        <a:t>1</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矩形 6"/>
          <p:cNvSpPr/>
          <p:nvPr/>
        </p:nvSpPr>
        <p:spPr>
          <a:xfrm>
            <a:off x="1979613" y="4652963"/>
            <a:ext cx="2520950" cy="10080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TW" altLang="en-US" dirty="0">
              <a:solidFill>
                <a:srgbClr val="C00000"/>
              </a:solidFill>
            </a:endParaRPr>
          </a:p>
        </p:txBody>
      </p:sp>
      <p:sp>
        <p:nvSpPr>
          <p:cNvPr id="5" name="矩形 4"/>
          <p:cNvSpPr/>
          <p:nvPr/>
        </p:nvSpPr>
        <p:spPr>
          <a:xfrm>
            <a:off x="3635375" y="2636838"/>
            <a:ext cx="3384550" cy="25209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TW" altLang="en-US" dirty="0">
              <a:solidFill>
                <a:srgbClr val="C00000"/>
              </a:solidFill>
            </a:endParaRPr>
          </a:p>
        </p:txBody>
      </p:sp>
      <p:sp>
        <p:nvSpPr>
          <p:cNvPr id="8" name="矩形 7"/>
          <p:cNvSpPr/>
          <p:nvPr/>
        </p:nvSpPr>
        <p:spPr>
          <a:xfrm>
            <a:off x="6156325" y="2133600"/>
            <a:ext cx="1655763" cy="10080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TW" altLang="en-US" dirty="0">
              <a:solidFill>
                <a:srgbClr val="C00000"/>
              </a:solidFill>
            </a:endParaRPr>
          </a:p>
        </p:txBody>
      </p:sp>
    </p:spTree>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標題 1"/>
          <p:cNvSpPr>
            <a:spLocks noGrp="1"/>
          </p:cNvSpPr>
          <p:nvPr>
            <p:ph type="title"/>
          </p:nvPr>
        </p:nvSpPr>
        <p:spPr/>
        <p:txBody>
          <a:bodyPr/>
          <a:lstStyle/>
          <a:p>
            <a:r>
              <a:rPr lang="en-US" altLang="zh-TW" smtClean="0"/>
              <a:t>Example of LCS with RLE</a:t>
            </a:r>
            <a:endParaRPr lang="zh-TW" altLang="en-US" smtClean="0"/>
          </a:p>
        </p:txBody>
      </p:sp>
      <p:graphicFrame>
        <p:nvGraphicFramePr>
          <p:cNvPr id="6" name="內容版面配置區 5"/>
          <p:cNvGraphicFramePr>
            <a:graphicFrameLocks noGrp="1"/>
          </p:cNvGraphicFramePr>
          <p:nvPr>
            <p:ph idx="1"/>
          </p:nvPr>
        </p:nvGraphicFramePr>
        <p:xfrm>
          <a:off x="1187450" y="1628775"/>
          <a:ext cx="6624638" cy="4032250"/>
        </p:xfrm>
        <a:graphic>
          <a:graphicData uri="http://schemas.openxmlformats.org/drawingml/2006/table">
            <a:tbl>
              <a:tblPr firstRow="1" bandRow="1">
                <a:tableStyleId>{5C22544A-7EE6-4342-B048-85BDC9FD1C3A}</a:tableStyleId>
              </a:tblPr>
              <a:tblGrid>
                <a:gridCol w="828092"/>
                <a:gridCol w="828092"/>
                <a:gridCol w="828092"/>
                <a:gridCol w="828092"/>
                <a:gridCol w="828092"/>
                <a:gridCol w="828092"/>
                <a:gridCol w="828092"/>
                <a:gridCol w="828092"/>
              </a:tblGrid>
              <a:tr h="504056">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a</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solidFill>
                            <a:schemeClr val="tx1"/>
                          </a:solidFill>
                        </a:rPr>
                        <a:t>0</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solidFill>
                            <a:schemeClr val="tx1"/>
                          </a:solidFill>
                        </a:rPr>
                        <a:t>t</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r>
              <a:tr h="504056">
                <a:tc>
                  <a:txBody>
                    <a:bodyPr/>
                    <a:lstStyle/>
                    <a:p>
                      <a:pPr algn="ctr"/>
                      <a:r>
                        <a:rPr lang="en-US" altLang="zh-TW" b="1" dirty="0" smtClean="0">
                          <a:solidFill>
                            <a:schemeClr val="tx1"/>
                          </a:solidFill>
                        </a:rPr>
                        <a:t>c</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b="1" dirty="0" smtClean="0">
                          <a:solidFill>
                            <a:srgbClr val="FF0000"/>
                          </a:solidFill>
                        </a:rPr>
                        <a:t>2</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solidFill>
                            <a:schemeClr val="tx1"/>
                          </a:solidFill>
                        </a:rPr>
                        <a:t>c</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b="1" dirty="0" smtClean="0">
                          <a:solidFill>
                            <a:srgbClr val="FF0000"/>
                          </a:solidFill>
                        </a:rPr>
                        <a:t>3</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solidFill>
                            <a:schemeClr val="tx1"/>
                          </a:solidFill>
                        </a:rPr>
                        <a:t>c</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b="1" dirty="0" smtClean="0">
                          <a:solidFill>
                            <a:srgbClr val="FF0000"/>
                          </a:solidFill>
                        </a:rPr>
                        <a:t>4</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solidFill>
                            <a:schemeClr val="tx1"/>
                          </a:solidFill>
                        </a:rPr>
                        <a:t>c</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dirty="0" smtClean="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b="1" dirty="0" smtClean="0">
                          <a:solidFill>
                            <a:srgbClr val="FF0000"/>
                          </a:solidFill>
                        </a:rPr>
                        <a:t>4</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4056">
                <a:tc>
                  <a:txBody>
                    <a:bodyPr/>
                    <a:lstStyle/>
                    <a:p>
                      <a:pPr algn="ctr"/>
                      <a:r>
                        <a:rPr lang="en-US" altLang="zh-TW" b="1" dirty="0" smtClean="0">
                          <a:solidFill>
                            <a:schemeClr val="tx1"/>
                          </a:solidFill>
                        </a:rPr>
                        <a:t>a</a:t>
                      </a:r>
                      <a:endParaRPr lang="zh-TW"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TW" b="1" dirty="0" smtClean="0">
                          <a:solidFill>
                            <a:srgbClr val="FF0000"/>
                          </a:solidFill>
                        </a:rPr>
                        <a:t>2</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rgbClr val="FF0000"/>
                          </a:solidFill>
                        </a:rPr>
                        <a:t>3</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1" dirty="0" smtClean="0">
                          <a:solidFill>
                            <a:srgbClr val="FF0000"/>
                          </a:solidFill>
                        </a:rPr>
                        <a:t>4</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矩形 6"/>
          <p:cNvSpPr/>
          <p:nvPr/>
        </p:nvSpPr>
        <p:spPr>
          <a:xfrm>
            <a:off x="3635375" y="4652963"/>
            <a:ext cx="3384550" cy="10080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TW" altLang="en-US" dirty="0">
              <a:solidFill>
                <a:srgbClr val="C00000"/>
              </a:solidFill>
            </a:endParaRPr>
          </a:p>
        </p:txBody>
      </p:sp>
      <p:sp>
        <p:nvSpPr>
          <p:cNvPr id="5" name="矩形 4"/>
          <p:cNvSpPr/>
          <p:nvPr/>
        </p:nvSpPr>
        <p:spPr>
          <a:xfrm>
            <a:off x="6156325" y="2636838"/>
            <a:ext cx="1655763" cy="25209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TW" altLang="en-US" dirty="0">
              <a:solidFill>
                <a:srgbClr val="C00000"/>
              </a:solidFill>
            </a:endParaRPr>
          </a:p>
        </p:txBody>
      </p:sp>
    </p:spTree>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標題 1"/>
          <p:cNvSpPr>
            <a:spLocks noGrp="1"/>
          </p:cNvSpPr>
          <p:nvPr>
            <p:ph type="title"/>
          </p:nvPr>
        </p:nvSpPr>
        <p:spPr/>
        <p:txBody>
          <a:bodyPr/>
          <a:lstStyle/>
          <a:p>
            <a:r>
              <a:rPr lang="en-US" altLang="zh-TW" smtClean="0"/>
              <a:t>Example of LCS with RLE</a:t>
            </a:r>
            <a:endParaRPr lang="zh-TW" altLang="en-US" smtClean="0"/>
          </a:p>
        </p:txBody>
      </p:sp>
      <p:graphicFrame>
        <p:nvGraphicFramePr>
          <p:cNvPr id="6" name="內容版面配置區 5"/>
          <p:cNvGraphicFramePr>
            <a:graphicFrameLocks noGrp="1"/>
          </p:cNvGraphicFramePr>
          <p:nvPr>
            <p:ph idx="1"/>
          </p:nvPr>
        </p:nvGraphicFramePr>
        <p:xfrm>
          <a:off x="1187450" y="1628775"/>
          <a:ext cx="6624638" cy="4032250"/>
        </p:xfrm>
        <a:graphic>
          <a:graphicData uri="http://schemas.openxmlformats.org/drawingml/2006/table">
            <a:tbl>
              <a:tblPr firstRow="1" bandRow="1">
                <a:tableStyleId>{5C22544A-7EE6-4342-B048-85BDC9FD1C3A}</a:tableStyleId>
              </a:tblPr>
              <a:tblGrid>
                <a:gridCol w="828092"/>
                <a:gridCol w="828092"/>
                <a:gridCol w="828092"/>
                <a:gridCol w="828092"/>
                <a:gridCol w="828092"/>
                <a:gridCol w="828092"/>
                <a:gridCol w="828092"/>
                <a:gridCol w="828092"/>
              </a:tblGrid>
              <a:tr h="504056">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a</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04056">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04056">
                <a:tc>
                  <a:txBody>
                    <a:bodyPr/>
                    <a:lstStyle/>
                    <a:p>
                      <a:pPr algn="ctr"/>
                      <a:r>
                        <a:rPr lang="en-US" altLang="zh-TW" dirty="0" smtClean="0">
                          <a:solidFill>
                            <a:schemeClr val="tx1"/>
                          </a:solidFill>
                        </a:rPr>
                        <a:t>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04056">
                <a:tc>
                  <a:txBody>
                    <a:bodyPr/>
                    <a:lstStyle/>
                    <a:p>
                      <a:pPr algn="ctr"/>
                      <a:r>
                        <a:rPr lang="en-US" altLang="zh-TW" dirty="0" smtClean="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04056">
                <a:tc>
                  <a:txBody>
                    <a:bodyPr/>
                    <a:lstStyle/>
                    <a:p>
                      <a:pPr algn="ctr"/>
                      <a:r>
                        <a:rPr lang="en-US" altLang="zh-TW" dirty="0" smtClean="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04056">
                <a:tc>
                  <a:txBody>
                    <a:bodyPr/>
                    <a:lstStyle/>
                    <a:p>
                      <a:pPr algn="ctr"/>
                      <a:r>
                        <a:rPr lang="en-US" altLang="zh-TW" dirty="0" smtClean="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04056">
                <a:tc>
                  <a:txBody>
                    <a:bodyPr/>
                    <a:lstStyle/>
                    <a:p>
                      <a:pPr algn="ctr"/>
                      <a:r>
                        <a:rPr lang="en-US" altLang="zh-TW" dirty="0" smtClean="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altLang="zh-TW" dirty="0" smtClean="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r>
              <a:tr h="504056">
                <a:tc>
                  <a:txBody>
                    <a:bodyPr/>
                    <a:lstStyle/>
                    <a:p>
                      <a:pPr algn="ctr"/>
                      <a:r>
                        <a:rPr lang="en-US" altLang="zh-TW" dirty="0" smtClean="0">
                          <a:solidFill>
                            <a:schemeClr val="tx1"/>
                          </a:solidFill>
                        </a:rPr>
                        <a:t>a</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altLang="zh-TW" b="1" dirty="0" smtClean="0">
                          <a:solidFill>
                            <a:srgbClr val="FF0000"/>
                          </a:solidFill>
                        </a:rPr>
                        <a:t>5</a:t>
                      </a:r>
                      <a:endParaRPr lang="zh-TW"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7" name="矩形 6"/>
          <p:cNvSpPr/>
          <p:nvPr/>
        </p:nvSpPr>
        <p:spPr>
          <a:xfrm>
            <a:off x="6156325" y="4652963"/>
            <a:ext cx="1655763" cy="10080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TW" altLang="en-US" dirty="0">
              <a:solidFill>
                <a:schemeClr val="tx1"/>
              </a:solidFill>
            </a:endParaRPr>
          </a:p>
        </p:txBody>
      </p:sp>
    </p:spTree>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標題 1"/>
          <p:cNvSpPr>
            <a:spLocks noGrp="1"/>
          </p:cNvSpPr>
          <p:nvPr>
            <p:ph type="title"/>
          </p:nvPr>
        </p:nvSpPr>
        <p:spPr/>
        <p:txBody>
          <a:bodyPr/>
          <a:lstStyle/>
          <a:p>
            <a:r>
              <a:rPr lang="en-US" altLang="zh-TW" smtClean="0"/>
              <a:t>Time complexity</a:t>
            </a:r>
            <a:endParaRPr lang="zh-TW" altLang="en-US" smtClean="0"/>
          </a:p>
        </p:txBody>
      </p:sp>
      <p:sp>
        <p:nvSpPr>
          <p:cNvPr id="26626" name="內容版面配置區 2"/>
          <p:cNvSpPr>
            <a:spLocks noGrp="1"/>
          </p:cNvSpPr>
          <p:nvPr>
            <p:ph idx="1"/>
          </p:nvPr>
        </p:nvSpPr>
        <p:spPr>
          <a:xfrm>
            <a:off x="457200" y="1600200"/>
            <a:ext cx="8229600" cy="2620963"/>
          </a:xfrm>
        </p:spPr>
        <p:txBody>
          <a:bodyPr/>
          <a:lstStyle/>
          <a:p>
            <a:r>
              <a:rPr lang="en-US" altLang="zh-TW" smtClean="0"/>
              <a:t>times of block computing : </a:t>
            </a:r>
            <a:r>
              <a:rPr lang="en-US" altLang="zh-TW" i="1" smtClean="0"/>
              <a:t>mn</a:t>
            </a:r>
            <a:endParaRPr lang="en-US" altLang="zh-TW" smtClean="0"/>
          </a:p>
          <a:p>
            <a:r>
              <a:rPr lang="en-US" altLang="zh-TW" smtClean="0"/>
              <a:t>average run length of X : </a:t>
            </a:r>
            <a:r>
              <a:rPr lang="en-US" altLang="zh-TW" i="1" smtClean="0"/>
              <a:t>M/m</a:t>
            </a:r>
          </a:p>
          <a:p>
            <a:r>
              <a:rPr lang="en-US" altLang="zh-TW" smtClean="0"/>
              <a:t>average run length of Y : </a:t>
            </a:r>
            <a:r>
              <a:rPr lang="en-US" altLang="zh-TW" i="1" smtClean="0"/>
              <a:t>N/n</a:t>
            </a:r>
          </a:p>
          <a:p>
            <a:r>
              <a:rPr lang="en-US" altLang="zh-TW" i="1" smtClean="0"/>
              <a:t>1</a:t>
            </a:r>
            <a:r>
              <a:rPr lang="en-US" altLang="zh-TW" smtClean="0"/>
              <a:t>  for counting twice the corner output</a:t>
            </a:r>
            <a:endParaRPr lang="zh-TW" altLang="en-US" smtClean="0"/>
          </a:p>
        </p:txBody>
      </p:sp>
      <p:pic>
        <p:nvPicPr>
          <p:cNvPr id="26627" name="Picture 4"/>
          <p:cNvPicPr>
            <a:picLocks noChangeAspect="1" noChangeArrowheads="1"/>
          </p:cNvPicPr>
          <p:nvPr/>
        </p:nvPicPr>
        <p:blipFill>
          <a:blip r:embed="rId2"/>
          <a:srcRect/>
          <a:stretch>
            <a:fillRect/>
          </a:stretch>
        </p:blipFill>
        <p:spPr bwMode="auto">
          <a:xfrm>
            <a:off x="1403350" y="4581525"/>
            <a:ext cx="5934075" cy="971550"/>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標題 1"/>
          <p:cNvSpPr>
            <a:spLocks noGrp="1"/>
          </p:cNvSpPr>
          <p:nvPr>
            <p:ph type="title"/>
          </p:nvPr>
        </p:nvSpPr>
        <p:spPr>
          <a:xfrm>
            <a:off x="457200" y="44450"/>
            <a:ext cx="8229600" cy="1143000"/>
          </a:xfrm>
        </p:spPr>
        <p:txBody>
          <a:bodyPr/>
          <a:lstStyle/>
          <a:p>
            <a:r>
              <a:rPr lang="en-US" altLang="zh-TW" smtClean="0"/>
              <a:t>Parallelism</a:t>
            </a:r>
            <a:endParaRPr lang="zh-TW" altLang="en-US" smtClean="0"/>
          </a:p>
        </p:txBody>
      </p:sp>
      <p:pic>
        <p:nvPicPr>
          <p:cNvPr id="27650" name="Picture 2"/>
          <p:cNvPicPr>
            <a:picLocks noGrp="1" noChangeAspect="1" noChangeArrowheads="1"/>
          </p:cNvPicPr>
          <p:nvPr>
            <p:ph idx="1"/>
          </p:nvPr>
        </p:nvPicPr>
        <p:blipFill>
          <a:blip r:embed="rId2"/>
          <a:srcRect/>
          <a:stretch>
            <a:fillRect/>
          </a:stretch>
        </p:blipFill>
        <p:spPr>
          <a:xfrm>
            <a:off x="1331913" y="981075"/>
            <a:ext cx="6264275" cy="3317875"/>
          </a:xfrm>
        </p:spPr>
      </p:pic>
      <p:sp>
        <p:nvSpPr>
          <p:cNvPr id="27651" name="文字方塊 4"/>
          <p:cNvSpPr txBox="1">
            <a:spLocks noChangeArrowheads="1"/>
          </p:cNvSpPr>
          <p:nvPr/>
        </p:nvSpPr>
        <p:spPr bwMode="auto">
          <a:xfrm>
            <a:off x="1116013" y="4724400"/>
            <a:ext cx="7200900" cy="1201738"/>
          </a:xfrm>
          <a:prstGeom prst="rect">
            <a:avLst/>
          </a:prstGeom>
          <a:noFill/>
          <a:ln w="9525">
            <a:noFill/>
            <a:miter lim="800000"/>
            <a:headEnd/>
            <a:tailEnd/>
          </a:ln>
        </p:spPr>
        <p:txBody>
          <a:bodyPr>
            <a:spAutoFit/>
          </a:bodyPr>
          <a:lstStyle/>
          <a:p>
            <a:r>
              <a:rPr kumimoji="0" lang="en-US" altLang="zh-TW" sz="2400">
                <a:latin typeface="Calibri" pitchFamily="34" charset="0"/>
              </a:rPr>
              <a:t>If the maximum number of units that can execute in parallel is 9,execution completes in only 5 steps, while the original LCS algorithm is 11 steps.</a:t>
            </a:r>
            <a:endParaRPr kumimoji="0" lang="zh-TW" altLang="en-US" sz="2400">
              <a:latin typeface="Calibri" pitchFamily="34" charset="0"/>
            </a:endParaRPr>
          </a:p>
        </p:txBody>
      </p:sp>
    </p:spTree>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標題 1"/>
          <p:cNvSpPr>
            <a:spLocks noGrp="1"/>
          </p:cNvSpPr>
          <p:nvPr>
            <p:ph type="title"/>
          </p:nvPr>
        </p:nvSpPr>
        <p:spPr>
          <a:xfrm>
            <a:off x="468313" y="2997200"/>
            <a:ext cx="8229600" cy="1143000"/>
          </a:xfrm>
        </p:spPr>
        <p:txBody>
          <a:bodyPr/>
          <a:lstStyle/>
          <a:p>
            <a:r>
              <a:rPr lang="en-US" altLang="zh-TW" smtClean="0"/>
              <a:t>Thank you!!</a:t>
            </a:r>
            <a:endParaRPr lang="zh-TW" altLang="en-US" smtClean="0"/>
          </a:p>
        </p:txBody>
      </p:sp>
    </p:spTree>
  </p:cSld>
  <p:clrMapOvr>
    <a:masterClrMapping/>
  </p:clrMapOvr>
  <p:transition>
    <p:cut/>
  </p:transition>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522</TotalTime>
  <Words>594</Words>
  <Application>Microsoft Office PowerPoint</Application>
  <PresentationFormat>如螢幕大小 (4:3)</PresentationFormat>
  <Paragraphs>253</Paragraphs>
  <Slides>16</Slides>
  <Notes>0</Notes>
  <HiddenSlides>0</HiddenSlides>
  <MMClips>0</MMClips>
  <ScaleCrop>false</ScaleCrop>
  <HeadingPairs>
    <vt:vector size="6" baseType="variant">
      <vt:variant>
        <vt:lpstr>使用字型</vt:lpstr>
      </vt:variant>
      <vt:variant>
        <vt:i4>4</vt:i4>
      </vt:variant>
      <vt:variant>
        <vt:lpstr>簡報設計範本</vt:lpstr>
      </vt:variant>
      <vt:variant>
        <vt:i4>1</vt:i4>
      </vt:variant>
      <vt:variant>
        <vt:lpstr>投影片標題</vt:lpstr>
      </vt:variant>
      <vt:variant>
        <vt:i4>16</vt:i4>
      </vt:variant>
    </vt:vector>
  </HeadingPairs>
  <TitlesOfParts>
    <vt:vector size="21" baseType="lpstr">
      <vt:lpstr>Calibri</vt:lpstr>
      <vt:lpstr>新細明體</vt:lpstr>
      <vt:lpstr>Arial</vt:lpstr>
      <vt:lpstr>Times New Roman</vt:lpstr>
      <vt:lpstr>Office 佈景主題</vt:lpstr>
      <vt:lpstr>Longest common subsequence between run-length-encoded strings: a new algorithm with improved parallelism  Valerio Freschi, Alessandro Bogliolo  Information Processing Letters, Vol. 90, pp. 167-173, 2004</vt:lpstr>
      <vt:lpstr>Abstract</vt:lpstr>
      <vt:lpstr>Run-length-encoded (RLE)</vt:lpstr>
      <vt:lpstr>Original LCS algorithm</vt:lpstr>
      <vt:lpstr>Original LCS algorithm</vt:lpstr>
      <vt:lpstr>LCS with RLE</vt:lpstr>
      <vt:lpstr>LCS with RLE</vt:lpstr>
      <vt:lpstr>Algorithm of LCS with RLE</vt:lpstr>
      <vt:lpstr>Example of LCS with RLE</vt:lpstr>
      <vt:lpstr>Example of LCS with RLE</vt:lpstr>
      <vt:lpstr>Example of LCS with RLE</vt:lpstr>
      <vt:lpstr>Example of LCS with RLE</vt:lpstr>
      <vt:lpstr>Example of LCS with RLE</vt:lpstr>
      <vt:lpstr>Time complexity</vt:lpstr>
      <vt:lpstr>Parallelism</vt:lpstr>
      <vt:lpstr>Thank you!!</vt:lpstr>
    </vt:vector>
  </TitlesOfParts>
  <Company>PPLAB</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Longest common subsequence between run-length-encoded strings: a new algorithm with improved parallelism  Valerio Freschi, Alessandro Bogliolo  Information Processing Letters, Vol. 90, pp. 167-173, 2004</dc:title>
  <dc:creator>William</dc:creator>
  <cp:lastModifiedBy>TA</cp:lastModifiedBy>
  <cp:revision>46</cp:revision>
  <dcterms:created xsi:type="dcterms:W3CDTF">2011-02-28T08:16:20Z</dcterms:created>
  <dcterms:modified xsi:type="dcterms:W3CDTF">2011-03-01T13:19:14Z</dcterms:modified>
</cp:coreProperties>
</file>