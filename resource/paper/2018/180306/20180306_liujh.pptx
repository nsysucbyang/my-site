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5924"/>
  </p:normalViewPr>
  <p:slideViewPr>
    <p:cSldViewPr snapToGrid="0" snapToObjects="1">
      <p:cViewPr varScale="1">
        <p:scale>
          <a:sx n="71" d="100"/>
          <a:sy n="71" d="100"/>
        </p:scale>
        <p:origin x="13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E747CB-8EF0-494D-B437-650EDCAD6DCC}" type="datetimeFigureOut">
              <a:rPr kumimoji="1" lang="zh-TW" altLang="en-US" smtClean="0"/>
              <a:t>2018/3/6</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526FF-5D5B-484C-937B-BC6869434AE0}" type="slidenum">
              <a:rPr kumimoji="1" lang="zh-TW" altLang="en-US" smtClean="0"/>
              <a:t>‹#›</a:t>
            </a:fld>
            <a:endParaRPr kumimoji="1" lang="zh-TW" altLang="en-US"/>
          </a:p>
        </p:txBody>
      </p:sp>
    </p:spTree>
    <p:extLst>
      <p:ext uri="{BB962C8B-B14F-4D97-AF65-F5344CB8AC3E}">
        <p14:creationId xmlns:p14="http://schemas.microsoft.com/office/powerpoint/2010/main" val="815377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tx1"/>
                </a:solidFill>
                <a:effectLst/>
                <a:latin typeface="+mn-lt"/>
                <a:ea typeface="+mn-ea"/>
                <a:cs typeface="+mn-cs"/>
              </a:rPr>
              <a:t>Generative Adversarial Nets </a:t>
            </a:r>
            <a:endParaRPr lang="en-US" altLang="zh-TW" dirty="0"/>
          </a:p>
          <a:p>
            <a:r>
              <a:rPr kumimoji="1" lang="en-US" altLang="zh-TW" dirty="0"/>
              <a:t>https://nips.cc/Conferences/2014</a:t>
            </a:r>
            <a:endParaRPr kumimoji="1" lang="zh-TW" altLang="en-US" dirty="0"/>
          </a:p>
        </p:txBody>
      </p:sp>
      <p:sp>
        <p:nvSpPr>
          <p:cNvPr id="4" name="投影片編號版面配置區 3"/>
          <p:cNvSpPr>
            <a:spLocks noGrp="1"/>
          </p:cNvSpPr>
          <p:nvPr>
            <p:ph type="sldNum" sz="quarter" idx="10"/>
          </p:nvPr>
        </p:nvSpPr>
        <p:spPr/>
        <p:txBody>
          <a:bodyPr/>
          <a:lstStyle/>
          <a:p>
            <a:fld id="{44A526FF-5D5B-484C-937B-BC6869434AE0}" type="slidenum">
              <a:rPr kumimoji="1" lang="zh-TW" altLang="en-US" smtClean="0"/>
              <a:t>1</a:t>
            </a:fld>
            <a:endParaRPr kumimoji="1" lang="zh-TW" altLang="en-US"/>
          </a:p>
        </p:txBody>
      </p:sp>
    </p:spTree>
    <p:extLst>
      <p:ext uri="{BB962C8B-B14F-4D97-AF65-F5344CB8AC3E}">
        <p14:creationId xmlns:p14="http://schemas.microsoft.com/office/powerpoint/2010/main" val="962154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4A526FF-5D5B-484C-937B-BC6869434AE0}" type="slidenum">
              <a:rPr kumimoji="1" lang="zh-TW" altLang="en-US" smtClean="0"/>
              <a:t>6</a:t>
            </a:fld>
            <a:endParaRPr kumimoji="1" lang="zh-TW" altLang="en-US"/>
          </a:p>
        </p:txBody>
      </p:sp>
    </p:spTree>
    <p:extLst>
      <p:ext uri="{BB962C8B-B14F-4D97-AF65-F5344CB8AC3E}">
        <p14:creationId xmlns:p14="http://schemas.microsoft.com/office/powerpoint/2010/main" val="1155306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73750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787906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753894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344322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8" name="頁尾版面配置區 7"/>
          <p:cNvSpPr>
            <a:spLocks noGrp="1"/>
          </p:cNvSpPr>
          <p:nvPr>
            <p:ph type="ftr" sz="quarter" idx="11"/>
          </p:nvPr>
        </p:nvSpPr>
        <p:spPr/>
        <p:txBody>
          <a:bodyPr/>
          <a:lstStyle/>
          <a:p>
            <a:endParaRPr kumimoji="1" lang="zh-TW" altLang="en-US"/>
          </a:p>
        </p:txBody>
      </p:sp>
      <p:sp>
        <p:nvSpPr>
          <p:cNvPr id="9" name="投影片編號版面配置區 8"/>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35747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日期版面配置區 2"/>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4" name="頁尾版面配置區 3"/>
          <p:cNvSpPr>
            <a:spLocks noGrp="1"/>
          </p:cNvSpPr>
          <p:nvPr>
            <p:ph type="ftr" sz="quarter" idx="11"/>
          </p:nvPr>
        </p:nvSpPr>
        <p:spPr/>
        <p:txBody>
          <a:bodyPr/>
          <a:lstStyle/>
          <a:p>
            <a:endParaRPr kumimoji="1" lang="zh-TW" altLang="en-US"/>
          </a:p>
        </p:txBody>
      </p:sp>
      <p:sp>
        <p:nvSpPr>
          <p:cNvPr id="5" name="投影片編號版面配置區 4"/>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650548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3" name="頁尾版面配置區 2"/>
          <p:cNvSpPr>
            <a:spLocks noGrp="1"/>
          </p:cNvSpPr>
          <p:nvPr>
            <p:ph type="ftr" sz="quarter" idx="11"/>
          </p:nvPr>
        </p:nvSpPr>
        <p:spPr/>
        <p:txBody>
          <a:bodyPr/>
          <a:lstStyle/>
          <a:p>
            <a:endParaRPr kumimoji="1" lang="zh-TW" altLang="en-US"/>
          </a:p>
        </p:txBody>
      </p:sp>
      <p:sp>
        <p:nvSpPr>
          <p:cNvPr id="4" name="投影片編號版面配置區 3"/>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728320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025204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6" name="頁尾版面配置區 5"/>
          <p:cNvSpPr>
            <a:spLocks noGrp="1"/>
          </p:cNvSpPr>
          <p:nvPr>
            <p:ph type="ftr" sz="quarter" idx="11"/>
          </p:nvPr>
        </p:nvSpPr>
        <p:spPr/>
        <p:txBody>
          <a:bodyPr/>
          <a:lstStyle/>
          <a:p>
            <a:endParaRPr kumimoji="1" lang="zh-TW" altLang="en-US"/>
          </a:p>
        </p:txBody>
      </p:sp>
      <p:sp>
        <p:nvSpPr>
          <p:cNvPr id="7" name="投影片編號版面配置區 6"/>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342849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135978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11"/>
          </p:nvPr>
        </p:nvSpPr>
        <p:spPr/>
        <p:txBody>
          <a:bodyPr/>
          <a:lstStyle/>
          <a:p>
            <a:endParaRPr kumimoji="1" lang="zh-TW" altLang="en-US"/>
          </a:p>
        </p:txBody>
      </p:sp>
      <p:sp>
        <p:nvSpPr>
          <p:cNvPr id="6" name="投影片編號版面配置區 5"/>
          <p:cNvSpPr>
            <a:spLocks noGrp="1"/>
          </p:cNvSpPr>
          <p:nvPr>
            <p:ph type="sldNum" sz="quarter" idx="12"/>
          </p:nvPr>
        </p:nvSpPr>
        <p:spPr/>
        <p:txBody>
          <a:body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342312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1F76AA-7086-2945-8060-6396F3878362}" type="datetimeFigureOut">
              <a:rPr kumimoji="1" lang="zh-TW" altLang="en-US" smtClean="0"/>
              <a:t>2018/3/6</a:t>
            </a:fld>
            <a:endParaRPr kumimoji="1"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4003BD-95F7-AB47-A35A-1F107F49F0BE}" type="slidenum">
              <a:rPr kumimoji="1" lang="zh-TW" altLang="en-US" smtClean="0"/>
              <a:t>‹#›</a:t>
            </a:fld>
            <a:endParaRPr kumimoji="1" lang="zh-TW" altLang="en-US"/>
          </a:p>
        </p:txBody>
      </p:sp>
    </p:spTree>
    <p:extLst>
      <p:ext uri="{BB962C8B-B14F-4D97-AF65-F5344CB8AC3E}">
        <p14:creationId xmlns:p14="http://schemas.microsoft.com/office/powerpoint/2010/main" val="577800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Generative Adversarial Nets </a:t>
            </a:r>
            <a:endParaRPr kumimoji="1" lang="zh-TW" altLang="en-US" dirty="0"/>
          </a:p>
        </p:txBody>
      </p:sp>
      <p:sp>
        <p:nvSpPr>
          <p:cNvPr id="3" name="副標題 2"/>
          <p:cNvSpPr>
            <a:spLocks noGrp="1"/>
          </p:cNvSpPr>
          <p:nvPr>
            <p:ph type="subTitle" idx="1"/>
          </p:nvPr>
        </p:nvSpPr>
        <p:spPr/>
        <p:txBody>
          <a:bodyPr>
            <a:normAutofit lnSpcReduction="10000"/>
          </a:bodyPr>
          <a:lstStyle/>
          <a:p>
            <a:r>
              <a:rPr lang="en-US" altLang="zh-TW" dirty="0"/>
              <a:t>Ian J. </a:t>
            </a:r>
            <a:r>
              <a:rPr lang="en-US" altLang="zh-TW" dirty="0" err="1"/>
              <a:t>Goodfellow</a:t>
            </a:r>
            <a:r>
              <a:rPr lang="en-US" altLang="zh-TW" dirty="0"/>
              <a:t>, Jean </a:t>
            </a:r>
            <a:r>
              <a:rPr lang="en-US" altLang="zh-TW" dirty="0" err="1"/>
              <a:t>Pouget-Abadie</a:t>
            </a:r>
            <a:r>
              <a:rPr lang="en-US" altLang="zh-TW" dirty="0"/>
              <a:t>, Mehdi Mirza, Bing Xu, David </a:t>
            </a:r>
            <a:r>
              <a:rPr lang="en-US" altLang="zh-TW" dirty="0" err="1"/>
              <a:t>Warde</a:t>
            </a:r>
            <a:r>
              <a:rPr lang="en-US" altLang="zh-TW" dirty="0"/>
              <a:t>-Farley, </a:t>
            </a:r>
            <a:r>
              <a:rPr lang="en-US" altLang="zh-TW" dirty="0" err="1"/>
              <a:t>Sherjil</a:t>
            </a:r>
            <a:r>
              <a:rPr lang="en-US" altLang="zh-TW" dirty="0"/>
              <a:t> </a:t>
            </a:r>
            <a:r>
              <a:rPr lang="en-US" altLang="zh-TW" dirty="0" err="1" smtClean="0"/>
              <a:t>Ozair</a:t>
            </a:r>
            <a:r>
              <a:rPr lang="en-US" altLang="zh-TW" dirty="0" smtClean="0"/>
              <a:t>, </a:t>
            </a:r>
            <a:r>
              <a:rPr lang="en-US" altLang="zh-TW" dirty="0"/>
              <a:t>Aaron </a:t>
            </a:r>
            <a:r>
              <a:rPr lang="en-US" altLang="zh-TW" dirty="0" err="1"/>
              <a:t>Courville</a:t>
            </a:r>
            <a:r>
              <a:rPr lang="en-US" altLang="zh-TW" dirty="0"/>
              <a:t>, </a:t>
            </a:r>
            <a:r>
              <a:rPr lang="en-US" altLang="zh-TW" dirty="0" err="1"/>
              <a:t>Yoshua</a:t>
            </a:r>
            <a:r>
              <a:rPr lang="en-US" altLang="zh-TW" dirty="0"/>
              <a:t> </a:t>
            </a:r>
            <a:r>
              <a:rPr lang="en-US" altLang="zh-TW" dirty="0" err="1" smtClean="0"/>
              <a:t>Bengio</a:t>
            </a:r>
            <a:endParaRPr lang="en-US" altLang="zh-TW" dirty="0" smtClean="0"/>
          </a:p>
          <a:p>
            <a:r>
              <a:rPr lang="zh-TW" altLang="zh-TW" dirty="0" smtClean="0">
                <a:solidFill>
                  <a:srgbClr val="777777"/>
                </a:solidFill>
                <a:latin typeface="Arial" panose="020B0604020202020204" pitchFamily="34" charset="0"/>
                <a:ea typeface="Helvetica Neue"/>
              </a:rPr>
              <a:t>The Conference </a:t>
            </a:r>
            <a:r>
              <a:rPr lang="zh-TW" altLang="zh-TW" dirty="0">
                <a:solidFill>
                  <a:srgbClr val="777777"/>
                </a:solidFill>
                <a:latin typeface="Arial" panose="020B0604020202020204" pitchFamily="34" charset="0"/>
                <a:ea typeface="Helvetica Neue"/>
              </a:rPr>
              <a:t>on Neural Information Processing Systems</a:t>
            </a:r>
            <a:endParaRPr lang="zh-TW" altLang="zh-TW" sz="4400" dirty="0">
              <a:solidFill>
                <a:srgbClr val="333333"/>
              </a:solidFill>
              <a:latin typeface="Arial" panose="020B0604020202020204" pitchFamily="34" charset="0"/>
              <a:ea typeface="Helvetica Neue"/>
            </a:endParaRPr>
          </a:p>
          <a:p>
            <a:r>
              <a:rPr lang="en-US" altLang="zh-TW" i="1" dirty="0" smtClean="0"/>
              <a:t>Montréal</a:t>
            </a:r>
            <a:r>
              <a:rPr lang="en-US" altLang="zh-TW" i="1" dirty="0"/>
              <a:t>,</a:t>
            </a:r>
            <a:r>
              <a:rPr lang="en-US" altLang="zh-TW" dirty="0"/>
              <a:t> Canada, 2014</a:t>
            </a:r>
            <a:endParaRPr lang="en-US" altLang="zh-TW" b="1" dirty="0"/>
          </a:p>
        </p:txBody>
      </p:sp>
      <p:sp>
        <p:nvSpPr>
          <p:cNvPr id="4" name="矩形 3">
            <a:extLst>
              <a:ext uri="{FF2B5EF4-FFF2-40B4-BE49-F238E27FC236}">
                <a16:creationId xmlns:a16="http://schemas.microsoft.com/office/drawing/2014/main" xmlns="" id="{BAC81704-A929-40CF-8512-B345901D08ED}"/>
              </a:ext>
            </a:extLst>
          </p:cNvPr>
          <p:cNvSpPr/>
          <p:nvPr/>
        </p:nvSpPr>
        <p:spPr>
          <a:xfrm>
            <a:off x="8331719" y="5873944"/>
            <a:ext cx="2336281" cy="646331"/>
          </a:xfrm>
          <a:prstGeom prst="rect">
            <a:avLst/>
          </a:prstGeom>
        </p:spPr>
        <p:txBody>
          <a:bodyPr wrap="none">
            <a:spAutoFit/>
          </a:bodyPr>
          <a:lstStyle/>
          <a:p>
            <a:r>
              <a:rPr lang="en-US" altLang="zh-TW" dirty="0"/>
              <a:t>Presenter: Jia-Hong Liu</a:t>
            </a:r>
          </a:p>
          <a:p>
            <a:r>
              <a:rPr lang="en-US" altLang="zh-TW" dirty="0"/>
              <a:t>Date: 2018/3/6</a:t>
            </a:r>
            <a:endParaRPr lang="zh-TW" altLang="en-US" dirty="0"/>
          </a:p>
        </p:txBody>
      </p:sp>
    </p:spTree>
    <p:extLst>
      <p:ext uri="{BB962C8B-B14F-4D97-AF65-F5344CB8AC3E}">
        <p14:creationId xmlns:p14="http://schemas.microsoft.com/office/powerpoint/2010/main" val="1430266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009199-E101-4C38-A42B-CD90AB6313FC}"/>
              </a:ext>
            </a:extLst>
          </p:cNvPr>
          <p:cNvSpPr>
            <a:spLocks noGrp="1"/>
          </p:cNvSpPr>
          <p:nvPr>
            <p:ph type="title"/>
          </p:nvPr>
        </p:nvSpPr>
        <p:spPr/>
        <p:txBody>
          <a:bodyPr/>
          <a:lstStyle/>
          <a:p>
            <a:pPr algn="ctr"/>
            <a:r>
              <a:rPr lang="en-US" altLang="zh-TW" dirty="0"/>
              <a:t>Abstract</a:t>
            </a:r>
            <a:endParaRPr lang="zh-TW" altLang="en-US" dirty="0"/>
          </a:p>
        </p:txBody>
      </p:sp>
      <p:sp>
        <p:nvSpPr>
          <p:cNvPr id="3" name="內容版面配置區 2">
            <a:extLst>
              <a:ext uri="{FF2B5EF4-FFF2-40B4-BE49-F238E27FC236}">
                <a16:creationId xmlns:a16="http://schemas.microsoft.com/office/drawing/2014/main" xmlns="" id="{B0A305CF-5756-481C-A71F-D9D0226CB061}"/>
              </a:ext>
            </a:extLst>
          </p:cNvPr>
          <p:cNvSpPr>
            <a:spLocks noGrp="1"/>
          </p:cNvSpPr>
          <p:nvPr>
            <p:ph idx="1"/>
          </p:nvPr>
        </p:nvSpPr>
        <p:spPr/>
        <p:txBody>
          <a:bodyPr>
            <a:normAutofit fontScale="92500" lnSpcReduction="20000"/>
          </a:bodyPr>
          <a:lstStyle/>
          <a:p>
            <a:pPr marL="0" indent="0">
              <a:buNone/>
            </a:pPr>
            <a:r>
              <a:rPr lang="en-US" altLang="zh-TW" dirty="0"/>
              <a:t>We propose a new framework for estimating generative models via an adversarial process, in which we simultaneously train two models: a generative model G that captures the data distribution, and a discriminative model D that estimates the probability that a sample came from the training data rather than G. The training procedure for G is to maximize the probability of D making a mistake. This framework corresponds to a minimax two-player game. In the space of arbitrary functions G and D, a unique solution exists, with G recovering the training data distribution and D equal to </a:t>
            </a:r>
            <a:r>
              <a:rPr lang="en-US" altLang="zh-TW" dirty="0" smtClean="0"/>
              <a:t>1/2 </a:t>
            </a:r>
            <a:r>
              <a:rPr lang="en-US" altLang="zh-TW" dirty="0"/>
              <a:t>everywhere. In the case where G and D are defined by multilayer </a:t>
            </a:r>
            <a:r>
              <a:rPr lang="en-US" altLang="zh-TW" dirty="0" err="1"/>
              <a:t>perceptrons</a:t>
            </a:r>
            <a:r>
              <a:rPr lang="en-US" altLang="zh-TW" dirty="0"/>
              <a:t>, the entire system can be trained with backpropagation. There is no need for any Markov chains or unrolled approximate inference networks during either training or generation of samples. Experiments demonstrate the potential of the framework through qualitative and quantitative evaluation of the generated samples.</a:t>
            </a:r>
            <a:endParaRPr lang="zh-TW" altLang="en-US" dirty="0"/>
          </a:p>
        </p:txBody>
      </p:sp>
    </p:spTree>
    <p:extLst>
      <p:ext uri="{BB962C8B-B14F-4D97-AF65-F5344CB8AC3E}">
        <p14:creationId xmlns:p14="http://schemas.microsoft.com/office/powerpoint/2010/main" val="32628569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663DC51-C069-4A7E-B233-1DB82535FA86}"/>
              </a:ext>
            </a:extLst>
          </p:cNvPr>
          <p:cNvSpPr>
            <a:spLocks noGrp="1"/>
          </p:cNvSpPr>
          <p:nvPr>
            <p:ph type="title"/>
          </p:nvPr>
        </p:nvSpPr>
        <p:spPr/>
        <p:txBody>
          <a:bodyPr/>
          <a:lstStyle/>
          <a:p>
            <a:pPr algn="ctr"/>
            <a:r>
              <a:rPr lang="en-US" altLang="zh-TW" dirty="0"/>
              <a:t>Adversarial Nets</a:t>
            </a:r>
            <a:endParaRPr lang="zh-TW" altLang="en-US" dirty="0"/>
          </a:p>
        </p:txBody>
      </p:sp>
      <p:pic>
        <p:nvPicPr>
          <p:cNvPr id="4" name="內容版面配置區 3">
            <a:extLst>
              <a:ext uri="{FF2B5EF4-FFF2-40B4-BE49-F238E27FC236}">
                <a16:creationId xmlns:a16="http://schemas.microsoft.com/office/drawing/2014/main" xmlns="" id="{7B5A569B-1F89-433C-8B52-F1302E9072F6}"/>
              </a:ext>
            </a:extLst>
          </p:cNvPr>
          <p:cNvPicPr>
            <a:picLocks noGrp="1" noChangeAspect="1"/>
          </p:cNvPicPr>
          <p:nvPr>
            <p:ph idx="1"/>
          </p:nvPr>
        </p:nvPicPr>
        <p:blipFill>
          <a:blip r:embed="rId2"/>
          <a:stretch>
            <a:fillRect/>
          </a:stretch>
        </p:blipFill>
        <p:spPr>
          <a:xfrm>
            <a:off x="396927" y="2665246"/>
            <a:ext cx="11065362" cy="599929"/>
          </a:xfrm>
          <a:prstGeom prst="rect">
            <a:avLst/>
          </a:prstGeom>
        </p:spPr>
      </p:pic>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xmlns="" id="{02F26ECE-8162-494E-AEAC-2332D1A01B34}"/>
                  </a:ext>
                </a:extLst>
              </p:cNvPr>
              <p:cNvSpPr/>
              <p:nvPr/>
            </p:nvSpPr>
            <p:spPr>
              <a:xfrm>
                <a:off x="1977754" y="3611674"/>
                <a:ext cx="6063089" cy="2763192"/>
              </a:xfrm>
              <a:prstGeom prst="rect">
                <a:avLst/>
              </a:prstGeom>
            </p:spPr>
            <p:txBody>
              <a:bodyPr wrap="square">
                <a:spAutoFit/>
              </a:bodyPr>
              <a:lstStyle/>
              <a:p>
                <a:pPr algn="just"/>
                <a:endParaRPr lang="en-US" altLang="zh-TW" sz="2800" i="1" dirty="0">
                  <a:latin typeface="+mj-lt"/>
                </a:endParaRPr>
              </a:p>
              <a:p>
                <a:pPr marL="285750" indent="-285750">
                  <a:buFont typeface="Arial" panose="020B0604020202020204" pitchFamily="34" charset="0"/>
                  <a:buChar char="•"/>
                </a:pPr>
                <a14:m>
                  <m:oMath xmlns:m="http://schemas.openxmlformats.org/officeDocument/2006/math">
                    <m:r>
                      <a:rPr lang="en-US" altLang="zh-TW" sz="2800" b="0" i="1" smtClean="0">
                        <a:latin typeface="+mj-lt"/>
                      </a:rPr>
                      <m:t>𝐷</m:t>
                    </m:r>
                    <m:d>
                      <m:dPr>
                        <m:ctrlPr>
                          <a:rPr lang="en-US" altLang="zh-TW" sz="2800" b="0" i="1" smtClean="0">
                            <a:latin typeface="+mj-lt"/>
                          </a:rPr>
                        </m:ctrlPr>
                      </m:dPr>
                      <m:e>
                        <m:r>
                          <a:rPr lang="en-US" altLang="zh-TW" sz="2800" b="0" i="1" smtClean="0">
                            <a:latin typeface="+mj-lt"/>
                          </a:rPr>
                          <m:t>𝑧</m:t>
                        </m:r>
                      </m:e>
                    </m:d>
                    <m:r>
                      <a:rPr lang="en-US" altLang="zh-TW" sz="2800" b="0" i="1" smtClean="0">
                        <a:latin typeface="+mj-lt"/>
                      </a:rPr>
                      <m:t>:</m:t>
                    </m:r>
                    <m:r>
                      <m:rPr>
                        <m:nor/>
                      </m:rPr>
                      <a:rPr lang="en-US" altLang="zh-TW" sz="2800">
                        <a:latin typeface="+mj-lt"/>
                      </a:rPr>
                      <m:t>discriminator</m:t>
                    </m:r>
                  </m:oMath>
                </a14:m>
                <a:endParaRPr lang="en-US" altLang="zh-TW" sz="2800" dirty="0">
                  <a:latin typeface="+mj-lt"/>
                </a:endParaRPr>
              </a:p>
              <a:p>
                <a:pPr marL="285750" indent="-285750">
                  <a:buFont typeface="Arial" panose="020B0604020202020204" pitchFamily="34" charset="0"/>
                  <a:buChar char="•"/>
                </a:pPr>
                <a14:m>
                  <m:oMath xmlns:m="http://schemas.openxmlformats.org/officeDocument/2006/math">
                    <m:r>
                      <m:rPr>
                        <m:nor/>
                      </m:rPr>
                      <a:rPr lang="en-US" altLang="zh-TW" sz="2800" b="0" i="0" smtClean="0">
                        <a:latin typeface="+mj-lt"/>
                      </a:rPr>
                      <m:t>G</m:t>
                    </m:r>
                    <m:r>
                      <m:rPr>
                        <m:nor/>
                      </m:rPr>
                      <a:rPr lang="en-US" altLang="zh-TW" sz="2800" b="0" i="0" smtClean="0">
                        <a:latin typeface="+mj-lt"/>
                      </a:rPr>
                      <m:t>(</m:t>
                    </m:r>
                    <m:r>
                      <m:rPr>
                        <m:nor/>
                      </m:rPr>
                      <a:rPr lang="en-US" altLang="zh-TW" sz="2800" b="0" i="0" smtClean="0">
                        <a:latin typeface="+mj-lt"/>
                      </a:rPr>
                      <m:t>x</m:t>
                    </m:r>
                    <m:r>
                      <m:rPr>
                        <m:nor/>
                      </m:rPr>
                      <a:rPr lang="en-US" altLang="zh-TW" sz="2800" b="0" i="0" smtClean="0">
                        <a:latin typeface="+mj-lt"/>
                      </a:rPr>
                      <m:t>): </m:t>
                    </m:r>
                    <m:r>
                      <m:rPr>
                        <m:nor/>
                      </m:rPr>
                      <a:rPr lang="en-US" altLang="zh-TW" sz="2800">
                        <a:latin typeface="+mj-lt"/>
                      </a:rPr>
                      <m:t>generator</m:t>
                    </m:r>
                  </m:oMath>
                </a14:m>
                <a:endParaRPr lang="en-US" altLang="zh-TW" sz="2800" b="0" i="1" dirty="0">
                  <a:latin typeface="+mj-lt"/>
                </a:endParaRPr>
              </a:p>
              <a:p>
                <a:pPr marL="285750" indent="-285750">
                  <a:buFont typeface="Arial" panose="020B0604020202020204" pitchFamily="34" charset="0"/>
                  <a:buChar char="•"/>
                </a:pPr>
                <a14:m>
                  <m:oMath xmlns:m="http://schemas.openxmlformats.org/officeDocument/2006/math">
                    <m:sSub>
                      <m:sSubPr>
                        <m:ctrlPr>
                          <a:rPr lang="en-US" altLang="zh-TW" sz="2800" i="1" smtClean="0">
                            <a:latin typeface="+mj-lt"/>
                          </a:rPr>
                        </m:ctrlPr>
                      </m:sSubPr>
                      <m:e>
                        <m:r>
                          <a:rPr lang="en-US" altLang="zh-TW" sz="2800" b="0" i="1" smtClean="0">
                            <a:latin typeface="+mj-lt"/>
                          </a:rPr>
                          <m:t>𝑝</m:t>
                        </m:r>
                      </m:e>
                      <m:sub>
                        <m:r>
                          <a:rPr lang="en-US" altLang="zh-TW" sz="2800" b="0" i="1" smtClean="0">
                            <a:latin typeface="+mj-lt"/>
                          </a:rPr>
                          <m:t>𝑧</m:t>
                        </m:r>
                      </m:sub>
                    </m:sSub>
                    <m:r>
                      <a:rPr lang="en-US" altLang="zh-TW" sz="2800" b="0" i="1" smtClean="0">
                        <a:latin typeface="+mj-lt"/>
                      </a:rPr>
                      <m:t>(</m:t>
                    </m:r>
                    <m:r>
                      <a:rPr lang="en-US" altLang="zh-TW" sz="2800" b="0" i="1" smtClean="0">
                        <a:latin typeface="+mj-lt"/>
                      </a:rPr>
                      <m:t>𝑧</m:t>
                    </m:r>
                    <m:r>
                      <a:rPr lang="en-US" altLang="zh-TW" sz="2800" b="0" i="1" smtClean="0">
                        <a:latin typeface="+mj-lt"/>
                      </a:rPr>
                      <m:t>):</m:t>
                    </m:r>
                    <m:r>
                      <m:rPr>
                        <m:nor/>
                      </m:rPr>
                      <a:rPr lang="en-US" altLang="zh-TW" sz="2800" dirty="0">
                        <a:latin typeface="+mj-lt"/>
                      </a:rPr>
                      <m:t>input</m:t>
                    </m:r>
                    <m:r>
                      <m:rPr>
                        <m:nor/>
                      </m:rPr>
                      <a:rPr lang="en-US" altLang="zh-TW" sz="2800" dirty="0">
                        <a:latin typeface="+mj-lt"/>
                      </a:rPr>
                      <m:t> </m:t>
                    </m:r>
                    <m:r>
                      <m:rPr>
                        <m:nor/>
                      </m:rPr>
                      <a:rPr lang="en-US" altLang="zh-TW" sz="2800" dirty="0">
                        <a:latin typeface="+mj-lt"/>
                      </a:rPr>
                      <m:t>noise</m:t>
                    </m:r>
                    <m:r>
                      <m:rPr>
                        <m:nor/>
                      </m:rPr>
                      <a:rPr lang="en-US" altLang="zh-TW" sz="2800" dirty="0">
                        <a:latin typeface="+mj-lt"/>
                      </a:rPr>
                      <m:t> </m:t>
                    </m:r>
                    <m:r>
                      <m:rPr>
                        <m:nor/>
                      </m:rPr>
                      <a:rPr lang="en-US" altLang="zh-TW" sz="2800" dirty="0">
                        <a:latin typeface="+mj-lt"/>
                      </a:rPr>
                      <m:t>variables</m:t>
                    </m:r>
                  </m:oMath>
                </a14:m>
                <a:endParaRPr lang="en-US" altLang="zh-TW" sz="2800" dirty="0">
                  <a:latin typeface="+mj-lt"/>
                </a:endParaRPr>
              </a:p>
              <a:p>
                <a:pPr marL="285750" indent="-285750">
                  <a:buFont typeface="Arial" panose="020B0604020202020204" pitchFamily="34" charset="0"/>
                  <a:buChar char="•"/>
                </a:pPr>
                <a14:m>
                  <m:oMath xmlns:m="http://schemas.openxmlformats.org/officeDocument/2006/math">
                    <m:sSub>
                      <m:sSubPr>
                        <m:ctrlPr>
                          <a:rPr lang="en-US" altLang="zh-TW" sz="2800" i="1" smtClean="0">
                            <a:latin typeface="+mj-lt"/>
                          </a:rPr>
                        </m:ctrlPr>
                      </m:sSubPr>
                      <m:e>
                        <m:r>
                          <a:rPr lang="en-US" altLang="zh-TW" sz="2800" b="0" i="1" smtClean="0">
                            <a:latin typeface="+mj-lt"/>
                          </a:rPr>
                          <m:t>𝑝</m:t>
                        </m:r>
                      </m:e>
                      <m:sub>
                        <m:r>
                          <a:rPr lang="en-US" altLang="zh-TW" sz="2800" b="0" i="1" smtClean="0">
                            <a:latin typeface="+mj-lt"/>
                          </a:rPr>
                          <m:t>𝑑𝑎𝑡𝑎</m:t>
                        </m:r>
                      </m:sub>
                    </m:sSub>
                    <m:d>
                      <m:dPr>
                        <m:ctrlPr>
                          <a:rPr lang="en-US" altLang="zh-TW" sz="2800" b="0" i="1" smtClean="0">
                            <a:latin typeface="+mj-lt"/>
                          </a:rPr>
                        </m:ctrlPr>
                      </m:dPr>
                      <m:e>
                        <m:r>
                          <a:rPr lang="en-US" altLang="zh-TW" sz="2800" b="0" i="1" smtClean="0">
                            <a:latin typeface="+mj-lt"/>
                          </a:rPr>
                          <m:t>𝑥</m:t>
                        </m:r>
                      </m:e>
                    </m:d>
                    <m:r>
                      <a:rPr lang="en-US" altLang="zh-TW" sz="2800" b="0" i="1" smtClean="0">
                        <a:latin typeface="+mj-lt"/>
                      </a:rPr>
                      <m:t>:</m:t>
                    </m:r>
                    <m:r>
                      <m:rPr>
                        <m:nor/>
                      </m:rPr>
                      <a:rPr lang="en-US" altLang="zh-TW" sz="2800">
                        <a:latin typeface="+mj-lt"/>
                      </a:rPr>
                      <m:t>data</m:t>
                    </m:r>
                    <m:r>
                      <m:rPr>
                        <m:nor/>
                      </m:rPr>
                      <a:rPr lang="en-US" altLang="zh-TW" sz="2800">
                        <a:latin typeface="+mj-lt"/>
                      </a:rPr>
                      <m:t> </m:t>
                    </m:r>
                    <m:r>
                      <m:rPr>
                        <m:nor/>
                      </m:rPr>
                      <a:rPr lang="en-US" altLang="zh-TW" sz="2800">
                        <a:latin typeface="+mj-lt"/>
                      </a:rPr>
                      <m:t>generating</m:t>
                    </m:r>
                    <m:r>
                      <m:rPr>
                        <m:nor/>
                      </m:rPr>
                      <a:rPr lang="en-US" altLang="zh-TW" sz="2800">
                        <a:latin typeface="+mj-lt"/>
                      </a:rPr>
                      <m:t> </m:t>
                    </m:r>
                    <m:r>
                      <m:rPr>
                        <m:nor/>
                      </m:rPr>
                      <a:rPr lang="en-US" altLang="zh-TW" sz="2800">
                        <a:latin typeface="+mj-lt"/>
                      </a:rPr>
                      <m:t>distribution</m:t>
                    </m:r>
                  </m:oMath>
                </a14:m>
                <a:endParaRPr lang="en-US" altLang="zh-TW" sz="2800" dirty="0">
                  <a:latin typeface="+mj-lt"/>
                </a:endParaRPr>
              </a:p>
              <a:p>
                <a:endParaRPr lang="zh-TW" altLang="en-US" sz="2800" dirty="0"/>
              </a:p>
            </p:txBody>
          </p:sp>
        </mc:Choice>
        <mc:Fallback>
          <p:sp>
            <p:nvSpPr>
              <p:cNvPr id="6" name="矩形 5">
                <a:extLst>
                  <a:ext uri="{FF2B5EF4-FFF2-40B4-BE49-F238E27FC236}">
                    <a16:creationId xmlns:a16="http://schemas.microsoft.com/office/drawing/2014/main" xmlns:a14="http://schemas.microsoft.com/office/drawing/2010/main" xmlns="" id="{02F26ECE-8162-494E-AEAC-2332D1A01B34}"/>
                  </a:ext>
                </a:extLst>
              </p:cNvPr>
              <p:cNvSpPr>
                <a:spLocks noRot="1" noChangeAspect="1" noMove="1" noResize="1" noEditPoints="1" noAdjustHandles="1" noChangeArrowheads="1" noChangeShapeType="1" noTextEdit="1"/>
              </p:cNvSpPr>
              <p:nvPr/>
            </p:nvSpPr>
            <p:spPr>
              <a:xfrm>
                <a:off x="1977754" y="3611674"/>
                <a:ext cx="6063089" cy="2763192"/>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414967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961C3FF-D7DE-4E10-98FA-BE1180691535}"/>
              </a:ext>
            </a:extLst>
          </p:cNvPr>
          <p:cNvSpPr>
            <a:spLocks noGrp="1"/>
          </p:cNvSpPr>
          <p:nvPr>
            <p:ph type="title"/>
          </p:nvPr>
        </p:nvSpPr>
        <p:spPr/>
        <p:txBody>
          <a:bodyPr/>
          <a:lstStyle/>
          <a:p>
            <a:pPr algn="ctr"/>
            <a:r>
              <a:rPr lang="en-US" altLang="zh-TW" dirty="0"/>
              <a:t>Training(1/2)</a:t>
            </a:r>
            <a:endParaRPr lang="zh-TW" altLang="en-US" dirty="0"/>
          </a:p>
        </p:txBody>
      </p:sp>
      <p:pic>
        <p:nvPicPr>
          <p:cNvPr id="4" name="內容版面配置區 3">
            <a:extLst>
              <a:ext uri="{FF2B5EF4-FFF2-40B4-BE49-F238E27FC236}">
                <a16:creationId xmlns:a16="http://schemas.microsoft.com/office/drawing/2014/main" xmlns="" id="{6ED09728-B223-4134-AB72-D4D1D6C291CF}"/>
              </a:ext>
            </a:extLst>
          </p:cNvPr>
          <p:cNvPicPr>
            <a:picLocks noGrp="1" noChangeAspect="1"/>
          </p:cNvPicPr>
          <p:nvPr>
            <p:ph idx="1"/>
          </p:nvPr>
        </p:nvPicPr>
        <p:blipFill>
          <a:blip r:embed="rId2"/>
          <a:stretch>
            <a:fillRect/>
          </a:stretch>
        </p:blipFill>
        <p:spPr>
          <a:xfrm>
            <a:off x="1128712" y="1981386"/>
            <a:ext cx="9934575" cy="3067050"/>
          </a:xfrm>
          <a:prstGeom prst="rect">
            <a:avLst/>
          </a:prstGeom>
        </p:spPr>
      </p:pic>
    </p:spTree>
    <p:extLst>
      <p:ext uri="{BB962C8B-B14F-4D97-AF65-F5344CB8AC3E}">
        <p14:creationId xmlns:p14="http://schemas.microsoft.com/office/powerpoint/2010/main" val="5859332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4E55B0E-C766-4665-8F9E-ADE6BE9BA327}"/>
              </a:ext>
            </a:extLst>
          </p:cNvPr>
          <p:cNvSpPr>
            <a:spLocks noGrp="1"/>
          </p:cNvSpPr>
          <p:nvPr>
            <p:ph type="title"/>
          </p:nvPr>
        </p:nvSpPr>
        <p:spPr/>
        <p:txBody>
          <a:bodyPr/>
          <a:lstStyle/>
          <a:p>
            <a:pPr algn="ctr"/>
            <a:r>
              <a:rPr lang="en-US" altLang="zh-TW" dirty="0"/>
              <a:t>Training(2/2)</a:t>
            </a:r>
            <a:endParaRPr lang="zh-TW" altLang="en-US" dirty="0"/>
          </a:p>
        </p:txBody>
      </p:sp>
      <p:pic>
        <p:nvPicPr>
          <p:cNvPr id="6" name="內容版面配置區 5">
            <a:extLst>
              <a:ext uri="{FF2B5EF4-FFF2-40B4-BE49-F238E27FC236}">
                <a16:creationId xmlns:a16="http://schemas.microsoft.com/office/drawing/2014/main" xmlns="" id="{5FEAF015-35C9-4C4C-9C50-70EB60E4F21F}"/>
              </a:ext>
            </a:extLst>
          </p:cNvPr>
          <p:cNvPicPr>
            <a:picLocks noGrp="1" noChangeAspect="1"/>
          </p:cNvPicPr>
          <p:nvPr>
            <p:ph idx="1"/>
          </p:nvPr>
        </p:nvPicPr>
        <p:blipFill>
          <a:blip r:embed="rId2"/>
          <a:stretch>
            <a:fillRect/>
          </a:stretch>
        </p:blipFill>
        <p:spPr>
          <a:xfrm>
            <a:off x="1826763" y="1825625"/>
            <a:ext cx="8538474" cy="4351338"/>
          </a:xfrm>
          <a:prstGeom prst="rect">
            <a:avLst/>
          </a:prstGeom>
        </p:spPr>
      </p:pic>
    </p:spTree>
    <p:extLst>
      <p:ext uri="{BB962C8B-B14F-4D97-AF65-F5344CB8AC3E}">
        <p14:creationId xmlns:p14="http://schemas.microsoft.com/office/powerpoint/2010/main" val="31191587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CDE05DE-ABD6-4700-B6E1-84915BEF387C}"/>
              </a:ext>
            </a:extLst>
          </p:cNvPr>
          <p:cNvSpPr>
            <a:spLocks noGrp="1"/>
          </p:cNvSpPr>
          <p:nvPr>
            <p:ph type="title"/>
          </p:nvPr>
        </p:nvSpPr>
        <p:spPr/>
        <p:txBody>
          <a:bodyPr/>
          <a:lstStyle/>
          <a:p>
            <a:pPr algn="ctr"/>
            <a:r>
              <a:rPr lang="en-US" altLang="zh-TW" dirty="0"/>
              <a:t>Experiments</a:t>
            </a:r>
            <a:endParaRPr lang="zh-TW" altLang="en-US" dirty="0"/>
          </a:p>
        </p:txBody>
      </p:sp>
      <p:pic>
        <p:nvPicPr>
          <p:cNvPr id="4" name="內容版面配置區 3">
            <a:extLst>
              <a:ext uri="{FF2B5EF4-FFF2-40B4-BE49-F238E27FC236}">
                <a16:creationId xmlns:a16="http://schemas.microsoft.com/office/drawing/2014/main" xmlns="" id="{4A93D43A-CD2B-469F-AF48-EC31B798A8B7}"/>
              </a:ext>
            </a:extLst>
          </p:cNvPr>
          <p:cNvPicPr>
            <a:picLocks noGrp="1" noChangeAspect="1"/>
          </p:cNvPicPr>
          <p:nvPr>
            <p:ph idx="1"/>
          </p:nvPr>
        </p:nvPicPr>
        <p:blipFill>
          <a:blip r:embed="rId3"/>
          <a:stretch>
            <a:fillRect/>
          </a:stretch>
        </p:blipFill>
        <p:spPr>
          <a:xfrm>
            <a:off x="5673697" y="1971540"/>
            <a:ext cx="6000266" cy="4351338"/>
          </a:xfrm>
          <a:prstGeom prst="rect">
            <a:avLst/>
          </a:prstGeom>
        </p:spPr>
      </p:pic>
      <p:pic>
        <p:nvPicPr>
          <p:cNvPr id="3" name="圖片 2">
            <a:extLst>
              <a:ext uri="{FF2B5EF4-FFF2-40B4-BE49-F238E27FC236}">
                <a16:creationId xmlns:a16="http://schemas.microsoft.com/office/drawing/2014/main" xmlns="" id="{4457EF56-82AF-45AF-873C-8A9EE2B73F81}"/>
              </a:ext>
            </a:extLst>
          </p:cNvPr>
          <p:cNvPicPr>
            <a:picLocks noChangeAspect="1"/>
          </p:cNvPicPr>
          <p:nvPr/>
        </p:nvPicPr>
        <p:blipFill>
          <a:blip r:embed="rId4"/>
          <a:stretch>
            <a:fillRect/>
          </a:stretch>
        </p:blipFill>
        <p:spPr>
          <a:xfrm>
            <a:off x="518037" y="3380446"/>
            <a:ext cx="4752975" cy="1533525"/>
          </a:xfrm>
          <a:prstGeom prst="rect">
            <a:avLst/>
          </a:prstGeom>
        </p:spPr>
      </p:pic>
    </p:spTree>
    <p:extLst>
      <p:ext uri="{BB962C8B-B14F-4D97-AF65-F5344CB8AC3E}">
        <p14:creationId xmlns:p14="http://schemas.microsoft.com/office/powerpoint/2010/main" val="30377457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1525</TotalTime>
  <Words>231</Words>
  <Application>Microsoft Office PowerPoint</Application>
  <PresentationFormat>寬螢幕</PresentationFormat>
  <Paragraphs>21</Paragraphs>
  <Slides>6</Slides>
  <Notes>2</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Helvetica Neue</vt:lpstr>
      <vt:lpstr>新細明體</vt:lpstr>
      <vt:lpstr>Arial</vt:lpstr>
      <vt:lpstr>Calibri</vt:lpstr>
      <vt:lpstr>Calibri Light</vt:lpstr>
      <vt:lpstr>Office 佈景主題</vt:lpstr>
      <vt:lpstr>Generative Adversarial Nets </vt:lpstr>
      <vt:lpstr>Abstract</vt:lpstr>
      <vt:lpstr>Adversarial Nets</vt:lpstr>
      <vt:lpstr>Training(1/2)</vt:lpstr>
      <vt:lpstr>Training(2/2)</vt:lpstr>
      <vt:lpstr>Experiments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Adversarial Nets </dc:title>
  <dc:creator>M053040058</dc:creator>
  <cp:lastModifiedBy>pplab-class</cp:lastModifiedBy>
  <cp:revision>16</cp:revision>
  <dcterms:created xsi:type="dcterms:W3CDTF">2017-09-27T12:56:41Z</dcterms:created>
  <dcterms:modified xsi:type="dcterms:W3CDTF">2018-03-06T12:40:37Z</dcterms:modified>
</cp:coreProperties>
</file>