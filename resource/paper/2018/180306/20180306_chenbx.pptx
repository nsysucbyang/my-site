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276" r:id="rId3"/>
    <p:sldId id="296" r:id="rId4"/>
    <p:sldId id="304" r:id="rId5"/>
    <p:sldId id="305" r:id="rId6"/>
    <p:sldId id="30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88835" autoAdjust="0"/>
  </p:normalViewPr>
  <p:slideViewPr>
    <p:cSldViewPr snapToGrid="0">
      <p:cViewPr varScale="1">
        <p:scale>
          <a:sx n="103" d="100"/>
          <a:sy n="103" d="100"/>
        </p:scale>
        <p:origin x="246" y="108"/>
      </p:cViewPr>
      <p:guideLst/>
    </p:cSldViewPr>
  </p:slideViewPr>
  <p:notesTextViewPr>
    <p:cViewPr>
      <p:scale>
        <a:sx n="1" d="1"/>
        <a:sy n="1" d="1"/>
      </p:scale>
      <p:origin x="0" y="-21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7986E-2186-42F2-A1F5-4424A07DD94D}" type="datetimeFigureOut">
              <a:rPr lang="zh-TW" altLang="en-US" smtClean="0"/>
              <a:t>2018/3/6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14D64-E656-4722-AF7D-B3D63D1F5D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97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College of Information System and Management</a:t>
            </a:r>
          </a:p>
          <a:p>
            <a:r>
              <a:rPr lang="en-US" altLang="zh-TW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National University of Defense Technology </a:t>
            </a:r>
          </a:p>
          <a:p>
            <a:endParaRPr lang="en-US" altLang="zh-TW" sz="1200" b="0" i="1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TW" alt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國防科技大學 資訊系統與管理學系</a:t>
            </a:r>
            <a:endParaRPr lang="en-US" altLang="zh-TW" sz="1200" b="0" i="1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TW" sz="1200" b="0" i="1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TW" alt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頁岩清，牛彩雲、將江、葛冰封、楊凱偉</a:t>
            </a:r>
            <a:endParaRPr lang="en-US" altLang="zh-TW" sz="1200" b="0" i="1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9810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Neighbour</a:t>
            </a:r>
            <a:r>
              <a:rPr lang="en-US" altLang="zh-TW" sz="12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】= neighbor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517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0652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250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0566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346F-159C-4E5E-A9BC-B4FAF4B8F4AD}" type="datetime1">
              <a:rPr lang="zh-TW" altLang="en-US" smtClean="0"/>
              <a:t>2018/3/6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646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45FE-5976-4612-A121-9F7FA6C65956}" type="datetime1">
              <a:rPr lang="zh-TW" altLang="en-US" smtClean="0"/>
              <a:t>2018/3/6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3751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126F-36C8-4C5A-8698-9E4A53D999E5}" type="datetime1">
              <a:rPr lang="zh-TW" altLang="en-US" smtClean="0"/>
              <a:t>2018/3/6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596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8B67-291F-45ED-BF8F-60129A7CAFCF}" type="datetime1">
              <a:rPr lang="zh-TW" altLang="en-US" smtClean="0"/>
              <a:t>2018/3/6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85235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5E44-883D-47F1-80F2-BBD83A64BF20}" type="datetime1">
              <a:rPr lang="zh-TW" altLang="en-US" smtClean="0"/>
              <a:t>2018/3/6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006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DBBE2-5504-4D7F-9CC4-F2C58F132876}" type="datetime1">
              <a:rPr lang="zh-TW" altLang="en-US" smtClean="0"/>
              <a:t>2018/3/6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DA84-72B1-4070-A970-AE6E5670C53F}" type="datetime1">
              <a:rPr lang="zh-TW" altLang="en-US" smtClean="0"/>
              <a:t>2018/3/6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29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C297-F23E-49C2-9FD2-1DB5A3D63A00}" type="datetime1">
              <a:rPr lang="zh-TW" altLang="en-US" smtClean="0"/>
              <a:t>2018/3/6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6121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853A-160A-4D81-8E79-297A6811D44C}" type="datetime1">
              <a:rPr lang="zh-TW" altLang="en-US" smtClean="0"/>
              <a:t>2018/3/6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72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68B-4BF6-411C-BDB8-9879BE85A868}" type="datetime1">
              <a:rPr lang="zh-TW" altLang="en-US" smtClean="0"/>
              <a:t>2018/3/6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80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472C-E7F7-4061-8A6B-A2FC31C7A013}" type="datetime1">
              <a:rPr lang="zh-TW" altLang="en-US" smtClean="0"/>
              <a:t>2018/3/6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83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A8E3B-251A-4826-B76B-2ED6FD8BECB3}" type="datetime1">
              <a:rPr lang="zh-TW" altLang="en-US" smtClean="0"/>
              <a:t>2018/3/6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18680" y="559444"/>
            <a:ext cx="10340151" cy="1819245"/>
          </a:xfrm>
        </p:spPr>
        <p:txBody>
          <a:bodyPr anchor="ctr">
            <a:noAutofit/>
          </a:bodyPr>
          <a:lstStyle/>
          <a:p>
            <a:r>
              <a:rPr lang="en-US" altLang="zh-TW" sz="42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 Shape Based Similarity Measure for Time Series Classification with </a:t>
            </a:r>
            <a:r>
              <a:rPr lang="en-US" altLang="zh-TW" sz="42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42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</a:br>
            <a:r>
              <a:rPr lang="en-US" altLang="zh-TW" sz="42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Weighted </a:t>
            </a:r>
            <a:r>
              <a:rPr lang="en-US" altLang="zh-TW" sz="42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Dynamic Time Warping Algorithm</a:t>
            </a:r>
            <a:endParaRPr lang="zh-TW" altLang="en-US" sz="4200" b="1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959305" y="5620621"/>
            <a:ext cx="3893389" cy="935455"/>
          </a:xfrm>
        </p:spPr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Bo-Xian Chen</a:t>
            </a:r>
          </a:p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Date : </a:t>
            </a:r>
            <a:fld id="{DA00540B-99AF-4B5E-9AEF-55C0985778C8}" type="datetime1">
              <a:rPr lang="zh-TW" altLang="en-US" smtClean="0">
                <a:latin typeface="Cambria Math" panose="02040503050406030204" pitchFamily="18" charset="0"/>
                <a:cs typeface="Times New Roman" panose="02020603050405020304" pitchFamily="18" charset="0"/>
              </a:rPr>
              <a:t>2018/3/6</a:t>
            </a:fld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991843" y="3447219"/>
            <a:ext cx="10208313" cy="144911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Yanqing Ye, </a:t>
            </a:r>
            <a:r>
              <a:rPr lang="en-US" altLang="zh-TW" sz="2449" b="1" dirty="0" err="1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Caiyun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49" b="1" dirty="0" err="1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Niu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Jiang </a:t>
            </a:r>
            <a:r>
              <a:rPr lang="en-US" altLang="zh-TW" sz="2449" b="1" dirty="0" err="1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Jiang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49" b="1" dirty="0" err="1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Bingfeng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Ge, </a:t>
            </a:r>
            <a:r>
              <a:rPr lang="en-US" altLang="zh-TW" sz="2449" b="1" dirty="0" err="1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Kewei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Yang</a:t>
            </a:r>
          </a:p>
          <a:p>
            <a:pPr algn="ctr"/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Information Science and Control Engineering (ICISCE),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Changsha China, 2017 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4th International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Conference</a:t>
            </a:r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7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Abstract(1/1)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0695" y="972044"/>
            <a:ext cx="11110609" cy="538905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Time series similarity measure is an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essential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issue 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in time series data mining, which can be widely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used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various applications. With an eye to the fact that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most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current 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measures neglect the shape characteristic of time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series,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this 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paper proposes a shape based similarity measure.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By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introducing 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a shape coefficient into the traditional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weighted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dynamic 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time warping algorithm, an improved version,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shape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based 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weighted dynamic time warping (SWDTW)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algorithm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is 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proposed. Specifically, the ways to measure univariate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and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multivariate 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time series similarity with SWDTW are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presented.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Finally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, in order to verify the effectiveness of the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proposed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similarity 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measure, both 1NN classification and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similarity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search 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experiments are carried out using datasets derived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from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UCR 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Time Series Classification Homepage. By comparing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the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SWDTW 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similarity measure with other measures, the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results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show 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that the proposed SWDTW measure is more of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accuracy</a:t>
            </a:r>
            <a:r>
              <a:rPr lang="zh-TW" altLang="en-US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robust.</a:t>
            </a:r>
            <a:endParaRPr lang="zh-TW" altLang="en-US" sz="2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458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SWDTW</a:t>
            </a:r>
            <a:r>
              <a:rPr lang="zh-TW" alt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algorithm(1/3)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3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1390262" y="3384868"/>
                <a:ext cx="4122219" cy="13038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𝑘𝑖</m:t>
                                  </m:r>
                                </m:sub>
                              </m:s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𝑘𝑗</m:t>
                                  </m:r>
                                </m:sub>
                              </m:s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262" y="3384868"/>
                <a:ext cx="4122219" cy="130388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/>
              <p:cNvSpPr txBox="1"/>
              <p:nvPr/>
            </p:nvSpPr>
            <p:spPr>
              <a:xfrm>
                <a:off x="1108255" y="1512507"/>
                <a:ext cx="9975488" cy="1419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b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Distance</a:t>
                </a:r>
              </a:p>
              <a:p>
                <a:r>
                  <a:rPr lang="en-US" altLang="zh-TW" sz="2800" b="0" dirty="0" smtClean="0"/>
                  <a:t>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</m:d>
                          <m: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255" y="1512507"/>
                <a:ext cx="9975488" cy="1419684"/>
              </a:xfrm>
              <a:prstGeom prst="rect">
                <a:avLst/>
              </a:prstGeom>
              <a:blipFill rotWithShape="0">
                <a:blip r:embed="rId4"/>
                <a:stretch>
                  <a:fillRect l="-1284" t="-4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1390262" y="5192301"/>
                <a:ext cx="7825347" cy="5887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/(1+</m:t>
                      </m:r>
                      <m:func>
                        <m:func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262" y="5192301"/>
                <a:ext cx="7825347" cy="58875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39755" y="1446245"/>
          <a:ext cx="10571584" cy="1670179"/>
        </p:xfrm>
        <a:graphic>
          <a:graphicData uri="http://schemas.openxmlformats.org/drawingml/2006/table">
            <a:tbl>
              <a:tblPr/>
              <a:tblGrid>
                <a:gridCol w="10571584"/>
              </a:tblGrid>
              <a:tr h="167017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4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SWDTW</a:t>
            </a:r>
            <a:r>
              <a:rPr lang="zh-TW" alt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algorithm(2/3)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4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1727927" y="1320098"/>
                <a:ext cx="8921353" cy="6596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/(1+</m:t>
                      </m:r>
                      <m:func>
                        <m:func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32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927" y="1320098"/>
                <a:ext cx="8921353" cy="65960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1026367" y="2371001"/>
                <a:ext cx="10827939" cy="3478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b="0" dirty="0" smtClean="0"/>
                  <a:t>Distance coefficient :</a:t>
                </a:r>
                <a14:m>
                  <m:oMath xmlns:m="http://schemas.openxmlformats.org/officeDocument/2006/math">
                    <m:r>
                      <a:rPr lang="zh-TW" alt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sz="2800" dirty="0" smtClean="0"/>
              </a:p>
              <a:p>
                <a:endParaRPr lang="en-US" altLang="zh-TW" sz="2800" dirty="0" smtClean="0"/>
              </a:p>
              <a:p>
                <a:r>
                  <a:rPr lang="en-US" altLang="zh-TW" sz="2800" dirty="0" smtClean="0"/>
                  <a:t>Shape coefficient :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,         </m:t>
                    </m:r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𝑘𝑗</m:t>
                            </m:r>
                          </m:sub>
                        </m:s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altLang="zh-TW" sz="2800" dirty="0" smtClean="0"/>
              </a:p>
              <a:p>
                <a:endParaRPr lang="en-US" altLang="zh-TW" sz="2800" dirty="0" smtClean="0"/>
              </a:p>
              <a:p>
                <a:r>
                  <a:rPr lang="en-US" altLang="zh-TW" sz="2800" dirty="0" smtClean="0"/>
                  <a:t>Upper limit of the weight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sz="2800" dirty="0" smtClean="0"/>
              </a:p>
              <a:p>
                <a:endParaRPr lang="en-US" altLang="zh-TW" sz="2800" dirty="0"/>
              </a:p>
              <a:p>
                <a:pPr/>
                <a:r>
                  <a:rPr lang="en-US" altLang="zh-TW" sz="2800" dirty="0" smtClean="0">
                    <a:ea typeface="Cambria Math" panose="02040503050406030204" pitchFamily="18" charset="0"/>
                  </a:rPr>
                  <a:t>Middle point of X or Y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TW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67" y="2371001"/>
                <a:ext cx="10827939" cy="3478325"/>
              </a:xfrm>
              <a:prstGeom prst="rect">
                <a:avLst/>
              </a:prstGeom>
              <a:blipFill rotWithShape="0">
                <a:blip r:embed="rId4"/>
                <a:stretch>
                  <a:fillRect l="-1125" t="-17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8406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SWDTW</a:t>
            </a:r>
            <a:r>
              <a:rPr lang="zh-TW" altLang="en-US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algorithm(3/3)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5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1727927" y="1320098"/>
                <a:ext cx="8921353" cy="6596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/(1+</m:t>
                      </m:r>
                      <m:func>
                        <m:func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32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927" y="1320098"/>
                <a:ext cx="8921353" cy="65960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1026367" y="2371001"/>
                <a:ext cx="10827939" cy="3046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 smtClean="0"/>
                  <a:t>Shape coefficient :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,         </m:t>
                    </m:r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𝑘𝑗</m:t>
                            </m:r>
                          </m:sub>
                        </m:s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altLang="zh-TW" sz="2800" dirty="0" smtClean="0"/>
              </a:p>
              <a:p>
                <a:endParaRPr lang="en-US" altLang="zh-TW" sz="2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𝑤h𝑒𝑛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𝑘𝑖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=1, </m:t>
                              </m:r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𝑘𝑗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=1 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𝑘𝑖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=−1, </m:t>
                              </m:r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𝑘𝑗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=−1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𝑤h𝑒𝑛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𝑘𝑖</m:t>
                                  </m:r>
                                </m:sub>
                              </m:s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𝑘𝑗</m:t>
                                  </m:r>
                                </m:sub>
                              </m:s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𝑤h𝑒𝑛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𝑘𝑖</m:t>
                                  </m:r>
                                </m:sub>
                              </m:s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=1, 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𝑘𝑗</m:t>
                                  </m:r>
                                </m:sub>
                              </m:s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𝑘𝑖</m:t>
                                  </m:r>
                                </m:sub>
                              </m:s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=−1, 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𝑘𝑗</m:t>
                                  </m:r>
                                </m:sub>
                              </m:s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2800" dirty="0"/>
              </a:p>
              <a:p>
                <a:endParaRPr lang="en-US" altLang="zh-TW" sz="2800" dirty="0" smtClean="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67" y="2371001"/>
                <a:ext cx="10827939" cy="3046027"/>
              </a:xfrm>
              <a:prstGeom prst="rect">
                <a:avLst/>
              </a:prstGeom>
              <a:blipFill rotWithShape="0">
                <a:blip r:embed="rId4"/>
                <a:stretch>
                  <a:fillRect l="-1125" t="-1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1727927" y="5478525"/>
                <a:ext cx="7477624" cy="648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/(1+</m:t>
                      </m:r>
                      <m:func>
                        <m:func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32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927" y="5478525"/>
                <a:ext cx="7477624" cy="64819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007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8832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 smtClean="0"/>
              <a:t>10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4" y="1736951"/>
            <a:ext cx="10688480" cy="366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6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14547</TotalTime>
  <Words>293</Words>
  <Application>Microsoft Office PowerPoint</Application>
  <PresentationFormat>寬螢幕</PresentationFormat>
  <Paragraphs>48</Paragraphs>
  <Slides>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A Shape Based Similarity Measure for Time Series Classification with  Weighted Dynamic Time Warping Algorithm</vt:lpstr>
      <vt:lpstr>Abstract(1/1)</vt:lpstr>
      <vt:lpstr>SWDTW algorithm(1/3)</vt:lpstr>
      <vt:lpstr>SWDTW algorithm(2/3)</vt:lpstr>
      <vt:lpstr>SWDTW algorithm(3/3)</vt:lpstr>
      <vt:lpstr>Experiment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 for Computing  Maximal Common Subsequences</dc:title>
  <dc:creator>BX CHEN</dc:creator>
  <cp:lastModifiedBy>Bo Xian Chen</cp:lastModifiedBy>
  <cp:revision>401</cp:revision>
  <dcterms:created xsi:type="dcterms:W3CDTF">2016-10-10T16:56:48Z</dcterms:created>
  <dcterms:modified xsi:type="dcterms:W3CDTF">2018-03-06T09:48:53Z</dcterms:modified>
</cp:coreProperties>
</file>