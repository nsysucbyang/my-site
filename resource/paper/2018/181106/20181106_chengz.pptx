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93" r:id="rId3"/>
    <p:sldId id="294" r:id="rId4"/>
    <p:sldId id="273" r:id="rId5"/>
    <p:sldId id="295" r:id="rId6"/>
    <p:sldId id="296" r:id="rId7"/>
    <p:sldId id="297" r:id="rId8"/>
    <p:sldId id="298" r:id="rId9"/>
    <p:sldId id="299" r:id="rId10"/>
    <p:sldId id="302" r:id="rId11"/>
    <p:sldId id="300" r:id="rId12"/>
    <p:sldId id="303" r:id="rId13"/>
    <p:sldId id="305" r:id="rId14"/>
    <p:sldId id="304" r:id="rId15"/>
    <p:sldId id="306" r:id="rId16"/>
    <p:sldId id="30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B5FBEBF5-6C27-43DA-9D2C-B1537964028B}">
          <p14:sldIdLst>
            <p14:sldId id="256"/>
            <p14:sldId id="293"/>
            <p14:sldId id="294"/>
            <p14:sldId id="273"/>
            <p14:sldId id="295"/>
            <p14:sldId id="296"/>
            <p14:sldId id="297"/>
            <p14:sldId id="298"/>
            <p14:sldId id="299"/>
            <p14:sldId id="302"/>
            <p14:sldId id="300"/>
            <p14:sldId id="303"/>
            <p14:sldId id="305"/>
            <p14:sldId id="304"/>
            <p14:sldId id="306"/>
          </p14:sldIdLst>
        </p14:section>
        <p14:section name="test" id="{5A0672B8-76E0-491A-93E0-1923641389C1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4472C4"/>
    <a:srgbClr val="855151"/>
    <a:srgbClr val="FF33CC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8" autoAdjust="0"/>
    <p:restoredTop sz="85059" autoAdjust="0"/>
  </p:normalViewPr>
  <p:slideViewPr>
    <p:cSldViewPr snapToGrid="0">
      <p:cViewPr varScale="1">
        <p:scale>
          <a:sx n="93" d="100"/>
          <a:sy n="93" d="100"/>
        </p:scale>
        <p:origin x="127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莫斯科國立大學</a:t>
            </a:r>
            <a:endParaRPr lang="en-US" altLang="zh-TW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創辦人的名字</a:t>
            </a:r>
            <a:endParaRPr lang="en-US" altLang="zh-TW" sz="1200" b="0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1755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建立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3278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莫斯科國立大學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3241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921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4658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可以知道上下的綠色區塊是相同的</a:t>
                </a:r>
                <a:endParaRPr lang="en-US" altLang="zh-TW" dirty="0"/>
              </a:p>
              <a:p>
                <a:r>
                  <a:rPr lang="zh-TW" altLang="en-US" dirty="0"/>
                  <a:t>假設要求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，可以從綠色之後開始比對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可以知道上下的綠色區塊是相同的</a:t>
                </a:r>
                <a:endParaRPr lang="en-US" altLang="zh-TW" dirty="0"/>
              </a:p>
              <a:p>
                <a:r>
                  <a:rPr lang="zh-TW" altLang="en-US" dirty="0"/>
                  <a:t>假設要求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𝑍_(𝑘+1)</a:t>
                </a:r>
                <a:r>
                  <a:rPr lang="zh-TW" altLang="en-US" b="0" i="0">
                    <a:latin typeface="Cambria Math" panose="02040503050406030204" pitchFamily="18" charset="0"/>
                  </a:rPr>
                  <a:t>，可以從綠色之後開始比對</a:t>
                </a:r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266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7685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6733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000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675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5B31-2511-4B59-85CD-FE81550B112F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BFE1-3FF9-4076-BFE3-436A899C6CFC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3635F-B179-4E14-9FEF-30274F37C964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D61C-B526-46B0-B991-3372D0F0EC91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A488-6A5E-462F-A078-C1B45B9FC688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F501-4962-473D-B6D8-A7428BF1B6D4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89F-7B98-4BDD-B73A-1D10077A1F27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9844-160F-4E54-862A-C6CCEBCF4E40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C98F-9D28-4915-ABD0-95B43831494A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E765-5314-4951-98B4-C5C6DE7CD530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0DED-4DF0-4E86-AB35-9CE8B4D53C52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E8280-42F1-400D-A234-BF7D1153CCE2}" type="datetime1">
              <a:rPr lang="zh-TW" altLang="en-US" smtClean="0"/>
              <a:t>2018/11/5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5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41.png"/><Relationship Id="rId10" Type="http://schemas.openxmlformats.org/officeDocument/2006/relationships/image" Target="../media/image49.png"/><Relationship Id="rId4" Type="http://schemas.openxmlformats.org/officeDocument/2006/relationships/image" Target="../media/image40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7913"/>
            <a:ext cx="9144000" cy="1639565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Computing the Longest Common Substring with One Mismatch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6706" y="2487204"/>
            <a:ext cx="6130581" cy="707886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M. A. </a:t>
            </a:r>
            <a:r>
              <a:rPr lang="en-US" altLang="zh-TW" sz="28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Babenko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and T. A. </a:t>
            </a:r>
            <a:r>
              <a:rPr lang="en-US" altLang="zh-TW" sz="28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Starikovskaya</a:t>
            </a:r>
            <a:endParaRPr lang="zh-TW" alt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5489688" y="5471803"/>
            <a:ext cx="2715491" cy="83099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Speaker: Guan-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Zhi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Chen</a:t>
            </a:r>
          </a:p>
          <a:p>
            <a:pPr algn="r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2018.11.06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EB69C1-BEBB-4D8A-BCF3-51571A635FE9}"/>
              </a:ext>
            </a:extLst>
          </p:cNvPr>
          <p:cNvSpPr/>
          <p:nvPr/>
        </p:nvSpPr>
        <p:spPr>
          <a:xfrm flipH="1">
            <a:off x="970460" y="4659690"/>
            <a:ext cx="72030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Problems of Information Transmission 47 (2011) 28–33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C22B37-DAB7-41AA-A0A6-3308A1C7ECBF}"/>
              </a:ext>
            </a:extLst>
          </p:cNvPr>
          <p:cNvSpPr/>
          <p:nvPr/>
        </p:nvSpPr>
        <p:spPr>
          <a:xfrm>
            <a:off x="0" y="342900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Chair of Mathematical Logic and Theory of Algorithms, Faculty of Mechanics and Mathematics, Lomonosov Moscow State University</a:t>
            </a:r>
            <a:endParaRPr lang="zh-TW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DED5FC8-19F2-410B-9EB5-AE8245678594}"/>
              </a:ext>
            </a:extLst>
          </p:cNvPr>
          <p:cNvSpPr/>
          <p:nvPr/>
        </p:nvSpPr>
        <p:spPr>
          <a:xfrm>
            <a:off x="2286000" y="31058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TW" altLang="en-US" dirty="0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73162D31-B217-42A4-B7C8-025AA2381CDC}"/>
              </a:ext>
            </a:extLst>
          </p:cNvPr>
          <p:cNvSpPr txBox="1">
            <a:spLocks/>
          </p:cNvSpPr>
          <p:nvPr/>
        </p:nvSpPr>
        <p:spPr>
          <a:xfrm>
            <a:off x="402232" y="385081"/>
            <a:ext cx="7960932" cy="58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 dirty="0">
                <a:solidFill>
                  <a:srgbClr val="222222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莫斯科國立米哈伊爾</a:t>
            </a:r>
            <a:r>
              <a:rPr lang="en-US" altLang="zh-TW" sz="2400" b="1" dirty="0">
                <a:solidFill>
                  <a:srgbClr val="222222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·</a:t>
            </a:r>
            <a:r>
              <a:rPr lang="zh-TW" altLang="en-US" sz="2400" b="1" dirty="0">
                <a:solidFill>
                  <a:srgbClr val="222222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瓦西里耶維奇</a:t>
            </a:r>
            <a:r>
              <a:rPr lang="en-US" altLang="zh-TW" sz="2400" b="1" dirty="0">
                <a:solidFill>
                  <a:srgbClr val="222222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·</a:t>
            </a:r>
            <a:r>
              <a:rPr lang="zh-TW" altLang="en-US" sz="2400" b="1" dirty="0">
                <a:solidFill>
                  <a:srgbClr val="222222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羅蒙諾索夫大學</a:t>
            </a:r>
            <a:r>
              <a:rPr lang="en-US" altLang="zh-TW" sz="2400" b="1" dirty="0">
                <a:solidFill>
                  <a:srgbClr val="222222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(1755)</a:t>
            </a:r>
            <a:endParaRPr lang="zh-TW" altLang="en-US" sz="2400" dirty="0">
              <a:ea typeface="標楷體" panose="03000509000000000000" pitchFamily="65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6D0AE4-C787-4C67-A920-DC2E548F059D}"/>
              </a:ext>
            </a:extLst>
          </p:cNvPr>
          <p:cNvSpPr/>
          <p:nvPr/>
        </p:nvSpPr>
        <p:spPr>
          <a:xfrm>
            <a:off x="402232" y="968448"/>
            <a:ext cx="40767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Lomonosov Moscow State University</a:t>
            </a:r>
            <a:endParaRPr lang="zh-TW" altLang="en-US" sz="2000" dirty="0"/>
          </a:p>
        </p:txBody>
      </p:sp>
      <p:pic>
        <p:nvPicPr>
          <p:cNvPr id="1026" name="Picture 2" descr="Lomonosov Moscow State University.">
            <a:extLst>
              <a:ext uri="{FF2B5EF4-FFF2-40B4-BE49-F238E27FC236}">
                <a16:creationId xmlns:a16="http://schemas.microsoft.com/office/drawing/2014/main" id="{4F343F5E-2EA3-49B1-91AF-A91F671BD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34" y="2166276"/>
            <a:ext cx="7960932" cy="430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24DF0AF-B69A-42E9-9C41-D7B5D8D53480}"/>
              </a:ext>
            </a:extLst>
          </p:cNvPr>
          <p:cNvSpPr/>
          <p:nvPr/>
        </p:nvSpPr>
        <p:spPr>
          <a:xfrm>
            <a:off x="402232" y="1567362"/>
            <a:ext cx="7366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主樓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(1953)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共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36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層樓，中心塔高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240m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，當時歐洲最高的建築物。</a:t>
            </a:r>
          </a:p>
        </p:txBody>
      </p:sp>
    </p:spTree>
    <p:extLst>
      <p:ext uri="{BB962C8B-B14F-4D97-AF65-F5344CB8AC3E}">
        <p14:creationId xmlns:p14="http://schemas.microsoft.com/office/powerpoint/2010/main" val="757929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30923D6-F876-4CCE-92D9-995F4DE02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9" y="178198"/>
            <a:ext cx="9000162" cy="660719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E3B3607-A2AF-4286-9EEE-C1A49CB588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552" r="9032" b="2834"/>
          <a:stretch/>
        </p:blipFill>
        <p:spPr>
          <a:xfrm>
            <a:off x="5465850" y="2576937"/>
            <a:ext cx="3349377" cy="410286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310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32" y="305355"/>
            <a:ext cx="7886700" cy="74281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78CA31B-C758-4215-B281-353CA02EC3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916" y="1150706"/>
                <a:ext cx="8155484" cy="520564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The paper describes an algorithm for computing longest common substrings of two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with one mismatch 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(|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time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additional space. The algorithm always scans symbols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sequentially, starting from the first symbol. The RAM model of computation is used.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78CA31B-C758-4215-B281-353CA02EC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916" y="1150706"/>
                <a:ext cx="8155484" cy="5205645"/>
              </a:xfrm>
              <a:blipFill>
                <a:blip r:embed="rId3"/>
                <a:stretch>
                  <a:fillRect l="-1495" r="-2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06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8784BD-AA26-4507-8B7A-0A941EFA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0A9210D9-6E95-479A-ADF8-E13788794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32" y="305355"/>
            <a:ext cx="7886700" cy="74281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(1/3)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6FB712C-A0B7-44F5-A400-430C4C0FD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025943"/>
              </p:ext>
            </p:extLst>
          </p:nvPr>
        </p:nvGraphicFramePr>
        <p:xfrm>
          <a:off x="651600" y="1166419"/>
          <a:ext cx="3920400" cy="1143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AB51A8A-3006-4C73-A00B-2F4B498AE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231" y="2620616"/>
                <a:ext cx="5772537" cy="52036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Substring of </a:t>
                </a:r>
                <a:r>
                  <a:rPr lang="en-US" altLang="zh-TW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: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2:6</m:t>
                        </m:r>
                      </m:e>
                    </m:d>
                    <m:r>
                      <a:rPr lang="en-US" altLang="zh-TW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CCTCG 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AB51A8A-3006-4C73-A00B-2F4B498AE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231" y="2620616"/>
                <a:ext cx="5772537" cy="520360"/>
              </a:xfrm>
              <a:blipFill>
                <a:blip r:embed="rId2"/>
                <a:stretch>
                  <a:fillRect l="-1901" t="-12941" r="-1373" b="-329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6">
                <a:extLst>
                  <a:ext uri="{FF2B5EF4-FFF2-40B4-BE49-F238E27FC236}">
                    <a16:creationId xmlns:a16="http://schemas.microsoft.com/office/drawing/2014/main" id="{F3AE0D07-B318-49ED-B3BC-E650FE661B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231" y="3201094"/>
                <a:ext cx="5772536" cy="520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Prefix of </a:t>
                </a:r>
                <a:r>
                  <a:rPr lang="en-US" altLang="zh-TW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: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TW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zh-TW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TW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TCCT 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內容版面配置區 6">
                <a:extLst>
                  <a:ext uri="{FF2B5EF4-FFF2-40B4-BE49-F238E27FC236}">
                    <a16:creationId xmlns:a16="http://schemas.microsoft.com/office/drawing/2014/main" id="{F3AE0D07-B318-49ED-B3BC-E650FE661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1" y="3201094"/>
                <a:ext cx="5772536" cy="520360"/>
              </a:xfrm>
              <a:prstGeom prst="rect">
                <a:avLst/>
              </a:prstGeom>
              <a:blipFill>
                <a:blip r:embed="rId3"/>
                <a:stretch>
                  <a:fillRect l="-1901" t="-11765" b="-329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4E90CCC-059A-4F20-9F54-FC5FC072B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800982"/>
              </p:ext>
            </p:extLst>
          </p:nvPr>
        </p:nvGraphicFramePr>
        <p:xfrm>
          <a:off x="651600" y="1165153"/>
          <a:ext cx="3920400" cy="571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內容版面配置區 6">
                <a:extLst>
                  <a:ext uri="{FF2B5EF4-FFF2-40B4-BE49-F238E27FC236}">
                    <a16:creationId xmlns:a16="http://schemas.microsoft.com/office/drawing/2014/main" id="{1EB19395-53EF-426D-A51F-A9E571E192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231" y="3781572"/>
                <a:ext cx="5772536" cy="520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Suffix of </a:t>
                </a:r>
                <a:r>
                  <a:rPr lang="en-US" altLang="zh-TW" i="1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: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zh-TW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e>
                    </m:d>
                    <m:r>
                      <a:rPr lang="en-US" altLang="zh-TW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TW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GTA 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內容版面配置區 6">
                <a:extLst>
                  <a:ext uri="{FF2B5EF4-FFF2-40B4-BE49-F238E27FC236}">
                    <a16:creationId xmlns:a16="http://schemas.microsoft.com/office/drawing/2014/main" id="{1EB19395-53EF-426D-A51F-A9E571E19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1" y="3781572"/>
                <a:ext cx="5772536" cy="520360"/>
              </a:xfrm>
              <a:prstGeom prst="rect">
                <a:avLst/>
              </a:prstGeom>
              <a:blipFill>
                <a:blip r:embed="rId4"/>
                <a:stretch>
                  <a:fillRect l="-1901" t="-11628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DA61D2E-689B-4DC2-9817-76E145FC9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890735"/>
              </p:ext>
            </p:extLst>
          </p:nvPr>
        </p:nvGraphicFramePr>
        <p:xfrm>
          <a:off x="651600" y="1165153"/>
          <a:ext cx="3920400" cy="571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內容版面配置區 6">
            <a:extLst>
              <a:ext uri="{FF2B5EF4-FFF2-40B4-BE49-F238E27FC236}">
                <a16:creationId xmlns:a16="http://schemas.microsoft.com/office/drawing/2014/main" id="{60CD7116-520B-4DC9-9D85-A7E46C4CF586}"/>
              </a:ext>
            </a:extLst>
          </p:cNvPr>
          <p:cNvSpPr txBox="1">
            <a:spLocks/>
          </p:cNvSpPr>
          <p:nvPr/>
        </p:nvSpPr>
        <p:spPr>
          <a:xfrm>
            <a:off x="402231" y="4362050"/>
            <a:ext cx="7159549" cy="5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</a:rPr>
              <a:t>Longest common 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</a:rPr>
              <a:t>substring</a:t>
            </a:r>
            <a:r>
              <a:rPr lang="en-US" altLang="zh-TW" dirty="0">
                <a:latin typeface="Times New Roman" panose="02020603050405020304" pitchFamily="18" charset="0"/>
              </a:rPr>
              <a:t> of </a:t>
            </a:r>
            <a:r>
              <a:rPr lang="en-US" altLang="zh-TW" i="1" dirty="0">
                <a:latin typeface="Times New Roman" panose="02020603050405020304" pitchFamily="18" charset="0"/>
              </a:rPr>
              <a:t>S</a:t>
            </a:r>
            <a:r>
              <a:rPr lang="en-US" altLang="zh-TW" dirty="0">
                <a:latin typeface="Times New Roman" panose="02020603050405020304" pitchFamily="18" charset="0"/>
              </a:rPr>
              <a:t> &amp; </a:t>
            </a:r>
            <a:r>
              <a:rPr lang="en-US" altLang="zh-TW" i="1" dirty="0">
                <a:latin typeface="Times New Roman" panose="02020603050405020304" pitchFamily="18" charset="0"/>
              </a:rPr>
              <a:t>T: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</a:rPr>
              <a:t>GGTA 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8492737-A8D0-4033-B8A3-D4D2CE65B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708586"/>
              </p:ext>
            </p:extLst>
          </p:nvPr>
        </p:nvGraphicFramePr>
        <p:xfrm>
          <a:off x="651600" y="1163975"/>
          <a:ext cx="3920400" cy="1143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87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8784BD-AA26-4507-8B7A-0A941EFA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0A9210D9-6E95-479A-ADF8-E13788794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32" y="305355"/>
            <a:ext cx="7886700" cy="74281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(2/3)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6FB712C-A0B7-44F5-A400-430C4C0FD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906585"/>
              </p:ext>
            </p:extLst>
          </p:nvPr>
        </p:nvGraphicFramePr>
        <p:xfrm>
          <a:off x="651600" y="1166419"/>
          <a:ext cx="3920400" cy="1143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AB51A8A-3006-4C73-A00B-2F4B498AE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231" y="2620615"/>
                <a:ext cx="8464367" cy="100616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Longest common prefix of </a:t>
                </a:r>
                <a:r>
                  <a:rPr lang="en-US" altLang="zh-TW" i="1" dirty="0">
                    <a:latin typeface="Times New Roman" panose="02020603050405020304" pitchFamily="18" charset="0"/>
                  </a:rPr>
                  <a:t>S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&amp;</a:t>
                </a:r>
                <a:r>
                  <a:rPr lang="en-US" altLang="zh-TW" i="1" dirty="0">
                    <a:latin typeface="Times New Roman" panose="02020603050405020304" pitchFamily="18" charset="0"/>
                  </a:rPr>
                  <a:t> T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:	</a:t>
                </a:r>
                <a:r>
                  <a:rPr lang="en-US" altLang="zh-TW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TC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</a:t>
                </a:r>
                <a:r>
                  <a:rPr lang="en-US" altLang="zh-TW" dirty="0"/>
                  <a:t>: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𝑙𝑐𝑝</m:t>
                    </m:r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altLang="zh-TW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2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AB51A8A-3006-4C73-A00B-2F4B498AE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231" y="2620615"/>
                <a:ext cx="8464367" cy="1006163"/>
              </a:xfrm>
              <a:blipFill>
                <a:blip r:embed="rId2"/>
                <a:stretch>
                  <a:fillRect l="-1297" t="-6667" b="-84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03CA841-2395-46F4-B35F-6B795F129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424937"/>
              </p:ext>
            </p:extLst>
          </p:nvPr>
        </p:nvGraphicFramePr>
        <p:xfrm>
          <a:off x="651600" y="1166419"/>
          <a:ext cx="3920400" cy="1143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9EA3FDCC-00D9-4AFC-A223-E097C0082E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231" y="3626778"/>
                <a:ext cx="8464367" cy="1130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Longest common prefix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[6:]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</a:rPr>
                  <a:t> &amp;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5: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9EA3FDCC-00D9-4AFC-A223-E097C0082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1" y="3626778"/>
                <a:ext cx="8464367" cy="1130157"/>
              </a:xfrm>
              <a:prstGeom prst="rect">
                <a:avLst/>
              </a:prstGeom>
              <a:blipFill>
                <a:blip r:embed="rId3"/>
                <a:stretch>
                  <a:fillRect l="-1297" t="-59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內容版面配置區 6">
                <a:extLst>
                  <a:ext uri="{FF2B5EF4-FFF2-40B4-BE49-F238E27FC236}">
                    <a16:creationId xmlns:a16="http://schemas.microsoft.com/office/drawing/2014/main" id="{E50CE601-7800-44CF-A799-7ED6E4351D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231" y="3626778"/>
                <a:ext cx="8464367" cy="1130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</a:t>
                </a:r>
                <a:r>
                  <a:rPr lang="en-US" altLang="zh-TW" dirty="0"/>
                  <a:t>: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𝑙𝑐𝑝</m:t>
                    </m:r>
                    <m:d>
                      <m:dPr>
                        <m:ctrlPr>
                          <a:rPr lang="en-US" altLang="zh-TW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6:</m:t>
                            </m:r>
                          </m:e>
                        </m:d>
                        <m:r>
                          <a:rPr lang="en-US" altLang="zh-TW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5:</m:t>
                            </m:r>
                          </m:e>
                        </m:d>
                      </m:e>
                    </m:d>
                    <m:r>
                      <a:rPr lang="en-US" altLang="zh-TW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𝑙𝑐𝑝</m:t>
                    </m:r>
                    <m:r>
                      <a:rPr lang="en-US" altLang="zh-TW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(6,5)=</m:t>
                    </m:r>
                  </m:oMath>
                </a14:m>
                <a:r>
                  <a:rPr lang="en-US" altLang="zh-TW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4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內容版面配置區 6">
                <a:extLst>
                  <a:ext uri="{FF2B5EF4-FFF2-40B4-BE49-F238E27FC236}">
                    <a16:creationId xmlns:a16="http://schemas.microsoft.com/office/drawing/2014/main" id="{E50CE601-7800-44CF-A799-7ED6E4351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1" y="3626778"/>
                <a:ext cx="8464367" cy="1130157"/>
              </a:xfrm>
              <a:prstGeom prst="rect">
                <a:avLst/>
              </a:prstGeom>
              <a:blipFill>
                <a:blip r:embed="rId4"/>
                <a:stretch>
                  <a:fillRect l="-1297" t="-32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內容版面配置區 6">
            <a:extLst>
              <a:ext uri="{FF2B5EF4-FFF2-40B4-BE49-F238E27FC236}">
                <a16:creationId xmlns:a16="http://schemas.microsoft.com/office/drawing/2014/main" id="{20FF4957-AC59-4550-A54B-C6F9788CB195}"/>
              </a:ext>
            </a:extLst>
          </p:cNvPr>
          <p:cNvSpPr txBox="1">
            <a:spLocks/>
          </p:cNvSpPr>
          <p:nvPr/>
        </p:nvSpPr>
        <p:spPr>
          <a:xfrm>
            <a:off x="6380252" y="3626778"/>
            <a:ext cx="1662487" cy="6061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altLang="zh-TW" sz="2800" dirty="0">
                <a:solidFill>
                  <a:srgbClr val="002060"/>
                </a:solidFill>
                <a:latin typeface="Times New Roman" panose="02020603050405020304" pitchFamily="18" charset="0"/>
              </a:rPr>
              <a:t>GGTA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2275144C-1DAC-4534-BE8B-1D75E13A7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206318"/>
              </p:ext>
            </p:extLst>
          </p:nvPr>
        </p:nvGraphicFramePr>
        <p:xfrm>
          <a:off x="651600" y="1166419"/>
          <a:ext cx="3920400" cy="1143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19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9EA3FDCC-00D9-4AFC-A223-E097C0082E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231" y="3626778"/>
                <a:ext cx="8464367" cy="1130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Longest common suffix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[:6]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</a:rPr>
                  <a:t> &amp;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:3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9EA3FDCC-00D9-4AFC-A223-E097C0082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1" y="3626778"/>
                <a:ext cx="8464367" cy="1130157"/>
              </a:xfrm>
              <a:prstGeom prst="rect">
                <a:avLst/>
              </a:prstGeom>
              <a:blipFill>
                <a:blip r:embed="rId2"/>
                <a:stretch>
                  <a:fillRect l="-1297" t="-59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內容版面配置區 6">
                <a:extLst>
                  <a:ext uri="{FF2B5EF4-FFF2-40B4-BE49-F238E27FC236}">
                    <a16:creationId xmlns:a16="http://schemas.microsoft.com/office/drawing/2014/main" id="{E50CE601-7800-44CF-A799-7ED6E4351D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231" y="3626778"/>
                <a:ext cx="8464367" cy="1130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</a:t>
                </a:r>
                <a:r>
                  <a:rPr lang="en-US" altLang="zh-TW" dirty="0"/>
                  <a:t>: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𝑙𝑐</m:t>
                    </m:r>
                    <m:r>
                      <a:rPr lang="en-US" altLang="zh-TW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altLang="zh-TW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:6</m:t>
                            </m:r>
                          </m:e>
                        </m:d>
                        <m:r>
                          <a:rPr lang="en-US" altLang="zh-TW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:3</m:t>
                            </m:r>
                          </m:e>
                        </m:d>
                      </m:e>
                    </m:d>
                    <m:r>
                      <a:rPr lang="en-US" altLang="zh-TW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𝑙𝑐𝑠</m:t>
                    </m:r>
                    <m:r>
                      <a:rPr lang="en-US" altLang="zh-TW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(6,3)=</m:t>
                    </m:r>
                  </m:oMath>
                </a14:m>
                <a:r>
                  <a:rPr lang="en-US" altLang="zh-TW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3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內容版面配置區 6">
                <a:extLst>
                  <a:ext uri="{FF2B5EF4-FFF2-40B4-BE49-F238E27FC236}">
                    <a16:creationId xmlns:a16="http://schemas.microsoft.com/office/drawing/2014/main" id="{E50CE601-7800-44CF-A799-7ED6E4351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1" y="3626778"/>
                <a:ext cx="8464367" cy="1130157"/>
              </a:xfrm>
              <a:prstGeom prst="rect">
                <a:avLst/>
              </a:prstGeom>
              <a:blipFill>
                <a:blip r:embed="rId3"/>
                <a:stretch>
                  <a:fillRect l="-1297" t="-32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8784BD-AA26-4507-8B7A-0A941EFA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0A9210D9-6E95-479A-ADF8-E13788794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32" y="305355"/>
            <a:ext cx="7886700" cy="74281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(3/3)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6FB712C-A0B7-44F5-A400-430C4C0FD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62364"/>
              </p:ext>
            </p:extLst>
          </p:nvPr>
        </p:nvGraphicFramePr>
        <p:xfrm>
          <a:off x="651600" y="1166419"/>
          <a:ext cx="3920400" cy="1143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AB51A8A-3006-4C73-A00B-2F4B498AE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231" y="2620615"/>
                <a:ext cx="8464367" cy="100616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</a:rPr>
                  <a:t>Longest common suffix of </a:t>
                </a:r>
                <a:r>
                  <a:rPr lang="en-US" altLang="zh-TW" i="1" dirty="0">
                    <a:latin typeface="Times New Roman" panose="02020603050405020304" pitchFamily="18" charset="0"/>
                  </a:rPr>
                  <a:t>S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&amp;</a:t>
                </a:r>
                <a:r>
                  <a:rPr lang="en-US" altLang="zh-TW" i="1" dirty="0">
                    <a:latin typeface="Times New Roman" panose="02020603050405020304" pitchFamily="18" charset="0"/>
                  </a:rPr>
                  <a:t> T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:	</a:t>
                </a:r>
                <a:r>
                  <a:rPr lang="en-US" altLang="zh-TW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A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</a:t>
                </a:r>
                <a:r>
                  <a:rPr lang="en-US" altLang="zh-TW" dirty="0"/>
                  <a:t>: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𝑙𝑐</m:t>
                    </m:r>
                    <m:r>
                      <a:rPr lang="en-US" altLang="zh-TW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altLang="zh-TW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1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AB51A8A-3006-4C73-A00B-2F4B498AE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231" y="2620615"/>
                <a:ext cx="8464367" cy="1006163"/>
              </a:xfrm>
              <a:blipFill>
                <a:blip r:embed="rId4"/>
                <a:stretch>
                  <a:fillRect l="-1297" t="-6667" b="-84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03CA841-2395-46F4-B35F-6B795F129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488268"/>
              </p:ext>
            </p:extLst>
          </p:nvPr>
        </p:nvGraphicFramePr>
        <p:xfrm>
          <a:off x="651600" y="1166419"/>
          <a:ext cx="3920400" cy="1143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內容版面配置區 6">
            <a:extLst>
              <a:ext uri="{FF2B5EF4-FFF2-40B4-BE49-F238E27FC236}">
                <a16:creationId xmlns:a16="http://schemas.microsoft.com/office/drawing/2014/main" id="{20FF4957-AC59-4550-A54B-C6F9788CB195}"/>
              </a:ext>
            </a:extLst>
          </p:cNvPr>
          <p:cNvSpPr txBox="1">
            <a:spLocks/>
          </p:cNvSpPr>
          <p:nvPr/>
        </p:nvSpPr>
        <p:spPr>
          <a:xfrm>
            <a:off x="6380252" y="3626778"/>
            <a:ext cx="1662487" cy="6061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r>
              <a:rPr lang="en-US" altLang="zh-TW" sz="2800" dirty="0">
                <a:solidFill>
                  <a:srgbClr val="002060"/>
                </a:solidFill>
                <a:latin typeface="Times New Roman" panose="02020603050405020304" pitchFamily="18" charset="0"/>
              </a:rPr>
              <a:t>TCG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2275144C-1DAC-4534-BE8B-1D75E13A7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7096"/>
              </p:ext>
            </p:extLst>
          </p:nvPr>
        </p:nvGraphicFramePr>
        <p:xfrm>
          <a:off x="651600" y="1166419"/>
          <a:ext cx="3920400" cy="1143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3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表格 32">
                <a:extLst>
                  <a:ext uri="{FF2B5EF4-FFF2-40B4-BE49-F238E27FC236}">
                    <a16:creationId xmlns:a16="http://schemas.microsoft.com/office/drawing/2014/main" id="{B2288105-C481-467B-9D35-DA88C84589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80294"/>
                  </p:ext>
                </p:extLst>
              </p:nvPr>
            </p:nvGraphicFramePr>
            <p:xfrm>
              <a:off x="4125857" y="2968194"/>
              <a:ext cx="3781408" cy="114365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90282">
                      <a:extLst>
                        <a:ext uri="{9D8B030D-6E8A-4147-A177-3AD203B41FA5}">
                          <a16:colId xmlns:a16="http://schemas.microsoft.com/office/drawing/2014/main" val="1841940220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135663413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96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96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sz="2400" i="1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zh-TW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400" i="1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4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−1|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表格 32">
                <a:extLst>
                  <a:ext uri="{FF2B5EF4-FFF2-40B4-BE49-F238E27FC236}">
                    <a16:creationId xmlns:a16="http://schemas.microsoft.com/office/drawing/2014/main" id="{B2288105-C481-467B-9D35-DA88C84589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80294"/>
                  </p:ext>
                </p:extLst>
              </p:nvPr>
            </p:nvGraphicFramePr>
            <p:xfrm>
              <a:off x="4125857" y="2968194"/>
              <a:ext cx="3781408" cy="114365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90282">
                      <a:extLst>
                        <a:ext uri="{9D8B030D-6E8A-4147-A177-3AD203B41FA5}">
                          <a16:colId xmlns:a16="http://schemas.microsoft.com/office/drawing/2014/main" val="1841940220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135663413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96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96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sz="2400" i="1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60000" t="-7368" r="-781667" b="-1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64407" t="-7368" r="-694915" b="-1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6504" t="-7368" r="-1626" b="-1031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400" i="1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60000" t="-108511" r="-781667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64407" t="-108511" r="-694915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64407" t="-108511" r="-594915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4615" t="-108511" r="-96154" b="-425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61798" t="-108511" r="-40449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BBA703-22A4-4D3B-A0D2-E484F193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87CC4964-87BC-48C7-9A59-C5F05222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32" y="305355"/>
            <a:ext cx="7886700" cy="74281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naive algorithm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BB47447C-DDB8-468F-BEAB-415302B2D8FC}"/>
              </a:ext>
            </a:extLst>
          </p:cNvPr>
          <p:cNvSpPr txBox="1">
            <a:spLocks/>
          </p:cNvSpPr>
          <p:nvPr/>
        </p:nvSpPr>
        <p:spPr>
          <a:xfrm>
            <a:off x="721118" y="1048172"/>
            <a:ext cx="6676276" cy="4621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 computing longest common substrings with one mismatch)</a:t>
            </a:r>
            <a:endParaRPr lang="en-US" altLang="zh-TW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7EBBEB-6956-454A-B389-EF5A3A3D8E2D}"/>
              </a:ext>
            </a:extLst>
          </p:cNvPr>
          <p:cNvSpPr/>
          <p:nvPr/>
        </p:nvSpPr>
        <p:spPr>
          <a:xfrm>
            <a:off x="491488" y="1853008"/>
            <a:ext cx="82415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all substrings of length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by symbol, 1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d ≤ |S|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FD3DDECD-9703-4D2E-ACD8-1DA3A561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8911405"/>
                  </p:ext>
                </p:extLst>
              </p:nvPr>
            </p:nvGraphicFramePr>
            <p:xfrm>
              <a:off x="421282" y="2959312"/>
              <a:ext cx="3510256" cy="1152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90282">
                      <a:extLst>
                        <a:ext uri="{9D8B030D-6E8A-4147-A177-3AD203B41FA5}">
                          <a16:colId xmlns:a16="http://schemas.microsoft.com/office/drawing/2014/main" val="1841940220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135663413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57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sz="2400" i="1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i="1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400" i="1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4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FD3DDECD-9703-4D2E-ACD8-1DA3A561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8911405"/>
                  </p:ext>
                </p:extLst>
              </p:nvPr>
            </p:nvGraphicFramePr>
            <p:xfrm>
              <a:off x="421282" y="2959312"/>
              <a:ext cx="3510256" cy="1152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90282">
                      <a:extLst>
                        <a:ext uri="{9D8B030D-6E8A-4147-A177-3AD203B41FA5}">
                          <a16:colId xmlns:a16="http://schemas.microsoft.com/office/drawing/2014/main" val="1841940220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135663413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29028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468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57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sz="2400" i="1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62712" t="-8421" r="-720339" b="-1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62712" t="-8421" r="-620339" b="-1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49351" t="-8421" r="-3896" b="-10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sz="2400" i="1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62712" t="-108421" r="-720339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62712" t="-108421" r="-620339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65323" t="-108421" r="-2419" b="-31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橢圓 8">
            <a:extLst>
              <a:ext uri="{FF2B5EF4-FFF2-40B4-BE49-F238E27FC236}">
                <a16:creationId xmlns:a16="http://schemas.microsoft.com/office/drawing/2014/main" id="{56F35D9D-EDA8-41BB-91F4-76859E9B732A}"/>
              </a:ext>
            </a:extLst>
          </p:cNvPr>
          <p:cNvSpPr/>
          <p:nvPr/>
        </p:nvSpPr>
        <p:spPr>
          <a:xfrm>
            <a:off x="974165" y="3073896"/>
            <a:ext cx="331922" cy="331922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9F8C8FE-11CC-4E04-959E-0C8C26F21E2A}"/>
              </a:ext>
            </a:extLst>
          </p:cNvPr>
          <p:cNvCxnSpPr/>
          <p:nvPr/>
        </p:nvCxnSpPr>
        <p:spPr>
          <a:xfrm>
            <a:off x="1143727" y="3361616"/>
            <a:ext cx="0" cy="247573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03946DD-6DE6-4BD3-B289-C25A85E17555}"/>
              </a:ext>
            </a:extLst>
          </p:cNvPr>
          <p:cNvCxnSpPr>
            <a:cxnSpLocks/>
          </p:cNvCxnSpPr>
          <p:nvPr/>
        </p:nvCxnSpPr>
        <p:spPr>
          <a:xfrm>
            <a:off x="1163504" y="3359749"/>
            <a:ext cx="250006" cy="221889"/>
          </a:xfrm>
          <a:prstGeom prst="straightConnector1">
            <a:avLst/>
          </a:prstGeom>
          <a:noFill/>
          <a:ln w="190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CE92B2C1-9A20-4740-AA70-5B6692229C73}"/>
              </a:ext>
            </a:extLst>
          </p:cNvPr>
          <p:cNvCxnSpPr>
            <a:cxnSpLocks/>
          </p:cNvCxnSpPr>
          <p:nvPr/>
        </p:nvCxnSpPr>
        <p:spPr>
          <a:xfrm>
            <a:off x="1579675" y="3359749"/>
            <a:ext cx="1503560" cy="220022"/>
          </a:xfrm>
          <a:prstGeom prst="straightConnector1">
            <a:avLst/>
          </a:prstGeom>
          <a:noFill/>
          <a:ln w="19050">
            <a:solidFill>
              <a:schemeClr val="accent4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16AD5150-AA59-4E34-86FD-9377FDA035F8}"/>
              </a:ext>
            </a:extLst>
          </p:cNvPr>
          <p:cNvSpPr/>
          <p:nvPr/>
        </p:nvSpPr>
        <p:spPr>
          <a:xfrm>
            <a:off x="2186350" y="2949478"/>
            <a:ext cx="400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TW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2A1C88FD-8561-4AB0-A486-3AAF68CF07EF}"/>
              </a:ext>
            </a:extLst>
          </p:cNvPr>
          <p:cNvSpPr/>
          <p:nvPr/>
        </p:nvSpPr>
        <p:spPr>
          <a:xfrm>
            <a:off x="4652969" y="3070333"/>
            <a:ext cx="803910" cy="339047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6020AE7-D4C8-4B3F-B724-6F38702A8139}"/>
              </a:ext>
            </a:extLst>
          </p:cNvPr>
          <p:cNvCxnSpPr/>
          <p:nvPr/>
        </p:nvCxnSpPr>
        <p:spPr>
          <a:xfrm>
            <a:off x="5100976" y="3361616"/>
            <a:ext cx="0" cy="247573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5E03D3A8-CDDE-44F1-9ACE-89CB3D0A6957}"/>
              </a:ext>
            </a:extLst>
          </p:cNvPr>
          <p:cNvCxnSpPr>
            <a:cxnSpLocks/>
          </p:cNvCxnSpPr>
          <p:nvPr/>
        </p:nvCxnSpPr>
        <p:spPr>
          <a:xfrm>
            <a:off x="5107869" y="3359749"/>
            <a:ext cx="250006" cy="221889"/>
          </a:xfrm>
          <a:prstGeom prst="straightConnector1">
            <a:avLst/>
          </a:prstGeom>
          <a:noFill/>
          <a:ln w="190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39868278-42D0-4D39-8E59-443ACC1797C3}"/>
              </a:ext>
            </a:extLst>
          </p:cNvPr>
          <p:cNvCxnSpPr>
            <a:cxnSpLocks/>
          </p:cNvCxnSpPr>
          <p:nvPr/>
        </p:nvCxnSpPr>
        <p:spPr>
          <a:xfrm>
            <a:off x="5860778" y="3340918"/>
            <a:ext cx="927665" cy="214896"/>
          </a:xfrm>
          <a:prstGeom prst="straightConnector1">
            <a:avLst/>
          </a:prstGeom>
          <a:noFill/>
          <a:ln w="19050">
            <a:solidFill>
              <a:schemeClr val="accent4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30439F7C-5820-4736-B05B-8269122D3055}"/>
              </a:ext>
            </a:extLst>
          </p:cNvPr>
          <p:cNvSpPr/>
          <p:nvPr/>
        </p:nvSpPr>
        <p:spPr>
          <a:xfrm>
            <a:off x="971860" y="3646927"/>
            <a:ext cx="304372" cy="304372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34644407-C2CD-4E50-9299-D1677EF7377C}"/>
              </a:ext>
            </a:extLst>
          </p:cNvPr>
          <p:cNvSpPr/>
          <p:nvPr/>
        </p:nvSpPr>
        <p:spPr>
          <a:xfrm>
            <a:off x="1342389" y="3655818"/>
            <a:ext cx="291244" cy="304372"/>
          </a:xfrm>
          <a:prstGeom prst="ellipse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14BEC921-5B03-4F88-BFF3-2FE343DE5C87}"/>
              </a:ext>
            </a:extLst>
          </p:cNvPr>
          <p:cNvSpPr/>
          <p:nvPr/>
        </p:nvSpPr>
        <p:spPr>
          <a:xfrm>
            <a:off x="4652969" y="3609189"/>
            <a:ext cx="761573" cy="339047"/>
          </a:xfrm>
          <a:prstGeom prst="ellipse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5EDB83D8-ABB0-427A-AB02-DB0ABDFCB894}"/>
              </a:ext>
            </a:extLst>
          </p:cNvPr>
          <p:cNvSpPr/>
          <p:nvPr/>
        </p:nvSpPr>
        <p:spPr>
          <a:xfrm>
            <a:off x="4974160" y="3632279"/>
            <a:ext cx="810688" cy="339047"/>
          </a:xfrm>
          <a:prstGeom prst="ellipse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372851C0-399C-4797-A670-C10F89DBA236}"/>
              </a:ext>
            </a:extLst>
          </p:cNvPr>
          <p:cNvSpPr/>
          <p:nvPr/>
        </p:nvSpPr>
        <p:spPr>
          <a:xfrm>
            <a:off x="3205517" y="3630748"/>
            <a:ext cx="565674" cy="447822"/>
          </a:xfrm>
          <a:prstGeom prst="ellipse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33DC8EE4-3261-4B67-9327-E3D49AE86F05}"/>
              </a:ext>
            </a:extLst>
          </p:cNvPr>
          <p:cNvSpPr/>
          <p:nvPr/>
        </p:nvSpPr>
        <p:spPr>
          <a:xfrm>
            <a:off x="6288012" y="3578904"/>
            <a:ext cx="1373384" cy="499666"/>
          </a:xfrm>
          <a:prstGeom prst="ellipse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98FE8D8-DF0D-4781-96B2-77FACE8D5DBA}"/>
              </a:ext>
            </a:extLst>
          </p:cNvPr>
          <p:cNvSpPr/>
          <p:nvPr/>
        </p:nvSpPr>
        <p:spPr>
          <a:xfrm>
            <a:off x="8143157" y="3239857"/>
            <a:ext cx="400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TW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D4DAED6-8D43-4034-9EDA-350526959C2B}"/>
              </a:ext>
            </a:extLst>
          </p:cNvPr>
          <p:cNvSpPr/>
          <p:nvPr/>
        </p:nvSpPr>
        <p:spPr>
          <a:xfrm>
            <a:off x="2186350" y="3581967"/>
            <a:ext cx="400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TW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C9FE50D-D305-4AB6-9854-F6F97AF7C1B6}"/>
              </a:ext>
            </a:extLst>
          </p:cNvPr>
          <p:cNvSpPr/>
          <p:nvPr/>
        </p:nvSpPr>
        <p:spPr>
          <a:xfrm>
            <a:off x="5829281" y="2946415"/>
            <a:ext cx="400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TW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5954D2-CC9B-49B4-AD35-D30BC6519498}"/>
              </a:ext>
            </a:extLst>
          </p:cNvPr>
          <p:cNvSpPr/>
          <p:nvPr/>
        </p:nvSpPr>
        <p:spPr>
          <a:xfrm>
            <a:off x="5829281" y="3578904"/>
            <a:ext cx="400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TW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4E57299-523A-4226-85C1-A89FBB4536A7}"/>
                  </a:ext>
                </a:extLst>
              </p:cNvPr>
              <p:cNvSpPr/>
              <p:nvPr/>
            </p:nvSpPr>
            <p:spPr>
              <a:xfrm>
                <a:off x="491488" y="4859017"/>
                <a:ext cx="824154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4E57299-523A-4226-85C1-A89FBB4536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88" y="4859017"/>
                <a:ext cx="8241546" cy="461665"/>
              </a:xfrm>
              <a:prstGeom prst="rect">
                <a:avLst/>
              </a:prstGeom>
              <a:blipFill>
                <a:blip r:embed="rId5"/>
                <a:stretch>
                  <a:fillRect l="-118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8160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A7D50-F4FF-4D8A-9F3F-23C76210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AC58641-5927-44F0-B46A-15F92DC1397D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notion of their algorithm (1/2)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14BEB852-9BC2-470B-B3C0-257A94327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4605355"/>
                  </p:ext>
                </p:extLst>
              </p:nvPr>
            </p:nvGraphicFramePr>
            <p:xfrm>
              <a:off x="1871997" y="1269681"/>
              <a:ext cx="540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14BEB852-9BC2-470B-B3C0-257A94327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4605355"/>
                  </p:ext>
                </p:extLst>
              </p:nvPr>
            </p:nvGraphicFramePr>
            <p:xfrm>
              <a:off x="1871997" y="1269681"/>
              <a:ext cx="540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6949" t="-10526" r="-284181" b="-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25424" t="-10526" r="-326271" b="-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83616" t="-10526" r="-117514" b="-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左大括弧 7">
            <a:extLst>
              <a:ext uri="{FF2B5EF4-FFF2-40B4-BE49-F238E27FC236}">
                <a16:creationId xmlns:a16="http://schemas.microsoft.com/office/drawing/2014/main" id="{E8EF4E18-D6EE-4D24-B9A7-282D3BE25061}"/>
              </a:ext>
            </a:extLst>
          </p:cNvPr>
          <p:cNvSpPr/>
          <p:nvPr/>
        </p:nvSpPr>
        <p:spPr>
          <a:xfrm rot="16200000">
            <a:off x="4476360" y="694523"/>
            <a:ext cx="191279" cy="2695575"/>
          </a:xfrm>
          <a:custGeom>
            <a:avLst/>
            <a:gdLst>
              <a:gd name="connsiteX0" fmla="*/ 313179 w 313179"/>
              <a:gd name="connsiteY0" fmla="*/ 1143656 h 1143656"/>
              <a:gd name="connsiteX1" fmla="*/ 156589 w 313179"/>
              <a:gd name="connsiteY1" fmla="*/ 1143653 h 1143656"/>
              <a:gd name="connsiteX2" fmla="*/ 156590 w 313179"/>
              <a:gd name="connsiteY2" fmla="*/ 571831 h 1143656"/>
              <a:gd name="connsiteX3" fmla="*/ 0 w 313179"/>
              <a:gd name="connsiteY3" fmla="*/ 571828 h 1143656"/>
              <a:gd name="connsiteX4" fmla="*/ 156590 w 313179"/>
              <a:gd name="connsiteY4" fmla="*/ 571825 h 1143656"/>
              <a:gd name="connsiteX5" fmla="*/ 156590 w 313179"/>
              <a:gd name="connsiteY5" fmla="*/ 3 h 1143656"/>
              <a:gd name="connsiteX6" fmla="*/ 313180 w 313179"/>
              <a:gd name="connsiteY6" fmla="*/ 0 h 1143656"/>
              <a:gd name="connsiteX7" fmla="*/ 313179 w 313179"/>
              <a:gd name="connsiteY7" fmla="*/ 1143656 h 1143656"/>
              <a:gd name="connsiteX0" fmla="*/ 313179 w 313179"/>
              <a:gd name="connsiteY0" fmla="*/ 1143656 h 1143656"/>
              <a:gd name="connsiteX1" fmla="*/ 156589 w 313179"/>
              <a:gd name="connsiteY1" fmla="*/ 1143653 h 1143656"/>
              <a:gd name="connsiteX2" fmla="*/ 156590 w 313179"/>
              <a:gd name="connsiteY2" fmla="*/ 571831 h 1143656"/>
              <a:gd name="connsiteX3" fmla="*/ 0 w 313179"/>
              <a:gd name="connsiteY3" fmla="*/ 571828 h 1143656"/>
              <a:gd name="connsiteX4" fmla="*/ 156590 w 313179"/>
              <a:gd name="connsiteY4" fmla="*/ 571825 h 1143656"/>
              <a:gd name="connsiteX5" fmla="*/ 156590 w 313179"/>
              <a:gd name="connsiteY5" fmla="*/ 3 h 1143656"/>
              <a:gd name="connsiteX6" fmla="*/ 313180 w 313179"/>
              <a:gd name="connsiteY6" fmla="*/ 0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7" fmla="*/ 313179 w 313180"/>
              <a:gd name="connsiteY7" fmla="*/ 1143656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7" fmla="*/ 313179 w 313180"/>
              <a:gd name="connsiteY7" fmla="*/ 1143656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156590 w 313180"/>
              <a:gd name="connsiteY3" fmla="*/ 571825 h 1143656"/>
              <a:gd name="connsiteX4" fmla="*/ 156590 w 313180"/>
              <a:gd name="connsiteY4" fmla="*/ 3 h 1143656"/>
              <a:gd name="connsiteX5" fmla="*/ 313180 w 313180"/>
              <a:gd name="connsiteY5" fmla="*/ 0 h 114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80" h="1143656" stroke="0" extrusionOk="0">
                <a:moveTo>
                  <a:pt x="313179" y="1143656"/>
                </a:moveTo>
                <a:lnTo>
                  <a:pt x="156589" y="1143653"/>
                </a:lnTo>
                <a:cubicBezTo>
                  <a:pt x="156589" y="953046"/>
                  <a:pt x="156590" y="762438"/>
                  <a:pt x="156590" y="571831"/>
                </a:cubicBezTo>
                <a:cubicBezTo>
                  <a:pt x="156590" y="571829"/>
                  <a:pt x="86482" y="571828"/>
                  <a:pt x="0" y="571828"/>
                </a:cubicBezTo>
                <a:lnTo>
                  <a:pt x="156590" y="571825"/>
                </a:lnTo>
                <a:lnTo>
                  <a:pt x="156590" y="3"/>
                </a:lnTo>
                <a:cubicBezTo>
                  <a:pt x="156590" y="1"/>
                  <a:pt x="226698" y="0"/>
                  <a:pt x="313180" y="0"/>
                </a:cubicBezTo>
                <a:cubicBezTo>
                  <a:pt x="313180" y="381219"/>
                  <a:pt x="313179" y="762437"/>
                  <a:pt x="313179" y="1143656"/>
                </a:cubicBezTo>
                <a:close/>
              </a:path>
              <a:path w="313180" h="1143656" fill="none">
                <a:moveTo>
                  <a:pt x="313179" y="1143656"/>
                </a:moveTo>
                <a:lnTo>
                  <a:pt x="156589" y="1143653"/>
                </a:lnTo>
                <a:cubicBezTo>
                  <a:pt x="156589" y="953046"/>
                  <a:pt x="156590" y="667136"/>
                  <a:pt x="156590" y="571831"/>
                </a:cubicBezTo>
                <a:lnTo>
                  <a:pt x="156590" y="571825"/>
                </a:lnTo>
                <a:lnTo>
                  <a:pt x="156590" y="3"/>
                </a:lnTo>
                <a:cubicBezTo>
                  <a:pt x="156590" y="1"/>
                  <a:pt x="226698" y="0"/>
                  <a:pt x="313180" y="0"/>
                </a:cubicBezTo>
              </a:path>
            </a:pathLst>
          </a:cu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2B9EC34-D472-4A52-BF91-04FF69B313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629677"/>
                  </p:ext>
                </p:extLst>
              </p:nvPr>
            </p:nvGraphicFramePr>
            <p:xfrm>
              <a:off x="1871997" y="2638097"/>
              <a:ext cx="540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2B9EC34-D472-4A52-BF91-04FF69B313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629677"/>
                  </p:ext>
                </p:extLst>
              </p:nvPr>
            </p:nvGraphicFramePr>
            <p:xfrm>
              <a:off x="1871997" y="2638097"/>
              <a:ext cx="540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6949" t="-10526" r="-284181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25424" t="-10526" r="-326271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3616" t="-10526" r="-117514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97FD88D-94D8-4F3E-925D-435C82020AAF}"/>
                  </a:ext>
                </a:extLst>
              </p:cNvPr>
              <p:cNvSpPr/>
              <p:nvPr/>
            </p:nvSpPr>
            <p:spPr>
              <a:xfrm>
                <a:off x="1244339" y="1293985"/>
                <a:ext cx="46416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97FD88D-94D8-4F3E-925D-435C82020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339" y="1293985"/>
                <a:ext cx="46416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3437705-6CCE-4A1D-9095-E545ABDDD578}"/>
                  </a:ext>
                </a:extLst>
              </p:cNvPr>
              <p:cNvSpPr/>
              <p:nvPr/>
            </p:nvSpPr>
            <p:spPr>
              <a:xfrm>
                <a:off x="1232668" y="2662401"/>
                <a:ext cx="4875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3437705-6CCE-4A1D-9095-E545ABDDD5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668" y="2662401"/>
                <a:ext cx="48750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90FDB0E1-BF54-41FE-B561-1CDCBB11A120}"/>
              </a:ext>
            </a:extLst>
          </p:cNvPr>
          <p:cNvSpPr/>
          <p:nvPr/>
        </p:nvSpPr>
        <p:spPr>
          <a:xfrm>
            <a:off x="3917630" y="3395319"/>
            <a:ext cx="13087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substring</a:t>
            </a:r>
            <a:endParaRPr lang="zh-TW" alt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左大括弧 7">
            <a:extLst>
              <a:ext uri="{FF2B5EF4-FFF2-40B4-BE49-F238E27FC236}">
                <a16:creationId xmlns:a16="http://schemas.microsoft.com/office/drawing/2014/main" id="{C73ED43B-FCB5-4FDA-AEC1-AD8F43B374A8}"/>
              </a:ext>
            </a:extLst>
          </p:cNvPr>
          <p:cNvSpPr/>
          <p:nvPr/>
        </p:nvSpPr>
        <p:spPr>
          <a:xfrm rot="16200000">
            <a:off x="4476360" y="2047532"/>
            <a:ext cx="191279" cy="2695575"/>
          </a:xfrm>
          <a:custGeom>
            <a:avLst/>
            <a:gdLst>
              <a:gd name="connsiteX0" fmla="*/ 313179 w 313179"/>
              <a:gd name="connsiteY0" fmla="*/ 1143656 h 1143656"/>
              <a:gd name="connsiteX1" fmla="*/ 156589 w 313179"/>
              <a:gd name="connsiteY1" fmla="*/ 1143653 h 1143656"/>
              <a:gd name="connsiteX2" fmla="*/ 156590 w 313179"/>
              <a:gd name="connsiteY2" fmla="*/ 571831 h 1143656"/>
              <a:gd name="connsiteX3" fmla="*/ 0 w 313179"/>
              <a:gd name="connsiteY3" fmla="*/ 571828 h 1143656"/>
              <a:gd name="connsiteX4" fmla="*/ 156590 w 313179"/>
              <a:gd name="connsiteY4" fmla="*/ 571825 h 1143656"/>
              <a:gd name="connsiteX5" fmla="*/ 156590 w 313179"/>
              <a:gd name="connsiteY5" fmla="*/ 3 h 1143656"/>
              <a:gd name="connsiteX6" fmla="*/ 313180 w 313179"/>
              <a:gd name="connsiteY6" fmla="*/ 0 h 1143656"/>
              <a:gd name="connsiteX7" fmla="*/ 313179 w 313179"/>
              <a:gd name="connsiteY7" fmla="*/ 1143656 h 1143656"/>
              <a:gd name="connsiteX0" fmla="*/ 313179 w 313179"/>
              <a:gd name="connsiteY0" fmla="*/ 1143656 h 1143656"/>
              <a:gd name="connsiteX1" fmla="*/ 156589 w 313179"/>
              <a:gd name="connsiteY1" fmla="*/ 1143653 h 1143656"/>
              <a:gd name="connsiteX2" fmla="*/ 156590 w 313179"/>
              <a:gd name="connsiteY2" fmla="*/ 571831 h 1143656"/>
              <a:gd name="connsiteX3" fmla="*/ 0 w 313179"/>
              <a:gd name="connsiteY3" fmla="*/ 571828 h 1143656"/>
              <a:gd name="connsiteX4" fmla="*/ 156590 w 313179"/>
              <a:gd name="connsiteY4" fmla="*/ 571825 h 1143656"/>
              <a:gd name="connsiteX5" fmla="*/ 156590 w 313179"/>
              <a:gd name="connsiteY5" fmla="*/ 3 h 1143656"/>
              <a:gd name="connsiteX6" fmla="*/ 313180 w 313179"/>
              <a:gd name="connsiteY6" fmla="*/ 0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7" fmla="*/ 313179 w 313180"/>
              <a:gd name="connsiteY7" fmla="*/ 1143656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7" fmla="*/ 313179 w 313180"/>
              <a:gd name="connsiteY7" fmla="*/ 1143656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156590 w 313180"/>
              <a:gd name="connsiteY3" fmla="*/ 571825 h 1143656"/>
              <a:gd name="connsiteX4" fmla="*/ 156590 w 313180"/>
              <a:gd name="connsiteY4" fmla="*/ 3 h 1143656"/>
              <a:gd name="connsiteX5" fmla="*/ 313180 w 313180"/>
              <a:gd name="connsiteY5" fmla="*/ 0 h 114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80" h="1143656" stroke="0" extrusionOk="0">
                <a:moveTo>
                  <a:pt x="313179" y="1143656"/>
                </a:moveTo>
                <a:lnTo>
                  <a:pt x="156589" y="1143653"/>
                </a:lnTo>
                <a:cubicBezTo>
                  <a:pt x="156589" y="953046"/>
                  <a:pt x="156590" y="762438"/>
                  <a:pt x="156590" y="571831"/>
                </a:cubicBezTo>
                <a:cubicBezTo>
                  <a:pt x="156590" y="571829"/>
                  <a:pt x="86482" y="571828"/>
                  <a:pt x="0" y="571828"/>
                </a:cubicBezTo>
                <a:lnTo>
                  <a:pt x="156590" y="571825"/>
                </a:lnTo>
                <a:lnTo>
                  <a:pt x="156590" y="3"/>
                </a:lnTo>
                <a:cubicBezTo>
                  <a:pt x="156590" y="1"/>
                  <a:pt x="226698" y="0"/>
                  <a:pt x="313180" y="0"/>
                </a:cubicBezTo>
                <a:cubicBezTo>
                  <a:pt x="313180" y="381219"/>
                  <a:pt x="313179" y="762437"/>
                  <a:pt x="313179" y="1143656"/>
                </a:cubicBezTo>
                <a:close/>
              </a:path>
              <a:path w="313180" h="1143656" fill="none">
                <a:moveTo>
                  <a:pt x="313179" y="1143656"/>
                </a:moveTo>
                <a:lnTo>
                  <a:pt x="156589" y="1143653"/>
                </a:lnTo>
                <a:cubicBezTo>
                  <a:pt x="156589" y="953046"/>
                  <a:pt x="156590" y="667136"/>
                  <a:pt x="156590" y="571831"/>
                </a:cubicBezTo>
                <a:lnTo>
                  <a:pt x="156590" y="571825"/>
                </a:lnTo>
                <a:lnTo>
                  <a:pt x="156590" y="3"/>
                </a:lnTo>
                <a:cubicBezTo>
                  <a:pt x="156590" y="1"/>
                  <a:pt x="226698" y="0"/>
                  <a:pt x="313180" y="0"/>
                </a:cubicBezTo>
              </a:path>
            </a:pathLst>
          </a:cu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7030A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4415D96-1538-469D-9BF4-6FF5DC21E600}"/>
              </a:ext>
            </a:extLst>
          </p:cNvPr>
          <p:cNvSpPr/>
          <p:nvPr/>
        </p:nvSpPr>
        <p:spPr>
          <a:xfrm>
            <a:off x="3917629" y="1984585"/>
            <a:ext cx="13087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substring</a:t>
            </a:r>
            <a:endParaRPr lang="zh-TW" alt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DFE8548-26AB-4486-8CBD-8D2F02CB2717}"/>
                  </a:ext>
                </a:extLst>
              </p:cNvPr>
              <p:cNvSpPr/>
              <p:nvPr/>
            </p:nvSpPr>
            <p:spPr>
              <a:xfrm>
                <a:off x="402903" y="4142194"/>
                <a:ext cx="8338188" cy="8652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checking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b="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not, they divides substring into two parts.</a:t>
                </a:r>
              </a:p>
            </p:txBody>
          </p:sp>
        </mc:Choice>
        <mc:Fallback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DFE8548-26AB-4486-8CBD-8D2F02CB2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03" y="4142194"/>
                <a:ext cx="8338188" cy="865237"/>
              </a:xfrm>
              <a:prstGeom prst="rect">
                <a:avLst/>
              </a:prstGeom>
              <a:blipFill>
                <a:blip r:embed="rId6"/>
                <a:stretch>
                  <a:fillRect l="-950" t="-5634" r="-1462" b="-154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DABD282-B1CD-4202-B0CB-F03E0FFEB9D4}"/>
                  </a:ext>
                </a:extLst>
              </p:cNvPr>
              <p:cNvSpPr/>
              <p:nvPr/>
            </p:nvSpPr>
            <p:spPr>
              <a:xfrm>
                <a:off x="402232" y="5101923"/>
                <a:ext cx="8236943" cy="5799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  <m:d>
                      <m:dPr>
                        <m:ctrlPr>
                          <a:rPr lang="en-US" altLang="zh-TW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𝑙𝑐𝑠</m:t>
                    </m:r>
                    <m:d>
                      <m:dPr>
                        <m:ctrlPr>
                          <a:rPr lang="en-US" altLang="zh-TW" sz="2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−1,</m:t>
                        </m:r>
                        <m:r>
                          <a:rPr lang="en-US" altLang="zh-TW" sz="2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𝑙𝑐𝑝</m:t>
                    </m:r>
                    <m:d>
                      <m:dPr>
                        <m:ctrlPr>
                          <a:rPr lang="en-US" altLang="zh-TW" sz="24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+1,</m:t>
                        </m:r>
                        <m:r>
                          <a:rPr lang="en-US" altLang="zh-TW" sz="24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DABD282-B1CD-4202-B0CB-F03E0FFEB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2" y="5101923"/>
                <a:ext cx="8236943" cy="579967"/>
              </a:xfrm>
              <a:prstGeom prst="rect">
                <a:avLst/>
              </a:prstGeom>
              <a:blipFill>
                <a:blip r:embed="rId7"/>
                <a:stretch>
                  <a:fillRect l="-1036"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9F52CA6E-64DB-4D78-AE6C-A0E5D44EC9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2245147"/>
                  </p:ext>
                </p:extLst>
              </p:nvPr>
            </p:nvGraphicFramePr>
            <p:xfrm>
              <a:off x="1871997" y="1269681"/>
              <a:ext cx="540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9F52CA6E-64DB-4D78-AE6C-A0E5D44EC9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2245147"/>
                  </p:ext>
                </p:extLst>
              </p:nvPr>
            </p:nvGraphicFramePr>
            <p:xfrm>
              <a:off x="1871997" y="1269681"/>
              <a:ext cx="540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16949" t="-10526" r="-284181" b="-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325424" t="-10526" r="-326271" b="-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283616" t="-10526" r="-117514" b="-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E3377638-F9DB-4B70-8A6A-103931FA1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253248"/>
                  </p:ext>
                </p:extLst>
              </p:nvPr>
            </p:nvGraphicFramePr>
            <p:xfrm>
              <a:off x="1871997" y="2638097"/>
              <a:ext cx="540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表格 16">
                <a:extLst>
                  <a:ext uri="{FF2B5EF4-FFF2-40B4-BE49-F238E27FC236}">
                    <a16:creationId xmlns:a16="http://schemas.microsoft.com/office/drawing/2014/main" id="{E3377638-F9DB-4B70-8A6A-103931FA19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253248"/>
                  </p:ext>
                </p:extLst>
              </p:nvPr>
            </p:nvGraphicFramePr>
            <p:xfrm>
              <a:off x="1871997" y="2638097"/>
              <a:ext cx="540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16949" t="-10526" r="-284181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325424" t="-10526" r="-326271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283616" t="-10526" r="-117514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8323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A7D50-F4FF-4D8A-9F3F-23C76210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AC58641-5927-44F0-B46A-15F92DC1397D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notion of their algorithm (2/2)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67D46DB-13EB-476A-9766-20E2F3994FF7}"/>
                  </a:ext>
                </a:extLst>
              </p:cNvPr>
              <p:cNvSpPr/>
              <p:nvPr/>
            </p:nvSpPr>
            <p:spPr>
              <a:xfrm>
                <a:off x="628650" y="1048172"/>
                <a:ext cx="7886700" cy="16776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1≤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≤|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</m:lim>
                        </m:limLow>
                      </m:fName>
                      <m:e>
                        <m: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</m:d>
                      </m:e>
                    </m:func>
                  </m:oMath>
                </a14:m>
                <a:endParaRPr lang="en-US" altLang="zh-TW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the answer(MaxLen) 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1≤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≤|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</m:lim>
                        </m:limLow>
                      </m:fName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67D46DB-13EB-476A-9766-20E2F3994F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048172"/>
                <a:ext cx="7886700" cy="1677639"/>
              </a:xfrm>
              <a:prstGeom prst="rect">
                <a:avLst/>
              </a:prstGeom>
              <a:blipFill>
                <a:blip r:embed="rId2"/>
                <a:stretch>
                  <a:fillRect l="-1005" b="-2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左大括弧 7">
            <a:extLst>
              <a:ext uri="{FF2B5EF4-FFF2-40B4-BE49-F238E27FC236}">
                <a16:creationId xmlns:a16="http://schemas.microsoft.com/office/drawing/2014/main" id="{E9883A77-59BB-41CE-A274-71B4582E81F7}"/>
              </a:ext>
            </a:extLst>
          </p:cNvPr>
          <p:cNvSpPr/>
          <p:nvPr/>
        </p:nvSpPr>
        <p:spPr>
          <a:xfrm>
            <a:off x="1188630" y="3598463"/>
            <a:ext cx="178413" cy="2441897"/>
          </a:xfrm>
          <a:custGeom>
            <a:avLst/>
            <a:gdLst>
              <a:gd name="connsiteX0" fmla="*/ 313179 w 313179"/>
              <a:gd name="connsiteY0" fmla="*/ 1143656 h 1143656"/>
              <a:gd name="connsiteX1" fmla="*/ 156589 w 313179"/>
              <a:gd name="connsiteY1" fmla="*/ 1143653 h 1143656"/>
              <a:gd name="connsiteX2" fmla="*/ 156590 w 313179"/>
              <a:gd name="connsiteY2" fmla="*/ 571831 h 1143656"/>
              <a:gd name="connsiteX3" fmla="*/ 0 w 313179"/>
              <a:gd name="connsiteY3" fmla="*/ 571828 h 1143656"/>
              <a:gd name="connsiteX4" fmla="*/ 156590 w 313179"/>
              <a:gd name="connsiteY4" fmla="*/ 571825 h 1143656"/>
              <a:gd name="connsiteX5" fmla="*/ 156590 w 313179"/>
              <a:gd name="connsiteY5" fmla="*/ 3 h 1143656"/>
              <a:gd name="connsiteX6" fmla="*/ 313180 w 313179"/>
              <a:gd name="connsiteY6" fmla="*/ 0 h 1143656"/>
              <a:gd name="connsiteX7" fmla="*/ 313179 w 313179"/>
              <a:gd name="connsiteY7" fmla="*/ 1143656 h 1143656"/>
              <a:gd name="connsiteX0" fmla="*/ 313179 w 313179"/>
              <a:gd name="connsiteY0" fmla="*/ 1143656 h 1143656"/>
              <a:gd name="connsiteX1" fmla="*/ 156589 w 313179"/>
              <a:gd name="connsiteY1" fmla="*/ 1143653 h 1143656"/>
              <a:gd name="connsiteX2" fmla="*/ 156590 w 313179"/>
              <a:gd name="connsiteY2" fmla="*/ 571831 h 1143656"/>
              <a:gd name="connsiteX3" fmla="*/ 0 w 313179"/>
              <a:gd name="connsiteY3" fmla="*/ 571828 h 1143656"/>
              <a:gd name="connsiteX4" fmla="*/ 156590 w 313179"/>
              <a:gd name="connsiteY4" fmla="*/ 571825 h 1143656"/>
              <a:gd name="connsiteX5" fmla="*/ 156590 w 313179"/>
              <a:gd name="connsiteY5" fmla="*/ 3 h 1143656"/>
              <a:gd name="connsiteX6" fmla="*/ 313180 w 313179"/>
              <a:gd name="connsiteY6" fmla="*/ 0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7" fmla="*/ 313179 w 313180"/>
              <a:gd name="connsiteY7" fmla="*/ 1143656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7" fmla="*/ 313179 w 313180"/>
              <a:gd name="connsiteY7" fmla="*/ 1143656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156590 w 313180"/>
              <a:gd name="connsiteY3" fmla="*/ 571825 h 1143656"/>
              <a:gd name="connsiteX4" fmla="*/ 156590 w 313180"/>
              <a:gd name="connsiteY4" fmla="*/ 3 h 1143656"/>
              <a:gd name="connsiteX5" fmla="*/ 313180 w 313180"/>
              <a:gd name="connsiteY5" fmla="*/ 0 h 114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80" h="1143656" stroke="0" extrusionOk="0">
                <a:moveTo>
                  <a:pt x="313179" y="1143656"/>
                </a:moveTo>
                <a:lnTo>
                  <a:pt x="156589" y="1143653"/>
                </a:lnTo>
                <a:cubicBezTo>
                  <a:pt x="156589" y="953046"/>
                  <a:pt x="156590" y="762438"/>
                  <a:pt x="156590" y="571831"/>
                </a:cubicBezTo>
                <a:cubicBezTo>
                  <a:pt x="156590" y="571829"/>
                  <a:pt x="86482" y="571828"/>
                  <a:pt x="0" y="571828"/>
                </a:cubicBezTo>
                <a:lnTo>
                  <a:pt x="156590" y="571825"/>
                </a:lnTo>
                <a:lnTo>
                  <a:pt x="156590" y="3"/>
                </a:lnTo>
                <a:cubicBezTo>
                  <a:pt x="156590" y="1"/>
                  <a:pt x="226698" y="0"/>
                  <a:pt x="313180" y="0"/>
                </a:cubicBezTo>
                <a:cubicBezTo>
                  <a:pt x="313180" y="381219"/>
                  <a:pt x="313179" y="762437"/>
                  <a:pt x="313179" y="1143656"/>
                </a:cubicBezTo>
                <a:close/>
              </a:path>
              <a:path w="313180" h="1143656" fill="none">
                <a:moveTo>
                  <a:pt x="313179" y="1143656"/>
                </a:moveTo>
                <a:lnTo>
                  <a:pt x="156589" y="1143653"/>
                </a:lnTo>
                <a:cubicBezTo>
                  <a:pt x="156589" y="953046"/>
                  <a:pt x="156590" y="667136"/>
                  <a:pt x="156590" y="571831"/>
                </a:cubicBezTo>
                <a:lnTo>
                  <a:pt x="156590" y="571825"/>
                </a:lnTo>
                <a:lnTo>
                  <a:pt x="156590" y="3"/>
                </a:lnTo>
                <a:cubicBezTo>
                  <a:pt x="156590" y="1"/>
                  <a:pt x="226698" y="0"/>
                  <a:pt x="313180" y="0"/>
                </a:cubicBezTo>
              </a:path>
            </a:pathLst>
          </a:cu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7" name="左大括弧 7">
            <a:extLst>
              <a:ext uri="{FF2B5EF4-FFF2-40B4-BE49-F238E27FC236}">
                <a16:creationId xmlns:a16="http://schemas.microsoft.com/office/drawing/2014/main" id="{3930D51E-25A9-4F90-8436-68D2EB8576B7}"/>
              </a:ext>
            </a:extLst>
          </p:cNvPr>
          <p:cNvSpPr/>
          <p:nvPr/>
        </p:nvSpPr>
        <p:spPr>
          <a:xfrm>
            <a:off x="1658070" y="3988881"/>
            <a:ext cx="178414" cy="1435847"/>
          </a:xfrm>
          <a:custGeom>
            <a:avLst/>
            <a:gdLst>
              <a:gd name="connsiteX0" fmla="*/ 313179 w 313179"/>
              <a:gd name="connsiteY0" fmla="*/ 1143656 h 1143656"/>
              <a:gd name="connsiteX1" fmla="*/ 156589 w 313179"/>
              <a:gd name="connsiteY1" fmla="*/ 1143653 h 1143656"/>
              <a:gd name="connsiteX2" fmla="*/ 156590 w 313179"/>
              <a:gd name="connsiteY2" fmla="*/ 571831 h 1143656"/>
              <a:gd name="connsiteX3" fmla="*/ 0 w 313179"/>
              <a:gd name="connsiteY3" fmla="*/ 571828 h 1143656"/>
              <a:gd name="connsiteX4" fmla="*/ 156590 w 313179"/>
              <a:gd name="connsiteY4" fmla="*/ 571825 h 1143656"/>
              <a:gd name="connsiteX5" fmla="*/ 156590 w 313179"/>
              <a:gd name="connsiteY5" fmla="*/ 3 h 1143656"/>
              <a:gd name="connsiteX6" fmla="*/ 313180 w 313179"/>
              <a:gd name="connsiteY6" fmla="*/ 0 h 1143656"/>
              <a:gd name="connsiteX7" fmla="*/ 313179 w 313179"/>
              <a:gd name="connsiteY7" fmla="*/ 1143656 h 1143656"/>
              <a:gd name="connsiteX0" fmla="*/ 313179 w 313179"/>
              <a:gd name="connsiteY0" fmla="*/ 1143656 h 1143656"/>
              <a:gd name="connsiteX1" fmla="*/ 156589 w 313179"/>
              <a:gd name="connsiteY1" fmla="*/ 1143653 h 1143656"/>
              <a:gd name="connsiteX2" fmla="*/ 156590 w 313179"/>
              <a:gd name="connsiteY2" fmla="*/ 571831 h 1143656"/>
              <a:gd name="connsiteX3" fmla="*/ 0 w 313179"/>
              <a:gd name="connsiteY3" fmla="*/ 571828 h 1143656"/>
              <a:gd name="connsiteX4" fmla="*/ 156590 w 313179"/>
              <a:gd name="connsiteY4" fmla="*/ 571825 h 1143656"/>
              <a:gd name="connsiteX5" fmla="*/ 156590 w 313179"/>
              <a:gd name="connsiteY5" fmla="*/ 3 h 1143656"/>
              <a:gd name="connsiteX6" fmla="*/ 313180 w 313179"/>
              <a:gd name="connsiteY6" fmla="*/ 0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7" fmla="*/ 313179 w 313180"/>
              <a:gd name="connsiteY7" fmla="*/ 1143656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7" fmla="*/ 313179 w 313180"/>
              <a:gd name="connsiteY7" fmla="*/ 1143656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156590 w 313180"/>
              <a:gd name="connsiteY3" fmla="*/ 571825 h 1143656"/>
              <a:gd name="connsiteX4" fmla="*/ 156590 w 313180"/>
              <a:gd name="connsiteY4" fmla="*/ 3 h 1143656"/>
              <a:gd name="connsiteX5" fmla="*/ 313180 w 313180"/>
              <a:gd name="connsiteY5" fmla="*/ 0 h 114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80" h="1143656" stroke="0" extrusionOk="0">
                <a:moveTo>
                  <a:pt x="313179" y="1143656"/>
                </a:moveTo>
                <a:lnTo>
                  <a:pt x="156589" y="1143653"/>
                </a:lnTo>
                <a:cubicBezTo>
                  <a:pt x="156589" y="953046"/>
                  <a:pt x="156590" y="762438"/>
                  <a:pt x="156590" y="571831"/>
                </a:cubicBezTo>
                <a:cubicBezTo>
                  <a:pt x="156590" y="571829"/>
                  <a:pt x="86482" y="571828"/>
                  <a:pt x="0" y="571828"/>
                </a:cubicBezTo>
                <a:lnTo>
                  <a:pt x="156590" y="571825"/>
                </a:lnTo>
                <a:lnTo>
                  <a:pt x="156590" y="3"/>
                </a:lnTo>
                <a:cubicBezTo>
                  <a:pt x="156590" y="1"/>
                  <a:pt x="226698" y="0"/>
                  <a:pt x="313180" y="0"/>
                </a:cubicBezTo>
                <a:cubicBezTo>
                  <a:pt x="313180" y="381219"/>
                  <a:pt x="313179" y="762437"/>
                  <a:pt x="313179" y="1143656"/>
                </a:cubicBezTo>
                <a:close/>
              </a:path>
              <a:path w="313180" h="1143656" fill="none">
                <a:moveTo>
                  <a:pt x="313179" y="1143656"/>
                </a:moveTo>
                <a:lnTo>
                  <a:pt x="156589" y="1143653"/>
                </a:lnTo>
                <a:cubicBezTo>
                  <a:pt x="156589" y="953046"/>
                  <a:pt x="156590" y="667136"/>
                  <a:pt x="156590" y="571831"/>
                </a:cubicBezTo>
                <a:lnTo>
                  <a:pt x="156590" y="571825"/>
                </a:lnTo>
                <a:lnTo>
                  <a:pt x="156590" y="3"/>
                </a:lnTo>
                <a:cubicBezTo>
                  <a:pt x="156590" y="1"/>
                  <a:pt x="226698" y="0"/>
                  <a:pt x="313180" y="0"/>
                </a:cubicBezTo>
              </a:path>
            </a:pathLst>
          </a:cu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2830CB2-BCC0-44D6-A254-2BC4C61F1F0A}"/>
                  </a:ext>
                </a:extLst>
              </p:cNvPr>
              <p:cNvSpPr/>
              <p:nvPr/>
            </p:nvSpPr>
            <p:spPr>
              <a:xfrm>
                <a:off x="1188628" y="3178936"/>
                <a:ext cx="17599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𝑓𝑜𝑟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 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𝑡𝑜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|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zh-TW" alt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2830CB2-BCC0-44D6-A254-2BC4C61F1F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628" y="3178936"/>
                <a:ext cx="175990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B3E8F9B-B126-4F4B-91F8-A9AD0746F06E}"/>
                  </a:ext>
                </a:extLst>
              </p:cNvPr>
              <p:cNvSpPr/>
              <p:nvPr/>
            </p:nvSpPr>
            <p:spPr>
              <a:xfrm>
                <a:off x="1712613" y="3620292"/>
                <a:ext cx="17661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𝑓𝑜𝑟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 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𝑡𝑜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|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zh-TW" alt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B3E8F9B-B126-4F4B-91F8-A9AD0746F0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613" y="3620292"/>
                <a:ext cx="176618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9712060-3701-4F3F-992E-8532A28A9CA3}"/>
                  </a:ext>
                </a:extLst>
              </p:cNvPr>
              <p:cNvSpPr/>
              <p:nvPr/>
            </p:nvSpPr>
            <p:spPr>
              <a:xfrm>
                <a:off x="2068582" y="4132718"/>
                <a:ext cx="495199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𝑐𝑜𝑚𝑝𝑢𝑡𝑒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𝑙𝑐𝑝</m:t>
                    </m:r>
                    <m:d>
                      <m:dPr>
                        <m:ctrlP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+1,</m:t>
                        </m:r>
                        <m: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solidFill>
                      <a:srgbClr val="0070C0"/>
                    </a:solidFill>
                  </a:rPr>
                  <a:t>&amp;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𝑙𝑐𝑠</m:t>
                    </m:r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TW" sz="2000" dirty="0">
                    <a:solidFill>
                      <a:srgbClr val="0070C0"/>
                    </a:solidFill>
                  </a:rPr>
                  <a:t>)</a:t>
                </a:r>
                <a:endParaRPr lang="zh-TW" alt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9712060-3701-4F3F-992E-8532A28A9C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582" y="4132718"/>
                <a:ext cx="4951997" cy="400110"/>
              </a:xfrm>
              <a:prstGeom prst="rect">
                <a:avLst/>
              </a:prstGeom>
              <a:blipFill>
                <a:blip r:embed="rId5"/>
                <a:stretch>
                  <a:fillRect l="-246" t="-9091" r="-369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49FD18F-BA11-411D-8007-F508698F92E7}"/>
                  </a:ext>
                </a:extLst>
              </p:cNvPr>
              <p:cNvSpPr/>
              <p:nvPr/>
            </p:nvSpPr>
            <p:spPr>
              <a:xfrm>
                <a:off x="3710898" y="3840292"/>
                <a:ext cx="17222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𝑏𝑦</m:t>
                      </m:r>
                      <m:r>
                        <a:rPr lang="en-US" altLang="zh-TW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𝐿𝐶𝑃</m:t>
                      </m:r>
                      <m:r>
                        <a:rPr lang="en-US" altLang="zh-TW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𝑎𝑙𝑔𝑜</m:t>
                      </m:r>
                      <m:r>
                        <a:rPr lang="en-US" altLang="zh-TW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49FD18F-BA11-411D-8007-F508698F92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98" y="3840292"/>
                <a:ext cx="1722203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53C828D7-8C7A-4143-992F-17CBED205BD7}"/>
                  </a:ext>
                </a:extLst>
              </p:cNvPr>
              <p:cNvSpPr/>
              <p:nvPr/>
            </p:nvSpPr>
            <p:spPr>
              <a:xfrm>
                <a:off x="5563532" y="3840292"/>
                <a:ext cx="16489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altLang="zh-TW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𝐿𝐶𝑆</m:t>
                      </m:r>
                      <m:r>
                        <a:rPr lang="en-US" altLang="zh-TW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𝑎𝑙𝑔𝑜</m:t>
                      </m:r>
                      <m:r>
                        <a:rPr lang="en-US" altLang="zh-TW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53C828D7-8C7A-4143-992F-17CBED205B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532" y="3840292"/>
                <a:ext cx="1648913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45D98E6-83E0-4A61-B1B1-11360AF216B4}"/>
                  </a:ext>
                </a:extLst>
              </p:cNvPr>
              <p:cNvSpPr/>
              <p:nvPr/>
            </p:nvSpPr>
            <p:spPr>
              <a:xfrm>
                <a:off x="2068581" y="5024618"/>
                <a:ext cx="305064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?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: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45D98E6-83E0-4A61-B1B1-11360AF216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581" y="5024618"/>
                <a:ext cx="3050643" cy="400110"/>
              </a:xfrm>
              <a:prstGeom prst="rect">
                <a:avLst/>
              </a:prstGeom>
              <a:blipFill>
                <a:blip r:embed="rId8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502BD275-412A-4845-BD67-22DA8370C2B9}"/>
                  </a:ext>
                </a:extLst>
              </p:cNvPr>
              <p:cNvSpPr/>
              <p:nvPr/>
            </p:nvSpPr>
            <p:spPr>
              <a:xfrm>
                <a:off x="2068580" y="4578668"/>
                <a:ext cx="190994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𝑐𝑜𝑚𝑝𝑢𝑡𝑒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502BD275-412A-4845-BD67-22DA8370C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580" y="4578668"/>
                <a:ext cx="1909946" cy="400110"/>
              </a:xfrm>
              <a:prstGeom prst="rect">
                <a:avLst/>
              </a:prstGeom>
              <a:blipFill>
                <a:blip r:embed="rId9"/>
                <a:stretch>
                  <a:fillRect l="-637" b="-151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FACA38A-949F-4AA2-82B9-6BDA7F87616B}"/>
                  </a:ext>
                </a:extLst>
              </p:cNvPr>
              <p:cNvSpPr/>
              <p:nvPr/>
            </p:nvSpPr>
            <p:spPr>
              <a:xfrm>
                <a:off x="1658070" y="5626623"/>
                <a:ext cx="439036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𝑀𝑎𝑥𝐿𝑒𝑛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𝑀𝑎𝑥𝐿𝑒𝑛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?</m:t>
                      </m:r>
                      <m:r>
                        <a:rPr lang="en-US" altLang="zh-TW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𝑀𝑎𝑥𝐿𝑒𝑛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: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zh-TW" alt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FACA38A-949F-4AA2-82B9-6BDA7F876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070" y="5626623"/>
                <a:ext cx="439036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504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A7D50-F4FF-4D8A-9F3F-23C76210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AC58641-5927-44F0-B46A-15F92DC1397D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 algorithm (1/2)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3437705-6CCE-4A1D-9095-E545ABDDD578}"/>
                  </a:ext>
                </a:extLst>
              </p:cNvPr>
              <p:cNvSpPr/>
              <p:nvPr/>
            </p:nvSpPr>
            <p:spPr>
              <a:xfrm>
                <a:off x="914169" y="1514400"/>
                <a:ext cx="4875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3437705-6CCE-4A1D-9095-E545ABDDD5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69" y="1514400"/>
                <a:ext cx="48750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1F66448B-1394-49BF-980D-B31408A2E6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6053914"/>
                  </p:ext>
                </p:extLst>
              </p:nvPr>
            </p:nvGraphicFramePr>
            <p:xfrm>
              <a:off x="1872000" y="1490096"/>
              <a:ext cx="540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1F66448B-1394-49BF-980D-B31408A2E6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6053914"/>
                  </p:ext>
                </p:extLst>
              </p:nvPr>
            </p:nvGraphicFramePr>
            <p:xfrm>
              <a:off x="1872000" y="1490096"/>
              <a:ext cx="540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39" t="-10526" r="-201017" b="-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32584" t="-10526" r="-466292" b="-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60678" t="-10526" r="-40678" b="-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51695" t="-10526" r="-1695" b="-1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表格 17">
                <a:extLst>
                  <a:ext uri="{FF2B5EF4-FFF2-40B4-BE49-F238E27FC236}">
                    <a16:creationId xmlns:a16="http://schemas.microsoft.com/office/drawing/2014/main" id="{6D0858BB-AC13-42C4-9A02-8B448FEEA4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8885263"/>
                  </p:ext>
                </p:extLst>
              </p:nvPr>
            </p:nvGraphicFramePr>
            <p:xfrm>
              <a:off x="4212000" y="2292056"/>
              <a:ext cx="306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表格 17">
                <a:extLst>
                  <a:ext uri="{FF2B5EF4-FFF2-40B4-BE49-F238E27FC236}">
                    <a16:creationId xmlns:a16="http://schemas.microsoft.com/office/drawing/2014/main" id="{6D0858BB-AC13-42C4-9A02-8B448FEEA4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8885263"/>
                  </p:ext>
                </p:extLst>
              </p:nvPr>
            </p:nvGraphicFramePr>
            <p:xfrm>
              <a:off x="4212000" y="2292056"/>
              <a:ext cx="306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38" t="-1053" r="-70608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33708" t="-1053" r="-134831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27119" t="-1053" r="-1695" b="-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05F435D-E3F6-49EB-B37B-91F8BBBBC308}"/>
                  </a:ext>
                </a:extLst>
              </p:cNvPr>
              <p:cNvSpPr/>
              <p:nvPr/>
            </p:nvSpPr>
            <p:spPr>
              <a:xfrm>
                <a:off x="402232" y="3429000"/>
                <a:ext cx="7180096" cy="11764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b="0" dirty="0">
                    <a:cs typeface="Times New Roman" panose="02020603050405020304" pitchFamily="18" charset="0"/>
                  </a:rPr>
                  <a:t>Z-value: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𝑙𝑐𝑝</m:t>
                    </m:r>
                    <m:d>
                      <m:d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TW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:</m:t>
                            </m:r>
                          </m:e>
                        </m:d>
                      </m:e>
                    </m:d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altLang="zh-TW" sz="2400" b="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Z-values can be computed sequentially</a:t>
                </a:r>
                <a:endParaRPr lang="zh-TW" altLang="en-US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05F435D-E3F6-49EB-B37B-91F8BBBBC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2" y="3429000"/>
                <a:ext cx="7180096" cy="1176412"/>
              </a:xfrm>
              <a:prstGeom prst="rect">
                <a:avLst/>
              </a:prstGeom>
              <a:blipFill>
                <a:blip r:embed="rId6"/>
                <a:stretch>
                  <a:fillRect l="-1188" b="-109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F4AFAED-B69C-47D0-BA22-75A6D4E57675}"/>
                  </a:ext>
                </a:extLst>
              </p:cNvPr>
              <p:cNvSpPr/>
              <p:nvPr/>
            </p:nvSpPr>
            <p:spPr>
              <a:xfrm>
                <a:off x="643935" y="2316360"/>
                <a:ext cx="10279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:]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F4AFAED-B69C-47D0-BA22-75A6D4E576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35" y="2316360"/>
                <a:ext cx="102797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D9B283F-C3A3-4BC6-9AEC-33BD25B077EE}"/>
                  </a:ext>
                </a:extLst>
              </p:cNvPr>
              <p:cNvSpPr/>
              <p:nvPr/>
            </p:nvSpPr>
            <p:spPr>
              <a:xfrm>
                <a:off x="4555136" y="3162867"/>
                <a:ext cx="23737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𝑡h𝑒</m:t>
                          </m:r>
                          <m:r>
                            <a:rPr lang="en-US" altLang="zh-TW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TW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𝑝𝑟𝑒𝑓𝑖𝑥</m:t>
                      </m:r>
                      <m:r>
                        <a:rPr lang="en-US" altLang="zh-TW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altLang="zh-TW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zh-TW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D9B283F-C3A3-4BC6-9AEC-33BD25B07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136" y="3162867"/>
                <a:ext cx="2373727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51D9863E-2D10-4301-895E-20B0CD705E05}"/>
              </a:ext>
            </a:extLst>
          </p:cNvPr>
          <p:cNvCxnSpPr>
            <a:cxnSpLocks/>
          </p:cNvCxnSpPr>
          <p:nvPr/>
        </p:nvCxnSpPr>
        <p:spPr>
          <a:xfrm flipV="1">
            <a:off x="4406953" y="3465479"/>
            <a:ext cx="296366" cy="182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27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A7D50-F4FF-4D8A-9F3F-23C76210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AC58641-5927-44F0-B46A-15F92DC1397D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 algorithm (2/2)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3C2D84D-9606-4124-9B82-3ECDFF2EBBAA}"/>
                  </a:ext>
                </a:extLst>
              </p:cNvPr>
              <p:cNvSpPr/>
              <p:nvPr/>
            </p:nvSpPr>
            <p:spPr>
              <a:xfrm>
                <a:off x="402232" y="3209026"/>
                <a:ext cx="8338188" cy="1793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+1: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$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$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endParaRPr lang="en-US" altLang="zh-TW" sz="2400" b="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∵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𝑙𝑐𝑝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𝑙𝑐𝑝</m:t>
                    </m:r>
                    <m:r>
                      <a:rPr lang="en-US" altLang="zh-TW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3C2D84D-9606-4124-9B82-3ECDFF2EB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2" y="3209026"/>
                <a:ext cx="8338188" cy="1793696"/>
              </a:xfrm>
              <a:prstGeom prst="rect">
                <a:avLst/>
              </a:prstGeom>
              <a:blipFill>
                <a:blip r:embed="rId3"/>
                <a:stretch>
                  <a:fillRect l="-1023" b="-37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4" name="表格 33">
                <a:extLst>
                  <a:ext uri="{FF2B5EF4-FFF2-40B4-BE49-F238E27FC236}">
                    <a16:creationId xmlns:a16="http://schemas.microsoft.com/office/drawing/2014/main" id="{F630FE9A-9BB2-4134-A756-E827D6A344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601776"/>
                  </p:ext>
                </p:extLst>
              </p:nvPr>
            </p:nvGraphicFramePr>
            <p:xfrm>
              <a:off x="5121406" y="5548686"/>
              <a:ext cx="3276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4" name="表格 33">
                <a:extLst>
                  <a:ext uri="{FF2B5EF4-FFF2-40B4-BE49-F238E27FC236}">
                    <a16:creationId xmlns:a16="http://schemas.microsoft.com/office/drawing/2014/main" id="{F630FE9A-9BB2-4134-A756-E827D6A344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601776"/>
                  </p:ext>
                </p:extLst>
              </p:nvPr>
            </p:nvGraphicFramePr>
            <p:xfrm>
              <a:off x="5121406" y="5548686"/>
              <a:ext cx="3276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06" t="-1053" r="-335484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2230" t="-1053" r="-40541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56780" t="-1053" r="-1695" b="-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表格 34">
                <a:extLst>
                  <a:ext uri="{FF2B5EF4-FFF2-40B4-BE49-F238E27FC236}">
                    <a16:creationId xmlns:a16="http://schemas.microsoft.com/office/drawing/2014/main" id="{30523901-2727-4E01-8822-42703470DB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9204054"/>
                  </p:ext>
                </p:extLst>
              </p:nvPr>
            </p:nvGraphicFramePr>
            <p:xfrm>
              <a:off x="5121406" y="4844184"/>
              <a:ext cx="3276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表格 34">
                <a:extLst>
                  <a:ext uri="{FF2B5EF4-FFF2-40B4-BE49-F238E27FC236}">
                    <a16:creationId xmlns:a16="http://schemas.microsoft.com/office/drawing/2014/main" id="{30523901-2727-4E01-8822-42703470DB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9204054"/>
                  </p:ext>
                </p:extLst>
              </p:nvPr>
            </p:nvGraphicFramePr>
            <p:xfrm>
              <a:off x="5121406" y="4844184"/>
              <a:ext cx="3276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806" t="-1053" r="-335484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2230" t="-1053" r="-40541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56780" t="-1053" r="-1695" b="-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D1E599B2-7122-4F7C-95CC-DB06AABB08F8}"/>
              </a:ext>
            </a:extLst>
          </p:cNvPr>
          <p:cNvCxnSpPr>
            <a:cxnSpLocks/>
          </p:cNvCxnSpPr>
          <p:nvPr/>
        </p:nvCxnSpPr>
        <p:spPr>
          <a:xfrm>
            <a:off x="3729519" y="4967879"/>
            <a:ext cx="1258123" cy="503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168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F1B7918-32F1-4F2D-A29C-E76A2D0F0BC0}"/>
                  </a:ext>
                </a:extLst>
              </p:cNvPr>
              <p:cNvSpPr/>
              <p:nvPr/>
            </p:nvSpPr>
            <p:spPr>
              <a:xfrm>
                <a:off x="4127683" y="963016"/>
                <a:ext cx="197703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F1B7918-32F1-4F2D-A29C-E76A2D0F0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683" y="963016"/>
                <a:ext cx="1977035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A7D50-F4FF-4D8A-9F3F-23C76210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AC58641-5927-44F0-B46A-15F92DC1397D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 algorithm (2/2)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3C2D84D-9606-4124-9B82-3ECDFF2EBBAA}"/>
                  </a:ext>
                </a:extLst>
              </p:cNvPr>
              <p:cNvSpPr/>
              <p:nvPr/>
            </p:nvSpPr>
            <p:spPr>
              <a:xfrm>
                <a:off x="402232" y="3209026"/>
                <a:ext cx="8338188" cy="1793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+1: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$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sz="24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$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endParaRPr lang="en-US" altLang="zh-TW" sz="2400" b="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∵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𝑙𝑐𝑝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𝑙𝑐𝑝</m:t>
                    </m:r>
                    <m:r>
                      <a:rPr lang="en-US" altLang="zh-TW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3C2D84D-9606-4124-9B82-3ECDFF2EB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2" y="3209026"/>
                <a:ext cx="8338188" cy="1793696"/>
              </a:xfrm>
              <a:prstGeom prst="rect">
                <a:avLst/>
              </a:prstGeom>
              <a:blipFill>
                <a:blip r:embed="rId4"/>
                <a:stretch>
                  <a:fillRect l="-1023" b="-37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9F0558C-7C9E-48A9-9634-3F01529022EF}"/>
                  </a:ext>
                </a:extLst>
              </p:cNvPr>
              <p:cNvSpPr/>
              <p:nvPr/>
            </p:nvSpPr>
            <p:spPr>
              <a:xfrm>
                <a:off x="491488" y="5307230"/>
                <a:ext cx="279624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d>
                      </m:e>
                    </m:d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9F0558C-7C9E-48A9-9634-3F0152902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88" y="5307230"/>
                <a:ext cx="2796242" cy="461665"/>
              </a:xfrm>
              <a:prstGeom prst="rect">
                <a:avLst/>
              </a:prstGeom>
              <a:blipFill>
                <a:blip r:embed="rId5"/>
                <a:stretch>
                  <a:fillRect l="-349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260F367-07AB-4167-84C2-D81CB16B1227}"/>
                  </a:ext>
                </a:extLst>
              </p:cNvPr>
              <p:cNvSpPr/>
              <p:nvPr/>
            </p:nvSpPr>
            <p:spPr>
              <a:xfrm>
                <a:off x="491488" y="5753229"/>
                <a:ext cx="371064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260F367-07AB-4167-84C2-D81CB16B1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88" y="5753229"/>
                <a:ext cx="3710642" cy="461665"/>
              </a:xfrm>
              <a:prstGeom prst="rect">
                <a:avLst/>
              </a:prstGeom>
              <a:blipFill>
                <a:blip r:embed="rId6"/>
                <a:stretch>
                  <a:fillRect l="-2632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B8E172A-FB6A-417A-8BF5-267A0F3AB368}"/>
                  </a:ext>
                </a:extLst>
              </p:cNvPr>
              <p:cNvSpPr/>
              <p:nvPr/>
            </p:nvSpPr>
            <p:spPr>
              <a:xfrm>
                <a:off x="914169" y="1750067"/>
                <a:ext cx="4875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B8E172A-FB6A-417A-8BF5-267A0F3AB3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69" y="1750067"/>
                <a:ext cx="48750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DD77A4A4-DDAA-4D37-A3DD-DFB3C3C481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8649890"/>
                  </p:ext>
                </p:extLst>
              </p:nvPr>
            </p:nvGraphicFramePr>
            <p:xfrm>
              <a:off x="3393406" y="1725763"/>
              <a:ext cx="5004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2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DD77A4A4-DDAA-4D37-A3DD-DFB3C3C481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8649890"/>
                  </p:ext>
                </p:extLst>
              </p:nvPr>
            </p:nvGraphicFramePr>
            <p:xfrm>
              <a:off x="3393406" y="1725763"/>
              <a:ext cx="5004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2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124" t="-10638" r="-825843" b="-20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98864" t="-10638" r="-338636" b="-20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296067" t="-10638" r="-67416" b="-20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597458" t="-10638" r="-1695" b="-202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" name="表格 28">
                <a:extLst>
                  <a:ext uri="{FF2B5EF4-FFF2-40B4-BE49-F238E27FC236}">
                    <a16:creationId xmlns:a16="http://schemas.microsoft.com/office/drawing/2014/main" id="{BBD01FE5-0988-4AF3-8FDD-D6DDAC2705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9126528"/>
                  </p:ext>
                </p:extLst>
              </p:nvPr>
            </p:nvGraphicFramePr>
            <p:xfrm>
              <a:off x="6067530" y="2527723"/>
              <a:ext cx="234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" name="表格 28">
                <a:extLst>
                  <a:ext uri="{FF2B5EF4-FFF2-40B4-BE49-F238E27FC236}">
                    <a16:creationId xmlns:a16="http://schemas.microsoft.com/office/drawing/2014/main" id="{BBD01FE5-0988-4AF3-8FDD-D6DDAC2705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9126528"/>
                  </p:ext>
                </p:extLst>
              </p:nvPr>
            </p:nvGraphicFramePr>
            <p:xfrm>
              <a:off x="6067530" y="2527723"/>
              <a:ext cx="2340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124" t="-1053" r="-334831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50562" t="-1053" r="-67416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227119" t="-1053" r="-1695" b="-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7A6F0B2-1125-4AFD-BC60-5020C4932581}"/>
                  </a:ext>
                </a:extLst>
              </p:cNvPr>
              <p:cNvSpPr/>
              <p:nvPr/>
            </p:nvSpPr>
            <p:spPr>
              <a:xfrm>
                <a:off x="643935" y="2552027"/>
                <a:ext cx="10279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:]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7A6F0B2-1125-4AFD-BC60-5020C49325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35" y="2552027"/>
                <a:ext cx="102797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3E594A4-BA22-4DA5-84EC-9E88AE7C9884}"/>
                  </a:ext>
                </a:extLst>
              </p:cNvPr>
              <p:cNvSpPr/>
              <p:nvPr/>
            </p:nvSpPr>
            <p:spPr>
              <a:xfrm>
                <a:off x="915464" y="1750067"/>
                <a:ext cx="506164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3E594A4-BA22-4DA5-84EC-9E88AE7C98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64" y="1750067"/>
                <a:ext cx="50616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" name="表格 31">
                <a:extLst>
                  <a:ext uri="{FF2B5EF4-FFF2-40B4-BE49-F238E27FC236}">
                    <a16:creationId xmlns:a16="http://schemas.microsoft.com/office/drawing/2014/main" id="{09C69417-FAD6-41F9-B53D-EB3E6BFF17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8091478"/>
                  </p:ext>
                </p:extLst>
              </p:nvPr>
            </p:nvGraphicFramePr>
            <p:xfrm>
              <a:off x="3393406" y="1725191"/>
              <a:ext cx="5004000" cy="572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34900182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022024957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79296484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2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2" name="表格 31">
                <a:extLst>
                  <a:ext uri="{FF2B5EF4-FFF2-40B4-BE49-F238E27FC236}">
                    <a16:creationId xmlns:a16="http://schemas.microsoft.com/office/drawing/2014/main" id="{09C69417-FAD6-41F9-B53D-EB3E6BFF17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8091478"/>
                  </p:ext>
                </p:extLst>
              </p:nvPr>
            </p:nvGraphicFramePr>
            <p:xfrm>
              <a:off x="3393406" y="1725191"/>
              <a:ext cx="5004000" cy="5724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34900182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022024957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79296484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24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847" t="-10638" r="-598305" b="-20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213483" t="-10638" r="-613483" b="-20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313483" t="-10638" r="-513483" b="-20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518310" t="-10638" r="-543662" b="-20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498864" t="-10638" r="-338636" b="-20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597458" t="-10638" r="-1695" b="-202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049EE34-96C4-4BB7-8C9D-888155120446}"/>
                  </a:ext>
                </a:extLst>
              </p:cNvPr>
              <p:cNvSpPr/>
              <p:nvPr/>
            </p:nvSpPr>
            <p:spPr>
              <a:xfrm>
                <a:off x="491488" y="1054608"/>
                <a:ext cx="971100" cy="4914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zh-TW" altLang="en-US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049EE34-96C4-4BB7-8C9D-8881551204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88" y="1054608"/>
                <a:ext cx="971100" cy="491417"/>
              </a:xfrm>
              <a:prstGeom prst="rect">
                <a:avLst/>
              </a:prstGeom>
              <a:blipFill>
                <a:blip r:embed="rId13"/>
                <a:stretch>
                  <a:fillRect b="-843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68617AE-3808-47D7-B006-B31617FD861A}"/>
                  </a:ext>
                </a:extLst>
              </p:cNvPr>
              <p:cNvSpPr/>
              <p:nvPr/>
            </p:nvSpPr>
            <p:spPr>
              <a:xfrm>
                <a:off x="495609" y="1048773"/>
                <a:ext cx="1932388" cy="49725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TW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altLang="zh-TW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TW" altLang="en-US" sz="24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68617AE-3808-47D7-B006-B31617FD86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9" y="1048773"/>
                <a:ext cx="1932388" cy="497252"/>
              </a:xfrm>
              <a:prstGeom prst="rect">
                <a:avLst/>
              </a:prstGeom>
              <a:blipFill>
                <a:blip r:embed="rId14"/>
                <a:stretch>
                  <a:fillRect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4" name="表格 33">
                <a:extLst>
                  <a:ext uri="{FF2B5EF4-FFF2-40B4-BE49-F238E27FC236}">
                    <a16:creationId xmlns:a16="http://schemas.microsoft.com/office/drawing/2014/main" id="{F630FE9A-9BB2-4134-A756-E827D6A344AF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5121406" y="5548686"/>
              <a:ext cx="3276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4" name="表格 33">
                <a:extLst>
                  <a:ext uri="{FF2B5EF4-FFF2-40B4-BE49-F238E27FC236}">
                    <a16:creationId xmlns:a16="http://schemas.microsoft.com/office/drawing/2014/main" id="{F630FE9A-9BB2-4134-A756-E827D6A344AF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5121406" y="5548686"/>
              <a:ext cx="3276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806" t="-1053" r="-335484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42230" t="-1053" r="-40541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356780" t="-1053" r="-1695" b="-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表格 34">
                <a:extLst>
                  <a:ext uri="{FF2B5EF4-FFF2-40B4-BE49-F238E27FC236}">
                    <a16:creationId xmlns:a16="http://schemas.microsoft.com/office/drawing/2014/main" id="{30523901-2727-4E01-8822-42703470DBFB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5121406" y="4844184"/>
              <a:ext cx="3276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表格 34">
                <a:extLst>
                  <a:ext uri="{FF2B5EF4-FFF2-40B4-BE49-F238E27FC236}">
                    <a16:creationId xmlns:a16="http://schemas.microsoft.com/office/drawing/2014/main" id="{30523901-2727-4E01-8822-42703470DBFB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5121406" y="4844184"/>
              <a:ext cx="3276000" cy="5718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806" t="-1053" r="-335484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42230" t="-1053" r="-40541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356780" t="-1053" r="-1695" b="-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10884F2-0BF9-4E2B-A634-8B3609D4967F}"/>
                  </a:ext>
                </a:extLst>
              </p:cNvPr>
              <p:cNvSpPr/>
              <p:nvPr/>
            </p:nvSpPr>
            <p:spPr>
              <a:xfrm>
                <a:off x="4127683" y="1014286"/>
                <a:ext cx="197703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zh-TW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+(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zh-TW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10884F2-0BF9-4E2B-A634-8B3609D49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683" y="1014286"/>
                <a:ext cx="1977035" cy="461665"/>
              </a:xfrm>
              <a:prstGeom prst="rect">
                <a:avLst/>
              </a:prstGeom>
              <a:blipFill>
                <a:blip r:embed="rId1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左大括弧 7">
            <a:extLst>
              <a:ext uri="{FF2B5EF4-FFF2-40B4-BE49-F238E27FC236}">
                <a16:creationId xmlns:a16="http://schemas.microsoft.com/office/drawing/2014/main" id="{5553C755-F4E2-4832-A950-2BFE8F492C95}"/>
              </a:ext>
            </a:extLst>
          </p:cNvPr>
          <p:cNvSpPr/>
          <p:nvPr/>
        </p:nvSpPr>
        <p:spPr>
          <a:xfrm rot="5400000">
            <a:off x="4906016" y="-33128"/>
            <a:ext cx="163253" cy="3188474"/>
          </a:xfrm>
          <a:custGeom>
            <a:avLst/>
            <a:gdLst>
              <a:gd name="connsiteX0" fmla="*/ 313179 w 313179"/>
              <a:gd name="connsiteY0" fmla="*/ 1143656 h 1143656"/>
              <a:gd name="connsiteX1" fmla="*/ 156589 w 313179"/>
              <a:gd name="connsiteY1" fmla="*/ 1143653 h 1143656"/>
              <a:gd name="connsiteX2" fmla="*/ 156590 w 313179"/>
              <a:gd name="connsiteY2" fmla="*/ 571831 h 1143656"/>
              <a:gd name="connsiteX3" fmla="*/ 0 w 313179"/>
              <a:gd name="connsiteY3" fmla="*/ 571828 h 1143656"/>
              <a:gd name="connsiteX4" fmla="*/ 156590 w 313179"/>
              <a:gd name="connsiteY4" fmla="*/ 571825 h 1143656"/>
              <a:gd name="connsiteX5" fmla="*/ 156590 w 313179"/>
              <a:gd name="connsiteY5" fmla="*/ 3 h 1143656"/>
              <a:gd name="connsiteX6" fmla="*/ 313180 w 313179"/>
              <a:gd name="connsiteY6" fmla="*/ 0 h 1143656"/>
              <a:gd name="connsiteX7" fmla="*/ 313179 w 313179"/>
              <a:gd name="connsiteY7" fmla="*/ 1143656 h 1143656"/>
              <a:gd name="connsiteX0" fmla="*/ 313179 w 313179"/>
              <a:gd name="connsiteY0" fmla="*/ 1143656 h 1143656"/>
              <a:gd name="connsiteX1" fmla="*/ 156589 w 313179"/>
              <a:gd name="connsiteY1" fmla="*/ 1143653 h 1143656"/>
              <a:gd name="connsiteX2" fmla="*/ 156590 w 313179"/>
              <a:gd name="connsiteY2" fmla="*/ 571831 h 1143656"/>
              <a:gd name="connsiteX3" fmla="*/ 0 w 313179"/>
              <a:gd name="connsiteY3" fmla="*/ 571828 h 1143656"/>
              <a:gd name="connsiteX4" fmla="*/ 156590 w 313179"/>
              <a:gd name="connsiteY4" fmla="*/ 571825 h 1143656"/>
              <a:gd name="connsiteX5" fmla="*/ 156590 w 313179"/>
              <a:gd name="connsiteY5" fmla="*/ 3 h 1143656"/>
              <a:gd name="connsiteX6" fmla="*/ 313180 w 313179"/>
              <a:gd name="connsiteY6" fmla="*/ 0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7" fmla="*/ 313179 w 313180"/>
              <a:gd name="connsiteY7" fmla="*/ 1143656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0 w 313180"/>
              <a:gd name="connsiteY3" fmla="*/ 571828 h 1143656"/>
              <a:gd name="connsiteX4" fmla="*/ 156590 w 313180"/>
              <a:gd name="connsiteY4" fmla="*/ 571825 h 1143656"/>
              <a:gd name="connsiteX5" fmla="*/ 156590 w 313180"/>
              <a:gd name="connsiteY5" fmla="*/ 3 h 1143656"/>
              <a:gd name="connsiteX6" fmla="*/ 313180 w 313180"/>
              <a:gd name="connsiteY6" fmla="*/ 0 h 1143656"/>
              <a:gd name="connsiteX7" fmla="*/ 313179 w 313180"/>
              <a:gd name="connsiteY7" fmla="*/ 1143656 h 1143656"/>
              <a:gd name="connsiteX0" fmla="*/ 313179 w 313180"/>
              <a:gd name="connsiteY0" fmla="*/ 1143656 h 1143656"/>
              <a:gd name="connsiteX1" fmla="*/ 156589 w 313180"/>
              <a:gd name="connsiteY1" fmla="*/ 1143653 h 1143656"/>
              <a:gd name="connsiteX2" fmla="*/ 156590 w 313180"/>
              <a:gd name="connsiteY2" fmla="*/ 571831 h 1143656"/>
              <a:gd name="connsiteX3" fmla="*/ 156590 w 313180"/>
              <a:gd name="connsiteY3" fmla="*/ 571825 h 1143656"/>
              <a:gd name="connsiteX4" fmla="*/ 156590 w 313180"/>
              <a:gd name="connsiteY4" fmla="*/ 3 h 1143656"/>
              <a:gd name="connsiteX5" fmla="*/ 313180 w 313180"/>
              <a:gd name="connsiteY5" fmla="*/ 0 h 114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80" h="1143656" stroke="0" extrusionOk="0">
                <a:moveTo>
                  <a:pt x="313179" y="1143656"/>
                </a:moveTo>
                <a:lnTo>
                  <a:pt x="156589" y="1143653"/>
                </a:lnTo>
                <a:cubicBezTo>
                  <a:pt x="156589" y="953046"/>
                  <a:pt x="156590" y="762438"/>
                  <a:pt x="156590" y="571831"/>
                </a:cubicBezTo>
                <a:cubicBezTo>
                  <a:pt x="156590" y="571829"/>
                  <a:pt x="86482" y="571828"/>
                  <a:pt x="0" y="571828"/>
                </a:cubicBezTo>
                <a:lnTo>
                  <a:pt x="156590" y="571825"/>
                </a:lnTo>
                <a:lnTo>
                  <a:pt x="156590" y="3"/>
                </a:lnTo>
                <a:cubicBezTo>
                  <a:pt x="156590" y="1"/>
                  <a:pt x="226698" y="0"/>
                  <a:pt x="313180" y="0"/>
                </a:cubicBezTo>
                <a:cubicBezTo>
                  <a:pt x="313180" y="381219"/>
                  <a:pt x="313179" y="762437"/>
                  <a:pt x="313179" y="1143656"/>
                </a:cubicBezTo>
                <a:close/>
              </a:path>
              <a:path w="313180" h="1143656" fill="none">
                <a:moveTo>
                  <a:pt x="313179" y="1143656"/>
                </a:moveTo>
                <a:lnTo>
                  <a:pt x="156589" y="1143653"/>
                </a:lnTo>
                <a:cubicBezTo>
                  <a:pt x="156589" y="953046"/>
                  <a:pt x="156590" y="667136"/>
                  <a:pt x="156590" y="571831"/>
                </a:cubicBezTo>
                <a:lnTo>
                  <a:pt x="156590" y="571825"/>
                </a:lnTo>
                <a:lnTo>
                  <a:pt x="156590" y="3"/>
                </a:lnTo>
                <a:cubicBezTo>
                  <a:pt x="156590" y="1"/>
                  <a:pt x="226698" y="0"/>
                  <a:pt x="313180" y="0"/>
                </a:cubicBezTo>
              </a:path>
            </a:pathLst>
          </a:cu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1D80235-DF74-46E0-9A11-64EFB35A101A}"/>
                  </a:ext>
                </a:extLst>
              </p:cNvPr>
              <p:cNvSpPr/>
              <p:nvPr/>
            </p:nvSpPr>
            <p:spPr>
              <a:xfrm>
                <a:off x="178309" y="2551809"/>
                <a:ext cx="2749471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zh-TW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+(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zh-TW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TW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:]</m:t>
                      </m:r>
                    </m:oMath>
                  </m:oMathPara>
                </a14:m>
                <a:endParaRPr lang="zh-TW" alt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1D80235-DF74-46E0-9A11-64EFB35A10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09" y="2551809"/>
                <a:ext cx="2749471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D1E599B2-7122-4F7C-95CC-DB06AABB08F8}"/>
              </a:ext>
            </a:extLst>
          </p:cNvPr>
          <p:cNvCxnSpPr>
            <a:cxnSpLocks/>
          </p:cNvCxnSpPr>
          <p:nvPr/>
        </p:nvCxnSpPr>
        <p:spPr>
          <a:xfrm>
            <a:off x="3729519" y="4967879"/>
            <a:ext cx="1258123" cy="503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12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31" grpId="0" animBg="1"/>
      <p:bldP spid="33" grpId="0" animBg="1"/>
      <p:bldP spid="36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A7D50-F4FF-4D8A-9F3F-23C76210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AC58641-5927-44F0-B46A-15F92DC1397D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algorithm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619F4F3-9E1C-4DDF-8BD0-5909B11EFB51}"/>
                  </a:ext>
                </a:extLst>
              </p:cNvPr>
              <p:cNvSpPr/>
              <p:nvPr/>
            </p:nvSpPr>
            <p:spPr>
              <a:xfrm>
                <a:off x="402232" y="2422564"/>
                <a:ext cx="4715917" cy="5795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 suffix 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[: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−1]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619F4F3-9E1C-4DDF-8BD0-5909B11EFB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2" y="2422564"/>
                <a:ext cx="4715917" cy="579518"/>
              </a:xfrm>
              <a:prstGeom prst="rect">
                <a:avLst/>
              </a:prstGeom>
              <a:blipFill>
                <a:blip r:embed="rId3"/>
                <a:stretch>
                  <a:fillRect l="-1809" b="-24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C6E58E3-287E-4F21-A8FA-24AB82196503}"/>
                  </a:ext>
                </a:extLst>
              </p:cNvPr>
              <p:cNvSpPr/>
              <p:nvPr/>
            </p:nvSpPr>
            <p:spPr>
              <a:xfrm>
                <a:off x="402232" y="3053983"/>
                <a:ext cx="77657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a pre-occurrence of a substring of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[: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−1]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maximum length at every position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≤|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C6E58E3-287E-4F21-A8FA-24AB821965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2" y="3053983"/>
                <a:ext cx="7765723" cy="830997"/>
              </a:xfrm>
              <a:prstGeom prst="rect">
                <a:avLst/>
              </a:prstGeom>
              <a:blipFill>
                <a:blip r:embed="rId4"/>
                <a:stretch>
                  <a:fillRect l="-1099" t="-5882" r="-1884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群組 85">
            <a:extLst>
              <a:ext uri="{FF2B5EF4-FFF2-40B4-BE49-F238E27FC236}">
                <a16:creationId xmlns:a16="http://schemas.microsoft.com/office/drawing/2014/main" id="{122F782F-F5D2-4346-80C0-72A90D61F286}"/>
              </a:ext>
            </a:extLst>
          </p:cNvPr>
          <p:cNvGrpSpPr/>
          <p:nvPr/>
        </p:nvGrpSpPr>
        <p:grpSpPr>
          <a:xfrm>
            <a:off x="4900027" y="799370"/>
            <a:ext cx="3675138" cy="1372014"/>
            <a:chOff x="1817787" y="3858296"/>
            <a:chExt cx="3675138" cy="1372014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AEF85B8-D1B8-4DB7-BE81-6C07F03EE7EB}"/>
                </a:ext>
              </a:extLst>
            </p:cNvPr>
            <p:cNvSpPr/>
            <p:nvPr/>
          </p:nvSpPr>
          <p:spPr>
            <a:xfrm>
              <a:off x="2694473" y="4098349"/>
              <a:ext cx="280631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69092410-E8F5-48D3-8FD6-12C31160E2C8}"/>
                </a:ext>
              </a:extLst>
            </p:cNvPr>
            <p:cNvSpPr/>
            <p:nvPr/>
          </p:nvSpPr>
          <p:spPr>
            <a:xfrm>
              <a:off x="3557373" y="3858296"/>
              <a:ext cx="257175" cy="257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2106654B-556D-4818-8F0F-F63AE5D68AAA}"/>
                </a:ext>
              </a:extLst>
            </p:cNvPr>
            <p:cNvSpPr/>
            <p:nvPr/>
          </p:nvSpPr>
          <p:spPr>
            <a:xfrm>
              <a:off x="4491386" y="4364189"/>
              <a:ext cx="260074" cy="26007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63FB7035-5CF7-4D6D-BC42-158453A4CEC0}"/>
                </a:ext>
              </a:extLst>
            </p:cNvPr>
            <p:cNvSpPr/>
            <p:nvPr/>
          </p:nvSpPr>
          <p:spPr>
            <a:xfrm>
              <a:off x="2623360" y="4364189"/>
              <a:ext cx="260073" cy="260074"/>
            </a:xfrm>
            <a:prstGeom prst="ellipse">
              <a:avLst/>
            </a:prstGeom>
            <a:solidFill>
              <a:sysClr val="window" lastClr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562DCBE7-0A94-4ED8-BB50-4FC1763CDAF1}"/>
                </a:ext>
              </a:extLst>
            </p:cNvPr>
            <p:cNvSpPr/>
            <p:nvPr/>
          </p:nvSpPr>
          <p:spPr>
            <a:xfrm>
              <a:off x="4211343" y="4098349"/>
              <a:ext cx="475007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TC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ACF34526-A86D-4F1E-A54E-1DBC84DE70EB}"/>
                </a:ext>
              </a:extLst>
            </p:cNvPr>
            <p:cNvSpPr/>
            <p:nvPr/>
          </p:nvSpPr>
          <p:spPr>
            <a:xfrm>
              <a:off x="2623359" y="4970236"/>
              <a:ext cx="260073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A87BAD6-9F94-45ED-9E28-91B908D4E7EC}"/>
                </a:ext>
              </a:extLst>
            </p:cNvPr>
            <p:cNvSpPr/>
            <p:nvPr/>
          </p:nvSpPr>
          <p:spPr>
            <a:xfrm>
              <a:off x="2569497" y="4672243"/>
              <a:ext cx="205674" cy="260041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4F26D470-522B-4C93-B398-11E7AC3F3C4B}"/>
                </a:ext>
              </a:extLst>
            </p:cNvPr>
            <p:cNvSpPr/>
            <p:nvPr/>
          </p:nvSpPr>
          <p:spPr>
            <a:xfrm>
              <a:off x="4956104" y="4970236"/>
              <a:ext cx="260074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8E25CEAD-154A-4899-9678-9E36CFBA917A}"/>
                </a:ext>
              </a:extLst>
            </p:cNvPr>
            <p:cNvSpPr/>
            <p:nvPr/>
          </p:nvSpPr>
          <p:spPr>
            <a:xfrm>
              <a:off x="4913143" y="4672780"/>
              <a:ext cx="579782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CTC$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BABB5334-9844-4488-ADF7-F14962ECDA7F}"/>
                </a:ext>
              </a:extLst>
            </p:cNvPr>
            <p:cNvSpPr/>
            <p:nvPr/>
          </p:nvSpPr>
          <p:spPr>
            <a:xfrm>
              <a:off x="4108581" y="4970236"/>
              <a:ext cx="260073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A93D32F-AB25-44F3-92E8-7EC20C325530}"/>
                </a:ext>
              </a:extLst>
            </p:cNvPr>
            <p:cNvSpPr/>
            <p:nvPr/>
          </p:nvSpPr>
          <p:spPr>
            <a:xfrm>
              <a:off x="4108581" y="4669344"/>
              <a:ext cx="280631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  <a:endParaRPr lang="zh-TW" altLang="en-US" sz="1200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F3C52E02-B4E0-4930-A629-5298339139C5}"/>
                </a:ext>
              </a:extLst>
            </p:cNvPr>
            <p:cNvSpPr/>
            <p:nvPr/>
          </p:nvSpPr>
          <p:spPr>
            <a:xfrm>
              <a:off x="3164722" y="4970236"/>
              <a:ext cx="260074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64C98124-E94D-4D9E-B0EF-3282B3EBB979}"/>
                </a:ext>
              </a:extLst>
            </p:cNvPr>
            <p:cNvSpPr/>
            <p:nvPr/>
          </p:nvSpPr>
          <p:spPr>
            <a:xfrm>
              <a:off x="3067143" y="4672537"/>
              <a:ext cx="475007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TC$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DDA6A05D-8567-4CE3-B210-0DE59FA66C3A}"/>
                </a:ext>
              </a:extLst>
            </p:cNvPr>
            <p:cNvSpPr/>
            <p:nvPr/>
          </p:nvSpPr>
          <p:spPr>
            <a:xfrm>
              <a:off x="2035909" y="4970236"/>
              <a:ext cx="260074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2341F04F-E1D1-4985-BD0B-2D14A559053E}"/>
                </a:ext>
              </a:extLst>
            </p:cNvPr>
            <p:cNvSpPr/>
            <p:nvPr/>
          </p:nvSpPr>
          <p:spPr>
            <a:xfrm>
              <a:off x="3557373" y="4366881"/>
              <a:ext cx="260073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CF8E81DF-F7B8-43D5-8174-4A809A7A19C6}"/>
                </a:ext>
              </a:extLst>
            </p:cNvPr>
            <p:cNvSpPr/>
            <p:nvPr/>
          </p:nvSpPr>
          <p:spPr>
            <a:xfrm>
              <a:off x="3396691" y="4103344"/>
              <a:ext cx="280631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75D978BF-827B-4F34-8492-03B47E2826B3}"/>
                </a:ext>
              </a:extLst>
            </p:cNvPr>
            <p:cNvSpPr/>
            <p:nvPr/>
          </p:nvSpPr>
          <p:spPr>
            <a:xfrm>
              <a:off x="1817787" y="4672243"/>
              <a:ext cx="605724" cy="260041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CTC$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直線接點 63">
              <a:extLst>
                <a:ext uri="{FF2B5EF4-FFF2-40B4-BE49-F238E27FC236}">
                  <a16:creationId xmlns:a16="http://schemas.microsoft.com/office/drawing/2014/main" id="{DA722C40-83BE-439B-8E2E-7B11A8B2AF16}"/>
                </a:ext>
              </a:extLst>
            </p:cNvPr>
            <p:cNvCxnSpPr>
              <a:cxnSpLocks/>
              <a:stCxn id="47" idx="4"/>
              <a:endCxn id="60" idx="0"/>
            </p:cNvCxnSpPr>
            <p:nvPr/>
          </p:nvCxnSpPr>
          <p:spPr>
            <a:xfrm>
              <a:off x="3685961" y="4115471"/>
              <a:ext cx="1449" cy="2514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2308D7E6-AB5B-4C49-8A6E-8F942E7F2CE7}"/>
                </a:ext>
              </a:extLst>
            </p:cNvPr>
            <p:cNvCxnSpPr>
              <a:cxnSpLocks/>
              <a:stCxn id="47" idx="5"/>
              <a:endCxn id="48" idx="1"/>
            </p:cNvCxnSpPr>
            <p:nvPr/>
          </p:nvCxnSpPr>
          <p:spPr>
            <a:xfrm>
              <a:off x="3776886" y="4077809"/>
              <a:ext cx="752587" cy="3244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36FCAE93-6462-4FDA-8579-F910CE7B0D5E}"/>
                </a:ext>
              </a:extLst>
            </p:cNvPr>
            <p:cNvCxnSpPr>
              <a:cxnSpLocks/>
              <a:stCxn id="47" idx="3"/>
              <a:endCxn id="49" idx="7"/>
            </p:cNvCxnSpPr>
            <p:nvPr/>
          </p:nvCxnSpPr>
          <p:spPr>
            <a:xfrm flipH="1">
              <a:off x="2845346" y="4077809"/>
              <a:ext cx="749689" cy="3244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>
              <a:extLst>
                <a:ext uri="{FF2B5EF4-FFF2-40B4-BE49-F238E27FC236}">
                  <a16:creationId xmlns:a16="http://schemas.microsoft.com/office/drawing/2014/main" id="{86CFF6FC-B576-461E-B5B5-A875760F361F}"/>
                </a:ext>
              </a:extLst>
            </p:cNvPr>
            <p:cNvCxnSpPr>
              <a:cxnSpLocks/>
              <a:stCxn id="48" idx="5"/>
              <a:endCxn id="53" idx="0"/>
            </p:cNvCxnSpPr>
            <p:nvPr/>
          </p:nvCxnSpPr>
          <p:spPr>
            <a:xfrm>
              <a:off x="4713373" y="4586176"/>
              <a:ext cx="372768" cy="3840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>
              <a:extLst>
                <a:ext uri="{FF2B5EF4-FFF2-40B4-BE49-F238E27FC236}">
                  <a16:creationId xmlns:a16="http://schemas.microsoft.com/office/drawing/2014/main" id="{D4B27985-1FA6-4C9A-AFD1-844D19D8D669}"/>
                </a:ext>
              </a:extLst>
            </p:cNvPr>
            <p:cNvCxnSpPr>
              <a:cxnSpLocks/>
              <a:stCxn id="48" idx="3"/>
              <a:endCxn id="55" idx="0"/>
            </p:cNvCxnSpPr>
            <p:nvPr/>
          </p:nvCxnSpPr>
          <p:spPr>
            <a:xfrm flipH="1">
              <a:off x="4238618" y="4586176"/>
              <a:ext cx="290855" cy="3840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6104FE9F-C22A-4949-A83D-0D27B87F8767}"/>
                </a:ext>
              </a:extLst>
            </p:cNvPr>
            <p:cNvCxnSpPr>
              <a:cxnSpLocks/>
              <a:stCxn id="49" idx="4"/>
              <a:endCxn id="57" idx="0"/>
            </p:cNvCxnSpPr>
            <p:nvPr/>
          </p:nvCxnSpPr>
          <p:spPr>
            <a:xfrm>
              <a:off x="2753397" y="4624263"/>
              <a:ext cx="541362" cy="3459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93551DAD-D24A-439F-B8F0-44D3892BBEAE}"/>
                </a:ext>
              </a:extLst>
            </p:cNvPr>
            <p:cNvCxnSpPr>
              <a:cxnSpLocks/>
              <a:stCxn id="49" idx="4"/>
              <a:endCxn id="51" idx="0"/>
            </p:cNvCxnSpPr>
            <p:nvPr/>
          </p:nvCxnSpPr>
          <p:spPr>
            <a:xfrm flipH="1">
              <a:off x="2753396" y="4624263"/>
              <a:ext cx="1" cy="3459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>
              <a:extLst>
                <a:ext uri="{FF2B5EF4-FFF2-40B4-BE49-F238E27FC236}">
                  <a16:creationId xmlns:a16="http://schemas.microsoft.com/office/drawing/2014/main" id="{B890B099-4582-4A8E-B70A-C7C51816CFD0}"/>
                </a:ext>
              </a:extLst>
            </p:cNvPr>
            <p:cNvCxnSpPr>
              <a:cxnSpLocks/>
              <a:stCxn id="49" idx="4"/>
              <a:endCxn id="59" idx="0"/>
            </p:cNvCxnSpPr>
            <p:nvPr/>
          </p:nvCxnSpPr>
          <p:spPr>
            <a:xfrm flipH="1">
              <a:off x="2165946" y="4624263"/>
              <a:ext cx="587451" cy="3459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矩形 88">
            <a:extLst>
              <a:ext uri="{FF2B5EF4-FFF2-40B4-BE49-F238E27FC236}">
                <a16:creationId xmlns:a16="http://schemas.microsoft.com/office/drawing/2014/main" id="{BBCEA71A-49BC-49A0-A418-3D731EA3A3BD}"/>
              </a:ext>
            </a:extLst>
          </p:cNvPr>
          <p:cNvSpPr/>
          <p:nvPr/>
        </p:nvSpPr>
        <p:spPr>
          <a:xfrm>
            <a:off x="5927586" y="2254611"/>
            <a:ext cx="25836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suffix tree of string: TCCTC</a:t>
            </a:r>
            <a:endParaRPr lang="zh-TW" altLang="en-US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0" name="表格 89">
            <a:extLst>
              <a:ext uri="{FF2B5EF4-FFF2-40B4-BE49-F238E27FC236}">
                <a16:creationId xmlns:a16="http://schemas.microsoft.com/office/drawing/2014/main" id="{198457E2-4433-4F2A-9B5A-B88D2F4D2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984946"/>
              </p:ext>
            </p:extLst>
          </p:nvPr>
        </p:nvGraphicFramePr>
        <p:xfrm>
          <a:off x="455792" y="1321706"/>
          <a:ext cx="3725546" cy="1043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686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38686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38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6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6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6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6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216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6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7D827F46-E7F5-4822-A58E-2B974C1E81FD}"/>
                  </a:ext>
                </a:extLst>
              </p:cNvPr>
              <p:cNvSpPr/>
              <p:nvPr/>
            </p:nvSpPr>
            <p:spPr>
              <a:xfrm>
                <a:off x="455792" y="4022679"/>
                <a:ext cx="7895988" cy="9041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length of </a:t>
                </a:r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longest suffix of S[:i−1]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is also a suffix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 :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equal </a:t>
                </a:r>
                <a:r>
                  <a:rPr lang="pl-PL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l-PL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pl-PL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pl-PL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l-PL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pl-PL" altLang="zh-TW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:</m:t>
                            </m:r>
                            <m:r>
                              <a:rPr lang="pl-PL" altLang="zh-TW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pl-PL" altLang="zh-TW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pl-PL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pl-PL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7D827F46-E7F5-4822-A58E-2B974C1E81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92" y="4022679"/>
                <a:ext cx="7895988" cy="904158"/>
              </a:xfrm>
              <a:prstGeom prst="rect">
                <a:avLst/>
              </a:prstGeom>
              <a:blipFill>
                <a:blip r:embed="rId5"/>
                <a:stretch>
                  <a:fillRect l="-1081" t="-5405" r="-2085" b="-74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272C975E-A94D-439C-83F5-D044B36A4219}"/>
                  </a:ext>
                </a:extLst>
              </p:cNvPr>
              <p:cNvSpPr/>
              <p:nvPr/>
            </p:nvSpPr>
            <p:spPr>
              <a:xfrm>
                <a:off x="455792" y="5257581"/>
                <a:ext cx="784262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Z-values for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:</m:t>
                            </m:r>
                            <m:r>
                              <a:rPr lang="en-US" altLang="zh-TW" sz="2400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altLang="zh-TW" sz="24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(|</m:t>
                    </m:r>
                    <m:r>
                      <a:rPr lang="en-US" altLang="zh-TW" sz="2400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sz="2400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|) </m:t>
                    </m:r>
                  </m:oMath>
                </a14:m>
                <a:r>
                  <a:rPr lang="en-US" altLang="zh-TW" sz="2400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and space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272C975E-A94D-439C-83F5-D044B36A4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92" y="5257581"/>
                <a:ext cx="7842626" cy="461665"/>
              </a:xfrm>
              <a:prstGeom prst="rect">
                <a:avLst/>
              </a:prstGeom>
              <a:blipFill>
                <a:blip r:embed="rId6"/>
                <a:stretch>
                  <a:fillRect l="-1089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0063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A7D50-F4FF-4D8A-9F3F-23C76210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AC58641-5927-44F0-B46A-15F92DC1397D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algorithm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C23780EB-2A53-4C37-8BA5-45674EAC8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452562"/>
            <a:ext cx="8610600" cy="39528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55FBF89-4812-43DA-8C1D-C408D85F5313}"/>
              </a:ext>
            </a:extLst>
          </p:cNvPr>
          <p:cNvSpPr/>
          <p:nvPr/>
        </p:nvSpPr>
        <p:spPr>
          <a:xfrm>
            <a:off x="737859" y="2950605"/>
            <a:ext cx="4049898" cy="19296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635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3A33AA-B14D-42AC-A876-963E8803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B739A5E-A4C2-425F-8270-7C0350328EE4}"/>
                  </a:ext>
                </a:extLst>
              </p:cNvPr>
              <p:cNvSpPr/>
              <p:nvPr/>
            </p:nvSpPr>
            <p:spPr>
              <a:xfrm>
                <a:off x="651600" y="2564774"/>
                <a:ext cx="265457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𝑙𝑐𝑝</m:t>
                      </m:r>
                      <m:d>
                        <m:d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=9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B739A5E-A4C2-425F-8270-7C0350328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00" y="2564774"/>
                <a:ext cx="2654573" cy="400110"/>
              </a:xfrm>
              <a:prstGeom prst="rect">
                <a:avLst/>
              </a:prstGeom>
              <a:blipFill>
                <a:blip r:embed="rId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173391C-5AFF-4779-A54B-7F7D4368FE3F}"/>
                  </a:ext>
                </a:extLst>
              </p:cNvPr>
              <p:cNvSpPr/>
              <p:nvPr/>
            </p:nvSpPr>
            <p:spPr>
              <a:xfrm>
                <a:off x="651600" y="2960537"/>
                <a:ext cx="33321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𝑙𝑐𝑝</m:t>
                      </m:r>
                      <m:d>
                        <m:d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[2:]</m:t>
                          </m:r>
                        </m:e>
                      </m:d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173391C-5AFF-4779-A54B-7F7D4368FE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00" y="2960537"/>
                <a:ext cx="3332131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C6EE399-F09C-4651-BA40-5CB86268B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968297"/>
              </p:ext>
            </p:extLst>
          </p:nvPr>
        </p:nvGraphicFramePr>
        <p:xfrm>
          <a:off x="651600" y="1685011"/>
          <a:ext cx="3920400" cy="571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288785247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56673925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55864557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56108286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4143266358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46808211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99824282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404783721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8516745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39492681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3376091703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TW" altLang="en-US" sz="28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5841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401AEB3E-6E7E-48C4-996F-42669488F6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5723536"/>
                  </p:ext>
                </p:extLst>
              </p:nvPr>
            </p:nvGraphicFramePr>
            <p:xfrm>
              <a:off x="2350574" y="4366557"/>
              <a:ext cx="5400001" cy="5535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461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5732">
                      <a:extLst>
                        <a:ext uri="{9D8B030D-6E8A-4147-A177-3AD203B41FA5}">
                          <a16:colId xmlns:a16="http://schemas.microsoft.com/office/drawing/2014/main" val="334900182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5352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401AEB3E-6E7E-48C4-996F-42669488F6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5723536"/>
                  </p:ext>
                </p:extLst>
              </p:nvPr>
            </p:nvGraphicFramePr>
            <p:xfrm>
              <a:off x="2350574" y="4366557"/>
              <a:ext cx="5400001" cy="5535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461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5732">
                      <a:extLst>
                        <a:ext uri="{9D8B030D-6E8A-4147-A177-3AD203B41FA5}">
                          <a16:colId xmlns:a16="http://schemas.microsoft.com/office/drawing/2014/main" val="334900182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535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06" t="-10870" r="-616935" b="-22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9574" t="-10870" r="-537234" b="-22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32584" t="-10870" r="-467416" b="-22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60135" t="-10870" r="-40541" b="-22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52542" t="-10870" r="-1695" b="-22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BF3B125-25AE-489D-A41B-1140E0B13002}"/>
                  </a:ext>
                </a:extLst>
              </p:cNvPr>
              <p:cNvSpPr/>
              <p:nvPr/>
            </p:nvSpPr>
            <p:spPr>
              <a:xfrm>
                <a:off x="402906" y="5315848"/>
                <a:ext cx="3920400" cy="494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𝑙𝑐𝑝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+1,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24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BF3B125-25AE-489D-A41B-1140E0B130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06" y="5315848"/>
                <a:ext cx="3920400" cy="494815"/>
              </a:xfrm>
              <a:prstGeom prst="rect">
                <a:avLst/>
              </a:prstGeom>
              <a:blipFill>
                <a:blip r:embed="rId5"/>
                <a:stretch>
                  <a:fillRect l="-2022" t="-4938" r="-467" b="-172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64A79DAA-F565-4476-B3CA-DD22849110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4982977"/>
                  </p:ext>
                </p:extLst>
              </p:nvPr>
            </p:nvGraphicFramePr>
            <p:xfrm>
              <a:off x="1368997" y="3586838"/>
              <a:ext cx="6271308" cy="5535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55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5732">
                      <a:extLst>
                        <a:ext uri="{9D8B030D-6E8A-4147-A177-3AD203B41FA5}">
                          <a16:colId xmlns:a16="http://schemas.microsoft.com/office/drawing/2014/main" val="334900182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5352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800" b="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64A79DAA-F565-4476-B3CA-DD22849110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4982977"/>
                  </p:ext>
                </p:extLst>
              </p:nvPr>
            </p:nvGraphicFramePr>
            <p:xfrm>
              <a:off x="1368997" y="3586838"/>
              <a:ext cx="6271308" cy="55352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55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5732">
                      <a:extLst>
                        <a:ext uri="{9D8B030D-6E8A-4147-A177-3AD203B41FA5}">
                          <a16:colId xmlns:a16="http://schemas.microsoft.com/office/drawing/2014/main" val="334900182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535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282" t="-10870" r="-1223077" b="-22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solidFill>
                                <a:srgbClr val="00206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TW" altLang="en-US" sz="2800" dirty="0">
                            <a:solidFill>
                              <a:srgbClr val="00206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61702" t="-10870" r="-537234" b="-22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93258" t="-10870" r="-467416" b="-22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8446" t="-10870" r="-40541" b="-22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773729" t="-10870" r="-1695" b="-22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DE9E13F8-AB68-4003-9C97-596602C86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124165"/>
              </p:ext>
            </p:extLst>
          </p:nvPr>
        </p:nvGraphicFramePr>
        <p:xfrm>
          <a:off x="651600" y="315213"/>
          <a:ext cx="3920400" cy="1143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400">
                  <a:extLst>
                    <a:ext uri="{9D8B030D-6E8A-4147-A177-3AD203B41FA5}">
                      <a16:colId xmlns:a16="http://schemas.microsoft.com/office/drawing/2014/main" val="184194022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135663413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i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F9783442-751C-4CC5-BFFC-9A2843A05743}"/>
              </a:ext>
            </a:extLst>
          </p:cNvPr>
          <p:cNvGrpSpPr/>
          <p:nvPr/>
        </p:nvGrpSpPr>
        <p:grpSpPr>
          <a:xfrm>
            <a:off x="4817262" y="1933497"/>
            <a:ext cx="3675138" cy="1372014"/>
            <a:chOff x="1817787" y="3858296"/>
            <a:chExt cx="3675138" cy="137201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04EF86E-B14E-4D6F-9DF8-90DD0811500B}"/>
                </a:ext>
              </a:extLst>
            </p:cNvPr>
            <p:cNvSpPr/>
            <p:nvPr/>
          </p:nvSpPr>
          <p:spPr>
            <a:xfrm>
              <a:off x="2694473" y="4098349"/>
              <a:ext cx="280631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5AD04361-80F1-439E-A101-C09C4AA03ABF}"/>
                </a:ext>
              </a:extLst>
            </p:cNvPr>
            <p:cNvSpPr/>
            <p:nvPr/>
          </p:nvSpPr>
          <p:spPr>
            <a:xfrm>
              <a:off x="3557373" y="3858296"/>
              <a:ext cx="257175" cy="2571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49849DA4-B1B2-4650-B45C-C788048A66D6}"/>
                </a:ext>
              </a:extLst>
            </p:cNvPr>
            <p:cNvSpPr/>
            <p:nvPr/>
          </p:nvSpPr>
          <p:spPr>
            <a:xfrm>
              <a:off x="4491386" y="4364189"/>
              <a:ext cx="260074" cy="26007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C0831BBD-A8FC-44F9-A273-34EC431D6831}"/>
                </a:ext>
              </a:extLst>
            </p:cNvPr>
            <p:cNvSpPr/>
            <p:nvPr/>
          </p:nvSpPr>
          <p:spPr>
            <a:xfrm>
              <a:off x="2623360" y="4364189"/>
              <a:ext cx="260073" cy="260074"/>
            </a:xfrm>
            <a:prstGeom prst="ellipse">
              <a:avLst/>
            </a:prstGeom>
            <a:solidFill>
              <a:sysClr val="window" lastClr="FF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590642-3C60-4A39-A0B4-C5BCB6CE6106}"/>
                </a:ext>
              </a:extLst>
            </p:cNvPr>
            <p:cNvSpPr/>
            <p:nvPr/>
          </p:nvSpPr>
          <p:spPr>
            <a:xfrm>
              <a:off x="4211343" y="4098349"/>
              <a:ext cx="475007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TC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AD5B5BA1-0DB6-4476-83B5-3DCF55A4C424}"/>
                </a:ext>
              </a:extLst>
            </p:cNvPr>
            <p:cNvSpPr/>
            <p:nvPr/>
          </p:nvSpPr>
          <p:spPr>
            <a:xfrm>
              <a:off x="2623359" y="4970236"/>
              <a:ext cx="260073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5F32487-0DDC-41F8-8C4D-8ECF6524CBBB}"/>
                </a:ext>
              </a:extLst>
            </p:cNvPr>
            <p:cNvSpPr/>
            <p:nvPr/>
          </p:nvSpPr>
          <p:spPr>
            <a:xfrm>
              <a:off x="2569497" y="4672243"/>
              <a:ext cx="205674" cy="260041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3A5515E1-0889-4014-9122-ACD7301B525D}"/>
                </a:ext>
              </a:extLst>
            </p:cNvPr>
            <p:cNvSpPr/>
            <p:nvPr/>
          </p:nvSpPr>
          <p:spPr>
            <a:xfrm>
              <a:off x="4956104" y="4970236"/>
              <a:ext cx="260074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40216C9-D5F3-417E-B5DD-087A7F5C1FD2}"/>
                </a:ext>
              </a:extLst>
            </p:cNvPr>
            <p:cNvSpPr/>
            <p:nvPr/>
          </p:nvSpPr>
          <p:spPr>
            <a:xfrm>
              <a:off x="4913143" y="4672780"/>
              <a:ext cx="579782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CTC$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501C9C15-FB6F-4487-9EC2-D4A8F4756085}"/>
                </a:ext>
              </a:extLst>
            </p:cNvPr>
            <p:cNvSpPr/>
            <p:nvPr/>
          </p:nvSpPr>
          <p:spPr>
            <a:xfrm>
              <a:off x="4108581" y="4970236"/>
              <a:ext cx="260073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D207304-CECE-40FF-B7E3-1C2DCB39D8E3}"/>
                </a:ext>
              </a:extLst>
            </p:cNvPr>
            <p:cNvSpPr/>
            <p:nvPr/>
          </p:nvSpPr>
          <p:spPr>
            <a:xfrm>
              <a:off x="4108581" y="4669344"/>
              <a:ext cx="280631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  <a:endParaRPr lang="zh-TW" altLang="en-US" sz="1200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88284A67-B72C-4E32-B064-751333EEAA90}"/>
                </a:ext>
              </a:extLst>
            </p:cNvPr>
            <p:cNvSpPr/>
            <p:nvPr/>
          </p:nvSpPr>
          <p:spPr>
            <a:xfrm>
              <a:off x="3164722" y="4970236"/>
              <a:ext cx="260074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392A996-3E73-426B-BB09-B05CCAB0C0E1}"/>
                </a:ext>
              </a:extLst>
            </p:cNvPr>
            <p:cNvSpPr/>
            <p:nvPr/>
          </p:nvSpPr>
          <p:spPr>
            <a:xfrm>
              <a:off x="3067143" y="4672537"/>
              <a:ext cx="475007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TC$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27C77D21-B232-4BCF-8449-81976DD17233}"/>
                </a:ext>
              </a:extLst>
            </p:cNvPr>
            <p:cNvSpPr/>
            <p:nvPr/>
          </p:nvSpPr>
          <p:spPr>
            <a:xfrm>
              <a:off x="2035909" y="4970236"/>
              <a:ext cx="260074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17A02571-29AF-4867-8DB9-B680CF5A87F6}"/>
                </a:ext>
              </a:extLst>
            </p:cNvPr>
            <p:cNvSpPr/>
            <p:nvPr/>
          </p:nvSpPr>
          <p:spPr>
            <a:xfrm>
              <a:off x="3557373" y="4366881"/>
              <a:ext cx="260073" cy="2600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TW" altLang="en-US" sz="110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E74F27F-C587-4A48-9B98-8ADB46EF9D6E}"/>
                </a:ext>
              </a:extLst>
            </p:cNvPr>
            <p:cNvSpPr/>
            <p:nvPr/>
          </p:nvSpPr>
          <p:spPr>
            <a:xfrm>
              <a:off x="3396691" y="4103344"/>
              <a:ext cx="280631" cy="26584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1B8FD5AF-968E-4741-85C0-17A615F145C5}"/>
                </a:ext>
              </a:extLst>
            </p:cNvPr>
            <p:cNvSpPr/>
            <p:nvPr/>
          </p:nvSpPr>
          <p:spPr>
            <a:xfrm>
              <a:off x="1817787" y="4672243"/>
              <a:ext cx="605724" cy="260041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TW" sz="1200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CTC$</a:t>
              </a:r>
              <a:endParaRPr lang="zh-TW" altLang="en-US" sz="12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5176BF2B-5B0C-43A3-B417-389CB645DB43}"/>
                </a:ext>
              </a:extLst>
            </p:cNvPr>
            <p:cNvCxnSpPr>
              <a:cxnSpLocks/>
              <a:stCxn id="18" idx="4"/>
              <a:endCxn id="31" idx="0"/>
            </p:cNvCxnSpPr>
            <p:nvPr/>
          </p:nvCxnSpPr>
          <p:spPr>
            <a:xfrm>
              <a:off x="3685961" y="4115471"/>
              <a:ext cx="1449" cy="2514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58504560-80BB-453D-9C91-1827D593F638}"/>
                </a:ext>
              </a:extLst>
            </p:cNvPr>
            <p:cNvCxnSpPr>
              <a:cxnSpLocks/>
              <a:stCxn id="18" idx="5"/>
              <a:endCxn id="19" idx="1"/>
            </p:cNvCxnSpPr>
            <p:nvPr/>
          </p:nvCxnSpPr>
          <p:spPr>
            <a:xfrm>
              <a:off x="3776886" y="4077809"/>
              <a:ext cx="752587" cy="3244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8D97E538-68D7-4850-ACBA-4569013DD66C}"/>
                </a:ext>
              </a:extLst>
            </p:cNvPr>
            <p:cNvCxnSpPr>
              <a:cxnSpLocks/>
              <a:stCxn id="18" idx="3"/>
              <a:endCxn id="20" idx="7"/>
            </p:cNvCxnSpPr>
            <p:nvPr/>
          </p:nvCxnSpPr>
          <p:spPr>
            <a:xfrm flipH="1">
              <a:off x="2845346" y="4077809"/>
              <a:ext cx="749689" cy="3244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869DE8E8-9F9F-4975-8FEC-C4FC453897A5}"/>
                </a:ext>
              </a:extLst>
            </p:cNvPr>
            <p:cNvCxnSpPr>
              <a:cxnSpLocks/>
              <a:stCxn id="19" idx="5"/>
              <a:endCxn id="24" idx="0"/>
            </p:cNvCxnSpPr>
            <p:nvPr/>
          </p:nvCxnSpPr>
          <p:spPr>
            <a:xfrm>
              <a:off x="4713373" y="4586176"/>
              <a:ext cx="372768" cy="3840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9FDCBB30-2D6F-4FB7-B9FC-50927B9316E0}"/>
                </a:ext>
              </a:extLst>
            </p:cNvPr>
            <p:cNvCxnSpPr>
              <a:cxnSpLocks/>
              <a:stCxn id="19" idx="3"/>
              <a:endCxn id="26" idx="0"/>
            </p:cNvCxnSpPr>
            <p:nvPr/>
          </p:nvCxnSpPr>
          <p:spPr>
            <a:xfrm flipH="1">
              <a:off x="4238618" y="4586176"/>
              <a:ext cx="290855" cy="3840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83A44A0B-437E-43D4-937B-E94A37D366FA}"/>
                </a:ext>
              </a:extLst>
            </p:cNvPr>
            <p:cNvCxnSpPr>
              <a:cxnSpLocks/>
              <a:stCxn id="20" idx="4"/>
              <a:endCxn id="28" idx="0"/>
            </p:cNvCxnSpPr>
            <p:nvPr/>
          </p:nvCxnSpPr>
          <p:spPr>
            <a:xfrm>
              <a:off x="2753397" y="4624263"/>
              <a:ext cx="541362" cy="3459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5E72D393-B6C6-4B25-A272-B6D42ADD5896}"/>
                </a:ext>
              </a:extLst>
            </p:cNvPr>
            <p:cNvCxnSpPr>
              <a:cxnSpLocks/>
              <a:stCxn id="20" idx="4"/>
              <a:endCxn id="22" idx="0"/>
            </p:cNvCxnSpPr>
            <p:nvPr/>
          </p:nvCxnSpPr>
          <p:spPr>
            <a:xfrm flipH="1">
              <a:off x="2753396" y="4624263"/>
              <a:ext cx="1" cy="3459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CF8C1819-5816-4DC2-AAF0-4EAE8A954EC4}"/>
                </a:ext>
              </a:extLst>
            </p:cNvPr>
            <p:cNvCxnSpPr>
              <a:cxnSpLocks/>
              <a:stCxn id="20" idx="4"/>
              <a:endCxn id="30" idx="0"/>
            </p:cNvCxnSpPr>
            <p:nvPr/>
          </p:nvCxnSpPr>
          <p:spPr>
            <a:xfrm flipH="1">
              <a:off x="2165946" y="4624263"/>
              <a:ext cx="587451" cy="3459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4872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60252</TotalTime>
  <Words>1068</Words>
  <Application>Microsoft Office PowerPoint</Application>
  <PresentationFormat>如螢幕大小 (4:3)</PresentationFormat>
  <Paragraphs>479</Paragraphs>
  <Slides>16</Slides>
  <Notes>10</Notes>
  <HiddenSlides>1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4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 Computing the Longest Common Substring with One Mismatch</vt:lpstr>
      <vt:lpstr>PowerPoint 簡報</vt:lpstr>
      <vt:lpstr>PowerPoint 簡報</vt:lpstr>
      <vt:lpstr>Abstract </vt:lpstr>
      <vt:lpstr>Definition (1/3)</vt:lpstr>
      <vt:lpstr>Definition (2/3)</vt:lpstr>
      <vt:lpstr>Definition (3/3)</vt:lpstr>
      <vt:lpstr>A naive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GaryC</cp:lastModifiedBy>
  <cp:revision>695</cp:revision>
  <dcterms:created xsi:type="dcterms:W3CDTF">2017-09-25T08:45:50Z</dcterms:created>
  <dcterms:modified xsi:type="dcterms:W3CDTF">2018-11-06T10:26:33Z</dcterms:modified>
</cp:coreProperties>
</file>