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0" r:id="rId5"/>
    <p:sldId id="263" r:id="rId6"/>
    <p:sldId id="259" r:id="rId7"/>
    <p:sldId id="261" r:id="rId8"/>
    <p:sldId id="266" r:id="rId9"/>
    <p:sldId id="265" r:id="rId10"/>
    <p:sldId id="264" r:id="rId11"/>
    <p:sldId id="267"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冠霖" initials="冠霖" lastIdx="1" clrIdx="0">
    <p:extLst>
      <p:ext uri="{19B8F6BF-5375-455C-9EA6-DF929625EA0E}">
        <p15:presenceInfo xmlns:p15="http://schemas.microsoft.com/office/powerpoint/2012/main" userId="冠霖"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FC297-07BB-4D8F-9DF9-E447C2F566F7}" type="datetimeFigureOut">
              <a:rPr lang="zh-TW" altLang="en-US" smtClean="0"/>
              <a:t>2018/11/6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5D5AE3-18E2-4E36-AFD1-2FBACEC11446}" type="slidenum">
              <a:rPr lang="zh-TW" altLang="en-US" smtClean="0"/>
              <a:t>‹#›</a:t>
            </a:fld>
            <a:endParaRPr lang="zh-TW" altLang="en-US"/>
          </a:p>
        </p:txBody>
      </p:sp>
    </p:spTree>
    <p:extLst>
      <p:ext uri="{BB962C8B-B14F-4D97-AF65-F5344CB8AC3E}">
        <p14:creationId xmlns:p14="http://schemas.microsoft.com/office/powerpoint/2010/main" val="2423606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EAF933-0117-4682-8235-162B1D8B701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ED40EC96-8562-4DC8-A44C-980A18BC72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0C110B8D-6E63-4D23-A336-97F2CDF2FCA6}"/>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5" name="頁尾版面配置區 4">
            <a:extLst>
              <a:ext uri="{FF2B5EF4-FFF2-40B4-BE49-F238E27FC236}">
                <a16:creationId xmlns:a16="http://schemas.microsoft.com/office/drawing/2014/main" id="{E7247C42-CE1D-4D88-91F4-77DF71E40B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7E39B65-A02A-4B8D-80A7-0B66A7580267}"/>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2964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5964E9-C061-4DF6-A8E0-EB90D231029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015A2ED-E492-41DB-8DD6-087984830853}"/>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EFD206F-2571-4FC1-A7F1-02AE754080DF}"/>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5" name="頁尾版面配置區 4">
            <a:extLst>
              <a:ext uri="{FF2B5EF4-FFF2-40B4-BE49-F238E27FC236}">
                <a16:creationId xmlns:a16="http://schemas.microsoft.com/office/drawing/2014/main" id="{BE13C4FD-14C6-4C29-B316-26C4EE96531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58AA6B-9FA1-45E7-B79A-288C87DBB431}"/>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4133434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8DA979-F4DC-4FD0-A69D-BEC5F7A59E9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DB7554C-D84C-4200-8C00-B096CC3A19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B9786738-D11F-4074-ABB0-77078980B7F4}"/>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5" name="頁尾版面配置區 4">
            <a:extLst>
              <a:ext uri="{FF2B5EF4-FFF2-40B4-BE49-F238E27FC236}">
                <a16:creationId xmlns:a16="http://schemas.microsoft.com/office/drawing/2014/main" id="{678F280D-72C9-415B-AF22-FE37A6E9FB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60352E5-6DF9-486A-8BE1-0C9619789F1E}"/>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3140667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0995BC-8FEF-40A5-9DF0-2D54DD4477A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BEBB363-C15A-4737-9287-8BC6963D0798}"/>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5D106ED-AC6B-4FB8-9682-542D7247236B}"/>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7C0CD9A-4036-4B29-A4C3-6266A2D2824E}"/>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6" name="頁尾版面配置區 5">
            <a:extLst>
              <a:ext uri="{FF2B5EF4-FFF2-40B4-BE49-F238E27FC236}">
                <a16:creationId xmlns:a16="http://schemas.microsoft.com/office/drawing/2014/main" id="{B37CEFF4-0905-4DAF-ADA3-C8A0FEEC993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041A18-41A6-4275-8E7C-FAFB3F420B01}"/>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1691915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FB3E4F-0111-4CF1-9C44-3F11B106B15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2197A7D-129B-4D79-AD56-558E63535B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F003587-0AF0-4AC6-AAA3-16BB89AAB436}"/>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4B05CF3-0543-4BBC-90D1-1C8DC2835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851DF455-D926-43B3-AB8B-EC975AE8B9C9}"/>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4EA1694-3A60-4A9D-9C7F-D18745FA43F7}"/>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8" name="頁尾版面配置區 7">
            <a:extLst>
              <a:ext uri="{FF2B5EF4-FFF2-40B4-BE49-F238E27FC236}">
                <a16:creationId xmlns:a16="http://schemas.microsoft.com/office/drawing/2014/main" id="{90C51B21-84EE-45FE-B87B-8566AB3601A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5A4DD25-16E1-4EEB-A48E-F627B8608863}"/>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2931430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02C786-BB99-4BA8-9871-480F9A6BE89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36CEEF-BF60-49E7-AABF-D32E20E23E26}"/>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4" name="頁尾版面配置區 3">
            <a:extLst>
              <a:ext uri="{FF2B5EF4-FFF2-40B4-BE49-F238E27FC236}">
                <a16:creationId xmlns:a16="http://schemas.microsoft.com/office/drawing/2014/main" id="{BC084666-C798-4B7D-8FCD-BE1D1F04B3B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718C3BD-20CD-4850-B63D-A833DDA2824D}"/>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1039487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8B701E50-8158-49D8-B541-8CFEDDEB2EE5}"/>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3" name="頁尾版面配置區 2">
            <a:extLst>
              <a:ext uri="{FF2B5EF4-FFF2-40B4-BE49-F238E27FC236}">
                <a16:creationId xmlns:a16="http://schemas.microsoft.com/office/drawing/2014/main" id="{664E6953-2AD4-4358-B6BE-84EB7C884ED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8B12D055-47B4-473A-A7B9-D38E7F2FB0A5}"/>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369589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638D4C-C5CD-48A0-85A5-B60110347B5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A6B4ED9-27A7-4731-BEE0-A222FDC072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78DFDC26-B179-402D-88BF-C7625EF3E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3281353-D6C6-41BA-8D5D-B2E7B9ABC25F}"/>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6" name="頁尾版面配置區 5">
            <a:extLst>
              <a:ext uri="{FF2B5EF4-FFF2-40B4-BE49-F238E27FC236}">
                <a16:creationId xmlns:a16="http://schemas.microsoft.com/office/drawing/2014/main" id="{103C6F99-F61E-4471-B0A9-F5EE7A28BBF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9B64024-1DCB-417D-BDD9-DAE878AB1F0D}"/>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3230278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FFC17B-BBF2-4F91-A82C-3FABD8D26DA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6D1C7BC4-EA66-47F3-806F-475E87DDBB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6A3B5CB-DAEE-414E-9278-6377A9727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B05B2BC6-F4A7-4884-8F30-1D5799C36F02}"/>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6" name="頁尾版面配置區 5">
            <a:extLst>
              <a:ext uri="{FF2B5EF4-FFF2-40B4-BE49-F238E27FC236}">
                <a16:creationId xmlns:a16="http://schemas.microsoft.com/office/drawing/2014/main" id="{606FB1C8-B850-40F5-A380-60F4B3245B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1017E-555B-4268-A047-F693697B51EB}"/>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3165634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CED912-DE3A-496A-9532-50F526090AE1}"/>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BD74288C-63C4-48F2-B6F7-12E170090B01}"/>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894E8C0-DBB0-4EBC-9EE2-A6B88E776271}"/>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5" name="頁尾版面配置區 4">
            <a:extLst>
              <a:ext uri="{FF2B5EF4-FFF2-40B4-BE49-F238E27FC236}">
                <a16:creationId xmlns:a16="http://schemas.microsoft.com/office/drawing/2014/main" id="{F8D034EE-6E9A-4347-9E44-7DD09FFE6A2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4F83C2-F9B4-4925-A53B-89E07BF7FB66}"/>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1814249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E68C98C-F860-40C9-97CC-286C26D623D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D3E3401-A4E5-4D06-BDC9-8CB7D9B0DB0A}"/>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E18703-E402-4C2F-A22D-1A5528CA0AEB}"/>
              </a:ext>
            </a:extLst>
          </p:cNvPr>
          <p:cNvSpPr>
            <a:spLocks noGrp="1"/>
          </p:cNvSpPr>
          <p:nvPr>
            <p:ph type="dt" sz="half" idx="10"/>
          </p:nvPr>
        </p:nvSpPr>
        <p:spPr/>
        <p:txBody>
          <a:bodyPr/>
          <a:lstStyle/>
          <a:p>
            <a:fld id="{A28EE7C2-A391-4BD0-8E64-5B2CF2891F22}" type="datetimeFigureOut">
              <a:rPr lang="zh-TW" altLang="en-US" smtClean="0"/>
              <a:t>2018/11/6</a:t>
            </a:fld>
            <a:endParaRPr lang="zh-TW" altLang="en-US"/>
          </a:p>
        </p:txBody>
      </p:sp>
      <p:sp>
        <p:nvSpPr>
          <p:cNvPr id="5" name="頁尾版面配置區 4">
            <a:extLst>
              <a:ext uri="{FF2B5EF4-FFF2-40B4-BE49-F238E27FC236}">
                <a16:creationId xmlns:a16="http://schemas.microsoft.com/office/drawing/2014/main" id="{C3ED6DA7-2677-44C1-BF28-B401FA5F14D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AFC40BF-2945-4B47-9C1A-3970C3C2F953}"/>
              </a:ext>
            </a:extLst>
          </p:cNvPr>
          <p:cNvSpPr>
            <a:spLocks noGrp="1"/>
          </p:cNvSpPr>
          <p:nvPr>
            <p:ph type="sldNum" sz="quarter" idx="12"/>
          </p:nvPr>
        </p:nvSpPr>
        <p:spPr/>
        <p:txBody>
          <a:body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3621176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9F3ADDF-994A-4B80-AA0D-DC9B8CDEF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8E7EFFF-811B-4DD7-A34F-D7E311630A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DEF80B0-792B-47DA-86E2-F515F24B49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8EE7C2-A391-4BD0-8E64-5B2CF2891F22}" type="datetimeFigureOut">
              <a:rPr lang="zh-TW" altLang="en-US" smtClean="0"/>
              <a:t>2018/11/6</a:t>
            </a:fld>
            <a:endParaRPr lang="zh-TW" altLang="en-US"/>
          </a:p>
        </p:txBody>
      </p:sp>
      <p:sp>
        <p:nvSpPr>
          <p:cNvPr id="5" name="頁尾版面配置區 4">
            <a:extLst>
              <a:ext uri="{FF2B5EF4-FFF2-40B4-BE49-F238E27FC236}">
                <a16:creationId xmlns:a16="http://schemas.microsoft.com/office/drawing/2014/main" id="{5D5C18D6-3E60-4738-B845-69A994AEE2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AFC487D4-CAF1-4DCD-856D-CC647CF68E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395C4A-8921-4567-86B0-51B4E50A1063}" type="slidenum">
              <a:rPr lang="zh-TW" altLang="en-US" smtClean="0"/>
              <a:t>‹#›</a:t>
            </a:fld>
            <a:endParaRPr lang="zh-TW" altLang="en-US"/>
          </a:p>
        </p:txBody>
      </p:sp>
    </p:spTree>
    <p:extLst>
      <p:ext uri="{BB962C8B-B14F-4D97-AF65-F5344CB8AC3E}">
        <p14:creationId xmlns:p14="http://schemas.microsoft.com/office/powerpoint/2010/main" val="3423627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7615F0-1485-415C-9C01-B9BACA877537}"/>
              </a:ext>
            </a:extLst>
          </p:cNvPr>
          <p:cNvSpPr>
            <a:spLocks noGrp="1"/>
          </p:cNvSpPr>
          <p:nvPr>
            <p:ph type="ctrTitle"/>
          </p:nvPr>
        </p:nvSpPr>
        <p:spPr>
          <a:xfrm>
            <a:off x="1524000" y="906011"/>
            <a:ext cx="9144000" cy="1890786"/>
          </a:xfrm>
        </p:spPr>
        <p:txBody>
          <a:bodyPr>
            <a:normAutofit fontScale="90000"/>
          </a:bodyPr>
          <a:lstStyle/>
          <a:p>
            <a:r>
              <a:rPr lang="en-US" altLang="zh-TW" b="1" dirty="0"/>
              <a:t>Fast and Simple Algorithms for Computing both </a:t>
            </a:r>
            <a:r>
              <a:rPr lang="en-US" altLang="zh-TW" b="1" dirty="0" err="1"/>
              <a:t>LCS</a:t>
            </a:r>
            <a:r>
              <a:rPr lang="en-US" altLang="zh-TW" b="1" baseline="-25000" dirty="0" err="1"/>
              <a:t>k</a:t>
            </a:r>
            <a:r>
              <a:rPr lang="en-US" altLang="zh-TW" b="1" dirty="0"/>
              <a:t> and </a:t>
            </a:r>
            <a:r>
              <a:rPr lang="en-US" altLang="zh-TW" b="1" dirty="0" err="1"/>
              <a:t>LCS</a:t>
            </a:r>
            <a:r>
              <a:rPr lang="en-US" altLang="zh-TW" b="1" baseline="-25000" dirty="0" err="1"/>
              <a:t>k</a:t>
            </a:r>
            <a:r>
              <a:rPr lang="en-US" altLang="zh-TW" b="1" baseline="-25000" dirty="0"/>
              <a:t>+</a:t>
            </a:r>
            <a:endParaRPr lang="zh-TW" altLang="en-US" b="1" baseline="-25000" dirty="0"/>
          </a:p>
        </p:txBody>
      </p:sp>
      <p:sp>
        <p:nvSpPr>
          <p:cNvPr id="3" name="副標題 2">
            <a:extLst>
              <a:ext uri="{FF2B5EF4-FFF2-40B4-BE49-F238E27FC236}">
                <a16:creationId xmlns:a16="http://schemas.microsoft.com/office/drawing/2014/main" id="{235F5719-E925-4841-9F3C-3144FFD343A5}"/>
              </a:ext>
            </a:extLst>
          </p:cNvPr>
          <p:cNvSpPr>
            <a:spLocks noGrp="1"/>
          </p:cNvSpPr>
          <p:nvPr>
            <p:ph type="subTitle" idx="1"/>
          </p:nvPr>
        </p:nvSpPr>
        <p:spPr>
          <a:xfrm>
            <a:off x="1524000" y="3602037"/>
            <a:ext cx="9144000" cy="3016877"/>
          </a:xfrm>
        </p:spPr>
        <p:txBody>
          <a:bodyPr>
            <a:normAutofit fontScale="92500" lnSpcReduction="10000"/>
          </a:bodyPr>
          <a:lstStyle/>
          <a:p>
            <a:r>
              <a:rPr lang="sv-SE" altLang="zh-TW" sz="2600" dirty="0"/>
              <a:t>Filip Pavetic, Ivan Katanic, Gustav Matula, Goran Zuzic, and Mile Sikic</a:t>
            </a:r>
            <a:br>
              <a:rPr lang="sv-SE" altLang="zh-TW" dirty="0"/>
            </a:br>
            <a:br>
              <a:rPr lang="sv-SE" altLang="zh-TW" dirty="0"/>
            </a:br>
            <a:r>
              <a:rPr lang="en-US" altLang="zh-TW" sz="2600" dirty="0"/>
              <a:t>Proceedings of the Prague </a:t>
            </a:r>
            <a:r>
              <a:rPr lang="en-US" altLang="zh-TW" sz="2600" dirty="0" err="1"/>
              <a:t>Stringology</a:t>
            </a:r>
            <a:r>
              <a:rPr lang="en-US" altLang="zh-TW" sz="2600" dirty="0"/>
              <a:t> Conference  50-62</a:t>
            </a:r>
          </a:p>
          <a:p>
            <a:r>
              <a:rPr lang="en-US" altLang="zh-TW" sz="2600" dirty="0"/>
              <a:t>August 27–28, 2018, Czech Technical University,  Prague</a:t>
            </a:r>
            <a:br>
              <a:rPr lang="en-US" altLang="zh-TW" dirty="0"/>
            </a:br>
            <a:br>
              <a:rPr lang="en-US" altLang="zh-TW" dirty="0"/>
            </a:br>
            <a:br>
              <a:rPr lang="en-US" altLang="zh-TW" dirty="0"/>
            </a:br>
            <a:r>
              <a:rPr lang="en-US" altLang="zh-TW" dirty="0"/>
              <a:t>Speaker</a:t>
            </a:r>
            <a:r>
              <a:rPr lang="zh-TW" altLang="en-US" dirty="0"/>
              <a:t>：</a:t>
            </a:r>
            <a:r>
              <a:rPr lang="en-US" altLang="zh-TW" dirty="0" err="1"/>
              <a:t>Kuan</a:t>
            </a:r>
            <a:r>
              <a:rPr lang="en-US" altLang="zh-TW" dirty="0"/>
              <a:t>-Lin Lai</a:t>
            </a:r>
          </a:p>
          <a:p>
            <a:r>
              <a:rPr lang="en-US" altLang="zh-TW" dirty="0">
                <a:latin typeface="Calibri" pitchFamily="34" charset="0"/>
              </a:rPr>
              <a:t>Date: 2018/11/06</a:t>
            </a:r>
            <a:endParaRPr lang="zh-TW" altLang="en-US" dirty="0"/>
          </a:p>
          <a:p>
            <a:r>
              <a:rPr lang="sv-SE" altLang="zh-TW" dirty="0"/>
              <a:t> </a:t>
            </a:r>
            <a:endParaRPr lang="zh-TW" altLang="en-US" dirty="0"/>
          </a:p>
        </p:txBody>
      </p:sp>
    </p:spTree>
    <p:extLst>
      <p:ext uri="{BB962C8B-B14F-4D97-AF65-F5344CB8AC3E}">
        <p14:creationId xmlns:p14="http://schemas.microsoft.com/office/powerpoint/2010/main" val="1308535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3D0B0B-7547-4071-90BA-536B104D88F2}"/>
              </a:ext>
            </a:extLst>
          </p:cNvPr>
          <p:cNvSpPr>
            <a:spLocks noGrp="1"/>
          </p:cNvSpPr>
          <p:nvPr>
            <p:ph type="title"/>
          </p:nvPr>
        </p:nvSpPr>
        <p:spPr/>
        <p:txBody>
          <a:bodyPr/>
          <a:lstStyle/>
          <a:p>
            <a:r>
              <a:rPr lang="en-US" altLang="zh-TW" b="1" dirty="0"/>
              <a:t>Abstract(1/2)</a:t>
            </a:r>
            <a:endParaRPr lang="zh-TW" altLang="en-US" b="1" dirty="0"/>
          </a:p>
        </p:txBody>
      </p:sp>
      <p:sp>
        <p:nvSpPr>
          <p:cNvPr id="3" name="內容版面配置區 2">
            <a:extLst>
              <a:ext uri="{FF2B5EF4-FFF2-40B4-BE49-F238E27FC236}">
                <a16:creationId xmlns:a16="http://schemas.microsoft.com/office/drawing/2014/main" id="{405B338F-83E0-43F0-AE3C-68350790CF00}"/>
              </a:ext>
            </a:extLst>
          </p:cNvPr>
          <p:cNvSpPr>
            <a:spLocks noGrp="1"/>
          </p:cNvSpPr>
          <p:nvPr>
            <p:ph idx="1"/>
          </p:nvPr>
        </p:nvSpPr>
        <p:spPr>
          <a:xfrm>
            <a:off x="838199" y="1825625"/>
            <a:ext cx="10939943" cy="4351338"/>
          </a:xfrm>
        </p:spPr>
        <p:txBody>
          <a:bodyPr>
            <a:normAutofit/>
          </a:bodyPr>
          <a:lstStyle/>
          <a:p>
            <a:pPr marL="0" indent="0">
              <a:buNone/>
            </a:pPr>
            <a:r>
              <a:rPr lang="en-US" altLang="zh-TW" dirty="0"/>
              <a:t>Longest Common Subsequence (LCS) deals with the problem of measuring similarity of two strings. While this problem has been analyzed for decades, the recent interest stems from a practical observation that considering single characters is often too simplistic. Therefore, recent works introduce the variants of LCS based on shared substrings of length exactly or at least k (</a:t>
            </a:r>
            <a:r>
              <a:rPr lang="en-US" altLang="zh-TW" dirty="0" err="1"/>
              <a:t>LCS</a:t>
            </a:r>
            <a:r>
              <a:rPr lang="en-US" altLang="zh-TW" baseline="-25000" dirty="0" err="1"/>
              <a:t>k</a:t>
            </a:r>
            <a:r>
              <a:rPr lang="en-US" altLang="zh-TW" dirty="0"/>
              <a:t> and </a:t>
            </a:r>
            <a:r>
              <a:rPr lang="en-US" altLang="zh-TW" dirty="0" err="1"/>
              <a:t>LCS</a:t>
            </a:r>
            <a:r>
              <a:rPr lang="en-US" altLang="zh-TW" baseline="-25000" dirty="0" err="1"/>
              <a:t>k</a:t>
            </a:r>
            <a:r>
              <a:rPr lang="en-US" altLang="zh-TW" baseline="-25000" dirty="0"/>
              <a:t>+</a:t>
            </a:r>
            <a:r>
              <a:rPr lang="en-US" altLang="zh-TW" dirty="0"/>
              <a:t> respectively). The main drawback of the state-of-the-art algorithms for computing </a:t>
            </a:r>
            <a:r>
              <a:rPr lang="en-US" altLang="zh-TW" dirty="0" err="1"/>
              <a:t>LCS</a:t>
            </a:r>
            <a:r>
              <a:rPr lang="en-US" altLang="zh-TW" baseline="-25000" dirty="0" err="1"/>
              <a:t>k</a:t>
            </a:r>
            <a:r>
              <a:rPr lang="en-US" altLang="zh-TW" dirty="0"/>
              <a:t> and </a:t>
            </a:r>
            <a:r>
              <a:rPr lang="en-US" altLang="zh-TW" dirty="0" err="1"/>
              <a:t>LCS</a:t>
            </a:r>
            <a:r>
              <a:rPr lang="en-US" altLang="zh-TW" baseline="-25000" dirty="0" err="1"/>
              <a:t>k</a:t>
            </a:r>
            <a:r>
              <a:rPr lang="en-US" altLang="zh-TW" baseline="-25000" dirty="0"/>
              <a:t>+</a:t>
            </a:r>
            <a:r>
              <a:rPr lang="en-US" altLang="zh-TW" dirty="0"/>
              <a:t> is that they work well only in a limited setting: they either solve the average case well while being suboptimal in the pathological situations or they achieve a good worst-case performance, but fail to exploit the input data properties to speed up the computation. </a:t>
            </a:r>
            <a:endParaRPr lang="zh-TW" altLang="en-US" dirty="0"/>
          </a:p>
        </p:txBody>
      </p:sp>
    </p:spTree>
    <p:extLst>
      <p:ext uri="{BB962C8B-B14F-4D97-AF65-F5344CB8AC3E}">
        <p14:creationId xmlns:p14="http://schemas.microsoft.com/office/powerpoint/2010/main" val="838380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D16D66-BEF9-4F84-9EDB-52F47BF44670}"/>
              </a:ext>
            </a:extLst>
          </p:cNvPr>
          <p:cNvSpPr>
            <a:spLocks noGrp="1"/>
          </p:cNvSpPr>
          <p:nvPr>
            <p:ph type="title"/>
          </p:nvPr>
        </p:nvSpPr>
        <p:spPr/>
        <p:txBody>
          <a:bodyPr/>
          <a:lstStyle/>
          <a:p>
            <a:r>
              <a:rPr lang="en-US" altLang="zh-TW" b="1" dirty="0"/>
              <a:t>Abstract(2/2)</a:t>
            </a:r>
            <a:endParaRPr lang="zh-TW" altLang="en-US" b="1" dirty="0"/>
          </a:p>
        </p:txBody>
      </p:sp>
      <p:sp>
        <p:nvSpPr>
          <p:cNvPr id="3" name="內容版面配置區 2">
            <a:extLst>
              <a:ext uri="{FF2B5EF4-FFF2-40B4-BE49-F238E27FC236}">
                <a16:creationId xmlns:a16="http://schemas.microsoft.com/office/drawing/2014/main" id="{F786F83E-3B37-40DD-A43C-E0432117EA43}"/>
              </a:ext>
            </a:extLst>
          </p:cNvPr>
          <p:cNvSpPr>
            <a:spLocks noGrp="1"/>
          </p:cNvSpPr>
          <p:nvPr>
            <p:ph idx="1"/>
          </p:nvPr>
        </p:nvSpPr>
        <p:spPr>
          <a:xfrm>
            <a:off x="838199" y="1825625"/>
            <a:ext cx="10604383" cy="4351338"/>
          </a:xfrm>
        </p:spPr>
        <p:txBody>
          <a:bodyPr/>
          <a:lstStyle/>
          <a:p>
            <a:pPr marL="0" indent="0">
              <a:buNone/>
            </a:pPr>
            <a:r>
              <a:rPr lang="en-US" altLang="zh-TW" dirty="0"/>
              <a:t>Furthermore, these algorithms are based on non-trivial data structures which is not ideal from a practitioner’s point of view. We present a single algorithm to compute both </a:t>
            </a:r>
            <a:r>
              <a:rPr lang="en-US" altLang="zh-TW" dirty="0" err="1"/>
              <a:t>LCS</a:t>
            </a:r>
            <a:r>
              <a:rPr lang="en-US" altLang="zh-TW" baseline="-25000" dirty="0" err="1"/>
              <a:t>k</a:t>
            </a:r>
            <a:r>
              <a:rPr lang="en-US" altLang="zh-TW" dirty="0"/>
              <a:t> and </a:t>
            </a:r>
            <a:r>
              <a:rPr lang="en-US" altLang="zh-TW" dirty="0" err="1"/>
              <a:t>LCS</a:t>
            </a:r>
            <a:r>
              <a:rPr lang="en-US" altLang="zh-TW" baseline="-25000" dirty="0" err="1"/>
              <a:t>k</a:t>
            </a:r>
            <a:r>
              <a:rPr lang="en-US" altLang="zh-TW" baseline="-25000" dirty="0"/>
              <a:t>+</a:t>
            </a:r>
            <a:r>
              <a:rPr lang="en-US" altLang="zh-TW" dirty="0"/>
              <a:t> which outperforms the state-of-the art algorithms in terms of runtime complexity and requires only basic data structures. In addition, we implement an algorithm to reconstruct the solution which offers significant improvement in terms of memory consumption. Our empirical validation shows that we save several orders of magnitude of memory on human genome data. The C++ implementation of our algorithms is made available at: https://github.com/google/fast-simple-lcsk.</a:t>
            </a:r>
            <a:endParaRPr lang="zh-TW" altLang="en-US" dirty="0"/>
          </a:p>
        </p:txBody>
      </p:sp>
    </p:spTree>
    <p:extLst>
      <p:ext uri="{BB962C8B-B14F-4D97-AF65-F5344CB8AC3E}">
        <p14:creationId xmlns:p14="http://schemas.microsoft.com/office/powerpoint/2010/main" val="421738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039D05-43BC-4F0E-A8A4-C719C2C4CE11}"/>
              </a:ext>
            </a:extLst>
          </p:cNvPr>
          <p:cNvSpPr>
            <a:spLocks noGrp="1"/>
          </p:cNvSpPr>
          <p:nvPr>
            <p:ph type="title"/>
          </p:nvPr>
        </p:nvSpPr>
        <p:spPr/>
        <p:txBody>
          <a:bodyPr/>
          <a:lstStyle/>
          <a:p>
            <a:r>
              <a:rPr lang="en-US" altLang="zh-TW" b="1" dirty="0" err="1"/>
              <a:t>LCS</a:t>
            </a:r>
            <a:r>
              <a:rPr lang="en-US" altLang="zh-TW" b="1" baseline="-25000" dirty="0" err="1"/>
              <a:t>k</a:t>
            </a:r>
            <a:r>
              <a:rPr lang="en-US" altLang="zh-TW" b="1" baseline="-25000" dirty="0"/>
              <a:t> </a:t>
            </a:r>
            <a:r>
              <a:rPr lang="en-US" altLang="zh-TW" b="1" dirty="0"/>
              <a:t> and  </a:t>
            </a:r>
            <a:r>
              <a:rPr lang="en-US" altLang="zh-TW" b="1" dirty="0" err="1"/>
              <a:t>LCS</a:t>
            </a:r>
            <a:r>
              <a:rPr lang="en-US" altLang="zh-TW" b="1" baseline="-25000" dirty="0" err="1"/>
              <a:t>k</a:t>
            </a:r>
            <a:r>
              <a:rPr lang="en-US" altLang="zh-TW" b="1" baseline="-25000" dirty="0"/>
              <a:t>+</a:t>
            </a:r>
            <a:r>
              <a:rPr lang="en-US" altLang="zh-TW" b="1" dirty="0"/>
              <a:t> ( LCS</a:t>
            </a:r>
            <a:r>
              <a:rPr lang="en-US" altLang="zh-TW" baseline="-25000" dirty="0"/>
              <a:t> ≥ k </a:t>
            </a:r>
            <a:r>
              <a:rPr lang="en-US" altLang="zh-TW" b="1" dirty="0"/>
              <a:t>)  </a:t>
            </a:r>
            <a:endParaRPr lang="zh-TW" altLang="en-US" b="1" dirty="0"/>
          </a:p>
        </p:txBody>
      </p:sp>
      <p:sp>
        <p:nvSpPr>
          <p:cNvPr id="3" name="內容版面配置區 2">
            <a:extLst>
              <a:ext uri="{FF2B5EF4-FFF2-40B4-BE49-F238E27FC236}">
                <a16:creationId xmlns:a16="http://schemas.microsoft.com/office/drawing/2014/main" id="{0F38DBD5-AB1C-4326-91C8-83969AD71ABC}"/>
              </a:ext>
            </a:extLst>
          </p:cNvPr>
          <p:cNvSpPr>
            <a:spLocks noGrp="1"/>
          </p:cNvSpPr>
          <p:nvPr>
            <p:ph idx="1"/>
          </p:nvPr>
        </p:nvSpPr>
        <p:spPr>
          <a:xfrm>
            <a:off x="1836490" y="1817236"/>
            <a:ext cx="10515600" cy="4351338"/>
          </a:xfrm>
        </p:spPr>
        <p:txBody>
          <a:bodyPr/>
          <a:lstStyle/>
          <a:p>
            <a:pPr marL="0" indent="0">
              <a:buNone/>
            </a:pPr>
            <a:r>
              <a:rPr lang="es-ES" altLang="zh-TW" dirty="0"/>
              <a:t>S1</a:t>
            </a:r>
            <a:r>
              <a:rPr lang="zh-TW" altLang="en-US" dirty="0"/>
              <a:t>：</a:t>
            </a:r>
            <a:r>
              <a:rPr lang="es-ES" altLang="zh-TW" dirty="0"/>
              <a:t> </a:t>
            </a:r>
            <a:r>
              <a:rPr lang="es-ES" altLang="zh-TW" dirty="0">
                <a:solidFill>
                  <a:srgbClr val="FF0000"/>
                </a:solidFill>
              </a:rPr>
              <a:t>A B</a:t>
            </a:r>
            <a:r>
              <a:rPr lang="es-ES" altLang="zh-TW" dirty="0"/>
              <a:t> X X X </a:t>
            </a:r>
            <a:r>
              <a:rPr lang="es-ES" altLang="zh-TW" dirty="0">
                <a:solidFill>
                  <a:srgbClr val="FF0000"/>
                </a:solidFill>
              </a:rPr>
              <a:t>C D E</a:t>
            </a:r>
          </a:p>
          <a:p>
            <a:pPr marL="0" indent="0">
              <a:buNone/>
            </a:pPr>
            <a:r>
              <a:rPr lang="en-US" altLang="zh-TW" dirty="0"/>
              <a:t>S2</a:t>
            </a:r>
            <a:r>
              <a:rPr lang="zh-TW" altLang="en-US" dirty="0"/>
              <a:t>：</a:t>
            </a:r>
            <a:r>
              <a:rPr lang="es-ES" altLang="zh-TW" dirty="0"/>
              <a:t> </a:t>
            </a:r>
            <a:r>
              <a:rPr lang="es-ES" altLang="zh-TW" dirty="0">
                <a:solidFill>
                  <a:srgbClr val="FF0000"/>
                </a:solidFill>
              </a:rPr>
              <a:t>A B</a:t>
            </a:r>
            <a:r>
              <a:rPr lang="es-ES" altLang="zh-TW" dirty="0"/>
              <a:t> Y Y Y </a:t>
            </a:r>
            <a:r>
              <a:rPr lang="es-ES" altLang="zh-TW" dirty="0">
                <a:solidFill>
                  <a:srgbClr val="FF0000"/>
                </a:solidFill>
              </a:rPr>
              <a:t>C D E</a:t>
            </a:r>
          </a:p>
          <a:p>
            <a:pPr marL="0" indent="0">
              <a:buNone/>
            </a:pPr>
            <a:endParaRPr lang="es-ES" altLang="zh-TW" dirty="0"/>
          </a:p>
          <a:p>
            <a:pPr marL="0" indent="0">
              <a:buNone/>
            </a:pPr>
            <a:r>
              <a:rPr lang="es-ES" altLang="zh-TW" dirty="0"/>
              <a:t>LCS</a:t>
            </a:r>
            <a:r>
              <a:rPr lang="es-ES" altLang="zh-TW" baseline="-25000" dirty="0"/>
              <a:t>2</a:t>
            </a:r>
            <a:r>
              <a:rPr lang="es-ES" altLang="zh-TW" dirty="0"/>
              <a:t>(S1, S2) = 2 (AB, CD) or (AB, DE) </a:t>
            </a:r>
          </a:p>
          <a:p>
            <a:pPr marL="0" indent="0">
              <a:buNone/>
            </a:pPr>
            <a:r>
              <a:rPr lang="es-ES" altLang="zh-TW" dirty="0"/>
              <a:t>LCS</a:t>
            </a:r>
            <a:r>
              <a:rPr lang="es-ES" altLang="zh-TW" baseline="-25000" dirty="0"/>
              <a:t>2+</a:t>
            </a:r>
            <a:r>
              <a:rPr lang="es-ES" altLang="zh-TW" dirty="0"/>
              <a:t>(S1, S2) = 5 (AB, CDE)</a:t>
            </a:r>
          </a:p>
          <a:p>
            <a:pPr marL="0" indent="0">
              <a:buNone/>
            </a:pPr>
            <a:endParaRPr lang="es-ES" altLang="zh-TW" dirty="0"/>
          </a:p>
          <a:p>
            <a:pPr marL="0" indent="0">
              <a:buNone/>
            </a:pPr>
            <a:r>
              <a:rPr lang="es-ES" altLang="zh-TW" dirty="0"/>
              <a:t>LCS</a:t>
            </a:r>
            <a:r>
              <a:rPr lang="es-ES" altLang="zh-TW" baseline="-25000" dirty="0"/>
              <a:t>1</a:t>
            </a:r>
            <a:r>
              <a:rPr lang="es-ES" altLang="zh-TW" dirty="0"/>
              <a:t>(S1, S2) = LCS(S1, S2) = 5 (A, B, C, D, E)</a:t>
            </a:r>
          </a:p>
          <a:p>
            <a:pPr marL="0" indent="0">
              <a:buNone/>
            </a:pPr>
            <a:r>
              <a:rPr lang="es-ES" altLang="zh-TW" dirty="0"/>
              <a:t>LCS</a:t>
            </a:r>
            <a:r>
              <a:rPr lang="es-ES" altLang="zh-TW" baseline="-25000" dirty="0"/>
              <a:t>1+</a:t>
            </a:r>
            <a:r>
              <a:rPr lang="es-ES" altLang="zh-TW" dirty="0"/>
              <a:t>(S1, S2) = LCS(S1, S2) = 5 (A, B, C, D, E)</a:t>
            </a:r>
          </a:p>
        </p:txBody>
      </p:sp>
    </p:spTree>
    <p:extLst>
      <p:ext uri="{BB962C8B-B14F-4D97-AF65-F5344CB8AC3E}">
        <p14:creationId xmlns:p14="http://schemas.microsoft.com/office/powerpoint/2010/main" val="742944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7F8A75-CCF0-465E-95ED-6536E0A1FC8F}"/>
              </a:ext>
            </a:extLst>
          </p:cNvPr>
          <p:cNvSpPr>
            <a:spLocks noGrp="1"/>
          </p:cNvSpPr>
          <p:nvPr>
            <p:ph type="title"/>
          </p:nvPr>
        </p:nvSpPr>
        <p:spPr/>
        <p:txBody>
          <a:bodyPr/>
          <a:lstStyle/>
          <a:p>
            <a:r>
              <a:rPr lang="en-US" altLang="zh-TW" b="1" dirty="0"/>
              <a:t>Match pair</a:t>
            </a:r>
            <a:endParaRPr lang="zh-TW" altLang="en-US" b="1" dirty="0"/>
          </a:p>
        </p:txBody>
      </p:sp>
      <p:sp>
        <p:nvSpPr>
          <p:cNvPr id="3" name="內容版面配置區 2">
            <a:extLst>
              <a:ext uri="{FF2B5EF4-FFF2-40B4-BE49-F238E27FC236}">
                <a16:creationId xmlns:a16="http://schemas.microsoft.com/office/drawing/2014/main" id="{4D7243D7-FEBD-429F-88E9-DCE2833DDDA5}"/>
              </a:ext>
            </a:extLst>
          </p:cNvPr>
          <p:cNvSpPr>
            <a:spLocks noGrp="1"/>
          </p:cNvSpPr>
          <p:nvPr>
            <p:ph idx="1"/>
          </p:nvPr>
        </p:nvSpPr>
        <p:spPr/>
        <p:txBody>
          <a:bodyPr/>
          <a:lstStyle/>
          <a:p>
            <a:r>
              <a:rPr lang="en-US" altLang="zh-TW" dirty="0"/>
              <a:t>(</a:t>
            </a:r>
            <a:r>
              <a:rPr lang="en-US" altLang="zh-TW" dirty="0" err="1"/>
              <a:t>i</a:t>
            </a:r>
            <a:r>
              <a:rPr lang="en-US" altLang="zh-TW" dirty="0"/>
              <a:t>, j) is a match pair if A[</a:t>
            </a:r>
            <a:r>
              <a:rPr lang="en-US" altLang="zh-TW" dirty="0" err="1"/>
              <a:t>i</a:t>
            </a:r>
            <a:r>
              <a:rPr lang="en-US" altLang="zh-TW" dirty="0"/>
              <a:t> : </a:t>
            </a:r>
            <a:r>
              <a:rPr lang="en-US" altLang="zh-TW" dirty="0" err="1"/>
              <a:t>i</a:t>
            </a:r>
            <a:r>
              <a:rPr lang="en-US" altLang="zh-TW" dirty="0"/>
              <a:t> + k) = B[j : j + k),  k ≥ 1</a:t>
            </a:r>
            <a:endParaRPr lang="zh-TW" altLang="en-US" dirty="0"/>
          </a:p>
          <a:p>
            <a:pPr marL="0" indent="0">
              <a:buNone/>
            </a:pPr>
            <a:endParaRPr lang="en-US" altLang="zh-TW" dirty="0"/>
          </a:p>
          <a:p>
            <a:pPr marL="0" indent="0">
              <a:buNone/>
            </a:pPr>
            <a:r>
              <a:rPr lang="es-ES" altLang="zh-TW" dirty="0"/>
              <a:t>               S1</a:t>
            </a:r>
            <a:r>
              <a:rPr lang="zh-TW" altLang="en-US" dirty="0"/>
              <a:t>：</a:t>
            </a:r>
            <a:r>
              <a:rPr lang="es-ES" altLang="zh-TW" dirty="0"/>
              <a:t> </a:t>
            </a:r>
            <a:r>
              <a:rPr lang="es-ES" altLang="zh-TW" dirty="0">
                <a:solidFill>
                  <a:srgbClr val="FF0000"/>
                </a:solidFill>
              </a:rPr>
              <a:t>A B</a:t>
            </a:r>
            <a:r>
              <a:rPr lang="es-ES" altLang="zh-TW" dirty="0"/>
              <a:t> X X X </a:t>
            </a:r>
            <a:r>
              <a:rPr lang="es-ES" altLang="zh-TW" dirty="0">
                <a:solidFill>
                  <a:srgbClr val="FF0000"/>
                </a:solidFill>
              </a:rPr>
              <a:t>C D E</a:t>
            </a:r>
          </a:p>
          <a:p>
            <a:pPr marL="0" indent="0">
              <a:buNone/>
            </a:pPr>
            <a:r>
              <a:rPr lang="en-US" altLang="zh-TW" dirty="0"/>
              <a:t>               S2</a:t>
            </a:r>
            <a:r>
              <a:rPr lang="zh-TW" altLang="en-US" dirty="0"/>
              <a:t>：</a:t>
            </a:r>
            <a:r>
              <a:rPr lang="es-ES" altLang="zh-TW" dirty="0"/>
              <a:t> </a:t>
            </a:r>
            <a:r>
              <a:rPr lang="es-ES" altLang="zh-TW" dirty="0">
                <a:solidFill>
                  <a:srgbClr val="FF0000"/>
                </a:solidFill>
              </a:rPr>
              <a:t>A B</a:t>
            </a:r>
            <a:r>
              <a:rPr lang="es-ES" altLang="zh-TW" dirty="0"/>
              <a:t> Y Y Y </a:t>
            </a:r>
            <a:r>
              <a:rPr lang="es-ES" altLang="zh-TW" dirty="0">
                <a:solidFill>
                  <a:srgbClr val="FF0000"/>
                </a:solidFill>
              </a:rPr>
              <a:t>C D E </a:t>
            </a:r>
            <a:endParaRPr lang="es-ES" altLang="zh-TW" dirty="0"/>
          </a:p>
          <a:p>
            <a:pPr marL="0" indent="0">
              <a:buNone/>
            </a:pPr>
            <a:endParaRPr lang="es-ES" altLang="zh-TW" dirty="0"/>
          </a:p>
          <a:p>
            <a:pPr marL="0" indent="0">
              <a:buNone/>
            </a:pPr>
            <a:r>
              <a:rPr lang="es-ES" altLang="zh-TW" dirty="0"/>
              <a:t>               Match pair</a:t>
            </a:r>
            <a:r>
              <a:rPr lang="zh-TW" altLang="en-US" dirty="0"/>
              <a:t>：</a:t>
            </a:r>
            <a:r>
              <a:rPr lang="en-US" altLang="zh-TW" dirty="0"/>
              <a:t>(0,0), (5,5), (6,6)    if  k=2</a:t>
            </a:r>
            <a:endParaRPr lang="zh-TW" altLang="en-US" dirty="0"/>
          </a:p>
        </p:txBody>
      </p:sp>
    </p:spTree>
    <p:extLst>
      <p:ext uri="{BB962C8B-B14F-4D97-AF65-F5344CB8AC3E}">
        <p14:creationId xmlns:p14="http://schemas.microsoft.com/office/powerpoint/2010/main" val="2090997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301D7E-63BB-4EC2-A5F6-C30A55E41BA6}"/>
              </a:ext>
            </a:extLst>
          </p:cNvPr>
          <p:cNvSpPr>
            <a:spLocks noGrp="1"/>
          </p:cNvSpPr>
          <p:nvPr>
            <p:ph type="title"/>
          </p:nvPr>
        </p:nvSpPr>
        <p:spPr>
          <a:xfrm>
            <a:off x="838200" y="365126"/>
            <a:ext cx="10515600" cy="1102948"/>
          </a:xfrm>
        </p:spPr>
        <p:txBody>
          <a:bodyPr/>
          <a:lstStyle/>
          <a:p>
            <a:r>
              <a:rPr lang="en-US" altLang="zh-TW" b="1" dirty="0"/>
              <a:t>LCS</a:t>
            </a:r>
            <a:endParaRPr lang="zh-TW" altLang="en-US" b="1" dirty="0"/>
          </a:p>
        </p:txBody>
      </p:sp>
      <p:sp>
        <p:nvSpPr>
          <p:cNvPr id="3" name="內容版面配置區 2">
            <a:extLst>
              <a:ext uri="{FF2B5EF4-FFF2-40B4-BE49-F238E27FC236}">
                <a16:creationId xmlns:a16="http://schemas.microsoft.com/office/drawing/2014/main" id="{C76FA8A8-3783-42F5-ACCC-6AFE2CB6EAF9}"/>
              </a:ext>
            </a:extLst>
          </p:cNvPr>
          <p:cNvSpPr>
            <a:spLocks noGrp="1"/>
          </p:cNvSpPr>
          <p:nvPr>
            <p:ph idx="1"/>
          </p:nvPr>
        </p:nvSpPr>
        <p:spPr>
          <a:xfrm>
            <a:off x="819638" y="1548455"/>
            <a:ext cx="10515600"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S1</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1</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7</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5</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4</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      </a:t>
            </a:r>
            <a:r>
              <a:rPr lang="zh-TW"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latin typeface="Times New Roman" panose="02020603050405020304" pitchFamily="18" charset="0"/>
                <a:cs typeface="Times New Roman" panose="02020603050405020304" pitchFamily="18" charset="0"/>
                <a:sym typeface="Wingdings" panose="05000000000000000000" pitchFamily="2" charset="2"/>
              </a:rPr>
              <a:t>LCS</a:t>
            </a:r>
            <a:r>
              <a:rPr lang="zh-TW"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1</a:t>
            </a:r>
            <a:r>
              <a:rPr lang="zh-TW" altLang="en-US"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5</a:t>
            </a:r>
            <a:r>
              <a:rPr lang="zh-TW" altLang="en-US"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8</a:t>
            </a:r>
            <a:r>
              <a:rPr lang="zh-TW" altLang="en-US"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9</a:t>
            </a:r>
            <a:r>
              <a:rPr lang="en-US" altLang="zh-TW" dirty="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1 4 8 9</a:t>
            </a:r>
            <a:r>
              <a:rPr lang="en-US" altLang="zh-TW" dirty="0">
                <a:latin typeface="Times New Roman" panose="02020603050405020304" pitchFamily="18" charset="0"/>
                <a:cs typeface="Times New Roman" panose="02020603050405020304" pitchFamily="18" charset="0"/>
                <a:sym typeface="Wingdings" panose="05000000000000000000" pitchFamily="2" charset="2"/>
              </a:rPr>
              <a:t>,  1 4 3 9</a:t>
            </a:r>
          </a:p>
          <a:p>
            <a:pPr marL="0" indent="0">
              <a:buNone/>
            </a:pPr>
            <a:r>
              <a:rPr lang="en-US" altLang="zh-TW" dirty="0">
                <a:latin typeface="Times New Roman" panose="02020603050405020304" pitchFamily="18" charset="0"/>
                <a:cs typeface="Times New Roman" panose="02020603050405020304" pitchFamily="18" charset="0"/>
              </a:rPr>
              <a:t>S2</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1</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4</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5</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6</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   </a:t>
            </a:r>
            <a:r>
              <a:rPr lang="zh-TW"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a:latin typeface="Times New Roman" panose="02020603050405020304" pitchFamily="18" charset="0"/>
                <a:cs typeface="Times New Roman" panose="02020603050405020304" pitchFamily="18" charset="0"/>
                <a:sym typeface="Wingdings" panose="05000000000000000000" pitchFamily="2" charset="2"/>
              </a:rPr>
              <a:t>LCS</a:t>
            </a:r>
            <a:r>
              <a:rPr lang="zh-TW" altLang="en-US" dirty="0">
                <a:latin typeface="Times New Roman" panose="02020603050405020304" pitchFamily="18" charset="0"/>
                <a:cs typeface="Times New Roman" panose="02020603050405020304" pitchFamily="18" charset="0"/>
                <a:sym typeface="Wingdings" panose="05000000000000000000" pitchFamily="2" charset="2"/>
              </a:rPr>
              <a:t>長度：</a:t>
            </a:r>
            <a:r>
              <a:rPr lang="en-US" altLang="zh-TW" dirty="0">
                <a:latin typeface="Times New Roman" panose="02020603050405020304" pitchFamily="18" charset="0"/>
                <a:cs typeface="Times New Roman" panose="02020603050405020304" pitchFamily="18" charset="0"/>
                <a:sym typeface="Wingdings" panose="05000000000000000000" pitchFamily="2" charset="2"/>
              </a:rPr>
              <a:t>4 </a:t>
            </a:r>
            <a:br>
              <a:rPr lang="zh-TW" altLang="zh-TW" dirty="0">
                <a:latin typeface="Times New Roman" panose="02020603050405020304" pitchFamily="18" charset="0"/>
                <a:cs typeface="Times New Roman" panose="02020603050405020304" pitchFamily="18" charset="0"/>
              </a:rPr>
            </a:br>
            <a:endParaRPr lang="en-US" altLang="zh-TW"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endParaRPr lang="zh-TW" altLang="en-US" dirty="0"/>
          </a:p>
        </p:txBody>
      </p:sp>
      <p:graphicFrame>
        <p:nvGraphicFramePr>
          <p:cNvPr id="4" name="表格 3">
            <a:extLst>
              <a:ext uri="{FF2B5EF4-FFF2-40B4-BE49-F238E27FC236}">
                <a16:creationId xmlns:a16="http://schemas.microsoft.com/office/drawing/2014/main" id="{34B9F0E8-A257-4627-A2DA-EEEB50259A3B}"/>
              </a:ext>
            </a:extLst>
          </p:cNvPr>
          <p:cNvGraphicFramePr>
            <a:graphicFrameLocks noGrp="1"/>
          </p:cNvGraphicFramePr>
          <p:nvPr>
            <p:extLst>
              <p:ext uri="{D42A27DB-BD31-4B8C-83A1-F6EECF244321}">
                <p14:modId xmlns:p14="http://schemas.microsoft.com/office/powerpoint/2010/main" val="3460974658"/>
              </p:ext>
            </p:extLst>
          </p:nvPr>
        </p:nvGraphicFramePr>
        <p:xfrm>
          <a:off x="2354391" y="2728892"/>
          <a:ext cx="8127999" cy="365760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1001041920"/>
                    </a:ext>
                  </a:extLst>
                </a:gridCol>
                <a:gridCol w="903111">
                  <a:extLst>
                    <a:ext uri="{9D8B030D-6E8A-4147-A177-3AD203B41FA5}">
                      <a16:colId xmlns:a16="http://schemas.microsoft.com/office/drawing/2014/main" val="2036266738"/>
                    </a:ext>
                  </a:extLst>
                </a:gridCol>
                <a:gridCol w="903111">
                  <a:extLst>
                    <a:ext uri="{9D8B030D-6E8A-4147-A177-3AD203B41FA5}">
                      <a16:colId xmlns:a16="http://schemas.microsoft.com/office/drawing/2014/main" val="3786071085"/>
                    </a:ext>
                  </a:extLst>
                </a:gridCol>
                <a:gridCol w="903111">
                  <a:extLst>
                    <a:ext uri="{9D8B030D-6E8A-4147-A177-3AD203B41FA5}">
                      <a16:colId xmlns:a16="http://schemas.microsoft.com/office/drawing/2014/main" val="4043899930"/>
                    </a:ext>
                  </a:extLst>
                </a:gridCol>
                <a:gridCol w="903111">
                  <a:extLst>
                    <a:ext uri="{9D8B030D-6E8A-4147-A177-3AD203B41FA5}">
                      <a16:colId xmlns:a16="http://schemas.microsoft.com/office/drawing/2014/main" val="4290636606"/>
                    </a:ext>
                  </a:extLst>
                </a:gridCol>
                <a:gridCol w="903111">
                  <a:extLst>
                    <a:ext uri="{9D8B030D-6E8A-4147-A177-3AD203B41FA5}">
                      <a16:colId xmlns:a16="http://schemas.microsoft.com/office/drawing/2014/main" val="1355001369"/>
                    </a:ext>
                  </a:extLst>
                </a:gridCol>
                <a:gridCol w="903111">
                  <a:extLst>
                    <a:ext uri="{9D8B030D-6E8A-4147-A177-3AD203B41FA5}">
                      <a16:colId xmlns:a16="http://schemas.microsoft.com/office/drawing/2014/main" val="1412138140"/>
                    </a:ext>
                  </a:extLst>
                </a:gridCol>
                <a:gridCol w="903111">
                  <a:extLst>
                    <a:ext uri="{9D8B030D-6E8A-4147-A177-3AD203B41FA5}">
                      <a16:colId xmlns:a16="http://schemas.microsoft.com/office/drawing/2014/main" val="3463141766"/>
                    </a:ext>
                  </a:extLst>
                </a:gridCol>
                <a:gridCol w="903111">
                  <a:extLst>
                    <a:ext uri="{9D8B030D-6E8A-4147-A177-3AD203B41FA5}">
                      <a16:colId xmlns:a16="http://schemas.microsoft.com/office/drawing/2014/main" val="1189238154"/>
                    </a:ext>
                  </a:extLst>
                </a:gridCol>
              </a:tblGrid>
              <a:tr h="368446">
                <a:tc>
                  <a:txBody>
                    <a:bodyPr/>
                    <a:lstStyle/>
                    <a:p>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1</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4</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3</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5</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6</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2</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8</a:t>
                      </a:r>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9</a:t>
                      </a:r>
                      <a:endParaRPr lang="zh-TW" altLang="en-US" sz="2400" b="0" dirty="0">
                        <a:latin typeface="Times New Roman" pitchFamily="18" charset="0"/>
                        <a:cs typeface="Times New Roman" pitchFamily="18" charset="0"/>
                      </a:endParaRPr>
                    </a:p>
                  </a:txBody>
                  <a:tcPr marL="91441" marR="91441"/>
                </a:tc>
                <a:extLst>
                  <a:ext uri="{0D108BD9-81ED-4DB2-BD59-A6C34878D82A}">
                    <a16:rowId xmlns:a16="http://schemas.microsoft.com/office/drawing/2014/main" val="2755646971"/>
                  </a:ext>
                </a:extLst>
              </a:tr>
              <a:tr h="370840">
                <a:tc>
                  <a:txBody>
                    <a:bodyPr/>
                    <a:lstStyle/>
                    <a:p>
                      <a:r>
                        <a:rPr lang="zh-TW" altLang="en-US" sz="2400" b="0" dirty="0">
                          <a:latin typeface="Times New Roman" pitchFamily="18" charset="0"/>
                          <a:cs typeface="Times New Roman" pitchFamily="18" charset="0"/>
                        </a:rPr>
                        <a:t> </a:t>
                      </a:r>
                      <a:r>
                        <a:rPr lang="zh-TW" altLang="en-US" sz="2400" b="0" baseline="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1</a:t>
                      </a: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X</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extLst>
                  <a:ext uri="{0D108BD9-81ED-4DB2-BD59-A6C34878D82A}">
                    <a16:rowId xmlns:a16="http://schemas.microsoft.com/office/drawing/2014/main" val="3556249986"/>
                  </a:ext>
                </a:extLst>
              </a:tr>
              <a:tr h="370840">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7</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extLst>
                  <a:ext uri="{0D108BD9-81ED-4DB2-BD59-A6C34878D82A}">
                    <a16:rowId xmlns:a16="http://schemas.microsoft.com/office/drawing/2014/main" val="2602409900"/>
                  </a:ext>
                </a:extLst>
              </a:tr>
              <a:tr h="370840">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5</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X</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extLst>
                  <a:ext uri="{0D108BD9-81ED-4DB2-BD59-A6C34878D82A}">
                    <a16:rowId xmlns:a16="http://schemas.microsoft.com/office/drawing/2014/main" val="3148661006"/>
                  </a:ext>
                </a:extLst>
              </a:tr>
              <a:tr h="370840">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4</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X</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extLst>
                  <a:ext uri="{0D108BD9-81ED-4DB2-BD59-A6C34878D82A}">
                    <a16:rowId xmlns:a16="http://schemas.microsoft.com/office/drawing/2014/main" val="2487564076"/>
                  </a:ext>
                </a:extLst>
              </a:tr>
              <a:tr h="370840">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8</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X</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extLst>
                  <a:ext uri="{0D108BD9-81ED-4DB2-BD59-A6C34878D82A}">
                    <a16:rowId xmlns:a16="http://schemas.microsoft.com/office/drawing/2014/main" val="1213939457"/>
                  </a:ext>
                </a:extLst>
              </a:tr>
              <a:tr h="370840">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3</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X</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extLst>
                  <a:ext uri="{0D108BD9-81ED-4DB2-BD59-A6C34878D82A}">
                    <a16:rowId xmlns:a16="http://schemas.microsoft.com/office/drawing/2014/main" val="3442536994"/>
                  </a:ext>
                </a:extLst>
              </a:tr>
              <a:tr h="370840">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9</a:t>
                      </a:r>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a:latin typeface="Times New Roman" pitchFamily="18" charset="0"/>
                        <a:cs typeface="Times New Roman" pitchFamily="18" charset="0"/>
                      </a:endParaRPr>
                    </a:p>
                  </a:txBody>
                  <a:tcPr marL="91441" marR="91441"/>
                </a:tc>
                <a:tc>
                  <a:txBody>
                    <a:bodyPr/>
                    <a:lstStyle/>
                    <a:p>
                      <a:endParaRPr lang="zh-TW" altLang="en-US" sz="2400" b="0" dirty="0">
                        <a:latin typeface="Times New Roman" pitchFamily="18" charset="0"/>
                        <a:cs typeface="Times New Roman" pitchFamily="18" charset="0"/>
                      </a:endParaRPr>
                    </a:p>
                  </a:txBody>
                  <a:tcPr marL="91441" marR="91441"/>
                </a:tc>
                <a:tc>
                  <a:txBody>
                    <a:bodyPr/>
                    <a:lstStyle/>
                    <a:p>
                      <a:r>
                        <a:rPr lang="zh-TW" altLang="en-US" sz="2400" b="0" dirty="0">
                          <a:latin typeface="Times New Roman" pitchFamily="18" charset="0"/>
                          <a:cs typeface="Times New Roman" pitchFamily="18" charset="0"/>
                        </a:rPr>
                        <a:t>  </a:t>
                      </a:r>
                      <a:r>
                        <a:rPr lang="en-US" altLang="zh-TW" sz="2400" b="0" dirty="0">
                          <a:latin typeface="Times New Roman" pitchFamily="18" charset="0"/>
                          <a:cs typeface="Times New Roman" pitchFamily="18" charset="0"/>
                        </a:rPr>
                        <a:t>X</a:t>
                      </a:r>
                      <a:endParaRPr lang="zh-TW" altLang="en-US" sz="2400" b="0" dirty="0">
                        <a:latin typeface="Times New Roman" pitchFamily="18" charset="0"/>
                        <a:cs typeface="Times New Roman" pitchFamily="18" charset="0"/>
                      </a:endParaRPr>
                    </a:p>
                  </a:txBody>
                  <a:tcPr marL="91441" marR="91441"/>
                </a:tc>
                <a:extLst>
                  <a:ext uri="{0D108BD9-81ED-4DB2-BD59-A6C34878D82A}">
                    <a16:rowId xmlns:a16="http://schemas.microsoft.com/office/drawing/2014/main" val="1317263104"/>
                  </a:ext>
                </a:extLst>
              </a:tr>
            </a:tbl>
          </a:graphicData>
        </a:graphic>
      </p:graphicFrame>
      <p:cxnSp>
        <p:nvCxnSpPr>
          <p:cNvPr id="7" name="直線接點 6">
            <a:extLst>
              <a:ext uri="{FF2B5EF4-FFF2-40B4-BE49-F238E27FC236}">
                <a16:creationId xmlns:a16="http://schemas.microsoft.com/office/drawing/2014/main" id="{7041243C-18CB-4287-9B4D-0363D4AFBA66}"/>
              </a:ext>
            </a:extLst>
          </p:cNvPr>
          <p:cNvCxnSpPr>
            <a:cxnSpLocks noChangeShapeType="1"/>
          </p:cNvCxnSpPr>
          <p:nvPr/>
        </p:nvCxnSpPr>
        <p:spPr bwMode="auto">
          <a:xfrm>
            <a:off x="3625574" y="3429000"/>
            <a:ext cx="5294223" cy="1843247"/>
          </a:xfrm>
          <a:prstGeom prst="line">
            <a:avLst/>
          </a:prstGeom>
          <a:ln>
            <a:headEnd/>
            <a:tailEnd/>
          </a:ln>
          <a:extLst>
            <a:ext uri="{909E8E84-426E-40DD-AFC4-6F175D3DCCD1}">
              <a14:hiddenFill xmlns:a14="http://schemas.microsoft.com/office/drawing/2010/main">
                <a:noFill/>
              </a14:hiddenFill>
            </a:ext>
          </a:extLst>
        </p:spPr>
        <p:style>
          <a:lnRef idx="3">
            <a:schemeClr val="accent1"/>
          </a:lnRef>
          <a:fillRef idx="0">
            <a:schemeClr val="accent1"/>
          </a:fillRef>
          <a:effectRef idx="2">
            <a:schemeClr val="accent1"/>
          </a:effectRef>
          <a:fontRef idx="minor">
            <a:schemeClr val="tx1"/>
          </a:fontRef>
        </p:style>
      </p:cxnSp>
      <p:cxnSp>
        <p:nvCxnSpPr>
          <p:cNvPr id="15" name="直線接點 14">
            <a:extLst>
              <a:ext uri="{FF2B5EF4-FFF2-40B4-BE49-F238E27FC236}">
                <a16:creationId xmlns:a16="http://schemas.microsoft.com/office/drawing/2014/main" id="{D508D4AB-D0ED-4AF7-9A98-6198ED8637C0}"/>
              </a:ext>
            </a:extLst>
          </p:cNvPr>
          <p:cNvCxnSpPr>
            <a:cxnSpLocks noChangeShapeType="1"/>
          </p:cNvCxnSpPr>
          <p:nvPr/>
        </p:nvCxnSpPr>
        <p:spPr bwMode="auto">
          <a:xfrm flipH="1" flipV="1">
            <a:off x="8919797" y="5268036"/>
            <a:ext cx="1037235" cy="900494"/>
          </a:xfrm>
          <a:prstGeom prst="line">
            <a:avLst/>
          </a:prstGeom>
          <a:ln>
            <a:headEnd/>
            <a:tailEnd/>
          </a:ln>
          <a:extLst>
            <a:ext uri="{909E8E84-426E-40DD-AFC4-6F175D3DCCD1}">
              <a14:hiddenFill xmlns:a14="http://schemas.microsoft.com/office/drawing/2010/main">
                <a:noFill/>
              </a14:hiddenFill>
            </a:ext>
          </a:extLst>
        </p:spPr>
        <p:style>
          <a:lnRef idx="3">
            <a:schemeClr val="accent1"/>
          </a:lnRef>
          <a:fillRef idx="0">
            <a:schemeClr val="accent1"/>
          </a:fillRef>
          <a:effectRef idx="2">
            <a:schemeClr val="accent1"/>
          </a:effectRef>
          <a:fontRef idx="minor">
            <a:schemeClr val="tx1"/>
          </a:fontRef>
        </p:style>
      </p:cxnSp>
      <p:cxnSp>
        <p:nvCxnSpPr>
          <p:cNvPr id="18" name="直線接點 17">
            <a:extLst>
              <a:ext uri="{FF2B5EF4-FFF2-40B4-BE49-F238E27FC236}">
                <a16:creationId xmlns:a16="http://schemas.microsoft.com/office/drawing/2014/main" id="{36E7D396-410A-48E9-A42B-A6418FA72333}"/>
              </a:ext>
            </a:extLst>
          </p:cNvPr>
          <p:cNvCxnSpPr>
            <a:cxnSpLocks noChangeShapeType="1"/>
          </p:cNvCxnSpPr>
          <p:nvPr/>
        </p:nvCxnSpPr>
        <p:spPr bwMode="auto">
          <a:xfrm>
            <a:off x="4500593" y="4657737"/>
            <a:ext cx="4360685" cy="651808"/>
          </a:xfrm>
          <a:prstGeom prst="line">
            <a:avLst/>
          </a:prstGeom>
          <a:ln>
            <a:headEnd/>
            <a:tailEnd/>
          </a:ln>
          <a:extLst>
            <a:ext uri="{909E8E84-426E-40DD-AFC4-6F175D3DCCD1}">
              <a14:hiddenFill xmlns:a14="http://schemas.microsoft.com/office/drawing/2010/main">
                <a:noFill/>
              </a14:hiddenFill>
            </a:ext>
          </a:extLst>
        </p:spPr>
        <p:style>
          <a:lnRef idx="3">
            <a:schemeClr val="accent2"/>
          </a:lnRef>
          <a:fillRef idx="0">
            <a:schemeClr val="accent2"/>
          </a:fillRef>
          <a:effectRef idx="2">
            <a:schemeClr val="accent2"/>
          </a:effectRef>
          <a:fontRef idx="minor">
            <a:schemeClr val="tx1"/>
          </a:fontRef>
        </p:style>
      </p:cxnSp>
      <p:cxnSp>
        <p:nvCxnSpPr>
          <p:cNvPr id="19" name="直線接點 18">
            <a:extLst>
              <a:ext uri="{FF2B5EF4-FFF2-40B4-BE49-F238E27FC236}">
                <a16:creationId xmlns:a16="http://schemas.microsoft.com/office/drawing/2014/main" id="{70568000-2266-48DF-A646-6581C4ABE42F}"/>
              </a:ext>
            </a:extLst>
          </p:cNvPr>
          <p:cNvCxnSpPr>
            <a:cxnSpLocks noChangeShapeType="1"/>
          </p:cNvCxnSpPr>
          <p:nvPr/>
        </p:nvCxnSpPr>
        <p:spPr bwMode="auto">
          <a:xfrm>
            <a:off x="3625576" y="3439256"/>
            <a:ext cx="845758" cy="1329140"/>
          </a:xfrm>
          <a:prstGeom prst="line">
            <a:avLst/>
          </a:prstGeom>
          <a:ln>
            <a:headEnd/>
            <a:tailEn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cxnSp>
      <p:cxnSp>
        <p:nvCxnSpPr>
          <p:cNvPr id="20" name="直線接點 19">
            <a:extLst>
              <a:ext uri="{FF2B5EF4-FFF2-40B4-BE49-F238E27FC236}">
                <a16:creationId xmlns:a16="http://schemas.microsoft.com/office/drawing/2014/main" id="{BB41ED05-B8C9-408F-A7F5-AB90FECD2982}"/>
              </a:ext>
            </a:extLst>
          </p:cNvPr>
          <p:cNvCxnSpPr>
            <a:cxnSpLocks noChangeShapeType="1"/>
          </p:cNvCxnSpPr>
          <p:nvPr/>
        </p:nvCxnSpPr>
        <p:spPr bwMode="auto">
          <a:xfrm>
            <a:off x="5444254" y="5718282"/>
            <a:ext cx="4512778" cy="445192"/>
          </a:xfrm>
          <a:prstGeom prst="line">
            <a:avLst/>
          </a:prstGeom>
          <a:ln>
            <a:headEnd/>
            <a:tailEn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cxnSp>
      <p:cxnSp>
        <p:nvCxnSpPr>
          <p:cNvPr id="25" name="直線接點 24">
            <a:extLst>
              <a:ext uri="{FF2B5EF4-FFF2-40B4-BE49-F238E27FC236}">
                <a16:creationId xmlns:a16="http://schemas.microsoft.com/office/drawing/2014/main" id="{531F9894-2DF3-456B-83D1-ADD4C8BBCE78}"/>
              </a:ext>
            </a:extLst>
          </p:cNvPr>
          <p:cNvCxnSpPr>
            <a:cxnSpLocks noChangeShapeType="1"/>
          </p:cNvCxnSpPr>
          <p:nvPr/>
        </p:nvCxnSpPr>
        <p:spPr bwMode="auto">
          <a:xfrm>
            <a:off x="4471334" y="4758140"/>
            <a:ext cx="914401" cy="960144"/>
          </a:xfrm>
          <a:prstGeom prst="line">
            <a:avLst/>
          </a:prstGeom>
          <a:ln>
            <a:headEnd/>
            <a:tailEn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cxnSp>
      <p:cxnSp>
        <p:nvCxnSpPr>
          <p:cNvPr id="32" name="直線接點 31">
            <a:extLst>
              <a:ext uri="{FF2B5EF4-FFF2-40B4-BE49-F238E27FC236}">
                <a16:creationId xmlns:a16="http://schemas.microsoft.com/office/drawing/2014/main" id="{3259E59E-FEC9-4CE4-A767-9323C3AFE377}"/>
              </a:ext>
            </a:extLst>
          </p:cNvPr>
          <p:cNvCxnSpPr>
            <a:cxnSpLocks noChangeShapeType="1"/>
          </p:cNvCxnSpPr>
          <p:nvPr/>
        </p:nvCxnSpPr>
        <p:spPr bwMode="auto">
          <a:xfrm>
            <a:off x="3715352" y="3471000"/>
            <a:ext cx="785241" cy="1186737"/>
          </a:xfrm>
          <a:prstGeom prst="line">
            <a:avLst/>
          </a:prstGeom>
          <a:ln>
            <a:headEnd/>
            <a:tailEnd/>
          </a:ln>
          <a:extLst>
            <a:ext uri="{909E8E84-426E-40DD-AFC4-6F175D3DCCD1}">
              <a14:hiddenFill xmlns:a14="http://schemas.microsoft.com/office/drawing/2010/main">
                <a:noFill/>
              </a14:hiddenFill>
            </a:ext>
          </a:extLst>
        </p:spPr>
        <p:style>
          <a:lnRef idx="3">
            <a:schemeClr val="accent2"/>
          </a:lnRef>
          <a:fillRef idx="0">
            <a:schemeClr val="accent2"/>
          </a:fillRef>
          <a:effectRef idx="2">
            <a:schemeClr val="accent2"/>
          </a:effectRef>
          <a:fontRef idx="minor">
            <a:schemeClr val="tx1"/>
          </a:fontRef>
        </p:style>
      </p:cxnSp>
      <p:cxnSp>
        <p:nvCxnSpPr>
          <p:cNvPr id="33" name="直線接點 32">
            <a:extLst>
              <a:ext uri="{FF2B5EF4-FFF2-40B4-BE49-F238E27FC236}">
                <a16:creationId xmlns:a16="http://schemas.microsoft.com/office/drawing/2014/main" id="{C3FD9FF8-27C9-44CC-917D-CFE346688876}"/>
              </a:ext>
            </a:extLst>
          </p:cNvPr>
          <p:cNvCxnSpPr>
            <a:cxnSpLocks noChangeShapeType="1"/>
          </p:cNvCxnSpPr>
          <p:nvPr/>
        </p:nvCxnSpPr>
        <p:spPr bwMode="auto">
          <a:xfrm>
            <a:off x="8861278" y="5297386"/>
            <a:ext cx="974260" cy="823724"/>
          </a:xfrm>
          <a:prstGeom prst="line">
            <a:avLst/>
          </a:prstGeom>
          <a:ln>
            <a:headEnd/>
            <a:tailEnd/>
          </a:ln>
          <a:extLst>
            <a:ext uri="{909E8E84-426E-40DD-AFC4-6F175D3DCCD1}">
              <a14:hiddenFill xmlns:a14="http://schemas.microsoft.com/office/drawing/2010/main">
                <a:noFill/>
              </a14:hiddenFill>
            </a:ext>
          </a:extLst>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534451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209A4B-2A91-49D2-B329-2A47ABE97919}"/>
              </a:ext>
            </a:extLst>
          </p:cNvPr>
          <p:cNvSpPr>
            <a:spLocks noGrp="1"/>
          </p:cNvSpPr>
          <p:nvPr>
            <p:ph type="title"/>
          </p:nvPr>
        </p:nvSpPr>
        <p:spPr/>
        <p:txBody>
          <a:bodyPr/>
          <a:lstStyle/>
          <a:p>
            <a:r>
              <a:rPr lang="en-US" altLang="zh-TW" b="1" dirty="0" err="1"/>
              <a:t>LCS</a:t>
            </a:r>
            <a:r>
              <a:rPr lang="en-US" altLang="zh-TW" b="1" baseline="-25000" dirty="0" err="1"/>
              <a:t>k</a:t>
            </a:r>
            <a:r>
              <a:rPr lang="en-US" altLang="zh-TW" b="1" baseline="-25000" dirty="0"/>
              <a:t> </a:t>
            </a:r>
            <a:r>
              <a:rPr lang="es-ES" altLang="zh-TW" b="1" dirty="0"/>
              <a:t> Algorithm</a:t>
            </a:r>
            <a:endParaRPr lang="zh-TW" altLang="en-US" b="1" dirty="0"/>
          </a:p>
        </p:txBody>
      </p:sp>
      <p:pic>
        <p:nvPicPr>
          <p:cNvPr id="5" name="內容版面配置區 4">
            <a:extLst>
              <a:ext uri="{FF2B5EF4-FFF2-40B4-BE49-F238E27FC236}">
                <a16:creationId xmlns:a16="http://schemas.microsoft.com/office/drawing/2014/main" id="{1198AF81-9D72-48AE-82A1-405D7AF592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3888" y="2812954"/>
            <a:ext cx="8764223" cy="3458058"/>
          </a:xfrm>
        </p:spPr>
      </p:pic>
      <p:sp>
        <p:nvSpPr>
          <p:cNvPr id="4" name="矩形 3">
            <a:extLst>
              <a:ext uri="{FF2B5EF4-FFF2-40B4-BE49-F238E27FC236}">
                <a16:creationId xmlns:a16="http://schemas.microsoft.com/office/drawing/2014/main" id="{56D0D103-29C2-4BD2-96D2-FCE95E6D6B81}"/>
              </a:ext>
            </a:extLst>
          </p:cNvPr>
          <p:cNvSpPr/>
          <p:nvPr/>
        </p:nvSpPr>
        <p:spPr>
          <a:xfrm>
            <a:off x="2392218" y="3459223"/>
            <a:ext cx="4313382" cy="9328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B1E74AE2-BDD2-4A0D-B5EA-97CDA68C55AB}"/>
              </a:ext>
            </a:extLst>
          </p:cNvPr>
          <p:cNvSpPr/>
          <p:nvPr/>
        </p:nvSpPr>
        <p:spPr>
          <a:xfrm>
            <a:off x="2392218" y="4440740"/>
            <a:ext cx="4313382" cy="11266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AFBE81E5-88EA-4E68-BE11-A7A75DDE2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027" y="1818438"/>
            <a:ext cx="7425727" cy="866766"/>
          </a:xfrm>
          <a:prstGeom prst="rect">
            <a:avLst/>
          </a:prstGeom>
        </p:spPr>
      </p:pic>
    </p:spTree>
    <p:extLst>
      <p:ext uri="{BB962C8B-B14F-4D97-AF65-F5344CB8AC3E}">
        <p14:creationId xmlns:p14="http://schemas.microsoft.com/office/powerpoint/2010/main" val="15739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54BD6F-1C3D-4C67-A15A-9BCC84A12A52}"/>
              </a:ext>
            </a:extLst>
          </p:cNvPr>
          <p:cNvSpPr>
            <a:spLocks noGrp="1"/>
          </p:cNvSpPr>
          <p:nvPr>
            <p:ph type="title"/>
          </p:nvPr>
        </p:nvSpPr>
        <p:spPr/>
        <p:txBody>
          <a:bodyPr/>
          <a:lstStyle/>
          <a:p>
            <a:r>
              <a:rPr lang="es-ES" altLang="zh-TW" b="1" dirty="0"/>
              <a:t>LCS</a:t>
            </a:r>
            <a:r>
              <a:rPr lang="es-ES" altLang="zh-TW" b="1" baseline="-25000" dirty="0"/>
              <a:t>k </a:t>
            </a:r>
            <a:r>
              <a:rPr lang="es-ES" altLang="zh-TW" b="1" dirty="0"/>
              <a:t> Algorithm</a:t>
            </a:r>
            <a:endParaRPr lang="zh-TW" altLang="en-US" dirty="0"/>
          </a:p>
        </p:txBody>
      </p:sp>
      <p:pic>
        <p:nvPicPr>
          <p:cNvPr id="4" name="內容版面配置區 3">
            <a:extLst>
              <a:ext uri="{FF2B5EF4-FFF2-40B4-BE49-F238E27FC236}">
                <a16:creationId xmlns:a16="http://schemas.microsoft.com/office/drawing/2014/main" id="{459CD25F-C8D1-4AB9-8C8F-80004102D1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9680" y="2391130"/>
            <a:ext cx="5630061" cy="3153215"/>
          </a:xfrm>
          <a:prstGeom prst="rect">
            <a:avLst/>
          </a:prstGeom>
        </p:spPr>
      </p:pic>
      <p:sp>
        <p:nvSpPr>
          <p:cNvPr id="5" name="文字方塊 4">
            <a:extLst>
              <a:ext uri="{FF2B5EF4-FFF2-40B4-BE49-F238E27FC236}">
                <a16:creationId xmlns:a16="http://schemas.microsoft.com/office/drawing/2014/main" id="{CE048FC0-C229-4478-BBC0-3265112487BC}"/>
              </a:ext>
            </a:extLst>
          </p:cNvPr>
          <p:cNvSpPr txBox="1"/>
          <p:nvPr/>
        </p:nvSpPr>
        <p:spPr>
          <a:xfrm>
            <a:off x="4854428" y="5611457"/>
            <a:ext cx="1082180" cy="588007"/>
          </a:xfrm>
          <a:prstGeom prst="rect">
            <a:avLst/>
          </a:prstGeom>
          <a:noFill/>
        </p:spPr>
        <p:txBody>
          <a:bodyPr wrap="square" rtlCol="0">
            <a:spAutoFit/>
          </a:bodyPr>
          <a:lstStyle/>
          <a:p>
            <a:endParaRPr lang="zh-TW" altLang="en-US" dirty="0"/>
          </a:p>
        </p:txBody>
      </p:sp>
      <p:sp>
        <p:nvSpPr>
          <p:cNvPr id="6" name="文字方塊 5">
            <a:extLst>
              <a:ext uri="{FF2B5EF4-FFF2-40B4-BE49-F238E27FC236}">
                <a16:creationId xmlns:a16="http://schemas.microsoft.com/office/drawing/2014/main" id="{ADF38A4A-EAB8-4018-B80F-B8CAFC9FDB19}"/>
              </a:ext>
            </a:extLst>
          </p:cNvPr>
          <p:cNvSpPr txBox="1"/>
          <p:nvPr/>
        </p:nvSpPr>
        <p:spPr>
          <a:xfrm>
            <a:off x="6359741" y="2110184"/>
            <a:ext cx="5358126" cy="5001369"/>
          </a:xfrm>
          <a:prstGeom prst="rect">
            <a:avLst/>
          </a:prstGeom>
          <a:noFill/>
        </p:spPr>
        <p:txBody>
          <a:bodyPr wrap="square" rtlCol="0">
            <a:spAutoFit/>
          </a:bodyPr>
          <a:lstStyle/>
          <a:p>
            <a:r>
              <a:rPr lang="en-US" altLang="zh-TW" sz="2800" dirty="0"/>
              <a:t>Match pair</a:t>
            </a:r>
            <a:r>
              <a:rPr lang="zh-TW" altLang="en-US" sz="2800" dirty="0"/>
              <a:t>：</a:t>
            </a:r>
            <a:br>
              <a:rPr lang="en-US" altLang="zh-TW" sz="2800" dirty="0"/>
            </a:br>
            <a:r>
              <a:rPr lang="en-US" altLang="zh-TW" sz="2800" dirty="0"/>
              <a:t>(0,2) (2,1) (2,3) (2,8) (3,2)</a:t>
            </a:r>
          </a:p>
          <a:p>
            <a:endParaRPr lang="en-US" altLang="zh-TW" sz="2800" dirty="0"/>
          </a:p>
          <a:p>
            <a:r>
              <a:rPr lang="en-US" altLang="zh-TW" sz="2800" dirty="0"/>
              <a:t>=&gt;  M</a:t>
            </a:r>
            <a:r>
              <a:rPr lang="en-US" altLang="zh-TW" sz="2800" baseline="-25000" dirty="0"/>
              <a:t>0</a:t>
            </a:r>
            <a:r>
              <a:rPr lang="en-US" altLang="zh-TW" sz="2800" dirty="0"/>
              <a:t> = 0,  M</a:t>
            </a:r>
            <a:r>
              <a:rPr lang="en-US" altLang="zh-TW" sz="2800" baseline="-25000" dirty="0"/>
              <a:t>1</a:t>
            </a:r>
            <a:r>
              <a:rPr lang="en-US" altLang="zh-TW" sz="2800" dirty="0"/>
              <a:t> = 3</a:t>
            </a:r>
          </a:p>
          <a:p>
            <a:endParaRPr lang="en-US" altLang="zh-TW" sz="2800" dirty="0"/>
          </a:p>
          <a:p>
            <a:endParaRPr lang="en-US" altLang="zh-TW" sz="1100" dirty="0"/>
          </a:p>
          <a:p>
            <a:r>
              <a:rPr lang="en-US" altLang="zh-TW" sz="2800" dirty="0"/>
              <a:t>=&gt;  M</a:t>
            </a:r>
            <a:r>
              <a:rPr lang="en-US" altLang="zh-TW" sz="2800" baseline="-25000" dirty="0"/>
              <a:t>0</a:t>
            </a:r>
            <a:r>
              <a:rPr lang="en-US" altLang="zh-TW" sz="2800" dirty="0"/>
              <a:t> = 0,  M</a:t>
            </a:r>
            <a:r>
              <a:rPr lang="en-US" altLang="zh-TW" sz="2800" baseline="-25000" dirty="0"/>
              <a:t>1</a:t>
            </a:r>
            <a:r>
              <a:rPr lang="en-US" altLang="zh-TW" sz="2800" dirty="0"/>
              <a:t> = 2, M</a:t>
            </a:r>
            <a:r>
              <a:rPr lang="en-US" altLang="zh-TW" sz="2800" baseline="-25000" dirty="0"/>
              <a:t>2</a:t>
            </a:r>
            <a:r>
              <a:rPr lang="en-US" altLang="zh-TW" sz="2800" dirty="0"/>
              <a:t> = 9</a:t>
            </a:r>
          </a:p>
          <a:p>
            <a:endParaRPr lang="en-US" altLang="zh-TW" sz="2800" dirty="0"/>
          </a:p>
          <a:p>
            <a:r>
              <a:rPr lang="en-US" altLang="zh-TW" sz="2800" dirty="0"/>
              <a:t>O( </a:t>
            </a:r>
            <a:r>
              <a:rPr lang="en-US" altLang="zh-TW" sz="2800" dirty="0" err="1"/>
              <a:t>m+n+r+min</a:t>
            </a:r>
            <a:r>
              <a:rPr lang="en-US" altLang="zh-TW" sz="2800" dirty="0"/>
              <a:t>(</a:t>
            </a:r>
            <a:r>
              <a:rPr lang="en-US" altLang="zh-TW" sz="2800" dirty="0" err="1"/>
              <a:t>rlogl</a:t>
            </a:r>
            <a:r>
              <a:rPr lang="en-US" altLang="zh-TW" sz="2800" dirty="0"/>
              <a:t>, </a:t>
            </a:r>
            <a:r>
              <a:rPr lang="en-US" altLang="zh-TW" sz="2800" dirty="0" err="1"/>
              <a:t>r+ml</a:t>
            </a:r>
            <a:r>
              <a:rPr lang="en-US" altLang="zh-TW" sz="2800" dirty="0"/>
              <a:t>) )</a:t>
            </a:r>
            <a:endParaRPr lang="zh-TW" altLang="en-US" sz="2800" dirty="0"/>
          </a:p>
          <a:p>
            <a:endParaRPr lang="en-US" altLang="zh-TW" sz="2800" dirty="0"/>
          </a:p>
          <a:p>
            <a:endParaRPr lang="en-US" altLang="zh-TW" sz="2800" dirty="0"/>
          </a:p>
          <a:p>
            <a:endParaRPr lang="zh-TW" altLang="en-US" sz="2800" dirty="0"/>
          </a:p>
        </p:txBody>
      </p:sp>
    </p:spTree>
    <p:extLst>
      <p:ext uri="{BB962C8B-B14F-4D97-AF65-F5344CB8AC3E}">
        <p14:creationId xmlns:p14="http://schemas.microsoft.com/office/powerpoint/2010/main" val="76360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wipe(down)">
                                      <p:cBhvr>
                                        <p:cTn id="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06F3D5-971E-45CB-A698-3261A328D580}"/>
              </a:ext>
            </a:extLst>
          </p:cNvPr>
          <p:cNvSpPr>
            <a:spLocks noGrp="1"/>
          </p:cNvSpPr>
          <p:nvPr>
            <p:ph type="title"/>
          </p:nvPr>
        </p:nvSpPr>
        <p:spPr/>
        <p:txBody>
          <a:bodyPr/>
          <a:lstStyle/>
          <a:p>
            <a:r>
              <a:rPr lang="en-US" altLang="zh-TW" b="1" dirty="0" err="1"/>
              <a:t>LCS</a:t>
            </a:r>
            <a:r>
              <a:rPr lang="en-US" altLang="zh-TW" b="1" baseline="-25000" dirty="0" err="1"/>
              <a:t>k</a:t>
            </a:r>
            <a:r>
              <a:rPr lang="en-US" altLang="zh-TW" b="1" baseline="-25000" dirty="0"/>
              <a:t>+ </a:t>
            </a:r>
            <a:r>
              <a:rPr lang="es-ES" altLang="zh-TW" b="1" dirty="0"/>
              <a:t> Algorithm</a:t>
            </a:r>
            <a:endParaRPr lang="zh-TW" altLang="en-US" dirty="0"/>
          </a:p>
        </p:txBody>
      </p:sp>
      <p:pic>
        <p:nvPicPr>
          <p:cNvPr id="5" name="內容版面配置區 4">
            <a:extLst>
              <a:ext uri="{FF2B5EF4-FFF2-40B4-BE49-F238E27FC236}">
                <a16:creationId xmlns:a16="http://schemas.microsoft.com/office/drawing/2014/main" id="{45E35929-29FC-4080-83BC-9589DBAFEB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0280" y="1690688"/>
            <a:ext cx="6047313" cy="962873"/>
          </a:xfrm>
        </p:spPr>
      </p:pic>
      <p:graphicFrame>
        <p:nvGraphicFramePr>
          <p:cNvPr id="6" name="表格 5">
            <a:extLst>
              <a:ext uri="{FF2B5EF4-FFF2-40B4-BE49-F238E27FC236}">
                <a16:creationId xmlns:a16="http://schemas.microsoft.com/office/drawing/2014/main" id="{2FE192F1-1619-4520-9FAE-4EBE0AE18E7B}"/>
              </a:ext>
            </a:extLst>
          </p:cNvPr>
          <p:cNvGraphicFramePr>
            <a:graphicFrameLocks noGrp="1"/>
          </p:cNvGraphicFramePr>
          <p:nvPr>
            <p:extLst>
              <p:ext uri="{D42A27DB-BD31-4B8C-83A1-F6EECF244321}">
                <p14:modId xmlns:p14="http://schemas.microsoft.com/office/powerpoint/2010/main" val="3840050328"/>
              </p:ext>
            </p:extLst>
          </p:nvPr>
        </p:nvGraphicFramePr>
        <p:xfrm>
          <a:off x="1870250" y="3016251"/>
          <a:ext cx="8451500" cy="2974022"/>
        </p:xfrm>
        <a:graphic>
          <a:graphicData uri="http://schemas.openxmlformats.org/drawingml/2006/table">
            <a:tbl>
              <a:tblPr firstRow="1" bandRow="1">
                <a:tableStyleId>{5C22544A-7EE6-4342-B048-85BDC9FD1C3A}</a:tableStyleId>
              </a:tblPr>
              <a:tblGrid>
                <a:gridCol w="845150">
                  <a:extLst>
                    <a:ext uri="{9D8B030D-6E8A-4147-A177-3AD203B41FA5}">
                      <a16:colId xmlns:a16="http://schemas.microsoft.com/office/drawing/2014/main" val="51207232"/>
                    </a:ext>
                  </a:extLst>
                </a:gridCol>
                <a:gridCol w="845150">
                  <a:extLst>
                    <a:ext uri="{9D8B030D-6E8A-4147-A177-3AD203B41FA5}">
                      <a16:colId xmlns:a16="http://schemas.microsoft.com/office/drawing/2014/main" val="3251053181"/>
                    </a:ext>
                  </a:extLst>
                </a:gridCol>
                <a:gridCol w="845150">
                  <a:extLst>
                    <a:ext uri="{9D8B030D-6E8A-4147-A177-3AD203B41FA5}">
                      <a16:colId xmlns:a16="http://schemas.microsoft.com/office/drawing/2014/main" val="140651566"/>
                    </a:ext>
                  </a:extLst>
                </a:gridCol>
                <a:gridCol w="845150">
                  <a:extLst>
                    <a:ext uri="{9D8B030D-6E8A-4147-A177-3AD203B41FA5}">
                      <a16:colId xmlns:a16="http://schemas.microsoft.com/office/drawing/2014/main" val="3078447692"/>
                    </a:ext>
                  </a:extLst>
                </a:gridCol>
                <a:gridCol w="845150">
                  <a:extLst>
                    <a:ext uri="{9D8B030D-6E8A-4147-A177-3AD203B41FA5}">
                      <a16:colId xmlns:a16="http://schemas.microsoft.com/office/drawing/2014/main" val="1010177386"/>
                    </a:ext>
                  </a:extLst>
                </a:gridCol>
                <a:gridCol w="845150">
                  <a:extLst>
                    <a:ext uri="{9D8B030D-6E8A-4147-A177-3AD203B41FA5}">
                      <a16:colId xmlns:a16="http://schemas.microsoft.com/office/drawing/2014/main" val="3951624543"/>
                    </a:ext>
                  </a:extLst>
                </a:gridCol>
                <a:gridCol w="845150">
                  <a:extLst>
                    <a:ext uri="{9D8B030D-6E8A-4147-A177-3AD203B41FA5}">
                      <a16:colId xmlns:a16="http://schemas.microsoft.com/office/drawing/2014/main" val="188847742"/>
                    </a:ext>
                  </a:extLst>
                </a:gridCol>
                <a:gridCol w="845150">
                  <a:extLst>
                    <a:ext uri="{9D8B030D-6E8A-4147-A177-3AD203B41FA5}">
                      <a16:colId xmlns:a16="http://schemas.microsoft.com/office/drawing/2014/main" val="1703444915"/>
                    </a:ext>
                  </a:extLst>
                </a:gridCol>
                <a:gridCol w="845150">
                  <a:extLst>
                    <a:ext uri="{9D8B030D-6E8A-4147-A177-3AD203B41FA5}">
                      <a16:colId xmlns:a16="http://schemas.microsoft.com/office/drawing/2014/main" val="3895507038"/>
                    </a:ext>
                  </a:extLst>
                </a:gridCol>
                <a:gridCol w="845150">
                  <a:extLst>
                    <a:ext uri="{9D8B030D-6E8A-4147-A177-3AD203B41FA5}">
                      <a16:colId xmlns:a16="http://schemas.microsoft.com/office/drawing/2014/main" val="1765409900"/>
                    </a:ext>
                  </a:extLst>
                </a:gridCol>
              </a:tblGrid>
              <a:tr h="413702">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3834553"/>
                  </a:ext>
                </a:extLst>
              </a:tr>
              <a:tr h="413702">
                <a:tc>
                  <a:txBody>
                    <a:bodyPr/>
                    <a:lstStyle/>
                    <a:p>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solidFill>
                            <a:srgbClr val="FF0000"/>
                          </a:solidFill>
                        </a:rPr>
                        <a:t>a</a:t>
                      </a:r>
                      <a:endParaRPr lang="zh-TW" altLang="en-US" sz="2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solidFill>
                            <a:srgbClr val="FF0000"/>
                          </a:solidFill>
                        </a:rPr>
                        <a:t>c</a:t>
                      </a:r>
                      <a:endParaRPr lang="zh-TW" altLang="en-US" sz="2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4910488"/>
                  </a:ext>
                </a:extLst>
              </a:tr>
              <a:tr h="413702">
                <a:tc>
                  <a:txBody>
                    <a:bodyPr/>
                    <a:lstStyle/>
                    <a:p>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t>A   </a:t>
                      </a:r>
                      <a:r>
                        <a:rPr lang="en-US" altLang="zh-TW" sz="2200" dirty="0">
                          <a:solidFill>
                            <a:srgbClr val="FF0000"/>
                          </a:solidFill>
                        </a:rPr>
                        <a:t>b</a:t>
                      </a:r>
                      <a:endParaRPr lang="zh-TW" altLang="en-US" sz="2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t>C</a:t>
                      </a:r>
                      <a:endParaRPr lang="zh-TW" altLang="en-US"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7586297"/>
                  </a:ext>
                </a:extLst>
              </a:tr>
              <a:tr h="413702">
                <a:tc>
                  <a:txBody>
                    <a:bodyPr/>
                    <a:lstStyle/>
                    <a:p>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t>B</a:t>
                      </a:r>
                      <a:endParaRPr lang="zh-TW" altLang="en-US"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388471"/>
                  </a:ext>
                </a:extLst>
              </a:tr>
              <a:tr h="413702">
                <a:tc>
                  <a:txBody>
                    <a:bodyPr/>
                    <a:lstStyle/>
                    <a:p>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solidFill>
                            <a:srgbClr val="FF0000"/>
                          </a:solidFill>
                        </a:rPr>
                        <a:t>d</a:t>
                      </a:r>
                      <a:endParaRPr lang="zh-TW" altLang="en-US" sz="2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solidFill>
                            <a:srgbClr val="FF0000"/>
                          </a:solidFill>
                        </a:rPr>
                        <a:t>e</a:t>
                      </a:r>
                      <a:endParaRPr lang="zh-TW" altLang="en-US" sz="2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95004"/>
                  </a:ext>
                </a:extLst>
              </a:tr>
              <a:tr h="413702">
                <a:tc>
                  <a:txBody>
                    <a:bodyPr/>
                    <a:lstStyle/>
                    <a:p>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t>D   </a:t>
                      </a:r>
                      <a:r>
                        <a:rPr lang="en-US" altLang="zh-TW" sz="2200" dirty="0">
                          <a:solidFill>
                            <a:srgbClr val="FF0000"/>
                          </a:solidFill>
                        </a:rPr>
                        <a:t>f</a:t>
                      </a:r>
                      <a:endParaRPr lang="zh-TW" altLang="en-US" sz="2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t>E</a:t>
                      </a:r>
                      <a:endParaRPr lang="zh-TW" altLang="en-US"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819621"/>
                  </a:ext>
                </a:extLst>
              </a:tr>
              <a:tr h="413702">
                <a:tc>
                  <a:txBody>
                    <a:bodyPr/>
                    <a:lstStyle/>
                    <a:p>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2200" dirty="0"/>
                        <a:t>F</a:t>
                      </a:r>
                      <a:endParaRPr lang="zh-TW" altLang="en-US"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7259781"/>
                  </a:ext>
                </a:extLst>
              </a:tr>
            </a:tbl>
          </a:graphicData>
        </a:graphic>
      </p:graphicFrame>
    </p:spTree>
    <p:extLst>
      <p:ext uri="{BB962C8B-B14F-4D97-AF65-F5344CB8AC3E}">
        <p14:creationId xmlns:p14="http://schemas.microsoft.com/office/powerpoint/2010/main" val="651063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B80002-6FBA-41E3-B74C-ED1B368355E5}"/>
              </a:ext>
            </a:extLst>
          </p:cNvPr>
          <p:cNvSpPr>
            <a:spLocks noGrp="1"/>
          </p:cNvSpPr>
          <p:nvPr>
            <p:ph type="title"/>
          </p:nvPr>
        </p:nvSpPr>
        <p:spPr/>
        <p:txBody>
          <a:bodyPr/>
          <a:lstStyle/>
          <a:p>
            <a:r>
              <a:rPr lang="en-US" altLang="zh-TW" b="1" dirty="0" err="1"/>
              <a:t>LCS</a:t>
            </a:r>
            <a:r>
              <a:rPr lang="en-US" altLang="zh-TW" b="1" baseline="-25000" dirty="0" err="1"/>
              <a:t>k</a:t>
            </a:r>
            <a:r>
              <a:rPr lang="en-US" altLang="zh-TW" b="1" baseline="-25000" dirty="0"/>
              <a:t>+ </a:t>
            </a:r>
            <a:r>
              <a:rPr lang="es-ES" altLang="zh-TW" b="1" dirty="0"/>
              <a:t> Algorithm</a:t>
            </a:r>
            <a:endParaRPr lang="zh-TW" altLang="en-US" dirty="0"/>
          </a:p>
        </p:txBody>
      </p:sp>
      <p:pic>
        <p:nvPicPr>
          <p:cNvPr id="5" name="內容版面配置區 4">
            <a:extLst>
              <a:ext uri="{FF2B5EF4-FFF2-40B4-BE49-F238E27FC236}">
                <a16:creationId xmlns:a16="http://schemas.microsoft.com/office/drawing/2014/main" id="{124B43A8-51B7-423D-A28C-903D35A27B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2467" y="1948370"/>
            <a:ext cx="8707065" cy="4105848"/>
          </a:xfrm>
        </p:spPr>
      </p:pic>
      <p:sp>
        <p:nvSpPr>
          <p:cNvPr id="6" name="文字方塊 5">
            <a:extLst>
              <a:ext uri="{FF2B5EF4-FFF2-40B4-BE49-F238E27FC236}">
                <a16:creationId xmlns:a16="http://schemas.microsoft.com/office/drawing/2014/main" id="{1395CC24-1F2F-4A9C-A663-3836A3242BF2}"/>
              </a:ext>
            </a:extLst>
          </p:cNvPr>
          <p:cNvSpPr txBox="1"/>
          <p:nvPr/>
        </p:nvSpPr>
        <p:spPr>
          <a:xfrm>
            <a:off x="6498393" y="5380872"/>
            <a:ext cx="5033396" cy="523220"/>
          </a:xfrm>
          <a:prstGeom prst="rect">
            <a:avLst/>
          </a:prstGeom>
          <a:noFill/>
        </p:spPr>
        <p:txBody>
          <a:bodyPr wrap="square" rtlCol="0">
            <a:spAutoFit/>
          </a:bodyPr>
          <a:lstStyle/>
          <a:p>
            <a:r>
              <a:rPr lang="en-US" altLang="zh-TW" sz="2800" dirty="0"/>
              <a:t>O( </a:t>
            </a:r>
            <a:r>
              <a:rPr lang="en-US" altLang="zh-TW" sz="2800" dirty="0" err="1"/>
              <a:t>m+n+r+min</a:t>
            </a:r>
            <a:r>
              <a:rPr lang="en-US" altLang="zh-TW" sz="2800" dirty="0"/>
              <a:t>(r(</a:t>
            </a:r>
            <a:r>
              <a:rPr lang="en-US" altLang="zh-TW" sz="2800" dirty="0" err="1"/>
              <a:t>logl+k</a:t>
            </a:r>
            <a:r>
              <a:rPr lang="en-US" altLang="zh-TW" sz="2800" dirty="0"/>
              <a:t>), </a:t>
            </a:r>
            <a:r>
              <a:rPr lang="en-US" altLang="zh-TW" sz="2800" dirty="0" err="1"/>
              <a:t>r+ml</a:t>
            </a:r>
            <a:r>
              <a:rPr lang="en-US" altLang="zh-TW" sz="2800" dirty="0"/>
              <a:t>) )</a:t>
            </a:r>
            <a:endParaRPr lang="zh-TW" altLang="en-US" sz="2800" dirty="0"/>
          </a:p>
        </p:txBody>
      </p:sp>
      <p:sp>
        <p:nvSpPr>
          <p:cNvPr id="8" name="矩形 7">
            <a:extLst>
              <a:ext uri="{FF2B5EF4-FFF2-40B4-BE49-F238E27FC236}">
                <a16:creationId xmlns:a16="http://schemas.microsoft.com/office/drawing/2014/main" id="{569E1063-A202-4298-AF1B-4DC0C4F11AE3}"/>
              </a:ext>
            </a:extLst>
          </p:cNvPr>
          <p:cNvSpPr/>
          <p:nvPr/>
        </p:nvSpPr>
        <p:spPr>
          <a:xfrm>
            <a:off x="2382982" y="3534857"/>
            <a:ext cx="5902036" cy="18499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2998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02D668-6264-46C5-9463-74BCD75D0637}"/>
              </a:ext>
            </a:extLst>
          </p:cNvPr>
          <p:cNvSpPr>
            <a:spLocks noGrp="1"/>
          </p:cNvSpPr>
          <p:nvPr>
            <p:ph type="title"/>
          </p:nvPr>
        </p:nvSpPr>
        <p:spPr>
          <a:xfrm>
            <a:off x="838200" y="369626"/>
            <a:ext cx="10515600" cy="1325563"/>
          </a:xfrm>
        </p:spPr>
        <p:txBody>
          <a:bodyPr/>
          <a:lstStyle/>
          <a:p>
            <a:r>
              <a:rPr lang="en-US" altLang="zh-TW" b="1" dirty="0"/>
              <a:t>Comparison</a:t>
            </a:r>
            <a:endParaRPr lang="zh-TW" altLang="en-US" b="1" dirty="0"/>
          </a:p>
        </p:txBody>
      </p:sp>
      <p:pic>
        <p:nvPicPr>
          <p:cNvPr id="5" name="內容版面配置區 4">
            <a:extLst>
              <a:ext uri="{FF2B5EF4-FFF2-40B4-BE49-F238E27FC236}">
                <a16:creationId xmlns:a16="http://schemas.microsoft.com/office/drawing/2014/main" id="{AC280F8D-9A13-4F69-BE7B-65D273DE1E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0457" y="2363487"/>
            <a:ext cx="6069878" cy="924299"/>
          </a:xfrm>
        </p:spPr>
      </p:pic>
      <p:pic>
        <p:nvPicPr>
          <p:cNvPr id="7" name="圖片 6">
            <a:extLst>
              <a:ext uri="{FF2B5EF4-FFF2-40B4-BE49-F238E27FC236}">
                <a16:creationId xmlns:a16="http://schemas.microsoft.com/office/drawing/2014/main" id="{DE935EDC-62EC-421E-81A3-3B6FC4E24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457" y="3890605"/>
            <a:ext cx="5660138" cy="991001"/>
          </a:xfrm>
          <a:prstGeom prst="rect">
            <a:avLst/>
          </a:prstGeom>
        </p:spPr>
      </p:pic>
      <p:pic>
        <p:nvPicPr>
          <p:cNvPr id="9" name="圖片 8">
            <a:extLst>
              <a:ext uri="{FF2B5EF4-FFF2-40B4-BE49-F238E27FC236}">
                <a16:creationId xmlns:a16="http://schemas.microsoft.com/office/drawing/2014/main" id="{DDFDD0B7-BD85-4E3B-BA12-EF65D63332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6995" y="3809788"/>
            <a:ext cx="4907359" cy="781366"/>
          </a:xfrm>
          <a:prstGeom prst="rect">
            <a:avLst/>
          </a:prstGeom>
        </p:spPr>
      </p:pic>
      <p:pic>
        <p:nvPicPr>
          <p:cNvPr id="11" name="圖片 10">
            <a:extLst>
              <a:ext uri="{FF2B5EF4-FFF2-40B4-BE49-F238E27FC236}">
                <a16:creationId xmlns:a16="http://schemas.microsoft.com/office/drawing/2014/main" id="{BB82F4A0-33A9-48FB-9AB4-0509C2A036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6995" y="2530241"/>
            <a:ext cx="5183695" cy="590789"/>
          </a:xfrm>
          <a:prstGeom prst="rect">
            <a:avLst/>
          </a:prstGeom>
        </p:spPr>
      </p:pic>
      <p:sp>
        <p:nvSpPr>
          <p:cNvPr id="13" name="文字方塊 12">
            <a:extLst>
              <a:ext uri="{FF2B5EF4-FFF2-40B4-BE49-F238E27FC236}">
                <a16:creationId xmlns:a16="http://schemas.microsoft.com/office/drawing/2014/main" id="{8975FB18-9B10-4627-8C81-D4B73CC3047D}"/>
              </a:ext>
            </a:extLst>
          </p:cNvPr>
          <p:cNvSpPr txBox="1"/>
          <p:nvPr/>
        </p:nvSpPr>
        <p:spPr>
          <a:xfrm>
            <a:off x="2833084" y="1662642"/>
            <a:ext cx="1154883" cy="523220"/>
          </a:xfrm>
          <a:prstGeom prst="rect">
            <a:avLst/>
          </a:prstGeom>
          <a:noFill/>
        </p:spPr>
        <p:txBody>
          <a:bodyPr wrap="square" rtlCol="0">
            <a:spAutoFit/>
          </a:bodyPr>
          <a:lstStyle/>
          <a:p>
            <a:r>
              <a:rPr lang="en-US" altLang="zh-TW" sz="2800" dirty="0"/>
              <a:t>Last</a:t>
            </a:r>
            <a:endParaRPr lang="zh-TW" altLang="en-US" sz="2800" dirty="0"/>
          </a:p>
        </p:txBody>
      </p:sp>
      <p:sp>
        <p:nvSpPr>
          <p:cNvPr id="14" name="文字方塊 13">
            <a:extLst>
              <a:ext uri="{FF2B5EF4-FFF2-40B4-BE49-F238E27FC236}">
                <a16:creationId xmlns:a16="http://schemas.microsoft.com/office/drawing/2014/main" id="{27949139-106F-45B0-9799-253F4E0581A0}"/>
              </a:ext>
            </a:extLst>
          </p:cNvPr>
          <p:cNvSpPr txBox="1"/>
          <p:nvPr/>
        </p:nvSpPr>
        <p:spPr>
          <a:xfrm>
            <a:off x="8492456" y="1662642"/>
            <a:ext cx="1154883" cy="523220"/>
          </a:xfrm>
          <a:prstGeom prst="rect">
            <a:avLst/>
          </a:prstGeom>
          <a:noFill/>
        </p:spPr>
        <p:txBody>
          <a:bodyPr wrap="square" rtlCol="0">
            <a:spAutoFit/>
          </a:bodyPr>
          <a:lstStyle/>
          <a:p>
            <a:r>
              <a:rPr lang="en-US" altLang="zh-TW" sz="2800" dirty="0"/>
              <a:t>Our</a:t>
            </a:r>
            <a:endParaRPr lang="zh-TW" altLang="en-US" sz="2800" dirty="0"/>
          </a:p>
        </p:txBody>
      </p:sp>
    </p:spTree>
    <p:extLst>
      <p:ext uri="{BB962C8B-B14F-4D97-AF65-F5344CB8AC3E}">
        <p14:creationId xmlns:p14="http://schemas.microsoft.com/office/powerpoint/2010/main" val="170064919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1959</TotalTime>
  <Words>605</Words>
  <Application>Microsoft Office PowerPoint</Application>
  <PresentationFormat>寬螢幕</PresentationFormat>
  <Paragraphs>91</Paragraphs>
  <Slides>11</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新細明體</vt:lpstr>
      <vt:lpstr>Arial</vt:lpstr>
      <vt:lpstr>Calibri</vt:lpstr>
      <vt:lpstr>Calibri Light</vt:lpstr>
      <vt:lpstr>Times New Roman</vt:lpstr>
      <vt:lpstr>Wingdings</vt:lpstr>
      <vt:lpstr>Office 佈景主題</vt:lpstr>
      <vt:lpstr>Fast and Simple Algorithms for Computing both LCSk and LCSk+</vt:lpstr>
      <vt:lpstr>Abstract(1/2)</vt:lpstr>
      <vt:lpstr>Abstract(2/2)</vt:lpstr>
      <vt:lpstr>LCSk  and  LCSk+ ( LCS ≥ k )  </vt:lpstr>
      <vt:lpstr>Match pair</vt:lpstr>
      <vt:lpstr>LCS</vt:lpstr>
      <vt:lpstr>LCSk  Algorithm</vt:lpstr>
      <vt:lpstr>LCSk  Algorithm</vt:lpstr>
      <vt:lpstr>LCSk+  Algorithm</vt:lpstr>
      <vt:lpstr>LCSk+  Algorithm</vt:lpstr>
      <vt:lpstr>Comparison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Simple Algorithms for Computing both LCSk and LCSk+</dc:title>
  <dc:creator>冠霖</dc:creator>
  <cp:lastModifiedBy>冠霖</cp:lastModifiedBy>
  <cp:revision>39</cp:revision>
  <dcterms:created xsi:type="dcterms:W3CDTF">2018-11-04T13:37:46Z</dcterms:created>
  <dcterms:modified xsi:type="dcterms:W3CDTF">2018-11-06T10:25:53Z</dcterms:modified>
</cp:coreProperties>
</file>