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74" r:id="rId4"/>
    <p:sldId id="280" r:id="rId5"/>
    <p:sldId id="281" r:id="rId6"/>
    <p:sldId id="275" r:id="rId7"/>
    <p:sldId id="282" r:id="rId8"/>
    <p:sldId id="276" r:id="rId9"/>
    <p:sldId id="288" r:id="rId10"/>
    <p:sldId id="289" r:id="rId11"/>
    <p:sldId id="277" r:id="rId12"/>
    <p:sldId id="278" r:id="rId13"/>
    <p:sldId id="286" r:id="rId14"/>
    <p:sldId id="287" r:id="rId15"/>
    <p:sldId id="290" r:id="rId16"/>
    <p:sldId id="279" r:id="rId17"/>
    <p:sldId id="283" r:id="rId18"/>
    <p:sldId id="284" r:id="rId19"/>
    <p:sldId id="285"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9" autoAdjust="0"/>
    <p:restoredTop sz="78307" autoAdjust="0"/>
  </p:normalViewPr>
  <p:slideViewPr>
    <p:cSldViewPr snapToGrid="0">
      <p:cViewPr varScale="1">
        <p:scale>
          <a:sx n="77" d="100"/>
          <a:sy n="77" d="100"/>
        </p:scale>
        <p:origin x="120" y="2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2018/3/13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2</a:t>
            </a:fld>
            <a:endParaRPr lang="zh-TW" altLang="en-US"/>
          </a:p>
        </p:txBody>
      </p:sp>
    </p:spTree>
    <p:extLst>
      <p:ext uri="{BB962C8B-B14F-4D97-AF65-F5344CB8AC3E}">
        <p14:creationId xmlns:p14="http://schemas.microsoft.com/office/powerpoint/2010/main" val="3081513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3</a:t>
            </a:fld>
            <a:endParaRPr lang="zh-TW" altLang="en-US"/>
          </a:p>
        </p:txBody>
      </p:sp>
    </p:spTree>
    <p:extLst>
      <p:ext uri="{BB962C8B-B14F-4D97-AF65-F5344CB8AC3E}">
        <p14:creationId xmlns:p14="http://schemas.microsoft.com/office/powerpoint/2010/main" val="1572249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xmlns=""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xmlns="" id="{50E00B3F-FCF3-43A8-BA3C-83E3D27FDB5E}"/>
              </a:ext>
            </a:extLst>
          </p:cNvPr>
          <p:cNvSpPr>
            <a:spLocks noGrp="1"/>
          </p:cNvSpPr>
          <p:nvPr>
            <p:ph type="dt" sz="half" idx="10"/>
          </p:nvPr>
        </p:nvSpPr>
        <p:spPr/>
        <p:txBody>
          <a:bodyPr/>
          <a:lstStyle/>
          <a:p>
            <a:fld id="{4B163CDD-1571-4D07-AD50-27DEDA2DAB08}" type="datetime1">
              <a:rPr lang="zh-TW" altLang="en-US" smtClean="0"/>
              <a:t>2018/3/13</a:t>
            </a:fld>
            <a:endParaRPr lang="zh-TW" altLang="en-US"/>
          </a:p>
        </p:txBody>
      </p:sp>
      <p:sp>
        <p:nvSpPr>
          <p:cNvPr id="5" name="頁尾版面配置區 4">
            <a:extLst>
              <a:ext uri="{FF2B5EF4-FFF2-40B4-BE49-F238E27FC236}">
                <a16:creationId xmlns:a16="http://schemas.microsoft.com/office/drawing/2014/main" xmlns=""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xmlns=""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xmlns="" id="{84D63DA6-083D-4C87-B46F-4639F5BADD1D}"/>
              </a:ext>
            </a:extLst>
          </p:cNvPr>
          <p:cNvSpPr>
            <a:spLocks noGrp="1"/>
          </p:cNvSpPr>
          <p:nvPr>
            <p:ph type="dt" sz="half" idx="10"/>
          </p:nvPr>
        </p:nvSpPr>
        <p:spPr/>
        <p:txBody>
          <a:bodyPr/>
          <a:lstStyle/>
          <a:p>
            <a:fld id="{45E90CF3-7BCB-4E41-A4BC-7F7C7D47433D}" type="datetime1">
              <a:rPr lang="zh-TW" altLang="en-US" smtClean="0"/>
              <a:t>2018/3/13</a:t>
            </a:fld>
            <a:endParaRPr lang="zh-TW" altLang="en-US"/>
          </a:p>
        </p:txBody>
      </p:sp>
      <p:sp>
        <p:nvSpPr>
          <p:cNvPr id="5" name="頁尾版面配置區 4">
            <a:extLst>
              <a:ext uri="{FF2B5EF4-FFF2-40B4-BE49-F238E27FC236}">
                <a16:creationId xmlns:a16="http://schemas.microsoft.com/office/drawing/2014/main" xmlns=""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F67C9000-9E5A-4894-8CE5-D814ED1F8837}"/>
              </a:ext>
            </a:extLst>
          </p:cNvPr>
          <p:cNvSpPr>
            <a:spLocks noGrp="1"/>
          </p:cNvSpPr>
          <p:nvPr>
            <p:ph type="dt" sz="half" idx="10"/>
          </p:nvPr>
        </p:nvSpPr>
        <p:spPr/>
        <p:txBody>
          <a:bodyPr/>
          <a:lstStyle/>
          <a:p>
            <a:fld id="{939863AD-E347-426A-B227-78A9B42781C3}" type="datetime1">
              <a:rPr lang="zh-TW" altLang="en-US" smtClean="0"/>
              <a:t>2018/3/13</a:t>
            </a:fld>
            <a:endParaRPr lang="zh-TW" altLang="en-US"/>
          </a:p>
        </p:txBody>
      </p:sp>
      <p:sp>
        <p:nvSpPr>
          <p:cNvPr id="5" name="頁尾版面配置區 4">
            <a:extLst>
              <a:ext uri="{FF2B5EF4-FFF2-40B4-BE49-F238E27FC236}">
                <a16:creationId xmlns:a16="http://schemas.microsoft.com/office/drawing/2014/main" xmlns=""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19E55BE4-DE58-4CB4-A138-82C7FA95E005}"/>
              </a:ext>
            </a:extLst>
          </p:cNvPr>
          <p:cNvSpPr>
            <a:spLocks noGrp="1"/>
          </p:cNvSpPr>
          <p:nvPr>
            <p:ph type="dt" sz="half" idx="10"/>
          </p:nvPr>
        </p:nvSpPr>
        <p:spPr/>
        <p:txBody>
          <a:bodyPr/>
          <a:lstStyle/>
          <a:p>
            <a:fld id="{98EE8F46-57F3-4B32-B3C0-034060244659}" type="datetime1">
              <a:rPr lang="zh-TW" altLang="en-US" smtClean="0"/>
              <a:t>2018/3/13</a:t>
            </a:fld>
            <a:endParaRPr lang="zh-TW" altLang="en-US"/>
          </a:p>
        </p:txBody>
      </p:sp>
      <p:sp>
        <p:nvSpPr>
          <p:cNvPr id="6" name="頁尾版面配置區 5">
            <a:extLst>
              <a:ext uri="{FF2B5EF4-FFF2-40B4-BE49-F238E27FC236}">
                <a16:creationId xmlns:a16="http://schemas.microsoft.com/office/drawing/2014/main" xmlns=""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81164490-F37E-4BF2-B792-E41261B07B22}"/>
              </a:ext>
            </a:extLst>
          </p:cNvPr>
          <p:cNvSpPr>
            <a:spLocks noGrp="1"/>
          </p:cNvSpPr>
          <p:nvPr>
            <p:ph type="dt" sz="half" idx="10"/>
          </p:nvPr>
        </p:nvSpPr>
        <p:spPr/>
        <p:txBody>
          <a:bodyPr/>
          <a:lstStyle/>
          <a:p>
            <a:fld id="{25BE6354-929A-48E4-A569-5065F8787DBB}" type="datetime1">
              <a:rPr lang="zh-TW" altLang="en-US" smtClean="0"/>
              <a:t>2018/3/13</a:t>
            </a:fld>
            <a:endParaRPr lang="zh-TW" altLang="en-US"/>
          </a:p>
        </p:txBody>
      </p:sp>
      <p:sp>
        <p:nvSpPr>
          <p:cNvPr id="8" name="頁尾版面配置區 7">
            <a:extLst>
              <a:ext uri="{FF2B5EF4-FFF2-40B4-BE49-F238E27FC236}">
                <a16:creationId xmlns:a16="http://schemas.microsoft.com/office/drawing/2014/main" xmlns=""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A067B964-A9EE-448C-A903-DF032F75B54E}"/>
              </a:ext>
            </a:extLst>
          </p:cNvPr>
          <p:cNvSpPr>
            <a:spLocks noGrp="1"/>
          </p:cNvSpPr>
          <p:nvPr>
            <p:ph type="dt" sz="half" idx="10"/>
          </p:nvPr>
        </p:nvSpPr>
        <p:spPr/>
        <p:txBody>
          <a:bodyPr/>
          <a:lstStyle/>
          <a:p>
            <a:fld id="{9347B07A-C303-4A11-829E-75A08D84F791}" type="datetime1">
              <a:rPr lang="zh-TW" altLang="en-US" smtClean="0"/>
              <a:t>2018/3/13</a:t>
            </a:fld>
            <a:endParaRPr lang="zh-TW" altLang="en-US"/>
          </a:p>
        </p:txBody>
      </p:sp>
      <p:sp>
        <p:nvSpPr>
          <p:cNvPr id="4" name="頁尾版面配置區 3">
            <a:extLst>
              <a:ext uri="{FF2B5EF4-FFF2-40B4-BE49-F238E27FC236}">
                <a16:creationId xmlns:a16="http://schemas.microsoft.com/office/drawing/2014/main" xmlns=""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5DC494-3175-4D2C-8019-6DC804B304DE}"/>
              </a:ext>
            </a:extLst>
          </p:cNvPr>
          <p:cNvSpPr>
            <a:spLocks noGrp="1"/>
          </p:cNvSpPr>
          <p:nvPr>
            <p:ph type="dt" sz="half" idx="10"/>
          </p:nvPr>
        </p:nvSpPr>
        <p:spPr/>
        <p:txBody>
          <a:bodyPr/>
          <a:lstStyle/>
          <a:p>
            <a:fld id="{818C0FAA-EAB9-46FF-9B2E-6C03EFE0E627}" type="datetime1">
              <a:rPr lang="zh-TW" altLang="en-US" smtClean="0"/>
              <a:t>2018/3/13</a:t>
            </a:fld>
            <a:endParaRPr lang="zh-TW" altLang="en-US"/>
          </a:p>
        </p:txBody>
      </p:sp>
      <p:sp>
        <p:nvSpPr>
          <p:cNvPr id="3" name="頁尾版面配置區 2">
            <a:extLst>
              <a:ext uri="{FF2B5EF4-FFF2-40B4-BE49-F238E27FC236}">
                <a16:creationId xmlns:a16="http://schemas.microsoft.com/office/drawing/2014/main" xmlns=""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E19407D-C528-4858-9191-402D0B2E4E7A}"/>
              </a:ext>
            </a:extLst>
          </p:cNvPr>
          <p:cNvSpPr>
            <a:spLocks noGrp="1"/>
          </p:cNvSpPr>
          <p:nvPr>
            <p:ph type="dt" sz="half" idx="10"/>
          </p:nvPr>
        </p:nvSpPr>
        <p:spPr/>
        <p:txBody>
          <a:bodyPr/>
          <a:lstStyle/>
          <a:p>
            <a:fld id="{6F615960-3F62-4BA7-8DEF-58213E9FC750}" type="datetime1">
              <a:rPr lang="zh-TW" altLang="en-US" smtClean="0"/>
              <a:t>2018/3/13</a:t>
            </a:fld>
            <a:endParaRPr lang="zh-TW" altLang="en-US"/>
          </a:p>
        </p:txBody>
      </p:sp>
      <p:sp>
        <p:nvSpPr>
          <p:cNvPr id="6" name="頁尾版面配置區 5">
            <a:extLst>
              <a:ext uri="{FF2B5EF4-FFF2-40B4-BE49-F238E27FC236}">
                <a16:creationId xmlns:a16="http://schemas.microsoft.com/office/drawing/2014/main" xmlns=""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xmlns=""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93917929-FFD5-45C6-AB7C-0A03F71D13FE}"/>
              </a:ext>
            </a:extLst>
          </p:cNvPr>
          <p:cNvSpPr>
            <a:spLocks noGrp="1"/>
          </p:cNvSpPr>
          <p:nvPr>
            <p:ph type="dt" sz="half" idx="10"/>
          </p:nvPr>
        </p:nvSpPr>
        <p:spPr/>
        <p:txBody>
          <a:bodyPr/>
          <a:lstStyle/>
          <a:p>
            <a:fld id="{BA495139-73A5-4D37-9F65-42DD6EFCB362}" type="datetime1">
              <a:rPr lang="zh-TW" altLang="en-US" smtClean="0"/>
              <a:t>2018/3/13</a:t>
            </a:fld>
            <a:endParaRPr lang="zh-TW" altLang="en-US"/>
          </a:p>
        </p:txBody>
      </p:sp>
      <p:sp>
        <p:nvSpPr>
          <p:cNvPr id="6" name="頁尾版面配置區 5">
            <a:extLst>
              <a:ext uri="{FF2B5EF4-FFF2-40B4-BE49-F238E27FC236}">
                <a16:creationId xmlns:a16="http://schemas.microsoft.com/office/drawing/2014/main" xmlns=""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CEF64FCF-DA26-41B4-8919-89C752F28E4F}"/>
              </a:ext>
            </a:extLst>
          </p:cNvPr>
          <p:cNvSpPr>
            <a:spLocks noGrp="1"/>
          </p:cNvSpPr>
          <p:nvPr>
            <p:ph type="dt" sz="half" idx="10"/>
          </p:nvPr>
        </p:nvSpPr>
        <p:spPr/>
        <p:txBody>
          <a:bodyPr/>
          <a:lstStyle/>
          <a:p>
            <a:fld id="{F65DB9CA-F34A-4005-B66B-4638821FBB36}" type="datetime1">
              <a:rPr lang="zh-TW" altLang="en-US" smtClean="0"/>
              <a:t>2018/3/13</a:t>
            </a:fld>
            <a:endParaRPr lang="zh-TW" altLang="en-US"/>
          </a:p>
        </p:txBody>
      </p:sp>
      <p:sp>
        <p:nvSpPr>
          <p:cNvPr id="5" name="頁尾版面配置區 4">
            <a:extLst>
              <a:ext uri="{FF2B5EF4-FFF2-40B4-BE49-F238E27FC236}">
                <a16:creationId xmlns:a16="http://schemas.microsoft.com/office/drawing/2014/main" xmlns=""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7253E183-339D-4996-9336-DF360AFA83CE}"/>
              </a:ext>
            </a:extLst>
          </p:cNvPr>
          <p:cNvSpPr>
            <a:spLocks noGrp="1"/>
          </p:cNvSpPr>
          <p:nvPr>
            <p:ph type="dt" sz="half" idx="10"/>
          </p:nvPr>
        </p:nvSpPr>
        <p:spPr/>
        <p:txBody>
          <a:bodyPr/>
          <a:lstStyle/>
          <a:p>
            <a:fld id="{9112FA3D-57A8-4A36-8AB7-98D4B7F81A6B}" type="datetime1">
              <a:rPr lang="zh-TW" altLang="en-US" smtClean="0"/>
              <a:t>2018/3/13</a:t>
            </a:fld>
            <a:endParaRPr lang="zh-TW" altLang="en-US"/>
          </a:p>
        </p:txBody>
      </p:sp>
      <p:sp>
        <p:nvSpPr>
          <p:cNvPr id="5" name="頁尾版面配置區 4">
            <a:extLst>
              <a:ext uri="{FF2B5EF4-FFF2-40B4-BE49-F238E27FC236}">
                <a16:creationId xmlns:a16="http://schemas.microsoft.com/office/drawing/2014/main" xmlns=""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2018/3/13</a:t>
            </a:fld>
            <a:endParaRPr lang="zh-TW" altLang="en-US"/>
          </a:p>
        </p:txBody>
      </p:sp>
      <p:sp>
        <p:nvSpPr>
          <p:cNvPr id="5" name="頁尾版面配置區 4">
            <a:extLst>
              <a:ext uri="{FF2B5EF4-FFF2-40B4-BE49-F238E27FC236}">
                <a16:creationId xmlns:a16="http://schemas.microsoft.com/office/drawing/2014/main" xmlns=""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5600E22-8B2D-44A2-B529-2D5C521DF6EC}"/>
              </a:ext>
            </a:extLst>
          </p:cNvPr>
          <p:cNvSpPr>
            <a:spLocks noGrp="1"/>
          </p:cNvSpPr>
          <p:nvPr>
            <p:ph type="ctrTitle"/>
          </p:nvPr>
        </p:nvSpPr>
        <p:spPr>
          <a:xfrm>
            <a:off x="1524000" y="601086"/>
            <a:ext cx="9144000" cy="1786671"/>
          </a:xfrm>
        </p:spPr>
        <p:txBody>
          <a:bodyPr>
            <a:normAutofit/>
          </a:bodyPr>
          <a:lstStyle/>
          <a:p>
            <a:r>
              <a:rPr lang="en-US" altLang="zh-TW" sz="4800" dirty="0" err="1"/>
              <a:t>HybridFTW</a:t>
            </a:r>
            <a:r>
              <a:rPr lang="en-US" altLang="zh-TW" sz="4800" dirty="0"/>
              <a:t>:</a:t>
            </a:r>
            <a:r>
              <a:rPr lang="zh-TW" altLang="en-US" sz="4800" dirty="0"/>
              <a:t> </a:t>
            </a:r>
            <a:r>
              <a:rPr lang="en-US" altLang="zh-TW" sz="4800" dirty="0"/>
              <a:t>Hybrid Computation of Dynamic Time Warping Distances</a:t>
            </a:r>
          </a:p>
        </p:txBody>
      </p:sp>
      <p:sp>
        <p:nvSpPr>
          <p:cNvPr id="3" name="副標題 2">
            <a:extLst>
              <a:ext uri="{FF2B5EF4-FFF2-40B4-BE49-F238E27FC236}">
                <a16:creationId xmlns:a16="http://schemas.microsoft.com/office/drawing/2014/main" xmlns="" id="{E1F7DB53-5192-4070-9ADE-B5C85E35C2CC}"/>
              </a:ext>
            </a:extLst>
          </p:cNvPr>
          <p:cNvSpPr>
            <a:spLocks noGrp="1"/>
          </p:cNvSpPr>
          <p:nvPr>
            <p:ph type="subTitle" idx="1"/>
          </p:nvPr>
        </p:nvSpPr>
        <p:spPr>
          <a:xfrm>
            <a:off x="576775" y="2704468"/>
            <a:ext cx="10691447" cy="773417"/>
          </a:xfrm>
        </p:spPr>
        <p:txBody>
          <a:bodyPr>
            <a:noAutofit/>
          </a:bodyPr>
          <a:lstStyle/>
          <a:p>
            <a:r>
              <a:rPr lang="en-US" altLang="zh-TW" sz="2800" dirty="0" err="1"/>
              <a:t>Minwoo</a:t>
            </a:r>
            <a:r>
              <a:rPr lang="en-US" altLang="zh-TW" sz="2800" dirty="0"/>
              <a:t> Lee,  </a:t>
            </a:r>
            <a:r>
              <a:rPr lang="en-US" altLang="zh-TW" sz="2800" dirty="0" err="1"/>
              <a:t>Sanghun</a:t>
            </a:r>
            <a:r>
              <a:rPr lang="en-US" altLang="zh-TW" sz="2800" dirty="0"/>
              <a:t> Lee,  Mi-Jung Choi, Yang-</a:t>
            </a:r>
            <a:r>
              <a:rPr lang="en-US" altLang="zh-TW" sz="2800" dirty="0" err="1"/>
              <a:t>Sae</a:t>
            </a:r>
            <a:r>
              <a:rPr lang="en-US" altLang="zh-TW" sz="2800" dirty="0"/>
              <a:t> Moon, </a:t>
            </a:r>
          </a:p>
          <a:p>
            <a:r>
              <a:rPr lang="en-US" altLang="zh-TW" sz="2800" dirty="0"/>
              <a:t>and Hyo-Sang Lim</a:t>
            </a:r>
          </a:p>
          <a:p>
            <a:endParaRPr lang="zh-TW" altLang="en-US" sz="2600" dirty="0"/>
          </a:p>
        </p:txBody>
      </p:sp>
      <p:sp>
        <p:nvSpPr>
          <p:cNvPr id="4" name="投影片編號版面配置區 3">
            <a:extLst>
              <a:ext uri="{FF2B5EF4-FFF2-40B4-BE49-F238E27FC236}">
                <a16:creationId xmlns:a16="http://schemas.microsoft.com/office/drawing/2014/main" xmlns=""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xmlns="" id="{CC60B4B8-BDE3-427A-B56B-7314F1C4CCA4}"/>
              </a:ext>
            </a:extLst>
          </p:cNvPr>
          <p:cNvSpPr txBox="1">
            <a:spLocks/>
          </p:cNvSpPr>
          <p:nvPr/>
        </p:nvSpPr>
        <p:spPr>
          <a:xfrm>
            <a:off x="1192823" y="3756249"/>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dirty="0">
                <a:solidFill>
                  <a:schemeClr val="tx1"/>
                </a:solidFill>
              </a:rPr>
              <a:t>IEEE Access</a:t>
            </a:r>
          </a:p>
          <a:p>
            <a:r>
              <a:rPr lang="en-US" altLang="zh-TW" sz="2800" dirty="0">
                <a:solidFill>
                  <a:schemeClr val="tx1"/>
                </a:solidFill>
              </a:rPr>
              <a:t>Vol. 6, 08 Dec, 2017, Pages</a:t>
            </a:r>
            <a:r>
              <a:rPr lang="zh-TW" altLang="en-US" sz="2800" dirty="0">
                <a:solidFill>
                  <a:schemeClr val="tx1"/>
                </a:solidFill>
              </a:rPr>
              <a:t> </a:t>
            </a:r>
            <a:r>
              <a:rPr lang="en-US" altLang="zh-TW" sz="2800" dirty="0">
                <a:solidFill>
                  <a:schemeClr val="tx1"/>
                </a:solidFill>
              </a:rPr>
              <a:t>2085-2096</a:t>
            </a:r>
          </a:p>
        </p:txBody>
      </p:sp>
      <p:sp>
        <p:nvSpPr>
          <p:cNvPr id="6" name="副標題 2">
            <a:extLst>
              <a:ext uri="{FF2B5EF4-FFF2-40B4-BE49-F238E27FC236}">
                <a16:creationId xmlns:a16="http://schemas.microsoft.com/office/drawing/2014/main" xmlns=""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solidFill>
                  <a:schemeClr val="tx1"/>
                </a:solidFill>
              </a:rPr>
              <a:t>Presenter: Shan-Ru Liu</a:t>
            </a:r>
          </a:p>
          <a:p>
            <a:r>
              <a:rPr lang="en-US" altLang="zh-TW" dirty="0">
                <a:solidFill>
                  <a:schemeClr val="tx1"/>
                </a:solidFill>
              </a:rPr>
              <a:t>Date: 2018/03/13</a:t>
            </a:r>
            <a:endParaRPr lang="zh-TW" altLang="en-US" dirty="0">
              <a:solidFill>
                <a:schemeClr val="tx1"/>
              </a:solidFill>
            </a:endParaRPr>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4F6B1DC-F5A3-4A3E-ABB3-0C74971D0F82}"/>
              </a:ext>
            </a:extLst>
          </p:cNvPr>
          <p:cNvSpPr>
            <a:spLocks noGrp="1"/>
          </p:cNvSpPr>
          <p:nvPr>
            <p:ph type="title"/>
          </p:nvPr>
        </p:nvSpPr>
        <p:spPr>
          <a:xfrm>
            <a:off x="838200" y="205468"/>
            <a:ext cx="10515600" cy="883104"/>
          </a:xfrm>
        </p:spPr>
        <p:txBody>
          <a:bodyPr/>
          <a:lstStyle/>
          <a:p>
            <a:r>
              <a:rPr lang="en-US" altLang="zh-TW" dirty="0"/>
              <a:t>Abstract (1/2)</a:t>
            </a:r>
            <a:endParaRPr lang="zh-TW" altLang="en-US" dirty="0"/>
          </a:p>
        </p:txBody>
      </p:sp>
      <p:sp>
        <p:nvSpPr>
          <p:cNvPr id="3" name="內容版面配置區 2">
            <a:extLst>
              <a:ext uri="{FF2B5EF4-FFF2-40B4-BE49-F238E27FC236}">
                <a16:creationId xmlns:a16="http://schemas.microsoft.com/office/drawing/2014/main" xmlns="" id="{12EF2FB6-82B8-48D7-A181-5A6639544732}"/>
              </a:ext>
            </a:extLst>
          </p:cNvPr>
          <p:cNvSpPr>
            <a:spLocks noGrp="1"/>
          </p:cNvSpPr>
          <p:nvPr>
            <p:ph idx="1"/>
          </p:nvPr>
        </p:nvSpPr>
        <p:spPr>
          <a:xfrm>
            <a:off x="650697" y="1170765"/>
            <a:ext cx="10890607" cy="5267779"/>
          </a:xfrm>
        </p:spPr>
        <p:txBody>
          <a:bodyPr>
            <a:noAutofit/>
          </a:bodyPr>
          <a:lstStyle/>
          <a:p>
            <a:pPr marL="0" indent="0" eaLnBrk="0" fontAlgn="ctr" hangingPunct="0">
              <a:lnSpc>
                <a:spcPct val="100000"/>
              </a:lnSpc>
              <a:buNone/>
            </a:pPr>
            <a:r>
              <a:rPr lang="en-US" altLang="zh-TW" dirty="0"/>
              <a:t>In this paper, we propose an efficient approach that computes the dynamic time warping (DTW) distance in time-series similarity search. The DTW distance is known to offer the high accuracy in similarity search, but it has difficulty in supporting the large database due to its high computational complexity. Recently, </a:t>
            </a:r>
            <a:r>
              <a:rPr lang="en-US" altLang="zh-TW" dirty="0" err="1"/>
              <a:t>FastDTW</a:t>
            </a:r>
            <a:r>
              <a:rPr lang="en-US" altLang="zh-TW" dirty="0"/>
              <a:t> and FTW have been proposed for efficient computation of DTW distances, but they have still performance limitations. In this paper, we propose a hybrid approach, called </a:t>
            </a:r>
            <a:r>
              <a:rPr lang="en-US" altLang="zh-TW" dirty="0" err="1"/>
              <a:t>HybridFTW</a:t>
            </a:r>
            <a:r>
              <a:rPr lang="en-US" altLang="zh-TW" dirty="0"/>
              <a:t>, which combines the advantages of both </a:t>
            </a:r>
            <a:r>
              <a:rPr lang="en-US" altLang="zh-TW" dirty="0" err="1"/>
              <a:t>FastDTW</a:t>
            </a:r>
            <a:r>
              <a:rPr lang="en-US" altLang="zh-TW" dirty="0"/>
              <a:t> and FTW. First, </a:t>
            </a:r>
            <a:r>
              <a:rPr lang="en-US" altLang="zh-TW" dirty="0" err="1"/>
              <a:t>HybridFTW</a:t>
            </a:r>
            <a:r>
              <a:rPr lang="en-US" altLang="zh-TW" dirty="0"/>
              <a:t> takes the advantage of </a:t>
            </a:r>
            <a:r>
              <a:rPr lang="en-US" altLang="zh-TW" dirty="0" err="1"/>
              <a:t>FastDTW</a:t>
            </a:r>
            <a:r>
              <a:rPr lang="en-US" altLang="zh-TW" dirty="0"/>
              <a:t> that provides fast computation through the limitation of allowable ranges. </a:t>
            </a:r>
            <a:endParaRPr lang="zh-TW" altLang="en-US" dirty="0"/>
          </a:p>
        </p:txBody>
      </p:sp>
      <p:sp>
        <p:nvSpPr>
          <p:cNvPr id="4" name="投影片編號版面配置區 3">
            <a:extLst>
              <a:ext uri="{FF2B5EF4-FFF2-40B4-BE49-F238E27FC236}">
                <a16:creationId xmlns:a16="http://schemas.microsoft.com/office/drawing/2014/main" xmlns="" id="{24F33E4C-9041-46E0-B109-AD73165F9F88}"/>
              </a:ext>
            </a:extLst>
          </p:cNvPr>
          <p:cNvSpPr>
            <a:spLocks noGrp="1"/>
          </p:cNvSpPr>
          <p:nvPr>
            <p:ph type="sldNum" sz="quarter" idx="12"/>
          </p:nvPr>
        </p:nvSpPr>
        <p:spPr>
          <a:xfrm>
            <a:off x="8610600" y="6356352"/>
            <a:ext cx="2743200" cy="365125"/>
          </a:xfrm>
        </p:spPr>
        <p:txBody>
          <a:bodyPr/>
          <a:lstStyle/>
          <a:p>
            <a:fld id="{8DCCD063-7F18-423D-A692-CC9D343FD360}" type="slidenum">
              <a:rPr lang="zh-TW" altLang="en-US" smtClean="0"/>
              <a:t>2</a:t>
            </a:fld>
            <a:endParaRPr lang="zh-TW" altLang="en-US" dirty="0"/>
          </a:p>
        </p:txBody>
      </p:sp>
    </p:spTree>
    <p:extLst>
      <p:ext uri="{BB962C8B-B14F-4D97-AF65-F5344CB8AC3E}">
        <p14:creationId xmlns:p14="http://schemas.microsoft.com/office/powerpoint/2010/main" val="4056433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4F6B1DC-F5A3-4A3E-ABB3-0C74971D0F82}"/>
              </a:ext>
            </a:extLst>
          </p:cNvPr>
          <p:cNvSpPr>
            <a:spLocks noGrp="1"/>
          </p:cNvSpPr>
          <p:nvPr>
            <p:ph type="title"/>
          </p:nvPr>
        </p:nvSpPr>
        <p:spPr>
          <a:xfrm>
            <a:off x="838200" y="205468"/>
            <a:ext cx="10515600" cy="883104"/>
          </a:xfrm>
        </p:spPr>
        <p:txBody>
          <a:bodyPr/>
          <a:lstStyle/>
          <a:p>
            <a:r>
              <a:rPr lang="en-US" altLang="zh-TW" dirty="0"/>
              <a:t>Abstract (2/2)</a:t>
            </a:r>
            <a:endParaRPr lang="zh-TW" altLang="en-US" dirty="0"/>
          </a:p>
        </p:txBody>
      </p:sp>
      <p:sp>
        <p:nvSpPr>
          <p:cNvPr id="3" name="內容版面配置區 2">
            <a:extLst>
              <a:ext uri="{FF2B5EF4-FFF2-40B4-BE49-F238E27FC236}">
                <a16:creationId xmlns:a16="http://schemas.microsoft.com/office/drawing/2014/main" xmlns="" id="{12EF2FB6-82B8-48D7-A181-5A6639544732}"/>
              </a:ext>
            </a:extLst>
          </p:cNvPr>
          <p:cNvSpPr>
            <a:spLocks noGrp="1"/>
          </p:cNvSpPr>
          <p:nvPr>
            <p:ph idx="1"/>
          </p:nvPr>
        </p:nvSpPr>
        <p:spPr>
          <a:xfrm>
            <a:off x="771939" y="1181039"/>
            <a:ext cx="10950874" cy="5267779"/>
          </a:xfrm>
        </p:spPr>
        <p:txBody>
          <a:bodyPr>
            <a:noAutofit/>
          </a:bodyPr>
          <a:lstStyle/>
          <a:p>
            <a:pPr marL="0" indent="0" eaLnBrk="0" fontAlgn="ctr" hangingPunct="0">
              <a:lnSpc>
                <a:spcPct val="100000"/>
              </a:lnSpc>
              <a:buNone/>
            </a:pPr>
            <a:r>
              <a:rPr lang="en-US" altLang="zh-TW" dirty="0"/>
              <a:t>We call these allowable ranges dynamic (warping) bands, which reduce the computation spaces on the fly, and we reanalyze previous </a:t>
            </a:r>
            <a:r>
              <a:rPr lang="en-US" altLang="zh-TW" dirty="0" err="1"/>
              <a:t>FastDTW</a:t>
            </a:r>
            <a:r>
              <a:rPr lang="en-US" altLang="zh-TW" dirty="0"/>
              <a:t> and FTW in the viewpoint of static and dynamic bands. Second, </a:t>
            </a:r>
            <a:r>
              <a:rPr lang="en-US" altLang="zh-TW" dirty="0" err="1"/>
              <a:t>HybridFTW</a:t>
            </a:r>
            <a:r>
              <a:rPr lang="en-US" altLang="zh-TW" dirty="0"/>
              <a:t> also takes the advantage of FTW that exploits the early abandon effect by using the segment-based tight lower bound. To maximize the synergy of combining two methods, we obtain the dynamic band of </a:t>
            </a:r>
            <a:r>
              <a:rPr lang="en-US" altLang="zh-TW" dirty="0" err="1"/>
              <a:t>FastDTW</a:t>
            </a:r>
            <a:r>
              <a:rPr lang="en-US" altLang="zh-TW" dirty="0"/>
              <a:t> during the process of computing the lower bound in FTW. Using </a:t>
            </a:r>
            <a:r>
              <a:rPr lang="en-US" altLang="zh-TW" dirty="0" err="1"/>
              <a:t>HybridFTW</a:t>
            </a:r>
            <a:r>
              <a:rPr lang="en-US" altLang="zh-TW" dirty="0"/>
              <a:t>, we next propose range search and k -NN search algorithms and prove their correctness through formal theorems. Experimental results on real and synthetic data sets show that </a:t>
            </a:r>
            <a:r>
              <a:rPr lang="en-US" altLang="zh-TW" dirty="0" err="1"/>
              <a:t>HybridFTW</a:t>
            </a:r>
            <a:r>
              <a:rPr lang="en-US" altLang="zh-TW" dirty="0"/>
              <a:t> improves the search performance by up to 38 times over </a:t>
            </a:r>
            <a:r>
              <a:rPr lang="en-US" altLang="zh-TW" dirty="0" err="1"/>
              <a:t>FastDTW</a:t>
            </a:r>
            <a:r>
              <a:rPr lang="en-US" altLang="zh-TW" dirty="0"/>
              <a:t> and by up to 12 times over FTW.</a:t>
            </a:r>
            <a:endParaRPr lang="zh-TW" altLang="en-US" dirty="0"/>
          </a:p>
        </p:txBody>
      </p:sp>
      <p:sp>
        <p:nvSpPr>
          <p:cNvPr id="4" name="投影片編號版面配置區 3">
            <a:extLst>
              <a:ext uri="{FF2B5EF4-FFF2-40B4-BE49-F238E27FC236}">
                <a16:creationId xmlns:a16="http://schemas.microsoft.com/office/drawing/2014/main" xmlns="" id="{24F33E4C-9041-46E0-B109-AD73165F9F88}"/>
              </a:ext>
            </a:extLst>
          </p:cNvPr>
          <p:cNvSpPr>
            <a:spLocks noGrp="1"/>
          </p:cNvSpPr>
          <p:nvPr>
            <p:ph type="sldNum" sz="quarter" idx="12"/>
          </p:nvPr>
        </p:nvSpPr>
        <p:spPr>
          <a:xfrm>
            <a:off x="8610600" y="6356352"/>
            <a:ext cx="2743200" cy="365125"/>
          </a:xfrm>
        </p:spPr>
        <p:txBody>
          <a:bodyPr/>
          <a:lstStyle/>
          <a:p>
            <a:fld id="{8DCCD063-7F18-423D-A692-CC9D343FD360}" type="slidenum">
              <a:rPr lang="zh-TW" altLang="en-US" smtClean="0"/>
              <a:t>3</a:t>
            </a:fld>
            <a:endParaRPr lang="zh-TW" altLang="en-US" dirty="0"/>
          </a:p>
        </p:txBody>
      </p:sp>
    </p:spTree>
    <p:extLst>
      <p:ext uri="{BB962C8B-B14F-4D97-AF65-F5344CB8AC3E}">
        <p14:creationId xmlns:p14="http://schemas.microsoft.com/office/powerpoint/2010/main" val="3513841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7706D3F-40A7-43E3-A51E-9D6EF362A2DE}"/>
              </a:ext>
            </a:extLst>
          </p:cNvPr>
          <p:cNvSpPr>
            <a:spLocks noGrp="1"/>
          </p:cNvSpPr>
          <p:nvPr>
            <p:ph type="title"/>
          </p:nvPr>
        </p:nvSpPr>
        <p:spPr/>
        <p:txBody>
          <a:bodyPr/>
          <a:lstStyle/>
          <a:p>
            <a:r>
              <a:rPr lang="en-US" altLang="zh-TW" dirty="0"/>
              <a:t>DTW</a:t>
            </a:r>
            <a:endParaRPr lang="zh-TW" altLang="en-US" dirty="0"/>
          </a:p>
        </p:txBody>
      </p:sp>
      <p:pic>
        <p:nvPicPr>
          <p:cNvPr id="5" name="內容版面配置區 4">
            <a:extLst>
              <a:ext uri="{FF2B5EF4-FFF2-40B4-BE49-F238E27FC236}">
                <a16:creationId xmlns:a16="http://schemas.microsoft.com/office/drawing/2014/main" xmlns="" id="{930ABB8F-9098-4C26-B37B-DD92123A216B}"/>
              </a:ext>
            </a:extLst>
          </p:cNvPr>
          <p:cNvPicPr>
            <a:picLocks noGrp="1" noChangeAspect="1"/>
          </p:cNvPicPr>
          <p:nvPr>
            <p:ph idx="1"/>
          </p:nvPr>
        </p:nvPicPr>
        <p:blipFill>
          <a:blip r:embed="rId2"/>
          <a:stretch>
            <a:fillRect/>
          </a:stretch>
        </p:blipFill>
        <p:spPr>
          <a:xfrm>
            <a:off x="6260093" y="1132582"/>
            <a:ext cx="5136892" cy="4972072"/>
          </a:xfrm>
          <a:prstGeom prst="rect">
            <a:avLst/>
          </a:prstGeom>
        </p:spPr>
      </p:pic>
      <p:sp>
        <p:nvSpPr>
          <p:cNvPr id="4" name="投影片編號版面配置區 3">
            <a:extLst>
              <a:ext uri="{FF2B5EF4-FFF2-40B4-BE49-F238E27FC236}">
                <a16:creationId xmlns:a16="http://schemas.microsoft.com/office/drawing/2014/main" xmlns="" id="{FE907BE7-57ED-4AFD-B7CB-69181138DC28}"/>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F2A3ED15-B249-4169-A914-D4B1482960C1}"/>
                  </a:ext>
                </a:extLst>
              </p:cNvPr>
              <p:cNvSpPr txBox="1"/>
              <p:nvPr/>
            </p:nvSpPr>
            <p:spPr>
              <a:xfrm>
                <a:off x="394311" y="2699056"/>
                <a:ext cx="5701689" cy="1459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𝐷</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𝐷𝑖𝑠𝑡</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𝑚𝑖𝑛</m:t>
                      </m:r>
                      <m:d>
                        <m:dPr>
                          <m:begChr m:val="{"/>
                          <m:endChr m:val=""/>
                          <m:ctrlPr>
                            <a:rPr lang="en-US" altLang="zh-TW" sz="2400" b="0" i="1" smtClean="0">
                              <a:latin typeface="Cambria Math" panose="02040503050406030204" pitchFamily="18" charset="0"/>
                            </a:rPr>
                          </m:ctrlPr>
                        </m:dPr>
                        <m:e>
                          <m:eqArr>
                            <m:eqArrPr>
                              <m:ctrlPr>
                                <a:rPr lang="en-US" altLang="zh-TW" sz="2400" b="0" i="1" smtClean="0">
                                  <a:latin typeface="Cambria Math" panose="02040503050406030204" pitchFamily="18" charset="0"/>
                                </a:rPr>
                              </m:ctrlPr>
                            </m:eqArrPr>
                            <m:e>
                              <m:r>
                                <a:rPr lang="en-US" altLang="zh-TW" sz="2400" b="0" i="1" smtClean="0">
                                  <a:latin typeface="Cambria Math" panose="02040503050406030204" pitchFamily="18" charset="0"/>
                                </a:rPr>
                                <m:t>𝐷</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m:t>
                              </m:r>
                            </m:e>
                            <m:e>
                              <m:r>
                                <a:rPr lang="en-US" altLang="zh-TW" sz="2400" b="0" i="1" smtClean="0">
                                  <a:latin typeface="Cambria Math" panose="02040503050406030204" pitchFamily="18" charset="0"/>
                                </a:rPr>
                                <m:t>𝐷</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−1)</m:t>
                              </m:r>
                            </m:e>
                            <m:e>
                              <m:r>
                                <a:rPr lang="en-US" altLang="zh-TW" sz="2400" b="0" i="1" smtClean="0">
                                  <a:latin typeface="Cambria Math" panose="02040503050406030204" pitchFamily="18" charset="0"/>
                                </a:rPr>
                                <m:t>𝐷</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−1)</m:t>
                              </m:r>
                            </m:e>
                          </m:eqArr>
                        </m:e>
                      </m:d>
                    </m:oMath>
                  </m:oMathPara>
                </a14:m>
                <a:endParaRPr lang="zh-TW" altLang="en-US" sz="2400" dirty="0"/>
              </a:p>
            </p:txBody>
          </p:sp>
        </mc:Choice>
        <mc:Fallback xmlns="">
          <p:sp>
            <p:nvSpPr>
              <p:cNvPr id="6" name="文字方塊 5">
                <a:extLst>
                  <a:ext uri="{FF2B5EF4-FFF2-40B4-BE49-F238E27FC236}">
                    <a16:creationId xmlns:a16="http://schemas.microsoft.com/office/drawing/2014/main" id="{F2A3ED15-B249-4169-A914-D4B1482960C1}"/>
                  </a:ext>
                </a:extLst>
              </p:cNvPr>
              <p:cNvSpPr txBox="1">
                <a:spLocks noRot="1" noChangeAspect="1" noMove="1" noResize="1" noEditPoints="1" noAdjustHandles="1" noChangeArrowheads="1" noChangeShapeType="1" noTextEdit="1"/>
              </p:cNvSpPr>
              <p:nvPr/>
            </p:nvSpPr>
            <p:spPr>
              <a:xfrm>
                <a:off x="394311" y="2699056"/>
                <a:ext cx="5701689" cy="1459887"/>
              </a:xfrm>
              <a:prstGeom prst="rect">
                <a:avLst/>
              </a:prstGeom>
              <a:blipFill>
                <a:blip r:embed="rId3"/>
                <a:stretch>
                  <a:fillRect/>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xmlns="" id="{E5001F7C-B8AF-4FE2-AC29-6A8FD789C608}"/>
              </a:ext>
            </a:extLst>
          </p:cNvPr>
          <p:cNvSpPr txBox="1"/>
          <p:nvPr/>
        </p:nvSpPr>
        <p:spPr>
          <a:xfrm>
            <a:off x="1280160" y="5642989"/>
            <a:ext cx="3176319" cy="461665"/>
          </a:xfrm>
          <a:prstGeom prst="rect">
            <a:avLst/>
          </a:prstGeom>
          <a:noFill/>
        </p:spPr>
        <p:txBody>
          <a:bodyPr wrap="none" rtlCol="0">
            <a:spAutoFit/>
          </a:bodyPr>
          <a:lstStyle/>
          <a:p>
            <a:r>
              <a:rPr lang="en-US" altLang="zh-TW" sz="2400" dirty="0"/>
              <a:t>Time Complexity : O(N</a:t>
            </a:r>
            <a:r>
              <a:rPr lang="en-US" altLang="zh-TW" sz="2400" baseline="30000" dirty="0"/>
              <a:t>2</a:t>
            </a:r>
            <a:r>
              <a:rPr lang="en-US" altLang="zh-TW" sz="2400" dirty="0"/>
              <a:t>)</a:t>
            </a:r>
            <a:endParaRPr lang="zh-TW" altLang="en-US" sz="2400" dirty="0"/>
          </a:p>
        </p:txBody>
      </p:sp>
    </p:spTree>
    <p:extLst>
      <p:ext uri="{BB962C8B-B14F-4D97-AF65-F5344CB8AC3E}">
        <p14:creationId xmlns:p14="http://schemas.microsoft.com/office/powerpoint/2010/main" val="1863855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36BC7DA-F3BE-4180-B04D-C2B40E52D1B8}"/>
              </a:ext>
            </a:extLst>
          </p:cNvPr>
          <p:cNvSpPr>
            <a:spLocks noGrp="1"/>
          </p:cNvSpPr>
          <p:nvPr>
            <p:ph type="title"/>
          </p:nvPr>
        </p:nvSpPr>
        <p:spPr/>
        <p:txBody>
          <a:bodyPr/>
          <a:lstStyle/>
          <a:p>
            <a:r>
              <a:rPr lang="en-US" altLang="zh-TW" dirty="0"/>
              <a:t>Speeding up DTW</a:t>
            </a:r>
            <a:endParaRPr lang="zh-TW" altLang="en-US" dirty="0"/>
          </a:p>
        </p:txBody>
      </p:sp>
      <p:sp>
        <p:nvSpPr>
          <p:cNvPr id="4" name="投影片編號版面配置區 3">
            <a:extLst>
              <a:ext uri="{FF2B5EF4-FFF2-40B4-BE49-F238E27FC236}">
                <a16:creationId xmlns:a16="http://schemas.microsoft.com/office/drawing/2014/main" xmlns="" id="{9759E99D-B834-4ACD-878A-AC5D452FEFC0}"/>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p:pic>
        <p:nvPicPr>
          <p:cNvPr id="5" name="內容版面配置區 4">
            <a:extLst>
              <a:ext uri="{FF2B5EF4-FFF2-40B4-BE49-F238E27FC236}">
                <a16:creationId xmlns:a16="http://schemas.microsoft.com/office/drawing/2014/main" xmlns="" id="{9549EF61-14B0-4F36-A006-9C6A3C318865}"/>
              </a:ext>
            </a:extLst>
          </p:cNvPr>
          <p:cNvPicPr>
            <a:picLocks noGrp="1" noChangeAspect="1"/>
          </p:cNvPicPr>
          <p:nvPr>
            <p:ph idx="1"/>
          </p:nvPr>
        </p:nvPicPr>
        <p:blipFill>
          <a:blip r:embed="rId2"/>
          <a:stretch>
            <a:fillRect/>
          </a:stretch>
        </p:blipFill>
        <p:spPr>
          <a:xfrm>
            <a:off x="7182330" y="365127"/>
            <a:ext cx="4768947" cy="2390731"/>
          </a:xfrm>
          <a:prstGeom prst="rect">
            <a:avLst/>
          </a:prstGeom>
        </p:spPr>
      </p:pic>
      <p:sp>
        <p:nvSpPr>
          <p:cNvPr id="6" name="文字方塊 5">
            <a:extLst>
              <a:ext uri="{FF2B5EF4-FFF2-40B4-BE49-F238E27FC236}">
                <a16:creationId xmlns:a16="http://schemas.microsoft.com/office/drawing/2014/main" xmlns="" id="{48441588-D743-4416-AE02-5E7A771CFF90}"/>
              </a:ext>
            </a:extLst>
          </p:cNvPr>
          <p:cNvSpPr txBox="1"/>
          <p:nvPr/>
        </p:nvSpPr>
        <p:spPr>
          <a:xfrm>
            <a:off x="7400179" y="2792742"/>
            <a:ext cx="4551098" cy="646331"/>
          </a:xfrm>
          <a:prstGeom prst="rect">
            <a:avLst/>
          </a:prstGeom>
          <a:noFill/>
        </p:spPr>
        <p:txBody>
          <a:bodyPr wrap="square" rtlCol="0">
            <a:spAutoFit/>
          </a:bodyPr>
          <a:lstStyle/>
          <a:p>
            <a:r>
              <a:rPr lang="en-US" altLang="zh-TW" b="1" dirty="0" err="1"/>
              <a:t>Sakoe-Chuba</a:t>
            </a:r>
            <a:r>
              <a:rPr lang="en-US" altLang="zh-TW" b="1" dirty="0"/>
              <a:t> Band</a:t>
            </a:r>
            <a:r>
              <a:rPr lang="zh-TW" altLang="en-US" b="1" dirty="0"/>
              <a:t>       </a:t>
            </a:r>
            <a:r>
              <a:rPr lang="en-US" altLang="zh-TW" b="1" dirty="0" err="1"/>
              <a:t>Itakura</a:t>
            </a:r>
            <a:r>
              <a:rPr lang="en-US" altLang="zh-TW" b="1" dirty="0"/>
              <a:t> Parallelogram</a:t>
            </a:r>
          </a:p>
          <a:p>
            <a:pPr algn="ctr"/>
            <a:r>
              <a:rPr lang="en-US" altLang="zh-TW" b="1" dirty="0">
                <a:solidFill>
                  <a:schemeClr val="bg1">
                    <a:lumMod val="50000"/>
                  </a:schemeClr>
                </a:solidFill>
              </a:rPr>
              <a:t>Width = 5</a:t>
            </a:r>
            <a:endParaRPr lang="zh-TW" altLang="en-US" dirty="0">
              <a:solidFill>
                <a:schemeClr val="bg1">
                  <a:lumMod val="50000"/>
                </a:schemeClr>
              </a:solidFill>
            </a:endParaRPr>
          </a:p>
        </p:txBody>
      </p:sp>
      <p:sp>
        <p:nvSpPr>
          <p:cNvPr id="7" name="文字方塊 6">
            <a:extLst>
              <a:ext uri="{FF2B5EF4-FFF2-40B4-BE49-F238E27FC236}">
                <a16:creationId xmlns:a16="http://schemas.microsoft.com/office/drawing/2014/main" xmlns="" id="{4F981197-FBAD-4E69-ACC2-2DFF11A831E2}"/>
              </a:ext>
            </a:extLst>
          </p:cNvPr>
          <p:cNvSpPr txBox="1"/>
          <p:nvPr/>
        </p:nvSpPr>
        <p:spPr>
          <a:xfrm>
            <a:off x="633647" y="2169013"/>
            <a:ext cx="6548683" cy="3416320"/>
          </a:xfrm>
          <a:prstGeom prst="rect">
            <a:avLst/>
          </a:prstGeom>
          <a:noFill/>
        </p:spPr>
        <p:txBody>
          <a:bodyPr wrap="square" rtlCol="0">
            <a:spAutoFit/>
          </a:bodyPr>
          <a:lstStyle/>
          <a:p>
            <a:r>
              <a:rPr lang="en-US" altLang="zh-TW" sz="2400" dirty="0"/>
              <a:t>1) </a:t>
            </a:r>
            <a:r>
              <a:rPr lang="en-US" altLang="zh-TW" sz="2400" b="1" i="1" dirty="0"/>
              <a:t>Constraints</a:t>
            </a:r>
            <a:r>
              <a:rPr lang="en-US" altLang="zh-TW" sz="2400" i="1" dirty="0"/>
              <a:t> </a:t>
            </a:r>
            <a:r>
              <a:rPr lang="en-US" altLang="zh-TW" sz="2400" dirty="0"/>
              <a:t>– </a:t>
            </a:r>
            <a:r>
              <a:rPr lang="en-US" altLang="zh-TW" sz="2400" dirty="0">
                <a:solidFill>
                  <a:schemeClr val="bg1">
                    <a:lumMod val="50000"/>
                  </a:schemeClr>
                </a:solidFill>
              </a:rPr>
              <a:t>Limit the number of cells that are</a:t>
            </a:r>
          </a:p>
          <a:p>
            <a:r>
              <a:rPr lang="en-US" altLang="zh-TW" sz="2400" dirty="0">
                <a:solidFill>
                  <a:schemeClr val="bg1">
                    <a:lumMod val="50000"/>
                  </a:schemeClr>
                </a:solidFill>
              </a:rPr>
              <a:t>evaluated in the cost matrix.</a:t>
            </a:r>
          </a:p>
          <a:p>
            <a:endParaRPr lang="en-US" altLang="zh-TW" sz="2400" dirty="0"/>
          </a:p>
          <a:p>
            <a:r>
              <a:rPr lang="en-US" altLang="zh-TW" sz="2400" dirty="0"/>
              <a:t>2) </a:t>
            </a:r>
            <a:r>
              <a:rPr lang="en-US" altLang="zh-TW" sz="2400" b="1" i="1" dirty="0"/>
              <a:t>Data Abstraction</a:t>
            </a:r>
            <a:r>
              <a:rPr lang="en-US" altLang="zh-TW" sz="2400" i="1" dirty="0"/>
              <a:t> </a:t>
            </a:r>
            <a:r>
              <a:rPr lang="en-US" altLang="zh-TW" sz="2400" dirty="0"/>
              <a:t>– </a:t>
            </a:r>
            <a:r>
              <a:rPr lang="en-US" altLang="zh-TW" sz="2400" dirty="0">
                <a:solidFill>
                  <a:schemeClr val="bg1">
                    <a:lumMod val="50000"/>
                  </a:schemeClr>
                </a:solidFill>
              </a:rPr>
              <a:t>Perform DTW on a reduced</a:t>
            </a:r>
          </a:p>
          <a:p>
            <a:r>
              <a:rPr lang="en-US" altLang="zh-TW" sz="2400" dirty="0">
                <a:solidFill>
                  <a:schemeClr val="bg1">
                    <a:lumMod val="50000"/>
                  </a:schemeClr>
                </a:solidFill>
              </a:rPr>
              <a:t>representation of the data.</a:t>
            </a:r>
          </a:p>
          <a:p>
            <a:endParaRPr lang="en-US" altLang="zh-TW" sz="2400" dirty="0"/>
          </a:p>
          <a:p>
            <a:r>
              <a:rPr lang="en-US" altLang="zh-TW" sz="2400" dirty="0"/>
              <a:t>3) </a:t>
            </a:r>
            <a:r>
              <a:rPr lang="en-US" altLang="zh-TW" sz="2400" b="1" i="1" dirty="0"/>
              <a:t>Indexing</a:t>
            </a:r>
            <a:r>
              <a:rPr lang="en-US" altLang="zh-TW" sz="2400" i="1" dirty="0"/>
              <a:t> </a:t>
            </a:r>
            <a:r>
              <a:rPr lang="en-US" altLang="zh-TW" sz="2400" dirty="0"/>
              <a:t>– </a:t>
            </a:r>
            <a:r>
              <a:rPr lang="en-US" altLang="zh-TW" sz="2400" dirty="0">
                <a:solidFill>
                  <a:schemeClr val="bg1">
                    <a:lumMod val="50000"/>
                  </a:schemeClr>
                </a:solidFill>
              </a:rPr>
              <a:t>Use lower bounding functions to reduce the number of times DTW must be run during time series classification or clustering.</a:t>
            </a:r>
          </a:p>
        </p:txBody>
      </p:sp>
      <p:pic>
        <p:nvPicPr>
          <p:cNvPr id="8" name="圖片 7">
            <a:extLst>
              <a:ext uri="{FF2B5EF4-FFF2-40B4-BE49-F238E27FC236}">
                <a16:creationId xmlns:a16="http://schemas.microsoft.com/office/drawing/2014/main" xmlns="" id="{666ACA96-89EB-455C-BE6C-C971B962F3AE}"/>
              </a:ext>
            </a:extLst>
          </p:cNvPr>
          <p:cNvPicPr>
            <a:picLocks noChangeAspect="1"/>
          </p:cNvPicPr>
          <p:nvPr/>
        </p:nvPicPr>
        <p:blipFill>
          <a:blip r:embed="rId3"/>
          <a:stretch>
            <a:fillRect/>
          </a:stretch>
        </p:blipFill>
        <p:spPr>
          <a:xfrm>
            <a:off x="7255517" y="3821623"/>
            <a:ext cx="4622572" cy="1851514"/>
          </a:xfrm>
          <a:prstGeom prst="rect">
            <a:avLst/>
          </a:prstGeom>
        </p:spPr>
      </p:pic>
      <p:cxnSp>
        <p:nvCxnSpPr>
          <p:cNvPr id="10" name="直線單箭頭接點 9">
            <a:extLst>
              <a:ext uri="{FF2B5EF4-FFF2-40B4-BE49-F238E27FC236}">
                <a16:creationId xmlns:a16="http://schemas.microsoft.com/office/drawing/2014/main" xmlns="" id="{2A753ACA-F092-4788-8201-4372C6C453E1}"/>
              </a:ext>
            </a:extLst>
          </p:cNvPr>
          <p:cNvCxnSpPr>
            <a:cxnSpLocks/>
          </p:cNvCxnSpPr>
          <p:nvPr/>
        </p:nvCxnSpPr>
        <p:spPr>
          <a:xfrm>
            <a:off x="4329719" y="3877173"/>
            <a:ext cx="2718195" cy="427541"/>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直線單箭頭接點 15">
            <a:extLst>
              <a:ext uri="{FF2B5EF4-FFF2-40B4-BE49-F238E27FC236}">
                <a16:creationId xmlns:a16="http://schemas.microsoft.com/office/drawing/2014/main" xmlns="" id="{6C5A0157-2910-4A55-9DCE-E2FB7913E7E1}"/>
              </a:ext>
            </a:extLst>
          </p:cNvPr>
          <p:cNvCxnSpPr>
            <a:cxnSpLocks/>
          </p:cNvCxnSpPr>
          <p:nvPr/>
        </p:nvCxnSpPr>
        <p:spPr>
          <a:xfrm flipV="1">
            <a:off x="4936484" y="1948911"/>
            <a:ext cx="2172659" cy="214854"/>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334740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A0021B1-00B0-418F-88B1-A822FFABE812}"/>
              </a:ext>
            </a:extLst>
          </p:cNvPr>
          <p:cNvSpPr>
            <a:spLocks noGrp="1"/>
          </p:cNvSpPr>
          <p:nvPr>
            <p:ph type="title"/>
          </p:nvPr>
        </p:nvSpPr>
        <p:spPr/>
        <p:txBody>
          <a:bodyPr/>
          <a:lstStyle/>
          <a:p>
            <a:r>
              <a:rPr lang="en-US" altLang="zh-TW" dirty="0" err="1"/>
              <a:t>FastDTW</a:t>
            </a:r>
            <a:r>
              <a:rPr lang="en-US" altLang="zh-TW" dirty="0"/>
              <a:t> (1/2)</a:t>
            </a:r>
            <a:endParaRPr lang="zh-TW" altLang="en-US" dirty="0"/>
          </a:p>
        </p:txBody>
      </p:sp>
      <p:sp>
        <p:nvSpPr>
          <p:cNvPr id="3" name="內容版面配置區 2">
            <a:extLst>
              <a:ext uri="{FF2B5EF4-FFF2-40B4-BE49-F238E27FC236}">
                <a16:creationId xmlns:a16="http://schemas.microsoft.com/office/drawing/2014/main" xmlns="" id="{91E5495C-269D-493B-8ED0-574196651F33}"/>
              </a:ext>
            </a:extLst>
          </p:cNvPr>
          <p:cNvSpPr>
            <a:spLocks noGrp="1"/>
          </p:cNvSpPr>
          <p:nvPr>
            <p:ph idx="1"/>
          </p:nvPr>
        </p:nvSpPr>
        <p:spPr>
          <a:xfrm>
            <a:off x="318466" y="2005014"/>
            <a:ext cx="6349620" cy="4351338"/>
          </a:xfrm>
        </p:spPr>
        <p:txBody>
          <a:bodyPr>
            <a:normAutofit fontScale="92500" lnSpcReduction="10000"/>
          </a:bodyPr>
          <a:lstStyle/>
          <a:p>
            <a:pPr marL="0" indent="0">
              <a:buNone/>
            </a:pPr>
            <a:r>
              <a:rPr lang="en-US" altLang="zh-TW" sz="2600" dirty="0"/>
              <a:t>1) </a:t>
            </a:r>
            <a:r>
              <a:rPr lang="en-US" altLang="zh-TW" sz="2600" b="1" i="1" dirty="0"/>
              <a:t>Coarsening </a:t>
            </a:r>
            <a:r>
              <a:rPr lang="en-US" altLang="zh-TW" sz="2600" dirty="0"/>
              <a:t>– </a:t>
            </a:r>
            <a:r>
              <a:rPr lang="en-US" altLang="zh-TW" sz="2600" dirty="0">
                <a:solidFill>
                  <a:schemeClr val="bg1">
                    <a:lumMod val="50000"/>
                  </a:schemeClr>
                </a:solidFill>
              </a:rPr>
              <a:t>Shrink a time series into a smaller time series that represents the same curve as accurately as possible with fewer data points.</a:t>
            </a:r>
          </a:p>
          <a:p>
            <a:pPr marL="0" indent="0">
              <a:buNone/>
            </a:pPr>
            <a:endParaRPr lang="en-US" altLang="zh-TW" sz="2600" dirty="0"/>
          </a:p>
          <a:p>
            <a:pPr marL="0" indent="0">
              <a:buNone/>
            </a:pPr>
            <a:r>
              <a:rPr lang="en-US" altLang="zh-TW" sz="2600" dirty="0"/>
              <a:t>2) </a:t>
            </a:r>
            <a:r>
              <a:rPr lang="en-US" altLang="zh-TW" sz="2600" b="1" i="1" dirty="0"/>
              <a:t>Projection </a:t>
            </a:r>
            <a:r>
              <a:rPr lang="en-US" altLang="zh-TW" sz="2600" dirty="0"/>
              <a:t>– </a:t>
            </a:r>
            <a:r>
              <a:rPr lang="en-US" altLang="zh-TW" sz="2600" dirty="0">
                <a:solidFill>
                  <a:schemeClr val="bg1">
                    <a:lumMod val="50000"/>
                  </a:schemeClr>
                </a:solidFill>
              </a:rPr>
              <a:t>Find a minimum-distance warp path at a lower resolution, and use that warp path as an initial guess for a higher resolution’s minimum-distance warp path.</a:t>
            </a:r>
          </a:p>
          <a:p>
            <a:pPr marL="0" indent="0">
              <a:buNone/>
            </a:pPr>
            <a:endParaRPr lang="en-US" altLang="zh-TW" sz="2600" dirty="0"/>
          </a:p>
          <a:p>
            <a:pPr marL="0" indent="0">
              <a:buNone/>
            </a:pPr>
            <a:r>
              <a:rPr lang="en-US" altLang="zh-TW" sz="2600" dirty="0"/>
              <a:t>3) </a:t>
            </a:r>
            <a:r>
              <a:rPr lang="en-US" altLang="zh-TW" sz="2600" b="1" i="1" dirty="0"/>
              <a:t>Refinement </a:t>
            </a:r>
            <a:r>
              <a:rPr lang="en-US" altLang="zh-TW" sz="2600" dirty="0"/>
              <a:t>– </a:t>
            </a:r>
            <a:r>
              <a:rPr lang="en-US" altLang="zh-TW" sz="2600" dirty="0">
                <a:solidFill>
                  <a:schemeClr val="bg1">
                    <a:lumMod val="50000"/>
                  </a:schemeClr>
                </a:solidFill>
              </a:rPr>
              <a:t>Refine the warp path projected from a lower resolution through local adjustments of the warp path.</a:t>
            </a:r>
          </a:p>
          <a:p>
            <a:pPr marL="0" indent="0">
              <a:buNone/>
            </a:pPr>
            <a:endParaRPr lang="zh-TW" altLang="en-US" dirty="0"/>
          </a:p>
        </p:txBody>
      </p:sp>
      <p:sp>
        <p:nvSpPr>
          <p:cNvPr id="4" name="投影片編號版面配置區 3">
            <a:extLst>
              <a:ext uri="{FF2B5EF4-FFF2-40B4-BE49-F238E27FC236}">
                <a16:creationId xmlns:a16="http://schemas.microsoft.com/office/drawing/2014/main" xmlns="" id="{265D41F2-F683-4242-B3B1-0F9EC8AE2888}"/>
              </a:ext>
            </a:extLst>
          </p:cNvPr>
          <p:cNvSpPr>
            <a:spLocks noGrp="1"/>
          </p:cNvSpPr>
          <p:nvPr>
            <p:ph type="sldNum" sz="quarter" idx="12"/>
          </p:nvPr>
        </p:nvSpPr>
        <p:spPr/>
        <p:txBody>
          <a:bodyPr/>
          <a:lstStyle/>
          <a:p>
            <a:fld id="{8DCCD063-7F18-423D-A692-CC9D343FD360}" type="slidenum">
              <a:rPr lang="zh-TW" altLang="en-US" smtClean="0"/>
              <a:t>6</a:t>
            </a:fld>
            <a:endParaRPr lang="zh-TW" altLang="en-US"/>
          </a:p>
        </p:txBody>
      </p:sp>
      <p:pic>
        <p:nvPicPr>
          <p:cNvPr id="5" name="圖片 4">
            <a:extLst>
              <a:ext uri="{FF2B5EF4-FFF2-40B4-BE49-F238E27FC236}">
                <a16:creationId xmlns:a16="http://schemas.microsoft.com/office/drawing/2014/main" xmlns="" id="{C2A1974B-82EF-4636-8B72-6DFB41D2D34E}"/>
              </a:ext>
            </a:extLst>
          </p:cNvPr>
          <p:cNvPicPr>
            <a:picLocks noChangeAspect="1"/>
          </p:cNvPicPr>
          <p:nvPr/>
        </p:nvPicPr>
        <p:blipFill>
          <a:blip r:embed="rId2"/>
          <a:stretch>
            <a:fillRect/>
          </a:stretch>
        </p:blipFill>
        <p:spPr>
          <a:xfrm>
            <a:off x="6784218" y="1326459"/>
            <a:ext cx="5104556" cy="1764151"/>
          </a:xfrm>
          <a:prstGeom prst="rect">
            <a:avLst/>
          </a:prstGeom>
        </p:spPr>
      </p:pic>
      <p:pic>
        <p:nvPicPr>
          <p:cNvPr id="6" name="圖片 5">
            <a:extLst>
              <a:ext uri="{FF2B5EF4-FFF2-40B4-BE49-F238E27FC236}">
                <a16:creationId xmlns:a16="http://schemas.microsoft.com/office/drawing/2014/main" xmlns="" id="{01687B7A-1C8B-4701-B2AB-616E07A4A7EE}"/>
              </a:ext>
            </a:extLst>
          </p:cNvPr>
          <p:cNvPicPr>
            <a:picLocks noChangeAspect="1"/>
          </p:cNvPicPr>
          <p:nvPr/>
        </p:nvPicPr>
        <p:blipFill>
          <a:blip r:embed="rId3"/>
          <a:stretch>
            <a:fillRect/>
          </a:stretch>
        </p:blipFill>
        <p:spPr>
          <a:xfrm>
            <a:off x="7559445" y="3350168"/>
            <a:ext cx="3278578" cy="1427007"/>
          </a:xfrm>
          <a:prstGeom prst="rect">
            <a:avLst/>
          </a:prstGeom>
        </p:spPr>
      </p:pic>
      <p:pic>
        <p:nvPicPr>
          <p:cNvPr id="7" name="圖片 6">
            <a:extLst>
              <a:ext uri="{FF2B5EF4-FFF2-40B4-BE49-F238E27FC236}">
                <a16:creationId xmlns:a16="http://schemas.microsoft.com/office/drawing/2014/main" xmlns="" id="{5CE29040-BEAD-437C-9D15-78B634875270}"/>
              </a:ext>
            </a:extLst>
          </p:cNvPr>
          <p:cNvPicPr>
            <a:picLocks noChangeAspect="1"/>
          </p:cNvPicPr>
          <p:nvPr/>
        </p:nvPicPr>
        <p:blipFill>
          <a:blip r:embed="rId4"/>
          <a:stretch>
            <a:fillRect/>
          </a:stretch>
        </p:blipFill>
        <p:spPr>
          <a:xfrm>
            <a:off x="8413874" y="4956432"/>
            <a:ext cx="1569720" cy="1582482"/>
          </a:xfrm>
          <a:prstGeom prst="rect">
            <a:avLst/>
          </a:prstGeom>
        </p:spPr>
      </p:pic>
    </p:spTree>
    <p:extLst>
      <p:ext uri="{BB962C8B-B14F-4D97-AF65-F5344CB8AC3E}">
        <p14:creationId xmlns:p14="http://schemas.microsoft.com/office/powerpoint/2010/main" val="3678938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A0021B1-00B0-418F-88B1-A822FFABE812}"/>
              </a:ext>
            </a:extLst>
          </p:cNvPr>
          <p:cNvSpPr>
            <a:spLocks noGrp="1"/>
          </p:cNvSpPr>
          <p:nvPr>
            <p:ph type="title"/>
          </p:nvPr>
        </p:nvSpPr>
        <p:spPr/>
        <p:txBody>
          <a:bodyPr/>
          <a:lstStyle/>
          <a:p>
            <a:r>
              <a:rPr lang="en-US" altLang="zh-TW" dirty="0" err="1"/>
              <a:t>FastDTW</a:t>
            </a:r>
            <a:r>
              <a:rPr lang="en-US" altLang="zh-TW" dirty="0"/>
              <a:t> (2/2)</a:t>
            </a:r>
            <a:endParaRPr lang="zh-TW" altLang="en-US" dirty="0"/>
          </a:p>
        </p:txBody>
      </p:sp>
      <p:pic>
        <p:nvPicPr>
          <p:cNvPr id="5" name="內容版面配置區 4">
            <a:extLst>
              <a:ext uri="{FF2B5EF4-FFF2-40B4-BE49-F238E27FC236}">
                <a16:creationId xmlns:a16="http://schemas.microsoft.com/office/drawing/2014/main" xmlns="" id="{7F27D85E-F777-4788-B2B8-45F6956F924A}"/>
              </a:ext>
            </a:extLst>
          </p:cNvPr>
          <p:cNvPicPr>
            <a:picLocks noGrp="1" noChangeAspect="1"/>
          </p:cNvPicPr>
          <p:nvPr>
            <p:ph idx="1"/>
          </p:nvPr>
        </p:nvPicPr>
        <p:blipFill>
          <a:blip r:embed="rId2"/>
          <a:stretch>
            <a:fillRect/>
          </a:stretch>
        </p:blipFill>
        <p:spPr>
          <a:xfrm>
            <a:off x="1152436" y="1822794"/>
            <a:ext cx="9319062" cy="2896465"/>
          </a:xfrm>
          <a:prstGeom prst="rect">
            <a:avLst/>
          </a:prstGeom>
        </p:spPr>
      </p:pic>
      <p:sp>
        <p:nvSpPr>
          <p:cNvPr id="4" name="投影片編號版面配置區 3">
            <a:extLst>
              <a:ext uri="{FF2B5EF4-FFF2-40B4-BE49-F238E27FC236}">
                <a16:creationId xmlns:a16="http://schemas.microsoft.com/office/drawing/2014/main" xmlns="" id="{265D41F2-F683-4242-B3B1-0F9EC8AE2888}"/>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p:sp>
        <p:nvSpPr>
          <p:cNvPr id="6" name="文字方塊 5">
            <a:extLst>
              <a:ext uri="{FF2B5EF4-FFF2-40B4-BE49-F238E27FC236}">
                <a16:creationId xmlns:a16="http://schemas.microsoft.com/office/drawing/2014/main" xmlns="" id="{E42B318A-AD9E-4DC9-A89E-31BB829686B3}"/>
              </a:ext>
            </a:extLst>
          </p:cNvPr>
          <p:cNvSpPr txBox="1"/>
          <p:nvPr/>
        </p:nvSpPr>
        <p:spPr>
          <a:xfrm>
            <a:off x="1266018" y="4923213"/>
            <a:ext cx="9091897" cy="1200329"/>
          </a:xfrm>
          <a:prstGeom prst="rect">
            <a:avLst/>
          </a:prstGeom>
          <a:noFill/>
        </p:spPr>
        <p:txBody>
          <a:bodyPr wrap="square" rtlCol="0">
            <a:spAutoFit/>
          </a:bodyPr>
          <a:lstStyle/>
          <a:p>
            <a:r>
              <a:rPr lang="en-US" altLang="zh-TW" sz="2400" dirty="0" err="1">
                <a:solidFill>
                  <a:schemeClr val="bg1">
                    <a:lumMod val="50000"/>
                  </a:schemeClr>
                </a:solidFill>
              </a:rPr>
              <a:t>FastDTW</a:t>
            </a:r>
            <a:r>
              <a:rPr lang="en-US" altLang="zh-TW" sz="2400" dirty="0">
                <a:solidFill>
                  <a:schemeClr val="bg1">
                    <a:lumMod val="50000"/>
                  </a:schemeClr>
                </a:solidFill>
              </a:rPr>
              <a:t> is not always to find an optimal warp path. However, the path found is usually </a:t>
            </a:r>
            <a:r>
              <a:rPr lang="en-US" altLang="zh-TW" sz="2400" u="sng" dirty="0">
                <a:solidFill>
                  <a:schemeClr val="bg1">
                    <a:lumMod val="50000"/>
                  </a:schemeClr>
                </a:solidFill>
              </a:rPr>
              <a:t>very close to optimal</a:t>
            </a:r>
            <a:r>
              <a:rPr lang="en-US" altLang="zh-TW" sz="2400" dirty="0">
                <a:solidFill>
                  <a:schemeClr val="bg1">
                    <a:lumMod val="50000"/>
                  </a:schemeClr>
                </a:solidFill>
              </a:rPr>
              <a:t>. The </a:t>
            </a:r>
            <a:r>
              <a:rPr lang="en-US" altLang="zh-TW" sz="2400" u="sng" dirty="0">
                <a:solidFill>
                  <a:schemeClr val="bg1">
                    <a:lumMod val="50000"/>
                  </a:schemeClr>
                </a:solidFill>
              </a:rPr>
              <a:t>larger</a:t>
            </a:r>
            <a:r>
              <a:rPr lang="en-US" altLang="zh-TW" sz="2400" dirty="0">
                <a:solidFill>
                  <a:schemeClr val="bg1">
                    <a:lumMod val="50000"/>
                  </a:schemeClr>
                </a:solidFill>
              </a:rPr>
              <a:t> the value of the </a:t>
            </a:r>
            <a:r>
              <a:rPr lang="en-US" altLang="zh-TW" sz="2400" i="1" u="sng" dirty="0">
                <a:solidFill>
                  <a:schemeClr val="bg1">
                    <a:lumMod val="50000"/>
                  </a:schemeClr>
                </a:solidFill>
              </a:rPr>
              <a:t>radius</a:t>
            </a:r>
            <a:r>
              <a:rPr lang="en-US" altLang="zh-TW" sz="2400" i="1" dirty="0">
                <a:solidFill>
                  <a:schemeClr val="bg1">
                    <a:lumMod val="50000"/>
                  </a:schemeClr>
                </a:solidFill>
              </a:rPr>
              <a:t> </a:t>
            </a:r>
            <a:r>
              <a:rPr lang="en-US" altLang="zh-TW" sz="2400" dirty="0">
                <a:solidFill>
                  <a:schemeClr val="bg1">
                    <a:lumMod val="50000"/>
                  </a:schemeClr>
                </a:solidFill>
              </a:rPr>
              <a:t>parameter, the </a:t>
            </a:r>
            <a:r>
              <a:rPr lang="en-US" altLang="zh-TW" sz="2400" u="sng" dirty="0">
                <a:solidFill>
                  <a:schemeClr val="bg1">
                    <a:lumMod val="50000"/>
                  </a:schemeClr>
                </a:solidFill>
              </a:rPr>
              <a:t>more accurate</a:t>
            </a:r>
            <a:r>
              <a:rPr lang="en-US" altLang="zh-TW" sz="2400" dirty="0">
                <a:solidFill>
                  <a:schemeClr val="bg1">
                    <a:lumMod val="50000"/>
                  </a:schemeClr>
                </a:solidFill>
              </a:rPr>
              <a:t> the warp path will be.</a:t>
            </a:r>
            <a:endParaRPr lang="zh-TW" altLang="en-US" sz="2400" dirty="0">
              <a:solidFill>
                <a:schemeClr val="bg1">
                  <a:lumMod val="50000"/>
                </a:schemeClr>
              </a:solidFill>
            </a:endParaRPr>
          </a:p>
        </p:txBody>
      </p:sp>
      <p:sp>
        <p:nvSpPr>
          <p:cNvPr id="7" name="文字方塊 6">
            <a:extLst>
              <a:ext uri="{FF2B5EF4-FFF2-40B4-BE49-F238E27FC236}">
                <a16:creationId xmlns:a16="http://schemas.microsoft.com/office/drawing/2014/main" xmlns="" id="{1CB33667-8133-4663-9E04-B408C7D52911}"/>
              </a:ext>
            </a:extLst>
          </p:cNvPr>
          <p:cNvSpPr txBox="1"/>
          <p:nvPr/>
        </p:nvSpPr>
        <p:spPr>
          <a:xfrm>
            <a:off x="8032652" y="5865831"/>
            <a:ext cx="3176319" cy="461665"/>
          </a:xfrm>
          <a:prstGeom prst="rect">
            <a:avLst/>
          </a:prstGeom>
          <a:noFill/>
        </p:spPr>
        <p:txBody>
          <a:bodyPr wrap="none" rtlCol="0">
            <a:spAutoFit/>
          </a:bodyPr>
          <a:lstStyle/>
          <a:p>
            <a:r>
              <a:rPr lang="en-US" altLang="zh-TW" sz="2400" dirty="0"/>
              <a:t>Time Complexity : O(N)</a:t>
            </a:r>
            <a:endParaRPr lang="zh-TW" altLang="en-US" sz="2400" dirty="0"/>
          </a:p>
        </p:txBody>
      </p:sp>
      <p:sp>
        <p:nvSpPr>
          <p:cNvPr id="8" name="文字方塊 7">
            <a:extLst>
              <a:ext uri="{FF2B5EF4-FFF2-40B4-BE49-F238E27FC236}">
                <a16:creationId xmlns:a16="http://schemas.microsoft.com/office/drawing/2014/main" xmlns="" id="{EAC25DE7-A2FF-4436-9221-2D435E30757F}"/>
              </a:ext>
            </a:extLst>
          </p:cNvPr>
          <p:cNvSpPr txBox="1"/>
          <p:nvPr/>
        </p:nvSpPr>
        <p:spPr>
          <a:xfrm>
            <a:off x="8583637" y="1007837"/>
            <a:ext cx="1739643" cy="523220"/>
          </a:xfrm>
          <a:prstGeom prst="rect">
            <a:avLst/>
          </a:prstGeom>
          <a:noFill/>
        </p:spPr>
        <p:txBody>
          <a:bodyPr wrap="none" rtlCol="0">
            <a:spAutoFit/>
          </a:bodyPr>
          <a:lstStyle/>
          <a:p>
            <a:r>
              <a:rPr lang="en-US" altLang="zh-TW" sz="2800" dirty="0"/>
              <a:t>Radius = 1</a:t>
            </a:r>
            <a:endParaRPr lang="zh-TW" altLang="en-US" sz="2800" dirty="0"/>
          </a:p>
        </p:txBody>
      </p:sp>
    </p:spTree>
    <p:extLst>
      <p:ext uri="{BB962C8B-B14F-4D97-AF65-F5344CB8AC3E}">
        <p14:creationId xmlns:p14="http://schemas.microsoft.com/office/powerpoint/2010/main" val="2777786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xmlns="" id="{2C17B827-8919-44CF-AC20-8AEFE6BE4470}"/>
              </a:ext>
            </a:extLst>
          </p:cNvPr>
          <p:cNvPicPr>
            <a:picLocks noChangeAspect="1"/>
          </p:cNvPicPr>
          <p:nvPr/>
        </p:nvPicPr>
        <p:blipFill>
          <a:blip r:embed="rId2"/>
          <a:stretch>
            <a:fillRect/>
          </a:stretch>
        </p:blipFill>
        <p:spPr>
          <a:xfrm>
            <a:off x="4500416" y="331436"/>
            <a:ext cx="4643584" cy="2327823"/>
          </a:xfrm>
          <a:prstGeom prst="rect">
            <a:avLst/>
          </a:prstGeom>
        </p:spPr>
      </p:pic>
      <p:sp>
        <p:nvSpPr>
          <p:cNvPr id="2" name="標題 1">
            <a:extLst>
              <a:ext uri="{FF2B5EF4-FFF2-40B4-BE49-F238E27FC236}">
                <a16:creationId xmlns:a16="http://schemas.microsoft.com/office/drawing/2014/main" xmlns="" id="{1922075C-A274-4C59-84F0-6960FA460DC2}"/>
              </a:ext>
            </a:extLst>
          </p:cNvPr>
          <p:cNvSpPr>
            <a:spLocks noGrp="1"/>
          </p:cNvSpPr>
          <p:nvPr>
            <p:ph type="title"/>
          </p:nvPr>
        </p:nvSpPr>
        <p:spPr/>
        <p:txBody>
          <a:bodyPr/>
          <a:lstStyle/>
          <a:p>
            <a:r>
              <a:rPr lang="en-US" altLang="zh-TW" dirty="0"/>
              <a:t>FTW (1/3)</a:t>
            </a:r>
            <a:endParaRPr lang="zh-TW" altLang="en-US" dirty="0"/>
          </a:p>
        </p:txBody>
      </p:sp>
      <p:sp>
        <p:nvSpPr>
          <p:cNvPr id="3" name="內容版面配置區 2">
            <a:extLst>
              <a:ext uri="{FF2B5EF4-FFF2-40B4-BE49-F238E27FC236}">
                <a16:creationId xmlns:a16="http://schemas.microsoft.com/office/drawing/2014/main" xmlns="" id="{E2FEB81F-5CCE-4730-B6DF-A1DD7F4C1C12}"/>
              </a:ext>
            </a:extLst>
          </p:cNvPr>
          <p:cNvSpPr>
            <a:spLocks noGrp="1"/>
          </p:cNvSpPr>
          <p:nvPr>
            <p:ph idx="1"/>
          </p:nvPr>
        </p:nvSpPr>
        <p:spPr>
          <a:xfrm>
            <a:off x="735280" y="2730390"/>
            <a:ext cx="10515600" cy="3625962"/>
          </a:xfrm>
        </p:spPr>
        <p:txBody>
          <a:bodyPr/>
          <a:lstStyle/>
          <a:p>
            <a:pPr marL="514350" indent="-514350">
              <a:buAutoNum type="arabicParenR"/>
            </a:pPr>
            <a:r>
              <a:rPr lang="en-US" altLang="zh-TW" dirty="0"/>
              <a:t>LBS (Lower Bounding distance measure with Segmentation)</a:t>
            </a:r>
          </a:p>
        </p:txBody>
      </p:sp>
      <p:sp>
        <p:nvSpPr>
          <p:cNvPr id="4" name="投影片編號版面配置區 3">
            <a:extLst>
              <a:ext uri="{FF2B5EF4-FFF2-40B4-BE49-F238E27FC236}">
                <a16:creationId xmlns:a16="http://schemas.microsoft.com/office/drawing/2014/main" xmlns="" id="{82691760-69C0-42A0-8996-0EC040A28C38}"/>
              </a:ext>
            </a:extLst>
          </p:cNvPr>
          <p:cNvSpPr>
            <a:spLocks noGrp="1"/>
          </p:cNvSpPr>
          <p:nvPr>
            <p:ph type="sldNum" sz="quarter" idx="12"/>
          </p:nvPr>
        </p:nvSpPr>
        <p:spPr/>
        <p:txBody>
          <a:bodyPr/>
          <a:lstStyle/>
          <a:p>
            <a:fld id="{8DCCD063-7F18-423D-A692-CC9D343FD360}" type="slidenum">
              <a:rPr lang="zh-TW" altLang="en-US" smtClean="0"/>
              <a:t>8</a:t>
            </a:fld>
            <a:endParaRPr lang="zh-TW" altLang="en-US"/>
          </a:p>
        </p:txBody>
      </p:sp>
      <p:pic>
        <p:nvPicPr>
          <p:cNvPr id="5" name="圖片 4">
            <a:extLst>
              <a:ext uri="{FF2B5EF4-FFF2-40B4-BE49-F238E27FC236}">
                <a16:creationId xmlns:a16="http://schemas.microsoft.com/office/drawing/2014/main" xmlns="" id="{DDAA0CED-740D-4639-8157-9280BBE4CCE2}"/>
              </a:ext>
            </a:extLst>
          </p:cNvPr>
          <p:cNvPicPr>
            <a:picLocks noChangeAspect="1"/>
          </p:cNvPicPr>
          <p:nvPr/>
        </p:nvPicPr>
        <p:blipFill rotWithShape="1">
          <a:blip r:embed="rId3"/>
          <a:srcRect t="56042" b="6470"/>
          <a:stretch/>
        </p:blipFill>
        <p:spPr>
          <a:xfrm>
            <a:off x="5544673" y="3618655"/>
            <a:ext cx="3838445" cy="2737697"/>
          </a:xfrm>
          <a:prstGeom prst="rect">
            <a:avLst/>
          </a:prstGeom>
        </p:spPr>
      </p:pic>
      <p:pic>
        <p:nvPicPr>
          <p:cNvPr id="12" name="圖片 11">
            <a:extLst>
              <a:ext uri="{FF2B5EF4-FFF2-40B4-BE49-F238E27FC236}">
                <a16:creationId xmlns:a16="http://schemas.microsoft.com/office/drawing/2014/main" xmlns="" id="{C837C393-4A42-4D2E-B481-44FAE2846FA8}"/>
              </a:ext>
            </a:extLst>
          </p:cNvPr>
          <p:cNvPicPr>
            <a:picLocks noChangeAspect="1"/>
          </p:cNvPicPr>
          <p:nvPr/>
        </p:nvPicPr>
        <p:blipFill>
          <a:blip r:embed="rId4"/>
          <a:stretch>
            <a:fillRect/>
          </a:stretch>
        </p:blipFill>
        <p:spPr>
          <a:xfrm>
            <a:off x="1884363" y="3429000"/>
            <a:ext cx="2893190" cy="2820497"/>
          </a:xfrm>
          <a:prstGeom prst="rect">
            <a:avLst/>
          </a:prstGeom>
        </p:spPr>
      </p:pic>
    </p:spTree>
    <p:extLst>
      <p:ext uri="{BB962C8B-B14F-4D97-AF65-F5344CB8AC3E}">
        <p14:creationId xmlns:p14="http://schemas.microsoft.com/office/powerpoint/2010/main" val="1847758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922075C-A274-4C59-84F0-6960FA460DC2}"/>
              </a:ext>
            </a:extLst>
          </p:cNvPr>
          <p:cNvSpPr>
            <a:spLocks noGrp="1"/>
          </p:cNvSpPr>
          <p:nvPr>
            <p:ph type="title"/>
          </p:nvPr>
        </p:nvSpPr>
        <p:spPr/>
        <p:txBody>
          <a:bodyPr/>
          <a:lstStyle/>
          <a:p>
            <a:r>
              <a:rPr lang="en-US" altLang="zh-TW" dirty="0"/>
              <a:t>FTW (2/3)</a:t>
            </a:r>
            <a:endParaRPr lang="zh-TW" altLang="en-US" dirty="0"/>
          </a:p>
        </p:txBody>
      </p:sp>
      <p:sp>
        <p:nvSpPr>
          <p:cNvPr id="3" name="內容版面配置區 2">
            <a:extLst>
              <a:ext uri="{FF2B5EF4-FFF2-40B4-BE49-F238E27FC236}">
                <a16:creationId xmlns:a16="http://schemas.microsoft.com/office/drawing/2014/main" xmlns="" id="{E2FEB81F-5CCE-4730-B6DF-A1DD7F4C1C12}"/>
              </a:ext>
            </a:extLst>
          </p:cNvPr>
          <p:cNvSpPr>
            <a:spLocks noGrp="1"/>
          </p:cNvSpPr>
          <p:nvPr>
            <p:ph idx="1"/>
          </p:nvPr>
        </p:nvSpPr>
        <p:spPr>
          <a:xfrm>
            <a:off x="658037" y="2131345"/>
            <a:ext cx="10515600" cy="4351338"/>
          </a:xfrm>
        </p:spPr>
        <p:txBody>
          <a:bodyPr/>
          <a:lstStyle/>
          <a:p>
            <a:pPr marL="0" indent="0">
              <a:buNone/>
            </a:pPr>
            <a:r>
              <a:rPr lang="en-US" altLang="zh-TW" dirty="0"/>
              <a:t>2) </a:t>
            </a:r>
            <a:r>
              <a:rPr lang="en-US" altLang="zh-TW" dirty="0" err="1"/>
              <a:t>EarlyStopping</a:t>
            </a:r>
            <a:endParaRPr lang="en-US" altLang="zh-TW" dirty="0"/>
          </a:p>
        </p:txBody>
      </p:sp>
      <p:sp>
        <p:nvSpPr>
          <p:cNvPr id="4" name="投影片編號版面配置區 3">
            <a:extLst>
              <a:ext uri="{FF2B5EF4-FFF2-40B4-BE49-F238E27FC236}">
                <a16:creationId xmlns:a16="http://schemas.microsoft.com/office/drawing/2014/main" xmlns="" id="{82691760-69C0-42A0-8996-0EC040A28C38}"/>
              </a:ext>
            </a:extLst>
          </p:cNvPr>
          <p:cNvSpPr>
            <a:spLocks noGrp="1"/>
          </p:cNvSpPr>
          <p:nvPr>
            <p:ph type="sldNum" sz="quarter" idx="12"/>
          </p:nvPr>
        </p:nvSpPr>
        <p:spPr/>
        <p:txBody>
          <a:bodyPr/>
          <a:lstStyle/>
          <a:p>
            <a:fld id="{8DCCD063-7F18-423D-A692-CC9D343FD360}" type="slidenum">
              <a:rPr lang="zh-TW" altLang="en-US" smtClean="0"/>
              <a:t>9</a:t>
            </a:fld>
            <a:endParaRPr lang="zh-TW" altLang="en-US"/>
          </a:p>
        </p:txBody>
      </p:sp>
      <p:pic>
        <p:nvPicPr>
          <p:cNvPr id="7" name="圖片 6">
            <a:extLst>
              <a:ext uri="{FF2B5EF4-FFF2-40B4-BE49-F238E27FC236}">
                <a16:creationId xmlns:a16="http://schemas.microsoft.com/office/drawing/2014/main" xmlns="" id="{B4CDDBFE-EB6B-4AB5-93B1-2D0ECD8D0FFD}"/>
              </a:ext>
            </a:extLst>
          </p:cNvPr>
          <p:cNvPicPr>
            <a:picLocks noChangeAspect="1"/>
          </p:cNvPicPr>
          <p:nvPr/>
        </p:nvPicPr>
        <p:blipFill rotWithShape="1">
          <a:blip r:embed="rId2"/>
          <a:srcRect t="56159" b="4304"/>
          <a:stretch/>
        </p:blipFill>
        <p:spPr>
          <a:xfrm>
            <a:off x="5442952" y="3048630"/>
            <a:ext cx="4180784" cy="3101405"/>
          </a:xfrm>
          <a:prstGeom prst="rect">
            <a:avLst/>
          </a:prstGeom>
        </p:spPr>
      </p:pic>
      <p:pic>
        <p:nvPicPr>
          <p:cNvPr id="12" name="圖片 11">
            <a:extLst>
              <a:ext uri="{FF2B5EF4-FFF2-40B4-BE49-F238E27FC236}">
                <a16:creationId xmlns:a16="http://schemas.microsoft.com/office/drawing/2014/main" xmlns="" id="{01829A8E-A1FA-4A23-AC53-F30BC1AF7040}"/>
              </a:ext>
            </a:extLst>
          </p:cNvPr>
          <p:cNvPicPr>
            <a:picLocks noChangeAspect="1"/>
          </p:cNvPicPr>
          <p:nvPr/>
        </p:nvPicPr>
        <p:blipFill>
          <a:blip r:embed="rId3"/>
          <a:stretch>
            <a:fillRect/>
          </a:stretch>
        </p:blipFill>
        <p:spPr>
          <a:xfrm>
            <a:off x="1450461" y="2907750"/>
            <a:ext cx="3208197" cy="3225082"/>
          </a:xfrm>
          <a:prstGeom prst="rect">
            <a:avLst/>
          </a:prstGeom>
        </p:spPr>
      </p:pic>
    </p:spTree>
    <p:extLst>
      <p:ext uri="{BB962C8B-B14F-4D97-AF65-F5344CB8AC3E}">
        <p14:creationId xmlns:p14="http://schemas.microsoft.com/office/powerpoint/2010/main" val="849019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922075C-A274-4C59-84F0-6960FA460DC2}"/>
              </a:ext>
            </a:extLst>
          </p:cNvPr>
          <p:cNvSpPr>
            <a:spLocks noGrp="1"/>
          </p:cNvSpPr>
          <p:nvPr>
            <p:ph type="title"/>
          </p:nvPr>
        </p:nvSpPr>
        <p:spPr/>
        <p:txBody>
          <a:bodyPr/>
          <a:lstStyle/>
          <a:p>
            <a:r>
              <a:rPr lang="en-US" altLang="zh-TW" dirty="0"/>
              <a:t>FTW (3/3)</a:t>
            </a:r>
            <a:endParaRPr lang="zh-TW" altLang="en-US" dirty="0"/>
          </a:p>
        </p:txBody>
      </p:sp>
      <p:sp>
        <p:nvSpPr>
          <p:cNvPr id="3" name="內容版面配置區 2">
            <a:extLst>
              <a:ext uri="{FF2B5EF4-FFF2-40B4-BE49-F238E27FC236}">
                <a16:creationId xmlns:a16="http://schemas.microsoft.com/office/drawing/2014/main" xmlns="" id="{E2FEB81F-5CCE-4730-B6DF-A1DD7F4C1C12}"/>
              </a:ext>
            </a:extLst>
          </p:cNvPr>
          <p:cNvSpPr>
            <a:spLocks noGrp="1"/>
          </p:cNvSpPr>
          <p:nvPr>
            <p:ph idx="1"/>
          </p:nvPr>
        </p:nvSpPr>
        <p:spPr>
          <a:xfrm>
            <a:off x="658037" y="2131345"/>
            <a:ext cx="10515600" cy="4351338"/>
          </a:xfrm>
        </p:spPr>
        <p:txBody>
          <a:bodyPr/>
          <a:lstStyle/>
          <a:p>
            <a:pPr marL="0" indent="0">
              <a:buNone/>
            </a:pPr>
            <a:r>
              <a:rPr lang="en-US" altLang="zh-TW" dirty="0"/>
              <a:t>3) Refinement – Indexing + </a:t>
            </a:r>
            <a:r>
              <a:rPr lang="en-US" altLang="zh-TW" dirty="0" err="1"/>
              <a:t>kNN</a:t>
            </a:r>
            <a:r>
              <a:rPr lang="en-US" altLang="zh-TW" dirty="0"/>
              <a:t> Search Algorithm</a:t>
            </a:r>
            <a:endParaRPr lang="zh-TW" altLang="en-US" dirty="0"/>
          </a:p>
        </p:txBody>
      </p:sp>
      <p:sp>
        <p:nvSpPr>
          <p:cNvPr id="4" name="投影片編號版面配置區 3">
            <a:extLst>
              <a:ext uri="{FF2B5EF4-FFF2-40B4-BE49-F238E27FC236}">
                <a16:creationId xmlns:a16="http://schemas.microsoft.com/office/drawing/2014/main" xmlns="" id="{82691760-69C0-42A0-8996-0EC040A28C38}"/>
              </a:ext>
            </a:extLst>
          </p:cNvPr>
          <p:cNvSpPr>
            <a:spLocks noGrp="1"/>
          </p:cNvSpPr>
          <p:nvPr>
            <p:ph type="sldNum" sz="quarter" idx="12"/>
          </p:nvPr>
        </p:nvSpPr>
        <p:spPr/>
        <p:txBody>
          <a:bodyPr/>
          <a:lstStyle/>
          <a:p>
            <a:fld id="{8DCCD063-7F18-423D-A692-CC9D343FD360}" type="slidenum">
              <a:rPr lang="zh-TW" altLang="en-US" smtClean="0"/>
              <a:t>10</a:t>
            </a:fld>
            <a:endParaRPr lang="zh-TW" altLang="en-US"/>
          </a:p>
        </p:txBody>
      </p:sp>
      <p:pic>
        <p:nvPicPr>
          <p:cNvPr id="6" name="圖片 5">
            <a:extLst>
              <a:ext uri="{FF2B5EF4-FFF2-40B4-BE49-F238E27FC236}">
                <a16:creationId xmlns:a16="http://schemas.microsoft.com/office/drawing/2014/main" xmlns="" id="{CE653975-6916-4EE2-BB48-4706C59CF29C}"/>
              </a:ext>
            </a:extLst>
          </p:cNvPr>
          <p:cNvPicPr>
            <a:picLocks noChangeAspect="1"/>
          </p:cNvPicPr>
          <p:nvPr/>
        </p:nvPicPr>
        <p:blipFill rotWithShape="1">
          <a:blip r:embed="rId2"/>
          <a:srcRect t="57445" b="5467"/>
          <a:stretch/>
        </p:blipFill>
        <p:spPr>
          <a:xfrm>
            <a:off x="5464315" y="3178870"/>
            <a:ext cx="4289285" cy="2938688"/>
          </a:xfrm>
          <a:prstGeom prst="rect">
            <a:avLst/>
          </a:prstGeom>
        </p:spPr>
      </p:pic>
      <p:pic>
        <p:nvPicPr>
          <p:cNvPr id="12" name="圖片 11">
            <a:extLst>
              <a:ext uri="{FF2B5EF4-FFF2-40B4-BE49-F238E27FC236}">
                <a16:creationId xmlns:a16="http://schemas.microsoft.com/office/drawing/2014/main" xmlns="" id="{A20D7498-33F5-4C5D-90B6-F190565A5375}"/>
              </a:ext>
            </a:extLst>
          </p:cNvPr>
          <p:cNvPicPr>
            <a:picLocks noChangeAspect="1"/>
          </p:cNvPicPr>
          <p:nvPr/>
        </p:nvPicPr>
        <p:blipFill>
          <a:blip r:embed="rId3"/>
          <a:stretch>
            <a:fillRect/>
          </a:stretch>
        </p:blipFill>
        <p:spPr>
          <a:xfrm>
            <a:off x="1387792" y="2940190"/>
            <a:ext cx="3346768" cy="3260953"/>
          </a:xfrm>
          <a:prstGeom prst="rect">
            <a:avLst/>
          </a:prstGeom>
        </p:spPr>
      </p:pic>
    </p:spTree>
    <p:extLst>
      <p:ext uri="{BB962C8B-B14F-4D97-AF65-F5344CB8AC3E}">
        <p14:creationId xmlns:p14="http://schemas.microsoft.com/office/powerpoint/2010/main" val="2052392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7571A66-56FF-4B3D-BDC5-D9197C73B496}"/>
              </a:ext>
            </a:extLst>
          </p:cNvPr>
          <p:cNvSpPr>
            <a:spLocks noGrp="1"/>
          </p:cNvSpPr>
          <p:nvPr>
            <p:ph type="title"/>
          </p:nvPr>
        </p:nvSpPr>
        <p:spPr>
          <a:xfrm>
            <a:off x="454407" y="380201"/>
            <a:ext cx="11283186" cy="1325563"/>
          </a:xfrm>
        </p:spPr>
        <p:txBody>
          <a:bodyPr/>
          <a:lstStyle/>
          <a:p>
            <a:r>
              <a:rPr lang="en-US" altLang="zh-TW" dirty="0"/>
              <a:t>Comparison of existing and proposed methods</a:t>
            </a:r>
            <a:endParaRPr lang="zh-TW" altLang="en-US" dirty="0"/>
          </a:p>
        </p:txBody>
      </p:sp>
      <p:pic>
        <p:nvPicPr>
          <p:cNvPr id="5" name="內容版面配置區 4">
            <a:extLst>
              <a:ext uri="{FF2B5EF4-FFF2-40B4-BE49-F238E27FC236}">
                <a16:creationId xmlns:a16="http://schemas.microsoft.com/office/drawing/2014/main" xmlns="" id="{6D5C877D-053E-4EA5-B265-7D574BFCEB5E}"/>
              </a:ext>
            </a:extLst>
          </p:cNvPr>
          <p:cNvPicPr>
            <a:picLocks noGrp="1" noChangeAspect="1"/>
          </p:cNvPicPr>
          <p:nvPr>
            <p:ph idx="1"/>
          </p:nvPr>
        </p:nvPicPr>
        <p:blipFill>
          <a:blip r:embed="rId2"/>
          <a:stretch>
            <a:fillRect/>
          </a:stretch>
        </p:blipFill>
        <p:spPr>
          <a:xfrm>
            <a:off x="454407" y="2284332"/>
            <a:ext cx="11283186" cy="2830671"/>
          </a:xfrm>
          <a:prstGeom prst="rect">
            <a:avLst/>
          </a:prstGeom>
        </p:spPr>
      </p:pic>
      <p:sp>
        <p:nvSpPr>
          <p:cNvPr id="4" name="投影片編號版面配置區 3">
            <a:extLst>
              <a:ext uri="{FF2B5EF4-FFF2-40B4-BE49-F238E27FC236}">
                <a16:creationId xmlns:a16="http://schemas.microsoft.com/office/drawing/2014/main" xmlns="" id="{EA535F26-4125-45B8-8B47-162F189FFC50}"/>
              </a:ext>
            </a:extLst>
          </p:cNvPr>
          <p:cNvSpPr>
            <a:spLocks noGrp="1"/>
          </p:cNvSpPr>
          <p:nvPr>
            <p:ph type="sldNum" sz="quarter" idx="12"/>
          </p:nvPr>
        </p:nvSpPr>
        <p:spPr/>
        <p:txBody>
          <a:bodyPr/>
          <a:lstStyle/>
          <a:p>
            <a:fld id="{8DCCD063-7F18-423D-A692-CC9D343FD360}" type="slidenum">
              <a:rPr lang="zh-TW" altLang="en-US" smtClean="0"/>
              <a:t>11</a:t>
            </a:fld>
            <a:endParaRPr lang="zh-TW" altLang="en-US"/>
          </a:p>
        </p:txBody>
      </p:sp>
    </p:spTree>
    <p:extLst>
      <p:ext uri="{BB962C8B-B14F-4D97-AF65-F5344CB8AC3E}">
        <p14:creationId xmlns:p14="http://schemas.microsoft.com/office/powerpoint/2010/main" val="1795203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6985F65-67AA-4E7B-AC86-928AE129F52C}"/>
              </a:ext>
            </a:extLst>
          </p:cNvPr>
          <p:cNvSpPr>
            <a:spLocks noGrp="1"/>
          </p:cNvSpPr>
          <p:nvPr>
            <p:ph type="title"/>
          </p:nvPr>
        </p:nvSpPr>
        <p:spPr/>
        <p:txBody>
          <a:bodyPr/>
          <a:lstStyle/>
          <a:p>
            <a:r>
              <a:rPr lang="en-US" altLang="zh-TW" dirty="0" err="1"/>
              <a:t>HybridFTW</a:t>
            </a:r>
            <a:r>
              <a:rPr lang="en-US" altLang="zh-TW" dirty="0"/>
              <a:t> (</a:t>
            </a:r>
            <a:r>
              <a:rPr lang="en-US" altLang="zh-TW" dirty="0" smtClean="0"/>
              <a:t>1/4)</a:t>
            </a:r>
            <a:endParaRPr lang="zh-TW" altLang="en-US" dirty="0"/>
          </a:p>
        </p:txBody>
      </p:sp>
      <p:sp>
        <p:nvSpPr>
          <p:cNvPr id="3" name="內容版面配置區 2">
            <a:extLst>
              <a:ext uri="{FF2B5EF4-FFF2-40B4-BE49-F238E27FC236}">
                <a16:creationId xmlns:a16="http://schemas.microsoft.com/office/drawing/2014/main" xmlns="" id="{ED00D2C4-093D-46F3-8883-9A8DB73DDC45}"/>
              </a:ext>
            </a:extLst>
          </p:cNvPr>
          <p:cNvSpPr>
            <a:spLocks noGrp="1"/>
          </p:cNvSpPr>
          <p:nvPr>
            <p:ph idx="1"/>
          </p:nvPr>
        </p:nvSpPr>
        <p:spPr/>
        <p:txBody>
          <a:bodyPr/>
          <a:lstStyle/>
          <a:p>
            <a:r>
              <a:rPr lang="en-US" altLang="zh-TW" dirty="0"/>
              <a:t>1)</a:t>
            </a:r>
            <a:r>
              <a:rPr lang="zh-TW" altLang="en-US" dirty="0"/>
              <a:t> </a:t>
            </a:r>
            <a:r>
              <a:rPr lang="en-US" altLang="zh-TW" dirty="0"/>
              <a:t>Hybrid-Stopping</a:t>
            </a:r>
          </a:p>
        </p:txBody>
      </p:sp>
      <p:sp>
        <p:nvSpPr>
          <p:cNvPr id="4" name="投影片編號版面配置區 3">
            <a:extLst>
              <a:ext uri="{FF2B5EF4-FFF2-40B4-BE49-F238E27FC236}">
                <a16:creationId xmlns:a16="http://schemas.microsoft.com/office/drawing/2014/main" xmlns="" id="{CF7E6700-FD71-4FE6-98CE-C7CF447BD86F}"/>
              </a:ext>
            </a:extLst>
          </p:cNvPr>
          <p:cNvSpPr>
            <a:spLocks noGrp="1"/>
          </p:cNvSpPr>
          <p:nvPr>
            <p:ph type="sldNum" sz="quarter" idx="12"/>
          </p:nvPr>
        </p:nvSpPr>
        <p:spPr/>
        <p:txBody>
          <a:bodyPr/>
          <a:lstStyle/>
          <a:p>
            <a:fld id="{8DCCD063-7F18-423D-A692-CC9D343FD360}" type="slidenum">
              <a:rPr lang="zh-TW" altLang="en-US" smtClean="0"/>
              <a:t>12</a:t>
            </a:fld>
            <a:endParaRPr lang="zh-TW" altLang="en-US"/>
          </a:p>
        </p:txBody>
      </p:sp>
      <p:pic>
        <p:nvPicPr>
          <p:cNvPr id="5" name="圖片 4">
            <a:extLst>
              <a:ext uri="{FF2B5EF4-FFF2-40B4-BE49-F238E27FC236}">
                <a16:creationId xmlns:a16="http://schemas.microsoft.com/office/drawing/2014/main" xmlns="" id="{88E3329D-F464-4741-AD43-DF2082E895F5}"/>
              </a:ext>
            </a:extLst>
          </p:cNvPr>
          <p:cNvPicPr>
            <a:picLocks noChangeAspect="1"/>
          </p:cNvPicPr>
          <p:nvPr/>
        </p:nvPicPr>
        <p:blipFill>
          <a:blip r:embed="rId2"/>
          <a:stretch>
            <a:fillRect/>
          </a:stretch>
        </p:blipFill>
        <p:spPr>
          <a:xfrm>
            <a:off x="5450864" y="1275320"/>
            <a:ext cx="5367191" cy="4991337"/>
          </a:xfrm>
          <a:prstGeom prst="rect">
            <a:avLst/>
          </a:prstGeom>
        </p:spPr>
      </p:pic>
      <p:sp>
        <p:nvSpPr>
          <p:cNvPr id="6" name="文字方塊 5">
            <a:extLst>
              <a:ext uri="{FF2B5EF4-FFF2-40B4-BE49-F238E27FC236}">
                <a16:creationId xmlns:a16="http://schemas.microsoft.com/office/drawing/2014/main" xmlns="" id="{176DA78B-E19B-40FD-947C-E11C2C0D4F37}"/>
              </a:ext>
            </a:extLst>
          </p:cNvPr>
          <p:cNvSpPr txBox="1"/>
          <p:nvPr/>
        </p:nvSpPr>
        <p:spPr>
          <a:xfrm>
            <a:off x="1631852" y="3247768"/>
            <a:ext cx="2375779" cy="523220"/>
          </a:xfrm>
          <a:prstGeom prst="rect">
            <a:avLst/>
          </a:prstGeom>
          <a:noFill/>
        </p:spPr>
        <p:txBody>
          <a:bodyPr wrap="none" rtlCol="0">
            <a:spAutoFit/>
          </a:bodyPr>
          <a:lstStyle/>
          <a:p>
            <a:r>
              <a:rPr lang="en-US" altLang="zh-TW" sz="2800" dirty="0"/>
              <a:t>Tolerance = 30</a:t>
            </a:r>
            <a:endParaRPr lang="zh-TW" altLang="en-US" sz="2800" dirty="0"/>
          </a:p>
        </p:txBody>
      </p:sp>
    </p:spTree>
    <p:extLst>
      <p:ext uri="{BB962C8B-B14F-4D97-AF65-F5344CB8AC3E}">
        <p14:creationId xmlns:p14="http://schemas.microsoft.com/office/powerpoint/2010/main" val="1247488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6985F65-67AA-4E7B-AC86-928AE129F52C}"/>
              </a:ext>
            </a:extLst>
          </p:cNvPr>
          <p:cNvSpPr>
            <a:spLocks noGrp="1"/>
          </p:cNvSpPr>
          <p:nvPr>
            <p:ph type="title"/>
          </p:nvPr>
        </p:nvSpPr>
        <p:spPr/>
        <p:txBody>
          <a:bodyPr/>
          <a:lstStyle/>
          <a:p>
            <a:r>
              <a:rPr lang="en-US" altLang="zh-TW" dirty="0" err="1"/>
              <a:t>HybridFTW</a:t>
            </a:r>
            <a:r>
              <a:rPr lang="en-US" altLang="zh-TW" dirty="0"/>
              <a:t> (</a:t>
            </a:r>
            <a:r>
              <a:rPr lang="en-US" altLang="zh-TW" dirty="0" smtClean="0"/>
              <a:t>2/4)</a:t>
            </a:r>
            <a:endParaRPr lang="zh-TW" altLang="en-US" dirty="0"/>
          </a:p>
        </p:txBody>
      </p:sp>
      <p:sp>
        <p:nvSpPr>
          <p:cNvPr id="3" name="內容版面配置區 2">
            <a:extLst>
              <a:ext uri="{FF2B5EF4-FFF2-40B4-BE49-F238E27FC236}">
                <a16:creationId xmlns:a16="http://schemas.microsoft.com/office/drawing/2014/main" xmlns="" id="{ED00D2C4-093D-46F3-8883-9A8DB73DDC45}"/>
              </a:ext>
            </a:extLst>
          </p:cNvPr>
          <p:cNvSpPr>
            <a:spLocks noGrp="1"/>
          </p:cNvSpPr>
          <p:nvPr>
            <p:ph idx="1"/>
          </p:nvPr>
        </p:nvSpPr>
        <p:spPr/>
        <p:txBody>
          <a:bodyPr/>
          <a:lstStyle/>
          <a:p>
            <a:r>
              <a:rPr lang="en-US" altLang="zh-TW" dirty="0"/>
              <a:t>2) Hybrid-Projection</a:t>
            </a:r>
          </a:p>
        </p:txBody>
      </p:sp>
      <p:sp>
        <p:nvSpPr>
          <p:cNvPr id="4" name="投影片編號版面配置區 3">
            <a:extLst>
              <a:ext uri="{FF2B5EF4-FFF2-40B4-BE49-F238E27FC236}">
                <a16:creationId xmlns:a16="http://schemas.microsoft.com/office/drawing/2014/main" xmlns="" id="{CF7E6700-FD71-4FE6-98CE-C7CF447BD86F}"/>
              </a:ext>
            </a:extLst>
          </p:cNvPr>
          <p:cNvSpPr>
            <a:spLocks noGrp="1"/>
          </p:cNvSpPr>
          <p:nvPr>
            <p:ph type="sldNum" sz="quarter" idx="12"/>
          </p:nvPr>
        </p:nvSpPr>
        <p:spPr/>
        <p:txBody>
          <a:bodyPr/>
          <a:lstStyle/>
          <a:p>
            <a:fld id="{8DCCD063-7F18-423D-A692-CC9D343FD360}" type="slidenum">
              <a:rPr lang="zh-TW" altLang="en-US" smtClean="0"/>
              <a:t>13</a:t>
            </a:fld>
            <a:endParaRPr lang="zh-TW" altLang="en-US"/>
          </a:p>
        </p:txBody>
      </p:sp>
      <p:pic>
        <p:nvPicPr>
          <p:cNvPr id="5" name="圖片 4">
            <a:extLst>
              <a:ext uri="{FF2B5EF4-FFF2-40B4-BE49-F238E27FC236}">
                <a16:creationId xmlns:a16="http://schemas.microsoft.com/office/drawing/2014/main" xmlns="" id="{DA96B539-D811-4C04-AE78-141E8E1208ED}"/>
              </a:ext>
            </a:extLst>
          </p:cNvPr>
          <p:cNvPicPr>
            <a:picLocks noChangeAspect="1"/>
          </p:cNvPicPr>
          <p:nvPr/>
        </p:nvPicPr>
        <p:blipFill>
          <a:blip r:embed="rId2"/>
          <a:stretch>
            <a:fillRect/>
          </a:stretch>
        </p:blipFill>
        <p:spPr>
          <a:xfrm>
            <a:off x="1702611" y="2768160"/>
            <a:ext cx="9109965" cy="2915188"/>
          </a:xfrm>
          <a:prstGeom prst="rect">
            <a:avLst/>
          </a:prstGeom>
        </p:spPr>
      </p:pic>
    </p:spTree>
    <p:extLst>
      <p:ext uri="{BB962C8B-B14F-4D97-AF65-F5344CB8AC3E}">
        <p14:creationId xmlns:p14="http://schemas.microsoft.com/office/powerpoint/2010/main" val="569271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6985F65-67AA-4E7B-AC86-928AE129F52C}"/>
              </a:ext>
            </a:extLst>
          </p:cNvPr>
          <p:cNvSpPr>
            <a:spLocks noGrp="1"/>
          </p:cNvSpPr>
          <p:nvPr>
            <p:ph type="title"/>
          </p:nvPr>
        </p:nvSpPr>
        <p:spPr/>
        <p:txBody>
          <a:bodyPr/>
          <a:lstStyle/>
          <a:p>
            <a:r>
              <a:rPr lang="en-US" altLang="zh-TW" dirty="0" err="1"/>
              <a:t>HybridFTW</a:t>
            </a:r>
            <a:r>
              <a:rPr lang="en-US" altLang="zh-TW" dirty="0"/>
              <a:t> (</a:t>
            </a:r>
            <a:r>
              <a:rPr lang="en-US" altLang="zh-TW" dirty="0" smtClean="0"/>
              <a:t>3/4)</a:t>
            </a:r>
            <a:endParaRPr lang="zh-TW" altLang="en-US" dirty="0"/>
          </a:p>
        </p:txBody>
      </p:sp>
      <p:sp>
        <p:nvSpPr>
          <p:cNvPr id="3" name="內容版面配置區 2">
            <a:extLst>
              <a:ext uri="{FF2B5EF4-FFF2-40B4-BE49-F238E27FC236}">
                <a16:creationId xmlns:a16="http://schemas.microsoft.com/office/drawing/2014/main" xmlns="" id="{ED00D2C4-093D-46F3-8883-9A8DB73DDC45}"/>
              </a:ext>
            </a:extLst>
          </p:cNvPr>
          <p:cNvSpPr>
            <a:spLocks noGrp="1"/>
          </p:cNvSpPr>
          <p:nvPr>
            <p:ph idx="1"/>
          </p:nvPr>
        </p:nvSpPr>
        <p:spPr/>
        <p:txBody>
          <a:bodyPr/>
          <a:lstStyle/>
          <a:p>
            <a:r>
              <a:rPr lang="en-US" altLang="zh-TW" dirty="0"/>
              <a:t>3) Hybrid-Refinement</a:t>
            </a:r>
            <a:endParaRPr lang="zh-TW" altLang="en-US" dirty="0"/>
          </a:p>
        </p:txBody>
      </p:sp>
      <p:sp>
        <p:nvSpPr>
          <p:cNvPr id="4" name="投影片編號版面配置區 3">
            <a:extLst>
              <a:ext uri="{FF2B5EF4-FFF2-40B4-BE49-F238E27FC236}">
                <a16:creationId xmlns:a16="http://schemas.microsoft.com/office/drawing/2014/main" xmlns="" id="{CF7E6700-FD71-4FE6-98CE-C7CF447BD86F}"/>
              </a:ext>
            </a:extLst>
          </p:cNvPr>
          <p:cNvSpPr>
            <a:spLocks noGrp="1"/>
          </p:cNvSpPr>
          <p:nvPr>
            <p:ph type="sldNum" sz="quarter" idx="12"/>
          </p:nvPr>
        </p:nvSpPr>
        <p:spPr/>
        <p:txBody>
          <a:bodyPr/>
          <a:lstStyle/>
          <a:p>
            <a:fld id="{8DCCD063-7F18-423D-A692-CC9D343FD360}" type="slidenum">
              <a:rPr lang="zh-TW" altLang="en-US" smtClean="0"/>
              <a:t>14</a:t>
            </a:fld>
            <a:endParaRPr lang="zh-TW" altLang="en-US"/>
          </a:p>
        </p:txBody>
      </p:sp>
      <p:pic>
        <p:nvPicPr>
          <p:cNvPr id="5" name="圖片 4">
            <a:extLst>
              <a:ext uri="{FF2B5EF4-FFF2-40B4-BE49-F238E27FC236}">
                <a16:creationId xmlns:a16="http://schemas.microsoft.com/office/drawing/2014/main" xmlns="" id="{F4A315BA-A3D2-49AE-A8CE-E8E0E6B7D152}"/>
              </a:ext>
            </a:extLst>
          </p:cNvPr>
          <p:cNvPicPr>
            <a:picLocks noChangeAspect="1"/>
          </p:cNvPicPr>
          <p:nvPr/>
        </p:nvPicPr>
        <p:blipFill>
          <a:blip r:embed="rId2"/>
          <a:stretch>
            <a:fillRect/>
          </a:stretch>
        </p:blipFill>
        <p:spPr>
          <a:xfrm>
            <a:off x="1530756" y="2436192"/>
            <a:ext cx="6431558" cy="3830465"/>
          </a:xfrm>
          <a:prstGeom prst="rect">
            <a:avLst/>
          </a:prstGeom>
        </p:spPr>
      </p:pic>
    </p:spTree>
    <p:extLst>
      <p:ext uri="{BB962C8B-B14F-4D97-AF65-F5344CB8AC3E}">
        <p14:creationId xmlns:p14="http://schemas.microsoft.com/office/powerpoint/2010/main" val="690272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6985F65-67AA-4E7B-AC86-928AE129F52C}"/>
              </a:ext>
            </a:extLst>
          </p:cNvPr>
          <p:cNvSpPr>
            <a:spLocks noGrp="1"/>
          </p:cNvSpPr>
          <p:nvPr>
            <p:ph type="title"/>
          </p:nvPr>
        </p:nvSpPr>
        <p:spPr/>
        <p:txBody>
          <a:bodyPr/>
          <a:lstStyle/>
          <a:p>
            <a:r>
              <a:rPr lang="en-US" altLang="zh-TW" dirty="0" err="1"/>
              <a:t>HybridFTW</a:t>
            </a:r>
            <a:r>
              <a:rPr lang="en-US" altLang="zh-TW" dirty="0"/>
              <a:t> </a:t>
            </a:r>
            <a:r>
              <a:rPr lang="en-US" altLang="zh-TW" dirty="0" smtClean="0"/>
              <a:t>(</a:t>
            </a:r>
            <a:r>
              <a:rPr lang="en-US" altLang="zh-TW" dirty="0"/>
              <a:t>4</a:t>
            </a:r>
            <a:r>
              <a:rPr lang="en-US" altLang="zh-TW" dirty="0" smtClean="0"/>
              <a:t>/4)</a:t>
            </a:r>
            <a:endParaRPr lang="zh-TW" altLang="en-US" dirty="0"/>
          </a:p>
        </p:txBody>
      </p:sp>
      <p:sp>
        <p:nvSpPr>
          <p:cNvPr id="4" name="投影片編號版面配置區 3">
            <a:extLst>
              <a:ext uri="{FF2B5EF4-FFF2-40B4-BE49-F238E27FC236}">
                <a16:creationId xmlns:a16="http://schemas.microsoft.com/office/drawing/2014/main" xmlns="" id="{CF7E6700-FD71-4FE6-98CE-C7CF447BD86F}"/>
              </a:ext>
            </a:extLst>
          </p:cNvPr>
          <p:cNvSpPr>
            <a:spLocks noGrp="1"/>
          </p:cNvSpPr>
          <p:nvPr>
            <p:ph type="sldNum" sz="quarter" idx="12"/>
          </p:nvPr>
        </p:nvSpPr>
        <p:spPr/>
        <p:txBody>
          <a:bodyPr/>
          <a:lstStyle/>
          <a:p>
            <a:fld id="{8DCCD063-7F18-423D-A692-CC9D343FD360}" type="slidenum">
              <a:rPr lang="zh-TW" altLang="en-US" smtClean="0"/>
              <a:t>15</a:t>
            </a:fld>
            <a:endParaRPr lang="zh-TW" altLang="en-US"/>
          </a:p>
        </p:txBody>
      </p:sp>
      <p:pic>
        <p:nvPicPr>
          <p:cNvPr id="7" name="內容版面配置區 6"/>
          <p:cNvPicPr>
            <a:picLocks noGrp="1" noChangeAspect="1"/>
          </p:cNvPicPr>
          <p:nvPr>
            <p:ph idx="1"/>
          </p:nvPr>
        </p:nvPicPr>
        <p:blipFill>
          <a:blip r:embed="rId2"/>
          <a:stretch>
            <a:fillRect/>
          </a:stretch>
        </p:blipFill>
        <p:spPr>
          <a:xfrm>
            <a:off x="838200" y="2048604"/>
            <a:ext cx="10653770" cy="3325062"/>
          </a:xfrm>
          <a:prstGeom prst="rect">
            <a:avLst/>
          </a:prstGeom>
        </p:spPr>
      </p:pic>
    </p:spTree>
    <p:extLst>
      <p:ext uri="{BB962C8B-B14F-4D97-AF65-F5344CB8AC3E}">
        <p14:creationId xmlns:p14="http://schemas.microsoft.com/office/powerpoint/2010/main" val="3880378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7643376-D5FD-40AE-88CF-B6A096234B99}"/>
              </a:ext>
            </a:extLst>
          </p:cNvPr>
          <p:cNvSpPr>
            <a:spLocks noGrp="1"/>
          </p:cNvSpPr>
          <p:nvPr>
            <p:ph type="title"/>
          </p:nvPr>
        </p:nvSpPr>
        <p:spPr/>
        <p:txBody>
          <a:bodyPr/>
          <a:lstStyle/>
          <a:p>
            <a:r>
              <a:rPr lang="en-US" altLang="zh-TW" dirty="0"/>
              <a:t>Experimental Result (1/4)</a:t>
            </a:r>
            <a:endParaRPr lang="zh-TW" altLang="en-US" dirty="0"/>
          </a:p>
        </p:txBody>
      </p:sp>
      <p:pic>
        <p:nvPicPr>
          <p:cNvPr id="5" name="內容版面配置區 4">
            <a:extLst>
              <a:ext uri="{FF2B5EF4-FFF2-40B4-BE49-F238E27FC236}">
                <a16:creationId xmlns:a16="http://schemas.microsoft.com/office/drawing/2014/main" xmlns="" id="{49800871-33D2-4888-897C-D4D74F358BB0}"/>
              </a:ext>
            </a:extLst>
          </p:cNvPr>
          <p:cNvPicPr>
            <a:picLocks noGrp="1" noChangeAspect="1"/>
          </p:cNvPicPr>
          <p:nvPr>
            <p:ph idx="1"/>
          </p:nvPr>
        </p:nvPicPr>
        <p:blipFill>
          <a:blip r:embed="rId2"/>
          <a:stretch>
            <a:fillRect/>
          </a:stretch>
        </p:blipFill>
        <p:spPr>
          <a:xfrm>
            <a:off x="1395135" y="1464475"/>
            <a:ext cx="9401729" cy="4626835"/>
          </a:xfrm>
          <a:prstGeom prst="rect">
            <a:avLst/>
          </a:prstGeom>
        </p:spPr>
      </p:pic>
      <p:sp>
        <p:nvSpPr>
          <p:cNvPr id="4" name="投影片編號版面配置區 3">
            <a:extLst>
              <a:ext uri="{FF2B5EF4-FFF2-40B4-BE49-F238E27FC236}">
                <a16:creationId xmlns:a16="http://schemas.microsoft.com/office/drawing/2014/main" xmlns="" id="{E6282E35-F601-4F93-A903-509769CC745E}"/>
              </a:ext>
            </a:extLst>
          </p:cNvPr>
          <p:cNvSpPr>
            <a:spLocks noGrp="1"/>
          </p:cNvSpPr>
          <p:nvPr>
            <p:ph type="sldNum" sz="quarter" idx="12"/>
          </p:nvPr>
        </p:nvSpPr>
        <p:spPr/>
        <p:txBody>
          <a:bodyPr/>
          <a:lstStyle/>
          <a:p>
            <a:fld id="{8DCCD063-7F18-423D-A692-CC9D343FD360}" type="slidenum">
              <a:rPr lang="zh-TW" altLang="en-US" smtClean="0"/>
              <a:t>16</a:t>
            </a:fld>
            <a:endParaRPr lang="zh-TW" altLang="en-US"/>
          </a:p>
        </p:txBody>
      </p:sp>
    </p:spTree>
    <p:extLst>
      <p:ext uri="{BB962C8B-B14F-4D97-AF65-F5344CB8AC3E}">
        <p14:creationId xmlns:p14="http://schemas.microsoft.com/office/powerpoint/2010/main" val="1915159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7643376-D5FD-40AE-88CF-B6A096234B99}"/>
              </a:ext>
            </a:extLst>
          </p:cNvPr>
          <p:cNvSpPr>
            <a:spLocks noGrp="1"/>
          </p:cNvSpPr>
          <p:nvPr>
            <p:ph type="title"/>
          </p:nvPr>
        </p:nvSpPr>
        <p:spPr/>
        <p:txBody>
          <a:bodyPr/>
          <a:lstStyle/>
          <a:p>
            <a:r>
              <a:rPr lang="en-US" altLang="zh-TW" dirty="0"/>
              <a:t>Experimental Result (2/4)</a:t>
            </a:r>
            <a:endParaRPr lang="zh-TW" altLang="en-US" dirty="0"/>
          </a:p>
        </p:txBody>
      </p:sp>
      <p:sp>
        <p:nvSpPr>
          <p:cNvPr id="4" name="投影片編號版面配置區 3">
            <a:extLst>
              <a:ext uri="{FF2B5EF4-FFF2-40B4-BE49-F238E27FC236}">
                <a16:creationId xmlns:a16="http://schemas.microsoft.com/office/drawing/2014/main" xmlns="" id="{E6282E35-F601-4F93-A903-509769CC745E}"/>
              </a:ext>
            </a:extLst>
          </p:cNvPr>
          <p:cNvSpPr>
            <a:spLocks noGrp="1"/>
          </p:cNvSpPr>
          <p:nvPr>
            <p:ph type="sldNum" sz="quarter" idx="12"/>
          </p:nvPr>
        </p:nvSpPr>
        <p:spPr/>
        <p:txBody>
          <a:bodyPr/>
          <a:lstStyle/>
          <a:p>
            <a:fld id="{8DCCD063-7F18-423D-A692-CC9D343FD360}" type="slidenum">
              <a:rPr lang="zh-TW" altLang="en-US" smtClean="0"/>
              <a:t>17</a:t>
            </a:fld>
            <a:endParaRPr lang="zh-TW" altLang="en-US"/>
          </a:p>
        </p:txBody>
      </p:sp>
      <p:pic>
        <p:nvPicPr>
          <p:cNvPr id="7" name="內容版面配置區 6">
            <a:extLst>
              <a:ext uri="{FF2B5EF4-FFF2-40B4-BE49-F238E27FC236}">
                <a16:creationId xmlns:a16="http://schemas.microsoft.com/office/drawing/2014/main" xmlns="" id="{1DB3EB50-3E1C-495E-AB0C-7B4D4453D2B4}"/>
              </a:ext>
            </a:extLst>
          </p:cNvPr>
          <p:cNvPicPr>
            <a:picLocks noGrp="1" noChangeAspect="1"/>
          </p:cNvPicPr>
          <p:nvPr>
            <p:ph idx="1"/>
          </p:nvPr>
        </p:nvPicPr>
        <p:blipFill>
          <a:blip r:embed="rId2"/>
          <a:stretch>
            <a:fillRect/>
          </a:stretch>
        </p:blipFill>
        <p:spPr>
          <a:xfrm>
            <a:off x="1531661" y="1547462"/>
            <a:ext cx="9128678" cy="4564339"/>
          </a:xfrm>
          <a:prstGeom prst="rect">
            <a:avLst/>
          </a:prstGeom>
        </p:spPr>
      </p:pic>
    </p:spTree>
    <p:extLst>
      <p:ext uri="{BB962C8B-B14F-4D97-AF65-F5344CB8AC3E}">
        <p14:creationId xmlns:p14="http://schemas.microsoft.com/office/powerpoint/2010/main" val="689294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7643376-D5FD-40AE-88CF-B6A096234B99}"/>
              </a:ext>
            </a:extLst>
          </p:cNvPr>
          <p:cNvSpPr>
            <a:spLocks noGrp="1"/>
          </p:cNvSpPr>
          <p:nvPr>
            <p:ph type="title"/>
          </p:nvPr>
        </p:nvSpPr>
        <p:spPr/>
        <p:txBody>
          <a:bodyPr/>
          <a:lstStyle/>
          <a:p>
            <a:r>
              <a:rPr lang="en-US" altLang="zh-TW" dirty="0"/>
              <a:t>Experimental Result (3/4)</a:t>
            </a:r>
            <a:endParaRPr lang="zh-TW" altLang="en-US" dirty="0"/>
          </a:p>
        </p:txBody>
      </p:sp>
      <p:sp>
        <p:nvSpPr>
          <p:cNvPr id="4" name="投影片編號版面配置區 3">
            <a:extLst>
              <a:ext uri="{FF2B5EF4-FFF2-40B4-BE49-F238E27FC236}">
                <a16:creationId xmlns:a16="http://schemas.microsoft.com/office/drawing/2014/main" xmlns="" id="{E6282E35-F601-4F93-A903-509769CC745E}"/>
              </a:ext>
            </a:extLst>
          </p:cNvPr>
          <p:cNvSpPr>
            <a:spLocks noGrp="1"/>
          </p:cNvSpPr>
          <p:nvPr>
            <p:ph type="sldNum" sz="quarter" idx="12"/>
          </p:nvPr>
        </p:nvSpPr>
        <p:spPr/>
        <p:txBody>
          <a:bodyPr/>
          <a:lstStyle/>
          <a:p>
            <a:fld id="{8DCCD063-7F18-423D-A692-CC9D343FD360}" type="slidenum">
              <a:rPr lang="zh-TW" altLang="en-US" smtClean="0"/>
              <a:t>18</a:t>
            </a:fld>
            <a:endParaRPr lang="zh-TW" altLang="en-US"/>
          </a:p>
        </p:txBody>
      </p:sp>
      <p:pic>
        <p:nvPicPr>
          <p:cNvPr id="6" name="內容版面配置區 5">
            <a:extLst>
              <a:ext uri="{FF2B5EF4-FFF2-40B4-BE49-F238E27FC236}">
                <a16:creationId xmlns:a16="http://schemas.microsoft.com/office/drawing/2014/main" xmlns="" id="{DA7F0160-9E7B-463B-8FAA-B343B90DA0DD}"/>
              </a:ext>
            </a:extLst>
          </p:cNvPr>
          <p:cNvPicPr>
            <a:picLocks noGrp="1" noChangeAspect="1"/>
          </p:cNvPicPr>
          <p:nvPr>
            <p:ph idx="1"/>
          </p:nvPr>
        </p:nvPicPr>
        <p:blipFill>
          <a:blip r:embed="rId2"/>
          <a:stretch>
            <a:fillRect/>
          </a:stretch>
        </p:blipFill>
        <p:spPr>
          <a:xfrm>
            <a:off x="1593574" y="1881678"/>
            <a:ext cx="9004851" cy="4283685"/>
          </a:xfrm>
          <a:prstGeom prst="rect">
            <a:avLst/>
          </a:prstGeom>
        </p:spPr>
      </p:pic>
    </p:spTree>
    <p:extLst>
      <p:ext uri="{BB962C8B-B14F-4D97-AF65-F5344CB8AC3E}">
        <p14:creationId xmlns:p14="http://schemas.microsoft.com/office/powerpoint/2010/main" val="588735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7643376-D5FD-40AE-88CF-B6A096234B99}"/>
              </a:ext>
            </a:extLst>
          </p:cNvPr>
          <p:cNvSpPr>
            <a:spLocks noGrp="1"/>
          </p:cNvSpPr>
          <p:nvPr>
            <p:ph type="title"/>
          </p:nvPr>
        </p:nvSpPr>
        <p:spPr/>
        <p:txBody>
          <a:bodyPr/>
          <a:lstStyle/>
          <a:p>
            <a:r>
              <a:rPr lang="en-US" altLang="zh-TW" dirty="0"/>
              <a:t>Experimental Result (4/4)</a:t>
            </a:r>
            <a:endParaRPr lang="zh-TW" altLang="en-US" dirty="0"/>
          </a:p>
        </p:txBody>
      </p:sp>
      <p:sp>
        <p:nvSpPr>
          <p:cNvPr id="4" name="投影片編號版面配置區 3">
            <a:extLst>
              <a:ext uri="{FF2B5EF4-FFF2-40B4-BE49-F238E27FC236}">
                <a16:creationId xmlns:a16="http://schemas.microsoft.com/office/drawing/2014/main" xmlns="" id="{E6282E35-F601-4F93-A903-509769CC745E}"/>
              </a:ext>
            </a:extLst>
          </p:cNvPr>
          <p:cNvSpPr>
            <a:spLocks noGrp="1"/>
          </p:cNvSpPr>
          <p:nvPr>
            <p:ph type="sldNum" sz="quarter" idx="12"/>
          </p:nvPr>
        </p:nvSpPr>
        <p:spPr/>
        <p:txBody>
          <a:bodyPr/>
          <a:lstStyle/>
          <a:p>
            <a:fld id="{8DCCD063-7F18-423D-A692-CC9D343FD360}" type="slidenum">
              <a:rPr lang="zh-TW" altLang="en-US" smtClean="0"/>
              <a:t>19</a:t>
            </a:fld>
            <a:endParaRPr lang="zh-TW" altLang="en-US"/>
          </a:p>
        </p:txBody>
      </p:sp>
      <p:pic>
        <p:nvPicPr>
          <p:cNvPr id="6" name="內容版面配置區 5">
            <a:extLst>
              <a:ext uri="{FF2B5EF4-FFF2-40B4-BE49-F238E27FC236}">
                <a16:creationId xmlns:a16="http://schemas.microsoft.com/office/drawing/2014/main" xmlns="" id="{238C04E1-F699-4080-B590-3612F4C23ED2}"/>
              </a:ext>
            </a:extLst>
          </p:cNvPr>
          <p:cNvPicPr>
            <a:picLocks noGrp="1" noChangeAspect="1"/>
          </p:cNvPicPr>
          <p:nvPr>
            <p:ph idx="1"/>
          </p:nvPr>
        </p:nvPicPr>
        <p:blipFill>
          <a:blip r:embed="rId2"/>
          <a:stretch>
            <a:fillRect/>
          </a:stretch>
        </p:blipFill>
        <p:spPr>
          <a:xfrm>
            <a:off x="1255643" y="1690690"/>
            <a:ext cx="9680713" cy="4647514"/>
          </a:xfrm>
          <a:prstGeom prst="rect">
            <a:avLst/>
          </a:prstGeom>
        </p:spPr>
      </p:pic>
    </p:spTree>
    <p:extLst>
      <p:ext uri="{BB962C8B-B14F-4D97-AF65-F5344CB8AC3E}">
        <p14:creationId xmlns:p14="http://schemas.microsoft.com/office/powerpoint/2010/main" val="177519285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11049</TotalTime>
  <Words>616</Words>
  <Application>Microsoft Office PowerPoint</Application>
  <PresentationFormat>寬螢幕</PresentationFormat>
  <Paragraphs>75</Paragraphs>
  <Slides>19</Slides>
  <Notes>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19</vt:i4>
      </vt:variant>
    </vt:vector>
  </HeadingPairs>
  <TitlesOfParts>
    <vt:vector size="26" baseType="lpstr">
      <vt:lpstr>微軟正黑體</vt:lpstr>
      <vt:lpstr>新細明體</vt:lpstr>
      <vt:lpstr>Arial</vt:lpstr>
      <vt:lpstr>Calibri</vt:lpstr>
      <vt:lpstr>Cambria Math</vt:lpstr>
      <vt:lpstr>Tw Cen MT</vt:lpstr>
      <vt:lpstr>Office 佈景主題</vt:lpstr>
      <vt:lpstr>HybridFTW: Hybrid Computation of Dynamic Time Warping Distances</vt:lpstr>
      <vt:lpstr>Abstract (1/2)</vt:lpstr>
      <vt:lpstr>Abstract (2/2)</vt:lpstr>
      <vt:lpstr>DTW</vt:lpstr>
      <vt:lpstr>Speeding up DTW</vt:lpstr>
      <vt:lpstr>FastDTW (1/2)</vt:lpstr>
      <vt:lpstr>FastDTW (2/2)</vt:lpstr>
      <vt:lpstr>FTW (1/3)</vt:lpstr>
      <vt:lpstr>FTW (2/3)</vt:lpstr>
      <vt:lpstr>FTW (3/3)</vt:lpstr>
      <vt:lpstr>Comparison of existing and proposed methods</vt:lpstr>
      <vt:lpstr>HybridFTW (1/4)</vt:lpstr>
      <vt:lpstr>HybridFTW (2/4)</vt:lpstr>
      <vt:lpstr>HybridFTW (3/4)</vt:lpstr>
      <vt:lpstr>HybridFTW (4/4)</vt:lpstr>
      <vt:lpstr>Experimental Result (1/4)</vt:lpstr>
      <vt:lpstr>Experimental Result (2/4)</vt:lpstr>
      <vt:lpstr>Experimental Result (3/4)</vt:lpstr>
      <vt:lpstr>Experimental Result (4/4)</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pplab-class</cp:lastModifiedBy>
  <cp:revision>253</cp:revision>
  <dcterms:created xsi:type="dcterms:W3CDTF">2017-10-09T09:38:00Z</dcterms:created>
  <dcterms:modified xsi:type="dcterms:W3CDTF">2018-03-13T11:13:51Z</dcterms:modified>
</cp:coreProperties>
</file>