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77" r:id="rId5"/>
    <p:sldId id="259" r:id="rId6"/>
    <p:sldId id="279" r:id="rId7"/>
    <p:sldId id="278" r:id="rId8"/>
    <p:sldId id="280" r:id="rId9"/>
    <p:sldId id="281" r:id="rId10"/>
    <p:sldId id="28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867" autoAdjust="0"/>
  </p:normalViewPr>
  <p:slideViewPr>
    <p:cSldViewPr snapToGrid="0">
      <p:cViewPr varScale="1">
        <p:scale>
          <a:sx n="68" d="100"/>
          <a:sy n="68" d="100"/>
        </p:scale>
        <p:origin x="55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2018/10/30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oo.gl/61DG2A"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goo.gl/zwKsNb" TargetMode="External"/><Relationship Id="rId4" Type="http://schemas.openxmlformats.org/officeDocument/2006/relationships/hyperlink" Target="https://goo.gl/CAKxv3"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dirty="0">
                <a:solidFill>
                  <a:schemeClr val="tx1"/>
                </a:solidFill>
                <a:effectLst/>
                <a:latin typeface="+mn-lt"/>
                <a:ea typeface="+mn-ea"/>
                <a:cs typeface="+mn-cs"/>
                <a:hlinkClick r:id="rId3"/>
              </a:rPr>
              <a:t>https://goo.gl/61DG2A</a:t>
            </a:r>
            <a:endParaRPr lang="en-US" altLang="zh-TW" sz="1200" b="0" i="0" u="none" strike="noStrike" kern="1200" dirty="0">
              <a:solidFill>
                <a:schemeClr val="tx1"/>
              </a:solidFill>
              <a:effectLst/>
              <a:latin typeface="+mn-lt"/>
              <a:ea typeface="+mn-ea"/>
              <a:cs typeface="+mn-cs"/>
            </a:endParaRPr>
          </a:p>
          <a:p>
            <a:r>
              <a:rPr lang="zh-TW" altLang="en-US" sz="1200" b="0" i="0" u="none" strike="noStrike" kern="1200" dirty="0">
                <a:solidFill>
                  <a:schemeClr val="tx1"/>
                </a:solidFill>
                <a:effectLst/>
                <a:latin typeface="+mn-lt"/>
                <a:ea typeface="+mn-ea"/>
                <a:cs typeface="+mn-cs"/>
              </a:rPr>
              <a:t>所在城市</a:t>
            </a:r>
            <a:r>
              <a:rPr lang="en-US" altLang="zh-TW"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hlinkClick r:id="rId4"/>
              </a:rPr>
              <a:t>https://goo.gl/CAKxv3</a:t>
            </a:r>
            <a:endParaRPr lang="en-US" altLang="zh-TW" sz="1200" b="0" i="0" u="none" strike="noStrike" kern="1200" dirty="0">
              <a:solidFill>
                <a:schemeClr val="tx1"/>
              </a:solidFill>
              <a:effectLst/>
              <a:latin typeface="+mn-lt"/>
              <a:ea typeface="+mn-ea"/>
              <a:cs typeface="+mn-cs"/>
            </a:endParaRPr>
          </a:p>
          <a:p>
            <a:r>
              <a:rPr lang="zh-TW" altLang="en-US" sz="1200" b="0" i="0" u="none" strike="noStrike" kern="1200" dirty="0">
                <a:solidFill>
                  <a:schemeClr val="tx1"/>
                </a:solidFill>
                <a:effectLst/>
                <a:latin typeface="+mn-lt"/>
                <a:ea typeface="+mn-ea"/>
                <a:cs typeface="+mn-cs"/>
              </a:rPr>
              <a:t>所在的州</a:t>
            </a:r>
            <a:r>
              <a:rPr lang="en-US" altLang="zh-TW"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hlinkClick r:id="rId5"/>
              </a:rPr>
              <a:t>https://goo.gl/</a:t>
            </a:r>
            <a:r>
              <a:rPr lang="en-US" altLang="zh-TW" sz="1200" b="0" i="0" u="none" strike="noStrike" kern="1200" dirty="0" err="1">
                <a:solidFill>
                  <a:schemeClr val="tx1"/>
                </a:solidFill>
                <a:effectLst/>
                <a:latin typeface="+mn-lt"/>
                <a:ea typeface="+mn-ea"/>
                <a:cs typeface="+mn-cs"/>
                <a:hlinkClick r:id="rId5"/>
              </a:rPr>
              <a:t>zwKsNb</a:t>
            </a:r>
            <a:endParaRPr lang="en-US" altLang="zh-TW" sz="1200" b="0" i="0" u="none" strike="noStrike" kern="1200" dirty="0">
              <a:solidFill>
                <a:schemeClr val="tx1"/>
              </a:solidFill>
              <a:effectLst/>
              <a:latin typeface="+mn-lt"/>
              <a:ea typeface="+mn-ea"/>
              <a:cs typeface="+mn-cs"/>
            </a:endParaRPr>
          </a:p>
          <a:p>
            <a:r>
              <a:rPr lang="en-US" altLang="zh-TW" dirty="0"/>
              <a:t>Birth:12.02.1954</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95F44A6D-44A4-4AC5-A338-742D4C0C8050}"/>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xmlns=""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DB714A2-D640-4631-BD91-D40EA7B8E5E1}"/>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xmlns=""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92DC7246-3967-4A8C-89BD-498BAD9237DB}"/>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xmlns=""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78EECCAB-4CA7-44B9-B7B8-DC7FF51030C5}"/>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6" name="頁尾版面配置區 5">
            <a:extLst>
              <a:ext uri="{FF2B5EF4-FFF2-40B4-BE49-F238E27FC236}">
                <a16:creationId xmlns:a16="http://schemas.microsoft.com/office/drawing/2014/main" xmlns=""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2891BEAE-F89E-4D1D-88D1-CE02EB287033}"/>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8" name="頁尾版面配置區 7">
            <a:extLst>
              <a:ext uri="{FF2B5EF4-FFF2-40B4-BE49-F238E27FC236}">
                <a16:creationId xmlns:a16="http://schemas.microsoft.com/office/drawing/2014/main" xmlns=""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B26AC26-EB83-4AB6-9E2F-C8457BF27656}"/>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4" name="頁尾版面配置區 3">
            <a:extLst>
              <a:ext uri="{FF2B5EF4-FFF2-40B4-BE49-F238E27FC236}">
                <a16:creationId xmlns:a16="http://schemas.microsoft.com/office/drawing/2014/main" xmlns=""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EC7FE82F-7353-4EB6-B115-3F4F883AB669}"/>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3" name="頁尾版面配置區 2">
            <a:extLst>
              <a:ext uri="{FF2B5EF4-FFF2-40B4-BE49-F238E27FC236}">
                <a16:creationId xmlns:a16="http://schemas.microsoft.com/office/drawing/2014/main" xmlns=""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3DE41C95-2028-4108-B014-39C5648C739C}"/>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6" name="頁尾版面配置區 5">
            <a:extLst>
              <a:ext uri="{FF2B5EF4-FFF2-40B4-BE49-F238E27FC236}">
                <a16:creationId xmlns:a16="http://schemas.microsoft.com/office/drawing/2014/main" xmlns=""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73C1A871-1FB1-426F-B468-F433644ACEE0}"/>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6" name="頁尾版面配置區 5">
            <a:extLst>
              <a:ext uri="{FF2B5EF4-FFF2-40B4-BE49-F238E27FC236}">
                <a16:creationId xmlns:a16="http://schemas.microsoft.com/office/drawing/2014/main" xmlns=""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D386A780-A433-4084-B504-8CA5C05D15EC}"/>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xmlns=""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7B7CDCD-2B53-481E-994C-32B4B7592300}"/>
              </a:ext>
            </a:extLst>
          </p:cNvPr>
          <p:cNvSpPr>
            <a:spLocks noGrp="1"/>
          </p:cNvSpPr>
          <p:nvPr>
            <p:ph type="dt" sz="half" idx="10"/>
          </p:nvPr>
        </p:nvSpPr>
        <p:spPr/>
        <p:txBody>
          <a:bodyPr/>
          <a:lstStyle/>
          <a:p>
            <a:fld id="{41044C1A-2725-48AE-A699-EA8E8FEFF634}"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xmlns=""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2018/10/30</a:t>
            </a:fld>
            <a:endParaRPr lang="zh-TW" altLang="en-US"/>
          </a:p>
        </p:txBody>
      </p:sp>
      <p:sp>
        <p:nvSpPr>
          <p:cNvPr id="5" name="頁尾版面配置區 4">
            <a:extLst>
              <a:ext uri="{FF2B5EF4-FFF2-40B4-BE49-F238E27FC236}">
                <a16:creationId xmlns:a16="http://schemas.microsoft.com/office/drawing/2014/main" xmlns=""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0B6A882-00D3-47EF-9E00-5F5448FB3E79}"/>
              </a:ext>
            </a:extLst>
          </p:cNvPr>
          <p:cNvSpPr>
            <a:spLocks noGrp="1"/>
          </p:cNvSpPr>
          <p:nvPr>
            <p:ph type="ctrTitle"/>
          </p:nvPr>
        </p:nvSpPr>
        <p:spPr>
          <a:xfrm>
            <a:off x="1524000" y="1961604"/>
            <a:ext cx="9144000" cy="649317"/>
          </a:xfrm>
        </p:spPr>
        <p:txBody>
          <a:bodyPr>
            <a:noAutofit/>
          </a:bodyPr>
          <a:lstStyle/>
          <a:p>
            <a:r>
              <a:rPr lang="en-US" altLang="zh-TW" sz="4000" dirty="0">
                <a:latin typeface="Leelawadee UI Semilight" panose="020B0402040204020203" pitchFamily="34" charset="-34"/>
                <a:cs typeface="Leelawadee UI Semilight" panose="020B0402040204020203" pitchFamily="34" charset="-34"/>
              </a:rPr>
              <a:t>Deep super-class learning for long-tail distributed image classification</a:t>
            </a:r>
            <a:endParaRPr lang="zh-TW" altLang="en-US" sz="4000" dirty="0">
              <a:latin typeface="Leelawadee UI Semilight" panose="020B0402040204020203" pitchFamily="34" charset="-34"/>
              <a:cs typeface="Leelawadee UI Semilight" panose="020B0402040204020203" pitchFamily="34" charset="-34"/>
            </a:endParaRPr>
          </a:p>
        </p:txBody>
      </p:sp>
      <p:sp>
        <p:nvSpPr>
          <p:cNvPr id="3" name="副標題 2">
            <a:extLst>
              <a:ext uri="{FF2B5EF4-FFF2-40B4-BE49-F238E27FC236}">
                <a16:creationId xmlns:a16="http://schemas.microsoft.com/office/drawing/2014/main" xmlns="" id="{7DA53B5D-3737-4D8B-A009-A9D02CAEE169}"/>
              </a:ext>
            </a:extLst>
          </p:cNvPr>
          <p:cNvSpPr>
            <a:spLocks noGrp="1"/>
          </p:cNvSpPr>
          <p:nvPr>
            <p:ph type="subTitle" idx="1"/>
          </p:nvPr>
        </p:nvSpPr>
        <p:spPr>
          <a:xfrm>
            <a:off x="1524000" y="2895301"/>
            <a:ext cx="9144000" cy="425017"/>
          </a:xfrm>
        </p:spPr>
        <p:txBody>
          <a:bodyPr>
            <a:normAutofit/>
          </a:bodyPr>
          <a:lstStyle/>
          <a:p>
            <a:r>
              <a:rPr lang="en-US" altLang="zh-TW" dirty="0" err="1">
                <a:latin typeface="Leelawadee UI Semilight" panose="020B0402040204020203" pitchFamily="34" charset="-34"/>
                <a:cs typeface="Leelawadee UI Semilight" panose="020B0402040204020203" pitchFamily="34" charset="-34"/>
              </a:rPr>
              <a:t>Yucan</a:t>
            </a:r>
            <a:r>
              <a:rPr lang="en-US" altLang="zh-TW" dirty="0">
                <a:latin typeface="Leelawadee UI Semilight" panose="020B0402040204020203" pitchFamily="34" charset="-34"/>
                <a:cs typeface="Leelawadee UI Semilight" panose="020B0402040204020203" pitchFamily="34" charset="-34"/>
              </a:rPr>
              <a:t> Zhou, </a:t>
            </a:r>
            <a:r>
              <a:rPr lang="en-US" altLang="zh-TW" dirty="0" err="1">
                <a:latin typeface="Leelawadee UI Semilight" panose="020B0402040204020203" pitchFamily="34" charset="-34"/>
                <a:cs typeface="Leelawadee UI Semilight" panose="020B0402040204020203" pitchFamily="34" charset="-34"/>
              </a:rPr>
              <a:t>Qinghua</a:t>
            </a:r>
            <a:r>
              <a:rPr lang="en-US" altLang="zh-TW" dirty="0">
                <a:latin typeface="Leelawadee UI Semilight" panose="020B0402040204020203" pitchFamily="34" charset="-34"/>
                <a:cs typeface="Leelawadee UI Semilight" panose="020B0402040204020203" pitchFamily="34" charset="-34"/>
              </a:rPr>
              <a:t> Hu(</a:t>
            </a:r>
            <a:r>
              <a:rPr lang="zh-TW" altLang="en-US" dirty="0">
                <a:latin typeface="Leelawadee UI Semilight" panose="020B0402040204020203" pitchFamily="34" charset="-34"/>
                <a:cs typeface="Leelawadee UI Semilight" panose="020B0402040204020203" pitchFamily="34" charset="-34"/>
              </a:rPr>
              <a:t>胡清華</a:t>
            </a:r>
            <a:r>
              <a:rPr lang="en-US" altLang="zh-TW" dirty="0">
                <a:latin typeface="Leelawadee UI Semilight" panose="020B0402040204020203" pitchFamily="34" charset="-34"/>
                <a:cs typeface="Leelawadee UI Semilight" panose="020B0402040204020203" pitchFamily="34" charset="-34"/>
              </a:rPr>
              <a:t>), Yu Wang</a:t>
            </a:r>
            <a:endParaRPr lang="zh-TW" altLang="en-US" dirty="0">
              <a:latin typeface="Leelawadee UI Semilight" panose="020B0402040204020203" pitchFamily="34" charset="-34"/>
              <a:cs typeface="Leelawadee UI Semilight" panose="020B0402040204020203" pitchFamily="34" charset="-34"/>
            </a:endParaRPr>
          </a:p>
        </p:txBody>
      </p:sp>
      <p:sp>
        <p:nvSpPr>
          <p:cNvPr id="8" name="文字方塊 7">
            <a:extLst>
              <a:ext uri="{FF2B5EF4-FFF2-40B4-BE49-F238E27FC236}">
                <a16:creationId xmlns:a16="http://schemas.microsoft.com/office/drawing/2014/main" xmlns="" id="{8F2527E8-BB8F-41FB-8AF1-03DCC96BC069}"/>
              </a:ext>
            </a:extLst>
          </p:cNvPr>
          <p:cNvSpPr txBox="1"/>
          <p:nvPr/>
        </p:nvSpPr>
        <p:spPr>
          <a:xfrm>
            <a:off x="3548219" y="3670625"/>
            <a:ext cx="5095562" cy="461665"/>
          </a:xfrm>
          <a:prstGeom prst="rect">
            <a:avLst/>
          </a:prstGeom>
          <a:noFill/>
        </p:spPr>
        <p:txBody>
          <a:bodyPr wrap="none" rtlCol="0">
            <a:spAutoFit/>
          </a:bodyPr>
          <a:lstStyle/>
          <a:p>
            <a:r>
              <a:rPr lang="en-US" altLang="zh-TW" sz="2400" dirty="0">
                <a:latin typeface="Leelawadee UI Semilight" panose="020B0402040204020203" pitchFamily="34" charset="-34"/>
                <a:cs typeface="Leelawadee UI Semilight" panose="020B0402040204020203" pitchFamily="34" charset="-34"/>
              </a:rPr>
              <a:t>Pattern Recognition 80 (2018) 118-128</a:t>
            </a:r>
            <a:endParaRPr lang="zh-TW" altLang="en-US" sz="2400" dirty="0">
              <a:latin typeface="Leelawadee UI Semilight" panose="020B0402040204020203" pitchFamily="34" charset="-34"/>
              <a:cs typeface="Leelawadee UI Semilight" panose="020B0402040204020203" pitchFamily="34" charset="-34"/>
            </a:endParaRPr>
          </a:p>
        </p:txBody>
      </p:sp>
      <p:sp>
        <p:nvSpPr>
          <p:cNvPr id="9" name="文字方塊 8">
            <a:extLst>
              <a:ext uri="{FF2B5EF4-FFF2-40B4-BE49-F238E27FC236}">
                <a16:creationId xmlns:a16="http://schemas.microsoft.com/office/drawing/2014/main" xmlns="" id="{6BC92671-3184-4146-A361-F82079153C2E}"/>
              </a:ext>
            </a:extLst>
          </p:cNvPr>
          <p:cNvSpPr txBox="1"/>
          <p:nvPr/>
        </p:nvSpPr>
        <p:spPr>
          <a:xfrm>
            <a:off x="7868259" y="4944263"/>
            <a:ext cx="3305457" cy="461665"/>
          </a:xfrm>
          <a:prstGeom prst="rect">
            <a:avLst/>
          </a:prstGeom>
          <a:noFill/>
        </p:spPr>
        <p:txBody>
          <a:bodyPr wrap="none" rtlCol="0">
            <a:spAutoFit/>
          </a:bodyPr>
          <a:lstStyle/>
          <a:p>
            <a:r>
              <a:rPr lang="en-US" altLang="zh-TW" sz="2400" dirty="0">
                <a:latin typeface="Leelawadee UI Semilight" panose="020B0402040204020203" pitchFamily="34" charset="-34"/>
                <a:cs typeface="Leelawadee UI Semilight" panose="020B0402040204020203" pitchFamily="34" charset="-34"/>
              </a:rPr>
              <a:t>Speaker: Du-Cheng Wu</a:t>
            </a:r>
            <a:endParaRPr lang="zh-TW" altLang="en-US" sz="2400" dirty="0">
              <a:latin typeface="Leelawadee UI Semilight" panose="020B0402040204020203" pitchFamily="34" charset="-34"/>
              <a:cs typeface="Leelawadee UI Semilight" panose="020B0402040204020203" pitchFamily="34" charset="-34"/>
            </a:endParaRPr>
          </a:p>
        </p:txBody>
      </p:sp>
      <p:sp>
        <p:nvSpPr>
          <p:cNvPr id="10" name="文字方塊 9">
            <a:extLst>
              <a:ext uri="{FF2B5EF4-FFF2-40B4-BE49-F238E27FC236}">
                <a16:creationId xmlns:a16="http://schemas.microsoft.com/office/drawing/2014/main" xmlns="" id="{52A0654C-2F84-4026-9FCF-04C8DF590D5F}"/>
              </a:ext>
            </a:extLst>
          </p:cNvPr>
          <p:cNvSpPr txBox="1"/>
          <p:nvPr/>
        </p:nvSpPr>
        <p:spPr>
          <a:xfrm>
            <a:off x="8880331" y="5479316"/>
            <a:ext cx="2293385" cy="461665"/>
          </a:xfrm>
          <a:prstGeom prst="rect">
            <a:avLst/>
          </a:prstGeom>
          <a:noFill/>
        </p:spPr>
        <p:txBody>
          <a:bodyPr wrap="none" rtlCol="0">
            <a:spAutoFit/>
          </a:bodyPr>
          <a:lstStyle/>
          <a:p>
            <a:r>
              <a:rPr lang="en-US" altLang="zh-TW" sz="2400" dirty="0">
                <a:latin typeface="Leelawadee UI Semilight" panose="020B0402040204020203" pitchFamily="34" charset="-34"/>
                <a:cs typeface="Leelawadee UI Semilight" panose="020B0402040204020203" pitchFamily="34" charset="-34"/>
              </a:rPr>
              <a:t>Date</a:t>
            </a:r>
            <a:r>
              <a:rPr lang="en-US" altLang="zh-TW" sz="2400">
                <a:latin typeface="Leelawadee UI Semilight" panose="020B0402040204020203" pitchFamily="34" charset="-34"/>
                <a:cs typeface="Leelawadee UI Semilight" panose="020B0402040204020203" pitchFamily="34" charset="-34"/>
              </a:rPr>
              <a:t>: </a:t>
            </a:r>
            <a:r>
              <a:rPr lang="en-US" altLang="zh-TW" sz="2400" smtClean="0">
                <a:latin typeface="Leelawadee UI Semilight" panose="020B0402040204020203" pitchFamily="34" charset="-34"/>
                <a:cs typeface="Leelawadee UI Semilight" panose="020B0402040204020203" pitchFamily="34" charset="-34"/>
              </a:rPr>
              <a:t>2018.10.30</a:t>
            </a:r>
            <a:endParaRPr lang="zh-TW" altLang="en-US" sz="2400" dirty="0">
              <a:latin typeface="Leelawadee UI Semilight" panose="020B0402040204020203" pitchFamily="34" charset="-34"/>
              <a:cs typeface="Leelawadee UI Semilight" panose="020B0402040204020203" pitchFamily="34" charset="-34"/>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Abstract(1/3)</a:t>
            </a:r>
            <a:endParaRPr lang="zh-TW" altLang="en-US" sz="3200" dirty="0">
              <a:latin typeface="Leelawadee UI Semilight" panose="020B0402040204020203" pitchFamily="34" charset="-34"/>
              <a:cs typeface="Leelawadee UI Semilight" panose="020B0402040204020203" pitchFamily="34" charset="-34"/>
            </a:endParaRPr>
          </a:p>
        </p:txBody>
      </p:sp>
      <p:sp>
        <p:nvSpPr>
          <p:cNvPr id="3" name="內容版面配置區 2">
            <a:extLst>
              <a:ext uri="{FF2B5EF4-FFF2-40B4-BE49-F238E27FC236}">
                <a16:creationId xmlns:a16="http://schemas.microsoft.com/office/drawing/2014/main" xmlns="" id="{E39EF1E7-604C-4E09-A7D2-D4B34B0635E8}"/>
              </a:ext>
            </a:extLst>
          </p:cNvPr>
          <p:cNvSpPr>
            <a:spLocks noGrp="1"/>
          </p:cNvSpPr>
          <p:nvPr>
            <p:ph idx="1"/>
          </p:nvPr>
        </p:nvSpPr>
        <p:spPr>
          <a:xfrm>
            <a:off x="838200" y="1163782"/>
            <a:ext cx="10515600" cy="5089236"/>
          </a:xfrm>
        </p:spPr>
        <p:txBody>
          <a:bodyPr>
            <a:noAutofit/>
          </a:bodyPr>
          <a:lstStyle/>
          <a:p>
            <a:pPr marL="0" indent="0">
              <a:buNone/>
            </a:pPr>
            <a:r>
              <a:rPr lang="en-US" altLang="zh-TW" dirty="0">
                <a:latin typeface="Leelawadee UI Semilight" panose="020B0402040204020203" pitchFamily="34" charset="-34"/>
                <a:cs typeface="Leelawadee UI Semilight" panose="020B0402040204020203" pitchFamily="34" charset="-34"/>
              </a:rPr>
              <a:t>Long-tail distribution is widespread in many practical applications, where most categories contain only a small number of samples. As sufficient instances cannot be obtained for describing the intra-class diversity of the minority classes, the separating hyperplanes learned by traditional machine learning methods are usually heavily skewed. Resampling techniques and cost-sensitive algorithms have been introduced to enhance the statistical power of the minority classes, but they cannot infer more reliable class boundaries beyond the description of samples in the training set. To address this issue, we cluster the original categories into super-class to produce a relatively balanced distribution in the super-class space. </a:t>
            </a:r>
          </a:p>
        </p:txBody>
      </p:sp>
    </p:spTree>
    <p:extLst>
      <p:ext uri="{BB962C8B-B14F-4D97-AF65-F5344CB8AC3E}">
        <p14:creationId xmlns:p14="http://schemas.microsoft.com/office/powerpoint/2010/main" val="15007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Abstract(2/3)</a:t>
            </a:r>
            <a:endParaRPr lang="zh-TW" altLang="en-US" sz="3200" dirty="0">
              <a:latin typeface="Leelawadee UI Semilight" panose="020B0402040204020203" pitchFamily="34" charset="-34"/>
              <a:cs typeface="Leelawadee UI Semilight" panose="020B0402040204020203" pitchFamily="34" charset="-34"/>
            </a:endParaRPr>
          </a:p>
        </p:txBody>
      </p:sp>
      <p:sp>
        <p:nvSpPr>
          <p:cNvPr id="3" name="內容版面配置區 2">
            <a:extLst>
              <a:ext uri="{FF2B5EF4-FFF2-40B4-BE49-F238E27FC236}">
                <a16:creationId xmlns:a16="http://schemas.microsoft.com/office/drawing/2014/main" xmlns="" id="{E39EF1E7-604C-4E09-A7D2-D4B34B0635E8}"/>
              </a:ext>
            </a:extLst>
          </p:cNvPr>
          <p:cNvSpPr>
            <a:spLocks noGrp="1"/>
          </p:cNvSpPr>
          <p:nvPr>
            <p:ph idx="1"/>
          </p:nvPr>
        </p:nvSpPr>
        <p:spPr>
          <a:xfrm>
            <a:off x="838200" y="1163782"/>
            <a:ext cx="10515600" cy="5089236"/>
          </a:xfrm>
        </p:spPr>
        <p:txBody>
          <a:bodyPr>
            <a:noAutofit/>
          </a:bodyPr>
          <a:lstStyle/>
          <a:p>
            <a:pPr marL="0" indent="0">
              <a:buNone/>
            </a:pPr>
            <a:r>
              <a:rPr lang="en-US" altLang="zh-TW" dirty="0">
                <a:latin typeface="Leelawadee UI Semilight" panose="020B0402040204020203" pitchFamily="34" charset="-34"/>
                <a:cs typeface="Leelawadee UI Semilight" panose="020B0402040204020203" pitchFamily="34" charset="-34"/>
              </a:rPr>
              <a:t>Moreover, the knowledge shared among categories belonging to a certain super-class can facilitate the generalization of the minority classes. However, existing super-class construction methods have some inherent disadvantages. Specifically, taxonomy-based methods suffer a gap between the semantic space and the feature space, and the performance of learning-based algorithms strongly depends on the features and data distribution. In this paper, we propose a deep super-class learning (DSCL) model to tackle the problem of long-tail distributed image classification. Motivated by the observation that classes belonging to the same super-class usually have more similar evaluations on the features than those belonging to different super-classes,</a:t>
            </a:r>
          </a:p>
        </p:txBody>
      </p:sp>
    </p:spTree>
    <p:extLst>
      <p:ext uri="{BB962C8B-B14F-4D97-AF65-F5344CB8AC3E}">
        <p14:creationId xmlns:p14="http://schemas.microsoft.com/office/powerpoint/2010/main" val="417761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Abstract(3/3)</a:t>
            </a:r>
            <a:endParaRPr lang="zh-TW" altLang="en-US" sz="3200" dirty="0">
              <a:latin typeface="Leelawadee UI Semilight" panose="020B0402040204020203" pitchFamily="34" charset="-34"/>
              <a:cs typeface="Leelawadee UI Semilight" panose="020B0402040204020203" pitchFamily="34" charset="-34"/>
            </a:endParaRPr>
          </a:p>
        </p:txBody>
      </p:sp>
      <p:sp>
        <p:nvSpPr>
          <p:cNvPr id="3" name="內容版面配置區 2">
            <a:extLst>
              <a:ext uri="{FF2B5EF4-FFF2-40B4-BE49-F238E27FC236}">
                <a16:creationId xmlns:a16="http://schemas.microsoft.com/office/drawing/2014/main" xmlns="" id="{E39EF1E7-604C-4E09-A7D2-D4B34B0635E8}"/>
              </a:ext>
            </a:extLst>
          </p:cNvPr>
          <p:cNvSpPr>
            <a:spLocks noGrp="1"/>
          </p:cNvSpPr>
          <p:nvPr>
            <p:ph idx="1"/>
          </p:nvPr>
        </p:nvSpPr>
        <p:spPr>
          <a:xfrm>
            <a:off x="838200" y="1163782"/>
            <a:ext cx="10515600" cy="5089236"/>
          </a:xfrm>
        </p:spPr>
        <p:txBody>
          <a:bodyPr>
            <a:noAutofit/>
          </a:bodyPr>
          <a:lstStyle/>
          <a:p>
            <a:pPr marL="0" indent="0">
              <a:buNone/>
            </a:pPr>
            <a:r>
              <a:rPr lang="en-US" altLang="zh-TW" dirty="0">
                <a:latin typeface="Leelawadee UI Semilight" panose="020B0402040204020203" pitchFamily="34" charset="-34"/>
                <a:cs typeface="Leelawadee UI Semilight" panose="020B0402040204020203" pitchFamily="34" charset="-34"/>
              </a:rPr>
              <a:t>we design a block-structured sparse constraint and attach it on the top of a convolutional neural network. Thus, the proposed DSCL model can accomplish representation learning, classifier training, and super-class construction in a unified end-to-end learning procedure. We compared the proposed model with several super-class construction methods on two public image datasets. Experimental results show that the super-class construction strategy is effective for the long-tail distributed classification, and the DSCL model can achieve better results than the other methods.</a:t>
            </a:r>
          </a:p>
        </p:txBody>
      </p:sp>
    </p:spTree>
    <p:extLst>
      <p:ext uri="{BB962C8B-B14F-4D97-AF65-F5344CB8AC3E}">
        <p14:creationId xmlns:p14="http://schemas.microsoft.com/office/powerpoint/2010/main" val="3880319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Deep super-class learning(DSCL)</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xmlns="" id="{60D888EF-0A79-4A3E-A063-93BDCEFBD2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100" y="1317136"/>
            <a:ext cx="10191800" cy="4223728"/>
          </a:xfrm>
          <a:prstGeom prst="rect">
            <a:avLst/>
          </a:prstGeom>
        </p:spPr>
      </p:pic>
    </p:spTree>
    <p:extLst>
      <p:ext uri="{BB962C8B-B14F-4D97-AF65-F5344CB8AC3E}">
        <p14:creationId xmlns:p14="http://schemas.microsoft.com/office/powerpoint/2010/main" val="378839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Deep super-class learning(DSCL)</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xmlns="" id="{768BA4C3-A345-4FCC-9FF0-3ADCD91AA4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16642"/>
            <a:ext cx="4377352" cy="4024711"/>
          </a:xfrm>
          <a:prstGeom prst="rect">
            <a:avLst/>
          </a:prstGeom>
        </p:spPr>
      </p:pic>
      <p:pic>
        <p:nvPicPr>
          <p:cNvPr id="6" name="圖片 5">
            <a:extLst>
              <a:ext uri="{FF2B5EF4-FFF2-40B4-BE49-F238E27FC236}">
                <a16:creationId xmlns:a16="http://schemas.microsoft.com/office/drawing/2014/main" xmlns="" id="{CAADCBE7-FDA8-47DD-B0BB-7958D3837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5552" y="1791281"/>
            <a:ext cx="6703531" cy="3275431"/>
          </a:xfrm>
          <a:prstGeom prst="rect">
            <a:avLst/>
          </a:prstGeom>
        </p:spPr>
      </p:pic>
    </p:spTree>
    <p:extLst>
      <p:ext uri="{BB962C8B-B14F-4D97-AF65-F5344CB8AC3E}">
        <p14:creationId xmlns:p14="http://schemas.microsoft.com/office/powerpoint/2010/main" val="516286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Deep super-class learning(DSCL)</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5" name="圖片 4">
            <a:extLst>
              <a:ext uri="{FF2B5EF4-FFF2-40B4-BE49-F238E27FC236}">
                <a16:creationId xmlns:a16="http://schemas.microsoft.com/office/drawing/2014/main" xmlns="" id="{FAF4A38E-E540-4910-B10B-DB8334B41F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151" y="1769099"/>
            <a:ext cx="9659698" cy="3477156"/>
          </a:xfrm>
          <a:prstGeom prst="rect">
            <a:avLst/>
          </a:prstGeom>
        </p:spPr>
      </p:pic>
    </p:spTree>
    <p:extLst>
      <p:ext uri="{BB962C8B-B14F-4D97-AF65-F5344CB8AC3E}">
        <p14:creationId xmlns:p14="http://schemas.microsoft.com/office/powerpoint/2010/main" val="1989520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Deep super-class learning(DSCL)</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xmlns="" id="{159F498C-7799-4966-A9E8-4BBC0F5019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5251" y="1160126"/>
            <a:ext cx="3238952" cy="695422"/>
          </a:xfrm>
          <a:prstGeom prst="rect">
            <a:avLst/>
          </a:prstGeom>
        </p:spPr>
      </p:pic>
      <p:pic>
        <p:nvPicPr>
          <p:cNvPr id="6" name="圖片 5">
            <a:extLst>
              <a:ext uri="{FF2B5EF4-FFF2-40B4-BE49-F238E27FC236}">
                <a16:creationId xmlns:a16="http://schemas.microsoft.com/office/drawing/2014/main" xmlns="" id="{9F3D1E95-AECC-4AE2-A1F5-D4783D274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251" y="2523999"/>
            <a:ext cx="2200582" cy="905001"/>
          </a:xfrm>
          <a:prstGeom prst="rect">
            <a:avLst/>
          </a:prstGeom>
        </p:spPr>
      </p:pic>
      <p:pic>
        <p:nvPicPr>
          <p:cNvPr id="8" name="圖片 7">
            <a:extLst>
              <a:ext uri="{FF2B5EF4-FFF2-40B4-BE49-F238E27FC236}">
                <a16:creationId xmlns:a16="http://schemas.microsoft.com/office/drawing/2014/main" xmlns="" id="{92A1398B-2D8D-4D9B-B95E-ABB413C78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9089" y="2647840"/>
            <a:ext cx="2181529" cy="657317"/>
          </a:xfrm>
          <a:prstGeom prst="rect">
            <a:avLst/>
          </a:prstGeom>
        </p:spPr>
      </p:pic>
      <p:pic>
        <p:nvPicPr>
          <p:cNvPr id="10" name="圖片 9">
            <a:extLst>
              <a:ext uri="{FF2B5EF4-FFF2-40B4-BE49-F238E27FC236}">
                <a16:creationId xmlns:a16="http://schemas.microsoft.com/office/drawing/2014/main" xmlns="" id="{E11475EA-41BD-4E83-96D1-F6E56BBAB5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5177" y="1934556"/>
            <a:ext cx="3210373" cy="333422"/>
          </a:xfrm>
          <a:prstGeom prst="rect">
            <a:avLst/>
          </a:prstGeom>
        </p:spPr>
      </p:pic>
      <p:pic>
        <p:nvPicPr>
          <p:cNvPr id="12" name="圖片 11">
            <a:extLst>
              <a:ext uri="{FF2B5EF4-FFF2-40B4-BE49-F238E27FC236}">
                <a16:creationId xmlns:a16="http://schemas.microsoft.com/office/drawing/2014/main" xmlns="" id="{2853F952-E40E-4413-BA11-21A88A099E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03465" y="2549748"/>
            <a:ext cx="3448531" cy="1600423"/>
          </a:xfrm>
          <a:prstGeom prst="rect">
            <a:avLst/>
          </a:prstGeom>
        </p:spPr>
      </p:pic>
      <p:cxnSp>
        <p:nvCxnSpPr>
          <p:cNvPr id="14" name="直線單箭頭接點 13">
            <a:extLst>
              <a:ext uri="{FF2B5EF4-FFF2-40B4-BE49-F238E27FC236}">
                <a16:creationId xmlns:a16="http://schemas.microsoft.com/office/drawing/2014/main" xmlns="" id="{7FDD1F89-27D0-4688-B49B-D5BF8E2F15A9}"/>
              </a:ext>
            </a:extLst>
          </p:cNvPr>
          <p:cNvCxnSpPr>
            <a:cxnSpLocks/>
            <a:endCxn id="6" idx="0"/>
          </p:cNvCxnSpPr>
          <p:nvPr/>
        </p:nvCxnSpPr>
        <p:spPr>
          <a:xfrm flipH="1">
            <a:off x="2205542" y="1705121"/>
            <a:ext cx="519185" cy="818878"/>
          </a:xfrm>
          <a:prstGeom prst="straightConnector1">
            <a:avLst/>
          </a:prstGeom>
          <a:ln>
            <a:solidFill>
              <a:schemeClr val="accent1">
                <a:lumMod val="75000"/>
              </a:schemeClr>
            </a:solidFill>
            <a:tailEnd type="triangle"/>
          </a:ln>
        </p:spPr>
        <p:style>
          <a:lnRef idx="3">
            <a:schemeClr val="dk1"/>
          </a:lnRef>
          <a:fillRef idx="0">
            <a:schemeClr val="dk1"/>
          </a:fillRef>
          <a:effectRef idx="2">
            <a:schemeClr val="dk1"/>
          </a:effectRef>
          <a:fontRef idx="minor">
            <a:schemeClr val="tx1"/>
          </a:fontRef>
        </p:style>
      </p:cxnSp>
      <p:cxnSp>
        <p:nvCxnSpPr>
          <p:cNvPr id="17" name="直線單箭頭接點 16">
            <a:extLst>
              <a:ext uri="{FF2B5EF4-FFF2-40B4-BE49-F238E27FC236}">
                <a16:creationId xmlns:a16="http://schemas.microsoft.com/office/drawing/2014/main" xmlns="" id="{CA6195A6-E970-4EE4-B6FF-AA64FECD7E04}"/>
              </a:ext>
            </a:extLst>
          </p:cNvPr>
          <p:cNvCxnSpPr>
            <a:cxnSpLocks/>
            <a:endCxn id="8" idx="0"/>
          </p:cNvCxnSpPr>
          <p:nvPr/>
        </p:nvCxnSpPr>
        <p:spPr>
          <a:xfrm>
            <a:off x="4127104" y="1705121"/>
            <a:ext cx="712750" cy="94271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直線單箭頭接點 18">
            <a:extLst>
              <a:ext uri="{FF2B5EF4-FFF2-40B4-BE49-F238E27FC236}">
                <a16:creationId xmlns:a16="http://schemas.microsoft.com/office/drawing/2014/main" xmlns="" id="{0C3E6BA1-B3B8-47B0-9ABE-39395E56D3E9}"/>
              </a:ext>
            </a:extLst>
          </p:cNvPr>
          <p:cNvCxnSpPr>
            <a:cxnSpLocks/>
            <a:endCxn id="10" idx="0"/>
          </p:cNvCxnSpPr>
          <p:nvPr/>
        </p:nvCxnSpPr>
        <p:spPr>
          <a:xfrm>
            <a:off x="4211782" y="1649974"/>
            <a:ext cx="4008582" cy="28458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直線單箭頭接點 20">
            <a:extLst>
              <a:ext uri="{FF2B5EF4-FFF2-40B4-BE49-F238E27FC236}">
                <a16:creationId xmlns:a16="http://schemas.microsoft.com/office/drawing/2014/main" xmlns="" id="{D9D60EF6-B236-4783-9E63-B61FFF8A7559}"/>
              </a:ext>
            </a:extLst>
          </p:cNvPr>
          <p:cNvCxnSpPr>
            <a:stCxn id="10" idx="2"/>
          </p:cNvCxnSpPr>
          <p:nvPr/>
        </p:nvCxnSpPr>
        <p:spPr>
          <a:xfrm flipH="1">
            <a:off x="8220363" y="2267978"/>
            <a:ext cx="1" cy="285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25" name="圖片 24">
            <a:extLst>
              <a:ext uri="{FF2B5EF4-FFF2-40B4-BE49-F238E27FC236}">
                <a16:creationId xmlns:a16="http://schemas.microsoft.com/office/drawing/2014/main" xmlns="" id="{ABF8C814-BCB1-46FE-8145-EEBC4F2FAB9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86632" y="4805864"/>
            <a:ext cx="3534268" cy="1400370"/>
          </a:xfrm>
          <a:prstGeom prst="rect">
            <a:avLst/>
          </a:prstGeom>
        </p:spPr>
      </p:pic>
      <p:cxnSp>
        <p:nvCxnSpPr>
          <p:cNvPr id="27" name="直線單箭頭接點 26">
            <a:extLst>
              <a:ext uri="{FF2B5EF4-FFF2-40B4-BE49-F238E27FC236}">
                <a16:creationId xmlns:a16="http://schemas.microsoft.com/office/drawing/2014/main" xmlns="" id="{E25FCFD0-29B4-4301-AF1F-F65C1CD85907}"/>
              </a:ext>
            </a:extLst>
          </p:cNvPr>
          <p:cNvCxnSpPr>
            <a:stCxn id="6" idx="2"/>
            <a:endCxn id="25" idx="0"/>
          </p:cNvCxnSpPr>
          <p:nvPr/>
        </p:nvCxnSpPr>
        <p:spPr>
          <a:xfrm>
            <a:off x="2205542" y="3429000"/>
            <a:ext cx="2948224" cy="137686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直線單箭頭接點 28">
            <a:extLst>
              <a:ext uri="{FF2B5EF4-FFF2-40B4-BE49-F238E27FC236}">
                <a16:creationId xmlns:a16="http://schemas.microsoft.com/office/drawing/2014/main" xmlns="" id="{74E5C9E5-7707-4F4A-B338-F3BCB82DEDF0}"/>
              </a:ext>
            </a:extLst>
          </p:cNvPr>
          <p:cNvCxnSpPr>
            <a:stCxn id="8" idx="2"/>
            <a:endCxn id="25" idx="0"/>
          </p:cNvCxnSpPr>
          <p:nvPr/>
        </p:nvCxnSpPr>
        <p:spPr>
          <a:xfrm>
            <a:off x="4839854" y="3305157"/>
            <a:ext cx="313912" cy="150070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直線單箭頭接點 30">
            <a:extLst>
              <a:ext uri="{FF2B5EF4-FFF2-40B4-BE49-F238E27FC236}">
                <a16:creationId xmlns:a16="http://schemas.microsoft.com/office/drawing/2014/main" xmlns="" id="{32A84419-63C6-46C0-8116-1A569F4BBB3A}"/>
              </a:ext>
            </a:extLst>
          </p:cNvPr>
          <p:cNvCxnSpPr>
            <a:stCxn id="12" idx="2"/>
            <a:endCxn id="25" idx="0"/>
          </p:cNvCxnSpPr>
          <p:nvPr/>
        </p:nvCxnSpPr>
        <p:spPr>
          <a:xfrm flipH="1">
            <a:off x="5153766" y="4150171"/>
            <a:ext cx="3173965" cy="65569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929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Deep super-class learning(DSCL)</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xmlns="" id="{A2F77F61-BBBB-4C60-8B12-334667E5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371850"/>
            <a:ext cx="7384806" cy="4622550"/>
          </a:xfrm>
          <a:prstGeom prst="rect">
            <a:avLst/>
          </a:prstGeom>
        </p:spPr>
      </p:pic>
      <p:sp>
        <p:nvSpPr>
          <p:cNvPr id="5" name="文字方塊 4">
            <a:extLst>
              <a:ext uri="{FF2B5EF4-FFF2-40B4-BE49-F238E27FC236}">
                <a16:creationId xmlns:a16="http://schemas.microsoft.com/office/drawing/2014/main" xmlns="" id="{4F050451-7F89-476A-A93A-345539341870}"/>
              </a:ext>
            </a:extLst>
          </p:cNvPr>
          <p:cNvSpPr txBox="1"/>
          <p:nvPr/>
        </p:nvSpPr>
        <p:spPr>
          <a:xfrm>
            <a:off x="8325895" y="1468581"/>
            <a:ext cx="3413523" cy="1200329"/>
          </a:xfrm>
          <a:prstGeom prst="rect">
            <a:avLst/>
          </a:prstGeom>
          <a:noFill/>
        </p:spPr>
        <p:txBody>
          <a:bodyPr wrap="square" rtlCol="0">
            <a:spAutoFit/>
          </a:bodyPr>
          <a:lstStyle/>
          <a:p>
            <a:r>
              <a:rPr lang="en-US" altLang="zh-TW" sz="2400" dirty="0">
                <a:latin typeface="Leelawadee UI Semilight" panose="020B0402040204020203" pitchFamily="34" charset="-34"/>
                <a:cs typeface="Leelawadee UI Semilight" panose="020B0402040204020203" pitchFamily="34" charset="-34"/>
              </a:rPr>
              <a:t>102 flowers</a:t>
            </a:r>
          </a:p>
          <a:p>
            <a:r>
              <a:rPr lang="en-US" altLang="zh-TW" sz="2400" dirty="0">
                <a:latin typeface="Leelawadee UI Semilight" panose="020B0402040204020203" pitchFamily="34" charset="-34"/>
                <a:cs typeface="Leelawadee UI Semilight" panose="020B0402040204020203" pitchFamily="34" charset="-34"/>
              </a:rPr>
              <a:t>8189 images</a:t>
            </a:r>
          </a:p>
          <a:p>
            <a:r>
              <a:rPr lang="en-US" altLang="zh-TW" sz="2400" dirty="0">
                <a:latin typeface="Leelawadee UI Semilight" panose="020B0402040204020203" pitchFamily="34" charset="-34"/>
                <a:cs typeface="Leelawadee UI Semilight" panose="020B0402040204020203" pitchFamily="34" charset="-34"/>
              </a:rPr>
              <a:t>each between 40 to 289</a:t>
            </a:r>
            <a:endParaRPr lang="zh-TW" altLang="en-US" sz="2400" dirty="0">
              <a:latin typeface="Leelawadee UI Semilight" panose="020B0402040204020203" pitchFamily="34" charset="-34"/>
              <a:cs typeface="Leelawadee UI Semilight" panose="020B0402040204020203" pitchFamily="34" charset="-34"/>
            </a:endParaRPr>
          </a:p>
        </p:txBody>
      </p:sp>
      <p:sp>
        <p:nvSpPr>
          <p:cNvPr id="6" name="文字方塊 5">
            <a:extLst>
              <a:ext uri="{FF2B5EF4-FFF2-40B4-BE49-F238E27FC236}">
                <a16:creationId xmlns:a16="http://schemas.microsoft.com/office/drawing/2014/main" xmlns="" id="{5AF36219-0E14-4A2F-B3EA-37A39025117A}"/>
              </a:ext>
            </a:extLst>
          </p:cNvPr>
          <p:cNvSpPr txBox="1"/>
          <p:nvPr/>
        </p:nvSpPr>
        <p:spPr>
          <a:xfrm>
            <a:off x="8325896" y="3440545"/>
            <a:ext cx="3413522" cy="1200329"/>
          </a:xfrm>
          <a:prstGeom prst="rect">
            <a:avLst/>
          </a:prstGeom>
          <a:noFill/>
        </p:spPr>
        <p:txBody>
          <a:bodyPr wrap="square" rtlCol="0">
            <a:spAutoFit/>
          </a:bodyPr>
          <a:lstStyle/>
          <a:p>
            <a:r>
              <a:rPr lang="en-US" altLang="zh-TW" sz="2400" dirty="0">
                <a:latin typeface="Leelawadee UI Semilight" panose="020B0402040204020203" pitchFamily="34" charset="-34"/>
                <a:cs typeface="Leelawadee UI Semilight" panose="020B0402040204020203" pitchFamily="34" charset="-34"/>
              </a:rPr>
              <a:t>324 classes</a:t>
            </a:r>
          </a:p>
          <a:p>
            <a:r>
              <a:rPr lang="en-US" altLang="zh-TW" sz="2400" dirty="0">
                <a:latin typeface="Leelawadee UI Semilight" panose="020B0402040204020203" pitchFamily="34" charset="-34"/>
                <a:cs typeface="Leelawadee UI Semilight" panose="020B0402040204020203" pitchFamily="34" charset="-34"/>
              </a:rPr>
              <a:t>90261 images</a:t>
            </a:r>
          </a:p>
          <a:p>
            <a:r>
              <a:rPr lang="en-US" altLang="zh-TW" sz="2400" dirty="0">
                <a:latin typeface="Leelawadee UI Semilight" panose="020B0402040204020203" pitchFamily="34" charset="-34"/>
                <a:cs typeface="Leelawadee UI Semilight" panose="020B0402040204020203" pitchFamily="34" charset="-34"/>
              </a:rPr>
              <a:t>each at least 100 images</a:t>
            </a:r>
            <a:endParaRPr lang="zh-TW" altLang="en-US" sz="2400" dirty="0">
              <a:latin typeface="Leelawadee UI Semilight" panose="020B0402040204020203" pitchFamily="34" charset="-34"/>
              <a:cs typeface="Leelawadee UI Semilight" panose="020B0402040204020203" pitchFamily="34" charset="-34"/>
            </a:endParaRPr>
          </a:p>
        </p:txBody>
      </p:sp>
    </p:spTree>
    <p:extLst>
      <p:ext uri="{BB962C8B-B14F-4D97-AF65-F5344CB8AC3E}">
        <p14:creationId xmlns:p14="http://schemas.microsoft.com/office/powerpoint/2010/main" val="2642876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Leelawadee UI Semilight" panose="020B0402040204020203" pitchFamily="34" charset="-34"/>
                <a:cs typeface="Leelawadee UI Semilight" panose="020B0402040204020203" pitchFamily="34" charset="-34"/>
              </a:rPr>
              <a:t>Deep super-class learning(DSCL)</a:t>
            </a:r>
            <a:endParaRPr lang="zh-TW" altLang="en-US" sz="3200" dirty="0">
              <a:latin typeface="Leelawadee UI Semilight" panose="020B0402040204020203" pitchFamily="34" charset="-34"/>
              <a:cs typeface="Leelawadee UI Semilight" panose="020B0402040204020203" pitchFamily="34" charset="-34"/>
            </a:endParaRPr>
          </a:p>
        </p:txBody>
      </p:sp>
      <p:pic>
        <p:nvPicPr>
          <p:cNvPr id="4" name="圖片 3">
            <a:extLst>
              <a:ext uri="{FF2B5EF4-FFF2-40B4-BE49-F238E27FC236}">
                <a16:creationId xmlns:a16="http://schemas.microsoft.com/office/drawing/2014/main" xmlns="" id="{7BF019B1-4F68-4BB5-8B7E-07A28091DB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2909" y="1045424"/>
            <a:ext cx="3219899" cy="2810267"/>
          </a:xfrm>
          <a:prstGeom prst="rect">
            <a:avLst/>
          </a:prstGeom>
        </p:spPr>
      </p:pic>
      <p:pic>
        <p:nvPicPr>
          <p:cNvPr id="6" name="圖片 5">
            <a:extLst>
              <a:ext uri="{FF2B5EF4-FFF2-40B4-BE49-F238E27FC236}">
                <a16:creationId xmlns:a16="http://schemas.microsoft.com/office/drawing/2014/main" xmlns="" id="{6BA9D214-CA47-4186-8C8B-BBFB7F480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7658" y="1026127"/>
            <a:ext cx="3210373" cy="2857899"/>
          </a:xfrm>
          <a:prstGeom prst="rect">
            <a:avLst/>
          </a:prstGeom>
        </p:spPr>
      </p:pic>
      <p:pic>
        <p:nvPicPr>
          <p:cNvPr id="8" name="圖片 7">
            <a:extLst>
              <a:ext uri="{FF2B5EF4-FFF2-40B4-BE49-F238E27FC236}">
                <a16:creationId xmlns:a16="http://schemas.microsoft.com/office/drawing/2014/main" xmlns="" id="{E1A7925E-C799-4234-B1FB-CB236F6387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9154" y="3910217"/>
            <a:ext cx="4953691" cy="2505425"/>
          </a:xfrm>
          <a:prstGeom prst="rect">
            <a:avLst/>
          </a:prstGeom>
        </p:spPr>
      </p:pic>
    </p:spTree>
    <p:extLst>
      <p:ext uri="{BB962C8B-B14F-4D97-AF65-F5344CB8AC3E}">
        <p14:creationId xmlns:p14="http://schemas.microsoft.com/office/powerpoint/2010/main" val="96324308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2431</TotalTime>
  <Words>407</Words>
  <Application>Microsoft Office PowerPoint</Application>
  <PresentationFormat>寬螢幕</PresentationFormat>
  <Paragraphs>28</Paragraphs>
  <Slides>10</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Leelawadee UI Semilight</vt:lpstr>
      <vt:lpstr>新細明體</vt:lpstr>
      <vt:lpstr>Arial</vt:lpstr>
      <vt:lpstr>Calibri</vt:lpstr>
      <vt:lpstr>Calibri Light</vt:lpstr>
      <vt:lpstr>Office 佈景主題</vt:lpstr>
      <vt:lpstr>Deep super-class learning for long-tail distributed image classification</vt:lpstr>
      <vt:lpstr>Abstract(1/3)</vt:lpstr>
      <vt:lpstr>Abstract(2/3)</vt:lpstr>
      <vt:lpstr>Abstract(3/3)</vt:lpstr>
      <vt:lpstr>Deep super-class learning(DSCL)</vt:lpstr>
      <vt:lpstr>Deep super-class learning(DSCL)</vt:lpstr>
      <vt:lpstr>Deep super-class learning(DSCL)</vt:lpstr>
      <vt:lpstr>Deep super-class learning(DSCL)</vt:lpstr>
      <vt:lpstr>Deep super-class learning(DSCL)</vt:lpstr>
      <vt:lpstr>Deep super-class learning(DSCL)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pplab-class</cp:lastModifiedBy>
  <cp:revision>47</cp:revision>
  <dcterms:created xsi:type="dcterms:W3CDTF">2018-09-30T05:00:05Z</dcterms:created>
  <dcterms:modified xsi:type="dcterms:W3CDTF">2018-10-30T10:33:28Z</dcterms:modified>
</cp:coreProperties>
</file>