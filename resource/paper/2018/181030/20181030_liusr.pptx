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6" r:id="rId3"/>
    <p:sldId id="277" r:id="rId4"/>
    <p:sldId id="279" r:id="rId5"/>
    <p:sldId id="280" r:id="rId6"/>
    <p:sldId id="281" r:id="rId7"/>
    <p:sldId id="282" r:id="rId8"/>
    <p:sldId id="283" r:id="rId9"/>
    <p:sldId id="285" r:id="rId10"/>
    <p:sldId id="286" r:id="rId11"/>
    <p:sldId id="287" r:id="rId12"/>
    <p:sldId id="288"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33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佈景主題樣式 2 - 輔色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69" autoAdjust="0"/>
    <p:restoredTop sz="78307" autoAdjust="0"/>
  </p:normalViewPr>
  <p:slideViewPr>
    <p:cSldViewPr snapToGrid="0">
      <p:cViewPr varScale="1">
        <p:scale>
          <a:sx n="115" d="100"/>
          <a:sy n="115" d="100"/>
        </p:scale>
        <p:origin x="70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2018/10/30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2018/10/30</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2018/10/30</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2018/10/30</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2018/10/30</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2018/10/30</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2018/10/30</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2018/10/30</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2018/10/30</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2018/10/30</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2018/10/30</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2018/10/30</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2018/10/30</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tw/maps/place/%E7%BE%8E%E5%9C%8B%E4%BD%9B%E7%BE%85%E9%87%8C%E9%81%94%E9%82%81%E9%98%BF%E5%AF%86/@25.7729413,-80.2450538,12.5z/data=!4m5!3m4!1s0x88d9b0a20ec8c111:0xff96f271ddad4f65!8m2!3d25.7616798!4d-80.191790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researchgate.net/publication/306061584_Speeding_Up_All-Pairwise_Dynamic_Time_Warping_Matrix_Calculatio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1416174" y="721475"/>
            <a:ext cx="9359651" cy="1356957"/>
          </a:xfrm>
        </p:spPr>
        <p:txBody>
          <a:bodyPr>
            <a:noAutofit/>
          </a:bodyPr>
          <a:lstStyle/>
          <a:p>
            <a:r>
              <a:rPr lang="en-US" altLang="zh-TW" sz="3600" dirty="0"/>
              <a:t>Speeding Up All-Pairwise Dynamic Time Warping Matrix Calculation</a:t>
            </a:r>
            <a:endParaRPr lang="zh-TW" altLang="en-US" sz="36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383332" y="2810596"/>
            <a:ext cx="11425330" cy="618404"/>
          </a:xfrm>
        </p:spPr>
        <p:txBody>
          <a:bodyPr>
            <a:noAutofit/>
          </a:bodyPr>
          <a:lstStyle/>
          <a:p>
            <a:r>
              <a:rPr lang="pt-BR" altLang="zh-TW" sz="2800" dirty="0"/>
              <a:t>Diego F. Silva, Gustavo E. A. P. A. Batista</a:t>
            </a:r>
            <a:br>
              <a:rPr lang="en-US" altLang="zh-TW" dirty="0"/>
            </a:br>
            <a:endParaRPr lang="zh-TW" altLang="en-US" sz="2600" dirty="0"/>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526943" y="3895907"/>
            <a:ext cx="11138108"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b="1" dirty="0">
                <a:solidFill>
                  <a:schemeClr val="tx1"/>
                </a:solidFill>
              </a:rPr>
              <a:t>Proceedings of the 2016 SIAM International Conference on Data Mining</a:t>
            </a:r>
          </a:p>
          <a:p>
            <a:r>
              <a:rPr lang="en-US" altLang="zh-TW" sz="2800" b="1" dirty="0">
                <a:solidFill>
                  <a:schemeClr val="tx1"/>
                </a:solidFill>
              </a:rPr>
              <a:t>May 5-7, 2016, Miami, Florida, USA</a:t>
            </a: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Presenter: Shan-Ru Liu</a:t>
            </a:r>
          </a:p>
          <a:p>
            <a:r>
              <a:rPr lang="en-US" altLang="zh-TW" sz="2800" dirty="0">
                <a:solidFill>
                  <a:schemeClr val="tx1"/>
                </a:solidFill>
              </a:rPr>
              <a:t>Date: 2018/10/30</a:t>
            </a:r>
            <a:endParaRPr lang="zh-TW" altLang="en-US" sz="2800" dirty="0">
              <a:solidFill>
                <a:schemeClr val="tx1"/>
              </a:solidFill>
            </a:endParaRPr>
          </a:p>
        </p:txBody>
      </p:sp>
      <p:sp>
        <p:nvSpPr>
          <p:cNvPr id="9" name="橢圓 8">
            <a:hlinkClick r:id="rId3"/>
            <a:extLst>
              <a:ext uri="{FF2B5EF4-FFF2-40B4-BE49-F238E27FC236}">
                <a16:creationId xmlns:a16="http://schemas.microsoft.com/office/drawing/2014/main" id="{AD933387-927F-4F4E-BA3D-CF654DC07ABF}"/>
              </a:ext>
            </a:extLst>
          </p:cNvPr>
          <p:cNvSpPr/>
          <p:nvPr/>
        </p:nvSpPr>
        <p:spPr>
          <a:xfrm>
            <a:off x="172275" y="6310449"/>
            <a:ext cx="422113" cy="42211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hlinkClick r:id="rId4"/>
            <a:extLst>
              <a:ext uri="{FF2B5EF4-FFF2-40B4-BE49-F238E27FC236}">
                <a16:creationId xmlns:a16="http://schemas.microsoft.com/office/drawing/2014/main" id="{87623B65-9CEC-4D94-A911-97E5241DB5BB}"/>
              </a:ext>
            </a:extLst>
          </p:cNvPr>
          <p:cNvSpPr/>
          <p:nvPr/>
        </p:nvSpPr>
        <p:spPr>
          <a:xfrm>
            <a:off x="673810" y="6312141"/>
            <a:ext cx="420422" cy="42042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C000"/>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(1/2)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109886" cy="4446839"/>
          </a:xfrm>
        </p:spPr>
        <p:txBody>
          <a:bodyPr>
            <a:noAutofit/>
          </a:bodyPr>
          <a:lstStyle/>
          <a:p>
            <a:pPr marL="0" indent="0" algn="just">
              <a:buNone/>
            </a:pPr>
            <a:r>
              <a:rPr lang="en-US" altLang="zh-TW" dirty="0"/>
              <a:t>Dynamic Time Warping (DTW) is certainly the most relevant distance for time series analysis. However, its quadratic time complexity may hamper its use, mainly in the analysis of large time series data. All the recent advances in speeding up the exact DTW calculation are confined to similarity search. However, there is a significant number of important algorithms including clustering and classification that require the pairwise distance matrix for all time series objects. The only techniques available to deal with this issue are constraint bands and DTW approximations. </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Tree>
    <p:extLst>
      <p:ext uri="{BB962C8B-B14F-4D97-AF65-F5344CB8AC3E}">
        <p14:creationId xmlns:p14="http://schemas.microsoft.com/office/powerpoint/2010/main" val="16792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(2/2)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011032" cy="4446839"/>
          </a:xfrm>
        </p:spPr>
        <p:txBody>
          <a:bodyPr>
            <a:noAutofit/>
          </a:bodyPr>
          <a:lstStyle/>
          <a:p>
            <a:pPr marL="0" indent="0" algn="just">
              <a:buNone/>
            </a:pPr>
            <a:r>
              <a:rPr lang="en-US" altLang="zh-TW" dirty="0"/>
              <a:t>In this paper, we propose the first exact approach for speeding up the all-pairwise DTW matrix calculation. Our method is exact and may be applied in conjunction with constraint bands. We demonstrate that our algorithm reduces the runtime in approximately 50% on average and up to one order of magnitude in some datasets.</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419476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E52BA5-7209-4FA9-996F-3933A7029051}"/>
              </a:ext>
            </a:extLst>
          </p:cNvPr>
          <p:cNvSpPr>
            <a:spLocks noGrp="1"/>
          </p:cNvSpPr>
          <p:nvPr>
            <p:ph type="title"/>
          </p:nvPr>
        </p:nvSpPr>
        <p:spPr/>
        <p:txBody>
          <a:bodyPr/>
          <a:lstStyle/>
          <a:p>
            <a:r>
              <a:rPr lang="en-US" altLang="zh-TW" dirty="0"/>
              <a:t>Motivation</a:t>
            </a:r>
            <a:endParaRPr lang="zh-TW" altLang="en-US" dirty="0"/>
          </a:p>
        </p:txBody>
      </p:sp>
      <p:pic>
        <p:nvPicPr>
          <p:cNvPr id="5" name="內容版面配置區 4">
            <a:extLst>
              <a:ext uri="{FF2B5EF4-FFF2-40B4-BE49-F238E27FC236}">
                <a16:creationId xmlns:a16="http://schemas.microsoft.com/office/drawing/2014/main" id="{09567E36-2C3E-4DAF-B089-F025FE2496BC}"/>
              </a:ext>
            </a:extLst>
          </p:cNvPr>
          <p:cNvPicPr>
            <a:picLocks noGrp="1" noChangeAspect="1"/>
          </p:cNvPicPr>
          <p:nvPr>
            <p:ph idx="1"/>
          </p:nvPr>
        </p:nvPicPr>
        <p:blipFill rotWithShape="1">
          <a:blip r:embed="rId2"/>
          <a:srcRect l="8255" t="7215" r="6762" b="4453"/>
          <a:stretch/>
        </p:blipFill>
        <p:spPr>
          <a:xfrm>
            <a:off x="838200" y="1616825"/>
            <a:ext cx="6790508" cy="4626033"/>
          </a:xfrm>
          <a:prstGeom prst="rect">
            <a:avLst/>
          </a:prstGeom>
        </p:spPr>
      </p:pic>
      <p:sp>
        <p:nvSpPr>
          <p:cNvPr id="4" name="投影片編號版面配置區 3">
            <a:extLst>
              <a:ext uri="{FF2B5EF4-FFF2-40B4-BE49-F238E27FC236}">
                <a16:creationId xmlns:a16="http://schemas.microsoft.com/office/drawing/2014/main" id="{017EE9C7-79F4-4C6F-8D66-49E57F86D646}"/>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spTree>
    <p:extLst>
      <p:ext uri="{BB962C8B-B14F-4D97-AF65-F5344CB8AC3E}">
        <p14:creationId xmlns:p14="http://schemas.microsoft.com/office/powerpoint/2010/main" val="368816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E5532C-9C7E-4417-B292-12540C765D68}"/>
              </a:ext>
            </a:extLst>
          </p:cNvPr>
          <p:cNvSpPr>
            <a:spLocks noGrp="1"/>
          </p:cNvSpPr>
          <p:nvPr>
            <p:ph type="title"/>
          </p:nvPr>
        </p:nvSpPr>
        <p:spPr/>
        <p:txBody>
          <a:bodyPr/>
          <a:lstStyle/>
          <a:p>
            <a:r>
              <a:rPr lang="en-US" altLang="zh-TW" dirty="0" err="1"/>
              <a:t>PrunedDTW</a:t>
            </a:r>
            <a:r>
              <a:rPr lang="en-US" altLang="zh-TW" dirty="0"/>
              <a:t> </a:t>
            </a:r>
            <a:r>
              <a:rPr lang="en-US" altLang="zh-TW" sz="3600" dirty="0"/>
              <a:t>(DTW with Pruned Warping Paths</a:t>
            </a:r>
            <a:r>
              <a:rPr lang="en-US" altLang="zh-TW" dirty="0"/>
              <a:t>)</a:t>
            </a:r>
            <a:endParaRPr lang="zh-TW" altLang="en-US" dirty="0"/>
          </a:p>
        </p:txBody>
      </p:sp>
      <p:sp>
        <p:nvSpPr>
          <p:cNvPr id="3" name="內容版面配置區 2">
            <a:extLst>
              <a:ext uri="{FF2B5EF4-FFF2-40B4-BE49-F238E27FC236}">
                <a16:creationId xmlns:a16="http://schemas.microsoft.com/office/drawing/2014/main" id="{FE9970F1-06C3-4DD1-A922-C4C77305CFAC}"/>
              </a:ext>
            </a:extLst>
          </p:cNvPr>
          <p:cNvSpPr>
            <a:spLocks noGrp="1"/>
          </p:cNvSpPr>
          <p:nvPr>
            <p:ph idx="1"/>
          </p:nvPr>
        </p:nvSpPr>
        <p:spPr/>
        <p:txBody>
          <a:bodyPr>
            <a:normAutofit/>
          </a:bodyPr>
          <a:lstStyle/>
          <a:p>
            <a:pPr marL="514350" indent="-514350">
              <a:buFont typeface="+mj-lt"/>
              <a:buAutoNum type="arabicPeriod"/>
            </a:pPr>
            <a:r>
              <a:rPr lang="en-US" altLang="zh-TW" dirty="0"/>
              <a:t>Being similar or considerably faster than DTW</a:t>
            </a:r>
          </a:p>
          <a:p>
            <a:pPr marL="514350" indent="-514350">
              <a:buFont typeface="+mj-lt"/>
              <a:buAutoNum type="arabicPeriod"/>
            </a:pPr>
            <a:endParaRPr lang="en-US" altLang="zh-TW" dirty="0"/>
          </a:p>
          <a:p>
            <a:pPr marL="514350" indent="-514350">
              <a:buFont typeface="+mj-lt"/>
              <a:buAutoNum type="arabicPeriod"/>
            </a:pPr>
            <a:r>
              <a:rPr lang="en-US" altLang="zh-TW" dirty="0"/>
              <a:t>Always returning the optimal path between two time series</a:t>
            </a:r>
          </a:p>
        </p:txBody>
      </p:sp>
      <p:sp>
        <p:nvSpPr>
          <p:cNvPr id="4" name="投影片編號版面配置區 3">
            <a:extLst>
              <a:ext uri="{FF2B5EF4-FFF2-40B4-BE49-F238E27FC236}">
                <a16:creationId xmlns:a16="http://schemas.microsoft.com/office/drawing/2014/main" id="{92D11C75-E0AD-4D38-BB09-023A59BB8207}"/>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spTree>
    <p:extLst>
      <p:ext uri="{BB962C8B-B14F-4D97-AF65-F5344CB8AC3E}">
        <p14:creationId xmlns:p14="http://schemas.microsoft.com/office/powerpoint/2010/main" val="1358432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554765-8470-4B79-996F-B8ADA44EFFBD}"/>
              </a:ext>
            </a:extLst>
          </p:cNvPr>
          <p:cNvSpPr>
            <a:spLocks noGrp="1"/>
          </p:cNvSpPr>
          <p:nvPr>
            <p:ph type="title"/>
          </p:nvPr>
        </p:nvSpPr>
        <p:spPr/>
        <p:txBody>
          <a:bodyPr/>
          <a:lstStyle/>
          <a:p>
            <a:r>
              <a:rPr lang="en-US" altLang="zh-TW" dirty="0"/>
              <a:t>Pruning Strategy</a:t>
            </a:r>
            <a:endParaRPr lang="zh-TW" altLang="en-US" dirty="0"/>
          </a:p>
        </p:txBody>
      </p:sp>
      <p:pic>
        <p:nvPicPr>
          <p:cNvPr id="5" name="內容版面配置區 4">
            <a:extLst>
              <a:ext uri="{FF2B5EF4-FFF2-40B4-BE49-F238E27FC236}">
                <a16:creationId xmlns:a16="http://schemas.microsoft.com/office/drawing/2014/main" id="{C5A54AC3-64C1-4228-BFE0-7D501649C1B3}"/>
              </a:ext>
            </a:extLst>
          </p:cNvPr>
          <p:cNvPicPr>
            <a:picLocks noGrp="1" noChangeAspect="1"/>
          </p:cNvPicPr>
          <p:nvPr>
            <p:ph idx="1"/>
          </p:nvPr>
        </p:nvPicPr>
        <p:blipFill>
          <a:blip r:embed="rId2"/>
          <a:stretch>
            <a:fillRect/>
          </a:stretch>
        </p:blipFill>
        <p:spPr>
          <a:xfrm>
            <a:off x="354282" y="4002604"/>
            <a:ext cx="5531820" cy="2112736"/>
          </a:xfrm>
          <a:prstGeom prst="rect">
            <a:avLst/>
          </a:prstGeom>
        </p:spPr>
      </p:pic>
      <p:sp>
        <p:nvSpPr>
          <p:cNvPr id="4" name="投影片編號版面配置區 3">
            <a:extLst>
              <a:ext uri="{FF2B5EF4-FFF2-40B4-BE49-F238E27FC236}">
                <a16:creationId xmlns:a16="http://schemas.microsoft.com/office/drawing/2014/main" id="{A10AC664-2331-4973-84E1-B881FEE57C50}"/>
              </a:ext>
            </a:extLst>
          </p:cNvPr>
          <p:cNvSpPr>
            <a:spLocks noGrp="1"/>
          </p:cNvSpPr>
          <p:nvPr>
            <p:ph type="sldNum" sz="quarter" idx="12"/>
          </p:nvPr>
        </p:nvSpPr>
        <p:spPr>
          <a:xfrm>
            <a:off x="8610600" y="6310310"/>
            <a:ext cx="2743200" cy="365125"/>
          </a:xfrm>
        </p:spPr>
        <p:txBody>
          <a:bodyPr/>
          <a:lstStyle/>
          <a:p>
            <a:fld id="{8DCCD063-7F18-423D-A692-CC9D343FD360}" type="slidenum">
              <a:rPr lang="zh-TW" altLang="en-US" smtClean="0"/>
              <a:t>6</a:t>
            </a:fld>
            <a:endParaRPr lang="zh-TW" altLang="en-US"/>
          </a:p>
        </p:txBody>
      </p:sp>
      <p:pic>
        <p:nvPicPr>
          <p:cNvPr id="6" name="圖片 5">
            <a:extLst>
              <a:ext uri="{FF2B5EF4-FFF2-40B4-BE49-F238E27FC236}">
                <a16:creationId xmlns:a16="http://schemas.microsoft.com/office/drawing/2014/main" id="{1205C416-41F5-47CA-BB77-C26D31934505}"/>
              </a:ext>
            </a:extLst>
          </p:cNvPr>
          <p:cNvPicPr>
            <a:picLocks noChangeAspect="1"/>
          </p:cNvPicPr>
          <p:nvPr/>
        </p:nvPicPr>
        <p:blipFill>
          <a:blip r:embed="rId3"/>
          <a:stretch>
            <a:fillRect/>
          </a:stretch>
        </p:blipFill>
        <p:spPr>
          <a:xfrm>
            <a:off x="471301" y="1821044"/>
            <a:ext cx="5414801" cy="2003069"/>
          </a:xfrm>
          <a:prstGeom prst="rect">
            <a:avLst/>
          </a:prstGeom>
        </p:spPr>
      </p:pic>
      <p:pic>
        <p:nvPicPr>
          <p:cNvPr id="11" name="圖片 10">
            <a:extLst>
              <a:ext uri="{FF2B5EF4-FFF2-40B4-BE49-F238E27FC236}">
                <a16:creationId xmlns:a16="http://schemas.microsoft.com/office/drawing/2014/main" id="{9BD7D445-BD54-44D3-9623-04AFADA8B04F}"/>
              </a:ext>
            </a:extLst>
          </p:cNvPr>
          <p:cNvPicPr>
            <a:picLocks noChangeAspect="1"/>
          </p:cNvPicPr>
          <p:nvPr/>
        </p:nvPicPr>
        <p:blipFill>
          <a:blip r:embed="rId4"/>
          <a:stretch>
            <a:fillRect/>
          </a:stretch>
        </p:blipFill>
        <p:spPr>
          <a:xfrm>
            <a:off x="6660572" y="2458772"/>
            <a:ext cx="4495800" cy="1104900"/>
          </a:xfrm>
          <a:prstGeom prst="rect">
            <a:avLst/>
          </a:prstGeom>
        </p:spPr>
      </p:pic>
      <p:pic>
        <p:nvPicPr>
          <p:cNvPr id="12" name="圖片 11">
            <a:extLst>
              <a:ext uri="{FF2B5EF4-FFF2-40B4-BE49-F238E27FC236}">
                <a16:creationId xmlns:a16="http://schemas.microsoft.com/office/drawing/2014/main" id="{72A90F99-F005-485B-881D-4B9FD93555BF}"/>
              </a:ext>
            </a:extLst>
          </p:cNvPr>
          <p:cNvPicPr>
            <a:picLocks noChangeAspect="1"/>
          </p:cNvPicPr>
          <p:nvPr/>
        </p:nvPicPr>
        <p:blipFill>
          <a:blip r:embed="rId5"/>
          <a:stretch>
            <a:fillRect/>
          </a:stretch>
        </p:blipFill>
        <p:spPr>
          <a:xfrm>
            <a:off x="6743700" y="3722953"/>
            <a:ext cx="4610100" cy="714375"/>
          </a:xfrm>
          <a:prstGeom prst="rect">
            <a:avLst/>
          </a:prstGeom>
        </p:spPr>
      </p:pic>
      <p:sp>
        <p:nvSpPr>
          <p:cNvPr id="13" name="橢圓 12">
            <a:extLst>
              <a:ext uri="{FF2B5EF4-FFF2-40B4-BE49-F238E27FC236}">
                <a16:creationId xmlns:a16="http://schemas.microsoft.com/office/drawing/2014/main" id="{B1D65D1E-9815-4100-B109-71C1127A7EA0}"/>
              </a:ext>
            </a:extLst>
          </p:cNvPr>
          <p:cNvSpPr/>
          <p:nvPr/>
        </p:nvSpPr>
        <p:spPr>
          <a:xfrm>
            <a:off x="3765665" y="2527487"/>
            <a:ext cx="199506" cy="216131"/>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BC3E754E-94E6-4B00-B67E-E845CD971BA7}"/>
              </a:ext>
            </a:extLst>
          </p:cNvPr>
          <p:cNvSpPr/>
          <p:nvPr/>
        </p:nvSpPr>
        <p:spPr>
          <a:xfrm>
            <a:off x="3311236" y="4757651"/>
            <a:ext cx="199506" cy="216131"/>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2661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AC03DE-B767-4087-AAC5-744562048B73}"/>
              </a:ext>
            </a:extLst>
          </p:cNvPr>
          <p:cNvSpPr>
            <a:spLocks noGrp="1"/>
          </p:cNvSpPr>
          <p:nvPr>
            <p:ph type="title"/>
          </p:nvPr>
        </p:nvSpPr>
        <p:spPr/>
        <p:txBody>
          <a:bodyPr/>
          <a:lstStyle/>
          <a:p>
            <a:r>
              <a:rPr lang="en-US" altLang="zh-TW" dirty="0"/>
              <a:t>Algorithm</a:t>
            </a:r>
            <a:endParaRPr lang="zh-TW" altLang="en-US" dirty="0"/>
          </a:p>
        </p:txBody>
      </p:sp>
      <p:pic>
        <p:nvPicPr>
          <p:cNvPr id="5" name="內容版面配置區 4">
            <a:extLst>
              <a:ext uri="{FF2B5EF4-FFF2-40B4-BE49-F238E27FC236}">
                <a16:creationId xmlns:a16="http://schemas.microsoft.com/office/drawing/2014/main" id="{2A295E63-80A0-4D88-8E33-FC6FEE0D93EA}"/>
              </a:ext>
            </a:extLst>
          </p:cNvPr>
          <p:cNvPicPr>
            <a:picLocks noGrp="1" noChangeAspect="1"/>
          </p:cNvPicPr>
          <p:nvPr>
            <p:ph idx="1"/>
          </p:nvPr>
        </p:nvPicPr>
        <p:blipFill>
          <a:blip r:embed="rId2"/>
          <a:stretch>
            <a:fillRect/>
          </a:stretch>
        </p:blipFill>
        <p:spPr>
          <a:xfrm>
            <a:off x="926798" y="1690690"/>
            <a:ext cx="4700917" cy="5025119"/>
          </a:xfrm>
          <a:prstGeom prst="rect">
            <a:avLst/>
          </a:prstGeom>
        </p:spPr>
      </p:pic>
      <p:sp>
        <p:nvSpPr>
          <p:cNvPr id="4" name="投影片編號版面配置區 3">
            <a:extLst>
              <a:ext uri="{FF2B5EF4-FFF2-40B4-BE49-F238E27FC236}">
                <a16:creationId xmlns:a16="http://schemas.microsoft.com/office/drawing/2014/main" id="{19196424-749D-4D0D-B12C-B5A143B645B6}"/>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pic>
        <p:nvPicPr>
          <p:cNvPr id="6" name="圖片 5">
            <a:extLst>
              <a:ext uri="{FF2B5EF4-FFF2-40B4-BE49-F238E27FC236}">
                <a16:creationId xmlns:a16="http://schemas.microsoft.com/office/drawing/2014/main" id="{3671F3B4-59B4-474F-A040-14BD35519EFD}"/>
              </a:ext>
            </a:extLst>
          </p:cNvPr>
          <p:cNvPicPr>
            <a:picLocks noChangeAspect="1"/>
          </p:cNvPicPr>
          <p:nvPr/>
        </p:nvPicPr>
        <p:blipFill>
          <a:blip r:embed="rId3"/>
          <a:stretch>
            <a:fillRect/>
          </a:stretch>
        </p:blipFill>
        <p:spPr>
          <a:xfrm>
            <a:off x="6096000" y="1690690"/>
            <a:ext cx="5000538" cy="2230062"/>
          </a:xfrm>
          <a:prstGeom prst="rect">
            <a:avLst/>
          </a:prstGeom>
        </p:spPr>
      </p:pic>
      <p:cxnSp>
        <p:nvCxnSpPr>
          <p:cNvPr id="8" name="直線單箭頭接點 7">
            <a:extLst>
              <a:ext uri="{FF2B5EF4-FFF2-40B4-BE49-F238E27FC236}">
                <a16:creationId xmlns:a16="http://schemas.microsoft.com/office/drawing/2014/main" id="{1FE177B1-1A69-4185-80D4-52CB36F37BE3}"/>
              </a:ext>
            </a:extLst>
          </p:cNvPr>
          <p:cNvCxnSpPr>
            <a:cxnSpLocks/>
          </p:cNvCxnSpPr>
          <p:nvPr/>
        </p:nvCxnSpPr>
        <p:spPr>
          <a:xfrm flipV="1">
            <a:off x="5037513" y="1895302"/>
            <a:ext cx="1058487" cy="40898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79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6CD353-5695-4232-8787-2769C2E06B76}"/>
              </a:ext>
            </a:extLst>
          </p:cNvPr>
          <p:cNvSpPr>
            <a:spLocks noGrp="1"/>
          </p:cNvSpPr>
          <p:nvPr>
            <p:ph type="title"/>
          </p:nvPr>
        </p:nvSpPr>
        <p:spPr/>
        <p:txBody>
          <a:bodyPr/>
          <a:lstStyle/>
          <a:p>
            <a:r>
              <a:rPr lang="en-US" altLang="zh-TW" dirty="0"/>
              <a:t>Other UB Approaches</a:t>
            </a:r>
            <a:endParaRPr lang="zh-TW" altLang="en-US" dirty="0"/>
          </a:p>
        </p:txBody>
      </p:sp>
      <p:pic>
        <p:nvPicPr>
          <p:cNvPr id="5" name="內容版面配置區 4">
            <a:extLst>
              <a:ext uri="{FF2B5EF4-FFF2-40B4-BE49-F238E27FC236}">
                <a16:creationId xmlns:a16="http://schemas.microsoft.com/office/drawing/2014/main" id="{050B6941-A117-4A51-9A02-A466C4E10F00}"/>
              </a:ext>
            </a:extLst>
          </p:cNvPr>
          <p:cNvPicPr>
            <a:picLocks noGrp="1" noChangeAspect="1"/>
          </p:cNvPicPr>
          <p:nvPr>
            <p:ph idx="1"/>
          </p:nvPr>
        </p:nvPicPr>
        <p:blipFill>
          <a:blip r:embed="rId2"/>
          <a:stretch>
            <a:fillRect/>
          </a:stretch>
        </p:blipFill>
        <p:spPr>
          <a:xfrm>
            <a:off x="838200" y="1665643"/>
            <a:ext cx="8021781" cy="5055834"/>
          </a:xfrm>
          <a:prstGeom prst="rect">
            <a:avLst/>
          </a:prstGeom>
        </p:spPr>
      </p:pic>
      <p:sp>
        <p:nvSpPr>
          <p:cNvPr id="4" name="投影片編號版面配置區 3">
            <a:extLst>
              <a:ext uri="{FF2B5EF4-FFF2-40B4-BE49-F238E27FC236}">
                <a16:creationId xmlns:a16="http://schemas.microsoft.com/office/drawing/2014/main" id="{08DB326B-87BE-4F93-8D91-3EA7DDB00931}"/>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spTree>
    <p:extLst>
      <p:ext uri="{BB962C8B-B14F-4D97-AF65-F5344CB8AC3E}">
        <p14:creationId xmlns:p14="http://schemas.microsoft.com/office/powerpoint/2010/main" val="131355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413A0C-5B0C-455C-8B4D-6FFF0A414E5E}"/>
              </a:ext>
            </a:extLst>
          </p:cNvPr>
          <p:cNvSpPr>
            <a:spLocks noGrp="1"/>
          </p:cNvSpPr>
          <p:nvPr>
            <p:ph type="title"/>
          </p:nvPr>
        </p:nvSpPr>
        <p:spPr/>
        <p:txBody>
          <a:bodyPr/>
          <a:lstStyle/>
          <a:p>
            <a:r>
              <a:rPr lang="en-US" altLang="zh-TW" dirty="0"/>
              <a:t>Result (1/4)</a:t>
            </a:r>
            <a:endParaRPr lang="zh-TW" altLang="en-US" dirty="0"/>
          </a:p>
        </p:txBody>
      </p:sp>
      <p:pic>
        <p:nvPicPr>
          <p:cNvPr id="5" name="內容版面配置區 4">
            <a:extLst>
              <a:ext uri="{FF2B5EF4-FFF2-40B4-BE49-F238E27FC236}">
                <a16:creationId xmlns:a16="http://schemas.microsoft.com/office/drawing/2014/main" id="{7EB2EEFC-C11F-4FC5-ACF0-4B48B495E54B}"/>
              </a:ext>
            </a:extLst>
          </p:cNvPr>
          <p:cNvPicPr>
            <a:picLocks noGrp="1" noChangeAspect="1"/>
          </p:cNvPicPr>
          <p:nvPr>
            <p:ph idx="1"/>
          </p:nvPr>
        </p:nvPicPr>
        <p:blipFill>
          <a:blip r:embed="rId2"/>
          <a:stretch>
            <a:fillRect/>
          </a:stretch>
        </p:blipFill>
        <p:spPr>
          <a:xfrm>
            <a:off x="838200" y="1807254"/>
            <a:ext cx="6972300" cy="4171950"/>
          </a:xfrm>
          <a:prstGeom prst="rect">
            <a:avLst/>
          </a:prstGeom>
        </p:spPr>
      </p:pic>
      <p:sp>
        <p:nvSpPr>
          <p:cNvPr id="4" name="投影片編號版面配置區 3">
            <a:extLst>
              <a:ext uri="{FF2B5EF4-FFF2-40B4-BE49-F238E27FC236}">
                <a16:creationId xmlns:a16="http://schemas.microsoft.com/office/drawing/2014/main" id="{56F5043E-4D2C-4AA7-B31F-A53F3F04322C}"/>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spTree>
    <p:extLst>
      <p:ext uri="{BB962C8B-B14F-4D97-AF65-F5344CB8AC3E}">
        <p14:creationId xmlns:p14="http://schemas.microsoft.com/office/powerpoint/2010/main" val="3315145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413A0C-5B0C-455C-8B4D-6FFF0A414E5E}"/>
              </a:ext>
            </a:extLst>
          </p:cNvPr>
          <p:cNvSpPr>
            <a:spLocks noGrp="1"/>
          </p:cNvSpPr>
          <p:nvPr>
            <p:ph type="title"/>
          </p:nvPr>
        </p:nvSpPr>
        <p:spPr/>
        <p:txBody>
          <a:bodyPr/>
          <a:lstStyle/>
          <a:p>
            <a:r>
              <a:rPr lang="en-US" altLang="zh-TW" dirty="0"/>
              <a:t>Result (2/4)</a:t>
            </a:r>
            <a:endParaRPr lang="zh-TW" altLang="en-US" dirty="0"/>
          </a:p>
        </p:txBody>
      </p:sp>
      <p:sp>
        <p:nvSpPr>
          <p:cNvPr id="4" name="投影片編號版面配置區 3">
            <a:extLst>
              <a:ext uri="{FF2B5EF4-FFF2-40B4-BE49-F238E27FC236}">
                <a16:creationId xmlns:a16="http://schemas.microsoft.com/office/drawing/2014/main" id="{56F5043E-4D2C-4AA7-B31F-A53F3F04322C}"/>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7" name="內容版面配置區 6">
            <a:extLst>
              <a:ext uri="{FF2B5EF4-FFF2-40B4-BE49-F238E27FC236}">
                <a16:creationId xmlns:a16="http://schemas.microsoft.com/office/drawing/2014/main" id="{25346A12-57DB-4DE4-BD8E-B0D748D00BBD}"/>
              </a:ext>
            </a:extLst>
          </p:cNvPr>
          <p:cNvPicPr>
            <a:picLocks noGrp="1" noChangeAspect="1"/>
          </p:cNvPicPr>
          <p:nvPr>
            <p:ph idx="1"/>
          </p:nvPr>
        </p:nvPicPr>
        <p:blipFill>
          <a:blip r:embed="rId2"/>
          <a:stretch>
            <a:fillRect/>
          </a:stretch>
        </p:blipFill>
        <p:spPr>
          <a:xfrm>
            <a:off x="690833" y="1988914"/>
            <a:ext cx="10810334" cy="4137566"/>
          </a:xfrm>
          <a:prstGeom prst="rect">
            <a:avLst/>
          </a:prstGeom>
        </p:spPr>
      </p:pic>
    </p:spTree>
    <p:extLst>
      <p:ext uri="{BB962C8B-B14F-4D97-AF65-F5344CB8AC3E}">
        <p14:creationId xmlns:p14="http://schemas.microsoft.com/office/powerpoint/2010/main" val="1286778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413A0C-5B0C-455C-8B4D-6FFF0A414E5E}"/>
              </a:ext>
            </a:extLst>
          </p:cNvPr>
          <p:cNvSpPr>
            <a:spLocks noGrp="1"/>
          </p:cNvSpPr>
          <p:nvPr>
            <p:ph type="title"/>
          </p:nvPr>
        </p:nvSpPr>
        <p:spPr/>
        <p:txBody>
          <a:bodyPr/>
          <a:lstStyle/>
          <a:p>
            <a:r>
              <a:rPr lang="en-US" altLang="zh-TW" dirty="0"/>
              <a:t>Result (3/4)</a:t>
            </a:r>
            <a:endParaRPr lang="zh-TW" altLang="en-US" dirty="0"/>
          </a:p>
        </p:txBody>
      </p:sp>
      <p:sp>
        <p:nvSpPr>
          <p:cNvPr id="4" name="投影片編號版面配置區 3">
            <a:extLst>
              <a:ext uri="{FF2B5EF4-FFF2-40B4-BE49-F238E27FC236}">
                <a16:creationId xmlns:a16="http://schemas.microsoft.com/office/drawing/2014/main" id="{56F5043E-4D2C-4AA7-B31F-A53F3F04322C}"/>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pic>
        <p:nvPicPr>
          <p:cNvPr id="3" name="內容版面配置區 2">
            <a:extLst>
              <a:ext uri="{FF2B5EF4-FFF2-40B4-BE49-F238E27FC236}">
                <a16:creationId xmlns:a16="http://schemas.microsoft.com/office/drawing/2014/main" id="{4623D04B-EFCC-4F4F-A135-72C01A236ABE}"/>
              </a:ext>
            </a:extLst>
          </p:cNvPr>
          <p:cNvPicPr>
            <a:picLocks noGrp="1" noChangeAspect="1"/>
          </p:cNvPicPr>
          <p:nvPr>
            <p:ph idx="1"/>
          </p:nvPr>
        </p:nvPicPr>
        <p:blipFill>
          <a:blip r:embed="rId2"/>
          <a:stretch>
            <a:fillRect/>
          </a:stretch>
        </p:blipFill>
        <p:spPr>
          <a:xfrm>
            <a:off x="741074" y="1887693"/>
            <a:ext cx="10709852" cy="4305289"/>
          </a:xfrm>
          <a:prstGeom prst="rect">
            <a:avLst/>
          </a:prstGeom>
        </p:spPr>
      </p:pic>
    </p:spTree>
    <p:extLst>
      <p:ext uri="{BB962C8B-B14F-4D97-AF65-F5344CB8AC3E}">
        <p14:creationId xmlns:p14="http://schemas.microsoft.com/office/powerpoint/2010/main" val="3601130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413A0C-5B0C-455C-8B4D-6FFF0A414E5E}"/>
              </a:ext>
            </a:extLst>
          </p:cNvPr>
          <p:cNvSpPr>
            <a:spLocks noGrp="1"/>
          </p:cNvSpPr>
          <p:nvPr>
            <p:ph type="title"/>
          </p:nvPr>
        </p:nvSpPr>
        <p:spPr/>
        <p:txBody>
          <a:bodyPr/>
          <a:lstStyle/>
          <a:p>
            <a:r>
              <a:rPr lang="en-US" altLang="zh-TW" dirty="0"/>
              <a:t>Result (4/4)</a:t>
            </a:r>
            <a:endParaRPr lang="zh-TW" altLang="en-US" dirty="0"/>
          </a:p>
        </p:txBody>
      </p:sp>
      <p:sp>
        <p:nvSpPr>
          <p:cNvPr id="4" name="投影片編號版面配置區 3">
            <a:extLst>
              <a:ext uri="{FF2B5EF4-FFF2-40B4-BE49-F238E27FC236}">
                <a16:creationId xmlns:a16="http://schemas.microsoft.com/office/drawing/2014/main" id="{56F5043E-4D2C-4AA7-B31F-A53F3F04322C}"/>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pic>
        <p:nvPicPr>
          <p:cNvPr id="3" name="內容版面配置區 2">
            <a:extLst>
              <a:ext uri="{FF2B5EF4-FFF2-40B4-BE49-F238E27FC236}">
                <a16:creationId xmlns:a16="http://schemas.microsoft.com/office/drawing/2014/main" id="{46CF5E36-1D22-453C-9DE9-D5A19F0CA681}"/>
              </a:ext>
            </a:extLst>
          </p:cNvPr>
          <p:cNvPicPr>
            <a:picLocks noGrp="1" noChangeAspect="1"/>
          </p:cNvPicPr>
          <p:nvPr>
            <p:ph idx="1"/>
          </p:nvPr>
        </p:nvPicPr>
        <p:blipFill>
          <a:blip r:embed="rId2"/>
          <a:stretch>
            <a:fillRect/>
          </a:stretch>
        </p:blipFill>
        <p:spPr>
          <a:xfrm>
            <a:off x="838200" y="2271467"/>
            <a:ext cx="6991350" cy="3343275"/>
          </a:xfrm>
          <a:prstGeom prst="rect">
            <a:avLst/>
          </a:prstGeom>
        </p:spPr>
      </p:pic>
    </p:spTree>
    <p:extLst>
      <p:ext uri="{BB962C8B-B14F-4D97-AF65-F5344CB8AC3E}">
        <p14:creationId xmlns:p14="http://schemas.microsoft.com/office/powerpoint/2010/main" val="297031857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17171</TotalTime>
  <Words>273</Words>
  <Application>Microsoft Office PowerPoint</Application>
  <PresentationFormat>寬螢幕</PresentationFormat>
  <Paragraphs>35</Paragraphs>
  <Slides>12</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微軟正黑體</vt:lpstr>
      <vt:lpstr>新細明體</vt:lpstr>
      <vt:lpstr>Arial</vt:lpstr>
      <vt:lpstr>Calibri</vt:lpstr>
      <vt:lpstr>Times New Roman</vt:lpstr>
      <vt:lpstr>Tw Cen MT</vt:lpstr>
      <vt:lpstr>Office 佈景主題</vt:lpstr>
      <vt:lpstr>Speeding Up All-Pairwise Dynamic Time Warping Matrix Calculation</vt:lpstr>
      <vt:lpstr>Abstract (1/2)</vt:lpstr>
      <vt:lpstr>Abstract (2/2)</vt:lpstr>
      <vt:lpstr>Motivation</vt:lpstr>
      <vt:lpstr>PrunedDTW (DTW with Pruned Warping Paths)</vt:lpstr>
      <vt:lpstr>Pruning Strategy</vt:lpstr>
      <vt:lpstr>Algorithm</vt:lpstr>
      <vt:lpstr>Other UB Approaches</vt:lpstr>
      <vt:lpstr>Result (1/4)</vt:lpstr>
      <vt:lpstr>Result (2/4)</vt:lpstr>
      <vt:lpstr>Result (3/4)</vt:lpstr>
      <vt:lpstr>Result (4/4)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劉珊如</cp:lastModifiedBy>
  <cp:revision>476</cp:revision>
  <dcterms:created xsi:type="dcterms:W3CDTF">2017-10-09T09:38:00Z</dcterms:created>
  <dcterms:modified xsi:type="dcterms:W3CDTF">2018-10-30T02:07:22Z</dcterms:modified>
</cp:coreProperties>
</file>