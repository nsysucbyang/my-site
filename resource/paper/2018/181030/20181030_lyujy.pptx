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3" r:id="rId3"/>
    <p:sldId id="257" r:id="rId4"/>
    <p:sldId id="282" r:id="rId5"/>
    <p:sldId id="283" r:id="rId6"/>
    <p:sldId id="275" r:id="rId7"/>
    <p:sldId id="284" r:id="rId8"/>
    <p:sldId id="276" r:id="rId9"/>
    <p:sldId id="285" r:id="rId10"/>
    <p:sldId id="286" r:id="rId11"/>
    <p:sldId id="277"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9" d="100"/>
          <a:sy n="89" d="100"/>
        </p:scale>
        <p:origin x="10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2018/10/30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631043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355726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850308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17933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532350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946084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965192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1289124" y="528040"/>
            <a:ext cx="9613751" cy="1775011"/>
          </a:xfrm>
        </p:spPr>
        <p:txBody>
          <a:bodyPr>
            <a:normAutofit/>
          </a:bodyPr>
          <a:lstStyle/>
          <a:p>
            <a:r>
              <a:rPr lang="en-US" altLang="zh-TW" sz="4000" b="1" dirty="0">
                <a:latin typeface="Times New Roman" panose="02020603050405020304" pitchFamily="18" charset="0"/>
                <a:cs typeface="Times New Roman" panose="02020603050405020304" pitchFamily="18" charset="0"/>
              </a:rPr>
              <a:t>Fast and Accurate Template Averaging for Time Series Classification</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897775" y="2312454"/>
            <a:ext cx="9770224" cy="1729274"/>
          </a:xfrm>
        </p:spPr>
        <p:txBody>
          <a:bodyPr>
            <a:normAutofit/>
          </a:bodyPr>
          <a:lstStyle/>
          <a:p>
            <a:endParaRPr lang="en-US" altLang="zh-TW" dirty="0"/>
          </a:p>
          <a:p>
            <a:r>
              <a:rPr lang="en-US" altLang="zh-TW" sz="2800" dirty="0" err="1">
                <a:latin typeface="Times New Roman" panose="02020603050405020304" pitchFamily="18" charset="0"/>
                <a:cs typeface="Times New Roman" panose="02020603050405020304" pitchFamily="18" charset="0"/>
              </a:rPr>
              <a:t>Phongsakorn</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Sathianwiriyakhun</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Thapanan</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Janyalikit</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Chotirat</a:t>
            </a:r>
            <a:r>
              <a:rPr lang="en-US" altLang="zh-TW" sz="2800" dirty="0">
                <a:latin typeface="Times New Roman" panose="02020603050405020304" pitchFamily="18" charset="0"/>
                <a:cs typeface="Times New Roman" panose="02020603050405020304" pitchFamily="18" charset="0"/>
              </a:rPr>
              <a:t> Ann </a:t>
            </a:r>
            <a:r>
              <a:rPr lang="en-US" altLang="zh-TW" sz="2800" dirty="0" err="1">
                <a:latin typeface="Times New Roman" panose="02020603050405020304" pitchFamily="18" charset="0"/>
                <a:cs typeface="Times New Roman" panose="02020603050405020304" pitchFamily="18" charset="0"/>
              </a:rPr>
              <a:t>Ratanamahatana</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523999" y="3861556"/>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Proceedings of  8th International Conference on Knowledge and Smart Technology (KST), 2016, Pages 49 – 54, Chiangmai, Thailand</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2018.10.30</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(1/3)</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713148"/>
            <a:ext cx="8155484" cy="5825764"/>
          </a:xfrm>
        </p:spPr>
        <p:txBody>
          <a:bodyPr>
            <a:noAutofit/>
          </a:bodyPr>
          <a:lstStyle/>
          <a:p>
            <a:pPr marL="0" indent="0" algn="dist">
              <a:lnSpc>
                <a:spcPct val="150000"/>
              </a:lnSpc>
              <a:buNone/>
            </a:pPr>
            <a:r>
              <a:rPr lang="en-US" altLang="zh-TW" sz="2400" dirty="0">
                <a:latin typeface="Times New Roman" panose="02020603050405020304" pitchFamily="18" charset="0"/>
                <a:cs typeface="Times New Roman" panose="02020603050405020304" pitchFamily="18" charset="0"/>
              </a:rPr>
              <a:t>Time series data are evidently ubiquitous, as we could see them in all kinds of domains and applications. As a result, various data mining tasks are often performed to discover useful knowledge, including commonly performed tasks like time series classification and clustering. Dynamic Time Warping (DTW) is accepted as one of the best available similarity measures, which has been used for distance calculation in both classification and clustering algorithms. However, its known drawback is its exceedingly high computational cost. Recently, data condensation method through template averaging is applied;</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(2/3)</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400" dirty="0">
                <a:latin typeface="Times New Roman" panose="02020603050405020304" pitchFamily="18" charset="0"/>
              </a:rPr>
              <a:t>each class of data can be represented by one template which could greatly speed up the classification with DTW especially in large datasets, with the trade off in lower classification accuracies. Subsequently, various attempts have been made to increase the number of representative templates to boost up the accuracies while keeping the computation complexity not too high. However, those algorithms still suffer from many predefined and hard-to-set parameters, while some require high computation time for high accuracy results. Therefore, in this work, we propose an accurate yet simple template averaging method that is parameter free and has much less computation time. </a:t>
            </a: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(3/3)</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400" dirty="0">
                <a:latin typeface="Times New Roman" panose="02020603050405020304" pitchFamily="18" charset="0"/>
              </a:rPr>
              <a:t>The experiment results on 20 UCR time series benchmark datasets demonstrate that our proposed method can achieve a few orders of magnitude speedup while maintaining high classification accuracies.</a:t>
            </a:r>
          </a:p>
        </p:txBody>
      </p:sp>
    </p:spTree>
    <p:extLst>
      <p:ext uri="{BB962C8B-B14F-4D97-AF65-F5344CB8AC3E}">
        <p14:creationId xmlns:p14="http://schemas.microsoft.com/office/powerpoint/2010/main" val="3137820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Find initial pivoting sequence for each class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p:txBody>
          <a:bodyPr>
            <a:normAutofit/>
          </a:bodyPr>
          <a:lstStyle/>
          <a:p>
            <a:r>
              <a:rPr lang="en-US" altLang="zh-TW" sz="2700" dirty="0"/>
              <a:t>T is a set of k time series sequences of the same class with the length l</a:t>
            </a:r>
            <a:endParaRPr lang="zh-TW" altLang="en-US" sz="2700" dirty="0"/>
          </a:p>
        </p:txBody>
      </p:sp>
      <p:pic>
        <p:nvPicPr>
          <p:cNvPr id="7" name="圖片 6">
            <a:extLst>
              <a:ext uri="{FF2B5EF4-FFF2-40B4-BE49-F238E27FC236}">
                <a16:creationId xmlns:a16="http://schemas.microsoft.com/office/drawing/2014/main" id="{3EE377ED-13FD-4512-BBDC-54810F1B8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146" y="2266024"/>
            <a:ext cx="6674114" cy="3470540"/>
          </a:xfrm>
          <a:prstGeom prst="rect">
            <a:avLst/>
          </a:prstGeom>
        </p:spPr>
      </p:pic>
      <p:pic>
        <p:nvPicPr>
          <p:cNvPr id="9" name="圖片 8">
            <a:extLst>
              <a:ext uri="{FF2B5EF4-FFF2-40B4-BE49-F238E27FC236}">
                <a16:creationId xmlns:a16="http://schemas.microsoft.com/office/drawing/2014/main" id="{258A81DE-2CA7-4243-9815-FFE8713CC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078" y="2550776"/>
            <a:ext cx="6543188" cy="878224"/>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365125"/>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Subclass splitting</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10">
            <a:extLst>
              <a:ext uri="{FF2B5EF4-FFF2-40B4-BE49-F238E27FC236}">
                <a16:creationId xmlns:a16="http://schemas.microsoft.com/office/drawing/2014/main" id="{650212D9-9F50-46B3-8507-D984FD9BF0BB}"/>
              </a:ext>
            </a:extLst>
          </p:cNvPr>
          <p:cNvSpPr>
            <a:spLocks noGrp="1"/>
          </p:cNvSpPr>
          <p:nvPr>
            <p:ph idx="1"/>
          </p:nvPr>
        </p:nvSpPr>
        <p:spPr>
          <a:xfrm>
            <a:off x="838200" y="1690688"/>
            <a:ext cx="5015484" cy="4351338"/>
          </a:xfrm>
        </p:spPr>
        <p:txBody>
          <a:bodyPr>
            <a:normAutofit fontScale="92500"/>
          </a:bodyPr>
          <a:lstStyle/>
          <a:p>
            <a:r>
              <a:rPr lang="en-US" altLang="zh-TW" sz="2400" dirty="0"/>
              <a:t>Calculate Euclidean distance between the pivot sequence and all other data sequences within the class. </a:t>
            </a:r>
          </a:p>
          <a:p>
            <a:r>
              <a:rPr lang="en-US" altLang="zh-TW" sz="2400" dirty="0"/>
              <a:t>Sort these distance values, and then compute adjacent discrepancies of the values. Then the standard deviation value of these adjacent discrepancies will be used as a threshold to split data into subclasses. </a:t>
            </a:r>
          </a:p>
          <a:p>
            <a:r>
              <a:rPr lang="en-US" altLang="zh-TW" sz="2400" dirty="0"/>
              <a:t>Separate the data into subclasses by splitting at the sequence that has difference larger than half of the computed standard deviation.</a:t>
            </a:r>
            <a:endParaRPr lang="zh-TW" altLang="en-US" sz="2400" dirty="0"/>
          </a:p>
        </p:txBody>
      </p:sp>
      <p:pic>
        <p:nvPicPr>
          <p:cNvPr id="5" name="圖片 4">
            <a:extLst>
              <a:ext uri="{FF2B5EF4-FFF2-40B4-BE49-F238E27FC236}">
                <a16:creationId xmlns:a16="http://schemas.microsoft.com/office/drawing/2014/main" id="{C5CC4857-570A-43EE-8425-DEDF5C4EC6EA}"/>
              </a:ext>
            </a:extLst>
          </p:cNvPr>
          <p:cNvPicPr>
            <a:picLocks noChangeAspect="1"/>
          </p:cNvPicPr>
          <p:nvPr/>
        </p:nvPicPr>
        <p:blipFill rotWithShape="1">
          <a:blip r:embed="rId3">
            <a:extLst>
              <a:ext uri="{28A0092B-C50C-407E-A947-70E740481C1C}">
                <a14:useLocalDpi xmlns:a14="http://schemas.microsoft.com/office/drawing/2010/main" val="0"/>
              </a:ext>
            </a:extLst>
          </a:blip>
          <a:srcRect r="4695"/>
          <a:stretch/>
        </p:blipFill>
        <p:spPr>
          <a:xfrm>
            <a:off x="6279730" y="1690688"/>
            <a:ext cx="5074070" cy="4272681"/>
          </a:xfrm>
          <a:prstGeom prst="rect">
            <a:avLst/>
          </a:prstGeom>
        </p:spPr>
      </p:pic>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normAutofit/>
          </a:bodyPr>
          <a:lstStyle/>
          <a:p>
            <a:pPr>
              <a:spcAft>
                <a:spcPts val="600"/>
              </a:spcAft>
            </a:pPr>
            <a:fld id="{872633CA-77E0-4863-94F8-E28139DFB2B4}" type="slidenum">
              <a:rPr lang="zh-TW" altLang="en-US" smtClean="0"/>
              <a:pPr>
                <a:spcAft>
                  <a:spcPts val="600"/>
                </a:spcAft>
              </a:pPr>
              <a:t>6</a:t>
            </a:fld>
            <a:endParaRPr lang="zh-TW" altLang="en-US"/>
          </a:p>
        </p:txBody>
      </p:sp>
    </p:spTree>
    <p:extLst>
      <p:ext uri="{BB962C8B-B14F-4D97-AF65-F5344CB8AC3E}">
        <p14:creationId xmlns:p14="http://schemas.microsoft.com/office/powerpoint/2010/main" val="2222263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365125"/>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Subclass splitting</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10">
            <a:extLst>
              <a:ext uri="{FF2B5EF4-FFF2-40B4-BE49-F238E27FC236}">
                <a16:creationId xmlns:a16="http://schemas.microsoft.com/office/drawing/2014/main" id="{650212D9-9F50-46B3-8507-D984FD9BF0BB}"/>
              </a:ext>
            </a:extLst>
          </p:cNvPr>
          <p:cNvSpPr>
            <a:spLocks noGrp="1"/>
          </p:cNvSpPr>
          <p:nvPr>
            <p:ph idx="1"/>
          </p:nvPr>
        </p:nvSpPr>
        <p:spPr>
          <a:xfrm>
            <a:off x="838200" y="1825625"/>
            <a:ext cx="5015484" cy="4351338"/>
          </a:xfrm>
        </p:spPr>
        <p:txBody>
          <a:bodyPr>
            <a:normAutofit/>
          </a:bodyPr>
          <a:lstStyle/>
          <a:p>
            <a:r>
              <a:rPr lang="en-US" altLang="zh-TW" sz="2400" dirty="0"/>
              <a:t>The main reason why we use Euclidean distance instead of DTW in this step is much faster to compute</a:t>
            </a:r>
          </a:p>
          <a:p>
            <a:r>
              <a:rPr lang="en-US" altLang="zh-TW" sz="2400" dirty="0"/>
              <a:t>Euclidean distance can better illustrate the differences between the two sequences than DTW could. As demonstrated in Fig.2</a:t>
            </a:r>
            <a:endParaRPr lang="zh-TW" altLang="en-US" sz="2400" dirty="0"/>
          </a:p>
        </p:txBody>
      </p:sp>
      <p:pic>
        <p:nvPicPr>
          <p:cNvPr id="6" name="圖片 5">
            <a:extLst>
              <a:ext uri="{FF2B5EF4-FFF2-40B4-BE49-F238E27FC236}">
                <a16:creationId xmlns:a16="http://schemas.microsoft.com/office/drawing/2014/main" id="{D83EFA19-4E6B-49CE-8665-C1A3EB0313FB}"/>
              </a:ext>
            </a:extLst>
          </p:cNvPr>
          <p:cNvPicPr>
            <a:picLocks noChangeAspect="1"/>
          </p:cNvPicPr>
          <p:nvPr/>
        </p:nvPicPr>
        <p:blipFill rotWithShape="1">
          <a:blip r:embed="rId3">
            <a:extLst>
              <a:ext uri="{28A0092B-C50C-407E-A947-70E740481C1C}">
                <a14:useLocalDpi xmlns:a14="http://schemas.microsoft.com/office/drawing/2010/main" val="0"/>
              </a:ext>
            </a:extLst>
          </a:blip>
          <a:srcRect l="3808" r="3267" b="2"/>
          <a:stretch/>
        </p:blipFill>
        <p:spPr>
          <a:xfrm>
            <a:off x="6096000" y="1690688"/>
            <a:ext cx="5451154" cy="4590209"/>
          </a:xfrm>
          <a:prstGeom prst="rect">
            <a:avLst/>
          </a:prstGeom>
        </p:spPr>
      </p:pic>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normAutofit/>
          </a:bodyPr>
          <a:lstStyle/>
          <a:p>
            <a:pPr>
              <a:spcAft>
                <a:spcPts val="600"/>
              </a:spcAft>
            </a:pPr>
            <a:fld id="{872633CA-77E0-4863-94F8-E28139DFB2B4}" type="slidenum">
              <a:rPr lang="zh-TW" altLang="en-US" smtClean="0"/>
              <a:pPr>
                <a:spcAft>
                  <a:spcPts val="600"/>
                </a:spcAft>
              </a:pPr>
              <a:t>7</a:t>
            </a:fld>
            <a:endParaRPr lang="zh-TW" altLang="en-US"/>
          </a:p>
        </p:txBody>
      </p:sp>
    </p:spTree>
    <p:extLst>
      <p:ext uri="{BB962C8B-B14F-4D97-AF65-F5344CB8AC3E}">
        <p14:creationId xmlns:p14="http://schemas.microsoft.com/office/powerpoint/2010/main" val="3087548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55964"/>
            <a:ext cx="7886700" cy="742817"/>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Different Pivots and Nearest-Neighbor Points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6" name="內容版面配置區 15">
            <a:extLst>
              <a:ext uri="{FF2B5EF4-FFF2-40B4-BE49-F238E27FC236}">
                <a16:creationId xmlns:a16="http://schemas.microsoft.com/office/drawing/2014/main" id="{D15215BF-681D-44FF-8885-7BE77F6F5785}"/>
              </a:ext>
            </a:extLst>
          </p:cNvPr>
          <p:cNvSpPr>
            <a:spLocks noGrp="1"/>
          </p:cNvSpPr>
          <p:nvPr>
            <p:ph idx="1"/>
          </p:nvPr>
        </p:nvSpPr>
        <p:spPr>
          <a:xfrm>
            <a:off x="838200" y="1253331"/>
            <a:ext cx="10515600" cy="4351338"/>
          </a:xfrm>
        </p:spPr>
        <p:txBody>
          <a:bodyPr/>
          <a:lstStyle/>
          <a:p>
            <a:r>
              <a:rPr lang="en-US" altLang="zh-TW" dirty="0"/>
              <a:t>sequences 1, 2 and 3 are of class 1 and sequences 4 and 5 are of class 2.</a:t>
            </a:r>
            <a:endParaRPr lang="zh-TW" altLang="en-US" dirty="0"/>
          </a:p>
        </p:txBody>
      </p:sp>
      <p:pic>
        <p:nvPicPr>
          <p:cNvPr id="5" name="圖片 4">
            <a:extLst>
              <a:ext uri="{FF2B5EF4-FFF2-40B4-BE49-F238E27FC236}">
                <a16:creationId xmlns:a16="http://schemas.microsoft.com/office/drawing/2014/main" id="{728225AB-7D28-4DFC-A6F3-4DBCD0EF29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364783"/>
            <a:ext cx="5436419" cy="3239886"/>
          </a:xfrm>
          <a:prstGeom prst="rect">
            <a:avLst/>
          </a:prstGeom>
        </p:spPr>
      </p:pic>
      <p:pic>
        <p:nvPicPr>
          <p:cNvPr id="7" name="圖片 6">
            <a:extLst>
              <a:ext uri="{FF2B5EF4-FFF2-40B4-BE49-F238E27FC236}">
                <a16:creationId xmlns:a16="http://schemas.microsoft.com/office/drawing/2014/main" id="{44894C6B-222D-42AE-BBE8-6672391C3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2575" y="1664292"/>
            <a:ext cx="4811225" cy="5193708"/>
          </a:xfrm>
          <a:prstGeom prst="rect">
            <a:avLst/>
          </a:prstGeom>
        </p:spPr>
      </p:pic>
    </p:spTree>
    <p:extLst>
      <p:ext uri="{BB962C8B-B14F-4D97-AF65-F5344CB8AC3E}">
        <p14:creationId xmlns:p14="http://schemas.microsoft.com/office/powerpoint/2010/main" val="811779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55965"/>
            <a:ext cx="10306722" cy="576770"/>
          </a:xfrm>
        </p:spPr>
        <p:txBody>
          <a:bodyPr>
            <a:noAutofit/>
          </a:bodyPr>
          <a:lstStyle/>
          <a:p>
            <a:r>
              <a:rPr lang="en-US" altLang="zh-TW" sz="3200" dirty="0">
                <a:latin typeface="Times New Roman" panose="02020603050405020304" pitchFamily="18" charset="0"/>
                <a:cs typeface="Times New Roman" panose="02020603050405020304" pitchFamily="18" charset="0"/>
              </a:rPr>
              <a:t>Dynamic time warping Barycenter Averaging(DBA)</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6" name="內容版面配置區 15">
            <a:extLst>
              <a:ext uri="{FF2B5EF4-FFF2-40B4-BE49-F238E27FC236}">
                <a16:creationId xmlns:a16="http://schemas.microsoft.com/office/drawing/2014/main" id="{D15215BF-681D-44FF-8885-7BE77F6F5785}"/>
              </a:ext>
            </a:extLst>
          </p:cNvPr>
          <p:cNvSpPr>
            <a:spLocks noGrp="1"/>
          </p:cNvSpPr>
          <p:nvPr>
            <p:ph idx="1"/>
          </p:nvPr>
        </p:nvSpPr>
        <p:spPr>
          <a:xfrm>
            <a:off x="838200" y="1253330"/>
            <a:ext cx="11027485" cy="5103020"/>
          </a:xfrm>
        </p:spPr>
        <p:txBody>
          <a:bodyPr/>
          <a:lstStyle/>
          <a:p>
            <a:r>
              <a:rPr lang="en-US" altLang="zh-TW" dirty="0"/>
              <a:t>DBA is the most recently proposed time series averaging method for DTW</a:t>
            </a:r>
          </a:p>
          <a:p>
            <a:r>
              <a:rPr lang="en-US" altLang="zh-TW" dirty="0"/>
              <a:t>DBA simultaneously averages all of the sequences together.</a:t>
            </a:r>
          </a:p>
          <a:p>
            <a:r>
              <a:rPr lang="en-US" altLang="zh-TW" dirty="0"/>
              <a:t>DBA consists of two important steps:</a:t>
            </a:r>
          </a:p>
          <a:p>
            <a:pPr marL="514350" indent="-514350">
              <a:buFont typeface="+mj-lt"/>
              <a:buAutoNum type="arabicPeriod"/>
            </a:pPr>
            <a:r>
              <a:rPr lang="en-US" altLang="zh-TW" dirty="0"/>
              <a:t>Compute DTW distances between the selected pivot sequence and other sequences to obtain the warping paths that will be used to align all of the sequences.</a:t>
            </a:r>
          </a:p>
          <a:p>
            <a:pPr marL="514350" indent="-514350">
              <a:buFont typeface="+mj-lt"/>
              <a:buAutoNum type="arabicPeriod"/>
            </a:pPr>
            <a:r>
              <a:rPr lang="en-US" altLang="zh-TW" dirty="0"/>
              <a:t>Once the warping paths are obtained, they are used to align all of the sequences and calculate the average sequence, and this new averaged sequence will be a new pivot in the next iteration.</a:t>
            </a:r>
            <a:endParaRPr lang="zh-TW" altLang="en-US" dirty="0"/>
          </a:p>
        </p:txBody>
      </p:sp>
    </p:spTree>
    <p:extLst>
      <p:ext uri="{BB962C8B-B14F-4D97-AF65-F5344CB8AC3E}">
        <p14:creationId xmlns:p14="http://schemas.microsoft.com/office/powerpoint/2010/main" val="1147094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55965"/>
            <a:ext cx="10306722" cy="576770"/>
          </a:xfrm>
        </p:spPr>
        <p:txBody>
          <a:bodyPr>
            <a:noAutofit/>
          </a:bodyPr>
          <a:lstStyle/>
          <a:p>
            <a:r>
              <a:rPr lang="en-US" altLang="zh-TW" sz="3200" dirty="0">
                <a:latin typeface="Times New Roman" panose="02020603050405020304" pitchFamily="18" charset="0"/>
                <a:cs typeface="Times New Roman" panose="02020603050405020304" pitchFamily="18" charset="0"/>
              </a:rPr>
              <a:t>The pseudocode of DBA</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6" name="內容版面配置區 15">
            <a:extLst>
              <a:ext uri="{FF2B5EF4-FFF2-40B4-BE49-F238E27FC236}">
                <a16:creationId xmlns:a16="http://schemas.microsoft.com/office/drawing/2014/main" id="{D15215BF-681D-44FF-8885-7BE77F6F5785}"/>
              </a:ext>
            </a:extLst>
          </p:cNvPr>
          <p:cNvSpPr>
            <a:spLocks noGrp="1"/>
          </p:cNvSpPr>
          <p:nvPr>
            <p:ph idx="1"/>
          </p:nvPr>
        </p:nvSpPr>
        <p:spPr>
          <a:xfrm>
            <a:off x="838200" y="1253331"/>
            <a:ext cx="10515600" cy="4351338"/>
          </a:xfrm>
        </p:spPr>
        <p:txBody>
          <a:bodyPr/>
          <a:lstStyle/>
          <a:p>
            <a:endParaRPr lang="zh-TW" altLang="en-US" dirty="0"/>
          </a:p>
        </p:txBody>
      </p:sp>
      <p:pic>
        <p:nvPicPr>
          <p:cNvPr id="6" name="圖片 5">
            <a:extLst>
              <a:ext uri="{FF2B5EF4-FFF2-40B4-BE49-F238E27FC236}">
                <a16:creationId xmlns:a16="http://schemas.microsoft.com/office/drawing/2014/main" id="{C216A686-F311-4FCA-988F-174D57E37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53331"/>
            <a:ext cx="4458322" cy="4801270"/>
          </a:xfrm>
          <a:prstGeom prst="rect">
            <a:avLst/>
          </a:prstGeom>
        </p:spPr>
      </p:pic>
      <p:pic>
        <p:nvPicPr>
          <p:cNvPr id="11" name="圖片 10">
            <a:extLst>
              <a:ext uri="{FF2B5EF4-FFF2-40B4-BE49-F238E27FC236}">
                <a16:creationId xmlns:a16="http://schemas.microsoft.com/office/drawing/2014/main" id="{A8940171-86FD-48EF-AD72-97233ADA1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7070" y="1251136"/>
            <a:ext cx="4467849" cy="4353533"/>
          </a:xfrm>
          <a:prstGeom prst="rect">
            <a:avLst/>
          </a:prstGeom>
        </p:spPr>
      </p:pic>
    </p:spTree>
    <p:extLst>
      <p:ext uri="{BB962C8B-B14F-4D97-AF65-F5344CB8AC3E}">
        <p14:creationId xmlns:p14="http://schemas.microsoft.com/office/powerpoint/2010/main" val="3783327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03333" y="283841"/>
            <a:ext cx="7886700" cy="742817"/>
          </a:xfrm>
        </p:spPr>
        <p:txBody>
          <a:bodyPr>
            <a:normAutofit/>
          </a:bodyPr>
          <a:lstStyle/>
          <a:p>
            <a:r>
              <a:rPr lang="en-US" altLang="zh-TW" sz="3600">
                <a:latin typeface="Times New Roman" panose="02020603050405020304" pitchFamily="18" charset="0"/>
                <a:cs typeface="Times New Roman" panose="02020603050405020304" pitchFamily="18" charset="0"/>
              </a:rPr>
              <a:t>EXPERIMENT AND 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603333" y="1093729"/>
            <a:ext cx="8489852" cy="5445183"/>
          </a:xfrm>
        </p:spPr>
        <p:txBody>
          <a:bodyPr vert="horz" lIns="91440" tIns="45720" rIns="91440" bIns="45720" rtlCol="0">
            <a:noAutofit/>
          </a:bodyPr>
          <a:lstStyle/>
          <a:p>
            <a:pPr>
              <a:lnSpc>
                <a:spcPct val="150000"/>
              </a:lnSpc>
              <a:spcBef>
                <a:spcPts val="0"/>
              </a:spcBef>
            </a:pPr>
            <a:endParaRPr lang="en-US" altLang="zh-TW" sz="2400" dirty="0">
              <a:latin typeface="Times New Roman" panose="02020603050405020304" pitchFamily="18" charset="0"/>
            </a:endParaRPr>
          </a:p>
        </p:txBody>
      </p:sp>
      <p:pic>
        <p:nvPicPr>
          <p:cNvPr id="8" name="圖片 7">
            <a:extLst>
              <a:ext uri="{FF2B5EF4-FFF2-40B4-BE49-F238E27FC236}">
                <a16:creationId xmlns:a16="http://schemas.microsoft.com/office/drawing/2014/main" id="{37CCDC96-67D9-4DFB-861A-E63ED83E8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785" y="1266523"/>
            <a:ext cx="4725607" cy="4784654"/>
          </a:xfrm>
          <a:prstGeom prst="rect">
            <a:avLst/>
          </a:prstGeom>
        </p:spPr>
      </p:pic>
      <p:pic>
        <p:nvPicPr>
          <p:cNvPr id="10" name="圖片 9">
            <a:extLst>
              <a:ext uri="{FF2B5EF4-FFF2-40B4-BE49-F238E27FC236}">
                <a16:creationId xmlns:a16="http://schemas.microsoft.com/office/drawing/2014/main" id="{FC3173CB-EF3D-4527-99E8-201084C1FD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1331" y="2736014"/>
            <a:ext cx="7259063" cy="3315163"/>
          </a:xfrm>
          <a:prstGeom prst="rect">
            <a:avLst/>
          </a:prstGeom>
        </p:spPr>
      </p:pic>
    </p:spTree>
    <p:extLst>
      <p:ext uri="{BB962C8B-B14F-4D97-AF65-F5344CB8AC3E}">
        <p14:creationId xmlns:p14="http://schemas.microsoft.com/office/powerpoint/2010/main" val="189535932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594</Words>
  <Application>Microsoft Office PowerPoint</Application>
  <PresentationFormat>寬螢幕</PresentationFormat>
  <Paragraphs>51</Paragraphs>
  <Slides>11</Slides>
  <Notes>10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新細明體</vt:lpstr>
      <vt:lpstr>標楷體</vt:lpstr>
      <vt:lpstr>Arial</vt:lpstr>
      <vt:lpstr>Calibri</vt:lpstr>
      <vt:lpstr>Calibri Light</vt:lpstr>
      <vt:lpstr>Times New Roman</vt:lpstr>
      <vt:lpstr>Office 佈景主題</vt:lpstr>
      <vt:lpstr>Fast and Accurate Template Averaging for Time Series Classification</vt:lpstr>
      <vt:lpstr>Abstract (1/3)</vt:lpstr>
      <vt:lpstr>Abstract (2/3)</vt:lpstr>
      <vt:lpstr>Abstract (3/3)</vt:lpstr>
      <vt:lpstr>Find initial pivoting sequence for each class</vt:lpstr>
      <vt:lpstr>Subclass splitting</vt:lpstr>
      <vt:lpstr>Subclass splitting</vt:lpstr>
      <vt:lpstr>Different Pivots and Nearest-Neighbor Points</vt:lpstr>
      <vt:lpstr>Dynamic time warping Barycenter Averaging(DBA)</vt:lpstr>
      <vt:lpstr>The pseudocode of DBA</vt:lpstr>
      <vt:lpstr>EXPERIMENT AND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44</cp:revision>
  <dcterms:created xsi:type="dcterms:W3CDTF">2018-10-30T09:09:31Z</dcterms:created>
  <dcterms:modified xsi:type="dcterms:W3CDTF">2018-10-30T09:32:19Z</dcterms:modified>
</cp:coreProperties>
</file>