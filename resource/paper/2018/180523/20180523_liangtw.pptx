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8" r:id="rId3"/>
    <p:sldId id="265" r:id="rId4"/>
    <p:sldId id="271" r:id="rId5"/>
    <p:sldId id="272" r:id="rId6"/>
    <p:sldId id="274" r:id="rId7"/>
    <p:sldId id="273" r:id="rId8"/>
    <p:sldId id="275" r:id="rId9"/>
    <p:sldId id="276" r:id="rId10"/>
    <p:sldId id="279" r:id="rId11"/>
    <p:sldId id="280" r:id="rId12"/>
    <p:sldId id="278" r:id="rId13"/>
    <p:sldId id="289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88876" autoAdjust="0"/>
  </p:normalViewPr>
  <p:slideViewPr>
    <p:cSldViewPr snapToGrid="0">
      <p:cViewPr varScale="1">
        <p:scale>
          <a:sx n="83" d="100"/>
          <a:sy n="83" d="100"/>
        </p:scale>
        <p:origin x="504" y="6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1782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2018/5/23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9449" y="0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Subsequence Combinatorics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95298" y="1995137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Cees </a:t>
            </a:r>
            <a:r>
              <a:rPr lang="en-US" altLang="zh-TW" sz="28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Elzinga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, Sven </a:t>
            </a:r>
            <a:r>
              <a:rPr lang="en-US" altLang="zh-TW" sz="28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Rahmann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and Hui Wang</a:t>
            </a:r>
          </a:p>
          <a:p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 Social Science Research Methods, VU University Amsterdam, The Netherlands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Bioinformatics for High-throughput Technologies, Computer Science 11, TU Dortmund, Germany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School of Computing and Mathematics, University of Ulster, Northern Ireland, UK</a:t>
            </a:r>
          </a:p>
          <a:p>
            <a:endParaRPr lang="en-US" altLang="zh-TW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Theoretical Computer Science 409 (2008</a:t>
            </a:r>
            <a:r>
              <a:rPr lang="fr-FR" altLang="zh-TW" sz="200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, 394–404</a:t>
            </a:r>
            <a:endParaRPr lang="fr-FR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Ting-Wei Liang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 2018/05/23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37039" y="1565566"/>
            <a:ext cx="78867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subsequence is obtained from a string by deleting any number of characters; thus in contrast to a substring, a subsequence is not necessarily a contiguous part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string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Counting subsequences under various constraints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become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to biological sequence analysis, to machine learning, to coding theory, to the analysis of categorical time series in the social sciences, and to the theory of word complexity.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565566"/>
            <a:ext cx="78867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We present theorems that lead to efficient dynamic programming algorithms to count (1) distinct subsequences in a string, (2) distinct common subsequences of two strings, (3) matching joint embeddings in two strings, (4) distinct subsequences with a given minimum span, and (5) sequences generated by a string allowing characters to come in runs of a length that is bounded from above.</a:t>
            </a:r>
          </a:p>
          <a:p>
            <a:pPr>
              <a:lnSpc>
                <a:spcPct val="120000"/>
              </a:lnSpc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04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distinct Subsequences in a String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="" xmlns:a16="http://schemas.microsoft.com/office/drawing/2014/main" id="{57B994F5-5E03-472A-AF88-4BC70D2A90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036" y="2348918"/>
            <a:ext cx="8367482" cy="2442933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74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distinct Subsequences in a String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="" xmlns:a16="http://schemas.microsoft.com/office/drawing/2014/main" id="{594E5072-F11D-4E7A-87F7-117024478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444" y="2354042"/>
            <a:ext cx="7173111" cy="336456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="" xmlns:a16="http://schemas.microsoft.com/office/drawing/2014/main" id="{A331CCEE-CE6E-42B1-B58F-AD4C6388B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7" y="1818626"/>
            <a:ext cx="2331288" cy="5354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="" xmlns:a16="http://schemas.microsoft.com/office/drawing/2014/main" id="{10E06CE6-BAB8-4007-B3A7-E62019DA62FE}"/>
                  </a:ext>
                </a:extLst>
              </p:cNvPr>
              <p:cNvSpPr txBox="1"/>
              <p:nvPr/>
            </p:nvSpPr>
            <p:spPr>
              <a:xfrm>
                <a:off x="752476" y="5846543"/>
                <a:ext cx="304198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0E06CE6-BAB8-4007-B3A7-E62019DA6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76" y="5846543"/>
                <a:ext cx="3041987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08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distinct Subsequences with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k-length in a String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="" xmlns:a16="http://schemas.microsoft.com/office/drawing/2014/main" id="{141CC11A-1678-42E3-ACAA-9174E5AE7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709645"/>
            <a:ext cx="9287559" cy="178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2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="" xmlns:a16="http://schemas.microsoft.com/office/drawing/2014/main" id="{A331CCEE-CE6E-42B1-B58F-AD4C6388B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57" y="0"/>
            <a:ext cx="2317895" cy="532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="" xmlns:a16="http://schemas.microsoft.com/office/drawing/2014/main" id="{10E06CE6-BAB8-4007-B3A7-E62019DA62FE}"/>
                  </a:ext>
                </a:extLst>
              </p:cNvPr>
              <p:cNvSpPr txBox="1"/>
              <p:nvPr/>
            </p:nvSpPr>
            <p:spPr>
              <a:xfrm>
                <a:off x="0" y="6244498"/>
                <a:ext cx="349308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2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zh-TW" altLang="en-US" sz="1600" i="1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0E06CE6-BAB8-4007-B3A7-E62019DA6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244498"/>
                <a:ext cx="3493082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="" xmlns:a16="http://schemas.microsoft.com/office/drawing/2014/main" id="{1393A65E-49DB-43EB-A4EE-D8B7AB7F05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928627"/>
                  </p:ext>
                </p:extLst>
              </p:nvPr>
            </p:nvGraphicFramePr>
            <p:xfrm>
              <a:off x="914400" y="613502"/>
              <a:ext cx="7113865" cy="49898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1897">
                      <a:extLst>
                        <a:ext uri="{9D8B030D-6E8A-4147-A177-3AD203B41FA5}">
                          <a16:colId xmlns="" xmlns:a16="http://schemas.microsoft.com/office/drawing/2014/main" val="4208231420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="" xmlns:a16="http://schemas.microsoft.com/office/drawing/2014/main" val="371527499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="" xmlns:a16="http://schemas.microsoft.com/office/drawing/2014/main" val="767160821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="" xmlns:a16="http://schemas.microsoft.com/office/drawing/2014/main" val="2917597921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="" xmlns:a16="http://schemas.microsoft.com/office/drawing/2014/main" val="1992778028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="" xmlns:a16="http://schemas.microsoft.com/office/drawing/2014/main" val="1072368438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="" xmlns:a16="http://schemas.microsoft.com/office/drawing/2014/main" val="2859730558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="" xmlns:a16="http://schemas.microsoft.com/office/drawing/2014/main" val="2570258931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="" xmlns:a16="http://schemas.microsoft.com/office/drawing/2014/main" val="1023314211"/>
                        </a:ext>
                      </a:extLst>
                    </a:gridCol>
                  </a:tblGrid>
                  <a:tr h="6237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69164404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414998845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TW" sz="24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470087827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𝜙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|0)</m:t>
                                </m:r>
                              </m:oMath>
                            </m:oMathPara>
                          </a14:m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737575525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𝜙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|1)</m:t>
                                </m:r>
                              </m:oMath>
                            </m:oMathPara>
                          </a14:m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764124388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𝜙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|2)</m:t>
                                </m:r>
                              </m:oMath>
                            </m:oMathPara>
                          </a14:m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460070731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𝜙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|3)</m:t>
                                </m:r>
                              </m:oMath>
                            </m:oMathPara>
                          </a14:m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054174191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𝜙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|4)</m:t>
                                </m:r>
                              </m:oMath>
                            </m:oMathPara>
                          </a14:m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2075846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1393A65E-49DB-43EB-A4EE-D8B7AB7F05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928627"/>
                  </p:ext>
                </p:extLst>
              </p:nvPr>
            </p:nvGraphicFramePr>
            <p:xfrm>
              <a:off x="914400" y="613502"/>
              <a:ext cx="7113865" cy="49898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1897">
                      <a:extLst>
                        <a:ext uri="{9D8B030D-6E8A-4147-A177-3AD203B41FA5}">
                          <a16:colId xmlns:a16="http://schemas.microsoft.com/office/drawing/2014/main" val="4208231420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:a16="http://schemas.microsoft.com/office/drawing/2014/main" val="371527499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:a16="http://schemas.microsoft.com/office/drawing/2014/main" val="767160821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:a16="http://schemas.microsoft.com/office/drawing/2014/main" val="2917597921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:a16="http://schemas.microsoft.com/office/drawing/2014/main" val="1992778028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:a16="http://schemas.microsoft.com/office/drawing/2014/main" val="1072368438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:a16="http://schemas.microsoft.com/office/drawing/2014/main" val="2859730558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:a16="http://schemas.microsoft.com/office/drawing/2014/main" val="2570258931"/>
                        </a:ext>
                      </a:extLst>
                    </a:gridCol>
                    <a:gridCol w="742746">
                      <a:extLst>
                        <a:ext uri="{9D8B030D-6E8A-4147-A177-3AD203B41FA5}">
                          <a16:colId xmlns:a16="http://schemas.microsoft.com/office/drawing/2014/main" val="1023314211"/>
                        </a:ext>
                      </a:extLst>
                    </a:gridCol>
                  </a:tblGrid>
                  <a:tr h="6237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164404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107843" r="-508854" b="-6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4998845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205825" r="-508854" b="-4980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0087827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308824" r="-508854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37575525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404854" r="-508854" b="-2990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64124388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509804" r="-508854" b="-2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60070731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603883" r="-50885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4174191"/>
                      </a:ext>
                    </a:extLst>
                  </a:tr>
                  <a:tr h="62373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710784" r="-508854" b="-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zh-TW" altLang="en-US" sz="24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075846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579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of distinct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subseqeunce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>
                <a:extLst>
                  <a:ext uri="{FF2B5EF4-FFF2-40B4-BE49-F238E27FC236}">
                    <a16:creationId xmlns="" xmlns:a16="http://schemas.microsoft.com/office/drawing/2014/main" id="{F0485B21-6C81-4B63-AE00-7457F80124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3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  <m:r>
                      <a:rPr lang="en-US" altLang="zh-TW" sz="3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d>
                  </m:oMath>
                </a14:m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𝑎𝑏𝑐𝑑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𝑎𝑏𝑐𝑑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𝑎𝑏𝑐𝑑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𝑎𝑏𝑐</m:t>
                    </m:r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F0485B21-6C81-4B63-AE00-7457F80124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7" t="-30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F4C648A3-B8C0-4F15-B327-A49EB7CFC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35" y="3571876"/>
            <a:ext cx="5895975" cy="150495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EF6DFE8C-9DC6-420A-BCD9-15737B3C6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845734"/>
            <a:ext cx="558165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4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distinct common subsequence of two strings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="" xmlns:a16="http://schemas.microsoft.com/office/drawing/2014/main" id="{CAF6E6D2-2840-437F-94B2-2DF9D60C9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177" y="1690689"/>
            <a:ext cx="7316644" cy="23102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="" xmlns:a16="http://schemas.microsoft.com/office/drawing/2014/main" id="{4B71331B-3709-4FEE-8C36-745FBC2C4F1A}"/>
                  </a:ext>
                </a:extLst>
              </p:cNvPr>
              <p:cNvSpPr txBox="1"/>
              <p:nvPr/>
            </p:nvSpPr>
            <p:spPr>
              <a:xfrm>
                <a:off x="-321315" y="6277303"/>
                <a:ext cx="35997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zh-TW" altLang="en-US" sz="1400" i="1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B71331B-3709-4FEE-8C36-745FBC2C4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315" y="6277303"/>
                <a:ext cx="359970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="" xmlns:a16="http://schemas.microsoft.com/office/drawing/2014/main" id="{21474114-8E7B-41EE-A9FE-B1E77DB46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573598"/>
              </p:ext>
            </p:extLst>
          </p:nvPr>
        </p:nvGraphicFramePr>
        <p:xfrm>
          <a:off x="2627828" y="4400676"/>
          <a:ext cx="3454190" cy="589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838">
                  <a:extLst>
                    <a:ext uri="{9D8B030D-6E8A-4147-A177-3AD203B41FA5}">
                      <a16:colId xmlns="" xmlns:a16="http://schemas.microsoft.com/office/drawing/2014/main" val="45761045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210178035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643255050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4213539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808847816"/>
                    </a:ext>
                  </a:extLst>
                </a:gridCol>
              </a:tblGrid>
              <a:tr h="5899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c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c</a:t>
                      </a:r>
                      <a:endParaRPr lang="zh-TW" altLang="en-US" sz="2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02346839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="" xmlns:a16="http://schemas.microsoft.com/office/drawing/2014/main" id="{40FA635D-E050-48C0-90A3-8FE53476F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864823"/>
              </p:ext>
            </p:extLst>
          </p:nvPr>
        </p:nvGraphicFramePr>
        <p:xfrm>
          <a:off x="2627828" y="5369769"/>
          <a:ext cx="3454190" cy="589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838">
                  <a:extLst>
                    <a:ext uri="{9D8B030D-6E8A-4147-A177-3AD203B41FA5}">
                      <a16:colId xmlns="" xmlns:a16="http://schemas.microsoft.com/office/drawing/2014/main" val="45761045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210178035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643255050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4213539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808847816"/>
                    </a:ext>
                  </a:extLst>
                </a:gridCol>
              </a:tblGrid>
              <a:tr h="5899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02346839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="" xmlns:a16="http://schemas.microsoft.com/office/drawing/2014/main" id="{4873AD8F-1394-4A1E-B8D8-4F1ADF46A3A2}"/>
              </a:ext>
            </a:extLst>
          </p:cNvPr>
          <p:cNvSpPr txBox="1"/>
          <p:nvPr/>
        </p:nvSpPr>
        <p:spPr>
          <a:xfrm>
            <a:off x="1879134" y="4354312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x</a:t>
            </a:r>
            <a:endParaRPr lang="zh-TW" altLang="en-US" sz="2800" dirty="0"/>
          </a:p>
        </p:txBody>
      </p:sp>
      <p:sp>
        <p:nvSpPr>
          <p:cNvPr id="12" name="文字方塊 11">
            <a:extLst>
              <a:ext uri="{FF2B5EF4-FFF2-40B4-BE49-F238E27FC236}">
                <a16:creationId xmlns="" xmlns:a16="http://schemas.microsoft.com/office/drawing/2014/main" id="{3C50BFD2-370D-4A4F-91B8-6B1B3A6CD328}"/>
              </a:ext>
            </a:extLst>
          </p:cNvPr>
          <p:cNvSpPr txBox="1"/>
          <p:nvPr/>
        </p:nvSpPr>
        <p:spPr>
          <a:xfrm>
            <a:off x="1879134" y="5315807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y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="" xmlns:a16="http://schemas.microsoft.com/office/drawing/2014/main" id="{FE75BEB7-8E5D-46A3-9118-5266CABED57D}"/>
                  </a:ext>
                </a:extLst>
              </p:cNvPr>
              <p:cNvSpPr txBox="1"/>
              <p:nvPr/>
            </p:nvSpPr>
            <p:spPr>
              <a:xfrm>
                <a:off x="4744704" y="3898157"/>
                <a:ext cx="6297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E75BEB7-8E5D-46A3-9118-5266CABED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704" y="3898157"/>
                <a:ext cx="62978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49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distinct common subsequence of two strings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="" xmlns:a16="http://schemas.microsoft.com/office/drawing/2014/main" id="{CAF6E6D2-2840-437F-94B2-2DF9D60C9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177" y="1690689"/>
            <a:ext cx="7316644" cy="23102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="" xmlns:a16="http://schemas.microsoft.com/office/drawing/2014/main" id="{4B71331B-3709-4FEE-8C36-745FBC2C4F1A}"/>
                  </a:ext>
                </a:extLst>
              </p:cNvPr>
              <p:cNvSpPr txBox="1"/>
              <p:nvPr/>
            </p:nvSpPr>
            <p:spPr>
              <a:xfrm>
                <a:off x="-321315" y="6277303"/>
                <a:ext cx="35997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zh-TW" altLang="en-US" sz="1400" i="1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B71331B-3709-4FEE-8C36-745FBC2C4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315" y="6277303"/>
                <a:ext cx="359970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="" xmlns:a16="http://schemas.microsoft.com/office/drawing/2014/main" id="{21474114-8E7B-41EE-A9FE-B1E77DB46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840444"/>
              </p:ext>
            </p:extLst>
          </p:nvPr>
        </p:nvGraphicFramePr>
        <p:xfrm>
          <a:off x="2627828" y="4400676"/>
          <a:ext cx="3454190" cy="589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838">
                  <a:extLst>
                    <a:ext uri="{9D8B030D-6E8A-4147-A177-3AD203B41FA5}">
                      <a16:colId xmlns="" xmlns:a16="http://schemas.microsoft.com/office/drawing/2014/main" val="45761045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210178035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643255050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4213539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808847816"/>
                    </a:ext>
                  </a:extLst>
                </a:gridCol>
              </a:tblGrid>
              <a:tr h="5899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c</a:t>
                      </a:r>
                      <a:endParaRPr lang="zh-TW" altLang="en-US" sz="2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02346839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="" xmlns:a16="http://schemas.microsoft.com/office/drawing/2014/main" id="{40FA635D-E050-48C0-90A3-8FE53476F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47490"/>
              </p:ext>
            </p:extLst>
          </p:nvPr>
        </p:nvGraphicFramePr>
        <p:xfrm>
          <a:off x="2627828" y="5369769"/>
          <a:ext cx="3454190" cy="589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838">
                  <a:extLst>
                    <a:ext uri="{9D8B030D-6E8A-4147-A177-3AD203B41FA5}">
                      <a16:colId xmlns="" xmlns:a16="http://schemas.microsoft.com/office/drawing/2014/main" val="45761045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210178035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643255050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4213539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808847816"/>
                    </a:ext>
                  </a:extLst>
                </a:gridCol>
              </a:tblGrid>
              <a:tr h="5899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02346839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="" xmlns:a16="http://schemas.microsoft.com/office/drawing/2014/main" id="{4873AD8F-1394-4A1E-B8D8-4F1ADF46A3A2}"/>
              </a:ext>
            </a:extLst>
          </p:cNvPr>
          <p:cNvSpPr txBox="1"/>
          <p:nvPr/>
        </p:nvSpPr>
        <p:spPr>
          <a:xfrm>
            <a:off x="1879134" y="4354312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x</a:t>
            </a:r>
            <a:endParaRPr lang="zh-TW" altLang="en-US" sz="2800" dirty="0"/>
          </a:p>
        </p:txBody>
      </p:sp>
      <p:sp>
        <p:nvSpPr>
          <p:cNvPr id="12" name="文字方塊 11">
            <a:extLst>
              <a:ext uri="{FF2B5EF4-FFF2-40B4-BE49-F238E27FC236}">
                <a16:creationId xmlns="" xmlns:a16="http://schemas.microsoft.com/office/drawing/2014/main" id="{3C50BFD2-370D-4A4F-91B8-6B1B3A6CD328}"/>
              </a:ext>
            </a:extLst>
          </p:cNvPr>
          <p:cNvSpPr txBox="1"/>
          <p:nvPr/>
        </p:nvSpPr>
        <p:spPr>
          <a:xfrm>
            <a:off x="1879134" y="5315807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y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="" xmlns:a16="http://schemas.microsoft.com/office/drawing/2014/main" id="{607C6C64-13C0-4366-A3B2-9CD1D6DB970F}"/>
                  </a:ext>
                </a:extLst>
              </p:cNvPr>
              <p:cNvSpPr txBox="1"/>
              <p:nvPr/>
            </p:nvSpPr>
            <p:spPr>
              <a:xfrm>
                <a:off x="4040029" y="5895026"/>
                <a:ext cx="640367" cy="5572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07C6C64-13C0-4366-A3B2-9CD1D6DB9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029" y="5895026"/>
                <a:ext cx="640367" cy="5572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66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distinct common subsequence of two strings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="" xmlns:a16="http://schemas.microsoft.com/office/drawing/2014/main" id="{CAF6E6D2-2840-437F-94B2-2DF9D60C9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176" y="1690689"/>
            <a:ext cx="7316644" cy="23102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="" xmlns:a16="http://schemas.microsoft.com/office/drawing/2014/main" id="{4B71331B-3709-4FEE-8C36-745FBC2C4F1A}"/>
                  </a:ext>
                </a:extLst>
              </p:cNvPr>
              <p:cNvSpPr txBox="1"/>
              <p:nvPr/>
            </p:nvSpPr>
            <p:spPr>
              <a:xfrm>
                <a:off x="-321315" y="6277303"/>
                <a:ext cx="35997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zh-TW" altLang="en-US" sz="1400" i="1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B71331B-3709-4FEE-8C36-745FBC2C4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315" y="6277303"/>
                <a:ext cx="359970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="" xmlns:a16="http://schemas.microsoft.com/office/drawing/2014/main" id="{21474114-8E7B-41EE-A9FE-B1E77DB46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042304"/>
              </p:ext>
            </p:extLst>
          </p:nvPr>
        </p:nvGraphicFramePr>
        <p:xfrm>
          <a:off x="2627828" y="4400676"/>
          <a:ext cx="3454190" cy="589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838">
                  <a:extLst>
                    <a:ext uri="{9D8B030D-6E8A-4147-A177-3AD203B41FA5}">
                      <a16:colId xmlns="" xmlns:a16="http://schemas.microsoft.com/office/drawing/2014/main" val="45761045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210178035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643255050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4213539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808847816"/>
                    </a:ext>
                  </a:extLst>
                </a:gridCol>
              </a:tblGrid>
              <a:tr h="5899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c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c</a:t>
                      </a:r>
                      <a:endParaRPr lang="zh-TW" altLang="en-US" sz="2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02346839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="" xmlns:a16="http://schemas.microsoft.com/office/drawing/2014/main" id="{40FA635D-E050-48C0-90A3-8FE53476F3EA}"/>
              </a:ext>
            </a:extLst>
          </p:cNvPr>
          <p:cNvGraphicFramePr>
            <a:graphicFrameLocks noGrp="1"/>
          </p:cNvGraphicFramePr>
          <p:nvPr/>
        </p:nvGraphicFramePr>
        <p:xfrm>
          <a:off x="2627828" y="5369769"/>
          <a:ext cx="3454190" cy="589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838">
                  <a:extLst>
                    <a:ext uri="{9D8B030D-6E8A-4147-A177-3AD203B41FA5}">
                      <a16:colId xmlns="" xmlns:a16="http://schemas.microsoft.com/office/drawing/2014/main" val="45761045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210178035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643255050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42135398"/>
                    </a:ext>
                  </a:extLst>
                </a:gridCol>
                <a:gridCol w="690838">
                  <a:extLst>
                    <a:ext uri="{9D8B030D-6E8A-4147-A177-3AD203B41FA5}">
                      <a16:colId xmlns="" xmlns:a16="http://schemas.microsoft.com/office/drawing/2014/main" val="3808847816"/>
                    </a:ext>
                  </a:extLst>
                </a:gridCol>
              </a:tblGrid>
              <a:tr h="5899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b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</a:t>
                      </a:r>
                      <a:endParaRPr lang="zh-TW" alt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02346839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="" xmlns:a16="http://schemas.microsoft.com/office/drawing/2014/main" id="{4873AD8F-1394-4A1E-B8D8-4F1ADF46A3A2}"/>
              </a:ext>
            </a:extLst>
          </p:cNvPr>
          <p:cNvSpPr txBox="1"/>
          <p:nvPr/>
        </p:nvSpPr>
        <p:spPr>
          <a:xfrm>
            <a:off x="1879134" y="4354312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x</a:t>
            </a:r>
            <a:endParaRPr lang="zh-TW" altLang="en-US" sz="2800" dirty="0"/>
          </a:p>
        </p:txBody>
      </p:sp>
      <p:sp>
        <p:nvSpPr>
          <p:cNvPr id="12" name="文字方塊 11">
            <a:extLst>
              <a:ext uri="{FF2B5EF4-FFF2-40B4-BE49-F238E27FC236}">
                <a16:creationId xmlns="" xmlns:a16="http://schemas.microsoft.com/office/drawing/2014/main" id="{3C50BFD2-370D-4A4F-91B8-6B1B3A6CD328}"/>
              </a:ext>
            </a:extLst>
          </p:cNvPr>
          <p:cNvSpPr txBox="1"/>
          <p:nvPr/>
        </p:nvSpPr>
        <p:spPr>
          <a:xfrm>
            <a:off x="1879134" y="5315807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y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="" xmlns:a16="http://schemas.microsoft.com/office/drawing/2014/main" id="{89FBFCC1-2CCE-43E3-B72A-68A557B3B680}"/>
                  </a:ext>
                </a:extLst>
              </p:cNvPr>
              <p:cNvSpPr txBox="1"/>
              <p:nvPr/>
            </p:nvSpPr>
            <p:spPr>
              <a:xfrm>
                <a:off x="4040029" y="3890514"/>
                <a:ext cx="6297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9FBFCC1-2CCE-43E3-B72A-68A557B3B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029" y="3890514"/>
                <a:ext cx="62978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="" xmlns:a16="http://schemas.microsoft.com/office/drawing/2014/main" id="{6AEE2372-846C-4DAD-947A-6ECE4742340A}"/>
                  </a:ext>
                </a:extLst>
              </p:cNvPr>
              <p:cNvSpPr txBox="1"/>
              <p:nvPr/>
            </p:nvSpPr>
            <p:spPr>
              <a:xfrm>
                <a:off x="4094315" y="5862783"/>
                <a:ext cx="640367" cy="5572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AEE2372-846C-4DAD-947A-6ECE47423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315" y="5862783"/>
                <a:ext cx="640367" cy="5572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55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distinct common subsequence of two strings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="" xmlns:a16="http://schemas.microsoft.com/office/drawing/2014/main" id="{2FBB7A5F-047F-4B41-A9F9-3D426ACBB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751" y="1979800"/>
            <a:ext cx="6654497" cy="341787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="" xmlns:a16="http://schemas.microsoft.com/office/drawing/2014/main" id="{77D47456-CD4E-4933-9D3C-D96250AA65BA}"/>
              </a:ext>
            </a:extLst>
          </p:cNvPr>
          <p:cNvSpPr txBox="1"/>
          <p:nvPr/>
        </p:nvSpPr>
        <p:spPr>
          <a:xfrm>
            <a:off x="6550056" y="1690689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   c    a      b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="" xmlns:a16="http://schemas.microsoft.com/office/drawing/2014/main" id="{0A974DC2-24DA-42AD-AA43-9382B929DC34}"/>
              </a:ext>
            </a:extLst>
          </p:cNvPr>
          <p:cNvSpPr txBox="1"/>
          <p:nvPr/>
        </p:nvSpPr>
        <p:spPr>
          <a:xfrm>
            <a:off x="5587068" y="284408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="" xmlns:a16="http://schemas.microsoft.com/office/drawing/2014/main" id="{E296AE89-03A8-49D2-A6C1-CA7F4D3EDE28}"/>
              </a:ext>
            </a:extLst>
          </p:cNvPr>
          <p:cNvSpPr txBox="1"/>
          <p:nvPr/>
        </p:nvSpPr>
        <p:spPr>
          <a:xfrm>
            <a:off x="5587068" y="318396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="" xmlns:a16="http://schemas.microsoft.com/office/drawing/2014/main" id="{579C522D-F554-4540-ACF9-3852992CFABD}"/>
              </a:ext>
            </a:extLst>
          </p:cNvPr>
          <p:cNvSpPr txBox="1"/>
          <p:nvPr/>
        </p:nvSpPr>
        <p:spPr>
          <a:xfrm>
            <a:off x="5587068" y="35445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="" xmlns:a16="http://schemas.microsoft.com/office/drawing/2014/main" id="{3B9456D2-E2B9-448A-979E-9574CEE61F22}"/>
              </a:ext>
            </a:extLst>
          </p:cNvPr>
          <p:cNvSpPr txBox="1"/>
          <p:nvPr/>
        </p:nvSpPr>
        <p:spPr>
          <a:xfrm>
            <a:off x="5587068" y="3913912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="" xmlns:a16="http://schemas.microsoft.com/office/drawing/2014/main" id="{0BAF7FF1-2BF7-49B7-B827-5395D6D1C064}"/>
              </a:ext>
            </a:extLst>
          </p:cNvPr>
          <p:cNvSpPr txBox="1"/>
          <p:nvPr/>
        </p:nvSpPr>
        <p:spPr>
          <a:xfrm>
            <a:off x="5587068" y="425984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="" xmlns:a16="http://schemas.microsoft.com/office/drawing/2014/main" id="{41A3BC8B-EB1F-4B9A-82BF-EEF79E261FD3}"/>
              </a:ext>
            </a:extLst>
          </p:cNvPr>
          <p:cNvSpPr txBox="1"/>
          <p:nvPr/>
        </p:nvSpPr>
        <p:spPr>
          <a:xfrm>
            <a:off x="5587068" y="4609967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="" xmlns:a16="http://schemas.microsoft.com/office/drawing/2014/main" id="{35A0813F-C33E-40B2-A040-2F514947BAF5}"/>
              </a:ext>
            </a:extLst>
          </p:cNvPr>
          <p:cNvSpPr txBox="1"/>
          <p:nvPr/>
        </p:nvSpPr>
        <p:spPr>
          <a:xfrm>
            <a:off x="5587068" y="497511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="" xmlns:a16="http://schemas.microsoft.com/office/drawing/2014/main" id="{D7A3B294-E5DA-4404-B309-8363B8BE595C}"/>
              </a:ext>
            </a:extLst>
          </p:cNvPr>
          <p:cNvSpPr txBox="1"/>
          <p:nvPr/>
        </p:nvSpPr>
        <p:spPr>
          <a:xfrm>
            <a:off x="1454853" y="6171685"/>
            <a:ext cx="593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N(5,4) = N(4,4) + N(4,3) – N(1,3) = 7 + 6 – 2 = 11 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="" xmlns:a16="http://schemas.microsoft.com/office/drawing/2014/main" id="{AF466767-B15C-4BB2-9DF6-C01C9AA7E968}"/>
              </a:ext>
            </a:extLst>
          </p:cNvPr>
          <p:cNvSpPr txBox="1"/>
          <p:nvPr/>
        </p:nvSpPr>
        <p:spPr>
          <a:xfrm>
            <a:off x="1454853" y="5399071"/>
            <a:ext cx="3410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N(3,2) = N(2,2) = 2 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="" xmlns:a16="http://schemas.microsoft.com/office/drawing/2014/main" id="{F56C78A7-54BD-4D50-884B-0D8A5419D422}"/>
              </a:ext>
            </a:extLst>
          </p:cNvPr>
          <p:cNvSpPr txBox="1"/>
          <p:nvPr/>
        </p:nvSpPr>
        <p:spPr>
          <a:xfrm>
            <a:off x="1454853" y="5785378"/>
            <a:ext cx="5600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N(4,3) = N(3,3) + N(3,1) = 4 + 2 = 6</a:t>
            </a:r>
            <a:endParaRPr lang="zh-TW" altLang="en-US" dirty="0"/>
          </a:p>
        </p:txBody>
      </p:sp>
      <p:sp>
        <p:nvSpPr>
          <p:cNvPr id="24" name="橢圓 23">
            <a:extLst>
              <a:ext uri="{FF2B5EF4-FFF2-40B4-BE49-F238E27FC236}">
                <a16:creationId xmlns="" xmlns:a16="http://schemas.microsoft.com/office/drawing/2014/main" id="{27ECD524-2610-4130-8179-CF41FA4348C0}"/>
              </a:ext>
            </a:extLst>
          </p:cNvPr>
          <p:cNvSpPr/>
          <p:nvPr/>
        </p:nvSpPr>
        <p:spPr>
          <a:xfrm>
            <a:off x="6845416" y="3236496"/>
            <a:ext cx="306494" cy="2858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="" xmlns:a16="http://schemas.microsoft.com/office/drawing/2014/main" id="{66D22507-990F-4A8B-BCFB-C36448FD3FB6}"/>
              </a:ext>
            </a:extLst>
          </p:cNvPr>
          <p:cNvSpPr/>
          <p:nvPr/>
        </p:nvSpPr>
        <p:spPr>
          <a:xfrm>
            <a:off x="7151910" y="3955641"/>
            <a:ext cx="306494" cy="2858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="" xmlns:a16="http://schemas.microsoft.com/office/drawing/2014/main" id="{FC1C1C96-A665-4807-BD2C-4FD2EAD96902}"/>
              </a:ext>
            </a:extLst>
          </p:cNvPr>
          <p:cNvSpPr/>
          <p:nvPr/>
        </p:nvSpPr>
        <p:spPr>
          <a:xfrm>
            <a:off x="7486650" y="4324093"/>
            <a:ext cx="306494" cy="2858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293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 distinct k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length common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of two strings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13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="" xmlns:a16="http://schemas.microsoft.com/office/drawing/2014/main" id="{4B71331B-3709-4FEE-8C36-745FBC2C4F1A}"/>
                  </a:ext>
                </a:extLst>
              </p:cNvPr>
              <p:cNvSpPr txBox="1"/>
              <p:nvPr/>
            </p:nvSpPr>
            <p:spPr>
              <a:xfrm>
                <a:off x="-321315" y="6277303"/>
                <a:ext cx="35997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zh-TW" altLang="en-US" sz="1400" i="1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B71331B-3709-4FEE-8C36-745FBC2C4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315" y="6277303"/>
                <a:ext cx="3599703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8257" y="1690689"/>
            <a:ext cx="8352343" cy="224256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66" y="4173077"/>
            <a:ext cx="6747933" cy="19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6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matching joint embeddings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9CF4E80-5859-4E39-A40B-ED9B772D8B0F}" type="slidenum">
              <a:rPr lang="zh-TW" altLang="en-US" smtClean="0"/>
              <a:t>14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14">
                <a:extLst>
                  <a:ext uri="{FF2B5EF4-FFF2-40B4-BE49-F238E27FC236}">
                    <a16:creationId xmlns="" xmlns:a16="http://schemas.microsoft.com/office/drawing/2014/main" id="{57A3D050-C9A4-4948-A682-CE7BC5F935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 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= TEUTEUTEU    ,    y = TEUU   ,    u = TEU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Embeddings of u in x,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10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Embeddings of u in 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內容版面配置區 14">
                <a:extLst>
                  <a:ext uri="{FF2B5EF4-FFF2-40B4-BE49-F238E27FC236}">
                    <a16:creationId xmlns:a16="http://schemas.microsoft.com/office/drawing/2014/main" id="{57A3D050-C9A4-4948-A682-CE7BC5F935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1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="" xmlns:a16="http://schemas.microsoft.com/office/drawing/2014/main" id="{49CACD09-FF50-4A7B-8CC9-2D00292B1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659" y="4613946"/>
            <a:ext cx="4436681" cy="100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56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matching joint embeddings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9CF4E80-5859-4E39-A40B-ED9B772D8B0F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15" name="內容版面配置區 14">
            <a:extLst>
              <a:ext uri="{FF2B5EF4-FFF2-40B4-BE49-F238E27FC236}">
                <a16:creationId xmlns="" xmlns:a16="http://schemas.microsoft.com/office/drawing/2014/main" id="{57A3D050-C9A4-4948-A682-CE7BC5F9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 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="" xmlns:a16="http://schemas.microsoft.com/office/drawing/2014/main" id="{801898E0-98A6-4E7E-98A6-863F8A515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112" y="1690689"/>
            <a:ext cx="9211112" cy="1642244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="" xmlns:a16="http://schemas.microsoft.com/office/drawing/2014/main" id="{079FB7A7-55BD-403B-878D-62C74DFA2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786931"/>
              </p:ext>
            </p:extLst>
          </p:nvPr>
        </p:nvGraphicFramePr>
        <p:xfrm>
          <a:off x="1649834" y="3842157"/>
          <a:ext cx="5631813" cy="526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757">
                  <a:extLst>
                    <a:ext uri="{9D8B030D-6E8A-4147-A177-3AD203B41FA5}">
                      <a16:colId xmlns="" xmlns:a16="http://schemas.microsoft.com/office/drawing/2014/main" val="984163607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2987927672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3366873722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3992834085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1213497101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2484094124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1081025694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4067129386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4010944213"/>
                    </a:ext>
                  </a:extLst>
                </a:gridCol>
              </a:tblGrid>
              <a:tr h="52608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1440016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="" xmlns:a16="http://schemas.microsoft.com/office/drawing/2014/main" id="{D1F272ED-FE4C-4F8F-857B-3CC8DE49A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630526"/>
              </p:ext>
            </p:extLst>
          </p:nvPr>
        </p:nvGraphicFramePr>
        <p:xfrm>
          <a:off x="1649834" y="4877470"/>
          <a:ext cx="5631813" cy="526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757">
                  <a:extLst>
                    <a:ext uri="{9D8B030D-6E8A-4147-A177-3AD203B41FA5}">
                      <a16:colId xmlns="" xmlns:a16="http://schemas.microsoft.com/office/drawing/2014/main" val="984163607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2987927672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3366873722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3992834085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1213497101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2484094124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1081025694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4067129386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4010944213"/>
                    </a:ext>
                  </a:extLst>
                </a:gridCol>
              </a:tblGrid>
              <a:tr h="52608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14400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53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matching joint embeddings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9CF4E80-5859-4E39-A40B-ED9B772D8B0F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15" name="內容版面配置區 14">
            <a:extLst>
              <a:ext uri="{FF2B5EF4-FFF2-40B4-BE49-F238E27FC236}">
                <a16:creationId xmlns="" xmlns:a16="http://schemas.microsoft.com/office/drawing/2014/main" id="{57A3D050-C9A4-4948-A682-CE7BC5F9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 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="" xmlns:a16="http://schemas.microsoft.com/office/drawing/2014/main" id="{801898E0-98A6-4E7E-98A6-863F8A515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819" y="1646237"/>
            <a:ext cx="6344175" cy="113109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FF023B5C-D3A4-4789-A6D7-50C476830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438" y="2599010"/>
            <a:ext cx="5483123" cy="402578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="" xmlns:a16="http://schemas.microsoft.com/office/drawing/2014/main" id="{3868FBDC-4453-4F26-A2B9-0AEF50331593}"/>
              </a:ext>
            </a:extLst>
          </p:cNvPr>
          <p:cNvSpPr txBox="1"/>
          <p:nvPr/>
        </p:nvSpPr>
        <p:spPr>
          <a:xfrm>
            <a:off x="251669" y="2976317"/>
            <a:ext cx="17315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bcab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abacbca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9223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 of subsequences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9CF4E80-5859-4E39-A40B-ED9B772D8B0F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15" name="內容版面配置區 14">
            <a:extLst>
              <a:ext uri="{FF2B5EF4-FFF2-40B4-BE49-F238E27FC236}">
                <a16:creationId xmlns="" xmlns:a16="http://schemas.microsoft.com/office/drawing/2014/main" id="{57A3D050-C9A4-4948-A682-CE7BC5F93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222" y="1860062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 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D1139FE9-408C-4062-8B1A-467E1ED9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0077"/>
            <a:ext cx="9144000" cy="95219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="" xmlns:a16="http://schemas.microsoft.com/office/drawing/2014/main" id="{28244FA6-33E4-4456-968F-2B139C372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264" y="2822270"/>
            <a:ext cx="3060615" cy="138565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="" xmlns:a16="http://schemas.microsoft.com/office/drawing/2014/main" id="{9D785493-7396-4074-8089-3CCE4F331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796" y="5276075"/>
            <a:ext cx="3021634" cy="94534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="" xmlns:a16="http://schemas.microsoft.com/office/drawing/2014/main" id="{3787A6ED-2DF8-4BC6-9054-146D66F63301}"/>
              </a:ext>
            </a:extLst>
          </p:cNvPr>
          <p:cNvSpPr txBox="1"/>
          <p:nvPr/>
        </p:nvSpPr>
        <p:spPr>
          <a:xfrm>
            <a:off x="326414" y="5497675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Lemma: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1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subsequences with a given minimum span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9CF4E80-5859-4E39-A40B-ED9B772D8B0F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15" name="內容版面配置區 14">
            <a:extLst>
              <a:ext uri="{FF2B5EF4-FFF2-40B4-BE49-F238E27FC236}">
                <a16:creationId xmlns="" xmlns:a16="http://schemas.microsoft.com/office/drawing/2014/main" id="{57A3D050-C9A4-4948-A682-CE7BC5F9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 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="" xmlns:a16="http://schemas.microsoft.com/office/drawing/2014/main" id="{68F92E33-25DE-4CC6-A675-F655ADCAF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95" y="1938250"/>
            <a:ext cx="6958669" cy="149075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1866BF20-35D8-4315-B2EE-F47DF0DF0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014" y="4618745"/>
            <a:ext cx="6446853" cy="155821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BE69037C-983F-4754-BF48-A2DA787F4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20" y="4152147"/>
            <a:ext cx="2297679" cy="57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2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 generated by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length-restricted runs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9CF4E80-5859-4E39-A40B-ED9B772D8B0F}" type="slidenum">
              <a:rPr lang="zh-TW" altLang="en-US" smtClean="0"/>
              <a:t>19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14">
                <a:extLst>
                  <a:ext uri="{FF2B5EF4-FFF2-40B4-BE49-F238E27FC236}">
                    <a16:creationId xmlns="" xmlns:a16="http://schemas.microsoft.com/office/drawing/2014/main" id="{57A3D050-C9A4-4948-A682-CE7BC5F935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,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𝑓𝑜𝑟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∈{0, 1,…</m:t>
                    </m:r>
                    <m:r>
                      <a:rPr lang="zh-TW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𝑎𝑏𝑎</m:t>
                    </m:r>
                  </m:oMath>
                </a14:m>
                <a:r>
                  <a:rPr lang="en-US" altLang="zh-TW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,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zh-TW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endParaRPr lang="en-US" altLang="zh-TW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b="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(3)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內容版面配置區 14">
                <a:extLst>
                  <a:ext uri="{FF2B5EF4-FFF2-40B4-BE49-F238E27FC236}">
                    <a16:creationId xmlns:a16="http://schemas.microsoft.com/office/drawing/2014/main" id="{57A3D050-C9A4-4948-A682-CE7BC5F935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202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 generated by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length-restricted runs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9CF4E80-5859-4E39-A40B-ED9B772D8B0F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15" name="內容版面配置區 14">
            <a:extLst>
              <a:ext uri="{FF2B5EF4-FFF2-40B4-BE49-F238E27FC236}">
                <a16:creationId xmlns="" xmlns:a16="http://schemas.microsoft.com/office/drawing/2014/main" id="{57A3D050-C9A4-4948-A682-CE7BC5F9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5E46806-058A-4834-BF2C-8AF8D6688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8200"/>
            <a:ext cx="9144000" cy="108397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="" xmlns:a16="http://schemas.microsoft.com/office/drawing/2014/main" id="{942FD99A-1367-44D9-AFE9-7E1F45C65600}"/>
              </a:ext>
            </a:extLst>
          </p:cNvPr>
          <p:cNvSpPr txBox="1"/>
          <p:nvPr/>
        </p:nvSpPr>
        <p:spPr>
          <a:xfrm>
            <a:off x="0" y="1971599"/>
            <a:ext cx="5145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: k-long 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ρ-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sequences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="" xmlns:a16="http://schemas.microsoft.com/office/drawing/2014/main" id="{599E7575-0C3D-4102-AB76-A48458C6E1FE}"/>
                  </a:ext>
                </a:extLst>
              </p:cNvPr>
              <p:cNvSpPr/>
              <p:nvPr/>
            </p:nvSpPr>
            <p:spPr>
              <a:xfrm>
                <a:off x="628650" y="4529683"/>
                <a:ext cx="5079534" cy="1304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𝑎𝑏𝑎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,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zh-TW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(0)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(3)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99E7575-0C3D-4102-AB76-A48458C6E1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529683"/>
                <a:ext cx="5079534" cy="1304844"/>
              </a:xfrm>
              <a:prstGeom prst="rect">
                <a:avLst/>
              </a:prstGeom>
              <a:blipFill>
                <a:blip r:embed="rId3"/>
                <a:stretch>
                  <a:fillRect t="-37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5CE8BB01-3BE0-4A11-8BFC-47CF29BC5027}"/>
              </a:ext>
            </a:extLst>
          </p:cNvPr>
          <p:cNvSpPr txBox="1"/>
          <p:nvPr/>
        </p:nvSpPr>
        <p:spPr>
          <a:xfrm>
            <a:off x="332735" y="4068018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Ex:</a:t>
            </a:r>
            <a:endParaRPr lang="zh-TW" altLang="en-US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86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 generated by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length-restricted runs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9CF4E80-5859-4E39-A40B-ED9B772D8B0F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15" name="內容版面配置區 14">
            <a:extLst>
              <a:ext uri="{FF2B5EF4-FFF2-40B4-BE49-F238E27FC236}">
                <a16:creationId xmlns="" xmlns:a16="http://schemas.microsoft.com/office/drawing/2014/main" id="{57A3D050-C9A4-4948-A682-CE7BC5F9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9DCF3752-399F-4E7B-BF74-2B3DE1A77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81" y="1690689"/>
            <a:ext cx="8036653" cy="217639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EE56662A-7C11-4753-9F6D-9A0561919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200" y="4054564"/>
            <a:ext cx="5687737" cy="12679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="" xmlns:a16="http://schemas.microsoft.com/office/drawing/2014/main" id="{7B3D57F7-4955-4C02-9CA9-F2BDB9657C2B}"/>
                  </a:ext>
                </a:extLst>
              </p:cNvPr>
              <p:cNvSpPr txBox="1"/>
              <p:nvPr/>
            </p:nvSpPr>
            <p:spPr>
              <a:xfrm>
                <a:off x="490407" y="4495774"/>
                <a:ext cx="8479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=1,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B3D57F7-4955-4C02-9CA9-F2BDB9657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07" y="4495774"/>
                <a:ext cx="847924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="" xmlns:a16="http://schemas.microsoft.com/office/drawing/2014/main" id="{FFE3CEE0-5FEC-4308-A65D-06958B8F7DC3}"/>
                  </a:ext>
                </a:extLst>
              </p:cNvPr>
              <p:cNvSpPr txBox="1"/>
              <p:nvPr/>
            </p:nvSpPr>
            <p:spPr>
              <a:xfrm>
                <a:off x="184558" y="6308463"/>
                <a:ext cx="808766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6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 c(</a:t>
                </a:r>
                <a:r>
                  <a:rPr lang="en-US" altLang="zh-TW" sz="1600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k,m,p</a:t>
                </a:r>
                <a:r>
                  <a:rPr lang="en-US" altLang="zh-TW" sz="16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denotes the number of compositions of k with m summands that do not exceed</a:t>
                </a:r>
                <a14:m>
                  <m:oMath xmlns:m="http://schemas.openxmlformats.org/officeDocument/2006/math">
                    <m:r>
                      <a:rPr lang="en-US" altLang="zh-TW" sz="1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TW" altLang="en-US" sz="1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endParaRPr lang="zh-TW" altLang="en-US" sz="1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FE3CEE0-5FEC-4308-A65D-06958B8F7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58" y="6308463"/>
                <a:ext cx="8087663" cy="338554"/>
              </a:xfrm>
              <a:prstGeom prst="rect">
                <a:avLst/>
              </a:prstGeom>
              <a:blipFill>
                <a:blip r:embed="rId5"/>
                <a:stretch>
                  <a:fillRect l="-377" t="-7273" b="-21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="" xmlns:a16="http://schemas.microsoft.com/office/drawing/2014/main" id="{2CA31B1C-49CE-488B-8434-CE041A394F94}"/>
                  </a:ext>
                </a:extLst>
              </p:cNvPr>
              <p:cNvSpPr txBox="1"/>
              <p:nvPr/>
            </p:nvSpPr>
            <p:spPr>
              <a:xfrm>
                <a:off x="1338331" y="5444044"/>
                <a:ext cx="4449680" cy="8395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CA31B1C-49CE-488B-8434-CE041A394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331" y="5444044"/>
                <a:ext cx="4449680" cy="8395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24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37584</TotalTime>
  <Words>662</Words>
  <Application>Microsoft Office PowerPoint</Application>
  <PresentationFormat>如螢幕大小 (4:3)</PresentationFormat>
  <Paragraphs>235</Paragraphs>
  <Slides>21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Algorithms for Subsequence Combinatorics</vt:lpstr>
      <vt:lpstr>Abstract(1/2)</vt:lpstr>
      <vt:lpstr>Abstract(2/2)</vt:lpstr>
      <vt:lpstr>Count distinct Subsequences in a String</vt:lpstr>
      <vt:lpstr>Count distinct Subsequences in a String</vt:lpstr>
      <vt:lpstr>Count distinct Subsequences with  k-length in a String</vt:lpstr>
      <vt:lpstr>PowerPoint 簡報</vt:lpstr>
      <vt:lpstr>Maximum of distinct subseqeunce</vt:lpstr>
      <vt:lpstr>Count distinct common subsequence of two strings</vt:lpstr>
      <vt:lpstr>Count distinct common subsequence of two strings</vt:lpstr>
      <vt:lpstr>Count distinct common subsequence of two strings</vt:lpstr>
      <vt:lpstr>Count distinct common subsequence of two strings</vt:lpstr>
      <vt:lpstr>Count distinct k+ length common subsequence of two strings</vt:lpstr>
      <vt:lpstr>Counting matching joint embeddings</vt:lpstr>
      <vt:lpstr>Counting matching joint embeddings</vt:lpstr>
      <vt:lpstr>Counting matching joint embeddings</vt:lpstr>
      <vt:lpstr>Span of subsequences</vt:lpstr>
      <vt:lpstr>Distinct subsequences with a given minimum span</vt:lpstr>
      <vt:lpstr>Sequences generated by  length-restricted runs</vt:lpstr>
      <vt:lpstr>Sequences generated by  length-restricted runs</vt:lpstr>
      <vt:lpstr>Sequences generated by  length-restricted runs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467</cp:revision>
  <dcterms:created xsi:type="dcterms:W3CDTF">2016-04-23T07:31:56Z</dcterms:created>
  <dcterms:modified xsi:type="dcterms:W3CDTF">2018-05-23T11:30:40Z</dcterms:modified>
</cp:coreProperties>
</file>