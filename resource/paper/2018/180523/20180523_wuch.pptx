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307" r:id="rId4"/>
    <p:sldId id="312" r:id="rId5"/>
    <p:sldId id="321" r:id="rId6"/>
    <p:sldId id="323" r:id="rId7"/>
    <p:sldId id="324" r:id="rId8"/>
    <p:sldId id="325" r:id="rId9"/>
    <p:sldId id="322" r:id="rId10"/>
    <p:sldId id="316" r:id="rId11"/>
    <p:sldId id="320" r:id="rId12"/>
    <p:sldId id="319"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47" autoAdjust="0"/>
    <p:restoredTop sz="95048" autoAdjust="0"/>
  </p:normalViewPr>
  <p:slideViewPr>
    <p:cSldViewPr snapToGrid="0">
      <p:cViewPr varScale="1">
        <p:scale>
          <a:sx n="68" d="100"/>
          <a:sy n="68" d="100"/>
        </p:scale>
        <p:origin x="9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2018/5/23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Day t, O open high low close volume</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335315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3959919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3840564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X features , y which class, prediction error rate , n : DT number, OOB</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1237738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v</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1108659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Validation set to adjust v</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2212517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Transaction cost=0.05%</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3094164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669527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Rate of return, Maximum drawdown, percent probability : number of winning trades/total trades</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12</a:t>
            </a:fld>
            <a:endParaRPr lang="zh-TW" altLang="en-US"/>
          </a:p>
        </p:txBody>
      </p:sp>
    </p:spTree>
    <p:extLst>
      <p:ext uri="{BB962C8B-B14F-4D97-AF65-F5344CB8AC3E}">
        <p14:creationId xmlns:p14="http://schemas.microsoft.com/office/powerpoint/2010/main" val="1380228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2018/5/23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623" y="268941"/>
            <a:ext cx="12299245"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A hybrid financial trading support system using multi-category classifiers and random forest</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669771"/>
            <a:ext cx="8449734" cy="2719740"/>
          </a:xfrm>
        </p:spPr>
        <p:txBody>
          <a:bodyPr>
            <a:normAutofit/>
          </a:bodyPr>
          <a:lstStyle/>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Manoj</a:t>
            </a:r>
            <a:r>
              <a:rPr lang="en-US" altLang="zh-TW" dirty="0">
                <a:latin typeface="Times New Roman" panose="02020603050405020304" pitchFamily="18" charset="0"/>
                <a:cs typeface="Times New Roman" panose="02020603050405020304" pitchFamily="18" charset="0"/>
              </a:rPr>
              <a:t> Thakur, Deepak Kumar</a:t>
            </a:r>
          </a:p>
          <a:p>
            <a:r>
              <a:rPr lang="en-US" altLang="zh-TW" dirty="0">
                <a:latin typeface="Times New Roman" panose="02020603050405020304" pitchFamily="18" charset="0"/>
                <a:cs typeface="Times New Roman" panose="02020603050405020304" pitchFamily="18" charset="0"/>
              </a:rPr>
              <a:t>Indian Institute of Technology-Mandi, Mandi 175001, Himachal Pradesh, India</a:t>
            </a:r>
          </a:p>
          <a:p>
            <a:r>
              <a:rPr lang="en-US" altLang="zh-TW" dirty="0">
                <a:latin typeface="Times New Roman" panose="02020603050405020304" pitchFamily="18" charset="0"/>
                <a:cs typeface="Times New Roman" panose="02020603050405020304" pitchFamily="18" charset="0"/>
              </a:rPr>
              <a:t>Applied Soft Computing 67 (2018) 337–349</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Date:2018/5/23</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This study presents a decision support system for algorithmic trading in the financial market that uses a new hybrid approach for making automatic trading decision. The hybrid approach integrates weighted multicategory generalized eigenvalue support vector machine (WMGEPSVM) and random forest (RF) algorithms (named RF-WMGEPSVM) to generate “Buy/Hold/Sell” signals. The WMGEPSVM technique has an advantage of handling the unbalanced data set effectively. The input variables are generated from a number of technical indicators and oscillators that are widely used in industry by professional financial experts. Selection of relevant input variables can enhance the predictive capability of the prediction algorithms. RF technique is employed to discover the optimal feature subset from a large set of technical indicators.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The proposed hybrid system is tested using “walk forward” approach for its capability of taking an automatic trading decision on daily data of five index futures, viz., NASDAQ, DOW JONES, S&amp;P 500, NIFTY 50 and NIFTY BANK. RF-WMGEPSVM achieves the notable improvement over the buy/hold strategy and other predictive models contemplated in this study. It is also observed that combining WMGEPSVM with RF further improves the results. Empirical results confirm the effectiveness of RF-WMGEPSVM in the real market scenarios having bullish, bearish or flat trend.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Trading strategy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i="1" smtClean="0">
                            <a:latin typeface="Cambria Math" panose="02040503050406030204" pitchFamily="18" charset="0"/>
                            <a:cs typeface="Times New Roman" panose="02020603050405020304" pitchFamily="18" charset="0"/>
                          </a:rPr>
                        </m:ctrlPr>
                      </m:dPr>
                      <m:e>
                        <m:eqArr>
                          <m:eqArrPr>
                            <m:ctrlPr>
                              <a:rPr lang="en-US" altLang="zh-TW" i="1" smtClean="0">
                                <a:latin typeface="Cambria Math" panose="02040503050406030204" pitchFamily="18" charset="0"/>
                                <a:cs typeface="Times New Roman" panose="02020603050405020304" pitchFamily="18" charset="0"/>
                              </a:rPr>
                            </m:ctrlPr>
                          </m:eqArrPr>
                          <m:e>
                            <m:r>
                              <a:rPr lang="en-US" altLang="zh-TW" b="0" i="1" smtClean="0">
                                <a:latin typeface="Cambria Math" panose="02040503050406030204" pitchFamily="18" charset="0"/>
                                <a:cs typeface="Times New Roman" panose="02020603050405020304" pitchFamily="18" charset="0"/>
                              </a:rPr>
                              <m:t>𝐵𝑈𝑌</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𝑖𝑓</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&gt;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𝐻</m:t>
                                </m:r>
                              </m:e>
                              <m: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b>
                            </m:sSub>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𝑎𝑛𝑑</m:t>
                            </m:r>
                            <m:r>
                              <a:rPr lang="en-US" altLang="zh-TW" b="0" i="1" smtClean="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𝐿</m:t>
                                </m:r>
                              </m:e>
                              <m:sub>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e>
                                </m:d>
                              </m:sub>
                            </m:sSub>
                            <m:r>
                              <a:rPr lang="en-US" altLang="zh-TW" b="0" i="1" smtClean="0">
                                <a:latin typeface="Cambria Math" panose="02040503050406030204" pitchFamily="18" charset="0"/>
                                <a:cs typeface="Times New Roman" panose="02020603050405020304" pitchFamily="18" charset="0"/>
                              </a:rPr>
                              <m:t>&gt;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𝐿</m:t>
                                </m:r>
                              </m:e>
                              <m: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b>
                            </m:sSub>
                          </m:e>
                          <m:e>
                            <m:r>
                              <a:rPr lang="en-US" altLang="zh-TW" b="0" i="1" smtClean="0">
                                <a:latin typeface="Cambria Math" panose="02040503050406030204" pitchFamily="18" charset="0"/>
                                <a:cs typeface="Times New Roman" panose="02020603050405020304" pitchFamily="18" charset="0"/>
                              </a:rPr>
                              <m:t>𝑆𝐸𝐿𝐿</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𝑖𝑓</m:t>
                            </m:r>
                            <m:r>
                              <a:rPr lang="en-US" altLang="zh-TW" b="0" i="1" smtClean="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i="1">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r>
                                  <a:rPr lang="en-US" altLang="zh-TW" i="1" smtClean="0">
                                    <a:latin typeface="Cambria Math" panose="02040503050406030204" pitchFamily="18" charset="0"/>
                                    <a:cs typeface="Times New Roman" panose="02020603050405020304" pitchFamily="18" charset="0"/>
                                  </a:rPr>
                                  <m:t>1</m:t>
                                </m:r>
                                <m:r>
                                  <a:rPr lang="en-US" altLang="zh-TW" i="1">
                                    <a:latin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cs typeface="Times New Roman" panose="02020603050405020304" pitchFamily="18" charset="0"/>
                              </a:rPr>
                              <m:t>&lt;</m:t>
                            </m:r>
                            <m:sSub>
                              <m:sSubPr>
                                <m:ctrlPr>
                                  <a:rPr lang="en-US" altLang="zh-TW" i="1" smtClean="0">
                                    <a:latin typeface="Cambria Math" panose="02040503050406030204" pitchFamily="18" charset="0"/>
                                    <a:cs typeface="Times New Roman" panose="02020603050405020304" pitchFamily="18" charset="0"/>
                                  </a:rPr>
                                </m:ctrlPr>
                              </m:sSubPr>
                              <m:e>
                                <m:r>
                                  <m:rPr>
                                    <m:sty m:val="p"/>
                                  </m:rPr>
                                  <a:rPr lang="en-US" altLang="zh-TW" i="1" smtClean="0">
                                    <a:latin typeface="Cambria Math" panose="02040503050406030204" pitchFamily="18" charset="0"/>
                                    <a:cs typeface="Times New Roman" panose="02020603050405020304" pitchFamily="18" charset="0"/>
                                  </a:rPr>
                                  <m:t>L</m:t>
                                </m:r>
                              </m:e>
                              <m: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b>
                            </m:sSub>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𝑎𝑛𝑑</m:t>
                            </m:r>
                            <m:r>
                              <a:rPr lang="en-US" altLang="zh-TW" b="0" i="1" smtClean="0">
                                <a:latin typeface="Cambria Math" panose="02040503050406030204" pitchFamily="18" charset="0"/>
                                <a:cs typeface="Times New Roman" panose="02020603050405020304" pitchFamily="18" charset="0"/>
                              </a:rPr>
                              <m:t> </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𝐻</m:t>
                                </m:r>
                              </m:e>
                              <m:sub>
                                <m:r>
                                  <a:rPr lang="en-US" altLang="zh-TW" i="1">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r>
                                  <a:rPr lang="en-US" altLang="zh-TW" i="1" smtClean="0">
                                    <a:latin typeface="Cambria Math" panose="02040503050406030204" pitchFamily="18" charset="0"/>
                                    <a:cs typeface="Times New Roman" panose="02020603050405020304" pitchFamily="18" charset="0"/>
                                  </a:rPr>
                                  <m:t>1</m:t>
                                </m:r>
                                <m:r>
                                  <a:rPr lang="en-US" altLang="zh-TW" i="1">
                                    <a:latin typeface="Cambria Math" panose="02040503050406030204" pitchFamily="18" charset="0"/>
                                    <a:cs typeface="Times New Roman" panose="02020603050405020304" pitchFamily="18" charset="0"/>
                                  </a:rPr>
                                  <m:t>)</m:t>
                                </m:r>
                              </m:sub>
                            </m:sSub>
                            <m:r>
                              <a:rPr lang="en-US" altLang="zh-TW" i="1">
                                <a:latin typeface="Cambria Math" panose="02040503050406030204" pitchFamily="18" charset="0"/>
                                <a:cs typeface="Times New Roman" panose="02020603050405020304" pitchFamily="18" charset="0"/>
                              </a:rPr>
                              <m:t>&lt;</m:t>
                            </m:r>
                            <m:sSub>
                              <m:sSubPr>
                                <m:ctrlPr>
                                  <a:rPr lang="en-US" altLang="zh-TW" b="0" i="1" smtClean="0">
                                    <a:latin typeface="Cambria Math" panose="02040503050406030204" pitchFamily="18" charset="0"/>
                                    <a:cs typeface="Times New Roman" panose="02020603050405020304" pitchFamily="18" charset="0"/>
                                  </a:rPr>
                                </m:ctrlPr>
                              </m:sSubPr>
                              <m:e>
                                <m:r>
                                  <m:rPr>
                                    <m:sty m:val="p"/>
                                  </m:rPr>
                                  <a:rPr lang="en-US" altLang="zh-TW" i="1" smtClean="0">
                                    <a:latin typeface="Cambria Math" panose="02040503050406030204" pitchFamily="18" charset="0"/>
                                    <a:cs typeface="Times New Roman" panose="02020603050405020304" pitchFamily="18" charset="0"/>
                                  </a:rPr>
                                  <m:t>H</m:t>
                                </m:r>
                              </m:e>
                              <m: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b>
                            </m:sSub>
                          </m:e>
                          <m:e>
                            <m:r>
                              <a:rPr lang="en-US" altLang="zh-TW" b="0" i="1" smtClean="0">
                                <a:latin typeface="Cambria Math" panose="02040503050406030204" pitchFamily="18" charset="0"/>
                                <a:cs typeface="Times New Roman" panose="02020603050405020304" pitchFamily="18" charset="0"/>
                              </a:rPr>
                              <m:t>𝐻𝑂𝐿𝐷</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𝑜𝑡h𝑒𝑟𝑤𝑖𝑠𝑒</m:t>
                            </m:r>
                            <m:r>
                              <a:rPr lang="en-US" altLang="zh-TW" b="0" i="1" smtClean="0">
                                <a:latin typeface="Cambria Math" panose="02040503050406030204" pitchFamily="18" charset="0"/>
                                <a:cs typeface="Times New Roman" panose="02020603050405020304" pitchFamily="18" charset="0"/>
                              </a:rPr>
                              <m:t>                     </m:t>
                            </m:r>
                          </m:e>
                        </m:eqArr>
                      </m:e>
                    </m:d>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t="-398"/>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xmlns="" id="{A853FBF3-7DED-4569-A884-CBB045ADE2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90438" y="3320119"/>
            <a:ext cx="6838120" cy="3454060"/>
          </a:xfrm>
          <a:prstGeom prst="rect">
            <a:avLst/>
          </a:prstGeom>
        </p:spPr>
      </p:pic>
    </p:spTree>
    <p:extLst>
      <p:ext uri="{BB962C8B-B14F-4D97-AF65-F5344CB8AC3E}">
        <p14:creationId xmlns:p14="http://schemas.microsoft.com/office/powerpoint/2010/main" val="1754175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Input feature(1/2)</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xmlns="" id="{E403FCAC-A491-43C7-8DE1-B4BBE1ACC4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496" y="1690688"/>
            <a:ext cx="10375008" cy="4131272"/>
          </a:xfrm>
          <a:prstGeom prst="rect">
            <a:avLst/>
          </a:prstGeom>
        </p:spPr>
      </p:pic>
    </p:spTree>
    <p:extLst>
      <p:ext uri="{BB962C8B-B14F-4D97-AF65-F5344CB8AC3E}">
        <p14:creationId xmlns:p14="http://schemas.microsoft.com/office/powerpoint/2010/main" val="314408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Input feature(2/2)</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xmlns="" id="{D5DD674E-0211-4222-9A4F-FF059FC3E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796" y="1968726"/>
            <a:ext cx="10362408" cy="4172014"/>
          </a:xfrm>
          <a:prstGeom prst="rect">
            <a:avLst/>
          </a:prstGeom>
        </p:spPr>
      </p:pic>
    </p:spTree>
    <p:extLst>
      <p:ext uri="{BB962C8B-B14F-4D97-AF65-F5344CB8AC3E}">
        <p14:creationId xmlns:p14="http://schemas.microsoft.com/office/powerpoint/2010/main" val="3366307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Random forests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l-GR" altLang="zh-TW" i="1">
                            <a:latin typeface="Cambria Math" panose="02040503050406030204" pitchFamily="18" charset="0"/>
                            <a:cs typeface="Times New Roman" panose="02020603050405020304" pitchFamily="18" charset="0"/>
                          </a:rPr>
                          <m:t>𝛤</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 2, …., </m:t>
                    </m:r>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𝜂</m:t>
                    </m:r>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𝐼</m:t>
                    </m:r>
                    <m:sSubSup>
                      <m:sSubSupPr>
                        <m:ctrlPr>
                          <a:rPr lang="en-US" altLang="zh-TW" b="0"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𝑆</m:t>
                        </m:r>
                      </m:e>
                      <m:sub>
                        <m:r>
                          <a:rPr lang="en-US" altLang="zh-TW" b="0" i="1" smtClean="0">
                            <a:latin typeface="Cambria Math" panose="02040503050406030204" pitchFamily="18" charset="0"/>
                            <a:cs typeface="Times New Roman" panose="02020603050405020304" pitchFamily="18" charset="0"/>
                          </a:rPr>
                          <m:t>𝑓</m:t>
                        </m:r>
                      </m:sub>
                      <m:sup>
                        <m:r>
                          <a:rPr lang="en-US" altLang="zh-TW" b="0" i="1" smtClean="0">
                            <a:latin typeface="Cambria Math" panose="02040503050406030204" pitchFamily="18" charset="0"/>
                            <a:cs typeface="Times New Roman" panose="02020603050405020304" pitchFamily="18" charset="0"/>
                          </a:rPr>
                          <m:t>𝑅𝐹</m:t>
                        </m:r>
                      </m:sup>
                    </m:sSubSup>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1</m:t>
                        </m:r>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𝜂</m:t>
                        </m:r>
                      </m:den>
                    </m:f>
                    <m:nary>
                      <m:naryPr>
                        <m:chr m:val="∑"/>
                        <m:supHide m:val="on"/>
                        <m:ctrlPr>
                          <a:rPr lang="en-US" altLang="zh-TW" b="0" i="1" smtClean="0">
                            <a:latin typeface="Cambria Math" panose="02040503050406030204" pitchFamily="18" charset="0"/>
                            <a:cs typeface="Times New Roman" panose="02020603050405020304" pitchFamily="18" charset="0"/>
                          </a:rPr>
                        </m:ctrlPr>
                      </m:naryPr>
                      <m:sub>
                        <m:sSub>
                          <m:sSubPr>
                            <m:ctrlPr>
                              <a:rPr lang="en-US" altLang="zh-TW" i="1">
                                <a:latin typeface="Cambria Math" panose="02040503050406030204" pitchFamily="18" charset="0"/>
                                <a:cs typeface="Times New Roman" panose="02020603050405020304" pitchFamily="18" charset="0"/>
                              </a:rPr>
                            </m:ctrlPr>
                          </m:sSubPr>
                          <m:e>
                            <m:r>
                              <a:rPr lang="el-GR" altLang="zh-TW" i="1">
                                <a:latin typeface="Cambria Math" panose="02040503050406030204" pitchFamily="18" charset="0"/>
                                <a:cs typeface="Times New Roman" panose="02020603050405020304" pitchFamily="18" charset="0"/>
                              </a:rPr>
                              <m:t>𝛤</m:t>
                            </m:r>
                          </m:e>
                          <m:sub>
                            <m:r>
                              <a:rPr lang="en-US" altLang="zh-TW" i="1">
                                <a:latin typeface="Cambria Math" panose="02040503050406030204" pitchFamily="18" charset="0"/>
                                <a:cs typeface="Times New Roman" panose="02020603050405020304" pitchFamily="18" charset="0"/>
                              </a:rPr>
                              <m:t>𝑖</m:t>
                            </m:r>
                          </m:sub>
                        </m:sSub>
                      </m:sub>
                      <m:sup/>
                      <m:e>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𝜚</m:t>
                            </m:r>
                          </m:e>
                          <m:sub>
                            <m:sSub>
                              <m:sSubPr>
                                <m:ctrlPr>
                                  <a:rPr lang="en-US" altLang="zh-TW" i="1">
                                    <a:latin typeface="Cambria Math" panose="02040503050406030204" pitchFamily="18" charset="0"/>
                                    <a:cs typeface="Times New Roman" panose="02020603050405020304" pitchFamily="18" charset="0"/>
                                  </a:rPr>
                                </m:ctrlPr>
                              </m:sSubPr>
                              <m:e>
                                <m:r>
                                  <a:rPr lang="el-GR" altLang="zh-TW" i="1">
                                    <a:latin typeface="Cambria Math" panose="02040503050406030204" pitchFamily="18" charset="0"/>
                                    <a:cs typeface="Times New Roman" panose="02020603050405020304" pitchFamily="18" charset="0"/>
                                  </a:rPr>
                                  <m:t>𝛤</m:t>
                                </m:r>
                              </m:e>
                              <m:sub>
                                <m:r>
                                  <a:rPr lang="en-US" altLang="zh-TW" i="1">
                                    <a:latin typeface="Cambria Math" panose="02040503050406030204" pitchFamily="18" charset="0"/>
                                    <a:cs typeface="Times New Roman" panose="02020603050405020304" pitchFamily="18" charset="0"/>
                                  </a:rPr>
                                  <m:t>𝑖</m:t>
                                </m:r>
                              </m:sub>
                            </m:sSub>
                          </m:sub>
                        </m:sSub>
                        <m:r>
                          <a:rPr lang="en-US" altLang="zh-TW" b="0" i="1" smtClean="0">
                            <a:latin typeface="Cambria Math" panose="02040503050406030204" pitchFamily="18" charset="0"/>
                            <a:cs typeface="Times New Roman" panose="02020603050405020304" pitchFamily="18" charset="0"/>
                          </a:rPr>
                          <m:t>−</m:t>
                        </m:r>
                      </m:e>
                    </m:nary>
                  </m:oMath>
                </a14:m>
                <a:r>
                  <a:rPr lang="en-US" altLang="zh-TW" dirty="0">
                    <a:cs typeface="Times New Roman" panose="02020603050405020304" pitchFamily="18" charset="0"/>
                  </a:rPr>
                  <a:t> </a:t>
                </a:r>
                <a14:m>
                  <m:oMath xmlns:m="http://schemas.openxmlformats.org/officeDocument/2006/math">
                    <m:sSubSup>
                      <m:sSubSupPr>
                        <m:ctrlPr>
                          <a:rPr lang="en-US" altLang="zh-TW" b="0" i="1" smtClean="0">
                            <a:latin typeface="Cambria Math" panose="02040503050406030204" pitchFamily="18" charset="0"/>
                            <a:cs typeface="Times New Roman" panose="02020603050405020304" pitchFamily="18" charset="0"/>
                          </a:rPr>
                        </m:ctrlPr>
                      </m:sSubSupPr>
                      <m:e>
                        <m:r>
                          <a:rPr lang="zh-TW" altLang="en-US" i="1">
                            <a:latin typeface="Cambria Math" panose="02040503050406030204" pitchFamily="18" charset="0"/>
                            <a:cs typeface="Times New Roman" panose="02020603050405020304" pitchFamily="18" charset="0"/>
                          </a:rPr>
                          <m:t>𝜚</m:t>
                        </m:r>
                      </m:e>
                      <m:sub>
                        <m:sSub>
                          <m:sSubPr>
                            <m:ctrlPr>
                              <a:rPr lang="en-US" altLang="zh-TW" i="1">
                                <a:latin typeface="Cambria Math" panose="02040503050406030204" pitchFamily="18" charset="0"/>
                                <a:cs typeface="Times New Roman" panose="02020603050405020304" pitchFamily="18" charset="0"/>
                              </a:rPr>
                            </m:ctrlPr>
                          </m:sSubPr>
                          <m:e>
                            <m:r>
                              <a:rPr lang="el-GR" altLang="zh-TW" i="1">
                                <a:latin typeface="Cambria Math" panose="02040503050406030204" pitchFamily="18" charset="0"/>
                                <a:cs typeface="Times New Roman" panose="02020603050405020304" pitchFamily="18" charset="0"/>
                              </a:rPr>
                              <m:t>𝛤</m:t>
                            </m:r>
                          </m:e>
                          <m:sub>
                            <m:r>
                              <a:rPr lang="en-US" altLang="zh-TW" i="1">
                                <a:latin typeface="Cambria Math" panose="02040503050406030204" pitchFamily="18" charset="0"/>
                                <a:cs typeface="Times New Roman" panose="02020603050405020304" pitchFamily="18" charset="0"/>
                              </a:rPr>
                              <m:t>𝑖</m:t>
                            </m:r>
                          </m:sub>
                        </m:sSub>
                      </m:sub>
                      <m:sup>
                        <m:r>
                          <a:rPr lang="en-US" altLang="zh-TW" b="0" i="1" smtClean="0">
                            <a:latin typeface="Cambria Math" panose="02040503050406030204" pitchFamily="18" charset="0"/>
                            <a:cs typeface="Times New Roman" panose="02020603050405020304" pitchFamily="18" charset="0"/>
                          </a:rPr>
                          <m:t>′</m:t>
                        </m:r>
                      </m:sup>
                    </m:sSubSup>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sp>
        <p:nvSpPr>
          <p:cNvPr id="4" name="矩形 3">
            <a:extLst>
              <a:ext uri="{FF2B5EF4-FFF2-40B4-BE49-F238E27FC236}">
                <a16:creationId xmlns:a16="http://schemas.microsoft.com/office/drawing/2014/main" xmlns="" id="{CED70F31-A1A6-46D9-82A3-7C7F54A19409}"/>
              </a:ext>
            </a:extLst>
          </p:cNvPr>
          <p:cNvSpPr/>
          <p:nvPr/>
        </p:nvSpPr>
        <p:spPr>
          <a:xfrm>
            <a:off x="2188828" y="3479334"/>
            <a:ext cx="1282701" cy="1168400"/>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xmlns="" id="{B69BD1F7-2E40-4D17-A114-899111FDD64C}"/>
              </a:ext>
            </a:extLst>
          </p:cNvPr>
          <p:cNvSpPr txBox="1"/>
          <p:nvPr/>
        </p:nvSpPr>
        <p:spPr>
          <a:xfrm>
            <a:off x="2569829" y="3105825"/>
            <a:ext cx="508000" cy="369332"/>
          </a:xfrm>
          <a:prstGeom prst="rect">
            <a:avLst/>
          </a:prstGeom>
          <a:noFill/>
        </p:spPr>
        <p:txBody>
          <a:bodyPr wrap="square" rtlCol="0">
            <a:spAutoFit/>
          </a:bodyPr>
          <a:lstStyle/>
          <a:p>
            <a:r>
              <a:rPr lang="en-US" altLang="zh-TW" dirty="0"/>
              <a:t>2/3</a:t>
            </a:r>
            <a:endParaRPr lang="zh-TW" altLang="en-US" dirty="0"/>
          </a:p>
        </p:txBody>
      </p:sp>
      <p:sp>
        <p:nvSpPr>
          <p:cNvPr id="8" name="矩形 7">
            <a:extLst>
              <a:ext uri="{FF2B5EF4-FFF2-40B4-BE49-F238E27FC236}">
                <a16:creationId xmlns:a16="http://schemas.microsoft.com/office/drawing/2014/main" xmlns="" id="{53293B96-40BB-435F-B514-74F3EE8B5E14}"/>
              </a:ext>
            </a:extLst>
          </p:cNvPr>
          <p:cNvSpPr/>
          <p:nvPr/>
        </p:nvSpPr>
        <p:spPr>
          <a:xfrm>
            <a:off x="2201529" y="5310015"/>
            <a:ext cx="1282701" cy="1168400"/>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xmlns="" id="{A5E51F92-54B1-4020-AA7A-D181F4B3D439}"/>
              </a:ext>
            </a:extLst>
          </p:cNvPr>
          <p:cNvSpPr txBox="1"/>
          <p:nvPr/>
        </p:nvSpPr>
        <p:spPr>
          <a:xfrm>
            <a:off x="2582530" y="4954727"/>
            <a:ext cx="508000" cy="369332"/>
          </a:xfrm>
          <a:prstGeom prst="rect">
            <a:avLst/>
          </a:prstGeom>
          <a:noFill/>
        </p:spPr>
        <p:txBody>
          <a:bodyPr wrap="square" rtlCol="0">
            <a:spAutoFit/>
          </a:bodyPr>
          <a:lstStyle/>
          <a:p>
            <a:r>
              <a:rPr lang="en-US" altLang="zh-TW" dirty="0"/>
              <a:t>1/3</a:t>
            </a:r>
            <a:endParaRPr lang="zh-TW" altLang="en-US" dirty="0"/>
          </a:p>
        </p:txBody>
      </p:sp>
      <p:sp>
        <p:nvSpPr>
          <p:cNvPr id="6" name="矩形 5">
            <a:extLst>
              <a:ext uri="{FF2B5EF4-FFF2-40B4-BE49-F238E27FC236}">
                <a16:creationId xmlns:a16="http://schemas.microsoft.com/office/drawing/2014/main" xmlns="" id="{A749C331-769C-41CE-AB0D-04CE724853BF}"/>
              </a:ext>
            </a:extLst>
          </p:cNvPr>
          <p:cNvSpPr/>
          <p:nvPr/>
        </p:nvSpPr>
        <p:spPr>
          <a:xfrm>
            <a:off x="2296778" y="3746191"/>
            <a:ext cx="215901" cy="165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8D8A6574-7F38-49BE-A700-BF9BC616D7A7}"/>
              </a:ext>
            </a:extLst>
          </p:cNvPr>
          <p:cNvSpPr/>
          <p:nvPr/>
        </p:nvSpPr>
        <p:spPr>
          <a:xfrm>
            <a:off x="2569829" y="3746191"/>
            <a:ext cx="215901" cy="1651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xmlns="" id="{3D6A6C89-0CBB-4FC1-B95D-C201E3E02C2B}"/>
              </a:ext>
            </a:extLst>
          </p:cNvPr>
          <p:cNvSpPr/>
          <p:nvPr/>
        </p:nvSpPr>
        <p:spPr>
          <a:xfrm>
            <a:off x="2842880" y="3746191"/>
            <a:ext cx="215901" cy="1651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xmlns="" id="{EC05173C-E159-4C5D-93F8-03E8FA665929}"/>
              </a:ext>
            </a:extLst>
          </p:cNvPr>
          <p:cNvSpPr/>
          <p:nvPr/>
        </p:nvSpPr>
        <p:spPr>
          <a:xfrm>
            <a:off x="3115931" y="3742014"/>
            <a:ext cx="215901" cy="1651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xmlns="" id="{AD00F1B7-0897-4702-8C3E-11C7D699DD2E}"/>
              </a:ext>
            </a:extLst>
          </p:cNvPr>
          <p:cNvSpPr/>
          <p:nvPr/>
        </p:nvSpPr>
        <p:spPr>
          <a:xfrm>
            <a:off x="2296777" y="4011874"/>
            <a:ext cx="215901" cy="1651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xmlns="" id="{386696F6-6605-4135-8DF2-961A03B2E7F4}"/>
              </a:ext>
            </a:extLst>
          </p:cNvPr>
          <p:cNvSpPr/>
          <p:nvPr/>
        </p:nvSpPr>
        <p:spPr>
          <a:xfrm>
            <a:off x="2296778" y="4286582"/>
            <a:ext cx="215901" cy="165100"/>
          </a:xfrm>
          <a:prstGeom prst="rect">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xmlns="" id="{95218A70-9D66-41E3-B0FF-A254035B1913}"/>
              </a:ext>
            </a:extLst>
          </p:cNvPr>
          <p:cNvSpPr/>
          <p:nvPr/>
        </p:nvSpPr>
        <p:spPr>
          <a:xfrm>
            <a:off x="2569828" y="4011874"/>
            <a:ext cx="215901" cy="1651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xmlns="" id="{52259BB1-DCEF-4BAB-900E-38925914D6B5}"/>
              </a:ext>
            </a:extLst>
          </p:cNvPr>
          <p:cNvSpPr/>
          <p:nvPr/>
        </p:nvSpPr>
        <p:spPr>
          <a:xfrm>
            <a:off x="2569827" y="4286582"/>
            <a:ext cx="215901" cy="165100"/>
          </a:xfrm>
          <a:prstGeom prst="rect">
            <a:avLst/>
          </a:prstGeom>
          <a:solidFill>
            <a:schemeClr val="accent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xmlns="" id="{D99E743E-5CE4-4FDC-ACB6-310068BB6E21}"/>
              </a:ext>
            </a:extLst>
          </p:cNvPr>
          <p:cNvSpPr/>
          <p:nvPr/>
        </p:nvSpPr>
        <p:spPr>
          <a:xfrm>
            <a:off x="2842880" y="4008043"/>
            <a:ext cx="215901" cy="1651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xmlns="" id="{0EB429D4-3AE6-4188-81B6-86BF5227ADDF}"/>
              </a:ext>
            </a:extLst>
          </p:cNvPr>
          <p:cNvSpPr/>
          <p:nvPr/>
        </p:nvSpPr>
        <p:spPr>
          <a:xfrm>
            <a:off x="3115930" y="4011874"/>
            <a:ext cx="215901" cy="16510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xmlns="" id="{D9FCFC69-D980-49D3-A1E2-A303BE6F8084}"/>
              </a:ext>
            </a:extLst>
          </p:cNvPr>
          <p:cNvSpPr/>
          <p:nvPr/>
        </p:nvSpPr>
        <p:spPr>
          <a:xfrm>
            <a:off x="2849228" y="4290484"/>
            <a:ext cx="215901" cy="165100"/>
          </a:xfrm>
          <a:prstGeom prst="rect">
            <a:avLst/>
          </a:prstGeom>
          <a:solidFill>
            <a:schemeClr val="accent6">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xmlns="" id="{A3ACA81D-F365-4121-AA13-D3407109F49A}"/>
              </a:ext>
            </a:extLst>
          </p:cNvPr>
          <p:cNvSpPr/>
          <p:nvPr/>
        </p:nvSpPr>
        <p:spPr>
          <a:xfrm>
            <a:off x="3115929" y="4291704"/>
            <a:ext cx="215901" cy="165100"/>
          </a:xfrm>
          <a:prstGeom prst="rect">
            <a:avLst/>
          </a:prstGeom>
          <a:solidFill>
            <a:schemeClr val="accent3">
              <a:lumMod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cxnSp>
        <p:nvCxnSpPr>
          <p:cNvPr id="23" name="直線接點 22">
            <a:extLst>
              <a:ext uri="{FF2B5EF4-FFF2-40B4-BE49-F238E27FC236}">
                <a16:creationId xmlns:a16="http://schemas.microsoft.com/office/drawing/2014/main" xmlns="" id="{E33F23BD-08D2-49B6-85AB-E79F705EB5AA}"/>
              </a:ext>
            </a:extLst>
          </p:cNvPr>
          <p:cNvCxnSpPr/>
          <p:nvPr/>
        </p:nvCxnSpPr>
        <p:spPr>
          <a:xfrm>
            <a:off x="4398629" y="3449990"/>
            <a:ext cx="0" cy="976525"/>
          </a:xfrm>
          <a:prstGeom prst="line">
            <a:avLst/>
          </a:prstGeom>
        </p:spPr>
        <p:style>
          <a:lnRef idx="1">
            <a:schemeClr val="dk1"/>
          </a:lnRef>
          <a:fillRef idx="0">
            <a:schemeClr val="dk1"/>
          </a:fillRef>
          <a:effectRef idx="0">
            <a:schemeClr val="dk1"/>
          </a:effectRef>
          <a:fontRef idx="minor">
            <a:schemeClr val="tx1"/>
          </a:fontRef>
        </p:style>
      </p:cxnSp>
      <p:cxnSp>
        <p:nvCxnSpPr>
          <p:cNvPr id="25" name="直線接點 24">
            <a:extLst>
              <a:ext uri="{FF2B5EF4-FFF2-40B4-BE49-F238E27FC236}">
                <a16:creationId xmlns:a16="http://schemas.microsoft.com/office/drawing/2014/main" xmlns="" id="{5EC68A3E-069E-490F-9E10-56521137A7D8}"/>
              </a:ext>
            </a:extLst>
          </p:cNvPr>
          <p:cNvCxnSpPr/>
          <p:nvPr/>
        </p:nvCxnSpPr>
        <p:spPr>
          <a:xfrm>
            <a:off x="5135229" y="3449990"/>
            <a:ext cx="0" cy="976525"/>
          </a:xfrm>
          <a:prstGeom prst="line">
            <a:avLst/>
          </a:prstGeom>
        </p:spPr>
        <p:style>
          <a:lnRef idx="1">
            <a:schemeClr val="dk1"/>
          </a:lnRef>
          <a:fillRef idx="0">
            <a:schemeClr val="dk1"/>
          </a:fillRef>
          <a:effectRef idx="0">
            <a:schemeClr val="dk1"/>
          </a:effectRef>
          <a:fontRef idx="minor">
            <a:schemeClr val="tx1"/>
          </a:fontRef>
        </p:style>
      </p:cxnSp>
      <p:cxnSp>
        <p:nvCxnSpPr>
          <p:cNvPr id="27" name="直線接點 26">
            <a:extLst>
              <a:ext uri="{FF2B5EF4-FFF2-40B4-BE49-F238E27FC236}">
                <a16:creationId xmlns:a16="http://schemas.microsoft.com/office/drawing/2014/main" xmlns="" id="{195A9054-A2DE-4D48-8EA2-E46B9A6E7407}"/>
              </a:ext>
            </a:extLst>
          </p:cNvPr>
          <p:cNvCxnSpPr/>
          <p:nvPr/>
        </p:nvCxnSpPr>
        <p:spPr>
          <a:xfrm>
            <a:off x="4398629" y="4426515"/>
            <a:ext cx="736600" cy="0"/>
          </a:xfrm>
          <a:prstGeom prst="line">
            <a:avLst/>
          </a:prstGeom>
        </p:spPr>
        <p:style>
          <a:lnRef idx="1">
            <a:schemeClr val="dk1"/>
          </a:lnRef>
          <a:fillRef idx="0">
            <a:schemeClr val="dk1"/>
          </a:fillRef>
          <a:effectRef idx="0">
            <a:schemeClr val="dk1"/>
          </a:effectRef>
          <a:fontRef idx="minor">
            <a:schemeClr val="tx1"/>
          </a:fontRef>
        </p:style>
      </p:cxnSp>
      <p:cxnSp>
        <p:nvCxnSpPr>
          <p:cNvPr id="28" name="直線接點 27">
            <a:extLst>
              <a:ext uri="{FF2B5EF4-FFF2-40B4-BE49-F238E27FC236}">
                <a16:creationId xmlns:a16="http://schemas.microsoft.com/office/drawing/2014/main" xmlns="" id="{095A99A9-6DFF-443C-BB3B-0B58B46AA86A}"/>
              </a:ext>
            </a:extLst>
          </p:cNvPr>
          <p:cNvCxnSpPr/>
          <p:nvPr/>
        </p:nvCxnSpPr>
        <p:spPr>
          <a:xfrm>
            <a:off x="6024229" y="3449990"/>
            <a:ext cx="0" cy="976525"/>
          </a:xfrm>
          <a:prstGeom prst="line">
            <a:avLst/>
          </a:prstGeom>
        </p:spPr>
        <p:style>
          <a:lnRef idx="1">
            <a:schemeClr val="dk1"/>
          </a:lnRef>
          <a:fillRef idx="0">
            <a:schemeClr val="dk1"/>
          </a:fillRef>
          <a:effectRef idx="0">
            <a:schemeClr val="dk1"/>
          </a:effectRef>
          <a:fontRef idx="minor">
            <a:schemeClr val="tx1"/>
          </a:fontRef>
        </p:style>
      </p:cxnSp>
      <p:cxnSp>
        <p:nvCxnSpPr>
          <p:cNvPr id="29" name="直線接點 28">
            <a:extLst>
              <a:ext uri="{FF2B5EF4-FFF2-40B4-BE49-F238E27FC236}">
                <a16:creationId xmlns:a16="http://schemas.microsoft.com/office/drawing/2014/main" xmlns="" id="{C4D69EA2-73BC-41C7-BAB1-4F64EC757197}"/>
              </a:ext>
            </a:extLst>
          </p:cNvPr>
          <p:cNvCxnSpPr/>
          <p:nvPr/>
        </p:nvCxnSpPr>
        <p:spPr>
          <a:xfrm>
            <a:off x="6760829" y="3449990"/>
            <a:ext cx="0" cy="976525"/>
          </a:xfrm>
          <a:prstGeom prst="line">
            <a:avLst/>
          </a:prstGeom>
        </p:spPr>
        <p:style>
          <a:lnRef idx="1">
            <a:schemeClr val="dk1"/>
          </a:lnRef>
          <a:fillRef idx="0">
            <a:schemeClr val="dk1"/>
          </a:fillRef>
          <a:effectRef idx="0">
            <a:schemeClr val="dk1"/>
          </a:effectRef>
          <a:fontRef idx="minor">
            <a:schemeClr val="tx1"/>
          </a:fontRef>
        </p:style>
      </p:cxnSp>
      <p:cxnSp>
        <p:nvCxnSpPr>
          <p:cNvPr id="30" name="直線接點 29">
            <a:extLst>
              <a:ext uri="{FF2B5EF4-FFF2-40B4-BE49-F238E27FC236}">
                <a16:creationId xmlns:a16="http://schemas.microsoft.com/office/drawing/2014/main" xmlns="" id="{3043DAE0-4BF8-4813-87BE-8326DF070A8D}"/>
              </a:ext>
            </a:extLst>
          </p:cNvPr>
          <p:cNvCxnSpPr/>
          <p:nvPr/>
        </p:nvCxnSpPr>
        <p:spPr>
          <a:xfrm>
            <a:off x="6024229" y="4426515"/>
            <a:ext cx="736600" cy="0"/>
          </a:xfrm>
          <a:prstGeom prst="line">
            <a:avLst/>
          </a:prstGeom>
        </p:spPr>
        <p:style>
          <a:lnRef idx="1">
            <a:schemeClr val="dk1"/>
          </a:lnRef>
          <a:fillRef idx="0">
            <a:schemeClr val="dk1"/>
          </a:fillRef>
          <a:effectRef idx="0">
            <a:schemeClr val="dk1"/>
          </a:effectRef>
          <a:fontRef idx="minor">
            <a:schemeClr val="tx1"/>
          </a:fontRef>
        </p:style>
      </p:cxnSp>
      <p:cxnSp>
        <p:nvCxnSpPr>
          <p:cNvPr id="31" name="直線接點 30">
            <a:extLst>
              <a:ext uri="{FF2B5EF4-FFF2-40B4-BE49-F238E27FC236}">
                <a16:creationId xmlns:a16="http://schemas.microsoft.com/office/drawing/2014/main" xmlns="" id="{E7F3FD53-1C8C-467E-9639-477FD1BB1F96}"/>
              </a:ext>
            </a:extLst>
          </p:cNvPr>
          <p:cNvCxnSpPr/>
          <p:nvPr/>
        </p:nvCxnSpPr>
        <p:spPr>
          <a:xfrm>
            <a:off x="9034129" y="3494613"/>
            <a:ext cx="0" cy="976525"/>
          </a:xfrm>
          <a:prstGeom prst="line">
            <a:avLst/>
          </a:prstGeom>
        </p:spPr>
        <p:style>
          <a:lnRef idx="1">
            <a:schemeClr val="dk1"/>
          </a:lnRef>
          <a:fillRef idx="0">
            <a:schemeClr val="dk1"/>
          </a:fillRef>
          <a:effectRef idx="0">
            <a:schemeClr val="dk1"/>
          </a:effectRef>
          <a:fontRef idx="minor">
            <a:schemeClr val="tx1"/>
          </a:fontRef>
        </p:style>
      </p:cxnSp>
      <p:cxnSp>
        <p:nvCxnSpPr>
          <p:cNvPr id="32" name="直線接點 31">
            <a:extLst>
              <a:ext uri="{FF2B5EF4-FFF2-40B4-BE49-F238E27FC236}">
                <a16:creationId xmlns:a16="http://schemas.microsoft.com/office/drawing/2014/main" xmlns="" id="{DA0F7639-6042-4964-A239-B7E24340E915}"/>
              </a:ext>
            </a:extLst>
          </p:cNvPr>
          <p:cNvCxnSpPr/>
          <p:nvPr/>
        </p:nvCxnSpPr>
        <p:spPr>
          <a:xfrm>
            <a:off x="9770729" y="3494613"/>
            <a:ext cx="0" cy="976525"/>
          </a:xfrm>
          <a:prstGeom prst="line">
            <a:avLst/>
          </a:prstGeom>
        </p:spPr>
        <p:style>
          <a:lnRef idx="1">
            <a:schemeClr val="dk1"/>
          </a:lnRef>
          <a:fillRef idx="0">
            <a:schemeClr val="dk1"/>
          </a:fillRef>
          <a:effectRef idx="0">
            <a:schemeClr val="dk1"/>
          </a:effectRef>
          <a:fontRef idx="minor">
            <a:schemeClr val="tx1"/>
          </a:fontRef>
        </p:style>
      </p:cxnSp>
      <p:cxnSp>
        <p:nvCxnSpPr>
          <p:cNvPr id="33" name="直線接點 32">
            <a:extLst>
              <a:ext uri="{FF2B5EF4-FFF2-40B4-BE49-F238E27FC236}">
                <a16:creationId xmlns:a16="http://schemas.microsoft.com/office/drawing/2014/main" xmlns="" id="{383BA738-93C2-4949-AA2D-129106786A7F}"/>
              </a:ext>
            </a:extLst>
          </p:cNvPr>
          <p:cNvCxnSpPr/>
          <p:nvPr/>
        </p:nvCxnSpPr>
        <p:spPr>
          <a:xfrm>
            <a:off x="9034129" y="4471138"/>
            <a:ext cx="736600" cy="0"/>
          </a:xfrm>
          <a:prstGeom prst="line">
            <a:avLst/>
          </a:prstGeom>
        </p:spPr>
        <p:style>
          <a:lnRef idx="1">
            <a:schemeClr val="dk1"/>
          </a:lnRef>
          <a:fillRef idx="0">
            <a:schemeClr val="dk1"/>
          </a:fillRef>
          <a:effectRef idx="0">
            <a:schemeClr val="dk1"/>
          </a:effectRef>
          <a:fontRef idx="minor">
            <a:schemeClr val="tx1"/>
          </a:fontRef>
        </p:style>
      </p:cxnSp>
      <p:sp>
        <p:nvSpPr>
          <p:cNvPr id="38" name="橢圓 37">
            <a:extLst>
              <a:ext uri="{FF2B5EF4-FFF2-40B4-BE49-F238E27FC236}">
                <a16:creationId xmlns:a16="http://schemas.microsoft.com/office/drawing/2014/main" xmlns="" id="{5D466804-2668-4FE7-83C1-D689D748294C}"/>
              </a:ext>
            </a:extLst>
          </p:cNvPr>
          <p:cNvSpPr/>
          <p:nvPr/>
        </p:nvSpPr>
        <p:spPr>
          <a:xfrm>
            <a:off x="7211513" y="3887788"/>
            <a:ext cx="100929" cy="10092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xmlns="" id="{EC5CB1EA-2966-4979-9EDB-B194F48B175C}"/>
              </a:ext>
            </a:extLst>
          </p:cNvPr>
          <p:cNvSpPr/>
          <p:nvPr/>
        </p:nvSpPr>
        <p:spPr>
          <a:xfrm>
            <a:off x="7770986" y="3887787"/>
            <a:ext cx="100929" cy="10092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0" name="橢圓 39">
            <a:extLst>
              <a:ext uri="{FF2B5EF4-FFF2-40B4-BE49-F238E27FC236}">
                <a16:creationId xmlns:a16="http://schemas.microsoft.com/office/drawing/2014/main" xmlns="" id="{BAE1AB59-C122-4A2A-9209-A68DC12B457C}"/>
              </a:ext>
            </a:extLst>
          </p:cNvPr>
          <p:cNvSpPr/>
          <p:nvPr/>
        </p:nvSpPr>
        <p:spPr>
          <a:xfrm>
            <a:off x="8342819" y="3890719"/>
            <a:ext cx="100929" cy="10092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1" name="左大括弧 40">
            <a:extLst>
              <a:ext uri="{FF2B5EF4-FFF2-40B4-BE49-F238E27FC236}">
                <a16:creationId xmlns:a16="http://schemas.microsoft.com/office/drawing/2014/main" xmlns="" id="{359FB070-004C-448D-906E-A3AA82A6CC5A}"/>
              </a:ext>
            </a:extLst>
          </p:cNvPr>
          <p:cNvSpPr/>
          <p:nvPr/>
        </p:nvSpPr>
        <p:spPr>
          <a:xfrm rot="16200000">
            <a:off x="6878857" y="2302586"/>
            <a:ext cx="507991" cy="560847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a:p>
        </p:txBody>
      </p:sp>
      <p:sp>
        <p:nvSpPr>
          <p:cNvPr id="42" name="文字方塊 41">
            <a:extLst>
              <a:ext uri="{FF2B5EF4-FFF2-40B4-BE49-F238E27FC236}">
                <a16:creationId xmlns:a16="http://schemas.microsoft.com/office/drawing/2014/main" xmlns="" id="{7655F74E-541F-4177-A8E3-128E6F1FEDCE}"/>
              </a:ext>
            </a:extLst>
          </p:cNvPr>
          <p:cNvSpPr txBox="1"/>
          <p:nvPr/>
        </p:nvSpPr>
        <p:spPr>
          <a:xfrm>
            <a:off x="6671929" y="5417798"/>
            <a:ext cx="1072984"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Average</a:t>
            </a:r>
            <a:endParaRPr lang="zh-TW" altLang="en-US" dirty="0">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xmlns="" id="{A01BF352-6B9E-475B-BB12-F61B6D8D79D5}"/>
              </a:ext>
            </a:extLst>
          </p:cNvPr>
          <p:cNvSpPr/>
          <p:nvPr/>
        </p:nvSpPr>
        <p:spPr>
          <a:xfrm>
            <a:off x="4442240" y="3716074"/>
            <a:ext cx="215901" cy="165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xmlns="" id="{8EF73570-E0FB-4297-BB72-50DB87531100}"/>
              </a:ext>
            </a:extLst>
          </p:cNvPr>
          <p:cNvSpPr/>
          <p:nvPr/>
        </p:nvSpPr>
        <p:spPr>
          <a:xfrm>
            <a:off x="9107070" y="3839110"/>
            <a:ext cx="215901" cy="1651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xmlns="" id="{5123956B-6F2C-42D6-9021-271BE3C91C95}"/>
              </a:ext>
            </a:extLst>
          </p:cNvPr>
          <p:cNvSpPr/>
          <p:nvPr/>
        </p:nvSpPr>
        <p:spPr>
          <a:xfrm>
            <a:off x="4458535" y="4017855"/>
            <a:ext cx="215901" cy="1651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xmlns="" id="{2D8D45EF-E6E6-41C9-BA42-13CB45828AEE}"/>
              </a:ext>
            </a:extLst>
          </p:cNvPr>
          <p:cNvSpPr/>
          <p:nvPr/>
        </p:nvSpPr>
        <p:spPr>
          <a:xfrm>
            <a:off x="6135604" y="3785459"/>
            <a:ext cx="215901" cy="1651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8" name="矩形 47">
            <a:extLst>
              <a:ext uri="{FF2B5EF4-FFF2-40B4-BE49-F238E27FC236}">
                <a16:creationId xmlns:a16="http://schemas.microsoft.com/office/drawing/2014/main" xmlns="" id="{6CC62AA7-F081-44DC-ABFA-70A7E5AACCB4}"/>
              </a:ext>
            </a:extLst>
          </p:cNvPr>
          <p:cNvSpPr/>
          <p:nvPr/>
        </p:nvSpPr>
        <p:spPr>
          <a:xfrm>
            <a:off x="4785645" y="3706776"/>
            <a:ext cx="215901" cy="1651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xmlns="" id="{BCEB5A68-F28C-4396-B608-3A90D9312896}"/>
              </a:ext>
            </a:extLst>
          </p:cNvPr>
          <p:cNvSpPr/>
          <p:nvPr/>
        </p:nvSpPr>
        <p:spPr>
          <a:xfrm>
            <a:off x="9131422" y="4153974"/>
            <a:ext cx="215901" cy="1651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xmlns="" id="{6D9F00D7-6AC7-49B2-8D17-FA7DE9E130BA}"/>
              </a:ext>
            </a:extLst>
          </p:cNvPr>
          <p:cNvSpPr/>
          <p:nvPr/>
        </p:nvSpPr>
        <p:spPr>
          <a:xfrm>
            <a:off x="6467433" y="3760308"/>
            <a:ext cx="215901" cy="16510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xmlns="" id="{FDCF9F41-BD79-48A2-811E-24913D16609D}"/>
              </a:ext>
            </a:extLst>
          </p:cNvPr>
          <p:cNvSpPr/>
          <p:nvPr/>
        </p:nvSpPr>
        <p:spPr>
          <a:xfrm>
            <a:off x="9421144" y="3833361"/>
            <a:ext cx="215901" cy="16510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xmlns="" id="{EF7D6007-7AD7-4CAE-9943-0B81E349272D}"/>
              </a:ext>
            </a:extLst>
          </p:cNvPr>
          <p:cNvSpPr/>
          <p:nvPr/>
        </p:nvSpPr>
        <p:spPr>
          <a:xfrm>
            <a:off x="6141624" y="4021781"/>
            <a:ext cx="215901" cy="165100"/>
          </a:xfrm>
          <a:prstGeom prst="rect">
            <a:avLst/>
          </a:prstGeom>
          <a:solidFill>
            <a:schemeClr val="accent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xmlns="" id="{518FF1A1-A61E-4AA3-A3F1-95A81CC32C8D}"/>
              </a:ext>
            </a:extLst>
          </p:cNvPr>
          <p:cNvSpPr/>
          <p:nvPr/>
        </p:nvSpPr>
        <p:spPr>
          <a:xfrm>
            <a:off x="4792327" y="4038113"/>
            <a:ext cx="215901" cy="165100"/>
          </a:xfrm>
          <a:prstGeom prst="rect">
            <a:avLst/>
          </a:prstGeom>
          <a:solidFill>
            <a:schemeClr val="accent3">
              <a:lumMod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4" name="矩形 53">
            <a:extLst>
              <a:ext uri="{FF2B5EF4-FFF2-40B4-BE49-F238E27FC236}">
                <a16:creationId xmlns:a16="http://schemas.microsoft.com/office/drawing/2014/main" xmlns="" id="{45CFF5EC-F9F0-4D41-87EC-26777B876CB9}"/>
              </a:ext>
            </a:extLst>
          </p:cNvPr>
          <p:cNvSpPr/>
          <p:nvPr/>
        </p:nvSpPr>
        <p:spPr>
          <a:xfrm>
            <a:off x="9438565" y="4155124"/>
            <a:ext cx="215901" cy="165100"/>
          </a:xfrm>
          <a:prstGeom prst="rect">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5" name="矩形 54">
            <a:extLst>
              <a:ext uri="{FF2B5EF4-FFF2-40B4-BE49-F238E27FC236}">
                <a16:creationId xmlns:a16="http://schemas.microsoft.com/office/drawing/2014/main" xmlns="" id="{9FDA1C5D-5E85-470C-BAC8-DAF841C16C93}"/>
              </a:ext>
            </a:extLst>
          </p:cNvPr>
          <p:cNvSpPr/>
          <p:nvPr/>
        </p:nvSpPr>
        <p:spPr>
          <a:xfrm>
            <a:off x="6456028" y="4020036"/>
            <a:ext cx="215901" cy="1651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xmlns="" id="{7819EAF5-3A24-4026-B302-FABF883FD10E}"/>
              </a:ext>
            </a:extLst>
          </p:cNvPr>
          <p:cNvSpPr txBox="1"/>
          <p:nvPr/>
        </p:nvSpPr>
        <p:spPr>
          <a:xfrm>
            <a:off x="2437122" y="5709549"/>
            <a:ext cx="903096"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Testing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8556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Weighted multicategory generalized eigenvalue proximal SVM(WMGEPSVM)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lnSpcReduction="10000"/>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sSubSup>
                      <m:sSubSupPr>
                        <m:ctrlPr>
                          <a:rPr lang="en-US" altLang="zh-TW" b="0" i="1" smtClean="0">
                            <a:latin typeface="Cambria Math" panose="02040503050406030204" pitchFamily="18" charset="0"/>
                            <a:cs typeface="Times New Roman" panose="02020603050405020304" pitchFamily="18" charset="0"/>
                          </a:rPr>
                        </m:ctrlPr>
                      </m:sSubSupPr>
                      <m:e>
                        <m:r>
                          <a:rPr lang="zh-TW" altLang="en-US" b="0" i="1" smtClean="0">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𝑇</m:t>
                        </m:r>
                      </m:sup>
                    </m:sSubSup>
                    <m:r>
                      <a:rPr lang="en-US" altLang="zh-TW" b="0" i="1" smtClean="0">
                        <a:latin typeface="Cambria Math" panose="02040503050406030204" pitchFamily="18" charset="0"/>
                        <a:cs typeface="Times New Roman" panose="02020603050405020304" pitchFamily="18" charset="0"/>
                      </a:rPr>
                      <m:t>𝑋</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𝑏</m:t>
                        </m:r>
                      </m:e>
                      <m:sub>
                        <m:r>
                          <a:rPr lang="en-US" altLang="zh-TW" b="0" i="1" smtClean="0">
                            <a:latin typeface="Cambria Math" panose="02040503050406030204" pitchFamily="18" charset="0"/>
                            <a:cs typeface="Times New Roman" panose="02020603050405020304" pitchFamily="18" charset="0"/>
                          </a:rPr>
                          <m:t>𝑖</m:t>
                        </m:r>
                      </m:sub>
                    </m:sSub>
                  </m:oMath>
                </a14:m>
                <a:endParaRPr lang="en-US" altLang="zh-TW" b="0"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m>
                      <m:mPr>
                        <m:mcs>
                          <m:mc>
                            <m:mcPr>
                              <m:count m:val="1"/>
                              <m:mcJc m:val="center"/>
                            </m:mcPr>
                          </m:mc>
                        </m:mcs>
                        <m:ctrlPr>
                          <a:rPr lang="en-US" altLang="zh-TW" b="0" i="1" dirty="0" smtClean="0">
                            <a:latin typeface="Cambria Math" panose="02040503050406030204" pitchFamily="18" charset="0"/>
                            <a:cs typeface="Times New Roman" panose="02020603050405020304" pitchFamily="18" charset="0"/>
                          </a:rPr>
                        </m:ctrlPr>
                      </m:mPr>
                      <m:mr>
                        <m:e>
                          <m:r>
                            <m:rPr>
                              <m:brk m:alnAt="7"/>
                            </m:rPr>
                            <a:rPr lang="en-US" altLang="zh-TW" b="0" i="1" dirty="0" smtClean="0">
                              <a:latin typeface="Cambria Math" panose="02040503050406030204" pitchFamily="18" charset="0"/>
                              <a:cs typeface="Times New Roman" panose="02020603050405020304" pitchFamily="18" charset="0"/>
                            </a:rPr>
                            <m:t>𝑚</m:t>
                          </m:r>
                          <m:r>
                            <a:rPr lang="en-US" altLang="zh-TW" b="0" i="1" dirty="0" smtClean="0">
                              <a:latin typeface="Cambria Math" panose="02040503050406030204" pitchFamily="18" charset="0"/>
                              <a:cs typeface="Times New Roman" panose="02020603050405020304" pitchFamily="18" charset="0"/>
                            </a:rPr>
                            <m:t>𝑖𝑛𝑖𝑚𝑖𝑧𝑒</m:t>
                          </m:r>
                        </m:e>
                      </m:mr>
                      <m:m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𝑧</m:t>
                              </m:r>
                            </m:e>
                            <m:sub>
                              <m:r>
                                <a:rPr lang="en-US" altLang="zh-TW" b="0" i="1" dirty="0" smtClean="0">
                                  <a:latin typeface="Cambria Math" panose="02040503050406030204" pitchFamily="18" charset="0"/>
                                  <a:cs typeface="Times New Roman" panose="02020603050405020304" pitchFamily="18" charset="0"/>
                                </a:rPr>
                                <m:t>𝑖</m:t>
                              </m:r>
                            </m:sub>
                          </m:sSub>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≠0</m:t>
                          </m:r>
                        </m:e>
                      </m:mr>
                    </m:m>
                    <m:f>
                      <m:fPr>
                        <m:ctrlPr>
                          <a:rPr lang="en-US" altLang="zh-TW" b="0" i="1" dirty="0" smtClean="0">
                            <a:latin typeface="Cambria Math" panose="02040503050406030204" pitchFamily="18" charset="0"/>
                            <a:cs typeface="Times New Roman" panose="02020603050405020304" pitchFamily="18" charset="0"/>
                          </a:rPr>
                        </m:ctrlPr>
                      </m:fPr>
                      <m:num>
                        <m:sSubSup>
                          <m:sSubSupPr>
                            <m:ctrlPr>
                              <a:rPr lang="en-US" altLang="zh-TW" b="0" i="1" dirty="0" smtClean="0">
                                <a:latin typeface="Cambria Math" panose="02040503050406030204" pitchFamily="18" charset="0"/>
                                <a:cs typeface="Times New Roman" panose="02020603050405020304" pitchFamily="18" charset="0"/>
                              </a:rPr>
                            </m:ctrlPr>
                          </m:sSubSupPr>
                          <m:e>
                            <m:r>
                              <a:rPr lang="en-US" altLang="zh-TW" b="0" i="1" dirty="0" smtClean="0">
                                <a:latin typeface="Cambria Math" panose="02040503050406030204" pitchFamily="18" charset="0"/>
                                <a:cs typeface="Times New Roman" panose="02020603050405020304" pitchFamily="18" charset="0"/>
                              </a:rPr>
                              <m:t>𝑧</m:t>
                            </m:r>
                          </m:e>
                          <m:sub>
                            <m:r>
                              <a:rPr lang="en-US" altLang="zh-TW" b="0" i="1" dirty="0" smtClean="0">
                                <a:latin typeface="Cambria Math" panose="02040503050406030204" pitchFamily="18" charset="0"/>
                                <a:cs typeface="Times New Roman" panose="02020603050405020304" pitchFamily="18" charset="0"/>
                              </a:rPr>
                              <m:t>𝑖</m:t>
                            </m:r>
                          </m:sub>
                          <m:sup>
                            <m:r>
                              <a:rPr lang="en-US" altLang="zh-TW" b="0" i="1" dirty="0" smtClean="0">
                                <a:latin typeface="Cambria Math" panose="02040503050406030204" pitchFamily="18" charset="0"/>
                                <a:cs typeface="Times New Roman" panose="02020603050405020304" pitchFamily="18" charset="0"/>
                              </a:rPr>
                              <m:t>𝑇</m:t>
                            </m:r>
                          </m:sup>
                        </m:sSubSup>
                        <m:sSub>
                          <m:sSubPr>
                            <m:ctrlPr>
                              <a:rPr lang="en-US" altLang="zh-TW" b="0" i="1" dirty="0" smtClean="0">
                                <a:latin typeface="Cambria Math" panose="02040503050406030204" pitchFamily="18" charset="0"/>
                                <a:cs typeface="Times New Roman" panose="02020603050405020304" pitchFamily="18" charset="0"/>
                              </a:rPr>
                            </m:ctrlPr>
                          </m:sSubPr>
                          <m:e>
                            <m:r>
                              <a:rPr lang="zh-TW" altLang="en-US" b="0" i="1" dirty="0" smtClean="0">
                                <a:latin typeface="Cambria Math" panose="02040503050406030204" pitchFamily="18" charset="0"/>
                                <a:cs typeface="Times New Roman" panose="02020603050405020304" pitchFamily="18" charset="0"/>
                              </a:rPr>
                              <m:t>𝛼</m:t>
                            </m:r>
                          </m:e>
                          <m:sub>
                            <m:r>
                              <a:rPr lang="en-US" altLang="zh-TW" b="0" i="1" dirty="0" smtClean="0">
                                <a:latin typeface="Cambria Math" panose="02040503050406030204" pitchFamily="18" charset="0"/>
                                <a:cs typeface="Times New Roman" panose="02020603050405020304" pitchFamily="18" charset="0"/>
                              </a:rPr>
                              <m:t>𝑖</m:t>
                            </m:r>
                          </m:sub>
                        </m:sSub>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𝑧</m:t>
                            </m:r>
                          </m:e>
                          <m:sub>
                            <m:r>
                              <a:rPr lang="en-US" altLang="zh-TW" b="0" i="1" dirty="0" smtClean="0">
                                <a:latin typeface="Cambria Math" panose="02040503050406030204" pitchFamily="18" charset="0"/>
                                <a:cs typeface="Times New Roman" panose="02020603050405020304" pitchFamily="18" charset="0"/>
                              </a:rPr>
                              <m:t>𝑖</m:t>
                            </m:r>
                          </m:sub>
                        </m:sSub>
                      </m:num>
                      <m:den>
                        <m:sSubSup>
                          <m:sSubSupPr>
                            <m:ctrlPr>
                              <a:rPr lang="en-US" altLang="zh-TW" i="1" dirty="0">
                                <a:latin typeface="Cambria Math" panose="02040503050406030204" pitchFamily="18" charset="0"/>
                                <a:cs typeface="Times New Roman" panose="02020603050405020304" pitchFamily="18" charset="0"/>
                              </a:rPr>
                            </m:ctrlPr>
                          </m:sSubSupPr>
                          <m:e>
                            <m:r>
                              <a:rPr lang="en-US" altLang="zh-TW" i="1" dirty="0">
                                <a:latin typeface="Cambria Math" panose="02040503050406030204" pitchFamily="18" charset="0"/>
                                <a:cs typeface="Times New Roman" panose="02020603050405020304" pitchFamily="18" charset="0"/>
                              </a:rPr>
                              <m:t>𝑧</m:t>
                            </m:r>
                          </m:e>
                          <m:sub>
                            <m:r>
                              <a:rPr lang="en-US" altLang="zh-TW" i="1" dirty="0">
                                <a:latin typeface="Cambria Math" panose="02040503050406030204" pitchFamily="18" charset="0"/>
                                <a:cs typeface="Times New Roman" panose="02020603050405020304" pitchFamily="18" charset="0"/>
                              </a:rPr>
                              <m:t>𝑖</m:t>
                            </m:r>
                          </m:sub>
                          <m:sup>
                            <m:r>
                              <a:rPr lang="en-US" altLang="zh-TW" i="1" dirty="0">
                                <a:latin typeface="Cambria Math" panose="02040503050406030204" pitchFamily="18" charset="0"/>
                                <a:cs typeface="Times New Roman" panose="02020603050405020304" pitchFamily="18" charset="0"/>
                              </a:rPr>
                              <m:t>𝑇</m:t>
                            </m:r>
                          </m:sup>
                        </m:sSubSup>
                        <m:sSub>
                          <m:sSubPr>
                            <m:ctrlPr>
                              <a:rPr lang="en-US" altLang="zh-TW" i="1" dirty="0">
                                <a:latin typeface="Cambria Math" panose="02040503050406030204" pitchFamily="18" charset="0"/>
                                <a:cs typeface="Times New Roman" panose="02020603050405020304" pitchFamily="18" charset="0"/>
                              </a:rPr>
                            </m:ctrlPr>
                          </m:sSubPr>
                          <m:e>
                            <m:r>
                              <a:rPr lang="zh-TW" altLang="en-US" i="1" dirty="0" smtClean="0">
                                <a:latin typeface="Cambria Math" panose="02040503050406030204" pitchFamily="18" charset="0"/>
                                <a:cs typeface="Times New Roman" panose="02020603050405020304" pitchFamily="18" charset="0"/>
                              </a:rPr>
                              <m:t>𝛽</m:t>
                            </m:r>
                          </m:e>
                          <m:sub>
                            <m:r>
                              <a:rPr lang="en-US" altLang="zh-TW" b="0" i="1" dirty="0" smtClean="0">
                                <a:latin typeface="Cambria Math" panose="02040503050406030204" pitchFamily="18" charset="0"/>
                                <a:cs typeface="Times New Roman" panose="02020603050405020304" pitchFamily="18" charset="0"/>
                              </a:rPr>
                              <m:t>𝑗</m:t>
                            </m:r>
                          </m:sub>
                        </m:sSub>
                        <m:sSub>
                          <m:sSubPr>
                            <m:ctrlPr>
                              <a:rPr lang="en-US" altLang="zh-TW" i="1" dirty="0">
                                <a:latin typeface="Cambria Math" panose="02040503050406030204" pitchFamily="18" charset="0"/>
                                <a:cs typeface="Times New Roman" panose="02020603050405020304" pitchFamily="18" charset="0"/>
                              </a:rPr>
                            </m:ctrlPr>
                          </m:sSubPr>
                          <m:e>
                            <m:r>
                              <a:rPr lang="en-US" altLang="zh-TW" i="1" dirty="0">
                                <a:latin typeface="Cambria Math" panose="02040503050406030204" pitchFamily="18" charset="0"/>
                                <a:cs typeface="Times New Roman" panose="02020603050405020304" pitchFamily="18" charset="0"/>
                              </a:rPr>
                              <m:t>𝑧</m:t>
                            </m:r>
                          </m:e>
                          <m:sub>
                            <m:r>
                              <a:rPr lang="en-US" altLang="zh-TW" i="1" dirty="0">
                                <a:latin typeface="Cambria Math" panose="02040503050406030204" pitchFamily="18" charset="0"/>
                                <a:cs typeface="Times New Roman" panose="02020603050405020304" pitchFamily="18" charset="0"/>
                              </a:rPr>
                              <m:t>𝑖</m:t>
                            </m:r>
                          </m:sub>
                        </m:sSub>
                      </m:den>
                    </m:f>
                  </m:oMath>
                </a14:m>
                <a:r>
                  <a:rPr lang="en-US" altLang="zh-TW" b="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TW" i="1" dirty="0">
                            <a:latin typeface="Cambria Math" panose="02040503050406030204" pitchFamily="18" charset="0"/>
                            <a:cs typeface="Times New Roman" panose="02020603050405020304" pitchFamily="18" charset="0"/>
                          </a:rPr>
                        </m:ctrlPr>
                      </m:sSubPr>
                      <m:e>
                        <m:r>
                          <a:rPr lang="zh-TW" altLang="en-US" i="1" dirty="0">
                            <a:latin typeface="Cambria Math" panose="02040503050406030204" pitchFamily="18" charset="0"/>
                            <a:cs typeface="Times New Roman" panose="02020603050405020304" pitchFamily="18" charset="0"/>
                          </a:rPr>
                          <m:t>𝛼</m:t>
                        </m:r>
                      </m:e>
                      <m:sub>
                        <m:r>
                          <a:rPr lang="en-US" altLang="zh-TW" i="1" dirty="0">
                            <a:latin typeface="Cambria Math" panose="02040503050406030204" pitchFamily="18" charset="0"/>
                            <a:cs typeface="Times New Roman" panose="02020603050405020304" pitchFamily="18" charset="0"/>
                          </a:rPr>
                          <m:t>𝑖</m:t>
                        </m:r>
                      </m:sub>
                    </m:sSub>
                    <m:sSub>
                      <m:sSubPr>
                        <m:ctrlPr>
                          <a:rPr lang="en-US" altLang="zh-TW" i="1" dirty="0">
                            <a:latin typeface="Cambria Math" panose="02040503050406030204" pitchFamily="18" charset="0"/>
                            <a:cs typeface="Times New Roman" panose="02020603050405020304" pitchFamily="18" charset="0"/>
                          </a:rPr>
                        </m:ctrlPr>
                      </m:sSubPr>
                      <m:e>
                        <m:r>
                          <a:rPr lang="en-US" altLang="zh-TW" i="1" dirty="0">
                            <a:latin typeface="Cambria Math" panose="02040503050406030204" pitchFamily="18" charset="0"/>
                            <a:cs typeface="Times New Roman" panose="02020603050405020304" pitchFamily="18" charset="0"/>
                          </a:rPr>
                          <m:t>𝑧</m:t>
                        </m:r>
                      </m:e>
                      <m:sub>
                        <m:r>
                          <a:rPr lang="en-US" altLang="zh-TW" i="1" dirty="0">
                            <a:latin typeface="Cambria Math" panose="02040503050406030204" pitchFamily="18" charset="0"/>
                            <a:cs typeface="Times New Roman" panose="02020603050405020304" pitchFamily="18" charset="0"/>
                          </a:rPr>
                          <m:t>𝑖</m:t>
                        </m:r>
                      </m:sub>
                    </m:sSub>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l-GR" altLang="zh-TW" i="1" dirty="0">
                            <a:latin typeface="Cambria Math" panose="02040503050406030204" pitchFamily="18" charset="0"/>
                            <a:cs typeface="Times New Roman" panose="02020603050405020304" pitchFamily="18" charset="0"/>
                          </a:rPr>
                          <m:t>𝜆</m:t>
                        </m:r>
                      </m:e>
                      <m:sub>
                        <m:r>
                          <a:rPr lang="en-US" altLang="zh-TW" b="0" i="1" dirty="0" smtClean="0">
                            <a:latin typeface="Cambria Math" panose="02040503050406030204" pitchFamily="18" charset="0"/>
                            <a:cs typeface="Times New Roman" panose="02020603050405020304" pitchFamily="18" charset="0"/>
                          </a:rPr>
                          <m:t>𝑖</m:t>
                        </m:r>
                      </m:sub>
                    </m:sSub>
                    <m:sSub>
                      <m:sSubPr>
                        <m:ctrlPr>
                          <a:rPr lang="en-US" altLang="zh-TW" i="1" dirty="0">
                            <a:latin typeface="Cambria Math" panose="02040503050406030204" pitchFamily="18" charset="0"/>
                            <a:cs typeface="Times New Roman" panose="02020603050405020304" pitchFamily="18" charset="0"/>
                          </a:rPr>
                        </m:ctrlPr>
                      </m:sSubPr>
                      <m:e>
                        <m:r>
                          <a:rPr lang="zh-TW" altLang="en-US" i="1" dirty="0">
                            <a:latin typeface="Cambria Math" panose="02040503050406030204" pitchFamily="18" charset="0"/>
                            <a:cs typeface="Times New Roman" panose="02020603050405020304" pitchFamily="18" charset="0"/>
                          </a:rPr>
                          <m:t>𝛽</m:t>
                        </m:r>
                      </m:e>
                      <m:sub>
                        <m:r>
                          <a:rPr lang="en-US" altLang="zh-TW" i="1" dirty="0">
                            <a:latin typeface="Cambria Math" panose="02040503050406030204" pitchFamily="18" charset="0"/>
                            <a:cs typeface="Times New Roman" panose="02020603050405020304" pitchFamily="18" charset="0"/>
                          </a:rPr>
                          <m:t>𝑗</m:t>
                        </m:r>
                      </m:sub>
                    </m:sSub>
                    <m:sSub>
                      <m:sSubPr>
                        <m:ctrlPr>
                          <a:rPr lang="en-US" altLang="zh-TW" i="1" dirty="0">
                            <a:latin typeface="Cambria Math" panose="02040503050406030204" pitchFamily="18" charset="0"/>
                            <a:cs typeface="Times New Roman" panose="02020603050405020304" pitchFamily="18" charset="0"/>
                          </a:rPr>
                        </m:ctrlPr>
                      </m:sSubPr>
                      <m:e>
                        <m:r>
                          <a:rPr lang="en-US" altLang="zh-TW" i="1" dirty="0">
                            <a:latin typeface="Cambria Math" panose="02040503050406030204" pitchFamily="18" charset="0"/>
                            <a:cs typeface="Times New Roman" panose="02020603050405020304" pitchFamily="18" charset="0"/>
                          </a:rPr>
                          <m:t>𝑧</m:t>
                        </m:r>
                      </m:e>
                      <m:sub>
                        <m:r>
                          <a:rPr lang="en-US" altLang="zh-TW" i="1" dirty="0">
                            <a:latin typeface="Cambria Math" panose="02040503050406030204" pitchFamily="18" charset="0"/>
                            <a:cs typeface="Times New Roman" panose="02020603050405020304" pitchFamily="18" charset="0"/>
                          </a:rPr>
                          <m:t>𝑖</m:t>
                        </m:r>
                      </m:sub>
                    </m:sSub>
                  </m:oMath>
                </a14:m>
                <a:endParaRPr lang="en-US" altLang="zh-TW" b="0"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lang="en-US" altLang="zh-TW" i="1" dirty="0">
                            <a:latin typeface="Cambria Math" panose="02040503050406030204" pitchFamily="18" charset="0"/>
                            <a:cs typeface="Times New Roman" panose="02020603050405020304" pitchFamily="18" charset="0"/>
                          </a:rPr>
                        </m:ctrlPr>
                      </m:sSubPr>
                      <m:e>
                        <m:r>
                          <a:rPr lang="zh-TW" altLang="en-US" i="1" dirty="0">
                            <a:latin typeface="Cambria Math" panose="02040503050406030204" pitchFamily="18" charset="0"/>
                            <a:cs typeface="Times New Roman" panose="02020603050405020304" pitchFamily="18" charset="0"/>
                          </a:rPr>
                          <m:t>𝛼</m:t>
                        </m:r>
                      </m:e>
                      <m:sub>
                        <m:r>
                          <a:rPr lang="en-US" altLang="zh-TW" i="1" dirty="0">
                            <a:latin typeface="Cambria Math" panose="02040503050406030204" pitchFamily="18" charset="0"/>
                            <a:cs typeface="Times New Roman" panose="02020603050405020304" pitchFamily="18" charset="0"/>
                          </a:rPr>
                          <m:t>𝑖</m:t>
                        </m:r>
                      </m:sub>
                    </m:sSub>
                    <m:r>
                      <a:rPr lang="en-US" altLang="zh-TW" b="0" i="1" dirty="0" smtClean="0">
                        <a:latin typeface="Cambria Math" panose="02040503050406030204" pitchFamily="18" charset="0"/>
                        <a:cs typeface="Times New Roman" panose="02020603050405020304" pitchFamily="18" charset="0"/>
                      </a:rPr>
                      <m:t>=</m:t>
                    </m:r>
                    <m:sSup>
                      <m:sSupPr>
                        <m:ctrlPr>
                          <a:rPr lang="en-US" altLang="zh-TW" b="0" i="1" dirty="0" smtClean="0">
                            <a:latin typeface="Cambria Math" panose="02040503050406030204" pitchFamily="18" charset="0"/>
                            <a:cs typeface="Times New Roman" panose="02020603050405020304" pitchFamily="18" charset="0"/>
                          </a:rPr>
                        </m:ctrlPr>
                      </m:sSupPr>
                      <m:e>
                        <m:d>
                          <m:dPr>
                            <m:begChr m:val="["/>
                            <m:endChr m:val="]"/>
                            <m:ctrlPr>
                              <a:rPr lang="en-US" altLang="zh-TW" b="0" i="1" dirty="0" smtClean="0">
                                <a:latin typeface="Cambria Math" panose="02040503050406030204" pitchFamily="18" charset="0"/>
                                <a:cs typeface="Times New Roman" panose="02020603050405020304" pitchFamily="18" charset="0"/>
                              </a:rPr>
                            </m:ctrlPr>
                          </m:d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𝑋</m:t>
                                </m:r>
                              </m:e>
                              <m:sub>
                                <m:r>
                                  <a:rPr lang="en-US" altLang="zh-TW" b="0" i="1" dirty="0" smtClean="0">
                                    <a:latin typeface="Cambria Math" panose="02040503050406030204" pitchFamily="18" charset="0"/>
                                    <a:cs typeface="Times New Roman" panose="02020603050405020304" pitchFamily="18" charset="0"/>
                                  </a:rPr>
                                  <m:t>𝑖</m:t>
                                </m:r>
                              </m:sub>
                            </m:sSub>
                            <m:r>
                              <a:rPr lang="en-US" altLang="zh-TW" b="0" i="1" dirty="0" smtClean="0">
                                <a:latin typeface="Cambria Math" panose="02040503050406030204" pitchFamily="18" charset="0"/>
                                <a:cs typeface="Times New Roman" panose="02020603050405020304" pitchFamily="18" charset="0"/>
                              </a:rPr>
                              <m:t> </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𝑖</m:t>
                                </m:r>
                              </m:sub>
                            </m:sSub>
                          </m:e>
                        </m:d>
                      </m:e>
                      <m:sup>
                        <m:r>
                          <a:rPr lang="en-US" altLang="zh-TW" b="0" i="1" dirty="0" smtClean="0">
                            <a:latin typeface="Cambria Math" panose="02040503050406030204" pitchFamily="18" charset="0"/>
                            <a:cs typeface="Times New Roman" panose="02020603050405020304" pitchFamily="18" charset="0"/>
                          </a:rPr>
                          <m:t>𝑇</m:t>
                        </m:r>
                      </m:sup>
                    </m:sSup>
                    <m:d>
                      <m:dPr>
                        <m:begChr m:val="["/>
                        <m:endChr m:val="]"/>
                        <m:ctrlPr>
                          <a:rPr lang="en-US" altLang="zh-TW" b="0" i="1" dirty="0" smtClean="0">
                            <a:latin typeface="Cambria Math" panose="02040503050406030204" pitchFamily="18" charset="0"/>
                            <a:cs typeface="Times New Roman" panose="02020603050405020304" pitchFamily="18" charset="0"/>
                          </a:rPr>
                        </m:ctrlPr>
                      </m:d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𝑋</m:t>
                            </m:r>
                          </m:e>
                          <m:sub>
                            <m:r>
                              <a:rPr lang="en-US" altLang="zh-TW" b="0" i="1" dirty="0" smtClean="0">
                                <a:latin typeface="Cambria Math" panose="02040503050406030204" pitchFamily="18" charset="0"/>
                                <a:cs typeface="Times New Roman" panose="02020603050405020304" pitchFamily="18" charset="0"/>
                              </a:rPr>
                              <m:t>𝑖</m:t>
                            </m:r>
                          </m:sub>
                        </m:sSub>
                        <m:r>
                          <a:rPr lang="en-US" altLang="zh-TW" b="0" i="1" dirty="0" smtClean="0">
                            <a:latin typeface="Cambria Math" panose="02040503050406030204" pitchFamily="18" charset="0"/>
                            <a:cs typeface="Times New Roman" panose="02020603050405020304" pitchFamily="18" charset="0"/>
                          </a:rPr>
                          <m:t> </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𝑖</m:t>
                            </m:r>
                          </m:sub>
                        </m:sSub>
                      </m:e>
                    </m:d>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𝑣𝐼</m:t>
                    </m:r>
                  </m:oMath>
                </a14:m>
                <a:endParaRPr lang="en-US" altLang="zh-TW" b="0"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lang="en-US" altLang="zh-TW" i="1" dirty="0">
                            <a:latin typeface="Cambria Math" panose="02040503050406030204" pitchFamily="18" charset="0"/>
                            <a:cs typeface="Times New Roman" panose="02020603050405020304" pitchFamily="18" charset="0"/>
                          </a:rPr>
                        </m:ctrlPr>
                      </m:sSubPr>
                      <m:e>
                        <m:r>
                          <a:rPr lang="zh-TW" altLang="en-US" i="1" dirty="0">
                            <a:latin typeface="Cambria Math" panose="02040503050406030204" pitchFamily="18" charset="0"/>
                            <a:cs typeface="Times New Roman" panose="02020603050405020304" pitchFamily="18" charset="0"/>
                          </a:rPr>
                          <m:t>𝛽</m:t>
                        </m:r>
                      </m:e>
                      <m:sub>
                        <m:r>
                          <a:rPr lang="en-US" altLang="zh-TW" i="1" dirty="0">
                            <a:latin typeface="Cambria Math" panose="02040503050406030204" pitchFamily="18" charset="0"/>
                            <a:cs typeface="Times New Roman" panose="02020603050405020304" pitchFamily="18" charset="0"/>
                          </a:rPr>
                          <m:t>𝑗</m:t>
                        </m:r>
                      </m:sub>
                    </m:sSub>
                    <m:r>
                      <a:rPr lang="en-US" altLang="zh-TW" b="0" i="1" dirty="0" smtClean="0">
                        <a:latin typeface="Cambria Math" panose="02040503050406030204" pitchFamily="18" charset="0"/>
                        <a:cs typeface="Times New Roman" panose="02020603050405020304" pitchFamily="18" charset="0"/>
                      </a:rPr>
                      <m:t>=</m:t>
                    </m:r>
                    <m:nary>
                      <m:naryPr>
                        <m:chr m:val="∑"/>
                        <m:ctrlPr>
                          <a:rPr lang="en-US" altLang="zh-TW" b="0" i="1" dirty="0" smtClean="0">
                            <a:latin typeface="Cambria Math" panose="02040503050406030204" pitchFamily="18" charset="0"/>
                            <a:cs typeface="Times New Roman" panose="02020603050405020304" pitchFamily="18" charset="0"/>
                          </a:rPr>
                        </m:ctrlPr>
                      </m:naryPr>
                      <m:sub>
                        <m:r>
                          <m:rPr>
                            <m:brk m:alnAt="23"/>
                          </m:rPr>
                          <a:rPr lang="en-US" altLang="zh-TW" b="0" i="1" dirty="0" smtClean="0">
                            <a:latin typeface="Cambria Math" panose="02040503050406030204" pitchFamily="18" charset="0"/>
                            <a:cs typeface="Times New Roman" panose="02020603050405020304" pitchFamily="18" charset="0"/>
                          </a:rPr>
                          <m:t>𝑗</m:t>
                        </m:r>
                        <m:r>
                          <a:rPr lang="en-US" altLang="zh-TW" b="0" i="1" dirty="0" smtClean="0">
                            <a:latin typeface="Cambria Math" panose="02040503050406030204" pitchFamily="18" charset="0"/>
                            <a:cs typeface="Times New Roman" panose="02020603050405020304" pitchFamily="18" charset="0"/>
                          </a:rPr>
                          <m:t>=1</m:t>
                        </m:r>
                      </m:sub>
                      <m:sup>
                        <m:r>
                          <a:rPr lang="en-US" altLang="zh-TW" b="0" i="1" dirty="0" smtClean="0">
                            <a:latin typeface="Cambria Math" panose="02040503050406030204" pitchFamily="18" charset="0"/>
                            <a:cs typeface="Times New Roman" panose="02020603050405020304" pitchFamily="18" charset="0"/>
                          </a:rPr>
                          <m:t>𝐾</m:t>
                        </m:r>
                      </m:sup>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𝐶</m:t>
                            </m:r>
                          </m:e>
                          <m:sub>
                            <m:r>
                              <a:rPr lang="en-US" altLang="zh-TW" b="0" i="1" dirty="0" smtClean="0">
                                <a:latin typeface="Cambria Math" panose="02040503050406030204" pitchFamily="18" charset="0"/>
                                <a:cs typeface="Times New Roman" panose="02020603050405020304" pitchFamily="18" charset="0"/>
                              </a:rPr>
                              <m:t>𝑗</m:t>
                            </m:r>
                          </m:sub>
                        </m:sSub>
                        <m:sSup>
                          <m:sSupPr>
                            <m:ctrlPr>
                              <a:rPr lang="en-US" altLang="zh-TW" b="0" i="1" dirty="0" smtClean="0">
                                <a:latin typeface="Cambria Math" panose="02040503050406030204" pitchFamily="18" charset="0"/>
                                <a:cs typeface="Times New Roman" panose="02020603050405020304" pitchFamily="18" charset="0"/>
                              </a:rPr>
                            </m:ctrlPr>
                          </m:sSupPr>
                          <m:e>
                            <m:d>
                              <m:dPr>
                                <m:begChr m:val="["/>
                                <m:endChr m:val="]"/>
                                <m:ctrlPr>
                                  <a:rPr lang="en-US" altLang="zh-TW" b="0" i="1" dirty="0" smtClean="0">
                                    <a:latin typeface="Cambria Math" panose="02040503050406030204" pitchFamily="18" charset="0"/>
                                    <a:cs typeface="Times New Roman" panose="02020603050405020304" pitchFamily="18" charset="0"/>
                                  </a:rPr>
                                </m:ctrlPr>
                              </m:d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𝑋</m:t>
                                    </m:r>
                                  </m:e>
                                  <m:sub>
                                    <m:r>
                                      <a:rPr lang="en-US" altLang="zh-TW" b="0" i="1" dirty="0" smtClean="0">
                                        <a:latin typeface="Cambria Math" panose="02040503050406030204" pitchFamily="18" charset="0"/>
                                        <a:cs typeface="Times New Roman" panose="02020603050405020304" pitchFamily="18" charset="0"/>
                                      </a:rPr>
                                      <m:t>𝑗</m:t>
                                    </m:r>
                                  </m:sub>
                                </m:sSub>
                                <m:r>
                                  <a:rPr lang="en-US" altLang="zh-TW" b="0" i="1" dirty="0" smtClean="0">
                                    <a:latin typeface="Cambria Math" panose="02040503050406030204" pitchFamily="18" charset="0"/>
                                    <a:cs typeface="Times New Roman" panose="02020603050405020304" pitchFamily="18" charset="0"/>
                                  </a:rPr>
                                  <m:t> </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𝑗</m:t>
                                    </m:r>
                                  </m:sub>
                                </m:sSub>
                              </m:e>
                            </m:d>
                          </m:e>
                          <m:sup>
                            <m:r>
                              <a:rPr lang="en-US" altLang="zh-TW" b="0" i="1" dirty="0" smtClean="0">
                                <a:latin typeface="Cambria Math" panose="02040503050406030204" pitchFamily="18" charset="0"/>
                                <a:cs typeface="Times New Roman" panose="02020603050405020304" pitchFamily="18" charset="0"/>
                              </a:rPr>
                              <m:t>𝑇</m:t>
                            </m:r>
                          </m:sup>
                        </m:sSup>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𝑋</m:t>
                            </m:r>
                          </m:e>
                          <m:sub>
                            <m:r>
                              <a:rPr lang="en-US" altLang="zh-TW" b="0" i="1" dirty="0" smtClean="0">
                                <a:latin typeface="Cambria Math" panose="02040503050406030204" pitchFamily="18" charset="0"/>
                                <a:cs typeface="Times New Roman" panose="02020603050405020304" pitchFamily="18" charset="0"/>
                              </a:rPr>
                              <m:t>𝑗</m:t>
                            </m:r>
                          </m:sub>
                        </m:sSub>
                        <m:r>
                          <a:rPr lang="en-US" altLang="zh-TW" b="0" i="1" dirty="0" smtClean="0">
                            <a:latin typeface="Cambria Math" panose="02040503050406030204" pitchFamily="18" charset="0"/>
                            <a:cs typeface="Times New Roman" panose="02020603050405020304" pitchFamily="18" charset="0"/>
                          </a:rPr>
                          <m:t> </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𝑗</m:t>
                            </m:r>
                          </m:sub>
                        </m:sSub>
                        <m:r>
                          <a:rPr lang="en-US" altLang="zh-TW" b="0" i="1" dirty="0" smtClean="0">
                            <a:latin typeface="Cambria Math" panose="02040503050406030204" pitchFamily="18" charset="0"/>
                            <a:cs typeface="Times New Roman" panose="02020603050405020304" pitchFamily="18" charset="0"/>
                          </a:rPr>
                          <m:t>]</m:t>
                        </m:r>
                      </m:e>
                    </m:nary>
                  </m:oMath>
                </a14:m>
                <a:r>
                  <a:rPr lang="en-US" altLang="zh-TW" b="0" dirty="0">
                    <a:latin typeface="Times New Roman" panose="02020603050405020304" pitchFamily="18" charset="0"/>
                    <a:cs typeface="Times New Roman" panose="02020603050405020304" pitchFamily="18" charset="0"/>
                  </a:rPr>
                  <a:t>, </a:t>
                </a:r>
              </a:p>
              <a:p>
                <a:pPr lvl="1"/>
                <a14:m>
                  <m:oMath xmlns:m="http://schemas.openxmlformats.org/officeDocument/2006/math">
                    <m:sSub>
                      <m:sSubPr>
                        <m:ctrlPr>
                          <a:rPr lang="en-US" altLang="zh-TW" i="1" dirty="0">
                            <a:latin typeface="Cambria Math" panose="02040503050406030204" pitchFamily="18" charset="0"/>
                            <a:cs typeface="Times New Roman" panose="02020603050405020304" pitchFamily="18" charset="0"/>
                          </a:rPr>
                        </m:ctrlPr>
                      </m:sSubPr>
                      <m:e>
                        <m:r>
                          <a:rPr lang="en-US" altLang="zh-TW" i="1" dirty="0">
                            <a:latin typeface="Cambria Math" panose="02040503050406030204" pitchFamily="18" charset="0"/>
                            <a:cs typeface="Times New Roman" panose="02020603050405020304" pitchFamily="18" charset="0"/>
                          </a:rPr>
                          <m:t>𝑧</m:t>
                        </m:r>
                      </m:e>
                      <m:sub>
                        <m:r>
                          <a:rPr lang="en-US" altLang="zh-TW" i="1" dirty="0">
                            <a:latin typeface="Cambria Math" panose="02040503050406030204" pitchFamily="18" charset="0"/>
                            <a:cs typeface="Times New Roman" panose="02020603050405020304" pitchFamily="18" charset="0"/>
                          </a:rPr>
                          <m:t>𝑖</m:t>
                        </m:r>
                      </m:sub>
                    </m:sSub>
                    <m:r>
                      <a:rPr lang="en-US" altLang="zh-TW" b="0" i="1" dirty="0" smtClean="0">
                        <a:latin typeface="Cambria Math" panose="02040503050406030204" pitchFamily="18" charset="0"/>
                        <a:cs typeface="Times New Roman" panose="02020603050405020304" pitchFamily="18" charset="0"/>
                      </a:rPr>
                      <m:t>=</m:t>
                    </m:r>
                    <m:d>
                      <m:dPr>
                        <m:begChr m:val="["/>
                        <m:endChr m:val="]"/>
                        <m:ctrlPr>
                          <a:rPr lang="en-US" altLang="zh-TW" b="0" i="1" dirty="0" smtClean="0">
                            <a:latin typeface="Cambria Math" panose="02040503050406030204" pitchFamily="18" charset="0"/>
                            <a:cs typeface="Times New Roman" panose="02020603050405020304" pitchFamily="18" charset="0"/>
                          </a:rPr>
                        </m:ctrlPr>
                      </m:dPr>
                      <m:e>
                        <m:m>
                          <m:mPr>
                            <m:mcs>
                              <m:mc>
                                <m:mcPr>
                                  <m:count m:val="1"/>
                                  <m:mcJc m:val="center"/>
                                </m:mcPr>
                              </m:mc>
                            </m:mcs>
                            <m:ctrlPr>
                              <a:rPr lang="en-US" altLang="zh-TW" b="0" i="1" dirty="0" smtClean="0">
                                <a:latin typeface="Cambria Math" panose="02040503050406030204" pitchFamily="18" charset="0"/>
                                <a:cs typeface="Times New Roman" panose="02020603050405020304" pitchFamily="18" charset="0"/>
                              </a:rPr>
                            </m:ctrlPr>
                          </m:mPr>
                          <m:mr>
                            <m:e>
                              <m:sSub>
                                <m:sSubPr>
                                  <m:ctrlPr>
                                    <a:rPr lang="en-US" altLang="zh-TW" b="0"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𝑖</m:t>
                                  </m:r>
                                </m:sub>
                              </m:sSub>
                            </m:e>
                          </m:mr>
                          <m:m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𝑏</m:t>
                                  </m:r>
                                </m:e>
                                <m:sub>
                                  <m:r>
                                    <a:rPr lang="en-US" altLang="zh-TW" b="0" i="1" dirty="0" smtClean="0">
                                      <a:latin typeface="Cambria Math" panose="02040503050406030204" pitchFamily="18" charset="0"/>
                                      <a:cs typeface="Times New Roman" panose="02020603050405020304" pitchFamily="18" charset="0"/>
                                    </a:rPr>
                                    <m:t>𝑖</m:t>
                                  </m:r>
                                </m:sub>
                              </m:sSub>
                            </m:e>
                          </m:mr>
                        </m:m>
                      </m:e>
                    </m:d>
                  </m:oMath>
                </a14:m>
                <a:endParaRPr lang="en-US" altLang="zh-TW" b="0" dirty="0">
                  <a:latin typeface="Times New Roman" panose="02020603050405020304" pitchFamily="18" charset="0"/>
                  <a:cs typeface="Times New Roman" panose="02020603050405020304" pitchFamily="18" charset="0"/>
                </a:endParaRPr>
              </a:p>
              <a:p>
                <a:endParaRPr lang="en-US" altLang="zh-TW" b="0" dirty="0">
                  <a:latin typeface="Times New Roman" panose="02020603050405020304" pitchFamily="18" charset="0"/>
                  <a:cs typeface="Times New Roman" panose="02020603050405020304" pitchFamily="18" charset="0"/>
                </a:endParaRPr>
              </a:p>
              <a:p>
                <a14:m>
                  <m:oMath xmlns:m="http://schemas.openxmlformats.org/officeDocument/2006/math">
                    <m:r>
                      <m:rPr>
                        <m:sty m:val="p"/>
                      </m:rPr>
                      <a:rPr lang="en-US" altLang="zh-TW" i="1" dirty="0">
                        <a:latin typeface="Cambria Math" panose="02040503050406030204" pitchFamily="18" charset="0"/>
                        <a:cs typeface="Times New Roman" panose="02020603050405020304" pitchFamily="18" charset="0"/>
                      </a:rPr>
                      <m:t>P</m:t>
                    </m:r>
                    <m:r>
                      <a:rPr lang="en-US" altLang="zh-TW" i="1" dirty="0" smtClean="0">
                        <a:latin typeface="Cambria Math" panose="02040503050406030204" pitchFamily="18" charset="0"/>
                        <a:cs typeface="Times New Roman" panose="02020603050405020304" pitchFamily="18" charset="0"/>
                      </a:rPr>
                      <m:t>(</m:t>
                    </m:r>
                    <m:r>
                      <m:rPr>
                        <m:sty m:val="p"/>
                      </m:rPr>
                      <a:rPr lang="en-US" altLang="zh-TW" i="1" dirty="0">
                        <a:latin typeface="Cambria Math" panose="02040503050406030204" pitchFamily="18" charset="0"/>
                        <a:cs typeface="Times New Roman" panose="02020603050405020304" pitchFamily="18" charset="0"/>
                      </a:rPr>
                      <m:t>X</m:t>
                    </m:r>
                    <m:r>
                      <a:rPr lang="en-US" altLang="zh-TW" i="1" dirty="0" smtClean="0">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m:t>
                    </m:r>
                    <m:m>
                      <m:mPr>
                        <m:mcs>
                          <m:mc>
                            <m:mcPr>
                              <m:count m:val="1"/>
                              <m:mcJc m:val="center"/>
                            </m:mcPr>
                          </m:mc>
                        </m:mcs>
                        <m:ctrlPr>
                          <a:rPr lang="en-US" altLang="zh-TW" i="1" smtClean="0">
                            <a:latin typeface="Cambria Math" panose="02040503050406030204" pitchFamily="18" charset="0"/>
                            <a:cs typeface="Times New Roman" panose="02020603050405020304" pitchFamily="18" charset="0"/>
                          </a:rPr>
                        </m:ctrlPr>
                      </m:mPr>
                      <m:mr>
                        <m:e>
                          <m:func>
                            <m:funcPr>
                              <m:ctrlPr>
                                <a:rPr lang="en-US" altLang="zh-TW" b="0" i="1" smtClean="0">
                                  <a:latin typeface="Cambria Math" panose="02040503050406030204" pitchFamily="18" charset="0"/>
                                  <a:cs typeface="Times New Roman" panose="02020603050405020304" pitchFamily="18" charset="0"/>
                                </a:rPr>
                              </m:ctrlPr>
                            </m:funcPr>
                            <m:fName>
                              <m:r>
                                <m:rPr>
                                  <m:sty m:val="p"/>
                                  <m:brk m:alnAt="7"/>
                                </m:rPr>
                                <a:rPr lang="en-US" altLang="zh-TW" b="0" i="0" smtClean="0">
                                  <a:latin typeface="Cambria Math" panose="02040503050406030204" pitchFamily="18" charset="0"/>
                                  <a:cs typeface="Times New Roman" panose="02020603050405020304" pitchFamily="18" charset="0"/>
                                </a:rPr>
                                <m:t>a</m:t>
                              </m:r>
                              <m:r>
                                <m:rPr>
                                  <m:sty m:val="p"/>
                                </m:rPr>
                                <a:rPr lang="en-US" altLang="zh-TW" b="0" i="0" smtClean="0">
                                  <a:latin typeface="Cambria Math" panose="02040503050406030204" pitchFamily="18" charset="0"/>
                                  <a:cs typeface="Times New Roman" panose="02020603050405020304" pitchFamily="18" charset="0"/>
                                </a:rPr>
                                <m:t>rg</m:t>
                              </m:r>
                            </m:fName>
                            <m:e>
                              <m:r>
                                <a:rPr lang="en-US" altLang="zh-TW" b="0" i="1" smtClean="0">
                                  <a:latin typeface="Cambria Math" panose="02040503050406030204" pitchFamily="18" charset="0"/>
                                  <a:cs typeface="Times New Roman" panose="02020603050405020304" pitchFamily="18" charset="0"/>
                                </a:rPr>
                                <m:t>𝑚𝑖𝑛</m:t>
                              </m:r>
                            </m:e>
                          </m:func>
                        </m:e>
                      </m:mr>
                      <m:mr>
                        <m:e>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=1,2,..,</m:t>
                          </m:r>
                          <m:r>
                            <a:rPr lang="en-US" altLang="zh-TW" b="0" i="1" smtClean="0">
                              <a:latin typeface="Cambria Math" panose="02040503050406030204" pitchFamily="18" charset="0"/>
                              <a:cs typeface="Times New Roman" panose="02020603050405020304" pitchFamily="18" charset="0"/>
                            </a:rPr>
                            <m:t>𝐾</m:t>
                          </m:r>
                        </m:e>
                      </m:mr>
                    </m:m>
                    <m:f>
                      <m:fPr>
                        <m:ctrlPr>
                          <a:rPr lang="en-US" altLang="zh-TW" b="0" i="1" smtClean="0">
                            <a:latin typeface="Cambria Math" panose="02040503050406030204" pitchFamily="18" charset="0"/>
                            <a:cs typeface="Times New Roman" panose="02020603050405020304" pitchFamily="18" charset="0"/>
                          </a:rPr>
                        </m:ctrlPr>
                      </m:fPr>
                      <m:nu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𝑋</m:t>
                            </m:r>
                          </m:e>
                          <m:sup>
                            <m:r>
                              <a:rPr lang="en-US" altLang="zh-TW" b="0" i="1" smtClean="0">
                                <a:latin typeface="Cambria Math" panose="02040503050406030204" pitchFamily="18" charset="0"/>
                                <a:cs typeface="Times New Roman" panose="02020603050405020304" pitchFamily="18" charset="0"/>
                              </a:rPr>
                              <m:t>𝑇</m:t>
                            </m:r>
                          </m:sup>
                        </m:sSup>
                        <m:sSub>
                          <m:sSubPr>
                            <m:ctrlPr>
                              <a:rPr lang="en-US" altLang="zh-TW" b="0"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𝑖</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𝑏</m:t>
                            </m:r>
                          </m:e>
                          <m:sub>
                            <m:r>
                              <a:rPr lang="en-US" altLang="zh-TW" i="1">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num>
                      <m:den>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𝜔</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den>
                    </m:f>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xmlns="" id="{C1F134DF-5661-4714-B0D2-D38E1D0E6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2730" y="2127888"/>
            <a:ext cx="4029637" cy="4229690"/>
          </a:xfrm>
          <a:prstGeom prst="rect">
            <a:avLst/>
          </a:prstGeom>
        </p:spPr>
      </p:pic>
    </p:spTree>
    <p:extLst>
      <p:ext uri="{BB962C8B-B14F-4D97-AF65-F5344CB8AC3E}">
        <p14:creationId xmlns:p14="http://schemas.microsoft.com/office/powerpoint/2010/main" val="141368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Model selection and testing scheme</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xmlns="" id="{A8A88876-1B07-4DE6-9FBF-FAA2C70F61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6040" y="2082019"/>
            <a:ext cx="9579919" cy="4217373"/>
          </a:xfrm>
          <a:prstGeom prst="rect">
            <a:avLst/>
          </a:prstGeom>
        </p:spPr>
      </p:pic>
    </p:spTree>
    <p:extLst>
      <p:ext uri="{BB962C8B-B14F-4D97-AF65-F5344CB8AC3E}">
        <p14:creationId xmlns:p14="http://schemas.microsoft.com/office/powerpoint/2010/main" val="340254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Experimental result</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xmlns="" id="{172513F0-2793-46CB-9611-FBAFEEB8CD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065" y="2875559"/>
            <a:ext cx="4002712" cy="2302667"/>
          </a:xfrm>
          <a:prstGeom prst="rect">
            <a:avLst/>
          </a:prstGeom>
        </p:spPr>
      </p:pic>
      <p:pic>
        <p:nvPicPr>
          <p:cNvPr id="9" name="圖片 8">
            <a:extLst>
              <a:ext uri="{FF2B5EF4-FFF2-40B4-BE49-F238E27FC236}">
                <a16:creationId xmlns:a16="http://schemas.microsoft.com/office/drawing/2014/main" xmlns="" id="{61C3ACA7-28F2-4EB0-B5CE-749A68128A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99170" y="1690688"/>
            <a:ext cx="6551497" cy="5079229"/>
          </a:xfrm>
          <a:prstGeom prst="rect">
            <a:avLst/>
          </a:prstGeom>
        </p:spPr>
      </p:pic>
    </p:spTree>
    <p:extLst>
      <p:ext uri="{BB962C8B-B14F-4D97-AF65-F5344CB8AC3E}">
        <p14:creationId xmlns:p14="http://schemas.microsoft.com/office/powerpoint/2010/main" val="1155890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xmlns="" id="{0C62FEA5-F50D-4386-8D12-BD3D8F0731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23" y="480324"/>
            <a:ext cx="11190353" cy="5897351"/>
          </a:xfrm>
          <a:prstGeom prst="rect">
            <a:avLst/>
          </a:prstGeom>
        </p:spPr>
      </p:pic>
    </p:spTree>
    <p:extLst>
      <p:ext uri="{BB962C8B-B14F-4D97-AF65-F5344CB8AC3E}">
        <p14:creationId xmlns:p14="http://schemas.microsoft.com/office/powerpoint/2010/main" val="3968366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xmlns="" id="{62B086E7-CB43-44CD-B3A3-D3A88B3DC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8861" y="776168"/>
            <a:ext cx="9814277" cy="5364122"/>
          </a:xfrm>
          <a:prstGeom prst="rect">
            <a:avLst/>
          </a:prstGeom>
        </p:spPr>
      </p:pic>
    </p:spTree>
    <p:extLst>
      <p:ext uri="{BB962C8B-B14F-4D97-AF65-F5344CB8AC3E}">
        <p14:creationId xmlns:p14="http://schemas.microsoft.com/office/powerpoint/2010/main" val="177260594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16374</TotalTime>
  <Words>361</Words>
  <Application>Microsoft Office PowerPoint</Application>
  <PresentationFormat>寬螢幕</PresentationFormat>
  <Paragraphs>48</Paragraphs>
  <Slides>12</Slides>
  <Notes>10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新細明體</vt:lpstr>
      <vt:lpstr>Arial</vt:lpstr>
      <vt:lpstr>Calibri</vt:lpstr>
      <vt:lpstr>Calibri Light</vt:lpstr>
      <vt:lpstr>Cambria Math</vt:lpstr>
      <vt:lpstr>Times New Roman</vt:lpstr>
      <vt:lpstr>Office 佈景主題</vt:lpstr>
      <vt:lpstr>A hybrid financial trading support system using multi-category classifiers and random forest</vt:lpstr>
      <vt:lpstr>Abstract(1/2)</vt:lpstr>
      <vt:lpstr>Abstract(2/2)</vt:lpstr>
      <vt:lpstr>Trading strategy</vt:lpstr>
      <vt:lpstr>Input feature(1/2)</vt:lpstr>
      <vt:lpstr>Input feature(2/2)</vt:lpstr>
      <vt:lpstr>Random forests</vt:lpstr>
      <vt:lpstr>Weighted multicategory generalized eigenvalue proximal SVM(WMGEPSVM)</vt:lpstr>
      <vt:lpstr>Model selection and testing scheme</vt:lpstr>
      <vt:lpstr>Experimental result</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pplab-class</cp:lastModifiedBy>
  <cp:revision>554</cp:revision>
  <dcterms:created xsi:type="dcterms:W3CDTF">2017-09-07T05:36:32Z</dcterms:created>
  <dcterms:modified xsi:type="dcterms:W3CDTF">2018-05-23T11:35:40Z</dcterms:modified>
</cp:coreProperties>
</file>