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307" r:id="rId4"/>
    <p:sldId id="319" r:id="rId5"/>
    <p:sldId id="330" r:id="rId6"/>
    <p:sldId id="332" r:id="rId7"/>
    <p:sldId id="320" r:id="rId8"/>
    <p:sldId id="324" r:id="rId9"/>
    <p:sldId id="325" r:id="rId10"/>
    <p:sldId id="326" r:id="rId11"/>
    <p:sldId id="322" r:id="rId12"/>
    <p:sldId id="327" r:id="rId13"/>
    <p:sldId id="328" r:id="rId14"/>
    <p:sldId id="333" r:id="rId15"/>
    <p:sldId id="329" r:id="rId16"/>
    <p:sldId id="331"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06" autoAdjust="0"/>
    <p:restoredTop sz="95048" autoAdjust="0"/>
  </p:normalViewPr>
  <p:slideViewPr>
    <p:cSldViewPr snapToGrid="0">
      <p:cViewPr varScale="1">
        <p:scale>
          <a:sx n="114" d="100"/>
          <a:sy n="114" d="100"/>
        </p:scale>
        <p:origin x="6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2018/7/16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713819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827247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591020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2288880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2228495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9</a:t>
            </a:fld>
            <a:endParaRPr lang="zh-TW" altLang="en-US"/>
          </a:p>
        </p:txBody>
      </p:sp>
    </p:spTree>
    <p:extLst>
      <p:ext uri="{BB962C8B-B14F-4D97-AF65-F5344CB8AC3E}">
        <p14:creationId xmlns:p14="http://schemas.microsoft.com/office/powerpoint/2010/main" val="1783934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10</a:t>
            </a:fld>
            <a:endParaRPr lang="zh-TW" altLang="en-US"/>
          </a:p>
        </p:txBody>
      </p:sp>
    </p:spTree>
    <p:extLst>
      <p:ext uri="{BB962C8B-B14F-4D97-AF65-F5344CB8AC3E}">
        <p14:creationId xmlns:p14="http://schemas.microsoft.com/office/powerpoint/2010/main" val="2280900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11</a:t>
            </a:fld>
            <a:endParaRPr lang="zh-TW" altLang="en-US"/>
          </a:p>
        </p:txBody>
      </p:sp>
    </p:spTree>
    <p:extLst>
      <p:ext uri="{BB962C8B-B14F-4D97-AF65-F5344CB8AC3E}">
        <p14:creationId xmlns:p14="http://schemas.microsoft.com/office/powerpoint/2010/main" val="3490598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12</a:t>
            </a:fld>
            <a:endParaRPr lang="zh-TW" altLang="en-US"/>
          </a:p>
        </p:txBody>
      </p:sp>
    </p:spTree>
    <p:extLst>
      <p:ext uri="{BB962C8B-B14F-4D97-AF65-F5344CB8AC3E}">
        <p14:creationId xmlns:p14="http://schemas.microsoft.com/office/powerpoint/2010/main" val="264567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13</a:t>
            </a:fld>
            <a:endParaRPr lang="zh-TW" altLang="en-US"/>
          </a:p>
        </p:txBody>
      </p:sp>
    </p:spTree>
    <p:extLst>
      <p:ext uri="{BB962C8B-B14F-4D97-AF65-F5344CB8AC3E}">
        <p14:creationId xmlns:p14="http://schemas.microsoft.com/office/powerpoint/2010/main" val="2308802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14</a:t>
            </a:fld>
            <a:endParaRPr lang="zh-TW" altLang="en-US"/>
          </a:p>
        </p:txBody>
      </p:sp>
    </p:spTree>
    <p:extLst>
      <p:ext uri="{BB962C8B-B14F-4D97-AF65-F5344CB8AC3E}">
        <p14:creationId xmlns:p14="http://schemas.microsoft.com/office/powerpoint/2010/main" val="2974468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15</a:t>
            </a:fld>
            <a:endParaRPr lang="zh-TW" altLang="en-US"/>
          </a:p>
        </p:txBody>
      </p:sp>
    </p:spTree>
    <p:extLst>
      <p:ext uri="{BB962C8B-B14F-4D97-AF65-F5344CB8AC3E}">
        <p14:creationId xmlns:p14="http://schemas.microsoft.com/office/powerpoint/2010/main" val="3329409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16</a:t>
            </a:fld>
            <a:endParaRPr lang="zh-TW" altLang="en-US"/>
          </a:p>
        </p:txBody>
      </p:sp>
    </p:spTree>
    <p:extLst>
      <p:ext uri="{BB962C8B-B14F-4D97-AF65-F5344CB8AC3E}">
        <p14:creationId xmlns:p14="http://schemas.microsoft.com/office/powerpoint/2010/main" val="1293015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2018/7/16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2018/7/16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2018/7/16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2018/7/16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2018/7/16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2018/7/16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2018/7/16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2018/7/16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2018/7/16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2018/7/16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2018/7/16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2018/7/16</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3623" y="268941"/>
            <a:ext cx="12299245" cy="2902356"/>
          </a:xfrm>
        </p:spPr>
        <p:txBody>
          <a:bodyPr>
            <a:noAutofit/>
          </a:bodyPr>
          <a:lstStyle/>
          <a:p>
            <a:r>
              <a:rPr lang="en-US" altLang="zh-TW" sz="4800" b="1" dirty="0">
                <a:latin typeface="Times New Roman" panose="02020603050405020304" pitchFamily="18" charset="0"/>
                <a:cs typeface="Times New Roman" panose="02020603050405020304" pitchFamily="18" charset="0"/>
              </a:rPr>
              <a:t>A neural network with a case based dynamic window for stock trading prediction</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871132" y="3869319"/>
            <a:ext cx="8449734" cy="2719740"/>
          </a:xfrm>
        </p:spPr>
        <p:txBody>
          <a:bodyPr>
            <a:normAutofit/>
          </a:bodyPr>
          <a:lstStyle/>
          <a:p>
            <a:r>
              <a:rPr lang="en-US" altLang="zh-TW" dirty="0">
                <a:latin typeface="Times New Roman" panose="02020603050405020304" pitchFamily="18" charset="0"/>
                <a:cs typeface="Times New Roman" panose="02020603050405020304" pitchFamily="18" charset="0"/>
              </a:rPr>
              <a:t>Pei-</a:t>
            </a:r>
            <a:r>
              <a:rPr lang="en-US" altLang="zh-TW" dirty="0" err="1">
                <a:latin typeface="Times New Roman" panose="02020603050405020304" pitchFamily="18" charset="0"/>
                <a:cs typeface="Times New Roman" panose="02020603050405020304" pitchFamily="18" charset="0"/>
              </a:rPr>
              <a:t>Chann</a:t>
            </a:r>
            <a:r>
              <a:rPr lang="en-US" altLang="zh-TW" dirty="0">
                <a:latin typeface="Times New Roman" panose="02020603050405020304" pitchFamily="18" charset="0"/>
                <a:cs typeface="Times New Roman" panose="02020603050405020304" pitchFamily="18" charset="0"/>
              </a:rPr>
              <a:t> Chang(</a:t>
            </a:r>
            <a:r>
              <a:rPr lang="zh-TW" altLang="en-US" dirty="0"/>
              <a:t>張百棧</a:t>
            </a:r>
            <a:r>
              <a:rPr lang="en-US" altLang="zh-TW" dirty="0">
                <a:latin typeface="Times New Roman" panose="02020603050405020304" pitchFamily="18" charset="0"/>
                <a:cs typeface="Times New Roman" panose="02020603050405020304" pitchFamily="18" charset="0"/>
              </a:rPr>
              <a:t>), Chen-Hao Liu(</a:t>
            </a:r>
            <a:r>
              <a:rPr lang="zh-TW" altLang="en-US" dirty="0">
                <a:latin typeface="Times New Roman" panose="02020603050405020304" pitchFamily="18" charset="0"/>
                <a:cs typeface="Times New Roman" panose="02020603050405020304" pitchFamily="18" charset="0"/>
              </a:rPr>
              <a:t>劉鎮豪</a:t>
            </a:r>
            <a:r>
              <a:rPr lang="en-US" altLang="zh-TW" dirty="0">
                <a:latin typeface="Times New Roman" panose="02020603050405020304" pitchFamily="18" charset="0"/>
                <a:cs typeface="Times New Roman" panose="02020603050405020304" pitchFamily="18" charset="0"/>
              </a:rPr>
              <a:t>), Jun-Lin Lin(</a:t>
            </a:r>
            <a:r>
              <a:rPr lang="zh-TW" altLang="en-US" dirty="0"/>
              <a:t>林志麟</a:t>
            </a:r>
            <a:r>
              <a:rPr lang="en-US" altLang="zh-TW" dirty="0">
                <a:latin typeface="Times New Roman" panose="02020603050405020304" pitchFamily="18" charset="0"/>
                <a:cs typeface="Times New Roman" panose="02020603050405020304" pitchFamily="18" charset="0"/>
              </a:rPr>
              <a:t>), Chin-Yuan Fan(</a:t>
            </a:r>
            <a:r>
              <a:rPr lang="zh-TW" altLang="en-US" dirty="0">
                <a:latin typeface="Times New Roman" panose="02020603050405020304" pitchFamily="18" charset="0"/>
                <a:cs typeface="Times New Roman" panose="02020603050405020304" pitchFamily="18" charset="0"/>
              </a:rPr>
              <a:t>樊晉源</a:t>
            </a:r>
            <a:r>
              <a:rPr lang="en-US" altLang="zh-TW" dirty="0">
                <a:latin typeface="Times New Roman" panose="02020603050405020304" pitchFamily="18" charset="0"/>
                <a:cs typeface="Times New Roman" panose="02020603050405020304" pitchFamily="18" charset="0"/>
              </a:rPr>
              <a:t>), Celeste S.P. Ng(</a:t>
            </a:r>
            <a:r>
              <a:rPr lang="zh-TW" altLang="en-US" dirty="0">
                <a:latin typeface="Times New Roman" panose="02020603050405020304" pitchFamily="18" charset="0"/>
                <a:cs typeface="Times New Roman" panose="02020603050405020304" pitchFamily="18" charset="0"/>
              </a:rPr>
              <a:t>吳思配</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Expert Systems with Applications, Volume 36, Issue 3, Part 2, April 2009, Pages 6889-6898</a:t>
            </a:r>
          </a:p>
          <a:p>
            <a:r>
              <a:rPr lang="en-US" altLang="zh-TW" dirty="0">
                <a:latin typeface="Times New Roman" panose="02020603050405020304" pitchFamily="18" charset="0"/>
                <a:cs typeface="Times New Roman" panose="02020603050405020304" pitchFamily="18" charset="0"/>
              </a:rPr>
              <a:t>Presenter: Cheng-Han Wu</a:t>
            </a:r>
          </a:p>
          <a:p>
            <a:r>
              <a:rPr lang="en-US" altLang="zh-TW" dirty="0">
                <a:latin typeface="Times New Roman" panose="02020603050405020304" pitchFamily="18" charset="0"/>
                <a:cs typeface="Times New Roman" panose="02020603050405020304" pitchFamily="18" charset="0"/>
              </a:rPr>
              <a:t>Date:2018/7/17</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59505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Stock forecasting involves complex interactions between market-influencing factors and unknown random processes. In this study, an integrated system, CBDWNN by combining dynamic time windows, case based reasoning (CBR), and neural network for stock trading prediction is developed and it includes three different stages: (1) screening out potential stocks and the important influential factors; (2) using back propagation network (BPN) to predict the buy/sell points (wave peak and wave trough) of stock price and (3) adopting case based dynamic window (CBDW) to further improve the forecasting results from BPN.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59505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The system developed in this research is a first attempt in the literature to predict the sell/buy decision points instead of stock price itself. The empirical results show that the CBDW can assist the BPN to reduce the false alarm of buying or selling decisions. Nine different stocks with different trends, i.e., upward, downward and steady, are studied and one individual stock (AUO) will be studied as case example. The rates of return for upward, steady, and downward trend stocks are higher than 93.57%, 37.75%, and 46.62%, respectively. These results are all very promising and better than using CBR or BPN alone.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74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The First Stage</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AE21143B-EC3A-4E76-B943-3D829FD6A12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71708" y="1996068"/>
            <a:ext cx="10648584" cy="4263655"/>
          </a:xfrm>
        </p:spPr>
      </p:pic>
    </p:spTree>
    <p:extLst>
      <p:ext uri="{BB962C8B-B14F-4D97-AF65-F5344CB8AC3E}">
        <p14:creationId xmlns:p14="http://schemas.microsoft.com/office/powerpoint/2010/main" val="3770690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Selected Company (1/2)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199" y="1825625"/>
            <a:ext cx="10515599" cy="4595054"/>
          </a:xfrm>
        </p:spPr>
        <p:txBody>
          <a:bodyPr>
            <a:normAutofit/>
          </a:bodyPr>
          <a:lstStyle/>
          <a:p>
            <a:r>
              <a:rPr lang="en-US" altLang="zh-TW" dirty="0">
                <a:latin typeface="Times New Roman" panose="02020603050405020304" pitchFamily="18" charset="0"/>
                <a:cs typeface="Times New Roman" panose="02020603050405020304" pitchFamily="18" charset="0"/>
              </a:rPr>
              <a:t>AU Optronics Corp (AUO): </a:t>
            </a:r>
            <a:r>
              <a:rPr lang="zh-TW" altLang="en-US" dirty="0">
                <a:latin typeface="Times New Roman" panose="02020603050405020304" pitchFamily="18" charset="0"/>
                <a:cs typeface="Times New Roman" panose="02020603050405020304" pitchFamily="18" charset="0"/>
              </a:rPr>
              <a:t>友達光電</a:t>
            </a:r>
            <a:endParaRPr lang="en-US" altLang="zh-TW" dirty="0">
              <a:latin typeface="Times New Roman" panose="02020603050405020304" pitchFamily="18" charset="0"/>
              <a:cs typeface="Times New Roman" panose="02020603050405020304" pitchFamily="18" charset="0"/>
            </a:endParaRPr>
          </a:p>
          <a:p>
            <a:r>
              <a:rPr lang="en-US" altLang="zh-TW" dirty="0" err="1">
                <a:latin typeface="Times New Roman" panose="02020603050405020304" pitchFamily="18" charset="0"/>
                <a:cs typeface="Times New Roman" panose="02020603050405020304" pitchFamily="18" charset="0"/>
              </a:rPr>
              <a:t>Epistar</a:t>
            </a:r>
            <a:r>
              <a:rPr lang="en-US" altLang="zh-TW" dirty="0">
                <a:latin typeface="Times New Roman" panose="02020603050405020304" pitchFamily="18" charset="0"/>
                <a:cs typeface="Times New Roman" panose="02020603050405020304" pitchFamily="18" charset="0"/>
              </a:rPr>
              <a:t> Corp</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(EPISTAR):</a:t>
            </a:r>
            <a:r>
              <a:rPr lang="zh-TW" altLang="en-US" dirty="0">
                <a:latin typeface="Times New Roman" panose="02020603050405020304" pitchFamily="18" charset="0"/>
                <a:cs typeface="Times New Roman" panose="02020603050405020304" pitchFamily="18" charset="0"/>
              </a:rPr>
              <a:t> 晶元光電</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Green Point Corp (GP)</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捷普綠點</a:t>
            </a:r>
            <a:endParaRPr lang="en-US" altLang="zh-TW"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08AE2F85-548D-4AD8-AE81-02D5E782AD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4093" y="1532230"/>
            <a:ext cx="3734966" cy="5181844"/>
          </a:xfrm>
          <a:prstGeom prst="rect">
            <a:avLst/>
          </a:prstGeom>
        </p:spPr>
      </p:pic>
    </p:spTree>
    <p:extLst>
      <p:ext uri="{BB962C8B-B14F-4D97-AF65-F5344CB8AC3E}">
        <p14:creationId xmlns:p14="http://schemas.microsoft.com/office/powerpoint/2010/main" val="92934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Selected Company (2/2)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199" y="1825625"/>
            <a:ext cx="10515599" cy="4595054"/>
          </a:xfrm>
        </p:spPr>
        <p:txBody>
          <a:bodyPr>
            <a:normAutofit/>
          </a:bodyPr>
          <a:lstStyle/>
          <a:p>
            <a:r>
              <a:rPr lang="en-US" altLang="zh-TW" dirty="0">
                <a:latin typeface="Times New Roman" panose="02020603050405020304" pitchFamily="18" charset="0"/>
                <a:cs typeface="Times New Roman" panose="02020603050405020304" pitchFamily="18" charset="0"/>
              </a:rPr>
              <a:t>Silicon Integrated System Corp (</a:t>
            </a:r>
            <a:r>
              <a:rPr lang="en-US" altLang="zh-TW" dirty="0" err="1">
                <a:latin typeface="Times New Roman" panose="02020603050405020304" pitchFamily="18" charset="0"/>
                <a:cs typeface="Times New Roman" panose="02020603050405020304" pitchFamily="18" charset="0"/>
              </a:rPr>
              <a:t>SiS</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a:t>
            </a:r>
            <a:r>
              <a:rPr lang="zh-TW" altLang="en-US" dirty="0">
                <a:latin typeface="Times New Roman" panose="02020603050405020304" pitchFamily="18" charset="0"/>
                <a:cs typeface="Times New Roman" panose="02020603050405020304" pitchFamily="18" charset="0"/>
              </a:rPr>
              <a:t>矽統科技</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SENAO International Corp (SENAO)</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a:t>
            </a:r>
            <a:r>
              <a:rPr lang="zh-TW" altLang="en-US" dirty="0">
                <a:latin typeface="Times New Roman" panose="02020603050405020304" pitchFamily="18" charset="0"/>
                <a:cs typeface="Times New Roman" panose="02020603050405020304" pitchFamily="18" charset="0"/>
              </a:rPr>
              <a:t>神準科技</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D-Link Corp</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(D-LINK)</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a:t>
            </a:r>
            <a:r>
              <a:rPr lang="zh-TW" altLang="en-US" dirty="0">
                <a:latin typeface="Times New Roman" panose="02020603050405020304" pitchFamily="18" charset="0"/>
                <a:cs typeface="Times New Roman" panose="02020603050405020304" pitchFamily="18" charset="0"/>
              </a:rPr>
              <a:t>友訊科技</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Foxlink Corp</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(FOXLINK) : </a:t>
            </a:r>
            <a:r>
              <a:rPr lang="zh-TW" altLang="en-US" dirty="0">
                <a:latin typeface="Times New Roman" panose="02020603050405020304" pitchFamily="18" charset="0"/>
                <a:cs typeface="Times New Roman" panose="02020603050405020304" pitchFamily="18" charset="0"/>
              </a:rPr>
              <a:t>正崴精密工業</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Compal Corp (COMPAL) : </a:t>
            </a:r>
            <a:r>
              <a:rPr lang="zh-TW" altLang="en-US" dirty="0">
                <a:latin typeface="Times New Roman" panose="02020603050405020304" pitchFamily="18" charset="0"/>
                <a:cs typeface="Times New Roman" panose="02020603050405020304" pitchFamily="18" charset="0"/>
              </a:rPr>
              <a:t>仁寶電腦工業</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UMC Corp (UMC) : </a:t>
            </a:r>
            <a:r>
              <a:rPr lang="zh-TW" altLang="en-US" dirty="0">
                <a:latin typeface="Times New Roman" panose="02020603050405020304" pitchFamily="18" charset="0"/>
                <a:cs typeface="Times New Roman" panose="02020603050405020304" pitchFamily="18" charset="0"/>
              </a:rPr>
              <a:t>聯華電子</a:t>
            </a:r>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2004/9/1~2005/8/31</a:t>
            </a:r>
          </a:p>
          <a:p>
            <a:r>
              <a:rPr lang="en-US" altLang="zh-TW" sz="2400" dirty="0">
                <a:latin typeface="Times New Roman" panose="02020603050405020304" pitchFamily="18" charset="0"/>
                <a:cs typeface="Times New Roman" panose="02020603050405020304" pitchFamily="18" charset="0"/>
              </a:rPr>
              <a:t>2005/9/1~2005/12/31</a:t>
            </a:r>
            <a:endParaRPr lang="en-US" altLang="zh-TW" sz="2800"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65FC8671-DB37-4EE4-8B29-BF77BBCF7A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7862" y="1654984"/>
            <a:ext cx="3602821" cy="4837891"/>
          </a:xfrm>
          <a:prstGeom prst="rect">
            <a:avLst/>
          </a:prstGeom>
        </p:spPr>
      </p:pic>
    </p:spTree>
    <p:extLst>
      <p:ext uri="{BB962C8B-B14F-4D97-AF65-F5344CB8AC3E}">
        <p14:creationId xmlns:p14="http://schemas.microsoft.com/office/powerpoint/2010/main" val="372891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Key Factors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199" y="1825625"/>
            <a:ext cx="10515599" cy="4595054"/>
          </a:xfrm>
        </p:spPr>
        <p:txBody>
          <a:bodyPr>
            <a:normAutofit/>
          </a:bodyPr>
          <a:lstStyle/>
          <a:p>
            <a:r>
              <a:rPr lang="en-US" altLang="zh-TW" dirty="0">
                <a:latin typeface="Times New Roman" panose="02020603050405020304" pitchFamily="18" charset="0"/>
                <a:cs typeface="Times New Roman" panose="02020603050405020304" pitchFamily="18" charset="0"/>
              </a:rPr>
              <a:t>Moving average (MA)</a:t>
            </a:r>
          </a:p>
          <a:p>
            <a:r>
              <a:rPr lang="en-US" altLang="zh-TW" dirty="0">
                <a:latin typeface="Times New Roman" panose="02020603050405020304" pitchFamily="18" charset="0"/>
                <a:cs typeface="Times New Roman" panose="02020603050405020304" pitchFamily="18" charset="0"/>
              </a:rPr>
              <a:t>Moving average convergence and divergence (MACD)</a:t>
            </a:r>
          </a:p>
          <a:p>
            <a:r>
              <a:rPr lang="en-US" altLang="zh-TW" dirty="0">
                <a:latin typeface="Times New Roman" panose="02020603050405020304" pitchFamily="18" charset="0"/>
                <a:cs typeface="Times New Roman" panose="02020603050405020304" pitchFamily="18" charset="0"/>
              </a:rPr>
              <a:t>BIAS</a:t>
            </a:r>
          </a:p>
          <a:p>
            <a:r>
              <a:rPr lang="en-US" altLang="zh-TW" dirty="0">
                <a:latin typeface="Times New Roman" panose="02020603050405020304" pitchFamily="18" charset="0"/>
                <a:cs typeface="Times New Roman" panose="02020603050405020304" pitchFamily="18" charset="0"/>
              </a:rPr>
              <a:t>Stochastic oscillator (KD)</a:t>
            </a:r>
          </a:p>
          <a:p>
            <a:r>
              <a:rPr lang="en-US" altLang="zh-TW" dirty="0">
                <a:latin typeface="Times New Roman" panose="02020603050405020304" pitchFamily="18" charset="0"/>
                <a:cs typeface="Times New Roman" panose="02020603050405020304" pitchFamily="18" charset="0"/>
              </a:rPr>
              <a:t>Relative strength indicator (RSI)</a:t>
            </a:r>
          </a:p>
          <a:p>
            <a:r>
              <a:rPr lang="en-US" altLang="zh-TW" dirty="0">
                <a:latin typeface="Times New Roman" panose="02020603050405020304" pitchFamily="18" charset="0"/>
                <a:cs typeface="Times New Roman" panose="02020603050405020304" pitchFamily="18" charset="0"/>
              </a:rPr>
              <a:t>William (WMS%R)</a:t>
            </a:r>
          </a:p>
          <a:p>
            <a:r>
              <a:rPr lang="en-US" altLang="zh-TW" dirty="0">
                <a:latin typeface="Times New Roman" panose="02020603050405020304" pitchFamily="18" charset="0"/>
                <a:cs typeface="Times New Roman" panose="02020603050405020304" pitchFamily="18" charset="0"/>
              </a:rPr>
              <a:t>Volume of transaction</a:t>
            </a:r>
          </a:p>
          <a:p>
            <a:r>
              <a:rPr lang="en-US" altLang="zh-TW" dirty="0">
                <a:latin typeface="Times New Roman" panose="02020603050405020304" pitchFamily="18" charset="0"/>
                <a:cs typeface="Times New Roman" panose="02020603050405020304" pitchFamily="18" charset="0"/>
              </a:rPr>
              <a:t>The variation rate of technical indicators</a:t>
            </a:r>
          </a:p>
        </p:txBody>
      </p:sp>
    </p:spTree>
    <p:extLst>
      <p:ext uri="{BB962C8B-B14F-4D97-AF65-F5344CB8AC3E}">
        <p14:creationId xmlns:p14="http://schemas.microsoft.com/office/powerpoint/2010/main" val="2607975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Buy/Sell Signal (1/3)</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199" y="1825625"/>
                <a:ext cx="10515599" cy="4595054"/>
              </a:xfrm>
            </p:spPr>
            <p:txBody>
              <a:bodyPr>
                <a:normAutofit/>
              </a:bodyPr>
              <a:lstStyle/>
              <a:p>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𝑅𝑆</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i="1" dirty="0" smtClean="0">
                            <a:latin typeface="Cambria Math" panose="02040503050406030204" pitchFamily="18" charset="0"/>
                            <a:cs typeface="Times New Roman" panose="02020603050405020304" pitchFamily="18" charset="0"/>
                          </a:rPr>
                          <m:t>𝑉</m:t>
                        </m:r>
                      </m:e>
                      <m:sub>
                        <m:r>
                          <a:rPr lang="en-US" altLang="zh-TW" b="0" i="1" dirty="0" smtClean="0">
                            <a:latin typeface="Cambria Math" panose="02040503050406030204" pitchFamily="18" charset="0"/>
                            <a:cs typeface="Times New Roman" panose="02020603050405020304" pitchFamily="18" charset="0"/>
                          </a:rPr>
                          <m:t>𝑡</m:t>
                        </m:r>
                      </m:sub>
                    </m:sSub>
                    <m:r>
                      <a:rPr lang="en-US" altLang="zh-TW" b="0" i="1" dirty="0" smtClean="0">
                        <a:latin typeface="Cambria Math" panose="02040503050406030204" pitchFamily="18" charset="0"/>
                        <a:cs typeface="Times New Roman" panose="02020603050405020304" pitchFamily="18" charset="0"/>
                      </a:rPr>
                      <m:t>=</m:t>
                    </m:r>
                    <m:f>
                      <m:fPr>
                        <m:ctrlPr>
                          <a:rPr lang="en-US" altLang="zh-TW" b="0" i="1" dirty="0" smtClean="0">
                            <a:latin typeface="Cambria Math" panose="02040503050406030204" pitchFamily="18" charset="0"/>
                            <a:cs typeface="Times New Roman" panose="02020603050405020304" pitchFamily="18" charset="0"/>
                          </a:rPr>
                        </m:ctrlPr>
                      </m:fPr>
                      <m:num>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𝐶</m:t>
                            </m:r>
                          </m:e>
                          <m:sub>
                            <m:r>
                              <a:rPr lang="en-US" altLang="zh-TW" b="0" i="1" dirty="0" smtClean="0">
                                <a:latin typeface="Cambria Math" panose="02040503050406030204" pitchFamily="18" charset="0"/>
                                <a:cs typeface="Times New Roman" panose="02020603050405020304" pitchFamily="18" charset="0"/>
                              </a:rPr>
                              <m:t>𝑡</m:t>
                            </m:r>
                          </m:sub>
                        </m:sSub>
                        <m:r>
                          <a:rPr lang="en-US" altLang="zh-TW" b="0" i="1" dirty="0" smtClean="0">
                            <a:latin typeface="Cambria Math" panose="02040503050406030204" pitchFamily="18" charset="0"/>
                            <a:cs typeface="Times New Roman" panose="02020603050405020304" pitchFamily="18" charset="0"/>
                          </a:rPr>
                          <m:t>−</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𝐿</m:t>
                            </m:r>
                          </m:e>
                          <m:sub>
                            <m:r>
                              <a:rPr lang="en-US" altLang="zh-TW" b="0" i="1" dirty="0" smtClean="0">
                                <a:latin typeface="Cambria Math" panose="02040503050406030204" pitchFamily="18" charset="0"/>
                                <a:cs typeface="Times New Roman" panose="02020603050405020304" pitchFamily="18" charset="0"/>
                              </a:rPr>
                              <m:t>𝑛</m:t>
                            </m:r>
                          </m:sub>
                        </m:sSub>
                      </m:num>
                      <m:den>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𝐻</m:t>
                            </m:r>
                          </m:e>
                          <m:sub>
                            <m:r>
                              <a:rPr lang="en-US" altLang="zh-TW" b="0" i="1" dirty="0" smtClean="0">
                                <a:latin typeface="Cambria Math" panose="02040503050406030204" pitchFamily="18" charset="0"/>
                                <a:cs typeface="Times New Roman" panose="02020603050405020304" pitchFamily="18" charset="0"/>
                              </a:rPr>
                              <m:t>𝑛</m:t>
                            </m:r>
                          </m:sub>
                        </m:sSub>
                        <m:r>
                          <a:rPr lang="en-US" altLang="zh-TW" b="0" i="1" dirty="0" smtClean="0">
                            <a:latin typeface="Cambria Math" panose="02040503050406030204" pitchFamily="18" charset="0"/>
                            <a:cs typeface="Times New Roman" panose="02020603050405020304" pitchFamily="18" charset="0"/>
                          </a:rPr>
                          <m:t>−</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𝐿</m:t>
                            </m:r>
                          </m:e>
                          <m:sub>
                            <m:r>
                              <a:rPr lang="en-US" altLang="zh-TW" b="0" i="1" dirty="0" smtClean="0">
                                <a:latin typeface="Cambria Math" panose="02040503050406030204" pitchFamily="18" charset="0"/>
                                <a:cs typeface="Times New Roman" panose="02020603050405020304" pitchFamily="18" charset="0"/>
                              </a:rPr>
                              <m:t>𝑛</m:t>
                            </m:r>
                          </m:sub>
                        </m:sSub>
                      </m:den>
                    </m:f>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×100%</m:t>
                    </m:r>
                  </m:oMath>
                </a14:m>
                <a:endParaRPr lang="en-US" altLang="zh-TW" b="0" dirty="0">
                  <a:latin typeface="Times New Roman" panose="02020603050405020304" pitchFamily="18" charset="0"/>
                  <a:ea typeface="Cambria Math" panose="020405030504060302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TW" b="0" i="1" dirty="0" smtClean="0">
                            <a:latin typeface="Cambria Math" panose="02040503050406030204" pitchFamily="18" charset="0"/>
                            <a:cs typeface="Times New Roman" panose="02020603050405020304" pitchFamily="18" charset="0"/>
                          </a:rPr>
                        </m:ctrlPr>
                      </m:sSubPr>
                      <m:e>
                        <m:r>
                          <m:rPr>
                            <m:sty m:val="p"/>
                          </m:rPr>
                          <a:rPr lang="en-US" altLang="zh-TW" i="1" dirty="0">
                            <a:latin typeface="Cambria Math" panose="02040503050406030204" pitchFamily="18" charset="0"/>
                            <a:cs typeface="Times New Roman" panose="02020603050405020304" pitchFamily="18" charset="0"/>
                          </a:rPr>
                          <m:t>K</m:t>
                        </m:r>
                      </m:e>
                      <m:sub>
                        <m:r>
                          <a:rPr lang="en-US" altLang="zh-TW" b="0" i="1" dirty="0" smtClean="0">
                            <a:latin typeface="Cambria Math" panose="02040503050406030204" pitchFamily="18" charset="0"/>
                            <a:cs typeface="Times New Roman" panose="02020603050405020304" pitchFamily="18" charset="0"/>
                          </a:rPr>
                          <m:t>𝑡</m:t>
                        </m:r>
                      </m:sub>
                    </m:sSub>
                    <m:r>
                      <a:rPr lang="en-US" altLang="zh-TW" i="1" dirty="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𝑅𝑆</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𝑉</m:t>
                        </m:r>
                      </m:e>
                      <m:sub>
                        <m:r>
                          <a:rPr lang="en-US" altLang="zh-TW" b="0" i="1" dirty="0" smtClean="0">
                            <a:latin typeface="Cambria Math" panose="02040503050406030204" pitchFamily="18" charset="0"/>
                            <a:cs typeface="Times New Roman" panose="02020603050405020304" pitchFamily="18" charset="0"/>
                          </a:rPr>
                          <m:t>𝑡</m:t>
                        </m:r>
                      </m:sub>
                    </m:sSub>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i="1" dirty="0">
                            <a:latin typeface="Cambria Math" panose="02040503050406030204" pitchFamily="18" charset="0"/>
                            <a:cs typeface="Times New Roman" panose="02020603050405020304" pitchFamily="18" charset="0"/>
                          </a:rPr>
                        </m:ctrlPr>
                      </m:fPr>
                      <m:num>
                        <m:r>
                          <a:rPr lang="en-US" altLang="zh-TW" b="0" i="1" dirty="0" smtClean="0">
                            <a:latin typeface="Cambria Math" panose="02040503050406030204" pitchFamily="18" charset="0"/>
                            <a:cs typeface="Times New Roman" panose="02020603050405020304" pitchFamily="18" charset="0"/>
                          </a:rPr>
                          <m:t>1</m:t>
                        </m:r>
                      </m:num>
                      <m:den>
                        <m:r>
                          <a:rPr lang="en-US" altLang="zh-TW" b="0" i="1" dirty="0" smtClean="0">
                            <a:latin typeface="Cambria Math" panose="02040503050406030204" pitchFamily="18" charset="0"/>
                            <a:cs typeface="Times New Roman" panose="02020603050405020304" pitchFamily="18" charset="0"/>
                          </a:rPr>
                          <m:t>3</m:t>
                        </m:r>
                      </m:den>
                    </m:f>
                    <m:r>
                      <a:rPr lang="en-US" altLang="zh-TW" b="0" i="1" dirty="0" smtClean="0">
                        <a:latin typeface="Cambria Math" panose="02040503050406030204" pitchFamily="18" charset="0"/>
                        <a:cs typeface="Times New Roman" panose="02020603050405020304" pitchFamily="18" charset="0"/>
                      </a:rPr>
                      <m:t>+</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𝐾</m:t>
                        </m:r>
                      </m:e>
                      <m:sub>
                        <m:r>
                          <a:rPr lang="en-US" altLang="zh-TW" b="0" i="1" dirty="0" smtClean="0">
                            <a:latin typeface="Cambria Math" panose="02040503050406030204" pitchFamily="18" charset="0"/>
                            <a:cs typeface="Times New Roman" panose="02020603050405020304" pitchFamily="18" charset="0"/>
                          </a:rPr>
                          <m:t>𝑡</m:t>
                        </m:r>
                        <m:r>
                          <a:rPr lang="en-US" altLang="zh-TW" b="0" i="1" dirty="0" smtClean="0">
                            <a:latin typeface="Cambria Math" panose="02040503050406030204" pitchFamily="18" charset="0"/>
                            <a:cs typeface="Times New Roman" panose="02020603050405020304" pitchFamily="18" charset="0"/>
                          </a:rPr>
                          <m:t>−1</m:t>
                        </m:r>
                      </m:sub>
                    </m:sSub>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2</m:t>
                        </m:r>
                      </m:num>
                      <m:den>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3</m:t>
                        </m:r>
                      </m:den>
                    </m:f>
                  </m:oMath>
                </a14:m>
                <a:endParaRPr lang="en-US" altLang="zh-TW" dirty="0">
                  <a:latin typeface="Times New Roman" panose="02020603050405020304" pitchFamily="18" charset="0"/>
                  <a:ea typeface="Cambria Math" panose="02040503050406030204" pitchFamily="18" charset="0"/>
                  <a:cs typeface="Times New Roman" panose="02020603050405020304" pitchFamily="18" charset="0"/>
                </a:endParaRPr>
              </a:p>
              <a:p>
                <a:endParaRPr lang="en-US" altLang="zh-TW" dirty="0">
                  <a:latin typeface="Times New Roman" panose="02020603050405020304" pitchFamily="18" charset="0"/>
                  <a:ea typeface="Cambria Math" panose="02040503050406030204" pitchFamily="18" charset="0"/>
                  <a:cs typeface="Times New Roman" panose="02020603050405020304" pitchFamily="18" charset="0"/>
                </a:endParaRPr>
              </a:p>
              <a:p>
                <a14:m>
                  <m:oMath xmlns:m="http://schemas.openxmlformats.org/officeDocument/2006/math">
                    <m:sSub>
                      <m:sSubPr>
                        <m:ctrlPr>
                          <a:rPr lang="en-US" altLang="zh-TW" i="1" dirty="0">
                            <a:latin typeface="Cambria Math" panose="02040503050406030204" pitchFamily="18" charset="0"/>
                            <a:cs typeface="Times New Roman" panose="02020603050405020304" pitchFamily="18" charset="0"/>
                          </a:rPr>
                        </m:ctrlPr>
                      </m:sSubPr>
                      <m:e>
                        <m:r>
                          <m:rPr>
                            <m:sty m:val="p"/>
                          </m:rPr>
                          <a:rPr lang="en-US" altLang="zh-TW" i="1" dirty="0" smtClean="0">
                            <a:latin typeface="Cambria Math" panose="02040503050406030204" pitchFamily="18" charset="0"/>
                            <a:cs typeface="Times New Roman" panose="02020603050405020304" pitchFamily="18" charset="0"/>
                          </a:rPr>
                          <m:t>D</m:t>
                        </m:r>
                      </m:e>
                      <m:sub>
                        <m:r>
                          <a:rPr lang="en-US" altLang="zh-TW" i="1" dirty="0">
                            <a:latin typeface="Cambria Math" panose="02040503050406030204" pitchFamily="18" charset="0"/>
                            <a:cs typeface="Times New Roman" panose="02020603050405020304" pitchFamily="18" charset="0"/>
                          </a:rPr>
                          <m:t>𝑡</m:t>
                        </m:r>
                      </m:sub>
                    </m:sSub>
                    <m:r>
                      <a:rPr lang="en-US" altLang="zh-TW" i="1" dirty="0">
                        <a:latin typeface="Cambria Math" panose="02040503050406030204" pitchFamily="18" charset="0"/>
                        <a:cs typeface="Times New Roman" panose="02020603050405020304" pitchFamily="18" charset="0"/>
                      </a:rPr>
                      <m:t>=</m:t>
                    </m:r>
                    <m:sSub>
                      <m:sSubPr>
                        <m:ctrlPr>
                          <a:rPr lang="en-US" altLang="zh-TW" i="1" dirty="0">
                            <a:latin typeface="Cambria Math" panose="02040503050406030204" pitchFamily="18" charset="0"/>
                            <a:cs typeface="Times New Roman" panose="02020603050405020304" pitchFamily="18" charset="0"/>
                          </a:rPr>
                        </m:ctrlPr>
                      </m:sSubPr>
                      <m:e>
                        <m:r>
                          <m:rPr>
                            <m:sty m:val="p"/>
                          </m:rPr>
                          <a:rPr lang="en-US" altLang="zh-TW" i="1" dirty="0" smtClean="0">
                            <a:latin typeface="Cambria Math" panose="02040503050406030204" pitchFamily="18" charset="0"/>
                            <a:cs typeface="Times New Roman" panose="02020603050405020304" pitchFamily="18" charset="0"/>
                          </a:rPr>
                          <m:t>K</m:t>
                        </m:r>
                      </m:e>
                      <m:sub>
                        <m:r>
                          <a:rPr lang="en-US" altLang="zh-TW" i="1" dirty="0">
                            <a:latin typeface="Cambria Math" panose="02040503050406030204" pitchFamily="18" charset="0"/>
                            <a:cs typeface="Times New Roman" panose="02020603050405020304" pitchFamily="18" charset="0"/>
                          </a:rPr>
                          <m:t>𝑡</m:t>
                        </m:r>
                      </m:sub>
                    </m:sSub>
                    <m:r>
                      <a:rPr lang="en-US" altLang="zh-TW" i="1" dirty="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i="1" dirty="0">
                            <a:latin typeface="Cambria Math" panose="02040503050406030204" pitchFamily="18" charset="0"/>
                            <a:cs typeface="Times New Roman" panose="02020603050405020304" pitchFamily="18" charset="0"/>
                          </a:rPr>
                        </m:ctrlPr>
                      </m:fPr>
                      <m:num>
                        <m:r>
                          <a:rPr lang="en-US" altLang="zh-TW" i="1" dirty="0">
                            <a:latin typeface="Cambria Math" panose="02040503050406030204" pitchFamily="18" charset="0"/>
                            <a:cs typeface="Times New Roman" panose="02020603050405020304" pitchFamily="18" charset="0"/>
                          </a:rPr>
                          <m:t>1</m:t>
                        </m:r>
                      </m:num>
                      <m:den>
                        <m:r>
                          <a:rPr lang="en-US" altLang="zh-TW" i="1" dirty="0">
                            <a:latin typeface="Cambria Math" panose="02040503050406030204" pitchFamily="18" charset="0"/>
                            <a:cs typeface="Times New Roman" panose="02020603050405020304" pitchFamily="18" charset="0"/>
                          </a:rPr>
                          <m:t>3</m:t>
                        </m:r>
                      </m:den>
                    </m:f>
                    <m:r>
                      <a:rPr lang="en-US" altLang="zh-TW" i="1" dirty="0">
                        <a:latin typeface="Cambria Math" panose="02040503050406030204" pitchFamily="18" charset="0"/>
                        <a:cs typeface="Times New Roman" panose="02020603050405020304" pitchFamily="18" charset="0"/>
                      </a:rPr>
                      <m:t>+</m:t>
                    </m:r>
                    <m:sSub>
                      <m:sSubPr>
                        <m:ctrlPr>
                          <a:rPr lang="en-US" altLang="zh-TW" i="1" dirty="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𝐷</m:t>
                        </m:r>
                      </m:e>
                      <m:sub>
                        <m:r>
                          <a:rPr lang="en-US" altLang="zh-TW" i="1" dirty="0">
                            <a:latin typeface="Cambria Math" panose="02040503050406030204" pitchFamily="18" charset="0"/>
                            <a:cs typeface="Times New Roman" panose="02020603050405020304" pitchFamily="18" charset="0"/>
                          </a:rPr>
                          <m:t>𝑡</m:t>
                        </m:r>
                        <m:r>
                          <a:rPr lang="en-US" altLang="zh-TW" i="1" dirty="0">
                            <a:latin typeface="Cambria Math" panose="02040503050406030204" pitchFamily="18" charset="0"/>
                            <a:cs typeface="Times New Roman" panose="02020603050405020304" pitchFamily="18" charset="0"/>
                          </a:rPr>
                          <m:t>−1</m:t>
                        </m:r>
                      </m:sub>
                    </m:sSub>
                    <m:r>
                      <a:rPr lang="en-US" altLang="zh-TW" i="1" dirty="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i="1" dirty="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dirty="0">
                            <a:latin typeface="Cambria Math" panose="02040503050406030204" pitchFamily="18" charset="0"/>
                            <a:ea typeface="Cambria Math" panose="02040503050406030204" pitchFamily="18" charset="0"/>
                            <a:cs typeface="Times New Roman" panose="02020603050405020304" pitchFamily="18" charset="0"/>
                          </a:rPr>
                          <m:t>2</m:t>
                        </m:r>
                      </m:num>
                      <m:den>
                        <m:r>
                          <a:rPr lang="en-US" altLang="zh-TW" i="1" dirty="0">
                            <a:latin typeface="Cambria Math" panose="02040503050406030204" pitchFamily="18" charset="0"/>
                            <a:ea typeface="Cambria Math" panose="02040503050406030204" pitchFamily="18" charset="0"/>
                            <a:cs typeface="Times New Roman" panose="02020603050405020304" pitchFamily="18" charset="0"/>
                          </a:rPr>
                          <m:t>3</m:t>
                        </m:r>
                      </m:den>
                    </m:f>
                  </m:oMath>
                </a14:m>
                <a:endParaRPr lang="en-US" altLang="zh-TW" dirty="0">
                  <a:latin typeface="Times New Roman" panose="02020603050405020304" pitchFamily="18" charset="0"/>
                  <a:ea typeface="Cambria Math" panose="020405030504060302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pic>
        <p:nvPicPr>
          <p:cNvPr id="4" name="內容版面配置區 4">
            <a:extLst>
              <a:ext uri="{FF2B5EF4-FFF2-40B4-BE49-F238E27FC236}">
                <a16:creationId xmlns:a16="http://schemas.microsoft.com/office/drawing/2014/main" id="{41FC4558-A982-4379-A305-CB0EF0538B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8395" y="2046427"/>
            <a:ext cx="5898191" cy="3756301"/>
          </a:xfrm>
          <a:prstGeom prst="rect">
            <a:avLst/>
          </a:prstGeom>
        </p:spPr>
      </p:pic>
    </p:spTree>
    <p:extLst>
      <p:ext uri="{BB962C8B-B14F-4D97-AF65-F5344CB8AC3E}">
        <p14:creationId xmlns:p14="http://schemas.microsoft.com/office/powerpoint/2010/main" val="3183706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Buy/Sell Signal (2/2)</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199" y="1825625"/>
                <a:ext cx="10515599" cy="4595054"/>
              </a:xfrm>
            </p:spPr>
            <p:txBody>
              <a:bodyPr>
                <a:normAutofit/>
              </a:bodyPr>
              <a:lstStyle/>
              <a:p>
                <a14:m>
                  <m:oMath xmlns:m="http://schemas.openxmlformats.org/officeDocument/2006/math">
                    <m:r>
                      <a:rPr lang="en-US" altLang="zh-TW" b="0" i="1" dirty="0" smtClean="0">
                        <a:latin typeface="Cambria Math" panose="02040503050406030204" pitchFamily="18" charset="0"/>
                        <a:cs typeface="Times New Roman" panose="02020603050405020304" pitchFamily="18" charset="0"/>
                      </a:rPr>
                      <m:t>𝑊</m:t>
                    </m:r>
                    <m:r>
                      <m:rPr>
                        <m:sty m:val="p"/>
                      </m:rPr>
                      <a:rPr lang="en-US" altLang="zh-TW" i="1" dirty="0">
                        <a:latin typeface="Cambria Math" panose="02040503050406030204" pitchFamily="18" charset="0"/>
                        <a:cs typeface="Times New Roman" panose="02020603050405020304" pitchFamily="18" charset="0"/>
                      </a:rPr>
                      <m:t>M</m:t>
                    </m:r>
                    <m:r>
                      <m:rPr>
                        <m:sty m:val="p"/>
                      </m:rPr>
                      <a:rPr lang="en-US" altLang="zh-TW" i="1" dirty="0" smtClean="0">
                        <a:latin typeface="Cambria Math" panose="02040503050406030204" pitchFamily="18" charset="0"/>
                        <a:cs typeface="Times New Roman" panose="02020603050405020304" pitchFamily="18" charset="0"/>
                      </a:rPr>
                      <m:t>S</m:t>
                    </m:r>
                    <m:r>
                      <a:rPr lang="en-US" altLang="zh-TW" i="1" dirty="0">
                        <a:latin typeface="Cambria Math" panose="02040503050406030204" pitchFamily="18" charset="0"/>
                        <a:cs typeface="Times New Roman" panose="02020603050405020304" pitchFamily="18" charset="0"/>
                      </a:rPr>
                      <m:t>%</m:t>
                    </m:r>
                    <m:sSub>
                      <m:sSubPr>
                        <m:ctrlPr>
                          <a:rPr lang="en-US" altLang="zh-TW" b="0" i="1" dirty="0" smtClean="0">
                            <a:latin typeface="Cambria Math" panose="02040503050406030204" pitchFamily="18" charset="0"/>
                            <a:cs typeface="Times New Roman" panose="02020603050405020304" pitchFamily="18" charset="0"/>
                          </a:rPr>
                        </m:ctrlPr>
                      </m:sSubPr>
                      <m:e>
                        <m:r>
                          <m:rPr>
                            <m:sty m:val="p"/>
                          </m:rPr>
                          <a:rPr lang="en-US" altLang="zh-TW" i="1" dirty="0">
                            <a:latin typeface="Cambria Math" panose="02040503050406030204" pitchFamily="18" charset="0"/>
                            <a:cs typeface="Times New Roman" panose="02020603050405020304" pitchFamily="18" charset="0"/>
                          </a:rPr>
                          <m:t>R</m:t>
                        </m:r>
                      </m:e>
                      <m:sub>
                        <m:r>
                          <a:rPr lang="en-US" altLang="zh-TW" b="0" i="1" dirty="0" smtClean="0">
                            <a:latin typeface="Cambria Math" panose="02040503050406030204" pitchFamily="18" charset="0"/>
                            <a:cs typeface="Times New Roman" panose="02020603050405020304" pitchFamily="18" charset="0"/>
                          </a:rPr>
                          <m:t>𝑡</m:t>
                        </m:r>
                      </m:sub>
                    </m:sSub>
                    <m:r>
                      <a:rPr lang="en-US" altLang="zh-TW" b="0" i="1" dirty="0" smtClean="0">
                        <a:latin typeface="Cambria Math" panose="02040503050406030204" pitchFamily="18" charset="0"/>
                        <a:cs typeface="Times New Roman" panose="02020603050405020304" pitchFamily="18" charset="0"/>
                      </a:rPr>
                      <m:t>=</m:t>
                    </m:r>
                    <m:f>
                      <m:fPr>
                        <m:ctrlPr>
                          <a:rPr lang="en-US" altLang="zh-TW" b="0" i="1" dirty="0" smtClean="0">
                            <a:latin typeface="Cambria Math" panose="02040503050406030204" pitchFamily="18" charset="0"/>
                            <a:cs typeface="Times New Roman" panose="02020603050405020304" pitchFamily="18" charset="0"/>
                          </a:rPr>
                        </m:ctrlPr>
                      </m:fPr>
                      <m:num>
                        <m:sSub>
                          <m:sSubPr>
                            <m:ctrlPr>
                              <a:rPr lang="en-US" altLang="zh-TW" b="0" i="1" dirty="0" smtClean="0">
                                <a:latin typeface="Cambria Math" panose="02040503050406030204" pitchFamily="18" charset="0"/>
                                <a:cs typeface="Times New Roman" panose="02020603050405020304" pitchFamily="18" charset="0"/>
                              </a:rPr>
                            </m:ctrlPr>
                          </m:sSubPr>
                          <m:e>
                            <m:r>
                              <m:rPr>
                                <m:sty m:val="p"/>
                              </m:rPr>
                              <a:rPr lang="en-US" altLang="zh-TW" i="1" dirty="0">
                                <a:latin typeface="Cambria Math" panose="02040503050406030204" pitchFamily="18" charset="0"/>
                                <a:cs typeface="Times New Roman" panose="02020603050405020304" pitchFamily="18" charset="0"/>
                              </a:rPr>
                              <m:t>H</m:t>
                            </m:r>
                          </m:e>
                          <m:sub>
                            <m:r>
                              <a:rPr lang="en-US" altLang="zh-TW" b="0" i="1" dirty="0" smtClean="0">
                                <a:latin typeface="Cambria Math" panose="02040503050406030204" pitchFamily="18" charset="0"/>
                                <a:cs typeface="Times New Roman" panose="02020603050405020304" pitchFamily="18" charset="0"/>
                              </a:rPr>
                              <m:t>𝑛</m:t>
                            </m:r>
                          </m:sub>
                        </m:sSub>
                        <m:r>
                          <a:rPr lang="en-US" altLang="zh-TW" b="0" i="1" dirty="0" smtClean="0">
                            <a:latin typeface="Cambria Math" panose="02040503050406030204" pitchFamily="18" charset="0"/>
                            <a:cs typeface="Times New Roman" panose="02020603050405020304" pitchFamily="18" charset="0"/>
                          </a:rPr>
                          <m:t>−</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𝐶</m:t>
                            </m:r>
                          </m:e>
                          <m:sub>
                            <m:r>
                              <a:rPr lang="en-US" altLang="zh-TW" b="0" i="1" dirty="0" smtClean="0">
                                <a:latin typeface="Cambria Math" panose="02040503050406030204" pitchFamily="18" charset="0"/>
                                <a:cs typeface="Times New Roman" panose="02020603050405020304" pitchFamily="18" charset="0"/>
                              </a:rPr>
                              <m:t>𝑡</m:t>
                            </m:r>
                          </m:sub>
                        </m:sSub>
                      </m:num>
                      <m:den>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𝐻</m:t>
                            </m:r>
                          </m:e>
                          <m:sub>
                            <m:r>
                              <a:rPr lang="en-US" altLang="zh-TW" b="0" i="1" dirty="0" smtClean="0">
                                <a:latin typeface="Cambria Math" panose="02040503050406030204" pitchFamily="18" charset="0"/>
                                <a:cs typeface="Times New Roman" panose="02020603050405020304" pitchFamily="18" charset="0"/>
                              </a:rPr>
                              <m:t>𝑛</m:t>
                            </m:r>
                          </m:sub>
                        </m:sSub>
                        <m:r>
                          <a:rPr lang="en-US" altLang="zh-TW" b="0" i="1" dirty="0" smtClean="0">
                            <a:latin typeface="Cambria Math" panose="02040503050406030204" pitchFamily="18" charset="0"/>
                            <a:cs typeface="Times New Roman" panose="02020603050405020304" pitchFamily="18" charset="0"/>
                          </a:rPr>
                          <m:t>−</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𝐿</m:t>
                            </m:r>
                          </m:e>
                          <m:sub>
                            <m:r>
                              <a:rPr lang="en-US" altLang="zh-TW" b="0" i="1" dirty="0" smtClean="0">
                                <a:latin typeface="Cambria Math" panose="02040503050406030204" pitchFamily="18" charset="0"/>
                                <a:cs typeface="Times New Roman" panose="02020603050405020304" pitchFamily="18" charset="0"/>
                              </a:rPr>
                              <m:t>𝑛</m:t>
                            </m:r>
                          </m:sub>
                        </m:sSub>
                      </m:den>
                    </m:f>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×100%</m:t>
                    </m:r>
                  </m:oMath>
                </a14:m>
                <a:endParaRPr lang="en-US" altLang="zh-TW" b="0" dirty="0">
                  <a:latin typeface="Times New Roman" panose="02020603050405020304" pitchFamily="18" charset="0"/>
                  <a:ea typeface="Cambria Math" panose="020405030504060302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A5B75B64-90A8-4528-A258-D27D7C70ED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1958" y="2583137"/>
            <a:ext cx="7230484" cy="3972479"/>
          </a:xfrm>
          <a:prstGeom prst="rect">
            <a:avLst/>
          </a:prstGeom>
        </p:spPr>
      </p:pic>
    </p:spTree>
    <p:extLst>
      <p:ext uri="{BB962C8B-B14F-4D97-AF65-F5344CB8AC3E}">
        <p14:creationId xmlns:p14="http://schemas.microsoft.com/office/powerpoint/2010/main" val="1086293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Buy/Sell Signal (3/3)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199" y="1825625"/>
            <a:ext cx="10515599" cy="4595054"/>
          </a:xfrm>
        </p:spPr>
        <p:txBody>
          <a:bodyPr>
            <a:normAutofit/>
          </a:bodyPr>
          <a:lstStyle/>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A5B75B64-90A8-4528-A258-D27D7C70ED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489" y="4078524"/>
            <a:ext cx="4220148" cy="2318579"/>
          </a:xfrm>
          <a:prstGeom prst="rect">
            <a:avLst/>
          </a:prstGeom>
        </p:spPr>
      </p:pic>
      <p:pic>
        <p:nvPicPr>
          <p:cNvPr id="5" name="內容版面配置區 4">
            <a:extLst>
              <a:ext uri="{FF2B5EF4-FFF2-40B4-BE49-F238E27FC236}">
                <a16:creationId xmlns:a16="http://schemas.microsoft.com/office/drawing/2014/main" id="{0A689EDA-7145-4EDA-A9A5-26A4FBC754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9225" y="1349877"/>
            <a:ext cx="4072676" cy="2593710"/>
          </a:xfrm>
          <a:prstGeom prst="rect">
            <a:avLst/>
          </a:prstGeom>
        </p:spPr>
      </p:pic>
      <p:pic>
        <p:nvPicPr>
          <p:cNvPr id="7" name="圖片 6">
            <a:extLst>
              <a:ext uri="{FF2B5EF4-FFF2-40B4-BE49-F238E27FC236}">
                <a16:creationId xmlns:a16="http://schemas.microsoft.com/office/drawing/2014/main" id="{2A6720E9-9A40-4015-B0A9-29F3BBE3B7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85556" y="2019300"/>
            <a:ext cx="6525316" cy="3464472"/>
          </a:xfrm>
          <a:prstGeom prst="rect">
            <a:avLst/>
          </a:prstGeom>
        </p:spPr>
      </p:pic>
    </p:spTree>
    <p:extLst>
      <p:ext uri="{BB962C8B-B14F-4D97-AF65-F5344CB8AC3E}">
        <p14:creationId xmlns:p14="http://schemas.microsoft.com/office/powerpoint/2010/main" val="585062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Back propagation network</a:t>
            </a:r>
            <a:endParaRPr lang="zh-TW" altLang="en-US"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C75A2B89-1D3C-4FBA-81D4-11FDDAE20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1815" y="2021898"/>
            <a:ext cx="5580185" cy="3690831"/>
          </a:xfrm>
          <a:prstGeom prst="rect">
            <a:avLst/>
          </a:prstGeom>
        </p:spPr>
      </p:pic>
      <mc:AlternateContent xmlns:mc="http://schemas.openxmlformats.org/markup-compatibility/2006">
        <mc:Choice xmlns:a14="http://schemas.microsoft.com/office/drawing/2010/main" Requires="a14">
          <p:sp>
            <p:nvSpPr>
              <p:cNvPr id="9" name="內容版面配置區 8">
                <a:extLst>
                  <a:ext uri="{FF2B5EF4-FFF2-40B4-BE49-F238E27FC236}">
                    <a16:creationId xmlns:a16="http://schemas.microsoft.com/office/drawing/2014/main" id="{E2E385D1-E292-446C-8DA7-DEBB64361B4A}"/>
                  </a:ext>
                </a:extLst>
              </p:cNvPr>
              <p:cNvSpPr>
                <a:spLocks noGrp="1"/>
              </p:cNvSpPr>
              <p:nvPr>
                <p:ph idx="1"/>
              </p:nvPr>
            </p:nvSpPr>
            <p:spPr>
              <a:xfrm>
                <a:off x="838200" y="1825625"/>
                <a:ext cx="10515600" cy="4351338"/>
              </a:xfrm>
            </p:spPr>
            <p:txBody>
              <a:bodyPr/>
              <a:lstStyle/>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𝑋</m:t>
                            </m:r>
                          </m:e>
                          <m:sub>
                            <m:r>
                              <a:rPr lang="en-US" altLang="zh-TW" b="0" i="1" smtClean="0">
                                <a:latin typeface="Cambria Math" panose="02040503050406030204" pitchFamily="18" charset="0"/>
                              </a:rPr>
                              <m:t>𝑗</m:t>
                            </m:r>
                          </m:sub>
                        </m:sSub>
                      </m:e>
                    </m:d>
                    <m:r>
                      <a:rPr lang="en-US" altLang="zh-TW" i="1">
                        <a:latin typeface="Cambria Math" panose="02040503050406030204" pitchFamily="18" charset="0"/>
                      </a:rPr>
                      <m:t>=</m:t>
                    </m:r>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𝐼</m:t>
                            </m:r>
                          </m:sup>
                          <m:e>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𝑖𝑗</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𝑖</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𝑜𝑗</m:t>
                                </m:r>
                              </m:sub>
                            </m:sSub>
                          </m:e>
                        </m:nary>
                      </m:e>
                    </m:d>
                  </m:oMath>
                </a14:m>
                <a:endParaRPr lang="en-US" altLang="zh-TW" b="0" dirty="0"/>
              </a:p>
              <a:p>
                <a:endParaRPr lang="en-US" altLang="zh-TW" dirty="0"/>
              </a:p>
              <a:p>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𝑘</m:t>
                        </m:r>
                      </m:sub>
                    </m:sSub>
                    <m:r>
                      <a:rPr lang="en-US" altLang="zh-TW" i="1">
                        <a:latin typeface="Cambria Math" panose="02040503050406030204" pitchFamily="18" charset="0"/>
                      </a:rPr>
                      <m:t>=</m:t>
                    </m:r>
                    <m:r>
                      <a:rPr lang="en-US" altLang="zh-TW" i="1">
                        <a:latin typeface="Cambria Math" panose="02040503050406030204" pitchFamily="18" charset="0"/>
                      </a:rPr>
                      <m:t>𝑓</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𝑌</m:t>
                            </m:r>
                          </m:e>
                          <m:sub>
                            <m:r>
                              <a:rPr lang="en-US" altLang="zh-TW" b="0" i="1" smtClean="0">
                                <a:latin typeface="Cambria Math" panose="02040503050406030204" pitchFamily="18" charset="0"/>
                              </a:rPr>
                              <m:t>𝑘</m:t>
                            </m:r>
                          </m:sub>
                        </m:sSub>
                      </m:e>
                    </m:d>
                    <m:r>
                      <a:rPr lang="en-US" altLang="zh-TW" i="1">
                        <a:latin typeface="Cambria Math" panose="02040503050406030204" pitchFamily="18" charset="0"/>
                      </a:rPr>
                      <m:t>=</m:t>
                    </m:r>
                    <m:r>
                      <a:rPr lang="en-US" altLang="zh-TW" i="1">
                        <a:latin typeface="Cambria Math" panose="02040503050406030204" pitchFamily="18" charset="0"/>
                      </a:rPr>
                      <m:t>𝑓</m:t>
                    </m:r>
                    <m:d>
                      <m:dPr>
                        <m:ctrlPr>
                          <a:rPr lang="en-US" altLang="zh-TW" i="1">
                            <a:latin typeface="Cambria Math" panose="02040503050406030204" pitchFamily="18" charset="0"/>
                          </a:rPr>
                        </m:ctrlPr>
                      </m:dPr>
                      <m:e>
                        <m:nary>
                          <m:naryPr>
                            <m:chr m:val="∑"/>
                            <m:ctrlPr>
                              <a:rPr lang="en-US" altLang="zh-TW" i="1">
                                <a:latin typeface="Cambria Math" panose="02040503050406030204" pitchFamily="18" charset="0"/>
                              </a:rPr>
                            </m:ctrlPr>
                          </m:naryPr>
                          <m:sub>
                            <m:r>
                              <a:rPr lang="en-US" altLang="zh-TW" b="0" i="1" smtClean="0">
                                <a:latin typeface="Cambria Math" panose="02040503050406030204" pitchFamily="18" charset="0"/>
                              </a:rPr>
                              <m:t>𝑗</m:t>
                            </m:r>
                            <m:r>
                              <a:rPr lang="en-US" altLang="zh-TW" i="1">
                                <a:latin typeface="Cambria Math" panose="02040503050406030204" pitchFamily="18" charset="0"/>
                              </a:rPr>
                              <m:t>=1</m:t>
                            </m:r>
                          </m:sub>
                          <m:sup>
                            <m:r>
                              <a:rPr lang="en-US" altLang="zh-TW" b="0" i="1" smtClean="0">
                                <a:latin typeface="Cambria Math" panose="02040503050406030204" pitchFamily="18" charset="0"/>
                              </a:rPr>
                              <m:t>𝐽</m:t>
                            </m:r>
                          </m:sup>
                          <m:e>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𝑗</m:t>
                                </m:r>
                                <m:r>
                                  <a:rPr lang="en-US" altLang="zh-TW" b="0" i="1" smtClean="0">
                                    <a:latin typeface="Cambria Math" panose="02040503050406030204" pitchFamily="18" charset="0"/>
                                  </a:rPr>
                                  <m:t>𝑘</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𝑗</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𝑜</m:t>
                                </m:r>
                                <m:r>
                                  <a:rPr lang="en-US" altLang="zh-TW" b="0" i="1" smtClean="0">
                                    <a:latin typeface="Cambria Math" panose="02040503050406030204" pitchFamily="18" charset="0"/>
                                  </a:rPr>
                                  <m:t>𝑘</m:t>
                                </m:r>
                              </m:sub>
                            </m:sSub>
                          </m:e>
                        </m:nary>
                      </m:e>
                    </m:d>
                  </m:oMath>
                </a14:m>
                <a:endParaRPr lang="en-US" altLang="zh-TW" dirty="0"/>
              </a:p>
              <a:p>
                <a:endParaRPr lang="en-US" altLang="zh-TW" dirty="0"/>
              </a:p>
              <a:p>
                <a14:m>
                  <m:oMath xmlns:m="http://schemas.openxmlformats.org/officeDocument/2006/math">
                    <m:r>
                      <m:rPr>
                        <m:sty m:val="p"/>
                      </m:rPr>
                      <a:rPr lang="en-US" altLang="zh-TW" i="1" dirty="0" smtClean="0">
                        <a:latin typeface="Cambria Math" panose="02040503050406030204" pitchFamily="18" charset="0"/>
                      </a:rPr>
                      <m:t>E</m:t>
                    </m:r>
                    <m:r>
                      <a:rPr lang="en-US" altLang="zh-TW" i="1">
                        <a:latin typeface="Cambria Math" panose="02040503050406030204" pitchFamily="18" charset="0"/>
                      </a:rPr>
                      <m:t>=</m:t>
                    </m:r>
                    <m:f>
                      <m:fPr>
                        <m:ctrlPr>
                          <a:rPr lang="en-US" altLang="zh-TW" i="1" smtClean="0">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2</m:t>
                        </m:r>
                      </m:den>
                    </m:f>
                    <m:nary>
                      <m:naryPr>
                        <m:chr m:val="∑"/>
                        <m:ctrlPr>
                          <a:rPr lang="en-US" altLang="zh-TW" i="1">
                            <a:latin typeface="Cambria Math" panose="02040503050406030204" pitchFamily="18" charset="0"/>
                          </a:rPr>
                        </m:ctrlPr>
                      </m:naryPr>
                      <m:sub>
                        <m:r>
                          <a:rPr lang="en-US" altLang="zh-TW" b="0" i="1" smtClean="0">
                            <a:latin typeface="Cambria Math" panose="02040503050406030204" pitchFamily="18" charset="0"/>
                          </a:rPr>
                          <m:t>𝑘</m:t>
                        </m:r>
                        <m:r>
                          <a:rPr lang="en-US" altLang="zh-TW" i="1">
                            <a:latin typeface="Cambria Math" panose="02040503050406030204" pitchFamily="18" charset="0"/>
                          </a:rPr>
                          <m:t>=1</m:t>
                        </m:r>
                      </m:sub>
                      <m:sup>
                        <m:r>
                          <m:rPr>
                            <m:sty m:val="p"/>
                          </m:rPr>
                          <a:rPr lang="en-US" altLang="zh-TW" i="1">
                            <a:latin typeface="Cambria Math" panose="02040503050406030204" pitchFamily="18" charset="0"/>
                          </a:rPr>
                          <m:t>K</m:t>
                        </m:r>
                      </m:sup>
                      <m:e>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𝑒</m:t>
                            </m:r>
                          </m:e>
                          <m:sub>
                            <m:r>
                              <a:rPr lang="en-US" altLang="zh-TW" b="0" i="1" smtClean="0">
                                <a:latin typeface="Cambria Math" panose="02040503050406030204" pitchFamily="18" charset="0"/>
                              </a:rPr>
                              <m:t>𝑘</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e>
                    </m:nary>
                  </m:oMath>
                </a14:m>
                <a:r>
                  <a:rPr lang="en-US" altLang="zh-TW" dirty="0"/>
                  <a:t> </a:t>
                </a:r>
                <a14:m>
                  <m:oMath xmlns:m="http://schemas.openxmlformats.org/officeDocument/2006/math">
                    <m:f>
                      <m:fPr>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2</m:t>
                        </m:r>
                      </m:den>
                    </m:f>
                    <m:nary>
                      <m:naryPr>
                        <m:chr m:val="∑"/>
                        <m:ctrlPr>
                          <a:rPr lang="en-US" altLang="zh-TW" i="1">
                            <a:latin typeface="Cambria Math" panose="02040503050406030204" pitchFamily="18" charset="0"/>
                          </a:rPr>
                        </m:ctrlPr>
                      </m:naryPr>
                      <m:sub>
                        <m:r>
                          <a:rPr lang="en-US" altLang="zh-TW" i="1">
                            <a:latin typeface="Cambria Math" panose="02040503050406030204" pitchFamily="18" charset="0"/>
                          </a:rPr>
                          <m:t>𝑘</m:t>
                        </m:r>
                        <m:r>
                          <a:rPr lang="en-US" altLang="zh-TW" i="1">
                            <a:latin typeface="Cambria Math" panose="02040503050406030204" pitchFamily="18" charset="0"/>
                          </a:rPr>
                          <m:t>=1</m:t>
                        </m:r>
                      </m:sub>
                      <m:sup>
                        <m:r>
                          <m:rPr>
                            <m:sty m:val="p"/>
                          </m:rPr>
                          <a:rPr lang="en-US" altLang="zh-TW" i="1">
                            <a:latin typeface="Cambria Math" panose="02040503050406030204" pitchFamily="18" charset="0"/>
                          </a:rPr>
                          <m:t>K</m:t>
                        </m:r>
                      </m:sup>
                      <m:e>
                        <m:sSup>
                          <m:sSupPr>
                            <m:ctrlPr>
                              <a:rPr lang="en-US" altLang="zh-TW" b="0" i="1" smtClean="0">
                                <a:latin typeface="Cambria Math" panose="02040503050406030204" pitchFamily="18" charset="0"/>
                              </a:rPr>
                            </m:ctrlPr>
                          </m:sSupPr>
                          <m:e>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𝑘</m:t>
                                    </m:r>
                                  </m:sub>
                                </m:sSub>
                              </m:e>
                            </m:d>
                          </m:e>
                          <m:sup>
                            <m:r>
                              <a:rPr lang="en-US" altLang="zh-TW" b="0" i="1" smtClean="0">
                                <a:latin typeface="Cambria Math" panose="02040503050406030204" pitchFamily="18" charset="0"/>
                              </a:rPr>
                              <m:t>2</m:t>
                            </m:r>
                          </m:sup>
                        </m:sSup>
                      </m:e>
                    </m:nary>
                  </m:oMath>
                </a14:m>
                <a:endParaRPr lang="en-US" altLang="zh-TW" dirty="0"/>
              </a:p>
              <a:p>
                <a:endParaRPr lang="en-US" altLang="zh-TW" dirty="0"/>
              </a:p>
              <a:p>
                <a:endParaRPr lang="zh-TW" altLang="en-US" dirty="0"/>
              </a:p>
            </p:txBody>
          </p:sp>
        </mc:Choice>
        <mc:Fallback>
          <p:sp>
            <p:nvSpPr>
              <p:cNvPr id="9" name="內容版面配置區 8">
                <a:extLst>
                  <a:ext uri="{FF2B5EF4-FFF2-40B4-BE49-F238E27FC236}">
                    <a16:creationId xmlns:a16="http://schemas.microsoft.com/office/drawing/2014/main" id="{E2E385D1-E292-446C-8DA7-DEBB64361B4A}"/>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78221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BPN output</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DB31D4BA-FD6B-42AF-AB47-AA2EAA4907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6168" y="1690688"/>
            <a:ext cx="8439663" cy="4449408"/>
          </a:xfrm>
          <a:prstGeom prst="rect">
            <a:avLst/>
          </a:prstGeom>
        </p:spPr>
      </p:pic>
    </p:spTree>
    <p:extLst>
      <p:ext uri="{BB962C8B-B14F-4D97-AF65-F5344CB8AC3E}">
        <p14:creationId xmlns:p14="http://schemas.microsoft.com/office/powerpoint/2010/main" val="3595877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Case based dynamic windows</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1D6D5FF3-6492-45F1-AC2F-62D8178C40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709" y="1528078"/>
            <a:ext cx="5250195" cy="5126478"/>
          </a:xfrm>
          <a:prstGeom prst="rect">
            <a:avLst/>
          </a:prstGeom>
        </p:spPr>
      </p:pic>
      <mc:AlternateContent xmlns:mc="http://schemas.openxmlformats.org/markup-compatibility/2006">
        <mc:Choice xmlns:a14="http://schemas.microsoft.com/office/drawing/2010/main" Requires="a14">
          <p:sp>
            <p:nvSpPr>
              <p:cNvPr id="6" name="文字方塊 5">
                <a:extLst>
                  <a:ext uri="{FF2B5EF4-FFF2-40B4-BE49-F238E27FC236}">
                    <a16:creationId xmlns:a16="http://schemas.microsoft.com/office/drawing/2014/main" id="{3917BF5E-8953-4E20-AFDF-234CEB90636E}"/>
                  </a:ext>
                </a:extLst>
              </p:cNvPr>
              <p:cNvSpPr txBox="1"/>
              <p:nvPr/>
            </p:nvSpPr>
            <p:spPr>
              <a:xfrm>
                <a:off x="6957969" y="2449584"/>
                <a:ext cx="4395831" cy="307712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acc>
                        <m:accPr>
                          <m:chr m:val="̂"/>
                          <m:ctrlPr>
                            <a:rPr lang="en-US" altLang="zh-TW" sz="2800" b="0" i="1" smtClean="0">
                              <a:latin typeface="Cambria Math" panose="02040503050406030204" pitchFamily="18" charset="0"/>
                            </a:rPr>
                          </m:ctrlPr>
                        </m:acc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𝑌</m:t>
                              </m:r>
                            </m:e>
                            <m:sub>
                              <m:r>
                                <a:rPr lang="en-US" altLang="zh-TW" sz="2800" b="0" i="1" smtClean="0">
                                  <a:latin typeface="Cambria Math" panose="02040503050406030204" pitchFamily="18" charset="0"/>
                                </a:rPr>
                                <m:t>𝑘</m:t>
                              </m:r>
                            </m:sub>
                          </m:sSub>
                        </m:e>
                      </m:acc>
                      <m:r>
                        <a:rPr lang="en-US" altLang="zh-TW" sz="2800" b="0" i="1" smtClean="0">
                          <a:latin typeface="Cambria Math" panose="02040503050406030204" pitchFamily="18" charset="0"/>
                        </a:rPr>
                        <m:t>=</m:t>
                      </m:r>
                      <m:nary>
                        <m:naryPr>
                          <m:chr m:val="∑"/>
                          <m:ctrlPr>
                            <a:rPr lang="en-US" altLang="zh-TW" sz="2800" b="0" i="1" smtClean="0">
                              <a:latin typeface="Cambria Math" panose="02040503050406030204" pitchFamily="18" charset="0"/>
                            </a:rPr>
                          </m:ctrlPr>
                        </m:naryPr>
                        <m:sub>
                          <m:r>
                            <m:rPr>
                              <m:brk m:alnAt="23"/>
                            </m:rP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𝑚</m:t>
                          </m:r>
                        </m:sup>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𝑊</m:t>
                              </m:r>
                            </m:e>
                            <m:sub>
                              <m:r>
                                <a:rPr lang="en-US" altLang="zh-TW" sz="2800" b="0" i="1" smtClean="0">
                                  <a:latin typeface="Cambria Math" panose="02040503050406030204" pitchFamily="18" charset="0"/>
                                </a:rPr>
                                <m:t>𝑖</m:t>
                              </m:r>
                            </m:sub>
                          </m:sSub>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𝑌</m:t>
                              </m:r>
                            </m:e>
                            <m:sub>
                              <m:r>
                                <a:rPr lang="en-US" altLang="zh-TW" sz="2800" b="0" i="1" smtClean="0">
                                  <a:latin typeface="Cambria Math" panose="02040503050406030204" pitchFamily="18" charset="0"/>
                                </a:rPr>
                                <m:t>𝑖</m:t>
                              </m:r>
                            </m:sub>
                          </m:sSub>
                        </m:e>
                      </m:nary>
                    </m:oMath>
                  </m:oMathPara>
                </a14:m>
                <a:endParaRPr lang="en-US" altLang="zh-TW" sz="2800" b="0" dirty="0"/>
              </a:p>
              <a:p>
                <a:pPr/>
                <a:endParaRPr lang="en-US" altLang="zh-TW" sz="2800" dirty="0"/>
              </a:p>
              <a:p>
                <a:pPr/>
                <a14:m>
                  <m:oMathPara xmlns:m="http://schemas.openxmlformats.org/officeDocument/2006/math">
                    <m:oMathParaPr>
                      <m:jc m:val="left"/>
                    </m:oMathParaPr>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𝑊</m:t>
                          </m:r>
                        </m:e>
                        <m:sub>
                          <m:r>
                            <a:rPr lang="en-US" altLang="zh-TW" sz="2800" b="0" i="1" smtClean="0">
                              <a:latin typeface="Cambria Math" panose="02040503050406030204" pitchFamily="18" charset="0"/>
                            </a:rPr>
                            <m:t>𝑖</m:t>
                          </m:r>
                        </m:sub>
                      </m:sSub>
                      <m:r>
                        <a:rPr lang="en-US" altLang="zh-TW" sz="2800" i="1">
                          <a:latin typeface="Cambria Math" panose="02040503050406030204" pitchFamily="18" charset="0"/>
                        </a:rPr>
                        <m:t>=</m:t>
                      </m:r>
                      <m:f>
                        <m:fPr>
                          <m:ctrlPr>
                            <a:rPr lang="en-US" altLang="zh-TW" sz="2800" i="1" smtClean="0">
                              <a:latin typeface="Cambria Math" panose="02040503050406030204" pitchFamily="18" charset="0"/>
                            </a:rPr>
                          </m:ctrlPr>
                        </m:fPr>
                        <m:num>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𝑑</m:t>
                              </m:r>
                            </m:e>
                            <m:sub>
                              <m:r>
                                <a:rPr lang="en-US" altLang="zh-TW" sz="2800" b="0" i="1" smtClean="0">
                                  <a:latin typeface="Cambria Math" panose="02040503050406030204" pitchFamily="18" charset="0"/>
                                </a:rPr>
                                <m:t>𝑖</m:t>
                              </m:r>
                            </m:sub>
                          </m:sSub>
                        </m:num>
                        <m:den>
                          <m:nary>
                            <m:naryPr>
                              <m:chr m:val="∑"/>
                              <m:ctrlPr>
                                <a:rPr lang="en-US" altLang="zh-TW" sz="2800" i="1">
                                  <a:latin typeface="Cambria Math" panose="02040503050406030204" pitchFamily="18" charset="0"/>
                                </a:rPr>
                              </m:ctrlPr>
                            </m:naryPr>
                            <m:sub>
                              <m:r>
                                <m:rPr>
                                  <m:brk m:alnAt="23"/>
                                </m:rPr>
                                <a:rPr lang="en-US" altLang="zh-TW" sz="2800" i="1">
                                  <a:latin typeface="Cambria Math" panose="02040503050406030204" pitchFamily="18" charset="0"/>
                                </a:rPr>
                                <m:t>𝑖</m:t>
                              </m:r>
                              <m:r>
                                <a:rPr lang="en-US" altLang="zh-TW" sz="2800" i="1">
                                  <a:latin typeface="Cambria Math" panose="02040503050406030204" pitchFamily="18" charset="0"/>
                                </a:rPr>
                                <m:t>=1</m:t>
                              </m:r>
                            </m:sub>
                            <m:sup>
                              <m:r>
                                <a:rPr lang="en-US" altLang="zh-TW" sz="2800" i="1">
                                  <a:latin typeface="Cambria Math" panose="02040503050406030204" pitchFamily="18" charset="0"/>
                                </a:rPr>
                                <m:t>𝑚</m:t>
                              </m:r>
                            </m:sup>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𝑑</m:t>
                                  </m:r>
                                </m:e>
                                <m:sub>
                                  <m:r>
                                    <a:rPr lang="en-US" altLang="zh-TW" sz="2800" b="0" i="1" smtClean="0">
                                      <a:latin typeface="Cambria Math" panose="02040503050406030204" pitchFamily="18" charset="0"/>
                                    </a:rPr>
                                    <m:t>𝑖</m:t>
                                  </m:r>
                                </m:sub>
                              </m:sSub>
                            </m:e>
                          </m:nary>
                        </m:den>
                      </m:f>
                    </m:oMath>
                  </m:oMathPara>
                </a14:m>
                <a:endParaRPr lang="en-US" altLang="zh-TW" sz="2800" b="0" dirty="0"/>
              </a:p>
              <a:p>
                <a:pPr/>
                <a:endParaRPr lang="zh-TW" altLang="en-US" sz="2800" dirty="0"/>
              </a:p>
            </p:txBody>
          </p:sp>
        </mc:Choice>
        <mc:Fallback>
          <p:sp>
            <p:nvSpPr>
              <p:cNvPr id="6" name="文字方塊 5">
                <a:extLst>
                  <a:ext uri="{FF2B5EF4-FFF2-40B4-BE49-F238E27FC236}">
                    <a16:creationId xmlns:a16="http://schemas.microsoft.com/office/drawing/2014/main" id="{3917BF5E-8953-4E20-AFDF-234CEB90636E}"/>
                  </a:ext>
                </a:extLst>
              </p:cNvPr>
              <p:cNvSpPr txBox="1">
                <a:spLocks noRot="1" noChangeAspect="1" noMove="1" noResize="1" noEditPoints="1" noAdjustHandles="1" noChangeArrowheads="1" noChangeShapeType="1" noTextEdit="1"/>
              </p:cNvSpPr>
              <p:nvPr/>
            </p:nvSpPr>
            <p:spPr>
              <a:xfrm>
                <a:off x="6957969" y="2449584"/>
                <a:ext cx="4395831" cy="3077124"/>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41738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E5C4CA47-0E77-4471-B834-9809DDF053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0709" y="1304909"/>
            <a:ext cx="6570582" cy="9023713"/>
          </a:xfrm>
          <a:prstGeom prst="rect">
            <a:avLst/>
          </a:prstGeom>
        </p:spPr>
      </p:pic>
    </p:spTree>
    <p:extLst>
      <p:ext uri="{BB962C8B-B14F-4D97-AF65-F5344CB8AC3E}">
        <p14:creationId xmlns:p14="http://schemas.microsoft.com/office/powerpoint/2010/main" val="244584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1.85185E-6 L 0 -0.52477 " pathEditMode="relative" rAng="0" ptsTypes="AA">
                                      <p:cBhvr>
                                        <p:cTn id="6" dur="2000" fill="hold"/>
                                        <p:tgtEl>
                                          <p:spTgt spid="4"/>
                                        </p:tgtEl>
                                        <p:attrNameLst>
                                          <p:attrName>ppt_x</p:attrName>
                                          <p:attrName>ppt_y</p:attrName>
                                        </p:attrNameLst>
                                      </p:cBhvr>
                                      <p:rCtr x="0" y="-2625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CBDW assisted BPN</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EA6D1E25-A72D-4880-9FEC-66B006C2E3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763" y="1818230"/>
            <a:ext cx="8590473" cy="4446045"/>
          </a:xfrm>
          <a:prstGeom prst="rect">
            <a:avLst/>
          </a:prstGeom>
        </p:spPr>
      </p:pic>
      <p:sp>
        <p:nvSpPr>
          <p:cNvPr id="6" name="文字方塊 5">
            <a:extLst>
              <a:ext uri="{FF2B5EF4-FFF2-40B4-BE49-F238E27FC236}">
                <a16:creationId xmlns:a16="http://schemas.microsoft.com/office/drawing/2014/main" id="{621607FC-D2BF-49E8-8ECE-095380E21DCC}"/>
              </a:ext>
            </a:extLst>
          </p:cNvPr>
          <p:cNvSpPr txBox="1"/>
          <p:nvPr/>
        </p:nvSpPr>
        <p:spPr>
          <a:xfrm>
            <a:off x="4748170" y="5578678"/>
            <a:ext cx="310392" cy="400110"/>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0</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2015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3E1FFBAB-289D-4D1E-91CE-B98FF3B7DE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3719" y="1341072"/>
            <a:ext cx="9364562" cy="5040588"/>
          </a:xfrm>
          <a:prstGeom prst="rect">
            <a:avLst/>
          </a:prstGeom>
        </p:spPr>
      </p:pic>
    </p:spTree>
    <p:extLst>
      <p:ext uri="{BB962C8B-B14F-4D97-AF65-F5344CB8AC3E}">
        <p14:creationId xmlns:p14="http://schemas.microsoft.com/office/powerpoint/2010/main" val="339511846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23311</TotalTime>
  <Words>567</Words>
  <Application>Microsoft Office PowerPoint</Application>
  <PresentationFormat>寬螢幕</PresentationFormat>
  <Paragraphs>70</Paragraphs>
  <Slides>16</Slides>
  <Notes>14</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新細明體</vt:lpstr>
      <vt:lpstr>Arial</vt:lpstr>
      <vt:lpstr>Calibri</vt:lpstr>
      <vt:lpstr>Calibri Light</vt:lpstr>
      <vt:lpstr>Cambria Math</vt:lpstr>
      <vt:lpstr>Times New Roman</vt:lpstr>
      <vt:lpstr>Office 佈景主題</vt:lpstr>
      <vt:lpstr>A neural network with a case based dynamic window for stock trading prediction</vt:lpstr>
      <vt:lpstr>Abstract(1/2)</vt:lpstr>
      <vt:lpstr>Abstract(2/2)</vt:lpstr>
      <vt:lpstr>The First Stage</vt:lpstr>
      <vt:lpstr>Selected Company (1/2)</vt:lpstr>
      <vt:lpstr>Selected Company (2/2)</vt:lpstr>
      <vt:lpstr>Key Factors</vt:lpstr>
      <vt:lpstr>Buy/Sell Signal (1/3)</vt:lpstr>
      <vt:lpstr>Buy/Sell Signal (2/2)</vt:lpstr>
      <vt:lpstr>Buy/Sell Signal (3/3)</vt:lpstr>
      <vt:lpstr>Back propagation network</vt:lpstr>
      <vt:lpstr>BPN output</vt:lpstr>
      <vt:lpstr>Case based dynamic windows</vt:lpstr>
      <vt:lpstr>PowerPoint 簡報</vt:lpstr>
      <vt:lpstr>CBDW assisted BPN</vt:lpstr>
      <vt:lpstr>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pplab</cp:lastModifiedBy>
  <cp:revision>662</cp:revision>
  <dcterms:created xsi:type="dcterms:W3CDTF">2017-09-07T05:36:32Z</dcterms:created>
  <dcterms:modified xsi:type="dcterms:W3CDTF">2018-07-17T10:08:34Z</dcterms:modified>
</cp:coreProperties>
</file>