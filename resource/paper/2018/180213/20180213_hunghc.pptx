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64" r:id="rId5"/>
    <p:sldId id="268" r:id="rId6"/>
    <p:sldId id="269" r:id="rId7"/>
    <p:sldId id="270" r:id="rId8"/>
    <p:sldId id="271" r:id="rId9"/>
    <p:sldId id="272" r:id="rId10"/>
    <p:sldId id="273" r:id="rId11"/>
    <p:sldId id="274" r:id="rId12"/>
    <p:sldId id="275" r:id="rId13"/>
    <p:sldId id="265" r:id="rId14"/>
    <p:sldId id="276" r:id="rId15"/>
    <p:sldId id="277" r:id="rId16"/>
    <p:sldId id="278" r:id="rId17"/>
    <p:sldId id="279" r:id="rId18"/>
    <p:sldId id="280" r:id="rId19"/>
    <p:sldId id="282" r:id="rId20"/>
    <p:sldId id="281" r:id="rId21"/>
    <p:sldId id="259" r:id="rId22"/>
    <p:sldId id="285" r:id="rId23"/>
    <p:sldId id="260" r:id="rId24"/>
    <p:sldId id="286" r:id="rId25"/>
    <p:sldId id="261" r:id="rId26"/>
    <p:sldId id="287" r:id="rId27"/>
    <p:sldId id="262" r:id="rId28"/>
    <p:sldId id="283" r:id="rId29"/>
    <p:sldId id="284" r:id="rId3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42E739-C29C-47EC-A72F-C33F7C5F13F2}" type="datetimeFigureOut">
              <a:rPr lang="zh-TW" altLang="en-US" smtClean="0"/>
              <a:t>2018/2/13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0C6C96-FA1F-4F01-9209-79DAD18C10D8}" type="slidenum">
              <a:rPr lang="zh-TW" altLang="en-US" smtClean="0"/>
              <a:t>‹#›</a:t>
            </a:fld>
            <a:endParaRPr lang="zh-TW" altLang="en-US"/>
          </a:p>
        </p:txBody>
      </p:sp>
    </p:spTree>
    <p:extLst>
      <p:ext uri="{BB962C8B-B14F-4D97-AF65-F5344CB8AC3E}">
        <p14:creationId xmlns:p14="http://schemas.microsoft.com/office/powerpoint/2010/main" val="2565459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B0C6C96-FA1F-4F01-9209-79DAD18C10D8}" type="slidenum">
              <a:rPr lang="zh-TW" altLang="en-US" smtClean="0"/>
              <a:t>2</a:t>
            </a:fld>
            <a:endParaRPr lang="zh-TW" altLang="en-US"/>
          </a:p>
        </p:txBody>
      </p:sp>
    </p:spTree>
    <p:extLst>
      <p:ext uri="{BB962C8B-B14F-4D97-AF65-F5344CB8AC3E}">
        <p14:creationId xmlns:p14="http://schemas.microsoft.com/office/powerpoint/2010/main" val="2180265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14AF2B-1314-474C-B103-A0359A3CF55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CD78F8D-7172-4FED-BAFB-B302C88494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AA0248A2-0713-470E-8D35-19EF065D1733}"/>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5" name="頁尾版面配置區 4">
            <a:extLst>
              <a:ext uri="{FF2B5EF4-FFF2-40B4-BE49-F238E27FC236}">
                <a16:creationId xmlns:a16="http://schemas.microsoft.com/office/drawing/2014/main" id="{124A2F4D-E5C9-4AE3-A8B5-F6869D2EBF4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E014E8AE-5709-49F3-8852-1A30A1DE1618}"/>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2770960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670CDC-63B4-40E9-BB25-4271EFF4C68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0864D00F-9EF7-4D9E-8F7F-6D3E2140CEF7}"/>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AF237E7-7026-48A9-BBC3-EFDA03F099C5}"/>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5" name="頁尾版面配置區 4">
            <a:extLst>
              <a:ext uri="{FF2B5EF4-FFF2-40B4-BE49-F238E27FC236}">
                <a16:creationId xmlns:a16="http://schemas.microsoft.com/office/drawing/2014/main" id="{7CB7DD6C-A04D-425D-A1A9-9936A0F4BF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9005ED0-1D39-499C-9653-F53AE97C97D1}"/>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106708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5998A7-B1D5-4FCF-8B4E-659C85281CB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CB279ED-B40C-4838-A2B6-512F6653A0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3B77BF7E-9A83-4CF8-ABEB-24BE676597D2}"/>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5" name="頁尾版面配置區 4">
            <a:extLst>
              <a:ext uri="{FF2B5EF4-FFF2-40B4-BE49-F238E27FC236}">
                <a16:creationId xmlns:a16="http://schemas.microsoft.com/office/drawing/2014/main" id="{B18965A5-A2C6-4B3E-8A7D-45111CFD539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2BAB032-91A8-4CC2-B4A9-73218F42FB3F}"/>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1755838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B58F0E-F81B-4BEB-A4FE-353B93C03EC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08A2FE5-8C6F-4E9B-89C6-28810F78238A}"/>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BAA069FB-03B7-4B52-8649-EAF3FB98139A}"/>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B185E2E0-E819-4785-B653-1BBA40B9A700}"/>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6" name="頁尾版面配置區 5">
            <a:extLst>
              <a:ext uri="{FF2B5EF4-FFF2-40B4-BE49-F238E27FC236}">
                <a16:creationId xmlns:a16="http://schemas.microsoft.com/office/drawing/2014/main" id="{106EFA34-EC53-4DD3-8B99-A388AA540FB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900C5B2-D2D7-4E0B-A067-E06FB8E56C21}"/>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2890898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68B8DD-9806-473A-A42A-85E80129B7C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FB7BCA1-8BBE-4766-8C92-4AE91736BE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C6DC7B15-EE43-4E23-BE1A-12EC31549FC8}"/>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28215FB-E836-423D-938C-98080DD9E7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3C1A6641-CA1C-4B4B-9305-4685751CFC82}"/>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A62757A1-8D3B-4815-82ED-0D105C9A5AC3}"/>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8" name="頁尾版面配置區 7">
            <a:extLst>
              <a:ext uri="{FF2B5EF4-FFF2-40B4-BE49-F238E27FC236}">
                <a16:creationId xmlns:a16="http://schemas.microsoft.com/office/drawing/2014/main" id="{F2705898-63B3-44D4-B0B3-FFAB5F08BE46}"/>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776CAACA-E4CC-4D5E-86E9-6FB273449BE8}"/>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3678941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77F7C5D-5B63-4A89-9671-702344F0D84C}"/>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82E604DE-0B8D-4532-AF3C-890C6CAF9EF2}"/>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4" name="頁尾版面配置區 3">
            <a:extLst>
              <a:ext uri="{FF2B5EF4-FFF2-40B4-BE49-F238E27FC236}">
                <a16:creationId xmlns:a16="http://schemas.microsoft.com/office/drawing/2014/main" id="{358C8F19-5B5C-4150-9A08-4639ED338F9B}"/>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30A0C21B-DE56-464A-850D-47C6E34AAFDE}"/>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441973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9EED5A80-C03F-40BA-BF51-F125BBF9EA1E}"/>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3" name="頁尾版面配置區 2">
            <a:extLst>
              <a:ext uri="{FF2B5EF4-FFF2-40B4-BE49-F238E27FC236}">
                <a16:creationId xmlns:a16="http://schemas.microsoft.com/office/drawing/2014/main" id="{7CD1438E-7984-4F01-8E7F-AB7F38FA113C}"/>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B16DEED1-81C2-49A6-A90A-CFF5C4AC646F}"/>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2683975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4FFF4F-54F7-48DC-BAF5-4A5DC63700D7}"/>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C246E8A-DB45-42A2-B957-1E7B5166EF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BA7FB82A-6E58-4CBB-BDFA-F30904F1ED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4EF43D4E-DDB4-4F8B-AF84-FB2067551DF4}"/>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6" name="頁尾版面配置區 5">
            <a:extLst>
              <a:ext uri="{FF2B5EF4-FFF2-40B4-BE49-F238E27FC236}">
                <a16:creationId xmlns:a16="http://schemas.microsoft.com/office/drawing/2014/main" id="{174B31B4-C608-4783-82DA-84DFD258C43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D3FB7EF-2361-4045-90B9-FA7090356AB6}"/>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1750582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52F7193-17C7-43CC-AA05-9F999F8A10F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381CB71-1968-4BC6-955E-F7EAFC6E2E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9EBEF75F-4078-4117-9473-72C8DD377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7316FA7-7F41-43CE-AD03-0FB189E7C410}"/>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6" name="頁尾版面配置區 5">
            <a:extLst>
              <a:ext uri="{FF2B5EF4-FFF2-40B4-BE49-F238E27FC236}">
                <a16:creationId xmlns:a16="http://schemas.microsoft.com/office/drawing/2014/main" id="{1D833D17-BA18-4FAA-A39C-F1C8F76C906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A601FEFD-2D02-4602-8124-CB526D6AEABD}"/>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3542601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E4A2854-EF98-4815-9E57-EA6B644BE80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213B7E5-55DF-4E1B-9E18-6956A3A12BD9}"/>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7AE7C5B-6D25-4F90-AC5D-FC83A834D4FF}"/>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5" name="頁尾版面配置區 4">
            <a:extLst>
              <a:ext uri="{FF2B5EF4-FFF2-40B4-BE49-F238E27FC236}">
                <a16:creationId xmlns:a16="http://schemas.microsoft.com/office/drawing/2014/main" id="{01C637EE-D397-4960-BE9B-DC4B17AE97F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D28B91-CD91-4EBC-BFF8-FB295AC856F5}"/>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1198997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4111F2F-4978-48ED-B514-4ECD7E6A6382}"/>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515940D-8245-447F-B8AF-3C8CCB6E0BD1}"/>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F1067D3-10DF-4554-87C3-14228813CED5}"/>
              </a:ext>
            </a:extLst>
          </p:cNvPr>
          <p:cNvSpPr>
            <a:spLocks noGrp="1"/>
          </p:cNvSpPr>
          <p:nvPr>
            <p:ph type="dt" sz="half" idx="10"/>
          </p:nvPr>
        </p:nvSpPr>
        <p:spPr/>
        <p:txBody>
          <a:bodyPr/>
          <a:lstStyle/>
          <a:p>
            <a:fld id="{611B3E69-4603-4164-82E9-87B53E5BF307}" type="datetimeFigureOut">
              <a:rPr lang="zh-TW" altLang="en-US" smtClean="0"/>
              <a:t>2018/2/13</a:t>
            </a:fld>
            <a:endParaRPr lang="zh-TW" altLang="en-US"/>
          </a:p>
        </p:txBody>
      </p:sp>
      <p:sp>
        <p:nvSpPr>
          <p:cNvPr id="5" name="頁尾版面配置區 4">
            <a:extLst>
              <a:ext uri="{FF2B5EF4-FFF2-40B4-BE49-F238E27FC236}">
                <a16:creationId xmlns:a16="http://schemas.microsoft.com/office/drawing/2014/main" id="{C7D2B6CE-54CD-40D8-A02D-5906F4D1621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0EF6EC0-5C25-4A08-8D0E-EC39DCC8301A}"/>
              </a:ext>
            </a:extLst>
          </p:cNvPr>
          <p:cNvSpPr>
            <a:spLocks noGrp="1"/>
          </p:cNvSpPr>
          <p:nvPr>
            <p:ph type="sldNum" sz="quarter" idx="12"/>
          </p:nvPr>
        </p:nvSpPr>
        <p:spPr/>
        <p:txBody>
          <a:body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1616639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63D0B51D-387B-4B3E-AA6F-CC5281760C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E307AB7-0222-471A-9082-94E2BA4B96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2E5FE3F-BA67-488F-8F8B-72E1ABDB05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1B3E69-4603-4164-82E9-87B53E5BF307}" type="datetimeFigureOut">
              <a:rPr lang="zh-TW" altLang="en-US" smtClean="0"/>
              <a:t>2018/2/13</a:t>
            </a:fld>
            <a:endParaRPr lang="zh-TW" altLang="en-US"/>
          </a:p>
        </p:txBody>
      </p:sp>
      <p:sp>
        <p:nvSpPr>
          <p:cNvPr id="5" name="頁尾版面配置區 4">
            <a:extLst>
              <a:ext uri="{FF2B5EF4-FFF2-40B4-BE49-F238E27FC236}">
                <a16:creationId xmlns:a16="http://schemas.microsoft.com/office/drawing/2014/main" id="{B35C0D8A-C671-47FA-A92F-8FB512DF20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8ABB93DA-8431-4C8A-A0A6-B1B9FAE4C9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41B97F-3F61-4FA2-B589-471372C376AF}" type="slidenum">
              <a:rPr lang="zh-TW" altLang="en-US" smtClean="0"/>
              <a:t>‹#›</a:t>
            </a:fld>
            <a:endParaRPr lang="zh-TW" altLang="en-US"/>
          </a:p>
        </p:txBody>
      </p:sp>
    </p:spTree>
    <p:extLst>
      <p:ext uri="{BB962C8B-B14F-4D97-AF65-F5344CB8AC3E}">
        <p14:creationId xmlns:p14="http://schemas.microsoft.com/office/powerpoint/2010/main" val="8021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7FE75CA-00C0-4F35-86FA-AB8D037782CC}"/>
              </a:ext>
            </a:extLst>
          </p:cNvPr>
          <p:cNvSpPr>
            <a:spLocks noGrp="1"/>
          </p:cNvSpPr>
          <p:nvPr>
            <p:ph type="ctrTitle"/>
          </p:nvPr>
        </p:nvSpPr>
        <p:spPr>
          <a:xfrm>
            <a:off x="690978" y="1600200"/>
            <a:ext cx="10810043" cy="837784"/>
          </a:xfrm>
        </p:spPr>
        <p:txBody>
          <a:bodyPr>
            <a:normAutofit/>
          </a:bodyPr>
          <a:lstStyle/>
          <a:p>
            <a:r>
              <a:rPr lang="en-US" altLang="zh-TW" sz="4400" dirty="0"/>
              <a:t>Intelligent Predictive String Search Algorithm</a:t>
            </a:r>
            <a:endParaRPr lang="zh-TW" altLang="en-US" sz="4400" dirty="0"/>
          </a:p>
        </p:txBody>
      </p:sp>
      <p:sp>
        <p:nvSpPr>
          <p:cNvPr id="3" name="副標題 2">
            <a:extLst>
              <a:ext uri="{FF2B5EF4-FFF2-40B4-BE49-F238E27FC236}">
                <a16:creationId xmlns:a16="http://schemas.microsoft.com/office/drawing/2014/main" id="{B78422CC-B6B0-4D6C-97C3-559E36F4549C}"/>
              </a:ext>
            </a:extLst>
          </p:cNvPr>
          <p:cNvSpPr>
            <a:spLocks noGrp="1"/>
          </p:cNvSpPr>
          <p:nvPr>
            <p:ph type="subTitle" idx="1"/>
          </p:nvPr>
        </p:nvSpPr>
        <p:spPr>
          <a:xfrm>
            <a:off x="1524000" y="3602038"/>
            <a:ext cx="9144000" cy="1085372"/>
          </a:xfrm>
        </p:spPr>
        <p:txBody>
          <a:bodyPr>
            <a:normAutofit fontScale="92500" lnSpcReduction="20000"/>
          </a:bodyPr>
          <a:lstStyle/>
          <a:p>
            <a:r>
              <a:rPr lang="en-US" altLang="zh-TW" dirty="0" err="1"/>
              <a:t>Dipendra</a:t>
            </a:r>
            <a:r>
              <a:rPr lang="en-US" altLang="zh-TW" dirty="0"/>
              <a:t> Gurung, Udit Kr. Chakraborty and </a:t>
            </a:r>
            <a:r>
              <a:rPr lang="en-US" altLang="zh-TW" dirty="0" err="1"/>
              <a:t>Pratikshya</a:t>
            </a:r>
            <a:r>
              <a:rPr lang="en-US" altLang="zh-TW" dirty="0"/>
              <a:t> Sharma</a:t>
            </a:r>
          </a:p>
          <a:p>
            <a:endParaRPr lang="it-IT" altLang="zh-TW" sz="2200" dirty="0"/>
          </a:p>
          <a:p>
            <a:r>
              <a:rPr lang="it-IT" altLang="zh-TW" sz="2200" dirty="0"/>
              <a:t>Procedia Computer Science, vol. 79, pp. 161-169, 2016</a:t>
            </a:r>
            <a:endParaRPr lang="zh-TW" altLang="en-US" sz="2200" dirty="0"/>
          </a:p>
        </p:txBody>
      </p:sp>
      <p:sp>
        <p:nvSpPr>
          <p:cNvPr id="4" name="文字方塊 3">
            <a:extLst>
              <a:ext uri="{FF2B5EF4-FFF2-40B4-BE49-F238E27FC236}">
                <a16:creationId xmlns:a16="http://schemas.microsoft.com/office/drawing/2014/main" id="{99B2371B-2AD4-4504-AB46-636D16F33159}"/>
              </a:ext>
            </a:extLst>
          </p:cNvPr>
          <p:cNvSpPr txBox="1"/>
          <p:nvPr/>
        </p:nvSpPr>
        <p:spPr>
          <a:xfrm>
            <a:off x="4204616" y="5026967"/>
            <a:ext cx="3782767" cy="461665"/>
          </a:xfrm>
          <a:prstGeom prst="rect">
            <a:avLst/>
          </a:prstGeom>
          <a:noFill/>
        </p:spPr>
        <p:txBody>
          <a:bodyPr wrap="none" rtlCol="0">
            <a:spAutoFit/>
          </a:bodyPr>
          <a:lstStyle/>
          <a:p>
            <a:r>
              <a:rPr lang="en-US" altLang="zh-TW" sz="2400" dirty="0"/>
              <a:t>Presenter</a:t>
            </a:r>
            <a:r>
              <a:rPr lang="zh-TW" altLang="en-US" sz="2400" dirty="0"/>
              <a:t>：</a:t>
            </a:r>
            <a:r>
              <a:rPr lang="en-US" altLang="zh-TW" sz="2400" dirty="0"/>
              <a:t>Hsiu-</a:t>
            </a:r>
            <a:r>
              <a:rPr lang="en-US" altLang="zh-TW" sz="2400" dirty="0" err="1"/>
              <a:t>Chieh</a:t>
            </a:r>
            <a:r>
              <a:rPr lang="en-US" altLang="zh-TW" sz="2400" dirty="0"/>
              <a:t> Hung</a:t>
            </a:r>
            <a:endParaRPr lang="zh-TW" altLang="en-US" sz="2400" dirty="0"/>
          </a:p>
        </p:txBody>
      </p:sp>
      <p:sp>
        <p:nvSpPr>
          <p:cNvPr id="5" name="文字方塊 4">
            <a:extLst>
              <a:ext uri="{FF2B5EF4-FFF2-40B4-BE49-F238E27FC236}">
                <a16:creationId xmlns:a16="http://schemas.microsoft.com/office/drawing/2014/main" id="{FA822A01-4C2F-442F-8068-1C42DFA3BC30}"/>
              </a:ext>
            </a:extLst>
          </p:cNvPr>
          <p:cNvSpPr txBox="1"/>
          <p:nvPr/>
        </p:nvSpPr>
        <p:spPr>
          <a:xfrm>
            <a:off x="9762853" y="6169981"/>
            <a:ext cx="1855188" cy="369332"/>
          </a:xfrm>
          <a:prstGeom prst="rect">
            <a:avLst/>
          </a:prstGeom>
          <a:noFill/>
        </p:spPr>
        <p:txBody>
          <a:bodyPr wrap="none" rtlCol="0">
            <a:spAutoFit/>
          </a:bodyPr>
          <a:lstStyle/>
          <a:p>
            <a:r>
              <a:rPr lang="en-US" altLang="zh-TW" dirty="0"/>
              <a:t>Date</a:t>
            </a:r>
            <a:r>
              <a:rPr lang="zh-TW" altLang="en-US" dirty="0"/>
              <a:t>：</a:t>
            </a:r>
            <a:r>
              <a:rPr lang="en-US" altLang="zh-TW" dirty="0"/>
              <a:t>2018/2/13</a:t>
            </a:r>
            <a:endParaRPr lang="zh-TW" altLang="en-US" dirty="0"/>
          </a:p>
        </p:txBody>
      </p:sp>
    </p:spTree>
    <p:extLst>
      <p:ext uri="{BB962C8B-B14F-4D97-AF65-F5344CB8AC3E}">
        <p14:creationId xmlns:p14="http://schemas.microsoft.com/office/powerpoint/2010/main" val="510079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88211A1-E3FF-4B8B-8C88-184F85D7303C}"/>
              </a:ext>
            </a:extLst>
          </p:cNvPr>
          <p:cNvSpPr>
            <a:spLocks noGrp="1"/>
          </p:cNvSpPr>
          <p:nvPr>
            <p:ph type="title"/>
          </p:nvPr>
        </p:nvSpPr>
        <p:spPr/>
        <p:txBody>
          <a:bodyPr/>
          <a:lstStyle/>
          <a:p>
            <a:pPr algn="ctr"/>
            <a:r>
              <a:rPr lang="en-US" altLang="zh-TW" dirty="0"/>
              <a:t>Abstract</a:t>
            </a:r>
            <a:endParaRPr lang="zh-TW" altLang="en-US" dirty="0"/>
          </a:p>
        </p:txBody>
      </p:sp>
      <p:sp>
        <p:nvSpPr>
          <p:cNvPr id="3" name="內容版面配置區 2">
            <a:extLst>
              <a:ext uri="{FF2B5EF4-FFF2-40B4-BE49-F238E27FC236}">
                <a16:creationId xmlns:a16="http://schemas.microsoft.com/office/drawing/2014/main" id="{4EED9469-4EA0-49EF-A318-493853D0B3EC}"/>
              </a:ext>
            </a:extLst>
          </p:cNvPr>
          <p:cNvSpPr>
            <a:spLocks noGrp="1"/>
          </p:cNvSpPr>
          <p:nvPr>
            <p:ph idx="1"/>
          </p:nvPr>
        </p:nvSpPr>
        <p:spPr/>
        <p:txBody>
          <a:bodyPr>
            <a:normAutofit fontScale="85000" lnSpcReduction="20000"/>
          </a:bodyPr>
          <a:lstStyle/>
          <a:p>
            <a:pPr marL="0" indent="0">
              <a:buNone/>
            </a:pPr>
            <a:r>
              <a:rPr lang="en-US" altLang="zh-TW" dirty="0"/>
              <a:t>Text processing has moved beyond merely word processing and desktop publishing </a:t>
            </a:r>
            <a:r>
              <a:rPr lang="en-US" altLang="zh-TW" dirty="0" err="1"/>
              <a:t>softwares</a:t>
            </a:r>
            <a:r>
              <a:rPr lang="en-US" altLang="zh-TW" dirty="0"/>
              <a:t>, which currently form a miniscule part of its application. With the advent of the internet and the huge amount of text processing associated with information mining, string search algorithms have gained importance. In this paper a new string searching algorithm is presented that uses intelligent predictions based on text features to search for a string in a text. The proposed algorithm has been developed after analyzing the existing algorithms such as KMP, Boyer-Moore and </a:t>
            </a:r>
            <a:r>
              <a:rPr lang="en-US" altLang="zh-TW" dirty="0" err="1"/>
              <a:t>Horspool</a:t>
            </a:r>
            <a:r>
              <a:rPr lang="en-US" altLang="zh-TW" dirty="0"/>
              <a:t>. One unique feature of this algorithm is that unlike the existing algorithms, it does not require pre-processing the pattern to be searched. As a result it does not incur the overhead required in pre-processing the pattern. The algorithm searches through a given text to find the first occurrence of a pattern. It does not involve complex computations and uses simple rules during a match or mismatch of a pattern character. Based on the variety of applications coming up in areas of data and information mining, sentiment analysis, DNA pattern matching </a:t>
            </a:r>
            <a:r>
              <a:rPr lang="en-US" altLang="zh-TW" dirty="0" err="1"/>
              <a:t>etc</a:t>
            </a:r>
            <a:r>
              <a:rPr lang="en-US" altLang="zh-TW" dirty="0"/>
              <a:t>, this simple, elegant and intelligent algorithm will find its application.</a:t>
            </a:r>
            <a:endParaRPr lang="zh-TW" altLang="en-US" dirty="0"/>
          </a:p>
        </p:txBody>
      </p:sp>
    </p:spTree>
    <p:extLst>
      <p:ext uri="{BB962C8B-B14F-4D97-AF65-F5344CB8AC3E}">
        <p14:creationId xmlns:p14="http://schemas.microsoft.com/office/powerpoint/2010/main" val="1226798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C01A5F-1045-4360-89C2-5FFF186CA972}"/>
              </a:ext>
            </a:extLst>
          </p:cNvPr>
          <p:cNvSpPr>
            <a:spLocks noGrp="1"/>
          </p:cNvSpPr>
          <p:nvPr>
            <p:ph type="title"/>
          </p:nvPr>
        </p:nvSpPr>
        <p:spPr/>
        <p:txBody>
          <a:bodyPr/>
          <a:lstStyle/>
          <a:p>
            <a:pPr algn="ctr"/>
            <a:r>
              <a:rPr lang="en-US" altLang="zh-TW" dirty="0"/>
              <a:t>String matching</a:t>
            </a:r>
            <a:endParaRPr lang="zh-TW" altLang="en-US" dirty="0"/>
          </a:p>
        </p:txBody>
      </p:sp>
      <p:sp>
        <p:nvSpPr>
          <p:cNvPr id="3" name="內容版面配置區 2">
            <a:extLst>
              <a:ext uri="{FF2B5EF4-FFF2-40B4-BE49-F238E27FC236}">
                <a16:creationId xmlns:a16="http://schemas.microsoft.com/office/drawing/2014/main" id="{A6A9EB4D-8D52-4739-955B-AC7B23DAB917}"/>
              </a:ext>
            </a:extLst>
          </p:cNvPr>
          <p:cNvSpPr>
            <a:spLocks noGrp="1"/>
          </p:cNvSpPr>
          <p:nvPr>
            <p:ph idx="1"/>
          </p:nvPr>
        </p:nvSpPr>
        <p:spPr/>
        <p:txBody>
          <a:bodyPr/>
          <a:lstStyle/>
          <a:p>
            <a:r>
              <a:rPr lang="en-US" altLang="zh-TW" dirty="0"/>
              <a:t>KMP</a:t>
            </a:r>
          </a:p>
          <a:p>
            <a:r>
              <a:rPr lang="en-US" altLang="zh-TW" dirty="0"/>
              <a:t>Boyer Moore</a:t>
            </a:r>
          </a:p>
          <a:p>
            <a:r>
              <a:rPr lang="en-US" altLang="zh-TW" dirty="0" err="1"/>
              <a:t>Horspool</a:t>
            </a:r>
            <a:endParaRPr lang="zh-TW" altLang="en-US" dirty="0"/>
          </a:p>
        </p:txBody>
      </p:sp>
    </p:spTree>
    <p:extLst>
      <p:ext uri="{BB962C8B-B14F-4D97-AF65-F5344CB8AC3E}">
        <p14:creationId xmlns:p14="http://schemas.microsoft.com/office/powerpoint/2010/main" val="2587127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3515488928"/>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653198308"/>
                    </a:ext>
                  </a:extLst>
                </a:gridCol>
                <a:gridCol w="592022">
                  <a:extLst>
                    <a:ext uri="{9D8B030D-6E8A-4147-A177-3AD203B41FA5}">
                      <a16:colId xmlns:a16="http://schemas.microsoft.com/office/drawing/2014/main" val="1092279432"/>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rgbClr val="FF0000"/>
                          </a:solidFill>
                        </a:rPr>
                        <a:t>B</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rgbClr val="FF0000"/>
                          </a:solidFill>
                        </a:rPr>
                        <a:t>A</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Tree>
    <p:extLst>
      <p:ext uri="{BB962C8B-B14F-4D97-AF65-F5344CB8AC3E}">
        <p14:creationId xmlns:p14="http://schemas.microsoft.com/office/powerpoint/2010/main" val="3084653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1443865264"/>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254478019"/>
                    </a:ext>
                  </a:extLst>
                </a:gridCol>
                <a:gridCol w="592022">
                  <a:extLst>
                    <a:ext uri="{9D8B030D-6E8A-4147-A177-3AD203B41FA5}">
                      <a16:colId xmlns:a16="http://schemas.microsoft.com/office/drawing/2014/main" val="63959695"/>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A</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A</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Tree>
    <p:extLst>
      <p:ext uri="{BB962C8B-B14F-4D97-AF65-F5344CB8AC3E}">
        <p14:creationId xmlns:p14="http://schemas.microsoft.com/office/powerpoint/2010/main" val="4108268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299305959"/>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1818967103"/>
                    </a:ext>
                  </a:extLst>
                </a:gridCol>
                <a:gridCol w="592022">
                  <a:extLst>
                    <a:ext uri="{9D8B030D-6E8A-4147-A177-3AD203B41FA5}">
                      <a16:colId xmlns:a16="http://schemas.microsoft.com/office/drawing/2014/main" val="1299313877"/>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C</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Tree>
    <p:extLst>
      <p:ext uri="{BB962C8B-B14F-4D97-AF65-F5344CB8AC3E}">
        <p14:creationId xmlns:p14="http://schemas.microsoft.com/office/powerpoint/2010/main" val="3435735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2854325401"/>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624053841"/>
                    </a:ext>
                  </a:extLst>
                </a:gridCol>
                <a:gridCol w="592022">
                  <a:extLst>
                    <a:ext uri="{9D8B030D-6E8A-4147-A177-3AD203B41FA5}">
                      <a16:colId xmlns:a16="http://schemas.microsoft.com/office/drawing/2014/main" val="1180301717"/>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C</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graphicFrame>
        <p:nvGraphicFramePr>
          <p:cNvPr id="4" name="表格 3">
            <a:extLst>
              <a:ext uri="{FF2B5EF4-FFF2-40B4-BE49-F238E27FC236}">
                <a16:creationId xmlns:a16="http://schemas.microsoft.com/office/drawing/2014/main" id="{7F3343E6-54AD-40F2-B6A3-993DB0DC8181}"/>
              </a:ext>
            </a:extLst>
          </p:cNvPr>
          <p:cNvGraphicFramePr>
            <a:graphicFrameLocks noGrp="1"/>
          </p:cNvGraphicFramePr>
          <p:nvPr>
            <p:extLst>
              <p:ext uri="{D42A27DB-BD31-4B8C-83A1-F6EECF244321}">
                <p14:modId xmlns:p14="http://schemas.microsoft.com/office/powerpoint/2010/main" val="1422032679"/>
              </p:ext>
            </p:extLst>
          </p:nvPr>
        </p:nvGraphicFramePr>
        <p:xfrm>
          <a:off x="2031998" y="503421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794783940"/>
                    </a:ext>
                  </a:extLst>
                </a:gridCol>
                <a:gridCol w="1016000">
                  <a:extLst>
                    <a:ext uri="{9D8B030D-6E8A-4147-A177-3AD203B41FA5}">
                      <a16:colId xmlns:a16="http://schemas.microsoft.com/office/drawing/2014/main" val="1002938461"/>
                    </a:ext>
                  </a:extLst>
                </a:gridCol>
                <a:gridCol w="1016000">
                  <a:extLst>
                    <a:ext uri="{9D8B030D-6E8A-4147-A177-3AD203B41FA5}">
                      <a16:colId xmlns:a16="http://schemas.microsoft.com/office/drawing/2014/main" val="3016750554"/>
                    </a:ext>
                  </a:extLst>
                </a:gridCol>
                <a:gridCol w="1016000">
                  <a:extLst>
                    <a:ext uri="{9D8B030D-6E8A-4147-A177-3AD203B41FA5}">
                      <a16:colId xmlns:a16="http://schemas.microsoft.com/office/drawing/2014/main" val="3725483691"/>
                    </a:ext>
                  </a:extLst>
                </a:gridCol>
                <a:gridCol w="1016000">
                  <a:extLst>
                    <a:ext uri="{9D8B030D-6E8A-4147-A177-3AD203B41FA5}">
                      <a16:colId xmlns:a16="http://schemas.microsoft.com/office/drawing/2014/main" val="1896270219"/>
                    </a:ext>
                  </a:extLst>
                </a:gridCol>
                <a:gridCol w="1016000">
                  <a:extLst>
                    <a:ext uri="{9D8B030D-6E8A-4147-A177-3AD203B41FA5}">
                      <a16:colId xmlns:a16="http://schemas.microsoft.com/office/drawing/2014/main" val="2993642517"/>
                    </a:ext>
                  </a:extLst>
                </a:gridCol>
                <a:gridCol w="1016000">
                  <a:extLst>
                    <a:ext uri="{9D8B030D-6E8A-4147-A177-3AD203B41FA5}">
                      <a16:colId xmlns:a16="http://schemas.microsoft.com/office/drawing/2014/main" val="2536588246"/>
                    </a:ext>
                  </a:extLst>
                </a:gridCol>
                <a:gridCol w="1016000">
                  <a:extLst>
                    <a:ext uri="{9D8B030D-6E8A-4147-A177-3AD203B41FA5}">
                      <a16:colId xmlns:a16="http://schemas.microsoft.com/office/drawing/2014/main" val="2735049989"/>
                    </a:ext>
                  </a:extLst>
                </a:gridCol>
              </a:tblGrid>
              <a:tr h="370840">
                <a:tc rowSpan="2">
                  <a:txBody>
                    <a:bodyPr/>
                    <a:lstStyle/>
                    <a:p>
                      <a:pPr algn="ctr"/>
                      <a:r>
                        <a:rPr lang="en-US" altLang="zh-TW" b="1" dirty="0">
                          <a:solidFill>
                            <a:schemeClr val="tx1"/>
                          </a:solidFill>
                        </a:rPr>
                        <a:t>F</a:t>
                      </a:r>
                      <a:endParaRPr lang="zh-TW" altLang="en-US"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697731"/>
                  </a:ext>
                </a:extLst>
              </a:tr>
              <a:tr h="370840">
                <a:tc vMerge="1">
                  <a:txBody>
                    <a:bodyPr/>
                    <a:lstStyle/>
                    <a:p>
                      <a:pPr algn="ct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357184"/>
                  </a:ext>
                </a:extLst>
              </a:tr>
            </a:tbl>
          </a:graphicData>
        </a:graphic>
      </p:graphicFrame>
    </p:spTree>
    <p:extLst>
      <p:ext uri="{BB962C8B-B14F-4D97-AF65-F5344CB8AC3E}">
        <p14:creationId xmlns:p14="http://schemas.microsoft.com/office/powerpoint/2010/main" val="2484768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4257931767"/>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624053841"/>
                    </a:ext>
                  </a:extLst>
                </a:gridCol>
                <a:gridCol w="592022">
                  <a:extLst>
                    <a:ext uri="{9D8B030D-6E8A-4147-A177-3AD203B41FA5}">
                      <a16:colId xmlns:a16="http://schemas.microsoft.com/office/drawing/2014/main" val="1180301717"/>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C</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graphicFrame>
        <p:nvGraphicFramePr>
          <p:cNvPr id="4" name="表格 3">
            <a:extLst>
              <a:ext uri="{FF2B5EF4-FFF2-40B4-BE49-F238E27FC236}">
                <a16:creationId xmlns:a16="http://schemas.microsoft.com/office/drawing/2014/main" id="{7F3343E6-54AD-40F2-B6A3-993DB0DC8181}"/>
              </a:ext>
            </a:extLst>
          </p:cNvPr>
          <p:cNvGraphicFramePr>
            <a:graphicFrameLocks noGrp="1"/>
          </p:cNvGraphicFramePr>
          <p:nvPr/>
        </p:nvGraphicFramePr>
        <p:xfrm>
          <a:off x="2031998" y="503421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794783940"/>
                    </a:ext>
                  </a:extLst>
                </a:gridCol>
                <a:gridCol w="1016000">
                  <a:extLst>
                    <a:ext uri="{9D8B030D-6E8A-4147-A177-3AD203B41FA5}">
                      <a16:colId xmlns:a16="http://schemas.microsoft.com/office/drawing/2014/main" val="1002938461"/>
                    </a:ext>
                  </a:extLst>
                </a:gridCol>
                <a:gridCol w="1016000">
                  <a:extLst>
                    <a:ext uri="{9D8B030D-6E8A-4147-A177-3AD203B41FA5}">
                      <a16:colId xmlns:a16="http://schemas.microsoft.com/office/drawing/2014/main" val="3016750554"/>
                    </a:ext>
                  </a:extLst>
                </a:gridCol>
                <a:gridCol w="1016000">
                  <a:extLst>
                    <a:ext uri="{9D8B030D-6E8A-4147-A177-3AD203B41FA5}">
                      <a16:colId xmlns:a16="http://schemas.microsoft.com/office/drawing/2014/main" val="3725483691"/>
                    </a:ext>
                  </a:extLst>
                </a:gridCol>
                <a:gridCol w="1016000">
                  <a:extLst>
                    <a:ext uri="{9D8B030D-6E8A-4147-A177-3AD203B41FA5}">
                      <a16:colId xmlns:a16="http://schemas.microsoft.com/office/drawing/2014/main" val="1896270219"/>
                    </a:ext>
                  </a:extLst>
                </a:gridCol>
                <a:gridCol w="1016000">
                  <a:extLst>
                    <a:ext uri="{9D8B030D-6E8A-4147-A177-3AD203B41FA5}">
                      <a16:colId xmlns:a16="http://schemas.microsoft.com/office/drawing/2014/main" val="2993642517"/>
                    </a:ext>
                  </a:extLst>
                </a:gridCol>
                <a:gridCol w="1016000">
                  <a:extLst>
                    <a:ext uri="{9D8B030D-6E8A-4147-A177-3AD203B41FA5}">
                      <a16:colId xmlns:a16="http://schemas.microsoft.com/office/drawing/2014/main" val="2536588246"/>
                    </a:ext>
                  </a:extLst>
                </a:gridCol>
                <a:gridCol w="1016000">
                  <a:extLst>
                    <a:ext uri="{9D8B030D-6E8A-4147-A177-3AD203B41FA5}">
                      <a16:colId xmlns:a16="http://schemas.microsoft.com/office/drawing/2014/main" val="2735049989"/>
                    </a:ext>
                  </a:extLst>
                </a:gridCol>
              </a:tblGrid>
              <a:tr h="370840">
                <a:tc rowSpan="2">
                  <a:txBody>
                    <a:bodyPr/>
                    <a:lstStyle/>
                    <a:p>
                      <a:pPr algn="ctr"/>
                      <a:r>
                        <a:rPr lang="en-US" altLang="zh-TW" b="1" dirty="0">
                          <a:solidFill>
                            <a:schemeClr val="tx1"/>
                          </a:solidFill>
                        </a:rPr>
                        <a:t>F</a:t>
                      </a:r>
                      <a:endParaRPr lang="zh-TW" altLang="en-US"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697731"/>
                  </a:ext>
                </a:extLst>
              </a:tr>
              <a:tr h="370840">
                <a:tc vMerge="1">
                  <a:txBody>
                    <a:bodyPr/>
                    <a:lstStyle/>
                    <a:p>
                      <a:pPr algn="ct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357184"/>
                  </a:ext>
                </a:extLst>
              </a:tr>
            </a:tbl>
          </a:graphicData>
        </a:graphic>
      </p:graphicFrame>
      <p:sp>
        <p:nvSpPr>
          <p:cNvPr id="5" name="文字方塊 4">
            <a:extLst>
              <a:ext uri="{FF2B5EF4-FFF2-40B4-BE49-F238E27FC236}">
                <a16:creationId xmlns:a16="http://schemas.microsoft.com/office/drawing/2014/main" id="{E39BA25D-CA9E-4B2E-8D38-9391B0040D88}"/>
              </a:ext>
            </a:extLst>
          </p:cNvPr>
          <p:cNvSpPr txBox="1"/>
          <p:nvPr/>
        </p:nvSpPr>
        <p:spPr>
          <a:xfrm>
            <a:off x="4154749" y="3704637"/>
            <a:ext cx="4570482" cy="923330"/>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位移數 </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匹配的字元數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對應的</a:t>
            </a:r>
            <a:r>
              <a:rPr lang="en-US" altLang="zh-TW" dirty="0">
                <a:latin typeface="標楷體" panose="03000509000000000000" pitchFamily="65" charset="-120"/>
                <a:ea typeface="標楷體" panose="03000509000000000000" pitchFamily="65" charset="-120"/>
              </a:rPr>
              <a:t>F</a:t>
            </a:r>
            <a:r>
              <a:rPr lang="zh-TW" altLang="en-US" dirty="0">
                <a:latin typeface="標楷體" panose="03000509000000000000" pitchFamily="65" charset="-120"/>
                <a:ea typeface="標楷體" panose="03000509000000000000" pitchFamily="65" charset="-120"/>
              </a:rPr>
              <a:t>函數值</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6</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2</a:t>
            </a: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4</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33596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3887452459"/>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624053841"/>
                    </a:ext>
                  </a:extLst>
                </a:gridCol>
                <a:gridCol w="592022">
                  <a:extLst>
                    <a:ext uri="{9D8B030D-6E8A-4147-A177-3AD203B41FA5}">
                      <a16:colId xmlns:a16="http://schemas.microsoft.com/office/drawing/2014/main" val="1180301717"/>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A</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A</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graphicFrame>
        <p:nvGraphicFramePr>
          <p:cNvPr id="4" name="表格 3">
            <a:extLst>
              <a:ext uri="{FF2B5EF4-FFF2-40B4-BE49-F238E27FC236}">
                <a16:creationId xmlns:a16="http://schemas.microsoft.com/office/drawing/2014/main" id="{7F3343E6-54AD-40F2-B6A3-993DB0DC8181}"/>
              </a:ext>
            </a:extLst>
          </p:cNvPr>
          <p:cNvGraphicFramePr>
            <a:graphicFrameLocks noGrp="1"/>
          </p:cNvGraphicFramePr>
          <p:nvPr/>
        </p:nvGraphicFramePr>
        <p:xfrm>
          <a:off x="2031998" y="503421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794783940"/>
                    </a:ext>
                  </a:extLst>
                </a:gridCol>
                <a:gridCol w="1016000">
                  <a:extLst>
                    <a:ext uri="{9D8B030D-6E8A-4147-A177-3AD203B41FA5}">
                      <a16:colId xmlns:a16="http://schemas.microsoft.com/office/drawing/2014/main" val="1002938461"/>
                    </a:ext>
                  </a:extLst>
                </a:gridCol>
                <a:gridCol w="1016000">
                  <a:extLst>
                    <a:ext uri="{9D8B030D-6E8A-4147-A177-3AD203B41FA5}">
                      <a16:colId xmlns:a16="http://schemas.microsoft.com/office/drawing/2014/main" val="3016750554"/>
                    </a:ext>
                  </a:extLst>
                </a:gridCol>
                <a:gridCol w="1016000">
                  <a:extLst>
                    <a:ext uri="{9D8B030D-6E8A-4147-A177-3AD203B41FA5}">
                      <a16:colId xmlns:a16="http://schemas.microsoft.com/office/drawing/2014/main" val="3725483691"/>
                    </a:ext>
                  </a:extLst>
                </a:gridCol>
                <a:gridCol w="1016000">
                  <a:extLst>
                    <a:ext uri="{9D8B030D-6E8A-4147-A177-3AD203B41FA5}">
                      <a16:colId xmlns:a16="http://schemas.microsoft.com/office/drawing/2014/main" val="1896270219"/>
                    </a:ext>
                  </a:extLst>
                </a:gridCol>
                <a:gridCol w="1016000">
                  <a:extLst>
                    <a:ext uri="{9D8B030D-6E8A-4147-A177-3AD203B41FA5}">
                      <a16:colId xmlns:a16="http://schemas.microsoft.com/office/drawing/2014/main" val="2993642517"/>
                    </a:ext>
                  </a:extLst>
                </a:gridCol>
                <a:gridCol w="1016000">
                  <a:extLst>
                    <a:ext uri="{9D8B030D-6E8A-4147-A177-3AD203B41FA5}">
                      <a16:colId xmlns:a16="http://schemas.microsoft.com/office/drawing/2014/main" val="2536588246"/>
                    </a:ext>
                  </a:extLst>
                </a:gridCol>
                <a:gridCol w="1016000">
                  <a:extLst>
                    <a:ext uri="{9D8B030D-6E8A-4147-A177-3AD203B41FA5}">
                      <a16:colId xmlns:a16="http://schemas.microsoft.com/office/drawing/2014/main" val="2735049989"/>
                    </a:ext>
                  </a:extLst>
                </a:gridCol>
              </a:tblGrid>
              <a:tr h="370840">
                <a:tc rowSpan="2">
                  <a:txBody>
                    <a:bodyPr/>
                    <a:lstStyle/>
                    <a:p>
                      <a:pPr algn="ctr"/>
                      <a:r>
                        <a:rPr lang="en-US" altLang="zh-TW" b="1" dirty="0">
                          <a:solidFill>
                            <a:schemeClr val="tx1"/>
                          </a:solidFill>
                        </a:rPr>
                        <a:t>F</a:t>
                      </a:r>
                      <a:endParaRPr lang="zh-TW" altLang="en-US"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697731"/>
                  </a:ext>
                </a:extLst>
              </a:tr>
              <a:tr h="370840">
                <a:tc vMerge="1">
                  <a:txBody>
                    <a:bodyPr/>
                    <a:lstStyle/>
                    <a:p>
                      <a:pPr algn="ct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357184"/>
                  </a:ext>
                </a:extLst>
              </a:tr>
            </a:tbl>
          </a:graphicData>
        </a:graphic>
      </p:graphicFrame>
    </p:spTree>
    <p:extLst>
      <p:ext uri="{BB962C8B-B14F-4D97-AF65-F5344CB8AC3E}">
        <p14:creationId xmlns:p14="http://schemas.microsoft.com/office/powerpoint/2010/main" val="4231722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2405466047"/>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624053841"/>
                    </a:ext>
                  </a:extLst>
                </a:gridCol>
                <a:gridCol w="592022">
                  <a:extLst>
                    <a:ext uri="{9D8B030D-6E8A-4147-A177-3AD203B41FA5}">
                      <a16:colId xmlns:a16="http://schemas.microsoft.com/office/drawing/2014/main" val="1180301717"/>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C</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graphicFrame>
        <p:nvGraphicFramePr>
          <p:cNvPr id="4" name="表格 3">
            <a:extLst>
              <a:ext uri="{FF2B5EF4-FFF2-40B4-BE49-F238E27FC236}">
                <a16:creationId xmlns:a16="http://schemas.microsoft.com/office/drawing/2014/main" id="{7F3343E6-54AD-40F2-B6A3-993DB0DC8181}"/>
              </a:ext>
            </a:extLst>
          </p:cNvPr>
          <p:cNvGraphicFramePr>
            <a:graphicFrameLocks noGrp="1"/>
          </p:cNvGraphicFramePr>
          <p:nvPr/>
        </p:nvGraphicFramePr>
        <p:xfrm>
          <a:off x="2031998" y="503421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794783940"/>
                    </a:ext>
                  </a:extLst>
                </a:gridCol>
                <a:gridCol w="1016000">
                  <a:extLst>
                    <a:ext uri="{9D8B030D-6E8A-4147-A177-3AD203B41FA5}">
                      <a16:colId xmlns:a16="http://schemas.microsoft.com/office/drawing/2014/main" val="1002938461"/>
                    </a:ext>
                  </a:extLst>
                </a:gridCol>
                <a:gridCol w="1016000">
                  <a:extLst>
                    <a:ext uri="{9D8B030D-6E8A-4147-A177-3AD203B41FA5}">
                      <a16:colId xmlns:a16="http://schemas.microsoft.com/office/drawing/2014/main" val="3016750554"/>
                    </a:ext>
                  </a:extLst>
                </a:gridCol>
                <a:gridCol w="1016000">
                  <a:extLst>
                    <a:ext uri="{9D8B030D-6E8A-4147-A177-3AD203B41FA5}">
                      <a16:colId xmlns:a16="http://schemas.microsoft.com/office/drawing/2014/main" val="3725483691"/>
                    </a:ext>
                  </a:extLst>
                </a:gridCol>
                <a:gridCol w="1016000">
                  <a:extLst>
                    <a:ext uri="{9D8B030D-6E8A-4147-A177-3AD203B41FA5}">
                      <a16:colId xmlns:a16="http://schemas.microsoft.com/office/drawing/2014/main" val="1896270219"/>
                    </a:ext>
                  </a:extLst>
                </a:gridCol>
                <a:gridCol w="1016000">
                  <a:extLst>
                    <a:ext uri="{9D8B030D-6E8A-4147-A177-3AD203B41FA5}">
                      <a16:colId xmlns:a16="http://schemas.microsoft.com/office/drawing/2014/main" val="2993642517"/>
                    </a:ext>
                  </a:extLst>
                </a:gridCol>
                <a:gridCol w="1016000">
                  <a:extLst>
                    <a:ext uri="{9D8B030D-6E8A-4147-A177-3AD203B41FA5}">
                      <a16:colId xmlns:a16="http://schemas.microsoft.com/office/drawing/2014/main" val="2536588246"/>
                    </a:ext>
                  </a:extLst>
                </a:gridCol>
                <a:gridCol w="1016000">
                  <a:extLst>
                    <a:ext uri="{9D8B030D-6E8A-4147-A177-3AD203B41FA5}">
                      <a16:colId xmlns:a16="http://schemas.microsoft.com/office/drawing/2014/main" val="2735049989"/>
                    </a:ext>
                  </a:extLst>
                </a:gridCol>
              </a:tblGrid>
              <a:tr h="370840">
                <a:tc rowSpan="2">
                  <a:txBody>
                    <a:bodyPr/>
                    <a:lstStyle/>
                    <a:p>
                      <a:pPr algn="ctr"/>
                      <a:r>
                        <a:rPr lang="en-US" altLang="zh-TW" b="1" dirty="0">
                          <a:solidFill>
                            <a:schemeClr val="tx1"/>
                          </a:solidFill>
                        </a:rPr>
                        <a:t>F</a:t>
                      </a:r>
                      <a:endParaRPr lang="zh-TW" altLang="en-US"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697731"/>
                  </a:ext>
                </a:extLst>
              </a:tr>
              <a:tr h="370840">
                <a:tc vMerge="1">
                  <a:txBody>
                    <a:bodyPr/>
                    <a:lstStyle/>
                    <a:p>
                      <a:pPr algn="ct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357184"/>
                  </a:ext>
                </a:extLst>
              </a:tr>
            </a:tbl>
          </a:graphicData>
        </a:graphic>
      </p:graphicFrame>
      <p:sp>
        <p:nvSpPr>
          <p:cNvPr id="5" name="文字方塊 4">
            <a:extLst>
              <a:ext uri="{FF2B5EF4-FFF2-40B4-BE49-F238E27FC236}">
                <a16:creationId xmlns:a16="http://schemas.microsoft.com/office/drawing/2014/main" id="{9F4B6906-57E9-456F-B3E9-3CD203E9B8D3}"/>
              </a:ext>
            </a:extLst>
          </p:cNvPr>
          <p:cNvSpPr txBox="1"/>
          <p:nvPr/>
        </p:nvSpPr>
        <p:spPr>
          <a:xfrm>
            <a:off x="4154749" y="3704637"/>
            <a:ext cx="4570482" cy="923330"/>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位移數 </a:t>
            </a: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匹配的字元數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對應的</a:t>
            </a:r>
            <a:r>
              <a:rPr lang="en-US" altLang="zh-TW" dirty="0">
                <a:latin typeface="標楷體" panose="03000509000000000000" pitchFamily="65" charset="-120"/>
                <a:ea typeface="標楷體" panose="03000509000000000000" pitchFamily="65" charset="-120"/>
              </a:rPr>
              <a:t>F</a:t>
            </a:r>
            <a:r>
              <a:rPr lang="zh-TW" altLang="en-US" dirty="0">
                <a:latin typeface="標楷體" panose="03000509000000000000" pitchFamily="65" charset="-120"/>
                <a:ea typeface="標楷體" panose="03000509000000000000" pitchFamily="65" charset="-120"/>
              </a:rPr>
              <a:t>函數值</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2</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0</a:t>
            </a: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2</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2627915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2276854322"/>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624053841"/>
                    </a:ext>
                  </a:extLst>
                </a:gridCol>
                <a:gridCol w="592022">
                  <a:extLst>
                    <a:ext uri="{9D8B030D-6E8A-4147-A177-3AD203B41FA5}">
                      <a16:colId xmlns:a16="http://schemas.microsoft.com/office/drawing/2014/main" val="1180301717"/>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FF0000"/>
                          </a:solidFill>
                        </a:rPr>
                        <a:t>A</a:t>
                      </a:r>
                      <a:endParaRPr lang="zh-TW" altLang="en-US" sz="2200" b="0" dirty="0">
                        <a:solidFill>
                          <a:srgbClr val="FF000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graphicFrame>
        <p:nvGraphicFramePr>
          <p:cNvPr id="4" name="表格 3">
            <a:extLst>
              <a:ext uri="{FF2B5EF4-FFF2-40B4-BE49-F238E27FC236}">
                <a16:creationId xmlns:a16="http://schemas.microsoft.com/office/drawing/2014/main" id="{7F3343E6-54AD-40F2-B6A3-993DB0DC8181}"/>
              </a:ext>
            </a:extLst>
          </p:cNvPr>
          <p:cNvGraphicFramePr>
            <a:graphicFrameLocks noGrp="1"/>
          </p:cNvGraphicFramePr>
          <p:nvPr/>
        </p:nvGraphicFramePr>
        <p:xfrm>
          <a:off x="2031998" y="503421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794783940"/>
                    </a:ext>
                  </a:extLst>
                </a:gridCol>
                <a:gridCol w="1016000">
                  <a:extLst>
                    <a:ext uri="{9D8B030D-6E8A-4147-A177-3AD203B41FA5}">
                      <a16:colId xmlns:a16="http://schemas.microsoft.com/office/drawing/2014/main" val="1002938461"/>
                    </a:ext>
                  </a:extLst>
                </a:gridCol>
                <a:gridCol w="1016000">
                  <a:extLst>
                    <a:ext uri="{9D8B030D-6E8A-4147-A177-3AD203B41FA5}">
                      <a16:colId xmlns:a16="http://schemas.microsoft.com/office/drawing/2014/main" val="3016750554"/>
                    </a:ext>
                  </a:extLst>
                </a:gridCol>
                <a:gridCol w="1016000">
                  <a:extLst>
                    <a:ext uri="{9D8B030D-6E8A-4147-A177-3AD203B41FA5}">
                      <a16:colId xmlns:a16="http://schemas.microsoft.com/office/drawing/2014/main" val="3725483691"/>
                    </a:ext>
                  </a:extLst>
                </a:gridCol>
                <a:gridCol w="1016000">
                  <a:extLst>
                    <a:ext uri="{9D8B030D-6E8A-4147-A177-3AD203B41FA5}">
                      <a16:colId xmlns:a16="http://schemas.microsoft.com/office/drawing/2014/main" val="1896270219"/>
                    </a:ext>
                  </a:extLst>
                </a:gridCol>
                <a:gridCol w="1016000">
                  <a:extLst>
                    <a:ext uri="{9D8B030D-6E8A-4147-A177-3AD203B41FA5}">
                      <a16:colId xmlns:a16="http://schemas.microsoft.com/office/drawing/2014/main" val="2993642517"/>
                    </a:ext>
                  </a:extLst>
                </a:gridCol>
                <a:gridCol w="1016000">
                  <a:extLst>
                    <a:ext uri="{9D8B030D-6E8A-4147-A177-3AD203B41FA5}">
                      <a16:colId xmlns:a16="http://schemas.microsoft.com/office/drawing/2014/main" val="2536588246"/>
                    </a:ext>
                  </a:extLst>
                </a:gridCol>
                <a:gridCol w="1016000">
                  <a:extLst>
                    <a:ext uri="{9D8B030D-6E8A-4147-A177-3AD203B41FA5}">
                      <a16:colId xmlns:a16="http://schemas.microsoft.com/office/drawing/2014/main" val="2735049989"/>
                    </a:ext>
                  </a:extLst>
                </a:gridCol>
              </a:tblGrid>
              <a:tr h="370840">
                <a:tc rowSpan="2">
                  <a:txBody>
                    <a:bodyPr/>
                    <a:lstStyle/>
                    <a:p>
                      <a:pPr algn="ctr"/>
                      <a:r>
                        <a:rPr lang="en-US" altLang="zh-TW" b="1" dirty="0">
                          <a:solidFill>
                            <a:schemeClr val="tx1"/>
                          </a:solidFill>
                        </a:rPr>
                        <a:t>F</a:t>
                      </a:r>
                      <a:endParaRPr lang="zh-TW" altLang="en-US"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697731"/>
                  </a:ext>
                </a:extLst>
              </a:tr>
              <a:tr h="370840">
                <a:tc vMerge="1">
                  <a:txBody>
                    <a:bodyPr/>
                    <a:lstStyle/>
                    <a:p>
                      <a:pPr algn="ct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357184"/>
                  </a:ext>
                </a:extLst>
              </a:tr>
            </a:tbl>
          </a:graphicData>
        </a:graphic>
      </p:graphicFrame>
    </p:spTree>
    <p:extLst>
      <p:ext uri="{BB962C8B-B14F-4D97-AF65-F5344CB8AC3E}">
        <p14:creationId xmlns:p14="http://schemas.microsoft.com/office/powerpoint/2010/main" val="182567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35F8BB-7F17-46A2-AEAC-6FA7318CB19D}"/>
              </a:ext>
            </a:extLst>
          </p:cNvPr>
          <p:cNvSpPr>
            <a:spLocks noGrp="1"/>
          </p:cNvSpPr>
          <p:nvPr>
            <p:ph type="title"/>
          </p:nvPr>
        </p:nvSpPr>
        <p:spPr/>
        <p:txBody>
          <a:bodyPr/>
          <a:lstStyle/>
          <a:p>
            <a:pPr algn="ctr"/>
            <a:r>
              <a:rPr lang="en-US" altLang="zh-TW" dirty="0"/>
              <a:t>KMP</a:t>
            </a:r>
            <a:endParaRPr lang="zh-TW" altLang="en-US" dirty="0"/>
          </a:p>
        </p:txBody>
      </p:sp>
      <p:graphicFrame>
        <p:nvGraphicFramePr>
          <p:cNvPr id="3" name="表格 2">
            <a:extLst>
              <a:ext uri="{FF2B5EF4-FFF2-40B4-BE49-F238E27FC236}">
                <a16:creationId xmlns:a16="http://schemas.microsoft.com/office/drawing/2014/main" id="{69237CC7-418E-4C79-BAE0-8F906C6C7F62}"/>
              </a:ext>
            </a:extLst>
          </p:cNvPr>
          <p:cNvGraphicFramePr>
            <a:graphicFrameLocks noGrp="1"/>
          </p:cNvGraphicFramePr>
          <p:nvPr>
            <p:extLst>
              <p:ext uri="{D42A27DB-BD31-4B8C-83A1-F6EECF244321}">
                <p14:modId xmlns:p14="http://schemas.microsoft.com/office/powerpoint/2010/main" val="2071238156"/>
              </p:ext>
            </p:extLst>
          </p:nvPr>
        </p:nvGraphicFramePr>
        <p:xfrm>
          <a:off x="1359827" y="2367548"/>
          <a:ext cx="9472352" cy="930842"/>
        </p:xfrm>
        <a:graphic>
          <a:graphicData uri="http://schemas.openxmlformats.org/drawingml/2006/table">
            <a:tbl>
              <a:tblPr firstRow="1" bandRow="1">
                <a:tableStyleId>{5C22544A-7EE6-4342-B048-85BDC9FD1C3A}</a:tableStyleId>
              </a:tblPr>
              <a:tblGrid>
                <a:gridCol w="592022">
                  <a:extLst>
                    <a:ext uri="{9D8B030D-6E8A-4147-A177-3AD203B41FA5}">
                      <a16:colId xmlns:a16="http://schemas.microsoft.com/office/drawing/2014/main" val="1108805321"/>
                    </a:ext>
                  </a:extLst>
                </a:gridCol>
                <a:gridCol w="592022">
                  <a:extLst>
                    <a:ext uri="{9D8B030D-6E8A-4147-A177-3AD203B41FA5}">
                      <a16:colId xmlns:a16="http://schemas.microsoft.com/office/drawing/2014/main" val="1311753570"/>
                    </a:ext>
                  </a:extLst>
                </a:gridCol>
                <a:gridCol w="592022">
                  <a:extLst>
                    <a:ext uri="{9D8B030D-6E8A-4147-A177-3AD203B41FA5}">
                      <a16:colId xmlns:a16="http://schemas.microsoft.com/office/drawing/2014/main" val="156382531"/>
                    </a:ext>
                  </a:extLst>
                </a:gridCol>
                <a:gridCol w="592022">
                  <a:extLst>
                    <a:ext uri="{9D8B030D-6E8A-4147-A177-3AD203B41FA5}">
                      <a16:colId xmlns:a16="http://schemas.microsoft.com/office/drawing/2014/main" val="2749597461"/>
                    </a:ext>
                  </a:extLst>
                </a:gridCol>
                <a:gridCol w="592022">
                  <a:extLst>
                    <a:ext uri="{9D8B030D-6E8A-4147-A177-3AD203B41FA5}">
                      <a16:colId xmlns:a16="http://schemas.microsoft.com/office/drawing/2014/main" val="3671948461"/>
                    </a:ext>
                  </a:extLst>
                </a:gridCol>
                <a:gridCol w="592022">
                  <a:extLst>
                    <a:ext uri="{9D8B030D-6E8A-4147-A177-3AD203B41FA5}">
                      <a16:colId xmlns:a16="http://schemas.microsoft.com/office/drawing/2014/main" val="3386689995"/>
                    </a:ext>
                  </a:extLst>
                </a:gridCol>
                <a:gridCol w="592022">
                  <a:extLst>
                    <a:ext uri="{9D8B030D-6E8A-4147-A177-3AD203B41FA5}">
                      <a16:colId xmlns:a16="http://schemas.microsoft.com/office/drawing/2014/main" val="3653755730"/>
                    </a:ext>
                  </a:extLst>
                </a:gridCol>
                <a:gridCol w="592022">
                  <a:extLst>
                    <a:ext uri="{9D8B030D-6E8A-4147-A177-3AD203B41FA5}">
                      <a16:colId xmlns:a16="http://schemas.microsoft.com/office/drawing/2014/main" val="1302289836"/>
                    </a:ext>
                  </a:extLst>
                </a:gridCol>
                <a:gridCol w="592022">
                  <a:extLst>
                    <a:ext uri="{9D8B030D-6E8A-4147-A177-3AD203B41FA5}">
                      <a16:colId xmlns:a16="http://schemas.microsoft.com/office/drawing/2014/main" val="60970489"/>
                    </a:ext>
                  </a:extLst>
                </a:gridCol>
                <a:gridCol w="592022">
                  <a:extLst>
                    <a:ext uri="{9D8B030D-6E8A-4147-A177-3AD203B41FA5}">
                      <a16:colId xmlns:a16="http://schemas.microsoft.com/office/drawing/2014/main" val="1976833414"/>
                    </a:ext>
                  </a:extLst>
                </a:gridCol>
                <a:gridCol w="592022">
                  <a:extLst>
                    <a:ext uri="{9D8B030D-6E8A-4147-A177-3AD203B41FA5}">
                      <a16:colId xmlns:a16="http://schemas.microsoft.com/office/drawing/2014/main" val="3949132972"/>
                    </a:ext>
                  </a:extLst>
                </a:gridCol>
                <a:gridCol w="592022">
                  <a:extLst>
                    <a:ext uri="{9D8B030D-6E8A-4147-A177-3AD203B41FA5}">
                      <a16:colId xmlns:a16="http://schemas.microsoft.com/office/drawing/2014/main" val="4294308546"/>
                    </a:ext>
                  </a:extLst>
                </a:gridCol>
                <a:gridCol w="592022">
                  <a:extLst>
                    <a:ext uri="{9D8B030D-6E8A-4147-A177-3AD203B41FA5}">
                      <a16:colId xmlns:a16="http://schemas.microsoft.com/office/drawing/2014/main" val="44650268"/>
                    </a:ext>
                  </a:extLst>
                </a:gridCol>
                <a:gridCol w="592022">
                  <a:extLst>
                    <a:ext uri="{9D8B030D-6E8A-4147-A177-3AD203B41FA5}">
                      <a16:colId xmlns:a16="http://schemas.microsoft.com/office/drawing/2014/main" val="1713739125"/>
                    </a:ext>
                  </a:extLst>
                </a:gridCol>
                <a:gridCol w="592022">
                  <a:extLst>
                    <a:ext uri="{9D8B030D-6E8A-4147-A177-3AD203B41FA5}">
                      <a16:colId xmlns:a16="http://schemas.microsoft.com/office/drawing/2014/main" val="624053841"/>
                    </a:ext>
                  </a:extLst>
                </a:gridCol>
                <a:gridCol w="592022">
                  <a:extLst>
                    <a:ext uri="{9D8B030D-6E8A-4147-A177-3AD203B41FA5}">
                      <a16:colId xmlns:a16="http://schemas.microsoft.com/office/drawing/2014/main" val="1180301717"/>
                    </a:ext>
                  </a:extLst>
                </a:gridCol>
              </a:tblGrid>
              <a:tr h="465421">
                <a:tc>
                  <a:txBody>
                    <a:bodyPr/>
                    <a:lstStyle/>
                    <a:p>
                      <a:pPr algn="ctr"/>
                      <a:r>
                        <a:rPr lang="en-US" altLang="zh-TW" sz="2200" b="1" dirty="0">
                          <a:solidFill>
                            <a:schemeClr val="tx1"/>
                          </a:solidFill>
                        </a:rPr>
                        <a:t>T</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C</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D</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A</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chemeClr val="tx1"/>
                          </a:solidFill>
                        </a:rPr>
                        <a:t>B</a:t>
                      </a: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465421">
                <a:tc>
                  <a:txBody>
                    <a:bodyPr/>
                    <a:lstStyle/>
                    <a:p>
                      <a:pPr algn="ctr"/>
                      <a:r>
                        <a:rPr lang="en-US" altLang="zh-TW" sz="2200" b="1" dirty="0">
                          <a:solidFill>
                            <a:schemeClr val="tx1"/>
                          </a:solidFill>
                        </a:rPr>
                        <a:t>P</a:t>
                      </a:r>
                      <a:endParaRPr lang="zh-TW" altLang="en-US" sz="2200" b="1" dirty="0">
                        <a:solidFill>
                          <a:schemeClr val="tx1"/>
                        </a:solidFill>
                      </a:endParaRPr>
                    </a:p>
                  </a:txBody>
                  <a:tcPr marL="114762" marR="114762" marT="57380" marB="5738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200" b="0" dirty="0">
                        <a:solidFill>
                          <a:schemeClr val="tx1"/>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D</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A</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B</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200" b="0" dirty="0">
                          <a:solidFill>
                            <a:srgbClr val="00B050"/>
                          </a:solidFill>
                        </a:rPr>
                        <a:t>C</a:t>
                      </a:r>
                      <a:endParaRPr lang="zh-TW" altLang="en-US" sz="2200" b="0" dirty="0">
                        <a:solidFill>
                          <a:srgbClr val="00B050"/>
                        </a:solidFill>
                      </a:endParaRPr>
                    </a:p>
                  </a:txBody>
                  <a:tcPr marL="114762" marR="114762" marT="57380" marB="573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graphicFrame>
        <p:nvGraphicFramePr>
          <p:cNvPr id="4" name="表格 3">
            <a:extLst>
              <a:ext uri="{FF2B5EF4-FFF2-40B4-BE49-F238E27FC236}">
                <a16:creationId xmlns:a16="http://schemas.microsoft.com/office/drawing/2014/main" id="{7F3343E6-54AD-40F2-B6A3-993DB0DC8181}"/>
              </a:ext>
            </a:extLst>
          </p:cNvPr>
          <p:cNvGraphicFramePr>
            <a:graphicFrameLocks noGrp="1"/>
          </p:cNvGraphicFramePr>
          <p:nvPr/>
        </p:nvGraphicFramePr>
        <p:xfrm>
          <a:off x="2031998" y="5034214"/>
          <a:ext cx="8128000" cy="74168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794783940"/>
                    </a:ext>
                  </a:extLst>
                </a:gridCol>
                <a:gridCol w="1016000">
                  <a:extLst>
                    <a:ext uri="{9D8B030D-6E8A-4147-A177-3AD203B41FA5}">
                      <a16:colId xmlns:a16="http://schemas.microsoft.com/office/drawing/2014/main" val="1002938461"/>
                    </a:ext>
                  </a:extLst>
                </a:gridCol>
                <a:gridCol w="1016000">
                  <a:extLst>
                    <a:ext uri="{9D8B030D-6E8A-4147-A177-3AD203B41FA5}">
                      <a16:colId xmlns:a16="http://schemas.microsoft.com/office/drawing/2014/main" val="3016750554"/>
                    </a:ext>
                  </a:extLst>
                </a:gridCol>
                <a:gridCol w="1016000">
                  <a:extLst>
                    <a:ext uri="{9D8B030D-6E8A-4147-A177-3AD203B41FA5}">
                      <a16:colId xmlns:a16="http://schemas.microsoft.com/office/drawing/2014/main" val="3725483691"/>
                    </a:ext>
                  </a:extLst>
                </a:gridCol>
                <a:gridCol w="1016000">
                  <a:extLst>
                    <a:ext uri="{9D8B030D-6E8A-4147-A177-3AD203B41FA5}">
                      <a16:colId xmlns:a16="http://schemas.microsoft.com/office/drawing/2014/main" val="1896270219"/>
                    </a:ext>
                  </a:extLst>
                </a:gridCol>
                <a:gridCol w="1016000">
                  <a:extLst>
                    <a:ext uri="{9D8B030D-6E8A-4147-A177-3AD203B41FA5}">
                      <a16:colId xmlns:a16="http://schemas.microsoft.com/office/drawing/2014/main" val="2993642517"/>
                    </a:ext>
                  </a:extLst>
                </a:gridCol>
                <a:gridCol w="1016000">
                  <a:extLst>
                    <a:ext uri="{9D8B030D-6E8A-4147-A177-3AD203B41FA5}">
                      <a16:colId xmlns:a16="http://schemas.microsoft.com/office/drawing/2014/main" val="2536588246"/>
                    </a:ext>
                  </a:extLst>
                </a:gridCol>
                <a:gridCol w="1016000">
                  <a:extLst>
                    <a:ext uri="{9D8B030D-6E8A-4147-A177-3AD203B41FA5}">
                      <a16:colId xmlns:a16="http://schemas.microsoft.com/office/drawing/2014/main" val="2735049989"/>
                    </a:ext>
                  </a:extLst>
                </a:gridCol>
              </a:tblGrid>
              <a:tr h="370840">
                <a:tc rowSpan="2">
                  <a:txBody>
                    <a:bodyPr/>
                    <a:lstStyle/>
                    <a:p>
                      <a:pPr algn="ctr"/>
                      <a:r>
                        <a:rPr lang="en-US" altLang="zh-TW" b="1" dirty="0">
                          <a:solidFill>
                            <a:schemeClr val="tx1"/>
                          </a:solidFill>
                        </a:rPr>
                        <a:t>F</a:t>
                      </a:r>
                      <a:endParaRPr lang="zh-TW" altLang="en-US" b="1" dirty="0">
                        <a:solidFill>
                          <a:schemeClr val="tx1"/>
                        </a:solidFill>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D</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A</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B</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C</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07697731"/>
                  </a:ext>
                </a:extLst>
              </a:tr>
              <a:tr h="370840">
                <a:tc vMerge="1">
                  <a:txBody>
                    <a:bodyPr/>
                    <a:lstStyle/>
                    <a:p>
                      <a:pPr algn="ctr"/>
                      <a:endParaRPr lang="zh-TW" altLang="en-US" b="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0</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1</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2</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b="0" dirty="0">
                          <a:solidFill>
                            <a:schemeClr val="tx1"/>
                          </a:solidFill>
                        </a:rPr>
                        <a:t>3</a:t>
                      </a:r>
                      <a:endParaRPr lang="zh-TW"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6357184"/>
                  </a:ext>
                </a:extLst>
              </a:tr>
            </a:tbl>
          </a:graphicData>
        </a:graphic>
      </p:graphicFrame>
    </p:spTree>
    <p:extLst>
      <p:ext uri="{BB962C8B-B14F-4D97-AF65-F5344CB8AC3E}">
        <p14:creationId xmlns:p14="http://schemas.microsoft.com/office/powerpoint/2010/main" val="1146972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extLst>
              <p:ext uri="{D42A27DB-BD31-4B8C-83A1-F6EECF244321}">
                <p14:modId xmlns:p14="http://schemas.microsoft.com/office/powerpoint/2010/main" val="3651922295"/>
              </p:ext>
            </p:extLst>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S</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E</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
        <p:nvSpPr>
          <p:cNvPr id="4" name="文字方塊 3">
            <a:extLst>
              <a:ext uri="{FF2B5EF4-FFF2-40B4-BE49-F238E27FC236}">
                <a16:creationId xmlns:a16="http://schemas.microsoft.com/office/drawing/2014/main" id="{891C811D-F0AE-4D68-B8BA-4AB72810CF50}"/>
              </a:ext>
            </a:extLst>
          </p:cNvPr>
          <p:cNvSpPr txBox="1"/>
          <p:nvPr/>
        </p:nvSpPr>
        <p:spPr>
          <a:xfrm>
            <a:off x="2618913" y="3786264"/>
            <a:ext cx="2723823" cy="646331"/>
          </a:xfrm>
          <a:prstGeom prst="rect">
            <a:avLst/>
          </a:prstGeom>
          <a:noFill/>
        </p:spPr>
        <p:txBody>
          <a:bodyPr wrap="none" rtlCol="0">
            <a:spAutoFit/>
          </a:bodyPr>
          <a:lstStyle/>
          <a:p>
            <a:r>
              <a:rPr lang="en-US" altLang="zh-TW" dirty="0">
                <a:latin typeface="標楷體" panose="03000509000000000000" pitchFamily="65" charset="-120"/>
                <a:ea typeface="標楷體" panose="03000509000000000000" pitchFamily="65" charset="-120"/>
              </a:rPr>
              <a:t>Bad character!</a:t>
            </a:r>
          </a:p>
          <a:p>
            <a:r>
              <a:rPr lang="en-US" altLang="zh-TW" dirty="0">
                <a:latin typeface="標楷體" panose="03000509000000000000" pitchFamily="65" charset="-120"/>
                <a:ea typeface="標楷體" panose="03000509000000000000" pitchFamily="65" charset="-120"/>
              </a:rPr>
              <a:t>S</a:t>
            </a:r>
            <a:r>
              <a:rPr lang="zh-TW" altLang="en-US" dirty="0">
                <a:latin typeface="標楷體" panose="03000509000000000000" pitchFamily="65" charset="-120"/>
                <a:ea typeface="標楷體" panose="03000509000000000000" pitchFamily="65" charset="-120"/>
              </a:rPr>
              <a:t>沒有出現在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裡面</a:t>
            </a:r>
          </a:p>
        </p:txBody>
      </p:sp>
      <p:sp>
        <p:nvSpPr>
          <p:cNvPr id="5" name="文字方塊 4">
            <a:extLst>
              <a:ext uri="{FF2B5EF4-FFF2-40B4-BE49-F238E27FC236}">
                <a16:creationId xmlns:a16="http://schemas.microsoft.com/office/drawing/2014/main" id="{998FF167-6EAE-43AC-BC8D-6E6DE25AAE78}"/>
              </a:ext>
            </a:extLst>
          </p:cNvPr>
          <p:cNvSpPr txBox="1"/>
          <p:nvPr/>
        </p:nvSpPr>
        <p:spPr>
          <a:xfrm>
            <a:off x="2618913" y="4707814"/>
            <a:ext cx="8148384" cy="923330"/>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位移數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裡的位置</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裡上一次出現的位置</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6</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(-1)</a:t>
            </a: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7</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116676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extLst>
              <p:ext uri="{D42A27DB-BD31-4B8C-83A1-F6EECF244321}">
                <p14:modId xmlns:p14="http://schemas.microsoft.com/office/powerpoint/2010/main" val="3704063388"/>
              </p:ext>
            </p:extLst>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P</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E</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
        <p:nvSpPr>
          <p:cNvPr id="4" name="文字方塊 3">
            <a:extLst>
              <a:ext uri="{FF2B5EF4-FFF2-40B4-BE49-F238E27FC236}">
                <a16:creationId xmlns:a16="http://schemas.microsoft.com/office/drawing/2014/main" id="{891C811D-F0AE-4D68-B8BA-4AB72810CF50}"/>
              </a:ext>
            </a:extLst>
          </p:cNvPr>
          <p:cNvSpPr txBox="1"/>
          <p:nvPr/>
        </p:nvSpPr>
        <p:spPr>
          <a:xfrm>
            <a:off x="6095999" y="3786264"/>
            <a:ext cx="2492990" cy="646331"/>
          </a:xfrm>
          <a:prstGeom prst="rect">
            <a:avLst/>
          </a:prstGeom>
          <a:noFill/>
        </p:spPr>
        <p:txBody>
          <a:bodyPr wrap="none" rtlCol="0">
            <a:spAutoFit/>
          </a:bodyPr>
          <a:lstStyle/>
          <a:p>
            <a:r>
              <a:rPr lang="en-US" altLang="zh-TW" dirty="0">
                <a:latin typeface="標楷體" panose="03000509000000000000" pitchFamily="65" charset="-120"/>
                <a:ea typeface="標楷體" panose="03000509000000000000" pitchFamily="65" charset="-120"/>
              </a:rPr>
              <a:t>Bad character!</a:t>
            </a:r>
          </a:p>
          <a:p>
            <a:r>
              <a:rPr lang="en-US" altLang="zh-TW" dirty="0">
                <a:latin typeface="標楷體" panose="03000509000000000000" pitchFamily="65" charset="-120"/>
                <a:ea typeface="標楷體" panose="03000509000000000000" pitchFamily="65" charset="-120"/>
              </a:rPr>
              <a:t>P</a:t>
            </a:r>
            <a:r>
              <a:rPr lang="zh-TW" altLang="en-US" dirty="0">
                <a:latin typeface="標楷體" panose="03000509000000000000" pitchFamily="65" charset="-120"/>
                <a:ea typeface="標楷體" panose="03000509000000000000" pitchFamily="65" charset="-120"/>
              </a:rPr>
              <a:t>有出現在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裡面</a:t>
            </a:r>
          </a:p>
        </p:txBody>
      </p:sp>
      <p:sp>
        <p:nvSpPr>
          <p:cNvPr id="5" name="文字方塊 4">
            <a:extLst>
              <a:ext uri="{FF2B5EF4-FFF2-40B4-BE49-F238E27FC236}">
                <a16:creationId xmlns:a16="http://schemas.microsoft.com/office/drawing/2014/main" id="{DD69A0B5-6BE8-46FC-9D99-60D4B54BC26B}"/>
              </a:ext>
            </a:extLst>
          </p:cNvPr>
          <p:cNvSpPr txBox="1"/>
          <p:nvPr/>
        </p:nvSpPr>
        <p:spPr>
          <a:xfrm>
            <a:off x="2618913" y="4707814"/>
            <a:ext cx="8148384" cy="923330"/>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位移數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裡的位置</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裡上一次出現的位置</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6</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4</a:t>
            </a: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2</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681245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extLst>
              <p:ext uri="{D42A27DB-BD31-4B8C-83A1-F6EECF244321}">
                <p14:modId xmlns:p14="http://schemas.microsoft.com/office/powerpoint/2010/main" val="2316505016"/>
              </p:ext>
            </p:extLst>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E</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E</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Tree>
    <p:extLst>
      <p:ext uri="{BB962C8B-B14F-4D97-AF65-F5344CB8AC3E}">
        <p14:creationId xmlns:p14="http://schemas.microsoft.com/office/powerpoint/2010/main" val="855143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extLst>
              <p:ext uri="{D42A27DB-BD31-4B8C-83A1-F6EECF244321}">
                <p14:modId xmlns:p14="http://schemas.microsoft.com/office/powerpoint/2010/main" val="4126740457"/>
              </p:ext>
            </p:extLst>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I</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M</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P</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L</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A</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M</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P</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L</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
        <p:nvSpPr>
          <p:cNvPr id="5" name="文字方塊 4">
            <a:extLst>
              <a:ext uri="{FF2B5EF4-FFF2-40B4-BE49-F238E27FC236}">
                <a16:creationId xmlns:a16="http://schemas.microsoft.com/office/drawing/2014/main" id="{24B07D2D-B856-40AB-A28F-2A68054A2F78}"/>
              </a:ext>
            </a:extLst>
          </p:cNvPr>
          <p:cNvSpPr txBox="1"/>
          <p:nvPr/>
        </p:nvSpPr>
        <p:spPr>
          <a:xfrm>
            <a:off x="5208232" y="3588799"/>
            <a:ext cx="2723823" cy="646331"/>
          </a:xfrm>
          <a:prstGeom prst="rect">
            <a:avLst/>
          </a:prstGeom>
          <a:noFill/>
        </p:spPr>
        <p:txBody>
          <a:bodyPr wrap="none" rtlCol="0">
            <a:spAutoFit/>
          </a:bodyPr>
          <a:lstStyle/>
          <a:p>
            <a:r>
              <a:rPr lang="en-US" altLang="zh-TW" dirty="0">
                <a:latin typeface="標楷體" panose="03000509000000000000" pitchFamily="65" charset="-120"/>
                <a:ea typeface="標楷體" panose="03000509000000000000" pitchFamily="65" charset="-120"/>
              </a:rPr>
              <a:t>Bad character!</a:t>
            </a:r>
          </a:p>
          <a:p>
            <a:r>
              <a:rPr lang="en-US" altLang="zh-TW" dirty="0">
                <a:latin typeface="標楷體" panose="03000509000000000000" pitchFamily="65" charset="-120"/>
                <a:ea typeface="標楷體" panose="03000509000000000000" pitchFamily="65" charset="-120"/>
              </a:rPr>
              <a:t>I</a:t>
            </a:r>
            <a:r>
              <a:rPr lang="zh-TW" altLang="en-US" dirty="0">
                <a:latin typeface="標楷體" panose="03000509000000000000" pitchFamily="65" charset="-120"/>
                <a:ea typeface="標楷體" panose="03000509000000000000" pitchFamily="65" charset="-120"/>
              </a:rPr>
              <a:t>沒有出現在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裡面</a:t>
            </a:r>
          </a:p>
        </p:txBody>
      </p:sp>
      <p:sp>
        <p:nvSpPr>
          <p:cNvPr id="6" name="文字方塊 5">
            <a:extLst>
              <a:ext uri="{FF2B5EF4-FFF2-40B4-BE49-F238E27FC236}">
                <a16:creationId xmlns:a16="http://schemas.microsoft.com/office/drawing/2014/main" id="{AE029E96-26CF-4E2B-AE77-AD2943A57684}"/>
              </a:ext>
            </a:extLst>
          </p:cNvPr>
          <p:cNvSpPr txBox="1"/>
          <p:nvPr/>
        </p:nvSpPr>
        <p:spPr>
          <a:xfrm>
            <a:off x="2618913" y="4707814"/>
            <a:ext cx="8148384" cy="923330"/>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位移數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裡的位置</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裡上一次出現的位置</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2</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(-1)</a:t>
            </a: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3</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098425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extLst>
              <p:ext uri="{D42A27DB-BD31-4B8C-83A1-F6EECF244321}">
                <p14:modId xmlns:p14="http://schemas.microsoft.com/office/powerpoint/2010/main" val="1650919565"/>
              </p:ext>
            </p:extLst>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Tree>
    <p:extLst>
      <p:ext uri="{BB962C8B-B14F-4D97-AF65-F5344CB8AC3E}">
        <p14:creationId xmlns:p14="http://schemas.microsoft.com/office/powerpoint/2010/main" val="3107732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extLst>
              <p:ext uri="{D42A27DB-BD31-4B8C-83A1-F6EECF244321}">
                <p14:modId xmlns:p14="http://schemas.microsoft.com/office/powerpoint/2010/main" val="3482194882"/>
              </p:ext>
            </p:extLst>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I</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M</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P</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L</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a:solidFill>
                            <a:srgbClr val="FF0000"/>
                          </a:solidFill>
                        </a:rPr>
                        <a:t>A</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a:solidFill>
                            <a:srgbClr val="00B050"/>
                          </a:solidFill>
                        </a:rPr>
                        <a:t>M</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a:solidFill>
                            <a:srgbClr val="00B050"/>
                          </a:solidFill>
                        </a:rPr>
                        <a:t>P</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a:solidFill>
                            <a:srgbClr val="00B050"/>
                          </a:solidFill>
                        </a:rPr>
                        <a:t>L</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
        <p:nvSpPr>
          <p:cNvPr id="5" name="文字方塊 4">
            <a:extLst>
              <a:ext uri="{FF2B5EF4-FFF2-40B4-BE49-F238E27FC236}">
                <a16:creationId xmlns:a16="http://schemas.microsoft.com/office/drawing/2014/main" id="{24B07D2D-B856-40AB-A28F-2A68054A2F78}"/>
              </a:ext>
            </a:extLst>
          </p:cNvPr>
          <p:cNvSpPr txBox="1"/>
          <p:nvPr/>
        </p:nvSpPr>
        <p:spPr>
          <a:xfrm>
            <a:off x="6326819" y="3601598"/>
            <a:ext cx="1569660" cy="369332"/>
          </a:xfrm>
          <a:prstGeom prst="rect">
            <a:avLst/>
          </a:prstGeom>
          <a:noFill/>
        </p:spPr>
        <p:txBody>
          <a:bodyPr wrap="none" rtlCol="0">
            <a:spAutoFit/>
          </a:bodyPr>
          <a:lstStyle/>
          <a:p>
            <a:r>
              <a:rPr lang="en-US" altLang="zh-TW" dirty="0">
                <a:latin typeface="標楷體" panose="03000509000000000000" pitchFamily="65" charset="-120"/>
                <a:ea typeface="標楷體" panose="03000509000000000000" pitchFamily="65" charset="-120"/>
              </a:rPr>
              <a:t>Good suffix!</a:t>
            </a:r>
          </a:p>
        </p:txBody>
      </p:sp>
      <p:sp>
        <p:nvSpPr>
          <p:cNvPr id="7" name="文字方塊 6">
            <a:extLst>
              <a:ext uri="{FF2B5EF4-FFF2-40B4-BE49-F238E27FC236}">
                <a16:creationId xmlns:a16="http://schemas.microsoft.com/office/drawing/2014/main" id="{6E2814D7-047B-4812-B7E5-5058C33A2B72}"/>
              </a:ext>
            </a:extLst>
          </p:cNvPr>
          <p:cNvSpPr txBox="1"/>
          <p:nvPr/>
        </p:nvSpPr>
        <p:spPr>
          <a:xfrm>
            <a:off x="2618913" y="4707814"/>
            <a:ext cx="7917552" cy="923330"/>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位移數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好後綴在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裡的位置</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好後綴在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裡上一次出現的位置</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6</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0</a:t>
            </a: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6</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277217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P</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X</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FF0000"/>
                          </a:solidFill>
                        </a:rPr>
                        <a:t>E</a:t>
                      </a:r>
                      <a:endParaRPr lang="zh-TW" altLang="en-US" sz="2500" b="0" dirty="0">
                        <a:solidFill>
                          <a:srgbClr val="FF000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
        <p:nvSpPr>
          <p:cNvPr id="6" name="文字方塊 5">
            <a:extLst>
              <a:ext uri="{FF2B5EF4-FFF2-40B4-BE49-F238E27FC236}">
                <a16:creationId xmlns:a16="http://schemas.microsoft.com/office/drawing/2014/main" id="{248A1C88-3DEE-4803-8681-43FBFB790969}"/>
              </a:ext>
            </a:extLst>
          </p:cNvPr>
          <p:cNvSpPr txBox="1"/>
          <p:nvPr/>
        </p:nvSpPr>
        <p:spPr>
          <a:xfrm>
            <a:off x="8629977" y="3463098"/>
            <a:ext cx="2492990" cy="646331"/>
          </a:xfrm>
          <a:prstGeom prst="rect">
            <a:avLst/>
          </a:prstGeom>
          <a:noFill/>
        </p:spPr>
        <p:txBody>
          <a:bodyPr wrap="none" rtlCol="0">
            <a:spAutoFit/>
          </a:bodyPr>
          <a:lstStyle/>
          <a:p>
            <a:r>
              <a:rPr lang="en-US" altLang="zh-TW" dirty="0">
                <a:latin typeface="標楷體" panose="03000509000000000000" pitchFamily="65" charset="-120"/>
                <a:ea typeface="標楷體" panose="03000509000000000000" pitchFamily="65" charset="-120"/>
              </a:rPr>
              <a:t>Bad character!</a:t>
            </a:r>
          </a:p>
          <a:p>
            <a:r>
              <a:rPr lang="en-US" altLang="zh-TW" dirty="0">
                <a:latin typeface="標楷體" panose="03000509000000000000" pitchFamily="65" charset="-120"/>
                <a:ea typeface="標楷體" panose="03000509000000000000" pitchFamily="65" charset="-120"/>
              </a:rPr>
              <a:t>P</a:t>
            </a:r>
            <a:r>
              <a:rPr lang="zh-TW" altLang="en-US" dirty="0">
                <a:latin typeface="標楷體" panose="03000509000000000000" pitchFamily="65" charset="-120"/>
                <a:ea typeface="標楷體" panose="03000509000000000000" pitchFamily="65" charset="-120"/>
              </a:rPr>
              <a:t>有出現在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裡面</a:t>
            </a:r>
          </a:p>
        </p:txBody>
      </p:sp>
      <p:sp>
        <p:nvSpPr>
          <p:cNvPr id="7" name="文字方塊 6">
            <a:extLst>
              <a:ext uri="{FF2B5EF4-FFF2-40B4-BE49-F238E27FC236}">
                <a16:creationId xmlns:a16="http://schemas.microsoft.com/office/drawing/2014/main" id="{8BD79375-E16A-4E80-84CA-C8B43279F23C}"/>
              </a:ext>
            </a:extLst>
          </p:cNvPr>
          <p:cNvSpPr txBox="1"/>
          <p:nvPr/>
        </p:nvSpPr>
        <p:spPr>
          <a:xfrm>
            <a:off x="2618913" y="4707814"/>
            <a:ext cx="8148384" cy="923330"/>
          </a:xfrm>
          <a:prstGeom prst="rect">
            <a:avLst/>
          </a:prstGeom>
          <a:noFill/>
        </p:spPr>
        <p:txBody>
          <a:bodyPr wrap="none" rtlCol="0">
            <a:spAutoFit/>
          </a:bodyPr>
          <a:lstStyle/>
          <a:p>
            <a:r>
              <a:rPr lang="zh-TW" altLang="en-US" dirty="0">
                <a:latin typeface="標楷體" panose="03000509000000000000" pitchFamily="65" charset="-120"/>
                <a:ea typeface="標楷體" panose="03000509000000000000" pitchFamily="65" charset="-120"/>
              </a:rPr>
              <a:t>位移數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裡的位置</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壞字符在</a:t>
            </a:r>
            <a:r>
              <a:rPr lang="en-US" altLang="zh-TW" dirty="0">
                <a:latin typeface="標楷體" panose="03000509000000000000" pitchFamily="65" charset="-120"/>
                <a:ea typeface="標楷體" panose="03000509000000000000" pitchFamily="65" charset="-120"/>
              </a:rPr>
              <a:t>pattern</a:t>
            </a:r>
            <a:r>
              <a:rPr lang="zh-TW" altLang="en-US" dirty="0">
                <a:latin typeface="標楷體" panose="03000509000000000000" pitchFamily="65" charset="-120"/>
                <a:ea typeface="標楷體" panose="03000509000000000000" pitchFamily="65" charset="-120"/>
              </a:rPr>
              <a:t>裡上一次出現的位置</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6</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4</a:t>
            </a:r>
          </a:p>
          <a:p>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 </a:t>
            </a:r>
            <a:r>
              <a:rPr lang="en-US" altLang="zh-TW" dirty="0">
                <a:latin typeface="標楷體" panose="03000509000000000000" pitchFamily="65" charset="-120"/>
                <a:ea typeface="標楷體" panose="03000509000000000000" pitchFamily="65" charset="-120"/>
              </a:rPr>
              <a:t>2</a:t>
            </a: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532096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74E1EF-5D22-4C7A-9270-35F46D846202}"/>
              </a:ext>
            </a:extLst>
          </p:cNvPr>
          <p:cNvSpPr>
            <a:spLocks noGrp="1"/>
          </p:cNvSpPr>
          <p:nvPr>
            <p:ph type="title"/>
          </p:nvPr>
        </p:nvSpPr>
        <p:spPr/>
        <p:txBody>
          <a:bodyPr/>
          <a:lstStyle/>
          <a:p>
            <a:pPr algn="ctr"/>
            <a:r>
              <a:rPr lang="en-US" altLang="zh-TW" dirty="0"/>
              <a:t>Boyer Moore</a:t>
            </a:r>
            <a:endParaRPr lang="zh-TW" altLang="en-US" dirty="0"/>
          </a:p>
        </p:txBody>
      </p:sp>
      <p:graphicFrame>
        <p:nvGraphicFramePr>
          <p:cNvPr id="3" name="表格 2">
            <a:extLst>
              <a:ext uri="{FF2B5EF4-FFF2-40B4-BE49-F238E27FC236}">
                <a16:creationId xmlns:a16="http://schemas.microsoft.com/office/drawing/2014/main" id="{CFE0E94B-3282-4BD6-8137-92C1BF60AA62}"/>
              </a:ext>
            </a:extLst>
          </p:cNvPr>
          <p:cNvGraphicFramePr>
            <a:graphicFrameLocks noGrp="1"/>
          </p:cNvGraphicFramePr>
          <p:nvPr>
            <p:extLst>
              <p:ext uri="{D42A27DB-BD31-4B8C-83A1-F6EECF244321}">
                <p14:modId xmlns:p14="http://schemas.microsoft.com/office/powerpoint/2010/main" val="3927806112"/>
              </p:ext>
            </p:extLst>
          </p:nvPr>
        </p:nvGraphicFramePr>
        <p:xfrm>
          <a:off x="695262" y="2207750"/>
          <a:ext cx="10801475" cy="1061452"/>
        </p:xfrm>
        <a:graphic>
          <a:graphicData uri="http://schemas.openxmlformats.org/drawingml/2006/table">
            <a:tbl>
              <a:tblPr firstRow="1" bandRow="1">
                <a:tableStyleId>{5C22544A-7EE6-4342-B048-85BDC9FD1C3A}</a:tableStyleId>
              </a:tblPr>
              <a:tblGrid>
                <a:gridCol w="432059">
                  <a:extLst>
                    <a:ext uri="{9D8B030D-6E8A-4147-A177-3AD203B41FA5}">
                      <a16:colId xmlns:a16="http://schemas.microsoft.com/office/drawing/2014/main" val="1108805321"/>
                    </a:ext>
                  </a:extLst>
                </a:gridCol>
                <a:gridCol w="432059">
                  <a:extLst>
                    <a:ext uri="{9D8B030D-6E8A-4147-A177-3AD203B41FA5}">
                      <a16:colId xmlns:a16="http://schemas.microsoft.com/office/drawing/2014/main" val="1311753570"/>
                    </a:ext>
                  </a:extLst>
                </a:gridCol>
                <a:gridCol w="432059">
                  <a:extLst>
                    <a:ext uri="{9D8B030D-6E8A-4147-A177-3AD203B41FA5}">
                      <a16:colId xmlns:a16="http://schemas.microsoft.com/office/drawing/2014/main" val="156382531"/>
                    </a:ext>
                  </a:extLst>
                </a:gridCol>
                <a:gridCol w="432059">
                  <a:extLst>
                    <a:ext uri="{9D8B030D-6E8A-4147-A177-3AD203B41FA5}">
                      <a16:colId xmlns:a16="http://schemas.microsoft.com/office/drawing/2014/main" val="2749597461"/>
                    </a:ext>
                  </a:extLst>
                </a:gridCol>
                <a:gridCol w="432059">
                  <a:extLst>
                    <a:ext uri="{9D8B030D-6E8A-4147-A177-3AD203B41FA5}">
                      <a16:colId xmlns:a16="http://schemas.microsoft.com/office/drawing/2014/main" val="3671948461"/>
                    </a:ext>
                  </a:extLst>
                </a:gridCol>
                <a:gridCol w="432059">
                  <a:extLst>
                    <a:ext uri="{9D8B030D-6E8A-4147-A177-3AD203B41FA5}">
                      <a16:colId xmlns:a16="http://schemas.microsoft.com/office/drawing/2014/main" val="3386689995"/>
                    </a:ext>
                  </a:extLst>
                </a:gridCol>
                <a:gridCol w="432059">
                  <a:extLst>
                    <a:ext uri="{9D8B030D-6E8A-4147-A177-3AD203B41FA5}">
                      <a16:colId xmlns:a16="http://schemas.microsoft.com/office/drawing/2014/main" val="3653755730"/>
                    </a:ext>
                  </a:extLst>
                </a:gridCol>
                <a:gridCol w="432059">
                  <a:extLst>
                    <a:ext uri="{9D8B030D-6E8A-4147-A177-3AD203B41FA5}">
                      <a16:colId xmlns:a16="http://schemas.microsoft.com/office/drawing/2014/main" val="1302289836"/>
                    </a:ext>
                  </a:extLst>
                </a:gridCol>
                <a:gridCol w="432059">
                  <a:extLst>
                    <a:ext uri="{9D8B030D-6E8A-4147-A177-3AD203B41FA5}">
                      <a16:colId xmlns:a16="http://schemas.microsoft.com/office/drawing/2014/main" val="60970489"/>
                    </a:ext>
                  </a:extLst>
                </a:gridCol>
                <a:gridCol w="432059">
                  <a:extLst>
                    <a:ext uri="{9D8B030D-6E8A-4147-A177-3AD203B41FA5}">
                      <a16:colId xmlns:a16="http://schemas.microsoft.com/office/drawing/2014/main" val="1976833414"/>
                    </a:ext>
                  </a:extLst>
                </a:gridCol>
                <a:gridCol w="432059">
                  <a:extLst>
                    <a:ext uri="{9D8B030D-6E8A-4147-A177-3AD203B41FA5}">
                      <a16:colId xmlns:a16="http://schemas.microsoft.com/office/drawing/2014/main" val="3949132972"/>
                    </a:ext>
                  </a:extLst>
                </a:gridCol>
                <a:gridCol w="432059">
                  <a:extLst>
                    <a:ext uri="{9D8B030D-6E8A-4147-A177-3AD203B41FA5}">
                      <a16:colId xmlns:a16="http://schemas.microsoft.com/office/drawing/2014/main" val="4294308546"/>
                    </a:ext>
                  </a:extLst>
                </a:gridCol>
                <a:gridCol w="432059">
                  <a:extLst>
                    <a:ext uri="{9D8B030D-6E8A-4147-A177-3AD203B41FA5}">
                      <a16:colId xmlns:a16="http://schemas.microsoft.com/office/drawing/2014/main" val="44650268"/>
                    </a:ext>
                  </a:extLst>
                </a:gridCol>
                <a:gridCol w="432059">
                  <a:extLst>
                    <a:ext uri="{9D8B030D-6E8A-4147-A177-3AD203B41FA5}">
                      <a16:colId xmlns:a16="http://schemas.microsoft.com/office/drawing/2014/main" val="1713739125"/>
                    </a:ext>
                  </a:extLst>
                </a:gridCol>
                <a:gridCol w="432059">
                  <a:extLst>
                    <a:ext uri="{9D8B030D-6E8A-4147-A177-3AD203B41FA5}">
                      <a16:colId xmlns:a16="http://schemas.microsoft.com/office/drawing/2014/main" val="624053841"/>
                    </a:ext>
                  </a:extLst>
                </a:gridCol>
                <a:gridCol w="432059">
                  <a:extLst>
                    <a:ext uri="{9D8B030D-6E8A-4147-A177-3AD203B41FA5}">
                      <a16:colId xmlns:a16="http://schemas.microsoft.com/office/drawing/2014/main" val="1180301717"/>
                    </a:ext>
                  </a:extLst>
                </a:gridCol>
                <a:gridCol w="432059">
                  <a:extLst>
                    <a:ext uri="{9D8B030D-6E8A-4147-A177-3AD203B41FA5}">
                      <a16:colId xmlns:a16="http://schemas.microsoft.com/office/drawing/2014/main" val="3909780518"/>
                    </a:ext>
                  </a:extLst>
                </a:gridCol>
                <a:gridCol w="432059">
                  <a:extLst>
                    <a:ext uri="{9D8B030D-6E8A-4147-A177-3AD203B41FA5}">
                      <a16:colId xmlns:a16="http://schemas.microsoft.com/office/drawing/2014/main" val="1576485269"/>
                    </a:ext>
                  </a:extLst>
                </a:gridCol>
                <a:gridCol w="432059">
                  <a:extLst>
                    <a:ext uri="{9D8B030D-6E8A-4147-A177-3AD203B41FA5}">
                      <a16:colId xmlns:a16="http://schemas.microsoft.com/office/drawing/2014/main" val="3464714698"/>
                    </a:ext>
                  </a:extLst>
                </a:gridCol>
                <a:gridCol w="432059">
                  <a:extLst>
                    <a:ext uri="{9D8B030D-6E8A-4147-A177-3AD203B41FA5}">
                      <a16:colId xmlns:a16="http://schemas.microsoft.com/office/drawing/2014/main" val="1564208340"/>
                    </a:ext>
                  </a:extLst>
                </a:gridCol>
                <a:gridCol w="432059">
                  <a:extLst>
                    <a:ext uri="{9D8B030D-6E8A-4147-A177-3AD203B41FA5}">
                      <a16:colId xmlns:a16="http://schemas.microsoft.com/office/drawing/2014/main" val="2988319380"/>
                    </a:ext>
                  </a:extLst>
                </a:gridCol>
                <a:gridCol w="432059">
                  <a:extLst>
                    <a:ext uri="{9D8B030D-6E8A-4147-A177-3AD203B41FA5}">
                      <a16:colId xmlns:a16="http://schemas.microsoft.com/office/drawing/2014/main" val="418815325"/>
                    </a:ext>
                  </a:extLst>
                </a:gridCol>
                <a:gridCol w="432059">
                  <a:extLst>
                    <a:ext uri="{9D8B030D-6E8A-4147-A177-3AD203B41FA5}">
                      <a16:colId xmlns:a16="http://schemas.microsoft.com/office/drawing/2014/main" val="1164640275"/>
                    </a:ext>
                  </a:extLst>
                </a:gridCol>
                <a:gridCol w="432059">
                  <a:extLst>
                    <a:ext uri="{9D8B030D-6E8A-4147-A177-3AD203B41FA5}">
                      <a16:colId xmlns:a16="http://schemas.microsoft.com/office/drawing/2014/main" val="1883276711"/>
                    </a:ext>
                  </a:extLst>
                </a:gridCol>
                <a:gridCol w="432059">
                  <a:extLst>
                    <a:ext uri="{9D8B030D-6E8A-4147-A177-3AD203B41FA5}">
                      <a16:colId xmlns:a16="http://schemas.microsoft.com/office/drawing/2014/main" val="3588363762"/>
                    </a:ext>
                  </a:extLst>
                </a:gridCol>
              </a:tblGrid>
              <a:tr h="530726">
                <a:tc>
                  <a:txBody>
                    <a:bodyPr/>
                    <a:lstStyle/>
                    <a:p>
                      <a:pPr algn="ctr"/>
                      <a:r>
                        <a:rPr lang="en-US" altLang="zh-TW" sz="2500" b="1" dirty="0">
                          <a:solidFill>
                            <a:schemeClr val="tx1"/>
                          </a:solidFill>
                        </a:rPr>
                        <a:t>T</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altLang="zh-TW" sz="2500" b="0" dirty="0">
                          <a:solidFill>
                            <a:schemeClr val="tx1"/>
                          </a:solidFill>
                        </a:rPr>
                        <a:t>H</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R</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A</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S</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I</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M</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P</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L</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chemeClr val="tx1"/>
                          </a:solidFill>
                        </a:rPr>
                        <a:t>E</a:t>
                      </a: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X</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A</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M</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P</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L</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6427915"/>
                  </a:ext>
                </a:extLst>
              </a:tr>
              <a:tr h="530726">
                <a:tc>
                  <a:txBody>
                    <a:bodyPr/>
                    <a:lstStyle/>
                    <a:p>
                      <a:pPr algn="ctr"/>
                      <a:r>
                        <a:rPr lang="en-US" altLang="zh-TW" sz="2500" b="1" dirty="0">
                          <a:solidFill>
                            <a:schemeClr val="tx1"/>
                          </a:solidFill>
                        </a:rPr>
                        <a:t>P</a:t>
                      </a:r>
                      <a:endParaRPr lang="zh-TW" altLang="en-US" sz="2500" b="1" dirty="0">
                        <a:solidFill>
                          <a:schemeClr val="tx1"/>
                        </a:solidFill>
                      </a:endParaRPr>
                    </a:p>
                  </a:txBody>
                  <a:tcPr marL="130865" marR="130865" marT="65431" marB="65431">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zh-TW" altLang="en-US" sz="2500" b="0" dirty="0">
                        <a:solidFill>
                          <a:schemeClr val="tx1"/>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X</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A</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M</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P</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L</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500" b="0" dirty="0">
                          <a:solidFill>
                            <a:srgbClr val="00B050"/>
                          </a:solidFill>
                        </a:rPr>
                        <a:t>E</a:t>
                      </a:r>
                      <a:endParaRPr lang="zh-TW" altLang="en-US" sz="2500" b="0" dirty="0">
                        <a:solidFill>
                          <a:srgbClr val="00B050"/>
                        </a:solidFill>
                      </a:endParaRPr>
                    </a:p>
                  </a:txBody>
                  <a:tcPr marL="130865" marR="130865" marT="65431" marB="6543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3434739"/>
                  </a:ext>
                </a:extLst>
              </a:tr>
            </a:tbl>
          </a:graphicData>
        </a:graphic>
      </p:graphicFrame>
    </p:spTree>
    <p:extLst>
      <p:ext uri="{BB962C8B-B14F-4D97-AF65-F5344CB8AC3E}">
        <p14:creationId xmlns:p14="http://schemas.microsoft.com/office/powerpoint/2010/main" val="276167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AE035-ADA9-44ED-8AF0-4DD9CB84A69D}"/>
              </a:ext>
            </a:extLst>
          </p:cNvPr>
          <p:cNvSpPr>
            <a:spLocks noGrp="1"/>
          </p:cNvSpPr>
          <p:nvPr>
            <p:ph type="title"/>
          </p:nvPr>
        </p:nvSpPr>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634B3A8B-82A8-4588-877F-72FB86DA8766}"/>
              </a:ext>
            </a:extLst>
          </p:cNvPr>
          <p:cNvGraphicFramePr>
            <a:graphicFrameLocks noGrp="1"/>
          </p:cNvGraphicFramePr>
          <p:nvPr>
            <p:extLst>
              <p:ext uri="{D42A27DB-BD31-4B8C-83A1-F6EECF244321}">
                <p14:modId xmlns:p14="http://schemas.microsoft.com/office/powerpoint/2010/main" val="3201093839"/>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3881037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AAE035-ADA9-44ED-8AF0-4DD9CB84A69D}"/>
              </a:ext>
            </a:extLst>
          </p:cNvPr>
          <p:cNvSpPr>
            <a:spLocks noGrp="1"/>
          </p:cNvSpPr>
          <p:nvPr>
            <p:ph type="title"/>
          </p:nvPr>
        </p:nvSpPr>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634B3A8B-82A8-4588-877F-72FB86DA8766}"/>
              </a:ext>
            </a:extLst>
          </p:cNvPr>
          <p:cNvGraphicFramePr>
            <a:graphicFrameLocks noGrp="1"/>
          </p:cNvGraphicFramePr>
          <p:nvPr>
            <p:extLst>
              <p:ext uri="{D42A27DB-BD31-4B8C-83A1-F6EECF244321}">
                <p14:modId xmlns:p14="http://schemas.microsoft.com/office/powerpoint/2010/main" val="4290823829"/>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Y</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25476970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8CE82E8-5CE4-4096-B0B9-BF3BB2ABF7ED}"/>
              </a:ext>
            </a:extLst>
          </p:cNvPr>
          <p:cNvSpPr>
            <a:spLocks noGrp="1"/>
          </p:cNvSpPr>
          <p:nvPr>
            <p:ph type="title"/>
          </p:nvPr>
        </p:nvSpPr>
        <p:spPr>
          <a:xfrm>
            <a:off x="838200" y="365125"/>
            <a:ext cx="10515600" cy="1325563"/>
          </a:xfrm>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D5E0889B-4A38-4D69-849B-33316BAF9B81}"/>
              </a:ext>
            </a:extLst>
          </p:cNvPr>
          <p:cNvGraphicFramePr>
            <a:graphicFrameLocks noGrp="1"/>
          </p:cNvGraphicFramePr>
          <p:nvPr>
            <p:extLst>
              <p:ext uri="{D42A27DB-BD31-4B8C-83A1-F6EECF244321}">
                <p14:modId xmlns:p14="http://schemas.microsoft.com/office/powerpoint/2010/main" val="3006433427"/>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12082631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8CE82E8-5CE4-4096-B0B9-BF3BB2ABF7ED}"/>
              </a:ext>
            </a:extLst>
          </p:cNvPr>
          <p:cNvSpPr>
            <a:spLocks noGrp="1"/>
          </p:cNvSpPr>
          <p:nvPr>
            <p:ph type="title"/>
          </p:nvPr>
        </p:nvSpPr>
        <p:spPr>
          <a:xfrm>
            <a:off x="838200" y="365125"/>
            <a:ext cx="10515600" cy="1325563"/>
          </a:xfrm>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D5E0889B-4A38-4D69-849B-33316BAF9B81}"/>
              </a:ext>
            </a:extLst>
          </p:cNvPr>
          <p:cNvGraphicFramePr>
            <a:graphicFrameLocks noGrp="1"/>
          </p:cNvGraphicFramePr>
          <p:nvPr>
            <p:extLst>
              <p:ext uri="{D42A27DB-BD31-4B8C-83A1-F6EECF244321}">
                <p14:modId xmlns:p14="http://schemas.microsoft.com/office/powerpoint/2010/main" val="3839676178"/>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S</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Y</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52533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8CE82E8-5CE4-4096-B0B9-BF3BB2ABF7ED}"/>
              </a:ext>
            </a:extLst>
          </p:cNvPr>
          <p:cNvSpPr>
            <a:spLocks noGrp="1"/>
          </p:cNvSpPr>
          <p:nvPr>
            <p:ph type="title"/>
          </p:nvPr>
        </p:nvSpPr>
        <p:spPr>
          <a:xfrm>
            <a:off x="838200" y="365125"/>
            <a:ext cx="10515600" cy="1325563"/>
          </a:xfrm>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74F415FD-EDF0-45FF-A0E9-93848C1D163D}"/>
              </a:ext>
            </a:extLst>
          </p:cNvPr>
          <p:cNvGraphicFramePr>
            <a:graphicFrameLocks noGrp="1"/>
          </p:cNvGraphicFramePr>
          <p:nvPr>
            <p:extLst>
              <p:ext uri="{D42A27DB-BD31-4B8C-83A1-F6EECF244321}">
                <p14:modId xmlns:p14="http://schemas.microsoft.com/office/powerpoint/2010/main" val="587128420"/>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1970057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8CE82E8-5CE4-4096-B0B9-BF3BB2ABF7ED}"/>
              </a:ext>
            </a:extLst>
          </p:cNvPr>
          <p:cNvSpPr>
            <a:spLocks noGrp="1"/>
          </p:cNvSpPr>
          <p:nvPr>
            <p:ph type="title"/>
          </p:nvPr>
        </p:nvSpPr>
        <p:spPr>
          <a:xfrm>
            <a:off x="838200" y="365125"/>
            <a:ext cx="10515600" cy="1325563"/>
          </a:xfrm>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74F415FD-EDF0-45FF-A0E9-93848C1D163D}"/>
              </a:ext>
            </a:extLst>
          </p:cNvPr>
          <p:cNvGraphicFramePr>
            <a:graphicFrameLocks noGrp="1"/>
          </p:cNvGraphicFramePr>
          <p:nvPr>
            <p:extLst>
              <p:ext uri="{D42A27DB-BD31-4B8C-83A1-F6EECF244321}">
                <p14:modId xmlns:p14="http://schemas.microsoft.com/office/powerpoint/2010/main" val="854104605"/>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S</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Y</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9626396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8CE82E8-5CE4-4096-B0B9-BF3BB2ABF7ED}"/>
              </a:ext>
            </a:extLst>
          </p:cNvPr>
          <p:cNvSpPr>
            <a:spLocks noGrp="1"/>
          </p:cNvSpPr>
          <p:nvPr>
            <p:ph type="title"/>
          </p:nvPr>
        </p:nvSpPr>
        <p:spPr>
          <a:xfrm>
            <a:off x="838200" y="365125"/>
            <a:ext cx="10515600" cy="1325563"/>
          </a:xfrm>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075A533D-FE2C-450A-808E-8FDC27D30F5F}"/>
              </a:ext>
            </a:extLst>
          </p:cNvPr>
          <p:cNvGraphicFramePr>
            <a:graphicFrameLocks noGrp="1"/>
          </p:cNvGraphicFramePr>
          <p:nvPr>
            <p:extLst>
              <p:ext uri="{D42A27DB-BD31-4B8C-83A1-F6EECF244321}">
                <p14:modId xmlns:p14="http://schemas.microsoft.com/office/powerpoint/2010/main" val="3771794319"/>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I</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29459321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8CE82E8-5CE4-4096-B0B9-BF3BB2ABF7ED}"/>
              </a:ext>
            </a:extLst>
          </p:cNvPr>
          <p:cNvSpPr>
            <a:spLocks noGrp="1"/>
          </p:cNvSpPr>
          <p:nvPr>
            <p:ph type="title"/>
          </p:nvPr>
        </p:nvSpPr>
        <p:spPr>
          <a:xfrm>
            <a:off x="838200" y="365125"/>
            <a:ext cx="10515600" cy="1325563"/>
          </a:xfrm>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075A533D-FE2C-450A-808E-8FDC27D30F5F}"/>
              </a:ext>
            </a:extLst>
          </p:cNvPr>
          <p:cNvGraphicFramePr>
            <a:graphicFrameLocks noGrp="1"/>
          </p:cNvGraphicFramePr>
          <p:nvPr>
            <p:extLst>
              <p:ext uri="{D42A27DB-BD31-4B8C-83A1-F6EECF244321}">
                <p14:modId xmlns:p14="http://schemas.microsoft.com/office/powerpoint/2010/main" val="2933164394"/>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FF0000"/>
                          </a:solidFill>
                        </a:rPr>
                        <a:t>J</a:t>
                      </a:r>
                      <a:endParaRPr lang="zh-TW" altLang="en-US" sz="2100" b="0" dirty="0">
                        <a:solidFill>
                          <a:srgbClr val="FF000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L</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Y</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3905876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D8CE82E8-5CE4-4096-B0B9-BF3BB2ABF7ED}"/>
              </a:ext>
            </a:extLst>
          </p:cNvPr>
          <p:cNvSpPr>
            <a:spLocks noGrp="1"/>
          </p:cNvSpPr>
          <p:nvPr>
            <p:ph type="title"/>
          </p:nvPr>
        </p:nvSpPr>
        <p:spPr>
          <a:xfrm>
            <a:off x="838200" y="365125"/>
            <a:ext cx="10515600" cy="1325563"/>
          </a:xfrm>
        </p:spPr>
        <p:txBody>
          <a:bodyPr/>
          <a:lstStyle/>
          <a:p>
            <a:pPr algn="ctr"/>
            <a:r>
              <a:rPr lang="en-US" altLang="zh-TW" dirty="0"/>
              <a:t>Proposed method</a:t>
            </a:r>
            <a:endParaRPr lang="zh-TW" altLang="en-US" dirty="0"/>
          </a:p>
        </p:txBody>
      </p:sp>
      <p:graphicFrame>
        <p:nvGraphicFramePr>
          <p:cNvPr id="5" name="表格 4">
            <a:extLst>
              <a:ext uri="{FF2B5EF4-FFF2-40B4-BE49-F238E27FC236}">
                <a16:creationId xmlns:a16="http://schemas.microsoft.com/office/drawing/2014/main" id="{075A533D-FE2C-450A-808E-8FDC27D30F5F}"/>
              </a:ext>
            </a:extLst>
          </p:cNvPr>
          <p:cNvGraphicFramePr>
            <a:graphicFrameLocks noGrp="1"/>
          </p:cNvGraphicFramePr>
          <p:nvPr>
            <p:extLst>
              <p:ext uri="{D42A27DB-BD31-4B8C-83A1-F6EECF244321}">
                <p14:modId xmlns:p14="http://schemas.microsoft.com/office/powerpoint/2010/main" val="4077986914"/>
              </p:ext>
            </p:extLst>
          </p:nvPr>
        </p:nvGraphicFramePr>
        <p:xfrm>
          <a:off x="1326653" y="2993797"/>
          <a:ext cx="9123972" cy="870406"/>
        </p:xfrm>
        <a:graphic>
          <a:graphicData uri="http://schemas.openxmlformats.org/drawingml/2006/table">
            <a:tbl>
              <a:tblPr firstRow="1" bandRow="1">
                <a:tableStyleId>{5C22544A-7EE6-4342-B048-85BDC9FD1C3A}</a:tableStyleId>
              </a:tblPr>
              <a:tblGrid>
                <a:gridCol w="414726">
                  <a:extLst>
                    <a:ext uri="{9D8B030D-6E8A-4147-A177-3AD203B41FA5}">
                      <a16:colId xmlns:a16="http://schemas.microsoft.com/office/drawing/2014/main" val="1084097033"/>
                    </a:ext>
                  </a:extLst>
                </a:gridCol>
                <a:gridCol w="414726">
                  <a:extLst>
                    <a:ext uri="{9D8B030D-6E8A-4147-A177-3AD203B41FA5}">
                      <a16:colId xmlns:a16="http://schemas.microsoft.com/office/drawing/2014/main" val="3616305125"/>
                    </a:ext>
                  </a:extLst>
                </a:gridCol>
                <a:gridCol w="414726">
                  <a:extLst>
                    <a:ext uri="{9D8B030D-6E8A-4147-A177-3AD203B41FA5}">
                      <a16:colId xmlns:a16="http://schemas.microsoft.com/office/drawing/2014/main" val="3758982789"/>
                    </a:ext>
                  </a:extLst>
                </a:gridCol>
                <a:gridCol w="414726">
                  <a:extLst>
                    <a:ext uri="{9D8B030D-6E8A-4147-A177-3AD203B41FA5}">
                      <a16:colId xmlns:a16="http://schemas.microsoft.com/office/drawing/2014/main" val="955207979"/>
                    </a:ext>
                  </a:extLst>
                </a:gridCol>
                <a:gridCol w="414726">
                  <a:extLst>
                    <a:ext uri="{9D8B030D-6E8A-4147-A177-3AD203B41FA5}">
                      <a16:colId xmlns:a16="http://schemas.microsoft.com/office/drawing/2014/main" val="3067574535"/>
                    </a:ext>
                  </a:extLst>
                </a:gridCol>
                <a:gridCol w="414726">
                  <a:extLst>
                    <a:ext uri="{9D8B030D-6E8A-4147-A177-3AD203B41FA5}">
                      <a16:colId xmlns:a16="http://schemas.microsoft.com/office/drawing/2014/main" val="2806677156"/>
                    </a:ext>
                  </a:extLst>
                </a:gridCol>
                <a:gridCol w="414726">
                  <a:extLst>
                    <a:ext uri="{9D8B030D-6E8A-4147-A177-3AD203B41FA5}">
                      <a16:colId xmlns:a16="http://schemas.microsoft.com/office/drawing/2014/main" val="823326446"/>
                    </a:ext>
                  </a:extLst>
                </a:gridCol>
                <a:gridCol w="414726">
                  <a:extLst>
                    <a:ext uri="{9D8B030D-6E8A-4147-A177-3AD203B41FA5}">
                      <a16:colId xmlns:a16="http://schemas.microsoft.com/office/drawing/2014/main" val="1273047439"/>
                    </a:ext>
                  </a:extLst>
                </a:gridCol>
                <a:gridCol w="414726">
                  <a:extLst>
                    <a:ext uri="{9D8B030D-6E8A-4147-A177-3AD203B41FA5}">
                      <a16:colId xmlns:a16="http://schemas.microsoft.com/office/drawing/2014/main" val="973767476"/>
                    </a:ext>
                  </a:extLst>
                </a:gridCol>
                <a:gridCol w="414726">
                  <a:extLst>
                    <a:ext uri="{9D8B030D-6E8A-4147-A177-3AD203B41FA5}">
                      <a16:colId xmlns:a16="http://schemas.microsoft.com/office/drawing/2014/main" val="3827659669"/>
                    </a:ext>
                  </a:extLst>
                </a:gridCol>
                <a:gridCol w="414726">
                  <a:extLst>
                    <a:ext uri="{9D8B030D-6E8A-4147-A177-3AD203B41FA5}">
                      <a16:colId xmlns:a16="http://schemas.microsoft.com/office/drawing/2014/main" val="425395111"/>
                    </a:ext>
                  </a:extLst>
                </a:gridCol>
                <a:gridCol w="414726">
                  <a:extLst>
                    <a:ext uri="{9D8B030D-6E8A-4147-A177-3AD203B41FA5}">
                      <a16:colId xmlns:a16="http://schemas.microsoft.com/office/drawing/2014/main" val="3860277575"/>
                    </a:ext>
                  </a:extLst>
                </a:gridCol>
                <a:gridCol w="414726">
                  <a:extLst>
                    <a:ext uri="{9D8B030D-6E8A-4147-A177-3AD203B41FA5}">
                      <a16:colId xmlns:a16="http://schemas.microsoft.com/office/drawing/2014/main" val="2402719021"/>
                    </a:ext>
                  </a:extLst>
                </a:gridCol>
                <a:gridCol w="414726">
                  <a:extLst>
                    <a:ext uri="{9D8B030D-6E8A-4147-A177-3AD203B41FA5}">
                      <a16:colId xmlns:a16="http://schemas.microsoft.com/office/drawing/2014/main" val="3921896475"/>
                    </a:ext>
                  </a:extLst>
                </a:gridCol>
                <a:gridCol w="414726">
                  <a:extLst>
                    <a:ext uri="{9D8B030D-6E8A-4147-A177-3AD203B41FA5}">
                      <a16:colId xmlns:a16="http://schemas.microsoft.com/office/drawing/2014/main" val="945917958"/>
                    </a:ext>
                  </a:extLst>
                </a:gridCol>
                <a:gridCol w="414726">
                  <a:extLst>
                    <a:ext uri="{9D8B030D-6E8A-4147-A177-3AD203B41FA5}">
                      <a16:colId xmlns:a16="http://schemas.microsoft.com/office/drawing/2014/main" val="2202520270"/>
                    </a:ext>
                  </a:extLst>
                </a:gridCol>
                <a:gridCol w="414726">
                  <a:extLst>
                    <a:ext uri="{9D8B030D-6E8A-4147-A177-3AD203B41FA5}">
                      <a16:colId xmlns:a16="http://schemas.microsoft.com/office/drawing/2014/main" val="386047024"/>
                    </a:ext>
                  </a:extLst>
                </a:gridCol>
                <a:gridCol w="414726">
                  <a:extLst>
                    <a:ext uri="{9D8B030D-6E8A-4147-A177-3AD203B41FA5}">
                      <a16:colId xmlns:a16="http://schemas.microsoft.com/office/drawing/2014/main" val="1581862848"/>
                    </a:ext>
                  </a:extLst>
                </a:gridCol>
                <a:gridCol w="414726">
                  <a:extLst>
                    <a:ext uri="{9D8B030D-6E8A-4147-A177-3AD203B41FA5}">
                      <a16:colId xmlns:a16="http://schemas.microsoft.com/office/drawing/2014/main" val="4239734869"/>
                    </a:ext>
                  </a:extLst>
                </a:gridCol>
                <a:gridCol w="414726">
                  <a:extLst>
                    <a:ext uri="{9D8B030D-6E8A-4147-A177-3AD203B41FA5}">
                      <a16:colId xmlns:a16="http://schemas.microsoft.com/office/drawing/2014/main" val="799343444"/>
                    </a:ext>
                  </a:extLst>
                </a:gridCol>
                <a:gridCol w="414726">
                  <a:extLst>
                    <a:ext uri="{9D8B030D-6E8A-4147-A177-3AD203B41FA5}">
                      <a16:colId xmlns:a16="http://schemas.microsoft.com/office/drawing/2014/main" val="2071302487"/>
                    </a:ext>
                  </a:extLst>
                </a:gridCol>
                <a:gridCol w="414726">
                  <a:extLst>
                    <a:ext uri="{9D8B030D-6E8A-4147-A177-3AD203B41FA5}">
                      <a16:colId xmlns:a16="http://schemas.microsoft.com/office/drawing/2014/main" val="2994671518"/>
                    </a:ext>
                  </a:extLst>
                </a:gridCol>
              </a:tblGrid>
              <a:tr h="435203">
                <a:tc>
                  <a:txBody>
                    <a:bodyPr/>
                    <a:lstStyle/>
                    <a:p>
                      <a:pPr algn="ctr"/>
                      <a:r>
                        <a:rPr lang="en-US" altLang="zh-TW" sz="2100" b="1" dirty="0">
                          <a:solidFill>
                            <a:schemeClr val="tx1"/>
                          </a:solidFill>
                        </a:rPr>
                        <a:t>T</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O</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H</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N</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J</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I</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chemeClr val="tx1"/>
                          </a:solidFill>
                        </a:rPr>
                        <a:t>S</a:t>
                      </a: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O</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L</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L</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Y</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305558"/>
                  </a:ext>
                </a:extLst>
              </a:tr>
              <a:tr h="435203">
                <a:tc>
                  <a:txBody>
                    <a:bodyPr/>
                    <a:lstStyle/>
                    <a:p>
                      <a:pPr algn="ctr"/>
                      <a:r>
                        <a:rPr lang="en-US" altLang="zh-TW" sz="2100" b="1" dirty="0">
                          <a:solidFill>
                            <a:schemeClr val="tx1"/>
                          </a:solidFill>
                        </a:rPr>
                        <a:t>P</a:t>
                      </a:r>
                      <a:endParaRPr lang="zh-TW" altLang="en-US" sz="2100" b="1" dirty="0">
                        <a:solidFill>
                          <a:schemeClr val="tx1"/>
                        </a:solidFill>
                      </a:endParaRPr>
                    </a:p>
                  </a:txBody>
                  <a:tcPr marL="107310" marR="107310" marT="53655" marB="5365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TW" altLang="en-US" sz="2100" b="0" dirty="0">
                        <a:solidFill>
                          <a:schemeClr val="tx1"/>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J</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O</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L</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L</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TW" sz="2100" b="0" dirty="0">
                          <a:solidFill>
                            <a:srgbClr val="00B050"/>
                          </a:solidFill>
                        </a:rPr>
                        <a:t>Y</a:t>
                      </a:r>
                      <a:endParaRPr lang="zh-TW" altLang="en-US" sz="2100" b="0" dirty="0">
                        <a:solidFill>
                          <a:srgbClr val="00B050"/>
                        </a:solidFill>
                      </a:endParaRPr>
                    </a:p>
                  </a:txBody>
                  <a:tcPr marL="107310" marR="107310" marT="53655" marB="5365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1764132"/>
                  </a:ext>
                </a:extLst>
              </a:tr>
            </a:tbl>
          </a:graphicData>
        </a:graphic>
      </p:graphicFrame>
    </p:spTree>
    <p:extLst>
      <p:ext uri="{BB962C8B-B14F-4D97-AF65-F5344CB8AC3E}">
        <p14:creationId xmlns:p14="http://schemas.microsoft.com/office/powerpoint/2010/main" val="178600028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TotalTime>
  <Words>1285</Words>
  <Application>Microsoft Office PowerPoint</Application>
  <PresentationFormat>寬螢幕</PresentationFormat>
  <Paragraphs>823</Paragraphs>
  <Slides>29</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29</vt:i4>
      </vt:variant>
    </vt:vector>
  </HeadingPairs>
  <TitlesOfParts>
    <vt:vector size="35" baseType="lpstr">
      <vt:lpstr>新細明體</vt:lpstr>
      <vt:lpstr>標楷體</vt:lpstr>
      <vt:lpstr>Arial</vt:lpstr>
      <vt:lpstr>Calibri</vt:lpstr>
      <vt:lpstr>Calibri Light</vt:lpstr>
      <vt:lpstr>Office 佈景主題</vt:lpstr>
      <vt:lpstr>Intelligent Predictive String Search Algorithm</vt:lpstr>
      <vt:lpstr>Abstract</vt:lpstr>
      <vt:lpstr>String matching</vt:lpstr>
      <vt:lpstr>KMP</vt:lpstr>
      <vt:lpstr>KMP</vt:lpstr>
      <vt:lpstr>KMP</vt:lpstr>
      <vt:lpstr>KMP</vt:lpstr>
      <vt:lpstr>KMP</vt:lpstr>
      <vt:lpstr>KMP</vt:lpstr>
      <vt:lpstr>KMP</vt:lpstr>
      <vt:lpstr>KMP</vt:lpstr>
      <vt:lpstr>KMP</vt:lpstr>
      <vt:lpstr>Boyer Moore</vt:lpstr>
      <vt:lpstr>Boyer Moore</vt:lpstr>
      <vt:lpstr>Boyer Moore</vt:lpstr>
      <vt:lpstr>Boyer Moore</vt:lpstr>
      <vt:lpstr>Boyer Moore</vt:lpstr>
      <vt:lpstr>Boyer Moore</vt:lpstr>
      <vt:lpstr>Boyer Moore</vt:lpstr>
      <vt:lpstr>Boyer Moore</vt:lpstr>
      <vt:lpstr>Proposed method</vt:lpstr>
      <vt:lpstr>Proposed method</vt:lpstr>
      <vt:lpstr>Proposed method</vt:lpstr>
      <vt:lpstr>Proposed method</vt:lpstr>
      <vt:lpstr>Proposed method</vt:lpstr>
      <vt:lpstr>Proposed method</vt:lpstr>
      <vt:lpstr>Proposed method</vt:lpstr>
      <vt:lpstr>Proposed method</vt:lpstr>
      <vt:lpstr>Proposed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Predictive String Search Algorithm</dc:title>
  <dc:creator>Caros</dc:creator>
  <cp:lastModifiedBy>Caros</cp:lastModifiedBy>
  <cp:revision>71</cp:revision>
  <dcterms:created xsi:type="dcterms:W3CDTF">2018-02-05T10:27:00Z</dcterms:created>
  <dcterms:modified xsi:type="dcterms:W3CDTF">2018-02-13T06:25:18Z</dcterms:modified>
</cp:coreProperties>
</file>