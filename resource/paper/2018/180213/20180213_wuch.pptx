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1" r:id="rId4"/>
    <p:sldId id="295" r:id="rId5"/>
    <p:sldId id="312" r:id="rId6"/>
    <p:sldId id="299" r:id="rId7"/>
    <p:sldId id="302" r:id="rId8"/>
    <p:sldId id="307" r:id="rId9"/>
    <p:sldId id="303" r:id="rId10"/>
    <p:sldId id="304" r:id="rId11"/>
    <p:sldId id="305" r:id="rId12"/>
    <p:sldId id="306" r:id="rId13"/>
    <p:sldId id="296" r:id="rId14"/>
    <p:sldId id="298" r:id="rId15"/>
    <p:sldId id="309" r:id="rId16"/>
    <p:sldId id="310" r:id="rId17"/>
    <p:sldId id="311" r:id="rId18"/>
    <p:sldId id="315" r:id="rId19"/>
    <p:sldId id="313" r:id="rId20"/>
    <p:sldId id="31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7" autoAdjust="0"/>
    <p:restoredTop sz="95048" autoAdjust="0"/>
  </p:normalViewPr>
  <p:slideViewPr>
    <p:cSldViewPr snapToGrid="0">
      <p:cViewPr varScale="1">
        <p:scale>
          <a:sx n="70" d="100"/>
          <a:sy n="70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D822E-287D-49A6-BB7D-CFD94BDB4C78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6E11E-5ACF-409F-8557-659632981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mbalib.com/zh-tw/%E5%86%97%E4%BD%99%E4%BF%A1%E6%81%A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mbalib.com/zh-tw/%E5%86%97%E4%BD%99%E4%BF%A1%E6%81%A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mbalib.com/zh-tw/%E5%86%97%E4%BD%99%E4%BF%A1%E6%81%A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mbalib.com/zh-tw/%E5%86%97%E4%BD%99%E4%BF%A1%E6%81%A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37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610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　粗糙集最主要的特點是：它無需提供對知識或數據的主觀評價，僅根據觀測數據就能達到刪除</a:t>
            </a:r>
            <a:r>
              <a:rPr lang="zh-TW" altLang="en-US" i="0" dirty="0" smtClean="0">
                <a:hlinkClick r:id="rId3" tooltip="冗余信息"/>
              </a:rPr>
              <a:t>冗餘信息</a:t>
            </a:r>
            <a:r>
              <a:rPr lang="zh-TW" altLang="en-US" dirty="0" smtClean="0"/>
              <a:t>，比較不完備知識的程度</a:t>
            </a:r>
            <a:r>
              <a:rPr lang="en-US" altLang="zh-TW" dirty="0" smtClean="0"/>
              <a:t>-</a:t>
            </a:r>
            <a:r>
              <a:rPr lang="zh-TW" altLang="en-US" dirty="0" smtClean="0"/>
              <a:t>粗糙度，界定屬性間的依賴性和重要性的目的。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5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　粗糙集最主要的特點是：它無需提供對知識或數據的主觀評價，僅根據觀測數據就能達到刪除</a:t>
            </a:r>
            <a:r>
              <a:rPr lang="zh-TW" altLang="en-US" i="0" dirty="0" smtClean="0">
                <a:hlinkClick r:id="rId3" tooltip="冗余信息"/>
              </a:rPr>
              <a:t>冗餘信息</a:t>
            </a:r>
            <a:r>
              <a:rPr lang="zh-TW" altLang="en-US" dirty="0" smtClean="0"/>
              <a:t>，比較不完備知識的程度</a:t>
            </a:r>
            <a:r>
              <a:rPr lang="en-US" altLang="zh-TW" dirty="0" smtClean="0"/>
              <a:t>-</a:t>
            </a:r>
            <a:r>
              <a:rPr lang="zh-TW" altLang="en-US" dirty="0" smtClean="0"/>
              <a:t>粗糙度，界定屬性間的依賴性和重要性的目的。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114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　粗糙集最主要的特點是：它無需提供對知識或數據的主觀評價，僅根據觀測數據就能達到刪除</a:t>
            </a:r>
            <a:r>
              <a:rPr lang="zh-TW" altLang="en-US" i="0" dirty="0" smtClean="0">
                <a:hlinkClick r:id="rId3" tooltip="冗余信息"/>
              </a:rPr>
              <a:t>冗餘信息</a:t>
            </a:r>
            <a:r>
              <a:rPr lang="zh-TW" altLang="en-US" dirty="0" smtClean="0"/>
              <a:t>，比較不完備知識的程度</a:t>
            </a:r>
            <a:r>
              <a:rPr lang="en-US" altLang="zh-TW" dirty="0" smtClean="0"/>
              <a:t>-</a:t>
            </a:r>
            <a:r>
              <a:rPr lang="zh-TW" altLang="en-US" dirty="0" smtClean="0"/>
              <a:t>粗糙度，界定屬性間的依賴性和重要性的目的。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776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499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45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Best balance is achieved between loss of entropy and moderate interval number </a:t>
            </a:r>
            <a:r>
              <a:rPr lang="zh-TW" altLang="en-US" dirty="0" smtClean="0"/>
              <a:t>亂度</a:t>
            </a:r>
            <a:endParaRPr lang="en-US" altLang="zh-TW" dirty="0" smtClean="0"/>
          </a:p>
          <a:p>
            <a:r>
              <a:rPr lang="zh-TW" altLang="en-US" dirty="0" smtClean="0"/>
              <a:t>連續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離散 區間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35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T=decision attribute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90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　粗糙集最主要的特點是：它無需提供對知識或數據的主觀評價，僅根據觀測數據就能達到刪除</a:t>
            </a:r>
            <a:r>
              <a:rPr lang="zh-TW" altLang="en-US" i="0" dirty="0" smtClean="0">
                <a:hlinkClick r:id="rId3" tooltip="冗余信息"/>
              </a:rPr>
              <a:t>冗餘信息</a:t>
            </a:r>
            <a:r>
              <a:rPr lang="zh-TW" altLang="en-US" dirty="0" smtClean="0"/>
              <a:t>，比較不完備知識的程度</a:t>
            </a:r>
            <a:r>
              <a:rPr lang="en-US" altLang="zh-TW" dirty="0" smtClean="0"/>
              <a:t>-</a:t>
            </a:r>
            <a:r>
              <a:rPr lang="zh-TW" altLang="en-US" dirty="0" smtClean="0"/>
              <a:t>粗糙度，界定屬性間的依賴性和重要性的目的。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82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3,4,6,8,9,12,14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930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Trained</a:t>
            </a:r>
            <a:r>
              <a:rPr lang="en-US" altLang="zh-TW" baseline="0" dirty="0" smtClean="0"/>
              <a:t> by BP </a:t>
            </a:r>
            <a:r>
              <a:rPr lang="en-US" altLang="zh-TW" baseline="0" dirty="0" err="1" smtClean="0"/>
              <a:t>algo</a:t>
            </a:r>
            <a:r>
              <a:rPr lang="en-US" altLang="zh-TW" baseline="0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577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N</a:t>
            </a:r>
            <a:r>
              <a:rPr lang="en-US" altLang="zh-TW" baseline="0" dirty="0" smtClean="0"/>
              <a:t> is the number of learning sample,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hidden layer node  </a:t>
            </a:r>
            <a:r>
              <a:rPr lang="en-US" altLang="zh-TW" baseline="0" dirty="0" smtClean="0"/>
              <a:t>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739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375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Prune 4 7 8 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034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股價走勢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059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N</a:t>
            </a:r>
            <a:r>
              <a:rPr lang="en-US" altLang="zh-TW" baseline="0" dirty="0" smtClean="0"/>
              <a:t> is the number of learning sample,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hidden layer node  </a:t>
            </a:r>
            <a:r>
              <a:rPr lang="en-US" altLang="zh-TW" baseline="0" dirty="0" smtClean="0"/>
              <a:t>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190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股價走勢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908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股價走勢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95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2018/2/13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53623" y="783697"/>
            <a:ext cx="12299245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Neural Network Prediction Method of Stock Price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 Based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Rough Set Attribute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5466" y="3579460"/>
            <a:ext cx="9381066" cy="27197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Lei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Lei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Business Administration, Henan University of Economics and Law, Zhengzhou, Henan 450046, China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Soft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Computing, Volume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62, January 2018, Pages 923-932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Date:2018/2/13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prediction capacity of stock price trend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 integrated prediction method is proposed based on Rough Set (RS) and Wavelet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(WNN). RS is firstly introduced to reduce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of stock price trend. On this basis, RS is used again to determine the structure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WNN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to obtain the prediction model of stock price trend. Finally, the model is applied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trend. The simulation results indicate that, through RS attribute reduction,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WNN prediction model can be simplified significantly with the improvement of model performance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symmetry values of prediction, corresponding to SSE Composite Index, CSI 300 Index,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Ordinaries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Index, Nikkei 225 Index and Dow Jones Index, are 65.75%, 66.37%, 65.97%, 65.52% and 66.75%,respectively. The prediction results are better than those obtained by other neural networks, SVM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WNN 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RS-WNN, which verifies the feasibility and effectiveness of the proposed method of predicting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experimental data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505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SSE Composite Index (China)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CSI 300 Index (China)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Ordinaries Index (Australian)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Nikkei 225 Index (Japan)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 Jones Index (USA)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5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66" y="263525"/>
            <a:ext cx="9660467" cy="6424307"/>
          </a:xfrm>
        </p:spPr>
      </p:pic>
    </p:spTree>
    <p:extLst>
      <p:ext uri="{BB962C8B-B14F-4D97-AF65-F5344CB8AC3E}">
        <p14:creationId xmlns:p14="http://schemas.microsoft.com/office/powerpoint/2010/main" val="170574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69" y="549980"/>
            <a:ext cx="8697975" cy="6062902"/>
          </a:xfrm>
        </p:spPr>
      </p:pic>
    </p:spTree>
    <p:extLst>
      <p:ext uri="{BB962C8B-B14F-4D97-AF65-F5344CB8AC3E}">
        <p14:creationId xmlns:p14="http://schemas.microsoft.com/office/powerpoint/2010/main" val="420392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principle of 2RS-WNN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97" y="1417097"/>
            <a:ext cx="6262206" cy="5155873"/>
          </a:xfrm>
        </p:spPr>
      </p:pic>
    </p:spTree>
    <p:extLst>
      <p:ext uri="{BB962C8B-B14F-4D97-AF65-F5344CB8AC3E}">
        <p14:creationId xmlns:p14="http://schemas.microsoft.com/office/powerpoint/2010/main" val="205331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795749"/>
                <a:ext cx="10515600" cy="459505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 attributes :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stock price trend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attributes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stock price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trend T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95749"/>
                <a:ext cx="10515600" cy="4595054"/>
              </a:xfrm>
              <a:blipFill rotWithShape="0">
                <a:blip r:embed="rId3"/>
                <a:stretch>
                  <a:fillRect l="-1043" t="-2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549" y="2417803"/>
            <a:ext cx="6801161" cy="39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1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9" y="2184132"/>
            <a:ext cx="11322897" cy="1992755"/>
          </a:xfrm>
        </p:spPr>
      </p:pic>
    </p:spTree>
    <p:extLst>
      <p:ext uri="{BB962C8B-B14F-4D97-AF65-F5344CB8AC3E}">
        <p14:creationId xmlns:p14="http://schemas.microsoft.com/office/powerpoint/2010/main" val="254816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70933"/>
                <a:ext cx="5754511" cy="6197600"/>
              </a:xfrm>
            </p:spPr>
            <p:txBody>
              <a:bodyPr>
                <a:normAutofit/>
              </a:bodyPr>
              <a:lstStyle/>
              <a:p>
                <a:pPr algn="ctr"/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t-BR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pt-BR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nary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of instances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number of instances for decision attributes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pt-BR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70933"/>
                <a:ext cx="5754511" cy="6197600"/>
              </a:xfrm>
              <a:blipFill rotWithShape="0">
                <a:blip r:embed="rId3"/>
                <a:stretch>
                  <a:fillRect l="-22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711" y="1819825"/>
            <a:ext cx="5444642" cy="309981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053" y="5332617"/>
            <a:ext cx="4434523" cy="21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2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27" y="564444"/>
            <a:ext cx="4607341" cy="267166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95" y="3236113"/>
            <a:ext cx="9565403" cy="342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9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 attribute reduction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 smtClean="0"/>
                  <a:t>它無需提供對知識或數據的主觀評價，僅根據觀測數據就能達到刪除冗餘信息，比較不完備知識的程度</a:t>
                </a:r>
                <a:r>
                  <a:rPr lang="en-US" altLang="zh-TW" dirty="0"/>
                  <a:t>-</a:t>
                </a:r>
                <a:r>
                  <a:rPr lang="zh-TW" altLang="en-US" dirty="0"/>
                  <a:t>粗糙度，界定屬性間的依賴性和重要性的目的。 </a:t>
                </a:r>
                <a:endParaRPr lang="en-US" altLang="zh-TW" dirty="0" smtClean="0"/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Equivalence relation : </a:t>
                </a:r>
                <a14:m>
                  <m:oMath xmlns:m="http://schemas.openxmlformats.org/officeDocument/2006/math">
                    <m:r>
                      <a:rPr lang="el-GR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</m:d>
                      </m:den>
                    </m:f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is knowledge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∙∩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TW" dirty="0" smtClean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𝑃𝑂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𝑟𝑒𝑑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𝑃𝑂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𝑟𝑒𝑑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 smtClean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the object set of decision attribute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whose condition attributes of reduction 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𝑟𝑒𝑑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can be classified into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endParaRPr lang="en-US" altLang="zh-TW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 r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47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410" y="950982"/>
            <a:ext cx="2934109" cy="152421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62" y="2829093"/>
            <a:ext cx="9565403" cy="342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Wavelet Neural Network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566" y="1690688"/>
            <a:ext cx="6510867" cy="3257877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72" y="5188030"/>
            <a:ext cx="808785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1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5422"/>
                <a:ext cx="10515600" cy="593525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of hidden layer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pt-BR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 2, …,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hidden layer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pt-BR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5∗</m:t>
                            </m:r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pt-BR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 2, …,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hidden layer node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</m:ra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≥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func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5422"/>
                <a:ext cx="10515600" cy="5935257"/>
              </a:xfrm>
              <a:blipFill rotWithShape="0">
                <a:blip r:embed="rId3"/>
                <a:stretch>
                  <a:fillRect t="-18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87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14" y="4009703"/>
            <a:ext cx="11176581" cy="197340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219" y="300929"/>
            <a:ext cx="3652769" cy="370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3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621" y="3587479"/>
            <a:ext cx="8275092" cy="2971365"/>
          </a:xfrm>
          <a:prstGeom prst="rect">
            <a:avLst/>
          </a:prstGeom>
        </p:spPr>
      </p:pic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424" y="267758"/>
            <a:ext cx="2661487" cy="3446286"/>
          </a:xfrm>
        </p:spPr>
      </p:pic>
    </p:spTree>
    <p:extLst>
      <p:ext uri="{BB962C8B-B14F-4D97-AF65-F5344CB8AC3E}">
        <p14:creationId xmlns:p14="http://schemas.microsoft.com/office/powerpoint/2010/main" val="319764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045" y="1115878"/>
            <a:ext cx="7196714" cy="4596300"/>
          </a:xfrm>
        </p:spPr>
      </p:pic>
    </p:spTree>
    <p:extLst>
      <p:ext uri="{BB962C8B-B14F-4D97-AF65-F5344CB8AC3E}">
        <p14:creationId xmlns:p14="http://schemas.microsoft.com/office/powerpoint/2010/main" val="233219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61245" y="485422"/>
                <a:ext cx="11559822" cy="593525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Root Mean Square Error (RMSE)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t-BR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pt-BR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Absolute Difference (MAD)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Absolute Percentage Error (MAPE)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|∗100%</m:t>
                    </m:r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Directional Symmetry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(DS)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𝑜𝑡h𝑒𝑟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 Uptrend (CP):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𝑜𝑡h𝑒𝑟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Downtrend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pt-BR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𝑜𝑡h𝑒𝑟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Time (TT)</a:t>
                </a:r>
              </a:p>
              <a:p>
                <a:pPr marL="0" indent="0" algn="ctr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245" y="485422"/>
                <a:ext cx="11559822" cy="5935257"/>
              </a:xfrm>
              <a:blipFill rotWithShape="0">
                <a:blip r:embed="rId3"/>
                <a:stretch>
                  <a:fillRect l="-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73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56" y="2152509"/>
            <a:ext cx="11184467" cy="2080825"/>
          </a:xfrm>
        </p:spPr>
      </p:pic>
    </p:spTree>
    <p:extLst>
      <p:ext uri="{BB962C8B-B14F-4D97-AF65-F5344CB8AC3E}">
        <p14:creationId xmlns:p14="http://schemas.microsoft.com/office/powerpoint/2010/main" val="252466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78" y="425803"/>
            <a:ext cx="8822066" cy="6040334"/>
          </a:xfrm>
        </p:spPr>
      </p:pic>
    </p:spTree>
    <p:extLst>
      <p:ext uri="{BB962C8B-B14F-4D97-AF65-F5344CB8AC3E}">
        <p14:creationId xmlns:p14="http://schemas.microsoft.com/office/powerpoint/2010/main" val="255602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8583</TotalTime>
  <Words>433</Words>
  <Application>Microsoft Office PowerPoint</Application>
  <PresentationFormat>寬螢幕</PresentationFormat>
  <Paragraphs>82</Paragraphs>
  <Slides>20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Wavelet Neural Network Prediction Method of Stock Price Trend Based on Rough Set Attribute Reduction</vt:lpstr>
      <vt:lpstr>Abstract</vt:lpstr>
      <vt:lpstr>Selection of experimental data</vt:lpstr>
      <vt:lpstr>PowerPoint 簡報</vt:lpstr>
      <vt:lpstr>PowerPoint 簡報</vt:lpstr>
      <vt:lpstr>Integrating principle of 2RS-WNN</vt:lpstr>
      <vt:lpstr>PowerPoint 簡報</vt:lpstr>
      <vt:lpstr>PowerPoint 簡報</vt:lpstr>
      <vt:lpstr>PowerPoint 簡報</vt:lpstr>
      <vt:lpstr>PowerPoint 簡報</vt:lpstr>
      <vt:lpstr>RS attribute reduction</vt:lpstr>
      <vt:lpstr>PowerPoint 簡報</vt:lpstr>
      <vt:lpstr>Wavelet Neural Network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pplab-class</cp:lastModifiedBy>
  <cp:revision>421</cp:revision>
  <dcterms:created xsi:type="dcterms:W3CDTF">2017-09-07T05:36:32Z</dcterms:created>
  <dcterms:modified xsi:type="dcterms:W3CDTF">2018-02-13T07:55:21Z</dcterms:modified>
</cp:coreProperties>
</file>