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1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中等深淺樣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中等深淺樣式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505E3EF-67EA-436B-97B2-0124C06EBD24}" styleName="中等深淺樣式 4 - 輔色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16DA210-FB5B-4158-B5E0-FEB733F419BA}" styleName="淺色樣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淺色樣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113A9D2-9D6B-4929-AA2D-F23B5EE8CBE7}" styleName="佈景主題樣式 2 - 輔色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6429" autoAdjust="0"/>
  </p:normalViewPr>
  <p:slideViewPr>
    <p:cSldViewPr snapToGrid="0">
      <p:cViewPr varScale="1">
        <p:scale>
          <a:sx n="70" d="100"/>
          <a:sy n="70" d="100"/>
        </p:scale>
        <p:origin x="115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2018/2/13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04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2018/2/13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7248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2018/2/13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291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2018/2/13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9483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2018/2/13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1948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2018/2/13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530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2018/2/13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5807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2018/2/13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9603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2018/2/13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7219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2018/2/13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8200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2018/2/13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183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E010FB-2E68-4D6F-963D-E2C0D8E7433A}" type="datetimeFigureOut">
              <a:rPr lang="zh-TW" altLang="en-US" smtClean="0"/>
              <a:t>2018/2/13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8705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425003" y="685800"/>
            <a:ext cx="8223695" cy="2512696"/>
          </a:xfrm>
        </p:spPr>
        <p:txBody>
          <a:bodyPr>
            <a:normAutofit fontScale="90000"/>
          </a:bodyPr>
          <a:lstStyle/>
          <a:p>
            <a:r>
              <a:rPr lang="en-US" altLang="zh-TW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altLang="zh-TW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Algorithm </a:t>
            </a:r>
            <a:r>
              <a:rPr lang="en-US" altLang="zh-TW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altLang="zh-TW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Computing Non-overlapping Inversion </a:t>
            </a:r>
            <a:r>
              <a:rPr lang="en-US" altLang="zh-TW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zh-TW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Transposition Distance</a:t>
            </a:r>
            <a:endParaRPr lang="zh-TW" alt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771524" y="3516074"/>
            <a:ext cx="7877174" cy="1655762"/>
          </a:xfrm>
        </p:spPr>
        <p:txBody>
          <a:bodyPr>
            <a:normAutofit/>
          </a:bodyPr>
          <a:lstStyle/>
          <a:p>
            <a:r>
              <a:rPr lang="fr-FR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Toan Thang </a:t>
            </a:r>
            <a:r>
              <a:rPr lang="fr-FR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</a:t>
            </a:r>
            <a:r>
              <a:rPr lang="fr-FR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Cheng-Yao Lin, and Chin Lung Lu</a:t>
            </a:r>
          </a:p>
          <a:p>
            <a:r>
              <a:rPr lang="nl-NL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Processing Letters, </a:t>
            </a:r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Vol. 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116, </a:t>
            </a:r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No. 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12, </a:t>
            </a:r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pp. 744-749, July, 2016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nl-NL" altLang="zh-TW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4479634" y="44849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副標題 2"/>
          <p:cNvSpPr txBox="1">
            <a:spLocks/>
          </p:cNvSpPr>
          <p:nvPr/>
        </p:nvSpPr>
        <p:spPr>
          <a:xfrm>
            <a:off x="1281111" y="5312807"/>
            <a:ext cx="6858000" cy="12833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 : </a:t>
            </a:r>
            <a:r>
              <a:rPr lang="en-US" altLang="zh-TW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Shie</a:t>
            </a:r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-Yan Lee</a:t>
            </a:r>
          </a:p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2018/2/13</a:t>
            </a:r>
          </a:p>
          <a:p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7520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08138" y="365126"/>
            <a:ext cx="7886700" cy="1325563"/>
          </a:xfrm>
        </p:spPr>
        <p:txBody>
          <a:bodyPr/>
          <a:lstStyle/>
          <a:p>
            <a:r>
              <a:rPr lang="en-US" altLang="zh-TW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308138" y="1606549"/>
                <a:ext cx="8712037" cy="456359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TW" sz="3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Given two strings of the same length </a:t>
                </a:r>
                <a14:m>
                  <m:oMath xmlns:m="http://schemas.openxmlformats.org/officeDocument/2006/math">
                    <m:r>
                      <a:rPr lang="en-US" altLang="zh-TW" sz="32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US" altLang="zh-TW" sz="3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the non-overlapping inversion and transposition distance (also called mutation distance) between them is defined as the minimum number of non-overlapping inversion and transposition operations used to transform one string into the other. In this study, we present an </a:t>
                </a:r>
                <a14:m>
                  <m:oMath xmlns:m="http://schemas.openxmlformats.org/officeDocument/2006/math">
                    <m:r>
                      <a:rPr lang="en-US" altLang="zh-TW" sz="32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sz="32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TW" sz="32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p>
                    </m:sSup>
                    <m:r>
                      <a:rPr lang="en-US" altLang="zh-TW" sz="32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 and </a:t>
                </a:r>
                <a14:m>
                  <m:oMath xmlns:m="http://schemas.openxmlformats.org/officeDocument/2006/math">
                    <m:r>
                      <a:rPr lang="en-US" altLang="zh-TW" sz="32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sz="32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20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TW" sz="320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TW" sz="3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space </a:t>
                </a:r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algorithm to compute the mutation distance of two input strings.</a:t>
                </a:r>
                <a:endParaRPr lang="zh-TW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8138" y="1606549"/>
                <a:ext cx="8712037" cy="4563591"/>
              </a:xfrm>
              <a:blipFill rotWithShape="0">
                <a:blip r:embed="rId2"/>
                <a:stretch>
                  <a:fillRect l="-1819" t="-2941" r="-27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6294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08138" y="365126"/>
            <a:ext cx="5631323" cy="662461"/>
          </a:xfrm>
        </p:spPr>
        <p:txBody>
          <a:bodyPr>
            <a:normAutofit/>
          </a:bodyPr>
          <a:lstStyle/>
          <a:p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571223" y="1993446"/>
            <a:ext cx="6623615" cy="55023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811370" y="1976176"/>
                <a:ext cx="508088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20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 sz="3200" dirty="0"/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370" y="1976176"/>
                <a:ext cx="508088" cy="584775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/>
          <p:cNvSpPr/>
          <p:nvPr/>
        </p:nvSpPr>
        <p:spPr>
          <a:xfrm>
            <a:off x="1571223" y="4138866"/>
            <a:ext cx="6623615" cy="55023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/>
              <p:cNvSpPr txBox="1"/>
              <p:nvPr/>
            </p:nvSpPr>
            <p:spPr>
              <a:xfrm>
                <a:off x="811370" y="4121596"/>
                <a:ext cx="513859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2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3200" dirty="0"/>
              </a:p>
            </p:txBody>
          </p:sp>
        </mc:Choice>
        <mc:Fallback xmlns=""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370" y="4121596"/>
                <a:ext cx="513859" cy="58477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/>
              <p:cNvSpPr txBox="1"/>
              <p:nvPr/>
            </p:nvSpPr>
            <p:spPr>
              <a:xfrm>
                <a:off x="1571222" y="1674722"/>
                <a:ext cx="219612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2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sz="2200" dirty="0"/>
              </a:p>
            </p:txBody>
          </p:sp>
        </mc:Choice>
        <mc:Fallback xmlns=""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1222" y="1674722"/>
                <a:ext cx="219612" cy="338554"/>
              </a:xfrm>
              <a:prstGeom prst="rect">
                <a:avLst/>
              </a:prstGeom>
              <a:blipFill rotWithShape="0">
                <a:blip r:embed="rId4"/>
                <a:stretch>
                  <a:fillRect l="-30556" r="-27778" b="-7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/>
              <p:cNvSpPr txBox="1"/>
              <p:nvPr/>
            </p:nvSpPr>
            <p:spPr>
              <a:xfrm>
                <a:off x="7947519" y="1628555"/>
                <a:ext cx="261931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10" name="文字方塊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7519" y="1628555"/>
                <a:ext cx="261931" cy="384721"/>
              </a:xfrm>
              <a:prstGeom prst="rect">
                <a:avLst/>
              </a:prstGeom>
              <a:blipFill rotWithShape="0">
                <a:blip r:embed="rId5"/>
                <a:stretch>
                  <a:fillRect l="-16279" r="-1395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/>
              <p:cNvSpPr txBox="1"/>
              <p:nvPr/>
            </p:nvSpPr>
            <p:spPr>
              <a:xfrm>
                <a:off x="1562903" y="3804583"/>
                <a:ext cx="219612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2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sz="2200" dirty="0"/>
              </a:p>
            </p:txBody>
          </p:sp>
        </mc:Choice>
        <mc:Fallback xmlns="">
          <p:sp>
            <p:nvSpPr>
              <p:cNvPr id="11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2903" y="3804583"/>
                <a:ext cx="219612" cy="338554"/>
              </a:xfrm>
              <a:prstGeom prst="rect">
                <a:avLst/>
              </a:prstGeom>
              <a:blipFill rotWithShape="0">
                <a:blip r:embed="rId6"/>
                <a:stretch>
                  <a:fillRect l="-30556" r="-27778" b="-53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/>
              <p:cNvSpPr txBox="1"/>
              <p:nvPr/>
            </p:nvSpPr>
            <p:spPr>
              <a:xfrm>
                <a:off x="7932907" y="3758416"/>
                <a:ext cx="261931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12" name="文字方塊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2907" y="3758416"/>
                <a:ext cx="261931" cy="384721"/>
              </a:xfrm>
              <a:prstGeom prst="rect">
                <a:avLst/>
              </a:prstGeom>
              <a:blipFill rotWithShape="0">
                <a:blip r:embed="rId7"/>
                <a:stretch>
                  <a:fillRect l="-16279" r="-1395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矩形 12"/>
          <p:cNvSpPr/>
          <p:nvPr/>
        </p:nvSpPr>
        <p:spPr>
          <a:xfrm>
            <a:off x="2831450" y="1993445"/>
            <a:ext cx="1567012" cy="55023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/>
          <p:cNvSpPr/>
          <p:nvPr/>
        </p:nvSpPr>
        <p:spPr>
          <a:xfrm>
            <a:off x="2831450" y="4138033"/>
            <a:ext cx="1567012" cy="55023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/>
          <p:cNvSpPr/>
          <p:nvPr/>
        </p:nvSpPr>
        <p:spPr>
          <a:xfrm>
            <a:off x="5025058" y="1997148"/>
            <a:ext cx="1337105" cy="55023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/>
          <p:cNvSpPr/>
          <p:nvPr/>
        </p:nvSpPr>
        <p:spPr>
          <a:xfrm>
            <a:off x="5939461" y="4146579"/>
            <a:ext cx="1298467" cy="54667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/>
          <p:cNvSpPr/>
          <p:nvPr/>
        </p:nvSpPr>
        <p:spPr>
          <a:xfrm>
            <a:off x="6362164" y="1996189"/>
            <a:ext cx="875764" cy="55023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/>
          <p:cNvSpPr/>
          <p:nvPr/>
        </p:nvSpPr>
        <p:spPr>
          <a:xfrm>
            <a:off x="5063697" y="4143021"/>
            <a:ext cx="875764" cy="55023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" name="直線接點 19"/>
          <p:cNvCxnSpPr/>
          <p:nvPr/>
        </p:nvCxnSpPr>
        <p:spPr>
          <a:xfrm>
            <a:off x="2831450" y="2543680"/>
            <a:ext cx="1567012" cy="157791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線接點 20"/>
          <p:cNvCxnSpPr/>
          <p:nvPr/>
        </p:nvCxnSpPr>
        <p:spPr>
          <a:xfrm flipH="1">
            <a:off x="2831450" y="2560117"/>
            <a:ext cx="1567012" cy="157435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文字方塊 23"/>
          <p:cNvSpPr txBox="1"/>
          <p:nvPr/>
        </p:nvSpPr>
        <p:spPr>
          <a:xfrm>
            <a:off x="3097250" y="3155775"/>
            <a:ext cx="1035412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inversion</a:t>
            </a:r>
            <a:endParaRPr lang="zh-TW" altLang="en-US" dirty="0"/>
          </a:p>
        </p:txBody>
      </p:sp>
      <p:cxnSp>
        <p:nvCxnSpPr>
          <p:cNvPr id="25" name="直線接點 24"/>
          <p:cNvCxnSpPr>
            <a:stCxn id="15" idx="2"/>
            <a:endCxn id="16" idx="0"/>
          </p:cNvCxnSpPr>
          <p:nvPr/>
        </p:nvCxnSpPr>
        <p:spPr>
          <a:xfrm>
            <a:off x="5693611" y="2547383"/>
            <a:ext cx="895084" cy="1599196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線接點 25"/>
          <p:cNvCxnSpPr>
            <a:stCxn id="17" idx="2"/>
            <a:endCxn id="18" idx="0"/>
          </p:cNvCxnSpPr>
          <p:nvPr/>
        </p:nvCxnSpPr>
        <p:spPr>
          <a:xfrm flipH="1">
            <a:off x="5501579" y="2546424"/>
            <a:ext cx="1298467" cy="1596597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文字方塊 26"/>
          <p:cNvSpPr txBox="1"/>
          <p:nvPr/>
        </p:nvSpPr>
        <p:spPr>
          <a:xfrm>
            <a:off x="5590475" y="3169222"/>
            <a:ext cx="1471941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transposition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字方塊 36"/>
              <p:cNvSpPr txBox="1"/>
              <p:nvPr/>
            </p:nvSpPr>
            <p:spPr>
              <a:xfrm>
                <a:off x="3328403" y="5068718"/>
                <a:ext cx="573106" cy="4655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80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37" name="文字方塊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8403" y="5068718"/>
                <a:ext cx="573106" cy="465577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字方塊 37"/>
              <p:cNvSpPr txBox="1"/>
              <p:nvPr/>
            </p:nvSpPr>
            <p:spPr>
              <a:xfrm>
                <a:off x="2805604" y="1618781"/>
                <a:ext cx="183320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38" name="文字方塊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5604" y="1618781"/>
                <a:ext cx="183320" cy="384721"/>
              </a:xfrm>
              <a:prstGeom prst="rect">
                <a:avLst/>
              </a:prstGeom>
              <a:blipFill rotWithShape="0">
                <a:blip r:embed="rId9"/>
                <a:stretch>
                  <a:fillRect l="-40000" r="-33333" b="-63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字方塊 38"/>
              <p:cNvSpPr txBox="1"/>
              <p:nvPr/>
            </p:nvSpPr>
            <p:spPr>
              <a:xfrm>
                <a:off x="4210471" y="1624076"/>
                <a:ext cx="193002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39" name="文字方塊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0471" y="1624076"/>
                <a:ext cx="193002" cy="384721"/>
              </a:xfrm>
              <a:prstGeom prst="rect">
                <a:avLst/>
              </a:prstGeom>
              <a:blipFill rotWithShape="0">
                <a:blip r:embed="rId10"/>
                <a:stretch>
                  <a:fillRect l="-58065" r="-54839" b="-312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字方塊 39"/>
              <p:cNvSpPr txBox="1"/>
              <p:nvPr/>
            </p:nvSpPr>
            <p:spPr>
              <a:xfrm>
                <a:off x="2826878" y="3726381"/>
                <a:ext cx="183320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40" name="文字方塊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6878" y="3726381"/>
                <a:ext cx="183320" cy="384721"/>
              </a:xfrm>
              <a:prstGeom prst="rect">
                <a:avLst/>
              </a:prstGeom>
              <a:blipFill rotWithShape="0">
                <a:blip r:embed="rId11"/>
                <a:stretch>
                  <a:fillRect l="-40000" r="-33333" b="-63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字方塊 40"/>
              <p:cNvSpPr txBox="1"/>
              <p:nvPr/>
            </p:nvSpPr>
            <p:spPr>
              <a:xfrm>
                <a:off x="4231745" y="3731676"/>
                <a:ext cx="193002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41" name="文字方塊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1745" y="3731676"/>
                <a:ext cx="193002" cy="384721"/>
              </a:xfrm>
              <a:prstGeom prst="rect">
                <a:avLst/>
              </a:prstGeom>
              <a:blipFill rotWithShape="0">
                <a:blip r:embed="rId12"/>
                <a:stretch>
                  <a:fillRect l="-53125" r="-53125" b="-3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字方塊 41"/>
              <p:cNvSpPr txBox="1"/>
              <p:nvPr/>
            </p:nvSpPr>
            <p:spPr>
              <a:xfrm>
                <a:off x="5030069" y="1618781"/>
                <a:ext cx="255583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42" name="文字方塊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0069" y="1618781"/>
                <a:ext cx="255583" cy="384721"/>
              </a:xfrm>
              <a:prstGeom prst="rect">
                <a:avLst/>
              </a:prstGeom>
              <a:blipFill rotWithShape="0">
                <a:blip r:embed="rId13"/>
                <a:stretch>
                  <a:fillRect l="-28571" r="-28571" b="-2381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字方塊 42"/>
              <p:cNvSpPr txBox="1"/>
              <p:nvPr/>
            </p:nvSpPr>
            <p:spPr>
              <a:xfrm>
                <a:off x="6358345" y="1616887"/>
                <a:ext cx="254942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43" name="文字方塊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8345" y="1616887"/>
                <a:ext cx="254942" cy="384721"/>
              </a:xfrm>
              <a:prstGeom prst="rect">
                <a:avLst/>
              </a:prstGeom>
              <a:blipFill rotWithShape="0">
                <a:blip r:embed="rId14"/>
                <a:stretch>
                  <a:fillRect l="-28571" r="-26190" b="-253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字方塊 43"/>
              <p:cNvSpPr txBox="1"/>
              <p:nvPr/>
            </p:nvSpPr>
            <p:spPr>
              <a:xfrm>
                <a:off x="7062416" y="1640251"/>
                <a:ext cx="231474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44" name="文字方塊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2416" y="1640251"/>
                <a:ext cx="231474" cy="384721"/>
              </a:xfrm>
              <a:prstGeom prst="rect">
                <a:avLst/>
              </a:prstGeom>
              <a:blipFill rotWithShape="0">
                <a:blip r:embed="rId15"/>
                <a:stretch>
                  <a:fillRect l="-18421" r="-1578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字方塊 44"/>
              <p:cNvSpPr txBox="1"/>
              <p:nvPr/>
            </p:nvSpPr>
            <p:spPr>
              <a:xfrm>
                <a:off x="5060199" y="3739247"/>
                <a:ext cx="255583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45" name="文字方塊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0199" y="3739247"/>
                <a:ext cx="255583" cy="384721"/>
              </a:xfrm>
              <a:prstGeom prst="rect">
                <a:avLst/>
              </a:prstGeom>
              <a:blipFill rotWithShape="0">
                <a:blip r:embed="rId16"/>
                <a:stretch>
                  <a:fillRect l="-28571" r="-28571" b="-2343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字方塊 46"/>
              <p:cNvSpPr txBox="1"/>
              <p:nvPr/>
            </p:nvSpPr>
            <p:spPr>
              <a:xfrm>
                <a:off x="7076070" y="3752479"/>
                <a:ext cx="231474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47" name="文字方塊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6070" y="3752479"/>
                <a:ext cx="231474" cy="384721"/>
              </a:xfrm>
              <a:prstGeom prst="rect">
                <a:avLst/>
              </a:prstGeom>
              <a:blipFill rotWithShape="0">
                <a:blip r:embed="rId17"/>
                <a:stretch>
                  <a:fillRect l="-18421" r="-1578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字方塊 47"/>
              <p:cNvSpPr txBox="1"/>
              <p:nvPr/>
            </p:nvSpPr>
            <p:spPr>
              <a:xfrm>
                <a:off x="5939461" y="5065160"/>
                <a:ext cx="851836" cy="46410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80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48" name="文字方塊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9461" y="5065160"/>
                <a:ext cx="851836" cy="464101"/>
              </a:xfrm>
              <a:prstGeom prst="rect">
                <a:avLst/>
              </a:prstGeom>
              <a:blipFill rotWithShape="0"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" name="圖片 50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396590" y="5706158"/>
            <a:ext cx="4665826" cy="1131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629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08138" y="365126"/>
            <a:ext cx="4799321" cy="887025"/>
          </a:xfrm>
        </p:spPr>
        <p:txBody>
          <a:bodyPr>
            <a:normAutofit/>
          </a:bodyPr>
          <a:lstStyle/>
          <a:p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Mutation fragment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/>
              <p:cNvSpPr txBox="1"/>
              <p:nvPr/>
            </p:nvSpPr>
            <p:spPr>
              <a:xfrm>
                <a:off x="1029730" y="1309816"/>
                <a:ext cx="7350872" cy="11167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TW" sz="3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tuple</a:t>
                </a:r>
                <a14:m>
                  <m:oMath xmlns:m="http://schemas.openxmlformats.org/officeDocument/2006/math">
                    <m:r>
                      <a:rPr lang="en-US" altLang="zh-TW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altLang="zh-TW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TW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altLang="zh-TW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zh-TW" altLang="en-US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r>
                      <a:rPr lang="en-US" altLang="zh-TW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TW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TW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))</m:t>
                    </m:r>
                  </m:oMath>
                </a14:m>
                <a:r>
                  <a:rPr lang="zh-TW" altLang="en-US" sz="3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means that </a:t>
                </a:r>
                <a14:m>
                  <m:oMath xmlns:m="http://schemas.openxmlformats.org/officeDocument/2006/math">
                    <m:r>
                      <a:rPr lang="zh-TW" altLang="en-US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r>
                      <a:rPr lang="en-US" altLang="zh-TW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TW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TW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sz="3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moved into the position </a:t>
                </a:r>
                <a14:m>
                  <m:oMath xmlns:m="http://schemas.openxmlformats.org/officeDocument/2006/math">
                    <m:r>
                      <a:rPr lang="en-US" altLang="zh-TW" sz="32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en-US" altLang="zh-TW" sz="3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 </a:t>
                </a:r>
                <a14:m>
                  <m:oMath xmlns:m="http://schemas.openxmlformats.org/officeDocument/2006/math">
                    <m:r>
                      <a:rPr lang="en-US" altLang="zh-TW" sz="32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r>
                  <a:rPr lang="en-US" altLang="zh-TW" sz="3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TW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文字方塊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730" y="1309816"/>
                <a:ext cx="7350872" cy="1116781"/>
              </a:xfrm>
              <a:prstGeom prst="rect">
                <a:avLst/>
              </a:prstGeom>
              <a:blipFill rotWithShape="0">
                <a:blip r:embed="rId2"/>
                <a:stretch>
                  <a:fillRect l="-2156" t="-7650" b="-1694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矩形 34"/>
          <p:cNvSpPr/>
          <p:nvPr/>
        </p:nvSpPr>
        <p:spPr>
          <a:xfrm>
            <a:off x="1579461" y="3163749"/>
            <a:ext cx="6623615" cy="55023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字方塊 35"/>
              <p:cNvSpPr txBox="1"/>
              <p:nvPr/>
            </p:nvSpPr>
            <p:spPr>
              <a:xfrm>
                <a:off x="819608" y="3146479"/>
                <a:ext cx="508088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20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 sz="3200" dirty="0"/>
              </a:p>
            </p:txBody>
          </p:sp>
        </mc:Choice>
        <mc:Fallback xmlns="">
          <p:sp>
            <p:nvSpPr>
              <p:cNvPr id="36" name="文字方塊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608" y="3146479"/>
                <a:ext cx="508088" cy="58477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矩形 45"/>
          <p:cNvSpPr/>
          <p:nvPr/>
        </p:nvSpPr>
        <p:spPr>
          <a:xfrm>
            <a:off x="1579461" y="5012605"/>
            <a:ext cx="6623615" cy="55023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字方塊 48"/>
              <p:cNvSpPr txBox="1"/>
              <p:nvPr/>
            </p:nvSpPr>
            <p:spPr>
              <a:xfrm>
                <a:off x="819608" y="4995335"/>
                <a:ext cx="513859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2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3200" dirty="0"/>
              </a:p>
            </p:txBody>
          </p:sp>
        </mc:Choice>
        <mc:Fallback xmlns="">
          <p:sp>
            <p:nvSpPr>
              <p:cNvPr id="49" name="文字方塊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608" y="4995335"/>
                <a:ext cx="513859" cy="58477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字方塊 49"/>
              <p:cNvSpPr txBox="1"/>
              <p:nvPr/>
            </p:nvSpPr>
            <p:spPr>
              <a:xfrm>
                <a:off x="1579460" y="2845025"/>
                <a:ext cx="219612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2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sz="2200" dirty="0"/>
              </a:p>
            </p:txBody>
          </p:sp>
        </mc:Choice>
        <mc:Fallback xmlns="">
          <p:sp>
            <p:nvSpPr>
              <p:cNvPr id="50" name="文字方塊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9460" y="2845025"/>
                <a:ext cx="219612" cy="338554"/>
              </a:xfrm>
              <a:prstGeom prst="rect">
                <a:avLst/>
              </a:prstGeom>
              <a:blipFill rotWithShape="0">
                <a:blip r:embed="rId5"/>
                <a:stretch>
                  <a:fillRect l="-30556" r="-27778" b="-7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字方塊 50"/>
              <p:cNvSpPr txBox="1"/>
              <p:nvPr/>
            </p:nvSpPr>
            <p:spPr>
              <a:xfrm>
                <a:off x="7955757" y="2798858"/>
                <a:ext cx="261931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51" name="文字方塊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5757" y="2798858"/>
                <a:ext cx="261931" cy="384721"/>
              </a:xfrm>
              <a:prstGeom prst="rect">
                <a:avLst/>
              </a:prstGeom>
              <a:blipFill rotWithShape="0">
                <a:blip r:embed="rId6"/>
                <a:stretch>
                  <a:fillRect l="-16279" r="-1395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字方塊 51"/>
              <p:cNvSpPr txBox="1"/>
              <p:nvPr/>
            </p:nvSpPr>
            <p:spPr>
              <a:xfrm>
                <a:off x="1571141" y="4678322"/>
                <a:ext cx="219612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2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sz="2200" dirty="0"/>
              </a:p>
            </p:txBody>
          </p:sp>
        </mc:Choice>
        <mc:Fallback xmlns="">
          <p:sp>
            <p:nvSpPr>
              <p:cNvPr id="52" name="文字方塊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1141" y="4678322"/>
                <a:ext cx="219612" cy="338554"/>
              </a:xfrm>
              <a:prstGeom prst="rect">
                <a:avLst/>
              </a:prstGeom>
              <a:blipFill rotWithShape="0">
                <a:blip r:embed="rId7"/>
                <a:stretch>
                  <a:fillRect l="-30556" r="-27778" b="-53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文字方塊 52"/>
              <p:cNvSpPr txBox="1"/>
              <p:nvPr/>
            </p:nvSpPr>
            <p:spPr>
              <a:xfrm>
                <a:off x="7941145" y="4632155"/>
                <a:ext cx="261931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53" name="文字方塊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1145" y="4632155"/>
                <a:ext cx="261931" cy="384721"/>
              </a:xfrm>
              <a:prstGeom prst="rect">
                <a:avLst/>
              </a:prstGeom>
              <a:blipFill rotWithShape="0">
                <a:blip r:embed="rId8"/>
                <a:stretch>
                  <a:fillRect l="-16279" r="-1395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矩形 54"/>
          <p:cNvSpPr/>
          <p:nvPr/>
        </p:nvSpPr>
        <p:spPr>
          <a:xfrm>
            <a:off x="2752598" y="5012605"/>
            <a:ext cx="348355" cy="55023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文字方塊 65"/>
              <p:cNvSpPr txBox="1"/>
              <p:nvPr/>
            </p:nvSpPr>
            <p:spPr>
              <a:xfrm>
                <a:off x="2813842" y="2789084"/>
                <a:ext cx="183320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66" name="文字方塊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3842" y="2789084"/>
                <a:ext cx="183320" cy="384721"/>
              </a:xfrm>
              <a:prstGeom prst="rect">
                <a:avLst/>
              </a:prstGeom>
              <a:blipFill rotWithShape="0">
                <a:blip r:embed="rId9"/>
                <a:stretch>
                  <a:fillRect l="-40000" r="-33333" b="-63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文字方塊 66"/>
              <p:cNvSpPr txBox="1"/>
              <p:nvPr/>
            </p:nvSpPr>
            <p:spPr>
              <a:xfrm>
                <a:off x="4218709" y="2794379"/>
                <a:ext cx="193002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67" name="文字方塊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8709" y="2794379"/>
                <a:ext cx="193002" cy="384721"/>
              </a:xfrm>
              <a:prstGeom prst="rect">
                <a:avLst/>
              </a:prstGeom>
              <a:blipFill rotWithShape="0">
                <a:blip r:embed="rId10"/>
                <a:stretch>
                  <a:fillRect l="-53125" r="-53125" b="-312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文字方塊 67"/>
              <p:cNvSpPr txBox="1"/>
              <p:nvPr/>
            </p:nvSpPr>
            <p:spPr>
              <a:xfrm>
                <a:off x="2835116" y="4600120"/>
                <a:ext cx="183320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68" name="文字方塊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5116" y="4600120"/>
                <a:ext cx="183320" cy="384721"/>
              </a:xfrm>
              <a:prstGeom prst="rect">
                <a:avLst/>
              </a:prstGeom>
              <a:blipFill rotWithShape="0">
                <a:blip r:embed="rId11"/>
                <a:stretch>
                  <a:fillRect l="-40000" r="-33333" b="-63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文字方塊 68"/>
              <p:cNvSpPr txBox="1"/>
              <p:nvPr/>
            </p:nvSpPr>
            <p:spPr>
              <a:xfrm>
                <a:off x="4239983" y="4605415"/>
                <a:ext cx="193002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69" name="文字方塊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9983" y="4605415"/>
                <a:ext cx="193002" cy="384721"/>
              </a:xfrm>
              <a:prstGeom prst="rect">
                <a:avLst/>
              </a:prstGeom>
              <a:blipFill rotWithShape="0">
                <a:blip r:embed="rId12"/>
                <a:stretch>
                  <a:fillRect l="-58065" r="-54839" b="-312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矩形 74"/>
          <p:cNvSpPr/>
          <p:nvPr/>
        </p:nvSpPr>
        <p:spPr>
          <a:xfrm>
            <a:off x="4088156" y="3163748"/>
            <a:ext cx="348355" cy="55023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9" name="直線單箭頭接點 18"/>
          <p:cNvCxnSpPr>
            <a:stCxn id="75" idx="2"/>
            <a:endCxn id="55" idx="0"/>
          </p:cNvCxnSpPr>
          <p:nvPr/>
        </p:nvCxnSpPr>
        <p:spPr>
          <a:xfrm flipH="1">
            <a:off x="2926776" y="3713983"/>
            <a:ext cx="1335558" cy="12986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144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08138" y="365126"/>
            <a:ext cx="4799321" cy="887025"/>
          </a:xfrm>
        </p:spPr>
        <p:txBody>
          <a:bodyPr>
            <a:normAutofit/>
          </a:bodyPr>
          <a:lstStyle/>
          <a:p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Mutation fragment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/>
              <p:cNvSpPr txBox="1"/>
              <p:nvPr/>
            </p:nvSpPr>
            <p:spPr>
              <a:xfrm>
                <a:off x="1029730" y="1309816"/>
                <a:ext cx="7350872" cy="11167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TW" sz="3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tuple</a:t>
                </a:r>
                <a14:m>
                  <m:oMath xmlns:m="http://schemas.openxmlformats.org/officeDocument/2006/math">
                    <m:r>
                      <a:rPr lang="en-US" altLang="zh-TW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altLang="zh-TW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TW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altLang="zh-TW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TW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TW" altLang="en-US" sz="3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means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TW" altLang="en-US" sz="3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moved into the position </a:t>
                </a:r>
                <a14:m>
                  <m:oMath xmlns:m="http://schemas.openxmlformats.org/officeDocument/2006/math">
                    <m:r>
                      <a:rPr lang="en-US" altLang="zh-TW" sz="32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en-US" altLang="zh-TW" sz="3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 </a:t>
                </a:r>
                <a14:m>
                  <m:oMath xmlns:m="http://schemas.openxmlformats.org/officeDocument/2006/math">
                    <m:r>
                      <a:rPr lang="en-US" altLang="zh-TW" sz="32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r>
                  <a:rPr lang="en-US" altLang="zh-TW" sz="3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TW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文字方塊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730" y="1309816"/>
                <a:ext cx="7350872" cy="1116781"/>
              </a:xfrm>
              <a:prstGeom prst="rect">
                <a:avLst/>
              </a:prstGeom>
              <a:blipFill rotWithShape="0">
                <a:blip r:embed="rId2"/>
                <a:stretch>
                  <a:fillRect l="-2156" t="-7650" r="-3317" b="-1694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矩形 34"/>
          <p:cNvSpPr/>
          <p:nvPr/>
        </p:nvSpPr>
        <p:spPr>
          <a:xfrm>
            <a:off x="1579461" y="3163749"/>
            <a:ext cx="6623615" cy="55023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字方塊 35"/>
              <p:cNvSpPr txBox="1"/>
              <p:nvPr/>
            </p:nvSpPr>
            <p:spPr>
              <a:xfrm>
                <a:off x="819608" y="3146479"/>
                <a:ext cx="508088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20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 sz="3200" dirty="0"/>
              </a:p>
            </p:txBody>
          </p:sp>
        </mc:Choice>
        <mc:Fallback xmlns="">
          <p:sp>
            <p:nvSpPr>
              <p:cNvPr id="36" name="文字方塊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608" y="3146479"/>
                <a:ext cx="508088" cy="58477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矩形 45"/>
          <p:cNvSpPr/>
          <p:nvPr/>
        </p:nvSpPr>
        <p:spPr>
          <a:xfrm>
            <a:off x="1579461" y="5012605"/>
            <a:ext cx="6623615" cy="55023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字方塊 48"/>
              <p:cNvSpPr txBox="1"/>
              <p:nvPr/>
            </p:nvSpPr>
            <p:spPr>
              <a:xfrm>
                <a:off x="819608" y="4995335"/>
                <a:ext cx="513859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2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3200" dirty="0"/>
              </a:p>
            </p:txBody>
          </p:sp>
        </mc:Choice>
        <mc:Fallback xmlns="">
          <p:sp>
            <p:nvSpPr>
              <p:cNvPr id="49" name="文字方塊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608" y="4995335"/>
                <a:ext cx="513859" cy="58477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字方塊 49"/>
              <p:cNvSpPr txBox="1"/>
              <p:nvPr/>
            </p:nvSpPr>
            <p:spPr>
              <a:xfrm>
                <a:off x="1579460" y="2845025"/>
                <a:ext cx="219612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2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sz="2200" dirty="0"/>
              </a:p>
            </p:txBody>
          </p:sp>
        </mc:Choice>
        <mc:Fallback xmlns="">
          <p:sp>
            <p:nvSpPr>
              <p:cNvPr id="50" name="文字方塊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9460" y="2845025"/>
                <a:ext cx="219612" cy="338554"/>
              </a:xfrm>
              <a:prstGeom prst="rect">
                <a:avLst/>
              </a:prstGeom>
              <a:blipFill rotWithShape="0">
                <a:blip r:embed="rId5"/>
                <a:stretch>
                  <a:fillRect l="-30556" r="-27778" b="-7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字方塊 50"/>
              <p:cNvSpPr txBox="1"/>
              <p:nvPr/>
            </p:nvSpPr>
            <p:spPr>
              <a:xfrm>
                <a:off x="7955757" y="2798858"/>
                <a:ext cx="261931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51" name="文字方塊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5757" y="2798858"/>
                <a:ext cx="261931" cy="384721"/>
              </a:xfrm>
              <a:prstGeom prst="rect">
                <a:avLst/>
              </a:prstGeom>
              <a:blipFill rotWithShape="0">
                <a:blip r:embed="rId6"/>
                <a:stretch>
                  <a:fillRect l="-16279" r="-1395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字方塊 51"/>
              <p:cNvSpPr txBox="1"/>
              <p:nvPr/>
            </p:nvSpPr>
            <p:spPr>
              <a:xfrm>
                <a:off x="1571141" y="4678322"/>
                <a:ext cx="219612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2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sz="2200" dirty="0"/>
              </a:p>
            </p:txBody>
          </p:sp>
        </mc:Choice>
        <mc:Fallback xmlns="">
          <p:sp>
            <p:nvSpPr>
              <p:cNvPr id="52" name="文字方塊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1141" y="4678322"/>
                <a:ext cx="219612" cy="338554"/>
              </a:xfrm>
              <a:prstGeom prst="rect">
                <a:avLst/>
              </a:prstGeom>
              <a:blipFill rotWithShape="0">
                <a:blip r:embed="rId7"/>
                <a:stretch>
                  <a:fillRect l="-30556" r="-27778" b="-53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文字方塊 52"/>
              <p:cNvSpPr txBox="1"/>
              <p:nvPr/>
            </p:nvSpPr>
            <p:spPr>
              <a:xfrm>
                <a:off x="7941145" y="4632155"/>
                <a:ext cx="261931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53" name="文字方塊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1145" y="4632155"/>
                <a:ext cx="261931" cy="384721"/>
              </a:xfrm>
              <a:prstGeom prst="rect">
                <a:avLst/>
              </a:prstGeom>
              <a:blipFill rotWithShape="0">
                <a:blip r:embed="rId8"/>
                <a:stretch>
                  <a:fillRect l="-16279" r="-1395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矩形 54"/>
          <p:cNvSpPr/>
          <p:nvPr/>
        </p:nvSpPr>
        <p:spPr>
          <a:xfrm>
            <a:off x="2752598" y="5012605"/>
            <a:ext cx="348355" cy="55023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文字方塊 65"/>
              <p:cNvSpPr txBox="1"/>
              <p:nvPr/>
            </p:nvSpPr>
            <p:spPr>
              <a:xfrm>
                <a:off x="2813842" y="2789084"/>
                <a:ext cx="183320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66" name="文字方塊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3842" y="2789084"/>
                <a:ext cx="183320" cy="384721"/>
              </a:xfrm>
              <a:prstGeom prst="rect">
                <a:avLst/>
              </a:prstGeom>
              <a:blipFill rotWithShape="0">
                <a:blip r:embed="rId9"/>
                <a:stretch>
                  <a:fillRect l="-40000" r="-33333" b="-63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文字方塊 66"/>
              <p:cNvSpPr txBox="1"/>
              <p:nvPr/>
            </p:nvSpPr>
            <p:spPr>
              <a:xfrm>
                <a:off x="4218709" y="2794379"/>
                <a:ext cx="193002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67" name="文字方塊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8709" y="2794379"/>
                <a:ext cx="193002" cy="384721"/>
              </a:xfrm>
              <a:prstGeom prst="rect">
                <a:avLst/>
              </a:prstGeom>
              <a:blipFill rotWithShape="0">
                <a:blip r:embed="rId10"/>
                <a:stretch>
                  <a:fillRect l="-53125" r="-53125" b="-312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文字方塊 67"/>
              <p:cNvSpPr txBox="1"/>
              <p:nvPr/>
            </p:nvSpPr>
            <p:spPr>
              <a:xfrm>
                <a:off x="2835116" y="4600120"/>
                <a:ext cx="183320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68" name="文字方塊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5116" y="4600120"/>
                <a:ext cx="183320" cy="384721"/>
              </a:xfrm>
              <a:prstGeom prst="rect">
                <a:avLst/>
              </a:prstGeom>
              <a:blipFill rotWithShape="0">
                <a:blip r:embed="rId11"/>
                <a:stretch>
                  <a:fillRect l="-40000" r="-33333" b="-63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文字方塊 68"/>
              <p:cNvSpPr txBox="1"/>
              <p:nvPr/>
            </p:nvSpPr>
            <p:spPr>
              <a:xfrm>
                <a:off x="4239983" y="4605415"/>
                <a:ext cx="193002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69" name="文字方塊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9983" y="4605415"/>
                <a:ext cx="193002" cy="384721"/>
              </a:xfrm>
              <a:prstGeom prst="rect">
                <a:avLst/>
              </a:prstGeom>
              <a:blipFill rotWithShape="0">
                <a:blip r:embed="rId12"/>
                <a:stretch>
                  <a:fillRect l="-58065" r="-54839" b="-312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矩形 74"/>
          <p:cNvSpPr/>
          <p:nvPr/>
        </p:nvSpPr>
        <p:spPr>
          <a:xfrm>
            <a:off x="4088156" y="3163748"/>
            <a:ext cx="348355" cy="55023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9" name="直線單箭頭接點 18"/>
          <p:cNvCxnSpPr>
            <a:stCxn id="75" idx="2"/>
            <a:endCxn id="55" idx="0"/>
          </p:cNvCxnSpPr>
          <p:nvPr/>
        </p:nvCxnSpPr>
        <p:spPr>
          <a:xfrm flipH="1">
            <a:off x="2926776" y="3713983"/>
            <a:ext cx="1335558" cy="12986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0277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>
              <a:xfrm>
                <a:off x="308138" y="365126"/>
                <a:ext cx="7558997" cy="887025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sz="4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Mutation tables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4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4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zh-TW" sz="4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TW" altLang="en-US" sz="4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4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4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4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zh-TW" sz="4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zh-TW" altLang="en-US" sz="4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308138" y="365126"/>
                <a:ext cx="7558997" cy="887025"/>
              </a:xfrm>
              <a:blipFill rotWithShape="0">
                <a:blip r:embed="rId2"/>
                <a:stretch>
                  <a:fillRect l="-2903" t="-5517" b="-158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/>
              <p:cNvSpPr txBox="1"/>
              <p:nvPr/>
            </p:nvSpPr>
            <p:spPr>
              <a:xfrm>
                <a:off x="881449" y="1252151"/>
                <a:ext cx="2193549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30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3000" i="1" dirty="0" smtClean="0">
                          <a:latin typeface="Cambria Math" panose="02040503050406030204" pitchFamily="18" charset="0"/>
                        </a:rPr>
                        <m:t>𝑇𝐴𝐺𝐴𝐶</m:t>
                      </m:r>
                    </m:oMath>
                  </m:oMathPara>
                </a14:m>
                <a:endParaRPr lang="zh-TW" altLang="en-US" sz="3000" dirty="0"/>
              </a:p>
            </p:txBody>
          </p:sp>
        </mc:Choice>
        <mc:Fallback xmlns=""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449" y="1252151"/>
                <a:ext cx="2193549" cy="553998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圖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459" y="1806149"/>
            <a:ext cx="8155460" cy="4887021"/>
          </a:xfrm>
          <a:prstGeom prst="rect">
            <a:avLst/>
          </a:prstGeom>
        </p:spPr>
      </p:pic>
      <p:cxnSp>
        <p:nvCxnSpPr>
          <p:cNvPr id="7" name="直線單箭頭接點 6"/>
          <p:cNvCxnSpPr/>
          <p:nvPr/>
        </p:nvCxnSpPr>
        <p:spPr>
          <a:xfrm flipV="1">
            <a:off x="2257168" y="2421924"/>
            <a:ext cx="3220994" cy="96382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/>
              <p:cNvSpPr txBox="1"/>
              <p:nvPr/>
            </p:nvSpPr>
            <p:spPr>
              <a:xfrm>
                <a:off x="4326636" y="1340572"/>
                <a:ext cx="2262863" cy="44980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80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1,3</m:t>
                          </m:r>
                        </m:sub>
                      </m:sSub>
                      <m:d>
                        <m:d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𝐶𝑇𝐴</m:t>
                      </m:r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25" name="文字方塊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6636" y="1340572"/>
                <a:ext cx="2262863" cy="449803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0883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>
              <a:xfrm>
                <a:off x="308138" y="365126"/>
                <a:ext cx="7558997" cy="887025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sz="4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Mutation tables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4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4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zh-TW" sz="4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TW" altLang="en-US" sz="4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4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4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4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zh-TW" sz="4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zh-TW" altLang="en-US" sz="4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308138" y="365126"/>
                <a:ext cx="7558997" cy="887025"/>
              </a:xfrm>
              <a:blipFill rotWithShape="0">
                <a:blip r:embed="rId2"/>
                <a:stretch>
                  <a:fillRect l="-2903" t="-5517" b="-158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/>
              <p:cNvSpPr txBox="1"/>
              <p:nvPr/>
            </p:nvSpPr>
            <p:spPr>
              <a:xfrm>
                <a:off x="881449" y="1252151"/>
                <a:ext cx="2193549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30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3000" i="1" dirty="0" smtClean="0">
                          <a:latin typeface="Cambria Math" panose="02040503050406030204" pitchFamily="18" charset="0"/>
                        </a:rPr>
                        <m:t>𝑇𝐴𝐺𝐴𝐶</m:t>
                      </m:r>
                    </m:oMath>
                  </m:oMathPara>
                </a14:m>
                <a:endParaRPr lang="zh-TW" altLang="en-US" sz="3000" dirty="0"/>
              </a:p>
            </p:txBody>
          </p:sp>
        </mc:Choice>
        <mc:Fallback xmlns=""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449" y="1252151"/>
                <a:ext cx="2193549" cy="553998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圖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459" y="1806149"/>
            <a:ext cx="8155460" cy="4887021"/>
          </a:xfrm>
          <a:prstGeom prst="rect">
            <a:avLst/>
          </a:prstGeom>
        </p:spPr>
      </p:pic>
      <p:cxnSp>
        <p:nvCxnSpPr>
          <p:cNvPr id="8" name="直線單箭頭接點 7"/>
          <p:cNvCxnSpPr/>
          <p:nvPr/>
        </p:nvCxnSpPr>
        <p:spPr>
          <a:xfrm>
            <a:off x="5123935" y="4934466"/>
            <a:ext cx="3270422" cy="75788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/>
              <p:cNvSpPr txBox="1"/>
              <p:nvPr/>
            </p:nvSpPr>
            <p:spPr>
              <a:xfrm>
                <a:off x="4326636" y="1340572"/>
                <a:ext cx="2911310" cy="44980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800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1,5,4</m:t>
                          </m:r>
                        </m:sub>
                      </m:sSub>
                      <m:d>
                        <m:d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𝐴𝐶𝑇𝐴𝐺</m:t>
                      </m:r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10" name="文字方塊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6636" y="1340572"/>
                <a:ext cx="2911310" cy="449803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直線單箭頭接點 10"/>
          <p:cNvCxnSpPr/>
          <p:nvPr/>
        </p:nvCxnSpPr>
        <p:spPr>
          <a:xfrm>
            <a:off x="2211860" y="5813818"/>
            <a:ext cx="1875776" cy="61169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6569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08138" y="365126"/>
            <a:ext cx="8072464" cy="887025"/>
          </a:xfrm>
        </p:spPr>
        <p:txBody>
          <a:bodyPr>
            <a:normAutofit/>
          </a:bodyPr>
          <a:lstStyle/>
          <a:p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Decompose the inversion operation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/>
              <p:cNvSpPr txBox="1"/>
              <p:nvPr/>
            </p:nvSpPr>
            <p:spPr>
              <a:xfrm>
                <a:off x="670603" y="1282885"/>
                <a:ext cx="8473397" cy="32182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When an inversion operation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32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3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TW" altLang="en-US" sz="3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applies on a string </a:t>
                </a:r>
                <a14:m>
                  <m:oMath xmlns:m="http://schemas.openxmlformats.org/officeDocument/2006/math">
                    <m:r>
                      <a:rPr lang="en-US" altLang="zh-TW" sz="32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altLang="zh-TW" sz="3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we can decompose it into </a:t>
                </a:r>
                <a14:m>
                  <m:oMath xmlns:m="http://schemas.openxmlformats.org/officeDocument/2006/math">
                    <m:r>
                      <a:rPr lang="en-US" altLang="zh-TW" sz="32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altLang="zh-TW" sz="32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TW" sz="32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altLang="zh-TW" sz="32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+1</m:t>
                    </m:r>
                  </m:oMath>
                </a14:m>
                <a:r>
                  <a:rPr lang="en-US" altLang="zh-TW" sz="3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mutation fragments </a:t>
                </a:r>
                <a14:m>
                  <m:oMath xmlns:m="http://schemas.openxmlformats.org/officeDocument/2006/math">
                    <m:r>
                      <a:rPr lang="en-US" altLang="zh-TW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ℱ</m:t>
                    </m:r>
                    <m:d>
                      <m:dPr>
                        <m:ctrlPr>
                          <a:rPr lang="en-US" altLang="zh-TW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TW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altLang="zh-TW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</m:d>
                    <m:r>
                      <a:rPr lang="en-US" altLang="zh-TW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altLang="zh-TW" sz="3200" b="0" dirty="0" smtClean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endParaRPr lang="en-US" altLang="zh-TW" sz="32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zh-TW" sz="3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ℱ</m:t>
                    </m:r>
                    <m:d>
                      <m:dPr>
                        <m:ctrlPr>
                          <a:rPr lang="en-US" altLang="zh-TW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TW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r>
                              <a:rPr lang="en-US" altLang="zh-TW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US" altLang="zh-TW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TW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altLang="zh-TW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</m:d>
                    <m:r>
                      <a:rPr lang="en-US" altLang="zh-TW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=(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zh-TW" altLang="en-US" sz="3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d>
                      <m:dPr>
                        <m:ctrlPr>
                          <a:rPr lang="en-US" altLang="zh-TW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altLang="zh-TW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TW" altLang="en-US" sz="3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altLang="zh-TW" sz="32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3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3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i</m:t>
                    </m:r>
                    <m:r>
                      <a:rPr lang="en-US" altLang="zh-TW" sz="3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altLang="zh-TW" sz="3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</m:oMath>
                </a14:m>
                <a:endParaRPr lang="zh-TW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文字方塊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603" y="1282885"/>
                <a:ext cx="8473397" cy="3218253"/>
              </a:xfrm>
              <a:prstGeom prst="rect">
                <a:avLst/>
              </a:prstGeom>
              <a:blipFill rotWithShape="0">
                <a:blip r:embed="rId2"/>
                <a:stretch>
                  <a:fillRect l="-1799" t="-2652" b="-56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矩形 19"/>
          <p:cNvSpPr/>
          <p:nvPr/>
        </p:nvSpPr>
        <p:spPr>
          <a:xfrm>
            <a:off x="3984747" y="4902733"/>
            <a:ext cx="1567012" cy="36298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矩形 20"/>
          <p:cNvSpPr/>
          <p:nvPr/>
        </p:nvSpPr>
        <p:spPr>
          <a:xfrm>
            <a:off x="3958901" y="6233989"/>
            <a:ext cx="1567012" cy="36298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2" name="直線接點 21"/>
          <p:cNvCxnSpPr/>
          <p:nvPr/>
        </p:nvCxnSpPr>
        <p:spPr>
          <a:xfrm>
            <a:off x="3979736" y="5265722"/>
            <a:ext cx="1542823" cy="9682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線接點 22"/>
          <p:cNvCxnSpPr/>
          <p:nvPr/>
        </p:nvCxnSpPr>
        <p:spPr>
          <a:xfrm flipH="1">
            <a:off x="3974286" y="5247563"/>
            <a:ext cx="1582484" cy="98642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/>
              <p:cNvSpPr txBox="1"/>
              <p:nvPr/>
            </p:nvSpPr>
            <p:spPr>
              <a:xfrm>
                <a:off x="3958901" y="4528069"/>
                <a:ext cx="183320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26" name="文字方塊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8901" y="4528069"/>
                <a:ext cx="183320" cy="384721"/>
              </a:xfrm>
              <a:prstGeom prst="rect">
                <a:avLst/>
              </a:prstGeom>
              <a:blipFill rotWithShape="0">
                <a:blip r:embed="rId3"/>
                <a:stretch>
                  <a:fillRect l="-40000" r="-33333" b="-63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/>
              <p:cNvSpPr txBox="1"/>
              <p:nvPr/>
            </p:nvSpPr>
            <p:spPr>
              <a:xfrm>
                <a:off x="5363768" y="4533364"/>
                <a:ext cx="193002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27" name="文字方塊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3768" y="4533364"/>
                <a:ext cx="193002" cy="384721"/>
              </a:xfrm>
              <a:prstGeom prst="rect">
                <a:avLst/>
              </a:prstGeom>
              <a:blipFill rotWithShape="0">
                <a:blip r:embed="rId4"/>
                <a:stretch>
                  <a:fillRect l="-56250" r="-50000" b="-3174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/>
              <p:cNvSpPr txBox="1"/>
              <p:nvPr/>
            </p:nvSpPr>
            <p:spPr>
              <a:xfrm>
                <a:off x="3954329" y="5822337"/>
                <a:ext cx="183320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28" name="文字方塊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4329" y="5822337"/>
                <a:ext cx="183320" cy="384721"/>
              </a:xfrm>
              <a:prstGeom prst="rect">
                <a:avLst/>
              </a:prstGeom>
              <a:blipFill rotWithShape="0">
                <a:blip r:embed="rId5"/>
                <a:stretch>
                  <a:fillRect l="-40000" r="-33333" b="-63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/>
              <p:cNvSpPr txBox="1"/>
              <p:nvPr/>
            </p:nvSpPr>
            <p:spPr>
              <a:xfrm>
                <a:off x="5359196" y="5827632"/>
                <a:ext cx="193002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29" name="文字方塊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9196" y="5827632"/>
                <a:ext cx="193002" cy="384721"/>
              </a:xfrm>
              <a:prstGeom prst="rect">
                <a:avLst/>
              </a:prstGeom>
              <a:blipFill rotWithShape="0">
                <a:blip r:embed="rId6"/>
                <a:stretch>
                  <a:fillRect l="-53125" r="-53125" b="-3174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字方塊 32"/>
              <p:cNvSpPr txBox="1"/>
              <p:nvPr/>
            </p:nvSpPr>
            <p:spPr>
              <a:xfrm>
                <a:off x="4426112" y="5876199"/>
                <a:ext cx="206595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33" name="文字方塊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6112" y="5876199"/>
                <a:ext cx="206595" cy="384721"/>
              </a:xfrm>
              <a:prstGeom prst="rect">
                <a:avLst/>
              </a:prstGeom>
              <a:blipFill rotWithShape="0">
                <a:blip r:embed="rId7"/>
                <a:stretch>
                  <a:fillRect l="-29412" r="-26471" b="-317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7953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08138" y="365126"/>
            <a:ext cx="8423970" cy="887025"/>
          </a:xfrm>
        </p:spPr>
        <p:txBody>
          <a:bodyPr>
            <a:normAutofit/>
          </a:bodyPr>
          <a:lstStyle/>
          <a:p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Decompose the transposition operation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/>
              <p:cNvSpPr txBox="1"/>
              <p:nvPr/>
            </p:nvSpPr>
            <p:spPr>
              <a:xfrm>
                <a:off x="308137" y="1309816"/>
                <a:ext cx="8704057" cy="48520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3200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TW" sz="3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can be decomposed into </a:t>
                </a:r>
                <a14:m>
                  <m:oMath xmlns:m="http://schemas.openxmlformats.org/officeDocument/2006/math">
                    <m:r>
                      <a:rPr lang="en-US" altLang="zh-TW" sz="32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altLang="zh-TW" sz="32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TW" sz="32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altLang="zh-TW" sz="32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+1</m:t>
                    </m:r>
                  </m:oMath>
                </a14:m>
                <a:r>
                  <a:rPr lang="en-US" altLang="zh-TW" sz="3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mutation fragments </a:t>
                </a:r>
                <a14:m>
                  <m:oMath xmlns:m="http://schemas.openxmlformats.org/officeDocument/2006/math">
                    <m:r>
                      <a:rPr lang="en-US" altLang="zh-TW" sz="3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ℱ</m:t>
                    </m:r>
                    <m:d>
                      <m:dPr>
                        <m:ctrlPr>
                          <a:rPr lang="en-US" altLang="zh-TW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3200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sz="3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TW" sz="3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TW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altLang="zh-TW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</m:d>
                    <m:r>
                      <a:rPr lang="en-US" altLang="zh-TW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altLang="zh-TW" sz="3200" b="0" dirty="0" smtClean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endParaRPr lang="en-US" altLang="zh-TW" sz="32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zh-TW" sz="3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ℱ</m:t>
                    </m:r>
                    <m:d>
                      <m:dPr>
                        <m:ctrlPr>
                          <a:rPr lang="en-US" altLang="zh-TW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3200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sz="3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TW" sz="3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TW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altLang="zh-TW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</m:d>
                    <m:r>
                      <a:rPr lang="en-US" altLang="zh-TW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=(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altLang="zh-TW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altLang="zh-TW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altLang="zh-TW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TW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TW" altLang="en-US" sz="3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3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i</m:t>
                    </m:r>
                    <m:r>
                      <a:rPr lang="en-US" altLang="zh-TW" sz="3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altLang="zh-TW" sz="3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endParaRPr lang="en-US" altLang="zh-TW" sz="32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TW" sz="32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zh-TW" sz="3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ℱ</m:t>
                    </m:r>
                    <m:d>
                      <m:dPr>
                        <m:ctrlPr>
                          <a:rPr lang="en-US" altLang="zh-TW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3200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altLang="zh-TW" sz="3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sz="3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32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TW" sz="3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32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TW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altLang="zh-TW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</m:d>
                    <m:r>
                      <a:rPr lang="en-US" altLang="zh-TW" sz="3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=(</m:t>
                    </m:r>
                    <m:r>
                      <a:rPr lang="en-US" altLang="zh-TW" sz="3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altLang="zh-TW" sz="3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TW" sz="3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altLang="zh-TW" sz="3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−1,</m:t>
                    </m:r>
                    <m:sSub>
                      <m:sSubPr>
                        <m:ctrlPr>
                          <a:rPr lang="en-US" altLang="zh-TW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altLang="zh-TW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TW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US" altLang="zh-TW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altLang="zh-TW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altLang="zh-TW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TW" sz="3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TW" alt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32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i</m:t>
                    </m:r>
                    <m:r>
                      <a:rPr lang="en-US" altLang="zh-TW" sz="3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TW" sz="3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j</m:t>
                    </m:r>
                    <m:r>
                      <a:rPr lang="en-US" altLang="zh-TW" sz="3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altLang="zh-TW" sz="3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k</m:t>
                    </m:r>
                    <m:r>
                      <a:rPr lang="en-US" altLang="zh-TW" sz="3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&lt;</m:t>
                    </m:r>
                    <m:r>
                      <a:rPr lang="en-US" altLang="zh-TW" sz="3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altLang="zh-TW" sz="3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</m:oMath>
                </a14:m>
                <a:endParaRPr lang="zh-TW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zh-TW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文字方塊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137" y="1309816"/>
                <a:ext cx="8704057" cy="4852098"/>
              </a:xfrm>
              <a:prstGeom prst="rect">
                <a:avLst/>
              </a:prstGeom>
              <a:blipFill rotWithShape="0">
                <a:blip r:embed="rId2"/>
                <a:stretch>
                  <a:fillRect l="-1822" t="-175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4876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08138" y="365126"/>
            <a:ext cx="8423970" cy="887025"/>
          </a:xfrm>
        </p:spPr>
        <p:txBody>
          <a:bodyPr>
            <a:normAutofit/>
          </a:bodyPr>
          <a:lstStyle/>
          <a:p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Decompose the transposition operation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/>
              <p:cNvSpPr txBox="1"/>
              <p:nvPr/>
            </p:nvSpPr>
            <p:spPr>
              <a:xfrm>
                <a:off x="308137" y="1309816"/>
                <a:ext cx="8704057" cy="3275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ℱ</m:t>
                    </m:r>
                    <m:d>
                      <m:dPr>
                        <m:ctrlPr>
                          <a:rPr lang="en-US" altLang="zh-TW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3200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sz="3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TW" sz="3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TW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altLang="zh-TW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</m:d>
                    <m:r>
                      <a:rPr lang="en-US" altLang="zh-TW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=(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altLang="zh-TW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altLang="zh-TW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altLang="zh-TW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TW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TW" altLang="en-US" sz="3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3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i</m:t>
                    </m:r>
                    <m:r>
                      <a:rPr lang="en-US" altLang="zh-TW" sz="3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altLang="zh-TW" sz="3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altLang="zh-TW" sz="3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3200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altLang="zh-TW" sz="32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3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32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sz="3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32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,1)</m:t>
                    </m:r>
                  </m:oMath>
                </a14:m>
                <a:endParaRPr lang="en-US" altLang="zh-TW" sz="32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TW" sz="32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zh-TW" sz="3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ℱ</m:t>
                    </m:r>
                    <m:d>
                      <m:dPr>
                        <m:ctrlPr>
                          <a:rPr lang="en-US" altLang="zh-TW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3200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altLang="zh-TW" sz="3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sz="3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32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TW" sz="3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32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TW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altLang="zh-TW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</m:d>
                    <m:r>
                      <a:rPr lang="en-US" altLang="zh-TW" sz="3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=(</m:t>
                    </m:r>
                    <m:r>
                      <a:rPr lang="en-US" altLang="zh-TW" sz="3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altLang="zh-TW" sz="3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−1,</m:t>
                    </m:r>
                    <m:sSub>
                      <m:sSubPr>
                        <m:ctrlPr>
                          <a:rPr lang="en-US" altLang="zh-TW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altLang="zh-TW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TW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US" altLang="zh-TW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altLang="zh-TW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altLang="zh-TW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TW" sz="3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TW" alt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32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i</m:t>
                    </m:r>
                    <m:r>
                      <a:rPr lang="en-US" altLang="zh-TW" sz="3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TW" sz="3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j</m:t>
                    </m:r>
                    <m:r>
                      <a:rPr lang="en-US" altLang="zh-TW" sz="3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altLang="zh-TW" sz="3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k</m:t>
                    </m:r>
                    <m:r>
                      <a:rPr lang="en-US" altLang="zh-TW" sz="3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&lt;</m:t>
                    </m:r>
                    <m:r>
                      <a:rPr lang="en-US" altLang="zh-TW" sz="3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altLang="zh-TW" sz="3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3200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altLang="zh-TW" sz="32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3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32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sz="3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32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TW" sz="32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32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TW" sz="3200" i="1">
                        <a:latin typeface="Cambria Math" panose="02040503050406030204" pitchFamily="18" charset="0"/>
                      </a:rPr>
                      <m:t>,2)</m:t>
                    </m:r>
                  </m:oMath>
                </a14:m>
                <a:endParaRPr lang="zh-TW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zh-TW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文字方塊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137" y="1309816"/>
                <a:ext cx="8704057" cy="3275769"/>
              </a:xfrm>
              <a:prstGeom prst="rect">
                <a:avLst/>
              </a:prstGeom>
              <a:blipFill rotWithShape="0">
                <a:blip r:embed="rId2"/>
                <a:stretch>
                  <a:fillRect t="-16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/>
          <p:cNvSpPr/>
          <p:nvPr/>
        </p:nvSpPr>
        <p:spPr>
          <a:xfrm>
            <a:off x="3599912" y="4633263"/>
            <a:ext cx="1337105" cy="55023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4514315" y="6213968"/>
            <a:ext cx="1298467" cy="54667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4937018" y="4632304"/>
            <a:ext cx="875764" cy="55023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3638551" y="6210410"/>
            <a:ext cx="875764" cy="55023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" name="直線接點 7"/>
          <p:cNvCxnSpPr>
            <a:stCxn id="4" idx="2"/>
            <a:endCxn id="5" idx="0"/>
          </p:cNvCxnSpPr>
          <p:nvPr/>
        </p:nvCxnSpPr>
        <p:spPr>
          <a:xfrm>
            <a:off x="4268465" y="5183498"/>
            <a:ext cx="895084" cy="103047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線接點 8"/>
          <p:cNvCxnSpPr>
            <a:stCxn id="6" idx="2"/>
            <a:endCxn id="7" idx="0"/>
          </p:cNvCxnSpPr>
          <p:nvPr/>
        </p:nvCxnSpPr>
        <p:spPr>
          <a:xfrm flipH="1">
            <a:off x="4076433" y="5182539"/>
            <a:ext cx="1298467" cy="1027871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/>
              <p:cNvSpPr txBox="1"/>
              <p:nvPr/>
            </p:nvSpPr>
            <p:spPr>
              <a:xfrm>
                <a:off x="3604923" y="4254896"/>
                <a:ext cx="183320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11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4923" y="4254896"/>
                <a:ext cx="183320" cy="384721"/>
              </a:xfrm>
              <a:prstGeom prst="rect">
                <a:avLst/>
              </a:prstGeom>
              <a:blipFill rotWithShape="0">
                <a:blip r:embed="rId3"/>
                <a:stretch>
                  <a:fillRect l="-40000" r="-33333" b="-63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/>
              <p:cNvSpPr txBox="1"/>
              <p:nvPr/>
            </p:nvSpPr>
            <p:spPr>
              <a:xfrm>
                <a:off x="4933199" y="4253002"/>
                <a:ext cx="257826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12" name="文字方塊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3199" y="4253002"/>
                <a:ext cx="257826" cy="384721"/>
              </a:xfrm>
              <a:prstGeom prst="rect">
                <a:avLst/>
              </a:prstGeom>
              <a:blipFill rotWithShape="0">
                <a:blip r:embed="rId4"/>
                <a:stretch>
                  <a:fillRect l="-27907" r="-25581" b="-63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/>
              <p:cNvSpPr txBox="1"/>
              <p:nvPr/>
            </p:nvSpPr>
            <p:spPr>
              <a:xfrm>
                <a:off x="5670160" y="4252925"/>
                <a:ext cx="193002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13" name="文字方塊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0160" y="4252925"/>
                <a:ext cx="193002" cy="384721"/>
              </a:xfrm>
              <a:prstGeom prst="rect">
                <a:avLst/>
              </a:prstGeom>
              <a:blipFill rotWithShape="0">
                <a:blip r:embed="rId5"/>
                <a:stretch>
                  <a:fillRect l="-53125" r="-53125" b="-3174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/>
              <p:cNvSpPr txBox="1"/>
              <p:nvPr/>
            </p:nvSpPr>
            <p:spPr>
              <a:xfrm>
                <a:off x="3635053" y="5815182"/>
                <a:ext cx="183320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14" name="文字方塊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5053" y="5815182"/>
                <a:ext cx="183320" cy="384721"/>
              </a:xfrm>
              <a:prstGeom prst="rect">
                <a:avLst/>
              </a:prstGeom>
              <a:blipFill rotWithShape="0">
                <a:blip r:embed="rId6"/>
                <a:stretch>
                  <a:fillRect l="-40000" r="-33333" b="-63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/>
              <p:cNvSpPr txBox="1"/>
              <p:nvPr/>
            </p:nvSpPr>
            <p:spPr>
              <a:xfrm>
                <a:off x="5653920" y="5797975"/>
                <a:ext cx="193002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15" name="文字方塊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3920" y="5797975"/>
                <a:ext cx="193002" cy="384721"/>
              </a:xfrm>
              <a:prstGeom prst="rect">
                <a:avLst/>
              </a:prstGeom>
              <a:blipFill rotWithShape="0">
                <a:blip r:embed="rId7"/>
                <a:stretch>
                  <a:fillRect l="-53125" r="-53125" b="-3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矩形 15"/>
          <p:cNvSpPr/>
          <p:nvPr/>
        </p:nvSpPr>
        <p:spPr>
          <a:xfrm>
            <a:off x="308137" y="1309816"/>
            <a:ext cx="8423971" cy="1334530"/>
          </a:xfrm>
          <a:prstGeom prst="rect">
            <a:avLst/>
          </a:prstGeom>
          <a:noFill/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/>
          <p:cNvSpPr/>
          <p:nvPr/>
        </p:nvSpPr>
        <p:spPr>
          <a:xfrm>
            <a:off x="308137" y="2805380"/>
            <a:ext cx="8423971" cy="1334530"/>
          </a:xfrm>
          <a:prstGeom prst="rect">
            <a:avLst/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31594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08138" y="365126"/>
            <a:ext cx="8423970" cy="887025"/>
          </a:xfrm>
        </p:spPr>
        <p:txBody>
          <a:bodyPr>
            <a:normAutofit/>
          </a:bodyPr>
          <a:lstStyle/>
          <a:p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Decompose the operations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/>
              <p:cNvSpPr txBox="1"/>
              <p:nvPr/>
            </p:nvSpPr>
            <p:spPr>
              <a:xfrm>
                <a:off x="308137" y="1309816"/>
                <a:ext cx="8704057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When a set of operations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TW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Θ</m:t>
                    </m:r>
                  </m:oMath>
                </a14:m>
                <a:r>
                  <a:rPr lang="zh-TW" altLang="en-US" sz="3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acts on a string </a:t>
                </a:r>
                <a14:m>
                  <m:oMath xmlns:m="http://schemas.openxmlformats.org/officeDocument/2006/math">
                    <m:r>
                      <a:rPr lang="en-US" altLang="zh-TW" sz="32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altLang="zh-TW" sz="3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it can be decomposed into a sequence </a:t>
                </a:r>
                <a14:m>
                  <m:oMath xmlns:m="http://schemas.openxmlformats.org/officeDocument/2006/math">
                    <m:r>
                      <a:rPr lang="en-US" altLang="zh-TW" sz="3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ℱ</m:t>
                    </m:r>
                    <m:d>
                      <m:dPr>
                        <m:ctrlPr>
                          <a:rPr lang="en-US" altLang="zh-TW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 altLang="zh-TW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Θ</m:t>
                        </m:r>
                        <m:r>
                          <a:rPr lang="en-US" altLang="zh-TW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altLang="zh-TW" sz="3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TW" sz="3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TW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altLang="zh-TW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zh-TW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文字方塊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137" y="1309816"/>
                <a:ext cx="8704057" cy="1569660"/>
              </a:xfrm>
              <a:prstGeom prst="rect">
                <a:avLst/>
              </a:prstGeom>
              <a:blipFill rotWithShape="0">
                <a:blip r:embed="rId2"/>
                <a:stretch>
                  <a:fillRect l="-1822" t="-5447" r="-140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圖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735" y="3191622"/>
            <a:ext cx="8256708" cy="2781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07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08138" y="365126"/>
            <a:ext cx="8423970" cy="887025"/>
          </a:xfrm>
        </p:spPr>
        <p:txBody>
          <a:bodyPr>
            <a:normAutofit/>
          </a:bodyPr>
          <a:lstStyle/>
          <a:p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Algorithm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308137" y="1309816"/>
            <a:ext cx="870405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Construct all legal sequences of length 1.</a:t>
            </a:r>
          </a:p>
          <a:p>
            <a:endParaRPr lang="en-US" altLang="zh-TW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Produce all possible legal sequences of length i+1, which can be obtained from previously created legal sequences of length </a:t>
            </a:r>
            <a:r>
              <a:rPr lang="en-US" altLang="zh-TW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altLang="zh-TW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If there exists a legal sequence of length n, return the minimum number of the used operations. Otherwise, return infinity.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7476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08138" y="365126"/>
            <a:ext cx="8423970" cy="887025"/>
          </a:xfrm>
        </p:spPr>
        <p:txBody>
          <a:bodyPr>
            <a:normAutofit/>
          </a:bodyPr>
          <a:lstStyle/>
          <a:p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Extended mutation fragments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/>
              <p:cNvSpPr txBox="1"/>
              <p:nvPr/>
            </p:nvSpPr>
            <p:spPr>
              <a:xfrm>
                <a:off x="308137" y="1309816"/>
                <a:ext cx="8704057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200" b="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 distinguish all the legal sequences of length </a:t>
                </a:r>
                <a:r>
                  <a:rPr lang="en-US" altLang="zh-TW" sz="3200" b="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3200" b="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</a:p>
              <a:p>
                <a:r>
                  <a:rPr lang="en-US" altLang="zh-TW" sz="3200" b="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first define four sets of extended mutation fragments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TW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TW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TW" altLang="en-US" sz="3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zh-TW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zh-TW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文字方塊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137" y="1309816"/>
                <a:ext cx="8704057" cy="1569660"/>
              </a:xfrm>
              <a:prstGeom prst="rect">
                <a:avLst/>
              </a:prstGeom>
              <a:blipFill rotWithShape="0">
                <a:blip r:embed="rId2"/>
                <a:stretch>
                  <a:fillRect l="-1822" t="-5447" b="-116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群組 4"/>
          <p:cNvGrpSpPr/>
          <p:nvPr/>
        </p:nvGrpSpPr>
        <p:grpSpPr>
          <a:xfrm>
            <a:off x="441167" y="3274893"/>
            <a:ext cx="8157911" cy="2928200"/>
            <a:chOff x="441167" y="2937141"/>
            <a:chExt cx="8157911" cy="2928200"/>
          </a:xfrm>
        </p:grpSpPr>
        <p:pic>
          <p:nvPicPr>
            <p:cNvPr id="3" name="圖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1167" y="2937141"/>
              <a:ext cx="8157911" cy="1004428"/>
            </a:xfrm>
            <a:prstGeom prst="rect">
              <a:avLst/>
            </a:prstGeom>
          </p:spPr>
        </p:pic>
        <p:pic>
          <p:nvPicPr>
            <p:cNvPr id="4" name="圖片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1167" y="3826239"/>
              <a:ext cx="7980485" cy="203910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21876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08138" y="365126"/>
            <a:ext cx="8423970" cy="887025"/>
          </a:xfrm>
        </p:spPr>
        <p:txBody>
          <a:bodyPr>
            <a:normAutofit/>
          </a:bodyPr>
          <a:lstStyle/>
          <a:p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Extended mutation fragments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/>
              <p:cNvSpPr txBox="1"/>
              <p:nvPr/>
            </p:nvSpPr>
            <p:spPr>
              <a:xfrm>
                <a:off x="612937" y="1639330"/>
                <a:ext cx="8704057" cy="45459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2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𝑆</m:t>
                      </m:r>
                      <m:r>
                        <a:rPr lang="en-US" altLang="zh-TW" sz="32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={</m:t>
                      </m:r>
                      <m:sSub>
                        <m:sSubPr>
                          <m:ctrlPr>
                            <a:rPr lang="en-US" altLang="zh-TW" sz="32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32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TW" sz="32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32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TW" sz="32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32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TW" sz="32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32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altLang="zh-TW" sz="32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32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TW" sz="32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TW" sz="32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}</m:t>
                      </m:r>
                    </m:oMath>
                  </m:oMathPara>
                </a14:m>
                <a:endParaRPr lang="en-US" altLang="zh-TW" sz="3200" b="0" dirty="0" smtClean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endParaRPr lang="en-US" altLang="zh-TW" sz="320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zh-TW" sz="32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𝑔</m:t>
                    </m:r>
                  </m:oMath>
                </a14:m>
                <a:r>
                  <a:rPr lang="en-US" altLang="zh-TW" sz="3200" b="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the number of fragments that are required to complete an operation</a:t>
                </a:r>
              </a:p>
              <a:p>
                <a:endParaRPr lang="en-US" altLang="zh-TW" sz="3200" b="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zh-TW" sz="32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</m:oMath>
                </a14:m>
                <a:r>
                  <a:rPr lang="en-US" altLang="zh-TW" sz="3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the number of the currently used operations</a:t>
                </a:r>
              </a:p>
              <a:p>
                <a:endParaRPr lang="en-US" altLang="zh-TW" sz="32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zh-TW" sz="32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</m:oMath>
                </a14:m>
                <a:r>
                  <a:rPr lang="en-US" altLang="zh-TW" sz="3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TW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TW" altLang="en-US" sz="3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covered by a transposition operation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3200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zh-TW" sz="3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altLang="zh-TW" sz="3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32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TW" sz="3200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zh-TW" altLang="en-US" sz="3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then s equals to </a:t>
                </a:r>
                <a14:m>
                  <m:oMath xmlns:m="http://schemas.openxmlformats.org/officeDocument/2006/math">
                    <m:r>
                      <a:rPr lang="en-US" altLang="zh-TW" sz="32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</m:t>
                    </m:r>
                  </m:oMath>
                </a14:m>
                <a:r>
                  <a:rPr lang="en-US" altLang="zh-TW" sz="3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TW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文字方塊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937" y="1639330"/>
                <a:ext cx="8704057" cy="4545924"/>
              </a:xfrm>
              <a:prstGeom prst="rect">
                <a:avLst/>
              </a:prstGeom>
              <a:blipFill rotWithShape="0">
                <a:blip r:embed="rId2"/>
                <a:stretch>
                  <a:fillRect l="-1822" b="-28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9885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08138" y="365126"/>
            <a:ext cx="8423970" cy="887025"/>
          </a:xfrm>
        </p:spPr>
        <p:txBody>
          <a:bodyPr>
            <a:normAutofit/>
          </a:bodyPr>
          <a:lstStyle/>
          <a:p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Extended mutation fragments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/>
              <p:cNvSpPr txBox="1"/>
              <p:nvPr/>
            </p:nvSpPr>
            <p:spPr>
              <a:xfrm>
                <a:off x="637650" y="1252151"/>
                <a:ext cx="8704057" cy="31218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200" dirty="0" smtClean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We let </a:t>
                </a:r>
                <a14:m>
                  <m:oMath xmlns:m="http://schemas.openxmlformats.org/officeDocument/2006/math">
                    <m:r>
                      <a:rPr lang="zh-TW" altLang="en-US" sz="32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𝜔</m:t>
                    </m:r>
                  </m:oMath>
                </a14:m>
                <a:r>
                  <a:rPr lang="en-US" altLang="zh-TW" sz="3200" dirty="0" smtClean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be the mutation operation that covers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TW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r>
                  <a:rPr lang="en-US" altLang="zh-TW" sz="3200" dirty="0" smtClean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Then we create an extended mutation fragment </a:t>
                </a:r>
                <a14:m>
                  <m:oMath xmlns:m="http://schemas.openxmlformats.org/officeDocument/2006/math">
                    <m:r>
                      <a:rPr lang="en-US" altLang="zh-TW" sz="32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𝑒</m:t>
                    </m:r>
                  </m:oMath>
                </a14:m>
                <a:r>
                  <a:rPr lang="en-US" altLang="zh-TW" sz="3200" dirty="0" smtClean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.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TW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sz="32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US" altLang="zh-TW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TW" sz="32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i</m:t>
                        </m:r>
                        <m:r>
                          <a:rPr lang="en-US" altLang="zh-TW" sz="32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TW" sz="32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j</m:t>
                        </m:r>
                        <m:r>
                          <a:rPr lang="en-US" altLang="zh-TW" sz="32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l-GR" altLang="zh-TW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σ</m:t>
                        </m:r>
                      </m:e>
                    </m:d>
                    <m:r>
                      <a:rPr lang="en-US" altLang="zh-TW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altLang="zh-TW" sz="3200" dirty="0" smtClean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endParaRPr lang="en-US" altLang="zh-TW" sz="32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3200" dirty="0" smtClean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Suppose that </a:t>
                </a:r>
                <a14:m>
                  <m:oMath xmlns:m="http://schemas.openxmlformats.org/officeDocument/2006/math">
                    <m:r>
                      <a:rPr lang="en-US" altLang="zh-TW" sz="32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𝑒</m:t>
                    </m:r>
                  </m:oMath>
                </a14:m>
                <a:r>
                  <a:rPr lang="en-US" altLang="zh-TW" sz="3200" dirty="0" smtClean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is of type I. </a:t>
                </a:r>
              </a:p>
              <a:p>
                <a:r>
                  <a:rPr lang="en-US" altLang="zh-TW" sz="3200" dirty="0" smtClean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2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</m:d>
                    <m:r>
                      <a:rPr lang="en-US" altLang="zh-TW" sz="32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={(</m:t>
                    </m:r>
                    <m:r>
                      <a:rPr lang="en-US" altLang="zh-TW" sz="32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altLang="zh-TW" sz="32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+1,</m:t>
                    </m:r>
                    <m:r>
                      <a:rPr lang="en-US" altLang="zh-TW" sz="32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altLang="zh-TW" sz="32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−1,</m:t>
                    </m:r>
                    <m:r>
                      <a:rPr lang="zh-TW" altLang="en-US" sz="32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d>
                      <m:dPr>
                        <m:ctrlPr>
                          <a:rPr lang="en-US" altLang="zh-TW" sz="32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32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32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32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  <m:r>
                              <a:rPr lang="en-US" altLang="zh-TW" sz="32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  <m:r>
                      <a:rPr lang="en-US" altLang="zh-TW" sz="32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}</m:t>
                    </m:r>
                  </m:oMath>
                </a14:m>
                <a:r>
                  <a:rPr lang="en-US" altLang="zh-TW" sz="3200" dirty="0" smtClean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  <a:endParaRPr lang="en-US" altLang="zh-TW" sz="32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文字方塊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650" y="1252151"/>
                <a:ext cx="8704057" cy="3121817"/>
              </a:xfrm>
              <a:prstGeom prst="rect">
                <a:avLst/>
              </a:prstGeom>
              <a:blipFill rotWithShape="0">
                <a:blip r:embed="rId2"/>
                <a:stretch>
                  <a:fillRect l="-1822" t="-2534" b="-370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/>
          <p:cNvSpPr/>
          <p:nvPr/>
        </p:nvSpPr>
        <p:spPr>
          <a:xfrm>
            <a:off x="3638758" y="4898004"/>
            <a:ext cx="1567012" cy="36298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3383389" y="6209418"/>
            <a:ext cx="1567012" cy="36298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" name="直線接點 5"/>
          <p:cNvCxnSpPr/>
          <p:nvPr/>
        </p:nvCxnSpPr>
        <p:spPr>
          <a:xfrm>
            <a:off x="3633747" y="5260993"/>
            <a:ext cx="1542823" cy="9682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 flipH="1">
            <a:off x="3426691" y="5242834"/>
            <a:ext cx="1784090" cy="96490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/>
              <p:cNvSpPr txBox="1"/>
              <p:nvPr/>
            </p:nvSpPr>
            <p:spPr>
              <a:xfrm>
                <a:off x="4950401" y="5881623"/>
                <a:ext cx="183320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0401" y="5881623"/>
                <a:ext cx="183320" cy="384721"/>
              </a:xfrm>
              <a:prstGeom prst="rect">
                <a:avLst/>
              </a:prstGeom>
              <a:blipFill rotWithShape="0">
                <a:blip r:embed="rId3"/>
                <a:stretch>
                  <a:fillRect l="-40000" r="-33333" b="-63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/>
              <p:cNvSpPr txBox="1"/>
              <p:nvPr/>
            </p:nvSpPr>
            <p:spPr>
              <a:xfrm>
                <a:off x="3638758" y="4493270"/>
                <a:ext cx="193002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8758" y="4493270"/>
                <a:ext cx="193002" cy="384721"/>
              </a:xfrm>
              <a:prstGeom prst="rect">
                <a:avLst/>
              </a:prstGeom>
              <a:blipFill rotWithShape="0">
                <a:blip r:embed="rId4"/>
                <a:stretch>
                  <a:fillRect l="-56250" r="-50000" b="-3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矩形 12"/>
          <p:cNvSpPr/>
          <p:nvPr/>
        </p:nvSpPr>
        <p:spPr>
          <a:xfrm>
            <a:off x="4949309" y="6209417"/>
            <a:ext cx="216951" cy="36298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/>
          <p:cNvSpPr/>
          <p:nvPr/>
        </p:nvSpPr>
        <p:spPr>
          <a:xfrm>
            <a:off x="3426691" y="4899687"/>
            <a:ext cx="216951" cy="36298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4965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08138" y="365126"/>
            <a:ext cx="8423970" cy="887025"/>
          </a:xfrm>
        </p:spPr>
        <p:txBody>
          <a:bodyPr>
            <a:normAutofit/>
          </a:bodyPr>
          <a:lstStyle/>
          <a:p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Extended mutation fragments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/>
              <p:cNvSpPr txBox="1"/>
              <p:nvPr/>
            </p:nvSpPr>
            <p:spPr>
              <a:xfrm>
                <a:off x="637650" y="1252151"/>
                <a:ext cx="8704057" cy="31218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200" dirty="0" smtClean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We let </a:t>
                </a:r>
                <a14:m>
                  <m:oMath xmlns:m="http://schemas.openxmlformats.org/officeDocument/2006/math">
                    <m:r>
                      <a:rPr lang="zh-TW" altLang="en-US" sz="32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𝜔</m:t>
                    </m:r>
                  </m:oMath>
                </a14:m>
                <a:r>
                  <a:rPr lang="en-US" altLang="zh-TW" sz="3200" dirty="0" smtClean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be the mutation operation that covers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TW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r>
                  <a:rPr lang="en-US" altLang="zh-TW" sz="3200" dirty="0" smtClean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Then we create an extended mutation fragment </a:t>
                </a:r>
                <a14:m>
                  <m:oMath xmlns:m="http://schemas.openxmlformats.org/officeDocument/2006/math">
                    <m:r>
                      <a:rPr lang="en-US" altLang="zh-TW" sz="32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𝑒</m:t>
                    </m:r>
                  </m:oMath>
                </a14:m>
                <a:r>
                  <a:rPr lang="en-US" altLang="zh-TW" sz="3200" dirty="0" smtClean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.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TW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sz="32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US" altLang="zh-TW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TW" sz="32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i</m:t>
                        </m:r>
                        <m:r>
                          <a:rPr lang="en-US" altLang="zh-TW" sz="32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TW" sz="32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j</m:t>
                        </m:r>
                        <m:r>
                          <a:rPr lang="en-US" altLang="zh-TW" sz="32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l-GR" altLang="zh-TW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σ</m:t>
                        </m:r>
                      </m:e>
                    </m:d>
                    <m:r>
                      <a:rPr lang="en-US" altLang="zh-TW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altLang="zh-TW" sz="3200" dirty="0" smtClean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endParaRPr lang="en-US" altLang="zh-TW" sz="32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3200" dirty="0" smtClean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Suppose that </a:t>
                </a:r>
                <a14:m>
                  <m:oMath xmlns:m="http://schemas.openxmlformats.org/officeDocument/2006/math">
                    <m:r>
                      <a:rPr lang="en-US" altLang="zh-TW" sz="32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𝑒</m:t>
                    </m:r>
                  </m:oMath>
                </a14:m>
                <a:r>
                  <a:rPr lang="en-US" altLang="zh-TW" sz="3200" dirty="0" smtClean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is of type H, </a:t>
                </a:r>
                <a14:m>
                  <m:oMath xmlns:m="http://schemas.openxmlformats.org/officeDocument/2006/math">
                    <m:r>
                      <a:rPr lang="en-US" altLang="zh-TW" sz="32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𝑒</m:t>
                    </m:r>
                    <m:r>
                      <a:rPr lang="en-US" altLang="zh-TW" sz="32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US" altLang="zh-TW" sz="32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32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  <m:r>
                          <a:rPr lang="en-US" altLang="zh-TW" sz="32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sz="32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  <m:r>
                          <a:rPr lang="en-US" altLang="zh-TW" sz="32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32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32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TW" sz="32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TW" sz="32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altLang="zh-TW" sz="3200" dirty="0" smtClean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3200" dirty="0" smtClean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altLang="zh-TW" sz="32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altLang="zh-TW" sz="32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&lt;</m:t>
                    </m:r>
                    <m:r>
                      <a:rPr lang="en-US" altLang="zh-TW" sz="32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zh-TW" sz="32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en-US" altLang="zh-TW" sz="3200" dirty="0" smtClean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2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</m:d>
                    <m:r>
                      <a:rPr lang="en-US" altLang="zh-TW" sz="32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={(</m:t>
                    </m:r>
                    <m:r>
                      <a:rPr lang="en-US" altLang="zh-TW" sz="32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altLang="zh-TW" sz="32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+1,</m:t>
                    </m:r>
                    <m:r>
                      <a:rPr lang="en-US" altLang="zh-TW" sz="32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altLang="zh-TW" sz="32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+1,</m:t>
                    </m:r>
                    <m:sSub>
                      <m:sSubPr>
                        <m:ctrlPr>
                          <a:rPr lang="en-US" altLang="zh-TW" sz="32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32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32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US" altLang="zh-TW" sz="32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+1),</m:t>
                        </m:r>
                      </m:sub>
                    </m:sSub>
                    <m:r>
                      <a:rPr lang="en-US" altLang="zh-TW" sz="32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sz="32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altLang="zh-TW" sz="32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+1,</m:t>
                    </m:r>
                    <m:r>
                      <a:rPr lang="en-US" altLang="zh-TW" sz="32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altLang="zh-TW" sz="32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32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32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32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sub>
                    </m:sSub>
                    <m:r>
                      <a:rPr lang="en-US" altLang="zh-TW" sz="32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)}</m:t>
                    </m:r>
                  </m:oMath>
                </a14:m>
                <a:r>
                  <a:rPr lang="en-US" altLang="zh-TW" sz="3200" dirty="0" smtClean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  <a:endParaRPr lang="en-US" altLang="zh-TW" sz="32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文字方塊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650" y="1252151"/>
                <a:ext cx="8704057" cy="3121817"/>
              </a:xfrm>
              <a:prstGeom prst="rect">
                <a:avLst/>
              </a:prstGeom>
              <a:blipFill rotWithShape="0">
                <a:blip r:embed="rId2"/>
                <a:stretch>
                  <a:fillRect l="-1822" t="-2534" r="-1051" b="-27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矩形 25"/>
          <p:cNvSpPr/>
          <p:nvPr/>
        </p:nvSpPr>
        <p:spPr>
          <a:xfrm>
            <a:off x="3262160" y="4710758"/>
            <a:ext cx="1337105" cy="55023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矩形 26"/>
          <p:cNvSpPr/>
          <p:nvPr/>
        </p:nvSpPr>
        <p:spPr>
          <a:xfrm>
            <a:off x="4176563" y="6291463"/>
            <a:ext cx="1298467" cy="54667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矩形 27"/>
          <p:cNvSpPr/>
          <p:nvPr/>
        </p:nvSpPr>
        <p:spPr>
          <a:xfrm>
            <a:off x="4599266" y="4709799"/>
            <a:ext cx="875764" cy="55023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矩形 28"/>
          <p:cNvSpPr/>
          <p:nvPr/>
        </p:nvSpPr>
        <p:spPr>
          <a:xfrm>
            <a:off x="3300799" y="6287905"/>
            <a:ext cx="875764" cy="55023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0" name="直線接點 29"/>
          <p:cNvCxnSpPr>
            <a:stCxn id="26" idx="2"/>
            <a:endCxn id="27" idx="0"/>
          </p:cNvCxnSpPr>
          <p:nvPr/>
        </p:nvCxnSpPr>
        <p:spPr>
          <a:xfrm>
            <a:off x="3930713" y="5260993"/>
            <a:ext cx="895084" cy="103047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直線接點 30"/>
          <p:cNvCxnSpPr>
            <a:stCxn id="28" idx="2"/>
            <a:endCxn id="29" idx="0"/>
          </p:cNvCxnSpPr>
          <p:nvPr/>
        </p:nvCxnSpPr>
        <p:spPr>
          <a:xfrm flipH="1">
            <a:off x="3738681" y="5260034"/>
            <a:ext cx="1298467" cy="1027871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字方塊 31"/>
              <p:cNvSpPr txBox="1"/>
              <p:nvPr/>
            </p:nvSpPr>
            <p:spPr>
              <a:xfrm>
                <a:off x="3267171" y="4332391"/>
                <a:ext cx="226216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32" name="文字方塊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7171" y="4332391"/>
                <a:ext cx="226216" cy="384721"/>
              </a:xfrm>
              <a:prstGeom prst="rect">
                <a:avLst/>
              </a:prstGeom>
              <a:blipFill rotWithShape="0">
                <a:blip r:embed="rId3"/>
                <a:stretch>
                  <a:fillRect l="-18919" r="-1621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字方塊 36"/>
              <p:cNvSpPr txBox="1"/>
              <p:nvPr/>
            </p:nvSpPr>
            <p:spPr>
              <a:xfrm>
                <a:off x="3993243" y="5954698"/>
                <a:ext cx="183320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37" name="文字方塊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3243" y="5954698"/>
                <a:ext cx="183320" cy="384721"/>
              </a:xfrm>
              <a:prstGeom prst="rect">
                <a:avLst/>
              </a:prstGeom>
              <a:blipFill rotWithShape="0">
                <a:blip r:embed="rId4"/>
                <a:stretch>
                  <a:fillRect l="-40000" r="-33333" b="-63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字方塊 37"/>
              <p:cNvSpPr txBox="1"/>
              <p:nvPr/>
            </p:nvSpPr>
            <p:spPr>
              <a:xfrm>
                <a:off x="5282028" y="4323299"/>
                <a:ext cx="193002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38" name="文字方塊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2028" y="4323299"/>
                <a:ext cx="193002" cy="384721"/>
              </a:xfrm>
              <a:prstGeom prst="rect">
                <a:avLst/>
              </a:prstGeom>
              <a:blipFill rotWithShape="0">
                <a:blip r:embed="rId5"/>
                <a:stretch>
                  <a:fillRect l="-53125" r="-53125" b="-3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0257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08138" y="365126"/>
            <a:ext cx="8423970" cy="887025"/>
          </a:xfrm>
        </p:spPr>
        <p:txBody>
          <a:bodyPr>
            <a:normAutofit/>
          </a:bodyPr>
          <a:lstStyle/>
          <a:p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Extended mutation fragments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/>
              <p:cNvSpPr txBox="1"/>
              <p:nvPr/>
            </p:nvSpPr>
            <p:spPr>
              <a:xfrm>
                <a:off x="637650" y="1252151"/>
                <a:ext cx="8704057" cy="31218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200" dirty="0" smtClean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We let </a:t>
                </a:r>
                <a14:m>
                  <m:oMath xmlns:m="http://schemas.openxmlformats.org/officeDocument/2006/math">
                    <m:r>
                      <a:rPr lang="zh-TW" altLang="en-US" sz="32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𝜔</m:t>
                    </m:r>
                  </m:oMath>
                </a14:m>
                <a:r>
                  <a:rPr lang="en-US" altLang="zh-TW" sz="3200" dirty="0" smtClean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be the mutation operation that covers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TW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r>
                  <a:rPr lang="en-US" altLang="zh-TW" sz="3200" dirty="0" smtClean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Then we create an extended mutation fragment </a:t>
                </a:r>
                <a14:m>
                  <m:oMath xmlns:m="http://schemas.openxmlformats.org/officeDocument/2006/math">
                    <m:r>
                      <a:rPr lang="en-US" altLang="zh-TW" sz="32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𝑒</m:t>
                    </m:r>
                  </m:oMath>
                </a14:m>
                <a:r>
                  <a:rPr lang="en-US" altLang="zh-TW" sz="3200" dirty="0" smtClean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.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TW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sz="32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US" altLang="zh-TW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TW" sz="32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i</m:t>
                        </m:r>
                        <m:r>
                          <a:rPr lang="en-US" altLang="zh-TW" sz="32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TW" sz="32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j</m:t>
                        </m:r>
                        <m:r>
                          <a:rPr lang="en-US" altLang="zh-TW" sz="32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l-GR" altLang="zh-TW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σ</m:t>
                        </m:r>
                      </m:e>
                    </m:d>
                    <m:r>
                      <a:rPr lang="en-US" altLang="zh-TW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altLang="zh-TW" sz="3200" dirty="0" smtClean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endParaRPr lang="en-US" altLang="zh-TW" sz="32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3200" dirty="0" smtClean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Suppose that </a:t>
                </a:r>
                <a14:m>
                  <m:oMath xmlns:m="http://schemas.openxmlformats.org/officeDocument/2006/math">
                    <m:r>
                      <a:rPr lang="en-US" altLang="zh-TW" sz="32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𝑒</m:t>
                    </m:r>
                  </m:oMath>
                </a14:m>
                <a:r>
                  <a:rPr lang="en-US" altLang="zh-TW" sz="3200" dirty="0" smtClean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is of type H, </a:t>
                </a:r>
                <a14:m>
                  <m:oMath xmlns:m="http://schemas.openxmlformats.org/officeDocument/2006/math">
                    <m:r>
                      <a:rPr lang="en-US" altLang="zh-TW" sz="32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𝑒</m:t>
                    </m:r>
                    <m:r>
                      <a:rPr lang="en-US" altLang="zh-TW" sz="32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US" altLang="zh-TW" sz="32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32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  <m:r>
                          <a:rPr lang="en-US" altLang="zh-TW" sz="32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sz="32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  <m:r>
                          <a:rPr lang="en-US" altLang="zh-TW" sz="32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32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32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TW" sz="32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TW" sz="32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altLang="zh-TW" sz="3200" dirty="0" smtClean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3200" dirty="0" smtClean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altLang="zh-TW" sz="32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altLang="zh-TW" sz="32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sz="32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zh-TW" sz="32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en-US" altLang="zh-TW" sz="3200" dirty="0" smtClean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2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</m:d>
                    <m:r>
                      <a:rPr lang="en-US" altLang="zh-TW" sz="32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={(</m:t>
                    </m:r>
                    <m:r>
                      <a:rPr lang="en-US" altLang="zh-TW" sz="32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altLang="zh-TW" sz="32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+1,</m:t>
                    </m:r>
                    <m:r>
                      <a:rPr lang="en-US" altLang="zh-TW" sz="32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altLang="zh-TW" sz="32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32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32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32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sub>
                    </m:sSub>
                    <m:r>
                      <a:rPr lang="en-US" altLang="zh-TW" sz="32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)}</m:t>
                    </m:r>
                  </m:oMath>
                </a14:m>
                <a:r>
                  <a:rPr lang="en-US" altLang="zh-TW" sz="3200" dirty="0" smtClean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  <a:endParaRPr lang="en-US" altLang="zh-TW" sz="32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文字方塊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650" y="1252151"/>
                <a:ext cx="8704057" cy="3121817"/>
              </a:xfrm>
              <a:prstGeom prst="rect">
                <a:avLst/>
              </a:prstGeom>
              <a:blipFill rotWithShape="0">
                <a:blip r:embed="rId2"/>
                <a:stretch>
                  <a:fillRect l="-1822" t="-2534" b="-292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矩形 23"/>
          <p:cNvSpPr/>
          <p:nvPr/>
        </p:nvSpPr>
        <p:spPr>
          <a:xfrm>
            <a:off x="3262160" y="4710758"/>
            <a:ext cx="1337105" cy="55023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矩形 24"/>
          <p:cNvSpPr/>
          <p:nvPr/>
        </p:nvSpPr>
        <p:spPr>
          <a:xfrm>
            <a:off x="4176563" y="6291463"/>
            <a:ext cx="1298467" cy="54667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矩形 25"/>
          <p:cNvSpPr/>
          <p:nvPr/>
        </p:nvSpPr>
        <p:spPr>
          <a:xfrm>
            <a:off x="4599266" y="4709799"/>
            <a:ext cx="875764" cy="55023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矩形 26"/>
          <p:cNvSpPr/>
          <p:nvPr/>
        </p:nvSpPr>
        <p:spPr>
          <a:xfrm>
            <a:off x="3300799" y="6287905"/>
            <a:ext cx="875764" cy="55023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8" name="直線接點 27"/>
          <p:cNvCxnSpPr>
            <a:stCxn id="24" idx="2"/>
            <a:endCxn id="25" idx="0"/>
          </p:cNvCxnSpPr>
          <p:nvPr/>
        </p:nvCxnSpPr>
        <p:spPr>
          <a:xfrm>
            <a:off x="3930713" y="5260993"/>
            <a:ext cx="895084" cy="103047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線接點 28"/>
          <p:cNvCxnSpPr>
            <a:stCxn id="26" idx="2"/>
            <a:endCxn id="27" idx="0"/>
          </p:cNvCxnSpPr>
          <p:nvPr/>
        </p:nvCxnSpPr>
        <p:spPr>
          <a:xfrm flipH="1">
            <a:off x="3738681" y="5260034"/>
            <a:ext cx="1298467" cy="1027871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/>
              <p:cNvSpPr txBox="1"/>
              <p:nvPr/>
            </p:nvSpPr>
            <p:spPr>
              <a:xfrm>
                <a:off x="3267171" y="4332391"/>
                <a:ext cx="226216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30" name="文字方塊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7171" y="4332391"/>
                <a:ext cx="226216" cy="384721"/>
              </a:xfrm>
              <a:prstGeom prst="rect">
                <a:avLst/>
              </a:prstGeom>
              <a:blipFill rotWithShape="0">
                <a:blip r:embed="rId3"/>
                <a:stretch>
                  <a:fillRect l="-18919" r="-1621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/>
              <p:cNvSpPr txBox="1"/>
              <p:nvPr/>
            </p:nvSpPr>
            <p:spPr>
              <a:xfrm>
                <a:off x="3993243" y="5954698"/>
                <a:ext cx="183320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31" name="文字方塊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3243" y="5954698"/>
                <a:ext cx="183320" cy="384721"/>
              </a:xfrm>
              <a:prstGeom prst="rect">
                <a:avLst/>
              </a:prstGeom>
              <a:blipFill rotWithShape="0">
                <a:blip r:embed="rId4"/>
                <a:stretch>
                  <a:fillRect l="-40000" r="-33333" b="-63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字方塊 31"/>
              <p:cNvSpPr txBox="1"/>
              <p:nvPr/>
            </p:nvSpPr>
            <p:spPr>
              <a:xfrm>
                <a:off x="5282028" y="4323299"/>
                <a:ext cx="193002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32" name="文字方塊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2028" y="4323299"/>
                <a:ext cx="193002" cy="384721"/>
              </a:xfrm>
              <a:prstGeom prst="rect">
                <a:avLst/>
              </a:prstGeom>
              <a:blipFill rotWithShape="0">
                <a:blip r:embed="rId5"/>
                <a:stretch>
                  <a:fillRect l="-53125" r="-53125" b="-3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2829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08138" y="365126"/>
            <a:ext cx="8423970" cy="887025"/>
          </a:xfrm>
        </p:spPr>
        <p:txBody>
          <a:bodyPr>
            <a:normAutofit/>
          </a:bodyPr>
          <a:lstStyle/>
          <a:p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Extended mutation fragments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/>
              <p:cNvSpPr txBox="1"/>
              <p:nvPr/>
            </p:nvSpPr>
            <p:spPr>
              <a:xfrm>
                <a:off x="637650" y="1252151"/>
                <a:ext cx="8704057" cy="31218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200" dirty="0" smtClean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We let </a:t>
                </a:r>
                <a14:m>
                  <m:oMath xmlns:m="http://schemas.openxmlformats.org/officeDocument/2006/math">
                    <m:r>
                      <a:rPr lang="zh-TW" altLang="en-US" sz="32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𝜔</m:t>
                    </m:r>
                  </m:oMath>
                </a14:m>
                <a:r>
                  <a:rPr lang="en-US" altLang="zh-TW" sz="3200" dirty="0" smtClean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be the mutation operation that covers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TW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r>
                  <a:rPr lang="en-US" altLang="zh-TW" sz="3200" dirty="0" smtClean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Then we create an extended mutation fragment </a:t>
                </a:r>
                <a14:m>
                  <m:oMath xmlns:m="http://schemas.openxmlformats.org/officeDocument/2006/math">
                    <m:r>
                      <a:rPr lang="en-US" altLang="zh-TW" sz="32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𝑒</m:t>
                    </m:r>
                  </m:oMath>
                </a14:m>
                <a:r>
                  <a:rPr lang="en-US" altLang="zh-TW" sz="3200" dirty="0" smtClean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.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TW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sz="32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US" altLang="zh-TW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TW" sz="32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i</m:t>
                        </m:r>
                        <m:r>
                          <a:rPr lang="en-US" altLang="zh-TW" sz="32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TW" sz="32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j</m:t>
                        </m:r>
                        <m:r>
                          <a:rPr lang="en-US" altLang="zh-TW" sz="32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l-GR" altLang="zh-TW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σ</m:t>
                        </m:r>
                      </m:e>
                    </m:d>
                    <m:r>
                      <a:rPr lang="en-US" altLang="zh-TW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altLang="zh-TW" sz="3200" dirty="0" smtClean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endParaRPr lang="en-US" altLang="zh-TW" sz="32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3200" dirty="0" smtClean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Suppose that </a:t>
                </a:r>
                <a14:m>
                  <m:oMath xmlns:m="http://schemas.openxmlformats.org/officeDocument/2006/math">
                    <m:r>
                      <a:rPr lang="en-US" altLang="zh-TW" sz="32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𝑒</m:t>
                    </m:r>
                  </m:oMath>
                </a14:m>
                <a:r>
                  <a:rPr lang="en-US" altLang="zh-TW" sz="3200" dirty="0" smtClean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is of type T, </a:t>
                </a:r>
                <a14:m>
                  <m:oMath xmlns:m="http://schemas.openxmlformats.org/officeDocument/2006/math">
                    <m:r>
                      <a:rPr lang="en-US" altLang="zh-TW" sz="32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𝑒</m:t>
                    </m:r>
                    <m:r>
                      <a:rPr lang="en-US" altLang="zh-TW" sz="32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US" altLang="zh-TW" sz="32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32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  <m:r>
                          <a:rPr lang="en-US" altLang="zh-TW" sz="32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sz="32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  <m:r>
                          <a:rPr lang="en-US" altLang="zh-TW" sz="32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32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32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TW" sz="32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TW" sz="32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altLang="zh-TW" sz="3200" dirty="0" smtClean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2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</m:d>
                    <m:r>
                      <a:rPr lang="en-US" altLang="zh-TW" sz="32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={(</m:t>
                    </m:r>
                    <m:r>
                      <a:rPr lang="en-US" altLang="zh-TW" sz="32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altLang="zh-TW" sz="32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+1,</m:t>
                    </m:r>
                    <m:r>
                      <a:rPr lang="en-US" altLang="zh-TW" sz="32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altLang="zh-TW" sz="32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+1,</m:t>
                    </m:r>
                    <m:sSub>
                      <m:sSubPr>
                        <m:ctrlPr>
                          <a:rPr lang="en-US" altLang="zh-TW" sz="32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32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32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US" altLang="zh-TW" sz="32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TW" sz="32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)}</m:t>
                    </m:r>
                  </m:oMath>
                </a14:m>
                <a:r>
                  <a:rPr lang="en-US" altLang="zh-TW" sz="3200" dirty="0" smtClean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  <a:endParaRPr lang="en-US" altLang="zh-TW" sz="32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文字方塊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650" y="1252151"/>
                <a:ext cx="8704057" cy="3121817"/>
              </a:xfrm>
              <a:prstGeom prst="rect">
                <a:avLst/>
              </a:prstGeom>
              <a:blipFill rotWithShape="0">
                <a:blip r:embed="rId2"/>
                <a:stretch>
                  <a:fillRect l="-1822" t="-2534" b="-27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矩形 11"/>
          <p:cNvSpPr/>
          <p:nvPr/>
        </p:nvSpPr>
        <p:spPr>
          <a:xfrm>
            <a:off x="3262160" y="4710758"/>
            <a:ext cx="1337105" cy="55023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/>
          <p:cNvSpPr/>
          <p:nvPr/>
        </p:nvSpPr>
        <p:spPr>
          <a:xfrm>
            <a:off x="4176563" y="6291463"/>
            <a:ext cx="1298467" cy="54667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/>
          <p:cNvSpPr/>
          <p:nvPr/>
        </p:nvSpPr>
        <p:spPr>
          <a:xfrm>
            <a:off x="4599266" y="4709799"/>
            <a:ext cx="875764" cy="55023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/>
          <p:cNvSpPr/>
          <p:nvPr/>
        </p:nvSpPr>
        <p:spPr>
          <a:xfrm>
            <a:off x="3300799" y="6287905"/>
            <a:ext cx="875764" cy="55023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9" name="直線接點 18"/>
          <p:cNvCxnSpPr>
            <a:stCxn id="12" idx="2"/>
            <a:endCxn id="15" idx="0"/>
          </p:cNvCxnSpPr>
          <p:nvPr/>
        </p:nvCxnSpPr>
        <p:spPr>
          <a:xfrm>
            <a:off x="3930713" y="5260993"/>
            <a:ext cx="895084" cy="103047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線接點 19"/>
          <p:cNvCxnSpPr>
            <a:stCxn id="16" idx="2"/>
            <a:endCxn id="17" idx="0"/>
          </p:cNvCxnSpPr>
          <p:nvPr/>
        </p:nvCxnSpPr>
        <p:spPr>
          <a:xfrm flipH="1">
            <a:off x="3738681" y="5260034"/>
            <a:ext cx="1298467" cy="1027871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/>
              <p:cNvSpPr txBox="1"/>
              <p:nvPr/>
            </p:nvSpPr>
            <p:spPr>
              <a:xfrm>
                <a:off x="5137520" y="5968804"/>
                <a:ext cx="183320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22" name="文字方塊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7520" y="5968804"/>
                <a:ext cx="183320" cy="384721"/>
              </a:xfrm>
              <a:prstGeom prst="rect">
                <a:avLst/>
              </a:prstGeom>
              <a:blipFill rotWithShape="0">
                <a:blip r:embed="rId3"/>
                <a:stretch>
                  <a:fillRect l="-40000" r="-33333" b="-63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/>
              <p:cNvSpPr txBox="1"/>
              <p:nvPr/>
            </p:nvSpPr>
            <p:spPr>
              <a:xfrm>
                <a:off x="4291413" y="4345689"/>
                <a:ext cx="193002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23" name="文字方塊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1413" y="4345689"/>
                <a:ext cx="193002" cy="384721"/>
              </a:xfrm>
              <a:prstGeom prst="rect">
                <a:avLst/>
              </a:prstGeom>
              <a:blipFill rotWithShape="0">
                <a:blip r:embed="rId4"/>
                <a:stretch>
                  <a:fillRect l="-56250" r="-50000" b="-3174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0334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660" y="2707177"/>
            <a:ext cx="8554340" cy="401906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713574" y="512747"/>
                <a:ext cx="2349425" cy="10772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5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35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3500" b="0" i="1" smtClean="0">
                          <a:latin typeface="Cambria Math" panose="02040503050406030204" pitchFamily="18" charset="0"/>
                        </a:rPr>
                        <m:t>𝑇𝐴𝐺𝐴𝐶</m:t>
                      </m:r>
                    </m:oMath>
                  </m:oMathPara>
                </a14:m>
                <a:endParaRPr lang="en-US" altLang="zh-TW" sz="3500" b="0" i="1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5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TW" sz="35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3500" b="0" i="1" smtClean="0">
                          <a:latin typeface="Cambria Math" panose="02040503050406030204" pitchFamily="18" charset="0"/>
                        </a:rPr>
                        <m:t>𝑇𝐴𝐴𝐶𝐺</m:t>
                      </m:r>
                    </m:oMath>
                  </m:oMathPara>
                </a14:m>
                <a:endParaRPr lang="en-US" altLang="zh-TW" sz="3500" i="1" dirty="0"/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574" y="512747"/>
                <a:ext cx="2349425" cy="1077218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624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08138" y="365126"/>
            <a:ext cx="8423970" cy="887025"/>
          </a:xfrm>
        </p:spPr>
        <p:txBody>
          <a:bodyPr>
            <a:normAutofit/>
          </a:bodyPr>
          <a:lstStyle/>
          <a:p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 and space complexity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/>
              <p:cNvSpPr txBox="1"/>
              <p:nvPr/>
            </p:nvSpPr>
            <p:spPr>
              <a:xfrm>
                <a:off x="637650" y="1252151"/>
                <a:ext cx="8704057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 complexity : </a:t>
                </a:r>
                <a14:m>
                  <m:oMath xmlns:m="http://schemas.openxmlformats.org/officeDocument/2006/math">
                    <m:r>
                      <a:rPr lang="en-US" altLang="zh-TW" sz="32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sz="32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TW" sz="32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32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sz="32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p>
                    </m:sSup>
                    <m:r>
                      <a:rPr lang="en-US" altLang="zh-TW" sz="32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zh-TW" sz="32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TW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3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Space complexity : </a:t>
                </a:r>
                <a14:m>
                  <m:oMath xmlns:m="http://schemas.openxmlformats.org/officeDocument/2006/math">
                    <m:r>
                      <a:rPr lang="en-US" altLang="zh-TW" sz="32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sz="32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TW" sz="32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32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sz="32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32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zh-TW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文字方塊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650" y="1252151"/>
                <a:ext cx="8704057" cy="1569660"/>
              </a:xfrm>
              <a:prstGeom prst="rect">
                <a:avLst/>
              </a:prstGeom>
              <a:blipFill rotWithShape="0">
                <a:blip r:embed="rId2"/>
                <a:stretch>
                  <a:fillRect l="-1822" t="-5426" b="-1124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3879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18705</TotalTime>
  <Words>395</Words>
  <Application>Microsoft Office PowerPoint</Application>
  <PresentationFormat>如螢幕大小 (4:3)</PresentationFormat>
  <Paragraphs>137</Paragraphs>
  <Slides>20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20</vt:i4>
      </vt:variant>
    </vt:vector>
  </HeadingPairs>
  <TitlesOfParts>
    <vt:vector size="27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An Efficient Algorithm for Computing Non-overlapping Inversion and Transposition Distance</vt:lpstr>
      <vt:lpstr>Abstract</vt:lpstr>
      <vt:lpstr>Problem definition</vt:lpstr>
      <vt:lpstr>Mutation fragment</vt:lpstr>
      <vt:lpstr>Mutation fragment</vt:lpstr>
      <vt:lpstr>Mutation tables M_1 and M_2</vt:lpstr>
      <vt:lpstr>Mutation tables M_1 and M_2</vt:lpstr>
      <vt:lpstr>Decompose the inversion operation</vt:lpstr>
      <vt:lpstr>Decompose the transposition operation</vt:lpstr>
      <vt:lpstr>Decompose the transposition operation</vt:lpstr>
      <vt:lpstr>Decompose the operations</vt:lpstr>
      <vt:lpstr>The Algorithm</vt:lpstr>
      <vt:lpstr>Extended mutation fragments</vt:lpstr>
      <vt:lpstr>Extended mutation fragments</vt:lpstr>
      <vt:lpstr>Extended mutation fragments</vt:lpstr>
      <vt:lpstr>Extended mutation fragments</vt:lpstr>
      <vt:lpstr>Extended mutation fragments</vt:lpstr>
      <vt:lpstr>Extended mutation fragments</vt:lpstr>
      <vt:lpstr>PowerPoint 簡報</vt:lpstr>
      <vt:lpstr>Time and space complexity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Bit-String Longest-Common-Subsequence Algorithm</dc:title>
  <dc:creator>YanLee</dc:creator>
  <cp:lastModifiedBy>pplab-class</cp:lastModifiedBy>
  <cp:revision>447</cp:revision>
  <dcterms:created xsi:type="dcterms:W3CDTF">2016-10-24T04:50:56Z</dcterms:created>
  <dcterms:modified xsi:type="dcterms:W3CDTF">2018-02-13T07:03:54Z</dcterms:modified>
</cp:coreProperties>
</file>