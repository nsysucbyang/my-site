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307" r:id="rId4"/>
    <p:sldId id="341" r:id="rId5"/>
    <p:sldId id="331" r:id="rId6"/>
    <p:sldId id="332" r:id="rId7"/>
    <p:sldId id="333" r:id="rId8"/>
    <p:sldId id="335" r:id="rId9"/>
    <p:sldId id="336" r:id="rId10"/>
    <p:sldId id="337" r:id="rId11"/>
    <p:sldId id="338" r:id="rId12"/>
    <p:sldId id="339" r:id="rId13"/>
    <p:sldId id="346" r:id="rId14"/>
    <p:sldId id="345" r:id="rId15"/>
    <p:sldId id="343" r:id="rId16"/>
    <p:sldId id="344" r:id="rId1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506" autoAdjust="0"/>
    <p:restoredTop sz="95048" autoAdjust="0"/>
  </p:normalViewPr>
  <p:slideViewPr>
    <p:cSldViewPr snapToGrid="0">
      <p:cViewPr varScale="1">
        <p:scale>
          <a:sx n="70" d="100"/>
          <a:sy n="70" d="100"/>
        </p:scale>
        <p:origin x="65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2D822E-287D-49A6-BB7D-CFD94BDB4C78}" type="datetimeFigureOut">
              <a:rPr lang="zh-TW" altLang="en-US" smtClean="0"/>
              <a:t>2018/10/3</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C6E11E-5ACF-409F-8557-659632981D46}" type="slidenum">
              <a:rPr lang="zh-TW" altLang="en-US" smtClean="0"/>
              <a:t>‹#›</a:t>
            </a:fld>
            <a:endParaRPr lang="zh-TW" altLang="en-US"/>
          </a:p>
        </p:txBody>
      </p:sp>
    </p:spTree>
    <p:extLst>
      <p:ext uri="{BB962C8B-B14F-4D97-AF65-F5344CB8AC3E}">
        <p14:creationId xmlns:p14="http://schemas.microsoft.com/office/powerpoint/2010/main" val="3157977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70C6E11E-5ACF-409F-8557-659632981D46}" type="slidenum">
              <a:rPr lang="zh-TW" altLang="en-US" smtClean="0"/>
              <a:t>1</a:t>
            </a:fld>
            <a:endParaRPr lang="zh-TW" altLang="en-US"/>
          </a:p>
        </p:txBody>
      </p:sp>
    </p:spTree>
    <p:extLst>
      <p:ext uri="{BB962C8B-B14F-4D97-AF65-F5344CB8AC3E}">
        <p14:creationId xmlns:p14="http://schemas.microsoft.com/office/powerpoint/2010/main" val="19323796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4</a:t>
            </a:fld>
            <a:endParaRPr lang="zh-TW" altLang="en-US"/>
          </a:p>
        </p:txBody>
      </p:sp>
    </p:spTree>
    <p:extLst>
      <p:ext uri="{BB962C8B-B14F-4D97-AF65-F5344CB8AC3E}">
        <p14:creationId xmlns:p14="http://schemas.microsoft.com/office/powerpoint/2010/main" val="1559353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5</a:t>
            </a:fld>
            <a:endParaRPr lang="zh-TW" altLang="en-US"/>
          </a:p>
        </p:txBody>
      </p:sp>
    </p:spTree>
    <p:extLst>
      <p:ext uri="{BB962C8B-B14F-4D97-AF65-F5344CB8AC3E}">
        <p14:creationId xmlns:p14="http://schemas.microsoft.com/office/powerpoint/2010/main" val="35641982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6</a:t>
            </a:fld>
            <a:endParaRPr lang="zh-TW" altLang="en-US"/>
          </a:p>
        </p:txBody>
      </p:sp>
    </p:spTree>
    <p:extLst>
      <p:ext uri="{BB962C8B-B14F-4D97-AF65-F5344CB8AC3E}">
        <p14:creationId xmlns:p14="http://schemas.microsoft.com/office/powerpoint/2010/main" val="23095608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7</a:t>
            </a:fld>
            <a:endParaRPr lang="zh-TW" altLang="en-US"/>
          </a:p>
        </p:txBody>
      </p:sp>
    </p:spTree>
    <p:extLst>
      <p:ext uri="{BB962C8B-B14F-4D97-AF65-F5344CB8AC3E}">
        <p14:creationId xmlns:p14="http://schemas.microsoft.com/office/powerpoint/2010/main" val="30064973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8</a:t>
            </a:fld>
            <a:endParaRPr lang="zh-TW" altLang="en-US"/>
          </a:p>
        </p:txBody>
      </p:sp>
    </p:spTree>
    <p:extLst>
      <p:ext uri="{BB962C8B-B14F-4D97-AF65-F5344CB8AC3E}">
        <p14:creationId xmlns:p14="http://schemas.microsoft.com/office/powerpoint/2010/main" val="12982617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9</a:t>
            </a:fld>
            <a:endParaRPr lang="zh-TW" altLang="en-US"/>
          </a:p>
        </p:txBody>
      </p:sp>
    </p:spTree>
    <p:extLst>
      <p:ext uri="{BB962C8B-B14F-4D97-AF65-F5344CB8AC3E}">
        <p14:creationId xmlns:p14="http://schemas.microsoft.com/office/powerpoint/2010/main" val="34658893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10</a:t>
            </a:fld>
            <a:endParaRPr lang="zh-TW" altLang="en-US"/>
          </a:p>
        </p:txBody>
      </p:sp>
    </p:spTree>
    <p:extLst>
      <p:ext uri="{BB962C8B-B14F-4D97-AF65-F5344CB8AC3E}">
        <p14:creationId xmlns:p14="http://schemas.microsoft.com/office/powerpoint/2010/main" val="28795022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11</a:t>
            </a:fld>
            <a:endParaRPr lang="zh-TW" altLang="en-US"/>
          </a:p>
        </p:txBody>
      </p:sp>
    </p:spTree>
    <p:extLst>
      <p:ext uri="{BB962C8B-B14F-4D97-AF65-F5344CB8AC3E}">
        <p14:creationId xmlns:p14="http://schemas.microsoft.com/office/powerpoint/2010/main" val="7540631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12</a:t>
            </a:fld>
            <a:endParaRPr lang="zh-TW" altLang="en-US"/>
          </a:p>
        </p:txBody>
      </p:sp>
    </p:spTree>
    <p:extLst>
      <p:ext uri="{BB962C8B-B14F-4D97-AF65-F5344CB8AC3E}">
        <p14:creationId xmlns:p14="http://schemas.microsoft.com/office/powerpoint/2010/main" val="16718180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13</a:t>
            </a:fld>
            <a:endParaRPr lang="zh-TW" altLang="en-US"/>
          </a:p>
        </p:txBody>
      </p:sp>
    </p:spTree>
    <p:extLst>
      <p:ext uri="{BB962C8B-B14F-4D97-AF65-F5344CB8AC3E}">
        <p14:creationId xmlns:p14="http://schemas.microsoft.com/office/powerpoint/2010/main" val="9505266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14</a:t>
            </a:fld>
            <a:endParaRPr lang="zh-TW" altLang="en-US"/>
          </a:p>
        </p:txBody>
      </p:sp>
    </p:spTree>
    <p:extLst>
      <p:ext uri="{BB962C8B-B14F-4D97-AF65-F5344CB8AC3E}">
        <p14:creationId xmlns:p14="http://schemas.microsoft.com/office/powerpoint/2010/main" val="30902713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15</a:t>
            </a:fld>
            <a:endParaRPr lang="zh-TW" altLang="en-US"/>
          </a:p>
        </p:txBody>
      </p:sp>
    </p:spTree>
    <p:extLst>
      <p:ext uri="{BB962C8B-B14F-4D97-AF65-F5344CB8AC3E}">
        <p14:creationId xmlns:p14="http://schemas.microsoft.com/office/powerpoint/2010/main" val="11899135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16</a:t>
            </a:fld>
            <a:endParaRPr lang="zh-TW" altLang="en-US"/>
          </a:p>
        </p:txBody>
      </p:sp>
    </p:spTree>
    <p:extLst>
      <p:ext uri="{BB962C8B-B14F-4D97-AF65-F5344CB8AC3E}">
        <p14:creationId xmlns:p14="http://schemas.microsoft.com/office/powerpoint/2010/main" val="26510457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2018/10/3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922107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2018/10/3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3490957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2018/10/3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290611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5E5C1F2B-1D51-40D0-A135-9C9D0A35B8E2}" type="datetimeFigureOut">
              <a:rPr lang="zh-TW" altLang="en-US" smtClean="0"/>
              <a:t>2018/10/3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3306913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5E5C1F2B-1D51-40D0-A135-9C9D0A35B8E2}" type="datetimeFigureOut">
              <a:rPr lang="zh-TW" altLang="en-US" smtClean="0"/>
              <a:t>2018/10/3</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33364730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5E5C1F2B-1D51-40D0-A135-9C9D0A35B8E2}" type="datetimeFigureOut">
              <a:rPr lang="zh-TW" altLang="en-US" smtClean="0"/>
              <a:t>2018/10/3</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7939764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5E5C1F2B-1D51-40D0-A135-9C9D0A35B8E2}" type="datetimeFigureOut">
              <a:rPr lang="zh-TW" altLang="en-US" smtClean="0"/>
              <a:t>2018/10/3</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1401091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5E5C1F2B-1D51-40D0-A135-9C9D0A35B8E2}" type="datetimeFigureOut">
              <a:rPr lang="zh-TW" altLang="en-US" smtClean="0"/>
              <a:t>2018/10/3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406270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5E5C1F2B-1D51-40D0-A135-9C9D0A35B8E2}" type="datetimeFigureOut">
              <a:rPr lang="zh-TW" altLang="en-US" smtClean="0"/>
              <a:t>2018/10/3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3781416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2018/10/3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1789388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2018/10/3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233407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5C1F2B-1D51-40D0-A135-9C9D0A35B8E2}" type="datetimeFigureOut">
              <a:rPr lang="zh-TW" altLang="en-US" smtClean="0"/>
              <a:t>2018/10/3</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40011100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512780" y="339422"/>
            <a:ext cx="11166437" cy="2902356"/>
          </a:xfrm>
        </p:spPr>
        <p:txBody>
          <a:bodyPr>
            <a:noAutofit/>
          </a:bodyPr>
          <a:lstStyle/>
          <a:p>
            <a:r>
              <a:rPr lang="en-US" altLang="zh-TW" sz="4800" b="1" dirty="0">
                <a:latin typeface="Times New Roman" panose="02020603050405020304" pitchFamily="18" charset="0"/>
                <a:cs typeface="Times New Roman" panose="02020603050405020304" pitchFamily="18" charset="0"/>
              </a:rPr>
              <a:t>Ensemble learning of rule-based evolutionary algorithm using multi-layer perceptron for supporting decisions in stock trading problems</a:t>
            </a:r>
            <a:endParaRPr lang="zh-TW" altLang="en-US" sz="4800" b="1" dirty="0">
              <a:latin typeface="Times New Roman" panose="02020603050405020304" pitchFamily="18" charset="0"/>
              <a:cs typeface="Times New Roman" panose="02020603050405020304" pitchFamily="18" charset="0"/>
            </a:endParaRPr>
          </a:p>
        </p:txBody>
      </p:sp>
      <p:sp>
        <p:nvSpPr>
          <p:cNvPr id="3" name="副標題 2"/>
          <p:cNvSpPr>
            <a:spLocks noGrp="1"/>
          </p:cNvSpPr>
          <p:nvPr>
            <p:ph type="subTitle" idx="1"/>
          </p:nvPr>
        </p:nvSpPr>
        <p:spPr>
          <a:xfrm>
            <a:off x="867248" y="3852626"/>
            <a:ext cx="10457502" cy="2719740"/>
          </a:xfrm>
        </p:spPr>
        <p:txBody>
          <a:bodyPr>
            <a:normAutofit/>
          </a:bodyPr>
          <a:lstStyle/>
          <a:p>
            <a:r>
              <a:rPr lang="en-US" altLang="zh-TW" dirty="0">
                <a:latin typeface="Times New Roman" panose="02020603050405020304" pitchFamily="18" charset="0"/>
                <a:cs typeface="Times New Roman" panose="02020603050405020304" pitchFamily="18" charset="0"/>
              </a:rPr>
              <a:t>Shingo </a:t>
            </a:r>
            <a:r>
              <a:rPr lang="en-US" altLang="zh-TW" dirty="0" err="1">
                <a:latin typeface="Times New Roman" panose="02020603050405020304" pitchFamily="18" charset="0"/>
                <a:cs typeface="Times New Roman" panose="02020603050405020304" pitchFamily="18" charset="0"/>
              </a:rPr>
              <a:t>Mabu</a:t>
            </a:r>
            <a:r>
              <a:rPr lang="en-US" altLang="zh-TW" dirty="0">
                <a:latin typeface="Times New Roman" panose="02020603050405020304" pitchFamily="18" charset="0"/>
                <a:cs typeface="Times New Roman" panose="02020603050405020304" pitchFamily="18" charset="0"/>
              </a:rPr>
              <a:t>, Masanao Obayashi, Takashi </a:t>
            </a:r>
            <a:r>
              <a:rPr lang="en-US" altLang="zh-TW" dirty="0" err="1">
                <a:latin typeface="Times New Roman" panose="02020603050405020304" pitchFamily="18" charset="0"/>
                <a:cs typeface="Times New Roman" panose="02020603050405020304" pitchFamily="18" charset="0"/>
              </a:rPr>
              <a:t>Kuremoto</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Applied Soft Computing 36 (2015) 357–367</a:t>
            </a:r>
          </a:p>
          <a:p>
            <a:r>
              <a:rPr lang="en-US" altLang="zh-TW" dirty="0">
                <a:latin typeface="Times New Roman" panose="02020603050405020304" pitchFamily="18" charset="0"/>
                <a:cs typeface="Times New Roman" panose="02020603050405020304" pitchFamily="18" charset="0"/>
              </a:rPr>
              <a:t>Presenter: Cheng-Han Wu</a:t>
            </a:r>
          </a:p>
          <a:p>
            <a:r>
              <a:rPr lang="en-US" altLang="zh-TW" dirty="0" smtClean="0">
                <a:latin typeface="Times New Roman" panose="02020603050405020304" pitchFamily="18" charset="0"/>
                <a:cs typeface="Times New Roman" panose="02020603050405020304" pitchFamily="18" charset="0"/>
              </a:rPr>
              <a:t>Date:2018/10/3</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568469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Abstract(1/2)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200" y="1825625"/>
            <a:ext cx="10515600" cy="4595054"/>
          </a:xfrm>
        </p:spPr>
        <p:txBody>
          <a:bodyPr>
            <a:normAutofit/>
          </a:bodyPr>
          <a:lstStyle/>
          <a:p>
            <a:pPr marL="0" indent="0">
              <a:buNone/>
            </a:pPr>
            <a:r>
              <a:rPr lang="en-US" altLang="zh-TW" dirty="0">
                <a:latin typeface="Times New Roman" panose="02020603050405020304" pitchFamily="18" charset="0"/>
                <a:cs typeface="Times New Roman" panose="02020603050405020304" pitchFamily="18" charset="0"/>
              </a:rPr>
              <a:t>Classification is a major research field in pattern recognition and many methods have been proposed to enhance the generalization ability of classification. Ensemble learning is one of the methods which enhance the classification ability by creating several classifiers and making decisions by combining their classification results. On the other hand, when we consider stock trading problems, trends of the markets are very important to decide to buy and sell stocks. In this case, the combinations of trading rules that can adapt to various kinds of trends are effective to judge the good timing of buying and selling.</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86666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Abstract(2/2)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200" y="1825625"/>
            <a:ext cx="10515600" cy="4595054"/>
          </a:xfrm>
        </p:spPr>
        <p:txBody>
          <a:bodyPr>
            <a:normAutofit/>
          </a:bodyPr>
          <a:lstStyle/>
          <a:p>
            <a:pPr marL="0" indent="0">
              <a:buNone/>
            </a:pPr>
            <a:r>
              <a:rPr lang="en-US" altLang="zh-TW" dirty="0">
                <a:latin typeface="Times New Roman" panose="02020603050405020304" pitchFamily="18" charset="0"/>
                <a:cs typeface="Times New Roman" panose="02020603050405020304" pitchFamily="18" charset="0"/>
              </a:rPr>
              <a:t>Therefore, in this paper, to enhance the performance of the stock trading system, ensemble learning mechanism of rule-based evolutionary algorithm using multi-layer perceptron (MLP) is proposed, where several rule pools for stock trading are created by rule-based evolutionary algorithm, and effective rule pools are adaptively selected by MLP and the selected rule pools cooperatively make decisions of stock trading. In the simulations, it is clarified that the proposed method shows higher profits or lower losses than the method without ensemble learning and buy &amp; hold.</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474020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latin typeface="Times New Roman" panose="02020603050405020304" pitchFamily="18" charset="0"/>
                <a:cs typeface="Times New Roman" panose="02020603050405020304" pitchFamily="18" charset="0"/>
              </a:rPr>
              <a:t>Simulation periods</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normAutofit/>
          </a:bodyPr>
          <a:lstStyle/>
          <a:p>
            <a:r>
              <a:rPr lang="nl-NL" altLang="zh-TW" dirty="0" smtClean="0">
                <a:latin typeface="Times New Roman" panose="02020603050405020304" pitchFamily="18" charset="0"/>
                <a:cs typeface="Times New Roman" panose="02020603050405020304" pitchFamily="18" charset="0"/>
              </a:rPr>
              <a:t>Period 1:</a:t>
            </a:r>
          </a:p>
          <a:p>
            <a:pPr lvl="1"/>
            <a:r>
              <a:rPr lang="nl-NL" altLang="zh-TW" sz="2800" dirty="0" smtClean="0">
                <a:latin typeface="Times New Roman" panose="02020603050405020304" pitchFamily="18" charset="0"/>
                <a:cs typeface="Times New Roman" panose="02020603050405020304" pitchFamily="18" charset="0"/>
              </a:rPr>
              <a:t>Training</a:t>
            </a:r>
            <a:r>
              <a:rPr lang="nl-NL" altLang="zh-TW" sz="2800" dirty="0">
                <a:latin typeface="Times New Roman" panose="02020603050405020304" pitchFamily="18" charset="0"/>
                <a:cs typeface="Times New Roman" panose="02020603050405020304" pitchFamily="18" charset="0"/>
              </a:rPr>
              <a:t>: Jan. 4, 2007–Dec. 30, </a:t>
            </a:r>
            <a:r>
              <a:rPr lang="nl-NL" altLang="zh-TW" sz="2800" dirty="0" smtClean="0">
                <a:latin typeface="Times New Roman" panose="02020603050405020304" pitchFamily="18" charset="0"/>
                <a:cs typeface="Times New Roman" panose="02020603050405020304" pitchFamily="18" charset="0"/>
              </a:rPr>
              <a:t>2008</a:t>
            </a:r>
          </a:p>
          <a:p>
            <a:pPr lvl="1"/>
            <a:r>
              <a:rPr lang="nl-NL" altLang="zh-TW" sz="2800" dirty="0" smtClean="0">
                <a:latin typeface="Times New Roman" panose="02020603050405020304" pitchFamily="18" charset="0"/>
                <a:cs typeface="Times New Roman" panose="02020603050405020304" pitchFamily="18" charset="0"/>
              </a:rPr>
              <a:t>Testing</a:t>
            </a:r>
            <a:r>
              <a:rPr lang="nl-NL" altLang="zh-TW" sz="2800" dirty="0">
                <a:latin typeface="Times New Roman" panose="02020603050405020304" pitchFamily="18" charset="0"/>
                <a:cs typeface="Times New Roman" panose="02020603050405020304" pitchFamily="18" charset="0"/>
              </a:rPr>
              <a:t>: Jan. 4, 2010–Dec. 30, 2010 </a:t>
            </a:r>
            <a:endParaRPr lang="nl-NL" altLang="zh-TW" sz="2800" dirty="0" smtClean="0">
              <a:latin typeface="Times New Roman" panose="02020603050405020304" pitchFamily="18" charset="0"/>
              <a:cs typeface="Times New Roman" panose="02020603050405020304" pitchFamily="18" charset="0"/>
            </a:endParaRPr>
          </a:p>
          <a:p>
            <a:r>
              <a:rPr lang="nl-NL" altLang="zh-TW" dirty="0" smtClean="0">
                <a:latin typeface="Times New Roman" panose="02020603050405020304" pitchFamily="18" charset="0"/>
                <a:cs typeface="Times New Roman" panose="02020603050405020304" pitchFamily="18" charset="0"/>
              </a:rPr>
              <a:t>Period 2:</a:t>
            </a:r>
            <a:endParaRPr lang="nl-NL" altLang="zh-TW" dirty="0">
              <a:latin typeface="Times New Roman" panose="02020603050405020304" pitchFamily="18" charset="0"/>
              <a:cs typeface="Times New Roman" panose="02020603050405020304" pitchFamily="18" charset="0"/>
            </a:endParaRPr>
          </a:p>
          <a:p>
            <a:pPr lvl="1"/>
            <a:r>
              <a:rPr lang="nl-NL" altLang="zh-TW" sz="2800" dirty="0">
                <a:latin typeface="Times New Roman" panose="02020603050405020304" pitchFamily="18" charset="0"/>
                <a:cs typeface="Times New Roman" panose="02020603050405020304" pitchFamily="18" charset="0"/>
              </a:rPr>
              <a:t>Training: Jan. 4, 2008–Dec. 30, </a:t>
            </a:r>
            <a:r>
              <a:rPr lang="nl-NL" altLang="zh-TW" sz="2800" dirty="0" smtClean="0">
                <a:latin typeface="Times New Roman" panose="02020603050405020304" pitchFamily="18" charset="0"/>
                <a:cs typeface="Times New Roman" panose="02020603050405020304" pitchFamily="18" charset="0"/>
              </a:rPr>
              <a:t>2010</a:t>
            </a:r>
          </a:p>
          <a:p>
            <a:pPr lvl="1"/>
            <a:r>
              <a:rPr lang="nl-NL" altLang="zh-TW" sz="2800" dirty="0" smtClean="0">
                <a:latin typeface="Times New Roman" panose="02020603050405020304" pitchFamily="18" charset="0"/>
                <a:cs typeface="Times New Roman" panose="02020603050405020304" pitchFamily="18" charset="0"/>
              </a:rPr>
              <a:t>Testing</a:t>
            </a:r>
            <a:r>
              <a:rPr lang="nl-NL" altLang="zh-TW" sz="2800" dirty="0">
                <a:latin typeface="Times New Roman" panose="02020603050405020304" pitchFamily="18" charset="0"/>
                <a:cs typeface="Times New Roman" panose="02020603050405020304" pitchFamily="18" charset="0"/>
              </a:rPr>
              <a:t>: Jan. 4, 2011–Dec. 30, </a:t>
            </a:r>
            <a:r>
              <a:rPr lang="nl-NL" altLang="zh-TW" sz="2800" dirty="0" smtClean="0">
                <a:latin typeface="Times New Roman" panose="02020603050405020304" pitchFamily="18" charset="0"/>
                <a:cs typeface="Times New Roman" panose="02020603050405020304" pitchFamily="18" charset="0"/>
              </a:rPr>
              <a:t>2011 </a:t>
            </a:r>
            <a:endParaRPr lang="zh-TW" altLang="en-US" sz="2800" dirty="0">
              <a:latin typeface="Times New Roman" panose="02020603050405020304" pitchFamily="18" charset="0"/>
              <a:cs typeface="Times New Roman" panose="02020603050405020304" pitchFamily="18" charset="0"/>
            </a:endParaRPr>
          </a:p>
        </p:txBody>
      </p:sp>
      <p:pic>
        <p:nvPicPr>
          <p:cNvPr id="7" name="內容版面配置區 6">
            <a:extLst>
              <a:ext uri="{FF2B5EF4-FFF2-40B4-BE49-F238E27FC236}">
                <a16:creationId xmlns:a16="http://schemas.microsoft.com/office/drawing/2014/main" xmlns="" id="{311DAAF2-1F92-4488-B3FA-15A6028D30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7791" y="4734356"/>
            <a:ext cx="6412088" cy="2123644"/>
          </a:xfrm>
          <a:prstGeom prst="rect">
            <a:avLst/>
          </a:prstGeom>
        </p:spPr>
      </p:pic>
    </p:spTree>
    <p:extLst>
      <p:ext uri="{BB962C8B-B14F-4D97-AF65-F5344CB8AC3E}">
        <p14:creationId xmlns:p14="http://schemas.microsoft.com/office/powerpoint/2010/main" val="448734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Genetic network programming (GNP)</a:t>
            </a:r>
            <a:endParaRPr lang="zh-TW" altLang="en-US" dirty="0">
              <a:latin typeface="Times New Roman" panose="02020603050405020304" pitchFamily="18" charset="0"/>
              <a:cs typeface="Times New Roman" panose="02020603050405020304" pitchFamily="18" charset="0"/>
            </a:endParaRPr>
          </a:p>
        </p:txBody>
      </p:sp>
      <p:pic>
        <p:nvPicPr>
          <p:cNvPr id="7" name="內容版面配置區 6">
            <a:extLst>
              <a:ext uri="{FF2B5EF4-FFF2-40B4-BE49-F238E27FC236}">
                <a16:creationId xmlns:a16="http://schemas.microsoft.com/office/drawing/2014/main" xmlns="" id="{E696EAB5-6081-4B0D-B0C3-9A83DEBCE17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032555" y="1675388"/>
            <a:ext cx="8126890" cy="4817487"/>
          </a:xfrm>
        </p:spPr>
      </p:pic>
    </p:spTree>
    <p:extLst>
      <p:ext uri="{BB962C8B-B14F-4D97-AF65-F5344CB8AC3E}">
        <p14:creationId xmlns:p14="http://schemas.microsoft.com/office/powerpoint/2010/main" val="206778657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GNP-RF</a:t>
            </a:r>
            <a:endParaRPr lang="zh-TW" altLang="en-US" dirty="0">
              <a:latin typeface="Times New Roman" panose="02020603050405020304" pitchFamily="18" charset="0"/>
              <a:cs typeface="Times New Roman" panose="02020603050405020304" pitchFamily="18" charset="0"/>
            </a:endParaRPr>
          </a:p>
        </p:txBody>
      </p:sp>
      <p:pic>
        <p:nvPicPr>
          <p:cNvPr id="11" name="內容版面配置區 10">
            <a:extLst>
              <a:ext uri="{FF2B5EF4-FFF2-40B4-BE49-F238E27FC236}">
                <a16:creationId xmlns:a16="http://schemas.microsoft.com/office/drawing/2014/main" xmlns="" id="{DC9B3AE9-F986-439D-9049-1F70740C4F3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436652" y="1886973"/>
            <a:ext cx="7596581" cy="2876811"/>
          </a:xfrm>
        </p:spPr>
      </p:pic>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xmlns="" id="{F20BE68A-16E6-4DD8-B995-7BB5A40F0CF2}"/>
                  </a:ext>
                </a:extLst>
              </p:cNvPr>
              <p:cNvSpPr txBox="1"/>
              <p:nvPr/>
            </p:nvSpPr>
            <p:spPr>
              <a:xfrm>
                <a:off x="3959604" y="5213757"/>
                <a:ext cx="4821641" cy="4655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𝑄</m:t>
                          </m:r>
                        </m:e>
                        <m:sub>
                          <m:r>
                            <a:rPr lang="en-US" altLang="zh-TW" sz="2800" b="0" i="1" smtClean="0">
                              <a:latin typeface="Cambria Math" panose="02040503050406030204" pitchFamily="18" charset="0"/>
                            </a:rPr>
                            <m:t>𝑖𝑝</m:t>
                          </m:r>
                        </m:sub>
                      </m:sSub>
                      <m:r>
                        <a:rPr lang="en-US" altLang="zh-TW" sz="2800" b="0" i="1" smtClean="0">
                          <a:latin typeface="Cambria Math" panose="02040503050406030204" pitchFamily="18" charset="0"/>
                          <a:ea typeface="Cambria Math" panose="02040503050406030204" pitchFamily="18" charset="0"/>
                        </a:rPr>
                        <m:t>←</m:t>
                      </m:r>
                      <m:sSub>
                        <m:sSubPr>
                          <m:ctrlPr>
                            <a:rPr lang="en-US" altLang="zh-TW" sz="2800" b="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𝑄</m:t>
                          </m:r>
                        </m:e>
                        <m:sub>
                          <m:r>
                            <a:rPr lang="en-US" altLang="zh-TW" sz="2800" b="0" i="1" smtClean="0">
                              <a:latin typeface="Cambria Math" panose="02040503050406030204" pitchFamily="18" charset="0"/>
                              <a:ea typeface="Cambria Math" panose="02040503050406030204" pitchFamily="18" charset="0"/>
                            </a:rPr>
                            <m:t>𝑖𝑝</m:t>
                          </m:r>
                        </m:sub>
                      </m:sSub>
                      <m:r>
                        <a:rPr lang="en-US" altLang="zh-TW" sz="2800" b="0" i="1" smtClean="0">
                          <a:latin typeface="Cambria Math" panose="02040503050406030204" pitchFamily="18" charset="0"/>
                          <a:ea typeface="Cambria Math" panose="02040503050406030204" pitchFamily="18" charset="0"/>
                        </a:rPr>
                        <m:t>+</m:t>
                      </m:r>
                      <m:r>
                        <a:rPr lang="zh-TW" altLang="en-US" sz="2800" b="0" i="1" smtClean="0">
                          <a:latin typeface="Cambria Math" panose="02040503050406030204" pitchFamily="18" charset="0"/>
                          <a:ea typeface="Cambria Math" panose="02040503050406030204" pitchFamily="18" charset="0"/>
                        </a:rPr>
                        <m:t>𝛼</m:t>
                      </m:r>
                      <m:r>
                        <a:rPr lang="en-US" altLang="zh-TW" sz="2800" b="0" i="1" smtClean="0">
                          <a:latin typeface="Cambria Math" panose="02040503050406030204" pitchFamily="18" charset="0"/>
                          <a:ea typeface="Cambria Math" panose="02040503050406030204" pitchFamily="18" charset="0"/>
                        </a:rPr>
                        <m:t>(</m:t>
                      </m:r>
                      <m:r>
                        <a:rPr lang="en-US" altLang="zh-TW" sz="2800" b="0" i="1" smtClean="0">
                          <a:latin typeface="Cambria Math" panose="02040503050406030204" pitchFamily="18" charset="0"/>
                          <a:ea typeface="Cambria Math" panose="02040503050406030204" pitchFamily="18" charset="0"/>
                        </a:rPr>
                        <m:t>𝑟</m:t>
                      </m:r>
                      <m:r>
                        <a:rPr lang="en-US" altLang="zh-TW" sz="2800" b="0" i="1" smtClean="0">
                          <a:latin typeface="Cambria Math" panose="02040503050406030204" pitchFamily="18" charset="0"/>
                          <a:ea typeface="Cambria Math" panose="02040503050406030204" pitchFamily="18" charset="0"/>
                        </a:rPr>
                        <m:t>+</m:t>
                      </m:r>
                      <m:r>
                        <a:rPr lang="zh-TW" altLang="en-US" sz="2800" b="0" i="1" smtClean="0">
                          <a:latin typeface="Cambria Math" panose="02040503050406030204" pitchFamily="18" charset="0"/>
                          <a:ea typeface="Cambria Math" panose="02040503050406030204" pitchFamily="18" charset="0"/>
                        </a:rPr>
                        <m:t>𝛾</m:t>
                      </m:r>
                      <m:sSub>
                        <m:sSubPr>
                          <m:ctrlPr>
                            <a:rPr lang="en-US" altLang="zh-TW" sz="2800" b="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𝑄</m:t>
                          </m:r>
                        </m:e>
                        <m:sub>
                          <m:r>
                            <a:rPr lang="en-US" altLang="zh-TW" sz="2800" b="0" i="1" smtClean="0">
                              <a:latin typeface="Cambria Math" panose="02040503050406030204" pitchFamily="18" charset="0"/>
                              <a:ea typeface="Cambria Math" panose="02040503050406030204" pitchFamily="18" charset="0"/>
                            </a:rPr>
                            <m:t>𝑗𝑞</m:t>
                          </m:r>
                        </m:sub>
                      </m:sSub>
                      <m:r>
                        <a:rPr lang="en-US" altLang="zh-TW" sz="2800" b="0" i="1" smtClean="0">
                          <a:latin typeface="Cambria Math" panose="02040503050406030204" pitchFamily="18" charset="0"/>
                          <a:ea typeface="Cambria Math" panose="02040503050406030204" pitchFamily="18" charset="0"/>
                        </a:rPr>
                        <m:t>−</m:t>
                      </m:r>
                      <m:sSub>
                        <m:sSubPr>
                          <m:ctrlPr>
                            <a:rPr lang="en-US" altLang="zh-TW" sz="2800" b="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𝑄</m:t>
                          </m:r>
                        </m:e>
                        <m:sub>
                          <m:r>
                            <a:rPr lang="en-US" altLang="zh-TW" sz="2800" b="0" i="1" smtClean="0">
                              <a:latin typeface="Cambria Math" panose="02040503050406030204" pitchFamily="18" charset="0"/>
                              <a:ea typeface="Cambria Math" panose="02040503050406030204" pitchFamily="18" charset="0"/>
                            </a:rPr>
                            <m:t>𝑖𝑝</m:t>
                          </m:r>
                        </m:sub>
                      </m:sSub>
                      <m:r>
                        <a:rPr lang="en-US" altLang="zh-TW" sz="2800" b="0" i="1" smtClean="0">
                          <a:latin typeface="Cambria Math" panose="02040503050406030204" pitchFamily="18" charset="0"/>
                          <a:ea typeface="Cambria Math" panose="02040503050406030204" pitchFamily="18" charset="0"/>
                        </a:rPr>
                        <m:t>)</m:t>
                      </m:r>
                    </m:oMath>
                  </m:oMathPara>
                </a14:m>
                <a:endParaRPr lang="zh-TW" altLang="en-US" sz="2800" dirty="0"/>
              </a:p>
            </p:txBody>
          </p:sp>
        </mc:Choice>
        <mc:Fallback xmlns="">
          <p:sp>
            <p:nvSpPr>
              <p:cNvPr id="12" name="文字方塊 11">
                <a:extLst>
                  <a:ext uri="{FF2B5EF4-FFF2-40B4-BE49-F238E27FC236}">
                    <a16:creationId xmlns:a16="http://schemas.microsoft.com/office/drawing/2014/main" id="{F20BE68A-16E6-4DD8-B995-7BB5A40F0CF2}"/>
                  </a:ext>
                </a:extLst>
              </p:cNvPr>
              <p:cNvSpPr txBox="1">
                <a:spLocks noRot="1" noChangeAspect="1" noMove="1" noResize="1" noEditPoints="1" noAdjustHandles="1" noChangeArrowheads="1" noChangeShapeType="1" noTextEdit="1"/>
              </p:cNvSpPr>
              <p:nvPr/>
            </p:nvSpPr>
            <p:spPr>
              <a:xfrm>
                <a:off x="3959604" y="5213757"/>
                <a:ext cx="4821641" cy="465577"/>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xmlns="" id="{49378768-385C-4C18-87DC-E46C669AAD49}"/>
                  </a:ext>
                </a:extLst>
              </p:cNvPr>
              <p:cNvSpPr txBox="1"/>
              <p:nvPr/>
            </p:nvSpPr>
            <p:spPr>
              <a:xfrm>
                <a:off x="4620361" y="5698420"/>
                <a:ext cx="3500125"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2800" b="0" i="1" smtClean="0">
                          <a:latin typeface="Cambria Math" panose="02040503050406030204" pitchFamily="18" charset="0"/>
                          <a:ea typeface="Cambria Math" panose="02040503050406030204" pitchFamily="18" charset="0"/>
                        </a:rPr>
                        <m:t>𝛼</m:t>
                      </m:r>
                      <m:r>
                        <a:rPr lang="zh-TW" altLang="en-US" sz="2800" b="0" i="1" smtClean="0">
                          <a:latin typeface="Cambria Math" panose="02040503050406030204" pitchFamily="18" charset="0"/>
                          <a:ea typeface="Cambria Math" panose="02040503050406030204" pitchFamily="18" charset="0"/>
                        </a:rPr>
                        <m:t>∈</m:t>
                      </m:r>
                      <m:d>
                        <m:dPr>
                          <m:endChr m:val="]"/>
                          <m:ctrlPr>
                            <a:rPr lang="en-US" altLang="zh-TW" sz="2800" b="0" i="1" smtClean="0">
                              <a:latin typeface="Cambria Math" panose="02040503050406030204" pitchFamily="18" charset="0"/>
                              <a:ea typeface="Cambria Math" panose="02040503050406030204" pitchFamily="18" charset="0"/>
                            </a:rPr>
                          </m:ctrlPr>
                        </m:dPr>
                        <m:e>
                          <m:r>
                            <a:rPr lang="en-US" altLang="zh-TW" sz="2800" b="0" i="1" smtClean="0">
                              <a:latin typeface="Cambria Math" panose="02040503050406030204" pitchFamily="18" charset="0"/>
                              <a:ea typeface="Cambria Math" panose="02040503050406030204" pitchFamily="18" charset="0"/>
                            </a:rPr>
                            <m:t>0,1.0</m:t>
                          </m:r>
                        </m:e>
                      </m:d>
                      <m:r>
                        <a:rPr lang="en-US" altLang="zh-TW" sz="2800" i="1">
                          <a:latin typeface="Cambria Math" panose="02040503050406030204" pitchFamily="18" charset="0"/>
                          <a:ea typeface="Cambria Math" panose="02040503050406030204" pitchFamily="18" charset="0"/>
                        </a:rPr>
                        <m:t>,</m:t>
                      </m:r>
                      <m:r>
                        <a:rPr lang="zh-TW" altLang="en-US" sz="2800" i="1">
                          <a:latin typeface="Cambria Math" panose="02040503050406030204" pitchFamily="18" charset="0"/>
                          <a:ea typeface="Cambria Math" panose="02040503050406030204" pitchFamily="18" charset="0"/>
                        </a:rPr>
                        <m:t>𝛾</m:t>
                      </m:r>
                      <m:r>
                        <a:rPr lang="zh-TW" altLang="en-US" sz="2800" i="1">
                          <a:latin typeface="Cambria Math" panose="02040503050406030204" pitchFamily="18" charset="0"/>
                          <a:ea typeface="Cambria Math" panose="02040503050406030204" pitchFamily="18" charset="0"/>
                        </a:rPr>
                        <m:t>∈[0,1</m:t>
                      </m:r>
                      <m:r>
                        <a:rPr lang="en-US" altLang="zh-TW" sz="2800" b="0" i="1" smtClean="0">
                          <a:latin typeface="Cambria Math" panose="02040503050406030204" pitchFamily="18" charset="0"/>
                          <a:ea typeface="Cambria Math" panose="02040503050406030204" pitchFamily="18" charset="0"/>
                        </a:rPr>
                        <m:t>.0]</m:t>
                      </m:r>
                    </m:oMath>
                  </m:oMathPara>
                </a14:m>
                <a:endParaRPr lang="zh-TW" altLang="en-US" sz="2800" dirty="0"/>
              </a:p>
            </p:txBody>
          </p:sp>
        </mc:Choice>
        <mc:Fallback xmlns="">
          <p:sp>
            <p:nvSpPr>
              <p:cNvPr id="5" name="文字方塊 4">
                <a:extLst>
                  <a:ext uri="{FF2B5EF4-FFF2-40B4-BE49-F238E27FC236}">
                    <a16:creationId xmlns:a16="http://schemas.microsoft.com/office/drawing/2014/main" id="{49378768-385C-4C18-87DC-E46C669AAD49}"/>
                  </a:ext>
                </a:extLst>
              </p:cNvPr>
              <p:cNvSpPr txBox="1">
                <a:spLocks noRot="1" noChangeAspect="1" noMove="1" noResize="1" noEditPoints="1" noAdjustHandles="1" noChangeArrowheads="1" noChangeShapeType="1" noTextEdit="1"/>
              </p:cNvSpPr>
              <p:nvPr/>
            </p:nvSpPr>
            <p:spPr>
              <a:xfrm>
                <a:off x="4620361" y="5698420"/>
                <a:ext cx="3500125" cy="430887"/>
              </a:xfrm>
              <a:prstGeom prst="rect">
                <a:avLst/>
              </a:prstGeom>
              <a:blipFill>
                <a:blip r:embed="rId5"/>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44051510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內容版面配置區 3">
                <a:extLst>
                  <a:ext uri="{FF2B5EF4-FFF2-40B4-BE49-F238E27FC236}">
                    <a16:creationId xmlns:a16="http://schemas.microsoft.com/office/drawing/2014/main" xmlns="" id="{BEB880C8-A79D-40A5-B7AE-7BFFF477E75A}"/>
                  </a:ext>
                </a:extLst>
              </p:cNvPr>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𝐼𝑓</m:t>
                      </m:r>
                      <m:r>
                        <a:rPr lang="en-US" altLang="zh-TW" b="0" i="1" smtClean="0">
                          <a:latin typeface="Cambria Math" panose="02040503050406030204" pitchFamily="18" charset="0"/>
                        </a:rPr>
                        <m:t> </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𝑋</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𝐴</m:t>
                      </m:r>
                      <m:r>
                        <a:rPr lang="en-US" altLang="zh-TW" b="0" i="1" smtClean="0">
                          <a:latin typeface="Cambria Math" panose="02040503050406030204" pitchFamily="18" charset="0"/>
                        </a:rPr>
                        <m:t> </m:t>
                      </m:r>
                      <m:r>
                        <a:rPr lang="en-US" altLang="zh-TW" b="0" i="1" smtClean="0">
                          <a:latin typeface="Cambria Math" panose="02040503050406030204" pitchFamily="18" charset="0"/>
                        </a:rPr>
                        <m:t>𝑎𝑛𝑑</m:t>
                      </m:r>
                      <m:r>
                        <a:rPr lang="en-US" altLang="zh-TW" b="0" i="1" smtClean="0">
                          <a:latin typeface="Cambria Math" panose="02040503050406030204" pitchFamily="18" charset="0"/>
                        </a:rPr>
                        <m:t> </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𝑋</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𝐵</m:t>
                      </m:r>
                      <m:r>
                        <a:rPr lang="en-US" altLang="zh-TW" b="0" i="1" smtClean="0">
                          <a:latin typeface="Cambria Math" panose="02040503050406030204" pitchFamily="18" charset="0"/>
                        </a:rPr>
                        <m:t> </m:t>
                      </m:r>
                      <m:r>
                        <a:rPr lang="en-US" altLang="zh-TW" b="0" i="1" smtClean="0">
                          <a:latin typeface="Cambria Math" panose="02040503050406030204" pitchFamily="18" charset="0"/>
                        </a:rPr>
                        <m:t>𝑎𝑛𝑑</m:t>
                      </m:r>
                      <m:r>
                        <a:rPr lang="en-US" altLang="zh-TW" b="0" i="1" smtClean="0">
                          <a:latin typeface="Cambria Math" panose="02040503050406030204" pitchFamily="18" charset="0"/>
                        </a:rPr>
                        <m:t> </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𝑋</m:t>
                          </m:r>
                        </m:e>
                        <m:sub>
                          <m:r>
                            <a:rPr lang="en-US" altLang="zh-TW" b="0" i="1" smtClean="0">
                              <a:latin typeface="Cambria Math" panose="02040503050406030204" pitchFamily="18" charset="0"/>
                            </a:rPr>
                            <m:t>3</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𝐶</m:t>
                      </m:r>
                      <m:r>
                        <a:rPr lang="en-US" altLang="zh-TW" b="0" i="1" smtClean="0">
                          <a:latin typeface="Cambria Math" panose="02040503050406030204" pitchFamily="18" charset="0"/>
                        </a:rPr>
                        <m:t>, </m:t>
                      </m:r>
                      <m:r>
                        <a:rPr lang="en-US" altLang="zh-TW" b="0" i="1" smtClean="0">
                          <a:latin typeface="Cambria Math" panose="02040503050406030204" pitchFamily="18" charset="0"/>
                        </a:rPr>
                        <m:t>𝑡h𝑒𝑛</m:t>
                      </m:r>
                      <m:r>
                        <a:rPr lang="en-US" altLang="zh-TW" b="0" i="1" smtClean="0">
                          <a:latin typeface="Cambria Math" panose="02040503050406030204" pitchFamily="18" charset="0"/>
                        </a:rPr>
                        <m:t> </m:t>
                      </m:r>
                      <m:r>
                        <a:rPr lang="en-US" altLang="zh-TW" b="0" i="1" smtClean="0">
                          <a:latin typeface="Cambria Math" panose="02040503050406030204" pitchFamily="18" charset="0"/>
                        </a:rPr>
                        <m:t>𝑌</m:t>
                      </m:r>
                      <m:r>
                        <a:rPr lang="en-US" altLang="zh-TW" b="0" i="1" smtClean="0">
                          <a:latin typeface="Cambria Math" panose="02040503050406030204" pitchFamily="18" charset="0"/>
                        </a:rPr>
                        <m:t>=</m:t>
                      </m:r>
                      <m:r>
                        <a:rPr lang="en-US" altLang="zh-TW" b="0" i="1" smtClean="0">
                          <a:latin typeface="Cambria Math" panose="02040503050406030204" pitchFamily="18" charset="0"/>
                        </a:rPr>
                        <m:t>𝐷</m:t>
                      </m:r>
                    </m:oMath>
                  </m:oMathPara>
                </a14:m>
                <a:endParaRPr lang="en-US" altLang="zh-TW" b="0" dirty="0"/>
              </a:p>
              <a:p>
                <a:endParaRPr lang="zh-TW" altLang="en-US" dirty="0"/>
              </a:p>
            </p:txBody>
          </p:sp>
        </mc:Choice>
        <mc:Fallback>
          <p:sp>
            <p:nvSpPr>
              <p:cNvPr id="4" name="內容版面配置區 3">
                <a:extLst>
                  <a:ext uri="{FF2B5EF4-FFF2-40B4-BE49-F238E27FC236}">
                    <a16:creationId xmlns:a16="http://schemas.microsoft.com/office/drawing/2014/main" xmlns:a14="http://schemas.microsoft.com/office/drawing/2010/main" xmlns="" id="{BEB880C8-A79D-40A5-B7AE-7BFFF477E75A}"/>
                  </a:ext>
                </a:extLst>
              </p:cNvPr>
              <p:cNvSpPr>
                <a:spLocks noGrp="1" noRot="1" noChangeAspect="1" noMove="1" noResize="1" noEditPoints="1" noAdjustHandles="1" noChangeArrowheads="1" noChangeShapeType="1" noTextEdit="1"/>
              </p:cNvSpPr>
              <p:nvPr>
                <p:ph idx="1"/>
              </p:nvPr>
            </p:nvSpPr>
            <p:spPr>
              <a:blipFill rotWithShape="0">
                <a:blip r:embed="rId3"/>
                <a:stretch>
                  <a:fillRect/>
                </a:stretch>
              </a:blipFill>
            </p:spPr>
            <p:txBody>
              <a:bodyPr/>
              <a:lstStyle/>
              <a:p>
                <a:r>
                  <a:rPr lang="zh-TW" altLang="en-US">
                    <a:noFill/>
                  </a:rPr>
                  <a:t> </a:t>
                </a:r>
              </a:p>
            </p:txBody>
          </p:sp>
        </mc:Fallback>
      </mc:AlternateContent>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Rule pool generation (1/2)</a:t>
            </a:r>
            <a:endParaRPr lang="zh-TW" altLang="en-US" dirty="0">
              <a:latin typeface="Times New Roman" panose="02020603050405020304" pitchFamily="18" charset="0"/>
              <a:cs typeface="Times New Roman" panose="02020603050405020304" pitchFamily="18" charset="0"/>
            </a:endParaRPr>
          </a:p>
        </p:txBody>
      </p:sp>
      <p:pic>
        <p:nvPicPr>
          <p:cNvPr id="7" name="圖片 6">
            <a:extLst>
              <a:ext uri="{FF2B5EF4-FFF2-40B4-BE49-F238E27FC236}">
                <a16:creationId xmlns:a16="http://schemas.microsoft.com/office/drawing/2014/main" xmlns="" id="{E2291AEE-CB04-49F8-82EB-AF40370023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17061" y="2378534"/>
            <a:ext cx="9357877" cy="3798429"/>
          </a:xfrm>
          <a:prstGeom prst="rect">
            <a:avLst/>
          </a:prstGeom>
        </p:spPr>
      </p:pic>
    </p:spTree>
    <p:extLst>
      <p:ext uri="{BB962C8B-B14F-4D97-AF65-F5344CB8AC3E}">
        <p14:creationId xmlns:p14="http://schemas.microsoft.com/office/powerpoint/2010/main" val="77320723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Rule pool generation (2/2)</a:t>
            </a:r>
            <a:endParaRPr lang="zh-TW" altLang="en-US" dirty="0">
              <a:latin typeface="Times New Roman" panose="02020603050405020304" pitchFamily="18" charset="0"/>
              <a:cs typeface="Times New Roman" panose="02020603050405020304" pitchFamily="18" charset="0"/>
            </a:endParaRPr>
          </a:p>
        </p:txBody>
      </p:sp>
      <p:sp>
        <p:nvSpPr>
          <p:cNvPr id="5" name="內容版面配置區 4">
            <a:extLst>
              <a:ext uri="{FF2B5EF4-FFF2-40B4-BE49-F238E27FC236}">
                <a16:creationId xmlns:a16="http://schemas.microsoft.com/office/drawing/2014/main" xmlns="" id="{D62D77B5-DE94-4698-9AA0-BA75DAA91FD1}"/>
              </a:ext>
            </a:extLst>
          </p:cNvPr>
          <p:cNvSpPr>
            <a:spLocks noGrp="1"/>
          </p:cNvSpPr>
          <p:nvPr>
            <p:ph idx="1"/>
          </p:nvPr>
        </p:nvSpPr>
        <p:spPr/>
        <p:txBody>
          <a:bodyPr/>
          <a:lstStyle/>
          <a:p>
            <a:endParaRPr lang="zh-TW" altLang="en-US"/>
          </a:p>
        </p:txBody>
      </p:sp>
      <p:pic>
        <p:nvPicPr>
          <p:cNvPr id="8" name="內容版面配置區 17">
            <a:extLst>
              <a:ext uri="{FF2B5EF4-FFF2-40B4-BE49-F238E27FC236}">
                <a16:creationId xmlns:a16="http://schemas.microsoft.com/office/drawing/2014/main" xmlns="" id="{C1A82862-9CD5-421A-A5FE-FBAE816BB7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2463" y="1825625"/>
            <a:ext cx="11344520" cy="4104233"/>
          </a:xfrm>
          <a:prstGeom prst="rect">
            <a:avLst/>
          </a:prstGeom>
        </p:spPr>
      </p:pic>
    </p:spTree>
    <p:extLst>
      <p:ext uri="{BB962C8B-B14F-4D97-AF65-F5344CB8AC3E}">
        <p14:creationId xmlns:p14="http://schemas.microsoft.com/office/powerpoint/2010/main" val="374358394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Rule pool extract</a:t>
            </a:r>
            <a:endParaRPr lang="zh-TW" altLang="en-US" dirty="0">
              <a:latin typeface="Times New Roman" panose="02020603050405020304" pitchFamily="18" charset="0"/>
              <a:cs typeface="Times New Roman" panose="02020603050405020304" pitchFamily="18" charset="0"/>
            </a:endParaRPr>
          </a:p>
        </p:txBody>
      </p:sp>
      <p:pic>
        <p:nvPicPr>
          <p:cNvPr id="4" name="內容版面配置區 3">
            <a:extLst>
              <a:ext uri="{FF2B5EF4-FFF2-40B4-BE49-F238E27FC236}">
                <a16:creationId xmlns:a16="http://schemas.microsoft.com/office/drawing/2014/main" xmlns="" id="{EA04307E-0B73-4255-B13C-EA95242952F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123607" y="1825625"/>
            <a:ext cx="5424775" cy="3970711"/>
          </a:xfrm>
        </p:spPr>
      </p:pic>
      <p:sp>
        <p:nvSpPr>
          <p:cNvPr id="6" name="文字方塊 5">
            <a:extLst>
              <a:ext uri="{FF2B5EF4-FFF2-40B4-BE49-F238E27FC236}">
                <a16:creationId xmlns:a16="http://schemas.microsoft.com/office/drawing/2014/main" xmlns="" id="{4C43F823-FA10-47F3-B418-53465207180D}"/>
              </a:ext>
            </a:extLst>
          </p:cNvPr>
          <p:cNvSpPr txBox="1"/>
          <p:nvPr/>
        </p:nvSpPr>
        <p:spPr>
          <a:xfrm>
            <a:off x="3383612" y="5969655"/>
            <a:ext cx="5424775" cy="523220"/>
          </a:xfrm>
          <a:prstGeom prst="rect">
            <a:avLst/>
          </a:prstGeom>
          <a:noFill/>
        </p:spPr>
        <p:txBody>
          <a:bodyPr wrap="square" rtlCol="0">
            <a:spAutoFit/>
          </a:bodyPr>
          <a:lstStyle/>
          <a:p>
            <a:r>
              <a:rPr lang="en-US" altLang="zh-TW" sz="2800" dirty="0">
                <a:latin typeface="Times New Roman" panose="02020603050405020304" pitchFamily="18" charset="0"/>
                <a:cs typeface="Times New Roman" panose="02020603050405020304" pitchFamily="18" charset="0"/>
              </a:rPr>
              <a:t>2008-2010 in Tokyo stock exchange</a:t>
            </a:r>
            <a:endParaRPr lang="zh-TW"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871881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MLP</a:t>
            </a:r>
            <a:endParaRPr lang="zh-TW" altLang="en-US" dirty="0">
              <a:latin typeface="Times New Roman" panose="02020603050405020304" pitchFamily="18" charset="0"/>
              <a:cs typeface="Times New Roman" panose="02020603050405020304" pitchFamily="18" charset="0"/>
            </a:endParaRPr>
          </a:p>
        </p:txBody>
      </p:sp>
      <p:pic>
        <p:nvPicPr>
          <p:cNvPr id="8" name="內容版面配置區 7">
            <a:extLst>
              <a:ext uri="{FF2B5EF4-FFF2-40B4-BE49-F238E27FC236}">
                <a16:creationId xmlns:a16="http://schemas.microsoft.com/office/drawing/2014/main" xmlns="" id="{999C2823-C835-4CDF-A41C-CD3225A7062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645694" y="1453317"/>
            <a:ext cx="4900612" cy="4916593"/>
          </a:xfrm>
        </p:spPr>
      </p:pic>
    </p:spTree>
    <p:extLst>
      <p:ext uri="{BB962C8B-B14F-4D97-AF65-F5344CB8AC3E}">
        <p14:creationId xmlns:p14="http://schemas.microsoft.com/office/powerpoint/2010/main" val="216504051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MLP training</a:t>
            </a:r>
            <a:endParaRPr lang="zh-TW" altLang="en-US" dirty="0">
              <a:latin typeface="Times New Roman" panose="02020603050405020304" pitchFamily="18" charset="0"/>
              <a:cs typeface="Times New Roman" panose="02020603050405020304" pitchFamily="18" charset="0"/>
            </a:endParaRPr>
          </a:p>
        </p:txBody>
      </p:sp>
      <p:pic>
        <p:nvPicPr>
          <p:cNvPr id="11" name="內容版面配置區 10">
            <a:extLst>
              <a:ext uri="{FF2B5EF4-FFF2-40B4-BE49-F238E27FC236}">
                <a16:creationId xmlns:a16="http://schemas.microsoft.com/office/drawing/2014/main" xmlns="" id="{184AD31B-C168-43FB-8A12-4BDE83DEF06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032497" y="1501570"/>
            <a:ext cx="8127006" cy="4919276"/>
          </a:xfrm>
        </p:spPr>
      </p:pic>
    </p:spTree>
    <p:extLst>
      <p:ext uri="{BB962C8B-B14F-4D97-AF65-F5344CB8AC3E}">
        <p14:creationId xmlns:p14="http://schemas.microsoft.com/office/powerpoint/2010/main" val="271908943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MLP testing</a:t>
            </a:r>
            <a:endParaRPr lang="zh-TW" altLang="en-US" dirty="0">
              <a:latin typeface="Times New Roman" panose="02020603050405020304" pitchFamily="18" charset="0"/>
              <a:cs typeface="Times New Roman" panose="02020603050405020304" pitchFamily="18" charset="0"/>
            </a:endParaRPr>
          </a:p>
        </p:txBody>
      </p:sp>
      <p:pic>
        <p:nvPicPr>
          <p:cNvPr id="6" name="內容版面配置區 5">
            <a:extLst>
              <a:ext uri="{FF2B5EF4-FFF2-40B4-BE49-F238E27FC236}">
                <a16:creationId xmlns:a16="http://schemas.microsoft.com/office/drawing/2014/main" xmlns="" id="{292D1D9B-B692-44FC-96AC-CBB087951DF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442624" y="1627709"/>
            <a:ext cx="5306751" cy="4666700"/>
          </a:xfrm>
        </p:spPr>
      </p:pic>
    </p:spTree>
    <p:extLst>
      <p:ext uri="{BB962C8B-B14F-4D97-AF65-F5344CB8AC3E}">
        <p14:creationId xmlns:p14="http://schemas.microsoft.com/office/powerpoint/2010/main" val="399808771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latin typeface="Times New Roman" panose="02020603050405020304" pitchFamily="18" charset="0"/>
                <a:cs typeface="Times New Roman" panose="02020603050405020304" pitchFamily="18" charset="0"/>
              </a:rPr>
              <a:t>MLP output</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p:txBody>
              <a:bodyPr>
                <a:normAutofit/>
              </a:bodyPr>
              <a:lstStyle/>
              <a:p>
                <a14:m>
                  <m:oMath xmlns:m="http://schemas.openxmlformats.org/officeDocument/2006/math">
                    <m:r>
                      <a:rPr lang="en-US" altLang="zh-TW" sz="2800" b="0" i="1" smtClean="0">
                        <a:latin typeface="Cambria Math" panose="02040503050406030204" pitchFamily="18" charset="0"/>
                        <a:cs typeface="Times New Roman" panose="02020603050405020304" pitchFamily="18" charset="0"/>
                      </a:rPr>
                      <m:t>𝑀𝑎𝑡𝑐h</m:t>
                    </m:r>
                    <m:d>
                      <m:dPr>
                        <m:ctrlPr>
                          <a:rPr lang="en-US" altLang="zh-TW" sz="2800" b="0" i="1" smtClean="0">
                            <a:latin typeface="Cambria Math" panose="02040503050406030204" pitchFamily="18" charset="0"/>
                            <a:cs typeface="Times New Roman" panose="02020603050405020304" pitchFamily="18" charset="0"/>
                          </a:rPr>
                        </m:ctrlPr>
                      </m:dPr>
                      <m:e>
                        <m:r>
                          <a:rPr lang="en-US" altLang="zh-TW" sz="2800" b="0" i="1" smtClean="0">
                            <a:latin typeface="Cambria Math" panose="02040503050406030204" pitchFamily="18" charset="0"/>
                            <a:cs typeface="Times New Roman" panose="02020603050405020304" pitchFamily="18" charset="0"/>
                          </a:rPr>
                          <m:t>𝑑</m:t>
                        </m:r>
                        <m:r>
                          <a:rPr lang="en-US" altLang="zh-TW" sz="2800" b="0" i="1" smtClean="0">
                            <a:latin typeface="Cambria Math" panose="02040503050406030204" pitchFamily="18" charset="0"/>
                            <a:cs typeface="Times New Roman" panose="02020603050405020304" pitchFamily="18" charset="0"/>
                          </a:rPr>
                          <m:t>,</m:t>
                        </m:r>
                        <m:r>
                          <a:rPr lang="en-US" altLang="zh-TW" sz="2800" b="0" i="1" smtClean="0">
                            <a:latin typeface="Cambria Math" panose="02040503050406030204" pitchFamily="18" charset="0"/>
                            <a:cs typeface="Times New Roman" panose="02020603050405020304" pitchFamily="18" charset="0"/>
                          </a:rPr>
                          <m:t>𝑟</m:t>
                        </m:r>
                      </m:e>
                    </m:d>
                    <m:r>
                      <a:rPr lang="en-US" altLang="zh-TW" sz="2800" b="0" i="1" smtClean="0">
                        <a:latin typeface="Cambria Math" panose="02040503050406030204" pitchFamily="18" charset="0"/>
                        <a:cs typeface="Times New Roman" panose="02020603050405020304" pitchFamily="18" charset="0"/>
                      </a:rPr>
                      <m:t>=</m:t>
                    </m:r>
                    <m:d>
                      <m:dPr>
                        <m:begChr m:val="{"/>
                        <m:endChr m:val=""/>
                        <m:ctrlPr>
                          <a:rPr lang="en-US" altLang="zh-TW" sz="2800" b="0" i="1" smtClean="0">
                            <a:latin typeface="Cambria Math" panose="02040503050406030204" pitchFamily="18" charset="0"/>
                            <a:cs typeface="Times New Roman" panose="02020603050405020304" pitchFamily="18" charset="0"/>
                          </a:rPr>
                        </m:ctrlPr>
                      </m:dPr>
                      <m:e>
                        <m:eqArr>
                          <m:eqArrPr>
                            <m:ctrlPr>
                              <a:rPr lang="en-US" altLang="zh-TW" sz="2800" b="0" i="1" smtClean="0">
                                <a:latin typeface="Cambria Math" panose="02040503050406030204" pitchFamily="18" charset="0"/>
                                <a:cs typeface="Times New Roman" panose="02020603050405020304" pitchFamily="18" charset="0"/>
                              </a:rPr>
                            </m:ctrlPr>
                          </m:eqArrPr>
                          <m:e>
                            <m:r>
                              <a:rPr lang="en-US" altLang="zh-TW" sz="2800" b="0" i="1" smtClean="0">
                                <a:latin typeface="Cambria Math" panose="02040503050406030204" pitchFamily="18" charset="0"/>
                                <a:cs typeface="Times New Roman" panose="02020603050405020304" pitchFamily="18" charset="0"/>
                              </a:rPr>
                              <m:t>1 </m:t>
                            </m:r>
                            <m:r>
                              <a:rPr lang="en-US" altLang="zh-TW" sz="2800" b="0" i="1" smtClean="0">
                                <a:latin typeface="Cambria Math" panose="02040503050406030204" pitchFamily="18" charset="0"/>
                                <a:cs typeface="Times New Roman" panose="02020603050405020304" pitchFamily="18" charset="0"/>
                              </a:rPr>
                              <m:t>𝑖𝑓</m:t>
                            </m:r>
                            <m:r>
                              <a:rPr lang="en-US" altLang="zh-TW" sz="2800" b="0" i="1" smtClean="0">
                                <a:latin typeface="Cambria Math" panose="02040503050406030204" pitchFamily="18" charset="0"/>
                                <a:cs typeface="Times New Roman" panose="02020603050405020304" pitchFamily="18" charset="0"/>
                              </a:rPr>
                              <m:t> </m:t>
                            </m:r>
                            <m:r>
                              <a:rPr lang="en-US" altLang="zh-TW" sz="2800" b="0" i="1" smtClean="0">
                                <a:latin typeface="Cambria Math" panose="02040503050406030204" pitchFamily="18" charset="0"/>
                                <a:cs typeface="Times New Roman" panose="02020603050405020304" pitchFamily="18" charset="0"/>
                              </a:rPr>
                              <m:t>𝑚𝑎𝑡𝑐h𝑖𝑛𝑔</m:t>
                            </m:r>
                          </m:e>
                          <m:e>
                            <m:r>
                              <a:rPr lang="en-US" altLang="zh-TW" sz="2800" b="0" i="1" smtClean="0">
                                <a:latin typeface="Cambria Math" panose="02040503050406030204" pitchFamily="18" charset="0"/>
                                <a:cs typeface="Times New Roman" panose="02020603050405020304" pitchFamily="18" charset="0"/>
                              </a:rPr>
                              <m:t>0 </m:t>
                            </m:r>
                            <m:r>
                              <a:rPr lang="en-US" altLang="zh-TW" sz="2800" b="0" i="1" smtClean="0">
                                <a:latin typeface="Cambria Math" panose="02040503050406030204" pitchFamily="18" charset="0"/>
                                <a:cs typeface="Times New Roman" panose="02020603050405020304" pitchFamily="18" charset="0"/>
                              </a:rPr>
                              <m:t>𝑜𝑡h𝑒𝑟𝑤𝑖𝑠𝑒</m:t>
                            </m:r>
                          </m:e>
                        </m:eqArr>
                      </m:e>
                    </m:d>
                  </m:oMath>
                </a14:m>
                <a:endParaRPr lang="en-US" altLang="zh-TW" sz="2800" dirty="0" smtClean="0">
                  <a:latin typeface="Times New Roman" panose="02020603050405020304" pitchFamily="18" charset="0"/>
                  <a:cs typeface="Times New Roman" panose="02020603050405020304" pitchFamily="18" charset="0"/>
                </a:endParaRPr>
              </a:p>
              <a:p>
                <a14:m>
                  <m:oMath xmlns:m="http://schemas.openxmlformats.org/officeDocument/2006/math">
                    <m:sSub>
                      <m:sSubPr>
                        <m:ctrlPr>
                          <a:rPr lang="en-US" altLang="zh-TW" sz="2800" b="0" i="1" smtClean="0">
                            <a:latin typeface="Cambria Math" panose="02040503050406030204" pitchFamily="18" charset="0"/>
                            <a:cs typeface="Times New Roman" panose="02020603050405020304" pitchFamily="18" charset="0"/>
                          </a:rPr>
                        </m:ctrlPr>
                      </m:sSubPr>
                      <m:e>
                        <m:r>
                          <a:rPr lang="en-US" altLang="zh-TW" sz="2800" b="0" i="1" smtClean="0">
                            <a:latin typeface="Cambria Math" panose="02040503050406030204" pitchFamily="18" charset="0"/>
                            <a:cs typeface="Times New Roman" panose="02020603050405020304" pitchFamily="18" charset="0"/>
                          </a:rPr>
                          <m:t>𝑚</m:t>
                        </m:r>
                      </m:e>
                      <m:sub>
                        <m:r>
                          <a:rPr lang="en-US" altLang="zh-TW" sz="2800" b="0" i="1" smtClean="0">
                            <a:latin typeface="Cambria Math" panose="02040503050406030204" pitchFamily="18" charset="0"/>
                            <a:cs typeface="Times New Roman" panose="02020603050405020304" pitchFamily="18" charset="0"/>
                          </a:rPr>
                          <m:t>𝑝</m:t>
                        </m:r>
                        <m:r>
                          <a:rPr lang="en-US" altLang="zh-TW" sz="2800" b="0" i="1" smtClean="0">
                            <a:latin typeface="Cambria Math" panose="02040503050406030204" pitchFamily="18" charset="0"/>
                            <a:cs typeface="Times New Roman" panose="02020603050405020304" pitchFamily="18" charset="0"/>
                          </a:rPr>
                          <m:t>,</m:t>
                        </m:r>
                        <m:r>
                          <a:rPr lang="en-US" altLang="zh-TW" sz="2800" b="0" i="1" smtClean="0">
                            <a:latin typeface="Cambria Math" panose="02040503050406030204" pitchFamily="18" charset="0"/>
                            <a:cs typeface="Times New Roman" panose="02020603050405020304" pitchFamily="18" charset="0"/>
                          </a:rPr>
                          <m:t>𝑐</m:t>
                        </m:r>
                      </m:sub>
                    </m:sSub>
                    <m:d>
                      <m:dPr>
                        <m:ctrlPr>
                          <a:rPr lang="en-US" altLang="zh-TW" sz="2800" b="0" i="1" smtClean="0">
                            <a:latin typeface="Cambria Math" panose="02040503050406030204" pitchFamily="18" charset="0"/>
                            <a:cs typeface="Times New Roman" panose="02020603050405020304" pitchFamily="18" charset="0"/>
                          </a:rPr>
                        </m:ctrlPr>
                      </m:dPr>
                      <m:e>
                        <m:r>
                          <a:rPr lang="en-US" altLang="zh-TW" sz="2800" b="0" i="1" smtClean="0">
                            <a:latin typeface="Cambria Math" panose="02040503050406030204" pitchFamily="18" charset="0"/>
                            <a:cs typeface="Times New Roman" panose="02020603050405020304" pitchFamily="18" charset="0"/>
                          </a:rPr>
                          <m:t>𝑑</m:t>
                        </m:r>
                      </m:e>
                    </m:d>
                    <m:r>
                      <a:rPr lang="en-US" altLang="zh-TW" sz="2800" b="0" i="1" smtClean="0">
                        <a:latin typeface="Cambria Math" panose="02040503050406030204" pitchFamily="18" charset="0"/>
                        <a:cs typeface="Times New Roman" panose="02020603050405020304" pitchFamily="18" charset="0"/>
                      </a:rPr>
                      <m:t>=</m:t>
                    </m:r>
                    <m:f>
                      <m:fPr>
                        <m:ctrlPr>
                          <a:rPr lang="en-US" altLang="zh-TW" sz="2800" b="0" i="1" smtClean="0">
                            <a:latin typeface="Cambria Math" panose="02040503050406030204" pitchFamily="18" charset="0"/>
                            <a:cs typeface="Times New Roman" panose="02020603050405020304" pitchFamily="18" charset="0"/>
                          </a:rPr>
                        </m:ctrlPr>
                      </m:fPr>
                      <m:num>
                        <m:r>
                          <a:rPr lang="en-US" altLang="zh-TW" sz="2800" b="0" i="1" smtClean="0">
                            <a:latin typeface="Cambria Math" panose="02040503050406030204" pitchFamily="18" charset="0"/>
                            <a:cs typeface="Times New Roman" panose="02020603050405020304" pitchFamily="18" charset="0"/>
                          </a:rPr>
                          <m:t>1</m:t>
                        </m:r>
                      </m:num>
                      <m:den>
                        <m:r>
                          <a:rPr lang="en-US" altLang="zh-TW" sz="2800" b="0" i="1" smtClean="0">
                            <a:latin typeface="Cambria Math" panose="02040503050406030204" pitchFamily="18" charset="0"/>
                            <a:cs typeface="Times New Roman" panose="02020603050405020304" pitchFamily="18" charset="0"/>
                          </a:rPr>
                          <m:t>|</m:t>
                        </m:r>
                        <m:sSub>
                          <m:sSubPr>
                            <m:ctrlPr>
                              <a:rPr lang="en-US" altLang="zh-TW" sz="2800" b="0" i="1" smtClean="0">
                                <a:latin typeface="Cambria Math" panose="02040503050406030204" pitchFamily="18" charset="0"/>
                                <a:cs typeface="Times New Roman" panose="02020603050405020304" pitchFamily="18" charset="0"/>
                              </a:rPr>
                            </m:ctrlPr>
                          </m:sSubPr>
                          <m:e>
                            <m:r>
                              <a:rPr lang="en-US" altLang="zh-TW" sz="2800" b="0" i="1" smtClean="0">
                                <a:latin typeface="Cambria Math" panose="02040503050406030204" pitchFamily="18" charset="0"/>
                                <a:cs typeface="Times New Roman" panose="02020603050405020304" pitchFamily="18" charset="0"/>
                              </a:rPr>
                              <m:t>𝑅</m:t>
                            </m:r>
                          </m:e>
                          <m:sub>
                            <m:r>
                              <a:rPr lang="en-US" altLang="zh-TW" sz="2800" b="0" i="1" smtClean="0">
                                <a:latin typeface="Cambria Math" panose="02040503050406030204" pitchFamily="18" charset="0"/>
                                <a:cs typeface="Times New Roman" panose="02020603050405020304" pitchFamily="18" charset="0"/>
                              </a:rPr>
                              <m:t>𝑝</m:t>
                            </m:r>
                            <m:r>
                              <a:rPr lang="en-US" altLang="zh-TW" sz="2800" b="0" i="1" smtClean="0">
                                <a:latin typeface="Cambria Math" panose="02040503050406030204" pitchFamily="18" charset="0"/>
                                <a:cs typeface="Times New Roman" panose="02020603050405020304" pitchFamily="18" charset="0"/>
                              </a:rPr>
                              <m:t>,</m:t>
                            </m:r>
                            <m:r>
                              <a:rPr lang="en-US" altLang="zh-TW" sz="2800" b="0" i="1" smtClean="0">
                                <a:latin typeface="Cambria Math" panose="02040503050406030204" pitchFamily="18" charset="0"/>
                                <a:cs typeface="Times New Roman" panose="02020603050405020304" pitchFamily="18" charset="0"/>
                              </a:rPr>
                              <m:t>𝑐</m:t>
                            </m:r>
                          </m:sub>
                        </m:sSub>
                        <m:r>
                          <a:rPr lang="en-US" altLang="zh-TW" sz="2800" b="0" i="1" smtClean="0">
                            <a:latin typeface="Cambria Math" panose="02040503050406030204" pitchFamily="18" charset="0"/>
                            <a:cs typeface="Times New Roman" panose="02020603050405020304" pitchFamily="18" charset="0"/>
                          </a:rPr>
                          <m:t>|</m:t>
                        </m:r>
                      </m:den>
                    </m:f>
                    <m:nary>
                      <m:naryPr>
                        <m:chr m:val="∑"/>
                        <m:supHide m:val="on"/>
                        <m:ctrlPr>
                          <a:rPr lang="en-US" altLang="zh-TW" sz="2800" b="0" i="1" smtClean="0">
                            <a:latin typeface="Cambria Math" panose="02040503050406030204" pitchFamily="18" charset="0"/>
                            <a:cs typeface="Times New Roman" panose="02020603050405020304" pitchFamily="18" charset="0"/>
                          </a:rPr>
                        </m:ctrlPr>
                      </m:naryPr>
                      <m:sub>
                        <m:r>
                          <m:rPr>
                            <m:brk m:alnAt="7"/>
                          </m:rPr>
                          <a:rPr lang="en-US" altLang="zh-TW" sz="2800" b="0" i="1" smtClean="0">
                            <a:latin typeface="Cambria Math" panose="02040503050406030204" pitchFamily="18" charset="0"/>
                            <a:cs typeface="Times New Roman" panose="02020603050405020304" pitchFamily="18" charset="0"/>
                          </a:rPr>
                          <m:t>𝑟</m:t>
                        </m:r>
                        <m:r>
                          <a:rPr lang="en-US" altLang="zh-TW" sz="28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𝑅</m:t>
                            </m:r>
                          </m:e>
                          <m:sub>
                            <m:r>
                              <a:rPr lang="en-US" altLang="zh-TW" i="1">
                                <a:latin typeface="Cambria Math" panose="02040503050406030204" pitchFamily="18" charset="0"/>
                                <a:cs typeface="Times New Roman" panose="02020603050405020304" pitchFamily="18" charset="0"/>
                              </a:rPr>
                              <m:t>𝑝</m:t>
                            </m:r>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𝑐</m:t>
                            </m:r>
                          </m:sub>
                        </m:sSub>
                      </m:sub>
                      <m:sup/>
                      <m:e>
                        <m:r>
                          <a:rPr lang="en-US" altLang="zh-TW" i="1">
                            <a:latin typeface="Cambria Math" panose="02040503050406030204" pitchFamily="18" charset="0"/>
                            <a:cs typeface="Times New Roman" panose="02020603050405020304" pitchFamily="18" charset="0"/>
                          </a:rPr>
                          <m:t>𝑀𝑎𝑡𝑐h</m:t>
                        </m:r>
                        <m:d>
                          <m:dPr>
                            <m:ctrlPr>
                              <a:rPr lang="en-US" altLang="zh-TW" i="1">
                                <a:latin typeface="Cambria Math" panose="02040503050406030204" pitchFamily="18" charset="0"/>
                                <a:cs typeface="Times New Roman" panose="02020603050405020304" pitchFamily="18" charset="0"/>
                              </a:rPr>
                            </m:ctrlPr>
                          </m:dPr>
                          <m:e>
                            <m:r>
                              <a:rPr lang="en-US" altLang="zh-TW" i="1">
                                <a:latin typeface="Cambria Math" panose="02040503050406030204" pitchFamily="18" charset="0"/>
                                <a:cs typeface="Times New Roman" panose="02020603050405020304" pitchFamily="18" charset="0"/>
                              </a:rPr>
                              <m:t>𝑑</m:t>
                            </m:r>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𝑟</m:t>
                            </m:r>
                          </m:e>
                        </m:d>
                      </m:e>
                    </m:nary>
                  </m:oMath>
                </a14:m>
                <a:endParaRPr lang="en-US" altLang="zh-TW" sz="2800" dirty="0" smtClean="0">
                  <a:latin typeface="Times New Roman" panose="02020603050405020304" pitchFamily="18" charset="0"/>
                  <a:cs typeface="Times New Roman" panose="02020603050405020304" pitchFamily="18" charset="0"/>
                </a:endParaRPr>
              </a:p>
              <a:p>
                <a14:m>
                  <m:oMath xmlns:m="http://schemas.openxmlformats.org/officeDocument/2006/math">
                    <m:sSub>
                      <m:sSubPr>
                        <m:ctrlPr>
                          <a:rPr lang="en-US" altLang="zh-TW" i="1">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𝑆𝑐𝑜𝑟𝑒</m:t>
                        </m:r>
                      </m:e>
                      <m:sub>
                        <m:r>
                          <a:rPr lang="en-US" altLang="zh-TW" i="1">
                            <a:latin typeface="Cambria Math" panose="02040503050406030204" pitchFamily="18" charset="0"/>
                            <a:cs typeface="Times New Roman" panose="02020603050405020304" pitchFamily="18" charset="0"/>
                          </a:rPr>
                          <m:t>𝑐</m:t>
                        </m:r>
                      </m:sub>
                    </m:sSub>
                    <m:d>
                      <m:dPr>
                        <m:ctrlPr>
                          <a:rPr lang="en-US" altLang="zh-TW" i="1">
                            <a:latin typeface="Cambria Math" panose="02040503050406030204" pitchFamily="18" charset="0"/>
                            <a:cs typeface="Times New Roman" panose="02020603050405020304" pitchFamily="18" charset="0"/>
                          </a:rPr>
                        </m:ctrlPr>
                      </m:dPr>
                      <m:e>
                        <m:r>
                          <a:rPr lang="en-US" altLang="zh-TW" i="1">
                            <a:latin typeface="Cambria Math" panose="02040503050406030204" pitchFamily="18" charset="0"/>
                            <a:cs typeface="Times New Roman" panose="02020603050405020304" pitchFamily="18" charset="0"/>
                          </a:rPr>
                          <m:t>𝑑</m:t>
                        </m:r>
                      </m:e>
                    </m:d>
                    <m:r>
                      <a:rPr lang="en-US" altLang="zh-TW" i="1">
                        <a:latin typeface="Cambria Math" panose="02040503050406030204" pitchFamily="18" charset="0"/>
                        <a:cs typeface="Times New Roman" panose="02020603050405020304" pitchFamily="18" charset="0"/>
                      </a:rPr>
                      <m:t>=</m:t>
                    </m:r>
                    <m:nary>
                      <m:naryPr>
                        <m:chr m:val="∑"/>
                        <m:supHide m:val="on"/>
                        <m:ctrlPr>
                          <a:rPr lang="en-US" altLang="zh-TW" i="1">
                            <a:latin typeface="Cambria Math" panose="02040503050406030204" pitchFamily="18" charset="0"/>
                            <a:cs typeface="Times New Roman" panose="02020603050405020304" pitchFamily="18" charset="0"/>
                          </a:rPr>
                        </m:ctrlPr>
                      </m:naryPr>
                      <m:sub>
                        <m:r>
                          <a:rPr lang="en-US" altLang="zh-TW" b="0" i="1" smtClean="0">
                            <a:latin typeface="Cambria Math" panose="02040503050406030204" pitchFamily="18" charset="0"/>
                            <a:cs typeface="Times New Roman" panose="02020603050405020304" pitchFamily="18" charset="0"/>
                          </a:rPr>
                          <m:t>𝑝</m:t>
                        </m:r>
                        <m:r>
                          <a:rPr lang="en-US" altLang="zh-TW"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𝑃</m:t>
                            </m:r>
                          </m:e>
                          <m:sub>
                            <m:r>
                              <a:rPr lang="en-US" altLang="zh-TW" i="1">
                                <a:latin typeface="Cambria Math" panose="02040503050406030204" pitchFamily="18" charset="0"/>
                                <a:cs typeface="Times New Roman" panose="02020603050405020304" pitchFamily="18" charset="0"/>
                              </a:rPr>
                              <m:t>𝑐</m:t>
                            </m:r>
                          </m:sub>
                        </m:sSub>
                      </m:sub>
                      <m:sup/>
                      <m:e>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𝑦</m:t>
                            </m:r>
                          </m:e>
                          <m:sub>
                            <m:r>
                              <a:rPr lang="en-US" altLang="zh-TW" b="0" i="1" smtClean="0">
                                <a:latin typeface="Cambria Math" panose="02040503050406030204" pitchFamily="18" charset="0"/>
                                <a:cs typeface="Times New Roman" panose="02020603050405020304" pitchFamily="18" charset="0"/>
                              </a:rPr>
                              <m:t>𝑝</m:t>
                            </m:r>
                          </m:sub>
                        </m:sSub>
                        <m:d>
                          <m:dPr>
                            <m:ctrlPr>
                              <a:rPr lang="en-US" altLang="zh-TW" i="1">
                                <a:latin typeface="Cambria Math" panose="02040503050406030204" pitchFamily="18" charset="0"/>
                                <a:cs typeface="Times New Roman" panose="02020603050405020304" pitchFamily="18" charset="0"/>
                              </a:rPr>
                            </m:ctrlPr>
                          </m:dPr>
                          <m:e>
                            <m:r>
                              <a:rPr lang="en-US" altLang="zh-TW" i="1">
                                <a:latin typeface="Cambria Math" panose="02040503050406030204" pitchFamily="18" charset="0"/>
                                <a:cs typeface="Times New Roman" panose="02020603050405020304" pitchFamily="18" charset="0"/>
                              </a:rPr>
                              <m:t>𝑑</m:t>
                            </m:r>
                          </m:e>
                        </m:d>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𝑐</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𝑏𝑢𝑦</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𝑠𝑒𝑙𝑙</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e>
                    </m:nary>
                  </m:oMath>
                </a14:m>
                <a:endParaRPr lang="zh-TW" altLang="en-US" sz="2800" dirty="0">
                  <a:latin typeface="Times New Roman" panose="02020603050405020304" pitchFamily="18" charset="0"/>
                  <a:cs typeface="Times New Roman" panose="02020603050405020304"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5813353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Total asset</a:t>
            </a:r>
            <a:endParaRPr lang="zh-TW" altLang="en-US" dirty="0">
              <a:latin typeface="Times New Roman" panose="02020603050405020304" pitchFamily="18" charset="0"/>
              <a:cs typeface="Times New Roman" panose="02020603050405020304" pitchFamily="18" charset="0"/>
            </a:endParaRPr>
          </a:p>
        </p:txBody>
      </p:sp>
      <p:sp>
        <p:nvSpPr>
          <p:cNvPr id="7" name="內容版面配置區 6">
            <a:extLst>
              <a:ext uri="{FF2B5EF4-FFF2-40B4-BE49-F238E27FC236}">
                <a16:creationId xmlns:a16="http://schemas.microsoft.com/office/drawing/2014/main" xmlns="" id="{9E35819D-25AE-4DA5-997A-FDA0B7A469BC}"/>
              </a:ext>
            </a:extLst>
          </p:cNvPr>
          <p:cNvSpPr>
            <a:spLocks noGrp="1"/>
          </p:cNvSpPr>
          <p:nvPr>
            <p:ph idx="1"/>
          </p:nvPr>
        </p:nvSpPr>
        <p:spPr/>
        <p:txBody>
          <a:bodyPr/>
          <a:lstStyle/>
          <a:p>
            <a:endParaRPr lang="zh-TW" altLang="en-US" dirty="0"/>
          </a:p>
        </p:txBody>
      </p:sp>
      <p:pic>
        <p:nvPicPr>
          <p:cNvPr id="4" name="圖片 3">
            <a:extLst>
              <a:ext uri="{FF2B5EF4-FFF2-40B4-BE49-F238E27FC236}">
                <a16:creationId xmlns:a16="http://schemas.microsoft.com/office/drawing/2014/main" xmlns="" id="{61336011-FC77-49E8-A575-92356C94E5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4993" y="1690688"/>
            <a:ext cx="6862014" cy="4419702"/>
          </a:xfrm>
          <a:prstGeom prst="rect">
            <a:avLst/>
          </a:prstGeom>
        </p:spPr>
      </p:pic>
    </p:spTree>
    <p:extLst>
      <p:ext uri="{BB962C8B-B14F-4D97-AF65-F5344CB8AC3E}">
        <p14:creationId xmlns:p14="http://schemas.microsoft.com/office/powerpoint/2010/main" val="256324345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Result in 2010</a:t>
            </a:r>
            <a:endParaRPr lang="zh-TW" altLang="en-US" dirty="0">
              <a:latin typeface="Times New Roman" panose="02020603050405020304" pitchFamily="18" charset="0"/>
              <a:cs typeface="Times New Roman" panose="02020603050405020304" pitchFamily="18" charset="0"/>
            </a:endParaRPr>
          </a:p>
        </p:txBody>
      </p:sp>
      <p:pic>
        <p:nvPicPr>
          <p:cNvPr id="7" name="內容版面配置區 6">
            <a:extLst>
              <a:ext uri="{FF2B5EF4-FFF2-40B4-BE49-F238E27FC236}">
                <a16:creationId xmlns:a16="http://schemas.microsoft.com/office/drawing/2014/main" xmlns="" id="{D00B6135-DFEC-4C9D-91BE-911B73F6887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32214" y="1690688"/>
            <a:ext cx="11527571" cy="4672991"/>
          </a:xfrm>
        </p:spPr>
      </p:pic>
    </p:spTree>
    <p:extLst>
      <p:ext uri="{BB962C8B-B14F-4D97-AF65-F5344CB8AC3E}">
        <p14:creationId xmlns:p14="http://schemas.microsoft.com/office/powerpoint/2010/main" val="428912014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Result in 2011</a:t>
            </a:r>
            <a:endParaRPr lang="zh-TW" altLang="en-US" dirty="0">
              <a:latin typeface="Times New Roman" panose="02020603050405020304" pitchFamily="18" charset="0"/>
              <a:cs typeface="Times New Roman" panose="02020603050405020304" pitchFamily="18" charset="0"/>
            </a:endParaRPr>
          </a:p>
        </p:txBody>
      </p:sp>
      <p:pic>
        <p:nvPicPr>
          <p:cNvPr id="6" name="內容版面配置區 5">
            <a:extLst>
              <a:ext uri="{FF2B5EF4-FFF2-40B4-BE49-F238E27FC236}">
                <a16:creationId xmlns:a16="http://schemas.microsoft.com/office/drawing/2014/main" xmlns="" id="{6F91D7C5-14B1-4C6B-B6C3-C3A10EA2AE9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39893" y="1690688"/>
            <a:ext cx="11512214" cy="4639731"/>
          </a:xfrm>
        </p:spPr>
      </p:pic>
    </p:spTree>
    <p:extLst>
      <p:ext uri="{BB962C8B-B14F-4D97-AF65-F5344CB8AC3E}">
        <p14:creationId xmlns:p14="http://schemas.microsoft.com/office/powerpoint/2010/main" val="359946709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25235</TotalTime>
  <Words>353</Words>
  <Application>Microsoft Office PowerPoint</Application>
  <PresentationFormat>寬螢幕</PresentationFormat>
  <Paragraphs>49</Paragraphs>
  <Slides>16</Slides>
  <Notes>14</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16</vt:i4>
      </vt:variant>
    </vt:vector>
  </HeadingPairs>
  <TitlesOfParts>
    <vt:vector size="23" baseType="lpstr">
      <vt:lpstr>新細明體</vt:lpstr>
      <vt:lpstr>Arial</vt:lpstr>
      <vt:lpstr>Calibri</vt:lpstr>
      <vt:lpstr>Calibri Light</vt:lpstr>
      <vt:lpstr>Cambria Math</vt:lpstr>
      <vt:lpstr>Times New Roman</vt:lpstr>
      <vt:lpstr>Office 佈景主題</vt:lpstr>
      <vt:lpstr>Ensemble learning of rule-based evolutionary algorithm using multi-layer perceptron for supporting decisions in stock trading problems</vt:lpstr>
      <vt:lpstr>Abstract(1/2)</vt:lpstr>
      <vt:lpstr>Abstract(2/2)</vt:lpstr>
      <vt:lpstr>Simulation periods</vt:lpstr>
      <vt:lpstr>Genetic network programming (GNP)</vt:lpstr>
      <vt:lpstr>GNP-RF</vt:lpstr>
      <vt:lpstr>Rule pool generation (1/2)</vt:lpstr>
      <vt:lpstr>Rule pool generation (2/2)</vt:lpstr>
      <vt:lpstr>Rule pool extract</vt:lpstr>
      <vt:lpstr>MLP</vt:lpstr>
      <vt:lpstr>MLP training</vt:lpstr>
      <vt:lpstr>MLP testing</vt:lpstr>
      <vt:lpstr>MLP output</vt:lpstr>
      <vt:lpstr>Total asset</vt:lpstr>
      <vt:lpstr>Result in 2010</vt:lpstr>
      <vt:lpstr>Result in 2011</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Efficient Selectivity and Backup Operators in Monte-Carlo Tree Search</dc:title>
  <dc:creator>Trixie</dc:creator>
  <cp:lastModifiedBy>pplab-class</cp:lastModifiedBy>
  <cp:revision>719</cp:revision>
  <dcterms:created xsi:type="dcterms:W3CDTF">2017-09-07T05:36:32Z</dcterms:created>
  <dcterms:modified xsi:type="dcterms:W3CDTF">2018-10-03T09:39:40Z</dcterms:modified>
</cp:coreProperties>
</file>