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4" r:id="rId7"/>
    <p:sldId id="264" r:id="rId8"/>
    <p:sldId id="265" r:id="rId9"/>
    <p:sldId id="270" r:id="rId10"/>
    <p:sldId id="276" r:id="rId11"/>
    <p:sldId id="266" r:id="rId12"/>
    <p:sldId id="267" r:id="rId13"/>
    <p:sldId id="268" r:id="rId14"/>
    <p:sldId id="269" r:id="rId15"/>
    <p:sldId id="275" r:id="rId16"/>
    <p:sldId id="262" r:id="rId17"/>
    <p:sldId id="263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867" autoAdjust="0"/>
  </p:normalViewPr>
  <p:slideViewPr>
    <p:cSldViewPr snapToGrid="0">
      <p:cViewPr varScale="1">
        <p:scale>
          <a:sx n="68" d="100"/>
          <a:sy n="68" d="100"/>
        </p:scale>
        <p:origin x="5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61DG2A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goo.gl/zwKsNb" TargetMode="External"/><Relationship Id="rId4" Type="http://schemas.openxmlformats.org/officeDocument/2006/relationships/hyperlink" Target="https://goo.gl/CAKxv3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https://goo.gl/61DG2A</a:t>
            </a:r>
            <a:endParaRPr lang="en-US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所在城市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https://goo.gl/CAKxv3</a:t>
            </a:r>
            <a:endParaRPr lang="en-US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所在的州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https://goo.gl/</a:t>
            </a:r>
            <a:r>
              <a:rPr lang="en-US" altLang="zh-TW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zwKsNb</a:t>
            </a:r>
            <a:endParaRPr lang="en-US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dirty="0"/>
              <a:t>Birth:12.02.1954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82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764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0915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7407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086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697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677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2266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6749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127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324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6988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449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2018/10/3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52072"/>
            <a:ext cx="9144000" cy="649317"/>
          </a:xfrm>
        </p:spPr>
        <p:txBody>
          <a:bodyPr>
            <a:normAutofit fontScale="90000"/>
          </a:bodyPr>
          <a:lstStyle/>
          <a:p>
            <a:r>
              <a:rPr lang="en-US" altLang="zh-TW" sz="36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A model and algorithm for sequence alignment</a:t>
            </a:r>
            <a:endParaRPr lang="zh-TW" altLang="en-US" sz="36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6457"/>
            <a:ext cx="9144000" cy="425017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S. V. </a:t>
            </a:r>
            <a:r>
              <a:rPr lang="en-US" altLang="zh-TW" sz="2000" dirty="0" err="1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Znamenskij</a:t>
            </a:r>
            <a:endParaRPr lang="zh-TW" altLang="en-US" sz="20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F2527E8-BB8F-41FB-8AF1-03DCC96BC069}"/>
              </a:ext>
            </a:extLst>
          </p:cNvPr>
          <p:cNvSpPr txBox="1"/>
          <p:nvPr/>
        </p:nvSpPr>
        <p:spPr>
          <a:xfrm>
            <a:off x="1748303" y="3696527"/>
            <a:ext cx="7517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Program System: Theory And Applications 2015 189-197</a:t>
            </a:r>
            <a:endParaRPr lang="zh-TW" altLang="en-US" sz="24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6BC92671-3184-4146-A361-F82079153C2E}"/>
              </a:ext>
            </a:extLst>
          </p:cNvPr>
          <p:cNvSpPr txBox="1"/>
          <p:nvPr/>
        </p:nvSpPr>
        <p:spPr>
          <a:xfrm>
            <a:off x="8147951" y="4998424"/>
            <a:ext cx="2520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Speaker: Du-Cheng Wu</a:t>
            </a:r>
            <a:endParaRPr lang="zh-TW" altLang="en-US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52A0654C-2F84-4026-9FCF-04C8DF590D5F}"/>
              </a:ext>
            </a:extLst>
          </p:cNvPr>
          <p:cNvSpPr txBox="1"/>
          <p:nvPr/>
        </p:nvSpPr>
        <p:spPr>
          <a:xfrm>
            <a:off x="8880331" y="5367756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Date: 2018.10.03</a:t>
            </a:r>
            <a:endParaRPr lang="zh-TW" altLang="en-US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Abstract(1/2)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892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The change detection problem is aimed at identifying common and different strings and usually has non-unique solutions. The identification of the best alignment is canonically based on finding a </a:t>
            </a:r>
            <a:r>
              <a:rPr lang="en-US" altLang="zh-TW" b="1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longest common subsequence (LCS) </a:t>
            </a:r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and is widely used for various purpose. However, many recent version control systems prefer alternative heuristic algorithms which not only are faster but also usually produce better alignment than finding </a:t>
            </a:r>
            <a:r>
              <a:rPr lang="en-US" altLang="zh-TW" b="1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LCS.</a:t>
            </a:r>
          </a:p>
          <a:p>
            <a:pPr marL="0" indent="0">
              <a:buNone/>
            </a:pPr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Two basic shortcoming of known alignment algorithms are outlined in the paper:</a:t>
            </a:r>
          </a:p>
          <a:p>
            <a:pPr marL="0" indent="0">
              <a:buNone/>
            </a:pPr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(1)even when the length of the longest common substring is close to that of the </a:t>
            </a:r>
            <a:r>
              <a:rPr lang="en-US" altLang="zh-TW" b="1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LCS</a:t>
            </a:r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, the latter </a:t>
            </a:r>
            <a:r>
              <a:rPr lang="en-US" altLang="zh-TW" dirty="0" smtClean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may </a:t>
            </a:r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consist of a great number of short uninformative substrings;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Abstract(2/2)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892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(2)known alternative </a:t>
            </a:r>
            <a:r>
              <a:rPr lang="en-US" altLang="zh-TW" dirty="0" smtClean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algorithms </a:t>
            </a:r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start with identifying the most informative common string, which sometimes omits from consideration common subsequence containing arbitrarily many aligned substrings of similar quality.</a:t>
            </a:r>
          </a:p>
          <a:p>
            <a:pPr marL="0" indent="0">
              <a:buNone/>
            </a:pPr>
            <a:r>
              <a:rPr lang="en-US" altLang="zh-TW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The sequence alignment problem is considered to be an abstract model for change detection in collaborative text editing designed to minimize the probability of merge conflict. A new cost function is defined as the probability of overlap between detected changes and a random string. This optimization avoids both shortcoming mentioned above. The simple cubic algorithm is proposed.</a:t>
            </a:r>
          </a:p>
        </p:txBody>
      </p:sp>
    </p:spTree>
    <p:extLst>
      <p:ext uri="{BB962C8B-B14F-4D97-AF65-F5344CB8AC3E}">
        <p14:creationId xmlns:p14="http://schemas.microsoft.com/office/powerpoint/2010/main" val="417761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98DE6718-CBF8-4F2D-8BB2-553F814AC937}"/>
              </a:ext>
            </a:extLst>
          </p:cNvPr>
          <p:cNvSpPr txBox="1"/>
          <p:nvPr/>
        </p:nvSpPr>
        <p:spPr>
          <a:xfrm>
            <a:off x="1570182" y="1356398"/>
            <a:ext cx="3807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A: EXTRA TETRAHEDRA</a:t>
            </a:r>
            <a:endParaRPr lang="zh-TW" altLang="en-US" sz="28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2B4B66A-78A1-47C7-8171-F79349A488D1}"/>
              </a:ext>
            </a:extLst>
          </p:cNvPr>
          <p:cNvSpPr txBox="1"/>
          <p:nvPr/>
        </p:nvSpPr>
        <p:spPr>
          <a:xfrm>
            <a:off x="1570182" y="1939933"/>
            <a:ext cx="42234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B: TETRAHEDRAL HEADER</a:t>
            </a:r>
            <a:endParaRPr lang="zh-TW" altLang="en-US" sz="28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xmlns="" id="{F973EBAC-9631-4DB6-A519-89A70D85C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182" y="2682925"/>
            <a:ext cx="4839854" cy="14921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xmlns="" id="{796417EE-9414-40A7-B21A-B56572AC7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182" y="4394847"/>
            <a:ext cx="4839854" cy="166353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A6AEB21D-0717-4D71-B9ED-BC6BB9A1AC8F}"/>
              </a:ext>
            </a:extLst>
          </p:cNvPr>
          <p:cNvSpPr txBox="1"/>
          <p:nvPr/>
        </p:nvSpPr>
        <p:spPr>
          <a:xfrm flipH="1">
            <a:off x="6834445" y="2905780"/>
            <a:ext cx="345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LCS:ETRAERAHEDR</a:t>
            </a:r>
            <a:endParaRPr lang="zh-TW" altLang="en-US" sz="28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1DF108BF-41DF-4106-BCC6-9165F03D5D39}"/>
              </a:ext>
            </a:extLst>
          </p:cNvPr>
          <p:cNvSpPr txBox="1"/>
          <p:nvPr/>
        </p:nvSpPr>
        <p:spPr>
          <a:xfrm>
            <a:off x="6834445" y="4777087"/>
            <a:ext cx="3033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NCS:TETRAHEDRA</a:t>
            </a:r>
            <a:endParaRPr lang="zh-TW" altLang="en-US" sz="28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8839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xmlns="" id="{F63A5489-05AE-46DF-8B21-28591E07CCAD}"/>
                  </a:ext>
                </a:extLst>
              </p:cNvPr>
              <p:cNvSpPr txBox="1"/>
              <p:nvPr/>
            </p:nvSpPr>
            <p:spPr>
              <a:xfrm>
                <a:off x="5288022" y="1554700"/>
                <a:ext cx="1615955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63A5489-05AE-46DF-8B21-28591E07C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022" y="1554700"/>
                <a:ext cx="1615955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72D8EC66-0245-4381-8DBA-1EF02F297B36}"/>
              </a:ext>
            </a:extLst>
          </p:cNvPr>
          <p:cNvSpPr txBox="1"/>
          <p:nvPr/>
        </p:nvSpPr>
        <p:spPr>
          <a:xfrm>
            <a:off x="1108363" y="1628471"/>
            <a:ext cx="400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The cost function of NCS</a:t>
            </a:r>
            <a:endParaRPr lang="zh-TW" altLang="en-US" sz="28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294A679F-360B-4306-853C-981636572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986" y="3052583"/>
            <a:ext cx="3670036" cy="113149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14B36E8D-4882-477D-9087-452BFB974D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954" y="2987218"/>
            <a:ext cx="3482110" cy="119685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xmlns="" id="{792F9278-720C-4932-9A12-857F6FD20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021" y="4569555"/>
            <a:ext cx="3865966" cy="27351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xmlns="" id="{6809A77E-06ED-4E0F-9FF4-D7C3E4A322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870" y="4556984"/>
            <a:ext cx="1026277" cy="2986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xmlns="" id="{37082692-1911-46FF-BE89-08BA0893BC06}"/>
                  </a:ext>
                </a:extLst>
              </p:cNvPr>
              <p:cNvSpPr txBox="1"/>
              <p:nvPr/>
            </p:nvSpPr>
            <p:spPr>
              <a:xfrm>
                <a:off x="1108363" y="2168472"/>
                <a:ext cx="7113396" cy="541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Leelawadee UI Semilight" panose="020B0402040204020203" pitchFamily="34" charset="-34"/>
                    <a:cs typeface="Leelawadee UI Semilight" panose="020B0402040204020203" pitchFamily="34" charset="-34"/>
                  </a:rPr>
                  <a:t>String of length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Leelawadee UI Semilight" panose="020B0402040204020203" pitchFamily="34" charset="-34"/>
                      </a:rPr>
                      <m:t>𝑙</m:t>
                    </m:r>
                  </m:oMath>
                </a14:m>
                <a:r>
                  <a:rPr lang="en-US" altLang="zh-TW" sz="2000" dirty="0">
                    <a:latin typeface="Leelawadee UI Semilight" panose="020B0402040204020203" pitchFamily="34" charset="-34"/>
                    <a:cs typeface="Leelawadee UI Semilight" panose="020B0402040204020203" pitchFamily="34" charset="-34"/>
                  </a:rPr>
                  <a:t> contains exactly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TW" altLang="en-US" sz="2000" dirty="0">
                    <a:latin typeface="Leelawadee UI Semilight" panose="020B0402040204020203" pitchFamily="34" charset="-34"/>
                    <a:cs typeface="Leelawadee UI Semilight" panose="020B0402040204020203" pitchFamily="34" charset="-34"/>
                  </a:rPr>
                  <a:t> </a:t>
                </a:r>
                <a:r>
                  <a:rPr lang="en-US" altLang="zh-TW" sz="2000" dirty="0">
                    <a:latin typeface="Leelawadee UI Semilight" panose="020B0402040204020203" pitchFamily="34" charset="-34"/>
                    <a:cs typeface="Leelawadee UI Semilight" panose="020B0402040204020203" pitchFamily="34" charset="-34"/>
                  </a:rPr>
                  <a:t>different substrings</a:t>
                </a:r>
                <a:endParaRPr lang="zh-TW" altLang="en-US" sz="2000" dirty="0">
                  <a:latin typeface="Leelawadee UI Semilight" panose="020B0402040204020203" pitchFamily="34" charset="-34"/>
                  <a:cs typeface="Leelawadee UI Semilight" panose="020B0402040204020203" pitchFamily="34" charset="-34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7082692-1911-46FF-BE89-08BA0893B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363" y="2168472"/>
                <a:ext cx="7113396" cy="541302"/>
              </a:xfrm>
              <a:prstGeom prst="rect">
                <a:avLst/>
              </a:prstGeom>
              <a:blipFill>
                <a:blip r:embed="rId8"/>
                <a:stretch>
                  <a:fillRect l="-943" b="-67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32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71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951826"/>
              </p:ext>
            </p:extLst>
          </p:nvPr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9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11239"/>
              </p:ext>
            </p:extLst>
          </p:nvPr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xmlns="" id="{777C5101-D034-4EE2-B423-5735D18132D6}"/>
              </a:ext>
            </a:extLst>
          </p:cNvPr>
          <p:cNvCxnSpPr/>
          <p:nvPr/>
        </p:nvCxnSpPr>
        <p:spPr>
          <a:xfrm flipH="1" flipV="1">
            <a:off x="3500582" y="4442691"/>
            <a:ext cx="674254" cy="3232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29C920F8-04A9-4E58-A806-8665C061180A}"/>
              </a:ext>
            </a:extLst>
          </p:cNvPr>
          <p:cNvCxnSpPr/>
          <p:nvPr/>
        </p:nvCxnSpPr>
        <p:spPr>
          <a:xfrm flipH="1" flipV="1">
            <a:off x="2567709" y="3851564"/>
            <a:ext cx="711200" cy="3140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xmlns="" id="{452B3E3F-E96A-4EF0-B844-B2E78C89D753}"/>
                  </a:ext>
                </a:extLst>
              </p:cNvPr>
              <p:cNvSpPr txBox="1"/>
              <p:nvPr/>
            </p:nvSpPr>
            <p:spPr>
              <a:xfrm>
                <a:off x="4483100" y="4905869"/>
                <a:ext cx="150552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2∗3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52B3E3F-E96A-4EF0-B844-B2E78C89D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100" y="4905869"/>
                <a:ext cx="1505527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15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005787"/>
              </p:ext>
            </p:extLst>
          </p:nvPr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64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811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749276"/>
              </p:ext>
            </p:extLst>
          </p:nvPr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2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1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118768"/>
              </p:ext>
            </p:extLst>
          </p:nvPr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2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89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538457"/>
              </p:ext>
            </p:extLst>
          </p:nvPr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2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607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070899"/>
              </p:ext>
            </p:extLst>
          </p:nvPr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2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91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23E07777-777D-47A7-963A-0A2BF8B6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680393"/>
              </p:ext>
            </p:extLst>
          </p:nvPr>
        </p:nvGraphicFramePr>
        <p:xfrm>
          <a:off x="838200" y="1313486"/>
          <a:ext cx="7289800" cy="500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xmlns="" val="159604475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5312558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378736274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982155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41717702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79612679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900303578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1988776916"/>
                    </a:ext>
                  </a:extLst>
                </a:gridCol>
              </a:tblGrid>
              <a:tr h="556278">
                <a:tc>
                  <a:txBody>
                    <a:bodyPr/>
                    <a:lstStyle/>
                    <a:p>
                      <a:pPr algn="r"/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H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298584418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407504091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15541073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1129207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A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1379026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2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47250814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E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641525144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T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1045020166"/>
                  </a:ext>
                </a:extLst>
              </a:tr>
              <a:tr h="55627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R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0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1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3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/>
                        <a:t>6</a:t>
                      </a:r>
                      <a:endParaRPr lang="zh-TW" altLang="en-US" sz="2100" dirty="0"/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108199" marR="108199" marT="54100" marB="5410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108199" marR="108199" marT="54100" marB="54100"/>
                </a:tc>
                <a:extLst>
                  <a:ext uri="{0D108BD9-81ED-4DB2-BD59-A6C34878D82A}">
                    <a16:rowId xmlns:a16="http://schemas.microsoft.com/office/drawing/2014/main" xmlns="" val="3040617109"/>
                  </a:ext>
                </a:extLst>
              </a:tr>
            </a:tbl>
          </a:graphicData>
        </a:graphic>
      </p:graphicFrame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xmlns="" id="{B3B8F7B1-063C-49C7-8567-64E0828E7848}"/>
              </a:ext>
            </a:extLst>
          </p:cNvPr>
          <p:cNvCxnSpPr/>
          <p:nvPr/>
        </p:nvCxnSpPr>
        <p:spPr>
          <a:xfrm flipH="1">
            <a:off x="7139709" y="5957455"/>
            <a:ext cx="554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23BD10D3-1B72-433C-BF47-D270E306A61A}"/>
              </a:ext>
            </a:extLst>
          </p:cNvPr>
          <p:cNvCxnSpPr/>
          <p:nvPr/>
        </p:nvCxnSpPr>
        <p:spPr>
          <a:xfrm flipH="1">
            <a:off x="6257637" y="5957455"/>
            <a:ext cx="554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494FC560-D681-446E-923E-658931F29BAC}"/>
              </a:ext>
            </a:extLst>
          </p:cNvPr>
          <p:cNvCxnSpPr/>
          <p:nvPr/>
        </p:nvCxnSpPr>
        <p:spPr>
          <a:xfrm flipH="1" flipV="1">
            <a:off x="5310909" y="5486400"/>
            <a:ext cx="572655" cy="378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xmlns="" id="{E8EFCDAE-C564-4039-B384-121F8DDC9F31}"/>
              </a:ext>
            </a:extLst>
          </p:cNvPr>
          <p:cNvCxnSpPr/>
          <p:nvPr/>
        </p:nvCxnSpPr>
        <p:spPr>
          <a:xfrm flipH="1" flipV="1">
            <a:off x="4483100" y="4946072"/>
            <a:ext cx="572655" cy="378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xmlns="" id="{5FA229D4-2D70-4248-AF92-FA724C2D2482}"/>
              </a:ext>
            </a:extLst>
          </p:cNvPr>
          <p:cNvCxnSpPr/>
          <p:nvPr/>
        </p:nvCxnSpPr>
        <p:spPr>
          <a:xfrm flipH="1" flipV="1">
            <a:off x="3560618" y="4382655"/>
            <a:ext cx="572655" cy="378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97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63FD00AA-7D26-4D0D-BBC3-0EC76BBAD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92200"/>
            <a:ext cx="9072243" cy="49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2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Non-conflicting substring(NCS)</a:t>
            </a:r>
            <a:endParaRPr lang="zh-TW" altLang="en-US" sz="3200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BA119257-FFE7-4985-9190-DF4D5A431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37611"/>
            <a:ext cx="9635836" cy="284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1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1131</TotalTime>
  <Words>812</Words>
  <Application>Microsoft Office PowerPoint</Application>
  <PresentationFormat>寬螢幕</PresentationFormat>
  <Paragraphs>526</Paragraphs>
  <Slides>17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Leelawadee UI Semilight</vt:lpstr>
      <vt:lpstr>新細明體</vt:lpstr>
      <vt:lpstr>Arial</vt:lpstr>
      <vt:lpstr>Calibri</vt:lpstr>
      <vt:lpstr>Calibri Light</vt:lpstr>
      <vt:lpstr>Cambria Math</vt:lpstr>
      <vt:lpstr>Office 佈景主題</vt:lpstr>
      <vt:lpstr>A model and algorithm for sequence alignment</vt:lpstr>
      <vt:lpstr>Abstract(1/2)</vt:lpstr>
      <vt:lpstr>Abstract(2/2)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  <vt:lpstr>Non-conflicting substring(NCS)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pplab-class</cp:lastModifiedBy>
  <cp:revision>35</cp:revision>
  <dcterms:created xsi:type="dcterms:W3CDTF">2018-09-30T05:00:05Z</dcterms:created>
  <dcterms:modified xsi:type="dcterms:W3CDTF">2018-10-03T08:23:13Z</dcterms:modified>
</cp:coreProperties>
</file>