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73" r:id="rId3"/>
    <p:sldId id="257" r:id="rId4"/>
    <p:sldId id="274" r:id="rId5"/>
    <p:sldId id="275" r:id="rId6"/>
    <p:sldId id="276" r:id="rId7"/>
    <p:sldId id="277" r:id="rId8"/>
    <p:sldId id="280" r:id="rId9"/>
    <p:sldId id="279" r:id="rId10"/>
    <p:sldId id="281"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 initials="l" lastIdx="1" clrIdx="0">
    <p:extLst>
      <p:ext uri="{19B8F6BF-5375-455C-9EA6-DF929625EA0E}">
        <p15:presenceInfo xmlns:p15="http://schemas.microsoft.com/office/powerpoint/2012/main" userId="l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5" autoAdjust="0"/>
    <p:restoredTop sz="94660"/>
  </p:normalViewPr>
  <p:slideViewPr>
    <p:cSldViewPr snapToGrid="0">
      <p:cViewPr varScale="1">
        <p:scale>
          <a:sx n="75" d="100"/>
          <a:sy n="75" d="100"/>
        </p:scale>
        <p:origin x="24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6F1585-2514-4ABD-9D02-307B86E5C09C}" type="datetimeFigureOut">
              <a:rPr lang="zh-TW" altLang="en-US" smtClean="0"/>
              <a:t>2018/10/3</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677D1C-3D7C-420B-BCA3-33BEDD3D5A80}" type="slidenum">
              <a:rPr lang="zh-TW" altLang="en-US" smtClean="0"/>
              <a:t>‹#›</a:t>
            </a:fld>
            <a:endParaRPr lang="zh-TW" altLang="en-US"/>
          </a:p>
        </p:txBody>
      </p:sp>
    </p:spTree>
    <p:extLst>
      <p:ext uri="{BB962C8B-B14F-4D97-AF65-F5344CB8AC3E}">
        <p14:creationId xmlns:p14="http://schemas.microsoft.com/office/powerpoint/2010/main" val="2838945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2720921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3574880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219842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33557268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2179332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19651923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16557571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38881747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481692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CCFD9DDC-1562-41E3-9F1A-6464E55FA6CC}"/>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xmlns="" id="{78DFE20D-93A5-46C2-A49A-F0C15C370E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xmlns="" id="{2E469C4C-F457-4167-B363-FB6DD59DC296}"/>
              </a:ext>
            </a:extLst>
          </p:cNvPr>
          <p:cNvSpPr>
            <a:spLocks noGrp="1"/>
          </p:cNvSpPr>
          <p:nvPr>
            <p:ph type="dt" sz="half" idx="10"/>
          </p:nvPr>
        </p:nvSpPr>
        <p:spPr/>
        <p:txBody>
          <a:bodyPr/>
          <a:lstStyle/>
          <a:p>
            <a:fld id="{289B6366-6E92-4855-9B33-10136FFB9F55}" type="datetimeFigureOut">
              <a:rPr lang="zh-TW" altLang="en-US" smtClean="0"/>
              <a:t>2018/10/3</a:t>
            </a:fld>
            <a:endParaRPr lang="zh-TW" altLang="en-US"/>
          </a:p>
        </p:txBody>
      </p:sp>
      <p:sp>
        <p:nvSpPr>
          <p:cNvPr id="5" name="頁尾版面配置區 4">
            <a:extLst>
              <a:ext uri="{FF2B5EF4-FFF2-40B4-BE49-F238E27FC236}">
                <a16:creationId xmlns:a16="http://schemas.microsoft.com/office/drawing/2014/main" xmlns="" id="{DFFC6E50-6AB9-4105-98EF-724B3C0041C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0950C054-D98D-4C90-938F-17BEFCE88E9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311873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47533DA1-7165-4DF5-971F-78735A9CE42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A9257B16-48F3-4742-8243-9C7ED79E7ABC}"/>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088E6861-BAD9-4B1E-B7CC-ED4F8B71DB22}"/>
              </a:ext>
            </a:extLst>
          </p:cNvPr>
          <p:cNvSpPr>
            <a:spLocks noGrp="1"/>
          </p:cNvSpPr>
          <p:nvPr>
            <p:ph type="dt" sz="half" idx="10"/>
          </p:nvPr>
        </p:nvSpPr>
        <p:spPr/>
        <p:txBody>
          <a:bodyPr/>
          <a:lstStyle/>
          <a:p>
            <a:fld id="{289B6366-6E92-4855-9B33-10136FFB9F55}" type="datetimeFigureOut">
              <a:rPr lang="zh-TW" altLang="en-US" smtClean="0"/>
              <a:t>2018/10/3</a:t>
            </a:fld>
            <a:endParaRPr lang="zh-TW" altLang="en-US"/>
          </a:p>
        </p:txBody>
      </p:sp>
      <p:sp>
        <p:nvSpPr>
          <p:cNvPr id="5" name="頁尾版面配置區 4">
            <a:extLst>
              <a:ext uri="{FF2B5EF4-FFF2-40B4-BE49-F238E27FC236}">
                <a16:creationId xmlns:a16="http://schemas.microsoft.com/office/drawing/2014/main" xmlns="" id="{F706F4B5-A649-474C-8BFE-57517ED0EAD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228F86C2-A14C-422A-8FC6-1D63EF61726C}"/>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636614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CB4346D0-9FE7-4F7E-985A-585F1F59E5C2}"/>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xmlns="" id="{A6063CD7-FE57-450D-939C-29084736AE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xmlns="" id="{DBCE3ACB-7971-48F1-9875-489AE8943338}"/>
              </a:ext>
            </a:extLst>
          </p:cNvPr>
          <p:cNvSpPr>
            <a:spLocks noGrp="1"/>
          </p:cNvSpPr>
          <p:nvPr>
            <p:ph type="dt" sz="half" idx="10"/>
          </p:nvPr>
        </p:nvSpPr>
        <p:spPr/>
        <p:txBody>
          <a:bodyPr/>
          <a:lstStyle/>
          <a:p>
            <a:fld id="{289B6366-6E92-4855-9B33-10136FFB9F55}" type="datetimeFigureOut">
              <a:rPr lang="zh-TW" altLang="en-US" smtClean="0"/>
              <a:t>2018/10/3</a:t>
            </a:fld>
            <a:endParaRPr lang="zh-TW" altLang="en-US"/>
          </a:p>
        </p:txBody>
      </p:sp>
      <p:sp>
        <p:nvSpPr>
          <p:cNvPr id="5" name="頁尾版面配置區 4">
            <a:extLst>
              <a:ext uri="{FF2B5EF4-FFF2-40B4-BE49-F238E27FC236}">
                <a16:creationId xmlns:a16="http://schemas.microsoft.com/office/drawing/2014/main" xmlns="" id="{35413690-EB95-4432-8BFC-09F929C3BB3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934FA246-600E-4025-B715-2485B36E1332}"/>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28819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CC1659F-69D8-4B85-B7A6-F42E1F3A37E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ABEBF960-4F47-46F0-89DB-C64F0F1E1283}"/>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xmlns="" id="{F16245D3-5283-415A-84E2-E6274B6E00A2}"/>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xmlns="" id="{62DDA930-81B0-4724-B815-F2EBD1DC4556}"/>
              </a:ext>
            </a:extLst>
          </p:cNvPr>
          <p:cNvSpPr>
            <a:spLocks noGrp="1"/>
          </p:cNvSpPr>
          <p:nvPr>
            <p:ph type="dt" sz="half" idx="10"/>
          </p:nvPr>
        </p:nvSpPr>
        <p:spPr/>
        <p:txBody>
          <a:bodyPr/>
          <a:lstStyle/>
          <a:p>
            <a:fld id="{289B6366-6E92-4855-9B33-10136FFB9F55}" type="datetimeFigureOut">
              <a:rPr lang="zh-TW" altLang="en-US" smtClean="0"/>
              <a:t>2018/10/3</a:t>
            </a:fld>
            <a:endParaRPr lang="zh-TW" altLang="en-US"/>
          </a:p>
        </p:txBody>
      </p:sp>
      <p:sp>
        <p:nvSpPr>
          <p:cNvPr id="6" name="頁尾版面配置區 5">
            <a:extLst>
              <a:ext uri="{FF2B5EF4-FFF2-40B4-BE49-F238E27FC236}">
                <a16:creationId xmlns:a16="http://schemas.microsoft.com/office/drawing/2014/main" xmlns="" id="{F39B2AB0-21DB-4DB7-82C3-46F676AEB0E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B797DCFC-9953-4E19-A454-CA08295F589E}"/>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228669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5F60DB38-9964-45C8-A1EF-D1F8C2A33AEB}"/>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A59A4D11-828E-4CB5-A6AE-5F8FA90F4A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xmlns="" id="{5DEDA618-7B28-4B92-955D-D9F57DA002F3}"/>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xmlns="" id="{1B7155B0-41F4-4173-8A9E-AC97385B04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xmlns="" id="{AE9D421D-015E-480B-A473-59B674316675}"/>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xmlns="" id="{B161ED9B-DFA5-480A-AD88-6DFF046FCB53}"/>
              </a:ext>
            </a:extLst>
          </p:cNvPr>
          <p:cNvSpPr>
            <a:spLocks noGrp="1"/>
          </p:cNvSpPr>
          <p:nvPr>
            <p:ph type="dt" sz="half" idx="10"/>
          </p:nvPr>
        </p:nvSpPr>
        <p:spPr/>
        <p:txBody>
          <a:bodyPr/>
          <a:lstStyle/>
          <a:p>
            <a:fld id="{289B6366-6E92-4855-9B33-10136FFB9F55}" type="datetimeFigureOut">
              <a:rPr lang="zh-TW" altLang="en-US" smtClean="0"/>
              <a:t>2018/10/3</a:t>
            </a:fld>
            <a:endParaRPr lang="zh-TW" altLang="en-US"/>
          </a:p>
        </p:txBody>
      </p:sp>
      <p:sp>
        <p:nvSpPr>
          <p:cNvPr id="8" name="頁尾版面配置區 7">
            <a:extLst>
              <a:ext uri="{FF2B5EF4-FFF2-40B4-BE49-F238E27FC236}">
                <a16:creationId xmlns:a16="http://schemas.microsoft.com/office/drawing/2014/main" xmlns="" id="{F3B77038-7B39-4853-9220-09E92BEB16F8}"/>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xmlns="" id="{127B11AF-87CE-457B-9D69-58137A50985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215180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83FC20B-A168-4787-91C9-454E6B2BC8C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xmlns="" id="{D2DA7D75-DCEA-4D5F-817A-1F76017002B1}"/>
              </a:ext>
            </a:extLst>
          </p:cNvPr>
          <p:cNvSpPr>
            <a:spLocks noGrp="1"/>
          </p:cNvSpPr>
          <p:nvPr>
            <p:ph type="dt" sz="half" idx="10"/>
          </p:nvPr>
        </p:nvSpPr>
        <p:spPr/>
        <p:txBody>
          <a:bodyPr/>
          <a:lstStyle/>
          <a:p>
            <a:fld id="{289B6366-6E92-4855-9B33-10136FFB9F55}" type="datetimeFigureOut">
              <a:rPr lang="zh-TW" altLang="en-US" smtClean="0"/>
              <a:t>2018/10/3</a:t>
            </a:fld>
            <a:endParaRPr lang="zh-TW" altLang="en-US"/>
          </a:p>
        </p:txBody>
      </p:sp>
      <p:sp>
        <p:nvSpPr>
          <p:cNvPr id="4" name="頁尾版面配置區 3">
            <a:extLst>
              <a:ext uri="{FF2B5EF4-FFF2-40B4-BE49-F238E27FC236}">
                <a16:creationId xmlns:a16="http://schemas.microsoft.com/office/drawing/2014/main" xmlns="" id="{6E420462-1E6B-4811-A101-C24EE185E4F6}"/>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xmlns="" id="{EF5204FD-F249-467A-809E-2B53F765C671}"/>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17981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xmlns="" id="{00AA5AFE-F983-4BD0-A86F-D18589BB081B}"/>
              </a:ext>
            </a:extLst>
          </p:cNvPr>
          <p:cNvSpPr>
            <a:spLocks noGrp="1"/>
          </p:cNvSpPr>
          <p:nvPr>
            <p:ph type="dt" sz="half" idx="10"/>
          </p:nvPr>
        </p:nvSpPr>
        <p:spPr/>
        <p:txBody>
          <a:bodyPr/>
          <a:lstStyle/>
          <a:p>
            <a:fld id="{289B6366-6E92-4855-9B33-10136FFB9F55}" type="datetimeFigureOut">
              <a:rPr lang="zh-TW" altLang="en-US" smtClean="0"/>
              <a:t>2018/10/3</a:t>
            </a:fld>
            <a:endParaRPr lang="zh-TW" altLang="en-US"/>
          </a:p>
        </p:txBody>
      </p:sp>
      <p:sp>
        <p:nvSpPr>
          <p:cNvPr id="3" name="頁尾版面配置區 2">
            <a:extLst>
              <a:ext uri="{FF2B5EF4-FFF2-40B4-BE49-F238E27FC236}">
                <a16:creationId xmlns:a16="http://schemas.microsoft.com/office/drawing/2014/main" xmlns="" id="{8AE15BC6-0BDC-4D5E-B093-968EA5FDED06}"/>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xmlns="" id="{571BFC94-F3F4-4DC3-AAE4-BC932631BD0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724721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1A77FD33-544D-451E-8F35-6516C626BEC6}"/>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xmlns="" id="{3A37D552-228A-402E-AE3D-2AEAE23C9D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xmlns="" id="{25E0435F-1CA3-499B-A972-EE4FA12CA1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C189A80C-0898-442B-A9DB-6CE747D9C7F0}"/>
              </a:ext>
            </a:extLst>
          </p:cNvPr>
          <p:cNvSpPr>
            <a:spLocks noGrp="1"/>
          </p:cNvSpPr>
          <p:nvPr>
            <p:ph type="dt" sz="half" idx="10"/>
          </p:nvPr>
        </p:nvSpPr>
        <p:spPr/>
        <p:txBody>
          <a:bodyPr/>
          <a:lstStyle/>
          <a:p>
            <a:fld id="{289B6366-6E92-4855-9B33-10136FFB9F55}" type="datetimeFigureOut">
              <a:rPr lang="zh-TW" altLang="en-US" smtClean="0"/>
              <a:t>2018/10/3</a:t>
            </a:fld>
            <a:endParaRPr lang="zh-TW" altLang="en-US"/>
          </a:p>
        </p:txBody>
      </p:sp>
      <p:sp>
        <p:nvSpPr>
          <p:cNvPr id="6" name="頁尾版面配置區 5">
            <a:extLst>
              <a:ext uri="{FF2B5EF4-FFF2-40B4-BE49-F238E27FC236}">
                <a16:creationId xmlns:a16="http://schemas.microsoft.com/office/drawing/2014/main" xmlns="" id="{DF1EF31A-4A67-484F-8573-1D1F63C18EB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48DADBDA-C04D-4B1F-9E13-784372684EE0}"/>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945764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619C6B2-1FC1-4D82-AE09-83971387173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xmlns="" id="{053A6602-82D6-4233-AD5A-DC49828316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xmlns="" id="{AF7135F2-2932-4070-9CCA-6213EFE682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14D3864F-50D1-4DBD-A5B6-1645AA45EA59}"/>
              </a:ext>
            </a:extLst>
          </p:cNvPr>
          <p:cNvSpPr>
            <a:spLocks noGrp="1"/>
          </p:cNvSpPr>
          <p:nvPr>
            <p:ph type="dt" sz="half" idx="10"/>
          </p:nvPr>
        </p:nvSpPr>
        <p:spPr/>
        <p:txBody>
          <a:bodyPr/>
          <a:lstStyle/>
          <a:p>
            <a:fld id="{289B6366-6E92-4855-9B33-10136FFB9F55}" type="datetimeFigureOut">
              <a:rPr lang="zh-TW" altLang="en-US" smtClean="0"/>
              <a:t>2018/10/3</a:t>
            </a:fld>
            <a:endParaRPr lang="zh-TW" altLang="en-US"/>
          </a:p>
        </p:txBody>
      </p:sp>
      <p:sp>
        <p:nvSpPr>
          <p:cNvPr id="6" name="頁尾版面配置區 5">
            <a:extLst>
              <a:ext uri="{FF2B5EF4-FFF2-40B4-BE49-F238E27FC236}">
                <a16:creationId xmlns:a16="http://schemas.microsoft.com/office/drawing/2014/main" xmlns="" id="{D59F5A93-207A-45A5-9BEC-53C28FF8F1E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54103368-FB4E-41AE-811C-7BC7ADAFC7D3}"/>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552169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29C4861-2A8C-4410-8E4A-4441FC1320E8}"/>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91ED451D-7435-47B8-AA6C-87B8EEA207EC}"/>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91A2253F-98FC-4AD8-AB1E-608801808E4B}"/>
              </a:ext>
            </a:extLst>
          </p:cNvPr>
          <p:cNvSpPr>
            <a:spLocks noGrp="1"/>
          </p:cNvSpPr>
          <p:nvPr>
            <p:ph type="dt" sz="half" idx="10"/>
          </p:nvPr>
        </p:nvSpPr>
        <p:spPr/>
        <p:txBody>
          <a:bodyPr/>
          <a:lstStyle/>
          <a:p>
            <a:fld id="{289B6366-6E92-4855-9B33-10136FFB9F55}" type="datetimeFigureOut">
              <a:rPr lang="zh-TW" altLang="en-US" smtClean="0"/>
              <a:t>2018/10/3</a:t>
            </a:fld>
            <a:endParaRPr lang="zh-TW" altLang="en-US"/>
          </a:p>
        </p:txBody>
      </p:sp>
      <p:sp>
        <p:nvSpPr>
          <p:cNvPr id="5" name="頁尾版面配置區 4">
            <a:extLst>
              <a:ext uri="{FF2B5EF4-FFF2-40B4-BE49-F238E27FC236}">
                <a16:creationId xmlns:a16="http://schemas.microsoft.com/office/drawing/2014/main" xmlns="" id="{A12D5CBA-DDC5-46C6-9551-77D0E481A03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0021B7B3-C52D-4681-8005-1EC96B7EE50D}"/>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555386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xmlns="" id="{C702BAFC-3D18-4325-B382-BF414846856F}"/>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2D2FEE02-A709-4FB0-9DDE-940FDB4B61FF}"/>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01DB4D53-3EC7-453D-BD90-F21F29EA365F}"/>
              </a:ext>
            </a:extLst>
          </p:cNvPr>
          <p:cNvSpPr>
            <a:spLocks noGrp="1"/>
          </p:cNvSpPr>
          <p:nvPr>
            <p:ph type="dt" sz="half" idx="10"/>
          </p:nvPr>
        </p:nvSpPr>
        <p:spPr/>
        <p:txBody>
          <a:bodyPr/>
          <a:lstStyle/>
          <a:p>
            <a:fld id="{289B6366-6E92-4855-9B33-10136FFB9F55}" type="datetimeFigureOut">
              <a:rPr lang="zh-TW" altLang="en-US" smtClean="0"/>
              <a:t>2018/10/3</a:t>
            </a:fld>
            <a:endParaRPr lang="zh-TW" altLang="en-US"/>
          </a:p>
        </p:txBody>
      </p:sp>
      <p:sp>
        <p:nvSpPr>
          <p:cNvPr id="5" name="頁尾版面配置區 4">
            <a:extLst>
              <a:ext uri="{FF2B5EF4-FFF2-40B4-BE49-F238E27FC236}">
                <a16:creationId xmlns:a16="http://schemas.microsoft.com/office/drawing/2014/main" xmlns="" id="{324CA5CE-17CD-419F-8C13-16D273AFBF2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C3B6B85C-8189-47A7-8D84-0B8FD90A869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658974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xmlns="" id="{8C2E46CB-D80A-4DE1-9C2C-DBEB59D1D1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3A01FB3C-2F61-41E2-A419-5D2378D7B7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AC1DBDDA-1C0E-4B2A-A31E-1956DBF268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9B6366-6E92-4855-9B33-10136FFB9F55}" type="datetimeFigureOut">
              <a:rPr lang="zh-TW" altLang="en-US" smtClean="0"/>
              <a:t>2018/10/3</a:t>
            </a:fld>
            <a:endParaRPr lang="zh-TW" altLang="en-US"/>
          </a:p>
        </p:txBody>
      </p:sp>
      <p:sp>
        <p:nvSpPr>
          <p:cNvPr id="5" name="頁尾版面配置區 4">
            <a:extLst>
              <a:ext uri="{FF2B5EF4-FFF2-40B4-BE49-F238E27FC236}">
                <a16:creationId xmlns:a16="http://schemas.microsoft.com/office/drawing/2014/main" xmlns="" id="{5420D0D2-BA69-4AB7-97C4-062135932B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xmlns="" id="{534B1C00-4FD7-4FEA-B3B1-0FC2095819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8472938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DABD277-3DCF-4084-9E03-BF06B086F7E6}"/>
              </a:ext>
            </a:extLst>
          </p:cNvPr>
          <p:cNvSpPr>
            <a:spLocks noGrp="1"/>
          </p:cNvSpPr>
          <p:nvPr>
            <p:ph type="ctrTitle"/>
          </p:nvPr>
        </p:nvSpPr>
        <p:spPr>
          <a:xfrm>
            <a:off x="1289124" y="528040"/>
            <a:ext cx="9613751" cy="1775011"/>
          </a:xfrm>
        </p:spPr>
        <p:txBody>
          <a:bodyPr>
            <a:normAutofit/>
          </a:bodyPr>
          <a:lstStyle/>
          <a:p>
            <a:r>
              <a:rPr lang="en-US" altLang="zh-TW" sz="4000" b="1" dirty="0">
                <a:latin typeface="Times New Roman" panose="02020603050405020304" pitchFamily="18" charset="0"/>
                <a:cs typeface="Times New Roman" panose="02020603050405020304" pitchFamily="18" charset="0"/>
              </a:rPr>
              <a:t>Accurate </a:t>
            </a:r>
            <a:r>
              <a:rPr lang="en-US" altLang="zh-TW" sz="4000" b="1" dirty="0" smtClean="0">
                <a:latin typeface="Times New Roman" panose="02020603050405020304" pitchFamily="18" charset="0"/>
                <a:cs typeface="Times New Roman" panose="02020603050405020304" pitchFamily="18" charset="0"/>
              </a:rPr>
              <a:t>and </a:t>
            </a:r>
            <a:r>
              <a:rPr lang="en-US" altLang="zh-TW" sz="4000" b="1" dirty="0">
                <a:latin typeface="Times New Roman" panose="02020603050405020304" pitchFamily="18" charset="0"/>
                <a:cs typeface="Times New Roman" panose="02020603050405020304" pitchFamily="18" charset="0"/>
              </a:rPr>
              <a:t>F</a:t>
            </a:r>
            <a:r>
              <a:rPr lang="en-US" altLang="zh-TW" sz="4000" b="1" dirty="0" smtClean="0">
                <a:latin typeface="Times New Roman" panose="02020603050405020304" pitchFamily="18" charset="0"/>
                <a:cs typeface="Times New Roman" panose="02020603050405020304" pitchFamily="18" charset="0"/>
              </a:rPr>
              <a:t>ast </a:t>
            </a:r>
            <a:r>
              <a:rPr lang="en-US" altLang="zh-TW" sz="4000" b="1" dirty="0">
                <a:latin typeface="Times New Roman" panose="02020603050405020304" pitchFamily="18" charset="0"/>
                <a:cs typeface="Times New Roman" panose="02020603050405020304" pitchFamily="18" charset="0"/>
              </a:rPr>
              <a:t>Dynamic Time Warping </a:t>
            </a:r>
            <a:r>
              <a:rPr lang="en-US" altLang="zh-TW" sz="4000" b="1" dirty="0" smtClean="0">
                <a:latin typeface="Times New Roman" panose="02020603050405020304" pitchFamily="18" charset="0"/>
                <a:cs typeface="Times New Roman" panose="02020603050405020304" pitchFamily="18" charset="0"/>
              </a:rPr>
              <a:t>Approximation </a:t>
            </a:r>
            <a:r>
              <a:rPr lang="en-US" altLang="zh-TW" sz="4000" b="1" dirty="0">
                <a:latin typeface="Times New Roman" panose="02020603050405020304" pitchFamily="18" charset="0"/>
                <a:cs typeface="Times New Roman" panose="02020603050405020304" pitchFamily="18" charset="0"/>
              </a:rPr>
              <a:t>U</a:t>
            </a:r>
            <a:r>
              <a:rPr lang="en-US" altLang="zh-TW" sz="4000" b="1" dirty="0" smtClean="0">
                <a:latin typeface="Times New Roman" panose="02020603050405020304" pitchFamily="18" charset="0"/>
                <a:cs typeface="Times New Roman" panose="02020603050405020304" pitchFamily="18" charset="0"/>
              </a:rPr>
              <a:t>sing Upper </a:t>
            </a:r>
            <a:r>
              <a:rPr lang="en-US" altLang="zh-TW" sz="4000" b="1" dirty="0">
                <a:latin typeface="Times New Roman" panose="02020603050405020304" pitchFamily="18" charset="0"/>
                <a:cs typeface="Times New Roman" panose="02020603050405020304" pitchFamily="18" charset="0"/>
              </a:rPr>
              <a:t>B</a:t>
            </a:r>
            <a:r>
              <a:rPr lang="en-US" altLang="zh-TW" sz="4000" b="1" dirty="0" smtClean="0">
                <a:latin typeface="Times New Roman" panose="02020603050405020304" pitchFamily="18" charset="0"/>
                <a:cs typeface="Times New Roman" panose="02020603050405020304" pitchFamily="18" charset="0"/>
              </a:rPr>
              <a:t>ounds</a:t>
            </a:r>
            <a:endParaRPr lang="zh-TW" altLang="en-US" sz="4000" b="1"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xmlns="" id="{2FF96485-B26C-4B59-B13D-880AA0BD68EA}"/>
              </a:ext>
            </a:extLst>
          </p:cNvPr>
          <p:cNvSpPr>
            <a:spLocks noGrp="1"/>
          </p:cNvSpPr>
          <p:nvPr>
            <p:ph type="subTitle" idx="1"/>
          </p:nvPr>
        </p:nvSpPr>
        <p:spPr>
          <a:xfrm>
            <a:off x="1523999" y="2385966"/>
            <a:ext cx="9144000" cy="1655762"/>
          </a:xfrm>
        </p:spPr>
        <p:txBody>
          <a:bodyPr>
            <a:normAutofit/>
          </a:bodyPr>
          <a:lstStyle/>
          <a:p>
            <a:endParaRPr lang="en-US" altLang="zh-TW" sz="2800" dirty="0">
              <a:latin typeface="Times New Roman" panose="02020603050405020304" pitchFamily="18" charset="0"/>
              <a:cs typeface="Times New Roman" panose="02020603050405020304" pitchFamily="18" charset="0"/>
            </a:endParaRPr>
          </a:p>
          <a:p>
            <a:r>
              <a:rPr lang="en-US" altLang="zh-TW" sz="2800" dirty="0" err="1">
                <a:latin typeface="Times New Roman" panose="02020603050405020304" pitchFamily="18" charset="0"/>
                <a:cs typeface="Times New Roman" panose="02020603050405020304" pitchFamily="18" charset="0"/>
              </a:rPr>
              <a:t>Bilel</a:t>
            </a:r>
            <a:r>
              <a:rPr lang="en-US" altLang="zh-TW" sz="2800" dirty="0">
                <a:latin typeface="Times New Roman" panose="02020603050405020304" pitchFamily="18" charset="0"/>
                <a:cs typeface="Times New Roman" panose="02020603050405020304" pitchFamily="18" charset="0"/>
              </a:rPr>
              <a:t> Ben Ali, Youssef </a:t>
            </a:r>
            <a:r>
              <a:rPr lang="en-US" altLang="zh-TW" sz="2800" dirty="0" err="1">
                <a:latin typeface="Times New Roman" panose="02020603050405020304" pitchFamily="18" charset="0"/>
                <a:cs typeface="Times New Roman" panose="02020603050405020304" pitchFamily="18" charset="0"/>
              </a:rPr>
              <a:t>Masmoudi</a:t>
            </a:r>
            <a:r>
              <a:rPr lang="en-US" altLang="zh-TW" sz="2800" dirty="0">
                <a:latin typeface="Times New Roman" panose="02020603050405020304" pitchFamily="18" charset="0"/>
                <a:cs typeface="Times New Roman" panose="02020603050405020304" pitchFamily="18" charset="0"/>
              </a:rPr>
              <a:t>, and </a:t>
            </a:r>
            <a:r>
              <a:rPr lang="en-US" altLang="zh-TW" sz="2800" dirty="0" err="1">
                <a:latin typeface="Times New Roman" panose="02020603050405020304" pitchFamily="18" charset="0"/>
                <a:cs typeface="Times New Roman" panose="02020603050405020304" pitchFamily="18" charset="0"/>
              </a:rPr>
              <a:t>Souhail</a:t>
            </a:r>
            <a:r>
              <a:rPr lang="en-US" altLang="zh-TW" sz="2800" dirty="0">
                <a:latin typeface="Times New Roman" panose="02020603050405020304" pitchFamily="18" charset="0"/>
                <a:cs typeface="Times New Roman" panose="02020603050405020304" pitchFamily="18" charset="0"/>
              </a:rPr>
              <a:t> </a:t>
            </a:r>
            <a:r>
              <a:rPr lang="en-US" altLang="zh-TW" sz="2800" dirty="0" err="1">
                <a:latin typeface="Times New Roman" panose="02020603050405020304" pitchFamily="18" charset="0"/>
                <a:cs typeface="Times New Roman" panose="02020603050405020304" pitchFamily="18" charset="0"/>
              </a:rPr>
              <a:t>Dhouib</a:t>
            </a:r>
            <a:endParaRPr lang="zh-TW" altLang="en-US"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xmlns="" id="{64AE8193-1DE0-47D4-9DBB-4734B89CA666}"/>
              </a:ext>
            </a:extLst>
          </p:cNvPr>
          <p:cNvSpPr txBox="1">
            <a:spLocks/>
          </p:cNvSpPr>
          <p:nvPr/>
        </p:nvSpPr>
        <p:spPr>
          <a:xfrm>
            <a:off x="1523999" y="3861556"/>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dirty="0" smtClean="0">
                <a:latin typeface="Times New Roman" panose="02020603050405020304" pitchFamily="18" charset="0"/>
                <a:cs typeface="Times New Roman" panose="02020603050405020304" pitchFamily="18" charset="0"/>
              </a:rPr>
              <a:t>Proceedings of </a:t>
            </a:r>
            <a:r>
              <a:rPr lang="en-US" altLang="zh-TW" dirty="0" smtClean="0">
                <a:latin typeface="Times New Roman" panose="02020603050405020304" pitchFamily="18" charset="0"/>
                <a:cs typeface="Times New Roman" panose="02020603050405020304" pitchFamily="18" charset="0"/>
              </a:rPr>
              <a:t>38th </a:t>
            </a:r>
            <a:r>
              <a:rPr lang="en-US" altLang="zh-TW" dirty="0">
                <a:latin typeface="Times New Roman" panose="02020603050405020304" pitchFamily="18" charset="0"/>
                <a:cs typeface="Times New Roman" panose="02020603050405020304" pitchFamily="18" charset="0"/>
              </a:rPr>
              <a:t>International Conference on Telecommunications and Signal Processing (TSP</a:t>
            </a:r>
            <a:r>
              <a:rPr lang="en-US" altLang="zh-TW" dirty="0" smtClean="0">
                <a:latin typeface="Times New Roman" panose="02020603050405020304" pitchFamily="18" charset="0"/>
                <a:cs typeface="Times New Roman" panose="02020603050405020304" pitchFamily="18" charset="0"/>
              </a:rPr>
              <a:t>), 2015</a:t>
            </a:r>
            <a:r>
              <a:rPr lang="en-US" altLang="zh-TW" smtClean="0">
                <a:latin typeface="Times New Roman" panose="02020603050405020304" pitchFamily="18" charset="0"/>
                <a:cs typeface="Times New Roman" panose="02020603050405020304" pitchFamily="18" charset="0"/>
              </a:rPr>
              <a:t>, Pages </a:t>
            </a:r>
            <a:r>
              <a:rPr lang="en-US" altLang="zh-TW" dirty="0">
                <a:latin typeface="Times New Roman" panose="02020603050405020304" pitchFamily="18" charset="0"/>
                <a:cs typeface="Times New Roman" panose="02020603050405020304" pitchFamily="18" charset="0"/>
              </a:rPr>
              <a:t>1 </a:t>
            </a:r>
            <a:r>
              <a:rPr lang="en-US" altLang="zh-TW"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6, </a:t>
            </a:r>
            <a:r>
              <a:rPr lang="en-US" altLang="zh-TW" dirty="0"/>
              <a:t>Prague, </a:t>
            </a:r>
            <a:r>
              <a:rPr lang="en-US" altLang="zh-TW" dirty="0" smtClean="0"/>
              <a:t>Czech</a:t>
            </a:r>
            <a:endParaRPr lang="en-US" altLang="zh-TW" dirty="0" smtClean="0">
              <a:latin typeface="Times New Roman" panose="02020603050405020304" pitchFamily="18" charset="0"/>
              <a:cs typeface="Times New Roman" panose="02020603050405020304" pitchFamily="18" charset="0"/>
            </a:endParaRPr>
          </a:p>
        </p:txBody>
      </p:sp>
      <p:sp>
        <p:nvSpPr>
          <p:cNvPr id="5" name="副標題 2">
            <a:extLst>
              <a:ext uri="{FF2B5EF4-FFF2-40B4-BE49-F238E27FC236}">
                <a16:creationId xmlns:a16="http://schemas.microsoft.com/office/drawing/2014/main" xmlns="" id="{83311FB5-1C7C-4049-9C63-3A86A28231CF}"/>
              </a:ext>
            </a:extLst>
          </p:cNvPr>
          <p:cNvSpPr txBox="1">
            <a:spLocks/>
          </p:cNvSpPr>
          <p:nvPr/>
        </p:nvSpPr>
        <p:spPr>
          <a:xfrm>
            <a:off x="8616875" y="5526721"/>
            <a:ext cx="2893807" cy="83099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Speaker: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Jheng</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-Yan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Lyu</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Date: 2018.10.03</a:t>
            </a:r>
          </a:p>
        </p:txBody>
      </p:sp>
    </p:spTree>
    <p:extLst>
      <p:ext uri="{BB962C8B-B14F-4D97-AF65-F5344CB8AC3E}">
        <p14:creationId xmlns:p14="http://schemas.microsoft.com/office/powerpoint/2010/main" val="30149461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775916" y="136524"/>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(1/2)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2</a:t>
            </a:fld>
            <a:endParaRPr lang="zh-TW" altLang="en-US"/>
          </a:p>
        </p:txBody>
      </p:sp>
      <p:sp>
        <p:nvSpPr>
          <p:cNvPr id="7" name="內容版面配置區 6">
            <a:extLst>
              <a:ext uri="{FF2B5EF4-FFF2-40B4-BE49-F238E27FC236}">
                <a16:creationId xmlns:a16="http://schemas.microsoft.com/office/drawing/2014/main" xmlns="" id="{878CA31B-C758-4215-B281-353CA02EC37A}"/>
              </a:ext>
            </a:extLst>
          </p:cNvPr>
          <p:cNvSpPr>
            <a:spLocks noGrp="1"/>
          </p:cNvSpPr>
          <p:nvPr>
            <p:ph idx="1"/>
          </p:nvPr>
        </p:nvSpPr>
        <p:spPr>
          <a:xfrm>
            <a:off x="1775916" y="713148"/>
            <a:ext cx="8155484" cy="5825764"/>
          </a:xfrm>
        </p:spPr>
        <p:txBody>
          <a:bodyPr>
            <a:noAutofit/>
          </a:bodyPr>
          <a:lstStyle/>
          <a:p>
            <a:pPr marL="0" indent="0">
              <a:lnSpc>
                <a:spcPct val="150000"/>
              </a:lnSpc>
              <a:buNone/>
            </a:pPr>
            <a:r>
              <a:rPr lang="en-US" altLang="zh-TW" sz="2400" dirty="0">
                <a:latin typeface="Times New Roman" panose="02020603050405020304" pitchFamily="18" charset="0"/>
                <a:cs typeface="Times New Roman" panose="02020603050405020304" pitchFamily="18" charset="0"/>
              </a:rPr>
              <a:t>The purpose of Dynamic Time Warping (DTW) is to determine the shortest warp path, corresponding to the optimal alignment between two sequences. It is one of the most used methods for time series distance measure. DTW was introduced to the community as a Data Mining utility for various tasks for time series problems such as classification and clustering. Many variants of DTW aim to accelerate the calculation of this distance and others order to overcome the weakness points of DTW as the singularity problem. We propose a new approach called Dynamic Warping Window (DWW) for speeding up DTW algorithm based on upper bound. </a:t>
            </a:r>
          </a:p>
        </p:txBody>
      </p:sp>
    </p:spTree>
    <p:extLst>
      <p:ext uri="{BB962C8B-B14F-4D97-AF65-F5344CB8AC3E}">
        <p14:creationId xmlns:p14="http://schemas.microsoft.com/office/powerpoint/2010/main" val="15950678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775916" y="402175"/>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 (2/2)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3</a:t>
            </a:fld>
            <a:endParaRPr lang="zh-TW" altLang="en-US"/>
          </a:p>
        </p:txBody>
      </p:sp>
      <p:sp>
        <p:nvSpPr>
          <p:cNvPr id="7" name="內容版面配置區 6">
            <a:extLst>
              <a:ext uri="{FF2B5EF4-FFF2-40B4-BE49-F238E27FC236}">
                <a16:creationId xmlns:a16="http://schemas.microsoft.com/office/drawing/2014/main" xmlns="" id="{878CA31B-C758-4215-B281-353CA02EC37A}"/>
              </a:ext>
            </a:extLst>
          </p:cNvPr>
          <p:cNvSpPr>
            <a:spLocks noGrp="1"/>
          </p:cNvSpPr>
          <p:nvPr>
            <p:ph idx="1"/>
          </p:nvPr>
        </p:nvSpPr>
        <p:spPr>
          <a:xfrm>
            <a:off x="1775916" y="895713"/>
            <a:ext cx="8489852" cy="5445183"/>
          </a:xfrm>
        </p:spPr>
        <p:txBody>
          <a:bodyPr vert="horz" lIns="91440" tIns="45720" rIns="91440" bIns="45720" rtlCol="0">
            <a:noAutofit/>
          </a:bodyPr>
          <a:lstStyle/>
          <a:p>
            <a:pPr marL="0" indent="0">
              <a:lnSpc>
                <a:spcPct val="150000"/>
              </a:lnSpc>
              <a:spcBef>
                <a:spcPts val="0"/>
              </a:spcBef>
              <a:buNone/>
            </a:pPr>
            <a:r>
              <a:rPr lang="en-US" altLang="zh-TW" sz="2400" dirty="0">
                <a:latin typeface="Times New Roman" panose="02020603050405020304" pitchFamily="18" charset="0"/>
              </a:rPr>
              <a:t>It gives an accurate approximation of DTW in linear time. It accelerates the calculation of DTW distance. Results show that the new approach provides a good compromise between accuracy of DTW approximation and the non-degradation of KNN classification results.</a:t>
            </a:r>
          </a:p>
        </p:txBody>
      </p:sp>
    </p:spTree>
    <p:extLst>
      <p:ext uri="{BB962C8B-B14F-4D97-AF65-F5344CB8AC3E}">
        <p14:creationId xmlns:p14="http://schemas.microsoft.com/office/powerpoint/2010/main" val="320478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圖片 31">
            <a:extLst>
              <a:ext uri="{FF2B5EF4-FFF2-40B4-BE49-F238E27FC236}">
                <a16:creationId xmlns:a16="http://schemas.microsoft.com/office/drawing/2014/main" xmlns="" id="{B195E97A-2B14-4C65-85C1-F3EC4B388F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6290" y="5435184"/>
            <a:ext cx="6897063" cy="1105054"/>
          </a:xfrm>
          <a:prstGeom prst="rect">
            <a:avLst/>
          </a:prstGeom>
        </p:spPr>
      </p:pic>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fontScale="90000"/>
          </a:bodyPr>
          <a:lstStyle/>
          <a:p>
            <a:r>
              <a:rPr lang="en-US" altLang="zh-TW" sz="3600" dirty="0">
                <a:latin typeface="Times New Roman" panose="02020603050405020304" pitchFamily="18" charset="0"/>
                <a:cs typeface="Times New Roman" panose="02020603050405020304" pitchFamily="18" charset="0"/>
              </a:rPr>
              <a:t>DERIVATIVE DYNAMIC TIME WARPING(DDTW)</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4</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p:txBody>
          <a:bodyPr/>
          <a:lstStyle/>
          <a:p>
            <a:r>
              <a:rPr lang="en-US" altLang="zh-TW" dirty="0"/>
              <a:t>To avoid the problem of singularity caused by DTW alignment. DDTW minimizes the number of duplicate points.</a:t>
            </a:r>
            <a:endParaRPr lang="zh-TW" altLang="en-US" dirty="0"/>
          </a:p>
        </p:txBody>
      </p:sp>
      <p:pic>
        <p:nvPicPr>
          <p:cNvPr id="33" name="圖片 32">
            <a:extLst>
              <a:ext uri="{FF2B5EF4-FFF2-40B4-BE49-F238E27FC236}">
                <a16:creationId xmlns:a16="http://schemas.microsoft.com/office/drawing/2014/main" xmlns="" id="{9BA5F8C5-353E-4B0B-9BCD-ABF69B00878E}"/>
              </a:ext>
            </a:extLst>
          </p:cNvPr>
          <p:cNvPicPr>
            <a:picLocks noChangeAspect="1"/>
          </p:cNvPicPr>
          <p:nvPr/>
        </p:nvPicPr>
        <p:blipFill>
          <a:blip r:embed="rId4"/>
          <a:stretch>
            <a:fillRect/>
          </a:stretch>
        </p:blipFill>
        <p:spPr>
          <a:xfrm>
            <a:off x="2634434" y="2945731"/>
            <a:ext cx="6100773" cy="2308216"/>
          </a:xfrm>
          <a:prstGeom prst="rect">
            <a:avLst/>
          </a:prstGeom>
        </p:spPr>
      </p:pic>
    </p:spTree>
    <p:extLst>
      <p:ext uri="{BB962C8B-B14F-4D97-AF65-F5344CB8AC3E}">
        <p14:creationId xmlns:p14="http://schemas.microsoft.com/office/powerpoint/2010/main" val="793666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775916" y="348387"/>
            <a:ext cx="7886700" cy="742817"/>
          </a:xfrm>
        </p:spPr>
        <p:txBody>
          <a:bodyPr>
            <a:normAutofit fontScale="90000"/>
          </a:bodyPr>
          <a:lstStyle/>
          <a:p>
            <a:r>
              <a:rPr lang="en-US" altLang="zh-TW" sz="3600" dirty="0">
                <a:latin typeface="Times New Roman" panose="02020603050405020304" pitchFamily="18" charset="0"/>
                <a:cs typeface="Times New Roman" panose="02020603050405020304" pitchFamily="18" charset="0"/>
              </a:rPr>
              <a:t>DYNAMIC WARPING WINDOW(DWW)</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5</a:t>
            </a:fld>
            <a:endParaRPr lang="zh-TW" altLang="en-US"/>
          </a:p>
        </p:txBody>
      </p:sp>
      <p:sp>
        <p:nvSpPr>
          <p:cNvPr id="7" name="內容版面配置區 6">
            <a:extLst>
              <a:ext uri="{FF2B5EF4-FFF2-40B4-BE49-F238E27FC236}">
                <a16:creationId xmlns:a16="http://schemas.microsoft.com/office/drawing/2014/main" xmlns="" id="{878CA31B-C758-4215-B281-353CA02EC37A}"/>
              </a:ext>
            </a:extLst>
          </p:cNvPr>
          <p:cNvSpPr>
            <a:spLocks noGrp="1"/>
          </p:cNvSpPr>
          <p:nvPr>
            <p:ph idx="1"/>
          </p:nvPr>
        </p:nvSpPr>
        <p:spPr>
          <a:xfrm>
            <a:off x="1775916" y="895713"/>
            <a:ext cx="8489852" cy="5445183"/>
          </a:xfrm>
        </p:spPr>
        <p:txBody>
          <a:bodyPr vert="horz" lIns="91440" tIns="45720" rIns="91440" bIns="45720" rtlCol="0">
            <a:noAutofit/>
          </a:bodyPr>
          <a:lstStyle/>
          <a:p>
            <a:pPr marL="0" indent="0">
              <a:lnSpc>
                <a:spcPct val="150000"/>
              </a:lnSpc>
              <a:spcBef>
                <a:spcPts val="0"/>
              </a:spcBef>
              <a:buNone/>
            </a:pPr>
            <a:r>
              <a:rPr lang="en-US" altLang="zh-TW" sz="2400" dirty="0">
                <a:latin typeface="Times New Roman" panose="02020603050405020304" pitchFamily="18" charset="0"/>
              </a:rPr>
              <a:t>UB Keogh upper bound:</a:t>
            </a:r>
          </a:p>
          <a:p>
            <a:pPr marL="0" indent="0">
              <a:lnSpc>
                <a:spcPct val="150000"/>
              </a:lnSpc>
              <a:spcBef>
                <a:spcPts val="0"/>
              </a:spcBef>
              <a:buNone/>
            </a:pPr>
            <a:endParaRPr lang="en-US" altLang="zh-TW" sz="2400" dirty="0">
              <a:latin typeface="Times New Roman" panose="02020603050405020304" pitchFamily="18" charset="0"/>
            </a:endParaRPr>
          </a:p>
          <a:p>
            <a:pPr marL="0" indent="0">
              <a:lnSpc>
                <a:spcPct val="150000"/>
              </a:lnSpc>
              <a:spcBef>
                <a:spcPts val="0"/>
              </a:spcBef>
              <a:buNone/>
            </a:pPr>
            <a:endParaRPr lang="en-US" altLang="zh-TW" sz="2400" dirty="0">
              <a:latin typeface="Times New Roman" panose="02020603050405020304" pitchFamily="18" charset="0"/>
            </a:endParaRPr>
          </a:p>
          <a:p>
            <a:pPr marL="0" indent="0">
              <a:lnSpc>
                <a:spcPct val="150000"/>
              </a:lnSpc>
              <a:spcBef>
                <a:spcPts val="0"/>
              </a:spcBef>
              <a:buNone/>
            </a:pPr>
            <a:endParaRPr lang="en-US" altLang="zh-TW" sz="2400" dirty="0">
              <a:latin typeface="Times New Roman" panose="02020603050405020304" pitchFamily="18" charset="0"/>
            </a:endParaRPr>
          </a:p>
          <a:p>
            <a:pPr marL="0" indent="0">
              <a:lnSpc>
                <a:spcPct val="150000"/>
              </a:lnSpc>
              <a:spcBef>
                <a:spcPts val="0"/>
              </a:spcBef>
              <a:buNone/>
            </a:pPr>
            <a:r>
              <a:rPr lang="en-US" altLang="zh-TW" sz="2400" dirty="0">
                <a:latin typeface="Times New Roman" panose="02020603050405020304" pitchFamily="18" charset="0"/>
              </a:rPr>
              <a:t>UB Yi upper bound:</a:t>
            </a:r>
          </a:p>
          <a:p>
            <a:pPr marL="0" indent="0">
              <a:lnSpc>
                <a:spcPct val="150000"/>
              </a:lnSpc>
              <a:spcBef>
                <a:spcPts val="0"/>
              </a:spcBef>
              <a:buNone/>
            </a:pPr>
            <a:endParaRPr lang="en-US" altLang="zh-TW" sz="2400" dirty="0">
              <a:latin typeface="Times New Roman" panose="02020603050405020304" pitchFamily="18" charset="0"/>
            </a:endParaRPr>
          </a:p>
        </p:txBody>
      </p:sp>
      <p:pic>
        <p:nvPicPr>
          <p:cNvPr id="10" name="圖片 9">
            <a:extLst>
              <a:ext uri="{FF2B5EF4-FFF2-40B4-BE49-F238E27FC236}">
                <a16:creationId xmlns:a16="http://schemas.microsoft.com/office/drawing/2014/main" xmlns="" id="{8D17AAC5-699F-4612-9A49-E720F393B4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8640" y="1638530"/>
            <a:ext cx="7352530" cy="1220117"/>
          </a:xfrm>
          <a:prstGeom prst="rect">
            <a:avLst/>
          </a:prstGeom>
        </p:spPr>
      </p:pic>
      <p:pic>
        <p:nvPicPr>
          <p:cNvPr id="12" name="圖片 11">
            <a:extLst>
              <a:ext uri="{FF2B5EF4-FFF2-40B4-BE49-F238E27FC236}">
                <a16:creationId xmlns:a16="http://schemas.microsoft.com/office/drawing/2014/main" xmlns="" id="{3C2BE876-67F9-4048-BEE4-7080C85387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75916" y="3885547"/>
            <a:ext cx="7935432" cy="2076740"/>
          </a:xfrm>
          <a:prstGeom prst="rect">
            <a:avLst/>
          </a:prstGeom>
        </p:spPr>
      </p:pic>
    </p:spTree>
    <p:extLst>
      <p:ext uri="{BB962C8B-B14F-4D97-AF65-F5344CB8AC3E}">
        <p14:creationId xmlns:p14="http://schemas.microsoft.com/office/powerpoint/2010/main" val="22222631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775916" y="348387"/>
            <a:ext cx="7886700" cy="742817"/>
          </a:xfrm>
        </p:spPr>
        <p:txBody>
          <a:bodyPr>
            <a:normAutofit/>
          </a:bodyPr>
          <a:lstStyle/>
          <a:p>
            <a:r>
              <a:rPr lang="en-US" altLang="zh-TW" sz="3600" dirty="0">
                <a:latin typeface="Times New Roman" panose="02020603050405020304" pitchFamily="18" charset="0"/>
              </a:rPr>
              <a:t>Upper Bound Measure </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6</a:t>
            </a:fld>
            <a:endParaRPr lang="zh-TW" altLang="en-US"/>
          </a:p>
        </p:txBody>
      </p:sp>
      <p:sp>
        <p:nvSpPr>
          <p:cNvPr id="16" name="內容版面配置區 15">
            <a:extLst>
              <a:ext uri="{FF2B5EF4-FFF2-40B4-BE49-F238E27FC236}">
                <a16:creationId xmlns:a16="http://schemas.microsoft.com/office/drawing/2014/main" xmlns="" id="{D15215BF-681D-44FF-8885-7BE77F6F5785}"/>
              </a:ext>
            </a:extLst>
          </p:cNvPr>
          <p:cNvSpPr>
            <a:spLocks noGrp="1"/>
          </p:cNvSpPr>
          <p:nvPr>
            <p:ph idx="1"/>
          </p:nvPr>
        </p:nvSpPr>
        <p:spPr/>
        <p:txBody>
          <a:bodyPr/>
          <a:lstStyle/>
          <a:p>
            <a:pPr marL="0" indent="0">
              <a:buNone/>
            </a:pPr>
            <a:r>
              <a:rPr lang="en-US" altLang="zh-TW" dirty="0"/>
              <a:t>s</a:t>
            </a:r>
            <a:endParaRPr lang="zh-TW" altLang="en-US" dirty="0"/>
          </a:p>
        </p:txBody>
      </p:sp>
      <p:pic>
        <p:nvPicPr>
          <p:cNvPr id="24" name="圖片 23">
            <a:extLst>
              <a:ext uri="{FF2B5EF4-FFF2-40B4-BE49-F238E27FC236}">
                <a16:creationId xmlns:a16="http://schemas.microsoft.com/office/drawing/2014/main" xmlns="" id="{51B53A75-8624-42CF-B186-510A14848F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0792" y="1819138"/>
            <a:ext cx="5310580" cy="3861465"/>
          </a:xfrm>
          <a:prstGeom prst="rect">
            <a:avLst/>
          </a:prstGeom>
        </p:spPr>
      </p:pic>
      <p:pic>
        <p:nvPicPr>
          <p:cNvPr id="22" name="圖片 21">
            <a:extLst>
              <a:ext uri="{FF2B5EF4-FFF2-40B4-BE49-F238E27FC236}">
                <a16:creationId xmlns:a16="http://schemas.microsoft.com/office/drawing/2014/main" xmlns="" id="{AB731767-A222-4BED-ABCC-F5D066157D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9748" y="1646238"/>
            <a:ext cx="6617507" cy="3538005"/>
          </a:xfrm>
          <a:prstGeom prst="rect">
            <a:avLst/>
          </a:prstGeom>
        </p:spPr>
      </p:pic>
      <p:pic>
        <p:nvPicPr>
          <p:cNvPr id="26" name="圖片 25">
            <a:extLst>
              <a:ext uri="{FF2B5EF4-FFF2-40B4-BE49-F238E27FC236}">
                <a16:creationId xmlns:a16="http://schemas.microsoft.com/office/drawing/2014/main" xmlns="" id="{469172F9-61B8-4BAC-B005-AE5B693C372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41945" y="5820846"/>
            <a:ext cx="8811855" cy="600159"/>
          </a:xfrm>
          <a:prstGeom prst="rect">
            <a:avLst/>
          </a:prstGeom>
        </p:spPr>
      </p:pic>
    </p:spTree>
    <p:extLst>
      <p:ext uri="{BB962C8B-B14F-4D97-AF65-F5344CB8AC3E}">
        <p14:creationId xmlns:p14="http://schemas.microsoft.com/office/powerpoint/2010/main" val="8117799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775916" y="348387"/>
            <a:ext cx="7886700" cy="742817"/>
          </a:xfrm>
        </p:spPr>
        <p:txBody>
          <a:bodyPr>
            <a:normAutofit fontScale="90000"/>
          </a:bodyPr>
          <a:lstStyle/>
          <a:p>
            <a:r>
              <a:rPr lang="en-US" altLang="zh-TW" sz="3600" dirty="0">
                <a:latin typeface="Times New Roman" panose="02020603050405020304" pitchFamily="18" charset="0"/>
                <a:cs typeface="Times New Roman" panose="02020603050405020304" pitchFamily="18" charset="0"/>
              </a:rPr>
              <a:t>DYNAMIC WARPING WINDOW(DWW)</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7</a:t>
            </a:fld>
            <a:endParaRPr lang="zh-TW" altLang="en-US"/>
          </a:p>
        </p:txBody>
      </p:sp>
      <p:sp>
        <p:nvSpPr>
          <p:cNvPr id="7" name="內容版面配置區 6">
            <a:extLst>
              <a:ext uri="{FF2B5EF4-FFF2-40B4-BE49-F238E27FC236}">
                <a16:creationId xmlns:a16="http://schemas.microsoft.com/office/drawing/2014/main" xmlns="" id="{878CA31B-C758-4215-B281-353CA02EC37A}"/>
              </a:ext>
            </a:extLst>
          </p:cNvPr>
          <p:cNvSpPr>
            <a:spLocks noGrp="1"/>
          </p:cNvSpPr>
          <p:nvPr>
            <p:ph idx="1"/>
          </p:nvPr>
        </p:nvSpPr>
        <p:spPr>
          <a:xfrm>
            <a:off x="1775916" y="895713"/>
            <a:ext cx="8489852" cy="5445183"/>
          </a:xfrm>
        </p:spPr>
        <p:txBody>
          <a:bodyPr vert="horz" lIns="91440" tIns="45720" rIns="91440" bIns="45720" rtlCol="0">
            <a:noAutofit/>
          </a:bodyPr>
          <a:lstStyle/>
          <a:p>
            <a:pPr marL="0" indent="0">
              <a:lnSpc>
                <a:spcPct val="150000"/>
              </a:lnSpc>
              <a:spcBef>
                <a:spcPts val="0"/>
              </a:spcBef>
              <a:buNone/>
            </a:pPr>
            <a:r>
              <a:rPr lang="en-US" altLang="zh-TW" sz="2400" dirty="0">
                <a:latin typeface="Times New Roman" panose="02020603050405020304" pitchFamily="18" charset="0"/>
              </a:rPr>
              <a:t>sad</a:t>
            </a:r>
          </a:p>
        </p:txBody>
      </p:sp>
      <p:pic>
        <p:nvPicPr>
          <p:cNvPr id="5" name="圖片 4">
            <a:extLst>
              <a:ext uri="{FF2B5EF4-FFF2-40B4-BE49-F238E27FC236}">
                <a16:creationId xmlns:a16="http://schemas.microsoft.com/office/drawing/2014/main" xmlns="" id="{0B96E812-DDB2-4016-BE03-C2265BE080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999" y="1091204"/>
            <a:ext cx="6917258" cy="4717925"/>
          </a:xfrm>
          <a:prstGeom prst="rect">
            <a:avLst/>
          </a:prstGeom>
        </p:spPr>
      </p:pic>
      <p:pic>
        <p:nvPicPr>
          <p:cNvPr id="6" name="圖片 5">
            <a:extLst>
              <a:ext uri="{FF2B5EF4-FFF2-40B4-BE49-F238E27FC236}">
                <a16:creationId xmlns:a16="http://schemas.microsoft.com/office/drawing/2014/main" xmlns="" id="{6CC05EFA-E290-4C0C-AAC3-22687FDAE8F2}"/>
              </a:ext>
            </a:extLst>
          </p:cNvPr>
          <p:cNvPicPr>
            <a:picLocks noChangeAspect="1"/>
          </p:cNvPicPr>
          <p:nvPr/>
        </p:nvPicPr>
        <p:blipFill>
          <a:blip r:embed="rId4"/>
          <a:stretch>
            <a:fillRect/>
          </a:stretch>
        </p:blipFill>
        <p:spPr>
          <a:xfrm>
            <a:off x="7369600" y="1638530"/>
            <a:ext cx="4604686" cy="2505014"/>
          </a:xfrm>
          <a:prstGeom prst="rect">
            <a:avLst/>
          </a:prstGeom>
        </p:spPr>
      </p:pic>
    </p:spTree>
    <p:extLst>
      <p:ext uri="{BB962C8B-B14F-4D97-AF65-F5344CB8AC3E}">
        <p14:creationId xmlns:p14="http://schemas.microsoft.com/office/powerpoint/2010/main" val="1895359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775916" y="348387"/>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EXPERIMENTAL RESULTS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8</a:t>
            </a:fld>
            <a:endParaRPr lang="zh-TW" altLang="en-US"/>
          </a:p>
        </p:txBody>
      </p:sp>
      <p:sp>
        <p:nvSpPr>
          <p:cNvPr id="7" name="內容版面配置區 6">
            <a:extLst>
              <a:ext uri="{FF2B5EF4-FFF2-40B4-BE49-F238E27FC236}">
                <a16:creationId xmlns:a16="http://schemas.microsoft.com/office/drawing/2014/main" xmlns="" id="{878CA31B-C758-4215-B281-353CA02EC37A}"/>
              </a:ext>
            </a:extLst>
          </p:cNvPr>
          <p:cNvSpPr>
            <a:spLocks noGrp="1"/>
          </p:cNvSpPr>
          <p:nvPr>
            <p:ph idx="1"/>
          </p:nvPr>
        </p:nvSpPr>
        <p:spPr>
          <a:xfrm>
            <a:off x="1775916" y="895713"/>
            <a:ext cx="8489852" cy="5445183"/>
          </a:xfrm>
        </p:spPr>
        <p:txBody>
          <a:bodyPr vert="horz" lIns="91440" tIns="45720" rIns="91440" bIns="45720" rtlCol="0">
            <a:noAutofit/>
          </a:bodyPr>
          <a:lstStyle/>
          <a:p>
            <a:pPr marL="0" indent="0">
              <a:lnSpc>
                <a:spcPct val="150000"/>
              </a:lnSpc>
              <a:spcBef>
                <a:spcPts val="0"/>
              </a:spcBef>
              <a:buNone/>
            </a:pPr>
            <a:r>
              <a:rPr lang="en-US" altLang="zh-TW" sz="2400" dirty="0">
                <a:latin typeface="Times New Roman" panose="02020603050405020304" pitchFamily="18" charset="0"/>
              </a:rPr>
              <a:t>Dynamic Warping Window accuracy</a:t>
            </a:r>
          </a:p>
        </p:txBody>
      </p:sp>
      <p:pic>
        <p:nvPicPr>
          <p:cNvPr id="5" name="圖片 4">
            <a:extLst>
              <a:ext uri="{FF2B5EF4-FFF2-40B4-BE49-F238E27FC236}">
                <a16:creationId xmlns:a16="http://schemas.microsoft.com/office/drawing/2014/main" xmlns="" id="{05E2B9EF-F123-49FC-B0A7-A04CD80C9E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06610" y="1020099"/>
            <a:ext cx="4115374" cy="5391902"/>
          </a:xfrm>
          <a:prstGeom prst="rect">
            <a:avLst/>
          </a:prstGeom>
        </p:spPr>
      </p:pic>
      <p:pic>
        <p:nvPicPr>
          <p:cNvPr id="12" name="圖片 11">
            <a:extLst>
              <a:ext uri="{FF2B5EF4-FFF2-40B4-BE49-F238E27FC236}">
                <a16:creationId xmlns:a16="http://schemas.microsoft.com/office/drawing/2014/main" xmlns="" id="{C258E80A-2F7A-4689-8C97-CAA7792A56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26232" y="1812593"/>
            <a:ext cx="4324954" cy="809738"/>
          </a:xfrm>
          <a:prstGeom prst="rect">
            <a:avLst/>
          </a:prstGeom>
        </p:spPr>
      </p:pic>
    </p:spTree>
    <p:extLst>
      <p:ext uri="{BB962C8B-B14F-4D97-AF65-F5344CB8AC3E}">
        <p14:creationId xmlns:p14="http://schemas.microsoft.com/office/powerpoint/2010/main" val="1636106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649199" y="348387"/>
            <a:ext cx="9013417" cy="699017"/>
          </a:xfrm>
        </p:spPr>
        <p:txBody>
          <a:bodyPr>
            <a:normAutofit fontScale="90000"/>
          </a:bodyPr>
          <a:lstStyle/>
          <a:p>
            <a:r>
              <a:rPr lang="en-US" altLang="zh-TW" sz="3600" dirty="0">
                <a:latin typeface="Times New Roman" panose="02020603050405020304" pitchFamily="18" charset="0"/>
                <a:cs typeface="Times New Roman" panose="02020603050405020304" pitchFamily="18" charset="0"/>
              </a:rPr>
              <a:t>CPU time computation using KNN classification</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9</a:t>
            </a:fld>
            <a:endParaRPr lang="zh-TW" altLang="en-US"/>
          </a:p>
        </p:txBody>
      </p:sp>
      <p:sp>
        <p:nvSpPr>
          <p:cNvPr id="7" name="內容版面配置區 6">
            <a:extLst>
              <a:ext uri="{FF2B5EF4-FFF2-40B4-BE49-F238E27FC236}">
                <a16:creationId xmlns:a16="http://schemas.microsoft.com/office/drawing/2014/main" xmlns="" id="{878CA31B-C758-4215-B281-353CA02EC37A}"/>
              </a:ext>
            </a:extLst>
          </p:cNvPr>
          <p:cNvSpPr>
            <a:spLocks noGrp="1"/>
          </p:cNvSpPr>
          <p:nvPr>
            <p:ph idx="1"/>
          </p:nvPr>
        </p:nvSpPr>
        <p:spPr>
          <a:xfrm>
            <a:off x="1775916" y="895713"/>
            <a:ext cx="8489852" cy="5445183"/>
          </a:xfrm>
        </p:spPr>
        <p:txBody>
          <a:bodyPr vert="horz" lIns="91440" tIns="45720" rIns="91440" bIns="45720" rtlCol="0">
            <a:noAutofit/>
          </a:bodyPr>
          <a:lstStyle/>
          <a:p>
            <a:pPr marL="0" indent="0">
              <a:lnSpc>
                <a:spcPct val="150000"/>
              </a:lnSpc>
              <a:spcBef>
                <a:spcPts val="0"/>
              </a:spcBef>
              <a:buNone/>
            </a:pPr>
            <a:endParaRPr lang="en-US" altLang="zh-TW" sz="2400" dirty="0">
              <a:latin typeface="Times New Roman" panose="02020603050405020304" pitchFamily="18" charset="0"/>
            </a:endParaRPr>
          </a:p>
        </p:txBody>
      </p:sp>
      <p:pic>
        <p:nvPicPr>
          <p:cNvPr id="3" name="圖片 2">
            <a:extLst>
              <a:ext uri="{FF2B5EF4-FFF2-40B4-BE49-F238E27FC236}">
                <a16:creationId xmlns:a16="http://schemas.microsoft.com/office/drawing/2014/main" xmlns="" id="{7142BD2F-21C7-4959-AB77-338406B89377}"/>
              </a:ext>
            </a:extLst>
          </p:cNvPr>
          <p:cNvPicPr>
            <a:picLocks noChangeAspect="1"/>
          </p:cNvPicPr>
          <p:nvPr/>
        </p:nvPicPr>
        <p:blipFill>
          <a:blip r:embed="rId3"/>
          <a:stretch>
            <a:fillRect/>
          </a:stretch>
        </p:blipFill>
        <p:spPr>
          <a:xfrm>
            <a:off x="530865" y="977888"/>
            <a:ext cx="11302460" cy="5280831"/>
          </a:xfrm>
          <a:prstGeom prst="rect">
            <a:avLst/>
          </a:prstGeom>
        </p:spPr>
      </p:pic>
    </p:spTree>
    <p:extLst>
      <p:ext uri="{BB962C8B-B14F-4D97-AF65-F5344CB8AC3E}">
        <p14:creationId xmlns:p14="http://schemas.microsoft.com/office/powerpoint/2010/main" val="3976863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775916" y="348387"/>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EXPERIMENTAL RESULTS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10</a:t>
            </a:fld>
            <a:endParaRPr lang="zh-TW" altLang="en-US"/>
          </a:p>
        </p:txBody>
      </p:sp>
      <p:sp>
        <p:nvSpPr>
          <p:cNvPr id="7" name="內容版面配置區 6">
            <a:extLst>
              <a:ext uri="{FF2B5EF4-FFF2-40B4-BE49-F238E27FC236}">
                <a16:creationId xmlns:a16="http://schemas.microsoft.com/office/drawing/2014/main" xmlns="" id="{878CA31B-C758-4215-B281-353CA02EC37A}"/>
              </a:ext>
            </a:extLst>
          </p:cNvPr>
          <p:cNvSpPr>
            <a:spLocks noGrp="1"/>
          </p:cNvSpPr>
          <p:nvPr>
            <p:ph idx="1"/>
          </p:nvPr>
        </p:nvSpPr>
        <p:spPr>
          <a:xfrm>
            <a:off x="1775916" y="895713"/>
            <a:ext cx="8489852" cy="5445183"/>
          </a:xfrm>
        </p:spPr>
        <p:txBody>
          <a:bodyPr vert="horz" lIns="91440" tIns="45720" rIns="91440" bIns="45720" rtlCol="0">
            <a:noAutofit/>
          </a:bodyPr>
          <a:lstStyle/>
          <a:p>
            <a:pPr marL="0" indent="0">
              <a:lnSpc>
                <a:spcPct val="150000"/>
              </a:lnSpc>
              <a:spcBef>
                <a:spcPts val="0"/>
              </a:spcBef>
              <a:buNone/>
            </a:pPr>
            <a:endParaRPr lang="en-US" altLang="zh-TW" sz="2400" dirty="0">
              <a:latin typeface="Times New Roman" panose="02020603050405020304" pitchFamily="18" charset="0"/>
            </a:endParaRPr>
          </a:p>
        </p:txBody>
      </p:sp>
      <p:pic>
        <p:nvPicPr>
          <p:cNvPr id="6" name="圖片 5">
            <a:extLst>
              <a:ext uri="{FF2B5EF4-FFF2-40B4-BE49-F238E27FC236}">
                <a16:creationId xmlns:a16="http://schemas.microsoft.com/office/drawing/2014/main" xmlns="" id="{FAFA7124-8B78-4228-BF70-837A2419FC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5916" y="967704"/>
            <a:ext cx="4467849" cy="5496692"/>
          </a:xfrm>
          <a:prstGeom prst="rect">
            <a:avLst/>
          </a:prstGeom>
        </p:spPr>
      </p:pic>
    </p:spTree>
    <p:extLst>
      <p:ext uri="{BB962C8B-B14F-4D97-AF65-F5344CB8AC3E}">
        <p14:creationId xmlns:p14="http://schemas.microsoft.com/office/powerpoint/2010/main" val="2222178567"/>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208</TotalTime>
  <Words>292</Words>
  <Application>Microsoft Office PowerPoint</Application>
  <PresentationFormat>寬螢幕</PresentationFormat>
  <Paragraphs>44</Paragraphs>
  <Slides>10</Slides>
  <Notes>9</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10</vt:i4>
      </vt:variant>
    </vt:vector>
  </HeadingPairs>
  <TitlesOfParts>
    <vt:vector size="17" baseType="lpstr">
      <vt:lpstr>新細明體</vt:lpstr>
      <vt:lpstr>標楷體</vt:lpstr>
      <vt:lpstr>Arial</vt:lpstr>
      <vt:lpstr>Calibri</vt:lpstr>
      <vt:lpstr>Calibri Light</vt:lpstr>
      <vt:lpstr>Times New Roman</vt:lpstr>
      <vt:lpstr>Office 佈景主題</vt:lpstr>
      <vt:lpstr>Accurate and Fast Dynamic Time Warping Approximation Using Upper Bounds</vt:lpstr>
      <vt:lpstr>Abstract (1/2)</vt:lpstr>
      <vt:lpstr>Abstract (2/2)</vt:lpstr>
      <vt:lpstr>DERIVATIVE DYNAMIC TIME WARPING(DDTW)</vt:lpstr>
      <vt:lpstr>DYNAMIC WARPING WINDOW(DWW)</vt:lpstr>
      <vt:lpstr>Upper Bound Measure </vt:lpstr>
      <vt:lpstr>DYNAMIC WARPING WINDOW(DWW)</vt:lpstr>
      <vt:lpstr>EXPERIMENTAL RESULTS</vt:lpstr>
      <vt:lpstr>CPU time computation using KNN classification</vt:lpstr>
      <vt:lpstr>EXPERIMENTAL RESULTS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lu</dc:creator>
  <cp:lastModifiedBy>pplab-class</cp:lastModifiedBy>
  <cp:revision>87</cp:revision>
  <dcterms:created xsi:type="dcterms:W3CDTF">2018-10-02T06:08:39Z</dcterms:created>
  <dcterms:modified xsi:type="dcterms:W3CDTF">2018-10-03T07:25:19Z</dcterms:modified>
</cp:coreProperties>
</file>