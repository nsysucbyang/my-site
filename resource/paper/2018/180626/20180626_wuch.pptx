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307" r:id="rId4"/>
    <p:sldId id="315" r:id="rId5"/>
    <p:sldId id="324" r:id="rId6"/>
    <p:sldId id="318" r:id="rId7"/>
    <p:sldId id="319" r:id="rId8"/>
    <p:sldId id="323" r:id="rId9"/>
    <p:sldId id="317" r:id="rId10"/>
    <p:sldId id="316" r:id="rId11"/>
    <p:sldId id="320" r:id="rId12"/>
    <p:sldId id="322" r:id="rId13"/>
    <p:sldId id="314" r:id="rId14"/>
    <p:sldId id="325" r:id="rId15"/>
    <p:sldId id="327" r:id="rId16"/>
    <p:sldId id="326" r:id="rId17"/>
    <p:sldId id="328" r:id="rId18"/>
    <p:sldId id="329" r:id="rId19"/>
    <p:sldId id="331"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95048" autoAdjust="0"/>
  </p:normalViewPr>
  <p:slideViewPr>
    <p:cSldViewPr snapToGrid="0">
      <p:cViewPr varScale="1">
        <p:scale>
          <a:sx n="70" d="100"/>
          <a:sy n="70" d="100"/>
        </p:scale>
        <p:origin x="33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2018/6/26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1952307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3016022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681775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1308816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3767346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237421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4048949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11</a:t>
            </a:fld>
            <a:endParaRPr lang="zh-TW" altLang="en-US"/>
          </a:p>
        </p:txBody>
      </p:sp>
    </p:spTree>
    <p:extLst>
      <p:ext uri="{BB962C8B-B14F-4D97-AF65-F5344CB8AC3E}">
        <p14:creationId xmlns:p14="http://schemas.microsoft.com/office/powerpoint/2010/main" val="1145182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12</a:t>
            </a:fld>
            <a:endParaRPr lang="zh-TW" altLang="en-US"/>
          </a:p>
        </p:txBody>
      </p:sp>
    </p:spTree>
    <p:extLst>
      <p:ext uri="{BB962C8B-B14F-4D97-AF65-F5344CB8AC3E}">
        <p14:creationId xmlns:p14="http://schemas.microsoft.com/office/powerpoint/2010/main" val="2255321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zh-TW" dirty="0"/>
                  <a:t>目標是確定最適合買入，賣出和持有相關股票價格時間序列的點數。</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13</a:t>
            </a:fld>
            <a:endParaRPr lang="zh-TW" altLang="en-US"/>
          </a:p>
        </p:txBody>
      </p:sp>
    </p:spTree>
    <p:extLst>
      <p:ext uri="{BB962C8B-B14F-4D97-AF65-F5344CB8AC3E}">
        <p14:creationId xmlns:p14="http://schemas.microsoft.com/office/powerpoint/2010/main" val="3594865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2/(1/R+1/P)</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14</a:t>
            </a:fld>
            <a:endParaRPr lang="zh-TW" altLang="en-US"/>
          </a:p>
        </p:txBody>
      </p:sp>
    </p:spTree>
    <p:extLst>
      <p:ext uri="{BB962C8B-B14F-4D97-AF65-F5344CB8AC3E}">
        <p14:creationId xmlns:p14="http://schemas.microsoft.com/office/powerpoint/2010/main" val="3533921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2/(1/R+1/P)</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15</a:t>
            </a:fld>
            <a:endParaRPr lang="zh-TW" altLang="en-US"/>
          </a:p>
        </p:txBody>
      </p:sp>
    </p:spTree>
    <p:extLst>
      <p:ext uri="{BB962C8B-B14F-4D97-AF65-F5344CB8AC3E}">
        <p14:creationId xmlns:p14="http://schemas.microsoft.com/office/powerpoint/2010/main" val="19098879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2/(1/R+1/P)</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16</a:t>
            </a:fld>
            <a:endParaRPr lang="zh-TW" altLang="en-US"/>
          </a:p>
        </p:txBody>
      </p:sp>
    </p:spTree>
    <p:extLst>
      <p:ext uri="{BB962C8B-B14F-4D97-AF65-F5344CB8AC3E}">
        <p14:creationId xmlns:p14="http://schemas.microsoft.com/office/powerpoint/2010/main" val="4126771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2/(1/R+1/P)</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17</a:t>
            </a:fld>
            <a:endParaRPr lang="zh-TW" altLang="en-US"/>
          </a:p>
        </p:txBody>
      </p:sp>
    </p:spTree>
    <p:extLst>
      <p:ext uri="{BB962C8B-B14F-4D97-AF65-F5344CB8AC3E}">
        <p14:creationId xmlns:p14="http://schemas.microsoft.com/office/powerpoint/2010/main" val="1571864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2/(1/R+1/P)</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18</a:t>
            </a:fld>
            <a:endParaRPr lang="zh-TW" altLang="en-US"/>
          </a:p>
        </p:txBody>
      </p:sp>
    </p:spTree>
    <p:extLst>
      <p:ext uri="{BB962C8B-B14F-4D97-AF65-F5344CB8AC3E}">
        <p14:creationId xmlns:p14="http://schemas.microsoft.com/office/powerpoint/2010/main" val="619875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2/(1/R+1/P)</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19</a:t>
            </a:fld>
            <a:endParaRPr lang="zh-TW" altLang="en-US"/>
          </a:p>
        </p:txBody>
      </p:sp>
    </p:spTree>
    <p:extLst>
      <p:ext uri="{BB962C8B-B14F-4D97-AF65-F5344CB8AC3E}">
        <p14:creationId xmlns:p14="http://schemas.microsoft.com/office/powerpoint/2010/main" val="233320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2018/6/26</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3623" y="268941"/>
            <a:ext cx="12299245"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Algorithmic financial trading with deep convolutional neural networks: Time series to image conversion approach</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2" y="3869319"/>
            <a:ext cx="8449734" cy="2719740"/>
          </a:xfrm>
        </p:spPr>
        <p:txBody>
          <a:bodyPr>
            <a:normAutofit/>
          </a:bodyPr>
          <a:lstStyle/>
          <a:p>
            <a:r>
              <a:rPr lang="en-US" altLang="zh-TW" dirty="0">
                <a:latin typeface="Times New Roman" panose="02020603050405020304" pitchFamily="18" charset="0"/>
                <a:cs typeface="Times New Roman" panose="02020603050405020304" pitchFamily="18" charset="0"/>
              </a:rPr>
              <a:t>Omer </a:t>
            </a:r>
            <a:r>
              <a:rPr lang="en-US" altLang="zh-TW" dirty="0" err="1">
                <a:latin typeface="Times New Roman" panose="02020603050405020304" pitchFamily="18" charset="0"/>
                <a:cs typeface="Times New Roman" panose="02020603050405020304" pitchFamily="18" charset="0"/>
              </a:rPr>
              <a:t>Berat</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Sezer</a:t>
            </a:r>
            <a:r>
              <a:rPr lang="en-US" altLang="zh-TW" dirty="0">
                <a:latin typeface="Times New Roman" panose="02020603050405020304" pitchFamily="18" charset="0"/>
                <a:cs typeface="Times New Roman" panose="02020603050405020304" pitchFamily="18" charset="0"/>
              </a:rPr>
              <a:t>, Ahmet Murat </a:t>
            </a:r>
            <a:r>
              <a:rPr lang="en-US" altLang="zh-TW" dirty="0" err="1">
                <a:latin typeface="Times New Roman" panose="02020603050405020304" pitchFamily="18" charset="0"/>
                <a:cs typeface="Times New Roman" panose="02020603050405020304" pitchFamily="18" charset="0"/>
              </a:rPr>
              <a:t>Ozbayoglu</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Applied Soft Computing, Volume 70, September 2018,</a:t>
            </a:r>
          </a:p>
          <a:p>
            <a:r>
              <a:rPr lang="en-US" altLang="zh-TW" dirty="0">
                <a:latin typeface="Times New Roman" panose="02020603050405020304" pitchFamily="18" charset="0"/>
                <a:cs typeface="Times New Roman" panose="02020603050405020304" pitchFamily="18" charset="0"/>
              </a:rPr>
              <a:t>Pages 525-538</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a:t>
            </a:r>
            <a:r>
              <a:rPr lang="en-US" altLang="zh-TW">
                <a:latin typeface="Times New Roman" panose="02020603050405020304" pitchFamily="18" charset="0"/>
                <a:cs typeface="Times New Roman" panose="02020603050405020304" pitchFamily="18" charset="0"/>
              </a:rPr>
              <a:t>:2018/6/26</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Computational intelligence techniques for financial trading systems have always been quite popular. In the last decade, deep learning models start getting more attention, especially within the image processing community. In this study, we propose a novel algorithmic trading model CNN-TA using a 2-D convolutional neural network based on image processing properties. In order to convert financial time series into 2-D images, 15 different technical indicators each with different parameter selections are utilized. Each indicator instance generates data for a 15 day period.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As a result, 15 × 15 sized 2-D images are constructed. Each image is then labeled as Buy, Sell or Hold depending on the hills and valleys of the original time series. The results indicate that when compared with the Buy &amp; Hold Strategy and other common trading systems over a long out-of-sample period, the trained model provides better results for stocks and ETFs.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74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Testing and training</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502BEB8B-1571-4280-A539-79C83AB35D3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03232" y="1432567"/>
            <a:ext cx="8385536" cy="5060308"/>
          </a:xfrm>
        </p:spPr>
      </p:pic>
    </p:spTree>
    <p:extLst>
      <p:ext uri="{BB962C8B-B14F-4D97-AF65-F5344CB8AC3E}">
        <p14:creationId xmlns:p14="http://schemas.microsoft.com/office/powerpoint/2010/main" val="3334365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Data</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xmlns="" id="{77108744-5A9C-4918-9623-F8F1C340E14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13665" y="1416205"/>
            <a:ext cx="8364669" cy="4449577"/>
          </a:xfrm>
        </p:spPr>
      </p:pic>
      <p:sp>
        <p:nvSpPr>
          <p:cNvPr id="6" name="文字方塊 5">
            <a:extLst>
              <a:ext uri="{FF2B5EF4-FFF2-40B4-BE49-F238E27FC236}">
                <a16:creationId xmlns:a16="http://schemas.microsoft.com/office/drawing/2014/main" xmlns="" id="{9366F960-6A59-4050-97FA-74C62D065320}"/>
              </a:ext>
            </a:extLst>
          </p:cNvPr>
          <p:cNvSpPr txBox="1"/>
          <p:nvPr/>
        </p:nvSpPr>
        <p:spPr>
          <a:xfrm>
            <a:off x="1884556" y="5959656"/>
            <a:ext cx="3323064"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Dow 30 index</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413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Feature select (1/2)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1825625"/>
            <a:ext cx="10515599" cy="4595054"/>
          </a:xfrm>
        </p:spPr>
        <p:txBody>
          <a:bodyPr>
            <a:normAutofit/>
          </a:bodyPr>
          <a:lstStyle/>
          <a:p>
            <a:r>
              <a:rPr lang="en-US" altLang="zh-TW" dirty="0">
                <a:latin typeface="Times New Roman" panose="02020603050405020304" pitchFamily="18" charset="0"/>
                <a:cs typeface="Times New Roman" panose="02020603050405020304" pitchFamily="18" charset="0"/>
              </a:rPr>
              <a:t>Relative Strength Index (RSI)</a:t>
            </a:r>
          </a:p>
          <a:p>
            <a:r>
              <a:rPr lang="en-US" altLang="zh-TW" dirty="0">
                <a:latin typeface="Times New Roman" panose="02020603050405020304" pitchFamily="18" charset="0"/>
                <a:cs typeface="Times New Roman" panose="02020603050405020304" pitchFamily="18" charset="0"/>
              </a:rPr>
              <a:t>Williams %R</a:t>
            </a:r>
          </a:p>
          <a:p>
            <a:r>
              <a:rPr lang="en-US" altLang="zh-TW" dirty="0">
                <a:latin typeface="Times New Roman" panose="02020603050405020304" pitchFamily="18" charset="0"/>
                <a:cs typeface="Times New Roman" panose="02020603050405020304" pitchFamily="18" charset="0"/>
              </a:rPr>
              <a:t>Simple moving average (SMA)</a:t>
            </a:r>
          </a:p>
          <a:p>
            <a:r>
              <a:rPr lang="en-US" altLang="zh-TW" dirty="0">
                <a:latin typeface="Times New Roman" panose="02020603050405020304" pitchFamily="18" charset="0"/>
                <a:cs typeface="Times New Roman" panose="02020603050405020304" pitchFamily="18" charset="0"/>
              </a:rPr>
              <a:t>Exponential moving average (EMA)</a:t>
            </a:r>
          </a:p>
          <a:p>
            <a:r>
              <a:rPr lang="en-US" altLang="zh-TW" dirty="0">
                <a:latin typeface="Times New Roman" panose="02020603050405020304" pitchFamily="18" charset="0"/>
                <a:cs typeface="Times New Roman" panose="02020603050405020304" pitchFamily="18" charset="0"/>
              </a:rPr>
              <a:t>Weighted moving average (WMA)</a:t>
            </a:r>
          </a:p>
          <a:p>
            <a:r>
              <a:rPr lang="en-US" altLang="zh-TW" dirty="0">
                <a:latin typeface="Times New Roman" panose="02020603050405020304" pitchFamily="18" charset="0"/>
                <a:cs typeface="Times New Roman" panose="02020603050405020304" pitchFamily="18" charset="0"/>
              </a:rPr>
              <a:t>Hull moving average (HMA)</a:t>
            </a:r>
          </a:p>
          <a:p>
            <a:r>
              <a:rPr lang="en-US" altLang="zh-TW" dirty="0">
                <a:latin typeface="Times New Roman" panose="02020603050405020304" pitchFamily="18" charset="0"/>
                <a:cs typeface="Times New Roman" panose="02020603050405020304" pitchFamily="18" charset="0"/>
              </a:rPr>
              <a:t>Triple exponential moving average</a:t>
            </a:r>
          </a:p>
          <a:p>
            <a:r>
              <a:rPr lang="en-US" altLang="zh-TW" dirty="0">
                <a:latin typeface="Times New Roman" panose="02020603050405020304" pitchFamily="18" charset="0"/>
                <a:cs typeface="Times New Roman" panose="02020603050405020304" pitchFamily="18" charset="0"/>
              </a:rPr>
              <a:t>Commodity Channel Index (CCI)</a:t>
            </a:r>
          </a:p>
          <a:p>
            <a:r>
              <a:rPr lang="pt-BR" altLang="zh-TW" dirty="0">
                <a:latin typeface="Times New Roman" panose="02020603050405020304" pitchFamily="18" charset="0"/>
                <a:cs typeface="Times New Roman" panose="02020603050405020304" pitchFamily="18" charset="0"/>
              </a:rPr>
              <a:t>Chande momentum oscilator indicator (CMO)</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876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Feature select (2/2)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1825625"/>
            <a:ext cx="10515599" cy="4595054"/>
          </a:xfrm>
        </p:spPr>
        <p:txBody>
          <a:bodyPr>
            <a:normAutofit/>
          </a:bodyPr>
          <a:lstStyle/>
          <a:p>
            <a:r>
              <a:rPr lang="en-US" altLang="zh-TW" dirty="0">
                <a:latin typeface="Times New Roman" panose="02020603050405020304" pitchFamily="18" charset="0"/>
                <a:cs typeface="Times New Roman" panose="02020603050405020304" pitchFamily="18" charset="0"/>
              </a:rPr>
              <a:t>Moving average convergence and divergence (MACD)</a:t>
            </a:r>
          </a:p>
          <a:p>
            <a:r>
              <a:rPr lang="en-US" altLang="zh-TW" dirty="0">
                <a:latin typeface="Times New Roman" panose="02020603050405020304" pitchFamily="18" charset="0"/>
                <a:cs typeface="Times New Roman" panose="02020603050405020304" pitchFamily="18" charset="0"/>
              </a:rPr>
              <a:t>Percentage price oscillator (PPO)</a:t>
            </a:r>
          </a:p>
          <a:p>
            <a:r>
              <a:rPr lang="en-US" altLang="zh-TW" dirty="0">
                <a:latin typeface="Times New Roman" panose="02020603050405020304" pitchFamily="18" charset="0"/>
                <a:cs typeface="Times New Roman" panose="02020603050405020304" pitchFamily="18" charset="0"/>
              </a:rPr>
              <a:t>Rate of change (ROC)</a:t>
            </a:r>
          </a:p>
          <a:p>
            <a:r>
              <a:rPr lang="en-US" altLang="zh-TW" dirty="0" err="1">
                <a:latin typeface="Times New Roman" panose="02020603050405020304" pitchFamily="18" charset="0"/>
                <a:cs typeface="Times New Roman" panose="02020603050405020304" pitchFamily="18" charset="0"/>
              </a:rPr>
              <a:t>Chaikin</a:t>
            </a:r>
            <a:r>
              <a:rPr lang="en-US" altLang="zh-TW" dirty="0">
                <a:latin typeface="Times New Roman" panose="02020603050405020304" pitchFamily="18" charset="0"/>
                <a:cs typeface="Times New Roman" panose="02020603050405020304" pitchFamily="18" charset="0"/>
              </a:rPr>
              <a:t> money flow indicator (CMFI)</a:t>
            </a:r>
          </a:p>
          <a:p>
            <a:r>
              <a:rPr lang="en-US" altLang="zh-TW" dirty="0">
                <a:latin typeface="Times New Roman" panose="02020603050405020304" pitchFamily="18" charset="0"/>
                <a:cs typeface="Times New Roman" panose="02020603050405020304" pitchFamily="18" charset="0"/>
              </a:rPr>
              <a:t>Directional movement indicator (DMI)</a:t>
            </a:r>
          </a:p>
          <a:p>
            <a:r>
              <a:rPr lang="en-US" altLang="zh-TW" dirty="0">
                <a:latin typeface="Times New Roman" panose="02020603050405020304" pitchFamily="18" charset="0"/>
                <a:cs typeface="Times New Roman" panose="02020603050405020304" pitchFamily="18" charset="0"/>
              </a:rPr>
              <a:t>Parabolic SAR</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2002/1/1/ to 2017/1/1 (testing : 2007/1/1 to 2017/1/1)</a:t>
            </a:r>
          </a:p>
          <a:p>
            <a:r>
              <a:rPr lang="en-US" altLang="zh-TW" dirty="0">
                <a:latin typeface="Times New Roman" panose="02020603050405020304" pitchFamily="18" charset="0"/>
                <a:cs typeface="Times New Roman" panose="02020603050405020304" pitchFamily="18" charset="0"/>
              </a:rPr>
              <a:t>2002/1/1/ to 2012/1/1 (testing : 2007/1/1 to 2012/1/1)</a:t>
            </a:r>
          </a:p>
        </p:txBody>
      </p:sp>
    </p:spTree>
    <p:extLst>
      <p:ext uri="{BB962C8B-B14F-4D97-AF65-F5344CB8AC3E}">
        <p14:creationId xmlns:p14="http://schemas.microsoft.com/office/powerpoint/2010/main" val="122076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Feature Image</a:t>
            </a:r>
            <a:endParaRPr lang="zh-TW" altLang="en-US" dirty="0">
              <a:latin typeface="Times New Roman" panose="02020603050405020304" pitchFamily="18" charset="0"/>
              <a:cs typeface="Times New Roman" panose="02020603050405020304" pitchFamily="18" charset="0"/>
            </a:endParaRPr>
          </a:p>
        </p:txBody>
      </p:sp>
      <p:sp>
        <p:nvSpPr>
          <p:cNvPr id="11" name="內容版面配置區 10">
            <a:extLst>
              <a:ext uri="{FF2B5EF4-FFF2-40B4-BE49-F238E27FC236}">
                <a16:creationId xmlns:a16="http://schemas.microsoft.com/office/drawing/2014/main" xmlns="" id="{6D688FD1-2BDE-4345-AA0A-85A39C452558}"/>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6-20 days of each indicators</a:t>
            </a:r>
          </a:p>
        </p:txBody>
      </p:sp>
      <p:sp>
        <p:nvSpPr>
          <p:cNvPr id="12" name="矩形 11">
            <a:extLst>
              <a:ext uri="{FF2B5EF4-FFF2-40B4-BE49-F238E27FC236}">
                <a16:creationId xmlns:a16="http://schemas.microsoft.com/office/drawing/2014/main" xmlns="" id="{7BB03275-7ECB-4475-81A7-7FA265CD54F8}"/>
              </a:ext>
            </a:extLst>
          </p:cNvPr>
          <p:cNvSpPr/>
          <p:nvPr/>
        </p:nvSpPr>
        <p:spPr>
          <a:xfrm>
            <a:off x="7281743" y="2329263"/>
            <a:ext cx="3133493" cy="3133493"/>
          </a:xfrm>
          <a:prstGeom prst="rect">
            <a:avLst/>
          </a:prstGeom>
          <a:solidFill>
            <a:schemeClr val="accent6">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xmlns="" id="{6DCE9C30-969A-4466-BA7C-DA0A20918B5B}"/>
              </a:ext>
            </a:extLst>
          </p:cNvPr>
          <p:cNvSpPr txBox="1"/>
          <p:nvPr/>
        </p:nvSpPr>
        <p:spPr>
          <a:xfrm>
            <a:off x="8449834" y="1892778"/>
            <a:ext cx="797313" cy="369332"/>
          </a:xfrm>
          <a:prstGeom prst="rect">
            <a:avLst/>
          </a:prstGeom>
          <a:noFill/>
        </p:spPr>
        <p:txBody>
          <a:bodyPr wrap="square" rtlCol="0">
            <a:spAutoFit/>
          </a:bodyPr>
          <a:lstStyle/>
          <a:p>
            <a:pPr algn="ctr"/>
            <a:r>
              <a:rPr lang="en-US" altLang="zh-TW" dirty="0"/>
              <a:t>15x15</a:t>
            </a:r>
            <a:endParaRPr lang="zh-TW" altLang="en-US" dirty="0"/>
          </a:p>
        </p:txBody>
      </p:sp>
    </p:spTree>
    <p:extLst>
      <p:ext uri="{BB962C8B-B14F-4D97-AF65-F5344CB8AC3E}">
        <p14:creationId xmlns:p14="http://schemas.microsoft.com/office/powerpoint/2010/main" val="444975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Labeling</a:t>
            </a:r>
            <a:endParaRPr lang="zh-TW" altLang="en-US"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xmlns="" id="{9FEEB606-B492-4911-A5CB-56F541B74458}"/>
              </a:ext>
            </a:extLst>
          </p:cNvPr>
          <p:cNvSpPr/>
          <p:nvPr/>
        </p:nvSpPr>
        <p:spPr>
          <a:xfrm>
            <a:off x="2854712" y="2401973"/>
            <a:ext cx="4930751" cy="524107"/>
          </a:xfrm>
          <a:prstGeom prst="rect">
            <a:avLst/>
          </a:prstGeom>
          <a:solidFill>
            <a:schemeClr val="bg1"/>
          </a:solid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xmlns="" id="{8A5B5C84-E09B-4583-9494-03996EBA3FF3}"/>
              </a:ext>
            </a:extLst>
          </p:cNvPr>
          <p:cNvSpPr/>
          <p:nvPr/>
        </p:nvSpPr>
        <p:spPr>
          <a:xfrm>
            <a:off x="5066396" y="2401972"/>
            <a:ext cx="507381" cy="524107"/>
          </a:xfrm>
          <a:prstGeom prst="rect">
            <a:avLst/>
          </a:prstGeom>
          <a:solidFill>
            <a:schemeClr val="accent1">
              <a:lumMod val="40000"/>
              <a:lumOff val="60000"/>
            </a:schemeClr>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xmlns="" id="{06A1D2B8-7A98-4AC8-B4D9-55EC202FDA11}"/>
              </a:ext>
            </a:extLst>
          </p:cNvPr>
          <p:cNvSpPr txBox="1"/>
          <p:nvPr/>
        </p:nvSpPr>
        <p:spPr>
          <a:xfrm>
            <a:off x="4963248" y="2032641"/>
            <a:ext cx="713678" cy="369332"/>
          </a:xfrm>
          <a:prstGeom prst="rect">
            <a:avLst/>
          </a:prstGeom>
          <a:noFill/>
        </p:spPr>
        <p:txBody>
          <a:bodyPr wrap="square" rtlCol="0">
            <a:spAutoFit/>
          </a:bodyPr>
          <a:lstStyle/>
          <a:p>
            <a:pPr algn="ctr"/>
            <a:r>
              <a:rPr lang="en-US" altLang="zh-TW" dirty="0"/>
              <a:t>11</a:t>
            </a:r>
            <a:endParaRPr lang="zh-TW" altLang="en-US" dirty="0"/>
          </a:p>
        </p:txBody>
      </p:sp>
      <p:sp>
        <p:nvSpPr>
          <p:cNvPr id="17" name="文字方塊 16">
            <a:extLst>
              <a:ext uri="{FF2B5EF4-FFF2-40B4-BE49-F238E27FC236}">
                <a16:creationId xmlns:a16="http://schemas.microsoft.com/office/drawing/2014/main" xmlns="" id="{8CF04AAC-5BDE-4897-A0EC-37DC819DF10E}"/>
              </a:ext>
            </a:extLst>
          </p:cNvPr>
          <p:cNvSpPr txBox="1"/>
          <p:nvPr/>
        </p:nvSpPr>
        <p:spPr>
          <a:xfrm>
            <a:off x="4831290" y="3154680"/>
            <a:ext cx="977591" cy="1754326"/>
          </a:xfrm>
          <a:prstGeom prst="rect">
            <a:avLst/>
          </a:prstGeom>
          <a:noFill/>
        </p:spPr>
        <p:txBody>
          <a:bodyPr wrap="square" rtlCol="0">
            <a:spAutoFit/>
          </a:bodyPr>
          <a:lstStyle/>
          <a:p>
            <a:r>
              <a:rPr lang="en-US" altLang="zh-TW" dirty="0"/>
              <a:t>If min</a:t>
            </a:r>
          </a:p>
          <a:p>
            <a:r>
              <a:rPr lang="en-US" altLang="zh-TW" dirty="0"/>
              <a:t>    SELL</a:t>
            </a:r>
          </a:p>
          <a:p>
            <a:r>
              <a:rPr lang="en-US" altLang="zh-TW" dirty="0" err="1"/>
              <a:t>Elif</a:t>
            </a:r>
            <a:r>
              <a:rPr lang="en-US" altLang="zh-TW" dirty="0"/>
              <a:t> max</a:t>
            </a:r>
          </a:p>
          <a:p>
            <a:r>
              <a:rPr lang="en-US" altLang="zh-TW" dirty="0"/>
              <a:t>    BUY</a:t>
            </a:r>
          </a:p>
          <a:p>
            <a:r>
              <a:rPr lang="en-US" altLang="zh-TW" dirty="0"/>
              <a:t>Else</a:t>
            </a:r>
          </a:p>
          <a:p>
            <a:r>
              <a:rPr lang="en-US" altLang="zh-TW" dirty="0"/>
              <a:t>    HOLD</a:t>
            </a:r>
            <a:endParaRPr lang="zh-TW" altLang="en-US" dirty="0"/>
          </a:p>
        </p:txBody>
      </p:sp>
      <p:sp>
        <p:nvSpPr>
          <p:cNvPr id="24" name="矩形 23">
            <a:extLst>
              <a:ext uri="{FF2B5EF4-FFF2-40B4-BE49-F238E27FC236}">
                <a16:creationId xmlns:a16="http://schemas.microsoft.com/office/drawing/2014/main" xmlns="" id="{3099007A-3952-4C61-8A08-644B55E818F8}"/>
              </a:ext>
            </a:extLst>
          </p:cNvPr>
          <p:cNvSpPr/>
          <p:nvPr/>
        </p:nvSpPr>
        <p:spPr>
          <a:xfrm>
            <a:off x="3382694" y="3352725"/>
            <a:ext cx="4930751" cy="524107"/>
          </a:xfrm>
          <a:prstGeom prst="rect">
            <a:avLst/>
          </a:prstGeom>
          <a:solidFill>
            <a:schemeClr val="bg1"/>
          </a:solid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xmlns="" id="{3354AB57-96B0-4CF0-833F-E375F9CEED4A}"/>
              </a:ext>
            </a:extLst>
          </p:cNvPr>
          <p:cNvSpPr/>
          <p:nvPr/>
        </p:nvSpPr>
        <p:spPr>
          <a:xfrm>
            <a:off x="5594378" y="3352724"/>
            <a:ext cx="507381" cy="524107"/>
          </a:xfrm>
          <a:prstGeom prst="rect">
            <a:avLst/>
          </a:prstGeom>
          <a:solidFill>
            <a:schemeClr val="accent1">
              <a:lumMod val="40000"/>
              <a:lumOff val="60000"/>
            </a:schemeClr>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xmlns="" id="{A6B86BAB-4593-4404-8CF4-89E9F0CC8CF0}"/>
              </a:ext>
            </a:extLst>
          </p:cNvPr>
          <p:cNvSpPr txBox="1"/>
          <p:nvPr/>
        </p:nvSpPr>
        <p:spPr>
          <a:xfrm>
            <a:off x="5491230" y="2983393"/>
            <a:ext cx="713678" cy="369332"/>
          </a:xfrm>
          <a:prstGeom prst="rect">
            <a:avLst/>
          </a:prstGeom>
          <a:noFill/>
        </p:spPr>
        <p:txBody>
          <a:bodyPr wrap="square" rtlCol="0">
            <a:spAutoFit/>
          </a:bodyPr>
          <a:lstStyle/>
          <a:p>
            <a:pPr algn="ctr"/>
            <a:r>
              <a:rPr lang="en-US" altLang="zh-TW" dirty="0"/>
              <a:t>11</a:t>
            </a:r>
            <a:endParaRPr lang="zh-TW" altLang="en-US" dirty="0"/>
          </a:p>
        </p:txBody>
      </p:sp>
      <p:sp>
        <p:nvSpPr>
          <p:cNvPr id="27" name="矩形 26">
            <a:extLst>
              <a:ext uri="{FF2B5EF4-FFF2-40B4-BE49-F238E27FC236}">
                <a16:creationId xmlns:a16="http://schemas.microsoft.com/office/drawing/2014/main" xmlns="" id="{91CC1C85-2D14-49A9-BA23-D5F886196C46}"/>
              </a:ext>
            </a:extLst>
          </p:cNvPr>
          <p:cNvSpPr/>
          <p:nvPr/>
        </p:nvSpPr>
        <p:spPr>
          <a:xfrm>
            <a:off x="3947638" y="4263647"/>
            <a:ext cx="4930751" cy="524107"/>
          </a:xfrm>
          <a:prstGeom prst="rect">
            <a:avLst/>
          </a:prstGeom>
          <a:solidFill>
            <a:schemeClr val="bg1"/>
          </a:solid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xmlns="" id="{69BDCB0C-80BD-4556-83DA-CAAF23BFBEEF}"/>
              </a:ext>
            </a:extLst>
          </p:cNvPr>
          <p:cNvSpPr/>
          <p:nvPr/>
        </p:nvSpPr>
        <p:spPr>
          <a:xfrm>
            <a:off x="6159322" y="4263646"/>
            <a:ext cx="507381" cy="524107"/>
          </a:xfrm>
          <a:prstGeom prst="rect">
            <a:avLst/>
          </a:prstGeom>
          <a:solidFill>
            <a:schemeClr val="accent1">
              <a:lumMod val="40000"/>
              <a:lumOff val="60000"/>
            </a:schemeClr>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9" name="文字方塊 28">
            <a:extLst>
              <a:ext uri="{FF2B5EF4-FFF2-40B4-BE49-F238E27FC236}">
                <a16:creationId xmlns:a16="http://schemas.microsoft.com/office/drawing/2014/main" xmlns="" id="{94D470F2-7251-43DB-BDCC-62BB4D8BC665}"/>
              </a:ext>
            </a:extLst>
          </p:cNvPr>
          <p:cNvSpPr txBox="1"/>
          <p:nvPr/>
        </p:nvSpPr>
        <p:spPr>
          <a:xfrm>
            <a:off x="6056174" y="3894315"/>
            <a:ext cx="713678" cy="369332"/>
          </a:xfrm>
          <a:prstGeom prst="rect">
            <a:avLst/>
          </a:prstGeom>
          <a:noFill/>
        </p:spPr>
        <p:txBody>
          <a:bodyPr wrap="square" rtlCol="0">
            <a:spAutoFit/>
          </a:bodyPr>
          <a:lstStyle/>
          <a:p>
            <a:pPr algn="ctr"/>
            <a:r>
              <a:rPr lang="en-US" altLang="zh-TW" dirty="0"/>
              <a:t>11</a:t>
            </a:r>
            <a:endParaRPr lang="zh-TW" altLang="en-US" dirty="0"/>
          </a:p>
        </p:txBody>
      </p:sp>
      <p:sp>
        <p:nvSpPr>
          <p:cNvPr id="30" name="矩形 29">
            <a:extLst>
              <a:ext uri="{FF2B5EF4-FFF2-40B4-BE49-F238E27FC236}">
                <a16:creationId xmlns:a16="http://schemas.microsoft.com/office/drawing/2014/main" xmlns="" id="{87026759-9E13-4A9F-B664-5EAA52D31FEF}"/>
              </a:ext>
            </a:extLst>
          </p:cNvPr>
          <p:cNvSpPr/>
          <p:nvPr/>
        </p:nvSpPr>
        <p:spPr>
          <a:xfrm>
            <a:off x="4457089" y="5154144"/>
            <a:ext cx="4930751" cy="524107"/>
          </a:xfrm>
          <a:prstGeom prst="rect">
            <a:avLst/>
          </a:prstGeom>
          <a:solidFill>
            <a:schemeClr val="bg1"/>
          </a:solid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xmlns="" id="{D1C511D0-D7F3-4D1C-B468-73BED6124799}"/>
              </a:ext>
            </a:extLst>
          </p:cNvPr>
          <p:cNvSpPr/>
          <p:nvPr/>
        </p:nvSpPr>
        <p:spPr>
          <a:xfrm>
            <a:off x="6668773" y="5154143"/>
            <a:ext cx="507381" cy="524107"/>
          </a:xfrm>
          <a:prstGeom prst="rect">
            <a:avLst/>
          </a:prstGeom>
          <a:solidFill>
            <a:schemeClr val="accent1">
              <a:lumMod val="40000"/>
              <a:lumOff val="60000"/>
            </a:schemeClr>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2" name="文字方塊 31">
            <a:extLst>
              <a:ext uri="{FF2B5EF4-FFF2-40B4-BE49-F238E27FC236}">
                <a16:creationId xmlns:a16="http://schemas.microsoft.com/office/drawing/2014/main" xmlns="" id="{0172D581-9B0D-4A17-B7F6-7344AFA9F5FA}"/>
              </a:ext>
            </a:extLst>
          </p:cNvPr>
          <p:cNvSpPr txBox="1"/>
          <p:nvPr/>
        </p:nvSpPr>
        <p:spPr>
          <a:xfrm>
            <a:off x="6565625" y="4784812"/>
            <a:ext cx="713678" cy="369332"/>
          </a:xfrm>
          <a:prstGeom prst="rect">
            <a:avLst/>
          </a:prstGeom>
          <a:noFill/>
        </p:spPr>
        <p:txBody>
          <a:bodyPr wrap="square" rtlCol="0">
            <a:spAutoFit/>
          </a:bodyPr>
          <a:lstStyle/>
          <a:p>
            <a:pPr algn="ctr"/>
            <a:r>
              <a:rPr lang="en-US" altLang="zh-TW" dirty="0"/>
              <a:t>11</a:t>
            </a:r>
            <a:endParaRPr lang="zh-TW" altLang="en-US" dirty="0"/>
          </a:p>
        </p:txBody>
      </p:sp>
    </p:spTree>
    <p:extLst>
      <p:ext uri="{BB962C8B-B14F-4D97-AF65-F5344CB8AC3E}">
        <p14:creationId xmlns:p14="http://schemas.microsoft.com/office/powerpoint/2010/main" val="391699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4" grpId="0" animBg="1"/>
      <p:bldP spid="25" grpId="0" animBg="1"/>
      <p:bldP spid="27" grpId="0" animBg="1"/>
      <p:bldP spid="28" grpId="0" animBg="1"/>
      <p:bldP spid="29" grpId="0"/>
      <p:bldP spid="30" grpId="0" animBg="1"/>
      <p:bldP spid="31" grpId="0" animBg="1"/>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Label image</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xmlns="" id="{CDB0C0D9-6768-48E3-AE1D-E83E01C9C66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89672" y="1992246"/>
            <a:ext cx="11412655" cy="3902716"/>
          </a:xfrm>
        </p:spPr>
      </p:pic>
    </p:spTree>
    <p:extLst>
      <p:ext uri="{BB962C8B-B14F-4D97-AF65-F5344CB8AC3E}">
        <p14:creationId xmlns:p14="http://schemas.microsoft.com/office/powerpoint/2010/main" val="4087610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內容版面配置區 7">
            <a:extLst>
              <a:ext uri="{FF2B5EF4-FFF2-40B4-BE49-F238E27FC236}">
                <a16:creationId xmlns:a16="http://schemas.microsoft.com/office/drawing/2014/main" xmlns="" id="{427F0880-9B79-4937-87B2-DB6552A3C5E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83671" y="1690688"/>
            <a:ext cx="11424658" cy="4204274"/>
          </a:xfrm>
        </p:spPr>
      </p:pic>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CNN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6703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CNN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9D532D46-DA8C-47E7-92C6-EE81228084F9}"/>
                  </a:ext>
                </a:extLst>
              </p:cNvPr>
              <p:cNvSpPr>
                <a:spLocks noGrp="1"/>
              </p:cNvSpPr>
              <p:nvPr>
                <p:ph idx="1"/>
              </p:nvPr>
            </p:nvSpPr>
            <p:spPr/>
            <p:txBody>
              <a:bodyPr/>
              <a:lstStyle/>
              <a:p>
                <a14:m>
                  <m:oMath xmlns:m="http://schemas.openxmlformats.org/officeDocument/2006/math">
                    <m:r>
                      <a:rPr lang="en-US" altLang="zh-TW" b="0" i="1" smtClean="0">
                        <a:latin typeface="Cambria Math" panose="02040503050406030204" pitchFamily="18" charset="0"/>
                      </a:rPr>
                      <m:t>𝑠</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𝑡</m:t>
                        </m:r>
                      </m:e>
                    </m:d>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𝑤</m:t>
                        </m:r>
                      </m:e>
                    </m:d>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𝑡</m:t>
                        </m:r>
                      </m:e>
                    </m:d>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𝑎</m:t>
                        </m:r>
                        <m:r>
                          <a:rPr lang="en-US" altLang="zh-TW" b="0" i="1" smtClean="0">
                            <a:latin typeface="Cambria Math" panose="02040503050406030204" pitchFamily="18" charset="0"/>
                          </a:rPr>
                          <m:t>=−∞</m:t>
                        </m:r>
                      </m:sub>
                      <m:sup>
                        <m:r>
                          <a:rPr lang="en-US" altLang="zh-TW" b="0" i="1" smtClean="0">
                            <a:latin typeface="Cambria Math" panose="02040503050406030204" pitchFamily="18" charset="0"/>
                            <a:ea typeface="Cambria Math" panose="02040503050406030204" pitchFamily="18" charset="0"/>
                          </a:rPr>
                          <m:t>∞</m:t>
                        </m:r>
                      </m:sup>
                      <m:e>
                        <m:r>
                          <a:rPr lang="en-US" altLang="zh-TW" b="0" i="1" smtClean="0">
                            <a:latin typeface="Cambria Math" panose="02040503050406030204" pitchFamily="18" charset="0"/>
                          </a:rPr>
                          <m:t>𝑥</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m:t>
                            </m:r>
                          </m:e>
                        </m:d>
                        <m:r>
                          <a:rPr lang="en-US" altLang="zh-TW" b="0" i="1" smtClean="0">
                            <a:latin typeface="Cambria Math" panose="02040503050406030204" pitchFamily="18" charset="0"/>
                          </a:rPr>
                          <m:t>𝑤</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e>
                    </m:nary>
                  </m:oMath>
                </a14:m>
                <a:endParaRPr lang="en-US" altLang="zh-TW" dirty="0"/>
              </a:p>
              <a:p>
                <a:endParaRPr lang="en-US" altLang="zh-TW" dirty="0"/>
              </a:p>
              <a:p>
                <a14:m>
                  <m:oMath xmlns:m="http://schemas.openxmlformats.org/officeDocument/2006/math">
                    <m:r>
                      <a:rPr lang="en-US" altLang="zh-TW" b="0" i="1" smtClean="0">
                        <a:latin typeface="Cambria Math" panose="02040503050406030204" pitchFamily="18" charset="0"/>
                      </a:rPr>
                      <m:t>𝑆</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e>
                    </m:d>
                    <m:r>
                      <a:rPr lang="en-US" altLang="zh-TW" i="1">
                        <a:latin typeface="Cambria Math" panose="02040503050406030204" pitchFamily="18" charset="0"/>
                      </a:rPr>
                      <m:t>=</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𝐼</m:t>
                        </m:r>
                        <m:r>
                          <a:rPr lang="en-US" altLang="zh-TW" i="1">
                            <a:latin typeface="Cambria Math" panose="02040503050406030204" pitchFamily="18" charset="0"/>
                          </a:rPr>
                          <m:t>∗</m:t>
                        </m:r>
                        <m:r>
                          <a:rPr lang="en-US" altLang="zh-TW" b="0" i="1" smtClean="0">
                            <a:latin typeface="Cambria Math" panose="02040503050406030204" pitchFamily="18" charset="0"/>
                          </a:rPr>
                          <m:t>𝐾</m:t>
                        </m:r>
                      </m:e>
                    </m:d>
                    <m:d>
                      <m:dPr>
                        <m:ctrlPr>
                          <a:rPr lang="en-US" altLang="zh-TW" i="1">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e>
                    </m:d>
                    <m:r>
                      <a:rPr lang="en-US" altLang="zh-TW" i="1">
                        <a:latin typeface="Cambria Math" panose="02040503050406030204" pitchFamily="18" charset="0"/>
                      </a:rPr>
                      <m:t>=</m:t>
                    </m:r>
                    <m:nary>
                      <m:naryPr>
                        <m:chr m:val="∑"/>
                        <m:limLoc m:val="subSup"/>
                        <m:supHide m:val="on"/>
                        <m:ctrlPr>
                          <a:rPr lang="en-US" altLang="zh-TW" i="1" smtClean="0">
                            <a:latin typeface="Cambria Math" panose="02040503050406030204" pitchFamily="18" charset="0"/>
                          </a:rPr>
                        </m:ctrlPr>
                      </m:naryPr>
                      <m:sub>
                        <m:r>
                          <m:rPr>
                            <m:brk m:alnAt="9"/>
                          </m:rPr>
                          <a:rPr lang="en-US" altLang="zh-TW" b="0" i="1" smtClean="0">
                            <a:latin typeface="Cambria Math" panose="02040503050406030204" pitchFamily="18" charset="0"/>
                          </a:rPr>
                          <m:t>𝑚</m:t>
                        </m:r>
                      </m:sub>
                      <m:sup/>
                      <m:e>
                        <m:nary>
                          <m:naryPr>
                            <m:chr m:val="∑"/>
                            <m:supHide m:val="on"/>
                            <m:ctrlPr>
                              <a:rPr lang="en-US" altLang="zh-TW" i="1" smtClean="0">
                                <a:latin typeface="Cambria Math" panose="02040503050406030204" pitchFamily="18" charset="0"/>
                              </a:rPr>
                            </m:ctrlPr>
                          </m:naryPr>
                          <m:sub>
                            <m:r>
                              <m:rPr>
                                <m:brk m:alnAt="7"/>
                              </m:rPr>
                              <a:rPr lang="en-US" altLang="zh-TW" b="0" i="1" smtClean="0">
                                <a:latin typeface="Cambria Math" panose="02040503050406030204" pitchFamily="18" charset="0"/>
                              </a:rPr>
                              <m:t>𝑛</m:t>
                            </m:r>
                          </m:sub>
                          <m:sup/>
                          <m:e>
                            <m:r>
                              <a:rPr lang="en-US" altLang="zh-TW" b="0" i="1" smtClean="0">
                                <a:latin typeface="Cambria Math" panose="02040503050406030204" pitchFamily="18" charset="0"/>
                              </a:rPr>
                              <m:t>𝐼</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e>
                            </m:d>
                            <m:r>
                              <a:rPr lang="en-US" altLang="zh-TW" b="0" i="1" smtClean="0">
                                <a:latin typeface="Cambria Math" panose="02040503050406030204" pitchFamily="18" charset="0"/>
                              </a:rPr>
                              <m:t>𝐾</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m:t>
                            </m:r>
                          </m:e>
                        </m:nary>
                      </m:e>
                    </m:nary>
                  </m:oMath>
                </a14:m>
                <a:endParaRPr lang="en-US" altLang="zh-TW" dirty="0"/>
              </a:p>
              <a:p>
                <a:endParaRPr lang="en-US" altLang="zh-TW" dirty="0"/>
              </a:p>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𝑒</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nary>
                      <m:naryPr>
                        <m:chr m:val="∑"/>
                        <m:supHide m:val="on"/>
                        <m:ctrlPr>
                          <a:rPr lang="en-US" altLang="zh-TW" i="1">
                            <a:latin typeface="Cambria Math" panose="02040503050406030204" pitchFamily="18" charset="0"/>
                          </a:rPr>
                        </m:ctrlPr>
                      </m:naryPr>
                      <m:sub>
                        <m:r>
                          <m:rPr>
                            <m:brk m:alnAt="7"/>
                          </m:rPr>
                          <a:rPr lang="en-US" altLang="zh-TW" b="0" i="1" smtClean="0">
                            <a:latin typeface="Cambria Math" panose="02040503050406030204" pitchFamily="18" charset="0"/>
                          </a:rPr>
                          <m:t>𝑗</m:t>
                        </m:r>
                      </m:sub>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𝑊</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𝑖</m:t>
                            </m:r>
                          </m:sub>
                        </m:sSub>
                      </m:e>
                    </m:nary>
                  </m:oMath>
                </a14:m>
                <a:endParaRPr lang="en-US" altLang="zh-TW" dirty="0"/>
              </a:p>
              <a:p>
                <a:endParaRPr lang="en-US" altLang="zh-TW" dirty="0"/>
              </a:p>
              <a:p>
                <a14:m>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a:rPr lang="en-US" altLang="zh-TW" b="0" i="1" smtClean="0">
                        <a:latin typeface="Cambria Math" panose="02040503050406030204" pitchFamily="18" charset="0"/>
                      </a:rPr>
                      <m:t>𝑠𝑜𝑓𝑡𝑚𝑎𝑥</m:t>
                    </m:r>
                    <m:r>
                      <a:rPr lang="en-US" altLang="zh-TW" b="0" i="1" smtClean="0">
                        <a:latin typeface="Cambria Math" panose="02040503050406030204" pitchFamily="18" charset="0"/>
                      </a:rPr>
                      <m:t>(</m:t>
                    </m:r>
                    <m:r>
                      <a:rPr lang="en-US" altLang="zh-TW" b="0" i="1" smtClean="0">
                        <a:latin typeface="Cambria Math" panose="02040503050406030204" pitchFamily="18" charset="0"/>
                      </a:rPr>
                      <m:t>𝑒</m:t>
                    </m:r>
                    <m:r>
                      <a:rPr lang="en-US" altLang="zh-TW" b="0" i="1" smtClean="0">
                        <a:latin typeface="Cambria Math" panose="02040503050406030204" pitchFamily="18" charset="0"/>
                      </a:rPr>
                      <m:t>)</m:t>
                    </m:r>
                  </m:oMath>
                </a14:m>
                <a:endParaRPr lang="en-US" altLang="zh-TW" dirty="0"/>
              </a:p>
              <a:p>
                <a:pPr lvl="1"/>
                <a:endParaRPr lang="en-US" altLang="zh-TW" dirty="0">
                  <a:latin typeface="Times New Roman" panose="02020603050405020304" pitchFamily="18" charset="0"/>
                  <a:cs typeface="Times New Roman" panose="02020603050405020304" pitchFamily="18" charset="0"/>
                </a:endParaRPr>
              </a:p>
              <a:p>
                <a:endParaRPr lang="zh-TW" altLang="en-US" dirty="0"/>
              </a:p>
            </p:txBody>
          </p:sp>
        </mc:Choice>
        <mc:Fallback xmlns="">
          <p:sp>
            <p:nvSpPr>
              <p:cNvPr id="4" name="內容版面配置區 3">
                <a:extLst>
                  <a:ext uri="{FF2B5EF4-FFF2-40B4-BE49-F238E27FC236}">
                    <a16:creationId xmlns:a16="http://schemas.microsoft.com/office/drawing/2014/main" id="{9D532D46-DA8C-47E7-92C6-EE81228084F9}"/>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79206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Overall</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xmlns="" id="{751520AC-46C0-4098-8895-F18441528E1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80553" y="1554175"/>
            <a:ext cx="7230894" cy="4938700"/>
          </a:xfrm>
        </p:spPr>
      </p:pic>
    </p:spTree>
    <p:extLst>
      <p:ext uri="{BB962C8B-B14F-4D97-AF65-F5344CB8AC3E}">
        <p14:creationId xmlns:p14="http://schemas.microsoft.com/office/powerpoint/2010/main" val="4035952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Computational model performance</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93B70C0A-E11D-43AC-BB5F-A095931576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62811" y="1760752"/>
            <a:ext cx="4192257" cy="4351338"/>
          </a:xfrm>
        </p:spPr>
      </p:pic>
      <p:pic>
        <p:nvPicPr>
          <p:cNvPr id="9" name="圖片 8">
            <a:extLst>
              <a:ext uri="{FF2B5EF4-FFF2-40B4-BE49-F238E27FC236}">
                <a16:creationId xmlns:a16="http://schemas.microsoft.com/office/drawing/2014/main" xmlns="" id="{9EE4DCBD-23CD-46D4-9A9A-583E321FB6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6933" y="1702497"/>
            <a:ext cx="4210638" cy="4467849"/>
          </a:xfrm>
          <a:prstGeom prst="rect">
            <a:avLst/>
          </a:prstGeom>
        </p:spPr>
      </p:pic>
    </p:spTree>
    <p:extLst>
      <p:ext uri="{BB962C8B-B14F-4D97-AF65-F5344CB8AC3E}">
        <p14:creationId xmlns:p14="http://schemas.microsoft.com/office/powerpoint/2010/main" val="2027744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ETF analysis</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F2A43002-1EF2-4C16-BEB0-82D0902199CA}"/>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t="229" r="49043" b="354"/>
          <a:stretch/>
        </p:blipFill>
        <p:spPr>
          <a:xfrm>
            <a:off x="553955" y="2369573"/>
            <a:ext cx="5542045" cy="3130747"/>
          </a:xfrm>
        </p:spPr>
      </p:pic>
      <p:pic>
        <p:nvPicPr>
          <p:cNvPr id="8" name="內容版面配置區 6">
            <a:extLst>
              <a:ext uri="{FF2B5EF4-FFF2-40B4-BE49-F238E27FC236}">
                <a16:creationId xmlns:a16="http://schemas.microsoft.com/office/drawing/2014/main" xmlns="" id="{729ACD19-F1C9-45EE-9F99-279F686F08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690688"/>
            <a:ext cx="5840719" cy="4500845"/>
          </a:xfrm>
          <a:prstGeom prst="rect">
            <a:avLst/>
          </a:prstGeom>
        </p:spPr>
      </p:pic>
      <p:sp>
        <p:nvSpPr>
          <p:cNvPr id="3" name="文字方塊 2">
            <a:extLst>
              <a:ext uri="{FF2B5EF4-FFF2-40B4-BE49-F238E27FC236}">
                <a16:creationId xmlns:a16="http://schemas.microsoft.com/office/drawing/2014/main" xmlns="" id="{9080BD36-C6A6-4C71-8043-5DF3A273577B}"/>
              </a:ext>
            </a:extLst>
          </p:cNvPr>
          <p:cNvSpPr txBox="1"/>
          <p:nvPr/>
        </p:nvSpPr>
        <p:spPr>
          <a:xfrm>
            <a:off x="1401392" y="5500320"/>
            <a:ext cx="3847170"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Transaction cost 0.01%</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3993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ETF analysis</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xmlns="" id="{D0949617-1534-47A0-9DBE-CB67AF98775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0" y="1690688"/>
            <a:ext cx="6096000" cy="4514850"/>
          </a:xfrm>
        </p:spPr>
      </p:pic>
      <p:pic>
        <p:nvPicPr>
          <p:cNvPr id="11" name="內容版面配置區 6">
            <a:extLst>
              <a:ext uri="{FF2B5EF4-FFF2-40B4-BE49-F238E27FC236}">
                <a16:creationId xmlns:a16="http://schemas.microsoft.com/office/drawing/2014/main" xmlns="" id="{38E9B41B-2A5A-48E9-9241-E8519203F9B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0000"/>
          <a:stretch/>
        </p:blipFill>
        <p:spPr>
          <a:xfrm>
            <a:off x="418882" y="2291801"/>
            <a:ext cx="5437967" cy="3149111"/>
          </a:xfrm>
          <a:prstGeom prst="rect">
            <a:avLst/>
          </a:prstGeom>
        </p:spPr>
      </p:pic>
    </p:spTree>
    <p:extLst>
      <p:ext uri="{BB962C8B-B14F-4D97-AF65-F5344CB8AC3E}">
        <p14:creationId xmlns:p14="http://schemas.microsoft.com/office/powerpoint/2010/main" val="1462940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Dow 30 analysis 2007-2017</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ADD725BD-519A-4BF6-B43B-86EFE407847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1520" y="1582028"/>
            <a:ext cx="5200358" cy="4729102"/>
          </a:xfrm>
        </p:spPr>
      </p:pic>
      <p:pic>
        <p:nvPicPr>
          <p:cNvPr id="9" name="圖片 8">
            <a:extLst>
              <a:ext uri="{FF2B5EF4-FFF2-40B4-BE49-F238E27FC236}">
                <a16:creationId xmlns:a16="http://schemas.microsoft.com/office/drawing/2014/main" xmlns="" id="{BB2B805B-FD02-467B-96C6-A472E42849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1878" y="1561158"/>
            <a:ext cx="6144057" cy="4849078"/>
          </a:xfrm>
          <a:prstGeom prst="rect">
            <a:avLst/>
          </a:prstGeom>
        </p:spPr>
      </p:pic>
    </p:spTree>
    <p:extLst>
      <p:ext uri="{BB962C8B-B14F-4D97-AF65-F5344CB8AC3E}">
        <p14:creationId xmlns:p14="http://schemas.microsoft.com/office/powerpoint/2010/main" val="1786641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Dow 30 analysis 2007-2012</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xmlns="" id="{D2F9F76E-0CBD-43C2-B090-9268A234F49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91527" y="1555776"/>
            <a:ext cx="5270695" cy="4741105"/>
          </a:xfrm>
        </p:spPr>
      </p:pic>
      <p:pic>
        <p:nvPicPr>
          <p:cNvPr id="10" name="圖片 9">
            <a:extLst>
              <a:ext uri="{FF2B5EF4-FFF2-40B4-BE49-F238E27FC236}">
                <a16:creationId xmlns:a16="http://schemas.microsoft.com/office/drawing/2014/main" xmlns="" id="{45409662-190E-4F9D-8CBD-C2F26026DC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2222" y="1555776"/>
            <a:ext cx="5953956" cy="4753638"/>
          </a:xfrm>
          <a:prstGeom prst="rect">
            <a:avLst/>
          </a:prstGeom>
        </p:spPr>
      </p:pic>
    </p:spTree>
    <p:extLst>
      <p:ext uri="{BB962C8B-B14F-4D97-AF65-F5344CB8AC3E}">
        <p14:creationId xmlns:p14="http://schemas.microsoft.com/office/powerpoint/2010/main" val="1913653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Dow 30 analysis</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xmlns="" id="{35A60E93-B6F4-47A4-9A69-3D36F15688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445" y="2264899"/>
            <a:ext cx="11335109" cy="3282064"/>
          </a:xfrm>
          <a:prstGeom prst="rect">
            <a:avLst/>
          </a:prstGeom>
        </p:spPr>
      </p:pic>
    </p:spTree>
    <p:extLst>
      <p:ext uri="{BB962C8B-B14F-4D97-AF65-F5344CB8AC3E}">
        <p14:creationId xmlns:p14="http://schemas.microsoft.com/office/powerpoint/2010/main" val="428810546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21348</TotalTime>
  <Words>374</Words>
  <Application>Microsoft Office PowerPoint</Application>
  <PresentationFormat>寬螢幕</PresentationFormat>
  <Paragraphs>89</Paragraphs>
  <Slides>19</Slides>
  <Notes>17</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19</vt:i4>
      </vt:variant>
    </vt:vector>
  </HeadingPairs>
  <TitlesOfParts>
    <vt:vector size="26" baseType="lpstr">
      <vt:lpstr>新細明體</vt:lpstr>
      <vt:lpstr>Arial</vt:lpstr>
      <vt:lpstr>Calibri</vt:lpstr>
      <vt:lpstr>Calibri Light</vt:lpstr>
      <vt:lpstr>Cambria Math</vt:lpstr>
      <vt:lpstr>Times New Roman</vt:lpstr>
      <vt:lpstr>Office 佈景主題</vt:lpstr>
      <vt:lpstr>Algorithmic financial trading with deep convolutional neural networks: Time series to image conversion approach</vt:lpstr>
      <vt:lpstr>Abstract(1/2)</vt:lpstr>
      <vt:lpstr>Abstract(2/2)</vt:lpstr>
      <vt:lpstr>Testing and training</vt:lpstr>
      <vt:lpstr>Data</vt:lpstr>
      <vt:lpstr>Feature select (1/2)</vt:lpstr>
      <vt:lpstr>Feature select (2/2)</vt:lpstr>
      <vt:lpstr>Feature Image</vt:lpstr>
      <vt:lpstr>Labeling</vt:lpstr>
      <vt:lpstr>Label image</vt:lpstr>
      <vt:lpstr>CNN</vt:lpstr>
      <vt:lpstr>CNN</vt:lpstr>
      <vt:lpstr>Overall</vt:lpstr>
      <vt:lpstr>Computational model performance</vt:lpstr>
      <vt:lpstr>ETF analysis</vt:lpstr>
      <vt:lpstr>ETF analysis</vt:lpstr>
      <vt:lpstr>Dow 30 analysis 2007-2017</vt:lpstr>
      <vt:lpstr>Dow 30 analysis 2007-2012</vt:lpstr>
      <vt:lpstr>Dow 30 analysis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pplab-class</cp:lastModifiedBy>
  <cp:revision>619</cp:revision>
  <dcterms:created xsi:type="dcterms:W3CDTF">2017-09-07T05:36:32Z</dcterms:created>
  <dcterms:modified xsi:type="dcterms:W3CDTF">2018-06-26T11:13:40Z</dcterms:modified>
</cp:coreProperties>
</file>