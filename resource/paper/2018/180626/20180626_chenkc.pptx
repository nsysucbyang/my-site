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6"/>
  </p:notesMasterIdLst>
  <p:sldIdLst>
    <p:sldId id="256" r:id="rId2"/>
    <p:sldId id="319" r:id="rId3"/>
    <p:sldId id="257" r:id="rId4"/>
    <p:sldId id="320" r:id="rId5"/>
    <p:sldId id="291" r:id="rId6"/>
    <p:sldId id="327" r:id="rId7"/>
    <p:sldId id="328" r:id="rId8"/>
    <p:sldId id="331" r:id="rId9"/>
    <p:sldId id="324" r:id="rId10"/>
    <p:sldId id="325" r:id="rId11"/>
    <p:sldId id="321" r:id="rId12"/>
    <p:sldId id="322" r:id="rId13"/>
    <p:sldId id="343" r:id="rId14"/>
    <p:sldId id="344" r:id="rId15"/>
    <p:sldId id="333" r:id="rId16"/>
    <p:sldId id="334" r:id="rId17"/>
    <p:sldId id="335" r:id="rId18"/>
    <p:sldId id="336" r:id="rId19"/>
    <p:sldId id="337" r:id="rId20"/>
    <p:sldId id="341" r:id="rId21"/>
    <p:sldId id="340" r:id="rId22"/>
    <p:sldId id="342" r:id="rId23"/>
    <p:sldId id="332" r:id="rId24"/>
    <p:sldId id="338"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B5FBEBF5-6C27-43DA-9D2C-B1537964028B}">
          <p14:sldIdLst>
            <p14:sldId id="256"/>
            <p14:sldId id="319"/>
            <p14:sldId id="257"/>
            <p14:sldId id="320"/>
            <p14:sldId id="291"/>
            <p14:sldId id="327"/>
            <p14:sldId id="328"/>
            <p14:sldId id="331"/>
            <p14:sldId id="324"/>
            <p14:sldId id="325"/>
            <p14:sldId id="321"/>
            <p14:sldId id="322"/>
            <p14:sldId id="343"/>
            <p14:sldId id="344"/>
            <p14:sldId id="333"/>
            <p14:sldId id="334"/>
            <p14:sldId id="335"/>
            <p14:sldId id="336"/>
            <p14:sldId id="337"/>
            <p14:sldId id="341"/>
            <p14:sldId id="340"/>
            <p14:sldId id="342"/>
          </p14:sldIdLst>
        </p14:section>
        <p14:section name="test" id="{5A0672B8-76E0-491A-93E0-1923641389C1}">
          <p14:sldIdLst>
            <p14:sldId id="332"/>
            <p14:sldId id="33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5151"/>
    <a:srgbClr val="FF33CC"/>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7" autoAdjust="0"/>
    <p:restoredTop sz="86225" autoAdjust="0"/>
  </p:normalViewPr>
  <p:slideViewPr>
    <p:cSldViewPr snapToGrid="0">
      <p:cViewPr varScale="1">
        <p:scale>
          <a:sx n="64" d="100"/>
          <a:sy n="64" d="100"/>
        </p:scale>
        <p:origin x="1254"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2018/6/26</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sz="1200" b="0" i="0" u="none" strike="noStrike" kern="1200" baseline="0" dirty="0">
                <a:solidFill>
                  <a:schemeClr val="tx1"/>
                </a:solidFill>
                <a:latin typeface="+mn-lt"/>
                <a:ea typeface="+mn-ea"/>
                <a:cs typeface="+mn-cs"/>
              </a:rPr>
              <a:t>Rajesh Prasad</a:t>
            </a:r>
            <a:r>
              <a:rPr lang="zh-TW" altLang="en-US" sz="1200" b="0" i="0" u="none" strike="noStrike" kern="1200" baseline="0" dirty="0">
                <a:solidFill>
                  <a:schemeClr val="tx1"/>
                </a:solidFill>
                <a:latin typeface="+mn-lt"/>
                <a:ea typeface="+mn-ea"/>
                <a:cs typeface="+mn-cs"/>
              </a:rPr>
              <a:t> </a:t>
            </a:r>
            <a:r>
              <a:rPr lang="en-US" altLang="zh-TW" sz="1200" b="0" i="0" u="none" strike="noStrike" kern="1200" baseline="0" dirty="0">
                <a:solidFill>
                  <a:schemeClr val="tx1"/>
                </a:solidFill>
                <a:latin typeface="+mn-lt"/>
                <a:ea typeface="+mn-ea"/>
                <a:cs typeface="+mn-cs"/>
              </a:rPr>
              <a:t>-</a:t>
            </a:r>
            <a:r>
              <a:rPr lang="zh-TW" altLang="en-US" sz="1200" b="0" i="0" u="none" strike="noStrike" kern="1200" baseline="0" dirty="0">
                <a:solidFill>
                  <a:schemeClr val="tx1"/>
                </a:solidFill>
                <a:latin typeface="+mn-lt"/>
                <a:ea typeface="+mn-ea"/>
                <a:cs typeface="+mn-cs"/>
              </a:rPr>
              <a:t> </a:t>
            </a:r>
            <a:r>
              <a:rPr lang="en-US" altLang="zh-TW" sz="1200" b="0" i="0" u="none" strike="noStrike" kern="1200" baseline="0" dirty="0">
                <a:solidFill>
                  <a:schemeClr val="tx1"/>
                </a:solidFill>
                <a:latin typeface="+mn-lt"/>
                <a:ea typeface="+mn-ea"/>
                <a:cs typeface="+mn-cs"/>
              </a:rPr>
              <a:t>Department of Computer Science, </a:t>
            </a:r>
            <a:r>
              <a:rPr lang="en-US" altLang="zh-TW" sz="1200" b="0" i="0" u="none" strike="noStrike" kern="1200" baseline="0" dirty="0" err="1">
                <a:solidFill>
                  <a:schemeClr val="tx1"/>
                </a:solidFill>
                <a:latin typeface="+mn-lt"/>
                <a:ea typeface="+mn-ea"/>
                <a:cs typeface="+mn-cs"/>
              </a:rPr>
              <a:t>Yobe</a:t>
            </a:r>
            <a:r>
              <a:rPr lang="en-US" altLang="zh-TW" sz="1200" b="0" i="0" u="none" strike="noStrike" kern="1200" baseline="0" dirty="0">
                <a:solidFill>
                  <a:schemeClr val="tx1"/>
                </a:solidFill>
                <a:latin typeface="+mn-lt"/>
                <a:ea typeface="+mn-ea"/>
                <a:cs typeface="+mn-cs"/>
              </a:rPr>
              <a:t> State University, </a:t>
            </a:r>
            <a:r>
              <a:rPr lang="en-US" altLang="zh-TW" sz="1200" b="0" i="0" u="none" strike="noStrike" kern="1200" baseline="0" dirty="0" err="1">
                <a:solidFill>
                  <a:schemeClr val="tx1"/>
                </a:solidFill>
                <a:latin typeface="+mn-lt"/>
                <a:ea typeface="+mn-ea"/>
                <a:cs typeface="+mn-cs"/>
              </a:rPr>
              <a:t>Damaturu</a:t>
            </a:r>
            <a:r>
              <a:rPr lang="en-US" altLang="zh-TW" sz="1200" b="0" i="0" u="none" strike="noStrike" kern="1200" baseline="0" dirty="0">
                <a:solidFill>
                  <a:schemeClr val="tx1"/>
                </a:solidFill>
                <a:latin typeface="+mn-lt"/>
                <a:ea typeface="+mn-ea"/>
                <a:cs typeface="+mn-cs"/>
              </a:rPr>
              <a:t>, Nigeria</a:t>
            </a:r>
          </a:p>
          <a:p>
            <a:r>
              <a:rPr lang="en-US" altLang="zh-TW" sz="1200" b="0" i="0" u="none" strike="noStrike" kern="1200" baseline="0" dirty="0">
                <a:solidFill>
                  <a:schemeClr val="tx1"/>
                </a:solidFill>
                <a:latin typeface="+mn-lt"/>
                <a:ea typeface="+mn-ea"/>
                <a:cs typeface="+mn-cs"/>
              </a:rPr>
              <a:t>Rama Garg - Department of Computer Science &amp; Engineering, Ajay Kumar Garg Engineering College, Ghaziabad, India</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16110686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28851452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1551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18735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3840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8994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08377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166253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293959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52942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95466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99032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93274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51152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76557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67194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12984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861134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852426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11445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885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37765B31-2511-4B59-85CD-FE81550B112F}" type="datetime1">
              <a:rPr lang="zh-TW" altLang="en-US" smtClean="0"/>
              <a:t>2018/6/26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BF3BFE1-3FF9-4076-BFE3-436A899C6CFC}" type="datetime1">
              <a:rPr lang="zh-TW" altLang="en-US" smtClean="0"/>
              <a:t>2018/6/26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CEC3635F-B179-4E14-9FEF-30274F37C964}" type="datetime1">
              <a:rPr lang="zh-TW" altLang="en-US" smtClean="0"/>
              <a:t>2018/6/26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471D61C-B526-46B0-B991-3372D0F0EC91}" type="datetime1">
              <a:rPr lang="zh-TW" altLang="en-US" smtClean="0"/>
              <a:t>2018/6/26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06A488-6A5E-462F-A078-C1B45B9FC688}" type="datetime1">
              <a:rPr lang="zh-TW" altLang="en-US" smtClean="0"/>
              <a:t>2018/6/26</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D42DF501-4962-473D-B6D8-A7428BF1B6D4}" type="datetime1">
              <a:rPr lang="zh-TW" altLang="en-US" smtClean="0"/>
              <a:t>2018/6/26</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72C89F-7B98-4BDD-B73A-1D10077A1F27}" type="datetime1">
              <a:rPr lang="zh-TW" altLang="en-US" smtClean="0"/>
              <a:t>2018/6/26</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B9409844-160F-4E54-862A-C6CCEBCF4E40}" type="datetime1">
              <a:rPr lang="zh-TW" altLang="en-US" smtClean="0"/>
              <a:t>2018/6/26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77C98F-9D28-4915-ABD0-95B43831494A}" type="datetime1">
              <a:rPr lang="zh-TW" altLang="en-US" smtClean="0"/>
              <a:t>2018/6/26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AEFE765-5314-4951-98B4-C5C6DE7CD530}" type="datetime1">
              <a:rPr lang="zh-TW" altLang="en-US" smtClean="0"/>
              <a:t>2018/6/26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3990DED-4DF0-4E86-AB35-9CE8B4D53C52}" type="datetime1">
              <a:rPr lang="zh-TW" altLang="en-US" smtClean="0"/>
              <a:t>2018/6/26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AE8280-42F1-400D-A234-BF7D1153CCE2}" type="datetime1">
              <a:rPr lang="zh-TW" altLang="en-US" smtClean="0"/>
              <a:t>2018/6/26</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9" Type="http://schemas.openxmlformats.org/officeDocument/2006/relationships/image" Target="../media/image2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7"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B447A32-0D96-4B57-86B2-82EC84E8995E}"/>
              </a:ext>
            </a:extLst>
          </p:cNvPr>
          <p:cNvSpPr>
            <a:spLocks noGrp="1"/>
          </p:cNvSpPr>
          <p:nvPr>
            <p:ph type="ctrTitle"/>
          </p:nvPr>
        </p:nvSpPr>
        <p:spPr>
          <a:xfrm>
            <a:off x="0" y="880364"/>
            <a:ext cx="9144000" cy="1601036"/>
          </a:xfrm>
        </p:spPr>
        <p:txBody>
          <a:bodyPr>
            <a:normAutofit/>
          </a:bodyPr>
          <a:lstStyle/>
          <a:p>
            <a:r>
              <a:rPr lang="en-US" altLang="zh-TW" sz="3200" dirty="0">
                <a:latin typeface="Times New Roman" panose="02020603050405020304" pitchFamily="18" charset="0"/>
                <a:cs typeface="Times New Roman" panose="02020603050405020304" pitchFamily="18" charset="0"/>
              </a:rPr>
              <a:t> Efficient Multi-word Parameterized Matching </a:t>
            </a:r>
            <a:br>
              <a:rPr lang="en-US" altLang="zh-TW" sz="3200" dirty="0">
                <a:latin typeface="Times New Roman" panose="02020603050405020304" pitchFamily="18" charset="0"/>
                <a:cs typeface="Times New Roman" panose="02020603050405020304" pitchFamily="18" charset="0"/>
              </a:rPr>
            </a:br>
            <a:r>
              <a:rPr lang="en-US" altLang="zh-TW" sz="3200" dirty="0">
                <a:latin typeface="Times New Roman" panose="02020603050405020304" pitchFamily="18" charset="0"/>
                <a:cs typeface="Times New Roman" panose="02020603050405020304" pitchFamily="18" charset="0"/>
              </a:rPr>
              <a:t>on</a:t>
            </a:r>
            <a:r>
              <a:rPr lang="zh-TW" altLang="en-US" sz="3200" dirty="0">
                <a:latin typeface="Times New Roman" panose="02020603050405020304" pitchFamily="18" charset="0"/>
                <a:cs typeface="Times New Roman" panose="02020603050405020304" pitchFamily="18" charset="0"/>
              </a:rPr>
              <a:t> </a:t>
            </a:r>
            <a:r>
              <a:rPr lang="en-US" altLang="zh-TW" sz="3200" dirty="0">
                <a:latin typeface="Times New Roman" panose="02020603050405020304" pitchFamily="18" charset="0"/>
                <a:cs typeface="Times New Roman" panose="02020603050405020304" pitchFamily="18" charset="0"/>
              </a:rPr>
              <a:t>Compressed Text </a:t>
            </a:r>
            <a:endParaRPr lang="zh-TW" altLang="en-US" sz="32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xmlns="" id="{61456E59-5D91-4093-B1A4-6F308EA967FD}"/>
              </a:ext>
            </a:extLst>
          </p:cNvPr>
          <p:cNvSpPr>
            <a:spLocks noGrp="1"/>
          </p:cNvSpPr>
          <p:nvPr>
            <p:ph type="subTitle" idx="1"/>
          </p:nvPr>
        </p:nvSpPr>
        <p:spPr>
          <a:xfrm>
            <a:off x="-1" y="2955613"/>
            <a:ext cx="9144000" cy="586228"/>
          </a:xfrm>
        </p:spPr>
        <p:txBody>
          <a:bodyPr>
            <a:normAutofit/>
          </a:bodyPr>
          <a:lstStyle/>
          <a:p>
            <a:r>
              <a:rPr lang="en-US" altLang="zh-TW" dirty="0">
                <a:latin typeface="Times New Roman" panose="02020603050405020304" pitchFamily="18" charset="0"/>
                <a:ea typeface="+mj-ea"/>
                <a:cs typeface="Times New Roman" panose="02020603050405020304" pitchFamily="18" charset="0"/>
              </a:rPr>
              <a:t>Rajesh Prasad, Rama Garg</a:t>
            </a:r>
            <a:endParaRPr lang="zh-TW" altLang="en-US" dirty="0">
              <a:latin typeface="Times New Roman" panose="02020603050405020304" pitchFamily="18" charset="0"/>
              <a:ea typeface="+mj-ea"/>
              <a:cs typeface="Times New Roman" panose="02020603050405020304" pitchFamily="18" charset="0"/>
            </a:endParaRPr>
          </a:p>
        </p:txBody>
      </p:sp>
      <p:sp>
        <p:nvSpPr>
          <p:cNvPr id="4" name="副標題 2">
            <a:extLst>
              <a:ext uri="{FF2B5EF4-FFF2-40B4-BE49-F238E27FC236}">
                <a16:creationId xmlns:a16="http://schemas.microsoft.com/office/drawing/2014/main" xmlns="" id="{A64E0364-4674-4930-835E-A413D880DCDB}"/>
              </a:ext>
            </a:extLst>
          </p:cNvPr>
          <p:cNvSpPr txBox="1">
            <a:spLocks/>
          </p:cNvSpPr>
          <p:nvPr/>
        </p:nvSpPr>
        <p:spPr>
          <a:xfrm>
            <a:off x="5489688" y="5315455"/>
            <a:ext cx="2715491"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1800" dirty="0" err="1">
                <a:latin typeface="Times New Roman" panose="02020603050405020304" pitchFamily="18" charset="0"/>
                <a:ea typeface="標楷體" panose="03000509000000000000" pitchFamily="65" charset="-120"/>
                <a:cs typeface="Times New Roman" panose="02020603050405020304" pitchFamily="18" charset="0"/>
              </a:rPr>
              <a:t>Kuan-Chih</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 Chen</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2018.06.26</a:t>
            </a:r>
          </a:p>
        </p:txBody>
      </p:sp>
      <p:sp>
        <p:nvSpPr>
          <p:cNvPr id="5" name="矩形 4">
            <a:extLst>
              <a:ext uri="{FF2B5EF4-FFF2-40B4-BE49-F238E27FC236}">
                <a16:creationId xmlns:a16="http://schemas.microsoft.com/office/drawing/2014/main" xmlns="" id="{776243CF-D414-4295-8B1E-9BF6541E940C}"/>
              </a:ext>
            </a:extLst>
          </p:cNvPr>
          <p:cNvSpPr/>
          <p:nvPr/>
        </p:nvSpPr>
        <p:spPr>
          <a:xfrm flipH="1">
            <a:off x="1168053" y="3720762"/>
            <a:ext cx="6807893" cy="707886"/>
          </a:xfrm>
          <a:prstGeom prst="rect">
            <a:avLst/>
          </a:prstGeom>
        </p:spPr>
        <p:txBody>
          <a:bodyPr wrap="square">
            <a:spAutoFit/>
          </a:bodyPr>
          <a:lstStyle/>
          <a:p>
            <a:pPr algn="ctr"/>
            <a:r>
              <a:rPr lang="en-US" altLang="zh-TW" sz="2000" dirty="0">
                <a:latin typeface="Times New Roman" panose="02020603050405020304" pitchFamily="18" charset="0"/>
                <a:ea typeface="+mj-ea"/>
                <a:cs typeface="Times New Roman" panose="02020603050405020304" pitchFamily="18" charset="0"/>
              </a:rPr>
              <a:t>IEEE 6th International Conference on Adaptive Science &amp; Technology (ICAST), Lagos, Nigeria, Oct 29~ Oct 31, 2014</a:t>
            </a:r>
          </a:p>
        </p:txBody>
      </p:sp>
    </p:spTree>
    <p:extLst>
      <p:ext uri="{BB962C8B-B14F-4D97-AF65-F5344CB8AC3E}">
        <p14:creationId xmlns:p14="http://schemas.microsoft.com/office/powerpoint/2010/main" val="2611728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13A758CA-0CA6-4370-9860-2443A9EED466}"/>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p:pic>
        <p:nvPicPr>
          <p:cNvPr id="5" name="圖片 4">
            <a:extLst>
              <a:ext uri="{FF2B5EF4-FFF2-40B4-BE49-F238E27FC236}">
                <a16:creationId xmlns:a16="http://schemas.microsoft.com/office/drawing/2014/main" xmlns="" id="{DAAB5F31-F5DB-425A-80C4-641001599413}"/>
              </a:ext>
            </a:extLst>
          </p:cNvPr>
          <p:cNvPicPr>
            <a:picLocks noChangeAspect="1"/>
          </p:cNvPicPr>
          <p:nvPr/>
        </p:nvPicPr>
        <p:blipFill rotWithShape="1">
          <a:blip r:embed="rId2"/>
          <a:srcRect l="11318" r="12505" b="3731"/>
          <a:stretch/>
        </p:blipFill>
        <p:spPr>
          <a:xfrm>
            <a:off x="482886" y="210920"/>
            <a:ext cx="4089114" cy="3976696"/>
          </a:xfrm>
          <a:prstGeom prst="rect">
            <a:avLst/>
          </a:prstGeom>
        </p:spPr>
      </p:pic>
      <p:pic>
        <p:nvPicPr>
          <p:cNvPr id="6" name="圖片 5">
            <a:extLst>
              <a:ext uri="{FF2B5EF4-FFF2-40B4-BE49-F238E27FC236}">
                <a16:creationId xmlns:a16="http://schemas.microsoft.com/office/drawing/2014/main" xmlns="" id="{D0127557-53E3-4633-B758-CCE642F8D8D0}"/>
              </a:ext>
            </a:extLst>
          </p:cNvPr>
          <p:cNvPicPr>
            <a:picLocks noChangeAspect="1"/>
          </p:cNvPicPr>
          <p:nvPr/>
        </p:nvPicPr>
        <p:blipFill>
          <a:blip r:embed="rId3"/>
          <a:stretch>
            <a:fillRect/>
          </a:stretch>
        </p:blipFill>
        <p:spPr>
          <a:xfrm>
            <a:off x="4303480" y="2660722"/>
            <a:ext cx="4575129" cy="3596240"/>
          </a:xfrm>
          <a:prstGeom prst="rect">
            <a:avLst/>
          </a:prstGeom>
        </p:spPr>
      </p:pic>
      <p:sp>
        <p:nvSpPr>
          <p:cNvPr id="7" name="橢圓 6">
            <a:extLst>
              <a:ext uri="{FF2B5EF4-FFF2-40B4-BE49-F238E27FC236}">
                <a16:creationId xmlns:a16="http://schemas.microsoft.com/office/drawing/2014/main" xmlns="" id="{2F5B316C-9DAA-4AEF-B492-E000D3B6372D}"/>
              </a:ext>
            </a:extLst>
          </p:cNvPr>
          <p:cNvSpPr/>
          <p:nvPr/>
        </p:nvSpPr>
        <p:spPr>
          <a:xfrm>
            <a:off x="4572000" y="4931596"/>
            <a:ext cx="729465" cy="72946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1558472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Abstract</a:t>
            </a:r>
            <a:r>
              <a:rPr lang="zh-TW" altLang="en-US" sz="3200" dirty="0">
                <a:latin typeface="Times New Roman" panose="02020603050405020304" pitchFamily="18" charset="0"/>
                <a:cs typeface="Times New Roman" panose="02020603050405020304" pitchFamily="18" charset="0"/>
              </a:rPr>
              <a:t> </a:t>
            </a:r>
            <a:r>
              <a:rPr lang="en-US" altLang="zh-TW" sz="3200" dirty="0">
                <a:latin typeface="Times New Roman" panose="02020603050405020304" pitchFamily="18" charset="0"/>
                <a:cs typeface="Times New Roman" panose="02020603050405020304" pitchFamily="18" charset="0"/>
              </a:rPr>
              <a:t>(1/2)</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mc:AlternateContent xmlns:mc="http://schemas.openxmlformats.org/markup-compatibility/2006" xmlns:a14="http://schemas.microsoft.com/office/drawing/2010/main">
        <mc:Choice Requires="a14">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471955" y="998092"/>
                <a:ext cx="8200089" cy="5445183"/>
              </a:xfrm>
            </p:spPr>
            <p:txBody>
              <a:bodyPr>
                <a:noAutofit/>
              </a:bodyPr>
              <a:lstStyle/>
              <a:p>
                <a:pPr marL="0" indent="0">
                  <a:lnSpc>
                    <a:spcPct val="150000"/>
                  </a:lnSpc>
                  <a:buNone/>
                </a:pPr>
                <a:r>
                  <a:rPr lang="en-US" altLang="zh-TW" sz="2200" dirty="0">
                    <a:latin typeface="Times New Roman" panose="02020603050405020304" pitchFamily="18" charset="0"/>
                    <a:cs typeface="Times New Roman" panose="02020603050405020304" pitchFamily="18" charset="0"/>
                  </a:rPr>
                  <a:t>Searching set of patterns </a:t>
                </a:r>
                <a14:m>
                  <m:oMath xmlns:m="http://schemas.openxmlformats.org/officeDocument/2006/math">
                    <m:d>
                      <m:dPr>
                        <m:begChr m:val="{"/>
                        <m:endChr m:val="}"/>
                        <m:ctrlPr>
                          <a:rPr lang="en-US" altLang="zh-TW" sz="2200" b="0" i="1" dirty="0" smtClean="0">
                            <a:latin typeface="Cambria Math" panose="02040503050406030204" pitchFamily="18" charset="0"/>
                            <a:cs typeface="Times New Roman" panose="02020603050405020304" pitchFamily="18" charset="0"/>
                          </a:rPr>
                        </m:ctrlPr>
                      </m:dPr>
                      <m:e>
                        <m:sSub>
                          <m:sSubPr>
                            <m:ctrlPr>
                              <a:rPr lang="en-US" altLang="zh-TW" sz="2200" b="0" i="1" dirty="0" smtClean="0">
                                <a:latin typeface="Cambria Math" panose="02040503050406030204" pitchFamily="18" charset="0"/>
                                <a:cs typeface="Times New Roman" panose="02020603050405020304" pitchFamily="18" charset="0"/>
                              </a:rPr>
                            </m:ctrlPr>
                          </m:sSubPr>
                          <m:e>
                            <m:r>
                              <a:rPr lang="en-US" altLang="zh-TW" sz="2200" i="1" dirty="0" smtClean="0">
                                <a:latin typeface="Cambria Math" panose="02040503050406030204" pitchFamily="18" charset="0"/>
                                <a:cs typeface="Times New Roman" panose="02020603050405020304" pitchFamily="18" charset="0"/>
                              </a:rPr>
                              <m:t>𝑃</m:t>
                            </m:r>
                          </m:e>
                          <m:sub>
                            <m:r>
                              <a:rPr lang="en-US" altLang="zh-TW" sz="2200" b="0" i="1" dirty="0" smtClean="0">
                                <a:latin typeface="Cambria Math" panose="02040503050406030204" pitchFamily="18" charset="0"/>
                                <a:cs typeface="Times New Roman" panose="02020603050405020304" pitchFamily="18" charset="0"/>
                              </a:rPr>
                              <m:t>1</m:t>
                            </m:r>
                          </m:sub>
                        </m:sSub>
                        <m:r>
                          <a:rPr lang="en-US" altLang="zh-TW" sz="2200" b="0" i="1" dirty="0" smtClean="0">
                            <a:latin typeface="Cambria Math" panose="02040503050406030204" pitchFamily="18" charset="0"/>
                            <a:cs typeface="Times New Roman" panose="02020603050405020304" pitchFamily="18" charset="0"/>
                          </a:rPr>
                          <m:t>, </m:t>
                        </m:r>
                        <m:sSub>
                          <m:sSubPr>
                            <m:ctrlPr>
                              <a:rPr lang="en-US" altLang="zh-TW" sz="2200" b="0" i="1" dirty="0" smtClean="0">
                                <a:latin typeface="Cambria Math" panose="02040503050406030204" pitchFamily="18" charset="0"/>
                                <a:cs typeface="Times New Roman" panose="02020603050405020304" pitchFamily="18" charset="0"/>
                              </a:rPr>
                            </m:ctrlPr>
                          </m:sSubPr>
                          <m:e>
                            <m:r>
                              <a:rPr lang="en-US" altLang="zh-TW" sz="2200" b="0" i="1" dirty="0" smtClean="0">
                                <a:latin typeface="Cambria Math" panose="02040503050406030204" pitchFamily="18" charset="0"/>
                                <a:cs typeface="Times New Roman" panose="02020603050405020304" pitchFamily="18" charset="0"/>
                              </a:rPr>
                              <m:t>𝑃</m:t>
                            </m:r>
                          </m:e>
                          <m:sub>
                            <m:r>
                              <a:rPr lang="en-US" altLang="zh-TW" sz="2200" b="0" i="1" dirty="0" smtClean="0">
                                <a:latin typeface="Cambria Math" panose="02040503050406030204" pitchFamily="18" charset="0"/>
                                <a:cs typeface="Times New Roman" panose="02020603050405020304" pitchFamily="18" charset="0"/>
                              </a:rPr>
                              <m:t>2</m:t>
                            </m:r>
                          </m:sub>
                        </m:sSub>
                        <m:r>
                          <a:rPr lang="en-US" altLang="zh-TW" sz="2200" b="0" i="1" dirty="0" smtClean="0">
                            <a:latin typeface="Cambria Math" panose="02040503050406030204" pitchFamily="18" charset="0"/>
                            <a:cs typeface="Times New Roman" panose="02020603050405020304" pitchFamily="18" charset="0"/>
                          </a:rPr>
                          <m:t>, </m:t>
                        </m:r>
                        <m:sSub>
                          <m:sSubPr>
                            <m:ctrlPr>
                              <a:rPr lang="en-US" altLang="zh-TW" sz="2200" b="0" i="1" dirty="0" smtClean="0">
                                <a:latin typeface="Cambria Math" panose="02040503050406030204" pitchFamily="18" charset="0"/>
                                <a:cs typeface="Times New Roman" panose="02020603050405020304" pitchFamily="18" charset="0"/>
                              </a:rPr>
                            </m:ctrlPr>
                          </m:sSubPr>
                          <m:e>
                            <m:r>
                              <a:rPr lang="en-US" altLang="zh-TW" sz="2200" b="0" i="1" dirty="0" smtClean="0">
                                <a:latin typeface="Cambria Math" panose="02040503050406030204" pitchFamily="18" charset="0"/>
                                <a:cs typeface="Times New Roman" panose="02020603050405020304" pitchFamily="18" charset="0"/>
                              </a:rPr>
                              <m:t>𝑃</m:t>
                            </m:r>
                          </m:e>
                          <m:sub>
                            <m:r>
                              <a:rPr lang="en-US" altLang="zh-TW" sz="2200" b="0" i="1" dirty="0" smtClean="0">
                                <a:latin typeface="Cambria Math" panose="02040503050406030204" pitchFamily="18" charset="0"/>
                                <a:cs typeface="Times New Roman" panose="02020603050405020304" pitchFamily="18" charset="0"/>
                              </a:rPr>
                              <m:t>3</m:t>
                            </m:r>
                          </m:sub>
                        </m:sSub>
                        <m:r>
                          <a:rPr lang="en-US" altLang="zh-TW" sz="2200" b="0" i="1" dirty="0" smtClean="0">
                            <a:latin typeface="Cambria Math" panose="02040503050406030204" pitchFamily="18" charset="0"/>
                            <a:cs typeface="Times New Roman" panose="02020603050405020304" pitchFamily="18" charset="0"/>
                          </a:rPr>
                          <m:t>, …, </m:t>
                        </m:r>
                        <m:sSub>
                          <m:sSubPr>
                            <m:ctrlPr>
                              <a:rPr lang="en-US" altLang="zh-TW" sz="2200" b="0" i="1" dirty="0" smtClean="0">
                                <a:latin typeface="Cambria Math" panose="02040503050406030204" pitchFamily="18" charset="0"/>
                                <a:cs typeface="Times New Roman" panose="02020603050405020304" pitchFamily="18" charset="0"/>
                              </a:rPr>
                            </m:ctrlPr>
                          </m:sSubPr>
                          <m:e>
                            <m:r>
                              <a:rPr lang="en-US" altLang="zh-TW" sz="2200" b="0" i="1" dirty="0" smtClean="0">
                                <a:latin typeface="Cambria Math" panose="02040503050406030204" pitchFamily="18" charset="0"/>
                                <a:cs typeface="Times New Roman" panose="02020603050405020304" pitchFamily="18" charset="0"/>
                              </a:rPr>
                              <m:t>𝑃</m:t>
                            </m:r>
                          </m:e>
                          <m:sub>
                            <m:r>
                              <a:rPr lang="en-US" altLang="zh-TW" sz="2200" b="0" i="1" dirty="0" smtClean="0">
                                <a:latin typeface="Cambria Math" panose="02040503050406030204" pitchFamily="18" charset="0"/>
                                <a:cs typeface="Times New Roman" panose="02020603050405020304" pitchFamily="18" charset="0"/>
                              </a:rPr>
                              <m:t>𝑟</m:t>
                            </m:r>
                          </m:sub>
                        </m:sSub>
                      </m:e>
                    </m:d>
                    <m:r>
                      <a:rPr lang="en-US" altLang="zh-TW" sz="2200" b="0" i="1" dirty="0" smtClean="0">
                        <a:latin typeface="Cambria Math" panose="02040503050406030204" pitchFamily="18" charset="0"/>
                        <a:cs typeface="Times New Roman" panose="02020603050405020304" pitchFamily="18" charset="0"/>
                      </a:rPr>
                      <m:t>, </m:t>
                    </m:r>
                    <m:r>
                      <a:rPr lang="en-US" altLang="zh-TW" sz="2200" b="0" i="1" dirty="0" smtClean="0">
                        <a:latin typeface="Cambria Math" panose="02040503050406030204" pitchFamily="18" charset="0"/>
                        <a:cs typeface="Times New Roman" panose="02020603050405020304" pitchFamily="18" charset="0"/>
                      </a:rPr>
                      <m:t>𝑟</m:t>
                    </m:r>
                    <m:r>
                      <a:rPr lang="en-US" altLang="zh-TW" sz="2200" b="0" i="1" dirty="0" smtClean="0">
                        <a:latin typeface="Cambria Math" panose="02040503050406030204" pitchFamily="18" charset="0"/>
                        <a:cs typeface="Times New Roman" panose="02020603050405020304" pitchFamily="18" charset="0"/>
                      </a:rPr>
                      <m:t>≥1</m:t>
                    </m:r>
                  </m:oMath>
                </a14:m>
                <a:r>
                  <a:rPr lang="en-US" altLang="zh-TW" sz="2200" dirty="0">
                    <a:latin typeface="Times New Roman" panose="02020603050405020304" pitchFamily="18" charset="0"/>
                    <a:cs typeface="Times New Roman" panose="02020603050405020304" pitchFamily="18" charset="0"/>
                  </a:rPr>
                  <a:t>, inside body of a text T[1...n] is called </a:t>
                </a:r>
                <a:r>
                  <a:rPr lang="en-US" altLang="zh-TW" sz="2200" dirty="0">
                    <a:solidFill>
                      <a:srgbClr val="0070C0"/>
                    </a:solidFill>
                    <a:latin typeface="Times New Roman" panose="02020603050405020304" pitchFamily="18" charset="0"/>
                    <a:cs typeface="Times New Roman" panose="02020603050405020304" pitchFamily="18" charset="0"/>
                  </a:rPr>
                  <a:t>multi-pattern matching problem</a:t>
                </a:r>
                <a:r>
                  <a:rPr lang="en-US" altLang="zh-TW" sz="2200" dirty="0">
                    <a:latin typeface="Times New Roman" panose="02020603050405020304" pitchFamily="18" charset="0"/>
                    <a:cs typeface="Times New Roman" panose="02020603050405020304" pitchFamily="18" charset="0"/>
                  </a:rPr>
                  <a:t>. This matching is said to be parameterized match (p-match), if one can be transformed into the other via some bijective mapping. It is mainly used in software maintenance, plagiarism detection and detecting isomorphism in a graph. In the </a:t>
                </a:r>
                <a:r>
                  <a:rPr lang="en-US" altLang="zh-TW" sz="2200" dirty="0">
                    <a:solidFill>
                      <a:srgbClr val="0070C0"/>
                    </a:solidFill>
                    <a:latin typeface="Times New Roman" panose="02020603050405020304" pitchFamily="18" charset="0"/>
                    <a:cs typeface="Times New Roman" panose="02020603050405020304" pitchFamily="18" charset="0"/>
                  </a:rPr>
                  <a:t>compressed parameterized matching problem</a:t>
                </a:r>
                <a:r>
                  <a:rPr lang="en-US" altLang="zh-TW" sz="2200" dirty="0">
                    <a:latin typeface="Times New Roman" panose="02020603050405020304" pitchFamily="18" charset="0"/>
                    <a:cs typeface="Times New Roman" panose="02020603050405020304" pitchFamily="18" charset="0"/>
                  </a:rPr>
                  <a:t>, our task is to find all the parameterized occurrences of a pattern (set of patterns) in the compressed text, without decompressing it. Compressing the text before matching reduces the size and minimizes the matching time also. </a:t>
                </a:r>
              </a:p>
            </p:txBody>
          </p:sp>
        </mc:Choice>
        <mc:Fallback xmlns="">
          <p:sp>
            <p:nvSpPr>
              <p:cNvPr id="7" name="內容版面配置區 6">
                <a:extLst>
                  <a:ext uri="{FF2B5EF4-FFF2-40B4-BE49-F238E27FC236}">
                    <a16:creationId xmlns:a16="http://schemas.microsoft.com/office/drawing/2014/main" id="{878CA31B-C758-4215-B281-353CA02EC37A}"/>
                  </a:ext>
                </a:extLst>
              </p:cNvPr>
              <p:cNvSpPr>
                <a:spLocks noGrp="1" noRot="1" noChangeAspect="1" noMove="1" noResize="1" noEditPoints="1" noAdjustHandles="1" noChangeArrowheads="1" noChangeShapeType="1" noTextEdit="1"/>
              </p:cNvSpPr>
              <p:nvPr>
                <p:ph idx="1"/>
              </p:nvPr>
            </p:nvSpPr>
            <p:spPr>
              <a:xfrm>
                <a:off x="471955" y="998092"/>
                <a:ext cx="8200089" cy="5445183"/>
              </a:xfrm>
              <a:blipFill>
                <a:blip r:embed="rId4"/>
                <a:stretch>
                  <a:fillRect l="-966" r="-208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04781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Abstract (2/2)</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4</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471955" y="998092"/>
            <a:ext cx="8310537" cy="5445183"/>
          </a:xfrm>
        </p:spPr>
        <p:txBody>
          <a:bodyPr>
            <a:normAutofit/>
          </a:body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In this paper, we develop an efficient algorithm for parameterized multi-word matching problem on the compressed text, where both patterns and text are compressed before actual matching is performed and pattern is treated as word. For compressing the pattern and text, we use efficient compression code: Word Based Tagged Code (WBTC) and bit-parallel algorithm is used for searching purpose. Experimental results show that our algorithm is up to three times faster than the search on the uncompressed text.</a:t>
            </a:r>
          </a:p>
        </p:txBody>
      </p:sp>
    </p:spTree>
    <p:extLst>
      <p:ext uri="{BB962C8B-B14F-4D97-AF65-F5344CB8AC3E}">
        <p14:creationId xmlns:p14="http://schemas.microsoft.com/office/powerpoint/2010/main" val="37854831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Definition – String Matching Problem </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5</a:t>
            </a:fld>
            <a:endParaRPr lang="zh-TW" altLang="en-US"/>
          </a:p>
        </p:txBody>
      </p:sp>
      <mc:AlternateContent xmlns:mc="http://schemas.openxmlformats.org/markup-compatibility/2006" xmlns:a14="http://schemas.microsoft.com/office/drawing/2010/main">
        <mc:Choice Requires="a14">
          <p:sp>
            <p:nvSpPr>
              <p:cNvPr id="9" name="內容版面配置區 6">
                <a:extLst>
                  <a:ext uri="{FF2B5EF4-FFF2-40B4-BE49-F238E27FC236}">
                    <a16:creationId xmlns:a16="http://schemas.microsoft.com/office/drawing/2014/main" xmlns="" id="{5E391A4C-1316-4910-829E-5880FDF21ABD}"/>
                  </a:ext>
                </a:extLst>
              </p:cNvPr>
              <p:cNvSpPr>
                <a:spLocks noGrp="1"/>
              </p:cNvSpPr>
              <p:nvPr>
                <p:ph idx="1"/>
              </p:nvPr>
            </p:nvSpPr>
            <p:spPr>
              <a:xfrm>
                <a:off x="471955" y="1122478"/>
                <a:ext cx="7081490" cy="1322771"/>
              </a:xfrm>
            </p:spPr>
            <p:txBody>
              <a:bodyPr>
                <a:normAutofit/>
              </a:body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Finding all the occurrences of a </a:t>
                </a:r>
                <a:r>
                  <a:rPr lang="en-US" altLang="zh-TW" sz="2400" dirty="0">
                    <a:solidFill>
                      <a:srgbClr val="0070C0"/>
                    </a:solidFill>
                    <a:latin typeface="Times New Roman" panose="02020603050405020304" pitchFamily="18" charset="0"/>
                    <a:cs typeface="Times New Roman" panose="02020603050405020304" pitchFamily="18" charset="0"/>
                  </a:rPr>
                  <a:t>pattern P</a:t>
                </a:r>
                <a:r>
                  <a:rPr lang="en-US" altLang="zh-TW" sz="2400" dirty="0">
                    <a:latin typeface="Times New Roman" panose="02020603050405020304" pitchFamily="18" charset="0"/>
                    <a:cs typeface="Times New Roman" panose="02020603050405020304" pitchFamily="18" charset="0"/>
                  </a:rPr>
                  <a:t> of length </a:t>
                </a: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𝑚</m:t>
                    </m:r>
                  </m:oMath>
                </a14:m>
                <a:r>
                  <a:rPr lang="en-US" altLang="zh-TW" sz="2400" dirty="0">
                    <a:latin typeface="Times New Roman" panose="02020603050405020304" pitchFamily="18" charset="0"/>
                    <a:cs typeface="Times New Roman" panose="02020603050405020304" pitchFamily="18" charset="0"/>
                  </a:rPr>
                  <a:t> in a </a:t>
                </a:r>
                <a:r>
                  <a:rPr lang="en-US" altLang="zh-TW" sz="2400" dirty="0">
                    <a:solidFill>
                      <a:srgbClr val="0070C0"/>
                    </a:solidFill>
                    <a:latin typeface="Times New Roman" panose="02020603050405020304" pitchFamily="18" charset="0"/>
                    <a:cs typeface="Times New Roman" panose="02020603050405020304" pitchFamily="18" charset="0"/>
                  </a:rPr>
                  <a:t>text T</a:t>
                </a:r>
                <a:r>
                  <a:rPr lang="en-US" altLang="zh-TW" sz="2400" dirty="0">
                    <a:latin typeface="Times New Roman" panose="02020603050405020304" pitchFamily="18" charset="0"/>
                    <a:cs typeface="Times New Roman" panose="02020603050405020304" pitchFamily="18" charset="0"/>
                  </a:rPr>
                  <a:t> of length </a:t>
                </a: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𝑛</m:t>
                    </m:r>
                  </m:oMath>
                </a14:m>
                <a:r>
                  <a:rPr lang="en-US" altLang="zh-TW" sz="24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400" b="0" i="1" dirty="0" smtClean="0">
                        <a:latin typeface="Cambria Math" panose="02040503050406030204" pitchFamily="18" charset="0"/>
                        <a:cs typeface="Times New Roman" panose="02020603050405020304" pitchFamily="18" charset="0"/>
                      </a:rPr>
                      <m:t>𝑚</m:t>
                    </m:r>
                    <m:r>
                      <a:rPr lang="en-US" altLang="zh-TW" sz="2400" b="0" i="1" dirty="0" smtClean="0">
                        <a:latin typeface="Cambria Math" panose="02040503050406030204" pitchFamily="18" charset="0"/>
                        <a:cs typeface="Times New Roman" panose="02020603050405020304" pitchFamily="18" charset="0"/>
                      </a:rPr>
                      <m:t>≤</m:t>
                    </m:r>
                    <m:r>
                      <a:rPr lang="en-US" altLang="zh-TW" sz="2400" b="0" i="1" dirty="0" smtClean="0">
                        <a:latin typeface="Cambria Math" panose="02040503050406030204" pitchFamily="18" charset="0"/>
                        <a:cs typeface="Times New Roman" panose="02020603050405020304" pitchFamily="18" charset="0"/>
                      </a:rPr>
                      <m:t>𝑛</m:t>
                    </m:r>
                  </m:oMath>
                </a14:m>
                <a:r>
                  <a:rPr lang="en-US" altLang="zh-TW" sz="2400" dirty="0">
                    <a:latin typeface="Times New Roman" panose="02020603050405020304" pitchFamily="18" charset="0"/>
                    <a:cs typeface="Times New Roman" panose="02020603050405020304" pitchFamily="18" charset="0"/>
                  </a:rPr>
                  <a:t>)</a:t>
                </a:r>
              </a:p>
            </p:txBody>
          </p:sp>
        </mc:Choice>
        <mc:Fallback xmlns="">
          <p:sp>
            <p:nvSpPr>
              <p:cNvPr id="9" name="內容版面配置區 6">
                <a:extLst>
                  <a:ext uri="{FF2B5EF4-FFF2-40B4-BE49-F238E27FC236}">
                    <a16:creationId xmlns:a16="http://schemas.microsoft.com/office/drawing/2014/main" id="{5E391A4C-1316-4910-829E-5880FDF21ABD}"/>
                  </a:ext>
                </a:extLst>
              </p:cNvPr>
              <p:cNvSpPr>
                <a:spLocks noGrp="1" noRot="1" noChangeAspect="1" noMove="1" noResize="1" noEditPoints="1" noAdjustHandles="1" noChangeArrowheads="1" noChangeShapeType="1" noTextEdit="1"/>
              </p:cNvSpPr>
              <p:nvPr>
                <p:ph idx="1"/>
              </p:nvPr>
            </p:nvSpPr>
            <p:spPr>
              <a:xfrm>
                <a:off x="471955" y="1122478"/>
                <a:ext cx="7081490" cy="1322771"/>
              </a:xfrm>
              <a:blipFill>
                <a:blip r:embed="rId9"/>
                <a:stretch>
                  <a:fillRect l="-1291" r="-1291"/>
                </a:stretch>
              </a:blipFill>
            </p:spPr>
            <p:txBody>
              <a:bodyPr/>
              <a:lstStyle/>
              <a:p>
                <a:r>
                  <a:rPr lang="zh-TW" altLang="en-US">
                    <a:noFill/>
                  </a:rPr>
                  <a:t> </a:t>
                </a:r>
              </a:p>
            </p:txBody>
          </p:sp>
        </mc:Fallback>
      </mc:AlternateContent>
      <p:sp>
        <p:nvSpPr>
          <p:cNvPr id="20" name="內容版面配置區 6">
            <a:extLst>
              <a:ext uri="{FF2B5EF4-FFF2-40B4-BE49-F238E27FC236}">
                <a16:creationId xmlns:a16="http://schemas.microsoft.com/office/drawing/2014/main" xmlns="" id="{1D4DDE6F-1A79-44F9-B6EB-25680D72F12F}"/>
              </a:ext>
            </a:extLst>
          </p:cNvPr>
          <p:cNvSpPr txBox="1">
            <a:spLocks/>
          </p:cNvSpPr>
          <p:nvPr/>
        </p:nvSpPr>
        <p:spPr>
          <a:xfrm>
            <a:off x="471955" y="3012930"/>
            <a:ext cx="3360306" cy="7685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TW" dirty="0">
                <a:latin typeface="Times New Roman" panose="02020603050405020304" pitchFamily="18" charset="0"/>
                <a:cs typeface="Times New Roman" panose="02020603050405020304" pitchFamily="18" charset="0"/>
              </a:rPr>
              <a:t>T:  </a:t>
            </a:r>
            <a:r>
              <a:rPr lang="en-US" altLang="zh-TW" sz="2400" dirty="0">
                <a:solidFill>
                  <a:srgbClr val="0070C0"/>
                </a:solidFill>
                <a:latin typeface="Arial Black" panose="020B0A04020102020204" pitchFamily="34" charset="0"/>
                <a:cs typeface="AngsanaUPC" panose="020B0502040204020203" pitchFamily="18" charset="-34"/>
              </a:rPr>
              <a:t>ABA</a:t>
            </a:r>
            <a:r>
              <a:rPr lang="en-US" altLang="zh-TW" sz="2400" dirty="0">
                <a:latin typeface="Arial Black" panose="020B0A04020102020204" pitchFamily="34" charset="0"/>
                <a:cs typeface="AngsanaUPC" panose="020B0502040204020203" pitchFamily="18" charset="-34"/>
              </a:rPr>
              <a:t>CBB</a:t>
            </a:r>
            <a:r>
              <a:rPr lang="en-US" altLang="zh-TW" sz="2400" dirty="0">
                <a:solidFill>
                  <a:srgbClr val="0070C0"/>
                </a:solidFill>
                <a:latin typeface="Arial Black" panose="020B0A04020102020204" pitchFamily="34" charset="0"/>
                <a:cs typeface="AngsanaUPC" panose="020B0502040204020203" pitchFamily="18" charset="-34"/>
              </a:rPr>
              <a:t>ABA</a:t>
            </a:r>
            <a:r>
              <a:rPr lang="en-US" altLang="zh-TW" sz="2400" dirty="0">
                <a:latin typeface="Arial Black" panose="020B0A04020102020204" pitchFamily="34" charset="0"/>
                <a:cs typeface="AngsanaUPC" panose="020B0502040204020203" pitchFamily="18" charset="-34"/>
              </a:rPr>
              <a:t> </a:t>
            </a:r>
            <a:endParaRPr lang="en-US" altLang="zh-TW"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2" name="內容版面配置區 6">
                <a:extLst>
                  <a:ext uri="{FF2B5EF4-FFF2-40B4-BE49-F238E27FC236}">
                    <a16:creationId xmlns:a16="http://schemas.microsoft.com/office/drawing/2014/main" xmlns="" id="{167D75D9-43AB-4E1F-A300-F43CB92D2EC7}"/>
                  </a:ext>
                </a:extLst>
              </p:cNvPr>
              <p:cNvSpPr txBox="1">
                <a:spLocks/>
              </p:cNvSpPr>
              <p:nvPr/>
            </p:nvSpPr>
            <p:spPr>
              <a:xfrm>
                <a:off x="3400745" y="3076557"/>
                <a:ext cx="1004313" cy="7048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𝑛</m:t>
                      </m:r>
                      <m:r>
                        <a:rPr lang="en-US" altLang="zh-TW" sz="2400" b="0" i="1" smtClean="0">
                          <a:latin typeface="Cambria Math" panose="02040503050406030204" pitchFamily="18" charset="0"/>
                          <a:cs typeface="Times New Roman" panose="02020603050405020304" pitchFamily="18" charset="0"/>
                        </a:rPr>
                        <m:t>=9</m:t>
                      </m:r>
                    </m:oMath>
                  </m:oMathPara>
                </a14:m>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22" name="內容版面配置區 6">
                <a:extLst>
                  <a:ext uri="{FF2B5EF4-FFF2-40B4-BE49-F238E27FC236}">
                    <a16:creationId xmlns:a16="http://schemas.microsoft.com/office/drawing/2014/main" id="{167D75D9-43AB-4E1F-A300-F43CB92D2EC7}"/>
                  </a:ext>
                </a:extLst>
              </p:cNvPr>
              <p:cNvSpPr txBox="1">
                <a:spLocks noRot="1" noChangeAspect="1" noMove="1" noResize="1" noEditPoints="1" noAdjustHandles="1" noChangeArrowheads="1" noChangeShapeType="1" noTextEdit="1"/>
              </p:cNvSpPr>
              <p:nvPr/>
            </p:nvSpPr>
            <p:spPr>
              <a:xfrm>
                <a:off x="3400745" y="3076557"/>
                <a:ext cx="1004313" cy="704886"/>
              </a:xfrm>
              <a:prstGeom prst="rect">
                <a:avLst/>
              </a:prstGeom>
              <a:blipFill>
                <a:blip r:embed="rId7"/>
                <a:stretch>
                  <a:fillRect/>
                </a:stretch>
              </a:blipFill>
            </p:spPr>
            <p:txBody>
              <a:bodyPr/>
              <a:lstStyle/>
              <a:p>
                <a:r>
                  <a:rPr lang="zh-TW" altLang="en-US">
                    <a:noFill/>
                  </a:rPr>
                  <a:t> </a:t>
                </a:r>
              </a:p>
            </p:txBody>
          </p:sp>
        </mc:Fallback>
      </mc:AlternateContent>
      <p:sp>
        <p:nvSpPr>
          <p:cNvPr id="25" name="矩形 24">
            <a:extLst>
              <a:ext uri="{FF2B5EF4-FFF2-40B4-BE49-F238E27FC236}">
                <a16:creationId xmlns:a16="http://schemas.microsoft.com/office/drawing/2014/main" xmlns="" id="{338C6793-5AB6-4EEB-9029-B66E4DFE64D3}"/>
              </a:ext>
            </a:extLst>
          </p:cNvPr>
          <p:cNvSpPr/>
          <p:nvPr/>
        </p:nvSpPr>
        <p:spPr>
          <a:xfrm>
            <a:off x="471955" y="3700360"/>
            <a:ext cx="1375248" cy="661207"/>
          </a:xfrm>
          <a:prstGeom prst="rect">
            <a:avLst/>
          </a:prstGeom>
        </p:spPr>
        <p:txBody>
          <a:bodyPr wrap="none">
            <a:spAutoFit/>
          </a:bodyPr>
          <a:lstStyle/>
          <a:p>
            <a:pPr>
              <a:lnSpc>
                <a:spcPct val="150000"/>
              </a:lnSpc>
            </a:pPr>
            <a:r>
              <a:rPr lang="en-US" altLang="zh-TW" sz="2800" dirty="0">
                <a:latin typeface="Times New Roman" panose="02020603050405020304" pitchFamily="18" charset="0"/>
                <a:cs typeface="Times New Roman" panose="02020603050405020304" pitchFamily="18" charset="0"/>
              </a:rPr>
              <a:t>P:  </a:t>
            </a:r>
            <a:r>
              <a:rPr lang="en-US" altLang="zh-TW" sz="2400" dirty="0">
                <a:latin typeface="Arial Black" panose="020B0A04020102020204" pitchFamily="34" charset="0"/>
                <a:cs typeface="AngsanaUPC" panose="020B0502040204020203" pitchFamily="18" charset="-34"/>
              </a:rPr>
              <a:t>ABA</a:t>
            </a:r>
            <a:endParaRPr lang="en-US" altLang="zh-TW" sz="2800" dirty="0">
              <a:latin typeface="Arial Black" panose="020B0A04020102020204" pitchFamily="34" charset="0"/>
              <a:cs typeface="AngsanaUPC" panose="020B0502040204020203" pitchFamily="18" charset="-34"/>
            </a:endParaRPr>
          </a:p>
        </p:txBody>
      </p:sp>
      <mc:AlternateContent xmlns:mc="http://schemas.openxmlformats.org/markup-compatibility/2006" xmlns:a14="http://schemas.microsoft.com/office/drawing/2010/main">
        <mc:Choice Requires="a14">
          <p:sp>
            <p:nvSpPr>
              <p:cNvPr id="26" name="內容版面配置區 6">
                <a:extLst>
                  <a:ext uri="{FF2B5EF4-FFF2-40B4-BE49-F238E27FC236}">
                    <a16:creationId xmlns:a16="http://schemas.microsoft.com/office/drawing/2014/main" xmlns="" id="{4CE23511-A065-42E1-82CF-CB3B04CE53D7}"/>
                  </a:ext>
                </a:extLst>
              </p:cNvPr>
              <p:cNvSpPr txBox="1">
                <a:spLocks/>
              </p:cNvSpPr>
              <p:nvPr/>
            </p:nvSpPr>
            <p:spPr>
              <a:xfrm>
                <a:off x="3400745" y="3781443"/>
                <a:ext cx="1004313" cy="70488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𝑚</m:t>
                      </m:r>
                      <m:r>
                        <a:rPr lang="en-US" altLang="zh-TW" sz="2400" b="0" i="1" smtClean="0">
                          <a:latin typeface="Cambria Math" panose="02040503050406030204" pitchFamily="18" charset="0"/>
                          <a:cs typeface="Times New Roman" panose="02020603050405020304" pitchFamily="18" charset="0"/>
                        </a:rPr>
                        <m:t>=3</m:t>
                      </m:r>
                    </m:oMath>
                  </m:oMathPara>
                </a14:m>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26" name="內容版面配置區 6">
                <a:extLst>
                  <a:ext uri="{FF2B5EF4-FFF2-40B4-BE49-F238E27FC236}">
                    <a16:creationId xmlns:a16="http://schemas.microsoft.com/office/drawing/2014/main" id="{4CE23511-A065-42E1-82CF-CB3B04CE53D7}"/>
                  </a:ext>
                </a:extLst>
              </p:cNvPr>
              <p:cNvSpPr txBox="1">
                <a:spLocks noRot="1" noChangeAspect="1" noMove="1" noResize="1" noEditPoints="1" noAdjustHandles="1" noChangeArrowheads="1" noChangeShapeType="1" noTextEdit="1"/>
              </p:cNvSpPr>
              <p:nvPr/>
            </p:nvSpPr>
            <p:spPr>
              <a:xfrm>
                <a:off x="3400745" y="3781443"/>
                <a:ext cx="1004313" cy="704886"/>
              </a:xfrm>
              <a:prstGeom prst="rect">
                <a:avLst/>
              </a:prstGeom>
              <a:blipFill>
                <a:blip r:embed="rId8"/>
                <a:stretch>
                  <a:fillRect/>
                </a:stretch>
              </a:blipFill>
            </p:spPr>
            <p:txBody>
              <a:bodyPr/>
              <a:lstStyle/>
              <a:p>
                <a:r>
                  <a:rPr lang="zh-TW" altLang="en-US">
                    <a:noFill/>
                  </a:rPr>
                  <a:t> </a:t>
                </a:r>
              </a:p>
            </p:txBody>
          </p:sp>
        </mc:Fallback>
      </mc:AlternateContent>
      <p:sp>
        <p:nvSpPr>
          <p:cNvPr id="27" name="矩形 26">
            <a:extLst>
              <a:ext uri="{FF2B5EF4-FFF2-40B4-BE49-F238E27FC236}">
                <a16:creationId xmlns:a16="http://schemas.microsoft.com/office/drawing/2014/main" xmlns="" id="{5EF85068-128B-443B-8D5F-1E59DD4D8BC3}"/>
              </a:ext>
            </a:extLst>
          </p:cNvPr>
          <p:cNvSpPr/>
          <p:nvPr/>
        </p:nvSpPr>
        <p:spPr>
          <a:xfrm>
            <a:off x="471955" y="4809969"/>
            <a:ext cx="4440767" cy="669479"/>
          </a:xfrm>
          <a:prstGeom prst="rect">
            <a:avLst/>
          </a:prstGeom>
        </p:spPr>
        <p:txBody>
          <a:bodyPr wrap="none">
            <a:spAutoFit/>
          </a:bodyPr>
          <a:lstStyle/>
          <a:p>
            <a:pPr>
              <a:lnSpc>
                <a:spcPct val="150000"/>
              </a:lnSpc>
            </a:pPr>
            <a:r>
              <a:rPr lang="en-US" altLang="zh-TW" sz="2800" dirty="0">
                <a:latin typeface="Times New Roman" panose="02020603050405020304" pitchFamily="18" charset="0"/>
                <a:cs typeface="Times New Roman" panose="02020603050405020304" pitchFamily="18" charset="0"/>
              </a:rPr>
              <a:t>Ans: True, at position </a:t>
            </a:r>
            <a:r>
              <a:rPr lang="en-US" altLang="zh-TW" sz="2800" dirty="0">
                <a:solidFill>
                  <a:srgbClr val="0070C0"/>
                </a:solidFill>
                <a:latin typeface="Times New Roman" panose="02020603050405020304" pitchFamily="18" charset="0"/>
                <a:cs typeface="Times New Roman" panose="02020603050405020304" pitchFamily="18" charset="0"/>
              </a:rPr>
              <a:t>0 </a:t>
            </a:r>
            <a:r>
              <a:rPr lang="en-US" altLang="zh-TW" sz="2800" dirty="0">
                <a:latin typeface="Times New Roman" panose="02020603050405020304" pitchFamily="18" charset="0"/>
                <a:cs typeface="Times New Roman" panose="02020603050405020304" pitchFamily="18" charset="0"/>
              </a:rPr>
              <a:t>and </a:t>
            </a:r>
            <a:r>
              <a:rPr lang="en-US" altLang="zh-TW" sz="2800" dirty="0">
                <a:solidFill>
                  <a:srgbClr val="0070C0"/>
                </a:solidFill>
                <a:latin typeface="Times New Roman" panose="02020603050405020304" pitchFamily="18" charset="0"/>
                <a:cs typeface="Times New Roman" panose="02020603050405020304" pitchFamily="18" charset="0"/>
              </a:rPr>
              <a:t>6</a:t>
            </a:r>
            <a:endParaRPr lang="en-US" altLang="zh-TW" sz="2800" dirty="0">
              <a:latin typeface="Arial Black" panose="020B0A04020102020204" pitchFamily="34" charset="0"/>
              <a:cs typeface="AngsanaUPC" panose="020B0502040204020203" pitchFamily="18" charset="-34"/>
            </a:endParaRPr>
          </a:p>
        </p:txBody>
      </p:sp>
    </p:spTree>
    <p:extLst>
      <p:ext uri="{BB962C8B-B14F-4D97-AF65-F5344CB8AC3E}">
        <p14:creationId xmlns:p14="http://schemas.microsoft.com/office/powerpoint/2010/main" val="29811834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Definition – Multi-pattern Matching Problem </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6</a:t>
            </a:fld>
            <a:endParaRPr lang="zh-TW" altLang="en-US"/>
          </a:p>
        </p:txBody>
      </p:sp>
      <mc:AlternateContent xmlns:mc="http://schemas.openxmlformats.org/markup-compatibility/2006" xmlns:a14="http://schemas.microsoft.com/office/drawing/2010/main">
        <mc:Choice Requires="a14">
          <p:sp>
            <p:nvSpPr>
              <p:cNvPr id="9" name="內容版面配置區 6">
                <a:extLst>
                  <a:ext uri="{FF2B5EF4-FFF2-40B4-BE49-F238E27FC236}">
                    <a16:creationId xmlns:a16="http://schemas.microsoft.com/office/drawing/2014/main" xmlns="" id="{5E391A4C-1316-4910-829E-5880FDF21ABD}"/>
                  </a:ext>
                </a:extLst>
              </p:cNvPr>
              <p:cNvSpPr>
                <a:spLocks noGrp="1"/>
              </p:cNvSpPr>
              <p:nvPr>
                <p:ph idx="1"/>
              </p:nvPr>
            </p:nvSpPr>
            <p:spPr>
              <a:xfrm>
                <a:off x="471954" y="1122478"/>
                <a:ext cx="8043395" cy="1322771"/>
              </a:xfrm>
            </p:spPr>
            <p:txBody>
              <a:bodyPr>
                <a:normAutofit/>
              </a:bodyPr>
              <a:lstStyle/>
              <a:p>
                <a:pPr marL="0" indent="0">
                  <a:lnSpc>
                    <a:spcPct val="150000"/>
                  </a:lnSpc>
                  <a:buNone/>
                </a:pPr>
                <a:r>
                  <a:rPr lang="en-US" altLang="zh-TW" sz="2400" dirty="0">
                    <a:solidFill>
                      <a:schemeClr val="tx1"/>
                    </a:solidFill>
                    <a:latin typeface="Times New Roman" panose="02020603050405020304" pitchFamily="18" charset="0"/>
                    <a:cs typeface="Times New Roman" panose="02020603050405020304" pitchFamily="18" charset="0"/>
                  </a:rPr>
                  <a:t>Finding set of patterns </a:t>
                </a:r>
                <a14:m>
                  <m:oMath xmlns:m="http://schemas.openxmlformats.org/officeDocument/2006/math">
                    <m:sSub>
                      <m:sSubPr>
                        <m:ctrlPr>
                          <a:rPr lang="en-US" altLang="zh-TW" sz="2400" b="0" i="1" smtClean="0">
                            <a:solidFill>
                              <a:schemeClr val="tx1"/>
                            </a:solidFill>
                            <a:latin typeface="Cambria Math" panose="02040503050406030204" pitchFamily="18" charset="0"/>
                            <a:cs typeface="Times New Roman" panose="02020603050405020304" pitchFamily="18" charset="0"/>
                          </a:rPr>
                        </m:ctrlPr>
                      </m:sSubPr>
                      <m:e>
                        <m:r>
                          <a:rPr lang="en-US" altLang="zh-TW" sz="2400" b="0" i="1" smtClean="0">
                            <a:solidFill>
                              <a:schemeClr val="tx1"/>
                            </a:solidFill>
                            <a:latin typeface="Cambria Math" panose="02040503050406030204" pitchFamily="18" charset="0"/>
                            <a:cs typeface="Times New Roman" panose="02020603050405020304" pitchFamily="18" charset="0"/>
                          </a:rPr>
                          <m:t>𝑃</m:t>
                        </m:r>
                      </m:e>
                      <m:sub>
                        <m:r>
                          <a:rPr lang="en-US" altLang="zh-TW" sz="2400" b="0" i="1" smtClean="0">
                            <a:solidFill>
                              <a:schemeClr val="tx1"/>
                            </a:solidFill>
                            <a:latin typeface="Cambria Math" panose="02040503050406030204" pitchFamily="18" charset="0"/>
                            <a:cs typeface="Times New Roman" panose="02020603050405020304" pitchFamily="18" charset="0"/>
                          </a:rPr>
                          <m:t>1</m:t>
                        </m:r>
                      </m:sub>
                    </m:sSub>
                    <m:r>
                      <a:rPr lang="en-US" altLang="zh-TW" sz="2400" b="0" i="1" smtClean="0">
                        <a:solidFill>
                          <a:schemeClr val="tx1"/>
                        </a:solidFill>
                        <a:latin typeface="Cambria Math" panose="02040503050406030204" pitchFamily="18" charset="0"/>
                        <a:cs typeface="Times New Roman" panose="02020603050405020304" pitchFamily="18" charset="0"/>
                      </a:rPr>
                      <m:t>, </m:t>
                    </m:r>
                    <m:sSub>
                      <m:sSubPr>
                        <m:ctrlPr>
                          <a:rPr lang="en-US" altLang="zh-TW" sz="2400" b="0" i="1" smtClean="0">
                            <a:solidFill>
                              <a:schemeClr val="tx1"/>
                            </a:solidFill>
                            <a:latin typeface="Cambria Math" panose="02040503050406030204" pitchFamily="18" charset="0"/>
                            <a:cs typeface="Times New Roman" panose="02020603050405020304" pitchFamily="18" charset="0"/>
                          </a:rPr>
                        </m:ctrlPr>
                      </m:sSubPr>
                      <m:e>
                        <m:r>
                          <a:rPr lang="en-US" altLang="zh-TW" sz="2400" b="0" i="1" smtClean="0">
                            <a:solidFill>
                              <a:schemeClr val="tx1"/>
                            </a:solidFill>
                            <a:latin typeface="Cambria Math" panose="02040503050406030204" pitchFamily="18" charset="0"/>
                            <a:cs typeface="Times New Roman" panose="02020603050405020304" pitchFamily="18" charset="0"/>
                          </a:rPr>
                          <m:t>𝑃</m:t>
                        </m:r>
                      </m:e>
                      <m:sub>
                        <m:r>
                          <a:rPr lang="en-US" altLang="zh-TW" sz="2400" b="0" i="1" smtClean="0">
                            <a:solidFill>
                              <a:schemeClr val="tx1"/>
                            </a:solidFill>
                            <a:latin typeface="Cambria Math" panose="02040503050406030204" pitchFamily="18" charset="0"/>
                            <a:cs typeface="Times New Roman" panose="02020603050405020304" pitchFamily="18" charset="0"/>
                          </a:rPr>
                          <m:t>2</m:t>
                        </m:r>
                      </m:sub>
                    </m:sSub>
                    <m:r>
                      <a:rPr lang="en-US" altLang="zh-TW" sz="2400" b="0" i="1" smtClean="0">
                        <a:solidFill>
                          <a:schemeClr val="tx1"/>
                        </a:solidFill>
                        <a:latin typeface="Cambria Math" panose="02040503050406030204" pitchFamily="18" charset="0"/>
                        <a:cs typeface="Times New Roman" panose="02020603050405020304" pitchFamily="18" charset="0"/>
                      </a:rPr>
                      <m:t>, …,</m:t>
                    </m:r>
                    <m:sSub>
                      <m:sSubPr>
                        <m:ctrlPr>
                          <a:rPr lang="en-US" altLang="zh-TW" sz="2400" b="0" i="1" smtClean="0">
                            <a:solidFill>
                              <a:schemeClr val="tx1"/>
                            </a:solidFill>
                            <a:latin typeface="Cambria Math" panose="02040503050406030204" pitchFamily="18" charset="0"/>
                            <a:cs typeface="Times New Roman" panose="02020603050405020304" pitchFamily="18" charset="0"/>
                          </a:rPr>
                        </m:ctrlPr>
                      </m:sSubPr>
                      <m:e>
                        <m:r>
                          <a:rPr lang="en-US" altLang="zh-TW" sz="2400" b="0" i="1" smtClean="0">
                            <a:solidFill>
                              <a:schemeClr val="tx1"/>
                            </a:solidFill>
                            <a:latin typeface="Cambria Math" panose="02040503050406030204" pitchFamily="18" charset="0"/>
                            <a:cs typeface="Times New Roman" panose="02020603050405020304" pitchFamily="18" charset="0"/>
                          </a:rPr>
                          <m:t>𝑃</m:t>
                        </m:r>
                      </m:e>
                      <m:sub>
                        <m:r>
                          <a:rPr lang="en-US" altLang="zh-TW" sz="2400" b="0" i="1" smtClean="0">
                            <a:solidFill>
                              <a:schemeClr val="tx1"/>
                            </a:solidFill>
                            <a:latin typeface="Cambria Math" panose="02040503050406030204" pitchFamily="18" charset="0"/>
                            <a:cs typeface="Times New Roman" panose="02020603050405020304" pitchFamily="18" charset="0"/>
                          </a:rPr>
                          <m:t>𝑟</m:t>
                        </m:r>
                      </m:sub>
                    </m:sSub>
                    <m:d>
                      <m:dPr>
                        <m:ctrlPr>
                          <a:rPr lang="en-US" altLang="zh-TW" sz="2400" b="0" i="1" smtClean="0">
                            <a:solidFill>
                              <a:schemeClr val="tx1"/>
                            </a:solidFill>
                            <a:latin typeface="Cambria Math" panose="02040503050406030204" pitchFamily="18" charset="0"/>
                            <a:cs typeface="Times New Roman" panose="02020603050405020304" pitchFamily="18" charset="0"/>
                          </a:rPr>
                        </m:ctrlPr>
                      </m:dPr>
                      <m:e>
                        <m:r>
                          <a:rPr lang="en-US" altLang="zh-TW" sz="2400" b="0" i="1" smtClean="0">
                            <a:solidFill>
                              <a:schemeClr val="tx1"/>
                            </a:solidFill>
                            <a:latin typeface="Cambria Math" panose="02040503050406030204" pitchFamily="18" charset="0"/>
                            <a:cs typeface="Times New Roman" panose="02020603050405020304" pitchFamily="18" charset="0"/>
                          </a:rPr>
                          <m:t>𝑟</m:t>
                        </m:r>
                        <m:r>
                          <a:rPr lang="en-US" altLang="zh-TW" sz="2400" b="0" i="1" smtClean="0">
                            <a:solidFill>
                              <a:schemeClr val="tx1"/>
                            </a:solidFill>
                            <a:latin typeface="Cambria Math" panose="02040503050406030204" pitchFamily="18" charset="0"/>
                            <a:cs typeface="Times New Roman" panose="02020603050405020304" pitchFamily="18" charset="0"/>
                          </a:rPr>
                          <m:t>≥1</m:t>
                        </m:r>
                      </m:e>
                    </m:d>
                  </m:oMath>
                </a14:m>
                <a:r>
                  <a:rPr lang="en-US" altLang="zh-TW" sz="2400" dirty="0">
                    <a:solidFill>
                      <a:schemeClr val="tx1"/>
                    </a:solidFill>
                    <a:latin typeface="Times New Roman" panose="02020603050405020304" pitchFamily="18" charset="0"/>
                    <a:cs typeface="Times New Roman" panose="02020603050405020304" pitchFamily="18" charset="0"/>
                  </a:rPr>
                  <a:t> of different length in a text T of length </a:t>
                </a: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𝑛</m:t>
                    </m:r>
                  </m:oMath>
                </a14:m>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9" name="內容版面配置區 6">
                <a:extLst>
                  <a:ext uri="{FF2B5EF4-FFF2-40B4-BE49-F238E27FC236}">
                    <a16:creationId xmlns:a16="http://schemas.microsoft.com/office/drawing/2014/main" id="{5E391A4C-1316-4910-829E-5880FDF21ABD}"/>
                  </a:ext>
                </a:extLst>
              </p:cNvPr>
              <p:cNvSpPr>
                <a:spLocks noGrp="1" noRot="1" noChangeAspect="1" noMove="1" noResize="1" noEditPoints="1" noAdjustHandles="1" noChangeArrowheads="1" noChangeShapeType="1" noTextEdit="1"/>
              </p:cNvSpPr>
              <p:nvPr>
                <p:ph idx="1"/>
              </p:nvPr>
            </p:nvSpPr>
            <p:spPr>
              <a:xfrm>
                <a:off x="471954" y="1122478"/>
                <a:ext cx="8043395" cy="1322771"/>
              </a:xfrm>
              <a:blipFill>
                <a:blip r:embed="rId4"/>
                <a:stretch>
                  <a:fillRect l="-1136" r="-1970"/>
                </a:stretch>
              </a:blipFill>
            </p:spPr>
            <p:txBody>
              <a:bodyPr/>
              <a:lstStyle/>
              <a:p>
                <a:r>
                  <a:rPr lang="zh-TW" altLang="en-US">
                    <a:noFill/>
                  </a:rPr>
                  <a:t> </a:t>
                </a:r>
              </a:p>
            </p:txBody>
          </p:sp>
        </mc:Fallback>
      </mc:AlternateContent>
      <p:sp>
        <p:nvSpPr>
          <p:cNvPr id="20" name="內容版面配置區 6">
            <a:extLst>
              <a:ext uri="{FF2B5EF4-FFF2-40B4-BE49-F238E27FC236}">
                <a16:creationId xmlns:a16="http://schemas.microsoft.com/office/drawing/2014/main" xmlns="" id="{1D4DDE6F-1A79-44F9-B6EB-25680D72F12F}"/>
              </a:ext>
            </a:extLst>
          </p:cNvPr>
          <p:cNvSpPr txBox="1">
            <a:spLocks/>
          </p:cNvSpPr>
          <p:nvPr/>
        </p:nvSpPr>
        <p:spPr>
          <a:xfrm>
            <a:off x="471955" y="3012931"/>
            <a:ext cx="3360306" cy="7782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TW" dirty="0">
                <a:latin typeface="Times New Roman" panose="02020603050405020304" pitchFamily="18" charset="0"/>
                <a:cs typeface="Times New Roman" panose="02020603050405020304" pitchFamily="18" charset="0"/>
              </a:rPr>
              <a:t>T:  </a:t>
            </a:r>
            <a:r>
              <a:rPr lang="en-US" altLang="zh-TW" sz="2400" dirty="0">
                <a:latin typeface="Arial Black" panose="020B0A04020102020204" pitchFamily="34" charset="0"/>
                <a:cs typeface="AngsanaUPC" panose="020B0502040204020203" pitchFamily="18" charset="-34"/>
              </a:rPr>
              <a:t>ABACBBABA </a:t>
            </a:r>
            <a:endParaRPr lang="en-US" altLang="zh-TW" sz="2400" dirty="0">
              <a:latin typeface="Times New Roman" panose="02020603050405020304" pitchFamily="18" charset="0"/>
              <a:cs typeface="Times New Roman" panose="02020603050405020304" pitchFamily="18" charset="0"/>
            </a:endParaRPr>
          </a:p>
        </p:txBody>
      </p:sp>
      <p:sp>
        <p:nvSpPr>
          <p:cNvPr id="25" name="矩形 24">
            <a:extLst>
              <a:ext uri="{FF2B5EF4-FFF2-40B4-BE49-F238E27FC236}">
                <a16:creationId xmlns:a16="http://schemas.microsoft.com/office/drawing/2014/main" xmlns="" id="{338C6793-5AB6-4EEB-9029-B66E4DFE64D3}"/>
              </a:ext>
            </a:extLst>
          </p:cNvPr>
          <p:cNvSpPr/>
          <p:nvPr/>
        </p:nvSpPr>
        <p:spPr>
          <a:xfrm>
            <a:off x="471955" y="3700360"/>
            <a:ext cx="2537939" cy="661207"/>
          </a:xfrm>
          <a:prstGeom prst="rect">
            <a:avLst/>
          </a:prstGeom>
        </p:spPr>
        <p:txBody>
          <a:bodyPr wrap="none">
            <a:spAutoFit/>
          </a:bodyPr>
          <a:lstStyle/>
          <a:p>
            <a:pPr>
              <a:lnSpc>
                <a:spcPct val="150000"/>
              </a:lnSpc>
            </a:pPr>
            <a:r>
              <a:rPr lang="en-US" altLang="zh-TW" sz="2800" dirty="0">
                <a:latin typeface="Times New Roman" panose="02020603050405020304" pitchFamily="18" charset="0"/>
                <a:cs typeface="Times New Roman" panose="02020603050405020304" pitchFamily="18" charset="0"/>
              </a:rPr>
              <a:t>P:  </a:t>
            </a:r>
            <a:r>
              <a:rPr lang="en-US" altLang="zh-TW" sz="2400" dirty="0">
                <a:latin typeface="Arial Black" panose="020B0A04020102020204" pitchFamily="34" charset="0"/>
                <a:cs typeface="AngsanaUPC" panose="020B0502040204020203" pitchFamily="18" charset="-34"/>
              </a:rPr>
              <a:t>ABAC, CBB</a:t>
            </a:r>
            <a:endParaRPr lang="en-US" altLang="zh-TW" sz="2800" dirty="0">
              <a:latin typeface="Arial Black" panose="020B0A04020102020204" pitchFamily="34" charset="0"/>
              <a:cs typeface="AngsanaUPC" panose="020B0502040204020203" pitchFamily="18" charset="-34"/>
            </a:endParaRPr>
          </a:p>
        </p:txBody>
      </p:sp>
      <p:sp>
        <p:nvSpPr>
          <p:cNvPr id="27" name="矩形 26">
            <a:extLst>
              <a:ext uri="{FF2B5EF4-FFF2-40B4-BE49-F238E27FC236}">
                <a16:creationId xmlns:a16="http://schemas.microsoft.com/office/drawing/2014/main" xmlns="" id="{5EF85068-128B-443B-8D5F-1E59DD4D8BC3}"/>
              </a:ext>
            </a:extLst>
          </p:cNvPr>
          <p:cNvSpPr/>
          <p:nvPr/>
        </p:nvSpPr>
        <p:spPr>
          <a:xfrm>
            <a:off x="471955" y="4809969"/>
            <a:ext cx="6677405" cy="669479"/>
          </a:xfrm>
          <a:prstGeom prst="rect">
            <a:avLst/>
          </a:prstGeom>
        </p:spPr>
        <p:txBody>
          <a:bodyPr wrap="none">
            <a:spAutoFit/>
          </a:bodyPr>
          <a:lstStyle/>
          <a:p>
            <a:pPr>
              <a:lnSpc>
                <a:spcPct val="150000"/>
              </a:lnSpc>
            </a:pPr>
            <a:r>
              <a:rPr lang="en-US" altLang="zh-TW" sz="2800" dirty="0">
                <a:latin typeface="Times New Roman" panose="02020603050405020304" pitchFamily="18" charset="0"/>
                <a:cs typeface="Times New Roman" panose="02020603050405020304" pitchFamily="18" charset="0"/>
              </a:rPr>
              <a:t>Ans: True, at position 0(</a:t>
            </a:r>
            <a:r>
              <a:rPr lang="en-US" altLang="zh-TW" sz="2800" dirty="0">
                <a:latin typeface="Arial Black" panose="020B0A04020102020204" pitchFamily="34" charset="0"/>
                <a:cs typeface="AngsanaUPC" panose="020B0502040204020203" pitchFamily="18" charset="-34"/>
              </a:rPr>
              <a:t>ABAC</a:t>
            </a:r>
            <a:r>
              <a:rPr lang="en-US" altLang="zh-TW" sz="2800" dirty="0">
                <a:latin typeface="Times New Roman" panose="02020603050405020304" pitchFamily="18" charset="0"/>
                <a:cs typeface="Times New Roman" panose="02020603050405020304" pitchFamily="18" charset="0"/>
              </a:rPr>
              <a:t>),</a:t>
            </a:r>
            <a:r>
              <a:rPr lang="en-US" altLang="zh-TW" sz="2800" dirty="0">
                <a:latin typeface="Arial Black" panose="020B0A04020102020204" pitchFamily="34" charset="0"/>
                <a:cs typeface="AngsanaUPC" panose="020B0502040204020203" pitchFamily="18" charset="-34"/>
              </a:rPr>
              <a:t> </a:t>
            </a:r>
            <a:r>
              <a:rPr lang="en-US" altLang="zh-TW" sz="2800" dirty="0">
                <a:latin typeface="Times New Roman" panose="02020603050405020304" pitchFamily="18" charset="0"/>
                <a:cs typeface="Times New Roman" panose="02020603050405020304" pitchFamily="18" charset="0"/>
              </a:rPr>
              <a:t>3(</a:t>
            </a:r>
            <a:r>
              <a:rPr lang="en-US" altLang="zh-TW" sz="2800" dirty="0">
                <a:latin typeface="Arial Black" panose="020B0A04020102020204" pitchFamily="34" charset="0"/>
                <a:cs typeface="AngsanaUPC" panose="020B0502040204020203" pitchFamily="18" charset="-34"/>
              </a:rPr>
              <a:t>CBB</a:t>
            </a:r>
            <a:r>
              <a:rPr lang="en-US" altLang="zh-TW" sz="2800" dirty="0">
                <a:latin typeface="Times New Roman" panose="02020603050405020304" pitchFamily="18" charset="0"/>
                <a:cs typeface="Times New Roman" panose="02020603050405020304" pitchFamily="18" charset="0"/>
              </a:rPr>
              <a:t>) </a:t>
            </a:r>
            <a:endParaRPr lang="en-US" altLang="zh-TW" sz="2800" dirty="0">
              <a:latin typeface="Arial Black" panose="020B0A04020102020204" pitchFamily="34" charset="0"/>
              <a:cs typeface="AngsanaUPC" panose="020B0502040204020203" pitchFamily="18" charset="-34"/>
            </a:endParaRPr>
          </a:p>
        </p:txBody>
      </p:sp>
    </p:spTree>
    <p:extLst>
      <p:ext uri="{BB962C8B-B14F-4D97-AF65-F5344CB8AC3E}">
        <p14:creationId xmlns:p14="http://schemas.microsoft.com/office/powerpoint/2010/main" val="149773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471954" y="248429"/>
            <a:ext cx="7069275" cy="1322771"/>
          </a:xfrm>
        </p:spPr>
        <p:txBody>
          <a:bodyPr>
            <a:noAutofit/>
          </a:bodyPr>
          <a:lstStyle/>
          <a:p>
            <a:r>
              <a:rPr lang="en-US" altLang="zh-TW" sz="3200" dirty="0">
                <a:latin typeface="Times New Roman" panose="02020603050405020304" pitchFamily="18" charset="0"/>
                <a:cs typeface="Times New Roman" panose="02020603050405020304" pitchFamily="18" charset="0"/>
              </a:rPr>
              <a:t>Definition – Multi-word Parameterized Matching Problem</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7</a:t>
            </a:fld>
            <a:endParaRPr lang="zh-TW" altLang="en-US"/>
          </a:p>
        </p:txBody>
      </p:sp>
      <mc:AlternateContent xmlns:mc="http://schemas.openxmlformats.org/markup-compatibility/2006" xmlns:a14="http://schemas.microsoft.com/office/drawing/2010/main">
        <mc:Choice Requires="a14">
          <p:sp>
            <p:nvSpPr>
              <p:cNvPr id="9" name="內容版面配置區 6">
                <a:extLst>
                  <a:ext uri="{FF2B5EF4-FFF2-40B4-BE49-F238E27FC236}">
                    <a16:creationId xmlns:a16="http://schemas.microsoft.com/office/drawing/2014/main" xmlns="" id="{5E391A4C-1316-4910-829E-5880FDF21ABD}"/>
                  </a:ext>
                </a:extLst>
              </p:cNvPr>
              <p:cNvSpPr>
                <a:spLocks noGrp="1"/>
              </p:cNvSpPr>
              <p:nvPr>
                <p:ph idx="1"/>
              </p:nvPr>
            </p:nvSpPr>
            <p:spPr>
              <a:xfrm>
                <a:off x="471954" y="1352454"/>
                <a:ext cx="8043395" cy="1322771"/>
              </a:xfrm>
            </p:spPr>
            <p:txBody>
              <a:bodyPr>
                <a:normAutofit/>
              </a:bodyPr>
              <a:lstStyle/>
              <a:p>
                <a:pPr marL="0" indent="0">
                  <a:lnSpc>
                    <a:spcPct val="150000"/>
                  </a:lnSpc>
                  <a:buNone/>
                </a:pPr>
                <a:r>
                  <a:rPr lang="en-US" altLang="zh-TW" sz="2400" dirty="0">
                    <a:solidFill>
                      <a:schemeClr val="tx1"/>
                    </a:solidFill>
                    <a:latin typeface="Times New Roman" panose="02020603050405020304" pitchFamily="18" charset="0"/>
                    <a:cs typeface="Times New Roman" panose="02020603050405020304" pitchFamily="18" charset="0"/>
                  </a:rPr>
                  <a:t>Finding set of patterns </a:t>
                </a:r>
                <a14:m>
                  <m:oMath xmlns:m="http://schemas.openxmlformats.org/officeDocument/2006/math">
                    <m:sSub>
                      <m:sSubPr>
                        <m:ctrlPr>
                          <a:rPr lang="en-US" altLang="zh-TW" sz="2400" b="0" i="1" smtClean="0">
                            <a:solidFill>
                              <a:schemeClr val="tx1"/>
                            </a:solidFill>
                            <a:latin typeface="Cambria Math" panose="02040503050406030204" pitchFamily="18" charset="0"/>
                            <a:cs typeface="Times New Roman" panose="02020603050405020304" pitchFamily="18" charset="0"/>
                          </a:rPr>
                        </m:ctrlPr>
                      </m:sSubPr>
                      <m:e>
                        <m:r>
                          <a:rPr lang="en-US" altLang="zh-TW" sz="2400" b="0" i="1" smtClean="0">
                            <a:solidFill>
                              <a:schemeClr val="tx1"/>
                            </a:solidFill>
                            <a:latin typeface="Cambria Math" panose="02040503050406030204" pitchFamily="18" charset="0"/>
                            <a:cs typeface="Times New Roman" panose="02020603050405020304" pitchFamily="18" charset="0"/>
                          </a:rPr>
                          <m:t>𝑃</m:t>
                        </m:r>
                      </m:e>
                      <m:sub>
                        <m:r>
                          <a:rPr lang="en-US" altLang="zh-TW" sz="2400" b="0" i="1" smtClean="0">
                            <a:solidFill>
                              <a:schemeClr val="tx1"/>
                            </a:solidFill>
                            <a:latin typeface="Cambria Math" panose="02040503050406030204" pitchFamily="18" charset="0"/>
                            <a:cs typeface="Times New Roman" panose="02020603050405020304" pitchFamily="18" charset="0"/>
                          </a:rPr>
                          <m:t>1</m:t>
                        </m:r>
                      </m:sub>
                    </m:sSub>
                    <m:r>
                      <a:rPr lang="en-US" altLang="zh-TW" sz="2400" b="0" i="1" smtClean="0">
                        <a:solidFill>
                          <a:schemeClr val="tx1"/>
                        </a:solidFill>
                        <a:latin typeface="Cambria Math" panose="02040503050406030204" pitchFamily="18" charset="0"/>
                        <a:cs typeface="Times New Roman" panose="02020603050405020304" pitchFamily="18" charset="0"/>
                      </a:rPr>
                      <m:t>, </m:t>
                    </m:r>
                    <m:sSub>
                      <m:sSubPr>
                        <m:ctrlPr>
                          <a:rPr lang="en-US" altLang="zh-TW" sz="2400" b="0" i="1" smtClean="0">
                            <a:solidFill>
                              <a:schemeClr val="tx1"/>
                            </a:solidFill>
                            <a:latin typeface="Cambria Math" panose="02040503050406030204" pitchFamily="18" charset="0"/>
                            <a:cs typeface="Times New Roman" panose="02020603050405020304" pitchFamily="18" charset="0"/>
                          </a:rPr>
                        </m:ctrlPr>
                      </m:sSubPr>
                      <m:e>
                        <m:r>
                          <a:rPr lang="en-US" altLang="zh-TW" sz="2400" b="0" i="1" smtClean="0">
                            <a:solidFill>
                              <a:schemeClr val="tx1"/>
                            </a:solidFill>
                            <a:latin typeface="Cambria Math" panose="02040503050406030204" pitchFamily="18" charset="0"/>
                            <a:cs typeface="Times New Roman" panose="02020603050405020304" pitchFamily="18" charset="0"/>
                          </a:rPr>
                          <m:t>𝑃</m:t>
                        </m:r>
                      </m:e>
                      <m:sub>
                        <m:r>
                          <a:rPr lang="en-US" altLang="zh-TW" sz="2400" b="0" i="1" smtClean="0">
                            <a:solidFill>
                              <a:schemeClr val="tx1"/>
                            </a:solidFill>
                            <a:latin typeface="Cambria Math" panose="02040503050406030204" pitchFamily="18" charset="0"/>
                            <a:cs typeface="Times New Roman" panose="02020603050405020304" pitchFamily="18" charset="0"/>
                          </a:rPr>
                          <m:t>2</m:t>
                        </m:r>
                      </m:sub>
                    </m:sSub>
                    <m:r>
                      <a:rPr lang="en-US" altLang="zh-TW" sz="2400" b="0" i="1" smtClean="0">
                        <a:solidFill>
                          <a:schemeClr val="tx1"/>
                        </a:solidFill>
                        <a:latin typeface="Cambria Math" panose="02040503050406030204" pitchFamily="18" charset="0"/>
                        <a:cs typeface="Times New Roman" panose="02020603050405020304" pitchFamily="18" charset="0"/>
                      </a:rPr>
                      <m:t>, …,</m:t>
                    </m:r>
                    <m:sSub>
                      <m:sSubPr>
                        <m:ctrlPr>
                          <a:rPr lang="en-US" altLang="zh-TW" sz="2400" b="0" i="1" smtClean="0">
                            <a:solidFill>
                              <a:schemeClr val="tx1"/>
                            </a:solidFill>
                            <a:latin typeface="Cambria Math" panose="02040503050406030204" pitchFamily="18" charset="0"/>
                            <a:cs typeface="Times New Roman" panose="02020603050405020304" pitchFamily="18" charset="0"/>
                          </a:rPr>
                        </m:ctrlPr>
                      </m:sSubPr>
                      <m:e>
                        <m:r>
                          <a:rPr lang="en-US" altLang="zh-TW" sz="2400" b="0" i="1" smtClean="0">
                            <a:solidFill>
                              <a:schemeClr val="tx1"/>
                            </a:solidFill>
                            <a:latin typeface="Cambria Math" panose="02040503050406030204" pitchFamily="18" charset="0"/>
                            <a:cs typeface="Times New Roman" panose="02020603050405020304" pitchFamily="18" charset="0"/>
                          </a:rPr>
                          <m:t>𝑃</m:t>
                        </m:r>
                      </m:e>
                      <m:sub>
                        <m:r>
                          <a:rPr lang="en-US" altLang="zh-TW" sz="2400" b="0" i="1" smtClean="0">
                            <a:solidFill>
                              <a:schemeClr val="tx1"/>
                            </a:solidFill>
                            <a:latin typeface="Cambria Math" panose="02040503050406030204" pitchFamily="18" charset="0"/>
                            <a:cs typeface="Times New Roman" panose="02020603050405020304" pitchFamily="18" charset="0"/>
                          </a:rPr>
                          <m:t>𝑟</m:t>
                        </m:r>
                      </m:sub>
                    </m:sSub>
                    <m:d>
                      <m:dPr>
                        <m:ctrlPr>
                          <a:rPr lang="en-US" altLang="zh-TW" sz="2400" b="0" i="1" smtClean="0">
                            <a:solidFill>
                              <a:schemeClr val="tx1"/>
                            </a:solidFill>
                            <a:latin typeface="Cambria Math" panose="02040503050406030204" pitchFamily="18" charset="0"/>
                            <a:cs typeface="Times New Roman" panose="02020603050405020304" pitchFamily="18" charset="0"/>
                          </a:rPr>
                        </m:ctrlPr>
                      </m:dPr>
                      <m:e>
                        <m:r>
                          <a:rPr lang="en-US" altLang="zh-TW" sz="2400" b="0" i="1" smtClean="0">
                            <a:solidFill>
                              <a:schemeClr val="tx1"/>
                            </a:solidFill>
                            <a:latin typeface="Cambria Math" panose="02040503050406030204" pitchFamily="18" charset="0"/>
                            <a:cs typeface="Times New Roman" panose="02020603050405020304" pitchFamily="18" charset="0"/>
                          </a:rPr>
                          <m:t>𝑟</m:t>
                        </m:r>
                        <m:r>
                          <a:rPr lang="en-US" altLang="zh-TW" sz="2400" b="0" i="1" smtClean="0">
                            <a:solidFill>
                              <a:schemeClr val="tx1"/>
                            </a:solidFill>
                            <a:latin typeface="Cambria Math" panose="02040503050406030204" pitchFamily="18" charset="0"/>
                            <a:cs typeface="Times New Roman" panose="02020603050405020304" pitchFamily="18" charset="0"/>
                          </a:rPr>
                          <m:t>≥1</m:t>
                        </m:r>
                      </m:e>
                    </m:d>
                  </m:oMath>
                </a14:m>
                <a:r>
                  <a:rPr lang="en-US" altLang="zh-TW" sz="2400" dirty="0">
                    <a:solidFill>
                      <a:schemeClr val="tx1"/>
                    </a:solidFill>
                    <a:latin typeface="Times New Roman" panose="02020603050405020304" pitchFamily="18" charset="0"/>
                    <a:cs typeface="Times New Roman" panose="02020603050405020304" pitchFamily="18" charset="0"/>
                  </a:rPr>
                  <a:t> of different length(</a:t>
                </a:r>
                <a14:m>
                  <m:oMath xmlns:m="http://schemas.openxmlformats.org/officeDocument/2006/math">
                    <m:sSub>
                      <m:sSubPr>
                        <m:ctrlPr>
                          <a:rPr lang="en-US" altLang="zh-TW" sz="2400" b="0" i="1" smtClean="0">
                            <a:solidFill>
                              <a:schemeClr val="tx1"/>
                            </a:solidFill>
                            <a:latin typeface="Cambria Math" panose="02040503050406030204" pitchFamily="18" charset="0"/>
                            <a:cs typeface="Times New Roman" panose="02020603050405020304" pitchFamily="18" charset="0"/>
                          </a:rPr>
                        </m:ctrlPr>
                      </m:sSubPr>
                      <m:e>
                        <m:r>
                          <a:rPr lang="en-US" altLang="zh-TW" sz="2400" b="0" i="1" smtClean="0">
                            <a:solidFill>
                              <a:schemeClr val="tx1"/>
                            </a:solidFill>
                            <a:latin typeface="Cambria Math" panose="02040503050406030204" pitchFamily="18" charset="0"/>
                            <a:cs typeface="Times New Roman" panose="02020603050405020304" pitchFamily="18" charset="0"/>
                          </a:rPr>
                          <m:t>𝑙</m:t>
                        </m:r>
                      </m:e>
                      <m:sub>
                        <m:r>
                          <a:rPr lang="en-US" altLang="zh-TW" sz="2400" b="0" i="1" smtClean="0">
                            <a:solidFill>
                              <a:schemeClr val="tx1"/>
                            </a:solidFill>
                            <a:latin typeface="Cambria Math" panose="02040503050406030204" pitchFamily="18" charset="0"/>
                            <a:cs typeface="Times New Roman" panose="02020603050405020304" pitchFamily="18" charset="0"/>
                          </a:rPr>
                          <m:t>1</m:t>
                        </m:r>
                      </m:sub>
                    </m:sSub>
                    <m:r>
                      <a:rPr lang="en-US" altLang="zh-TW" sz="2400" b="0" i="1" smtClean="0">
                        <a:solidFill>
                          <a:schemeClr val="tx1"/>
                        </a:solidFill>
                        <a:latin typeface="Cambria Math" panose="02040503050406030204" pitchFamily="18" charset="0"/>
                        <a:cs typeface="Times New Roman" panose="02020603050405020304" pitchFamily="18" charset="0"/>
                      </a:rPr>
                      <m:t>, </m:t>
                    </m:r>
                    <m:sSub>
                      <m:sSubPr>
                        <m:ctrlPr>
                          <a:rPr lang="en-US" altLang="zh-TW" sz="2400" b="0" i="1" smtClean="0">
                            <a:solidFill>
                              <a:schemeClr val="tx1"/>
                            </a:solidFill>
                            <a:latin typeface="Cambria Math" panose="02040503050406030204" pitchFamily="18" charset="0"/>
                            <a:cs typeface="Times New Roman" panose="02020603050405020304" pitchFamily="18" charset="0"/>
                          </a:rPr>
                        </m:ctrlPr>
                      </m:sSubPr>
                      <m:e>
                        <m:r>
                          <a:rPr lang="en-US" altLang="zh-TW" sz="2400" b="0" i="1" smtClean="0">
                            <a:solidFill>
                              <a:schemeClr val="tx1"/>
                            </a:solidFill>
                            <a:latin typeface="Cambria Math" panose="02040503050406030204" pitchFamily="18" charset="0"/>
                            <a:cs typeface="Times New Roman" panose="02020603050405020304" pitchFamily="18" charset="0"/>
                          </a:rPr>
                          <m:t>𝑙</m:t>
                        </m:r>
                      </m:e>
                      <m:sub>
                        <m:r>
                          <a:rPr lang="en-US" altLang="zh-TW" sz="2400" b="0" i="1" smtClean="0">
                            <a:solidFill>
                              <a:schemeClr val="tx1"/>
                            </a:solidFill>
                            <a:latin typeface="Cambria Math" panose="02040503050406030204" pitchFamily="18" charset="0"/>
                            <a:cs typeface="Times New Roman" panose="02020603050405020304" pitchFamily="18" charset="0"/>
                          </a:rPr>
                          <m:t>2</m:t>
                        </m:r>
                      </m:sub>
                    </m:sSub>
                    <m:r>
                      <a:rPr lang="en-US" altLang="zh-TW" sz="2400" b="0" i="1" smtClean="0">
                        <a:solidFill>
                          <a:schemeClr val="tx1"/>
                        </a:solidFill>
                        <a:latin typeface="Cambria Math" panose="02040503050406030204" pitchFamily="18" charset="0"/>
                        <a:cs typeface="Times New Roman" panose="02020603050405020304" pitchFamily="18" charset="0"/>
                      </a:rPr>
                      <m:t>, …,</m:t>
                    </m:r>
                    <m:sSub>
                      <m:sSubPr>
                        <m:ctrlPr>
                          <a:rPr lang="en-US" altLang="zh-TW" sz="2400" b="0" i="1" smtClean="0">
                            <a:solidFill>
                              <a:schemeClr val="tx1"/>
                            </a:solidFill>
                            <a:latin typeface="Cambria Math" panose="02040503050406030204" pitchFamily="18" charset="0"/>
                            <a:cs typeface="Times New Roman" panose="02020603050405020304" pitchFamily="18" charset="0"/>
                          </a:rPr>
                        </m:ctrlPr>
                      </m:sSubPr>
                      <m:e>
                        <m:r>
                          <a:rPr lang="en-US" altLang="zh-TW" sz="2400" b="0" i="1" smtClean="0">
                            <a:solidFill>
                              <a:schemeClr val="tx1"/>
                            </a:solidFill>
                            <a:latin typeface="Cambria Math" panose="02040503050406030204" pitchFamily="18" charset="0"/>
                            <a:cs typeface="Times New Roman" panose="02020603050405020304" pitchFamily="18" charset="0"/>
                          </a:rPr>
                          <m:t>𝑙</m:t>
                        </m:r>
                      </m:e>
                      <m:sub>
                        <m:r>
                          <a:rPr lang="en-US" altLang="zh-TW" sz="2400" b="0" i="1" smtClean="0">
                            <a:solidFill>
                              <a:schemeClr val="tx1"/>
                            </a:solidFill>
                            <a:latin typeface="Cambria Math" panose="02040503050406030204" pitchFamily="18" charset="0"/>
                            <a:cs typeface="Times New Roman" panose="02020603050405020304" pitchFamily="18" charset="0"/>
                          </a:rPr>
                          <m:t>𝑟</m:t>
                        </m:r>
                      </m:sub>
                    </m:sSub>
                    <m:r>
                      <a:rPr lang="en-US" altLang="zh-TW" sz="2400" b="0" i="1" smtClean="0">
                        <a:solidFill>
                          <a:schemeClr val="tx1"/>
                        </a:solidFill>
                        <a:latin typeface="Cambria Math" panose="02040503050406030204" pitchFamily="18" charset="0"/>
                        <a:cs typeface="Times New Roman" panose="02020603050405020304" pitchFamily="18" charset="0"/>
                      </a:rPr>
                      <m:t>, </m:t>
                    </m:r>
                    <m:sSub>
                      <m:sSubPr>
                        <m:ctrlPr>
                          <a:rPr lang="en-US" altLang="zh-TW" sz="2400" b="0" i="1" smtClean="0">
                            <a:solidFill>
                              <a:schemeClr val="tx1"/>
                            </a:solidFill>
                            <a:latin typeface="Cambria Math" panose="02040503050406030204" pitchFamily="18" charset="0"/>
                            <a:cs typeface="Times New Roman" panose="02020603050405020304" pitchFamily="18" charset="0"/>
                          </a:rPr>
                        </m:ctrlPr>
                      </m:sSubPr>
                      <m:e>
                        <m:r>
                          <a:rPr lang="en-US" altLang="zh-TW" sz="2400" b="0" i="1" smtClean="0">
                            <a:solidFill>
                              <a:schemeClr val="tx1"/>
                            </a:solidFill>
                            <a:latin typeface="Cambria Math" panose="02040503050406030204" pitchFamily="18" charset="0"/>
                            <a:cs typeface="Times New Roman" panose="02020603050405020304" pitchFamily="18" charset="0"/>
                          </a:rPr>
                          <m:t>𝑙</m:t>
                        </m:r>
                      </m:e>
                      <m:sub>
                        <m:r>
                          <a:rPr lang="en-US" altLang="zh-TW" sz="2400" b="0" i="1" smtClean="0">
                            <a:solidFill>
                              <a:schemeClr val="tx1"/>
                            </a:solidFill>
                            <a:latin typeface="Cambria Math" panose="02040503050406030204" pitchFamily="18" charset="0"/>
                            <a:cs typeface="Times New Roman" panose="02020603050405020304" pitchFamily="18" charset="0"/>
                          </a:rPr>
                          <m:t>𝑖</m:t>
                        </m:r>
                      </m:sub>
                    </m:sSub>
                    <m:r>
                      <a:rPr lang="en-US" altLang="zh-TW" sz="2400" b="0" i="1" smtClean="0">
                        <a:solidFill>
                          <a:schemeClr val="tx1"/>
                        </a:solidFill>
                        <a:latin typeface="Cambria Math" panose="02040503050406030204" pitchFamily="18" charset="0"/>
                        <a:cs typeface="Times New Roman" panose="02020603050405020304" pitchFamily="18" charset="0"/>
                      </a:rPr>
                      <m:t>≥</m:t>
                    </m:r>
                    <m:r>
                      <a:rPr lang="en-US" altLang="zh-TW" sz="2400" b="0" i="1" smtClean="0">
                        <a:solidFill>
                          <a:schemeClr val="tx1"/>
                        </a:solidFill>
                        <a:latin typeface="Cambria Math" panose="02040503050406030204" pitchFamily="18" charset="0"/>
                        <a:cs typeface="Times New Roman" panose="02020603050405020304" pitchFamily="18" charset="0"/>
                      </a:rPr>
                      <m:t>𝑚</m:t>
                    </m:r>
                    <m:r>
                      <a:rPr lang="en-US" altLang="zh-TW" sz="2400" b="0" i="1" smtClean="0">
                        <a:solidFill>
                          <a:schemeClr val="tx1"/>
                        </a:solidFill>
                        <a:latin typeface="Cambria Math" panose="02040503050406030204" pitchFamily="18" charset="0"/>
                        <a:cs typeface="Times New Roman" panose="02020603050405020304" pitchFamily="18" charset="0"/>
                      </a:rPr>
                      <m:t> </m:t>
                    </m:r>
                  </m:oMath>
                </a14:m>
                <a:r>
                  <a:rPr lang="en-US" altLang="zh-TW" sz="2400" dirty="0">
                    <a:solidFill>
                      <a:schemeClr val="tx1"/>
                    </a:solidFill>
                    <a:latin typeface="Times New Roman" panose="02020603050405020304" pitchFamily="18" charset="0"/>
                    <a:cs typeface="Times New Roman" panose="02020603050405020304" pitchFamily="18" charset="0"/>
                  </a:rPr>
                  <a:t>) in a text T</a:t>
                </a:r>
              </a:p>
            </p:txBody>
          </p:sp>
        </mc:Choice>
        <mc:Fallback xmlns="">
          <p:sp>
            <p:nvSpPr>
              <p:cNvPr id="9" name="內容版面配置區 6">
                <a:extLst>
                  <a:ext uri="{FF2B5EF4-FFF2-40B4-BE49-F238E27FC236}">
                    <a16:creationId xmlns:a16="http://schemas.microsoft.com/office/drawing/2014/main" id="{5E391A4C-1316-4910-829E-5880FDF21ABD}"/>
                  </a:ext>
                </a:extLst>
              </p:cNvPr>
              <p:cNvSpPr>
                <a:spLocks noGrp="1" noRot="1" noChangeAspect="1" noMove="1" noResize="1" noEditPoints="1" noAdjustHandles="1" noChangeArrowheads="1" noChangeShapeType="1" noTextEdit="1"/>
              </p:cNvSpPr>
              <p:nvPr>
                <p:ph idx="1"/>
              </p:nvPr>
            </p:nvSpPr>
            <p:spPr>
              <a:xfrm>
                <a:off x="471954" y="1352454"/>
                <a:ext cx="8043395" cy="1322771"/>
              </a:xfrm>
              <a:blipFill>
                <a:blip r:embed="rId7"/>
                <a:stretch>
                  <a:fillRect l="-1136"/>
                </a:stretch>
              </a:blipFill>
            </p:spPr>
            <p:txBody>
              <a:bodyPr/>
              <a:lstStyle/>
              <a:p>
                <a:r>
                  <a:rPr lang="zh-TW" altLang="en-US">
                    <a:noFill/>
                  </a:rPr>
                  <a:t> </a:t>
                </a:r>
              </a:p>
            </p:txBody>
          </p:sp>
        </mc:Fallback>
      </mc:AlternateContent>
      <p:sp>
        <p:nvSpPr>
          <p:cNvPr id="12" name="內容版面配置區 6">
            <a:extLst>
              <a:ext uri="{FF2B5EF4-FFF2-40B4-BE49-F238E27FC236}">
                <a16:creationId xmlns:a16="http://schemas.microsoft.com/office/drawing/2014/main" xmlns="" id="{7BDE0329-2141-41B7-9337-D885DC933FA8}"/>
              </a:ext>
            </a:extLst>
          </p:cNvPr>
          <p:cNvSpPr txBox="1">
            <a:spLocks/>
          </p:cNvSpPr>
          <p:nvPr/>
        </p:nvSpPr>
        <p:spPr>
          <a:xfrm>
            <a:off x="471954" y="2581317"/>
            <a:ext cx="8043395" cy="16386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TW" sz="2400" dirty="0">
                <a:solidFill>
                  <a:srgbClr val="0070C0"/>
                </a:solidFill>
                <a:latin typeface="Times New Roman" panose="02020603050405020304" pitchFamily="18" charset="0"/>
                <a:cs typeface="Times New Roman" panose="02020603050405020304" pitchFamily="18" charset="0"/>
              </a:rPr>
              <a:t>T is the set of words, patterns are also treated as words</a:t>
            </a:r>
          </a:p>
          <a:p>
            <a:pPr>
              <a:lnSpc>
                <a:spcPct val="100000"/>
              </a:lnSpc>
            </a:pPr>
            <a:r>
              <a:rPr lang="en-US" altLang="zh-TW" sz="2400" dirty="0">
                <a:solidFill>
                  <a:srgbClr val="0070C0"/>
                </a:solidFill>
                <a:latin typeface="Times New Roman" panose="02020603050405020304" pitchFamily="18" charset="0"/>
                <a:cs typeface="Times New Roman" panose="02020603050405020304" pitchFamily="18" charset="0"/>
              </a:rPr>
              <a:t>Parameterized Matching(p-match): </a:t>
            </a:r>
          </a:p>
        </p:txBody>
      </p:sp>
      <p:sp>
        <p:nvSpPr>
          <p:cNvPr id="14" name="矩形 13">
            <a:extLst>
              <a:ext uri="{FF2B5EF4-FFF2-40B4-BE49-F238E27FC236}">
                <a16:creationId xmlns:a16="http://schemas.microsoft.com/office/drawing/2014/main" xmlns="" id="{37D6C5EE-A580-49D7-8FD5-626538BF379A}"/>
              </a:ext>
            </a:extLst>
          </p:cNvPr>
          <p:cNvSpPr/>
          <p:nvPr/>
        </p:nvSpPr>
        <p:spPr>
          <a:xfrm>
            <a:off x="1296217" y="4013570"/>
            <a:ext cx="1129219" cy="588879"/>
          </a:xfrm>
          <a:prstGeom prst="rect">
            <a:avLst/>
          </a:prstGeom>
        </p:spPr>
        <p:txBody>
          <a:bodyPr wrap="none">
            <a:spAutoFit/>
          </a:bodyPr>
          <a:lstStyle/>
          <a:p>
            <a:pPr algn="ctr">
              <a:lnSpc>
                <a:spcPct val="150000"/>
              </a:lnSpc>
            </a:pPr>
            <a:r>
              <a:rPr lang="en-US" altLang="zh-TW" sz="2400" dirty="0">
                <a:latin typeface="Arial Black" panose="020B0A04020102020204" pitchFamily="34" charset="0"/>
                <a:cs typeface="AngsanaUPC" panose="020B0502040204020203" pitchFamily="18" charset="-34"/>
              </a:rPr>
              <a:t>ABAC</a:t>
            </a:r>
            <a:endParaRPr lang="en-US" altLang="zh-TW" sz="2800" dirty="0">
              <a:latin typeface="Arial Black" panose="020B0A04020102020204" pitchFamily="34" charset="0"/>
              <a:cs typeface="AngsanaUPC" panose="020B0502040204020203" pitchFamily="18" charset="-34"/>
            </a:endParaRPr>
          </a:p>
        </p:txBody>
      </p:sp>
      <p:sp>
        <p:nvSpPr>
          <p:cNvPr id="6" name="箭號: 向右 5">
            <a:extLst>
              <a:ext uri="{FF2B5EF4-FFF2-40B4-BE49-F238E27FC236}">
                <a16:creationId xmlns:a16="http://schemas.microsoft.com/office/drawing/2014/main" xmlns="" id="{389F2D73-D12E-49A9-B663-E5DB98B3A0A5}"/>
              </a:ext>
            </a:extLst>
          </p:cNvPr>
          <p:cNvSpPr/>
          <p:nvPr/>
        </p:nvSpPr>
        <p:spPr>
          <a:xfrm>
            <a:off x="3041587" y="3937373"/>
            <a:ext cx="2413991" cy="732546"/>
          </a:xfrm>
          <a:prstGeom prst="rightArrow">
            <a:avLst>
              <a:gd name="adj1" fmla="val 30365"/>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dirty="0"/>
          </a:p>
        </p:txBody>
      </p:sp>
      <p:sp>
        <p:nvSpPr>
          <p:cNvPr id="17" name="矩形 16">
            <a:extLst>
              <a:ext uri="{FF2B5EF4-FFF2-40B4-BE49-F238E27FC236}">
                <a16:creationId xmlns:a16="http://schemas.microsoft.com/office/drawing/2014/main" xmlns="" id="{388C0203-4D47-4EAE-BF93-4F10CAB37F62}"/>
              </a:ext>
            </a:extLst>
          </p:cNvPr>
          <p:cNvSpPr/>
          <p:nvPr/>
        </p:nvSpPr>
        <p:spPr>
          <a:xfrm>
            <a:off x="6396287" y="4009206"/>
            <a:ext cx="1090363" cy="588879"/>
          </a:xfrm>
          <a:prstGeom prst="rect">
            <a:avLst/>
          </a:prstGeom>
        </p:spPr>
        <p:txBody>
          <a:bodyPr wrap="none">
            <a:spAutoFit/>
          </a:bodyPr>
          <a:lstStyle/>
          <a:p>
            <a:pPr algn="ctr">
              <a:lnSpc>
                <a:spcPct val="150000"/>
              </a:lnSpc>
            </a:pPr>
            <a:r>
              <a:rPr lang="en-US" altLang="zh-TW" sz="2400" dirty="0">
                <a:latin typeface="Arial Black" panose="020B0A04020102020204" pitchFamily="34" charset="0"/>
                <a:cs typeface="AngsanaUPC" panose="020B0502040204020203" pitchFamily="18" charset="-34"/>
              </a:rPr>
              <a:t>DEDF</a:t>
            </a:r>
            <a:endParaRPr lang="en-US" altLang="zh-TW" sz="2800" dirty="0">
              <a:latin typeface="Arial Black" panose="020B0A04020102020204" pitchFamily="34" charset="0"/>
              <a:cs typeface="AngsanaUPC" panose="020B0502040204020203" pitchFamily="18" charset="-34"/>
            </a:endParaRPr>
          </a:p>
        </p:txBody>
      </p:sp>
      <p:sp>
        <p:nvSpPr>
          <p:cNvPr id="7" name="矩形 6">
            <a:extLst>
              <a:ext uri="{FF2B5EF4-FFF2-40B4-BE49-F238E27FC236}">
                <a16:creationId xmlns:a16="http://schemas.microsoft.com/office/drawing/2014/main" xmlns="" id="{F3E0BA4E-5F08-44A7-9647-C5B7076D888E}"/>
              </a:ext>
            </a:extLst>
          </p:cNvPr>
          <p:cNvSpPr/>
          <p:nvPr/>
        </p:nvSpPr>
        <p:spPr>
          <a:xfrm>
            <a:off x="3300243" y="4669919"/>
            <a:ext cx="1896673"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Bijection mapping</a:t>
            </a:r>
            <a:endParaRPr lang="zh-TW" altLang="en-US" dirty="0"/>
          </a:p>
        </p:txBody>
      </p:sp>
      <p:sp>
        <p:nvSpPr>
          <p:cNvPr id="19" name="矩形 18">
            <a:extLst>
              <a:ext uri="{FF2B5EF4-FFF2-40B4-BE49-F238E27FC236}">
                <a16:creationId xmlns:a16="http://schemas.microsoft.com/office/drawing/2014/main" xmlns="" id="{6F597A79-774F-4568-87F0-99D39BCDB716}"/>
              </a:ext>
            </a:extLst>
          </p:cNvPr>
          <p:cNvSpPr/>
          <p:nvPr/>
        </p:nvSpPr>
        <p:spPr>
          <a:xfrm>
            <a:off x="3861293" y="4965522"/>
            <a:ext cx="774571" cy="1295868"/>
          </a:xfrm>
          <a:prstGeom prst="rect">
            <a:avLst/>
          </a:prstGeom>
        </p:spPr>
        <p:txBody>
          <a:bodyPr wrap="none">
            <a:spAutoFit/>
          </a:bodyPr>
          <a:lstStyle/>
          <a:p>
            <a:pPr>
              <a:lnSpc>
                <a:spcPct val="150000"/>
              </a:lnSpc>
            </a:pPr>
            <a:r>
              <a:rPr lang="en-US" altLang="zh-TW" dirty="0">
                <a:latin typeface="Arial Black" panose="020B0A04020102020204" pitchFamily="34" charset="0"/>
                <a:cs typeface="AngsanaUPC" panose="020B0502040204020203" pitchFamily="18" charset="-34"/>
              </a:rPr>
              <a:t>A</a:t>
            </a:r>
            <a:r>
              <a:rPr lang="zh-TW" altLang="en-US" dirty="0">
                <a:latin typeface="Arial Black" panose="020B0A04020102020204" pitchFamily="34" charset="0"/>
                <a:cs typeface="AngsanaUPC" panose="020B0502040204020203" pitchFamily="18" charset="-34"/>
              </a:rPr>
              <a:t>→</a:t>
            </a:r>
            <a:r>
              <a:rPr lang="en-US" altLang="zh-TW" dirty="0">
                <a:latin typeface="Arial Black" panose="020B0A04020102020204" pitchFamily="34" charset="0"/>
                <a:cs typeface="AngsanaUPC" panose="020B0502040204020203" pitchFamily="18" charset="-34"/>
              </a:rPr>
              <a:t>D</a:t>
            </a:r>
          </a:p>
          <a:p>
            <a:pPr>
              <a:lnSpc>
                <a:spcPct val="150000"/>
              </a:lnSpc>
            </a:pPr>
            <a:r>
              <a:rPr lang="en-US" altLang="zh-TW" dirty="0">
                <a:latin typeface="Arial Black" panose="020B0A04020102020204" pitchFamily="34" charset="0"/>
                <a:cs typeface="AngsanaUPC" panose="020B0502040204020203" pitchFamily="18" charset="-34"/>
              </a:rPr>
              <a:t>B</a:t>
            </a:r>
            <a:r>
              <a:rPr lang="zh-TW" altLang="en-US" dirty="0">
                <a:latin typeface="Arial Black" panose="020B0A04020102020204" pitchFamily="34" charset="0"/>
                <a:cs typeface="AngsanaUPC" panose="020B0502040204020203" pitchFamily="18" charset="-34"/>
              </a:rPr>
              <a:t>→</a:t>
            </a:r>
            <a:r>
              <a:rPr lang="en-US" altLang="zh-TW" dirty="0">
                <a:latin typeface="Arial Black" panose="020B0A04020102020204" pitchFamily="34" charset="0"/>
                <a:cs typeface="AngsanaUPC" panose="020B0502040204020203" pitchFamily="18" charset="-34"/>
              </a:rPr>
              <a:t>E</a:t>
            </a:r>
          </a:p>
          <a:p>
            <a:pPr>
              <a:lnSpc>
                <a:spcPct val="150000"/>
              </a:lnSpc>
            </a:pPr>
            <a:r>
              <a:rPr lang="en-US" altLang="zh-TW" dirty="0">
                <a:latin typeface="Arial Black" panose="020B0A04020102020204" pitchFamily="34" charset="0"/>
                <a:cs typeface="AngsanaUPC" panose="020B0502040204020203" pitchFamily="18" charset="-34"/>
              </a:rPr>
              <a:t>C</a:t>
            </a:r>
            <a:r>
              <a:rPr lang="zh-TW" altLang="en-US" dirty="0">
                <a:latin typeface="Arial Black" panose="020B0A04020102020204" pitchFamily="34" charset="0"/>
                <a:cs typeface="AngsanaUPC" panose="020B0502040204020203" pitchFamily="18" charset="-34"/>
              </a:rPr>
              <a:t>→</a:t>
            </a:r>
            <a:r>
              <a:rPr lang="en-US" altLang="zh-TW" dirty="0">
                <a:latin typeface="Arial Black" panose="020B0A04020102020204" pitchFamily="34" charset="0"/>
                <a:cs typeface="AngsanaUPC" panose="020B0502040204020203" pitchFamily="18" charset="-34"/>
              </a:rPr>
              <a:t>F</a:t>
            </a:r>
            <a:endParaRPr lang="zh-TW" altLang="en-US" dirty="0"/>
          </a:p>
        </p:txBody>
      </p:sp>
      <p:sp>
        <p:nvSpPr>
          <p:cNvPr id="15" name="左大括弧 14">
            <a:extLst>
              <a:ext uri="{FF2B5EF4-FFF2-40B4-BE49-F238E27FC236}">
                <a16:creationId xmlns:a16="http://schemas.microsoft.com/office/drawing/2014/main" xmlns="" id="{2F47DADC-A2AD-44AD-8D36-579B5F6F92AC}"/>
              </a:ext>
            </a:extLst>
          </p:cNvPr>
          <p:cNvSpPr/>
          <p:nvPr/>
        </p:nvSpPr>
        <p:spPr>
          <a:xfrm>
            <a:off x="3187572" y="5140378"/>
            <a:ext cx="339047" cy="1121012"/>
          </a:xfrm>
          <a:prstGeom prst="leftBrace">
            <a:avLst>
              <a:gd name="adj1" fmla="val 81145"/>
              <a:gd name="adj2" fmla="val 50916"/>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1" name="左大括弧 20">
            <a:extLst>
              <a:ext uri="{FF2B5EF4-FFF2-40B4-BE49-F238E27FC236}">
                <a16:creationId xmlns:a16="http://schemas.microsoft.com/office/drawing/2014/main" xmlns="" id="{E2BFD815-A94F-46DD-8FD8-E284B402C831}"/>
              </a:ext>
            </a:extLst>
          </p:cNvPr>
          <p:cNvSpPr/>
          <p:nvPr/>
        </p:nvSpPr>
        <p:spPr>
          <a:xfrm rot="10800000">
            <a:off x="4970537" y="5140378"/>
            <a:ext cx="339047" cy="1121012"/>
          </a:xfrm>
          <a:prstGeom prst="leftBrace">
            <a:avLst>
              <a:gd name="adj1" fmla="val 82659"/>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Tree>
    <p:extLst>
      <p:ext uri="{BB962C8B-B14F-4D97-AF65-F5344CB8AC3E}">
        <p14:creationId xmlns:p14="http://schemas.microsoft.com/office/powerpoint/2010/main" val="13349256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471954" y="248429"/>
            <a:ext cx="7069275" cy="1322771"/>
          </a:xfrm>
        </p:spPr>
        <p:txBody>
          <a:bodyPr>
            <a:noAutofit/>
          </a:bodyPr>
          <a:lstStyle/>
          <a:p>
            <a:r>
              <a:rPr lang="en-US" altLang="zh-TW" sz="3200" dirty="0">
                <a:latin typeface="Times New Roman" panose="02020603050405020304" pitchFamily="18" charset="0"/>
                <a:cs typeface="Times New Roman" panose="02020603050405020304" pitchFamily="18" charset="0"/>
              </a:rPr>
              <a:t>Definition – Multi-word Parameterized Matching Problem</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8</a:t>
            </a:fld>
            <a:endParaRPr lang="zh-TW" altLang="en-US"/>
          </a:p>
        </p:txBody>
      </p:sp>
      <mc:AlternateContent xmlns:mc="http://schemas.openxmlformats.org/markup-compatibility/2006" xmlns:a14="http://schemas.microsoft.com/office/drawing/2010/main">
        <mc:Choice Requires="a14">
          <p:sp>
            <p:nvSpPr>
              <p:cNvPr id="9" name="內容版面配置區 6">
                <a:extLst>
                  <a:ext uri="{FF2B5EF4-FFF2-40B4-BE49-F238E27FC236}">
                    <a16:creationId xmlns:a16="http://schemas.microsoft.com/office/drawing/2014/main" xmlns="" id="{5E391A4C-1316-4910-829E-5880FDF21ABD}"/>
                  </a:ext>
                </a:extLst>
              </p:cNvPr>
              <p:cNvSpPr>
                <a:spLocks noGrp="1"/>
              </p:cNvSpPr>
              <p:nvPr>
                <p:ph idx="1"/>
              </p:nvPr>
            </p:nvSpPr>
            <p:spPr>
              <a:xfrm>
                <a:off x="471954" y="1352454"/>
                <a:ext cx="8043395" cy="1322771"/>
              </a:xfrm>
            </p:spPr>
            <p:txBody>
              <a:bodyPr>
                <a:normAutofit/>
              </a:bodyPr>
              <a:lstStyle/>
              <a:p>
                <a:pPr marL="0" indent="0">
                  <a:lnSpc>
                    <a:spcPct val="150000"/>
                  </a:lnSpc>
                  <a:buNone/>
                </a:pPr>
                <a:r>
                  <a:rPr lang="en-US" altLang="zh-TW" sz="2400" dirty="0">
                    <a:solidFill>
                      <a:schemeClr val="tx1"/>
                    </a:solidFill>
                    <a:latin typeface="Times New Roman" panose="02020603050405020304" pitchFamily="18" charset="0"/>
                    <a:cs typeface="Times New Roman" panose="02020603050405020304" pitchFamily="18" charset="0"/>
                  </a:rPr>
                  <a:t>Finding set of patterns </a:t>
                </a:r>
                <a14:m>
                  <m:oMath xmlns:m="http://schemas.openxmlformats.org/officeDocument/2006/math">
                    <m:sSub>
                      <m:sSubPr>
                        <m:ctrlPr>
                          <a:rPr lang="en-US" altLang="zh-TW" sz="2400" b="0" i="1" smtClean="0">
                            <a:solidFill>
                              <a:schemeClr val="tx1"/>
                            </a:solidFill>
                            <a:latin typeface="Cambria Math" panose="02040503050406030204" pitchFamily="18" charset="0"/>
                            <a:cs typeface="Times New Roman" panose="02020603050405020304" pitchFamily="18" charset="0"/>
                          </a:rPr>
                        </m:ctrlPr>
                      </m:sSubPr>
                      <m:e>
                        <m:r>
                          <a:rPr lang="en-US" altLang="zh-TW" sz="2400" b="0" i="1" smtClean="0">
                            <a:solidFill>
                              <a:schemeClr val="tx1"/>
                            </a:solidFill>
                            <a:latin typeface="Cambria Math" panose="02040503050406030204" pitchFamily="18" charset="0"/>
                            <a:cs typeface="Times New Roman" panose="02020603050405020304" pitchFamily="18" charset="0"/>
                          </a:rPr>
                          <m:t>𝑃</m:t>
                        </m:r>
                      </m:e>
                      <m:sub>
                        <m:r>
                          <a:rPr lang="en-US" altLang="zh-TW" sz="2400" b="0" i="1" smtClean="0">
                            <a:solidFill>
                              <a:schemeClr val="tx1"/>
                            </a:solidFill>
                            <a:latin typeface="Cambria Math" panose="02040503050406030204" pitchFamily="18" charset="0"/>
                            <a:cs typeface="Times New Roman" panose="02020603050405020304" pitchFamily="18" charset="0"/>
                          </a:rPr>
                          <m:t>1</m:t>
                        </m:r>
                      </m:sub>
                    </m:sSub>
                    <m:r>
                      <a:rPr lang="en-US" altLang="zh-TW" sz="2400" b="0" i="1" smtClean="0">
                        <a:solidFill>
                          <a:schemeClr val="tx1"/>
                        </a:solidFill>
                        <a:latin typeface="Cambria Math" panose="02040503050406030204" pitchFamily="18" charset="0"/>
                        <a:cs typeface="Times New Roman" panose="02020603050405020304" pitchFamily="18" charset="0"/>
                      </a:rPr>
                      <m:t>, </m:t>
                    </m:r>
                    <m:sSub>
                      <m:sSubPr>
                        <m:ctrlPr>
                          <a:rPr lang="en-US" altLang="zh-TW" sz="2400" b="0" i="1" smtClean="0">
                            <a:solidFill>
                              <a:schemeClr val="tx1"/>
                            </a:solidFill>
                            <a:latin typeface="Cambria Math" panose="02040503050406030204" pitchFamily="18" charset="0"/>
                            <a:cs typeface="Times New Roman" panose="02020603050405020304" pitchFamily="18" charset="0"/>
                          </a:rPr>
                        </m:ctrlPr>
                      </m:sSubPr>
                      <m:e>
                        <m:r>
                          <a:rPr lang="en-US" altLang="zh-TW" sz="2400" b="0" i="1" smtClean="0">
                            <a:solidFill>
                              <a:schemeClr val="tx1"/>
                            </a:solidFill>
                            <a:latin typeface="Cambria Math" panose="02040503050406030204" pitchFamily="18" charset="0"/>
                            <a:cs typeface="Times New Roman" panose="02020603050405020304" pitchFamily="18" charset="0"/>
                          </a:rPr>
                          <m:t>𝑃</m:t>
                        </m:r>
                      </m:e>
                      <m:sub>
                        <m:r>
                          <a:rPr lang="en-US" altLang="zh-TW" sz="2400" b="0" i="1" smtClean="0">
                            <a:solidFill>
                              <a:schemeClr val="tx1"/>
                            </a:solidFill>
                            <a:latin typeface="Cambria Math" panose="02040503050406030204" pitchFamily="18" charset="0"/>
                            <a:cs typeface="Times New Roman" panose="02020603050405020304" pitchFamily="18" charset="0"/>
                          </a:rPr>
                          <m:t>2</m:t>
                        </m:r>
                      </m:sub>
                    </m:sSub>
                    <m:r>
                      <a:rPr lang="en-US" altLang="zh-TW" sz="2400" b="0" i="1" smtClean="0">
                        <a:solidFill>
                          <a:schemeClr val="tx1"/>
                        </a:solidFill>
                        <a:latin typeface="Cambria Math" panose="02040503050406030204" pitchFamily="18" charset="0"/>
                        <a:cs typeface="Times New Roman" panose="02020603050405020304" pitchFamily="18" charset="0"/>
                      </a:rPr>
                      <m:t>, …,</m:t>
                    </m:r>
                    <m:sSub>
                      <m:sSubPr>
                        <m:ctrlPr>
                          <a:rPr lang="en-US" altLang="zh-TW" sz="2400" b="0" i="1" smtClean="0">
                            <a:solidFill>
                              <a:schemeClr val="tx1"/>
                            </a:solidFill>
                            <a:latin typeface="Cambria Math" panose="02040503050406030204" pitchFamily="18" charset="0"/>
                            <a:cs typeface="Times New Roman" panose="02020603050405020304" pitchFamily="18" charset="0"/>
                          </a:rPr>
                        </m:ctrlPr>
                      </m:sSubPr>
                      <m:e>
                        <m:r>
                          <a:rPr lang="en-US" altLang="zh-TW" sz="2400" b="0" i="1" smtClean="0">
                            <a:solidFill>
                              <a:schemeClr val="tx1"/>
                            </a:solidFill>
                            <a:latin typeface="Cambria Math" panose="02040503050406030204" pitchFamily="18" charset="0"/>
                            <a:cs typeface="Times New Roman" panose="02020603050405020304" pitchFamily="18" charset="0"/>
                          </a:rPr>
                          <m:t>𝑃</m:t>
                        </m:r>
                      </m:e>
                      <m:sub>
                        <m:r>
                          <a:rPr lang="en-US" altLang="zh-TW" sz="2400" b="0" i="1" smtClean="0">
                            <a:solidFill>
                              <a:schemeClr val="tx1"/>
                            </a:solidFill>
                            <a:latin typeface="Cambria Math" panose="02040503050406030204" pitchFamily="18" charset="0"/>
                            <a:cs typeface="Times New Roman" panose="02020603050405020304" pitchFamily="18" charset="0"/>
                          </a:rPr>
                          <m:t>𝑟</m:t>
                        </m:r>
                      </m:sub>
                    </m:sSub>
                    <m:d>
                      <m:dPr>
                        <m:ctrlPr>
                          <a:rPr lang="en-US" altLang="zh-TW" sz="2400" b="0" i="1" smtClean="0">
                            <a:solidFill>
                              <a:schemeClr val="tx1"/>
                            </a:solidFill>
                            <a:latin typeface="Cambria Math" panose="02040503050406030204" pitchFamily="18" charset="0"/>
                            <a:cs typeface="Times New Roman" panose="02020603050405020304" pitchFamily="18" charset="0"/>
                          </a:rPr>
                        </m:ctrlPr>
                      </m:dPr>
                      <m:e>
                        <m:r>
                          <a:rPr lang="en-US" altLang="zh-TW" sz="2400" b="0" i="1" smtClean="0">
                            <a:solidFill>
                              <a:schemeClr val="tx1"/>
                            </a:solidFill>
                            <a:latin typeface="Cambria Math" panose="02040503050406030204" pitchFamily="18" charset="0"/>
                            <a:cs typeface="Times New Roman" panose="02020603050405020304" pitchFamily="18" charset="0"/>
                          </a:rPr>
                          <m:t>𝑟</m:t>
                        </m:r>
                        <m:r>
                          <a:rPr lang="en-US" altLang="zh-TW" sz="2400" b="0" i="1" smtClean="0">
                            <a:solidFill>
                              <a:schemeClr val="tx1"/>
                            </a:solidFill>
                            <a:latin typeface="Cambria Math" panose="02040503050406030204" pitchFamily="18" charset="0"/>
                            <a:cs typeface="Times New Roman" panose="02020603050405020304" pitchFamily="18" charset="0"/>
                          </a:rPr>
                          <m:t>≥1</m:t>
                        </m:r>
                      </m:e>
                    </m:d>
                  </m:oMath>
                </a14:m>
                <a:r>
                  <a:rPr lang="en-US" altLang="zh-TW" sz="2400" dirty="0">
                    <a:solidFill>
                      <a:schemeClr val="tx1"/>
                    </a:solidFill>
                    <a:latin typeface="Times New Roman" panose="02020603050405020304" pitchFamily="18" charset="0"/>
                    <a:cs typeface="Times New Roman" panose="02020603050405020304" pitchFamily="18" charset="0"/>
                  </a:rPr>
                  <a:t> of different length(</a:t>
                </a:r>
                <a14:m>
                  <m:oMath xmlns:m="http://schemas.openxmlformats.org/officeDocument/2006/math">
                    <m:sSub>
                      <m:sSubPr>
                        <m:ctrlPr>
                          <a:rPr lang="en-US" altLang="zh-TW" sz="2400" b="0" i="1" smtClean="0">
                            <a:solidFill>
                              <a:schemeClr val="tx1"/>
                            </a:solidFill>
                            <a:latin typeface="Cambria Math" panose="02040503050406030204" pitchFamily="18" charset="0"/>
                            <a:cs typeface="Times New Roman" panose="02020603050405020304" pitchFamily="18" charset="0"/>
                          </a:rPr>
                        </m:ctrlPr>
                      </m:sSubPr>
                      <m:e>
                        <m:r>
                          <a:rPr lang="en-US" altLang="zh-TW" sz="2400" b="0" i="1" smtClean="0">
                            <a:solidFill>
                              <a:schemeClr val="tx1"/>
                            </a:solidFill>
                            <a:latin typeface="Cambria Math" panose="02040503050406030204" pitchFamily="18" charset="0"/>
                            <a:cs typeface="Times New Roman" panose="02020603050405020304" pitchFamily="18" charset="0"/>
                          </a:rPr>
                          <m:t>𝑙</m:t>
                        </m:r>
                      </m:e>
                      <m:sub>
                        <m:r>
                          <a:rPr lang="en-US" altLang="zh-TW" sz="2400" b="0" i="1" smtClean="0">
                            <a:solidFill>
                              <a:schemeClr val="tx1"/>
                            </a:solidFill>
                            <a:latin typeface="Cambria Math" panose="02040503050406030204" pitchFamily="18" charset="0"/>
                            <a:cs typeface="Times New Roman" panose="02020603050405020304" pitchFamily="18" charset="0"/>
                          </a:rPr>
                          <m:t>1</m:t>
                        </m:r>
                      </m:sub>
                    </m:sSub>
                    <m:r>
                      <a:rPr lang="en-US" altLang="zh-TW" sz="2400" b="0" i="1" smtClean="0">
                        <a:solidFill>
                          <a:schemeClr val="tx1"/>
                        </a:solidFill>
                        <a:latin typeface="Cambria Math" panose="02040503050406030204" pitchFamily="18" charset="0"/>
                        <a:cs typeface="Times New Roman" panose="02020603050405020304" pitchFamily="18" charset="0"/>
                      </a:rPr>
                      <m:t>, </m:t>
                    </m:r>
                    <m:sSub>
                      <m:sSubPr>
                        <m:ctrlPr>
                          <a:rPr lang="en-US" altLang="zh-TW" sz="2400" b="0" i="1" smtClean="0">
                            <a:solidFill>
                              <a:schemeClr val="tx1"/>
                            </a:solidFill>
                            <a:latin typeface="Cambria Math" panose="02040503050406030204" pitchFamily="18" charset="0"/>
                            <a:cs typeface="Times New Roman" panose="02020603050405020304" pitchFamily="18" charset="0"/>
                          </a:rPr>
                        </m:ctrlPr>
                      </m:sSubPr>
                      <m:e>
                        <m:r>
                          <a:rPr lang="en-US" altLang="zh-TW" sz="2400" b="0" i="1" smtClean="0">
                            <a:solidFill>
                              <a:schemeClr val="tx1"/>
                            </a:solidFill>
                            <a:latin typeface="Cambria Math" panose="02040503050406030204" pitchFamily="18" charset="0"/>
                            <a:cs typeface="Times New Roman" panose="02020603050405020304" pitchFamily="18" charset="0"/>
                          </a:rPr>
                          <m:t>𝑙</m:t>
                        </m:r>
                      </m:e>
                      <m:sub>
                        <m:r>
                          <a:rPr lang="en-US" altLang="zh-TW" sz="2400" b="0" i="1" smtClean="0">
                            <a:solidFill>
                              <a:schemeClr val="tx1"/>
                            </a:solidFill>
                            <a:latin typeface="Cambria Math" panose="02040503050406030204" pitchFamily="18" charset="0"/>
                            <a:cs typeface="Times New Roman" panose="02020603050405020304" pitchFamily="18" charset="0"/>
                          </a:rPr>
                          <m:t>2</m:t>
                        </m:r>
                      </m:sub>
                    </m:sSub>
                    <m:r>
                      <a:rPr lang="en-US" altLang="zh-TW" sz="2400" b="0" i="1" smtClean="0">
                        <a:solidFill>
                          <a:schemeClr val="tx1"/>
                        </a:solidFill>
                        <a:latin typeface="Cambria Math" panose="02040503050406030204" pitchFamily="18" charset="0"/>
                        <a:cs typeface="Times New Roman" panose="02020603050405020304" pitchFamily="18" charset="0"/>
                      </a:rPr>
                      <m:t>, …,</m:t>
                    </m:r>
                    <m:sSub>
                      <m:sSubPr>
                        <m:ctrlPr>
                          <a:rPr lang="en-US" altLang="zh-TW" sz="2400" b="0" i="1" smtClean="0">
                            <a:solidFill>
                              <a:schemeClr val="tx1"/>
                            </a:solidFill>
                            <a:latin typeface="Cambria Math" panose="02040503050406030204" pitchFamily="18" charset="0"/>
                            <a:cs typeface="Times New Roman" panose="02020603050405020304" pitchFamily="18" charset="0"/>
                          </a:rPr>
                        </m:ctrlPr>
                      </m:sSubPr>
                      <m:e>
                        <m:r>
                          <a:rPr lang="en-US" altLang="zh-TW" sz="2400" b="0" i="1" smtClean="0">
                            <a:solidFill>
                              <a:schemeClr val="tx1"/>
                            </a:solidFill>
                            <a:latin typeface="Cambria Math" panose="02040503050406030204" pitchFamily="18" charset="0"/>
                            <a:cs typeface="Times New Roman" panose="02020603050405020304" pitchFamily="18" charset="0"/>
                          </a:rPr>
                          <m:t>𝑙</m:t>
                        </m:r>
                      </m:e>
                      <m:sub>
                        <m:r>
                          <a:rPr lang="en-US" altLang="zh-TW" sz="2400" b="0" i="1" smtClean="0">
                            <a:solidFill>
                              <a:schemeClr val="tx1"/>
                            </a:solidFill>
                            <a:latin typeface="Cambria Math" panose="02040503050406030204" pitchFamily="18" charset="0"/>
                            <a:cs typeface="Times New Roman" panose="02020603050405020304" pitchFamily="18" charset="0"/>
                          </a:rPr>
                          <m:t>𝑟</m:t>
                        </m:r>
                      </m:sub>
                    </m:sSub>
                    <m:r>
                      <a:rPr lang="en-US" altLang="zh-TW" sz="2400" b="0" i="1" smtClean="0">
                        <a:solidFill>
                          <a:schemeClr val="tx1"/>
                        </a:solidFill>
                        <a:latin typeface="Cambria Math" panose="02040503050406030204" pitchFamily="18" charset="0"/>
                        <a:cs typeface="Times New Roman" panose="02020603050405020304" pitchFamily="18" charset="0"/>
                      </a:rPr>
                      <m:t>, </m:t>
                    </m:r>
                    <m:sSub>
                      <m:sSubPr>
                        <m:ctrlPr>
                          <a:rPr lang="en-US" altLang="zh-TW" sz="2400" b="0" i="1" smtClean="0">
                            <a:solidFill>
                              <a:schemeClr val="tx1"/>
                            </a:solidFill>
                            <a:latin typeface="Cambria Math" panose="02040503050406030204" pitchFamily="18" charset="0"/>
                            <a:cs typeface="Times New Roman" panose="02020603050405020304" pitchFamily="18" charset="0"/>
                          </a:rPr>
                        </m:ctrlPr>
                      </m:sSubPr>
                      <m:e>
                        <m:r>
                          <a:rPr lang="en-US" altLang="zh-TW" sz="2400" b="0" i="1" smtClean="0">
                            <a:solidFill>
                              <a:schemeClr val="tx1"/>
                            </a:solidFill>
                            <a:latin typeface="Cambria Math" panose="02040503050406030204" pitchFamily="18" charset="0"/>
                            <a:cs typeface="Times New Roman" panose="02020603050405020304" pitchFamily="18" charset="0"/>
                          </a:rPr>
                          <m:t>𝑙</m:t>
                        </m:r>
                      </m:e>
                      <m:sub>
                        <m:r>
                          <a:rPr lang="en-US" altLang="zh-TW" sz="2400" b="0" i="1" smtClean="0">
                            <a:solidFill>
                              <a:schemeClr val="tx1"/>
                            </a:solidFill>
                            <a:latin typeface="Cambria Math" panose="02040503050406030204" pitchFamily="18" charset="0"/>
                            <a:cs typeface="Times New Roman" panose="02020603050405020304" pitchFamily="18" charset="0"/>
                          </a:rPr>
                          <m:t>𝑖</m:t>
                        </m:r>
                      </m:sub>
                    </m:sSub>
                    <m:r>
                      <a:rPr lang="en-US" altLang="zh-TW" sz="2400" b="0" i="1" smtClean="0">
                        <a:solidFill>
                          <a:schemeClr val="tx1"/>
                        </a:solidFill>
                        <a:latin typeface="Cambria Math" panose="02040503050406030204" pitchFamily="18" charset="0"/>
                        <a:cs typeface="Times New Roman" panose="02020603050405020304" pitchFamily="18" charset="0"/>
                      </a:rPr>
                      <m:t>≥</m:t>
                    </m:r>
                    <m:r>
                      <a:rPr lang="en-US" altLang="zh-TW" sz="2400" b="0" i="1" smtClean="0">
                        <a:solidFill>
                          <a:schemeClr val="tx1"/>
                        </a:solidFill>
                        <a:latin typeface="Cambria Math" panose="02040503050406030204" pitchFamily="18" charset="0"/>
                        <a:cs typeface="Times New Roman" panose="02020603050405020304" pitchFamily="18" charset="0"/>
                      </a:rPr>
                      <m:t>𝑚</m:t>
                    </m:r>
                    <m:r>
                      <a:rPr lang="en-US" altLang="zh-TW" sz="2400" b="0" i="1" smtClean="0">
                        <a:solidFill>
                          <a:schemeClr val="tx1"/>
                        </a:solidFill>
                        <a:latin typeface="Cambria Math" panose="02040503050406030204" pitchFamily="18" charset="0"/>
                        <a:cs typeface="Times New Roman" panose="02020603050405020304" pitchFamily="18" charset="0"/>
                      </a:rPr>
                      <m:t> </m:t>
                    </m:r>
                  </m:oMath>
                </a14:m>
                <a:r>
                  <a:rPr lang="en-US" altLang="zh-TW" sz="2400" dirty="0">
                    <a:solidFill>
                      <a:schemeClr val="tx1"/>
                    </a:solidFill>
                    <a:latin typeface="Times New Roman" panose="02020603050405020304" pitchFamily="18" charset="0"/>
                    <a:cs typeface="Times New Roman" panose="02020603050405020304" pitchFamily="18" charset="0"/>
                  </a:rPr>
                  <a:t>) in a text T</a:t>
                </a:r>
              </a:p>
            </p:txBody>
          </p:sp>
        </mc:Choice>
        <mc:Fallback xmlns="">
          <p:sp>
            <p:nvSpPr>
              <p:cNvPr id="9" name="內容版面配置區 6">
                <a:extLst>
                  <a:ext uri="{FF2B5EF4-FFF2-40B4-BE49-F238E27FC236}">
                    <a16:creationId xmlns:a16="http://schemas.microsoft.com/office/drawing/2014/main" id="{5E391A4C-1316-4910-829E-5880FDF21ABD}"/>
                  </a:ext>
                </a:extLst>
              </p:cNvPr>
              <p:cNvSpPr>
                <a:spLocks noGrp="1" noRot="1" noChangeAspect="1" noMove="1" noResize="1" noEditPoints="1" noAdjustHandles="1" noChangeArrowheads="1" noChangeShapeType="1" noTextEdit="1"/>
              </p:cNvSpPr>
              <p:nvPr>
                <p:ph idx="1"/>
              </p:nvPr>
            </p:nvSpPr>
            <p:spPr>
              <a:xfrm>
                <a:off x="471954" y="1352454"/>
                <a:ext cx="8043395" cy="1322771"/>
              </a:xfrm>
              <a:blipFill>
                <a:blip r:embed="rId3"/>
                <a:stretch>
                  <a:fillRect l="-1136"/>
                </a:stretch>
              </a:blipFill>
            </p:spPr>
            <p:txBody>
              <a:bodyPr/>
              <a:lstStyle/>
              <a:p>
                <a:r>
                  <a:rPr lang="zh-TW" altLang="en-US">
                    <a:noFill/>
                  </a:rPr>
                  <a:t> </a:t>
                </a:r>
              </a:p>
            </p:txBody>
          </p:sp>
        </mc:Fallback>
      </mc:AlternateContent>
      <p:sp>
        <p:nvSpPr>
          <p:cNvPr id="13" name="內容版面配置區 6">
            <a:extLst>
              <a:ext uri="{FF2B5EF4-FFF2-40B4-BE49-F238E27FC236}">
                <a16:creationId xmlns:a16="http://schemas.microsoft.com/office/drawing/2014/main" xmlns="" id="{8C6A1843-5D18-4933-884B-3613E2D98FDD}"/>
              </a:ext>
            </a:extLst>
          </p:cNvPr>
          <p:cNvSpPr txBox="1">
            <a:spLocks/>
          </p:cNvSpPr>
          <p:nvPr/>
        </p:nvSpPr>
        <p:spPr>
          <a:xfrm>
            <a:off x="471955" y="3012931"/>
            <a:ext cx="3360306" cy="7782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TW" dirty="0">
                <a:latin typeface="Times New Roman" panose="02020603050405020304" pitchFamily="18" charset="0"/>
                <a:cs typeface="Times New Roman" panose="02020603050405020304" pitchFamily="18" charset="0"/>
              </a:rPr>
              <a:t>T:  </a:t>
            </a:r>
            <a:r>
              <a:rPr lang="en-US" altLang="zh-TW" sz="2400" dirty="0">
                <a:latin typeface="Arial Black" panose="020B0A04020102020204" pitchFamily="34" charset="0"/>
                <a:cs typeface="AngsanaUPC" panose="020B0502040204020203" pitchFamily="18" charset="-34"/>
              </a:rPr>
              <a:t>ABA CBB ABA </a:t>
            </a:r>
            <a:endParaRPr lang="en-US" altLang="zh-TW" sz="2400" dirty="0">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xmlns="" id="{9AE376D8-CC09-435E-9E35-085EECE46539}"/>
              </a:ext>
            </a:extLst>
          </p:cNvPr>
          <p:cNvSpPr/>
          <p:nvPr/>
        </p:nvSpPr>
        <p:spPr>
          <a:xfrm>
            <a:off x="471955" y="3700360"/>
            <a:ext cx="2537939" cy="661207"/>
          </a:xfrm>
          <a:prstGeom prst="rect">
            <a:avLst/>
          </a:prstGeom>
        </p:spPr>
        <p:txBody>
          <a:bodyPr wrap="none">
            <a:spAutoFit/>
          </a:bodyPr>
          <a:lstStyle/>
          <a:p>
            <a:pPr>
              <a:lnSpc>
                <a:spcPct val="150000"/>
              </a:lnSpc>
            </a:pPr>
            <a:r>
              <a:rPr lang="en-US" altLang="zh-TW" sz="2800" dirty="0">
                <a:latin typeface="Times New Roman" panose="02020603050405020304" pitchFamily="18" charset="0"/>
                <a:cs typeface="Times New Roman" panose="02020603050405020304" pitchFamily="18" charset="0"/>
              </a:rPr>
              <a:t>P:  </a:t>
            </a:r>
            <a:r>
              <a:rPr lang="en-US" altLang="zh-TW" sz="2400" dirty="0">
                <a:latin typeface="Arial Black" panose="020B0A04020102020204" pitchFamily="34" charset="0"/>
                <a:cs typeface="AngsanaUPC" panose="020B0502040204020203" pitchFamily="18" charset="-34"/>
              </a:rPr>
              <a:t>ABAC, CBB</a:t>
            </a:r>
            <a:endParaRPr lang="en-US" altLang="zh-TW" sz="2800" dirty="0">
              <a:latin typeface="Arial Black" panose="020B0A04020102020204" pitchFamily="34" charset="0"/>
              <a:cs typeface="AngsanaUPC" panose="020B0502040204020203" pitchFamily="18" charset="-34"/>
            </a:endParaRPr>
          </a:p>
        </p:txBody>
      </p:sp>
      <p:sp>
        <p:nvSpPr>
          <p:cNvPr id="18" name="矩形 17">
            <a:extLst>
              <a:ext uri="{FF2B5EF4-FFF2-40B4-BE49-F238E27FC236}">
                <a16:creationId xmlns:a16="http://schemas.microsoft.com/office/drawing/2014/main" xmlns="" id="{A5DEEB68-516B-470D-AD53-171FDB861495}"/>
              </a:ext>
            </a:extLst>
          </p:cNvPr>
          <p:cNvSpPr/>
          <p:nvPr/>
        </p:nvSpPr>
        <p:spPr>
          <a:xfrm>
            <a:off x="471955" y="4128871"/>
            <a:ext cx="2417200" cy="661207"/>
          </a:xfrm>
          <a:prstGeom prst="rect">
            <a:avLst/>
          </a:prstGeom>
        </p:spPr>
        <p:txBody>
          <a:bodyPr wrap="none">
            <a:spAutoFit/>
          </a:bodyPr>
          <a:lstStyle/>
          <a:p>
            <a:pPr>
              <a:lnSpc>
                <a:spcPct val="150000"/>
              </a:lnSpc>
            </a:pPr>
            <a:r>
              <a:rPr lang="en-US" altLang="zh-TW" sz="2800" dirty="0">
                <a:solidFill>
                  <a:srgbClr val="0070C0"/>
                </a:solidFill>
                <a:latin typeface="Times New Roman" panose="02020603050405020304" pitchFamily="18" charset="0"/>
                <a:cs typeface="Times New Roman" panose="02020603050405020304" pitchFamily="18" charset="0"/>
              </a:rPr>
              <a:t>P’:  </a:t>
            </a:r>
            <a:r>
              <a:rPr lang="en-US" altLang="zh-TW" sz="2400" dirty="0">
                <a:solidFill>
                  <a:srgbClr val="0070C0"/>
                </a:solidFill>
                <a:latin typeface="Arial Black" panose="020B0A04020102020204" pitchFamily="34" charset="0"/>
                <a:cs typeface="AngsanaUPC" panose="020B0502040204020203" pitchFamily="18" charset="-34"/>
              </a:rPr>
              <a:t>ABA, CBB</a:t>
            </a:r>
            <a:endParaRPr lang="en-US" altLang="zh-TW" sz="2800" dirty="0">
              <a:solidFill>
                <a:srgbClr val="0070C0"/>
              </a:solidFill>
              <a:latin typeface="Arial Black" panose="020B0A04020102020204" pitchFamily="34" charset="0"/>
              <a:cs typeface="AngsanaUPC" panose="020B0502040204020203" pitchFamily="18" charset="-34"/>
            </a:endParaRPr>
          </a:p>
        </p:txBody>
      </p:sp>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xmlns="" id="{36246106-3A42-4565-AF77-7A7710AC5991}"/>
                  </a:ext>
                </a:extLst>
              </p:cNvPr>
              <p:cNvSpPr/>
              <p:nvPr/>
            </p:nvSpPr>
            <p:spPr>
              <a:xfrm>
                <a:off x="471955" y="4809969"/>
                <a:ext cx="4688591" cy="669479"/>
              </a:xfrm>
              <a:prstGeom prst="rect">
                <a:avLst/>
              </a:prstGeom>
            </p:spPr>
            <p:txBody>
              <a:bodyPr wrap="none">
                <a:spAutoFit/>
              </a:bodyPr>
              <a:lstStyle/>
              <a:p>
                <a:pPr>
                  <a:lnSpc>
                    <a:spcPct val="150000"/>
                  </a:lnSpc>
                </a:pPr>
                <a:r>
                  <a:rPr lang="en-US" altLang="zh-TW" sz="2800" dirty="0">
                    <a:latin typeface="Times New Roman" panose="02020603050405020304" pitchFamily="18" charset="0"/>
                    <a:cs typeface="Times New Roman" panose="02020603050405020304" pitchFamily="18" charset="0"/>
                  </a:rPr>
                  <a:t>Ans: </a:t>
                </a:r>
                <a14:m>
                  <m:oMath xmlns:m="http://schemas.openxmlformats.org/officeDocument/2006/math">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𝑃</m:t>
                        </m:r>
                        <m:r>
                          <a:rPr lang="en-US" altLang="zh-TW" sz="2800" b="0" i="1" smtClean="0">
                            <a:latin typeface="Cambria Math" panose="02040503050406030204" pitchFamily="18" charset="0"/>
                            <a:cs typeface="Times New Roman" panose="02020603050405020304" pitchFamily="18" charset="0"/>
                          </a:rPr>
                          <m:t>′</m:t>
                        </m:r>
                      </m:e>
                      <m:sub>
                        <m:r>
                          <a:rPr lang="en-US" altLang="zh-TW" sz="2800" b="0" i="1" smtClean="0">
                            <a:latin typeface="Cambria Math" panose="02040503050406030204" pitchFamily="18" charset="0"/>
                            <a:cs typeface="Times New Roman" panose="02020603050405020304" pitchFamily="18" charset="0"/>
                          </a:rPr>
                          <m:t>1</m:t>
                        </m:r>
                      </m:sub>
                    </m:sSub>
                    <m:r>
                      <a:rPr lang="en-US" altLang="zh-TW" sz="2800" b="0" i="1" smtClean="0">
                        <a:latin typeface="Cambria Math" panose="02040503050406030204" pitchFamily="18" charset="0"/>
                        <a:cs typeface="Times New Roman" panose="02020603050405020304" pitchFamily="18" charset="0"/>
                      </a:rPr>
                      <m:t>, </m:t>
                    </m:r>
                    <m:sSub>
                      <m:sSubPr>
                        <m:ctrlPr>
                          <a:rPr lang="en-US" altLang="zh-TW" sz="2800" b="0" i="1" smtClean="0">
                            <a:latin typeface="Cambria Math" panose="02040503050406030204" pitchFamily="18" charset="0"/>
                            <a:cs typeface="Times New Roman" panose="02020603050405020304" pitchFamily="18" charset="0"/>
                          </a:rPr>
                        </m:ctrlPr>
                      </m:sSubPr>
                      <m:e>
                        <m:r>
                          <a:rPr lang="en-US" altLang="zh-TW" sz="2800" b="0" i="1" smtClean="0">
                            <a:latin typeface="Cambria Math" panose="02040503050406030204" pitchFamily="18" charset="0"/>
                            <a:cs typeface="Times New Roman" panose="02020603050405020304" pitchFamily="18" charset="0"/>
                          </a:rPr>
                          <m:t>𝑃</m:t>
                        </m:r>
                        <m:r>
                          <a:rPr lang="en-US" altLang="zh-TW" sz="2800" b="0" i="1" smtClean="0">
                            <a:latin typeface="Cambria Math" panose="02040503050406030204" pitchFamily="18" charset="0"/>
                            <a:cs typeface="Times New Roman" panose="02020603050405020304" pitchFamily="18" charset="0"/>
                          </a:rPr>
                          <m:t>′</m:t>
                        </m:r>
                      </m:e>
                      <m:sub>
                        <m:r>
                          <a:rPr lang="en-US" altLang="zh-TW" sz="2800" b="0" i="1" smtClean="0">
                            <a:latin typeface="Cambria Math" panose="02040503050406030204" pitchFamily="18" charset="0"/>
                            <a:cs typeface="Times New Roman" panose="02020603050405020304" pitchFamily="18" charset="0"/>
                          </a:rPr>
                          <m:t>2</m:t>
                        </m:r>
                      </m:sub>
                    </m:sSub>
                  </m:oMath>
                </a14:m>
                <a:r>
                  <a:rPr lang="en-US" altLang="zh-TW" sz="2800" dirty="0">
                    <a:latin typeface="Arial Black" panose="020B0A04020102020204" pitchFamily="34" charset="0"/>
                    <a:cs typeface="AngsanaUPC" panose="020B0502040204020203" pitchFamily="18" charset="-34"/>
                  </a:rPr>
                  <a:t> </a:t>
                </a:r>
                <a:r>
                  <a:rPr lang="en-US" altLang="zh-TW" sz="2800" dirty="0">
                    <a:latin typeface="Times New Roman" panose="02020603050405020304" pitchFamily="18" charset="0"/>
                    <a:cs typeface="Times New Roman" panose="02020603050405020304" pitchFamily="18" charset="0"/>
                  </a:rPr>
                  <a:t>can be found in T</a:t>
                </a:r>
                <a:endParaRPr lang="en-US" altLang="zh-TW" sz="2800" dirty="0">
                  <a:latin typeface="Arial Black" panose="020B0A04020102020204" pitchFamily="34" charset="0"/>
                  <a:cs typeface="AngsanaUPC" panose="020B0502040204020203" pitchFamily="18" charset="-34"/>
                </a:endParaRPr>
              </a:p>
            </p:txBody>
          </p:sp>
        </mc:Choice>
        <mc:Fallback xmlns="">
          <p:sp>
            <p:nvSpPr>
              <p:cNvPr id="20" name="矩形 19">
                <a:extLst>
                  <a:ext uri="{FF2B5EF4-FFF2-40B4-BE49-F238E27FC236}">
                    <a16:creationId xmlns:a16="http://schemas.microsoft.com/office/drawing/2014/main" id="{36246106-3A42-4565-AF77-7A7710AC5991}"/>
                  </a:ext>
                </a:extLst>
              </p:cNvPr>
              <p:cNvSpPr>
                <a:spLocks noRot="1" noChangeAspect="1" noMove="1" noResize="1" noEditPoints="1" noAdjustHandles="1" noChangeArrowheads="1" noChangeShapeType="1" noTextEdit="1"/>
              </p:cNvSpPr>
              <p:nvPr/>
            </p:nvSpPr>
            <p:spPr>
              <a:xfrm>
                <a:off x="471955" y="4809969"/>
                <a:ext cx="4688591" cy="669479"/>
              </a:xfrm>
              <a:prstGeom prst="rect">
                <a:avLst/>
              </a:prstGeom>
              <a:blipFill>
                <a:blip r:embed="rId4"/>
                <a:stretch>
                  <a:fillRect l="-2597" r="-1558" b="-2363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029294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471956" y="414725"/>
            <a:ext cx="7886700" cy="583367"/>
          </a:xfrm>
        </p:spPr>
        <p:txBody>
          <a:bodyPr>
            <a:normAutofit fontScale="90000"/>
          </a:bodyPr>
          <a:lstStyle/>
          <a:p>
            <a:r>
              <a:rPr lang="en-US" altLang="zh-TW" sz="3200" dirty="0">
                <a:latin typeface="Times New Roman" panose="02020603050405020304" pitchFamily="18" charset="0"/>
                <a:cs typeface="Times New Roman" panose="02020603050405020304" pitchFamily="18" charset="0"/>
              </a:rPr>
              <a:t>Compression - Word Based Tagged Code(WBTC)</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9</a:t>
            </a:fld>
            <a:endParaRPr lang="zh-TW" altLang="en-US"/>
          </a:p>
        </p:txBody>
      </p:sp>
      <p:sp>
        <p:nvSpPr>
          <p:cNvPr id="5" name="內容版面配置區 6">
            <a:extLst>
              <a:ext uri="{FF2B5EF4-FFF2-40B4-BE49-F238E27FC236}">
                <a16:creationId xmlns:a16="http://schemas.microsoft.com/office/drawing/2014/main" xmlns="" id="{F9C114CE-4382-478B-AF78-D21C45B41848}"/>
              </a:ext>
            </a:extLst>
          </p:cNvPr>
          <p:cNvSpPr txBox="1">
            <a:spLocks/>
          </p:cNvSpPr>
          <p:nvPr/>
        </p:nvSpPr>
        <p:spPr>
          <a:xfrm>
            <a:off x="471956" y="998092"/>
            <a:ext cx="8310537" cy="51630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TW" sz="2400" dirty="0">
                <a:latin typeface="Times New Roman" panose="02020603050405020304" pitchFamily="18" charset="0"/>
                <a:cs typeface="Times New Roman" panose="02020603050405020304" pitchFamily="18" charset="0"/>
              </a:rPr>
              <a:t>The code always ends with either 01 or 10</a:t>
            </a:r>
          </a:p>
          <a:p>
            <a:pPr>
              <a:lnSpc>
                <a:spcPct val="100000"/>
              </a:lnSpc>
            </a:pPr>
            <a:r>
              <a:rPr lang="en-US" altLang="zh-TW" sz="2400" dirty="0">
                <a:latin typeface="Times New Roman" panose="02020603050405020304" pitchFamily="18" charset="0"/>
                <a:cs typeface="Times New Roman" panose="02020603050405020304" pitchFamily="18" charset="0"/>
              </a:rPr>
              <a:t>Add 00 and 11 as prefix repeatedly</a:t>
            </a:r>
          </a:p>
          <a:p>
            <a:pPr marL="0" indent="0">
              <a:lnSpc>
                <a:spcPct val="100000"/>
              </a:lnSpc>
              <a:buNone/>
            </a:pPr>
            <a:r>
              <a:rPr lang="en-US" altLang="zh-TW" sz="2000" dirty="0">
                <a:solidFill>
                  <a:srgbClr val="0070C0"/>
                </a:solidFill>
                <a:latin typeface="Times New Roman" panose="02020603050405020304" pitchFamily="18" charset="0"/>
                <a:cs typeface="Times New Roman" panose="02020603050405020304" pitchFamily="18" charset="0"/>
              </a:rPr>
              <a:t>01 </a:t>
            </a:r>
            <a:r>
              <a:rPr lang="zh-TW" altLang="en-US" sz="2000" dirty="0">
                <a:solidFill>
                  <a:srgbClr val="0070C0"/>
                </a:solidFill>
                <a:latin typeface="Times New Roman" panose="02020603050405020304" pitchFamily="18" charset="0"/>
                <a:cs typeface="Times New Roman" panose="02020603050405020304" pitchFamily="18" charset="0"/>
              </a:rPr>
              <a:t>→ </a:t>
            </a:r>
            <a:r>
              <a:rPr lang="en-US" altLang="zh-TW" sz="2000" dirty="0">
                <a:solidFill>
                  <a:srgbClr val="0070C0"/>
                </a:solidFill>
                <a:latin typeface="Times New Roman" panose="02020603050405020304" pitchFamily="18" charset="0"/>
                <a:cs typeface="Times New Roman" panose="02020603050405020304" pitchFamily="18" charset="0"/>
              </a:rPr>
              <a:t>10 </a:t>
            </a:r>
            <a:r>
              <a:rPr lang="zh-TW" altLang="en-US" sz="2000" dirty="0">
                <a:solidFill>
                  <a:srgbClr val="0070C0"/>
                </a:solidFill>
                <a:latin typeface="Times New Roman" panose="02020603050405020304" pitchFamily="18" charset="0"/>
                <a:cs typeface="Times New Roman" panose="02020603050405020304" pitchFamily="18" charset="0"/>
              </a:rPr>
              <a:t>→ </a:t>
            </a:r>
            <a:r>
              <a:rPr lang="en-US" altLang="zh-TW" sz="2000" dirty="0">
                <a:solidFill>
                  <a:srgbClr val="0070C0"/>
                </a:solidFill>
                <a:latin typeface="Times New Roman" panose="02020603050405020304" pitchFamily="18" charset="0"/>
                <a:cs typeface="Times New Roman" panose="02020603050405020304" pitchFamily="18" charset="0"/>
              </a:rPr>
              <a:t>0001 </a:t>
            </a:r>
            <a:r>
              <a:rPr lang="zh-TW" altLang="en-US" sz="2000" dirty="0">
                <a:solidFill>
                  <a:srgbClr val="0070C0"/>
                </a:solidFill>
                <a:latin typeface="Times New Roman" panose="02020603050405020304" pitchFamily="18" charset="0"/>
                <a:cs typeface="Times New Roman" panose="02020603050405020304" pitchFamily="18" charset="0"/>
              </a:rPr>
              <a:t>→ </a:t>
            </a:r>
            <a:r>
              <a:rPr lang="en-US" altLang="zh-TW" sz="2000" dirty="0">
                <a:solidFill>
                  <a:srgbClr val="0070C0"/>
                </a:solidFill>
                <a:latin typeface="Times New Roman" panose="02020603050405020304" pitchFamily="18" charset="0"/>
                <a:cs typeface="Times New Roman" panose="02020603050405020304" pitchFamily="18" charset="0"/>
              </a:rPr>
              <a:t>0010 </a:t>
            </a:r>
            <a:r>
              <a:rPr lang="zh-TW" altLang="en-US" sz="2000" dirty="0">
                <a:solidFill>
                  <a:srgbClr val="0070C0"/>
                </a:solidFill>
                <a:latin typeface="Times New Roman" panose="02020603050405020304" pitchFamily="18" charset="0"/>
                <a:cs typeface="Times New Roman" panose="02020603050405020304" pitchFamily="18" charset="0"/>
              </a:rPr>
              <a:t>→ </a:t>
            </a:r>
            <a:r>
              <a:rPr lang="en-US" altLang="zh-TW" sz="2000" dirty="0">
                <a:solidFill>
                  <a:srgbClr val="0070C0"/>
                </a:solidFill>
                <a:latin typeface="Times New Roman" panose="02020603050405020304" pitchFamily="18" charset="0"/>
                <a:cs typeface="Times New Roman" panose="02020603050405020304" pitchFamily="18" charset="0"/>
              </a:rPr>
              <a:t>1101 </a:t>
            </a:r>
            <a:r>
              <a:rPr lang="zh-TW" altLang="en-US" sz="2000" dirty="0">
                <a:solidFill>
                  <a:srgbClr val="0070C0"/>
                </a:solidFill>
                <a:latin typeface="Times New Roman" panose="02020603050405020304" pitchFamily="18" charset="0"/>
                <a:cs typeface="Times New Roman" panose="02020603050405020304" pitchFamily="18" charset="0"/>
              </a:rPr>
              <a:t>→ </a:t>
            </a:r>
            <a:r>
              <a:rPr lang="en-US" altLang="zh-TW" sz="2000" dirty="0">
                <a:solidFill>
                  <a:srgbClr val="0070C0"/>
                </a:solidFill>
                <a:latin typeface="Times New Roman" panose="02020603050405020304" pitchFamily="18" charset="0"/>
                <a:cs typeface="Times New Roman" panose="02020603050405020304" pitchFamily="18" charset="0"/>
              </a:rPr>
              <a:t>1110 </a:t>
            </a:r>
            <a:r>
              <a:rPr lang="zh-TW" altLang="en-US" sz="2000" dirty="0">
                <a:solidFill>
                  <a:srgbClr val="0070C0"/>
                </a:solidFill>
                <a:latin typeface="Times New Roman" panose="02020603050405020304" pitchFamily="18" charset="0"/>
                <a:cs typeface="Times New Roman" panose="02020603050405020304" pitchFamily="18" charset="0"/>
              </a:rPr>
              <a:t>→ </a:t>
            </a:r>
            <a:r>
              <a:rPr lang="en-US" altLang="zh-TW" sz="2000" dirty="0">
                <a:solidFill>
                  <a:srgbClr val="0070C0"/>
                </a:solidFill>
                <a:latin typeface="Times New Roman" panose="02020603050405020304" pitchFamily="18" charset="0"/>
                <a:cs typeface="Times New Roman" panose="02020603050405020304" pitchFamily="18" charset="0"/>
              </a:rPr>
              <a:t>000001</a:t>
            </a:r>
            <a:r>
              <a:rPr lang="zh-TW" altLang="en-US" sz="2000" dirty="0">
                <a:solidFill>
                  <a:srgbClr val="0070C0"/>
                </a:solidFill>
                <a:latin typeface="Times New Roman" panose="02020603050405020304" pitchFamily="18" charset="0"/>
                <a:cs typeface="Times New Roman" panose="02020603050405020304" pitchFamily="18" charset="0"/>
              </a:rPr>
              <a:t> → </a:t>
            </a:r>
            <a:r>
              <a:rPr lang="en-US" altLang="zh-TW" sz="2000" dirty="0">
                <a:solidFill>
                  <a:srgbClr val="0070C0"/>
                </a:solidFill>
                <a:latin typeface="Times New Roman" panose="02020603050405020304" pitchFamily="18" charset="0"/>
                <a:cs typeface="Times New Roman" panose="02020603050405020304" pitchFamily="18" charset="0"/>
              </a:rPr>
              <a:t>000010 …</a:t>
            </a:r>
          </a:p>
        </p:txBody>
      </p:sp>
      <p:graphicFrame>
        <p:nvGraphicFramePr>
          <p:cNvPr id="3" name="表格 2">
            <a:extLst>
              <a:ext uri="{FF2B5EF4-FFF2-40B4-BE49-F238E27FC236}">
                <a16:creationId xmlns:a16="http://schemas.microsoft.com/office/drawing/2014/main" xmlns="" id="{AF3BEED9-6C88-48E4-A426-30FBD2B1B821}"/>
              </a:ext>
            </a:extLst>
          </p:cNvPr>
          <p:cNvGraphicFramePr>
            <a:graphicFrameLocks noGrp="1"/>
          </p:cNvGraphicFramePr>
          <p:nvPr>
            <p:extLst>
              <p:ext uri="{D42A27DB-BD31-4B8C-83A1-F6EECF244321}">
                <p14:modId xmlns:p14="http://schemas.microsoft.com/office/powerpoint/2010/main" val="2237390929"/>
              </p:ext>
            </p:extLst>
          </p:nvPr>
        </p:nvGraphicFramePr>
        <p:xfrm>
          <a:off x="1367306" y="3702001"/>
          <a:ext cx="6096000" cy="222504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xmlns="" val="3469229412"/>
                    </a:ext>
                  </a:extLst>
                </a:gridCol>
                <a:gridCol w="2032000">
                  <a:extLst>
                    <a:ext uri="{9D8B030D-6E8A-4147-A177-3AD203B41FA5}">
                      <a16:colId xmlns:a16="http://schemas.microsoft.com/office/drawing/2014/main" xmlns="" val="1794881726"/>
                    </a:ext>
                  </a:extLst>
                </a:gridCol>
                <a:gridCol w="2032000">
                  <a:extLst>
                    <a:ext uri="{9D8B030D-6E8A-4147-A177-3AD203B41FA5}">
                      <a16:colId xmlns:a16="http://schemas.microsoft.com/office/drawing/2014/main" xmlns="" val="1806728039"/>
                    </a:ext>
                  </a:extLst>
                </a:gridCol>
              </a:tblGrid>
              <a:tr h="370840">
                <a:tc>
                  <a:txBody>
                    <a:bodyPr/>
                    <a:lstStyle/>
                    <a:p>
                      <a:pPr algn="ctr"/>
                      <a:r>
                        <a:rPr lang="en-US" altLang="zh-TW" dirty="0">
                          <a:latin typeface="Times New Roman" panose="02020603050405020304" pitchFamily="18" charset="0"/>
                          <a:cs typeface="Times New Roman" panose="02020603050405020304" pitchFamily="18" charset="0"/>
                        </a:rPr>
                        <a:t>Index</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Word</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Frequency</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4105288967"/>
                  </a:ext>
                </a:extLst>
              </a:tr>
              <a:tr h="370840">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AATT</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560517035"/>
                  </a:ext>
                </a:extLst>
              </a:tr>
              <a:tr h="370840">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CCGG</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1297666499"/>
                  </a:ext>
                </a:extLst>
              </a:tr>
              <a:tr h="37084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GATA</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2475487217"/>
                  </a:ext>
                </a:extLst>
              </a:tr>
              <a:tr h="370840">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CGAC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1070281786"/>
                  </a:ext>
                </a:extLst>
              </a:tr>
              <a:tr h="370840">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ACAC</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3925810297"/>
                  </a:ext>
                </a:extLst>
              </a:tr>
            </a:tbl>
          </a:graphicData>
        </a:graphic>
      </p:graphicFrame>
      <p:graphicFrame>
        <p:nvGraphicFramePr>
          <p:cNvPr id="6" name="表格 5">
            <a:extLst>
              <a:ext uri="{FF2B5EF4-FFF2-40B4-BE49-F238E27FC236}">
                <a16:creationId xmlns:a16="http://schemas.microsoft.com/office/drawing/2014/main" xmlns="" id="{D70D9609-1F24-40BB-AD52-9D3965449298}"/>
              </a:ext>
            </a:extLst>
          </p:cNvPr>
          <p:cNvGraphicFramePr>
            <a:graphicFrameLocks noGrp="1"/>
          </p:cNvGraphicFramePr>
          <p:nvPr>
            <p:extLst>
              <p:ext uri="{D42A27DB-BD31-4B8C-83A1-F6EECF244321}">
                <p14:modId xmlns:p14="http://schemas.microsoft.com/office/powerpoint/2010/main" val="2084763989"/>
              </p:ext>
            </p:extLst>
          </p:nvPr>
        </p:nvGraphicFramePr>
        <p:xfrm>
          <a:off x="1367306" y="3702001"/>
          <a:ext cx="6096000" cy="222504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xmlns="" val="3469229412"/>
                    </a:ext>
                  </a:extLst>
                </a:gridCol>
                <a:gridCol w="2032000">
                  <a:extLst>
                    <a:ext uri="{9D8B030D-6E8A-4147-A177-3AD203B41FA5}">
                      <a16:colId xmlns:a16="http://schemas.microsoft.com/office/drawing/2014/main" xmlns="" val="1794881726"/>
                    </a:ext>
                  </a:extLst>
                </a:gridCol>
                <a:gridCol w="2032000">
                  <a:extLst>
                    <a:ext uri="{9D8B030D-6E8A-4147-A177-3AD203B41FA5}">
                      <a16:colId xmlns:a16="http://schemas.microsoft.com/office/drawing/2014/main" xmlns="" val="1806728039"/>
                    </a:ext>
                  </a:extLst>
                </a:gridCol>
              </a:tblGrid>
              <a:tr h="370840">
                <a:tc>
                  <a:txBody>
                    <a:bodyPr/>
                    <a:lstStyle/>
                    <a:p>
                      <a:pPr algn="ctr"/>
                      <a:r>
                        <a:rPr lang="en-US" altLang="zh-TW" dirty="0">
                          <a:latin typeface="Times New Roman" panose="02020603050405020304" pitchFamily="18" charset="0"/>
                          <a:cs typeface="Times New Roman" panose="02020603050405020304" pitchFamily="18" charset="0"/>
                        </a:rPr>
                        <a:t>Index</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Word</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Frequency</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xmlns="" val="4105288967"/>
                  </a:ext>
                </a:extLst>
              </a:tr>
              <a:tr h="370840">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GATA</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xmlns="" val="560517035"/>
                  </a:ext>
                </a:extLst>
              </a:tr>
              <a:tr h="370840">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AATT</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xmlns="" val="1297666499"/>
                  </a:ext>
                </a:extLst>
              </a:tr>
              <a:tr h="37084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CCGG</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xmlns="" val="2475487217"/>
                  </a:ext>
                </a:extLst>
              </a:tr>
              <a:tr h="370840">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CGAC</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xmlns="" val="1070281786"/>
                  </a:ext>
                </a:extLst>
              </a:tr>
              <a:tr h="370840">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ACAC</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xmlns="" val="3925810297"/>
                  </a:ext>
                </a:extLst>
              </a:tr>
            </a:tbl>
          </a:graphicData>
        </a:graphic>
      </p:graphicFrame>
      <p:sp>
        <p:nvSpPr>
          <p:cNvPr id="7" name="矩形 6">
            <a:extLst>
              <a:ext uri="{FF2B5EF4-FFF2-40B4-BE49-F238E27FC236}">
                <a16:creationId xmlns:a16="http://schemas.microsoft.com/office/drawing/2014/main" xmlns="" id="{67F7256C-0056-44CF-B638-211B13269365}"/>
              </a:ext>
            </a:extLst>
          </p:cNvPr>
          <p:cNvSpPr/>
          <p:nvPr/>
        </p:nvSpPr>
        <p:spPr>
          <a:xfrm>
            <a:off x="471956" y="3008103"/>
            <a:ext cx="2641114" cy="498663"/>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Sort by frequency:</a:t>
            </a:r>
          </a:p>
        </p:txBody>
      </p:sp>
      <p:sp>
        <p:nvSpPr>
          <p:cNvPr id="8" name="矩形 7">
            <a:extLst>
              <a:ext uri="{FF2B5EF4-FFF2-40B4-BE49-F238E27FC236}">
                <a16:creationId xmlns:a16="http://schemas.microsoft.com/office/drawing/2014/main" xmlns="" id="{2B959A8E-D9A5-4CA9-AE60-34D9DEEA8A1C}"/>
              </a:ext>
            </a:extLst>
          </p:cNvPr>
          <p:cNvSpPr/>
          <p:nvPr/>
        </p:nvSpPr>
        <p:spPr>
          <a:xfrm>
            <a:off x="471956" y="3008103"/>
            <a:ext cx="2641114" cy="498663"/>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Encode:</a:t>
            </a:r>
          </a:p>
        </p:txBody>
      </p:sp>
      <p:graphicFrame>
        <p:nvGraphicFramePr>
          <p:cNvPr id="9" name="表格 8">
            <a:extLst>
              <a:ext uri="{FF2B5EF4-FFF2-40B4-BE49-F238E27FC236}">
                <a16:creationId xmlns:a16="http://schemas.microsoft.com/office/drawing/2014/main" xmlns="" id="{3D982C55-7197-44E3-89EF-7E66F2DDCDA2}"/>
              </a:ext>
            </a:extLst>
          </p:cNvPr>
          <p:cNvGraphicFramePr>
            <a:graphicFrameLocks noGrp="1"/>
          </p:cNvGraphicFramePr>
          <p:nvPr>
            <p:extLst>
              <p:ext uri="{D42A27DB-BD31-4B8C-83A1-F6EECF244321}">
                <p14:modId xmlns:p14="http://schemas.microsoft.com/office/powerpoint/2010/main" val="484290093"/>
              </p:ext>
            </p:extLst>
          </p:nvPr>
        </p:nvGraphicFramePr>
        <p:xfrm>
          <a:off x="1370102" y="3703601"/>
          <a:ext cx="6096000" cy="222504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xmlns="" val="3469229412"/>
                    </a:ext>
                  </a:extLst>
                </a:gridCol>
                <a:gridCol w="2032000">
                  <a:extLst>
                    <a:ext uri="{9D8B030D-6E8A-4147-A177-3AD203B41FA5}">
                      <a16:colId xmlns:a16="http://schemas.microsoft.com/office/drawing/2014/main" xmlns="" val="1794881726"/>
                    </a:ext>
                  </a:extLst>
                </a:gridCol>
                <a:gridCol w="2032000">
                  <a:extLst>
                    <a:ext uri="{9D8B030D-6E8A-4147-A177-3AD203B41FA5}">
                      <a16:colId xmlns:a16="http://schemas.microsoft.com/office/drawing/2014/main" xmlns="" val="1806728039"/>
                    </a:ext>
                  </a:extLst>
                </a:gridCol>
              </a:tblGrid>
              <a:tr h="370840">
                <a:tc>
                  <a:txBody>
                    <a:bodyPr/>
                    <a:lstStyle/>
                    <a:p>
                      <a:pPr algn="ctr"/>
                      <a:r>
                        <a:rPr lang="en-US" altLang="zh-TW" dirty="0">
                          <a:latin typeface="Times New Roman" panose="02020603050405020304" pitchFamily="18" charset="0"/>
                          <a:cs typeface="Times New Roman" panose="02020603050405020304" pitchFamily="18" charset="0"/>
                        </a:rPr>
                        <a:t>Index</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Word</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Code</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xmlns="" val="4105288967"/>
                  </a:ext>
                </a:extLst>
              </a:tr>
              <a:tr h="370840">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GATA</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01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xmlns="" val="560517035"/>
                  </a:ext>
                </a:extLst>
              </a:tr>
              <a:tr h="370840">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AATT</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10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xmlns="" val="1297666499"/>
                  </a:ext>
                </a:extLst>
              </a:tr>
              <a:tr h="37084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CCGG</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0001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xmlns="" val="2475487217"/>
                  </a:ext>
                </a:extLst>
              </a:tr>
              <a:tr h="370840">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CGAC</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0010</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xmlns="" val="1070281786"/>
                  </a:ext>
                </a:extLst>
              </a:tr>
              <a:tr h="370840">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ACAC</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tc>
                  <a:txBody>
                    <a:bodyPr/>
                    <a:lstStyle/>
                    <a:p>
                      <a:pPr algn="ctr"/>
                      <a:r>
                        <a:rPr lang="en-US" altLang="zh-TW" dirty="0">
                          <a:latin typeface="Times New Roman" panose="02020603050405020304" pitchFamily="18" charset="0"/>
                          <a:cs typeface="Times New Roman" panose="02020603050405020304" pitchFamily="18" charset="0"/>
                        </a:rPr>
                        <a:t>1101</a:t>
                      </a:r>
                      <a:endParaRPr lang="zh-TW" altLang="en-US" dirty="0">
                        <a:latin typeface="Times New Roman" panose="02020603050405020304" pitchFamily="18" charset="0"/>
                        <a:cs typeface="Times New Roman" panose="02020603050405020304" pitchFamily="18" charset="0"/>
                      </a:endParaRPr>
                    </a:p>
                  </a:txBody>
                  <a:tcPr anchor="ctr">
                    <a:solidFill>
                      <a:schemeClr val="bg1"/>
                    </a:solidFill>
                  </a:tcPr>
                </a:tc>
                <a:extLst>
                  <a:ext uri="{0D108BD9-81ED-4DB2-BD59-A6C34878D82A}">
                    <a16:rowId xmlns:a16="http://schemas.microsoft.com/office/drawing/2014/main" xmlns="" val="3925810297"/>
                  </a:ext>
                </a:extLst>
              </a:tr>
            </a:tbl>
          </a:graphicData>
        </a:graphic>
      </p:graphicFrame>
      <p:sp>
        <p:nvSpPr>
          <p:cNvPr id="10" name="矩形 9">
            <a:extLst>
              <a:ext uri="{FF2B5EF4-FFF2-40B4-BE49-F238E27FC236}">
                <a16:creationId xmlns:a16="http://schemas.microsoft.com/office/drawing/2014/main" xmlns="" id="{5CD7A1E2-9361-4308-840E-B66F24CB0046}"/>
              </a:ext>
            </a:extLst>
          </p:cNvPr>
          <p:cNvSpPr/>
          <p:nvPr/>
        </p:nvSpPr>
        <p:spPr>
          <a:xfrm>
            <a:off x="485026" y="2521747"/>
            <a:ext cx="7886699"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T = </a:t>
            </a:r>
            <a:r>
              <a:rPr lang="en-US" altLang="zh-TW" sz="2000" dirty="0">
                <a:latin typeface="Arial Black" panose="020B0A04020102020204" pitchFamily="34" charset="0"/>
                <a:cs typeface="AngsanaUPC" panose="020B0502040204020203" pitchFamily="18" charset="-34"/>
              </a:rPr>
              <a:t>AATT CCGG GATA</a:t>
            </a:r>
            <a:r>
              <a:rPr lang="zh-TW" altLang="en-US" sz="2000" dirty="0">
                <a:latin typeface="Arial Black" panose="020B0A04020102020204" pitchFamily="34" charset="0"/>
                <a:cs typeface="AngsanaUPC" panose="020B0502040204020203" pitchFamily="18" charset="-34"/>
              </a:rPr>
              <a:t> </a:t>
            </a:r>
            <a:r>
              <a:rPr lang="en-US" altLang="zh-TW" sz="2000" dirty="0">
                <a:latin typeface="Arial Black" panose="020B0A04020102020204" pitchFamily="34" charset="0"/>
                <a:cs typeface="AngsanaUPC" panose="020B0502040204020203" pitchFamily="18" charset="-34"/>
              </a:rPr>
              <a:t>CGAC</a:t>
            </a:r>
            <a:r>
              <a:rPr lang="zh-TW" altLang="en-US" sz="2000" dirty="0">
                <a:latin typeface="Arial Black" panose="020B0A04020102020204" pitchFamily="34" charset="0"/>
                <a:cs typeface="AngsanaUPC" panose="020B0502040204020203" pitchFamily="18" charset="-34"/>
              </a:rPr>
              <a:t> </a:t>
            </a:r>
            <a:r>
              <a:rPr lang="en-US" altLang="zh-TW" sz="2000" dirty="0">
                <a:latin typeface="Arial Black" panose="020B0A04020102020204" pitchFamily="34" charset="0"/>
                <a:cs typeface="AngsanaUPC" panose="020B0502040204020203" pitchFamily="18" charset="-34"/>
              </a:rPr>
              <a:t>AATT</a:t>
            </a:r>
            <a:r>
              <a:rPr lang="zh-TW" altLang="en-US" sz="2000" dirty="0">
                <a:latin typeface="Arial Black" panose="020B0A04020102020204" pitchFamily="34" charset="0"/>
                <a:cs typeface="AngsanaUPC" panose="020B0502040204020203" pitchFamily="18" charset="-34"/>
              </a:rPr>
              <a:t> </a:t>
            </a:r>
            <a:r>
              <a:rPr lang="en-US" altLang="zh-TW" sz="2000" dirty="0">
                <a:latin typeface="Arial Black" panose="020B0A04020102020204" pitchFamily="34" charset="0"/>
                <a:cs typeface="AngsanaUPC" panose="020B0502040204020203" pitchFamily="18" charset="-34"/>
              </a:rPr>
              <a:t>GATA</a:t>
            </a:r>
            <a:r>
              <a:rPr lang="zh-TW" altLang="en-US" sz="2000" dirty="0">
                <a:latin typeface="Arial Black" panose="020B0A04020102020204" pitchFamily="34" charset="0"/>
                <a:cs typeface="AngsanaUPC" panose="020B0502040204020203" pitchFamily="18" charset="-34"/>
              </a:rPr>
              <a:t> </a:t>
            </a:r>
            <a:r>
              <a:rPr lang="en-US" altLang="zh-TW" sz="2000" dirty="0">
                <a:latin typeface="Arial Black" panose="020B0A04020102020204" pitchFamily="34" charset="0"/>
                <a:cs typeface="AngsanaUPC" panose="020B0502040204020203" pitchFamily="18" charset="-34"/>
              </a:rPr>
              <a:t>GATA</a:t>
            </a:r>
            <a:r>
              <a:rPr lang="zh-TW" altLang="en-US" sz="2000" dirty="0">
                <a:latin typeface="Arial Black" panose="020B0A04020102020204" pitchFamily="34" charset="0"/>
                <a:cs typeface="AngsanaUPC" panose="020B0502040204020203" pitchFamily="18" charset="-34"/>
              </a:rPr>
              <a:t> </a:t>
            </a:r>
            <a:r>
              <a:rPr lang="en-US" altLang="zh-TW" sz="2000" dirty="0">
                <a:latin typeface="Arial Black" panose="020B0A04020102020204" pitchFamily="34" charset="0"/>
                <a:cs typeface="AngsanaUPC" panose="020B0502040204020203" pitchFamily="18" charset="-34"/>
              </a:rPr>
              <a:t>ACAC</a:t>
            </a:r>
          </a:p>
        </p:txBody>
      </p:sp>
    </p:spTree>
    <p:extLst>
      <p:ext uri="{BB962C8B-B14F-4D97-AF65-F5344CB8AC3E}">
        <p14:creationId xmlns:p14="http://schemas.microsoft.com/office/powerpoint/2010/main" val="807644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 presetClass="exit" presetSubtype="0" fill="hold" grpId="1" nodeType="withEffect">
                                  <p:stCondLst>
                                    <p:cond delay="0"/>
                                  </p:stCondLst>
                                  <p:childTnLst>
                                    <p:set>
                                      <p:cBhvr>
                                        <p:cTn id="17" dur="1" fill="hold">
                                          <p:stCondLst>
                                            <p:cond delay="0"/>
                                          </p:stCondLst>
                                        </p:cTn>
                                        <p:tgtEl>
                                          <p:spTgt spid="7"/>
                                        </p:tgtEl>
                                        <p:attrNameLst>
                                          <p:attrName>style.visibility</p:attrName>
                                        </p:attrNameLst>
                                      </p:cBhvr>
                                      <p:to>
                                        <p:strVal val="hidden"/>
                                      </p:to>
                                    </p:set>
                                  </p:childTnLst>
                                </p:cTn>
                              </p:par>
                              <p:par>
                                <p:cTn id="18" presetID="10" presetClass="entr" presetSubtype="0" fill="hold"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Predecessor String</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10</a:t>
            </a:fld>
            <a:endParaRPr lang="zh-TW" altLang="en-US"/>
          </a:p>
        </p:txBody>
      </p:sp>
      <mc:AlternateContent xmlns:mc="http://schemas.openxmlformats.org/markup-compatibility/2006">
        <mc:Choice xmlns:a14="http://schemas.microsoft.com/office/drawing/2010/main" Requires="a14">
          <p:sp>
            <p:nvSpPr>
              <p:cNvPr id="5" name="標題 1">
                <a:extLst>
                  <a:ext uri="{FF2B5EF4-FFF2-40B4-BE49-F238E27FC236}">
                    <a16:creationId xmlns:a16="http://schemas.microsoft.com/office/drawing/2014/main" xmlns="" id="{D9F990F9-0F9A-4E3F-97AA-2A21F1BCF171}"/>
                  </a:ext>
                </a:extLst>
              </p:cNvPr>
              <p:cNvSpPr txBox="1">
                <a:spLocks/>
              </p:cNvSpPr>
              <p:nvPr/>
            </p:nvSpPr>
            <p:spPr>
              <a:xfrm>
                <a:off x="471956" y="1133916"/>
                <a:ext cx="7886700" cy="1732574"/>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For String S = </a:t>
                </a:r>
                <a14:m>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𝑆</m:t>
                        </m:r>
                      </m:e>
                      <m:sub>
                        <m:r>
                          <a:rPr lang="en-US" altLang="zh-TW" sz="2400" b="0" i="1" smtClean="0">
                            <a:latin typeface="Cambria Math" panose="02040503050406030204" pitchFamily="18" charset="0"/>
                            <a:cs typeface="Times New Roman" panose="02020603050405020304" pitchFamily="18" charset="0"/>
                          </a:rPr>
                          <m:t>1</m:t>
                        </m:r>
                      </m:sub>
                    </m:sSub>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𝑆</m:t>
                        </m:r>
                      </m:e>
                      <m:sub>
                        <m:r>
                          <a:rPr lang="en-US" altLang="zh-TW" sz="2400" b="0" i="1" smtClean="0">
                            <a:latin typeface="Cambria Math" panose="02040503050406030204" pitchFamily="18" charset="0"/>
                            <a:cs typeface="Times New Roman" panose="02020603050405020304" pitchFamily="18" charset="0"/>
                          </a:rPr>
                          <m:t>2</m:t>
                        </m:r>
                      </m:sub>
                    </m:sSub>
                    <m:r>
                      <a:rPr lang="en-US" altLang="zh-TW" sz="2400" b="0" i="1" smtClean="0">
                        <a:latin typeface="Cambria Math" panose="02040503050406030204" pitchFamily="18" charset="0"/>
                        <a:cs typeface="Times New Roman" panose="02020603050405020304" pitchFamily="18" charset="0"/>
                      </a:rPr>
                      <m:t>, …,</m:t>
                    </m:r>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𝑆</m:t>
                        </m:r>
                      </m:e>
                      <m:sub>
                        <m:r>
                          <a:rPr lang="en-US" altLang="zh-TW" sz="2400" b="0" i="1" smtClean="0">
                            <a:latin typeface="Cambria Math" panose="02040503050406030204" pitchFamily="18" charset="0"/>
                            <a:cs typeface="Times New Roman" panose="02020603050405020304" pitchFamily="18" charset="0"/>
                          </a:rPr>
                          <m:t>𝑖</m:t>
                        </m:r>
                      </m:sub>
                    </m:sSub>
                    <m:r>
                      <a:rPr lang="en-US" altLang="zh-TW" sz="2400" b="0" i="1" smtClean="0">
                        <a:latin typeface="Cambria Math" panose="02040503050406030204" pitchFamily="18" charset="0"/>
                        <a:cs typeface="Times New Roman" panose="02020603050405020304" pitchFamily="18" charset="0"/>
                      </a:rPr>
                      <m:t>, …</m:t>
                    </m:r>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𝑆</m:t>
                        </m:r>
                      </m:e>
                      <m:sub>
                        <m:r>
                          <a:rPr lang="en-US" altLang="zh-TW" sz="2400" b="0" i="1" smtClean="0">
                            <a:latin typeface="Cambria Math" panose="02040503050406030204" pitchFamily="18" charset="0"/>
                            <a:cs typeface="Times New Roman" panose="02020603050405020304" pitchFamily="18" charset="0"/>
                          </a:rPr>
                          <m:t>𝑛</m:t>
                        </m:r>
                      </m:sub>
                    </m:sSub>
                  </m:oMath>
                </a14:m>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Pred</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 =</a:t>
                </a:r>
                <a14:m>
                  <m:oMath xmlns:m="http://schemas.openxmlformats.org/officeDocument/2006/math">
                    <m:sSub>
                      <m:sSubPr>
                        <m:ctrlPr>
                          <a:rPr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𝑃</m:t>
                        </m:r>
                      </m:e>
                      <m:sub>
                        <m:r>
                          <a:rPr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1</m:t>
                        </m:r>
                      </m:sub>
                    </m:sSub>
                    <m:sSub>
                      <m:sSubPr>
                        <m:ctrlPr>
                          <a:rPr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𝑃</m:t>
                        </m:r>
                      </m:e>
                      <m:sub>
                        <m:r>
                          <a:rPr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2</m:t>
                        </m:r>
                      </m:sub>
                    </m:sSub>
                    <m:r>
                      <a:rPr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𝑃</m:t>
                        </m:r>
                      </m:e>
                      <m:sub>
                        <m:r>
                          <a:rPr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𝑖</m:t>
                        </m:r>
                      </m:sub>
                    </m:sSub>
                    <m:r>
                      <a:rPr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m:t>
                    </m:r>
                    <m:sSub>
                      <m:sSubPr>
                        <m:ctrlPr>
                          <a:rPr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ctrlPr>
                      </m:sSubPr>
                      <m:e>
                        <m:r>
                          <a:rPr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𝑃</m:t>
                        </m:r>
                      </m:e>
                      <m:sub>
                        <m:r>
                          <a:rPr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𝑛</m:t>
                        </m:r>
                      </m:sub>
                    </m:sSub>
                  </m:oMath>
                </a14:m>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p>
              <a:p>
                <a:pPr marL="342900" indent="-342900">
                  <a:lnSpc>
                    <a:spcPct val="150000"/>
                  </a:lnSpc>
                  <a:buFont typeface="Arial" panose="020B0604020202020204" pitchFamily="34" charset="0"/>
                  <a:buChar char="•"/>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if </a:t>
                </a:r>
                <a14:m>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𝑆</m:t>
                        </m:r>
                      </m:e>
                      <m:sub>
                        <m:r>
                          <a:rPr lang="en-US" altLang="zh-TW" sz="2400" b="0" i="1" smtClean="0">
                            <a:latin typeface="Cambria Math" panose="02040503050406030204" pitchFamily="18" charset="0"/>
                            <a:cs typeface="Times New Roman" panose="02020603050405020304" pitchFamily="18" charset="0"/>
                          </a:rPr>
                          <m:t>𝑖</m:t>
                        </m:r>
                      </m:sub>
                    </m:sSub>
                  </m:oMath>
                </a14:m>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字元第一次出現，</a:t>
                </a:r>
                <a14:m>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𝑃</m:t>
                        </m:r>
                      </m:e>
                      <m:sub>
                        <m:r>
                          <a:rPr lang="en-US" altLang="zh-TW" sz="2400" b="0" i="1" smtClean="0">
                            <a:latin typeface="Cambria Math" panose="02040503050406030204" pitchFamily="18" charset="0"/>
                            <a:cs typeface="Times New Roman" panose="02020603050405020304" pitchFamily="18" charset="0"/>
                          </a:rPr>
                          <m:t>𝑖</m:t>
                        </m:r>
                      </m:sub>
                    </m:sSub>
                  </m:oMath>
                </a14:m>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 0</a:t>
                </a:r>
              </a:p>
              <a:p>
                <a:pPr marL="342900" indent="-342900">
                  <a:lnSpc>
                    <a:spcPct val="150000"/>
                  </a:lnSpc>
                  <a:buFont typeface="Arial" panose="020B0604020202020204" pitchFamily="34" charset="0"/>
                  <a:buChar char="•"/>
                </a:pP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若否，</a:t>
                </a:r>
                <a14:m>
                  <m:oMath xmlns:m="http://schemas.openxmlformats.org/officeDocument/2006/math">
                    <m:sSub>
                      <m:sSubPr>
                        <m:ctrlPr>
                          <a:rPr lang="en-US" altLang="zh-TW" sz="2400" i="1">
                            <a:latin typeface="Cambria Math" panose="02040503050406030204" pitchFamily="18" charset="0"/>
                            <a:cs typeface="Times New Roman" panose="02020603050405020304" pitchFamily="18" charset="0"/>
                          </a:rPr>
                        </m:ctrlPr>
                      </m:sSubPr>
                      <m:e>
                        <m:r>
                          <a:rPr lang="en-US" altLang="zh-TW" sz="2400" i="1">
                            <a:latin typeface="Cambria Math" panose="02040503050406030204" pitchFamily="18" charset="0"/>
                            <a:cs typeface="Times New Roman" panose="02020603050405020304" pitchFamily="18" charset="0"/>
                          </a:rPr>
                          <m:t>𝑃</m:t>
                        </m:r>
                      </m:e>
                      <m:sub>
                        <m:r>
                          <a:rPr lang="en-US" altLang="zh-TW" sz="2400" i="1">
                            <a:latin typeface="Cambria Math" panose="02040503050406030204" pitchFamily="18" charset="0"/>
                            <a:cs typeface="Times New Roman" panose="02020603050405020304" pitchFamily="18" charset="0"/>
                          </a:rPr>
                          <m:t>𝑖</m:t>
                        </m:r>
                      </m:sub>
                    </m:sSub>
                  </m:oMath>
                </a14:m>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14:m>
                  <m:oMath xmlns:m="http://schemas.openxmlformats.org/officeDocument/2006/math">
                    <m:r>
                      <a:rPr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𝑖</m:t>
                    </m:r>
                    <m:r>
                      <a:rPr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m:t>
                    </m:r>
                    <m:r>
                      <a:rPr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𝑗</m:t>
                    </m:r>
                  </m:oMath>
                </a14:m>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14:m>
                  <m:oMath xmlns:m="http://schemas.openxmlformats.org/officeDocument/2006/math">
                    <m:r>
                      <a:rPr lang="en-US" altLang="zh-TW" sz="2400" b="0" i="1" dirty="0" smtClean="0">
                        <a:latin typeface="Cambria Math" panose="02040503050406030204" pitchFamily="18" charset="0"/>
                        <a:ea typeface="標楷體" panose="03000509000000000000" pitchFamily="65" charset="-120"/>
                        <a:cs typeface="Times New Roman" panose="02020603050405020304" pitchFamily="18" charset="0"/>
                      </a:rPr>
                      <m:t>𝑗</m:t>
                    </m:r>
                    <m:r>
                      <a:rPr lang="zh-TW" altLang="en-US" sz="2400" i="1" dirty="0">
                        <a:latin typeface="Cambria Math" panose="02040503050406030204" pitchFamily="18" charset="0"/>
                        <a:ea typeface="標楷體" panose="03000509000000000000" pitchFamily="65" charset="-120"/>
                        <a:cs typeface="Times New Roman" panose="02020603050405020304" pitchFamily="18" charset="0"/>
                      </a:rPr>
                      <m:t>為</m:t>
                    </m:r>
                  </m:oMath>
                </a14:m>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該字元前一次出現的</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index</a:t>
                </a:r>
                <a14:m>
                  <m:oMath xmlns:m="http://schemas.openxmlformats.org/officeDocument/2006/math">
                    <m:r>
                      <a:rPr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 </m:t>
                    </m:r>
                    <m:r>
                      <a:rPr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&lt;</m:t>
                    </m:r>
                    <m:r>
                      <a:rPr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𝑖</m:t>
                    </m:r>
                    <m:r>
                      <a:rPr lang="en-US" altLang="zh-TW" sz="2400" b="0" i="1" smtClean="0">
                        <a:latin typeface="Cambria Math" panose="02040503050406030204" pitchFamily="18" charset="0"/>
                        <a:ea typeface="標楷體" panose="03000509000000000000" pitchFamily="65" charset="-120"/>
                        <a:cs typeface="Times New Roman" panose="02020603050405020304" pitchFamily="18" charset="0"/>
                      </a:rPr>
                      <m:t>)</m:t>
                    </m:r>
                  </m:oMath>
                </a14:m>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p:sp>
            <p:nvSpPr>
              <p:cNvPr id="5" name="標題 1">
                <a:extLst>
                  <a:ext uri="{FF2B5EF4-FFF2-40B4-BE49-F238E27FC236}">
                    <a16:creationId xmlns:a16="http://schemas.microsoft.com/office/drawing/2014/main" xmlns:a14="http://schemas.microsoft.com/office/drawing/2010/main" xmlns="" id="{D9F990F9-0F9A-4E3F-97AA-2A21F1BCF171}"/>
                  </a:ext>
                </a:extLst>
              </p:cNvPr>
              <p:cNvSpPr txBox="1">
                <a:spLocks noRot="1" noChangeAspect="1" noMove="1" noResize="1" noEditPoints="1" noAdjustHandles="1" noChangeArrowheads="1" noChangeShapeType="1" noTextEdit="1"/>
              </p:cNvSpPr>
              <p:nvPr/>
            </p:nvSpPr>
            <p:spPr>
              <a:xfrm>
                <a:off x="471956" y="1133916"/>
                <a:ext cx="7886700" cy="1732574"/>
              </a:xfrm>
              <a:prstGeom prst="rect">
                <a:avLst/>
              </a:prstGeom>
              <a:blipFill rotWithShape="0">
                <a:blip r:embed="rId3"/>
                <a:stretch>
                  <a:fillRect l="-1159" b="-2113"/>
                </a:stretch>
              </a:blipFill>
            </p:spPr>
            <p:txBody>
              <a:bodyPr/>
              <a:lstStyle/>
              <a:p>
                <a:r>
                  <a:rPr lang="zh-TW" altLang="en-US">
                    <a:noFill/>
                  </a:rPr>
                  <a:t> </a:t>
                </a:r>
              </a:p>
            </p:txBody>
          </p:sp>
        </mc:Fallback>
      </mc:AlternateContent>
      <p:sp>
        <p:nvSpPr>
          <p:cNvPr id="6" name="標題 1">
            <a:extLst>
              <a:ext uri="{FF2B5EF4-FFF2-40B4-BE49-F238E27FC236}">
                <a16:creationId xmlns:a16="http://schemas.microsoft.com/office/drawing/2014/main" xmlns="" id="{BA91F1E1-3116-4251-8843-792B4E20A1E8}"/>
              </a:ext>
            </a:extLst>
          </p:cNvPr>
          <p:cNvSpPr txBox="1">
            <a:spLocks/>
          </p:cNvSpPr>
          <p:nvPr/>
        </p:nvSpPr>
        <p:spPr>
          <a:xfrm>
            <a:off x="636998" y="3055634"/>
            <a:ext cx="7105209" cy="7728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TW" sz="2400" dirty="0">
                <a:latin typeface="Times New Roman" panose="02020603050405020304" pitchFamily="18" charset="0"/>
                <a:ea typeface="BatangChe" panose="020B0503020000020004" pitchFamily="49" charset="-127"/>
                <a:cs typeface="Times New Roman" panose="02020603050405020304" pitchFamily="18" charset="0"/>
              </a:rPr>
              <a:t>S = A C </a:t>
            </a:r>
            <a:r>
              <a:rPr lang="en-US" altLang="zh-TW" sz="2400" dirty="0" err="1">
                <a:latin typeface="Times New Roman" panose="02020603050405020304" pitchFamily="18" charset="0"/>
                <a:ea typeface="BatangChe" panose="020B0503020000020004" pitchFamily="49" charset="-127"/>
                <a:cs typeface="Times New Roman" panose="02020603050405020304" pitchFamily="18" charset="0"/>
              </a:rPr>
              <a:t>C</a:t>
            </a:r>
            <a:r>
              <a:rPr lang="en-US" altLang="zh-TW" sz="2400" dirty="0">
                <a:latin typeface="Times New Roman" panose="02020603050405020304" pitchFamily="18" charset="0"/>
                <a:ea typeface="BatangChe" panose="020B0503020000020004" pitchFamily="49" charset="-127"/>
                <a:cs typeface="Times New Roman" panose="02020603050405020304" pitchFamily="18" charset="0"/>
              </a:rPr>
              <a:t> A T G A G</a:t>
            </a:r>
          </a:p>
        </p:txBody>
      </p:sp>
      <p:graphicFrame>
        <p:nvGraphicFramePr>
          <p:cNvPr id="8" name="表格 7">
            <a:extLst>
              <a:ext uri="{FF2B5EF4-FFF2-40B4-BE49-F238E27FC236}">
                <a16:creationId xmlns:a16="http://schemas.microsoft.com/office/drawing/2014/main" xmlns="" id="{7E609720-C0AC-428A-B144-35E631E86011}"/>
              </a:ext>
            </a:extLst>
          </p:cNvPr>
          <p:cNvGraphicFramePr>
            <a:graphicFrameLocks noGrp="1"/>
          </p:cNvGraphicFramePr>
          <p:nvPr>
            <p:extLst>
              <p:ext uri="{D42A27DB-BD31-4B8C-83A1-F6EECF244321}">
                <p14:modId xmlns:p14="http://schemas.microsoft.com/office/powerpoint/2010/main" val="1088646436"/>
              </p:ext>
            </p:extLst>
          </p:nvPr>
        </p:nvGraphicFramePr>
        <p:xfrm>
          <a:off x="636997" y="3780466"/>
          <a:ext cx="6384848" cy="741680"/>
        </p:xfrm>
        <a:graphic>
          <a:graphicData uri="http://schemas.openxmlformats.org/drawingml/2006/table">
            <a:tbl>
              <a:tblPr firstRow="1" bandRow="1">
                <a:tableStyleId>{5940675A-B579-460E-94D1-54222C63F5DA}</a:tableStyleId>
              </a:tblPr>
              <a:tblGrid>
                <a:gridCol w="973688">
                  <a:extLst>
                    <a:ext uri="{9D8B030D-6E8A-4147-A177-3AD203B41FA5}">
                      <a16:colId xmlns:a16="http://schemas.microsoft.com/office/drawing/2014/main" xmlns="" val="3469229412"/>
                    </a:ext>
                  </a:extLst>
                </a:gridCol>
                <a:gridCol w="676395">
                  <a:extLst>
                    <a:ext uri="{9D8B030D-6E8A-4147-A177-3AD203B41FA5}">
                      <a16:colId xmlns:a16="http://schemas.microsoft.com/office/drawing/2014/main" xmlns="" val="1794881726"/>
                    </a:ext>
                  </a:extLst>
                </a:gridCol>
                <a:gridCol w="676395">
                  <a:extLst>
                    <a:ext uri="{9D8B030D-6E8A-4147-A177-3AD203B41FA5}">
                      <a16:colId xmlns:a16="http://schemas.microsoft.com/office/drawing/2014/main" xmlns="" val="1806728039"/>
                    </a:ext>
                  </a:extLst>
                </a:gridCol>
                <a:gridCol w="676395">
                  <a:extLst>
                    <a:ext uri="{9D8B030D-6E8A-4147-A177-3AD203B41FA5}">
                      <a16:colId xmlns:a16="http://schemas.microsoft.com/office/drawing/2014/main" xmlns="" val="3981656380"/>
                    </a:ext>
                  </a:extLst>
                </a:gridCol>
                <a:gridCol w="676395">
                  <a:extLst>
                    <a:ext uri="{9D8B030D-6E8A-4147-A177-3AD203B41FA5}">
                      <a16:colId xmlns:a16="http://schemas.microsoft.com/office/drawing/2014/main" xmlns="" val="1053245925"/>
                    </a:ext>
                  </a:extLst>
                </a:gridCol>
                <a:gridCol w="676395">
                  <a:extLst>
                    <a:ext uri="{9D8B030D-6E8A-4147-A177-3AD203B41FA5}">
                      <a16:colId xmlns:a16="http://schemas.microsoft.com/office/drawing/2014/main" xmlns="" val="2326141562"/>
                    </a:ext>
                  </a:extLst>
                </a:gridCol>
                <a:gridCol w="676395">
                  <a:extLst>
                    <a:ext uri="{9D8B030D-6E8A-4147-A177-3AD203B41FA5}">
                      <a16:colId xmlns:a16="http://schemas.microsoft.com/office/drawing/2014/main" xmlns="" val="3423608150"/>
                    </a:ext>
                  </a:extLst>
                </a:gridCol>
                <a:gridCol w="676395">
                  <a:extLst>
                    <a:ext uri="{9D8B030D-6E8A-4147-A177-3AD203B41FA5}">
                      <a16:colId xmlns:a16="http://schemas.microsoft.com/office/drawing/2014/main" xmlns="" val="3132495097"/>
                    </a:ext>
                  </a:extLst>
                </a:gridCol>
                <a:gridCol w="676395">
                  <a:extLst>
                    <a:ext uri="{9D8B030D-6E8A-4147-A177-3AD203B41FA5}">
                      <a16:colId xmlns:a16="http://schemas.microsoft.com/office/drawing/2014/main" xmlns="" val="946835595"/>
                    </a:ext>
                  </a:extLst>
                </a:gridCol>
              </a:tblGrid>
              <a:tr h="370840">
                <a:tc>
                  <a:txBody>
                    <a:bodyPr/>
                    <a:lstStyle/>
                    <a:p>
                      <a:pPr algn="ctr"/>
                      <a:r>
                        <a:rPr lang="en-US" altLang="zh-TW" dirty="0">
                          <a:latin typeface="Times New Roman" panose="02020603050405020304" pitchFamily="18" charset="0"/>
                          <a:cs typeface="Times New Roman" panose="02020603050405020304" pitchFamily="18" charset="0"/>
                        </a:rPr>
                        <a:t>S</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C</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T</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G</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G</a:t>
                      </a:r>
                      <a:endParaRPr lang="zh-TW" altLang="en-US"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xmlns="" val="4105288967"/>
                  </a:ext>
                </a:extLst>
              </a:tr>
              <a:tr h="370840">
                <a:tc>
                  <a:txBody>
                    <a:bodyPr/>
                    <a:lstStyle/>
                    <a:p>
                      <a:pPr algn="ctr"/>
                      <a:r>
                        <a:rPr lang="en-US" altLang="zh-TW" sz="1800" dirty="0" err="1">
                          <a:latin typeface="Times New Roman" panose="02020603050405020304" pitchFamily="18" charset="0"/>
                          <a:ea typeface="BatangChe" panose="020B0503020000020004" pitchFamily="49" charset="-127"/>
                          <a:cs typeface="Times New Roman" panose="02020603050405020304" pitchFamily="18" charset="0"/>
                        </a:rPr>
                        <a:t>Pred</a:t>
                      </a:r>
                      <a:r>
                        <a:rPr lang="en-US" altLang="zh-TW" sz="1800" dirty="0">
                          <a:latin typeface="Times New Roman" panose="02020603050405020304" pitchFamily="18" charset="0"/>
                          <a:ea typeface="BatangChe" panose="020B0503020000020004" pitchFamily="49" charset="-127"/>
                          <a:cs typeface="Times New Roman" panose="02020603050405020304" pitchFamily="18" charset="0"/>
                        </a:rPr>
                        <a:t>(S)</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xmlns="" val="560517035"/>
                  </a:ext>
                </a:extLst>
              </a:tr>
            </a:tbl>
          </a:graphicData>
        </a:graphic>
      </p:graphicFrame>
      <mc:AlternateContent xmlns:mc="http://schemas.openxmlformats.org/markup-compatibility/2006" xmlns:a14="http://schemas.microsoft.com/office/drawing/2010/main">
        <mc:Choice Requires="a14">
          <p:sp>
            <p:nvSpPr>
              <p:cNvPr id="9" name="標題 1">
                <a:extLst>
                  <a:ext uri="{FF2B5EF4-FFF2-40B4-BE49-F238E27FC236}">
                    <a16:creationId xmlns:a16="http://schemas.microsoft.com/office/drawing/2014/main" xmlns="" id="{03434661-8CCE-4289-8198-CD569CCFC416}"/>
                  </a:ext>
                </a:extLst>
              </p:cNvPr>
              <p:cNvSpPr txBox="1">
                <a:spLocks/>
              </p:cNvSpPr>
              <p:nvPr/>
            </p:nvSpPr>
            <p:spPr>
              <a:xfrm>
                <a:off x="636997" y="4683200"/>
                <a:ext cx="7105209" cy="772894"/>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TW" sz="2400" dirty="0">
                    <a:solidFill>
                      <a:srgbClr val="0070C0"/>
                    </a:solidFill>
                    <a:latin typeface="Times New Roman" panose="02020603050405020304" pitchFamily="18" charset="0"/>
                    <a:ea typeface="BatangChe" panose="020B0503020000020004" pitchFamily="49" charset="-127"/>
                    <a:cs typeface="Times New Roman" panose="02020603050405020304" pitchFamily="18" charset="0"/>
                  </a:rPr>
                  <a:t>If word </a:t>
                </a:r>
                <a14:m>
                  <m:oMath xmlns:m="http://schemas.openxmlformats.org/officeDocument/2006/math">
                    <m:sSub>
                      <m:sSubPr>
                        <m:ctrlPr>
                          <a:rPr lang="en-US" altLang="zh-TW" sz="2400" b="0" i="1" smtClean="0">
                            <a:solidFill>
                              <a:srgbClr val="0070C0"/>
                            </a:solidFill>
                            <a:latin typeface="Cambria Math" panose="02040503050406030204" pitchFamily="18" charset="0"/>
                            <a:ea typeface="BatangChe" panose="020B0503020000020004" pitchFamily="49" charset="-127"/>
                            <a:cs typeface="Times New Roman" panose="02020603050405020304" pitchFamily="18" charset="0"/>
                          </a:rPr>
                        </m:ctrlPr>
                      </m:sSubPr>
                      <m:e>
                        <m:r>
                          <a:rPr lang="en-US" altLang="zh-TW" sz="2400" b="0" i="1" smtClean="0">
                            <a:solidFill>
                              <a:srgbClr val="0070C0"/>
                            </a:solidFill>
                            <a:latin typeface="Cambria Math" panose="02040503050406030204" pitchFamily="18" charset="0"/>
                            <a:ea typeface="BatangChe" panose="020B0503020000020004" pitchFamily="49" charset="-127"/>
                            <a:cs typeface="Times New Roman" panose="02020603050405020304" pitchFamily="18" charset="0"/>
                          </a:rPr>
                          <m:t>𝑊</m:t>
                        </m:r>
                      </m:e>
                      <m:sub>
                        <m:r>
                          <a:rPr lang="en-US" altLang="zh-TW" sz="2400" b="0" i="1" smtClean="0">
                            <a:solidFill>
                              <a:srgbClr val="0070C0"/>
                            </a:solidFill>
                            <a:latin typeface="Cambria Math" panose="02040503050406030204" pitchFamily="18" charset="0"/>
                            <a:ea typeface="BatangChe" panose="020B0503020000020004" pitchFamily="49" charset="-127"/>
                            <a:cs typeface="Times New Roman" panose="02020603050405020304" pitchFamily="18" charset="0"/>
                          </a:rPr>
                          <m:t>1</m:t>
                        </m:r>
                      </m:sub>
                    </m:sSub>
                  </m:oMath>
                </a14:m>
                <a:r>
                  <a:rPr lang="en-US" altLang="zh-TW" sz="2400" dirty="0">
                    <a:solidFill>
                      <a:srgbClr val="0070C0"/>
                    </a:solidFill>
                    <a:latin typeface="Times New Roman" panose="02020603050405020304" pitchFamily="18" charset="0"/>
                    <a:ea typeface="BatangChe" panose="020B0503020000020004" pitchFamily="49" charset="-127"/>
                    <a:cs typeface="Times New Roman" panose="02020603050405020304" pitchFamily="18" charset="0"/>
                  </a:rPr>
                  <a:t> p-matches word </a:t>
                </a:r>
                <a14:m>
                  <m:oMath xmlns:m="http://schemas.openxmlformats.org/officeDocument/2006/math">
                    <m:sSub>
                      <m:sSubPr>
                        <m:ctrlPr>
                          <a:rPr lang="en-US" altLang="zh-TW" sz="2400" b="0" i="1" smtClean="0">
                            <a:solidFill>
                              <a:srgbClr val="0070C0"/>
                            </a:solidFill>
                            <a:latin typeface="Cambria Math" panose="02040503050406030204" pitchFamily="18" charset="0"/>
                            <a:ea typeface="BatangChe" panose="020B0503020000020004" pitchFamily="49" charset="-127"/>
                            <a:cs typeface="Times New Roman" panose="02020603050405020304" pitchFamily="18" charset="0"/>
                          </a:rPr>
                        </m:ctrlPr>
                      </m:sSubPr>
                      <m:e>
                        <m:r>
                          <a:rPr lang="en-US" altLang="zh-TW" sz="2400" b="0" i="1" smtClean="0">
                            <a:solidFill>
                              <a:srgbClr val="0070C0"/>
                            </a:solidFill>
                            <a:latin typeface="Cambria Math" panose="02040503050406030204" pitchFamily="18" charset="0"/>
                            <a:ea typeface="BatangChe" panose="020B0503020000020004" pitchFamily="49" charset="-127"/>
                            <a:cs typeface="Times New Roman" panose="02020603050405020304" pitchFamily="18" charset="0"/>
                          </a:rPr>
                          <m:t>𝑊</m:t>
                        </m:r>
                      </m:e>
                      <m:sub>
                        <m:r>
                          <a:rPr lang="en-US" altLang="zh-TW" sz="2400" b="0" i="1" smtClean="0">
                            <a:solidFill>
                              <a:srgbClr val="0070C0"/>
                            </a:solidFill>
                            <a:latin typeface="Cambria Math" panose="02040503050406030204" pitchFamily="18" charset="0"/>
                            <a:ea typeface="BatangChe" panose="020B0503020000020004" pitchFamily="49" charset="-127"/>
                            <a:cs typeface="Times New Roman" panose="02020603050405020304" pitchFamily="18" charset="0"/>
                          </a:rPr>
                          <m:t>2</m:t>
                        </m:r>
                      </m:sub>
                    </m:sSub>
                  </m:oMath>
                </a14:m>
                <a:r>
                  <a:rPr lang="en-US" altLang="zh-TW" sz="2400" dirty="0">
                    <a:solidFill>
                      <a:srgbClr val="0070C0"/>
                    </a:solidFill>
                    <a:latin typeface="Times New Roman" panose="02020603050405020304" pitchFamily="18" charset="0"/>
                    <a:ea typeface="BatangChe" panose="020B0503020000020004" pitchFamily="49" charset="-127"/>
                    <a:cs typeface="Times New Roman" panose="02020603050405020304" pitchFamily="18" charset="0"/>
                  </a:rPr>
                  <a:t>, then </a:t>
                </a:r>
                <a14:m>
                  <m:oMath xmlns:m="http://schemas.openxmlformats.org/officeDocument/2006/math">
                    <m:r>
                      <a:rPr lang="en-US" altLang="zh-TW" sz="2400" b="0" i="1" dirty="0" smtClean="0">
                        <a:solidFill>
                          <a:srgbClr val="0070C0"/>
                        </a:solidFill>
                        <a:latin typeface="Cambria Math" panose="02040503050406030204" pitchFamily="18" charset="0"/>
                        <a:ea typeface="BatangChe" panose="020B0503020000020004" pitchFamily="49" charset="-127"/>
                        <a:cs typeface="Times New Roman" panose="02020603050405020304" pitchFamily="18" charset="0"/>
                      </a:rPr>
                      <m:t>𝑃𝑟𝑒𝑑</m:t>
                    </m:r>
                    <m:d>
                      <m:dPr>
                        <m:ctrlPr>
                          <a:rPr lang="en-US" altLang="zh-TW" sz="2400" b="0" i="1" dirty="0" smtClean="0">
                            <a:solidFill>
                              <a:srgbClr val="0070C0"/>
                            </a:solidFill>
                            <a:latin typeface="Cambria Math" panose="02040503050406030204" pitchFamily="18" charset="0"/>
                            <a:ea typeface="BatangChe" panose="020B0503020000020004" pitchFamily="49" charset="-127"/>
                            <a:cs typeface="Times New Roman" panose="02020603050405020304" pitchFamily="18" charset="0"/>
                          </a:rPr>
                        </m:ctrlPr>
                      </m:dPr>
                      <m:e>
                        <m:sSub>
                          <m:sSubPr>
                            <m:ctrlPr>
                              <a:rPr lang="en-US" altLang="zh-TW" sz="2400" b="0" i="1" dirty="0" smtClean="0">
                                <a:solidFill>
                                  <a:srgbClr val="0070C0"/>
                                </a:solidFill>
                                <a:latin typeface="Cambria Math" panose="02040503050406030204" pitchFamily="18" charset="0"/>
                                <a:ea typeface="BatangChe" panose="020B0503020000020004" pitchFamily="49" charset="-127"/>
                                <a:cs typeface="Times New Roman" panose="02020603050405020304" pitchFamily="18" charset="0"/>
                              </a:rPr>
                            </m:ctrlPr>
                          </m:sSubPr>
                          <m:e>
                            <m:r>
                              <a:rPr lang="en-US" altLang="zh-TW" sz="2400" b="0" i="1" dirty="0" smtClean="0">
                                <a:solidFill>
                                  <a:srgbClr val="0070C0"/>
                                </a:solidFill>
                                <a:latin typeface="Cambria Math" panose="02040503050406030204" pitchFamily="18" charset="0"/>
                                <a:ea typeface="BatangChe" panose="020B0503020000020004" pitchFamily="49" charset="-127"/>
                                <a:cs typeface="Times New Roman" panose="02020603050405020304" pitchFamily="18" charset="0"/>
                              </a:rPr>
                              <m:t>𝑊</m:t>
                            </m:r>
                          </m:e>
                          <m:sub>
                            <m:r>
                              <a:rPr lang="en-US" altLang="zh-TW" sz="2400" b="0" i="1" dirty="0" smtClean="0">
                                <a:solidFill>
                                  <a:srgbClr val="0070C0"/>
                                </a:solidFill>
                                <a:latin typeface="Cambria Math" panose="02040503050406030204" pitchFamily="18" charset="0"/>
                                <a:ea typeface="BatangChe" panose="020B0503020000020004" pitchFamily="49" charset="-127"/>
                                <a:cs typeface="Times New Roman" panose="02020603050405020304" pitchFamily="18" charset="0"/>
                              </a:rPr>
                              <m:t>1</m:t>
                            </m:r>
                          </m:sub>
                        </m:sSub>
                      </m:e>
                    </m:d>
                    <m:r>
                      <a:rPr lang="en-US" altLang="zh-TW" sz="2400" b="0" i="1" dirty="0" smtClean="0">
                        <a:solidFill>
                          <a:srgbClr val="0070C0"/>
                        </a:solidFill>
                        <a:latin typeface="Cambria Math" panose="02040503050406030204" pitchFamily="18" charset="0"/>
                        <a:ea typeface="BatangChe" panose="020B0503020000020004" pitchFamily="49" charset="-127"/>
                        <a:cs typeface="Times New Roman" panose="02020603050405020304" pitchFamily="18" charset="0"/>
                      </a:rPr>
                      <m:t>=</m:t>
                    </m:r>
                    <m:r>
                      <a:rPr lang="en-US" altLang="zh-TW" sz="2400" i="1" dirty="0">
                        <a:solidFill>
                          <a:srgbClr val="0070C0"/>
                        </a:solidFill>
                        <a:latin typeface="Cambria Math" panose="02040503050406030204" pitchFamily="18" charset="0"/>
                        <a:ea typeface="BatangChe" panose="020B0503020000020004" pitchFamily="49" charset="-127"/>
                        <a:cs typeface="Times New Roman" panose="02020603050405020304" pitchFamily="18" charset="0"/>
                      </a:rPr>
                      <m:t>𝑃𝑟𝑒𝑑</m:t>
                    </m:r>
                    <m:d>
                      <m:dPr>
                        <m:ctrlPr>
                          <a:rPr lang="en-US" altLang="zh-TW" sz="2400" i="1" dirty="0">
                            <a:solidFill>
                              <a:srgbClr val="0070C0"/>
                            </a:solidFill>
                            <a:latin typeface="Cambria Math" panose="02040503050406030204" pitchFamily="18" charset="0"/>
                            <a:ea typeface="BatangChe" panose="020B0503020000020004" pitchFamily="49" charset="-127"/>
                            <a:cs typeface="Times New Roman" panose="02020603050405020304" pitchFamily="18" charset="0"/>
                          </a:rPr>
                        </m:ctrlPr>
                      </m:dPr>
                      <m:e>
                        <m:sSub>
                          <m:sSubPr>
                            <m:ctrlPr>
                              <a:rPr lang="en-US" altLang="zh-TW" sz="2400" i="1" dirty="0">
                                <a:solidFill>
                                  <a:srgbClr val="0070C0"/>
                                </a:solidFill>
                                <a:latin typeface="Cambria Math" panose="02040503050406030204" pitchFamily="18" charset="0"/>
                                <a:ea typeface="BatangChe" panose="020B0503020000020004" pitchFamily="49" charset="-127"/>
                                <a:cs typeface="Times New Roman" panose="02020603050405020304" pitchFamily="18" charset="0"/>
                              </a:rPr>
                            </m:ctrlPr>
                          </m:sSubPr>
                          <m:e>
                            <m:r>
                              <a:rPr lang="en-US" altLang="zh-TW" sz="2400" i="1" dirty="0">
                                <a:solidFill>
                                  <a:srgbClr val="0070C0"/>
                                </a:solidFill>
                                <a:latin typeface="Cambria Math" panose="02040503050406030204" pitchFamily="18" charset="0"/>
                                <a:ea typeface="BatangChe" panose="020B0503020000020004" pitchFamily="49" charset="-127"/>
                                <a:cs typeface="Times New Roman" panose="02020603050405020304" pitchFamily="18" charset="0"/>
                              </a:rPr>
                              <m:t>𝑊</m:t>
                            </m:r>
                          </m:e>
                          <m:sub>
                            <m:r>
                              <a:rPr lang="en-US" altLang="zh-TW" sz="2400" i="1" dirty="0" smtClean="0">
                                <a:solidFill>
                                  <a:srgbClr val="0070C0"/>
                                </a:solidFill>
                                <a:latin typeface="Cambria Math" panose="02040503050406030204" pitchFamily="18" charset="0"/>
                                <a:ea typeface="BatangChe" panose="020B0503020000020004" pitchFamily="49" charset="-127"/>
                                <a:cs typeface="Times New Roman" panose="02020603050405020304" pitchFamily="18" charset="0"/>
                              </a:rPr>
                              <m:t>2</m:t>
                            </m:r>
                          </m:sub>
                        </m:sSub>
                      </m:e>
                    </m:d>
                  </m:oMath>
                </a14:m>
                <a:endParaRPr lang="en-US" altLang="zh-TW" sz="2400" dirty="0">
                  <a:solidFill>
                    <a:srgbClr val="0070C0"/>
                  </a:solidFill>
                  <a:latin typeface="Times New Roman" panose="02020603050405020304" pitchFamily="18" charset="0"/>
                  <a:ea typeface="BatangChe" panose="020B0503020000020004" pitchFamily="49" charset="-127"/>
                  <a:cs typeface="Times New Roman" panose="02020603050405020304" pitchFamily="18" charset="0"/>
                </a:endParaRPr>
              </a:p>
            </p:txBody>
          </p:sp>
        </mc:Choice>
        <mc:Fallback xmlns="">
          <p:sp>
            <p:nvSpPr>
              <p:cNvPr id="9" name="標題 1">
                <a:extLst>
                  <a:ext uri="{FF2B5EF4-FFF2-40B4-BE49-F238E27FC236}">
                    <a16:creationId xmlns:a16="http://schemas.microsoft.com/office/drawing/2014/main" id="{03434661-8CCE-4289-8198-CD569CCFC416}"/>
                  </a:ext>
                </a:extLst>
              </p:cNvPr>
              <p:cNvSpPr txBox="1">
                <a:spLocks noRot="1" noChangeAspect="1" noMove="1" noResize="1" noEditPoints="1" noAdjustHandles="1" noChangeArrowheads="1" noChangeShapeType="1" noTextEdit="1"/>
              </p:cNvSpPr>
              <p:nvPr/>
            </p:nvSpPr>
            <p:spPr>
              <a:xfrm>
                <a:off x="636997" y="4683200"/>
                <a:ext cx="7105209" cy="772894"/>
              </a:xfrm>
              <a:prstGeom prst="rect">
                <a:avLst/>
              </a:prstGeom>
              <a:blipFill>
                <a:blip r:embed="rId5"/>
                <a:stretch>
                  <a:fillRect l="-858"/>
                </a:stretch>
              </a:blipFill>
            </p:spPr>
            <p:txBody>
              <a:bodyPr/>
              <a:lstStyle/>
              <a:p>
                <a:r>
                  <a:rPr lang="zh-TW" altLang="en-US">
                    <a:noFill/>
                  </a:rPr>
                  <a:t> </a:t>
                </a:r>
              </a:p>
            </p:txBody>
          </p:sp>
        </mc:Fallback>
      </mc:AlternateContent>
      <p:sp>
        <p:nvSpPr>
          <p:cNvPr id="10" name="標題 1">
            <a:extLst>
              <a:ext uri="{FF2B5EF4-FFF2-40B4-BE49-F238E27FC236}">
                <a16:creationId xmlns:a16="http://schemas.microsoft.com/office/drawing/2014/main" xmlns="" id="{C48AA80F-5130-4F1C-8B2E-3F0029B4B1F0}"/>
              </a:ext>
            </a:extLst>
          </p:cNvPr>
          <p:cNvSpPr txBox="1">
            <a:spLocks/>
          </p:cNvSpPr>
          <p:nvPr/>
        </p:nvSpPr>
        <p:spPr>
          <a:xfrm>
            <a:off x="636997" y="5215764"/>
            <a:ext cx="7105209" cy="969280"/>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TW" sz="2400" dirty="0" err="1">
                <a:latin typeface="Times New Roman" panose="02020603050405020304" pitchFamily="18" charset="0"/>
                <a:ea typeface="BatangChe" panose="020B0503020000020004" pitchFamily="49" charset="-127"/>
                <a:cs typeface="Times New Roman" panose="02020603050405020304" pitchFamily="18" charset="0"/>
              </a:rPr>
              <a:t>Pred</a:t>
            </a:r>
            <a:r>
              <a:rPr lang="en-US" altLang="zh-TW" sz="2400" dirty="0">
                <a:latin typeface="Times New Roman" panose="02020603050405020304" pitchFamily="18" charset="0"/>
                <a:ea typeface="BatangChe" panose="020B0503020000020004" pitchFamily="49" charset="-127"/>
                <a:cs typeface="Times New Roman" panose="02020603050405020304" pitchFamily="18" charset="0"/>
              </a:rPr>
              <a:t>(ACCATGAG)</a:t>
            </a:r>
            <a:r>
              <a:rPr lang="zh-TW" altLang="en-US" sz="2400" dirty="0">
                <a:latin typeface="Times New Roman" panose="02020603050405020304" pitchFamily="18" charset="0"/>
                <a:ea typeface="BatangChe" panose="020B0503020000020004" pitchFamily="49" charset="-127"/>
                <a:cs typeface="Times New Roman" panose="02020603050405020304" pitchFamily="18" charset="0"/>
              </a:rPr>
              <a:t> </a:t>
            </a:r>
            <a:r>
              <a:rPr lang="en-US" altLang="zh-TW" sz="2400" dirty="0">
                <a:latin typeface="Times New Roman" panose="02020603050405020304" pitchFamily="18" charset="0"/>
                <a:ea typeface="BatangChe" panose="020B0503020000020004" pitchFamily="49" charset="-127"/>
                <a:cs typeface="Times New Roman" panose="02020603050405020304" pitchFamily="18" charset="0"/>
              </a:rPr>
              <a:t>=</a:t>
            </a:r>
            <a:r>
              <a:rPr lang="zh-TW" altLang="en-US" sz="2400" dirty="0">
                <a:latin typeface="Times New Roman" panose="02020603050405020304" pitchFamily="18" charset="0"/>
                <a:ea typeface="BatangChe" panose="020B0503020000020004" pitchFamily="49" charset="-127"/>
                <a:cs typeface="Times New Roman" panose="02020603050405020304" pitchFamily="18" charset="0"/>
              </a:rPr>
              <a:t> </a:t>
            </a:r>
            <a:r>
              <a:rPr lang="en-US" altLang="zh-TW" sz="2400" dirty="0" err="1">
                <a:latin typeface="Times New Roman" panose="02020603050405020304" pitchFamily="18" charset="0"/>
                <a:ea typeface="BatangChe" panose="020B0503020000020004" pitchFamily="49" charset="-127"/>
                <a:cs typeface="Times New Roman" panose="02020603050405020304" pitchFamily="18" charset="0"/>
              </a:rPr>
              <a:t>Pred</a:t>
            </a:r>
            <a:r>
              <a:rPr lang="en-US" altLang="zh-TW" sz="2400" dirty="0">
                <a:latin typeface="Times New Roman" panose="02020603050405020304" pitchFamily="18" charset="0"/>
                <a:ea typeface="BatangChe" panose="020B0503020000020004" pitchFamily="49" charset="-127"/>
                <a:cs typeface="Times New Roman" panose="02020603050405020304" pitchFamily="18" charset="0"/>
              </a:rPr>
              <a:t>(CAACTGCG) = 00130032</a:t>
            </a:r>
            <a:r>
              <a:rPr lang="zh-TW" altLang="en-US" sz="2400" dirty="0">
                <a:latin typeface="Times New Roman" panose="02020603050405020304" pitchFamily="18" charset="0"/>
                <a:ea typeface="BatangChe" panose="020B0503020000020004" pitchFamily="49" charset="-127"/>
                <a:cs typeface="Times New Roman" panose="02020603050405020304" pitchFamily="18" charset="0"/>
              </a:rPr>
              <a:t> </a:t>
            </a:r>
            <a:r>
              <a:rPr lang="en-US" altLang="zh-TW" sz="2400" dirty="0">
                <a:latin typeface="Times New Roman" panose="02020603050405020304" pitchFamily="18" charset="0"/>
                <a:ea typeface="BatangChe" panose="020B0503020000020004" pitchFamily="49" charset="-127"/>
                <a:cs typeface="Times New Roman" panose="02020603050405020304" pitchFamily="18" charset="0"/>
              </a:rPr>
              <a:t>,</a:t>
            </a:r>
          </a:p>
          <a:p>
            <a:pPr>
              <a:lnSpc>
                <a:spcPct val="150000"/>
              </a:lnSpc>
            </a:pPr>
            <a:r>
              <a:rPr lang="en-US" altLang="zh-TW" sz="2400" dirty="0">
                <a:latin typeface="Times New Roman" panose="02020603050405020304" pitchFamily="18" charset="0"/>
                <a:ea typeface="BatangChe" panose="020B0503020000020004" pitchFamily="49" charset="-127"/>
                <a:cs typeface="Times New Roman" panose="02020603050405020304" pitchFamily="18" charset="0"/>
              </a:rPr>
              <a:t>ACCATGAG p-matches CAACTGCG</a:t>
            </a:r>
          </a:p>
        </p:txBody>
      </p:sp>
    </p:spTree>
    <p:extLst>
      <p:ext uri="{BB962C8B-B14F-4D97-AF65-F5344CB8AC3E}">
        <p14:creationId xmlns:p14="http://schemas.microsoft.com/office/powerpoint/2010/main" val="4232441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471956" y="518109"/>
            <a:ext cx="7886700" cy="838722"/>
          </a:xfrm>
        </p:spPr>
        <p:txBody>
          <a:bodyPr>
            <a:noAutofit/>
          </a:bodyPr>
          <a:lstStyle/>
          <a:p>
            <a:r>
              <a:rPr lang="en-US" altLang="zh-TW" sz="3200" dirty="0">
                <a:latin typeface="Times New Roman" panose="02020603050405020304" pitchFamily="18" charset="0"/>
                <a:cs typeface="Times New Roman" panose="02020603050405020304" pitchFamily="18" charset="0"/>
              </a:rPr>
              <a:t>Their algorithm – Multi-word Parameterized Matching (MPM) algorithm</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11</a:t>
            </a:fld>
            <a:endParaRPr lang="zh-TW" altLang="en-US"/>
          </a:p>
        </p:txBody>
      </p:sp>
      <p:sp>
        <p:nvSpPr>
          <p:cNvPr id="9" name="內容版面配置區 6">
            <a:extLst>
              <a:ext uri="{FF2B5EF4-FFF2-40B4-BE49-F238E27FC236}">
                <a16:creationId xmlns:a16="http://schemas.microsoft.com/office/drawing/2014/main" xmlns="" id="{E161B233-C59C-48A8-89CF-EB1FBC47CB2A}"/>
              </a:ext>
            </a:extLst>
          </p:cNvPr>
          <p:cNvSpPr>
            <a:spLocks noGrp="1"/>
          </p:cNvSpPr>
          <p:nvPr>
            <p:ph idx="1"/>
          </p:nvPr>
        </p:nvSpPr>
        <p:spPr>
          <a:xfrm>
            <a:off x="471956" y="1571317"/>
            <a:ext cx="8310537" cy="2823895"/>
          </a:xfrm>
        </p:spPr>
        <p:txBody>
          <a:bodyPr>
            <a:normAutofit/>
          </a:bodyPr>
          <a:lstStyle/>
          <a:p>
            <a:pPr>
              <a:lnSpc>
                <a:spcPct val="150000"/>
              </a:lnSpc>
            </a:pPr>
            <a:r>
              <a:rPr lang="en-US" altLang="zh-TW" sz="2400" dirty="0">
                <a:latin typeface="Times New Roman" panose="02020603050405020304" pitchFamily="18" charset="0"/>
                <a:cs typeface="Times New Roman" panose="02020603050405020304" pitchFamily="18" charset="0"/>
              </a:rPr>
              <a:t>Preprocessing</a:t>
            </a:r>
          </a:p>
          <a:p>
            <a:pPr marL="0" indent="0">
              <a:lnSpc>
                <a:spcPct val="150000"/>
              </a:lnSpc>
              <a:buNone/>
            </a:pPr>
            <a:endParaRPr lang="en-US" altLang="zh-TW" sz="2400" dirty="0">
              <a:latin typeface="Times New Roman" panose="02020603050405020304" pitchFamily="18" charset="0"/>
              <a:cs typeface="Times New Roman" panose="02020603050405020304" pitchFamily="18" charset="0"/>
            </a:endParaRPr>
          </a:p>
          <a:p>
            <a:pPr>
              <a:lnSpc>
                <a:spcPct val="150000"/>
              </a:lnSpc>
            </a:pPr>
            <a:endParaRPr lang="en-US" altLang="zh-TW" sz="2400" dirty="0">
              <a:latin typeface="Times New Roman" panose="02020603050405020304" pitchFamily="18" charset="0"/>
              <a:cs typeface="Times New Roman" panose="02020603050405020304" pitchFamily="18" charset="0"/>
            </a:endParaRPr>
          </a:p>
          <a:p>
            <a:pPr>
              <a:lnSpc>
                <a:spcPct val="150000"/>
              </a:lnSpc>
            </a:pPr>
            <a:r>
              <a:rPr lang="en-US" altLang="zh-TW" sz="2400" dirty="0">
                <a:latin typeface="Times New Roman" panose="02020603050405020304" pitchFamily="18" charset="0"/>
                <a:cs typeface="Times New Roman" panose="02020603050405020304" pitchFamily="18" charset="0"/>
              </a:rPr>
              <a:t>Searching</a:t>
            </a:r>
          </a:p>
        </p:txBody>
      </p:sp>
      <p:sp>
        <p:nvSpPr>
          <p:cNvPr id="10" name="內容版面配置區 6">
            <a:extLst>
              <a:ext uri="{FF2B5EF4-FFF2-40B4-BE49-F238E27FC236}">
                <a16:creationId xmlns:a16="http://schemas.microsoft.com/office/drawing/2014/main" xmlns="" id="{75D9605C-73BD-492E-9C14-4B65E7D93EC2}"/>
              </a:ext>
            </a:extLst>
          </p:cNvPr>
          <p:cNvSpPr txBox="1">
            <a:spLocks/>
          </p:cNvSpPr>
          <p:nvPr/>
        </p:nvSpPr>
        <p:spPr>
          <a:xfrm>
            <a:off x="1744240" y="2288794"/>
            <a:ext cx="690736" cy="5550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en-US" altLang="zh-TW" sz="2000" dirty="0">
                <a:latin typeface="Times New Roman" panose="02020603050405020304" pitchFamily="18" charset="0"/>
                <a:cs typeface="Times New Roman" panose="02020603050405020304" pitchFamily="18" charset="0"/>
              </a:rPr>
              <a:t>Text</a:t>
            </a:r>
          </a:p>
        </p:txBody>
      </p:sp>
      <p:sp>
        <p:nvSpPr>
          <p:cNvPr id="11" name="內容版面配置區 6">
            <a:extLst>
              <a:ext uri="{FF2B5EF4-FFF2-40B4-BE49-F238E27FC236}">
                <a16:creationId xmlns:a16="http://schemas.microsoft.com/office/drawing/2014/main" xmlns="" id="{2E3E46E1-8BD3-4E1E-A80D-878B3CD9DBDA}"/>
              </a:ext>
            </a:extLst>
          </p:cNvPr>
          <p:cNvSpPr txBox="1">
            <a:spLocks/>
          </p:cNvSpPr>
          <p:nvPr/>
        </p:nvSpPr>
        <p:spPr>
          <a:xfrm>
            <a:off x="1744240" y="3024691"/>
            <a:ext cx="998960" cy="5550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en-US" altLang="zh-TW" sz="2000" dirty="0">
                <a:latin typeface="Times New Roman" panose="02020603050405020304" pitchFamily="18" charset="0"/>
                <a:cs typeface="Times New Roman" panose="02020603050405020304" pitchFamily="18" charset="0"/>
              </a:rPr>
              <a:t>Patterns</a:t>
            </a:r>
          </a:p>
        </p:txBody>
      </p:sp>
      <p:grpSp>
        <p:nvGrpSpPr>
          <p:cNvPr id="24" name="群組 23">
            <a:extLst>
              <a:ext uri="{FF2B5EF4-FFF2-40B4-BE49-F238E27FC236}">
                <a16:creationId xmlns:a16="http://schemas.microsoft.com/office/drawing/2014/main" xmlns="" id="{92A5A2B4-03AE-4941-9734-59EFFD68F136}"/>
              </a:ext>
            </a:extLst>
          </p:cNvPr>
          <p:cNvGrpSpPr/>
          <p:nvPr/>
        </p:nvGrpSpPr>
        <p:grpSpPr>
          <a:xfrm>
            <a:off x="4572000" y="2288794"/>
            <a:ext cx="1764587" cy="555019"/>
            <a:chOff x="2743200" y="2288793"/>
            <a:chExt cx="1764587" cy="555019"/>
          </a:xfrm>
        </p:grpSpPr>
        <p:sp>
          <p:nvSpPr>
            <p:cNvPr id="19" name="內容版面配置區 6">
              <a:extLst>
                <a:ext uri="{FF2B5EF4-FFF2-40B4-BE49-F238E27FC236}">
                  <a16:creationId xmlns:a16="http://schemas.microsoft.com/office/drawing/2014/main" xmlns="" id="{DE9A7146-1AA3-418E-BE6B-219CACA19B22}"/>
                </a:ext>
              </a:extLst>
            </p:cNvPr>
            <p:cNvSpPr txBox="1">
              <a:spLocks/>
            </p:cNvSpPr>
            <p:nvPr/>
          </p:nvSpPr>
          <p:spPr>
            <a:xfrm>
              <a:off x="2943386" y="2288793"/>
              <a:ext cx="1299842" cy="555019"/>
            </a:xfrm>
            <a:prstGeom prst="rect">
              <a:avLst/>
            </a:prstGeom>
            <a:ln w="19050">
              <a:solidFill>
                <a:schemeClr val="accent1"/>
              </a:solidFill>
            </a:ln>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en-US" altLang="zh-TW" sz="2000" dirty="0">
                  <a:solidFill>
                    <a:srgbClr val="0070C0"/>
                  </a:solidFill>
                  <a:latin typeface="Times New Roman" panose="02020603050405020304" pitchFamily="18" charset="0"/>
                  <a:cs typeface="Times New Roman" panose="02020603050405020304" pitchFamily="18" charset="0"/>
                </a:rPr>
                <a:t>Compress</a:t>
              </a:r>
            </a:p>
          </p:txBody>
        </p:sp>
        <p:cxnSp>
          <p:nvCxnSpPr>
            <p:cNvPr id="5" name="直線接點 4">
              <a:extLst>
                <a:ext uri="{FF2B5EF4-FFF2-40B4-BE49-F238E27FC236}">
                  <a16:creationId xmlns:a16="http://schemas.microsoft.com/office/drawing/2014/main" xmlns="" id="{C8F3037F-C931-4A61-B130-07F1D44409D1}"/>
                </a:ext>
              </a:extLst>
            </p:cNvPr>
            <p:cNvCxnSpPr>
              <a:cxnSpLocks/>
              <a:stCxn id="19" idx="1"/>
            </p:cNvCxnSpPr>
            <p:nvPr/>
          </p:nvCxnSpPr>
          <p:spPr>
            <a:xfrm flipH="1">
              <a:off x="2743200" y="2566303"/>
              <a:ext cx="200186"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xmlns="" id="{590AE45F-2B58-48F0-BB4E-2A88D0400488}"/>
                </a:ext>
              </a:extLst>
            </p:cNvPr>
            <p:cNvCxnSpPr>
              <a:cxnSpLocks/>
              <a:stCxn id="19" idx="3"/>
            </p:cNvCxnSpPr>
            <p:nvPr/>
          </p:nvCxnSpPr>
          <p:spPr>
            <a:xfrm>
              <a:off x="4243228" y="2566303"/>
              <a:ext cx="264559" cy="0"/>
            </a:xfrm>
            <a:prstGeom prst="line">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5" name="群組 24">
            <a:extLst>
              <a:ext uri="{FF2B5EF4-FFF2-40B4-BE49-F238E27FC236}">
                <a16:creationId xmlns:a16="http://schemas.microsoft.com/office/drawing/2014/main" xmlns="" id="{7174DE7E-9A2F-4030-9582-F6B0E2801834}"/>
              </a:ext>
            </a:extLst>
          </p:cNvPr>
          <p:cNvGrpSpPr/>
          <p:nvPr/>
        </p:nvGrpSpPr>
        <p:grpSpPr>
          <a:xfrm>
            <a:off x="2743200" y="3030054"/>
            <a:ext cx="1764587" cy="555019"/>
            <a:chOff x="2743200" y="2288793"/>
            <a:chExt cx="1764587" cy="555019"/>
          </a:xfrm>
        </p:grpSpPr>
        <p:sp>
          <p:nvSpPr>
            <p:cNvPr id="26" name="內容版面配置區 6">
              <a:extLst>
                <a:ext uri="{FF2B5EF4-FFF2-40B4-BE49-F238E27FC236}">
                  <a16:creationId xmlns:a16="http://schemas.microsoft.com/office/drawing/2014/main" xmlns="" id="{2FB75C4B-5059-4559-A071-222B14846048}"/>
                </a:ext>
              </a:extLst>
            </p:cNvPr>
            <p:cNvSpPr txBox="1">
              <a:spLocks/>
            </p:cNvSpPr>
            <p:nvPr/>
          </p:nvSpPr>
          <p:spPr>
            <a:xfrm>
              <a:off x="2943386" y="2288793"/>
              <a:ext cx="1299842" cy="555019"/>
            </a:xfrm>
            <a:prstGeom prst="rect">
              <a:avLst/>
            </a:prstGeom>
            <a:ln w="19050">
              <a:solidFill>
                <a:schemeClr val="accent1"/>
              </a:solidFill>
            </a:ln>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en-US" altLang="zh-TW" sz="2000" dirty="0">
                  <a:solidFill>
                    <a:srgbClr val="0070C0"/>
                  </a:solidFill>
                  <a:latin typeface="Times New Roman" panose="02020603050405020304" pitchFamily="18" charset="0"/>
                  <a:cs typeface="Times New Roman" panose="02020603050405020304" pitchFamily="18" charset="0"/>
                </a:rPr>
                <a:t>Compress</a:t>
              </a:r>
            </a:p>
          </p:txBody>
        </p:sp>
        <p:cxnSp>
          <p:nvCxnSpPr>
            <p:cNvPr id="27" name="直線接點 26">
              <a:extLst>
                <a:ext uri="{FF2B5EF4-FFF2-40B4-BE49-F238E27FC236}">
                  <a16:creationId xmlns:a16="http://schemas.microsoft.com/office/drawing/2014/main" xmlns="" id="{844FBA3A-F899-4DD9-879D-74C30A51C5DE}"/>
                </a:ext>
              </a:extLst>
            </p:cNvPr>
            <p:cNvCxnSpPr>
              <a:cxnSpLocks/>
              <a:stCxn id="26" idx="1"/>
            </p:cNvCxnSpPr>
            <p:nvPr/>
          </p:nvCxnSpPr>
          <p:spPr>
            <a:xfrm flipH="1">
              <a:off x="2743200" y="2566303"/>
              <a:ext cx="200186"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xmlns="" id="{936F4A34-A44E-45FB-87B4-1842F7402A4A}"/>
                </a:ext>
              </a:extLst>
            </p:cNvPr>
            <p:cNvCxnSpPr>
              <a:cxnSpLocks/>
              <a:stCxn id="26" idx="3"/>
            </p:cNvCxnSpPr>
            <p:nvPr/>
          </p:nvCxnSpPr>
          <p:spPr>
            <a:xfrm>
              <a:off x="4243228" y="2566303"/>
              <a:ext cx="264559" cy="0"/>
            </a:xfrm>
            <a:prstGeom prst="line">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9" name="群組 28">
            <a:extLst>
              <a:ext uri="{FF2B5EF4-FFF2-40B4-BE49-F238E27FC236}">
                <a16:creationId xmlns:a16="http://schemas.microsoft.com/office/drawing/2014/main" xmlns="" id="{C1963E2B-F2F4-4AAA-B30C-F469CFC1BB50}"/>
              </a:ext>
            </a:extLst>
          </p:cNvPr>
          <p:cNvGrpSpPr/>
          <p:nvPr/>
        </p:nvGrpSpPr>
        <p:grpSpPr>
          <a:xfrm>
            <a:off x="2743200" y="2288794"/>
            <a:ext cx="1764587" cy="555019"/>
            <a:chOff x="2743200" y="2288793"/>
            <a:chExt cx="1764587" cy="555019"/>
          </a:xfrm>
        </p:grpSpPr>
        <p:sp>
          <p:nvSpPr>
            <p:cNvPr id="30" name="內容版面配置區 6">
              <a:extLst>
                <a:ext uri="{FF2B5EF4-FFF2-40B4-BE49-F238E27FC236}">
                  <a16:creationId xmlns:a16="http://schemas.microsoft.com/office/drawing/2014/main" xmlns="" id="{5993FAFE-3B93-49FF-97D3-2FF8F7D1A8C2}"/>
                </a:ext>
              </a:extLst>
            </p:cNvPr>
            <p:cNvSpPr txBox="1">
              <a:spLocks/>
            </p:cNvSpPr>
            <p:nvPr/>
          </p:nvSpPr>
          <p:spPr>
            <a:xfrm>
              <a:off x="2943386" y="2288793"/>
              <a:ext cx="1299842" cy="555019"/>
            </a:xfrm>
            <a:prstGeom prst="rect">
              <a:avLst/>
            </a:prstGeom>
            <a:ln w="19050">
              <a:solidFill>
                <a:schemeClr val="accent1"/>
              </a:solidFill>
            </a:ln>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en-US" altLang="zh-TW" sz="2000" dirty="0" err="1">
                  <a:solidFill>
                    <a:srgbClr val="0070C0"/>
                  </a:solidFill>
                  <a:latin typeface="Times New Roman" panose="02020603050405020304" pitchFamily="18" charset="0"/>
                  <a:cs typeface="Times New Roman" panose="02020603050405020304" pitchFamily="18" charset="0"/>
                </a:rPr>
                <a:t>Pred</a:t>
              </a:r>
              <a:endParaRPr lang="en-US" altLang="zh-TW" sz="2000" dirty="0">
                <a:solidFill>
                  <a:srgbClr val="0070C0"/>
                </a:solidFill>
                <a:latin typeface="Times New Roman" panose="02020603050405020304" pitchFamily="18" charset="0"/>
                <a:cs typeface="Times New Roman" panose="02020603050405020304" pitchFamily="18" charset="0"/>
              </a:endParaRPr>
            </a:p>
          </p:txBody>
        </p:sp>
        <p:cxnSp>
          <p:nvCxnSpPr>
            <p:cNvPr id="31" name="直線接點 30">
              <a:extLst>
                <a:ext uri="{FF2B5EF4-FFF2-40B4-BE49-F238E27FC236}">
                  <a16:creationId xmlns:a16="http://schemas.microsoft.com/office/drawing/2014/main" xmlns="" id="{AB0C2FFF-70BB-4B71-938E-AC09B98BBFF6}"/>
                </a:ext>
              </a:extLst>
            </p:cNvPr>
            <p:cNvCxnSpPr>
              <a:cxnSpLocks/>
              <a:stCxn id="30" idx="1"/>
            </p:cNvCxnSpPr>
            <p:nvPr/>
          </p:nvCxnSpPr>
          <p:spPr>
            <a:xfrm flipH="1">
              <a:off x="2743200" y="2566303"/>
              <a:ext cx="200186"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2" name="直線接點 31">
              <a:extLst>
                <a:ext uri="{FF2B5EF4-FFF2-40B4-BE49-F238E27FC236}">
                  <a16:creationId xmlns:a16="http://schemas.microsoft.com/office/drawing/2014/main" xmlns="" id="{421E03B7-5DB2-4523-8E93-0D333577CF3E}"/>
                </a:ext>
              </a:extLst>
            </p:cNvPr>
            <p:cNvCxnSpPr>
              <a:cxnSpLocks/>
              <a:stCxn id="30" idx="3"/>
            </p:cNvCxnSpPr>
            <p:nvPr/>
          </p:nvCxnSpPr>
          <p:spPr>
            <a:xfrm>
              <a:off x="4243228" y="2566303"/>
              <a:ext cx="264559" cy="0"/>
            </a:xfrm>
            <a:prstGeom prst="line">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xmlns="" id="{0670B295-3A21-43CA-9443-BC330C74970C}"/>
              </a:ext>
            </a:extLst>
          </p:cNvPr>
          <p:cNvSpPr/>
          <p:nvPr/>
        </p:nvSpPr>
        <p:spPr>
          <a:xfrm>
            <a:off x="1744240" y="4484266"/>
            <a:ext cx="2406428" cy="400110"/>
          </a:xfrm>
          <a:prstGeom prst="rect">
            <a:avLst/>
          </a:prstGeom>
        </p:spPr>
        <p:txBody>
          <a:bodyPr wrap="none">
            <a:spAutoFit/>
          </a:bodyPr>
          <a:lstStyle/>
          <a:p>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Bit-parallel algorithm</a:t>
            </a:r>
            <a:endParaRPr lang="zh-TW" altLang="en-US" sz="2000" dirty="0"/>
          </a:p>
        </p:txBody>
      </p:sp>
    </p:spTree>
    <p:extLst>
      <p:ext uri="{BB962C8B-B14F-4D97-AF65-F5344CB8AC3E}">
        <p14:creationId xmlns:p14="http://schemas.microsoft.com/office/powerpoint/2010/main" val="7216251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標題 1">
            <a:extLst>
              <a:ext uri="{FF2B5EF4-FFF2-40B4-BE49-F238E27FC236}">
                <a16:creationId xmlns:a16="http://schemas.microsoft.com/office/drawing/2014/main" xmlns="" id="{5142CA62-C5D0-4614-978E-3F6254FEFC8F}"/>
              </a:ext>
            </a:extLst>
          </p:cNvPr>
          <p:cNvSpPr>
            <a:spLocks noGrp="1"/>
          </p:cNvSpPr>
          <p:nvPr>
            <p:ph type="title"/>
          </p:nvPr>
        </p:nvSpPr>
        <p:spPr>
          <a:xfrm>
            <a:off x="471956" y="414725"/>
            <a:ext cx="7886700" cy="583367"/>
          </a:xfrm>
        </p:spPr>
        <p:txBody>
          <a:bodyPr>
            <a:normAutofit fontScale="90000"/>
          </a:bodyPr>
          <a:lstStyle/>
          <a:p>
            <a:pPr>
              <a:lnSpc>
                <a:spcPct val="150000"/>
              </a:lnSpc>
            </a:pPr>
            <a:r>
              <a:rPr lang="en-US" altLang="zh-TW" sz="3200" dirty="0">
                <a:latin typeface="Times New Roman" panose="02020603050405020304" pitchFamily="18" charset="0"/>
                <a:cs typeface="Times New Roman" panose="02020603050405020304" pitchFamily="18" charset="0"/>
              </a:rPr>
              <a:t>Preprocessing of Text</a:t>
            </a:r>
          </a:p>
        </p:txBody>
      </p:sp>
      <p:graphicFrame>
        <p:nvGraphicFramePr>
          <p:cNvPr id="16" name="內容版面配置區 7">
            <a:extLst>
              <a:ext uri="{FF2B5EF4-FFF2-40B4-BE49-F238E27FC236}">
                <a16:creationId xmlns:a16="http://schemas.microsoft.com/office/drawing/2014/main" xmlns="" id="{BAD3633E-85B6-4851-8A1A-25DA1490FDE9}"/>
              </a:ext>
            </a:extLst>
          </p:cNvPr>
          <p:cNvGraphicFramePr>
            <a:graphicFrameLocks/>
          </p:cNvGraphicFramePr>
          <p:nvPr>
            <p:extLst>
              <p:ext uri="{D42A27DB-BD31-4B8C-83A1-F6EECF244321}">
                <p14:modId xmlns:p14="http://schemas.microsoft.com/office/powerpoint/2010/main" val="494371712"/>
              </p:ext>
            </p:extLst>
          </p:nvPr>
        </p:nvGraphicFramePr>
        <p:xfrm>
          <a:off x="1925358" y="4051824"/>
          <a:ext cx="4732020" cy="1483360"/>
        </p:xfrm>
        <a:graphic>
          <a:graphicData uri="http://schemas.openxmlformats.org/drawingml/2006/table">
            <a:tbl>
              <a:tblPr firstRow="1" bandRow="1">
                <a:tableStyleId>{5940675A-B579-460E-94D1-54222C63F5DA}</a:tableStyleId>
              </a:tblPr>
              <a:tblGrid>
                <a:gridCol w="1577340">
                  <a:extLst>
                    <a:ext uri="{9D8B030D-6E8A-4147-A177-3AD203B41FA5}">
                      <a16:colId xmlns:a16="http://schemas.microsoft.com/office/drawing/2014/main" xmlns="" val="4183209010"/>
                    </a:ext>
                  </a:extLst>
                </a:gridCol>
                <a:gridCol w="1577340">
                  <a:extLst>
                    <a:ext uri="{9D8B030D-6E8A-4147-A177-3AD203B41FA5}">
                      <a16:colId xmlns:a16="http://schemas.microsoft.com/office/drawing/2014/main" xmlns="" val="4264795898"/>
                    </a:ext>
                  </a:extLst>
                </a:gridCol>
                <a:gridCol w="1577340">
                  <a:extLst>
                    <a:ext uri="{9D8B030D-6E8A-4147-A177-3AD203B41FA5}">
                      <a16:colId xmlns:a16="http://schemas.microsoft.com/office/drawing/2014/main" xmlns="" val="2897420003"/>
                    </a:ext>
                  </a:extLst>
                </a:gridCol>
              </a:tblGrid>
              <a:tr h="370840">
                <a:tc>
                  <a:txBody>
                    <a:bodyPr/>
                    <a:lstStyle/>
                    <a:p>
                      <a:pPr algn="ctr"/>
                      <a:r>
                        <a:rPr lang="en-US" altLang="zh-TW" baseline="0" dirty="0">
                          <a:latin typeface="Times New Roman" panose="02020603050405020304" pitchFamily="18" charset="0"/>
                        </a:rPr>
                        <a:t>Word</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Index</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Frequency</a:t>
                      </a:r>
                      <a:endParaRPr lang="zh-TW" altLang="en-US" baseline="0" dirty="0">
                        <a:latin typeface="Times New Roman" panose="02020603050405020304" pitchFamily="18" charset="0"/>
                      </a:endParaRPr>
                    </a:p>
                  </a:txBody>
                  <a:tcPr/>
                </a:tc>
                <a:extLst>
                  <a:ext uri="{0D108BD9-81ED-4DB2-BD59-A6C34878D82A}">
                    <a16:rowId xmlns:a16="http://schemas.microsoft.com/office/drawing/2014/main" xmlns="" val="2352578504"/>
                  </a:ext>
                </a:extLst>
              </a:tr>
              <a:tr h="370840">
                <a:tc>
                  <a:txBody>
                    <a:bodyPr/>
                    <a:lstStyle/>
                    <a:p>
                      <a:pPr algn="ctr"/>
                      <a:r>
                        <a:rPr lang="en-US" altLang="zh-TW" baseline="0" dirty="0">
                          <a:latin typeface="Times New Roman" panose="02020603050405020304" pitchFamily="18" charset="0"/>
                        </a:rPr>
                        <a:t>0021</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9 </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5</a:t>
                      </a:r>
                      <a:endParaRPr lang="zh-TW" altLang="en-US" baseline="0" dirty="0">
                        <a:latin typeface="Times New Roman" panose="02020603050405020304" pitchFamily="18" charset="0"/>
                      </a:endParaRPr>
                    </a:p>
                  </a:txBody>
                  <a:tcPr/>
                </a:tc>
                <a:extLst>
                  <a:ext uri="{0D108BD9-81ED-4DB2-BD59-A6C34878D82A}">
                    <a16:rowId xmlns:a16="http://schemas.microsoft.com/office/drawing/2014/main" xmlns="" val="3978714840"/>
                  </a:ext>
                </a:extLst>
              </a:tr>
              <a:tr h="370840">
                <a:tc>
                  <a:txBody>
                    <a:bodyPr/>
                    <a:lstStyle/>
                    <a:p>
                      <a:pPr algn="ctr"/>
                      <a:r>
                        <a:rPr lang="en-US" altLang="zh-TW" baseline="0" dirty="0">
                          <a:latin typeface="Times New Roman" panose="02020603050405020304" pitchFamily="18" charset="0"/>
                        </a:rPr>
                        <a:t>0022</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10</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2</a:t>
                      </a:r>
                      <a:endParaRPr lang="zh-TW" altLang="en-US" baseline="0" dirty="0">
                        <a:latin typeface="Times New Roman" panose="02020603050405020304" pitchFamily="18" charset="0"/>
                      </a:endParaRPr>
                    </a:p>
                  </a:txBody>
                  <a:tcPr/>
                </a:tc>
                <a:extLst>
                  <a:ext uri="{0D108BD9-81ED-4DB2-BD59-A6C34878D82A}">
                    <a16:rowId xmlns:a16="http://schemas.microsoft.com/office/drawing/2014/main" xmlns="" val="2172083126"/>
                  </a:ext>
                </a:extLst>
              </a:tr>
              <a:tr h="370840">
                <a:tc>
                  <a:txBody>
                    <a:bodyPr/>
                    <a:lstStyle/>
                    <a:p>
                      <a:pPr algn="ctr"/>
                      <a:r>
                        <a:rPr lang="en-US" altLang="zh-TW" baseline="0" dirty="0">
                          <a:latin typeface="Times New Roman" panose="02020603050405020304" pitchFamily="18" charset="0"/>
                        </a:rPr>
                        <a:t>0020</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8</a:t>
                      </a:r>
                      <a:endParaRPr lang="zh-TW" altLang="en-US" baseline="0" dirty="0">
                        <a:solidFill>
                          <a:srgbClr val="FF0000"/>
                        </a:solidFill>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1</a:t>
                      </a:r>
                      <a:endParaRPr lang="zh-TW" altLang="en-US" baseline="0" dirty="0">
                        <a:latin typeface="Times New Roman" panose="02020603050405020304" pitchFamily="18" charset="0"/>
                      </a:endParaRPr>
                    </a:p>
                  </a:txBody>
                  <a:tcPr/>
                </a:tc>
                <a:extLst>
                  <a:ext uri="{0D108BD9-81ED-4DB2-BD59-A6C34878D82A}">
                    <a16:rowId xmlns:a16="http://schemas.microsoft.com/office/drawing/2014/main" xmlns="" val="3384057669"/>
                  </a:ext>
                </a:extLst>
              </a:tr>
            </a:tbl>
          </a:graphicData>
        </a:graphic>
      </p:graphicFrame>
      <p:graphicFrame>
        <p:nvGraphicFramePr>
          <p:cNvPr id="20" name="內容版面配置區 7">
            <a:extLst>
              <a:ext uri="{FF2B5EF4-FFF2-40B4-BE49-F238E27FC236}">
                <a16:creationId xmlns:a16="http://schemas.microsoft.com/office/drawing/2014/main" xmlns="" id="{D074AE84-48DF-4D0E-BC52-F86E0E9E0101}"/>
              </a:ext>
            </a:extLst>
          </p:cNvPr>
          <p:cNvGraphicFramePr>
            <a:graphicFrameLocks/>
          </p:cNvGraphicFramePr>
          <p:nvPr>
            <p:extLst>
              <p:ext uri="{D42A27DB-BD31-4B8C-83A1-F6EECF244321}">
                <p14:modId xmlns:p14="http://schemas.microsoft.com/office/powerpoint/2010/main" val="3425590819"/>
              </p:ext>
            </p:extLst>
          </p:nvPr>
        </p:nvGraphicFramePr>
        <p:xfrm>
          <a:off x="1925358" y="4051824"/>
          <a:ext cx="4732020" cy="1483360"/>
        </p:xfrm>
        <a:graphic>
          <a:graphicData uri="http://schemas.openxmlformats.org/drawingml/2006/table">
            <a:tbl>
              <a:tblPr firstRow="1" bandRow="1">
                <a:tableStyleId>{5940675A-B579-460E-94D1-54222C63F5DA}</a:tableStyleId>
              </a:tblPr>
              <a:tblGrid>
                <a:gridCol w="1577340">
                  <a:extLst>
                    <a:ext uri="{9D8B030D-6E8A-4147-A177-3AD203B41FA5}">
                      <a16:colId xmlns:a16="http://schemas.microsoft.com/office/drawing/2014/main" xmlns="" val="4183209010"/>
                    </a:ext>
                  </a:extLst>
                </a:gridCol>
                <a:gridCol w="1577340">
                  <a:extLst>
                    <a:ext uri="{9D8B030D-6E8A-4147-A177-3AD203B41FA5}">
                      <a16:colId xmlns:a16="http://schemas.microsoft.com/office/drawing/2014/main" xmlns="" val="4264795898"/>
                    </a:ext>
                  </a:extLst>
                </a:gridCol>
                <a:gridCol w="1577340">
                  <a:extLst>
                    <a:ext uri="{9D8B030D-6E8A-4147-A177-3AD203B41FA5}">
                      <a16:colId xmlns:a16="http://schemas.microsoft.com/office/drawing/2014/main" xmlns="" val="2897420003"/>
                    </a:ext>
                  </a:extLst>
                </a:gridCol>
              </a:tblGrid>
              <a:tr h="370840">
                <a:tc>
                  <a:txBody>
                    <a:bodyPr/>
                    <a:lstStyle/>
                    <a:p>
                      <a:pPr algn="ctr"/>
                      <a:r>
                        <a:rPr lang="en-US" altLang="zh-TW" baseline="0" dirty="0">
                          <a:latin typeface="Times New Roman" panose="02020603050405020304" pitchFamily="18" charset="0"/>
                        </a:rPr>
                        <a:t>Word</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Index</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Codes</a:t>
                      </a:r>
                      <a:endParaRPr lang="zh-TW" altLang="en-US" baseline="0" dirty="0">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2352578504"/>
                  </a:ext>
                </a:extLst>
              </a:tr>
              <a:tr h="370840">
                <a:tc>
                  <a:txBody>
                    <a:bodyPr/>
                    <a:lstStyle/>
                    <a:p>
                      <a:pPr algn="ctr"/>
                      <a:r>
                        <a:rPr lang="en-US" altLang="zh-TW" baseline="0" dirty="0">
                          <a:latin typeface="Times New Roman" panose="02020603050405020304" pitchFamily="18" charset="0"/>
                        </a:rPr>
                        <a:t>0021</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9 </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01</a:t>
                      </a:r>
                      <a:endParaRPr lang="zh-TW" altLang="en-US" baseline="0" dirty="0">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3978714840"/>
                  </a:ext>
                </a:extLst>
              </a:tr>
              <a:tr h="370840">
                <a:tc>
                  <a:txBody>
                    <a:bodyPr/>
                    <a:lstStyle/>
                    <a:p>
                      <a:pPr algn="ctr"/>
                      <a:r>
                        <a:rPr lang="en-US" altLang="zh-TW" baseline="0" dirty="0">
                          <a:latin typeface="Times New Roman" panose="02020603050405020304" pitchFamily="18" charset="0"/>
                        </a:rPr>
                        <a:t>0022</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10</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10</a:t>
                      </a:r>
                      <a:endParaRPr lang="zh-TW" altLang="en-US" baseline="0" dirty="0">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2172083126"/>
                  </a:ext>
                </a:extLst>
              </a:tr>
              <a:tr h="370840">
                <a:tc>
                  <a:txBody>
                    <a:bodyPr/>
                    <a:lstStyle/>
                    <a:p>
                      <a:pPr algn="ctr"/>
                      <a:r>
                        <a:rPr lang="en-US" altLang="zh-TW" baseline="0" dirty="0">
                          <a:latin typeface="Times New Roman" panose="02020603050405020304" pitchFamily="18" charset="0"/>
                        </a:rPr>
                        <a:t>0020</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8</a:t>
                      </a:r>
                      <a:endParaRPr lang="zh-TW" altLang="en-US" baseline="0" dirty="0">
                        <a:solidFill>
                          <a:srgbClr val="FF0000"/>
                        </a:solidFill>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0001</a:t>
                      </a:r>
                      <a:endParaRPr lang="zh-TW" altLang="en-US" baseline="0" dirty="0">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3384057669"/>
                  </a:ext>
                </a:extLst>
              </a:tr>
            </a:tbl>
          </a:graphicData>
        </a:graphic>
      </p:graphicFrame>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12</a:t>
            </a:fld>
            <a:endParaRPr lang="zh-TW" altLang="en-US"/>
          </a:p>
        </p:txBody>
      </p:sp>
      <p:sp>
        <p:nvSpPr>
          <p:cNvPr id="14" name="矩形 13">
            <a:extLst>
              <a:ext uri="{FF2B5EF4-FFF2-40B4-BE49-F238E27FC236}">
                <a16:creationId xmlns:a16="http://schemas.microsoft.com/office/drawing/2014/main" xmlns="" id="{C8827685-E087-4ED2-B30E-7DA0C1390957}"/>
              </a:ext>
            </a:extLst>
          </p:cNvPr>
          <p:cNvSpPr/>
          <p:nvPr/>
        </p:nvSpPr>
        <p:spPr>
          <a:xfrm>
            <a:off x="501748" y="2229513"/>
            <a:ext cx="1820212" cy="400110"/>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Modified:</a:t>
            </a:r>
            <a:r>
              <a:rPr lang="zh-TW" altLang="en-US" sz="2000" dirty="0">
                <a:latin typeface="Times New Roman" panose="02020603050405020304" pitchFamily="18" charset="0"/>
                <a:cs typeface="Times New Roman" panose="02020603050405020304" pitchFamily="18" charset="0"/>
              </a:rPr>
              <a:t> </a:t>
            </a:r>
            <a:endParaRPr lang="en-US" altLang="zh-TW" sz="2000" dirty="0">
              <a:latin typeface="Times New Roman" panose="02020603050405020304" pitchFamily="18" charset="0"/>
              <a:cs typeface="Times New Roman" panose="02020603050405020304" pitchFamily="18" charset="0"/>
            </a:endParaRPr>
          </a:p>
        </p:txBody>
      </p:sp>
      <p:sp>
        <p:nvSpPr>
          <p:cNvPr id="15" name="矩形 14">
            <a:extLst>
              <a:ext uri="{FF2B5EF4-FFF2-40B4-BE49-F238E27FC236}">
                <a16:creationId xmlns:a16="http://schemas.microsoft.com/office/drawing/2014/main" xmlns="" id="{D1F6A019-2366-4CE4-BE85-9E621618ADEE}"/>
              </a:ext>
            </a:extLst>
          </p:cNvPr>
          <p:cNvSpPr/>
          <p:nvPr/>
        </p:nvSpPr>
        <p:spPr>
          <a:xfrm>
            <a:off x="2007352" y="2707249"/>
            <a:ext cx="6584238" cy="400110"/>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0021	0022	0021	0021      0021	0022	0020</a:t>
            </a:r>
            <a:endParaRPr lang="en-US" altLang="zh-TW" sz="2000" dirty="0">
              <a:solidFill>
                <a:srgbClr val="0070C0"/>
              </a:solidFill>
              <a:latin typeface="Times New Roman" panose="02020603050405020304" pitchFamily="18" charset="0"/>
              <a:cs typeface="Times New Roman" panose="02020603050405020304" pitchFamily="18" charset="0"/>
            </a:endParaRPr>
          </a:p>
        </p:txBody>
      </p:sp>
      <p:sp>
        <p:nvSpPr>
          <p:cNvPr id="24" name="矩形 23">
            <a:extLst>
              <a:ext uri="{FF2B5EF4-FFF2-40B4-BE49-F238E27FC236}">
                <a16:creationId xmlns:a16="http://schemas.microsoft.com/office/drawing/2014/main" xmlns="" id="{BED69EC6-12FD-4C9C-A9F0-A4729196D3FA}"/>
              </a:ext>
            </a:extLst>
          </p:cNvPr>
          <p:cNvSpPr/>
          <p:nvPr/>
        </p:nvSpPr>
        <p:spPr>
          <a:xfrm>
            <a:off x="1813649" y="2166452"/>
            <a:ext cx="6584238" cy="506164"/>
          </a:xfrm>
          <a:prstGeom prst="rect">
            <a:avLst/>
          </a:prstGeom>
        </p:spPr>
        <p:txBody>
          <a:bodyPr wrap="none">
            <a:spAutoFit/>
          </a:bodyPr>
          <a:lstStyle/>
          <a:p>
            <a:pPr>
              <a:lnSpc>
                <a:spcPct val="150000"/>
              </a:lnSpc>
            </a:pPr>
            <a:r>
              <a:rPr lang="en-US" altLang="zh-TW" sz="2000" dirty="0">
                <a:latin typeface="Arial Black" panose="020B0A04020102020204" pitchFamily="34" charset="0"/>
                <a:cs typeface="AngsanaUPC" panose="020B0502040204020203" pitchFamily="18" charset="-34"/>
              </a:rPr>
              <a:t>ABAA</a:t>
            </a:r>
            <a:r>
              <a:rPr lang="zh-TW" altLang="en-US" sz="2000" dirty="0">
                <a:latin typeface="Arial Black" panose="020B0A04020102020204" pitchFamily="34" charset="0"/>
                <a:cs typeface="AngsanaUPC" panose="020B0502040204020203" pitchFamily="18" charset="-34"/>
              </a:rPr>
              <a:t> </a:t>
            </a:r>
            <a:r>
              <a:rPr lang="en-US" altLang="zh-TW" sz="2000" dirty="0">
                <a:latin typeface="Arial Black" panose="020B0A04020102020204" pitchFamily="34" charset="0"/>
                <a:cs typeface="AngsanaUPC" panose="020B0502040204020203" pitchFamily="18" charset="-34"/>
              </a:rPr>
              <a:t>{</a:t>
            </a:r>
            <a:r>
              <a:rPr lang="en-US" altLang="zh-TW" sz="2000" dirty="0">
                <a:solidFill>
                  <a:srgbClr val="0070C0"/>
                </a:solidFill>
                <a:latin typeface="Arial Black" panose="020B0A04020102020204" pitchFamily="34" charset="0"/>
                <a:cs typeface="AngsanaUPC" panose="020B0502040204020203" pitchFamily="18" charset="-34"/>
              </a:rPr>
              <a:t>BABA ABAA</a:t>
            </a:r>
            <a:r>
              <a:rPr lang="en-US" altLang="zh-TW" sz="2000" dirty="0">
                <a:latin typeface="Arial Black" panose="020B0A04020102020204" pitchFamily="34" charset="0"/>
                <a:cs typeface="AngsanaUPC" panose="020B0502040204020203" pitchFamily="18" charset="-34"/>
              </a:rPr>
              <a:t>} BCBB ACBB {</a:t>
            </a:r>
            <a:r>
              <a:rPr lang="en-US" altLang="zh-TW" sz="2000" dirty="0">
                <a:solidFill>
                  <a:srgbClr val="0070C0"/>
                </a:solidFill>
                <a:latin typeface="Arial Black" panose="020B0A04020102020204" pitchFamily="34" charset="0"/>
                <a:cs typeface="AngsanaUPC" panose="020B0502040204020203" pitchFamily="18" charset="-34"/>
              </a:rPr>
              <a:t>DEDE EDEB</a:t>
            </a:r>
            <a:r>
              <a:rPr lang="en-US" altLang="zh-TW" sz="2000" dirty="0">
                <a:latin typeface="Arial Black" panose="020B0A04020102020204" pitchFamily="34" charset="0"/>
                <a:cs typeface="AngsanaUPC" panose="020B0502040204020203" pitchFamily="18" charset="-34"/>
              </a:rPr>
              <a:t>}</a:t>
            </a:r>
          </a:p>
        </p:txBody>
      </p:sp>
      <p:grpSp>
        <p:nvGrpSpPr>
          <p:cNvPr id="7" name="群組 6">
            <a:extLst>
              <a:ext uri="{FF2B5EF4-FFF2-40B4-BE49-F238E27FC236}">
                <a16:creationId xmlns:a16="http://schemas.microsoft.com/office/drawing/2014/main" xmlns="" id="{F930A4AE-42CC-4DA2-9FC4-F7E2F6BE05DD}"/>
              </a:ext>
            </a:extLst>
          </p:cNvPr>
          <p:cNvGrpSpPr/>
          <p:nvPr/>
        </p:nvGrpSpPr>
        <p:grpSpPr>
          <a:xfrm>
            <a:off x="501749" y="1043990"/>
            <a:ext cx="8263962" cy="863814"/>
            <a:chOff x="501749" y="1043990"/>
            <a:chExt cx="8263962" cy="863814"/>
          </a:xfrm>
        </p:grpSpPr>
        <p:grpSp>
          <p:nvGrpSpPr>
            <p:cNvPr id="5" name="群組 4">
              <a:extLst>
                <a:ext uri="{FF2B5EF4-FFF2-40B4-BE49-F238E27FC236}">
                  <a16:creationId xmlns:a16="http://schemas.microsoft.com/office/drawing/2014/main" xmlns="" id="{A8704714-A153-4D03-85FD-D4D4DD9461BF}"/>
                </a:ext>
              </a:extLst>
            </p:cNvPr>
            <p:cNvGrpSpPr/>
            <p:nvPr/>
          </p:nvGrpSpPr>
          <p:grpSpPr>
            <a:xfrm>
              <a:off x="501749" y="1043990"/>
              <a:ext cx="7099478" cy="715865"/>
              <a:chOff x="501749" y="626724"/>
              <a:chExt cx="7099478" cy="715865"/>
            </a:xfrm>
          </p:grpSpPr>
          <p:sp>
            <p:nvSpPr>
              <p:cNvPr id="11" name="內容版面配置區 6">
                <a:extLst>
                  <a:ext uri="{FF2B5EF4-FFF2-40B4-BE49-F238E27FC236}">
                    <a16:creationId xmlns:a16="http://schemas.microsoft.com/office/drawing/2014/main" xmlns="" id="{9B9DE786-0EFB-4932-AA42-934FF1949394}"/>
                  </a:ext>
                </a:extLst>
              </p:cNvPr>
              <p:cNvSpPr txBox="1">
                <a:spLocks/>
              </p:cNvSpPr>
              <p:nvPr/>
            </p:nvSpPr>
            <p:spPr>
              <a:xfrm>
                <a:off x="501749" y="626724"/>
                <a:ext cx="465918" cy="7158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T:</a:t>
                </a:r>
              </a:p>
              <a:p>
                <a:pPr>
                  <a:lnSpc>
                    <a:spcPct val="150000"/>
                  </a:lnSpc>
                </a:pPr>
                <a:endParaRPr lang="en-US" altLang="zh-TW" sz="2400" dirty="0">
                  <a:latin typeface="Times New Roman" panose="02020603050405020304" pitchFamily="18" charset="0"/>
                  <a:cs typeface="Times New Roman" panose="02020603050405020304" pitchFamily="18" charset="0"/>
                </a:endParaRPr>
              </a:p>
              <a:p>
                <a:pPr marL="0" indent="0">
                  <a:lnSpc>
                    <a:spcPct val="150000"/>
                  </a:lnSpc>
                  <a:buFont typeface="Arial" panose="020B0604020202020204" pitchFamily="34" charset="0"/>
                  <a:buNone/>
                </a:pPr>
                <a:endParaRPr lang="en-US" altLang="zh-TW" sz="2400" dirty="0">
                  <a:latin typeface="Times New Roman" panose="02020603050405020304" pitchFamily="18" charset="0"/>
                  <a:cs typeface="Times New Roman" panose="02020603050405020304" pitchFamily="18" charset="0"/>
                </a:endParaRPr>
              </a:p>
            </p:txBody>
          </p:sp>
          <p:sp>
            <p:nvSpPr>
              <p:cNvPr id="23" name="矩形 22">
                <a:extLst>
                  <a:ext uri="{FF2B5EF4-FFF2-40B4-BE49-F238E27FC236}">
                    <a16:creationId xmlns:a16="http://schemas.microsoft.com/office/drawing/2014/main" xmlns="" id="{5F06EC41-9D7E-4AEC-92D6-6029752090C6}"/>
                  </a:ext>
                </a:extLst>
              </p:cNvPr>
              <p:cNvSpPr/>
              <p:nvPr/>
            </p:nvSpPr>
            <p:spPr>
              <a:xfrm>
                <a:off x="1804960" y="626724"/>
                <a:ext cx="5796267" cy="588879"/>
              </a:xfrm>
              <a:prstGeom prst="rect">
                <a:avLst/>
              </a:prstGeom>
            </p:spPr>
            <p:txBody>
              <a:bodyPr wrap="none">
                <a:spAutoFit/>
              </a:bodyPr>
              <a:lstStyle/>
              <a:p>
                <a:pPr>
                  <a:lnSpc>
                    <a:spcPct val="150000"/>
                  </a:lnSpc>
                </a:pPr>
                <a:r>
                  <a:rPr lang="en-US" altLang="zh-TW" sz="2400" dirty="0">
                    <a:latin typeface="Arial Black" panose="020B0A04020102020204" pitchFamily="34" charset="0"/>
                    <a:cs typeface="AngsanaUPC" panose="020B0502040204020203" pitchFamily="18" charset="-34"/>
                  </a:rPr>
                  <a:t>ABAA </a:t>
                </a:r>
                <a:r>
                  <a:rPr lang="en-US" altLang="zh-TW" sz="2400" dirty="0">
                    <a:solidFill>
                      <a:srgbClr val="0070C0"/>
                    </a:solidFill>
                    <a:latin typeface="Arial Black" panose="020B0A04020102020204" pitchFamily="34" charset="0"/>
                    <a:cs typeface="AngsanaUPC" panose="020B0502040204020203" pitchFamily="18" charset="-34"/>
                  </a:rPr>
                  <a:t>BABAA</a:t>
                </a:r>
                <a:r>
                  <a:rPr lang="en-US" altLang="zh-TW" sz="2400" dirty="0">
                    <a:latin typeface="Arial Black" panose="020B0A04020102020204" pitchFamily="34" charset="0"/>
                    <a:cs typeface="AngsanaUPC" panose="020B0502040204020203" pitchFamily="18" charset="-34"/>
                  </a:rPr>
                  <a:t> BCBB ACBB </a:t>
                </a:r>
                <a:r>
                  <a:rPr lang="en-US" altLang="zh-TW" sz="2400" dirty="0">
                    <a:solidFill>
                      <a:srgbClr val="0070C0"/>
                    </a:solidFill>
                    <a:latin typeface="Arial Black" panose="020B0A04020102020204" pitchFamily="34" charset="0"/>
                    <a:cs typeface="AngsanaUPC" panose="020B0502040204020203" pitchFamily="18" charset="-34"/>
                  </a:rPr>
                  <a:t>DEDEB</a:t>
                </a:r>
                <a:endParaRPr lang="zh-TW" altLang="en-US" sz="2400" dirty="0">
                  <a:solidFill>
                    <a:srgbClr val="0070C0"/>
                  </a:solidFill>
                  <a:latin typeface="Arial Black" panose="020B0A04020102020204" pitchFamily="34" charset="0"/>
                  <a:cs typeface="AngsanaUPC" panose="020B0502040204020203" pitchFamily="18" charset="-34"/>
                </a:endParaRPr>
              </a:p>
            </p:txBody>
          </p:sp>
        </p:grpSp>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xmlns="" id="{3154DE31-1938-4CEE-8396-CAA90748199E}"/>
                    </a:ext>
                  </a:extLst>
                </p:cNvPr>
                <p:cNvSpPr/>
                <p:nvPr/>
              </p:nvSpPr>
              <p:spPr>
                <a:xfrm>
                  <a:off x="6657378" y="1449730"/>
                  <a:ext cx="2108333" cy="458074"/>
                </a:xfrm>
                <a:prstGeom prst="rect">
                  <a:avLst/>
                </a:prstGeom>
              </p:spPr>
              <p:txBody>
                <a:bodyPr wrap="none">
                  <a:spAutoFit/>
                </a:bodyPr>
                <a:lstStyle/>
                <a:p>
                  <a:pPr algn="r">
                    <a:lnSpc>
                      <a:spcPct val="150000"/>
                    </a:lnSpc>
                  </a:pPr>
                  <a14:m>
                    <m:oMath xmlns:m="http://schemas.openxmlformats.org/officeDocument/2006/math">
                      <m:nary>
                        <m:naryPr>
                          <m:chr m:val="∑"/>
                          <m:subHide m:val="on"/>
                          <m:supHide m:val="on"/>
                          <m:ctrlPr>
                            <a:rPr lang="en-US" altLang="zh-TW" i="1">
                              <a:latin typeface="Cambria Math" panose="02040503050406030204" pitchFamily="18" charset="0"/>
                              <a:cs typeface="Times New Roman" panose="02020603050405020304" pitchFamily="18" charset="0"/>
                            </a:rPr>
                          </m:ctrlPr>
                        </m:naryPr>
                        <m:sub/>
                        <m:sup/>
                        <m:e>
                          <m:r>
                            <a:rPr lang="en-US" altLang="zh-TW" i="1">
                              <a:latin typeface="Cambria Math" panose="02040503050406030204" pitchFamily="18" charset="0"/>
                              <a:cs typeface="Times New Roman" panose="02020603050405020304" pitchFamily="18" charset="0"/>
                            </a:rPr>
                            <m:t>=</m:t>
                          </m:r>
                        </m:e>
                      </m:nary>
                    </m:oMath>
                  </a14:m>
                  <a:r>
                    <a:rPr lang="en-US" altLang="zh-TW" dirty="0">
                      <a:latin typeface="Times New Roman" panose="02020603050405020304" pitchFamily="18" charset="0"/>
                      <a:cs typeface="Times New Roman" panose="02020603050405020304" pitchFamily="18" charset="0"/>
                    </a:rPr>
                    <a:t> {A, B, C, 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E}</a:t>
                  </a:r>
                </a:p>
              </p:txBody>
            </p:sp>
          </mc:Choice>
          <mc:Fallback xmlns="">
            <p:sp>
              <p:nvSpPr>
                <p:cNvPr id="25" name="矩形 24">
                  <a:extLst>
                    <a:ext uri="{FF2B5EF4-FFF2-40B4-BE49-F238E27FC236}">
                      <a16:creationId xmlns:a16="http://schemas.microsoft.com/office/drawing/2014/main" id="{3154DE31-1938-4CEE-8396-CAA90748199E}"/>
                    </a:ext>
                  </a:extLst>
                </p:cNvPr>
                <p:cNvSpPr>
                  <a:spLocks noRot="1" noChangeAspect="1" noMove="1" noResize="1" noEditPoints="1" noAdjustHandles="1" noChangeArrowheads="1" noChangeShapeType="1" noTextEdit="1"/>
                </p:cNvSpPr>
                <p:nvPr/>
              </p:nvSpPr>
              <p:spPr>
                <a:xfrm>
                  <a:off x="6657378" y="1449730"/>
                  <a:ext cx="2108333" cy="458074"/>
                </a:xfrm>
                <a:prstGeom prst="rect">
                  <a:avLst/>
                </a:prstGeom>
                <a:blipFill>
                  <a:blip r:embed="rId3"/>
                  <a:stretch>
                    <a:fillRect l="-15029" t="-76000" r="-2601" b="-152000"/>
                  </a:stretch>
                </a:blipFill>
              </p:spPr>
              <p:txBody>
                <a:bodyPr/>
                <a:lstStyle/>
                <a:p>
                  <a:r>
                    <a:rPr lang="zh-TW" altLang="en-US">
                      <a:noFill/>
                    </a:rPr>
                    <a:t> </a:t>
                  </a:r>
                </a:p>
              </p:txBody>
            </p:sp>
          </mc:Fallback>
        </mc:AlternateContent>
      </p:grpSp>
      <p:sp>
        <p:nvSpPr>
          <p:cNvPr id="17" name="矩形 16">
            <a:extLst>
              <a:ext uri="{FF2B5EF4-FFF2-40B4-BE49-F238E27FC236}">
                <a16:creationId xmlns:a16="http://schemas.microsoft.com/office/drawing/2014/main" xmlns="" id="{37952E6C-2084-458C-A18F-F73248EE7B90}"/>
              </a:ext>
            </a:extLst>
          </p:cNvPr>
          <p:cNvSpPr/>
          <p:nvPr/>
        </p:nvSpPr>
        <p:spPr>
          <a:xfrm>
            <a:off x="4587677" y="4783899"/>
            <a:ext cx="518091" cy="369332"/>
          </a:xfrm>
          <a:prstGeom prst="rect">
            <a:avLst/>
          </a:prstGeom>
        </p:spPr>
        <p:txBody>
          <a:bodyPr wrap="none">
            <a:spAutoFit/>
          </a:bodyPr>
          <a:lstStyle/>
          <a:p>
            <a:r>
              <a:rPr lang="en-US" altLang="zh-TW" dirty="0">
                <a:solidFill>
                  <a:srgbClr val="FF0000"/>
                </a:solidFill>
                <a:latin typeface="Times New Roman" panose="02020603050405020304" pitchFamily="18" charset="0"/>
              </a:rPr>
              <a:t>18?</a:t>
            </a:r>
            <a:endParaRPr lang="zh-TW" altLang="en-US" dirty="0"/>
          </a:p>
        </p:txBody>
      </p:sp>
      <p:sp>
        <p:nvSpPr>
          <p:cNvPr id="18" name="矩形 17">
            <a:extLst>
              <a:ext uri="{FF2B5EF4-FFF2-40B4-BE49-F238E27FC236}">
                <a16:creationId xmlns:a16="http://schemas.microsoft.com/office/drawing/2014/main" xmlns="" id="{79379D72-BBB5-4F22-A33F-EAB2BE261515}"/>
              </a:ext>
            </a:extLst>
          </p:cNvPr>
          <p:cNvSpPr/>
          <p:nvPr/>
        </p:nvSpPr>
        <p:spPr>
          <a:xfrm>
            <a:off x="4703094" y="4389727"/>
            <a:ext cx="402674" cy="369332"/>
          </a:xfrm>
          <a:prstGeom prst="rect">
            <a:avLst/>
          </a:prstGeom>
        </p:spPr>
        <p:txBody>
          <a:bodyPr wrap="none">
            <a:spAutoFit/>
          </a:bodyPr>
          <a:lstStyle/>
          <a:p>
            <a:r>
              <a:rPr lang="en-US" altLang="zh-TW" dirty="0">
                <a:solidFill>
                  <a:srgbClr val="FF0000"/>
                </a:solidFill>
                <a:latin typeface="Times New Roman" panose="02020603050405020304" pitchFamily="18" charset="0"/>
              </a:rPr>
              <a:t>5?</a:t>
            </a:r>
            <a:endParaRPr lang="zh-TW" altLang="en-US" dirty="0"/>
          </a:p>
        </p:txBody>
      </p:sp>
      <p:grpSp>
        <p:nvGrpSpPr>
          <p:cNvPr id="27" name="群組 26">
            <a:extLst>
              <a:ext uri="{FF2B5EF4-FFF2-40B4-BE49-F238E27FC236}">
                <a16:creationId xmlns:a16="http://schemas.microsoft.com/office/drawing/2014/main" xmlns="" id="{24E15FEF-224C-4C38-AEE0-7583BB4B092A}"/>
              </a:ext>
            </a:extLst>
          </p:cNvPr>
          <p:cNvGrpSpPr/>
          <p:nvPr/>
        </p:nvGrpSpPr>
        <p:grpSpPr>
          <a:xfrm>
            <a:off x="501749" y="5755595"/>
            <a:ext cx="7807750" cy="715865"/>
            <a:chOff x="501749" y="626724"/>
            <a:chExt cx="7807750" cy="715865"/>
          </a:xfrm>
        </p:grpSpPr>
        <p:sp>
          <p:nvSpPr>
            <p:cNvPr id="28" name="內容版面配置區 6">
              <a:extLst>
                <a:ext uri="{FF2B5EF4-FFF2-40B4-BE49-F238E27FC236}">
                  <a16:creationId xmlns:a16="http://schemas.microsoft.com/office/drawing/2014/main" xmlns="" id="{07BB9455-734C-4243-808E-2CA4AC28693C}"/>
                </a:ext>
              </a:extLst>
            </p:cNvPr>
            <p:cNvSpPr txBox="1">
              <a:spLocks/>
            </p:cNvSpPr>
            <p:nvPr/>
          </p:nvSpPr>
          <p:spPr>
            <a:xfrm>
              <a:off x="501749" y="626724"/>
              <a:ext cx="465918" cy="71586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T’:</a:t>
              </a:r>
            </a:p>
            <a:p>
              <a:pPr>
                <a:lnSpc>
                  <a:spcPct val="150000"/>
                </a:lnSpc>
              </a:pPr>
              <a:endParaRPr lang="en-US" altLang="zh-TW" sz="2400" dirty="0">
                <a:latin typeface="Times New Roman" panose="02020603050405020304" pitchFamily="18" charset="0"/>
                <a:cs typeface="Times New Roman" panose="02020603050405020304" pitchFamily="18" charset="0"/>
              </a:endParaRPr>
            </a:p>
            <a:p>
              <a:pPr marL="0" indent="0">
                <a:lnSpc>
                  <a:spcPct val="150000"/>
                </a:lnSpc>
                <a:buFont typeface="Arial" panose="020B0604020202020204" pitchFamily="34" charset="0"/>
                <a:buNone/>
              </a:pPr>
              <a:endParaRPr lang="en-US" altLang="zh-TW" sz="2400" dirty="0">
                <a:latin typeface="Times New Roman" panose="02020603050405020304" pitchFamily="18" charset="0"/>
                <a:cs typeface="Times New Roman" panose="02020603050405020304" pitchFamily="18" charset="0"/>
              </a:endParaRPr>
            </a:p>
          </p:txBody>
        </p:sp>
        <p:sp>
          <p:nvSpPr>
            <p:cNvPr id="29" name="矩形 28">
              <a:extLst>
                <a:ext uri="{FF2B5EF4-FFF2-40B4-BE49-F238E27FC236}">
                  <a16:creationId xmlns:a16="http://schemas.microsoft.com/office/drawing/2014/main" xmlns="" id="{4A4A642B-0FD6-44C2-8182-A2AD9BE57922}"/>
                </a:ext>
              </a:extLst>
            </p:cNvPr>
            <p:cNvSpPr/>
            <p:nvPr/>
          </p:nvSpPr>
          <p:spPr>
            <a:xfrm>
              <a:off x="1346918" y="626724"/>
              <a:ext cx="4596130" cy="588879"/>
            </a:xfrm>
            <a:prstGeom prst="rect">
              <a:avLst/>
            </a:prstGeom>
          </p:spPr>
          <p:txBody>
            <a:bodyPr wrap="none">
              <a:spAutoFit/>
            </a:bodyPr>
            <a:lstStyle/>
            <a:p>
              <a:pPr>
                <a:lnSpc>
                  <a:spcPct val="150000"/>
                </a:lnSpc>
              </a:pPr>
              <a:r>
                <a:rPr lang="en-US" altLang="zh-TW" sz="2400" dirty="0">
                  <a:latin typeface="Arial Black" panose="020B0A04020102020204" pitchFamily="34" charset="0"/>
                  <a:cs typeface="AngsanaUPC" panose="020B0502040204020203" pitchFamily="18" charset="-34"/>
                </a:rPr>
                <a:t>01 10 01 01 01 10 0001 01</a:t>
              </a:r>
              <a:endParaRPr lang="zh-TW" altLang="en-US" sz="2400" dirty="0">
                <a:solidFill>
                  <a:srgbClr val="0070C0"/>
                </a:solidFill>
                <a:latin typeface="Arial Black" panose="020B0A04020102020204" pitchFamily="34" charset="0"/>
                <a:cs typeface="AngsanaUPC" panose="020B0502040204020203" pitchFamily="18" charset="-34"/>
              </a:endParaRPr>
            </a:p>
          </p:txBody>
        </p:sp>
        <p:sp>
          <p:nvSpPr>
            <p:cNvPr id="30" name="內容版面配置區 6">
              <a:extLst>
                <a:ext uri="{FF2B5EF4-FFF2-40B4-BE49-F238E27FC236}">
                  <a16:creationId xmlns:a16="http://schemas.microsoft.com/office/drawing/2014/main" xmlns="" id="{A0725A9D-7981-475B-A14F-B6F650FDD01D}"/>
                </a:ext>
              </a:extLst>
            </p:cNvPr>
            <p:cNvSpPr txBox="1">
              <a:spLocks/>
            </p:cNvSpPr>
            <p:nvPr/>
          </p:nvSpPr>
          <p:spPr>
            <a:xfrm>
              <a:off x="5992033" y="626724"/>
              <a:ext cx="2317466" cy="71586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(Compressed Text)</a:t>
              </a:r>
            </a:p>
            <a:p>
              <a:pPr>
                <a:lnSpc>
                  <a:spcPct val="150000"/>
                </a:lnSpc>
              </a:pPr>
              <a:endParaRPr lang="en-US" altLang="zh-TW" sz="2400" dirty="0">
                <a:latin typeface="Times New Roman" panose="02020603050405020304" pitchFamily="18" charset="0"/>
                <a:cs typeface="Times New Roman" panose="02020603050405020304" pitchFamily="18" charset="0"/>
              </a:endParaRPr>
            </a:p>
            <a:p>
              <a:pPr marL="0" indent="0">
                <a:lnSpc>
                  <a:spcPct val="150000"/>
                </a:lnSpc>
                <a:buFont typeface="Arial" panose="020B0604020202020204" pitchFamily="34" charset="0"/>
                <a:buNone/>
              </a:pPr>
              <a:endParaRPr lang="en-US" altLang="zh-TW" sz="2400" dirty="0">
                <a:latin typeface="Times New Roman" panose="02020603050405020304" pitchFamily="18" charset="0"/>
                <a:cs typeface="Times New Roman" panose="02020603050405020304" pitchFamily="18" charset="0"/>
              </a:endParaRPr>
            </a:p>
          </p:txBody>
        </p:sp>
      </p:grpSp>
      <p:sp>
        <p:nvSpPr>
          <p:cNvPr id="33" name="矩形 32">
            <a:extLst>
              <a:ext uri="{FF2B5EF4-FFF2-40B4-BE49-F238E27FC236}">
                <a16:creationId xmlns:a16="http://schemas.microsoft.com/office/drawing/2014/main" xmlns="" id="{CFCDF686-AB8A-42B9-A242-0614A663C654}"/>
              </a:ext>
            </a:extLst>
          </p:cNvPr>
          <p:cNvSpPr/>
          <p:nvPr/>
        </p:nvSpPr>
        <p:spPr>
          <a:xfrm>
            <a:off x="501748" y="2697496"/>
            <a:ext cx="1820212" cy="400110"/>
          </a:xfrm>
          <a:prstGeom prst="rect">
            <a:avLst/>
          </a:prstGeom>
        </p:spPr>
        <p:txBody>
          <a:bodyPr wrap="square">
            <a:spAutoFit/>
          </a:bodyPr>
          <a:lstStyle/>
          <a:p>
            <a:r>
              <a:rPr lang="en-US" altLang="zh-TW" sz="2000" dirty="0" err="1">
                <a:latin typeface="Times New Roman" panose="02020603050405020304" pitchFamily="18" charset="0"/>
                <a:cs typeface="Times New Roman" panose="02020603050405020304" pitchFamily="18" charset="0"/>
              </a:rPr>
              <a:t>Pred</a:t>
            </a:r>
            <a:r>
              <a:rPr lang="en-US" altLang="zh-TW" sz="2000" dirty="0">
                <a:latin typeface="Times New Roman" panose="02020603050405020304" pitchFamily="18" charset="0"/>
                <a:cs typeface="Times New Roman" panose="02020603050405020304" pitchFamily="18" charset="0"/>
              </a:rPr>
              <a:t>:</a:t>
            </a:r>
            <a:r>
              <a:rPr lang="zh-TW" altLang="en-US" sz="2000" dirty="0">
                <a:latin typeface="Times New Roman" panose="02020603050405020304" pitchFamily="18" charset="0"/>
                <a:cs typeface="Times New Roman" panose="02020603050405020304" pitchFamily="18" charset="0"/>
              </a:rPr>
              <a:t> </a:t>
            </a:r>
            <a:endParaRPr lang="en-US" altLang="zh-TW" sz="2000" dirty="0">
              <a:latin typeface="Times New Roman" panose="02020603050405020304" pitchFamily="18" charset="0"/>
              <a:cs typeface="Times New Roman" panose="02020603050405020304" pitchFamily="18" charset="0"/>
            </a:endParaRPr>
          </a:p>
        </p:txBody>
      </p:sp>
      <p:sp>
        <p:nvSpPr>
          <p:cNvPr id="34" name="矩形 33">
            <a:extLst>
              <a:ext uri="{FF2B5EF4-FFF2-40B4-BE49-F238E27FC236}">
                <a16:creationId xmlns:a16="http://schemas.microsoft.com/office/drawing/2014/main" xmlns="" id="{7A5F1DE1-4CC3-4A0A-BA5A-F4D3D63F4458}"/>
              </a:ext>
            </a:extLst>
          </p:cNvPr>
          <p:cNvSpPr/>
          <p:nvPr/>
        </p:nvSpPr>
        <p:spPr>
          <a:xfrm>
            <a:off x="471956" y="3503927"/>
            <a:ext cx="2259207" cy="400110"/>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Vocabulary Table:</a:t>
            </a:r>
            <a:endParaRPr lang="en-US" altLang="zh-TW" sz="20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52566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13</a:t>
            </a:fld>
            <a:endParaRPr lang="zh-TW" altLang="en-US"/>
          </a:p>
        </p:txBody>
      </p:sp>
      <p:sp>
        <p:nvSpPr>
          <p:cNvPr id="21" name="矩形 20">
            <a:extLst>
              <a:ext uri="{FF2B5EF4-FFF2-40B4-BE49-F238E27FC236}">
                <a16:creationId xmlns:a16="http://schemas.microsoft.com/office/drawing/2014/main" xmlns="" id="{8D5B326E-F4A5-4ED1-8748-44153AA1834B}"/>
              </a:ext>
            </a:extLst>
          </p:cNvPr>
          <p:cNvSpPr/>
          <p:nvPr/>
        </p:nvSpPr>
        <p:spPr>
          <a:xfrm>
            <a:off x="501748" y="451380"/>
            <a:ext cx="2791868" cy="400110"/>
          </a:xfrm>
          <a:prstGeom prst="rect">
            <a:avLst/>
          </a:prstGeom>
        </p:spPr>
        <p:txBody>
          <a:bodyPr vert="horz" lIns="91440" tIns="45720" rIns="91440" bIns="45720" rtlCol="0" anchor="ctr">
            <a:noAutofit/>
          </a:bodyPr>
          <a:lstStyle/>
          <a:p>
            <a:pPr defTabSz="914400">
              <a:lnSpc>
                <a:spcPct val="90000"/>
              </a:lnSpc>
              <a:spcBef>
                <a:spcPct val="0"/>
              </a:spcBef>
            </a:pPr>
            <a:r>
              <a:rPr lang="en-US" altLang="zh-TW" sz="3200" dirty="0">
                <a:latin typeface="Times New Roman" panose="02020603050405020304" pitchFamily="18" charset="0"/>
                <a:ea typeface="+mj-ea"/>
                <a:cs typeface="Times New Roman" panose="02020603050405020304" pitchFamily="18" charset="0"/>
              </a:rPr>
              <a:t>Index</a:t>
            </a:r>
          </a:p>
        </p:txBody>
      </p:sp>
      <p:sp>
        <p:nvSpPr>
          <p:cNvPr id="3" name="矩形 2">
            <a:extLst>
              <a:ext uri="{FF2B5EF4-FFF2-40B4-BE49-F238E27FC236}">
                <a16:creationId xmlns:a16="http://schemas.microsoft.com/office/drawing/2014/main" xmlns="" id="{9B0C78D2-CF61-487D-9F8A-07B192C7B6BF}"/>
              </a:ext>
            </a:extLst>
          </p:cNvPr>
          <p:cNvSpPr/>
          <p:nvPr/>
        </p:nvSpPr>
        <p:spPr>
          <a:xfrm>
            <a:off x="970131" y="1796288"/>
            <a:ext cx="671979" cy="369332"/>
          </a:xfrm>
          <a:prstGeom prst="rect">
            <a:avLst/>
          </a:prstGeom>
        </p:spPr>
        <p:txBody>
          <a:bodyPr wrap="none">
            <a:spAutoFit/>
          </a:bodyPr>
          <a:lstStyle/>
          <a:p>
            <a:r>
              <a:rPr lang="en-US" altLang="zh-TW" dirty="0" err="1">
                <a:latin typeface="Times New Roman" panose="02020603050405020304" pitchFamily="18" charset="0"/>
              </a:rPr>
              <a:t>Pred</a:t>
            </a:r>
            <a:r>
              <a:rPr lang="en-US" altLang="zh-TW" dirty="0">
                <a:latin typeface="Times New Roman" panose="02020603050405020304" pitchFamily="18" charset="0"/>
              </a:rPr>
              <a:t>:</a:t>
            </a:r>
            <a:endParaRPr lang="zh-TW" altLang="en-US" dirty="0"/>
          </a:p>
        </p:txBody>
      </p:sp>
      <p:sp>
        <p:nvSpPr>
          <p:cNvPr id="33" name="矩形 32">
            <a:extLst>
              <a:ext uri="{FF2B5EF4-FFF2-40B4-BE49-F238E27FC236}">
                <a16:creationId xmlns:a16="http://schemas.microsoft.com/office/drawing/2014/main" xmlns="" id="{64C43124-A4A1-4380-9080-B510DF0E3403}"/>
              </a:ext>
            </a:extLst>
          </p:cNvPr>
          <p:cNvSpPr/>
          <p:nvPr/>
        </p:nvSpPr>
        <p:spPr>
          <a:xfrm>
            <a:off x="1280953" y="1396393"/>
            <a:ext cx="1802866" cy="461665"/>
          </a:xfrm>
          <a:prstGeom prst="rect">
            <a:avLst/>
          </a:prstGeom>
        </p:spPr>
        <p:txBody>
          <a:bodyPr wrap="none">
            <a:spAutoFit/>
          </a:bodyPr>
          <a:lstStyle/>
          <a:p>
            <a:r>
              <a:rPr lang="en-US" altLang="zh-TW" sz="2400" dirty="0">
                <a:solidFill>
                  <a:srgbClr val="0070C0"/>
                </a:solidFill>
                <a:latin typeface="Arial Black" panose="020B0A04020102020204" pitchFamily="34" charset="0"/>
                <a:cs typeface="AngsanaUPC" panose="020B0502040204020203" pitchFamily="18" charset="-34"/>
              </a:rPr>
              <a:t>T: ACGAC</a:t>
            </a:r>
            <a:endParaRPr lang="zh-TW" altLang="en-US" sz="2400" dirty="0">
              <a:solidFill>
                <a:srgbClr val="0070C0"/>
              </a:solidFill>
              <a:latin typeface="Arial Black" panose="020B0A04020102020204" pitchFamily="34" charset="0"/>
              <a:cs typeface="AngsanaUPC" panose="020B0502040204020203" pitchFamily="18" charset="-34"/>
            </a:endParaRPr>
          </a:p>
        </p:txBody>
      </p:sp>
      <p:pic>
        <p:nvPicPr>
          <p:cNvPr id="5" name="圖片 4">
            <a:extLst>
              <a:ext uri="{FF2B5EF4-FFF2-40B4-BE49-F238E27FC236}">
                <a16:creationId xmlns:a16="http://schemas.microsoft.com/office/drawing/2014/main" xmlns="" id="{AE3E078B-E33F-4439-91B1-357475548BA7}"/>
              </a:ext>
            </a:extLst>
          </p:cNvPr>
          <p:cNvPicPr>
            <a:picLocks noChangeAspect="1"/>
          </p:cNvPicPr>
          <p:nvPr/>
        </p:nvPicPr>
        <p:blipFill rotWithShape="1">
          <a:blip r:embed="rId3"/>
          <a:srcRect t="9767"/>
          <a:stretch/>
        </p:blipFill>
        <p:spPr>
          <a:xfrm>
            <a:off x="1642110" y="1796288"/>
            <a:ext cx="2552385" cy="1736759"/>
          </a:xfrm>
          <a:prstGeom prst="rect">
            <a:avLst/>
          </a:prstGeom>
        </p:spPr>
      </p:pic>
      <p:sp>
        <p:nvSpPr>
          <p:cNvPr id="6" name="矩形 5">
            <a:extLst>
              <a:ext uri="{FF2B5EF4-FFF2-40B4-BE49-F238E27FC236}">
                <a16:creationId xmlns:a16="http://schemas.microsoft.com/office/drawing/2014/main" xmlns="" id="{BA12A4F6-D871-4EE9-9783-2E6DACCEDC2B}"/>
              </a:ext>
            </a:extLst>
          </p:cNvPr>
          <p:cNvSpPr/>
          <p:nvPr/>
        </p:nvSpPr>
        <p:spPr>
          <a:xfrm>
            <a:off x="1786855" y="3036814"/>
            <a:ext cx="251670" cy="32717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矩形 14">
            <a:extLst>
              <a:ext uri="{FF2B5EF4-FFF2-40B4-BE49-F238E27FC236}">
                <a16:creationId xmlns:a16="http://schemas.microsoft.com/office/drawing/2014/main" xmlns="" id="{4DC48912-884E-4827-847D-DCAD2768D697}"/>
              </a:ext>
            </a:extLst>
          </p:cNvPr>
          <p:cNvSpPr/>
          <p:nvPr/>
        </p:nvSpPr>
        <p:spPr>
          <a:xfrm>
            <a:off x="2072238" y="3036814"/>
            <a:ext cx="318624" cy="32717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7" name="矩形 16">
            <a:extLst>
              <a:ext uri="{FF2B5EF4-FFF2-40B4-BE49-F238E27FC236}">
                <a16:creationId xmlns:a16="http://schemas.microsoft.com/office/drawing/2014/main" xmlns="" id="{2A714FFA-AD03-45EA-A4BC-CD70A37A8B38}"/>
              </a:ext>
            </a:extLst>
          </p:cNvPr>
          <p:cNvSpPr/>
          <p:nvPr/>
        </p:nvSpPr>
        <p:spPr>
          <a:xfrm>
            <a:off x="2810312" y="3036814"/>
            <a:ext cx="178074" cy="32717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8" name="矩形 17">
            <a:extLst>
              <a:ext uri="{FF2B5EF4-FFF2-40B4-BE49-F238E27FC236}">
                <a16:creationId xmlns:a16="http://schemas.microsoft.com/office/drawing/2014/main" xmlns="" id="{F97DE659-FDEA-4EA8-A359-107C17554C13}"/>
              </a:ext>
            </a:extLst>
          </p:cNvPr>
          <p:cNvSpPr/>
          <p:nvPr/>
        </p:nvSpPr>
        <p:spPr>
          <a:xfrm>
            <a:off x="5285496" y="1396392"/>
            <a:ext cx="1552284" cy="461665"/>
          </a:xfrm>
          <a:prstGeom prst="rect">
            <a:avLst/>
          </a:prstGeom>
        </p:spPr>
        <p:txBody>
          <a:bodyPr wrap="none">
            <a:spAutoFit/>
          </a:bodyPr>
          <a:lstStyle/>
          <a:p>
            <a:r>
              <a:rPr lang="en-US" altLang="zh-TW" sz="2400" dirty="0">
                <a:solidFill>
                  <a:srgbClr val="0070C0"/>
                </a:solidFill>
                <a:latin typeface="Arial Black" panose="020B0A04020102020204" pitchFamily="34" charset="0"/>
                <a:cs typeface="AngsanaUPC" panose="020B0502040204020203" pitchFamily="18" charset="-34"/>
              </a:rPr>
              <a:t>T: ABAA</a:t>
            </a:r>
            <a:endParaRPr lang="zh-TW" altLang="en-US" sz="2400" dirty="0">
              <a:solidFill>
                <a:srgbClr val="0070C0"/>
              </a:solidFill>
              <a:latin typeface="Arial Black" panose="020B0A04020102020204" pitchFamily="34" charset="0"/>
              <a:cs typeface="AngsanaUPC" panose="020B0502040204020203" pitchFamily="18" charset="-34"/>
            </a:endParaRPr>
          </a:p>
        </p:txBody>
      </p:sp>
      <p:sp>
        <p:nvSpPr>
          <p:cNvPr id="19" name="矩形 18">
            <a:extLst>
              <a:ext uri="{FF2B5EF4-FFF2-40B4-BE49-F238E27FC236}">
                <a16:creationId xmlns:a16="http://schemas.microsoft.com/office/drawing/2014/main" xmlns="" id="{1B43E8BA-389A-4E4F-9E53-2BC44CB8D942}"/>
              </a:ext>
            </a:extLst>
          </p:cNvPr>
          <p:cNvSpPr/>
          <p:nvPr/>
        </p:nvSpPr>
        <p:spPr>
          <a:xfrm>
            <a:off x="4949507" y="1796288"/>
            <a:ext cx="1883849" cy="369332"/>
          </a:xfrm>
          <a:prstGeom prst="rect">
            <a:avLst/>
          </a:prstGeom>
        </p:spPr>
        <p:txBody>
          <a:bodyPr wrap="none">
            <a:spAutoFit/>
          </a:bodyPr>
          <a:lstStyle/>
          <a:p>
            <a:r>
              <a:rPr lang="en-US" altLang="zh-TW" dirty="0" err="1">
                <a:latin typeface="Times New Roman" panose="02020603050405020304" pitchFamily="18" charset="0"/>
              </a:rPr>
              <a:t>Pred</a:t>
            </a:r>
            <a:r>
              <a:rPr lang="en-US" altLang="zh-TW" dirty="0">
                <a:latin typeface="Times New Roman" panose="02020603050405020304" pitchFamily="18" charset="0"/>
              </a:rPr>
              <a:t>  :    0  0  2   1</a:t>
            </a:r>
            <a:endParaRPr lang="zh-TW" altLang="en-US" dirty="0"/>
          </a:p>
        </p:txBody>
      </p:sp>
      <p:sp>
        <p:nvSpPr>
          <p:cNvPr id="23" name="矩形 22">
            <a:extLst>
              <a:ext uri="{FF2B5EF4-FFF2-40B4-BE49-F238E27FC236}">
                <a16:creationId xmlns:a16="http://schemas.microsoft.com/office/drawing/2014/main" xmlns="" id="{E11DDEDB-812D-4C9D-9139-6BAE9FA5A98B}"/>
              </a:ext>
            </a:extLst>
          </p:cNvPr>
          <p:cNvSpPr/>
          <p:nvPr/>
        </p:nvSpPr>
        <p:spPr>
          <a:xfrm>
            <a:off x="5932806" y="2667482"/>
            <a:ext cx="1468672" cy="369332"/>
          </a:xfrm>
          <a:prstGeom prst="rect">
            <a:avLst/>
          </a:prstGeom>
        </p:spPr>
        <p:txBody>
          <a:bodyPr wrap="none">
            <a:spAutoFit/>
          </a:bodyPr>
          <a:lstStyle/>
          <a:p>
            <a:r>
              <a:rPr lang="en-US" altLang="zh-TW" dirty="0">
                <a:latin typeface="Times New Roman" panose="02020603050405020304" pitchFamily="18" charset="0"/>
              </a:rPr>
              <a:t>0  10   1   =  5</a:t>
            </a:r>
            <a:endParaRPr lang="zh-TW" altLang="en-US" dirty="0"/>
          </a:p>
        </p:txBody>
      </p:sp>
      <p:sp>
        <p:nvSpPr>
          <p:cNvPr id="24" name="矩形 23">
            <a:extLst>
              <a:ext uri="{FF2B5EF4-FFF2-40B4-BE49-F238E27FC236}">
                <a16:creationId xmlns:a16="http://schemas.microsoft.com/office/drawing/2014/main" xmlns="" id="{DC864B89-883D-40E5-98AF-EA51006788E1}"/>
              </a:ext>
            </a:extLst>
          </p:cNvPr>
          <p:cNvSpPr/>
          <p:nvPr/>
        </p:nvSpPr>
        <p:spPr>
          <a:xfrm>
            <a:off x="5285496" y="4107819"/>
            <a:ext cx="1547027" cy="461665"/>
          </a:xfrm>
          <a:prstGeom prst="rect">
            <a:avLst/>
          </a:prstGeom>
        </p:spPr>
        <p:txBody>
          <a:bodyPr wrap="none">
            <a:spAutoFit/>
          </a:bodyPr>
          <a:lstStyle/>
          <a:p>
            <a:r>
              <a:rPr lang="en-US" altLang="zh-TW" sz="2400" dirty="0">
                <a:solidFill>
                  <a:srgbClr val="0070C0"/>
                </a:solidFill>
                <a:latin typeface="Arial Black" panose="020B0A04020102020204" pitchFamily="34" charset="0"/>
                <a:cs typeface="AngsanaUPC" panose="020B0502040204020203" pitchFamily="18" charset="-34"/>
              </a:rPr>
              <a:t>T: BABA</a:t>
            </a:r>
            <a:endParaRPr lang="zh-TW" altLang="en-US" sz="2400" dirty="0">
              <a:solidFill>
                <a:srgbClr val="0070C0"/>
              </a:solidFill>
              <a:latin typeface="Arial Black" panose="020B0A04020102020204" pitchFamily="34" charset="0"/>
              <a:cs typeface="AngsanaUPC" panose="020B0502040204020203" pitchFamily="18" charset="-34"/>
            </a:endParaRPr>
          </a:p>
        </p:txBody>
      </p:sp>
      <p:sp>
        <p:nvSpPr>
          <p:cNvPr id="25" name="矩形 24">
            <a:extLst>
              <a:ext uri="{FF2B5EF4-FFF2-40B4-BE49-F238E27FC236}">
                <a16:creationId xmlns:a16="http://schemas.microsoft.com/office/drawing/2014/main" xmlns="" id="{E17F5F23-07B6-4298-ABDE-F9873A56A791}"/>
              </a:ext>
            </a:extLst>
          </p:cNvPr>
          <p:cNvSpPr/>
          <p:nvPr/>
        </p:nvSpPr>
        <p:spPr>
          <a:xfrm>
            <a:off x="4949507" y="4507715"/>
            <a:ext cx="1883849" cy="369332"/>
          </a:xfrm>
          <a:prstGeom prst="rect">
            <a:avLst/>
          </a:prstGeom>
        </p:spPr>
        <p:txBody>
          <a:bodyPr wrap="none">
            <a:spAutoFit/>
          </a:bodyPr>
          <a:lstStyle/>
          <a:p>
            <a:r>
              <a:rPr lang="en-US" altLang="zh-TW" dirty="0" err="1">
                <a:latin typeface="Times New Roman" panose="02020603050405020304" pitchFamily="18" charset="0"/>
              </a:rPr>
              <a:t>Pred</a:t>
            </a:r>
            <a:r>
              <a:rPr lang="en-US" altLang="zh-TW" dirty="0">
                <a:latin typeface="Times New Roman" panose="02020603050405020304" pitchFamily="18" charset="0"/>
              </a:rPr>
              <a:t>  :    0  0  2   2</a:t>
            </a:r>
            <a:endParaRPr lang="zh-TW" altLang="en-US" dirty="0"/>
          </a:p>
        </p:txBody>
      </p:sp>
      <p:sp>
        <p:nvSpPr>
          <p:cNvPr id="27" name="矩形 26">
            <a:extLst>
              <a:ext uri="{FF2B5EF4-FFF2-40B4-BE49-F238E27FC236}">
                <a16:creationId xmlns:a16="http://schemas.microsoft.com/office/drawing/2014/main" xmlns="" id="{9B759FF6-A134-4E88-A999-DE9893CBB5AB}"/>
              </a:ext>
            </a:extLst>
          </p:cNvPr>
          <p:cNvSpPr/>
          <p:nvPr/>
        </p:nvSpPr>
        <p:spPr>
          <a:xfrm>
            <a:off x="5919912" y="5422124"/>
            <a:ext cx="1757212" cy="369332"/>
          </a:xfrm>
          <a:prstGeom prst="rect">
            <a:avLst/>
          </a:prstGeom>
        </p:spPr>
        <p:txBody>
          <a:bodyPr wrap="none">
            <a:spAutoFit/>
          </a:bodyPr>
          <a:lstStyle/>
          <a:p>
            <a:r>
              <a:rPr lang="en-US" altLang="zh-TW" dirty="0">
                <a:latin typeface="Times New Roman" panose="02020603050405020304" pitchFamily="18" charset="0"/>
              </a:rPr>
              <a:t>0  10  010   =  18</a:t>
            </a:r>
            <a:endParaRPr lang="zh-TW" altLang="en-US" dirty="0"/>
          </a:p>
        </p:txBody>
      </p:sp>
      <p:cxnSp>
        <p:nvCxnSpPr>
          <p:cNvPr id="8" name="直線單箭頭接點 7">
            <a:extLst>
              <a:ext uri="{FF2B5EF4-FFF2-40B4-BE49-F238E27FC236}">
                <a16:creationId xmlns:a16="http://schemas.microsoft.com/office/drawing/2014/main" xmlns="" id="{D36352B8-0FFA-4CEA-85E0-601D189A0049}"/>
              </a:ext>
            </a:extLst>
          </p:cNvPr>
          <p:cNvCxnSpPr>
            <a:cxnSpLocks/>
          </p:cNvCxnSpPr>
          <p:nvPr/>
        </p:nvCxnSpPr>
        <p:spPr>
          <a:xfrm flipH="1">
            <a:off x="6054605" y="2186346"/>
            <a:ext cx="70787" cy="4724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a:extLst>
              <a:ext uri="{FF2B5EF4-FFF2-40B4-BE49-F238E27FC236}">
                <a16:creationId xmlns:a16="http://schemas.microsoft.com/office/drawing/2014/main" xmlns="" id="{6E74E00C-8D53-4AF1-AE22-FFFD550E3876}"/>
              </a:ext>
            </a:extLst>
          </p:cNvPr>
          <p:cNvCxnSpPr>
            <a:cxnSpLocks/>
          </p:cNvCxnSpPr>
          <p:nvPr/>
        </p:nvCxnSpPr>
        <p:spPr>
          <a:xfrm>
            <a:off x="6359352" y="2165620"/>
            <a:ext cx="3042" cy="5189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a:extLst>
              <a:ext uri="{FF2B5EF4-FFF2-40B4-BE49-F238E27FC236}">
                <a16:creationId xmlns:a16="http://schemas.microsoft.com/office/drawing/2014/main" xmlns="" id="{81EB01EC-6583-4380-844C-909752B2030D}"/>
              </a:ext>
            </a:extLst>
          </p:cNvPr>
          <p:cNvCxnSpPr>
            <a:cxnSpLocks/>
          </p:cNvCxnSpPr>
          <p:nvPr/>
        </p:nvCxnSpPr>
        <p:spPr>
          <a:xfrm>
            <a:off x="6667141" y="2198427"/>
            <a:ext cx="81587" cy="493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xmlns="" id="{2F16F954-34CC-41E4-BA00-0CF206B0D876}"/>
              </a:ext>
            </a:extLst>
          </p:cNvPr>
          <p:cNvCxnSpPr>
            <a:cxnSpLocks/>
          </p:cNvCxnSpPr>
          <p:nvPr/>
        </p:nvCxnSpPr>
        <p:spPr>
          <a:xfrm flipH="1">
            <a:off x="6054605" y="4864966"/>
            <a:ext cx="70787" cy="4724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33">
            <a:extLst>
              <a:ext uri="{FF2B5EF4-FFF2-40B4-BE49-F238E27FC236}">
                <a16:creationId xmlns:a16="http://schemas.microsoft.com/office/drawing/2014/main" xmlns="" id="{DBDCF406-427C-4256-A7D1-A9B8E9FA0E59}"/>
              </a:ext>
            </a:extLst>
          </p:cNvPr>
          <p:cNvCxnSpPr>
            <a:cxnSpLocks/>
          </p:cNvCxnSpPr>
          <p:nvPr/>
        </p:nvCxnSpPr>
        <p:spPr>
          <a:xfrm>
            <a:off x="6359352" y="4844240"/>
            <a:ext cx="3042" cy="5189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a:extLst>
              <a:ext uri="{FF2B5EF4-FFF2-40B4-BE49-F238E27FC236}">
                <a16:creationId xmlns:a16="http://schemas.microsoft.com/office/drawing/2014/main" xmlns="" id="{B8B6B51F-0954-48F5-9B97-97D536E16ABD}"/>
              </a:ext>
            </a:extLst>
          </p:cNvPr>
          <p:cNvCxnSpPr>
            <a:cxnSpLocks/>
          </p:cNvCxnSpPr>
          <p:nvPr/>
        </p:nvCxnSpPr>
        <p:spPr>
          <a:xfrm>
            <a:off x="6667141" y="4877047"/>
            <a:ext cx="81587" cy="493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325693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標題 1">
            <a:extLst>
              <a:ext uri="{FF2B5EF4-FFF2-40B4-BE49-F238E27FC236}">
                <a16:creationId xmlns:a16="http://schemas.microsoft.com/office/drawing/2014/main" xmlns="" id="{5142CA62-C5D0-4614-978E-3F6254FEFC8F}"/>
              </a:ext>
            </a:extLst>
          </p:cNvPr>
          <p:cNvSpPr>
            <a:spLocks noGrp="1"/>
          </p:cNvSpPr>
          <p:nvPr>
            <p:ph type="title"/>
          </p:nvPr>
        </p:nvSpPr>
        <p:spPr>
          <a:xfrm>
            <a:off x="471956" y="414725"/>
            <a:ext cx="7886700" cy="583367"/>
          </a:xfrm>
        </p:spPr>
        <p:txBody>
          <a:bodyPr>
            <a:normAutofit fontScale="90000"/>
          </a:bodyPr>
          <a:lstStyle/>
          <a:p>
            <a:pPr>
              <a:lnSpc>
                <a:spcPct val="150000"/>
              </a:lnSpc>
            </a:pPr>
            <a:r>
              <a:rPr lang="en-US" altLang="zh-TW" sz="3200" dirty="0">
                <a:latin typeface="Times New Roman" panose="02020603050405020304" pitchFamily="18" charset="0"/>
                <a:cs typeface="Times New Roman" panose="02020603050405020304" pitchFamily="18" charset="0"/>
              </a:rPr>
              <a:t>Preprocessing of Text</a:t>
            </a:r>
          </a:p>
        </p:txBody>
      </p:sp>
      <p:graphicFrame>
        <p:nvGraphicFramePr>
          <p:cNvPr id="16" name="內容版面配置區 7">
            <a:extLst>
              <a:ext uri="{FF2B5EF4-FFF2-40B4-BE49-F238E27FC236}">
                <a16:creationId xmlns:a16="http://schemas.microsoft.com/office/drawing/2014/main" xmlns="" id="{BAD3633E-85B6-4851-8A1A-25DA1490FDE9}"/>
              </a:ext>
            </a:extLst>
          </p:cNvPr>
          <p:cNvGraphicFramePr>
            <a:graphicFrameLocks/>
          </p:cNvGraphicFramePr>
          <p:nvPr>
            <p:extLst/>
          </p:nvPr>
        </p:nvGraphicFramePr>
        <p:xfrm>
          <a:off x="1925358" y="4051824"/>
          <a:ext cx="4732020" cy="1483360"/>
        </p:xfrm>
        <a:graphic>
          <a:graphicData uri="http://schemas.openxmlformats.org/drawingml/2006/table">
            <a:tbl>
              <a:tblPr firstRow="1" bandRow="1">
                <a:tableStyleId>{5940675A-B579-460E-94D1-54222C63F5DA}</a:tableStyleId>
              </a:tblPr>
              <a:tblGrid>
                <a:gridCol w="1577340">
                  <a:extLst>
                    <a:ext uri="{9D8B030D-6E8A-4147-A177-3AD203B41FA5}">
                      <a16:colId xmlns:a16="http://schemas.microsoft.com/office/drawing/2014/main" xmlns="" val="4183209010"/>
                    </a:ext>
                  </a:extLst>
                </a:gridCol>
                <a:gridCol w="1577340">
                  <a:extLst>
                    <a:ext uri="{9D8B030D-6E8A-4147-A177-3AD203B41FA5}">
                      <a16:colId xmlns:a16="http://schemas.microsoft.com/office/drawing/2014/main" xmlns="" val="4264795898"/>
                    </a:ext>
                  </a:extLst>
                </a:gridCol>
                <a:gridCol w="1577340">
                  <a:extLst>
                    <a:ext uri="{9D8B030D-6E8A-4147-A177-3AD203B41FA5}">
                      <a16:colId xmlns:a16="http://schemas.microsoft.com/office/drawing/2014/main" xmlns="" val="2897420003"/>
                    </a:ext>
                  </a:extLst>
                </a:gridCol>
              </a:tblGrid>
              <a:tr h="370840">
                <a:tc>
                  <a:txBody>
                    <a:bodyPr/>
                    <a:lstStyle/>
                    <a:p>
                      <a:pPr algn="ctr"/>
                      <a:r>
                        <a:rPr lang="en-US" altLang="zh-TW" baseline="0" dirty="0">
                          <a:latin typeface="Times New Roman" panose="02020603050405020304" pitchFamily="18" charset="0"/>
                        </a:rPr>
                        <a:t>Word</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Index</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Frequency</a:t>
                      </a:r>
                      <a:endParaRPr lang="zh-TW" altLang="en-US" baseline="0" dirty="0">
                        <a:latin typeface="Times New Roman" panose="02020603050405020304" pitchFamily="18" charset="0"/>
                      </a:endParaRPr>
                    </a:p>
                  </a:txBody>
                  <a:tcPr/>
                </a:tc>
                <a:extLst>
                  <a:ext uri="{0D108BD9-81ED-4DB2-BD59-A6C34878D82A}">
                    <a16:rowId xmlns:a16="http://schemas.microsoft.com/office/drawing/2014/main" xmlns="" val="2352578504"/>
                  </a:ext>
                </a:extLst>
              </a:tr>
              <a:tr h="370840">
                <a:tc>
                  <a:txBody>
                    <a:bodyPr/>
                    <a:lstStyle/>
                    <a:p>
                      <a:pPr algn="ctr"/>
                      <a:r>
                        <a:rPr lang="en-US" altLang="zh-TW" baseline="0" dirty="0">
                          <a:latin typeface="Times New Roman" panose="02020603050405020304" pitchFamily="18" charset="0"/>
                        </a:rPr>
                        <a:t>0021</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9 </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5</a:t>
                      </a:r>
                      <a:endParaRPr lang="zh-TW" altLang="en-US" baseline="0" dirty="0">
                        <a:latin typeface="Times New Roman" panose="02020603050405020304" pitchFamily="18" charset="0"/>
                      </a:endParaRPr>
                    </a:p>
                  </a:txBody>
                  <a:tcPr/>
                </a:tc>
                <a:extLst>
                  <a:ext uri="{0D108BD9-81ED-4DB2-BD59-A6C34878D82A}">
                    <a16:rowId xmlns:a16="http://schemas.microsoft.com/office/drawing/2014/main" xmlns="" val="3978714840"/>
                  </a:ext>
                </a:extLst>
              </a:tr>
              <a:tr h="370840">
                <a:tc>
                  <a:txBody>
                    <a:bodyPr/>
                    <a:lstStyle/>
                    <a:p>
                      <a:pPr algn="ctr"/>
                      <a:r>
                        <a:rPr lang="en-US" altLang="zh-TW" baseline="0" dirty="0">
                          <a:latin typeface="Times New Roman" panose="02020603050405020304" pitchFamily="18" charset="0"/>
                        </a:rPr>
                        <a:t>0022</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10</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2</a:t>
                      </a:r>
                      <a:endParaRPr lang="zh-TW" altLang="en-US" baseline="0" dirty="0">
                        <a:latin typeface="Times New Roman" panose="02020603050405020304" pitchFamily="18" charset="0"/>
                      </a:endParaRPr>
                    </a:p>
                  </a:txBody>
                  <a:tcPr/>
                </a:tc>
                <a:extLst>
                  <a:ext uri="{0D108BD9-81ED-4DB2-BD59-A6C34878D82A}">
                    <a16:rowId xmlns:a16="http://schemas.microsoft.com/office/drawing/2014/main" xmlns="" val="2172083126"/>
                  </a:ext>
                </a:extLst>
              </a:tr>
              <a:tr h="370840">
                <a:tc>
                  <a:txBody>
                    <a:bodyPr/>
                    <a:lstStyle/>
                    <a:p>
                      <a:pPr algn="ctr"/>
                      <a:r>
                        <a:rPr lang="en-US" altLang="zh-TW" baseline="0" dirty="0">
                          <a:latin typeface="Times New Roman" panose="02020603050405020304" pitchFamily="18" charset="0"/>
                        </a:rPr>
                        <a:t>0020</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8</a:t>
                      </a:r>
                      <a:endParaRPr lang="zh-TW" altLang="en-US" baseline="0" dirty="0">
                        <a:solidFill>
                          <a:srgbClr val="FF0000"/>
                        </a:solidFill>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1</a:t>
                      </a:r>
                      <a:endParaRPr lang="zh-TW" altLang="en-US" baseline="0" dirty="0">
                        <a:latin typeface="Times New Roman" panose="02020603050405020304" pitchFamily="18" charset="0"/>
                      </a:endParaRPr>
                    </a:p>
                  </a:txBody>
                  <a:tcPr/>
                </a:tc>
                <a:extLst>
                  <a:ext uri="{0D108BD9-81ED-4DB2-BD59-A6C34878D82A}">
                    <a16:rowId xmlns:a16="http://schemas.microsoft.com/office/drawing/2014/main" xmlns="" val="3384057669"/>
                  </a:ext>
                </a:extLst>
              </a:tr>
            </a:tbl>
          </a:graphicData>
        </a:graphic>
      </p:graphicFrame>
      <p:graphicFrame>
        <p:nvGraphicFramePr>
          <p:cNvPr id="20" name="內容版面配置區 7">
            <a:extLst>
              <a:ext uri="{FF2B5EF4-FFF2-40B4-BE49-F238E27FC236}">
                <a16:creationId xmlns:a16="http://schemas.microsoft.com/office/drawing/2014/main" xmlns="" id="{D074AE84-48DF-4D0E-BC52-F86E0E9E0101}"/>
              </a:ext>
            </a:extLst>
          </p:cNvPr>
          <p:cNvGraphicFramePr>
            <a:graphicFrameLocks/>
          </p:cNvGraphicFramePr>
          <p:nvPr>
            <p:extLst/>
          </p:nvPr>
        </p:nvGraphicFramePr>
        <p:xfrm>
          <a:off x="1925358" y="4051824"/>
          <a:ext cx="4732020" cy="1483360"/>
        </p:xfrm>
        <a:graphic>
          <a:graphicData uri="http://schemas.openxmlformats.org/drawingml/2006/table">
            <a:tbl>
              <a:tblPr firstRow="1" bandRow="1">
                <a:tableStyleId>{5940675A-B579-460E-94D1-54222C63F5DA}</a:tableStyleId>
              </a:tblPr>
              <a:tblGrid>
                <a:gridCol w="1577340">
                  <a:extLst>
                    <a:ext uri="{9D8B030D-6E8A-4147-A177-3AD203B41FA5}">
                      <a16:colId xmlns:a16="http://schemas.microsoft.com/office/drawing/2014/main" xmlns="" val="4183209010"/>
                    </a:ext>
                  </a:extLst>
                </a:gridCol>
                <a:gridCol w="1577340">
                  <a:extLst>
                    <a:ext uri="{9D8B030D-6E8A-4147-A177-3AD203B41FA5}">
                      <a16:colId xmlns:a16="http://schemas.microsoft.com/office/drawing/2014/main" xmlns="" val="4264795898"/>
                    </a:ext>
                  </a:extLst>
                </a:gridCol>
                <a:gridCol w="1577340">
                  <a:extLst>
                    <a:ext uri="{9D8B030D-6E8A-4147-A177-3AD203B41FA5}">
                      <a16:colId xmlns:a16="http://schemas.microsoft.com/office/drawing/2014/main" xmlns="" val="2897420003"/>
                    </a:ext>
                  </a:extLst>
                </a:gridCol>
              </a:tblGrid>
              <a:tr h="370840">
                <a:tc>
                  <a:txBody>
                    <a:bodyPr/>
                    <a:lstStyle/>
                    <a:p>
                      <a:pPr algn="ctr"/>
                      <a:r>
                        <a:rPr lang="en-US" altLang="zh-TW" baseline="0" dirty="0">
                          <a:latin typeface="Times New Roman" panose="02020603050405020304" pitchFamily="18" charset="0"/>
                        </a:rPr>
                        <a:t>Word</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Index</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Codes</a:t>
                      </a:r>
                      <a:endParaRPr lang="zh-TW" altLang="en-US" baseline="0" dirty="0">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2352578504"/>
                  </a:ext>
                </a:extLst>
              </a:tr>
              <a:tr h="370840">
                <a:tc>
                  <a:txBody>
                    <a:bodyPr/>
                    <a:lstStyle/>
                    <a:p>
                      <a:pPr algn="ctr"/>
                      <a:r>
                        <a:rPr lang="en-US" altLang="zh-TW" baseline="0" dirty="0">
                          <a:latin typeface="Times New Roman" panose="02020603050405020304" pitchFamily="18" charset="0"/>
                        </a:rPr>
                        <a:t>0021</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9 </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01</a:t>
                      </a:r>
                      <a:endParaRPr lang="zh-TW" altLang="en-US" baseline="0" dirty="0">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3978714840"/>
                  </a:ext>
                </a:extLst>
              </a:tr>
              <a:tr h="370840">
                <a:tc>
                  <a:txBody>
                    <a:bodyPr/>
                    <a:lstStyle/>
                    <a:p>
                      <a:pPr algn="ctr"/>
                      <a:r>
                        <a:rPr lang="en-US" altLang="zh-TW" baseline="0" dirty="0">
                          <a:latin typeface="Times New Roman" panose="02020603050405020304" pitchFamily="18" charset="0"/>
                        </a:rPr>
                        <a:t>0022</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10</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10</a:t>
                      </a:r>
                      <a:endParaRPr lang="zh-TW" altLang="en-US" baseline="0" dirty="0">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2172083126"/>
                  </a:ext>
                </a:extLst>
              </a:tr>
              <a:tr h="370840">
                <a:tc>
                  <a:txBody>
                    <a:bodyPr/>
                    <a:lstStyle/>
                    <a:p>
                      <a:pPr algn="ctr"/>
                      <a:r>
                        <a:rPr lang="en-US" altLang="zh-TW" baseline="0" dirty="0">
                          <a:latin typeface="Times New Roman" panose="02020603050405020304" pitchFamily="18" charset="0"/>
                        </a:rPr>
                        <a:t>0020</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8</a:t>
                      </a:r>
                      <a:endParaRPr lang="zh-TW" altLang="en-US" baseline="0" dirty="0">
                        <a:solidFill>
                          <a:srgbClr val="FF0000"/>
                        </a:solidFill>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0001</a:t>
                      </a:r>
                      <a:endParaRPr lang="zh-TW" altLang="en-US" baseline="0" dirty="0">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3384057669"/>
                  </a:ext>
                </a:extLst>
              </a:tr>
            </a:tbl>
          </a:graphicData>
        </a:graphic>
      </p:graphicFrame>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14</a:t>
            </a:fld>
            <a:endParaRPr lang="zh-TW" altLang="en-US"/>
          </a:p>
        </p:txBody>
      </p:sp>
      <p:sp>
        <p:nvSpPr>
          <p:cNvPr id="14" name="矩形 13">
            <a:extLst>
              <a:ext uri="{FF2B5EF4-FFF2-40B4-BE49-F238E27FC236}">
                <a16:creationId xmlns:a16="http://schemas.microsoft.com/office/drawing/2014/main" xmlns="" id="{C8827685-E087-4ED2-B30E-7DA0C1390957}"/>
              </a:ext>
            </a:extLst>
          </p:cNvPr>
          <p:cNvSpPr/>
          <p:nvPr/>
        </p:nvSpPr>
        <p:spPr>
          <a:xfrm>
            <a:off x="501748" y="2229513"/>
            <a:ext cx="1820212" cy="400110"/>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Modified:</a:t>
            </a:r>
            <a:r>
              <a:rPr lang="zh-TW" altLang="en-US" sz="2000" dirty="0">
                <a:latin typeface="Times New Roman" panose="02020603050405020304" pitchFamily="18" charset="0"/>
                <a:cs typeface="Times New Roman" panose="02020603050405020304" pitchFamily="18" charset="0"/>
              </a:rPr>
              <a:t> </a:t>
            </a:r>
            <a:endParaRPr lang="en-US" altLang="zh-TW" sz="2000" dirty="0">
              <a:latin typeface="Times New Roman" panose="02020603050405020304" pitchFamily="18" charset="0"/>
              <a:cs typeface="Times New Roman" panose="02020603050405020304" pitchFamily="18" charset="0"/>
            </a:endParaRPr>
          </a:p>
        </p:txBody>
      </p:sp>
      <p:sp>
        <p:nvSpPr>
          <p:cNvPr id="15" name="矩形 14">
            <a:extLst>
              <a:ext uri="{FF2B5EF4-FFF2-40B4-BE49-F238E27FC236}">
                <a16:creationId xmlns:a16="http://schemas.microsoft.com/office/drawing/2014/main" xmlns="" id="{D1F6A019-2366-4CE4-BE85-9E621618ADEE}"/>
              </a:ext>
            </a:extLst>
          </p:cNvPr>
          <p:cNvSpPr/>
          <p:nvPr/>
        </p:nvSpPr>
        <p:spPr>
          <a:xfrm>
            <a:off x="2007352" y="2707249"/>
            <a:ext cx="6584238" cy="400110"/>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0021	0022	0021	0021      0021	0022	0020</a:t>
            </a:r>
            <a:endParaRPr lang="en-US" altLang="zh-TW" sz="2000" dirty="0">
              <a:solidFill>
                <a:srgbClr val="0070C0"/>
              </a:solidFill>
              <a:latin typeface="Times New Roman" panose="02020603050405020304" pitchFamily="18" charset="0"/>
              <a:cs typeface="Times New Roman" panose="02020603050405020304" pitchFamily="18" charset="0"/>
            </a:endParaRPr>
          </a:p>
        </p:txBody>
      </p:sp>
      <p:sp>
        <p:nvSpPr>
          <p:cNvPr id="24" name="矩形 23">
            <a:extLst>
              <a:ext uri="{FF2B5EF4-FFF2-40B4-BE49-F238E27FC236}">
                <a16:creationId xmlns:a16="http://schemas.microsoft.com/office/drawing/2014/main" xmlns="" id="{BED69EC6-12FD-4C9C-A9F0-A4729196D3FA}"/>
              </a:ext>
            </a:extLst>
          </p:cNvPr>
          <p:cNvSpPr/>
          <p:nvPr/>
        </p:nvSpPr>
        <p:spPr>
          <a:xfrm>
            <a:off x="1813649" y="2166452"/>
            <a:ext cx="6584238" cy="506164"/>
          </a:xfrm>
          <a:prstGeom prst="rect">
            <a:avLst/>
          </a:prstGeom>
        </p:spPr>
        <p:txBody>
          <a:bodyPr wrap="none">
            <a:spAutoFit/>
          </a:bodyPr>
          <a:lstStyle/>
          <a:p>
            <a:pPr>
              <a:lnSpc>
                <a:spcPct val="150000"/>
              </a:lnSpc>
            </a:pPr>
            <a:r>
              <a:rPr lang="en-US" altLang="zh-TW" sz="2000" dirty="0">
                <a:latin typeface="Arial Black" panose="020B0A04020102020204" pitchFamily="34" charset="0"/>
                <a:cs typeface="AngsanaUPC" panose="020B0502040204020203" pitchFamily="18" charset="-34"/>
              </a:rPr>
              <a:t>ABAA</a:t>
            </a:r>
            <a:r>
              <a:rPr lang="zh-TW" altLang="en-US" sz="2000" dirty="0">
                <a:latin typeface="Arial Black" panose="020B0A04020102020204" pitchFamily="34" charset="0"/>
                <a:cs typeface="AngsanaUPC" panose="020B0502040204020203" pitchFamily="18" charset="-34"/>
              </a:rPr>
              <a:t> </a:t>
            </a:r>
            <a:r>
              <a:rPr lang="en-US" altLang="zh-TW" sz="2000" dirty="0">
                <a:latin typeface="Arial Black" panose="020B0A04020102020204" pitchFamily="34" charset="0"/>
                <a:cs typeface="AngsanaUPC" panose="020B0502040204020203" pitchFamily="18" charset="-34"/>
              </a:rPr>
              <a:t>{</a:t>
            </a:r>
            <a:r>
              <a:rPr lang="en-US" altLang="zh-TW" sz="2000" dirty="0">
                <a:solidFill>
                  <a:srgbClr val="0070C0"/>
                </a:solidFill>
                <a:latin typeface="Arial Black" panose="020B0A04020102020204" pitchFamily="34" charset="0"/>
                <a:cs typeface="AngsanaUPC" panose="020B0502040204020203" pitchFamily="18" charset="-34"/>
              </a:rPr>
              <a:t>BABA ABAA</a:t>
            </a:r>
            <a:r>
              <a:rPr lang="en-US" altLang="zh-TW" sz="2000" dirty="0">
                <a:latin typeface="Arial Black" panose="020B0A04020102020204" pitchFamily="34" charset="0"/>
                <a:cs typeface="AngsanaUPC" panose="020B0502040204020203" pitchFamily="18" charset="-34"/>
              </a:rPr>
              <a:t>} BCBB ACBB {</a:t>
            </a:r>
            <a:r>
              <a:rPr lang="en-US" altLang="zh-TW" sz="2000" dirty="0">
                <a:solidFill>
                  <a:srgbClr val="0070C0"/>
                </a:solidFill>
                <a:latin typeface="Arial Black" panose="020B0A04020102020204" pitchFamily="34" charset="0"/>
                <a:cs typeface="AngsanaUPC" panose="020B0502040204020203" pitchFamily="18" charset="-34"/>
              </a:rPr>
              <a:t>DEDE EDEB</a:t>
            </a:r>
            <a:r>
              <a:rPr lang="en-US" altLang="zh-TW" sz="2000" dirty="0">
                <a:latin typeface="Arial Black" panose="020B0A04020102020204" pitchFamily="34" charset="0"/>
                <a:cs typeface="AngsanaUPC" panose="020B0502040204020203" pitchFamily="18" charset="-34"/>
              </a:rPr>
              <a:t>}</a:t>
            </a:r>
          </a:p>
        </p:txBody>
      </p:sp>
      <p:grpSp>
        <p:nvGrpSpPr>
          <p:cNvPr id="7" name="群組 6">
            <a:extLst>
              <a:ext uri="{FF2B5EF4-FFF2-40B4-BE49-F238E27FC236}">
                <a16:creationId xmlns:a16="http://schemas.microsoft.com/office/drawing/2014/main" xmlns="" id="{F930A4AE-42CC-4DA2-9FC4-F7E2F6BE05DD}"/>
              </a:ext>
            </a:extLst>
          </p:cNvPr>
          <p:cNvGrpSpPr/>
          <p:nvPr/>
        </p:nvGrpSpPr>
        <p:grpSpPr>
          <a:xfrm>
            <a:off x="501749" y="1043990"/>
            <a:ext cx="8263962" cy="863814"/>
            <a:chOff x="501749" y="1043990"/>
            <a:chExt cx="8263962" cy="863814"/>
          </a:xfrm>
        </p:grpSpPr>
        <p:grpSp>
          <p:nvGrpSpPr>
            <p:cNvPr id="5" name="群組 4">
              <a:extLst>
                <a:ext uri="{FF2B5EF4-FFF2-40B4-BE49-F238E27FC236}">
                  <a16:creationId xmlns:a16="http://schemas.microsoft.com/office/drawing/2014/main" xmlns="" id="{A8704714-A153-4D03-85FD-D4D4DD9461BF}"/>
                </a:ext>
              </a:extLst>
            </p:cNvPr>
            <p:cNvGrpSpPr/>
            <p:nvPr/>
          </p:nvGrpSpPr>
          <p:grpSpPr>
            <a:xfrm>
              <a:off x="501749" y="1043990"/>
              <a:ext cx="7099478" cy="715865"/>
              <a:chOff x="501749" y="626724"/>
              <a:chExt cx="7099478" cy="715865"/>
            </a:xfrm>
          </p:grpSpPr>
          <p:sp>
            <p:nvSpPr>
              <p:cNvPr id="11" name="內容版面配置區 6">
                <a:extLst>
                  <a:ext uri="{FF2B5EF4-FFF2-40B4-BE49-F238E27FC236}">
                    <a16:creationId xmlns:a16="http://schemas.microsoft.com/office/drawing/2014/main" xmlns="" id="{9B9DE786-0EFB-4932-AA42-934FF1949394}"/>
                  </a:ext>
                </a:extLst>
              </p:cNvPr>
              <p:cNvSpPr txBox="1">
                <a:spLocks/>
              </p:cNvSpPr>
              <p:nvPr/>
            </p:nvSpPr>
            <p:spPr>
              <a:xfrm>
                <a:off x="501749" y="626724"/>
                <a:ext cx="465918" cy="7158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T:</a:t>
                </a:r>
              </a:p>
              <a:p>
                <a:pPr>
                  <a:lnSpc>
                    <a:spcPct val="150000"/>
                  </a:lnSpc>
                </a:pPr>
                <a:endParaRPr lang="en-US" altLang="zh-TW" sz="2400" dirty="0">
                  <a:latin typeface="Times New Roman" panose="02020603050405020304" pitchFamily="18" charset="0"/>
                  <a:cs typeface="Times New Roman" panose="02020603050405020304" pitchFamily="18" charset="0"/>
                </a:endParaRPr>
              </a:p>
              <a:p>
                <a:pPr marL="0" indent="0">
                  <a:lnSpc>
                    <a:spcPct val="150000"/>
                  </a:lnSpc>
                  <a:buFont typeface="Arial" panose="020B0604020202020204" pitchFamily="34" charset="0"/>
                  <a:buNone/>
                </a:pPr>
                <a:endParaRPr lang="en-US" altLang="zh-TW" sz="2400" dirty="0">
                  <a:latin typeface="Times New Roman" panose="02020603050405020304" pitchFamily="18" charset="0"/>
                  <a:cs typeface="Times New Roman" panose="02020603050405020304" pitchFamily="18" charset="0"/>
                </a:endParaRPr>
              </a:p>
            </p:txBody>
          </p:sp>
          <p:sp>
            <p:nvSpPr>
              <p:cNvPr id="23" name="矩形 22">
                <a:extLst>
                  <a:ext uri="{FF2B5EF4-FFF2-40B4-BE49-F238E27FC236}">
                    <a16:creationId xmlns:a16="http://schemas.microsoft.com/office/drawing/2014/main" xmlns="" id="{5F06EC41-9D7E-4AEC-92D6-6029752090C6}"/>
                  </a:ext>
                </a:extLst>
              </p:cNvPr>
              <p:cNvSpPr/>
              <p:nvPr/>
            </p:nvSpPr>
            <p:spPr>
              <a:xfrm>
                <a:off x="1804960" y="626724"/>
                <a:ext cx="5796267" cy="588879"/>
              </a:xfrm>
              <a:prstGeom prst="rect">
                <a:avLst/>
              </a:prstGeom>
            </p:spPr>
            <p:txBody>
              <a:bodyPr wrap="none">
                <a:spAutoFit/>
              </a:bodyPr>
              <a:lstStyle/>
              <a:p>
                <a:pPr>
                  <a:lnSpc>
                    <a:spcPct val="150000"/>
                  </a:lnSpc>
                </a:pPr>
                <a:r>
                  <a:rPr lang="en-US" altLang="zh-TW" sz="2400" dirty="0">
                    <a:latin typeface="Arial Black" panose="020B0A04020102020204" pitchFamily="34" charset="0"/>
                    <a:cs typeface="AngsanaUPC" panose="020B0502040204020203" pitchFamily="18" charset="-34"/>
                  </a:rPr>
                  <a:t>ABAA </a:t>
                </a:r>
                <a:r>
                  <a:rPr lang="en-US" altLang="zh-TW" sz="2400" dirty="0">
                    <a:solidFill>
                      <a:srgbClr val="0070C0"/>
                    </a:solidFill>
                    <a:latin typeface="Arial Black" panose="020B0A04020102020204" pitchFamily="34" charset="0"/>
                    <a:cs typeface="AngsanaUPC" panose="020B0502040204020203" pitchFamily="18" charset="-34"/>
                  </a:rPr>
                  <a:t>BABAA</a:t>
                </a:r>
                <a:r>
                  <a:rPr lang="en-US" altLang="zh-TW" sz="2400" dirty="0">
                    <a:latin typeface="Arial Black" panose="020B0A04020102020204" pitchFamily="34" charset="0"/>
                    <a:cs typeface="AngsanaUPC" panose="020B0502040204020203" pitchFamily="18" charset="-34"/>
                  </a:rPr>
                  <a:t> BCBB ACBB </a:t>
                </a:r>
                <a:r>
                  <a:rPr lang="en-US" altLang="zh-TW" sz="2400" dirty="0">
                    <a:solidFill>
                      <a:srgbClr val="0070C0"/>
                    </a:solidFill>
                    <a:latin typeface="Arial Black" panose="020B0A04020102020204" pitchFamily="34" charset="0"/>
                    <a:cs typeface="AngsanaUPC" panose="020B0502040204020203" pitchFamily="18" charset="-34"/>
                  </a:rPr>
                  <a:t>DEDEB</a:t>
                </a:r>
                <a:endParaRPr lang="zh-TW" altLang="en-US" sz="2400" dirty="0">
                  <a:solidFill>
                    <a:srgbClr val="0070C0"/>
                  </a:solidFill>
                  <a:latin typeface="Arial Black" panose="020B0A04020102020204" pitchFamily="34" charset="0"/>
                  <a:cs typeface="AngsanaUPC" panose="020B0502040204020203" pitchFamily="18" charset="-34"/>
                </a:endParaRPr>
              </a:p>
            </p:txBody>
          </p:sp>
        </p:grpSp>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xmlns="" id="{3154DE31-1938-4CEE-8396-CAA90748199E}"/>
                    </a:ext>
                  </a:extLst>
                </p:cNvPr>
                <p:cNvSpPr/>
                <p:nvPr/>
              </p:nvSpPr>
              <p:spPr>
                <a:xfrm>
                  <a:off x="6657378" y="1449730"/>
                  <a:ext cx="2108333" cy="458074"/>
                </a:xfrm>
                <a:prstGeom prst="rect">
                  <a:avLst/>
                </a:prstGeom>
              </p:spPr>
              <p:txBody>
                <a:bodyPr wrap="none">
                  <a:spAutoFit/>
                </a:bodyPr>
                <a:lstStyle/>
                <a:p>
                  <a:pPr algn="r">
                    <a:lnSpc>
                      <a:spcPct val="150000"/>
                    </a:lnSpc>
                  </a:pPr>
                  <a14:m>
                    <m:oMath xmlns:m="http://schemas.openxmlformats.org/officeDocument/2006/math">
                      <m:nary>
                        <m:naryPr>
                          <m:chr m:val="∑"/>
                          <m:subHide m:val="on"/>
                          <m:supHide m:val="on"/>
                          <m:ctrlPr>
                            <a:rPr lang="en-US" altLang="zh-TW" i="1">
                              <a:latin typeface="Cambria Math" panose="02040503050406030204" pitchFamily="18" charset="0"/>
                              <a:cs typeface="Times New Roman" panose="02020603050405020304" pitchFamily="18" charset="0"/>
                            </a:rPr>
                          </m:ctrlPr>
                        </m:naryPr>
                        <m:sub/>
                        <m:sup/>
                        <m:e>
                          <m:r>
                            <a:rPr lang="en-US" altLang="zh-TW" i="1">
                              <a:latin typeface="Cambria Math" panose="02040503050406030204" pitchFamily="18" charset="0"/>
                              <a:cs typeface="Times New Roman" panose="02020603050405020304" pitchFamily="18" charset="0"/>
                            </a:rPr>
                            <m:t>=</m:t>
                          </m:r>
                        </m:e>
                      </m:nary>
                    </m:oMath>
                  </a14:m>
                  <a:r>
                    <a:rPr lang="en-US" altLang="zh-TW" dirty="0">
                      <a:latin typeface="Times New Roman" panose="02020603050405020304" pitchFamily="18" charset="0"/>
                      <a:cs typeface="Times New Roman" panose="02020603050405020304" pitchFamily="18" charset="0"/>
                    </a:rPr>
                    <a:t> {A, B, C, 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E}</a:t>
                  </a:r>
                </a:p>
              </p:txBody>
            </p:sp>
          </mc:Choice>
          <mc:Fallback xmlns="">
            <p:sp>
              <p:nvSpPr>
                <p:cNvPr id="25" name="矩形 24">
                  <a:extLst>
                    <a:ext uri="{FF2B5EF4-FFF2-40B4-BE49-F238E27FC236}">
                      <a16:creationId xmlns:a16="http://schemas.microsoft.com/office/drawing/2014/main" id="{3154DE31-1938-4CEE-8396-CAA90748199E}"/>
                    </a:ext>
                  </a:extLst>
                </p:cNvPr>
                <p:cNvSpPr>
                  <a:spLocks noRot="1" noChangeAspect="1" noMove="1" noResize="1" noEditPoints="1" noAdjustHandles="1" noChangeArrowheads="1" noChangeShapeType="1" noTextEdit="1"/>
                </p:cNvSpPr>
                <p:nvPr/>
              </p:nvSpPr>
              <p:spPr>
                <a:xfrm>
                  <a:off x="6657378" y="1449730"/>
                  <a:ext cx="2108333" cy="458074"/>
                </a:xfrm>
                <a:prstGeom prst="rect">
                  <a:avLst/>
                </a:prstGeom>
                <a:blipFill>
                  <a:blip r:embed="rId3"/>
                  <a:stretch>
                    <a:fillRect l="-15029" t="-76000" r="-2601" b="-152000"/>
                  </a:stretch>
                </a:blipFill>
              </p:spPr>
              <p:txBody>
                <a:bodyPr/>
                <a:lstStyle/>
                <a:p>
                  <a:r>
                    <a:rPr lang="zh-TW" altLang="en-US">
                      <a:noFill/>
                    </a:rPr>
                    <a:t> </a:t>
                  </a:r>
                </a:p>
              </p:txBody>
            </p:sp>
          </mc:Fallback>
        </mc:AlternateContent>
      </p:grpSp>
      <p:sp>
        <p:nvSpPr>
          <p:cNvPr id="17" name="矩形 16">
            <a:extLst>
              <a:ext uri="{FF2B5EF4-FFF2-40B4-BE49-F238E27FC236}">
                <a16:creationId xmlns:a16="http://schemas.microsoft.com/office/drawing/2014/main" xmlns="" id="{37952E6C-2084-458C-A18F-F73248EE7B90}"/>
              </a:ext>
            </a:extLst>
          </p:cNvPr>
          <p:cNvSpPr/>
          <p:nvPr/>
        </p:nvSpPr>
        <p:spPr>
          <a:xfrm>
            <a:off x="4587677" y="4783899"/>
            <a:ext cx="518091" cy="369332"/>
          </a:xfrm>
          <a:prstGeom prst="rect">
            <a:avLst/>
          </a:prstGeom>
        </p:spPr>
        <p:txBody>
          <a:bodyPr wrap="none">
            <a:spAutoFit/>
          </a:bodyPr>
          <a:lstStyle/>
          <a:p>
            <a:r>
              <a:rPr lang="en-US" altLang="zh-TW" dirty="0">
                <a:solidFill>
                  <a:srgbClr val="FF0000"/>
                </a:solidFill>
                <a:latin typeface="Times New Roman" panose="02020603050405020304" pitchFamily="18" charset="0"/>
              </a:rPr>
              <a:t>18?</a:t>
            </a:r>
            <a:endParaRPr lang="zh-TW" altLang="en-US" dirty="0"/>
          </a:p>
        </p:txBody>
      </p:sp>
      <p:sp>
        <p:nvSpPr>
          <p:cNvPr id="18" name="矩形 17">
            <a:extLst>
              <a:ext uri="{FF2B5EF4-FFF2-40B4-BE49-F238E27FC236}">
                <a16:creationId xmlns:a16="http://schemas.microsoft.com/office/drawing/2014/main" xmlns="" id="{79379D72-BBB5-4F22-A33F-EAB2BE261515}"/>
              </a:ext>
            </a:extLst>
          </p:cNvPr>
          <p:cNvSpPr/>
          <p:nvPr/>
        </p:nvSpPr>
        <p:spPr>
          <a:xfrm>
            <a:off x="4703094" y="4389727"/>
            <a:ext cx="402674" cy="369332"/>
          </a:xfrm>
          <a:prstGeom prst="rect">
            <a:avLst/>
          </a:prstGeom>
        </p:spPr>
        <p:txBody>
          <a:bodyPr wrap="none">
            <a:spAutoFit/>
          </a:bodyPr>
          <a:lstStyle/>
          <a:p>
            <a:r>
              <a:rPr lang="en-US" altLang="zh-TW" dirty="0">
                <a:solidFill>
                  <a:srgbClr val="FF0000"/>
                </a:solidFill>
                <a:latin typeface="Times New Roman" panose="02020603050405020304" pitchFamily="18" charset="0"/>
              </a:rPr>
              <a:t>5?</a:t>
            </a:r>
            <a:endParaRPr lang="zh-TW" altLang="en-US" dirty="0"/>
          </a:p>
        </p:txBody>
      </p:sp>
      <p:sp>
        <p:nvSpPr>
          <p:cNvPr id="19" name="矩形 18">
            <a:extLst>
              <a:ext uri="{FF2B5EF4-FFF2-40B4-BE49-F238E27FC236}">
                <a16:creationId xmlns:a16="http://schemas.microsoft.com/office/drawing/2014/main" xmlns="" id="{06D9C559-3115-45A7-A489-9B12BCE30C8C}"/>
              </a:ext>
            </a:extLst>
          </p:cNvPr>
          <p:cNvSpPr/>
          <p:nvPr/>
        </p:nvSpPr>
        <p:spPr>
          <a:xfrm>
            <a:off x="501748" y="3421483"/>
            <a:ext cx="2259207" cy="400110"/>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Sort by frequency:</a:t>
            </a:r>
            <a:endParaRPr lang="en-US" altLang="zh-TW" sz="2000" dirty="0">
              <a:solidFill>
                <a:srgbClr val="0070C0"/>
              </a:solidFill>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xmlns="" id="{8D5B326E-F4A5-4ED1-8748-44153AA1834B}"/>
              </a:ext>
            </a:extLst>
          </p:cNvPr>
          <p:cNvSpPr/>
          <p:nvPr/>
        </p:nvSpPr>
        <p:spPr>
          <a:xfrm>
            <a:off x="501748" y="3421483"/>
            <a:ext cx="2259207" cy="400110"/>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Encode:</a:t>
            </a:r>
            <a:endParaRPr lang="en-US" altLang="zh-TW" sz="2000" dirty="0">
              <a:solidFill>
                <a:srgbClr val="0070C0"/>
              </a:solidFill>
              <a:latin typeface="Times New Roman" panose="02020603050405020304" pitchFamily="18" charset="0"/>
              <a:cs typeface="Times New Roman" panose="02020603050405020304" pitchFamily="18" charset="0"/>
            </a:endParaRPr>
          </a:p>
        </p:txBody>
      </p:sp>
      <p:grpSp>
        <p:nvGrpSpPr>
          <p:cNvPr id="27" name="群組 26">
            <a:extLst>
              <a:ext uri="{FF2B5EF4-FFF2-40B4-BE49-F238E27FC236}">
                <a16:creationId xmlns:a16="http://schemas.microsoft.com/office/drawing/2014/main" xmlns="" id="{24E15FEF-224C-4C38-AEE0-7583BB4B092A}"/>
              </a:ext>
            </a:extLst>
          </p:cNvPr>
          <p:cNvGrpSpPr/>
          <p:nvPr/>
        </p:nvGrpSpPr>
        <p:grpSpPr>
          <a:xfrm>
            <a:off x="501749" y="5755595"/>
            <a:ext cx="7807750" cy="715865"/>
            <a:chOff x="501749" y="626724"/>
            <a:chExt cx="7807750" cy="715865"/>
          </a:xfrm>
        </p:grpSpPr>
        <p:sp>
          <p:nvSpPr>
            <p:cNvPr id="28" name="內容版面配置區 6">
              <a:extLst>
                <a:ext uri="{FF2B5EF4-FFF2-40B4-BE49-F238E27FC236}">
                  <a16:creationId xmlns:a16="http://schemas.microsoft.com/office/drawing/2014/main" xmlns="" id="{07BB9455-734C-4243-808E-2CA4AC28693C}"/>
                </a:ext>
              </a:extLst>
            </p:cNvPr>
            <p:cNvSpPr txBox="1">
              <a:spLocks/>
            </p:cNvSpPr>
            <p:nvPr/>
          </p:nvSpPr>
          <p:spPr>
            <a:xfrm>
              <a:off x="501749" y="626724"/>
              <a:ext cx="465918" cy="71586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T’:</a:t>
              </a:r>
            </a:p>
            <a:p>
              <a:pPr>
                <a:lnSpc>
                  <a:spcPct val="150000"/>
                </a:lnSpc>
              </a:pPr>
              <a:endParaRPr lang="en-US" altLang="zh-TW" sz="2400" dirty="0">
                <a:latin typeface="Times New Roman" panose="02020603050405020304" pitchFamily="18" charset="0"/>
                <a:cs typeface="Times New Roman" panose="02020603050405020304" pitchFamily="18" charset="0"/>
              </a:endParaRPr>
            </a:p>
            <a:p>
              <a:pPr marL="0" indent="0">
                <a:lnSpc>
                  <a:spcPct val="150000"/>
                </a:lnSpc>
                <a:buFont typeface="Arial" panose="020B0604020202020204" pitchFamily="34" charset="0"/>
                <a:buNone/>
              </a:pPr>
              <a:endParaRPr lang="en-US" altLang="zh-TW" sz="2400" dirty="0">
                <a:latin typeface="Times New Roman" panose="02020603050405020304" pitchFamily="18" charset="0"/>
                <a:cs typeface="Times New Roman" panose="02020603050405020304" pitchFamily="18" charset="0"/>
              </a:endParaRPr>
            </a:p>
          </p:txBody>
        </p:sp>
        <p:sp>
          <p:nvSpPr>
            <p:cNvPr id="29" name="矩形 28">
              <a:extLst>
                <a:ext uri="{FF2B5EF4-FFF2-40B4-BE49-F238E27FC236}">
                  <a16:creationId xmlns:a16="http://schemas.microsoft.com/office/drawing/2014/main" xmlns="" id="{4A4A642B-0FD6-44C2-8182-A2AD9BE57922}"/>
                </a:ext>
              </a:extLst>
            </p:cNvPr>
            <p:cNvSpPr/>
            <p:nvPr/>
          </p:nvSpPr>
          <p:spPr>
            <a:xfrm>
              <a:off x="1346918" y="626724"/>
              <a:ext cx="4596130" cy="588879"/>
            </a:xfrm>
            <a:prstGeom prst="rect">
              <a:avLst/>
            </a:prstGeom>
          </p:spPr>
          <p:txBody>
            <a:bodyPr wrap="none">
              <a:spAutoFit/>
            </a:bodyPr>
            <a:lstStyle/>
            <a:p>
              <a:pPr>
                <a:lnSpc>
                  <a:spcPct val="150000"/>
                </a:lnSpc>
              </a:pPr>
              <a:r>
                <a:rPr lang="en-US" altLang="zh-TW" sz="2400" dirty="0">
                  <a:latin typeface="Arial Black" panose="020B0A04020102020204" pitchFamily="34" charset="0"/>
                  <a:cs typeface="AngsanaUPC" panose="020B0502040204020203" pitchFamily="18" charset="-34"/>
                </a:rPr>
                <a:t>01 10 01 01 01 10 0001 01</a:t>
              </a:r>
              <a:endParaRPr lang="zh-TW" altLang="en-US" sz="2400" dirty="0">
                <a:solidFill>
                  <a:srgbClr val="0070C0"/>
                </a:solidFill>
                <a:latin typeface="Arial Black" panose="020B0A04020102020204" pitchFamily="34" charset="0"/>
                <a:cs typeface="AngsanaUPC" panose="020B0502040204020203" pitchFamily="18" charset="-34"/>
              </a:endParaRPr>
            </a:p>
          </p:txBody>
        </p:sp>
        <p:sp>
          <p:nvSpPr>
            <p:cNvPr id="30" name="內容版面配置區 6">
              <a:extLst>
                <a:ext uri="{FF2B5EF4-FFF2-40B4-BE49-F238E27FC236}">
                  <a16:creationId xmlns:a16="http://schemas.microsoft.com/office/drawing/2014/main" xmlns="" id="{A0725A9D-7981-475B-A14F-B6F650FDD01D}"/>
                </a:ext>
              </a:extLst>
            </p:cNvPr>
            <p:cNvSpPr txBox="1">
              <a:spLocks/>
            </p:cNvSpPr>
            <p:nvPr/>
          </p:nvSpPr>
          <p:spPr>
            <a:xfrm>
              <a:off x="5992033" y="626724"/>
              <a:ext cx="2317466" cy="71586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(Compressed Text)</a:t>
              </a:r>
            </a:p>
            <a:p>
              <a:pPr>
                <a:lnSpc>
                  <a:spcPct val="150000"/>
                </a:lnSpc>
              </a:pPr>
              <a:endParaRPr lang="en-US" altLang="zh-TW" sz="2400" dirty="0">
                <a:latin typeface="Times New Roman" panose="02020603050405020304" pitchFamily="18" charset="0"/>
                <a:cs typeface="Times New Roman" panose="02020603050405020304" pitchFamily="18" charset="0"/>
              </a:endParaRPr>
            </a:p>
            <a:p>
              <a:pPr marL="0" indent="0">
                <a:lnSpc>
                  <a:spcPct val="150000"/>
                </a:lnSpc>
                <a:buFont typeface="Arial" panose="020B0604020202020204" pitchFamily="34" charset="0"/>
                <a:buNone/>
              </a:pPr>
              <a:endParaRPr lang="en-US" altLang="zh-TW" sz="2400" dirty="0">
                <a:latin typeface="Times New Roman" panose="02020603050405020304" pitchFamily="18" charset="0"/>
                <a:cs typeface="Times New Roman" panose="02020603050405020304" pitchFamily="18" charset="0"/>
              </a:endParaRPr>
            </a:p>
          </p:txBody>
        </p:sp>
      </p:grpSp>
      <p:sp>
        <p:nvSpPr>
          <p:cNvPr id="33" name="矩形 32">
            <a:extLst>
              <a:ext uri="{FF2B5EF4-FFF2-40B4-BE49-F238E27FC236}">
                <a16:creationId xmlns:a16="http://schemas.microsoft.com/office/drawing/2014/main" xmlns="" id="{CFCDF686-AB8A-42B9-A242-0614A663C654}"/>
              </a:ext>
            </a:extLst>
          </p:cNvPr>
          <p:cNvSpPr/>
          <p:nvPr/>
        </p:nvSpPr>
        <p:spPr>
          <a:xfrm>
            <a:off x="501748" y="2697496"/>
            <a:ext cx="1820212" cy="400110"/>
          </a:xfrm>
          <a:prstGeom prst="rect">
            <a:avLst/>
          </a:prstGeom>
        </p:spPr>
        <p:txBody>
          <a:bodyPr wrap="square">
            <a:spAutoFit/>
          </a:bodyPr>
          <a:lstStyle/>
          <a:p>
            <a:r>
              <a:rPr lang="en-US" altLang="zh-TW" sz="2000" dirty="0" err="1">
                <a:latin typeface="Times New Roman" panose="02020603050405020304" pitchFamily="18" charset="0"/>
                <a:cs typeface="Times New Roman" panose="02020603050405020304" pitchFamily="18" charset="0"/>
              </a:rPr>
              <a:t>Pred</a:t>
            </a:r>
            <a:r>
              <a:rPr lang="en-US" altLang="zh-TW" sz="2000" dirty="0">
                <a:latin typeface="Times New Roman" panose="02020603050405020304" pitchFamily="18" charset="0"/>
                <a:cs typeface="Times New Roman" panose="02020603050405020304" pitchFamily="18" charset="0"/>
              </a:rPr>
              <a:t>:</a:t>
            </a:r>
            <a:r>
              <a:rPr lang="zh-TW" altLang="en-US" sz="2000" dirty="0">
                <a:latin typeface="Times New Roman" panose="02020603050405020304" pitchFamily="18" charset="0"/>
                <a:cs typeface="Times New Roman" panose="02020603050405020304" pitchFamily="18" charset="0"/>
              </a:rPr>
              <a:t> </a:t>
            </a:r>
            <a:endParaRPr lang="en-US" altLang="zh-TW" sz="2000" dirty="0">
              <a:latin typeface="Times New Roman" panose="02020603050405020304" pitchFamily="18" charset="0"/>
              <a:cs typeface="Times New Roman" panose="02020603050405020304" pitchFamily="18" charset="0"/>
            </a:endParaRPr>
          </a:p>
        </p:txBody>
      </p:sp>
      <p:sp>
        <p:nvSpPr>
          <p:cNvPr id="34" name="矩形 33">
            <a:extLst>
              <a:ext uri="{FF2B5EF4-FFF2-40B4-BE49-F238E27FC236}">
                <a16:creationId xmlns:a16="http://schemas.microsoft.com/office/drawing/2014/main" xmlns="" id="{7A5F1DE1-4CC3-4A0A-BA5A-F4D3D63F4458}"/>
              </a:ext>
            </a:extLst>
          </p:cNvPr>
          <p:cNvSpPr/>
          <p:nvPr/>
        </p:nvSpPr>
        <p:spPr>
          <a:xfrm>
            <a:off x="501748" y="3421483"/>
            <a:ext cx="2259207" cy="400110"/>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Vocabulary Table:</a:t>
            </a:r>
            <a:endParaRPr lang="en-US" altLang="zh-TW" sz="20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2339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xit" presetSubtype="0" fill="hold" grpId="0" nodeType="withEffect">
                                  <p:stCondLst>
                                    <p:cond delay="0"/>
                                  </p:stCondLst>
                                  <p:childTnLst>
                                    <p:animEffect transition="out" filter="fade">
                                      <p:cBhvr>
                                        <p:cTn id="9" dur="500"/>
                                        <p:tgtEl>
                                          <p:spTgt spid="34"/>
                                        </p:tgtEl>
                                      </p:cBhvr>
                                    </p:animEffect>
                                    <p:set>
                                      <p:cBhvr>
                                        <p:cTn id="10" dur="1" fill="hold">
                                          <p:stCondLst>
                                            <p:cond delay="499"/>
                                          </p:stCondLst>
                                        </p:cTn>
                                        <p:tgtEl>
                                          <p:spTgt spid="3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19"/>
                                        </p:tgtEl>
                                      </p:cBhvr>
                                    </p:animEffect>
                                    <p:set>
                                      <p:cBhvr>
                                        <p:cTn id="15" dur="1" fill="hold">
                                          <p:stCondLst>
                                            <p:cond delay="499"/>
                                          </p:stCondLst>
                                        </p:cTn>
                                        <p:tgtEl>
                                          <p:spTgt spid="19"/>
                                        </p:tgtEl>
                                        <p:attrNameLst>
                                          <p:attrName>style.visibility</p:attrName>
                                        </p:attrNameLst>
                                      </p:cBhvr>
                                      <p:to>
                                        <p:strVal val="hidden"/>
                                      </p:to>
                                    </p:set>
                                  </p:childTnLst>
                                </p:cTn>
                              </p:par>
                              <p:par>
                                <p:cTn id="16" presetID="10" presetClass="entr" presetSubtype="0"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9" grpId="1"/>
      <p:bldP spid="21" grpId="0"/>
      <p:bldP spid="3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15</a:t>
            </a:fld>
            <a:endParaRPr lang="zh-TW" altLang="en-US"/>
          </a:p>
        </p:txBody>
      </p:sp>
      <p:sp>
        <p:nvSpPr>
          <p:cNvPr id="14" name="矩形 13">
            <a:extLst>
              <a:ext uri="{FF2B5EF4-FFF2-40B4-BE49-F238E27FC236}">
                <a16:creationId xmlns:a16="http://schemas.microsoft.com/office/drawing/2014/main" xmlns="" id="{C8827685-E087-4ED2-B30E-7DA0C1390957}"/>
              </a:ext>
            </a:extLst>
          </p:cNvPr>
          <p:cNvSpPr/>
          <p:nvPr/>
        </p:nvSpPr>
        <p:spPr>
          <a:xfrm>
            <a:off x="501748" y="2670216"/>
            <a:ext cx="1820212" cy="400110"/>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Modified:</a:t>
            </a:r>
            <a:r>
              <a:rPr lang="zh-TW" altLang="en-US" sz="2000" dirty="0">
                <a:latin typeface="Times New Roman" panose="02020603050405020304" pitchFamily="18" charset="0"/>
                <a:cs typeface="Times New Roman" panose="02020603050405020304" pitchFamily="18" charset="0"/>
              </a:rPr>
              <a:t> </a:t>
            </a:r>
            <a:endParaRPr lang="en-US" altLang="zh-TW" sz="2000" dirty="0">
              <a:latin typeface="Times New Roman" panose="02020603050405020304" pitchFamily="18" charset="0"/>
              <a:cs typeface="Times New Roman" panose="02020603050405020304" pitchFamily="18" charset="0"/>
            </a:endParaRPr>
          </a:p>
        </p:txBody>
      </p:sp>
      <p:sp>
        <p:nvSpPr>
          <p:cNvPr id="15" name="矩形 14">
            <a:extLst>
              <a:ext uri="{FF2B5EF4-FFF2-40B4-BE49-F238E27FC236}">
                <a16:creationId xmlns:a16="http://schemas.microsoft.com/office/drawing/2014/main" xmlns="" id="{D1F6A019-2366-4CE4-BE85-9E621618ADEE}"/>
              </a:ext>
            </a:extLst>
          </p:cNvPr>
          <p:cNvSpPr/>
          <p:nvPr/>
        </p:nvSpPr>
        <p:spPr>
          <a:xfrm>
            <a:off x="2775435" y="3134508"/>
            <a:ext cx="3368439" cy="400110"/>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0021(9)</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0022(10)</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0101(17)</a:t>
            </a:r>
            <a:endParaRPr lang="en-US" altLang="zh-TW" sz="2000" dirty="0">
              <a:solidFill>
                <a:srgbClr val="0070C0"/>
              </a:solidFill>
              <a:latin typeface="Times New Roman" panose="02020603050405020304" pitchFamily="18" charset="0"/>
              <a:cs typeface="Times New Roman" panose="02020603050405020304" pitchFamily="18" charset="0"/>
            </a:endParaRPr>
          </a:p>
        </p:txBody>
      </p:sp>
      <p:grpSp>
        <p:nvGrpSpPr>
          <p:cNvPr id="5" name="群組 4">
            <a:extLst>
              <a:ext uri="{FF2B5EF4-FFF2-40B4-BE49-F238E27FC236}">
                <a16:creationId xmlns:a16="http://schemas.microsoft.com/office/drawing/2014/main" xmlns="" id="{A8704714-A153-4D03-85FD-D4D4DD9461BF}"/>
              </a:ext>
            </a:extLst>
          </p:cNvPr>
          <p:cNvGrpSpPr/>
          <p:nvPr/>
        </p:nvGrpSpPr>
        <p:grpSpPr>
          <a:xfrm>
            <a:off x="501749" y="1724120"/>
            <a:ext cx="5872490" cy="715865"/>
            <a:chOff x="501749" y="626724"/>
            <a:chExt cx="5872490" cy="715865"/>
          </a:xfrm>
        </p:grpSpPr>
        <p:sp>
          <p:nvSpPr>
            <p:cNvPr id="11" name="內容版面配置區 6">
              <a:extLst>
                <a:ext uri="{FF2B5EF4-FFF2-40B4-BE49-F238E27FC236}">
                  <a16:creationId xmlns:a16="http://schemas.microsoft.com/office/drawing/2014/main" xmlns="" id="{9B9DE786-0EFB-4932-AA42-934FF1949394}"/>
                </a:ext>
              </a:extLst>
            </p:cNvPr>
            <p:cNvSpPr txBox="1">
              <a:spLocks/>
            </p:cNvSpPr>
            <p:nvPr/>
          </p:nvSpPr>
          <p:spPr>
            <a:xfrm>
              <a:off x="501749" y="626724"/>
              <a:ext cx="465918" cy="7158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P:</a:t>
              </a:r>
            </a:p>
            <a:p>
              <a:pPr>
                <a:lnSpc>
                  <a:spcPct val="150000"/>
                </a:lnSpc>
              </a:pPr>
              <a:endParaRPr lang="en-US" altLang="zh-TW" sz="2400" dirty="0">
                <a:latin typeface="Times New Roman" panose="02020603050405020304" pitchFamily="18" charset="0"/>
                <a:cs typeface="Times New Roman" panose="02020603050405020304" pitchFamily="18" charset="0"/>
              </a:endParaRPr>
            </a:p>
            <a:p>
              <a:pPr marL="0" indent="0">
                <a:lnSpc>
                  <a:spcPct val="150000"/>
                </a:lnSpc>
                <a:buFont typeface="Arial" panose="020B0604020202020204" pitchFamily="34" charset="0"/>
                <a:buNone/>
              </a:pPr>
              <a:endParaRPr lang="en-US" altLang="zh-TW" sz="2400" dirty="0">
                <a:latin typeface="Times New Roman" panose="02020603050405020304" pitchFamily="18" charset="0"/>
                <a:cs typeface="Times New Roman" panose="02020603050405020304" pitchFamily="18" charset="0"/>
              </a:endParaRPr>
            </a:p>
          </p:txBody>
        </p:sp>
        <p:sp>
          <p:nvSpPr>
            <p:cNvPr id="23" name="矩形 22">
              <a:extLst>
                <a:ext uri="{FF2B5EF4-FFF2-40B4-BE49-F238E27FC236}">
                  <a16:creationId xmlns:a16="http://schemas.microsoft.com/office/drawing/2014/main" xmlns="" id="{5F06EC41-9D7E-4AEC-92D6-6029752090C6}"/>
                </a:ext>
              </a:extLst>
            </p:cNvPr>
            <p:cNvSpPr/>
            <p:nvPr/>
          </p:nvSpPr>
          <p:spPr>
            <a:xfrm>
              <a:off x="2456372" y="626724"/>
              <a:ext cx="3917867" cy="588879"/>
            </a:xfrm>
            <a:prstGeom prst="rect">
              <a:avLst/>
            </a:prstGeom>
          </p:spPr>
          <p:txBody>
            <a:bodyPr wrap="none">
              <a:spAutoFit/>
            </a:bodyPr>
            <a:lstStyle/>
            <a:p>
              <a:pPr>
                <a:lnSpc>
                  <a:spcPct val="150000"/>
                </a:lnSpc>
              </a:pPr>
              <a:r>
                <a:rPr lang="en-US" altLang="zh-TW" sz="2400" dirty="0">
                  <a:latin typeface="Arial Black" panose="020B0A04020102020204" pitchFamily="34" charset="0"/>
                  <a:cs typeface="AngsanaUPC" panose="020B0502040204020203" pitchFamily="18" charset="-34"/>
                </a:rPr>
                <a:t>ABAA, </a:t>
              </a:r>
              <a:r>
                <a:rPr lang="en-US" altLang="zh-TW" sz="2400" dirty="0">
                  <a:solidFill>
                    <a:srgbClr val="0070C0"/>
                  </a:solidFill>
                  <a:latin typeface="Arial Black" panose="020B0A04020102020204" pitchFamily="34" charset="0"/>
                  <a:cs typeface="AngsanaUPC" panose="020B0502040204020203" pitchFamily="18" charset="-34"/>
                </a:rPr>
                <a:t>BABAA</a:t>
              </a:r>
              <a:r>
                <a:rPr lang="en-US" altLang="zh-TW" sz="2400" dirty="0">
                  <a:latin typeface="Arial Black" panose="020B0A04020102020204" pitchFamily="34" charset="0"/>
                  <a:cs typeface="AngsanaUPC" panose="020B0502040204020203" pitchFamily="18" charset="-34"/>
                </a:rPr>
                <a:t>, </a:t>
              </a:r>
              <a:r>
                <a:rPr lang="en-US" altLang="zh-TW" sz="2400" dirty="0">
                  <a:solidFill>
                    <a:srgbClr val="0070C0"/>
                  </a:solidFill>
                  <a:latin typeface="Arial Black" panose="020B0A04020102020204" pitchFamily="34" charset="0"/>
                  <a:cs typeface="AngsanaUPC" panose="020B0502040204020203" pitchFamily="18" charset="-34"/>
                </a:rPr>
                <a:t>BBAAB</a:t>
              </a:r>
              <a:endParaRPr lang="zh-TW" altLang="en-US" sz="2400" dirty="0">
                <a:solidFill>
                  <a:srgbClr val="0070C0"/>
                </a:solidFill>
                <a:latin typeface="Arial Black" panose="020B0A04020102020204" pitchFamily="34" charset="0"/>
                <a:cs typeface="AngsanaUPC" panose="020B0502040204020203" pitchFamily="18" charset="-34"/>
              </a:endParaRPr>
            </a:p>
          </p:txBody>
        </p:sp>
      </p:grpSp>
      <p:sp>
        <p:nvSpPr>
          <p:cNvPr id="24" name="矩形 23">
            <a:extLst>
              <a:ext uri="{FF2B5EF4-FFF2-40B4-BE49-F238E27FC236}">
                <a16:creationId xmlns:a16="http://schemas.microsoft.com/office/drawing/2014/main" xmlns="" id="{BED69EC6-12FD-4C9C-A9F0-A4729196D3FA}"/>
              </a:ext>
            </a:extLst>
          </p:cNvPr>
          <p:cNvSpPr/>
          <p:nvPr/>
        </p:nvSpPr>
        <p:spPr>
          <a:xfrm>
            <a:off x="2643922" y="2538650"/>
            <a:ext cx="3542765" cy="588879"/>
          </a:xfrm>
          <a:prstGeom prst="rect">
            <a:avLst/>
          </a:prstGeom>
        </p:spPr>
        <p:txBody>
          <a:bodyPr wrap="none">
            <a:spAutoFit/>
          </a:bodyPr>
          <a:lstStyle/>
          <a:p>
            <a:pPr>
              <a:lnSpc>
                <a:spcPct val="150000"/>
              </a:lnSpc>
            </a:pPr>
            <a:r>
              <a:rPr lang="en-US" altLang="zh-TW" sz="2400" dirty="0">
                <a:latin typeface="Arial Black" panose="020B0A04020102020204" pitchFamily="34" charset="0"/>
                <a:cs typeface="AngsanaUPC" panose="020B0502040204020203" pitchFamily="18" charset="-34"/>
              </a:rPr>
              <a:t>ABAA,</a:t>
            </a:r>
            <a:r>
              <a:rPr lang="zh-TW" altLang="en-US" sz="2400" dirty="0">
                <a:latin typeface="Arial Black" panose="020B0A04020102020204" pitchFamily="34" charset="0"/>
                <a:cs typeface="AngsanaUPC" panose="020B0502040204020203" pitchFamily="18" charset="-34"/>
              </a:rPr>
              <a:t> </a:t>
            </a:r>
            <a:r>
              <a:rPr lang="en-US" altLang="zh-TW" sz="2400" dirty="0">
                <a:solidFill>
                  <a:srgbClr val="0070C0"/>
                </a:solidFill>
                <a:latin typeface="Arial Black" panose="020B0A04020102020204" pitchFamily="34" charset="0"/>
                <a:cs typeface="AngsanaUPC" panose="020B0502040204020203" pitchFamily="18" charset="-34"/>
              </a:rPr>
              <a:t>BABA</a:t>
            </a:r>
            <a:r>
              <a:rPr lang="en-US" altLang="zh-TW" sz="2400" dirty="0">
                <a:latin typeface="Arial Black" panose="020B0A04020102020204" pitchFamily="34" charset="0"/>
                <a:cs typeface="AngsanaUPC" panose="020B0502040204020203" pitchFamily="18" charset="-34"/>
              </a:rPr>
              <a:t>,</a:t>
            </a:r>
            <a:r>
              <a:rPr lang="en-US" altLang="zh-TW" sz="2400" dirty="0">
                <a:solidFill>
                  <a:srgbClr val="0070C0"/>
                </a:solidFill>
                <a:latin typeface="Arial Black" panose="020B0A04020102020204" pitchFamily="34" charset="0"/>
                <a:cs typeface="AngsanaUPC" panose="020B0502040204020203" pitchFamily="18" charset="-34"/>
              </a:rPr>
              <a:t> BBAA</a:t>
            </a:r>
            <a:endParaRPr lang="en-US" altLang="zh-TW" sz="2400" dirty="0">
              <a:latin typeface="Arial Black" panose="020B0A04020102020204" pitchFamily="34" charset="0"/>
              <a:cs typeface="AngsanaUPC" panose="020B0502040204020203" pitchFamily="18" charset="-34"/>
            </a:endParaRPr>
          </a:p>
        </p:txBody>
      </p:sp>
      <p:sp>
        <p:nvSpPr>
          <p:cNvPr id="26" name="標題 1">
            <a:extLst>
              <a:ext uri="{FF2B5EF4-FFF2-40B4-BE49-F238E27FC236}">
                <a16:creationId xmlns:a16="http://schemas.microsoft.com/office/drawing/2014/main" xmlns="" id="{3F7B7D7F-2508-4F8C-BA36-C9A457FD3023}"/>
              </a:ext>
            </a:extLst>
          </p:cNvPr>
          <p:cNvSpPr>
            <a:spLocks noGrp="1"/>
          </p:cNvSpPr>
          <p:nvPr>
            <p:ph type="title"/>
          </p:nvPr>
        </p:nvSpPr>
        <p:spPr>
          <a:xfrm>
            <a:off x="471956" y="414725"/>
            <a:ext cx="7886700" cy="583367"/>
          </a:xfrm>
        </p:spPr>
        <p:txBody>
          <a:bodyPr>
            <a:normAutofit fontScale="90000"/>
          </a:bodyPr>
          <a:lstStyle/>
          <a:p>
            <a:pPr>
              <a:lnSpc>
                <a:spcPct val="150000"/>
              </a:lnSpc>
            </a:pPr>
            <a:r>
              <a:rPr lang="en-US" altLang="zh-TW" sz="3200" dirty="0">
                <a:latin typeface="Times New Roman" panose="02020603050405020304" pitchFamily="18" charset="0"/>
                <a:cs typeface="Times New Roman" panose="02020603050405020304" pitchFamily="18" charset="0"/>
              </a:rPr>
              <a:t>Preprocessing of Patterns</a:t>
            </a:r>
          </a:p>
        </p:txBody>
      </p:sp>
      <p:graphicFrame>
        <p:nvGraphicFramePr>
          <p:cNvPr id="31" name="內容版面配置區 7">
            <a:extLst>
              <a:ext uri="{FF2B5EF4-FFF2-40B4-BE49-F238E27FC236}">
                <a16:creationId xmlns:a16="http://schemas.microsoft.com/office/drawing/2014/main" xmlns="" id="{6FE00081-5E64-4BD7-94D9-B5B831D902BC}"/>
              </a:ext>
            </a:extLst>
          </p:cNvPr>
          <p:cNvGraphicFramePr>
            <a:graphicFrameLocks/>
          </p:cNvGraphicFramePr>
          <p:nvPr>
            <p:extLst>
              <p:ext uri="{D42A27DB-BD31-4B8C-83A1-F6EECF244321}">
                <p14:modId xmlns:p14="http://schemas.microsoft.com/office/powerpoint/2010/main" val="290420892"/>
              </p:ext>
            </p:extLst>
          </p:nvPr>
        </p:nvGraphicFramePr>
        <p:xfrm>
          <a:off x="2049294" y="4513460"/>
          <a:ext cx="4732020" cy="1483360"/>
        </p:xfrm>
        <a:graphic>
          <a:graphicData uri="http://schemas.openxmlformats.org/drawingml/2006/table">
            <a:tbl>
              <a:tblPr firstRow="1" bandRow="1">
                <a:tableStyleId>{5940675A-B579-460E-94D1-54222C63F5DA}</a:tableStyleId>
              </a:tblPr>
              <a:tblGrid>
                <a:gridCol w="1577340">
                  <a:extLst>
                    <a:ext uri="{9D8B030D-6E8A-4147-A177-3AD203B41FA5}">
                      <a16:colId xmlns:a16="http://schemas.microsoft.com/office/drawing/2014/main" xmlns="" val="4183209010"/>
                    </a:ext>
                  </a:extLst>
                </a:gridCol>
                <a:gridCol w="1577340">
                  <a:extLst>
                    <a:ext uri="{9D8B030D-6E8A-4147-A177-3AD203B41FA5}">
                      <a16:colId xmlns:a16="http://schemas.microsoft.com/office/drawing/2014/main" xmlns="" val="4264795898"/>
                    </a:ext>
                  </a:extLst>
                </a:gridCol>
                <a:gridCol w="1577340">
                  <a:extLst>
                    <a:ext uri="{9D8B030D-6E8A-4147-A177-3AD203B41FA5}">
                      <a16:colId xmlns:a16="http://schemas.microsoft.com/office/drawing/2014/main" xmlns="" val="2897420003"/>
                    </a:ext>
                  </a:extLst>
                </a:gridCol>
              </a:tblGrid>
              <a:tr h="370840">
                <a:tc>
                  <a:txBody>
                    <a:bodyPr/>
                    <a:lstStyle/>
                    <a:p>
                      <a:pPr algn="ctr"/>
                      <a:r>
                        <a:rPr lang="en-US" altLang="zh-TW" baseline="0" dirty="0">
                          <a:latin typeface="Times New Roman" panose="02020603050405020304" pitchFamily="18" charset="0"/>
                        </a:rPr>
                        <a:t>Word</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Index</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Codes</a:t>
                      </a:r>
                      <a:endParaRPr lang="zh-TW" altLang="en-US" baseline="0" dirty="0">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2352578504"/>
                  </a:ext>
                </a:extLst>
              </a:tr>
              <a:tr h="370840">
                <a:tc>
                  <a:txBody>
                    <a:bodyPr/>
                    <a:lstStyle/>
                    <a:p>
                      <a:pPr algn="ctr"/>
                      <a:r>
                        <a:rPr lang="en-US" altLang="zh-TW" baseline="0" dirty="0">
                          <a:latin typeface="Times New Roman" panose="02020603050405020304" pitchFamily="18" charset="0"/>
                        </a:rPr>
                        <a:t>0021</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9 </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01</a:t>
                      </a:r>
                      <a:endParaRPr lang="zh-TW" altLang="en-US" baseline="0" dirty="0">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3978714840"/>
                  </a:ext>
                </a:extLst>
              </a:tr>
              <a:tr h="370840">
                <a:tc>
                  <a:txBody>
                    <a:bodyPr/>
                    <a:lstStyle/>
                    <a:p>
                      <a:pPr algn="ctr"/>
                      <a:r>
                        <a:rPr lang="en-US" altLang="zh-TW" baseline="0" dirty="0">
                          <a:latin typeface="Times New Roman" panose="02020603050405020304" pitchFamily="18" charset="0"/>
                        </a:rPr>
                        <a:t>0022</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10</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10</a:t>
                      </a:r>
                      <a:endParaRPr lang="zh-TW" altLang="en-US" baseline="0" dirty="0">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2172083126"/>
                  </a:ext>
                </a:extLst>
              </a:tr>
              <a:tr h="370840">
                <a:tc>
                  <a:txBody>
                    <a:bodyPr/>
                    <a:lstStyle/>
                    <a:p>
                      <a:pPr algn="ctr"/>
                      <a:r>
                        <a:rPr lang="en-US" altLang="zh-TW" baseline="0" dirty="0">
                          <a:latin typeface="Times New Roman" panose="02020603050405020304" pitchFamily="18" charset="0"/>
                        </a:rPr>
                        <a:t>0020</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8</a:t>
                      </a:r>
                      <a:endParaRPr lang="zh-TW" altLang="en-US" baseline="0" dirty="0">
                        <a:solidFill>
                          <a:srgbClr val="FF0000"/>
                        </a:solidFill>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0001</a:t>
                      </a:r>
                      <a:endParaRPr lang="zh-TW" altLang="en-US" baseline="0" dirty="0">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3384057669"/>
                  </a:ext>
                </a:extLst>
              </a:tr>
            </a:tbl>
          </a:graphicData>
        </a:graphic>
      </p:graphicFrame>
      <p:sp>
        <p:nvSpPr>
          <p:cNvPr id="32" name="矩形 31">
            <a:extLst>
              <a:ext uri="{FF2B5EF4-FFF2-40B4-BE49-F238E27FC236}">
                <a16:creationId xmlns:a16="http://schemas.microsoft.com/office/drawing/2014/main" xmlns="" id="{958450C3-61E6-401C-8640-BA9F6542E136}"/>
              </a:ext>
            </a:extLst>
          </p:cNvPr>
          <p:cNvSpPr/>
          <p:nvPr/>
        </p:nvSpPr>
        <p:spPr>
          <a:xfrm>
            <a:off x="501748" y="3134508"/>
            <a:ext cx="1820212" cy="400110"/>
          </a:xfrm>
          <a:prstGeom prst="rect">
            <a:avLst/>
          </a:prstGeom>
        </p:spPr>
        <p:txBody>
          <a:bodyPr wrap="square">
            <a:spAutoFit/>
          </a:bodyPr>
          <a:lstStyle/>
          <a:p>
            <a:r>
              <a:rPr lang="en-US" altLang="zh-TW" sz="2000" dirty="0" err="1">
                <a:latin typeface="Times New Roman" panose="02020603050405020304" pitchFamily="18" charset="0"/>
                <a:cs typeface="Times New Roman" panose="02020603050405020304" pitchFamily="18" charset="0"/>
              </a:rPr>
              <a:t>Pred</a:t>
            </a:r>
            <a:r>
              <a:rPr lang="en-US" altLang="zh-TW" sz="2000" dirty="0">
                <a:latin typeface="Times New Roman" panose="02020603050405020304" pitchFamily="18" charset="0"/>
                <a:cs typeface="Times New Roman" panose="02020603050405020304" pitchFamily="18" charset="0"/>
              </a:rPr>
              <a:t>(index):</a:t>
            </a:r>
            <a:r>
              <a:rPr lang="zh-TW" altLang="en-US" sz="2000" dirty="0">
                <a:latin typeface="Times New Roman" panose="02020603050405020304" pitchFamily="18" charset="0"/>
                <a:cs typeface="Times New Roman" panose="02020603050405020304" pitchFamily="18" charset="0"/>
              </a:rPr>
              <a:t> </a:t>
            </a:r>
            <a:endParaRPr lang="en-US" altLang="zh-TW" sz="2000" dirty="0">
              <a:latin typeface="Times New Roman" panose="02020603050405020304" pitchFamily="18" charset="0"/>
              <a:cs typeface="Times New Roman" panose="02020603050405020304" pitchFamily="18" charset="0"/>
            </a:endParaRPr>
          </a:p>
        </p:txBody>
      </p:sp>
      <p:sp>
        <p:nvSpPr>
          <p:cNvPr id="33" name="矩形 32">
            <a:extLst>
              <a:ext uri="{FF2B5EF4-FFF2-40B4-BE49-F238E27FC236}">
                <a16:creationId xmlns:a16="http://schemas.microsoft.com/office/drawing/2014/main" xmlns="" id="{77C4BC41-BB79-4411-9543-851C1755C596}"/>
              </a:ext>
            </a:extLst>
          </p:cNvPr>
          <p:cNvSpPr/>
          <p:nvPr/>
        </p:nvSpPr>
        <p:spPr>
          <a:xfrm>
            <a:off x="501748" y="4049168"/>
            <a:ext cx="5401902" cy="400110"/>
          </a:xfrm>
          <a:prstGeom prst="rect">
            <a:avLst/>
          </a:prstGeom>
        </p:spPr>
        <p:txBody>
          <a:bodyPr wrap="square">
            <a:spAutoFit/>
          </a:bodyPr>
          <a:lstStyle/>
          <a:p>
            <a:r>
              <a:rPr lang="zh-TW" altLang="en-US" sz="2000" dirty="0">
                <a:solidFill>
                  <a:srgbClr val="855151"/>
                </a:solidFill>
                <a:latin typeface="Times New Roman" panose="02020603050405020304" pitchFamily="18" charset="0"/>
                <a:ea typeface="標楷體" panose="03000509000000000000" pitchFamily="65" charset="-120"/>
                <a:cs typeface="Times New Roman" panose="02020603050405020304" pitchFamily="18" charset="0"/>
              </a:rPr>
              <a:t>搜尋</a:t>
            </a:r>
            <a:r>
              <a:rPr lang="en-US" altLang="zh-TW" sz="2000" dirty="0">
                <a:solidFill>
                  <a:srgbClr val="855151"/>
                </a:solidFill>
                <a:latin typeface="Times New Roman" panose="02020603050405020304" pitchFamily="18" charset="0"/>
                <a:ea typeface="標楷體" panose="03000509000000000000" pitchFamily="65" charset="-120"/>
                <a:cs typeface="Times New Roman" panose="02020603050405020304" pitchFamily="18" charset="0"/>
              </a:rPr>
              <a:t>index</a:t>
            </a:r>
            <a:r>
              <a:rPr lang="zh-TW" altLang="en-US" sz="2000" dirty="0">
                <a:solidFill>
                  <a:srgbClr val="855151"/>
                </a:solidFill>
                <a:latin typeface="Times New Roman" panose="02020603050405020304" pitchFamily="18" charset="0"/>
                <a:ea typeface="標楷體" panose="03000509000000000000" pitchFamily="65" charset="-120"/>
                <a:cs typeface="Times New Roman" panose="02020603050405020304" pitchFamily="18" charset="0"/>
              </a:rPr>
              <a:t>，如果不在</a:t>
            </a:r>
            <a:r>
              <a:rPr lang="en-US" altLang="zh-TW" sz="2000" dirty="0">
                <a:solidFill>
                  <a:srgbClr val="855151"/>
                </a:solidFill>
                <a:latin typeface="Times New Roman" panose="02020603050405020304" pitchFamily="18" charset="0"/>
                <a:ea typeface="標楷體" panose="03000509000000000000" pitchFamily="65" charset="-120"/>
                <a:cs typeface="Times New Roman" panose="02020603050405020304" pitchFamily="18" charset="0"/>
              </a:rPr>
              <a:t>table</a:t>
            </a:r>
            <a:r>
              <a:rPr lang="zh-TW" altLang="en-US" sz="2000" dirty="0">
                <a:solidFill>
                  <a:srgbClr val="855151"/>
                </a:solidFill>
                <a:latin typeface="Times New Roman" panose="02020603050405020304" pitchFamily="18" charset="0"/>
                <a:ea typeface="標楷體" panose="03000509000000000000" pitchFamily="65" charset="-120"/>
                <a:cs typeface="Times New Roman" panose="02020603050405020304" pitchFamily="18" charset="0"/>
              </a:rPr>
              <a:t>，該</a:t>
            </a:r>
            <a:r>
              <a:rPr lang="en-US" altLang="zh-TW" sz="2000" dirty="0">
                <a:solidFill>
                  <a:srgbClr val="855151"/>
                </a:solidFill>
                <a:latin typeface="Times New Roman" panose="02020603050405020304" pitchFamily="18" charset="0"/>
                <a:ea typeface="標楷體" panose="03000509000000000000" pitchFamily="65" charset="-120"/>
                <a:cs typeface="Times New Roman" panose="02020603050405020304" pitchFamily="18" charset="0"/>
              </a:rPr>
              <a:t>word</a:t>
            </a:r>
            <a:r>
              <a:rPr lang="zh-TW" altLang="en-US" sz="2000" dirty="0">
                <a:solidFill>
                  <a:srgbClr val="855151"/>
                </a:solidFill>
                <a:latin typeface="Times New Roman" panose="02020603050405020304" pitchFamily="18" charset="0"/>
                <a:ea typeface="標楷體" panose="03000509000000000000" pitchFamily="65" charset="-120"/>
                <a:cs typeface="Times New Roman" panose="02020603050405020304" pitchFamily="18" charset="0"/>
              </a:rPr>
              <a:t>可以刪除 </a:t>
            </a:r>
            <a:r>
              <a:rPr lang="en-US" altLang="zh-TW" sz="2000" dirty="0">
                <a:solidFill>
                  <a:srgbClr val="855151"/>
                </a:solidFill>
                <a:latin typeface="Times New Roman" panose="02020603050405020304" pitchFamily="18" charset="0"/>
                <a:ea typeface="標楷體" panose="03000509000000000000" pitchFamily="65" charset="-120"/>
                <a:cs typeface="Times New Roman" panose="02020603050405020304" pitchFamily="18" charset="0"/>
              </a:rPr>
              <a:t>[?]</a:t>
            </a:r>
          </a:p>
        </p:txBody>
      </p:sp>
      <p:cxnSp>
        <p:nvCxnSpPr>
          <p:cNvPr id="3" name="直線接點 2">
            <a:extLst>
              <a:ext uri="{FF2B5EF4-FFF2-40B4-BE49-F238E27FC236}">
                <a16:creationId xmlns:a16="http://schemas.microsoft.com/office/drawing/2014/main" xmlns="" id="{4F25AE2E-A86D-4AD1-A62A-A1AF410202C7}"/>
              </a:ext>
            </a:extLst>
          </p:cNvPr>
          <p:cNvCxnSpPr/>
          <p:nvPr/>
        </p:nvCxnSpPr>
        <p:spPr>
          <a:xfrm>
            <a:off x="5122416" y="2538650"/>
            <a:ext cx="889945" cy="99596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xmlns="" id="{CC916E11-EE9C-4AF3-851F-F8CB96DDC7F8}"/>
              </a:ext>
            </a:extLst>
          </p:cNvPr>
          <p:cNvCxnSpPr>
            <a:cxnSpLocks/>
          </p:cNvCxnSpPr>
          <p:nvPr/>
        </p:nvCxnSpPr>
        <p:spPr>
          <a:xfrm flipH="1">
            <a:off x="5122416" y="2538650"/>
            <a:ext cx="776337" cy="100294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0472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par>
                                <p:cTn id="15" presetID="10"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內容版面配置區 7">
            <a:extLst>
              <a:ext uri="{FF2B5EF4-FFF2-40B4-BE49-F238E27FC236}">
                <a16:creationId xmlns:a16="http://schemas.microsoft.com/office/drawing/2014/main" xmlns="" id="{BAD3633E-85B6-4851-8A1A-25DA1490FDE9}"/>
              </a:ext>
            </a:extLst>
          </p:cNvPr>
          <p:cNvGraphicFramePr>
            <a:graphicFrameLocks/>
          </p:cNvGraphicFramePr>
          <p:nvPr>
            <p:extLst>
              <p:ext uri="{D42A27DB-BD31-4B8C-83A1-F6EECF244321}">
                <p14:modId xmlns:p14="http://schemas.microsoft.com/office/powerpoint/2010/main" val="2314773754"/>
              </p:ext>
            </p:extLst>
          </p:nvPr>
        </p:nvGraphicFramePr>
        <p:xfrm>
          <a:off x="967667" y="967527"/>
          <a:ext cx="4732020" cy="1483360"/>
        </p:xfrm>
        <a:graphic>
          <a:graphicData uri="http://schemas.openxmlformats.org/drawingml/2006/table">
            <a:tbl>
              <a:tblPr firstRow="1" bandRow="1">
                <a:tableStyleId>{5940675A-B579-460E-94D1-54222C63F5DA}</a:tableStyleId>
              </a:tblPr>
              <a:tblGrid>
                <a:gridCol w="1577340">
                  <a:extLst>
                    <a:ext uri="{9D8B030D-6E8A-4147-A177-3AD203B41FA5}">
                      <a16:colId xmlns:a16="http://schemas.microsoft.com/office/drawing/2014/main" xmlns="" val="4183209010"/>
                    </a:ext>
                  </a:extLst>
                </a:gridCol>
                <a:gridCol w="1577340">
                  <a:extLst>
                    <a:ext uri="{9D8B030D-6E8A-4147-A177-3AD203B41FA5}">
                      <a16:colId xmlns:a16="http://schemas.microsoft.com/office/drawing/2014/main" xmlns="" val="4264795898"/>
                    </a:ext>
                  </a:extLst>
                </a:gridCol>
                <a:gridCol w="1577340">
                  <a:extLst>
                    <a:ext uri="{9D8B030D-6E8A-4147-A177-3AD203B41FA5}">
                      <a16:colId xmlns:a16="http://schemas.microsoft.com/office/drawing/2014/main" xmlns="" val="2897420003"/>
                    </a:ext>
                  </a:extLst>
                </a:gridCol>
              </a:tblGrid>
              <a:tr h="370840">
                <a:tc>
                  <a:txBody>
                    <a:bodyPr/>
                    <a:lstStyle/>
                    <a:p>
                      <a:pPr algn="ctr"/>
                      <a:r>
                        <a:rPr lang="en-US" altLang="zh-TW" baseline="0" dirty="0">
                          <a:latin typeface="Times New Roman" panose="02020603050405020304" pitchFamily="18" charset="0"/>
                        </a:rPr>
                        <a:t>Word</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Index</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Frequency</a:t>
                      </a:r>
                      <a:endParaRPr lang="zh-TW" altLang="en-US" baseline="0" dirty="0">
                        <a:latin typeface="Times New Roman" panose="02020603050405020304" pitchFamily="18" charset="0"/>
                      </a:endParaRPr>
                    </a:p>
                  </a:txBody>
                  <a:tcPr/>
                </a:tc>
                <a:extLst>
                  <a:ext uri="{0D108BD9-81ED-4DB2-BD59-A6C34878D82A}">
                    <a16:rowId xmlns:a16="http://schemas.microsoft.com/office/drawing/2014/main" xmlns="" val="2352578504"/>
                  </a:ext>
                </a:extLst>
              </a:tr>
              <a:tr h="370840">
                <a:tc>
                  <a:txBody>
                    <a:bodyPr/>
                    <a:lstStyle/>
                    <a:p>
                      <a:pPr algn="ctr"/>
                      <a:r>
                        <a:rPr lang="en-US" altLang="zh-TW" baseline="0" dirty="0">
                          <a:latin typeface="Times New Roman" panose="02020603050405020304" pitchFamily="18" charset="0"/>
                        </a:rPr>
                        <a:t>0021</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9 </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5</a:t>
                      </a:r>
                      <a:endParaRPr lang="zh-TW" altLang="en-US" baseline="0" dirty="0">
                        <a:latin typeface="Times New Roman" panose="02020603050405020304" pitchFamily="18" charset="0"/>
                      </a:endParaRPr>
                    </a:p>
                  </a:txBody>
                  <a:tcPr/>
                </a:tc>
                <a:extLst>
                  <a:ext uri="{0D108BD9-81ED-4DB2-BD59-A6C34878D82A}">
                    <a16:rowId xmlns:a16="http://schemas.microsoft.com/office/drawing/2014/main" xmlns="" val="3978714840"/>
                  </a:ext>
                </a:extLst>
              </a:tr>
              <a:tr h="370840">
                <a:tc>
                  <a:txBody>
                    <a:bodyPr/>
                    <a:lstStyle/>
                    <a:p>
                      <a:pPr algn="ctr"/>
                      <a:r>
                        <a:rPr lang="en-US" altLang="zh-TW" baseline="0" dirty="0">
                          <a:latin typeface="Times New Roman" panose="02020603050405020304" pitchFamily="18" charset="0"/>
                        </a:rPr>
                        <a:t>0022</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10</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2</a:t>
                      </a:r>
                      <a:endParaRPr lang="zh-TW" altLang="en-US" baseline="0" dirty="0">
                        <a:latin typeface="Times New Roman" panose="02020603050405020304" pitchFamily="18" charset="0"/>
                      </a:endParaRPr>
                    </a:p>
                  </a:txBody>
                  <a:tcPr/>
                </a:tc>
                <a:extLst>
                  <a:ext uri="{0D108BD9-81ED-4DB2-BD59-A6C34878D82A}">
                    <a16:rowId xmlns:a16="http://schemas.microsoft.com/office/drawing/2014/main" xmlns="" val="2172083126"/>
                  </a:ext>
                </a:extLst>
              </a:tr>
              <a:tr h="370840">
                <a:tc>
                  <a:txBody>
                    <a:bodyPr/>
                    <a:lstStyle/>
                    <a:p>
                      <a:pPr algn="ctr"/>
                      <a:r>
                        <a:rPr lang="en-US" altLang="zh-TW" baseline="0" dirty="0">
                          <a:latin typeface="Times New Roman" panose="02020603050405020304" pitchFamily="18" charset="0"/>
                        </a:rPr>
                        <a:t>0020</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8</a:t>
                      </a:r>
                      <a:endParaRPr lang="zh-TW" altLang="en-US" baseline="0" dirty="0">
                        <a:solidFill>
                          <a:srgbClr val="FF0000"/>
                        </a:solidFill>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1</a:t>
                      </a:r>
                      <a:endParaRPr lang="zh-TW" altLang="en-US" baseline="0" dirty="0">
                        <a:latin typeface="Times New Roman" panose="02020603050405020304" pitchFamily="18" charset="0"/>
                      </a:endParaRPr>
                    </a:p>
                  </a:txBody>
                  <a:tcPr/>
                </a:tc>
                <a:extLst>
                  <a:ext uri="{0D108BD9-81ED-4DB2-BD59-A6C34878D82A}">
                    <a16:rowId xmlns:a16="http://schemas.microsoft.com/office/drawing/2014/main" xmlns="" val="3384057669"/>
                  </a:ext>
                </a:extLst>
              </a:tr>
            </a:tbl>
          </a:graphicData>
        </a:graphic>
      </p:graphicFrame>
      <mc:AlternateContent xmlns:mc="http://schemas.openxmlformats.org/markup-compatibility/2006" xmlns:a14="http://schemas.microsoft.com/office/drawing/2010/main">
        <mc:Choice Requires="a14">
          <p:graphicFrame>
            <p:nvGraphicFramePr>
              <p:cNvPr id="20" name="內容版面配置區 7">
                <a:extLst>
                  <a:ext uri="{FF2B5EF4-FFF2-40B4-BE49-F238E27FC236}">
                    <a16:creationId xmlns:a16="http://schemas.microsoft.com/office/drawing/2014/main" xmlns="" id="{D074AE84-48DF-4D0E-BC52-F86E0E9E0101}"/>
                  </a:ext>
                </a:extLst>
              </p:cNvPr>
              <p:cNvGraphicFramePr>
                <a:graphicFrameLocks/>
              </p:cNvGraphicFramePr>
              <p:nvPr>
                <p:extLst>
                  <p:ext uri="{D42A27DB-BD31-4B8C-83A1-F6EECF244321}">
                    <p14:modId xmlns:p14="http://schemas.microsoft.com/office/powerpoint/2010/main" val="885334701"/>
                  </p:ext>
                </p:extLst>
              </p:nvPr>
            </p:nvGraphicFramePr>
            <p:xfrm>
              <a:off x="967667" y="967527"/>
              <a:ext cx="6386400" cy="2931160"/>
            </p:xfrm>
            <a:graphic>
              <a:graphicData uri="http://schemas.openxmlformats.org/drawingml/2006/table">
                <a:tbl>
                  <a:tblPr firstRow="1" bandRow="1">
                    <a:tableStyleId>{5940675A-B579-460E-94D1-54222C63F5DA}</a:tableStyleId>
                  </a:tblPr>
                  <a:tblGrid>
                    <a:gridCol w="1576800">
                      <a:extLst>
                        <a:ext uri="{9D8B030D-6E8A-4147-A177-3AD203B41FA5}">
                          <a16:colId xmlns:a16="http://schemas.microsoft.com/office/drawing/2014/main" xmlns="" val="4183209010"/>
                        </a:ext>
                      </a:extLst>
                    </a:gridCol>
                    <a:gridCol w="1576800">
                      <a:extLst>
                        <a:ext uri="{9D8B030D-6E8A-4147-A177-3AD203B41FA5}">
                          <a16:colId xmlns:a16="http://schemas.microsoft.com/office/drawing/2014/main" xmlns="" val="4264795898"/>
                        </a:ext>
                      </a:extLst>
                    </a:gridCol>
                    <a:gridCol w="1576800">
                      <a:extLst>
                        <a:ext uri="{9D8B030D-6E8A-4147-A177-3AD203B41FA5}">
                          <a16:colId xmlns:a16="http://schemas.microsoft.com/office/drawing/2014/main" xmlns="" val="2897420003"/>
                        </a:ext>
                      </a:extLst>
                    </a:gridCol>
                    <a:gridCol w="1656000">
                      <a:extLst>
                        <a:ext uri="{9D8B030D-6E8A-4147-A177-3AD203B41FA5}">
                          <a16:colId xmlns:a16="http://schemas.microsoft.com/office/drawing/2014/main" xmlns="" val="4157295316"/>
                        </a:ext>
                      </a:extLst>
                    </a:gridCol>
                  </a:tblGrid>
                  <a:tr h="370840">
                    <a:tc>
                      <a:txBody>
                        <a:bodyPr/>
                        <a:lstStyle/>
                        <a:p>
                          <a:pPr algn="ctr"/>
                          <a:r>
                            <a:rPr lang="en-US" altLang="zh-TW" baseline="0" dirty="0">
                              <a:latin typeface="Times New Roman" panose="02020603050405020304" pitchFamily="18" charset="0"/>
                            </a:rPr>
                            <a:t>Word</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err="1">
                              <a:latin typeface="Times New Roman" panose="02020603050405020304" pitchFamily="18" charset="0"/>
                            </a:rPr>
                            <a:t>Pred</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Codes (P)</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solidFill>
                                <a:srgbClr val="002060"/>
                              </a:solidFill>
                              <a:latin typeface="Times New Roman" panose="02020603050405020304" pitchFamily="18" charset="0"/>
                            </a:rPr>
                            <a:t>B[Code]</a:t>
                          </a:r>
                          <a:endParaRPr lang="zh-TW" altLang="en-US" baseline="0" dirty="0">
                            <a:solidFill>
                              <a:srgbClr val="002060"/>
                            </a:solidFill>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2352578504"/>
                      </a:ext>
                    </a:extLst>
                  </a:tr>
                  <a:tr h="370840">
                    <a:tc>
                      <a:txBody>
                        <a:bodyPr/>
                        <a:lstStyle/>
                        <a:p>
                          <a:pPr algn="ctr"/>
                          <a:r>
                            <a:rPr lang="en-US" altLang="zh-TW" baseline="0" dirty="0">
                              <a:latin typeface="Times New Roman" panose="02020603050405020304" pitchFamily="18" charset="0"/>
                            </a:rPr>
                            <a:t>ABAA</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0021 </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01</a:t>
                          </a:r>
                          <a:endParaRPr lang="zh-TW" altLang="en-US" baseline="0" dirty="0">
                            <a:latin typeface="Times New Roman" panose="02020603050405020304" pitchFamily="18" charset="0"/>
                          </a:endParaRPr>
                        </a:p>
                      </a:txBody>
                      <a:tcPr>
                        <a:solidFill>
                          <a:schemeClr val="bg1"/>
                        </a:solidFill>
                      </a:tcPr>
                    </a:tc>
                    <a:tc>
                      <a:txBody>
                        <a:bodyPr/>
                        <a:lstStyle/>
                        <a:p>
                          <a:pPr algn="ctr"/>
                          <a14:m>
                            <m:oMath xmlns:m="http://schemas.openxmlformats.org/officeDocument/2006/math">
                              <m:sSub>
                                <m:sSubPr>
                                  <m:ctrlPr>
                                    <a:rPr lang="en-US" altLang="zh-TW" b="0" i="1" baseline="0" smtClean="0">
                                      <a:solidFill>
                                        <a:srgbClr val="002060"/>
                                      </a:solidFill>
                                      <a:latin typeface="Cambria Math" panose="02040503050406030204" pitchFamily="18" charset="0"/>
                                    </a:rPr>
                                  </m:ctrlPr>
                                </m:sSubPr>
                                <m:e>
                                  <m:r>
                                    <a:rPr lang="en-US" altLang="zh-TW" b="0" i="1" baseline="0" smtClean="0">
                                      <a:solidFill>
                                        <a:srgbClr val="002060"/>
                                      </a:solidFill>
                                      <a:latin typeface="Cambria Math" panose="02040503050406030204" pitchFamily="18" charset="0"/>
                                    </a:rPr>
                                    <m:t>𝐵</m:t>
                                  </m:r>
                                </m:e>
                                <m:sub>
                                  <m:r>
                                    <a:rPr lang="en-US" altLang="zh-TW" b="0" i="1" baseline="0" smtClean="0">
                                      <a:solidFill>
                                        <a:srgbClr val="002060"/>
                                      </a:solidFill>
                                      <a:latin typeface="Cambria Math" panose="02040503050406030204" pitchFamily="18" charset="0"/>
                                    </a:rPr>
                                    <m:t>1</m:t>
                                  </m:r>
                                </m:sub>
                              </m:sSub>
                            </m:oMath>
                          </a14:m>
                          <a:r>
                            <a:rPr lang="en-US" altLang="zh-TW" baseline="0" dirty="0">
                              <a:solidFill>
                                <a:srgbClr val="002060"/>
                              </a:solidFill>
                              <a:latin typeface="Times New Roman" panose="02020603050405020304" pitchFamily="18" charset="0"/>
                            </a:rPr>
                            <a:t>[0]=1110</a:t>
                          </a:r>
                        </a:p>
                        <a:p>
                          <a:pPr algn="ctr"/>
                          <a14:m>
                            <m:oMath xmlns:m="http://schemas.openxmlformats.org/officeDocument/2006/math">
                              <m:sSub>
                                <m:sSubPr>
                                  <m:ctrlPr>
                                    <a:rPr lang="en-US" altLang="zh-TW" b="0" i="1" baseline="0" smtClean="0">
                                      <a:solidFill>
                                        <a:srgbClr val="002060"/>
                                      </a:solidFill>
                                      <a:latin typeface="Cambria Math" panose="02040503050406030204" pitchFamily="18" charset="0"/>
                                    </a:rPr>
                                  </m:ctrlPr>
                                </m:sSubPr>
                                <m:e>
                                  <m:r>
                                    <a:rPr lang="en-US" altLang="zh-TW" b="0" i="1" baseline="0" smtClean="0">
                                      <a:solidFill>
                                        <a:srgbClr val="002060"/>
                                      </a:solidFill>
                                      <a:latin typeface="Cambria Math" panose="02040503050406030204" pitchFamily="18" charset="0"/>
                                    </a:rPr>
                                    <m:t>𝐵</m:t>
                                  </m:r>
                                </m:e>
                                <m:sub>
                                  <m:r>
                                    <a:rPr lang="en-US" altLang="zh-TW" b="0" i="1" baseline="0" smtClean="0">
                                      <a:solidFill>
                                        <a:srgbClr val="002060"/>
                                      </a:solidFill>
                                      <a:latin typeface="Cambria Math" panose="02040503050406030204" pitchFamily="18" charset="0"/>
                                    </a:rPr>
                                    <m:t>1</m:t>
                                  </m:r>
                                </m:sub>
                              </m:sSub>
                            </m:oMath>
                          </a14:m>
                          <a:r>
                            <a:rPr lang="en-US" altLang="zh-TW" baseline="0" dirty="0">
                              <a:solidFill>
                                <a:srgbClr val="002060"/>
                              </a:solidFill>
                              <a:latin typeface="Times New Roman" panose="02020603050405020304" pitchFamily="18" charset="0"/>
                            </a:rPr>
                            <a:t>[1]=1101</a:t>
                          </a:r>
                          <a:endParaRPr lang="zh-TW" altLang="en-US" baseline="0" dirty="0">
                            <a:solidFill>
                              <a:srgbClr val="002060"/>
                            </a:solidFill>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3978714840"/>
                      </a:ext>
                    </a:extLst>
                  </a:tr>
                  <a:tr h="370840">
                    <a:tc>
                      <a:txBody>
                        <a:bodyPr/>
                        <a:lstStyle/>
                        <a:p>
                          <a:pPr algn="ctr"/>
                          <a:r>
                            <a:rPr lang="en-US" altLang="zh-TW" baseline="0" dirty="0">
                              <a:latin typeface="Times New Roman" panose="02020603050405020304" pitchFamily="18" charset="0"/>
                            </a:rPr>
                            <a:t>BABA</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0022</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10</a:t>
                          </a:r>
                          <a:endParaRPr lang="zh-TW" altLang="en-US" baseline="0" dirty="0">
                            <a:latin typeface="Times New Roman" panose="02020603050405020304" pitchFamily="18" charset="0"/>
                          </a:endParaRPr>
                        </a:p>
                      </a:txBody>
                      <a:tcPr>
                        <a:solidFill>
                          <a:schemeClr val="bg1"/>
                        </a:solidFill>
                      </a:tcPr>
                    </a:tc>
                    <a:tc>
                      <a:txBody>
                        <a:bodyPr/>
                        <a:lstStyle/>
                        <a:p>
                          <a:pPr algn="ctr"/>
                          <a14:m>
                            <m:oMath xmlns:m="http://schemas.openxmlformats.org/officeDocument/2006/math">
                              <m:sSub>
                                <m:sSubPr>
                                  <m:ctrlPr>
                                    <a:rPr lang="en-US" altLang="zh-TW" b="0" i="1" baseline="0" smtClean="0">
                                      <a:solidFill>
                                        <a:srgbClr val="002060"/>
                                      </a:solidFill>
                                      <a:latin typeface="Cambria Math" panose="02040503050406030204" pitchFamily="18" charset="0"/>
                                    </a:rPr>
                                  </m:ctrlPr>
                                </m:sSubPr>
                                <m:e>
                                  <m:r>
                                    <a:rPr lang="en-US" altLang="zh-TW" b="0" i="1" baseline="0" smtClean="0">
                                      <a:solidFill>
                                        <a:srgbClr val="002060"/>
                                      </a:solidFill>
                                      <a:latin typeface="Cambria Math" panose="02040503050406030204" pitchFamily="18" charset="0"/>
                                    </a:rPr>
                                    <m:t>𝐵</m:t>
                                  </m:r>
                                </m:e>
                                <m:sub>
                                  <m:r>
                                    <a:rPr lang="en-US" altLang="zh-TW" b="0" i="1" baseline="0" smtClean="0">
                                      <a:solidFill>
                                        <a:srgbClr val="002060"/>
                                      </a:solidFill>
                                      <a:latin typeface="Cambria Math" panose="02040503050406030204" pitchFamily="18" charset="0"/>
                                    </a:rPr>
                                    <m:t>2</m:t>
                                  </m:r>
                                </m:sub>
                              </m:sSub>
                            </m:oMath>
                          </a14:m>
                          <a:r>
                            <a:rPr lang="en-US" altLang="zh-TW" baseline="0" dirty="0">
                              <a:solidFill>
                                <a:srgbClr val="002060"/>
                              </a:solidFill>
                              <a:latin typeface="Times New Roman" panose="02020603050405020304" pitchFamily="18" charset="0"/>
                            </a:rPr>
                            <a:t>[0]=1101</a:t>
                          </a:r>
                        </a:p>
                        <a:p>
                          <a:pPr algn="ctr"/>
                          <a14:m>
                            <m:oMath xmlns:m="http://schemas.openxmlformats.org/officeDocument/2006/math">
                              <m:sSub>
                                <m:sSubPr>
                                  <m:ctrlPr>
                                    <a:rPr lang="en-US" altLang="zh-TW" b="0" i="1" baseline="0" smtClean="0">
                                      <a:solidFill>
                                        <a:srgbClr val="002060"/>
                                      </a:solidFill>
                                      <a:latin typeface="Cambria Math" panose="02040503050406030204" pitchFamily="18" charset="0"/>
                                    </a:rPr>
                                  </m:ctrlPr>
                                </m:sSubPr>
                                <m:e>
                                  <m:r>
                                    <a:rPr lang="en-US" altLang="zh-TW" b="0" i="1" baseline="0" smtClean="0">
                                      <a:solidFill>
                                        <a:srgbClr val="002060"/>
                                      </a:solidFill>
                                      <a:latin typeface="Cambria Math" panose="02040503050406030204" pitchFamily="18" charset="0"/>
                                    </a:rPr>
                                    <m:t>𝐵</m:t>
                                  </m:r>
                                </m:e>
                                <m:sub>
                                  <m:r>
                                    <a:rPr lang="en-US" altLang="zh-TW" b="0" i="1" baseline="0" smtClean="0">
                                      <a:solidFill>
                                        <a:srgbClr val="002060"/>
                                      </a:solidFill>
                                      <a:latin typeface="Cambria Math" panose="02040503050406030204" pitchFamily="18" charset="0"/>
                                    </a:rPr>
                                    <m:t>2</m:t>
                                  </m:r>
                                </m:sub>
                              </m:sSub>
                            </m:oMath>
                          </a14:m>
                          <a:r>
                            <a:rPr lang="en-US" altLang="zh-TW" baseline="0" dirty="0">
                              <a:solidFill>
                                <a:srgbClr val="002060"/>
                              </a:solidFill>
                              <a:latin typeface="Times New Roman" panose="02020603050405020304" pitchFamily="18" charset="0"/>
                            </a:rPr>
                            <a:t>[1]=1110</a:t>
                          </a:r>
                          <a:endParaRPr lang="zh-TW" altLang="en-US" baseline="0" dirty="0">
                            <a:solidFill>
                              <a:srgbClr val="002060"/>
                            </a:solidFill>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2172083126"/>
                      </a:ext>
                    </a:extLst>
                  </a:tr>
                  <a:tr h="370840">
                    <a:tc>
                      <a:txBody>
                        <a:bodyPr/>
                        <a:lstStyle/>
                        <a:p>
                          <a:pPr algn="ctr"/>
                          <a:r>
                            <a:rPr lang="en-US" altLang="zh-TW" baseline="0" dirty="0">
                              <a:solidFill>
                                <a:srgbClr val="FF0000"/>
                              </a:solidFill>
                              <a:latin typeface="Times New Roman" panose="02020603050405020304" pitchFamily="18" charset="0"/>
                            </a:rPr>
                            <a:t>ABAD?</a:t>
                          </a:r>
                          <a:endParaRPr lang="zh-TW" altLang="en-US" baseline="0" dirty="0">
                            <a:solidFill>
                              <a:srgbClr val="FF0000"/>
                            </a:solidFill>
                            <a:latin typeface="Times New Roman" panose="02020603050405020304" pitchFamily="18" charset="0"/>
                          </a:endParaRPr>
                        </a:p>
                      </a:txBody>
                      <a:tcPr>
                        <a:solidFill>
                          <a:schemeClr val="bg1"/>
                        </a:solidFill>
                      </a:tcPr>
                    </a:tc>
                    <a:tc>
                      <a:txBody>
                        <a:bodyPr/>
                        <a:lstStyle/>
                        <a:p>
                          <a:pPr algn="ctr"/>
                          <a:r>
                            <a:rPr lang="en-US" altLang="zh-TW" baseline="0" dirty="0">
                              <a:solidFill>
                                <a:srgbClr val="FF0000"/>
                              </a:solidFill>
                              <a:latin typeface="Times New Roman" panose="02020603050405020304" pitchFamily="18" charset="0"/>
                            </a:rPr>
                            <a:t>0020</a:t>
                          </a:r>
                          <a:endParaRPr lang="zh-TW" altLang="en-US" baseline="0" dirty="0">
                            <a:solidFill>
                              <a:srgbClr val="FF0000"/>
                            </a:solidFill>
                            <a:latin typeface="Times New Roman" panose="02020603050405020304" pitchFamily="18" charset="0"/>
                          </a:endParaRPr>
                        </a:p>
                      </a:txBody>
                      <a:tcPr>
                        <a:solidFill>
                          <a:schemeClr val="bg1"/>
                        </a:solidFill>
                      </a:tcPr>
                    </a:tc>
                    <a:tc>
                      <a:txBody>
                        <a:bodyPr/>
                        <a:lstStyle/>
                        <a:p>
                          <a:pPr algn="ctr"/>
                          <a:r>
                            <a:rPr lang="en-US" altLang="zh-TW" baseline="0" dirty="0">
                              <a:solidFill>
                                <a:srgbClr val="FF0000"/>
                              </a:solidFill>
                              <a:latin typeface="Times New Roman" panose="02020603050405020304" pitchFamily="18" charset="0"/>
                            </a:rPr>
                            <a:t>0001</a:t>
                          </a:r>
                          <a:endParaRPr lang="zh-TW" altLang="en-US" baseline="0" dirty="0">
                            <a:solidFill>
                              <a:srgbClr val="FF0000"/>
                            </a:solidFill>
                            <a:latin typeface="Times New Roman" panose="02020603050405020304" pitchFamily="18" charset="0"/>
                          </a:endParaRPr>
                        </a:p>
                      </a:txBody>
                      <a:tcPr>
                        <a:solidFill>
                          <a:schemeClr val="bg1"/>
                        </a:solidFill>
                      </a:tcPr>
                    </a:tc>
                    <a:tc>
                      <a:txBody>
                        <a:bodyPr/>
                        <a:lstStyle/>
                        <a:p>
                          <a:pPr algn="ctr"/>
                          <a14:m>
                            <m:oMath xmlns:m="http://schemas.openxmlformats.org/officeDocument/2006/math">
                              <m:sSub>
                                <m:sSubPr>
                                  <m:ctrlPr>
                                    <a:rPr lang="en-US" altLang="zh-TW" b="0" i="1" baseline="0" smtClean="0">
                                      <a:solidFill>
                                        <a:srgbClr val="FF0000"/>
                                      </a:solidFill>
                                      <a:latin typeface="Cambria Math" panose="02040503050406030204" pitchFamily="18" charset="0"/>
                                    </a:rPr>
                                  </m:ctrlPr>
                                </m:sSubPr>
                                <m:e>
                                  <m:r>
                                    <a:rPr lang="en-US" altLang="zh-TW" b="0" i="1" baseline="0" smtClean="0">
                                      <a:solidFill>
                                        <a:srgbClr val="FF0000"/>
                                      </a:solidFill>
                                      <a:latin typeface="Cambria Math" panose="02040503050406030204" pitchFamily="18" charset="0"/>
                                    </a:rPr>
                                    <m:t>𝐵</m:t>
                                  </m:r>
                                </m:e>
                                <m:sub>
                                  <m:r>
                                    <a:rPr lang="en-US" altLang="zh-TW" b="0" i="1" baseline="0" smtClean="0">
                                      <a:solidFill>
                                        <a:srgbClr val="FF0000"/>
                                      </a:solidFill>
                                      <a:latin typeface="Cambria Math" panose="02040503050406030204" pitchFamily="18" charset="0"/>
                                    </a:rPr>
                                    <m:t>3</m:t>
                                  </m:r>
                                </m:sub>
                              </m:sSub>
                            </m:oMath>
                          </a14:m>
                          <a:r>
                            <a:rPr lang="en-US" altLang="zh-TW" baseline="0" dirty="0">
                              <a:solidFill>
                                <a:srgbClr val="FF0000"/>
                              </a:solidFill>
                              <a:latin typeface="Times New Roman" panose="02020603050405020304" pitchFamily="18" charset="0"/>
                            </a:rPr>
                            <a:t>[0]=1000</a:t>
                          </a:r>
                        </a:p>
                        <a:p>
                          <a:pPr algn="ctr"/>
                          <a14:m>
                            <m:oMath xmlns:m="http://schemas.openxmlformats.org/officeDocument/2006/math">
                              <m:sSub>
                                <m:sSubPr>
                                  <m:ctrlPr>
                                    <a:rPr lang="en-US" altLang="zh-TW" b="0" i="1" baseline="0" smtClean="0">
                                      <a:solidFill>
                                        <a:srgbClr val="FF0000"/>
                                      </a:solidFill>
                                      <a:latin typeface="Cambria Math" panose="02040503050406030204" pitchFamily="18" charset="0"/>
                                    </a:rPr>
                                  </m:ctrlPr>
                                </m:sSubPr>
                                <m:e>
                                  <m:r>
                                    <a:rPr lang="en-US" altLang="zh-TW" b="0" i="1" baseline="0" smtClean="0">
                                      <a:solidFill>
                                        <a:srgbClr val="FF0000"/>
                                      </a:solidFill>
                                      <a:latin typeface="Cambria Math" panose="02040503050406030204" pitchFamily="18" charset="0"/>
                                    </a:rPr>
                                    <m:t>𝐵</m:t>
                                  </m:r>
                                </m:e>
                                <m:sub>
                                  <m:r>
                                    <a:rPr lang="en-US" altLang="zh-TW" b="0" i="1" baseline="0" smtClean="0">
                                      <a:solidFill>
                                        <a:srgbClr val="FF0000"/>
                                      </a:solidFill>
                                      <a:latin typeface="Cambria Math" panose="02040503050406030204" pitchFamily="18" charset="0"/>
                                    </a:rPr>
                                    <m:t>3</m:t>
                                  </m:r>
                                </m:sub>
                              </m:sSub>
                            </m:oMath>
                          </a14:m>
                          <a:r>
                            <a:rPr lang="en-US" altLang="zh-TW" baseline="0" dirty="0">
                              <a:solidFill>
                                <a:srgbClr val="FF0000"/>
                              </a:solidFill>
                              <a:latin typeface="Times New Roman" panose="02020603050405020304" pitchFamily="18" charset="0"/>
                            </a:rPr>
                            <a:t>[1]=0111</a:t>
                          </a:r>
                          <a:endParaRPr lang="zh-TW" altLang="en-US" baseline="0" dirty="0">
                            <a:solidFill>
                              <a:srgbClr val="FF0000"/>
                            </a:solidFill>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3384057669"/>
                      </a:ext>
                    </a:extLst>
                  </a:tr>
                  <a:tr h="370840">
                    <a:tc gridSpan="3">
                      <a:txBody>
                        <a:bodyPr/>
                        <a:lstStyle/>
                        <a:p>
                          <a:pPr algn="ctr"/>
                          <a:r>
                            <a:rPr lang="en-US" altLang="zh-TW" baseline="0" dirty="0">
                              <a:solidFill>
                                <a:srgbClr val="002060"/>
                              </a:solidFill>
                              <a:latin typeface="Times New Roman" panose="02020603050405020304" pitchFamily="18" charset="0"/>
                            </a:rPr>
                            <a:t>Final Bit Table</a:t>
                          </a:r>
                          <a:endParaRPr lang="zh-TW" altLang="en-US" baseline="0" dirty="0">
                            <a:solidFill>
                              <a:srgbClr val="002060"/>
                            </a:solidFill>
                            <a:latin typeface="Times New Roman" panose="02020603050405020304" pitchFamily="18" charset="0"/>
                          </a:endParaRPr>
                        </a:p>
                      </a:txBody>
                      <a:tcPr>
                        <a:solidFill>
                          <a:schemeClr val="bg1"/>
                        </a:solidFill>
                      </a:tcPr>
                    </a:tc>
                    <a:tc hMerge="1">
                      <a:txBody>
                        <a:bodyPr/>
                        <a:lstStyle/>
                        <a:p>
                          <a:pPr algn="ctr"/>
                          <a:endParaRPr lang="zh-TW" altLang="en-US" baseline="0" dirty="0">
                            <a:solidFill>
                              <a:srgbClr val="FF0000"/>
                            </a:solidFill>
                            <a:latin typeface="Times New Roman" panose="02020603050405020304" pitchFamily="18" charset="0"/>
                          </a:endParaRPr>
                        </a:p>
                      </a:txBody>
                      <a:tcPr>
                        <a:solidFill>
                          <a:schemeClr val="bg1"/>
                        </a:solidFill>
                      </a:tcPr>
                    </a:tc>
                    <a:tc hMerge="1">
                      <a:txBody>
                        <a:bodyPr/>
                        <a:lstStyle/>
                        <a:p>
                          <a:pPr algn="ct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solidFill>
                                <a:srgbClr val="002060"/>
                              </a:solidFill>
                              <a:latin typeface="Times New Roman" panose="02020603050405020304" pitchFamily="18" charset="0"/>
                            </a:rPr>
                            <a:t>B[0]=1000</a:t>
                          </a:r>
                        </a:p>
                        <a:p>
                          <a:pPr algn="ctr"/>
                          <a:r>
                            <a:rPr lang="en-US" altLang="zh-TW" baseline="0" dirty="0">
                              <a:solidFill>
                                <a:srgbClr val="002060"/>
                              </a:solidFill>
                              <a:latin typeface="Times New Roman" panose="02020603050405020304" pitchFamily="18" charset="0"/>
                            </a:rPr>
                            <a:t>B[1]=0100</a:t>
                          </a:r>
                          <a:endParaRPr lang="zh-TW" altLang="en-US" baseline="0" dirty="0">
                            <a:solidFill>
                              <a:srgbClr val="002060"/>
                            </a:solidFill>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1659463218"/>
                      </a:ext>
                    </a:extLst>
                  </a:tr>
                </a:tbl>
              </a:graphicData>
            </a:graphic>
          </p:graphicFrame>
        </mc:Choice>
        <mc:Fallback xmlns="">
          <p:graphicFrame>
            <p:nvGraphicFramePr>
              <p:cNvPr id="20" name="內容版面配置區 7">
                <a:extLst>
                  <a:ext uri="{FF2B5EF4-FFF2-40B4-BE49-F238E27FC236}">
                    <a16:creationId xmlns:a16="http://schemas.microsoft.com/office/drawing/2014/main" id="{D074AE84-48DF-4D0E-BC52-F86E0E9E0101}"/>
                  </a:ext>
                </a:extLst>
              </p:cNvPr>
              <p:cNvGraphicFramePr>
                <a:graphicFrameLocks/>
              </p:cNvGraphicFramePr>
              <p:nvPr>
                <p:extLst>
                  <p:ext uri="{D42A27DB-BD31-4B8C-83A1-F6EECF244321}">
                    <p14:modId xmlns:p14="http://schemas.microsoft.com/office/powerpoint/2010/main" val="885334701"/>
                  </p:ext>
                </p:extLst>
              </p:nvPr>
            </p:nvGraphicFramePr>
            <p:xfrm>
              <a:off x="967667" y="967527"/>
              <a:ext cx="6386400" cy="2931160"/>
            </p:xfrm>
            <a:graphic>
              <a:graphicData uri="http://schemas.openxmlformats.org/drawingml/2006/table">
                <a:tbl>
                  <a:tblPr firstRow="1" bandRow="1">
                    <a:tableStyleId>{5940675A-B579-460E-94D1-54222C63F5DA}</a:tableStyleId>
                  </a:tblPr>
                  <a:tblGrid>
                    <a:gridCol w="1576800">
                      <a:extLst>
                        <a:ext uri="{9D8B030D-6E8A-4147-A177-3AD203B41FA5}">
                          <a16:colId xmlns:a16="http://schemas.microsoft.com/office/drawing/2014/main" val="4183209010"/>
                        </a:ext>
                      </a:extLst>
                    </a:gridCol>
                    <a:gridCol w="1576800">
                      <a:extLst>
                        <a:ext uri="{9D8B030D-6E8A-4147-A177-3AD203B41FA5}">
                          <a16:colId xmlns:a16="http://schemas.microsoft.com/office/drawing/2014/main" val="4264795898"/>
                        </a:ext>
                      </a:extLst>
                    </a:gridCol>
                    <a:gridCol w="1576800">
                      <a:extLst>
                        <a:ext uri="{9D8B030D-6E8A-4147-A177-3AD203B41FA5}">
                          <a16:colId xmlns:a16="http://schemas.microsoft.com/office/drawing/2014/main" val="2897420003"/>
                        </a:ext>
                      </a:extLst>
                    </a:gridCol>
                    <a:gridCol w="1656000">
                      <a:extLst>
                        <a:ext uri="{9D8B030D-6E8A-4147-A177-3AD203B41FA5}">
                          <a16:colId xmlns:a16="http://schemas.microsoft.com/office/drawing/2014/main" val="4157295316"/>
                        </a:ext>
                      </a:extLst>
                    </a:gridCol>
                  </a:tblGrid>
                  <a:tr h="370840">
                    <a:tc>
                      <a:txBody>
                        <a:bodyPr/>
                        <a:lstStyle/>
                        <a:p>
                          <a:pPr algn="ctr"/>
                          <a:r>
                            <a:rPr lang="en-US" altLang="zh-TW" baseline="0" dirty="0">
                              <a:latin typeface="Times New Roman" panose="02020603050405020304" pitchFamily="18" charset="0"/>
                            </a:rPr>
                            <a:t>Word</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err="1">
                              <a:latin typeface="Times New Roman" panose="02020603050405020304" pitchFamily="18" charset="0"/>
                            </a:rPr>
                            <a:t>Pred</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Codes (P)</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solidFill>
                                <a:srgbClr val="002060"/>
                              </a:solidFill>
                              <a:latin typeface="Times New Roman" panose="02020603050405020304" pitchFamily="18" charset="0"/>
                            </a:rPr>
                            <a:t>B[Code]</a:t>
                          </a:r>
                          <a:endParaRPr lang="zh-TW" altLang="en-US" baseline="0" dirty="0">
                            <a:solidFill>
                              <a:srgbClr val="002060"/>
                            </a:solidFill>
                            <a:latin typeface="Times New Roman" panose="02020603050405020304" pitchFamily="18" charset="0"/>
                          </a:endParaRPr>
                        </a:p>
                      </a:txBody>
                      <a:tcPr>
                        <a:solidFill>
                          <a:schemeClr val="bg1"/>
                        </a:solidFill>
                      </a:tcPr>
                    </a:tc>
                    <a:extLst>
                      <a:ext uri="{0D108BD9-81ED-4DB2-BD59-A6C34878D82A}">
                        <a16:rowId xmlns:a16="http://schemas.microsoft.com/office/drawing/2014/main" val="2352578504"/>
                      </a:ext>
                    </a:extLst>
                  </a:tr>
                  <a:tr h="640080">
                    <a:tc>
                      <a:txBody>
                        <a:bodyPr/>
                        <a:lstStyle/>
                        <a:p>
                          <a:pPr algn="ctr"/>
                          <a:r>
                            <a:rPr lang="en-US" altLang="zh-TW" baseline="0" dirty="0">
                              <a:latin typeface="Times New Roman" panose="02020603050405020304" pitchFamily="18" charset="0"/>
                            </a:rPr>
                            <a:t>ABAA</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0021 </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01</a:t>
                          </a:r>
                          <a:endParaRPr lang="zh-TW" altLang="en-US" baseline="0" dirty="0">
                            <a:latin typeface="Times New Roman" panose="02020603050405020304" pitchFamily="18" charset="0"/>
                          </a:endParaRPr>
                        </a:p>
                      </a:txBody>
                      <a:tcPr>
                        <a:solidFill>
                          <a:schemeClr val="bg1"/>
                        </a:solidFill>
                      </a:tcPr>
                    </a:tc>
                    <a:tc>
                      <a:txBody>
                        <a:bodyPr/>
                        <a:lstStyle/>
                        <a:p>
                          <a:endParaRPr lang="zh-TW"/>
                        </a:p>
                      </a:txBody>
                      <a:tcPr>
                        <a:blipFill>
                          <a:blip r:embed="rId3"/>
                          <a:stretch>
                            <a:fillRect l="-286029" t="-62857" r="-735" b="-316190"/>
                          </a:stretch>
                        </a:blipFill>
                      </a:tcPr>
                    </a:tc>
                    <a:extLst>
                      <a:ext uri="{0D108BD9-81ED-4DB2-BD59-A6C34878D82A}">
                        <a16:rowId xmlns:a16="http://schemas.microsoft.com/office/drawing/2014/main" val="3978714840"/>
                      </a:ext>
                    </a:extLst>
                  </a:tr>
                  <a:tr h="640080">
                    <a:tc>
                      <a:txBody>
                        <a:bodyPr/>
                        <a:lstStyle/>
                        <a:p>
                          <a:pPr algn="ctr"/>
                          <a:r>
                            <a:rPr lang="en-US" altLang="zh-TW" baseline="0" dirty="0">
                              <a:latin typeface="Times New Roman" panose="02020603050405020304" pitchFamily="18" charset="0"/>
                            </a:rPr>
                            <a:t>BABA</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0022</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10</a:t>
                          </a:r>
                          <a:endParaRPr lang="zh-TW" altLang="en-US" baseline="0" dirty="0">
                            <a:latin typeface="Times New Roman" panose="02020603050405020304" pitchFamily="18" charset="0"/>
                          </a:endParaRPr>
                        </a:p>
                      </a:txBody>
                      <a:tcPr>
                        <a:solidFill>
                          <a:schemeClr val="bg1"/>
                        </a:solidFill>
                      </a:tcPr>
                    </a:tc>
                    <a:tc>
                      <a:txBody>
                        <a:bodyPr/>
                        <a:lstStyle/>
                        <a:p>
                          <a:endParaRPr lang="zh-TW"/>
                        </a:p>
                      </a:txBody>
                      <a:tcPr>
                        <a:blipFill>
                          <a:blip r:embed="rId3"/>
                          <a:stretch>
                            <a:fillRect l="-286029" t="-162857" r="-735" b="-216190"/>
                          </a:stretch>
                        </a:blipFill>
                      </a:tcPr>
                    </a:tc>
                    <a:extLst>
                      <a:ext uri="{0D108BD9-81ED-4DB2-BD59-A6C34878D82A}">
                        <a16:rowId xmlns:a16="http://schemas.microsoft.com/office/drawing/2014/main" val="2172083126"/>
                      </a:ext>
                    </a:extLst>
                  </a:tr>
                  <a:tr h="640080">
                    <a:tc>
                      <a:txBody>
                        <a:bodyPr/>
                        <a:lstStyle/>
                        <a:p>
                          <a:pPr algn="ctr"/>
                          <a:r>
                            <a:rPr lang="en-US" altLang="zh-TW" baseline="0" dirty="0">
                              <a:solidFill>
                                <a:srgbClr val="FF0000"/>
                              </a:solidFill>
                              <a:latin typeface="Times New Roman" panose="02020603050405020304" pitchFamily="18" charset="0"/>
                            </a:rPr>
                            <a:t>ABAD?</a:t>
                          </a:r>
                          <a:endParaRPr lang="zh-TW" altLang="en-US" baseline="0" dirty="0">
                            <a:solidFill>
                              <a:srgbClr val="FF0000"/>
                            </a:solidFill>
                            <a:latin typeface="Times New Roman" panose="02020603050405020304" pitchFamily="18" charset="0"/>
                          </a:endParaRPr>
                        </a:p>
                      </a:txBody>
                      <a:tcPr>
                        <a:solidFill>
                          <a:schemeClr val="bg1"/>
                        </a:solidFill>
                      </a:tcPr>
                    </a:tc>
                    <a:tc>
                      <a:txBody>
                        <a:bodyPr/>
                        <a:lstStyle/>
                        <a:p>
                          <a:pPr algn="ctr"/>
                          <a:r>
                            <a:rPr lang="en-US" altLang="zh-TW" baseline="0" dirty="0">
                              <a:solidFill>
                                <a:srgbClr val="FF0000"/>
                              </a:solidFill>
                              <a:latin typeface="Times New Roman" panose="02020603050405020304" pitchFamily="18" charset="0"/>
                            </a:rPr>
                            <a:t>0020</a:t>
                          </a:r>
                          <a:endParaRPr lang="zh-TW" altLang="en-US" baseline="0" dirty="0">
                            <a:solidFill>
                              <a:srgbClr val="FF0000"/>
                            </a:solidFill>
                            <a:latin typeface="Times New Roman" panose="02020603050405020304" pitchFamily="18" charset="0"/>
                          </a:endParaRPr>
                        </a:p>
                      </a:txBody>
                      <a:tcPr>
                        <a:solidFill>
                          <a:schemeClr val="bg1"/>
                        </a:solidFill>
                      </a:tcPr>
                    </a:tc>
                    <a:tc>
                      <a:txBody>
                        <a:bodyPr/>
                        <a:lstStyle/>
                        <a:p>
                          <a:pPr algn="ctr"/>
                          <a:r>
                            <a:rPr lang="en-US" altLang="zh-TW" baseline="0" dirty="0">
                              <a:solidFill>
                                <a:srgbClr val="FF0000"/>
                              </a:solidFill>
                              <a:latin typeface="Times New Roman" panose="02020603050405020304" pitchFamily="18" charset="0"/>
                            </a:rPr>
                            <a:t>0001</a:t>
                          </a:r>
                          <a:endParaRPr lang="zh-TW" altLang="en-US" baseline="0" dirty="0">
                            <a:solidFill>
                              <a:srgbClr val="FF0000"/>
                            </a:solidFill>
                            <a:latin typeface="Times New Roman" panose="02020603050405020304" pitchFamily="18" charset="0"/>
                          </a:endParaRPr>
                        </a:p>
                      </a:txBody>
                      <a:tcPr>
                        <a:solidFill>
                          <a:schemeClr val="bg1"/>
                        </a:solidFill>
                      </a:tcPr>
                    </a:tc>
                    <a:tc>
                      <a:txBody>
                        <a:bodyPr/>
                        <a:lstStyle/>
                        <a:p>
                          <a:endParaRPr lang="zh-TW"/>
                        </a:p>
                      </a:txBody>
                      <a:tcPr>
                        <a:blipFill>
                          <a:blip r:embed="rId3"/>
                          <a:stretch>
                            <a:fillRect l="-286029" t="-260377" r="-735" b="-114151"/>
                          </a:stretch>
                        </a:blipFill>
                      </a:tcPr>
                    </a:tc>
                    <a:extLst>
                      <a:ext uri="{0D108BD9-81ED-4DB2-BD59-A6C34878D82A}">
                        <a16:rowId xmlns:a16="http://schemas.microsoft.com/office/drawing/2014/main" val="3384057669"/>
                      </a:ext>
                    </a:extLst>
                  </a:tr>
                  <a:tr h="640080">
                    <a:tc gridSpan="3">
                      <a:txBody>
                        <a:bodyPr/>
                        <a:lstStyle/>
                        <a:p>
                          <a:pPr algn="ctr"/>
                          <a:r>
                            <a:rPr lang="en-US" altLang="zh-TW" baseline="0" dirty="0">
                              <a:solidFill>
                                <a:srgbClr val="002060"/>
                              </a:solidFill>
                              <a:latin typeface="Times New Roman" panose="02020603050405020304" pitchFamily="18" charset="0"/>
                            </a:rPr>
                            <a:t>Final Bit Table</a:t>
                          </a:r>
                          <a:endParaRPr lang="zh-TW" altLang="en-US" baseline="0" dirty="0">
                            <a:solidFill>
                              <a:srgbClr val="002060"/>
                            </a:solidFill>
                            <a:latin typeface="Times New Roman" panose="02020603050405020304" pitchFamily="18" charset="0"/>
                          </a:endParaRPr>
                        </a:p>
                      </a:txBody>
                      <a:tcPr>
                        <a:solidFill>
                          <a:schemeClr val="bg1"/>
                        </a:solidFill>
                      </a:tcPr>
                    </a:tc>
                    <a:tc hMerge="1">
                      <a:txBody>
                        <a:bodyPr/>
                        <a:lstStyle/>
                        <a:p>
                          <a:pPr algn="ctr"/>
                          <a:endParaRPr lang="zh-TW" altLang="en-US" baseline="0" dirty="0">
                            <a:solidFill>
                              <a:srgbClr val="FF0000"/>
                            </a:solidFill>
                            <a:latin typeface="Times New Roman" panose="02020603050405020304" pitchFamily="18" charset="0"/>
                          </a:endParaRPr>
                        </a:p>
                      </a:txBody>
                      <a:tcPr>
                        <a:solidFill>
                          <a:schemeClr val="bg1"/>
                        </a:solidFill>
                      </a:tcPr>
                    </a:tc>
                    <a:tc hMerge="1">
                      <a:txBody>
                        <a:bodyPr/>
                        <a:lstStyle/>
                        <a:p>
                          <a:pPr algn="ct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solidFill>
                                <a:srgbClr val="002060"/>
                              </a:solidFill>
                              <a:latin typeface="Times New Roman" panose="02020603050405020304" pitchFamily="18" charset="0"/>
                            </a:rPr>
                            <a:t>B[0]=1000</a:t>
                          </a:r>
                        </a:p>
                        <a:p>
                          <a:pPr algn="ctr"/>
                          <a:r>
                            <a:rPr lang="en-US" altLang="zh-TW" baseline="0" dirty="0">
                              <a:solidFill>
                                <a:srgbClr val="002060"/>
                              </a:solidFill>
                              <a:latin typeface="Times New Roman" panose="02020603050405020304" pitchFamily="18" charset="0"/>
                            </a:rPr>
                            <a:t>B[1]=0100</a:t>
                          </a:r>
                          <a:endParaRPr lang="zh-TW" altLang="en-US" baseline="0" dirty="0">
                            <a:solidFill>
                              <a:srgbClr val="002060"/>
                            </a:solidFill>
                            <a:latin typeface="Times New Roman" panose="02020603050405020304" pitchFamily="18" charset="0"/>
                          </a:endParaRPr>
                        </a:p>
                      </a:txBody>
                      <a:tcPr>
                        <a:solidFill>
                          <a:schemeClr val="bg1"/>
                        </a:solidFill>
                      </a:tcPr>
                    </a:tc>
                    <a:extLst>
                      <a:ext uri="{0D108BD9-81ED-4DB2-BD59-A6C34878D82A}">
                        <a16:rowId xmlns:a16="http://schemas.microsoft.com/office/drawing/2014/main" val="1659463218"/>
                      </a:ext>
                    </a:extLst>
                  </a:tr>
                </a:tbl>
              </a:graphicData>
            </a:graphic>
          </p:graphicFrame>
        </mc:Fallback>
      </mc:AlternateContent>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16</a:t>
            </a:fld>
            <a:endParaRPr lang="zh-TW" altLang="en-US"/>
          </a:p>
        </p:txBody>
      </p:sp>
      <p:sp>
        <p:nvSpPr>
          <p:cNvPr id="21" name="矩形 20">
            <a:extLst>
              <a:ext uri="{FF2B5EF4-FFF2-40B4-BE49-F238E27FC236}">
                <a16:creationId xmlns:a16="http://schemas.microsoft.com/office/drawing/2014/main" xmlns="" id="{8D5B326E-F4A5-4ED1-8748-44153AA1834B}"/>
              </a:ext>
            </a:extLst>
          </p:cNvPr>
          <p:cNvSpPr/>
          <p:nvPr/>
        </p:nvSpPr>
        <p:spPr>
          <a:xfrm>
            <a:off x="501748" y="451380"/>
            <a:ext cx="2010633" cy="400110"/>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Build bit-table:</a:t>
            </a:r>
            <a:endParaRPr lang="en-US" altLang="zh-TW" sz="2000" dirty="0">
              <a:solidFill>
                <a:srgbClr val="0070C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xmlns="" id="{79EEDB57-C091-4B2C-8714-1B554146A1EF}"/>
                  </a:ext>
                </a:extLst>
              </p:cNvPr>
              <p:cNvSpPr/>
              <p:nvPr/>
            </p:nvSpPr>
            <p:spPr>
              <a:xfrm>
                <a:off x="711034" y="4062644"/>
                <a:ext cx="5219634" cy="405624"/>
              </a:xfrm>
              <a:prstGeom prst="rect">
                <a:avLst/>
              </a:prstGeom>
            </p:spPr>
            <p:txBody>
              <a:bodyPr wrap="none">
                <a:spAutoFit/>
              </a:bodyPr>
              <a:lstStyle/>
              <a:p>
                <a:r>
                  <a:rPr lang="en-US" altLang="zh-TW" sz="2000" b="0" dirty="0">
                    <a:solidFill>
                      <a:srgbClr val="0070C0"/>
                    </a:solidFill>
                    <a:latin typeface="Times New Roman" panose="02020603050405020304" pitchFamily="18" charset="0"/>
                    <a:cs typeface="Times New Roman" panose="02020603050405020304" pitchFamily="18" charset="0"/>
                  </a:rPr>
                  <a:t>if P[</a:t>
                </a:r>
                <a:r>
                  <a:rPr lang="en-US" altLang="zh-TW" sz="2000" b="0" dirty="0" err="1">
                    <a:solidFill>
                      <a:srgbClr val="0070C0"/>
                    </a:solidFill>
                    <a:latin typeface="Times New Roman" panose="02020603050405020304" pitchFamily="18" charset="0"/>
                    <a:cs typeface="Times New Roman" panose="02020603050405020304" pitchFamily="18" charset="0"/>
                  </a:rPr>
                  <a:t>i</a:t>
                </a:r>
                <a:r>
                  <a:rPr lang="en-US" altLang="zh-TW" sz="2000" b="0" dirty="0">
                    <a:solidFill>
                      <a:srgbClr val="0070C0"/>
                    </a:solidFill>
                    <a:latin typeface="Times New Roman" panose="02020603050405020304" pitchFamily="18" charset="0"/>
                    <a:cs typeface="Times New Roman" panose="02020603050405020304" pitchFamily="18" charset="0"/>
                  </a:rPr>
                  <a:t>] = c, </a:t>
                </a:r>
                <a14:m>
                  <m:oMath xmlns:m="http://schemas.openxmlformats.org/officeDocument/2006/math">
                    <m:sSup>
                      <m:sSupPr>
                        <m:ctrlPr>
                          <a:rPr lang="en-US" altLang="zh-TW" sz="2000" b="0" i="1" smtClean="0">
                            <a:solidFill>
                              <a:srgbClr val="0070C0"/>
                            </a:solidFill>
                            <a:latin typeface="Cambria Math" panose="02040503050406030204" pitchFamily="18" charset="0"/>
                            <a:cs typeface="Times New Roman" panose="02020603050405020304" pitchFamily="18" charset="0"/>
                          </a:rPr>
                        </m:ctrlPr>
                      </m:sSupPr>
                      <m:e>
                        <m:r>
                          <a:rPr lang="en-US" altLang="zh-TW" sz="2000" b="0" i="1" smtClean="0">
                            <a:solidFill>
                              <a:srgbClr val="0070C0"/>
                            </a:solidFill>
                            <a:latin typeface="Cambria Math" panose="02040503050406030204" pitchFamily="18" charset="0"/>
                            <a:cs typeface="Times New Roman" panose="02020603050405020304" pitchFamily="18" charset="0"/>
                          </a:rPr>
                          <m:t>𝑖</m:t>
                        </m:r>
                      </m:e>
                      <m:sup>
                        <m:r>
                          <a:rPr lang="en-US" altLang="zh-TW" sz="2000" b="0" i="1" smtClean="0">
                            <a:solidFill>
                              <a:srgbClr val="0070C0"/>
                            </a:solidFill>
                            <a:latin typeface="Cambria Math" panose="02040503050406030204" pitchFamily="18" charset="0"/>
                            <a:cs typeface="Times New Roman" panose="02020603050405020304" pitchFamily="18" charset="0"/>
                          </a:rPr>
                          <m:t>𝑡h</m:t>
                        </m:r>
                      </m:sup>
                    </m:sSup>
                  </m:oMath>
                </a14:m>
                <a:r>
                  <a:rPr lang="en-US" altLang="zh-TW" sz="2000" b="0" dirty="0">
                    <a:solidFill>
                      <a:srgbClr val="0070C0"/>
                    </a:solidFill>
                    <a:latin typeface="Times New Roman" panose="02020603050405020304" pitchFamily="18" charset="0"/>
                    <a:cs typeface="Times New Roman" panose="02020603050405020304" pitchFamily="18" charset="0"/>
                  </a:rPr>
                  <a:t> bit of </a:t>
                </a:r>
                <a14:m>
                  <m:oMath xmlns:m="http://schemas.openxmlformats.org/officeDocument/2006/math">
                    <m:r>
                      <a:rPr lang="en-US" altLang="zh-TW" sz="2000" b="0" i="1" smtClean="0">
                        <a:solidFill>
                          <a:srgbClr val="0070C0"/>
                        </a:solidFill>
                        <a:latin typeface="Cambria Math" panose="02040503050406030204" pitchFamily="18" charset="0"/>
                      </a:rPr>
                      <m:t>𝐵</m:t>
                    </m:r>
                  </m:oMath>
                </a14:m>
                <a:r>
                  <a:rPr lang="en-US" altLang="zh-TW" sz="2000" dirty="0">
                    <a:solidFill>
                      <a:srgbClr val="0070C0"/>
                    </a:solidFill>
                    <a:latin typeface="Times New Roman" panose="02020603050405020304" pitchFamily="18" charset="0"/>
                    <a:cs typeface="Times New Roman" panose="02020603050405020304" pitchFamily="18" charset="0"/>
                  </a:rPr>
                  <a:t>[c] = 0 (from right to left)</a:t>
                </a:r>
                <a:endParaRPr lang="zh-TW" altLang="en-US" sz="2000"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79EEDB57-C091-4B2C-8714-1B554146A1EF}"/>
                  </a:ext>
                </a:extLst>
              </p:cNvPr>
              <p:cNvSpPr>
                <a:spLocks noRot="1" noChangeAspect="1" noMove="1" noResize="1" noEditPoints="1" noAdjustHandles="1" noChangeArrowheads="1" noChangeShapeType="1" noTextEdit="1"/>
              </p:cNvSpPr>
              <p:nvPr/>
            </p:nvSpPr>
            <p:spPr>
              <a:xfrm>
                <a:off x="711034" y="4062644"/>
                <a:ext cx="5219634" cy="405624"/>
              </a:xfrm>
              <a:prstGeom prst="rect">
                <a:avLst/>
              </a:prstGeom>
              <a:blipFill>
                <a:blip r:embed="rId4"/>
                <a:stretch>
                  <a:fillRect l="-1285" t="-5970" b="-2537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xmlns="" id="{6CAC256C-D5AF-470F-A59A-4E719B865BE1}"/>
                  </a:ext>
                </a:extLst>
              </p:cNvPr>
              <p:cNvSpPr/>
              <p:nvPr/>
            </p:nvSpPr>
            <p:spPr>
              <a:xfrm>
                <a:off x="711034" y="4487403"/>
                <a:ext cx="3038589" cy="400110"/>
              </a:xfrm>
              <a:prstGeom prst="rect">
                <a:avLst/>
              </a:prstGeom>
            </p:spPr>
            <p:txBody>
              <a:bodyPr wrap="none">
                <a:spAutoFit/>
              </a:bodyPr>
              <a:lstStyle/>
              <a:p>
                <a14:m>
                  <m:oMath xmlns:m="http://schemas.openxmlformats.org/officeDocument/2006/math">
                    <m:sSub>
                      <m:sSubPr>
                        <m:ctrlPr>
                          <a:rPr lang="en-US" altLang="zh-TW" sz="2000" b="0" i="1" smtClean="0">
                            <a:solidFill>
                              <a:schemeClr val="tx1"/>
                            </a:solidFill>
                            <a:latin typeface="Cambria Math" panose="02040503050406030204" pitchFamily="18" charset="0"/>
                            <a:cs typeface="Times New Roman" panose="02020603050405020304" pitchFamily="18" charset="0"/>
                          </a:rPr>
                        </m:ctrlPr>
                      </m:sSubPr>
                      <m:e>
                        <m:r>
                          <a:rPr lang="en-US" altLang="zh-TW" sz="2000" b="0" i="1" smtClean="0">
                            <a:solidFill>
                              <a:schemeClr val="tx1"/>
                            </a:solidFill>
                            <a:latin typeface="Cambria Math" panose="02040503050406030204" pitchFamily="18" charset="0"/>
                            <a:cs typeface="Times New Roman" panose="02020603050405020304" pitchFamily="18" charset="0"/>
                          </a:rPr>
                          <m:t>𝑃</m:t>
                        </m:r>
                      </m:e>
                      <m:sub>
                        <m:r>
                          <a:rPr lang="en-US" altLang="zh-TW" sz="2000" b="0" i="1" smtClean="0">
                            <a:solidFill>
                              <a:schemeClr val="tx1"/>
                            </a:solidFill>
                            <a:latin typeface="Cambria Math" panose="02040503050406030204" pitchFamily="18" charset="0"/>
                            <a:cs typeface="Times New Roman" panose="02020603050405020304" pitchFamily="18" charset="0"/>
                          </a:rPr>
                          <m:t>1</m:t>
                        </m:r>
                      </m:sub>
                    </m:sSub>
                    <m:r>
                      <a:rPr lang="en-US" altLang="zh-TW" sz="2000" b="0" i="1" smtClean="0">
                        <a:solidFill>
                          <a:schemeClr val="tx1"/>
                        </a:solidFill>
                        <a:latin typeface="Cambria Math" panose="02040503050406030204" pitchFamily="18" charset="0"/>
                        <a:cs typeface="Times New Roman" panose="02020603050405020304" pitchFamily="18" charset="0"/>
                      </a:rPr>
                      <m:t>=</m:t>
                    </m:r>
                    <m:r>
                      <a:rPr lang="en-US" altLang="zh-TW" sz="2000" b="0" i="1" smtClean="0">
                        <a:solidFill>
                          <a:srgbClr val="FF0000"/>
                        </a:solidFill>
                        <a:latin typeface="Cambria Math" panose="02040503050406030204" pitchFamily="18" charset="0"/>
                        <a:cs typeface="Times New Roman" panose="02020603050405020304" pitchFamily="18" charset="0"/>
                      </a:rPr>
                      <m:t>0</m:t>
                    </m:r>
                    <m:r>
                      <a:rPr lang="en-US" altLang="zh-TW" sz="2000" b="0" i="1" smtClean="0">
                        <a:solidFill>
                          <a:srgbClr val="00B050"/>
                        </a:solidFill>
                        <a:latin typeface="Cambria Math" panose="02040503050406030204" pitchFamily="18" charset="0"/>
                        <a:cs typeface="Times New Roman" panose="02020603050405020304" pitchFamily="18" charset="0"/>
                      </a:rPr>
                      <m:t>1</m:t>
                    </m:r>
                  </m:oMath>
                </a14:m>
                <a:r>
                  <a:rPr lang="en-US" altLang="zh-TW" sz="2000" dirty="0">
                    <a:solidFill>
                      <a:schemeClr val="tx1"/>
                    </a:solidFill>
                    <a:latin typeface="Times New Roman" panose="02020603050405020304" pitchFamily="18" charset="0"/>
                    <a:cs typeface="Times New Roman" panose="02020603050405020304" pitchFamily="18" charset="0"/>
                  </a:rPr>
                  <a:t> </a:t>
                </a:r>
                <a:r>
                  <a:rPr lang="zh-TW" altLang="en-US" sz="20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sz="2000" b="0" i="1" smtClean="0">
                            <a:solidFill>
                              <a:schemeClr val="tx1"/>
                            </a:solidFill>
                            <a:latin typeface="Cambria Math" panose="02040503050406030204" pitchFamily="18" charset="0"/>
                            <a:cs typeface="Times New Roman" panose="02020603050405020304" pitchFamily="18" charset="0"/>
                          </a:rPr>
                        </m:ctrlPr>
                      </m:sSubPr>
                      <m:e>
                        <m:r>
                          <a:rPr lang="en-US" altLang="zh-TW" sz="2000" b="0" i="1" smtClean="0">
                            <a:solidFill>
                              <a:schemeClr val="tx1"/>
                            </a:solidFill>
                            <a:latin typeface="Cambria Math" panose="02040503050406030204" pitchFamily="18" charset="0"/>
                            <a:cs typeface="Times New Roman" panose="02020603050405020304" pitchFamily="18" charset="0"/>
                          </a:rPr>
                          <m:t>𝐵</m:t>
                        </m:r>
                      </m:e>
                      <m:sub>
                        <m:r>
                          <a:rPr lang="en-US" altLang="zh-TW" sz="2000" b="0" i="1" smtClean="0">
                            <a:solidFill>
                              <a:schemeClr val="tx1"/>
                            </a:solidFill>
                            <a:latin typeface="Cambria Math" panose="02040503050406030204" pitchFamily="18" charset="0"/>
                            <a:cs typeface="Times New Roman" panose="02020603050405020304" pitchFamily="18" charset="0"/>
                          </a:rPr>
                          <m:t>1</m:t>
                        </m:r>
                      </m:sub>
                    </m:sSub>
                    <m:d>
                      <m:dPr>
                        <m:begChr m:val="["/>
                        <m:endChr m:val="]"/>
                        <m:ctrlPr>
                          <a:rPr lang="en-US" altLang="zh-TW" sz="2000" b="0" i="1" smtClean="0">
                            <a:solidFill>
                              <a:schemeClr val="tx1"/>
                            </a:solidFill>
                            <a:latin typeface="Cambria Math" panose="02040503050406030204" pitchFamily="18" charset="0"/>
                            <a:cs typeface="Times New Roman" panose="02020603050405020304" pitchFamily="18" charset="0"/>
                          </a:rPr>
                        </m:ctrlPr>
                      </m:dPr>
                      <m:e>
                        <m:r>
                          <a:rPr lang="en-US" altLang="zh-TW" sz="2000" b="0" i="1" smtClean="0">
                            <a:solidFill>
                              <a:schemeClr val="tx1"/>
                            </a:solidFill>
                            <a:latin typeface="Cambria Math" panose="02040503050406030204" pitchFamily="18" charset="0"/>
                            <a:cs typeface="Times New Roman" panose="02020603050405020304" pitchFamily="18" charset="0"/>
                          </a:rPr>
                          <m:t>0</m:t>
                        </m:r>
                      </m:e>
                    </m:d>
                    <m:r>
                      <a:rPr lang="en-US" altLang="zh-TW" sz="2000" b="0" i="1" smtClean="0">
                        <a:solidFill>
                          <a:schemeClr val="tx1"/>
                        </a:solidFill>
                        <a:latin typeface="Cambria Math" panose="02040503050406030204" pitchFamily="18" charset="0"/>
                        <a:cs typeface="Times New Roman" panose="02020603050405020304" pitchFamily="18" charset="0"/>
                      </a:rPr>
                      <m:t>=11</m:t>
                    </m:r>
                    <m:r>
                      <a:rPr lang="en-US" altLang="zh-TW" sz="2000" b="0" i="1" smtClean="0">
                        <a:solidFill>
                          <a:srgbClr val="00B050"/>
                        </a:solidFill>
                        <a:latin typeface="Cambria Math" panose="02040503050406030204" pitchFamily="18" charset="0"/>
                        <a:cs typeface="Times New Roman" panose="02020603050405020304" pitchFamily="18" charset="0"/>
                      </a:rPr>
                      <m:t>1</m:t>
                    </m:r>
                    <m:r>
                      <a:rPr lang="en-US" altLang="zh-TW" sz="2000" b="0" i="1" smtClean="0">
                        <a:solidFill>
                          <a:srgbClr val="FF0000"/>
                        </a:solidFill>
                        <a:latin typeface="Cambria Math" panose="02040503050406030204" pitchFamily="18" charset="0"/>
                        <a:cs typeface="Times New Roman" panose="02020603050405020304" pitchFamily="18" charset="0"/>
                      </a:rPr>
                      <m:t>0</m:t>
                    </m:r>
                  </m:oMath>
                </a14:m>
                <a:endParaRPr lang="en-US" altLang="zh-TW" sz="20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22" name="矩形 21">
                <a:extLst>
                  <a:ext uri="{FF2B5EF4-FFF2-40B4-BE49-F238E27FC236}">
                    <a16:creationId xmlns:a16="http://schemas.microsoft.com/office/drawing/2014/main" id="{6CAC256C-D5AF-470F-A59A-4E719B865BE1}"/>
                  </a:ext>
                </a:extLst>
              </p:cNvPr>
              <p:cNvSpPr>
                <a:spLocks noRot="1" noChangeAspect="1" noMove="1" noResize="1" noEditPoints="1" noAdjustHandles="1" noChangeArrowheads="1" noChangeShapeType="1" noTextEdit="1"/>
              </p:cNvSpPr>
              <p:nvPr/>
            </p:nvSpPr>
            <p:spPr>
              <a:xfrm>
                <a:off x="711034" y="4487403"/>
                <a:ext cx="3038589" cy="400110"/>
              </a:xfrm>
              <a:prstGeom prst="rect">
                <a:avLst/>
              </a:prstGeom>
              <a:blipFill>
                <a:blip r:embed="rId5"/>
                <a:stretch>
                  <a:fillRect t="-7576" b="-25758"/>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6" name="矩形 25">
                <a:extLst>
                  <a:ext uri="{FF2B5EF4-FFF2-40B4-BE49-F238E27FC236}">
                    <a16:creationId xmlns:a16="http://schemas.microsoft.com/office/drawing/2014/main" xmlns="" id="{8786B6E1-1050-403D-B022-B1D27FA52064}"/>
                  </a:ext>
                </a:extLst>
              </p:cNvPr>
              <p:cNvSpPr/>
              <p:nvPr/>
            </p:nvSpPr>
            <p:spPr>
              <a:xfrm>
                <a:off x="711034" y="4874555"/>
                <a:ext cx="3335850" cy="400110"/>
              </a:xfrm>
              <a:prstGeom prst="rect">
                <a:avLst/>
              </a:prstGeom>
            </p:spPr>
            <p:txBody>
              <a:bodyPr wrap="none">
                <a:spAutoFit/>
              </a:bodyPr>
              <a:lstStyle/>
              <a:p>
                <a14:m>
                  <m:oMath xmlns:m="http://schemas.openxmlformats.org/officeDocument/2006/math">
                    <m:sSub>
                      <m:sSubPr>
                        <m:ctrlPr>
                          <a:rPr lang="en-US" altLang="zh-TW" sz="2000" b="0" i="1" smtClean="0">
                            <a:solidFill>
                              <a:schemeClr val="tx1"/>
                            </a:solidFill>
                            <a:latin typeface="Cambria Math" panose="02040503050406030204" pitchFamily="18" charset="0"/>
                            <a:cs typeface="Times New Roman" panose="02020603050405020304" pitchFamily="18" charset="0"/>
                          </a:rPr>
                        </m:ctrlPr>
                      </m:sSubPr>
                      <m:e>
                        <m:r>
                          <a:rPr lang="en-US" altLang="zh-TW" sz="2000" b="0" i="1" smtClean="0">
                            <a:solidFill>
                              <a:schemeClr val="tx1"/>
                            </a:solidFill>
                            <a:latin typeface="Cambria Math" panose="02040503050406030204" pitchFamily="18" charset="0"/>
                            <a:cs typeface="Times New Roman" panose="02020603050405020304" pitchFamily="18" charset="0"/>
                          </a:rPr>
                          <m:t>𝑃</m:t>
                        </m:r>
                      </m:e>
                      <m:sub>
                        <m:r>
                          <a:rPr lang="en-US" altLang="zh-TW" sz="2000" b="0" i="1" smtClean="0">
                            <a:solidFill>
                              <a:schemeClr val="tx1"/>
                            </a:solidFill>
                            <a:latin typeface="Cambria Math" panose="02040503050406030204" pitchFamily="18" charset="0"/>
                            <a:cs typeface="Times New Roman" panose="02020603050405020304" pitchFamily="18" charset="0"/>
                          </a:rPr>
                          <m:t>3</m:t>
                        </m:r>
                      </m:sub>
                    </m:sSub>
                    <m:r>
                      <a:rPr lang="en-US" altLang="zh-TW" sz="2000" b="0" i="1" smtClean="0">
                        <a:solidFill>
                          <a:schemeClr val="tx1"/>
                        </a:solidFill>
                        <a:latin typeface="Cambria Math" panose="02040503050406030204" pitchFamily="18" charset="0"/>
                        <a:cs typeface="Times New Roman" panose="02020603050405020304" pitchFamily="18" charset="0"/>
                      </a:rPr>
                      <m:t>=</m:t>
                    </m:r>
                    <m:r>
                      <a:rPr lang="en-US" altLang="zh-TW" sz="2000" b="0" i="1" smtClean="0">
                        <a:solidFill>
                          <a:srgbClr val="FF0000"/>
                        </a:solidFill>
                        <a:latin typeface="Cambria Math" panose="02040503050406030204" pitchFamily="18" charset="0"/>
                        <a:cs typeface="Times New Roman" panose="02020603050405020304" pitchFamily="18" charset="0"/>
                      </a:rPr>
                      <m:t>0</m:t>
                    </m:r>
                    <m:r>
                      <a:rPr lang="en-US" altLang="zh-TW" sz="2000" b="0" i="1" smtClean="0">
                        <a:solidFill>
                          <a:srgbClr val="00B050"/>
                        </a:solidFill>
                        <a:latin typeface="Cambria Math" panose="02040503050406030204" pitchFamily="18" charset="0"/>
                        <a:cs typeface="Times New Roman" panose="02020603050405020304" pitchFamily="18" charset="0"/>
                      </a:rPr>
                      <m:t>0</m:t>
                    </m:r>
                    <m:r>
                      <a:rPr lang="en-US" altLang="zh-TW" sz="2000" b="0" i="1" smtClean="0">
                        <a:solidFill>
                          <a:srgbClr val="FF33CC"/>
                        </a:solidFill>
                        <a:latin typeface="Cambria Math" panose="02040503050406030204" pitchFamily="18" charset="0"/>
                        <a:cs typeface="Times New Roman" panose="02020603050405020304" pitchFamily="18" charset="0"/>
                      </a:rPr>
                      <m:t>0</m:t>
                    </m:r>
                    <m:r>
                      <a:rPr lang="en-US" altLang="zh-TW" sz="2000" b="0" i="1" smtClean="0">
                        <a:solidFill>
                          <a:srgbClr val="7030A0"/>
                        </a:solidFill>
                        <a:latin typeface="Cambria Math" panose="02040503050406030204" pitchFamily="18" charset="0"/>
                        <a:cs typeface="Times New Roman" panose="02020603050405020304" pitchFamily="18" charset="0"/>
                      </a:rPr>
                      <m:t>1</m:t>
                    </m:r>
                  </m:oMath>
                </a14:m>
                <a:r>
                  <a:rPr lang="en-US" altLang="zh-TW" sz="2000" dirty="0">
                    <a:solidFill>
                      <a:schemeClr val="tx1"/>
                    </a:solidFill>
                    <a:latin typeface="Times New Roman" panose="02020603050405020304" pitchFamily="18" charset="0"/>
                    <a:cs typeface="Times New Roman" panose="02020603050405020304" pitchFamily="18" charset="0"/>
                  </a:rPr>
                  <a:t> </a:t>
                </a:r>
                <a:r>
                  <a:rPr lang="zh-TW" altLang="en-US" sz="20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sz="2000" b="0" i="1" smtClean="0">
                            <a:solidFill>
                              <a:schemeClr val="tx1"/>
                            </a:solidFill>
                            <a:latin typeface="Cambria Math" panose="02040503050406030204" pitchFamily="18" charset="0"/>
                            <a:cs typeface="Times New Roman" panose="02020603050405020304" pitchFamily="18" charset="0"/>
                          </a:rPr>
                        </m:ctrlPr>
                      </m:sSubPr>
                      <m:e>
                        <m:r>
                          <a:rPr lang="en-US" altLang="zh-TW" sz="2000" b="0" i="1" smtClean="0">
                            <a:solidFill>
                              <a:schemeClr val="tx1"/>
                            </a:solidFill>
                            <a:latin typeface="Cambria Math" panose="02040503050406030204" pitchFamily="18" charset="0"/>
                            <a:cs typeface="Times New Roman" panose="02020603050405020304" pitchFamily="18" charset="0"/>
                          </a:rPr>
                          <m:t>𝐵</m:t>
                        </m:r>
                      </m:e>
                      <m:sub>
                        <m:r>
                          <a:rPr lang="en-US" altLang="zh-TW" sz="2000" b="0" i="1" smtClean="0">
                            <a:solidFill>
                              <a:schemeClr val="tx1"/>
                            </a:solidFill>
                            <a:latin typeface="Cambria Math" panose="02040503050406030204" pitchFamily="18" charset="0"/>
                            <a:cs typeface="Times New Roman" panose="02020603050405020304" pitchFamily="18" charset="0"/>
                          </a:rPr>
                          <m:t>3</m:t>
                        </m:r>
                      </m:sub>
                    </m:sSub>
                    <m:d>
                      <m:dPr>
                        <m:begChr m:val="["/>
                        <m:endChr m:val="]"/>
                        <m:ctrlPr>
                          <a:rPr lang="en-US" altLang="zh-TW" sz="2000" b="0" i="1" smtClean="0">
                            <a:solidFill>
                              <a:schemeClr val="tx1"/>
                            </a:solidFill>
                            <a:latin typeface="Cambria Math" panose="02040503050406030204" pitchFamily="18" charset="0"/>
                            <a:cs typeface="Times New Roman" panose="02020603050405020304" pitchFamily="18" charset="0"/>
                          </a:rPr>
                        </m:ctrlPr>
                      </m:dPr>
                      <m:e>
                        <m:r>
                          <a:rPr lang="en-US" altLang="zh-TW" sz="2000" b="0" i="1" smtClean="0">
                            <a:solidFill>
                              <a:schemeClr val="tx1"/>
                            </a:solidFill>
                            <a:latin typeface="Cambria Math" panose="02040503050406030204" pitchFamily="18" charset="0"/>
                            <a:cs typeface="Times New Roman" panose="02020603050405020304" pitchFamily="18" charset="0"/>
                          </a:rPr>
                          <m:t>0</m:t>
                        </m:r>
                      </m:e>
                    </m:d>
                    <m:r>
                      <a:rPr lang="en-US" altLang="zh-TW" sz="2000" b="0" i="1" smtClean="0">
                        <a:solidFill>
                          <a:schemeClr val="tx1"/>
                        </a:solidFill>
                        <a:latin typeface="Cambria Math" panose="02040503050406030204" pitchFamily="18" charset="0"/>
                        <a:cs typeface="Times New Roman" panose="02020603050405020304" pitchFamily="18" charset="0"/>
                      </a:rPr>
                      <m:t>=</m:t>
                    </m:r>
                    <m:r>
                      <a:rPr lang="en-US" altLang="zh-TW" sz="2000" b="0" i="1" smtClean="0">
                        <a:solidFill>
                          <a:srgbClr val="7030A0"/>
                        </a:solidFill>
                        <a:latin typeface="Cambria Math" panose="02040503050406030204" pitchFamily="18" charset="0"/>
                        <a:cs typeface="Times New Roman" panose="02020603050405020304" pitchFamily="18" charset="0"/>
                      </a:rPr>
                      <m:t>1</m:t>
                    </m:r>
                    <m:r>
                      <a:rPr lang="en-US" altLang="zh-TW" sz="2000" b="0" i="1" smtClean="0">
                        <a:solidFill>
                          <a:srgbClr val="FF33CC"/>
                        </a:solidFill>
                        <a:latin typeface="Cambria Math" panose="02040503050406030204" pitchFamily="18" charset="0"/>
                        <a:cs typeface="Times New Roman" panose="02020603050405020304" pitchFamily="18" charset="0"/>
                      </a:rPr>
                      <m:t>0</m:t>
                    </m:r>
                    <m:r>
                      <a:rPr lang="en-US" altLang="zh-TW" sz="2000" b="0" i="1" smtClean="0">
                        <a:solidFill>
                          <a:srgbClr val="00B050"/>
                        </a:solidFill>
                        <a:latin typeface="Cambria Math" panose="02040503050406030204" pitchFamily="18" charset="0"/>
                        <a:cs typeface="Times New Roman" panose="02020603050405020304" pitchFamily="18" charset="0"/>
                      </a:rPr>
                      <m:t>0</m:t>
                    </m:r>
                    <m:r>
                      <a:rPr lang="en-US" altLang="zh-TW" sz="2000" b="0" i="1" smtClean="0">
                        <a:solidFill>
                          <a:srgbClr val="FF0000"/>
                        </a:solidFill>
                        <a:latin typeface="Cambria Math" panose="02040503050406030204" pitchFamily="18" charset="0"/>
                        <a:cs typeface="Times New Roman" panose="02020603050405020304" pitchFamily="18" charset="0"/>
                      </a:rPr>
                      <m:t>0</m:t>
                    </m:r>
                  </m:oMath>
                </a14:m>
                <a:endParaRPr lang="en-US" altLang="zh-TW" sz="2000" dirty="0">
                  <a:solidFill>
                    <a:schemeClr val="tx1"/>
                  </a:solidFill>
                  <a:latin typeface="Times New Roman" panose="02020603050405020304" pitchFamily="18" charset="0"/>
                  <a:cs typeface="Times New Roman" panose="02020603050405020304" pitchFamily="18" charset="0"/>
                </a:endParaRPr>
              </a:p>
            </p:txBody>
          </p:sp>
        </mc:Choice>
        <mc:Fallback>
          <p:sp>
            <p:nvSpPr>
              <p:cNvPr id="26" name="矩形 25">
                <a:extLst>
                  <a:ext uri="{FF2B5EF4-FFF2-40B4-BE49-F238E27FC236}">
                    <a16:creationId xmlns:a16="http://schemas.microsoft.com/office/drawing/2014/main" xmlns:a14="http://schemas.microsoft.com/office/drawing/2010/main" xmlns="" id="{8786B6E1-1050-403D-B022-B1D27FA52064}"/>
                  </a:ext>
                </a:extLst>
              </p:cNvPr>
              <p:cNvSpPr>
                <a:spLocks noRot="1" noChangeAspect="1" noMove="1" noResize="1" noEditPoints="1" noAdjustHandles="1" noChangeArrowheads="1" noChangeShapeType="1" noTextEdit="1"/>
              </p:cNvSpPr>
              <p:nvPr/>
            </p:nvSpPr>
            <p:spPr>
              <a:xfrm>
                <a:off x="711034" y="4874555"/>
                <a:ext cx="3335850" cy="400110"/>
              </a:xfrm>
              <a:prstGeom prst="rect">
                <a:avLst/>
              </a:prstGeom>
              <a:blipFill rotWithShape="0">
                <a:blip r:embed="rId6"/>
                <a:stretch>
                  <a:fillRect t="-9231" b="-27692"/>
                </a:stretch>
              </a:blipFill>
            </p:spPr>
            <p:txBody>
              <a:bodyPr/>
              <a:lstStyle/>
              <a:p>
                <a:r>
                  <a:rPr lang="zh-TW" altLang="en-US">
                    <a:noFill/>
                  </a:rPr>
                  <a:t> </a:t>
                </a:r>
              </a:p>
            </p:txBody>
          </p:sp>
        </mc:Fallback>
      </mc:AlternateContent>
      <p:sp>
        <p:nvSpPr>
          <p:cNvPr id="31" name="矩形 30">
            <a:extLst>
              <a:ext uri="{FF2B5EF4-FFF2-40B4-BE49-F238E27FC236}">
                <a16:creationId xmlns:a16="http://schemas.microsoft.com/office/drawing/2014/main" xmlns="" id="{9C97F797-0ADF-471F-B0BE-B54B80B52315}"/>
              </a:ext>
            </a:extLst>
          </p:cNvPr>
          <p:cNvSpPr/>
          <p:nvPr/>
        </p:nvSpPr>
        <p:spPr>
          <a:xfrm>
            <a:off x="711034" y="5305011"/>
            <a:ext cx="4735848" cy="400110"/>
          </a:xfrm>
          <a:prstGeom prst="rect">
            <a:avLst/>
          </a:prstGeom>
        </p:spPr>
        <p:txBody>
          <a:bodyPr wrap="none">
            <a:spAutoFit/>
          </a:bodyPr>
          <a:lstStyle/>
          <a:p>
            <a:r>
              <a:rPr lang="en-US" altLang="zh-TW" sz="2000" dirty="0">
                <a:solidFill>
                  <a:srgbClr val="0070C0"/>
                </a:solidFill>
                <a:latin typeface="Times New Roman" panose="02020603050405020304" pitchFamily="18" charset="0"/>
                <a:cs typeface="Times New Roman" panose="02020603050405020304" pitchFamily="18" charset="0"/>
              </a:rPr>
              <a:t>each bit uses AND operation to get </a:t>
            </a:r>
            <a:r>
              <a:rPr lang="en-US" altLang="zh-TW" sz="2000" b="0" dirty="0">
                <a:solidFill>
                  <a:srgbClr val="0070C0"/>
                </a:solidFill>
                <a:latin typeface="Times New Roman" panose="02020603050405020304" pitchFamily="18" charset="0"/>
                <a:cs typeface="Times New Roman" panose="02020603050405020304" pitchFamily="18" charset="0"/>
              </a:rPr>
              <a:t>final bits</a:t>
            </a:r>
            <a:endParaRPr lang="zh-TW" altLang="en-US" sz="2000" dirty="0">
              <a:solidFill>
                <a:srgbClr val="0070C0"/>
              </a:solidFill>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xmlns="" id="{9B0C78D2-CF61-487D-9F8A-07B192C7B6BF}"/>
              </a:ext>
            </a:extLst>
          </p:cNvPr>
          <p:cNvSpPr/>
          <p:nvPr/>
        </p:nvSpPr>
        <p:spPr>
          <a:xfrm>
            <a:off x="711034" y="5742076"/>
            <a:ext cx="3566874" cy="646331"/>
          </a:xfrm>
          <a:prstGeom prst="rect">
            <a:avLst/>
          </a:prstGeom>
        </p:spPr>
        <p:txBody>
          <a:bodyPr wrap="none">
            <a:spAutoFit/>
          </a:bodyPr>
          <a:lstStyle/>
          <a:p>
            <a:r>
              <a:rPr lang="en-US" altLang="zh-TW" dirty="0">
                <a:latin typeface="Times New Roman" panose="02020603050405020304" pitchFamily="18" charset="0"/>
              </a:rPr>
              <a:t>B[0] = 1110 &amp; 1101 &amp;</a:t>
            </a:r>
            <a:r>
              <a:rPr lang="zh-TW" altLang="en-US" dirty="0">
                <a:latin typeface="Times New Roman" panose="02020603050405020304" pitchFamily="18" charset="0"/>
              </a:rPr>
              <a:t> </a:t>
            </a:r>
            <a:r>
              <a:rPr lang="en-US" altLang="zh-TW" dirty="0">
                <a:latin typeface="Times New Roman" panose="02020603050405020304" pitchFamily="18" charset="0"/>
              </a:rPr>
              <a:t>1000 = 1000 </a:t>
            </a:r>
          </a:p>
          <a:p>
            <a:r>
              <a:rPr lang="en-US" altLang="zh-TW" dirty="0">
                <a:latin typeface="Times New Roman" panose="02020603050405020304" pitchFamily="18" charset="0"/>
              </a:rPr>
              <a:t>B[1]</a:t>
            </a:r>
            <a:r>
              <a:rPr lang="zh-TW" altLang="en-US" dirty="0">
                <a:latin typeface="Times New Roman" panose="02020603050405020304" pitchFamily="18" charset="0"/>
              </a:rPr>
              <a:t> </a:t>
            </a:r>
            <a:r>
              <a:rPr lang="en-US" altLang="zh-TW" dirty="0">
                <a:latin typeface="Times New Roman" panose="02020603050405020304" pitchFamily="18" charset="0"/>
              </a:rPr>
              <a:t>=</a:t>
            </a:r>
            <a:r>
              <a:rPr lang="zh-TW" altLang="en-US" dirty="0">
                <a:latin typeface="Times New Roman" panose="02020603050405020304" pitchFamily="18" charset="0"/>
              </a:rPr>
              <a:t> </a:t>
            </a:r>
            <a:r>
              <a:rPr lang="en-US" altLang="zh-TW" dirty="0">
                <a:latin typeface="Times New Roman" panose="02020603050405020304" pitchFamily="18" charset="0"/>
              </a:rPr>
              <a:t>1101</a:t>
            </a:r>
            <a:r>
              <a:rPr lang="zh-TW" altLang="en-US" dirty="0">
                <a:latin typeface="Times New Roman" panose="02020603050405020304" pitchFamily="18" charset="0"/>
              </a:rPr>
              <a:t> </a:t>
            </a:r>
            <a:r>
              <a:rPr lang="en-US" altLang="zh-TW" dirty="0">
                <a:latin typeface="Times New Roman" panose="02020603050405020304" pitchFamily="18" charset="0"/>
              </a:rPr>
              <a:t>&amp;</a:t>
            </a:r>
            <a:r>
              <a:rPr lang="zh-TW" altLang="en-US" dirty="0">
                <a:latin typeface="Times New Roman" panose="02020603050405020304" pitchFamily="18" charset="0"/>
              </a:rPr>
              <a:t> </a:t>
            </a:r>
            <a:r>
              <a:rPr lang="en-US" altLang="zh-TW" dirty="0">
                <a:latin typeface="Times New Roman" panose="02020603050405020304" pitchFamily="18" charset="0"/>
              </a:rPr>
              <a:t>1110</a:t>
            </a:r>
            <a:r>
              <a:rPr lang="zh-TW" altLang="en-US" dirty="0">
                <a:latin typeface="Times New Roman" panose="02020603050405020304" pitchFamily="18" charset="0"/>
              </a:rPr>
              <a:t> </a:t>
            </a:r>
            <a:r>
              <a:rPr lang="en-US" altLang="zh-TW" dirty="0">
                <a:latin typeface="Times New Roman" panose="02020603050405020304" pitchFamily="18" charset="0"/>
              </a:rPr>
              <a:t>&amp;</a:t>
            </a:r>
            <a:r>
              <a:rPr lang="zh-TW" altLang="en-US" dirty="0">
                <a:latin typeface="Times New Roman" panose="02020603050405020304" pitchFamily="18" charset="0"/>
              </a:rPr>
              <a:t> </a:t>
            </a:r>
            <a:r>
              <a:rPr lang="en-US" altLang="zh-TW" dirty="0">
                <a:latin typeface="Times New Roman" panose="02020603050405020304" pitchFamily="18" charset="0"/>
              </a:rPr>
              <a:t>0111</a:t>
            </a:r>
            <a:r>
              <a:rPr lang="zh-TW" altLang="en-US" dirty="0">
                <a:latin typeface="Times New Roman" panose="02020603050405020304" pitchFamily="18" charset="0"/>
              </a:rPr>
              <a:t> </a:t>
            </a:r>
            <a:r>
              <a:rPr lang="en-US" altLang="zh-TW" dirty="0">
                <a:latin typeface="Times New Roman" panose="02020603050405020304" pitchFamily="18" charset="0"/>
              </a:rPr>
              <a:t>=</a:t>
            </a:r>
            <a:r>
              <a:rPr lang="zh-TW" altLang="en-US" dirty="0">
                <a:latin typeface="Times New Roman" panose="02020603050405020304" pitchFamily="18" charset="0"/>
              </a:rPr>
              <a:t> </a:t>
            </a:r>
            <a:r>
              <a:rPr lang="en-US" altLang="zh-TW" dirty="0">
                <a:latin typeface="Times New Roman" panose="02020603050405020304" pitchFamily="18" charset="0"/>
              </a:rPr>
              <a:t>0100</a:t>
            </a:r>
            <a:endParaRPr lang="zh-TW" altLang="en-US" dirty="0"/>
          </a:p>
        </p:txBody>
      </p:sp>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xmlns="" id="{64C43124-A4A1-4380-9080-B510DF0E3403}"/>
                  </a:ext>
                </a:extLst>
              </p:cNvPr>
              <p:cNvSpPr/>
              <p:nvPr/>
            </p:nvSpPr>
            <p:spPr>
              <a:xfrm>
                <a:off x="4277908" y="530462"/>
                <a:ext cx="4621330" cy="400110"/>
              </a:xfrm>
              <a:prstGeom prst="rect">
                <a:avLst/>
              </a:prstGeom>
            </p:spPr>
            <p:txBody>
              <a:bodyPr wrap="none">
                <a:spAutoFit/>
              </a:bodyPr>
              <a:lstStyle/>
              <a:p>
                <a:r>
                  <a:rPr lang="en-US" altLang="zh-TW" sz="2000" dirty="0">
                    <a:solidFill>
                      <a:srgbClr val="0070C0"/>
                    </a:solidFill>
                    <a:latin typeface="Times New Roman" panose="02020603050405020304" pitchFamily="18" charset="0"/>
                    <a:cs typeface="Times New Roman" panose="02020603050405020304" pitchFamily="18" charset="0"/>
                  </a:rPr>
                  <a:t>The length of B is </a:t>
                </a:r>
                <a14:m>
                  <m:oMath xmlns:m="http://schemas.openxmlformats.org/officeDocument/2006/math">
                    <m:r>
                      <a:rPr lang="en-US" altLang="zh-TW" sz="2000" b="0" i="1" smtClean="0">
                        <a:solidFill>
                          <a:srgbClr val="0070C0"/>
                        </a:solidFill>
                        <a:latin typeface="Cambria Math" panose="02040503050406030204" pitchFamily="18" charset="0"/>
                        <a:cs typeface="Times New Roman" panose="02020603050405020304" pitchFamily="18" charset="0"/>
                      </a:rPr>
                      <m:t>𝑚</m:t>
                    </m:r>
                  </m:oMath>
                </a14:m>
                <a:r>
                  <a:rPr lang="en-US" altLang="zh-TW" sz="2000" dirty="0">
                    <a:solidFill>
                      <a:srgbClr val="0070C0"/>
                    </a:solidFill>
                    <a:latin typeface="Times New Roman" panose="02020603050405020304" pitchFamily="18" charset="0"/>
                    <a:cs typeface="Times New Roman" panose="02020603050405020304" pitchFamily="18" charset="0"/>
                  </a:rPr>
                  <a:t> (max length of codes)</a:t>
                </a:r>
                <a:endParaRPr lang="zh-TW" altLang="en-US" sz="2000"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33" name="矩形 32">
                <a:extLst>
                  <a:ext uri="{FF2B5EF4-FFF2-40B4-BE49-F238E27FC236}">
                    <a16:creationId xmlns:a16="http://schemas.microsoft.com/office/drawing/2014/main" id="{64C43124-A4A1-4380-9080-B510DF0E3403}"/>
                  </a:ext>
                </a:extLst>
              </p:cNvPr>
              <p:cNvSpPr>
                <a:spLocks noRot="1" noChangeAspect="1" noMove="1" noResize="1" noEditPoints="1" noAdjustHandles="1" noChangeArrowheads="1" noChangeShapeType="1" noTextEdit="1"/>
              </p:cNvSpPr>
              <p:nvPr/>
            </p:nvSpPr>
            <p:spPr>
              <a:xfrm>
                <a:off x="4277908" y="530462"/>
                <a:ext cx="4621330" cy="400110"/>
              </a:xfrm>
              <a:prstGeom prst="rect">
                <a:avLst/>
              </a:prstGeom>
              <a:blipFill>
                <a:blip r:embed="rId7"/>
                <a:stretch>
                  <a:fillRect l="-1451" t="-7576" r="-264" b="-2575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381780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17</a:t>
            </a:fld>
            <a:endParaRPr lang="zh-TW" altLang="en-US"/>
          </a:p>
        </p:txBody>
      </p:sp>
      <p:sp>
        <p:nvSpPr>
          <p:cNvPr id="26" name="標題 1">
            <a:extLst>
              <a:ext uri="{FF2B5EF4-FFF2-40B4-BE49-F238E27FC236}">
                <a16:creationId xmlns:a16="http://schemas.microsoft.com/office/drawing/2014/main" xmlns="" id="{3F7B7D7F-2508-4F8C-BA36-C9A457FD3023}"/>
              </a:ext>
            </a:extLst>
          </p:cNvPr>
          <p:cNvSpPr>
            <a:spLocks noGrp="1"/>
          </p:cNvSpPr>
          <p:nvPr>
            <p:ph type="title"/>
          </p:nvPr>
        </p:nvSpPr>
        <p:spPr>
          <a:xfrm>
            <a:off x="471956" y="414725"/>
            <a:ext cx="7886700" cy="583367"/>
          </a:xfrm>
        </p:spPr>
        <p:txBody>
          <a:bodyPr>
            <a:noAutofit/>
          </a:bodyPr>
          <a:lstStyle/>
          <a:p>
            <a:pPr>
              <a:lnSpc>
                <a:spcPct val="150000"/>
              </a:lnSpc>
            </a:pPr>
            <a:r>
              <a:rPr lang="en-US" altLang="zh-TW" sz="3200" dirty="0">
                <a:latin typeface="Times New Roman" panose="02020603050405020304" pitchFamily="18" charset="0"/>
                <a:cs typeface="Times New Roman" panose="02020603050405020304" pitchFamily="18" charset="0"/>
              </a:rPr>
              <a:t>Searching</a:t>
            </a:r>
          </a:p>
        </p:txBody>
      </p:sp>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xmlns="" id="{590CC8A7-8CD3-4D42-B457-B6243D36DD1F}"/>
                  </a:ext>
                </a:extLst>
              </p:cNvPr>
              <p:cNvSpPr/>
              <p:nvPr/>
            </p:nvSpPr>
            <p:spPr>
              <a:xfrm>
                <a:off x="501748" y="1157890"/>
                <a:ext cx="8375922" cy="1815882"/>
              </a:xfrm>
              <a:prstGeom prst="rect">
                <a:avLst/>
              </a:prstGeom>
            </p:spPr>
            <p:txBody>
              <a:bodyPr wrap="square">
                <a:spAutoFit/>
              </a:bodyPr>
              <a:lstStyle/>
              <a:p>
                <a:pPr marL="342900" indent="-342900">
                  <a:buFont typeface="Arial" panose="020B0604020202020204" pitchFamily="34" charset="0"/>
                  <a:buChar char="•"/>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Bit-parallel algorithm: Vector D of length </a:t>
                </a: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𝑚</m:t>
                    </m:r>
                  </m:oMath>
                </a14:m>
                <a:endParaRPr lang="en-US" altLang="zh-TW" sz="2400" b="0" dirty="0">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buFont typeface="Arial" panose="020B0604020202020204" pitchFamily="34" charset="0"/>
                  <a:buChar char="•"/>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E</a:t>
                </a:r>
                <a:r>
                  <a:rPr lang="en-US" altLang="zh-TW" sz="2400" b="0" dirty="0">
                    <a:latin typeface="Times New Roman" panose="02020603050405020304" pitchFamily="18" charset="0"/>
                    <a:ea typeface="標楷體" panose="03000509000000000000" pitchFamily="65" charset="-120"/>
                    <a:cs typeface="Times New Roman" panose="02020603050405020304" pitchFamily="18" charset="0"/>
                  </a:rPr>
                  <a:t>ach bit is set to 1 initially</a:t>
                </a:r>
              </a:p>
              <a:p>
                <a:pPr marL="342900" indent="-342900">
                  <a:buFont typeface="Arial" panose="020B0604020202020204" pitchFamily="34" charset="0"/>
                  <a:buChar char="•"/>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For each word of T </a:t>
                </a:r>
              </a:p>
              <a:p>
                <a:pPr marL="800100" lvl="1" indent="-342900">
                  <a:buFont typeface="Arial" panose="020B0604020202020204" pitchFamily="34" charset="0"/>
                  <a:buChar char="•"/>
                </a:pP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Updating of D:</a:t>
                </a:r>
                <a:r>
                  <a:rPr lang="en-US" altLang="zh-TW" sz="2000"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 D = (D &lt;&lt; 1) | B[T[</a:t>
                </a:r>
                <a:r>
                  <a:rPr lang="en-US" altLang="zh-TW" sz="2000" dirty="0" err="1">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i</a:t>
                </a:r>
                <a:r>
                  <a:rPr lang="en-US" altLang="zh-TW" sz="2000"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a:t>
                </a:r>
              </a:p>
              <a:p>
                <a:pPr marL="800100" lvl="1" indent="-342900">
                  <a:buFont typeface="Arial" panose="020B0604020202020204" pitchFamily="34" charset="0"/>
                  <a:buChar char="•"/>
                </a:pP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Finally, </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若</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D</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 的 </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(m-1)</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位置</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 0, </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表示有</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P</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出現在</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T</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 的 </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i</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-m)</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位置</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16" name="矩形 15">
                <a:extLst>
                  <a:ext uri="{FF2B5EF4-FFF2-40B4-BE49-F238E27FC236}">
                    <a16:creationId xmlns:a16="http://schemas.microsoft.com/office/drawing/2014/main" id="{590CC8A7-8CD3-4D42-B457-B6243D36DD1F}"/>
                  </a:ext>
                </a:extLst>
              </p:cNvPr>
              <p:cNvSpPr>
                <a:spLocks noRot="1" noChangeAspect="1" noMove="1" noResize="1" noEditPoints="1" noAdjustHandles="1" noChangeArrowheads="1" noChangeShapeType="1" noTextEdit="1"/>
              </p:cNvSpPr>
              <p:nvPr/>
            </p:nvSpPr>
            <p:spPr>
              <a:xfrm>
                <a:off x="501748" y="1157890"/>
                <a:ext cx="8375922" cy="1815882"/>
              </a:xfrm>
              <a:prstGeom prst="rect">
                <a:avLst/>
              </a:prstGeom>
              <a:blipFill>
                <a:blip r:embed="rId3"/>
                <a:stretch>
                  <a:fillRect l="-946" t="-2685" b="-5034"/>
                </a:stretch>
              </a:blipFill>
            </p:spPr>
            <p:txBody>
              <a:bodyPr/>
              <a:lstStyle/>
              <a:p>
                <a:r>
                  <a:rPr lang="zh-TW" altLang="en-US">
                    <a:noFill/>
                  </a:rPr>
                  <a:t> </a:t>
                </a:r>
              </a:p>
            </p:txBody>
          </p:sp>
        </mc:Fallback>
      </mc:AlternateContent>
      <p:sp>
        <p:nvSpPr>
          <p:cNvPr id="17" name="內容版面配置區 6">
            <a:extLst>
              <a:ext uri="{FF2B5EF4-FFF2-40B4-BE49-F238E27FC236}">
                <a16:creationId xmlns:a16="http://schemas.microsoft.com/office/drawing/2014/main" xmlns="" id="{C379C94F-9E3E-4D1A-BACE-0F94C1866E77}"/>
              </a:ext>
            </a:extLst>
          </p:cNvPr>
          <p:cNvSpPr txBox="1">
            <a:spLocks/>
          </p:cNvSpPr>
          <p:nvPr/>
        </p:nvSpPr>
        <p:spPr>
          <a:xfrm>
            <a:off x="501748" y="2973772"/>
            <a:ext cx="465918" cy="7158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T:</a:t>
            </a:r>
          </a:p>
          <a:p>
            <a:pPr marL="0" indent="0">
              <a:lnSpc>
                <a:spcPct val="150000"/>
              </a:lnSpc>
              <a:buFont typeface="Arial" panose="020B0604020202020204" pitchFamily="34" charset="0"/>
              <a:buNone/>
            </a:pPr>
            <a:endParaRPr lang="en-US" altLang="zh-TW" sz="2400" dirty="0">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xmlns="" id="{1F697E6A-2C43-4602-AC75-84293C6F8C6D}"/>
              </a:ext>
            </a:extLst>
          </p:cNvPr>
          <p:cNvSpPr/>
          <p:nvPr/>
        </p:nvSpPr>
        <p:spPr>
          <a:xfrm>
            <a:off x="1109709" y="4073019"/>
            <a:ext cx="3637552" cy="586956"/>
          </a:xfrm>
          <a:prstGeom prst="rect">
            <a:avLst/>
          </a:prstGeom>
        </p:spPr>
        <p:txBody>
          <a:bodyPr wrap="square">
            <a:spAutoFit/>
          </a:bodyPr>
          <a:lstStyle/>
          <a:p>
            <a:pPr>
              <a:lnSpc>
                <a:spcPct val="150000"/>
              </a:lnSpc>
            </a:pPr>
            <a:r>
              <a:rPr lang="en-US" altLang="zh-TW" sz="2400" dirty="0">
                <a:latin typeface="Times New Roman" panose="02020603050405020304" pitchFamily="18" charset="0"/>
                <a:cs typeface="Times New Roman" panose="02020603050405020304" pitchFamily="18" charset="0"/>
              </a:rPr>
              <a:t>D =</a:t>
            </a:r>
            <a:r>
              <a:rPr lang="en-US" altLang="zh-TW" sz="2400" dirty="0">
                <a:latin typeface="Arial Black" panose="020B0A04020102020204" pitchFamily="34" charset="0"/>
                <a:cs typeface="AngsanaUPC" panose="020B0502040204020203" pitchFamily="18" charset="-34"/>
              </a:rPr>
              <a:t> 1110 | B[</a:t>
            </a:r>
            <a:r>
              <a:rPr lang="en-US" altLang="zh-TW" sz="2400" dirty="0">
                <a:solidFill>
                  <a:srgbClr val="FF0000"/>
                </a:solidFill>
                <a:latin typeface="Arial Black" panose="020B0A04020102020204" pitchFamily="34" charset="0"/>
                <a:cs typeface="AngsanaUPC" panose="020B0502040204020203" pitchFamily="18" charset="-34"/>
              </a:rPr>
              <a:t>0</a:t>
            </a:r>
            <a:r>
              <a:rPr lang="en-US" altLang="zh-TW" sz="2400" dirty="0">
                <a:latin typeface="Arial Black" panose="020B0A04020102020204" pitchFamily="34" charset="0"/>
                <a:cs typeface="AngsanaUPC" panose="020B0502040204020203" pitchFamily="18" charset="-34"/>
              </a:rPr>
              <a:t>]</a:t>
            </a:r>
          </a:p>
        </p:txBody>
      </p:sp>
      <p:sp>
        <p:nvSpPr>
          <p:cNvPr id="29" name="矩形 28">
            <a:extLst>
              <a:ext uri="{FF2B5EF4-FFF2-40B4-BE49-F238E27FC236}">
                <a16:creationId xmlns:a16="http://schemas.microsoft.com/office/drawing/2014/main" xmlns="" id="{493087BF-5222-486D-AFAF-7F6FAAE742AF}"/>
              </a:ext>
            </a:extLst>
          </p:cNvPr>
          <p:cNvSpPr/>
          <p:nvPr/>
        </p:nvSpPr>
        <p:spPr>
          <a:xfrm>
            <a:off x="471956" y="4073019"/>
            <a:ext cx="1553593" cy="586956"/>
          </a:xfrm>
          <a:prstGeom prst="rect">
            <a:avLst/>
          </a:prstGeom>
        </p:spPr>
        <p:txBody>
          <a:bodyPr wrap="square">
            <a:spAutoFit/>
          </a:bodyPr>
          <a:lstStyle/>
          <a:p>
            <a:pPr>
              <a:lnSpc>
                <a:spcPct val="150000"/>
              </a:lnSpc>
            </a:pPr>
            <a:r>
              <a:rPr lang="en-US" altLang="zh-TW" sz="2400" dirty="0">
                <a:latin typeface="Times New Roman" panose="02020603050405020304" pitchFamily="18" charset="0"/>
                <a:cs typeface="Times New Roman" panose="02020603050405020304" pitchFamily="18" charset="0"/>
              </a:rPr>
              <a:t>1</a:t>
            </a:r>
            <a:r>
              <a:rPr lang="en-US" altLang="zh-TW" sz="2400" baseline="30000" dirty="0">
                <a:latin typeface="Times New Roman" panose="02020603050405020304" pitchFamily="18" charset="0"/>
                <a:cs typeface="Times New Roman" panose="02020603050405020304" pitchFamily="18" charset="0"/>
              </a:rPr>
              <a:t>st</a:t>
            </a:r>
            <a:r>
              <a:rPr lang="en-US" altLang="zh-TW" sz="2400" dirty="0">
                <a:latin typeface="Times New Roman" panose="02020603050405020304" pitchFamily="18" charset="0"/>
                <a:cs typeface="Times New Roman" panose="02020603050405020304" pitchFamily="18" charset="0"/>
              </a:rPr>
              <a:t>:</a:t>
            </a:r>
            <a:endParaRPr lang="zh-TW" altLang="en-US" sz="2400" dirty="0">
              <a:solidFill>
                <a:srgbClr val="0070C0"/>
              </a:solidFill>
              <a:latin typeface="Arial Black" panose="020B0A04020102020204" pitchFamily="34" charset="0"/>
              <a:cs typeface="AngsanaUPC" panose="020B0502040204020203" pitchFamily="18" charset="-34"/>
            </a:endParaRPr>
          </a:p>
        </p:txBody>
      </p:sp>
      <p:sp>
        <p:nvSpPr>
          <p:cNvPr id="30" name="矩形 29">
            <a:extLst>
              <a:ext uri="{FF2B5EF4-FFF2-40B4-BE49-F238E27FC236}">
                <a16:creationId xmlns:a16="http://schemas.microsoft.com/office/drawing/2014/main" xmlns="" id="{9C1872A2-6F88-4AD1-A9F5-C7D1205CEB34}"/>
              </a:ext>
            </a:extLst>
          </p:cNvPr>
          <p:cNvSpPr/>
          <p:nvPr/>
        </p:nvSpPr>
        <p:spPr>
          <a:xfrm>
            <a:off x="1316815" y="4464102"/>
            <a:ext cx="3559986" cy="646331"/>
          </a:xfrm>
          <a:prstGeom prst="rect">
            <a:avLst/>
          </a:prstGeom>
        </p:spPr>
        <p:txBody>
          <a:bodyPr wrap="square">
            <a:spAutoFit/>
          </a:bodyPr>
          <a:lstStyle/>
          <a:p>
            <a:pPr>
              <a:lnSpc>
                <a:spcPct val="150000"/>
              </a:lnSpc>
            </a:pPr>
            <a:r>
              <a:rPr lang="en-US" altLang="zh-TW" sz="2400" dirty="0">
                <a:latin typeface="Times New Roman" panose="02020603050405020304" pitchFamily="18" charset="0"/>
                <a:cs typeface="Times New Roman" panose="02020603050405020304" pitchFamily="18" charset="0"/>
              </a:rPr>
              <a:t> =</a:t>
            </a:r>
            <a:r>
              <a:rPr lang="en-US" altLang="zh-TW" sz="2400" dirty="0">
                <a:latin typeface="Arial Black" panose="020B0A04020102020204" pitchFamily="34" charset="0"/>
                <a:cs typeface="AngsanaUPC" panose="020B0502040204020203" pitchFamily="18" charset="-34"/>
              </a:rPr>
              <a:t> 1110 | </a:t>
            </a:r>
            <a:r>
              <a:rPr lang="en-US" altLang="zh-TW" sz="2400" dirty="0" smtClean="0">
                <a:latin typeface="Arial Black" panose="020B0A04020102020204" pitchFamily="34" charset="0"/>
                <a:cs typeface="AngsanaUPC" panose="020B0502040204020203" pitchFamily="18" charset="-34"/>
              </a:rPr>
              <a:t>1000 </a:t>
            </a:r>
            <a:r>
              <a:rPr lang="en-US" altLang="zh-TW" sz="2400" dirty="0">
                <a:latin typeface="Times New Roman" panose="02020603050405020304" pitchFamily="18" charset="0"/>
                <a:cs typeface="Times New Roman" panose="02020603050405020304" pitchFamily="18" charset="0"/>
              </a:rPr>
              <a:t>= 1110</a:t>
            </a:r>
            <a:endParaRPr lang="en-US" altLang="zh-TW" sz="2400" dirty="0">
              <a:latin typeface="Arial Black" panose="020B0A04020102020204" pitchFamily="34" charset="0"/>
              <a:cs typeface="AngsanaUPC" panose="020B0502040204020203" pitchFamily="18" charset="-34"/>
            </a:endParaRPr>
          </a:p>
        </p:txBody>
      </p:sp>
      <p:sp>
        <p:nvSpPr>
          <p:cNvPr id="35" name="矩形 34">
            <a:extLst>
              <a:ext uri="{FF2B5EF4-FFF2-40B4-BE49-F238E27FC236}">
                <a16:creationId xmlns:a16="http://schemas.microsoft.com/office/drawing/2014/main" xmlns="" id="{E880786A-DBCF-4E12-BFB3-9AB6BF4B3C82}"/>
              </a:ext>
            </a:extLst>
          </p:cNvPr>
          <p:cNvSpPr/>
          <p:nvPr/>
        </p:nvSpPr>
        <p:spPr>
          <a:xfrm>
            <a:off x="1109708" y="4995151"/>
            <a:ext cx="3767093" cy="586956"/>
          </a:xfrm>
          <a:prstGeom prst="rect">
            <a:avLst/>
          </a:prstGeom>
        </p:spPr>
        <p:txBody>
          <a:bodyPr wrap="square">
            <a:spAutoFit/>
          </a:bodyPr>
          <a:lstStyle/>
          <a:p>
            <a:pPr>
              <a:lnSpc>
                <a:spcPct val="150000"/>
              </a:lnSpc>
            </a:pPr>
            <a:r>
              <a:rPr lang="en-US" altLang="zh-TW" sz="2400" dirty="0">
                <a:latin typeface="Times New Roman" panose="02020603050405020304" pitchFamily="18" charset="0"/>
                <a:cs typeface="Times New Roman" panose="02020603050405020304" pitchFamily="18" charset="0"/>
              </a:rPr>
              <a:t>D =</a:t>
            </a:r>
            <a:r>
              <a:rPr lang="en-US" altLang="zh-TW" sz="2400" dirty="0">
                <a:latin typeface="Arial Black" panose="020B0A04020102020204" pitchFamily="34" charset="0"/>
                <a:cs typeface="AngsanaUPC" panose="020B0502040204020203" pitchFamily="18" charset="-34"/>
              </a:rPr>
              <a:t> 1100 | B[</a:t>
            </a:r>
            <a:r>
              <a:rPr lang="en-US" altLang="zh-TW" sz="2400" dirty="0">
                <a:solidFill>
                  <a:srgbClr val="7030A0"/>
                </a:solidFill>
                <a:latin typeface="Arial Black" panose="020B0A04020102020204" pitchFamily="34" charset="0"/>
                <a:cs typeface="AngsanaUPC" panose="020B0502040204020203" pitchFamily="18" charset="-34"/>
              </a:rPr>
              <a:t>1</a:t>
            </a:r>
            <a:r>
              <a:rPr lang="en-US" altLang="zh-TW" sz="2400" dirty="0">
                <a:latin typeface="Arial Black" panose="020B0A04020102020204" pitchFamily="34" charset="0"/>
                <a:cs typeface="AngsanaUPC" panose="020B0502040204020203" pitchFamily="18" charset="-34"/>
              </a:rPr>
              <a:t>]</a:t>
            </a:r>
          </a:p>
        </p:txBody>
      </p:sp>
      <p:sp>
        <p:nvSpPr>
          <p:cNvPr id="36" name="矩形 35">
            <a:extLst>
              <a:ext uri="{FF2B5EF4-FFF2-40B4-BE49-F238E27FC236}">
                <a16:creationId xmlns:a16="http://schemas.microsoft.com/office/drawing/2014/main" xmlns="" id="{C7BB4627-F844-443F-B8F3-CF6D071CE72D}"/>
              </a:ext>
            </a:extLst>
          </p:cNvPr>
          <p:cNvSpPr/>
          <p:nvPr/>
        </p:nvSpPr>
        <p:spPr>
          <a:xfrm>
            <a:off x="471956" y="4995151"/>
            <a:ext cx="1553593" cy="586956"/>
          </a:xfrm>
          <a:prstGeom prst="rect">
            <a:avLst/>
          </a:prstGeom>
        </p:spPr>
        <p:txBody>
          <a:bodyPr wrap="square">
            <a:spAutoFit/>
          </a:bodyPr>
          <a:lstStyle/>
          <a:p>
            <a:pPr>
              <a:lnSpc>
                <a:spcPct val="150000"/>
              </a:lnSpc>
            </a:pPr>
            <a:r>
              <a:rPr lang="en-US" altLang="zh-TW" sz="2400" dirty="0">
                <a:latin typeface="Times New Roman" panose="02020603050405020304" pitchFamily="18" charset="0"/>
                <a:cs typeface="Times New Roman" panose="02020603050405020304" pitchFamily="18" charset="0"/>
              </a:rPr>
              <a:t>2</a:t>
            </a:r>
            <a:r>
              <a:rPr lang="en-US" altLang="zh-TW" sz="2400" baseline="30000" dirty="0">
                <a:latin typeface="Times New Roman" panose="02020603050405020304" pitchFamily="18" charset="0"/>
                <a:cs typeface="Times New Roman" panose="02020603050405020304" pitchFamily="18" charset="0"/>
              </a:rPr>
              <a:t>nd</a:t>
            </a:r>
            <a:r>
              <a:rPr lang="en-US" altLang="zh-TW" sz="2400" dirty="0">
                <a:latin typeface="Times New Roman" panose="02020603050405020304" pitchFamily="18" charset="0"/>
                <a:cs typeface="Times New Roman" panose="02020603050405020304" pitchFamily="18" charset="0"/>
              </a:rPr>
              <a:t>:</a:t>
            </a:r>
            <a:endParaRPr lang="zh-TW" altLang="en-US" sz="2400" dirty="0">
              <a:solidFill>
                <a:srgbClr val="0070C0"/>
              </a:solidFill>
              <a:latin typeface="Arial Black" panose="020B0A04020102020204" pitchFamily="34" charset="0"/>
              <a:cs typeface="AngsanaUPC" panose="020B0502040204020203" pitchFamily="18" charset="-34"/>
            </a:endParaRPr>
          </a:p>
        </p:txBody>
      </p:sp>
      <p:sp>
        <p:nvSpPr>
          <p:cNvPr id="37" name="矩形 36">
            <a:extLst>
              <a:ext uri="{FF2B5EF4-FFF2-40B4-BE49-F238E27FC236}">
                <a16:creationId xmlns:a16="http://schemas.microsoft.com/office/drawing/2014/main" xmlns="" id="{D8EB40A1-4CB1-45A5-B152-CE3D6A04A5E4}"/>
              </a:ext>
            </a:extLst>
          </p:cNvPr>
          <p:cNvSpPr/>
          <p:nvPr/>
        </p:nvSpPr>
        <p:spPr>
          <a:xfrm>
            <a:off x="1423209" y="5390545"/>
            <a:ext cx="3453592" cy="586956"/>
          </a:xfrm>
          <a:prstGeom prst="rect">
            <a:avLst/>
          </a:prstGeom>
        </p:spPr>
        <p:txBody>
          <a:bodyPr wrap="square">
            <a:spAutoFit/>
          </a:bodyPr>
          <a:lstStyle/>
          <a:p>
            <a:pPr>
              <a:lnSpc>
                <a:spcPct val="150000"/>
              </a:lnSpc>
            </a:pPr>
            <a:r>
              <a:rPr lang="en-US" altLang="zh-TW" sz="2400" dirty="0">
                <a:latin typeface="Times New Roman" panose="02020603050405020304" pitchFamily="18" charset="0"/>
                <a:cs typeface="Times New Roman" panose="02020603050405020304" pitchFamily="18" charset="0"/>
              </a:rPr>
              <a:t>=</a:t>
            </a:r>
            <a:r>
              <a:rPr lang="en-US" altLang="zh-TW" sz="2400" dirty="0">
                <a:latin typeface="Arial Black" panose="020B0A04020102020204" pitchFamily="34" charset="0"/>
                <a:cs typeface="AngsanaUPC" panose="020B0502040204020203" pitchFamily="18" charset="-34"/>
              </a:rPr>
              <a:t> 1100 | 0100 </a:t>
            </a:r>
            <a:r>
              <a:rPr lang="en-US" altLang="zh-TW" sz="2400" dirty="0">
                <a:latin typeface="Times New Roman" panose="02020603050405020304" pitchFamily="18" charset="0"/>
                <a:cs typeface="Times New Roman" panose="02020603050405020304" pitchFamily="18" charset="0"/>
              </a:rPr>
              <a:t>= 1100</a:t>
            </a:r>
            <a:endParaRPr lang="en-US" altLang="zh-TW" sz="2400" dirty="0">
              <a:latin typeface="Arial Black" panose="020B0A04020102020204" pitchFamily="34" charset="0"/>
              <a:cs typeface="AngsanaUPC" panose="020B0502040204020203" pitchFamily="18" charset="-34"/>
            </a:endParaRPr>
          </a:p>
        </p:txBody>
      </p:sp>
      <p:sp>
        <p:nvSpPr>
          <p:cNvPr id="6" name="矩形 5">
            <a:extLst>
              <a:ext uri="{FF2B5EF4-FFF2-40B4-BE49-F238E27FC236}">
                <a16:creationId xmlns:a16="http://schemas.microsoft.com/office/drawing/2014/main" xmlns="" id="{B508DF69-A807-42C4-959A-F248AF184B66}"/>
              </a:ext>
            </a:extLst>
          </p:cNvPr>
          <p:cNvSpPr/>
          <p:nvPr/>
        </p:nvSpPr>
        <p:spPr>
          <a:xfrm>
            <a:off x="6355080" y="3105834"/>
            <a:ext cx="1295400" cy="646331"/>
          </a:xfrm>
          <a:prstGeom prst="rect">
            <a:avLst/>
          </a:prstGeom>
        </p:spPr>
        <p:txBody>
          <a:bodyPr wrap="square">
            <a:spAutoFit/>
          </a:bodyPr>
          <a:lstStyle/>
          <a:p>
            <a:pPr algn="ctr"/>
            <a:r>
              <a:rPr lang="en-US" altLang="zh-TW" dirty="0">
                <a:solidFill>
                  <a:srgbClr val="002060"/>
                </a:solidFill>
                <a:latin typeface="Times New Roman" panose="02020603050405020304" pitchFamily="18" charset="0"/>
              </a:rPr>
              <a:t>B[0]=1000</a:t>
            </a:r>
          </a:p>
          <a:p>
            <a:pPr algn="ctr"/>
            <a:r>
              <a:rPr lang="en-US" altLang="zh-TW" dirty="0">
                <a:solidFill>
                  <a:srgbClr val="002060"/>
                </a:solidFill>
                <a:latin typeface="Times New Roman" panose="02020603050405020304" pitchFamily="18" charset="0"/>
              </a:rPr>
              <a:t>B[1]=0100</a:t>
            </a:r>
            <a:endParaRPr lang="zh-TW" altLang="en-US" dirty="0">
              <a:solidFill>
                <a:srgbClr val="002060"/>
              </a:solidFill>
              <a:latin typeface="Times New Roman" panose="02020603050405020304" pitchFamily="18" charset="0"/>
            </a:endParaRPr>
          </a:p>
        </p:txBody>
      </p:sp>
      <p:sp>
        <p:nvSpPr>
          <p:cNvPr id="39" name="矩形 38">
            <a:extLst>
              <a:ext uri="{FF2B5EF4-FFF2-40B4-BE49-F238E27FC236}">
                <a16:creationId xmlns:a16="http://schemas.microsoft.com/office/drawing/2014/main" xmlns="" id="{637982FD-3B4F-46E6-BF1C-325D30C532D0}"/>
              </a:ext>
            </a:extLst>
          </p:cNvPr>
          <p:cNvSpPr/>
          <p:nvPr/>
        </p:nvSpPr>
        <p:spPr>
          <a:xfrm>
            <a:off x="967666" y="2973460"/>
            <a:ext cx="389850" cy="588879"/>
          </a:xfrm>
          <a:prstGeom prst="rect">
            <a:avLst/>
          </a:prstGeom>
        </p:spPr>
        <p:txBody>
          <a:bodyPr wrap="none">
            <a:spAutoFit/>
          </a:bodyPr>
          <a:lstStyle/>
          <a:p>
            <a:pPr>
              <a:lnSpc>
                <a:spcPct val="150000"/>
              </a:lnSpc>
            </a:pPr>
            <a:r>
              <a:rPr lang="en-US" altLang="zh-TW" sz="2400" dirty="0">
                <a:latin typeface="Arial Black" panose="020B0A04020102020204" pitchFamily="34" charset="0"/>
                <a:cs typeface="AngsanaUPC" panose="020B0502040204020203" pitchFamily="18" charset="-34"/>
              </a:rPr>
              <a:t>0</a:t>
            </a:r>
            <a:endParaRPr lang="zh-TW" altLang="en-US" sz="2400" dirty="0">
              <a:solidFill>
                <a:srgbClr val="0070C0"/>
              </a:solidFill>
              <a:latin typeface="Arial Black" panose="020B0A04020102020204" pitchFamily="34" charset="0"/>
              <a:cs typeface="AngsanaUPC" panose="020B0502040204020203" pitchFamily="18" charset="-34"/>
            </a:endParaRPr>
          </a:p>
        </p:txBody>
      </p:sp>
      <p:sp>
        <p:nvSpPr>
          <p:cNvPr id="40" name="矩形 39">
            <a:extLst>
              <a:ext uri="{FF2B5EF4-FFF2-40B4-BE49-F238E27FC236}">
                <a16:creationId xmlns:a16="http://schemas.microsoft.com/office/drawing/2014/main" xmlns="" id="{A71F4BF0-45FA-4F22-A002-32DBBF677D9E}"/>
              </a:ext>
            </a:extLst>
          </p:cNvPr>
          <p:cNvSpPr/>
          <p:nvPr/>
        </p:nvSpPr>
        <p:spPr>
          <a:xfrm>
            <a:off x="1171958" y="2973460"/>
            <a:ext cx="389850" cy="588879"/>
          </a:xfrm>
          <a:prstGeom prst="rect">
            <a:avLst/>
          </a:prstGeom>
        </p:spPr>
        <p:txBody>
          <a:bodyPr wrap="none">
            <a:spAutoFit/>
          </a:bodyPr>
          <a:lstStyle/>
          <a:p>
            <a:pPr>
              <a:lnSpc>
                <a:spcPct val="150000"/>
              </a:lnSpc>
            </a:pPr>
            <a:r>
              <a:rPr lang="en-US" altLang="zh-TW" sz="2400" dirty="0">
                <a:latin typeface="Arial Black" panose="020B0A04020102020204" pitchFamily="34" charset="0"/>
                <a:cs typeface="AngsanaUPC" panose="020B0502040204020203" pitchFamily="18" charset="-34"/>
              </a:rPr>
              <a:t>1</a:t>
            </a:r>
            <a:endParaRPr lang="zh-TW" altLang="en-US" sz="2400" dirty="0">
              <a:solidFill>
                <a:srgbClr val="0070C0"/>
              </a:solidFill>
              <a:latin typeface="Arial Black" panose="020B0A04020102020204" pitchFamily="34" charset="0"/>
              <a:cs typeface="AngsanaUPC" panose="020B0502040204020203" pitchFamily="18" charset="-34"/>
            </a:endParaRPr>
          </a:p>
        </p:txBody>
      </p:sp>
      <p:sp>
        <p:nvSpPr>
          <p:cNvPr id="41" name="矩形 40">
            <a:extLst>
              <a:ext uri="{FF2B5EF4-FFF2-40B4-BE49-F238E27FC236}">
                <a16:creationId xmlns:a16="http://schemas.microsoft.com/office/drawing/2014/main" xmlns="" id="{1C29F5DA-BDA6-47A6-A248-1C8DCAB340EE}"/>
              </a:ext>
            </a:extLst>
          </p:cNvPr>
          <p:cNvSpPr/>
          <p:nvPr/>
        </p:nvSpPr>
        <p:spPr>
          <a:xfrm>
            <a:off x="1473476" y="2979602"/>
            <a:ext cx="4083169" cy="588879"/>
          </a:xfrm>
          <a:prstGeom prst="rect">
            <a:avLst/>
          </a:prstGeom>
        </p:spPr>
        <p:txBody>
          <a:bodyPr wrap="none">
            <a:spAutoFit/>
          </a:bodyPr>
          <a:lstStyle/>
          <a:p>
            <a:pPr>
              <a:lnSpc>
                <a:spcPct val="150000"/>
              </a:lnSpc>
            </a:pPr>
            <a:r>
              <a:rPr lang="en-US" altLang="zh-TW" sz="2400" dirty="0">
                <a:latin typeface="Arial Black" panose="020B0A04020102020204" pitchFamily="34" charset="0"/>
                <a:cs typeface="AngsanaUPC" panose="020B0502040204020203" pitchFamily="18" charset="-34"/>
              </a:rPr>
              <a:t>10 01 01 01 10 0001 01</a:t>
            </a:r>
            <a:endParaRPr lang="zh-TW" altLang="en-US" sz="2400" dirty="0">
              <a:solidFill>
                <a:srgbClr val="0070C0"/>
              </a:solidFill>
              <a:latin typeface="Arial Black" panose="020B0A04020102020204" pitchFamily="34" charset="0"/>
              <a:cs typeface="AngsanaUPC" panose="020B0502040204020203" pitchFamily="18" charset="-34"/>
            </a:endParaRPr>
          </a:p>
        </p:txBody>
      </p:sp>
      <p:cxnSp>
        <p:nvCxnSpPr>
          <p:cNvPr id="8" name="直線單箭頭接點 7">
            <a:extLst>
              <a:ext uri="{FF2B5EF4-FFF2-40B4-BE49-F238E27FC236}">
                <a16:creationId xmlns:a16="http://schemas.microsoft.com/office/drawing/2014/main" xmlns="" id="{05310FC0-E57C-43DC-A46B-101D94D93868}"/>
              </a:ext>
            </a:extLst>
          </p:cNvPr>
          <p:cNvCxnSpPr>
            <a:cxnSpLocks/>
          </p:cNvCxnSpPr>
          <p:nvPr/>
        </p:nvCxnSpPr>
        <p:spPr>
          <a:xfrm>
            <a:off x="4472940" y="5859780"/>
            <a:ext cx="403861" cy="253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矩形 41">
            <a:extLst>
              <a:ext uri="{FF2B5EF4-FFF2-40B4-BE49-F238E27FC236}">
                <a16:creationId xmlns:a16="http://schemas.microsoft.com/office/drawing/2014/main" xmlns="" id="{C69B04B6-FFBA-4852-B6E0-6AF446B5D145}"/>
              </a:ext>
            </a:extLst>
          </p:cNvPr>
          <p:cNvSpPr/>
          <p:nvPr/>
        </p:nvSpPr>
        <p:spPr>
          <a:xfrm>
            <a:off x="4876801" y="5859780"/>
            <a:ext cx="3483862" cy="369332"/>
          </a:xfrm>
          <a:prstGeom prst="rect">
            <a:avLst/>
          </a:prstGeom>
        </p:spPr>
        <p:txBody>
          <a:bodyPr wrap="square">
            <a:spAutoFit/>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有</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P(code:01, ABAA)</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出現在</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T</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當中</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1035425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3" presetClass="emph" presetSubtype="2" fill="hold" nodeType="withEffect">
                                  <p:stCondLst>
                                    <p:cond delay="0"/>
                                  </p:stCondLst>
                                  <p:childTnLst>
                                    <p:animClr clrSpc="rgb" dir="cw">
                                      <p:cBhvr override="childStyle">
                                        <p:cTn id="15" dur="500" fill="hold"/>
                                        <p:tgtEl>
                                          <p:spTgt spid="39">
                                            <p:txEl>
                                              <p:pRg st="0" end="0"/>
                                            </p:txEl>
                                          </p:spTgt>
                                        </p:tgtEl>
                                        <p:attrNameLst>
                                          <p:attrName>style.color</p:attrName>
                                        </p:attrNameLst>
                                      </p:cBhvr>
                                      <p:to>
                                        <a:srgbClr val="FF1F1F"/>
                                      </p:to>
                                    </p:animClr>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fade">
                                      <p:cBhvr>
                                        <p:cTn id="20" dur="500"/>
                                        <p:tgtEl>
                                          <p:spTgt spid="3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fade">
                                      <p:cBhvr>
                                        <p:cTn id="23" dur="500"/>
                                        <p:tgtEl>
                                          <p:spTgt spid="3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fade">
                                      <p:cBhvr>
                                        <p:cTn id="26" dur="500"/>
                                        <p:tgtEl>
                                          <p:spTgt spid="37"/>
                                        </p:tgtEl>
                                      </p:cBhvr>
                                    </p:animEffect>
                                  </p:childTnLst>
                                </p:cTn>
                              </p:par>
                              <p:par>
                                <p:cTn id="27" presetID="3" presetClass="emph" presetSubtype="2" fill="hold" nodeType="withEffect">
                                  <p:stCondLst>
                                    <p:cond delay="0"/>
                                  </p:stCondLst>
                                  <p:childTnLst>
                                    <p:animClr clrSpc="rgb" dir="cw">
                                      <p:cBhvr override="childStyle">
                                        <p:cTn id="28" dur="500" fill="hold"/>
                                        <p:tgtEl>
                                          <p:spTgt spid="40">
                                            <p:txEl>
                                              <p:pRg st="0" end="0"/>
                                            </p:txEl>
                                          </p:spTgt>
                                        </p:tgtEl>
                                        <p:attrNameLst>
                                          <p:attrName>style.color</p:attrName>
                                        </p:attrNameLst>
                                      </p:cBhvr>
                                      <p:to>
                                        <a:srgbClr val="7030A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9" grpId="0"/>
      <p:bldP spid="30" grpId="0"/>
      <p:bldP spid="35" grpId="0"/>
      <p:bldP spid="36" grpId="0"/>
      <p:bldP spid="3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18</a:t>
            </a:fld>
            <a:endParaRPr lang="zh-TW" altLang="en-US"/>
          </a:p>
        </p:txBody>
      </p:sp>
      <p:sp>
        <p:nvSpPr>
          <p:cNvPr id="26" name="標題 1">
            <a:extLst>
              <a:ext uri="{FF2B5EF4-FFF2-40B4-BE49-F238E27FC236}">
                <a16:creationId xmlns:a16="http://schemas.microsoft.com/office/drawing/2014/main" xmlns="" id="{3F7B7D7F-2508-4F8C-BA36-C9A457FD3023}"/>
              </a:ext>
            </a:extLst>
          </p:cNvPr>
          <p:cNvSpPr>
            <a:spLocks noGrp="1"/>
          </p:cNvSpPr>
          <p:nvPr>
            <p:ph type="title"/>
          </p:nvPr>
        </p:nvSpPr>
        <p:spPr>
          <a:xfrm>
            <a:off x="471956" y="414725"/>
            <a:ext cx="7886700" cy="583367"/>
          </a:xfrm>
        </p:spPr>
        <p:txBody>
          <a:bodyPr>
            <a:noAutofit/>
          </a:bodyPr>
          <a:lstStyle/>
          <a:p>
            <a:pPr>
              <a:lnSpc>
                <a:spcPct val="150000"/>
              </a:lnSpc>
            </a:pPr>
            <a:r>
              <a:rPr lang="en-US" altLang="zh-TW" sz="3200" dirty="0">
                <a:latin typeface="Times New Roman" panose="02020603050405020304" pitchFamily="18" charset="0"/>
                <a:cs typeface="Times New Roman" panose="02020603050405020304" pitchFamily="18" charset="0"/>
              </a:rPr>
              <a:t>Searching</a:t>
            </a:r>
          </a:p>
        </p:txBody>
      </p:sp>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xmlns="" id="{590CC8A7-8CD3-4D42-B457-B6243D36DD1F}"/>
                  </a:ext>
                </a:extLst>
              </p:cNvPr>
              <p:cNvSpPr/>
              <p:nvPr/>
            </p:nvSpPr>
            <p:spPr>
              <a:xfrm>
                <a:off x="501748" y="1157890"/>
                <a:ext cx="8375922" cy="1815882"/>
              </a:xfrm>
              <a:prstGeom prst="rect">
                <a:avLst/>
              </a:prstGeom>
            </p:spPr>
            <p:txBody>
              <a:bodyPr wrap="square">
                <a:spAutoFit/>
              </a:bodyPr>
              <a:lstStyle/>
              <a:p>
                <a:pPr marL="342900" indent="-342900">
                  <a:buFont typeface="Arial" panose="020B0604020202020204" pitchFamily="34" charset="0"/>
                  <a:buChar char="•"/>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Bit-parallel algorithm: Vector D of length </a:t>
                </a: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𝑚</m:t>
                    </m:r>
                  </m:oMath>
                </a14:m>
                <a:endParaRPr lang="en-US" altLang="zh-TW" sz="2400" b="0" dirty="0">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buFont typeface="Arial" panose="020B0604020202020204" pitchFamily="34" charset="0"/>
                  <a:buChar char="•"/>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E</a:t>
                </a:r>
                <a:r>
                  <a:rPr lang="en-US" altLang="zh-TW" sz="2400" b="0" dirty="0">
                    <a:latin typeface="Times New Roman" panose="02020603050405020304" pitchFamily="18" charset="0"/>
                    <a:ea typeface="標楷體" panose="03000509000000000000" pitchFamily="65" charset="-120"/>
                    <a:cs typeface="Times New Roman" panose="02020603050405020304" pitchFamily="18" charset="0"/>
                  </a:rPr>
                  <a:t>ach bit is set to 1 initially</a:t>
                </a:r>
              </a:p>
              <a:p>
                <a:pPr marL="342900" indent="-342900">
                  <a:buFont typeface="Arial" panose="020B0604020202020204" pitchFamily="34" charset="0"/>
                  <a:buChar char="•"/>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For each word of T </a:t>
                </a:r>
              </a:p>
              <a:p>
                <a:pPr marL="800100" lvl="1" indent="-342900">
                  <a:buFont typeface="Arial" panose="020B0604020202020204" pitchFamily="34" charset="0"/>
                  <a:buChar char="•"/>
                </a:pP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Updating of D:</a:t>
                </a:r>
                <a:r>
                  <a:rPr lang="en-US" altLang="zh-TW" sz="2000"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 D = (D &lt;&lt; 1) | B[T[</a:t>
                </a:r>
                <a:r>
                  <a:rPr lang="en-US" altLang="zh-TW" sz="2000" dirty="0" err="1">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i</a:t>
                </a:r>
                <a:r>
                  <a:rPr lang="en-US" altLang="zh-TW" sz="2000"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a:t>
                </a:r>
              </a:p>
              <a:p>
                <a:pPr marL="800100" lvl="1" indent="-342900">
                  <a:buFont typeface="Arial" panose="020B0604020202020204" pitchFamily="34" charset="0"/>
                  <a:buChar char="•"/>
                </a:pP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Finally, </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若</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D</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 的 </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(m-1)</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位置</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 0, </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表示有</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P</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出現在</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T</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 的 </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i</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-m)</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位置</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16" name="矩形 15">
                <a:extLst>
                  <a:ext uri="{FF2B5EF4-FFF2-40B4-BE49-F238E27FC236}">
                    <a16:creationId xmlns:a16="http://schemas.microsoft.com/office/drawing/2014/main" id="{590CC8A7-8CD3-4D42-B457-B6243D36DD1F}"/>
                  </a:ext>
                </a:extLst>
              </p:cNvPr>
              <p:cNvSpPr>
                <a:spLocks noRot="1" noChangeAspect="1" noMove="1" noResize="1" noEditPoints="1" noAdjustHandles="1" noChangeArrowheads="1" noChangeShapeType="1" noTextEdit="1"/>
              </p:cNvSpPr>
              <p:nvPr/>
            </p:nvSpPr>
            <p:spPr>
              <a:xfrm>
                <a:off x="501748" y="1157890"/>
                <a:ext cx="8375922" cy="1815882"/>
              </a:xfrm>
              <a:prstGeom prst="rect">
                <a:avLst/>
              </a:prstGeom>
              <a:blipFill>
                <a:blip r:embed="rId3"/>
                <a:stretch>
                  <a:fillRect l="-946" t="-2685" b="-5034"/>
                </a:stretch>
              </a:blipFill>
            </p:spPr>
            <p:txBody>
              <a:bodyPr/>
              <a:lstStyle/>
              <a:p>
                <a:r>
                  <a:rPr lang="zh-TW" altLang="en-US">
                    <a:noFill/>
                  </a:rPr>
                  <a:t> </a:t>
                </a:r>
              </a:p>
            </p:txBody>
          </p:sp>
        </mc:Fallback>
      </mc:AlternateContent>
      <p:sp>
        <p:nvSpPr>
          <p:cNvPr id="17" name="內容版面配置區 6">
            <a:extLst>
              <a:ext uri="{FF2B5EF4-FFF2-40B4-BE49-F238E27FC236}">
                <a16:creationId xmlns:a16="http://schemas.microsoft.com/office/drawing/2014/main" xmlns="" id="{C379C94F-9E3E-4D1A-BACE-0F94C1866E77}"/>
              </a:ext>
            </a:extLst>
          </p:cNvPr>
          <p:cNvSpPr txBox="1">
            <a:spLocks/>
          </p:cNvSpPr>
          <p:nvPr/>
        </p:nvSpPr>
        <p:spPr>
          <a:xfrm>
            <a:off x="501748" y="2973772"/>
            <a:ext cx="465918" cy="7158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T:</a:t>
            </a:r>
          </a:p>
          <a:p>
            <a:pPr marL="0" indent="0">
              <a:lnSpc>
                <a:spcPct val="150000"/>
              </a:lnSpc>
              <a:buFont typeface="Arial" panose="020B0604020202020204" pitchFamily="34" charset="0"/>
              <a:buNone/>
            </a:pPr>
            <a:endParaRPr lang="en-US" altLang="zh-TW" sz="2400" dirty="0">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xmlns="" id="{1F697E6A-2C43-4602-AC75-84293C6F8C6D}"/>
              </a:ext>
            </a:extLst>
          </p:cNvPr>
          <p:cNvSpPr/>
          <p:nvPr/>
        </p:nvSpPr>
        <p:spPr>
          <a:xfrm>
            <a:off x="1109709" y="4073019"/>
            <a:ext cx="3637552" cy="586956"/>
          </a:xfrm>
          <a:prstGeom prst="rect">
            <a:avLst/>
          </a:prstGeom>
        </p:spPr>
        <p:txBody>
          <a:bodyPr wrap="square">
            <a:spAutoFit/>
          </a:bodyPr>
          <a:lstStyle/>
          <a:p>
            <a:pPr>
              <a:lnSpc>
                <a:spcPct val="150000"/>
              </a:lnSpc>
            </a:pPr>
            <a:r>
              <a:rPr lang="en-US" altLang="zh-TW" sz="2400" dirty="0">
                <a:latin typeface="Times New Roman" panose="02020603050405020304" pitchFamily="18" charset="0"/>
                <a:cs typeface="Times New Roman" panose="02020603050405020304" pitchFamily="18" charset="0"/>
              </a:rPr>
              <a:t>D =</a:t>
            </a:r>
            <a:r>
              <a:rPr lang="en-US" altLang="zh-TW" sz="2400" dirty="0">
                <a:latin typeface="Arial Black" panose="020B0A04020102020204" pitchFamily="34" charset="0"/>
                <a:cs typeface="AngsanaUPC" panose="020B0502040204020203" pitchFamily="18" charset="-34"/>
              </a:rPr>
              <a:t> 1110 | B[</a:t>
            </a:r>
            <a:r>
              <a:rPr lang="en-US" altLang="zh-TW" sz="2400" dirty="0">
                <a:solidFill>
                  <a:srgbClr val="FF0000"/>
                </a:solidFill>
                <a:latin typeface="Arial Black" panose="020B0A04020102020204" pitchFamily="34" charset="0"/>
                <a:cs typeface="AngsanaUPC" panose="020B0502040204020203" pitchFamily="18" charset="-34"/>
              </a:rPr>
              <a:t>1</a:t>
            </a:r>
            <a:r>
              <a:rPr lang="en-US" altLang="zh-TW" sz="2400" dirty="0">
                <a:latin typeface="Arial Black" panose="020B0A04020102020204" pitchFamily="34" charset="0"/>
                <a:cs typeface="AngsanaUPC" panose="020B0502040204020203" pitchFamily="18" charset="-34"/>
              </a:rPr>
              <a:t>]</a:t>
            </a:r>
          </a:p>
        </p:txBody>
      </p:sp>
      <p:sp>
        <p:nvSpPr>
          <p:cNvPr id="29" name="矩形 28">
            <a:extLst>
              <a:ext uri="{FF2B5EF4-FFF2-40B4-BE49-F238E27FC236}">
                <a16:creationId xmlns:a16="http://schemas.microsoft.com/office/drawing/2014/main" xmlns="" id="{493087BF-5222-486D-AFAF-7F6FAAE742AF}"/>
              </a:ext>
            </a:extLst>
          </p:cNvPr>
          <p:cNvSpPr/>
          <p:nvPr/>
        </p:nvSpPr>
        <p:spPr>
          <a:xfrm>
            <a:off x="471956" y="4073019"/>
            <a:ext cx="1553593" cy="586956"/>
          </a:xfrm>
          <a:prstGeom prst="rect">
            <a:avLst/>
          </a:prstGeom>
        </p:spPr>
        <p:txBody>
          <a:bodyPr wrap="square">
            <a:spAutoFit/>
          </a:bodyPr>
          <a:lstStyle/>
          <a:p>
            <a:pPr>
              <a:lnSpc>
                <a:spcPct val="150000"/>
              </a:lnSpc>
            </a:pPr>
            <a:r>
              <a:rPr lang="en-US" altLang="zh-TW" sz="2400" dirty="0">
                <a:latin typeface="Times New Roman" panose="02020603050405020304" pitchFamily="18" charset="0"/>
                <a:cs typeface="Times New Roman" panose="02020603050405020304" pitchFamily="18" charset="0"/>
              </a:rPr>
              <a:t>1</a:t>
            </a:r>
            <a:r>
              <a:rPr lang="en-US" altLang="zh-TW" sz="2400" baseline="30000" dirty="0">
                <a:latin typeface="Times New Roman" panose="02020603050405020304" pitchFamily="18" charset="0"/>
                <a:cs typeface="Times New Roman" panose="02020603050405020304" pitchFamily="18" charset="0"/>
              </a:rPr>
              <a:t>st</a:t>
            </a:r>
            <a:r>
              <a:rPr lang="en-US" altLang="zh-TW" sz="2400" dirty="0">
                <a:latin typeface="Times New Roman" panose="02020603050405020304" pitchFamily="18" charset="0"/>
                <a:cs typeface="Times New Roman" panose="02020603050405020304" pitchFamily="18" charset="0"/>
              </a:rPr>
              <a:t>:</a:t>
            </a:r>
            <a:endParaRPr lang="zh-TW" altLang="en-US" sz="2400" dirty="0">
              <a:solidFill>
                <a:srgbClr val="0070C0"/>
              </a:solidFill>
              <a:latin typeface="Arial Black" panose="020B0A04020102020204" pitchFamily="34" charset="0"/>
              <a:cs typeface="AngsanaUPC" panose="020B0502040204020203" pitchFamily="18" charset="-34"/>
            </a:endParaRPr>
          </a:p>
        </p:txBody>
      </p:sp>
      <p:sp>
        <p:nvSpPr>
          <p:cNvPr id="30" name="矩形 29">
            <a:extLst>
              <a:ext uri="{FF2B5EF4-FFF2-40B4-BE49-F238E27FC236}">
                <a16:creationId xmlns:a16="http://schemas.microsoft.com/office/drawing/2014/main" xmlns="" id="{9C1872A2-6F88-4AD1-A9F5-C7D1205CEB34}"/>
              </a:ext>
            </a:extLst>
          </p:cNvPr>
          <p:cNvSpPr/>
          <p:nvPr/>
        </p:nvSpPr>
        <p:spPr>
          <a:xfrm>
            <a:off x="1316815" y="4464102"/>
            <a:ext cx="3559986" cy="586956"/>
          </a:xfrm>
          <a:prstGeom prst="rect">
            <a:avLst/>
          </a:prstGeom>
        </p:spPr>
        <p:txBody>
          <a:bodyPr wrap="square">
            <a:spAutoFit/>
          </a:bodyPr>
          <a:lstStyle/>
          <a:p>
            <a:pPr>
              <a:lnSpc>
                <a:spcPct val="150000"/>
              </a:lnSpc>
            </a:pPr>
            <a:r>
              <a:rPr lang="en-US" altLang="zh-TW" sz="2400" dirty="0">
                <a:latin typeface="Times New Roman" panose="02020603050405020304" pitchFamily="18" charset="0"/>
                <a:cs typeface="Times New Roman" panose="02020603050405020304" pitchFamily="18" charset="0"/>
              </a:rPr>
              <a:t> =</a:t>
            </a:r>
            <a:r>
              <a:rPr lang="en-US" altLang="zh-TW" sz="2400" dirty="0">
                <a:latin typeface="Arial Black" panose="020B0A04020102020204" pitchFamily="34" charset="0"/>
                <a:cs typeface="AngsanaUPC" panose="020B0502040204020203" pitchFamily="18" charset="-34"/>
              </a:rPr>
              <a:t> 1110 | 0100 </a:t>
            </a:r>
            <a:r>
              <a:rPr lang="en-US" altLang="zh-TW" sz="2400" dirty="0">
                <a:latin typeface="Times New Roman" panose="02020603050405020304" pitchFamily="18" charset="0"/>
                <a:cs typeface="Times New Roman" panose="02020603050405020304" pitchFamily="18" charset="0"/>
              </a:rPr>
              <a:t>= 1110</a:t>
            </a:r>
            <a:endParaRPr lang="en-US" altLang="zh-TW" sz="2400" dirty="0">
              <a:latin typeface="Arial Black" panose="020B0A04020102020204" pitchFamily="34" charset="0"/>
              <a:cs typeface="AngsanaUPC" panose="020B0502040204020203" pitchFamily="18" charset="-34"/>
            </a:endParaRPr>
          </a:p>
        </p:txBody>
      </p:sp>
      <p:sp>
        <p:nvSpPr>
          <p:cNvPr id="35" name="矩形 34">
            <a:extLst>
              <a:ext uri="{FF2B5EF4-FFF2-40B4-BE49-F238E27FC236}">
                <a16:creationId xmlns:a16="http://schemas.microsoft.com/office/drawing/2014/main" xmlns="" id="{E880786A-DBCF-4E12-BFB3-9AB6BF4B3C82}"/>
              </a:ext>
            </a:extLst>
          </p:cNvPr>
          <p:cNvSpPr/>
          <p:nvPr/>
        </p:nvSpPr>
        <p:spPr>
          <a:xfrm>
            <a:off x="1109708" y="4995151"/>
            <a:ext cx="3767093" cy="586956"/>
          </a:xfrm>
          <a:prstGeom prst="rect">
            <a:avLst/>
          </a:prstGeom>
        </p:spPr>
        <p:txBody>
          <a:bodyPr wrap="square">
            <a:spAutoFit/>
          </a:bodyPr>
          <a:lstStyle/>
          <a:p>
            <a:pPr>
              <a:lnSpc>
                <a:spcPct val="150000"/>
              </a:lnSpc>
            </a:pPr>
            <a:r>
              <a:rPr lang="en-US" altLang="zh-TW" sz="2400" dirty="0">
                <a:latin typeface="Times New Roman" panose="02020603050405020304" pitchFamily="18" charset="0"/>
                <a:cs typeface="Times New Roman" panose="02020603050405020304" pitchFamily="18" charset="0"/>
              </a:rPr>
              <a:t>D =</a:t>
            </a:r>
            <a:r>
              <a:rPr lang="en-US" altLang="zh-TW" sz="2400" dirty="0">
                <a:latin typeface="Arial Black" panose="020B0A04020102020204" pitchFamily="34" charset="0"/>
                <a:cs typeface="AngsanaUPC" panose="020B0502040204020203" pitchFamily="18" charset="-34"/>
              </a:rPr>
              <a:t> 1100 | B[</a:t>
            </a:r>
            <a:r>
              <a:rPr lang="en-US" altLang="zh-TW" sz="2400" dirty="0">
                <a:solidFill>
                  <a:srgbClr val="7030A0"/>
                </a:solidFill>
                <a:latin typeface="Arial Black" panose="020B0A04020102020204" pitchFamily="34" charset="0"/>
                <a:cs typeface="AngsanaUPC" panose="020B0502040204020203" pitchFamily="18" charset="-34"/>
              </a:rPr>
              <a:t>0</a:t>
            </a:r>
            <a:r>
              <a:rPr lang="en-US" altLang="zh-TW" sz="2400" dirty="0">
                <a:latin typeface="Arial Black" panose="020B0A04020102020204" pitchFamily="34" charset="0"/>
                <a:cs typeface="AngsanaUPC" panose="020B0502040204020203" pitchFamily="18" charset="-34"/>
              </a:rPr>
              <a:t>]</a:t>
            </a:r>
          </a:p>
        </p:txBody>
      </p:sp>
      <p:sp>
        <p:nvSpPr>
          <p:cNvPr id="36" name="矩形 35">
            <a:extLst>
              <a:ext uri="{FF2B5EF4-FFF2-40B4-BE49-F238E27FC236}">
                <a16:creationId xmlns:a16="http://schemas.microsoft.com/office/drawing/2014/main" xmlns="" id="{C7BB4627-F844-443F-B8F3-CF6D071CE72D}"/>
              </a:ext>
            </a:extLst>
          </p:cNvPr>
          <p:cNvSpPr/>
          <p:nvPr/>
        </p:nvSpPr>
        <p:spPr>
          <a:xfrm>
            <a:off x="471956" y="4995151"/>
            <a:ext cx="1553593" cy="586956"/>
          </a:xfrm>
          <a:prstGeom prst="rect">
            <a:avLst/>
          </a:prstGeom>
        </p:spPr>
        <p:txBody>
          <a:bodyPr wrap="square">
            <a:spAutoFit/>
          </a:bodyPr>
          <a:lstStyle/>
          <a:p>
            <a:pPr>
              <a:lnSpc>
                <a:spcPct val="150000"/>
              </a:lnSpc>
            </a:pPr>
            <a:r>
              <a:rPr lang="en-US" altLang="zh-TW" sz="2400" dirty="0">
                <a:latin typeface="Times New Roman" panose="02020603050405020304" pitchFamily="18" charset="0"/>
                <a:cs typeface="Times New Roman" panose="02020603050405020304" pitchFamily="18" charset="0"/>
              </a:rPr>
              <a:t>2</a:t>
            </a:r>
            <a:r>
              <a:rPr lang="en-US" altLang="zh-TW" sz="2400" baseline="30000" dirty="0">
                <a:latin typeface="Times New Roman" panose="02020603050405020304" pitchFamily="18" charset="0"/>
                <a:cs typeface="Times New Roman" panose="02020603050405020304" pitchFamily="18" charset="0"/>
              </a:rPr>
              <a:t>nd</a:t>
            </a:r>
            <a:r>
              <a:rPr lang="en-US" altLang="zh-TW" sz="2400" dirty="0">
                <a:latin typeface="Times New Roman" panose="02020603050405020304" pitchFamily="18" charset="0"/>
                <a:cs typeface="Times New Roman" panose="02020603050405020304" pitchFamily="18" charset="0"/>
              </a:rPr>
              <a:t>:</a:t>
            </a:r>
            <a:endParaRPr lang="zh-TW" altLang="en-US" sz="2400" dirty="0">
              <a:solidFill>
                <a:srgbClr val="0070C0"/>
              </a:solidFill>
              <a:latin typeface="Arial Black" panose="020B0A04020102020204" pitchFamily="34" charset="0"/>
              <a:cs typeface="AngsanaUPC" panose="020B0502040204020203" pitchFamily="18" charset="-34"/>
            </a:endParaRPr>
          </a:p>
        </p:txBody>
      </p:sp>
      <p:sp>
        <p:nvSpPr>
          <p:cNvPr id="37" name="矩形 36">
            <a:extLst>
              <a:ext uri="{FF2B5EF4-FFF2-40B4-BE49-F238E27FC236}">
                <a16:creationId xmlns:a16="http://schemas.microsoft.com/office/drawing/2014/main" xmlns="" id="{D8EB40A1-4CB1-45A5-B152-CE3D6A04A5E4}"/>
              </a:ext>
            </a:extLst>
          </p:cNvPr>
          <p:cNvSpPr/>
          <p:nvPr/>
        </p:nvSpPr>
        <p:spPr>
          <a:xfrm>
            <a:off x="1423209" y="5390545"/>
            <a:ext cx="3453592" cy="586956"/>
          </a:xfrm>
          <a:prstGeom prst="rect">
            <a:avLst/>
          </a:prstGeom>
        </p:spPr>
        <p:txBody>
          <a:bodyPr wrap="square">
            <a:spAutoFit/>
          </a:bodyPr>
          <a:lstStyle/>
          <a:p>
            <a:pPr>
              <a:lnSpc>
                <a:spcPct val="150000"/>
              </a:lnSpc>
            </a:pPr>
            <a:r>
              <a:rPr lang="en-US" altLang="zh-TW" sz="2400" dirty="0">
                <a:latin typeface="Times New Roman" panose="02020603050405020304" pitchFamily="18" charset="0"/>
                <a:cs typeface="Times New Roman" panose="02020603050405020304" pitchFamily="18" charset="0"/>
              </a:rPr>
              <a:t>=</a:t>
            </a:r>
            <a:r>
              <a:rPr lang="en-US" altLang="zh-TW" sz="2400" dirty="0">
                <a:latin typeface="Arial Black" panose="020B0A04020102020204" pitchFamily="34" charset="0"/>
                <a:cs typeface="AngsanaUPC" panose="020B0502040204020203" pitchFamily="18" charset="-34"/>
              </a:rPr>
              <a:t> 1100 | 1000 </a:t>
            </a:r>
            <a:r>
              <a:rPr lang="en-US" altLang="zh-TW" sz="2400" dirty="0">
                <a:latin typeface="Times New Roman" panose="02020603050405020304" pitchFamily="18" charset="0"/>
                <a:cs typeface="Times New Roman" panose="02020603050405020304" pitchFamily="18" charset="0"/>
              </a:rPr>
              <a:t>= 1100</a:t>
            </a:r>
            <a:endParaRPr lang="en-US" altLang="zh-TW" sz="2400" dirty="0">
              <a:latin typeface="Arial Black" panose="020B0A04020102020204" pitchFamily="34" charset="0"/>
              <a:cs typeface="AngsanaUPC" panose="020B0502040204020203" pitchFamily="18" charset="-34"/>
            </a:endParaRPr>
          </a:p>
        </p:txBody>
      </p:sp>
      <p:sp>
        <p:nvSpPr>
          <p:cNvPr id="6" name="矩形 5">
            <a:extLst>
              <a:ext uri="{FF2B5EF4-FFF2-40B4-BE49-F238E27FC236}">
                <a16:creationId xmlns:a16="http://schemas.microsoft.com/office/drawing/2014/main" xmlns="" id="{B508DF69-A807-42C4-959A-F248AF184B66}"/>
              </a:ext>
            </a:extLst>
          </p:cNvPr>
          <p:cNvSpPr/>
          <p:nvPr/>
        </p:nvSpPr>
        <p:spPr>
          <a:xfrm>
            <a:off x="6355080" y="3105834"/>
            <a:ext cx="1295400" cy="646331"/>
          </a:xfrm>
          <a:prstGeom prst="rect">
            <a:avLst/>
          </a:prstGeom>
        </p:spPr>
        <p:txBody>
          <a:bodyPr wrap="square">
            <a:spAutoFit/>
          </a:bodyPr>
          <a:lstStyle/>
          <a:p>
            <a:pPr algn="ctr"/>
            <a:r>
              <a:rPr lang="en-US" altLang="zh-TW" dirty="0">
                <a:solidFill>
                  <a:srgbClr val="002060"/>
                </a:solidFill>
                <a:latin typeface="Times New Roman" panose="02020603050405020304" pitchFamily="18" charset="0"/>
              </a:rPr>
              <a:t>B[0]=1000</a:t>
            </a:r>
          </a:p>
          <a:p>
            <a:pPr algn="ctr"/>
            <a:r>
              <a:rPr lang="en-US" altLang="zh-TW" dirty="0">
                <a:solidFill>
                  <a:srgbClr val="002060"/>
                </a:solidFill>
                <a:latin typeface="Times New Roman" panose="02020603050405020304" pitchFamily="18" charset="0"/>
              </a:rPr>
              <a:t>B[1]=0100</a:t>
            </a:r>
            <a:endParaRPr lang="zh-TW" altLang="en-US" dirty="0">
              <a:solidFill>
                <a:srgbClr val="002060"/>
              </a:solidFill>
              <a:latin typeface="Times New Roman" panose="02020603050405020304" pitchFamily="18" charset="0"/>
            </a:endParaRPr>
          </a:p>
        </p:txBody>
      </p:sp>
      <p:sp>
        <p:nvSpPr>
          <p:cNvPr id="39" name="矩形 38">
            <a:extLst>
              <a:ext uri="{FF2B5EF4-FFF2-40B4-BE49-F238E27FC236}">
                <a16:creationId xmlns:a16="http://schemas.microsoft.com/office/drawing/2014/main" xmlns="" id="{637982FD-3B4F-46E6-BF1C-325D30C532D0}"/>
              </a:ext>
            </a:extLst>
          </p:cNvPr>
          <p:cNvSpPr/>
          <p:nvPr/>
        </p:nvSpPr>
        <p:spPr>
          <a:xfrm>
            <a:off x="967666" y="2973460"/>
            <a:ext cx="389850" cy="588879"/>
          </a:xfrm>
          <a:prstGeom prst="rect">
            <a:avLst/>
          </a:prstGeom>
        </p:spPr>
        <p:txBody>
          <a:bodyPr wrap="none">
            <a:spAutoFit/>
          </a:bodyPr>
          <a:lstStyle/>
          <a:p>
            <a:pPr>
              <a:lnSpc>
                <a:spcPct val="150000"/>
              </a:lnSpc>
            </a:pPr>
            <a:r>
              <a:rPr lang="en-US" altLang="zh-TW" sz="2400" dirty="0">
                <a:latin typeface="Arial Black" panose="020B0A04020102020204" pitchFamily="34" charset="0"/>
                <a:cs typeface="AngsanaUPC" panose="020B0502040204020203" pitchFamily="18" charset="-34"/>
              </a:rPr>
              <a:t>0</a:t>
            </a:r>
            <a:endParaRPr lang="zh-TW" altLang="en-US" sz="2400" dirty="0">
              <a:solidFill>
                <a:srgbClr val="0070C0"/>
              </a:solidFill>
              <a:latin typeface="Arial Black" panose="020B0A04020102020204" pitchFamily="34" charset="0"/>
              <a:cs typeface="AngsanaUPC" panose="020B0502040204020203" pitchFamily="18" charset="-34"/>
            </a:endParaRPr>
          </a:p>
        </p:txBody>
      </p:sp>
      <p:sp>
        <p:nvSpPr>
          <p:cNvPr id="40" name="矩形 39">
            <a:extLst>
              <a:ext uri="{FF2B5EF4-FFF2-40B4-BE49-F238E27FC236}">
                <a16:creationId xmlns:a16="http://schemas.microsoft.com/office/drawing/2014/main" xmlns="" id="{A71F4BF0-45FA-4F22-A002-32DBBF677D9E}"/>
              </a:ext>
            </a:extLst>
          </p:cNvPr>
          <p:cNvSpPr/>
          <p:nvPr/>
        </p:nvSpPr>
        <p:spPr>
          <a:xfrm>
            <a:off x="1171958" y="2973460"/>
            <a:ext cx="389850" cy="588879"/>
          </a:xfrm>
          <a:prstGeom prst="rect">
            <a:avLst/>
          </a:prstGeom>
        </p:spPr>
        <p:txBody>
          <a:bodyPr wrap="none">
            <a:spAutoFit/>
          </a:bodyPr>
          <a:lstStyle/>
          <a:p>
            <a:pPr>
              <a:lnSpc>
                <a:spcPct val="150000"/>
              </a:lnSpc>
            </a:pPr>
            <a:r>
              <a:rPr lang="en-US" altLang="zh-TW" sz="2400" dirty="0">
                <a:latin typeface="Arial Black" panose="020B0A04020102020204" pitchFamily="34" charset="0"/>
                <a:cs typeface="AngsanaUPC" panose="020B0502040204020203" pitchFamily="18" charset="-34"/>
              </a:rPr>
              <a:t>1</a:t>
            </a:r>
            <a:endParaRPr lang="zh-TW" altLang="en-US" sz="2400" dirty="0">
              <a:solidFill>
                <a:srgbClr val="0070C0"/>
              </a:solidFill>
              <a:latin typeface="Arial Black" panose="020B0A04020102020204" pitchFamily="34" charset="0"/>
              <a:cs typeface="AngsanaUPC" panose="020B0502040204020203" pitchFamily="18" charset="-34"/>
            </a:endParaRPr>
          </a:p>
        </p:txBody>
      </p:sp>
      <p:sp>
        <p:nvSpPr>
          <p:cNvPr id="41" name="矩形 40">
            <a:extLst>
              <a:ext uri="{FF2B5EF4-FFF2-40B4-BE49-F238E27FC236}">
                <a16:creationId xmlns:a16="http://schemas.microsoft.com/office/drawing/2014/main" xmlns="" id="{1C29F5DA-BDA6-47A6-A248-1C8DCAB340EE}"/>
              </a:ext>
            </a:extLst>
          </p:cNvPr>
          <p:cNvSpPr/>
          <p:nvPr/>
        </p:nvSpPr>
        <p:spPr>
          <a:xfrm>
            <a:off x="1473476" y="2979602"/>
            <a:ext cx="4083169" cy="588879"/>
          </a:xfrm>
          <a:prstGeom prst="rect">
            <a:avLst/>
          </a:prstGeom>
        </p:spPr>
        <p:txBody>
          <a:bodyPr wrap="none">
            <a:spAutoFit/>
          </a:bodyPr>
          <a:lstStyle/>
          <a:p>
            <a:pPr>
              <a:lnSpc>
                <a:spcPct val="150000"/>
              </a:lnSpc>
            </a:pPr>
            <a:r>
              <a:rPr lang="en-US" altLang="zh-TW" sz="2400" dirty="0">
                <a:solidFill>
                  <a:srgbClr val="FF0000"/>
                </a:solidFill>
                <a:latin typeface="Arial Black" panose="020B0A04020102020204" pitchFamily="34" charset="0"/>
                <a:cs typeface="AngsanaUPC" panose="020B0502040204020203" pitchFamily="18" charset="-34"/>
              </a:rPr>
              <a:t>1</a:t>
            </a:r>
            <a:r>
              <a:rPr lang="en-US" altLang="zh-TW" sz="2400" dirty="0">
                <a:solidFill>
                  <a:srgbClr val="7030A0"/>
                </a:solidFill>
                <a:latin typeface="Arial Black" panose="020B0A04020102020204" pitchFamily="34" charset="0"/>
                <a:cs typeface="AngsanaUPC" panose="020B0502040204020203" pitchFamily="18" charset="-34"/>
              </a:rPr>
              <a:t>0</a:t>
            </a:r>
            <a:r>
              <a:rPr lang="en-US" altLang="zh-TW" sz="2400" dirty="0">
                <a:latin typeface="Arial Black" panose="020B0A04020102020204" pitchFamily="34" charset="0"/>
                <a:cs typeface="AngsanaUPC" panose="020B0502040204020203" pitchFamily="18" charset="-34"/>
              </a:rPr>
              <a:t> 01 01 01 10 0001 01</a:t>
            </a:r>
            <a:endParaRPr lang="zh-TW" altLang="en-US" sz="2400" dirty="0">
              <a:solidFill>
                <a:srgbClr val="0070C0"/>
              </a:solidFill>
              <a:latin typeface="Arial Black" panose="020B0A04020102020204" pitchFamily="34" charset="0"/>
              <a:cs typeface="AngsanaUPC" panose="020B0502040204020203" pitchFamily="18" charset="-34"/>
            </a:endParaRPr>
          </a:p>
        </p:txBody>
      </p:sp>
      <p:cxnSp>
        <p:nvCxnSpPr>
          <p:cNvPr id="18" name="直線單箭頭接點 17">
            <a:extLst>
              <a:ext uri="{FF2B5EF4-FFF2-40B4-BE49-F238E27FC236}">
                <a16:creationId xmlns:a16="http://schemas.microsoft.com/office/drawing/2014/main" xmlns="" id="{C1D02BB0-7C09-447D-9D88-E1298BFCADFC}"/>
              </a:ext>
            </a:extLst>
          </p:cNvPr>
          <p:cNvCxnSpPr>
            <a:cxnSpLocks/>
          </p:cNvCxnSpPr>
          <p:nvPr/>
        </p:nvCxnSpPr>
        <p:spPr>
          <a:xfrm>
            <a:off x="4472940" y="5859780"/>
            <a:ext cx="403861" cy="253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xmlns="" id="{B57BC84C-FAE0-45E1-B35A-E3A0CE31E3D6}"/>
              </a:ext>
            </a:extLst>
          </p:cNvPr>
          <p:cNvSpPr/>
          <p:nvPr/>
        </p:nvSpPr>
        <p:spPr>
          <a:xfrm>
            <a:off x="4876801" y="5859780"/>
            <a:ext cx="3483862" cy="369332"/>
          </a:xfrm>
          <a:prstGeom prst="rect">
            <a:avLst/>
          </a:prstGeom>
        </p:spPr>
        <p:txBody>
          <a:bodyPr wrap="square">
            <a:spAutoFit/>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有</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P(code:10, BABA)</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出現在</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T</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當中</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24541202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19</a:t>
            </a:fld>
            <a:endParaRPr lang="zh-TW" altLang="en-US"/>
          </a:p>
        </p:txBody>
      </p:sp>
      <p:sp>
        <p:nvSpPr>
          <p:cNvPr id="26" name="標題 1">
            <a:extLst>
              <a:ext uri="{FF2B5EF4-FFF2-40B4-BE49-F238E27FC236}">
                <a16:creationId xmlns:a16="http://schemas.microsoft.com/office/drawing/2014/main" xmlns="" id="{3F7B7D7F-2508-4F8C-BA36-C9A457FD3023}"/>
              </a:ext>
            </a:extLst>
          </p:cNvPr>
          <p:cNvSpPr>
            <a:spLocks noGrp="1"/>
          </p:cNvSpPr>
          <p:nvPr>
            <p:ph type="title"/>
          </p:nvPr>
        </p:nvSpPr>
        <p:spPr>
          <a:xfrm>
            <a:off x="471956" y="414725"/>
            <a:ext cx="7886700" cy="583367"/>
          </a:xfrm>
        </p:spPr>
        <p:txBody>
          <a:bodyPr>
            <a:noAutofit/>
          </a:bodyPr>
          <a:lstStyle/>
          <a:p>
            <a:pPr>
              <a:lnSpc>
                <a:spcPct val="150000"/>
              </a:lnSpc>
            </a:pPr>
            <a:r>
              <a:rPr lang="en-US" altLang="zh-TW" sz="3200" dirty="0">
                <a:latin typeface="Times New Roman" panose="02020603050405020304" pitchFamily="18" charset="0"/>
                <a:cs typeface="Times New Roman" panose="02020603050405020304" pitchFamily="18" charset="0"/>
              </a:rPr>
              <a:t>Searching</a:t>
            </a:r>
          </a:p>
        </p:txBody>
      </p:sp>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xmlns="" id="{590CC8A7-8CD3-4D42-B457-B6243D36DD1F}"/>
                  </a:ext>
                </a:extLst>
              </p:cNvPr>
              <p:cNvSpPr/>
              <p:nvPr/>
            </p:nvSpPr>
            <p:spPr>
              <a:xfrm>
                <a:off x="501748" y="1157890"/>
                <a:ext cx="8375922" cy="1815882"/>
              </a:xfrm>
              <a:prstGeom prst="rect">
                <a:avLst/>
              </a:prstGeom>
            </p:spPr>
            <p:txBody>
              <a:bodyPr wrap="square">
                <a:spAutoFit/>
              </a:bodyPr>
              <a:lstStyle/>
              <a:p>
                <a:pPr marL="342900" indent="-342900">
                  <a:buFont typeface="Arial" panose="020B0604020202020204" pitchFamily="34" charset="0"/>
                  <a:buChar char="•"/>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Bit-parallel algorithm: Vector D of length </a:t>
                </a:r>
                <a14:m>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𝑚</m:t>
                    </m:r>
                  </m:oMath>
                </a14:m>
                <a:endParaRPr lang="en-US" altLang="zh-TW" sz="2400" b="0" dirty="0">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buFont typeface="Arial" panose="020B0604020202020204" pitchFamily="34" charset="0"/>
                  <a:buChar char="•"/>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E</a:t>
                </a:r>
                <a:r>
                  <a:rPr lang="en-US" altLang="zh-TW" sz="2400" b="0" dirty="0">
                    <a:latin typeface="Times New Roman" panose="02020603050405020304" pitchFamily="18" charset="0"/>
                    <a:ea typeface="標楷體" panose="03000509000000000000" pitchFamily="65" charset="-120"/>
                    <a:cs typeface="Times New Roman" panose="02020603050405020304" pitchFamily="18" charset="0"/>
                  </a:rPr>
                  <a:t>ach bit is set to 1 initially</a:t>
                </a:r>
              </a:p>
              <a:p>
                <a:pPr marL="342900" indent="-342900">
                  <a:buFont typeface="Arial" panose="020B0604020202020204" pitchFamily="34" charset="0"/>
                  <a:buChar char="•"/>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For each word of T</a:t>
                </a:r>
                <a:endParaRPr lang="en-US" altLang="zh-TW" sz="2400" b="0" dirty="0">
                  <a:latin typeface="Times New Roman" panose="02020603050405020304" pitchFamily="18" charset="0"/>
                  <a:ea typeface="標楷體" panose="03000509000000000000" pitchFamily="65" charset="-120"/>
                  <a:cs typeface="Times New Roman" panose="02020603050405020304" pitchFamily="18" charset="0"/>
                </a:endParaRPr>
              </a:p>
              <a:p>
                <a:pPr marL="800100" lvl="1" indent="-342900">
                  <a:buFont typeface="Arial" panose="020B0604020202020204" pitchFamily="34" charset="0"/>
                  <a:buChar char="•"/>
                </a:pP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Updating of D:</a:t>
                </a:r>
                <a:r>
                  <a:rPr lang="en-US" altLang="zh-TW" sz="2000"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 D = (D &lt;&lt; 1) | B[T[</a:t>
                </a:r>
                <a:r>
                  <a:rPr lang="en-US" altLang="zh-TW" sz="2000" dirty="0" err="1">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i</a:t>
                </a:r>
                <a:r>
                  <a:rPr lang="en-US" altLang="zh-TW" sz="2000"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rPr>
                  <a:t>]]</a:t>
                </a:r>
              </a:p>
              <a:p>
                <a:pPr marL="800100" lvl="1" indent="-342900">
                  <a:buFont typeface="Arial" panose="020B0604020202020204" pitchFamily="34" charset="0"/>
                  <a:buChar char="•"/>
                </a:pP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Finally, </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若</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D</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 的 </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(m-1)</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位置</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 0, </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表示有</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P</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出現在</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T</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 的 </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i</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-m)</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位置</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16" name="矩形 15">
                <a:extLst>
                  <a:ext uri="{FF2B5EF4-FFF2-40B4-BE49-F238E27FC236}">
                    <a16:creationId xmlns:a16="http://schemas.microsoft.com/office/drawing/2014/main" id="{590CC8A7-8CD3-4D42-B457-B6243D36DD1F}"/>
                  </a:ext>
                </a:extLst>
              </p:cNvPr>
              <p:cNvSpPr>
                <a:spLocks noRot="1" noChangeAspect="1" noMove="1" noResize="1" noEditPoints="1" noAdjustHandles="1" noChangeArrowheads="1" noChangeShapeType="1" noTextEdit="1"/>
              </p:cNvSpPr>
              <p:nvPr/>
            </p:nvSpPr>
            <p:spPr>
              <a:xfrm>
                <a:off x="501748" y="1157890"/>
                <a:ext cx="8375922" cy="1815882"/>
              </a:xfrm>
              <a:prstGeom prst="rect">
                <a:avLst/>
              </a:prstGeom>
              <a:blipFill>
                <a:blip r:embed="rId3"/>
                <a:stretch>
                  <a:fillRect l="-946" t="-2685" b="-5034"/>
                </a:stretch>
              </a:blipFill>
            </p:spPr>
            <p:txBody>
              <a:bodyPr/>
              <a:lstStyle/>
              <a:p>
                <a:r>
                  <a:rPr lang="zh-TW" altLang="en-US">
                    <a:noFill/>
                  </a:rPr>
                  <a:t> </a:t>
                </a:r>
              </a:p>
            </p:txBody>
          </p:sp>
        </mc:Fallback>
      </mc:AlternateContent>
      <p:sp>
        <p:nvSpPr>
          <p:cNvPr id="17" name="內容版面配置區 6">
            <a:extLst>
              <a:ext uri="{FF2B5EF4-FFF2-40B4-BE49-F238E27FC236}">
                <a16:creationId xmlns:a16="http://schemas.microsoft.com/office/drawing/2014/main" xmlns="" id="{C379C94F-9E3E-4D1A-BACE-0F94C1866E77}"/>
              </a:ext>
            </a:extLst>
          </p:cNvPr>
          <p:cNvSpPr txBox="1">
            <a:spLocks/>
          </p:cNvSpPr>
          <p:nvPr/>
        </p:nvSpPr>
        <p:spPr>
          <a:xfrm>
            <a:off x="501748" y="2973772"/>
            <a:ext cx="465918" cy="7158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T:</a:t>
            </a:r>
          </a:p>
          <a:p>
            <a:pPr marL="0" indent="0">
              <a:lnSpc>
                <a:spcPct val="150000"/>
              </a:lnSpc>
              <a:buFont typeface="Arial" panose="020B0604020202020204" pitchFamily="34" charset="0"/>
              <a:buNone/>
            </a:pPr>
            <a:endParaRPr lang="en-US" altLang="zh-TW" sz="2400" dirty="0">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xmlns="" id="{1F697E6A-2C43-4602-AC75-84293C6F8C6D}"/>
              </a:ext>
            </a:extLst>
          </p:cNvPr>
          <p:cNvSpPr/>
          <p:nvPr/>
        </p:nvSpPr>
        <p:spPr>
          <a:xfrm>
            <a:off x="941027" y="3795628"/>
            <a:ext cx="3637552"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D =</a:t>
            </a:r>
            <a:r>
              <a:rPr lang="en-US" altLang="zh-TW" sz="2000" dirty="0">
                <a:latin typeface="Arial Black" panose="020B0A04020102020204" pitchFamily="34" charset="0"/>
                <a:cs typeface="AngsanaUPC" panose="020B0502040204020203" pitchFamily="18" charset="-34"/>
              </a:rPr>
              <a:t> 1110 | B[</a:t>
            </a:r>
            <a:r>
              <a:rPr lang="en-US" altLang="zh-TW" sz="2000" dirty="0">
                <a:solidFill>
                  <a:srgbClr val="FF0000"/>
                </a:solidFill>
                <a:latin typeface="Arial Black" panose="020B0A04020102020204" pitchFamily="34" charset="0"/>
                <a:cs typeface="AngsanaUPC" panose="020B0502040204020203" pitchFamily="18" charset="-34"/>
              </a:rPr>
              <a:t>0</a:t>
            </a:r>
            <a:r>
              <a:rPr lang="en-US" altLang="zh-TW" sz="2000" dirty="0">
                <a:latin typeface="Arial Black" panose="020B0A04020102020204" pitchFamily="34" charset="0"/>
                <a:cs typeface="AngsanaUPC" panose="020B0502040204020203" pitchFamily="18" charset="-34"/>
              </a:rPr>
              <a:t>]</a:t>
            </a:r>
          </a:p>
        </p:txBody>
      </p:sp>
      <p:sp>
        <p:nvSpPr>
          <p:cNvPr id="29" name="矩形 28">
            <a:extLst>
              <a:ext uri="{FF2B5EF4-FFF2-40B4-BE49-F238E27FC236}">
                <a16:creationId xmlns:a16="http://schemas.microsoft.com/office/drawing/2014/main" xmlns="" id="{493087BF-5222-486D-AFAF-7F6FAAE742AF}"/>
              </a:ext>
            </a:extLst>
          </p:cNvPr>
          <p:cNvSpPr/>
          <p:nvPr/>
        </p:nvSpPr>
        <p:spPr>
          <a:xfrm>
            <a:off x="471956" y="3795628"/>
            <a:ext cx="1553593"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1</a:t>
            </a:r>
            <a:r>
              <a:rPr lang="en-US" altLang="zh-TW" sz="2000" baseline="30000" dirty="0">
                <a:latin typeface="Times New Roman" panose="02020603050405020304" pitchFamily="18" charset="0"/>
                <a:cs typeface="Times New Roman" panose="02020603050405020304" pitchFamily="18" charset="0"/>
              </a:rPr>
              <a:t>st</a:t>
            </a:r>
            <a:r>
              <a:rPr lang="en-US" altLang="zh-TW" sz="2000" dirty="0">
                <a:latin typeface="Times New Roman" panose="02020603050405020304" pitchFamily="18" charset="0"/>
                <a:cs typeface="Times New Roman" panose="02020603050405020304" pitchFamily="18" charset="0"/>
              </a:rPr>
              <a:t>:</a:t>
            </a:r>
            <a:endParaRPr lang="zh-TW" altLang="en-US" sz="2000" dirty="0">
              <a:solidFill>
                <a:srgbClr val="0070C0"/>
              </a:solidFill>
              <a:latin typeface="Arial Black" panose="020B0A04020102020204" pitchFamily="34" charset="0"/>
              <a:cs typeface="AngsanaUPC" panose="020B0502040204020203" pitchFamily="18" charset="-34"/>
            </a:endParaRPr>
          </a:p>
        </p:txBody>
      </p:sp>
      <p:sp>
        <p:nvSpPr>
          <p:cNvPr id="30" name="矩形 29">
            <a:extLst>
              <a:ext uri="{FF2B5EF4-FFF2-40B4-BE49-F238E27FC236}">
                <a16:creationId xmlns:a16="http://schemas.microsoft.com/office/drawing/2014/main" xmlns="" id="{9C1872A2-6F88-4AD1-A9F5-C7D1205CEB34}"/>
              </a:ext>
            </a:extLst>
          </p:cNvPr>
          <p:cNvSpPr/>
          <p:nvPr/>
        </p:nvSpPr>
        <p:spPr>
          <a:xfrm>
            <a:off x="1148133" y="4186711"/>
            <a:ext cx="3559986"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 =</a:t>
            </a:r>
            <a:r>
              <a:rPr lang="en-US" altLang="zh-TW" sz="2000" dirty="0">
                <a:latin typeface="Arial Black" panose="020B0A04020102020204" pitchFamily="34" charset="0"/>
                <a:cs typeface="AngsanaUPC" panose="020B0502040204020203" pitchFamily="18" charset="-34"/>
              </a:rPr>
              <a:t> 1110 | 1000 </a:t>
            </a:r>
            <a:r>
              <a:rPr lang="en-US" altLang="zh-TW" sz="2000" dirty="0">
                <a:latin typeface="Times New Roman" panose="02020603050405020304" pitchFamily="18" charset="0"/>
                <a:cs typeface="Times New Roman" panose="02020603050405020304" pitchFamily="18" charset="0"/>
              </a:rPr>
              <a:t>= 1110</a:t>
            </a:r>
            <a:endParaRPr lang="en-US" altLang="zh-TW" sz="2000" dirty="0">
              <a:latin typeface="Arial Black" panose="020B0A04020102020204" pitchFamily="34" charset="0"/>
              <a:cs typeface="AngsanaUPC" panose="020B0502040204020203" pitchFamily="18" charset="-34"/>
            </a:endParaRPr>
          </a:p>
        </p:txBody>
      </p:sp>
      <p:sp>
        <p:nvSpPr>
          <p:cNvPr id="35" name="矩形 34">
            <a:extLst>
              <a:ext uri="{FF2B5EF4-FFF2-40B4-BE49-F238E27FC236}">
                <a16:creationId xmlns:a16="http://schemas.microsoft.com/office/drawing/2014/main" xmlns="" id="{E880786A-DBCF-4E12-BFB3-9AB6BF4B3C82}"/>
              </a:ext>
            </a:extLst>
          </p:cNvPr>
          <p:cNvSpPr/>
          <p:nvPr/>
        </p:nvSpPr>
        <p:spPr>
          <a:xfrm>
            <a:off x="941026" y="4717760"/>
            <a:ext cx="3767093"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D </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a:t>
            </a:r>
            <a:r>
              <a:rPr lang="en-US" altLang="zh-TW" sz="2000" dirty="0">
                <a:latin typeface="Arial Black" panose="020B0A04020102020204" pitchFamily="34" charset="0"/>
                <a:cs typeface="AngsanaUPC" panose="020B0502040204020203" pitchFamily="18" charset="-34"/>
              </a:rPr>
              <a:t> 1100 | B[</a:t>
            </a:r>
            <a:r>
              <a:rPr lang="en-US" altLang="zh-TW" sz="2000" dirty="0">
                <a:solidFill>
                  <a:srgbClr val="7030A0"/>
                </a:solidFill>
                <a:latin typeface="Arial Black" panose="020B0A04020102020204" pitchFamily="34" charset="0"/>
                <a:cs typeface="AngsanaUPC" panose="020B0502040204020203" pitchFamily="18" charset="-34"/>
              </a:rPr>
              <a:t>0</a:t>
            </a:r>
            <a:r>
              <a:rPr lang="en-US" altLang="zh-TW" sz="2000" dirty="0">
                <a:latin typeface="Arial Black" panose="020B0A04020102020204" pitchFamily="34" charset="0"/>
                <a:cs typeface="AngsanaUPC" panose="020B0502040204020203" pitchFamily="18" charset="-34"/>
              </a:rPr>
              <a:t>]</a:t>
            </a:r>
          </a:p>
        </p:txBody>
      </p:sp>
      <p:sp>
        <p:nvSpPr>
          <p:cNvPr id="36" name="矩形 35">
            <a:extLst>
              <a:ext uri="{FF2B5EF4-FFF2-40B4-BE49-F238E27FC236}">
                <a16:creationId xmlns:a16="http://schemas.microsoft.com/office/drawing/2014/main" xmlns="" id="{C7BB4627-F844-443F-B8F3-CF6D071CE72D}"/>
              </a:ext>
            </a:extLst>
          </p:cNvPr>
          <p:cNvSpPr/>
          <p:nvPr/>
        </p:nvSpPr>
        <p:spPr>
          <a:xfrm>
            <a:off x="471956" y="4717760"/>
            <a:ext cx="1553593"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2</a:t>
            </a:r>
            <a:r>
              <a:rPr lang="en-US" altLang="zh-TW" sz="2000" baseline="30000" dirty="0">
                <a:latin typeface="Times New Roman" panose="02020603050405020304" pitchFamily="18" charset="0"/>
                <a:cs typeface="Times New Roman" panose="02020603050405020304" pitchFamily="18" charset="0"/>
              </a:rPr>
              <a:t>nd</a:t>
            </a:r>
            <a:r>
              <a:rPr lang="en-US" altLang="zh-TW" sz="2000" dirty="0">
                <a:latin typeface="Times New Roman" panose="02020603050405020304" pitchFamily="18" charset="0"/>
                <a:cs typeface="Times New Roman" panose="02020603050405020304" pitchFamily="18" charset="0"/>
              </a:rPr>
              <a:t>:</a:t>
            </a:r>
            <a:endParaRPr lang="zh-TW" altLang="en-US" sz="2000" dirty="0">
              <a:solidFill>
                <a:srgbClr val="0070C0"/>
              </a:solidFill>
              <a:latin typeface="Arial Black" panose="020B0A04020102020204" pitchFamily="34" charset="0"/>
              <a:cs typeface="AngsanaUPC" panose="020B0502040204020203" pitchFamily="18" charset="-34"/>
            </a:endParaRPr>
          </a:p>
        </p:txBody>
      </p:sp>
      <p:sp>
        <p:nvSpPr>
          <p:cNvPr id="37" name="矩形 36">
            <a:extLst>
              <a:ext uri="{FF2B5EF4-FFF2-40B4-BE49-F238E27FC236}">
                <a16:creationId xmlns:a16="http://schemas.microsoft.com/office/drawing/2014/main" xmlns="" id="{D8EB40A1-4CB1-45A5-B152-CE3D6A04A5E4}"/>
              </a:ext>
            </a:extLst>
          </p:cNvPr>
          <p:cNvSpPr/>
          <p:nvPr/>
        </p:nvSpPr>
        <p:spPr>
          <a:xfrm>
            <a:off x="1254527" y="5113154"/>
            <a:ext cx="3453592"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a:t>
            </a:r>
            <a:r>
              <a:rPr lang="en-US" altLang="zh-TW" sz="2000" dirty="0">
                <a:latin typeface="Arial Black" panose="020B0A04020102020204" pitchFamily="34" charset="0"/>
                <a:cs typeface="AngsanaUPC" panose="020B0502040204020203" pitchFamily="18" charset="-34"/>
              </a:rPr>
              <a:t> 1100 | 1000 </a:t>
            </a:r>
            <a:r>
              <a:rPr lang="en-US" altLang="zh-TW" sz="2000" dirty="0">
                <a:latin typeface="Times New Roman" panose="02020603050405020304" pitchFamily="18" charset="0"/>
                <a:cs typeface="Times New Roman" panose="02020603050405020304" pitchFamily="18" charset="0"/>
              </a:rPr>
              <a:t>= 1100</a:t>
            </a:r>
            <a:endParaRPr lang="en-US" altLang="zh-TW" sz="2000" dirty="0">
              <a:latin typeface="Arial Black" panose="020B0A04020102020204" pitchFamily="34" charset="0"/>
              <a:cs typeface="AngsanaUPC" panose="020B0502040204020203" pitchFamily="18" charset="-34"/>
            </a:endParaRPr>
          </a:p>
        </p:txBody>
      </p:sp>
      <p:sp>
        <p:nvSpPr>
          <p:cNvPr id="6" name="矩形 5">
            <a:extLst>
              <a:ext uri="{FF2B5EF4-FFF2-40B4-BE49-F238E27FC236}">
                <a16:creationId xmlns:a16="http://schemas.microsoft.com/office/drawing/2014/main" xmlns="" id="{B508DF69-A807-42C4-959A-F248AF184B66}"/>
              </a:ext>
            </a:extLst>
          </p:cNvPr>
          <p:cNvSpPr/>
          <p:nvPr/>
        </p:nvSpPr>
        <p:spPr>
          <a:xfrm>
            <a:off x="6355080" y="3105834"/>
            <a:ext cx="1295400" cy="646331"/>
          </a:xfrm>
          <a:prstGeom prst="rect">
            <a:avLst/>
          </a:prstGeom>
        </p:spPr>
        <p:txBody>
          <a:bodyPr wrap="square">
            <a:spAutoFit/>
          </a:bodyPr>
          <a:lstStyle/>
          <a:p>
            <a:pPr algn="ctr"/>
            <a:r>
              <a:rPr lang="en-US" altLang="zh-TW" dirty="0">
                <a:solidFill>
                  <a:srgbClr val="002060"/>
                </a:solidFill>
                <a:latin typeface="Times New Roman" panose="02020603050405020304" pitchFamily="18" charset="0"/>
              </a:rPr>
              <a:t>B[0]=1000</a:t>
            </a:r>
          </a:p>
          <a:p>
            <a:pPr algn="ctr"/>
            <a:r>
              <a:rPr lang="en-US" altLang="zh-TW" dirty="0">
                <a:solidFill>
                  <a:srgbClr val="002060"/>
                </a:solidFill>
                <a:latin typeface="Times New Roman" panose="02020603050405020304" pitchFamily="18" charset="0"/>
              </a:rPr>
              <a:t>B[1]=0100</a:t>
            </a:r>
            <a:endParaRPr lang="zh-TW" altLang="en-US" dirty="0">
              <a:solidFill>
                <a:srgbClr val="002060"/>
              </a:solidFill>
              <a:latin typeface="Times New Roman" panose="02020603050405020304" pitchFamily="18" charset="0"/>
            </a:endParaRPr>
          </a:p>
        </p:txBody>
      </p:sp>
      <p:sp>
        <p:nvSpPr>
          <p:cNvPr id="39" name="矩形 38">
            <a:extLst>
              <a:ext uri="{FF2B5EF4-FFF2-40B4-BE49-F238E27FC236}">
                <a16:creationId xmlns:a16="http://schemas.microsoft.com/office/drawing/2014/main" xmlns="" id="{637982FD-3B4F-46E6-BF1C-325D30C532D0}"/>
              </a:ext>
            </a:extLst>
          </p:cNvPr>
          <p:cNvSpPr/>
          <p:nvPr/>
        </p:nvSpPr>
        <p:spPr>
          <a:xfrm>
            <a:off x="967666" y="2973460"/>
            <a:ext cx="389850" cy="588879"/>
          </a:xfrm>
          <a:prstGeom prst="rect">
            <a:avLst/>
          </a:prstGeom>
        </p:spPr>
        <p:txBody>
          <a:bodyPr wrap="none">
            <a:spAutoFit/>
          </a:bodyPr>
          <a:lstStyle/>
          <a:p>
            <a:pPr>
              <a:lnSpc>
                <a:spcPct val="150000"/>
              </a:lnSpc>
            </a:pPr>
            <a:r>
              <a:rPr lang="en-US" altLang="zh-TW" sz="2400" dirty="0">
                <a:latin typeface="Arial Black" panose="020B0A04020102020204" pitchFamily="34" charset="0"/>
                <a:cs typeface="AngsanaUPC" panose="020B0502040204020203" pitchFamily="18" charset="-34"/>
              </a:rPr>
              <a:t>0</a:t>
            </a:r>
            <a:endParaRPr lang="zh-TW" altLang="en-US" sz="2400" dirty="0">
              <a:solidFill>
                <a:srgbClr val="0070C0"/>
              </a:solidFill>
              <a:latin typeface="Arial Black" panose="020B0A04020102020204" pitchFamily="34" charset="0"/>
              <a:cs typeface="AngsanaUPC" panose="020B0502040204020203" pitchFamily="18" charset="-34"/>
            </a:endParaRPr>
          </a:p>
        </p:txBody>
      </p:sp>
      <p:sp>
        <p:nvSpPr>
          <p:cNvPr id="40" name="矩形 39">
            <a:extLst>
              <a:ext uri="{FF2B5EF4-FFF2-40B4-BE49-F238E27FC236}">
                <a16:creationId xmlns:a16="http://schemas.microsoft.com/office/drawing/2014/main" xmlns="" id="{A71F4BF0-45FA-4F22-A002-32DBBF677D9E}"/>
              </a:ext>
            </a:extLst>
          </p:cNvPr>
          <p:cNvSpPr/>
          <p:nvPr/>
        </p:nvSpPr>
        <p:spPr>
          <a:xfrm>
            <a:off x="1171958" y="2973460"/>
            <a:ext cx="389850" cy="588879"/>
          </a:xfrm>
          <a:prstGeom prst="rect">
            <a:avLst/>
          </a:prstGeom>
        </p:spPr>
        <p:txBody>
          <a:bodyPr wrap="none">
            <a:spAutoFit/>
          </a:bodyPr>
          <a:lstStyle/>
          <a:p>
            <a:pPr>
              <a:lnSpc>
                <a:spcPct val="150000"/>
              </a:lnSpc>
            </a:pPr>
            <a:r>
              <a:rPr lang="en-US" altLang="zh-TW" sz="2400" dirty="0">
                <a:latin typeface="Arial Black" panose="020B0A04020102020204" pitchFamily="34" charset="0"/>
                <a:cs typeface="AngsanaUPC" panose="020B0502040204020203" pitchFamily="18" charset="-34"/>
              </a:rPr>
              <a:t>1</a:t>
            </a:r>
            <a:endParaRPr lang="zh-TW" altLang="en-US" sz="2400" dirty="0">
              <a:solidFill>
                <a:srgbClr val="0070C0"/>
              </a:solidFill>
              <a:latin typeface="Arial Black" panose="020B0A04020102020204" pitchFamily="34" charset="0"/>
              <a:cs typeface="AngsanaUPC" panose="020B0502040204020203" pitchFamily="18" charset="-34"/>
            </a:endParaRPr>
          </a:p>
        </p:txBody>
      </p:sp>
      <p:sp>
        <p:nvSpPr>
          <p:cNvPr id="41" name="矩形 40">
            <a:extLst>
              <a:ext uri="{FF2B5EF4-FFF2-40B4-BE49-F238E27FC236}">
                <a16:creationId xmlns:a16="http://schemas.microsoft.com/office/drawing/2014/main" xmlns="" id="{1C29F5DA-BDA6-47A6-A248-1C8DCAB340EE}"/>
              </a:ext>
            </a:extLst>
          </p:cNvPr>
          <p:cNvSpPr/>
          <p:nvPr/>
        </p:nvSpPr>
        <p:spPr>
          <a:xfrm>
            <a:off x="1473476" y="2979602"/>
            <a:ext cx="4083169" cy="588879"/>
          </a:xfrm>
          <a:prstGeom prst="rect">
            <a:avLst/>
          </a:prstGeom>
        </p:spPr>
        <p:txBody>
          <a:bodyPr wrap="none">
            <a:spAutoFit/>
          </a:bodyPr>
          <a:lstStyle/>
          <a:p>
            <a:pPr>
              <a:lnSpc>
                <a:spcPct val="150000"/>
              </a:lnSpc>
            </a:pPr>
            <a:r>
              <a:rPr lang="en-US" altLang="zh-TW" sz="2400" dirty="0">
                <a:latin typeface="Arial Black" panose="020B0A04020102020204" pitchFamily="34" charset="0"/>
                <a:cs typeface="AngsanaUPC" panose="020B0502040204020203" pitchFamily="18" charset="-34"/>
              </a:rPr>
              <a:t>10 01 01 01 10 </a:t>
            </a:r>
            <a:r>
              <a:rPr lang="en-US" altLang="zh-TW" sz="2400" dirty="0">
                <a:solidFill>
                  <a:srgbClr val="FF0000"/>
                </a:solidFill>
                <a:latin typeface="Arial Black" panose="020B0A04020102020204" pitchFamily="34" charset="0"/>
                <a:cs typeface="AngsanaUPC" panose="020B0502040204020203" pitchFamily="18" charset="-34"/>
              </a:rPr>
              <a:t>0</a:t>
            </a:r>
            <a:r>
              <a:rPr lang="en-US" altLang="zh-TW" sz="2400" dirty="0">
                <a:solidFill>
                  <a:srgbClr val="7030A0"/>
                </a:solidFill>
                <a:latin typeface="Arial Black" panose="020B0A04020102020204" pitchFamily="34" charset="0"/>
                <a:cs typeface="AngsanaUPC" panose="020B0502040204020203" pitchFamily="18" charset="-34"/>
              </a:rPr>
              <a:t>0</a:t>
            </a:r>
            <a:r>
              <a:rPr lang="en-US" altLang="zh-TW" sz="2400" dirty="0">
                <a:solidFill>
                  <a:srgbClr val="00B050"/>
                </a:solidFill>
                <a:latin typeface="Arial Black" panose="020B0A04020102020204" pitchFamily="34" charset="0"/>
                <a:cs typeface="AngsanaUPC" panose="020B0502040204020203" pitchFamily="18" charset="-34"/>
              </a:rPr>
              <a:t>0</a:t>
            </a:r>
            <a:r>
              <a:rPr lang="en-US" altLang="zh-TW" sz="2400" dirty="0">
                <a:solidFill>
                  <a:srgbClr val="855151"/>
                </a:solidFill>
                <a:latin typeface="Arial Black" panose="020B0A04020102020204" pitchFamily="34" charset="0"/>
                <a:cs typeface="AngsanaUPC" panose="020B0502040204020203" pitchFamily="18" charset="-34"/>
              </a:rPr>
              <a:t>1</a:t>
            </a:r>
            <a:r>
              <a:rPr lang="en-US" altLang="zh-TW" sz="2400" dirty="0">
                <a:latin typeface="Arial Black" panose="020B0A04020102020204" pitchFamily="34" charset="0"/>
                <a:cs typeface="AngsanaUPC" panose="020B0502040204020203" pitchFamily="18" charset="-34"/>
              </a:rPr>
              <a:t> 01</a:t>
            </a:r>
            <a:endParaRPr lang="zh-TW" altLang="en-US" sz="2400" dirty="0">
              <a:solidFill>
                <a:srgbClr val="0070C0"/>
              </a:solidFill>
              <a:latin typeface="Arial Black" panose="020B0A04020102020204" pitchFamily="34" charset="0"/>
              <a:cs typeface="AngsanaUPC" panose="020B0502040204020203" pitchFamily="18" charset="-34"/>
            </a:endParaRPr>
          </a:p>
        </p:txBody>
      </p:sp>
      <p:sp>
        <p:nvSpPr>
          <p:cNvPr id="25" name="矩形 24">
            <a:extLst>
              <a:ext uri="{FF2B5EF4-FFF2-40B4-BE49-F238E27FC236}">
                <a16:creationId xmlns:a16="http://schemas.microsoft.com/office/drawing/2014/main" xmlns="" id="{A7DEA73D-6415-4A19-9545-05E7EDA7ECA2}"/>
              </a:ext>
            </a:extLst>
          </p:cNvPr>
          <p:cNvSpPr/>
          <p:nvPr/>
        </p:nvSpPr>
        <p:spPr>
          <a:xfrm>
            <a:off x="4721468" y="3795628"/>
            <a:ext cx="3637552"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D =</a:t>
            </a:r>
            <a:r>
              <a:rPr lang="en-US" altLang="zh-TW" sz="2000" dirty="0">
                <a:latin typeface="Arial Black" panose="020B0A04020102020204" pitchFamily="34" charset="0"/>
                <a:cs typeface="AngsanaUPC" panose="020B0502040204020203" pitchFamily="18" charset="-34"/>
              </a:rPr>
              <a:t> 1000 | B[</a:t>
            </a:r>
            <a:r>
              <a:rPr lang="en-US" altLang="zh-TW" sz="2000" dirty="0">
                <a:solidFill>
                  <a:srgbClr val="00B050"/>
                </a:solidFill>
                <a:latin typeface="Arial Black" panose="020B0A04020102020204" pitchFamily="34" charset="0"/>
                <a:cs typeface="AngsanaUPC" panose="020B0502040204020203" pitchFamily="18" charset="-34"/>
              </a:rPr>
              <a:t>0</a:t>
            </a:r>
            <a:r>
              <a:rPr lang="en-US" altLang="zh-TW" sz="2000" dirty="0">
                <a:latin typeface="Arial Black" panose="020B0A04020102020204" pitchFamily="34" charset="0"/>
                <a:cs typeface="AngsanaUPC" panose="020B0502040204020203" pitchFamily="18" charset="-34"/>
              </a:rPr>
              <a:t>]</a:t>
            </a:r>
          </a:p>
        </p:txBody>
      </p:sp>
      <p:sp>
        <p:nvSpPr>
          <p:cNvPr id="27" name="矩形 26">
            <a:extLst>
              <a:ext uri="{FF2B5EF4-FFF2-40B4-BE49-F238E27FC236}">
                <a16:creationId xmlns:a16="http://schemas.microsoft.com/office/drawing/2014/main" xmlns="" id="{1C3F9127-B45A-4CEB-9260-DC5B5B7956C4}"/>
              </a:ext>
            </a:extLst>
          </p:cNvPr>
          <p:cNvSpPr/>
          <p:nvPr/>
        </p:nvSpPr>
        <p:spPr>
          <a:xfrm>
            <a:off x="4252397" y="3795628"/>
            <a:ext cx="1553593"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3</a:t>
            </a:r>
            <a:r>
              <a:rPr lang="en-US" altLang="zh-TW" sz="2000" baseline="30000" dirty="0">
                <a:latin typeface="Times New Roman" panose="02020603050405020304" pitchFamily="18" charset="0"/>
                <a:cs typeface="Times New Roman" panose="02020603050405020304" pitchFamily="18" charset="0"/>
              </a:rPr>
              <a:t>rd</a:t>
            </a:r>
            <a:r>
              <a:rPr lang="en-US" altLang="zh-TW" sz="2000" dirty="0">
                <a:latin typeface="Times New Roman" panose="02020603050405020304" pitchFamily="18" charset="0"/>
                <a:cs typeface="Times New Roman" panose="02020603050405020304" pitchFamily="18" charset="0"/>
              </a:rPr>
              <a:t>:</a:t>
            </a:r>
            <a:endParaRPr lang="zh-TW" altLang="en-US" sz="2000" dirty="0">
              <a:solidFill>
                <a:srgbClr val="0070C0"/>
              </a:solidFill>
              <a:latin typeface="Arial Black" panose="020B0A04020102020204" pitchFamily="34" charset="0"/>
              <a:cs typeface="AngsanaUPC" panose="020B0502040204020203" pitchFamily="18" charset="-34"/>
            </a:endParaRPr>
          </a:p>
        </p:txBody>
      </p:sp>
      <p:sp>
        <p:nvSpPr>
          <p:cNvPr id="28" name="矩形 27">
            <a:extLst>
              <a:ext uri="{FF2B5EF4-FFF2-40B4-BE49-F238E27FC236}">
                <a16:creationId xmlns:a16="http://schemas.microsoft.com/office/drawing/2014/main" xmlns="" id="{0BC856E9-4108-45BC-9EAF-CDEF8AAFE935}"/>
              </a:ext>
            </a:extLst>
          </p:cNvPr>
          <p:cNvSpPr/>
          <p:nvPr/>
        </p:nvSpPr>
        <p:spPr>
          <a:xfrm>
            <a:off x="4928574" y="4186711"/>
            <a:ext cx="3559986"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 =</a:t>
            </a:r>
            <a:r>
              <a:rPr lang="en-US" altLang="zh-TW" sz="2000" dirty="0">
                <a:latin typeface="Arial Black" panose="020B0A04020102020204" pitchFamily="34" charset="0"/>
                <a:cs typeface="AngsanaUPC" panose="020B0502040204020203" pitchFamily="18" charset="-34"/>
              </a:rPr>
              <a:t> 1000 | 1000 </a:t>
            </a:r>
            <a:r>
              <a:rPr lang="en-US" altLang="zh-TW" sz="2000" dirty="0">
                <a:latin typeface="Times New Roman" panose="02020603050405020304" pitchFamily="18" charset="0"/>
                <a:cs typeface="Times New Roman" panose="02020603050405020304" pitchFamily="18" charset="0"/>
              </a:rPr>
              <a:t>= 1000</a:t>
            </a:r>
            <a:endParaRPr lang="en-US" altLang="zh-TW" sz="2000" dirty="0">
              <a:latin typeface="Arial Black" panose="020B0A04020102020204" pitchFamily="34" charset="0"/>
              <a:cs typeface="AngsanaUPC" panose="020B0502040204020203" pitchFamily="18" charset="-34"/>
            </a:endParaRPr>
          </a:p>
        </p:txBody>
      </p:sp>
      <p:sp>
        <p:nvSpPr>
          <p:cNvPr id="31" name="矩形 30">
            <a:extLst>
              <a:ext uri="{FF2B5EF4-FFF2-40B4-BE49-F238E27FC236}">
                <a16:creationId xmlns:a16="http://schemas.microsoft.com/office/drawing/2014/main" xmlns="" id="{A7313A50-E13D-47C1-A63C-BCC0057A73BF}"/>
              </a:ext>
            </a:extLst>
          </p:cNvPr>
          <p:cNvSpPr/>
          <p:nvPr/>
        </p:nvSpPr>
        <p:spPr>
          <a:xfrm>
            <a:off x="4721467" y="4717760"/>
            <a:ext cx="3767093"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D </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a:t>
            </a:r>
            <a:r>
              <a:rPr lang="en-US" altLang="zh-TW" sz="2000" dirty="0">
                <a:latin typeface="Arial Black" panose="020B0A04020102020204" pitchFamily="34" charset="0"/>
                <a:cs typeface="AngsanaUPC" panose="020B0502040204020203" pitchFamily="18" charset="-34"/>
              </a:rPr>
              <a:t> 0000 | B[</a:t>
            </a:r>
            <a:r>
              <a:rPr lang="en-US" altLang="zh-TW" sz="2000" dirty="0">
                <a:solidFill>
                  <a:srgbClr val="855151"/>
                </a:solidFill>
                <a:latin typeface="Arial Black" panose="020B0A04020102020204" pitchFamily="34" charset="0"/>
                <a:cs typeface="AngsanaUPC" panose="020B0502040204020203" pitchFamily="18" charset="-34"/>
              </a:rPr>
              <a:t>1</a:t>
            </a:r>
            <a:r>
              <a:rPr lang="en-US" altLang="zh-TW" sz="2000" dirty="0">
                <a:latin typeface="Arial Black" panose="020B0A04020102020204" pitchFamily="34" charset="0"/>
                <a:cs typeface="AngsanaUPC" panose="020B0502040204020203" pitchFamily="18" charset="-34"/>
              </a:rPr>
              <a:t>]</a:t>
            </a:r>
          </a:p>
        </p:txBody>
      </p:sp>
      <p:sp>
        <p:nvSpPr>
          <p:cNvPr id="32" name="矩形 31">
            <a:extLst>
              <a:ext uri="{FF2B5EF4-FFF2-40B4-BE49-F238E27FC236}">
                <a16:creationId xmlns:a16="http://schemas.microsoft.com/office/drawing/2014/main" xmlns="" id="{50AF5DE4-3E07-4677-877F-0A4CD719E4E1}"/>
              </a:ext>
            </a:extLst>
          </p:cNvPr>
          <p:cNvSpPr/>
          <p:nvPr/>
        </p:nvSpPr>
        <p:spPr>
          <a:xfrm>
            <a:off x="4252397" y="4717760"/>
            <a:ext cx="1553593"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4</a:t>
            </a:r>
            <a:r>
              <a:rPr lang="en-US" altLang="zh-TW" sz="2000" baseline="30000" dirty="0">
                <a:latin typeface="Times New Roman" panose="02020603050405020304" pitchFamily="18" charset="0"/>
                <a:cs typeface="Times New Roman" panose="02020603050405020304" pitchFamily="18" charset="0"/>
              </a:rPr>
              <a:t>th</a:t>
            </a:r>
            <a:r>
              <a:rPr lang="en-US" altLang="zh-TW" sz="2000" dirty="0">
                <a:latin typeface="Times New Roman" panose="02020603050405020304" pitchFamily="18" charset="0"/>
                <a:cs typeface="Times New Roman" panose="02020603050405020304" pitchFamily="18" charset="0"/>
              </a:rPr>
              <a:t>:</a:t>
            </a:r>
            <a:endParaRPr lang="zh-TW" altLang="en-US" sz="2000" dirty="0">
              <a:solidFill>
                <a:srgbClr val="0070C0"/>
              </a:solidFill>
              <a:latin typeface="Arial Black" panose="020B0A04020102020204" pitchFamily="34" charset="0"/>
              <a:cs typeface="AngsanaUPC" panose="020B0502040204020203" pitchFamily="18" charset="-34"/>
            </a:endParaRPr>
          </a:p>
        </p:txBody>
      </p:sp>
      <p:sp>
        <p:nvSpPr>
          <p:cNvPr id="33" name="矩形 32">
            <a:extLst>
              <a:ext uri="{FF2B5EF4-FFF2-40B4-BE49-F238E27FC236}">
                <a16:creationId xmlns:a16="http://schemas.microsoft.com/office/drawing/2014/main" xmlns="" id="{2E2242B8-09A8-4C42-80C6-CB7CDB155321}"/>
              </a:ext>
            </a:extLst>
          </p:cNvPr>
          <p:cNvSpPr/>
          <p:nvPr/>
        </p:nvSpPr>
        <p:spPr>
          <a:xfrm>
            <a:off x="5034968" y="5113154"/>
            <a:ext cx="3453592"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a:t>
            </a:r>
            <a:r>
              <a:rPr lang="en-US" altLang="zh-TW" sz="2000" dirty="0">
                <a:latin typeface="Arial Black" panose="020B0A04020102020204" pitchFamily="34" charset="0"/>
                <a:cs typeface="AngsanaUPC" panose="020B0502040204020203" pitchFamily="18" charset="-34"/>
              </a:rPr>
              <a:t> 0000 | 0100 </a:t>
            </a:r>
            <a:r>
              <a:rPr lang="en-US" altLang="zh-TW" sz="2000" dirty="0">
                <a:latin typeface="Times New Roman" panose="02020603050405020304" pitchFamily="18" charset="0"/>
                <a:cs typeface="Times New Roman" panose="02020603050405020304" pitchFamily="18" charset="0"/>
              </a:rPr>
              <a:t>= 0100</a:t>
            </a:r>
            <a:endParaRPr lang="en-US" altLang="zh-TW" sz="2000" dirty="0">
              <a:latin typeface="Arial Black" panose="020B0A04020102020204" pitchFamily="34" charset="0"/>
              <a:cs typeface="AngsanaUPC" panose="020B0502040204020203" pitchFamily="18" charset="-34"/>
            </a:endParaRPr>
          </a:p>
        </p:txBody>
      </p:sp>
    </p:spTree>
    <p:extLst>
      <p:ext uri="{BB962C8B-B14F-4D97-AF65-F5344CB8AC3E}">
        <p14:creationId xmlns:p14="http://schemas.microsoft.com/office/powerpoint/2010/main" val="397833501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內容版面配置區 7">
            <a:extLst>
              <a:ext uri="{FF2B5EF4-FFF2-40B4-BE49-F238E27FC236}">
                <a16:creationId xmlns:a16="http://schemas.microsoft.com/office/drawing/2014/main" xmlns="" id="{BAD3633E-85B6-4851-8A1A-25DA1490FDE9}"/>
              </a:ext>
            </a:extLst>
          </p:cNvPr>
          <p:cNvGraphicFramePr>
            <a:graphicFrameLocks/>
          </p:cNvGraphicFramePr>
          <p:nvPr>
            <p:extLst/>
          </p:nvPr>
        </p:nvGraphicFramePr>
        <p:xfrm>
          <a:off x="967667" y="967527"/>
          <a:ext cx="4732020" cy="1483360"/>
        </p:xfrm>
        <a:graphic>
          <a:graphicData uri="http://schemas.openxmlformats.org/drawingml/2006/table">
            <a:tbl>
              <a:tblPr firstRow="1" bandRow="1">
                <a:tableStyleId>{5940675A-B579-460E-94D1-54222C63F5DA}</a:tableStyleId>
              </a:tblPr>
              <a:tblGrid>
                <a:gridCol w="1577340">
                  <a:extLst>
                    <a:ext uri="{9D8B030D-6E8A-4147-A177-3AD203B41FA5}">
                      <a16:colId xmlns:a16="http://schemas.microsoft.com/office/drawing/2014/main" xmlns="" val="4183209010"/>
                    </a:ext>
                  </a:extLst>
                </a:gridCol>
                <a:gridCol w="1577340">
                  <a:extLst>
                    <a:ext uri="{9D8B030D-6E8A-4147-A177-3AD203B41FA5}">
                      <a16:colId xmlns:a16="http://schemas.microsoft.com/office/drawing/2014/main" xmlns="" val="4264795898"/>
                    </a:ext>
                  </a:extLst>
                </a:gridCol>
                <a:gridCol w="1577340">
                  <a:extLst>
                    <a:ext uri="{9D8B030D-6E8A-4147-A177-3AD203B41FA5}">
                      <a16:colId xmlns:a16="http://schemas.microsoft.com/office/drawing/2014/main" xmlns="" val="2897420003"/>
                    </a:ext>
                  </a:extLst>
                </a:gridCol>
              </a:tblGrid>
              <a:tr h="370840">
                <a:tc>
                  <a:txBody>
                    <a:bodyPr/>
                    <a:lstStyle/>
                    <a:p>
                      <a:pPr algn="ctr"/>
                      <a:r>
                        <a:rPr lang="en-US" altLang="zh-TW" baseline="0" dirty="0">
                          <a:latin typeface="Times New Roman" panose="02020603050405020304" pitchFamily="18" charset="0"/>
                        </a:rPr>
                        <a:t>Word</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Index</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Frequency</a:t>
                      </a:r>
                      <a:endParaRPr lang="zh-TW" altLang="en-US" baseline="0" dirty="0">
                        <a:latin typeface="Times New Roman" panose="02020603050405020304" pitchFamily="18" charset="0"/>
                      </a:endParaRPr>
                    </a:p>
                  </a:txBody>
                  <a:tcPr/>
                </a:tc>
                <a:extLst>
                  <a:ext uri="{0D108BD9-81ED-4DB2-BD59-A6C34878D82A}">
                    <a16:rowId xmlns:a16="http://schemas.microsoft.com/office/drawing/2014/main" xmlns="" val="2352578504"/>
                  </a:ext>
                </a:extLst>
              </a:tr>
              <a:tr h="370840">
                <a:tc>
                  <a:txBody>
                    <a:bodyPr/>
                    <a:lstStyle/>
                    <a:p>
                      <a:pPr algn="ctr"/>
                      <a:r>
                        <a:rPr lang="en-US" altLang="zh-TW" baseline="0" dirty="0">
                          <a:latin typeface="Times New Roman" panose="02020603050405020304" pitchFamily="18" charset="0"/>
                        </a:rPr>
                        <a:t>0021</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9 </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5</a:t>
                      </a:r>
                      <a:endParaRPr lang="zh-TW" altLang="en-US" baseline="0" dirty="0">
                        <a:latin typeface="Times New Roman" panose="02020603050405020304" pitchFamily="18" charset="0"/>
                      </a:endParaRPr>
                    </a:p>
                  </a:txBody>
                  <a:tcPr/>
                </a:tc>
                <a:extLst>
                  <a:ext uri="{0D108BD9-81ED-4DB2-BD59-A6C34878D82A}">
                    <a16:rowId xmlns:a16="http://schemas.microsoft.com/office/drawing/2014/main" xmlns="" val="3978714840"/>
                  </a:ext>
                </a:extLst>
              </a:tr>
              <a:tr h="370840">
                <a:tc>
                  <a:txBody>
                    <a:bodyPr/>
                    <a:lstStyle/>
                    <a:p>
                      <a:pPr algn="ctr"/>
                      <a:r>
                        <a:rPr lang="en-US" altLang="zh-TW" baseline="0" dirty="0">
                          <a:latin typeface="Times New Roman" panose="02020603050405020304" pitchFamily="18" charset="0"/>
                        </a:rPr>
                        <a:t>0022</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10</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2</a:t>
                      </a:r>
                      <a:endParaRPr lang="zh-TW" altLang="en-US" baseline="0" dirty="0">
                        <a:latin typeface="Times New Roman" panose="02020603050405020304" pitchFamily="18" charset="0"/>
                      </a:endParaRPr>
                    </a:p>
                  </a:txBody>
                  <a:tcPr/>
                </a:tc>
                <a:extLst>
                  <a:ext uri="{0D108BD9-81ED-4DB2-BD59-A6C34878D82A}">
                    <a16:rowId xmlns:a16="http://schemas.microsoft.com/office/drawing/2014/main" xmlns="" val="2172083126"/>
                  </a:ext>
                </a:extLst>
              </a:tr>
              <a:tr h="370840">
                <a:tc>
                  <a:txBody>
                    <a:bodyPr/>
                    <a:lstStyle/>
                    <a:p>
                      <a:pPr algn="ctr"/>
                      <a:r>
                        <a:rPr lang="en-US" altLang="zh-TW" baseline="0" dirty="0">
                          <a:latin typeface="Times New Roman" panose="02020603050405020304" pitchFamily="18" charset="0"/>
                        </a:rPr>
                        <a:t>0020</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8</a:t>
                      </a:r>
                      <a:endParaRPr lang="zh-TW" altLang="en-US" baseline="0" dirty="0">
                        <a:solidFill>
                          <a:srgbClr val="FF0000"/>
                        </a:solidFill>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1</a:t>
                      </a:r>
                      <a:endParaRPr lang="zh-TW" altLang="en-US" baseline="0" dirty="0">
                        <a:latin typeface="Times New Roman" panose="02020603050405020304" pitchFamily="18" charset="0"/>
                      </a:endParaRPr>
                    </a:p>
                  </a:txBody>
                  <a:tcPr/>
                </a:tc>
                <a:extLst>
                  <a:ext uri="{0D108BD9-81ED-4DB2-BD59-A6C34878D82A}">
                    <a16:rowId xmlns:a16="http://schemas.microsoft.com/office/drawing/2014/main" xmlns="" val="3384057669"/>
                  </a:ext>
                </a:extLst>
              </a:tr>
            </a:tbl>
          </a:graphicData>
        </a:graphic>
      </p:graphicFrame>
      <mc:AlternateContent xmlns:mc="http://schemas.openxmlformats.org/markup-compatibility/2006" xmlns:a14="http://schemas.microsoft.com/office/drawing/2010/main">
        <mc:Choice Requires="a14">
          <p:graphicFrame>
            <p:nvGraphicFramePr>
              <p:cNvPr id="20" name="內容版面配置區 7">
                <a:extLst>
                  <a:ext uri="{FF2B5EF4-FFF2-40B4-BE49-F238E27FC236}">
                    <a16:creationId xmlns:a16="http://schemas.microsoft.com/office/drawing/2014/main" xmlns="" id="{D074AE84-48DF-4D0E-BC52-F86E0E9E0101}"/>
                  </a:ext>
                </a:extLst>
              </p:cNvPr>
              <p:cNvGraphicFramePr>
                <a:graphicFrameLocks/>
              </p:cNvGraphicFramePr>
              <p:nvPr>
                <p:extLst>
                  <p:ext uri="{D42A27DB-BD31-4B8C-83A1-F6EECF244321}">
                    <p14:modId xmlns:p14="http://schemas.microsoft.com/office/powerpoint/2010/main" val="3594606678"/>
                  </p:ext>
                </p:extLst>
              </p:nvPr>
            </p:nvGraphicFramePr>
            <p:xfrm>
              <a:off x="967667" y="967527"/>
              <a:ext cx="6386400" cy="2291080"/>
            </p:xfrm>
            <a:graphic>
              <a:graphicData uri="http://schemas.openxmlformats.org/drawingml/2006/table">
                <a:tbl>
                  <a:tblPr firstRow="1" bandRow="1">
                    <a:tableStyleId>{5940675A-B579-460E-94D1-54222C63F5DA}</a:tableStyleId>
                  </a:tblPr>
                  <a:tblGrid>
                    <a:gridCol w="1576800">
                      <a:extLst>
                        <a:ext uri="{9D8B030D-6E8A-4147-A177-3AD203B41FA5}">
                          <a16:colId xmlns:a16="http://schemas.microsoft.com/office/drawing/2014/main" xmlns="" val="4183209010"/>
                        </a:ext>
                      </a:extLst>
                    </a:gridCol>
                    <a:gridCol w="1576800">
                      <a:extLst>
                        <a:ext uri="{9D8B030D-6E8A-4147-A177-3AD203B41FA5}">
                          <a16:colId xmlns:a16="http://schemas.microsoft.com/office/drawing/2014/main" xmlns="" val="4264795898"/>
                        </a:ext>
                      </a:extLst>
                    </a:gridCol>
                    <a:gridCol w="1576800">
                      <a:extLst>
                        <a:ext uri="{9D8B030D-6E8A-4147-A177-3AD203B41FA5}">
                          <a16:colId xmlns:a16="http://schemas.microsoft.com/office/drawing/2014/main" xmlns="" val="2897420003"/>
                        </a:ext>
                      </a:extLst>
                    </a:gridCol>
                    <a:gridCol w="1656000">
                      <a:extLst>
                        <a:ext uri="{9D8B030D-6E8A-4147-A177-3AD203B41FA5}">
                          <a16:colId xmlns:a16="http://schemas.microsoft.com/office/drawing/2014/main" xmlns="" val="4157295316"/>
                        </a:ext>
                      </a:extLst>
                    </a:gridCol>
                  </a:tblGrid>
                  <a:tr h="370840">
                    <a:tc>
                      <a:txBody>
                        <a:bodyPr/>
                        <a:lstStyle/>
                        <a:p>
                          <a:pPr algn="ctr"/>
                          <a:r>
                            <a:rPr lang="en-US" altLang="zh-TW" baseline="0" dirty="0">
                              <a:latin typeface="Times New Roman" panose="02020603050405020304" pitchFamily="18" charset="0"/>
                            </a:rPr>
                            <a:t>Word</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err="1">
                              <a:latin typeface="Times New Roman" panose="02020603050405020304" pitchFamily="18" charset="0"/>
                            </a:rPr>
                            <a:t>Pred</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Codes (P)</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solidFill>
                                <a:srgbClr val="002060"/>
                              </a:solidFill>
                              <a:latin typeface="Times New Roman" panose="02020603050405020304" pitchFamily="18" charset="0"/>
                            </a:rPr>
                            <a:t>B[Code]</a:t>
                          </a:r>
                          <a:endParaRPr lang="zh-TW" altLang="en-US" baseline="0" dirty="0">
                            <a:solidFill>
                              <a:srgbClr val="002060"/>
                            </a:solidFill>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2352578504"/>
                      </a:ext>
                    </a:extLst>
                  </a:tr>
                  <a:tr h="370840">
                    <a:tc>
                      <a:txBody>
                        <a:bodyPr/>
                        <a:lstStyle/>
                        <a:p>
                          <a:pPr algn="ctr"/>
                          <a:r>
                            <a:rPr lang="en-US" altLang="zh-TW" baseline="0" dirty="0">
                              <a:latin typeface="Times New Roman" panose="02020603050405020304" pitchFamily="18" charset="0"/>
                            </a:rPr>
                            <a:t>ABAA</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0021 </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01</a:t>
                          </a:r>
                          <a:endParaRPr lang="zh-TW" altLang="en-US" baseline="0" dirty="0">
                            <a:latin typeface="Times New Roman" panose="02020603050405020304" pitchFamily="18" charset="0"/>
                          </a:endParaRPr>
                        </a:p>
                      </a:txBody>
                      <a:tcPr>
                        <a:solidFill>
                          <a:schemeClr val="bg1"/>
                        </a:solidFill>
                      </a:tcPr>
                    </a:tc>
                    <a:tc>
                      <a:txBody>
                        <a:bodyPr/>
                        <a:lstStyle/>
                        <a:p>
                          <a:pPr algn="ctr"/>
                          <a14:m>
                            <m:oMath xmlns:m="http://schemas.openxmlformats.org/officeDocument/2006/math">
                              <m:sSub>
                                <m:sSubPr>
                                  <m:ctrlPr>
                                    <a:rPr lang="en-US" altLang="zh-TW" b="0" i="1" baseline="0" smtClean="0">
                                      <a:solidFill>
                                        <a:srgbClr val="002060"/>
                                      </a:solidFill>
                                      <a:latin typeface="Cambria Math" panose="02040503050406030204" pitchFamily="18" charset="0"/>
                                    </a:rPr>
                                  </m:ctrlPr>
                                </m:sSubPr>
                                <m:e>
                                  <m:r>
                                    <a:rPr lang="en-US" altLang="zh-TW" b="0" i="1" baseline="0" smtClean="0">
                                      <a:solidFill>
                                        <a:srgbClr val="002060"/>
                                      </a:solidFill>
                                      <a:latin typeface="Cambria Math" panose="02040503050406030204" pitchFamily="18" charset="0"/>
                                    </a:rPr>
                                    <m:t>𝐵</m:t>
                                  </m:r>
                                </m:e>
                                <m:sub>
                                  <m:r>
                                    <a:rPr lang="en-US" altLang="zh-TW" b="0" i="1" baseline="0" smtClean="0">
                                      <a:solidFill>
                                        <a:srgbClr val="002060"/>
                                      </a:solidFill>
                                      <a:latin typeface="Cambria Math" panose="02040503050406030204" pitchFamily="18" charset="0"/>
                                    </a:rPr>
                                    <m:t>1</m:t>
                                  </m:r>
                                </m:sub>
                              </m:sSub>
                            </m:oMath>
                          </a14:m>
                          <a:r>
                            <a:rPr lang="en-US" altLang="zh-TW" baseline="0" dirty="0">
                              <a:solidFill>
                                <a:srgbClr val="002060"/>
                              </a:solidFill>
                              <a:latin typeface="Times New Roman" panose="02020603050405020304" pitchFamily="18" charset="0"/>
                            </a:rPr>
                            <a:t>[0]=1110</a:t>
                          </a:r>
                        </a:p>
                        <a:p>
                          <a:pPr algn="ctr"/>
                          <a14:m>
                            <m:oMath xmlns:m="http://schemas.openxmlformats.org/officeDocument/2006/math">
                              <m:sSub>
                                <m:sSubPr>
                                  <m:ctrlPr>
                                    <a:rPr lang="en-US" altLang="zh-TW" b="0" i="1" baseline="0" smtClean="0">
                                      <a:solidFill>
                                        <a:srgbClr val="002060"/>
                                      </a:solidFill>
                                      <a:latin typeface="Cambria Math" panose="02040503050406030204" pitchFamily="18" charset="0"/>
                                    </a:rPr>
                                  </m:ctrlPr>
                                </m:sSubPr>
                                <m:e>
                                  <m:r>
                                    <a:rPr lang="en-US" altLang="zh-TW" b="0" i="1" baseline="0" smtClean="0">
                                      <a:solidFill>
                                        <a:srgbClr val="002060"/>
                                      </a:solidFill>
                                      <a:latin typeface="Cambria Math" panose="02040503050406030204" pitchFamily="18" charset="0"/>
                                    </a:rPr>
                                    <m:t>𝐵</m:t>
                                  </m:r>
                                </m:e>
                                <m:sub>
                                  <m:r>
                                    <a:rPr lang="en-US" altLang="zh-TW" b="0" i="1" baseline="0" smtClean="0">
                                      <a:solidFill>
                                        <a:srgbClr val="002060"/>
                                      </a:solidFill>
                                      <a:latin typeface="Cambria Math" panose="02040503050406030204" pitchFamily="18" charset="0"/>
                                    </a:rPr>
                                    <m:t>1</m:t>
                                  </m:r>
                                </m:sub>
                              </m:sSub>
                            </m:oMath>
                          </a14:m>
                          <a:r>
                            <a:rPr lang="en-US" altLang="zh-TW" baseline="0" dirty="0">
                              <a:solidFill>
                                <a:srgbClr val="002060"/>
                              </a:solidFill>
                              <a:latin typeface="Times New Roman" panose="02020603050405020304" pitchFamily="18" charset="0"/>
                            </a:rPr>
                            <a:t>[1]=1101</a:t>
                          </a:r>
                          <a:endParaRPr lang="zh-TW" altLang="en-US" baseline="0" dirty="0">
                            <a:solidFill>
                              <a:srgbClr val="002060"/>
                            </a:solidFill>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3978714840"/>
                      </a:ext>
                    </a:extLst>
                  </a:tr>
                  <a:tr h="370840">
                    <a:tc>
                      <a:txBody>
                        <a:bodyPr/>
                        <a:lstStyle/>
                        <a:p>
                          <a:pPr algn="ctr"/>
                          <a:r>
                            <a:rPr lang="en-US" altLang="zh-TW" baseline="0" dirty="0">
                              <a:latin typeface="Times New Roman" panose="02020603050405020304" pitchFamily="18" charset="0"/>
                            </a:rPr>
                            <a:t>BABA</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0022</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10</a:t>
                          </a:r>
                          <a:endParaRPr lang="zh-TW" altLang="en-US" baseline="0" dirty="0">
                            <a:latin typeface="Times New Roman" panose="02020603050405020304" pitchFamily="18" charset="0"/>
                          </a:endParaRPr>
                        </a:p>
                      </a:txBody>
                      <a:tcPr>
                        <a:solidFill>
                          <a:schemeClr val="bg1"/>
                        </a:solidFill>
                      </a:tcPr>
                    </a:tc>
                    <a:tc>
                      <a:txBody>
                        <a:bodyPr/>
                        <a:lstStyle/>
                        <a:p>
                          <a:pPr algn="ctr"/>
                          <a14:m>
                            <m:oMath xmlns:m="http://schemas.openxmlformats.org/officeDocument/2006/math">
                              <m:sSub>
                                <m:sSubPr>
                                  <m:ctrlPr>
                                    <a:rPr lang="en-US" altLang="zh-TW" b="0" i="1" baseline="0" smtClean="0">
                                      <a:solidFill>
                                        <a:srgbClr val="002060"/>
                                      </a:solidFill>
                                      <a:latin typeface="Cambria Math" panose="02040503050406030204" pitchFamily="18" charset="0"/>
                                    </a:rPr>
                                  </m:ctrlPr>
                                </m:sSubPr>
                                <m:e>
                                  <m:r>
                                    <a:rPr lang="en-US" altLang="zh-TW" b="0" i="1" baseline="0" smtClean="0">
                                      <a:solidFill>
                                        <a:srgbClr val="002060"/>
                                      </a:solidFill>
                                      <a:latin typeface="Cambria Math" panose="02040503050406030204" pitchFamily="18" charset="0"/>
                                    </a:rPr>
                                    <m:t>𝐵</m:t>
                                  </m:r>
                                </m:e>
                                <m:sub>
                                  <m:r>
                                    <a:rPr lang="en-US" altLang="zh-TW" b="0" i="1" baseline="0" smtClean="0">
                                      <a:solidFill>
                                        <a:srgbClr val="002060"/>
                                      </a:solidFill>
                                      <a:latin typeface="Cambria Math" panose="02040503050406030204" pitchFamily="18" charset="0"/>
                                    </a:rPr>
                                    <m:t>2</m:t>
                                  </m:r>
                                </m:sub>
                              </m:sSub>
                            </m:oMath>
                          </a14:m>
                          <a:r>
                            <a:rPr lang="en-US" altLang="zh-TW" baseline="0" dirty="0">
                              <a:solidFill>
                                <a:srgbClr val="002060"/>
                              </a:solidFill>
                              <a:latin typeface="Times New Roman" panose="02020603050405020304" pitchFamily="18" charset="0"/>
                            </a:rPr>
                            <a:t>[0]=1101</a:t>
                          </a:r>
                        </a:p>
                        <a:p>
                          <a:pPr algn="ctr"/>
                          <a14:m>
                            <m:oMath xmlns:m="http://schemas.openxmlformats.org/officeDocument/2006/math">
                              <m:sSub>
                                <m:sSubPr>
                                  <m:ctrlPr>
                                    <a:rPr lang="en-US" altLang="zh-TW" b="0" i="1" baseline="0" smtClean="0">
                                      <a:solidFill>
                                        <a:srgbClr val="002060"/>
                                      </a:solidFill>
                                      <a:latin typeface="Cambria Math" panose="02040503050406030204" pitchFamily="18" charset="0"/>
                                    </a:rPr>
                                  </m:ctrlPr>
                                </m:sSubPr>
                                <m:e>
                                  <m:r>
                                    <a:rPr lang="en-US" altLang="zh-TW" b="0" i="1" baseline="0" smtClean="0">
                                      <a:solidFill>
                                        <a:srgbClr val="002060"/>
                                      </a:solidFill>
                                      <a:latin typeface="Cambria Math" panose="02040503050406030204" pitchFamily="18" charset="0"/>
                                    </a:rPr>
                                    <m:t>𝐵</m:t>
                                  </m:r>
                                </m:e>
                                <m:sub>
                                  <m:r>
                                    <a:rPr lang="en-US" altLang="zh-TW" b="0" i="1" baseline="0" smtClean="0">
                                      <a:solidFill>
                                        <a:srgbClr val="002060"/>
                                      </a:solidFill>
                                      <a:latin typeface="Cambria Math" panose="02040503050406030204" pitchFamily="18" charset="0"/>
                                    </a:rPr>
                                    <m:t>2</m:t>
                                  </m:r>
                                </m:sub>
                              </m:sSub>
                            </m:oMath>
                          </a14:m>
                          <a:r>
                            <a:rPr lang="en-US" altLang="zh-TW" baseline="0" dirty="0">
                              <a:solidFill>
                                <a:srgbClr val="002060"/>
                              </a:solidFill>
                              <a:latin typeface="Times New Roman" panose="02020603050405020304" pitchFamily="18" charset="0"/>
                            </a:rPr>
                            <a:t>[1]=1110</a:t>
                          </a:r>
                          <a:endParaRPr lang="zh-TW" altLang="en-US" baseline="0" dirty="0">
                            <a:solidFill>
                              <a:srgbClr val="002060"/>
                            </a:solidFill>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2172083126"/>
                      </a:ext>
                    </a:extLst>
                  </a:tr>
                  <a:tr h="370840">
                    <a:tc gridSpan="3">
                      <a:txBody>
                        <a:bodyPr/>
                        <a:lstStyle/>
                        <a:p>
                          <a:pPr algn="ctr"/>
                          <a:r>
                            <a:rPr lang="en-US" altLang="zh-TW" baseline="0" dirty="0">
                              <a:solidFill>
                                <a:srgbClr val="002060"/>
                              </a:solidFill>
                              <a:latin typeface="Times New Roman" panose="02020603050405020304" pitchFamily="18" charset="0"/>
                            </a:rPr>
                            <a:t>Final Bit Table</a:t>
                          </a:r>
                          <a:endParaRPr lang="zh-TW" altLang="en-US" baseline="0" dirty="0">
                            <a:solidFill>
                              <a:srgbClr val="002060"/>
                            </a:solidFill>
                            <a:latin typeface="Times New Roman" panose="02020603050405020304" pitchFamily="18" charset="0"/>
                          </a:endParaRPr>
                        </a:p>
                      </a:txBody>
                      <a:tcPr>
                        <a:solidFill>
                          <a:schemeClr val="bg1"/>
                        </a:solidFill>
                      </a:tcPr>
                    </a:tc>
                    <a:tc hMerge="1">
                      <a:txBody>
                        <a:bodyPr/>
                        <a:lstStyle/>
                        <a:p>
                          <a:pPr algn="ctr"/>
                          <a:endParaRPr lang="zh-TW" altLang="en-US" baseline="0" dirty="0">
                            <a:solidFill>
                              <a:srgbClr val="FF0000"/>
                            </a:solidFill>
                            <a:latin typeface="Times New Roman" panose="02020603050405020304" pitchFamily="18" charset="0"/>
                          </a:endParaRPr>
                        </a:p>
                      </a:txBody>
                      <a:tcPr>
                        <a:solidFill>
                          <a:schemeClr val="bg1"/>
                        </a:solidFill>
                      </a:tcPr>
                    </a:tc>
                    <a:tc hMerge="1">
                      <a:txBody>
                        <a:bodyPr/>
                        <a:lstStyle/>
                        <a:p>
                          <a:pPr algn="ct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solidFill>
                                <a:srgbClr val="002060"/>
                              </a:solidFill>
                              <a:latin typeface="Times New Roman" panose="02020603050405020304" pitchFamily="18" charset="0"/>
                            </a:rPr>
                            <a:t>B[0]=1100</a:t>
                          </a:r>
                        </a:p>
                        <a:p>
                          <a:pPr algn="ctr"/>
                          <a:r>
                            <a:rPr lang="en-US" altLang="zh-TW" baseline="0" dirty="0">
                              <a:solidFill>
                                <a:srgbClr val="002060"/>
                              </a:solidFill>
                              <a:latin typeface="Times New Roman" panose="02020603050405020304" pitchFamily="18" charset="0"/>
                            </a:rPr>
                            <a:t>B[1]=1100</a:t>
                          </a:r>
                          <a:endParaRPr lang="zh-TW" altLang="en-US" baseline="0" dirty="0">
                            <a:solidFill>
                              <a:srgbClr val="002060"/>
                            </a:solidFill>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1659463218"/>
                      </a:ext>
                    </a:extLst>
                  </a:tr>
                </a:tbl>
              </a:graphicData>
            </a:graphic>
          </p:graphicFrame>
        </mc:Choice>
        <mc:Fallback xmlns="">
          <p:graphicFrame>
            <p:nvGraphicFramePr>
              <p:cNvPr id="20" name="內容版面配置區 7">
                <a:extLst>
                  <a:ext uri="{FF2B5EF4-FFF2-40B4-BE49-F238E27FC236}">
                    <a16:creationId xmlns:a16="http://schemas.microsoft.com/office/drawing/2014/main" id="{D074AE84-48DF-4D0E-BC52-F86E0E9E0101}"/>
                  </a:ext>
                </a:extLst>
              </p:cNvPr>
              <p:cNvGraphicFramePr>
                <a:graphicFrameLocks/>
              </p:cNvGraphicFramePr>
              <p:nvPr>
                <p:extLst>
                  <p:ext uri="{D42A27DB-BD31-4B8C-83A1-F6EECF244321}">
                    <p14:modId xmlns:p14="http://schemas.microsoft.com/office/powerpoint/2010/main" val="3594606678"/>
                  </p:ext>
                </p:extLst>
              </p:nvPr>
            </p:nvGraphicFramePr>
            <p:xfrm>
              <a:off x="967667" y="967527"/>
              <a:ext cx="6386400" cy="2291080"/>
            </p:xfrm>
            <a:graphic>
              <a:graphicData uri="http://schemas.openxmlformats.org/drawingml/2006/table">
                <a:tbl>
                  <a:tblPr firstRow="1" bandRow="1">
                    <a:tableStyleId>{5940675A-B579-460E-94D1-54222C63F5DA}</a:tableStyleId>
                  </a:tblPr>
                  <a:tblGrid>
                    <a:gridCol w="1576800">
                      <a:extLst>
                        <a:ext uri="{9D8B030D-6E8A-4147-A177-3AD203B41FA5}">
                          <a16:colId xmlns:a16="http://schemas.microsoft.com/office/drawing/2014/main" val="4183209010"/>
                        </a:ext>
                      </a:extLst>
                    </a:gridCol>
                    <a:gridCol w="1576800">
                      <a:extLst>
                        <a:ext uri="{9D8B030D-6E8A-4147-A177-3AD203B41FA5}">
                          <a16:colId xmlns:a16="http://schemas.microsoft.com/office/drawing/2014/main" val="4264795898"/>
                        </a:ext>
                      </a:extLst>
                    </a:gridCol>
                    <a:gridCol w="1576800">
                      <a:extLst>
                        <a:ext uri="{9D8B030D-6E8A-4147-A177-3AD203B41FA5}">
                          <a16:colId xmlns:a16="http://schemas.microsoft.com/office/drawing/2014/main" val="2897420003"/>
                        </a:ext>
                      </a:extLst>
                    </a:gridCol>
                    <a:gridCol w="1656000">
                      <a:extLst>
                        <a:ext uri="{9D8B030D-6E8A-4147-A177-3AD203B41FA5}">
                          <a16:colId xmlns:a16="http://schemas.microsoft.com/office/drawing/2014/main" val="4157295316"/>
                        </a:ext>
                      </a:extLst>
                    </a:gridCol>
                  </a:tblGrid>
                  <a:tr h="370840">
                    <a:tc>
                      <a:txBody>
                        <a:bodyPr/>
                        <a:lstStyle/>
                        <a:p>
                          <a:pPr algn="ctr"/>
                          <a:r>
                            <a:rPr lang="en-US" altLang="zh-TW" baseline="0" dirty="0">
                              <a:latin typeface="Times New Roman" panose="02020603050405020304" pitchFamily="18" charset="0"/>
                            </a:rPr>
                            <a:t>Word</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err="1">
                              <a:latin typeface="Times New Roman" panose="02020603050405020304" pitchFamily="18" charset="0"/>
                            </a:rPr>
                            <a:t>Pred</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Codes (P)</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solidFill>
                                <a:srgbClr val="002060"/>
                              </a:solidFill>
                              <a:latin typeface="Times New Roman" panose="02020603050405020304" pitchFamily="18" charset="0"/>
                            </a:rPr>
                            <a:t>B[Code]</a:t>
                          </a:r>
                          <a:endParaRPr lang="zh-TW" altLang="en-US" baseline="0" dirty="0">
                            <a:solidFill>
                              <a:srgbClr val="002060"/>
                            </a:solidFill>
                            <a:latin typeface="Times New Roman" panose="02020603050405020304" pitchFamily="18" charset="0"/>
                          </a:endParaRPr>
                        </a:p>
                      </a:txBody>
                      <a:tcPr>
                        <a:solidFill>
                          <a:schemeClr val="bg1"/>
                        </a:solidFill>
                      </a:tcPr>
                    </a:tc>
                    <a:extLst>
                      <a:ext uri="{0D108BD9-81ED-4DB2-BD59-A6C34878D82A}">
                        <a16:rowId xmlns:a16="http://schemas.microsoft.com/office/drawing/2014/main" val="2352578504"/>
                      </a:ext>
                    </a:extLst>
                  </a:tr>
                  <a:tr h="640080">
                    <a:tc>
                      <a:txBody>
                        <a:bodyPr/>
                        <a:lstStyle/>
                        <a:p>
                          <a:pPr algn="ctr"/>
                          <a:r>
                            <a:rPr lang="en-US" altLang="zh-TW" baseline="0" dirty="0">
                              <a:latin typeface="Times New Roman" panose="02020603050405020304" pitchFamily="18" charset="0"/>
                            </a:rPr>
                            <a:t>ABAA</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0021 </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01</a:t>
                          </a:r>
                          <a:endParaRPr lang="zh-TW" altLang="en-US" baseline="0" dirty="0">
                            <a:latin typeface="Times New Roman" panose="02020603050405020304" pitchFamily="18" charset="0"/>
                          </a:endParaRPr>
                        </a:p>
                      </a:txBody>
                      <a:tcPr>
                        <a:solidFill>
                          <a:schemeClr val="bg1"/>
                        </a:solidFill>
                      </a:tcPr>
                    </a:tc>
                    <a:tc>
                      <a:txBody>
                        <a:bodyPr/>
                        <a:lstStyle/>
                        <a:p>
                          <a:endParaRPr lang="zh-TW"/>
                        </a:p>
                      </a:txBody>
                      <a:tcPr>
                        <a:blipFill>
                          <a:blip r:embed="rId3"/>
                          <a:stretch>
                            <a:fillRect l="-286029" t="-62857" r="-735" b="-216190"/>
                          </a:stretch>
                        </a:blipFill>
                      </a:tcPr>
                    </a:tc>
                    <a:extLst>
                      <a:ext uri="{0D108BD9-81ED-4DB2-BD59-A6C34878D82A}">
                        <a16:rowId xmlns:a16="http://schemas.microsoft.com/office/drawing/2014/main" val="3978714840"/>
                      </a:ext>
                    </a:extLst>
                  </a:tr>
                  <a:tr h="640080">
                    <a:tc>
                      <a:txBody>
                        <a:bodyPr/>
                        <a:lstStyle/>
                        <a:p>
                          <a:pPr algn="ctr"/>
                          <a:r>
                            <a:rPr lang="en-US" altLang="zh-TW" baseline="0" dirty="0">
                              <a:latin typeface="Times New Roman" panose="02020603050405020304" pitchFamily="18" charset="0"/>
                            </a:rPr>
                            <a:t>BABA</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0022</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10</a:t>
                          </a:r>
                          <a:endParaRPr lang="zh-TW" altLang="en-US" baseline="0" dirty="0">
                            <a:latin typeface="Times New Roman" panose="02020603050405020304" pitchFamily="18" charset="0"/>
                          </a:endParaRPr>
                        </a:p>
                      </a:txBody>
                      <a:tcPr>
                        <a:solidFill>
                          <a:schemeClr val="bg1"/>
                        </a:solidFill>
                      </a:tcPr>
                    </a:tc>
                    <a:tc>
                      <a:txBody>
                        <a:bodyPr/>
                        <a:lstStyle/>
                        <a:p>
                          <a:endParaRPr lang="zh-TW"/>
                        </a:p>
                      </a:txBody>
                      <a:tcPr>
                        <a:blipFill>
                          <a:blip r:embed="rId3"/>
                          <a:stretch>
                            <a:fillRect l="-286029" t="-161321" r="-735" b="-114151"/>
                          </a:stretch>
                        </a:blipFill>
                      </a:tcPr>
                    </a:tc>
                    <a:extLst>
                      <a:ext uri="{0D108BD9-81ED-4DB2-BD59-A6C34878D82A}">
                        <a16:rowId xmlns:a16="http://schemas.microsoft.com/office/drawing/2014/main" val="2172083126"/>
                      </a:ext>
                    </a:extLst>
                  </a:tr>
                  <a:tr h="640080">
                    <a:tc gridSpan="3">
                      <a:txBody>
                        <a:bodyPr/>
                        <a:lstStyle/>
                        <a:p>
                          <a:pPr algn="ctr"/>
                          <a:r>
                            <a:rPr lang="en-US" altLang="zh-TW" baseline="0" dirty="0">
                              <a:solidFill>
                                <a:srgbClr val="002060"/>
                              </a:solidFill>
                              <a:latin typeface="Times New Roman" panose="02020603050405020304" pitchFamily="18" charset="0"/>
                            </a:rPr>
                            <a:t>Final Bit Table</a:t>
                          </a:r>
                          <a:endParaRPr lang="zh-TW" altLang="en-US" baseline="0" dirty="0">
                            <a:solidFill>
                              <a:srgbClr val="002060"/>
                            </a:solidFill>
                            <a:latin typeface="Times New Roman" panose="02020603050405020304" pitchFamily="18" charset="0"/>
                          </a:endParaRPr>
                        </a:p>
                      </a:txBody>
                      <a:tcPr>
                        <a:solidFill>
                          <a:schemeClr val="bg1"/>
                        </a:solidFill>
                      </a:tcPr>
                    </a:tc>
                    <a:tc hMerge="1">
                      <a:txBody>
                        <a:bodyPr/>
                        <a:lstStyle/>
                        <a:p>
                          <a:pPr algn="ctr"/>
                          <a:endParaRPr lang="zh-TW" altLang="en-US" baseline="0" dirty="0">
                            <a:solidFill>
                              <a:srgbClr val="FF0000"/>
                            </a:solidFill>
                            <a:latin typeface="Times New Roman" panose="02020603050405020304" pitchFamily="18" charset="0"/>
                          </a:endParaRPr>
                        </a:p>
                      </a:txBody>
                      <a:tcPr>
                        <a:solidFill>
                          <a:schemeClr val="bg1"/>
                        </a:solidFill>
                      </a:tcPr>
                    </a:tc>
                    <a:tc hMerge="1">
                      <a:txBody>
                        <a:bodyPr/>
                        <a:lstStyle/>
                        <a:p>
                          <a:pPr algn="ct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solidFill>
                                <a:srgbClr val="002060"/>
                              </a:solidFill>
                              <a:latin typeface="Times New Roman" panose="02020603050405020304" pitchFamily="18" charset="0"/>
                            </a:rPr>
                            <a:t>B[0]=1100</a:t>
                          </a:r>
                        </a:p>
                        <a:p>
                          <a:pPr algn="ctr"/>
                          <a:r>
                            <a:rPr lang="en-US" altLang="zh-TW" baseline="0" dirty="0">
                              <a:solidFill>
                                <a:srgbClr val="002060"/>
                              </a:solidFill>
                              <a:latin typeface="Times New Roman" panose="02020603050405020304" pitchFamily="18" charset="0"/>
                            </a:rPr>
                            <a:t>B[1]=1100</a:t>
                          </a:r>
                          <a:endParaRPr lang="zh-TW" altLang="en-US" baseline="0" dirty="0">
                            <a:solidFill>
                              <a:srgbClr val="002060"/>
                            </a:solidFill>
                            <a:latin typeface="Times New Roman" panose="02020603050405020304" pitchFamily="18" charset="0"/>
                          </a:endParaRPr>
                        </a:p>
                      </a:txBody>
                      <a:tcPr>
                        <a:solidFill>
                          <a:schemeClr val="bg1"/>
                        </a:solidFill>
                      </a:tcPr>
                    </a:tc>
                    <a:extLst>
                      <a:ext uri="{0D108BD9-81ED-4DB2-BD59-A6C34878D82A}">
                        <a16:rowId xmlns:a16="http://schemas.microsoft.com/office/drawing/2014/main" val="1659463218"/>
                      </a:ext>
                    </a:extLst>
                  </a:tr>
                </a:tbl>
              </a:graphicData>
            </a:graphic>
          </p:graphicFrame>
        </mc:Fallback>
      </mc:AlternateContent>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20</a:t>
            </a:fld>
            <a:endParaRPr lang="zh-TW" altLang="en-US"/>
          </a:p>
        </p:txBody>
      </p:sp>
      <p:sp>
        <p:nvSpPr>
          <p:cNvPr id="21" name="矩形 20">
            <a:extLst>
              <a:ext uri="{FF2B5EF4-FFF2-40B4-BE49-F238E27FC236}">
                <a16:creationId xmlns:a16="http://schemas.microsoft.com/office/drawing/2014/main" xmlns="" id="{8D5B326E-F4A5-4ED1-8748-44153AA1834B}"/>
              </a:ext>
            </a:extLst>
          </p:cNvPr>
          <p:cNvSpPr/>
          <p:nvPr/>
        </p:nvSpPr>
        <p:spPr>
          <a:xfrm>
            <a:off x="501748" y="451380"/>
            <a:ext cx="2010633" cy="400110"/>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Build bit-table:</a:t>
            </a:r>
            <a:endParaRPr lang="en-US" altLang="zh-TW" sz="2000" dirty="0">
              <a:solidFill>
                <a:srgbClr val="0070C0"/>
              </a:solidFill>
              <a:latin typeface="Times New Roman" panose="02020603050405020304" pitchFamily="18" charset="0"/>
              <a:cs typeface="Times New Roman" panose="02020603050405020304" pitchFamily="18" charset="0"/>
            </a:endParaRPr>
          </a:p>
        </p:txBody>
      </p:sp>
      <p:sp>
        <p:nvSpPr>
          <p:cNvPr id="31" name="矩形 30">
            <a:extLst>
              <a:ext uri="{FF2B5EF4-FFF2-40B4-BE49-F238E27FC236}">
                <a16:creationId xmlns:a16="http://schemas.microsoft.com/office/drawing/2014/main" xmlns="" id="{9C97F797-0ADF-471F-B0BE-B54B80B52315}"/>
              </a:ext>
            </a:extLst>
          </p:cNvPr>
          <p:cNvSpPr/>
          <p:nvPr/>
        </p:nvSpPr>
        <p:spPr>
          <a:xfrm>
            <a:off x="501748" y="3458061"/>
            <a:ext cx="4735848" cy="400110"/>
          </a:xfrm>
          <a:prstGeom prst="rect">
            <a:avLst/>
          </a:prstGeom>
        </p:spPr>
        <p:txBody>
          <a:bodyPr wrap="none">
            <a:spAutoFit/>
          </a:bodyPr>
          <a:lstStyle/>
          <a:p>
            <a:r>
              <a:rPr lang="en-US" altLang="zh-TW" sz="2000" dirty="0">
                <a:solidFill>
                  <a:srgbClr val="0070C0"/>
                </a:solidFill>
                <a:latin typeface="Times New Roman" panose="02020603050405020304" pitchFamily="18" charset="0"/>
                <a:cs typeface="Times New Roman" panose="02020603050405020304" pitchFamily="18" charset="0"/>
              </a:rPr>
              <a:t>each bit uses AND operation to get </a:t>
            </a:r>
            <a:r>
              <a:rPr lang="en-US" altLang="zh-TW" sz="2000" b="0" dirty="0">
                <a:solidFill>
                  <a:srgbClr val="0070C0"/>
                </a:solidFill>
                <a:latin typeface="Times New Roman" panose="02020603050405020304" pitchFamily="18" charset="0"/>
                <a:cs typeface="Times New Roman" panose="02020603050405020304" pitchFamily="18" charset="0"/>
              </a:rPr>
              <a:t>final bits</a:t>
            </a:r>
            <a:endParaRPr lang="zh-TW" altLang="en-US" sz="2000" dirty="0">
              <a:solidFill>
                <a:srgbClr val="0070C0"/>
              </a:solidFill>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xmlns="" id="{9B0C78D2-CF61-487D-9F8A-07B192C7B6BF}"/>
              </a:ext>
            </a:extLst>
          </p:cNvPr>
          <p:cNvSpPr/>
          <p:nvPr/>
        </p:nvSpPr>
        <p:spPr>
          <a:xfrm>
            <a:off x="5287180" y="3499358"/>
            <a:ext cx="2801664" cy="646331"/>
          </a:xfrm>
          <a:prstGeom prst="rect">
            <a:avLst/>
          </a:prstGeom>
        </p:spPr>
        <p:txBody>
          <a:bodyPr wrap="none">
            <a:spAutoFit/>
          </a:bodyPr>
          <a:lstStyle/>
          <a:p>
            <a:r>
              <a:rPr lang="en-US" altLang="zh-TW" dirty="0">
                <a:latin typeface="Times New Roman" panose="02020603050405020304" pitchFamily="18" charset="0"/>
              </a:rPr>
              <a:t>B[0] = 1110 &amp; 1101 = 1100 </a:t>
            </a:r>
          </a:p>
          <a:p>
            <a:r>
              <a:rPr lang="en-US" altLang="zh-TW" dirty="0">
                <a:latin typeface="Times New Roman" panose="02020603050405020304" pitchFamily="18" charset="0"/>
              </a:rPr>
              <a:t>B[1]</a:t>
            </a:r>
            <a:r>
              <a:rPr lang="zh-TW" altLang="en-US" dirty="0">
                <a:latin typeface="Times New Roman" panose="02020603050405020304" pitchFamily="18" charset="0"/>
              </a:rPr>
              <a:t> </a:t>
            </a:r>
            <a:r>
              <a:rPr lang="en-US" altLang="zh-TW" dirty="0">
                <a:latin typeface="Times New Roman" panose="02020603050405020304" pitchFamily="18" charset="0"/>
              </a:rPr>
              <a:t>=</a:t>
            </a:r>
            <a:r>
              <a:rPr lang="zh-TW" altLang="en-US" dirty="0">
                <a:latin typeface="Times New Roman" panose="02020603050405020304" pitchFamily="18" charset="0"/>
              </a:rPr>
              <a:t> </a:t>
            </a:r>
            <a:r>
              <a:rPr lang="en-US" altLang="zh-TW" dirty="0">
                <a:latin typeface="Times New Roman" panose="02020603050405020304" pitchFamily="18" charset="0"/>
              </a:rPr>
              <a:t>1101</a:t>
            </a:r>
            <a:r>
              <a:rPr lang="zh-TW" altLang="en-US" dirty="0">
                <a:latin typeface="Times New Roman" panose="02020603050405020304" pitchFamily="18" charset="0"/>
              </a:rPr>
              <a:t> </a:t>
            </a:r>
            <a:r>
              <a:rPr lang="en-US" altLang="zh-TW" dirty="0">
                <a:latin typeface="Times New Roman" panose="02020603050405020304" pitchFamily="18" charset="0"/>
              </a:rPr>
              <a:t>&amp;</a:t>
            </a:r>
            <a:r>
              <a:rPr lang="zh-TW" altLang="en-US" dirty="0">
                <a:latin typeface="Times New Roman" panose="02020603050405020304" pitchFamily="18" charset="0"/>
              </a:rPr>
              <a:t> </a:t>
            </a:r>
            <a:r>
              <a:rPr lang="en-US" altLang="zh-TW" dirty="0">
                <a:latin typeface="Times New Roman" panose="02020603050405020304" pitchFamily="18" charset="0"/>
              </a:rPr>
              <a:t>1110</a:t>
            </a:r>
            <a:r>
              <a:rPr lang="zh-TW" altLang="en-US" dirty="0">
                <a:latin typeface="Times New Roman" panose="02020603050405020304" pitchFamily="18" charset="0"/>
              </a:rPr>
              <a:t> </a:t>
            </a:r>
            <a:r>
              <a:rPr lang="en-US" altLang="zh-TW" dirty="0">
                <a:latin typeface="Times New Roman" panose="02020603050405020304" pitchFamily="18" charset="0"/>
              </a:rPr>
              <a:t>=</a:t>
            </a:r>
            <a:r>
              <a:rPr lang="zh-TW" altLang="en-US" dirty="0">
                <a:latin typeface="Times New Roman" panose="02020603050405020304" pitchFamily="18" charset="0"/>
              </a:rPr>
              <a:t> </a:t>
            </a:r>
            <a:r>
              <a:rPr lang="en-US" altLang="zh-TW" dirty="0">
                <a:latin typeface="Times New Roman" panose="02020603050405020304" pitchFamily="18" charset="0"/>
              </a:rPr>
              <a:t>1100</a:t>
            </a:r>
            <a:endParaRPr lang="zh-TW" altLang="en-US" dirty="0"/>
          </a:p>
        </p:txBody>
      </p:sp>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xmlns="" id="{64C43124-A4A1-4380-9080-B510DF0E3403}"/>
                  </a:ext>
                </a:extLst>
              </p:cNvPr>
              <p:cNvSpPr/>
              <p:nvPr/>
            </p:nvSpPr>
            <p:spPr>
              <a:xfrm>
                <a:off x="4277908" y="530462"/>
                <a:ext cx="4621330" cy="400110"/>
              </a:xfrm>
              <a:prstGeom prst="rect">
                <a:avLst/>
              </a:prstGeom>
            </p:spPr>
            <p:txBody>
              <a:bodyPr wrap="none">
                <a:spAutoFit/>
              </a:bodyPr>
              <a:lstStyle/>
              <a:p>
                <a:r>
                  <a:rPr lang="en-US" altLang="zh-TW" sz="2000" dirty="0">
                    <a:solidFill>
                      <a:srgbClr val="0070C0"/>
                    </a:solidFill>
                    <a:latin typeface="Times New Roman" panose="02020603050405020304" pitchFamily="18" charset="0"/>
                    <a:cs typeface="Times New Roman" panose="02020603050405020304" pitchFamily="18" charset="0"/>
                  </a:rPr>
                  <a:t>The length of B is </a:t>
                </a:r>
                <a14:m>
                  <m:oMath xmlns:m="http://schemas.openxmlformats.org/officeDocument/2006/math">
                    <m:r>
                      <a:rPr lang="en-US" altLang="zh-TW" sz="2000" b="0" i="1" smtClean="0">
                        <a:solidFill>
                          <a:srgbClr val="0070C0"/>
                        </a:solidFill>
                        <a:latin typeface="Cambria Math" panose="02040503050406030204" pitchFamily="18" charset="0"/>
                        <a:cs typeface="Times New Roman" panose="02020603050405020304" pitchFamily="18" charset="0"/>
                      </a:rPr>
                      <m:t>𝑚</m:t>
                    </m:r>
                  </m:oMath>
                </a14:m>
                <a:r>
                  <a:rPr lang="en-US" altLang="zh-TW" sz="2000" dirty="0">
                    <a:solidFill>
                      <a:srgbClr val="0070C0"/>
                    </a:solidFill>
                    <a:latin typeface="Times New Roman" panose="02020603050405020304" pitchFamily="18" charset="0"/>
                    <a:cs typeface="Times New Roman" panose="02020603050405020304" pitchFamily="18" charset="0"/>
                  </a:rPr>
                  <a:t> (max length of codes)</a:t>
                </a:r>
                <a:endParaRPr lang="zh-TW" altLang="en-US" sz="2000"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33" name="矩形 32">
                <a:extLst>
                  <a:ext uri="{FF2B5EF4-FFF2-40B4-BE49-F238E27FC236}">
                    <a16:creationId xmlns:a16="http://schemas.microsoft.com/office/drawing/2014/main" id="{64C43124-A4A1-4380-9080-B510DF0E3403}"/>
                  </a:ext>
                </a:extLst>
              </p:cNvPr>
              <p:cNvSpPr>
                <a:spLocks noRot="1" noChangeAspect="1" noMove="1" noResize="1" noEditPoints="1" noAdjustHandles="1" noChangeArrowheads="1" noChangeShapeType="1" noTextEdit="1"/>
              </p:cNvSpPr>
              <p:nvPr/>
            </p:nvSpPr>
            <p:spPr>
              <a:xfrm>
                <a:off x="4277908" y="530462"/>
                <a:ext cx="4621330" cy="400110"/>
              </a:xfrm>
              <a:prstGeom prst="rect">
                <a:avLst/>
              </a:prstGeom>
              <a:blipFill>
                <a:blip r:embed="rId4"/>
                <a:stretch>
                  <a:fillRect l="-1451" t="-7576" r="-264" b="-25758"/>
                </a:stretch>
              </a:blipFill>
            </p:spPr>
            <p:txBody>
              <a:bodyPr/>
              <a:lstStyle/>
              <a:p>
                <a:r>
                  <a:rPr lang="zh-TW" altLang="en-US">
                    <a:noFill/>
                  </a:rPr>
                  <a:t> </a:t>
                </a:r>
              </a:p>
            </p:txBody>
          </p:sp>
        </mc:Fallback>
      </mc:AlternateContent>
      <p:sp>
        <p:nvSpPr>
          <p:cNvPr id="12" name="內容版面配置區 6">
            <a:extLst>
              <a:ext uri="{FF2B5EF4-FFF2-40B4-BE49-F238E27FC236}">
                <a16:creationId xmlns:a16="http://schemas.microsoft.com/office/drawing/2014/main" xmlns="" id="{F060876E-6F6D-4123-93D6-2C104FA8BD4E}"/>
              </a:ext>
            </a:extLst>
          </p:cNvPr>
          <p:cNvSpPr txBox="1">
            <a:spLocks/>
          </p:cNvSpPr>
          <p:nvPr/>
        </p:nvSpPr>
        <p:spPr>
          <a:xfrm>
            <a:off x="463876" y="4039557"/>
            <a:ext cx="465918" cy="7158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T:</a:t>
            </a:r>
          </a:p>
          <a:p>
            <a:pPr marL="0" indent="0">
              <a:lnSpc>
                <a:spcPct val="150000"/>
              </a:lnSpc>
              <a:buFont typeface="Arial" panose="020B0604020202020204" pitchFamily="34" charset="0"/>
              <a:buNone/>
            </a:pPr>
            <a:endParaRPr lang="en-US" altLang="zh-TW" sz="2400" dirty="0">
              <a:latin typeface="Times New Roman" panose="02020603050405020304" pitchFamily="18" charset="0"/>
              <a:cs typeface="Times New Roman" panose="02020603050405020304" pitchFamily="18" charset="0"/>
            </a:endParaRPr>
          </a:p>
        </p:txBody>
      </p:sp>
      <p:sp>
        <p:nvSpPr>
          <p:cNvPr id="13" name="矩形 12">
            <a:extLst>
              <a:ext uri="{FF2B5EF4-FFF2-40B4-BE49-F238E27FC236}">
                <a16:creationId xmlns:a16="http://schemas.microsoft.com/office/drawing/2014/main" xmlns="" id="{DBB5DCCB-D5CD-4448-AECB-B38D2DE9B4C2}"/>
              </a:ext>
            </a:extLst>
          </p:cNvPr>
          <p:cNvSpPr/>
          <p:nvPr/>
        </p:nvSpPr>
        <p:spPr>
          <a:xfrm>
            <a:off x="929794" y="4039245"/>
            <a:ext cx="389850" cy="588879"/>
          </a:xfrm>
          <a:prstGeom prst="rect">
            <a:avLst/>
          </a:prstGeom>
        </p:spPr>
        <p:txBody>
          <a:bodyPr wrap="none">
            <a:spAutoFit/>
          </a:bodyPr>
          <a:lstStyle/>
          <a:p>
            <a:pPr>
              <a:lnSpc>
                <a:spcPct val="150000"/>
              </a:lnSpc>
            </a:pPr>
            <a:r>
              <a:rPr lang="en-US" altLang="zh-TW" sz="2400" dirty="0">
                <a:latin typeface="Arial Black" panose="020B0A04020102020204" pitchFamily="34" charset="0"/>
                <a:cs typeface="AngsanaUPC" panose="020B0502040204020203" pitchFamily="18" charset="-34"/>
              </a:rPr>
              <a:t>0</a:t>
            </a:r>
            <a:endParaRPr lang="zh-TW" altLang="en-US" sz="2400" dirty="0">
              <a:latin typeface="Arial Black" panose="020B0A04020102020204" pitchFamily="34" charset="0"/>
              <a:cs typeface="AngsanaUPC" panose="020B0502040204020203" pitchFamily="18" charset="-34"/>
            </a:endParaRPr>
          </a:p>
        </p:txBody>
      </p:sp>
      <p:sp>
        <p:nvSpPr>
          <p:cNvPr id="14" name="矩形 13">
            <a:extLst>
              <a:ext uri="{FF2B5EF4-FFF2-40B4-BE49-F238E27FC236}">
                <a16:creationId xmlns:a16="http://schemas.microsoft.com/office/drawing/2014/main" xmlns="" id="{0901935D-0A96-46B7-BC49-0E1319257116}"/>
              </a:ext>
            </a:extLst>
          </p:cNvPr>
          <p:cNvSpPr/>
          <p:nvPr/>
        </p:nvSpPr>
        <p:spPr>
          <a:xfrm>
            <a:off x="1134086" y="4039245"/>
            <a:ext cx="389850" cy="588879"/>
          </a:xfrm>
          <a:prstGeom prst="rect">
            <a:avLst/>
          </a:prstGeom>
        </p:spPr>
        <p:txBody>
          <a:bodyPr wrap="none">
            <a:spAutoFit/>
          </a:bodyPr>
          <a:lstStyle/>
          <a:p>
            <a:pPr>
              <a:lnSpc>
                <a:spcPct val="150000"/>
              </a:lnSpc>
            </a:pPr>
            <a:r>
              <a:rPr lang="en-US" altLang="zh-TW" sz="2400" dirty="0">
                <a:latin typeface="Arial Black" panose="020B0A04020102020204" pitchFamily="34" charset="0"/>
                <a:cs typeface="AngsanaUPC" panose="020B0502040204020203" pitchFamily="18" charset="-34"/>
              </a:rPr>
              <a:t>1</a:t>
            </a:r>
            <a:endParaRPr lang="zh-TW" altLang="en-US" sz="2400" dirty="0">
              <a:latin typeface="Arial Black" panose="020B0A04020102020204" pitchFamily="34" charset="0"/>
              <a:cs typeface="AngsanaUPC" panose="020B0502040204020203" pitchFamily="18" charset="-34"/>
            </a:endParaRPr>
          </a:p>
        </p:txBody>
      </p:sp>
      <p:sp>
        <p:nvSpPr>
          <p:cNvPr id="15" name="矩形 14">
            <a:extLst>
              <a:ext uri="{FF2B5EF4-FFF2-40B4-BE49-F238E27FC236}">
                <a16:creationId xmlns:a16="http://schemas.microsoft.com/office/drawing/2014/main" xmlns="" id="{C5BCD4FA-9D0F-4FAE-A800-3795D5FF2C13}"/>
              </a:ext>
            </a:extLst>
          </p:cNvPr>
          <p:cNvSpPr/>
          <p:nvPr/>
        </p:nvSpPr>
        <p:spPr>
          <a:xfrm>
            <a:off x="1435604" y="4045387"/>
            <a:ext cx="4083169" cy="588879"/>
          </a:xfrm>
          <a:prstGeom prst="rect">
            <a:avLst/>
          </a:prstGeom>
        </p:spPr>
        <p:txBody>
          <a:bodyPr wrap="none">
            <a:spAutoFit/>
          </a:bodyPr>
          <a:lstStyle/>
          <a:p>
            <a:pPr>
              <a:lnSpc>
                <a:spcPct val="150000"/>
              </a:lnSpc>
            </a:pPr>
            <a:r>
              <a:rPr lang="en-US" altLang="zh-TW" sz="2400" dirty="0">
                <a:latin typeface="Arial Black" panose="020B0A04020102020204" pitchFamily="34" charset="0"/>
                <a:cs typeface="AngsanaUPC" panose="020B0502040204020203" pitchFamily="18" charset="-34"/>
              </a:rPr>
              <a:t>10 01 01 01 10 </a:t>
            </a:r>
            <a:r>
              <a:rPr lang="en-US" altLang="zh-TW" sz="2400" dirty="0">
                <a:solidFill>
                  <a:srgbClr val="FF0000"/>
                </a:solidFill>
                <a:latin typeface="Arial Black" panose="020B0A04020102020204" pitchFamily="34" charset="0"/>
                <a:cs typeface="AngsanaUPC" panose="020B0502040204020203" pitchFamily="18" charset="-34"/>
              </a:rPr>
              <a:t>0</a:t>
            </a:r>
            <a:r>
              <a:rPr lang="en-US" altLang="zh-TW" sz="2400" dirty="0">
                <a:solidFill>
                  <a:srgbClr val="00B050"/>
                </a:solidFill>
                <a:latin typeface="Arial Black" panose="020B0A04020102020204" pitchFamily="34" charset="0"/>
                <a:cs typeface="AngsanaUPC" panose="020B0502040204020203" pitchFamily="18" charset="-34"/>
              </a:rPr>
              <a:t>0</a:t>
            </a:r>
            <a:r>
              <a:rPr lang="en-US" altLang="zh-TW" sz="2400" dirty="0">
                <a:solidFill>
                  <a:srgbClr val="7030A0"/>
                </a:solidFill>
                <a:latin typeface="Arial Black" panose="020B0A04020102020204" pitchFamily="34" charset="0"/>
                <a:cs typeface="AngsanaUPC" panose="020B0502040204020203" pitchFamily="18" charset="-34"/>
              </a:rPr>
              <a:t>0</a:t>
            </a:r>
            <a:r>
              <a:rPr lang="en-US" altLang="zh-TW" sz="2400" dirty="0">
                <a:solidFill>
                  <a:srgbClr val="855151"/>
                </a:solidFill>
                <a:latin typeface="Arial Black" panose="020B0A04020102020204" pitchFamily="34" charset="0"/>
                <a:cs typeface="AngsanaUPC" panose="020B0502040204020203" pitchFamily="18" charset="-34"/>
              </a:rPr>
              <a:t>1</a:t>
            </a:r>
            <a:r>
              <a:rPr lang="en-US" altLang="zh-TW" sz="2400" dirty="0">
                <a:latin typeface="Arial Black" panose="020B0A04020102020204" pitchFamily="34" charset="0"/>
                <a:cs typeface="AngsanaUPC" panose="020B0502040204020203" pitchFamily="18" charset="-34"/>
              </a:rPr>
              <a:t> 01</a:t>
            </a:r>
            <a:endParaRPr lang="zh-TW" altLang="en-US" sz="2400" dirty="0">
              <a:latin typeface="Arial Black" panose="020B0A04020102020204" pitchFamily="34" charset="0"/>
              <a:cs typeface="AngsanaUPC" panose="020B0502040204020203" pitchFamily="18" charset="-34"/>
            </a:endParaRPr>
          </a:p>
        </p:txBody>
      </p:sp>
      <p:sp>
        <p:nvSpPr>
          <p:cNvPr id="30" name="矩形 29">
            <a:extLst>
              <a:ext uri="{FF2B5EF4-FFF2-40B4-BE49-F238E27FC236}">
                <a16:creationId xmlns:a16="http://schemas.microsoft.com/office/drawing/2014/main" xmlns="" id="{78BA33A4-2571-4E58-9AEC-0467FC062754}"/>
              </a:ext>
            </a:extLst>
          </p:cNvPr>
          <p:cNvSpPr/>
          <p:nvPr/>
        </p:nvSpPr>
        <p:spPr>
          <a:xfrm>
            <a:off x="867275" y="4528180"/>
            <a:ext cx="3637552"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D =</a:t>
            </a:r>
            <a:r>
              <a:rPr lang="en-US" altLang="zh-TW" sz="2000" dirty="0">
                <a:latin typeface="Arial Black" panose="020B0A04020102020204" pitchFamily="34" charset="0"/>
                <a:cs typeface="AngsanaUPC" panose="020B0502040204020203" pitchFamily="18" charset="-34"/>
              </a:rPr>
              <a:t> 1110 | B[</a:t>
            </a:r>
            <a:r>
              <a:rPr lang="en-US" altLang="zh-TW" sz="2000" dirty="0">
                <a:solidFill>
                  <a:srgbClr val="FF0000"/>
                </a:solidFill>
                <a:latin typeface="Arial Black" panose="020B0A04020102020204" pitchFamily="34" charset="0"/>
                <a:cs typeface="AngsanaUPC" panose="020B0502040204020203" pitchFamily="18" charset="-34"/>
              </a:rPr>
              <a:t>0</a:t>
            </a:r>
            <a:r>
              <a:rPr lang="en-US" altLang="zh-TW" sz="2000" dirty="0">
                <a:latin typeface="Arial Black" panose="020B0A04020102020204" pitchFamily="34" charset="0"/>
                <a:cs typeface="AngsanaUPC" panose="020B0502040204020203" pitchFamily="18" charset="-34"/>
              </a:rPr>
              <a:t>]</a:t>
            </a:r>
          </a:p>
        </p:txBody>
      </p:sp>
      <p:sp>
        <p:nvSpPr>
          <p:cNvPr id="32" name="矩形 31">
            <a:extLst>
              <a:ext uri="{FF2B5EF4-FFF2-40B4-BE49-F238E27FC236}">
                <a16:creationId xmlns:a16="http://schemas.microsoft.com/office/drawing/2014/main" xmlns="" id="{F73A947F-A391-415A-B241-C08FD0603DC2}"/>
              </a:ext>
            </a:extLst>
          </p:cNvPr>
          <p:cNvSpPr/>
          <p:nvPr/>
        </p:nvSpPr>
        <p:spPr>
          <a:xfrm>
            <a:off x="398204" y="4528180"/>
            <a:ext cx="1553593"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1</a:t>
            </a:r>
            <a:r>
              <a:rPr lang="en-US" altLang="zh-TW" sz="2000" baseline="30000" dirty="0">
                <a:latin typeface="Times New Roman" panose="02020603050405020304" pitchFamily="18" charset="0"/>
                <a:cs typeface="Times New Roman" panose="02020603050405020304" pitchFamily="18" charset="0"/>
              </a:rPr>
              <a:t>st</a:t>
            </a:r>
            <a:r>
              <a:rPr lang="en-US" altLang="zh-TW" sz="2000" dirty="0">
                <a:latin typeface="Times New Roman" panose="02020603050405020304" pitchFamily="18" charset="0"/>
                <a:cs typeface="Times New Roman" panose="02020603050405020304" pitchFamily="18" charset="0"/>
              </a:rPr>
              <a:t>:</a:t>
            </a:r>
            <a:endParaRPr lang="zh-TW" altLang="en-US" sz="2000" dirty="0">
              <a:solidFill>
                <a:srgbClr val="0070C0"/>
              </a:solidFill>
              <a:latin typeface="Arial Black" panose="020B0A04020102020204" pitchFamily="34" charset="0"/>
              <a:cs typeface="AngsanaUPC" panose="020B0502040204020203" pitchFamily="18" charset="-34"/>
            </a:endParaRPr>
          </a:p>
        </p:txBody>
      </p:sp>
      <p:sp>
        <p:nvSpPr>
          <p:cNvPr id="34" name="矩形 33">
            <a:extLst>
              <a:ext uri="{FF2B5EF4-FFF2-40B4-BE49-F238E27FC236}">
                <a16:creationId xmlns:a16="http://schemas.microsoft.com/office/drawing/2014/main" xmlns="" id="{BEC3A020-0A84-4D39-86EA-B6217854D28B}"/>
              </a:ext>
            </a:extLst>
          </p:cNvPr>
          <p:cNvSpPr/>
          <p:nvPr/>
        </p:nvSpPr>
        <p:spPr>
          <a:xfrm>
            <a:off x="1074381" y="4919263"/>
            <a:ext cx="3559986"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 =</a:t>
            </a:r>
            <a:r>
              <a:rPr lang="en-US" altLang="zh-TW" sz="2000" dirty="0">
                <a:latin typeface="Arial Black" panose="020B0A04020102020204" pitchFamily="34" charset="0"/>
                <a:cs typeface="AngsanaUPC" panose="020B0502040204020203" pitchFamily="18" charset="-34"/>
              </a:rPr>
              <a:t> 1110 | 1100 </a:t>
            </a:r>
            <a:r>
              <a:rPr lang="en-US" altLang="zh-TW" sz="2000" dirty="0">
                <a:latin typeface="Times New Roman" panose="02020603050405020304" pitchFamily="18" charset="0"/>
                <a:cs typeface="Times New Roman" panose="02020603050405020304" pitchFamily="18" charset="0"/>
              </a:rPr>
              <a:t>= 1110</a:t>
            </a:r>
            <a:endParaRPr lang="en-US" altLang="zh-TW" sz="2000" dirty="0">
              <a:latin typeface="Arial Black" panose="020B0A04020102020204" pitchFamily="34" charset="0"/>
              <a:cs typeface="AngsanaUPC" panose="020B0502040204020203" pitchFamily="18" charset="-34"/>
            </a:endParaRPr>
          </a:p>
        </p:txBody>
      </p:sp>
      <p:sp>
        <p:nvSpPr>
          <p:cNvPr id="35" name="矩形 34">
            <a:extLst>
              <a:ext uri="{FF2B5EF4-FFF2-40B4-BE49-F238E27FC236}">
                <a16:creationId xmlns:a16="http://schemas.microsoft.com/office/drawing/2014/main" xmlns="" id="{5B42C9CC-EFF0-4D5E-9E00-B13D37AC8D00}"/>
              </a:ext>
            </a:extLst>
          </p:cNvPr>
          <p:cNvSpPr/>
          <p:nvPr/>
        </p:nvSpPr>
        <p:spPr>
          <a:xfrm>
            <a:off x="867274" y="5450312"/>
            <a:ext cx="3767093"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D </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a:t>
            </a:r>
            <a:r>
              <a:rPr lang="en-US" altLang="zh-TW" sz="2000" dirty="0">
                <a:latin typeface="Arial Black" panose="020B0A04020102020204" pitchFamily="34" charset="0"/>
                <a:cs typeface="AngsanaUPC" panose="020B0502040204020203" pitchFamily="18" charset="-34"/>
              </a:rPr>
              <a:t> 1100 | B[</a:t>
            </a:r>
            <a:r>
              <a:rPr lang="en-US" altLang="zh-TW" sz="2000" dirty="0">
                <a:solidFill>
                  <a:srgbClr val="7030A0"/>
                </a:solidFill>
                <a:latin typeface="Arial Black" panose="020B0A04020102020204" pitchFamily="34" charset="0"/>
                <a:cs typeface="AngsanaUPC" panose="020B0502040204020203" pitchFamily="18" charset="-34"/>
              </a:rPr>
              <a:t>0</a:t>
            </a:r>
            <a:r>
              <a:rPr lang="en-US" altLang="zh-TW" sz="2000" dirty="0">
                <a:latin typeface="Arial Black" panose="020B0A04020102020204" pitchFamily="34" charset="0"/>
                <a:cs typeface="AngsanaUPC" panose="020B0502040204020203" pitchFamily="18" charset="-34"/>
              </a:rPr>
              <a:t>]</a:t>
            </a:r>
          </a:p>
        </p:txBody>
      </p:sp>
      <p:sp>
        <p:nvSpPr>
          <p:cNvPr id="36" name="矩形 35">
            <a:extLst>
              <a:ext uri="{FF2B5EF4-FFF2-40B4-BE49-F238E27FC236}">
                <a16:creationId xmlns:a16="http://schemas.microsoft.com/office/drawing/2014/main" xmlns="" id="{E04E07E0-0702-4875-A741-5049EE603FD2}"/>
              </a:ext>
            </a:extLst>
          </p:cNvPr>
          <p:cNvSpPr/>
          <p:nvPr/>
        </p:nvSpPr>
        <p:spPr>
          <a:xfrm>
            <a:off x="398204" y="5450312"/>
            <a:ext cx="1553593"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2</a:t>
            </a:r>
            <a:r>
              <a:rPr lang="en-US" altLang="zh-TW" sz="2000" baseline="30000" dirty="0">
                <a:latin typeface="Times New Roman" panose="02020603050405020304" pitchFamily="18" charset="0"/>
                <a:cs typeface="Times New Roman" panose="02020603050405020304" pitchFamily="18" charset="0"/>
              </a:rPr>
              <a:t>nd</a:t>
            </a:r>
            <a:r>
              <a:rPr lang="en-US" altLang="zh-TW" sz="2000" dirty="0">
                <a:latin typeface="Times New Roman" panose="02020603050405020304" pitchFamily="18" charset="0"/>
                <a:cs typeface="Times New Roman" panose="02020603050405020304" pitchFamily="18" charset="0"/>
              </a:rPr>
              <a:t>:</a:t>
            </a:r>
            <a:endParaRPr lang="zh-TW" altLang="en-US" sz="2000" dirty="0">
              <a:solidFill>
                <a:srgbClr val="0070C0"/>
              </a:solidFill>
              <a:latin typeface="Arial Black" panose="020B0A04020102020204" pitchFamily="34" charset="0"/>
              <a:cs typeface="AngsanaUPC" panose="020B0502040204020203" pitchFamily="18" charset="-34"/>
            </a:endParaRPr>
          </a:p>
        </p:txBody>
      </p:sp>
      <p:sp>
        <p:nvSpPr>
          <p:cNvPr id="37" name="矩形 36">
            <a:extLst>
              <a:ext uri="{FF2B5EF4-FFF2-40B4-BE49-F238E27FC236}">
                <a16:creationId xmlns:a16="http://schemas.microsoft.com/office/drawing/2014/main" xmlns="" id="{67D6990D-9F10-4C44-BA56-79D5B83DEC90}"/>
              </a:ext>
            </a:extLst>
          </p:cNvPr>
          <p:cNvSpPr/>
          <p:nvPr/>
        </p:nvSpPr>
        <p:spPr>
          <a:xfrm>
            <a:off x="1180775" y="5845706"/>
            <a:ext cx="3453592"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a:t>
            </a:r>
            <a:r>
              <a:rPr lang="en-US" altLang="zh-TW" sz="2000" dirty="0">
                <a:latin typeface="Arial Black" panose="020B0A04020102020204" pitchFamily="34" charset="0"/>
                <a:cs typeface="AngsanaUPC" panose="020B0502040204020203" pitchFamily="18" charset="-34"/>
              </a:rPr>
              <a:t> 1100 | 1100 </a:t>
            </a:r>
            <a:r>
              <a:rPr lang="en-US" altLang="zh-TW" sz="2000" dirty="0">
                <a:latin typeface="Times New Roman" panose="02020603050405020304" pitchFamily="18" charset="0"/>
                <a:cs typeface="Times New Roman" panose="02020603050405020304" pitchFamily="18" charset="0"/>
              </a:rPr>
              <a:t>= 1100</a:t>
            </a:r>
            <a:endParaRPr lang="en-US" altLang="zh-TW" sz="2000" dirty="0">
              <a:latin typeface="Arial Black" panose="020B0A04020102020204" pitchFamily="34" charset="0"/>
              <a:cs typeface="AngsanaUPC" panose="020B0502040204020203" pitchFamily="18" charset="-34"/>
            </a:endParaRPr>
          </a:p>
        </p:txBody>
      </p:sp>
      <p:sp>
        <p:nvSpPr>
          <p:cNvPr id="38" name="矩形 37">
            <a:extLst>
              <a:ext uri="{FF2B5EF4-FFF2-40B4-BE49-F238E27FC236}">
                <a16:creationId xmlns:a16="http://schemas.microsoft.com/office/drawing/2014/main" xmlns="" id="{25241C56-7A0E-4F06-A588-785B9D0DFC3E}"/>
              </a:ext>
            </a:extLst>
          </p:cNvPr>
          <p:cNvSpPr/>
          <p:nvPr/>
        </p:nvSpPr>
        <p:spPr>
          <a:xfrm>
            <a:off x="4647716" y="4528180"/>
            <a:ext cx="3637552"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D =</a:t>
            </a:r>
            <a:r>
              <a:rPr lang="en-US" altLang="zh-TW" sz="2000" dirty="0">
                <a:latin typeface="Arial Black" panose="020B0A04020102020204" pitchFamily="34" charset="0"/>
                <a:cs typeface="AngsanaUPC" panose="020B0502040204020203" pitchFamily="18" charset="-34"/>
              </a:rPr>
              <a:t> 1000 | B[</a:t>
            </a:r>
            <a:r>
              <a:rPr lang="en-US" altLang="zh-TW" sz="2000" dirty="0">
                <a:solidFill>
                  <a:srgbClr val="00B050"/>
                </a:solidFill>
                <a:latin typeface="Arial Black" panose="020B0A04020102020204" pitchFamily="34" charset="0"/>
                <a:cs typeface="AngsanaUPC" panose="020B0502040204020203" pitchFamily="18" charset="-34"/>
              </a:rPr>
              <a:t>0</a:t>
            </a:r>
            <a:r>
              <a:rPr lang="en-US" altLang="zh-TW" sz="2000" dirty="0">
                <a:latin typeface="Arial Black" panose="020B0A04020102020204" pitchFamily="34" charset="0"/>
                <a:cs typeface="AngsanaUPC" panose="020B0502040204020203" pitchFamily="18" charset="-34"/>
              </a:rPr>
              <a:t>]</a:t>
            </a:r>
          </a:p>
        </p:txBody>
      </p:sp>
      <p:sp>
        <p:nvSpPr>
          <p:cNvPr id="39" name="矩形 38">
            <a:extLst>
              <a:ext uri="{FF2B5EF4-FFF2-40B4-BE49-F238E27FC236}">
                <a16:creationId xmlns:a16="http://schemas.microsoft.com/office/drawing/2014/main" xmlns="" id="{6F283F37-66EC-42A4-A6C7-189A82C6FCFC}"/>
              </a:ext>
            </a:extLst>
          </p:cNvPr>
          <p:cNvSpPr/>
          <p:nvPr/>
        </p:nvSpPr>
        <p:spPr>
          <a:xfrm>
            <a:off x="4178645" y="4528180"/>
            <a:ext cx="1553593"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3</a:t>
            </a:r>
            <a:r>
              <a:rPr lang="en-US" altLang="zh-TW" sz="2000" baseline="30000" dirty="0">
                <a:latin typeface="Times New Roman" panose="02020603050405020304" pitchFamily="18" charset="0"/>
                <a:cs typeface="Times New Roman" panose="02020603050405020304" pitchFamily="18" charset="0"/>
              </a:rPr>
              <a:t>rd</a:t>
            </a:r>
            <a:r>
              <a:rPr lang="en-US" altLang="zh-TW" sz="2000" dirty="0">
                <a:latin typeface="Times New Roman" panose="02020603050405020304" pitchFamily="18" charset="0"/>
                <a:cs typeface="Times New Roman" panose="02020603050405020304" pitchFamily="18" charset="0"/>
              </a:rPr>
              <a:t>:</a:t>
            </a:r>
            <a:endParaRPr lang="zh-TW" altLang="en-US" sz="2000" dirty="0">
              <a:solidFill>
                <a:srgbClr val="0070C0"/>
              </a:solidFill>
              <a:latin typeface="Arial Black" panose="020B0A04020102020204" pitchFamily="34" charset="0"/>
              <a:cs typeface="AngsanaUPC" panose="020B0502040204020203" pitchFamily="18" charset="-34"/>
            </a:endParaRPr>
          </a:p>
        </p:txBody>
      </p:sp>
      <p:sp>
        <p:nvSpPr>
          <p:cNvPr id="40" name="矩形 39">
            <a:extLst>
              <a:ext uri="{FF2B5EF4-FFF2-40B4-BE49-F238E27FC236}">
                <a16:creationId xmlns:a16="http://schemas.microsoft.com/office/drawing/2014/main" xmlns="" id="{507837D0-D093-49FB-94A4-631BCB6323EF}"/>
              </a:ext>
            </a:extLst>
          </p:cNvPr>
          <p:cNvSpPr/>
          <p:nvPr/>
        </p:nvSpPr>
        <p:spPr>
          <a:xfrm>
            <a:off x="4854822" y="4919263"/>
            <a:ext cx="3559986"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 =</a:t>
            </a:r>
            <a:r>
              <a:rPr lang="en-US" altLang="zh-TW" sz="2000" dirty="0">
                <a:latin typeface="Arial Black" panose="020B0A04020102020204" pitchFamily="34" charset="0"/>
                <a:cs typeface="AngsanaUPC" panose="020B0502040204020203" pitchFamily="18" charset="-34"/>
              </a:rPr>
              <a:t> 1000 | 1100 </a:t>
            </a:r>
            <a:r>
              <a:rPr lang="en-US" altLang="zh-TW" sz="2000" dirty="0">
                <a:latin typeface="Times New Roman" panose="02020603050405020304" pitchFamily="18" charset="0"/>
                <a:cs typeface="Times New Roman" panose="02020603050405020304" pitchFamily="18" charset="0"/>
              </a:rPr>
              <a:t>= 1100</a:t>
            </a:r>
            <a:endParaRPr lang="en-US" altLang="zh-TW" sz="2000" dirty="0">
              <a:latin typeface="Arial Black" panose="020B0A04020102020204" pitchFamily="34" charset="0"/>
              <a:cs typeface="AngsanaUPC" panose="020B0502040204020203" pitchFamily="18" charset="-34"/>
            </a:endParaRPr>
          </a:p>
        </p:txBody>
      </p:sp>
      <p:sp>
        <p:nvSpPr>
          <p:cNvPr id="41" name="矩形 40">
            <a:extLst>
              <a:ext uri="{FF2B5EF4-FFF2-40B4-BE49-F238E27FC236}">
                <a16:creationId xmlns:a16="http://schemas.microsoft.com/office/drawing/2014/main" xmlns="" id="{75872CF9-D805-458F-B0C2-894C15C5283C}"/>
              </a:ext>
            </a:extLst>
          </p:cNvPr>
          <p:cNvSpPr/>
          <p:nvPr/>
        </p:nvSpPr>
        <p:spPr>
          <a:xfrm>
            <a:off x="4647715" y="5450312"/>
            <a:ext cx="3767093"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D </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a:t>
            </a:r>
            <a:r>
              <a:rPr lang="en-US" altLang="zh-TW" sz="2000" dirty="0">
                <a:latin typeface="Arial Black" panose="020B0A04020102020204" pitchFamily="34" charset="0"/>
                <a:cs typeface="AngsanaUPC" panose="020B0502040204020203" pitchFamily="18" charset="-34"/>
              </a:rPr>
              <a:t> 0000 | B[</a:t>
            </a:r>
            <a:r>
              <a:rPr lang="en-US" altLang="zh-TW" sz="2000" dirty="0">
                <a:solidFill>
                  <a:srgbClr val="855151"/>
                </a:solidFill>
                <a:latin typeface="Arial Black" panose="020B0A04020102020204" pitchFamily="34" charset="0"/>
                <a:cs typeface="AngsanaUPC" panose="020B0502040204020203" pitchFamily="18" charset="-34"/>
              </a:rPr>
              <a:t>1</a:t>
            </a:r>
            <a:r>
              <a:rPr lang="en-US" altLang="zh-TW" sz="2000" dirty="0">
                <a:latin typeface="Arial Black" panose="020B0A04020102020204" pitchFamily="34" charset="0"/>
                <a:cs typeface="AngsanaUPC" panose="020B0502040204020203" pitchFamily="18" charset="-34"/>
              </a:rPr>
              <a:t>]</a:t>
            </a:r>
          </a:p>
        </p:txBody>
      </p:sp>
      <p:sp>
        <p:nvSpPr>
          <p:cNvPr id="42" name="矩形 41">
            <a:extLst>
              <a:ext uri="{FF2B5EF4-FFF2-40B4-BE49-F238E27FC236}">
                <a16:creationId xmlns:a16="http://schemas.microsoft.com/office/drawing/2014/main" xmlns="" id="{5476075F-8333-4359-98C9-4609EA7B35DD}"/>
              </a:ext>
            </a:extLst>
          </p:cNvPr>
          <p:cNvSpPr/>
          <p:nvPr/>
        </p:nvSpPr>
        <p:spPr>
          <a:xfrm>
            <a:off x="4178645" y="5450312"/>
            <a:ext cx="1553593"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4</a:t>
            </a:r>
            <a:r>
              <a:rPr lang="en-US" altLang="zh-TW" sz="2000" baseline="30000" dirty="0">
                <a:latin typeface="Times New Roman" panose="02020603050405020304" pitchFamily="18" charset="0"/>
                <a:cs typeface="Times New Roman" panose="02020603050405020304" pitchFamily="18" charset="0"/>
              </a:rPr>
              <a:t>th</a:t>
            </a:r>
            <a:r>
              <a:rPr lang="en-US" altLang="zh-TW" sz="2000" dirty="0">
                <a:latin typeface="Times New Roman" panose="02020603050405020304" pitchFamily="18" charset="0"/>
                <a:cs typeface="Times New Roman" panose="02020603050405020304" pitchFamily="18" charset="0"/>
              </a:rPr>
              <a:t>:</a:t>
            </a:r>
            <a:endParaRPr lang="zh-TW" altLang="en-US" sz="2000" dirty="0">
              <a:solidFill>
                <a:srgbClr val="0070C0"/>
              </a:solidFill>
              <a:latin typeface="Arial Black" panose="020B0A04020102020204" pitchFamily="34" charset="0"/>
              <a:cs typeface="AngsanaUPC" panose="020B0502040204020203" pitchFamily="18" charset="-34"/>
            </a:endParaRPr>
          </a:p>
        </p:txBody>
      </p:sp>
      <p:sp>
        <p:nvSpPr>
          <p:cNvPr id="43" name="矩形 42">
            <a:extLst>
              <a:ext uri="{FF2B5EF4-FFF2-40B4-BE49-F238E27FC236}">
                <a16:creationId xmlns:a16="http://schemas.microsoft.com/office/drawing/2014/main" xmlns="" id="{97355EF2-8036-4B7B-A377-3FD44FC81858}"/>
              </a:ext>
            </a:extLst>
          </p:cNvPr>
          <p:cNvSpPr/>
          <p:nvPr/>
        </p:nvSpPr>
        <p:spPr>
          <a:xfrm>
            <a:off x="4961216" y="5845706"/>
            <a:ext cx="3453592" cy="504562"/>
          </a:xfrm>
          <a:prstGeom prst="rect">
            <a:avLst/>
          </a:prstGeom>
        </p:spPr>
        <p:txBody>
          <a:bodyPr wrap="square">
            <a:sp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a:t>
            </a:r>
            <a:r>
              <a:rPr lang="en-US" altLang="zh-TW" sz="2000" dirty="0">
                <a:latin typeface="Arial Black" panose="020B0A04020102020204" pitchFamily="34" charset="0"/>
                <a:cs typeface="AngsanaUPC" panose="020B0502040204020203" pitchFamily="18" charset="-34"/>
              </a:rPr>
              <a:t> 0000 | 1100 </a:t>
            </a:r>
            <a:r>
              <a:rPr lang="en-US" altLang="zh-TW" sz="2000" dirty="0">
                <a:latin typeface="Times New Roman" panose="02020603050405020304" pitchFamily="18" charset="0"/>
                <a:cs typeface="Times New Roman" panose="02020603050405020304" pitchFamily="18" charset="0"/>
              </a:rPr>
              <a:t>= 1100</a:t>
            </a:r>
            <a:endParaRPr lang="en-US" altLang="zh-TW" sz="2000" dirty="0">
              <a:latin typeface="Arial Black" panose="020B0A04020102020204" pitchFamily="34" charset="0"/>
              <a:cs typeface="AngsanaUPC" panose="020B0502040204020203" pitchFamily="18" charset="-34"/>
            </a:endParaRPr>
          </a:p>
        </p:txBody>
      </p:sp>
    </p:spTree>
    <p:extLst>
      <p:ext uri="{BB962C8B-B14F-4D97-AF65-F5344CB8AC3E}">
        <p14:creationId xmlns:p14="http://schemas.microsoft.com/office/powerpoint/2010/main" val="9318143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內容版面配置區 7">
            <a:extLst>
              <a:ext uri="{FF2B5EF4-FFF2-40B4-BE49-F238E27FC236}">
                <a16:creationId xmlns:a16="http://schemas.microsoft.com/office/drawing/2014/main" xmlns="" id="{D074AE84-48DF-4D0E-BC52-F86E0E9E0101}"/>
              </a:ext>
            </a:extLst>
          </p:cNvPr>
          <p:cNvGraphicFramePr>
            <a:graphicFrameLocks/>
          </p:cNvGraphicFramePr>
          <p:nvPr>
            <p:extLst>
              <p:ext uri="{D42A27DB-BD31-4B8C-83A1-F6EECF244321}">
                <p14:modId xmlns:p14="http://schemas.microsoft.com/office/powerpoint/2010/main" val="1739339034"/>
              </p:ext>
            </p:extLst>
          </p:nvPr>
        </p:nvGraphicFramePr>
        <p:xfrm>
          <a:off x="2206800" y="1305765"/>
          <a:ext cx="4953600" cy="1478280"/>
        </p:xfrm>
        <a:graphic>
          <a:graphicData uri="http://schemas.openxmlformats.org/drawingml/2006/table">
            <a:tbl>
              <a:tblPr firstRow="1" bandRow="1">
                <a:tableStyleId>{5940675A-B579-460E-94D1-54222C63F5DA}</a:tableStyleId>
              </a:tblPr>
              <a:tblGrid>
                <a:gridCol w="1576800">
                  <a:extLst>
                    <a:ext uri="{9D8B030D-6E8A-4147-A177-3AD203B41FA5}">
                      <a16:colId xmlns:a16="http://schemas.microsoft.com/office/drawing/2014/main" xmlns="" val="4183209010"/>
                    </a:ext>
                  </a:extLst>
                </a:gridCol>
                <a:gridCol w="1800000">
                  <a:extLst>
                    <a:ext uri="{9D8B030D-6E8A-4147-A177-3AD203B41FA5}">
                      <a16:colId xmlns:a16="http://schemas.microsoft.com/office/drawing/2014/main" xmlns="" val="4264795898"/>
                    </a:ext>
                  </a:extLst>
                </a:gridCol>
                <a:gridCol w="1576800">
                  <a:extLst>
                    <a:ext uri="{9D8B030D-6E8A-4147-A177-3AD203B41FA5}">
                      <a16:colId xmlns:a16="http://schemas.microsoft.com/office/drawing/2014/main" xmlns="" val="2897420003"/>
                    </a:ext>
                  </a:extLst>
                </a:gridCol>
              </a:tblGrid>
              <a:tr h="276038">
                <a:tc>
                  <a:txBody>
                    <a:bodyPr/>
                    <a:lstStyle/>
                    <a:p>
                      <a:pPr algn="ctr"/>
                      <a:r>
                        <a:rPr lang="en-US" altLang="zh-TW" baseline="0" dirty="0">
                          <a:latin typeface="Times New Roman" panose="02020603050405020304" pitchFamily="18" charset="0"/>
                        </a:rPr>
                        <a:t>Alphabet size</a:t>
                      </a:r>
                      <a:endParaRPr lang="zh-TW" altLang="en-US" baseline="0" dirty="0">
                        <a:latin typeface="Times New Roman" panose="02020603050405020304" pitchFamily="18" charset="0"/>
                      </a:endParaRPr>
                    </a:p>
                  </a:txBody>
                  <a:tcPr anchor="ctr">
                    <a:solidFill>
                      <a:schemeClr val="bg1"/>
                    </a:solidFill>
                  </a:tcPr>
                </a:tc>
                <a:tc>
                  <a:txBody>
                    <a:bodyPr/>
                    <a:lstStyle/>
                    <a:p>
                      <a:pPr algn="ctr"/>
                      <a:r>
                        <a:rPr lang="en-US" altLang="zh-TW" baseline="0" dirty="0">
                          <a:latin typeface="Times New Roman" panose="02020603050405020304" pitchFamily="18" charset="0"/>
                        </a:rPr>
                        <a:t>Text composition</a:t>
                      </a:r>
                      <a:endParaRPr lang="zh-TW" altLang="en-US" baseline="0" dirty="0">
                        <a:latin typeface="Times New Roman" panose="02020603050405020304" pitchFamily="18" charset="0"/>
                      </a:endParaRPr>
                    </a:p>
                  </a:txBody>
                  <a:tcPr anchor="ctr">
                    <a:solidFill>
                      <a:schemeClr val="bg1"/>
                    </a:solidFill>
                  </a:tcPr>
                </a:tc>
                <a:tc>
                  <a:txBody>
                    <a:bodyPr/>
                    <a:lstStyle/>
                    <a:p>
                      <a:pPr algn="ctr"/>
                      <a:r>
                        <a:rPr lang="en-US" altLang="zh-TW" baseline="0" dirty="0">
                          <a:latin typeface="Times New Roman" panose="02020603050405020304" pitchFamily="18" charset="0"/>
                        </a:rPr>
                        <a:t>size of file</a:t>
                      </a:r>
                      <a:endParaRPr lang="zh-TW" altLang="en-US" baseline="0" dirty="0">
                        <a:latin typeface="Times New Roman" panose="02020603050405020304" pitchFamily="18" charset="0"/>
                      </a:endParaRPr>
                    </a:p>
                  </a:txBody>
                  <a:tcPr anchor="ctr">
                    <a:solidFill>
                      <a:schemeClr val="bg1"/>
                    </a:solidFill>
                  </a:tcPr>
                </a:tc>
                <a:extLst>
                  <a:ext uri="{0D108BD9-81ED-4DB2-BD59-A6C34878D82A}">
                    <a16:rowId xmlns:a16="http://schemas.microsoft.com/office/drawing/2014/main" xmlns="" val="2352578504"/>
                  </a:ext>
                </a:extLst>
              </a:tr>
              <a:tr h="370840">
                <a:tc>
                  <a:txBody>
                    <a:bodyPr/>
                    <a:lstStyle/>
                    <a:p>
                      <a:pPr algn="ctr"/>
                      <a:r>
                        <a:rPr lang="en-US" altLang="zh-TW" baseline="0" dirty="0">
                          <a:latin typeface="Times New Roman" panose="02020603050405020304" pitchFamily="18" charset="0"/>
                        </a:rPr>
                        <a:t>4</a:t>
                      </a:r>
                      <a:endParaRPr lang="zh-TW" altLang="en-US" baseline="0" dirty="0">
                        <a:latin typeface="Times New Roman" panose="02020603050405020304" pitchFamily="18" charset="0"/>
                      </a:endParaRPr>
                    </a:p>
                  </a:txBody>
                  <a:tcPr anchor="ctr">
                    <a:solidFill>
                      <a:schemeClr val="bg1"/>
                    </a:solidFill>
                  </a:tcPr>
                </a:tc>
                <a:tc>
                  <a:txBody>
                    <a:bodyPr/>
                    <a:lstStyle/>
                    <a:p>
                      <a:pPr algn="ctr"/>
                      <a:r>
                        <a:rPr lang="en-US" altLang="zh-TW" baseline="0" dirty="0">
                          <a:latin typeface="Times New Roman" panose="02020603050405020304" pitchFamily="18" charset="0"/>
                        </a:rPr>
                        <a:t>A, C, G, T</a:t>
                      </a:r>
                      <a:endParaRPr lang="zh-TW" altLang="en-US" baseline="0" dirty="0">
                        <a:latin typeface="Times New Roman" panose="02020603050405020304" pitchFamily="18" charset="0"/>
                      </a:endParaRPr>
                    </a:p>
                  </a:txBody>
                  <a:tcPr anchor="ctr">
                    <a:solidFill>
                      <a:schemeClr val="bg1"/>
                    </a:solidFill>
                  </a:tcPr>
                </a:tc>
                <a:tc>
                  <a:txBody>
                    <a:bodyPr/>
                    <a:lstStyle/>
                    <a:p>
                      <a:pPr algn="ctr"/>
                      <a:r>
                        <a:rPr lang="en-US" altLang="zh-TW" baseline="0" dirty="0">
                          <a:latin typeface="Times New Roman" panose="02020603050405020304" pitchFamily="18" charset="0"/>
                        </a:rPr>
                        <a:t>16KB</a:t>
                      </a:r>
                      <a:endParaRPr lang="zh-TW" altLang="en-US" baseline="0" dirty="0">
                        <a:latin typeface="Times New Roman" panose="02020603050405020304" pitchFamily="18" charset="0"/>
                      </a:endParaRPr>
                    </a:p>
                  </a:txBody>
                  <a:tcPr anchor="ctr">
                    <a:solidFill>
                      <a:schemeClr val="bg1"/>
                    </a:solidFill>
                  </a:tcPr>
                </a:tc>
                <a:extLst>
                  <a:ext uri="{0D108BD9-81ED-4DB2-BD59-A6C34878D82A}">
                    <a16:rowId xmlns:a16="http://schemas.microsoft.com/office/drawing/2014/main" xmlns="" val="3978714840"/>
                  </a:ext>
                </a:extLst>
              </a:tr>
              <a:tr h="370840">
                <a:tc>
                  <a:txBody>
                    <a:bodyPr/>
                    <a:lstStyle/>
                    <a:p>
                      <a:pPr algn="ctr"/>
                      <a:r>
                        <a:rPr lang="en-US" altLang="zh-TW" baseline="0" dirty="0">
                          <a:latin typeface="Times New Roman" panose="02020603050405020304" pitchFamily="18" charset="0"/>
                        </a:rPr>
                        <a:t>2</a:t>
                      </a:r>
                      <a:endParaRPr lang="zh-TW" altLang="en-US" baseline="0" dirty="0">
                        <a:latin typeface="Times New Roman" panose="02020603050405020304" pitchFamily="18" charset="0"/>
                      </a:endParaRPr>
                    </a:p>
                  </a:txBody>
                  <a:tcPr anchor="ctr">
                    <a:solidFill>
                      <a:schemeClr val="bg1"/>
                    </a:solidFill>
                  </a:tcPr>
                </a:tc>
                <a:tc>
                  <a:txBody>
                    <a:bodyPr/>
                    <a:lstStyle/>
                    <a:p>
                      <a:pPr algn="ctr"/>
                      <a:r>
                        <a:rPr lang="en-US" altLang="zh-TW" baseline="0" dirty="0">
                          <a:latin typeface="Times New Roman" panose="02020603050405020304" pitchFamily="18" charset="0"/>
                        </a:rPr>
                        <a:t>0, 1</a:t>
                      </a:r>
                      <a:endParaRPr lang="zh-TW" altLang="en-US" baseline="0" dirty="0">
                        <a:latin typeface="Times New Roman" panose="02020603050405020304" pitchFamily="18" charset="0"/>
                      </a:endParaRPr>
                    </a:p>
                  </a:txBody>
                  <a:tcPr anchor="ctr">
                    <a:solidFill>
                      <a:schemeClr val="bg1"/>
                    </a:solidFill>
                  </a:tcPr>
                </a:tc>
                <a:tc>
                  <a:txBody>
                    <a:bodyPr/>
                    <a:lstStyle/>
                    <a:p>
                      <a:pPr algn="ctr"/>
                      <a:r>
                        <a:rPr lang="en-US" altLang="zh-TW" baseline="0" dirty="0">
                          <a:latin typeface="Times New Roman" panose="02020603050405020304" pitchFamily="18" charset="0"/>
                        </a:rPr>
                        <a:t>12KB</a:t>
                      </a:r>
                      <a:endParaRPr lang="zh-TW" altLang="en-US" baseline="0" dirty="0">
                        <a:latin typeface="Times New Roman" panose="02020603050405020304" pitchFamily="18" charset="0"/>
                      </a:endParaRPr>
                    </a:p>
                  </a:txBody>
                  <a:tcPr anchor="ctr">
                    <a:solidFill>
                      <a:schemeClr val="bg1"/>
                    </a:solidFill>
                  </a:tcPr>
                </a:tc>
                <a:extLst>
                  <a:ext uri="{0D108BD9-81ED-4DB2-BD59-A6C34878D82A}">
                    <a16:rowId xmlns:a16="http://schemas.microsoft.com/office/drawing/2014/main" xmlns="" val="2172083126"/>
                  </a:ext>
                </a:extLst>
              </a:tr>
              <a:tr h="370840">
                <a:tc>
                  <a:txBody>
                    <a:bodyPr/>
                    <a:lstStyle/>
                    <a:p>
                      <a:pPr algn="ctr"/>
                      <a:r>
                        <a:rPr lang="en-US" altLang="zh-TW" baseline="0" dirty="0">
                          <a:solidFill>
                            <a:schemeClr val="tx1"/>
                          </a:solidFill>
                          <a:latin typeface="Times New Roman" panose="02020603050405020304" pitchFamily="18" charset="0"/>
                        </a:rPr>
                        <a:t>256</a:t>
                      </a:r>
                      <a:endParaRPr lang="zh-TW" altLang="en-US" baseline="0" dirty="0">
                        <a:solidFill>
                          <a:schemeClr val="tx1"/>
                        </a:solidFill>
                        <a:latin typeface="Times New Roman" panose="02020603050405020304" pitchFamily="18" charset="0"/>
                      </a:endParaRPr>
                    </a:p>
                  </a:txBody>
                  <a:tcPr anchor="ctr">
                    <a:solidFill>
                      <a:schemeClr val="bg1"/>
                    </a:solidFill>
                  </a:tcPr>
                </a:tc>
                <a:tc>
                  <a:txBody>
                    <a:bodyPr/>
                    <a:lstStyle/>
                    <a:p>
                      <a:pPr algn="ctr"/>
                      <a:endParaRPr lang="zh-TW" altLang="en-US" baseline="0" dirty="0">
                        <a:solidFill>
                          <a:schemeClr val="tx1"/>
                        </a:solidFill>
                        <a:latin typeface="Times New Roman" panose="02020603050405020304" pitchFamily="18" charset="0"/>
                      </a:endParaRPr>
                    </a:p>
                  </a:txBody>
                  <a:tcPr anchor="ctr">
                    <a:solidFill>
                      <a:schemeClr val="bg1"/>
                    </a:solidFill>
                  </a:tcPr>
                </a:tc>
                <a:tc>
                  <a:txBody>
                    <a:bodyPr/>
                    <a:lstStyle/>
                    <a:p>
                      <a:pPr algn="ctr"/>
                      <a:r>
                        <a:rPr lang="en-US" altLang="zh-TW" baseline="0" dirty="0">
                          <a:latin typeface="Times New Roman" panose="02020603050405020304" pitchFamily="18" charset="0"/>
                        </a:rPr>
                        <a:t>4KB</a:t>
                      </a:r>
                      <a:endParaRPr lang="zh-TW" altLang="en-US" baseline="0" dirty="0">
                        <a:latin typeface="Times New Roman" panose="02020603050405020304" pitchFamily="18" charset="0"/>
                      </a:endParaRPr>
                    </a:p>
                  </a:txBody>
                  <a:tcPr anchor="ctr">
                    <a:solidFill>
                      <a:schemeClr val="bg1"/>
                    </a:solidFill>
                  </a:tcPr>
                </a:tc>
                <a:extLst>
                  <a:ext uri="{0D108BD9-81ED-4DB2-BD59-A6C34878D82A}">
                    <a16:rowId xmlns:a16="http://schemas.microsoft.com/office/drawing/2014/main" xmlns="" val="3384057669"/>
                  </a:ext>
                </a:extLst>
              </a:tr>
            </a:tbl>
          </a:graphicData>
        </a:graphic>
      </p:graphicFrame>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21</a:t>
            </a:fld>
            <a:endParaRPr lang="zh-TW" altLang="en-US"/>
          </a:p>
        </p:txBody>
      </p:sp>
      <p:sp>
        <p:nvSpPr>
          <p:cNvPr id="21" name="矩形 20">
            <a:extLst>
              <a:ext uri="{FF2B5EF4-FFF2-40B4-BE49-F238E27FC236}">
                <a16:creationId xmlns:a16="http://schemas.microsoft.com/office/drawing/2014/main" xmlns="" id="{8D5B326E-F4A5-4ED1-8748-44153AA1834B}"/>
              </a:ext>
            </a:extLst>
          </p:cNvPr>
          <p:cNvSpPr/>
          <p:nvPr/>
        </p:nvSpPr>
        <p:spPr>
          <a:xfrm>
            <a:off x="588357" y="484488"/>
            <a:ext cx="6813452" cy="584775"/>
          </a:xfrm>
          <a:prstGeom prst="rect">
            <a:avLst/>
          </a:prstGeom>
        </p:spPr>
        <p:txBody>
          <a:bodyPr wrap="square">
            <a:spAutoFit/>
          </a:bodyPr>
          <a:lstStyle/>
          <a:p>
            <a:r>
              <a:rPr lang="en-US" altLang="zh-TW" sz="3200" dirty="0">
                <a:latin typeface="Times New Roman" panose="02020603050405020304" pitchFamily="18" charset="0"/>
                <a:ea typeface="標楷體" panose="03000509000000000000" pitchFamily="65" charset="-120"/>
                <a:cs typeface="Times New Roman" panose="02020603050405020304" pitchFamily="18" charset="0"/>
              </a:rPr>
              <a:t>Experimental results:</a:t>
            </a:r>
            <a:endParaRPr lang="en-US" altLang="zh-TW" sz="3200"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2" name="圖片 1">
            <a:extLst>
              <a:ext uri="{FF2B5EF4-FFF2-40B4-BE49-F238E27FC236}">
                <a16:creationId xmlns:a16="http://schemas.microsoft.com/office/drawing/2014/main" xmlns="" id="{B2787726-EAFA-49F6-8643-C5E9EC06D521}"/>
              </a:ext>
            </a:extLst>
          </p:cNvPr>
          <p:cNvPicPr>
            <a:picLocks noChangeAspect="1"/>
          </p:cNvPicPr>
          <p:nvPr/>
        </p:nvPicPr>
        <p:blipFill rotWithShape="1">
          <a:blip r:embed="rId3"/>
          <a:srcRect r="8127"/>
          <a:stretch/>
        </p:blipFill>
        <p:spPr>
          <a:xfrm>
            <a:off x="371586" y="3254121"/>
            <a:ext cx="8400828" cy="2298114"/>
          </a:xfrm>
          <a:prstGeom prst="rect">
            <a:avLst/>
          </a:prstGeom>
          <a:ln>
            <a:solidFill>
              <a:schemeClr val="tx1"/>
            </a:solidFill>
          </a:ln>
        </p:spPr>
      </p:pic>
    </p:spTree>
    <p:extLst>
      <p:ext uri="{BB962C8B-B14F-4D97-AF65-F5344CB8AC3E}">
        <p14:creationId xmlns:p14="http://schemas.microsoft.com/office/powerpoint/2010/main" val="23503672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22</a:t>
            </a:fld>
            <a:endParaRPr lang="zh-TW" altLang="en-US"/>
          </a:p>
        </p:txBody>
      </p:sp>
      <p:sp>
        <p:nvSpPr>
          <p:cNvPr id="21" name="矩形 20">
            <a:extLst>
              <a:ext uri="{FF2B5EF4-FFF2-40B4-BE49-F238E27FC236}">
                <a16:creationId xmlns:a16="http://schemas.microsoft.com/office/drawing/2014/main" xmlns="" id="{8D5B326E-F4A5-4ED1-8748-44153AA1834B}"/>
              </a:ext>
            </a:extLst>
          </p:cNvPr>
          <p:cNvSpPr/>
          <p:nvPr/>
        </p:nvSpPr>
        <p:spPr>
          <a:xfrm>
            <a:off x="588357" y="484488"/>
            <a:ext cx="6813452" cy="584775"/>
          </a:xfrm>
          <a:prstGeom prst="rect">
            <a:avLst/>
          </a:prstGeom>
        </p:spPr>
        <p:txBody>
          <a:bodyPr wrap="square">
            <a:spAutoFit/>
          </a:bodyPr>
          <a:lstStyle/>
          <a:p>
            <a:r>
              <a:rPr lang="en-US" altLang="zh-TW" sz="3200" dirty="0">
                <a:latin typeface="Times New Roman" panose="02020603050405020304" pitchFamily="18" charset="0"/>
                <a:ea typeface="標楷體" panose="03000509000000000000" pitchFamily="65" charset="-120"/>
                <a:cs typeface="Times New Roman" panose="02020603050405020304" pitchFamily="18" charset="0"/>
              </a:rPr>
              <a:t>Experimental results:</a:t>
            </a:r>
            <a:endParaRPr lang="en-US" altLang="zh-TW" sz="3200" dirty="0">
              <a:solidFill>
                <a:srgbClr val="0070C0"/>
              </a:solidFill>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3" name="圖片 2">
            <a:extLst>
              <a:ext uri="{FF2B5EF4-FFF2-40B4-BE49-F238E27FC236}">
                <a16:creationId xmlns:a16="http://schemas.microsoft.com/office/drawing/2014/main" xmlns="" id="{FB6D2A46-BB24-4E67-B6F0-905EA7D94FDC}"/>
              </a:ext>
            </a:extLst>
          </p:cNvPr>
          <p:cNvPicPr>
            <a:picLocks noChangeAspect="1"/>
          </p:cNvPicPr>
          <p:nvPr/>
        </p:nvPicPr>
        <p:blipFill>
          <a:blip r:embed="rId3"/>
          <a:stretch>
            <a:fillRect/>
          </a:stretch>
        </p:blipFill>
        <p:spPr>
          <a:xfrm>
            <a:off x="718457" y="2101582"/>
            <a:ext cx="7707086" cy="2178927"/>
          </a:xfrm>
          <a:prstGeom prst="rect">
            <a:avLst/>
          </a:prstGeom>
        </p:spPr>
      </p:pic>
    </p:spTree>
    <p:extLst>
      <p:ext uri="{BB962C8B-B14F-4D97-AF65-F5344CB8AC3E}">
        <p14:creationId xmlns:p14="http://schemas.microsoft.com/office/powerpoint/2010/main" val="12513190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內容版面配置區 6">
            <a:extLst>
              <a:ext uri="{FF2B5EF4-FFF2-40B4-BE49-F238E27FC236}">
                <a16:creationId xmlns:a16="http://schemas.microsoft.com/office/drawing/2014/main" xmlns="" id="{9B9DE786-0EFB-4932-AA42-934FF1949394}"/>
              </a:ext>
            </a:extLst>
          </p:cNvPr>
          <p:cNvSpPr txBox="1">
            <a:spLocks/>
          </p:cNvSpPr>
          <p:nvPr/>
        </p:nvSpPr>
        <p:spPr>
          <a:xfrm>
            <a:off x="501748" y="626724"/>
            <a:ext cx="8310537" cy="10171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Text:</a:t>
            </a:r>
          </a:p>
          <a:p>
            <a:pPr>
              <a:lnSpc>
                <a:spcPct val="150000"/>
              </a:lnSpc>
            </a:pPr>
            <a:endParaRPr lang="en-US" altLang="zh-TW" sz="2400" dirty="0">
              <a:latin typeface="Times New Roman" panose="02020603050405020304" pitchFamily="18" charset="0"/>
              <a:cs typeface="Times New Roman" panose="02020603050405020304" pitchFamily="18" charset="0"/>
            </a:endParaRPr>
          </a:p>
          <a:p>
            <a:pPr marL="0" indent="0">
              <a:lnSpc>
                <a:spcPct val="150000"/>
              </a:lnSpc>
              <a:buFont typeface="Arial" panose="020B0604020202020204" pitchFamily="34" charset="0"/>
              <a:buNone/>
            </a:pPr>
            <a:endParaRPr lang="en-US" altLang="zh-TW"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23</a:t>
            </a:fld>
            <a:endParaRPr lang="zh-TW" altLang="en-US"/>
          </a:p>
        </p:txBody>
      </p:sp>
      <p:sp>
        <p:nvSpPr>
          <p:cNvPr id="14" name="矩形 13">
            <a:extLst>
              <a:ext uri="{FF2B5EF4-FFF2-40B4-BE49-F238E27FC236}">
                <a16:creationId xmlns:a16="http://schemas.microsoft.com/office/drawing/2014/main" xmlns="" id="{C8827685-E087-4ED2-B30E-7DA0C1390957}"/>
              </a:ext>
            </a:extLst>
          </p:cNvPr>
          <p:cNvSpPr/>
          <p:nvPr/>
        </p:nvSpPr>
        <p:spPr>
          <a:xfrm>
            <a:off x="501748" y="1572820"/>
            <a:ext cx="1820212" cy="400110"/>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Modified:</a:t>
            </a:r>
            <a:r>
              <a:rPr lang="zh-TW" altLang="en-US" sz="2000" dirty="0">
                <a:latin typeface="Times New Roman" panose="02020603050405020304" pitchFamily="18" charset="0"/>
                <a:cs typeface="Times New Roman" panose="02020603050405020304" pitchFamily="18" charset="0"/>
              </a:rPr>
              <a:t> </a:t>
            </a:r>
            <a:endParaRPr lang="en-US" altLang="zh-TW" sz="2000" dirty="0">
              <a:latin typeface="Times New Roman" panose="02020603050405020304" pitchFamily="18" charset="0"/>
              <a:cs typeface="Times New Roman" panose="02020603050405020304" pitchFamily="18" charset="0"/>
            </a:endParaRPr>
          </a:p>
        </p:txBody>
      </p:sp>
      <p:sp>
        <p:nvSpPr>
          <p:cNvPr id="23" name="矩形 22">
            <a:extLst>
              <a:ext uri="{FF2B5EF4-FFF2-40B4-BE49-F238E27FC236}">
                <a16:creationId xmlns:a16="http://schemas.microsoft.com/office/drawing/2014/main" xmlns="" id="{5F06EC41-9D7E-4AEC-92D6-6029752090C6}"/>
              </a:ext>
            </a:extLst>
          </p:cNvPr>
          <p:cNvSpPr/>
          <p:nvPr/>
        </p:nvSpPr>
        <p:spPr>
          <a:xfrm>
            <a:off x="1162259" y="626724"/>
            <a:ext cx="6137706" cy="588879"/>
          </a:xfrm>
          <a:prstGeom prst="rect">
            <a:avLst/>
          </a:prstGeom>
        </p:spPr>
        <p:txBody>
          <a:bodyPr wrap="none">
            <a:spAutoFit/>
          </a:bodyPr>
          <a:lstStyle/>
          <a:p>
            <a:pPr>
              <a:lnSpc>
                <a:spcPct val="150000"/>
              </a:lnSpc>
            </a:pPr>
            <a:r>
              <a:rPr lang="en-US" altLang="zh-TW" sz="2400" dirty="0">
                <a:latin typeface="Arial Black" panose="020B0A04020102020204" pitchFamily="34" charset="0"/>
                <a:cs typeface="AngsanaUPC" panose="020B0502040204020203" pitchFamily="18" charset="-34"/>
              </a:rPr>
              <a:t>ABAA </a:t>
            </a:r>
            <a:r>
              <a:rPr lang="en-US" altLang="zh-TW" sz="2400" dirty="0">
                <a:solidFill>
                  <a:srgbClr val="0070C0"/>
                </a:solidFill>
                <a:latin typeface="Arial Black" panose="020B0A04020102020204" pitchFamily="34" charset="0"/>
                <a:cs typeface="AngsanaUPC" panose="020B0502040204020203" pitchFamily="18" charset="-34"/>
              </a:rPr>
              <a:t>BABAA</a:t>
            </a:r>
            <a:r>
              <a:rPr lang="en-US" altLang="zh-TW" sz="2400" dirty="0">
                <a:latin typeface="Arial Black" panose="020B0A04020102020204" pitchFamily="34" charset="0"/>
                <a:cs typeface="AngsanaUPC" panose="020B0502040204020203" pitchFamily="18" charset="-34"/>
              </a:rPr>
              <a:t> BCDD ACBB </a:t>
            </a:r>
            <a:r>
              <a:rPr lang="en-US" altLang="zh-TW" sz="2400" dirty="0">
                <a:solidFill>
                  <a:srgbClr val="0070C0"/>
                </a:solidFill>
                <a:latin typeface="Arial Black" panose="020B0A04020102020204" pitchFamily="34" charset="0"/>
                <a:cs typeface="AngsanaUPC" panose="020B0502040204020203" pitchFamily="18" charset="-34"/>
              </a:rPr>
              <a:t>DEDEBB</a:t>
            </a:r>
            <a:endParaRPr lang="zh-TW" altLang="en-US" sz="2400" dirty="0">
              <a:solidFill>
                <a:srgbClr val="0070C0"/>
              </a:solidFill>
              <a:latin typeface="Arial Black" panose="020B0A04020102020204" pitchFamily="34" charset="0"/>
              <a:cs typeface="AngsanaUPC" panose="020B0502040204020203" pitchFamily="18" charset="-34"/>
            </a:endParaRPr>
          </a:p>
        </p:txBody>
      </p:sp>
      <p:sp>
        <p:nvSpPr>
          <p:cNvPr id="24" name="矩形 23">
            <a:extLst>
              <a:ext uri="{FF2B5EF4-FFF2-40B4-BE49-F238E27FC236}">
                <a16:creationId xmlns:a16="http://schemas.microsoft.com/office/drawing/2014/main" xmlns="" id="{BED69EC6-12FD-4C9C-A9F0-A4729196D3FA}"/>
              </a:ext>
            </a:extLst>
          </p:cNvPr>
          <p:cNvSpPr/>
          <p:nvPr/>
        </p:nvSpPr>
        <p:spPr>
          <a:xfrm>
            <a:off x="1162259" y="2002507"/>
            <a:ext cx="7451463" cy="506164"/>
          </a:xfrm>
          <a:prstGeom prst="rect">
            <a:avLst/>
          </a:prstGeom>
        </p:spPr>
        <p:txBody>
          <a:bodyPr wrap="none">
            <a:spAutoFit/>
          </a:bodyPr>
          <a:lstStyle/>
          <a:p>
            <a:pPr>
              <a:lnSpc>
                <a:spcPct val="150000"/>
              </a:lnSpc>
            </a:pPr>
            <a:r>
              <a:rPr lang="en-US" altLang="zh-TW" sz="2000" dirty="0">
                <a:latin typeface="Arial Black" panose="020B0A04020102020204" pitchFamily="34" charset="0"/>
                <a:cs typeface="AngsanaUPC" panose="020B0502040204020203" pitchFamily="18" charset="-34"/>
              </a:rPr>
              <a:t>ABAA</a:t>
            </a:r>
            <a:r>
              <a:rPr lang="zh-TW" altLang="en-US" sz="2000" dirty="0">
                <a:latin typeface="Arial Black" panose="020B0A04020102020204" pitchFamily="34" charset="0"/>
                <a:cs typeface="AngsanaUPC" panose="020B0502040204020203" pitchFamily="18" charset="-34"/>
              </a:rPr>
              <a:t> </a:t>
            </a:r>
            <a:r>
              <a:rPr lang="en-US" altLang="zh-TW" sz="2000" dirty="0">
                <a:latin typeface="Arial Black" panose="020B0A04020102020204" pitchFamily="34" charset="0"/>
                <a:cs typeface="AngsanaUPC" panose="020B0502040204020203" pitchFamily="18" charset="-34"/>
              </a:rPr>
              <a:t>{</a:t>
            </a:r>
            <a:r>
              <a:rPr lang="en-US" altLang="zh-TW" sz="2000" dirty="0">
                <a:solidFill>
                  <a:srgbClr val="0070C0"/>
                </a:solidFill>
                <a:latin typeface="Arial Black" panose="020B0A04020102020204" pitchFamily="34" charset="0"/>
                <a:cs typeface="AngsanaUPC" panose="020B0502040204020203" pitchFamily="18" charset="-34"/>
              </a:rPr>
              <a:t>BABA ABAA</a:t>
            </a:r>
            <a:r>
              <a:rPr lang="en-US" altLang="zh-TW" sz="2000" dirty="0">
                <a:latin typeface="Arial Black" panose="020B0A04020102020204" pitchFamily="34" charset="0"/>
                <a:cs typeface="AngsanaUPC" panose="020B0502040204020203" pitchFamily="18" charset="-34"/>
              </a:rPr>
              <a:t>} BCDD ACBB {</a:t>
            </a:r>
            <a:r>
              <a:rPr lang="en-US" altLang="zh-TW" sz="2000" dirty="0">
                <a:solidFill>
                  <a:srgbClr val="0070C0"/>
                </a:solidFill>
                <a:latin typeface="Arial Black" panose="020B0A04020102020204" pitchFamily="34" charset="0"/>
                <a:cs typeface="AngsanaUPC" panose="020B0502040204020203" pitchFamily="18" charset="-34"/>
              </a:rPr>
              <a:t>DEDE EDEB DEBB</a:t>
            </a:r>
            <a:r>
              <a:rPr lang="en-US" altLang="zh-TW" sz="2000" dirty="0">
                <a:latin typeface="Arial Black" panose="020B0A04020102020204" pitchFamily="34" charset="0"/>
                <a:cs typeface="AngsanaUPC" panose="020B0502040204020203" pitchFamily="18" charset="-34"/>
              </a:rPr>
              <a:t>}</a:t>
            </a:r>
          </a:p>
        </p:txBody>
      </p:sp>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xmlns="" id="{3154DE31-1938-4CEE-8396-CAA90748199E}"/>
                  </a:ext>
                </a:extLst>
              </p:cNvPr>
              <p:cNvSpPr/>
              <p:nvPr/>
            </p:nvSpPr>
            <p:spPr>
              <a:xfrm>
                <a:off x="6657378" y="1102405"/>
                <a:ext cx="2108333" cy="458074"/>
              </a:xfrm>
              <a:prstGeom prst="rect">
                <a:avLst/>
              </a:prstGeom>
            </p:spPr>
            <p:txBody>
              <a:bodyPr wrap="none">
                <a:spAutoFit/>
              </a:bodyPr>
              <a:lstStyle/>
              <a:p>
                <a:pPr algn="r">
                  <a:lnSpc>
                    <a:spcPct val="150000"/>
                  </a:lnSpc>
                </a:pPr>
                <a14:m>
                  <m:oMath xmlns:m="http://schemas.openxmlformats.org/officeDocument/2006/math">
                    <m:nary>
                      <m:naryPr>
                        <m:chr m:val="∑"/>
                        <m:subHide m:val="on"/>
                        <m:supHide m:val="on"/>
                        <m:ctrlPr>
                          <a:rPr lang="en-US" altLang="zh-TW" i="1">
                            <a:latin typeface="Cambria Math" panose="02040503050406030204" pitchFamily="18" charset="0"/>
                            <a:cs typeface="Times New Roman" panose="02020603050405020304" pitchFamily="18" charset="0"/>
                          </a:rPr>
                        </m:ctrlPr>
                      </m:naryPr>
                      <m:sub/>
                      <m:sup/>
                      <m:e>
                        <m:r>
                          <a:rPr lang="en-US" altLang="zh-TW" i="1">
                            <a:latin typeface="Cambria Math" panose="02040503050406030204" pitchFamily="18" charset="0"/>
                            <a:cs typeface="Times New Roman" panose="02020603050405020304" pitchFamily="18" charset="0"/>
                          </a:rPr>
                          <m:t>=</m:t>
                        </m:r>
                      </m:e>
                    </m:nary>
                  </m:oMath>
                </a14:m>
                <a:r>
                  <a:rPr lang="en-US" altLang="zh-TW" dirty="0">
                    <a:latin typeface="Times New Roman" panose="02020603050405020304" pitchFamily="18" charset="0"/>
                    <a:cs typeface="Times New Roman" panose="02020603050405020304" pitchFamily="18" charset="0"/>
                  </a:rPr>
                  <a:t> {A, B, C, 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E}</a:t>
                </a:r>
              </a:p>
            </p:txBody>
          </p:sp>
        </mc:Choice>
        <mc:Fallback xmlns="">
          <p:sp>
            <p:nvSpPr>
              <p:cNvPr id="25" name="矩形 24">
                <a:extLst>
                  <a:ext uri="{FF2B5EF4-FFF2-40B4-BE49-F238E27FC236}">
                    <a16:creationId xmlns:a16="http://schemas.microsoft.com/office/drawing/2014/main" id="{3154DE31-1938-4CEE-8396-CAA90748199E}"/>
                  </a:ext>
                </a:extLst>
              </p:cNvPr>
              <p:cNvSpPr>
                <a:spLocks noRot="1" noChangeAspect="1" noMove="1" noResize="1" noEditPoints="1" noAdjustHandles="1" noChangeArrowheads="1" noChangeShapeType="1" noTextEdit="1"/>
              </p:cNvSpPr>
              <p:nvPr/>
            </p:nvSpPr>
            <p:spPr>
              <a:xfrm>
                <a:off x="6657378" y="1102405"/>
                <a:ext cx="2108333" cy="458074"/>
              </a:xfrm>
              <a:prstGeom prst="rect">
                <a:avLst/>
              </a:prstGeom>
              <a:blipFill>
                <a:blip r:embed="rId3"/>
                <a:stretch>
                  <a:fillRect l="-15029" t="-76000" r="-2601" b="-152000"/>
                </a:stretch>
              </a:blipFill>
            </p:spPr>
            <p:txBody>
              <a:bodyPr/>
              <a:lstStyle/>
              <a:p>
                <a:r>
                  <a:rPr lang="zh-TW" altLang="en-US">
                    <a:noFill/>
                  </a:rPr>
                  <a:t> </a:t>
                </a:r>
              </a:p>
            </p:txBody>
          </p:sp>
        </mc:Fallback>
      </mc:AlternateContent>
      <p:sp>
        <p:nvSpPr>
          <p:cNvPr id="16" name="矩形 15">
            <a:extLst>
              <a:ext uri="{FF2B5EF4-FFF2-40B4-BE49-F238E27FC236}">
                <a16:creationId xmlns:a16="http://schemas.microsoft.com/office/drawing/2014/main" xmlns="" id="{F9808B4F-6012-4879-8BF2-8394E96C80D6}"/>
              </a:ext>
            </a:extLst>
          </p:cNvPr>
          <p:cNvSpPr/>
          <p:nvPr/>
        </p:nvSpPr>
        <p:spPr>
          <a:xfrm>
            <a:off x="1238095" y="2707249"/>
            <a:ext cx="7299790" cy="400110"/>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0021	0022	0021	0021      0021	0022	0020	0021</a:t>
            </a:r>
            <a:endParaRPr lang="en-US" altLang="zh-TW" sz="2000" dirty="0">
              <a:solidFill>
                <a:srgbClr val="0070C0"/>
              </a:solidFill>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xmlns="" id="{30BC1D5C-52EC-4958-9664-BDCA86AEFD8F}"/>
              </a:ext>
            </a:extLst>
          </p:cNvPr>
          <p:cNvSpPr/>
          <p:nvPr/>
        </p:nvSpPr>
        <p:spPr>
          <a:xfrm>
            <a:off x="501748" y="2697496"/>
            <a:ext cx="1820212" cy="400110"/>
          </a:xfrm>
          <a:prstGeom prst="rect">
            <a:avLst/>
          </a:prstGeom>
        </p:spPr>
        <p:txBody>
          <a:bodyPr wrap="square">
            <a:spAutoFit/>
          </a:bodyPr>
          <a:lstStyle/>
          <a:p>
            <a:r>
              <a:rPr lang="en-US" altLang="zh-TW" sz="2000" dirty="0" err="1">
                <a:latin typeface="Times New Roman" panose="02020603050405020304" pitchFamily="18" charset="0"/>
                <a:cs typeface="Times New Roman" panose="02020603050405020304" pitchFamily="18" charset="0"/>
              </a:rPr>
              <a:t>Pred</a:t>
            </a:r>
            <a:r>
              <a:rPr lang="en-US" altLang="zh-TW" sz="2000" dirty="0">
                <a:latin typeface="Times New Roman" panose="02020603050405020304" pitchFamily="18" charset="0"/>
                <a:cs typeface="Times New Roman" panose="02020603050405020304" pitchFamily="18" charset="0"/>
              </a:rPr>
              <a:t>:</a:t>
            </a:r>
            <a:r>
              <a:rPr lang="zh-TW" altLang="en-US" sz="2000" dirty="0">
                <a:latin typeface="Times New Roman" panose="02020603050405020304" pitchFamily="18" charset="0"/>
                <a:cs typeface="Times New Roman" panose="02020603050405020304" pitchFamily="18" charset="0"/>
              </a:rPr>
              <a:t> </a:t>
            </a:r>
            <a:endParaRPr lang="en-US" altLang="zh-TW" sz="2000" dirty="0">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xmlns="" id="{5DF620C3-AE61-44FA-8CA4-E8E5F424AE42}"/>
              </a:ext>
            </a:extLst>
          </p:cNvPr>
          <p:cNvSpPr/>
          <p:nvPr/>
        </p:nvSpPr>
        <p:spPr>
          <a:xfrm>
            <a:off x="1238095" y="1905000"/>
            <a:ext cx="842164" cy="12649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8" name="矩形 17">
            <a:extLst>
              <a:ext uri="{FF2B5EF4-FFF2-40B4-BE49-F238E27FC236}">
                <a16:creationId xmlns:a16="http://schemas.microsoft.com/office/drawing/2014/main" xmlns="" id="{C46DA004-92BF-49F7-A716-25B3B683B8DF}"/>
              </a:ext>
            </a:extLst>
          </p:cNvPr>
          <p:cNvSpPr/>
          <p:nvPr/>
        </p:nvSpPr>
        <p:spPr>
          <a:xfrm>
            <a:off x="4045826" y="1905000"/>
            <a:ext cx="842164" cy="12649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295441303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6" name="內容版面配置區 7">
            <a:extLst>
              <a:ext uri="{FF2B5EF4-FFF2-40B4-BE49-F238E27FC236}">
                <a16:creationId xmlns:a16="http://schemas.microsoft.com/office/drawing/2014/main" xmlns="" id="{BAD3633E-85B6-4851-8A1A-25DA1490FDE9}"/>
              </a:ext>
            </a:extLst>
          </p:cNvPr>
          <p:cNvGraphicFramePr>
            <a:graphicFrameLocks/>
          </p:cNvGraphicFramePr>
          <p:nvPr>
            <p:extLst/>
          </p:nvPr>
        </p:nvGraphicFramePr>
        <p:xfrm>
          <a:off x="967667" y="967527"/>
          <a:ext cx="4732020" cy="1483360"/>
        </p:xfrm>
        <a:graphic>
          <a:graphicData uri="http://schemas.openxmlformats.org/drawingml/2006/table">
            <a:tbl>
              <a:tblPr firstRow="1" bandRow="1">
                <a:tableStyleId>{5940675A-B579-460E-94D1-54222C63F5DA}</a:tableStyleId>
              </a:tblPr>
              <a:tblGrid>
                <a:gridCol w="1577340">
                  <a:extLst>
                    <a:ext uri="{9D8B030D-6E8A-4147-A177-3AD203B41FA5}">
                      <a16:colId xmlns:a16="http://schemas.microsoft.com/office/drawing/2014/main" xmlns="" val="4183209010"/>
                    </a:ext>
                  </a:extLst>
                </a:gridCol>
                <a:gridCol w="1577340">
                  <a:extLst>
                    <a:ext uri="{9D8B030D-6E8A-4147-A177-3AD203B41FA5}">
                      <a16:colId xmlns:a16="http://schemas.microsoft.com/office/drawing/2014/main" xmlns="" val="4264795898"/>
                    </a:ext>
                  </a:extLst>
                </a:gridCol>
                <a:gridCol w="1577340">
                  <a:extLst>
                    <a:ext uri="{9D8B030D-6E8A-4147-A177-3AD203B41FA5}">
                      <a16:colId xmlns:a16="http://schemas.microsoft.com/office/drawing/2014/main" xmlns="" val="2897420003"/>
                    </a:ext>
                  </a:extLst>
                </a:gridCol>
              </a:tblGrid>
              <a:tr h="370840">
                <a:tc>
                  <a:txBody>
                    <a:bodyPr/>
                    <a:lstStyle/>
                    <a:p>
                      <a:pPr algn="ctr"/>
                      <a:r>
                        <a:rPr lang="en-US" altLang="zh-TW" baseline="0" dirty="0">
                          <a:latin typeface="Times New Roman" panose="02020603050405020304" pitchFamily="18" charset="0"/>
                        </a:rPr>
                        <a:t>Word</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Index</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Frequency</a:t>
                      </a:r>
                      <a:endParaRPr lang="zh-TW" altLang="en-US" baseline="0" dirty="0">
                        <a:latin typeface="Times New Roman" panose="02020603050405020304" pitchFamily="18" charset="0"/>
                      </a:endParaRPr>
                    </a:p>
                  </a:txBody>
                  <a:tcPr/>
                </a:tc>
                <a:extLst>
                  <a:ext uri="{0D108BD9-81ED-4DB2-BD59-A6C34878D82A}">
                    <a16:rowId xmlns:a16="http://schemas.microsoft.com/office/drawing/2014/main" xmlns="" val="2352578504"/>
                  </a:ext>
                </a:extLst>
              </a:tr>
              <a:tr h="370840">
                <a:tc>
                  <a:txBody>
                    <a:bodyPr/>
                    <a:lstStyle/>
                    <a:p>
                      <a:pPr algn="ctr"/>
                      <a:r>
                        <a:rPr lang="en-US" altLang="zh-TW" baseline="0" dirty="0">
                          <a:latin typeface="Times New Roman" panose="02020603050405020304" pitchFamily="18" charset="0"/>
                        </a:rPr>
                        <a:t>0021</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9 </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5</a:t>
                      </a:r>
                      <a:endParaRPr lang="zh-TW" altLang="en-US" baseline="0" dirty="0">
                        <a:latin typeface="Times New Roman" panose="02020603050405020304" pitchFamily="18" charset="0"/>
                      </a:endParaRPr>
                    </a:p>
                  </a:txBody>
                  <a:tcPr/>
                </a:tc>
                <a:extLst>
                  <a:ext uri="{0D108BD9-81ED-4DB2-BD59-A6C34878D82A}">
                    <a16:rowId xmlns:a16="http://schemas.microsoft.com/office/drawing/2014/main" xmlns="" val="3978714840"/>
                  </a:ext>
                </a:extLst>
              </a:tr>
              <a:tr h="370840">
                <a:tc>
                  <a:txBody>
                    <a:bodyPr/>
                    <a:lstStyle/>
                    <a:p>
                      <a:pPr algn="ctr"/>
                      <a:r>
                        <a:rPr lang="en-US" altLang="zh-TW" baseline="0" dirty="0">
                          <a:latin typeface="Times New Roman" panose="02020603050405020304" pitchFamily="18" charset="0"/>
                        </a:rPr>
                        <a:t>0022</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10</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2</a:t>
                      </a:r>
                      <a:endParaRPr lang="zh-TW" altLang="en-US" baseline="0" dirty="0">
                        <a:latin typeface="Times New Roman" panose="02020603050405020304" pitchFamily="18" charset="0"/>
                      </a:endParaRPr>
                    </a:p>
                  </a:txBody>
                  <a:tcPr/>
                </a:tc>
                <a:extLst>
                  <a:ext uri="{0D108BD9-81ED-4DB2-BD59-A6C34878D82A}">
                    <a16:rowId xmlns:a16="http://schemas.microsoft.com/office/drawing/2014/main" xmlns="" val="2172083126"/>
                  </a:ext>
                </a:extLst>
              </a:tr>
              <a:tr h="370840">
                <a:tc>
                  <a:txBody>
                    <a:bodyPr/>
                    <a:lstStyle/>
                    <a:p>
                      <a:pPr algn="ctr"/>
                      <a:r>
                        <a:rPr lang="en-US" altLang="zh-TW" baseline="0" dirty="0">
                          <a:latin typeface="Times New Roman" panose="02020603050405020304" pitchFamily="18" charset="0"/>
                        </a:rPr>
                        <a:t>0020</a:t>
                      </a:r>
                      <a:endParaRPr lang="zh-TW" altLang="en-US" baseline="0" dirty="0">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8</a:t>
                      </a:r>
                      <a:endParaRPr lang="zh-TW" altLang="en-US" baseline="0" dirty="0">
                        <a:solidFill>
                          <a:srgbClr val="FF0000"/>
                        </a:solidFill>
                        <a:latin typeface="Times New Roman" panose="02020603050405020304" pitchFamily="18" charset="0"/>
                      </a:endParaRPr>
                    </a:p>
                  </a:txBody>
                  <a:tcPr/>
                </a:tc>
                <a:tc>
                  <a:txBody>
                    <a:bodyPr/>
                    <a:lstStyle/>
                    <a:p>
                      <a:pPr algn="ctr"/>
                      <a:r>
                        <a:rPr lang="en-US" altLang="zh-TW" baseline="0" dirty="0">
                          <a:latin typeface="Times New Roman" panose="02020603050405020304" pitchFamily="18" charset="0"/>
                        </a:rPr>
                        <a:t>1</a:t>
                      </a:r>
                      <a:endParaRPr lang="zh-TW" altLang="en-US" baseline="0" dirty="0">
                        <a:latin typeface="Times New Roman" panose="02020603050405020304" pitchFamily="18" charset="0"/>
                      </a:endParaRPr>
                    </a:p>
                  </a:txBody>
                  <a:tcPr/>
                </a:tc>
                <a:extLst>
                  <a:ext uri="{0D108BD9-81ED-4DB2-BD59-A6C34878D82A}">
                    <a16:rowId xmlns:a16="http://schemas.microsoft.com/office/drawing/2014/main" xmlns="" val="3384057669"/>
                  </a:ext>
                </a:extLst>
              </a:tr>
            </a:tbl>
          </a:graphicData>
        </a:graphic>
      </p:graphicFrame>
      <mc:AlternateContent xmlns:mc="http://schemas.openxmlformats.org/markup-compatibility/2006" xmlns:a14="http://schemas.microsoft.com/office/drawing/2010/main">
        <mc:Choice Requires="a14">
          <p:graphicFrame>
            <p:nvGraphicFramePr>
              <p:cNvPr id="20" name="內容版面配置區 7">
                <a:extLst>
                  <a:ext uri="{FF2B5EF4-FFF2-40B4-BE49-F238E27FC236}">
                    <a16:creationId xmlns:a16="http://schemas.microsoft.com/office/drawing/2014/main" xmlns="" id="{D074AE84-48DF-4D0E-BC52-F86E0E9E0101}"/>
                  </a:ext>
                </a:extLst>
              </p:cNvPr>
              <p:cNvGraphicFramePr>
                <a:graphicFrameLocks/>
              </p:cNvGraphicFramePr>
              <p:nvPr>
                <p:extLst>
                  <p:ext uri="{D42A27DB-BD31-4B8C-83A1-F6EECF244321}">
                    <p14:modId xmlns:p14="http://schemas.microsoft.com/office/powerpoint/2010/main" val="1117837613"/>
                  </p:ext>
                </p:extLst>
              </p:nvPr>
            </p:nvGraphicFramePr>
            <p:xfrm>
              <a:off x="967667" y="967527"/>
              <a:ext cx="6386400" cy="2931160"/>
            </p:xfrm>
            <a:graphic>
              <a:graphicData uri="http://schemas.openxmlformats.org/drawingml/2006/table">
                <a:tbl>
                  <a:tblPr firstRow="1" bandRow="1">
                    <a:tableStyleId>{5940675A-B579-460E-94D1-54222C63F5DA}</a:tableStyleId>
                  </a:tblPr>
                  <a:tblGrid>
                    <a:gridCol w="1576800">
                      <a:extLst>
                        <a:ext uri="{9D8B030D-6E8A-4147-A177-3AD203B41FA5}">
                          <a16:colId xmlns:a16="http://schemas.microsoft.com/office/drawing/2014/main" xmlns="" val="4183209010"/>
                        </a:ext>
                      </a:extLst>
                    </a:gridCol>
                    <a:gridCol w="1576800">
                      <a:extLst>
                        <a:ext uri="{9D8B030D-6E8A-4147-A177-3AD203B41FA5}">
                          <a16:colId xmlns:a16="http://schemas.microsoft.com/office/drawing/2014/main" xmlns="" val="4264795898"/>
                        </a:ext>
                      </a:extLst>
                    </a:gridCol>
                    <a:gridCol w="1576800">
                      <a:extLst>
                        <a:ext uri="{9D8B030D-6E8A-4147-A177-3AD203B41FA5}">
                          <a16:colId xmlns:a16="http://schemas.microsoft.com/office/drawing/2014/main" xmlns="" val="2897420003"/>
                        </a:ext>
                      </a:extLst>
                    </a:gridCol>
                    <a:gridCol w="1656000">
                      <a:extLst>
                        <a:ext uri="{9D8B030D-6E8A-4147-A177-3AD203B41FA5}">
                          <a16:colId xmlns:a16="http://schemas.microsoft.com/office/drawing/2014/main" xmlns="" val="4157295316"/>
                        </a:ext>
                      </a:extLst>
                    </a:gridCol>
                  </a:tblGrid>
                  <a:tr h="370840">
                    <a:tc>
                      <a:txBody>
                        <a:bodyPr/>
                        <a:lstStyle/>
                        <a:p>
                          <a:pPr algn="ctr"/>
                          <a:r>
                            <a:rPr lang="en-US" altLang="zh-TW" baseline="0" dirty="0">
                              <a:latin typeface="Times New Roman" panose="02020603050405020304" pitchFamily="18" charset="0"/>
                            </a:rPr>
                            <a:t>Word</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Index</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Codes (P)</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solidFill>
                                <a:srgbClr val="002060"/>
                              </a:solidFill>
                              <a:latin typeface="Times New Roman" panose="02020603050405020304" pitchFamily="18" charset="0"/>
                            </a:rPr>
                            <a:t>B[Code]</a:t>
                          </a:r>
                          <a:endParaRPr lang="zh-TW" altLang="en-US" baseline="0" dirty="0">
                            <a:solidFill>
                              <a:srgbClr val="002060"/>
                            </a:solidFill>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2352578504"/>
                      </a:ext>
                    </a:extLst>
                  </a:tr>
                  <a:tr h="370840">
                    <a:tc>
                      <a:txBody>
                        <a:bodyPr/>
                        <a:lstStyle/>
                        <a:p>
                          <a:pPr algn="ctr"/>
                          <a:r>
                            <a:rPr lang="en-US" altLang="zh-TW" baseline="0" dirty="0">
                              <a:latin typeface="Times New Roman" panose="02020603050405020304" pitchFamily="18" charset="0"/>
                            </a:rPr>
                            <a:t>0021</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9 </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01</a:t>
                          </a:r>
                          <a:endParaRPr lang="zh-TW" altLang="en-US" baseline="0" dirty="0">
                            <a:latin typeface="Times New Roman" panose="02020603050405020304" pitchFamily="18" charset="0"/>
                          </a:endParaRPr>
                        </a:p>
                      </a:txBody>
                      <a:tcPr>
                        <a:solidFill>
                          <a:schemeClr val="bg1"/>
                        </a:solidFill>
                      </a:tcPr>
                    </a:tc>
                    <a:tc>
                      <a:txBody>
                        <a:bodyPr/>
                        <a:lstStyle/>
                        <a:p>
                          <a:pPr algn="ctr"/>
                          <a14:m>
                            <m:oMath xmlns:m="http://schemas.openxmlformats.org/officeDocument/2006/math">
                              <m:sSub>
                                <m:sSubPr>
                                  <m:ctrlPr>
                                    <a:rPr lang="en-US" altLang="zh-TW" b="0" i="1" baseline="0" smtClean="0">
                                      <a:solidFill>
                                        <a:srgbClr val="002060"/>
                                      </a:solidFill>
                                      <a:latin typeface="Cambria Math" panose="02040503050406030204" pitchFamily="18" charset="0"/>
                                    </a:rPr>
                                  </m:ctrlPr>
                                </m:sSubPr>
                                <m:e>
                                  <m:r>
                                    <a:rPr lang="en-US" altLang="zh-TW" b="0" i="1" baseline="0" smtClean="0">
                                      <a:solidFill>
                                        <a:srgbClr val="002060"/>
                                      </a:solidFill>
                                      <a:latin typeface="Cambria Math" panose="02040503050406030204" pitchFamily="18" charset="0"/>
                                    </a:rPr>
                                    <m:t>𝐵</m:t>
                                  </m:r>
                                </m:e>
                                <m:sub>
                                  <m:r>
                                    <a:rPr lang="en-US" altLang="zh-TW" b="0" i="1" baseline="0" smtClean="0">
                                      <a:solidFill>
                                        <a:srgbClr val="002060"/>
                                      </a:solidFill>
                                      <a:latin typeface="Cambria Math" panose="02040503050406030204" pitchFamily="18" charset="0"/>
                                    </a:rPr>
                                    <m:t>1</m:t>
                                  </m:r>
                                </m:sub>
                              </m:sSub>
                            </m:oMath>
                          </a14:m>
                          <a:r>
                            <a:rPr lang="en-US" altLang="zh-TW" baseline="0" dirty="0">
                              <a:solidFill>
                                <a:srgbClr val="002060"/>
                              </a:solidFill>
                              <a:latin typeface="Times New Roman" panose="02020603050405020304" pitchFamily="18" charset="0"/>
                            </a:rPr>
                            <a:t>[0]=1110</a:t>
                          </a:r>
                        </a:p>
                        <a:p>
                          <a:pPr algn="ctr"/>
                          <a14:m>
                            <m:oMath xmlns:m="http://schemas.openxmlformats.org/officeDocument/2006/math">
                              <m:sSub>
                                <m:sSubPr>
                                  <m:ctrlPr>
                                    <a:rPr lang="en-US" altLang="zh-TW" b="0" i="1" baseline="0" smtClean="0">
                                      <a:solidFill>
                                        <a:srgbClr val="002060"/>
                                      </a:solidFill>
                                      <a:latin typeface="Cambria Math" panose="02040503050406030204" pitchFamily="18" charset="0"/>
                                    </a:rPr>
                                  </m:ctrlPr>
                                </m:sSubPr>
                                <m:e>
                                  <m:r>
                                    <a:rPr lang="en-US" altLang="zh-TW" b="0" i="1" baseline="0" smtClean="0">
                                      <a:solidFill>
                                        <a:srgbClr val="002060"/>
                                      </a:solidFill>
                                      <a:latin typeface="Cambria Math" panose="02040503050406030204" pitchFamily="18" charset="0"/>
                                    </a:rPr>
                                    <m:t>𝐵</m:t>
                                  </m:r>
                                </m:e>
                                <m:sub>
                                  <m:r>
                                    <a:rPr lang="en-US" altLang="zh-TW" b="0" i="1" baseline="0" smtClean="0">
                                      <a:solidFill>
                                        <a:srgbClr val="002060"/>
                                      </a:solidFill>
                                      <a:latin typeface="Cambria Math" panose="02040503050406030204" pitchFamily="18" charset="0"/>
                                    </a:rPr>
                                    <m:t>1</m:t>
                                  </m:r>
                                </m:sub>
                              </m:sSub>
                            </m:oMath>
                          </a14:m>
                          <a:r>
                            <a:rPr lang="en-US" altLang="zh-TW" baseline="0" dirty="0">
                              <a:solidFill>
                                <a:srgbClr val="002060"/>
                              </a:solidFill>
                              <a:latin typeface="Times New Roman" panose="02020603050405020304" pitchFamily="18" charset="0"/>
                            </a:rPr>
                            <a:t>[1]=1101</a:t>
                          </a:r>
                          <a:endParaRPr lang="zh-TW" altLang="en-US" baseline="0" dirty="0">
                            <a:solidFill>
                              <a:srgbClr val="002060"/>
                            </a:solidFill>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3978714840"/>
                      </a:ext>
                    </a:extLst>
                  </a:tr>
                  <a:tr h="370840">
                    <a:tc>
                      <a:txBody>
                        <a:bodyPr/>
                        <a:lstStyle/>
                        <a:p>
                          <a:pPr algn="ctr"/>
                          <a:r>
                            <a:rPr lang="en-US" altLang="zh-TW" baseline="0" dirty="0">
                              <a:latin typeface="Times New Roman" panose="02020603050405020304" pitchFamily="18" charset="0"/>
                            </a:rPr>
                            <a:t>0022</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10</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10</a:t>
                          </a:r>
                          <a:endParaRPr lang="zh-TW" altLang="en-US" baseline="0" dirty="0">
                            <a:latin typeface="Times New Roman" panose="02020603050405020304" pitchFamily="18" charset="0"/>
                          </a:endParaRPr>
                        </a:p>
                      </a:txBody>
                      <a:tcPr>
                        <a:solidFill>
                          <a:schemeClr val="bg1"/>
                        </a:solidFill>
                      </a:tcPr>
                    </a:tc>
                    <a:tc>
                      <a:txBody>
                        <a:bodyPr/>
                        <a:lstStyle/>
                        <a:p>
                          <a:pPr algn="ctr"/>
                          <a14:m>
                            <m:oMath xmlns:m="http://schemas.openxmlformats.org/officeDocument/2006/math">
                              <m:sSub>
                                <m:sSubPr>
                                  <m:ctrlPr>
                                    <a:rPr lang="en-US" altLang="zh-TW" b="0" i="1" baseline="0" smtClean="0">
                                      <a:solidFill>
                                        <a:srgbClr val="002060"/>
                                      </a:solidFill>
                                      <a:latin typeface="Cambria Math" panose="02040503050406030204" pitchFamily="18" charset="0"/>
                                    </a:rPr>
                                  </m:ctrlPr>
                                </m:sSubPr>
                                <m:e>
                                  <m:r>
                                    <a:rPr lang="en-US" altLang="zh-TW" b="0" i="1" baseline="0" smtClean="0">
                                      <a:solidFill>
                                        <a:srgbClr val="002060"/>
                                      </a:solidFill>
                                      <a:latin typeface="Cambria Math" panose="02040503050406030204" pitchFamily="18" charset="0"/>
                                    </a:rPr>
                                    <m:t>𝐵</m:t>
                                  </m:r>
                                </m:e>
                                <m:sub>
                                  <m:r>
                                    <a:rPr lang="en-US" altLang="zh-TW" b="0" i="1" baseline="0" smtClean="0">
                                      <a:solidFill>
                                        <a:srgbClr val="002060"/>
                                      </a:solidFill>
                                      <a:latin typeface="Cambria Math" panose="02040503050406030204" pitchFamily="18" charset="0"/>
                                    </a:rPr>
                                    <m:t>2</m:t>
                                  </m:r>
                                </m:sub>
                              </m:sSub>
                            </m:oMath>
                          </a14:m>
                          <a:r>
                            <a:rPr lang="en-US" altLang="zh-TW" baseline="0" dirty="0">
                              <a:solidFill>
                                <a:srgbClr val="002060"/>
                              </a:solidFill>
                              <a:latin typeface="Times New Roman" panose="02020603050405020304" pitchFamily="18" charset="0"/>
                            </a:rPr>
                            <a:t>[0]=1101</a:t>
                          </a:r>
                        </a:p>
                        <a:p>
                          <a:pPr algn="ctr"/>
                          <a14:m>
                            <m:oMath xmlns:m="http://schemas.openxmlformats.org/officeDocument/2006/math">
                              <m:sSub>
                                <m:sSubPr>
                                  <m:ctrlPr>
                                    <a:rPr lang="en-US" altLang="zh-TW" b="0" i="1" baseline="0" smtClean="0">
                                      <a:solidFill>
                                        <a:srgbClr val="002060"/>
                                      </a:solidFill>
                                      <a:latin typeface="Cambria Math" panose="02040503050406030204" pitchFamily="18" charset="0"/>
                                    </a:rPr>
                                  </m:ctrlPr>
                                </m:sSubPr>
                                <m:e>
                                  <m:r>
                                    <a:rPr lang="en-US" altLang="zh-TW" b="0" i="1" baseline="0" smtClean="0">
                                      <a:solidFill>
                                        <a:srgbClr val="002060"/>
                                      </a:solidFill>
                                      <a:latin typeface="Cambria Math" panose="02040503050406030204" pitchFamily="18" charset="0"/>
                                    </a:rPr>
                                    <m:t>𝐵</m:t>
                                  </m:r>
                                </m:e>
                                <m:sub>
                                  <m:r>
                                    <a:rPr lang="en-US" altLang="zh-TW" b="0" i="1" baseline="0" smtClean="0">
                                      <a:solidFill>
                                        <a:srgbClr val="002060"/>
                                      </a:solidFill>
                                      <a:latin typeface="Cambria Math" panose="02040503050406030204" pitchFamily="18" charset="0"/>
                                    </a:rPr>
                                    <m:t>2</m:t>
                                  </m:r>
                                </m:sub>
                              </m:sSub>
                            </m:oMath>
                          </a14:m>
                          <a:r>
                            <a:rPr lang="en-US" altLang="zh-TW" baseline="0" dirty="0">
                              <a:solidFill>
                                <a:srgbClr val="002060"/>
                              </a:solidFill>
                              <a:latin typeface="Times New Roman" panose="02020603050405020304" pitchFamily="18" charset="0"/>
                            </a:rPr>
                            <a:t>[1]=1110</a:t>
                          </a:r>
                          <a:endParaRPr lang="zh-TW" altLang="en-US" baseline="0" dirty="0">
                            <a:solidFill>
                              <a:srgbClr val="002060"/>
                            </a:solidFill>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2172083126"/>
                      </a:ext>
                    </a:extLst>
                  </a:tr>
                  <a:tr h="370840">
                    <a:tc>
                      <a:txBody>
                        <a:bodyPr/>
                        <a:lstStyle/>
                        <a:p>
                          <a:pPr algn="ctr"/>
                          <a:r>
                            <a:rPr lang="en-US" altLang="zh-TW" baseline="0" dirty="0">
                              <a:latin typeface="Times New Roman" panose="02020603050405020304" pitchFamily="18" charset="0"/>
                            </a:rPr>
                            <a:t>0101</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17</a:t>
                          </a:r>
                          <a:endParaRPr lang="zh-TW" altLang="en-US" baseline="0" dirty="0">
                            <a:solidFill>
                              <a:srgbClr val="FF0000"/>
                            </a:solidFill>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0001</a:t>
                          </a:r>
                          <a:endParaRPr lang="zh-TW" altLang="en-US" baseline="0" dirty="0">
                            <a:latin typeface="Times New Roman" panose="02020603050405020304" pitchFamily="18" charset="0"/>
                          </a:endParaRPr>
                        </a:p>
                      </a:txBody>
                      <a:tcPr>
                        <a:solidFill>
                          <a:schemeClr val="bg1"/>
                        </a:solidFill>
                      </a:tcPr>
                    </a:tc>
                    <a:tc>
                      <a:txBody>
                        <a:bodyPr/>
                        <a:lstStyle/>
                        <a:p>
                          <a:pPr algn="ctr"/>
                          <a14:m>
                            <m:oMath xmlns:m="http://schemas.openxmlformats.org/officeDocument/2006/math">
                              <m:sSub>
                                <m:sSubPr>
                                  <m:ctrlPr>
                                    <a:rPr lang="en-US" altLang="zh-TW" b="0" i="1" baseline="0" smtClean="0">
                                      <a:solidFill>
                                        <a:srgbClr val="002060"/>
                                      </a:solidFill>
                                      <a:latin typeface="Cambria Math" panose="02040503050406030204" pitchFamily="18" charset="0"/>
                                    </a:rPr>
                                  </m:ctrlPr>
                                </m:sSubPr>
                                <m:e>
                                  <m:r>
                                    <a:rPr lang="en-US" altLang="zh-TW" b="0" i="1" baseline="0" smtClean="0">
                                      <a:solidFill>
                                        <a:srgbClr val="002060"/>
                                      </a:solidFill>
                                      <a:latin typeface="Cambria Math" panose="02040503050406030204" pitchFamily="18" charset="0"/>
                                    </a:rPr>
                                    <m:t>𝐵</m:t>
                                  </m:r>
                                </m:e>
                                <m:sub>
                                  <m:r>
                                    <a:rPr lang="en-US" altLang="zh-TW" b="0" i="1" baseline="0" smtClean="0">
                                      <a:solidFill>
                                        <a:srgbClr val="002060"/>
                                      </a:solidFill>
                                      <a:latin typeface="Cambria Math" panose="02040503050406030204" pitchFamily="18" charset="0"/>
                                    </a:rPr>
                                    <m:t>3</m:t>
                                  </m:r>
                                </m:sub>
                              </m:sSub>
                            </m:oMath>
                          </a14:m>
                          <a:r>
                            <a:rPr lang="en-US" altLang="zh-TW" baseline="0" dirty="0">
                              <a:solidFill>
                                <a:srgbClr val="002060"/>
                              </a:solidFill>
                              <a:latin typeface="Times New Roman" panose="02020603050405020304" pitchFamily="18" charset="0"/>
                            </a:rPr>
                            <a:t>[0]=1000</a:t>
                          </a:r>
                        </a:p>
                        <a:p>
                          <a:pPr algn="ctr"/>
                          <a14:m>
                            <m:oMath xmlns:m="http://schemas.openxmlformats.org/officeDocument/2006/math">
                              <m:sSub>
                                <m:sSubPr>
                                  <m:ctrlPr>
                                    <a:rPr lang="en-US" altLang="zh-TW" b="0" i="1" baseline="0" smtClean="0">
                                      <a:solidFill>
                                        <a:srgbClr val="002060"/>
                                      </a:solidFill>
                                      <a:latin typeface="Cambria Math" panose="02040503050406030204" pitchFamily="18" charset="0"/>
                                    </a:rPr>
                                  </m:ctrlPr>
                                </m:sSubPr>
                                <m:e>
                                  <m:r>
                                    <a:rPr lang="en-US" altLang="zh-TW" b="0" i="1" baseline="0" smtClean="0">
                                      <a:solidFill>
                                        <a:srgbClr val="002060"/>
                                      </a:solidFill>
                                      <a:latin typeface="Cambria Math" panose="02040503050406030204" pitchFamily="18" charset="0"/>
                                    </a:rPr>
                                    <m:t>𝐵</m:t>
                                  </m:r>
                                </m:e>
                                <m:sub>
                                  <m:r>
                                    <a:rPr lang="en-US" altLang="zh-TW" b="0" i="1" baseline="0" smtClean="0">
                                      <a:solidFill>
                                        <a:srgbClr val="002060"/>
                                      </a:solidFill>
                                      <a:latin typeface="Cambria Math" panose="02040503050406030204" pitchFamily="18" charset="0"/>
                                    </a:rPr>
                                    <m:t>3</m:t>
                                  </m:r>
                                </m:sub>
                              </m:sSub>
                            </m:oMath>
                          </a14:m>
                          <a:r>
                            <a:rPr lang="en-US" altLang="zh-TW" baseline="0" dirty="0">
                              <a:solidFill>
                                <a:srgbClr val="002060"/>
                              </a:solidFill>
                              <a:latin typeface="Times New Roman" panose="02020603050405020304" pitchFamily="18" charset="0"/>
                            </a:rPr>
                            <a:t>[1]=0111</a:t>
                          </a:r>
                          <a:endParaRPr lang="zh-TW" altLang="en-US" baseline="0" dirty="0">
                            <a:solidFill>
                              <a:srgbClr val="002060"/>
                            </a:solidFill>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3384057669"/>
                      </a:ext>
                    </a:extLst>
                  </a:tr>
                  <a:tr h="370840">
                    <a:tc gridSpan="3">
                      <a:txBody>
                        <a:bodyPr/>
                        <a:lstStyle/>
                        <a:p>
                          <a:pPr algn="ctr"/>
                          <a:r>
                            <a:rPr lang="en-US" altLang="zh-TW" baseline="0" dirty="0">
                              <a:solidFill>
                                <a:srgbClr val="002060"/>
                              </a:solidFill>
                              <a:latin typeface="Times New Roman" panose="02020603050405020304" pitchFamily="18" charset="0"/>
                            </a:rPr>
                            <a:t>Final Bit Table</a:t>
                          </a:r>
                          <a:endParaRPr lang="zh-TW" altLang="en-US" baseline="0" dirty="0">
                            <a:solidFill>
                              <a:srgbClr val="002060"/>
                            </a:solidFill>
                            <a:latin typeface="Times New Roman" panose="02020603050405020304" pitchFamily="18" charset="0"/>
                          </a:endParaRPr>
                        </a:p>
                      </a:txBody>
                      <a:tcPr>
                        <a:solidFill>
                          <a:schemeClr val="bg1"/>
                        </a:solidFill>
                      </a:tcPr>
                    </a:tc>
                    <a:tc hMerge="1">
                      <a:txBody>
                        <a:bodyPr/>
                        <a:lstStyle/>
                        <a:p>
                          <a:pPr algn="ctr"/>
                          <a:endParaRPr lang="zh-TW" altLang="en-US" baseline="0" dirty="0">
                            <a:solidFill>
                              <a:srgbClr val="FF0000"/>
                            </a:solidFill>
                            <a:latin typeface="Times New Roman" panose="02020603050405020304" pitchFamily="18" charset="0"/>
                          </a:endParaRPr>
                        </a:p>
                      </a:txBody>
                      <a:tcPr>
                        <a:solidFill>
                          <a:schemeClr val="bg1"/>
                        </a:solidFill>
                      </a:tcPr>
                    </a:tc>
                    <a:tc hMerge="1">
                      <a:txBody>
                        <a:bodyPr/>
                        <a:lstStyle/>
                        <a:p>
                          <a:pPr algn="ct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solidFill>
                                <a:srgbClr val="002060"/>
                              </a:solidFill>
                              <a:latin typeface="Times New Roman" panose="02020603050405020304" pitchFamily="18" charset="0"/>
                            </a:rPr>
                            <a:t>B[0]=1000</a:t>
                          </a:r>
                        </a:p>
                        <a:p>
                          <a:pPr algn="ctr"/>
                          <a:r>
                            <a:rPr lang="en-US" altLang="zh-TW" baseline="0" dirty="0">
                              <a:solidFill>
                                <a:srgbClr val="002060"/>
                              </a:solidFill>
                              <a:latin typeface="Times New Roman" panose="02020603050405020304" pitchFamily="18" charset="0"/>
                            </a:rPr>
                            <a:t>B[1]=0100</a:t>
                          </a:r>
                          <a:endParaRPr lang="zh-TW" altLang="en-US" baseline="0" dirty="0">
                            <a:solidFill>
                              <a:srgbClr val="002060"/>
                            </a:solidFill>
                            <a:latin typeface="Times New Roman" panose="02020603050405020304" pitchFamily="18" charset="0"/>
                          </a:endParaRPr>
                        </a:p>
                      </a:txBody>
                      <a:tcPr>
                        <a:solidFill>
                          <a:schemeClr val="bg1"/>
                        </a:solidFill>
                      </a:tcPr>
                    </a:tc>
                    <a:extLst>
                      <a:ext uri="{0D108BD9-81ED-4DB2-BD59-A6C34878D82A}">
                        <a16:rowId xmlns:a16="http://schemas.microsoft.com/office/drawing/2014/main" xmlns="" val="1659463218"/>
                      </a:ext>
                    </a:extLst>
                  </a:tr>
                </a:tbl>
              </a:graphicData>
            </a:graphic>
          </p:graphicFrame>
        </mc:Choice>
        <mc:Fallback xmlns="">
          <p:graphicFrame>
            <p:nvGraphicFramePr>
              <p:cNvPr id="20" name="內容版面配置區 7">
                <a:extLst>
                  <a:ext uri="{FF2B5EF4-FFF2-40B4-BE49-F238E27FC236}">
                    <a16:creationId xmlns:a16="http://schemas.microsoft.com/office/drawing/2014/main" id="{D074AE84-48DF-4D0E-BC52-F86E0E9E0101}"/>
                  </a:ext>
                </a:extLst>
              </p:cNvPr>
              <p:cNvGraphicFramePr>
                <a:graphicFrameLocks/>
              </p:cNvGraphicFramePr>
              <p:nvPr>
                <p:extLst>
                  <p:ext uri="{D42A27DB-BD31-4B8C-83A1-F6EECF244321}">
                    <p14:modId xmlns:p14="http://schemas.microsoft.com/office/powerpoint/2010/main" val="1117837613"/>
                  </p:ext>
                </p:extLst>
              </p:nvPr>
            </p:nvGraphicFramePr>
            <p:xfrm>
              <a:off x="967667" y="967527"/>
              <a:ext cx="6386400" cy="2931160"/>
            </p:xfrm>
            <a:graphic>
              <a:graphicData uri="http://schemas.openxmlformats.org/drawingml/2006/table">
                <a:tbl>
                  <a:tblPr firstRow="1" bandRow="1">
                    <a:tableStyleId>{5940675A-B579-460E-94D1-54222C63F5DA}</a:tableStyleId>
                  </a:tblPr>
                  <a:tblGrid>
                    <a:gridCol w="1576800">
                      <a:extLst>
                        <a:ext uri="{9D8B030D-6E8A-4147-A177-3AD203B41FA5}">
                          <a16:colId xmlns:a16="http://schemas.microsoft.com/office/drawing/2014/main" val="4183209010"/>
                        </a:ext>
                      </a:extLst>
                    </a:gridCol>
                    <a:gridCol w="1576800">
                      <a:extLst>
                        <a:ext uri="{9D8B030D-6E8A-4147-A177-3AD203B41FA5}">
                          <a16:colId xmlns:a16="http://schemas.microsoft.com/office/drawing/2014/main" val="4264795898"/>
                        </a:ext>
                      </a:extLst>
                    </a:gridCol>
                    <a:gridCol w="1576800">
                      <a:extLst>
                        <a:ext uri="{9D8B030D-6E8A-4147-A177-3AD203B41FA5}">
                          <a16:colId xmlns:a16="http://schemas.microsoft.com/office/drawing/2014/main" val="2897420003"/>
                        </a:ext>
                      </a:extLst>
                    </a:gridCol>
                    <a:gridCol w="1656000">
                      <a:extLst>
                        <a:ext uri="{9D8B030D-6E8A-4147-A177-3AD203B41FA5}">
                          <a16:colId xmlns:a16="http://schemas.microsoft.com/office/drawing/2014/main" val="4157295316"/>
                        </a:ext>
                      </a:extLst>
                    </a:gridCol>
                  </a:tblGrid>
                  <a:tr h="370840">
                    <a:tc>
                      <a:txBody>
                        <a:bodyPr/>
                        <a:lstStyle/>
                        <a:p>
                          <a:pPr algn="ctr"/>
                          <a:r>
                            <a:rPr lang="en-US" altLang="zh-TW" baseline="0" dirty="0">
                              <a:latin typeface="Times New Roman" panose="02020603050405020304" pitchFamily="18" charset="0"/>
                            </a:rPr>
                            <a:t>Word</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Index</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Codes (P)</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solidFill>
                                <a:srgbClr val="002060"/>
                              </a:solidFill>
                              <a:latin typeface="Times New Roman" panose="02020603050405020304" pitchFamily="18" charset="0"/>
                            </a:rPr>
                            <a:t>B[Code]</a:t>
                          </a:r>
                          <a:endParaRPr lang="zh-TW" altLang="en-US" baseline="0" dirty="0">
                            <a:solidFill>
                              <a:srgbClr val="002060"/>
                            </a:solidFill>
                            <a:latin typeface="Times New Roman" panose="02020603050405020304" pitchFamily="18" charset="0"/>
                          </a:endParaRPr>
                        </a:p>
                      </a:txBody>
                      <a:tcPr>
                        <a:solidFill>
                          <a:schemeClr val="bg1"/>
                        </a:solidFill>
                      </a:tcPr>
                    </a:tc>
                    <a:extLst>
                      <a:ext uri="{0D108BD9-81ED-4DB2-BD59-A6C34878D82A}">
                        <a16:rowId xmlns:a16="http://schemas.microsoft.com/office/drawing/2014/main" val="2352578504"/>
                      </a:ext>
                    </a:extLst>
                  </a:tr>
                  <a:tr h="640080">
                    <a:tc>
                      <a:txBody>
                        <a:bodyPr/>
                        <a:lstStyle/>
                        <a:p>
                          <a:pPr algn="ctr"/>
                          <a:r>
                            <a:rPr lang="en-US" altLang="zh-TW" baseline="0" dirty="0">
                              <a:latin typeface="Times New Roman" panose="02020603050405020304" pitchFamily="18" charset="0"/>
                            </a:rPr>
                            <a:t>0021</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9 </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01</a:t>
                          </a:r>
                          <a:endParaRPr lang="zh-TW" altLang="en-US" baseline="0" dirty="0">
                            <a:latin typeface="Times New Roman" panose="02020603050405020304" pitchFamily="18" charset="0"/>
                          </a:endParaRPr>
                        </a:p>
                      </a:txBody>
                      <a:tcPr>
                        <a:solidFill>
                          <a:schemeClr val="bg1"/>
                        </a:solidFill>
                      </a:tcPr>
                    </a:tc>
                    <a:tc>
                      <a:txBody>
                        <a:bodyPr/>
                        <a:lstStyle/>
                        <a:p>
                          <a:endParaRPr lang="zh-TW"/>
                        </a:p>
                      </a:txBody>
                      <a:tcPr>
                        <a:blipFill>
                          <a:blip r:embed="rId3"/>
                          <a:stretch>
                            <a:fillRect l="-286029" t="-62857" r="-735" b="-316190"/>
                          </a:stretch>
                        </a:blipFill>
                      </a:tcPr>
                    </a:tc>
                    <a:extLst>
                      <a:ext uri="{0D108BD9-81ED-4DB2-BD59-A6C34878D82A}">
                        <a16:rowId xmlns:a16="http://schemas.microsoft.com/office/drawing/2014/main" val="3978714840"/>
                      </a:ext>
                    </a:extLst>
                  </a:tr>
                  <a:tr h="640080">
                    <a:tc>
                      <a:txBody>
                        <a:bodyPr/>
                        <a:lstStyle/>
                        <a:p>
                          <a:pPr algn="ctr"/>
                          <a:r>
                            <a:rPr lang="en-US" altLang="zh-TW" baseline="0" dirty="0">
                              <a:latin typeface="Times New Roman" panose="02020603050405020304" pitchFamily="18" charset="0"/>
                            </a:rPr>
                            <a:t>0022</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10</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10</a:t>
                          </a:r>
                          <a:endParaRPr lang="zh-TW" altLang="en-US" baseline="0" dirty="0">
                            <a:latin typeface="Times New Roman" panose="02020603050405020304" pitchFamily="18" charset="0"/>
                          </a:endParaRPr>
                        </a:p>
                      </a:txBody>
                      <a:tcPr>
                        <a:solidFill>
                          <a:schemeClr val="bg1"/>
                        </a:solidFill>
                      </a:tcPr>
                    </a:tc>
                    <a:tc>
                      <a:txBody>
                        <a:bodyPr/>
                        <a:lstStyle/>
                        <a:p>
                          <a:endParaRPr lang="zh-TW"/>
                        </a:p>
                      </a:txBody>
                      <a:tcPr>
                        <a:blipFill>
                          <a:blip r:embed="rId3"/>
                          <a:stretch>
                            <a:fillRect l="-286029" t="-162857" r="-735" b="-216190"/>
                          </a:stretch>
                        </a:blipFill>
                      </a:tcPr>
                    </a:tc>
                    <a:extLst>
                      <a:ext uri="{0D108BD9-81ED-4DB2-BD59-A6C34878D82A}">
                        <a16:rowId xmlns:a16="http://schemas.microsoft.com/office/drawing/2014/main" val="2172083126"/>
                      </a:ext>
                    </a:extLst>
                  </a:tr>
                  <a:tr h="640080">
                    <a:tc>
                      <a:txBody>
                        <a:bodyPr/>
                        <a:lstStyle/>
                        <a:p>
                          <a:pPr algn="ctr"/>
                          <a:r>
                            <a:rPr lang="en-US" altLang="zh-TW" baseline="0" dirty="0">
                              <a:latin typeface="Times New Roman" panose="02020603050405020304" pitchFamily="18" charset="0"/>
                            </a:rPr>
                            <a:t>0101</a:t>
                          </a: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17</a:t>
                          </a:r>
                          <a:endParaRPr lang="zh-TW" altLang="en-US" baseline="0" dirty="0">
                            <a:solidFill>
                              <a:srgbClr val="FF0000"/>
                            </a:solidFill>
                            <a:latin typeface="Times New Roman" panose="02020603050405020304" pitchFamily="18" charset="0"/>
                          </a:endParaRPr>
                        </a:p>
                      </a:txBody>
                      <a:tcPr>
                        <a:solidFill>
                          <a:schemeClr val="bg1"/>
                        </a:solidFill>
                      </a:tcPr>
                    </a:tc>
                    <a:tc>
                      <a:txBody>
                        <a:bodyPr/>
                        <a:lstStyle/>
                        <a:p>
                          <a:pPr algn="ctr"/>
                          <a:r>
                            <a:rPr lang="en-US" altLang="zh-TW" baseline="0" dirty="0">
                              <a:latin typeface="Times New Roman" panose="02020603050405020304" pitchFamily="18" charset="0"/>
                            </a:rPr>
                            <a:t>0001</a:t>
                          </a:r>
                          <a:endParaRPr lang="zh-TW" altLang="en-US" baseline="0" dirty="0">
                            <a:latin typeface="Times New Roman" panose="02020603050405020304" pitchFamily="18" charset="0"/>
                          </a:endParaRPr>
                        </a:p>
                      </a:txBody>
                      <a:tcPr>
                        <a:solidFill>
                          <a:schemeClr val="bg1"/>
                        </a:solidFill>
                      </a:tcPr>
                    </a:tc>
                    <a:tc>
                      <a:txBody>
                        <a:bodyPr/>
                        <a:lstStyle/>
                        <a:p>
                          <a:endParaRPr lang="zh-TW"/>
                        </a:p>
                      </a:txBody>
                      <a:tcPr>
                        <a:blipFill>
                          <a:blip r:embed="rId3"/>
                          <a:stretch>
                            <a:fillRect l="-286029" t="-260377" r="-735" b="-114151"/>
                          </a:stretch>
                        </a:blipFill>
                      </a:tcPr>
                    </a:tc>
                    <a:extLst>
                      <a:ext uri="{0D108BD9-81ED-4DB2-BD59-A6C34878D82A}">
                        <a16:rowId xmlns:a16="http://schemas.microsoft.com/office/drawing/2014/main" val="3384057669"/>
                      </a:ext>
                    </a:extLst>
                  </a:tr>
                  <a:tr h="640080">
                    <a:tc gridSpan="3">
                      <a:txBody>
                        <a:bodyPr/>
                        <a:lstStyle/>
                        <a:p>
                          <a:pPr algn="ctr"/>
                          <a:r>
                            <a:rPr lang="en-US" altLang="zh-TW" baseline="0" dirty="0">
                              <a:solidFill>
                                <a:srgbClr val="002060"/>
                              </a:solidFill>
                              <a:latin typeface="Times New Roman" panose="02020603050405020304" pitchFamily="18" charset="0"/>
                            </a:rPr>
                            <a:t>Final Bit Table</a:t>
                          </a:r>
                          <a:endParaRPr lang="zh-TW" altLang="en-US" baseline="0" dirty="0">
                            <a:solidFill>
                              <a:srgbClr val="002060"/>
                            </a:solidFill>
                            <a:latin typeface="Times New Roman" panose="02020603050405020304" pitchFamily="18" charset="0"/>
                          </a:endParaRPr>
                        </a:p>
                      </a:txBody>
                      <a:tcPr>
                        <a:solidFill>
                          <a:schemeClr val="bg1"/>
                        </a:solidFill>
                      </a:tcPr>
                    </a:tc>
                    <a:tc hMerge="1">
                      <a:txBody>
                        <a:bodyPr/>
                        <a:lstStyle/>
                        <a:p>
                          <a:pPr algn="ctr"/>
                          <a:endParaRPr lang="zh-TW" altLang="en-US" baseline="0" dirty="0">
                            <a:solidFill>
                              <a:srgbClr val="FF0000"/>
                            </a:solidFill>
                            <a:latin typeface="Times New Roman" panose="02020603050405020304" pitchFamily="18" charset="0"/>
                          </a:endParaRPr>
                        </a:p>
                      </a:txBody>
                      <a:tcPr>
                        <a:solidFill>
                          <a:schemeClr val="bg1"/>
                        </a:solidFill>
                      </a:tcPr>
                    </a:tc>
                    <a:tc hMerge="1">
                      <a:txBody>
                        <a:bodyPr/>
                        <a:lstStyle/>
                        <a:p>
                          <a:pPr algn="ctr"/>
                          <a:endParaRPr lang="zh-TW" altLang="en-US" baseline="0" dirty="0">
                            <a:latin typeface="Times New Roman" panose="02020603050405020304" pitchFamily="18" charset="0"/>
                          </a:endParaRPr>
                        </a:p>
                      </a:txBody>
                      <a:tcPr>
                        <a:solidFill>
                          <a:schemeClr val="bg1"/>
                        </a:solidFill>
                      </a:tcPr>
                    </a:tc>
                    <a:tc>
                      <a:txBody>
                        <a:bodyPr/>
                        <a:lstStyle/>
                        <a:p>
                          <a:pPr algn="ctr"/>
                          <a:r>
                            <a:rPr lang="en-US" altLang="zh-TW" baseline="0" dirty="0">
                              <a:solidFill>
                                <a:srgbClr val="002060"/>
                              </a:solidFill>
                              <a:latin typeface="Times New Roman" panose="02020603050405020304" pitchFamily="18" charset="0"/>
                            </a:rPr>
                            <a:t>B[0]=1000</a:t>
                          </a:r>
                        </a:p>
                        <a:p>
                          <a:pPr algn="ctr"/>
                          <a:r>
                            <a:rPr lang="en-US" altLang="zh-TW" baseline="0" dirty="0">
                              <a:solidFill>
                                <a:srgbClr val="002060"/>
                              </a:solidFill>
                              <a:latin typeface="Times New Roman" panose="02020603050405020304" pitchFamily="18" charset="0"/>
                            </a:rPr>
                            <a:t>B[1]=0100</a:t>
                          </a:r>
                          <a:endParaRPr lang="zh-TW" altLang="en-US" baseline="0" dirty="0">
                            <a:solidFill>
                              <a:srgbClr val="002060"/>
                            </a:solidFill>
                            <a:latin typeface="Times New Roman" panose="02020603050405020304" pitchFamily="18" charset="0"/>
                          </a:endParaRPr>
                        </a:p>
                      </a:txBody>
                      <a:tcPr>
                        <a:solidFill>
                          <a:schemeClr val="bg1"/>
                        </a:solidFill>
                      </a:tcPr>
                    </a:tc>
                    <a:extLst>
                      <a:ext uri="{0D108BD9-81ED-4DB2-BD59-A6C34878D82A}">
                        <a16:rowId xmlns:a16="http://schemas.microsoft.com/office/drawing/2014/main" val="1659463218"/>
                      </a:ext>
                    </a:extLst>
                  </a:tr>
                </a:tbl>
              </a:graphicData>
            </a:graphic>
          </p:graphicFrame>
        </mc:Fallback>
      </mc:AlternateContent>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24</a:t>
            </a:fld>
            <a:endParaRPr lang="zh-TW" altLang="en-US"/>
          </a:p>
        </p:txBody>
      </p:sp>
      <p:sp>
        <p:nvSpPr>
          <p:cNvPr id="21" name="矩形 20">
            <a:extLst>
              <a:ext uri="{FF2B5EF4-FFF2-40B4-BE49-F238E27FC236}">
                <a16:creationId xmlns:a16="http://schemas.microsoft.com/office/drawing/2014/main" xmlns="" id="{8D5B326E-F4A5-4ED1-8748-44153AA1834B}"/>
              </a:ext>
            </a:extLst>
          </p:cNvPr>
          <p:cNvSpPr/>
          <p:nvPr/>
        </p:nvSpPr>
        <p:spPr>
          <a:xfrm>
            <a:off x="501748" y="451380"/>
            <a:ext cx="2791868" cy="400110"/>
          </a:xfrm>
          <a:prstGeom prst="rect">
            <a:avLst/>
          </a:prstGeom>
        </p:spPr>
        <p:txBody>
          <a:bodyPr wrap="square">
            <a:spAutoFit/>
          </a:bodyPr>
          <a:lstStyle/>
          <a:p>
            <a:r>
              <a:rPr lang="zh-TW" altLang="en-US" sz="2000" dirty="0">
                <a:latin typeface="標楷體" panose="03000509000000000000" pitchFamily="65" charset="-120"/>
                <a:ea typeface="標楷體" panose="03000509000000000000" pitchFamily="65" charset="-120"/>
                <a:cs typeface="Times New Roman" panose="02020603050405020304" pitchFamily="18" charset="0"/>
              </a:rPr>
              <a:t>如果</a:t>
            </a:r>
            <a:r>
              <a:rPr lang="en-US" altLang="zh-TW" sz="2000" dirty="0">
                <a:latin typeface="標楷體" panose="03000509000000000000" pitchFamily="65" charset="-120"/>
                <a:ea typeface="標楷體" panose="03000509000000000000" pitchFamily="65" charset="-120"/>
                <a:cs typeface="Times New Roman" panose="02020603050405020304" pitchFamily="18" charset="0"/>
              </a:rPr>
              <a:t>BBAA(0101)</a:t>
            </a:r>
            <a:r>
              <a:rPr lang="zh-TW" altLang="en-US" sz="2000" dirty="0">
                <a:latin typeface="標楷體" panose="03000509000000000000" pitchFamily="65" charset="-120"/>
                <a:ea typeface="標楷體" panose="03000509000000000000" pitchFamily="65" charset="-120"/>
                <a:cs typeface="Times New Roman" panose="02020603050405020304" pitchFamily="18" charset="0"/>
              </a:rPr>
              <a:t>加入</a:t>
            </a:r>
            <a:r>
              <a:rPr lang="en-US" altLang="zh-TW" sz="2000" dirty="0">
                <a:latin typeface="標楷體" panose="03000509000000000000" pitchFamily="65" charset="-120"/>
                <a:ea typeface="標楷體" panose="03000509000000000000" pitchFamily="65" charset="-120"/>
                <a:cs typeface="Times New Roman" panose="02020603050405020304" pitchFamily="18" charset="0"/>
              </a:rPr>
              <a:t>:</a:t>
            </a:r>
            <a:endParaRPr lang="en-US" altLang="zh-TW" sz="2000" dirty="0">
              <a:solidFill>
                <a:srgbClr val="0070C0"/>
              </a:solidFill>
              <a:latin typeface="標楷體" panose="03000509000000000000" pitchFamily="65" charset="-12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xmlns="" id="{79EEDB57-C091-4B2C-8714-1B554146A1EF}"/>
                  </a:ext>
                </a:extLst>
              </p:cNvPr>
              <p:cNvSpPr/>
              <p:nvPr/>
            </p:nvSpPr>
            <p:spPr>
              <a:xfrm>
                <a:off x="711034" y="4062644"/>
                <a:ext cx="5219634" cy="405624"/>
              </a:xfrm>
              <a:prstGeom prst="rect">
                <a:avLst/>
              </a:prstGeom>
            </p:spPr>
            <p:txBody>
              <a:bodyPr wrap="none">
                <a:spAutoFit/>
              </a:bodyPr>
              <a:lstStyle/>
              <a:p>
                <a:r>
                  <a:rPr lang="en-US" altLang="zh-TW" sz="2000" b="0" dirty="0">
                    <a:solidFill>
                      <a:srgbClr val="0070C0"/>
                    </a:solidFill>
                    <a:latin typeface="Times New Roman" panose="02020603050405020304" pitchFamily="18" charset="0"/>
                    <a:cs typeface="Times New Roman" panose="02020603050405020304" pitchFamily="18" charset="0"/>
                  </a:rPr>
                  <a:t>if P[</a:t>
                </a:r>
                <a:r>
                  <a:rPr lang="en-US" altLang="zh-TW" sz="2000" b="0" dirty="0" err="1">
                    <a:solidFill>
                      <a:srgbClr val="0070C0"/>
                    </a:solidFill>
                    <a:latin typeface="Times New Roman" panose="02020603050405020304" pitchFamily="18" charset="0"/>
                    <a:cs typeface="Times New Roman" panose="02020603050405020304" pitchFamily="18" charset="0"/>
                  </a:rPr>
                  <a:t>i</a:t>
                </a:r>
                <a:r>
                  <a:rPr lang="en-US" altLang="zh-TW" sz="2000" b="0" dirty="0">
                    <a:solidFill>
                      <a:srgbClr val="0070C0"/>
                    </a:solidFill>
                    <a:latin typeface="Times New Roman" panose="02020603050405020304" pitchFamily="18" charset="0"/>
                    <a:cs typeface="Times New Roman" panose="02020603050405020304" pitchFamily="18" charset="0"/>
                  </a:rPr>
                  <a:t>] = c, </a:t>
                </a:r>
                <a14:m>
                  <m:oMath xmlns:m="http://schemas.openxmlformats.org/officeDocument/2006/math">
                    <m:sSup>
                      <m:sSupPr>
                        <m:ctrlPr>
                          <a:rPr lang="en-US" altLang="zh-TW" sz="2000" b="0" i="1" smtClean="0">
                            <a:solidFill>
                              <a:srgbClr val="0070C0"/>
                            </a:solidFill>
                            <a:latin typeface="Cambria Math" panose="02040503050406030204" pitchFamily="18" charset="0"/>
                            <a:cs typeface="Times New Roman" panose="02020603050405020304" pitchFamily="18" charset="0"/>
                          </a:rPr>
                        </m:ctrlPr>
                      </m:sSupPr>
                      <m:e>
                        <m:r>
                          <a:rPr lang="en-US" altLang="zh-TW" sz="2000" b="0" i="1" smtClean="0">
                            <a:solidFill>
                              <a:srgbClr val="0070C0"/>
                            </a:solidFill>
                            <a:latin typeface="Cambria Math" panose="02040503050406030204" pitchFamily="18" charset="0"/>
                            <a:cs typeface="Times New Roman" panose="02020603050405020304" pitchFamily="18" charset="0"/>
                          </a:rPr>
                          <m:t>𝑖</m:t>
                        </m:r>
                      </m:e>
                      <m:sup>
                        <m:r>
                          <a:rPr lang="en-US" altLang="zh-TW" sz="2000" b="0" i="1" smtClean="0">
                            <a:solidFill>
                              <a:srgbClr val="0070C0"/>
                            </a:solidFill>
                            <a:latin typeface="Cambria Math" panose="02040503050406030204" pitchFamily="18" charset="0"/>
                            <a:cs typeface="Times New Roman" panose="02020603050405020304" pitchFamily="18" charset="0"/>
                          </a:rPr>
                          <m:t>𝑡h</m:t>
                        </m:r>
                      </m:sup>
                    </m:sSup>
                  </m:oMath>
                </a14:m>
                <a:r>
                  <a:rPr lang="en-US" altLang="zh-TW" sz="2000" b="0" dirty="0">
                    <a:solidFill>
                      <a:srgbClr val="0070C0"/>
                    </a:solidFill>
                    <a:latin typeface="Times New Roman" panose="02020603050405020304" pitchFamily="18" charset="0"/>
                    <a:cs typeface="Times New Roman" panose="02020603050405020304" pitchFamily="18" charset="0"/>
                  </a:rPr>
                  <a:t> bit of </a:t>
                </a:r>
                <a14:m>
                  <m:oMath xmlns:m="http://schemas.openxmlformats.org/officeDocument/2006/math">
                    <m:r>
                      <a:rPr lang="en-US" altLang="zh-TW" sz="2000" b="0" i="1" smtClean="0">
                        <a:solidFill>
                          <a:srgbClr val="0070C0"/>
                        </a:solidFill>
                        <a:latin typeface="Cambria Math" panose="02040503050406030204" pitchFamily="18" charset="0"/>
                      </a:rPr>
                      <m:t>𝐵</m:t>
                    </m:r>
                  </m:oMath>
                </a14:m>
                <a:r>
                  <a:rPr lang="en-US" altLang="zh-TW" sz="2000" dirty="0">
                    <a:solidFill>
                      <a:srgbClr val="0070C0"/>
                    </a:solidFill>
                    <a:latin typeface="Times New Roman" panose="02020603050405020304" pitchFamily="18" charset="0"/>
                    <a:cs typeface="Times New Roman" panose="02020603050405020304" pitchFamily="18" charset="0"/>
                  </a:rPr>
                  <a:t>[c] = 0 (from right to left)</a:t>
                </a:r>
                <a:endParaRPr lang="zh-TW" altLang="en-US" sz="2000"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79EEDB57-C091-4B2C-8714-1B554146A1EF}"/>
                  </a:ext>
                </a:extLst>
              </p:cNvPr>
              <p:cNvSpPr>
                <a:spLocks noRot="1" noChangeAspect="1" noMove="1" noResize="1" noEditPoints="1" noAdjustHandles="1" noChangeArrowheads="1" noChangeShapeType="1" noTextEdit="1"/>
              </p:cNvSpPr>
              <p:nvPr/>
            </p:nvSpPr>
            <p:spPr>
              <a:xfrm>
                <a:off x="711034" y="4062644"/>
                <a:ext cx="5219634" cy="405624"/>
              </a:xfrm>
              <a:prstGeom prst="rect">
                <a:avLst/>
              </a:prstGeom>
              <a:blipFill>
                <a:blip r:embed="rId4"/>
                <a:stretch>
                  <a:fillRect l="-1285" t="-5970" b="-2537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xmlns="" id="{6CAC256C-D5AF-470F-A59A-4E719B865BE1}"/>
                  </a:ext>
                </a:extLst>
              </p:cNvPr>
              <p:cNvSpPr/>
              <p:nvPr/>
            </p:nvSpPr>
            <p:spPr>
              <a:xfrm>
                <a:off x="711034" y="4487403"/>
                <a:ext cx="3038589" cy="400110"/>
              </a:xfrm>
              <a:prstGeom prst="rect">
                <a:avLst/>
              </a:prstGeom>
            </p:spPr>
            <p:txBody>
              <a:bodyPr wrap="none">
                <a:spAutoFit/>
              </a:bodyPr>
              <a:lstStyle/>
              <a:p>
                <a14:m>
                  <m:oMath xmlns:m="http://schemas.openxmlformats.org/officeDocument/2006/math">
                    <m:sSub>
                      <m:sSubPr>
                        <m:ctrlPr>
                          <a:rPr lang="en-US" altLang="zh-TW" sz="2000" b="0" i="1" smtClean="0">
                            <a:solidFill>
                              <a:schemeClr val="tx1"/>
                            </a:solidFill>
                            <a:latin typeface="Cambria Math" panose="02040503050406030204" pitchFamily="18" charset="0"/>
                            <a:cs typeface="Times New Roman" panose="02020603050405020304" pitchFamily="18" charset="0"/>
                          </a:rPr>
                        </m:ctrlPr>
                      </m:sSubPr>
                      <m:e>
                        <m:r>
                          <a:rPr lang="en-US" altLang="zh-TW" sz="2000" b="0" i="1" smtClean="0">
                            <a:solidFill>
                              <a:schemeClr val="tx1"/>
                            </a:solidFill>
                            <a:latin typeface="Cambria Math" panose="02040503050406030204" pitchFamily="18" charset="0"/>
                            <a:cs typeface="Times New Roman" panose="02020603050405020304" pitchFamily="18" charset="0"/>
                          </a:rPr>
                          <m:t>𝑃</m:t>
                        </m:r>
                      </m:e>
                      <m:sub>
                        <m:r>
                          <a:rPr lang="en-US" altLang="zh-TW" sz="2000" b="0" i="1" smtClean="0">
                            <a:solidFill>
                              <a:schemeClr val="tx1"/>
                            </a:solidFill>
                            <a:latin typeface="Cambria Math" panose="02040503050406030204" pitchFamily="18" charset="0"/>
                            <a:cs typeface="Times New Roman" panose="02020603050405020304" pitchFamily="18" charset="0"/>
                          </a:rPr>
                          <m:t>1</m:t>
                        </m:r>
                      </m:sub>
                    </m:sSub>
                    <m:r>
                      <a:rPr lang="en-US" altLang="zh-TW" sz="2000" b="0" i="1" smtClean="0">
                        <a:solidFill>
                          <a:schemeClr val="tx1"/>
                        </a:solidFill>
                        <a:latin typeface="Cambria Math" panose="02040503050406030204" pitchFamily="18" charset="0"/>
                        <a:cs typeface="Times New Roman" panose="02020603050405020304" pitchFamily="18" charset="0"/>
                      </a:rPr>
                      <m:t>=</m:t>
                    </m:r>
                    <m:r>
                      <a:rPr lang="en-US" altLang="zh-TW" sz="2000" b="0" i="1" smtClean="0">
                        <a:solidFill>
                          <a:srgbClr val="FF0000"/>
                        </a:solidFill>
                        <a:latin typeface="Cambria Math" panose="02040503050406030204" pitchFamily="18" charset="0"/>
                        <a:cs typeface="Times New Roman" panose="02020603050405020304" pitchFamily="18" charset="0"/>
                      </a:rPr>
                      <m:t>0</m:t>
                    </m:r>
                    <m:r>
                      <a:rPr lang="en-US" altLang="zh-TW" sz="2000" b="0" i="1" smtClean="0">
                        <a:solidFill>
                          <a:srgbClr val="00B050"/>
                        </a:solidFill>
                        <a:latin typeface="Cambria Math" panose="02040503050406030204" pitchFamily="18" charset="0"/>
                        <a:cs typeface="Times New Roman" panose="02020603050405020304" pitchFamily="18" charset="0"/>
                      </a:rPr>
                      <m:t>1</m:t>
                    </m:r>
                  </m:oMath>
                </a14:m>
                <a:r>
                  <a:rPr lang="en-US" altLang="zh-TW" sz="2000" dirty="0">
                    <a:solidFill>
                      <a:schemeClr val="tx1"/>
                    </a:solidFill>
                    <a:latin typeface="Times New Roman" panose="02020603050405020304" pitchFamily="18" charset="0"/>
                    <a:cs typeface="Times New Roman" panose="02020603050405020304" pitchFamily="18" charset="0"/>
                  </a:rPr>
                  <a:t> </a:t>
                </a:r>
                <a:r>
                  <a:rPr lang="zh-TW" altLang="en-US" sz="20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sz="2000" b="0" i="1" smtClean="0">
                            <a:solidFill>
                              <a:schemeClr val="tx1"/>
                            </a:solidFill>
                            <a:latin typeface="Cambria Math" panose="02040503050406030204" pitchFamily="18" charset="0"/>
                            <a:cs typeface="Times New Roman" panose="02020603050405020304" pitchFamily="18" charset="0"/>
                          </a:rPr>
                        </m:ctrlPr>
                      </m:sSubPr>
                      <m:e>
                        <m:r>
                          <a:rPr lang="en-US" altLang="zh-TW" sz="2000" b="0" i="1" smtClean="0">
                            <a:solidFill>
                              <a:schemeClr val="tx1"/>
                            </a:solidFill>
                            <a:latin typeface="Cambria Math" panose="02040503050406030204" pitchFamily="18" charset="0"/>
                            <a:cs typeface="Times New Roman" panose="02020603050405020304" pitchFamily="18" charset="0"/>
                          </a:rPr>
                          <m:t>𝐵</m:t>
                        </m:r>
                      </m:e>
                      <m:sub>
                        <m:r>
                          <a:rPr lang="en-US" altLang="zh-TW" sz="2000" b="0" i="1" smtClean="0">
                            <a:solidFill>
                              <a:schemeClr val="tx1"/>
                            </a:solidFill>
                            <a:latin typeface="Cambria Math" panose="02040503050406030204" pitchFamily="18" charset="0"/>
                            <a:cs typeface="Times New Roman" panose="02020603050405020304" pitchFamily="18" charset="0"/>
                          </a:rPr>
                          <m:t>1</m:t>
                        </m:r>
                      </m:sub>
                    </m:sSub>
                    <m:d>
                      <m:dPr>
                        <m:begChr m:val="["/>
                        <m:endChr m:val="]"/>
                        <m:ctrlPr>
                          <a:rPr lang="en-US" altLang="zh-TW" sz="2000" b="0" i="1" smtClean="0">
                            <a:solidFill>
                              <a:schemeClr val="tx1"/>
                            </a:solidFill>
                            <a:latin typeface="Cambria Math" panose="02040503050406030204" pitchFamily="18" charset="0"/>
                            <a:cs typeface="Times New Roman" panose="02020603050405020304" pitchFamily="18" charset="0"/>
                          </a:rPr>
                        </m:ctrlPr>
                      </m:dPr>
                      <m:e>
                        <m:r>
                          <a:rPr lang="en-US" altLang="zh-TW" sz="2000" b="0" i="1" smtClean="0">
                            <a:solidFill>
                              <a:schemeClr val="tx1"/>
                            </a:solidFill>
                            <a:latin typeface="Cambria Math" panose="02040503050406030204" pitchFamily="18" charset="0"/>
                            <a:cs typeface="Times New Roman" panose="02020603050405020304" pitchFamily="18" charset="0"/>
                          </a:rPr>
                          <m:t>0</m:t>
                        </m:r>
                      </m:e>
                    </m:d>
                    <m:r>
                      <a:rPr lang="en-US" altLang="zh-TW" sz="2000" b="0" i="1" smtClean="0">
                        <a:solidFill>
                          <a:schemeClr val="tx1"/>
                        </a:solidFill>
                        <a:latin typeface="Cambria Math" panose="02040503050406030204" pitchFamily="18" charset="0"/>
                        <a:cs typeface="Times New Roman" panose="02020603050405020304" pitchFamily="18" charset="0"/>
                      </a:rPr>
                      <m:t>=11</m:t>
                    </m:r>
                    <m:r>
                      <a:rPr lang="en-US" altLang="zh-TW" sz="2000" b="0" i="1" smtClean="0">
                        <a:solidFill>
                          <a:srgbClr val="00B050"/>
                        </a:solidFill>
                        <a:latin typeface="Cambria Math" panose="02040503050406030204" pitchFamily="18" charset="0"/>
                        <a:cs typeface="Times New Roman" panose="02020603050405020304" pitchFamily="18" charset="0"/>
                      </a:rPr>
                      <m:t>1</m:t>
                    </m:r>
                    <m:r>
                      <a:rPr lang="en-US" altLang="zh-TW" sz="2000" b="0" i="1" smtClean="0">
                        <a:solidFill>
                          <a:srgbClr val="FF0000"/>
                        </a:solidFill>
                        <a:latin typeface="Cambria Math" panose="02040503050406030204" pitchFamily="18" charset="0"/>
                        <a:cs typeface="Times New Roman" panose="02020603050405020304" pitchFamily="18" charset="0"/>
                      </a:rPr>
                      <m:t>0</m:t>
                    </m:r>
                  </m:oMath>
                </a14:m>
                <a:endParaRPr lang="en-US" altLang="zh-TW" sz="20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22" name="矩形 21">
                <a:extLst>
                  <a:ext uri="{FF2B5EF4-FFF2-40B4-BE49-F238E27FC236}">
                    <a16:creationId xmlns:a16="http://schemas.microsoft.com/office/drawing/2014/main" id="{6CAC256C-D5AF-470F-A59A-4E719B865BE1}"/>
                  </a:ext>
                </a:extLst>
              </p:cNvPr>
              <p:cNvSpPr>
                <a:spLocks noRot="1" noChangeAspect="1" noMove="1" noResize="1" noEditPoints="1" noAdjustHandles="1" noChangeArrowheads="1" noChangeShapeType="1" noTextEdit="1"/>
              </p:cNvSpPr>
              <p:nvPr/>
            </p:nvSpPr>
            <p:spPr>
              <a:xfrm>
                <a:off x="711034" y="4487403"/>
                <a:ext cx="3038589" cy="400110"/>
              </a:xfrm>
              <a:prstGeom prst="rect">
                <a:avLst/>
              </a:prstGeom>
              <a:blipFill>
                <a:blip r:embed="rId5"/>
                <a:stretch>
                  <a:fillRect t="-7576" b="-2575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xmlns="" id="{8786B6E1-1050-403D-B022-B1D27FA52064}"/>
                  </a:ext>
                </a:extLst>
              </p:cNvPr>
              <p:cNvSpPr/>
              <p:nvPr/>
            </p:nvSpPr>
            <p:spPr>
              <a:xfrm>
                <a:off x="711034" y="4874555"/>
                <a:ext cx="3335850" cy="400110"/>
              </a:xfrm>
              <a:prstGeom prst="rect">
                <a:avLst/>
              </a:prstGeom>
            </p:spPr>
            <p:txBody>
              <a:bodyPr wrap="none">
                <a:spAutoFit/>
              </a:bodyPr>
              <a:lstStyle/>
              <a:p>
                <a14:m>
                  <m:oMath xmlns:m="http://schemas.openxmlformats.org/officeDocument/2006/math">
                    <m:sSub>
                      <m:sSubPr>
                        <m:ctrlPr>
                          <a:rPr lang="en-US" altLang="zh-TW" sz="2000" b="0" i="1" smtClean="0">
                            <a:solidFill>
                              <a:schemeClr val="tx1"/>
                            </a:solidFill>
                            <a:latin typeface="Cambria Math" panose="02040503050406030204" pitchFamily="18" charset="0"/>
                            <a:cs typeface="Times New Roman" panose="02020603050405020304" pitchFamily="18" charset="0"/>
                          </a:rPr>
                        </m:ctrlPr>
                      </m:sSubPr>
                      <m:e>
                        <m:r>
                          <a:rPr lang="en-US" altLang="zh-TW" sz="2000" b="0" i="1" smtClean="0">
                            <a:solidFill>
                              <a:schemeClr val="tx1"/>
                            </a:solidFill>
                            <a:latin typeface="Cambria Math" panose="02040503050406030204" pitchFamily="18" charset="0"/>
                            <a:cs typeface="Times New Roman" panose="02020603050405020304" pitchFamily="18" charset="0"/>
                          </a:rPr>
                          <m:t>𝑃</m:t>
                        </m:r>
                      </m:e>
                      <m:sub>
                        <m:r>
                          <a:rPr lang="en-US" altLang="zh-TW" sz="2000" b="0" i="1" smtClean="0">
                            <a:solidFill>
                              <a:schemeClr val="tx1"/>
                            </a:solidFill>
                            <a:latin typeface="Cambria Math" panose="02040503050406030204" pitchFamily="18" charset="0"/>
                            <a:cs typeface="Times New Roman" panose="02020603050405020304" pitchFamily="18" charset="0"/>
                          </a:rPr>
                          <m:t>3</m:t>
                        </m:r>
                      </m:sub>
                    </m:sSub>
                    <m:r>
                      <a:rPr lang="en-US" altLang="zh-TW" sz="2000" b="0" i="1" smtClean="0">
                        <a:solidFill>
                          <a:schemeClr val="tx1"/>
                        </a:solidFill>
                        <a:latin typeface="Cambria Math" panose="02040503050406030204" pitchFamily="18" charset="0"/>
                        <a:cs typeface="Times New Roman" panose="02020603050405020304" pitchFamily="18" charset="0"/>
                      </a:rPr>
                      <m:t>=</m:t>
                    </m:r>
                    <m:r>
                      <a:rPr lang="en-US" altLang="zh-TW" sz="2000" b="0" i="1" smtClean="0">
                        <a:solidFill>
                          <a:srgbClr val="FF0000"/>
                        </a:solidFill>
                        <a:latin typeface="Cambria Math" panose="02040503050406030204" pitchFamily="18" charset="0"/>
                        <a:cs typeface="Times New Roman" panose="02020603050405020304" pitchFamily="18" charset="0"/>
                      </a:rPr>
                      <m:t>0</m:t>
                    </m:r>
                    <m:r>
                      <a:rPr lang="en-US" altLang="zh-TW" sz="2000" b="0" i="1" smtClean="0">
                        <a:solidFill>
                          <a:srgbClr val="00B050"/>
                        </a:solidFill>
                        <a:latin typeface="Cambria Math" panose="02040503050406030204" pitchFamily="18" charset="0"/>
                        <a:cs typeface="Times New Roman" panose="02020603050405020304" pitchFamily="18" charset="0"/>
                      </a:rPr>
                      <m:t>0</m:t>
                    </m:r>
                    <m:r>
                      <a:rPr lang="en-US" altLang="zh-TW" sz="2000" b="0" i="1" smtClean="0">
                        <a:solidFill>
                          <a:srgbClr val="FF33CC"/>
                        </a:solidFill>
                        <a:latin typeface="Cambria Math" panose="02040503050406030204" pitchFamily="18" charset="0"/>
                        <a:cs typeface="Times New Roman" panose="02020603050405020304" pitchFamily="18" charset="0"/>
                      </a:rPr>
                      <m:t>0</m:t>
                    </m:r>
                    <m:r>
                      <a:rPr lang="en-US" altLang="zh-TW" sz="2000" b="0" i="1" smtClean="0">
                        <a:solidFill>
                          <a:srgbClr val="7030A0"/>
                        </a:solidFill>
                        <a:latin typeface="Cambria Math" panose="02040503050406030204" pitchFamily="18" charset="0"/>
                        <a:cs typeface="Times New Roman" panose="02020603050405020304" pitchFamily="18" charset="0"/>
                      </a:rPr>
                      <m:t>1</m:t>
                    </m:r>
                  </m:oMath>
                </a14:m>
                <a:r>
                  <a:rPr lang="en-US" altLang="zh-TW" sz="2000" dirty="0">
                    <a:solidFill>
                      <a:schemeClr val="tx1"/>
                    </a:solidFill>
                    <a:latin typeface="Times New Roman" panose="02020603050405020304" pitchFamily="18" charset="0"/>
                    <a:cs typeface="Times New Roman" panose="02020603050405020304" pitchFamily="18" charset="0"/>
                  </a:rPr>
                  <a:t> </a:t>
                </a:r>
                <a:r>
                  <a:rPr lang="zh-TW" altLang="en-US" sz="20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sz="2000" b="0" i="1" smtClean="0">
                            <a:solidFill>
                              <a:schemeClr val="tx1"/>
                            </a:solidFill>
                            <a:latin typeface="Cambria Math" panose="02040503050406030204" pitchFamily="18" charset="0"/>
                            <a:cs typeface="Times New Roman" panose="02020603050405020304" pitchFamily="18" charset="0"/>
                          </a:rPr>
                        </m:ctrlPr>
                      </m:sSubPr>
                      <m:e>
                        <m:r>
                          <a:rPr lang="en-US" altLang="zh-TW" sz="2000" b="0" i="1" smtClean="0">
                            <a:solidFill>
                              <a:schemeClr val="tx1"/>
                            </a:solidFill>
                            <a:latin typeface="Cambria Math" panose="02040503050406030204" pitchFamily="18" charset="0"/>
                            <a:cs typeface="Times New Roman" panose="02020603050405020304" pitchFamily="18" charset="0"/>
                          </a:rPr>
                          <m:t>𝐵</m:t>
                        </m:r>
                      </m:e>
                      <m:sub>
                        <m:r>
                          <a:rPr lang="en-US" altLang="zh-TW" sz="2000" b="0" i="1" smtClean="0">
                            <a:solidFill>
                              <a:schemeClr val="tx1"/>
                            </a:solidFill>
                            <a:latin typeface="Cambria Math" panose="02040503050406030204" pitchFamily="18" charset="0"/>
                            <a:cs typeface="Times New Roman" panose="02020603050405020304" pitchFamily="18" charset="0"/>
                          </a:rPr>
                          <m:t>3</m:t>
                        </m:r>
                      </m:sub>
                    </m:sSub>
                    <m:d>
                      <m:dPr>
                        <m:begChr m:val="["/>
                        <m:endChr m:val="]"/>
                        <m:ctrlPr>
                          <a:rPr lang="en-US" altLang="zh-TW" sz="2000" b="0" i="1" smtClean="0">
                            <a:solidFill>
                              <a:schemeClr val="tx1"/>
                            </a:solidFill>
                            <a:latin typeface="Cambria Math" panose="02040503050406030204" pitchFamily="18" charset="0"/>
                            <a:cs typeface="Times New Roman" panose="02020603050405020304" pitchFamily="18" charset="0"/>
                          </a:rPr>
                        </m:ctrlPr>
                      </m:dPr>
                      <m:e>
                        <m:r>
                          <a:rPr lang="en-US" altLang="zh-TW" sz="2000" b="0" i="1" smtClean="0">
                            <a:solidFill>
                              <a:schemeClr val="tx1"/>
                            </a:solidFill>
                            <a:latin typeface="Cambria Math" panose="02040503050406030204" pitchFamily="18" charset="0"/>
                            <a:cs typeface="Times New Roman" panose="02020603050405020304" pitchFamily="18" charset="0"/>
                          </a:rPr>
                          <m:t>0</m:t>
                        </m:r>
                      </m:e>
                    </m:d>
                    <m:r>
                      <a:rPr lang="en-US" altLang="zh-TW" sz="2000" b="0" i="1" smtClean="0">
                        <a:solidFill>
                          <a:schemeClr val="tx1"/>
                        </a:solidFill>
                        <a:latin typeface="Cambria Math" panose="02040503050406030204" pitchFamily="18" charset="0"/>
                        <a:cs typeface="Times New Roman" panose="02020603050405020304" pitchFamily="18" charset="0"/>
                      </a:rPr>
                      <m:t>=</m:t>
                    </m:r>
                    <m:r>
                      <a:rPr lang="en-US" altLang="zh-TW" sz="2000" b="0" i="1" smtClean="0">
                        <a:solidFill>
                          <a:srgbClr val="7030A0"/>
                        </a:solidFill>
                        <a:latin typeface="Cambria Math" panose="02040503050406030204" pitchFamily="18" charset="0"/>
                        <a:cs typeface="Times New Roman" panose="02020603050405020304" pitchFamily="18" charset="0"/>
                      </a:rPr>
                      <m:t>1</m:t>
                    </m:r>
                    <m:r>
                      <a:rPr lang="en-US" altLang="zh-TW" sz="2000" b="0" i="1" smtClean="0">
                        <a:solidFill>
                          <a:srgbClr val="FF33CC"/>
                        </a:solidFill>
                        <a:latin typeface="Cambria Math" panose="02040503050406030204" pitchFamily="18" charset="0"/>
                        <a:cs typeface="Times New Roman" panose="02020603050405020304" pitchFamily="18" charset="0"/>
                      </a:rPr>
                      <m:t>1</m:t>
                    </m:r>
                    <m:r>
                      <a:rPr lang="en-US" altLang="zh-TW" sz="2000" b="0" i="1" smtClean="0">
                        <a:solidFill>
                          <a:srgbClr val="00B050"/>
                        </a:solidFill>
                        <a:latin typeface="Cambria Math" panose="02040503050406030204" pitchFamily="18" charset="0"/>
                        <a:cs typeface="Times New Roman" panose="02020603050405020304" pitchFamily="18" charset="0"/>
                      </a:rPr>
                      <m:t>1</m:t>
                    </m:r>
                    <m:r>
                      <a:rPr lang="en-US" altLang="zh-TW" sz="2000" b="0" i="1" smtClean="0">
                        <a:solidFill>
                          <a:srgbClr val="FF0000"/>
                        </a:solidFill>
                        <a:latin typeface="Cambria Math" panose="02040503050406030204" pitchFamily="18" charset="0"/>
                        <a:cs typeface="Times New Roman" panose="02020603050405020304" pitchFamily="18" charset="0"/>
                      </a:rPr>
                      <m:t>0</m:t>
                    </m:r>
                  </m:oMath>
                </a14:m>
                <a:endParaRPr lang="en-US" altLang="zh-TW" sz="20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26" name="矩形 25">
                <a:extLst>
                  <a:ext uri="{FF2B5EF4-FFF2-40B4-BE49-F238E27FC236}">
                    <a16:creationId xmlns:a16="http://schemas.microsoft.com/office/drawing/2014/main" id="{8786B6E1-1050-403D-B022-B1D27FA52064}"/>
                  </a:ext>
                </a:extLst>
              </p:cNvPr>
              <p:cNvSpPr>
                <a:spLocks noRot="1" noChangeAspect="1" noMove="1" noResize="1" noEditPoints="1" noAdjustHandles="1" noChangeArrowheads="1" noChangeShapeType="1" noTextEdit="1"/>
              </p:cNvSpPr>
              <p:nvPr/>
            </p:nvSpPr>
            <p:spPr>
              <a:xfrm>
                <a:off x="711034" y="4874555"/>
                <a:ext cx="3335850" cy="400110"/>
              </a:xfrm>
              <a:prstGeom prst="rect">
                <a:avLst/>
              </a:prstGeom>
              <a:blipFill>
                <a:blip r:embed="rId6"/>
                <a:stretch>
                  <a:fillRect t="-9231" b="-27692"/>
                </a:stretch>
              </a:blipFill>
            </p:spPr>
            <p:txBody>
              <a:bodyPr/>
              <a:lstStyle/>
              <a:p>
                <a:r>
                  <a:rPr lang="zh-TW" altLang="en-US">
                    <a:noFill/>
                  </a:rPr>
                  <a:t> </a:t>
                </a:r>
              </a:p>
            </p:txBody>
          </p:sp>
        </mc:Fallback>
      </mc:AlternateContent>
      <p:sp>
        <p:nvSpPr>
          <p:cNvPr id="31" name="矩形 30">
            <a:extLst>
              <a:ext uri="{FF2B5EF4-FFF2-40B4-BE49-F238E27FC236}">
                <a16:creationId xmlns:a16="http://schemas.microsoft.com/office/drawing/2014/main" xmlns="" id="{9C97F797-0ADF-471F-B0BE-B54B80B52315}"/>
              </a:ext>
            </a:extLst>
          </p:cNvPr>
          <p:cNvSpPr/>
          <p:nvPr/>
        </p:nvSpPr>
        <p:spPr>
          <a:xfrm>
            <a:off x="711034" y="5305011"/>
            <a:ext cx="4735848" cy="400110"/>
          </a:xfrm>
          <a:prstGeom prst="rect">
            <a:avLst/>
          </a:prstGeom>
        </p:spPr>
        <p:txBody>
          <a:bodyPr wrap="none">
            <a:spAutoFit/>
          </a:bodyPr>
          <a:lstStyle/>
          <a:p>
            <a:r>
              <a:rPr lang="en-US" altLang="zh-TW" sz="2000" dirty="0">
                <a:solidFill>
                  <a:srgbClr val="0070C0"/>
                </a:solidFill>
                <a:latin typeface="Times New Roman" panose="02020603050405020304" pitchFamily="18" charset="0"/>
                <a:cs typeface="Times New Roman" panose="02020603050405020304" pitchFamily="18" charset="0"/>
              </a:rPr>
              <a:t>each bit uses AND operation to get </a:t>
            </a:r>
            <a:r>
              <a:rPr lang="en-US" altLang="zh-TW" sz="2000" b="0" dirty="0">
                <a:solidFill>
                  <a:srgbClr val="0070C0"/>
                </a:solidFill>
                <a:latin typeface="Times New Roman" panose="02020603050405020304" pitchFamily="18" charset="0"/>
                <a:cs typeface="Times New Roman" panose="02020603050405020304" pitchFamily="18" charset="0"/>
              </a:rPr>
              <a:t>final bits</a:t>
            </a:r>
            <a:endParaRPr lang="zh-TW" altLang="en-US" sz="2000" dirty="0">
              <a:solidFill>
                <a:srgbClr val="0070C0"/>
              </a:solidFill>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xmlns="" id="{9B0C78D2-CF61-487D-9F8A-07B192C7B6BF}"/>
              </a:ext>
            </a:extLst>
          </p:cNvPr>
          <p:cNvSpPr/>
          <p:nvPr/>
        </p:nvSpPr>
        <p:spPr>
          <a:xfrm>
            <a:off x="711034" y="5742076"/>
            <a:ext cx="3566874" cy="646331"/>
          </a:xfrm>
          <a:prstGeom prst="rect">
            <a:avLst/>
          </a:prstGeom>
        </p:spPr>
        <p:txBody>
          <a:bodyPr wrap="none">
            <a:spAutoFit/>
          </a:bodyPr>
          <a:lstStyle/>
          <a:p>
            <a:r>
              <a:rPr lang="en-US" altLang="zh-TW" dirty="0">
                <a:latin typeface="Times New Roman" panose="02020603050405020304" pitchFamily="18" charset="0"/>
              </a:rPr>
              <a:t>B[0] = 1110 &amp; 1101 &amp;</a:t>
            </a:r>
            <a:r>
              <a:rPr lang="zh-TW" altLang="en-US" dirty="0">
                <a:latin typeface="Times New Roman" panose="02020603050405020304" pitchFamily="18" charset="0"/>
              </a:rPr>
              <a:t> </a:t>
            </a:r>
            <a:r>
              <a:rPr lang="en-US" altLang="zh-TW" dirty="0">
                <a:latin typeface="Times New Roman" panose="02020603050405020304" pitchFamily="18" charset="0"/>
              </a:rPr>
              <a:t>1000 = 1000 </a:t>
            </a:r>
          </a:p>
          <a:p>
            <a:r>
              <a:rPr lang="en-US" altLang="zh-TW" dirty="0">
                <a:latin typeface="Times New Roman" panose="02020603050405020304" pitchFamily="18" charset="0"/>
              </a:rPr>
              <a:t>B[1]</a:t>
            </a:r>
            <a:r>
              <a:rPr lang="zh-TW" altLang="en-US" dirty="0">
                <a:latin typeface="Times New Roman" panose="02020603050405020304" pitchFamily="18" charset="0"/>
              </a:rPr>
              <a:t> </a:t>
            </a:r>
            <a:r>
              <a:rPr lang="en-US" altLang="zh-TW" dirty="0">
                <a:latin typeface="Times New Roman" panose="02020603050405020304" pitchFamily="18" charset="0"/>
              </a:rPr>
              <a:t>=</a:t>
            </a:r>
            <a:r>
              <a:rPr lang="zh-TW" altLang="en-US" dirty="0">
                <a:latin typeface="Times New Roman" panose="02020603050405020304" pitchFamily="18" charset="0"/>
              </a:rPr>
              <a:t> </a:t>
            </a:r>
            <a:r>
              <a:rPr lang="en-US" altLang="zh-TW" dirty="0">
                <a:latin typeface="Times New Roman" panose="02020603050405020304" pitchFamily="18" charset="0"/>
              </a:rPr>
              <a:t>1101</a:t>
            </a:r>
            <a:r>
              <a:rPr lang="zh-TW" altLang="en-US" dirty="0">
                <a:latin typeface="Times New Roman" panose="02020603050405020304" pitchFamily="18" charset="0"/>
              </a:rPr>
              <a:t> </a:t>
            </a:r>
            <a:r>
              <a:rPr lang="en-US" altLang="zh-TW" dirty="0">
                <a:latin typeface="Times New Roman" panose="02020603050405020304" pitchFamily="18" charset="0"/>
              </a:rPr>
              <a:t>&amp;</a:t>
            </a:r>
            <a:r>
              <a:rPr lang="zh-TW" altLang="en-US" dirty="0">
                <a:latin typeface="Times New Roman" panose="02020603050405020304" pitchFamily="18" charset="0"/>
              </a:rPr>
              <a:t> </a:t>
            </a:r>
            <a:r>
              <a:rPr lang="en-US" altLang="zh-TW" dirty="0">
                <a:latin typeface="Times New Roman" panose="02020603050405020304" pitchFamily="18" charset="0"/>
              </a:rPr>
              <a:t>1110</a:t>
            </a:r>
            <a:r>
              <a:rPr lang="zh-TW" altLang="en-US" dirty="0">
                <a:latin typeface="Times New Roman" panose="02020603050405020304" pitchFamily="18" charset="0"/>
              </a:rPr>
              <a:t> </a:t>
            </a:r>
            <a:r>
              <a:rPr lang="en-US" altLang="zh-TW" dirty="0">
                <a:latin typeface="Times New Roman" panose="02020603050405020304" pitchFamily="18" charset="0"/>
              </a:rPr>
              <a:t>&amp;</a:t>
            </a:r>
            <a:r>
              <a:rPr lang="zh-TW" altLang="en-US" dirty="0">
                <a:latin typeface="Times New Roman" panose="02020603050405020304" pitchFamily="18" charset="0"/>
              </a:rPr>
              <a:t> </a:t>
            </a:r>
            <a:r>
              <a:rPr lang="en-US" altLang="zh-TW" dirty="0">
                <a:latin typeface="Times New Roman" panose="02020603050405020304" pitchFamily="18" charset="0"/>
              </a:rPr>
              <a:t>0111</a:t>
            </a:r>
            <a:r>
              <a:rPr lang="zh-TW" altLang="en-US" dirty="0">
                <a:latin typeface="Times New Roman" panose="02020603050405020304" pitchFamily="18" charset="0"/>
              </a:rPr>
              <a:t> </a:t>
            </a:r>
            <a:r>
              <a:rPr lang="en-US" altLang="zh-TW" dirty="0">
                <a:latin typeface="Times New Roman" panose="02020603050405020304" pitchFamily="18" charset="0"/>
              </a:rPr>
              <a:t>=</a:t>
            </a:r>
            <a:r>
              <a:rPr lang="zh-TW" altLang="en-US" dirty="0">
                <a:latin typeface="Times New Roman" panose="02020603050405020304" pitchFamily="18" charset="0"/>
              </a:rPr>
              <a:t> </a:t>
            </a:r>
            <a:r>
              <a:rPr lang="en-US" altLang="zh-TW" dirty="0">
                <a:latin typeface="Times New Roman" panose="02020603050405020304" pitchFamily="18" charset="0"/>
              </a:rPr>
              <a:t>0100</a:t>
            </a:r>
            <a:endParaRPr lang="zh-TW" altLang="en-US" dirty="0"/>
          </a:p>
        </p:txBody>
      </p:sp>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xmlns="" id="{64C43124-A4A1-4380-9080-B510DF0E3403}"/>
                  </a:ext>
                </a:extLst>
              </p:cNvPr>
              <p:cNvSpPr/>
              <p:nvPr/>
            </p:nvSpPr>
            <p:spPr>
              <a:xfrm>
                <a:off x="4277908" y="530462"/>
                <a:ext cx="4621330" cy="400110"/>
              </a:xfrm>
              <a:prstGeom prst="rect">
                <a:avLst/>
              </a:prstGeom>
            </p:spPr>
            <p:txBody>
              <a:bodyPr wrap="none">
                <a:spAutoFit/>
              </a:bodyPr>
              <a:lstStyle/>
              <a:p>
                <a:r>
                  <a:rPr lang="en-US" altLang="zh-TW" sz="2000" dirty="0">
                    <a:solidFill>
                      <a:srgbClr val="0070C0"/>
                    </a:solidFill>
                    <a:latin typeface="Times New Roman" panose="02020603050405020304" pitchFamily="18" charset="0"/>
                    <a:cs typeface="Times New Roman" panose="02020603050405020304" pitchFamily="18" charset="0"/>
                  </a:rPr>
                  <a:t>The length of B is </a:t>
                </a:r>
                <a14:m>
                  <m:oMath xmlns:m="http://schemas.openxmlformats.org/officeDocument/2006/math">
                    <m:r>
                      <a:rPr lang="en-US" altLang="zh-TW" sz="2000" b="0" i="1" smtClean="0">
                        <a:solidFill>
                          <a:srgbClr val="0070C0"/>
                        </a:solidFill>
                        <a:latin typeface="Cambria Math" panose="02040503050406030204" pitchFamily="18" charset="0"/>
                        <a:cs typeface="Times New Roman" panose="02020603050405020304" pitchFamily="18" charset="0"/>
                      </a:rPr>
                      <m:t>𝑚</m:t>
                    </m:r>
                  </m:oMath>
                </a14:m>
                <a:r>
                  <a:rPr lang="en-US" altLang="zh-TW" sz="2000" dirty="0">
                    <a:solidFill>
                      <a:srgbClr val="0070C0"/>
                    </a:solidFill>
                    <a:latin typeface="Times New Roman" panose="02020603050405020304" pitchFamily="18" charset="0"/>
                    <a:cs typeface="Times New Roman" panose="02020603050405020304" pitchFamily="18" charset="0"/>
                  </a:rPr>
                  <a:t> (max length of codes)</a:t>
                </a:r>
                <a:endParaRPr lang="zh-TW" altLang="en-US" sz="2000"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33" name="矩形 32">
                <a:extLst>
                  <a:ext uri="{FF2B5EF4-FFF2-40B4-BE49-F238E27FC236}">
                    <a16:creationId xmlns:a16="http://schemas.microsoft.com/office/drawing/2014/main" id="{64C43124-A4A1-4380-9080-B510DF0E3403}"/>
                  </a:ext>
                </a:extLst>
              </p:cNvPr>
              <p:cNvSpPr>
                <a:spLocks noRot="1" noChangeAspect="1" noMove="1" noResize="1" noEditPoints="1" noAdjustHandles="1" noChangeArrowheads="1" noChangeShapeType="1" noTextEdit="1"/>
              </p:cNvSpPr>
              <p:nvPr/>
            </p:nvSpPr>
            <p:spPr>
              <a:xfrm>
                <a:off x="4277908" y="530462"/>
                <a:ext cx="4621330" cy="400110"/>
              </a:xfrm>
              <a:prstGeom prst="rect">
                <a:avLst/>
              </a:prstGeom>
              <a:blipFill>
                <a:blip r:embed="rId7"/>
                <a:stretch>
                  <a:fillRect l="-1451" t="-7576" r="-264" b="-2575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51296001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44714</TotalTime>
  <Words>1480</Words>
  <Application>Microsoft Office PowerPoint</Application>
  <PresentationFormat>如螢幕大小 (4:3)</PresentationFormat>
  <Paragraphs>487</Paragraphs>
  <Slides>24</Slides>
  <Notes>23</Notes>
  <HiddenSlides>3</HiddenSlides>
  <MMClips>0</MMClips>
  <ScaleCrop>false</ScaleCrop>
  <HeadingPairs>
    <vt:vector size="6" baseType="variant">
      <vt:variant>
        <vt:lpstr>使用字型</vt:lpstr>
      </vt:variant>
      <vt:variant>
        <vt:i4>10</vt:i4>
      </vt:variant>
      <vt:variant>
        <vt:lpstr>佈景主題</vt:lpstr>
      </vt:variant>
      <vt:variant>
        <vt:i4>1</vt:i4>
      </vt:variant>
      <vt:variant>
        <vt:lpstr>投影片標題</vt:lpstr>
      </vt:variant>
      <vt:variant>
        <vt:i4>24</vt:i4>
      </vt:variant>
    </vt:vector>
  </HeadingPairs>
  <TitlesOfParts>
    <vt:vector size="35" baseType="lpstr">
      <vt:lpstr>BatangChe</vt:lpstr>
      <vt:lpstr>新細明體</vt:lpstr>
      <vt:lpstr>標楷體</vt:lpstr>
      <vt:lpstr>AngsanaUPC</vt:lpstr>
      <vt:lpstr>Arial</vt:lpstr>
      <vt:lpstr>Arial Black</vt:lpstr>
      <vt:lpstr>Calibri</vt:lpstr>
      <vt:lpstr>Calibri Light</vt:lpstr>
      <vt:lpstr>Cambria Math</vt:lpstr>
      <vt:lpstr>Times New Roman</vt:lpstr>
      <vt:lpstr>Office 佈景主題</vt:lpstr>
      <vt:lpstr> Efficient Multi-word Parameterized Matching  on Compressed Text </vt:lpstr>
      <vt:lpstr>PowerPoint 簡報</vt:lpstr>
      <vt:lpstr>Abstract (1/2)</vt:lpstr>
      <vt:lpstr>Abstract (2/2)</vt:lpstr>
      <vt:lpstr>Definition – String Matching Problem </vt:lpstr>
      <vt:lpstr>Definition – Multi-pattern Matching Problem </vt:lpstr>
      <vt:lpstr>Definition – Multi-word Parameterized Matching Problem</vt:lpstr>
      <vt:lpstr>Definition – Multi-word Parameterized Matching Problem</vt:lpstr>
      <vt:lpstr>Compression - Word Based Tagged Code(WBTC)</vt:lpstr>
      <vt:lpstr>Predecessor String</vt:lpstr>
      <vt:lpstr>Their algorithm – Multi-word Parameterized Matching (MPM) algorithm</vt:lpstr>
      <vt:lpstr>Preprocessing of Text</vt:lpstr>
      <vt:lpstr>PowerPoint 簡報</vt:lpstr>
      <vt:lpstr>Preprocessing of Text</vt:lpstr>
      <vt:lpstr>Preprocessing of Patterns</vt:lpstr>
      <vt:lpstr>PowerPoint 簡報</vt:lpstr>
      <vt:lpstr>Searching</vt:lpstr>
      <vt:lpstr>Searching</vt:lpstr>
      <vt:lpstr>Searching</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GaryC</dc:creator>
  <cp:lastModifiedBy>pplab-class</cp:lastModifiedBy>
  <cp:revision>453</cp:revision>
  <dcterms:created xsi:type="dcterms:W3CDTF">2017-09-25T08:45:50Z</dcterms:created>
  <dcterms:modified xsi:type="dcterms:W3CDTF">2018-06-26T11:13:00Z</dcterms:modified>
</cp:coreProperties>
</file>