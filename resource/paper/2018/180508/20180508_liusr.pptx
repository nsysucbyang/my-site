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5" r:id="rId4"/>
    <p:sldId id="258" r:id="rId5"/>
    <p:sldId id="263" r:id="rId6"/>
    <p:sldId id="264" r:id="rId7"/>
    <p:sldId id="259" r:id="rId8"/>
    <p:sldId id="260" r:id="rId9"/>
    <p:sldId id="261" r:id="rId10"/>
    <p:sldId id="262"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69" autoAdjust="0"/>
    <p:restoredTop sz="78307" autoAdjust="0"/>
  </p:normalViewPr>
  <p:slideViewPr>
    <p:cSldViewPr snapToGrid="0">
      <p:cViewPr varScale="1">
        <p:scale>
          <a:sx n="116" d="100"/>
          <a:sy n="116" d="100"/>
        </p:scale>
        <p:origin x="66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2018/5/7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2</a:t>
            </a:fld>
            <a:endParaRPr lang="zh-TW" altLang="en-US"/>
          </a:p>
        </p:txBody>
      </p:sp>
    </p:spTree>
    <p:extLst>
      <p:ext uri="{BB962C8B-B14F-4D97-AF65-F5344CB8AC3E}">
        <p14:creationId xmlns:p14="http://schemas.microsoft.com/office/powerpoint/2010/main" val="3081513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2018/5/7</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2018/5/7</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2018/5/7</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2018/5/7</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2018/5/7</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2018/5/7</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2018/5/7</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2018/5/7</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2018/5/7</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2018/5/7</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2018/5/7</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2018/5/7</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703383" y="601086"/>
            <a:ext cx="10730735" cy="1786671"/>
          </a:xfrm>
        </p:spPr>
        <p:txBody>
          <a:bodyPr>
            <a:normAutofit fontScale="90000"/>
          </a:bodyPr>
          <a:lstStyle/>
          <a:p>
            <a:r>
              <a:rPr lang="en-US" altLang="zh-TW" sz="4800" dirty="0"/>
              <a:t>Adaptive cost dynamic time warping distance in time series analysis for classification</a:t>
            </a: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1082831" y="2715042"/>
            <a:ext cx="9679333" cy="773417"/>
          </a:xfrm>
        </p:spPr>
        <p:txBody>
          <a:bodyPr>
            <a:noAutofit/>
          </a:bodyPr>
          <a:lstStyle/>
          <a:p>
            <a:r>
              <a:rPr lang="en-US" altLang="zh-TW" dirty="0"/>
              <a:t>Yuan Wan, Xiao-Li Chen, Ying Shi</a:t>
            </a:r>
            <a:endParaRPr lang="zh-TW" altLang="en-US" sz="2600" dirty="0"/>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1192823" y="3756249"/>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Journal of Computational and Applied Mathematics</a:t>
            </a:r>
          </a:p>
          <a:p>
            <a:r>
              <a:rPr lang="fr-FR" altLang="zh-TW" sz="2800" dirty="0">
                <a:solidFill>
                  <a:schemeClr val="tx1"/>
                </a:solidFill>
              </a:rPr>
              <a:t>Volume 319, 1 August 2017, Pages 514-520</a:t>
            </a:r>
            <a:endParaRPr lang="en-US" altLang="zh-TW" sz="2800" dirty="0">
              <a:solidFill>
                <a:schemeClr val="tx1"/>
              </a:solidFill>
            </a:endParaRP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 2018/05/08</a:t>
            </a:r>
            <a:endParaRPr lang="zh-TW" altLang="en-US" dirty="0">
              <a:solidFill>
                <a:schemeClr val="tx1"/>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F6B1DC-F5A3-4A3E-ABB3-0C74971D0F82}"/>
              </a:ext>
            </a:extLst>
          </p:cNvPr>
          <p:cNvSpPr>
            <a:spLocks noGrp="1"/>
          </p:cNvSpPr>
          <p:nvPr>
            <p:ph type="title"/>
          </p:nvPr>
        </p:nvSpPr>
        <p:spPr>
          <a:xfrm>
            <a:off x="838200" y="205468"/>
            <a:ext cx="10515600" cy="883104"/>
          </a:xfrm>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12EF2FB6-82B8-48D7-A181-5A6639544732}"/>
              </a:ext>
            </a:extLst>
          </p:cNvPr>
          <p:cNvSpPr>
            <a:spLocks noGrp="1"/>
          </p:cNvSpPr>
          <p:nvPr>
            <p:ph idx="1"/>
          </p:nvPr>
        </p:nvSpPr>
        <p:spPr>
          <a:xfrm>
            <a:off x="625023" y="1088573"/>
            <a:ext cx="10941954" cy="5267779"/>
          </a:xfrm>
        </p:spPr>
        <p:txBody>
          <a:bodyPr>
            <a:noAutofit/>
          </a:bodyPr>
          <a:lstStyle/>
          <a:p>
            <a:pPr marL="0" indent="0">
              <a:buNone/>
            </a:pPr>
            <a:r>
              <a:rPr lang="en-US" altLang="zh-TW" dirty="0"/>
              <a:t>Dynamic time warping (DTW) distance is commonly used in measuring similarity between time series for classification. In order to obtain the minimum cumulative distance, however, DTW distance may map multiple points on one time series to one point on another, and this makes time series over stretched and compressed, resulting in missing important feature information thus influence the classification accuracy. In this paper, we propose a method called adaptive cost dynamic time warping distance (AC-DTW), which adjusts the number of points on one time series mapped to the points on another. AC-DTW records the trajectories of all points and then adaptively allocates the cost rate to each point by calculating cost function at the next step. The results of the experiments implemented on 17 UCR datasets by using nearest neighbor classifier demonstrate that AC-DTW prevails in criterion of higher accuracy rate in comparison with some existing methods.</a:t>
            </a:r>
            <a:endParaRPr lang="zh-TW" altLang="en-US" dirty="0"/>
          </a:p>
        </p:txBody>
      </p:sp>
      <p:sp>
        <p:nvSpPr>
          <p:cNvPr id="4" name="投影片編號版面配置區 3">
            <a:extLst>
              <a:ext uri="{FF2B5EF4-FFF2-40B4-BE49-F238E27FC236}">
                <a16:creationId xmlns:a16="http://schemas.microsoft.com/office/drawing/2014/main"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2</a:t>
            </a:fld>
            <a:endParaRPr lang="zh-TW" altLang="en-US" dirty="0"/>
          </a:p>
        </p:txBody>
      </p:sp>
    </p:spTree>
    <p:extLst>
      <p:ext uri="{BB962C8B-B14F-4D97-AF65-F5344CB8AC3E}">
        <p14:creationId xmlns:p14="http://schemas.microsoft.com/office/powerpoint/2010/main" val="405643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BA533-9D29-40A7-9590-77CD5C2F30F6}"/>
              </a:ext>
            </a:extLst>
          </p:cNvPr>
          <p:cNvSpPr>
            <a:spLocks noGrp="1"/>
          </p:cNvSpPr>
          <p:nvPr>
            <p:ph type="title"/>
          </p:nvPr>
        </p:nvSpPr>
        <p:spPr/>
        <p:txBody>
          <a:bodyPr/>
          <a:lstStyle/>
          <a:p>
            <a:r>
              <a:rPr lang="en-US" altLang="zh-TW" dirty="0"/>
              <a:t>Original DTW</a:t>
            </a:r>
            <a:endParaRPr lang="zh-TW" altLang="en-US" dirty="0"/>
          </a:p>
        </p:txBody>
      </p:sp>
      <p:pic>
        <p:nvPicPr>
          <p:cNvPr id="5" name="內容版面配置區 4">
            <a:extLst>
              <a:ext uri="{FF2B5EF4-FFF2-40B4-BE49-F238E27FC236}">
                <a16:creationId xmlns:a16="http://schemas.microsoft.com/office/drawing/2014/main" id="{28611815-B249-462A-ACBF-7F6DF6B0F293}"/>
              </a:ext>
            </a:extLst>
          </p:cNvPr>
          <p:cNvPicPr>
            <a:picLocks noGrp="1" noChangeAspect="1"/>
          </p:cNvPicPr>
          <p:nvPr>
            <p:ph idx="1"/>
          </p:nvPr>
        </p:nvPicPr>
        <p:blipFill>
          <a:blip r:embed="rId2"/>
          <a:stretch>
            <a:fillRect/>
          </a:stretch>
        </p:blipFill>
        <p:spPr>
          <a:xfrm>
            <a:off x="1082009" y="1690689"/>
            <a:ext cx="7113855" cy="1325563"/>
          </a:xfrm>
          <a:prstGeom prst="rect">
            <a:avLst/>
          </a:prstGeom>
        </p:spPr>
      </p:pic>
      <p:sp>
        <p:nvSpPr>
          <p:cNvPr id="4" name="投影片編號版面配置區 3">
            <a:extLst>
              <a:ext uri="{FF2B5EF4-FFF2-40B4-BE49-F238E27FC236}">
                <a16:creationId xmlns:a16="http://schemas.microsoft.com/office/drawing/2014/main" id="{60754172-549D-4B05-B890-FA0AC1A7B535}"/>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
        <p:nvSpPr>
          <p:cNvPr id="6" name="文字方塊 5">
            <a:extLst>
              <a:ext uri="{FF2B5EF4-FFF2-40B4-BE49-F238E27FC236}">
                <a16:creationId xmlns:a16="http://schemas.microsoft.com/office/drawing/2014/main" id="{736FF045-05CB-461A-A11B-8CEBE3F60DA3}"/>
              </a:ext>
            </a:extLst>
          </p:cNvPr>
          <p:cNvSpPr txBox="1"/>
          <p:nvPr/>
        </p:nvSpPr>
        <p:spPr>
          <a:xfrm>
            <a:off x="1082009" y="3429000"/>
            <a:ext cx="6411307" cy="523220"/>
          </a:xfrm>
          <a:prstGeom prst="rect">
            <a:avLst/>
          </a:prstGeom>
          <a:noFill/>
        </p:spPr>
        <p:txBody>
          <a:bodyPr wrap="none" rtlCol="0">
            <a:spAutoFit/>
          </a:bodyPr>
          <a:lstStyle/>
          <a:p>
            <a:r>
              <a:rPr lang="en-US" altLang="zh-TW" sz="2800" dirty="0"/>
              <a:t>Two time series S</a:t>
            </a:r>
            <a:r>
              <a:rPr lang="en-US" altLang="zh-TW" sz="2800" baseline="-25000" dirty="0"/>
              <a:t>1</a:t>
            </a:r>
            <a:r>
              <a:rPr lang="en-US" altLang="zh-TW" sz="2800" dirty="0"/>
              <a:t> = [2,1,2,1], S</a:t>
            </a:r>
            <a:r>
              <a:rPr lang="en-US" altLang="zh-TW" sz="2800" baseline="-25000" dirty="0"/>
              <a:t>2</a:t>
            </a:r>
            <a:r>
              <a:rPr lang="en-US" altLang="zh-TW" sz="2800" dirty="0"/>
              <a:t> = [1,2,1]</a:t>
            </a:r>
            <a:endParaRPr lang="zh-TW" altLang="en-US" sz="2800" dirty="0"/>
          </a:p>
        </p:txBody>
      </p:sp>
      <p:pic>
        <p:nvPicPr>
          <p:cNvPr id="7" name="圖片 6">
            <a:extLst>
              <a:ext uri="{FF2B5EF4-FFF2-40B4-BE49-F238E27FC236}">
                <a16:creationId xmlns:a16="http://schemas.microsoft.com/office/drawing/2014/main" id="{8BB9CCC0-0EDA-4E91-A0CC-8C4DC33F5A4C}"/>
              </a:ext>
            </a:extLst>
          </p:cNvPr>
          <p:cNvPicPr>
            <a:picLocks noChangeAspect="1"/>
          </p:cNvPicPr>
          <p:nvPr/>
        </p:nvPicPr>
        <p:blipFill>
          <a:blip r:embed="rId3"/>
          <a:stretch>
            <a:fillRect/>
          </a:stretch>
        </p:blipFill>
        <p:spPr>
          <a:xfrm>
            <a:off x="1082009" y="4364968"/>
            <a:ext cx="2800350" cy="1209675"/>
          </a:xfrm>
          <a:prstGeom prst="rect">
            <a:avLst/>
          </a:prstGeom>
        </p:spPr>
      </p:pic>
      <p:pic>
        <p:nvPicPr>
          <p:cNvPr id="8" name="圖片 7">
            <a:extLst>
              <a:ext uri="{FF2B5EF4-FFF2-40B4-BE49-F238E27FC236}">
                <a16:creationId xmlns:a16="http://schemas.microsoft.com/office/drawing/2014/main" id="{C0398328-0325-41D5-A909-9E2B144CF317}"/>
              </a:ext>
            </a:extLst>
          </p:cNvPr>
          <p:cNvPicPr>
            <a:picLocks noChangeAspect="1"/>
          </p:cNvPicPr>
          <p:nvPr/>
        </p:nvPicPr>
        <p:blipFill>
          <a:blip r:embed="rId4"/>
          <a:stretch>
            <a:fillRect/>
          </a:stretch>
        </p:blipFill>
        <p:spPr>
          <a:xfrm>
            <a:off x="4630698" y="4364967"/>
            <a:ext cx="3209925" cy="1209675"/>
          </a:xfrm>
          <a:prstGeom prst="rect">
            <a:avLst/>
          </a:prstGeom>
        </p:spPr>
      </p:pic>
      <p:sp>
        <p:nvSpPr>
          <p:cNvPr id="9" name="橢圓 8">
            <a:extLst>
              <a:ext uri="{FF2B5EF4-FFF2-40B4-BE49-F238E27FC236}">
                <a16:creationId xmlns:a16="http://schemas.microsoft.com/office/drawing/2014/main" id="{2912CF20-FDAC-48D8-A85E-F8ED2EA3036D}"/>
              </a:ext>
            </a:extLst>
          </p:cNvPr>
          <p:cNvSpPr/>
          <p:nvPr/>
        </p:nvSpPr>
        <p:spPr>
          <a:xfrm>
            <a:off x="7375941" y="5167311"/>
            <a:ext cx="351151" cy="32732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27275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E734E2-8B6D-482B-B717-A6557552EDE6}"/>
              </a:ext>
            </a:extLst>
          </p:cNvPr>
          <p:cNvSpPr>
            <a:spLocks noGrp="1"/>
          </p:cNvSpPr>
          <p:nvPr>
            <p:ph type="title"/>
          </p:nvPr>
        </p:nvSpPr>
        <p:spPr/>
        <p:txBody>
          <a:bodyPr/>
          <a:lstStyle/>
          <a:p>
            <a:r>
              <a:rPr lang="en-US" altLang="zh-TW" dirty="0"/>
              <a:t>Adaptive cost dynamic time warping </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488A94D5-B1B2-4BBE-ACCB-563611F3A874}"/>
                  </a:ext>
                </a:extLst>
              </p:cNvPr>
              <p:cNvSpPr>
                <a:spLocks noGrp="1"/>
              </p:cNvSpPr>
              <p:nvPr>
                <p:ph idx="1"/>
              </p:nvPr>
            </p:nvSpPr>
            <p:spPr/>
            <p:txBody>
              <a:bodyPr/>
              <a:lstStyle/>
              <a:p>
                <a:r>
                  <a:rPr lang="en-US" altLang="zh-TW" dirty="0"/>
                  <a:t>Two time series P = {p</a:t>
                </a:r>
                <a:r>
                  <a:rPr lang="en-US" altLang="zh-TW" baseline="-25000" dirty="0"/>
                  <a:t>1</a:t>
                </a:r>
                <a:r>
                  <a:rPr lang="en-US" altLang="zh-TW" dirty="0"/>
                  <a:t>,p</a:t>
                </a:r>
                <a:r>
                  <a:rPr lang="en-US" altLang="zh-TW" baseline="-25000" dirty="0"/>
                  <a:t>2</a:t>
                </a:r>
                <a:r>
                  <a:rPr lang="en-US" altLang="zh-TW" dirty="0"/>
                  <a:t>,…,</a:t>
                </a:r>
                <a:r>
                  <a:rPr lang="en-US" altLang="zh-TW" dirty="0" err="1"/>
                  <a:t>p</a:t>
                </a:r>
                <a:r>
                  <a:rPr lang="en-US" altLang="zh-TW" baseline="-25000" dirty="0" err="1"/>
                  <a:t>n</a:t>
                </a:r>
                <a:r>
                  <a:rPr lang="en-US" altLang="zh-TW" dirty="0"/>
                  <a:t>}, Q = {q</a:t>
                </a:r>
                <a:r>
                  <a:rPr lang="en-US" altLang="zh-TW" baseline="-25000" dirty="0"/>
                  <a:t>1</a:t>
                </a:r>
                <a:r>
                  <a:rPr lang="en-US" altLang="zh-TW" dirty="0"/>
                  <a:t>,q</a:t>
                </a:r>
                <a:r>
                  <a:rPr lang="en-US" altLang="zh-TW" baseline="-25000" dirty="0"/>
                  <a:t>2</a:t>
                </a:r>
                <a:r>
                  <a:rPr lang="en-US" altLang="zh-TW" dirty="0"/>
                  <a:t>,…,</a:t>
                </a:r>
                <a:r>
                  <a:rPr lang="en-US" altLang="zh-TW" dirty="0" err="1"/>
                  <a:t>q</a:t>
                </a:r>
                <a:r>
                  <a:rPr lang="en-US" altLang="zh-TW" baseline="-25000" dirty="0" err="1"/>
                  <a:t>n</a:t>
                </a:r>
                <a:r>
                  <a:rPr lang="en-US" altLang="zh-TW" dirty="0"/>
                  <a:t>}</a:t>
                </a:r>
              </a:p>
              <a:p>
                <a:r>
                  <a:rPr lang="en-US" altLang="zh-TW" dirty="0"/>
                  <a:t>Define two matrices A = (</a:t>
                </a:r>
                <a:r>
                  <a:rPr lang="en-US" altLang="zh-TW" dirty="0" err="1"/>
                  <a:t>a</a:t>
                </a:r>
                <a:r>
                  <a:rPr lang="en-US" altLang="zh-TW" baseline="-25000" dirty="0" err="1"/>
                  <a:t>ij</a:t>
                </a:r>
                <a:r>
                  <a:rPr lang="en-US" altLang="zh-TW" dirty="0"/>
                  <a:t>)</a:t>
                </a:r>
                <a:r>
                  <a:rPr lang="en-US" altLang="zh-TW" baseline="-25000" dirty="0" err="1"/>
                  <a:t>nxm</a:t>
                </a:r>
                <a:r>
                  <a:rPr lang="en-US" altLang="zh-TW" dirty="0"/>
                  <a:t>, B = (</a:t>
                </a:r>
                <a:r>
                  <a:rPr lang="en-US" altLang="zh-TW" dirty="0" err="1"/>
                  <a:t>b</a:t>
                </a:r>
                <a:r>
                  <a:rPr lang="en-US" altLang="zh-TW" baseline="-25000" dirty="0" err="1"/>
                  <a:t>ij</a:t>
                </a:r>
                <a:r>
                  <a:rPr lang="en-US" altLang="zh-TW" dirty="0"/>
                  <a:t>)</a:t>
                </a:r>
                <a:r>
                  <a:rPr lang="en-US" altLang="zh-TW" baseline="-25000" dirty="0" err="1"/>
                  <a:t>nxm</a:t>
                </a:r>
                <a:endParaRPr lang="en-US" altLang="zh-TW" baseline="-25000" dirty="0"/>
              </a:p>
              <a:p>
                <a:r>
                  <a:rPr lang="en-US" altLang="zh-TW" dirty="0"/>
                  <a:t>Cost function: c(x) = </a:t>
                </a:r>
                <a14:m>
                  <m:oMath xmlns:m="http://schemas.openxmlformats.org/officeDocument/2006/math">
                    <m:r>
                      <a:rPr lang="en-US" altLang="zh-TW" b="0" i="1" smtClean="0">
                        <a:latin typeface="Cambria Math" panose="02040503050406030204" pitchFamily="18" charset="0"/>
                      </a:rPr>
                      <m:t>𝑔</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𝑟</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+1</m:t>
                    </m:r>
                  </m:oMath>
                </a14:m>
                <a:endParaRPr lang="en-US" altLang="zh-TW" dirty="0"/>
              </a:p>
              <a:p>
                <a:r>
                  <a:rPr lang="en-US" altLang="zh-TW" dirty="0"/>
                  <a:t>g: is used to adjust the effect</a:t>
                </a:r>
              </a:p>
              <a:p>
                <a:r>
                  <a:rPr lang="en-US" altLang="zh-TW" dirty="0"/>
                  <a:t>x: denotes how many times that each points are used in time series</a:t>
                </a:r>
              </a:p>
              <a:p>
                <a:r>
                  <a:rPr lang="en-US" altLang="zh-TW" dirty="0"/>
                  <a:t>r = min(</a:t>
                </a:r>
                <a:r>
                  <a:rPr lang="en-US" altLang="zh-TW" dirty="0" err="1"/>
                  <a:t>n,m</a:t>
                </a:r>
                <a:r>
                  <a:rPr lang="en-US" altLang="zh-TW" dirty="0"/>
                  <a:t>)/max(</a:t>
                </a:r>
                <a:r>
                  <a:rPr lang="en-US" altLang="zh-TW" dirty="0" err="1"/>
                  <a:t>n,m</a:t>
                </a:r>
                <a:r>
                  <a:rPr lang="en-US" altLang="zh-TW" dirty="0"/>
                  <a:t>) , </a:t>
                </a:r>
                <a14:m>
                  <m:oMath xmlns:m="http://schemas.openxmlformats.org/officeDocument/2006/math">
                    <m:r>
                      <a:rPr lang="en-US" altLang="zh-TW" b="0" i="1" smtClean="0">
                        <a:latin typeface="Cambria Math" panose="02040503050406030204" pitchFamily="18" charset="0"/>
                      </a:rPr>
                      <m:t>𝑟</m:t>
                    </m:r>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r>
                              <a:rPr lang="en-US" altLang="zh-TW" b="0" i="1" smtClean="0">
                                <a:latin typeface="Cambria Math" panose="02040503050406030204" pitchFamily="18" charset="0"/>
                              </a:rPr>
                              <m:t>=1,  </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e>
                          <m:e>
                            <m:r>
                              <a:rPr lang="en-US" altLang="zh-TW" b="0" i="1" smtClean="0">
                                <a:latin typeface="Cambria Math" panose="02040503050406030204" pitchFamily="18" charset="0"/>
                              </a:rPr>
                              <m:t>&lt;1,  </m:t>
                            </m:r>
                            <m:r>
                              <a:rPr lang="en-US" altLang="zh-TW" b="0" i="1" smtClean="0">
                                <a:latin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𝑛</m:t>
                            </m:r>
                          </m:e>
                        </m:eqArr>
                      </m:e>
                    </m:d>
                  </m:oMath>
                </a14:m>
                <a:endParaRPr lang="en-US" altLang="zh-TW" dirty="0"/>
              </a:p>
              <a:p>
                <a:endParaRPr lang="zh-TW" altLang="en-US" dirty="0"/>
              </a:p>
            </p:txBody>
          </p:sp>
        </mc:Choice>
        <mc:Fallback>
          <p:sp>
            <p:nvSpPr>
              <p:cNvPr id="3" name="內容版面配置區 2">
                <a:extLst>
                  <a:ext uri="{FF2B5EF4-FFF2-40B4-BE49-F238E27FC236}">
                    <a16:creationId xmlns:a16="http://schemas.microsoft.com/office/drawing/2014/main" id="{488A94D5-B1B2-4BBE-ACCB-563611F3A874}"/>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DBAC0C9B-4025-44A7-B2B0-03D2FAD98E55}"/>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spTree>
    <p:extLst>
      <p:ext uri="{BB962C8B-B14F-4D97-AF65-F5344CB8AC3E}">
        <p14:creationId xmlns:p14="http://schemas.microsoft.com/office/powerpoint/2010/main" val="4275580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E734E2-8B6D-482B-B717-A6557552EDE6}"/>
              </a:ext>
            </a:extLst>
          </p:cNvPr>
          <p:cNvSpPr>
            <a:spLocks noGrp="1"/>
          </p:cNvSpPr>
          <p:nvPr>
            <p:ph type="title"/>
          </p:nvPr>
        </p:nvSpPr>
        <p:spPr/>
        <p:txBody>
          <a:bodyPr/>
          <a:lstStyle/>
          <a:p>
            <a:r>
              <a:rPr lang="en-US" altLang="zh-TW" dirty="0"/>
              <a:t>Adaptive cost dynamic time warping </a:t>
            </a:r>
            <a:endParaRPr lang="zh-TW" altLang="en-US" dirty="0"/>
          </a:p>
        </p:txBody>
      </p:sp>
      <p:sp>
        <p:nvSpPr>
          <p:cNvPr id="3" name="內容版面配置區 2">
            <a:extLst>
              <a:ext uri="{FF2B5EF4-FFF2-40B4-BE49-F238E27FC236}">
                <a16:creationId xmlns:a16="http://schemas.microsoft.com/office/drawing/2014/main" id="{488A94D5-B1B2-4BBE-ACCB-563611F3A874}"/>
              </a:ext>
            </a:extLst>
          </p:cNvPr>
          <p:cNvSpPr>
            <a:spLocks noGrp="1"/>
          </p:cNvSpPr>
          <p:nvPr>
            <p:ph idx="1"/>
          </p:nvPr>
        </p:nvSpPr>
        <p:spPr/>
        <p:txBody>
          <a:bodyPr/>
          <a:lstStyle/>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DBAC0C9B-4025-44A7-B2B0-03D2FAD98E55}"/>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5" name="圖片 4">
            <a:extLst>
              <a:ext uri="{FF2B5EF4-FFF2-40B4-BE49-F238E27FC236}">
                <a16:creationId xmlns:a16="http://schemas.microsoft.com/office/drawing/2014/main" id="{1E104448-D802-498A-A2DD-25949A57C9D2}"/>
              </a:ext>
            </a:extLst>
          </p:cNvPr>
          <p:cNvPicPr>
            <a:picLocks noChangeAspect="1"/>
          </p:cNvPicPr>
          <p:nvPr/>
        </p:nvPicPr>
        <p:blipFill>
          <a:blip r:embed="rId2"/>
          <a:stretch>
            <a:fillRect/>
          </a:stretch>
        </p:blipFill>
        <p:spPr>
          <a:xfrm>
            <a:off x="838200" y="1825624"/>
            <a:ext cx="8702033" cy="1374775"/>
          </a:xfrm>
          <a:prstGeom prst="rect">
            <a:avLst/>
          </a:prstGeom>
        </p:spPr>
      </p:pic>
      <p:sp>
        <p:nvSpPr>
          <p:cNvPr id="6" name="文字方塊 5">
            <a:extLst>
              <a:ext uri="{FF2B5EF4-FFF2-40B4-BE49-F238E27FC236}">
                <a16:creationId xmlns:a16="http://schemas.microsoft.com/office/drawing/2014/main" id="{62575EC1-CF16-452D-A185-3DFC9E7F72A1}"/>
              </a:ext>
            </a:extLst>
          </p:cNvPr>
          <p:cNvSpPr txBox="1"/>
          <p:nvPr/>
        </p:nvSpPr>
        <p:spPr>
          <a:xfrm>
            <a:off x="936067" y="3657602"/>
            <a:ext cx="9955162" cy="1569660"/>
          </a:xfrm>
          <a:prstGeom prst="rect">
            <a:avLst/>
          </a:prstGeom>
          <a:noFill/>
        </p:spPr>
        <p:txBody>
          <a:bodyPr wrap="square" rtlCol="0">
            <a:spAutoFit/>
          </a:bodyPr>
          <a:lstStyle/>
          <a:p>
            <a:r>
              <a:rPr lang="en-US" altLang="zh-TW" sz="3200" dirty="0" err="1"/>
              <a:t>i</a:t>
            </a:r>
            <a:r>
              <a:rPr lang="en-US" altLang="zh-TW" sz="3200" dirty="0"/>
              <a:t> : point </a:t>
            </a:r>
            <a:r>
              <a:rPr lang="en-US" altLang="zh-TW" sz="3200" dirty="0" err="1"/>
              <a:t>q</a:t>
            </a:r>
            <a:r>
              <a:rPr lang="en-US" altLang="zh-TW" sz="3200" baseline="-25000" dirty="0" err="1"/>
              <a:t>j</a:t>
            </a:r>
            <a:r>
              <a:rPr lang="en-US" altLang="zh-TW" sz="3200" dirty="0"/>
              <a:t> is reused, set </a:t>
            </a:r>
            <a:r>
              <a:rPr lang="en-US" altLang="zh-TW" sz="3200" dirty="0" err="1"/>
              <a:t>a</a:t>
            </a:r>
            <a:r>
              <a:rPr lang="en-US" altLang="zh-TW" sz="3200" baseline="-25000" dirty="0" err="1"/>
              <a:t>i,j</a:t>
            </a:r>
            <a:r>
              <a:rPr lang="en-US" altLang="zh-TW" sz="3200" baseline="-25000" dirty="0"/>
              <a:t> </a:t>
            </a:r>
            <a:r>
              <a:rPr lang="en-US" altLang="zh-TW" sz="3200" dirty="0"/>
              <a:t>= 1, </a:t>
            </a:r>
            <a:r>
              <a:rPr lang="en-US" altLang="zh-TW" sz="3200" dirty="0" err="1"/>
              <a:t>b</a:t>
            </a:r>
            <a:r>
              <a:rPr lang="en-US" altLang="zh-TW" sz="3200" baseline="-25000" dirty="0" err="1"/>
              <a:t>i,j</a:t>
            </a:r>
            <a:r>
              <a:rPr lang="en-US" altLang="zh-TW" sz="3200" baseline="-25000" dirty="0"/>
              <a:t> </a:t>
            </a:r>
            <a:r>
              <a:rPr lang="en-US" altLang="zh-TW" sz="3200" dirty="0"/>
              <a:t>= b</a:t>
            </a:r>
            <a:r>
              <a:rPr lang="en-US" altLang="zh-TW" sz="3200" baseline="-25000" dirty="0"/>
              <a:t>i-1,j </a:t>
            </a:r>
            <a:r>
              <a:rPr lang="en-US" altLang="zh-TW" sz="3200" dirty="0"/>
              <a:t>+1</a:t>
            </a:r>
          </a:p>
          <a:p>
            <a:r>
              <a:rPr lang="en-US" altLang="zh-TW" sz="3200" dirty="0"/>
              <a:t>ii: there is no reused point, set </a:t>
            </a:r>
            <a:r>
              <a:rPr lang="en-US" altLang="zh-TW" sz="3200" dirty="0" err="1"/>
              <a:t>a</a:t>
            </a:r>
            <a:r>
              <a:rPr lang="en-US" altLang="zh-TW" sz="3200" baseline="-25000" dirty="0" err="1"/>
              <a:t>i,j</a:t>
            </a:r>
            <a:r>
              <a:rPr lang="en-US" altLang="zh-TW" sz="3200" baseline="-25000" dirty="0"/>
              <a:t> </a:t>
            </a:r>
            <a:r>
              <a:rPr lang="en-US" altLang="zh-TW" sz="3200" dirty="0"/>
              <a:t>= 1, </a:t>
            </a:r>
            <a:r>
              <a:rPr lang="en-US" altLang="zh-TW" sz="3200" dirty="0" err="1"/>
              <a:t>b</a:t>
            </a:r>
            <a:r>
              <a:rPr lang="en-US" altLang="zh-TW" sz="3200" baseline="-25000" dirty="0" err="1"/>
              <a:t>i,j</a:t>
            </a:r>
            <a:r>
              <a:rPr lang="en-US" altLang="zh-TW" sz="3200" baseline="-25000" dirty="0"/>
              <a:t> </a:t>
            </a:r>
            <a:r>
              <a:rPr lang="en-US" altLang="zh-TW" sz="3200" dirty="0"/>
              <a:t>= 1</a:t>
            </a:r>
          </a:p>
          <a:p>
            <a:r>
              <a:rPr lang="en-US" altLang="zh-TW" sz="3200" dirty="0"/>
              <a:t>iii: point p</a:t>
            </a:r>
            <a:r>
              <a:rPr lang="en-US" altLang="zh-TW" sz="3200" baseline="-25000" dirty="0"/>
              <a:t>i</a:t>
            </a:r>
            <a:r>
              <a:rPr lang="en-US" altLang="zh-TW" sz="3200" dirty="0"/>
              <a:t> is reused, set </a:t>
            </a:r>
            <a:r>
              <a:rPr lang="en-US" altLang="zh-TW" sz="3200" dirty="0" err="1"/>
              <a:t>a</a:t>
            </a:r>
            <a:r>
              <a:rPr lang="en-US" altLang="zh-TW" sz="3200" baseline="-25000" dirty="0" err="1"/>
              <a:t>i,j</a:t>
            </a:r>
            <a:r>
              <a:rPr lang="en-US" altLang="zh-TW" sz="3200" baseline="-25000" dirty="0"/>
              <a:t> </a:t>
            </a:r>
            <a:r>
              <a:rPr lang="en-US" altLang="zh-TW" sz="3200" dirty="0"/>
              <a:t>= a</a:t>
            </a:r>
            <a:r>
              <a:rPr lang="en-US" altLang="zh-TW" sz="3200" baseline="-25000" dirty="0"/>
              <a:t>i,j-1 </a:t>
            </a:r>
            <a:r>
              <a:rPr lang="en-US" altLang="zh-TW" sz="3200" dirty="0"/>
              <a:t>+1, </a:t>
            </a:r>
            <a:r>
              <a:rPr lang="en-US" altLang="zh-TW" sz="3200" dirty="0" err="1"/>
              <a:t>b</a:t>
            </a:r>
            <a:r>
              <a:rPr lang="en-US" altLang="zh-TW" sz="3200" baseline="-25000" dirty="0" err="1"/>
              <a:t>i,j</a:t>
            </a:r>
            <a:r>
              <a:rPr lang="en-US" altLang="zh-TW" sz="3200" baseline="-25000" dirty="0"/>
              <a:t> </a:t>
            </a:r>
            <a:r>
              <a:rPr lang="en-US" altLang="zh-TW" sz="3200" dirty="0"/>
              <a:t>= 1</a:t>
            </a:r>
          </a:p>
        </p:txBody>
      </p:sp>
    </p:spTree>
    <p:extLst>
      <p:ext uri="{BB962C8B-B14F-4D97-AF65-F5344CB8AC3E}">
        <p14:creationId xmlns:p14="http://schemas.microsoft.com/office/powerpoint/2010/main" val="1094528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E734E2-8B6D-482B-B717-A6557552EDE6}"/>
              </a:ext>
            </a:extLst>
          </p:cNvPr>
          <p:cNvSpPr>
            <a:spLocks noGrp="1"/>
          </p:cNvSpPr>
          <p:nvPr>
            <p:ph type="title"/>
          </p:nvPr>
        </p:nvSpPr>
        <p:spPr/>
        <p:txBody>
          <a:bodyPr/>
          <a:lstStyle/>
          <a:p>
            <a:r>
              <a:rPr lang="en-US" altLang="zh-TW" dirty="0"/>
              <a:t>Adaptive cost dynamic time warping </a:t>
            </a:r>
            <a:endParaRPr lang="zh-TW" altLang="en-US" dirty="0"/>
          </a:p>
        </p:txBody>
      </p:sp>
      <p:sp>
        <p:nvSpPr>
          <p:cNvPr id="3" name="內容版面配置區 2">
            <a:extLst>
              <a:ext uri="{FF2B5EF4-FFF2-40B4-BE49-F238E27FC236}">
                <a16:creationId xmlns:a16="http://schemas.microsoft.com/office/drawing/2014/main" id="{488A94D5-B1B2-4BBE-ACCB-563611F3A874}"/>
              </a:ext>
            </a:extLst>
          </p:cNvPr>
          <p:cNvSpPr>
            <a:spLocks noGrp="1"/>
          </p:cNvSpPr>
          <p:nvPr>
            <p:ph idx="1"/>
          </p:nvPr>
        </p:nvSpPr>
        <p:spPr/>
        <p:txBody>
          <a:bodyPr/>
          <a:lstStyle/>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DBAC0C9B-4025-44A7-B2B0-03D2FAD98E55}"/>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7" name="圖片 6">
            <a:extLst>
              <a:ext uri="{FF2B5EF4-FFF2-40B4-BE49-F238E27FC236}">
                <a16:creationId xmlns:a16="http://schemas.microsoft.com/office/drawing/2014/main" id="{A0C6CA17-416C-4AD8-B562-A5EA96FC2DEC}"/>
              </a:ext>
            </a:extLst>
          </p:cNvPr>
          <p:cNvPicPr>
            <a:picLocks noChangeAspect="1"/>
          </p:cNvPicPr>
          <p:nvPr/>
        </p:nvPicPr>
        <p:blipFill>
          <a:blip r:embed="rId2"/>
          <a:stretch>
            <a:fillRect/>
          </a:stretch>
        </p:blipFill>
        <p:spPr>
          <a:xfrm>
            <a:off x="866775" y="1405244"/>
            <a:ext cx="9368606" cy="5289287"/>
          </a:xfrm>
          <a:prstGeom prst="rect">
            <a:avLst/>
          </a:prstGeom>
        </p:spPr>
      </p:pic>
    </p:spTree>
    <p:extLst>
      <p:ext uri="{BB962C8B-B14F-4D97-AF65-F5344CB8AC3E}">
        <p14:creationId xmlns:p14="http://schemas.microsoft.com/office/powerpoint/2010/main" val="708189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67BB8E-9A65-4137-9DC8-74208F4FD057}"/>
              </a:ext>
            </a:extLst>
          </p:cNvPr>
          <p:cNvSpPr>
            <a:spLocks noGrp="1"/>
          </p:cNvSpPr>
          <p:nvPr>
            <p:ph type="title"/>
          </p:nvPr>
        </p:nvSpPr>
        <p:spPr/>
        <p:txBody>
          <a:bodyPr/>
          <a:lstStyle/>
          <a:p>
            <a:r>
              <a:rPr lang="en-US" altLang="zh-TW" dirty="0"/>
              <a:t>Experiments (1/4)</a:t>
            </a:r>
            <a:endParaRPr lang="zh-TW" altLang="en-US" dirty="0"/>
          </a:p>
        </p:txBody>
      </p:sp>
      <p:pic>
        <p:nvPicPr>
          <p:cNvPr id="5" name="內容版面配置區 4">
            <a:extLst>
              <a:ext uri="{FF2B5EF4-FFF2-40B4-BE49-F238E27FC236}">
                <a16:creationId xmlns:a16="http://schemas.microsoft.com/office/drawing/2014/main" id="{1C94687A-72C9-4DAF-A039-91876DE2C333}"/>
              </a:ext>
            </a:extLst>
          </p:cNvPr>
          <p:cNvPicPr>
            <a:picLocks noGrp="1" noChangeAspect="1"/>
          </p:cNvPicPr>
          <p:nvPr>
            <p:ph idx="1"/>
          </p:nvPr>
        </p:nvPicPr>
        <p:blipFill>
          <a:blip r:embed="rId2"/>
          <a:stretch>
            <a:fillRect/>
          </a:stretch>
        </p:blipFill>
        <p:spPr>
          <a:xfrm>
            <a:off x="838200" y="1665419"/>
            <a:ext cx="7490184" cy="4690933"/>
          </a:xfrm>
          <a:prstGeom prst="rect">
            <a:avLst/>
          </a:prstGeom>
        </p:spPr>
      </p:pic>
      <p:sp>
        <p:nvSpPr>
          <p:cNvPr id="4" name="投影片編號版面配置區 3">
            <a:extLst>
              <a:ext uri="{FF2B5EF4-FFF2-40B4-BE49-F238E27FC236}">
                <a16:creationId xmlns:a16="http://schemas.microsoft.com/office/drawing/2014/main" id="{95ABC77B-5357-479F-B2E8-FE972E57E42D}"/>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spTree>
    <p:extLst>
      <p:ext uri="{BB962C8B-B14F-4D97-AF65-F5344CB8AC3E}">
        <p14:creationId xmlns:p14="http://schemas.microsoft.com/office/powerpoint/2010/main" val="2578359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67BB8E-9A65-4137-9DC8-74208F4FD057}"/>
              </a:ext>
            </a:extLst>
          </p:cNvPr>
          <p:cNvSpPr>
            <a:spLocks noGrp="1"/>
          </p:cNvSpPr>
          <p:nvPr>
            <p:ph type="title"/>
          </p:nvPr>
        </p:nvSpPr>
        <p:spPr/>
        <p:txBody>
          <a:bodyPr/>
          <a:lstStyle/>
          <a:p>
            <a:r>
              <a:rPr lang="en-US" altLang="zh-TW" dirty="0"/>
              <a:t>Experiments (2/4)</a:t>
            </a:r>
            <a:endParaRPr lang="zh-TW" altLang="en-US" dirty="0"/>
          </a:p>
        </p:txBody>
      </p:sp>
      <p:sp>
        <p:nvSpPr>
          <p:cNvPr id="4" name="投影片編號版面配置區 3">
            <a:extLst>
              <a:ext uri="{FF2B5EF4-FFF2-40B4-BE49-F238E27FC236}">
                <a16:creationId xmlns:a16="http://schemas.microsoft.com/office/drawing/2014/main" id="{95ABC77B-5357-479F-B2E8-FE972E57E42D}"/>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pic>
        <p:nvPicPr>
          <p:cNvPr id="7" name="內容版面配置區 6">
            <a:extLst>
              <a:ext uri="{FF2B5EF4-FFF2-40B4-BE49-F238E27FC236}">
                <a16:creationId xmlns:a16="http://schemas.microsoft.com/office/drawing/2014/main" id="{08F25322-CE02-4B5A-AF8F-1881679E2786}"/>
              </a:ext>
            </a:extLst>
          </p:cNvPr>
          <p:cNvPicPr>
            <a:picLocks noGrp="1" noChangeAspect="1"/>
          </p:cNvPicPr>
          <p:nvPr>
            <p:ph idx="1"/>
          </p:nvPr>
        </p:nvPicPr>
        <p:blipFill>
          <a:blip r:embed="rId2"/>
          <a:stretch>
            <a:fillRect/>
          </a:stretch>
        </p:blipFill>
        <p:spPr>
          <a:xfrm>
            <a:off x="278782" y="2076853"/>
            <a:ext cx="11634435" cy="3274727"/>
          </a:xfrm>
          <a:prstGeom prst="rect">
            <a:avLst/>
          </a:prstGeom>
        </p:spPr>
      </p:pic>
    </p:spTree>
    <p:extLst>
      <p:ext uri="{BB962C8B-B14F-4D97-AF65-F5344CB8AC3E}">
        <p14:creationId xmlns:p14="http://schemas.microsoft.com/office/powerpoint/2010/main" val="1510364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67BB8E-9A65-4137-9DC8-74208F4FD057}"/>
              </a:ext>
            </a:extLst>
          </p:cNvPr>
          <p:cNvSpPr>
            <a:spLocks noGrp="1"/>
          </p:cNvSpPr>
          <p:nvPr>
            <p:ph type="title"/>
          </p:nvPr>
        </p:nvSpPr>
        <p:spPr/>
        <p:txBody>
          <a:bodyPr/>
          <a:lstStyle/>
          <a:p>
            <a:r>
              <a:rPr lang="en-US" altLang="zh-TW" dirty="0"/>
              <a:t>Experiments (3/4)</a:t>
            </a:r>
            <a:endParaRPr lang="zh-TW" altLang="en-US" dirty="0"/>
          </a:p>
        </p:txBody>
      </p:sp>
      <p:sp>
        <p:nvSpPr>
          <p:cNvPr id="4" name="投影片編號版面配置區 3">
            <a:extLst>
              <a:ext uri="{FF2B5EF4-FFF2-40B4-BE49-F238E27FC236}">
                <a16:creationId xmlns:a16="http://schemas.microsoft.com/office/drawing/2014/main" id="{95ABC77B-5357-479F-B2E8-FE972E57E42D}"/>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pic>
        <p:nvPicPr>
          <p:cNvPr id="6" name="內容版面配置區 5">
            <a:extLst>
              <a:ext uri="{FF2B5EF4-FFF2-40B4-BE49-F238E27FC236}">
                <a16:creationId xmlns:a16="http://schemas.microsoft.com/office/drawing/2014/main" id="{9A400F8B-3F83-4CEB-B7E1-BDD9D02305B1}"/>
              </a:ext>
            </a:extLst>
          </p:cNvPr>
          <p:cNvPicPr>
            <a:picLocks noGrp="1" noChangeAspect="1"/>
          </p:cNvPicPr>
          <p:nvPr>
            <p:ph idx="1"/>
          </p:nvPr>
        </p:nvPicPr>
        <p:blipFill>
          <a:blip r:embed="rId2"/>
          <a:stretch>
            <a:fillRect/>
          </a:stretch>
        </p:blipFill>
        <p:spPr>
          <a:xfrm>
            <a:off x="838200" y="1640192"/>
            <a:ext cx="5916254" cy="4716160"/>
          </a:xfrm>
          <a:prstGeom prst="rect">
            <a:avLst/>
          </a:prstGeom>
        </p:spPr>
      </p:pic>
    </p:spTree>
    <p:extLst>
      <p:ext uri="{BB962C8B-B14F-4D97-AF65-F5344CB8AC3E}">
        <p14:creationId xmlns:p14="http://schemas.microsoft.com/office/powerpoint/2010/main" val="3447607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67BB8E-9A65-4137-9DC8-74208F4FD057}"/>
              </a:ext>
            </a:extLst>
          </p:cNvPr>
          <p:cNvSpPr>
            <a:spLocks noGrp="1"/>
          </p:cNvSpPr>
          <p:nvPr>
            <p:ph type="title"/>
          </p:nvPr>
        </p:nvSpPr>
        <p:spPr/>
        <p:txBody>
          <a:bodyPr/>
          <a:lstStyle/>
          <a:p>
            <a:r>
              <a:rPr lang="en-US" altLang="zh-TW" dirty="0"/>
              <a:t>Experiments (4/4)</a:t>
            </a:r>
            <a:endParaRPr lang="zh-TW" altLang="en-US" dirty="0"/>
          </a:p>
        </p:txBody>
      </p:sp>
      <p:sp>
        <p:nvSpPr>
          <p:cNvPr id="4" name="投影片編號版面配置區 3">
            <a:extLst>
              <a:ext uri="{FF2B5EF4-FFF2-40B4-BE49-F238E27FC236}">
                <a16:creationId xmlns:a16="http://schemas.microsoft.com/office/drawing/2014/main" id="{95ABC77B-5357-479F-B2E8-FE972E57E42D}"/>
              </a:ext>
            </a:extLst>
          </p:cNvPr>
          <p:cNvSpPr>
            <a:spLocks noGrp="1"/>
          </p:cNvSpPr>
          <p:nvPr>
            <p:ph type="sldNum" sz="quarter" idx="12"/>
          </p:nvPr>
        </p:nvSpPr>
        <p:spPr/>
        <p:txBody>
          <a:bodyPr/>
          <a:lstStyle/>
          <a:p>
            <a:fld id="{8DCCD063-7F18-423D-A692-CC9D343FD360}" type="slidenum">
              <a:rPr lang="zh-TW" altLang="en-US" smtClean="0"/>
              <a:t>10</a:t>
            </a:fld>
            <a:endParaRPr lang="zh-TW" altLang="en-US" dirty="0"/>
          </a:p>
        </p:txBody>
      </p:sp>
      <p:pic>
        <p:nvPicPr>
          <p:cNvPr id="7" name="內容版面配置區 6">
            <a:extLst>
              <a:ext uri="{FF2B5EF4-FFF2-40B4-BE49-F238E27FC236}">
                <a16:creationId xmlns:a16="http://schemas.microsoft.com/office/drawing/2014/main" id="{EF9477A4-0F42-4C3E-8F77-C85DAFC21EB8}"/>
              </a:ext>
            </a:extLst>
          </p:cNvPr>
          <p:cNvPicPr>
            <a:picLocks noGrp="1" noChangeAspect="1"/>
          </p:cNvPicPr>
          <p:nvPr>
            <p:ph idx="1"/>
          </p:nvPr>
        </p:nvPicPr>
        <p:blipFill>
          <a:blip r:embed="rId2"/>
          <a:stretch>
            <a:fillRect/>
          </a:stretch>
        </p:blipFill>
        <p:spPr>
          <a:xfrm>
            <a:off x="435581" y="2248043"/>
            <a:ext cx="11320838" cy="3902033"/>
          </a:xfrm>
          <a:prstGeom prst="rect">
            <a:avLst/>
          </a:prstGeom>
        </p:spPr>
      </p:pic>
    </p:spTree>
    <p:extLst>
      <p:ext uri="{BB962C8B-B14F-4D97-AF65-F5344CB8AC3E}">
        <p14:creationId xmlns:p14="http://schemas.microsoft.com/office/powerpoint/2010/main" val="93964487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13324</TotalTime>
  <Words>414</Words>
  <Application>Microsoft Office PowerPoint</Application>
  <PresentationFormat>寬螢幕</PresentationFormat>
  <Paragraphs>38</Paragraphs>
  <Slides>10</Slides>
  <Notes>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微軟正黑體</vt:lpstr>
      <vt:lpstr>新細明體</vt:lpstr>
      <vt:lpstr>Arial</vt:lpstr>
      <vt:lpstr>Calibri</vt:lpstr>
      <vt:lpstr>Cambria Math</vt:lpstr>
      <vt:lpstr>Tw Cen MT</vt:lpstr>
      <vt:lpstr>Office 佈景主題</vt:lpstr>
      <vt:lpstr>Adaptive cost dynamic time warping distance in time series analysis for classification</vt:lpstr>
      <vt:lpstr>Abstract</vt:lpstr>
      <vt:lpstr>Original DTW</vt:lpstr>
      <vt:lpstr>Adaptive cost dynamic time warping </vt:lpstr>
      <vt:lpstr>Adaptive cost dynamic time warping </vt:lpstr>
      <vt:lpstr>Adaptive cost dynamic time warping </vt:lpstr>
      <vt:lpstr>Experiments (1/4)</vt:lpstr>
      <vt:lpstr>Experiments (2/4)</vt:lpstr>
      <vt:lpstr>Experiments (3/4)</vt:lpstr>
      <vt:lpstr>Experiments (4/4)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 </cp:lastModifiedBy>
  <cp:revision>327</cp:revision>
  <dcterms:created xsi:type="dcterms:W3CDTF">2017-10-09T09:38:00Z</dcterms:created>
  <dcterms:modified xsi:type="dcterms:W3CDTF">2018-05-08T10:27:20Z</dcterms:modified>
</cp:coreProperties>
</file>