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2" r:id="rId5"/>
    <p:sldId id="264" r:id="rId6"/>
    <p:sldId id="259" r:id="rId7"/>
    <p:sldId id="260" r:id="rId8"/>
    <p:sldId id="261" r:id="rId9"/>
    <p:sldId id="25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69" autoAdjust="0"/>
    <p:restoredTop sz="78307" autoAdjust="0"/>
  </p:normalViewPr>
  <p:slideViewPr>
    <p:cSldViewPr snapToGrid="0">
      <p:cViewPr varScale="1">
        <p:scale>
          <a:sx n="115" d="100"/>
          <a:sy n="115" d="100"/>
        </p:scale>
        <p:origin x="70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1CE27-751F-48D9-A3E6-37B85B410D4A}" type="datetimeFigureOut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2EB79-9C15-4368-B725-BB8D0D1C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30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478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51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A826C-B827-48E7-923C-08C27A6D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F732A0-EAAC-46F4-A2BD-7894166D6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00B3F-FCF3-43A8-BA3C-83E3D27F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63CDD-1571-4D07-AD50-27DEDA2DAB08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DEB773-BC7F-471F-AAA2-C6E648DF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0BCD83-5310-40C3-8583-4562F766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597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FC2AA-8240-4810-8FED-A3DD62B5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4AF7A4-3700-4BCA-8788-5F4FBE9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D63DA6-083D-4C87-B46F-4639F5BA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0CF3-7BCB-4E41-A4BC-7F7C7D47433D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96B28-A6B2-4CCD-A0A0-0FC8A9F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F41030-E2A0-4DD7-A077-C86BB9D1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950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9C8D0-3EEB-43FA-AB9E-D0910F9C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C8DA04-C654-4A32-81E1-D1990594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7C9000-9E5A-4894-8CE5-D814ED1F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863AD-E347-426A-B227-78A9B42781C3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87D9EE-8E3C-41CA-841E-E125FA8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02431B-5153-4936-B0EE-CABE36F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17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66F51-D3F0-406D-AAC3-01300BB0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BDAEA-0EC9-4BFC-B4DC-9A02E134E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943015-4729-44AB-B601-E3BFA2BA7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E55BE4-DE58-4CB4-A138-82C7FA95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F46-57F3-4B32-B3C0-034060244659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94F790-01BB-4A74-B31E-9E018137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1A38C2-FB38-4EF1-BEE9-C6127183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88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86871-0575-4B21-9333-0B96E286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CE8BC1-3B30-4676-AAB2-794442C2D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D19164-1E96-40EE-9246-AA1E65999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A06F7C1-0AF6-46DF-8CF5-44E8DBBE2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3B69BF-E2A2-49C3-B1F9-786966B06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164490-F37E-4BF2-B792-E41261B0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E6354-929A-48E4-A569-5065F8787DBB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D5587A-E829-42C8-831F-99414F49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9B54927-CA1D-4379-9562-EFDFDA5D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50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9C19A-DE44-4713-BF93-3D9F1FCB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67B964-A9EE-448C-A903-DF032F75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B07A-C303-4A11-829E-75A08D84F791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FBDCDA-948D-4D74-A9CB-BF0FDF2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F2C7E3-47A7-4611-B686-B56505F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07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5DC494-3175-4D2C-8019-6DC804B3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0FAA-EAB9-46FF-9B2E-6C03EFE0E627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61414F2-4AAB-4D3D-9B55-6D611E2C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27B6FE-1D54-44CF-9B02-7D4B222A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40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337AC-5890-4658-9633-0789FDA9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22CC54-BC45-47EE-96B0-B43A1D1B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C769566-CB0F-43CF-9358-EBC2CC4FB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19407D-C528-4858-9191-402D0B2E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5960-3F62-4BA7-8DEF-58213E9FC750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6CEE8D-E284-4A31-91E6-DED43608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8B0B4B-C516-4AA2-BB4B-78EB6C78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083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1F1C9-4A33-41F9-9A6C-C2CA32C4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938834-CF9D-43C8-A12C-17090FA2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33F49C-9EA4-4A17-8CB9-8793107C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917929-FFD5-45C6-AB7C-0A03F71D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5139-73A5-4D37-9F65-42DD6EFCB362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7C9B4-23F7-4ED4-B3ED-8BA7DAFF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8198A6-61AE-471E-87FA-7AAA5711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69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0126FA-CD86-4406-B2A6-385B5925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66ECCF-61AA-4623-A519-B8C19CE7C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64FCF-DA26-41B4-8919-89C752F2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B9CA-F34A-4005-B66B-4638821FBB36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B90C5E-07BB-4BDE-A6DE-837D4B32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20F850-672A-48DC-883D-88316666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06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F3BBB3C-AD7C-461A-B4F6-E1D3B7F36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38A6C4-FFF1-480E-A653-69B9EA56A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3E183-339D-4996-9336-DF360AFA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FA3D-57A8-4A36-8AB7-98D4B7F81A6B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8900FD-C0EE-4957-AD7C-2F848F09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7F8627-2565-4288-8ACC-D27B0394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1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278959-5364-4351-AC95-0854CBC4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FD0B26-27BA-4591-876F-81883746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EA749-A752-40EF-9A2F-1D5D321BD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B9FC-3C71-41FD-914C-6EDD2F45F0F9}" type="datetime1">
              <a:rPr lang="zh-TW" altLang="en-US" smtClean="0"/>
              <a:t>2018/2/6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EBD8A3-AFAC-4E16-BF90-054E8ED74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23ABFF-0703-422A-93E4-68B89B878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12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00E22-8B2D-44A2-B529-2D5C521DF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1086"/>
            <a:ext cx="9144000" cy="1786671"/>
          </a:xfrm>
        </p:spPr>
        <p:txBody>
          <a:bodyPr>
            <a:normAutofit/>
          </a:bodyPr>
          <a:lstStyle/>
          <a:p>
            <a:r>
              <a:rPr lang="en-US" altLang="zh-TW" b="0" dirty="0"/>
              <a:t>Fast construction of FM-index for long sequence reads</a:t>
            </a:r>
            <a:endParaRPr lang="zh-TW" altLang="en-US" sz="4800" dirty="0">
              <a:latin typeface="Tw Cen MT" panose="020B06020201040206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F7DB53-5192-4070-9ADE-B5C85E35C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680" y="2762975"/>
            <a:ext cx="8928639" cy="773417"/>
          </a:xfrm>
        </p:spPr>
        <p:txBody>
          <a:bodyPr>
            <a:noAutofit/>
          </a:bodyPr>
          <a:lstStyle/>
          <a:p>
            <a:r>
              <a:rPr lang="en-US" altLang="zh-TW" dirty="0" err="1"/>
              <a:t>Heng</a:t>
            </a:r>
            <a:r>
              <a:rPr lang="en-US" altLang="zh-TW" dirty="0"/>
              <a:t> Li</a:t>
            </a:r>
            <a:endParaRPr lang="zh-TW" altLang="en-US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0F7494-AC7E-43FC-B731-082CA109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4568" y="6485003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CC60B4B8-BDE3-427A-B56B-7314F1C4CCA4}"/>
              </a:ext>
            </a:extLst>
          </p:cNvPr>
          <p:cNvSpPr txBox="1">
            <a:spLocks/>
          </p:cNvSpPr>
          <p:nvPr/>
        </p:nvSpPr>
        <p:spPr>
          <a:xfrm>
            <a:off x="1192823" y="3756249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600" dirty="0">
                <a:solidFill>
                  <a:schemeClr val="tx1"/>
                </a:solidFill>
              </a:rPr>
              <a:t>Oxford Journal, Bioinformatics</a:t>
            </a:r>
          </a:p>
          <a:p>
            <a:r>
              <a:rPr lang="en-US" altLang="zh-TW" sz="2600" dirty="0">
                <a:solidFill>
                  <a:schemeClr val="tx1"/>
                </a:solidFill>
              </a:rPr>
              <a:t>Vol. 30, No. 22, 15 Nov, 2014,</a:t>
            </a:r>
            <a:r>
              <a:rPr lang="en-US" altLang="zh-TW" sz="2800" dirty="0"/>
              <a:t> </a:t>
            </a:r>
            <a:r>
              <a:rPr lang="en-US" altLang="zh-TW" sz="2600" dirty="0">
                <a:solidFill>
                  <a:schemeClr val="tx1"/>
                </a:solidFill>
              </a:rPr>
              <a:t>Pages 3274-3275</a:t>
            </a:r>
            <a:endParaRPr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F161951C-063C-40D4-A802-0FD8D23F3044}"/>
              </a:ext>
            </a:extLst>
          </p:cNvPr>
          <p:cNvSpPr txBox="1">
            <a:spLocks/>
          </p:cNvSpPr>
          <p:nvPr/>
        </p:nvSpPr>
        <p:spPr>
          <a:xfrm>
            <a:off x="1192823" y="5265553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</a:rPr>
              <a:t>Presenter: Shan-Ru Liu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Date</a:t>
            </a:r>
            <a:r>
              <a:rPr lang="en-US" altLang="zh-TW">
                <a:solidFill>
                  <a:schemeClr val="tx1"/>
                </a:solidFill>
              </a:rPr>
              <a:t>: 2018/02/06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19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6B1DC-F5A3-4A3E-ABB3-0C74971D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68"/>
            <a:ext cx="10515600" cy="883104"/>
          </a:xfrm>
        </p:spPr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EF2FB6-82B8-48D7-A181-5A6639544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7" y="1170765"/>
            <a:ext cx="10423703" cy="5267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We present a new method to incrementally construct the FM-index for both short and long sequence reads, up to the size of a genome. It is the first algorithm that can build the index while implicitly sorting the sequences in the reverse (complement) lexicographical order without a separate sorting step. The implementation is among the fastest for indexing short reads and the only one that practically works for reads of averaged kilobases in length.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F33E4C-9041-46E0-B109-AD73165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43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31882-8B9C-4646-9952-44DC12AE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E4F5D2-EDE2-41AF-8E01-CF3251260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AAGTA$</a:t>
            </a:r>
            <a:endParaRPr lang="zh-TW" altLang="en-US" dirty="0"/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AC42A6-F34B-4B88-ACCA-8EBE7303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73F2F4A-184B-4377-93E4-7D8B8A53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015396"/>
              </p:ext>
            </p:extLst>
          </p:nvPr>
        </p:nvGraphicFramePr>
        <p:xfrm>
          <a:off x="1150851" y="2548466"/>
          <a:ext cx="2423622" cy="222504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211811">
                  <a:extLst>
                    <a:ext uri="{9D8B030D-6E8A-4147-A177-3AD203B41FA5}">
                      <a16:colId xmlns:a16="http://schemas.microsoft.com/office/drawing/2014/main" val="4105446878"/>
                    </a:ext>
                  </a:extLst>
                </a:gridCol>
                <a:gridCol w="1211811">
                  <a:extLst>
                    <a:ext uri="{9D8B030D-6E8A-4147-A177-3AD203B41FA5}">
                      <a16:colId xmlns:a16="http://schemas.microsoft.com/office/drawing/2014/main" val="1062478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AAGTA$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92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AGTA$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GTA$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8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TA$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85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95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96797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C022339-FB32-4525-B054-725EDB51F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7074"/>
              </p:ext>
            </p:extLst>
          </p:nvPr>
        </p:nvGraphicFramePr>
        <p:xfrm>
          <a:off x="5040514" y="2548466"/>
          <a:ext cx="2423622" cy="222504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211811">
                  <a:extLst>
                    <a:ext uri="{9D8B030D-6E8A-4147-A177-3AD203B41FA5}">
                      <a16:colId xmlns:a16="http://schemas.microsoft.com/office/drawing/2014/main" val="4105446878"/>
                    </a:ext>
                  </a:extLst>
                </a:gridCol>
                <a:gridCol w="1211811">
                  <a:extLst>
                    <a:ext uri="{9D8B030D-6E8A-4147-A177-3AD203B41FA5}">
                      <a16:colId xmlns:a16="http://schemas.microsoft.com/office/drawing/2014/main" val="1062478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92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AAGTA$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8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AGTA$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5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GTA$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954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TA$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967977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5B697BD-3D60-4BCA-AF27-3F4BC21843F2}"/>
              </a:ext>
            </a:extLst>
          </p:cNvPr>
          <p:cNvCxnSpPr/>
          <p:nvPr/>
        </p:nvCxnSpPr>
        <p:spPr>
          <a:xfrm>
            <a:off x="3783102" y="3626347"/>
            <a:ext cx="8616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2F2538E-E81B-4A0A-BBAB-1D120F6A9AA0}"/>
              </a:ext>
            </a:extLst>
          </p:cNvPr>
          <p:cNvCxnSpPr>
            <a:cxnSpLocks/>
          </p:cNvCxnSpPr>
          <p:nvPr/>
        </p:nvCxnSpPr>
        <p:spPr>
          <a:xfrm>
            <a:off x="4883854" y="2751298"/>
            <a:ext cx="0" cy="1868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C548AE-63E9-4314-AE2B-C56E7770FE5B}"/>
              </a:ext>
            </a:extLst>
          </p:cNvPr>
          <p:cNvCxnSpPr/>
          <p:nvPr/>
        </p:nvCxnSpPr>
        <p:spPr>
          <a:xfrm>
            <a:off x="7748954" y="3606178"/>
            <a:ext cx="8616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7E7B28-F390-44E8-B04E-4F6D0AC97562}"/>
              </a:ext>
            </a:extLst>
          </p:cNvPr>
          <p:cNvSpPr txBox="1"/>
          <p:nvPr/>
        </p:nvSpPr>
        <p:spPr>
          <a:xfrm>
            <a:off x="8930177" y="3375345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540123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DC98298-3BEC-47FB-961B-0F62930F766F}"/>
              </a:ext>
            </a:extLst>
          </p:cNvPr>
          <p:cNvSpPr txBox="1"/>
          <p:nvPr/>
        </p:nvSpPr>
        <p:spPr>
          <a:xfrm>
            <a:off x="9338943" y="253750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6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323598-67C2-4B91-8041-33BF91A3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Burrows-Wheeler Transform (BWT)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4DF7C1-2254-4F8E-A010-F507D7EB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4</a:t>
            </a:fld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6293188-CE51-4C68-9C7F-7BB0DEAC7C87}"/>
              </a:ext>
            </a:extLst>
          </p:cNvPr>
          <p:cNvCxnSpPr/>
          <p:nvPr/>
        </p:nvCxnSpPr>
        <p:spPr>
          <a:xfrm>
            <a:off x="4971823" y="2804538"/>
            <a:ext cx="8616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EAA59F5-A130-4A7D-8E2E-46753DF147F8}"/>
              </a:ext>
            </a:extLst>
          </p:cNvPr>
          <p:cNvCxnSpPr>
            <a:cxnSpLocks/>
          </p:cNvCxnSpPr>
          <p:nvPr/>
        </p:nvCxnSpPr>
        <p:spPr>
          <a:xfrm flipV="1">
            <a:off x="8107506" y="2824242"/>
            <a:ext cx="1057870" cy="67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4B6FC66-7261-44F4-8BD4-F44D268AD5E2}"/>
              </a:ext>
            </a:extLst>
          </p:cNvPr>
          <p:cNvCxnSpPr>
            <a:cxnSpLocks/>
          </p:cNvCxnSpPr>
          <p:nvPr/>
        </p:nvCxnSpPr>
        <p:spPr>
          <a:xfrm>
            <a:off x="2510965" y="2804538"/>
            <a:ext cx="7761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88E62B-EF72-470D-BFEF-5240ECE9E054}"/>
              </a:ext>
            </a:extLst>
          </p:cNvPr>
          <p:cNvSpPr txBox="1"/>
          <p:nvPr/>
        </p:nvSpPr>
        <p:spPr>
          <a:xfrm>
            <a:off x="1241963" y="2603048"/>
            <a:ext cx="1269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AAGTA$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E339B75-CA01-4B2D-BAE9-562723698DC4}"/>
              </a:ext>
            </a:extLst>
          </p:cNvPr>
          <p:cNvSpPr txBox="1"/>
          <p:nvPr/>
        </p:nvSpPr>
        <p:spPr>
          <a:xfrm>
            <a:off x="3505728" y="1910551"/>
            <a:ext cx="12781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$AAGTA</a:t>
            </a:r>
          </a:p>
          <a:p>
            <a:r>
              <a:rPr lang="en-US" altLang="zh-TW" sz="2400" dirty="0"/>
              <a:t>A$AAGT</a:t>
            </a:r>
          </a:p>
          <a:p>
            <a:r>
              <a:rPr lang="en-US" altLang="zh-TW" sz="2400" dirty="0"/>
              <a:t>TA$AAG</a:t>
            </a:r>
          </a:p>
          <a:p>
            <a:r>
              <a:rPr lang="en-US" altLang="zh-TW" sz="2400" dirty="0"/>
              <a:t>GTA$AA</a:t>
            </a:r>
          </a:p>
          <a:p>
            <a:r>
              <a:rPr lang="en-US" altLang="zh-TW" sz="2400" dirty="0"/>
              <a:t>AGTA$A</a:t>
            </a:r>
          </a:p>
          <a:p>
            <a:r>
              <a:rPr lang="en-US" altLang="zh-TW" sz="2400" dirty="0"/>
              <a:t>AAGTA$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E717D5-06B5-474F-A71E-1DF59A77B6AD}"/>
              </a:ext>
            </a:extLst>
          </p:cNvPr>
          <p:cNvSpPr txBox="1"/>
          <p:nvPr/>
        </p:nvSpPr>
        <p:spPr>
          <a:xfrm>
            <a:off x="6406272" y="1951672"/>
            <a:ext cx="1278170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$AAGTA</a:t>
            </a:r>
          </a:p>
          <a:p>
            <a:r>
              <a:rPr lang="en-US" altLang="zh-TW" sz="2400" dirty="0"/>
              <a:t>A$AAGT</a:t>
            </a:r>
          </a:p>
          <a:p>
            <a:r>
              <a:rPr lang="en-US" altLang="zh-TW" sz="2400" dirty="0"/>
              <a:t>AAGTA$</a:t>
            </a:r>
          </a:p>
          <a:p>
            <a:r>
              <a:rPr lang="en-US" altLang="zh-TW" sz="2400" dirty="0"/>
              <a:t>AGTA$A</a:t>
            </a:r>
          </a:p>
          <a:p>
            <a:r>
              <a:rPr lang="en-US" altLang="zh-TW" sz="2400" dirty="0"/>
              <a:t>GTA$AA</a:t>
            </a:r>
          </a:p>
          <a:p>
            <a:r>
              <a:rPr lang="en-US" altLang="zh-TW" sz="2400" dirty="0"/>
              <a:t>TA$AAG</a:t>
            </a:r>
          </a:p>
          <a:p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B0D96B1-DDE4-490E-B4D4-7C068E73EC1B}"/>
              </a:ext>
            </a:extLst>
          </p:cNvPr>
          <p:cNvSpPr txBox="1"/>
          <p:nvPr/>
        </p:nvSpPr>
        <p:spPr>
          <a:xfrm>
            <a:off x="9476706" y="2573705"/>
            <a:ext cx="1259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AT$AAG</a:t>
            </a:r>
            <a:endParaRPr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5279D0-6732-4574-BC75-849562322E2D}"/>
              </a:ext>
            </a:extLst>
          </p:cNvPr>
          <p:cNvSpPr/>
          <p:nvPr/>
        </p:nvSpPr>
        <p:spPr>
          <a:xfrm>
            <a:off x="7377431" y="1958001"/>
            <a:ext cx="214518" cy="2260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BC26A01-386F-4848-8F57-D39179500B41}"/>
              </a:ext>
            </a:extLst>
          </p:cNvPr>
          <p:cNvCxnSpPr>
            <a:cxnSpLocks/>
          </p:cNvCxnSpPr>
          <p:nvPr/>
        </p:nvCxnSpPr>
        <p:spPr>
          <a:xfrm>
            <a:off x="6288706" y="2120682"/>
            <a:ext cx="0" cy="1868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BC27A17-2766-49AB-B015-80B219458DD8}"/>
                  </a:ext>
                </a:extLst>
              </p:cNvPr>
              <p:cNvSpPr txBox="1"/>
              <p:nvPr/>
            </p:nvSpPr>
            <p:spPr>
              <a:xfrm>
                <a:off x="825678" y="4874649"/>
                <a:ext cx="4922823" cy="916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$,                   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BC27A17-2766-49AB-B015-80B219458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78" y="4874649"/>
                <a:ext cx="4922823" cy="916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0791D82D-6048-43B4-84E0-3A78A1FC66FA}"/>
              </a:ext>
            </a:extLst>
          </p:cNvPr>
          <p:cNvSpPr txBox="1"/>
          <p:nvPr/>
        </p:nvSpPr>
        <p:spPr>
          <a:xfrm>
            <a:off x="1735771" y="1690690"/>
            <a:ext cx="386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EEABC1-5E9B-4A67-8904-F6F54012C55C}"/>
              </a:ext>
            </a:extLst>
          </p:cNvPr>
          <p:cNvSpPr txBox="1"/>
          <p:nvPr/>
        </p:nvSpPr>
        <p:spPr>
          <a:xfrm>
            <a:off x="9879373" y="1880516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B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153B5C7-BF57-4EA2-BC45-5A3AFE9DBAA8}"/>
              </a:ext>
            </a:extLst>
          </p:cNvPr>
          <p:cNvSpPr txBox="1"/>
          <p:nvPr/>
        </p:nvSpPr>
        <p:spPr>
          <a:xfrm>
            <a:off x="7987008" y="4461548"/>
            <a:ext cx="23567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B[0] = T[5-1]=T[4] = A</a:t>
            </a:r>
          </a:p>
          <a:p>
            <a:r>
              <a:rPr lang="en-US" altLang="zh-TW" dirty="0"/>
              <a:t>B[1] = T[4-1]=T[3] = T</a:t>
            </a:r>
            <a:endParaRPr lang="zh-TW" altLang="en-US" dirty="0"/>
          </a:p>
          <a:p>
            <a:r>
              <a:rPr lang="en-US" altLang="zh-TW" dirty="0"/>
              <a:t>B[2] =                      $</a:t>
            </a:r>
            <a:endParaRPr lang="zh-TW" altLang="en-US" dirty="0"/>
          </a:p>
          <a:p>
            <a:r>
              <a:rPr lang="en-US" altLang="zh-TW" dirty="0"/>
              <a:t>B[3] = T[1-1]=T[0] = A</a:t>
            </a:r>
            <a:endParaRPr lang="zh-TW" altLang="en-US" dirty="0"/>
          </a:p>
          <a:p>
            <a:r>
              <a:rPr lang="en-US" altLang="zh-TW" dirty="0"/>
              <a:t>B[4] = T[2-1]=T[1] = A</a:t>
            </a:r>
            <a:endParaRPr lang="zh-TW" altLang="en-US" dirty="0"/>
          </a:p>
          <a:p>
            <a:r>
              <a:rPr lang="en-US" altLang="zh-TW" dirty="0"/>
              <a:t>B[5] = T[3-1]=T[2] = G</a:t>
            </a:r>
            <a:endParaRPr lang="zh-TW" altLang="en-US" dirty="0"/>
          </a:p>
          <a:p>
            <a:endParaRPr lang="en-US" altLang="zh-TW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651B81-52FF-4213-A801-A96CED699778}"/>
              </a:ext>
            </a:extLst>
          </p:cNvPr>
          <p:cNvSpPr txBox="1"/>
          <p:nvPr/>
        </p:nvSpPr>
        <p:spPr>
          <a:xfrm>
            <a:off x="5402646" y="6115441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540123</a:t>
            </a:r>
            <a:endParaRPr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4436C09-82A7-402C-8D6F-EC586F1CAB07}"/>
              </a:ext>
            </a:extLst>
          </p:cNvPr>
          <p:cNvSpPr txBox="1"/>
          <p:nvPr/>
        </p:nvSpPr>
        <p:spPr>
          <a:xfrm>
            <a:off x="4871672" y="6023109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S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89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BBDE5-9F3D-459A-A59E-533F39B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String Operation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B58543-EBEF-459E-B6AB-420159D5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/>
              <a:t>c = A, k = 4, B = AT$AAG</a:t>
            </a:r>
          </a:p>
          <a:p>
            <a:endParaRPr lang="en-US" altLang="zh-TW" dirty="0"/>
          </a:p>
          <a:p>
            <a:r>
              <a:rPr lang="en-US" altLang="zh-TW" dirty="0"/>
              <a:t>rank(c, k ; B) = rank(A, 4 ; 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T$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AG)</a:t>
            </a:r>
            <a:r>
              <a:rPr lang="zh-TW" altLang="en-US" dirty="0"/>
              <a:t> </a:t>
            </a:r>
            <a:r>
              <a:rPr lang="en-US" altLang="zh-TW" dirty="0"/>
              <a:t>= 2</a:t>
            </a:r>
          </a:p>
          <a:p>
            <a:pPr marL="0" indent="0">
              <a:buNone/>
            </a:pP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insert(c, k ; B) = insert(A, 4; AT$AAG)                 B = AT$A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/>
              <a:t>AG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1CFE20-235E-4FC2-BE3F-E5C2A476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5</a:t>
            </a:fld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921DB7C7-EAC7-4C7F-BAB0-4B37F4E7B828}"/>
              </a:ext>
            </a:extLst>
          </p:cNvPr>
          <p:cNvCxnSpPr>
            <a:cxnSpLocks/>
          </p:cNvCxnSpPr>
          <p:nvPr/>
        </p:nvCxnSpPr>
        <p:spPr>
          <a:xfrm>
            <a:off x="6916710" y="4110824"/>
            <a:ext cx="10041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74CE02-BE82-4413-8BBC-BDA33A703386}"/>
              </a:ext>
            </a:extLst>
          </p:cNvPr>
          <p:cNvSpPr txBox="1"/>
          <p:nvPr/>
        </p:nvSpPr>
        <p:spPr>
          <a:xfrm>
            <a:off x="3681351" y="1506024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0 1 2 3 4 5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493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C0694-1766-4246-8A46-EAF0963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Algorithm1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5650783-99DF-4C06-BB4F-5B025F4BA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4282"/>
            <a:ext cx="6079794" cy="286943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09E09D-3435-4D34-A76A-BEE9A28D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8CEE02-C76E-4FB8-88AC-780A13DA7AF9}"/>
              </a:ext>
            </a:extLst>
          </p:cNvPr>
          <p:cNvSpPr txBox="1"/>
          <p:nvPr/>
        </p:nvSpPr>
        <p:spPr>
          <a:xfrm>
            <a:off x="963271" y="5833132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O(</a:t>
            </a:r>
            <a:r>
              <a:rPr lang="en-US" altLang="zh-TW" sz="2800" dirty="0" err="1"/>
              <a:t>nlogn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3BE9CF-C335-4ADA-8089-CCDAD93AB36B}"/>
              </a:ext>
            </a:extLst>
          </p:cNvPr>
          <p:cNvSpPr txBox="1"/>
          <p:nvPr/>
        </p:nvSpPr>
        <p:spPr>
          <a:xfrm>
            <a:off x="7240091" y="1308817"/>
            <a:ext cx="30055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T=AAGTA$, P=($)AGT</a:t>
            </a:r>
          </a:p>
          <a:p>
            <a:r>
              <a:rPr lang="en-US" altLang="zh-TW" sz="2400" dirty="0"/>
              <a:t>B=AT$AAG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B</a:t>
            </a:r>
            <a:r>
              <a:rPr lang="en-US" altLang="zh-TW" sz="2400" baseline="-25000" dirty="0"/>
              <a:t>$</a:t>
            </a:r>
            <a:r>
              <a:rPr lang="en-US" altLang="zh-TW" sz="2400" dirty="0"/>
              <a:t>=</a:t>
            </a:r>
            <a:r>
              <a:rPr lang="en-US" altLang="zh-TW" sz="2400" dirty="0">
                <a:solidFill>
                  <a:srgbClr val="FF0000"/>
                </a:solidFill>
              </a:rPr>
              <a:t>T</a:t>
            </a:r>
            <a:r>
              <a:rPr lang="en-US" altLang="zh-TW" sz="2400" dirty="0"/>
              <a:t>A</a:t>
            </a:r>
          </a:p>
          <a:p>
            <a:r>
              <a:rPr lang="en-US" altLang="zh-TW" sz="2400" dirty="0"/>
              <a:t>B</a:t>
            </a:r>
            <a:r>
              <a:rPr lang="en-US" altLang="zh-TW" sz="2400" baseline="-25000" dirty="0"/>
              <a:t>A</a:t>
            </a:r>
            <a:r>
              <a:rPr lang="en-US" altLang="zh-TW" sz="2400" dirty="0"/>
              <a:t>=T$</a:t>
            </a:r>
            <a:r>
              <a:rPr lang="en-US" altLang="zh-TW" sz="2400" dirty="0">
                <a:solidFill>
                  <a:srgbClr val="FF0000"/>
                </a:solidFill>
              </a:rPr>
              <a:t>$</a:t>
            </a:r>
            <a:r>
              <a:rPr lang="en-US" altLang="zh-TW" sz="2400" dirty="0"/>
              <a:t>A</a:t>
            </a:r>
          </a:p>
          <a:p>
            <a:r>
              <a:rPr lang="en-US" altLang="zh-TW" sz="2400" dirty="0"/>
              <a:t>B</a:t>
            </a:r>
            <a:r>
              <a:rPr lang="en-US" altLang="zh-TW" sz="2400" baseline="-25000" dirty="0"/>
              <a:t>G</a:t>
            </a:r>
            <a:r>
              <a:rPr lang="en-US" altLang="zh-TW" sz="2400" dirty="0"/>
              <a:t>=</a:t>
            </a:r>
            <a:r>
              <a:rPr lang="en-US" altLang="zh-TW" sz="2400" dirty="0">
                <a:solidFill>
                  <a:srgbClr val="FF0000"/>
                </a:solidFill>
              </a:rPr>
              <a:t>A</a:t>
            </a:r>
            <a:r>
              <a:rPr lang="en-US" altLang="zh-TW" sz="2400" dirty="0"/>
              <a:t>A</a:t>
            </a:r>
          </a:p>
          <a:p>
            <a:r>
              <a:rPr lang="en-US" altLang="zh-TW" sz="2400" dirty="0"/>
              <a:t>B</a:t>
            </a:r>
            <a:r>
              <a:rPr lang="en-US" altLang="zh-TW" sz="2400" baseline="-25000" dirty="0"/>
              <a:t>T</a:t>
            </a:r>
            <a:r>
              <a:rPr lang="en-US" altLang="zh-TW" sz="2400" dirty="0"/>
              <a:t>=</a:t>
            </a:r>
            <a:r>
              <a:rPr lang="en-US" altLang="zh-TW" sz="2400" dirty="0">
                <a:solidFill>
                  <a:srgbClr val="FF0000"/>
                </a:solidFill>
              </a:rPr>
              <a:t>G</a:t>
            </a:r>
            <a:r>
              <a:rPr lang="en-US" altLang="zh-TW" sz="2400" dirty="0"/>
              <a:t>G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TP$=AAGTA$AGT$</a:t>
            </a:r>
          </a:p>
          <a:p>
            <a:r>
              <a:rPr lang="en-US" altLang="zh-TW" sz="2400" dirty="0"/>
              <a:t>B=</a:t>
            </a:r>
            <a:r>
              <a:rPr lang="en-US" altLang="zh-TW" sz="2400" dirty="0">
                <a:solidFill>
                  <a:srgbClr val="FF0000"/>
                </a:solidFill>
              </a:rPr>
              <a:t>T</a:t>
            </a:r>
            <a:r>
              <a:rPr lang="en-US" altLang="zh-TW" sz="2400" dirty="0"/>
              <a:t>AT$</a:t>
            </a:r>
            <a:r>
              <a:rPr lang="en-US" altLang="zh-TW" sz="2400" dirty="0">
                <a:solidFill>
                  <a:srgbClr val="FF0000"/>
                </a:solidFill>
              </a:rPr>
              <a:t>$</a:t>
            </a:r>
            <a:r>
              <a:rPr lang="en-US" altLang="zh-TW" sz="2400" dirty="0"/>
              <a:t>A</a:t>
            </a:r>
            <a:r>
              <a:rPr lang="en-US" altLang="zh-TW" sz="2400" dirty="0">
                <a:solidFill>
                  <a:srgbClr val="FF0000"/>
                </a:solidFill>
              </a:rPr>
              <a:t>A</a:t>
            </a:r>
            <a:r>
              <a:rPr lang="en-US" altLang="zh-TW" sz="2400" dirty="0"/>
              <a:t>A</a:t>
            </a:r>
            <a:r>
              <a:rPr lang="en-US" altLang="zh-TW" sz="2400" dirty="0">
                <a:solidFill>
                  <a:srgbClr val="FF0000"/>
                </a:solidFill>
              </a:rPr>
              <a:t>G</a:t>
            </a:r>
            <a:r>
              <a:rPr lang="en-US" altLang="zh-TW" sz="2400" dirty="0"/>
              <a:t>G</a:t>
            </a:r>
            <a:endParaRPr lang="zh-TW" altLang="en-US" sz="2400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82C246-AEAB-43F8-8259-CD133AEEE6F9}"/>
              </a:ext>
            </a:extLst>
          </p:cNvPr>
          <p:cNvCxnSpPr/>
          <p:nvPr/>
        </p:nvCxnSpPr>
        <p:spPr>
          <a:xfrm>
            <a:off x="7897091" y="2324595"/>
            <a:ext cx="0" cy="368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1FC0CA2-36B9-44DF-B1E1-8A4DC0C75191}"/>
              </a:ext>
            </a:extLst>
          </p:cNvPr>
          <p:cNvCxnSpPr/>
          <p:nvPr/>
        </p:nvCxnSpPr>
        <p:spPr>
          <a:xfrm>
            <a:off x="7895112" y="4495582"/>
            <a:ext cx="0" cy="368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6D66540-091A-4423-AB8F-C5E2754F92FE}"/>
              </a:ext>
            </a:extLst>
          </p:cNvPr>
          <p:cNvCxnSpPr/>
          <p:nvPr/>
        </p:nvCxnSpPr>
        <p:spPr>
          <a:xfrm>
            <a:off x="1677569" y="3918856"/>
            <a:ext cx="16237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86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C0694-1766-4246-8A46-EAF0963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Algorithm2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28D3B8-3C34-4C9A-80B0-BAEFB1080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0362"/>
          <a:stretch/>
        </p:blipFill>
        <p:spPr>
          <a:xfrm>
            <a:off x="838200" y="1554169"/>
            <a:ext cx="5813505" cy="22198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09E09D-3435-4D34-A76A-BEE9A28D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51A188-F12F-443B-9F16-C148D3EE15FB}"/>
              </a:ext>
            </a:extLst>
          </p:cNvPr>
          <p:cNvSpPr txBox="1"/>
          <p:nvPr/>
        </p:nvSpPr>
        <p:spPr>
          <a:xfrm>
            <a:off x="4000500" y="482595"/>
            <a:ext cx="75933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RLO : Reverse Lexicographical Order</a:t>
            </a:r>
          </a:p>
          <a:p>
            <a:r>
              <a:rPr lang="en-US" altLang="zh-TW" sz="2800" dirty="0"/>
              <a:t>RCLO : Reverse-Complement Lexicographical Order</a:t>
            </a:r>
            <a:endParaRPr lang="zh-TW" altLang="en-US" sz="2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67A9A9-2D9F-4EA7-9A8C-A86AEAE75E7E}"/>
              </a:ext>
            </a:extLst>
          </p:cNvPr>
          <p:cNvSpPr txBox="1"/>
          <p:nvPr/>
        </p:nvSpPr>
        <p:spPr>
          <a:xfrm>
            <a:off x="963271" y="5833132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O(</a:t>
            </a:r>
            <a:r>
              <a:rPr lang="en-US" altLang="zh-TW" sz="2800" dirty="0" err="1"/>
              <a:t>nlogn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9" name="內容版面配置區 4">
            <a:extLst>
              <a:ext uri="{FF2B5EF4-FFF2-40B4-BE49-F238E27FC236}">
                <a16:creationId xmlns:a16="http://schemas.microsoft.com/office/drawing/2014/main" id="{F51E3EF8-D1D7-4A07-B311-3F14F183B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638"/>
          <a:stretch/>
        </p:blipFill>
        <p:spPr>
          <a:xfrm>
            <a:off x="6143091" y="2449299"/>
            <a:ext cx="5580583" cy="3244919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25A5FAE-3FC7-414A-9C71-DBC4836A2876}"/>
              </a:ext>
            </a:extLst>
          </p:cNvPr>
          <p:cNvCxnSpPr>
            <a:cxnSpLocks/>
          </p:cNvCxnSpPr>
          <p:nvPr/>
        </p:nvCxnSpPr>
        <p:spPr>
          <a:xfrm>
            <a:off x="3473118" y="2755074"/>
            <a:ext cx="6832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54DF718-6564-4C51-A989-B877BCA272EE}"/>
              </a:ext>
            </a:extLst>
          </p:cNvPr>
          <p:cNvSpPr txBox="1"/>
          <p:nvPr/>
        </p:nvSpPr>
        <p:spPr>
          <a:xfrm>
            <a:off x="1717747" y="4341889"/>
            <a:ext cx="3908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 &lt; C &lt; G &lt; T &lt; N (unknown)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717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C0694-1766-4246-8A46-EAF0963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Algorithm3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FB16B46-7A01-4AD7-92A3-4989CEE7E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270" y="1545276"/>
            <a:ext cx="4827929" cy="451540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09E09D-3435-4D34-A76A-BEE9A28D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D860ED-A27F-4C48-AA60-8A1723812B13}"/>
              </a:ext>
            </a:extLst>
          </p:cNvPr>
          <p:cNvSpPr txBox="1"/>
          <p:nvPr/>
        </p:nvSpPr>
        <p:spPr>
          <a:xfrm>
            <a:off x="963270" y="5969653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O(</a:t>
            </a:r>
            <a:r>
              <a:rPr lang="en-US" altLang="zh-TW" sz="2800" dirty="0" err="1"/>
              <a:t>nlogn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21C9CF0E-84B7-4CC7-98B5-C35BFBEFC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638"/>
          <a:stretch/>
        </p:blipFill>
        <p:spPr>
          <a:xfrm>
            <a:off x="6095999" y="2327379"/>
            <a:ext cx="5580583" cy="324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7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35D56-4E68-4278-9618-ABF2C3CD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702" y="212202"/>
            <a:ext cx="10515600" cy="1325563"/>
          </a:xfrm>
        </p:spPr>
        <p:txBody>
          <a:bodyPr/>
          <a:lstStyle/>
          <a:p>
            <a:r>
              <a:rPr lang="en-US" altLang="zh-TW" dirty="0"/>
              <a:t>Results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A84217B-1785-418B-B4A8-737109783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299" y="1537765"/>
            <a:ext cx="5528203" cy="500114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7E3C0B-AD37-4C1A-BA3C-4A79C95F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9</a:t>
            </a:fld>
            <a:endParaRPr lang="zh-TW" altLang="en-US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AB1E169-34F0-411C-A515-D162BF8690CC}"/>
              </a:ext>
            </a:extLst>
          </p:cNvPr>
          <p:cNvCxnSpPr>
            <a:cxnSpLocks/>
          </p:cNvCxnSpPr>
          <p:nvPr/>
        </p:nvCxnSpPr>
        <p:spPr>
          <a:xfrm>
            <a:off x="520700" y="4559300"/>
            <a:ext cx="8001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E2C75A3-8F11-4569-9EDD-94A5E24B74A9}"/>
              </a:ext>
            </a:extLst>
          </p:cNvPr>
          <p:cNvCxnSpPr>
            <a:cxnSpLocks/>
          </p:cNvCxnSpPr>
          <p:nvPr/>
        </p:nvCxnSpPr>
        <p:spPr>
          <a:xfrm>
            <a:off x="520700" y="5676900"/>
            <a:ext cx="8001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EB7247E-F811-49FB-AAE3-A9AFA74FC8F8}"/>
              </a:ext>
            </a:extLst>
          </p:cNvPr>
          <p:cNvSpPr txBox="1"/>
          <p:nvPr/>
        </p:nvSpPr>
        <p:spPr>
          <a:xfrm>
            <a:off x="6758576" y="3453383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66M*100bp(base pair)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695669-3B31-4241-86F4-3E8716F9EF20}"/>
              </a:ext>
            </a:extLst>
          </p:cNvPr>
          <p:cNvSpPr txBox="1"/>
          <p:nvPr/>
        </p:nvSpPr>
        <p:spPr>
          <a:xfrm>
            <a:off x="6695257" y="4888469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1206M*101bp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EF37C9B-E41B-4941-832F-1399C8EE28E0}"/>
              </a:ext>
            </a:extLst>
          </p:cNvPr>
          <p:cNvSpPr txBox="1"/>
          <p:nvPr/>
        </p:nvSpPr>
        <p:spPr>
          <a:xfrm>
            <a:off x="6803026" y="5712930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32M*875bp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315B5BA-07AA-4800-BCF1-A09119534F2E}"/>
              </a:ext>
            </a:extLst>
          </p:cNvPr>
          <p:cNvSpPr txBox="1"/>
          <p:nvPr/>
        </p:nvSpPr>
        <p:spPr>
          <a:xfrm>
            <a:off x="6821895" y="609600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23M*4026bp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BDFF18D-F747-4CBF-9109-05053A70870E}"/>
              </a:ext>
            </a:extLst>
          </p:cNvPr>
          <p:cNvCxnSpPr>
            <a:cxnSpLocks/>
          </p:cNvCxnSpPr>
          <p:nvPr/>
        </p:nvCxnSpPr>
        <p:spPr>
          <a:xfrm>
            <a:off x="520700" y="6107666"/>
            <a:ext cx="8001000" cy="20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D6E55C86-CE2E-4B58-A1EF-A4AA15D9FD67}"/>
              </a:ext>
            </a:extLst>
          </p:cNvPr>
          <p:cNvSpPr/>
          <p:nvPr/>
        </p:nvSpPr>
        <p:spPr>
          <a:xfrm>
            <a:off x="3206338" y="2826327"/>
            <a:ext cx="581891" cy="353002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332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">
      <a:majorFont>
        <a:latin typeface="Tw Cen MT"/>
        <a:ea typeface="微軟正黑體"/>
        <a:cs typeface=""/>
      </a:majorFont>
      <a:minorFont>
        <a:latin typeface="Tw Cen M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11167</TotalTime>
  <Words>457</Words>
  <Application>Microsoft Office PowerPoint</Application>
  <PresentationFormat>寬螢幕</PresentationFormat>
  <Paragraphs>106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微軟正黑體</vt:lpstr>
      <vt:lpstr>新細明體</vt:lpstr>
      <vt:lpstr>Arial</vt:lpstr>
      <vt:lpstr>Calibri</vt:lpstr>
      <vt:lpstr>Cambria Math</vt:lpstr>
      <vt:lpstr>Times New Roman</vt:lpstr>
      <vt:lpstr>Tw Cen MT</vt:lpstr>
      <vt:lpstr>Office 佈景主題</vt:lpstr>
      <vt:lpstr>Fast construction of FM-index for long sequence reads</vt:lpstr>
      <vt:lpstr>Abstract</vt:lpstr>
      <vt:lpstr>Suffix array</vt:lpstr>
      <vt:lpstr>Burrows-Wheeler Transform (BWT)</vt:lpstr>
      <vt:lpstr>String Operation</vt:lpstr>
      <vt:lpstr>Algorithm1</vt:lpstr>
      <vt:lpstr>Algorithm2</vt:lpstr>
      <vt:lpstr>Algorithm3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 blind biosignal classification model</dc:title>
  <dc:creator>喵owo</dc:creator>
  <cp:lastModifiedBy>Shan-Ru Liu</cp:lastModifiedBy>
  <cp:revision>255</cp:revision>
  <dcterms:created xsi:type="dcterms:W3CDTF">2017-10-09T09:38:00Z</dcterms:created>
  <dcterms:modified xsi:type="dcterms:W3CDTF">2018-02-05T22:08:32Z</dcterms:modified>
</cp:coreProperties>
</file>