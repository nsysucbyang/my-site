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9" r:id="rId4"/>
    <p:sldId id="258" r:id="rId5"/>
    <p:sldId id="263" r:id="rId6"/>
    <p:sldId id="274" r:id="rId7"/>
    <p:sldId id="264" r:id="rId8"/>
    <p:sldId id="268" r:id="rId9"/>
    <p:sldId id="272" r:id="rId10"/>
    <p:sldId id="273" r:id="rId11"/>
    <p:sldId id="279" r:id="rId12"/>
    <p:sldId id="261" r:id="rId13"/>
    <p:sldId id="262" r:id="rId14"/>
    <p:sldId id="283" r:id="rId15"/>
    <p:sldId id="275" r:id="rId16"/>
    <p:sldId id="277" r:id="rId17"/>
    <p:sldId id="278" r:id="rId18"/>
    <p:sldId id="276" r:id="rId19"/>
    <p:sldId id="280" r:id="rId20"/>
    <p:sldId id="286" r:id="rId21"/>
    <p:sldId id="265" r:id="rId22"/>
    <p:sldId id="269" r:id="rId23"/>
    <p:sldId id="285" r:id="rId24"/>
    <p:sldId id="284" r:id="rId25"/>
    <p:sldId id="281" r:id="rId26"/>
    <p:sldId id="266" r:id="rId27"/>
    <p:sldId id="26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132" autoAdjust="0"/>
  </p:normalViewPr>
  <p:slideViewPr>
    <p:cSldViewPr snapToGrid="0">
      <p:cViewPr varScale="1">
        <p:scale>
          <a:sx n="61" d="100"/>
          <a:sy n="61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劍橋大學博士生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貌似是博士論文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FM-index :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compressed full-text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substring index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based on the 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Burrows-Wheeler transform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71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307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385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8065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739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8908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k-mer</a:t>
            </a:r>
            <a:r>
              <a:rPr lang="zh-TW" altLang="en-US"/>
              <a:t>是連續的</a:t>
            </a:r>
            <a:endParaRPr lang="en-US" altLang="zh-TW"/>
          </a:p>
          <a:p>
            <a:r>
              <a:rPr lang="zh-TW" altLang="en-US"/>
              <a:t>圖的橫坐標表示</a:t>
            </a:r>
            <a:r>
              <a:rPr lang="en-US" altLang="zh-TW"/>
              <a:t>k-mer frequency</a:t>
            </a:r>
            <a:r>
              <a:rPr lang="zh-TW" altLang="en-US"/>
              <a:t>，縱座標是出現次數</a:t>
            </a:r>
            <a:endParaRPr lang="en-US" altLang="zh-TW"/>
          </a:p>
          <a:p>
            <a:r>
              <a:rPr lang="zh-TW" altLang="en-US"/>
              <a:t>有</a:t>
            </a:r>
            <a:r>
              <a:rPr lang="en-US" altLang="zh-TW"/>
              <a:t>1%error</a:t>
            </a:r>
            <a:r>
              <a:rPr lang="zh-TW" altLang="en-US"/>
              <a:t>會出現</a:t>
            </a:r>
            <a:r>
              <a:rPr lang="en-US" altLang="zh-TW"/>
              <a:t>base</a:t>
            </a:r>
            <a:r>
              <a:rPr lang="zh-TW" altLang="en-US"/>
              <a:t>極端集中在低</a:t>
            </a:r>
            <a:r>
              <a:rPr lang="en-US" altLang="zh-TW"/>
              <a:t>frequency</a:t>
            </a:r>
            <a:r>
              <a:rPr lang="zh-TW" altLang="en-US"/>
              <a:t>的情況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551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k-mer</a:t>
            </a:r>
            <a:r>
              <a:rPr lang="zh-TW" altLang="en-US"/>
              <a:t>是連續的</a:t>
            </a:r>
            <a:endParaRPr lang="en-US" altLang="zh-TW"/>
          </a:p>
          <a:p>
            <a:r>
              <a:rPr lang="zh-TW" altLang="en-US"/>
              <a:t>圖的橫坐標表示</a:t>
            </a:r>
            <a:r>
              <a:rPr lang="en-US" altLang="zh-TW"/>
              <a:t>k-mer frequency</a:t>
            </a:r>
            <a:r>
              <a:rPr lang="zh-TW" altLang="en-US"/>
              <a:t>，縱座標是出現次數</a:t>
            </a:r>
            <a:endParaRPr lang="en-US" altLang="zh-TW"/>
          </a:p>
          <a:p>
            <a:r>
              <a:rPr lang="zh-TW" altLang="en-US"/>
              <a:t>有</a:t>
            </a:r>
            <a:r>
              <a:rPr lang="en-US" altLang="zh-TW"/>
              <a:t>1%error</a:t>
            </a:r>
            <a:r>
              <a:rPr lang="zh-TW" altLang="en-US"/>
              <a:t>會出現</a:t>
            </a:r>
            <a:r>
              <a:rPr lang="en-US" altLang="zh-TW"/>
              <a:t>base</a:t>
            </a:r>
            <a:r>
              <a:rPr lang="zh-TW" altLang="en-US"/>
              <a:t>極端集中在低</a:t>
            </a:r>
            <a:r>
              <a:rPr lang="en-US" altLang="zh-TW"/>
              <a:t>frequency</a:t>
            </a:r>
            <a:r>
              <a:rPr lang="zh-TW" altLang="en-US"/>
              <a:t>的情況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452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秀麗隱桿線蟲</a:t>
            </a:r>
            <a:endParaRPr lang="en-US" altLang="zh-TW" dirty="0"/>
          </a:p>
          <a:p>
            <a:r>
              <a:rPr lang="zh-TW" altLang="en-US" dirty="0"/>
              <a:t>它具有完整和準確的參考序列</a:t>
            </a:r>
            <a:endParaRPr lang="en-US" altLang="zh-TW" dirty="0"/>
          </a:p>
          <a:p>
            <a:r>
              <a:rPr lang="zh-TW" altLang="en-US" dirty="0"/>
              <a:t>它以雌雄同體的形式繁殖，所以個體（或株系）的基因組是純合的，</a:t>
            </a:r>
            <a:endParaRPr lang="en-US" altLang="zh-TW" dirty="0"/>
          </a:p>
          <a:p>
            <a:r>
              <a:rPr lang="zh-TW" altLang="en-US" dirty="0"/>
              <a:t>基本上沒有</a:t>
            </a:r>
            <a:r>
              <a:rPr lang="en-US" altLang="zh-TW" dirty="0"/>
              <a:t>SNP</a:t>
            </a:r>
            <a:r>
              <a:rPr lang="zh-TW" altLang="en-US" dirty="0"/>
              <a:t>和結構變異，而且基因組是一個合理的評估尺寸（</a:t>
            </a:r>
            <a:r>
              <a:rPr lang="en-US" altLang="zh-TW" dirty="0"/>
              <a:t>100 </a:t>
            </a:r>
            <a:r>
              <a:rPr lang="en-US" altLang="zh-TW" dirty="0" err="1"/>
              <a:t>Mbp</a:t>
            </a:r>
            <a:r>
              <a:rPr lang="zh-TW" altLang="en-US" dirty="0"/>
              <a:t>）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N50: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用來評估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novo assembly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效果好壞的方法之一。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當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contig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scaffold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從大到小排列後，從最大的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contig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進行長度的累加，累加到全部總長度的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時，此時所加上的長度，即為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N50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。數字越大，則評估條件越嚴苛。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Velvet assembler : </a:t>
            </a:r>
            <a:r>
              <a:rPr lang="zh-TW" altLang="en-US" dirty="0"/>
              <a:t>第一個基於</a:t>
            </a:r>
            <a:r>
              <a:rPr lang="en-US" altLang="zh-TW" dirty="0"/>
              <a:t>de </a:t>
            </a:r>
            <a:r>
              <a:rPr lang="en-US" altLang="zh-TW" dirty="0" err="1"/>
              <a:t>Bruijn</a:t>
            </a:r>
            <a:r>
              <a:rPr lang="en-US" altLang="zh-TW" dirty="0"/>
              <a:t> graph</a:t>
            </a:r>
            <a:r>
              <a:rPr lang="zh-TW" altLang="en-US" dirty="0"/>
              <a:t>的</a:t>
            </a:r>
            <a:r>
              <a:rPr lang="en-US" altLang="zh-TW" dirty="0"/>
              <a:t>assemblers (for short reads )</a:t>
            </a:r>
            <a:r>
              <a:rPr lang="zh-TW" altLang="en-US" dirty="0"/>
              <a:t>，已經成為組裝中小型基因組的標準工具</a:t>
            </a:r>
          </a:p>
          <a:p>
            <a:r>
              <a:rPr lang="en-US" altLang="zh-TW" dirty="0" err="1"/>
              <a:t>ABySS</a:t>
            </a:r>
            <a:r>
              <a:rPr lang="en-US" altLang="zh-TW" dirty="0"/>
              <a:t> assembler</a:t>
            </a:r>
            <a:r>
              <a:rPr lang="zh-TW" altLang="en-US" dirty="0"/>
              <a:t>為了處理大型的基因組，通過在計算機集群上分佈</a:t>
            </a:r>
            <a:r>
              <a:rPr lang="en-US" altLang="zh-TW" dirty="0"/>
              <a:t>de </a:t>
            </a:r>
            <a:r>
              <a:rPr lang="en-US" altLang="zh-TW" dirty="0" err="1"/>
              <a:t>Bruijn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  <a:endParaRPr lang="zh-TW" altLang="en-US" dirty="0"/>
          </a:p>
          <a:p>
            <a:r>
              <a:rPr lang="en-US" altLang="zh-TW" dirty="0" err="1"/>
              <a:t>SOAPdenovo</a:t>
            </a:r>
            <a:r>
              <a:rPr lang="zh-TW" altLang="en-US" dirty="0"/>
              <a:t>也基於</a:t>
            </a:r>
            <a:r>
              <a:rPr lang="en-US" altLang="zh-TW" dirty="0"/>
              <a:t>de </a:t>
            </a:r>
            <a:r>
              <a:rPr lang="en-US" altLang="zh-TW" dirty="0" err="1"/>
              <a:t>Bruijn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  <a:r>
              <a:rPr lang="zh-TW" altLang="en-US" dirty="0"/>
              <a:t>並被設計來組裝大型基因組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521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Coverage </a:t>
            </a:r>
          </a:p>
          <a:p>
            <a:r>
              <a:rPr lang="en-US" altLang="zh-TW" dirty="0"/>
              <a:t>accurate (as exact matches are required)</a:t>
            </a:r>
          </a:p>
          <a:p>
            <a:r>
              <a:rPr lang="en-US" altLang="zh-TW" dirty="0"/>
              <a:t>complete (as the string must be present in the contig)</a:t>
            </a:r>
          </a:p>
          <a:p>
            <a:r>
              <a:rPr lang="en-US" altLang="zh-TW" dirty="0"/>
              <a:t>contiguous (as strings broken between multiple contigs will not be found)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9879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針對人體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1.2 billion sequence reads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039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160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5B31-2511-4B59-85CD-FE81550B112F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BFE1-3FF9-4076-BFE3-436A899C6CFC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635F-B179-4E14-9FEF-30274F37C964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D61C-B526-46B0-B991-3372D0F0EC91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A488-6A5E-462F-A078-C1B45B9FC688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F501-4962-473D-B6D8-A7428BF1B6D4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89F-7B98-4BDD-B73A-1D10077A1F27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9844-160F-4E54-862A-C6CCEBCF4E40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C98F-9D28-4915-ABD0-95B43831494A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E765-5314-4951-98B4-C5C6DE7CD530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0DED-4DF0-4E86-AB35-9CE8B4D53C52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8280-42F1-400D-A234-BF7D1153CCE2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ftp://ftp.sanger.ac.uk/pub/resources/theses/js18/chapter3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ftp://ftp.sanger.ac.uk/pub/resources/theses/js18/thesis.pdf" TargetMode="External"/><Relationship Id="rId4" Type="http://schemas.openxmlformats.org/officeDocument/2006/relationships/hyperlink" Target="https://github.com/jts/sg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29" y="1000872"/>
            <a:ext cx="7837715" cy="1666831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 novo assembly of large genomes using compressed data structures elements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4336" y="3423834"/>
            <a:ext cx="5168900" cy="461664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Jared T. Simpson and Richard Durbin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02606" y="5415280"/>
            <a:ext cx="3526994" cy="100583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Kuan-Chih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1800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</a:t>
            </a:r>
            <a:r>
              <a:rPr lang="en-US" altLang="zh-TW" sz="180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2018.02.06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243CF-D414-4295-8B1E-9BF6541E940C}"/>
              </a:ext>
            </a:extLst>
          </p:cNvPr>
          <p:cNvSpPr/>
          <p:nvPr/>
        </p:nvSpPr>
        <p:spPr>
          <a:xfrm>
            <a:off x="2085380" y="4048198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Genome Research 22:549–556, 2012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25" y="998092"/>
            <a:ext cx="8421949" cy="513163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novo genome sequence assembly is important both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new sequence assemblies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previously uncharacterized genomes and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genome 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individuals in a reference-unbiased way. We present memory efficient data structures and algorithms for assembly using the FM-index derived from the compressed Burrows-Wheeler transform, and a new assembler based on these called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SGA (String Graph Assembler)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describe algorithms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error-correct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scaffold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sets of sequence data. SGA uses the overlap-based string graph model of assembly, unlike most de novo assemblers that rely on de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Bruijn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graphs, and is simply parallelizable.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26" y="998091"/>
            <a:ext cx="8252348" cy="5131633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demonstrate the error correction and assembly performance of SGA on 1.2 billion sequence reads from a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genome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we are able to assemble using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 GB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memory. The resulting contigs are highly accurate and contiguous, while covering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reference genome (excluding contigs &lt; 200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length). Because of the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memory requirements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parallelization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requiring inter-process communication, SGA provides the first practical assembler to our knowledge for a mammalian-sized genome on a low-end computing cluster.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47C5F27D-9ABC-4D01-98B3-F4B0515E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4FE45DB4-55FF-4EB6-81F6-3825A8DB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47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assembly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6" y="1800815"/>
            <a:ext cx="8132354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Bioinformatics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的分析方法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依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Reference Sequence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的有無，分成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de-novo(</a:t>
            </a:r>
            <a:r>
              <a:rPr lang="zh-TW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新的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沒有參考序列，僅用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fragment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本身的資訊進行組裝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mapping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有參考序列，將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fragment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align/map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至參考序列上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ACDFA3-E6A6-4972-ADF5-465B4305A857}"/>
              </a:ext>
            </a:extLst>
          </p:cNvPr>
          <p:cNvSpPr/>
          <p:nvPr/>
        </p:nvSpPr>
        <p:spPr>
          <a:xfrm>
            <a:off x="5506304" y="489820"/>
            <a:ext cx="1766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DNA fragment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FEEA2C-BD0D-41E0-BEB2-F79363692EB3}"/>
              </a:ext>
            </a:extLst>
          </p:cNvPr>
          <p:cNvSpPr/>
          <p:nvPr/>
        </p:nvSpPr>
        <p:spPr>
          <a:xfrm>
            <a:off x="5075193" y="1431483"/>
            <a:ext cx="2628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longer DNA sequence</a:t>
            </a:r>
            <a:endParaRPr lang="zh-TW" altLang="en-US" dirty="0">
              <a:solidFill>
                <a:srgbClr val="222222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FCCE11E-FCED-49B3-914D-8BBE0B080AE4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389431" y="859152"/>
            <a:ext cx="0" cy="572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8D767AF-D780-4739-820C-16316BB83DC2}"/>
              </a:ext>
            </a:extLst>
          </p:cNvPr>
          <p:cNvSpPr/>
          <p:nvPr/>
        </p:nvSpPr>
        <p:spPr>
          <a:xfrm>
            <a:off x="6559766" y="835919"/>
            <a:ext cx="2287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Sequence merging/</a:t>
            </a:r>
          </a:p>
          <a:p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Sequence alignment</a:t>
            </a:r>
          </a:p>
        </p:txBody>
      </p:sp>
      <p:pic>
        <p:nvPicPr>
          <p:cNvPr id="3074" name="Picture 2" descr="https://upload.wikimedia.org/wikipedia/commons/thumb/d/dd/Seqassemble.png/450px-Seqassemble.png">
            <a:extLst>
              <a:ext uri="{FF2B5EF4-FFF2-40B4-BE49-F238E27FC236}">
                <a16:creationId xmlns:a16="http://schemas.microsoft.com/office/drawing/2014/main" id="{046C2BD2-9FA8-4B78-9F36-B7A8E9F54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18" y="4185943"/>
            <a:ext cx="4194175" cy="172427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7405B18E-9D07-4154-8AD8-80CE14A06DA2}"/>
              </a:ext>
            </a:extLst>
          </p:cNvPr>
          <p:cNvSpPr/>
          <p:nvPr/>
        </p:nvSpPr>
        <p:spPr>
          <a:xfrm>
            <a:off x="3582384" y="5948617"/>
            <a:ext cx="17427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Problem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24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novo assembly(1/7)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7" y="1054387"/>
            <a:ext cx="802860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以圖形作為輔助，可分成三種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Overlap graph, or Overlap-layout-consensus(OLC)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De-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bruijn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-graph(DBG)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String graph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共同特性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底層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genome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的結構會反映在圖的結構上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49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novo assembly(2/7)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7" y="1054387"/>
            <a:ext cx="8028609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Overlap-layout-consensus(OLC)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(Overlap graph)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reads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兩兩比對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 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找出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重疊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overlap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區域，以圖學的方式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呈現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重疊的關係，最後從這些片段中找出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一致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consensus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的序列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運算量較大，通常用在資料量不大而測序長度較長的資料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4098" name="Picture 2" descr="https://upload.wikimedia.org/wikipedia/commons/thumb/6/68/OLC%2COverlap-Layout-consensus.png/397px-OLC%2COverlap-Layout-consensus.png">
            <a:extLst>
              <a:ext uri="{FF2B5EF4-FFF2-40B4-BE49-F238E27FC236}">
                <a16:creationId xmlns:a16="http://schemas.microsoft.com/office/drawing/2014/main" id="{D63A62FB-4629-45F2-AA2D-0918E8A03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54"/>
          <a:stretch/>
        </p:blipFill>
        <p:spPr bwMode="auto">
          <a:xfrm>
            <a:off x="4607181" y="3069770"/>
            <a:ext cx="3781425" cy="29344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s://upload.wikimedia.org/wikipedia/commons/thumb/6/68/OLC%2COverlap-Layout-consensus.png/397px-OLC%2COverlap-Layout-consensus.png">
            <a:extLst>
              <a:ext uri="{FF2B5EF4-FFF2-40B4-BE49-F238E27FC236}">
                <a16:creationId xmlns:a16="http://schemas.microsoft.com/office/drawing/2014/main" id="{5DC1661F-3A9C-4874-A5E4-68470AF34A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56"/>
          <a:stretch/>
        </p:blipFill>
        <p:spPr bwMode="auto">
          <a:xfrm>
            <a:off x="471956" y="3209847"/>
            <a:ext cx="3781425" cy="26542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6221173-5CB9-425A-A81C-BAAB84C63582}"/>
              </a:ext>
            </a:extLst>
          </p:cNvPr>
          <p:cNvSpPr/>
          <p:nvPr/>
        </p:nvSpPr>
        <p:spPr>
          <a:xfrm>
            <a:off x="3700607" y="6066274"/>
            <a:ext cx="1422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838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novo assembly(3/7)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6B4C5BA-5BBA-420F-B890-699D599869F8}"/>
                  </a:ext>
                </a:extLst>
              </p:cNvPr>
              <p:cNvSpPr/>
              <p:nvPr/>
            </p:nvSpPr>
            <p:spPr>
              <a:xfrm>
                <a:off x="592877" y="1054387"/>
                <a:ext cx="792247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De-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bruijn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-graph(DBG)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Bruijn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sequence: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B(k, n)</a:t>
                </a:r>
                <a:r>
                  <a:rPr lang="zh-TW" altLang="en-US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由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種符號組成的序列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長度為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0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長度為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zh-TW" altLang="en-US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連續子序列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剛好為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種符號且長度為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的所有序列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6B4C5BA-5BBA-420F-B890-699D59986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77" y="1054387"/>
                <a:ext cx="7922473" cy="1938992"/>
              </a:xfrm>
              <a:prstGeom prst="rect">
                <a:avLst/>
              </a:prstGeom>
              <a:blipFill>
                <a:blip r:embed="rId2"/>
                <a:stretch>
                  <a:fillRect l="-692" b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88B926-8B7D-4537-9DA0-F0197FBED3B0}"/>
              </a:ext>
            </a:extLst>
          </p:cNvPr>
          <p:cNvSpPr/>
          <p:nvPr/>
        </p:nvSpPr>
        <p:spPr>
          <a:xfrm>
            <a:off x="1108936" y="3130874"/>
            <a:ext cx="3463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B(2, 2)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0011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{00, 01, 11, 10}</a:t>
            </a:r>
            <a:endParaRPr lang="zh-TW" altLang="en-US" sz="2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2BF184-B139-4384-B791-D5E2350CC936}"/>
              </a:ext>
            </a:extLst>
          </p:cNvPr>
          <p:cNvSpPr/>
          <p:nvPr/>
        </p:nvSpPr>
        <p:spPr>
          <a:xfrm>
            <a:off x="1108936" y="3597273"/>
            <a:ext cx="6566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B(2, 3)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00010111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{000, 001, 010, 101, 011, 111, 110, 100} 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122" name="群組 4121">
            <a:extLst>
              <a:ext uri="{FF2B5EF4-FFF2-40B4-BE49-F238E27FC236}">
                <a16:creationId xmlns:a16="http://schemas.microsoft.com/office/drawing/2014/main" id="{CD39999E-48C9-41E1-BC58-0BA0957901FB}"/>
              </a:ext>
            </a:extLst>
          </p:cNvPr>
          <p:cNvGrpSpPr/>
          <p:nvPr/>
        </p:nvGrpSpPr>
        <p:grpSpPr>
          <a:xfrm>
            <a:off x="597008" y="2126869"/>
            <a:ext cx="7954115" cy="3676745"/>
            <a:chOff x="597008" y="2126869"/>
            <a:chExt cx="7954115" cy="3676745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E8C313AA-05B3-4151-A4E0-2C01ECD0D924}"/>
                </a:ext>
              </a:extLst>
            </p:cNvPr>
            <p:cNvGrpSpPr/>
            <p:nvPr/>
          </p:nvGrpSpPr>
          <p:grpSpPr>
            <a:xfrm>
              <a:off x="597008" y="2126869"/>
              <a:ext cx="7954115" cy="3676745"/>
              <a:chOff x="597008" y="2126869"/>
              <a:chExt cx="7954115" cy="3676745"/>
            </a:xfrm>
          </p:grpSpPr>
          <p:grpSp>
            <p:nvGrpSpPr>
              <p:cNvPr id="8" name="群組 7">
                <a:extLst>
                  <a:ext uri="{FF2B5EF4-FFF2-40B4-BE49-F238E27FC236}">
                    <a16:creationId xmlns:a16="http://schemas.microsoft.com/office/drawing/2014/main" id="{CBCEBB4C-E38F-46A5-B670-956778AFA4B7}"/>
                  </a:ext>
                </a:extLst>
              </p:cNvPr>
              <p:cNvGrpSpPr/>
              <p:nvPr/>
            </p:nvGrpSpPr>
            <p:grpSpPr>
              <a:xfrm>
                <a:off x="1061899" y="2126869"/>
                <a:ext cx="7489224" cy="3676745"/>
                <a:chOff x="1061899" y="2126869"/>
                <a:chExt cx="7489224" cy="3676745"/>
              </a:xfrm>
            </p:grpSpPr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C5B732E0-21FB-4ED2-8F7A-52E7A7CAEE7C}"/>
                    </a:ext>
                  </a:extLst>
                </p:cNvPr>
                <p:cNvSpPr/>
                <p:nvPr/>
              </p:nvSpPr>
              <p:spPr>
                <a:xfrm>
                  <a:off x="1108936" y="2126870"/>
                  <a:ext cx="7249720" cy="36767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A4A54EA8-F757-4701-B916-065D70D4D83D}"/>
                    </a:ext>
                  </a:extLst>
                </p:cNvPr>
                <p:cNvSpPr/>
                <p:nvPr/>
              </p:nvSpPr>
              <p:spPr>
                <a:xfrm>
                  <a:off x="1061899" y="2126869"/>
                  <a:ext cx="7489224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TW" sz="20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Magic show</a:t>
                  </a:r>
                </a:p>
              </p:txBody>
            </p:sp>
          </p:grpSp>
          <p:pic>
            <p:nvPicPr>
              <p:cNvPr id="6146" name="Picture 2" descr="「撲克牌」的圖片搜尋結果">
                <a:extLst>
                  <a:ext uri="{FF2B5EF4-FFF2-40B4-BE49-F238E27FC236}">
                    <a16:creationId xmlns:a16="http://schemas.microsoft.com/office/drawing/2014/main" id="{B977CF8F-A9B4-4075-ACB7-CA412E080C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143631">
                <a:off x="597008" y="3391489"/>
                <a:ext cx="2273367" cy="2195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2164525-57A2-41E9-954E-D5B9F2362A15}"/>
                </a:ext>
              </a:extLst>
            </p:cNvPr>
            <p:cNvSpPr/>
            <p:nvPr/>
          </p:nvSpPr>
          <p:spPr>
            <a:xfrm>
              <a:off x="3585029" y="2326924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002060"/>
                  </a:solidFill>
                </a:rPr>
                <a:t>?</a:t>
              </a:r>
              <a:endParaRPr lang="zh-TW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EE6BABF-6096-445A-A424-4B53273E5377}"/>
                </a:ext>
              </a:extLst>
            </p:cNvPr>
            <p:cNvSpPr/>
            <p:nvPr/>
          </p:nvSpPr>
          <p:spPr>
            <a:xfrm>
              <a:off x="3810589" y="2452933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58274B0-88C6-4741-873B-6EF0157D8272}"/>
                </a:ext>
              </a:extLst>
            </p:cNvPr>
            <p:cNvSpPr/>
            <p:nvPr/>
          </p:nvSpPr>
          <p:spPr>
            <a:xfrm>
              <a:off x="4006522" y="2326924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152" name="Picture 8" descr="「person icon」的圖片搜尋結果">
              <a:extLst>
                <a:ext uri="{FF2B5EF4-FFF2-40B4-BE49-F238E27FC236}">
                  <a16:creationId xmlns:a16="http://schemas.microsoft.com/office/drawing/2014/main" id="{D81E106D-1D5C-489F-8A0C-2C944D1683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7237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8" descr="「person icon」的圖片搜尋結果">
              <a:extLst>
                <a:ext uri="{FF2B5EF4-FFF2-40B4-BE49-F238E27FC236}">
                  <a16:creationId xmlns:a16="http://schemas.microsoft.com/office/drawing/2014/main" id="{A6C34F9C-30F9-4FEA-84AE-0210C8728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1917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8" descr="「person icon」的圖片搜尋結果">
              <a:extLst>
                <a:ext uri="{FF2B5EF4-FFF2-40B4-BE49-F238E27FC236}">
                  <a16:creationId xmlns:a16="http://schemas.microsoft.com/office/drawing/2014/main" id="{E0C33B88-FDE6-4597-B842-2671A5E48A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164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8" descr="「person icon」的圖片搜尋結果">
              <a:extLst>
                <a:ext uri="{FF2B5EF4-FFF2-40B4-BE49-F238E27FC236}">
                  <a16:creationId xmlns:a16="http://schemas.microsoft.com/office/drawing/2014/main" id="{71FCA86B-E7D3-4BB9-A811-430362674D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3844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CC9864DA-7EE2-4373-B34D-11289F0CD295}"/>
                </a:ext>
              </a:extLst>
            </p:cNvPr>
            <p:cNvSpPr/>
            <p:nvPr/>
          </p:nvSpPr>
          <p:spPr>
            <a:xfrm>
              <a:off x="4263447" y="2452933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5BC72645-5211-4D91-A265-E7BAA0332E92}"/>
                </a:ext>
              </a:extLst>
            </p:cNvPr>
            <p:cNvSpPr/>
            <p:nvPr/>
          </p:nvSpPr>
          <p:spPr>
            <a:xfrm>
              <a:off x="4459380" y="2326924"/>
              <a:ext cx="319314" cy="4773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109" name="直線單箭頭接點 4108">
              <a:extLst>
                <a:ext uri="{FF2B5EF4-FFF2-40B4-BE49-F238E27FC236}">
                  <a16:creationId xmlns:a16="http://schemas.microsoft.com/office/drawing/2014/main" id="{D82D9E87-2827-4B54-8080-41FC55A64946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3744686" y="2804322"/>
              <a:ext cx="225560" cy="873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單箭頭接點 96">
              <a:extLst>
                <a:ext uri="{FF2B5EF4-FFF2-40B4-BE49-F238E27FC236}">
                  <a16:creationId xmlns:a16="http://schemas.microsoft.com/office/drawing/2014/main" id="{6DFF2626-2598-49D7-8DC5-B5F1865A5531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3970246" y="2930331"/>
              <a:ext cx="403514" cy="726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單箭頭接點 99">
              <a:extLst>
                <a:ext uri="{FF2B5EF4-FFF2-40B4-BE49-F238E27FC236}">
                  <a16:creationId xmlns:a16="http://schemas.microsoft.com/office/drawing/2014/main" id="{6F3F36AF-6545-445D-9A2E-B4D118E512A4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4166179" y="2804322"/>
              <a:ext cx="615168" cy="8521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>
              <a:extLst>
                <a:ext uri="{FF2B5EF4-FFF2-40B4-BE49-F238E27FC236}">
                  <a16:creationId xmlns:a16="http://schemas.microsoft.com/office/drawing/2014/main" id="{C4118FB2-7024-4094-8C32-2F07DFFE6003}"/>
                </a:ext>
              </a:extLst>
            </p:cNvPr>
            <p:cNvCxnSpPr>
              <a:cxnSpLocks/>
              <a:stCxn id="84" idx="2"/>
            </p:cNvCxnSpPr>
            <p:nvPr/>
          </p:nvCxnSpPr>
          <p:spPr>
            <a:xfrm>
              <a:off x="4423104" y="2930331"/>
              <a:ext cx="785173" cy="726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30BCA03-3774-4F31-B00D-BA165170038C}"/>
                </a:ext>
              </a:extLst>
            </p:cNvPr>
            <p:cNvSpPr/>
            <p:nvPr/>
          </p:nvSpPr>
          <p:spPr>
            <a:xfrm>
              <a:off x="4733796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1675E19-B862-4711-9DE7-B0B89ABCAF26}"/>
                </a:ext>
              </a:extLst>
            </p:cNvPr>
            <p:cNvSpPr/>
            <p:nvPr/>
          </p:nvSpPr>
          <p:spPr>
            <a:xfrm>
              <a:off x="4930048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8AEF2312-8E7E-4AFB-8E5F-C56E7ABF12BD}"/>
                </a:ext>
              </a:extLst>
            </p:cNvPr>
            <p:cNvSpPr/>
            <p:nvPr/>
          </p:nvSpPr>
          <p:spPr>
            <a:xfrm>
              <a:off x="5186973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F067CA61-D828-41E8-8AEA-D71F55FF827B}"/>
                </a:ext>
              </a:extLst>
            </p:cNvPr>
            <p:cNvSpPr/>
            <p:nvPr/>
          </p:nvSpPr>
          <p:spPr>
            <a:xfrm>
              <a:off x="5382906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E0F23015-0D72-412B-9D94-8D988BCBB006}"/>
                </a:ext>
              </a:extLst>
            </p:cNvPr>
            <p:cNvSpPr/>
            <p:nvPr/>
          </p:nvSpPr>
          <p:spPr>
            <a:xfrm>
              <a:off x="5657322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5" name="直線單箭頭接點 104">
              <a:extLst>
                <a:ext uri="{FF2B5EF4-FFF2-40B4-BE49-F238E27FC236}">
                  <a16:creationId xmlns:a16="http://schemas.microsoft.com/office/drawing/2014/main" id="{4F6B58E6-90EA-432F-80C7-4242ABBF5CBE}"/>
                </a:ext>
              </a:extLst>
            </p:cNvPr>
            <p:cNvCxnSpPr>
              <a:cxnSpLocks/>
              <a:stCxn id="85" idx="2"/>
            </p:cNvCxnSpPr>
            <p:nvPr/>
          </p:nvCxnSpPr>
          <p:spPr>
            <a:xfrm>
              <a:off x="4619037" y="2804322"/>
              <a:ext cx="967232" cy="873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4" name="Picture 8" descr="「person icon」的圖片搜尋結果">
              <a:extLst>
                <a:ext uri="{FF2B5EF4-FFF2-40B4-BE49-F238E27FC236}">
                  <a16:creationId xmlns:a16="http://schemas.microsoft.com/office/drawing/2014/main" id="{204AE82E-0D92-46F6-873A-04B9F9EC6A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9197" y="3759393"/>
              <a:ext cx="638100" cy="638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FA0042F-1F0B-41EF-91CE-53F4A356CD80}"/>
                </a:ext>
              </a:extLst>
            </p:cNvPr>
            <p:cNvSpPr/>
            <p:nvPr/>
          </p:nvSpPr>
          <p:spPr>
            <a:xfrm>
              <a:off x="5905509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1CE15F-0315-4C42-9787-4BB872F1D453}"/>
                </a:ext>
              </a:extLst>
            </p:cNvPr>
            <p:cNvSpPr/>
            <p:nvPr/>
          </p:nvSpPr>
          <p:spPr>
            <a:xfrm>
              <a:off x="6162434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9C9E9812-DA19-4379-8EA5-53737B7B54F2}"/>
                </a:ext>
              </a:extLst>
            </p:cNvPr>
            <p:cNvSpPr/>
            <p:nvPr/>
          </p:nvSpPr>
          <p:spPr>
            <a:xfrm>
              <a:off x="6358367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28B3A16D-88D9-4637-B686-E11174B7E03D}"/>
                </a:ext>
              </a:extLst>
            </p:cNvPr>
            <p:cNvSpPr/>
            <p:nvPr/>
          </p:nvSpPr>
          <p:spPr>
            <a:xfrm>
              <a:off x="6632783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FC2673CB-A489-476D-8F62-A1F6E51E5027}"/>
                </a:ext>
              </a:extLst>
            </p:cNvPr>
            <p:cNvSpPr/>
            <p:nvPr/>
          </p:nvSpPr>
          <p:spPr>
            <a:xfrm>
              <a:off x="6897186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2138D78-BF2F-4157-93BF-5BDC34B177E5}"/>
                </a:ext>
              </a:extLst>
            </p:cNvPr>
            <p:cNvSpPr/>
            <p:nvPr/>
          </p:nvSpPr>
          <p:spPr>
            <a:xfrm>
              <a:off x="7154111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2BFB47EF-B9AF-4D09-B7F5-000F8B8E5967}"/>
                </a:ext>
              </a:extLst>
            </p:cNvPr>
            <p:cNvSpPr/>
            <p:nvPr/>
          </p:nvSpPr>
          <p:spPr>
            <a:xfrm>
              <a:off x="7350044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7EF01AC5-A8D2-46CD-BA26-03FAA7C63963}"/>
                </a:ext>
              </a:extLst>
            </p:cNvPr>
            <p:cNvSpPr/>
            <p:nvPr/>
          </p:nvSpPr>
          <p:spPr>
            <a:xfrm>
              <a:off x="7624460" y="2452933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0EBC11C4-A276-4AD1-A7BC-1D8D92E7E4AE}"/>
                </a:ext>
              </a:extLst>
            </p:cNvPr>
            <p:cNvSpPr/>
            <p:nvPr/>
          </p:nvSpPr>
          <p:spPr>
            <a:xfrm>
              <a:off x="7885344" y="2326924"/>
              <a:ext cx="319314" cy="4773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5761E31E-26B2-4E5B-95CB-F216F9A69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6253" y="2065424"/>
            <a:ext cx="4708405" cy="3686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0A2537D-725F-4360-9DEE-68B37E897AB4}"/>
              </a:ext>
            </a:extLst>
          </p:cNvPr>
          <p:cNvSpPr/>
          <p:nvPr/>
        </p:nvSpPr>
        <p:spPr>
          <a:xfrm>
            <a:off x="1500845" y="5882260"/>
            <a:ext cx="6629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0,0,0,0,0,1,0,0,1,0,1,1,0,0,1,1,1,1,1,0,0,0,1,1,0,1,1,1,0,1,0,1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118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https://zhouer.org/DeBruijn/e23.png">
            <a:extLst>
              <a:ext uri="{FF2B5EF4-FFF2-40B4-BE49-F238E27FC236}">
                <a16:creationId xmlns:a16="http://schemas.microsoft.com/office/drawing/2014/main" id="{8EE04035-CCD8-48C8-B395-89A03DFA0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437" y="2936145"/>
            <a:ext cx="2846767" cy="278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novo assembly(4/7)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7" y="1054387"/>
            <a:ext cx="77657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De-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bruijn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-graph(DBG)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Bruijn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graph: </a:t>
            </a:r>
          </a:p>
          <a:p>
            <a:pPr lvl="1">
              <a:lnSpc>
                <a:spcPct val="150000"/>
              </a:lnSpc>
            </a:pP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G(k, n)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種符號組成，長度為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的所有序列為頂點形成的有向圖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218" name="Picture 2" descr="https://zhouer.org/DeBruijn/h23.png">
            <a:extLst>
              <a:ext uri="{FF2B5EF4-FFF2-40B4-BE49-F238E27FC236}">
                <a16:creationId xmlns:a16="http://schemas.microsoft.com/office/drawing/2014/main" id="{53256654-5E08-45DD-A4F9-66BC97B73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74" y="2751479"/>
            <a:ext cx="3732592" cy="359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A9722C2-7577-4F1A-926C-A6264447A01A}"/>
              </a:ext>
            </a:extLst>
          </p:cNvPr>
          <p:cNvSpPr/>
          <p:nvPr/>
        </p:nvSpPr>
        <p:spPr>
          <a:xfrm>
            <a:off x="930264" y="2782257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G(2, 3)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13DE90-C475-44BF-A354-DC96B53030AF}"/>
              </a:ext>
            </a:extLst>
          </p:cNvPr>
          <p:cNvSpPr/>
          <p:nvPr/>
        </p:nvSpPr>
        <p:spPr>
          <a:xfrm>
            <a:off x="4085809" y="2751479"/>
            <a:ext cx="11916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10111000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FA614B7-32D9-4098-853C-7938B6F899B2}"/>
              </a:ext>
            </a:extLst>
          </p:cNvPr>
          <p:cNvSpPr/>
          <p:nvPr/>
        </p:nvSpPr>
        <p:spPr>
          <a:xfrm>
            <a:off x="7225393" y="3186066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G(2, 2)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4B70D7-093F-4F31-ADB7-B58D3527FF60}"/>
              </a:ext>
            </a:extLst>
          </p:cNvPr>
          <p:cNvSpPr/>
          <p:nvPr/>
        </p:nvSpPr>
        <p:spPr>
          <a:xfrm>
            <a:off x="401155" y="1562100"/>
            <a:ext cx="8419602" cy="501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3D9397B-6CEE-40C4-A975-1C6E303D0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83" y="2456205"/>
            <a:ext cx="3944073" cy="3715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5896670-D379-4871-A175-F77EA2FAA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944" y="3052623"/>
            <a:ext cx="4136901" cy="1862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C75E62FD-DE24-4DED-BF5D-C98DC007B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663" y="1640418"/>
            <a:ext cx="3771900" cy="7143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8994199-D808-4A32-8C5A-664C491D3C5B}"/>
              </a:ext>
            </a:extLst>
          </p:cNvPr>
          <p:cNvSpPr/>
          <p:nvPr/>
        </p:nvSpPr>
        <p:spPr>
          <a:xfrm>
            <a:off x="4732403" y="509977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無法表現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repeat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的情況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投影片編號版面配置區 3">
            <a:extLst>
              <a:ext uri="{FF2B5EF4-FFF2-40B4-BE49-F238E27FC236}">
                <a16:creationId xmlns:a16="http://schemas.microsoft.com/office/drawing/2014/main" id="{1BFD30F4-B56D-4703-9E3D-00D0514E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699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8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novo assembly(5/7)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7" y="1054387"/>
            <a:ext cx="77657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String graph: 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1.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刪除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duplicated or contained reads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2.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unmatched substrings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標註每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edge(Label)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92F43D9-1542-4BEC-BDB9-787C294245A2}"/>
                  </a:ext>
                </a:extLst>
              </p:cNvPr>
              <p:cNvSpPr/>
              <p:nvPr/>
            </p:nvSpPr>
            <p:spPr>
              <a:xfrm>
                <a:off x="521430" y="2730915"/>
                <a:ext cx="2595039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92F43D9-1542-4BEC-BDB9-787C294245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30" y="2730915"/>
                <a:ext cx="2595039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027D4B0-970D-4D15-B598-3C70D00C06E0}"/>
                  </a:ext>
                </a:extLst>
              </p:cNvPr>
              <p:cNvSpPr/>
              <p:nvPr/>
            </p:nvSpPr>
            <p:spPr>
              <a:xfrm>
                <a:off x="1402198" y="2492696"/>
                <a:ext cx="5860751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𝐴𝐶𝑇𝐶𝐶</m:t>
                      </m:r>
                      <m: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𝐺𝐴𝐺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027D4B0-970D-4D15-B598-3C70D00C06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198" y="2492696"/>
                <a:ext cx="5860751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E44B0BC1-6172-48F4-A975-8848BF179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23" y="3440916"/>
            <a:ext cx="2514600" cy="1419225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C406B74B-00D9-4325-A66F-F0801EFC3F28}"/>
              </a:ext>
            </a:extLst>
          </p:cNvPr>
          <p:cNvGrpSpPr/>
          <p:nvPr/>
        </p:nvGrpSpPr>
        <p:grpSpPr>
          <a:xfrm>
            <a:off x="4946470" y="2436401"/>
            <a:ext cx="2540180" cy="369332"/>
            <a:chOff x="4572000" y="2452025"/>
            <a:chExt cx="2540180" cy="369332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1B2B4B45-6D60-4D50-93BD-EA081516E0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2660299"/>
              <a:ext cx="521679" cy="12055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EE73A36-18CF-4E70-8344-B4FA4C351CD1}"/>
                </a:ext>
              </a:extLst>
            </p:cNvPr>
            <p:cNvSpPr/>
            <p:nvPr/>
          </p:nvSpPr>
          <p:spPr>
            <a:xfrm>
              <a:off x="5093679" y="2452025"/>
              <a:ext cx="20185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matched substrings 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561ADFF2-BD5D-48ED-B047-B4EDC24E819A}"/>
              </a:ext>
            </a:extLst>
          </p:cNvPr>
          <p:cNvGrpSpPr/>
          <p:nvPr/>
        </p:nvGrpSpPr>
        <p:grpSpPr>
          <a:xfrm>
            <a:off x="2122231" y="2849157"/>
            <a:ext cx="6037049" cy="808284"/>
            <a:chOff x="1027728" y="2889745"/>
            <a:chExt cx="6037049" cy="808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3D6C875-B30D-4FFD-AB13-C9EA89DFEC2D}"/>
                    </a:ext>
                  </a:extLst>
                </p:cNvPr>
                <p:cNvSpPr/>
                <p:nvPr/>
              </p:nvSpPr>
              <p:spPr>
                <a:xfrm>
                  <a:off x="1027728" y="2889745"/>
                  <a:ext cx="5860751" cy="5078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𝐺𝐴𝐺</m:t>
                        </m:r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𝐴𝐴𝑇𝐴𝐶</m:t>
                        </m:r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3D6C875-B30D-4FFD-AB13-C9EA89DFEC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728" y="2889745"/>
                  <a:ext cx="5860751" cy="5078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DC412D6E-8C8E-431B-86E1-E3485A763DFC}"/>
                </a:ext>
              </a:extLst>
            </p:cNvPr>
            <p:cNvGrpSpPr/>
            <p:nvPr/>
          </p:nvGrpSpPr>
          <p:grpSpPr>
            <a:xfrm>
              <a:off x="4545655" y="3263812"/>
              <a:ext cx="2519122" cy="434217"/>
              <a:chOff x="4545655" y="2862565"/>
              <a:chExt cx="2519122" cy="434217"/>
            </a:xfrm>
          </p:grpSpPr>
          <p:cxnSp>
            <p:nvCxnSpPr>
              <p:cNvPr id="18" name="直線單箭頭接點 17">
                <a:extLst>
                  <a:ext uri="{FF2B5EF4-FFF2-40B4-BE49-F238E27FC236}">
                    <a16:creationId xmlns:a16="http://schemas.microsoft.com/office/drawing/2014/main" id="{AC8292AD-AC11-44D6-B291-0E7D0A9E76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5655" y="2862565"/>
                <a:ext cx="305334" cy="167083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9D9A1B7-1377-4B96-8483-8A6C544C374F}"/>
                  </a:ext>
                </a:extLst>
              </p:cNvPr>
              <p:cNvSpPr/>
              <p:nvPr/>
            </p:nvSpPr>
            <p:spPr>
              <a:xfrm>
                <a:off x="4815443" y="2927450"/>
                <a:ext cx="22493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unmatched substrings </a:t>
                </a:r>
                <a:endParaRPr lang="zh-TW" altLang="en-US" dirty="0">
                  <a:solidFill>
                    <a:srgbClr val="0070C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0D5791F-06F7-4A27-A80E-E5AEC5AA1E52}"/>
                  </a:ext>
                </a:extLst>
              </p:cNvPr>
              <p:cNvSpPr/>
              <p:nvPr/>
            </p:nvSpPr>
            <p:spPr>
              <a:xfrm>
                <a:off x="3582469" y="3609554"/>
                <a:ext cx="4124617" cy="545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XY</m:t>
                    </m:r>
                    <m:r>
                      <m:rPr>
                        <m:nor/>
                      </m:rPr>
                      <a: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的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assembly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+(Y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剩餘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0D5791F-06F7-4A27-A80E-E5AEC5AA1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469" y="3609554"/>
                <a:ext cx="4124617" cy="545919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733A489-3F9C-4F23-93BD-64E8776A42AA}"/>
                  </a:ext>
                </a:extLst>
              </p:cNvPr>
              <p:cNvSpPr/>
              <p:nvPr/>
            </p:nvSpPr>
            <p:spPr>
              <a:xfrm>
                <a:off x="3745133" y="4182758"/>
                <a:ext cx="2226704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𝐴𝐶𝑇𝐶𝐶</m:t>
                      </m:r>
                      <m:r>
                        <a:rPr lang="en-US" altLang="zh-TW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𝐺𝐴𝐺</m:t>
                      </m:r>
                      <m:r>
                        <a:rPr lang="en-US" altLang="zh-TW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𝐴𝐴𝑇𝐴𝐶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733A489-3F9C-4F23-93BD-64E8776A4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133" y="4182758"/>
                <a:ext cx="2226704" cy="5078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B219C32C-C136-4ED1-BEB2-43867C312829}"/>
              </a:ext>
            </a:extLst>
          </p:cNvPr>
          <p:cNvGrpSpPr/>
          <p:nvPr/>
        </p:nvGrpSpPr>
        <p:grpSpPr>
          <a:xfrm>
            <a:off x="6107778" y="4107393"/>
            <a:ext cx="1722370" cy="738664"/>
            <a:chOff x="5023928" y="4674419"/>
            <a:chExt cx="1722370" cy="73866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432C28E-64EE-4583-A268-7BA402DC4C90}"/>
                </a:ext>
              </a:extLst>
            </p:cNvPr>
            <p:cNvSpPr/>
            <p:nvPr/>
          </p:nvSpPr>
          <p:spPr>
            <a:xfrm>
              <a:off x="5797897" y="5043751"/>
              <a:ext cx="9484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/>
                <a:t>PS-edge</a:t>
              </a:r>
              <a:endParaRPr lang="zh-TW" altLang="en-US" b="1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7864B3C-044D-4B36-B36B-8299071D4630}"/>
                </a:ext>
              </a:extLst>
            </p:cNvPr>
            <p:cNvSpPr/>
            <p:nvPr/>
          </p:nvSpPr>
          <p:spPr>
            <a:xfrm>
              <a:off x="5797897" y="4674419"/>
              <a:ext cx="9393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/>
                <a:t>SP-edge</a:t>
              </a:r>
              <a:endParaRPr lang="zh-TW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0EB4EF05-32D0-413E-BF48-1E86CF937F31}"/>
                    </a:ext>
                  </a:extLst>
                </p:cNvPr>
                <p:cNvSpPr/>
                <p:nvPr/>
              </p:nvSpPr>
              <p:spPr>
                <a:xfrm>
                  <a:off x="5023928" y="4705197"/>
                  <a:ext cx="77175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b="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0EB4EF05-32D0-413E-BF48-1E86CF937F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3928" y="4705197"/>
                  <a:ext cx="77175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A2BA7AC-990B-4C23-B595-E5F21664CB44}"/>
                    </a:ext>
                  </a:extLst>
                </p:cNvPr>
                <p:cNvSpPr/>
                <p:nvPr/>
              </p:nvSpPr>
              <p:spPr>
                <a:xfrm>
                  <a:off x="5023928" y="5059140"/>
                  <a:ext cx="77175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A2BA7AC-990B-4C23-B595-E5F21664CB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3928" y="5059140"/>
                  <a:ext cx="77175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D63E5956-415D-4DE5-9AEB-B97C872FA56A}"/>
              </a:ext>
            </a:extLst>
          </p:cNvPr>
          <p:cNvSpPr/>
          <p:nvPr/>
        </p:nvSpPr>
        <p:spPr>
          <a:xfrm>
            <a:off x="6152147" y="4138171"/>
            <a:ext cx="1678001" cy="69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D78BECE-8FAF-4CB7-B9DD-E98DC92E17BF}"/>
                  </a:ext>
                </a:extLst>
              </p:cNvPr>
              <p:cNvSpPr/>
              <p:nvPr/>
            </p:nvSpPr>
            <p:spPr>
              <a:xfrm>
                <a:off x="3345994" y="2575511"/>
                <a:ext cx="4532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D78BECE-8FAF-4CB7-B9DD-E98DC92E1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94" y="2575511"/>
                <a:ext cx="4532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9C221B9-9F6D-4182-BD88-A7C56454EA33}"/>
                  </a:ext>
                </a:extLst>
              </p:cNvPr>
              <p:cNvSpPr/>
              <p:nvPr/>
            </p:nvSpPr>
            <p:spPr>
              <a:xfrm>
                <a:off x="3345994" y="2932312"/>
                <a:ext cx="4435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9C221B9-9F6D-4182-BD88-A7C56454EA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94" y="2932312"/>
                <a:ext cx="44358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投影片編號版面配置區 3">
            <a:extLst>
              <a:ext uri="{FF2B5EF4-FFF2-40B4-BE49-F238E27FC236}">
                <a16:creationId xmlns:a16="http://schemas.microsoft.com/office/drawing/2014/main" id="{E9A0BB9D-65E6-41A2-BDDF-A5A2C16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9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9F4376F2-B13B-4A75-9AAA-9DBE049AC128}"/>
                  </a:ext>
                </a:extLst>
              </p:cNvPr>
              <p:cNvSpPr/>
              <p:nvPr/>
            </p:nvSpPr>
            <p:spPr>
              <a:xfrm>
                <a:off x="1050917" y="5165152"/>
                <a:ext cx="5331281" cy="10575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假設走訪路徑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↔…↔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可以寫出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label sequence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F4376F2-B13B-4A75-9AAA-9DBE049AC1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917" y="5165152"/>
                <a:ext cx="5331281" cy="1057597"/>
              </a:xfrm>
              <a:prstGeom prst="rect">
                <a:avLst/>
              </a:prstGeom>
              <a:blipFill rotWithShape="0">
                <a:blip r:embed="rId12"/>
                <a:stretch>
                  <a:fillRect l="-1143" b="-2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969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21" grpId="0"/>
      <p:bldP spid="23" grpId="0"/>
      <p:bldP spid="29" grpId="0" animBg="1"/>
      <p:bldP spid="30" grpId="0"/>
      <p:bldP spid="31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novo assembly(6/7)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6B4C5BA-5BBA-420F-B890-699D599869F8}"/>
                  </a:ext>
                </a:extLst>
              </p:cNvPr>
              <p:cNvSpPr/>
              <p:nvPr/>
            </p:nvSpPr>
            <p:spPr>
              <a:xfrm>
                <a:off x="592877" y="1054387"/>
                <a:ext cx="7765779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String graph: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4.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假定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同時與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Y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Z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重疊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且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Z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也彼此重疊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overlap graph:</a:t>
                </a:r>
                <a:r>
                  <a:rPr lang="zh-TW" alt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endPara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若走訪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US" altLang="zh-TW" sz="200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Z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可以寫出相同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sequence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稱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作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Transitive edge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，可以刪除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B4C5BA-5BBA-420F-B890-699D59986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77" y="1054387"/>
                <a:ext cx="7765779" cy="2400657"/>
              </a:xfrm>
              <a:prstGeom prst="rect">
                <a:avLst/>
              </a:prstGeom>
              <a:blipFill rotWithShape="0">
                <a:blip r:embed="rId3"/>
                <a:stretch>
                  <a:fillRect l="-706" b="-12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投影片編號版面配置區 3">
            <a:extLst>
              <a:ext uri="{FF2B5EF4-FFF2-40B4-BE49-F238E27FC236}">
                <a16:creationId xmlns:a16="http://schemas.microsoft.com/office/drawing/2014/main" id="{E9A0BB9D-65E6-41A2-BDDF-A5A2C16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10</a:t>
            </a:fld>
            <a:endParaRPr lang="zh-TW" altLang="en-US" dirty="0"/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3ED4670C-2591-40EA-8165-F33FDE37A68B}"/>
              </a:ext>
            </a:extLst>
          </p:cNvPr>
          <p:cNvGrpSpPr/>
          <p:nvPr/>
        </p:nvGrpSpPr>
        <p:grpSpPr>
          <a:xfrm>
            <a:off x="1503954" y="4092345"/>
            <a:ext cx="6605978" cy="1632434"/>
            <a:chOff x="1503954" y="4092345"/>
            <a:chExt cx="6605978" cy="1632434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2D7EF100-3A3B-4870-9255-E2AF801395B4}"/>
                </a:ext>
              </a:extLst>
            </p:cNvPr>
            <p:cNvSpPr txBox="1"/>
            <p:nvPr/>
          </p:nvSpPr>
          <p:spPr>
            <a:xfrm>
              <a:off x="2247790" y="4305533"/>
              <a:ext cx="1336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GGTCCAG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EDE33354-472A-4A4A-9865-983833418AD4}"/>
                </a:ext>
              </a:extLst>
            </p:cNvPr>
            <p:cNvSpPr txBox="1"/>
            <p:nvPr/>
          </p:nvSpPr>
          <p:spPr>
            <a:xfrm>
              <a:off x="2559926" y="4674865"/>
              <a:ext cx="1358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TCCAGAT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E6039592-ECC0-467B-8A3D-496617058565}"/>
                </a:ext>
              </a:extLst>
            </p:cNvPr>
            <p:cNvSpPr txBox="1"/>
            <p:nvPr/>
          </p:nvSpPr>
          <p:spPr>
            <a:xfrm>
              <a:off x="3073355" y="5046814"/>
              <a:ext cx="1303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AGATTAG</a:t>
              </a:r>
              <a:endParaRPr lang="zh-TW" altLang="en-US" dirty="0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4BF9A166-943E-493C-A91A-D0B79F912512}"/>
                </a:ext>
              </a:extLst>
            </p:cNvPr>
            <p:cNvSpPr txBox="1"/>
            <p:nvPr/>
          </p:nvSpPr>
          <p:spPr>
            <a:xfrm>
              <a:off x="1503954" y="4305533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X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FE5033B1-8384-4A1F-9D33-F40512B00AAE}"/>
                </a:ext>
              </a:extLst>
            </p:cNvPr>
            <p:cNvSpPr txBox="1"/>
            <p:nvPr/>
          </p:nvSpPr>
          <p:spPr>
            <a:xfrm>
              <a:off x="1503954" y="468020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Y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9992D3BB-EFA6-432B-8A2A-3E1C18C83AA3}"/>
                </a:ext>
              </a:extLst>
            </p:cNvPr>
            <p:cNvSpPr txBox="1"/>
            <p:nvPr/>
          </p:nvSpPr>
          <p:spPr>
            <a:xfrm>
              <a:off x="1503954" y="5041182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Z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9F20B577-19DE-446B-85FA-811CFCD18317}"/>
                </a:ext>
              </a:extLst>
            </p:cNvPr>
            <p:cNvSpPr/>
            <p:nvPr/>
          </p:nvSpPr>
          <p:spPr>
            <a:xfrm>
              <a:off x="4818625" y="5121117"/>
              <a:ext cx="477078" cy="47707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Bell MT" panose="02020503060305020303" pitchFamily="18" charset="0"/>
                  <a:cs typeface="Times New Roman" panose="02020603050405020304" pitchFamily="18" charset="0"/>
                </a:rPr>
                <a:t>X</a:t>
              </a:r>
              <a:endParaRPr lang="zh-TW" altLang="en-US" dirty="0">
                <a:solidFill>
                  <a:sysClr val="windowText" lastClr="000000"/>
                </a:solidFill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A7D86A7F-FD7B-4545-AEBC-48E599FF99C4}"/>
                </a:ext>
              </a:extLst>
            </p:cNvPr>
            <p:cNvSpPr/>
            <p:nvPr/>
          </p:nvSpPr>
          <p:spPr>
            <a:xfrm>
              <a:off x="5869605" y="4092345"/>
              <a:ext cx="477078" cy="47621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Bell MT" panose="02020503060305020303" pitchFamily="18" charset="0"/>
                  <a:cs typeface="Times New Roman" panose="02020603050405020304" pitchFamily="18" charset="0"/>
                </a:rPr>
                <a:t>Y</a:t>
              </a:r>
              <a:endParaRPr lang="zh-TW" altLang="en-US" dirty="0">
                <a:solidFill>
                  <a:sysClr val="windowText" lastClr="000000"/>
                </a:solidFill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A4B46F60-6B60-4831-9AF1-EE654BE04EB7}"/>
                </a:ext>
              </a:extLst>
            </p:cNvPr>
            <p:cNvCxnSpPr>
              <a:stCxn id="39" idx="3"/>
              <a:endCxn id="3" idx="7"/>
            </p:cNvCxnSpPr>
            <p:nvPr/>
          </p:nvCxnSpPr>
          <p:spPr>
            <a:xfrm flipH="1">
              <a:off x="5225837" y="4498820"/>
              <a:ext cx="713634" cy="69216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9EF63C6B-66FE-4138-B216-403DC02AAF5D}"/>
                </a:ext>
              </a:extLst>
            </p:cNvPr>
            <p:cNvSpPr txBox="1"/>
            <p:nvPr/>
          </p:nvSpPr>
          <p:spPr>
            <a:xfrm rot="18900003">
              <a:off x="5279720" y="4561992"/>
              <a:ext cx="492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AT</a:t>
              </a:r>
              <a:endParaRPr lang="zh-TW" altLang="en-US" dirty="0"/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57C3EE02-0546-4ADC-B7AF-DC7FB61DCF83}"/>
                </a:ext>
              </a:extLst>
            </p:cNvPr>
            <p:cNvSpPr/>
            <p:nvPr/>
          </p:nvSpPr>
          <p:spPr>
            <a:xfrm>
              <a:off x="6876878" y="5121117"/>
              <a:ext cx="477078" cy="47707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Bell MT" panose="02020503060305020303" pitchFamily="18" charset="0"/>
                  <a:cs typeface="Times New Roman" panose="02020603050405020304" pitchFamily="18" charset="0"/>
                </a:rPr>
                <a:t>Z</a:t>
              </a:r>
              <a:endParaRPr lang="zh-TW" altLang="en-US" dirty="0">
                <a:solidFill>
                  <a:sysClr val="windowText" lastClr="000000"/>
                </a:solidFill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BD6540DC-FDAB-406A-B4E8-4D318F25A1C9}"/>
                </a:ext>
              </a:extLst>
            </p:cNvPr>
            <p:cNvCxnSpPr>
              <a:cxnSpLocks/>
              <a:stCxn id="3" idx="6"/>
              <a:endCxn id="42" idx="2"/>
            </p:cNvCxnSpPr>
            <p:nvPr/>
          </p:nvCxnSpPr>
          <p:spPr>
            <a:xfrm>
              <a:off x="5295703" y="5359656"/>
              <a:ext cx="158117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572E6FE1-B499-4122-A4DE-11A1CC9F2719}"/>
                </a:ext>
              </a:extLst>
            </p:cNvPr>
            <p:cNvCxnSpPr>
              <a:cxnSpLocks/>
              <a:stCxn id="39" idx="5"/>
              <a:endCxn id="42" idx="1"/>
            </p:cNvCxnSpPr>
            <p:nvPr/>
          </p:nvCxnSpPr>
          <p:spPr>
            <a:xfrm>
              <a:off x="6276817" y="4498820"/>
              <a:ext cx="669927" cy="69216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B9F56A44-1F24-42FA-956F-8133E23B12C9}"/>
                </a:ext>
              </a:extLst>
            </p:cNvPr>
            <p:cNvSpPr txBox="1"/>
            <p:nvPr/>
          </p:nvSpPr>
          <p:spPr>
            <a:xfrm>
              <a:off x="5638693" y="5069777"/>
              <a:ext cx="9730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pPr algn="ctr"/>
              <a:r>
                <a:rPr lang="en-US" altLang="zh-TW" dirty="0"/>
                <a:t>ATTAG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1E5C3C7B-AA73-4767-ADFF-7275C086DFD4}"/>
                </a:ext>
              </a:extLst>
            </p:cNvPr>
            <p:cNvSpPr txBox="1"/>
            <p:nvPr/>
          </p:nvSpPr>
          <p:spPr>
            <a:xfrm>
              <a:off x="5597918" y="5355447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GGTCC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2957A70A-1B84-48F3-826E-E4BC66788227}"/>
                </a:ext>
              </a:extLst>
            </p:cNvPr>
            <p:cNvSpPr txBox="1"/>
            <p:nvPr/>
          </p:nvSpPr>
          <p:spPr>
            <a:xfrm rot="18900003">
              <a:off x="5432648" y="4717967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GG</a:t>
              </a:r>
              <a:endParaRPr lang="zh-TW" altLang="en-US" dirty="0"/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3B94CB79-662A-4588-8ECE-FA440FE4046E}"/>
                </a:ext>
              </a:extLst>
            </p:cNvPr>
            <p:cNvSpPr txBox="1"/>
            <p:nvPr/>
          </p:nvSpPr>
          <p:spPr>
            <a:xfrm rot="2823473">
              <a:off x="6347033" y="4590459"/>
              <a:ext cx="665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TAG</a:t>
              </a:r>
              <a:endParaRPr lang="zh-TW" altLang="en-US" dirty="0"/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21114039-4557-4CE5-B39E-1EEEEB95E638}"/>
                </a:ext>
              </a:extLst>
            </p:cNvPr>
            <p:cNvSpPr txBox="1"/>
            <p:nvPr/>
          </p:nvSpPr>
          <p:spPr>
            <a:xfrm rot="2823473">
              <a:off x="6161634" y="4730012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TCC</a:t>
              </a:r>
              <a:endParaRPr lang="zh-TW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28EC310-C25C-44EE-ACBF-254530782FE0}"/>
                </a:ext>
              </a:extLst>
            </p:cNvPr>
            <p:cNvSpPr/>
            <p:nvPr/>
          </p:nvSpPr>
          <p:spPr>
            <a:xfrm>
              <a:off x="6597980" y="4110917"/>
              <a:ext cx="15119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Overlap graph</a:t>
              </a:r>
              <a:endParaRPr lang="zh-TW" altLang="en-US" dirty="0"/>
            </a:p>
          </p:txBody>
        </p:sp>
      </p:grpSp>
      <p:sp>
        <p:nvSpPr>
          <p:cNvPr id="64" name="矩形 63">
            <a:extLst>
              <a:ext uri="{FF2B5EF4-FFF2-40B4-BE49-F238E27FC236}">
                <a16:creationId xmlns:a16="http://schemas.microsoft.com/office/drawing/2014/main" id="{1E98295F-2352-42E4-9D93-B680761C232F}"/>
              </a:ext>
            </a:extLst>
          </p:cNvPr>
          <p:cNvSpPr/>
          <p:nvPr/>
        </p:nvSpPr>
        <p:spPr>
          <a:xfrm>
            <a:off x="6597980" y="5720568"/>
            <a:ext cx="1332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String graph</a:t>
            </a:r>
            <a:endParaRPr lang="zh-TW" altLang="en-US" dirty="0">
              <a:solidFill>
                <a:srgbClr val="7030A0"/>
              </a:solidFill>
            </a:endParaRPr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E2EECF61-E3EF-4CB2-B048-30AEDF277742}"/>
              </a:ext>
            </a:extLst>
          </p:cNvPr>
          <p:cNvCxnSpPr>
            <a:stCxn id="60" idx="2"/>
          </p:cNvCxnSpPr>
          <p:nvPr/>
        </p:nvCxnSpPr>
        <p:spPr>
          <a:xfrm>
            <a:off x="5833493" y="5033211"/>
            <a:ext cx="652909" cy="6873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BC60AEB9-4750-4AFF-86E4-267F2700C781}"/>
              </a:ext>
            </a:extLst>
          </p:cNvPr>
          <p:cNvCxnSpPr>
            <a:cxnSpLocks/>
            <a:stCxn id="62" idx="2"/>
          </p:cNvCxnSpPr>
          <p:nvPr/>
        </p:nvCxnSpPr>
        <p:spPr>
          <a:xfrm flipH="1">
            <a:off x="5779830" y="5040484"/>
            <a:ext cx="571390" cy="6921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/>
              <p:nvPr/>
            </p:nvSpPr>
            <p:spPr>
              <a:xfrm>
                <a:off x="1503954" y="3440765"/>
                <a:ext cx="305102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string graph:</a:t>
                </a:r>
                <a:r>
                  <a:rPr lang="zh-TW" altLang="en-US" sz="20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54" y="3440765"/>
                <a:ext cx="3051028" cy="400110"/>
              </a:xfrm>
              <a:prstGeom prst="rect">
                <a:avLst/>
              </a:prstGeom>
              <a:blipFill>
                <a:blip r:embed="rId4"/>
                <a:stretch>
                  <a:fillRect l="-2200" t="-909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17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6B4C5BA-5BBA-420F-B890-699D599869F8}"/>
                  </a:ext>
                </a:extLst>
              </p:cNvPr>
              <p:cNvSpPr/>
              <p:nvPr/>
            </p:nvSpPr>
            <p:spPr>
              <a:xfrm>
                <a:off x="1218403" y="1940814"/>
                <a:ext cx="6030504" cy="38219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Z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</a:rPr>
                  <a:t>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label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相同</a:t>
                </a: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是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𝑥𝑧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en-US" altLang="zh-TW" sz="2000" i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prefix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Z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matched substring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是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substring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overlap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會比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Z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的長</a:t>
                </a: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B4C5BA-5BBA-420F-B890-699D59986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403" y="1940814"/>
                <a:ext cx="6030504" cy="3821944"/>
              </a:xfrm>
              <a:prstGeom prst="rect">
                <a:avLst/>
              </a:prstGeom>
              <a:blipFill rotWithShape="0">
                <a:blip r:embed="rId3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4272735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novo assembly(7/7)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592877" y="1054387"/>
            <a:ext cx="21096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String graph: </a:t>
            </a:r>
          </a:p>
          <a:p>
            <a:pPr>
              <a:lnSpc>
                <a:spcPct val="150000"/>
              </a:lnSpc>
            </a:pP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5. 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特性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33" name="投影片編號版面配置區 3">
            <a:extLst>
              <a:ext uri="{FF2B5EF4-FFF2-40B4-BE49-F238E27FC236}">
                <a16:creationId xmlns:a16="http://schemas.microsoft.com/office/drawing/2014/main" id="{E9A0BB9D-65E6-41A2-BDDF-A5A2C16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FD6D248-ADA8-4C9D-962E-5F7D00F8299A}"/>
              </a:ext>
            </a:extLst>
          </p:cNvPr>
          <p:cNvSpPr/>
          <p:nvPr/>
        </p:nvSpPr>
        <p:spPr>
          <a:xfrm>
            <a:off x="1576706" y="2546671"/>
            <a:ext cx="22517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>
                <a:solidFill>
                  <a:srgbClr val="7030A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GGTCCAGATTAG</a:t>
            </a:r>
            <a:endParaRPr lang="zh-TW" altLang="en-US" sz="2000" dirty="0"/>
          </a:p>
        </p:txBody>
      </p:sp>
      <p:grpSp>
        <p:nvGrpSpPr>
          <p:cNvPr id="2" name="群組 1"/>
          <p:cNvGrpSpPr/>
          <p:nvPr/>
        </p:nvGrpSpPr>
        <p:grpSpPr>
          <a:xfrm>
            <a:off x="5169000" y="672463"/>
            <a:ext cx="2873156" cy="1110613"/>
            <a:chOff x="1669224" y="4475941"/>
            <a:chExt cx="2873156" cy="1110613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D7EF100-3A3B-4870-9255-E2AF801395B4}"/>
                </a:ext>
              </a:extLst>
            </p:cNvPr>
            <p:cNvSpPr txBox="1"/>
            <p:nvPr/>
          </p:nvSpPr>
          <p:spPr>
            <a:xfrm>
              <a:off x="2413060" y="4475941"/>
              <a:ext cx="1336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GGTCCAG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EDE33354-472A-4A4A-9865-983833418AD4}"/>
                </a:ext>
              </a:extLst>
            </p:cNvPr>
            <p:cNvSpPr txBox="1"/>
            <p:nvPr/>
          </p:nvSpPr>
          <p:spPr>
            <a:xfrm>
              <a:off x="2725196" y="4845273"/>
              <a:ext cx="1358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TCCAGAT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E6039592-ECC0-467B-8A3D-496617058565}"/>
                </a:ext>
              </a:extLst>
            </p:cNvPr>
            <p:cNvSpPr txBox="1"/>
            <p:nvPr/>
          </p:nvSpPr>
          <p:spPr>
            <a:xfrm>
              <a:off x="3238625" y="5217222"/>
              <a:ext cx="1303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latin typeface="Bell MT" panose="02020503060305020303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TW" dirty="0"/>
                <a:t>AGATTAG</a:t>
              </a:r>
              <a:endParaRPr lang="zh-TW" altLang="en-US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4BF9A166-943E-493C-A91A-D0B79F912512}"/>
                </a:ext>
              </a:extLst>
            </p:cNvPr>
            <p:cNvSpPr txBox="1"/>
            <p:nvPr/>
          </p:nvSpPr>
          <p:spPr>
            <a:xfrm>
              <a:off x="1669224" y="4475941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X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FE5033B1-8384-4A1F-9D33-F40512B00AAE}"/>
                </a:ext>
              </a:extLst>
            </p:cNvPr>
            <p:cNvSpPr txBox="1"/>
            <p:nvPr/>
          </p:nvSpPr>
          <p:spPr>
            <a:xfrm>
              <a:off x="1669224" y="4850613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Y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9992D3BB-EFA6-432B-8A2A-3E1C18C83AA3}"/>
                </a:ext>
              </a:extLst>
            </p:cNvPr>
            <p:cNvSpPr txBox="1"/>
            <p:nvPr/>
          </p:nvSpPr>
          <p:spPr>
            <a:xfrm>
              <a:off x="1669224" y="5211590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Bell MT" panose="02020503060305020303" pitchFamily="18" charset="0"/>
                  <a:cs typeface="Times New Roman" panose="02020603050405020304" pitchFamily="18" charset="0"/>
                </a:rPr>
                <a:t>Z</a:t>
              </a:r>
              <a:endParaRPr lang="zh-TW" altLang="en-US" dirty="0">
                <a:latin typeface="Bell MT" panose="02020503060305020303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/>
              <p:nvPr/>
            </p:nvSpPr>
            <p:spPr>
              <a:xfrm>
                <a:off x="1576706" y="3418142"/>
                <a:ext cx="1000467" cy="4242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altLang="zh-TW" sz="200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AT</a:t>
                </a:r>
                <a:endParaRPr lang="zh-TW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D6D248-ADA8-4C9D-962E-5F7D00F82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706" y="3418142"/>
                <a:ext cx="1000467" cy="424283"/>
              </a:xfrm>
              <a:prstGeom prst="rect">
                <a:avLst/>
              </a:prstGeom>
              <a:blipFill rotWithShape="0">
                <a:blip r:embed="rId4"/>
                <a:stretch>
                  <a:fillRect t="-8696" r="-5488" b="-20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/>
              <p:nvPr/>
            </p:nvSpPr>
            <p:spPr>
              <a:xfrm>
                <a:off x="3202699" y="3430228"/>
                <a:ext cx="148925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𝑥𝑧</m:t>
                        </m:r>
                      </m:sub>
                    </m:sSub>
                  </m:oMath>
                </a14:m>
                <a:r>
                  <a:rPr lang="en-US" altLang="zh-TW" sz="200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ATTAG</a:t>
                </a:r>
                <a:endParaRPr lang="zh-TW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D6D248-ADA8-4C9D-962E-5F7D00F82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699" y="3430228"/>
                <a:ext cx="1489254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10769" r="-3673" b="-26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/>
              <p:nvPr/>
            </p:nvSpPr>
            <p:spPr>
              <a:xfrm>
                <a:off x="1576706" y="4328742"/>
                <a:ext cx="168065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𝑚𝑎𝑡𝑐h𝑒𝑑</m:t>
                    </m:r>
                  </m:oMath>
                </a14:m>
                <a:r>
                  <a:rPr lang="en-US" altLang="zh-TW" sz="200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AG</a:t>
                </a:r>
                <a:endParaRPr lang="zh-TW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D6D248-ADA8-4C9D-962E-5F7D00F82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706" y="4328742"/>
                <a:ext cx="1680653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9091" r="-2909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/>
              <p:nvPr/>
            </p:nvSpPr>
            <p:spPr>
              <a:xfrm>
                <a:off x="3572479" y="4328742"/>
                <a:ext cx="166154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00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TCCAGAT</a:t>
                </a:r>
                <a:endParaRPr lang="zh-TW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D6D248-ADA8-4C9D-962E-5F7D00F82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479" y="4328742"/>
                <a:ext cx="1661545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9091" r="-2930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/>
              <p:nvPr/>
            </p:nvSpPr>
            <p:spPr>
              <a:xfrm>
                <a:off x="1576706" y="5236071"/>
                <a:ext cx="16937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r>
                  <a:rPr lang="en-US" altLang="zh-TW" sz="200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&amp;Y: TCCAG</a:t>
                </a:r>
                <a:endParaRPr lang="zh-TW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D6D248-ADA8-4C9D-962E-5F7D00F82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706" y="5236071"/>
                <a:ext cx="1693797" cy="400110"/>
              </a:xfrm>
              <a:prstGeom prst="rect">
                <a:avLst/>
              </a:prstGeom>
              <a:blipFill rotWithShape="0">
                <a:blip r:embed="rId8"/>
                <a:stretch>
                  <a:fillRect t="-10606" r="-3249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FD6D248-ADA8-4C9D-962E-5F7D00F8299A}"/>
                  </a:ext>
                </a:extLst>
              </p:cNvPr>
              <p:cNvSpPr/>
              <p:nvPr/>
            </p:nvSpPr>
            <p:spPr>
              <a:xfrm>
                <a:off x="3565907" y="5236071"/>
                <a:ext cx="11787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r>
                  <a:rPr lang="en-US" altLang="zh-TW" sz="2000">
                    <a:solidFill>
                      <a:srgbClr val="7030A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&amp;Z: AG</a:t>
                </a:r>
                <a:endParaRPr lang="zh-TW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D6D248-ADA8-4C9D-962E-5F7D00F82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5907" y="5236071"/>
                <a:ext cx="1178784" cy="400110"/>
              </a:xfrm>
              <a:prstGeom prst="rect">
                <a:avLst/>
              </a:prstGeom>
              <a:blipFill rotWithShape="0">
                <a:blip r:embed="rId9"/>
                <a:stretch>
                  <a:fillRect t="-10606" r="-4145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801368" y="5767415"/>
            <a:ext cx="778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overlap graph</a:t>
            </a:r>
            <a:r>
              <a:rPr lang="zh-TW" altLang="en-US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→ </a:t>
            </a:r>
            <a:r>
              <a:rPr lang="en-US" altLang="zh-TW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remove duplicated or contained </a:t>
            </a:r>
            <a:r>
              <a:rPr lang="zh-TW" altLang="en-US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 </a:t>
            </a:r>
            <a:r>
              <a:rPr lang="en-US" altLang="zh-TW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remove transitive edge  </a:t>
            </a:r>
            <a:endParaRPr lang="zh-TW" altLang="en-US" b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3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47" grpId="0"/>
      <p:bldP spid="49" grpId="0"/>
      <p:bldP spid="50" grpId="0"/>
      <p:bldP spid="52" grpId="0"/>
      <p:bldP spid="53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AFE-569F-43E7-9A55-B626610B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2790AFBB-E19E-4279-80D6-E73184671335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Burrows-Wheeler transform(BWT)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830468-D7C6-4270-BFCB-F128ECB4D495}"/>
              </a:ext>
            </a:extLst>
          </p:cNvPr>
          <p:cNvSpPr/>
          <p:nvPr/>
        </p:nvSpPr>
        <p:spPr>
          <a:xfrm>
            <a:off x="532272" y="1069876"/>
            <a:ext cx="8079456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called</a:t>
            </a:r>
            <a:r>
              <a:rPr lang="zh-TW" altLang="en-US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block-sorting compression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Rearranging</a:t>
            </a: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 character string into runs of similar characters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compress a string that has runs of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characters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altLang="zh-TW" sz="2400" dirty="0">
                <a:solidFill>
                  <a:srgbClr val="222222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banana</a:t>
            </a:r>
            <a:endParaRPr lang="zh-TW" altLang="en-US" sz="2400" dirty="0">
              <a:solidFill>
                <a:srgbClr val="222222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E8C3FD1-7FD3-4D90-9F0D-C5CDAB3C2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905817"/>
            <a:ext cx="1422400" cy="224676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$ b a n a n a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 $ b a n a n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n a $ b a n a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 n a $ b a n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n a n a $ b a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a n a n a $ b</a:t>
            </a:r>
            <a:b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</a:b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 a n a n a $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BDDE08F-8E0E-4E34-B716-2545A3504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528" y="3905817"/>
            <a:ext cx="1607472" cy="224676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a n a n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 b a n a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a $ b a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a n a $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n a n a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$ b a n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TW" altLang="zh-TW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n a $ b </a:t>
            </a:r>
            <a:r>
              <a:rPr lang="zh-TW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575583-E49E-459E-9F8B-D84401922340}"/>
              </a:ext>
            </a:extLst>
          </p:cNvPr>
          <p:cNvSpPr/>
          <p:nvPr/>
        </p:nvSpPr>
        <p:spPr>
          <a:xfrm>
            <a:off x="2655431" y="4659869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Sort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73CD8C-45CB-413F-A18E-AAF057FAC8EE}"/>
              </a:ext>
            </a:extLst>
          </p:cNvPr>
          <p:cNvCxnSpPr/>
          <p:nvPr/>
        </p:nvCxnSpPr>
        <p:spPr>
          <a:xfrm>
            <a:off x="2434764" y="5029201"/>
            <a:ext cx="1193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1457553-E447-4B43-B0E5-B9217BC344A9}"/>
              </a:ext>
            </a:extLst>
          </p:cNvPr>
          <p:cNvSpPr/>
          <p:nvPr/>
        </p:nvSpPr>
        <p:spPr>
          <a:xfrm>
            <a:off x="5558222" y="4659869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altLang="zh-TW" dirty="0">
                <a:solidFill>
                  <a:srgbClr val="0B0080"/>
                </a:solidFill>
                <a:latin typeface="Arial" panose="020B0604020202020204" pitchFamily="34" charset="0"/>
              </a:rPr>
              <a:t>Output</a:t>
            </a:r>
            <a:endParaRPr lang="zh-TW" altLang="en-US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5437609-A3B9-4563-AE63-0FB88E1F2A4F}"/>
              </a:ext>
            </a:extLst>
          </p:cNvPr>
          <p:cNvCxnSpPr/>
          <p:nvPr/>
        </p:nvCxnSpPr>
        <p:spPr>
          <a:xfrm>
            <a:off x="5431964" y="5029201"/>
            <a:ext cx="1193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DFD6E4B-B886-4263-8342-C28BECF39DB0}"/>
              </a:ext>
            </a:extLst>
          </p:cNvPr>
          <p:cNvSpPr/>
          <p:nvPr/>
        </p:nvSpPr>
        <p:spPr>
          <a:xfrm>
            <a:off x="6979752" y="4751714"/>
            <a:ext cx="1378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annb$aa</a:t>
            </a:r>
            <a:endParaRPr lang="zh-TW" alt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92B007-8447-464D-BAD2-77E2F876BFDA}"/>
              </a:ext>
            </a:extLst>
          </p:cNvPr>
          <p:cNvSpPr/>
          <p:nvPr/>
        </p:nvSpPr>
        <p:spPr>
          <a:xfrm>
            <a:off x="6257693" y="798037"/>
            <a:ext cx="12618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2060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FM-index</a:t>
            </a:r>
            <a:endParaRPr lang="zh-TW" altLang="en-US" sz="2000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055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Notion of Sequence Assembly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8E91440-0745-43C0-8C49-499E2DD12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68" y="1310259"/>
            <a:ext cx="722947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73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CCB9AC2-57A8-4168-AB78-CD341307F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31" y="1564258"/>
            <a:ext cx="5722026" cy="44820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B41E603-6303-485D-8F63-944D8B5BD287}"/>
              </a:ext>
            </a:extLst>
          </p:cNvPr>
          <p:cNvSpPr/>
          <p:nvPr/>
        </p:nvSpPr>
        <p:spPr>
          <a:xfrm>
            <a:off x="2865899" y="5974319"/>
            <a:ext cx="2351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pipeline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4C5BA-5BBA-420F-B890-699D599869F8}"/>
              </a:ext>
            </a:extLst>
          </p:cNvPr>
          <p:cNvSpPr/>
          <p:nvPr/>
        </p:nvSpPr>
        <p:spPr>
          <a:xfrm>
            <a:off x="2685472" y="811060"/>
            <a:ext cx="54988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correction </a:t>
            </a:r>
            <a:r>
              <a: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 assembly </a:t>
            </a:r>
            <a:r>
              <a: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Scaffolding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58D5CC-40F9-4BCC-8FC8-CEE233DDF0EA}"/>
              </a:ext>
            </a:extLst>
          </p:cNvPr>
          <p:cNvSpPr/>
          <p:nvPr/>
        </p:nvSpPr>
        <p:spPr>
          <a:xfrm>
            <a:off x="2435914" y="1470141"/>
            <a:ext cx="12089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FM-index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80C4EF-999E-4F0C-ADA0-837879F0E510}"/>
              </a:ext>
            </a:extLst>
          </p:cNvPr>
          <p:cNvSpPr/>
          <p:nvPr/>
        </p:nvSpPr>
        <p:spPr>
          <a:xfrm>
            <a:off x="1945615" y="2435278"/>
            <a:ext cx="18667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Correction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CAB197-4B4B-43A4-9223-AD719F1E09AA}"/>
              </a:ext>
            </a:extLst>
          </p:cNvPr>
          <p:cNvSpPr/>
          <p:nvPr/>
        </p:nvSpPr>
        <p:spPr>
          <a:xfrm>
            <a:off x="4008906" y="3381246"/>
            <a:ext cx="43236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and low-quality reads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F408EF-FB37-42E0-945A-598BCA3AF915}"/>
              </a:ext>
            </a:extLst>
          </p:cNvPr>
          <p:cNvSpPr/>
          <p:nvPr/>
        </p:nvSpPr>
        <p:spPr>
          <a:xfrm>
            <a:off x="1886817" y="4477728"/>
            <a:ext cx="19832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contigs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607DE8-8D04-41BF-9A07-568DE9F7E99D}"/>
              </a:ext>
            </a:extLst>
          </p:cNvPr>
          <p:cNvSpPr/>
          <p:nvPr/>
        </p:nvSpPr>
        <p:spPr>
          <a:xfrm>
            <a:off x="4255126" y="5004408"/>
            <a:ext cx="34692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reads and contigs</a:t>
            </a:r>
            <a:endParaRPr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9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TW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error correction algorithm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8608F9-247B-48A3-BE4C-506DB9BE2B45}"/>
              </a:ext>
            </a:extLst>
          </p:cNvPr>
          <p:cNvSpPr/>
          <p:nvPr/>
        </p:nvSpPr>
        <p:spPr>
          <a:xfrm>
            <a:off x="471956" y="1447156"/>
            <a:ext cx="713788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Errors: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The sequencing instrument incorrectly identifies a symbol (substitution error)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 symbol is incorrectly inserted into, or deleted from, the string (indel error)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56005" y="5906254"/>
            <a:ext cx="3318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 simple tip in an assembly graph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81" y="4229854"/>
            <a:ext cx="76390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02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TW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error correction algorithm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922032" y="4375451"/>
            <a:ext cx="6564618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30X coverage of 100bp reads from the E. coli(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大腸桿菌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genome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10,000 random reads</a:t>
            </a:r>
          </a:p>
          <a:p>
            <a:pPr>
              <a:lnSpc>
                <a:spcPct val="150000"/>
              </a:lnSpc>
            </a:pP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1090832" y="895890"/>
            <a:ext cx="6774961" cy="3316637"/>
            <a:chOff x="781578" y="884617"/>
            <a:chExt cx="7522250" cy="3682467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578" y="884617"/>
              <a:ext cx="7382337" cy="3527768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3479484" y="4191186"/>
              <a:ext cx="1275274" cy="3758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>
                  <a:solidFill>
                    <a:srgbClr val="FF0000"/>
                  </a:solidFill>
                </a:rPr>
                <a:t>(frequency)</a:t>
              </a:r>
              <a:endParaRPr lang="zh-TW" altLang="en-US" sz="1600">
                <a:solidFill>
                  <a:srgbClr val="FF00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028554" y="4191187"/>
              <a:ext cx="1275274" cy="3758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>
                  <a:solidFill>
                    <a:srgbClr val="FF0000"/>
                  </a:solidFill>
                </a:rPr>
                <a:t>(frequency)</a:t>
              </a:r>
              <a:endParaRPr lang="zh-TW" altLang="en-US" sz="16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3317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TW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error correction algorithm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17</a:t>
            </a:fld>
            <a:endParaRPr lang="zh-TW" altLang="en-US"/>
          </a:p>
        </p:txBody>
      </p:sp>
      <p:grpSp>
        <p:nvGrpSpPr>
          <p:cNvPr id="2" name="群組 1"/>
          <p:cNvGrpSpPr/>
          <p:nvPr/>
        </p:nvGrpSpPr>
        <p:grpSpPr>
          <a:xfrm>
            <a:off x="1090832" y="895890"/>
            <a:ext cx="6774961" cy="3316637"/>
            <a:chOff x="781578" y="884617"/>
            <a:chExt cx="7522250" cy="3682467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578" y="884617"/>
              <a:ext cx="7382337" cy="3527768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3479484" y="4191186"/>
              <a:ext cx="1275274" cy="3758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>
                  <a:solidFill>
                    <a:srgbClr val="FF0000"/>
                  </a:solidFill>
                </a:rPr>
                <a:t>(frequency)</a:t>
              </a:r>
              <a:endParaRPr lang="zh-TW" altLang="en-US" sz="1600">
                <a:solidFill>
                  <a:srgbClr val="FF00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028554" y="4191187"/>
              <a:ext cx="1275274" cy="3758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>
                  <a:solidFill>
                    <a:srgbClr val="FF0000"/>
                  </a:solidFill>
                </a:rPr>
                <a:t>(frequency)</a:t>
              </a:r>
              <a:endParaRPr lang="zh-TW" altLang="en-US" sz="1600">
                <a:solidFill>
                  <a:srgbClr val="FF0000"/>
                </a:solidFill>
              </a:endParaRPr>
            </a:p>
          </p:txBody>
        </p:sp>
      </p:grp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4"/>
          <a:srcRect t="8641" b="11336"/>
          <a:stretch/>
        </p:blipFill>
        <p:spPr>
          <a:xfrm>
            <a:off x="471956" y="4554361"/>
            <a:ext cx="4931577" cy="191687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772619" y="5184375"/>
            <a:ext cx="26431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>
                <a:solidFill>
                  <a:srgbClr val="FF0000"/>
                </a:solidFill>
              </a:rPr>
              <a:t>occurrences, frequency, coverage, depth…?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522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TW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error correction algorithm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08608F9-247B-48A3-BE4C-506DB9BE2B45}"/>
                  </a:ext>
                </a:extLst>
              </p:cNvPr>
              <p:cNvSpPr/>
              <p:nvPr/>
            </p:nvSpPr>
            <p:spPr>
              <a:xfrm>
                <a:off x="471956" y="1447156"/>
                <a:ext cx="8225004" cy="33239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根據k-mer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frequency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將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sequence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的每個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base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call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分為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trusted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或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untrusted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trusted :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covered by a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𝑘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𝑚𝑒𝑟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that is seen in R at least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𝑐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times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𝑐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: avoid collapsing SNPs or distinct copies of a repeat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對於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untrusted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base call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，會嘗試尋找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	alternative base call yields a k-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mer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covering the position (&gt; c times)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若無合適者或多種可替代，該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base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不會改變且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error correction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會停止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否則持續運作到所有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base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都為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trusted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為止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08608F9-247B-48A3-BE4C-506DB9BE2B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56" y="1447156"/>
                <a:ext cx="8225004" cy="3323987"/>
              </a:xfrm>
              <a:prstGeom prst="rect">
                <a:avLst/>
              </a:prstGeom>
              <a:blipFill>
                <a:blip r:embed="rId2"/>
                <a:stretch>
                  <a:fillRect l="-667" b="-5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918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Read filtering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8608F9-247B-48A3-BE4C-506DB9BE2B45}"/>
              </a:ext>
            </a:extLst>
          </p:cNvPr>
          <p:cNvSpPr/>
          <p:nvPr/>
        </p:nvSpPr>
        <p:spPr>
          <a:xfrm>
            <a:off x="471956" y="1447156"/>
            <a:ext cx="82250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Some reads remain uncorrected after error correction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Remove sequences with unique k-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mers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1314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79F3344-778B-4D3B-BCB0-3ABE6876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6" y="414725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Paired-end reads/scaffolding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EDED680-3D7C-4055-943D-6A6638CB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72633CA-77E0-4863-94F8-E28139DFB2B4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8608F9-247B-48A3-BE4C-506DB9BE2B45}"/>
              </a:ext>
            </a:extLst>
          </p:cNvPr>
          <p:cNvSpPr/>
          <p:nvPr/>
        </p:nvSpPr>
        <p:spPr>
          <a:xfrm>
            <a:off x="471956" y="1447156"/>
            <a:ext cx="82250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Remove ambiguous or likely erroneous edges from the graph</a:t>
            </a:r>
            <a:r>
              <a:rPr lang="en-US" altLang="zh-TW" dirty="0"/>
              <a:t>	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Test whether the linked contigs have an ordering that is consistent with 	each pairwise distance estimate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If not, break the graph by removing all edges of the affected contigs.</a:t>
            </a:r>
          </a:p>
        </p:txBody>
      </p:sp>
    </p:spTree>
    <p:extLst>
      <p:ext uri="{BB962C8B-B14F-4D97-AF65-F5344CB8AC3E}">
        <p14:creationId xmlns:p14="http://schemas.microsoft.com/office/powerpoint/2010/main" val="3748257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673ABB2-1E4B-443F-856B-FBA1DD1BF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084871"/>
            <a:ext cx="7886700" cy="3779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DA1950-37BA-4AFF-A14F-3326E367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05C1E1-29A5-4007-A3F2-65B85D1DE7EC}"/>
              </a:ext>
            </a:extLst>
          </p:cNvPr>
          <p:cNvSpPr/>
          <p:nvPr/>
        </p:nvSpPr>
        <p:spPr>
          <a:xfrm>
            <a:off x="2540033" y="5855145"/>
            <a:ext cx="4063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 statistics for C. </a:t>
            </a:r>
            <a:r>
              <a:rPr lang="en-US" altLang="zh-TW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elegans</a:t>
            </a:r>
            <a:r>
              <a:rPr lang="en-US" altLang="zh-TW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set</a:t>
            </a:r>
            <a:endParaRPr lang="zh-TW" altLang="en-US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D03CB818-07A3-45B7-9309-84FFDF5B8429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altLang="zh-TW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elegans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set</a:t>
            </a:r>
            <a:r>
              <a:rPr lang="zh-TW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(100Mbp)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F1159B-3B9A-4F84-A1C8-E167BAE4BD43}"/>
              </a:ext>
            </a:extLst>
          </p:cNvPr>
          <p:cNvSpPr/>
          <p:nvPr/>
        </p:nvSpPr>
        <p:spPr>
          <a:xfrm>
            <a:off x="1346657" y="1019384"/>
            <a:ext cx="4127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333333"/>
                </a:solidFill>
                <a:latin typeface="-apple-system"/>
              </a:rPr>
              <a:t>from the NCBI SRA (accession SRX026594)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70AC0E7-5EB7-483E-B0AA-005DFE777ACB}"/>
              </a:ext>
            </a:extLst>
          </p:cNvPr>
          <p:cNvSpPr/>
          <p:nvPr/>
        </p:nvSpPr>
        <p:spPr>
          <a:xfrm>
            <a:off x="471956" y="5495339"/>
            <a:ext cx="3429538" cy="21949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179227-5D93-422B-84E0-29C6FFCE79F2}"/>
              </a:ext>
            </a:extLst>
          </p:cNvPr>
          <p:cNvSpPr/>
          <p:nvPr/>
        </p:nvSpPr>
        <p:spPr>
          <a:xfrm>
            <a:off x="6945690" y="3707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秀麗隱桿線蟲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124" name="Picture 4" descr="「秀麗隱桿線蟲」的圖片搜尋結果">
            <a:extLst>
              <a:ext uri="{FF2B5EF4-FFF2-40B4-BE49-F238E27FC236}">
                <a16:creationId xmlns:a16="http://schemas.microsoft.com/office/drawing/2014/main" id="{4B4AB7C9-734C-46C4-856A-F362311D5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087" y="719990"/>
            <a:ext cx="1781916" cy="108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382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FAC50E-B733-4CB3-9955-221005BC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D9F2699-9FAB-4A48-98E8-751952496475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Coverage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DD42ED-14B7-4437-8C10-2E6FEC3641DF}"/>
              </a:ext>
            </a:extLst>
          </p:cNvPr>
          <p:cNvSpPr/>
          <p:nvPr/>
        </p:nvSpPr>
        <p:spPr>
          <a:xfrm>
            <a:off x="532272" y="1069876"/>
            <a:ext cx="782638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whether strings from the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consensus sequence </a:t>
            </a: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exactly present in the contigs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Contigs must be: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Contiguous </a:t>
            </a:r>
            <a:endParaRPr lang="zh-TW" alt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096AE55-93D6-400B-A6B9-7C4BC5E90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906" y="2325584"/>
            <a:ext cx="3908021" cy="3500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B43F40B-DA03-42FE-88C9-BEDE0704D885}"/>
              </a:ext>
            </a:extLst>
          </p:cNvPr>
          <p:cNvSpPr/>
          <p:nvPr/>
        </p:nvSpPr>
        <p:spPr>
          <a:xfrm>
            <a:off x="3498619" y="5922158"/>
            <a:ext cx="43485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strings of length from 50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to 5,000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751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FAC50E-B733-4CB3-9955-221005BC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D9F2699-9FAB-4A48-98E8-751952496475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290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Assembly Accuracy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DD42ED-14B7-4437-8C10-2E6FEC3641DF}"/>
              </a:ext>
            </a:extLst>
          </p:cNvPr>
          <p:cNvSpPr/>
          <p:nvPr/>
        </p:nvSpPr>
        <p:spPr>
          <a:xfrm>
            <a:off x="502114" y="1661384"/>
            <a:ext cx="7826384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the number and total size of contigs with split or bad alignments</a:t>
            </a:r>
            <a:endParaRPr lang="zh-TW" alt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781236E-5060-43C8-A11A-9471461241C9}"/>
              </a:ext>
            </a:extLst>
          </p:cNvPr>
          <p:cNvGrpSpPr/>
          <p:nvPr/>
        </p:nvGrpSpPr>
        <p:grpSpPr>
          <a:xfrm>
            <a:off x="462431" y="3291792"/>
            <a:ext cx="7905750" cy="766591"/>
            <a:chOff x="609600" y="2275626"/>
            <a:chExt cx="7905750" cy="766591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E16538D0-99E2-4DA5-8B44-ECCB513AD1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2709"/>
            <a:stretch/>
          </p:blipFill>
          <p:spPr>
            <a:xfrm>
              <a:off x="609600" y="2275626"/>
              <a:ext cx="7905750" cy="270148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AE7C2B8D-DF0C-40B2-9E28-3FCEBAED43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6601"/>
            <a:stretch/>
          </p:blipFill>
          <p:spPr>
            <a:xfrm>
              <a:off x="609600" y="2545774"/>
              <a:ext cx="7905750" cy="496443"/>
            </a:xfrm>
            <a:prstGeom prst="rect">
              <a:avLst/>
            </a:prstGeom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717530F6-A8FC-4629-A9A9-B19CB807EF3D}"/>
              </a:ext>
            </a:extLst>
          </p:cNvPr>
          <p:cNvSpPr/>
          <p:nvPr/>
        </p:nvSpPr>
        <p:spPr>
          <a:xfrm>
            <a:off x="2997273" y="876981"/>
            <a:ext cx="1574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exact matches 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46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FAC50E-B733-4CB3-9955-221005BC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D9F2699-9FAB-4A48-98E8-751952496475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Completeness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DD42ED-14B7-4437-8C10-2E6FEC3641DF}"/>
              </a:ext>
            </a:extLst>
          </p:cNvPr>
          <p:cNvSpPr/>
          <p:nvPr/>
        </p:nvSpPr>
        <p:spPr>
          <a:xfrm>
            <a:off x="532272" y="1393041"/>
            <a:ext cx="7826384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reference genome coverage as a function of minimum contig alignment length.</a:t>
            </a:r>
            <a:endParaRPr lang="zh-TW" alt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5E7E684-3BD8-4D60-BC73-E3065440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272" y="2341989"/>
            <a:ext cx="4172384" cy="361242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D5C7529-C41E-4537-90F6-5BF4A524BDC3}"/>
              </a:ext>
            </a:extLst>
          </p:cNvPr>
          <p:cNvSpPr/>
          <p:nvPr/>
        </p:nvSpPr>
        <p:spPr>
          <a:xfrm>
            <a:off x="2997273" y="876981"/>
            <a:ext cx="351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string must be present in the contig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95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FAC50E-B733-4CB3-9955-221005BC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D9F2699-9FAB-4A48-98E8-751952496475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Contiguity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ADB6DC-B8B3-4606-8F80-38E418860545}"/>
              </a:ext>
            </a:extLst>
          </p:cNvPr>
          <p:cNvSpPr/>
          <p:nvPr/>
        </p:nvSpPr>
        <p:spPr>
          <a:xfrm>
            <a:off x="532272" y="1613167"/>
            <a:ext cx="7826384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calculating the contig alignment length N50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the contig alignment lengths</a:t>
            </a:r>
            <a:endParaRPr lang="zh-TW" alt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4D8A0A8-6ECD-41A0-ADCF-15892169C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3125461"/>
            <a:ext cx="8258175" cy="86677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E5C95C8-5CAB-4E76-8C67-887107BD70DF}"/>
              </a:ext>
            </a:extLst>
          </p:cNvPr>
          <p:cNvSpPr/>
          <p:nvPr/>
        </p:nvSpPr>
        <p:spPr>
          <a:xfrm>
            <a:off x="2997273" y="886288"/>
            <a:ext cx="59643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strings broken between multiple contigs will not be found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856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93C142-BE95-4B92-8357-C65D5B6B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4F6B907-8E89-4AA8-AAC4-854A4A340A52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 and memory summary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3C9FFA0-F2E5-4F29-AE11-C7152C951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" y="1708896"/>
            <a:ext cx="8372475" cy="3667125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FB4320EE-BD97-4BC0-963A-FDE3F3CF86C4}"/>
              </a:ext>
            </a:extLst>
          </p:cNvPr>
          <p:cNvSpPr/>
          <p:nvPr/>
        </p:nvSpPr>
        <p:spPr>
          <a:xfrm>
            <a:off x="5863901" y="2459567"/>
            <a:ext cx="982134" cy="7027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F502D0-3B45-4959-BFA7-B0EB28AEA7A1}"/>
              </a:ext>
            </a:extLst>
          </p:cNvPr>
          <p:cNvSpPr/>
          <p:nvPr/>
        </p:nvSpPr>
        <p:spPr>
          <a:xfrm>
            <a:off x="2241706" y="998092"/>
            <a:ext cx="6312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for SGA human genome assembly(about 1.2 billion reads, 140GB)</a:t>
            </a:r>
            <a:endParaRPr lang="zh-TW" altLang="en-US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8ED583EF-1629-452B-AFDD-58944F0B4B45}"/>
              </a:ext>
            </a:extLst>
          </p:cNvPr>
          <p:cNvGrpSpPr/>
          <p:nvPr/>
        </p:nvGrpSpPr>
        <p:grpSpPr>
          <a:xfrm>
            <a:off x="385762" y="5376021"/>
            <a:ext cx="7964431" cy="400110"/>
            <a:chOff x="471956" y="5569428"/>
            <a:chExt cx="7964431" cy="40011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77B7D15-46A0-4E3D-83EC-9D7F4837C600}"/>
                </a:ext>
              </a:extLst>
            </p:cNvPr>
            <p:cNvSpPr/>
            <p:nvPr/>
          </p:nvSpPr>
          <p:spPr>
            <a:xfrm>
              <a:off x="471956" y="5569428"/>
              <a:ext cx="159691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SOAPdenovo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E4C0A02-A829-4DD1-A4B8-1EA148C1B1B6}"/>
                </a:ext>
              </a:extLst>
            </p:cNvPr>
            <p:cNvSpPr/>
            <p:nvPr/>
          </p:nvSpPr>
          <p:spPr>
            <a:xfrm>
              <a:off x="5955660" y="5569428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479hr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ABAF2AA-4FF0-4068-B5F1-212F86A905E3}"/>
                </a:ext>
              </a:extLst>
            </p:cNvPr>
            <p:cNvSpPr/>
            <p:nvPr/>
          </p:nvSpPr>
          <p:spPr>
            <a:xfrm>
              <a:off x="4685660" y="5569428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121hr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F2C5054-2DD7-48ED-960F-7E53EE8E2D30}"/>
                </a:ext>
              </a:extLst>
            </p:cNvPr>
            <p:cNvSpPr/>
            <p:nvPr/>
          </p:nvSpPr>
          <p:spPr>
            <a:xfrm>
              <a:off x="7454900" y="5569428"/>
              <a:ext cx="98148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118 GB</a:t>
              </a:r>
              <a:endPara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9717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3079EE-88ED-4719-8FC2-30EB669B900D}"/>
              </a:ext>
            </a:extLst>
          </p:cNvPr>
          <p:cNvSpPr/>
          <p:nvPr/>
        </p:nvSpPr>
        <p:spPr>
          <a:xfrm>
            <a:off x="471956" y="1110172"/>
            <a:ext cx="8200088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Sequence assembly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De </a:t>
            </a:r>
            <a:r>
              <a:rPr lang="en-US" altLang="zh-TW" b="1" dirty="0" err="1">
                <a:solidFill>
                  <a:srgbClr val="002060"/>
                </a:solidFill>
              </a:rPr>
              <a:t>Bruijn</a:t>
            </a:r>
            <a:r>
              <a:rPr lang="en-US" altLang="zh-TW" b="1" dirty="0">
                <a:solidFill>
                  <a:srgbClr val="002060"/>
                </a:solidFill>
              </a:rPr>
              <a:t> sequence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The SGA Assembler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SGA – </a:t>
            </a:r>
            <a:r>
              <a:rPr lang="en-US" altLang="zh-TW" b="1" dirty="0" err="1">
                <a:solidFill>
                  <a:srgbClr val="002060"/>
                </a:solidFill>
              </a:rPr>
              <a:t>Github</a:t>
            </a:r>
            <a:r>
              <a:rPr lang="en-US" altLang="zh-TW" b="1" dirty="0">
                <a:solidFill>
                  <a:srgbClr val="002060"/>
                </a:solidFill>
              </a:rPr>
              <a:t>(Software)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2060"/>
                </a:solidFill>
              </a:rPr>
              <a:t>Efficient sequence assembly and variant calling using compressed data structures, Jared Thomas Simpson, Queens’ College </a:t>
            </a:r>
            <a:r>
              <a:rPr lang="en-US" altLang="zh-TW" b="1" dirty="0" err="1">
                <a:solidFill>
                  <a:srgbClr val="002060"/>
                </a:solidFill>
              </a:rPr>
              <a:t>Wellcome</a:t>
            </a:r>
            <a:r>
              <a:rPr lang="en-US" altLang="zh-TW" b="1" dirty="0">
                <a:solidFill>
                  <a:srgbClr val="002060"/>
                </a:solidFill>
              </a:rPr>
              <a:t> Trust Sanger Institute University of Cambridge, September 2012</a:t>
            </a: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b="1" dirty="0">
              <a:solidFill>
                <a:srgbClr val="00206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B4EA4D-79CA-49E6-A0CF-575DAD434141}"/>
              </a:ext>
            </a:extLst>
          </p:cNvPr>
          <p:cNvSpPr/>
          <p:nvPr/>
        </p:nvSpPr>
        <p:spPr>
          <a:xfrm>
            <a:off x="471956" y="1110172"/>
            <a:ext cx="70718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  <a:hlinkClick r:id="rId3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3"/>
              </a:rPr>
              <a:t>https://en.wikipedia.org/wiki/Sequence_assembly</a:t>
            </a: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  <a:hlinkClick r:id="rId3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3"/>
              </a:rPr>
              <a:t>https://zhouer.org/DeBruijn/</a:t>
            </a: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  <a:hlinkClick r:id="rId3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70C0"/>
                </a:solidFill>
                <a:hlinkClick r:id="rId3"/>
              </a:rPr>
              <a:t>ftp://ftp.sanger.ac.uk/pub/resources/theses/js18/chapter3.pdf</a:t>
            </a: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4"/>
              </a:rPr>
              <a:t>https://github.com/jts/sga</a:t>
            </a: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TW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hlinkClick r:id="rId5"/>
              </a:rPr>
              <a:t>ftp://ftp.sanger.ac.uk/pub/resources/theses/js18/thesis.pdf</a:t>
            </a:r>
            <a:endParaRPr lang="en-US" altLang="zh-TW" dirty="0">
              <a:solidFill>
                <a:srgbClr val="0070C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93C142-BE95-4B92-8357-C65D5B6B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C4F6B907-8E89-4AA8-AAC4-854A4A340A52}"/>
              </a:ext>
            </a:extLst>
          </p:cNvPr>
          <p:cNvSpPr txBox="1">
            <a:spLocks/>
          </p:cNvSpPr>
          <p:nvPr/>
        </p:nvSpPr>
        <p:spPr>
          <a:xfrm>
            <a:off x="471956" y="414725"/>
            <a:ext cx="7886700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79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29555</TotalTime>
  <Words>1432</Words>
  <Application>Microsoft Office PowerPoint</Application>
  <PresentationFormat>如螢幕大小 (4:3)</PresentationFormat>
  <Paragraphs>289</Paragraphs>
  <Slides>27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41" baseType="lpstr">
      <vt:lpstr>-apple-system</vt:lpstr>
      <vt:lpstr>Microsoft YaHei</vt:lpstr>
      <vt:lpstr>新細明體</vt:lpstr>
      <vt:lpstr>標楷體</vt:lpstr>
      <vt:lpstr>Arial</vt:lpstr>
      <vt:lpstr>Arial Rounded MT Bold</vt:lpstr>
      <vt:lpstr>Bahnschrift SemiBold</vt:lpstr>
      <vt:lpstr>Bell MT</vt:lpstr>
      <vt:lpstr>Calibri</vt:lpstr>
      <vt:lpstr>Calibri Light</vt:lpstr>
      <vt:lpstr>Cambria Math</vt:lpstr>
      <vt:lpstr>Courier New</vt:lpstr>
      <vt:lpstr>Times New Roman</vt:lpstr>
      <vt:lpstr>Office 佈景主題</vt:lpstr>
      <vt:lpstr>Efficient de novo assembly of large genomes using compressed data structures elements</vt:lpstr>
      <vt:lpstr>Abstract(1/2)</vt:lpstr>
      <vt:lpstr>Abstract(2/2)</vt:lpstr>
      <vt:lpstr>Sequence assembly</vt:lpstr>
      <vt:lpstr>De novo assembly(1/7)</vt:lpstr>
      <vt:lpstr>De novo assembly(2/7)</vt:lpstr>
      <vt:lpstr>De novo assembly(3/7)</vt:lpstr>
      <vt:lpstr>De novo assembly(4/7)</vt:lpstr>
      <vt:lpstr>De novo assembly(5/7)</vt:lpstr>
      <vt:lpstr>De novo assembly(6/7)</vt:lpstr>
      <vt:lpstr>De novo assembly(7/7)</vt:lpstr>
      <vt:lpstr>PowerPoint 簡報</vt:lpstr>
      <vt:lpstr>Notion of Sequence Assembly</vt:lpstr>
      <vt:lpstr>Overview</vt:lpstr>
      <vt:lpstr>k-mer based error correction algorithm</vt:lpstr>
      <vt:lpstr>k-mer based error correction algorithm</vt:lpstr>
      <vt:lpstr>k-mer based error correction algorithm</vt:lpstr>
      <vt:lpstr>k-mer based error correction algorithm</vt:lpstr>
      <vt:lpstr>Read filtering</vt:lpstr>
      <vt:lpstr>Paired-end reads/scaffolding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250</cp:revision>
  <dcterms:created xsi:type="dcterms:W3CDTF">2017-09-25T08:45:50Z</dcterms:created>
  <dcterms:modified xsi:type="dcterms:W3CDTF">2018-02-06T06:38:43Z</dcterms:modified>
</cp:coreProperties>
</file>