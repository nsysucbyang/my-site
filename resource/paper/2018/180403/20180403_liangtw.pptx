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6" r:id="rId5"/>
    <p:sldId id="267" r:id="rId6"/>
    <p:sldId id="268" r:id="rId7"/>
    <p:sldId id="269" r:id="rId8"/>
    <p:sldId id="261" r:id="rId9"/>
    <p:sldId id="271" r:id="rId10"/>
    <p:sldId id="270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88876" autoAdjust="0"/>
  </p:normalViewPr>
  <p:slideViewPr>
    <p:cSldViewPr snapToGrid="0">
      <p:cViewPr varScale="1">
        <p:scale>
          <a:sx n="113" d="100"/>
          <a:sy n="113" d="100"/>
        </p:scale>
        <p:origin x="1338" y="9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distinct palindromes in a word in linear time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5299" y="2129361"/>
            <a:ext cx="8353402" cy="3573055"/>
          </a:xfrm>
        </p:spPr>
        <p:txBody>
          <a:bodyPr>
            <a:noAutofit/>
          </a:bodyPr>
          <a:lstStyle/>
          <a:p>
            <a:r>
              <a:rPr lang="fr-FR" altLang="zh-TW" sz="28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Richard </a:t>
            </a:r>
            <a:r>
              <a:rPr lang="fr-FR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Groult, Élise Prieur, Gwénaël </a:t>
            </a:r>
            <a:r>
              <a:rPr lang="fr-FR" altLang="zh-TW" sz="28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Richomme</a:t>
            </a:r>
          </a:p>
          <a:p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/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	</a:t>
            </a:r>
            <a:r>
              <a:rPr lang="en-US" altLang="zh-TW" sz="12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Université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 Picardie Jules Verne, </a:t>
            </a:r>
            <a:r>
              <a:rPr lang="en-US" altLang="zh-TW" sz="12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Laboratoire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MIS, 33, rue Saint </a:t>
            </a:r>
            <a:r>
              <a:rPr lang="en-US" altLang="zh-TW" sz="12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Leu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F-80039 Amiens </a:t>
            </a:r>
            <a:r>
              <a:rPr lang="en-US" altLang="zh-TW" sz="12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cedex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1, 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France</a:t>
            </a:r>
          </a:p>
          <a:p>
            <a:pPr algn="l"/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</a:t>
            </a:r>
            <a:r>
              <a:rPr lang="en-US" altLang="zh-TW" sz="12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Université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de Rouen, LITIS EA-4108, 1, rue Thomas Becket, F-76821 Mont-St-</a:t>
            </a:r>
            <a:r>
              <a:rPr lang="en-US" altLang="zh-TW" sz="12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Aignan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2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cedex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France</a:t>
            </a:r>
          </a:p>
          <a:p>
            <a:pPr algn="l"/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</a:t>
            </a:r>
            <a:r>
              <a:rPr lang="en-US" altLang="zh-TW" sz="12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Université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Paul-Valéry Montpellier 3, UFR 4, </a:t>
            </a:r>
            <a:r>
              <a:rPr lang="en-US" altLang="zh-TW" sz="12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Département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MIAp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Route de Mende, 34199 Montpellier </a:t>
            </a:r>
            <a:r>
              <a:rPr lang="en-US" altLang="zh-TW" sz="12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cedex</a:t>
            </a:r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5, 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France</a:t>
            </a:r>
          </a:p>
          <a:p>
            <a:pPr algn="l"/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	LIRMM (CNRS, Univ. Montpellier 2) – UMR 5506, 161, rue Ada, 34095 Montpellier </a:t>
            </a:r>
            <a:r>
              <a:rPr lang="en-US" altLang="zh-TW" sz="12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cedex</a:t>
            </a:r>
            <a:r>
              <a:rPr lang="en-US" altLang="zh-TW" sz="1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5, France</a:t>
            </a:r>
          </a:p>
          <a:p>
            <a:pPr algn="l"/>
            <a:r>
              <a:rPr lang="en-US" altLang="zh-TW" sz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\</a:t>
            </a:r>
            <a:endParaRPr lang="en-US" altLang="zh-TW" sz="1200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Processing </a:t>
            </a:r>
            <a:r>
              <a:rPr lang="fr-FR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Letters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110, 2010, Pages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908-912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Date:2018/04/03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543574"/>
            <a:ext cx="8188179" cy="437333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design an algorithm to count the number of distinct palindromes in a word w in time O(|w|), by adapting an algorithm to detect all occurrences of maximal palindromes in a given word and using the longest previous factor array. As a direct consequence, this shows that the palindromic richness (or fullness) of a word can be checked in linear time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Palindromic Suffixes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(LPS)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FC33BD-AB45-4C7A-A0FB-9FC2289D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74D74AA8-ACA0-4F79-BF9D-03190E6B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611321"/>
              </p:ext>
            </p:extLst>
          </p:nvPr>
        </p:nvGraphicFramePr>
        <p:xfrm>
          <a:off x="1314274" y="2022183"/>
          <a:ext cx="6336484" cy="635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64D5BEB5-22EE-4474-9115-242CF5BAB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279809"/>
              </p:ext>
            </p:extLst>
          </p:nvPr>
        </p:nvGraphicFramePr>
        <p:xfrm>
          <a:off x="1314274" y="2889572"/>
          <a:ext cx="633648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1DF4511-73FD-4D28-A4DB-8BAE1EDBC49E}"/>
              </a:ext>
            </a:extLst>
          </p:cNvPr>
          <p:cNvSpPr txBox="1"/>
          <p:nvPr/>
        </p:nvSpPr>
        <p:spPr>
          <a:xfrm>
            <a:off x="6652470" y="2489462"/>
            <a:ext cx="243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/>
              <a:t>i</a:t>
            </a:r>
            <a:endParaRPr lang="zh-TW" altLang="en-US" sz="20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80DFB650-9FF3-4A77-B25C-09F728B08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80318"/>
              </p:ext>
            </p:extLst>
          </p:nvPr>
        </p:nvGraphicFramePr>
        <p:xfrm>
          <a:off x="2446788" y="4026461"/>
          <a:ext cx="460835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04EFFD69-F107-4B96-85DB-20C521D5B5C3}"/>
              </a:ext>
            </a:extLst>
          </p:cNvPr>
          <p:cNvSpPr txBox="1"/>
          <p:nvPr/>
        </p:nvSpPr>
        <p:spPr>
          <a:xfrm>
            <a:off x="628650" y="290578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35C49239-F3B6-4DED-B752-89694DF82EB7}"/>
                  </a:ext>
                </a:extLst>
              </p:cNvPr>
              <p:cNvSpPr txBox="1"/>
              <p:nvPr/>
            </p:nvSpPr>
            <p:spPr>
              <a:xfrm>
                <a:off x="7167447" y="4026461"/>
                <a:ext cx="6177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5C49239-F3B6-4DED-B752-89694DF82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447" y="4026461"/>
                <a:ext cx="61779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81CD2BAA-ABF7-4C49-9DA5-029A96800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957632"/>
              </p:ext>
            </p:extLst>
          </p:nvPr>
        </p:nvGraphicFramePr>
        <p:xfrm>
          <a:off x="5327008" y="5163350"/>
          <a:ext cx="172813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EF20170D-3343-4D4B-B16A-4724C7CF70E2}"/>
                  </a:ext>
                </a:extLst>
              </p:cNvPr>
              <p:cNvSpPr txBox="1"/>
              <p:nvPr/>
            </p:nvSpPr>
            <p:spPr>
              <a:xfrm>
                <a:off x="7167447" y="5163350"/>
                <a:ext cx="6095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F20170D-3343-4D4B-B16A-4724C7CF7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447" y="5163350"/>
                <a:ext cx="60952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969E95A1-38C8-47ED-B010-D4DB92DA8A37}"/>
              </a:ext>
            </a:extLst>
          </p:cNvPr>
          <p:cNvSpPr txBox="1"/>
          <p:nvPr/>
        </p:nvSpPr>
        <p:spPr>
          <a:xfrm>
            <a:off x="1314274" y="5969654"/>
            <a:ext cx="1798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LPS[10] = 8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40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Palindromic Suffix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(LPS)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FC33BD-AB45-4C7A-A0FB-9FC2289D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74D74AA8-ACA0-4F79-BF9D-03190E6B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95115"/>
              </p:ext>
            </p:extLst>
          </p:nvPr>
        </p:nvGraphicFramePr>
        <p:xfrm>
          <a:off x="1250134" y="2113125"/>
          <a:ext cx="6336484" cy="635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64D5BEB5-22EE-4474-9115-242CF5BAB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642176"/>
              </p:ext>
            </p:extLst>
          </p:nvPr>
        </p:nvGraphicFramePr>
        <p:xfrm>
          <a:off x="1250134" y="2895235"/>
          <a:ext cx="633648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1DF4511-73FD-4D28-A4DB-8BAE1EDBC49E}"/>
              </a:ext>
            </a:extLst>
          </p:cNvPr>
          <p:cNvSpPr txBox="1"/>
          <p:nvPr/>
        </p:nvSpPr>
        <p:spPr>
          <a:xfrm>
            <a:off x="6023122" y="2505670"/>
            <a:ext cx="243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/>
              <a:t>i</a:t>
            </a:r>
            <a:endParaRPr lang="zh-TW" altLang="en-US" sz="20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80DFB650-9FF3-4A77-B25C-09F728B08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914404"/>
              </p:ext>
            </p:extLst>
          </p:nvPr>
        </p:nvGraphicFramePr>
        <p:xfrm>
          <a:off x="3001686" y="4026461"/>
          <a:ext cx="345626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04EFFD69-F107-4B96-85DB-20C521D5B5C3}"/>
              </a:ext>
            </a:extLst>
          </p:cNvPr>
          <p:cNvSpPr txBox="1"/>
          <p:nvPr/>
        </p:nvSpPr>
        <p:spPr>
          <a:xfrm>
            <a:off x="628650" y="290578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35C49239-F3B6-4DED-B752-89694DF82EB7}"/>
                  </a:ext>
                </a:extLst>
              </p:cNvPr>
              <p:cNvSpPr txBox="1"/>
              <p:nvPr/>
            </p:nvSpPr>
            <p:spPr>
              <a:xfrm>
                <a:off x="6549649" y="4040321"/>
                <a:ext cx="6177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5C49239-F3B6-4DED-B752-89694DF82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649" y="4040321"/>
                <a:ext cx="61779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81CD2BAA-ABF7-4C49-9DA5-029A96800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316729"/>
              </p:ext>
            </p:extLst>
          </p:nvPr>
        </p:nvGraphicFramePr>
        <p:xfrm>
          <a:off x="4729818" y="5107226"/>
          <a:ext cx="172813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EF20170D-3343-4D4B-B16A-4724C7CF70E2}"/>
                  </a:ext>
                </a:extLst>
              </p:cNvPr>
              <p:cNvSpPr txBox="1"/>
              <p:nvPr/>
            </p:nvSpPr>
            <p:spPr>
              <a:xfrm>
                <a:off x="6572361" y="5121225"/>
                <a:ext cx="6095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F20170D-3343-4D4B-B16A-4724C7CF7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361" y="5121225"/>
                <a:ext cx="60952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969E95A1-38C8-47ED-B010-D4DB92DA8A37}"/>
              </a:ext>
            </a:extLst>
          </p:cNvPr>
          <p:cNvSpPr txBox="1"/>
          <p:nvPr/>
        </p:nvSpPr>
        <p:spPr>
          <a:xfrm>
            <a:off x="849223" y="5550205"/>
            <a:ext cx="1616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LPS[9] = 6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4402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Maximal Palindrome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(LMP)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FC33BD-AB45-4C7A-A0FB-9FC2289D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74D74AA8-ACA0-4F79-BF9D-03190E6B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248063"/>
              </p:ext>
            </p:extLst>
          </p:nvPr>
        </p:nvGraphicFramePr>
        <p:xfrm>
          <a:off x="1403758" y="1950067"/>
          <a:ext cx="6336484" cy="635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64D5BEB5-22EE-4474-9115-242CF5BAB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351599"/>
              </p:ext>
            </p:extLst>
          </p:nvPr>
        </p:nvGraphicFramePr>
        <p:xfrm>
          <a:off x="1403758" y="2732177"/>
          <a:ext cx="633648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1DF4511-73FD-4D28-A4DB-8BAE1EDBC49E}"/>
              </a:ext>
            </a:extLst>
          </p:cNvPr>
          <p:cNvSpPr txBox="1"/>
          <p:nvPr/>
        </p:nvSpPr>
        <p:spPr>
          <a:xfrm>
            <a:off x="6176746" y="2342612"/>
            <a:ext cx="245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j</a:t>
            </a:r>
            <a:endParaRPr lang="zh-TW" altLang="en-US" sz="20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80DFB650-9FF3-4A77-B25C-09F728B08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842293"/>
              </p:ext>
            </p:extLst>
          </p:nvPr>
        </p:nvGraphicFramePr>
        <p:xfrm>
          <a:off x="3155310" y="3863403"/>
          <a:ext cx="345626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04EFFD69-F107-4B96-85DB-20C521D5B5C3}"/>
              </a:ext>
            </a:extLst>
          </p:cNvPr>
          <p:cNvSpPr txBox="1"/>
          <p:nvPr/>
        </p:nvSpPr>
        <p:spPr>
          <a:xfrm>
            <a:off x="782274" y="2742722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xmlns="" id="{35C49239-F3B6-4DED-B752-89694DF82EB7}"/>
                  </a:ext>
                </a:extLst>
              </p:cNvPr>
              <p:cNvSpPr txBox="1"/>
              <p:nvPr/>
            </p:nvSpPr>
            <p:spPr>
              <a:xfrm>
                <a:off x="6703273" y="3877263"/>
                <a:ext cx="6177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5C49239-F3B6-4DED-B752-89694DF82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273" y="3877263"/>
                <a:ext cx="61779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81CD2BAA-ABF7-4C49-9DA5-029A96800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343339"/>
              </p:ext>
            </p:extLst>
          </p:nvPr>
        </p:nvGraphicFramePr>
        <p:xfrm>
          <a:off x="4883442" y="4944168"/>
          <a:ext cx="172813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="" id="{EF20170D-3343-4D4B-B16A-4724C7CF70E2}"/>
                  </a:ext>
                </a:extLst>
              </p:cNvPr>
              <p:cNvSpPr txBox="1"/>
              <p:nvPr/>
            </p:nvSpPr>
            <p:spPr>
              <a:xfrm>
                <a:off x="6725985" y="4958167"/>
                <a:ext cx="6095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F20170D-3343-4D4B-B16A-4724C7CF7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985" y="4958167"/>
                <a:ext cx="60952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969E95A1-38C8-47ED-B010-D4DB92DA8A37}"/>
              </a:ext>
            </a:extLst>
          </p:cNvPr>
          <p:cNvSpPr txBox="1"/>
          <p:nvPr/>
        </p:nvSpPr>
        <p:spPr>
          <a:xfrm>
            <a:off x="782274" y="4782765"/>
            <a:ext cx="1758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LMP[9] = 3</a:t>
            </a:r>
            <a:endParaRPr lang="zh-TW" altLang="en-US" sz="28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651245E9-8F87-408B-A8AF-842E64CFD74A}"/>
              </a:ext>
            </a:extLst>
          </p:cNvPr>
          <p:cNvSpPr txBox="1"/>
          <p:nvPr/>
        </p:nvSpPr>
        <p:spPr>
          <a:xfrm>
            <a:off x="715162" y="6015693"/>
            <a:ext cx="7366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w[</a:t>
            </a:r>
            <a:r>
              <a:rPr lang="en-US" altLang="zh-TW" sz="2800" dirty="0" err="1"/>
              <a:t>i</a:t>
            </a:r>
            <a:r>
              <a:rPr lang="en-US" altLang="zh-TW" sz="2800" dirty="0"/>
              <a:t>..j] is maximal if w[i-1..j+1] is not a palindrome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1995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Previous Factor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(LPF)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FC33BD-AB45-4C7A-A0FB-9FC2289D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74D74AA8-ACA0-4F79-BF9D-03190E6B87B4}"/>
              </a:ext>
            </a:extLst>
          </p:cNvPr>
          <p:cNvGraphicFramePr>
            <a:graphicFrameLocks noGrp="1"/>
          </p:cNvGraphicFramePr>
          <p:nvPr/>
        </p:nvGraphicFramePr>
        <p:xfrm>
          <a:off x="1250134" y="2113125"/>
          <a:ext cx="6336484" cy="635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64D5BEB5-22EE-4474-9115-242CF5BAB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569125"/>
              </p:ext>
            </p:extLst>
          </p:nvPr>
        </p:nvGraphicFramePr>
        <p:xfrm>
          <a:off x="1250134" y="2895235"/>
          <a:ext cx="633648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1DF4511-73FD-4D28-A4DB-8BAE1EDBC49E}"/>
              </a:ext>
            </a:extLst>
          </p:cNvPr>
          <p:cNvSpPr txBox="1"/>
          <p:nvPr/>
        </p:nvSpPr>
        <p:spPr>
          <a:xfrm>
            <a:off x="6023122" y="2505670"/>
            <a:ext cx="243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/>
              <a:t>i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04EFFD69-F107-4B96-85DB-20C521D5B5C3}"/>
              </a:ext>
            </a:extLst>
          </p:cNvPr>
          <p:cNvSpPr txBox="1"/>
          <p:nvPr/>
        </p:nvSpPr>
        <p:spPr>
          <a:xfrm>
            <a:off x="628650" y="290578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</a:t>
            </a:r>
            <a:endParaRPr lang="zh-TW" altLang="en-US" sz="280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81CD2BAA-ABF7-4C49-9DA5-029A96800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9295"/>
              </p:ext>
            </p:extLst>
          </p:nvPr>
        </p:nvGraphicFramePr>
        <p:xfrm>
          <a:off x="5858486" y="3766572"/>
          <a:ext cx="172813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969E95A1-38C8-47ED-B010-D4DB92DA8A37}"/>
              </a:ext>
            </a:extLst>
          </p:cNvPr>
          <p:cNvSpPr txBox="1"/>
          <p:nvPr/>
        </p:nvSpPr>
        <p:spPr>
          <a:xfrm>
            <a:off x="849223" y="5651930"/>
            <a:ext cx="1616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LPS[9] = 3</a:t>
            </a:r>
            <a:endParaRPr lang="zh-TW" altLang="en-US" sz="2800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xmlns="" id="{8366B2D6-BC1A-4287-A77D-98E43CF19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416842"/>
              </p:ext>
            </p:extLst>
          </p:nvPr>
        </p:nvGraphicFramePr>
        <p:xfrm>
          <a:off x="1250134" y="4709251"/>
          <a:ext cx="5760440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46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Previous Factor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(LPF)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FC33BD-AB45-4C7A-A0FB-9FC2289D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74D74AA8-ACA0-4F79-BF9D-03190E6B87B4}"/>
              </a:ext>
            </a:extLst>
          </p:cNvPr>
          <p:cNvGraphicFramePr>
            <a:graphicFrameLocks noGrp="1"/>
          </p:cNvGraphicFramePr>
          <p:nvPr/>
        </p:nvGraphicFramePr>
        <p:xfrm>
          <a:off x="1250134" y="2113125"/>
          <a:ext cx="6336484" cy="635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64D5BEB5-22EE-4474-9115-242CF5BABC34}"/>
              </a:ext>
            </a:extLst>
          </p:cNvPr>
          <p:cNvGraphicFramePr>
            <a:graphicFrameLocks noGrp="1"/>
          </p:cNvGraphicFramePr>
          <p:nvPr/>
        </p:nvGraphicFramePr>
        <p:xfrm>
          <a:off x="1250134" y="2895235"/>
          <a:ext cx="6336484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22448299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86106955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259876192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1DF4511-73FD-4D28-A4DB-8BAE1EDBC49E}"/>
              </a:ext>
            </a:extLst>
          </p:cNvPr>
          <p:cNvSpPr txBox="1"/>
          <p:nvPr/>
        </p:nvSpPr>
        <p:spPr>
          <a:xfrm>
            <a:off x="4865442" y="2469128"/>
            <a:ext cx="243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/>
              <a:t>i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04EFFD69-F107-4B96-85DB-20C521D5B5C3}"/>
              </a:ext>
            </a:extLst>
          </p:cNvPr>
          <p:cNvSpPr txBox="1"/>
          <p:nvPr/>
        </p:nvSpPr>
        <p:spPr>
          <a:xfrm>
            <a:off x="628650" y="290578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w</a:t>
            </a:r>
            <a:endParaRPr lang="zh-TW" altLang="en-US" sz="280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xmlns="" id="{81CD2BAA-ABF7-4C49-9DA5-029A96800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414319"/>
              </p:ext>
            </p:extLst>
          </p:nvPr>
        </p:nvGraphicFramePr>
        <p:xfrm>
          <a:off x="4729818" y="3803535"/>
          <a:ext cx="172813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969E95A1-38C8-47ED-B010-D4DB92DA8A37}"/>
              </a:ext>
            </a:extLst>
          </p:cNvPr>
          <p:cNvSpPr txBox="1"/>
          <p:nvPr/>
        </p:nvSpPr>
        <p:spPr>
          <a:xfrm>
            <a:off x="849223" y="5651930"/>
            <a:ext cx="1616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LPS[7] </a:t>
            </a:r>
            <a:r>
              <a:rPr lang="en-US" altLang="zh-TW" sz="2800" dirty="0"/>
              <a:t>= 3</a:t>
            </a:r>
            <a:endParaRPr lang="zh-TW" altLang="en-US" sz="2800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xmlns="" id="{8366B2D6-BC1A-4287-A77D-98E43CF19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38175"/>
              </p:ext>
            </p:extLst>
          </p:nvPr>
        </p:nvGraphicFramePr>
        <p:xfrm>
          <a:off x="1250134" y="4709251"/>
          <a:ext cx="4608352" cy="6354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44">
                  <a:extLst>
                    <a:ext uri="{9D8B030D-6E8A-4147-A177-3AD203B41FA5}">
                      <a16:colId xmlns:a16="http://schemas.microsoft.com/office/drawing/2014/main" xmlns="" val="28633995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16063870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023448831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3397124432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624256366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4106454558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2766505127"/>
                    </a:ext>
                  </a:extLst>
                </a:gridCol>
                <a:gridCol w="576044">
                  <a:extLst>
                    <a:ext uri="{9D8B030D-6E8A-4147-A177-3AD203B41FA5}">
                      <a16:colId xmlns:a16="http://schemas.microsoft.com/office/drawing/2014/main" xmlns="" val="1296809551"/>
                    </a:ext>
                  </a:extLst>
                </a:gridCol>
              </a:tblGrid>
              <a:tr h="6354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866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29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48FC33BD-AB45-4C7A-A0FB-9FC2289D7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50792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 LPS[n] = LMP[n] ,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for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LPS[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max{LMP[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 LPS[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+ 1] - 2}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eriod" startAt="2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LPS[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&gt; LPF[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LPS[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+ 1]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=&gt; Distinct palindrome 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8FC33BD-AB45-4C7A-A0FB-9FC2289D7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50792"/>
                <a:ext cx="7886700" cy="4351338"/>
              </a:xfrm>
              <a:blipFill>
                <a:blip r:embed="rId4"/>
                <a:stretch>
                  <a:fillRect l="-1546" t="-25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04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DB52E76D-4CE5-49BC-B294-C38B48CD4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257" y="1420224"/>
            <a:ext cx="5934338" cy="429458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C64734F8-5A01-4942-85F4-4FACFBED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383" y="5714811"/>
            <a:ext cx="6635233" cy="110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6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0FF6F-D5BE-4BB7-94BE-FAA21B30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FC33BD-AB45-4C7A-A0FB-9FC2289D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2"/>
            <a:ext cx="78867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LPF</a:t>
            </a:r>
          </a:p>
          <a:p>
            <a:pPr marL="514350" indent="-514350"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LMP</a:t>
            </a:r>
          </a:p>
          <a:p>
            <a:pPr marL="514350" indent="-514350"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LPS by LMP</a:t>
            </a:r>
          </a:p>
          <a:p>
            <a:pPr marL="514350" indent="-514350"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distinct palindromes by  LPS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LPF</a:t>
            </a:r>
          </a:p>
          <a:p>
            <a:pPr marL="514350" indent="-514350"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O(|w|)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0CE57CE-E3E8-4BEE-8B4A-8C665550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486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35677</TotalTime>
  <Words>393</Words>
  <Application>Microsoft Office PowerPoint</Application>
  <PresentationFormat>如螢幕大小 (4:3)</PresentationFormat>
  <Paragraphs>235</Paragraphs>
  <Slides>10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Counting distinct palindromes in a word in linear time</vt:lpstr>
      <vt:lpstr>Abstract</vt:lpstr>
      <vt:lpstr>Longest Palindromic Suffixes (LPS)</vt:lpstr>
      <vt:lpstr>Longest Palindromic Suffix (LPS)</vt:lpstr>
      <vt:lpstr>Longest Maximal Palindrome (LMP)</vt:lpstr>
      <vt:lpstr>Longest Previous Factor (LPF)</vt:lpstr>
      <vt:lpstr>Longest Previous Factor (LPF)</vt:lpstr>
      <vt:lpstr>Relations</vt:lpstr>
      <vt:lpstr>Example</vt:lpstr>
      <vt:lpstr>Complete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Bebe</cp:lastModifiedBy>
  <cp:revision>430</cp:revision>
  <dcterms:created xsi:type="dcterms:W3CDTF">2016-04-23T07:31:56Z</dcterms:created>
  <dcterms:modified xsi:type="dcterms:W3CDTF">2018-04-03T07:51:07Z</dcterms:modified>
</cp:coreProperties>
</file>