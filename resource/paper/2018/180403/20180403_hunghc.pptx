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9" r:id="rId12"/>
    <p:sldId id="264" r:id="rId13"/>
    <p:sldId id="270" r:id="rId14"/>
    <p:sldId id="265" r:id="rId15"/>
    <p:sldId id="266" r:id="rId16"/>
    <p:sldId id="273" r:id="rId17"/>
    <p:sldId id="271" r:id="rId18"/>
    <p:sldId id="272" r:id="rId19"/>
    <p:sldId id="275" r:id="rId20"/>
    <p:sldId id="274" r:id="rId21"/>
    <p:sldId id="277" r:id="rId22"/>
    <p:sldId id="278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A85E9-C04A-4588-9040-1E0A18C0BE20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0D106-EB78-485F-B50B-E3B0E62930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48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0D106-EB78-485F-B50B-E3B0E62930B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04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2D8DA-E03A-46D9-8CA7-4AB23C65D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B845095-80AE-43B9-A6ED-D931C979D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32C3F7-0E2A-470B-BB7A-F7FDC092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F6C66B-BBAD-4C68-BD1C-410289D1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B4FE75-81BC-4BE3-A575-CDE4AAFF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70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6C598B-D4E8-49FB-BB0A-6A0379A4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B2F4A7-77F2-4C79-AD3D-59DE3CA6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2DEB7F-818B-43E0-B3C4-26A832C4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CCFB89-2B91-4643-BFF4-B4BCCC9E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93E6D7-2E02-40C5-98DA-F3113DBC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65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C8914-B3F8-4EF8-94B5-4D9C3100D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D4C22F-EC64-40A3-BAE4-DCF123D50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300155-9BEE-4B9F-887C-5014DDD8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E4E7BF-FBC0-4D8E-88A9-FE5C8CFB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C0F65C-DFE6-4DCA-A40A-C592F917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82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BD7D8-0294-44A9-A61A-71469F7E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72DA59-1CA3-4055-A618-E2195752B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C42B6A-0810-4D68-9B09-6C70633A4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52AB95-1FEF-4718-96D9-DE207DF0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0DCEAF-FEFD-4328-B772-78AD2D99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777F7D-3E12-47D4-AFA3-3D88F769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05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1F446A-F140-4A70-996C-4BFF3DC6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F36AD2-4DAA-41D7-BC0B-05C65720C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7DA1CD-160E-4B83-A511-B7F13D518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EA3C73-7400-4871-8021-5D7A04F8E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60852AA-97B6-4D80-A7FB-1EDBDCE22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C81E38-19D9-4967-B4B6-1729BC19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8397F4-37C6-4DE5-B3D4-5FF2C309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DD70C48-2C74-40D2-8C3E-244C246C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08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BFD298-4D74-40C7-A848-EC9D6078A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02D226-8F73-4834-8F21-8DFD1FCE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FF83DA-0D54-42D9-BBB8-1C24C6D20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3C31B8-3A5C-4EEF-86FD-55484482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2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F72B238-C978-4291-AA29-80782E40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63EB5AE-8E0C-44B9-B931-D433737B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83B262-7B8F-40E6-A6FB-D8D1D298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10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5DCEBD-6AA4-4A82-90EE-E1D70DFE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CCFE20-5DC9-4C53-A6B2-E4812030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DC3A6D-CCF7-4396-95DE-EC321829F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40E52D-D7F5-4BB3-A0F0-57BBF453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95AB01-199B-4806-BA14-8D9533F8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2A1C9A-AC71-4DAD-A291-0F0C8480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212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F8670-DDF7-4A7B-95B9-354A635E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7853CE-9526-447F-A306-45652E0D1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90E41E-5167-4448-ACBC-1A91C4F2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52B719-536F-43AF-A7EC-EA9D80E7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34AB75-FD9E-4168-A704-612FB0CF8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ED00E2-6C58-43DA-81C7-7F570CF6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41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1B8AA-652B-49C7-A571-314EB7B8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DD5154-4C4A-4408-9BDD-20FB06BA6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478956-4C0C-4F1D-80C2-CC0CB8CA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901EF4-F6DD-4A3B-92C4-24DA7106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1FEEA3-B000-4654-8C46-4AB50CE5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611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BB57456-F953-4E37-B7CD-5EAE531B4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5FEFEA-86BD-4320-9EE0-C76DEDA61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A24AB0-1B08-4501-B9A7-4E458C74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34DC35-37F1-4F01-A1E5-939167C2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3B9007-32E8-4DC7-961D-9826F846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570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E16A621-F1A5-4CE8-9088-0A2191C0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FF368C-394F-4635-9A25-E4991EA9F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8F6ED2-9C63-4564-9A10-CBDEB3D21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B465B-25EA-4856-AB80-1CD89A427B75}" type="datetimeFigureOut">
              <a:rPr lang="zh-TW" altLang="en-US" smtClean="0"/>
              <a:t>2018/4/3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C021BE-0041-42E8-B17C-E4FF2148A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035794-80C5-4DEE-9E70-D12E9F1CC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F16A7-B2C1-4149-ADDC-607736F717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1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C4DAB-55F6-4950-AC5D-406026E6E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903" y="0"/>
            <a:ext cx="9928194" cy="2387600"/>
          </a:xfrm>
        </p:spPr>
        <p:txBody>
          <a:bodyPr/>
          <a:lstStyle/>
          <a:p>
            <a:r>
              <a:rPr lang="en-US" altLang="zh-TW" dirty="0"/>
              <a:t>A dynamic edit distance table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32995B-F7FC-4D95-B3CD-592651694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344586"/>
            <a:ext cx="9144000" cy="987717"/>
          </a:xfrm>
        </p:spPr>
        <p:txBody>
          <a:bodyPr/>
          <a:lstStyle/>
          <a:p>
            <a:r>
              <a:rPr lang="en-US" altLang="zh-TW" dirty="0"/>
              <a:t>Sung-</a:t>
            </a:r>
            <a:r>
              <a:rPr lang="en-US" altLang="zh-TW" dirty="0" err="1"/>
              <a:t>Ryul</a:t>
            </a:r>
            <a:r>
              <a:rPr lang="en-US" altLang="zh-TW" dirty="0"/>
              <a:t> Kim and </a:t>
            </a:r>
            <a:r>
              <a:rPr lang="en-US" altLang="zh-TW" dirty="0" err="1"/>
              <a:t>Kunsoo</a:t>
            </a:r>
            <a:r>
              <a:rPr lang="en-US" altLang="zh-TW" dirty="0"/>
              <a:t> Park</a:t>
            </a:r>
          </a:p>
          <a:p>
            <a:r>
              <a:rPr lang="en-US" altLang="zh-TW" dirty="0"/>
              <a:t>Journal of Discrete Algorithms, vol. 2, pp. 303-312, 2004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999BEA-C7DE-4BA7-AA56-FFEC1ABDC58B}"/>
              </a:ext>
            </a:extLst>
          </p:cNvPr>
          <p:cNvSpPr txBox="1"/>
          <p:nvPr/>
        </p:nvSpPr>
        <p:spPr>
          <a:xfrm>
            <a:off x="4204615" y="4827624"/>
            <a:ext cx="3782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Presenter</a:t>
            </a:r>
            <a:r>
              <a:rPr lang="zh-TW" altLang="en-US" sz="2400" dirty="0"/>
              <a:t>：</a:t>
            </a:r>
            <a:r>
              <a:rPr lang="en-US" altLang="zh-TW" sz="2400" dirty="0"/>
              <a:t>Hsiu-</a:t>
            </a:r>
            <a:r>
              <a:rPr lang="en-US" altLang="zh-TW" sz="2400" dirty="0" err="1"/>
              <a:t>Chieh</a:t>
            </a:r>
            <a:r>
              <a:rPr lang="en-US" altLang="zh-TW" sz="2400" dirty="0"/>
              <a:t> Hung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85B4D19-0A11-4531-91FD-BF291624EB38}"/>
              </a:ext>
            </a:extLst>
          </p:cNvPr>
          <p:cNvSpPr txBox="1"/>
          <p:nvPr/>
        </p:nvSpPr>
        <p:spPr>
          <a:xfrm>
            <a:off x="9321929" y="6118194"/>
            <a:ext cx="173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Date</a:t>
            </a:r>
            <a:r>
              <a:rPr lang="zh-TW" altLang="en-US" dirty="0"/>
              <a:t>：</a:t>
            </a:r>
            <a:r>
              <a:rPr lang="en-US" altLang="zh-TW" dirty="0"/>
              <a:t>2018/4/3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482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909D12-2C96-4715-9D31-78B31BC3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D6CA3D-B1A9-45BA-A675-E1F18A76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In this paper we consider the incremental/decremental version of the edit distance problem: given a solution to the edit distance between two strings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, find a solution to the edit distance between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 where </a:t>
            </a:r>
            <a:r>
              <a:rPr lang="en-US" altLang="zh-TW" i="1" dirty="0"/>
              <a:t>B</a:t>
            </a:r>
            <a:r>
              <a:rPr lang="en-US" altLang="zh-TW" dirty="0"/>
              <a:t> = </a:t>
            </a:r>
            <a:r>
              <a:rPr lang="en-US" altLang="zh-TW" i="1" dirty="0" err="1"/>
              <a:t>aB</a:t>
            </a:r>
            <a:r>
              <a:rPr lang="en-US" altLang="zh-TW" i="1" dirty="0"/>
              <a:t> </a:t>
            </a:r>
            <a:r>
              <a:rPr lang="en-US" altLang="zh-TW" dirty="0"/>
              <a:t>(incremental) or </a:t>
            </a:r>
            <a:r>
              <a:rPr lang="en-US" altLang="zh-TW" i="1" dirty="0" err="1"/>
              <a:t>bB</a:t>
            </a:r>
            <a:r>
              <a:rPr lang="en-US" altLang="zh-TW" i="1" dirty="0"/>
              <a:t> </a:t>
            </a:r>
            <a:r>
              <a:rPr lang="en-US" altLang="zh-TW" dirty="0"/>
              <a:t>= </a:t>
            </a:r>
            <a:r>
              <a:rPr lang="en-US" altLang="zh-TW" i="1" dirty="0"/>
              <a:t>B </a:t>
            </a:r>
            <a:r>
              <a:rPr lang="en-US" altLang="zh-TW" dirty="0"/>
              <a:t>(decremental). As a solution for the edit distance between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</a:t>
            </a:r>
            <a:r>
              <a:rPr lang="en-US" altLang="zh-TW" dirty="0"/>
              <a:t>, we define the difference representation of the </a:t>
            </a:r>
            <a:r>
              <a:rPr lang="en-US" altLang="zh-TW" i="1" dirty="0"/>
              <a:t>D</a:t>
            </a:r>
            <a:r>
              <a:rPr lang="en-US" altLang="zh-TW" dirty="0"/>
              <a:t>-table, which leads to a simple and intuitive algorithm for the incremental/decremental edit distance problem.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41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3762A-FBCB-4694-B356-C521427C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Edit Distance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D428B24-1F89-436C-9E68-FE4D5289BB8F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D428B24-1F89-436C-9E68-FE4D5289B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C5C891EC-5CD5-4AF3-B444-5062EC1F944B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4C9270-625E-4594-92E0-38ACB5A73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55214"/>
              </p:ext>
            </p:extLst>
          </p:nvPr>
        </p:nvGraphicFramePr>
        <p:xfrm>
          <a:off x="3225801" y="2450663"/>
          <a:ext cx="81279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1039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45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A9F88B-9BE0-4EA2-BA16-9EE0D653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Incremental/Decremental Edit Distance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FE5BCA4-EB1E-4B7A-8A0A-1F4B26FAF3F0}"/>
                  </a:ext>
                </a:extLst>
              </p:cNvPr>
              <p:cNvSpPr txBox="1"/>
              <p:nvPr/>
            </p:nvSpPr>
            <p:spPr>
              <a:xfrm>
                <a:off x="1088105" y="2514964"/>
                <a:ext cx="135460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𝑎𝐵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or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FE5BCA4-EB1E-4B7A-8A0A-1F4B26FAF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2514964"/>
                <a:ext cx="1354602" cy="830997"/>
              </a:xfrm>
              <a:prstGeom prst="rect">
                <a:avLst/>
              </a:prstGeom>
              <a:blipFill>
                <a:blip r:embed="rId2"/>
                <a:stretch>
                  <a:fillRect l="-897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37F7378-B3E0-4B58-B3A6-A7FF1CA1CB4F}"/>
                  </a:ext>
                </a:extLst>
              </p:cNvPr>
              <p:cNvSpPr txBox="1"/>
              <p:nvPr/>
            </p:nvSpPr>
            <p:spPr>
              <a:xfrm>
                <a:off x="1088105" y="4504919"/>
                <a:ext cx="34172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37F7378-B3E0-4B58-B3A6-A7FF1CA1C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4504919"/>
                <a:ext cx="3417282" cy="830997"/>
              </a:xfrm>
              <a:prstGeom prst="rect">
                <a:avLst/>
              </a:prstGeom>
              <a:blipFill>
                <a:blip r:embed="rId3"/>
                <a:stretch>
                  <a:fillRect l="-713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A6225604-1922-44D7-8472-EC1D763C3E9F}"/>
              </a:ext>
            </a:extLst>
          </p:cNvPr>
          <p:cNvSpPr txBox="1"/>
          <p:nvPr/>
        </p:nvSpPr>
        <p:spPr>
          <a:xfrm>
            <a:off x="692458" y="2060019"/>
            <a:ext cx="190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Incremental</a:t>
            </a:r>
            <a:r>
              <a:rPr lang="zh-TW" altLang="en-US" sz="2400" dirty="0"/>
              <a:t>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9DD62B1-A606-4927-8D64-49F39FB72F63}"/>
              </a:ext>
            </a:extLst>
          </p:cNvPr>
          <p:cNvSpPr txBox="1"/>
          <p:nvPr/>
        </p:nvSpPr>
        <p:spPr>
          <a:xfrm>
            <a:off x="692458" y="4029115"/>
            <a:ext cx="190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Decremental</a:t>
            </a:r>
            <a:r>
              <a:rPr lang="zh-TW" altLang="en-US" sz="240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9933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1E9BAC-6ACC-49B1-B925-DE6D22F3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Incremental/Decremental Edit Distance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D7766F-2E31-468A-8D13-C68A12E90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269289"/>
              </p:ext>
            </p:extLst>
          </p:nvPr>
        </p:nvGraphicFramePr>
        <p:xfrm>
          <a:off x="3225801" y="2450663"/>
          <a:ext cx="812799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103905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5396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4896BDA-63AC-458A-B05B-09D2284478A6}"/>
                  </a:ext>
                </a:extLst>
              </p:cNvPr>
              <p:cNvSpPr txBox="1"/>
              <p:nvPr/>
            </p:nvSpPr>
            <p:spPr>
              <a:xfrm>
                <a:off x="1088105" y="2514964"/>
                <a:ext cx="6345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4896BDA-63AC-458A-B05B-09D228447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2514964"/>
                <a:ext cx="634597" cy="830997"/>
              </a:xfrm>
              <a:prstGeom prst="rect">
                <a:avLst/>
              </a:prstGeom>
              <a:blipFill>
                <a:blip r:embed="rId3"/>
                <a:stretch>
                  <a:fillRect l="-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255D97E0-8EB9-49D0-852F-020B1131FAC8}"/>
              </a:ext>
            </a:extLst>
          </p:cNvPr>
          <p:cNvSpPr txBox="1"/>
          <p:nvPr/>
        </p:nvSpPr>
        <p:spPr>
          <a:xfrm>
            <a:off x="692458" y="2060019"/>
            <a:ext cx="190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Incremental</a:t>
            </a:r>
            <a:r>
              <a:rPr lang="zh-TW" altLang="en-US" sz="2400" dirty="0"/>
              <a:t>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CF0E45-85A4-4F47-9F03-4085B0206F37}"/>
                  </a:ext>
                </a:extLst>
              </p:cNvPr>
              <p:cNvSpPr txBox="1"/>
              <p:nvPr/>
            </p:nvSpPr>
            <p:spPr>
              <a:xfrm>
                <a:off x="1152152" y="5401417"/>
                <a:ext cx="9893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CF0E45-85A4-4F47-9F03-4085B0206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152" y="5401417"/>
                <a:ext cx="989310" cy="461665"/>
              </a:xfrm>
              <a:prstGeom prst="rect">
                <a:avLst/>
              </a:prstGeom>
              <a:blipFill>
                <a:blip r:embed="rId4"/>
                <a:stretch>
                  <a:fillRect r="-185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00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BE482-A9E0-49C3-B852-2877CE1E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Incremental/Decremental Edit Distance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029BD25-FC41-48D5-874F-ABDAEDE017E4}"/>
                  </a:ext>
                </a:extLst>
              </p:cNvPr>
              <p:cNvSpPr txBox="1"/>
              <p:nvPr/>
            </p:nvSpPr>
            <p:spPr>
              <a:xfrm>
                <a:off x="974893" y="2166492"/>
                <a:ext cx="25612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5029BD25-FC41-48D5-874F-ABDAEDE01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893" y="2166492"/>
                <a:ext cx="2561279" cy="830997"/>
              </a:xfrm>
              <a:prstGeom prst="rect">
                <a:avLst/>
              </a:prstGeom>
              <a:blipFill>
                <a:blip r:embed="rId2"/>
                <a:stretch>
                  <a:fillRect l="-1190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FA0F7113-CF9B-447B-A1D6-1D5E0408426C}"/>
              </a:ext>
            </a:extLst>
          </p:cNvPr>
          <p:cNvSpPr txBox="1"/>
          <p:nvPr/>
        </p:nvSpPr>
        <p:spPr>
          <a:xfrm>
            <a:off x="579246" y="1690688"/>
            <a:ext cx="190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Decremental</a:t>
            </a:r>
            <a:r>
              <a:rPr lang="zh-TW" altLang="en-US" sz="2400" dirty="0"/>
              <a:t>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0BB9641-3FE3-4A8B-A394-62CC4D149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98043"/>
              </p:ext>
            </p:extLst>
          </p:nvPr>
        </p:nvGraphicFramePr>
        <p:xfrm>
          <a:off x="3391264" y="2433245"/>
          <a:ext cx="745066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103905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2A0CEC-0496-4FF7-8E4B-88197B19633A}"/>
                  </a:ext>
                </a:extLst>
              </p:cNvPr>
              <p:cNvSpPr txBox="1"/>
              <p:nvPr/>
            </p:nvSpPr>
            <p:spPr>
              <a:xfrm>
                <a:off x="1152152" y="5401417"/>
                <a:ext cx="9893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22A0CEC-0496-4FF7-8E4B-88197B196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152" y="5401417"/>
                <a:ext cx="989310" cy="461665"/>
              </a:xfrm>
              <a:prstGeom prst="rect">
                <a:avLst/>
              </a:prstGeom>
              <a:blipFill>
                <a:blip r:embed="rId3"/>
                <a:stretch>
                  <a:fillRect r="-1852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43B9924-476C-4058-8135-A61FB589875C}"/>
              </a:ext>
            </a:extLst>
          </p:cNvPr>
          <p:cNvCxnSpPr>
            <a:cxnSpLocks/>
          </p:cNvCxnSpPr>
          <p:nvPr/>
        </p:nvCxnSpPr>
        <p:spPr>
          <a:xfrm>
            <a:off x="10476411" y="2063931"/>
            <a:ext cx="60960" cy="457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369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38377-D1C7-426F-BB14-1BE87625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Incremental/Decremental Edit Distance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35ECAC9-C8A5-4BF7-83C5-1BA26EF3AE4C}"/>
                  </a:ext>
                </a:extLst>
              </p:cNvPr>
              <p:cNvSpPr txBox="1"/>
              <p:nvPr/>
            </p:nvSpPr>
            <p:spPr>
              <a:xfrm>
                <a:off x="1088105" y="2514964"/>
                <a:ext cx="6353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𝑎𝐵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35ECAC9-C8A5-4BF7-83C5-1BA26EF3A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2514964"/>
                <a:ext cx="635367" cy="830997"/>
              </a:xfrm>
              <a:prstGeom prst="rect">
                <a:avLst/>
              </a:prstGeom>
              <a:blipFill>
                <a:blip r:embed="rId2"/>
                <a:stretch>
                  <a:fillRect l="-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02267F8-F7F9-4A12-936F-AFAF0966F175}"/>
                  </a:ext>
                </a:extLst>
              </p:cNvPr>
              <p:cNvSpPr txBox="1"/>
              <p:nvPr/>
            </p:nvSpPr>
            <p:spPr>
              <a:xfrm>
                <a:off x="1088105" y="4504919"/>
                <a:ext cx="260244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𝑏𝐵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02267F8-F7F9-4A12-936F-AFAF0966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5" y="4504919"/>
                <a:ext cx="2602444" cy="830997"/>
              </a:xfrm>
              <a:prstGeom prst="rect">
                <a:avLst/>
              </a:prstGeom>
              <a:blipFill>
                <a:blip r:embed="rId3"/>
                <a:stretch>
                  <a:fillRect l="-937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7307F2F2-FAE9-4CEF-A520-9B2F510A0B11}"/>
              </a:ext>
            </a:extLst>
          </p:cNvPr>
          <p:cNvSpPr txBox="1"/>
          <p:nvPr/>
        </p:nvSpPr>
        <p:spPr>
          <a:xfrm>
            <a:off x="692458" y="2060019"/>
            <a:ext cx="190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Incremental</a:t>
            </a:r>
            <a:r>
              <a:rPr lang="zh-TW" altLang="en-US" sz="2400" dirty="0"/>
              <a:t>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43F9350-F86A-47A0-8A3B-69E5D05F445A}"/>
              </a:ext>
            </a:extLst>
          </p:cNvPr>
          <p:cNvSpPr txBox="1"/>
          <p:nvPr/>
        </p:nvSpPr>
        <p:spPr>
          <a:xfrm>
            <a:off x="692458" y="4029115"/>
            <a:ext cx="4245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Decremental</a:t>
            </a:r>
            <a:r>
              <a:rPr lang="zh-TW" altLang="en-US" sz="2400" dirty="0"/>
              <a:t>：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以此為例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457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5EA16E5-CD66-4916-AC05-52E0902E7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018584"/>
              </p:ext>
            </p:extLst>
          </p:nvPr>
        </p:nvGraphicFramePr>
        <p:xfrm>
          <a:off x="3391264" y="2433245"/>
          <a:ext cx="745066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103905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F985162-396B-4AB0-B804-260991E633B1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F985162-396B-4AB0-B804-260991E63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0BECBD3A-2BC8-45D6-A21B-71FA41A2A01D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AD7FFBF-47FF-4C6B-B050-4D60389E6092}"/>
                  </a:ext>
                </a:extLst>
              </p:cNvPr>
              <p:cNvSpPr txBox="1"/>
              <p:nvPr/>
            </p:nvSpPr>
            <p:spPr>
              <a:xfrm>
                <a:off x="1225419" y="5068389"/>
                <a:ext cx="11340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AD7FFBF-47FF-4C6B-B050-4D60389E6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19" y="5068389"/>
                <a:ext cx="1134093" cy="461665"/>
              </a:xfrm>
              <a:prstGeom prst="rect">
                <a:avLst/>
              </a:prstGeom>
              <a:blipFill>
                <a:blip r:embed="rId3"/>
                <a:stretch>
                  <a:fillRect l="-1075" t="-10526" r="-6989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48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385589" cy="830997"/>
              </a:xfrm>
              <a:prstGeom prst="rect">
                <a:avLst/>
              </a:prstGeom>
              <a:blipFill>
                <a:blip r:embed="rId2"/>
                <a:stretch>
                  <a:fillRect l="-7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/>
              <p:nvPr/>
            </p:nvSpPr>
            <p:spPr>
              <a:xfrm>
                <a:off x="929327" y="2967335"/>
                <a:ext cx="13296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27" y="2967335"/>
                <a:ext cx="1329659" cy="461665"/>
              </a:xfrm>
              <a:prstGeom prst="rect">
                <a:avLst/>
              </a:prstGeom>
              <a:blipFill>
                <a:blip r:embed="rId3"/>
                <a:stretch>
                  <a:fillRect l="-913" t="-10526" r="-5479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/>
              <p:nvPr/>
            </p:nvSpPr>
            <p:spPr>
              <a:xfrm>
                <a:off x="1301546" y="3570688"/>
                <a:ext cx="479445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46" y="3570688"/>
                <a:ext cx="4794454" cy="1015663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617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D643A48-33B4-4AE1-B91A-546F7413232F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D643A48-33B4-4AE1-B91A-546F74132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59FB79D-BF7A-4295-BDBE-1E825C8FF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373245"/>
              </p:ext>
            </p:extLst>
          </p:nvPr>
        </p:nvGraphicFramePr>
        <p:xfrm>
          <a:off x="3391264" y="243324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208EAF1-3710-4343-8911-BB94A4A31AFF}"/>
                  </a:ext>
                </a:extLst>
              </p:cNvPr>
              <p:cNvSpPr txBox="1"/>
              <p:nvPr/>
            </p:nvSpPr>
            <p:spPr>
              <a:xfrm>
                <a:off x="1225419" y="5068389"/>
                <a:ext cx="12052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208EAF1-3710-4343-8911-BB94A4A31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419" y="5068389"/>
                <a:ext cx="1205202" cy="461665"/>
              </a:xfrm>
              <a:prstGeom prst="rect">
                <a:avLst/>
              </a:prstGeom>
              <a:blipFill>
                <a:blip r:embed="rId3"/>
                <a:stretch>
                  <a:fillRect l="-2020" t="-10526" r="-656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8D4D084E-81A1-4187-AA91-384FA8E87590}"/>
              </a:ext>
            </a:extLst>
          </p:cNvPr>
          <p:cNvSpPr txBox="1"/>
          <p:nvPr/>
        </p:nvSpPr>
        <p:spPr>
          <a:xfrm>
            <a:off x="692458" y="3016251"/>
            <a:ext cx="1670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Insertion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Deletion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</a:p>
          <a:p>
            <a:r>
              <a:rPr lang="en-US" altLang="zh-TW" dirty="0"/>
              <a:t>Substitution</a:t>
            </a:r>
            <a:r>
              <a:rPr lang="zh-TW" altLang="en-US" dirty="0"/>
              <a:t>：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094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/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𝑎𝑏𝑎𝑏𝑏𝑎𝑏𝑏</m:t>
                      </m:r>
                    </m:oMath>
                  </m:oMathPara>
                </a14:m>
                <a:endParaRPr lang="en-US" altLang="zh-TW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𝑏𝑎𝑏𝑎𝑏𝑏𝑎𝑏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A04385E-6A7B-4FBF-A46A-83AD20E9C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58" y="1690688"/>
                <a:ext cx="2290755" cy="830997"/>
              </a:xfrm>
              <a:prstGeom prst="rect">
                <a:avLst/>
              </a:prstGeo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/>
              <p:nvPr/>
            </p:nvSpPr>
            <p:spPr>
              <a:xfrm>
                <a:off x="929327" y="2967335"/>
                <a:ext cx="14007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A5A9840-66EB-4413-9B2C-6F6D213A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27" y="2967335"/>
                <a:ext cx="1400768" cy="461665"/>
              </a:xfrm>
              <a:prstGeom prst="rect">
                <a:avLst/>
              </a:prstGeom>
              <a:blipFill>
                <a:blip r:embed="rId3"/>
                <a:stretch>
                  <a:fillRect l="-1739" t="-10526" r="-5217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/>
              <p:nvPr/>
            </p:nvSpPr>
            <p:spPr>
              <a:xfrm>
                <a:off x="1301546" y="3570688"/>
                <a:ext cx="496911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𝑈𝐿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DAA3957-C125-4683-B9A0-E6681830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46" y="3570688"/>
                <a:ext cx="4969117" cy="1015663"/>
              </a:xfrm>
              <a:prstGeom prst="rect">
                <a:avLst/>
              </a:prstGeom>
              <a:blipFill>
                <a:blip r:embed="rId4"/>
                <a:stretch>
                  <a:fillRect l="-245" b="-48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25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BE2E81-AA8E-47FB-A759-522FAD52D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760294"/>
              </p:ext>
            </p:extLst>
          </p:nvPr>
        </p:nvGraphicFramePr>
        <p:xfrm>
          <a:off x="3391264" y="243324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/>
              <p:nvPr/>
            </p:nvSpPr>
            <p:spPr>
              <a:xfrm>
                <a:off x="6555066" y="1971580"/>
                <a:ext cx="12729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𝐶h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066" y="1971580"/>
                <a:ext cx="1272977" cy="461665"/>
              </a:xfrm>
              <a:prstGeom prst="rect">
                <a:avLst/>
              </a:prstGeom>
              <a:blipFill>
                <a:blip r:embed="rId2"/>
                <a:stretch>
                  <a:fillRect l="-1435" t="-10526" r="-622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/>
              <p:nvPr/>
            </p:nvSpPr>
            <p:spPr>
              <a:xfrm>
                <a:off x="452846" y="1202268"/>
                <a:ext cx="3566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6" y="1202268"/>
                <a:ext cx="3566810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536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BE2E81-AA8E-47FB-A759-522FAD52D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08032"/>
              </p:ext>
            </p:extLst>
          </p:nvPr>
        </p:nvGraphicFramePr>
        <p:xfrm>
          <a:off x="3391264" y="2433245"/>
          <a:ext cx="677333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7646615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772122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7605258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156056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976754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57265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4088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0941494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5107153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54041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2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2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5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107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95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1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49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1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462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/>
              <p:nvPr/>
            </p:nvSpPr>
            <p:spPr>
              <a:xfrm>
                <a:off x="6555065" y="1971580"/>
                <a:ext cx="12729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𝐶h</m:t>
                    </m:r>
                  </m:oMath>
                </a14:m>
                <a:r>
                  <a:rPr lang="en-US" altLang="zh-TW" sz="2400" dirty="0"/>
                  <a:t>-table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9068F2D-9A32-42B3-974F-E03D7E43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065" y="1971580"/>
                <a:ext cx="1272977" cy="461665"/>
              </a:xfrm>
              <a:prstGeom prst="rect">
                <a:avLst/>
              </a:prstGeom>
              <a:blipFill>
                <a:blip r:embed="rId2"/>
                <a:stretch>
                  <a:fillRect l="-1435" t="-10526" r="-622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/>
              <p:nvPr/>
            </p:nvSpPr>
            <p:spPr>
              <a:xfrm>
                <a:off x="452846" y="1202268"/>
                <a:ext cx="3566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5F9535-1768-4119-A190-7F006298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6" y="1202268"/>
                <a:ext cx="3566810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CD5D767-06B7-46A3-A785-1FE937C6EB51}"/>
                  </a:ext>
                </a:extLst>
              </p:cNvPr>
              <p:cNvSpPr txBox="1"/>
              <p:nvPr/>
            </p:nvSpPr>
            <p:spPr>
              <a:xfrm>
                <a:off x="452846" y="1725359"/>
                <a:ext cx="582603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 if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and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are not the same.</a:t>
                </a:r>
                <a:endParaRPr lang="zh-TW" altLang="en-US" sz="2000" dirty="0"/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CD5D767-06B7-46A3-A785-1FE937C6E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6" y="1725359"/>
                <a:ext cx="5826035" cy="707886"/>
              </a:xfrm>
              <a:prstGeom prst="rect">
                <a:avLst/>
              </a:prstGeom>
              <a:blipFill>
                <a:blip r:embed="rId4"/>
                <a:stretch>
                  <a:fillRect t="-4310" r="-1464" b="-146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64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F36419A-EFE4-40BD-8755-28AC07A25D52}"/>
                  </a:ext>
                </a:extLst>
              </p:cNvPr>
              <p:cNvSpPr txBox="1"/>
              <p:nvPr/>
            </p:nvSpPr>
            <p:spPr>
              <a:xfrm>
                <a:off x="470262" y="1899531"/>
                <a:ext cx="61482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not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, then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𝐷𝑅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TW" altLang="en-US" sz="2000" dirty="0"/>
                  <a:t> </a:t>
                </a: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F36419A-EFE4-40BD-8755-28AC07A25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2" y="1899531"/>
                <a:ext cx="6148251" cy="400110"/>
              </a:xfrm>
              <a:prstGeom prst="rect">
                <a:avLst/>
              </a:prstGeom>
              <a:blipFill>
                <a:blip r:embed="rId2"/>
                <a:stretch>
                  <a:fillRect l="-991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C21FE02-1AE0-40A4-8418-D74FC4F0929F}"/>
                  </a:ext>
                </a:extLst>
              </p:cNvPr>
              <p:cNvSpPr txBox="1"/>
              <p:nvPr/>
            </p:nvSpPr>
            <p:spPr>
              <a:xfrm>
                <a:off x="470263" y="1346537"/>
                <a:ext cx="60350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, then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is also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affected</a:t>
                </a:r>
                <a:r>
                  <a:rPr lang="en-US" altLang="zh-TW" sz="2000" dirty="0"/>
                  <a:t>.</a:t>
                </a:r>
                <a:endParaRPr lang="zh-TW" altLang="en-US" sz="20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C21FE02-1AE0-40A4-8418-D74FC4F09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3" y="1346537"/>
                <a:ext cx="6035040" cy="400110"/>
              </a:xfrm>
              <a:prstGeom prst="rect">
                <a:avLst/>
              </a:prstGeom>
              <a:blipFill>
                <a:blip r:embed="rId3"/>
                <a:stretch>
                  <a:fillRect l="-1010"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0D54CB6-A626-472E-85B7-7E2D0FEE3711}"/>
                  </a:ext>
                </a:extLst>
              </p:cNvPr>
              <p:cNvSpPr txBox="1"/>
              <p:nvPr/>
            </p:nvSpPr>
            <p:spPr>
              <a:xfrm>
                <a:off x="1178584" y="2949510"/>
                <a:ext cx="6965305" cy="958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         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𝐶h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                   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0D54CB6-A626-472E-85B7-7E2D0FEE3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84" y="2949510"/>
                <a:ext cx="6965305" cy="958980"/>
              </a:xfrm>
              <a:prstGeom prst="rect">
                <a:avLst/>
              </a:prstGeom>
              <a:blipFill>
                <a:blip r:embed="rId4"/>
                <a:stretch>
                  <a:fillRect b="-44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E74165A-C02D-42D9-9C3F-A7A66A6C45FB}"/>
                  </a:ext>
                </a:extLst>
              </p:cNvPr>
              <p:cNvSpPr txBox="1"/>
              <p:nvPr/>
            </p:nvSpPr>
            <p:spPr>
              <a:xfrm>
                <a:off x="1178584" y="2452525"/>
                <a:ext cx="32319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E74165A-C02D-42D9-9C3F-A7A66A6C4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84" y="2452525"/>
                <a:ext cx="3231974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F17A293-7BFF-4F22-BE34-EC46C7E896A4}"/>
                  </a:ext>
                </a:extLst>
              </p:cNvPr>
              <p:cNvSpPr txBox="1"/>
              <p:nvPr/>
            </p:nvSpPr>
            <p:spPr>
              <a:xfrm>
                <a:off x="470262" y="4807131"/>
                <a:ext cx="6825971" cy="1232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𝐷𝑅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𝑈𝐿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𝐶h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0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𝐷𝑅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𝐶h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𝐷𝑅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𝐶h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F17A293-7BFF-4F22-BE34-EC46C7E89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2" y="4807131"/>
                <a:ext cx="6825971" cy="1232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4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2B1D75D-FB43-4723-A79B-91BAB7C1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1" y="0"/>
            <a:ext cx="464962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/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blipFill>
                <a:blip r:embed="rId3"/>
                <a:stretch>
                  <a:fillRect l="-36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/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blipFill>
                <a:blip r:embed="rId4"/>
                <a:stretch>
                  <a:fillRect l="-112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/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Invariant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blipFill>
                <a:blip r:embed="rId5"/>
                <a:stretch>
                  <a:fillRect l="-18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BCA08D19-136A-4D3B-97EB-D7BBFE5D999A}"/>
              </a:ext>
            </a:extLst>
          </p:cNvPr>
          <p:cNvSpPr/>
          <p:nvPr/>
        </p:nvSpPr>
        <p:spPr>
          <a:xfrm>
            <a:off x="6940730" y="1489165"/>
            <a:ext cx="3762103" cy="16981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757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CE8DC4F-3A85-4A6B-B463-737D99FF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319212"/>
            <a:ext cx="101060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26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2B1D75D-FB43-4723-A79B-91BAB7C1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1" y="0"/>
            <a:ext cx="464962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/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blipFill>
                <a:blip r:embed="rId3"/>
                <a:stretch>
                  <a:fillRect l="-36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/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blipFill>
                <a:blip r:embed="rId4"/>
                <a:stretch>
                  <a:fillRect l="-112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/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Invariant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blipFill>
                <a:blip r:embed="rId5"/>
                <a:stretch>
                  <a:fillRect l="-18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A6FF94B5-A4D1-4B9C-B717-8FC81B970367}"/>
              </a:ext>
            </a:extLst>
          </p:cNvPr>
          <p:cNvSpPr/>
          <p:nvPr/>
        </p:nvSpPr>
        <p:spPr>
          <a:xfrm>
            <a:off x="6792684" y="3135086"/>
            <a:ext cx="3762103" cy="5312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598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2B1D75D-FB43-4723-A79B-91BAB7C1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1" y="0"/>
            <a:ext cx="464962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/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blipFill>
                <a:blip r:embed="rId3"/>
                <a:stretch>
                  <a:fillRect l="-36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/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blipFill>
                <a:blip r:embed="rId4"/>
                <a:stretch>
                  <a:fillRect l="-112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/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Invariant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blipFill>
                <a:blip r:embed="rId5"/>
                <a:stretch>
                  <a:fillRect l="-18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FC6837F-CA72-44F8-96B1-1B7ADA6C336C}"/>
              </a:ext>
            </a:extLst>
          </p:cNvPr>
          <p:cNvSpPr/>
          <p:nvPr/>
        </p:nvSpPr>
        <p:spPr>
          <a:xfrm>
            <a:off x="6923312" y="3657600"/>
            <a:ext cx="4093031" cy="24296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70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E57CD15-C7F8-4AFB-A52F-6DF131DE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7" y="1590675"/>
            <a:ext cx="51149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2B1D75D-FB43-4723-A79B-91BAB7C1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1" y="0"/>
            <a:ext cx="464962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/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blipFill>
                <a:blip r:embed="rId3"/>
                <a:stretch>
                  <a:fillRect l="-36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/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blipFill>
                <a:blip r:embed="rId4"/>
                <a:stretch>
                  <a:fillRect l="-112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/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Invariant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blipFill>
                <a:blip r:embed="rId5"/>
                <a:stretch>
                  <a:fillRect l="-18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FC6837F-CA72-44F8-96B1-1B7ADA6C336C}"/>
              </a:ext>
            </a:extLst>
          </p:cNvPr>
          <p:cNvSpPr/>
          <p:nvPr/>
        </p:nvSpPr>
        <p:spPr>
          <a:xfrm>
            <a:off x="6905897" y="6122126"/>
            <a:ext cx="4292952" cy="5225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975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2B1D75D-FB43-4723-A79B-91BAB7C1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21" y="0"/>
            <a:ext cx="4649628" cy="685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/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61FE924-BA74-4C52-B526-E2156F9A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271451"/>
                <a:ext cx="5077544" cy="369332"/>
              </a:xfrm>
              <a:prstGeom prst="rect">
                <a:avLst/>
              </a:prstGeom>
              <a:blipFill>
                <a:blip r:embed="rId3"/>
                <a:stretch>
                  <a:fillRect l="-360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/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0" dirty="0"/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zh-TW" altLang="en-US" dirty="0"/>
                  <a:t>：</a:t>
                </a:r>
                <a:r>
                  <a:rPr lang="en-US" altLang="zh-TW" dirty="0"/>
                  <a:t>the smallest integer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𝐶h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i="1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E465535-F6C5-4455-9498-4A1F304B8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36" y="1763485"/>
                <a:ext cx="4884735" cy="369332"/>
              </a:xfrm>
              <a:prstGeom prst="rect">
                <a:avLst/>
              </a:prstGeom>
              <a:blipFill>
                <a:blip r:embed="rId4"/>
                <a:stretch>
                  <a:fillRect l="-112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/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Invariant</a:t>
                </a:r>
                <a:r>
                  <a:rPr lang="zh-TW" altLang="en-US" dirty="0"/>
                  <a:t>：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A204B94-6CDA-49D7-B122-0DACD031E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" y="3135086"/>
                <a:ext cx="2669898" cy="646331"/>
              </a:xfrm>
              <a:prstGeom prst="rect">
                <a:avLst/>
              </a:prstGeom>
              <a:blipFill>
                <a:blip r:embed="rId5"/>
                <a:stretch>
                  <a:fillRect l="-1826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DDAC684-27A5-4695-A0C6-8B766A392F48}"/>
                  </a:ext>
                </a:extLst>
              </p:cNvPr>
              <p:cNvSpPr txBox="1"/>
              <p:nvPr/>
            </p:nvSpPr>
            <p:spPr>
              <a:xfrm>
                <a:off x="195217" y="4725184"/>
                <a:ext cx="60070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𝐷𝑅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𝐶h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DDAC684-27A5-4695-A0C6-8B766A392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7" y="4725184"/>
                <a:ext cx="6007094" cy="707886"/>
              </a:xfrm>
              <a:prstGeom prst="rect">
                <a:avLst/>
              </a:prstGeom>
              <a:blipFill>
                <a:blip r:embed="rId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411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E05EC3-4DCE-41B5-BC6C-ED9C52D5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Conclusion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6B51A0-279E-45E1-B37E-0E1F5BE681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TW" dirty="0"/>
                  <a:t>-table can be computed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time.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6B51A0-279E-45E1-B37E-0E1F5BE68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125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1556</Words>
  <Application>Microsoft Office PowerPoint</Application>
  <PresentationFormat>寬螢幕</PresentationFormat>
  <Paragraphs>818</Paragraphs>
  <Slides>22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新細明體</vt:lpstr>
      <vt:lpstr>標楷體</vt:lpstr>
      <vt:lpstr>Arial</vt:lpstr>
      <vt:lpstr>Calibri</vt:lpstr>
      <vt:lpstr>Calibri Light</vt:lpstr>
      <vt:lpstr>Cambria Math</vt:lpstr>
      <vt:lpstr>Office 佈景主題</vt:lpstr>
      <vt:lpstr>A dynamic edit distance table</vt:lpstr>
      <vt:lpstr>Abstract</vt:lpstr>
      <vt:lpstr>Edit Distance</vt:lpstr>
      <vt:lpstr>Incremental/Decremental Edit Distance</vt:lpstr>
      <vt:lpstr>Incremental/Decremental Edit Distance</vt:lpstr>
      <vt:lpstr>Incremental/Decremental Edit Distance</vt:lpstr>
      <vt:lpstr>Incremental/Decremental Edit Distance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dynamic edit distance table</dc:title>
  <dc:creator>Caros</dc:creator>
  <cp:lastModifiedBy>Caros</cp:lastModifiedBy>
  <cp:revision>32</cp:revision>
  <dcterms:created xsi:type="dcterms:W3CDTF">2018-04-02T16:43:35Z</dcterms:created>
  <dcterms:modified xsi:type="dcterms:W3CDTF">2018-04-03T09:43:12Z</dcterms:modified>
</cp:coreProperties>
</file>