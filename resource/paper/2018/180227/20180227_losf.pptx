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60" r:id="rId3"/>
    <p:sldId id="284" r:id="rId4"/>
    <p:sldId id="285" r:id="rId5"/>
    <p:sldId id="286" r:id="rId6"/>
    <p:sldId id="288" r:id="rId7"/>
    <p:sldId id="287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0" autoAdjust="0"/>
    <p:restoredTop sz="88876" autoAdjust="0"/>
  </p:normalViewPr>
  <p:slideViewPr>
    <p:cSldViewPr snapToGrid="0">
      <p:cViewPr varScale="1">
        <p:scale>
          <a:sx n="103" d="100"/>
          <a:sy n="103" d="100"/>
        </p:scale>
        <p:origin x="1728" y="14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6074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8809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432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1319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225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289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874B-C395-47F4-9570-4C8CF7D45370}" type="datetime1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DEDB-5F5E-44FA-B831-E90F058DB6F4}" type="datetime1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1630-F4D6-4EBF-9C74-8617157AD5D6}" type="datetime1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D3DE-8CFB-4129-96E2-08988034C732}" type="datetime1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CE5E-A50E-4314-8E1B-4CDA583A915B}" type="datetime1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D8EC-D88C-48B5-B26B-F86C173BA82F}" type="datetime1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FB5D-05F3-4856-AB9D-B8A7C57C895A}" type="datetime1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97A6-071E-4A76-B85B-D424C755E7DF}" type="datetime1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83EC-5F79-4973-9855-BCC29F5B863A}" type="datetime1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3B9F-CBD6-4321-983D-C2EF11BDF098}" type="datetime1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04472-345F-406F-9172-EFF7C92DEB6F}" type="datetime1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A1D2B-8465-443F-AA03-EF1EA2D4A471}" type="datetime1">
              <a:rPr lang="zh-TW" altLang="en-US" smtClean="0"/>
              <a:t>2018/2/27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almost-increasing subsequence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060448"/>
            <a:ext cx="8353402" cy="4111751"/>
          </a:xfrm>
        </p:spPr>
        <p:txBody>
          <a:bodyPr>
            <a:noAutofit/>
          </a:bodyPr>
          <a:lstStyle/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Elmasry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110 (2010) 655–658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Shou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-Fu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 2018/2/27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223924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sequence of n elements, we introduce the notion of an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almost-increasing subsequence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longest subsequence that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converted to an increasing subsequence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possibly 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value, that is at most a ﬁxed constant, to each of the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how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optimally construct such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 (n log k) time, where k is the length of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subsequence.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1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05641" y="96979"/>
            <a:ext cx="9249641" cy="1126874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22885" y="1223853"/>
                <a:ext cx="8717280" cy="446974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sequence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TW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. . . ,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xi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constant c &gt; 0, our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 is to construct a longest subsequence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US" altLang="zh-TW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US" altLang="zh-TW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. . . ,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yk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such t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∀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7, 15, 2, 14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 c = 2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ns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7, 15, 14</m:t>
                        </m:r>
                      </m:e>
                    </m:d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2885" y="1223853"/>
                <a:ext cx="8717280" cy="4469740"/>
              </a:xfrm>
              <a:blipFill rotWithShape="0">
                <a:blip r:embed="rId3"/>
                <a:stretch>
                  <a:fillRect l="-1119" t="-19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117600" y="5231928"/>
            <a:ext cx="1537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&gt; 15 - 2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94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05641" y="-47399"/>
            <a:ext cx="9249641" cy="1126874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formulation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60539" y="998481"/>
                <a:ext cx="8717280" cy="460272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LaIS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(h,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h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denote a longest almost-increasing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subsequence among the elements of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TW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. . . ,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xi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such that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largest element is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h is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minimal.</a:t>
                </a:r>
              </a:p>
              <a:p>
                <a:pPr marL="0" indent="0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BR" altLang="zh-TW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LaIS(h, i) = LaIS(h, h) · T (h, i</a:t>
                </a:r>
                <a:r>
                  <a:rPr lang="pt-BR" altLang="zh-TW" sz="2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“·” is the concatenation operation, and T (h,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subsequence including every element x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among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TW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altLang="zh-TW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+1, . 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 . ,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xi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satisfying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− c &lt; x 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 </m:t>
                    </m:r>
                  </m:oMath>
                </a14:m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BR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pt-BR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BR" altLang="zh-TW" sz="2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LaIS(h</a:t>
                </a:r>
                <a:r>
                  <a:rPr lang="pt-BR" altLang="zh-TW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h) = </a:t>
                </a:r>
                <a:r>
                  <a:rPr lang="pt-BR" altLang="zh-TW" sz="2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LaIS(i</a:t>
                </a:r>
                <a14:m>
                  <m:oMath xmlns:m="http://schemas.openxmlformats.org/officeDocument/2006/math">
                    <m:r>
                      <a:rPr lang="pt-BR" altLang="zh-TW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</m:t>
                    </m:r>
                  </m:oMath>
                </a14:m>
                <a:r>
                  <a:rPr lang="pt-BR" altLang="zh-TW" sz="2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pt-BR" altLang="zh-TW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 − </a:t>
                </a:r>
                <a:r>
                  <a:rPr lang="pt-BR" altLang="zh-TW" sz="2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 </a:t>
                </a:r>
                <a:r>
                  <a:rPr lang="pt-BR" altLang="zh-TW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pt-BR" altLang="zh-TW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pt-BR" altLang="zh-TW" sz="2400" b="1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pt-BR" altLang="zh-TW" sz="2400" b="1" baseline="-250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pt-BR" altLang="zh-TW" sz="2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length(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LaIS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pt-B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a:rPr lang="pt-BR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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 − 1)) has the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value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among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pt-BR" altLang="zh-TW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pt-BR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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h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satisfying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a:rPr lang="pt-BR" altLang="zh-TW" sz="24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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539" y="998481"/>
                <a:ext cx="8717280" cy="4602729"/>
              </a:xfrm>
              <a:blipFill rotWithShape="0">
                <a:blip r:embed="rId3"/>
                <a:stretch>
                  <a:fillRect l="-1049" t="-1854" b="-311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898360" y="3160295"/>
            <a:ext cx="1627342" cy="19054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5819037" y="5001608"/>
            <a:ext cx="1719072" cy="179222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7533577" y="5008578"/>
            <a:ext cx="1578864" cy="62788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7296962" y="4338849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sz="24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8195103" y="4844815"/>
            <a:ext cx="104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(h, i</a:t>
            </a:r>
            <a:r>
              <a:rPr lang="pt-BR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517633" y="5269904"/>
            <a:ext cx="1449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LaIS(h, h)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55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429" y="1223854"/>
            <a:ext cx="6667500" cy="563414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05641" y="96979"/>
            <a:ext cx="9249641" cy="1126874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705853" y="931082"/>
                <a:ext cx="8133347" cy="103006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    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7, 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15, 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2,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14,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14, 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6, 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8, 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11, 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17, 15, 14, 13</m:t>
                        </m:r>
                      </m:e>
                    </m:d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853" y="931082"/>
                <a:ext cx="8133347" cy="1030067"/>
              </a:xfrm>
              <a:blipFill rotWithShape="0">
                <a:blip r:embed="rId4"/>
                <a:stretch>
                  <a:fillRect l="-1199" t="-82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17600" y="2641600"/>
            <a:ext cx="3491345" cy="5264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6840164" y="1944126"/>
            <a:ext cx="23038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7</a:t>
            </a:r>
            <a:r>
              <a:rPr lang="en-US" altLang="zh-TW" dirty="0"/>
              <a:t>, 15, 14, 14, 15, </a:t>
            </a:r>
            <a:r>
              <a:rPr lang="en-US" altLang="zh-TW" dirty="0" smtClean="0"/>
              <a:t>14,</a:t>
            </a:r>
          </a:p>
          <a:p>
            <a:r>
              <a:rPr lang="en-US" altLang="zh-TW" dirty="0" smtClean="0"/>
              <a:t>7</a:t>
            </a:r>
            <a:r>
              <a:rPr lang="en-US" altLang="zh-TW" dirty="0"/>
              <a:t>, 6, 8, </a:t>
            </a:r>
            <a:r>
              <a:rPr lang="en-US" altLang="zh-TW" dirty="0" smtClean="0"/>
              <a:t>11, 15</a:t>
            </a:r>
            <a:r>
              <a:rPr lang="en-US" altLang="zh-TW" dirty="0"/>
              <a:t>, </a:t>
            </a:r>
            <a:r>
              <a:rPr lang="en-US" altLang="zh-TW" dirty="0" smtClean="0"/>
              <a:t>14, </a:t>
            </a:r>
          </a:p>
          <a:p>
            <a:r>
              <a:rPr lang="en-US" altLang="zh-TW" dirty="0" smtClean="0"/>
              <a:t>2</a:t>
            </a:r>
            <a:r>
              <a:rPr lang="en-US" altLang="zh-TW" dirty="0"/>
              <a:t>, 6, 8, 11, 15, </a:t>
            </a:r>
            <a:r>
              <a:rPr lang="en-US" altLang="zh-TW" dirty="0" smtClean="0"/>
              <a:t>14,</a:t>
            </a:r>
          </a:p>
          <a:p>
            <a:r>
              <a:rPr lang="en-US" altLang="zh-TW" dirty="0" smtClean="0"/>
              <a:t>7</a:t>
            </a:r>
            <a:r>
              <a:rPr lang="en-US" altLang="zh-TW" dirty="0"/>
              <a:t>, 6, 8, 11, 14, </a:t>
            </a:r>
            <a:r>
              <a:rPr lang="en-US" altLang="zh-TW" dirty="0" smtClean="0"/>
              <a:t>13 </a:t>
            </a:r>
            <a:r>
              <a:rPr lang="en-US" altLang="zh-TW" dirty="0"/>
              <a:t>and </a:t>
            </a:r>
            <a:endParaRPr lang="en-US" altLang="zh-TW" dirty="0" smtClean="0"/>
          </a:p>
          <a:p>
            <a:r>
              <a:rPr lang="en-US" altLang="zh-TW" dirty="0" smtClean="0"/>
              <a:t>2</a:t>
            </a:r>
            <a:r>
              <a:rPr lang="en-US" altLang="zh-TW" dirty="0"/>
              <a:t>, 6, </a:t>
            </a:r>
            <a:r>
              <a:rPr lang="en-US" altLang="zh-TW" dirty="0" smtClean="0"/>
              <a:t>8, 11</a:t>
            </a:r>
            <a:r>
              <a:rPr lang="en-US" altLang="zh-TW" dirty="0"/>
              <a:t>, 14, </a:t>
            </a:r>
            <a:r>
              <a:rPr lang="en-US" altLang="zh-TW" dirty="0" smtClean="0"/>
              <a:t>13.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8198542" y="5850495"/>
                <a:ext cx="7223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542" y="5850495"/>
                <a:ext cx="722377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7627" t="-10000" r="-7627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352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05641" y="96979"/>
            <a:ext cx="9249641" cy="1126874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improved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705853" y="931082"/>
                <a:ext cx="8133347" cy="103006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    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7, 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15, 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2,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14,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14, 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6, 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8, 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11, 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17, 15, 14, 13</m:t>
                        </m:r>
                      </m:e>
                    </m:d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853" y="931082"/>
                <a:ext cx="8133347" cy="1030067"/>
              </a:xfrm>
              <a:blipFill rotWithShape="0">
                <a:blip r:embed="rId3"/>
                <a:stretch>
                  <a:fillRect l="-1199" t="-82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880235" y="17778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54" y="1446115"/>
            <a:ext cx="5747981" cy="53978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5822433" y="1777872"/>
                <a:ext cx="3347904" cy="4247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x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TW" b="0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dirty="0" smtClean="0"/>
                  <a:t> &lt; x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+ c</a:t>
                </a:r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 smtClean="0"/>
                  <a:t>We </a:t>
                </a:r>
                <a:r>
                  <a:rPr lang="en-US" altLang="zh-TW" dirty="0"/>
                  <a:t>will be able to use </a:t>
                </a:r>
                <a:r>
                  <a:rPr lang="en-US" altLang="zh-TW" dirty="0" smtClean="0"/>
                  <a:t>binary </a:t>
                </a:r>
              </a:p>
              <a:p>
                <a:r>
                  <a:rPr lang="en-US" altLang="zh-TW" dirty="0" smtClean="0"/>
                  <a:t>search </a:t>
                </a:r>
                <a:r>
                  <a:rPr lang="en-US" altLang="zh-TW" dirty="0"/>
                  <a:t>to locate the predecessor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of </a:t>
                </a:r>
                <a:r>
                  <a:rPr lang="en-US" altLang="zh-TW" dirty="0"/>
                  <a:t>x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 and that of x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 + c in</a:t>
                </a:r>
              </a:p>
              <a:p>
                <a:r>
                  <a:rPr lang="en-US" altLang="zh-TW" dirty="0"/>
                  <a:t>O (log k) time. </a:t>
                </a:r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 smtClean="0"/>
                  <a:t>But</a:t>
                </a:r>
                <a:r>
                  <a:rPr lang="en-US" altLang="zh-TW" dirty="0"/>
                  <a:t>, a length-shift, which is now </a:t>
                </a:r>
                <a:endParaRPr lang="en-US" altLang="zh-TW" dirty="0" smtClean="0"/>
              </a:p>
              <a:p>
                <a:r>
                  <a:rPr lang="en-US" altLang="zh-TW" dirty="0"/>
                  <a:t>p</a:t>
                </a:r>
                <a:r>
                  <a:rPr lang="en-US" altLang="zh-TW" dirty="0" smtClean="0"/>
                  <a:t>erformed by </a:t>
                </a:r>
                <a:r>
                  <a:rPr lang="en-US" altLang="zh-TW" dirty="0"/>
                  <a:t>sequentially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overwriting </a:t>
                </a:r>
                <a:r>
                  <a:rPr lang="en-US" altLang="zh-TW" dirty="0"/>
                  <a:t>every </a:t>
                </a:r>
                <a:r>
                  <a:rPr lang="en-US" altLang="zh-TW" dirty="0" err="1" smtClean="0"/>
                  <a:t>z</a:t>
                </a:r>
                <a:r>
                  <a:rPr lang="en-US" altLang="zh-TW" baseline="-25000" dirty="0" err="1" smtClean="0"/>
                  <a:t>j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in a speciﬁed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Range using z</a:t>
                </a:r>
                <a:r>
                  <a:rPr lang="en-US" altLang="zh-TW" baseline="-25000" dirty="0" smtClean="0"/>
                  <a:t>j+1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← </a:t>
                </a:r>
                <a:r>
                  <a:rPr lang="en-US" altLang="zh-TW" dirty="0" err="1" smtClean="0"/>
                  <a:t>z</a:t>
                </a:r>
                <a:r>
                  <a:rPr lang="en-US" altLang="zh-TW" baseline="-25000" dirty="0" err="1" smtClean="0"/>
                  <a:t>j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, would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require </a:t>
                </a:r>
                <a:r>
                  <a:rPr lang="en-US" altLang="zh-TW" dirty="0"/>
                  <a:t>O (k) time. This results in</a:t>
                </a:r>
              </a:p>
              <a:p>
                <a:r>
                  <a:rPr lang="en-US" altLang="zh-TW" dirty="0"/>
                  <a:t>an implementation that runs in </a:t>
                </a:r>
                <a:endParaRPr lang="en-US" altLang="zh-TW" dirty="0" smtClean="0"/>
              </a:p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O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zh-TW" dirty="0" err="1">
                    <a:solidFill>
                      <a:srgbClr val="FF0000"/>
                    </a:solidFill>
                  </a:rPr>
                  <a:t>nk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 </a:t>
                </a:r>
                <a:r>
                  <a:rPr lang="en-US" altLang="zh-TW" dirty="0"/>
                  <a:t>time; still not the</a:t>
                </a:r>
              </a:p>
              <a:p>
                <a:r>
                  <a:rPr lang="en-US" altLang="zh-TW" dirty="0"/>
                  <a:t>claimed bound.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433" y="1777872"/>
                <a:ext cx="3347904" cy="4247317"/>
              </a:xfrm>
              <a:prstGeom prst="rect">
                <a:avLst/>
              </a:prstGeom>
              <a:blipFill rotWithShape="0">
                <a:blip r:embed="rId5"/>
                <a:stretch>
                  <a:fillRect l="-1457" t="-862" r="-729" b="-14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00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05641" y="96979"/>
            <a:ext cx="9249641" cy="1126874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705853" y="931082"/>
                <a:ext cx="8133347" cy="103006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     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7, 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15, 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2,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14,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14, 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6, 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8, 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11, 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17, 15, 14, 13</m:t>
                        </m:r>
                      </m:e>
                    </m:d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853" y="931082"/>
                <a:ext cx="8133347" cy="1030067"/>
              </a:xfrm>
              <a:blipFill rotWithShape="0">
                <a:blip r:embed="rId3"/>
                <a:stretch>
                  <a:fillRect l="-1199" t="-82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880235" y="17778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7672069" y="5905913"/>
                <a:ext cx="10762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O(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𝑜𝑔𝑘</m:t>
                    </m:r>
                  </m:oMath>
                </a14:m>
                <a:r>
                  <a:rPr lang="en-US" altLang="zh-TW" dirty="0" smtClean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069" y="5905913"/>
                <a:ext cx="1076257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5114" t="-10000" r="-4545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254" y="1446115"/>
            <a:ext cx="5747981" cy="5397892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5834055" y="1897285"/>
            <a:ext cx="335470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 </a:t>
            </a:r>
            <a:r>
              <a:rPr lang="en-US" altLang="zh-TW" dirty="0"/>
              <a:t>balanced search structure over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nodes of the linked list. </a:t>
            </a:r>
            <a:endParaRPr lang="en-US" altLang="zh-TW" dirty="0" smtClean="0"/>
          </a:p>
          <a:p>
            <a:r>
              <a:rPr lang="en-US" altLang="zh-TW" dirty="0" smtClean="0"/>
              <a:t>We </a:t>
            </a:r>
            <a:r>
              <a:rPr lang="en-US" altLang="zh-TW" dirty="0"/>
              <a:t>may use, for example, an</a:t>
            </a:r>
          </a:p>
          <a:p>
            <a:r>
              <a:rPr lang="en-US" altLang="zh-TW" dirty="0"/>
              <a:t>AVL </a:t>
            </a:r>
            <a:r>
              <a:rPr lang="en-US" altLang="zh-TW" dirty="0" smtClean="0"/>
              <a:t>tree </a:t>
            </a:r>
            <a:r>
              <a:rPr lang="en-US" altLang="zh-TW" dirty="0"/>
              <a:t>to achieve O (log k) </a:t>
            </a:r>
            <a:r>
              <a:rPr lang="en-US" altLang="zh-TW" dirty="0" smtClean="0"/>
              <a:t>cost</a:t>
            </a:r>
          </a:p>
          <a:p>
            <a:r>
              <a:rPr lang="en-US" altLang="zh-TW" dirty="0" smtClean="0"/>
              <a:t>per </a:t>
            </a:r>
            <a:r>
              <a:rPr lang="en-US" altLang="zh-TW" dirty="0"/>
              <a:t>operation, or </a:t>
            </a:r>
            <a:r>
              <a:rPr lang="en-US" altLang="zh-TW" dirty="0" smtClean="0"/>
              <a:t>a</a:t>
            </a:r>
            <a:r>
              <a:rPr lang="zh-TW" altLang="en-US" dirty="0" smtClean="0"/>
              <a:t> </a:t>
            </a:r>
            <a:r>
              <a:rPr lang="en-US" altLang="zh-TW" dirty="0" smtClean="0"/>
              <a:t>splay tree </a:t>
            </a:r>
            <a:r>
              <a:rPr lang="en-US" altLang="zh-TW" dirty="0"/>
              <a:t>for </a:t>
            </a:r>
            <a:endParaRPr lang="en-US" altLang="zh-TW" dirty="0" smtClean="0"/>
          </a:p>
          <a:p>
            <a:r>
              <a:rPr lang="en-US" altLang="zh-TW" dirty="0" smtClean="0"/>
              <a:t>an </a:t>
            </a:r>
            <a:r>
              <a:rPr lang="en-US" altLang="zh-TW" dirty="0"/>
              <a:t>amortized O (log k) cost per </a:t>
            </a:r>
            <a:endParaRPr lang="en-US" altLang="zh-TW" dirty="0" smtClean="0"/>
          </a:p>
          <a:p>
            <a:r>
              <a:rPr lang="en-US" altLang="zh-TW" dirty="0" smtClean="0"/>
              <a:t>operation.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5902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91404</TotalTime>
  <Words>373</Words>
  <Application>Microsoft Office PowerPoint</Application>
  <PresentationFormat>如螢幕大小 (4:3)</PresentationFormat>
  <Paragraphs>90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新細明體</vt:lpstr>
      <vt:lpstr>Arial</vt:lpstr>
      <vt:lpstr>Calibri</vt:lpstr>
      <vt:lpstr>Calibri Light</vt:lpstr>
      <vt:lpstr>Cambria Math</vt:lpstr>
      <vt:lpstr>Symbol</vt:lpstr>
      <vt:lpstr>Times New Roman</vt:lpstr>
      <vt:lpstr>Office 佈景主題</vt:lpstr>
      <vt:lpstr>The longest almost-increasing subsequence</vt:lpstr>
      <vt:lpstr>Abstract</vt:lpstr>
      <vt:lpstr>LaIS</vt:lpstr>
      <vt:lpstr>Recursive formulation</vt:lpstr>
      <vt:lpstr>LaIS</vt:lpstr>
      <vt:lpstr>The improved algorithm</vt:lpstr>
      <vt:lpstr>The data structure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much</cp:lastModifiedBy>
  <cp:revision>726</cp:revision>
  <dcterms:created xsi:type="dcterms:W3CDTF">2016-04-23T07:31:56Z</dcterms:created>
  <dcterms:modified xsi:type="dcterms:W3CDTF">2018-02-27T07:11:24Z</dcterms:modified>
</cp:coreProperties>
</file>