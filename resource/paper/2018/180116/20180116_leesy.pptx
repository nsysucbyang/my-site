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354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602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27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6209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25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062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00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2070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34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850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4175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B3967-52A8-424D-AA10-80C7162F98B7}" type="datetimeFigureOut">
              <a:rPr lang="zh-TW" altLang="en-US" smtClean="0"/>
              <a:t>2018/1/16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A9657-1C56-4DBA-989C-D9F8DB229A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17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862137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All-Substrings Alignment Problems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0" y="3941380"/>
            <a:ext cx="9144000" cy="27195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Wei Fu, Wing-Kai Hon, and Wing-Kin Sung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and Combinatorics, 9th Annual International Conference, COCOON 2003, Big Sky, USA,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July,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2003.</a:t>
            </a: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2018/1/16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17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919" y="1"/>
            <a:ext cx="7886700" cy="1158766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5456" y="1389554"/>
                <a:ext cx="868877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two strings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respectively, with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problem of computing global and local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alignments between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substrings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solved by the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classical Needleman-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Wunsch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Smith-Waterman algorithms,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respectively, which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space. This paper proposes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faster algorithms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𝑚𝑛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space. The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improvement stems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a compact way to represent all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alignment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scores.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5456" y="1389554"/>
                <a:ext cx="8688771" cy="4351338"/>
              </a:xfrm>
              <a:blipFill rotWithShape="0">
                <a:blip r:embed="rId2"/>
                <a:stretch>
                  <a:fillRect l="-1404"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86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629" y="65581"/>
            <a:ext cx="7886700" cy="126660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53473" y="3007242"/>
                <a:ext cx="7227556" cy="15696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all-substrings global alignment problem</a:t>
                </a:r>
              </a:p>
              <a:p>
                <a:endPara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A[1...n] vs B[</a:t>
                </a:r>
                <a:r>
                  <a:rPr lang="en-US" altLang="zh-TW" sz="3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... j] where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1≤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73" y="3007242"/>
                <a:ext cx="7227556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2194" t="-5426" b="-112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1297170" y="1301633"/>
            <a:ext cx="213360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chemeClr val="tx1"/>
                </a:solidFill>
              </a:rPr>
              <a:t>n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53473" y="1244025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1297170" y="1997730"/>
            <a:ext cx="693626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solidFill>
                  <a:schemeClr val="tx1"/>
                </a:solidFill>
              </a:rPr>
              <a:t>m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53473" y="1940122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6350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629" y="65581"/>
            <a:ext cx="7886700" cy="126660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Score scheme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29048" y="1493447"/>
                <a:ext cx="7788876" cy="20833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3200" dirty="0" smtClean="0"/>
                  <a:t>1. </a:t>
                </a:r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,⊔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⊔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altLang="zh-TW" sz="3200" b="0" dirty="0" smtClean="0"/>
              </a:p>
              <a:p>
                <a:endParaRPr lang="en-US" altLang="zh-TW" sz="3200" b="0" dirty="0" smtClean="0"/>
              </a:p>
              <a:p>
                <a:r>
                  <a:rPr lang="en-US" altLang="zh-TW" sz="3200" dirty="0"/>
                  <a:t>2</a:t>
                </a:r>
                <a:r>
                  <a:rPr lang="en-US" altLang="zh-TW" sz="3200" dirty="0" smtClean="0"/>
                  <a:t>. </a:t>
                </a:r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1,      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 ⊔</m:t>
                            </m:r>
                          </m:e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−1,  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 ⊔</m:t>
                            </m:r>
                          </m:e>
                        </m:eqArr>
                      </m:e>
                    </m:d>
                  </m:oMath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8" y="1493447"/>
                <a:ext cx="7788876" cy="2083391"/>
              </a:xfrm>
              <a:prstGeom prst="rect">
                <a:avLst/>
              </a:prstGeom>
              <a:blipFill rotWithShape="0">
                <a:blip r:embed="rId2"/>
                <a:stretch>
                  <a:fillRect l="-3211" t="-58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09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629" y="65581"/>
            <a:ext cx="7886700" cy="126660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All-substrings global alignment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29047" y="1493447"/>
                <a:ext cx="8151341" cy="3300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32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 denote the global alignment score between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.</a:t>
                </a:r>
              </a:p>
              <a:p>
                <a:endParaRPr lang="en-US" altLang="zh-TW" sz="32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⊔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],⊔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3200" b="0" dirty="0" smtClean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7" y="1493447"/>
                <a:ext cx="8151341" cy="3300775"/>
              </a:xfrm>
              <a:prstGeom prst="rect">
                <a:avLst/>
              </a:prstGeom>
              <a:blipFill rotWithShape="0">
                <a:blip r:embed="rId2"/>
                <a:stretch>
                  <a:fillRect l="-3067" t="-36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1107700" y="5181655"/>
            <a:ext cx="213360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564003" y="5124047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</a:t>
            </a:r>
            <a:endParaRPr lang="zh-TW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1107700" y="6050750"/>
            <a:ext cx="693626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4003" y="5993142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  <p:sp>
        <p:nvSpPr>
          <p:cNvPr id="8" name="矩形 7"/>
          <p:cNvSpPr/>
          <p:nvPr/>
        </p:nvSpPr>
        <p:spPr>
          <a:xfrm>
            <a:off x="1107700" y="5181655"/>
            <a:ext cx="1726116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2615936" y="4848288"/>
                <a:ext cx="217880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936" y="4848288"/>
                <a:ext cx="217880" cy="323165"/>
              </a:xfrm>
              <a:prstGeom prst="rect">
                <a:avLst/>
              </a:prstGeom>
              <a:blipFill rotWithShape="0">
                <a:blip r:embed="rId3"/>
                <a:stretch>
                  <a:fillRect l="-30556" r="-25000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1107700" y="4842999"/>
                <a:ext cx="209994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00" y="4842999"/>
                <a:ext cx="209994" cy="323165"/>
              </a:xfrm>
              <a:prstGeom prst="rect">
                <a:avLst/>
              </a:prstGeom>
              <a:blipFill rotWithShape="0">
                <a:blip r:embed="rId4"/>
                <a:stretch>
                  <a:fillRect l="-32353" r="-29412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536964" y="6050750"/>
            <a:ext cx="1820851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/>
              <p:cNvSpPr txBox="1"/>
              <p:nvPr/>
            </p:nvSpPr>
            <p:spPr>
              <a:xfrm>
                <a:off x="4139935" y="5722295"/>
                <a:ext cx="16171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35" y="5722295"/>
                <a:ext cx="161711" cy="323165"/>
              </a:xfrm>
              <a:prstGeom prst="rect">
                <a:avLst/>
              </a:prstGeom>
              <a:blipFill rotWithShape="0">
                <a:blip r:embed="rId5"/>
                <a:stretch>
                  <a:fillRect l="-51852" r="-51852" b="-30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2518708" y="5722296"/>
                <a:ext cx="15440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08" y="5722296"/>
                <a:ext cx="154401" cy="323165"/>
              </a:xfrm>
              <a:prstGeom prst="rect">
                <a:avLst/>
              </a:prstGeom>
              <a:blipFill rotWithShape="0">
                <a:blip r:embed="rId6"/>
                <a:stretch>
                  <a:fillRect l="-38462" r="-30769" b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07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729047" y="1493447"/>
                <a:ext cx="8151341" cy="3300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32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 denote the global alignment score between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.</a:t>
                </a:r>
              </a:p>
              <a:p>
                <a:endParaRPr lang="en-US" altLang="zh-TW" sz="32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⊔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],⊔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3200" b="0" dirty="0" smtClean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7" y="1493447"/>
                <a:ext cx="8151341" cy="3300775"/>
              </a:xfrm>
              <a:prstGeom prst="rect">
                <a:avLst/>
              </a:prstGeom>
              <a:blipFill rotWithShape="0">
                <a:blip r:embed="rId2"/>
                <a:stretch>
                  <a:fillRect l="-3067" t="-36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629" y="65581"/>
            <a:ext cx="7886700" cy="126660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All-substrings global alignment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78875" y="2987584"/>
            <a:ext cx="4390768" cy="67507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107700" y="5181655"/>
            <a:ext cx="213360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64003" y="5124047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1107700" y="6050750"/>
            <a:ext cx="693626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64003" y="5993142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1107700" y="5181655"/>
            <a:ext cx="1726116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2615936" y="4848288"/>
                <a:ext cx="217880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936" y="4848288"/>
                <a:ext cx="217880" cy="323165"/>
              </a:xfrm>
              <a:prstGeom prst="rect">
                <a:avLst/>
              </a:prstGeom>
              <a:blipFill rotWithShape="0">
                <a:blip r:embed="rId3"/>
                <a:stretch>
                  <a:fillRect l="-30556" r="-25000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107700" y="4842999"/>
                <a:ext cx="209994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00" y="4842999"/>
                <a:ext cx="209994" cy="323165"/>
              </a:xfrm>
              <a:prstGeom prst="rect">
                <a:avLst/>
              </a:prstGeom>
              <a:blipFill rotWithShape="0">
                <a:blip r:embed="rId4"/>
                <a:stretch>
                  <a:fillRect l="-32353" r="-29412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2536964" y="6050750"/>
            <a:ext cx="1820851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139935" y="5722295"/>
                <a:ext cx="16171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35" y="5722295"/>
                <a:ext cx="161711" cy="323165"/>
              </a:xfrm>
              <a:prstGeom prst="rect">
                <a:avLst/>
              </a:prstGeom>
              <a:blipFill rotWithShape="0">
                <a:blip r:embed="rId5"/>
                <a:stretch>
                  <a:fillRect l="-51852" r="-51852" b="-30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518708" y="5722296"/>
                <a:ext cx="15440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08" y="5722296"/>
                <a:ext cx="154401" cy="323165"/>
              </a:xfrm>
              <a:prstGeom prst="rect">
                <a:avLst/>
              </a:prstGeom>
              <a:blipFill rotWithShape="0">
                <a:blip r:embed="rId6"/>
                <a:stretch>
                  <a:fillRect l="-38462" r="-30769" b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4084117" y="6050750"/>
            <a:ext cx="273697" cy="4695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1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729047" y="1493447"/>
                <a:ext cx="8151341" cy="3300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32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 denote the global alignment score between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.</a:t>
                </a:r>
              </a:p>
              <a:p>
                <a:endParaRPr lang="en-US" altLang="zh-TW" sz="32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⊔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],⊔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3200" b="0" dirty="0" smtClean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7" y="1493447"/>
                <a:ext cx="8151341" cy="3300775"/>
              </a:xfrm>
              <a:prstGeom prst="rect">
                <a:avLst/>
              </a:prstGeom>
              <a:blipFill rotWithShape="0">
                <a:blip r:embed="rId2"/>
                <a:stretch>
                  <a:fillRect l="-3067" t="-36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629" y="65581"/>
            <a:ext cx="7886700" cy="126660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All-substrings global alignment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45924" y="3526219"/>
            <a:ext cx="4390768" cy="67507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107700" y="5181655"/>
            <a:ext cx="213360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64003" y="5124047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1107700" y="6050750"/>
            <a:ext cx="693626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64003" y="5993142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1107700" y="5181655"/>
            <a:ext cx="1726116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2615936" y="4848288"/>
                <a:ext cx="217880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936" y="4848288"/>
                <a:ext cx="217880" cy="323165"/>
              </a:xfrm>
              <a:prstGeom prst="rect">
                <a:avLst/>
              </a:prstGeom>
              <a:blipFill rotWithShape="0">
                <a:blip r:embed="rId3"/>
                <a:stretch>
                  <a:fillRect l="-30556" r="-25000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107700" y="4842999"/>
                <a:ext cx="209994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00" y="4842999"/>
                <a:ext cx="209994" cy="323165"/>
              </a:xfrm>
              <a:prstGeom prst="rect">
                <a:avLst/>
              </a:prstGeom>
              <a:blipFill rotWithShape="0">
                <a:blip r:embed="rId4"/>
                <a:stretch>
                  <a:fillRect l="-32353" r="-29412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2536964" y="6050750"/>
            <a:ext cx="1820851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139935" y="5722295"/>
                <a:ext cx="16171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35" y="5722295"/>
                <a:ext cx="161711" cy="323165"/>
              </a:xfrm>
              <a:prstGeom prst="rect">
                <a:avLst/>
              </a:prstGeom>
              <a:blipFill rotWithShape="0">
                <a:blip r:embed="rId5"/>
                <a:stretch>
                  <a:fillRect l="-51852" r="-51852" b="-30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518708" y="5722296"/>
                <a:ext cx="15440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08" y="5722296"/>
                <a:ext cx="154401" cy="323165"/>
              </a:xfrm>
              <a:prstGeom prst="rect">
                <a:avLst/>
              </a:prstGeom>
              <a:blipFill rotWithShape="0">
                <a:blip r:embed="rId6"/>
                <a:stretch>
                  <a:fillRect l="-38462" r="-30769" b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2567294" y="5182640"/>
            <a:ext cx="273697" cy="4695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7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729047" y="1493447"/>
                <a:ext cx="8151341" cy="33007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32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 denote the global alignment score between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TW" sz="3200" b="0" dirty="0" smtClean="0"/>
                  <a:t>.</a:t>
                </a:r>
              </a:p>
              <a:p>
                <a:endParaRPr lang="en-US" altLang="zh-TW" sz="32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⊔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],⊔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320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],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3200" b="0" i="1" smtClean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3200" b="0" dirty="0" smtClean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7" y="1493447"/>
                <a:ext cx="8151341" cy="3300775"/>
              </a:xfrm>
              <a:prstGeom prst="rect">
                <a:avLst/>
              </a:prstGeom>
              <a:blipFill rotWithShape="0">
                <a:blip r:embed="rId2"/>
                <a:stretch>
                  <a:fillRect l="-3067" t="-36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629" y="65581"/>
            <a:ext cx="7886700" cy="126660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All-substrings global alignment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599934" y="4076858"/>
            <a:ext cx="5198076" cy="67507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107700" y="5181655"/>
            <a:ext cx="213360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64003" y="5124047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1107700" y="6050750"/>
            <a:ext cx="693626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64003" y="5993142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1107700" y="5181655"/>
            <a:ext cx="1726116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2615936" y="4848288"/>
                <a:ext cx="217880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936" y="4848288"/>
                <a:ext cx="217880" cy="323165"/>
              </a:xfrm>
              <a:prstGeom prst="rect">
                <a:avLst/>
              </a:prstGeom>
              <a:blipFill rotWithShape="0">
                <a:blip r:embed="rId3"/>
                <a:stretch>
                  <a:fillRect l="-30556" r="-25000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1107700" y="4842999"/>
                <a:ext cx="209994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700" y="4842999"/>
                <a:ext cx="209994" cy="323165"/>
              </a:xfrm>
              <a:prstGeom prst="rect">
                <a:avLst/>
              </a:prstGeom>
              <a:blipFill rotWithShape="0">
                <a:blip r:embed="rId4"/>
                <a:stretch>
                  <a:fillRect l="-32353" r="-29412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2536964" y="6050750"/>
            <a:ext cx="1820851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/>
              <p:cNvSpPr txBox="1"/>
              <p:nvPr/>
            </p:nvSpPr>
            <p:spPr>
              <a:xfrm>
                <a:off x="4139935" y="5722295"/>
                <a:ext cx="16171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35" y="5722295"/>
                <a:ext cx="161711" cy="323165"/>
              </a:xfrm>
              <a:prstGeom prst="rect">
                <a:avLst/>
              </a:prstGeom>
              <a:blipFill rotWithShape="0">
                <a:blip r:embed="rId5"/>
                <a:stretch>
                  <a:fillRect l="-51852" r="-51852" b="-30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2518708" y="5722296"/>
                <a:ext cx="15440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708" y="5722296"/>
                <a:ext cx="154401" cy="323165"/>
              </a:xfrm>
              <a:prstGeom prst="rect">
                <a:avLst/>
              </a:prstGeom>
              <a:blipFill rotWithShape="0">
                <a:blip r:embed="rId6"/>
                <a:stretch>
                  <a:fillRect l="-38462" r="-30769" b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2567294" y="5182640"/>
            <a:ext cx="273697" cy="4695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084117" y="6050750"/>
            <a:ext cx="273697" cy="4695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0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629" y="65581"/>
            <a:ext cx="7886700" cy="126660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All-substrings global alignment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1173890" y="1493446"/>
                <a:ext cx="1000897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sz="3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890" y="1493446"/>
                <a:ext cx="1000897" cy="4924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1580241" y="2776151"/>
                <a:ext cx="443999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: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3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3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 :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241" y="2776151"/>
                <a:ext cx="4439998" cy="1477328"/>
              </a:xfrm>
              <a:prstGeom prst="rect">
                <a:avLst/>
              </a:prstGeom>
              <a:blipFill rotWithShape="0">
                <a:blip r:embed="rId3"/>
                <a:stretch>
                  <a:fillRect l="-3155" t="-5350" b="-115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397209" y="1493445"/>
                <a:ext cx="1000897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3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209" y="1493445"/>
                <a:ext cx="1000897" cy="4924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3698787" y="1493445"/>
                <a:ext cx="1000897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sz="3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787" y="1493445"/>
                <a:ext cx="1000897" cy="49244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5000365" y="1493445"/>
                <a:ext cx="1000897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altLang="zh-TW" sz="3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65" y="1493445"/>
                <a:ext cx="1000897" cy="4924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7112432" y="1493445"/>
                <a:ext cx="1000897" cy="49244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TW" sz="32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432" y="1493445"/>
                <a:ext cx="1000897" cy="4924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單箭頭接點 19"/>
          <p:cNvCxnSpPr>
            <a:stCxn id="3" idx="3"/>
            <a:endCxn id="15" idx="1"/>
          </p:cNvCxnSpPr>
          <p:nvPr/>
        </p:nvCxnSpPr>
        <p:spPr>
          <a:xfrm flipV="1">
            <a:off x="2174787" y="1739667"/>
            <a:ext cx="22242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5" idx="3"/>
            <a:endCxn id="16" idx="1"/>
          </p:cNvCxnSpPr>
          <p:nvPr/>
        </p:nvCxnSpPr>
        <p:spPr>
          <a:xfrm>
            <a:off x="3398106" y="1739667"/>
            <a:ext cx="300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6" idx="3"/>
            <a:endCxn id="17" idx="1"/>
          </p:cNvCxnSpPr>
          <p:nvPr/>
        </p:nvCxnSpPr>
        <p:spPr>
          <a:xfrm>
            <a:off x="4699684" y="1739667"/>
            <a:ext cx="300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6021859" y="1493445"/>
            <a:ext cx="1000897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TW" sz="32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29046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573610" y="1534587"/>
                <a:ext cx="535422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+1+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610" y="1534587"/>
                <a:ext cx="5354223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1000608" y="2537309"/>
            <a:ext cx="213360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56911" y="2479701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</a:t>
            </a:r>
            <a:endParaRPr lang="zh-TW" altLang="en-US" sz="3200" dirty="0"/>
          </a:p>
        </p:txBody>
      </p:sp>
      <p:sp>
        <p:nvSpPr>
          <p:cNvPr id="23" name="矩形 22"/>
          <p:cNvSpPr/>
          <p:nvPr/>
        </p:nvSpPr>
        <p:spPr>
          <a:xfrm>
            <a:off x="1000608" y="3406404"/>
            <a:ext cx="693626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56911" y="3348796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  <p:sp>
        <p:nvSpPr>
          <p:cNvPr id="26" name="矩形 25"/>
          <p:cNvSpPr/>
          <p:nvPr/>
        </p:nvSpPr>
        <p:spPr>
          <a:xfrm>
            <a:off x="1000608" y="2537309"/>
            <a:ext cx="1726116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2508844" y="2203942"/>
                <a:ext cx="217880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844" y="2203942"/>
                <a:ext cx="217880" cy="323165"/>
              </a:xfrm>
              <a:prstGeom prst="rect">
                <a:avLst/>
              </a:prstGeom>
              <a:blipFill rotWithShape="0">
                <a:blip r:embed="rId4"/>
                <a:stretch>
                  <a:fillRect l="-31429" r="-28571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1000608" y="2198653"/>
                <a:ext cx="209994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608" y="2198653"/>
                <a:ext cx="209994" cy="323165"/>
              </a:xfrm>
              <a:prstGeom prst="rect">
                <a:avLst/>
              </a:prstGeom>
              <a:blipFill rotWithShape="0">
                <a:blip r:embed="rId5"/>
                <a:stretch>
                  <a:fillRect l="-28571" r="-28571" b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2429872" y="3406404"/>
            <a:ext cx="2232744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4500905" y="3064476"/>
                <a:ext cx="16171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905" y="3064476"/>
                <a:ext cx="161711" cy="323165"/>
              </a:xfrm>
              <a:prstGeom prst="rect">
                <a:avLst/>
              </a:prstGeom>
              <a:blipFill rotWithShape="0">
                <a:blip r:embed="rId6"/>
                <a:stretch>
                  <a:fillRect l="-51852" r="-51852" b="-30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2411616" y="3077950"/>
                <a:ext cx="15440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616" y="3077950"/>
                <a:ext cx="154401" cy="323165"/>
              </a:xfrm>
              <a:prstGeom prst="rect">
                <a:avLst/>
              </a:prstGeom>
              <a:blipFill rotWithShape="0">
                <a:blip r:embed="rId7"/>
                <a:stretch>
                  <a:fillRect l="-40000" r="-36000" b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43552" y="4092008"/>
                <a:ext cx="8196794" cy="16878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],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2" y="4092008"/>
                <a:ext cx="8196794" cy="168783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02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095815" y="1332186"/>
                <a:ext cx="535422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+1+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815" y="1332186"/>
                <a:ext cx="5354223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7693" y="1996252"/>
                <a:ext cx="8196794" cy="16878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],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93" y="1996252"/>
                <a:ext cx="8196794" cy="16878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770420" y="3886487"/>
                <a:ext cx="7506094" cy="1846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+1+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zh-TW" sz="3000" dirty="0" smtClean="0"/>
              </a:p>
              <a:p>
                <a:endParaRPr lang="en-US" altLang="zh-TW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+1+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sz="3000" dirty="0" smtClean="0"/>
              </a:p>
              <a:p>
                <a:endParaRPr lang="zh-TW" altLang="en-US" sz="3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20" y="3886487"/>
                <a:ext cx="7506094" cy="184665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接點 5"/>
          <p:cNvCxnSpPr/>
          <p:nvPr/>
        </p:nvCxnSpPr>
        <p:spPr>
          <a:xfrm>
            <a:off x="5107460" y="2603156"/>
            <a:ext cx="16887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60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095815" y="1332186"/>
                <a:ext cx="535422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+1+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815" y="1332186"/>
                <a:ext cx="5354223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7693" y="1996252"/>
                <a:ext cx="8196794" cy="16878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],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93" y="1996252"/>
                <a:ext cx="8196794" cy="16878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770420" y="3886487"/>
                <a:ext cx="6831807" cy="1846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+1+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3000" dirty="0" smtClean="0"/>
              </a:p>
              <a:p>
                <a:endParaRPr lang="en-US" altLang="zh-TW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+1+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sz="3000" dirty="0" smtClean="0"/>
              </a:p>
              <a:p>
                <a:endParaRPr lang="zh-TW" altLang="en-US" sz="3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20" y="3886487"/>
                <a:ext cx="6831807" cy="184665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接點 5"/>
          <p:cNvCxnSpPr/>
          <p:nvPr/>
        </p:nvCxnSpPr>
        <p:spPr>
          <a:xfrm>
            <a:off x="5066271" y="3072713"/>
            <a:ext cx="16887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40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095815" y="1332186"/>
                <a:ext cx="5354223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+1+</m:t>
                      </m:r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815" y="1332186"/>
                <a:ext cx="5354223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7693" y="1996252"/>
                <a:ext cx="8196794" cy="16878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TW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],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93" y="1996252"/>
                <a:ext cx="8196794" cy="168783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81675" y="4002203"/>
                <a:ext cx="9260548" cy="27699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000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TW" sz="3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+2+</m:t>
                    </m:r>
                    <m:r>
                      <a:rPr lang="zh-TW" altLang="en-US" sz="3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],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endParaRPr lang="en-US" altLang="zh-TW" sz="3000" dirty="0" smtClean="0">
                  <a:solidFill>
                    <a:prstClr val="black"/>
                  </a:solidFill>
                </a:endParaRPr>
              </a:p>
              <a:p>
                <a:endParaRPr lang="en-US" altLang="zh-TW" sz="3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3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3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TW" sz="3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3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altLang="zh-TW" sz="3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0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3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TW" sz="3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3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3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3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3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3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TW" sz="3000" dirty="0" smtClean="0">
                  <a:solidFill>
                    <a:prstClr val="black"/>
                  </a:solidFill>
                </a:endParaRPr>
              </a:p>
              <a:p>
                <a:endParaRPr lang="en-US" altLang="zh-TW" sz="3000" dirty="0" smtClean="0"/>
              </a:p>
              <a:p>
                <a:r>
                  <a:rPr lang="en-US" altLang="zh-TW" sz="30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sz="3000" dirty="0" smtClean="0"/>
              </a:p>
              <a:p>
                <a:endParaRPr lang="zh-TW" altLang="en-US" sz="30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5" y="4002203"/>
                <a:ext cx="9260548" cy="276998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接點 5"/>
          <p:cNvCxnSpPr/>
          <p:nvPr/>
        </p:nvCxnSpPr>
        <p:spPr>
          <a:xfrm>
            <a:off x="3534033" y="3591697"/>
            <a:ext cx="49015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31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50" y="224481"/>
            <a:ext cx="6661966" cy="19535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6975515"/>
                  </p:ext>
                </p:extLst>
              </p:nvPr>
            </p:nvGraphicFramePr>
            <p:xfrm>
              <a:off x="1079156" y="3028092"/>
              <a:ext cx="7166920" cy="33974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2768"/>
                    <a:gridCol w="2132102"/>
                    <a:gridCol w="2942406"/>
                    <a:gridCol w="749644"/>
                  </a:tblGrid>
                  <a:tr h="84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</a:tr>
                  <a:tr h="84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30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0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TW" sz="30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30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0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TW" sz="30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+1]</m:t>
                                </m:r>
                              </m:oMath>
                            </m:oMathPara>
                          </a14:m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</a:tr>
                  <a:tr h="84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30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0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TW" sz="30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300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30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TW" sz="30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TW" sz="30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+1]</m:t>
                                </m:r>
                              </m:oMath>
                            </m:oMathPara>
                          </a14:m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</a:tr>
                  <a:tr h="84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6975515"/>
                  </p:ext>
                </p:extLst>
              </p:nvPr>
            </p:nvGraphicFramePr>
            <p:xfrm>
              <a:off x="1079156" y="3028092"/>
              <a:ext cx="7166920" cy="33974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42768"/>
                    <a:gridCol w="2132102"/>
                    <a:gridCol w="2942406"/>
                    <a:gridCol w="749644"/>
                  </a:tblGrid>
                  <a:tr h="84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</a:tr>
                  <a:tr h="84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3429" t="-107857" r="-173714" b="-20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8427" t="-107857" r="-25880" b="-20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</a:tr>
                  <a:tr h="84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3429" t="-209353" r="-173714" b="-10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18427" t="-209353" r="-25880" b="-102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</a:tr>
                  <a:tr h="849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3000" dirty="0" smtClean="0"/>
                            <a:t>...</a:t>
                          </a:r>
                          <a:endParaRPr lang="zh-TW" altLang="en-US" sz="30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51099" y="2628440"/>
                <a:ext cx="62805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99" y="2628440"/>
                <a:ext cx="628057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13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86" y="348102"/>
            <a:ext cx="8476735" cy="209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8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85069" y="1332186"/>
                <a:ext cx="2785699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000" b="0" dirty="0" smtClean="0"/>
                  <a:t>First,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.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69" y="1332186"/>
                <a:ext cx="2785699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8534" t="-26667" r="-7440" b="-5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64611" y="2006962"/>
                <a:ext cx="8913485" cy="10534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e>
                              </m:d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𝑑𝑜𝑒𝑠</m:t>
                              </m:r>
                              <m:sSup>
                                <m:sSup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𝑐𝑜𝑛𝑡𝑎𝑖𝑛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𝑐𝑜𝑛𝑡𝑎𝑖𝑛𝑠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11" y="2006962"/>
                <a:ext cx="8913485" cy="10534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1128766" y="3612223"/>
            <a:ext cx="213360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85069" y="3554615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</a:t>
            </a:r>
            <a:endParaRPr lang="zh-TW" altLang="en-US" sz="3200" dirty="0"/>
          </a:p>
        </p:txBody>
      </p:sp>
      <p:sp>
        <p:nvSpPr>
          <p:cNvPr id="10" name="矩形 9"/>
          <p:cNvSpPr/>
          <p:nvPr/>
        </p:nvSpPr>
        <p:spPr>
          <a:xfrm>
            <a:off x="1128766" y="4481318"/>
            <a:ext cx="693626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585069" y="4423710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  <p:sp>
        <p:nvSpPr>
          <p:cNvPr id="12" name="矩形 11"/>
          <p:cNvSpPr/>
          <p:nvPr/>
        </p:nvSpPr>
        <p:spPr>
          <a:xfrm>
            <a:off x="1128766" y="3612223"/>
            <a:ext cx="209994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1128766" y="3273567"/>
                <a:ext cx="209994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766" y="3273567"/>
                <a:ext cx="209994" cy="323165"/>
              </a:xfrm>
              <a:prstGeom prst="rect">
                <a:avLst/>
              </a:prstGeom>
              <a:blipFill rotWithShape="0">
                <a:blip r:embed="rId5"/>
                <a:stretch>
                  <a:fillRect l="-28571" r="-28571" b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2558030" y="4481318"/>
            <a:ext cx="2232744" cy="4695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4629063" y="4139390"/>
                <a:ext cx="16171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063" y="4139390"/>
                <a:ext cx="161711" cy="323165"/>
              </a:xfrm>
              <a:prstGeom prst="rect">
                <a:avLst/>
              </a:prstGeom>
              <a:blipFill rotWithShape="0">
                <a:blip r:embed="rId6"/>
                <a:stretch>
                  <a:fillRect l="-51852" r="-51852" b="-320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2539774" y="4152864"/>
                <a:ext cx="154401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1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1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774" y="4152864"/>
                <a:ext cx="154401" cy="323165"/>
              </a:xfrm>
              <a:prstGeom prst="rect">
                <a:avLst/>
              </a:prstGeom>
              <a:blipFill rotWithShape="0">
                <a:blip r:embed="rId7"/>
                <a:stretch>
                  <a:fillRect l="-40000" r="-36000" b="-5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140153" y="5428425"/>
                <a:ext cx="8913485" cy="10534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0 , 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𝑑𝑜𝑒𝑠</m:t>
                              </m:r>
                              <m:sSup>
                                <m:sSup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𝑐𝑜𝑛𝑡𝑎𝑖𝑛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3 ,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r>
                                    <a:rPr lang="en-US" altLang="zh-TW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𝑐𝑜𝑛𝑡𝑎𝑖𝑛𝑠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TW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[1]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53" y="5428425"/>
                <a:ext cx="8913485" cy="105349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212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85069" y="1332186"/>
                <a:ext cx="8230523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3000" b="0" dirty="0" smtClean="0"/>
                  <a:t>To store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, we just need to keep an array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sz="3000" dirty="0" smtClean="0"/>
              </a:p>
              <a:p>
                <a:r>
                  <a:rPr lang="en-US" altLang="zh-TW" sz="3000" dirty="0" smtClean="0"/>
                  <a:t>such that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stores the smallest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such that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sz="3000" dirty="0" smtClean="0"/>
              </a:p>
              <a:p>
                <a:r>
                  <a:rPr lang="en-US" altLang="zh-TW" sz="3000" dirty="0" smtClean="0"/>
                  <a:t>contains </a:t>
                </a:r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US" altLang="zh-TW" sz="3000" dirty="0" smtClean="0"/>
                  <a:t>.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69" y="1332186"/>
                <a:ext cx="8230523" cy="1384995"/>
              </a:xfrm>
              <a:prstGeom prst="rect">
                <a:avLst/>
              </a:prstGeom>
              <a:blipFill rotWithShape="0">
                <a:blip r:embed="rId3"/>
                <a:stretch>
                  <a:fillRect l="-2889" t="-8811" b="-163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1021674" y="2928483"/>
            <a:ext cx="2133600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3200" dirty="0" smtClean="0">
                <a:solidFill>
                  <a:schemeClr val="tx1"/>
                </a:solidFill>
              </a:rPr>
              <a:t>A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77977" y="2870875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</a:t>
            </a:r>
            <a:endParaRPr lang="zh-TW" altLang="en-US" sz="3200" dirty="0"/>
          </a:p>
        </p:txBody>
      </p:sp>
      <p:sp>
        <p:nvSpPr>
          <p:cNvPr id="21" name="矩形 20"/>
          <p:cNvSpPr/>
          <p:nvPr/>
        </p:nvSpPr>
        <p:spPr>
          <a:xfrm>
            <a:off x="1021674" y="3797578"/>
            <a:ext cx="2248748" cy="469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solidFill>
                  <a:schemeClr val="tx1"/>
                </a:solidFill>
              </a:rPr>
              <a:t>ABCABCABC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77977" y="3739970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B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538191"/>
                  </p:ext>
                </p:extLst>
              </p:nvPr>
            </p:nvGraphicFramePr>
            <p:xfrm>
              <a:off x="1186430" y="4559582"/>
              <a:ext cx="6096000" cy="944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1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2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3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4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5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6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7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8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9</a:t>
                          </a:r>
                          <a:endParaRPr lang="zh-TW" altLang="en-US" sz="25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50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altLang="zh-TW" sz="250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2500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50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1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4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4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4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7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7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7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10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10</a:t>
                          </a:r>
                          <a:endParaRPr lang="zh-TW" altLang="en-US" sz="25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9538191"/>
                  </p:ext>
                </p:extLst>
              </p:nvPr>
            </p:nvGraphicFramePr>
            <p:xfrm>
              <a:off x="1186430" y="4559582"/>
              <a:ext cx="6096000" cy="944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4724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" t="-8974" r="-90300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1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2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3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4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5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6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7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8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9</a:t>
                          </a:r>
                          <a:endParaRPr lang="zh-TW" altLang="en-US" sz="2500" dirty="0"/>
                        </a:p>
                      </a:txBody>
                      <a:tcPr/>
                    </a:tc>
                  </a:tr>
                  <a:tr h="4724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" t="-108974" r="-90300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1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4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4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4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7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7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7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10</a:t>
                          </a:r>
                          <a:endParaRPr lang="zh-TW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500" dirty="0" smtClean="0"/>
                            <a:t>10</a:t>
                          </a:r>
                          <a:endParaRPr lang="zh-TW" altLang="en-US" sz="25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1343061" y="5681017"/>
                <a:ext cx="578273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3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  <m:r>
                      <a:rPr lang="en-US" altLang="zh-TW" sz="3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3000" dirty="0" smtClean="0">
                    <a:solidFill>
                      <a:prstClr val="black"/>
                    </a:solidFill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3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3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TW" sz="3000" dirty="0" smtClean="0">
                  <a:solidFill>
                    <a:prstClr val="black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TW" sz="3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TW" sz="30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30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TW" sz="3000" dirty="0">
                    <a:solidFill>
                      <a:prstClr val="black"/>
                    </a:solidFill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altLang="zh-TW" sz="3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3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TW" sz="3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&lt;5</m:t>
                    </m:r>
                  </m:oMath>
                </a14:m>
                <a:endParaRPr lang="en-US" altLang="zh-TW" sz="30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61" y="5681017"/>
                <a:ext cx="5782737" cy="1015663"/>
              </a:xfrm>
              <a:prstGeom prst="rect">
                <a:avLst/>
              </a:prstGeom>
              <a:blipFill rotWithShape="0">
                <a:blip r:embed="rId5"/>
                <a:stretch>
                  <a:fillRect t="-7186" b="-179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287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878596" y="1472229"/>
                <a:ext cx="8224752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compact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computed in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</a:t>
                </a: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space.</a:t>
                </a:r>
              </a:p>
              <a:p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Next, we can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96" y="1472229"/>
                <a:ext cx="8224752" cy="1815882"/>
              </a:xfrm>
              <a:prstGeom prst="rect">
                <a:avLst/>
              </a:prstGeom>
              <a:blipFill rotWithShape="0">
                <a:blip r:embed="rId3"/>
                <a:stretch>
                  <a:fillRect l="-1483" t="-3704" r="-1483" b="-8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10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b="77586"/>
          <a:stretch/>
        </p:blipFill>
        <p:spPr>
          <a:xfrm>
            <a:off x="0" y="1213941"/>
            <a:ext cx="9144000" cy="11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4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3"/>
          <a:srcRect b="40958"/>
          <a:stretch/>
        </p:blipFill>
        <p:spPr>
          <a:xfrm>
            <a:off x="0" y="1213941"/>
            <a:ext cx="9144000" cy="3160352"/>
          </a:xfrm>
          <a:prstGeom prst="rect">
            <a:avLst/>
          </a:prstGeom>
        </p:spPr>
      </p:pic>
      <p:sp>
        <p:nvSpPr>
          <p:cNvPr id="4" name="圓角矩形 3"/>
          <p:cNvSpPr/>
          <p:nvPr/>
        </p:nvSpPr>
        <p:spPr>
          <a:xfrm>
            <a:off x="2347784" y="1213941"/>
            <a:ext cx="1631092" cy="44186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圓角矩形 4"/>
          <p:cNvSpPr/>
          <p:nvPr/>
        </p:nvSpPr>
        <p:spPr>
          <a:xfrm>
            <a:off x="2269524" y="2352252"/>
            <a:ext cx="5449330" cy="128063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35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3940"/>
            <a:ext cx="9144000" cy="535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1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0" y="1332186"/>
                <a:ext cx="9242854" cy="1467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800" b="0" i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+1≤</m:t>
                                      </m:r>
                                      <m:sSup>
                                        <m:sSupPr>
                                          <m:ctrlPr>
                                            <a:rPr lang="en-US" altLang="zh-TW" sz="28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8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8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≤</m:t>
                                      </m:r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lim>
                                  </m:limLow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altLang="zh-TW" sz="28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sz="28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p>
                                          <m:r>
                                            <a:rPr lang="en-US" altLang="zh-TW" sz="28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+2+</m:t>
                                  </m:r>
                                  <m:r>
                                    <a:rPr lang="zh-TW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d>
                                    <m:dPr>
                                      <m:ctrlP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],</m:t>
                                      </m:r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en-US" altLang="zh-TW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32186"/>
                <a:ext cx="9242854" cy="14679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724930" y="3336324"/>
                <a:ext cx="7647478" cy="629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denote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+1≤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TW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+2+</m:t>
                        </m:r>
                        <m:r>
                          <a:rPr lang="zh-TW" alt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d>
                          <m:dPr>
                            <m:ctrlP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],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′]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TW" sz="2500" dirty="0" smtClean="0"/>
                  <a:t>. 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930" y="3336324"/>
                <a:ext cx="7647478" cy="629788"/>
              </a:xfrm>
              <a:prstGeom prst="rect">
                <a:avLst/>
              </a:prstGeom>
              <a:blipFill rotWithShape="0">
                <a:blip r:embed="rId4"/>
                <a:stretch>
                  <a:fillRect l="-1356" t="-7692" r="-319" b="-67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-72758" y="4502284"/>
                <a:ext cx="9242854" cy="10534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758" y="4502284"/>
                <a:ext cx="9242854" cy="10534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8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30896" y="1332186"/>
                <a:ext cx="5023699" cy="10534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96" y="1332186"/>
                <a:ext cx="5023699" cy="10534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29" y="2709339"/>
            <a:ext cx="8295030" cy="18858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371115" y="4794422"/>
                <a:ext cx="8827866" cy="12464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/>
                  <a:t>These observations suggest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can be stored using </a:t>
                </a:r>
              </a:p>
              <a:p>
                <a:r>
                  <a:rPr lang="en-US" altLang="zh-TW" sz="2500" dirty="0" smtClean="0"/>
                  <a:t>row interval points. So in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time, we can find all the possible </a:t>
                </a:r>
              </a:p>
              <a:p>
                <a:r>
                  <a:rPr lang="en-US" altLang="zh-TW" sz="2500" dirty="0" smtClean="0"/>
                  <a:t>row interval points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500" dirty="0" smtClean="0"/>
                  <a:t>.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15" y="4794422"/>
                <a:ext cx="8827866" cy="1246495"/>
              </a:xfrm>
              <a:prstGeom prst="rect">
                <a:avLst/>
              </a:prstGeom>
              <a:blipFill rotWithShape="0">
                <a:blip r:embed="rId5"/>
                <a:stretch>
                  <a:fillRect l="-1174" t="-3415" r="-138" b="-107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49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Computation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26629" y="65581"/>
                <a:ext cx="7886700" cy="1266605"/>
              </a:xfrm>
              <a:blipFill rotWithShape="0">
                <a:blip r:embed="rId2"/>
                <a:stretch>
                  <a:fillRect l="-3091" b="-9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02508" y="1433383"/>
                <a:ext cx="7283404" cy="4324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500" dirty="0" smtClean="0"/>
                  <a:t>Lemma :  </a:t>
                </a:r>
              </a:p>
              <a:p>
                <a:endParaRPr lang="en-US" altLang="zh-TW" sz="2500" dirty="0" smtClean="0"/>
              </a:p>
              <a:p>
                <a:r>
                  <a:rPr lang="en-US" altLang="zh-TW" sz="2500" dirty="0" smtClean="0"/>
                  <a:t>Given the compact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2500" dirty="0" smtClean="0"/>
                  <a:t>, we can compute the</a:t>
                </a:r>
              </a:p>
              <a:p>
                <a:r>
                  <a:rPr lang="en-US" altLang="zh-TW" sz="2500" dirty="0" smtClean="0"/>
                  <a:t>compact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500" dirty="0" smtClean="0"/>
                  <a:t> in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 smtClean="0"/>
                  <a:t> time and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e>
                    </m:d>
                  </m:oMath>
                </a14:m>
                <a:r>
                  <a:rPr lang="en-US" altLang="zh-TW" sz="2500" dirty="0" smtClean="0"/>
                  <a:t> space. </a:t>
                </a:r>
              </a:p>
              <a:p>
                <a:endParaRPr lang="en-US" altLang="zh-TW" sz="2500" dirty="0"/>
              </a:p>
              <a:p>
                <a:endParaRPr lang="en-US" altLang="zh-TW" sz="2500" dirty="0" smtClean="0"/>
              </a:p>
              <a:p>
                <a:endParaRPr lang="en-US" altLang="zh-TW" sz="2500" dirty="0"/>
              </a:p>
              <a:p>
                <a:r>
                  <a:rPr lang="en-US" altLang="zh-TW" sz="2500" dirty="0" smtClean="0"/>
                  <a:t>Theorem : </a:t>
                </a:r>
              </a:p>
              <a:p>
                <a:endParaRPr lang="en-US" altLang="zh-TW" sz="2500" dirty="0"/>
              </a:p>
              <a:p>
                <a:r>
                  <a:rPr lang="en-US" altLang="zh-TW" sz="2500" dirty="0" smtClean="0"/>
                  <a:t>The compact form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500" dirty="0" smtClean="0"/>
                  <a:t> can be computed in 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500" dirty="0" smtClean="0"/>
                  <a:t> time and 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500" dirty="0" smtClean="0"/>
                  <a:t> </a:t>
                </a:r>
                <a:r>
                  <a:rPr lang="en-US" altLang="zh-TW" sz="2500" dirty="0" smtClean="0"/>
                  <a:t>space.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08" y="1433383"/>
                <a:ext cx="7283404" cy="4324261"/>
              </a:xfrm>
              <a:prstGeom prst="rect">
                <a:avLst/>
              </a:prstGeom>
              <a:blipFill rotWithShape="0">
                <a:blip r:embed="rId3"/>
                <a:stretch>
                  <a:fillRect l="-1339" t="-987" r="-418" b="-25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52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629" y="65581"/>
            <a:ext cx="7886700" cy="126660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Generalizing the score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29048" y="1493447"/>
                <a:ext cx="7788876" cy="36095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TW" sz="3200" dirty="0" smtClean="0"/>
                  <a:t>1. </a:t>
                </a:r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,⊔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⊔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zh-TW" altLang="en-US" sz="32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TW" sz="3200" b="0" dirty="0" smtClean="0"/>
              </a:p>
              <a:p>
                <a:endParaRPr lang="en-US" altLang="zh-TW" sz="3200" b="0" dirty="0" smtClean="0"/>
              </a:p>
              <a:p>
                <a:r>
                  <a:rPr lang="en-US" altLang="zh-TW" sz="3200" dirty="0"/>
                  <a:t>2</a:t>
                </a:r>
                <a:r>
                  <a:rPr lang="en-US" altLang="zh-TW" sz="3200" dirty="0" smtClean="0"/>
                  <a:t>. </a:t>
                </a:r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1,      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 ⊔</m:t>
                            </m:r>
                          </m:e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TW" altLang="en-US" sz="32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𝑎𝑛𝑑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 ⊔</m:t>
                            </m:r>
                          </m:e>
                        </m:eqArr>
                      </m:e>
                    </m:d>
                  </m:oMath>
                </a14:m>
                <a:endParaRPr lang="en-US" altLang="zh-TW" sz="3200" b="0" dirty="0" smtClean="0"/>
              </a:p>
              <a:p>
                <a:endParaRPr lang="en-US" altLang="zh-TW" sz="3200" dirty="0" smtClean="0"/>
              </a:p>
              <a:p>
                <a:endParaRPr lang="en-US" altLang="zh-TW" sz="3200" dirty="0"/>
              </a:p>
              <a:p>
                <a:r>
                  <a:rPr lang="en-US" altLang="zh-TW" sz="3200" b="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+1+</m:t>
                        </m:r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zh-TW" altLang="en-US" sz="3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TW" altLang="en-US" sz="3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8" y="1493447"/>
                <a:ext cx="7788876" cy="3609514"/>
              </a:xfrm>
              <a:prstGeom prst="rect">
                <a:avLst/>
              </a:prstGeom>
              <a:blipFill rotWithShape="0">
                <a:blip r:embed="rId2"/>
                <a:stretch>
                  <a:fillRect l="-3211" t="-33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306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6629" y="65581"/>
            <a:ext cx="7886700" cy="126660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alignment problems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29048" y="1493447"/>
                <a:ext cx="7788876" cy="44319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en-US" altLang="zh-TW" sz="3200" dirty="0" smtClean="0"/>
                  <a:t>suffix alignment</a:t>
                </a:r>
              </a:p>
              <a:p>
                <a:pPr marL="514350" indent="-514350">
                  <a:buAutoNum type="arabicPeriod"/>
                </a:pPr>
                <a:endParaRPr lang="en-US" altLang="zh-TW" sz="3200" b="0" dirty="0"/>
              </a:p>
              <a:p>
                <a:pPr marL="514350" indent="-514350">
                  <a:buAutoNum type="arabicPeriod"/>
                </a:pPr>
                <a:r>
                  <a:rPr lang="en-US" altLang="zh-TW" sz="3200" dirty="0" smtClean="0"/>
                  <a:t>semi-global alignment</a:t>
                </a:r>
              </a:p>
              <a:p>
                <a:pPr marL="514350" indent="-514350">
                  <a:buAutoNum type="arabicPeriod"/>
                </a:pPr>
                <a:endParaRPr lang="en-US" altLang="zh-TW" sz="3200" b="0" dirty="0"/>
              </a:p>
              <a:p>
                <a:pPr marL="514350" indent="-514350">
                  <a:buAutoNum type="arabicPeriod"/>
                </a:pPr>
                <a:r>
                  <a:rPr lang="en-US" altLang="zh-TW" sz="3200" dirty="0" smtClean="0"/>
                  <a:t>local alignment</a:t>
                </a:r>
              </a:p>
              <a:p>
                <a:pPr marL="514350" indent="-514350">
                  <a:buAutoNum type="arabicPeriod"/>
                </a:pPr>
                <a:endParaRPr lang="en-US" altLang="zh-TW" sz="3200" b="0" dirty="0"/>
              </a:p>
              <a:p>
                <a:pPr marL="514350" indent="-514350">
                  <a:buAutoNum type="arabicPeriod"/>
                </a:pPr>
                <a:endParaRPr lang="en-US" altLang="zh-TW" sz="3200" dirty="0" smtClean="0"/>
              </a:p>
              <a:p>
                <a:r>
                  <a:rPr lang="en-US" altLang="zh-TW" sz="3200" dirty="0" smtClean="0"/>
                  <a:t>can be solved in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3200" b="0" dirty="0" smtClean="0"/>
                  <a:t> time and </a:t>
                </a:r>
                <a14:m>
                  <m:oMath xmlns:m="http://schemas.openxmlformats.org/officeDocument/2006/math"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US" altLang="zh-TW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3200" b="0" dirty="0" smtClean="0"/>
                  <a:t> space.</a:t>
                </a: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48" y="1493447"/>
                <a:ext cx="7788876" cy="4431983"/>
              </a:xfrm>
              <a:prstGeom prst="rect">
                <a:avLst/>
              </a:prstGeom>
              <a:blipFill rotWithShape="0">
                <a:blip r:embed="rId2"/>
                <a:stretch>
                  <a:fillRect l="-3289" t="-3164" b="-45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25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571</TotalTime>
  <Words>272</Words>
  <Application>Microsoft Office PowerPoint</Application>
  <PresentationFormat>如螢幕大小 (4:3)</PresentationFormat>
  <Paragraphs>200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On All-Substrings Alignment Problems</vt:lpstr>
      <vt:lpstr>Abstract</vt:lpstr>
      <vt:lpstr>Problem definition</vt:lpstr>
      <vt:lpstr>Score scheme</vt:lpstr>
      <vt:lpstr>All-substrings global alignment</vt:lpstr>
      <vt:lpstr>All-substrings global alignment</vt:lpstr>
      <vt:lpstr>All-substrings global alignment</vt:lpstr>
      <vt:lpstr>All-substrings global alignment</vt:lpstr>
      <vt:lpstr>All-substrings global alignment</vt:lpstr>
      <vt:lpstr>Transformation of  H_k</vt:lpstr>
      <vt:lpstr>Transformation of  H_k</vt:lpstr>
      <vt:lpstr>Transformation of  H_k</vt:lpstr>
      <vt:lpstr>Transformation of  H_k</vt:lpstr>
      <vt:lpstr>PowerPoint 簡報</vt:lpstr>
      <vt:lpstr>PowerPoint 簡報</vt:lpstr>
      <vt:lpstr>Computation of  F_n</vt:lpstr>
      <vt:lpstr>Computation of  F_n</vt:lpstr>
      <vt:lpstr>Computation of  F_n</vt:lpstr>
      <vt:lpstr>Computation of  F_n</vt:lpstr>
      <vt:lpstr>Computation of  F_n</vt:lpstr>
      <vt:lpstr>Computation of  F_n</vt:lpstr>
      <vt:lpstr>Computation of  F_n</vt:lpstr>
      <vt:lpstr>Computation of  F_n</vt:lpstr>
      <vt:lpstr>Computation of  F_n</vt:lpstr>
      <vt:lpstr>Generalizing the score scheme</vt:lpstr>
      <vt:lpstr>Other alignment problems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All-Substrings Alignment Problems</dc:title>
  <dc:creator>YanLee</dc:creator>
  <cp:lastModifiedBy>pplab-class</cp:lastModifiedBy>
  <cp:revision>29</cp:revision>
  <dcterms:created xsi:type="dcterms:W3CDTF">2018-01-16T01:39:51Z</dcterms:created>
  <dcterms:modified xsi:type="dcterms:W3CDTF">2018-01-16T11:18:14Z</dcterms:modified>
</cp:coreProperties>
</file>