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88876" autoAdjust="0"/>
  </p:normalViewPr>
  <p:slideViewPr>
    <p:cSldViewPr snapToGrid="0">
      <p:cViewPr varScale="1">
        <p:scale>
          <a:sx n="89" d="100"/>
          <a:sy n="89" d="100"/>
        </p:scale>
        <p:origin x="1085" y="8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791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1739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0117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663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9345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84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054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049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7500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523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763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4961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831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3017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392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2018/9/17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2" y="0"/>
            <a:ext cx="8905101" cy="1496976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Algorithm for the Longest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Tandem</a:t>
            </a:r>
            <a:r>
              <a:rPr lang="zh-TW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Problem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41752" y="2252502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Adrian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Kosowski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Algorithms and System Modeling</a:t>
            </a:r>
          </a:p>
          <a:p>
            <a:r>
              <a:rPr lang="en-US" altLang="zh-TW" sz="2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Gda´nsk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University of Technology,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Poland</a:t>
            </a:r>
          </a:p>
          <a:p>
            <a:endParaRPr lang="en-US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 of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String Processing and Information Retrieval: 11th International Conference, SPIRE 2004, </a:t>
            </a:r>
            <a:r>
              <a:rPr lang="en-US" altLang="zh-TW" sz="2000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Padova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Italy, October 5-8, 2004. 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Ting-Wei Liang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Date:2018/09/18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5345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30402"/>
            <a:ext cx="78867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deals with the problem of finding a tandem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maximum length (LTS) for a given character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sequence. 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is referred to as tandem if it can be split into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 sequences. An efficient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the LTS problem is presented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is shown to have O(n</a:t>
            </a:r>
            <a:r>
              <a:rPr lang="en-US" altLang="zh-TW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computational complexity and linear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complexity with respect to the length n of the analyzed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sequence. A conjecture is put forward and discussed, stating that the complexity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given algorithm may not be easily improved. Finally, the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application of the solution to the LTS problem in approximate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tandem substring matching in DNA sequences is discussed.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Tande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Scattered (Square) Subsequence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 =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ABCBBCABABAC</a:t>
            </a:r>
          </a:p>
          <a:p>
            <a:pPr>
              <a:buNone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Tandem Subsequences = AB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,AC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</a:p>
          <a:p>
            <a:pPr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Tandem Subsequence (LTS)</a:t>
            </a:r>
          </a:p>
          <a:p>
            <a:pPr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ABBC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ABBC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9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LTS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內容版面配置區 9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 smtClean="0">
                    <a:latin typeface="Times New Roman" pitchFamily="18" charset="0"/>
                    <a:cs typeface="Times New Roman" pitchFamily="18" charset="0"/>
                  </a:rPr>
                  <a:t>ABCBBC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ABABAC</a:t>
                </a:r>
              </a:p>
              <a:p>
                <a:pPr marL="0" indent="0"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LCS(ABCBBC, ABABAC) = ABBCABBC = LTS</a:t>
                </a:r>
                <a:endParaRPr lang="zh-TW" altLang="en-US" dirty="0"/>
              </a:p>
            </p:txBody>
          </p:sp>
        </mc:Choice>
        <mc:Fallback>
          <p:sp>
            <p:nvSpPr>
              <p:cNvPr id="10" name="內容版面配置區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內容版面配置區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382" y="1751075"/>
            <a:ext cx="9335779" cy="117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6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759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LTSsplit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內容版面配置區 9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560" y="1535684"/>
            <a:ext cx="8995962" cy="399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0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759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LTSsplit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6612" y="992164"/>
            <a:ext cx="8667388" cy="118454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75604"/>
            <a:ext cx="9144000" cy="150489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46107"/>
            <a:ext cx="9144000" cy="88451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1" y="3780502"/>
            <a:ext cx="9031857" cy="112755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819" y="5559658"/>
            <a:ext cx="7962181" cy="13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91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759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內容版面配置區 9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2385" y="1173192"/>
            <a:ext cx="8425496" cy="21541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768596"/>
                  </p:ext>
                </p:extLst>
              </p:nvPr>
            </p:nvGraphicFramePr>
            <p:xfrm>
              <a:off x="79899" y="4226942"/>
              <a:ext cx="9064100" cy="16411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6410"/>
                    <a:gridCol w="906410"/>
                    <a:gridCol w="906410"/>
                    <a:gridCol w="906410"/>
                    <a:gridCol w="906410"/>
                    <a:gridCol w="906410"/>
                    <a:gridCol w="906410"/>
                    <a:gridCol w="906410"/>
                    <a:gridCol w="906410"/>
                    <a:gridCol w="906410"/>
                  </a:tblGrid>
                  <a:tr h="870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1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…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000" b="1" i="1" smtClean="0">
                                    <a:latin typeface="Cambria Math" panose="02040503050406030204" pitchFamily="18" charset="0"/>
                                  </a:rPr>
                                  <m:t>𝜸</m:t>
                                </m:r>
                                <m:r>
                                  <a:rPr lang="en-US" altLang="zh-TW" sz="2000" b="1" i="1" baseline="-25000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sz="2000" b="1" i="1" baseline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000" b="1" i="1" baseline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sz="2000" b="1" i="1" baseline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b="1" i="1" baseline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sz="2000" b="1" i="1" baseline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000" b="1" baseline="0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…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i-1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err="1" smtClean="0"/>
                            <a:t>i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j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…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k-1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k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</a:tr>
                  <a:tr h="7702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600" dirty="0" smtClean="0">
                              <a:solidFill>
                                <a:srgbClr val="FF0000"/>
                              </a:solidFill>
                            </a:rPr>
                            <a:t>x</a:t>
                          </a:r>
                          <a:endParaRPr lang="zh-TW" altLang="en-US" sz="3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600" dirty="0" smtClean="0">
                              <a:solidFill>
                                <a:srgbClr val="FF0000"/>
                              </a:solidFill>
                            </a:rPr>
                            <a:t>x</a:t>
                          </a:r>
                          <a:endParaRPr lang="zh-TW" altLang="en-US" sz="3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768596"/>
                  </p:ext>
                </p:extLst>
              </p:nvPr>
            </p:nvGraphicFramePr>
            <p:xfrm>
              <a:off x="79899" y="4226942"/>
              <a:ext cx="9064100" cy="164119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6410"/>
                    <a:gridCol w="906410"/>
                    <a:gridCol w="906410"/>
                    <a:gridCol w="906410"/>
                    <a:gridCol w="906410"/>
                    <a:gridCol w="906410"/>
                    <a:gridCol w="906410"/>
                    <a:gridCol w="906410"/>
                    <a:gridCol w="906410"/>
                    <a:gridCol w="906410"/>
                  </a:tblGrid>
                  <a:tr h="870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1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…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000" t="-3497" r="-70067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…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i-1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err="1" smtClean="0"/>
                            <a:t>i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j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…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k-1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/>
                            <a:t>k</a:t>
                          </a:r>
                          <a:endParaRPr lang="zh-TW" altLang="en-US" sz="2000" b="1" dirty="0"/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</a:tr>
                  <a:tr h="7702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600" dirty="0" smtClean="0">
                              <a:solidFill>
                                <a:srgbClr val="FF0000"/>
                              </a:solidFill>
                            </a:rPr>
                            <a:t>x</a:t>
                          </a:r>
                          <a:endParaRPr lang="zh-TW" altLang="en-US" sz="3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600" dirty="0" smtClean="0">
                              <a:solidFill>
                                <a:srgbClr val="FF0000"/>
                              </a:solidFill>
                            </a:rPr>
                            <a:t>x</a:t>
                          </a:r>
                          <a:endParaRPr lang="zh-TW" altLang="en-US" sz="3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935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759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2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186" y="1363156"/>
            <a:ext cx="9129684" cy="954281"/>
          </a:xfrm>
          <a:prstGeom prst="rect">
            <a:avLst/>
          </a:prstGeom>
        </p:spPr>
      </p:pic>
      <p:pic>
        <p:nvPicPr>
          <p:cNvPr id="8" name="內容版面配置區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3" y="2548334"/>
            <a:ext cx="8995962" cy="399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5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759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constructed from A</a:t>
            </a:r>
            <a:r>
              <a:rPr lang="en-US" altLang="zh-TW" sz="3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0844" y="2047700"/>
            <a:ext cx="8618869" cy="253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7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759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constructed from A</a:t>
            </a:r>
            <a:r>
              <a:rPr lang="en-US" altLang="zh-TW" sz="3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690777"/>
            <a:ext cx="9131693" cy="44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4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7880" y="-25570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constructed from A</a:t>
            </a:r>
            <a:r>
              <a:rPr lang="en-US" altLang="zh-TW" sz="3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990010"/>
              </p:ext>
            </p:extLst>
          </p:nvPr>
        </p:nvGraphicFramePr>
        <p:xfrm>
          <a:off x="2793881" y="741305"/>
          <a:ext cx="2675268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756"/>
                <a:gridCol w="891756"/>
                <a:gridCol w="891756"/>
              </a:tblGrid>
              <a:tr h="433427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433023" y="88519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 = 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132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7880" y="-25570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constructed from A</a:t>
            </a:r>
            <a:r>
              <a:rPr lang="en-US" altLang="zh-TW" sz="3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248111"/>
              </p:ext>
            </p:extLst>
          </p:nvPr>
        </p:nvGraphicFramePr>
        <p:xfrm>
          <a:off x="2793881" y="741305"/>
          <a:ext cx="2675268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756"/>
                <a:gridCol w="891756"/>
                <a:gridCol w="891756"/>
              </a:tblGrid>
              <a:tr h="433427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433023" y="88519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 = 12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1442641" y="3482272"/>
            <a:ext cx="734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t</a:t>
            </a:r>
            <a:r>
              <a:rPr lang="en-US" altLang="zh-TW" sz="2400" dirty="0" smtClean="0"/>
              <a:t> = 0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6085893" y="3943937"/>
            <a:ext cx="889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t</a:t>
            </a:r>
            <a:r>
              <a:rPr lang="en-US" altLang="zh-TW" sz="2400" dirty="0" smtClean="0"/>
              <a:t> = 10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0977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7880" y="-25570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constructed from A</a:t>
            </a:r>
            <a:r>
              <a:rPr lang="en-US" altLang="zh-TW" sz="3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796047"/>
              </p:ext>
            </p:extLst>
          </p:nvPr>
        </p:nvGraphicFramePr>
        <p:xfrm>
          <a:off x="2793881" y="741305"/>
          <a:ext cx="2675268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756"/>
                <a:gridCol w="891756"/>
                <a:gridCol w="891756"/>
              </a:tblGrid>
              <a:tr h="433427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433023" y="88519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 = 12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1442641" y="3482272"/>
            <a:ext cx="734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t</a:t>
            </a:r>
            <a:r>
              <a:rPr lang="en-US" altLang="zh-TW" sz="2400" dirty="0" smtClean="0"/>
              <a:t> = 0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6085893" y="3943937"/>
            <a:ext cx="889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t</a:t>
            </a:r>
            <a:r>
              <a:rPr lang="en-US" altLang="zh-TW" sz="2400" dirty="0" smtClean="0"/>
              <a:t> = 10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887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7880" y="-25570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constructed from A</a:t>
            </a:r>
            <a:r>
              <a:rPr lang="en-US" altLang="zh-TW" sz="3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705577"/>
              </p:ext>
            </p:extLst>
          </p:nvPr>
        </p:nvGraphicFramePr>
        <p:xfrm>
          <a:off x="2793881" y="741305"/>
          <a:ext cx="2675268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756"/>
                <a:gridCol w="891756"/>
                <a:gridCol w="891756"/>
              </a:tblGrid>
              <a:tr h="433427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433023" y="88519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 = 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678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7880" y="-25570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constructed from A</a:t>
            </a:r>
            <a:r>
              <a:rPr lang="en-US" altLang="zh-TW" sz="3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269441"/>
              </p:ext>
            </p:extLst>
          </p:nvPr>
        </p:nvGraphicFramePr>
        <p:xfrm>
          <a:off x="2793881" y="741305"/>
          <a:ext cx="2675268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756"/>
                <a:gridCol w="891756"/>
                <a:gridCol w="891756"/>
              </a:tblGrid>
              <a:tr h="433427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433023" y="88519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 = 12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809889" y="2084792"/>
            <a:ext cx="734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t</a:t>
            </a:r>
            <a:r>
              <a:rPr lang="en-US" altLang="zh-TW" sz="2400" dirty="0" smtClean="0"/>
              <a:t> = 0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830120" y="2546457"/>
            <a:ext cx="734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t</a:t>
            </a:r>
            <a:r>
              <a:rPr lang="en-US" altLang="zh-TW" sz="2400" dirty="0" smtClean="0"/>
              <a:t> = 7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6822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7880" y="-25570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constructed from A</a:t>
            </a:r>
            <a:r>
              <a:rPr lang="en-US" altLang="zh-TW" sz="3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777570"/>
              </p:ext>
            </p:extLst>
          </p:nvPr>
        </p:nvGraphicFramePr>
        <p:xfrm>
          <a:off x="2793881" y="741305"/>
          <a:ext cx="2675268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756"/>
                <a:gridCol w="891756"/>
                <a:gridCol w="891756"/>
              </a:tblGrid>
              <a:tr h="433427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334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433023" y="88519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 = 12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809889" y="2084792"/>
            <a:ext cx="734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t</a:t>
            </a:r>
            <a:r>
              <a:rPr lang="en-US" altLang="zh-TW" sz="2400" dirty="0" smtClean="0"/>
              <a:t> = 0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830120" y="2546457"/>
            <a:ext cx="734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t</a:t>
            </a:r>
            <a:r>
              <a:rPr lang="en-US" altLang="zh-TW" sz="2400" dirty="0" smtClean="0"/>
              <a:t> = 7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357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7880" y="-25570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LTSsplit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 : Compute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 : Determine the index to separate the string =&gt;O(n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 LCS  =&gt; O(n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1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34506</TotalTime>
  <Words>559</Words>
  <Application>Microsoft Office PowerPoint</Application>
  <PresentationFormat>如螢幕大小 (4:3)</PresentationFormat>
  <Paragraphs>292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4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An Efficient Algorithm for the Longest  Tandem Scattered Subsequence Problem</vt:lpstr>
      <vt:lpstr>Abstract</vt:lpstr>
      <vt:lpstr>Longest Tandem Scattered (Square) Subsequence</vt:lpstr>
      <vt:lpstr>Algorithm for LTS</vt:lpstr>
      <vt:lpstr>LTSsplit Problem</vt:lpstr>
      <vt:lpstr>LTSsplit Problem</vt:lpstr>
      <vt:lpstr>Property 1</vt:lpstr>
      <vt:lpstr>Property 2</vt:lpstr>
      <vt:lpstr>Ak constructed from Ak-1</vt:lpstr>
      <vt:lpstr>Ak constructed from Ak-1</vt:lpstr>
      <vt:lpstr>Ak constructed from Ak-1</vt:lpstr>
      <vt:lpstr>Ak constructed from Ak-1</vt:lpstr>
      <vt:lpstr>Ak constructed from Ak-1</vt:lpstr>
      <vt:lpstr>Ak constructed from Ak-1</vt:lpstr>
      <vt:lpstr>Ak constructed from Ak-1</vt:lpstr>
      <vt:lpstr>Ak constructed from Ak-1</vt:lpstr>
      <vt:lpstr>Time Complexity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user</cp:lastModifiedBy>
  <cp:revision>411</cp:revision>
  <dcterms:created xsi:type="dcterms:W3CDTF">2016-04-23T07:31:56Z</dcterms:created>
  <dcterms:modified xsi:type="dcterms:W3CDTF">2018-09-17T17:05:34Z</dcterms:modified>
</cp:coreProperties>
</file>