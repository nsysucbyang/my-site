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5"/>
  </p:notesMasterIdLst>
  <p:sldIdLst>
    <p:sldId id="256" r:id="rId2"/>
    <p:sldId id="269" r:id="rId3"/>
    <p:sldId id="273" r:id="rId4"/>
    <p:sldId id="257" r:id="rId5"/>
    <p:sldId id="258" r:id="rId6"/>
    <p:sldId id="274" r:id="rId7"/>
    <p:sldId id="277" r:id="rId8"/>
    <p:sldId id="281" r:id="rId9"/>
    <p:sldId id="275" r:id="rId10"/>
    <p:sldId id="276" r:id="rId11"/>
    <p:sldId id="278" r:id="rId12"/>
    <p:sldId id="279" r:id="rId13"/>
    <p:sldId id="280"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69"/>
            <p14:sldId id="273"/>
            <p14:sldId id="257"/>
            <p14:sldId id="258"/>
            <p14:sldId id="274"/>
            <p14:sldId id="277"/>
            <p14:sldId id="281"/>
            <p14:sldId id="275"/>
            <p14:sldId id="276"/>
            <p14:sldId id="278"/>
            <p14:sldId id="279"/>
            <p14:sldId id="280"/>
          </p14:sldIdLst>
        </p14:section>
        <p14:section name="test" id="{5A0672B8-76E0-491A-93E0-1923641389C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50" autoAdjust="0"/>
    <p:restoredTop sz="71194" autoAdjust="0"/>
  </p:normalViewPr>
  <p:slideViewPr>
    <p:cSldViewPr snapToGrid="0">
      <p:cViewPr varScale="1">
        <p:scale>
          <a:sx n="53" d="100"/>
          <a:sy n="53" d="100"/>
        </p:scale>
        <p:origin x="16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2018/9/18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27816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461596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666234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341802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339383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647001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1676165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259625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2018/9/18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2018/9/18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2018/9/18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2018/9/18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microsoft.com/office/2007/relationships/hdphoto" Target="../media/hdphoto1.wdp"/><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469410" y="942146"/>
            <a:ext cx="8205179" cy="1639565"/>
          </a:xfrm>
        </p:spPr>
        <p:txBody>
          <a:bodyPr>
            <a:normAutofit/>
          </a:bodyPr>
          <a:lstStyle/>
          <a:p>
            <a:r>
              <a:rPr lang="en-US" altLang="zh-TW" sz="4000" b="1" dirty="0">
                <a:latin typeface="Times New Roman" panose="02020603050405020304" pitchFamily="18" charset="0"/>
                <a:cs typeface="Times New Roman" panose="02020603050405020304" pitchFamily="18" charset="0"/>
              </a:rPr>
              <a:t> Hybrid Optimization Algorithm Using </a:t>
            </a:r>
            <a:r>
              <a:rPr lang="en-US" altLang="zh-TW" sz="4000" b="1" dirty="0" smtClean="0">
                <a:latin typeface="Times New Roman" panose="02020603050405020304" pitchFamily="18" charset="0"/>
                <a:cs typeface="Times New Roman" panose="02020603050405020304" pitchFamily="18" charset="0"/>
              </a:rPr>
              <a:t>N-Gram </a:t>
            </a:r>
            <a:r>
              <a:rPr lang="en-US" altLang="zh-TW" sz="4000" b="1" dirty="0">
                <a:latin typeface="Times New Roman" panose="02020603050405020304" pitchFamily="18" charset="0"/>
                <a:cs typeface="Times New Roman" panose="02020603050405020304" pitchFamily="18" charset="0"/>
              </a:rPr>
              <a:t>Based Edit Distance</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1506708" y="3299161"/>
            <a:ext cx="6130581" cy="707886"/>
          </a:xfrm>
        </p:spPr>
        <p:txBody>
          <a:bodyPr>
            <a:normAutofit/>
          </a:bodyPr>
          <a:lstStyle/>
          <a:p>
            <a:r>
              <a:rPr lang="en-US" altLang="zh-TW" sz="2800" dirty="0">
                <a:latin typeface="Times New Roman" panose="02020603050405020304" pitchFamily="18" charset="0"/>
                <a:ea typeface="+mj-ea"/>
                <a:cs typeface="Times New Roman" panose="02020603050405020304" pitchFamily="18" charset="0"/>
              </a:rPr>
              <a:t> </a:t>
            </a:r>
            <a:r>
              <a:rPr lang="en-US" altLang="zh-TW" sz="2800" dirty="0" err="1">
                <a:latin typeface="Times New Roman" panose="02020603050405020304" pitchFamily="18" charset="0"/>
                <a:ea typeface="+mj-ea"/>
                <a:cs typeface="Times New Roman" panose="02020603050405020304" pitchFamily="18" charset="0"/>
              </a:rPr>
              <a:t>M.Priya</a:t>
            </a:r>
            <a:r>
              <a:rPr lang="en-US" altLang="zh-TW" sz="2800" dirty="0">
                <a:latin typeface="Times New Roman" panose="02020603050405020304" pitchFamily="18" charset="0"/>
                <a:ea typeface="+mj-ea"/>
                <a:cs typeface="Times New Roman" panose="02020603050405020304" pitchFamily="18" charset="0"/>
              </a:rPr>
              <a:t>, </a:t>
            </a:r>
            <a:r>
              <a:rPr lang="en-US" altLang="zh-TW" sz="2800" dirty="0" err="1">
                <a:latin typeface="Times New Roman" panose="02020603050405020304" pitchFamily="18" charset="0"/>
                <a:ea typeface="+mj-ea"/>
                <a:cs typeface="Times New Roman" panose="02020603050405020304" pitchFamily="18" charset="0"/>
              </a:rPr>
              <a:t>Dr.R.Kalpana</a:t>
            </a:r>
            <a:r>
              <a:rPr lang="en-US" altLang="zh-TW" sz="2800" dirty="0">
                <a:latin typeface="Times New Roman" panose="02020603050405020304" pitchFamily="18" charset="0"/>
                <a:ea typeface="+mj-ea"/>
                <a:cs typeface="Times New Roman" panose="02020603050405020304" pitchFamily="18" charset="0"/>
              </a:rPr>
              <a:t> and </a:t>
            </a:r>
            <a:r>
              <a:rPr lang="en-US" altLang="zh-TW" sz="2800" dirty="0" err="1">
                <a:latin typeface="Times New Roman" panose="02020603050405020304" pitchFamily="18" charset="0"/>
                <a:ea typeface="+mj-ea"/>
                <a:cs typeface="Times New Roman" panose="02020603050405020304" pitchFamily="18" charset="0"/>
              </a:rPr>
              <a:t>T.Srisupriya</a:t>
            </a:r>
            <a:endParaRPr lang="zh-TW" altLang="en-US" sz="28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5489688" y="5500355"/>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Guan-</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2018.09.18</a:t>
            </a:r>
          </a:p>
        </p:txBody>
      </p:sp>
      <p:sp>
        <p:nvSpPr>
          <p:cNvPr id="6" name="矩形 5">
            <a:extLst>
              <a:ext uri="{FF2B5EF4-FFF2-40B4-BE49-F238E27FC236}">
                <a16:creationId xmlns:a16="http://schemas.microsoft.com/office/drawing/2014/main" xmlns="" id="{ADEB69C1-BEBB-4D8A-BCF3-51571A635FE9}"/>
              </a:ext>
            </a:extLst>
          </p:cNvPr>
          <p:cNvSpPr/>
          <p:nvPr/>
        </p:nvSpPr>
        <p:spPr>
          <a:xfrm flipH="1">
            <a:off x="970460" y="4271874"/>
            <a:ext cx="7203076" cy="830997"/>
          </a:xfrm>
          <a:prstGeom prst="rect">
            <a:avLst/>
          </a:prstGeom>
        </p:spPr>
        <p:txBody>
          <a:bodyPr wrap="square">
            <a:spAutoFit/>
          </a:bodyPr>
          <a:lstStyle/>
          <a:p>
            <a:pPr algn="ctr"/>
            <a:r>
              <a:rPr lang="en-US" altLang="zh-TW" sz="2400" dirty="0">
                <a:latin typeface="Times New Roman" panose="02020603050405020304" pitchFamily="18" charset="0"/>
                <a:ea typeface="+mj-ea"/>
                <a:cs typeface="Times New Roman" panose="02020603050405020304" pitchFamily="18" charset="0"/>
              </a:rPr>
              <a:t>International Conference on Communication and Signal Processing, April 6 -</a:t>
            </a:r>
            <a:r>
              <a:rPr lang="en-US" altLang="zh-TW" sz="2400" dirty="0">
                <a:latin typeface="Times New Roman" panose="02020603050405020304" pitchFamily="18" charset="0"/>
                <a:cs typeface="Times New Roman" panose="02020603050405020304" pitchFamily="18" charset="0"/>
              </a:rPr>
              <a:t> April</a:t>
            </a:r>
            <a:r>
              <a:rPr lang="en-US" altLang="zh-TW" sz="2400" dirty="0">
                <a:latin typeface="Times New Roman" panose="02020603050405020304" pitchFamily="18" charset="0"/>
                <a:ea typeface="+mj-ea"/>
                <a:cs typeface="Times New Roman" panose="02020603050405020304" pitchFamily="18" charset="0"/>
              </a:rPr>
              <a:t> 8, 2017, Chennai, India</a:t>
            </a:r>
          </a:p>
        </p:txBody>
      </p:sp>
    </p:spTree>
    <p:extLst>
      <p:ext uri="{BB962C8B-B14F-4D97-AF65-F5344CB8AC3E}">
        <p14:creationId xmlns:p14="http://schemas.microsoft.com/office/powerpoint/2010/main" val="26117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2B787470-A563-4204-AE46-C3F1447D1D0E}"/>
              </a:ext>
            </a:extLst>
          </p:cNvPr>
          <p:cNvPicPr>
            <a:picLocks noChangeAspect="1"/>
          </p:cNvPicPr>
          <p:nvPr/>
        </p:nvPicPr>
        <p:blipFill>
          <a:blip r:embed="rId3"/>
          <a:stretch>
            <a:fillRect/>
          </a:stretch>
        </p:blipFill>
        <p:spPr>
          <a:xfrm>
            <a:off x="2465955" y="1215738"/>
            <a:ext cx="4212090" cy="4426523"/>
          </a:xfrm>
          <a:prstGeom prst="rect">
            <a:avLst/>
          </a:prstGeom>
        </p:spPr>
      </p:pic>
    </p:spTree>
    <p:extLst>
      <p:ext uri="{BB962C8B-B14F-4D97-AF65-F5344CB8AC3E}">
        <p14:creationId xmlns:p14="http://schemas.microsoft.com/office/powerpoint/2010/main" val="1473862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251916" y="895712"/>
            <a:ext cx="8155484" cy="5825764"/>
          </a:xfrm>
        </p:spPr>
        <p:txBody>
          <a:bodyPr>
            <a:noAutofit/>
          </a:bodyPr>
          <a:lstStyle/>
          <a:p>
            <a:pPr marL="0" indent="0">
              <a:lnSpc>
                <a:spcPct val="150000"/>
              </a:lnSpc>
              <a:buNone/>
            </a:pPr>
            <a:r>
              <a:rPr lang="en-US" altLang="zh-TW" sz="2400" b="1" dirty="0">
                <a:solidFill>
                  <a:srgbClr val="0070C0"/>
                </a:solidFill>
                <a:latin typeface="Times New Roman" panose="02020603050405020304" pitchFamily="18" charset="0"/>
              </a:rPr>
              <a:t>Spell-checking</a:t>
            </a:r>
            <a:r>
              <a:rPr lang="en-US" altLang="zh-TW" sz="2400" dirty="0">
                <a:latin typeface="Times New Roman" panose="02020603050405020304" pitchFamily="18" charset="0"/>
              </a:rPr>
              <a:t> method is used to detect and correct the incorrect words which spelled in a document. To afford the best probable solution for corrected words first we should detect the incorrect words. The several spell correcting techniques are used after detecting the wrong words or misspelled words, to produces the best accurate correct or alternate words. Spell checking is used in word processing programs, cell phones, email programs and many other applications such as blogs and forums etc. Classification of Error correction and detection provide a better understanding of different types of techniques. </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251916" y="895712"/>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There are two basic approaches to correct the spelling called edit distance approach and N-gram approach. This paper deals with a new technique called </a:t>
            </a:r>
            <a:r>
              <a:rPr lang="en-US" altLang="zh-TW" sz="2400" dirty="0">
                <a:solidFill>
                  <a:srgbClr val="0070C0"/>
                </a:solidFill>
                <a:latin typeface="Times New Roman" panose="02020603050405020304" pitchFamily="18" charset="0"/>
              </a:rPr>
              <a:t>N-Gram based Edit distance (NGE)</a:t>
            </a:r>
            <a:r>
              <a:rPr lang="en-US" altLang="zh-TW" sz="2400" dirty="0">
                <a:latin typeface="Times New Roman" panose="02020603050405020304" pitchFamily="18" charset="0"/>
              </a:rPr>
              <a:t> for transformation of strings. For rule generation to estimate the probabilities using Log model. The proposed method is compared with the other two approaches: Edit distance and N-Gram. The proposed method yields better result than other two approaches and the hybrid algorithm outperforms both edit distance and n-gram algorithm in terms of efficiency and accuracy.</a:t>
            </a: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2360633"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Spell errors</a:t>
            </a:r>
            <a:endParaRPr lang="zh-TW" altLang="en-US" sz="3600" dirty="0">
              <a:latin typeface="Times New Roman" panose="02020603050405020304" pitchFamily="18" charset="0"/>
              <a:cs typeface="Times New Roman" panose="02020603050405020304" pitchFamily="18" charset="0"/>
            </a:endParaRPr>
          </a:p>
        </p:txBody>
      </p:sp>
      <p:sp>
        <p:nvSpPr>
          <p:cNvPr id="28" name="標題 1">
            <a:extLst>
              <a:ext uri="{FF2B5EF4-FFF2-40B4-BE49-F238E27FC236}">
                <a16:creationId xmlns:a16="http://schemas.microsoft.com/office/drawing/2014/main" xmlns="" id="{181DB44C-FC0A-4741-A15E-B3713572DF93}"/>
              </a:ext>
            </a:extLst>
          </p:cNvPr>
          <p:cNvSpPr txBox="1">
            <a:spLocks/>
          </p:cNvSpPr>
          <p:nvPr/>
        </p:nvSpPr>
        <p:spPr>
          <a:xfrm>
            <a:off x="402232" y="2503866"/>
            <a:ext cx="217408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Spell error</a:t>
            </a:r>
          </a:p>
        </p:txBody>
      </p:sp>
      <p:grpSp>
        <p:nvGrpSpPr>
          <p:cNvPr id="19" name="群組 18">
            <a:extLst>
              <a:ext uri="{FF2B5EF4-FFF2-40B4-BE49-F238E27FC236}">
                <a16:creationId xmlns:a16="http://schemas.microsoft.com/office/drawing/2014/main" xmlns="" id="{08DDFA11-2927-411C-8FA3-AC0AD5DC43DA}"/>
              </a:ext>
            </a:extLst>
          </p:cNvPr>
          <p:cNvGrpSpPr/>
          <p:nvPr/>
        </p:nvGrpSpPr>
        <p:grpSpPr>
          <a:xfrm>
            <a:off x="2340808" y="1853502"/>
            <a:ext cx="1580020" cy="1934196"/>
            <a:chOff x="2278639" y="1276428"/>
            <a:chExt cx="1580020" cy="1934196"/>
          </a:xfrm>
        </p:grpSpPr>
        <p:sp>
          <p:nvSpPr>
            <p:cNvPr id="10" name="標題 1">
              <a:extLst>
                <a:ext uri="{FF2B5EF4-FFF2-40B4-BE49-F238E27FC236}">
                  <a16:creationId xmlns:a16="http://schemas.microsoft.com/office/drawing/2014/main" xmlns="" id="{57183064-66DB-4615-9A36-3110992CD70F}"/>
                </a:ext>
              </a:extLst>
            </p:cNvPr>
            <p:cNvSpPr txBox="1">
              <a:spLocks/>
            </p:cNvSpPr>
            <p:nvPr/>
          </p:nvSpPr>
          <p:spPr>
            <a:xfrm>
              <a:off x="2278640" y="1276428"/>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Real-word</a:t>
              </a:r>
            </a:p>
          </p:txBody>
        </p:sp>
        <p:sp>
          <p:nvSpPr>
            <p:cNvPr id="11" name="標題 1">
              <a:extLst>
                <a:ext uri="{FF2B5EF4-FFF2-40B4-BE49-F238E27FC236}">
                  <a16:creationId xmlns:a16="http://schemas.microsoft.com/office/drawing/2014/main" xmlns="" id="{BC5DFD4F-52C2-43FE-B012-891746CBEB4D}"/>
                </a:ext>
              </a:extLst>
            </p:cNvPr>
            <p:cNvSpPr txBox="1">
              <a:spLocks/>
            </p:cNvSpPr>
            <p:nvPr/>
          </p:nvSpPr>
          <p:spPr>
            <a:xfrm>
              <a:off x="2278639" y="2627257"/>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Non-word</a:t>
              </a:r>
            </a:p>
          </p:txBody>
        </p:sp>
      </p:grpSp>
      <p:grpSp>
        <p:nvGrpSpPr>
          <p:cNvPr id="20" name="群組 19">
            <a:extLst>
              <a:ext uri="{FF2B5EF4-FFF2-40B4-BE49-F238E27FC236}">
                <a16:creationId xmlns:a16="http://schemas.microsoft.com/office/drawing/2014/main" xmlns="" id="{7BB7A274-5447-4842-800D-525C1C15F9D0}"/>
              </a:ext>
            </a:extLst>
          </p:cNvPr>
          <p:cNvGrpSpPr/>
          <p:nvPr/>
        </p:nvGrpSpPr>
        <p:grpSpPr>
          <a:xfrm>
            <a:off x="4572000" y="1942043"/>
            <a:ext cx="3419605" cy="3107942"/>
            <a:chOff x="3685314" y="1271854"/>
            <a:chExt cx="4408325" cy="3107942"/>
          </a:xfrm>
        </p:grpSpPr>
        <p:sp>
          <p:nvSpPr>
            <p:cNvPr id="3" name="矩形 2">
              <a:extLst>
                <a:ext uri="{FF2B5EF4-FFF2-40B4-BE49-F238E27FC236}">
                  <a16:creationId xmlns:a16="http://schemas.microsoft.com/office/drawing/2014/main" xmlns="" id="{8295391F-8C91-4EEF-8E25-A9BCD8E57DBA}"/>
                </a:ext>
              </a:extLst>
            </p:cNvPr>
            <p:cNvSpPr/>
            <p:nvPr/>
          </p:nvSpPr>
          <p:spPr>
            <a:xfrm>
              <a:off x="3685314" y="1271854"/>
              <a:ext cx="4408325" cy="2710807"/>
            </a:xfrm>
            <a:prstGeom prst="rect">
              <a:avLst/>
            </a:prstGeom>
          </p:spPr>
          <p:txBody>
            <a:bodyPr wrap="square">
              <a:spAutoFit/>
            </a:bodyPr>
            <a:lstStyle/>
            <a:p>
              <a:pPr>
                <a:lnSpc>
                  <a:spcPct val="250000"/>
                </a:lnSpc>
              </a:pPr>
              <a:r>
                <a:rPr lang="en-US" altLang="zh-TW" sz="2400" dirty="0">
                  <a:latin typeface="TimesNewRomanPSMT"/>
                </a:rPr>
                <a:t>Typographic error</a:t>
              </a:r>
            </a:p>
            <a:p>
              <a:pPr>
                <a:lnSpc>
                  <a:spcPct val="250000"/>
                </a:lnSpc>
              </a:pPr>
              <a:r>
                <a:rPr lang="en-US" altLang="zh-TW" sz="2400" dirty="0">
                  <a:latin typeface="TimesNewRomanPSMT"/>
                </a:rPr>
                <a:t>Cognitive error</a:t>
              </a:r>
            </a:p>
            <a:p>
              <a:pPr>
                <a:lnSpc>
                  <a:spcPct val="250000"/>
                </a:lnSpc>
              </a:pPr>
              <a:r>
                <a:rPr lang="en-US" altLang="zh-TW" sz="2400" dirty="0">
                  <a:latin typeface="TimesNewRomanPSMT"/>
                </a:rPr>
                <a:t>Phonetic error</a:t>
              </a:r>
              <a:endParaRPr lang="zh-TW" altLang="en-US" sz="2400" dirty="0"/>
            </a:p>
          </p:txBody>
        </p:sp>
        <p:grpSp>
          <p:nvGrpSpPr>
            <p:cNvPr id="17" name="群組 16">
              <a:extLst>
                <a:ext uri="{FF2B5EF4-FFF2-40B4-BE49-F238E27FC236}">
                  <a16:creationId xmlns:a16="http://schemas.microsoft.com/office/drawing/2014/main" xmlns="" id="{C3B38D63-08EA-415A-A955-7CB5288030B8}"/>
                </a:ext>
              </a:extLst>
            </p:cNvPr>
            <p:cNvGrpSpPr/>
            <p:nvPr/>
          </p:nvGrpSpPr>
          <p:grpSpPr>
            <a:xfrm>
              <a:off x="4337650" y="2116652"/>
              <a:ext cx="3515503" cy="2263144"/>
              <a:chOff x="4311162" y="2179282"/>
              <a:chExt cx="3515503" cy="2263144"/>
            </a:xfrm>
          </p:grpSpPr>
          <p:sp>
            <p:nvSpPr>
              <p:cNvPr id="7" name="矩形 6">
                <a:extLst>
                  <a:ext uri="{FF2B5EF4-FFF2-40B4-BE49-F238E27FC236}">
                    <a16:creationId xmlns:a16="http://schemas.microsoft.com/office/drawing/2014/main" xmlns="" id="{D4EE139A-0EB7-4C57-B64F-2D18B65B5FC3}"/>
                  </a:ext>
                </a:extLst>
              </p:cNvPr>
              <p:cNvSpPr/>
              <p:nvPr/>
            </p:nvSpPr>
            <p:spPr>
              <a:xfrm>
                <a:off x="4311162" y="2179282"/>
                <a:ext cx="1537877" cy="461665"/>
              </a:xfrm>
              <a:prstGeom prst="rect">
                <a:avLst/>
              </a:prstGeom>
            </p:spPr>
            <p:txBody>
              <a:bodyPr wrap="none">
                <a:spAutoFit/>
              </a:bodyPr>
              <a:lstStyle/>
              <a:p>
                <a:r>
                  <a:rPr lang="en-US" altLang="zh-TW" sz="2400" dirty="0" err="1">
                    <a:solidFill>
                      <a:srgbClr val="FF0000"/>
                    </a:solidFill>
                    <a:latin typeface="TimesNewRomanPSMT"/>
                  </a:rPr>
                  <a:t>oan</a:t>
                </a:r>
                <a:r>
                  <a:rPr lang="en-US" altLang="zh-TW" sz="2400" dirty="0">
                    <a:latin typeface="TimesNewRomanPSMT"/>
                  </a:rPr>
                  <a:t> - </a:t>
                </a:r>
                <a:r>
                  <a:rPr lang="en-US" altLang="zh-TW" sz="2400" dirty="0">
                    <a:solidFill>
                      <a:srgbClr val="0070C0"/>
                    </a:solidFill>
                    <a:latin typeface="TimesNewRomanPSMT"/>
                  </a:rPr>
                  <a:t>on</a:t>
                </a:r>
                <a:endParaRPr lang="zh-TW" altLang="en-US" sz="2400" dirty="0">
                  <a:solidFill>
                    <a:srgbClr val="0070C0"/>
                  </a:solidFill>
                </a:endParaRPr>
              </a:p>
            </p:txBody>
          </p:sp>
          <p:sp>
            <p:nvSpPr>
              <p:cNvPr id="8" name="矩形 7">
                <a:extLst>
                  <a:ext uri="{FF2B5EF4-FFF2-40B4-BE49-F238E27FC236}">
                    <a16:creationId xmlns:a16="http://schemas.microsoft.com/office/drawing/2014/main" xmlns="" id="{FE6495A6-3D33-4E2A-934E-BFF851D01034}"/>
                  </a:ext>
                </a:extLst>
              </p:cNvPr>
              <p:cNvSpPr/>
              <p:nvPr/>
            </p:nvSpPr>
            <p:spPr>
              <a:xfrm>
                <a:off x="4311162" y="3112092"/>
                <a:ext cx="3515503" cy="461665"/>
              </a:xfrm>
              <a:prstGeom prst="rect">
                <a:avLst/>
              </a:prstGeom>
            </p:spPr>
            <p:txBody>
              <a:bodyPr wrap="none">
                <a:spAutoFit/>
              </a:bodyPr>
              <a:lstStyle/>
              <a:p>
                <a:r>
                  <a:rPr lang="en-US" altLang="zh-TW" sz="2400" dirty="0" err="1">
                    <a:solidFill>
                      <a:srgbClr val="FF0000"/>
                    </a:solidFill>
                    <a:latin typeface="TimesNewRomanPSMT"/>
                  </a:rPr>
                  <a:t>existance</a:t>
                </a:r>
                <a:r>
                  <a:rPr lang="en-US" altLang="zh-TW" sz="2400" dirty="0">
                    <a:latin typeface="TimesNewRomanPSMT"/>
                  </a:rPr>
                  <a:t> - </a:t>
                </a:r>
                <a:r>
                  <a:rPr lang="en-US" altLang="zh-TW" sz="2400" dirty="0">
                    <a:solidFill>
                      <a:srgbClr val="0070C0"/>
                    </a:solidFill>
                    <a:latin typeface="TimesNewRomanPSMT"/>
                  </a:rPr>
                  <a:t>existence</a:t>
                </a:r>
                <a:endParaRPr lang="zh-TW" altLang="en-US" sz="2400" dirty="0">
                  <a:solidFill>
                    <a:srgbClr val="0070C0"/>
                  </a:solidFill>
                </a:endParaRPr>
              </a:p>
            </p:txBody>
          </p:sp>
          <p:sp>
            <p:nvSpPr>
              <p:cNvPr id="13" name="矩形 12">
                <a:extLst>
                  <a:ext uri="{FF2B5EF4-FFF2-40B4-BE49-F238E27FC236}">
                    <a16:creationId xmlns:a16="http://schemas.microsoft.com/office/drawing/2014/main" xmlns="" id="{A28732CE-9515-4B76-A200-33E2BF7E988A}"/>
                  </a:ext>
                </a:extLst>
              </p:cNvPr>
              <p:cNvSpPr/>
              <p:nvPr/>
            </p:nvSpPr>
            <p:spPr>
              <a:xfrm>
                <a:off x="4311162" y="3980761"/>
                <a:ext cx="3449374" cy="461665"/>
              </a:xfrm>
              <a:prstGeom prst="rect">
                <a:avLst/>
              </a:prstGeom>
            </p:spPr>
            <p:txBody>
              <a:bodyPr wrap="none">
                <a:spAutoFit/>
              </a:bodyPr>
              <a:lstStyle/>
              <a:p>
                <a:r>
                  <a:rPr lang="en-US" altLang="zh-TW" sz="2400" dirty="0" err="1">
                    <a:solidFill>
                      <a:srgbClr val="FF0000"/>
                    </a:solidFill>
                    <a:latin typeface="TimesNewRomanPSMT"/>
                  </a:rPr>
                  <a:t>privelege</a:t>
                </a:r>
                <a:r>
                  <a:rPr lang="en-US" altLang="zh-TW" sz="2400" dirty="0">
                    <a:latin typeface="TimesNewRomanPSMT"/>
                  </a:rPr>
                  <a:t> - </a:t>
                </a:r>
                <a:r>
                  <a:rPr lang="en-US" altLang="zh-TW" sz="2400" dirty="0">
                    <a:solidFill>
                      <a:srgbClr val="0070C0"/>
                    </a:solidFill>
                    <a:latin typeface="TimesNewRomanPSMT"/>
                  </a:rPr>
                  <a:t>privilege</a:t>
                </a:r>
                <a:endParaRPr lang="zh-TW" altLang="en-US" sz="2400" dirty="0">
                  <a:solidFill>
                    <a:srgbClr val="0070C0"/>
                  </a:solidFill>
                </a:endParaRPr>
              </a:p>
            </p:txBody>
          </p:sp>
        </p:grpSp>
      </p:grpSp>
      <p:pic>
        <p:nvPicPr>
          <p:cNvPr id="2052" name="Picture 4" descr="ãæ¸å­¸å¤§æ¬èãçåçæå°çµæ">
            <a:extLst>
              <a:ext uri="{FF2B5EF4-FFF2-40B4-BE49-F238E27FC236}">
                <a16:creationId xmlns:a16="http://schemas.microsoft.com/office/drawing/2014/main" xmlns="" id="{FA8C11B9-75F1-4D7D-9A1E-B86B83E64453}"/>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0000" b="90000" l="3902" r="35114"/>
                    </a14:imgEffect>
                  </a14:imgLayer>
                </a14:imgProps>
              </a:ext>
              <a:ext uri="{28A0092B-C50C-407E-A947-70E740481C1C}">
                <a14:useLocalDpi xmlns:a14="http://schemas.microsoft.com/office/drawing/2010/main" val="0"/>
              </a:ext>
            </a:extLst>
          </a:blip>
          <a:srcRect l="11800" t="28656" r="76380" b="29100"/>
          <a:stretch/>
        </p:blipFill>
        <p:spPr bwMode="auto">
          <a:xfrm>
            <a:off x="1919547" y="2216683"/>
            <a:ext cx="337944" cy="120783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ãæ¸å­¸å¤§æ¬èãçåçæå°çµæ">
            <a:extLst>
              <a:ext uri="{FF2B5EF4-FFF2-40B4-BE49-F238E27FC236}">
                <a16:creationId xmlns:a16="http://schemas.microsoft.com/office/drawing/2014/main" xmlns="" id="{E7EE5BB5-B7CE-4018-B99B-69EAB0085B62}"/>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0000" b="90000" l="3902" r="35114"/>
                    </a14:imgEffect>
                  </a14:imgLayer>
                </a14:imgProps>
              </a:ext>
              <a:ext uri="{28A0092B-C50C-407E-A947-70E740481C1C}">
                <a14:useLocalDpi xmlns:a14="http://schemas.microsoft.com/office/drawing/2010/main" val="0"/>
              </a:ext>
            </a:extLst>
          </a:blip>
          <a:srcRect l="11800" t="28656" r="76380" b="29100"/>
          <a:stretch/>
        </p:blipFill>
        <p:spPr bwMode="auto">
          <a:xfrm>
            <a:off x="3897057" y="2379077"/>
            <a:ext cx="590902" cy="2111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81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Classification of spell checking</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xmlns="" id="{7FC084CD-2307-40F2-AA36-0E11E8760B40}"/>
              </a:ext>
            </a:extLst>
          </p:cNvPr>
          <p:cNvPicPr>
            <a:picLocks noChangeAspect="1"/>
          </p:cNvPicPr>
          <p:nvPr/>
        </p:nvPicPr>
        <p:blipFill>
          <a:blip r:embed="rId2"/>
          <a:stretch>
            <a:fillRect/>
          </a:stretch>
        </p:blipFill>
        <p:spPr>
          <a:xfrm>
            <a:off x="927235" y="1452995"/>
            <a:ext cx="7289529" cy="3952009"/>
          </a:xfrm>
          <a:prstGeom prst="rect">
            <a:avLst/>
          </a:prstGeom>
        </p:spPr>
      </p:pic>
    </p:spTree>
    <p:extLst>
      <p:ext uri="{BB962C8B-B14F-4D97-AF65-F5344CB8AC3E}">
        <p14:creationId xmlns:p14="http://schemas.microsoft.com/office/powerpoint/2010/main" val="14075214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Edit distance (1/3)</a:t>
            </a:r>
            <a:endParaRPr lang="zh-TW" altLang="en-US" sz="3600"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xmlns="" id="{DDDE2AB7-4465-4766-912C-0A5A739946F3}"/>
              </a:ext>
            </a:extLst>
          </p:cNvPr>
          <p:cNvGrpSpPr/>
          <p:nvPr/>
        </p:nvGrpSpPr>
        <p:grpSpPr>
          <a:xfrm>
            <a:off x="762760" y="2148707"/>
            <a:ext cx="4444408" cy="1166734"/>
            <a:chOff x="1674368" y="1312053"/>
            <a:chExt cx="4444408" cy="1166734"/>
          </a:xfrm>
        </p:grpSpPr>
        <p:sp>
          <p:nvSpPr>
            <p:cNvPr id="6" name="標題 1">
              <a:extLst>
                <a:ext uri="{FF2B5EF4-FFF2-40B4-BE49-F238E27FC236}">
                  <a16:creationId xmlns:a16="http://schemas.microsoft.com/office/drawing/2014/main" xmlns="" id="{65A2D5AD-0FB7-4AE5-9D67-E1EF78F7D7CD}"/>
                </a:ext>
              </a:extLst>
            </p:cNvPr>
            <p:cNvSpPr txBox="1">
              <a:spLocks/>
            </p:cNvSpPr>
            <p:nvPr/>
          </p:nvSpPr>
          <p:spPr>
            <a:xfrm>
              <a:off x="2207390" y="1312053"/>
              <a:ext cx="3911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B</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p>
          </p:txBody>
        </p:sp>
        <p:sp>
          <p:nvSpPr>
            <p:cNvPr id="7" name="標題 1">
              <a:extLst>
                <a:ext uri="{FF2B5EF4-FFF2-40B4-BE49-F238E27FC236}">
                  <a16:creationId xmlns:a16="http://schemas.microsoft.com/office/drawing/2014/main" xmlns="" id="{142B6C87-A3CE-4EE1-A57D-DE9CC6D3319F}"/>
                </a:ext>
              </a:extLst>
            </p:cNvPr>
            <p:cNvSpPr txBox="1">
              <a:spLocks/>
            </p:cNvSpPr>
            <p:nvPr/>
          </p:nvSpPr>
          <p:spPr>
            <a:xfrm>
              <a:off x="2207389" y="1895420"/>
              <a:ext cx="377498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B</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C</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endPar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8" name="標題 1">
              <a:extLst>
                <a:ext uri="{FF2B5EF4-FFF2-40B4-BE49-F238E27FC236}">
                  <a16:creationId xmlns:a16="http://schemas.microsoft.com/office/drawing/2014/main" xmlns="" id="{0FD3F08F-985D-43DC-9A2E-F1A4B7D311CB}"/>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9" name="標題 1">
              <a:extLst>
                <a:ext uri="{FF2B5EF4-FFF2-40B4-BE49-F238E27FC236}">
                  <a16:creationId xmlns:a16="http://schemas.microsoft.com/office/drawing/2014/main" xmlns="" id="{83F9426F-3A60-42CB-89C3-B30AFE045081}"/>
                </a:ext>
              </a:extLst>
            </p:cNvPr>
            <p:cNvSpPr txBox="1">
              <a:spLocks/>
            </p:cNvSpPr>
            <p:nvPr/>
          </p:nvSpPr>
          <p:spPr>
            <a:xfrm>
              <a:off x="16743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p:sp>
        <p:nvSpPr>
          <p:cNvPr id="23" name="標題 1">
            <a:extLst>
              <a:ext uri="{FF2B5EF4-FFF2-40B4-BE49-F238E27FC236}">
                <a16:creationId xmlns:a16="http://schemas.microsoft.com/office/drawing/2014/main" xmlns="" id="{596D988A-1715-402B-991F-A1D383C849EE}"/>
              </a:ext>
            </a:extLst>
          </p:cNvPr>
          <p:cNvSpPr txBox="1">
            <a:spLocks/>
          </p:cNvSpPr>
          <p:nvPr/>
        </p:nvSpPr>
        <p:spPr>
          <a:xfrm>
            <a:off x="762760" y="1095532"/>
            <a:ext cx="7466840"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Operations: insertion, deletion, substitution, transposition… </a:t>
            </a:r>
          </a:p>
        </p:txBody>
      </p:sp>
      <p:cxnSp>
        <p:nvCxnSpPr>
          <p:cNvPr id="3" name="直線單箭頭接點 2">
            <a:extLst>
              <a:ext uri="{FF2B5EF4-FFF2-40B4-BE49-F238E27FC236}">
                <a16:creationId xmlns:a16="http://schemas.microsoft.com/office/drawing/2014/main" xmlns="" id="{912F862E-1FDF-4A4F-82A0-EA78DE1EC35F}"/>
              </a:ext>
            </a:extLst>
          </p:cNvPr>
          <p:cNvCxnSpPr>
            <a:cxnSpLocks/>
          </p:cNvCxnSpPr>
          <p:nvPr/>
        </p:nvCxnSpPr>
        <p:spPr>
          <a:xfrm>
            <a:off x="1876303" y="3381500"/>
            <a:ext cx="0" cy="7036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xmlns="" id="{5CFA4DB2-A0E6-4B93-A04C-9631FB31A544}"/>
              </a:ext>
            </a:extLst>
          </p:cNvPr>
          <p:cNvSpPr/>
          <p:nvPr/>
        </p:nvSpPr>
        <p:spPr>
          <a:xfrm>
            <a:off x="1329518" y="4097128"/>
            <a:ext cx="1093569"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Insertion</a:t>
            </a:r>
            <a:endParaRPr lang="zh-TW" altLang="en-US" sz="2000" dirty="0"/>
          </a:p>
        </p:txBody>
      </p:sp>
      <p:cxnSp>
        <p:nvCxnSpPr>
          <p:cNvPr id="24" name="直線單箭頭接點 23">
            <a:extLst>
              <a:ext uri="{FF2B5EF4-FFF2-40B4-BE49-F238E27FC236}">
                <a16:creationId xmlns:a16="http://schemas.microsoft.com/office/drawing/2014/main" xmlns="" id="{57477ADF-A7BF-45ED-B223-265F757314EB}"/>
              </a:ext>
            </a:extLst>
          </p:cNvPr>
          <p:cNvCxnSpPr>
            <a:cxnSpLocks/>
          </p:cNvCxnSpPr>
          <p:nvPr/>
        </p:nvCxnSpPr>
        <p:spPr>
          <a:xfrm>
            <a:off x="2814453" y="3381500"/>
            <a:ext cx="0" cy="13567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xmlns="" id="{196801FB-5552-4D35-8B56-E1A02C56D7E8}"/>
              </a:ext>
            </a:extLst>
          </p:cNvPr>
          <p:cNvSpPr/>
          <p:nvPr/>
        </p:nvSpPr>
        <p:spPr>
          <a:xfrm>
            <a:off x="2281294" y="4750271"/>
            <a:ext cx="1066318"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Deletion</a:t>
            </a:r>
            <a:endParaRPr lang="zh-TW" altLang="en-US" sz="2000" dirty="0"/>
          </a:p>
        </p:txBody>
      </p:sp>
      <p:cxnSp>
        <p:nvCxnSpPr>
          <p:cNvPr id="27" name="直線單箭頭接點 26">
            <a:extLst>
              <a:ext uri="{FF2B5EF4-FFF2-40B4-BE49-F238E27FC236}">
                <a16:creationId xmlns:a16="http://schemas.microsoft.com/office/drawing/2014/main" xmlns="" id="{65D1F5A1-BE7D-496D-95C5-6AF62BE4865E}"/>
              </a:ext>
            </a:extLst>
          </p:cNvPr>
          <p:cNvCxnSpPr>
            <a:cxnSpLocks/>
          </p:cNvCxnSpPr>
          <p:nvPr/>
        </p:nvCxnSpPr>
        <p:spPr>
          <a:xfrm>
            <a:off x="4191991" y="3381500"/>
            <a:ext cx="0" cy="7036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xmlns="" id="{4AC8B6C9-7D2D-4359-9F90-846C9C436E1A}"/>
              </a:ext>
            </a:extLst>
          </p:cNvPr>
          <p:cNvSpPr/>
          <p:nvPr/>
        </p:nvSpPr>
        <p:spPr>
          <a:xfrm>
            <a:off x="3481700" y="4097128"/>
            <a:ext cx="1420582"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Substitution</a:t>
            </a:r>
            <a:endParaRPr lang="zh-TW" altLang="en-US" sz="2000" dirty="0"/>
          </a:p>
        </p:txBody>
      </p:sp>
      <p:grpSp>
        <p:nvGrpSpPr>
          <p:cNvPr id="29" name="群組 28">
            <a:extLst>
              <a:ext uri="{FF2B5EF4-FFF2-40B4-BE49-F238E27FC236}">
                <a16:creationId xmlns:a16="http://schemas.microsoft.com/office/drawing/2014/main" xmlns="" id="{EE06A54B-2D39-4110-B1A3-1B9BCEC234FD}"/>
              </a:ext>
            </a:extLst>
          </p:cNvPr>
          <p:cNvGrpSpPr/>
          <p:nvPr/>
        </p:nvGrpSpPr>
        <p:grpSpPr>
          <a:xfrm>
            <a:off x="5774143" y="2148707"/>
            <a:ext cx="3049223" cy="1166734"/>
            <a:chOff x="1816868" y="1312053"/>
            <a:chExt cx="3049223" cy="1166734"/>
          </a:xfrm>
        </p:grpSpPr>
        <p:sp>
          <p:nvSpPr>
            <p:cNvPr id="30" name="標題 1">
              <a:extLst>
                <a:ext uri="{FF2B5EF4-FFF2-40B4-BE49-F238E27FC236}">
                  <a16:creationId xmlns:a16="http://schemas.microsoft.com/office/drawing/2014/main" xmlns="" id="{71DEA40E-0F25-406C-9759-87947C35D228}"/>
                </a:ext>
              </a:extLst>
            </p:cNvPr>
            <p:cNvSpPr txBox="1">
              <a:spLocks/>
            </p:cNvSpPr>
            <p:nvPr/>
          </p:nvSpPr>
          <p:spPr>
            <a:xfrm>
              <a:off x="2278640" y="1312053"/>
              <a:ext cx="249244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B</a:t>
              </a:r>
              <a:r>
                <a:rPr lang="zh-TW" altLang="en-US"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C</a:t>
              </a:r>
            </a:p>
          </p:txBody>
        </p:sp>
        <p:sp>
          <p:nvSpPr>
            <p:cNvPr id="31" name="標題 1">
              <a:extLst>
                <a:ext uri="{FF2B5EF4-FFF2-40B4-BE49-F238E27FC236}">
                  <a16:creationId xmlns:a16="http://schemas.microsoft.com/office/drawing/2014/main" xmlns="" id="{4530B323-89B4-4F1F-BA5C-3FD3B26AA223}"/>
                </a:ext>
              </a:extLst>
            </p:cNvPr>
            <p:cNvSpPr txBox="1">
              <a:spLocks/>
            </p:cNvSpPr>
            <p:nvPr/>
          </p:nvSpPr>
          <p:spPr>
            <a:xfrm>
              <a:off x="2278639" y="1895420"/>
              <a:ext cx="2587452"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B</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C</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A</a:t>
              </a:r>
              <a:r>
                <a:rPr lang="zh-TW" altLang="en-US"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　　</a:t>
              </a:r>
              <a:endPar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32" name="標題 1">
              <a:extLst>
                <a:ext uri="{FF2B5EF4-FFF2-40B4-BE49-F238E27FC236}">
                  <a16:creationId xmlns:a16="http://schemas.microsoft.com/office/drawing/2014/main" xmlns="" id="{A7A925DB-7962-43B0-9C6E-A91C5B47852F}"/>
                </a:ext>
              </a:extLst>
            </p:cNvPr>
            <p:cNvSpPr txBox="1">
              <a:spLocks/>
            </p:cNvSpPr>
            <p:nvPr/>
          </p:nvSpPr>
          <p:spPr>
            <a:xfrm>
              <a:off x="18168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33" name="標題 1">
              <a:extLst>
                <a:ext uri="{FF2B5EF4-FFF2-40B4-BE49-F238E27FC236}">
                  <a16:creationId xmlns:a16="http://schemas.microsoft.com/office/drawing/2014/main" xmlns="" id="{C7A2F62C-1327-42B1-84F9-AA47434B88B4}"/>
                </a:ext>
              </a:extLst>
            </p:cNvPr>
            <p:cNvSpPr txBox="1">
              <a:spLocks/>
            </p:cNvSpPr>
            <p:nvPr/>
          </p:nvSpPr>
          <p:spPr>
            <a:xfrm>
              <a:off x="18168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p:cxnSp>
        <p:nvCxnSpPr>
          <p:cNvPr id="34" name="直線單箭頭接點 33">
            <a:extLst>
              <a:ext uri="{FF2B5EF4-FFF2-40B4-BE49-F238E27FC236}">
                <a16:creationId xmlns:a16="http://schemas.microsoft.com/office/drawing/2014/main" xmlns="" id="{45E795A8-CFCE-45DC-BAB4-935BA9B0C849}"/>
              </a:ext>
            </a:extLst>
          </p:cNvPr>
          <p:cNvCxnSpPr>
            <a:cxnSpLocks/>
          </p:cNvCxnSpPr>
          <p:nvPr/>
        </p:nvCxnSpPr>
        <p:spPr>
          <a:xfrm>
            <a:off x="6837958" y="2732073"/>
            <a:ext cx="619744"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xmlns="" id="{DD2702C2-BFFE-4B85-91A8-D3E4CCDC27C7}"/>
              </a:ext>
            </a:extLst>
          </p:cNvPr>
          <p:cNvCxnSpPr>
            <a:cxnSpLocks/>
          </p:cNvCxnSpPr>
          <p:nvPr/>
        </p:nvCxnSpPr>
        <p:spPr>
          <a:xfrm>
            <a:off x="7704856" y="3315440"/>
            <a:ext cx="619744"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xmlns="" id="{1CABF651-B0EA-4EE4-AE3B-331D4EB10FA7}"/>
              </a:ext>
            </a:extLst>
          </p:cNvPr>
          <p:cNvCxnSpPr>
            <a:cxnSpLocks/>
          </p:cNvCxnSpPr>
          <p:nvPr/>
        </p:nvCxnSpPr>
        <p:spPr>
          <a:xfrm>
            <a:off x="6837958" y="3315440"/>
            <a:ext cx="619744"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xmlns="" id="{9DD717C6-D096-44B3-BFC4-8B7B962E5EAF}"/>
              </a:ext>
            </a:extLst>
          </p:cNvPr>
          <p:cNvCxnSpPr>
            <a:cxnSpLocks/>
          </p:cNvCxnSpPr>
          <p:nvPr/>
        </p:nvCxnSpPr>
        <p:spPr>
          <a:xfrm>
            <a:off x="7704856" y="2732073"/>
            <a:ext cx="619744"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xmlns="" id="{7AB99D69-897C-4445-A63B-E672837CE4F8}"/>
              </a:ext>
            </a:extLst>
          </p:cNvPr>
          <p:cNvSpPr/>
          <p:nvPr/>
        </p:nvSpPr>
        <p:spPr>
          <a:xfrm>
            <a:off x="6645423" y="4120878"/>
            <a:ext cx="1583062"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Transposition</a:t>
            </a:r>
            <a:endParaRPr lang="zh-TW" altLang="en-US" sz="2000" dirty="0"/>
          </a:p>
        </p:txBody>
      </p:sp>
    </p:spTree>
    <p:extLst>
      <p:ext uri="{BB962C8B-B14F-4D97-AF65-F5344CB8AC3E}">
        <p14:creationId xmlns:p14="http://schemas.microsoft.com/office/powerpoint/2010/main" val="1898463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Edit distance (2/3)</a:t>
            </a:r>
            <a:endParaRPr lang="zh-TW" altLang="en-US" sz="3600"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xmlns="" id="{DDDE2AB7-4465-4766-912C-0A5A739946F3}"/>
              </a:ext>
            </a:extLst>
          </p:cNvPr>
          <p:cNvGrpSpPr/>
          <p:nvPr/>
        </p:nvGrpSpPr>
        <p:grpSpPr>
          <a:xfrm>
            <a:off x="762760" y="2262266"/>
            <a:ext cx="2184291" cy="1166734"/>
            <a:chOff x="1674368" y="1312053"/>
            <a:chExt cx="2184291" cy="1166734"/>
          </a:xfrm>
        </p:grpSpPr>
        <p:sp>
          <p:nvSpPr>
            <p:cNvPr id="6" name="標題 1">
              <a:extLst>
                <a:ext uri="{FF2B5EF4-FFF2-40B4-BE49-F238E27FC236}">
                  <a16:creationId xmlns:a16="http://schemas.microsoft.com/office/drawing/2014/main" xmlns="" id="{65A2D5AD-0FB7-4AE5-9D67-E1EF78F7D7CD}"/>
                </a:ext>
              </a:extLst>
            </p:cNvPr>
            <p:cNvSpPr txBox="1">
              <a:spLocks/>
            </p:cNvSpPr>
            <p:nvPr/>
          </p:nvSpPr>
          <p:spPr>
            <a:xfrm>
              <a:off x="2278640" y="1312053"/>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football</a:t>
              </a:r>
            </a:p>
          </p:txBody>
        </p:sp>
        <p:sp>
          <p:nvSpPr>
            <p:cNvPr id="7" name="標題 1">
              <a:extLst>
                <a:ext uri="{FF2B5EF4-FFF2-40B4-BE49-F238E27FC236}">
                  <a16:creationId xmlns:a16="http://schemas.microsoft.com/office/drawing/2014/main" xmlns="" id="{142B6C87-A3CE-4EE1-A57D-DE9CC6D3319F}"/>
                </a:ext>
              </a:extLst>
            </p:cNvPr>
            <p:cNvSpPr txBox="1">
              <a:spLocks/>
            </p:cNvSpPr>
            <p:nvPr/>
          </p:nvSpPr>
          <p:spPr>
            <a:xfrm>
              <a:off x="2278639" y="1895420"/>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Football</a:t>
              </a:r>
            </a:p>
          </p:txBody>
        </p:sp>
        <p:sp>
          <p:nvSpPr>
            <p:cNvPr id="8" name="標題 1">
              <a:extLst>
                <a:ext uri="{FF2B5EF4-FFF2-40B4-BE49-F238E27FC236}">
                  <a16:creationId xmlns:a16="http://schemas.microsoft.com/office/drawing/2014/main" xmlns="" id="{0FD3F08F-985D-43DC-9A2E-F1A4B7D311CB}"/>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9" name="標題 1">
              <a:extLst>
                <a:ext uri="{FF2B5EF4-FFF2-40B4-BE49-F238E27FC236}">
                  <a16:creationId xmlns:a16="http://schemas.microsoft.com/office/drawing/2014/main" xmlns="" id="{83F9426F-3A60-42CB-89C3-B30AFE045081}"/>
                </a:ext>
              </a:extLst>
            </p:cNvPr>
            <p:cNvSpPr txBox="1">
              <a:spLocks/>
            </p:cNvSpPr>
            <p:nvPr/>
          </p:nvSpPr>
          <p:spPr>
            <a:xfrm>
              <a:off x="16743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mc:AlternateContent xmlns:mc="http://schemas.openxmlformats.org/markup-compatibility/2006" xmlns:a14="http://schemas.microsoft.com/office/drawing/2010/main">
        <mc:Choice Requires="a14">
          <p:sp>
            <p:nvSpPr>
              <p:cNvPr id="15" name="標題 1">
                <a:extLst>
                  <a:ext uri="{FF2B5EF4-FFF2-40B4-BE49-F238E27FC236}">
                    <a16:creationId xmlns:a16="http://schemas.microsoft.com/office/drawing/2014/main" xmlns="" id="{0FEE498B-8F06-4588-B289-5FE9218F950B}"/>
                  </a:ext>
                </a:extLst>
              </p:cNvPr>
              <p:cNvSpPr txBox="1">
                <a:spLocks/>
              </p:cNvSpPr>
              <p:nvPr/>
            </p:nvSpPr>
            <p:spPr>
              <a:xfrm>
                <a:off x="3698399" y="2553949"/>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TW" sz="2400" i="1"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𝐸𝐷</m:t>
                      </m:r>
                      <m:r>
                        <a:rPr lang="en-US" altLang="zh-TW" sz="2400" i="1"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0"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0</m:t>
                      </m:r>
                    </m:oMath>
                  </m:oMathPara>
                </a14:m>
                <a:endParaRPr lang="en-US" altLang="zh-TW" sz="2400" dirty="0">
                  <a:solidFill>
                    <a:schemeClr val="tx1"/>
                  </a:solidFill>
                  <a:latin typeface="BatangChe" panose="02030609000101010101" pitchFamily="49" charset="-127"/>
                  <a:ea typeface="BatangChe" panose="02030609000101010101" pitchFamily="49" charset="-127"/>
                  <a:cs typeface="Times New Roman" panose="02020603050405020304" pitchFamily="18" charset="0"/>
                </a:endParaRPr>
              </a:p>
            </p:txBody>
          </p:sp>
        </mc:Choice>
        <mc:Fallback xmlns="">
          <p:sp>
            <p:nvSpPr>
              <p:cNvPr id="15" name="標題 1">
                <a:extLst>
                  <a:ext uri="{FF2B5EF4-FFF2-40B4-BE49-F238E27FC236}">
                    <a16:creationId xmlns:a16="http://schemas.microsoft.com/office/drawing/2014/main" id="{0FEE498B-8F06-4588-B289-5FE9218F950B}"/>
                  </a:ext>
                </a:extLst>
              </p:cNvPr>
              <p:cNvSpPr txBox="1">
                <a:spLocks noRot="1" noChangeAspect="1" noMove="1" noResize="1" noEditPoints="1" noAdjustHandles="1" noChangeArrowheads="1" noChangeShapeType="1" noTextEdit="1"/>
              </p:cNvSpPr>
              <p:nvPr/>
            </p:nvSpPr>
            <p:spPr>
              <a:xfrm>
                <a:off x="3698399" y="2553949"/>
                <a:ext cx="1580019" cy="583367"/>
              </a:xfrm>
              <a:prstGeom prst="rect">
                <a:avLst/>
              </a:prstGeom>
              <a:blipFill>
                <a:blip r:embed="rId3"/>
                <a:stretch>
                  <a:fillRect/>
                </a:stretch>
              </a:blipFill>
            </p:spPr>
            <p:txBody>
              <a:bodyPr/>
              <a:lstStyle/>
              <a:p>
                <a:r>
                  <a:rPr lang="zh-TW" altLang="en-US">
                    <a:noFill/>
                  </a:rPr>
                  <a:t> </a:t>
                </a:r>
              </a:p>
            </p:txBody>
          </p:sp>
        </mc:Fallback>
      </mc:AlternateContent>
      <p:grpSp>
        <p:nvGrpSpPr>
          <p:cNvPr id="17" name="群組 16">
            <a:extLst>
              <a:ext uri="{FF2B5EF4-FFF2-40B4-BE49-F238E27FC236}">
                <a16:creationId xmlns:a16="http://schemas.microsoft.com/office/drawing/2014/main" xmlns="" id="{3E780C62-D260-4730-AB9D-393054BE4885}"/>
              </a:ext>
            </a:extLst>
          </p:cNvPr>
          <p:cNvGrpSpPr/>
          <p:nvPr/>
        </p:nvGrpSpPr>
        <p:grpSpPr>
          <a:xfrm>
            <a:off x="762760" y="3872306"/>
            <a:ext cx="2184291" cy="1166734"/>
            <a:chOff x="1674368" y="1312053"/>
            <a:chExt cx="2184291" cy="1166734"/>
          </a:xfrm>
        </p:grpSpPr>
        <p:sp>
          <p:nvSpPr>
            <p:cNvPr id="18" name="標題 1">
              <a:extLst>
                <a:ext uri="{FF2B5EF4-FFF2-40B4-BE49-F238E27FC236}">
                  <a16:creationId xmlns:a16="http://schemas.microsoft.com/office/drawing/2014/main" xmlns="" id="{A1C4EBC0-0B14-42E9-99ED-420DE0736F02}"/>
                </a:ext>
              </a:extLst>
            </p:cNvPr>
            <p:cNvSpPr txBox="1">
              <a:spLocks/>
            </p:cNvSpPr>
            <p:nvPr/>
          </p:nvSpPr>
          <p:spPr>
            <a:xfrm>
              <a:off x="2278640" y="1312053"/>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err="1">
                  <a:solidFill>
                    <a:srgbClr val="0070C0"/>
                  </a:solidFill>
                  <a:latin typeface="BatangChe" panose="02030609000101010101" pitchFamily="49" charset="-127"/>
                  <a:ea typeface="BatangChe" panose="02030609000101010101" pitchFamily="49" charset="-127"/>
                  <a:cs typeface="Times New Roman" panose="02020603050405020304" pitchFamily="18" charset="0"/>
                </a:rPr>
                <a:t>foetball</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19" name="標題 1">
              <a:extLst>
                <a:ext uri="{FF2B5EF4-FFF2-40B4-BE49-F238E27FC236}">
                  <a16:creationId xmlns:a16="http://schemas.microsoft.com/office/drawing/2014/main" xmlns="" id="{2E64164E-561B-4773-BD31-5CB614CF86F9}"/>
                </a:ext>
              </a:extLst>
            </p:cNvPr>
            <p:cNvSpPr txBox="1">
              <a:spLocks/>
            </p:cNvSpPr>
            <p:nvPr/>
          </p:nvSpPr>
          <p:spPr>
            <a:xfrm>
              <a:off x="2278639" y="1895420"/>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Football</a:t>
              </a:r>
            </a:p>
          </p:txBody>
        </p:sp>
        <p:sp>
          <p:nvSpPr>
            <p:cNvPr id="20" name="標題 1">
              <a:extLst>
                <a:ext uri="{FF2B5EF4-FFF2-40B4-BE49-F238E27FC236}">
                  <a16:creationId xmlns:a16="http://schemas.microsoft.com/office/drawing/2014/main" xmlns="" id="{2BDBAF5C-B2FF-479E-818A-9062E0A9C06A}"/>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21" name="標題 1">
              <a:extLst>
                <a:ext uri="{FF2B5EF4-FFF2-40B4-BE49-F238E27FC236}">
                  <a16:creationId xmlns:a16="http://schemas.microsoft.com/office/drawing/2014/main" xmlns="" id="{5C3E72D0-2C2B-4751-AD42-E5C080083BE8}"/>
                </a:ext>
              </a:extLst>
            </p:cNvPr>
            <p:cNvSpPr txBox="1">
              <a:spLocks/>
            </p:cNvSpPr>
            <p:nvPr/>
          </p:nvSpPr>
          <p:spPr>
            <a:xfrm>
              <a:off x="1674368" y="1895420"/>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mc:AlternateContent xmlns:mc="http://schemas.openxmlformats.org/markup-compatibility/2006" xmlns:a14="http://schemas.microsoft.com/office/drawing/2010/main">
        <mc:Choice Requires="a14">
          <p:sp>
            <p:nvSpPr>
              <p:cNvPr id="22" name="標題 1">
                <a:extLst>
                  <a:ext uri="{FF2B5EF4-FFF2-40B4-BE49-F238E27FC236}">
                    <a16:creationId xmlns:a16="http://schemas.microsoft.com/office/drawing/2014/main" xmlns="" id="{7DFA280D-FF59-48C9-9C92-258E7E16B76C}"/>
                  </a:ext>
                </a:extLst>
              </p:cNvPr>
              <p:cNvSpPr txBox="1">
                <a:spLocks/>
              </p:cNvSpPr>
              <p:nvPr/>
            </p:nvSpPr>
            <p:spPr>
              <a:xfrm>
                <a:off x="3698399" y="4163989"/>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TW" sz="2400" i="1"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𝐸𝐷</m:t>
                      </m:r>
                      <m:r>
                        <a:rPr lang="en-US" altLang="zh-TW" sz="2400" i="1"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0" dirty="0"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1</m:t>
                      </m:r>
                    </m:oMath>
                  </m:oMathPara>
                </a14:m>
                <a:endParaRPr lang="en-US" altLang="zh-TW" sz="2400" dirty="0">
                  <a:solidFill>
                    <a:schemeClr val="tx1"/>
                  </a:solidFill>
                  <a:latin typeface="BatangChe" panose="02030609000101010101" pitchFamily="49" charset="-127"/>
                  <a:ea typeface="BatangChe" panose="02030609000101010101" pitchFamily="49" charset="-127"/>
                  <a:cs typeface="Times New Roman" panose="02020603050405020304" pitchFamily="18" charset="0"/>
                </a:endParaRPr>
              </a:p>
            </p:txBody>
          </p:sp>
        </mc:Choice>
        <mc:Fallback xmlns="">
          <p:sp>
            <p:nvSpPr>
              <p:cNvPr id="22" name="標題 1">
                <a:extLst>
                  <a:ext uri="{FF2B5EF4-FFF2-40B4-BE49-F238E27FC236}">
                    <a16:creationId xmlns:a16="http://schemas.microsoft.com/office/drawing/2014/main" id="{7DFA280D-FF59-48C9-9C92-258E7E16B76C}"/>
                  </a:ext>
                </a:extLst>
              </p:cNvPr>
              <p:cNvSpPr txBox="1">
                <a:spLocks noRot="1" noChangeAspect="1" noMove="1" noResize="1" noEditPoints="1" noAdjustHandles="1" noChangeArrowheads="1" noChangeShapeType="1" noTextEdit="1"/>
              </p:cNvSpPr>
              <p:nvPr/>
            </p:nvSpPr>
            <p:spPr>
              <a:xfrm>
                <a:off x="3698399" y="4163989"/>
                <a:ext cx="1580019" cy="583367"/>
              </a:xfrm>
              <a:prstGeom prst="rect">
                <a:avLst/>
              </a:prstGeom>
              <a:blipFill>
                <a:blip r:embed="rId4"/>
                <a:stretch>
                  <a:fillRect/>
                </a:stretch>
              </a:blipFill>
            </p:spPr>
            <p:txBody>
              <a:bodyPr/>
              <a:lstStyle/>
              <a:p>
                <a:r>
                  <a:rPr lang="zh-TW" altLang="en-US">
                    <a:noFill/>
                  </a:rPr>
                  <a:t> </a:t>
                </a:r>
              </a:p>
            </p:txBody>
          </p:sp>
        </mc:Fallback>
      </mc:AlternateContent>
      <p:sp>
        <p:nvSpPr>
          <p:cNvPr id="23" name="標題 1">
            <a:extLst>
              <a:ext uri="{FF2B5EF4-FFF2-40B4-BE49-F238E27FC236}">
                <a16:creationId xmlns:a16="http://schemas.microsoft.com/office/drawing/2014/main" xmlns="" id="{596D988A-1715-402B-991F-A1D383C849EE}"/>
              </a:ext>
            </a:extLst>
          </p:cNvPr>
          <p:cNvSpPr txBox="1">
            <a:spLocks/>
          </p:cNvSpPr>
          <p:nvPr/>
        </p:nvSpPr>
        <p:spPr>
          <a:xfrm>
            <a:off x="762760" y="1095532"/>
            <a:ext cx="7466840"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Operations: insertion, deletion, substitution, transposition… </a:t>
            </a:r>
          </a:p>
        </p:txBody>
      </p:sp>
    </p:spTree>
    <p:extLst>
      <p:ext uri="{BB962C8B-B14F-4D97-AF65-F5344CB8AC3E}">
        <p14:creationId xmlns:p14="http://schemas.microsoft.com/office/powerpoint/2010/main" val="5949787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Edit distance (3/3)</a:t>
            </a:r>
            <a:endParaRPr lang="zh-TW" altLang="en-US" sz="3600"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xmlns="" id="{DDDE2AB7-4465-4766-912C-0A5A739946F3}"/>
              </a:ext>
            </a:extLst>
          </p:cNvPr>
          <p:cNvGrpSpPr/>
          <p:nvPr/>
        </p:nvGrpSpPr>
        <p:grpSpPr>
          <a:xfrm>
            <a:off x="762760" y="1561618"/>
            <a:ext cx="2184291" cy="1166734"/>
            <a:chOff x="1674368" y="1312053"/>
            <a:chExt cx="2184291" cy="1166734"/>
          </a:xfrm>
        </p:grpSpPr>
        <p:sp>
          <p:nvSpPr>
            <p:cNvPr id="6" name="標題 1">
              <a:extLst>
                <a:ext uri="{FF2B5EF4-FFF2-40B4-BE49-F238E27FC236}">
                  <a16:creationId xmlns:a16="http://schemas.microsoft.com/office/drawing/2014/main" xmlns="" id="{65A2D5AD-0FB7-4AE5-9D67-E1EF78F7D7CD}"/>
                </a:ext>
              </a:extLst>
            </p:cNvPr>
            <p:cNvSpPr txBox="1">
              <a:spLocks/>
            </p:cNvSpPr>
            <p:nvPr/>
          </p:nvSpPr>
          <p:spPr>
            <a:xfrm>
              <a:off x="2278640" y="1312053"/>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err="1">
                  <a:solidFill>
                    <a:srgbClr val="0070C0"/>
                  </a:solidFill>
                  <a:latin typeface="BatangChe" panose="02030609000101010101" pitchFamily="49" charset="-127"/>
                  <a:ea typeface="BatangChe" panose="02030609000101010101" pitchFamily="49" charset="-127"/>
                  <a:cs typeface="Times New Roman" panose="02020603050405020304" pitchFamily="18" charset="0"/>
                </a:rPr>
                <a:t>Kernal</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7" name="標題 1">
              <a:extLst>
                <a:ext uri="{FF2B5EF4-FFF2-40B4-BE49-F238E27FC236}">
                  <a16:creationId xmlns:a16="http://schemas.microsoft.com/office/drawing/2014/main" xmlns="" id="{142B6C87-A3CE-4EE1-A57D-DE9CC6D3319F}"/>
                </a:ext>
              </a:extLst>
            </p:cNvPr>
            <p:cNvSpPr txBox="1">
              <a:spLocks/>
            </p:cNvSpPr>
            <p:nvPr/>
          </p:nvSpPr>
          <p:spPr>
            <a:xfrm>
              <a:off x="2278639" y="1895420"/>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Kernel</a:t>
              </a:r>
            </a:p>
          </p:txBody>
        </p:sp>
        <p:sp>
          <p:nvSpPr>
            <p:cNvPr id="8" name="標題 1">
              <a:extLst>
                <a:ext uri="{FF2B5EF4-FFF2-40B4-BE49-F238E27FC236}">
                  <a16:creationId xmlns:a16="http://schemas.microsoft.com/office/drawing/2014/main" xmlns="" id="{0FD3F08F-985D-43DC-9A2E-F1A4B7D311CB}"/>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9" name="標題 1">
              <a:extLst>
                <a:ext uri="{FF2B5EF4-FFF2-40B4-BE49-F238E27FC236}">
                  <a16:creationId xmlns:a16="http://schemas.microsoft.com/office/drawing/2014/main" xmlns="" id="{83F9426F-3A60-42CB-89C3-B30AFE045081}"/>
                </a:ext>
              </a:extLst>
            </p:cNvPr>
            <p:cNvSpPr txBox="1">
              <a:spLocks/>
            </p:cNvSpPr>
            <p:nvPr/>
          </p:nvSpPr>
          <p:spPr>
            <a:xfrm>
              <a:off x="16743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p:pic>
        <p:nvPicPr>
          <p:cNvPr id="3" name="圖片 2">
            <a:extLst>
              <a:ext uri="{FF2B5EF4-FFF2-40B4-BE49-F238E27FC236}">
                <a16:creationId xmlns:a16="http://schemas.microsoft.com/office/drawing/2014/main" xmlns="" id="{11564300-5B85-4D45-BC87-3F3E17CF9AC2}"/>
              </a:ext>
            </a:extLst>
          </p:cNvPr>
          <p:cNvPicPr>
            <a:picLocks noChangeAspect="1"/>
          </p:cNvPicPr>
          <p:nvPr/>
        </p:nvPicPr>
        <p:blipFill>
          <a:blip r:embed="rId3"/>
          <a:stretch>
            <a:fillRect/>
          </a:stretch>
        </p:blipFill>
        <p:spPr>
          <a:xfrm>
            <a:off x="762760" y="3262337"/>
            <a:ext cx="1800225" cy="1543050"/>
          </a:xfrm>
          <a:prstGeom prst="rect">
            <a:avLst/>
          </a:prstGeom>
        </p:spPr>
      </p:pic>
      <mc:AlternateContent xmlns:mc="http://schemas.openxmlformats.org/markup-compatibility/2006" xmlns:a14="http://schemas.microsoft.com/office/drawing/2010/main">
        <mc:Choice Requires="a14">
          <p:sp>
            <p:nvSpPr>
              <p:cNvPr id="24" name="標題 1">
                <a:extLst>
                  <a:ext uri="{FF2B5EF4-FFF2-40B4-BE49-F238E27FC236}">
                    <a16:creationId xmlns:a16="http://schemas.microsoft.com/office/drawing/2014/main" xmlns="" id="{CDAEB4A7-4A35-40DF-94A5-7E4C88063AB3}"/>
                  </a:ext>
                </a:extLst>
              </p:cNvPr>
              <p:cNvSpPr txBox="1">
                <a:spLocks/>
              </p:cNvSpPr>
              <p:nvPr/>
            </p:nvSpPr>
            <p:spPr>
              <a:xfrm>
                <a:off x="3167256" y="1482216"/>
                <a:ext cx="4907965" cy="36695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cs typeface="Times New Roman" panose="02020603050405020304" pitchFamily="18" charset="0"/>
                  </a:rPr>
                  <a:t>Insertion	= 1</a:t>
                </a:r>
              </a:p>
              <a:p>
                <a:pPr>
                  <a:lnSpc>
                    <a:spcPct val="150000"/>
                  </a:lnSpc>
                </a:pPr>
                <a:r>
                  <a:rPr lang="en-US" altLang="zh-TW" sz="2400" dirty="0">
                    <a:latin typeface="Times New Roman" panose="02020603050405020304" pitchFamily="18" charset="0"/>
                    <a:cs typeface="Times New Roman" panose="02020603050405020304" pitchFamily="18" charset="0"/>
                  </a:rPr>
                  <a:t>Deletion	= 1</a:t>
                </a:r>
              </a:p>
              <a:p>
                <a:pPr>
                  <a:lnSpc>
                    <a:spcPct val="150000"/>
                  </a:lnSpc>
                </a:pPr>
                <a:r>
                  <a:rPr lang="en-US" altLang="zh-TW" sz="2400" dirty="0">
                    <a:latin typeface="Times New Roman" panose="02020603050405020304" pitchFamily="18" charset="0"/>
                    <a:cs typeface="Times New Roman" panose="02020603050405020304" pitchFamily="18" charset="0"/>
                  </a:rPr>
                  <a:t>Substitution	= Deletion + Insertion</a:t>
                </a:r>
              </a:p>
              <a:p>
                <a:pPr>
                  <a:lnSpc>
                    <a:spcPct val="150000"/>
                  </a:lnSpc>
                </a:pPr>
                <a:r>
                  <a:rPr lang="en-US" altLang="zh-TW" sz="2400" dirty="0">
                    <a:latin typeface="Times New Roman" panose="02020603050405020304" pitchFamily="18" charset="0"/>
                    <a:cs typeface="Times New Roman" panose="02020603050405020304" pitchFamily="18" charset="0"/>
                  </a:rPr>
                  <a:t>		= 1 + 1 = 2</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a:lnSpc>
                    <a:spcPct val="150000"/>
                  </a:lnSpc>
                </a:pPr>
                <a:r>
                  <a:rPr lang="en-US" altLang="zh-TW" sz="2400" dirty="0">
                    <a:latin typeface="Times New Roman" panose="02020603050405020304" pitchFamily="18" charset="0"/>
                    <a:cs typeface="Times New Roman" panose="02020603050405020304" pitchFamily="18" charset="0"/>
                  </a:rPr>
                  <a:t>Similarity coefficient = </a:t>
                </a:r>
                <a14:m>
                  <m:oMath xmlns:m="http://schemas.openxmlformats.org/officeDocument/2006/math">
                    <m:f>
                      <m:fPr>
                        <m:ctrlPr>
                          <a:rPr lang="en-US" altLang="zh-TW" sz="2400" b="0" i="1" smtClean="0">
                            <a:latin typeface="Cambria Math" panose="02040503050406030204" pitchFamily="18" charset="0"/>
                            <a:cs typeface="Times New Roman" panose="02020603050405020304" pitchFamily="18" charset="0"/>
                          </a:rPr>
                        </m:ctrlPr>
                      </m:fPr>
                      <m:num>
                        <m:r>
                          <a:rPr lang="en-US" altLang="zh-TW" sz="2400" b="0" i="1" smtClean="0">
                            <a:latin typeface="Cambria Math" panose="02040503050406030204" pitchFamily="18" charset="0"/>
                            <a:cs typeface="Times New Roman" panose="02020603050405020304" pitchFamily="18" charset="0"/>
                          </a:rPr>
                          <m:t>2</m:t>
                        </m:r>
                      </m:num>
                      <m:den>
                        <m:r>
                          <a:rPr lang="en-US" altLang="zh-TW" sz="2400" b="0" i="1" smtClean="0">
                            <a:latin typeface="Cambria Math" panose="02040503050406030204" pitchFamily="18" charset="0"/>
                            <a:cs typeface="Times New Roman" panose="02020603050405020304" pitchFamily="18" charset="0"/>
                          </a:rPr>
                          <m:t>6</m:t>
                        </m:r>
                      </m:den>
                    </m:f>
                  </m:oMath>
                </a14:m>
                <a:r>
                  <a:rPr lang="en-US" altLang="zh-TW" sz="2400" dirty="0">
                    <a:latin typeface="Times New Roman" panose="02020603050405020304" pitchFamily="18" charset="0"/>
                    <a:cs typeface="Times New Roman" panose="02020603050405020304" pitchFamily="18" charset="0"/>
                  </a:rPr>
                  <a:t>	</a:t>
                </a:r>
              </a:p>
            </p:txBody>
          </p:sp>
        </mc:Choice>
        <mc:Fallback xmlns="">
          <p:sp>
            <p:nvSpPr>
              <p:cNvPr id="24" name="標題 1">
                <a:extLst>
                  <a:ext uri="{FF2B5EF4-FFF2-40B4-BE49-F238E27FC236}">
                    <a16:creationId xmlns:a16="http://schemas.microsoft.com/office/drawing/2014/main" id="{CDAEB4A7-4A35-40DF-94A5-7E4C88063AB3}"/>
                  </a:ext>
                </a:extLst>
              </p:cNvPr>
              <p:cNvSpPr txBox="1">
                <a:spLocks noRot="1" noChangeAspect="1" noMove="1" noResize="1" noEditPoints="1" noAdjustHandles="1" noChangeArrowheads="1" noChangeShapeType="1" noTextEdit="1"/>
              </p:cNvSpPr>
              <p:nvPr/>
            </p:nvSpPr>
            <p:spPr>
              <a:xfrm>
                <a:off x="3167256" y="1482216"/>
                <a:ext cx="4907965" cy="3669521"/>
              </a:xfrm>
              <a:prstGeom prst="rect">
                <a:avLst/>
              </a:prstGeom>
              <a:blipFill>
                <a:blip r:embed="rId4"/>
                <a:stretch>
                  <a:fillRect l="-1988"/>
                </a:stretch>
              </a:blipFill>
            </p:spPr>
            <p:txBody>
              <a:bodyPr/>
              <a:lstStyle/>
              <a:p>
                <a:r>
                  <a:rPr lang="zh-TW" altLang="en-US">
                    <a:noFill/>
                  </a:rPr>
                  <a:t> </a:t>
                </a:r>
              </a:p>
            </p:txBody>
          </p:sp>
        </mc:Fallback>
      </mc:AlternateContent>
      <p:sp>
        <p:nvSpPr>
          <p:cNvPr id="12" name="標題 1">
            <a:extLst>
              <a:ext uri="{FF2B5EF4-FFF2-40B4-BE49-F238E27FC236}">
                <a16:creationId xmlns:a16="http://schemas.microsoft.com/office/drawing/2014/main" xmlns="" id="{1670B86C-7007-4116-8F7A-741390263422}"/>
              </a:ext>
            </a:extLst>
          </p:cNvPr>
          <p:cNvSpPr txBox="1">
            <a:spLocks/>
          </p:cNvSpPr>
          <p:nvPr/>
        </p:nvSpPr>
        <p:spPr>
          <a:xfrm>
            <a:off x="713273" y="5353129"/>
            <a:ext cx="7802077" cy="730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solidFill>
                  <a:srgbClr val="0070C0"/>
                </a:solidFill>
                <a:latin typeface="Times New Roman" panose="02020603050405020304" pitchFamily="18" charset="0"/>
                <a:cs typeface="Times New Roman" panose="02020603050405020304" pitchFamily="18" charset="0"/>
              </a:rPr>
              <a:t>different length of S &amp; T: sequence or latent alignment</a:t>
            </a:r>
          </a:p>
        </p:txBody>
      </p:sp>
    </p:spTree>
    <p:extLst>
      <p:ext uri="{BB962C8B-B14F-4D97-AF65-F5344CB8AC3E}">
        <p14:creationId xmlns:p14="http://schemas.microsoft.com/office/powerpoint/2010/main" val="31514018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N-Gram</a:t>
            </a:r>
            <a:endParaRPr lang="zh-TW" altLang="en-US" sz="3600" dirty="0">
              <a:latin typeface="Times New Roman" panose="02020603050405020304" pitchFamily="18" charset="0"/>
              <a:cs typeface="Times New Roman" panose="02020603050405020304" pitchFamily="18" charset="0"/>
            </a:endParaRPr>
          </a:p>
        </p:txBody>
      </p:sp>
      <p:pic>
        <p:nvPicPr>
          <p:cNvPr id="24" name="Picture 4" descr="ãæ¸å­¸å¤§æ¬èãçåçæå°çµæ">
            <a:extLst>
              <a:ext uri="{FF2B5EF4-FFF2-40B4-BE49-F238E27FC236}">
                <a16:creationId xmlns:a16="http://schemas.microsoft.com/office/drawing/2014/main" xmlns="" id="{6016C0A1-E4BD-4CC9-B78F-85D923DD0C57}"/>
              </a:ext>
            </a:extLst>
          </p:cNvPr>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10000" b="90000" l="3902" r="35114"/>
                    </a14:imgEffect>
                  </a14:imgLayer>
                </a14:imgProps>
              </a:ext>
              <a:ext uri="{28A0092B-C50C-407E-A947-70E740481C1C}">
                <a14:useLocalDpi xmlns:a14="http://schemas.microsoft.com/office/drawing/2010/main" val="0"/>
              </a:ext>
            </a:extLst>
          </a:blip>
          <a:srcRect l="11800" t="28656" r="76380" b="29100"/>
          <a:stretch/>
        </p:blipFill>
        <p:spPr bwMode="auto">
          <a:xfrm>
            <a:off x="782243" y="1168974"/>
            <a:ext cx="500293" cy="1788081"/>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群組 24">
            <a:extLst>
              <a:ext uri="{FF2B5EF4-FFF2-40B4-BE49-F238E27FC236}">
                <a16:creationId xmlns:a16="http://schemas.microsoft.com/office/drawing/2014/main" xmlns="" id="{97A4B031-4655-4806-86C9-1EF790AD24A8}"/>
              </a:ext>
            </a:extLst>
          </p:cNvPr>
          <p:cNvGrpSpPr/>
          <p:nvPr/>
        </p:nvGrpSpPr>
        <p:grpSpPr>
          <a:xfrm>
            <a:off x="1568913" y="997388"/>
            <a:ext cx="2801206" cy="2098941"/>
            <a:chOff x="2278640" y="1276428"/>
            <a:chExt cx="2801206" cy="2098941"/>
          </a:xfrm>
        </p:grpSpPr>
        <mc:AlternateContent xmlns:mc="http://schemas.openxmlformats.org/markup-compatibility/2006" xmlns:a14="http://schemas.microsoft.com/office/drawing/2010/main">
          <mc:Choice Requires="a14">
            <p:sp>
              <p:nvSpPr>
                <p:cNvPr id="26" name="標題 1">
                  <a:extLst>
                    <a:ext uri="{FF2B5EF4-FFF2-40B4-BE49-F238E27FC236}">
                      <a16:creationId xmlns:a16="http://schemas.microsoft.com/office/drawing/2014/main" xmlns="" id="{1F84B950-4D91-4311-920C-B8D4B3F4777B}"/>
                    </a:ext>
                  </a:extLst>
                </p:cNvPr>
                <p:cNvSpPr txBox="1">
                  <a:spLocks/>
                </p:cNvSpPr>
                <p:nvPr/>
              </p:nvSpPr>
              <p:spPr>
                <a:xfrm>
                  <a:off x="2278640" y="1276428"/>
                  <a:ext cx="269432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400" b="0" i="1" dirty="0" smtClean="0">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1 :  </m:t>
                      </m:r>
                    </m:oMath>
                  </a14:m>
                  <a:r>
                    <a:rPr lang="en-US" altLang="zh-TW" sz="2400" b="0" i="0" dirty="0">
                      <a:latin typeface="Times New Roman" panose="02020603050405020304" pitchFamily="18" charset="0"/>
                      <a:cs typeface="Times New Roman" panose="02020603050405020304" pitchFamily="18" charset="0"/>
                    </a:rPr>
                    <a:t>unigram</a:t>
                  </a: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6" name="標題 1">
                  <a:extLst>
                    <a:ext uri="{FF2B5EF4-FFF2-40B4-BE49-F238E27FC236}">
                      <a16:creationId xmlns:a16="http://schemas.microsoft.com/office/drawing/2014/main" id="{1F84B950-4D91-4311-920C-B8D4B3F4777B}"/>
                    </a:ext>
                  </a:extLst>
                </p:cNvPr>
                <p:cNvSpPr txBox="1">
                  <a:spLocks noRot="1" noChangeAspect="1" noMove="1" noResize="1" noEditPoints="1" noAdjustHandles="1" noChangeArrowheads="1" noChangeShapeType="1" noTextEdit="1"/>
                </p:cNvSpPr>
                <p:nvPr/>
              </p:nvSpPr>
              <p:spPr>
                <a:xfrm>
                  <a:off x="2278640" y="1276428"/>
                  <a:ext cx="2694329" cy="583367"/>
                </a:xfrm>
                <a:prstGeom prst="rect">
                  <a:avLst/>
                </a:prstGeom>
                <a:blipFill>
                  <a:blip r:embed="rId5"/>
                  <a:stretch>
                    <a:fillRect b="-104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標題 1">
                  <a:extLst>
                    <a:ext uri="{FF2B5EF4-FFF2-40B4-BE49-F238E27FC236}">
                      <a16:creationId xmlns:a16="http://schemas.microsoft.com/office/drawing/2014/main" xmlns="" id="{99E53B52-3CD9-4FC2-8282-36A9ACF6AEF3}"/>
                    </a:ext>
                  </a:extLst>
                </p:cNvPr>
                <p:cNvSpPr txBox="1">
                  <a:spLocks/>
                </p:cNvSpPr>
                <p:nvPr/>
              </p:nvSpPr>
              <p:spPr>
                <a:xfrm>
                  <a:off x="2278640" y="2034215"/>
                  <a:ext cx="280120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400" b="0" i="1" dirty="0" smtClean="0">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2 :</m:t>
                      </m:r>
                    </m:oMath>
                  </a14:m>
                  <a:r>
                    <a:rPr lang="en-US" altLang="zh-TW" sz="2400" dirty="0">
                      <a:latin typeface="Times New Roman" panose="02020603050405020304" pitchFamily="18" charset="0"/>
                      <a:cs typeface="Times New Roman" panose="02020603050405020304" pitchFamily="18" charset="0"/>
                    </a:rPr>
                    <a:t>  bigram  </a:t>
                  </a:r>
                </a:p>
              </p:txBody>
            </p:sp>
          </mc:Choice>
          <mc:Fallback xmlns="">
            <p:sp>
              <p:nvSpPr>
                <p:cNvPr id="29" name="標題 1">
                  <a:extLst>
                    <a:ext uri="{FF2B5EF4-FFF2-40B4-BE49-F238E27FC236}">
                      <a16:creationId xmlns:a16="http://schemas.microsoft.com/office/drawing/2014/main" id="{99E53B52-3CD9-4FC2-8282-36A9ACF6AEF3}"/>
                    </a:ext>
                  </a:extLst>
                </p:cNvPr>
                <p:cNvSpPr txBox="1">
                  <a:spLocks noRot="1" noChangeAspect="1" noMove="1" noResize="1" noEditPoints="1" noAdjustHandles="1" noChangeArrowheads="1" noChangeShapeType="1" noTextEdit="1"/>
                </p:cNvSpPr>
                <p:nvPr/>
              </p:nvSpPr>
              <p:spPr>
                <a:xfrm>
                  <a:off x="2278640" y="2034215"/>
                  <a:ext cx="2801206" cy="583367"/>
                </a:xfrm>
                <a:prstGeom prst="rect">
                  <a:avLst/>
                </a:prstGeom>
                <a:blipFill>
                  <a:blip r:embed="rId6"/>
                  <a:stretch>
                    <a:fillRect t="-1053"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標題 1">
                  <a:extLst>
                    <a:ext uri="{FF2B5EF4-FFF2-40B4-BE49-F238E27FC236}">
                      <a16:creationId xmlns:a16="http://schemas.microsoft.com/office/drawing/2014/main" xmlns="" id="{2E9E827A-16F6-4318-A699-92A6017E84C4}"/>
                    </a:ext>
                  </a:extLst>
                </p:cNvPr>
                <p:cNvSpPr txBox="1">
                  <a:spLocks/>
                </p:cNvSpPr>
                <p:nvPr/>
              </p:nvSpPr>
              <p:spPr>
                <a:xfrm>
                  <a:off x="2278640" y="2792002"/>
                  <a:ext cx="269432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400" b="0" i="1" dirty="0" smtClean="0">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3 :</m:t>
                      </m:r>
                    </m:oMath>
                  </a14:m>
                  <a:r>
                    <a:rPr lang="en-US" altLang="zh-TW" sz="2400" dirty="0">
                      <a:latin typeface="Times New Roman" panose="02020603050405020304" pitchFamily="18" charset="0"/>
                      <a:cs typeface="Times New Roman" panose="02020603050405020304" pitchFamily="18" charset="0"/>
                    </a:rPr>
                    <a:t>  trigram</a:t>
                  </a:r>
                </a:p>
              </p:txBody>
            </p:sp>
          </mc:Choice>
          <mc:Fallback xmlns="">
            <p:sp>
              <p:nvSpPr>
                <p:cNvPr id="30" name="標題 1">
                  <a:extLst>
                    <a:ext uri="{FF2B5EF4-FFF2-40B4-BE49-F238E27FC236}">
                      <a16:creationId xmlns:a16="http://schemas.microsoft.com/office/drawing/2014/main" id="{2E9E827A-16F6-4318-A699-92A6017E84C4}"/>
                    </a:ext>
                  </a:extLst>
                </p:cNvPr>
                <p:cNvSpPr txBox="1">
                  <a:spLocks noRot="1" noChangeAspect="1" noMove="1" noResize="1" noEditPoints="1" noAdjustHandles="1" noChangeArrowheads="1" noChangeShapeType="1" noTextEdit="1"/>
                </p:cNvSpPr>
                <p:nvPr/>
              </p:nvSpPr>
              <p:spPr>
                <a:xfrm>
                  <a:off x="2278640" y="2792002"/>
                  <a:ext cx="2694329" cy="583367"/>
                </a:xfrm>
                <a:prstGeom prst="rect">
                  <a:avLst/>
                </a:prstGeom>
                <a:blipFill>
                  <a:blip r:embed="rId7"/>
                  <a:stretch>
                    <a:fillRect t="-1042" b="-9375"/>
                  </a:stretch>
                </a:blipFill>
              </p:spPr>
              <p:txBody>
                <a:bodyPr/>
                <a:lstStyle/>
                <a:p>
                  <a:r>
                    <a:rPr lang="zh-TW" altLang="en-US">
                      <a:noFill/>
                    </a:rPr>
                    <a:t> </a:t>
                  </a:r>
                </a:p>
              </p:txBody>
            </p:sp>
          </mc:Fallback>
        </mc:AlternateContent>
      </p:grpSp>
      <p:pic>
        <p:nvPicPr>
          <p:cNvPr id="2" name="圖片 1">
            <a:extLst>
              <a:ext uri="{FF2B5EF4-FFF2-40B4-BE49-F238E27FC236}">
                <a16:creationId xmlns:a16="http://schemas.microsoft.com/office/drawing/2014/main" xmlns="" id="{74B3D737-5A6C-4F7B-B092-6D4C99FCACC3}"/>
              </a:ext>
            </a:extLst>
          </p:cNvPr>
          <p:cNvPicPr>
            <a:picLocks noChangeAspect="1"/>
          </p:cNvPicPr>
          <p:nvPr/>
        </p:nvPicPr>
        <p:blipFill>
          <a:blip r:embed="rId8"/>
          <a:stretch>
            <a:fillRect/>
          </a:stretch>
        </p:blipFill>
        <p:spPr>
          <a:xfrm>
            <a:off x="453449" y="4615846"/>
            <a:ext cx="3020660" cy="1450972"/>
          </a:xfrm>
          <a:prstGeom prst="rect">
            <a:avLst/>
          </a:prstGeom>
        </p:spPr>
      </p:pic>
      <p:grpSp>
        <p:nvGrpSpPr>
          <p:cNvPr id="32" name="群組 31">
            <a:extLst>
              <a:ext uri="{FF2B5EF4-FFF2-40B4-BE49-F238E27FC236}">
                <a16:creationId xmlns:a16="http://schemas.microsoft.com/office/drawing/2014/main" xmlns="" id="{7C30D279-2CF5-4968-B62A-72FF5DC34054}"/>
              </a:ext>
            </a:extLst>
          </p:cNvPr>
          <p:cNvGrpSpPr/>
          <p:nvPr/>
        </p:nvGrpSpPr>
        <p:grpSpPr>
          <a:xfrm>
            <a:off x="950464" y="3352725"/>
            <a:ext cx="1805814" cy="1166734"/>
            <a:chOff x="1674368" y="1312053"/>
            <a:chExt cx="2184291" cy="1166734"/>
          </a:xfrm>
        </p:grpSpPr>
        <p:sp>
          <p:nvSpPr>
            <p:cNvPr id="33" name="標題 1">
              <a:extLst>
                <a:ext uri="{FF2B5EF4-FFF2-40B4-BE49-F238E27FC236}">
                  <a16:creationId xmlns:a16="http://schemas.microsoft.com/office/drawing/2014/main" xmlns="" id="{A0EAD178-15AA-463A-9331-D8609AC921EC}"/>
                </a:ext>
              </a:extLst>
            </p:cNvPr>
            <p:cNvSpPr txBox="1">
              <a:spLocks/>
            </p:cNvSpPr>
            <p:nvPr/>
          </p:nvSpPr>
          <p:spPr>
            <a:xfrm>
              <a:off x="2278640" y="1312053"/>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err="1">
                  <a:solidFill>
                    <a:srgbClr val="0070C0"/>
                  </a:solidFill>
                  <a:latin typeface="BatangChe" panose="02030609000101010101" pitchFamily="49" charset="-127"/>
                  <a:ea typeface="BatangChe" panose="02030609000101010101" pitchFamily="49" charset="-127"/>
                  <a:cs typeface="Times New Roman" panose="02020603050405020304" pitchFamily="18" charset="0"/>
                </a:rPr>
                <a:t>Kernal</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34" name="標題 1">
              <a:extLst>
                <a:ext uri="{FF2B5EF4-FFF2-40B4-BE49-F238E27FC236}">
                  <a16:creationId xmlns:a16="http://schemas.microsoft.com/office/drawing/2014/main" xmlns="" id="{A2792D07-1701-48F5-ACF3-4265B53E54C2}"/>
                </a:ext>
              </a:extLst>
            </p:cNvPr>
            <p:cNvSpPr txBox="1">
              <a:spLocks/>
            </p:cNvSpPr>
            <p:nvPr/>
          </p:nvSpPr>
          <p:spPr>
            <a:xfrm>
              <a:off x="2278639" y="1895420"/>
              <a:ext cx="15800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Kernel</a:t>
              </a:r>
            </a:p>
          </p:txBody>
        </p:sp>
        <p:sp>
          <p:nvSpPr>
            <p:cNvPr id="35" name="標題 1">
              <a:extLst>
                <a:ext uri="{FF2B5EF4-FFF2-40B4-BE49-F238E27FC236}">
                  <a16:creationId xmlns:a16="http://schemas.microsoft.com/office/drawing/2014/main" xmlns="" id="{5C32195C-B6F0-43B0-AD89-B9AF54BF327D}"/>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36" name="標題 1">
              <a:extLst>
                <a:ext uri="{FF2B5EF4-FFF2-40B4-BE49-F238E27FC236}">
                  <a16:creationId xmlns:a16="http://schemas.microsoft.com/office/drawing/2014/main" xmlns="" id="{0D172ECB-5587-4EF3-8220-BB6CA52DBE3F}"/>
                </a:ext>
              </a:extLst>
            </p:cNvPr>
            <p:cNvSpPr txBox="1">
              <a:spLocks/>
            </p:cNvSpPr>
            <p:nvPr/>
          </p:nvSpPr>
          <p:spPr>
            <a:xfrm>
              <a:off x="16743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p:pic>
        <p:nvPicPr>
          <p:cNvPr id="3" name="圖片 2">
            <a:extLst>
              <a:ext uri="{FF2B5EF4-FFF2-40B4-BE49-F238E27FC236}">
                <a16:creationId xmlns:a16="http://schemas.microsoft.com/office/drawing/2014/main" xmlns="" id="{F439F59B-F47C-417F-AE5A-B9B4AE574CAC}"/>
              </a:ext>
            </a:extLst>
          </p:cNvPr>
          <p:cNvPicPr>
            <a:picLocks noChangeAspect="1"/>
          </p:cNvPicPr>
          <p:nvPr/>
        </p:nvPicPr>
        <p:blipFill>
          <a:blip r:embed="rId9"/>
          <a:stretch>
            <a:fillRect/>
          </a:stretch>
        </p:blipFill>
        <p:spPr>
          <a:xfrm>
            <a:off x="3694119" y="3017505"/>
            <a:ext cx="4672358" cy="2287254"/>
          </a:xfrm>
          <a:prstGeom prst="rect">
            <a:avLst/>
          </a:prstGeom>
        </p:spPr>
      </p:pic>
      <mc:AlternateContent xmlns:mc="http://schemas.openxmlformats.org/markup-compatibility/2006" xmlns:a14="http://schemas.microsoft.com/office/drawing/2010/main">
        <mc:Choice Requires="a14">
          <p:sp>
            <p:nvSpPr>
              <p:cNvPr id="37" name="標題 1">
                <a:extLst>
                  <a:ext uri="{FF2B5EF4-FFF2-40B4-BE49-F238E27FC236}">
                    <a16:creationId xmlns:a16="http://schemas.microsoft.com/office/drawing/2014/main" xmlns="" id="{B3C9D929-87EF-4E03-A0F7-012DFEF56822}"/>
                  </a:ext>
                </a:extLst>
              </p:cNvPr>
              <p:cNvSpPr txBox="1">
                <a:spLocks/>
              </p:cNvSpPr>
              <p:nvPr/>
            </p:nvSpPr>
            <p:spPr>
              <a:xfrm>
                <a:off x="3978234" y="5225935"/>
                <a:ext cx="5008276" cy="9865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cs typeface="Times New Roman" panose="02020603050405020304" pitchFamily="18" charset="0"/>
                  </a:rPr>
                  <a:t>Similarity coefficient = </a:t>
                </a:r>
                <a14:m>
                  <m:oMath xmlns:m="http://schemas.openxmlformats.org/officeDocument/2006/math">
                    <m:f>
                      <m:fPr>
                        <m:ctrlPr>
                          <a:rPr lang="en-US" altLang="zh-TW" sz="2400" b="0" i="1" smtClean="0">
                            <a:latin typeface="Cambria Math" panose="02040503050406030204" pitchFamily="18" charset="0"/>
                            <a:cs typeface="Times New Roman" panose="02020603050405020304" pitchFamily="18" charset="0"/>
                          </a:rPr>
                        </m:ctrlPr>
                      </m:fPr>
                      <m:num>
                        <m:r>
                          <a:rPr lang="en-US" altLang="zh-TW" sz="2400" b="0" i="1" smtClean="0">
                            <a:latin typeface="Cambria Math" panose="02040503050406030204" pitchFamily="18" charset="0"/>
                            <a:cs typeface="Times New Roman" panose="02020603050405020304" pitchFamily="18" charset="0"/>
                          </a:rPr>
                          <m:t>3</m:t>
                        </m:r>
                      </m:num>
                      <m:den>
                        <m:r>
                          <a:rPr lang="en-US" altLang="zh-TW" sz="2400" b="0" i="1" smtClean="0">
                            <a:latin typeface="Cambria Math" panose="02040503050406030204" pitchFamily="18" charset="0"/>
                            <a:cs typeface="Times New Roman" panose="02020603050405020304" pitchFamily="18" charset="0"/>
                          </a:rPr>
                          <m:t>7</m:t>
                        </m:r>
                      </m:den>
                    </m:f>
                  </m:oMath>
                </a14:m>
                <a:r>
                  <a:rPr lang="en-US" altLang="zh-TW" sz="2400" dirty="0">
                    <a:latin typeface="Times New Roman" panose="02020603050405020304" pitchFamily="18" charset="0"/>
                    <a:cs typeface="Times New Roman" panose="02020603050405020304" pitchFamily="18" charset="0"/>
                  </a:rPr>
                  <a:t>	</a:t>
                </a:r>
              </a:p>
            </p:txBody>
          </p:sp>
        </mc:Choice>
        <mc:Fallback xmlns="">
          <p:sp>
            <p:nvSpPr>
              <p:cNvPr id="37" name="標題 1">
                <a:extLst>
                  <a:ext uri="{FF2B5EF4-FFF2-40B4-BE49-F238E27FC236}">
                    <a16:creationId xmlns:a16="http://schemas.microsoft.com/office/drawing/2014/main" id="{B3C9D929-87EF-4E03-A0F7-012DFEF56822}"/>
                  </a:ext>
                </a:extLst>
              </p:cNvPr>
              <p:cNvSpPr txBox="1">
                <a:spLocks noRot="1" noChangeAspect="1" noMove="1" noResize="1" noEditPoints="1" noAdjustHandles="1" noChangeArrowheads="1" noChangeShapeType="1" noTextEdit="1"/>
              </p:cNvSpPr>
              <p:nvPr/>
            </p:nvSpPr>
            <p:spPr>
              <a:xfrm>
                <a:off x="3978234" y="5225935"/>
                <a:ext cx="5008276" cy="986519"/>
              </a:xfrm>
              <a:prstGeom prst="rect">
                <a:avLst/>
              </a:prstGeom>
              <a:blipFill>
                <a:blip r:embed="rId10"/>
                <a:stretch>
                  <a:fillRect l="-194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9283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xmlns="" id="{A0F54F33-054C-4F97-8D81-3D3EFD500716}"/>
              </a:ext>
            </a:extLst>
          </p:cNvPr>
          <p:cNvPicPr>
            <a:picLocks noChangeAspect="1"/>
          </p:cNvPicPr>
          <p:nvPr/>
        </p:nvPicPr>
        <p:blipFill>
          <a:blip r:embed="rId3"/>
          <a:stretch>
            <a:fillRect/>
          </a:stretch>
        </p:blipFill>
        <p:spPr>
          <a:xfrm>
            <a:off x="1375277" y="3321194"/>
            <a:ext cx="6393445" cy="2309089"/>
          </a:xfrm>
          <a:prstGeom prst="rect">
            <a:avLst/>
          </a:prstGeom>
        </p:spPr>
      </p:pic>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p:sp>
        <p:nvSpPr>
          <p:cNvPr id="16" name="標題 1">
            <a:extLst>
              <a:ext uri="{FF2B5EF4-FFF2-40B4-BE49-F238E27FC236}">
                <a16:creationId xmlns:a16="http://schemas.microsoft.com/office/drawing/2014/main" xmlns="" id="{44AAEA94-82BE-4FD8-9313-818F6FE7B07E}"/>
              </a:ext>
            </a:extLst>
          </p:cNvPr>
          <p:cNvSpPr txBox="1">
            <a:spLocks/>
          </p:cNvSpPr>
          <p:nvPr/>
        </p:nvSpPr>
        <p:spPr>
          <a:xfrm>
            <a:off x="402231" y="385081"/>
            <a:ext cx="8563639"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Hybrid algorithm (N-Gram + edit distance) (1/2)</a:t>
            </a:r>
            <a:endParaRPr lang="zh-TW" altLang="en-US" sz="36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xmlns="" id="{4F0ED933-CD73-4F06-A43E-05C0C30D0CDA}"/>
              </a:ext>
            </a:extLst>
          </p:cNvPr>
          <p:cNvSpPr/>
          <p:nvPr/>
        </p:nvSpPr>
        <p:spPr>
          <a:xfrm>
            <a:off x="400792" y="1448352"/>
            <a:ext cx="7911934" cy="1754326"/>
          </a:xfrm>
          <a:prstGeom prst="rect">
            <a:avLst/>
          </a:prstGeom>
        </p:spPr>
        <p:txBody>
          <a:bodyPr wrap="square">
            <a:spAutoFit/>
          </a:bodyPr>
          <a:lstStyle/>
          <a:p>
            <a:r>
              <a:rPr lang="en-US" altLang="zh-TW" dirty="0">
                <a:latin typeface="TimesNewRomanPSMT"/>
              </a:rPr>
              <a:t>Get the string pairs (</a:t>
            </a:r>
            <a:r>
              <a:rPr lang="en-US" altLang="zh-TW" dirty="0" err="1">
                <a:latin typeface="TimesNewRomanPSMT"/>
              </a:rPr>
              <a:t>s</a:t>
            </a:r>
            <a:r>
              <a:rPr lang="en-US" altLang="zh-TW" sz="800" dirty="0" err="1">
                <a:latin typeface="TimesNewRomanPSMT"/>
              </a:rPr>
              <a:t>i</a:t>
            </a:r>
            <a:r>
              <a:rPr lang="en-US" altLang="zh-TW" dirty="0">
                <a:latin typeface="TimesNewRomanPSMT"/>
              </a:rPr>
              <a:t>, </a:t>
            </a:r>
            <a:r>
              <a:rPr lang="en-US" altLang="zh-TW" dirty="0" err="1">
                <a:latin typeface="TimesNewRomanPSMT"/>
              </a:rPr>
              <a:t>t</a:t>
            </a:r>
            <a:r>
              <a:rPr lang="en-US" altLang="zh-TW" sz="800" dirty="0" err="1">
                <a:latin typeface="TimesNewRomanPSMT"/>
              </a:rPr>
              <a:t>i</a:t>
            </a:r>
            <a:r>
              <a:rPr lang="en-US" altLang="zh-TW" dirty="0">
                <a:latin typeface="TimesNewRomanPSMT"/>
              </a:rPr>
              <a:t>)</a:t>
            </a:r>
          </a:p>
          <a:p>
            <a:r>
              <a:rPr lang="en-US" altLang="zh-TW" dirty="0">
                <a:latin typeface="TimesNewRomanPSMT"/>
              </a:rPr>
              <a:t>	Apply Bigram for the pairs (</a:t>
            </a:r>
            <a:r>
              <a:rPr lang="en-US" altLang="zh-TW" dirty="0" err="1">
                <a:latin typeface="TimesNewRomanPSMT"/>
              </a:rPr>
              <a:t>s</a:t>
            </a:r>
            <a:r>
              <a:rPr lang="en-US" altLang="zh-TW" sz="800" dirty="0" err="1">
                <a:latin typeface="TimesNewRomanPSMT"/>
              </a:rPr>
              <a:t>i</a:t>
            </a:r>
            <a:r>
              <a:rPr lang="en-US" altLang="zh-TW" dirty="0">
                <a:latin typeface="TimesNewRomanPSMT"/>
              </a:rPr>
              <a:t>, </a:t>
            </a:r>
            <a:r>
              <a:rPr lang="en-US" altLang="zh-TW" dirty="0" err="1">
                <a:latin typeface="TimesNewRomanPSMT"/>
              </a:rPr>
              <a:t>t</a:t>
            </a:r>
            <a:r>
              <a:rPr lang="en-US" altLang="zh-TW" sz="800" dirty="0" err="1">
                <a:latin typeface="TimesNewRomanPSMT"/>
              </a:rPr>
              <a:t>i</a:t>
            </a:r>
            <a:r>
              <a:rPr lang="en-US" altLang="zh-TW" dirty="0">
                <a:latin typeface="TimesNewRomanPSMT"/>
              </a:rPr>
              <a:t>)</a:t>
            </a:r>
          </a:p>
          <a:p>
            <a:r>
              <a:rPr lang="en-US" altLang="zh-TW" dirty="0">
                <a:latin typeface="TimesNewRomanPSMT"/>
              </a:rPr>
              <a:t>		Common bigrams are predict from (</a:t>
            </a:r>
            <a:r>
              <a:rPr lang="en-US" altLang="zh-TW" dirty="0" err="1">
                <a:latin typeface="TimesNewRomanPSMT"/>
              </a:rPr>
              <a:t>s</a:t>
            </a:r>
            <a:r>
              <a:rPr lang="en-US" altLang="zh-TW" sz="800" dirty="0" err="1">
                <a:latin typeface="TimesNewRomanPSMT"/>
              </a:rPr>
              <a:t>i</a:t>
            </a:r>
            <a:r>
              <a:rPr lang="en-US" altLang="zh-TW" dirty="0">
                <a:latin typeface="TimesNewRomanPSMT"/>
              </a:rPr>
              <a:t>, </a:t>
            </a:r>
            <a:r>
              <a:rPr lang="en-US" altLang="zh-TW" dirty="0" err="1">
                <a:latin typeface="TimesNewRomanPSMT"/>
              </a:rPr>
              <a:t>t</a:t>
            </a:r>
            <a:r>
              <a:rPr lang="en-US" altLang="zh-TW" sz="800" dirty="0" err="1">
                <a:latin typeface="TimesNewRomanPSMT"/>
              </a:rPr>
              <a:t>i</a:t>
            </a:r>
            <a:r>
              <a:rPr lang="en-US" altLang="zh-TW" dirty="0">
                <a:latin typeface="TimesNewRomanPSMT"/>
              </a:rPr>
              <a:t>)</a:t>
            </a:r>
          </a:p>
          <a:p>
            <a:r>
              <a:rPr lang="en-US" altLang="zh-TW" dirty="0">
                <a:latin typeface="TimesNewRomanPSMT"/>
              </a:rPr>
              <a:t>			Find the union of bigram from (</a:t>
            </a:r>
            <a:r>
              <a:rPr lang="en-US" altLang="zh-TW" dirty="0" err="1">
                <a:latin typeface="TimesNewRomanPSMT"/>
              </a:rPr>
              <a:t>s</a:t>
            </a:r>
            <a:r>
              <a:rPr lang="en-US" altLang="zh-TW" sz="800" dirty="0" err="1">
                <a:latin typeface="TimesNewRomanPSMT"/>
              </a:rPr>
              <a:t>i</a:t>
            </a:r>
            <a:r>
              <a:rPr lang="en-US" altLang="zh-TW" dirty="0">
                <a:latin typeface="TimesNewRomanPSMT"/>
              </a:rPr>
              <a:t>, </a:t>
            </a:r>
            <a:r>
              <a:rPr lang="en-US" altLang="zh-TW" dirty="0" err="1">
                <a:latin typeface="TimesNewRomanPSMT"/>
              </a:rPr>
              <a:t>t</a:t>
            </a:r>
            <a:r>
              <a:rPr lang="en-US" altLang="zh-TW" sz="800" dirty="0" err="1">
                <a:latin typeface="TimesNewRomanPSMT"/>
              </a:rPr>
              <a:t>i</a:t>
            </a:r>
            <a:r>
              <a:rPr lang="en-US" altLang="zh-TW" dirty="0">
                <a:latin typeface="TimesNewRomanPSMT"/>
              </a:rPr>
              <a:t>)</a:t>
            </a:r>
          </a:p>
          <a:p>
            <a:r>
              <a:rPr lang="en-US" altLang="zh-TW" dirty="0">
                <a:latin typeface="TimesNewRomanPSMT"/>
              </a:rPr>
              <a:t>				Apply n-gram based edit distance and create </a:t>
            </a:r>
            <a:r>
              <a:rPr lang="en-US" altLang="zh-TW" dirty="0">
                <a:solidFill>
                  <a:srgbClr val="0070C0"/>
                </a:solidFill>
                <a:latin typeface="TimesNewRomanPSMT"/>
              </a:rPr>
              <a:t>transformation rule</a:t>
            </a:r>
          </a:p>
          <a:p>
            <a:r>
              <a:rPr lang="en-US" altLang="zh-TW" dirty="0">
                <a:latin typeface="TimesNewRomanPSMT"/>
              </a:rPr>
              <a:t>End</a:t>
            </a:r>
            <a:endParaRPr lang="zh-TW" altLang="en-US" dirty="0"/>
          </a:p>
        </p:txBody>
      </p:sp>
      <p:cxnSp>
        <p:nvCxnSpPr>
          <p:cNvPr id="6" name="直線接點 5">
            <a:extLst>
              <a:ext uri="{FF2B5EF4-FFF2-40B4-BE49-F238E27FC236}">
                <a16:creationId xmlns:a16="http://schemas.microsoft.com/office/drawing/2014/main" xmlns="" id="{605A6EFC-3846-429E-9145-FFCA8B5521DC}"/>
              </a:ext>
            </a:extLst>
          </p:cNvPr>
          <p:cNvCxnSpPr>
            <a:cxnSpLocks/>
          </p:cNvCxnSpPr>
          <p:nvPr/>
        </p:nvCxnSpPr>
        <p:spPr>
          <a:xfrm>
            <a:off x="400792" y="1448352"/>
            <a:ext cx="79119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xmlns="" id="{11F8C881-415C-49E6-8ABD-5918FC209945}"/>
              </a:ext>
            </a:extLst>
          </p:cNvPr>
          <p:cNvCxnSpPr>
            <a:cxnSpLocks/>
          </p:cNvCxnSpPr>
          <p:nvPr/>
        </p:nvCxnSpPr>
        <p:spPr>
          <a:xfrm>
            <a:off x="400792" y="3212310"/>
            <a:ext cx="79119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標題 1">
                <a:extLst>
                  <a:ext uri="{FF2B5EF4-FFF2-40B4-BE49-F238E27FC236}">
                    <a16:creationId xmlns:a16="http://schemas.microsoft.com/office/drawing/2014/main" xmlns="" id="{22AE6F1D-AC11-498A-A963-21BF3458A3B7}"/>
                  </a:ext>
                </a:extLst>
              </p:cNvPr>
              <p:cNvSpPr txBox="1">
                <a:spLocks/>
              </p:cNvSpPr>
              <p:nvPr/>
            </p:nvSpPr>
            <p:spPr>
              <a:xfrm>
                <a:off x="456419" y="5330497"/>
                <a:ext cx="3900340" cy="1066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cs typeface="Times New Roman" panose="02020603050405020304" pitchFamily="18" charset="0"/>
                  </a:rPr>
                  <a:t>Similarity coefficient = </a:t>
                </a:r>
                <a14:m>
                  <m:oMath xmlns:m="http://schemas.openxmlformats.org/officeDocument/2006/math">
                    <m:f>
                      <m:fPr>
                        <m:ctrlPr>
                          <a:rPr lang="en-US" altLang="zh-TW" sz="2400" b="0" i="1" smtClean="0">
                            <a:latin typeface="Cambria Math" panose="02040503050406030204" pitchFamily="18" charset="0"/>
                            <a:cs typeface="Times New Roman" panose="02020603050405020304" pitchFamily="18" charset="0"/>
                          </a:rPr>
                        </m:ctrlPr>
                      </m:fPr>
                      <m:num>
                        <m:r>
                          <a:rPr lang="en-US" altLang="zh-TW" sz="2400" b="0" i="1" smtClean="0">
                            <a:latin typeface="Cambria Math" panose="02040503050406030204" pitchFamily="18" charset="0"/>
                            <a:cs typeface="Times New Roman" panose="02020603050405020304" pitchFamily="18" charset="0"/>
                          </a:rPr>
                          <m:t>5</m:t>
                        </m:r>
                      </m:num>
                      <m:den>
                        <m:r>
                          <a:rPr lang="en-US" altLang="zh-TW" sz="2400" b="0" i="1" smtClean="0">
                            <a:latin typeface="Cambria Math" panose="02040503050406030204" pitchFamily="18" charset="0"/>
                            <a:cs typeface="Times New Roman" panose="02020603050405020304" pitchFamily="18" charset="0"/>
                          </a:rPr>
                          <m:t>7</m:t>
                        </m:r>
                      </m:den>
                    </m:f>
                  </m:oMath>
                </a14:m>
                <a:r>
                  <a:rPr lang="en-US" altLang="zh-TW" sz="2400" dirty="0">
                    <a:latin typeface="Times New Roman" panose="02020603050405020304" pitchFamily="18" charset="0"/>
                    <a:cs typeface="Times New Roman" panose="02020603050405020304" pitchFamily="18" charset="0"/>
                  </a:rPr>
                  <a:t>	</a:t>
                </a:r>
              </a:p>
            </p:txBody>
          </p:sp>
        </mc:Choice>
        <mc:Fallback xmlns="">
          <p:sp>
            <p:nvSpPr>
              <p:cNvPr id="17" name="標題 1">
                <a:extLst>
                  <a:ext uri="{FF2B5EF4-FFF2-40B4-BE49-F238E27FC236}">
                    <a16:creationId xmlns:a16="http://schemas.microsoft.com/office/drawing/2014/main" id="{22AE6F1D-AC11-498A-A963-21BF3458A3B7}"/>
                  </a:ext>
                </a:extLst>
              </p:cNvPr>
              <p:cNvSpPr txBox="1">
                <a:spLocks noRot="1" noChangeAspect="1" noMove="1" noResize="1" noEditPoints="1" noAdjustHandles="1" noChangeArrowheads="1" noChangeShapeType="1" noTextEdit="1"/>
              </p:cNvSpPr>
              <p:nvPr/>
            </p:nvSpPr>
            <p:spPr>
              <a:xfrm>
                <a:off x="456419" y="5330497"/>
                <a:ext cx="3900340" cy="1066266"/>
              </a:xfrm>
              <a:prstGeom prst="rect">
                <a:avLst/>
              </a:prstGeom>
              <a:blipFill>
                <a:blip r:embed="rId4"/>
                <a:stretch>
                  <a:fillRect l="-2500"/>
                </a:stretch>
              </a:blipFill>
            </p:spPr>
            <p:txBody>
              <a:bodyPr/>
              <a:lstStyle/>
              <a:p>
                <a:r>
                  <a:rPr lang="zh-TW" altLang="en-US">
                    <a:noFill/>
                  </a:rPr>
                  <a:t> </a:t>
                </a:r>
              </a:p>
            </p:txBody>
          </p:sp>
        </mc:Fallback>
      </mc:AlternateContent>
      <p:sp>
        <p:nvSpPr>
          <p:cNvPr id="9" name="矩形 8">
            <a:extLst>
              <a:ext uri="{FF2B5EF4-FFF2-40B4-BE49-F238E27FC236}">
                <a16:creationId xmlns:a16="http://schemas.microsoft.com/office/drawing/2014/main" xmlns="" id="{63EE5543-FB05-4FDF-AE45-35A39A72F6DF}"/>
              </a:ext>
            </a:extLst>
          </p:cNvPr>
          <p:cNvSpPr/>
          <p:nvPr/>
        </p:nvSpPr>
        <p:spPr>
          <a:xfrm>
            <a:off x="2857500" y="4232275"/>
            <a:ext cx="251626" cy="369332"/>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k</a:t>
            </a:r>
            <a:endParaRPr lang="zh-TW" altLang="en-US" dirty="0"/>
          </a:p>
        </p:txBody>
      </p:sp>
      <p:pic>
        <p:nvPicPr>
          <p:cNvPr id="18" name="圖片 17">
            <a:extLst>
              <a:ext uri="{FF2B5EF4-FFF2-40B4-BE49-F238E27FC236}">
                <a16:creationId xmlns:a16="http://schemas.microsoft.com/office/drawing/2014/main" xmlns="" id="{EE43352A-2CAD-45AC-884D-9170676FB7FA}"/>
              </a:ext>
            </a:extLst>
          </p:cNvPr>
          <p:cNvPicPr>
            <a:picLocks noChangeAspect="1"/>
          </p:cNvPicPr>
          <p:nvPr/>
        </p:nvPicPr>
        <p:blipFill rotWithShape="1">
          <a:blip r:embed="rId5"/>
          <a:srcRect l="25677" t="58938" r="68831" b="28755"/>
          <a:stretch/>
        </p:blipFill>
        <p:spPr>
          <a:xfrm>
            <a:off x="3073400" y="4292600"/>
            <a:ext cx="355600" cy="215900"/>
          </a:xfrm>
          <a:prstGeom prst="rect">
            <a:avLst/>
          </a:prstGeom>
        </p:spPr>
      </p:pic>
      <p:sp>
        <p:nvSpPr>
          <p:cNvPr id="11" name="標題 1">
            <a:extLst>
              <a:ext uri="{FF2B5EF4-FFF2-40B4-BE49-F238E27FC236}">
                <a16:creationId xmlns:a16="http://schemas.microsoft.com/office/drawing/2014/main" xmlns="" id="{8062A95A-8EC6-4B39-B1D4-342B6DE533D1}"/>
              </a:ext>
            </a:extLst>
          </p:cNvPr>
          <p:cNvSpPr txBox="1">
            <a:spLocks/>
          </p:cNvSpPr>
          <p:nvPr/>
        </p:nvSpPr>
        <p:spPr>
          <a:xfrm>
            <a:off x="2465615" y="878739"/>
            <a:ext cx="2106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Training data</a:t>
            </a:r>
          </a:p>
        </p:txBody>
      </p:sp>
      <p:sp>
        <p:nvSpPr>
          <p:cNvPr id="7" name="手繪多邊形: 圖案 6">
            <a:extLst>
              <a:ext uri="{FF2B5EF4-FFF2-40B4-BE49-F238E27FC236}">
                <a16:creationId xmlns:a16="http://schemas.microsoft.com/office/drawing/2014/main" xmlns="" id="{2BAEC112-D16F-4D94-8015-E8BE3E2EBD23}"/>
              </a:ext>
            </a:extLst>
          </p:cNvPr>
          <p:cNvSpPr/>
          <p:nvPr/>
        </p:nvSpPr>
        <p:spPr>
          <a:xfrm>
            <a:off x="2054431" y="1175654"/>
            <a:ext cx="368135" cy="368135"/>
          </a:xfrm>
          <a:custGeom>
            <a:avLst/>
            <a:gdLst>
              <a:gd name="connsiteX0" fmla="*/ 0 w 368135"/>
              <a:gd name="connsiteY0" fmla="*/ 368135 h 368135"/>
              <a:gd name="connsiteX1" fmla="*/ 130629 w 368135"/>
              <a:gd name="connsiteY1" fmla="*/ 106877 h 368135"/>
              <a:gd name="connsiteX2" fmla="*/ 368135 w 368135"/>
              <a:gd name="connsiteY2" fmla="*/ 0 h 368135"/>
            </a:gdLst>
            <a:ahLst/>
            <a:cxnLst>
              <a:cxn ang="0">
                <a:pos x="connsiteX0" y="connsiteY0"/>
              </a:cxn>
              <a:cxn ang="0">
                <a:pos x="connsiteX1" y="connsiteY1"/>
              </a:cxn>
              <a:cxn ang="0">
                <a:pos x="connsiteX2" y="connsiteY2"/>
              </a:cxn>
            </a:cxnLst>
            <a:rect l="l" t="t" r="r" b="b"/>
            <a:pathLst>
              <a:path w="368135" h="368135">
                <a:moveTo>
                  <a:pt x="0" y="368135"/>
                </a:moveTo>
                <a:cubicBezTo>
                  <a:pt x="34636" y="268184"/>
                  <a:pt x="69273" y="168233"/>
                  <a:pt x="130629" y="106877"/>
                </a:cubicBezTo>
                <a:cubicBezTo>
                  <a:pt x="191985" y="45521"/>
                  <a:pt x="280060" y="22760"/>
                  <a:pt x="368135" y="0"/>
                </a:cubicBezTo>
              </a:path>
            </a:pathLst>
          </a:custGeom>
          <a:noFill/>
          <a:ln w="28575">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矩形 9">
            <a:extLst>
              <a:ext uri="{FF2B5EF4-FFF2-40B4-BE49-F238E27FC236}">
                <a16:creationId xmlns:a16="http://schemas.microsoft.com/office/drawing/2014/main" xmlns="" id="{63623EC7-A374-4079-8409-4997B03273F2}"/>
              </a:ext>
            </a:extLst>
          </p:cNvPr>
          <p:cNvSpPr/>
          <p:nvPr/>
        </p:nvSpPr>
        <p:spPr>
          <a:xfrm>
            <a:off x="308758" y="1543789"/>
            <a:ext cx="5011387" cy="10484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 name="矩形 18">
            <a:extLst>
              <a:ext uri="{FF2B5EF4-FFF2-40B4-BE49-F238E27FC236}">
                <a16:creationId xmlns:a16="http://schemas.microsoft.com/office/drawing/2014/main" xmlns="" id="{ED146922-F542-4E19-B4D8-60189CCB9BE6}"/>
              </a:ext>
            </a:extLst>
          </p:cNvPr>
          <p:cNvSpPr/>
          <p:nvPr/>
        </p:nvSpPr>
        <p:spPr>
          <a:xfrm>
            <a:off x="308757" y="2597230"/>
            <a:ext cx="8003969" cy="276596"/>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標題 1">
            <a:extLst>
              <a:ext uri="{FF2B5EF4-FFF2-40B4-BE49-F238E27FC236}">
                <a16:creationId xmlns:a16="http://schemas.microsoft.com/office/drawing/2014/main" xmlns="" id="{27B1C7E1-A5C7-48FF-BA69-79E6DAC15C54}"/>
              </a:ext>
            </a:extLst>
          </p:cNvPr>
          <p:cNvSpPr txBox="1">
            <a:spLocks/>
          </p:cNvSpPr>
          <p:nvPr/>
        </p:nvSpPr>
        <p:spPr>
          <a:xfrm>
            <a:off x="5320145" y="1359721"/>
            <a:ext cx="2106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FF0000"/>
                </a:solidFill>
                <a:latin typeface="BatangChe" panose="02030609000101010101" pitchFamily="49" charset="-127"/>
                <a:ea typeface="BatangChe" panose="02030609000101010101" pitchFamily="49" charset="-127"/>
                <a:cs typeface="Times New Roman" panose="02020603050405020304" pitchFamily="18" charset="0"/>
              </a:rPr>
              <a:t>error detection</a:t>
            </a:r>
          </a:p>
        </p:txBody>
      </p:sp>
      <p:sp>
        <p:nvSpPr>
          <p:cNvPr id="21" name="標題 1">
            <a:extLst>
              <a:ext uri="{FF2B5EF4-FFF2-40B4-BE49-F238E27FC236}">
                <a16:creationId xmlns:a16="http://schemas.microsoft.com/office/drawing/2014/main" xmlns="" id="{CFDA3633-F65B-4398-AA8B-EC5F8738DE92}"/>
              </a:ext>
            </a:extLst>
          </p:cNvPr>
          <p:cNvSpPr txBox="1">
            <a:spLocks/>
          </p:cNvSpPr>
          <p:nvPr/>
        </p:nvSpPr>
        <p:spPr>
          <a:xfrm>
            <a:off x="6444588" y="2174421"/>
            <a:ext cx="2390654" cy="4233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chemeClr val="accent4">
                    <a:lumMod val="75000"/>
                  </a:schemeClr>
                </a:solidFill>
                <a:latin typeface="BatangChe" panose="02030609000101010101" pitchFamily="49" charset="-127"/>
                <a:ea typeface="BatangChe" panose="02030609000101010101" pitchFamily="49" charset="-127"/>
                <a:cs typeface="Times New Roman" panose="02020603050405020304" pitchFamily="18" charset="0"/>
              </a:rPr>
              <a:t>error correction</a:t>
            </a:r>
          </a:p>
        </p:txBody>
      </p:sp>
    </p:spTree>
    <p:extLst>
      <p:ext uri="{BB962C8B-B14F-4D97-AF65-F5344CB8AC3E}">
        <p14:creationId xmlns:p14="http://schemas.microsoft.com/office/powerpoint/2010/main" val="262217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9" grpId="0" animBg="1"/>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11" name="標題 1">
            <a:extLst>
              <a:ext uri="{FF2B5EF4-FFF2-40B4-BE49-F238E27FC236}">
                <a16:creationId xmlns:a16="http://schemas.microsoft.com/office/drawing/2014/main" xmlns="" id="{9B31BC81-ADBB-4834-B3EF-91774D28D38E}"/>
              </a:ext>
            </a:extLst>
          </p:cNvPr>
          <p:cNvSpPr txBox="1">
            <a:spLocks/>
          </p:cNvSpPr>
          <p:nvPr/>
        </p:nvSpPr>
        <p:spPr>
          <a:xfrm>
            <a:off x="402231" y="385081"/>
            <a:ext cx="8563639"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Hybrid algorithm (N-Gram + edit distance) (2/2)</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xmlns="" id="{8A2746A6-073D-4A95-BBEA-53FF18E08F4A}"/>
              </a:ext>
            </a:extLst>
          </p:cNvPr>
          <p:cNvPicPr>
            <a:picLocks noChangeAspect="1"/>
          </p:cNvPicPr>
          <p:nvPr/>
        </p:nvPicPr>
        <p:blipFill>
          <a:blip r:embed="rId3"/>
          <a:stretch>
            <a:fillRect/>
          </a:stretch>
        </p:blipFill>
        <p:spPr>
          <a:xfrm>
            <a:off x="1710237" y="1257706"/>
            <a:ext cx="5723526" cy="2628889"/>
          </a:xfrm>
          <a:prstGeom prst="rect">
            <a:avLst/>
          </a:prstGeom>
        </p:spPr>
      </p:pic>
      <p:sp>
        <p:nvSpPr>
          <p:cNvPr id="5" name="標題 1">
            <a:extLst>
              <a:ext uri="{FF2B5EF4-FFF2-40B4-BE49-F238E27FC236}">
                <a16:creationId xmlns:a16="http://schemas.microsoft.com/office/drawing/2014/main" xmlns="" id="{8D659DAE-A6F0-44CD-B48A-10B69D5FE23A}"/>
              </a:ext>
            </a:extLst>
          </p:cNvPr>
          <p:cNvSpPr txBox="1">
            <a:spLocks/>
          </p:cNvSpPr>
          <p:nvPr/>
        </p:nvSpPr>
        <p:spPr>
          <a:xfrm>
            <a:off x="456419" y="3886595"/>
            <a:ext cx="6001531" cy="60933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cs typeface="Times New Roman" panose="02020603050405020304" pitchFamily="18" charset="0"/>
              </a:rPr>
              <a:t>Maximum likelihood estimation	</a:t>
            </a:r>
          </a:p>
        </p:txBody>
      </p:sp>
      <p:pic>
        <p:nvPicPr>
          <p:cNvPr id="3" name="圖片 2">
            <a:extLst>
              <a:ext uri="{FF2B5EF4-FFF2-40B4-BE49-F238E27FC236}">
                <a16:creationId xmlns:a16="http://schemas.microsoft.com/office/drawing/2014/main" xmlns="" id="{A0E5648C-66D5-428C-B0DF-89C9850EEB2F}"/>
              </a:ext>
            </a:extLst>
          </p:cNvPr>
          <p:cNvPicPr>
            <a:picLocks noChangeAspect="1"/>
          </p:cNvPicPr>
          <p:nvPr/>
        </p:nvPicPr>
        <p:blipFill>
          <a:blip r:embed="rId4"/>
          <a:stretch>
            <a:fillRect/>
          </a:stretch>
        </p:blipFill>
        <p:spPr>
          <a:xfrm>
            <a:off x="2909022" y="4990959"/>
            <a:ext cx="3325956" cy="609335"/>
          </a:xfrm>
          <a:prstGeom prst="rect">
            <a:avLst/>
          </a:prstGeom>
        </p:spPr>
      </p:pic>
    </p:spTree>
    <p:extLst>
      <p:ext uri="{BB962C8B-B14F-4D97-AF65-F5344CB8AC3E}">
        <p14:creationId xmlns:p14="http://schemas.microsoft.com/office/powerpoint/2010/main" val="5653396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11" name="標題 1">
            <a:extLst>
              <a:ext uri="{FF2B5EF4-FFF2-40B4-BE49-F238E27FC236}">
                <a16:creationId xmlns:a16="http://schemas.microsoft.com/office/drawing/2014/main" xmlns="" id="{9B31BC81-ADBB-4834-B3EF-91774D28D38E}"/>
              </a:ext>
            </a:extLst>
          </p:cNvPr>
          <p:cNvSpPr txBox="1">
            <a:spLocks/>
          </p:cNvSpPr>
          <p:nvPr/>
        </p:nvSpPr>
        <p:spPr>
          <a:xfrm>
            <a:off x="402231" y="385081"/>
            <a:ext cx="8563639"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Experimental results</a:t>
            </a:r>
            <a:endParaRPr lang="zh-TW" altLang="en-US" sz="3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xmlns="" id="{72259C01-AA2D-43ED-B226-C6899102EB12}"/>
              </a:ext>
            </a:extLst>
          </p:cNvPr>
          <p:cNvPicPr>
            <a:picLocks noChangeAspect="1"/>
          </p:cNvPicPr>
          <p:nvPr/>
        </p:nvPicPr>
        <p:blipFill>
          <a:blip r:embed="rId3"/>
          <a:stretch>
            <a:fillRect/>
          </a:stretch>
        </p:blipFill>
        <p:spPr>
          <a:xfrm>
            <a:off x="804553" y="1106194"/>
            <a:ext cx="5181600" cy="2381250"/>
          </a:xfrm>
          <a:prstGeom prst="rect">
            <a:avLst/>
          </a:prstGeom>
          <a:ln>
            <a:solidFill>
              <a:schemeClr val="tx1"/>
            </a:solidFill>
          </a:ln>
        </p:spPr>
      </p:pic>
      <p:pic>
        <p:nvPicPr>
          <p:cNvPr id="7" name="圖片 6">
            <a:extLst>
              <a:ext uri="{FF2B5EF4-FFF2-40B4-BE49-F238E27FC236}">
                <a16:creationId xmlns:a16="http://schemas.microsoft.com/office/drawing/2014/main" xmlns="" id="{53055066-F9BC-4710-BBB0-5B22B817A702}"/>
              </a:ext>
            </a:extLst>
          </p:cNvPr>
          <p:cNvPicPr>
            <a:picLocks noChangeAspect="1"/>
          </p:cNvPicPr>
          <p:nvPr/>
        </p:nvPicPr>
        <p:blipFill>
          <a:blip r:embed="rId4"/>
          <a:stretch>
            <a:fillRect/>
          </a:stretch>
        </p:blipFill>
        <p:spPr>
          <a:xfrm>
            <a:off x="3069895" y="3625190"/>
            <a:ext cx="5238750" cy="2552700"/>
          </a:xfrm>
          <a:prstGeom prst="rect">
            <a:avLst/>
          </a:prstGeom>
          <a:ln>
            <a:solidFill>
              <a:schemeClr val="tx1"/>
            </a:solidFill>
          </a:ln>
        </p:spPr>
      </p:pic>
    </p:spTree>
    <p:extLst>
      <p:ext uri="{BB962C8B-B14F-4D97-AF65-F5344CB8AC3E}">
        <p14:creationId xmlns:p14="http://schemas.microsoft.com/office/powerpoint/2010/main" val="27940664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55024</TotalTime>
  <Words>447</Words>
  <Application>Microsoft Office PowerPoint</Application>
  <PresentationFormat>如螢幕大小 (4:3)</PresentationFormat>
  <Paragraphs>104</Paragraphs>
  <Slides>13</Slides>
  <Notes>11</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13</vt:i4>
      </vt:variant>
    </vt:vector>
  </HeadingPairs>
  <TitlesOfParts>
    <vt:vector size="23" baseType="lpstr">
      <vt:lpstr>BatangChe</vt:lpstr>
      <vt:lpstr>TimesNewRomanPSMT</vt:lpstr>
      <vt:lpstr>新細明體</vt:lpstr>
      <vt:lpstr>標楷體</vt:lpstr>
      <vt:lpstr>Arial</vt:lpstr>
      <vt:lpstr>Calibri</vt:lpstr>
      <vt:lpstr>Calibri Light</vt:lpstr>
      <vt:lpstr>Cambria Math</vt:lpstr>
      <vt:lpstr>Times New Roman</vt:lpstr>
      <vt:lpstr>Office 佈景主題</vt:lpstr>
      <vt:lpstr> Hybrid Optimization Algorithm Using N-Gram Based Edit Distance</vt:lpstr>
      <vt:lpstr>PowerPoint 簡報</vt:lpstr>
      <vt:lpstr>Abstract (1/2)</vt:lpstr>
      <vt:lpstr>Abstract (2/2)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576</cp:revision>
  <dcterms:created xsi:type="dcterms:W3CDTF">2017-09-25T08:45:50Z</dcterms:created>
  <dcterms:modified xsi:type="dcterms:W3CDTF">2018-09-18T11:07:45Z</dcterms:modified>
</cp:coreProperties>
</file>