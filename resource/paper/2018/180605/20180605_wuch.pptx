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307" r:id="rId4"/>
    <p:sldId id="312" r:id="rId5"/>
    <p:sldId id="326" r:id="rId6"/>
    <p:sldId id="327" r:id="rId7"/>
    <p:sldId id="328" r:id="rId8"/>
    <p:sldId id="329" r:id="rId9"/>
    <p:sldId id="330" r:id="rId10"/>
    <p:sldId id="331"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47" autoAdjust="0"/>
    <p:restoredTop sz="95048" autoAdjust="0"/>
  </p:normalViewPr>
  <p:slideViewPr>
    <p:cSldViewPr snapToGrid="0">
      <p:cViewPr varScale="1">
        <p:scale>
          <a:sx n="114" d="100"/>
          <a:sy n="114" d="100"/>
        </p:scale>
        <p:origin x="1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2018/6/5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335315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err="1">
                    <a:latin typeface="Times New Roman" panose="02020603050405020304" pitchFamily="18" charset="0"/>
                    <a:cs typeface="Times New Roman" panose="02020603050405020304" pitchFamily="18" charset="0"/>
                  </a:rPr>
                  <a:t>IBovespa</a:t>
                </a:r>
                <a:r>
                  <a:rPr lang="en-US" altLang="zh-TW" dirty="0">
                    <a:latin typeface="Times New Roman" panose="02020603050405020304" pitchFamily="18" charset="0"/>
                    <a:cs typeface="Times New Roman" panose="02020603050405020304" pitchFamily="18" charset="0"/>
                  </a:rPr>
                  <a:t> :</a:t>
                </a:r>
                <a:r>
                  <a:rPr lang="zh-TW" altLang="en-US" dirty="0">
                    <a:latin typeface="Times New Roman" panose="02020603050405020304" pitchFamily="18" charset="0"/>
                    <a:cs typeface="Times New Roman" panose="02020603050405020304" pitchFamily="18" charset="0"/>
                  </a:rPr>
                  <a:t>巴西證券期貨交易所</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718540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2842435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3632452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4212819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1871837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2009541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2018/6/5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2018/6/5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623" y="268941"/>
            <a:ext cx="12299245"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Maximum and minimum stock price forecasting of Brazilian power distribution companies based on artificial neural networks</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869319"/>
            <a:ext cx="8449734" cy="2719740"/>
          </a:xfrm>
        </p:spPr>
        <p:txBody>
          <a:bodyPr>
            <a:normAutofit/>
          </a:bodyPr>
          <a:lstStyle/>
          <a:p>
            <a:r>
              <a:rPr lang="en-US" altLang="zh-TW" dirty="0">
                <a:latin typeface="Times New Roman" panose="02020603050405020304" pitchFamily="18" charset="0"/>
                <a:cs typeface="Times New Roman" panose="02020603050405020304" pitchFamily="18" charset="0"/>
              </a:rPr>
              <a:t>Leonel </a:t>
            </a:r>
            <a:r>
              <a:rPr lang="en-US" altLang="zh-TW" dirty="0" err="1">
                <a:latin typeface="Times New Roman" panose="02020603050405020304" pitchFamily="18" charset="0"/>
                <a:cs typeface="Times New Roman" panose="02020603050405020304" pitchFamily="18" charset="0"/>
              </a:rPr>
              <a:t>A.Laboissiere</a:t>
            </a:r>
            <a:r>
              <a:rPr lang="en-US" altLang="zh-TW" dirty="0">
                <a:latin typeface="Times New Roman" panose="02020603050405020304" pitchFamily="18" charset="0"/>
                <a:cs typeface="Times New Roman" panose="02020603050405020304" pitchFamily="18" charset="0"/>
              </a:rPr>
              <a:t>, Ricardo </a:t>
            </a:r>
            <a:r>
              <a:rPr lang="en-US" altLang="zh-TW" dirty="0" err="1">
                <a:latin typeface="Times New Roman" panose="02020603050405020304" pitchFamily="18" charset="0"/>
                <a:cs typeface="Times New Roman" panose="02020603050405020304" pitchFamily="18" charset="0"/>
              </a:rPr>
              <a:t>A.S.Fernandes</a:t>
            </a:r>
            <a:r>
              <a:rPr lang="en-US" altLang="zh-TW" dirty="0">
                <a:latin typeface="Times New Roman" panose="02020603050405020304" pitchFamily="18" charset="0"/>
                <a:cs typeface="Times New Roman" panose="02020603050405020304" pitchFamily="18" charset="0"/>
              </a:rPr>
              <a:t>, Guilherme </a:t>
            </a:r>
            <a:r>
              <a:rPr lang="en-US" altLang="zh-TW" dirty="0" err="1">
                <a:latin typeface="Times New Roman" panose="02020603050405020304" pitchFamily="18" charset="0"/>
                <a:cs typeface="Times New Roman" panose="02020603050405020304" pitchFamily="18" charset="0"/>
              </a:rPr>
              <a:t>G.Lage</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Applied Soft Computing, Volume 35, October 2015, Pages 66-74</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a:t>
            </a:r>
            <a:r>
              <a:rPr lang="en-US" altLang="zh-TW">
                <a:latin typeface="Times New Roman" panose="02020603050405020304" pitchFamily="18" charset="0"/>
                <a:cs typeface="Times New Roman" panose="02020603050405020304" pitchFamily="18" charset="0"/>
              </a:rPr>
              <a:t>:2018/6/5</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Time series forecasting has been widely used to determine future prices of stocks, and the analysis and modeling of finance time series is an important task for guiding investors’ decisions and trades. Nonetheless, the prediction of prices by means of a time series is not trivial and it requires a thorough analysis of indexes, variables and other data. In addition, in a dynamic environment such as the stock market, the non-linearity of the time series is a pronounced characteristic, and this immediately affects the efficacy of stock price forecasts. Thus, this paper aims at proposing a methodology that forecasts the maximum and minimum day stock prices of three Brazilian power distribution companies, which are traded in the São Paulo Stock Exchange </a:t>
            </a:r>
            <a:r>
              <a:rPr lang="en-US" altLang="zh-TW" dirty="0" err="1">
                <a:latin typeface="Times New Roman" panose="02020603050405020304" pitchFamily="18" charset="0"/>
                <a:cs typeface="Times New Roman" panose="02020603050405020304" pitchFamily="18" charset="0"/>
              </a:rPr>
              <a:t>BM&amp;FBovespa</a:t>
            </a:r>
            <a:r>
              <a:rPr lang="en-US" altLang="zh-TW" dirty="0">
                <a:latin typeface="Times New Roman" panose="02020603050405020304" pitchFamily="18" charset="0"/>
                <a:cs typeface="Times New Roman" panose="02020603050405020304" pitchFamily="18" charset="0"/>
              </a:rPr>
              <a:t>. When compared to the other papers already published in the literature, one of the main contributions and novelty of this paper is the forecast of the range of closing prices of Brazilian power distribution companies’ stocks.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As a result of its application, investors may be able to define threshold values for their stock trades. Moreover, such a methodology may be of great interest to home brokers who do not possess ample knowledge to invest in such companies. The proposed methodology is based on the calculation of distinct features to be </a:t>
            </a:r>
            <a:r>
              <a:rPr lang="en-US" altLang="zh-TW" dirty="0" err="1">
                <a:latin typeface="Times New Roman" panose="02020603050405020304" pitchFamily="18" charset="0"/>
                <a:cs typeface="Times New Roman" panose="02020603050405020304" pitchFamily="18" charset="0"/>
              </a:rPr>
              <a:t>analysed</a:t>
            </a:r>
            <a:r>
              <a:rPr lang="en-US" altLang="zh-TW" dirty="0">
                <a:latin typeface="Times New Roman" panose="02020603050405020304" pitchFamily="18" charset="0"/>
                <a:cs typeface="Times New Roman" panose="02020603050405020304" pitchFamily="18" charset="0"/>
              </a:rPr>
              <a:t> by means of attribute selection, defining the most relevant attributes to predict the maximum and minimum day stock prices of each company. Then, the actual prediction was carried out by Artificial Neural Networks (ANNs), which had their performances evaluated by means of Mean Absolute Error (MAE), Mean Absolute Percentage Error (MAPE) and Root Mean Square Error (RMSE) calculations. The proposed methodology for addressing the problem of prediction of maximum and minimum day stock prices for Brazilian distribution companies is effective. In addition, these results were only possible to be achieved due to the combined use of attribute selection by correlation analysis and ANNs.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ANN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𝑦</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𝑔</m:t>
                    </m:r>
                    <m:d>
                      <m:dPr>
                        <m:ctrlPr>
                          <a:rPr lang="en-US" altLang="zh-TW" b="0" i="1" smtClean="0">
                            <a:latin typeface="Cambria Math" panose="02040503050406030204" pitchFamily="18" charset="0"/>
                            <a:cs typeface="Times New Roman" panose="02020603050405020304" pitchFamily="18" charset="0"/>
                          </a:rPr>
                        </m:ctrlPr>
                      </m:dPr>
                      <m:e>
                        <m:nary>
                          <m:naryPr>
                            <m:chr m:val="∑"/>
                            <m:ctrlPr>
                              <a:rPr lang="en-US" altLang="zh-TW" b="0"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𝑛</m:t>
                            </m:r>
                          </m:sup>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cs typeface="Times New Roman" panose="02020603050405020304" pitchFamily="18" charset="0"/>
                                  </a:rPr>
                                  <m:t>𝑖</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𝑥</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𝑏</m:t>
                            </m:r>
                          </m:e>
                        </m:nary>
                      </m:e>
                    </m:d>
                  </m:oMath>
                </a14:m>
                <a:endParaRPr lang="en-US" altLang="zh-TW" b="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𝑔</m:t>
                        </m:r>
                      </m:e>
                      <m:sub>
                        <m:r>
                          <a:rPr lang="en-US" altLang="zh-TW" b="0" i="1" smtClean="0">
                            <a:latin typeface="Cambria Math" panose="02040503050406030204" pitchFamily="18" charset="0"/>
                            <a:cs typeface="Times New Roman" panose="02020603050405020304" pitchFamily="18" charset="0"/>
                          </a:rPr>
                          <m:t>1</m:t>
                        </m:r>
                      </m:sub>
                    </m:sSub>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𝑢</m:t>
                        </m:r>
                      </m:e>
                    </m:d>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2</m:t>
                        </m:r>
                      </m:num>
                      <m:den>
                        <m:r>
                          <a:rPr lang="en-US" altLang="zh-TW" b="0" i="1" smtClean="0">
                            <a:latin typeface="Cambria Math" panose="02040503050406030204" pitchFamily="18" charset="0"/>
                            <a:cs typeface="Times New Roman" panose="02020603050405020304" pitchFamily="18" charset="0"/>
                          </a:rPr>
                          <m:t>1−</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𝑒</m:t>
                            </m:r>
                          </m:e>
                          <m:sup>
                            <m:r>
                              <a:rPr lang="en-US" altLang="zh-TW" b="0" i="1" smtClean="0">
                                <a:latin typeface="Cambria Math" panose="02040503050406030204" pitchFamily="18" charset="0"/>
                                <a:cs typeface="Times New Roman" panose="02020603050405020304" pitchFamily="18" charset="0"/>
                              </a:rPr>
                              <m:t>−2</m:t>
                            </m:r>
                            <m:r>
                              <a:rPr lang="en-US" altLang="zh-TW" b="0" i="1" smtClean="0">
                                <a:latin typeface="Cambria Math" panose="02040503050406030204" pitchFamily="18" charset="0"/>
                                <a:cs typeface="Times New Roman" panose="02020603050405020304" pitchFamily="18" charset="0"/>
                              </a:rPr>
                              <m:t>𝑢</m:t>
                            </m:r>
                          </m:sup>
                        </m:sSup>
                      </m:den>
                    </m:f>
                    <m:r>
                      <a:rPr lang="en-US" altLang="zh-TW" b="0" i="1" smtClean="0">
                        <a:latin typeface="Cambria Math" panose="02040503050406030204" pitchFamily="18" charset="0"/>
                        <a:cs typeface="Times New Roman" panose="02020603050405020304" pitchFamily="18" charset="0"/>
                      </a:rPr>
                      <m:t>−1</m:t>
                    </m:r>
                  </m:oMath>
                </a14:m>
                <a:endParaRPr lang="en-US" altLang="zh-TW" b="0"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𝑔</m:t>
                        </m:r>
                      </m:e>
                      <m:sub>
                        <m:r>
                          <a:rPr lang="en-US" altLang="zh-TW" b="0" i="1" smtClean="0">
                            <a:latin typeface="Cambria Math" panose="02040503050406030204" pitchFamily="18" charset="0"/>
                            <a:cs typeface="Times New Roman" panose="02020603050405020304" pitchFamily="18" charset="0"/>
                          </a:rPr>
                          <m:t>2</m:t>
                        </m:r>
                      </m:sub>
                    </m:sSub>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𝑢</m:t>
                        </m:r>
                      </m:e>
                    </m:d>
                    <m:r>
                      <a:rPr lang="en-US" altLang="zh-TW" i="1">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𝑢</m:t>
                    </m:r>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185E19D5-A7DA-42E1-9C89-9729317C5D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78522" y="1756602"/>
            <a:ext cx="6464097" cy="4595053"/>
          </a:xfrm>
          <a:prstGeom prst="rect">
            <a:avLst/>
          </a:prstGeom>
        </p:spPr>
      </p:pic>
    </p:spTree>
    <p:extLst>
      <p:ext uri="{BB962C8B-B14F-4D97-AF65-F5344CB8AC3E}">
        <p14:creationId xmlns:p14="http://schemas.microsoft.com/office/powerpoint/2010/main" val="1754175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E6C14273-AAB0-462E-B4EF-9A0A18D800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4079" y="1690688"/>
            <a:ext cx="6524925" cy="4537742"/>
          </a:xfrm>
          <a:prstGeom prst="rect">
            <a:avLst/>
          </a:prstGeom>
        </p:spPr>
      </p:pic>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Input feature</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CSRN3</a:t>
            </a:r>
          </a:p>
          <a:p>
            <a:r>
              <a:rPr lang="en-US" altLang="zh-TW" dirty="0">
                <a:latin typeface="Times New Roman" panose="02020603050405020304" pitchFamily="18" charset="0"/>
                <a:cs typeface="Times New Roman" panose="02020603050405020304" pitchFamily="18" charset="0"/>
              </a:rPr>
              <a:t>CEBR3</a:t>
            </a:r>
          </a:p>
          <a:p>
            <a:r>
              <a:rPr lang="en-US" altLang="zh-TW" dirty="0">
                <a:latin typeface="Times New Roman" panose="02020603050405020304" pitchFamily="18" charset="0"/>
                <a:cs typeface="Times New Roman" panose="02020603050405020304" pitchFamily="18" charset="0"/>
              </a:rPr>
              <a:t>CPFE3</a:t>
            </a:r>
          </a:p>
          <a:p>
            <a:r>
              <a:rPr lang="en-US" altLang="zh-TW" dirty="0" err="1">
                <a:latin typeface="Times New Roman" panose="02020603050405020304" pitchFamily="18" charset="0"/>
                <a:cs typeface="Times New Roman" panose="02020603050405020304" pitchFamily="18" charset="0"/>
              </a:rPr>
              <a:t>IBovespa</a:t>
            </a:r>
            <a:r>
              <a:rPr lang="en-US" altLang="zh-TW" dirty="0">
                <a:latin typeface="Times New Roman" panose="02020603050405020304" pitchFamily="18" charset="0"/>
                <a:cs typeface="Times New Roman" panose="02020603050405020304" pitchFamily="18" charset="0"/>
              </a:rPr>
              <a:t> : </a:t>
            </a:r>
            <a:r>
              <a:rPr lang="zh-TW" altLang="en-US" dirty="0">
                <a:latin typeface="Times New Roman" panose="02020603050405020304" pitchFamily="18" charset="0"/>
                <a:cs typeface="Times New Roman" panose="02020603050405020304" pitchFamily="18" charset="0"/>
              </a:rPr>
              <a:t>巴西證券期貨交易所</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IEE : Electric Energy Index</a:t>
            </a:r>
          </a:p>
          <a:p>
            <a:r>
              <a:rPr lang="en-US" altLang="zh-TW" dirty="0">
                <a:latin typeface="Times New Roman" panose="02020603050405020304" pitchFamily="18" charset="0"/>
                <a:cs typeface="Times New Roman" panose="02020603050405020304" pitchFamily="18" charset="0"/>
              </a:rPr>
              <a:t>American dollar</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January 2008~July 2012 (train)</a:t>
            </a:r>
          </a:p>
          <a:p>
            <a:r>
              <a:rPr lang="en-US" altLang="zh-TW" dirty="0">
                <a:latin typeface="Times New Roman" panose="02020603050405020304" pitchFamily="18" charset="0"/>
                <a:cs typeface="Times New Roman" panose="02020603050405020304" pitchFamily="18" charset="0"/>
              </a:rPr>
              <a:t>October 2012~September</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2013(test)</a:t>
            </a:r>
          </a:p>
        </p:txBody>
      </p:sp>
    </p:spTree>
    <p:extLst>
      <p:ext uri="{BB962C8B-B14F-4D97-AF65-F5344CB8AC3E}">
        <p14:creationId xmlns:p14="http://schemas.microsoft.com/office/powerpoint/2010/main" val="1603234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Select Attributes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5DDCA887-539C-4340-A938-324EFD34FE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2820" y="1898443"/>
            <a:ext cx="5833234" cy="1746958"/>
          </a:xfrm>
        </p:spPr>
      </p:pic>
      <p:pic>
        <p:nvPicPr>
          <p:cNvPr id="8" name="圖片 7">
            <a:extLst>
              <a:ext uri="{FF2B5EF4-FFF2-40B4-BE49-F238E27FC236}">
                <a16:creationId xmlns:a16="http://schemas.microsoft.com/office/drawing/2014/main" id="{E4EF810B-0DE1-4271-BB1B-FE990485D3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681" y="3853156"/>
            <a:ext cx="5849371" cy="2108957"/>
          </a:xfrm>
          <a:prstGeom prst="rect">
            <a:avLst/>
          </a:prstGeom>
        </p:spPr>
      </p:pic>
      <p:pic>
        <p:nvPicPr>
          <p:cNvPr id="10" name="圖片 9">
            <a:extLst>
              <a:ext uri="{FF2B5EF4-FFF2-40B4-BE49-F238E27FC236}">
                <a16:creationId xmlns:a16="http://schemas.microsoft.com/office/drawing/2014/main" id="{C2560C29-A73F-4D9A-AF7B-A0FE5BDB9C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6052" y="2044585"/>
            <a:ext cx="5684079" cy="3617141"/>
          </a:xfrm>
          <a:prstGeom prst="rect">
            <a:avLst/>
          </a:prstGeom>
        </p:spPr>
      </p:pic>
    </p:spTree>
    <p:extLst>
      <p:ext uri="{BB962C8B-B14F-4D97-AF65-F5344CB8AC3E}">
        <p14:creationId xmlns:p14="http://schemas.microsoft.com/office/powerpoint/2010/main" val="1717571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Results evaluation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𝑀𝐴𝐸</m:t>
                    </m:r>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𝑁</m:t>
                        </m:r>
                      </m:den>
                    </m:f>
                    <m:nary>
                      <m:naryPr>
                        <m:chr m:val="∑"/>
                        <m:ctrlPr>
                          <a:rPr lang="en-US" altLang="zh-TW" b="0"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𝑁</m:t>
                        </m:r>
                      </m:sup>
                      <m:e>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cs typeface="Times New Roman" panose="02020603050405020304" pitchFamily="18" charset="0"/>
                          </a:rPr>
                          <m:t>−</m:t>
                        </m:r>
                        <m:acc>
                          <m:accPr>
                            <m:chr m:val="̅"/>
                            <m:ctrlPr>
                              <a:rPr lang="en-US" altLang="zh-TW" b="0" i="1" smtClean="0">
                                <a:latin typeface="Cambria Math" panose="02040503050406030204" pitchFamily="18" charset="0"/>
                                <a:cs typeface="Times New Roman" panose="02020603050405020304" pitchFamily="18" charset="0"/>
                              </a:rPr>
                            </m:ctrlPr>
                          </m:acc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cs typeface="Times New Roman" panose="02020603050405020304" pitchFamily="18" charset="0"/>
                                  </a:rPr>
                                  <m:t>𝑖</m:t>
                                </m:r>
                              </m:sub>
                            </m:sSub>
                          </m:e>
                        </m:acc>
                        <m:r>
                          <a:rPr lang="en-US" altLang="zh-TW" b="0" i="1" smtClean="0">
                            <a:latin typeface="Cambria Math" panose="02040503050406030204" pitchFamily="18" charset="0"/>
                            <a:cs typeface="Times New Roman" panose="02020603050405020304" pitchFamily="18" charset="0"/>
                          </a:rPr>
                          <m:t>|</m:t>
                        </m:r>
                      </m:e>
                    </m:nary>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i="1">
                        <a:latin typeface="Cambria Math" panose="02040503050406030204" pitchFamily="18" charset="0"/>
                        <a:cs typeface="Times New Roman" panose="02020603050405020304" pitchFamily="18" charset="0"/>
                      </a:rPr>
                      <m:t>𝑀𝐴</m:t>
                    </m:r>
                    <m:r>
                      <a:rPr lang="en-US" altLang="zh-TW" b="0" i="1" smtClean="0">
                        <a:latin typeface="Cambria Math" panose="02040503050406030204" pitchFamily="18" charset="0"/>
                        <a:cs typeface="Times New Roman" panose="02020603050405020304" pitchFamily="18" charset="0"/>
                      </a:rPr>
                      <m:t>𝑃</m:t>
                    </m:r>
                    <m:r>
                      <a:rPr lang="en-US" altLang="zh-TW" i="1">
                        <a:latin typeface="Cambria Math" panose="02040503050406030204" pitchFamily="18" charset="0"/>
                        <a:cs typeface="Times New Roman" panose="02020603050405020304" pitchFamily="18" charset="0"/>
                      </a:rPr>
                      <m:t>𝐸</m:t>
                    </m:r>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1</m:t>
                        </m:r>
                        <m:r>
                          <a:rPr lang="en-US" altLang="zh-TW" b="0" i="1" smtClean="0">
                            <a:latin typeface="Cambria Math" panose="02040503050406030204" pitchFamily="18" charset="0"/>
                            <a:cs typeface="Times New Roman" panose="02020603050405020304" pitchFamily="18" charset="0"/>
                          </a:rPr>
                          <m:t>00</m:t>
                        </m:r>
                      </m:num>
                      <m:den>
                        <m:r>
                          <a:rPr lang="en-US" altLang="zh-TW" i="1">
                            <a:latin typeface="Cambria Math" panose="02040503050406030204" pitchFamily="18" charset="0"/>
                            <a:cs typeface="Times New Roman" panose="02020603050405020304" pitchFamily="18" charset="0"/>
                          </a:rPr>
                          <m:t>𝑁</m:t>
                        </m:r>
                      </m:den>
                    </m:f>
                    <m:nary>
                      <m:naryPr>
                        <m:chr m:val="∑"/>
                        <m:ctrlPr>
                          <a:rPr lang="en-US" altLang="zh-TW" i="1">
                            <a:latin typeface="Cambria Math" panose="02040503050406030204" pitchFamily="18" charset="0"/>
                            <a:cs typeface="Times New Roman" panose="02020603050405020304" pitchFamily="18" charset="0"/>
                          </a:rPr>
                        </m:ctrlPr>
                      </m:naryPr>
                      <m:sub>
                        <m:r>
                          <m:rPr>
                            <m:brk m:alnAt="23"/>
                          </m:rP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=1</m:t>
                        </m:r>
                      </m:sub>
                      <m:sup>
                        <m:r>
                          <a:rPr lang="en-US" altLang="zh-TW" i="1">
                            <a:latin typeface="Cambria Math" panose="02040503050406030204" pitchFamily="18" charset="0"/>
                            <a:cs typeface="Times New Roman" panose="02020603050405020304" pitchFamily="18" charset="0"/>
                          </a:rPr>
                          <m:t>𝑁</m:t>
                        </m:r>
                      </m:sup>
                      <m:e>
                        <m:f>
                          <m:fPr>
                            <m:ctrlPr>
                              <a:rPr lang="en-US" altLang="zh-TW" i="1" smtClean="0">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𝑃</m:t>
                                </m:r>
                              </m:e>
                              <m:sub>
                                <m:r>
                                  <a:rPr lang="en-US" altLang="zh-TW" i="1">
                                    <a:latin typeface="Cambria Math" panose="02040503050406030204" pitchFamily="18" charset="0"/>
                                    <a:cs typeface="Times New Roman" panose="02020603050405020304" pitchFamily="18" charset="0"/>
                                  </a:rPr>
                                  <m:t>𝑖</m:t>
                                </m:r>
                              </m:sub>
                            </m:sSub>
                            <m:r>
                              <a:rPr lang="en-US" altLang="zh-TW" i="1">
                                <a:latin typeface="Cambria Math" panose="02040503050406030204" pitchFamily="18" charset="0"/>
                                <a:cs typeface="Times New Roman" panose="02020603050405020304" pitchFamily="18" charset="0"/>
                              </a:rPr>
                              <m:t>−</m:t>
                            </m:r>
                            <m:acc>
                              <m:accPr>
                                <m:chr m:val="̅"/>
                                <m:ctrlPr>
                                  <a:rPr lang="en-US" altLang="zh-TW" i="1">
                                    <a:latin typeface="Cambria Math" panose="02040503050406030204" pitchFamily="18" charset="0"/>
                                    <a:cs typeface="Times New Roman" panose="02020603050405020304" pitchFamily="18" charset="0"/>
                                  </a:rPr>
                                </m:ctrlPr>
                              </m:acc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𝑃</m:t>
                                    </m:r>
                                  </m:e>
                                  <m:sub>
                                    <m:r>
                                      <a:rPr lang="en-US" altLang="zh-TW" i="1">
                                        <a:latin typeface="Cambria Math" panose="02040503050406030204" pitchFamily="18" charset="0"/>
                                        <a:cs typeface="Times New Roman" panose="02020603050405020304" pitchFamily="18" charset="0"/>
                                      </a:rPr>
                                      <m:t>𝑖</m:t>
                                    </m:r>
                                  </m:sub>
                                </m:sSub>
                              </m:e>
                            </m:acc>
                            <m:r>
                              <a:rPr lang="en-US" altLang="zh-TW" b="0" i="1" smtClean="0">
                                <a:latin typeface="Cambria Math" panose="02040503050406030204" pitchFamily="18" charset="0"/>
                                <a:cs typeface="Times New Roman" panose="02020603050405020304" pitchFamily="18" charset="0"/>
                              </a:rPr>
                              <m:t>|</m:t>
                            </m:r>
                          </m:num>
                          <m:den>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cs typeface="Times New Roman" panose="02020603050405020304" pitchFamily="18" charset="0"/>
                                  </a:rPr>
                                  <m:t>𝑖</m:t>
                                </m:r>
                              </m:sub>
                            </m:sSub>
                          </m:den>
                        </m:f>
                      </m:e>
                    </m:nary>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𝑅</m:t>
                    </m:r>
                    <m:r>
                      <a:rPr lang="en-US" altLang="zh-TW" i="1">
                        <a:latin typeface="Cambria Math" panose="02040503050406030204" pitchFamily="18" charset="0"/>
                        <a:cs typeface="Times New Roman" panose="02020603050405020304" pitchFamily="18" charset="0"/>
                      </a:rPr>
                      <m:t>𝑀</m:t>
                    </m:r>
                    <m:r>
                      <a:rPr lang="en-US" altLang="zh-TW" b="0" i="1" smtClean="0">
                        <a:latin typeface="Cambria Math" panose="02040503050406030204" pitchFamily="18" charset="0"/>
                        <a:cs typeface="Times New Roman" panose="02020603050405020304" pitchFamily="18" charset="0"/>
                      </a:rPr>
                      <m:t>𝑆</m:t>
                    </m:r>
                    <m:r>
                      <a:rPr lang="en-US" altLang="zh-TW" i="1">
                        <a:latin typeface="Cambria Math" panose="02040503050406030204" pitchFamily="18" charset="0"/>
                        <a:cs typeface="Times New Roman" panose="02020603050405020304" pitchFamily="18" charset="0"/>
                      </a:rPr>
                      <m:t>𝐸</m:t>
                    </m:r>
                    <m:r>
                      <a:rPr lang="en-US" altLang="zh-TW" i="1">
                        <a:latin typeface="Cambria Math" panose="02040503050406030204" pitchFamily="18" charset="0"/>
                        <a:cs typeface="Times New Roman" panose="02020603050405020304" pitchFamily="18" charset="0"/>
                      </a:rPr>
                      <m:t>=</m:t>
                    </m:r>
                    <m:rad>
                      <m:radPr>
                        <m:degHide m:val="on"/>
                        <m:ctrlPr>
                          <a:rPr lang="en-US" altLang="zh-TW" i="1" smtClean="0">
                            <a:latin typeface="Cambria Math" panose="02040503050406030204" pitchFamily="18" charset="0"/>
                            <a:cs typeface="Times New Roman" panose="02020603050405020304" pitchFamily="18" charset="0"/>
                          </a:rPr>
                        </m:ctrlPr>
                      </m:radPr>
                      <m:deg/>
                      <m:e>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1</m:t>
                            </m:r>
                          </m:num>
                          <m:den>
                            <m:r>
                              <a:rPr lang="en-US" altLang="zh-TW" i="1">
                                <a:latin typeface="Cambria Math" panose="02040503050406030204" pitchFamily="18" charset="0"/>
                                <a:cs typeface="Times New Roman" panose="02020603050405020304" pitchFamily="18" charset="0"/>
                              </a:rPr>
                              <m:t>𝑁</m:t>
                            </m:r>
                          </m:den>
                        </m:f>
                        <m:nary>
                          <m:naryPr>
                            <m:chr m:val="∑"/>
                            <m:ctrlPr>
                              <a:rPr lang="en-US" altLang="zh-TW" i="1">
                                <a:latin typeface="Cambria Math" panose="02040503050406030204" pitchFamily="18" charset="0"/>
                                <a:cs typeface="Times New Roman" panose="02020603050405020304" pitchFamily="18" charset="0"/>
                              </a:rPr>
                            </m:ctrlPr>
                          </m:naryPr>
                          <m:sub>
                            <m:r>
                              <m:rPr>
                                <m:brk m:alnAt="23"/>
                              </m:rPr>
                              <a:rPr lang="en-US" altLang="zh-TW" i="1">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=1</m:t>
                            </m:r>
                          </m:sub>
                          <m:sup>
                            <m:r>
                              <a:rPr lang="en-US" altLang="zh-TW" i="1">
                                <a:latin typeface="Cambria Math" panose="02040503050406030204" pitchFamily="18" charset="0"/>
                                <a:cs typeface="Times New Roman" panose="02020603050405020304" pitchFamily="18" charset="0"/>
                              </a:rPr>
                              <m:t>𝑁</m:t>
                            </m:r>
                          </m:sup>
                          <m:e>
                            <m:sSup>
                              <m:sSupPr>
                                <m:ctrlPr>
                                  <a:rPr lang="en-US" altLang="zh-TW" b="0" i="1" smtClean="0">
                                    <a:latin typeface="Cambria Math" panose="02040503050406030204" pitchFamily="18" charset="0"/>
                                    <a:cs typeface="Times New Roman" panose="02020603050405020304" pitchFamily="18" charset="0"/>
                                  </a:rPr>
                                </m:ctrlPr>
                              </m:sSupPr>
                              <m:e>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𝑃</m:t>
                                        </m:r>
                                      </m:e>
                                      <m:sub>
                                        <m:r>
                                          <a:rPr lang="en-US" altLang="zh-TW" i="1">
                                            <a:latin typeface="Cambria Math" panose="02040503050406030204" pitchFamily="18" charset="0"/>
                                            <a:cs typeface="Times New Roman" panose="02020603050405020304" pitchFamily="18" charset="0"/>
                                          </a:rPr>
                                          <m:t>𝑖</m:t>
                                        </m:r>
                                      </m:sub>
                                    </m:sSub>
                                    <m:r>
                                      <a:rPr lang="en-US" altLang="zh-TW" i="1">
                                        <a:latin typeface="Cambria Math" panose="02040503050406030204" pitchFamily="18" charset="0"/>
                                        <a:cs typeface="Times New Roman" panose="02020603050405020304" pitchFamily="18" charset="0"/>
                                      </a:rPr>
                                      <m:t>−</m:t>
                                    </m:r>
                                    <m:acc>
                                      <m:accPr>
                                        <m:chr m:val="̅"/>
                                        <m:ctrlPr>
                                          <a:rPr lang="en-US" altLang="zh-TW" i="1">
                                            <a:latin typeface="Cambria Math" panose="02040503050406030204" pitchFamily="18" charset="0"/>
                                            <a:cs typeface="Times New Roman" panose="02020603050405020304" pitchFamily="18" charset="0"/>
                                          </a:rPr>
                                        </m:ctrlPr>
                                      </m:acc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𝑃</m:t>
                                            </m:r>
                                          </m:e>
                                          <m:sub>
                                            <m:r>
                                              <a:rPr lang="en-US" altLang="zh-TW" i="1">
                                                <a:latin typeface="Cambria Math" panose="02040503050406030204" pitchFamily="18" charset="0"/>
                                                <a:cs typeface="Times New Roman" panose="02020603050405020304" pitchFamily="18" charset="0"/>
                                              </a:rPr>
                                              <m:t>𝑖</m:t>
                                            </m:r>
                                          </m:sub>
                                        </m:sSub>
                                      </m:e>
                                    </m:acc>
                                  </m:e>
                                </m:d>
                              </m:e>
                              <m:sup>
                                <m:r>
                                  <a:rPr lang="en-US" altLang="zh-TW" b="0" i="1" smtClean="0">
                                    <a:latin typeface="Cambria Math" panose="02040503050406030204" pitchFamily="18" charset="0"/>
                                    <a:cs typeface="Times New Roman" panose="02020603050405020304" pitchFamily="18" charset="0"/>
                                  </a:rPr>
                                  <m:t>2</m:t>
                                </m:r>
                              </m:sup>
                            </m:sSup>
                          </m:e>
                        </m:nary>
                      </m:e>
                    </m:rad>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5049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1117CCB2-7C2F-45DA-A9D6-E5E2E8BCFA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5810" y="1339131"/>
            <a:ext cx="5449060" cy="4981998"/>
          </a:xfrm>
        </p:spPr>
      </p:pic>
      <p:pic>
        <p:nvPicPr>
          <p:cNvPr id="7" name="圖片 6">
            <a:extLst>
              <a:ext uri="{FF2B5EF4-FFF2-40B4-BE49-F238E27FC236}">
                <a16:creationId xmlns:a16="http://schemas.microsoft.com/office/drawing/2014/main" id="{156442A3-34B7-4D2A-B412-BAB29C4511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1396" y="1339131"/>
            <a:ext cx="5449060" cy="5153744"/>
          </a:xfrm>
          <a:prstGeom prst="rect">
            <a:avLst/>
          </a:prstGeom>
        </p:spPr>
      </p:pic>
    </p:spTree>
    <p:extLst>
      <p:ext uri="{BB962C8B-B14F-4D97-AF65-F5344CB8AC3E}">
        <p14:creationId xmlns:p14="http://schemas.microsoft.com/office/powerpoint/2010/main" val="1090589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id="{EC453868-13E8-4F99-9B60-B3F329D818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56426" y="1480442"/>
            <a:ext cx="5279148" cy="5012433"/>
          </a:xfrm>
        </p:spPr>
      </p:pic>
    </p:spTree>
    <p:extLst>
      <p:ext uri="{BB962C8B-B14F-4D97-AF65-F5344CB8AC3E}">
        <p14:creationId xmlns:p14="http://schemas.microsoft.com/office/powerpoint/2010/main" val="1705394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Results</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02252BE5-8E96-4A33-A95E-D95112719C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18057" y="1617393"/>
            <a:ext cx="8955885" cy="4875482"/>
          </a:xfrm>
        </p:spPr>
      </p:pic>
    </p:spTree>
    <p:extLst>
      <p:ext uri="{BB962C8B-B14F-4D97-AF65-F5344CB8AC3E}">
        <p14:creationId xmlns:p14="http://schemas.microsoft.com/office/powerpoint/2010/main" val="117533324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18071</TotalTime>
  <Words>493</Words>
  <Application>Microsoft Office PowerPoint</Application>
  <PresentationFormat>寬螢幕</PresentationFormat>
  <Paragraphs>41</Paragraphs>
  <Slides>10</Slides>
  <Notes>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Arial</vt:lpstr>
      <vt:lpstr>Calibri</vt:lpstr>
      <vt:lpstr>Calibri Light</vt:lpstr>
      <vt:lpstr>Cambria Math</vt:lpstr>
      <vt:lpstr>Times New Roman</vt:lpstr>
      <vt:lpstr>Office 佈景主題</vt:lpstr>
      <vt:lpstr>Maximum and minimum stock price forecasting of Brazilian power distribution companies based on artificial neural networks</vt:lpstr>
      <vt:lpstr>Abstract(1/2)</vt:lpstr>
      <vt:lpstr>Abstract(2/2)</vt:lpstr>
      <vt:lpstr>ANN</vt:lpstr>
      <vt:lpstr>Input feature</vt:lpstr>
      <vt:lpstr>Select Attributes</vt:lpstr>
      <vt:lpstr>Results evaluation</vt:lpstr>
      <vt:lpstr>Results</vt:lpstr>
      <vt:lpstr>Results</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p:lastModifiedBy>
  <cp:revision>574</cp:revision>
  <dcterms:created xsi:type="dcterms:W3CDTF">2017-09-07T05:36:32Z</dcterms:created>
  <dcterms:modified xsi:type="dcterms:W3CDTF">2018-06-05T10:15:28Z</dcterms:modified>
</cp:coreProperties>
</file>