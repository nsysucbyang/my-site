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76" r:id="rId3"/>
    <p:sldId id="277" r:id="rId4"/>
    <p:sldId id="278" r:id="rId5"/>
    <p:sldId id="279" r:id="rId6"/>
    <p:sldId id="280" r:id="rId7"/>
    <p:sldId id="281" r:id="rId8"/>
    <p:sldId id="285" r:id="rId9"/>
    <p:sldId id="282" r:id="rId10"/>
    <p:sldId id="284" r:id="rId11"/>
    <p:sldId id="283"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9933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中等深淺樣式 1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4B1156A-380E-4F78-BDF5-A606A8083BF9}" styleName="中等深淺樣式 4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淺色樣式 3 - 輔色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佈景主題樣式 2 - 輔色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E171933-4619-4E11-9A3F-F7608DF75F80}" styleName="中等深淺樣式 1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9" autoAdjust="0"/>
    <p:restoredTop sz="78307" autoAdjust="0"/>
  </p:normalViewPr>
  <p:slideViewPr>
    <p:cSldViewPr snapToGrid="0">
      <p:cViewPr varScale="1">
        <p:scale>
          <a:sx n="115" d="100"/>
          <a:sy n="115" d="100"/>
        </p:scale>
        <p:origin x="708"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2018/12/16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50E00B3F-FCF3-43A8-BA3C-83E3D27FDB5E}"/>
              </a:ext>
            </a:extLst>
          </p:cNvPr>
          <p:cNvSpPr>
            <a:spLocks noGrp="1"/>
          </p:cNvSpPr>
          <p:nvPr>
            <p:ph type="dt" sz="half" idx="10"/>
          </p:nvPr>
        </p:nvSpPr>
        <p:spPr/>
        <p:txBody>
          <a:bodyPr/>
          <a:lstStyle/>
          <a:p>
            <a:fld id="{4B163CDD-1571-4D07-AD50-27DEDA2DAB08}" type="datetime1">
              <a:rPr lang="zh-TW" altLang="en-US" smtClean="0"/>
              <a:t>2018/12/16</a:t>
            </a:fld>
            <a:endParaRPr lang="zh-TW" altLang="en-US"/>
          </a:p>
        </p:txBody>
      </p:sp>
      <p:sp>
        <p:nvSpPr>
          <p:cNvPr id="5" name="頁尾版面配置區 4">
            <a:extLst>
              <a:ext uri="{FF2B5EF4-FFF2-40B4-BE49-F238E27FC236}">
                <a16:creationId xmlns:a16="http://schemas.microsoft.com/office/drawing/2014/main"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4D63DA6-083D-4C87-B46F-4639F5BADD1D}"/>
              </a:ext>
            </a:extLst>
          </p:cNvPr>
          <p:cNvSpPr>
            <a:spLocks noGrp="1"/>
          </p:cNvSpPr>
          <p:nvPr>
            <p:ph type="dt" sz="half" idx="10"/>
          </p:nvPr>
        </p:nvSpPr>
        <p:spPr/>
        <p:txBody>
          <a:bodyPr/>
          <a:lstStyle/>
          <a:p>
            <a:fld id="{45E90CF3-7BCB-4E41-A4BC-7F7C7D47433D}" type="datetime1">
              <a:rPr lang="zh-TW" altLang="en-US" smtClean="0"/>
              <a:t>2018/12/16</a:t>
            </a:fld>
            <a:endParaRPr lang="zh-TW" altLang="en-US"/>
          </a:p>
        </p:txBody>
      </p:sp>
      <p:sp>
        <p:nvSpPr>
          <p:cNvPr id="5" name="頁尾版面配置區 4">
            <a:extLst>
              <a:ext uri="{FF2B5EF4-FFF2-40B4-BE49-F238E27FC236}">
                <a16:creationId xmlns:a16="http://schemas.microsoft.com/office/drawing/2014/main"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F67C9000-9E5A-4894-8CE5-D814ED1F8837}"/>
              </a:ext>
            </a:extLst>
          </p:cNvPr>
          <p:cNvSpPr>
            <a:spLocks noGrp="1"/>
          </p:cNvSpPr>
          <p:nvPr>
            <p:ph type="dt" sz="half" idx="10"/>
          </p:nvPr>
        </p:nvSpPr>
        <p:spPr/>
        <p:txBody>
          <a:bodyPr/>
          <a:lstStyle/>
          <a:p>
            <a:fld id="{939863AD-E347-426A-B227-78A9B42781C3}" type="datetime1">
              <a:rPr lang="zh-TW" altLang="en-US" smtClean="0"/>
              <a:t>2018/12/16</a:t>
            </a:fld>
            <a:endParaRPr lang="zh-TW" altLang="en-US"/>
          </a:p>
        </p:txBody>
      </p:sp>
      <p:sp>
        <p:nvSpPr>
          <p:cNvPr id="5" name="頁尾版面配置區 4">
            <a:extLst>
              <a:ext uri="{FF2B5EF4-FFF2-40B4-BE49-F238E27FC236}">
                <a16:creationId xmlns:a16="http://schemas.microsoft.com/office/drawing/2014/main"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9E55BE4-DE58-4CB4-A138-82C7FA95E005}"/>
              </a:ext>
            </a:extLst>
          </p:cNvPr>
          <p:cNvSpPr>
            <a:spLocks noGrp="1"/>
          </p:cNvSpPr>
          <p:nvPr>
            <p:ph type="dt" sz="half" idx="10"/>
          </p:nvPr>
        </p:nvSpPr>
        <p:spPr/>
        <p:txBody>
          <a:bodyPr/>
          <a:lstStyle/>
          <a:p>
            <a:fld id="{98EE8F46-57F3-4B32-B3C0-034060244659}" type="datetime1">
              <a:rPr lang="zh-TW" altLang="en-US" smtClean="0"/>
              <a:t>2018/12/16</a:t>
            </a:fld>
            <a:endParaRPr lang="zh-TW" altLang="en-US"/>
          </a:p>
        </p:txBody>
      </p:sp>
      <p:sp>
        <p:nvSpPr>
          <p:cNvPr id="6" name="頁尾版面配置區 5">
            <a:extLst>
              <a:ext uri="{FF2B5EF4-FFF2-40B4-BE49-F238E27FC236}">
                <a16:creationId xmlns:a16="http://schemas.microsoft.com/office/drawing/2014/main"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1164490-F37E-4BF2-B792-E41261B07B22}"/>
              </a:ext>
            </a:extLst>
          </p:cNvPr>
          <p:cNvSpPr>
            <a:spLocks noGrp="1"/>
          </p:cNvSpPr>
          <p:nvPr>
            <p:ph type="dt" sz="half" idx="10"/>
          </p:nvPr>
        </p:nvSpPr>
        <p:spPr/>
        <p:txBody>
          <a:bodyPr/>
          <a:lstStyle/>
          <a:p>
            <a:fld id="{25BE6354-929A-48E4-A569-5065F8787DBB}" type="datetime1">
              <a:rPr lang="zh-TW" altLang="en-US" smtClean="0"/>
              <a:t>2018/12/16</a:t>
            </a:fld>
            <a:endParaRPr lang="zh-TW" altLang="en-US"/>
          </a:p>
        </p:txBody>
      </p:sp>
      <p:sp>
        <p:nvSpPr>
          <p:cNvPr id="8" name="頁尾版面配置區 7">
            <a:extLst>
              <a:ext uri="{FF2B5EF4-FFF2-40B4-BE49-F238E27FC236}">
                <a16:creationId xmlns:a16="http://schemas.microsoft.com/office/drawing/2014/main"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067B964-A9EE-448C-A903-DF032F75B54E}"/>
              </a:ext>
            </a:extLst>
          </p:cNvPr>
          <p:cNvSpPr>
            <a:spLocks noGrp="1"/>
          </p:cNvSpPr>
          <p:nvPr>
            <p:ph type="dt" sz="half" idx="10"/>
          </p:nvPr>
        </p:nvSpPr>
        <p:spPr/>
        <p:txBody>
          <a:bodyPr/>
          <a:lstStyle/>
          <a:p>
            <a:fld id="{9347B07A-C303-4A11-829E-75A08D84F791}" type="datetime1">
              <a:rPr lang="zh-TW" altLang="en-US" smtClean="0"/>
              <a:t>2018/12/16</a:t>
            </a:fld>
            <a:endParaRPr lang="zh-TW" altLang="en-US"/>
          </a:p>
        </p:txBody>
      </p:sp>
      <p:sp>
        <p:nvSpPr>
          <p:cNvPr id="4" name="頁尾版面配置區 3">
            <a:extLst>
              <a:ext uri="{FF2B5EF4-FFF2-40B4-BE49-F238E27FC236}">
                <a16:creationId xmlns:a16="http://schemas.microsoft.com/office/drawing/2014/main"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5DC494-3175-4D2C-8019-6DC804B304DE}"/>
              </a:ext>
            </a:extLst>
          </p:cNvPr>
          <p:cNvSpPr>
            <a:spLocks noGrp="1"/>
          </p:cNvSpPr>
          <p:nvPr>
            <p:ph type="dt" sz="half" idx="10"/>
          </p:nvPr>
        </p:nvSpPr>
        <p:spPr/>
        <p:txBody>
          <a:bodyPr/>
          <a:lstStyle/>
          <a:p>
            <a:fld id="{818C0FAA-EAB9-46FF-9B2E-6C03EFE0E627}" type="datetime1">
              <a:rPr lang="zh-TW" altLang="en-US" smtClean="0"/>
              <a:t>2018/12/16</a:t>
            </a:fld>
            <a:endParaRPr lang="zh-TW" altLang="en-US"/>
          </a:p>
        </p:txBody>
      </p:sp>
      <p:sp>
        <p:nvSpPr>
          <p:cNvPr id="3" name="頁尾版面配置區 2">
            <a:extLst>
              <a:ext uri="{FF2B5EF4-FFF2-40B4-BE49-F238E27FC236}">
                <a16:creationId xmlns:a16="http://schemas.microsoft.com/office/drawing/2014/main"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E19407D-C528-4858-9191-402D0B2E4E7A}"/>
              </a:ext>
            </a:extLst>
          </p:cNvPr>
          <p:cNvSpPr>
            <a:spLocks noGrp="1"/>
          </p:cNvSpPr>
          <p:nvPr>
            <p:ph type="dt" sz="half" idx="10"/>
          </p:nvPr>
        </p:nvSpPr>
        <p:spPr/>
        <p:txBody>
          <a:bodyPr/>
          <a:lstStyle/>
          <a:p>
            <a:fld id="{6F615960-3F62-4BA7-8DEF-58213E9FC750}" type="datetime1">
              <a:rPr lang="zh-TW" altLang="en-US" smtClean="0"/>
              <a:t>2018/12/16</a:t>
            </a:fld>
            <a:endParaRPr lang="zh-TW" altLang="en-US"/>
          </a:p>
        </p:txBody>
      </p:sp>
      <p:sp>
        <p:nvSpPr>
          <p:cNvPr id="6" name="頁尾版面配置區 5">
            <a:extLst>
              <a:ext uri="{FF2B5EF4-FFF2-40B4-BE49-F238E27FC236}">
                <a16:creationId xmlns:a16="http://schemas.microsoft.com/office/drawing/2014/main"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3917929-FFD5-45C6-AB7C-0A03F71D13FE}"/>
              </a:ext>
            </a:extLst>
          </p:cNvPr>
          <p:cNvSpPr>
            <a:spLocks noGrp="1"/>
          </p:cNvSpPr>
          <p:nvPr>
            <p:ph type="dt" sz="half" idx="10"/>
          </p:nvPr>
        </p:nvSpPr>
        <p:spPr/>
        <p:txBody>
          <a:bodyPr/>
          <a:lstStyle/>
          <a:p>
            <a:fld id="{BA495139-73A5-4D37-9F65-42DD6EFCB362}" type="datetime1">
              <a:rPr lang="zh-TW" altLang="en-US" smtClean="0"/>
              <a:t>2018/12/16</a:t>
            </a:fld>
            <a:endParaRPr lang="zh-TW" altLang="en-US"/>
          </a:p>
        </p:txBody>
      </p:sp>
      <p:sp>
        <p:nvSpPr>
          <p:cNvPr id="6" name="頁尾版面配置區 5">
            <a:extLst>
              <a:ext uri="{FF2B5EF4-FFF2-40B4-BE49-F238E27FC236}">
                <a16:creationId xmlns:a16="http://schemas.microsoft.com/office/drawing/2014/main"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F64FCF-DA26-41B4-8919-89C752F28E4F}"/>
              </a:ext>
            </a:extLst>
          </p:cNvPr>
          <p:cNvSpPr>
            <a:spLocks noGrp="1"/>
          </p:cNvSpPr>
          <p:nvPr>
            <p:ph type="dt" sz="half" idx="10"/>
          </p:nvPr>
        </p:nvSpPr>
        <p:spPr/>
        <p:txBody>
          <a:bodyPr/>
          <a:lstStyle/>
          <a:p>
            <a:fld id="{F65DB9CA-F34A-4005-B66B-4638821FBB36}" type="datetime1">
              <a:rPr lang="zh-TW" altLang="en-US" smtClean="0"/>
              <a:t>2018/12/16</a:t>
            </a:fld>
            <a:endParaRPr lang="zh-TW" altLang="en-US"/>
          </a:p>
        </p:txBody>
      </p:sp>
      <p:sp>
        <p:nvSpPr>
          <p:cNvPr id="5" name="頁尾版面配置區 4">
            <a:extLst>
              <a:ext uri="{FF2B5EF4-FFF2-40B4-BE49-F238E27FC236}">
                <a16:creationId xmlns:a16="http://schemas.microsoft.com/office/drawing/2014/main"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53E183-339D-4996-9336-DF360AFA83CE}"/>
              </a:ext>
            </a:extLst>
          </p:cNvPr>
          <p:cNvSpPr>
            <a:spLocks noGrp="1"/>
          </p:cNvSpPr>
          <p:nvPr>
            <p:ph type="dt" sz="half" idx="10"/>
          </p:nvPr>
        </p:nvSpPr>
        <p:spPr/>
        <p:txBody>
          <a:bodyPr/>
          <a:lstStyle/>
          <a:p>
            <a:fld id="{9112FA3D-57A8-4A36-8AB7-98D4B7F81A6B}" type="datetime1">
              <a:rPr lang="zh-TW" altLang="en-US" smtClean="0"/>
              <a:t>2018/12/16</a:t>
            </a:fld>
            <a:endParaRPr lang="zh-TW" altLang="en-US"/>
          </a:p>
        </p:txBody>
      </p:sp>
      <p:sp>
        <p:nvSpPr>
          <p:cNvPr id="5" name="頁尾版面配置區 4">
            <a:extLst>
              <a:ext uri="{FF2B5EF4-FFF2-40B4-BE49-F238E27FC236}">
                <a16:creationId xmlns:a16="http://schemas.microsoft.com/office/drawing/2014/main"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2018/12/16</a:t>
            </a:fld>
            <a:endParaRPr lang="zh-TW" altLang="en-US"/>
          </a:p>
        </p:txBody>
      </p:sp>
      <p:sp>
        <p:nvSpPr>
          <p:cNvPr id="5" name="頁尾版面配置區 4">
            <a:extLst>
              <a:ext uri="{FF2B5EF4-FFF2-40B4-BE49-F238E27FC236}">
                <a16:creationId xmlns:a16="http://schemas.microsoft.com/office/drawing/2014/main"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ogle.com/maps/place/%E8%A5%BF%E7%8F%AD%E7%89%99%E5%B7%B4%E5%A1%9E%E9%9A%86%E7%B4%8D%E5%B7%B4%E5%A1%9E%E9%9A%86%E6%8B%BF/@41.3947688,2.0787284,12z/data=!3m1!4b1!4m5!3m4!1s0x12a49816718e30e5:0x44b0fb3d4f47660a!8m2!3d41.3850639!4d2.1734035"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cs.ucr.edu/~eamonn/time_series_data_2018/"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600E22-8B2D-44A2-B529-2D5C521DF6EC}"/>
              </a:ext>
            </a:extLst>
          </p:cNvPr>
          <p:cNvSpPr>
            <a:spLocks noGrp="1"/>
          </p:cNvSpPr>
          <p:nvPr>
            <p:ph type="ctrTitle"/>
          </p:nvPr>
        </p:nvSpPr>
        <p:spPr>
          <a:xfrm>
            <a:off x="640553" y="566680"/>
            <a:ext cx="10910887" cy="1356957"/>
          </a:xfrm>
        </p:spPr>
        <p:txBody>
          <a:bodyPr>
            <a:noAutofit/>
          </a:bodyPr>
          <a:lstStyle/>
          <a:p>
            <a:r>
              <a:rPr lang="en-US" altLang="zh-TW" sz="4000" b="0" dirty="0"/>
              <a:t>Prefix and Suffix Invariant Dynamic Time Warping</a:t>
            </a:r>
            <a:endParaRPr lang="zh-TW" altLang="en-US" sz="4000" dirty="0">
              <a:latin typeface="Tw Cen MT" panose="020B0602020104020603" pitchFamily="34" charset="0"/>
              <a:cs typeface="Times New Roman" panose="02020603050405020304" pitchFamily="18" charset="0"/>
            </a:endParaRPr>
          </a:p>
        </p:txBody>
      </p:sp>
      <p:sp>
        <p:nvSpPr>
          <p:cNvPr id="3" name="副標題 2">
            <a:extLst>
              <a:ext uri="{FF2B5EF4-FFF2-40B4-BE49-F238E27FC236}">
                <a16:creationId xmlns:a16="http://schemas.microsoft.com/office/drawing/2014/main" id="{E1F7DB53-5192-4070-9ADE-B5C85E35C2CC}"/>
              </a:ext>
            </a:extLst>
          </p:cNvPr>
          <p:cNvSpPr>
            <a:spLocks noGrp="1"/>
          </p:cNvSpPr>
          <p:nvPr>
            <p:ph type="subTitle" idx="1"/>
          </p:nvPr>
        </p:nvSpPr>
        <p:spPr>
          <a:xfrm>
            <a:off x="383332" y="2810596"/>
            <a:ext cx="11425330" cy="489557"/>
          </a:xfrm>
        </p:spPr>
        <p:txBody>
          <a:bodyPr>
            <a:noAutofit/>
          </a:bodyPr>
          <a:lstStyle/>
          <a:p>
            <a:r>
              <a:rPr lang="en-US" altLang="zh-TW" dirty="0"/>
              <a:t> </a:t>
            </a:r>
            <a:r>
              <a:rPr lang="pt-BR" altLang="zh-TW" dirty="0"/>
              <a:t>Diego F. Silva, Gustavo E. A. P. A. Batista and </a:t>
            </a:r>
            <a:r>
              <a:rPr lang="en-US" altLang="zh-TW" dirty="0"/>
              <a:t>Eamonn Keogh</a:t>
            </a:r>
            <a:br>
              <a:rPr lang="en-US" altLang="zh-TW" dirty="0"/>
            </a:br>
            <a:endParaRPr lang="zh-TW" altLang="en-US" sz="2600" dirty="0"/>
          </a:p>
        </p:txBody>
      </p:sp>
      <p:sp>
        <p:nvSpPr>
          <p:cNvPr id="4" name="投影片編號版面配置區 3">
            <a:extLst>
              <a:ext uri="{FF2B5EF4-FFF2-40B4-BE49-F238E27FC236}">
                <a16:creationId xmlns:a16="http://schemas.microsoft.com/office/drawing/2014/main"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id="{CC60B4B8-BDE3-427A-B56B-7314F1C4CCA4}"/>
              </a:ext>
            </a:extLst>
          </p:cNvPr>
          <p:cNvSpPr txBox="1">
            <a:spLocks/>
          </p:cNvSpPr>
          <p:nvPr/>
        </p:nvSpPr>
        <p:spPr>
          <a:xfrm>
            <a:off x="526943" y="3895907"/>
            <a:ext cx="11138108"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b="1" dirty="0">
                <a:solidFill>
                  <a:schemeClr val="tx1"/>
                </a:solidFill>
              </a:rPr>
              <a:t>Proceeding of IEEE 16th International Conference on Data Mining </a:t>
            </a:r>
          </a:p>
          <a:p>
            <a:r>
              <a:rPr lang="en-US" altLang="zh-TW" sz="2800" b="1" dirty="0">
                <a:solidFill>
                  <a:schemeClr val="tx1"/>
                </a:solidFill>
              </a:rPr>
              <a:t>Barcelona, Spain, 12-15 Dec. 2016</a:t>
            </a:r>
          </a:p>
        </p:txBody>
      </p:sp>
      <p:sp>
        <p:nvSpPr>
          <p:cNvPr id="6" name="副標題 2">
            <a:extLst>
              <a:ext uri="{FF2B5EF4-FFF2-40B4-BE49-F238E27FC236}">
                <a16:creationId xmlns:a16="http://schemas.microsoft.com/office/drawing/2014/main"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dirty="0">
                <a:solidFill>
                  <a:schemeClr val="tx1"/>
                </a:solidFill>
              </a:rPr>
              <a:t>Presenter: Shan-Ru Liu</a:t>
            </a:r>
          </a:p>
          <a:p>
            <a:r>
              <a:rPr lang="en-US" altLang="zh-TW" sz="2800" dirty="0">
                <a:solidFill>
                  <a:schemeClr val="tx1"/>
                </a:solidFill>
              </a:rPr>
              <a:t>Date: 2018/12/17</a:t>
            </a:r>
            <a:endParaRPr lang="zh-TW" altLang="en-US" sz="2800" dirty="0">
              <a:solidFill>
                <a:schemeClr val="tx1"/>
              </a:solidFill>
            </a:endParaRPr>
          </a:p>
        </p:txBody>
      </p:sp>
      <p:sp>
        <p:nvSpPr>
          <p:cNvPr id="8" name="橢圓 7">
            <a:hlinkClick r:id="rId3"/>
            <a:extLst>
              <a:ext uri="{FF2B5EF4-FFF2-40B4-BE49-F238E27FC236}">
                <a16:creationId xmlns:a16="http://schemas.microsoft.com/office/drawing/2014/main" id="{2EA4BE75-5BC8-4AFC-A382-BCF3577013D9}"/>
              </a:ext>
            </a:extLst>
          </p:cNvPr>
          <p:cNvSpPr/>
          <p:nvPr/>
        </p:nvSpPr>
        <p:spPr>
          <a:xfrm>
            <a:off x="383332" y="6242858"/>
            <a:ext cx="389752" cy="38975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a:hlinkClick r:id="rId4"/>
            <a:extLst>
              <a:ext uri="{FF2B5EF4-FFF2-40B4-BE49-F238E27FC236}">
                <a16:creationId xmlns:a16="http://schemas.microsoft.com/office/drawing/2014/main" id="{FE4E4DCF-74DE-4D33-B6EF-B5874B82F063}"/>
              </a:ext>
            </a:extLst>
          </p:cNvPr>
          <p:cNvSpPr/>
          <p:nvPr/>
        </p:nvSpPr>
        <p:spPr>
          <a:xfrm>
            <a:off x="899356" y="6242858"/>
            <a:ext cx="389752" cy="389752"/>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E4FEA-D504-4984-8169-77A8B62C8DAA}"/>
              </a:ext>
            </a:extLst>
          </p:cNvPr>
          <p:cNvSpPr>
            <a:spLocks noGrp="1"/>
          </p:cNvSpPr>
          <p:nvPr>
            <p:ph type="title"/>
          </p:nvPr>
        </p:nvSpPr>
        <p:spPr/>
        <p:txBody>
          <a:bodyPr/>
          <a:lstStyle/>
          <a:p>
            <a:r>
              <a:rPr lang="en-US" altLang="zh-TW" dirty="0"/>
              <a:t>Abstract</a:t>
            </a:r>
            <a:r>
              <a:rPr lang="zh-TW" altLang="en-US" dirty="0"/>
              <a:t> </a:t>
            </a:r>
            <a:r>
              <a:rPr lang="en-US" altLang="zh-TW" dirty="0"/>
              <a:t>(1/3)</a:t>
            </a:r>
            <a:endParaRPr lang="zh-TW" altLang="en-US" dirty="0"/>
          </a:p>
        </p:txBody>
      </p:sp>
      <p:sp>
        <p:nvSpPr>
          <p:cNvPr id="3" name="內容版面配置區 2">
            <a:extLst>
              <a:ext uri="{FF2B5EF4-FFF2-40B4-BE49-F238E27FC236}">
                <a16:creationId xmlns:a16="http://schemas.microsoft.com/office/drawing/2014/main" id="{48A7BC5F-5DB6-4B6E-A263-D2C31A7AB884}"/>
              </a:ext>
            </a:extLst>
          </p:cNvPr>
          <p:cNvSpPr>
            <a:spLocks noGrp="1"/>
          </p:cNvSpPr>
          <p:nvPr>
            <p:ph idx="1"/>
          </p:nvPr>
        </p:nvSpPr>
        <p:spPr>
          <a:xfrm>
            <a:off x="838200" y="1568950"/>
            <a:ext cx="10109886" cy="4446839"/>
          </a:xfrm>
        </p:spPr>
        <p:txBody>
          <a:bodyPr>
            <a:noAutofit/>
          </a:bodyPr>
          <a:lstStyle/>
          <a:p>
            <a:pPr marL="0" indent="0" algn="just">
              <a:buNone/>
            </a:pPr>
            <a:r>
              <a:rPr lang="en-US" altLang="zh-TW" dirty="0"/>
              <a:t>While there exist a plethora of classification algorithms for most data types, there is an increasing acceptance that the unique properties of time series mean that the combination of nearest neighbor classifiers and Dynamic Time Warping (DTW) is very competitive across a host of domains, from medicine to astronomy to environmental sensors. While there has been significant progress in improving the efficiency and effectiveness of DTW in recent years, in this work we demonstrate that an underappreciated issue can significantly degrade the accuracy of DTW in real-world deployments. </a:t>
            </a:r>
            <a:endParaRPr lang="zh-TW" altLang="en-US" dirty="0"/>
          </a:p>
        </p:txBody>
      </p:sp>
      <p:sp>
        <p:nvSpPr>
          <p:cNvPr id="4" name="投影片編號版面配置區 3">
            <a:extLst>
              <a:ext uri="{FF2B5EF4-FFF2-40B4-BE49-F238E27FC236}">
                <a16:creationId xmlns:a16="http://schemas.microsoft.com/office/drawing/2014/main" id="{8A8B9C12-508D-4AC0-A402-645B6EC72699}"/>
              </a:ext>
            </a:extLst>
          </p:cNvPr>
          <p:cNvSpPr>
            <a:spLocks noGrp="1"/>
          </p:cNvSpPr>
          <p:nvPr>
            <p:ph type="sldNum" sz="quarter" idx="12"/>
          </p:nvPr>
        </p:nvSpPr>
        <p:spPr/>
        <p:txBody>
          <a:bodyPr/>
          <a:lstStyle/>
          <a:p>
            <a:fld id="{8DCCD063-7F18-423D-A692-CC9D343FD360}" type="slidenum">
              <a:rPr lang="zh-TW" altLang="en-US" smtClean="0"/>
              <a:t>2</a:t>
            </a:fld>
            <a:endParaRPr lang="zh-TW" altLang="en-US"/>
          </a:p>
        </p:txBody>
      </p:sp>
    </p:spTree>
    <p:extLst>
      <p:ext uri="{BB962C8B-B14F-4D97-AF65-F5344CB8AC3E}">
        <p14:creationId xmlns:p14="http://schemas.microsoft.com/office/powerpoint/2010/main" val="1679220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E4FEA-D504-4984-8169-77A8B62C8DAA}"/>
              </a:ext>
            </a:extLst>
          </p:cNvPr>
          <p:cNvSpPr>
            <a:spLocks noGrp="1"/>
          </p:cNvSpPr>
          <p:nvPr>
            <p:ph type="title"/>
          </p:nvPr>
        </p:nvSpPr>
        <p:spPr/>
        <p:txBody>
          <a:bodyPr/>
          <a:lstStyle/>
          <a:p>
            <a:r>
              <a:rPr lang="en-US" altLang="zh-TW" dirty="0"/>
              <a:t>Abstract</a:t>
            </a:r>
            <a:r>
              <a:rPr lang="zh-TW" altLang="en-US" dirty="0"/>
              <a:t> </a:t>
            </a:r>
            <a:r>
              <a:rPr lang="en-US" altLang="zh-TW" dirty="0"/>
              <a:t>(2/3)</a:t>
            </a:r>
            <a:endParaRPr lang="zh-TW" altLang="en-US" dirty="0"/>
          </a:p>
        </p:txBody>
      </p:sp>
      <p:sp>
        <p:nvSpPr>
          <p:cNvPr id="3" name="內容版面配置區 2">
            <a:extLst>
              <a:ext uri="{FF2B5EF4-FFF2-40B4-BE49-F238E27FC236}">
                <a16:creationId xmlns:a16="http://schemas.microsoft.com/office/drawing/2014/main" id="{48A7BC5F-5DB6-4B6E-A263-D2C31A7AB884}"/>
              </a:ext>
            </a:extLst>
          </p:cNvPr>
          <p:cNvSpPr>
            <a:spLocks noGrp="1"/>
          </p:cNvSpPr>
          <p:nvPr>
            <p:ph idx="1"/>
          </p:nvPr>
        </p:nvSpPr>
        <p:spPr>
          <a:xfrm>
            <a:off x="838200" y="1568950"/>
            <a:ext cx="10011032" cy="4446839"/>
          </a:xfrm>
        </p:spPr>
        <p:txBody>
          <a:bodyPr>
            <a:noAutofit/>
          </a:bodyPr>
          <a:lstStyle/>
          <a:p>
            <a:pPr marL="0" indent="0" algn="just">
              <a:buNone/>
            </a:pPr>
            <a:r>
              <a:rPr lang="en-US" altLang="zh-TW" dirty="0"/>
              <a:t>This issue has probably escaped the attention of the very active time series research community because of its reliance on static highly contrived benchmark datasets, rather than real world dynamic datasets where the problem tends to manifest itself. In essence, the issue is that DTW's eponymous invariance to warping is only true for the main "body" of the two time series being compared. However, for the "head" and "tail" of the time series, the DTW algorithm affords no warping invariance. The effect of this is that tiny differences at the beginning or end of the time series (which may be either consequential or simply the result of poor "cropping") will tend to contribute disproportionally to the estimated similarity, producing incorrect classifications. </a:t>
            </a:r>
            <a:endParaRPr lang="zh-TW" altLang="en-US" dirty="0"/>
          </a:p>
        </p:txBody>
      </p:sp>
      <p:sp>
        <p:nvSpPr>
          <p:cNvPr id="4" name="投影片編號版面配置區 3">
            <a:extLst>
              <a:ext uri="{FF2B5EF4-FFF2-40B4-BE49-F238E27FC236}">
                <a16:creationId xmlns:a16="http://schemas.microsoft.com/office/drawing/2014/main" id="{8A8B9C12-508D-4AC0-A402-645B6EC72699}"/>
              </a:ext>
            </a:extLst>
          </p:cNvPr>
          <p:cNvSpPr>
            <a:spLocks noGrp="1"/>
          </p:cNvSpPr>
          <p:nvPr>
            <p:ph type="sldNum" sz="quarter" idx="12"/>
          </p:nvPr>
        </p:nvSpPr>
        <p:spPr/>
        <p:txBody>
          <a:bodyPr/>
          <a:lstStyle/>
          <a:p>
            <a:fld id="{8DCCD063-7F18-423D-A692-CC9D343FD360}" type="slidenum">
              <a:rPr lang="zh-TW" altLang="en-US" smtClean="0"/>
              <a:t>3</a:t>
            </a:fld>
            <a:endParaRPr lang="zh-TW" altLang="en-US"/>
          </a:p>
        </p:txBody>
      </p:sp>
    </p:spTree>
    <p:extLst>
      <p:ext uri="{BB962C8B-B14F-4D97-AF65-F5344CB8AC3E}">
        <p14:creationId xmlns:p14="http://schemas.microsoft.com/office/powerpoint/2010/main" val="4194765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E4FEA-D504-4984-8169-77A8B62C8DAA}"/>
              </a:ext>
            </a:extLst>
          </p:cNvPr>
          <p:cNvSpPr>
            <a:spLocks noGrp="1"/>
          </p:cNvSpPr>
          <p:nvPr>
            <p:ph type="title"/>
          </p:nvPr>
        </p:nvSpPr>
        <p:spPr/>
        <p:txBody>
          <a:bodyPr/>
          <a:lstStyle/>
          <a:p>
            <a:r>
              <a:rPr lang="en-US" altLang="zh-TW" dirty="0"/>
              <a:t>Abstract</a:t>
            </a:r>
            <a:r>
              <a:rPr lang="zh-TW" altLang="en-US" dirty="0"/>
              <a:t> </a:t>
            </a:r>
            <a:r>
              <a:rPr lang="en-US" altLang="zh-TW" dirty="0"/>
              <a:t>(3/3)</a:t>
            </a:r>
            <a:endParaRPr lang="zh-TW" altLang="en-US" dirty="0"/>
          </a:p>
        </p:txBody>
      </p:sp>
      <p:sp>
        <p:nvSpPr>
          <p:cNvPr id="3" name="內容版面配置區 2">
            <a:extLst>
              <a:ext uri="{FF2B5EF4-FFF2-40B4-BE49-F238E27FC236}">
                <a16:creationId xmlns:a16="http://schemas.microsoft.com/office/drawing/2014/main" id="{48A7BC5F-5DB6-4B6E-A263-D2C31A7AB884}"/>
              </a:ext>
            </a:extLst>
          </p:cNvPr>
          <p:cNvSpPr>
            <a:spLocks noGrp="1"/>
          </p:cNvSpPr>
          <p:nvPr>
            <p:ph idx="1"/>
          </p:nvPr>
        </p:nvSpPr>
        <p:spPr>
          <a:xfrm>
            <a:off x="838200" y="1568950"/>
            <a:ext cx="10011032" cy="4446839"/>
          </a:xfrm>
        </p:spPr>
        <p:txBody>
          <a:bodyPr>
            <a:noAutofit/>
          </a:bodyPr>
          <a:lstStyle/>
          <a:p>
            <a:pPr marL="0" indent="0" algn="just">
              <a:buNone/>
            </a:pPr>
            <a:r>
              <a:rPr lang="en-US" altLang="zh-TW" dirty="0"/>
              <a:t>In this work, we show that this effect is real, and reduces the performance of the algorithm. We further show that we can fix the issue with a subtle redesign of the DTW algorithm, and that we can learn an appropriate setting for the extra parameter we introduced. We further demonstrate that our generalization is amiable to all the optimizations that make DTW tractable for large datasets.</a:t>
            </a:r>
            <a:endParaRPr lang="zh-TW" altLang="en-US" dirty="0"/>
          </a:p>
        </p:txBody>
      </p:sp>
      <p:sp>
        <p:nvSpPr>
          <p:cNvPr id="4" name="投影片編號版面配置區 3">
            <a:extLst>
              <a:ext uri="{FF2B5EF4-FFF2-40B4-BE49-F238E27FC236}">
                <a16:creationId xmlns:a16="http://schemas.microsoft.com/office/drawing/2014/main" id="{8A8B9C12-508D-4AC0-A402-645B6EC72699}"/>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p:spTree>
    <p:extLst>
      <p:ext uri="{BB962C8B-B14F-4D97-AF65-F5344CB8AC3E}">
        <p14:creationId xmlns:p14="http://schemas.microsoft.com/office/powerpoint/2010/main" val="4201984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F8CCA6-515B-4B0B-9341-16191EC799BA}"/>
              </a:ext>
            </a:extLst>
          </p:cNvPr>
          <p:cNvSpPr>
            <a:spLocks noGrp="1"/>
          </p:cNvSpPr>
          <p:nvPr>
            <p:ph type="title"/>
          </p:nvPr>
        </p:nvSpPr>
        <p:spPr/>
        <p:txBody>
          <a:bodyPr/>
          <a:lstStyle/>
          <a:p>
            <a:r>
              <a:rPr lang="en-US" altLang="zh-TW" dirty="0"/>
              <a:t>Motivation</a:t>
            </a:r>
            <a:endParaRPr lang="zh-TW" altLang="en-US" dirty="0"/>
          </a:p>
        </p:txBody>
      </p:sp>
      <p:pic>
        <p:nvPicPr>
          <p:cNvPr id="5" name="內容版面配置區 4">
            <a:extLst>
              <a:ext uri="{FF2B5EF4-FFF2-40B4-BE49-F238E27FC236}">
                <a16:creationId xmlns:a16="http://schemas.microsoft.com/office/drawing/2014/main" id="{E3B9993B-5E48-40C3-B185-16F42A6B1D08}"/>
              </a:ext>
            </a:extLst>
          </p:cNvPr>
          <p:cNvPicPr>
            <a:picLocks noGrp="1" noChangeAspect="1"/>
          </p:cNvPicPr>
          <p:nvPr>
            <p:ph idx="1"/>
          </p:nvPr>
        </p:nvPicPr>
        <p:blipFill>
          <a:blip r:embed="rId2"/>
          <a:stretch>
            <a:fillRect/>
          </a:stretch>
        </p:blipFill>
        <p:spPr>
          <a:xfrm>
            <a:off x="1516502" y="1825625"/>
            <a:ext cx="9158996" cy="4351338"/>
          </a:xfrm>
          <a:prstGeom prst="rect">
            <a:avLst/>
          </a:prstGeom>
        </p:spPr>
      </p:pic>
      <p:sp>
        <p:nvSpPr>
          <p:cNvPr id="4" name="投影片編號版面配置區 3">
            <a:extLst>
              <a:ext uri="{FF2B5EF4-FFF2-40B4-BE49-F238E27FC236}">
                <a16:creationId xmlns:a16="http://schemas.microsoft.com/office/drawing/2014/main" id="{32605D95-6587-4E94-B334-C75F22C046C8}"/>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p:spTree>
    <p:extLst>
      <p:ext uri="{BB962C8B-B14F-4D97-AF65-F5344CB8AC3E}">
        <p14:creationId xmlns:p14="http://schemas.microsoft.com/office/powerpoint/2010/main" val="3653597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9EBDAC-34E8-429D-91B8-1C01A5176DFC}"/>
              </a:ext>
            </a:extLst>
          </p:cNvPr>
          <p:cNvSpPr>
            <a:spLocks noGrp="1"/>
          </p:cNvSpPr>
          <p:nvPr>
            <p:ph type="title"/>
          </p:nvPr>
        </p:nvSpPr>
        <p:spPr/>
        <p:txBody>
          <a:bodyPr/>
          <a:lstStyle/>
          <a:p>
            <a:r>
              <a:rPr lang="en-US" altLang="zh-TW" dirty="0"/>
              <a:t>Time Series Prefix and Suffix</a:t>
            </a:r>
            <a:endParaRPr lang="zh-TW" altLang="en-US" dirty="0"/>
          </a:p>
        </p:txBody>
      </p:sp>
      <p:pic>
        <p:nvPicPr>
          <p:cNvPr id="5" name="內容版面配置區 4">
            <a:extLst>
              <a:ext uri="{FF2B5EF4-FFF2-40B4-BE49-F238E27FC236}">
                <a16:creationId xmlns:a16="http://schemas.microsoft.com/office/drawing/2014/main" id="{BEA6D652-8276-48CE-9953-C01D8E92813D}"/>
              </a:ext>
            </a:extLst>
          </p:cNvPr>
          <p:cNvPicPr>
            <a:picLocks noGrp="1" noChangeAspect="1"/>
          </p:cNvPicPr>
          <p:nvPr>
            <p:ph idx="1"/>
          </p:nvPr>
        </p:nvPicPr>
        <p:blipFill>
          <a:blip r:embed="rId2"/>
          <a:stretch>
            <a:fillRect/>
          </a:stretch>
        </p:blipFill>
        <p:spPr>
          <a:xfrm>
            <a:off x="419564" y="2894257"/>
            <a:ext cx="11352872" cy="2258528"/>
          </a:xfrm>
          <a:prstGeom prst="rect">
            <a:avLst/>
          </a:prstGeom>
        </p:spPr>
      </p:pic>
      <p:sp>
        <p:nvSpPr>
          <p:cNvPr id="4" name="投影片編號版面配置區 3">
            <a:extLst>
              <a:ext uri="{FF2B5EF4-FFF2-40B4-BE49-F238E27FC236}">
                <a16:creationId xmlns:a16="http://schemas.microsoft.com/office/drawing/2014/main" id="{EC1A3A3F-90C3-4785-9689-A914843B8334}"/>
              </a:ext>
            </a:extLst>
          </p:cNvPr>
          <p:cNvSpPr>
            <a:spLocks noGrp="1"/>
          </p:cNvSpPr>
          <p:nvPr>
            <p:ph type="sldNum" sz="quarter" idx="12"/>
          </p:nvPr>
        </p:nvSpPr>
        <p:spPr/>
        <p:txBody>
          <a:bodyPr/>
          <a:lstStyle/>
          <a:p>
            <a:fld id="{8DCCD063-7F18-423D-A692-CC9D343FD360}" type="slidenum">
              <a:rPr lang="zh-TW" altLang="en-US" smtClean="0"/>
              <a:t>6</a:t>
            </a:fld>
            <a:endParaRPr lang="zh-TW" altLang="en-US"/>
          </a:p>
        </p:txBody>
      </p:sp>
    </p:spTree>
    <p:extLst>
      <p:ext uri="{BB962C8B-B14F-4D97-AF65-F5344CB8AC3E}">
        <p14:creationId xmlns:p14="http://schemas.microsoft.com/office/powerpoint/2010/main" val="3218321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D4439D-DDAF-40DD-A3FB-FFC27601D261}"/>
              </a:ext>
            </a:extLst>
          </p:cNvPr>
          <p:cNvSpPr>
            <a:spLocks noGrp="1"/>
          </p:cNvSpPr>
          <p:nvPr>
            <p:ph type="title"/>
          </p:nvPr>
        </p:nvSpPr>
        <p:spPr>
          <a:xfrm>
            <a:off x="838200" y="365127"/>
            <a:ext cx="10515600" cy="1325563"/>
          </a:xfrm>
        </p:spPr>
        <p:txBody>
          <a:bodyPr/>
          <a:lstStyle/>
          <a:p>
            <a:r>
              <a:rPr lang="en-US" altLang="zh-TW" dirty="0"/>
              <a:t>Open-End DTW (OE-DTW) (1/2)</a:t>
            </a:r>
            <a:endParaRPr lang="zh-TW" altLang="en-US" dirty="0"/>
          </a:p>
        </p:txBody>
      </p:sp>
      <p:pic>
        <p:nvPicPr>
          <p:cNvPr id="5" name="內容版面配置區 4">
            <a:extLst>
              <a:ext uri="{FF2B5EF4-FFF2-40B4-BE49-F238E27FC236}">
                <a16:creationId xmlns:a16="http://schemas.microsoft.com/office/drawing/2014/main" id="{9ECBBDD4-4CA6-4098-99A8-BB7E4EE5D3EB}"/>
              </a:ext>
            </a:extLst>
          </p:cNvPr>
          <p:cNvPicPr>
            <a:picLocks noGrp="1" noChangeAspect="1"/>
          </p:cNvPicPr>
          <p:nvPr>
            <p:ph idx="1"/>
          </p:nvPr>
        </p:nvPicPr>
        <p:blipFill>
          <a:blip r:embed="rId2"/>
          <a:stretch>
            <a:fillRect/>
          </a:stretch>
        </p:blipFill>
        <p:spPr>
          <a:xfrm>
            <a:off x="838200" y="1558288"/>
            <a:ext cx="6581616" cy="4934585"/>
          </a:xfrm>
          <a:prstGeom prst="rect">
            <a:avLst/>
          </a:prstGeom>
        </p:spPr>
      </p:pic>
      <p:sp>
        <p:nvSpPr>
          <p:cNvPr id="4" name="投影片編號版面配置區 3">
            <a:extLst>
              <a:ext uri="{FF2B5EF4-FFF2-40B4-BE49-F238E27FC236}">
                <a16:creationId xmlns:a16="http://schemas.microsoft.com/office/drawing/2014/main" id="{713C01C8-DD44-4541-98E3-B6DAB03E6156}"/>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p:pic>
        <p:nvPicPr>
          <p:cNvPr id="6" name="圖片 5">
            <a:extLst>
              <a:ext uri="{FF2B5EF4-FFF2-40B4-BE49-F238E27FC236}">
                <a16:creationId xmlns:a16="http://schemas.microsoft.com/office/drawing/2014/main" id="{43504C1A-3FA8-4086-AE59-09B64DECF149}"/>
              </a:ext>
            </a:extLst>
          </p:cNvPr>
          <p:cNvPicPr>
            <a:picLocks noChangeAspect="1"/>
          </p:cNvPicPr>
          <p:nvPr/>
        </p:nvPicPr>
        <p:blipFill>
          <a:blip r:embed="rId3"/>
          <a:stretch>
            <a:fillRect/>
          </a:stretch>
        </p:blipFill>
        <p:spPr>
          <a:xfrm>
            <a:off x="7148945" y="1852999"/>
            <a:ext cx="4884853" cy="682139"/>
          </a:xfrm>
          <a:prstGeom prst="rect">
            <a:avLst/>
          </a:prstGeom>
        </p:spPr>
      </p:pic>
    </p:spTree>
    <p:extLst>
      <p:ext uri="{BB962C8B-B14F-4D97-AF65-F5344CB8AC3E}">
        <p14:creationId xmlns:p14="http://schemas.microsoft.com/office/powerpoint/2010/main" val="2080196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3C0B90-4B7F-4256-850F-510CC47856B2}"/>
              </a:ext>
            </a:extLst>
          </p:cNvPr>
          <p:cNvSpPr>
            <a:spLocks noGrp="1"/>
          </p:cNvSpPr>
          <p:nvPr>
            <p:ph type="title"/>
          </p:nvPr>
        </p:nvSpPr>
        <p:spPr/>
        <p:txBody>
          <a:bodyPr/>
          <a:lstStyle/>
          <a:p>
            <a:r>
              <a:rPr lang="en-US" altLang="zh-TW" dirty="0"/>
              <a:t>Open-End DTW (OE-DTW) (2/2)</a:t>
            </a:r>
            <a:endParaRPr lang="zh-TW" altLang="en-US" dirty="0"/>
          </a:p>
        </p:txBody>
      </p:sp>
      <p:pic>
        <p:nvPicPr>
          <p:cNvPr id="5" name="內容版面配置區 4">
            <a:extLst>
              <a:ext uri="{FF2B5EF4-FFF2-40B4-BE49-F238E27FC236}">
                <a16:creationId xmlns:a16="http://schemas.microsoft.com/office/drawing/2014/main" id="{B6FFB840-E154-4722-92C0-9AD5040E0019}"/>
              </a:ext>
            </a:extLst>
          </p:cNvPr>
          <p:cNvPicPr>
            <a:picLocks noGrp="1" noChangeAspect="1"/>
          </p:cNvPicPr>
          <p:nvPr>
            <p:ph idx="1"/>
          </p:nvPr>
        </p:nvPicPr>
        <p:blipFill>
          <a:blip r:embed="rId2"/>
          <a:stretch>
            <a:fillRect/>
          </a:stretch>
        </p:blipFill>
        <p:spPr>
          <a:xfrm>
            <a:off x="1827677" y="1801641"/>
            <a:ext cx="8536646" cy="4864838"/>
          </a:xfrm>
          <a:prstGeom prst="rect">
            <a:avLst/>
          </a:prstGeom>
        </p:spPr>
      </p:pic>
      <p:sp>
        <p:nvSpPr>
          <p:cNvPr id="4" name="投影片編號版面配置區 3">
            <a:extLst>
              <a:ext uri="{FF2B5EF4-FFF2-40B4-BE49-F238E27FC236}">
                <a16:creationId xmlns:a16="http://schemas.microsoft.com/office/drawing/2014/main" id="{3639E20E-F105-4A04-9AAE-DEBBE494E464}"/>
              </a:ext>
            </a:extLst>
          </p:cNvPr>
          <p:cNvSpPr>
            <a:spLocks noGrp="1"/>
          </p:cNvSpPr>
          <p:nvPr>
            <p:ph type="sldNum" sz="quarter" idx="12"/>
          </p:nvPr>
        </p:nvSpPr>
        <p:spPr/>
        <p:txBody>
          <a:bodyPr/>
          <a:lstStyle/>
          <a:p>
            <a:fld id="{8DCCD063-7F18-423D-A692-CC9D343FD360}" type="slidenum">
              <a:rPr lang="zh-TW" altLang="en-US" smtClean="0"/>
              <a:t>8</a:t>
            </a:fld>
            <a:endParaRPr lang="zh-TW" altLang="en-US"/>
          </a:p>
        </p:txBody>
      </p:sp>
    </p:spTree>
    <p:extLst>
      <p:ext uri="{BB962C8B-B14F-4D97-AF65-F5344CB8AC3E}">
        <p14:creationId xmlns:p14="http://schemas.microsoft.com/office/powerpoint/2010/main" val="2143298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8C35DB-65EA-4173-BA84-FA52C568CF57}"/>
              </a:ext>
            </a:extLst>
          </p:cNvPr>
          <p:cNvSpPr>
            <a:spLocks noGrp="1"/>
          </p:cNvSpPr>
          <p:nvPr>
            <p:ph type="title"/>
          </p:nvPr>
        </p:nvSpPr>
        <p:spPr/>
        <p:txBody>
          <a:bodyPr/>
          <a:lstStyle/>
          <a:p>
            <a:r>
              <a:rPr lang="el-GR" altLang="zh-TW" dirty="0"/>
              <a:t>Ψ</a:t>
            </a:r>
            <a:r>
              <a:rPr lang="en-US" altLang="zh-TW" dirty="0"/>
              <a:t>(PSI)</a:t>
            </a:r>
            <a:r>
              <a:rPr lang="el-GR" altLang="zh-TW" dirty="0"/>
              <a:t>-</a:t>
            </a:r>
            <a:r>
              <a:rPr lang="en-US" altLang="zh-TW" dirty="0"/>
              <a:t>DTW</a:t>
            </a:r>
            <a:r>
              <a:rPr lang="zh-TW" altLang="en-US" dirty="0"/>
              <a:t> </a:t>
            </a:r>
            <a:r>
              <a:rPr lang="en-US" altLang="zh-TW" dirty="0"/>
              <a:t>(1/2)</a:t>
            </a:r>
            <a:endParaRPr lang="zh-TW" altLang="en-US" dirty="0"/>
          </a:p>
        </p:txBody>
      </p:sp>
      <p:pic>
        <p:nvPicPr>
          <p:cNvPr id="5" name="內容版面配置區 4">
            <a:extLst>
              <a:ext uri="{FF2B5EF4-FFF2-40B4-BE49-F238E27FC236}">
                <a16:creationId xmlns:a16="http://schemas.microsoft.com/office/drawing/2014/main" id="{0C5ABEB2-11DA-48F0-A22C-30EC9647958D}"/>
              </a:ext>
            </a:extLst>
          </p:cNvPr>
          <p:cNvPicPr>
            <a:picLocks noGrp="1" noChangeAspect="1"/>
          </p:cNvPicPr>
          <p:nvPr>
            <p:ph idx="1"/>
          </p:nvPr>
        </p:nvPicPr>
        <p:blipFill>
          <a:blip r:embed="rId2"/>
          <a:stretch>
            <a:fillRect/>
          </a:stretch>
        </p:blipFill>
        <p:spPr>
          <a:xfrm>
            <a:off x="838200" y="1690690"/>
            <a:ext cx="7191895" cy="1151643"/>
          </a:xfrm>
          <a:prstGeom prst="rect">
            <a:avLst/>
          </a:prstGeom>
        </p:spPr>
      </p:pic>
      <p:sp>
        <p:nvSpPr>
          <p:cNvPr id="4" name="投影片編號版面配置區 3">
            <a:extLst>
              <a:ext uri="{FF2B5EF4-FFF2-40B4-BE49-F238E27FC236}">
                <a16:creationId xmlns:a16="http://schemas.microsoft.com/office/drawing/2014/main" id="{8E42323B-C65D-407C-A94F-07DD4F1514AD}"/>
              </a:ext>
            </a:extLst>
          </p:cNvPr>
          <p:cNvSpPr>
            <a:spLocks noGrp="1"/>
          </p:cNvSpPr>
          <p:nvPr>
            <p:ph type="sldNum" sz="quarter" idx="12"/>
          </p:nvPr>
        </p:nvSpPr>
        <p:spPr/>
        <p:txBody>
          <a:bodyPr/>
          <a:lstStyle/>
          <a:p>
            <a:fld id="{8DCCD063-7F18-423D-A692-CC9D343FD360}" type="slidenum">
              <a:rPr lang="zh-TW" altLang="en-US" smtClean="0"/>
              <a:t>9</a:t>
            </a:fld>
            <a:endParaRPr lang="zh-TW" altLang="en-US"/>
          </a:p>
        </p:txBody>
      </p:sp>
      <p:pic>
        <p:nvPicPr>
          <p:cNvPr id="6" name="圖片 5">
            <a:extLst>
              <a:ext uri="{FF2B5EF4-FFF2-40B4-BE49-F238E27FC236}">
                <a16:creationId xmlns:a16="http://schemas.microsoft.com/office/drawing/2014/main" id="{0470C16E-A744-41D3-9B17-19AE878AA4B7}"/>
              </a:ext>
            </a:extLst>
          </p:cNvPr>
          <p:cNvPicPr>
            <a:picLocks noChangeAspect="1"/>
          </p:cNvPicPr>
          <p:nvPr/>
        </p:nvPicPr>
        <p:blipFill>
          <a:blip r:embed="rId3"/>
          <a:stretch>
            <a:fillRect/>
          </a:stretch>
        </p:blipFill>
        <p:spPr>
          <a:xfrm>
            <a:off x="838200" y="3106006"/>
            <a:ext cx="5637415" cy="1638010"/>
          </a:xfrm>
          <a:prstGeom prst="rect">
            <a:avLst/>
          </a:prstGeom>
        </p:spPr>
      </p:pic>
      <p:pic>
        <p:nvPicPr>
          <p:cNvPr id="7" name="圖片 6">
            <a:extLst>
              <a:ext uri="{FF2B5EF4-FFF2-40B4-BE49-F238E27FC236}">
                <a16:creationId xmlns:a16="http://schemas.microsoft.com/office/drawing/2014/main" id="{3991F714-8F29-48FF-85B0-26B9ACB58317}"/>
              </a:ext>
            </a:extLst>
          </p:cNvPr>
          <p:cNvPicPr>
            <a:picLocks noChangeAspect="1"/>
          </p:cNvPicPr>
          <p:nvPr/>
        </p:nvPicPr>
        <p:blipFill>
          <a:blip r:embed="rId4"/>
          <a:stretch>
            <a:fillRect/>
          </a:stretch>
        </p:blipFill>
        <p:spPr>
          <a:xfrm>
            <a:off x="6583161" y="3542635"/>
            <a:ext cx="4355003" cy="550446"/>
          </a:xfrm>
          <a:prstGeom prst="rect">
            <a:avLst/>
          </a:prstGeom>
        </p:spPr>
      </p:pic>
      <p:pic>
        <p:nvPicPr>
          <p:cNvPr id="8" name="圖片 7">
            <a:extLst>
              <a:ext uri="{FF2B5EF4-FFF2-40B4-BE49-F238E27FC236}">
                <a16:creationId xmlns:a16="http://schemas.microsoft.com/office/drawing/2014/main" id="{CD06FA3E-2CB0-4636-9FD3-2BB5209323BC}"/>
              </a:ext>
            </a:extLst>
          </p:cNvPr>
          <p:cNvPicPr>
            <a:picLocks noChangeAspect="1"/>
          </p:cNvPicPr>
          <p:nvPr/>
        </p:nvPicPr>
        <p:blipFill>
          <a:blip r:embed="rId5"/>
          <a:stretch>
            <a:fillRect/>
          </a:stretch>
        </p:blipFill>
        <p:spPr>
          <a:xfrm>
            <a:off x="5250547" y="351721"/>
            <a:ext cx="6720106" cy="1338969"/>
          </a:xfrm>
          <a:prstGeom prst="rect">
            <a:avLst/>
          </a:prstGeom>
        </p:spPr>
      </p:pic>
      <p:pic>
        <p:nvPicPr>
          <p:cNvPr id="9" name="圖片 8">
            <a:extLst>
              <a:ext uri="{FF2B5EF4-FFF2-40B4-BE49-F238E27FC236}">
                <a16:creationId xmlns:a16="http://schemas.microsoft.com/office/drawing/2014/main" id="{BA40D8AC-BF14-48B0-B373-7CB58987BB77}"/>
              </a:ext>
            </a:extLst>
          </p:cNvPr>
          <p:cNvPicPr>
            <a:picLocks noChangeAspect="1"/>
          </p:cNvPicPr>
          <p:nvPr/>
        </p:nvPicPr>
        <p:blipFill>
          <a:blip r:embed="rId6"/>
          <a:stretch>
            <a:fillRect/>
          </a:stretch>
        </p:blipFill>
        <p:spPr>
          <a:xfrm>
            <a:off x="793780" y="5007689"/>
            <a:ext cx="6779116" cy="1244820"/>
          </a:xfrm>
          <a:prstGeom prst="rect">
            <a:avLst/>
          </a:prstGeom>
        </p:spPr>
      </p:pic>
    </p:spTree>
    <p:extLst>
      <p:ext uri="{BB962C8B-B14F-4D97-AF65-F5344CB8AC3E}">
        <p14:creationId xmlns:p14="http://schemas.microsoft.com/office/powerpoint/2010/main" val="2097519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E5754A-D4F3-4218-A59C-02EF1C0E5E3E}"/>
              </a:ext>
            </a:extLst>
          </p:cNvPr>
          <p:cNvSpPr>
            <a:spLocks noGrp="1"/>
          </p:cNvSpPr>
          <p:nvPr>
            <p:ph type="title"/>
          </p:nvPr>
        </p:nvSpPr>
        <p:spPr/>
        <p:txBody>
          <a:bodyPr/>
          <a:lstStyle/>
          <a:p>
            <a:r>
              <a:rPr lang="el-GR" altLang="zh-TW" dirty="0"/>
              <a:t>Ψ</a:t>
            </a:r>
            <a:r>
              <a:rPr lang="en-US" altLang="zh-TW" dirty="0"/>
              <a:t>(PSI)</a:t>
            </a:r>
            <a:r>
              <a:rPr lang="el-GR" altLang="zh-TW" dirty="0"/>
              <a:t>-</a:t>
            </a:r>
            <a:r>
              <a:rPr lang="en-US" altLang="zh-TW" dirty="0"/>
              <a:t>DTW</a:t>
            </a:r>
            <a:r>
              <a:rPr lang="zh-TW" altLang="en-US" dirty="0"/>
              <a:t> </a:t>
            </a:r>
            <a:r>
              <a:rPr lang="en-US" altLang="zh-TW" dirty="0"/>
              <a:t>(2/2)</a:t>
            </a:r>
            <a:endParaRPr lang="zh-TW" altLang="en-US" dirty="0"/>
          </a:p>
        </p:txBody>
      </p:sp>
      <p:pic>
        <p:nvPicPr>
          <p:cNvPr id="5" name="內容版面配置區 4">
            <a:extLst>
              <a:ext uri="{FF2B5EF4-FFF2-40B4-BE49-F238E27FC236}">
                <a16:creationId xmlns:a16="http://schemas.microsoft.com/office/drawing/2014/main" id="{CBC32246-2C16-4E2B-8621-19F0BD2616E0}"/>
              </a:ext>
            </a:extLst>
          </p:cNvPr>
          <p:cNvPicPr>
            <a:picLocks noGrp="1" noChangeAspect="1"/>
          </p:cNvPicPr>
          <p:nvPr>
            <p:ph idx="1"/>
          </p:nvPr>
        </p:nvPicPr>
        <p:blipFill>
          <a:blip r:embed="rId2"/>
          <a:stretch>
            <a:fillRect/>
          </a:stretch>
        </p:blipFill>
        <p:spPr>
          <a:xfrm>
            <a:off x="1543936" y="1569742"/>
            <a:ext cx="9104128" cy="4907559"/>
          </a:xfrm>
          <a:prstGeom prst="rect">
            <a:avLst/>
          </a:prstGeom>
        </p:spPr>
      </p:pic>
      <p:sp>
        <p:nvSpPr>
          <p:cNvPr id="4" name="投影片編號版面配置區 3">
            <a:extLst>
              <a:ext uri="{FF2B5EF4-FFF2-40B4-BE49-F238E27FC236}">
                <a16:creationId xmlns:a16="http://schemas.microsoft.com/office/drawing/2014/main" id="{33E664A0-CA71-419D-A2E3-4F2055B60431}"/>
              </a:ext>
            </a:extLst>
          </p:cNvPr>
          <p:cNvSpPr>
            <a:spLocks noGrp="1"/>
          </p:cNvSpPr>
          <p:nvPr>
            <p:ph type="sldNum" sz="quarter" idx="12"/>
          </p:nvPr>
        </p:nvSpPr>
        <p:spPr/>
        <p:txBody>
          <a:bodyPr/>
          <a:lstStyle/>
          <a:p>
            <a:fld id="{8DCCD063-7F18-423D-A692-CC9D343FD360}" type="slidenum">
              <a:rPr lang="zh-TW" altLang="en-US" smtClean="0"/>
              <a:t>10</a:t>
            </a:fld>
            <a:endParaRPr lang="zh-TW" altLang="en-US"/>
          </a:p>
        </p:txBody>
      </p:sp>
    </p:spTree>
    <p:extLst>
      <p:ext uri="{BB962C8B-B14F-4D97-AF65-F5344CB8AC3E}">
        <p14:creationId xmlns:p14="http://schemas.microsoft.com/office/powerpoint/2010/main" val="2783767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5F3B1C-24B3-4861-97DA-352DA74A3757}"/>
              </a:ext>
            </a:extLst>
          </p:cNvPr>
          <p:cNvSpPr>
            <a:spLocks noGrp="1"/>
          </p:cNvSpPr>
          <p:nvPr>
            <p:ph type="title"/>
          </p:nvPr>
        </p:nvSpPr>
        <p:spPr/>
        <p:txBody>
          <a:bodyPr/>
          <a:lstStyle/>
          <a:p>
            <a:r>
              <a:rPr lang="en-US" altLang="zh-TW" dirty="0"/>
              <a:t>Result</a:t>
            </a:r>
            <a:endParaRPr lang="zh-TW" altLang="en-US" dirty="0"/>
          </a:p>
        </p:txBody>
      </p:sp>
      <p:pic>
        <p:nvPicPr>
          <p:cNvPr id="5" name="內容版面配置區 4">
            <a:extLst>
              <a:ext uri="{FF2B5EF4-FFF2-40B4-BE49-F238E27FC236}">
                <a16:creationId xmlns:a16="http://schemas.microsoft.com/office/drawing/2014/main" id="{5A1FEF4C-6D91-4FBC-8621-B77B9C3F81D8}"/>
              </a:ext>
            </a:extLst>
          </p:cNvPr>
          <p:cNvPicPr>
            <a:picLocks noGrp="1" noChangeAspect="1"/>
          </p:cNvPicPr>
          <p:nvPr>
            <p:ph idx="1"/>
          </p:nvPr>
        </p:nvPicPr>
        <p:blipFill>
          <a:blip r:embed="rId2"/>
          <a:stretch>
            <a:fillRect/>
          </a:stretch>
        </p:blipFill>
        <p:spPr>
          <a:xfrm>
            <a:off x="847725" y="2153444"/>
            <a:ext cx="10496550" cy="3695700"/>
          </a:xfrm>
          <a:prstGeom prst="rect">
            <a:avLst/>
          </a:prstGeom>
        </p:spPr>
      </p:pic>
      <p:sp>
        <p:nvSpPr>
          <p:cNvPr id="4" name="投影片編號版面配置區 3">
            <a:extLst>
              <a:ext uri="{FF2B5EF4-FFF2-40B4-BE49-F238E27FC236}">
                <a16:creationId xmlns:a16="http://schemas.microsoft.com/office/drawing/2014/main" id="{CB34174F-7F93-4C66-B47C-0973AE4BB3DE}"/>
              </a:ext>
            </a:extLst>
          </p:cNvPr>
          <p:cNvSpPr>
            <a:spLocks noGrp="1"/>
          </p:cNvSpPr>
          <p:nvPr>
            <p:ph type="sldNum" sz="quarter" idx="12"/>
          </p:nvPr>
        </p:nvSpPr>
        <p:spPr/>
        <p:txBody>
          <a:bodyPr/>
          <a:lstStyle/>
          <a:p>
            <a:fld id="{8DCCD063-7F18-423D-A692-CC9D343FD360}" type="slidenum">
              <a:rPr lang="zh-TW" altLang="en-US" smtClean="0"/>
              <a:t>11</a:t>
            </a:fld>
            <a:endParaRPr lang="zh-TW" altLang="en-US"/>
          </a:p>
        </p:txBody>
      </p:sp>
    </p:spTree>
    <p:extLst>
      <p:ext uri="{BB962C8B-B14F-4D97-AF65-F5344CB8AC3E}">
        <p14:creationId xmlns:p14="http://schemas.microsoft.com/office/powerpoint/2010/main" val="61725237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18442</TotalTime>
  <Words>422</Words>
  <Application>Microsoft Office PowerPoint</Application>
  <PresentationFormat>寬螢幕</PresentationFormat>
  <Paragraphs>31</Paragraphs>
  <Slides>11</Slides>
  <Notes>1</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11</vt:i4>
      </vt:variant>
    </vt:vector>
  </HeadingPairs>
  <TitlesOfParts>
    <vt:vector size="15" baseType="lpstr">
      <vt:lpstr>Arial</vt:lpstr>
      <vt:lpstr>Calibri</vt:lpstr>
      <vt:lpstr>Tw Cen MT</vt:lpstr>
      <vt:lpstr>Office 佈景主題</vt:lpstr>
      <vt:lpstr>Prefix and Suffix Invariant Dynamic Time Warping</vt:lpstr>
      <vt:lpstr>Abstract (1/3)</vt:lpstr>
      <vt:lpstr>Abstract (2/3)</vt:lpstr>
      <vt:lpstr>Abstract (3/3)</vt:lpstr>
      <vt:lpstr>Motivation</vt:lpstr>
      <vt:lpstr>Time Series Prefix and Suffix</vt:lpstr>
      <vt:lpstr>Open-End DTW (OE-DTW) (1/2)</vt:lpstr>
      <vt:lpstr>Open-End DTW (OE-DTW) (2/2)</vt:lpstr>
      <vt:lpstr>Ψ(PSI)-DTW (1/2)</vt:lpstr>
      <vt:lpstr>Ψ(PSI)-DTW (2/2)</vt:lpstr>
      <vt:lpstr>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劉珊如</cp:lastModifiedBy>
  <cp:revision>512</cp:revision>
  <dcterms:created xsi:type="dcterms:W3CDTF">2017-10-09T09:38:00Z</dcterms:created>
  <dcterms:modified xsi:type="dcterms:W3CDTF">2018-12-17T10:47:36Z</dcterms:modified>
</cp:coreProperties>
</file>