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5" r:id="rId5"/>
    <p:sldId id="272" r:id="rId6"/>
    <p:sldId id="274" r:id="rId7"/>
    <p:sldId id="273" r:id="rId8"/>
    <p:sldId id="269" r:id="rId9"/>
    <p:sldId id="270" r:id="rId10"/>
    <p:sldId id="271"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C24DD4-E3FA-4B41-8A35-8EDF7CCD5F62}"/>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33B7BC33-8522-46E8-B7E4-A621AF2206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32D06B4-D77C-4FAC-9B1A-BA32E2D635F5}"/>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5" name="頁尾版面配置區 4">
            <a:extLst>
              <a:ext uri="{FF2B5EF4-FFF2-40B4-BE49-F238E27FC236}">
                <a16:creationId xmlns:a16="http://schemas.microsoft.com/office/drawing/2014/main" id="{4DC09247-3AAA-4660-B256-3ABA70891B8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55E79E-7F42-44F8-A847-EE0EF11239BC}"/>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1471749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909118-7686-4D79-925C-14F4180C11E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CFD5FAE-2729-4914-8C0D-85D70F143659}"/>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21B451-B08E-4B4F-A7A4-CDFA9A982911}"/>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5" name="頁尾版面配置區 4">
            <a:extLst>
              <a:ext uri="{FF2B5EF4-FFF2-40B4-BE49-F238E27FC236}">
                <a16:creationId xmlns:a16="http://schemas.microsoft.com/office/drawing/2014/main" id="{5A054CE7-D79D-4C9D-B330-EBAAC2E3FF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FD05A5-D9D4-48C0-B571-AE7B44CFA17B}"/>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3669843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8DB025-F887-48F9-B375-E466138A8B1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FC8E840-38C4-4617-BEEE-D93638FB98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BA37EF95-3215-4453-883B-406D446CEECA}"/>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5" name="頁尾版面配置區 4">
            <a:extLst>
              <a:ext uri="{FF2B5EF4-FFF2-40B4-BE49-F238E27FC236}">
                <a16:creationId xmlns:a16="http://schemas.microsoft.com/office/drawing/2014/main" id="{013F4D33-6848-4F44-A18E-B80AF6A106D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27ACFC2-D32C-43C8-BEB7-C20FBADA0988}"/>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2529968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900684-4B9F-43CE-8DBF-E945581E57D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F266A22-71A9-41A4-8CD1-0BB9A8BF439A}"/>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BA28F88C-9FE0-414E-9C33-D44E5C33791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288C6091-48A3-47F2-ADAD-F9E96D5DF2F2}"/>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6" name="頁尾版面配置區 5">
            <a:extLst>
              <a:ext uri="{FF2B5EF4-FFF2-40B4-BE49-F238E27FC236}">
                <a16:creationId xmlns:a16="http://schemas.microsoft.com/office/drawing/2014/main" id="{7A4DC047-092D-47C5-B015-825D7D2D5B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0E1BB6E-78DF-4490-B706-CA8F5BFDA673}"/>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699892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0CCE65-017C-4BFE-9EE8-FD34FC774A3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D137DFB-9234-4CA7-BD67-60D1AA97E3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6079E933-003D-4FC7-A8AF-982F2EAC07E6}"/>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4651C42-1C52-4862-BF0C-DC2ABE736F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3CEA3D81-0FC0-4213-8D95-B9943290CCF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F158F4D-3D0F-4FD9-8A15-7564701379F8}"/>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8" name="頁尾版面配置區 7">
            <a:extLst>
              <a:ext uri="{FF2B5EF4-FFF2-40B4-BE49-F238E27FC236}">
                <a16:creationId xmlns:a16="http://schemas.microsoft.com/office/drawing/2014/main" id="{ECF5703E-30E9-4614-95FC-C95B1E2C675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6390623-0F03-4561-92A3-86F345AFB9A0}"/>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79564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D14964-3707-4ADD-BEF6-8E7735DC0A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5CEFB50-6854-456A-8600-A44CCA43C79F}"/>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4" name="頁尾版面配置區 3">
            <a:extLst>
              <a:ext uri="{FF2B5EF4-FFF2-40B4-BE49-F238E27FC236}">
                <a16:creationId xmlns:a16="http://schemas.microsoft.com/office/drawing/2014/main" id="{AB321C44-0EC1-49A7-8A3D-587E65C9E385}"/>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A1E65EE8-1B5E-4189-AF1A-0902121029D0}"/>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2674414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6F45D42-14FB-4FFC-A179-37709674A16F}"/>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3" name="頁尾版面配置區 2">
            <a:extLst>
              <a:ext uri="{FF2B5EF4-FFF2-40B4-BE49-F238E27FC236}">
                <a16:creationId xmlns:a16="http://schemas.microsoft.com/office/drawing/2014/main" id="{917D7A98-AD4B-4607-A54E-4AA0E74C6B5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CE58479-05AC-460D-A4DF-E93063C13564}"/>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769963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AAC4F3-2DFE-40B9-8276-00BB02D48E5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C87CD7F-DB1A-464F-AE88-0BD5DE2ED8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32C6EFE3-9527-4489-9B4C-04010FBE6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85B815F-E4FF-4D39-9392-41199A7C073F}"/>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6" name="頁尾版面配置區 5">
            <a:extLst>
              <a:ext uri="{FF2B5EF4-FFF2-40B4-BE49-F238E27FC236}">
                <a16:creationId xmlns:a16="http://schemas.microsoft.com/office/drawing/2014/main" id="{089C12E4-0082-4AE5-8B4D-B9E1FDF46E5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90FE43A-BB24-4D59-9D17-D961621121D3}"/>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2613244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0DBCC5-0DD8-46B7-A6BD-70252E4D015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C7C87F8-947A-45CF-83FF-4CE376E457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7DDF952-001C-4200-937F-13947185D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D85289D9-F977-4973-8C2E-22F76F45E584}"/>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6" name="頁尾版面配置區 5">
            <a:extLst>
              <a:ext uri="{FF2B5EF4-FFF2-40B4-BE49-F238E27FC236}">
                <a16:creationId xmlns:a16="http://schemas.microsoft.com/office/drawing/2014/main" id="{F39D7357-D03D-424E-B44B-FCC236956FD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792A51C-EB51-420D-91EE-AAC6B3DA4D59}"/>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3019086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BF7173-9054-441B-96A9-0A4336BFF0B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DE5D2BE-E67E-4B04-AB15-28B28D3C4B68}"/>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A9CA5C6-B11C-4FEA-A917-D7C1D952F825}"/>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5" name="頁尾版面配置區 4">
            <a:extLst>
              <a:ext uri="{FF2B5EF4-FFF2-40B4-BE49-F238E27FC236}">
                <a16:creationId xmlns:a16="http://schemas.microsoft.com/office/drawing/2014/main" id="{77AF7281-342C-4BB1-8E3B-C85C9FE2CD2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390D0F-C1CE-4C1A-99D2-4615D722A3C3}"/>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1725775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815AD73-8642-4981-B161-0F870DDDECB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DCBFAE-557A-4DCD-B82E-90491E6EF38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FF4F96-05D2-4E8F-81A7-2C7E04988A12}"/>
              </a:ext>
            </a:extLst>
          </p:cNvPr>
          <p:cNvSpPr>
            <a:spLocks noGrp="1"/>
          </p:cNvSpPr>
          <p:nvPr>
            <p:ph type="dt" sz="half" idx="10"/>
          </p:nvPr>
        </p:nvSpPr>
        <p:spPr/>
        <p:txBody>
          <a:bodyPr/>
          <a:lstStyle/>
          <a:p>
            <a:fld id="{152F1A8E-0D39-4293-93A8-2F226A2CB3D4}" type="datetimeFigureOut">
              <a:rPr lang="zh-TW" altLang="en-US" smtClean="0"/>
              <a:t>2018/12/17</a:t>
            </a:fld>
            <a:endParaRPr lang="zh-TW" altLang="en-US"/>
          </a:p>
        </p:txBody>
      </p:sp>
      <p:sp>
        <p:nvSpPr>
          <p:cNvPr id="5" name="頁尾版面配置區 4">
            <a:extLst>
              <a:ext uri="{FF2B5EF4-FFF2-40B4-BE49-F238E27FC236}">
                <a16:creationId xmlns:a16="http://schemas.microsoft.com/office/drawing/2014/main" id="{F8B2B227-FF49-4590-AA01-1AD55415521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0541A68-B6C5-40C6-8D75-B3CC674ED12E}"/>
              </a:ext>
            </a:extLst>
          </p:cNvPr>
          <p:cNvSpPr>
            <a:spLocks noGrp="1"/>
          </p:cNvSpPr>
          <p:nvPr>
            <p:ph type="sldNum" sz="quarter" idx="12"/>
          </p:nvPr>
        </p:nvSpPr>
        <p:spPr/>
        <p:txBody>
          <a:body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630397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D879271-15D5-49C7-8483-E1E5714FE0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BD17A93-B5DA-4A81-850E-E90A82B4C3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3BE8279-DD13-47BA-95C6-2B32A5B37E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F1A8E-0D39-4293-93A8-2F226A2CB3D4}" type="datetimeFigureOut">
              <a:rPr lang="zh-TW" altLang="en-US" smtClean="0"/>
              <a:t>2018/12/17</a:t>
            </a:fld>
            <a:endParaRPr lang="zh-TW" altLang="en-US"/>
          </a:p>
        </p:txBody>
      </p:sp>
      <p:sp>
        <p:nvSpPr>
          <p:cNvPr id="5" name="頁尾版面配置區 4">
            <a:extLst>
              <a:ext uri="{FF2B5EF4-FFF2-40B4-BE49-F238E27FC236}">
                <a16:creationId xmlns:a16="http://schemas.microsoft.com/office/drawing/2014/main" id="{FCFBD01E-5085-4F84-9463-63327CC9A4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5E7C44B-22DA-40DA-A19F-9DB8FBC2BB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A473E3-D660-45F4-A70E-2A912E4265D4}" type="slidenum">
              <a:rPr lang="zh-TW" altLang="en-US" smtClean="0"/>
              <a:t>‹#›</a:t>
            </a:fld>
            <a:endParaRPr lang="zh-TW" altLang="en-US"/>
          </a:p>
        </p:txBody>
      </p:sp>
    </p:spTree>
    <p:extLst>
      <p:ext uri="{BB962C8B-B14F-4D97-AF65-F5344CB8AC3E}">
        <p14:creationId xmlns:p14="http://schemas.microsoft.com/office/powerpoint/2010/main" val="4214003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7615F0-1485-415C-9C01-B9BACA877537}"/>
              </a:ext>
            </a:extLst>
          </p:cNvPr>
          <p:cNvSpPr>
            <a:spLocks noGrp="1"/>
          </p:cNvSpPr>
          <p:nvPr>
            <p:ph type="ctrTitle"/>
          </p:nvPr>
        </p:nvSpPr>
        <p:spPr>
          <a:xfrm>
            <a:off x="1524000" y="906011"/>
            <a:ext cx="9144000" cy="1890786"/>
          </a:xfrm>
        </p:spPr>
        <p:txBody>
          <a:bodyPr>
            <a:normAutofit/>
          </a:bodyPr>
          <a:lstStyle/>
          <a:p>
            <a:r>
              <a:rPr lang="en-US" altLang="zh-TW" b="1" dirty="0">
                <a:ea typeface="新細明體-ExtB" panose="02020500000000000000" pitchFamily="18" charset="-120"/>
              </a:rPr>
              <a:t>Speeding Up String Matching by Weak Factor Recognition </a:t>
            </a:r>
            <a:endParaRPr lang="zh-TW" altLang="en-US" b="1" baseline="-25000" dirty="0">
              <a:ea typeface="新細明體-ExtB" panose="02020500000000000000" pitchFamily="18" charset="-120"/>
            </a:endParaRPr>
          </a:p>
        </p:txBody>
      </p:sp>
      <p:sp>
        <p:nvSpPr>
          <p:cNvPr id="3" name="副標題 2">
            <a:extLst>
              <a:ext uri="{FF2B5EF4-FFF2-40B4-BE49-F238E27FC236}">
                <a16:creationId xmlns:a16="http://schemas.microsoft.com/office/drawing/2014/main" id="{235F5719-E925-4841-9F3C-3144FFD343A5}"/>
              </a:ext>
            </a:extLst>
          </p:cNvPr>
          <p:cNvSpPr>
            <a:spLocks noGrp="1"/>
          </p:cNvSpPr>
          <p:nvPr>
            <p:ph type="subTitle" idx="1"/>
          </p:nvPr>
        </p:nvSpPr>
        <p:spPr>
          <a:xfrm>
            <a:off x="1524000" y="3602037"/>
            <a:ext cx="9144000" cy="3016877"/>
          </a:xfrm>
        </p:spPr>
        <p:txBody>
          <a:bodyPr>
            <a:normAutofit fontScale="92500" lnSpcReduction="10000"/>
          </a:bodyPr>
          <a:lstStyle/>
          <a:p>
            <a:r>
              <a:rPr lang="it-IT" altLang="zh-TW" sz="2800" dirty="0">
                <a:ea typeface="新細明體-ExtB" panose="02020500000000000000" pitchFamily="18" charset="-120"/>
              </a:rPr>
              <a:t>Domenico Cantone , Simone Faro , and Arianna Pavone</a:t>
            </a:r>
            <a:br>
              <a:rPr lang="sv-SE" altLang="zh-TW" dirty="0">
                <a:ea typeface="新細明體-ExtB" panose="02020500000000000000" pitchFamily="18" charset="-120"/>
              </a:rPr>
            </a:br>
            <a:br>
              <a:rPr lang="sv-SE" altLang="zh-TW" dirty="0">
                <a:ea typeface="新細明體-ExtB" panose="02020500000000000000" pitchFamily="18" charset="-120"/>
              </a:rPr>
            </a:br>
            <a:r>
              <a:rPr lang="en-US" altLang="zh-TW" sz="2600" dirty="0">
                <a:ea typeface="新細明體-ExtB" panose="02020500000000000000" pitchFamily="18" charset="-120"/>
              </a:rPr>
              <a:t>Proceedings of the Prague </a:t>
            </a:r>
            <a:r>
              <a:rPr lang="en-US" altLang="zh-TW" sz="2600" dirty="0" err="1">
                <a:ea typeface="新細明體-ExtB" panose="02020500000000000000" pitchFamily="18" charset="-120"/>
              </a:rPr>
              <a:t>Stringology</a:t>
            </a:r>
            <a:r>
              <a:rPr lang="en-US" altLang="zh-TW" sz="2600" dirty="0">
                <a:ea typeface="新細明體-ExtB" panose="02020500000000000000" pitchFamily="18" charset="-120"/>
              </a:rPr>
              <a:t> Conference  42-50</a:t>
            </a:r>
          </a:p>
          <a:p>
            <a:r>
              <a:rPr lang="en-US" altLang="zh-TW" sz="2600" dirty="0">
                <a:ea typeface="新細明體-ExtB" panose="02020500000000000000" pitchFamily="18" charset="-120"/>
              </a:rPr>
              <a:t>August 28–30, 2017, Czech Technical University,  Prague</a:t>
            </a:r>
            <a:br>
              <a:rPr lang="en-US" altLang="zh-TW" dirty="0">
                <a:ea typeface="新細明體-ExtB" panose="02020500000000000000" pitchFamily="18" charset="-120"/>
              </a:rPr>
            </a:br>
            <a:br>
              <a:rPr lang="en-US" altLang="zh-TW" dirty="0">
                <a:ea typeface="新細明體-ExtB" panose="02020500000000000000" pitchFamily="18" charset="-120"/>
              </a:rPr>
            </a:br>
            <a:br>
              <a:rPr lang="en-US" altLang="zh-TW" dirty="0">
                <a:ea typeface="新細明體-ExtB" panose="02020500000000000000" pitchFamily="18" charset="-120"/>
              </a:rPr>
            </a:br>
            <a:r>
              <a:rPr lang="en-US" altLang="zh-TW" dirty="0">
                <a:ea typeface="新細明體-ExtB" panose="02020500000000000000" pitchFamily="18" charset="-120"/>
              </a:rPr>
              <a:t>Presenter</a:t>
            </a:r>
            <a:r>
              <a:rPr lang="zh-TW" altLang="en-US" dirty="0">
                <a:ea typeface="新細明體-ExtB" panose="02020500000000000000" pitchFamily="18" charset="-120"/>
              </a:rPr>
              <a:t>：</a:t>
            </a:r>
            <a:r>
              <a:rPr lang="en-US" altLang="zh-TW" dirty="0" err="1">
                <a:ea typeface="新細明體-ExtB" panose="02020500000000000000" pitchFamily="18" charset="-120"/>
              </a:rPr>
              <a:t>Kuan</a:t>
            </a:r>
            <a:r>
              <a:rPr lang="en-US" altLang="zh-TW" dirty="0">
                <a:ea typeface="新細明體-ExtB" panose="02020500000000000000" pitchFamily="18" charset="-120"/>
              </a:rPr>
              <a:t>-Lin Lai</a:t>
            </a:r>
          </a:p>
          <a:p>
            <a:r>
              <a:rPr lang="en-US" altLang="zh-TW" dirty="0">
                <a:ea typeface="新細明體-ExtB" panose="02020500000000000000" pitchFamily="18" charset="-120"/>
              </a:rPr>
              <a:t>Date: 2018/12/17</a:t>
            </a:r>
            <a:endParaRPr lang="zh-TW" altLang="en-US" dirty="0">
              <a:ea typeface="新細明體-ExtB" panose="02020500000000000000" pitchFamily="18" charset="-120"/>
            </a:endParaRPr>
          </a:p>
          <a:p>
            <a:r>
              <a:rPr lang="sv-SE" altLang="zh-TW" dirty="0">
                <a:ea typeface="新細明體-ExtB" panose="02020500000000000000" pitchFamily="18" charset="-120"/>
              </a:rPr>
              <a:t> </a:t>
            </a:r>
            <a:endParaRPr lang="zh-TW" altLang="en-US" dirty="0">
              <a:ea typeface="新細明體-ExtB" panose="02020500000000000000" pitchFamily="18" charset="-120"/>
            </a:endParaRPr>
          </a:p>
        </p:txBody>
      </p:sp>
    </p:spTree>
    <p:extLst>
      <p:ext uri="{BB962C8B-B14F-4D97-AF65-F5344CB8AC3E}">
        <p14:creationId xmlns:p14="http://schemas.microsoft.com/office/powerpoint/2010/main" val="1308535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3D0B0B-7547-4071-90BA-536B104D88F2}"/>
              </a:ext>
            </a:extLst>
          </p:cNvPr>
          <p:cNvSpPr>
            <a:spLocks noGrp="1"/>
          </p:cNvSpPr>
          <p:nvPr>
            <p:ph type="title"/>
          </p:nvPr>
        </p:nvSpPr>
        <p:spPr/>
        <p:txBody>
          <a:bodyPr/>
          <a:lstStyle/>
          <a:p>
            <a:r>
              <a:rPr lang="en-US" altLang="zh-TW" b="1" dirty="0">
                <a:ea typeface="新細明體-ExtB" panose="02020500000000000000" pitchFamily="18" charset="-120"/>
              </a:rPr>
              <a:t>Abstract(1/2)</a:t>
            </a:r>
            <a:endParaRPr lang="zh-TW" altLang="en-US" b="1" dirty="0">
              <a:ea typeface="新細明體-ExtB" panose="02020500000000000000" pitchFamily="18" charset="-120"/>
            </a:endParaRPr>
          </a:p>
        </p:txBody>
      </p:sp>
      <p:sp>
        <p:nvSpPr>
          <p:cNvPr id="3" name="內容版面配置區 2">
            <a:extLst>
              <a:ext uri="{FF2B5EF4-FFF2-40B4-BE49-F238E27FC236}">
                <a16:creationId xmlns:a16="http://schemas.microsoft.com/office/drawing/2014/main" id="{405B338F-83E0-43F0-AE3C-68350790CF00}"/>
              </a:ext>
            </a:extLst>
          </p:cNvPr>
          <p:cNvSpPr>
            <a:spLocks noGrp="1"/>
          </p:cNvSpPr>
          <p:nvPr>
            <p:ph idx="1"/>
          </p:nvPr>
        </p:nvSpPr>
        <p:spPr>
          <a:xfrm>
            <a:off x="838199" y="1825625"/>
            <a:ext cx="10939943" cy="4351338"/>
          </a:xfrm>
        </p:spPr>
        <p:txBody>
          <a:bodyPr>
            <a:normAutofit/>
          </a:bodyPr>
          <a:lstStyle/>
          <a:p>
            <a:pPr marL="0" indent="0">
              <a:buNone/>
            </a:pPr>
            <a:r>
              <a:rPr lang="en-US" altLang="zh-TW" dirty="0">
                <a:ea typeface="新細明體-ExtB" panose="02020500000000000000" pitchFamily="18" charset="-120"/>
              </a:rPr>
              <a:t>String matching is the problem of finding all the substrings of a text which match a given pattern. It is one of the most investigated problems in computer science, mainly due to its very diverse applications in several fields. Recently, much research in the string matching field has focused on the efficiency and flexibility of the searching procedure and quite effective techniques have been proposed for speeding up the existing solutions. In this context, algorithms based on factors recognition are among the best solutions. </a:t>
            </a:r>
            <a:endParaRPr lang="zh-TW" altLang="en-US" dirty="0">
              <a:ea typeface="新細明體-ExtB" panose="02020500000000000000" pitchFamily="18" charset="-120"/>
            </a:endParaRPr>
          </a:p>
        </p:txBody>
      </p:sp>
    </p:spTree>
    <p:extLst>
      <p:ext uri="{BB962C8B-B14F-4D97-AF65-F5344CB8AC3E}">
        <p14:creationId xmlns:p14="http://schemas.microsoft.com/office/powerpoint/2010/main" val="838380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D16D66-BEF9-4F84-9EDB-52F47BF44670}"/>
              </a:ext>
            </a:extLst>
          </p:cNvPr>
          <p:cNvSpPr>
            <a:spLocks noGrp="1"/>
          </p:cNvSpPr>
          <p:nvPr>
            <p:ph type="title"/>
          </p:nvPr>
        </p:nvSpPr>
        <p:spPr/>
        <p:txBody>
          <a:bodyPr/>
          <a:lstStyle/>
          <a:p>
            <a:r>
              <a:rPr lang="en-US" altLang="zh-TW" b="1" dirty="0">
                <a:ea typeface="新細明體-ExtB" panose="02020500000000000000" pitchFamily="18" charset="-120"/>
              </a:rPr>
              <a:t>Abstract(2/2)</a:t>
            </a:r>
            <a:endParaRPr lang="zh-TW" altLang="en-US" b="1" dirty="0">
              <a:ea typeface="新細明體-ExtB" panose="02020500000000000000" pitchFamily="18" charset="-120"/>
            </a:endParaRPr>
          </a:p>
        </p:txBody>
      </p:sp>
      <p:sp>
        <p:nvSpPr>
          <p:cNvPr id="3" name="內容版面配置區 2">
            <a:extLst>
              <a:ext uri="{FF2B5EF4-FFF2-40B4-BE49-F238E27FC236}">
                <a16:creationId xmlns:a16="http://schemas.microsoft.com/office/drawing/2014/main" id="{F786F83E-3B37-40DD-A43C-E0432117EA43}"/>
              </a:ext>
            </a:extLst>
          </p:cNvPr>
          <p:cNvSpPr>
            <a:spLocks noGrp="1"/>
          </p:cNvSpPr>
          <p:nvPr>
            <p:ph idx="1"/>
          </p:nvPr>
        </p:nvSpPr>
        <p:spPr>
          <a:xfrm>
            <a:off x="838199" y="1825625"/>
            <a:ext cx="10604383" cy="4351338"/>
          </a:xfrm>
        </p:spPr>
        <p:txBody>
          <a:bodyPr/>
          <a:lstStyle/>
          <a:p>
            <a:pPr marL="0" indent="0">
              <a:buNone/>
            </a:pPr>
            <a:r>
              <a:rPr lang="en-US" altLang="zh-TW" dirty="0">
                <a:ea typeface="新細明體-ExtB" panose="02020500000000000000" pitchFamily="18" charset="-120"/>
              </a:rPr>
              <a:t>In this paper, we present a simple and very efficient algorithm for string matching based on a weak factor recognition and hashing. Our algorithm has a quadratic worst-case running time. However, despite its quadratic complexity, experimental results show that our algorithm obtains in most cases the best running times when compared, under various conditions, against the most effective algorithms present in literature. In the case of small alphabets and long patterns, the gain in running times reaches 28%. This makes our proposed algorithm one of the most flexible solutions in practical cases.</a:t>
            </a:r>
            <a:endParaRPr lang="zh-TW" altLang="en-US" dirty="0">
              <a:ea typeface="新細明體-ExtB" panose="02020500000000000000" pitchFamily="18" charset="-120"/>
            </a:endParaRPr>
          </a:p>
        </p:txBody>
      </p:sp>
    </p:spTree>
    <p:extLst>
      <p:ext uri="{BB962C8B-B14F-4D97-AF65-F5344CB8AC3E}">
        <p14:creationId xmlns:p14="http://schemas.microsoft.com/office/powerpoint/2010/main" val="421738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8BA689-41D0-4D7C-AD7E-518BA546CAD9}"/>
              </a:ext>
            </a:extLst>
          </p:cNvPr>
          <p:cNvSpPr>
            <a:spLocks noGrp="1"/>
          </p:cNvSpPr>
          <p:nvPr>
            <p:ph type="title"/>
          </p:nvPr>
        </p:nvSpPr>
        <p:spPr/>
        <p:txBody>
          <a:bodyPr/>
          <a:lstStyle/>
          <a:p>
            <a:r>
              <a:rPr lang="en-US" altLang="zh-TW" dirty="0"/>
              <a:t>Weak Factor Recognition: Hash</a:t>
            </a:r>
            <a:endParaRPr lang="zh-TW" altLang="en-US" dirty="0"/>
          </a:p>
        </p:txBody>
      </p:sp>
      <p:sp>
        <p:nvSpPr>
          <p:cNvPr id="3" name="內容版面配置區 2">
            <a:extLst>
              <a:ext uri="{FF2B5EF4-FFF2-40B4-BE49-F238E27FC236}">
                <a16:creationId xmlns:a16="http://schemas.microsoft.com/office/drawing/2014/main" id="{CA9F1A8A-7B23-4D53-9CBB-D644C25C8E68}"/>
              </a:ext>
            </a:extLst>
          </p:cNvPr>
          <p:cNvSpPr>
            <a:spLocks noGrp="1"/>
          </p:cNvSpPr>
          <p:nvPr>
            <p:ph idx="1"/>
          </p:nvPr>
        </p:nvSpPr>
        <p:spPr/>
        <p:txBody>
          <a:bodyPr/>
          <a:lstStyle/>
          <a:p>
            <a:pPr marL="0" indent="0">
              <a:buNone/>
            </a:pPr>
            <a:r>
              <a:rPr lang="en-US" altLang="zh-TW" dirty="0"/>
              <a:t>Hash all substring of pattern   </a:t>
            </a:r>
          </a:p>
          <a:p>
            <a:pPr marL="0" indent="0">
              <a:buNone/>
            </a:pPr>
            <a:r>
              <a:rPr lang="en-US" altLang="zh-TW" dirty="0"/>
              <a:t>Time: O(m</a:t>
            </a:r>
            <a:r>
              <a:rPr lang="en-US" altLang="zh-TW" baseline="30000" dirty="0"/>
              <a:t>2</a:t>
            </a:r>
            <a:r>
              <a:rPr lang="en-US" altLang="zh-TW" dirty="0"/>
              <a:t>)   </a:t>
            </a:r>
          </a:p>
          <a:p>
            <a:pPr marL="0" indent="0">
              <a:buNone/>
            </a:pPr>
            <a:r>
              <a:rPr lang="en-US" altLang="zh-TW" dirty="0"/>
              <a:t>Space:</a:t>
            </a:r>
            <a:r>
              <a:rPr lang="zh-TW" altLang="en-US" dirty="0"/>
              <a:t> </a:t>
            </a:r>
            <a:r>
              <a:rPr lang="en-US" altLang="zh-TW" dirty="0"/>
              <a:t>O(2</a:t>
            </a:r>
            <a:r>
              <a:rPr lang="el-GR" altLang="zh-TW" baseline="30000" dirty="0"/>
              <a:t>α</a:t>
            </a:r>
            <a:r>
              <a:rPr lang="en-US" altLang="zh-TW" dirty="0"/>
              <a:t>)</a:t>
            </a:r>
          </a:p>
          <a:p>
            <a:pPr marL="0" indent="0">
              <a:buNone/>
            </a:pPr>
            <a:endParaRPr lang="en-US" altLang="zh-TW" dirty="0"/>
          </a:p>
          <a:p>
            <a:pPr marL="0" indent="0">
              <a:buNone/>
            </a:pPr>
            <a:r>
              <a:rPr lang="en-US" altLang="zh-TW" dirty="0"/>
              <a:t>x = ATATCCG =&gt; ( A, AT, ATA, …, ATATCCG ), (T, TA, TAT, …, TATCCG), … , (G)</a:t>
            </a:r>
            <a:br>
              <a:rPr lang="en-US" altLang="zh-TW" dirty="0"/>
            </a:br>
            <a:r>
              <a:rPr lang="en-US" altLang="zh-TW" dirty="0"/>
              <a:t>		</a:t>
            </a:r>
            <a:endParaRPr lang="zh-TW" altLang="en-US" dirty="0"/>
          </a:p>
        </p:txBody>
      </p:sp>
      <p:pic>
        <p:nvPicPr>
          <p:cNvPr id="4" name="內容版面配置區 4">
            <a:extLst>
              <a:ext uri="{FF2B5EF4-FFF2-40B4-BE49-F238E27FC236}">
                <a16:creationId xmlns:a16="http://schemas.microsoft.com/office/drawing/2014/main" id="{1352EDF4-FA5F-4C4D-B092-8DBB2B4014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711" y="4513153"/>
            <a:ext cx="7382905" cy="819264"/>
          </a:xfrm>
          <a:prstGeom prst="rect">
            <a:avLst/>
          </a:prstGeom>
        </p:spPr>
      </p:pic>
    </p:spTree>
    <p:extLst>
      <p:ext uri="{BB962C8B-B14F-4D97-AF65-F5344CB8AC3E}">
        <p14:creationId xmlns:p14="http://schemas.microsoft.com/office/powerpoint/2010/main" val="278290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312EBE-21AA-4EBF-954A-0E0C707BB8E8}"/>
              </a:ext>
            </a:extLst>
          </p:cNvPr>
          <p:cNvSpPr>
            <a:spLocks noGrp="1"/>
          </p:cNvSpPr>
          <p:nvPr>
            <p:ph type="title"/>
          </p:nvPr>
        </p:nvSpPr>
        <p:spPr/>
        <p:txBody>
          <a:bodyPr/>
          <a:lstStyle/>
          <a:p>
            <a:r>
              <a:rPr lang="en-US" altLang="zh-TW" dirty="0"/>
              <a:t>Preprocessing Phase</a:t>
            </a:r>
            <a:endParaRPr lang="zh-TW" altLang="en-US" dirty="0"/>
          </a:p>
        </p:txBody>
      </p:sp>
      <p:pic>
        <p:nvPicPr>
          <p:cNvPr id="5" name="內容版面配置區 4">
            <a:extLst>
              <a:ext uri="{FF2B5EF4-FFF2-40B4-BE49-F238E27FC236}">
                <a16:creationId xmlns:a16="http://schemas.microsoft.com/office/drawing/2014/main" id="{CE366829-7021-47D3-9D74-1DB971AC36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5706" y="2200104"/>
            <a:ext cx="7382905" cy="819264"/>
          </a:xfrm>
        </p:spPr>
      </p:pic>
      <p:pic>
        <p:nvPicPr>
          <p:cNvPr id="7" name="圖片 6">
            <a:extLst>
              <a:ext uri="{FF2B5EF4-FFF2-40B4-BE49-F238E27FC236}">
                <a16:creationId xmlns:a16="http://schemas.microsoft.com/office/drawing/2014/main" id="{DAD0DF15-7ED1-4B96-9335-F43042F7B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706" y="3958634"/>
            <a:ext cx="6811326" cy="838317"/>
          </a:xfrm>
          <a:prstGeom prst="rect">
            <a:avLst/>
          </a:prstGeom>
        </p:spPr>
      </p:pic>
      <p:pic>
        <p:nvPicPr>
          <p:cNvPr id="9" name="圖片 8">
            <a:extLst>
              <a:ext uri="{FF2B5EF4-FFF2-40B4-BE49-F238E27FC236}">
                <a16:creationId xmlns:a16="http://schemas.microsoft.com/office/drawing/2014/main" id="{256D98C8-1F79-470C-A795-99F1D9F0B1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7227" y="1182875"/>
            <a:ext cx="3381847" cy="5201376"/>
          </a:xfrm>
          <a:prstGeom prst="rect">
            <a:avLst/>
          </a:prstGeom>
        </p:spPr>
      </p:pic>
      <p:sp>
        <p:nvSpPr>
          <p:cNvPr id="10" name="矩形 9">
            <a:extLst>
              <a:ext uri="{FF2B5EF4-FFF2-40B4-BE49-F238E27FC236}">
                <a16:creationId xmlns:a16="http://schemas.microsoft.com/office/drawing/2014/main" id="{0F65F971-BE03-4C35-994C-C0D40AC1D189}"/>
              </a:ext>
            </a:extLst>
          </p:cNvPr>
          <p:cNvSpPr/>
          <p:nvPr/>
        </p:nvSpPr>
        <p:spPr>
          <a:xfrm>
            <a:off x="8177227" y="1182875"/>
            <a:ext cx="3504700" cy="52013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1055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850D7D-4832-4846-9F17-B32BEA1091CF}"/>
              </a:ext>
            </a:extLst>
          </p:cNvPr>
          <p:cNvSpPr>
            <a:spLocks noGrp="1"/>
          </p:cNvSpPr>
          <p:nvPr>
            <p:ph type="title"/>
          </p:nvPr>
        </p:nvSpPr>
        <p:spPr/>
        <p:txBody>
          <a:bodyPr/>
          <a:lstStyle/>
          <a:p>
            <a:r>
              <a:rPr lang="en-US" altLang="zh-TW" dirty="0"/>
              <a:t>Searching Phase</a:t>
            </a:r>
            <a:endParaRPr lang="zh-TW" altLang="en-US" dirty="0"/>
          </a:p>
        </p:txBody>
      </p:sp>
      <p:pic>
        <p:nvPicPr>
          <p:cNvPr id="5" name="內容版面配置區 4">
            <a:extLst>
              <a:ext uri="{FF2B5EF4-FFF2-40B4-BE49-F238E27FC236}">
                <a16:creationId xmlns:a16="http://schemas.microsoft.com/office/drawing/2014/main" id="{FFB9B88C-ABAA-4DB2-B2A4-8C105B2C59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3400" y="1774065"/>
            <a:ext cx="3658347" cy="4351338"/>
          </a:xfrm>
        </p:spPr>
      </p:pic>
      <p:sp>
        <p:nvSpPr>
          <p:cNvPr id="3" name="橢圓 2">
            <a:extLst>
              <a:ext uri="{FF2B5EF4-FFF2-40B4-BE49-F238E27FC236}">
                <a16:creationId xmlns:a16="http://schemas.microsoft.com/office/drawing/2014/main" id="{7A5E9B27-6E9C-480D-965B-25513DBA06E7}"/>
              </a:ext>
            </a:extLst>
          </p:cNvPr>
          <p:cNvSpPr/>
          <p:nvPr/>
        </p:nvSpPr>
        <p:spPr>
          <a:xfrm>
            <a:off x="2766908" y="5802237"/>
            <a:ext cx="609600" cy="4308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 name="文字方塊 3">
            <a:extLst>
              <a:ext uri="{FF2B5EF4-FFF2-40B4-BE49-F238E27FC236}">
                <a16:creationId xmlns:a16="http://schemas.microsoft.com/office/drawing/2014/main" id="{E55B748E-6DF3-4368-8935-E2A8C083B584}"/>
              </a:ext>
            </a:extLst>
          </p:cNvPr>
          <p:cNvSpPr txBox="1"/>
          <p:nvPr/>
        </p:nvSpPr>
        <p:spPr>
          <a:xfrm>
            <a:off x="6007306" y="5479072"/>
            <a:ext cx="490331" cy="646331"/>
          </a:xfrm>
          <a:prstGeom prst="rect">
            <a:avLst/>
          </a:prstGeom>
          <a:noFill/>
        </p:spPr>
        <p:txBody>
          <a:bodyPr wrap="square" rtlCol="0">
            <a:spAutoFit/>
          </a:bodyPr>
          <a:lstStyle/>
          <a:p>
            <a:r>
              <a:rPr lang="zh-TW" altLang="en-US" sz="3600" dirty="0">
                <a:solidFill>
                  <a:srgbClr val="FF0000"/>
                </a:solidFill>
              </a:rPr>
              <a:t>？</a:t>
            </a:r>
          </a:p>
        </p:txBody>
      </p:sp>
      <p:cxnSp>
        <p:nvCxnSpPr>
          <p:cNvPr id="7" name="直線接點 6">
            <a:extLst>
              <a:ext uri="{FF2B5EF4-FFF2-40B4-BE49-F238E27FC236}">
                <a16:creationId xmlns:a16="http://schemas.microsoft.com/office/drawing/2014/main" id="{CC90A2E6-2AAA-4203-8383-5148FD25349B}"/>
              </a:ext>
            </a:extLst>
          </p:cNvPr>
          <p:cNvCxnSpPr>
            <a:cxnSpLocks/>
          </p:cNvCxnSpPr>
          <p:nvPr/>
        </p:nvCxnSpPr>
        <p:spPr>
          <a:xfrm>
            <a:off x="1758598" y="4456448"/>
            <a:ext cx="0" cy="680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12FC495E-503B-48B7-A00D-F528975C8660}"/>
              </a:ext>
            </a:extLst>
          </p:cNvPr>
          <p:cNvCxnSpPr>
            <a:cxnSpLocks/>
          </p:cNvCxnSpPr>
          <p:nvPr/>
        </p:nvCxnSpPr>
        <p:spPr>
          <a:xfrm flipH="1">
            <a:off x="1758598" y="4380248"/>
            <a:ext cx="149604"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ADCCD726-561B-40F5-9568-0327207463E9}"/>
              </a:ext>
            </a:extLst>
          </p:cNvPr>
          <p:cNvCxnSpPr>
            <a:cxnSpLocks/>
          </p:cNvCxnSpPr>
          <p:nvPr/>
        </p:nvCxnSpPr>
        <p:spPr>
          <a:xfrm flipH="1" flipV="1">
            <a:off x="1746944" y="5137327"/>
            <a:ext cx="172912" cy="113122"/>
          </a:xfrm>
          <a:prstGeom prst="line">
            <a:avLst/>
          </a:prstGeom>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FCCBA84-A144-4305-A388-1B87760AC29D}"/>
              </a:ext>
            </a:extLst>
          </p:cNvPr>
          <p:cNvSpPr txBox="1"/>
          <p:nvPr/>
        </p:nvSpPr>
        <p:spPr>
          <a:xfrm>
            <a:off x="789290" y="4566054"/>
            <a:ext cx="1044110" cy="461665"/>
          </a:xfrm>
          <a:prstGeom prst="rect">
            <a:avLst/>
          </a:prstGeom>
          <a:noFill/>
        </p:spPr>
        <p:txBody>
          <a:bodyPr wrap="square" rtlCol="0">
            <a:spAutoFit/>
          </a:bodyPr>
          <a:lstStyle/>
          <a:p>
            <a:r>
              <a:rPr lang="en-US" altLang="zh-TW" sz="2400" dirty="0"/>
              <a:t>search</a:t>
            </a:r>
            <a:endParaRPr lang="zh-TW" altLang="en-US" sz="2400" dirty="0"/>
          </a:p>
        </p:txBody>
      </p:sp>
      <p:sp>
        <p:nvSpPr>
          <p:cNvPr id="18" name="矩形 17">
            <a:extLst>
              <a:ext uri="{FF2B5EF4-FFF2-40B4-BE49-F238E27FC236}">
                <a16:creationId xmlns:a16="http://schemas.microsoft.com/office/drawing/2014/main" id="{D0B8D00A-09B6-4B78-8BCD-E1D9FB5B5056}"/>
              </a:ext>
            </a:extLst>
          </p:cNvPr>
          <p:cNvSpPr/>
          <p:nvPr/>
        </p:nvSpPr>
        <p:spPr>
          <a:xfrm>
            <a:off x="6241410" y="2072928"/>
            <a:ext cx="2869034" cy="302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345B91AE-D2E3-487D-9382-587B10EB1F72}"/>
              </a:ext>
            </a:extLst>
          </p:cNvPr>
          <p:cNvSpPr/>
          <p:nvPr/>
        </p:nvSpPr>
        <p:spPr>
          <a:xfrm>
            <a:off x="6252472" y="2455168"/>
            <a:ext cx="721453" cy="30200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D4AE7298-2097-445E-958F-4E5C6FFC65D0}"/>
              </a:ext>
            </a:extLst>
          </p:cNvPr>
          <p:cNvSpPr/>
          <p:nvPr/>
        </p:nvSpPr>
        <p:spPr>
          <a:xfrm>
            <a:off x="6252472" y="2998753"/>
            <a:ext cx="2869034" cy="302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E1D92AA7-1101-4C6C-BAE2-8E38C9AE4C5C}"/>
              </a:ext>
            </a:extLst>
          </p:cNvPr>
          <p:cNvSpPr/>
          <p:nvPr/>
        </p:nvSpPr>
        <p:spPr>
          <a:xfrm>
            <a:off x="6973925" y="3429000"/>
            <a:ext cx="721453" cy="302003"/>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97970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66E20E-34E2-4C66-BF28-4E835E63F942}"/>
              </a:ext>
            </a:extLst>
          </p:cNvPr>
          <p:cNvSpPr>
            <a:spLocks noGrp="1"/>
          </p:cNvSpPr>
          <p:nvPr>
            <p:ph type="title"/>
          </p:nvPr>
        </p:nvSpPr>
        <p:spPr/>
        <p:txBody>
          <a:bodyPr/>
          <a:lstStyle/>
          <a:p>
            <a:r>
              <a:rPr lang="en-US" altLang="zh-TW" dirty="0"/>
              <a:t>Variant</a:t>
            </a:r>
            <a:endParaRPr lang="zh-TW" altLang="en-US" dirty="0"/>
          </a:p>
        </p:txBody>
      </p:sp>
      <p:pic>
        <p:nvPicPr>
          <p:cNvPr id="5" name="內容版面配置區 4">
            <a:extLst>
              <a:ext uri="{FF2B5EF4-FFF2-40B4-BE49-F238E27FC236}">
                <a16:creationId xmlns:a16="http://schemas.microsoft.com/office/drawing/2014/main" id="{CF775356-CC11-4E44-8E42-D9B461FFB1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5610" y="2229892"/>
            <a:ext cx="4258269" cy="3324689"/>
          </a:xfrm>
        </p:spPr>
      </p:pic>
      <p:pic>
        <p:nvPicPr>
          <p:cNvPr id="7" name="圖片 6">
            <a:extLst>
              <a:ext uri="{FF2B5EF4-FFF2-40B4-BE49-F238E27FC236}">
                <a16:creationId xmlns:a16="http://schemas.microsoft.com/office/drawing/2014/main" id="{77FD21B5-A9AC-4DC4-986C-776EA40765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510" y="2229892"/>
            <a:ext cx="4258269" cy="3324689"/>
          </a:xfrm>
          <a:prstGeom prst="rect">
            <a:avLst/>
          </a:prstGeom>
        </p:spPr>
      </p:pic>
      <p:pic>
        <p:nvPicPr>
          <p:cNvPr id="11" name="圖片 10">
            <a:extLst>
              <a:ext uri="{FF2B5EF4-FFF2-40B4-BE49-F238E27FC236}">
                <a16:creationId xmlns:a16="http://schemas.microsoft.com/office/drawing/2014/main" id="{8C2196BE-F67A-4A7D-B9AD-339455BF0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1286" y="3359021"/>
            <a:ext cx="3562847" cy="314369"/>
          </a:xfrm>
          <a:prstGeom prst="rect">
            <a:avLst/>
          </a:prstGeom>
        </p:spPr>
      </p:pic>
      <p:sp>
        <p:nvSpPr>
          <p:cNvPr id="12" name="矩形 11">
            <a:extLst>
              <a:ext uri="{FF2B5EF4-FFF2-40B4-BE49-F238E27FC236}">
                <a16:creationId xmlns:a16="http://schemas.microsoft.com/office/drawing/2014/main" id="{8E014086-9485-4622-8274-EA81967A3F60}"/>
              </a:ext>
            </a:extLst>
          </p:cNvPr>
          <p:cNvSpPr/>
          <p:nvPr/>
        </p:nvSpPr>
        <p:spPr>
          <a:xfrm>
            <a:off x="6327510" y="3359021"/>
            <a:ext cx="4122776" cy="314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BCA739C3-E770-4C74-BFE9-5E4AF209AD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1286" y="4154756"/>
            <a:ext cx="2038635" cy="285790"/>
          </a:xfrm>
          <a:prstGeom prst="rect">
            <a:avLst/>
          </a:prstGeom>
        </p:spPr>
      </p:pic>
      <p:sp>
        <p:nvSpPr>
          <p:cNvPr id="15" name="矩形 14">
            <a:extLst>
              <a:ext uri="{FF2B5EF4-FFF2-40B4-BE49-F238E27FC236}">
                <a16:creationId xmlns:a16="http://schemas.microsoft.com/office/drawing/2014/main" id="{10F25CB9-C149-4A3E-B4ED-6F9EC300FE02}"/>
              </a:ext>
            </a:extLst>
          </p:cNvPr>
          <p:cNvSpPr/>
          <p:nvPr/>
        </p:nvSpPr>
        <p:spPr>
          <a:xfrm>
            <a:off x="6327510" y="4140466"/>
            <a:ext cx="4122776" cy="314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7" name="圖片 16">
            <a:extLst>
              <a:ext uri="{FF2B5EF4-FFF2-40B4-BE49-F238E27FC236}">
                <a16:creationId xmlns:a16="http://schemas.microsoft.com/office/drawing/2014/main" id="{DBC413B4-F617-4179-8445-8334043FF7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8964" y="4465753"/>
            <a:ext cx="4406390" cy="260186"/>
          </a:xfrm>
          <a:prstGeom prst="rect">
            <a:avLst/>
          </a:prstGeom>
        </p:spPr>
      </p:pic>
      <p:sp>
        <p:nvSpPr>
          <p:cNvPr id="18" name="矩形 17">
            <a:extLst>
              <a:ext uri="{FF2B5EF4-FFF2-40B4-BE49-F238E27FC236}">
                <a16:creationId xmlns:a16="http://schemas.microsoft.com/office/drawing/2014/main" id="{6E1BC8A6-BA06-45DA-9BCB-0A4312D33FF4}"/>
              </a:ext>
            </a:extLst>
          </p:cNvPr>
          <p:cNvSpPr/>
          <p:nvPr/>
        </p:nvSpPr>
        <p:spPr>
          <a:xfrm>
            <a:off x="6327510" y="4435387"/>
            <a:ext cx="4598880" cy="314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7923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4FBE72-695D-441E-AFF3-D3B03419F9B6}"/>
              </a:ext>
            </a:extLst>
          </p:cNvPr>
          <p:cNvSpPr>
            <a:spLocks noGrp="1"/>
          </p:cNvSpPr>
          <p:nvPr>
            <p:ph type="title"/>
          </p:nvPr>
        </p:nvSpPr>
        <p:spPr/>
        <p:txBody>
          <a:bodyPr/>
          <a:lstStyle/>
          <a:p>
            <a:r>
              <a:rPr lang="en-US" altLang="zh-TW" b="1" dirty="0"/>
              <a:t>Experiment</a:t>
            </a:r>
            <a:endParaRPr lang="zh-TW" altLang="en-US" dirty="0"/>
          </a:p>
        </p:txBody>
      </p:sp>
      <p:pic>
        <p:nvPicPr>
          <p:cNvPr id="8" name="內容版面配置區 7">
            <a:extLst>
              <a:ext uri="{FF2B5EF4-FFF2-40B4-BE49-F238E27FC236}">
                <a16:creationId xmlns:a16="http://schemas.microsoft.com/office/drawing/2014/main" id="{F2F7E3EC-E1F7-4858-9D58-CAC1F8E355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9864" y="1690688"/>
            <a:ext cx="6652272" cy="4351338"/>
          </a:xfrm>
        </p:spPr>
      </p:pic>
    </p:spTree>
    <p:extLst>
      <p:ext uri="{BB962C8B-B14F-4D97-AF65-F5344CB8AC3E}">
        <p14:creationId xmlns:p14="http://schemas.microsoft.com/office/powerpoint/2010/main" val="544381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689E67-1ABA-44F2-901F-F2F307F24FB5}"/>
              </a:ext>
            </a:extLst>
          </p:cNvPr>
          <p:cNvSpPr>
            <a:spLocks noGrp="1"/>
          </p:cNvSpPr>
          <p:nvPr>
            <p:ph type="title"/>
          </p:nvPr>
        </p:nvSpPr>
        <p:spPr/>
        <p:txBody>
          <a:bodyPr/>
          <a:lstStyle/>
          <a:p>
            <a:r>
              <a:rPr lang="en-US" altLang="zh-TW" b="1" dirty="0"/>
              <a:t>Experiment</a:t>
            </a:r>
            <a:endParaRPr lang="zh-TW" altLang="en-US" dirty="0"/>
          </a:p>
        </p:txBody>
      </p:sp>
      <p:pic>
        <p:nvPicPr>
          <p:cNvPr id="7" name="內容版面配置區 6">
            <a:extLst>
              <a:ext uri="{FF2B5EF4-FFF2-40B4-BE49-F238E27FC236}">
                <a16:creationId xmlns:a16="http://schemas.microsoft.com/office/drawing/2014/main" id="{97B9EA8C-D78C-4F6E-84D9-DC00D737E0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7906" y="1690688"/>
            <a:ext cx="6876188" cy="4351338"/>
          </a:xfrm>
        </p:spPr>
      </p:pic>
    </p:spTree>
    <p:extLst>
      <p:ext uri="{BB962C8B-B14F-4D97-AF65-F5344CB8AC3E}">
        <p14:creationId xmlns:p14="http://schemas.microsoft.com/office/powerpoint/2010/main" val="1653295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E5E4BA-8687-4AD3-AD61-39D2BC998398}"/>
              </a:ext>
            </a:extLst>
          </p:cNvPr>
          <p:cNvSpPr>
            <a:spLocks noGrp="1"/>
          </p:cNvSpPr>
          <p:nvPr>
            <p:ph type="title"/>
          </p:nvPr>
        </p:nvSpPr>
        <p:spPr/>
        <p:txBody>
          <a:bodyPr/>
          <a:lstStyle/>
          <a:p>
            <a:r>
              <a:rPr lang="en-US" altLang="zh-TW" b="1" dirty="0"/>
              <a:t>Experiment</a:t>
            </a:r>
            <a:endParaRPr lang="zh-TW" altLang="en-US" dirty="0"/>
          </a:p>
        </p:txBody>
      </p:sp>
      <p:pic>
        <p:nvPicPr>
          <p:cNvPr id="5" name="內容版面配置區 4">
            <a:extLst>
              <a:ext uri="{FF2B5EF4-FFF2-40B4-BE49-F238E27FC236}">
                <a16:creationId xmlns:a16="http://schemas.microsoft.com/office/drawing/2014/main" id="{7A64AF47-9A56-41B0-BF5E-55F19E209B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5445" y="1690688"/>
            <a:ext cx="6881110" cy="4449340"/>
          </a:xfrm>
        </p:spPr>
      </p:pic>
    </p:spTree>
    <p:extLst>
      <p:ext uri="{BB962C8B-B14F-4D97-AF65-F5344CB8AC3E}">
        <p14:creationId xmlns:p14="http://schemas.microsoft.com/office/powerpoint/2010/main" val="22098294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281</Words>
  <Application>Microsoft Office PowerPoint</Application>
  <PresentationFormat>寬螢幕</PresentationFormat>
  <Paragraphs>23</Paragraphs>
  <Slides>10</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10</vt:i4>
      </vt:variant>
    </vt:vector>
  </HeadingPairs>
  <TitlesOfParts>
    <vt:vector size="14" baseType="lpstr">
      <vt:lpstr>Arial</vt:lpstr>
      <vt:lpstr>Calibri</vt:lpstr>
      <vt:lpstr>Calibri Light</vt:lpstr>
      <vt:lpstr>Office 佈景主題</vt:lpstr>
      <vt:lpstr>Speeding Up String Matching by Weak Factor Recognition </vt:lpstr>
      <vt:lpstr>Abstract(1/2)</vt:lpstr>
      <vt:lpstr>Abstract(2/2)</vt:lpstr>
      <vt:lpstr>Weak Factor Recognition: Hash</vt:lpstr>
      <vt:lpstr>Preprocessing Phase</vt:lpstr>
      <vt:lpstr>Searching Phase</vt:lpstr>
      <vt:lpstr>Variant</vt:lpstr>
      <vt:lpstr>Experiment</vt:lpstr>
      <vt:lpstr>Experiment</vt:lpstr>
      <vt:lpstr>Experiment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Speeding Up String Matching by Weak Factor Recognition </dc:title>
  <dc:creator>冠霖</dc:creator>
  <cp:lastModifiedBy>冠霖</cp:lastModifiedBy>
  <cp:revision>15</cp:revision>
  <dcterms:created xsi:type="dcterms:W3CDTF">2018-12-16T03:31:49Z</dcterms:created>
  <dcterms:modified xsi:type="dcterms:W3CDTF">2018-12-17T10:13:06Z</dcterms:modified>
</cp:coreProperties>
</file>