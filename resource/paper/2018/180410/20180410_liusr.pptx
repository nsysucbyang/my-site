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4" r:id="rId4"/>
    <p:sldId id="287" r:id="rId5"/>
    <p:sldId id="288" r:id="rId6"/>
    <p:sldId id="286" r:id="rId7"/>
    <p:sldId id="289" r:id="rId8"/>
    <p:sldId id="290" r:id="rId9"/>
    <p:sldId id="291" r:id="rId10"/>
    <p:sldId id="295" r:id="rId11"/>
    <p:sldId id="292" r:id="rId12"/>
    <p:sldId id="293" r:id="rId13"/>
    <p:sldId id="294" r:id="rId14"/>
    <p:sldId id="284" r:id="rId15"/>
    <p:sldId id="285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69" autoAdjust="0"/>
    <p:restoredTop sz="78307" autoAdjust="0"/>
  </p:normalViewPr>
  <p:slideViewPr>
    <p:cSldViewPr snapToGrid="0">
      <p:cViewPr varScale="1">
        <p:scale>
          <a:sx n="68" d="100"/>
          <a:sy n="68" d="100"/>
        </p:scale>
        <p:origin x="84" y="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01CE27-751F-48D9-A3E6-37B85B410D4A}" type="datetimeFigureOut">
              <a:rPr lang="zh-TW" altLang="en-US" smtClean="0"/>
              <a:t>2018/4/10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2EB79-9C15-4368-B725-BB8D0D1C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2302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22EB79-9C15-4368-B725-BB8D0D1C7B1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478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22EB79-9C15-4368-B725-BB8D0D1C7B1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1513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22EB79-9C15-4368-B725-BB8D0D1C7B15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2249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FA826C-B827-48E7-923C-08C27A6D0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EF732A0-EAAC-46F4-A2BD-7894166D6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E00B3F-FCF3-43A8-BA3C-83E3D27FD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63CDD-1571-4D07-AD50-27DEDA2DAB08}" type="datetime1">
              <a:rPr lang="zh-TW" altLang="en-US" smtClean="0"/>
              <a:t>2018/4/10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7DEB773-BC7F-471F-AAA2-C6E648DF1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0BCD83-5310-40C3-8583-4562F7663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45978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8FC2AA-8240-4810-8FED-A3DD62B53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4AF7A4-3700-4BCA-8788-5F4FBE985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D63DA6-083D-4C87-B46F-4639F5BA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0CF3-7BCB-4E41-A4BC-7F7C7D47433D}" type="datetime1">
              <a:rPr lang="zh-TW" altLang="en-US" smtClean="0"/>
              <a:t>2018/4/10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A96B28-A6B2-4CCD-A0A0-0FC8A9F2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F41030-E2A0-4DD7-A077-C86BB9D1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9509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59C8D0-3EEB-43FA-AB9E-D0910F9C8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6C8DA04-C654-4A32-81E1-D1990594B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67C9000-9E5A-4894-8CE5-D814ED1F8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863AD-E347-426A-B227-78A9B42781C3}" type="datetime1">
              <a:rPr lang="zh-TW" altLang="en-US" smtClean="0"/>
              <a:t>2018/4/10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B87D9EE-8E3C-41CA-841E-E125FA877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B02431B-5153-4936-B0EE-CABE36F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8174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A66F51-D3F0-406D-AAC3-01300BB0D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FBDAEA-0EC9-4BFC-B4DC-9A02E134E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943015-4729-44AB-B601-E3BFA2BA7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9E55BE4-DE58-4CB4-A138-82C7FA95E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8F46-57F3-4B32-B3C0-034060244659}" type="datetime1">
              <a:rPr lang="zh-TW" altLang="en-US" smtClean="0"/>
              <a:t>2018/4/10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94F790-01BB-4A74-B31E-9E0181378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11A38C2-FB38-4EF1-BEE9-C6127183E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885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B86871-0575-4B21-9333-0B96E286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CE8BC1-3B30-4676-AAB2-794442C2D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ED19164-1E96-40EE-9246-AA1E65999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A06F7C1-0AF6-46DF-8CF5-44E8DBBE2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F3B69BF-E2A2-49C3-B1F9-786966B06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1164490-F37E-4BF2-B792-E41261B07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E6354-929A-48E4-A569-5065F8787DBB}" type="datetime1">
              <a:rPr lang="zh-TW" altLang="en-US" smtClean="0"/>
              <a:t>2018/4/10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AD5587A-E829-42C8-831F-99414F496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9B54927-CA1D-4379-9562-EFDFDA5D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9502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39C19A-DE44-4713-BF93-3D9F1FCBE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067B964-A9EE-448C-A903-DF032F75B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7B07A-C303-4A11-829E-75A08D84F791}" type="datetime1">
              <a:rPr lang="zh-TW" altLang="en-US" smtClean="0"/>
              <a:t>2018/4/10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9FBDCDA-948D-4D74-A9CB-BF0FDF289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BF2C7E3-47A7-4611-B686-B56505F1B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6072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05DC494-3175-4D2C-8019-6DC804B3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C0FAA-EAB9-46FF-9B2E-6C03EFE0E627}" type="datetime1">
              <a:rPr lang="zh-TW" altLang="en-US" smtClean="0"/>
              <a:t>2018/4/10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61414F2-4AAB-4D3D-9B55-6D611E2C5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27B6FE-1D54-44CF-9B02-7D4B222A7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1405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1337AC-5890-4658-9633-0789FDA9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22CC54-BC45-47EE-96B0-B43A1D1BC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C769566-CB0F-43CF-9358-EBC2CC4FB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19407D-C528-4858-9191-402D0B2E4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15960-3F62-4BA7-8DEF-58213E9FC750}" type="datetime1">
              <a:rPr lang="zh-TW" altLang="en-US" smtClean="0"/>
              <a:t>2018/4/10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76CEE8D-E284-4A31-91E6-DED43608B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E8B0B4B-C516-4AA2-BB4B-78EB6C78A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0831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41F1C9-4A33-41F9-9A6C-C2CA32C4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E938834-CF9D-43C8-A12C-17090FA2F8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533F49C-9EA4-4A17-8CB9-8793107C0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917929-FFD5-45C6-AB7C-0A03F71D1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95139-73A5-4D37-9F65-42DD6EFCB362}" type="datetime1">
              <a:rPr lang="zh-TW" altLang="en-US" smtClean="0"/>
              <a:t>2018/4/10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957C9B4-23F7-4ED4-B3ED-8BA7DAFFB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C8198A6-61AE-471E-87FA-7AAA5711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0696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0126FA-CD86-4406-B2A6-385B5925E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266ECCF-61AA-4623-A519-B8C19CE7C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F64FCF-DA26-41B4-8919-89C752F28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DB9CA-F34A-4005-B66B-4638821FBB36}" type="datetime1">
              <a:rPr lang="zh-TW" altLang="en-US" smtClean="0"/>
              <a:t>2018/4/10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B90C5E-07BB-4BDE-A6DE-837D4B32E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E20F850-672A-48DC-883D-88316666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706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F3BBB3C-AD7C-461A-B4F6-E1D3B7F36C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B38A6C4-FFF1-480E-A653-69B9EA56A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53E183-339D-4996-9336-DF360AFA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2FA3D-57A8-4A36-8AB7-98D4B7F81A6B}" type="datetime1">
              <a:rPr lang="zh-TW" altLang="en-US" smtClean="0"/>
              <a:t>2018/4/10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8900FD-C0EE-4957-AD7C-2F848F091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7F8627-2565-4288-8ACC-D27B0394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511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7278959-5364-4351-AC95-0854CBC4D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7FD0B26-27BA-4591-876F-81883746E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AEA749-A752-40EF-9A2F-1D5D321BDD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CB9FC-3C71-41FD-914C-6EDD2F45F0F9}" type="datetime1">
              <a:rPr lang="zh-TW" altLang="en-US" smtClean="0"/>
              <a:t>2018/4/10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EBD8A3-AFAC-4E16-BF90-054E8ED749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23ABFF-0703-422A-93E4-68B89B878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CD063-7F18-423D-A692-CC9D343FD360}" type="slidenum">
              <a:rPr lang="zh-TW" altLang="en-US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6122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600E22-8B2D-44A2-B529-2D5C521DF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384" y="601086"/>
            <a:ext cx="10438228" cy="1786671"/>
          </a:xfrm>
        </p:spPr>
        <p:txBody>
          <a:bodyPr>
            <a:normAutofit/>
          </a:bodyPr>
          <a:lstStyle/>
          <a:p>
            <a:r>
              <a:rPr lang="en-US" altLang="zh-TW" sz="4800" dirty="0"/>
              <a:t>Efficient Classification of Long Time Series by 3-D Dynamic Time Warping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1F7DB53-5192-4070-9ADE-B5C85E35C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2831" y="2715042"/>
            <a:ext cx="9679333" cy="773417"/>
          </a:xfrm>
        </p:spPr>
        <p:txBody>
          <a:bodyPr>
            <a:noAutofit/>
          </a:bodyPr>
          <a:lstStyle/>
          <a:p>
            <a:r>
              <a:rPr lang="en-US" altLang="zh-TW" sz="2800" dirty="0" err="1"/>
              <a:t>Anooshiravan</a:t>
            </a:r>
            <a:r>
              <a:rPr lang="en-US" altLang="zh-TW" sz="2800" dirty="0"/>
              <a:t> </a:t>
            </a:r>
            <a:r>
              <a:rPr lang="en-US" altLang="zh-TW" sz="2800" dirty="0" err="1"/>
              <a:t>Sharabiani</a:t>
            </a:r>
            <a:r>
              <a:rPr lang="en-US" altLang="zh-TW" sz="2800" dirty="0"/>
              <a:t>, </a:t>
            </a:r>
            <a:r>
              <a:rPr lang="en-US" altLang="zh-TW" sz="2800" dirty="0" err="1"/>
              <a:t>Houshang</a:t>
            </a:r>
            <a:r>
              <a:rPr lang="en-US" altLang="zh-TW" sz="2800" dirty="0"/>
              <a:t> </a:t>
            </a:r>
            <a:r>
              <a:rPr lang="en-US" altLang="zh-TW" sz="2800" dirty="0" err="1"/>
              <a:t>Darabi</a:t>
            </a:r>
            <a:r>
              <a:rPr lang="en-US" altLang="zh-TW" sz="2800" dirty="0"/>
              <a:t>, Ashkan </a:t>
            </a:r>
            <a:r>
              <a:rPr lang="en-US" altLang="zh-TW" sz="2800" dirty="0" err="1"/>
              <a:t>Rezaei</a:t>
            </a:r>
            <a:r>
              <a:rPr lang="en-US" altLang="zh-TW" sz="2800" dirty="0"/>
              <a:t>, Samuel Harford, Hereford Johnson, and </a:t>
            </a:r>
            <a:r>
              <a:rPr lang="en-US" altLang="zh-TW" sz="2800" dirty="0" err="1"/>
              <a:t>Fazle</a:t>
            </a:r>
            <a:r>
              <a:rPr lang="en-US" altLang="zh-TW" sz="2800" dirty="0"/>
              <a:t> Karim</a:t>
            </a:r>
            <a:endParaRPr lang="zh-TW" altLang="en-US" sz="2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0F7494-AC7E-43FC-B731-082CA109D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4568" y="6485003"/>
            <a:ext cx="2743200" cy="365125"/>
          </a:xfrm>
        </p:spPr>
        <p:txBody>
          <a:bodyPr/>
          <a:lstStyle/>
          <a:p>
            <a:fld id="{8DCCD063-7F18-423D-A692-CC9D343FD360}" type="slidenum">
              <a:rPr lang="zh-TW" altLang="en-US" smtClean="0"/>
              <a:t>1</a:t>
            </a:fld>
            <a:endParaRPr lang="zh-TW" altLang="en-US" dirty="0"/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CC60B4B8-BDE3-427A-B56B-7314F1C4CCA4}"/>
              </a:ext>
            </a:extLst>
          </p:cNvPr>
          <p:cNvSpPr txBox="1">
            <a:spLocks/>
          </p:cNvSpPr>
          <p:nvPr/>
        </p:nvSpPr>
        <p:spPr>
          <a:xfrm>
            <a:off x="1192823" y="3756249"/>
            <a:ext cx="9806355" cy="9027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solidFill>
                  <a:schemeClr val="tx1"/>
                </a:solidFill>
              </a:rPr>
              <a:t>IEEE Transactions on Systems, Man, and Cybernetics: Systems</a:t>
            </a:r>
          </a:p>
          <a:p>
            <a:r>
              <a:rPr lang="en-US" altLang="zh-TW" sz="2800" dirty="0">
                <a:solidFill>
                  <a:schemeClr val="tx1"/>
                </a:solidFill>
              </a:rPr>
              <a:t>Vol. 47, Oct, 2017, Pages</a:t>
            </a:r>
            <a:r>
              <a:rPr lang="zh-TW" altLang="en-US" sz="2800" dirty="0">
                <a:solidFill>
                  <a:schemeClr val="tx1"/>
                </a:solidFill>
              </a:rPr>
              <a:t> </a:t>
            </a:r>
            <a:r>
              <a:rPr lang="en-US" altLang="zh-TW" sz="2800" dirty="0">
                <a:solidFill>
                  <a:schemeClr val="tx1"/>
                </a:solidFill>
              </a:rPr>
              <a:t>2688-2703</a:t>
            </a: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F161951C-063C-40D4-A802-0FD8D23F3044}"/>
              </a:ext>
            </a:extLst>
          </p:cNvPr>
          <p:cNvSpPr txBox="1">
            <a:spLocks/>
          </p:cNvSpPr>
          <p:nvPr/>
        </p:nvSpPr>
        <p:spPr>
          <a:xfrm>
            <a:off x="1192823" y="5265553"/>
            <a:ext cx="9806355" cy="902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tx1"/>
                </a:solidFill>
              </a:rPr>
              <a:t>Presenter: Shan-Ru Liu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Date: 2018/04/10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191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F6B1DC-F5A3-4A3E-ABB3-0C74971D0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468"/>
            <a:ext cx="10515600" cy="883104"/>
          </a:xfrm>
        </p:spPr>
        <p:txBody>
          <a:bodyPr/>
          <a:lstStyle/>
          <a:p>
            <a:r>
              <a:rPr lang="en-US" altLang="zh-TW" dirty="0"/>
              <a:t>Abstract (1/2)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EF2FB6-82B8-48D7-A181-5A6639544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98" y="1170765"/>
            <a:ext cx="11203552" cy="52677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/>
              <a:t>Throughout recent years, dynamic time warping (DTW) has remained as a robust similarity measure in time series classification (TSC). 1-nearest neighbor (1-NN) algorithm with DTW is the most widely used classification method on time series serving as a benchmark. With the increasing demand for TSC on low-resource devices and the widespread of wearable devices, the need for a efficient and accurate time series classifier has never been higher. Although 1-NN DTW attains accurate results, it highly falls back on efficiency due to its  quadratic complexity in the length of time series. In this paper, we propose a new approximation method for reducing the length of the time series as the input of DTW. We call it control chart approximation (CCA), after a similar concept used in statistical quality control processing.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F33E4C-9041-46E0-B109-AD73165F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DCCD063-7F18-423D-A692-CC9D343FD360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643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F6B1DC-F5A3-4A3E-ABB3-0C74971D0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468"/>
            <a:ext cx="10515600" cy="883104"/>
          </a:xfrm>
        </p:spPr>
        <p:txBody>
          <a:bodyPr/>
          <a:lstStyle/>
          <a:p>
            <a:r>
              <a:rPr lang="en-US" altLang="zh-TW" dirty="0"/>
              <a:t>Abstract (2/2)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EF2FB6-82B8-48D7-A181-5A6639544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940" y="1181039"/>
            <a:ext cx="10711606" cy="52677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/>
              <a:t>CCA representation approximates raw time series by transforming them into a set of segments with aggregated values and durations forming a reduced 3-D vector. We also propose an adaptation of DTW in 3-D space as a distance measure for 1-NN classifier, and denote the method as 1-NN  3-D DTW. Our experiments on 85 datasets from UCR archive—including 28 long-length (&gt;500 points) time series datasets—show up to two orders of magnitude performance gain in running time compared to the state-of-the-art 1-NN DTW implementation. Moreover, it shows similar or better accuracy on the long time series in the experiment.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F33E4C-9041-46E0-B109-AD73165F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DCCD063-7F18-423D-A692-CC9D343FD360}" type="slidenum">
              <a:rPr lang="zh-TW" altLang="en-US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13841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FFF7FD-680C-49AF-A306-7F2616F7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DTW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ED7265-893E-4BAD-A154-887AC4C0B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zh-TW" dirty="0"/>
              <a:t>Global Warping Constraints:</a:t>
            </a:r>
          </a:p>
          <a:p>
            <a:pPr marL="457189" lvl="1" indent="0">
              <a:buNone/>
            </a:pPr>
            <a:r>
              <a:rPr lang="en-US" altLang="zh-TW" dirty="0" err="1"/>
              <a:t>Sakoe</a:t>
            </a:r>
            <a:r>
              <a:rPr lang="en-US" altLang="zh-TW" dirty="0"/>
              <a:t>-Chiba band, </a:t>
            </a:r>
            <a:r>
              <a:rPr lang="en-US" altLang="zh-TW" dirty="0" err="1"/>
              <a:t>Itakura</a:t>
            </a:r>
            <a:r>
              <a:rPr lang="en-US" altLang="zh-TW" dirty="0"/>
              <a:t> parallelogram</a:t>
            </a:r>
          </a:p>
          <a:p>
            <a:pPr marL="514350" indent="-514350">
              <a:buAutoNum type="arabicPeriod"/>
            </a:pPr>
            <a:r>
              <a:rPr lang="en-US" altLang="zh-TW" dirty="0"/>
              <a:t>Lower Bounding:</a:t>
            </a:r>
          </a:p>
          <a:p>
            <a:pPr marL="457189" lvl="1" indent="0">
              <a:buNone/>
            </a:pPr>
            <a:r>
              <a:rPr lang="en-US" altLang="zh-TW" dirty="0" err="1"/>
              <a:t>LB_Kim</a:t>
            </a:r>
            <a:r>
              <a:rPr lang="en-US" altLang="zh-TW" dirty="0"/>
              <a:t>, </a:t>
            </a:r>
            <a:r>
              <a:rPr lang="en-US" altLang="zh-TW" dirty="0" err="1"/>
              <a:t>LB_Yi</a:t>
            </a:r>
            <a:r>
              <a:rPr lang="en-US" altLang="zh-TW" dirty="0"/>
              <a:t>, </a:t>
            </a:r>
            <a:r>
              <a:rPr lang="en-US" altLang="zh-TW" dirty="0" err="1"/>
              <a:t>LB_Keogh</a:t>
            </a:r>
            <a:r>
              <a:rPr lang="en-US" altLang="zh-TW" dirty="0"/>
              <a:t> </a:t>
            </a:r>
          </a:p>
          <a:p>
            <a:pPr marL="514350" indent="-514350">
              <a:buAutoNum type="arabicPeriod"/>
            </a:pPr>
            <a:r>
              <a:rPr lang="en-US" altLang="zh-TW" dirty="0"/>
              <a:t>Early Abandoning:</a:t>
            </a:r>
          </a:p>
          <a:p>
            <a:pPr marL="514350" indent="-514350">
              <a:buAutoNum type="arabicPeriod"/>
            </a:pPr>
            <a:r>
              <a:rPr lang="en-US" altLang="zh-TW" dirty="0"/>
              <a:t>Time Series Representation:</a:t>
            </a:r>
          </a:p>
          <a:p>
            <a:pPr marL="457189" lvl="1" indent="0">
              <a:buNone/>
            </a:pPr>
            <a:r>
              <a:rPr lang="en-US" altLang="zh-TW" dirty="0"/>
              <a:t>Piecewise aggregate approximation (PAA)</a:t>
            </a:r>
          </a:p>
          <a:p>
            <a:pPr marL="457189" lvl="1" indent="0">
              <a:buNone/>
            </a:pPr>
            <a:r>
              <a:rPr lang="en-US" altLang="zh-TW" dirty="0"/>
              <a:t>Adaptive piecewise constant approximation (APCA)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3B96F-4178-4774-B054-AECBB86E6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06B1E12-D8BD-469A-A995-3B8198A10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337" y="1646236"/>
            <a:ext cx="4336072" cy="214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791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4AB204-2E73-40C3-A917-729F75788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PAA, APCA, CCA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D61BFF6-90D1-411E-8171-6A5A28771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1832" y="1621448"/>
            <a:ext cx="9220200" cy="4604151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3824D4-CE04-43F5-8F7F-52C7961E7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54EB50F-BCBA-461D-BC4E-28C574949599}"/>
              </a:ext>
            </a:extLst>
          </p:cNvPr>
          <p:cNvSpPr/>
          <p:nvPr/>
        </p:nvSpPr>
        <p:spPr>
          <a:xfrm>
            <a:off x="7914502" y="5387546"/>
            <a:ext cx="2421925" cy="3954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1081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37F114-2AD1-4E21-B778-35CDEA0C8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Control Chart Approximation (CCA) (1/5)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DE937E4-F380-4B6E-B7C9-BAF6C100A3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b="0" dirty="0"/>
                  <a:t>Given a time series X = (x</a:t>
                </a:r>
                <a:r>
                  <a:rPr lang="en-US" altLang="zh-TW" b="0" baseline="-25000" dirty="0"/>
                  <a:t>1</a:t>
                </a:r>
                <a:r>
                  <a:rPr lang="en-US" altLang="zh-TW" b="0" dirty="0"/>
                  <a:t>, x</a:t>
                </a:r>
                <a:r>
                  <a:rPr lang="en-US" altLang="zh-TW" b="0" baseline="-25000" dirty="0"/>
                  <a:t>2</a:t>
                </a:r>
                <a:r>
                  <a:rPr lang="en-US" altLang="zh-TW" b="0" dirty="0"/>
                  <a:t>, … </a:t>
                </a:r>
                <a:r>
                  <a:rPr lang="en-US" altLang="zh-TW" b="0" dirty="0" err="1"/>
                  <a:t>x</a:t>
                </a:r>
                <a:r>
                  <a:rPr lang="en-US" altLang="zh-TW" b="0" baseline="-25000" dirty="0" err="1"/>
                  <a:t>n</a:t>
                </a:r>
                <a:r>
                  <a:rPr lang="en-US" altLang="zh-TW" b="0" dirty="0"/>
                  <a:t>) </a:t>
                </a:r>
              </a:p>
              <a:p>
                <a:r>
                  <a:rPr lang="en-US" altLang="zh-TW" b="0" dirty="0"/>
                  <a:t>CCA representation C</a:t>
                </a:r>
                <a:r>
                  <a:rPr lang="en-US" altLang="zh-TW" baseline="-25000" dirty="0"/>
                  <a:t>X</a:t>
                </a:r>
                <a:r>
                  <a:rPr lang="en-US" altLang="zh-TW" b="0" dirty="0"/>
                  <a:t> = {(t</a:t>
                </a:r>
                <a:r>
                  <a:rPr lang="en-US" altLang="zh-TW" b="0" baseline="-25000" dirty="0"/>
                  <a:t>1</a:t>
                </a:r>
                <a:r>
                  <a:rPr lang="en-US" altLang="zh-TW" b="0" dirty="0"/>
                  <a:t>,v</a:t>
                </a:r>
                <a:r>
                  <a:rPr lang="en-US" altLang="zh-TW" b="0" baseline="-25000" dirty="0"/>
                  <a:t>1</a:t>
                </a:r>
                <a:r>
                  <a:rPr lang="en-US" altLang="zh-TW" b="0" dirty="0"/>
                  <a:t>,u</a:t>
                </a:r>
                <a:r>
                  <a:rPr lang="en-US" altLang="zh-TW" b="0" baseline="-25000" dirty="0"/>
                  <a:t>1</a:t>
                </a:r>
                <a:r>
                  <a:rPr lang="en-US" altLang="zh-TW" b="0" dirty="0"/>
                  <a:t>),</a:t>
                </a:r>
                <a:r>
                  <a:rPr lang="en-US" altLang="zh-TW" dirty="0"/>
                  <a:t> … (</a:t>
                </a:r>
                <a:r>
                  <a:rPr lang="en-US" altLang="zh-TW" dirty="0" err="1"/>
                  <a:t>t</a:t>
                </a:r>
                <a:r>
                  <a:rPr lang="en-US" altLang="zh-TW" baseline="-25000" dirty="0" err="1"/>
                  <a:t>k</a:t>
                </a:r>
                <a:r>
                  <a:rPr lang="en-US" altLang="zh-TW" dirty="0" err="1"/>
                  <a:t>,v</a:t>
                </a:r>
                <a:r>
                  <a:rPr lang="en-US" altLang="zh-TW" baseline="-25000" dirty="0" err="1"/>
                  <a:t>k</a:t>
                </a:r>
                <a:r>
                  <a:rPr lang="en-US" altLang="zh-TW" dirty="0" err="1"/>
                  <a:t>,u</a:t>
                </a:r>
                <a:r>
                  <a:rPr lang="en-US" altLang="zh-TW" baseline="-25000" dirty="0" err="1"/>
                  <a:t>k</a:t>
                </a:r>
                <a:r>
                  <a:rPr lang="en-US" altLang="zh-TW" dirty="0"/>
                  <a:t>)}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b="0" dirty="0"/>
                  <a:t> , the start time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,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the duration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  <m:sup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 , the value -&gt; mean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 , the normalized duration -&gt; waiting time</a:t>
                </a:r>
              </a:p>
              <a:p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endParaRPr lang="en-US" altLang="zh-TW" b="0" dirty="0"/>
              </a:p>
              <a:p>
                <a:endParaRPr lang="en-US" altLang="zh-TW" b="0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DE937E4-F380-4B6E-B7C9-BAF6C100A3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7A1A3-0040-4384-BDCF-E2590A255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0369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37F114-2AD1-4E21-B778-35CDEA0C8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Control Chart Approximation (CCA) (2/5)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E937E4-F380-4B6E-B7C9-BAF6C100A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426" y="1825625"/>
            <a:ext cx="10515600" cy="4351338"/>
          </a:xfrm>
        </p:spPr>
        <p:txBody>
          <a:bodyPr/>
          <a:lstStyle/>
          <a:p>
            <a:r>
              <a:rPr lang="en-US" altLang="zh-TW" dirty="0"/>
              <a:t>Parameter:</a:t>
            </a:r>
          </a:p>
          <a:p>
            <a:r>
              <a:rPr lang="en-US" altLang="zh-TW" dirty="0"/>
              <a:t>K , control limit</a:t>
            </a:r>
            <a:r>
              <a:rPr lang="zh-TW" altLang="en-US" dirty="0"/>
              <a:t> </a:t>
            </a:r>
            <a:r>
              <a:rPr lang="en-US" altLang="zh-TW" dirty="0"/>
              <a:t>(default is 3)</a:t>
            </a:r>
          </a:p>
          <a:p>
            <a:r>
              <a:rPr lang="en-US" altLang="zh-TW" dirty="0"/>
              <a:t>S , the distance between control limits</a:t>
            </a:r>
          </a:p>
          <a:p>
            <a:pPr marL="0" indent="0">
              <a:buNone/>
            </a:pPr>
            <a:endParaRPr lang="en-US" altLang="zh-TW" dirty="0"/>
          </a:p>
          <a:p>
            <a:endParaRPr lang="en-US" altLang="zh-TW" b="0" dirty="0"/>
          </a:p>
          <a:p>
            <a:endParaRPr lang="en-US" altLang="zh-TW" b="0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7A1A3-0040-4384-BDCF-E2590A255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39762C3-FF3E-4F88-AC80-7FBA397C5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30065"/>
            <a:ext cx="5739986" cy="3410610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FE3C2177-CE07-4C14-B239-B6480975BA9E}"/>
              </a:ext>
            </a:extLst>
          </p:cNvPr>
          <p:cNvCxnSpPr>
            <a:cxnSpLocks/>
          </p:cNvCxnSpPr>
          <p:nvPr/>
        </p:nvCxnSpPr>
        <p:spPr>
          <a:xfrm flipV="1">
            <a:off x="5308626" y="3264853"/>
            <a:ext cx="942462" cy="5807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69BE09E-0E8D-4BAF-848B-3753B1426E76}"/>
                  </a:ext>
                </a:extLst>
              </p:cNvPr>
              <p:cNvSpPr txBox="1"/>
              <p:nvPr/>
            </p:nvSpPr>
            <p:spPr>
              <a:xfrm>
                <a:off x="2578075" y="3635370"/>
                <a:ext cx="27446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>
                    <a:solidFill>
                      <a:srgbClr val="FF0000"/>
                    </a:solidFill>
                  </a:rPr>
                  <a:t>The center line</a:t>
                </a:r>
                <a:r>
                  <a:rPr lang="zh-TW" alt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800" dirty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zh-TW" altLang="en-US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TW" sz="2800" dirty="0">
                    <a:solidFill>
                      <a:srgbClr val="FF0000"/>
                    </a:solidFill>
                  </a:rPr>
                  <a:t>)</a:t>
                </a:r>
                <a:endParaRPr lang="zh-TW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69BE09E-0E8D-4BAF-848B-3753B1426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8075" y="3635370"/>
                <a:ext cx="2744662" cy="523220"/>
              </a:xfrm>
              <a:prstGeom prst="rect">
                <a:avLst/>
              </a:prstGeom>
              <a:blipFill>
                <a:blip r:embed="rId3"/>
                <a:stretch>
                  <a:fillRect l="-4667" t="-11628" r="-3778" b="-31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60C5BFD0-BF4D-486B-8A9B-4EE50308B8A8}"/>
                  </a:ext>
                </a:extLst>
              </p:cNvPr>
              <p:cNvSpPr txBox="1"/>
              <p:nvPr/>
            </p:nvSpPr>
            <p:spPr>
              <a:xfrm>
                <a:off x="1828800" y="4707924"/>
                <a:ext cx="32007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/>
                  <a:t>Control lines: </a:t>
                </a:r>
                <a14:m>
                  <m:oMath xmlns:m="http://schemas.openxmlformats.org/officeDocument/2006/math">
                    <m:r>
                      <a:rPr lang="zh-TW" altLang="en-US" sz="280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TW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zh-TW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60C5BFD0-BF4D-486B-8A9B-4EE50308B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4707924"/>
                <a:ext cx="3200748" cy="523220"/>
              </a:xfrm>
              <a:prstGeom prst="rect">
                <a:avLst/>
              </a:prstGeom>
              <a:blipFill>
                <a:blip r:embed="rId4"/>
                <a:stretch>
                  <a:fillRect l="-3810" t="-11628" b="-31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9918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B14958-EE7D-478C-BD61-CBAB7D3C1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Control Chart Approximation (CCA) (3/5)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B8A4C9F-7709-4C2A-8C47-34C2FB1B02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5779" y="1690690"/>
            <a:ext cx="4547292" cy="435133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17EF7B-5D63-46E4-871F-8EE880223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009B94A-3EF1-4183-BE3B-8936244FD32A}"/>
              </a:ext>
            </a:extLst>
          </p:cNvPr>
          <p:cNvSpPr txBox="1"/>
          <p:nvPr/>
        </p:nvSpPr>
        <p:spPr>
          <a:xfrm>
            <a:off x="5900650" y="2592360"/>
            <a:ext cx="618951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The final result of CCA:</a:t>
            </a:r>
          </a:p>
          <a:p>
            <a:endParaRPr lang="en-US" altLang="zh-TW" sz="2800" dirty="0"/>
          </a:p>
          <a:p>
            <a:r>
              <a:rPr lang="en-US" altLang="zh-TW" sz="2800" dirty="0"/>
              <a:t>Sequential normalized segment values (v) </a:t>
            </a:r>
          </a:p>
          <a:p>
            <a:r>
              <a:rPr lang="en-US" altLang="zh-TW" sz="2800" dirty="0"/>
              <a:t>and waiting times (w)</a:t>
            </a:r>
          </a:p>
          <a:p>
            <a:endParaRPr lang="en-US" altLang="zh-TW" sz="2800" dirty="0"/>
          </a:p>
          <a:p>
            <a:r>
              <a:rPr lang="en-US" altLang="zh-TW" sz="2800" dirty="0"/>
              <a:t>C</a:t>
            </a:r>
            <a:r>
              <a:rPr lang="en-US" altLang="zh-TW" sz="2800" baseline="-25000" dirty="0"/>
              <a:t>X</a:t>
            </a:r>
            <a:r>
              <a:rPr lang="en-US" altLang="zh-TW" sz="2800" dirty="0"/>
              <a:t> = {(t</a:t>
            </a:r>
            <a:r>
              <a:rPr lang="en-US" altLang="zh-TW" sz="2800" baseline="-25000" dirty="0"/>
              <a:t>1</a:t>
            </a:r>
            <a:r>
              <a:rPr lang="en-US" altLang="zh-TW" sz="2800" dirty="0"/>
              <a:t>,v</a:t>
            </a:r>
            <a:r>
              <a:rPr lang="en-US" altLang="zh-TW" sz="2800" baseline="-25000" dirty="0"/>
              <a:t>1</a:t>
            </a:r>
            <a:r>
              <a:rPr lang="en-US" altLang="zh-TW" sz="2800" dirty="0"/>
              <a:t>,w</a:t>
            </a:r>
            <a:r>
              <a:rPr lang="en-US" altLang="zh-TW" sz="2800" baseline="-25000" dirty="0"/>
              <a:t>1</a:t>
            </a:r>
            <a:r>
              <a:rPr lang="en-US" altLang="zh-TW" sz="2800" dirty="0"/>
              <a:t>), … (</a:t>
            </a:r>
            <a:r>
              <a:rPr lang="en-US" altLang="zh-TW" sz="2800" dirty="0" err="1"/>
              <a:t>t</a:t>
            </a:r>
            <a:r>
              <a:rPr lang="en-US" altLang="zh-TW" sz="2800" baseline="-25000" dirty="0" err="1"/>
              <a:t>k</a:t>
            </a:r>
            <a:r>
              <a:rPr lang="en-US" altLang="zh-TW" sz="2800" dirty="0" err="1"/>
              <a:t>,v</a:t>
            </a:r>
            <a:r>
              <a:rPr lang="en-US" altLang="zh-TW" sz="2800" baseline="-25000" dirty="0" err="1"/>
              <a:t>k</a:t>
            </a:r>
            <a:r>
              <a:rPr lang="en-US" altLang="zh-TW" sz="2800" dirty="0" err="1"/>
              <a:t>,w</a:t>
            </a:r>
            <a:r>
              <a:rPr lang="en-US" altLang="zh-TW" sz="2800" baseline="-25000" dirty="0" err="1"/>
              <a:t>k</a:t>
            </a:r>
            <a:r>
              <a:rPr lang="en-US" altLang="zh-TW" sz="2800" dirty="0"/>
              <a:t>)}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68126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4">
            <a:extLst>
              <a:ext uri="{FF2B5EF4-FFF2-40B4-BE49-F238E27FC236}">
                <a16:creationId xmlns:a16="http://schemas.microsoft.com/office/drawing/2014/main" id="{9C393E1B-6ECB-4211-B560-65C62B7959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894" r="48001" b="6626"/>
          <a:stretch/>
        </p:blipFill>
        <p:spPr>
          <a:xfrm>
            <a:off x="4486450" y="1925999"/>
            <a:ext cx="6867350" cy="382165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10993E72-8B65-4BA5-ADEE-811647961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Control Chart Approximation (CCA) (4/5)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AC3936C-582E-4BA3-81B8-EEF8B4AC3E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925" r="48001" b="56681"/>
          <a:stretch/>
        </p:blipFill>
        <p:spPr>
          <a:xfrm>
            <a:off x="627018" y="2718849"/>
            <a:ext cx="5963732" cy="3028807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CFB697-4708-4E63-A058-EFEC98BA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310D72C-486E-439B-BCAF-70A2A0E2CDA7}"/>
              </a:ext>
            </a:extLst>
          </p:cNvPr>
          <p:cNvSpPr txBox="1"/>
          <p:nvPr/>
        </p:nvSpPr>
        <p:spPr>
          <a:xfrm>
            <a:off x="2225749" y="1925999"/>
            <a:ext cx="10005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S = 1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47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993E72-8B65-4BA5-ADEE-811647961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Control Chart Approximation (CCA) (5/5)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AC3936C-582E-4BA3-81B8-EEF8B4AC3E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3382" t="44245" b="5525"/>
          <a:stretch/>
        </p:blipFill>
        <p:spPr>
          <a:xfrm>
            <a:off x="5155474" y="1690690"/>
            <a:ext cx="6468291" cy="4160001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CFB697-4708-4E63-A058-EFEC98BA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6" name="內容版面配置區 4">
            <a:extLst>
              <a:ext uri="{FF2B5EF4-FFF2-40B4-BE49-F238E27FC236}">
                <a16:creationId xmlns:a16="http://schemas.microsoft.com/office/drawing/2014/main" id="{A87A4841-0BAD-4B2E-998F-5157E9D78D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382" b="55756"/>
          <a:stretch/>
        </p:blipFill>
        <p:spPr>
          <a:xfrm>
            <a:off x="838200" y="2591849"/>
            <a:ext cx="5700197" cy="322910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AE0B53C0-4CE7-4B3A-91C6-A1C213DD4919}"/>
              </a:ext>
            </a:extLst>
          </p:cNvPr>
          <p:cNvSpPr txBox="1"/>
          <p:nvPr/>
        </p:nvSpPr>
        <p:spPr>
          <a:xfrm>
            <a:off x="2225749" y="1925999"/>
            <a:ext cx="12779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S = 0.5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79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B91071-B1F9-4373-B821-76D00AB83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Three-Dimensional DTW</a:t>
            </a:r>
            <a:r>
              <a:rPr lang="zh-TW" altLang="en-US" dirty="0"/>
              <a:t> </a:t>
            </a:r>
            <a:r>
              <a:rPr lang="en-US" altLang="zh-TW" dirty="0"/>
              <a:t>Distance</a:t>
            </a:r>
            <a:r>
              <a:rPr lang="zh-TW" altLang="en-US" dirty="0"/>
              <a:t>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55FFBA4-0ACA-4719-BAA8-61D296E5F0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2646" y="1831758"/>
            <a:ext cx="7183762" cy="1177449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AE7B0A-9EA9-4BD6-9D59-8DD6FD86F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3A3E902-6FE8-4542-AAAB-FB1C23D5E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46" y="3246122"/>
            <a:ext cx="5129732" cy="66086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2AAEF05-61C5-4EBB-8B55-2E4914B09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646" y="3906984"/>
            <a:ext cx="8196444" cy="209480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F694DC9-5692-418B-A0DF-61E7B969B0F7}"/>
              </a:ext>
            </a:extLst>
          </p:cNvPr>
          <p:cNvSpPr/>
          <p:nvPr/>
        </p:nvSpPr>
        <p:spPr>
          <a:xfrm>
            <a:off x="8610600" y="5519651"/>
            <a:ext cx="668490" cy="4821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2824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B91071-B1F9-4373-B821-76D00AB83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Three-Dimensional DTW</a:t>
            </a:r>
            <a:r>
              <a:rPr lang="zh-TW" altLang="en-US" dirty="0"/>
              <a:t> </a:t>
            </a:r>
            <a:r>
              <a:rPr lang="en-US" altLang="zh-TW" dirty="0"/>
              <a:t>Distance</a:t>
            </a:r>
            <a:r>
              <a:rPr lang="zh-TW" altLang="en-US" dirty="0"/>
              <a:t>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3CA347D-C5E3-4802-832C-27B2C9F8BB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6050"/>
          <a:stretch/>
        </p:blipFill>
        <p:spPr>
          <a:xfrm>
            <a:off x="873151" y="1789078"/>
            <a:ext cx="5222849" cy="3540803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AE7B0A-9EA9-4BD6-9D59-8DD6FD86F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6" name="內容版面配置區 4">
            <a:extLst>
              <a:ext uri="{FF2B5EF4-FFF2-40B4-BE49-F238E27FC236}">
                <a16:creationId xmlns:a16="http://schemas.microsoft.com/office/drawing/2014/main" id="{59EF88BA-4A4A-4822-B649-522F65294D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535"/>
          <a:stretch/>
        </p:blipFill>
        <p:spPr>
          <a:xfrm>
            <a:off x="6096000" y="1896834"/>
            <a:ext cx="4259124" cy="370967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691E12C-667A-492E-83E9-C2CD294F1E8A}"/>
              </a:ext>
            </a:extLst>
          </p:cNvPr>
          <p:cNvSpPr/>
          <p:nvPr/>
        </p:nvSpPr>
        <p:spPr>
          <a:xfrm>
            <a:off x="3150593" y="2518118"/>
            <a:ext cx="2659363" cy="2532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523342-AD5A-48C1-9B7B-94A55B046814}"/>
              </a:ext>
            </a:extLst>
          </p:cNvPr>
          <p:cNvSpPr/>
          <p:nvPr/>
        </p:nvSpPr>
        <p:spPr>
          <a:xfrm>
            <a:off x="6777713" y="3896912"/>
            <a:ext cx="1931361" cy="506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8155EE4C-7D9E-4E8F-94A0-CFEB55599F5A}"/>
              </a:ext>
            </a:extLst>
          </p:cNvPr>
          <p:cNvCxnSpPr>
            <a:cxnSpLocks/>
          </p:cNvCxnSpPr>
          <p:nvPr/>
        </p:nvCxnSpPr>
        <p:spPr>
          <a:xfrm>
            <a:off x="8468751" y="4579652"/>
            <a:ext cx="149469" cy="12033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9263028-CFBF-4874-8D65-356570AAB326}"/>
              </a:ext>
            </a:extLst>
          </p:cNvPr>
          <p:cNvSpPr txBox="1"/>
          <p:nvPr/>
        </p:nvSpPr>
        <p:spPr>
          <a:xfrm>
            <a:off x="7693453" y="5656668"/>
            <a:ext cx="2766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Early Abandoning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35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B91071-B1F9-4373-B821-76D00AB83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Three-Dimensional DTW</a:t>
            </a:r>
            <a:r>
              <a:rPr lang="zh-TW" altLang="en-US" dirty="0"/>
              <a:t> </a:t>
            </a:r>
            <a:r>
              <a:rPr lang="en-US" altLang="zh-TW" dirty="0"/>
              <a:t>Distance</a:t>
            </a:r>
            <a:r>
              <a:rPr lang="zh-TW" altLang="en-US" dirty="0"/>
              <a:t>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0CFEFE4-51C4-4D2B-B4C5-B26B3B7821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4927" y="1555274"/>
            <a:ext cx="4371975" cy="28194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AE7B0A-9EA9-4BD6-9D59-8DD6FD86F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27E54B8-5570-46A4-855D-35C7AE668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214" y="2431698"/>
            <a:ext cx="5825148" cy="318364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5B86B6D-92B9-4F40-BEC3-580E2645F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14" y="4588508"/>
            <a:ext cx="4800600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562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43376-D5FD-40AE-88CF-B6A096234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282E35-F601-4F93-A903-509769CC7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3" name="內容版面配置區 2">
            <a:extLst>
              <a:ext uri="{FF2B5EF4-FFF2-40B4-BE49-F238E27FC236}">
                <a16:creationId xmlns:a16="http://schemas.microsoft.com/office/drawing/2014/main" id="{E9BCF1AD-235A-4B30-A416-49C53CAB9A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4520" y="1549835"/>
            <a:ext cx="7046080" cy="4989079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A01F0F40-3FCF-4074-8507-7A1B9B74CED5}"/>
              </a:ext>
            </a:extLst>
          </p:cNvPr>
          <p:cNvSpPr/>
          <p:nvPr/>
        </p:nvSpPr>
        <p:spPr>
          <a:xfrm>
            <a:off x="4889852" y="3023286"/>
            <a:ext cx="395416" cy="25454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D997ED2-194C-4389-8803-9C98DD690D21}"/>
              </a:ext>
            </a:extLst>
          </p:cNvPr>
          <p:cNvSpPr txBox="1"/>
          <p:nvPr/>
        </p:nvSpPr>
        <p:spPr>
          <a:xfrm>
            <a:off x="8806248" y="4901513"/>
            <a:ext cx="12779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S = 0.6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88735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43376-D5FD-40AE-88CF-B6A096234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 (2/2)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282E35-F601-4F93-A903-509769CC7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CD063-7F18-423D-A692-CC9D343FD360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3" name="內容版面配置區 2">
            <a:extLst>
              <a:ext uri="{FF2B5EF4-FFF2-40B4-BE49-F238E27FC236}">
                <a16:creationId xmlns:a16="http://schemas.microsoft.com/office/drawing/2014/main" id="{26F0A75E-EF85-46E5-8D63-854CBE7F3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935" y="2818123"/>
            <a:ext cx="4448175" cy="272415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6A76CE09-1F9C-43EC-BE6E-29AE6FAB0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398" y="1498289"/>
            <a:ext cx="5880729" cy="504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92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">
      <a:majorFont>
        <a:latin typeface="Tw Cen MT"/>
        <a:ea typeface="微軟正黑體"/>
        <a:cs typeface=""/>
      </a:majorFont>
      <a:minorFont>
        <a:latin typeface="Tw Cen MT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12131</TotalTime>
  <Words>603</Words>
  <Application>Microsoft Office PowerPoint</Application>
  <PresentationFormat>寬螢幕</PresentationFormat>
  <Paragraphs>74</Paragraphs>
  <Slides>15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2" baseType="lpstr">
      <vt:lpstr>微軟正黑體</vt:lpstr>
      <vt:lpstr>新細明體</vt:lpstr>
      <vt:lpstr>Arial</vt:lpstr>
      <vt:lpstr>Calibri</vt:lpstr>
      <vt:lpstr>Cambria Math</vt:lpstr>
      <vt:lpstr>Tw Cen MT</vt:lpstr>
      <vt:lpstr>Office 佈景主題</vt:lpstr>
      <vt:lpstr>Efficient Classification of Long Time Series by 3-D Dynamic Time Warping</vt:lpstr>
      <vt:lpstr>Abstract (1/2)</vt:lpstr>
      <vt:lpstr>Abstract (2/2)</vt:lpstr>
      <vt:lpstr>DTW</vt:lpstr>
      <vt:lpstr>PAA, APCA, CCA</vt:lpstr>
      <vt:lpstr>Control Chart Approximation (CCA) (1/5)</vt:lpstr>
      <vt:lpstr>Control Chart Approximation (CCA) (2/5)</vt:lpstr>
      <vt:lpstr>Control Chart Approximation (CCA) (3/5)</vt:lpstr>
      <vt:lpstr>Control Chart Approximation (CCA) (4/5)</vt:lpstr>
      <vt:lpstr>Control Chart Approximation (CCA) (5/5)</vt:lpstr>
      <vt:lpstr>Three-Dimensional DTW Distance (1/3)</vt:lpstr>
      <vt:lpstr>Three-Dimensional DTW Distance (2/3)</vt:lpstr>
      <vt:lpstr>Three-Dimensional DTW Distance (3/3)</vt:lpstr>
      <vt:lpstr>Experimental Result (1/2)</vt:lpstr>
      <vt:lpstr>Experimental Result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series for blind biosignal classification model</dc:title>
  <dc:creator>喵owo</dc:creator>
  <cp:lastModifiedBy> </cp:lastModifiedBy>
  <cp:revision>303</cp:revision>
  <dcterms:created xsi:type="dcterms:W3CDTF">2017-10-09T09:38:00Z</dcterms:created>
  <dcterms:modified xsi:type="dcterms:W3CDTF">2018-04-10T10:07:53Z</dcterms:modified>
</cp:coreProperties>
</file>