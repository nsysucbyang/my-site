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58" r:id="rId5"/>
    <p:sldId id="263" r:id="rId6"/>
    <p:sldId id="259" r:id="rId7"/>
    <p:sldId id="260" r:id="rId8"/>
    <p:sldId id="261" r:id="rId9"/>
    <p:sldId id="262"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646"/>
  </p:normalViewPr>
  <p:slideViewPr>
    <p:cSldViewPr snapToGrid="0">
      <p:cViewPr varScale="1">
        <p:scale>
          <a:sx n="72" d="100"/>
          <a:sy n="72" d="100"/>
        </p:scale>
        <p:origin x="90"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4C143F1-D919-4F70-9807-0433031288F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67B0D4D8-5198-47D4-9DEB-0B18836C18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2910455C-D62E-4B23-BB3D-9936BB2ECC90}"/>
              </a:ext>
            </a:extLst>
          </p:cNvPr>
          <p:cNvSpPr>
            <a:spLocks noGrp="1"/>
          </p:cNvSpPr>
          <p:nvPr>
            <p:ph type="dt" sz="half" idx="10"/>
          </p:nvPr>
        </p:nvSpPr>
        <p:spPr/>
        <p:txBody>
          <a:bodyPr/>
          <a:lstStyle/>
          <a:p>
            <a:fld id="{43694E53-1ED5-4D59-BBB2-D007CDD3ED54}" type="datetimeFigureOut">
              <a:rPr lang="zh-TW" altLang="en-US" smtClean="0"/>
              <a:t>2018/4/10</a:t>
            </a:fld>
            <a:endParaRPr lang="zh-TW" altLang="en-US"/>
          </a:p>
        </p:txBody>
      </p:sp>
      <p:sp>
        <p:nvSpPr>
          <p:cNvPr id="5" name="頁尾版面配置區 4">
            <a:extLst>
              <a:ext uri="{FF2B5EF4-FFF2-40B4-BE49-F238E27FC236}">
                <a16:creationId xmlns:a16="http://schemas.microsoft.com/office/drawing/2014/main" xmlns="" id="{191B2C82-B022-4842-8697-9BCBB14B10B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EBFB6495-A777-4BE9-B2E6-F157C45FAD56}"/>
              </a:ext>
            </a:extLst>
          </p:cNvPr>
          <p:cNvSpPr>
            <a:spLocks noGrp="1"/>
          </p:cNvSpPr>
          <p:nvPr>
            <p:ph type="sldNum" sz="quarter" idx="12"/>
          </p:nvPr>
        </p:nvSpPr>
        <p:spPr/>
        <p:txBody>
          <a:bodyPr/>
          <a:lstStyle/>
          <a:p>
            <a:fld id="{C0CA2E87-8A9E-459E-914B-2E171E6FFD24}" type="slidenum">
              <a:rPr lang="zh-TW" altLang="en-US" smtClean="0"/>
              <a:t>‹#›</a:t>
            </a:fld>
            <a:endParaRPr lang="zh-TW" altLang="en-US"/>
          </a:p>
        </p:txBody>
      </p:sp>
    </p:spTree>
    <p:extLst>
      <p:ext uri="{BB962C8B-B14F-4D97-AF65-F5344CB8AC3E}">
        <p14:creationId xmlns:p14="http://schemas.microsoft.com/office/powerpoint/2010/main" val="3080982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FF2B8CB-198E-4014-B9EF-C1B67931FD5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58F4CBD6-32C6-410C-BF51-E97255841E15}"/>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7F87B69C-12B3-459B-9B54-B441D498D59A}"/>
              </a:ext>
            </a:extLst>
          </p:cNvPr>
          <p:cNvSpPr>
            <a:spLocks noGrp="1"/>
          </p:cNvSpPr>
          <p:nvPr>
            <p:ph type="dt" sz="half" idx="10"/>
          </p:nvPr>
        </p:nvSpPr>
        <p:spPr/>
        <p:txBody>
          <a:bodyPr/>
          <a:lstStyle/>
          <a:p>
            <a:fld id="{43694E53-1ED5-4D59-BBB2-D007CDD3ED54}" type="datetimeFigureOut">
              <a:rPr lang="zh-TW" altLang="en-US" smtClean="0"/>
              <a:t>2018/4/10</a:t>
            </a:fld>
            <a:endParaRPr lang="zh-TW" altLang="en-US"/>
          </a:p>
        </p:txBody>
      </p:sp>
      <p:sp>
        <p:nvSpPr>
          <p:cNvPr id="5" name="頁尾版面配置區 4">
            <a:extLst>
              <a:ext uri="{FF2B5EF4-FFF2-40B4-BE49-F238E27FC236}">
                <a16:creationId xmlns:a16="http://schemas.microsoft.com/office/drawing/2014/main" xmlns="" id="{BAF7DE82-4D64-4B93-A861-59A2ABA11DF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EF3343D0-EEC1-4EB7-9115-030742186934}"/>
              </a:ext>
            </a:extLst>
          </p:cNvPr>
          <p:cNvSpPr>
            <a:spLocks noGrp="1"/>
          </p:cNvSpPr>
          <p:nvPr>
            <p:ph type="sldNum" sz="quarter" idx="12"/>
          </p:nvPr>
        </p:nvSpPr>
        <p:spPr/>
        <p:txBody>
          <a:bodyPr/>
          <a:lstStyle/>
          <a:p>
            <a:fld id="{C0CA2E87-8A9E-459E-914B-2E171E6FFD24}" type="slidenum">
              <a:rPr lang="zh-TW" altLang="en-US" smtClean="0"/>
              <a:t>‹#›</a:t>
            </a:fld>
            <a:endParaRPr lang="zh-TW" altLang="en-US"/>
          </a:p>
        </p:txBody>
      </p:sp>
    </p:spTree>
    <p:extLst>
      <p:ext uri="{BB962C8B-B14F-4D97-AF65-F5344CB8AC3E}">
        <p14:creationId xmlns:p14="http://schemas.microsoft.com/office/powerpoint/2010/main" val="159669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474D58C-5997-44D3-B7A5-D1CD8169C8FC}"/>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743E044F-74E9-495C-8B3B-F66EA197D0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FB16F4D9-FB55-4EF2-90C9-D7A6677DD408}"/>
              </a:ext>
            </a:extLst>
          </p:cNvPr>
          <p:cNvSpPr>
            <a:spLocks noGrp="1"/>
          </p:cNvSpPr>
          <p:nvPr>
            <p:ph type="dt" sz="half" idx="10"/>
          </p:nvPr>
        </p:nvSpPr>
        <p:spPr/>
        <p:txBody>
          <a:bodyPr/>
          <a:lstStyle/>
          <a:p>
            <a:fld id="{43694E53-1ED5-4D59-BBB2-D007CDD3ED54}" type="datetimeFigureOut">
              <a:rPr lang="zh-TW" altLang="en-US" smtClean="0"/>
              <a:t>2018/4/10</a:t>
            </a:fld>
            <a:endParaRPr lang="zh-TW" altLang="en-US"/>
          </a:p>
        </p:txBody>
      </p:sp>
      <p:sp>
        <p:nvSpPr>
          <p:cNvPr id="5" name="頁尾版面配置區 4">
            <a:extLst>
              <a:ext uri="{FF2B5EF4-FFF2-40B4-BE49-F238E27FC236}">
                <a16:creationId xmlns:a16="http://schemas.microsoft.com/office/drawing/2014/main" xmlns="" id="{E36E0198-813C-497E-A147-E1B056D78F4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2D805E48-0A7F-4AD4-9642-81853C953647}"/>
              </a:ext>
            </a:extLst>
          </p:cNvPr>
          <p:cNvSpPr>
            <a:spLocks noGrp="1"/>
          </p:cNvSpPr>
          <p:nvPr>
            <p:ph type="sldNum" sz="quarter" idx="12"/>
          </p:nvPr>
        </p:nvSpPr>
        <p:spPr/>
        <p:txBody>
          <a:bodyPr/>
          <a:lstStyle/>
          <a:p>
            <a:fld id="{C0CA2E87-8A9E-459E-914B-2E171E6FFD24}" type="slidenum">
              <a:rPr lang="zh-TW" altLang="en-US" smtClean="0"/>
              <a:t>‹#›</a:t>
            </a:fld>
            <a:endParaRPr lang="zh-TW" altLang="en-US"/>
          </a:p>
        </p:txBody>
      </p:sp>
    </p:spTree>
    <p:extLst>
      <p:ext uri="{BB962C8B-B14F-4D97-AF65-F5344CB8AC3E}">
        <p14:creationId xmlns:p14="http://schemas.microsoft.com/office/powerpoint/2010/main" val="2128957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FBF8344-9C45-4650-B948-1C1E4CFC07F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4537645D-AA15-438D-BDEE-5D44793A5C11}"/>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25CE7AF8-A4BC-4E68-B439-DD1843B3F084}"/>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BC1BDC7E-3DB7-4792-9BB3-7615CF7C6FFA}"/>
              </a:ext>
            </a:extLst>
          </p:cNvPr>
          <p:cNvSpPr>
            <a:spLocks noGrp="1"/>
          </p:cNvSpPr>
          <p:nvPr>
            <p:ph type="dt" sz="half" idx="10"/>
          </p:nvPr>
        </p:nvSpPr>
        <p:spPr/>
        <p:txBody>
          <a:bodyPr/>
          <a:lstStyle/>
          <a:p>
            <a:fld id="{43694E53-1ED5-4D59-BBB2-D007CDD3ED54}" type="datetimeFigureOut">
              <a:rPr lang="zh-TW" altLang="en-US" smtClean="0"/>
              <a:t>2018/4/10</a:t>
            </a:fld>
            <a:endParaRPr lang="zh-TW" altLang="en-US"/>
          </a:p>
        </p:txBody>
      </p:sp>
      <p:sp>
        <p:nvSpPr>
          <p:cNvPr id="6" name="頁尾版面配置區 5">
            <a:extLst>
              <a:ext uri="{FF2B5EF4-FFF2-40B4-BE49-F238E27FC236}">
                <a16:creationId xmlns:a16="http://schemas.microsoft.com/office/drawing/2014/main" xmlns="" id="{A4DDCEE0-18C7-41EC-B6CA-7AE8F938016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05EC43E0-6293-48FC-94C0-C961B71BC494}"/>
              </a:ext>
            </a:extLst>
          </p:cNvPr>
          <p:cNvSpPr>
            <a:spLocks noGrp="1"/>
          </p:cNvSpPr>
          <p:nvPr>
            <p:ph type="sldNum" sz="quarter" idx="12"/>
          </p:nvPr>
        </p:nvSpPr>
        <p:spPr/>
        <p:txBody>
          <a:bodyPr/>
          <a:lstStyle/>
          <a:p>
            <a:fld id="{C0CA2E87-8A9E-459E-914B-2E171E6FFD24}" type="slidenum">
              <a:rPr lang="zh-TW" altLang="en-US" smtClean="0"/>
              <a:t>‹#›</a:t>
            </a:fld>
            <a:endParaRPr lang="zh-TW" altLang="en-US"/>
          </a:p>
        </p:txBody>
      </p:sp>
    </p:spTree>
    <p:extLst>
      <p:ext uri="{BB962C8B-B14F-4D97-AF65-F5344CB8AC3E}">
        <p14:creationId xmlns:p14="http://schemas.microsoft.com/office/powerpoint/2010/main" val="1551800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7259356-045A-4378-BB70-1ADE8CAE7476}"/>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CFC36A5F-ABB7-4668-8302-9ED7B5AF32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C0429455-816E-4C02-86C1-04E84BF9575E}"/>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603D0FD4-BAFA-4377-B497-83CB4AA1BA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DAA8D0EE-BC86-48A6-BD76-C7CC77911B6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69395829-FF70-46FC-996B-03724E4208B0}"/>
              </a:ext>
            </a:extLst>
          </p:cNvPr>
          <p:cNvSpPr>
            <a:spLocks noGrp="1"/>
          </p:cNvSpPr>
          <p:nvPr>
            <p:ph type="dt" sz="half" idx="10"/>
          </p:nvPr>
        </p:nvSpPr>
        <p:spPr/>
        <p:txBody>
          <a:bodyPr/>
          <a:lstStyle/>
          <a:p>
            <a:fld id="{43694E53-1ED5-4D59-BBB2-D007CDD3ED54}" type="datetimeFigureOut">
              <a:rPr lang="zh-TW" altLang="en-US" smtClean="0"/>
              <a:t>2018/4/10</a:t>
            </a:fld>
            <a:endParaRPr lang="zh-TW" altLang="en-US"/>
          </a:p>
        </p:txBody>
      </p:sp>
      <p:sp>
        <p:nvSpPr>
          <p:cNvPr id="8" name="頁尾版面配置區 7">
            <a:extLst>
              <a:ext uri="{FF2B5EF4-FFF2-40B4-BE49-F238E27FC236}">
                <a16:creationId xmlns:a16="http://schemas.microsoft.com/office/drawing/2014/main" xmlns="" id="{560AD3EB-E916-4144-95D9-A134F7F1BAC7}"/>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21C98BDB-F09F-4C28-A9AC-301C176A94FC}"/>
              </a:ext>
            </a:extLst>
          </p:cNvPr>
          <p:cNvSpPr>
            <a:spLocks noGrp="1"/>
          </p:cNvSpPr>
          <p:nvPr>
            <p:ph type="sldNum" sz="quarter" idx="12"/>
          </p:nvPr>
        </p:nvSpPr>
        <p:spPr/>
        <p:txBody>
          <a:bodyPr/>
          <a:lstStyle/>
          <a:p>
            <a:fld id="{C0CA2E87-8A9E-459E-914B-2E171E6FFD24}" type="slidenum">
              <a:rPr lang="zh-TW" altLang="en-US" smtClean="0"/>
              <a:t>‹#›</a:t>
            </a:fld>
            <a:endParaRPr lang="zh-TW" altLang="en-US"/>
          </a:p>
        </p:txBody>
      </p:sp>
    </p:spTree>
    <p:extLst>
      <p:ext uri="{BB962C8B-B14F-4D97-AF65-F5344CB8AC3E}">
        <p14:creationId xmlns:p14="http://schemas.microsoft.com/office/powerpoint/2010/main" val="2238264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BE28276-1105-480A-A1DC-3C7DC8B835F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34CD6D59-BD82-43C2-ADFC-F81B129AF627}"/>
              </a:ext>
            </a:extLst>
          </p:cNvPr>
          <p:cNvSpPr>
            <a:spLocks noGrp="1"/>
          </p:cNvSpPr>
          <p:nvPr>
            <p:ph type="dt" sz="half" idx="10"/>
          </p:nvPr>
        </p:nvSpPr>
        <p:spPr/>
        <p:txBody>
          <a:bodyPr/>
          <a:lstStyle/>
          <a:p>
            <a:fld id="{43694E53-1ED5-4D59-BBB2-D007CDD3ED54}" type="datetimeFigureOut">
              <a:rPr lang="zh-TW" altLang="en-US" smtClean="0"/>
              <a:t>2018/4/10</a:t>
            </a:fld>
            <a:endParaRPr lang="zh-TW" altLang="en-US"/>
          </a:p>
        </p:txBody>
      </p:sp>
      <p:sp>
        <p:nvSpPr>
          <p:cNvPr id="4" name="頁尾版面配置區 3">
            <a:extLst>
              <a:ext uri="{FF2B5EF4-FFF2-40B4-BE49-F238E27FC236}">
                <a16:creationId xmlns:a16="http://schemas.microsoft.com/office/drawing/2014/main" xmlns="" id="{F78404AC-8103-46A6-AFD0-8CE8B777B57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E5753A5F-D42B-4427-A78B-261A5CA2BC2A}"/>
              </a:ext>
            </a:extLst>
          </p:cNvPr>
          <p:cNvSpPr>
            <a:spLocks noGrp="1"/>
          </p:cNvSpPr>
          <p:nvPr>
            <p:ph type="sldNum" sz="quarter" idx="12"/>
          </p:nvPr>
        </p:nvSpPr>
        <p:spPr/>
        <p:txBody>
          <a:bodyPr/>
          <a:lstStyle/>
          <a:p>
            <a:fld id="{C0CA2E87-8A9E-459E-914B-2E171E6FFD24}" type="slidenum">
              <a:rPr lang="zh-TW" altLang="en-US" smtClean="0"/>
              <a:t>‹#›</a:t>
            </a:fld>
            <a:endParaRPr lang="zh-TW" altLang="en-US"/>
          </a:p>
        </p:txBody>
      </p:sp>
    </p:spTree>
    <p:extLst>
      <p:ext uri="{BB962C8B-B14F-4D97-AF65-F5344CB8AC3E}">
        <p14:creationId xmlns:p14="http://schemas.microsoft.com/office/powerpoint/2010/main" val="3325096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EFA3E9D9-7410-41EB-8232-081868CE7CD1}"/>
              </a:ext>
            </a:extLst>
          </p:cNvPr>
          <p:cNvSpPr>
            <a:spLocks noGrp="1"/>
          </p:cNvSpPr>
          <p:nvPr>
            <p:ph type="dt" sz="half" idx="10"/>
          </p:nvPr>
        </p:nvSpPr>
        <p:spPr/>
        <p:txBody>
          <a:bodyPr/>
          <a:lstStyle/>
          <a:p>
            <a:fld id="{43694E53-1ED5-4D59-BBB2-D007CDD3ED54}" type="datetimeFigureOut">
              <a:rPr lang="zh-TW" altLang="en-US" smtClean="0"/>
              <a:t>2018/4/10</a:t>
            </a:fld>
            <a:endParaRPr lang="zh-TW" altLang="en-US"/>
          </a:p>
        </p:txBody>
      </p:sp>
      <p:sp>
        <p:nvSpPr>
          <p:cNvPr id="3" name="頁尾版面配置區 2">
            <a:extLst>
              <a:ext uri="{FF2B5EF4-FFF2-40B4-BE49-F238E27FC236}">
                <a16:creationId xmlns:a16="http://schemas.microsoft.com/office/drawing/2014/main" xmlns="" id="{6E13FBE1-919D-41BB-A6F6-C34C84F5FEE5}"/>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A9E190B0-368E-44B4-982D-B9F595845C30}"/>
              </a:ext>
            </a:extLst>
          </p:cNvPr>
          <p:cNvSpPr>
            <a:spLocks noGrp="1"/>
          </p:cNvSpPr>
          <p:nvPr>
            <p:ph type="sldNum" sz="quarter" idx="12"/>
          </p:nvPr>
        </p:nvSpPr>
        <p:spPr/>
        <p:txBody>
          <a:bodyPr/>
          <a:lstStyle/>
          <a:p>
            <a:fld id="{C0CA2E87-8A9E-459E-914B-2E171E6FFD24}" type="slidenum">
              <a:rPr lang="zh-TW" altLang="en-US" smtClean="0"/>
              <a:t>‹#›</a:t>
            </a:fld>
            <a:endParaRPr lang="zh-TW" altLang="en-US"/>
          </a:p>
        </p:txBody>
      </p:sp>
    </p:spTree>
    <p:extLst>
      <p:ext uri="{BB962C8B-B14F-4D97-AF65-F5344CB8AC3E}">
        <p14:creationId xmlns:p14="http://schemas.microsoft.com/office/powerpoint/2010/main" val="4168471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F16238B-2771-424E-ADC1-29F7B578FFAF}"/>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BAD871C5-C2C2-48F3-BA25-C76CF4C55A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C65215FB-E61C-46D9-9695-2E5E4E4706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FDBC171C-87EE-40D1-95E2-4567B9EB7EB1}"/>
              </a:ext>
            </a:extLst>
          </p:cNvPr>
          <p:cNvSpPr>
            <a:spLocks noGrp="1"/>
          </p:cNvSpPr>
          <p:nvPr>
            <p:ph type="dt" sz="half" idx="10"/>
          </p:nvPr>
        </p:nvSpPr>
        <p:spPr/>
        <p:txBody>
          <a:bodyPr/>
          <a:lstStyle/>
          <a:p>
            <a:fld id="{43694E53-1ED5-4D59-BBB2-D007CDD3ED54}" type="datetimeFigureOut">
              <a:rPr lang="zh-TW" altLang="en-US" smtClean="0"/>
              <a:t>2018/4/10</a:t>
            </a:fld>
            <a:endParaRPr lang="zh-TW" altLang="en-US"/>
          </a:p>
        </p:txBody>
      </p:sp>
      <p:sp>
        <p:nvSpPr>
          <p:cNvPr id="6" name="頁尾版面配置區 5">
            <a:extLst>
              <a:ext uri="{FF2B5EF4-FFF2-40B4-BE49-F238E27FC236}">
                <a16:creationId xmlns:a16="http://schemas.microsoft.com/office/drawing/2014/main" xmlns="" id="{6395E280-CC61-4B3B-ADCD-9A67BA50D6B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3E94FDCD-D554-447C-B1F1-D65D7FE3C921}"/>
              </a:ext>
            </a:extLst>
          </p:cNvPr>
          <p:cNvSpPr>
            <a:spLocks noGrp="1"/>
          </p:cNvSpPr>
          <p:nvPr>
            <p:ph type="sldNum" sz="quarter" idx="12"/>
          </p:nvPr>
        </p:nvSpPr>
        <p:spPr/>
        <p:txBody>
          <a:bodyPr/>
          <a:lstStyle/>
          <a:p>
            <a:fld id="{C0CA2E87-8A9E-459E-914B-2E171E6FFD24}" type="slidenum">
              <a:rPr lang="zh-TW" altLang="en-US" smtClean="0"/>
              <a:t>‹#›</a:t>
            </a:fld>
            <a:endParaRPr lang="zh-TW" altLang="en-US"/>
          </a:p>
        </p:txBody>
      </p:sp>
    </p:spTree>
    <p:extLst>
      <p:ext uri="{BB962C8B-B14F-4D97-AF65-F5344CB8AC3E}">
        <p14:creationId xmlns:p14="http://schemas.microsoft.com/office/powerpoint/2010/main" val="724298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50E2D79-AFF4-4EE8-8B7A-C7FF3AD4700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F7233A46-2EEB-4897-862D-FE2F8201D6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E2C84808-3ADD-4B46-801E-4810CC6B2C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18102DE8-AF33-44FD-BDF8-BDD667ECECB1}"/>
              </a:ext>
            </a:extLst>
          </p:cNvPr>
          <p:cNvSpPr>
            <a:spLocks noGrp="1"/>
          </p:cNvSpPr>
          <p:nvPr>
            <p:ph type="dt" sz="half" idx="10"/>
          </p:nvPr>
        </p:nvSpPr>
        <p:spPr/>
        <p:txBody>
          <a:bodyPr/>
          <a:lstStyle/>
          <a:p>
            <a:fld id="{43694E53-1ED5-4D59-BBB2-D007CDD3ED54}" type="datetimeFigureOut">
              <a:rPr lang="zh-TW" altLang="en-US" smtClean="0"/>
              <a:t>2018/4/10</a:t>
            </a:fld>
            <a:endParaRPr lang="zh-TW" altLang="en-US"/>
          </a:p>
        </p:txBody>
      </p:sp>
      <p:sp>
        <p:nvSpPr>
          <p:cNvPr id="6" name="頁尾版面配置區 5">
            <a:extLst>
              <a:ext uri="{FF2B5EF4-FFF2-40B4-BE49-F238E27FC236}">
                <a16:creationId xmlns:a16="http://schemas.microsoft.com/office/drawing/2014/main" xmlns="" id="{05A6BEB9-1DAE-4B8D-8374-8225B2E0802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E23D2345-D4A8-46B7-B823-52AB54886A2B}"/>
              </a:ext>
            </a:extLst>
          </p:cNvPr>
          <p:cNvSpPr>
            <a:spLocks noGrp="1"/>
          </p:cNvSpPr>
          <p:nvPr>
            <p:ph type="sldNum" sz="quarter" idx="12"/>
          </p:nvPr>
        </p:nvSpPr>
        <p:spPr/>
        <p:txBody>
          <a:bodyPr/>
          <a:lstStyle/>
          <a:p>
            <a:fld id="{C0CA2E87-8A9E-459E-914B-2E171E6FFD24}" type="slidenum">
              <a:rPr lang="zh-TW" altLang="en-US" smtClean="0"/>
              <a:t>‹#›</a:t>
            </a:fld>
            <a:endParaRPr lang="zh-TW" altLang="en-US"/>
          </a:p>
        </p:txBody>
      </p:sp>
    </p:spTree>
    <p:extLst>
      <p:ext uri="{BB962C8B-B14F-4D97-AF65-F5344CB8AC3E}">
        <p14:creationId xmlns:p14="http://schemas.microsoft.com/office/powerpoint/2010/main" val="1941109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9ACC34C-C2D0-4C58-AA94-3DC2D6FFD63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25A09BD6-9907-4053-A7AE-C570BEC1AE6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BEBC2B02-A973-480B-9B4D-8692942F6A5D}"/>
              </a:ext>
            </a:extLst>
          </p:cNvPr>
          <p:cNvSpPr>
            <a:spLocks noGrp="1"/>
          </p:cNvSpPr>
          <p:nvPr>
            <p:ph type="dt" sz="half" idx="10"/>
          </p:nvPr>
        </p:nvSpPr>
        <p:spPr/>
        <p:txBody>
          <a:bodyPr/>
          <a:lstStyle/>
          <a:p>
            <a:fld id="{43694E53-1ED5-4D59-BBB2-D007CDD3ED54}" type="datetimeFigureOut">
              <a:rPr lang="zh-TW" altLang="en-US" smtClean="0"/>
              <a:t>2018/4/10</a:t>
            </a:fld>
            <a:endParaRPr lang="zh-TW" altLang="en-US"/>
          </a:p>
        </p:txBody>
      </p:sp>
      <p:sp>
        <p:nvSpPr>
          <p:cNvPr id="5" name="頁尾版面配置區 4">
            <a:extLst>
              <a:ext uri="{FF2B5EF4-FFF2-40B4-BE49-F238E27FC236}">
                <a16:creationId xmlns:a16="http://schemas.microsoft.com/office/drawing/2014/main" xmlns="" id="{D84539AB-9258-44D3-885C-95AC2C4BE21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5D8363BA-0995-43DF-B8FE-D656DF8FB5F2}"/>
              </a:ext>
            </a:extLst>
          </p:cNvPr>
          <p:cNvSpPr>
            <a:spLocks noGrp="1"/>
          </p:cNvSpPr>
          <p:nvPr>
            <p:ph type="sldNum" sz="quarter" idx="12"/>
          </p:nvPr>
        </p:nvSpPr>
        <p:spPr/>
        <p:txBody>
          <a:bodyPr/>
          <a:lstStyle/>
          <a:p>
            <a:fld id="{C0CA2E87-8A9E-459E-914B-2E171E6FFD24}" type="slidenum">
              <a:rPr lang="zh-TW" altLang="en-US" smtClean="0"/>
              <a:t>‹#›</a:t>
            </a:fld>
            <a:endParaRPr lang="zh-TW" altLang="en-US"/>
          </a:p>
        </p:txBody>
      </p:sp>
    </p:spTree>
    <p:extLst>
      <p:ext uri="{BB962C8B-B14F-4D97-AF65-F5344CB8AC3E}">
        <p14:creationId xmlns:p14="http://schemas.microsoft.com/office/powerpoint/2010/main" val="80363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771873A0-47B3-4F00-AC81-11E169C93CF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856E9221-49D0-4EC9-9414-26D00F4646FE}"/>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A16C7A0C-B6EF-4E59-99A3-3F4CD9EDE503}"/>
              </a:ext>
            </a:extLst>
          </p:cNvPr>
          <p:cNvSpPr>
            <a:spLocks noGrp="1"/>
          </p:cNvSpPr>
          <p:nvPr>
            <p:ph type="dt" sz="half" idx="10"/>
          </p:nvPr>
        </p:nvSpPr>
        <p:spPr/>
        <p:txBody>
          <a:bodyPr/>
          <a:lstStyle/>
          <a:p>
            <a:fld id="{43694E53-1ED5-4D59-BBB2-D007CDD3ED54}" type="datetimeFigureOut">
              <a:rPr lang="zh-TW" altLang="en-US" smtClean="0"/>
              <a:t>2018/4/10</a:t>
            </a:fld>
            <a:endParaRPr lang="zh-TW" altLang="en-US"/>
          </a:p>
        </p:txBody>
      </p:sp>
      <p:sp>
        <p:nvSpPr>
          <p:cNvPr id="5" name="頁尾版面配置區 4">
            <a:extLst>
              <a:ext uri="{FF2B5EF4-FFF2-40B4-BE49-F238E27FC236}">
                <a16:creationId xmlns:a16="http://schemas.microsoft.com/office/drawing/2014/main" xmlns="" id="{7A1D060C-86FE-401A-8CAD-975C1E2AA0B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C61E0AE6-C83D-4EF6-9972-76FFA1857544}"/>
              </a:ext>
            </a:extLst>
          </p:cNvPr>
          <p:cNvSpPr>
            <a:spLocks noGrp="1"/>
          </p:cNvSpPr>
          <p:nvPr>
            <p:ph type="sldNum" sz="quarter" idx="12"/>
          </p:nvPr>
        </p:nvSpPr>
        <p:spPr/>
        <p:txBody>
          <a:bodyPr/>
          <a:lstStyle/>
          <a:p>
            <a:fld id="{C0CA2E87-8A9E-459E-914B-2E171E6FFD24}" type="slidenum">
              <a:rPr lang="zh-TW" altLang="en-US" smtClean="0"/>
              <a:t>‹#›</a:t>
            </a:fld>
            <a:endParaRPr lang="zh-TW" altLang="en-US"/>
          </a:p>
        </p:txBody>
      </p:sp>
    </p:spTree>
    <p:extLst>
      <p:ext uri="{BB962C8B-B14F-4D97-AF65-F5344CB8AC3E}">
        <p14:creationId xmlns:p14="http://schemas.microsoft.com/office/powerpoint/2010/main" val="1907347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3343F585-E48D-4AD8-8CF2-6B63F464D0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CB5CAC9-9728-4244-90E9-3EF2C6EC22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E420736A-E961-4E06-90B3-F08E43BBDD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694E53-1ED5-4D59-BBB2-D007CDD3ED54}" type="datetimeFigureOut">
              <a:rPr lang="zh-TW" altLang="en-US" smtClean="0"/>
              <a:t>2018/4/10</a:t>
            </a:fld>
            <a:endParaRPr lang="zh-TW" altLang="en-US"/>
          </a:p>
        </p:txBody>
      </p:sp>
      <p:sp>
        <p:nvSpPr>
          <p:cNvPr id="5" name="頁尾版面配置區 4">
            <a:extLst>
              <a:ext uri="{FF2B5EF4-FFF2-40B4-BE49-F238E27FC236}">
                <a16:creationId xmlns:a16="http://schemas.microsoft.com/office/drawing/2014/main" xmlns="" id="{2E25D626-7084-45B8-864E-1E8415D750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5CEFD9CC-6BF7-4DBC-A265-8EFF8D8B40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CA2E87-8A9E-459E-914B-2E171E6FFD24}" type="slidenum">
              <a:rPr lang="zh-TW" altLang="en-US" smtClean="0"/>
              <a:t>‹#›</a:t>
            </a:fld>
            <a:endParaRPr lang="zh-TW" altLang="en-US"/>
          </a:p>
        </p:txBody>
      </p:sp>
    </p:spTree>
    <p:extLst>
      <p:ext uri="{BB962C8B-B14F-4D97-AF65-F5344CB8AC3E}">
        <p14:creationId xmlns:p14="http://schemas.microsoft.com/office/powerpoint/2010/main" val="2052042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2F31D33-C3EF-40D3-83B3-C424A0231FB8}"/>
              </a:ext>
            </a:extLst>
          </p:cNvPr>
          <p:cNvSpPr>
            <a:spLocks noGrp="1"/>
          </p:cNvSpPr>
          <p:nvPr>
            <p:ph type="ctrTitle"/>
          </p:nvPr>
        </p:nvSpPr>
        <p:spPr/>
        <p:txBody>
          <a:bodyPr>
            <a:normAutofit fontScale="90000"/>
          </a:bodyPr>
          <a:lstStyle/>
          <a:p>
            <a:r>
              <a:rPr lang="en-US" altLang="zh-TW" dirty="0"/>
              <a:t>A Dual-Stage Attention-Based Recurrent Neural Network</a:t>
            </a:r>
            <a:endParaRPr lang="zh-TW" altLang="en-US" dirty="0"/>
          </a:p>
        </p:txBody>
      </p:sp>
      <p:sp>
        <p:nvSpPr>
          <p:cNvPr id="3" name="副標題 2">
            <a:extLst>
              <a:ext uri="{FF2B5EF4-FFF2-40B4-BE49-F238E27FC236}">
                <a16:creationId xmlns:a16="http://schemas.microsoft.com/office/drawing/2014/main" xmlns="" id="{0B226A39-60EE-42FA-836C-F9B3CBFC924D}"/>
              </a:ext>
            </a:extLst>
          </p:cNvPr>
          <p:cNvSpPr>
            <a:spLocks noGrp="1"/>
          </p:cNvSpPr>
          <p:nvPr>
            <p:ph type="subTitle" idx="1"/>
          </p:nvPr>
        </p:nvSpPr>
        <p:spPr/>
        <p:txBody>
          <a:bodyPr/>
          <a:lstStyle/>
          <a:p>
            <a:r>
              <a:rPr lang="en-US" altLang="zh-TW" dirty="0"/>
              <a:t>Yao Qin, Dong Song, Haifeng Chen, Wei Cheng, </a:t>
            </a:r>
            <a:r>
              <a:rPr lang="en-US" altLang="zh-TW" dirty="0" err="1"/>
              <a:t>Guofei</a:t>
            </a:r>
            <a:r>
              <a:rPr lang="en-US" altLang="zh-TW" dirty="0"/>
              <a:t> Jiang, </a:t>
            </a:r>
          </a:p>
          <a:p>
            <a:r>
              <a:rPr lang="en-US" altLang="zh-TW" dirty="0"/>
              <a:t>Garrison W. </a:t>
            </a:r>
            <a:r>
              <a:rPr lang="en-US" altLang="zh-TW" dirty="0" smtClean="0"/>
              <a:t>Cottrell</a:t>
            </a:r>
            <a:endParaRPr lang="nn-NO" altLang="zh-TW" dirty="0" smtClean="0"/>
          </a:p>
          <a:p>
            <a:r>
              <a:rPr lang="en-US" altLang="zh-TW" dirty="0"/>
              <a:t>https://</a:t>
            </a:r>
            <a:r>
              <a:rPr lang="en-US" altLang="zh-TW" dirty="0" smtClean="0"/>
              <a:t>arxiv.org/abs/1704.02971</a:t>
            </a:r>
            <a:endParaRPr lang="zh-TW" altLang="en-US" dirty="0"/>
          </a:p>
        </p:txBody>
      </p:sp>
      <p:sp>
        <p:nvSpPr>
          <p:cNvPr id="4" name="文字方塊 3"/>
          <p:cNvSpPr txBox="1"/>
          <p:nvPr/>
        </p:nvSpPr>
        <p:spPr>
          <a:xfrm>
            <a:off x="8331463" y="6032310"/>
            <a:ext cx="2336281" cy="646331"/>
          </a:xfrm>
          <a:prstGeom prst="rect">
            <a:avLst/>
          </a:prstGeom>
          <a:noFill/>
        </p:spPr>
        <p:txBody>
          <a:bodyPr wrap="none" rtlCol="0">
            <a:spAutoFit/>
          </a:bodyPr>
          <a:lstStyle/>
          <a:p>
            <a:r>
              <a:rPr kumimoji="1" lang="en-US" altLang="zh-TW" dirty="0"/>
              <a:t>Presenter: </a:t>
            </a:r>
            <a:r>
              <a:rPr kumimoji="1" lang="en-US" altLang="zh-TW" dirty="0" err="1"/>
              <a:t>Jia</a:t>
            </a:r>
            <a:r>
              <a:rPr kumimoji="1" lang="en-US" altLang="zh-TW" dirty="0"/>
              <a:t>-Hong </a:t>
            </a:r>
            <a:r>
              <a:rPr kumimoji="1" lang="en-US" altLang="zh-TW" dirty="0" smtClean="0"/>
              <a:t>Liu</a:t>
            </a:r>
          </a:p>
          <a:p>
            <a:r>
              <a:rPr kumimoji="1" lang="en-US" altLang="zh-TW" dirty="0" smtClean="0"/>
              <a:t>Date: 2018/4/10</a:t>
            </a:r>
            <a:endParaRPr kumimoji="1" lang="zh-TW" altLang="en-US" dirty="0"/>
          </a:p>
        </p:txBody>
      </p:sp>
    </p:spTree>
    <p:extLst>
      <p:ext uri="{BB962C8B-B14F-4D97-AF65-F5344CB8AC3E}">
        <p14:creationId xmlns:p14="http://schemas.microsoft.com/office/powerpoint/2010/main" val="24050108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A0F0ED4-8FDB-4A29-A1CB-6D43B944EC3B}"/>
              </a:ext>
            </a:extLst>
          </p:cNvPr>
          <p:cNvSpPr>
            <a:spLocks noGrp="1"/>
          </p:cNvSpPr>
          <p:nvPr>
            <p:ph type="title"/>
          </p:nvPr>
        </p:nvSpPr>
        <p:spPr/>
        <p:txBody>
          <a:bodyPr/>
          <a:lstStyle/>
          <a:p>
            <a:pPr algn="ctr"/>
            <a:r>
              <a:rPr lang="en-US" altLang="zh-TW" dirty="0"/>
              <a:t>Abstract</a:t>
            </a:r>
            <a:endParaRPr lang="zh-TW" altLang="en-US" dirty="0"/>
          </a:p>
        </p:txBody>
      </p:sp>
      <p:sp>
        <p:nvSpPr>
          <p:cNvPr id="3" name="內容版面配置區 2">
            <a:extLst>
              <a:ext uri="{FF2B5EF4-FFF2-40B4-BE49-F238E27FC236}">
                <a16:creationId xmlns:a16="http://schemas.microsoft.com/office/drawing/2014/main" xmlns="" id="{1215A8BE-5E5B-460C-BC6C-DE3F7FB8C6A5}"/>
              </a:ext>
            </a:extLst>
          </p:cNvPr>
          <p:cNvSpPr>
            <a:spLocks noGrp="1"/>
          </p:cNvSpPr>
          <p:nvPr>
            <p:ph idx="1"/>
          </p:nvPr>
        </p:nvSpPr>
        <p:spPr>
          <a:xfrm>
            <a:off x="838200" y="1825625"/>
            <a:ext cx="10515600" cy="4351338"/>
          </a:xfrm>
        </p:spPr>
        <p:txBody>
          <a:bodyPr>
            <a:noAutofit/>
          </a:bodyPr>
          <a:lstStyle/>
          <a:p>
            <a:pPr marL="0" indent="0">
              <a:buNone/>
            </a:pPr>
            <a:r>
              <a:rPr lang="en-US" altLang="zh-TW" sz="2200" dirty="0"/>
              <a:t>The Nonlinear autoregressive exogenous (NARX) model, which predicts the current value of a time series based upon its previous values as well as the current and past values of multiple driving (exogenous) series, has been studied for decades. Despite the fact that various NARX models have been developed, few of them can capture the long-term temporal dependencies appropriately and select the relevant driving series to make predictions. In this paper, we propose a dual-stage attention-based recurrent neural network (DA-RNN) to address these two issues. In the first stage, we introduce an input attention mechanism to adaptively extract relevant driving series (a.k.a., input features) at each time step by referring to the previous encoder hidden state. In the second stage, we use a temporal attention mechanism to select relevant encoder hidden states across all time steps. With this dual-stage attention scheme, our model can not only make predictions effectively, but can also be easily interpreted. Thorough empirical studies based upon the SML 2010 dataset and the NASDAQ 100 Stock dataset demonstrate that the DA-RNN can outperform state-of-the-art methods for time series prediction.</a:t>
            </a:r>
            <a:endParaRPr lang="zh-TW" altLang="en-US" sz="2200" dirty="0"/>
          </a:p>
        </p:txBody>
      </p:sp>
    </p:spTree>
    <p:extLst>
      <p:ext uri="{BB962C8B-B14F-4D97-AF65-F5344CB8AC3E}">
        <p14:creationId xmlns:p14="http://schemas.microsoft.com/office/powerpoint/2010/main" val="36274077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138CDEB-2506-44EA-B0A3-3A498C6C4EC1}"/>
              </a:ext>
            </a:extLst>
          </p:cNvPr>
          <p:cNvSpPr>
            <a:spLocks noGrp="1"/>
          </p:cNvSpPr>
          <p:nvPr>
            <p:ph type="title"/>
          </p:nvPr>
        </p:nvSpPr>
        <p:spPr/>
        <p:txBody>
          <a:bodyPr/>
          <a:lstStyle/>
          <a:p>
            <a:pPr algn="ctr"/>
            <a:r>
              <a:rPr lang="en-US" altLang="zh-TW" dirty="0"/>
              <a:t>The Nonlinear autoregressive exogenous (NARX) model</a:t>
            </a:r>
            <a:endParaRPr lang="zh-TW" altLang="en-US" dirty="0"/>
          </a:p>
        </p:txBody>
      </p:sp>
      <p:pic>
        <p:nvPicPr>
          <p:cNvPr id="4" name="內容版面配置區 3">
            <a:extLst>
              <a:ext uri="{FF2B5EF4-FFF2-40B4-BE49-F238E27FC236}">
                <a16:creationId xmlns:a16="http://schemas.microsoft.com/office/drawing/2014/main" xmlns="" id="{ECA2E609-6244-4FAB-A24A-2819AA139083}"/>
              </a:ext>
            </a:extLst>
          </p:cNvPr>
          <p:cNvPicPr>
            <a:picLocks noGrp="1" noChangeAspect="1"/>
          </p:cNvPicPr>
          <p:nvPr>
            <p:ph idx="1"/>
          </p:nvPr>
        </p:nvPicPr>
        <p:blipFill>
          <a:blip r:embed="rId2"/>
          <a:stretch>
            <a:fillRect/>
          </a:stretch>
        </p:blipFill>
        <p:spPr>
          <a:xfrm>
            <a:off x="2236479" y="2886075"/>
            <a:ext cx="6334125" cy="542925"/>
          </a:xfrm>
          <a:prstGeom prst="rect">
            <a:avLst/>
          </a:prstGeom>
        </p:spPr>
      </p:pic>
      <p:pic>
        <p:nvPicPr>
          <p:cNvPr id="5" name="圖片 4">
            <a:extLst>
              <a:ext uri="{FF2B5EF4-FFF2-40B4-BE49-F238E27FC236}">
                <a16:creationId xmlns:a16="http://schemas.microsoft.com/office/drawing/2014/main" xmlns="" id="{26A93356-2F5F-4508-8128-6A264331B75F}"/>
              </a:ext>
            </a:extLst>
          </p:cNvPr>
          <p:cNvPicPr>
            <a:picLocks noChangeAspect="1"/>
          </p:cNvPicPr>
          <p:nvPr/>
        </p:nvPicPr>
        <p:blipFill>
          <a:blip r:embed="rId3"/>
          <a:stretch>
            <a:fillRect/>
          </a:stretch>
        </p:blipFill>
        <p:spPr>
          <a:xfrm>
            <a:off x="3797932" y="3824258"/>
            <a:ext cx="5695950" cy="514350"/>
          </a:xfrm>
          <a:prstGeom prst="rect">
            <a:avLst/>
          </a:prstGeom>
        </p:spPr>
      </p:pic>
      <p:pic>
        <p:nvPicPr>
          <p:cNvPr id="6" name="圖片 5">
            <a:extLst>
              <a:ext uri="{FF2B5EF4-FFF2-40B4-BE49-F238E27FC236}">
                <a16:creationId xmlns:a16="http://schemas.microsoft.com/office/drawing/2014/main" xmlns="" id="{69532507-ACE0-4057-B4E5-003590949DCD}"/>
              </a:ext>
            </a:extLst>
          </p:cNvPr>
          <p:cNvPicPr>
            <a:picLocks noChangeAspect="1"/>
          </p:cNvPicPr>
          <p:nvPr/>
        </p:nvPicPr>
        <p:blipFill>
          <a:blip r:embed="rId4"/>
          <a:stretch>
            <a:fillRect/>
          </a:stretch>
        </p:blipFill>
        <p:spPr>
          <a:xfrm>
            <a:off x="3713178" y="4639389"/>
            <a:ext cx="6115050" cy="457200"/>
          </a:xfrm>
          <a:prstGeom prst="rect">
            <a:avLst/>
          </a:prstGeom>
        </p:spPr>
      </p:pic>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xmlns="" id="{2DE720A7-F3CF-4606-8E13-A98A12F042E7}"/>
                  </a:ext>
                </a:extLst>
              </p:cNvPr>
              <p:cNvSpPr txBox="1"/>
              <p:nvPr/>
            </p:nvSpPr>
            <p:spPr>
              <a:xfrm>
                <a:off x="2234084" y="3824258"/>
                <a:ext cx="1390317"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3600" b="0" i="1" smtClean="0">
                          <a:latin typeface="Cambria Math" panose="02040503050406030204" pitchFamily="18" charset="0"/>
                        </a:rPr>
                        <m:t>𝑤h𝑒𝑟𝑒</m:t>
                      </m:r>
                    </m:oMath>
                  </m:oMathPara>
                </a14:m>
                <a:endParaRPr lang="zh-TW" altLang="en-US" sz="3600" dirty="0"/>
              </a:p>
            </p:txBody>
          </p:sp>
        </mc:Choice>
        <mc:Fallback xmlns="">
          <p:sp>
            <p:nvSpPr>
              <p:cNvPr id="7" name="文字方塊 6">
                <a:extLst>
                  <a:ext uri="{FF2B5EF4-FFF2-40B4-BE49-F238E27FC236}">
                    <a16:creationId xmlns:a16="http://schemas.microsoft.com/office/drawing/2014/main" id="{2DE720A7-F3CF-4606-8E13-A98A12F042E7}"/>
                  </a:ext>
                </a:extLst>
              </p:cNvPr>
              <p:cNvSpPr txBox="1">
                <a:spLocks noRot="1" noChangeAspect="1" noMove="1" noResize="1" noEditPoints="1" noAdjustHandles="1" noChangeArrowheads="1" noChangeShapeType="1" noTextEdit="1"/>
              </p:cNvSpPr>
              <p:nvPr/>
            </p:nvSpPr>
            <p:spPr>
              <a:xfrm>
                <a:off x="2234084" y="3824258"/>
                <a:ext cx="1390317" cy="553998"/>
              </a:xfrm>
              <a:prstGeom prst="rect">
                <a:avLst/>
              </a:prstGeom>
              <a:blipFill>
                <a:blip r:embed="rId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808338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550C203-C443-4202-9EB7-CADBFB784C26}"/>
              </a:ext>
            </a:extLst>
          </p:cNvPr>
          <p:cNvSpPr>
            <a:spLocks noGrp="1"/>
          </p:cNvSpPr>
          <p:nvPr>
            <p:ph type="title"/>
          </p:nvPr>
        </p:nvSpPr>
        <p:spPr/>
        <p:txBody>
          <a:bodyPr/>
          <a:lstStyle/>
          <a:p>
            <a:pPr algn="ctr"/>
            <a:r>
              <a:rPr lang="en-US" altLang="zh-TW" dirty="0"/>
              <a:t>Dual-Stage Attention-Based RNN</a:t>
            </a:r>
            <a:endParaRPr lang="zh-TW" altLang="en-US" dirty="0"/>
          </a:p>
        </p:txBody>
      </p:sp>
      <p:pic>
        <p:nvPicPr>
          <p:cNvPr id="4" name="內容版面配置區 3">
            <a:extLst>
              <a:ext uri="{FF2B5EF4-FFF2-40B4-BE49-F238E27FC236}">
                <a16:creationId xmlns:a16="http://schemas.microsoft.com/office/drawing/2014/main" xmlns="" id="{A8E9B17B-2F84-49C2-9ACD-3C2AA1948940}"/>
              </a:ext>
            </a:extLst>
          </p:cNvPr>
          <p:cNvPicPr>
            <a:picLocks noGrp="1" noChangeAspect="1"/>
          </p:cNvPicPr>
          <p:nvPr>
            <p:ph idx="1"/>
          </p:nvPr>
        </p:nvPicPr>
        <p:blipFill>
          <a:blip r:embed="rId2"/>
          <a:stretch>
            <a:fillRect/>
          </a:stretch>
        </p:blipFill>
        <p:spPr>
          <a:xfrm>
            <a:off x="838200" y="2481753"/>
            <a:ext cx="10515600" cy="3039082"/>
          </a:xfrm>
          <a:prstGeom prst="rect">
            <a:avLst/>
          </a:prstGeom>
        </p:spPr>
      </p:pic>
    </p:spTree>
    <p:extLst>
      <p:ext uri="{BB962C8B-B14F-4D97-AF65-F5344CB8AC3E}">
        <p14:creationId xmlns:p14="http://schemas.microsoft.com/office/powerpoint/2010/main" val="17862168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BB35FAD-B5FE-4802-8089-F12BDEA395E2}"/>
              </a:ext>
            </a:extLst>
          </p:cNvPr>
          <p:cNvSpPr>
            <a:spLocks noGrp="1"/>
          </p:cNvSpPr>
          <p:nvPr>
            <p:ph type="title"/>
          </p:nvPr>
        </p:nvSpPr>
        <p:spPr/>
        <p:txBody>
          <a:bodyPr/>
          <a:lstStyle/>
          <a:p>
            <a:pPr algn="ctr"/>
            <a:r>
              <a:rPr lang="en-US" altLang="zh-TW" dirty="0"/>
              <a:t>Objective Function</a:t>
            </a:r>
            <a:endParaRPr lang="zh-TW" altLang="en-US" dirty="0"/>
          </a:p>
        </p:txBody>
      </p:sp>
      <p:pic>
        <p:nvPicPr>
          <p:cNvPr id="7" name="內容版面配置區 6">
            <a:extLst>
              <a:ext uri="{FF2B5EF4-FFF2-40B4-BE49-F238E27FC236}">
                <a16:creationId xmlns:a16="http://schemas.microsoft.com/office/drawing/2014/main" xmlns="" id="{78CC6502-26F7-4368-AA2B-8BE4BB71713C}"/>
              </a:ext>
            </a:extLst>
          </p:cNvPr>
          <p:cNvPicPr>
            <a:picLocks noGrp="1" noChangeAspect="1"/>
          </p:cNvPicPr>
          <p:nvPr>
            <p:ph idx="1"/>
          </p:nvPr>
        </p:nvPicPr>
        <p:blipFill>
          <a:blip r:embed="rId2"/>
          <a:stretch>
            <a:fillRect/>
          </a:stretch>
        </p:blipFill>
        <p:spPr>
          <a:xfrm>
            <a:off x="1870599" y="2867470"/>
            <a:ext cx="8450802" cy="1979341"/>
          </a:xfrm>
          <a:prstGeom prst="rect">
            <a:avLst/>
          </a:prstGeom>
        </p:spPr>
      </p:pic>
    </p:spTree>
    <p:extLst>
      <p:ext uri="{BB962C8B-B14F-4D97-AF65-F5344CB8AC3E}">
        <p14:creationId xmlns:p14="http://schemas.microsoft.com/office/powerpoint/2010/main" val="33435759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56689B4-6011-4059-9703-B34829F1604F}"/>
              </a:ext>
            </a:extLst>
          </p:cNvPr>
          <p:cNvSpPr>
            <a:spLocks noGrp="1"/>
          </p:cNvSpPr>
          <p:nvPr>
            <p:ph type="title"/>
          </p:nvPr>
        </p:nvSpPr>
        <p:spPr/>
        <p:txBody>
          <a:bodyPr/>
          <a:lstStyle/>
          <a:p>
            <a:pPr algn="ctr"/>
            <a:r>
              <a:rPr lang="en-US" altLang="zh-TW" dirty="0"/>
              <a:t>Data Set</a:t>
            </a:r>
            <a:endParaRPr lang="zh-TW" altLang="en-US" dirty="0"/>
          </a:p>
        </p:txBody>
      </p:sp>
      <p:pic>
        <p:nvPicPr>
          <p:cNvPr id="7" name="內容版面配置區 6">
            <a:extLst>
              <a:ext uri="{FF2B5EF4-FFF2-40B4-BE49-F238E27FC236}">
                <a16:creationId xmlns:a16="http://schemas.microsoft.com/office/drawing/2014/main" xmlns="" id="{4CF8C137-001C-451F-98D7-DF6D7D8AE4A4}"/>
              </a:ext>
            </a:extLst>
          </p:cNvPr>
          <p:cNvPicPr>
            <a:picLocks noGrp="1" noChangeAspect="1"/>
          </p:cNvPicPr>
          <p:nvPr>
            <p:ph idx="1"/>
          </p:nvPr>
        </p:nvPicPr>
        <p:blipFill>
          <a:blip r:embed="rId2"/>
          <a:stretch>
            <a:fillRect/>
          </a:stretch>
        </p:blipFill>
        <p:spPr>
          <a:xfrm>
            <a:off x="838200" y="2504985"/>
            <a:ext cx="10515600" cy="2992618"/>
          </a:xfrm>
          <a:prstGeom prst="rect">
            <a:avLst/>
          </a:prstGeom>
        </p:spPr>
      </p:pic>
    </p:spTree>
    <p:extLst>
      <p:ext uri="{BB962C8B-B14F-4D97-AF65-F5344CB8AC3E}">
        <p14:creationId xmlns:p14="http://schemas.microsoft.com/office/powerpoint/2010/main" val="28592194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2C01205-724B-494E-81E2-32C304EA6907}"/>
              </a:ext>
            </a:extLst>
          </p:cNvPr>
          <p:cNvSpPr>
            <a:spLocks noGrp="1"/>
          </p:cNvSpPr>
          <p:nvPr>
            <p:ph type="title"/>
          </p:nvPr>
        </p:nvSpPr>
        <p:spPr/>
        <p:txBody>
          <a:bodyPr/>
          <a:lstStyle/>
          <a:p>
            <a:pPr algn="ctr"/>
            <a:r>
              <a:rPr lang="en-US" altLang="zh-TW" dirty="0"/>
              <a:t>Experiments(1/3)</a:t>
            </a:r>
            <a:endParaRPr lang="zh-TW" altLang="en-US" dirty="0"/>
          </a:p>
        </p:txBody>
      </p:sp>
      <p:pic>
        <p:nvPicPr>
          <p:cNvPr id="4" name="內容版面配置區 3">
            <a:extLst>
              <a:ext uri="{FF2B5EF4-FFF2-40B4-BE49-F238E27FC236}">
                <a16:creationId xmlns:a16="http://schemas.microsoft.com/office/drawing/2014/main" xmlns="" id="{B3C3EC22-8654-440D-A80D-F0A63C042E89}"/>
              </a:ext>
            </a:extLst>
          </p:cNvPr>
          <p:cNvPicPr>
            <a:picLocks noGrp="1" noChangeAspect="1"/>
          </p:cNvPicPr>
          <p:nvPr>
            <p:ph idx="1"/>
          </p:nvPr>
        </p:nvPicPr>
        <p:blipFill>
          <a:blip r:embed="rId2"/>
          <a:stretch>
            <a:fillRect/>
          </a:stretch>
        </p:blipFill>
        <p:spPr>
          <a:xfrm>
            <a:off x="838200" y="1578424"/>
            <a:ext cx="10515600" cy="3538042"/>
          </a:xfrm>
          <a:prstGeom prst="rect">
            <a:avLst/>
          </a:prstGeom>
        </p:spPr>
      </p:pic>
      <p:pic>
        <p:nvPicPr>
          <p:cNvPr id="5" name="圖片 4">
            <a:extLst>
              <a:ext uri="{FF2B5EF4-FFF2-40B4-BE49-F238E27FC236}">
                <a16:creationId xmlns:a16="http://schemas.microsoft.com/office/drawing/2014/main" xmlns="" id="{3885813A-4F71-4DE4-8E97-8294906D2B22}"/>
              </a:ext>
            </a:extLst>
          </p:cNvPr>
          <p:cNvPicPr>
            <a:picLocks noChangeAspect="1"/>
          </p:cNvPicPr>
          <p:nvPr/>
        </p:nvPicPr>
        <p:blipFill>
          <a:blip r:embed="rId3"/>
          <a:stretch>
            <a:fillRect/>
          </a:stretch>
        </p:blipFill>
        <p:spPr>
          <a:xfrm>
            <a:off x="5414156" y="5210776"/>
            <a:ext cx="3640026" cy="535298"/>
          </a:xfrm>
          <a:prstGeom prst="rect">
            <a:avLst/>
          </a:prstGeom>
        </p:spPr>
      </p:pic>
      <p:pic>
        <p:nvPicPr>
          <p:cNvPr id="6" name="圖片 5">
            <a:extLst>
              <a:ext uri="{FF2B5EF4-FFF2-40B4-BE49-F238E27FC236}">
                <a16:creationId xmlns:a16="http://schemas.microsoft.com/office/drawing/2014/main" xmlns="" id="{93C238C8-67B6-4247-B32C-AB9130972248}"/>
              </a:ext>
            </a:extLst>
          </p:cNvPr>
          <p:cNvPicPr>
            <a:picLocks noChangeAspect="1"/>
          </p:cNvPicPr>
          <p:nvPr/>
        </p:nvPicPr>
        <p:blipFill>
          <a:blip r:embed="rId4"/>
          <a:stretch>
            <a:fillRect/>
          </a:stretch>
        </p:blipFill>
        <p:spPr>
          <a:xfrm>
            <a:off x="941746" y="5236993"/>
            <a:ext cx="3794583" cy="428624"/>
          </a:xfrm>
          <a:prstGeom prst="rect">
            <a:avLst/>
          </a:prstGeom>
        </p:spPr>
      </p:pic>
      <p:pic>
        <p:nvPicPr>
          <p:cNvPr id="7" name="圖片 6">
            <a:extLst>
              <a:ext uri="{FF2B5EF4-FFF2-40B4-BE49-F238E27FC236}">
                <a16:creationId xmlns:a16="http://schemas.microsoft.com/office/drawing/2014/main" xmlns="" id="{355B123C-AA6E-41C6-AF51-D7FC0022AD1A}"/>
              </a:ext>
            </a:extLst>
          </p:cNvPr>
          <p:cNvPicPr>
            <a:picLocks noChangeAspect="1"/>
          </p:cNvPicPr>
          <p:nvPr/>
        </p:nvPicPr>
        <p:blipFill>
          <a:blip r:embed="rId5"/>
          <a:stretch>
            <a:fillRect/>
          </a:stretch>
        </p:blipFill>
        <p:spPr>
          <a:xfrm>
            <a:off x="946571" y="6062116"/>
            <a:ext cx="4032579" cy="535298"/>
          </a:xfrm>
          <a:prstGeom prst="rect">
            <a:avLst/>
          </a:prstGeom>
        </p:spPr>
      </p:pic>
    </p:spTree>
    <p:extLst>
      <p:ext uri="{BB962C8B-B14F-4D97-AF65-F5344CB8AC3E}">
        <p14:creationId xmlns:p14="http://schemas.microsoft.com/office/powerpoint/2010/main" val="22721295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94ED0DE-E126-46FD-A59E-0C6A11A75A59}"/>
              </a:ext>
            </a:extLst>
          </p:cNvPr>
          <p:cNvSpPr>
            <a:spLocks noGrp="1"/>
          </p:cNvSpPr>
          <p:nvPr>
            <p:ph type="title"/>
          </p:nvPr>
        </p:nvSpPr>
        <p:spPr/>
        <p:txBody>
          <a:bodyPr/>
          <a:lstStyle/>
          <a:p>
            <a:pPr algn="ctr"/>
            <a:r>
              <a:rPr lang="en-US" altLang="zh-TW" dirty="0"/>
              <a:t>Experiments(2/3)</a:t>
            </a:r>
            <a:endParaRPr lang="zh-TW" altLang="en-US" dirty="0"/>
          </a:p>
        </p:txBody>
      </p:sp>
      <p:pic>
        <p:nvPicPr>
          <p:cNvPr id="7" name="內容版面配置區 6">
            <a:extLst>
              <a:ext uri="{FF2B5EF4-FFF2-40B4-BE49-F238E27FC236}">
                <a16:creationId xmlns:a16="http://schemas.microsoft.com/office/drawing/2014/main" xmlns="" id="{24FC0A70-989C-488C-973F-C98F8294D884}"/>
              </a:ext>
            </a:extLst>
          </p:cNvPr>
          <p:cNvPicPr>
            <a:picLocks noGrp="1" noChangeAspect="1"/>
          </p:cNvPicPr>
          <p:nvPr>
            <p:ph idx="1"/>
          </p:nvPr>
        </p:nvPicPr>
        <p:blipFill>
          <a:blip r:embed="rId2"/>
          <a:stretch>
            <a:fillRect/>
          </a:stretch>
        </p:blipFill>
        <p:spPr>
          <a:xfrm>
            <a:off x="2823360" y="2070052"/>
            <a:ext cx="6545279" cy="4310856"/>
          </a:xfrm>
          <a:prstGeom prst="rect">
            <a:avLst/>
          </a:prstGeom>
        </p:spPr>
      </p:pic>
    </p:spTree>
    <p:extLst>
      <p:ext uri="{BB962C8B-B14F-4D97-AF65-F5344CB8AC3E}">
        <p14:creationId xmlns:p14="http://schemas.microsoft.com/office/powerpoint/2010/main" val="10804279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a:extLst>
              <a:ext uri="{FF2B5EF4-FFF2-40B4-BE49-F238E27FC236}">
                <a16:creationId xmlns:a16="http://schemas.microsoft.com/office/drawing/2014/main" xmlns="" id="{AE42ABAB-4DFD-4672-9ED4-BEEB17623E16}"/>
              </a:ext>
            </a:extLst>
          </p:cNvPr>
          <p:cNvPicPr>
            <a:picLocks noGrp="1" noChangeAspect="1"/>
          </p:cNvPicPr>
          <p:nvPr>
            <p:ph idx="1"/>
          </p:nvPr>
        </p:nvPicPr>
        <p:blipFill>
          <a:blip r:embed="rId2"/>
          <a:stretch>
            <a:fillRect/>
          </a:stretch>
        </p:blipFill>
        <p:spPr>
          <a:xfrm>
            <a:off x="408234" y="2629277"/>
            <a:ext cx="5534025" cy="2886075"/>
          </a:xfrm>
          <a:prstGeom prst="rect">
            <a:avLst/>
          </a:prstGeom>
        </p:spPr>
      </p:pic>
      <p:pic>
        <p:nvPicPr>
          <p:cNvPr id="5" name="圖片 4">
            <a:extLst>
              <a:ext uri="{FF2B5EF4-FFF2-40B4-BE49-F238E27FC236}">
                <a16:creationId xmlns:a16="http://schemas.microsoft.com/office/drawing/2014/main" xmlns="" id="{AA6728C2-1F07-4A5B-BA67-C5FBEF6BC3A1}"/>
              </a:ext>
            </a:extLst>
          </p:cNvPr>
          <p:cNvPicPr>
            <a:picLocks noChangeAspect="1"/>
          </p:cNvPicPr>
          <p:nvPr/>
        </p:nvPicPr>
        <p:blipFill>
          <a:blip r:embed="rId3"/>
          <a:stretch>
            <a:fillRect/>
          </a:stretch>
        </p:blipFill>
        <p:spPr>
          <a:xfrm>
            <a:off x="6487866" y="2743576"/>
            <a:ext cx="5295900" cy="2657475"/>
          </a:xfrm>
          <a:prstGeom prst="rect">
            <a:avLst/>
          </a:prstGeom>
        </p:spPr>
      </p:pic>
      <p:sp>
        <p:nvSpPr>
          <p:cNvPr id="6" name="標題 1">
            <a:extLst>
              <a:ext uri="{FF2B5EF4-FFF2-40B4-BE49-F238E27FC236}">
                <a16:creationId xmlns:a16="http://schemas.microsoft.com/office/drawing/2014/main" xmlns="" id="{47562E56-90F4-473F-9670-5A9675521FCD}"/>
              </a:ext>
            </a:extLst>
          </p:cNvPr>
          <p:cNvSpPr>
            <a:spLocks noGrp="1"/>
          </p:cNvSpPr>
          <p:nvPr>
            <p:ph type="title"/>
          </p:nvPr>
        </p:nvSpPr>
        <p:spPr/>
        <p:txBody>
          <a:bodyPr/>
          <a:lstStyle/>
          <a:p>
            <a:pPr algn="ctr"/>
            <a:r>
              <a:rPr lang="en-US" altLang="zh-TW" dirty="0"/>
              <a:t>Experiments(3/3)</a:t>
            </a:r>
            <a:endParaRPr lang="zh-TW" altLang="en-US" dirty="0"/>
          </a:p>
        </p:txBody>
      </p:sp>
    </p:spTree>
    <p:extLst>
      <p:ext uri="{BB962C8B-B14F-4D97-AF65-F5344CB8AC3E}">
        <p14:creationId xmlns:p14="http://schemas.microsoft.com/office/powerpoint/2010/main" val="248675485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929</TotalTime>
  <Words>265</Words>
  <Application>Microsoft Office PowerPoint</Application>
  <PresentationFormat>寬螢幕</PresentationFormat>
  <Paragraphs>16</Paragraphs>
  <Slides>9</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9</vt:i4>
      </vt:variant>
    </vt:vector>
  </HeadingPairs>
  <TitlesOfParts>
    <vt:vector size="15" baseType="lpstr">
      <vt:lpstr>新細明體</vt:lpstr>
      <vt:lpstr>Arial</vt:lpstr>
      <vt:lpstr>Calibri</vt:lpstr>
      <vt:lpstr>Calibri Light</vt:lpstr>
      <vt:lpstr>Cambria Math</vt:lpstr>
      <vt:lpstr>Office 佈景主題</vt:lpstr>
      <vt:lpstr>A Dual-Stage Attention-Based Recurrent Neural Network</vt:lpstr>
      <vt:lpstr>Abstract</vt:lpstr>
      <vt:lpstr>The Nonlinear autoregressive exogenous (NARX) model</vt:lpstr>
      <vt:lpstr>Dual-Stage Attention-Based RNN</vt:lpstr>
      <vt:lpstr>Objective Function</vt:lpstr>
      <vt:lpstr>Data Set</vt:lpstr>
      <vt:lpstr>Experiments(1/3)</vt:lpstr>
      <vt:lpstr>Experiments(2/3)</vt:lpstr>
      <vt:lpstr>Experiments(3/3)</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Dual-Stage Attention-Based Recurrent Neural Network</dc:title>
  <dc:creator>ike.liu</dc:creator>
  <cp:lastModifiedBy>pplab-class</cp:lastModifiedBy>
  <cp:revision>11</cp:revision>
  <dcterms:created xsi:type="dcterms:W3CDTF">2018-03-20T07:36:18Z</dcterms:created>
  <dcterms:modified xsi:type="dcterms:W3CDTF">2018-04-10T11:12:38Z</dcterms:modified>
</cp:coreProperties>
</file>