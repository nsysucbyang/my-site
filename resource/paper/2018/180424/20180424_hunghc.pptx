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63" r:id="rId5"/>
    <p:sldId id="264" r:id="rId6"/>
    <p:sldId id="267" r:id="rId7"/>
    <p:sldId id="268" r:id="rId8"/>
    <p:sldId id="269" r:id="rId9"/>
    <p:sldId id="270" r:id="rId10"/>
    <p:sldId id="271" r:id="rId11"/>
    <p:sldId id="272" r:id="rId12"/>
    <p:sldId id="259" r:id="rId13"/>
    <p:sldId id="261" r:id="rId14"/>
    <p:sldId id="273" r:id="rId15"/>
    <p:sldId id="260" r:id="rId16"/>
    <p:sldId id="274" r:id="rId17"/>
    <p:sldId id="283" r:id="rId18"/>
    <p:sldId id="284" r:id="rId19"/>
    <p:sldId id="262" r:id="rId20"/>
    <p:sldId id="280" r:id="rId21"/>
    <p:sldId id="279" r:id="rId22"/>
    <p:sldId id="281" r:id="rId23"/>
    <p:sldId id="275" r:id="rId24"/>
    <p:sldId id="285" r:id="rId25"/>
    <p:sldId id="286" r:id="rId26"/>
    <p:sldId id="288" r:id="rId27"/>
    <p:sldId id="289" r:id="rId28"/>
    <p:sldId id="290" r:id="rId29"/>
    <p:sldId id="291" r:id="rId30"/>
    <p:sldId id="276" r:id="rId31"/>
    <p:sldId id="292" r:id="rId32"/>
    <p:sldId id="293" r:id="rId3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9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499C2-139D-4ED0-9741-6899FFA38BB4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D582E-4C55-4656-864C-A753C23F59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725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D582E-4C55-4656-864C-A753C23F590A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325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D582E-4C55-4656-864C-A753C23F590A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873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28C32AE-2546-4CC4-A36F-380FC6F6C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08441756-0575-4F00-A85D-98CC47C40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03011183-F2D3-4FFD-80B7-7FF1B83DD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521CE-5A05-4B62-8466-AADD9FDA4AF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1639475D-F7A3-4BDC-8545-7A55D07B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D0432460-3052-46D8-AB1D-07B6AFA68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90AB0-0ADF-44E6-92F7-204CEBB56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167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382106A-7DA1-4759-BB2D-C565C1A2D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19C909C4-47B9-45D6-AA20-8442F9A34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E3A176EB-3F7C-4448-9E88-9E4F6613A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521CE-5A05-4B62-8466-AADD9FDA4AF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C76D7FD4-0870-49C1-AFF5-0EE83D02B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D48DDC5F-A785-41F3-80CD-BD3B336F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90AB0-0ADF-44E6-92F7-204CEBB56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630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6B9E907-61F3-46C2-9F0E-812AEB9E3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CAE3AE59-6047-4B1E-9078-916CFE424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24CE5813-CBED-498F-AEC9-3E23EF27B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521CE-5A05-4B62-8466-AADD9FDA4AF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BB1BD079-68DB-4FCC-939D-7A37A15C2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33729255-AA6E-4303-8A3C-FCBF49716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90AB0-0ADF-44E6-92F7-204CEBB56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970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BD11778-55B8-49BA-810B-F4208C136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0A66742-4645-4C4E-BEBA-9F5CB9CF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4C3A7F03-5BA9-4935-B7C0-0479E5B53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6CE5BA46-0237-4941-817B-DAF47F926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521CE-5A05-4B62-8466-AADD9FDA4AF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73ADB31E-0AFB-4072-B6D7-55557F2F1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D976CB65-2379-437B-A9B6-297AF7F6A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90AB0-0ADF-44E6-92F7-204CEBB56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1509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BDD042D-2D1B-4296-A1C8-95D75FA96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C4D1643E-6BF9-40EA-8204-FCBD43090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243F8951-3160-4737-8AF6-9F4EADCE9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323734D2-3472-4A5D-B471-E3E85810C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05FA6BD9-3679-430C-88FB-8AE894581B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xmlns="" id="{8A43BB5E-3684-49C4-8D4B-D2E994013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521CE-5A05-4B62-8466-AADD9FDA4AF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xmlns="" id="{A73F6D0C-BB3D-43DB-AA04-282E9DBDB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xmlns="" id="{15BBD81E-935F-46C6-80F5-B36602DD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90AB0-0ADF-44E6-92F7-204CEBB56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115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4A75A08-9769-4036-B1CF-ED86CBC3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AAEE0C98-A0A7-4B0F-ABE5-6D43046B4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521CE-5A05-4B62-8466-AADD9FDA4AF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04BA7DE2-B24F-44A4-A101-FD0360BBC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C0D19DDD-1781-417A-9434-78B74C4C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90AB0-0ADF-44E6-92F7-204CEBB56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3746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xmlns="" id="{4DB012A8-2163-473A-A818-133ACC1E8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521CE-5A05-4B62-8466-AADD9FDA4AF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xmlns="" id="{80EA3766-F534-4E09-AFDF-F642EF8C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4A711EEF-CD1E-4951-B2DC-FEE2D0F2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90AB0-0ADF-44E6-92F7-204CEBB56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8310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50C4AEC-5010-49B1-AF86-1E5114555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34E70EE5-258E-4620-88C3-663739A0C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78C734C0-DAAF-44E2-A7B0-CC3AE4127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7866FA75-C372-4C0C-AAAD-2043801D3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521CE-5A05-4B62-8466-AADD9FDA4AF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43D8F90D-B83C-4AD1-867D-76F4D3A54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2055BD9D-FBEA-45AD-9AE2-40FD83F75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90AB0-0ADF-44E6-92F7-204CEBB56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010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1CE767F-2793-4936-AC45-0BD90DA6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xmlns="" id="{CF29E517-CE93-4B5E-80BF-A6FCC1C37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8D7E731D-3115-48E5-8A17-1EA9B5CCA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546077E9-29E8-48A3-9BF4-772AFCE65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521CE-5A05-4B62-8466-AADD9FDA4AF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5CE41FD9-EB93-4A7C-B5DE-0CBA5A00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1B51C688-E6AE-445D-80CA-007251D9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90AB0-0ADF-44E6-92F7-204CEBB56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3281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4B4058C-C57B-4393-B15E-3A1C3D6D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D4D842B5-E80F-4220-B5B9-F8B585006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CD505092-58FF-4FA1-980C-4BC3C944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521CE-5A05-4B62-8466-AADD9FDA4AF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AC91B353-2BDF-4931-8BE9-68943FEF8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24D6E90C-5FE7-4A5D-AF65-5EF8B955C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90AB0-0ADF-44E6-92F7-204CEBB56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3312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xmlns="" id="{F62891E1-3DEB-4CF7-8798-AD05B7AA54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8392BDC2-F0FB-46DE-A67F-E1D04C014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AB6328A9-EA8A-4836-90D6-EFBDC342C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521CE-5A05-4B62-8466-AADD9FDA4AF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78F8E69A-B26E-463B-92A9-9A5D1DAF0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79765A28-5F37-4178-832B-E36F7A8F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90AB0-0ADF-44E6-92F7-204CEBB56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0111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0552968D-220D-4748-99E3-96BB4E7C9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7A1E60DA-6E72-441E-B44F-914A53180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BAC7E566-40C3-43A5-A69D-523BCE822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521CE-5A05-4B62-8466-AADD9FDA4AFF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1257F202-662E-43B1-AB07-6B645FE8F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7717EC4C-9A21-41BB-A214-F60930259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90AB0-0ADF-44E6-92F7-204CEBB56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774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8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8D1CF13-228D-4C1D-8FB0-8BCCD5B00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6955" y="1397323"/>
            <a:ext cx="9718089" cy="1743307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Dynamic edit distance table under a general weighted cost function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08C23C24-2ACF-4DDF-8CF4-03F119064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70664"/>
            <a:ext cx="9144000" cy="1410408"/>
          </a:xfrm>
        </p:spPr>
        <p:txBody>
          <a:bodyPr>
            <a:normAutofit/>
          </a:bodyPr>
          <a:lstStyle/>
          <a:p>
            <a:r>
              <a:rPr lang="en-US" altLang="zh-TW" dirty="0"/>
              <a:t> </a:t>
            </a:r>
            <a:r>
              <a:rPr lang="en-US" altLang="zh-TW" dirty="0" err="1" smtClean="0"/>
              <a:t>Heikki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Hyyrö</a:t>
            </a:r>
            <a:r>
              <a:rPr lang="en-US" altLang="zh-TW" dirty="0"/>
              <a:t>, Kazuyuki</a:t>
            </a:r>
            <a:r>
              <a:rPr lang="zh-TW" altLang="en-US" dirty="0"/>
              <a:t> </a:t>
            </a:r>
            <a:r>
              <a:rPr lang="en-US" altLang="zh-TW" dirty="0" err="1"/>
              <a:t>Narisawa</a:t>
            </a:r>
            <a:r>
              <a:rPr lang="zh-TW" altLang="en-US" dirty="0"/>
              <a:t> </a:t>
            </a:r>
            <a:r>
              <a:rPr lang="en-US" altLang="zh-TW" dirty="0"/>
              <a:t>and </a:t>
            </a:r>
            <a:r>
              <a:rPr lang="en-US" altLang="zh-TW" dirty="0" err="1"/>
              <a:t>Shunsuke</a:t>
            </a:r>
            <a:r>
              <a:rPr lang="zh-TW" altLang="en-US" dirty="0"/>
              <a:t> </a:t>
            </a:r>
            <a:r>
              <a:rPr lang="en-US" altLang="zh-TW" dirty="0" err="1"/>
              <a:t>Inenaga</a:t>
            </a:r>
            <a:endParaRPr lang="zh-TW" altLang="en-US" dirty="0"/>
          </a:p>
          <a:p>
            <a:r>
              <a:rPr lang="en-US" altLang="zh-TW" dirty="0"/>
              <a:t> Journal of Discrete Algorithms, vol. 34, pp. 2-17, 2015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0071C0AC-62DF-4118-9140-3CF1CB12F604}"/>
              </a:ext>
            </a:extLst>
          </p:cNvPr>
          <p:cNvSpPr txBox="1"/>
          <p:nvPr/>
        </p:nvSpPr>
        <p:spPr>
          <a:xfrm>
            <a:off x="9321929" y="6118194"/>
            <a:ext cx="185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Date</a:t>
            </a:r>
            <a:r>
              <a:rPr lang="zh-TW" altLang="en-US" dirty="0"/>
              <a:t>：</a:t>
            </a:r>
            <a:r>
              <a:rPr lang="en-US" altLang="zh-TW" dirty="0"/>
              <a:t>2018/4/24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E0A458A1-3082-4917-9B92-B9886C809D59}"/>
              </a:ext>
            </a:extLst>
          </p:cNvPr>
          <p:cNvSpPr txBox="1"/>
          <p:nvPr/>
        </p:nvSpPr>
        <p:spPr>
          <a:xfrm>
            <a:off x="4204616" y="5119042"/>
            <a:ext cx="3782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Presenter</a:t>
            </a:r>
            <a:r>
              <a:rPr lang="zh-TW" altLang="en-US" sz="2400" dirty="0"/>
              <a:t>：</a:t>
            </a:r>
            <a:r>
              <a:rPr lang="en-US" altLang="zh-TW" sz="2400" dirty="0"/>
              <a:t>Hsiu-</a:t>
            </a:r>
            <a:r>
              <a:rPr lang="en-US" altLang="zh-TW" sz="2400" dirty="0" err="1"/>
              <a:t>Chieh</a:t>
            </a:r>
            <a:r>
              <a:rPr lang="en-US" altLang="zh-TW" sz="2400" dirty="0"/>
              <a:t> Hung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6427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FEBA009-E667-492C-A009-186030491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Abstract(1/2)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230C62BD-0943-41E1-938A-118176909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/>
              <a:t>We discuss the problem of edit distance computation under a dynamic setting, where one of the two compared strings may be modified by single-character edit operations and we wish to keep the edit distance information between the strings up-to-date. A previous algorithm by Kim and Park (2004) [6] solves a more limited problem where modifications can be done only at the ends of the strings (so-called decremental or incremental edits) and the edit operations have (essentially) unit costs. If the lengths of the two strings are </a:t>
            </a:r>
            <a:r>
              <a:rPr lang="en-US" altLang="zh-TW" i="1" dirty="0"/>
              <a:t>m </a:t>
            </a:r>
            <a:r>
              <a:rPr lang="en-US" altLang="zh-TW" dirty="0"/>
              <a:t>and </a:t>
            </a:r>
            <a:r>
              <a:rPr lang="en-US" altLang="zh-TW" i="1" dirty="0"/>
              <a:t>n</a:t>
            </a:r>
            <a:r>
              <a:rPr lang="en-US" altLang="zh-TW" dirty="0"/>
              <a:t>, their algorithm requires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m </a:t>
            </a:r>
            <a:r>
              <a:rPr lang="en-US" altLang="zh-TW" dirty="0"/>
              <a:t>+ </a:t>
            </a:r>
            <a:r>
              <a:rPr lang="en-US" altLang="zh-TW" i="1" dirty="0"/>
              <a:t>n</a:t>
            </a:r>
            <a:r>
              <a:rPr lang="en-US" altLang="zh-TW" dirty="0"/>
              <a:t>) time per modification.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1048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DCE5DA2-34EF-4D99-A84B-BFE1D3280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Abstract(2/2)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5A7682DA-FB92-4020-BDAB-E90C0871E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We propose a simple and practical algorithm that (1) allows arbitrary non-negative costs for the edit operations and (2) allows the modifications to be done at arbitrary positions. If the latter string is modified at position </a:t>
            </a:r>
            <a:r>
              <a:rPr lang="en-US" altLang="zh-TW" i="1" dirty="0"/>
              <a:t>j</a:t>
            </a:r>
            <a:r>
              <a:rPr lang="en-US" altLang="zh-TW" i="1" baseline="30000" dirty="0"/>
              <a:t>*</a:t>
            </a:r>
            <a:r>
              <a:rPr lang="en-US" altLang="zh-TW" dirty="0"/>
              <a:t>, our algorithm requires </a:t>
            </a:r>
            <a:r>
              <a:rPr lang="en-US" altLang="zh-TW" i="1" dirty="0"/>
              <a:t>O</a:t>
            </a:r>
            <a:r>
              <a:rPr lang="en-US" altLang="zh-TW" dirty="0"/>
              <a:t>(min{</a:t>
            </a:r>
            <a:r>
              <a:rPr lang="en-US" altLang="zh-TW" i="1" dirty="0" err="1"/>
              <a:t>rc</a:t>
            </a:r>
            <a:r>
              <a:rPr lang="en-US" altLang="zh-TW" dirty="0"/>
              <a:t>(</a:t>
            </a:r>
            <a:r>
              <a:rPr lang="en-US" altLang="zh-TW" i="1" dirty="0"/>
              <a:t>m </a:t>
            </a:r>
            <a:r>
              <a:rPr lang="en-US" altLang="zh-TW" dirty="0"/>
              <a:t>+ </a:t>
            </a:r>
            <a:r>
              <a:rPr lang="en-US" altLang="zh-TW" i="1" dirty="0"/>
              <a:t>n</a:t>
            </a:r>
            <a:r>
              <a:rPr lang="en-US" altLang="zh-TW" dirty="0"/>
              <a:t>), </a:t>
            </a:r>
            <a:r>
              <a:rPr lang="en-US" altLang="zh-TW" i="1" dirty="0" err="1"/>
              <a:t>mn</a:t>
            </a:r>
            <a:r>
              <a:rPr lang="en-US" altLang="zh-TW" dirty="0"/>
              <a:t>})time, where </a:t>
            </a:r>
            <a:r>
              <a:rPr lang="en-US" altLang="zh-TW" i="1" dirty="0"/>
              <a:t>r </a:t>
            </a:r>
            <a:r>
              <a:rPr lang="en-US" altLang="zh-TW" dirty="0"/>
              <a:t>= min{</a:t>
            </a:r>
            <a:r>
              <a:rPr lang="en-US" altLang="zh-TW" i="1" dirty="0"/>
              <a:t>j</a:t>
            </a:r>
            <a:r>
              <a:rPr lang="en-US" altLang="zh-TW" i="1" baseline="30000" dirty="0"/>
              <a:t>*</a:t>
            </a:r>
            <a:r>
              <a:rPr lang="en-US" altLang="zh-TW" dirty="0"/>
              <a:t>, </a:t>
            </a:r>
            <a:r>
              <a:rPr lang="en-US" altLang="zh-TW" i="1" dirty="0"/>
              <a:t>n </a:t>
            </a:r>
            <a:r>
              <a:rPr lang="en-US" altLang="zh-TW" dirty="0"/>
              <a:t>− </a:t>
            </a:r>
            <a:r>
              <a:rPr lang="en-US" altLang="zh-TW" i="1" dirty="0"/>
              <a:t>j</a:t>
            </a:r>
            <a:r>
              <a:rPr lang="en-US" altLang="zh-TW" i="1" baseline="30000" dirty="0"/>
              <a:t>* </a:t>
            </a:r>
            <a:r>
              <a:rPr lang="en-US" altLang="zh-TW" dirty="0"/>
              <a:t>+ 1} and </a:t>
            </a:r>
            <a:r>
              <a:rPr lang="en-US" altLang="zh-TW" i="1" dirty="0"/>
              <a:t>c </a:t>
            </a:r>
            <a:r>
              <a:rPr lang="en-US" altLang="zh-TW" dirty="0"/>
              <a:t>is the maximum edit operation cost. This equals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m </a:t>
            </a:r>
            <a:r>
              <a:rPr lang="en-US" altLang="zh-TW" dirty="0"/>
              <a:t>+ </a:t>
            </a:r>
            <a:r>
              <a:rPr lang="en-US" altLang="zh-TW" i="1" dirty="0"/>
              <a:t>n</a:t>
            </a:r>
            <a:r>
              <a:rPr lang="en-US" altLang="zh-TW" dirty="0"/>
              <a:t>) in the simple decremental/incremental unit cost case. Our experiments indicate that the algorithm performs much faster than the theoretical worst-case time limit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 err="1"/>
              <a:t>mn</a:t>
            </a:r>
            <a:r>
              <a:rPr lang="en-US" altLang="zh-TW" dirty="0"/>
              <a:t>) in the general case with arbitrary edit costs and modification positions. The main practical limitation of the algorithm is its </a:t>
            </a:r>
            <a:r>
              <a:rPr lang="el-GR" altLang="zh-TW" i="1" dirty="0"/>
              <a:t>Θ</a:t>
            </a:r>
            <a:r>
              <a:rPr lang="en-US" altLang="zh-TW" dirty="0"/>
              <a:t>(</a:t>
            </a:r>
            <a:r>
              <a:rPr lang="en-US" altLang="zh-TW" i="1" dirty="0" err="1"/>
              <a:t>mn</a:t>
            </a:r>
            <a:r>
              <a:rPr lang="en-US" altLang="zh-TW" dirty="0"/>
              <a:t>) memory requirement for storing the edit distance information.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9138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E63762A-FBCB-4694-B356-C521427CF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Edit Distance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xmlns="" id="{2D428B24-1F89-436C-9E68-FE4D5289BB8F}"/>
                  </a:ext>
                </a:extLst>
              </p:cNvPr>
              <p:cNvSpPr txBox="1"/>
              <p:nvPr/>
            </p:nvSpPr>
            <p:spPr>
              <a:xfrm>
                <a:off x="692458" y="1690688"/>
                <a:ext cx="23855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𝑎𝑏𝑎𝑏𝑏𝑎𝑏𝑏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𝑏𝑏𝑎𝑏𝑎𝑏𝑏𝑎𝑏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D428B24-1F89-436C-9E68-FE4D5289B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58" y="1690688"/>
                <a:ext cx="2385589" cy="830997"/>
              </a:xfrm>
              <a:prstGeom prst="rect">
                <a:avLst/>
              </a:prstGeom>
              <a:blipFill>
                <a:blip r:embed="rId2"/>
                <a:stretch>
                  <a:fillRect l="-7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C5C891EC-5CD5-4AF3-B444-5062EC1F944B}"/>
              </a:ext>
            </a:extLst>
          </p:cNvPr>
          <p:cNvSpPr txBox="1"/>
          <p:nvPr/>
        </p:nvSpPr>
        <p:spPr>
          <a:xfrm>
            <a:off x="692458" y="3016251"/>
            <a:ext cx="16701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Insertion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</a:p>
          <a:p>
            <a:r>
              <a:rPr lang="en-US" altLang="zh-TW" dirty="0"/>
              <a:t>Deletion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</a:p>
          <a:p>
            <a:r>
              <a:rPr lang="en-US" altLang="zh-TW" dirty="0"/>
              <a:t>Substitution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0D4C9270-625E-4594-92E0-38ACB5A736F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225801" y="2450663"/>
          <a:ext cx="81279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xmlns="" val="76466150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xmlns="" val="117721223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xmlns="" val="271039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xmlns="" val="376052584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xmlns="" val="325156056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xmlns="" val="169976754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xmlns="" val="325726502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xmlns="" val="12840881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xmlns="" val="270941494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xmlns="" val="385107153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xmlns="" val="554041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7282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2056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4422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445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5710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8495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9241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2344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4816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80046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452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5538377-D1C7-426F-BB14-1BE87625F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Kim and Park (2004)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xmlns="" id="{435ECAC9-C8A5-4BF7-83C5-1BA26EF3AE4C}"/>
                  </a:ext>
                </a:extLst>
              </p:cNvPr>
              <p:cNvSpPr txBox="1"/>
              <p:nvPr/>
            </p:nvSpPr>
            <p:spPr>
              <a:xfrm>
                <a:off x="1088105" y="2514964"/>
                <a:ext cx="6353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𝑎𝐵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35ECAC9-C8A5-4BF7-83C5-1BA26EF3A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05" y="2514964"/>
                <a:ext cx="635367" cy="830997"/>
              </a:xfrm>
              <a:prstGeom prst="rect">
                <a:avLst/>
              </a:prstGeom>
              <a:blipFill>
                <a:blip r:embed="rId2"/>
                <a:stretch>
                  <a:fillRect l="-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002267F8-F7F9-4A12-936F-AFAF0966F175}"/>
                  </a:ext>
                </a:extLst>
              </p:cNvPr>
              <p:cNvSpPr txBox="1"/>
              <p:nvPr/>
            </p:nvSpPr>
            <p:spPr>
              <a:xfrm>
                <a:off x="1088105" y="4504919"/>
                <a:ext cx="260244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dirty="0"/>
              </a:p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sz="2400" dirty="0"/>
                  <a:t>, where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𝑏𝐵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02267F8-F7F9-4A12-936F-AFAF0966F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05" y="4504919"/>
                <a:ext cx="2602444" cy="830997"/>
              </a:xfrm>
              <a:prstGeom prst="rect">
                <a:avLst/>
              </a:prstGeom>
              <a:blipFill>
                <a:blip r:embed="rId3"/>
                <a:stretch>
                  <a:fillRect l="-937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7307F2F2-FAE9-4CEF-A520-9B2F510A0B11}"/>
              </a:ext>
            </a:extLst>
          </p:cNvPr>
          <p:cNvSpPr txBox="1"/>
          <p:nvPr/>
        </p:nvSpPr>
        <p:spPr>
          <a:xfrm>
            <a:off x="692457" y="2060019"/>
            <a:ext cx="4341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Incremental edit distance</a:t>
            </a:r>
            <a:r>
              <a:rPr lang="zh-TW" altLang="en-US" sz="2400" dirty="0"/>
              <a:t>：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243F9350-F86A-47A0-8A3B-69E5D05F445A}"/>
              </a:ext>
            </a:extLst>
          </p:cNvPr>
          <p:cNvSpPr txBox="1"/>
          <p:nvPr/>
        </p:nvSpPr>
        <p:spPr>
          <a:xfrm>
            <a:off x="692458" y="4029115"/>
            <a:ext cx="5610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Decremental edit distance </a:t>
            </a:r>
            <a:r>
              <a:rPr lang="zh-TW" altLang="en-US" sz="2400" dirty="0"/>
              <a:t>：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以此為例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4572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15EA16E5-CD66-4916-AC05-52E0902E7D3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91264" y="2433245"/>
          <a:ext cx="7450663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xmlns="" val="7646615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11772122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27103905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7605258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25156056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169976754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257265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1284088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270941494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85107153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554041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7282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2056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4422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445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5710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8495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9241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2344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4816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800462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0F985162-396B-4AB0-B804-260991E633B1}"/>
                  </a:ext>
                </a:extLst>
              </p:cNvPr>
              <p:cNvSpPr txBox="1"/>
              <p:nvPr/>
            </p:nvSpPr>
            <p:spPr>
              <a:xfrm>
                <a:off x="692458" y="1690688"/>
                <a:ext cx="23855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𝑎𝑏𝑎𝑏𝑏𝑎𝑏𝑏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𝑏𝑏𝑎𝑏𝑎𝑏𝑏𝑎𝑏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F985162-396B-4AB0-B804-260991E63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58" y="1690688"/>
                <a:ext cx="2385589" cy="830997"/>
              </a:xfrm>
              <a:prstGeom prst="rect">
                <a:avLst/>
              </a:prstGeom>
              <a:blipFill>
                <a:blip r:embed="rId2"/>
                <a:stretch>
                  <a:fillRect l="-7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0BECBD3A-2BC8-45D6-A21B-71FA41A2A01D}"/>
              </a:ext>
            </a:extLst>
          </p:cNvPr>
          <p:cNvSpPr txBox="1"/>
          <p:nvPr/>
        </p:nvSpPr>
        <p:spPr>
          <a:xfrm>
            <a:off x="692458" y="3016251"/>
            <a:ext cx="16701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Insertion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</a:p>
          <a:p>
            <a:r>
              <a:rPr lang="en-US" altLang="zh-TW" dirty="0"/>
              <a:t>Deletion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</a:p>
          <a:p>
            <a:r>
              <a:rPr lang="en-US" altLang="zh-TW" dirty="0"/>
              <a:t>Substitution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xmlns="" id="{AAD7FFBF-47FF-4C6B-B050-4D60389E6092}"/>
                  </a:ext>
                </a:extLst>
              </p:cNvPr>
              <p:cNvSpPr txBox="1"/>
              <p:nvPr/>
            </p:nvSpPr>
            <p:spPr>
              <a:xfrm>
                <a:off x="1225419" y="5068389"/>
                <a:ext cx="11340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AD7FFBF-47FF-4C6B-B050-4D60389E6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419" y="5068389"/>
                <a:ext cx="1134093" cy="461665"/>
              </a:xfrm>
              <a:prstGeom prst="rect">
                <a:avLst/>
              </a:prstGeom>
              <a:blipFill>
                <a:blip r:embed="rId3"/>
                <a:stretch>
                  <a:fillRect l="-1075" t="-10526" r="-6989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標題 1">
            <a:extLst>
              <a:ext uri="{FF2B5EF4-FFF2-40B4-BE49-F238E27FC236}">
                <a16:creationId xmlns:a16="http://schemas.microsoft.com/office/drawing/2014/main" xmlns="" id="{A7B7728B-249C-4FEB-88C4-6900E429E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/>
              <a:t>Kim and Park (2004)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18480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xmlns="" id="{BA04385E-6A7B-4FBF-A46A-83AD20E9C708}"/>
                  </a:ext>
                </a:extLst>
              </p:cNvPr>
              <p:cNvSpPr txBox="1"/>
              <p:nvPr/>
            </p:nvSpPr>
            <p:spPr>
              <a:xfrm>
                <a:off x="692458" y="1690688"/>
                <a:ext cx="23855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𝑎𝑏𝑎𝑏𝑏𝑎𝑏𝑏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𝑏𝑏𝑎𝑏𝑎𝑏𝑏𝑎𝑏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A04385E-6A7B-4FBF-A46A-83AD20E9C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58" y="1690688"/>
                <a:ext cx="2385589" cy="830997"/>
              </a:xfrm>
              <a:prstGeom prst="rect">
                <a:avLst/>
              </a:prstGeom>
              <a:blipFill>
                <a:blip r:embed="rId2"/>
                <a:stretch>
                  <a:fillRect l="-7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8A5A9840-66EB-4413-9B2C-6F6D213A5CE5}"/>
                  </a:ext>
                </a:extLst>
              </p:cNvPr>
              <p:cNvSpPr txBox="1"/>
              <p:nvPr/>
            </p:nvSpPr>
            <p:spPr>
              <a:xfrm>
                <a:off x="929327" y="2967335"/>
                <a:ext cx="13296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A5A9840-66EB-4413-9B2C-6F6D213A5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327" y="2967335"/>
                <a:ext cx="1329659" cy="461665"/>
              </a:xfrm>
              <a:prstGeom prst="rect">
                <a:avLst/>
              </a:prstGeom>
              <a:blipFill>
                <a:blip r:embed="rId3"/>
                <a:stretch>
                  <a:fillRect l="-913" t="-10526" r="-5479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xmlns="" id="{3DAA3957-C125-4683-B9A0-E6681830800E}"/>
                  </a:ext>
                </a:extLst>
              </p:cNvPr>
              <p:cNvSpPr txBox="1"/>
              <p:nvPr/>
            </p:nvSpPr>
            <p:spPr>
              <a:xfrm>
                <a:off x="1301546" y="3570688"/>
                <a:ext cx="479445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TW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TW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𝑈𝐿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DAA3957-C125-4683-B9A0-E66818308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546" y="3570688"/>
                <a:ext cx="4794454" cy="1015663"/>
              </a:xfrm>
              <a:prstGeom prst="rect">
                <a:avLst/>
              </a:prstGeom>
              <a:blipFill>
                <a:blip r:embed="rId4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>
            <a:extLst>
              <a:ext uri="{FF2B5EF4-FFF2-40B4-BE49-F238E27FC236}">
                <a16:creationId xmlns:a16="http://schemas.microsoft.com/office/drawing/2014/main" xmlns="" id="{469D871A-C171-4733-B916-A29EBDE43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/>
              <a:t>Kim and Park (2004)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4617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0D643A48-33B4-4AE1-B91A-546F7413232F}"/>
                  </a:ext>
                </a:extLst>
              </p:cNvPr>
              <p:cNvSpPr txBox="1"/>
              <p:nvPr/>
            </p:nvSpPr>
            <p:spPr>
              <a:xfrm>
                <a:off x="692458" y="1690688"/>
                <a:ext cx="229075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𝑎𝑏𝑎𝑏𝑏𝑎𝑏𝑏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𝑏𝑎𝑏𝑎𝑏𝑏𝑎𝑏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D643A48-33B4-4AE1-B91A-546F74132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58" y="1690688"/>
                <a:ext cx="2290755" cy="830997"/>
              </a:xfrm>
              <a:prstGeom prst="rect">
                <a:avLst/>
              </a:prstGeom>
              <a:blipFill>
                <a:blip r:embed="rId2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F59FB79D-BF7A-4295-BDBE-1E825C8FFE5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91264" y="2433245"/>
          <a:ext cx="677333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xmlns="" val="7646615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11772122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7605258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25156056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169976754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257265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1284088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270941494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85107153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554041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7282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2056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4422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445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5710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8495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9241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2344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4816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800462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xmlns="" id="{B208EAF1-3710-4343-8911-BB94A4A31AFF}"/>
                  </a:ext>
                </a:extLst>
              </p:cNvPr>
              <p:cNvSpPr txBox="1"/>
              <p:nvPr/>
            </p:nvSpPr>
            <p:spPr>
              <a:xfrm>
                <a:off x="1225419" y="5068389"/>
                <a:ext cx="120520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208EAF1-3710-4343-8911-BB94A4A31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419" y="5068389"/>
                <a:ext cx="1205202" cy="461665"/>
              </a:xfrm>
              <a:prstGeom prst="rect">
                <a:avLst/>
              </a:prstGeom>
              <a:blipFill>
                <a:blip r:embed="rId3"/>
                <a:stretch>
                  <a:fillRect l="-2020" t="-10526" r="-656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8D4D084E-81A1-4187-AA91-384FA8E87590}"/>
              </a:ext>
            </a:extLst>
          </p:cNvPr>
          <p:cNvSpPr txBox="1"/>
          <p:nvPr/>
        </p:nvSpPr>
        <p:spPr>
          <a:xfrm>
            <a:off x="692458" y="3016251"/>
            <a:ext cx="16701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Insertion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</a:p>
          <a:p>
            <a:r>
              <a:rPr lang="en-US" altLang="zh-TW" dirty="0"/>
              <a:t>Deletion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</a:p>
          <a:p>
            <a:r>
              <a:rPr lang="en-US" altLang="zh-TW" dirty="0"/>
              <a:t>Substitution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xmlns="" id="{BE26D4FF-8E2D-4300-8E9E-C36230F7F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/>
              <a:t>Kim and Park (2004)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0941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xmlns="" id="{BA04385E-6A7B-4FBF-A46A-83AD20E9C708}"/>
                  </a:ext>
                </a:extLst>
              </p:cNvPr>
              <p:cNvSpPr txBox="1"/>
              <p:nvPr/>
            </p:nvSpPr>
            <p:spPr>
              <a:xfrm>
                <a:off x="692458" y="1690688"/>
                <a:ext cx="229075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𝑎𝑏𝑎𝑏𝑏𝑎𝑏𝑏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𝑏𝑎𝑏𝑎𝑏𝑏𝑎𝑏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A04385E-6A7B-4FBF-A46A-83AD20E9C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58" y="1690688"/>
                <a:ext cx="2290755" cy="830997"/>
              </a:xfrm>
              <a:prstGeom prst="rect">
                <a:avLst/>
              </a:prstGeom>
              <a:blipFill>
                <a:blip r:embed="rId2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8A5A9840-66EB-4413-9B2C-6F6D213A5CE5}"/>
                  </a:ext>
                </a:extLst>
              </p:cNvPr>
              <p:cNvSpPr txBox="1"/>
              <p:nvPr/>
            </p:nvSpPr>
            <p:spPr>
              <a:xfrm>
                <a:off x="929327" y="2967335"/>
                <a:ext cx="14007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A5A9840-66EB-4413-9B2C-6F6D213A5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327" y="2967335"/>
                <a:ext cx="1400768" cy="461665"/>
              </a:xfrm>
              <a:prstGeom prst="rect">
                <a:avLst/>
              </a:prstGeom>
              <a:blipFill>
                <a:blip r:embed="rId3"/>
                <a:stretch>
                  <a:fillRect l="-1739" t="-10526" r="-5217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xmlns="" id="{3DAA3957-C125-4683-B9A0-E6681830800E}"/>
                  </a:ext>
                </a:extLst>
              </p:cNvPr>
              <p:cNvSpPr txBox="1"/>
              <p:nvPr/>
            </p:nvSpPr>
            <p:spPr>
              <a:xfrm>
                <a:off x="1301546" y="3570688"/>
                <a:ext cx="4969117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TW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𝐷𝑅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TW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𝐷𝑅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𝑈𝐿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𝐷𝑅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DAA3957-C125-4683-B9A0-E66818308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546" y="3570688"/>
                <a:ext cx="4969117" cy="1015663"/>
              </a:xfrm>
              <a:prstGeom prst="rect">
                <a:avLst/>
              </a:prstGeom>
              <a:blipFill>
                <a:blip r:embed="rId4"/>
                <a:stretch>
                  <a:fillRect l="-245" b="-48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>
            <a:extLst>
              <a:ext uri="{FF2B5EF4-FFF2-40B4-BE49-F238E27FC236}">
                <a16:creationId xmlns:a16="http://schemas.microsoft.com/office/drawing/2014/main" xmlns="" id="{53CD9CAF-28B5-49D2-A4E1-D4276D684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/>
              <a:t>Kim and Park (2004)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0259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99BE2E81-AA8E-47FB-A759-522FAD52D55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91264" y="2433245"/>
          <a:ext cx="677333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xmlns="" val="7646615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11772122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7605258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25156056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169976754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257265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1284088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270941494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85107153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554041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7282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2056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4422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445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5710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8495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9241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2344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4816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800462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C9068F2D-9A32-42B3-974F-E03D7E433939}"/>
                  </a:ext>
                </a:extLst>
              </p:cNvPr>
              <p:cNvSpPr txBox="1"/>
              <p:nvPr/>
            </p:nvSpPr>
            <p:spPr>
              <a:xfrm>
                <a:off x="6555066" y="1971580"/>
                <a:ext cx="12729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𝐶h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9068F2D-9A32-42B3-974F-E03D7E433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066" y="1971580"/>
                <a:ext cx="1272977" cy="461665"/>
              </a:xfrm>
              <a:prstGeom prst="rect">
                <a:avLst/>
              </a:prstGeom>
              <a:blipFill>
                <a:blip r:embed="rId2"/>
                <a:stretch>
                  <a:fillRect l="-1435" t="-10526" r="-6220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xmlns="" id="{EE5F9535-1768-4119-A190-7F00629881B5}"/>
                  </a:ext>
                </a:extLst>
              </p:cNvPr>
              <p:cNvSpPr txBox="1"/>
              <p:nvPr/>
            </p:nvSpPr>
            <p:spPr>
              <a:xfrm>
                <a:off x="443968" y="1431024"/>
                <a:ext cx="3566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𝐶h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5F9535-1768-4119-A190-7F0062988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68" y="1431024"/>
                <a:ext cx="3566810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>
            <a:extLst>
              <a:ext uri="{FF2B5EF4-FFF2-40B4-BE49-F238E27FC236}">
                <a16:creationId xmlns:a16="http://schemas.microsoft.com/office/drawing/2014/main" xmlns="" id="{47F20C06-479C-4630-B667-49EB3C842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/>
              <a:t>Kim and Park (2004)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0536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99BE2E81-AA8E-47FB-A759-522FAD52D55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838324" y="2694855"/>
          <a:ext cx="677333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xmlns="" val="7646615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11772122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7605258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25156056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169976754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257265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1284088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270941494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385107153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xmlns="" val="554041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7282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2056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4422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445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5710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8495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9241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2344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4816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800462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C9068F2D-9A32-42B3-974F-E03D7E433939}"/>
                  </a:ext>
                </a:extLst>
              </p:cNvPr>
              <p:cNvSpPr txBox="1"/>
              <p:nvPr/>
            </p:nvSpPr>
            <p:spPr>
              <a:xfrm>
                <a:off x="8224989" y="2102385"/>
                <a:ext cx="12729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𝐶h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9068F2D-9A32-42B3-974F-E03D7E433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4989" y="2102385"/>
                <a:ext cx="1272977" cy="461665"/>
              </a:xfrm>
              <a:prstGeom prst="rect">
                <a:avLst/>
              </a:prstGeom>
              <a:blipFill>
                <a:blip r:embed="rId2"/>
                <a:stretch>
                  <a:fillRect l="-1435" t="-10526" r="-6220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xmlns="" id="{EE5F9535-1768-4119-A190-7F00629881B5}"/>
                  </a:ext>
                </a:extLst>
              </p:cNvPr>
              <p:cNvSpPr txBox="1"/>
              <p:nvPr/>
            </p:nvSpPr>
            <p:spPr>
              <a:xfrm>
                <a:off x="372949" y="1348332"/>
                <a:ext cx="3566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𝐶h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5F9535-1768-4119-A190-7F0062988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49" y="1348332"/>
                <a:ext cx="3566810" cy="400110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xmlns="" id="{6CD5D767-06B7-46A3-A785-1FE937C6EB51}"/>
                  </a:ext>
                </a:extLst>
              </p:cNvPr>
              <p:cNvSpPr txBox="1"/>
              <p:nvPr/>
            </p:nvSpPr>
            <p:spPr>
              <a:xfrm>
                <a:off x="417336" y="1748442"/>
                <a:ext cx="58260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𝐶h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is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affected</a:t>
                </a:r>
                <a:r>
                  <a:rPr lang="en-US" altLang="zh-TW" sz="2000" dirty="0"/>
                  <a:t> if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𝐶h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𝐶h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and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𝐶h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are not the same.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6CD5D767-06B7-46A3-A785-1FE937C6E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36" y="1748442"/>
                <a:ext cx="5826035" cy="707886"/>
              </a:xfrm>
              <a:prstGeom prst="rect">
                <a:avLst/>
              </a:prstGeom>
              <a:blipFill>
                <a:blip r:embed="rId4"/>
                <a:stretch>
                  <a:fillRect t="-5172" r="-1464" b="-146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xmlns="" id="{2B53495B-3B87-4115-866A-85299ADD1B36}"/>
                  </a:ext>
                </a:extLst>
              </p:cNvPr>
              <p:cNvSpPr txBox="1"/>
              <p:nvPr/>
            </p:nvSpPr>
            <p:spPr>
              <a:xfrm>
                <a:off x="417336" y="2429398"/>
                <a:ext cx="61482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b="0" dirty="0"/>
                  <a:t>If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is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not</a:t>
                </a:r>
                <a:r>
                  <a:rPr lang="en-US" altLang="zh-TW" sz="2000" dirty="0"/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affected</a:t>
                </a:r>
                <a:r>
                  <a:rPr lang="en-US" altLang="zh-TW" sz="2000" dirty="0"/>
                  <a:t>, then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𝐷𝑅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TW" altLang="en-US" sz="2000" dirty="0"/>
                  <a:t> 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B53495B-3B87-4115-866A-85299ADD1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36" y="2429398"/>
                <a:ext cx="6148251" cy="400110"/>
              </a:xfrm>
              <a:prstGeom prst="rect">
                <a:avLst/>
              </a:prstGeom>
              <a:blipFill>
                <a:blip r:embed="rId5"/>
                <a:stretch>
                  <a:fillRect l="-991" t="-9231" b="-2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A63E3FEA-99DD-443C-B5ED-8D53E7ACCC37}"/>
              </a:ext>
            </a:extLst>
          </p:cNvPr>
          <p:cNvSpPr txBox="1"/>
          <p:nvPr/>
        </p:nvSpPr>
        <p:spPr>
          <a:xfrm>
            <a:off x="2236251" y="5353235"/>
            <a:ext cx="1266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i="1" dirty="0"/>
              <a:t>O(m + n)</a:t>
            </a:r>
            <a:endParaRPr lang="zh-TW" altLang="en-US" sz="2400" i="1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xmlns="" id="{56B9C2D8-184F-4968-A9CB-E5145520F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/>
              <a:t>Kim and Park (2004)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74644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51859A1-C268-4AB0-9E60-C9FBD8C0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806A2CA0-D60E-4091-8ED6-5377B15DC2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/>
                  <a:t>Unit cost function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dirty="0"/>
              </a:p>
              <a:p>
                <a:pPr marL="457200" lvl="1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General cost function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zh-TW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：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alphbet</m:t>
                      </m:r>
                    </m:oMath>
                  </m:oMathPara>
                </a14:m>
                <a:endParaRPr lang="en-US" altLang="zh-TW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({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l-GR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∪(</m:t>
                      </m:r>
                      <m:r>
                        <m:rPr>
                          <m:sty m:val="p"/>
                        </m:rPr>
                        <a:rPr lang="el-GR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l-GR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×{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})∪(</m:t>
                      </m:r>
                      <m:r>
                        <m:rPr>
                          <m:sty m:val="p"/>
                        </m:rPr>
                        <a:rPr lang="el-GR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l-GR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l-GR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06A2CA0-D60E-4091-8ED6-5377B15DC2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799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7FA43334-E4FD-43BF-B821-237F5804B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83D74CF0-8D71-49BE-8D5B-69C649538206}"/>
                  </a:ext>
                </a:extLst>
              </p:cNvPr>
              <p:cNvSpPr txBox="1"/>
              <p:nvPr/>
            </p:nvSpPr>
            <p:spPr>
              <a:xfrm>
                <a:off x="293969" y="1911344"/>
                <a:ext cx="204171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𝑎𝑏𝑏𝑏𝑏𝑐𝑎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𝑎𝑐𝑎𝑎𝑎𝑎𝑎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𝑐𝑎𝑎𝑎𝑎𝑎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3D74CF0-8D71-49BE-8D5B-69C649538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69" y="1911344"/>
                <a:ext cx="2041713" cy="1200329"/>
              </a:xfrm>
              <a:prstGeom prst="rect">
                <a:avLst/>
              </a:prstGeom>
              <a:blipFill>
                <a:blip r:embed="rId2"/>
                <a:stretch>
                  <a:fillRect l="-11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B25A9841-A185-403F-A4F0-110A70AE9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733198"/>
              </p:ext>
            </p:extLst>
          </p:nvPr>
        </p:nvGraphicFramePr>
        <p:xfrm>
          <a:off x="2385505" y="2863879"/>
          <a:ext cx="420264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961">
                  <a:extLst>
                    <a:ext uri="{9D8B030D-6E8A-4147-A177-3AD203B41FA5}">
                      <a16:colId xmlns:a16="http://schemas.microsoft.com/office/drawing/2014/main" xmlns="" val="697281647"/>
                    </a:ext>
                  </a:extLst>
                </a:gridCol>
                <a:gridCol w="466961">
                  <a:extLst>
                    <a:ext uri="{9D8B030D-6E8A-4147-A177-3AD203B41FA5}">
                      <a16:colId xmlns:a16="http://schemas.microsoft.com/office/drawing/2014/main" xmlns="" val="2968352430"/>
                    </a:ext>
                  </a:extLst>
                </a:gridCol>
                <a:gridCol w="466961">
                  <a:extLst>
                    <a:ext uri="{9D8B030D-6E8A-4147-A177-3AD203B41FA5}">
                      <a16:colId xmlns:a16="http://schemas.microsoft.com/office/drawing/2014/main" xmlns="" val="993571009"/>
                    </a:ext>
                  </a:extLst>
                </a:gridCol>
                <a:gridCol w="466961">
                  <a:extLst>
                    <a:ext uri="{9D8B030D-6E8A-4147-A177-3AD203B41FA5}">
                      <a16:colId xmlns:a16="http://schemas.microsoft.com/office/drawing/2014/main" xmlns="" val="56412192"/>
                    </a:ext>
                  </a:extLst>
                </a:gridCol>
                <a:gridCol w="466961">
                  <a:extLst>
                    <a:ext uri="{9D8B030D-6E8A-4147-A177-3AD203B41FA5}">
                      <a16:colId xmlns:a16="http://schemas.microsoft.com/office/drawing/2014/main" xmlns="" val="785359959"/>
                    </a:ext>
                  </a:extLst>
                </a:gridCol>
                <a:gridCol w="466961">
                  <a:extLst>
                    <a:ext uri="{9D8B030D-6E8A-4147-A177-3AD203B41FA5}">
                      <a16:colId xmlns:a16="http://schemas.microsoft.com/office/drawing/2014/main" xmlns="" val="2845869420"/>
                    </a:ext>
                  </a:extLst>
                </a:gridCol>
                <a:gridCol w="466961">
                  <a:extLst>
                    <a:ext uri="{9D8B030D-6E8A-4147-A177-3AD203B41FA5}">
                      <a16:colId xmlns:a16="http://schemas.microsoft.com/office/drawing/2014/main" xmlns="" val="3597369586"/>
                    </a:ext>
                  </a:extLst>
                </a:gridCol>
                <a:gridCol w="466961">
                  <a:extLst>
                    <a:ext uri="{9D8B030D-6E8A-4147-A177-3AD203B41FA5}">
                      <a16:colId xmlns:a16="http://schemas.microsoft.com/office/drawing/2014/main" xmlns="" val="2590928330"/>
                    </a:ext>
                  </a:extLst>
                </a:gridCol>
                <a:gridCol w="466961">
                  <a:extLst>
                    <a:ext uri="{9D8B030D-6E8A-4147-A177-3AD203B41FA5}">
                      <a16:colId xmlns:a16="http://schemas.microsoft.com/office/drawing/2014/main" xmlns="" val="3148804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5195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3865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78553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9856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076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6723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96226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25854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575888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xmlns="" id="{8CBA97E4-5A0F-4CFB-B554-0761880ED2B3}"/>
                  </a:ext>
                </a:extLst>
              </p:cNvPr>
              <p:cNvSpPr txBox="1"/>
              <p:nvPr/>
            </p:nvSpPr>
            <p:spPr>
              <a:xfrm>
                <a:off x="3893924" y="2402214"/>
                <a:ext cx="16624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nor/>
                        </m:rPr>
                        <a:rPr lang="en-US" altLang="zh-TW" sz="2400" dirty="0" smtClean="0"/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𝑡𝑎𝑏𝑙𝑒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CBA97E4-5A0F-4CFB-B554-0761880ED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924" y="2402214"/>
                <a:ext cx="166243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86E96CF0-6858-4049-8519-864A4856C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221589"/>
              </p:ext>
            </p:extLst>
          </p:nvPr>
        </p:nvGraphicFramePr>
        <p:xfrm>
          <a:off x="7114603" y="2848150"/>
          <a:ext cx="373568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961">
                  <a:extLst>
                    <a:ext uri="{9D8B030D-6E8A-4147-A177-3AD203B41FA5}">
                      <a16:colId xmlns:a16="http://schemas.microsoft.com/office/drawing/2014/main" xmlns="" val="697281647"/>
                    </a:ext>
                  </a:extLst>
                </a:gridCol>
                <a:gridCol w="466961">
                  <a:extLst>
                    <a:ext uri="{9D8B030D-6E8A-4147-A177-3AD203B41FA5}">
                      <a16:colId xmlns:a16="http://schemas.microsoft.com/office/drawing/2014/main" xmlns="" val="2968352430"/>
                    </a:ext>
                  </a:extLst>
                </a:gridCol>
                <a:gridCol w="466961">
                  <a:extLst>
                    <a:ext uri="{9D8B030D-6E8A-4147-A177-3AD203B41FA5}">
                      <a16:colId xmlns:a16="http://schemas.microsoft.com/office/drawing/2014/main" xmlns="" val="56412192"/>
                    </a:ext>
                  </a:extLst>
                </a:gridCol>
                <a:gridCol w="466961">
                  <a:extLst>
                    <a:ext uri="{9D8B030D-6E8A-4147-A177-3AD203B41FA5}">
                      <a16:colId xmlns:a16="http://schemas.microsoft.com/office/drawing/2014/main" xmlns="" val="785359959"/>
                    </a:ext>
                  </a:extLst>
                </a:gridCol>
                <a:gridCol w="466961">
                  <a:extLst>
                    <a:ext uri="{9D8B030D-6E8A-4147-A177-3AD203B41FA5}">
                      <a16:colId xmlns:a16="http://schemas.microsoft.com/office/drawing/2014/main" xmlns="" val="2845869420"/>
                    </a:ext>
                  </a:extLst>
                </a:gridCol>
                <a:gridCol w="466961">
                  <a:extLst>
                    <a:ext uri="{9D8B030D-6E8A-4147-A177-3AD203B41FA5}">
                      <a16:colId xmlns:a16="http://schemas.microsoft.com/office/drawing/2014/main" xmlns="" val="3597369586"/>
                    </a:ext>
                  </a:extLst>
                </a:gridCol>
                <a:gridCol w="466961">
                  <a:extLst>
                    <a:ext uri="{9D8B030D-6E8A-4147-A177-3AD203B41FA5}">
                      <a16:colId xmlns:a16="http://schemas.microsoft.com/office/drawing/2014/main" xmlns="" val="2590928330"/>
                    </a:ext>
                  </a:extLst>
                </a:gridCol>
                <a:gridCol w="466961">
                  <a:extLst>
                    <a:ext uri="{9D8B030D-6E8A-4147-A177-3AD203B41FA5}">
                      <a16:colId xmlns:a16="http://schemas.microsoft.com/office/drawing/2014/main" xmlns="" val="3148804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5195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3865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78553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9856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076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6723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96226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25854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575888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xmlns="" id="{A05484FD-8B84-4DDE-BCE9-73BB535E39E6}"/>
                  </a:ext>
                </a:extLst>
              </p:cNvPr>
              <p:cNvSpPr txBox="1"/>
              <p:nvPr/>
            </p:nvSpPr>
            <p:spPr>
              <a:xfrm>
                <a:off x="8605109" y="2409510"/>
                <a:ext cx="16624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altLang="zh-TW" sz="2400" dirty="0" smtClean="0"/>
                      <m:t>−</m:t>
                    </m:r>
                  </m:oMath>
                </a14:m>
                <a:r>
                  <a:rPr lang="en-US" altLang="zh-TW" sz="2400" dirty="0"/>
                  <a:t>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05484FD-8B84-4DDE-BCE9-73BB535E3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109" y="2409510"/>
                <a:ext cx="1662437" cy="461665"/>
              </a:xfrm>
              <a:prstGeom prst="rect">
                <a:avLst/>
              </a:prstGeom>
              <a:blipFill>
                <a:blip r:embed="rId4"/>
                <a:stretch>
                  <a:fillRect l="-1838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="" id="{DAFC6C4D-AE33-4C4F-990E-3EEFB6CF5DC4}"/>
                  </a:ext>
                </a:extLst>
              </p:cNvPr>
              <p:cNvSpPr txBox="1"/>
              <p:nvPr/>
            </p:nvSpPr>
            <p:spPr>
              <a:xfrm>
                <a:off x="271035" y="3429000"/>
                <a:ext cx="1917513" cy="13126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DAFC6C4D-AE33-4C4F-990E-3EEFB6CF5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35" y="3429000"/>
                <a:ext cx="1917513" cy="1312667"/>
              </a:xfrm>
              <a:prstGeom prst="rect">
                <a:avLst/>
              </a:prstGeom>
              <a:blipFill>
                <a:blip r:embed="rId5"/>
                <a:stretch>
                  <a:fillRect l="-9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0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BD9A05EA-2FCB-460F-B9BF-049C845DF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17D42BB0-92AF-4197-A62F-26CF59509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411140"/>
              </p:ext>
            </p:extLst>
          </p:nvPr>
        </p:nvGraphicFramePr>
        <p:xfrm>
          <a:off x="3243939" y="2136624"/>
          <a:ext cx="4674944" cy="4184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368">
                  <a:extLst>
                    <a:ext uri="{9D8B030D-6E8A-4147-A177-3AD203B41FA5}">
                      <a16:colId xmlns:a16="http://schemas.microsoft.com/office/drawing/2014/main" xmlns="" val="697281647"/>
                    </a:ext>
                  </a:extLst>
                </a:gridCol>
                <a:gridCol w="584368">
                  <a:extLst>
                    <a:ext uri="{9D8B030D-6E8A-4147-A177-3AD203B41FA5}">
                      <a16:colId xmlns:a16="http://schemas.microsoft.com/office/drawing/2014/main" xmlns="" val="2968352430"/>
                    </a:ext>
                  </a:extLst>
                </a:gridCol>
                <a:gridCol w="584368">
                  <a:extLst>
                    <a:ext uri="{9D8B030D-6E8A-4147-A177-3AD203B41FA5}">
                      <a16:colId xmlns:a16="http://schemas.microsoft.com/office/drawing/2014/main" xmlns="" val="56412192"/>
                    </a:ext>
                  </a:extLst>
                </a:gridCol>
                <a:gridCol w="584368">
                  <a:extLst>
                    <a:ext uri="{9D8B030D-6E8A-4147-A177-3AD203B41FA5}">
                      <a16:colId xmlns:a16="http://schemas.microsoft.com/office/drawing/2014/main" xmlns="" val="785359959"/>
                    </a:ext>
                  </a:extLst>
                </a:gridCol>
                <a:gridCol w="584368">
                  <a:extLst>
                    <a:ext uri="{9D8B030D-6E8A-4147-A177-3AD203B41FA5}">
                      <a16:colId xmlns:a16="http://schemas.microsoft.com/office/drawing/2014/main" xmlns="" val="2845869420"/>
                    </a:ext>
                  </a:extLst>
                </a:gridCol>
                <a:gridCol w="584368">
                  <a:extLst>
                    <a:ext uri="{9D8B030D-6E8A-4147-A177-3AD203B41FA5}">
                      <a16:colId xmlns:a16="http://schemas.microsoft.com/office/drawing/2014/main" xmlns="" val="3597369586"/>
                    </a:ext>
                  </a:extLst>
                </a:gridCol>
                <a:gridCol w="584368">
                  <a:extLst>
                    <a:ext uri="{9D8B030D-6E8A-4147-A177-3AD203B41FA5}">
                      <a16:colId xmlns:a16="http://schemas.microsoft.com/office/drawing/2014/main" xmlns="" val="2590928330"/>
                    </a:ext>
                  </a:extLst>
                </a:gridCol>
                <a:gridCol w="584368">
                  <a:extLst>
                    <a:ext uri="{9D8B030D-6E8A-4147-A177-3AD203B41FA5}">
                      <a16:colId xmlns:a16="http://schemas.microsoft.com/office/drawing/2014/main" xmlns="" val="3148804330"/>
                    </a:ext>
                  </a:extLst>
                </a:gridCol>
              </a:tblGrid>
              <a:tr h="464079">
                <a:tc>
                  <a:txBody>
                    <a:bodyPr/>
                    <a:lstStyle/>
                    <a:p>
                      <a:pPr algn="ctr"/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51958922"/>
                  </a:ext>
                </a:extLst>
              </a:tr>
              <a:tr h="464079">
                <a:tc>
                  <a:txBody>
                    <a:bodyPr/>
                    <a:lstStyle/>
                    <a:p>
                      <a:pPr algn="ctr"/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38653487"/>
                  </a:ext>
                </a:extLst>
              </a:tr>
              <a:tr h="46407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78553100"/>
                  </a:ext>
                </a:extLst>
              </a:tr>
              <a:tr h="46407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9856919"/>
                  </a:ext>
                </a:extLst>
              </a:tr>
              <a:tr h="46407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076509"/>
                  </a:ext>
                </a:extLst>
              </a:tr>
              <a:tr h="46407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6723166"/>
                  </a:ext>
                </a:extLst>
              </a:tr>
              <a:tr h="46407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96226917"/>
                  </a:ext>
                </a:extLst>
              </a:tr>
              <a:tr h="46407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25854118"/>
                  </a:ext>
                </a:extLst>
              </a:tr>
              <a:tr h="46407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3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 marL="114431" marR="114431" marT="57215" marB="572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575888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xmlns="" id="{6D8ABDDF-E309-4AA3-AF4B-E394DD29B020}"/>
                  </a:ext>
                </a:extLst>
              </p:cNvPr>
              <p:cNvSpPr txBox="1"/>
              <p:nvPr/>
            </p:nvSpPr>
            <p:spPr>
              <a:xfrm>
                <a:off x="5135560" y="1674959"/>
                <a:ext cx="12729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𝐶h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D8ABDDF-E309-4AA3-AF4B-E394DD29B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560" y="1674959"/>
                <a:ext cx="1272977" cy="461665"/>
              </a:xfrm>
              <a:prstGeom prst="rect">
                <a:avLst/>
              </a:prstGeom>
              <a:blipFill>
                <a:blip r:embed="rId2"/>
                <a:stretch>
                  <a:fillRect l="-1435" t="-10667" r="-6220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1E90D141-27C8-41B8-A1A5-59D0CB3C4E0A}"/>
              </a:ext>
            </a:extLst>
          </p:cNvPr>
          <p:cNvSpPr txBox="1"/>
          <p:nvPr/>
        </p:nvSpPr>
        <p:spPr>
          <a:xfrm>
            <a:off x="8620218" y="4228899"/>
            <a:ext cx="188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Kim and Park </a:t>
            </a:r>
            <a:endParaRPr lang="zh-TW" altLang="en-US" sz="2400" dirty="0"/>
          </a:p>
        </p:txBody>
      </p:sp>
      <p:sp>
        <p:nvSpPr>
          <p:cNvPr id="10" name="乘號 9">
            <a:extLst>
              <a:ext uri="{FF2B5EF4-FFF2-40B4-BE49-F238E27FC236}">
                <a16:creationId xmlns:a16="http://schemas.microsoft.com/office/drawing/2014/main" xmlns="" id="{3ABEF86B-C408-424C-B5D6-EEEA5C1A8D15}"/>
              </a:ext>
            </a:extLst>
          </p:cNvPr>
          <p:cNvSpPr/>
          <p:nvPr/>
        </p:nvSpPr>
        <p:spPr>
          <a:xfrm>
            <a:off x="9197265" y="4580877"/>
            <a:ext cx="603682" cy="621437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0414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B149541B-7B2E-4677-A46B-7060B673EF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/>
                  <a:t>Kim and Park (2004)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:pPr marL="457200" lvl="1" indent="0">
                  <a:buNone/>
                </a:pPr>
                <a:r>
                  <a:rPr lang="en-US" altLang="zh-TW" dirty="0"/>
                  <a:t>left incremental/decremental edit distance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Interactive edit distance computation: </a:t>
                </a:r>
              </a:p>
              <a:p>
                <a:pPr marL="457200" lvl="1" indent="0">
                  <a:buNone/>
                </a:pPr>
                <a:r>
                  <a:rPr lang="en-US" altLang="zh-TW" dirty="0"/>
                  <a:t>modify arbitrary position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/>
                  <a:t> of </a:t>
                </a:r>
                <a:r>
                  <a:rPr lang="en-US" altLang="zh-TW" i="1" dirty="0"/>
                  <a:t>B</a:t>
                </a:r>
              </a:p>
              <a:p>
                <a:pPr marL="457200" lvl="1" indent="0">
                  <a:buNone/>
                </a:pPr>
                <a:r>
                  <a:rPr lang="en-US" altLang="zh-TW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denote the modified result at some positions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/>
                  <a:t> of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149541B-7B2E-4677-A46B-7060B673EF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>
            <a:extLst>
              <a:ext uri="{FF2B5EF4-FFF2-40B4-BE49-F238E27FC236}">
                <a16:creationId xmlns:a16="http://schemas.microsoft.com/office/drawing/2014/main" xmlns="" id="{FC40E6F4-02BB-49A3-AFB2-044DAA925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62010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C987A80E-B37B-41BF-BAF8-36A0AD35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01D5477D-0CB0-4594-99F6-962B086A542E}"/>
                  </a:ext>
                </a:extLst>
              </p:cNvPr>
              <p:cNvSpPr txBox="1"/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2400" dirty="0"/>
              </a:p>
              <a:p>
                <a:r>
                  <a:rPr lang="en-US" altLang="zh-TW" sz="2400" dirty="0"/>
                  <a:t>deletion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1D5477D-0CB0-4594-99F6-962B086A5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blipFill>
                <a:blip r:embed="rId2"/>
                <a:stretch>
                  <a:fillRect l="-7500" r="-6500" b="-62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F32CB539-A83F-4E55-8477-EFA485E02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364268"/>
              </p:ext>
            </p:extLst>
          </p:nvPr>
        </p:nvGraphicFramePr>
        <p:xfrm>
          <a:off x="1875159" y="3173816"/>
          <a:ext cx="398114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429994347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xmlns="" id="{04B5259F-4C74-4A02-8EB4-10DDE7F2D914}"/>
                  </a:ext>
                </a:extLst>
              </p:cNvPr>
              <p:cNvSpPr txBox="1"/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04B5259F-4C74-4A02-8EB4-10DDE7F2D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blipFill>
                <a:blip r:embed="rId3"/>
                <a:stretch>
                  <a:fillRect l="-917" t="-10526" r="-5963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接點 7">
            <a:extLst>
              <a:ext uri="{FF2B5EF4-FFF2-40B4-BE49-F238E27FC236}">
                <a16:creationId xmlns:a16="http://schemas.microsoft.com/office/drawing/2014/main" xmlns="" id="{D59982BA-2314-40D6-A61C-B8D81D4BECB3}"/>
              </a:ext>
            </a:extLst>
          </p:cNvPr>
          <p:cNvCxnSpPr>
            <a:cxnSpLocks/>
          </p:cNvCxnSpPr>
          <p:nvPr/>
        </p:nvCxnSpPr>
        <p:spPr>
          <a:xfrm>
            <a:off x="4172081" y="2940358"/>
            <a:ext cx="0" cy="30627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xmlns="" id="{B993CF09-F202-44AF-9B5C-E872D8A63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585090"/>
              </p:ext>
            </p:extLst>
          </p:nvPr>
        </p:nvGraphicFramePr>
        <p:xfrm>
          <a:off x="7309772" y="3173816"/>
          <a:ext cx="33176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xmlns="" id="{AC1EC87B-8602-4551-A586-A31E572A4F35}"/>
                  </a:ext>
                </a:extLst>
              </p:cNvPr>
              <p:cNvSpPr txBox="1"/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C1EC87B-8602-4551-A586-A31E572A4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blipFill>
                <a:blip r:embed="rId4"/>
                <a:stretch>
                  <a:fillRect l="-1255" t="-10526" r="-5021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號: 向右 14">
            <a:extLst>
              <a:ext uri="{FF2B5EF4-FFF2-40B4-BE49-F238E27FC236}">
                <a16:creationId xmlns:a16="http://schemas.microsoft.com/office/drawing/2014/main" xmlns="" id="{4EB699DE-25A6-4423-B06C-666D7EB6611F}"/>
              </a:ext>
            </a:extLst>
          </p:cNvPr>
          <p:cNvSpPr/>
          <p:nvPr/>
        </p:nvSpPr>
        <p:spPr>
          <a:xfrm>
            <a:off x="6254564" y="4245375"/>
            <a:ext cx="656947" cy="4527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6876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C987A80E-B37B-41BF-BAF8-36A0AD35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01D5477D-0CB0-4594-99F6-962B086A542E}"/>
                  </a:ext>
                </a:extLst>
              </p:cNvPr>
              <p:cNvSpPr txBox="1"/>
              <p:nvPr/>
            </p:nvSpPr>
            <p:spPr>
              <a:xfrm>
                <a:off x="293969" y="1911344"/>
                <a:ext cx="1295547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2400" dirty="0"/>
              </a:p>
              <a:p>
                <a:r>
                  <a:rPr lang="en-US" altLang="zh-TW" sz="2400" dirty="0"/>
                  <a:t>insertion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1D5477D-0CB0-4594-99F6-962B086A5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69" y="1911344"/>
                <a:ext cx="1295547" cy="1938992"/>
              </a:xfrm>
              <a:prstGeom prst="rect">
                <a:avLst/>
              </a:prstGeom>
              <a:blipFill>
                <a:blip r:embed="rId2"/>
                <a:stretch>
                  <a:fillRect l="-7042" r="-5634" b="-62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F32CB539-A83F-4E55-8477-EFA485E02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375330"/>
              </p:ext>
            </p:extLst>
          </p:nvPr>
        </p:nvGraphicFramePr>
        <p:xfrm>
          <a:off x="1875159" y="3173816"/>
          <a:ext cx="398114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429994347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xmlns="" id="{04B5259F-4C74-4A02-8EB4-10DDE7F2D914}"/>
                  </a:ext>
                </a:extLst>
              </p:cNvPr>
              <p:cNvSpPr txBox="1"/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04B5259F-4C74-4A02-8EB4-10DDE7F2D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blipFill>
                <a:blip r:embed="rId3"/>
                <a:stretch>
                  <a:fillRect l="-917" t="-10526" r="-5963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xmlns="" id="{AC1EC87B-8602-4551-A586-A31E572A4F35}"/>
                  </a:ext>
                </a:extLst>
              </p:cNvPr>
              <p:cNvSpPr txBox="1"/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C1EC87B-8602-4551-A586-A31E572A4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blipFill>
                <a:blip r:embed="rId4"/>
                <a:stretch>
                  <a:fillRect l="-1255" t="-10526" r="-5021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xmlns="" id="{87DD9F93-B77E-46DD-A850-CACCB5861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541653"/>
              </p:ext>
            </p:extLst>
          </p:nvPr>
        </p:nvGraphicFramePr>
        <p:xfrm>
          <a:off x="7244180" y="3173816"/>
          <a:ext cx="414390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986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591986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591986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591986">
                  <a:extLst>
                    <a:ext uri="{9D8B030D-6E8A-4147-A177-3AD203B41FA5}">
                      <a16:colId xmlns:a16="http://schemas.microsoft.com/office/drawing/2014/main" xmlns="" val="2150631211"/>
                    </a:ext>
                  </a:extLst>
                </a:gridCol>
                <a:gridCol w="591986">
                  <a:extLst>
                    <a:ext uri="{9D8B030D-6E8A-4147-A177-3AD203B41FA5}">
                      <a16:colId xmlns:a16="http://schemas.microsoft.com/office/drawing/2014/main" xmlns="" val="429994347"/>
                    </a:ext>
                  </a:extLst>
                </a:gridCol>
                <a:gridCol w="591986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591986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  <p:cxnSp>
        <p:nvCxnSpPr>
          <p:cNvPr id="3" name="直線接點 2">
            <a:extLst>
              <a:ext uri="{FF2B5EF4-FFF2-40B4-BE49-F238E27FC236}">
                <a16:creationId xmlns:a16="http://schemas.microsoft.com/office/drawing/2014/main" xmlns="" id="{22EEA339-66C9-4C78-843D-107EAF6EB8AA}"/>
              </a:ext>
            </a:extLst>
          </p:cNvPr>
          <p:cNvCxnSpPr>
            <a:cxnSpLocks/>
          </p:cNvCxnSpPr>
          <p:nvPr/>
        </p:nvCxnSpPr>
        <p:spPr>
          <a:xfrm>
            <a:off x="3488924" y="2866629"/>
            <a:ext cx="0" cy="24943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0C6ADD12-E1C3-4A93-B15D-5D4D9D547CF4}"/>
              </a:ext>
            </a:extLst>
          </p:cNvPr>
          <p:cNvCxnSpPr>
            <a:cxnSpLocks/>
          </p:cNvCxnSpPr>
          <p:nvPr/>
        </p:nvCxnSpPr>
        <p:spPr>
          <a:xfrm>
            <a:off x="3488924" y="2875507"/>
            <a:ext cx="582375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xmlns="" id="{88E21A28-6199-4ACB-ADFC-6A58164785BC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302318" y="2875507"/>
            <a:ext cx="13813" cy="2983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xmlns="" id="{7905EEE8-78B2-41D8-9CE7-7A4E0A596672}"/>
              </a:ext>
            </a:extLst>
          </p:cNvPr>
          <p:cNvSpPr txBox="1"/>
          <p:nvPr/>
        </p:nvSpPr>
        <p:spPr>
          <a:xfrm>
            <a:off x="2792846" y="2746732"/>
            <a:ext cx="80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copy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xmlns="" id="{27F54061-3D96-449D-879D-48A2B8766274}"/>
              </a:ext>
            </a:extLst>
          </p:cNvPr>
          <p:cNvSpPr txBox="1"/>
          <p:nvPr/>
        </p:nvSpPr>
        <p:spPr>
          <a:xfrm>
            <a:off x="9338756" y="2777851"/>
            <a:ext cx="928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insert</a:t>
            </a:r>
            <a:endParaRPr lang="zh-TW" altLang="en-US" dirty="0"/>
          </a:p>
        </p:txBody>
      </p:sp>
      <p:sp>
        <p:nvSpPr>
          <p:cNvPr id="25" name="箭號: 向右 24">
            <a:extLst>
              <a:ext uri="{FF2B5EF4-FFF2-40B4-BE49-F238E27FC236}">
                <a16:creationId xmlns:a16="http://schemas.microsoft.com/office/drawing/2014/main" xmlns="" id="{617F2682-F5B4-4C32-A8C7-0285AEE33C95}"/>
              </a:ext>
            </a:extLst>
          </p:cNvPr>
          <p:cNvSpPr/>
          <p:nvPr/>
        </p:nvSpPr>
        <p:spPr>
          <a:xfrm>
            <a:off x="6254564" y="4245375"/>
            <a:ext cx="656947" cy="4527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1204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C987A80E-B37B-41BF-BAF8-36A0AD35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01D5477D-0CB0-4594-99F6-962B086A542E}"/>
                  </a:ext>
                </a:extLst>
              </p:cNvPr>
              <p:cNvSpPr txBox="1"/>
              <p:nvPr/>
            </p:nvSpPr>
            <p:spPr>
              <a:xfrm>
                <a:off x="196623" y="1914825"/>
                <a:ext cx="1678536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2400" dirty="0"/>
              </a:p>
              <a:p>
                <a:r>
                  <a:rPr lang="en-US" altLang="zh-TW" sz="2400" dirty="0"/>
                  <a:t>substitution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1D5477D-0CB0-4594-99F6-962B086A5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23" y="1914825"/>
                <a:ext cx="1678536" cy="1938992"/>
              </a:xfrm>
              <a:prstGeom prst="rect">
                <a:avLst/>
              </a:prstGeom>
              <a:blipFill>
                <a:blip r:embed="rId2"/>
                <a:stretch>
                  <a:fillRect l="-5435" r="-4348" b="-62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F32CB539-A83F-4E55-8477-EFA485E02401}"/>
              </a:ext>
            </a:extLst>
          </p:cNvPr>
          <p:cNvGraphicFramePr>
            <a:graphicFrameLocks noGrp="1"/>
          </p:cNvGraphicFramePr>
          <p:nvPr/>
        </p:nvGraphicFramePr>
        <p:xfrm>
          <a:off x="1875159" y="3173816"/>
          <a:ext cx="398114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429994347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xmlns="" id="{04B5259F-4C74-4A02-8EB4-10DDE7F2D914}"/>
                  </a:ext>
                </a:extLst>
              </p:cNvPr>
              <p:cNvSpPr txBox="1"/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04B5259F-4C74-4A02-8EB4-10DDE7F2D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blipFill>
                <a:blip r:embed="rId3"/>
                <a:stretch>
                  <a:fillRect l="-917" t="-10526" r="-5963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箭號: 向右 10">
            <a:extLst>
              <a:ext uri="{FF2B5EF4-FFF2-40B4-BE49-F238E27FC236}">
                <a16:creationId xmlns:a16="http://schemas.microsoft.com/office/drawing/2014/main" xmlns="" id="{061E1B2B-41DB-47D3-8E0E-60BC06B167B1}"/>
              </a:ext>
            </a:extLst>
          </p:cNvPr>
          <p:cNvSpPr/>
          <p:nvPr/>
        </p:nvSpPr>
        <p:spPr>
          <a:xfrm>
            <a:off x="6254564" y="4245375"/>
            <a:ext cx="656947" cy="4527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xmlns="" id="{AC1EC87B-8602-4551-A586-A31E572A4F35}"/>
                  </a:ext>
                </a:extLst>
              </p:cNvPr>
              <p:cNvSpPr txBox="1"/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C1EC87B-8602-4551-A586-A31E572A4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blipFill>
                <a:blip r:embed="rId4"/>
                <a:stretch>
                  <a:fillRect l="-1255" t="-10526" r="-5021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E908B6DA-E99C-4199-9F7D-152D83F29BFB}"/>
              </a:ext>
            </a:extLst>
          </p:cNvPr>
          <p:cNvSpPr txBox="1"/>
          <p:nvPr/>
        </p:nvSpPr>
        <p:spPr>
          <a:xfrm>
            <a:off x="6104133" y="3876043"/>
            <a:ext cx="85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equal</a:t>
            </a:r>
            <a:endParaRPr lang="zh-TW" altLang="en-US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xmlns="" id="{5450E1AE-B797-4372-975E-DEA4C431E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987054"/>
              </p:ext>
            </p:extLst>
          </p:nvPr>
        </p:nvGraphicFramePr>
        <p:xfrm>
          <a:off x="7208413" y="3173816"/>
          <a:ext cx="398114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429994347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68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52F5F153-6DA1-4591-A1D9-75761D99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xmlns="" id="{E5696C50-9F73-471E-8F79-C22DFFE68599}"/>
                  </a:ext>
                </a:extLst>
              </p:cNvPr>
              <p:cNvSpPr txBox="1"/>
              <p:nvPr/>
            </p:nvSpPr>
            <p:spPr>
              <a:xfrm>
                <a:off x="403752" y="4648828"/>
                <a:ext cx="13296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5696C50-9F73-471E-8F79-C22DFFE68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52" y="4648828"/>
                <a:ext cx="1329659" cy="461665"/>
              </a:xfrm>
              <a:prstGeom prst="rect">
                <a:avLst/>
              </a:prstGeom>
              <a:blipFill>
                <a:blip r:embed="rId2"/>
                <a:stretch>
                  <a:fillRect l="-917" t="-10667" r="-5963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="" id="{6C3DCB39-A5D7-4467-BB6D-15710D834C1A}"/>
                  </a:ext>
                </a:extLst>
              </p:cNvPr>
              <p:cNvSpPr txBox="1"/>
              <p:nvPr/>
            </p:nvSpPr>
            <p:spPr>
              <a:xfrm>
                <a:off x="403752" y="5228955"/>
                <a:ext cx="381675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TW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C3DCB39-A5D7-4467-BB6D-15710D834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52" y="5228955"/>
                <a:ext cx="3816750" cy="707886"/>
              </a:xfrm>
              <a:prstGeom prst="rect">
                <a:avLst/>
              </a:prstGeom>
              <a:blipFill>
                <a:blip r:embed="rId3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xmlns="" id="{15C8EF30-C046-4FAB-AE5B-33293F1BD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774771"/>
              </p:ext>
            </p:extLst>
          </p:nvPr>
        </p:nvGraphicFramePr>
        <p:xfrm>
          <a:off x="0" y="1696740"/>
          <a:ext cx="3213069" cy="1749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023">
                  <a:extLst>
                    <a:ext uri="{9D8B030D-6E8A-4147-A177-3AD203B41FA5}">
                      <a16:colId xmlns:a16="http://schemas.microsoft.com/office/drawing/2014/main" xmlns="" val="4189432505"/>
                    </a:ext>
                  </a:extLst>
                </a:gridCol>
                <a:gridCol w="1071023">
                  <a:extLst>
                    <a:ext uri="{9D8B030D-6E8A-4147-A177-3AD203B41FA5}">
                      <a16:colId xmlns:a16="http://schemas.microsoft.com/office/drawing/2014/main" xmlns="" val="2261322293"/>
                    </a:ext>
                  </a:extLst>
                </a:gridCol>
                <a:gridCol w="1071023">
                  <a:extLst>
                    <a:ext uri="{9D8B030D-6E8A-4147-A177-3AD203B41FA5}">
                      <a16:colId xmlns:a16="http://schemas.microsoft.com/office/drawing/2014/main" xmlns="" val="95671643"/>
                    </a:ext>
                  </a:extLst>
                </a:gridCol>
              </a:tblGrid>
              <a:tr h="58329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j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 - 1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89007626"/>
                  </a:ext>
                </a:extLst>
              </a:tr>
              <a:tr h="58329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i 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– 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d + x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44709597"/>
                  </a:ext>
                </a:extLst>
              </a:tr>
              <a:tr h="5832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d + y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d + z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84177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xmlns="" id="{BCFC87E5-B8CC-4703-88E6-5E6A0C42CFF7}"/>
                  </a:ext>
                </a:extLst>
              </p:cNvPr>
              <p:cNvSpPr txBox="1"/>
              <p:nvPr/>
            </p:nvSpPr>
            <p:spPr>
              <a:xfrm>
                <a:off x="1473369" y="3737906"/>
                <a:ext cx="11340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CFC87E5-B8CC-4703-88E6-5E6A0C42C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369" y="3737906"/>
                <a:ext cx="1134093" cy="461665"/>
              </a:xfrm>
              <a:prstGeom prst="rect">
                <a:avLst/>
              </a:prstGeom>
              <a:blipFill>
                <a:blip r:embed="rId4"/>
                <a:stretch>
                  <a:fillRect l="-1613" t="-10526" r="-6452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xmlns="" id="{FE932CB7-2331-4EB2-B63F-7E02EBD5D28E}"/>
                  </a:ext>
                </a:extLst>
              </p:cNvPr>
              <p:cNvSpPr txBox="1"/>
              <p:nvPr/>
            </p:nvSpPr>
            <p:spPr>
              <a:xfrm>
                <a:off x="4915684" y="1805007"/>
                <a:ext cx="270843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E932CB7-2331-4EB2-B63F-7E02EBD5D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684" y="1805007"/>
                <a:ext cx="2708434" cy="830997"/>
              </a:xfrm>
              <a:prstGeom prst="rect">
                <a:avLst/>
              </a:prstGeom>
              <a:blipFill>
                <a:blip r:embed="rId5"/>
                <a:stretch>
                  <a:fillRect l="-449" b="-95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xmlns="" id="{88892AA0-461C-4C6A-A0AA-06FB681F99C8}"/>
                  </a:ext>
                </a:extLst>
              </p:cNvPr>
              <p:cNvSpPr txBox="1"/>
              <p:nvPr/>
            </p:nvSpPr>
            <p:spPr>
              <a:xfrm>
                <a:off x="4915684" y="2906909"/>
                <a:ext cx="270843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8892AA0-461C-4C6A-A0AA-06FB681F9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684" y="2906909"/>
                <a:ext cx="2708434" cy="830997"/>
              </a:xfrm>
              <a:prstGeom prst="rect">
                <a:avLst/>
              </a:prstGeom>
              <a:blipFill>
                <a:blip r:embed="rId6"/>
                <a:stretch>
                  <a:fillRect l="-449" b="-88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xmlns="" id="{7544CE07-F5F2-4322-AD7F-AB1D649F11AB}"/>
                  </a:ext>
                </a:extLst>
              </p:cNvPr>
              <p:cNvSpPr txBox="1"/>
              <p:nvPr/>
            </p:nvSpPr>
            <p:spPr>
              <a:xfrm>
                <a:off x="4915684" y="4149716"/>
                <a:ext cx="4209037" cy="1459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544CE07-F5F2-4322-AD7F-AB1D649F1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684" y="4149716"/>
                <a:ext cx="4209037" cy="1459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403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52F5F153-6DA1-4591-A1D9-75761D99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xmlns="" id="{E5696C50-9F73-471E-8F79-C22DFFE68599}"/>
                  </a:ext>
                </a:extLst>
              </p:cNvPr>
              <p:cNvSpPr txBox="1"/>
              <p:nvPr/>
            </p:nvSpPr>
            <p:spPr>
              <a:xfrm>
                <a:off x="403752" y="4648828"/>
                <a:ext cx="13296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5696C50-9F73-471E-8F79-C22DFFE68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52" y="4648828"/>
                <a:ext cx="1329659" cy="461665"/>
              </a:xfrm>
              <a:prstGeom prst="rect">
                <a:avLst/>
              </a:prstGeom>
              <a:blipFill>
                <a:blip r:embed="rId2"/>
                <a:stretch>
                  <a:fillRect l="-917" t="-10667" r="-5963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="" id="{6C3DCB39-A5D7-4467-BB6D-15710D834C1A}"/>
                  </a:ext>
                </a:extLst>
              </p:cNvPr>
              <p:cNvSpPr txBox="1"/>
              <p:nvPr/>
            </p:nvSpPr>
            <p:spPr>
              <a:xfrm>
                <a:off x="403752" y="5228955"/>
                <a:ext cx="381675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TW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C3DCB39-A5D7-4467-BB6D-15710D834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52" y="5228955"/>
                <a:ext cx="3816750" cy="707886"/>
              </a:xfrm>
              <a:prstGeom prst="rect">
                <a:avLst/>
              </a:prstGeom>
              <a:blipFill>
                <a:blip r:embed="rId3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xmlns="" id="{15C8EF30-C046-4FAB-AE5B-33293F1BDA22}"/>
              </a:ext>
            </a:extLst>
          </p:cNvPr>
          <p:cNvGraphicFramePr>
            <a:graphicFrameLocks noGrp="1"/>
          </p:cNvGraphicFramePr>
          <p:nvPr/>
        </p:nvGraphicFramePr>
        <p:xfrm>
          <a:off x="0" y="1696740"/>
          <a:ext cx="3213069" cy="1749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023">
                  <a:extLst>
                    <a:ext uri="{9D8B030D-6E8A-4147-A177-3AD203B41FA5}">
                      <a16:colId xmlns:a16="http://schemas.microsoft.com/office/drawing/2014/main" xmlns="" val="4189432505"/>
                    </a:ext>
                  </a:extLst>
                </a:gridCol>
                <a:gridCol w="1071023">
                  <a:extLst>
                    <a:ext uri="{9D8B030D-6E8A-4147-A177-3AD203B41FA5}">
                      <a16:colId xmlns:a16="http://schemas.microsoft.com/office/drawing/2014/main" xmlns="" val="2261322293"/>
                    </a:ext>
                  </a:extLst>
                </a:gridCol>
                <a:gridCol w="1071023">
                  <a:extLst>
                    <a:ext uri="{9D8B030D-6E8A-4147-A177-3AD203B41FA5}">
                      <a16:colId xmlns:a16="http://schemas.microsoft.com/office/drawing/2014/main" xmlns="" val="95671643"/>
                    </a:ext>
                  </a:extLst>
                </a:gridCol>
              </a:tblGrid>
              <a:tr h="58329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j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 - 1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89007626"/>
                  </a:ext>
                </a:extLst>
              </a:tr>
              <a:tr h="58329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i 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– 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d + x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44709597"/>
                  </a:ext>
                </a:extLst>
              </a:tr>
              <a:tr h="5832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d + y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d + z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84177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xmlns="" id="{BCFC87E5-B8CC-4703-88E6-5E6A0C42CFF7}"/>
                  </a:ext>
                </a:extLst>
              </p:cNvPr>
              <p:cNvSpPr txBox="1"/>
              <p:nvPr/>
            </p:nvSpPr>
            <p:spPr>
              <a:xfrm>
                <a:off x="1473369" y="3737906"/>
                <a:ext cx="11340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CFC87E5-B8CC-4703-88E6-5E6A0C42C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369" y="3737906"/>
                <a:ext cx="1134093" cy="461665"/>
              </a:xfrm>
              <a:prstGeom prst="rect">
                <a:avLst/>
              </a:prstGeom>
              <a:blipFill>
                <a:blip r:embed="rId4"/>
                <a:stretch>
                  <a:fillRect l="-1613" t="-10526" r="-6452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xmlns="" id="{FE932CB7-2331-4EB2-B63F-7E02EBD5D28E}"/>
                  </a:ext>
                </a:extLst>
              </p:cNvPr>
              <p:cNvSpPr txBox="1"/>
              <p:nvPr/>
            </p:nvSpPr>
            <p:spPr>
              <a:xfrm>
                <a:off x="4915684" y="1805007"/>
                <a:ext cx="270843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E932CB7-2331-4EB2-B63F-7E02EBD5D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684" y="1805007"/>
                <a:ext cx="2708434" cy="830997"/>
              </a:xfrm>
              <a:prstGeom prst="rect">
                <a:avLst/>
              </a:prstGeom>
              <a:blipFill>
                <a:blip r:embed="rId5"/>
                <a:stretch>
                  <a:fillRect l="-449" b="-95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xmlns="" id="{88892AA0-461C-4C6A-A0AA-06FB681F99C8}"/>
                  </a:ext>
                </a:extLst>
              </p:cNvPr>
              <p:cNvSpPr txBox="1"/>
              <p:nvPr/>
            </p:nvSpPr>
            <p:spPr>
              <a:xfrm>
                <a:off x="4915684" y="2906909"/>
                <a:ext cx="270843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8892AA0-461C-4C6A-A0AA-06FB681F9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684" y="2906909"/>
                <a:ext cx="2708434" cy="830997"/>
              </a:xfrm>
              <a:prstGeom prst="rect">
                <a:avLst/>
              </a:prstGeom>
              <a:blipFill>
                <a:blip r:embed="rId6"/>
                <a:stretch>
                  <a:fillRect l="-449" b="-88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xmlns="" id="{7544CE07-F5F2-4322-AD7F-AB1D649F11AB}"/>
                  </a:ext>
                </a:extLst>
              </p:cNvPr>
              <p:cNvSpPr txBox="1"/>
              <p:nvPr/>
            </p:nvSpPr>
            <p:spPr>
              <a:xfrm>
                <a:off x="4915684" y="4149716"/>
                <a:ext cx="3101554" cy="1459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544CE07-F5F2-4322-AD7F-AB1D649F1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684" y="4149716"/>
                <a:ext cx="3101554" cy="1459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453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52F5F153-6DA1-4591-A1D9-75761D99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xmlns="" id="{E5696C50-9F73-471E-8F79-C22DFFE68599}"/>
                  </a:ext>
                </a:extLst>
              </p:cNvPr>
              <p:cNvSpPr txBox="1"/>
              <p:nvPr/>
            </p:nvSpPr>
            <p:spPr>
              <a:xfrm>
                <a:off x="403752" y="4648828"/>
                <a:ext cx="13296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5696C50-9F73-471E-8F79-C22DFFE68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52" y="4648828"/>
                <a:ext cx="1329659" cy="461665"/>
              </a:xfrm>
              <a:prstGeom prst="rect">
                <a:avLst/>
              </a:prstGeom>
              <a:blipFill>
                <a:blip r:embed="rId2"/>
                <a:stretch>
                  <a:fillRect l="-917" t="-10667" r="-5963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="" id="{6C3DCB39-A5D7-4467-BB6D-15710D834C1A}"/>
                  </a:ext>
                </a:extLst>
              </p:cNvPr>
              <p:cNvSpPr txBox="1"/>
              <p:nvPr/>
            </p:nvSpPr>
            <p:spPr>
              <a:xfrm>
                <a:off x="403752" y="5228955"/>
                <a:ext cx="381675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TW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C3DCB39-A5D7-4467-BB6D-15710D834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52" y="5228955"/>
                <a:ext cx="3816750" cy="707886"/>
              </a:xfrm>
              <a:prstGeom prst="rect">
                <a:avLst/>
              </a:prstGeom>
              <a:blipFill>
                <a:blip r:embed="rId3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xmlns="" id="{15C8EF30-C046-4FAB-AE5B-33293F1BDA22}"/>
              </a:ext>
            </a:extLst>
          </p:cNvPr>
          <p:cNvGraphicFramePr>
            <a:graphicFrameLocks noGrp="1"/>
          </p:cNvGraphicFramePr>
          <p:nvPr/>
        </p:nvGraphicFramePr>
        <p:xfrm>
          <a:off x="0" y="1696740"/>
          <a:ext cx="3213069" cy="1749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023">
                  <a:extLst>
                    <a:ext uri="{9D8B030D-6E8A-4147-A177-3AD203B41FA5}">
                      <a16:colId xmlns:a16="http://schemas.microsoft.com/office/drawing/2014/main" xmlns="" val="4189432505"/>
                    </a:ext>
                  </a:extLst>
                </a:gridCol>
                <a:gridCol w="1071023">
                  <a:extLst>
                    <a:ext uri="{9D8B030D-6E8A-4147-A177-3AD203B41FA5}">
                      <a16:colId xmlns:a16="http://schemas.microsoft.com/office/drawing/2014/main" xmlns="" val="2261322293"/>
                    </a:ext>
                  </a:extLst>
                </a:gridCol>
                <a:gridCol w="1071023">
                  <a:extLst>
                    <a:ext uri="{9D8B030D-6E8A-4147-A177-3AD203B41FA5}">
                      <a16:colId xmlns:a16="http://schemas.microsoft.com/office/drawing/2014/main" xmlns="" val="95671643"/>
                    </a:ext>
                  </a:extLst>
                </a:gridCol>
              </a:tblGrid>
              <a:tr h="58329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j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 - 1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89007626"/>
                  </a:ext>
                </a:extLst>
              </a:tr>
              <a:tr h="58329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i 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– 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d + x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44709597"/>
                  </a:ext>
                </a:extLst>
              </a:tr>
              <a:tr h="5832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d + y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1" dirty="0">
                          <a:solidFill>
                            <a:schemeClr val="tx1"/>
                          </a:solidFill>
                        </a:rPr>
                        <a:t>d + z</a:t>
                      </a:r>
                      <a:endParaRPr lang="zh-TW" altLang="en-US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123624" marR="123624" marT="61813" marB="618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84177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xmlns="" id="{BCFC87E5-B8CC-4703-88E6-5E6A0C42CFF7}"/>
                  </a:ext>
                </a:extLst>
              </p:cNvPr>
              <p:cNvSpPr txBox="1"/>
              <p:nvPr/>
            </p:nvSpPr>
            <p:spPr>
              <a:xfrm>
                <a:off x="1473369" y="3737906"/>
                <a:ext cx="11340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CFC87E5-B8CC-4703-88E6-5E6A0C42C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369" y="3737906"/>
                <a:ext cx="1134093" cy="461665"/>
              </a:xfrm>
              <a:prstGeom prst="rect">
                <a:avLst/>
              </a:prstGeom>
              <a:blipFill>
                <a:blip r:embed="rId4"/>
                <a:stretch>
                  <a:fillRect l="-1613" t="-10526" r="-6452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xmlns="" id="{FE932CB7-2331-4EB2-B63F-7E02EBD5D28E}"/>
                  </a:ext>
                </a:extLst>
              </p:cNvPr>
              <p:cNvSpPr txBox="1"/>
              <p:nvPr/>
            </p:nvSpPr>
            <p:spPr>
              <a:xfrm>
                <a:off x="4915684" y="1805007"/>
                <a:ext cx="270843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E932CB7-2331-4EB2-B63F-7E02EBD5D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684" y="1805007"/>
                <a:ext cx="2708434" cy="830997"/>
              </a:xfrm>
              <a:prstGeom prst="rect">
                <a:avLst/>
              </a:prstGeom>
              <a:blipFill>
                <a:blip r:embed="rId5"/>
                <a:stretch>
                  <a:fillRect l="-449" b="-95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xmlns="" id="{88892AA0-461C-4C6A-A0AA-06FB681F99C8}"/>
                  </a:ext>
                </a:extLst>
              </p:cNvPr>
              <p:cNvSpPr txBox="1"/>
              <p:nvPr/>
            </p:nvSpPr>
            <p:spPr>
              <a:xfrm>
                <a:off x="4915684" y="2906909"/>
                <a:ext cx="270843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8892AA0-461C-4C6A-A0AA-06FB681F9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684" y="2906909"/>
                <a:ext cx="2708434" cy="830997"/>
              </a:xfrm>
              <a:prstGeom prst="rect">
                <a:avLst/>
              </a:prstGeom>
              <a:blipFill>
                <a:blip r:embed="rId6"/>
                <a:stretch>
                  <a:fillRect l="-449" b="-88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xmlns="" id="{7544CE07-F5F2-4322-AD7F-AB1D649F11AB}"/>
                  </a:ext>
                </a:extLst>
              </p:cNvPr>
              <p:cNvSpPr txBox="1"/>
              <p:nvPr/>
            </p:nvSpPr>
            <p:spPr>
              <a:xfrm>
                <a:off x="4915684" y="4149716"/>
                <a:ext cx="4758803" cy="1459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𝐷𝑅</m:t>
                              </m:r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𝐷𝑅</m:t>
                              </m:r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544CE07-F5F2-4322-AD7F-AB1D649F1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684" y="4149716"/>
                <a:ext cx="4758803" cy="1459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592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A9BD6B87-90CE-421A-B905-A15917E978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needs to be recomputed if and only if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𝐷𝑅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or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𝐷𝑅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9BD6B87-90CE-421A-B905-A15917E978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>
            <a:extLst>
              <a:ext uri="{FF2B5EF4-FFF2-40B4-BE49-F238E27FC236}">
                <a16:creationId xmlns:a16="http://schemas.microsoft.com/office/drawing/2014/main" xmlns="" id="{E2EDC118-D8AE-4972-8DE5-12ED393D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11647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EE2B31AF-8663-4566-A7E1-FC5B9C15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90DCD26E-7A35-43CE-93F2-7CD18C1F8977}"/>
                  </a:ext>
                </a:extLst>
              </p:cNvPr>
              <p:cNvSpPr txBox="1"/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2400" dirty="0"/>
              </a:p>
              <a:p>
                <a:r>
                  <a:rPr lang="en-US" altLang="zh-TW" sz="2400" dirty="0"/>
                  <a:t>deletion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0DCD26E-7A35-43CE-93F2-7CD18C1F8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blipFill>
                <a:blip r:embed="rId2"/>
                <a:stretch>
                  <a:fillRect l="-7500" r="-6500" b="-62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C6F399F9-0D04-43B4-86F9-69F3C6C47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942265"/>
              </p:ext>
            </p:extLst>
          </p:nvPr>
        </p:nvGraphicFramePr>
        <p:xfrm>
          <a:off x="1875159" y="3173816"/>
          <a:ext cx="398114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429994347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(5,6)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(13,3)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xmlns="" id="{C26ACE10-9BA3-4791-BA16-CF4804D647B5}"/>
                  </a:ext>
                </a:extLst>
              </p:cNvPr>
              <p:cNvSpPr txBox="1"/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26ACE10-9BA3-4791-BA16-CF4804D64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blipFill>
                <a:blip r:embed="rId3"/>
                <a:stretch>
                  <a:fillRect l="-917" t="-10526" r="-5963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96F1FB5A-A6AF-4290-A228-676600196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365732"/>
              </p:ext>
            </p:extLst>
          </p:nvPr>
        </p:nvGraphicFramePr>
        <p:xfrm>
          <a:off x="7309772" y="3173816"/>
          <a:ext cx="33176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(13,3)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xmlns="" id="{A6A36B10-3446-4BF9-809C-3043B7FACB6A}"/>
                  </a:ext>
                </a:extLst>
              </p:cNvPr>
              <p:cNvSpPr txBox="1"/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6A36B10-3446-4BF9-809C-3043B7FAC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blipFill>
                <a:blip r:embed="rId4"/>
                <a:stretch>
                  <a:fillRect l="-1255" t="-10526" r="-5021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010BB754-711E-4E8B-8E8A-66C1C13DF874}"/>
              </a:ext>
            </a:extLst>
          </p:cNvPr>
          <p:cNvCxnSpPr>
            <a:cxnSpLocks/>
          </p:cNvCxnSpPr>
          <p:nvPr/>
        </p:nvCxnSpPr>
        <p:spPr>
          <a:xfrm>
            <a:off x="4172081" y="2940358"/>
            <a:ext cx="0" cy="30627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="" id="{06C8E434-341F-4FFD-B650-F8AF328B57DF}"/>
                  </a:ext>
                </a:extLst>
              </p:cNvPr>
              <p:cNvSpPr txBox="1"/>
              <p:nvPr/>
            </p:nvSpPr>
            <p:spPr>
              <a:xfrm>
                <a:off x="169853" y="5818488"/>
                <a:ext cx="2367251" cy="668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6C8E434-341F-4FFD-B650-F8AF328B5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53" y="5818488"/>
                <a:ext cx="2367251" cy="668645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2875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EE2B31AF-8663-4566-A7E1-FC5B9C15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90DCD26E-7A35-43CE-93F2-7CD18C1F8977}"/>
                  </a:ext>
                </a:extLst>
              </p:cNvPr>
              <p:cNvSpPr txBox="1"/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2400" dirty="0"/>
              </a:p>
              <a:p>
                <a:r>
                  <a:rPr lang="en-US" altLang="zh-TW" sz="2400" dirty="0"/>
                  <a:t>deletion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0DCD26E-7A35-43CE-93F2-7CD18C1F8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blipFill>
                <a:blip r:embed="rId2"/>
                <a:stretch>
                  <a:fillRect l="-7500" r="-6500" b="-62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xmlns="" id="{C26ACE10-9BA3-4791-BA16-CF4804D647B5}"/>
                  </a:ext>
                </a:extLst>
              </p:cNvPr>
              <p:cNvSpPr txBox="1"/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26ACE10-9BA3-4791-BA16-CF4804D64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blipFill>
                <a:blip r:embed="rId3"/>
                <a:stretch>
                  <a:fillRect l="-917" t="-10526" r="-5963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xmlns="" id="{A6A36B10-3446-4BF9-809C-3043B7FACB6A}"/>
                  </a:ext>
                </a:extLst>
              </p:cNvPr>
              <p:cNvSpPr txBox="1"/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6A36B10-3446-4BF9-809C-3043B7FAC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blipFill>
                <a:blip r:embed="rId4"/>
                <a:stretch>
                  <a:fillRect l="-1255" t="-10526" r="-5021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010BB754-711E-4E8B-8E8A-66C1C13DF874}"/>
              </a:ext>
            </a:extLst>
          </p:cNvPr>
          <p:cNvCxnSpPr>
            <a:cxnSpLocks/>
          </p:cNvCxnSpPr>
          <p:nvPr/>
        </p:nvCxnSpPr>
        <p:spPr>
          <a:xfrm>
            <a:off x="4172081" y="2949236"/>
            <a:ext cx="0" cy="30627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="" id="{06C8E434-341F-4FFD-B650-F8AF328B57DF}"/>
                  </a:ext>
                </a:extLst>
              </p:cNvPr>
              <p:cNvSpPr txBox="1"/>
              <p:nvPr/>
            </p:nvSpPr>
            <p:spPr>
              <a:xfrm>
                <a:off x="169853" y="5818488"/>
                <a:ext cx="2367251" cy="668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6C8E434-341F-4FFD-B650-F8AF328B5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53" y="5818488"/>
                <a:ext cx="2367251" cy="668645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xmlns="" id="{BE17259A-EEEC-49B0-9AA8-288A4E913784}"/>
                  </a:ext>
                </a:extLst>
              </p:cNvPr>
              <p:cNvSpPr/>
              <p:nvPr/>
            </p:nvSpPr>
            <p:spPr>
              <a:xfrm>
                <a:off x="3570965" y="1690688"/>
                <a:ext cx="457067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400" dirty="0"/>
                  <a:t>Recompute column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in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E17259A-EEEC-49B0-9AA8-288A4E913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965" y="1690688"/>
                <a:ext cx="4570675" cy="461665"/>
              </a:xfrm>
              <a:prstGeom prst="rect">
                <a:avLst/>
              </a:prstGeom>
              <a:blipFill>
                <a:blip r:embed="rId6"/>
                <a:stretch>
                  <a:fillRect l="-2133" t="-10526" r="-800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xmlns="" id="{B5319627-E364-4502-AA1E-FD29B6C81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00460"/>
              </p:ext>
            </p:extLst>
          </p:nvPr>
        </p:nvGraphicFramePr>
        <p:xfrm>
          <a:off x="1875159" y="3173816"/>
          <a:ext cx="398114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429994347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(5,6)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(13,3)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xmlns="" id="{37ECD524-5930-40D6-AD88-A6D48F58B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140306"/>
              </p:ext>
            </p:extLst>
          </p:nvPr>
        </p:nvGraphicFramePr>
        <p:xfrm>
          <a:off x="7309772" y="3173816"/>
          <a:ext cx="33176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902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EE2B31AF-8663-4566-A7E1-FC5B9C15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90DCD26E-7A35-43CE-93F2-7CD18C1F8977}"/>
                  </a:ext>
                </a:extLst>
              </p:cNvPr>
              <p:cNvSpPr txBox="1"/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2400" dirty="0"/>
              </a:p>
              <a:p>
                <a:r>
                  <a:rPr lang="en-US" altLang="zh-TW" sz="2400" dirty="0"/>
                  <a:t>deletion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0DCD26E-7A35-43CE-93F2-7CD18C1F8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blipFill>
                <a:blip r:embed="rId2"/>
                <a:stretch>
                  <a:fillRect l="-7500" r="-6500" b="-62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xmlns="" id="{C26ACE10-9BA3-4791-BA16-CF4804D647B5}"/>
                  </a:ext>
                </a:extLst>
              </p:cNvPr>
              <p:cNvSpPr txBox="1"/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26ACE10-9BA3-4791-BA16-CF4804D64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blipFill>
                <a:blip r:embed="rId3"/>
                <a:stretch>
                  <a:fillRect l="-917" t="-10526" r="-5963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xmlns="" id="{A6A36B10-3446-4BF9-809C-3043B7FACB6A}"/>
                  </a:ext>
                </a:extLst>
              </p:cNvPr>
              <p:cNvSpPr txBox="1"/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6A36B10-3446-4BF9-809C-3043B7FAC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blipFill>
                <a:blip r:embed="rId4"/>
                <a:stretch>
                  <a:fillRect l="-1255" t="-10526" r="-5021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010BB754-711E-4E8B-8E8A-66C1C13DF874}"/>
              </a:ext>
            </a:extLst>
          </p:cNvPr>
          <p:cNvCxnSpPr>
            <a:cxnSpLocks/>
          </p:cNvCxnSpPr>
          <p:nvPr/>
        </p:nvCxnSpPr>
        <p:spPr>
          <a:xfrm>
            <a:off x="4172081" y="2940358"/>
            <a:ext cx="0" cy="30627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="" id="{06C8E434-341F-4FFD-B650-F8AF328B57DF}"/>
                  </a:ext>
                </a:extLst>
              </p:cNvPr>
              <p:cNvSpPr txBox="1"/>
              <p:nvPr/>
            </p:nvSpPr>
            <p:spPr>
              <a:xfrm>
                <a:off x="169853" y="5818488"/>
                <a:ext cx="2367251" cy="668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6C8E434-341F-4FFD-B650-F8AF328B5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53" y="5818488"/>
                <a:ext cx="2367251" cy="668645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xmlns="" id="{BE17259A-EEEC-49B0-9AA8-288A4E913784}"/>
                  </a:ext>
                </a:extLst>
              </p:cNvPr>
              <p:cNvSpPr/>
              <p:nvPr/>
            </p:nvSpPr>
            <p:spPr>
              <a:xfrm>
                <a:off x="3636865" y="1647695"/>
                <a:ext cx="501393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−1−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E17259A-EEEC-49B0-9AA8-288A4E913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865" y="1647695"/>
                <a:ext cx="5013937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xmlns="" id="{B5319627-E364-4502-AA1E-FD29B6C81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357349"/>
              </p:ext>
            </p:extLst>
          </p:nvPr>
        </p:nvGraphicFramePr>
        <p:xfrm>
          <a:off x="1875159" y="3173816"/>
          <a:ext cx="398114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429994347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(5,6)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(13,3)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xmlns="" id="{1CAB7E18-F44A-45F4-9686-45FA4B21D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36897"/>
              </p:ext>
            </p:extLst>
          </p:nvPr>
        </p:nvGraphicFramePr>
        <p:xfrm>
          <a:off x="7309772" y="3173816"/>
          <a:ext cx="33176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57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EE2B31AF-8663-4566-A7E1-FC5B9C15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90DCD26E-7A35-43CE-93F2-7CD18C1F8977}"/>
                  </a:ext>
                </a:extLst>
              </p:cNvPr>
              <p:cNvSpPr txBox="1"/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2400" dirty="0"/>
              </a:p>
              <a:p>
                <a:r>
                  <a:rPr lang="en-US" altLang="zh-TW" sz="2400" dirty="0"/>
                  <a:t>deletion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0DCD26E-7A35-43CE-93F2-7CD18C1F8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blipFill>
                <a:blip r:embed="rId2"/>
                <a:stretch>
                  <a:fillRect l="-7500" r="-6500" b="-62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xmlns="" id="{C26ACE10-9BA3-4791-BA16-CF4804D647B5}"/>
                  </a:ext>
                </a:extLst>
              </p:cNvPr>
              <p:cNvSpPr txBox="1"/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26ACE10-9BA3-4791-BA16-CF4804D64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blipFill>
                <a:blip r:embed="rId3"/>
                <a:stretch>
                  <a:fillRect l="-917" t="-10526" r="-5963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xmlns="" id="{A6A36B10-3446-4BF9-809C-3043B7FACB6A}"/>
                  </a:ext>
                </a:extLst>
              </p:cNvPr>
              <p:cNvSpPr txBox="1"/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6A36B10-3446-4BF9-809C-3043B7FAC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blipFill>
                <a:blip r:embed="rId4"/>
                <a:stretch>
                  <a:fillRect l="-1255" t="-10526" r="-5021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010BB754-711E-4E8B-8E8A-66C1C13DF874}"/>
              </a:ext>
            </a:extLst>
          </p:cNvPr>
          <p:cNvCxnSpPr>
            <a:cxnSpLocks/>
          </p:cNvCxnSpPr>
          <p:nvPr/>
        </p:nvCxnSpPr>
        <p:spPr>
          <a:xfrm>
            <a:off x="4172081" y="2940358"/>
            <a:ext cx="0" cy="30627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="" id="{06C8E434-341F-4FFD-B650-F8AF328B57DF}"/>
                  </a:ext>
                </a:extLst>
              </p:cNvPr>
              <p:cNvSpPr txBox="1"/>
              <p:nvPr/>
            </p:nvSpPr>
            <p:spPr>
              <a:xfrm>
                <a:off x="169853" y="5818488"/>
                <a:ext cx="2367251" cy="668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6C8E434-341F-4FFD-B650-F8AF328B5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53" y="5818488"/>
                <a:ext cx="2367251" cy="668645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xmlns="" id="{BE17259A-EEEC-49B0-9AA8-288A4E913784}"/>
                  </a:ext>
                </a:extLst>
              </p:cNvPr>
              <p:cNvSpPr/>
              <p:nvPr/>
            </p:nvSpPr>
            <p:spPr>
              <a:xfrm>
                <a:off x="3636865" y="1647695"/>
                <a:ext cx="491826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E17259A-EEEC-49B0-9AA8-288A4E913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865" y="1647695"/>
                <a:ext cx="4918269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xmlns="" id="{B5319627-E364-4502-AA1E-FD29B6C81176}"/>
              </a:ext>
            </a:extLst>
          </p:cNvPr>
          <p:cNvGraphicFramePr>
            <a:graphicFrameLocks noGrp="1"/>
          </p:cNvGraphicFramePr>
          <p:nvPr/>
        </p:nvGraphicFramePr>
        <p:xfrm>
          <a:off x="1875159" y="3173816"/>
          <a:ext cx="398114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429994347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(5,6)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(13,3)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xmlns="" id="{1CAB7E18-F44A-45F4-9686-45FA4B21D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899726"/>
              </p:ext>
            </p:extLst>
          </p:nvPr>
        </p:nvGraphicFramePr>
        <p:xfrm>
          <a:off x="7309772" y="3173816"/>
          <a:ext cx="33176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709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EE2B31AF-8663-4566-A7E1-FC5B9C15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90DCD26E-7A35-43CE-93F2-7CD18C1F8977}"/>
                  </a:ext>
                </a:extLst>
              </p:cNvPr>
              <p:cNvSpPr txBox="1"/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2400" dirty="0"/>
              </a:p>
              <a:p>
                <a:r>
                  <a:rPr lang="en-US" altLang="zh-TW" sz="2400" dirty="0"/>
                  <a:t>deletion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0DCD26E-7A35-43CE-93F2-7CD18C1F8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blipFill>
                <a:blip r:embed="rId2"/>
                <a:stretch>
                  <a:fillRect l="-7500" r="-6500" b="-62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xmlns="" id="{C26ACE10-9BA3-4791-BA16-CF4804D647B5}"/>
                  </a:ext>
                </a:extLst>
              </p:cNvPr>
              <p:cNvSpPr txBox="1"/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26ACE10-9BA3-4791-BA16-CF4804D64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blipFill>
                <a:blip r:embed="rId3"/>
                <a:stretch>
                  <a:fillRect l="-917" t="-10526" r="-5963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xmlns="" id="{A6A36B10-3446-4BF9-809C-3043B7FACB6A}"/>
                  </a:ext>
                </a:extLst>
              </p:cNvPr>
              <p:cNvSpPr txBox="1"/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6A36B10-3446-4BF9-809C-3043B7FAC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blipFill>
                <a:blip r:embed="rId4"/>
                <a:stretch>
                  <a:fillRect l="-1255" t="-10526" r="-5021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010BB754-711E-4E8B-8E8A-66C1C13DF874}"/>
              </a:ext>
            </a:extLst>
          </p:cNvPr>
          <p:cNvCxnSpPr>
            <a:cxnSpLocks/>
          </p:cNvCxnSpPr>
          <p:nvPr/>
        </p:nvCxnSpPr>
        <p:spPr>
          <a:xfrm>
            <a:off x="4172081" y="2940358"/>
            <a:ext cx="0" cy="30627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="" id="{06C8E434-341F-4FFD-B650-F8AF328B57DF}"/>
                  </a:ext>
                </a:extLst>
              </p:cNvPr>
              <p:cNvSpPr txBox="1"/>
              <p:nvPr/>
            </p:nvSpPr>
            <p:spPr>
              <a:xfrm>
                <a:off x="169853" y="5818488"/>
                <a:ext cx="2367251" cy="668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6C8E434-341F-4FFD-B650-F8AF328B5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53" y="5818488"/>
                <a:ext cx="2367251" cy="668645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xmlns="" id="{BE17259A-EEEC-49B0-9AA8-288A4E913784}"/>
                  </a:ext>
                </a:extLst>
              </p:cNvPr>
              <p:cNvSpPr/>
              <p:nvPr/>
            </p:nvSpPr>
            <p:spPr>
              <a:xfrm>
                <a:off x="3636865" y="1647695"/>
                <a:ext cx="491826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E17259A-EEEC-49B0-9AA8-288A4E913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865" y="1647695"/>
                <a:ext cx="4918269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xmlns="" id="{B5319627-E364-4502-AA1E-FD29B6C81176}"/>
              </a:ext>
            </a:extLst>
          </p:cNvPr>
          <p:cNvGraphicFramePr>
            <a:graphicFrameLocks noGrp="1"/>
          </p:cNvGraphicFramePr>
          <p:nvPr/>
        </p:nvGraphicFramePr>
        <p:xfrm>
          <a:off x="1875159" y="3173816"/>
          <a:ext cx="398114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429994347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(5,6)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(13,3)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xmlns="" id="{1CAB7E18-F44A-45F4-9686-45FA4B21D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113731"/>
              </p:ext>
            </p:extLst>
          </p:nvPr>
        </p:nvGraphicFramePr>
        <p:xfrm>
          <a:off x="7309772" y="3173816"/>
          <a:ext cx="33176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825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EE2B31AF-8663-4566-A7E1-FC5B9C15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90DCD26E-7A35-43CE-93F2-7CD18C1F8977}"/>
                  </a:ext>
                </a:extLst>
              </p:cNvPr>
              <p:cNvSpPr txBox="1"/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2400" dirty="0"/>
              </a:p>
              <a:p>
                <a:r>
                  <a:rPr lang="en-US" altLang="zh-TW" sz="2400" dirty="0"/>
                  <a:t>deletion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0DCD26E-7A35-43CE-93F2-7CD18C1F8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blipFill>
                <a:blip r:embed="rId2"/>
                <a:stretch>
                  <a:fillRect l="-7500" r="-6500" b="-62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xmlns="" id="{C26ACE10-9BA3-4791-BA16-CF4804D647B5}"/>
                  </a:ext>
                </a:extLst>
              </p:cNvPr>
              <p:cNvSpPr txBox="1"/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26ACE10-9BA3-4791-BA16-CF4804D64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blipFill>
                <a:blip r:embed="rId3"/>
                <a:stretch>
                  <a:fillRect l="-917" t="-10526" r="-5963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xmlns="" id="{A6A36B10-3446-4BF9-809C-3043B7FACB6A}"/>
                  </a:ext>
                </a:extLst>
              </p:cNvPr>
              <p:cNvSpPr txBox="1"/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6A36B10-3446-4BF9-809C-3043B7FAC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blipFill>
                <a:blip r:embed="rId4"/>
                <a:stretch>
                  <a:fillRect l="-1255" t="-10526" r="-5021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010BB754-711E-4E8B-8E8A-66C1C13DF874}"/>
              </a:ext>
            </a:extLst>
          </p:cNvPr>
          <p:cNvCxnSpPr>
            <a:cxnSpLocks/>
          </p:cNvCxnSpPr>
          <p:nvPr/>
        </p:nvCxnSpPr>
        <p:spPr>
          <a:xfrm>
            <a:off x="4172081" y="2940358"/>
            <a:ext cx="0" cy="30627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="" id="{06C8E434-341F-4FFD-B650-F8AF328B57DF}"/>
                  </a:ext>
                </a:extLst>
              </p:cNvPr>
              <p:cNvSpPr txBox="1"/>
              <p:nvPr/>
            </p:nvSpPr>
            <p:spPr>
              <a:xfrm>
                <a:off x="169853" y="5818488"/>
                <a:ext cx="2367251" cy="668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6C8E434-341F-4FFD-B650-F8AF328B5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53" y="5818488"/>
                <a:ext cx="2367251" cy="668645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xmlns="" id="{BE17259A-EEEC-49B0-9AA8-288A4E913784}"/>
                  </a:ext>
                </a:extLst>
              </p:cNvPr>
              <p:cNvSpPr/>
              <p:nvPr/>
            </p:nvSpPr>
            <p:spPr>
              <a:xfrm>
                <a:off x="3636865" y="1647695"/>
                <a:ext cx="491826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E17259A-EEEC-49B0-9AA8-288A4E913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865" y="1647695"/>
                <a:ext cx="4918269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xmlns="" id="{B5319627-E364-4502-AA1E-FD29B6C81176}"/>
              </a:ext>
            </a:extLst>
          </p:cNvPr>
          <p:cNvGraphicFramePr>
            <a:graphicFrameLocks noGrp="1"/>
          </p:cNvGraphicFramePr>
          <p:nvPr/>
        </p:nvGraphicFramePr>
        <p:xfrm>
          <a:off x="1875159" y="3173816"/>
          <a:ext cx="398114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429994347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(5,6)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(13,3)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xmlns="" id="{1CAB7E18-F44A-45F4-9686-45FA4B21D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389677"/>
              </p:ext>
            </p:extLst>
          </p:nvPr>
        </p:nvGraphicFramePr>
        <p:xfrm>
          <a:off x="7309772" y="3173816"/>
          <a:ext cx="33176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(5,3)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903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EE2B31AF-8663-4566-A7E1-FC5B9C15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A simple algorithm under a general cost function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id="{90DCD26E-7A35-43CE-93F2-7CD18C1F8977}"/>
                  </a:ext>
                </a:extLst>
              </p:cNvPr>
              <p:cNvSpPr txBox="1"/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2400" dirty="0"/>
              </a:p>
              <a:p>
                <a:r>
                  <a:rPr lang="en-US" altLang="zh-TW" sz="2400" dirty="0"/>
                  <a:t>deletion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0DCD26E-7A35-43CE-93F2-7CD18C1F8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69" y="1911344"/>
                <a:ext cx="1220142" cy="1938992"/>
              </a:xfrm>
              <a:prstGeom prst="rect">
                <a:avLst/>
              </a:prstGeom>
              <a:blipFill>
                <a:blip r:embed="rId2"/>
                <a:stretch>
                  <a:fillRect l="-7500" r="-6500" b="-62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xmlns="" id="{C26ACE10-9BA3-4791-BA16-CF4804D647B5}"/>
                  </a:ext>
                </a:extLst>
              </p:cNvPr>
              <p:cNvSpPr txBox="1"/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26ACE10-9BA3-4791-BA16-CF4804D64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901" y="2342818"/>
                <a:ext cx="1329659" cy="461665"/>
              </a:xfrm>
              <a:prstGeom prst="rect">
                <a:avLst/>
              </a:prstGeom>
              <a:blipFill>
                <a:blip r:embed="rId3"/>
                <a:stretch>
                  <a:fillRect l="-917" t="-10526" r="-5963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xmlns="" id="{A6A36B10-3446-4BF9-809C-3043B7FACB6A}"/>
                  </a:ext>
                </a:extLst>
              </p:cNvPr>
              <p:cNvSpPr txBox="1"/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6A36B10-3446-4BF9-809C-3043B7FAC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550" y="2342818"/>
                <a:ext cx="1460464" cy="461665"/>
              </a:xfrm>
              <a:prstGeom prst="rect">
                <a:avLst/>
              </a:prstGeom>
              <a:blipFill>
                <a:blip r:embed="rId4"/>
                <a:stretch>
                  <a:fillRect l="-1255" t="-10526" r="-5021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010BB754-711E-4E8B-8E8A-66C1C13DF874}"/>
              </a:ext>
            </a:extLst>
          </p:cNvPr>
          <p:cNvCxnSpPr>
            <a:cxnSpLocks/>
          </p:cNvCxnSpPr>
          <p:nvPr/>
        </p:nvCxnSpPr>
        <p:spPr>
          <a:xfrm>
            <a:off x="4172081" y="2940358"/>
            <a:ext cx="0" cy="30627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="" id="{06C8E434-341F-4FFD-B650-F8AF328B57DF}"/>
                  </a:ext>
                </a:extLst>
              </p:cNvPr>
              <p:cNvSpPr txBox="1"/>
              <p:nvPr/>
            </p:nvSpPr>
            <p:spPr>
              <a:xfrm>
                <a:off x="169853" y="5818488"/>
                <a:ext cx="2367251" cy="668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6C8E434-341F-4FFD-B650-F8AF328B5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53" y="5818488"/>
                <a:ext cx="2367251" cy="668645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xmlns="" id="{BE17259A-EEEC-49B0-9AA8-288A4E913784}"/>
                  </a:ext>
                </a:extLst>
              </p:cNvPr>
              <p:cNvSpPr/>
              <p:nvPr/>
            </p:nvSpPr>
            <p:spPr>
              <a:xfrm>
                <a:off x="3636865" y="1647695"/>
                <a:ext cx="491826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E17259A-EEEC-49B0-9AA8-288A4E913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865" y="1647695"/>
                <a:ext cx="4918269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xmlns="" id="{B5319627-E364-4502-AA1E-FD29B6C81176}"/>
              </a:ext>
            </a:extLst>
          </p:cNvPr>
          <p:cNvGraphicFramePr>
            <a:graphicFrameLocks noGrp="1"/>
          </p:cNvGraphicFramePr>
          <p:nvPr/>
        </p:nvGraphicFramePr>
        <p:xfrm>
          <a:off x="1875159" y="3173816"/>
          <a:ext cx="398114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429994347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(5,6)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(13,3)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xmlns="" id="{1CAB7E18-F44A-45F4-9686-45FA4B21D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800962"/>
              </p:ext>
            </p:extLst>
          </p:nvPr>
        </p:nvGraphicFramePr>
        <p:xfrm>
          <a:off x="7309772" y="3173816"/>
          <a:ext cx="33176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24">
                  <a:extLst>
                    <a:ext uri="{9D8B030D-6E8A-4147-A177-3AD203B41FA5}">
                      <a16:colId xmlns:a16="http://schemas.microsoft.com/office/drawing/2014/main" xmlns="" val="4135631988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3028421132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66315496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534229549"/>
                    </a:ext>
                  </a:extLst>
                </a:gridCol>
                <a:gridCol w="663524">
                  <a:extLst>
                    <a:ext uri="{9D8B030D-6E8A-4147-A177-3AD203B41FA5}">
                      <a16:colId xmlns:a16="http://schemas.microsoft.com/office/drawing/2014/main" xmlns="" val="24509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819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(9,1)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9544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(5,3)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2567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(6,8)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418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(4,9)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(3,7)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7682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(7,3)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(8,3)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(2,6)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19857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074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7A2F4B7-6590-4D1E-9691-D3DC9AC2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Experimental Result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78DD4E26-09CB-4904-8CC0-C19FEDBB6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87" y="2193289"/>
            <a:ext cx="11943425" cy="428512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C99E1DB0-50DC-4FF7-919E-9AF573F11E78}"/>
              </a:ext>
            </a:extLst>
          </p:cNvPr>
          <p:cNvSpPr txBox="1"/>
          <p:nvPr/>
        </p:nvSpPr>
        <p:spPr>
          <a:xfrm>
            <a:off x="923278" y="1566401"/>
            <a:ext cx="2626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Fixed length</a:t>
            </a:r>
            <a:r>
              <a:rPr lang="zh-TW" altLang="en-US" sz="2400" dirty="0"/>
              <a:t>：</a:t>
            </a:r>
            <a:r>
              <a:rPr lang="en-US" altLang="zh-TW" sz="2400" dirty="0"/>
              <a:t>1000</a:t>
            </a:r>
            <a:endParaRPr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894ACED4-4AA1-4F46-8B37-2B151F0B4ECC}"/>
              </a:ext>
            </a:extLst>
          </p:cNvPr>
          <p:cNvSpPr txBox="1"/>
          <p:nvPr/>
        </p:nvSpPr>
        <p:spPr>
          <a:xfrm>
            <a:off x="6970450" y="1646805"/>
            <a:ext cx="3159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Fixed alphabet size</a:t>
            </a:r>
            <a:r>
              <a:rPr lang="zh-TW" altLang="en-US" sz="2400" dirty="0"/>
              <a:t>：</a:t>
            </a:r>
            <a:r>
              <a:rPr lang="en-US" altLang="zh-TW" sz="2400" dirty="0"/>
              <a:t>26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10651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7A2F4B7-6590-4D1E-9691-D3DC9AC2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Experimental Result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C99E1DB0-50DC-4FF7-919E-9AF573F11E78}"/>
              </a:ext>
            </a:extLst>
          </p:cNvPr>
          <p:cNvSpPr txBox="1"/>
          <p:nvPr/>
        </p:nvSpPr>
        <p:spPr>
          <a:xfrm>
            <a:off x="923278" y="1566401"/>
            <a:ext cx="2626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Fixed length</a:t>
            </a:r>
            <a:r>
              <a:rPr lang="zh-TW" altLang="en-US" sz="2400" dirty="0"/>
              <a:t>：</a:t>
            </a:r>
            <a:r>
              <a:rPr lang="en-US" altLang="zh-TW" sz="2400" dirty="0"/>
              <a:t>1000</a:t>
            </a:r>
            <a:endParaRPr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894ACED4-4AA1-4F46-8B37-2B151F0B4ECC}"/>
              </a:ext>
            </a:extLst>
          </p:cNvPr>
          <p:cNvSpPr txBox="1"/>
          <p:nvPr/>
        </p:nvSpPr>
        <p:spPr>
          <a:xfrm>
            <a:off x="6970450" y="1646805"/>
            <a:ext cx="3159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Fixed alphabet size</a:t>
            </a:r>
            <a:r>
              <a:rPr lang="zh-TW" altLang="en-US" sz="2400" dirty="0"/>
              <a:t>：</a:t>
            </a:r>
            <a:r>
              <a:rPr lang="en-US" altLang="zh-TW" sz="2400" dirty="0"/>
              <a:t>26</a:t>
            </a:r>
            <a:endParaRPr lang="zh-TW" altLang="en-US" sz="2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xmlns="" id="{38FB4F44-1EB8-4103-82C1-5AFB308BF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7924"/>
            <a:ext cx="12192000" cy="426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309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xmlns="" id="{A19F36D5-0B16-406C-8666-C70A99A3E10D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/>
              <a:t>Experimental Result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49AD48BD-77A7-47B9-AAEC-2398A9CD1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402098"/>
            <a:ext cx="11506200" cy="432648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971AB860-0E19-4198-B386-B7C50A5964C9}"/>
              </a:ext>
            </a:extLst>
          </p:cNvPr>
          <p:cNvSpPr txBox="1"/>
          <p:nvPr/>
        </p:nvSpPr>
        <p:spPr>
          <a:xfrm>
            <a:off x="990600" y="1612255"/>
            <a:ext cx="4851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Interactive edit distance computation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39831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2829</Words>
  <Application>Microsoft Office PowerPoint</Application>
  <PresentationFormat>寬螢幕</PresentationFormat>
  <Paragraphs>1356</Paragraphs>
  <Slides>32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9" baseType="lpstr">
      <vt:lpstr>新細明體</vt:lpstr>
      <vt:lpstr>標楷體</vt:lpstr>
      <vt:lpstr>Arial</vt:lpstr>
      <vt:lpstr>Calibri</vt:lpstr>
      <vt:lpstr>Calibri Light</vt:lpstr>
      <vt:lpstr>Cambria Math</vt:lpstr>
      <vt:lpstr>Office 佈景主題</vt:lpstr>
      <vt:lpstr>Dynamic edit distance table under a general weighted cost function</vt:lpstr>
      <vt:lpstr>Abstract(1/2)</vt:lpstr>
      <vt:lpstr>Abstract(2/2)</vt:lpstr>
      <vt:lpstr>Edit Distance</vt:lpstr>
      <vt:lpstr>Kim and Park (2004)</vt:lpstr>
      <vt:lpstr>Kim and Park (2004)</vt:lpstr>
      <vt:lpstr>Kim and Park (2004)</vt:lpstr>
      <vt:lpstr>Kim and Park (2004)</vt:lpstr>
      <vt:lpstr>Kim and Park (2004)</vt:lpstr>
      <vt:lpstr>Kim and Park (2004)</vt:lpstr>
      <vt:lpstr>Kim and Park (2004)</vt:lpstr>
      <vt:lpstr>A simple algorithm under a general cost function</vt:lpstr>
      <vt:lpstr>A simple algorithm under a general cost function</vt:lpstr>
      <vt:lpstr>A simple algorithm under a general cost function</vt:lpstr>
      <vt:lpstr>A simple algorithm under a general cost function</vt:lpstr>
      <vt:lpstr>A simple algorithm under a general cost function</vt:lpstr>
      <vt:lpstr>A simple algorithm under a general cost function</vt:lpstr>
      <vt:lpstr>A simple algorithm under a general cost function</vt:lpstr>
      <vt:lpstr>A simple algorithm under a general cost function</vt:lpstr>
      <vt:lpstr>A simple algorithm under a general cost function</vt:lpstr>
      <vt:lpstr>A simple algorithm under a general cost function</vt:lpstr>
      <vt:lpstr>A simple algorithm under a general cost function</vt:lpstr>
      <vt:lpstr>A simple algorithm under a general cost function</vt:lpstr>
      <vt:lpstr>A simple algorithm under a general cost function</vt:lpstr>
      <vt:lpstr>A simple algorithm under a general cost function</vt:lpstr>
      <vt:lpstr>A simple algorithm under a general cost function</vt:lpstr>
      <vt:lpstr>A simple algorithm under a general cost function</vt:lpstr>
      <vt:lpstr>A simple algorithm under a general cost function</vt:lpstr>
      <vt:lpstr>A simple algorithm under a general cost function</vt:lpstr>
      <vt:lpstr>Experimental Result</vt:lpstr>
      <vt:lpstr>Experimental Result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edit distance table under a general weighted cost function</dc:title>
  <dc:creator>Caros</dc:creator>
  <cp:lastModifiedBy>pplab-class</cp:lastModifiedBy>
  <cp:revision>68</cp:revision>
  <dcterms:created xsi:type="dcterms:W3CDTF">2018-04-24T05:24:43Z</dcterms:created>
  <dcterms:modified xsi:type="dcterms:W3CDTF">2018-04-24T11:27:29Z</dcterms:modified>
</cp:coreProperties>
</file>