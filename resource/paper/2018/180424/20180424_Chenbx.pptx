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256" r:id="rId2"/>
    <p:sldId id="276" r:id="rId3"/>
    <p:sldId id="306" r:id="rId4"/>
    <p:sldId id="296" r:id="rId5"/>
    <p:sldId id="304" r:id="rId6"/>
    <p:sldId id="307" r:id="rId7"/>
    <p:sldId id="308" r:id="rId8"/>
    <p:sldId id="302" r:id="rId9"/>
    <p:sldId id="309" r:id="rId10"/>
    <p:sldId id="310"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88835" autoAdjust="0"/>
  </p:normalViewPr>
  <p:slideViewPr>
    <p:cSldViewPr snapToGrid="0">
      <p:cViewPr varScale="1">
        <p:scale>
          <a:sx n="73" d="100"/>
          <a:sy n="73" d="100"/>
        </p:scale>
        <p:origin x="90" y="8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7986E-2186-42F2-A1F5-4424A07DD94D}" type="datetimeFigureOut">
              <a:rPr lang="zh-TW" altLang="en-US" smtClean="0"/>
              <a:t>2018/4/24</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014D64-E656-4722-AF7D-B3D63D1F5DC9}" type="slidenum">
              <a:rPr lang="zh-TW" altLang="en-US" smtClean="0"/>
              <a:t>‹#›</a:t>
            </a:fld>
            <a:endParaRPr lang="zh-TW" altLang="en-US"/>
          </a:p>
        </p:txBody>
      </p:sp>
    </p:spTree>
    <p:extLst>
      <p:ext uri="{BB962C8B-B14F-4D97-AF65-F5344CB8AC3E}">
        <p14:creationId xmlns:p14="http://schemas.microsoft.com/office/powerpoint/2010/main" val="1681973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1</a:t>
            </a:fld>
            <a:endParaRPr lang="zh-TW" altLang="en-US"/>
          </a:p>
        </p:txBody>
      </p:sp>
    </p:spTree>
    <p:extLst>
      <p:ext uri="{BB962C8B-B14F-4D97-AF65-F5344CB8AC3E}">
        <p14:creationId xmlns:p14="http://schemas.microsoft.com/office/powerpoint/2010/main" val="1499810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2</a:t>
            </a:fld>
            <a:endParaRPr lang="zh-TW" altLang="en-US"/>
          </a:p>
        </p:txBody>
      </p:sp>
    </p:spTree>
    <p:extLst>
      <p:ext uri="{BB962C8B-B14F-4D97-AF65-F5344CB8AC3E}">
        <p14:creationId xmlns:p14="http://schemas.microsoft.com/office/powerpoint/2010/main" val="3394517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3</a:t>
            </a:fld>
            <a:endParaRPr lang="zh-TW" altLang="en-US"/>
          </a:p>
        </p:txBody>
      </p:sp>
    </p:spTree>
    <p:extLst>
      <p:ext uri="{BB962C8B-B14F-4D97-AF65-F5344CB8AC3E}">
        <p14:creationId xmlns:p14="http://schemas.microsoft.com/office/powerpoint/2010/main" val="3262901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4</a:t>
            </a:fld>
            <a:endParaRPr lang="zh-TW" altLang="en-US"/>
          </a:p>
        </p:txBody>
      </p:sp>
    </p:spTree>
    <p:extLst>
      <p:ext uri="{BB962C8B-B14F-4D97-AF65-F5344CB8AC3E}">
        <p14:creationId xmlns:p14="http://schemas.microsoft.com/office/powerpoint/2010/main" val="790652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5</a:t>
            </a:fld>
            <a:endParaRPr lang="zh-TW" altLang="en-US"/>
          </a:p>
        </p:txBody>
      </p:sp>
    </p:spTree>
    <p:extLst>
      <p:ext uri="{BB962C8B-B14F-4D97-AF65-F5344CB8AC3E}">
        <p14:creationId xmlns:p14="http://schemas.microsoft.com/office/powerpoint/2010/main" val="267250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smtClean="0">
                <a:solidFill>
                  <a:schemeClr val="tx1"/>
                </a:solidFill>
                <a:latin typeface="+mn-lt"/>
                <a:ea typeface="+mn-ea"/>
                <a:cs typeface="+mn-cs"/>
              </a:rPr>
              <a:t>in the rest of the work we shall always use the symbols DTW and IDTW (instead of NDTW and NIDTW) with the assumption that the data is always normalized before computation of the distance  measure.</a:t>
            </a:r>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6</a:t>
            </a:fld>
            <a:endParaRPr lang="zh-TW" altLang="en-US"/>
          </a:p>
        </p:txBody>
      </p:sp>
    </p:spTree>
    <p:extLst>
      <p:ext uri="{BB962C8B-B14F-4D97-AF65-F5344CB8AC3E}">
        <p14:creationId xmlns:p14="http://schemas.microsoft.com/office/powerpoint/2010/main" val="2720405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BB014D64-E656-4722-AF7D-B3D63D1F5DC9}" type="slidenum">
              <a:rPr lang="zh-TW" altLang="en-US" smtClean="0"/>
              <a:t>7</a:t>
            </a:fld>
            <a:endParaRPr lang="zh-TW" altLang="en-US"/>
          </a:p>
        </p:txBody>
      </p:sp>
    </p:spTree>
    <p:extLst>
      <p:ext uri="{BB962C8B-B14F-4D97-AF65-F5344CB8AC3E}">
        <p14:creationId xmlns:p14="http://schemas.microsoft.com/office/powerpoint/2010/main" val="48951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978346F-159C-4E5E-A9BC-B4FAF4B8F4AD}" type="datetime1">
              <a:rPr lang="zh-TW" altLang="en-US" smtClean="0"/>
              <a:t>2018/4/24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1564647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B5A45FE-5976-4612-A121-9F7FA6C65956}" type="datetime1">
              <a:rPr lang="zh-TW" altLang="en-US" smtClean="0"/>
              <a:t>2018/4/24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endParaRPr lang="zh-TW" altLang="en-US" dirty="0"/>
          </a:p>
        </p:txBody>
      </p:sp>
    </p:spTree>
    <p:extLst>
      <p:ext uri="{BB962C8B-B14F-4D97-AF65-F5344CB8AC3E}">
        <p14:creationId xmlns:p14="http://schemas.microsoft.com/office/powerpoint/2010/main" val="10837517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10E126F-36C8-4C5A-8698-9E4A53D999E5}" type="datetime1">
              <a:rPr lang="zh-TW" altLang="en-US" smtClean="0"/>
              <a:t>2018/4/24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418659647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19918B67-291F-45ED-BF8F-60129A7CAFCF}" type="datetime1">
              <a:rPr lang="zh-TW" altLang="en-US" smtClean="0"/>
              <a:t>2018/4/24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12085235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49F5E44-883D-47F1-80F2-BBD83A64BF20}" type="datetime1">
              <a:rPr lang="zh-TW" altLang="en-US" smtClean="0"/>
              <a:t>2018/4/24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51000604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81DBBE2-5504-4D7F-9CC4-F2C58F132876}" type="datetime1">
              <a:rPr lang="zh-TW" altLang="en-US" smtClean="0"/>
              <a:t>2018/4/24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8099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CE0DA84-72B1-4070-A970-AE6E5670C53F}" type="datetime1">
              <a:rPr lang="zh-TW" altLang="en-US" smtClean="0"/>
              <a:t>2018/4/24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021298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A05BC297-F23E-49C2-9FD2-1DB5A3D63A00}" type="datetime1">
              <a:rPr lang="zh-TW" altLang="en-US" smtClean="0"/>
              <a:t>2018/4/24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355461219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660853A-160A-4D81-8E79-297A6811D44C}" type="datetime1">
              <a:rPr lang="zh-TW" altLang="en-US" smtClean="0"/>
              <a:t>2018/4/24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403726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0AFD68B-4BF6-411C-BDB8-9879BE85A868}" type="datetime1">
              <a:rPr lang="zh-TW" altLang="en-US" smtClean="0"/>
              <a:t>2018/4/24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048019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09472C-E7F7-4061-8A6B-A2FC31C7A013}" type="datetime1">
              <a:rPr lang="zh-TW" altLang="en-US" smtClean="0"/>
              <a:t>2018/4/24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2973835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AA8E3B-251A-4826-B76B-2ED6FD8BECB3}" type="datetime1">
              <a:rPr lang="zh-TW" altLang="en-US" smtClean="0"/>
              <a:t>2018/4/24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97ABC-EF3A-4183-AE2C-72E330AF586D}" type="slidenum">
              <a:rPr lang="zh-TW" altLang="en-US" smtClean="0"/>
              <a:t>‹#›</a:t>
            </a:fld>
            <a:endParaRPr lang="zh-TW" altLang="en-US"/>
          </a:p>
        </p:txBody>
      </p:sp>
    </p:spTree>
    <p:extLst>
      <p:ext uri="{BB962C8B-B14F-4D97-AF65-F5344CB8AC3E}">
        <p14:creationId xmlns:p14="http://schemas.microsoft.com/office/powerpoint/2010/main" val="626280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18680" y="559444"/>
            <a:ext cx="10340151" cy="1819245"/>
          </a:xfrm>
        </p:spPr>
        <p:txBody>
          <a:bodyPr anchor="ctr">
            <a:noAutofit/>
          </a:bodyPr>
          <a:lstStyle/>
          <a:p>
            <a:r>
              <a:rPr lang="en-US" altLang="zh-TW" sz="4200" b="1" dirty="0">
                <a:latin typeface="Cambria Math" panose="02040503050406030204" pitchFamily="18" charset="0"/>
                <a:ea typeface="Cambria Math" panose="02040503050406030204" pitchFamily="18" charset="0"/>
                <a:cs typeface="Times New Roman" panose="02020603050405020304" pitchFamily="18" charset="0"/>
              </a:rPr>
              <a:t>Univariate and </a:t>
            </a:r>
            <a: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t>Multivariate </a:t>
            </a:r>
            <a: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t/>
            </a:r>
            <a:b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br>
            <a: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t>Time Series </a:t>
            </a:r>
            <a: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t>Classification </a:t>
            </a:r>
            <a:r>
              <a:rPr lang="en-US" altLang="zh-TW" sz="4200" b="1" dirty="0">
                <a:latin typeface="Cambria Math" panose="02040503050406030204" pitchFamily="18" charset="0"/>
                <a:ea typeface="Cambria Math" panose="02040503050406030204" pitchFamily="18" charset="0"/>
                <a:cs typeface="Times New Roman" panose="02020603050405020304" pitchFamily="18" charset="0"/>
              </a:rPr>
              <a:t>with </a:t>
            </a:r>
            <a: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t/>
            </a:r>
            <a:b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br>
            <a:r>
              <a:rPr lang="en-US" altLang="zh-TW" sz="4200" b="1" dirty="0" smtClean="0">
                <a:latin typeface="Cambria Math" panose="02040503050406030204" pitchFamily="18" charset="0"/>
                <a:ea typeface="Cambria Math" panose="02040503050406030204" pitchFamily="18" charset="0"/>
                <a:cs typeface="Times New Roman" panose="02020603050405020304" pitchFamily="18" charset="0"/>
              </a:rPr>
              <a:t>Parametric Integral Dynamic Time Warping</a:t>
            </a:r>
            <a:endParaRPr lang="zh-TW" altLang="en-US" sz="4200" b="1" dirty="0">
              <a:latin typeface="Cambria Math" panose="02040503050406030204" pitchFamily="18" charset="0"/>
              <a:cs typeface="Times New Roman" panose="02020603050405020304" pitchFamily="18" charset="0"/>
            </a:endParaRPr>
          </a:p>
        </p:txBody>
      </p:sp>
      <p:sp>
        <p:nvSpPr>
          <p:cNvPr id="3" name="副標題 2"/>
          <p:cNvSpPr>
            <a:spLocks noGrp="1"/>
          </p:cNvSpPr>
          <p:nvPr>
            <p:ph type="subTitle" idx="1"/>
          </p:nvPr>
        </p:nvSpPr>
        <p:spPr>
          <a:xfrm>
            <a:off x="7959305" y="5620621"/>
            <a:ext cx="3893389" cy="935455"/>
          </a:xfrm>
        </p:spPr>
        <p:txBody>
          <a:bodyPr/>
          <a:lstStyle/>
          <a:p>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Presenter</a:t>
            </a:r>
            <a:r>
              <a:rPr lang="zh-TW" altLang="en-US" dirty="0" smtClean="0">
                <a:latin typeface="Cambria Math" panose="02040503050406030204" pitchFamily="18" charset="0"/>
                <a:cs typeface="Times New Roman" panose="02020603050405020304" pitchFamily="18" charset="0"/>
              </a:rPr>
              <a:t> </a:t>
            </a:r>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a:t>
            </a:r>
            <a:r>
              <a:rPr lang="zh-TW" altLang="en-US" dirty="0" smtClean="0">
                <a:latin typeface="Cambria Math" panose="02040503050406030204" pitchFamily="18" charset="0"/>
                <a:cs typeface="Times New Roman" panose="02020603050405020304" pitchFamily="18" charset="0"/>
              </a:rPr>
              <a:t> </a:t>
            </a:r>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Bo-Xian Chen</a:t>
            </a:r>
          </a:p>
          <a:p>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  Date : </a:t>
            </a:r>
            <a:fld id="{DA00540B-99AF-4B5E-9AEF-55C0985778C8}" type="datetime1">
              <a:rPr lang="zh-TW" altLang="en-US" smtClean="0">
                <a:latin typeface="Cambria Math" panose="02040503050406030204" pitchFamily="18" charset="0"/>
                <a:cs typeface="Times New Roman" panose="02020603050405020304" pitchFamily="18" charset="0"/>
              </a:rPr>
              <a:t>2018/4/24</a:t>
            </a:fld>
            <a:endParaRPr lang="zh-TW" altLang="en-US" dirty="0">
              <a:latin typeface="Cambria Math" panose="02040503050406030204" pitchFamily="18" charset="0"/>
              <a:cs typeface="Times New Roman" panose="02020603050405020304" pitchFamily="18" charset="0"/>
            </a:endParaRPr>
          </a:p>
        </p:txBody>
      </p:sp>
      <p:sp>
        <p:nvSpPr>
          <p:cNvPr id="4" name="標題 1"/>
          <p:cNvSpPr txBox="1">
            <a:spLocks/>
          </p:cNvSpPr>
          <p:nvPr/>
        </p:nvSpPr>
        <p:spPr>
          <a:xfrm>
            <a:off x="991843" y="3616817"/>
            <a:ext cx="10208313" cy="1109919"/>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TW" sz="2449" b="1" dirty="0">
                <a:solidFill>
                  <a:srgbClr val="898989"/>
                </a:solidFill>
                <a:highlight>
                  <a:scrgbClr r="0" g="0" b="0">
                    <a:alpha val="0"/>
                  </a:scrgbClr>
                </a:highlight>
                <a:latin typeface="Cambria Math" panose="02040503050406030204" pitchFamily="18" charset="0"/>
                <a:ea typeface="Cambria Math" panose="02040503050406030204" pitchFamily="18" charset="0"/>
                <a:cs typeface="Times New Roman" panose="02020603050405020304" pitchFamily="18" charset="0"/>
              </a:rPr>
              <a:t>M. </a:t>
            </a:r>
            <a:r>
              <a:rPr lang="en-US" altLang="zh-TW" sz="2449" b="1" dirty="0" err="1" smtClean="0">
                <a:solidFill>
                  <a:srgbClr val="898989"/>
                </a:solidFill>
                <a:highlight>
                  <a:scrgbClr r="0" g="0" b="0">
                    <a:alpha val="0"/>
                  </a:scrgbClr>
                </a:highlight>
                <a:latin typeface="Cambria Math" panose="02040503050406030204" pitchFamily="18" charset="0"/>
                <a:ea typeface="Cambria Math" panose="02040503050406030204" pitchFamily="18" charset="0"/>
                <a:cs typeface="Times New Roman" panose="02020603050405020304" pitchFamily="18" charset="0"/>
              </a:rPr>
              <a:t>Łuczak</a:t>
            </a:r>
            <a:endParaRPr lang="en-US" altLang="zh-TW" sz="2449" b="1" dirty="0" smtClean="0">
              <a:solidFill>
                <a:srgbClr val="898989"/>
              </a:solidFill>
              <a:highlight>
                <a:scrgbClr r="0" g="0" b="0">
                  <a:alpha val="0"/>
                </a:scrgbClr>
              </a:highlight>
              <a:latin typeface="Cambria Math" panose="02040503050406030204" pitchFamily="18" charset="0"/>
              <a:ea typeface="Cambria Math" panose="02040503050406030204" pitchFamily="18" charset="0"/>
              <a:cs typeface="Times New Roman" panose="02020603050405020304" pitchFamily="18" charset="0"/>
            </a:endParaRPr>
          </a:p>
          <a:p>
            <a:pPr algn="ctr"/>
            <a:endParaRPr lang="en-US" altLang="zh-TW" sz="2449" b="1" dirty="0" smtClean="0">
              <a:solidFill>
                <a:srgbClr val="898989"/>
              </a:solidFill>
              <a:highlight>
                <a:scrgbClr r="0" g="0" b="0">
                  <a:alpha val="0"/>
                </a:scrgbClr>
              </a:highlight>
              <a:latin typeface="Cambria Math" panose="02040503050406030204" pitchFamily="18" charset="0"/>
              <a:ea typeface="Cambria Math" panose="02040503050406030204" pitchFamily="18" charset="0"/>
              <a:cs typeface="Times New Roman" panose="02020603050405020304" pitchFamily="18" charset="0"/>
            </a:endParaRPr>
          </a:p>
          <a:p>
            <a:pPr algn="ctr"/>
            <a:r>
              <a:rPr lang="en-US" altLang="zh-TW" sz="2449" b="1" dirty="0">
                <a:solidFill>
                  <a:srgbClr val="898989"/>
                </a:solidFill>
                <a:highlight>
                  <a:scrgbClr r="0" g="0" b="0">
                    <a:alpha val="0"/>
                  </a:scrgbClr>
                </a:highlight>
                <a:latin typeface="Cambria Math" panose="02040503050406030204" pitchFamily="18" charset="0"/>
                <a:ea typeface="Cambria Math" panose="02040503050406030204" pitchFamily="18" charset="0"/>
                <a:cs typeface="Times New Roman" panose="02020603050405020304" pitchFamily="18" charset="0"/>
              </a:rPr>
              <a:t>Journal of Intelligent &amp; Fuzzy Systems, vol. 33, no. 4, pp. 2403-2413, </a:t>
            </a:r>
            <a:r>
              <a:rPr lang="en-US" altLang="zh-TW" sz="2449" b="1" dirty="0" smtClean="0">
                <a:solidFill>
                  <a:srgbClr val="898989"/>
                </a:solidFill>
                <a:highlight>
                  <a:scrgbClr r="0" g="0" b="0">
                    <a:alpha val="0"/>
                  </a:scrgbClr>
                </a:highlight>
                <a:latin typeface="Cambria Math" panose="02040503050406030204" pitchFamily="18" charset="0"/>
                <a:ea typeface="Cambria Math" panose="02040503050406030204" pitchFamily="18" charset="0"/>
                <a:cs typeface="Times New Roman" panose="02020603050405020304" pitchFamily="18" charset="0"/>
              </a:rPr>
              <a:t>2017</a:t>
            </a:r>
          </a:p>
        </p:txBody>
      </p:sp>
    </p:spTree>
    <p:extLst>
      <p:ext uri="{BB962C8B-B14F-4D97-AF65-F5344CB8AC3E}">
        <p14:creationId xmlns:p14="http://schemas.microsoft.com/office/powerpoint/2010/main" val="17017005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189279"/>
            <a:ext cx="10515600" cy="870551"/>
          </a:xfrm>
        </p:spPr>
        <p:txBody>
          <a:bodyPr/>
          <a:lstStyle/>
          <a:p>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Abstract(1/2)</a:t>
            </a:r>
            <a:endParaRPr lang="zh-TW" altLang="en-US" dirty="0">
              <a:latin typeface="Cambria Math" panose="02040503050406030204" pitchFamily="18" charset="0"/>
              <a:cs typeface="Times New Roman" panose="02020603050405020304" pitchFamily="18" charset="0"/>
            </a:endParaRPr>
          </a:p>
        </p:txBody>
      </p:sp>
      <p:sp>
        <p:nvSpPr>
          <p:cNvPr id="3" name="內容版面配置區 2"/>
          <p:cNvSpPr>
            <a:spLocks noGrp="1"/>
          </p:cNvSpPr>
          <p:nvPr>
            <p:ph idx="1"/>
          </p:nvPr>
        </p:nvSpPr>
        <p:spPr>
          <a:xfrm>
            <a:off x="540695" y="972044"/>
            <a:ext cx="11110609" cy="5389059"/>
          </a:xfrm>
        </p:spPr>
        <p:txBody>
          <a:bodyPr>
            <a:noAutofit/>
          </a:bodyPr>
          <a:lstStyle/>
          <a:p>
            <a:pPr marL="0" indent="0" algn="just">
              <a:lnSpc>
                <a:spcPct val="100000"/>
              </a:lnSpc>
              <a:buNone/>
            </a:pPr>
            <a:r>
              <a:rPr lang="en-US" altLang="zh-TW" sz="2600" dirty="0">
                <a:latin typeface="Cambria Math" panose="02040503050406030204" pitchFamily="18" charset="0"/>
                <a:cs typeface="Times New Roman" panose="02020603050405020304" pitchFamily="18" charset="0"/>
              </a:rPr>
              <a:t>The dynamic time warping (DTW) distance measure is one of the popular and efficient distance measures used in algorithms of time series classification. It frequently occurs with different kinds of transformations of input data. In this paper we propose a combination of the DTW distance measure with a (discrete) integral transformation. This means that the new distance measure IDTW is simply calculated as the value of DTW on the integrated input time series. However, this design means that the distance cannot in itself give good classification results. We therefore propose to construct a parametric integral dynamic time warping distance measure IDDTW which is a parametric combination of the distances DTW and IDTW. Such a combined distance is used in the nearest neighbor (1NN) classification method in the case of both univariate and multivariate time series analysis. </a:t>
            </a:r>
            <a:endParaRPr lang="zh-TW" altLang="en-US" sz="2600" dirty="0">
              <a:latin typeface="Cambria Math" panose="020405030504060302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a:xfrm>
            <a:off x="9009185" y="6368298"/>
            <a:ext cx="2743200" cy="365125"/>
          </a:xfrm>
        </p:spPr>
        <p:txBody>
          <a:bodyPr/>
          <a:lstStyle/>
          <a:p>
            <a:fld id="{C8A97ABC-EF3A-4183-AE2C-72E330AF586D}" type="slidenum">
              <a:rPr lang="zh-TW" altLang="en-US" smtClean="0"/>
              <a:t>2</a:t>
            </a:fld>
            <a:endParaRPr lang="zh-TW" altLang="en-US" dirty="0"/>
          </a:p>
        </p:txBody>
      </p:sp>
    </p:spTree>
    <p:extLst>
      <p:ext uri="{BB962C8B-B14F-4D97-AF65-F5344CB8AC3E}">
        <p14:creationId xmlns:p14="http://schemas.microsoft.com/office/powerpoint/2010/main" val="3984584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189279"/>
            <a:ext cx="10515600" cy="870551"/>
          </a:xfrm>
        </p:spPr>
        <p:txBody>
          <a:bodyPr/>
          <a:lstStyle/>
          <a:p>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Abstract(2/2)</a:t>
            </a:r>
            <a:endParaRPr lang="zh-TW" altLang="en-US" dirty="0">
              <a:latin typeface="Cambria Math" panose="02040503050406030204" pitchFamily="18" charset="0"/>
              <a:cs typeface="Times New Roman" panose="02020603050405020304" pitchFamily="18" charset="0"/>
            </a:endParaRPr>
          </a:p>
        </p:txBody>
      </p:sp>
      <p:sp>
        <p:nvSpPr>
          <p:cNvPr id="3" name="內容版面配置區 2"/>
          <p:cNvSpPr>
            <a:spLocks noGrp="1"/>
          </p:cNvSpPr>
          <p:nvPr>
            <p:ph idx="1"/>
          </p:nvPr>
        </p:nvSpPr>
        <p:spPr>
          <a:xfrm>
            <a:off x="540695" y="972044"/>
            <a:ext cx="11110609" cy="5389059"/>
          </a:xfrm>
        </p:spPr>
        <p:txBody>
          <a:bodyPr>
            <a:noAutofit/>
          </a:bodyPr>
          <a:lstStyle/>
          <a:p>
            <a:pPr marL="0" indent="0" algn="just">
              <a:lnSpc>
                <a:spcPct val="100000"/>
              </a:lnSpc>
              <a:buNone/>
            </a:pPr>
            <a:r>
              <a:rPr lang="en-US" altLang="zh-TW" sz="2600" dirty="0">
                <a:latin typeface="Cambria Math" panose="02040503050406030204" pitchFamily="18" charset="0"/>
                <a:cs typeface="Times New Roman" panose="02020603050405020304" pitchFamily="18" charset="0"/>
              </a:rPr>
              <a:t>Computational experiments performed on both one-dimensional and multidimensional datasets show that this approach reduces the classification error significantly in comparison with the component methods. The parametric approach allows the new distance to be adapted to each dataset, while showing no significant overfitting effects. The contribution and the main motivation of the paper is to show that the simple transformation as the integral transform can include a bit information about examined time series data and can be used to significantly improve performance of the classification process both for univariate and multivariate time series data. The results are confirmed by graphical and statistical comparisons.</a:t>
            </a:r>
            <a:endParaRPr lang="zh-TW" altLang="en-US" sz="2600" dirty="0">
              <a:latin typeface="Cambria Math" panose="020405030504060302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a:xfrm>
            <a:off x="9009185" y="6368298"/>
            <a:ext cx="2743200" cy="365125"/>
          </a:xfrm>
        </p:spPr>
        <p:txBody>
          <a:bodyPr/>
          <a:lstStyle/>
          <a:p>
            <a:fld id="{C8A97ABC-EF3A-4183-AE2C-72E330AF586D}" type="slidenum">
              <a:rPr lang="zh-TW" altLang="en-US" smtClean="0"/>
              <a:t>3</a:t>
            </a:fld>
            <a:endParaRPr lang="zh-TW" altLang="en-US" dirty="0"/>
          </a:p>
        </p:txBody>
      </p:sp>
    </p:spTree>
    <p:extLst>
      <p:ext uri="{BB962C8B-B14F-4D97-AF65-F5344CB8AC3E}">
        <p14:creationId xmlns:p14="http://schemas.microsoft.com/office/powerpoint/2010/main" val="28028807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189279"/>
            <a:ext cx="10515600" cy="870551"/>
          </a:xfrm>
        </p:spPr>
        <p:txBody>
          <a:bodyPr/>
          <a:lstStyle/>
          <a:p>
            <a:pPr algn="ctr"/>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Integral dynamic time warping(IDTW)</a:t>
            </a:r>
            <a:endParaRPr lang="zh-TW" altLang="en-US" dirty="0">
              <a:latin typeface="Cambria Math" panose="020405030504060302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a:xfrm>
            <a:off x="9009185" y="6368298"/>
            <a:ext cx="2743200" cy="365125"/>
          </a:xfrm>
        </p:spPr>
        <p:txBody>
          <a:bodyPr/>
          <a:lstStyle/>
          <a:p>
            <a:fld id="{C8A97ABC-EF3A-4183-AE2C-72E330AF586D}" type="slidenum">
              <a:rPr lang="zh-TW" altLang="en-US" smtClean="0"/>
              <a:t>4</a:t>
            </a:fld>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3734754" y="5183242"/>
                <a:ext cx="4541628" cy="13676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𝑦</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m:t>
                      </m:r>
                      <m:nary>
                        <m:naryPr>
                          <m:chr m:val="∑"/>
                          <m:ctrlPr>
                            <a:rPr lang="en-US" altLang="zh-TW" sz="2800" b="0" i="1" smtClean="0">
                              <a:latin typeface="Cambria Math" panose="02040503050406030204" pitchFamily="18" charset="0"/>
                            </a:rPr>
                          </m:ctrlPr>
                        </m:naryPr>
                        <m:sub>
                          <m:r>
                            <a:rPr lang="en-US" altLang="zh-TW" sz="2800" b="0" i="1" smtClean="0">
                              <a:latin typeface="Cambria Math" panose="02040503050406030204" pitchFamily="18" charset="0"/>
                            </a:rPr>
                            <m:t>𝑗</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𝑖</m:t>
                          </m:r>
                        </m:sup>
                        <m:e>
                          <m:r>
                            <a:rPr lang="en-US" altLang="zh-TW" sz="2800" b="0" i="1" smtClean="0">
                              <a:latin typeface="Cambria Math" panose="02040503050406030204" pitchFamily="18" charset="0"/>
                            </a:rPr>
                            <m:t>𝑥</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𝑗</m:t>
                              </m:r>
                            </m:e>
                          </m:d>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=1,2,…,</m:t>
                          </m:r>
                          <m:r>
                            <a:rPr lang="en-US" altLang="zh-TW" sz="2800" b="0" i="1" smtClean="0">
                              <a:latin typeface="Cambria Math" panose="02040503050406030204" pitchFamily="18" charset="0"/>
                            </a:rPr>
                            <m:t>𝑛</m:t>
                          </m:r>
                        </m:e>
                      </m:nary>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3734754" y="5183242"/>
                <a:ext cx="4541628" cy="1367618"/>
              </a:xfrm>
              <a:prstGeom prst="rect">
                <a:avLst/>
              </a:prstGeom>
              <a:blipFill rotWithShape="0">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2860412" y="1490602"/>
                <a:ext cx="5826660" cy="23022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𝐼𝐷𝑇𝑊</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𝐷𝑇𝑊</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𝐼</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𝑥</m:t>
                              </m:r>
                            </m:e>
                          </m:d>
                        </m:e>
                      </m:d>
                    </m:oMath>
                  </m:oMathPara>
                </a14:m>
                <a:endParaRPr lang="en-US" altLang="zh-TW" sz="2800" b="0" dirty="0" smtClean="0"/>
              </a:p>
              <a:p>
                <a:endParaRPr lang="en-US" altLang="zh-TW" sz="2800" b="0" dirty="0" smtClean="0"/>
              </a:p>
              <a:p>
                <a:pPr/>
                <a:r>
                  <a:rPr lang="en-US" altLang="zh-TW" sz="2800" b="0" dirty="0" smtClean="0"/>
                  <a:t/>
                </a:r>
                <a:br>
                  <a:rPr lang="en-US" altLang="zh-TW" sz="2800" b="0" dirty="0" smtClean="0"/>
                </a:b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𝑦</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1</m:t>
                          </m:r>
                        </m:e>
                      </m:d>
                    </m:oMath>
                    <m:oMath xmlns:m="http://schemas.openxmlformats.org/officeDocument/2006/math">
                      <m:r>
                        <a:rPr lang="en-US" altLang="zh-TW" sz="2800" b="0" i="1" smtClean="0">
                          <a:latin typeface="Cambria Math" panose="02040503050406030204" pitchFamily="18" charset="0"/>
                        </a:rPr>
                        <m:t>𝑦</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e>
                      </m:d>
                      <m:r>
                        <a:rPr lang="en-US" altLang="zh-TW" sz="2800" b="0" i="1" smtClean="0">
                          <a:latin typeface="Cambria Math" panose="02040503050406030204" pitchFamily="18" charset="0"/>
                        </a:rPr>
                        <m:t>=</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e>
                      </m:d>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𝑖</m:t>
                          </m:r>
                        </m:e>
                      </m:d>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=2, 3, …, </m:t>
                      </m:r>
                      <m:r>
                        <a:rPr lang="en-US" altLang="zh-TW" sz="2800" b="0" i="1" smtClean="0">
                          <a:latin typeface="Cambria Math" panose="02040503050406030204" pitchFamily="18" charset="0"/>
                        </a:rPr>
                        <m:t>𝑛</m:t>
                      </m:r>
                    </m:oMath>
                  </m:oMathPara>
                </a14:m>
                <a:endParaRPr lang="en-US" altLang="zh-TW" sz="2800" b="0" dirty="0" smtClean="0"/>
              </a:p>
            </p:txBody>
          </p:sp>
        </mc:Choice>
        <mc:Fallback xmlns="">
          <p:sp>
            <p:nvSpPr>
              <p:cNvPr id="12" name="文字方塊 11"/>
              <p:cNvSpPr txBox="1">
                <a:spLocks noRot="1" noChangeAspect="1" noMove="1" noResize="1" noEditPoints="1" noAdjustHandles="1" noChangeArrowheads="1" noChangeShapeType="1" noTextEdit="1"/>
              </p:cNvSpPr>
              <p:nvPr/>
            </p:nvSpPr>
            <p:spPr>
              <a:xfrm>
                <a:off x="2860412" y="1490602"/>
                <a:ext cx="5826660" cy="230223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53498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189279"/>
            <a:ext cx="10515600" cy="870551"/>
          </a:xfrm>
        </p:spPr>
        <p:txBody>
          <a:bodyPr/>
          <a:lstStyle/>
          <a:p>
            <a:pPr algn="ctr"/>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Multivariate dynamic time warping</a:t>
            </a:r>
            <a:endParaRPr lang="zh-TW" altLang="en-US" dirty="0">
              <a:latin typeface="Cambria Math" panose="020405030504060302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a:xfrm>
            <a:off x="9009185" y="6368298"/>
            <a:ext cx="2743200" cy="365125"/>
          </a:xfrm>
        </p:spPr>
        <p:txBody>
          <a:bodyPr/>
          <a:lstStyle/>
          <a:p>
            <a:fld id="{C8A97ABC-EF3A-4183-AE2C-72E330AF586D}" type="slidenum">
              <a:rPr lang="zh-TW" altLang="en-US" smtClean="0"/>
              <a:t>5</a:t>
            </a:fld>
            <a:endParaRPr lang="zh-TW" altLang="en-US" dirty="0"/>
          </a:p>
        </p:txBody>
      </p:sp>
      <mc:AlternateContent xmlns:mc="http://schemas.openxmlformats.org/markup-compatibility/2006" xmlns:a14="http://schemas.microsoft.com/office/drawing/2010/main">
        <mc:Choice Requires="a14">
          <p:sp>
            <p:nvSpPr>
              <p:cNvPr id="13" name="文字方塊 12"/>
              <p:cNvSpPr txBox="1"/>
              <p:nvPr/>
            </p:nvSpPr>
            <p:spPr>
              <a:xfrm>
                <a:off x="928749" y="1136820"/>
                <a:ext cx="10167014" cy="23825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TW" sz="3000" b="0" i="1" smtClean="0">
                          <a:latin typeface="Cambria Math" panose="02040503050406030204" pitchFamily="18" charset="0"/>
                        </a:rPr>
                        <m:t>𝑋</m:t>
                      </m:r>
                      <m:r>
                        <a:rPr lang="en-US" altLang="zh-TW" sz="3000" b="0" i="1" smtClean="0">
                          <a:latin typeface="Cambria Math" panose="02040503050406030204" pitchFamily="18" charset="0"/>
                        </a:rPr>
                        <m:t>=</m:t>
                      </m:r>
                      <m:d>
                        <m:dPr>
                          <m:begChr m:val="{"/>
                          <m:endChr m:val="}"/>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𝑋</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𝑖</m:t>
                              </m:r>
                            </m:e>
                          </m:d>
                          <m:r>
                            <a:rPr lang="en-US" altLang="zh-TW" sz="3000" b="0" i="1" smtClean="0">
                              <a:latin typeface="Cambria Math" panose="02040503050406030204" pitchFamily="18" charset="0"/>
                            </a:rPr>
                            <m:t>=</m:t>
                          </m:r>
                          <m:d>
                            <m:dPr>
                              <m:ctrlPr>
                                <a:rPr lang="en-US" altLang="zh-TW" sz="3000" b="0" i="1" smtClean="0">
                                  <a:latin typeface="Cambria Math" panose="02040503050406030204" pitchFamily="18" charset="0"/>
                                </a:rPr>
                              </m:ctrlPr>
                            </m:dPr>
                            <m:e>
                              <m:sSub>
                                <m:sSubPr>
                                  <m:ctrlPr>
                                    <a:rPr lang="en-US" altLang="zh-TW" sz="3000" b="0" i="1" smtClean="0">
                                      <a:latin typeface="Cambria Math" panose="02040503050406030204" pitchFamily="18" charset="0"/>
                                    </a:rPr>
                                  </m:ctrlPr>
                                </m:sSubPr>
                                <m:e>
                                  <m:r>
                                    <a:rPr lang="en-US" altLang="zh-TW" sz="3000" b="0" i="1" smtClean="0">
                                      <a:latin typeface="Cambria Math" panose="02040503050406030204" pitchFamily="18" charset="0"/>
                                    </a:rPr>
                                    <m:t>𝑥</m:t>
                                  </m:r>
                                </m:e>
                                <m:sub>
                                  <m:r>
                                    <a:rPr lang="en-US" altLang="zh-TW" sz="3000" b="0" i="1" smtClean="0">
                                      <a:latin typeface="Cambria Math" panose="02040503050406030204" pitchFamily="18" charset="0"/>
                                    </a:rPr>
                                    <m:t>𝑖</m:t>
                                  </m:r>
                                </m:sub>
                              </m:sSub>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𝑖</m:t>
                                  </m:r>
                                </m:e>
                              </m:d>
                              <m:r>
                                <a:rPr lang="en-US" altLang="zh-TW" sz="3000" b="0" i="1" smtClean="0">
                                  <a:latin typeface="Cambria Math" panose="02040503050406030204" pitchFamily="18" charset="0"/>
                                </a:rPr>
                                <m:t>, </m:t>
                              </m:r>
                              <m:sSub>
                                <m:sSubPr>
                                  <m:ctrlPr>
                                    <a:rPr lang="en-US" altLang="zh-TW" sz="3000" b="0" i="1" smtClean="0">
                                      <a:latin typeface="Cambria Math" panose="02040503050406030204" pitchFamily="18" charset="0"/>
                                    </a:rPr>
                                  </m:ctrlPr>
                                </m:sSubPr>
                                <m:e>
                                  <m:r>
                                    <a:rPr lang="en-US" altLang="zh-TW" sz="3000" b="0" i="1" smtClean="0">
                                      <a:latin typeface="Cambria Math" panose="02040503050406030204" pitchFamily="18" charset="0"/>
                                    </a:rPr>
                                    <m:t>𝑥</m:t>
                                  </m:r>
                                </m:e>
                                <m:sub>
                                  <m:r>
                                    <a:rPr lang="en-US" altLang="zh-TW" sz="3000" b="0" i="1" smtClean="0">
                                      <a:latin typeface="Cambria Math" panose="02040503050406030204" pitchFamily="18" charset="0"/>
                                    </a:rPr>
                                    <m:t>2</m:t>
                                  </m:r>
                                </m:sub>
                              </m:sSub>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𝑖</m:t>
                                  </m:r>
                                </m:e>
                              </m:d>
                              <m:r>
                                <a:rPr lang="en-US" altLang="zh-TW" sz="3000" b="0" i="1" smtClean="0">
                                  <a:latin typeface="Cambria Math" panose="02040503050406030204" pitchFamily="18" charset="0"/>
                                </a:rPr>
                                <m:t>, …, </m:t>
                              </m:r>
                              <m:sSub>
                                <m:sSubPr>
                                  <m:ctrlPr>
                                    <a:rPr lang="en-US" altLang="zh-TW" sz="3000" b="0" i="1" smtClean="0">
                                      <a:latin typeface="Cambria Math" panose="02040503050406030204" pitchFamily="18" charset="0"/>
                                    </a:rPr>
                                  </m:ctrlPr>
                                </m:sSubPr>
                                <m:e>
                                  <m:r>
                                    <a:rPr lang="en-US" altLang="zh-TW" sz="3000" b="0" i="1" smtClean="0">
                                      <a:latin typeface="Cambria Math" panose="02040503050406030204" pitchFamily="18" charset="0"/>
                                    </a:rPr>
                                    <m:t>𝑥</m:t>
                                  </m:r>
                                </m:e>
                                <m:sub>
                                  <m:r>
                                    <a:rPr lang="en-US" altLang="zh-TW" sz="3000" b="0" i="1" smtClean="0">
                                      <a:latin typeface="Cambria Math" panose="02040503050406030204" pitchFamily="18" charset="0"/>
                                    </a:rPr>
                                    <m:t>𝑚</m:t>
                                  </m:r>
                                </m:sub>
                              </m:sSub>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𝑖</m:t>
                                  </m:r>
                                </m:e>
                              </m:d>
                            </m:e>
                          </m:d>
                          <m:r>
                            <a:rPr lang="en-US" altLang="zh-TW" sz="3000" b="0" i="1" smtClean="0">
                              <a:latin typeface="Cambria Math" panose="02040503050406030204" pitchFamily="18" charset="0"/>
                              <a:ea typeface="Cambria Math" panose="02040503050406030204" pitchFamily="18" charset="0"/>
                            </a:rPr>
                            <m:t>∈</m:t>
                          </m:r>
                          <m:sSup>
                            <m:sSupPr>
                              <m:ctrlPr>
                                <a:rPr lang="en-US" altLang="zh-TW" sz="3000" b="0" i="1" smtClean="0">
                                  <a:latin typeface="Cambria Math" panose="02040503050406030204" pitchFamily="18" charset="0"/>
                                  <a:ea typeface="Cambria Math" panose="02040503050406030204" pitchFamily="18" charset="0"/>
                                </a:rPr>
                              </m:ctrlPr>
                            </m:sSupPr>
                            <m:e>
                              <m:r>
                                <a:rPr lang="en-US" altLang="zh-TW" sz="3000" b="0" i="1" smtClean="0">
                                  <a:latin typeface="Cambria Math" panose="02040503050406030204" pitchFamily="18" charset="0"/>
                                  <a:ea typeface="Cambria Math" panose="02040503050406030204" pitchFamily="18" charset="0"/>
                                </a:rPr>
                                <m:t>ℝ</m:t>
                              </m:r>
                            </m:e>
                            <m:sup>
                              <m:r>
                                <a:rPr lang="en-US" altLang="zh-TW" sz="3000" b="0" i="1" smtClean="0">
                                  <a:latin typeface="Cambria Math" panose="02040503050406030204" pitchFamily="18" charset="0"/>
                                  <a:ea typeface="Cambria Math" panose="02040503050406030204" pitchFamily="18" charset="0"/>
                                </a:rPr>
                                <m:t>𝑚</m:t>
                              </m:r>
                            </m:sup>
                          </m:sSup>
                          <m:r>
                            <a:rPr lang="en-US" altLang="zh-TW" sz="3000" b="0" i="1" smtClean="0">
                              <a:latin typeface="Cambria Math" panose="02040503050406030204" pitchFamily="18" charset="0"/>
                              <a:ea typeface="Cambria Math" panose="02040503050406030204" pitchFamily="18" charset="0"/>
                            </a:rPr>
                            <m:t> :</m:t>
                          </m:r>
                          <m:r>
                            <a:rPr lang="en-US" altLang="zh-TW" sz="3000" b="0" i="1" smtClean="0">
                              <a:latin typeface="Cambria Math" panose="02040503050406030204" pitchFamily="18" charset="0"/>
                              <a:ea typeface="Cambria Math" panose="02040503050406030204" pitchFamily="18" charset="0"/>
                            </a:rPr>
                            <m:t>𝑖</m:t>
                          </m:r>
                          <m:r>
                            <a:rPr lang="en-US" altLang="zh-TW" sz="3000" b="0" i="1" smtClean="0">
                              <a:latin typeface="Cambria Math" panose="02040503050406030204" pitchFamily="18" charset="0"/>
                              <a:ea typeface="Cambria Math" panose="02040503050406030204" pitchFamily="18" charset="0"/>
                            </a:rPr>
                            <m:t>=1,2,…,</m:t>
                          </m:r>
                          <m:r>
                            <a:rPr lang="en-US" altLang="zh-TW" sz="3000" b="0" i="1" smtClean="0">
                              <a:latin typeface="Cambria Math" panose="02040503050406030204" pitchFamily="18" charset="0"/>
                              <a:ea typeface="Cambria Math" panose="02040503050406030204" pitchFamily="18" charset="0"/>
                            </a:rPr>
                            <m:t>𝑛</m:t>
                          </m:r>
                        </m:e>
                      </m:d>
                      <m:r>
                        <a:rPr lang="en-US" altLang="zh-TW" sz="3000" b="0" i="1" smtClean="0">
                          <a:latin typeface="Cambria Math" panose="02040503050406030204" pitchFamily="18" charset="0"/>
                          <a:ea typeface="Cambria Math" panose="02040503050406030204" pitchFamily="18" charset="0"/>
                        </a:rPr>
                        <m:t>.</m:t>
                      </m:r>
                    </m:oMath>
                  </m:oMathPara>
                </a14:m>
                <a:endParaRPr lang="en-US" altLang="zh-TW" sz="3000" b="0" dirty="0" smtClean="0">
                  <a:ea typeface="Cambria Math" panose="02040503050406030204" pitchFamily="18" charset="0"/>
                </a:endParaRPr>
              </a:p>
              <a:p>
                <a:endParaRPr lang="en-US" altLang="zh-TW" sz="3000" dirty="0" smtClean="0"/>
              </a:p>
              <a:p>
                <a:pPr/>
                <a14:m>
                  <m:oMathPara xmlns:m="http://schemas.openxmlformats.org/officeDocument/2006/math">
                    <m:oMathParaPr>
                      <m:jc m:val="centerGroup"/>
                    </m:oMathParaPr>
                    <m:oMath xmlns:m="http://schemas.openxmlformats.org/officeDocument/2006/math">
                      <m:r>
                        <a:rPr lang="en-US" altLang="zh-TW" sz="3000" b="0" i="1" smtClean="0">
                          <a:latin typeface="Cambria Math" panose="02040503050406030204" pitchFamily="18" charset="0"/>
                        </a:rPr>
                        <m:t>𝑑</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𝑋</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𝑖</m:t>
                              </m:r>
                            </m:e>
                          </m:d>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𝑌</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𝑗</m:t>
                              </m:r>
                            </m:e>
                          </m:d>
                        </m:e>
                      </m:d>
                      <m:r>
                        <a:rPr lang="en-US" altLang="zh-TW" sz="3000" b="0" i="1" smtClean="0">
                          <a:latin typeface="Cambria Math" panose="02040503050406030204" pitchFamily="18" charset="0"/>
                        </a:rPr>
                        <m:t>=</m:t>
                      </m:r>
                      <m:nary>
                        <m:naryPr>
                          <m:chr m:val="∑"/>
                          <m:ctrlPr>
                            <a:rPr lang="en-US" altLang="zh-TW" sz="3000" b="0" i="1" smtClean="0">
                              <a:latin typeface="Cambria Math" panose="02040503050406030204" pitchFamily="18" charset="0"/>
                            </a:rPr>
                          </m:ctrlPr>
                        </m:naryPr>
                        <m:sub>
                          <m:r>
                            <m:rPr>
                              <m:brk m:alnAt="23"/>
                            </m:rPr>
                            <a:rPr lang="en-US" altLang="zh-TW" sz="3000" b="0" i="1" smtClean="0">
                              <a:latin typeface="Cambria Math" panose="02040503050406030204" pitchFamily="18" charset="0"/>
                            </a:rPr>
                            <m:t>𝑘</m:t>
                          </m:r>
                          <m:r>
                            <a:rPr lang="en-US" altLang="zh-TW" sz="3000" b="0" i="1" smtClean="0">
                              <a:latin typeface="Cambria Math" panose="02040503050406030204" pitchFamily="18" charset="0"/>
                            </a:rPr>
                            <m:t>=1</m:t>
                          </m:r>
                        </m:sub>
                        <m:sup>
                          <m:r>
                            <a:rPr lang="en-US" altLang="zh-TW" sz="3000" b="0" i="1" smtClean="0">
                              <a:latin typeface="Cambria Math" panose="02040503050406030204" pitchFamily="18" charset="0"/>
                            </a:rPr>
                            <m:t>𝑘</m:t>
                          </m:r>
                          <m:r>
                            <a:rPr lang="en-US" altLang="zh-TW" sz="3000" b="0" i="1" smtClean="0">
                              <a:latin typeface="Cambria Math" panose="02040503050406030204" pitchFamily="18" charset="0"/>
                            </a:rPr>
                            <m:t>=</m:t>
                          </m:r>
                          <m:r>
                            <a:rPr lang="en-US" altLang="zh-TW" sz="3000" b="0" i="1" smtClean="0">
                              <a:latin typeface="Cambria Math" panose="02040503050406030204" pitchFamily="18" charset="0"/>
                            </a:rPr>
                            <m:t>𝑚</m:t>
                          </m:r>
                        </m:sup>
                        <m:e>
                          <m:sSup>
                            <m:sSupPr>
                              <m:ctrlPr>
                                <a:rPr lang="en-US" altLang="zh-TW" sz="3000" b="0" i="1" smtClean="0">
                                  <a:latin typeface="Cambria Math" panose="02040503050406030204" pitchFamily="18" charset="0"/>
                                </a:rPr>
                              </m:ctrlPr>
                            </m:sSupPr>
                            <m:e>
                              <m:d>
                                <m:dPr>
                                  <m:ctrlPr>
                                    <a:rPr lang="en-US" altLang="zh-TW" sz="3000" b="0" i="1" smtClean="0">
                                      <a:latin typeface="Cambria Math" panose="02040503050406030204" pitchFamily="18" charset="0"/>
                                    </a:rPr>
                                  </m:ctrlPr>
                                </m:dPr>
                                <m:e>
                                  <m:sSub>
                                    <m:sSubPr>
                                      <m:ctrlPr>
                                        <a:rPr lang="en-US" altLang="zh-TW" sz="3000" b="0" i="1" smtClean="0">
                                          <a:latin typeface="Cambria Math" panose="02040503050406030204" pitchFamily="18" charset="0"/>
                                        </a:rPr>
                                      </m:ctrlPr>
                                    </m:sSubPr>
                                    <m:e>
                                      <m:r>
                                        <a:rPr lang="en-US" altLang="zh-TW" sz="3000" b="0" i="1" smtClean="0">
                                          <a:latin typeface="Cambria Math" panose="02040503050406030204" pitchFamily="18" charset="0"/>
                                        </a:rPr>
                                        <m:t>𝑥</m:t>
                                      </m:r>
                                    </m:e>
                                    <m:sub>
                                      <m:r>
                                        <a:rPr lang="en-US" altLang="zh-TW" sz="3000" b="0" i="1" smtClean="0">
                                          <a:latin typeface="Cambria Math" panose="02040503050406030204" pitchFamily="18" charset="0"/>
                                        </a:rPr>
                                        <m:t>𝑘</m:t>
                                      </m:r>
                                    </m:sub>
                                  </m:sSub>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𝑖</m:t>
                                      </m:r>
                                    </m:e>
                                  </m:d>
                                  <m:r>
                                    <a:rPr lang="en-US" altLang="zh-TW" sz="3000" b="0" i="1" smtClean="0">
                                      <a:latin typeface="Cambria Math" panose="02040503050406030204" pitchFamily="18" charset="0"/>
                                    </a:rPr>
                                    <m:t>−</m:t>
                                  </m:r>
                                  <m:sSub>
                                    <m:sSubPr>
                                      <m:ctrlPr>
                                        <a:rPr lang="en-US" altLang="zh-TW" sz="3000" b="0" i="1" smtClean="0">
                                          <a:latin typeface="Cambria Math" panose="02040503050406030204" pitchFamily="18" charset="0"/>
                                        </a:rPr>
                                      </m:ctrlPr>
                                    </m:sSubPr>
                                    <m:e>
                                      <m:r>
                                        <a:rPr lang="en-US" altLang="zh-TW" sz="3000" b="0" i="1" smtClean="0">
                                          <a:latin typeface="Cambria Math" panose="02040503050406030204" pitchFamily="18" charset="0"/>
                                        </a:rPr>
                                        <m:t>𝑦</m:t>
                                      </m:r>
                                    </m:e>
                                    <m:sub>
                                      <m:r>
                                        <a:rPr lang="en-US" altLang="zh-TW" sz="3000" b="0" i="1" smtClean="0">
                                          <a:latin typeface="Cambria Math" panose="02040503050406030204" pitchFamily="18" charset="0"/>
                                        </a:rPr>
                                        <m:t>𝑘</m:t>
                                      </m:r>
                                    </m:sub>
                                  </m:sSub>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𝑗</m:t>
                                      </m:r>
                                    </m:e>
                                  </m:d>
                                </m:e>
                              </m:d>
                            </m:e>
                            <m:sup>
                              <m:r>
                                <a:rPr lang="en-US" altLang="zh-TW" sz="3000" b="0" i="1" smtClean="0">
                                  <a:latin typeface="Cambria Math" panose="02040503050406030204" pitchFamily="18" charset="0"/>
                                </a:rPr>
                                <m:t>2</m:t>
                              </m:r>
                            </m:sup>
                          </m:sSup>
                          <m:r>
                            <a:rPr lang="en-US" altLang="zh-TW" sz="3000" b="0" i="1" smtClean="0">
                              <a:latin typeface="Cambria Math" panose="02040503050406030204" pitchFamily="18" charset="0"/>
                            </a:rPr>
                            <m:t>,</m:t>
                          </m:r>
                        </m:e>
                      </m:nary>
                    </m:oMath>
                  </m:oMathPara>
                </a14:m>
                <a:endParaRPr lang="zh-TW" altLang="en-US" sz="30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928749" y="1136820"/>
                <a:ext cx="10167014" cy="2382575"/>
              </a:xfrm>
              <a:prstGeom prst="rect">
                <a:avLst/>
              </a:prstGeom>
              <a:blipFill rotWithShape="0">
                <a:blip r:embed="rId3"/>
                <a:stretch>
                  <a:fillRect/>
                </a:stretch>
              </a:blipFill>
            </p:spPr>
            <p:txBody>
              <a:bodyPr/>
              <a:lstStyle/>
              <a:p>
                <a:r>
                  <a:rPr lang="zh-TW" altLang="en-US">
                    <a:noFill/>
                  </a:rPr>
                  <a:t> </a:t>
                </a:r>
              </a:p>
            </p:txBody>
          </p:sp>
        </mc:Fallback>
      </mc:AlternateContent>
      <p:pic>
        <p:nvPicPr>
          <p:cNvPr id="3" name="圖片 2"/>
          <p:cNvPicPr>
            <a:picLocks noChangeAspect="1"/>
          </p:cNvPicPr>
          <p:nvPr/>
        </p:nvPicPr>
        <p:blipFill>
          <a:blip r:embed="rId4"/>
          <a:stretch>
            <a:fillRect/>
          </a:stretch>
        </p:blipFill>
        <p:spPr>
          <a:xfrm>
            <a:off x="4238624" y="3636210"/>
            <a:ext cx="3714750" cy="2914650"/>
          </a:xfrm>
          <a:prstGeom prst="rect">
            <a:avLst/>
          </a:prstGeom>
        </p:spPr>
      </p:pic>
    </p:spTree>
    <p:extLst>
      <p:ext uri="{BB962C8B-B14F-4D97-AF65-F5344CB8AC3E}">
        <p14:creationId xmlns:p14="http://schemas.microsoft.com/office/powerpoint/2010/main" val="28684067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189279"/>
            <a:ext cx="10515600" cy="870551"/>
          </a:xfrm>
        </p:spPr>
        <p:txBody>
          <a:bodyPr/>
          <a:lstStyle/>
          <a:p>
            <a:pPr algn="ctr"/>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Normalization</a:t>
            </a:r>
            <a:endParaRPr lang="zh-TW" altLang="en-US" dirty="0">
              <a:latin typeface="Cambria Math" panose="020405030504060302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a:xfrm>
            <a:off x="9009185" y="6368298"/>
            <a:ext cx="2743200" cy="365125"/>
          </a:xfrm>
        </p:spPr>
        <p:txBody>
          <a:bodyPr/>
          <a:lstStyle/>
          <a:p>
            <a:fld id="{C8A97ABC-EF3A-4183-AE2C-72E330AF586D}" type="slidenum">
              <a:rPr lang="zh-TW" altLang="en-US" smtClean="0"/>
              <a:t>6</a:t>
            </a:fld>
            <a:endParaRPr lang="zh-TW" altLang="en-US" dirty="0"/>
          </a:p>
        </p:txBody>
      </p:sp>
      <mc:AlternateContent xmlns:mc="http://schemas.openxmlformats.org/markup-compatibility/2006">
        <mc:Choice xmlns:a14="http://schemas.microsoft.com/office/drawing/2010/main" Requires="a14">
          <p:sp>
            <p:nvSpPr>
              <p:cNvPr id="13" name="文字方塊 12"/>
              <p:cNvSpPr txBox="1"/>
              <p:nvPr/>
            </p:nvSpPr>
            <p:spPr>
              <a:xfrm>
                <a:off x="838199" y="1457025"/>
                <a:ext cx="10515600" cy="382361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altLang="zh-TW" sz="3000" b="0" i="1" smtClean="0">
                          <a:latin typeface="Cambria Math" panose="02040503050406030204" pitchFamily="18" charset="0"/>
                        </a:rPr>
                        <m:t>𝑁</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𝑥</m:t>
                          </m:r>
                        </m:e>
                      </m:d>
                      <m:r>
                        <a:rPr lang="en-US" altLang="zh-TW" sz="3000" b="0" i="1" smtClean="0">
                          <a:latin typeface="Cambria Math" panose="02040503050406030204" pitchFamily="18" charset="0"/>
                        </a:rPr>
                        <m:t>=</m:t>
                      </m:r>
                      <m:r>
                        <a:rPr lang="en-US" altLang="zh-TW" sz="3000" b="0" i="1" smtClean="0">
                          <a:latin typeface="Cambria Math" panose="02040503050406030204" pitchFamily="18" charset="0"/>
                        </a:rPr>
                        <m:t>𝑧</m:t>
                      </m:r>
                      <m:r>
                        <a:rPr lang="en-US" altLang="zh-TW" sz="3000" b="0" i="1" smtClean="0">
                          <a:latin typeface="Cambria Math" panose="02040503050406030204" pitchFamily="18" charset="0"/>
                        </a:rPr>
                        <m:t>_</m:t>
                      </m:r>
                      <m:r>
                        <a:rPr lang="en-US" altLang="zh-TW" sz="3000" b="0" i="1" smtClean="0">
                          <a:latin typeface="Cambria Math" panose="02040503050406030204" pitchFamily="18" charset="0"/>
                        </a:rPr>
                        <m:t>𝑛𝑜𝑟𝑚</m:t>
                      </m:r>
                      <m:r>
                        <a:rPr lang="en-US" altLang="zh-TW" sz="3000" b="0" i="1" smtClean="0">
                          <a:latin typeface="Cambria Math" panose="02040503050406030204" pitchFamily="18" charset="0"/>
                        </a:rPr>
                        <m:t>(</m:t>
                      </m:r>
                      <m:r>
                        <a:rPr lang="en-US" altLang="zh-TW" sz="3000" b="0" i="1" smtClean="0">
                          <a:latin typeface="Cambria Math" panose="02040503050406030204" pitchFamily="18" charset="0"/>
                        </a:rPr>
                        <m:t>𝑥</m:t>
                      </m:r>
                      <m:r>
                        <a:rPr lang="en-US" altLang="zh-TW" sz="3000" b="0" i="1" smtClean="0">
                          <a:latin typeface="Cambria Math" panose="02040503050406030204" pitchFamily="18" charset="0"/>
                        </a:rPr>
                        <m:t>)</m:t>
                      </m:r>
                    </m:oMath>
                  </m:oMathPara>
                </a14:m>
                <a:endParaRPr lang="en-US" altLang="zh-TW" sz="3000" dirty="0" smtClean="0"/>
              </a:p>
              <a:p>
                <a:endParaRPr lang="en-US" altLang="zh-TW" sz="3000" dirty="0" smtClean="0"/>
              </a:p>
              <a:p>
                <a:pPr/>
                <a14:m>
                  <m:oMathPara xmlns:m="http://schemas.openxmlformats.org/officeDocument/2006/math">
                    <m:oMathParaPr>
                      <m:jc m:val="left"/>
                    </m:oMathParaPr>
                    <m:oMath xmlns:m="http://schemas.openxmlformats.org/officeDocument/2006/math">
                      <m:r>
                        <a:rPr lang="en-US" altLang="zh-TW" sz="3000" b="0" i="1" smtClean="0">
                          <a:latin typeface="Cambria Math" panose="02040503050406030204" pitchFamily="18" charset="0"/>
                        </a:rPr>
                        <m:t>𝑧</m:t>
                      </m:r>
                      <m:r>
                        <a:rPr lang="en-US" altLang="zh-TW" sz="3000" b="0" i="1" smtClean="0">
                          <a:latin typeface="Cambria Math" panose="02040503050406030204" pitchFamily="18" charset="0"/>
                        </a:rPr>
                        <m:t>_</m:t>
                      </m:r>
                      <m:r>
                        <a:rPr lang="en-US" altLang="zh-TW" sz="3000" b="0" i="1" smtClean="0">
                          <a:latin typeface="Cambria Math" panose="02040503050406030204" pitchFamily="18" charset="0"/>
                        </a:rPr>
                        <m:t>𝑛𝑜𝑟𝑚</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𝑥</m:t>
                          </m:r>
                        </m:e>
                      </m:d>
                      <m:r>
                        <a:rPr lang="en-US" altLang="zh-TW" sz="3000" b="0" i="1" smtClean="0">
                          <a:latin typeface="Cambria Math" panose="02040503050406030204" pitchFamily="18" charset="0"/>
                        </a:rPr>
                        <m:t>=</m:t>
                      </m:r>
                      <m:f>
                        <m:fPr>
                          <m:ctrlPr>
                            <a:rPr lang="en-US" altLang="zh-TW" sz="3000" b="0" i="1" smtClean="0">
                              <a:latin typeface="Cambria Math" panose="02040503050406030204" pitchFamily="18" charset="0"/>
                            </a:rPr>
                          </m:ctrlPr>
                        </m:fPr>
                        <m:num>
                          <m:r>
                            <a:rPr lang="en-US" altLang="zh-TW" sz="3000" b="0" i="1" smtClean="0">
                              <a:latin typeface="Cambria Math" panose="02040503050406030204" pitchFamily="18" charset="0"/>
                            </a:rPr>
                            <m:t>𝑥</m:t>
                          </m:r>
                          <m:r>
                            <a:rPr lang="en-US" altLang="zh-TW" sz="3000" b="0" i="1" smtClean="0">
                              <a:latin typeface="Cambria Math" panose="02040503050406030204" pitchFamily="18" charset="0"/>
                            </a:rPr>
                            <m:t>−</m:t>
                          </m:r>
                          <m:r>
                            <a:rPr lang="zh-TW" altLang="en-US" sz="3000" b="0" i="1" smtClean="0">
                              <a:latin typeface="Cambria Math" panose="02040503050406030204" pitchFamily="18" charset="0"/>
                            </a:rPr>
                            <m:t>𝜇</m:t>
                          </m:r>
                          <m:r>
                            <a:rPr lang="en-US" altLang="zh-TW" sz="3000" b="0" i="1" smtClean="0">
                              <a:latin typeface="Cambria Math" panose="02040503050406030204" pitchFamily="18" charset="0"/>
                            </a:rPr>
                            <m:t>(</m:t>
                          </m:r>
                          <m:r>
                            <a:rPr lang="en-US" altLang="zh-TW" sz="3000" b="0" i="1" smtClean="0">
                              <a:latin typeface="Cambria Math" panose="02040503050406030204" pitchFamily="18" charset="0"/>
                            </a:rPr>
                            <m:t>𝑥</m:t>
                          </m:r>
                          <m:r>
                            <a:rPr lang="en-US" altLang="zh-TW" sz="3000" b="0" i="1" smtClean="0">
                              <a:latin typeface="Cambria Math" panose="02040503050406030204" pitchFamily="18" charset="0"/>
                            </a:rPr>
                            <m:t>)</m:t>
                          </m:r>
                        </m:num>
                        <m:den>
                          <m:r>
                            <a:rPr lang="zh-TW" altLang="en-US" sz="3000" b="0" i="1" smtClean="0">
                              <a:latin typeface="Cambria Math" panose="02040503050406030204" pitchFamily="18" charset="0"/>
                            </a:rPr>
                            <m:t>𝜎</m:t>
                          </m:r>
                          <m:r>
                            <a:rPr lang="en-US" altLang="zh-TW" sz="3000" b="0" i="1" smtClean="0">
                              <a:latin typeface="Cambria Math" panose="02040503050406030204" pitchFamily="18" charset="0"/>
                            </a:rPr>
                            <m:t>(</m:t>
                          </m:r>
                          <m:r>
                            <a:rPr lang="en-US" altLang="zh-TW" sz="3000" b="0" i="1" smtClean="0">
                              <a:latin typeface="Cambria Math" panose="02040503050406030204" pitchFamily="18" charset="0"/>
                            </a:rPr>
                            <m:t>𝑥</m:t>
                          </m:r>
                          <m:r>
                            <a:rPr lang="en-US" altLang="zh-TW" sz="3000" b="0" i="1" smtClean="0">
                              <a:latin typeface="Cambria Math" panose="02040503050406030204" pitchFamily="18" charset="0"/>
                            </a:rPr>
                            <m:t>)</m:t>
                          </m:r>
                        </m:den>
                      </m:f>
                    </m:oMath>
                  </m:oMathPara>
                </a14:m>
                <a:endParaRPr lang="en-US" altLang="zh-TW" sz="3000" dirty="0" smtClean="0"/>
              </a:p>
              <a:p>
                <a:endParaRPr lang="en-US" altLang="zh-TW" sz="3000" dirty="0"/>
              </a:p>
              <a:p>
                <a:pPr/>
                <a14:m>
                  <m:oMathPara xmlns:m="http://schemas.openxmlformats.org/officeDocument/2006/math">
                    <m:oMathParaPr>
                      <m:jc m:val="left"/>
                    </m:oMathParaPr>
                    <m:oMath xmlns:m="http://schemas.openxmlformats.org/officeDocument/2006/math">
                      <m:r>
                        <a:rPr lang="zh-TW" altLang="en-US" sz="3000" i="1">
                          <a:latin typeface="Cambria Math" panose="02040503050406030204" pitchFamily="18" charset="0"/>
                        </a:rPr>
                        <m:t>𝜇</m:t>
                      </m:r>
                      <m:d>
                        <m:dPr>
                          <m:ctrlPr>
                            <a:rPr lang="en-US" altLang="zh-TW" sz="3000" i="1">
                              <a:latin typeface="Cambria Math" panose="02040503050406030204" pitchFamily="18" charset="0"/>
                            </a:rPr>
                          </m:ctrlPr>
                        </m:dPr>
                        <m:e>
                          <m:r>
                            <a:rPr lang="en-US" altLang="zh-TW" sz="3000" i="1">
                              <a:latin typeface="Cambria Math" panose="02040503050406030204" pitchFamily="18" charset="0"/>
                            </a:rPr>
                            <m:t>𝑥</m:t>
                          </m:r>
                        </m:e>
                      </m:d>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𝑚𝑒𝑎𝑛</m:t>
                      </m:r>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𝑜𝑓</m:t>
                      </m:r>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𝑡𝑖𝑚𝑒</m:t>
                      </m:r>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𝑠𝑒𝑟𝑖𝑒𝑠</m:t>
                      </m:r>
                    </m:oMath>
                  </m:oMathPara>
                </a14:m>
                <a:endParaRPr lang="en-US" altLang="zh-TW" sz="3000" dirty="0" smtClean="0"/>
              </a:p>
              <a:p>
                <a:pPr/>
                <a14:m>
                  <m:oMathPara xmlns:m="http://schemas.openxmlformats.org/officeDocument/2006/math">
                    <m:oMathParaPr>
                      <m:jc m:val="left"/>
                    </m:oMathParaPr>
                    <m:oMath xmlns:m="http://schemas.openxmlformats.org/officeDocument/2006/math">
                      <m:r>
                        <a:rPr lang="zh-TW" altLang="en-US" sz="3000" i="1">
                          <a:latin typeface="Cambria Math" panose="02040503050406030204" pitchFamily="18" charset="0"/>
                        </a:rPr>
                        <m:t>𝜎</m:t>
                      </m:r>
                      <m:d>
                        <m:dPr>
                          <m:ctrlPr>
                            <a:rPr lang="en-US" altLang="zh-TW" sz="3000" i="1">
                              <a:latin typeface="Cambria Math" panose="02040503050406030204" pitchFamily="18" charset="0"/>
                            </a:rPr>
                          </m:ctrlPr>
                        </m:dPr>
                        <m:e>
                          <m:r>
                            <a:rPr lang="en-US" altLang="zh-TW" sz="3000" i="1">
                              <a:latin typeface="Cambria Math" panose="02040503050406030204" pitchFamily="18" charset="0"/>
                            </a:rPr>
                            <m:t>𝑥</m:t>
                          </m:r>
                        </m:e>
                      </m:d>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𝑠𝑡𝑎𝑛𝑑𝑎𝑟𝑑</m:t>
                      </m:r>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𝑑𝑒𝑣𝑖𝑎𝑡𝑖𝑜𝑛</m:t>
                      </m:r>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𝑥</m:t>
                      </m:r>
                    </m:oMath>
                  </m:oMathPara>
                </a14:m>
                <a:endParaRPr lang="en-US" altLang="zh-TW" sz="3000" dirty="0" smtClean="0"/>
              </a:p>
              <a:p>
                <a:endParaRPr lang="zh-TW" altLang="en-US" sz="3000" dirty="0"/>
              </a:p>
            </p:txBody>
          </p:sp>
        </mc:Choice>
        <mc:Fallback>
          <p:sp>
            <p:nvSpPr>
              <p:cNvPr id="13" name="文字方塊 12"/>
              <p:cNvSpPr txBox="1">
                <a:spLocks noRot="1" noChangeAspect="1" noMove="1" noResize="1" noEditPoints="1" noAdjustHandles="1" noChangeArrowheads="1" noChangeShapeType="1" noTextEdit="1"/>
              </p:cNvSpPr>
              <p:nvPr/>
            </p:nvSpPr>
            <p:spPr>
              <a:xfrm>
                <a:off x="838199" y="1457025"/>
                <a:ext cx="10515600" cy="3823611"/>
              </a:xfrm>
              <a:prstGeom prst="rect">
                <a:avLst/>
              </a:prstGeom>
              <a:blipFill rotWithShape="0">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988032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199" y="189279"/>
            <a:ext cx="10515600" cy="870551"/>
          </a:xfrm>
        </p:spPr>
        <p:txBody>
          <a:bodyPr/>
          <a:lstStyle/>
          <a:p>
            <a:pPr algn="ctr"/>
            <a:r>
              <a:rPr lang="en-US" altLang="zh-TW" dirty="0" smtClean="0">
                <a:latin typeface="Cambria Math" panose="02040503050406030204" pitchFamily="18" charset="0"/>
                <a:ea typeface="Cambria Math" panose="02040503050406030204" pitchFamily="18" charset="0"/>
                <a:cs typeface="Times New Roman" panose="02020603050405020304" pitchFamily="18" charset="0"/>
              </a:rPr>
              <a:t>Combination of DTW and IDTW</a:t>
            </a:r>
            <a:endParaRPr lang="zh-TW" altLang="en-US" dirty="0">
              <a:latin typeface="Cambria Math" panose="02040503050406030204" pitchFamily="18" charset="0"/>
              <a:cs typeface="Times New Roman" panose="02020603050405020304" pitchFamily="18" charset="0"/>
            </a:endParaRPr>
          </a:p>
        </p:txBody>
      </p:sp>
      <p:sp>
        <p:nvSpPr>
          <p:cNvPr id="5" name="投影片編號版面配置區 4"/>
          <p:cNvSpPr>
            <a:spLocks noGrp="1"/>
          </p:cNvSpPr>
          <p:nvPr>
            <p:ph type="sldNum" sz="quarter" idx="12"/>
          </p:nvPr>
        </p:nvSpPr>
        <p:spPr>
          <a:xfrm>
            <a:off x="9009185" y="6368298"/>
            <a:ext cx="2743200" cy="365125"/>
          </a:xfrm>
        </p:spPr>
        <p:txBody>
          <a:bodyPr/>
          <a:lstStyle/>
          <a:p>
            <a:fld id="{C8A97ABC-EF3A-4183-AE2C-72E330AF586D}" type="slidenum">
              <a:rPr lang="zh-TW" altLang="en-US" smtClean="0"/>
              <a:t>7</a:t>
            </a:fld>
            <a:endParaRPr lang="zh-TW" altLang="en-US" dirty="0"/>
          </a:p>
        </p:txBody>
      </p:sp>
      <mc:AlternateContent xmlns:mc="http://schemas.openxmlformats.org/markup-compatibility/2006">
        <mc:Choice xmlns:a14="http://schemas.microsoft.com/office/drawing/2010/main" Requires="a14">
          <p:sp>
            <p:nvSpPr>
              <p:cNvPr id="13" name="文字方塊 12"/>
              <p:cNvSpPr txBox="1"/>
              <p:nvPr/>
            </p:nvSpPr>
            <p:spPr>
              <a:xfrm>
                <a:off x="838199" y="1519375"/>
                <a:ext cx="10515600" cy="553998"/>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altLang="zh-TW" sz="3000" b="0" i="1" smtClean="0">
                          <a:latin typeface="Cambria Math" panose="02040503050406030204" pitchFamily="18" charset="0"/>
                        </a:rPr>
                        <m:t>𝐼</m:t>
                      </m:r>
                      <m:sSub>
                        <m:sSubPr>
                          <m:ctrlPr>
                            <a:rPr lang="en-US" altLang="zh-TW" sz="3000" b="0" i="1" smtClean="0">
                              <a:latin typeface="Cambria Math" panose="02040503050406030204" pitchFamily="18" charset="0"/>
                            </a:rPr>
                          </m:ctrlPr>
                        </m:sSubPr>
                        <m:e>
                          <m:r>
                            <a:rPr lang="en-US" altLang="zh-TW" sz="3000" b="0" i="1" smtClean="0">
                              <a:latin typeface="Cambria Math" panose="02040503050406030204" pitchFamily="18" charset="0"/>
                            </a:rPr>
                            <m:t>𝐷</m:t>
                          </m:r>
                        </m:e>
                        <m:sub>
                          <m:r>
                            <a:rPr lang="en-US" altLang="zh-TW" sz="3000" b="0" i="1" smtClean="0">
                              <a:latin typeface="Cambria Math" panose="02040503050406030204" pitchFamily="18" charset="0"/>
                            </a:rPr>
                            <m:t>𝐷𝑇</m:t>
                          </m:r>
                          <m:r>
                            <a:rPr lang="en-US" altLang="zh-TW" sz="3000" b="0" i="1" smtClean="0">
                              <a:latin typeface="Cambria Math" panose="02040503050406030204" pitchFamily="18" charset="0"/>
                            </a:rPr>
                            <m:t>𝑊</m:t>
                          </m:r>
                        </m:sub>
                      </m:sSub>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𝑎</m:t>
                          </m:r>
                          <m:r>
                            <a:rPr lang="en-US" altLang="zh-TW" sz="3000" b="0" i="1" smtClean="0">
                              <a:latin typeface="Cambria Math" panose="02040503050406030204" pitchFamily="18" charset="0"/>
                            </a:rPr>
                            <m:t>, </m:t>
                          </m:r>
                          <m:r>
                            <a:rPr lang="en-US" altLang="zh-TW" sz="3000" b="0" i="1" smtClean="0">
                              <a:latin typeface="Cambria Math" panose="02040503050406030204" pitchFamily="18" charset="0"/>
                            </a:rPr>
                            <m:t>𝑏</m:t>
                          </m:r>
                        </m:e>
                      </m:d>
                      <m:r>
                        <a:rPr lang="en-US" altLang="zh-TW" sz="3000" b="0" i="1" smtClean="0">
                          <a:latin typeface="Cambria Math" panose="02040503050406030204" pitchFamily="18" charset="0"/>
                        </a:rPr>
                        <m:t>=</m:t>
                      </m:r>
                      <m:d>
                        <m:dPr>
                          <m:ctrlPr>
                            <a:rPr lang="en-US" altLang="zh-TW" sz="3000" b="0" i="1" smtClean="0">
                              <a:latin typeface="Cambria Math" panose="02040503050406030204" pitchFamily="18" charset="0"/>
                            </a:rPr>
                          </m:ctrlPr>
                        </m:dPr>
                        <m:e>
                          <m:r>
                            <a:rPr lang="en-US" altLang="zh-TW" sz="3000" b="0" i="1" smtClean="0">
                              <a:latin typeface="Cambria Math" panose="02040503050406030204" pitchFamily="18" charset="0"/>
                            </a:rPr>
                            <m:t>1−</m:t>
                          </m:r>
                          <m:r>
                            <a:rPr lang="en-US" altLang="zh-TW" sz="3000" i="1">
                              <a:latin typeface="Cambria Math" panose="02040503050406030204" pitchFamily="18" charset="0"/>
                              <a:ea typeface="Cambria Math" panose="02040503050406030204" pitchFamily="18" charset="0"/>
                            </a:rPr>
                            <m:t>𝛼</m:t>
                          </m:r>
                        </m:e>
                      </m:d>
                      <m:r>
                        <a:rPr lang="en-US" altLang="zh-TW" sz="3000" b="0" i="1" smtClean="0">
                          <a:latin typeface="Cambria Math" panose="02040503050406030204" pitchFamily="18" charset="0"/>
                          <a:ea typeface="Cambria Math" panose="02040503050406030204" pitchFamily="18" charset="0"/>
                        </a:rPr>
                        <m:t>𝐷𝑇𝑊</m:t>
                      </m:r>
                      <m:d>
                        <m:dPr>
                          <m:ctrlPr>
                            <a:rPr lang="en-US" altLang="zh-TW" sz="3000" b="0" i="1" smtClean="0">
                              <a:latin typeface="Cambria Math" panose="02040503050406030204" pitchFamily="18" charset="0"/>
                              <a:ea typeface="Cambria Math" panose="02040503050406030204" pitchFamily="18" charset="0"/>
                            </a:rPr>
                          </m:ctrlPr>
                        </m:dPr>
                        <m:e>
                          <m:r>
                            <a:rPr lang="en-US" altLang="zh-TW" sz="3000" b="0" i="1" smtClean="0">
                              <a:latin typeface="Cambria Math" panose="02040503050406030204" pitchFamily="18" charset="0"/>
                              <a:ea typeface="Cambria Math" panose="02040503050406030204" pitchFamily="18" charset="0"/>
                            </a:rPr>
                            <m:t>𝑎</m:t>
                          </m:r>
                          <m:r>
                            <a:rPr lang="en-US" altLang="zh-TW" sz="3000" b="0" i="1" smtClean="0">
                              <a:latin typeface="Cambria Math" panose="02040503050406030204" pitchFamily="18" charset="0"/>
                              <a:ea typeface="Cambria Math" panose="02040503050406030204" pitchFamily="18" charset="0"/>
                            </a:rPr>
                            <m:t>, </m:t>
                          </m:r>
                          <m:r>
                            <a:rPr lang="en-US" altLang="zh-TW" sz="3000" b="0" i="1" smtClean="0">
                              <a:latin typeface="Cambria Math" panose="02040503050406030204" pitchFamily="18" charset="0"/>
                              <a:ea typeface="Cambria Math" panose="02040503050406030204" pitchFamily="18" charset="0"/>
                            </a:rPr>
                            <m:t>𝑏</m:t>
                          </m:r>
                        </m:e>
                      </m:d>
                      <m:r>
                        <a:rPr lang="en-US" altLang="zh-TW" sz="3000" b="0" i="1" smtClean="0">
                          <a:latin typeface="Cambria Math" panose="02040503050406030204" pitchFamily="18" charset="0"/>
                          <a:ea typeface="Cambria Math" panose="02040503050406030204" pitchFamily="18" charset="0"/>
                        </a:rPr>
                        <m:t>+</m:t>
                      </m:r>
                      <m:r>
                        <a:rPr lang="zh-TW" altLang="en-US" sz="3000" b="0" i="1" smtClean="0">
                          <a:latin typeface="Cambria Math" panose="02040503050406030204" pitchFamily="18" charset="0"/>
                          <a:ea typeface="Cambria Math" panose="02040503050406030204" pitchFamily="18" charset="0"/>
                        </a:rPr>
                        <m:t>𝛼</m:t>
                      </m:r>
                      <m:r>
                        <a:rPr lang="zh-TW" altLang="en-US" sz="3000" i="1">
                          <a:latin typeface="Cambria Math" panose="02040503050406030204" pitchFamily="18" charset="0"/>
                          <a:ea typeface="Cambria Math" panose="02040503050406030204" pitchFamily="18" charset="0"/>
                        </a:rPr>
                        <m:t> </m:t>
                      </m:r>
                      <m:r>
                        <a:rPr lang="en-US" altLang="zh-TW" sz="3000" b="0" i="1" smtClean="0">
                          <a:latin typeface="Cambria Math" panose="02040503050406030204" pitchFamily="18" charset="0"/>
                          <a:ea typeface="Cambria Math" panose="02040503050406030204" pitchFamily="18" charset="0"/>
                        </a:rPr>
                        <m:t>𝐼𝐷𝑇𝑊</m:t>
                      </m:r>
                      <m:r>
                        <a:rPr lang="en-US" altLang="zh-TW" sz="3000" b="0" i="1" smtClean="0">
                          <a:latin typeface="Cambria Math" panose="02040503050406030204" pitchFamily="18" charset="0"/>
                          <a:ea typeface="Cambria Math" panose="02040503050406030204" pitchFamily="18" charset="0"/>
                        </a:rPr>
                        <m:t>(</m:t>
                      </m:r>
                      <m:r>
                        <a:rPr lang="en-US" altLang="zh-TW" sz="3000" b="0" i="1" smtClean="0">
                          <a:latin typeface="Cambria Math" panose="02040503050406030204" pitchFamily="18" charset="0"/>
                          <a:ea typeface="Cambria Math" panose="02040503050406030204" pitchFamily="18" charset="0"/>
                        </a:rPr>
                        <m:t>𝑎</m:t>
                      </m:r>
                      <m:r>
                        <a:rPr lang="en-US" altLang="zh-TW" sz="3000" b="0" i="1" smtClean="0">
                          <a:latin typeface="Cambria Math" panose="02040503050406030204" pitchFamily="18" charset="0"/>
                          <a:ea typeface="Cambria Math" panose="02040503050406030204" pitchFamily="18" charset="0"/>
                        </a:rPr>
                        <m:t>, </m:t>
                      </m:r>
                      <m:r>
                        <a:rPr lang="en-US" altLang="zh-TW" sz="3000" b="0" i="1" smtClean="0">
                          <a:latin typeface="Cambria Math" panose="02040503050406030204" pitchFamily="18" charset="0"/>
                          <a:ea typeface="Cambria Math" panose="02040503050406030204" pitchFamily="18" charset="0"/>
                        </a:rPr>
                        <m:t>𝑏</m:t>
                      </m:r>
                      <m:r>
                        <a:rPr lang="en-US" altLang="zh-TW" sz="3000" b="0" i="1" smtClean="0">
                          <a:latin typeface="Cambria Math" panose="02040503050406030204" pitchFamily="18" charset="0"/>
                          <a:ea typeface="Cambria Math" panose="02040503050406030204" pitchFamily="18" charset="0"/>
                        </a:rPr>
                        <m:t>)</m:t>
                      </m:r>
                    </m:oMath>
                  </m:oMathPara>
                </a14:m>
                <a:endParaRPr lang="en-US" altLang="zh-TW" sz="3000" b="0" dirty="0" smtClean="0"/>
              </a:p>
            </p:txBody>
          </p:sp>
        </mc:Choice>
        <mc:Fallback>
          <p:sp>
            <p:nvSpPr>
              <p:cNvPr id="13" name="文字方塊 12"/>
              <p:cNvSpPr txBox="1">
                <a:spLocks noRot="1" noChangeAspect="1" noMove="1" noResize="1" noEditPoints="1" noAdjustHandles="1" noChangeArrowheads="1" noChangeShapeType="1" noTextEdit="1"/>
              </p:cNvSpPr>
              <p:nvPr/>
            </p:nvSpPr>
            <p:spPr>
              <a:xfrm>
                <a:off x="838199" y="1519375"/>
                <a:ext cx="10515600" cy="553998"/>
              </a:xfrm>
              <a:prstGeom prst="rect">
                <a:avLst/>
              </a:prstGeom>
              <a:blipFill rotWithShape="0">
                <a:blip r:embed="rId3"/>
                <a:stretch>
                  <a:fillRect/>
                </a:stretch>
              </a:blipFill>
            </p:spPr>
            <p:txBody>
              <a:bodyPr/>
              <a:lstStyle/>
              <a:p>
                <a:r>
                  <a:rPr lang="zh-TW" altLang="en-US">
                    <a:noFill/>
                  </a:rPr>
                  <a:t> </a:t>
                </a:r>
              </a:p>
            </p:txBody>
          </p:sp>
        </mc:Fallback>
      </mc:AlternateContent>
      <p:pic>
        <p:nvPicPr>
          <p:cNvPr id="3" name="圖片 2"/>
          <p:cNvPicPr>
            <a:picLocks noChangeAspect="1"/>
          </p:cNvPicPr>
          <p:nvPr/>
        </p:nvPicPr>
        <p:blipFill>
          <a:blip r:embed="rId4"/>
          <a:stretch>
            <a:fillRect/>
          </a:stretch>
        </p:blipFill>
        <p:spPr>
          <a:xfrm>
            <a:off x="1190624" y="2417010"/>
            <a:ext cx="10163175" cy="4133850"/>
          </a:xfrm>
          <a:prstGeom prst="rect">
            <a:avLst/>
          </a:prstGeom>
        </p:spPr>
      </p:pic>
    </p:spTree>
    <p:extLst>
      <p:ext uri="{BB962C8B-B14F-4D97-AF65-F5344CB8AC3E}">
        <p14:creationId xmlns:p14="http://schemas.microsoft.com/office/powerpoint/2010/main" val="40043431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018832"/>
          </a:xfrm>
        </p:spPr>
        <p:txBody>
          <a:bodyPr/>
          <a:lstStyle/>
          <a:p>
            <a:pPr algn="ctr"/>
            <a:r>
              <a:rPr lang="en-US" altLang="zh-TW" dirty="0" smtClean="0">
                <a:latin typeface="Times New Roman" panose="02020603050405020304" pitchFamily="18" charset="0"/>
                <a:cs typeface="Times New Roman" panose="02020603050405020304" pitchFamily="18" charset="0"/>
              </a:rPr>
              <a:t>DTW vs. IDTW vs. ID</a:t>
            </a:r>
            <a:r>
              <a:rPr lang="en-US" altLang="zh-TW" baseline="-25000" dirty="0" smtClean="0">
                <a:latin typeface="Times New Roman" panose="02020603050405020304" pitchFamily="18" charset="0"/>
                <a:cs typeface="Times New Roman" panose="02020603050405020304" pitchFamily="18" charset="0"/>
              </a:rPr>
              <a:t>DTW</a:t>
            </a:r>
            <a:endParaRPr lang="zh-TW" altLang="en-US" baseline="-25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r>
              <a:rPr lang="en-US" altLang="zh-TW" dirty="0" smtClean="0"/>
              <a:t>10</a:t>
            </a:r>
            <a:endParaRPr lang="zh-TW" altLang="en-US" dirty="0"/>
          </a:p>
        </p:txBody>
      </p:sp>
      <p:pic>
        <p:nvPicPr>
          <p:cNvPr id="3" name="圖片 2"/>
          <p:cNvPicPr>
            <a:picLocks noChangeAspect="1"/>
          </p:cNvPicPr>
          <p:nvPr/>
        </p:nvPicPr>
        <p:blipFill>
          <a:blip r:embed="rId2"/>
          <a:stretch>
            <a:fillRect/>
          </a:stretch>
        </p:blipFill>
        <p:spPr>
          <a:xfrm>
            <a:off x="1745698" y="1971019"/>
            <a:ext cx="3992628" cy="3492159"/>
          </a:xfrm>
          <a:prstGeom prst="rect">
            <a:avLst/>
          </a:prstGeom>
        </p:spPr>
      </p:pic>
      <p:pic>
        <p:nvPicPr>
          <p:cNvPr id="5" name="圖片 4"/>
          <p:cNvPicPr>
            <a:picLocks noChangeAspect="1"/>
          </p:cNvPicPr>
          <p:nvPr/>
        </p:nvPicPr>
        <p:blipFill>
          <a:blip r:embed="rId3"/>
          <a:stretch>
            <a:fillRect/>
          </a:stretch>
        </p:blipFill>
        <p:spPr>
          <a:xfrm>
            <a:off x="6699380" y="1973441"/>
            <a:ext cx="4029269" cy="3489737"/>
          </a:xfrm>
          <a:prstGeom prst="rect">
            <a:avLst/>
          </a:prstGeom>
        </p:spPr>
      </p:pic>
    </p:spTree>
    <p:extLst>
      <p:ext uri="{BB962C8B-B14F-4D97-AF65-F5344CB8AC3E}">
        <p14:creationId xmlns:p14="http://schemas.microsoft.com/office/powerpoint/2010/main" val="17933668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018832"/>
          </a:xfrm>
        </p:spPr>
        <p:txBody>
          <a:bodyPr/>
          <a:lstStyle/>
          <a:p>
            <a:pPr algn="ctr"/>
            <a:r>
              <a:rPr lang="en-US" altLang="zh-TW" dirty="0" smtClean="0">
                <a:latin typeface="Times New Roman" panose="02020603050405020304" pitchFamily="18" charset="0"/>
                <a:cs typeface="Times New Roman" panose="02020603050405020304" pitchFamily="18" charset="0"/>
              </a:rPr>
              <a:t>Experimental Results</a:t>
            </a:r>
            <a:endParaRPr lang="zh-TW" altLang="en-US" baseline="-25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r>
              <a:rPr lang="en-US" altLang="zh-TW" dirty="0" smtClean="0"/>
              <a:t>10</a:t>
            </a:r>
            <a:endParaRPr lang="zh-TW" altLang="en-US" dirty="0"/>
          </a:p>
        </p:txBody>
      </p:sp>
      <p:pic>
        <p:nvPicPr>
          <p:cNvPr id="7" name="圖片 6"/>
          <p:cNvPicPr>
            <a:picLocks noChangeAspect="1"/>
          </p:cNvPicPr>
          <p:nvPr/>
        </p:nvPicPr>
        <p:blipFill>
          <a:blip r:embed="rId2"/>
          <a:stretch>
            <a:fillRect/>
          </a:stretch>
        </p:blipFill>
        <p:spPr>
          <a:xfrm>
            <a:off x="1857375" y="1593679"/>
            <a:ext cx="8477250" cy="4552950"/>
          </a:xfrm>
          <a:prstGeom prst="rect">
            <a:avLst/>
          </a:prstGeom>
        </p:spPr>
      </p:pic>
    </p:spTree>
    <p:extLst>
      <p:ext uri="{BB962C8B-B14F-4D97-AF65-F5344CB8AC3E}">
        <p14:creationId xmlns:p14="http://schemas.microsoft.com/office/powerpoint/2010/main" val="6198329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6"/>
            <a:ext cx="10515600" cy="1018832"/>
          </a:xfrm>
        </p:spPr>
        <p:txBody>
          <a:bodyPr/>
          <a:lstStyle/>
          <a:p>
            <a:pPr algn="ctr"/>
            <a:r>
              <a:rPr lang="en-US" altLang="zh-TW" dirty="0" smtClean="0">
                <a:latin typeface="Times New Roman" panose="02020603050405020304" pitchFamily="18" charset="0"/>
                <a:cs typeface="Times New Roman" panose="02020603050405020304" pitchFamily="18" charset="0"/>
              </a:rPr>
              <a:t>Experimental Results</a:t>
            </a:r>
            <a:endParaRPr lang="zh-TW" altLang="en-US" baseline="-25000"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r>
              <a:rPr lang="en-US" altLang="zh-TW" dirty="0" smtClean="0"/>
              <a:t>10</a:t>
            </a:r>
            <a:endParaRPr lang="zh-TW" altLang="en-US" dirty="0"/>
          </a:p>
        </p:txBody>
      </p:sp>
      <p:pic>
        <p:nvPicPr>
          <p:cNvPr id="3" name="圖片 2"/>
          <p:cNvPicPr>
            <a:picLocks noChangeAspect="1"/>
          </p:cNvPicPr>
          <p:nvPr/>
        </p:nvPicPr>
        <p:blipFill>
          <a:blip r:embed="rId2"/>
          <a:stretch>
            <a:fillRect/>
          </a:stretch>
        </p:blipFill>
        <p:spPr>
          <a:xfrm>
            <a:off x="3767137" y="1383958"/>
            <a:ext cx="4657725" cy="4543425"/>
          </a:xfrm>
          <a:prstGeom prst="rect">
            <a:avLst/>
          </a:prstGeom>
        </p:spPr>
      </p:pic>
    </p:spTree>
    <p:extLst>
      <p:ext uri="{BB962C8B-B14F-4D97-AF65-F5344CB8AC3E}">
        <p14:creationId xmlns:p14="http://schemas.microsoft.com/office/powerpoint/2010/main" val="174547652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22308</TotalTime>
  <Words>390</Words>
  <Application>Microsoft Office PowerPoint</Application>
  <PresentationFormat>寬螢幕</PresentationFormat>
  <Paragraphs>48</Paragraphs>
  <Slides>10</Slides>
  <Notes>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Arial</vt:lpstr>
      <vt:lpstr>Calibri</vt:lpstr>
      <vt:lpstr>Calibri Light</vt:lpstr>
      <vt:lpstr>Cambria Math</vt:lpstr>
      <vt:lpstr>Times New Roman</vt:lpstr>
      <vt:lpstr>Office 佈景主題</vt:lpstr>
      <vt:lpstr>Univariate and Multivariate  Time Series Classification with  Parametric Integral Dynamic Time Warping</vt:lpstr>
      <vt:lpstr>Abstract(1/2)</vt:lpstr>
      <vt:lpstr>Abstract(2/2)</vt:lpstr>
      <vt:lpstr>Integral dynamic time warping(IDTW)</vt:lpstr>
      <vt:lpstr>Multivariate dynamic time warping</vt:lpstr>
      <vt:lpstr>Normalization</vt:lpstr>
      <vt:lpstr>Combination of DTW and IDTW</vt:lpstr>
      <vt:lpstr>DTW vs. IDTW vs. IDDTW</vt:lpstr>
      <vt:lpstr>Experimental Results</vt:lpstr>
      <vt:lpstr>Experimental Results</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Maximal Common Subsequences</dc:title>
  <dc:creator>BX CHEN</dc:creator>
  <cp:lastModifiedBy>pplab-class</cp:lastModifiedBy>
  <cp:revision>414</cp:revision>
  <dcterms:created xsi:type="dcterms:W3CDTF">2016-10-10T16:56:48Z</dcterms:created>
  <dcterms:modified xsi:type="dcterms:W3CDTF">2018-04-24T11:14:42Z</dcterms:modified>
</cp:coreProperties>
</file>