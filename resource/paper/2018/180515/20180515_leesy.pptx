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3" r:id="rId3"/>
    <p:sldId id="275" r:id="rId4"/>
    <p:sldId id="277" r:id="rId5"/>
    <p:sldId id="278" r:id="rId6"/>
    <p:sldId id="276" r:id="rId7"/>
    <p:sldId id="279" r:id="rId8"/>
    <p:sldId id="281" r:id="rId9"/>
    <p:sldId id="282" r:id="rId10"/>
    <p:sldId id="280" r:id="rId11"/>
    <p:sldId id="284" r:id="rId12"/>
    <p:sldId id="283" r:id="rId13"/>
    <p:sldId id="285" r:id="rId14"/>
    <p:sldId id="286" r:id="rId15"/>
    <p:sldId id="287" r:id="rId16"/>
    <p:sldId id="288" r:id="rId17"/>
    <p:sldId id="291" r:id="rId18"/>
    <p:sldId id="289" r:id="rId19"/>
    <p:sldId id="292" r:id="rId20"/>
    <p:sldId id="293" r:id="rId21"/>
    <p:sldId id="294" r:id="rId22"/>
    <p:sldId id="295" r:id="rId23"/>
    <p:sldId id="296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CC0000"/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29" autoAdjust="0"/>
  </p:normalViewPr>
  <p:slideViewPr>
    <p:cSldViewPr snapToGrid="0">
      <p:cViewPr varScale="1">
        <p:scale>
          <a:sx n="83" d="100"/>
          <a:sy n="83" d="100"/>
        </p:scale>
        <p:origin x="4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2018/5/15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2018/5/15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2018/5/15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2018/5/15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2018/5/15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2018/5/15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2018/5/15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2018/5/15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2018/5/15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2018/5/15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2018/5/15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2018/5/15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5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Relationship Id="rId1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25003" y="685799"/>
            <a:ext cx="8223695" cy="2881185"/>
          </a:xfrm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All-pairs Suffix-Prefix Problem 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b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All-pairs Substring-prefix Problem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25778" y="3978876"/>
            <a:ext cx="7877174" cy="1584444"/>
          </a:xfrm>
        </p:spPr>
        <p:txBody>
          <a:bodyPr>
            <a:noAutofit/>
          </a:bodyPr>
          <a:lstStyle/>
          <a:p>
            <a:r>
              <a:rPr lang="en-US" altLang="zh-TW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Enno </a:t>
            </a:r>
            <a:r>
              <a:rPr lang="en-US" altLang="zh-TW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hlebusch</a:t>
            </a:r>
            <a:r>
              <a:rPr lang="fr-FR" altLang="zh-TW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Simon Gog,</a:t>
            </a:r>
          </a:p>
          <a:p>
            <a:r>
              <a:rPr lang="en-US" altLang="zh-TW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Letters, Vol. 110, No. 3, pp. 123-128, January 2010.</a:t>
            </a:r>
            <a:endParaRPr lang="nl-NL" altLang="zh-TW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2833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2018/5/15</a:t>
            </a:r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7476619" cy="107649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All-pairs suffix-prefix problem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56734" y="1383956"/>
                <a:ext cx="7825947" cy="1271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collection of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strings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5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5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  <m:r>
                      <a:rPr lang="en-US" altLang="zh-TW" sz="25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TW" sz="25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ASAP is the problem of finding, for all pairs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longest suffix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is a prefix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34" y="1383956"/>
                <a:ext cx="7825947" cy="1271374"/>
              </a:xfrm>
              <a:prstGeom prst="rect">
                <a:avLst/>
              </a:prstGeom>
              <a:blipFill rotWithShape="0">
                <a:blip r:embed="rId2"/>
                <a:stretch>
                  <a:fillRect l="-1325" t="-3828" b="-100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766119" y="3089189"/>
            <a:ext cx="2059459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66119" y="3696042"/>
            <a:ext cx="2833816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766119" y="4377038"/>
            <a:ext cx="2537254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66119" y="4983892"/>
            <a:ext cx="1944130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766119" y="6289589"/>
            <a:ext cx="2471351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45674" y="3021526"/>
                <a:ext cx="584326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74" y="3021526"/>
                <a:ext cx="584326" cy="47705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45674" y="3642181"/>
                <a:ext cx="591187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74" y="3642181"/>
                <a:ext cx="591187" cy="47705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30431" y="4310289"/>
                <a:ext cx="591187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31" y="4310289"/>
                <a:ext cx="591187" cy="47705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30430" y="4950621"/>
                <a:ext cx="591187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30" y="4950621"/>
                <a:ext cx="591187" cy="47705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58310" y="6272794"/>
                <a:ext cx="680123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10" y="6272794"/>
                <a:ext cx="680123" cy="47705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/>
          <p:cNvSpPr txBox="1"/>
          <p:nvPr/>
        </p:nvSpPr>
        <p:spPr>
          <a:xfrm>
            <a:off x="1694017" y="5461834"/>
            <a:ext cx="615553" cy="6405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sz="2800" dirty="0" smtClean="0"/>
              <a:t>......</a:t>
            </a:r>
            <a:endParaRPr lang="zh-TW" altLang="en-US" sz="2800" dirty="0"/>
          </a:p>
        </p:txBody>
      </p:sp>
      <p:sp>
        <p:nvSpPr>
          <p:cNvPr id="19" name="矩形 18"/>
          <p:cNvSpPr/>
          <p:nvPr/>
        </p:nvSpPr>
        <p:spPr>
          <a:xfrm>
            <a:off x="5955958" y="4295528"/>
            <a:ext cx="1944130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5320269" y="4262257"/>
                <a:ext cx="546303" cy="4894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269" y="4262257"/>
                <a:ext cx="546303" cy="48949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>
            <a:off x="6755028" y="5033022"/>
            <a:ext cx="2166551" cy="3527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6119340" y="4973033"/>
                <a:ext cx="566117" cy="4894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340" y="4973033"/>
                <a:ext cx="566117" cy="48949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/>
          <p:cNvSpPr/>
          <p:nvPr/>
        </p:nvSpPr>
        <p:spPr>
          <a:xfrm>
            <a:off x="6755028" y="4295528"/>
            <a:ext cx="1145060" cy="345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6755028" y="5033022"/>
            <a:ext cx="1145060" cy="3527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單箭頭接點 27"/>
          <p:cNvCxnSpPr/>
          <p:nvPr/>
        </p:nvCxnSpPr>
        <p:spPr>
          <a:xfrm>
            <a:off x="4085967" y="4926055"/>
            <a:ext cx="782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28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7476619" cy="107649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All-pairs suffix-prefix problem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856734" y="1383956"/>
            <a:ext cx="78259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871978" y="2230693"/>
                <a:ext cx="221868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2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2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2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200" dirty="0" smtClean="0"/>
                  <a:t>	ATCAG</a:t>
                </a:r>
                <a:endParaRPr lang="zh-TW" altLang="en-US" sz="32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78" y="2230693"/>
                <a:ext cx="2218684" cy="584775"/>
              </a:xfrm>
              <a:prstGeom prst="rect">
                <a:avLst/>
              </a:prstGeom>
              <a:blipFill rotWithShape="0">
                <a:blip r:embed="rId2"/>
                <a:stretch>
                  <a:fillRect t="-12500" r="-6868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871978" y="2851348"/>
                <a:ext cx="205575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3200" dirty="0" smtClean="0"/>
                  <a:t>	AGAC</a:t>
                </a:r>
                <a:endParaRPr lang="zh-TW" altLang="en-US" sz="32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78" y="2851348"/>
                <a:ext cx="2055756" cy="584775"/>
              </a:xfrm>
              <a:prstGeom prst="rect">
                <a:avLst/>
              </a:prstGeom>
              <a:blipFill rotWithShape="0">
                <a:blip r:embed="rId3"/>
                <a:stretch>
                  <a:fillRect t="-12500" r="-7418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856735" y="3519456"/>
                <a:ext cx="229364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20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200" i="1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200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TW" sz="3200" dirty="0" smtClean="0"/>
                  <a:t>	CGACG</a:t>
                </a:r>
                <a:endParaRPr lang="zh-TW" altLang="en-US" sz="32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35" y="3519456"/>
                <a:ext cx="2293641" cy="584775"/>
              </a:xfrm>
              <a:prstGeom prst="rect">
                <a:avLst/>
              </a:prstGeom>
              <a:blipFill rotWithShape="0">
                <a:blip r:embed="rId4"/>
                <a:stretch>
                  <a:fillRect t="-12500" r="-5851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856734" y="4159788"/>
                <a:ext cx="279114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20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2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2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TW" sz="3200" dirty="0" smtClean="0"/>
                  <a:t>	GACGCAG</a:t>
                </a:r>
                <a:endParaRPr lang="zh-TW" altLang="en-US" sz="32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34" y="4159788"/>
                <a:ext cx="2791149" cy="584775"/>
              </a:xfrm>
              <a:prstGeom prst="rect">
                <a:avLst/>
              </a:prstGeom>
              <a:blipFill rotWithShape="0">
                <a:blip r:embed="rId5"/>
                <a:stretch>
                  <a:fillRect t="-12500" r="-5033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4769707" y="3004807"/>
            <a:ext cx="34287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TW" sz="3200" dirty="0" smtClean="0">
                <a:solidFill>
                  <a:prstClr val="black"/>
                </a:solidFill>
              </a:rPr>
              <a:t>ATCAGACGACGCAG</a:t>
            </a:r>
            <a:endParaRPr lang="zh-TW" altLang="en-US" sz="3200" dirty="0">
              <a:solidFill>
                <a:prstClr val="black"/>
              </a:solidFill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4860324" y="3519456"/>
            <a:ext cx="107915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5459626" y="3589582"/>
            <a:ext cx="95970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6190735" y="3688332"/>
            <a:ext cx="1182130" cy="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484086" y="3811843"/>
            <a:ext cx="1630184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89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8575931"/>
                  </p:ext>
                </p:extLst>
              </p:nvPr>
            </p:nvGraphicFramePr>
            <p:xfrm>
              <a:off x="665826" y="2938509"/>
              <a:ext cx="3225552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2776"/>
                    <a:gridCol w="1612776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Suffix</a:t>
                          </a:r>
                          <a:r>
                            <a:rPr lang="en-US" altLang="zh-TW" sz="1800" baseline="0" dirty="0" smtClean="0"/>
                            <a:t> of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i="1" baseline="0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banana$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err="1" smtClean="0"/>
                            <a:t>anana</a:t>
                          </a:r>
                          <a:r>
                            <a:rPr lang="en-US" altLang="zh-TW" sz="1800" dirty="0" smtClean="0"/>
                            <a:t>$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nana$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8575931"/>
                  </p:ext>
                </p:extLst>
              </p:nvPr>
            </p:nvGraphicFramePr>
            <p:xfrm>
              <a:off x="665826" y="2938509"/>
              <a:ext cx="3225552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2776"/>
                    <a:gridCol w="161277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77" t="-8197" r="-100755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377" t="-8197" r="-755" b="-7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banana$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err="1" smtClean="0"/>
                            <a:t>anana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nana$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665826" y="1025587"/>
                <a:ext cx="248574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sz="3000" dirty="0" smtClean="0">
                    <a:solidFill>
                      <a:prstClr val="black"/>
                    </a:solidFill>
                  </a:rPr>
                  <a:t> : banana</a:t>
                </a: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26" y="1025587"/>
                <a:ext cx="2485748" cy="553998"/>
              </a:xfrm>
              <a:prstGeom prst="rect">
                <a:avLst/>
              </a:prstGeom>
              <a:blipFill rotWithShape="0">
                <a:blip r:embed="rId3"/>
                <a:stretch>
                  <a:fillRect t="-13187" b="-34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/>
          <p:cNvSpPr txBox="1">
            <a:spLocks/>
          </p:cNvSpPr>
          <p:nvPr/>
        </p:nvSpPr>
        <p:spPr>
          <a:xfrm>
            <a:off x="308138" y="117991"/>
            <a:ext cx="7476619" cy="1076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Suffix array</a:t>
            </a:r>
            <a:r>
              <a:rPr lang="zh-TW" altLang="en-US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(SA)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6856515"/>
                  </p:ext>
                </p:extLst>
              </p:nvPr>
            </p:nvGraphicFramePr>
            <p:xfrm>
              <a:off x="683582" y="1686385"/>
              <a:ext cx="5387118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1989"/>
                    <a:gridCol w="626447"/>
                    <a:gridCol w="626447"/>
                    <a:gridCol w="626447"/>
                    <a:gridCol w="626447"/>
                    <a:gridCol w="626447"/>
                    <a:gridCol w="626447"/>
                    <a:gridCol w="626447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6856515"/>
                  </p:ext>
                </p:extLst>
              </p:nvPr>
            </p:nvGraphicFramePr>
            <p:xfrm>
              <a:off x="683582" y="1686385"/>
              <a:ext cx="5387118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1989"/>
                    <a:gridCol w="626447"/>
                    <a:gridCol w="626447"/>
                    <a:gridCol w="626447"/>
                    <a:gridCol w="626447"/>
                    <a:gridCol w="626447"/>
                    <a:gridCol w="626447"/>
                    <a:gridCol w="62644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10" t="-8065" r="-440244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10" t="-109836" r="-440244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4452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665826" y="1025587"/>
                <a:ext cx="248574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sz="3000" dirty="0" smtClean="0">
                    <a:solidFill>
                      <a:prstClr val="black"/>
                    </a:solidFill>
                  </a:rPr>
                  <a:t> : banana</a:t>
                </a: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26" y="1025587"/>
                <a:ext cx="2485748" cy="553998"/>
              </a:xfrm>
              <a:prstGeom prst="rect">
                <a:avLst/>
              </a:prstGeom>
              <a:blipFill rotWithShape="0">
                <a:blip r:embed="rId2"/>
                <a:stretch>
                  <a:fillRect t="-13187" b="-34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/>
          <p:cNvSpPr txBox="1">
            <a:spLocks/>
          </p:cNvSpPr>
          <p:nvPr/>
        </p:nvSpPr>
        <p:spPr>
          <a:xfrm>
            <a:off x="308138" y="117991"/>
            <a:ext cx="7476619" cy="1076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Suffix array</a:t>
            </a:r>
            <a:r>
              <a:rPr lang="zh-TW" alt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(SA)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5172841"/>
                  </p:ext>
                </p:extLst>
              </p:nvPr>
            </p:nvGraphicFramePr>
            <p:xfrm>
              <a:off x="665826" y="2938509"/>
              <a:ext cx="3225552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2776"/>
                    <a:gridCol w="1612776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Suffix</a:t>
                          </a:r>
                          <a:r>
                            <a:rPr lang="en-US" altLang="zh-TW" sz="1800" baseline="0" dirty="0" smtClean="0"/>
                            <a:t> of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i="1" baseline="0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$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a$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banana$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nana$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5172841"/>
                  </p:ext>
                </p:extLst>
              </p:nvPr>
            </p:nvGraphicFramePr>
            <p:xfrm>
              <a:off x="665826" y="2938509"/>
              <a:ext cx="3225552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2776"/>
                    <a:gridCol w="161277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77" t="-8197" r="-100755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377" t="-8197" r="-755" b="-7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$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a$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banana$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nana$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cxnSp>
        <p:nvCxnSpPr>
          <p:cNvPr id="13" name="直線單箭頭接點 12"/>
          <p:cNvCxnSpPr/>
          <p:nvPr/>
        </p:nvCxnSpPr>
        <p:spPr>
          <a:xfrm>
            <a:off x="4012707" y="4403324"/>
            <a:ext cx="816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0187198"/>
                  </p:ext>
                </p:extLst>
              </p:nvPr>
            </p:nvGraphicFramePr>
            <p:xfrm>
              <a:off x="5088385" y="2938509"/>
              <a:ext cx="3225552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2776"/>
                    <a:gridCol w="1612776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0187198"/>
                  </p:ext>
                </p:extLst>
              </p:nvPr>
            </p:nvGraphicFramePr>
            <p:xfrm>
              <a:off x="5088385" y="2938509"/>
              <a:ext cx="3225552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2776"/>
                    <a:gridCol w="161277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77" t="-3279" r="-100755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377" t="-3279" r="-755" b="-7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953739" y="2492233"/>
                <a:ext cx="2485748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300" dirty="0" smtClean="0"/>
                  <a:t>suffix array </a:t>
                </a:r>
                <a14:m>
                  <m:oMath xmlns:m="http://schemas.openxmlformats.org/officeDocument/2006/math">
                    <m:r>
                      <a:rPr lang="en-US" altLang="zh-TW" sz="23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300" i="1" dirty="0" smtClean="0">
                        <a:latin typeface="Cambria Math" panose="02040503050406030204" pitchFamily="18" charset="0"/>
                      </a:rPr>
                      <m:t>𝑆𝐴</m:t>
                    </m:r>
                  </m:oMath>
                </a14:m>
                <a:endParaRPr lang="en-US" altLang="zh-TW" sz="2300" dirty="0" smtClean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739" y="2492233"/>
                <a:ext cx="2485748" cy="446276"/>
              </a:xfrm>
              <a:prstGeom prst="rect">
                <a:avLst/>
              </a:prstGeom>
              <a:blipFill rotWithShape="0">
                <a:blip r:embed="rId5"/>
                <a:stretch>
                  <a:fillRect l="-3686" t="-10959" b="-301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5097263" y="4065973"/>
            <a:ext cx="3225552" cy="34622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683582" y="4075640"/>
            <a:ext cx="3225552" cy="34622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表格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3911267"/>
                  </p:ext>
                </p:extLst>
              </p:nvPr>
            </p:nvGraphicFramePr>
            <p:xfrm>
              <a:off x="683582" y="1686385"/>
              <a:ext cx="5387118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1989"/>
                    <a:gridCol w="626447"/>
                    <a:gridCol w="626447"/>
                    <a:gridCol w="626447"/>
                    <a:gridCol w="626447"/>
                    <a:gridCol w="626447"/>
                    <a:gridCol w="626447"/>
                    <a:gridCol w="626447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表格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3911267"/>
                  </p:ext>
                </p:extLst>
              </p:nvPr>
            </p:nvGraphicFramePr>
            <p:xfrm>
              <a:off x="683582" y="1686385"/>
              <a:ext cx="5387118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1989"/>
                    <a:gridCol w="626447"/>
                    <a:gridCol w="626447"/>
                    <a:gridCol w="626447"/>
                    <a:gridCol w="626447"/>
                    <a:gridCol w="626447"/>
                    <a:gridCol w="626447"/>
                    <a:gridCol w="62644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10" t="-8065" r="-440244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10" t="-109836" r="-440244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325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7476619" cy="107649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prefix (LCP)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877162" y="1367481"/>
                <a:ext cx="7633180" cy="1658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length of  the longest common prefix between </a:t>
                </a: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consecutive suffixes of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𝑆𝐴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𝐿𝐶𝑃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5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]=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length of LCP of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𝑠𝑢</m:t>
                    </m:r>
                    <m:sSub>
                      <m:sSubPr>
                        <m:ctrlPr>
                          <a:rPr lang="en-US" altLang="zh-TW" sz="2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500" i="1" dirty="0">
                            <a:latin typeface="Cambria Math" panose="02040503050406030204" pitchFamily="18" charset="0"/>
                          </a:rPr>
                          <m:t>𝑆𝐴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𝑠𝑢</m:t>
                    </m:r>
                    <m:sSub>
                      <m:sSubPr>
                        <m:ctrlPr>
                          <a:rPr lang="en-US" altLang="zh-TW" sz="2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500" i="1" dirty="0">
                            <a:latin typeface="Cambria Math" panose="02040503050406030204" pitchFamily="18" charset="0"/>
                          </a:rPr>
                          <m:t>𝑆𝐴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5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b>
                    </m:sSub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62" y="1367481"/>
                <a:ext cx="7633180" cy="1658724"/>
              </a:xfrm>
              <a:prstGeom prst="rect">
                <a:avLst/>
              </a:prstGeom>
              <a:blipFill rotWithShape="0">
                <a:blip r:embed="rId2"/>
                <a:stretch>
                  <a:fillRect l="-1358" t="-2941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2184943"/>
                  </p:ext>
                </p:extLst>
              </p:nvPr>
            </p:nvGraphicFramePr>
            <p:xfrm>
              <a:off x="631714" y="3199200"/>
              <a:ext cx="7597888" cy="298856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99472"/>
                    <a:gridCol w="1899472"/>
                    <a:gridCol w="1899472"/>
                    <a:gridCol w="1899472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𝑠𝑢</m:t>
                                </m:r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$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a$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banana$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nana$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2184943"/>
                  </p:ext>
                </p:extLst>
              </p:nvPr>
            </p:nvGraphicFramePr>
            <p:xfrm>
              <a:off x="631714" y="3199200"/>
              <a:ext cx="7597888" cy="298856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99472"/>
                    <a:gridCol w="1899472"/>
                    <a:gridCol w="1899472"/>
                    <a:gridCol w="1899472"/>
                  </a:tblGrid>
                  <a:tr h="3926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21" t="-1538" r="-300641" b="-67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321" t="-1538" r="-200641" b="-67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321" t="-1538" r="-100641" b="-67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321" t="-1538" r="-641" b="-67846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$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a$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banana$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nana$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0644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7" y="117991"/>
            <a:ext cx="8053267" cy="107649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 minimum query with LCP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877162" y="1367481"/>
                <a:ext cx="7822270" cy="1818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range minimum query (RMQ) with respect to the LCP </a:t>
                </a: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smallest </a:t>
                </a:r>
                <a:r>
                  <a:rPr lang="en-US" altLang="zh-TW" sz="25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lcp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value in an interval of SA.</a:t>
                </a: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𝑅𝑀𝑄</m:t>
                      </m:r>
                      <m:d>
                        <m:dPr>
                          <m:ctrlPr>
                            <a:rPr lang="en-US" altLang="zh-TW" sz="2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5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500" b="0" i="0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{</m:t>
                          </m:r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5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}</m:t>
                          </m:r>
                        </m:e>
                      </m:func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𝐿𝐶𝑃</m:t>
                      </m:r>
                      <m:d>
                        <m:d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𝑆𝐴</m:t>
                              </m:r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sub>
                          </m:sSub>
                          <m:r>
                            <a:rPr lang="en-US" altLang="zh-TW" sz="2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𝑆𝐴</m:t>
                              </m:r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62" y="1367481"/>
                <a:ext cx="7822270" cy="1818318"/>
              </a:xfrm>
              <a:prstGeom prst="rect">
                <a:avLst/>
              </a:prstGeom>
              <a:blipFill rotWithShape="0">
                <a:blip r:embed="rId2"/>
                <a:stretch>
                  <a:fillRect l="-1325" t="-2676" r="-3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8559149"/>
                  </p:ext>
                </p:extLst>
              </p:nvPr>
            </p:nvGraphicFramePr>
            <p:xfrm>
              <a:off x="385370" y="3182480"/>
              <a:ext cx="3179952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89976"/>
                    <a:gridCol w="1589976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8559149"/>
                  </p:ext>
                </p:extLst>
              </p:nvPr>
            </p:nvGraphicFramePr>
            <p:xfrm>
              <a:off x="385370" y="3182480"/>
              <a:ext cx="3179952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89976"/>
                    <a:gridCol w="158997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83" t="-1639" r="-100766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383" t="-1639" r="-766" b="-7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029771" y="3331287"/>
                <a:ext cx="4001737" cy="1631216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 , 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𝑅𝑀𝑄</m:t>
                      </m:r>
                      <m:d>
                        <m:d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500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5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5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1,3</m:t>
                              </m:r>
                            </m:e>
                          </m:d>
                        </m:e>
                      </m:func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771" y="3331287"/>
                <a:ext cx="4001737" cy="1631216"/>
              </a:xfrm>
              <a:prstGeom prst="rect">
                <a:avLst/>
              </a:prstGeom>
              <a:blipFill rotWithShape="0">
                <a:blip r:embed="rId4"/>
                <a:stretch>
                  <a:fillRect l="-2435" t="-29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385370" y="4288335"/>
            <a:ext cx="3179952" cy="755009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320680"/>
                  </p:ext>
                </p:extLst>
              </p:nvPr>
            </p:nvGraphicFramePr>
            <p:xfrm>
              <a:off x="4430494" y="4896538"/>
              <a:ext cx="4268937" cy="150520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22979"/>
                    <a:gridCol w="1422979"/>
                    <a:gridCol w="1422979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𝑠𝑢</m:t>
                                </m:r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a$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320680"/>
                  </p:ext>
                </p:extLst>
              </p:nvPr>
            </p:nvGraphicFramePr>
            <p:xfrm>
              <a:off x="4430494" y="4896538"/>
              <a:ext cx="4268937" cy="150520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22979"/>
                    <a:gridCol w="1422979"/>
                    <a:gridCol w="1422979"/>
                  </a:tblGrid>
                  <a:tr h="3926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427" t="-1538" r="-200855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0427" t="-1538" r="-100855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200427" t="-1538" r="-855" b="-30307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a$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anana</a:t>
                          </a:r>
                          <a:r>
                            <a:rPr lang="en-US" altLang="zh-TW" sz="1800" dirty="0" smtClean="0"/>
                            <a:t>$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800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665825" y="1025587"/>
                <a:ext cx="780267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0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sz="3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3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3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3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3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TW" sz="3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TW" sz="30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collection of </a:t>
                </a:r>
                <a14:m>
                  <m:oMath xmlns:m="http://schemas.openxmlformats.org/officeDocument/2006/math">
                    <m:r>
                      <a:rPr lang="en-US" altLang="zh-TW" sz="3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30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strings. The generalized suffix array of </a:t>
                </a:r>
                <a14:m>
                  <m:oMath xmlns:m="http://schemas.openxmlformats.org/officeDocument/2006/math">
                    <m:r>
                      <a:rPr lang="en-US" altLang="zh-TW" sz="3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altLang="zh-TW" sz="30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suffix array SA of the concatenated string </a:t>
                </a:r>
                <a14:m>
                  <m:oMath xmlns:m="http://schemas.openxmlformats.org/officeDocument/2006/math">
                    <m:r>
                      <a:rPr lang="en-US" altLang="zh-TW" sz="3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sz="3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sSubPr>
                        <m:ctrlP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sSub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3000" i="1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r>
                  <a:rPr lang="en-US" altLang="zh-TW" sz="3000" i="1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b>
                      <m:sSub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30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3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lexicographic order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3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3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3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TW" sz="3000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25" y="1025587"/>
                <a:ext cx="7802672" cy="3785652"/>
              </a:xfrm>
              <a:prstGeom prst="rect">
                <a:avLst/>
              </a:prstGeom>
              <a:blipFill rotWithShape="0">
                <a:blip r:embed="rId2"/>
                <a:stretch>
                  <a:fillRect l="-1797" t="-2093" b="-4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/>
          <p:cNvSpPr txBox="1">
            <a:spLocks/>
          </p:cNvSpPr>
          <p:nvPr/>
        </p:nvSpPr>
        <p:spPr>
          <a:xfrm>
            <a:off x="308138" y="117991"/>
            <a:ext cx="7476619" cy="1076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</a:t>
            </a:r>
            <a:r>
              <a:rPr lang="en-US" altLang="zh-TW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uffix array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598653" y="3175103"/>
            <a:ext cx="1451299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2032140" y="3521092"/>
                <a:ext cx="584326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140" y="3521092"/>
                <a:ext cx="584326" cy="47705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/>
          <p:nvPr/>
        </p:nvSpPr>
        <p:spPr>
          <a:xfrm>
            <a:off x="3049952" y="3175103"/>
            <a:ext cx="1645616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3483439" y="3521092"/>
                <a:ext cx="662562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439" y="3521092"/>
                <a:ext cx="662562" cy="47705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4695568" y="3175103"/>
            <a:ext cx="866973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4913238" y="3521092"/>
                <a:ext cx="591187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238" y="3521092"/>
                <a:ext cx="591187" cy="47705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5611861" y="3095870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...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5987231" y="3175103"/>
            <a:ext cx="1645616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6420718" y="3521092"/>
                <a:ext cx="662562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718" y="3521092"/>
                <a:ext cx="662562" cy="47705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48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665825" y="1025587"/>
                <a:ext cx="7802672" cy="416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0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denote the prefix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𝑆𝐴</m:t>
                        </m:r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</m:oMath>
                </a14:m>
                <a:r>
                  <a:rPr lang="en-US" altLang="zh-TW" sz="30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ends at the first separator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30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𝑆𝐴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  <m:sup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sup>
                    </m:sSubSup>
                  </m:oMath>
                </a14:m>
                <a:r>
                  <a:rPr lang="en-US" altLang="zh-TW" sz="30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3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</a:p>
              <a:p>
                <a:endParaRPr lang="en-US" altLang="zh-TW" sz="3000" i="1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𝑆𝐴</m:t>
                          </m:r>
                          <m:r>
                            <a:rPr lang="en-US" altLang="zh-TW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TW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sub>
                      </m:sSub>
                      <m:r>
                        <a:rPr lang="en-US" altLang="zh-TW" sz="3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3000" i="1" dirty="0" err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𝑎𝑏𝑐</m:t>
                      </m:r>
                      <m:sSub>
                        <m:sSubPr>
                          <m:ctrlPr>
                            <a:rPr lang="en-US" altLang="zh-TW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e>
                        <m:sub>
                          <m:r>
                            <a:rPr lang="en-US" altLang="zh-TW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𝑐𝑎𝑑𝑏</m:t>
                      </m:r>
                      <m:sSub>
                        <m:sSubPr>
                          <m:ctrlPr>
                            <a:rPr lang="en-US" altLang="zh-TW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e>
                        <m:sub>
                          <m:r>
                            <a:rPr lang="en-US" altLang="zh-TW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𝑐𝑎𝑐𝑎𝑑𝑑</m:t>
                      </m:r>
                      <m:sSub>
                        <m:sSubPr>
                          <m:ctrlPr>
                            <a:rPr lang="en-US" altLang="zh-TW" sz="3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e>
                        <m:sub>
                          <m:r>
                            <a:rPr lang="en-US" altLang="zh-TW" sz="3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3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en-US" altLang="zh-TW" sz="3000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zh-TW" altLang="en-US" sz="30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3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𝑆𝐴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  <m:sup>
                        <m: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sup>
                    </m:sSubSup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𝑎𝑏𝑐</m:t>
                    </m:r>
                    <m:sSub>
                      <m:sSubPr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3000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25" y="1025587"/>
                <a:ext cx="7802672" cy="4163319"/>
              </a:xfrm>
              <a:prstGeom prst="rect">
                <a:avLst/>
              </a:prstGeom>
              <a:blipFill rotWithShape="0">
                <a:blip r:embed="rId2"/>
                <a:stretch>
                  <a:fillRect l="-1797" t="-1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/>
          <p:cNvSpPr txBox="1">
            <a:spLocks/>
          </p:cNvSpPr>
          <p:nvPr/>
        </p:nvSpPr>
        <p:spPr>
          <a:xfrm>
            <a:off x="308138" y="117991"/>
            <a:ext cx="7476619" cy="1076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</a:t>
            </a:r>
            <a:r>
              <a:rPr lang="en-US" altLang="zh-TW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uffix array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16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7476619" cy="107649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STR array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877162" y="1367481"/>
                <a:ext cx="7310399" cy="47703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𝑇𝑅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indicates the string in S which a suffix came from.</a:t>
                </a:r>
              </a:p>
              <a:p>
                <a:endParaRPr lang="en-US" altLang="zh-TW" sz="25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𝑆𝑇𝑅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suffix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𝑆𝐴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sup>
                    </m:sSubSup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ends the symbol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</a:t>
                </a:r>
                <a:r>
                  <a:rPr lang="en-US" altLang="zh-TW" sz="28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r>
                  <a:rPr lang="en-US" altLang="zh-TW" sz="28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𝑆𝐴</m:t>
                        </m:r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</m:sSub>
                    <m:r>
                      <a:rPr lang="en-US" altLang="zh-TW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800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𝑎𝑏𝑐</m:t>
                    </m:r>
                    <m:sSub>
                      <m:sSubPr>
                        <m:ctrlP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𝑐𝑎𝑑𝑏</m:t>
                    </m:r>
                    <m:sSub>
                      <m:sSubPr>
                        <m:ctrlP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𝑐𝑎𝑐𝑎𝑑𝑑</m:t>
                    </m:r>
                    <m:sSub>
                      <m:sSubPr>
                        <m:ctrlP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endParaRPr lang="en-US" altLang="zh-TW" sz="2800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zh-TW" altLang="en-US" sz="28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𝑆𝐴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𝑎𝑏𝑐</m:t>
                    </m:r>
                    <m:sSub>
                      <m:sSubPr>
                        <m:ctrlP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</a:p>
              <a:p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400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STR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d>
                    <m:r>
                      <a:rPr lang="en-US" altLang="zh-TW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62" y="1367481"/>
                <a:ext cx="7310399" cy="4770345"/>
              </a:xfrm>
              <a:prstGeom prst="rect">
                <a:avLst/>
              </a:prstGeom>
              <a:blipFill rotWithShape="0">
                <a:blip r:embed="rId2"/>
                <a:stretch>
                  <a:fillRect l="-1751" t="-1022" r="-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93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308138" y="117991"/>
                <a:ext cx="7476619" cy="107649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4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altLang="zh-TW" sz="4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𝑆𝐴</m:t>
                    </m:r>
                    <m:r>
                      <a:rPr lang="en-US" altLang="zh-TW" sz="4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</m:t>
                    </m:r>
                  </m:oMath>
                </a14:m>
                <a:r>
                  <a:rPr lang="en-US" altLang="zh-TW" sz="4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array</a:t>
                </a:r>
                <a:endParaRPr lang="zh-TW" altLang="en-US" sz="4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08138" y="117991"/>
                <a:ext cx="7476619" cy="1076495"/>
              </a:xfrm>
              <a:blipFill rotWithShape="0">
                <a:blip r:embed="rId2"/>
                <a:stretch>
                  <a:fillRect l="-3426" t="-1695" b="-107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877162" y="1367481"/>
                <a:ext cx="7738657" cy="5212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holds the position of a suffix with respect to the string </a:t>
                </a: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came from, defined as</a:t>
                </a:r>
              </a:p>
              <a:p>
                <a:endParaRPr lang="en-US" altLang="zh-TW" sz="25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b="0" dirty="0" smtClean="0"/>
                  <a:t>		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𝑆𝐴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sup>
                    </m:sSubSup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</a:t>
                </a:r>
                <a:r>
                  <a:rPr lang="en-US" altLang="zh-TW" sz="28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r>
                  <a:rPr lang="en-US" altLang="zh-TW" sz="2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8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𝑎𝑎𝑏𝑐</m:t>
                    </m:r>
                  </m:oMath>
                </a14:m>
                <a:endParaRPr lang="en-US" altLang="zh-TW" sz="2800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𝑆𝐴</m:t>
                        </m:r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</m:sSub>
                    <m:r>
                      <a:rPr lang="en-US" altLang="zh-TW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800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𝑎𝑏𝑐</m:t>
                    </m:r>
                    <m:sSub>
                      <m:sSubPr>
                        <m:ctrlP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𝑐𝑎𝑑𝑏</m:t>
                    </m:r>
                    <m:sSub>
                      <m:sSubPr>
                        <m:ctrlP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𝑐𝑎𝑐𝑎𝑑𝑑</m:t>
                    </m:r>
                    <m:sSub>
                      <m:sSubPr>
                        <m:ctrlP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endParaRPr lang="en-US" altLang="zh-TW" sz="2800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zh-TW" altLang="en-US" sz="28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𝑆𝐴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𝑎𝑏𝑐</m:t>
                    </m:r>
                    <m:sSub>
                      <m:sSubPr>
                        <m:ctrlP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</a:p>
              <a:p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400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SA</m:t>
                    </m:r>
                    <m:r>
                      <a:rPr lang="en-US" altLang="zh-TW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d>
                    <m:r>
                      <a:rPr lang="en-US" altLang="zh-TW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62" y="1367481"/>
                <a:ext cx="7738657" cy="5212324"/>
              </a:xfrm>
              <a:prstGeom prst="rect">
                <a:avLst/>
              </a:prstGeom>
              <a:blipFill rotWithShape="0">
                <a:blip r:embed="rId3"/>
                <a:stretch>
                  <a:fillRect l="-1655" t="-936" r="-3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7476619" cy="107649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GESA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2359973" y="265320"/>
                <a:ext cx="6180987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00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3000" b="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 generalized suffix array enhanced </a:t>
                </a:r>
              </a:p>
              <a:p>
                <a:r>
                  <a:rPr lang="en-US" altLang="zh-TW" sz="3000" b="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the arrays </a:t>
                </a:r>
                <a14:m>
                  <m:oMath xmlns:m="http://schemas.openxmlformats.org/officeDocument/2006/math">
                    <m:r>
                      <a:rPr lang="en-US" altLang="zh-TW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𝑆𝑇𝑅</m:t>
                    </m:r>
                    <m:r>
                      <a:rPr lang="en-US" altLang="zh-TW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sSup>
                      <m:sSupPr>
                        <m:ctrlPr>
                          <a:rPr lang="en-US" altLang="zh-TW" sz="3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3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3000" b="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𝐿𝐶𝑃</m:t>
                    </m:r>
                    <m:r>
                      <a:rPr lang="en-US" altLang="zh-TW" sz="3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zh-TW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973" y="265320"/>
                <a:ext cx="6180987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2268" t="-7831" r="-1381" b="-180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26" y="1367481"/>
            <a:ext cx="6424967" cy="532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5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1045" y="117991"/>
            <a:ext cx="9066521" cy="1603717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by </a:t>
            </a:r>
            <a:r>
              <a:rPr lang="en-US" altLang="zh-TW" sz="4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Ohlebusch</a:t>
            </a:r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Gog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877162" y="1721708"/>
                <a:ext cx="760781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Ohlebusch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Gog solved the APSP in </a:t>
                </a: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zh-TW" sz="3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the following lemma.</a:t>
                </a: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62" y="1721708"/>
                <a:ext cx="7607811" cy="1477328"/>
              </a:xfrm>
              <a:prstGeom prst="rect">
                <a:avLst/>
              </a:prstGeom>
              <a:blipFill rotWithShape="0">
                <a:blip r:embed="rId2"/>
                <a:stretch>
                  <a:fillRect l="-1923" t="-5350" b="-115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80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819497" y="164757"/>
                <a:ext cx="7607811" cy="329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𝑝𝑜𝑠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the position of string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GESA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SA</m:t>
                    </m:r>
                    <m:r>
                      <a:rPr lang="en-US" altLang="zh-TW" sz="3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3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d>
                    <m:r>
                      <a:rPr lang="en-US" altLang="zh-TW" sz="3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2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STR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3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d>
                    <m:r>
                      <a:rPr lang="en-US" altLang="zh-TW" sz="3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3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suffix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equal to a prefix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either 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𝑝𝑜𝑠</m:t>
                    </m:r>
                    <m:d>
                      <m:d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3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𝑝𝑜𝑠</m:t>
                    </m:r>
                    <m:d>
                      <m:d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altLang="zh-TW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j</m:t>
                    </m:r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k</m:t>
                    </m:r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zh-TW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97" y="164757"/>
                <a:ext cx="7607811" cy="3293530"/>
              </a:xfrm>
              <a:prstGeom prst="rect">
                <a:avLst/>
              </a:prstGeom>
              <a:blipFill rotWithShape="0">
                <a:blip r:embed="rId2"/>
                <a:stretch>
                  <a:fillRect l="-1843" t="-2037" b="-31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9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819497" y="164757"/>
                <a:ext cx="7607811" cy="329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𝑝𝑜𝑠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the position of string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GESA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SA</m:t>
                    </m:r>
                    <m:r>
                      <a:rPr lang="en-US" altLang="zh-TW" sz="3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3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d>
                    <m:r>
                      <a:rPr lang="en-US" altLang="zh-TW" sz="3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2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STR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3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d>
                    <m:r>
                      <a:rPr lang="en-US" altLang="zh-TW" sz="3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3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suffix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equal to a prefix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either 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𝑝𝑜𝑠</m:t>
                    </m:r>
                    <m:d>
                      <m:d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solidFill>
                      <a:schemeClr val="bg1">
                        <a:lumMod val="8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3000" i="1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𝑝𝑜𝑠</m:t>
                    </m:r>
                    <m:d>
                      <m:dPr>
                        <m:ctrlPr>
                          <a:rPr lang="en-US" altLang="zh-TW" sz="3000" i="1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3000" i="1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000" i="1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3000" i="1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zh-TW" sz="3000" i="1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  <m:r>
                      <a:rPr lang="en-US" altLang="zh-TW" sz="30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altLang="zh-TW" sz="30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sz="3000" dirty="0" smtClean="0">
                    <a:solidFill>
                      <a:schemeClr val="bg1">
                        <a:lumMod val="8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solidFill>
                      <a:schemeClr val="bg1">
                        <a:lumMod val="8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altLang="zh-TW" sz="3000" b="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TW" sz="300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altLang="zh-TW" sz="30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altLang="zh-TW" sz="30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j</m:t>
                    </m:r>
                    <m:r>
                      <a:rPr lang="en-US" altLang="zh-TW" sz="30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k</m:t>
                    </m:r>
                    <m:r>
                      <a:rPr lang="en-US" altLang="zh-TW" sz="30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zh-TW" altLang="en-US" sz="3000" dirty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97" y="164757"/>
                <a:ext cx="7607811" cy="3293530"/>
              </a:xfrm>
              <a:prstGeom prst="rect">
                <a:avLst/>
              </a:prstGeom>
              <a:blipFill rotWithShape="0">
                <a:blip r:embed="rId2"/>
                <a:stretch>
                  <a:fillRect l="-1843" t="-2037" b="-31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676016" y="3858843"/>
            <a:ext cx="1451299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109503" y="4204832"/>
                <a:ext cx="584326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503" y="4204832"/>
                <a:ext cx="584326" cy="47705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3025824" y="3877968"/>
            <a:ext cx="1645616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459311" y="4223957"/>
                <a:ext cx="662562" cy="483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311" y="4223957"/>
                <a:ext cx="662562" cy="48391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/>
          <p:cNvSpPr txBox="1"/>
          <p:nvPr/>
        </p:nvSpPr>
        <p:spPr>
          <a:xfrm>
            <a:off x="4689224" y="3779610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...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064594" y="3858843"/>
            <a:ext cx="1645616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5498081" y="4204832"/>
                <a:ext cx="662562" cy="4894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081" y="4204832"/>
                <a:ext cx="662562" cy="48949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5611083" y="3858842"/>
                <a:ext cx="1099119" cy="34598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083" y="3858842"/>
                <a:ext cx="1099119" cy="34598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/>
          <p:cNvSpPr txBox="1"/>
          <p:nvPr/>
        </p:nvSpPr>
        <p:spPr>
          <a:xfrm>
            <a:off x="6727790" y="3779610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...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7103160" y="3858843"/>
            <a:ext cx="1645616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7536647" y="4204832"/>
                <a:ext cx="662562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647" y="4204832"/>
                <a:ext cx="662562" cy="47705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接點 22"/>
          <p:cNvCxnSpPr>
            <a:stCxn id="18" idx="1"/>
          </p:cNvCxnSpPr>
          <p:nvPr/>
        </p:nvCxnSpPr>
        <p:spPr>
          <a:xfrm>
            <a:off x="5611083" y="4031837"/>
            <a:ext cx="8791" cy="9917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8" idx="3"/>
          </p:cNvCxnSpPr>
          <p:nvPr/>
        </p:nvCxnSpPr>
        <p:spPr>
          <a:xfrm flipH="1">
            <a:off x="6707132" y="4031837"/>
            <a:ext cx="3070" cy="9917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5608013" y="4989042"/>
                <a:ext cx="1099119" cy="34598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013" y="4989042"/>
                <a:ext cx="1099119" cy="34598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3021227" y="3877966"/>
                <a:ext cx="1099119" cy="34598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27" y="3877966"/>
                <a:ext cx="1099119" cy="345989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6707132" y="5002568"/>
                <a:ext cx="292772" cy="332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132" y="5002568"/>
                <a:ext cx="292772" cy="332463"/>
              </a:xfrm>
              <a:prstGeom prst="rect">
                <a:avLst/>
              </a:prstGeom>
              <a:blipFill rotWithShape="0">
                <a:blip r:embed="rId10"/>
                <a:stretch>
                  <a:fillRect l="-27083" t="-3704" r="-12500" b="-2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/>
          <p:cNvSpPr txBox="1"/>
          <p:nvPr/>
        </p:nvSpPr>
        <p:spPr>
          <a:xfrm>
            <a:off x="2440127" y="3811126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...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196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819497" y="164757"/>
                <a:ext cx="7607811" cy="329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𝑝𝑜𝑠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the position of string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GESA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SA</m:t>
                    </m:r>
                    <m:r>
                      <a:rPr lang="en-US" altLang="zh-TW" sz="3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3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d>
                    <m:r>
                      <a:rPr lang="en-US" altLang="zh-TW" sz="3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2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STR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3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d>
                    <m:r>
                      <a:rPr lang="en-US" altLang="zh-TW" sz="3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3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3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suffix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equal to a prefix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either 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300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𝑝𝑜𝑠</m:t>
                    </m:r>
                    <m:d>
                      <m:dPr>
                        <m:ctrlPr>
                          <a:rPr lang="en-US" altLang="zh-TW" sz="3000" i="1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3000" i="1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000" i="1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3000" i="1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zh-TW" sz="3000" i="1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  <m:r>
                      <a:rPr lang="en-US" altLang="zh-TW" sz="30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TW" sz="30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000" b="0" i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sz="3000" dirty="0" smtClean="0">
                    <a:solidFill>
                      <a:schemeClr val="bg1">
                        <a:lumMod val="8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solidFill>
                      <a:schemeClr val="bg1">
                        <a:lumMod val="8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𝑝𝑜𝑠</m:t>
                    </m:r>
                    <m:d>
                      <m:d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altLang="zh-TW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TW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j</m:t>
                    </m:r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k</m:t>
                    </m:r>
                    <m:r>
                      <a:rPr lang="en-US" altLang="zh-TW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zh-TW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97" y="164757"/>
                <a:ext cx="7607811" cy="3293530"/>
              </a:xfrm>
              <a:prstGeom prst="rect">
                <a:avLst/>
              </a:prstGeom>
              <a:blipFill rotWithShape="0">
                <a:blip r:embed="rId2"/>
                <a:stretch>
                  <a:fillRect l="-1843" t="-2037" b="-31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676016" y="3858843"/>
            <a:ext cx="1451299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109503" y="4204832"/>
                <a:ext cx="584326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503" y="4204832"/>
                <a:ext cx="584326" cy="47705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866350" y="3858843"/>
            <a:ext cx="1645616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299837" y="4204832"/>
                <a:ext cx="662562" cy="483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837" y="4204832"/>
                <a:ext cx="662562" cy="48391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/>
          <p:cNvSpPr txBox="1"/>
          <p:nvPr/>
        </p:nvSpPr>
        <p:spPr>
          <a:xfrm>
            <a:off x="4689224" y="3779610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...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064594" y="3858843"/>
            <a:ext cx="1645616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5498081" y="4204832"/>
                <a:ext cx="662562" cy="4894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081" y="4204832"/>
                <a:ext cx="662562" cy="48949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5246395" y="3858842"/>
                <a:ext cx="1463807" cy="34598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395" y="3858842"/>
                <a:ext cx="1463807" cy="34598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/>
          <p:cNvSpPr txBox="1"/>
          <p:nvPr/>
        </p:nvSpPr>
        <p:spPr>
          <a:xfrm>
            <a:off x="6727790" y="3779610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...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7103160" y="3858843"/>
            <a:ext cx="1645616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7536647" y="4204832"/>
                <a:ext cx="662562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647" y="4204832"/>
                <a:ext cx="662562" cy="47705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接點 22"/>
          <p:cNvCxnSpPr>
            <a:stCxn id="18" idx="1"/>
            <a:endCxn id="27" idx="1"/>
          </p:cNvCxnSpPr>
          <p:nvPr/>
        </p:nvCxnSpPr>
        <p:spPr>
          <a:xfrm>
            <a:off x="5246395" y="4031837"/>
            <a:ext cx="0" cy="113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8" idx="3"/>
          </p:cNvCxnSpPr>
          <p:nvPr/>
        </p:nvCxnSpPr>
        <p:spPr>
          <a:xfrm flipH="1">
            <a:off x="6707134" y="4031837"/>
            <a:ext cx="3068" cy="9917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5246395" y="4989042"/>
                <a:ext cx="1460738" cy="34598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395" y="4989042"/>
                <a:ext cx="1460738" cy="34598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2861753" y="3858841"/>
                <a:ext cx="1650205" cy="34598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753" y="3858841"/>
                <a:ext cx="1650205" cy="345989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6707132" y="5002568"/>
                <a:ext cx="292772" cy="332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132" y="5002568"/>
                <a:ext cx="292772" cy="332463"/>
              </a:xfrm>
              <a:prstGeom prst="rect">
                <a:avLst/>
              </a:prstGeom>
              <a:blipFill rotWithShape="0">
                <a:blip r:embed="rId10"/>
                <a:stretch>
                  <a:fillRect l="-27083" t="-3704" r="-12500" b="-2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/>
          <p:cNvSpPr txBox="1"/>
          <p:nvPr/>
        </p:nvSpPr>
        <p:spPr>
          <a:xfrm>
            <a:off x="2312194" y="3824331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...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021695" y="4843848"/>
            <a:ext cx="2278142" cy="1869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676016" y="5102783"/>
                <a:ext cx="3186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16" y="5102783"/>
                <a:ext cx="318613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1020264" y="5179115"/>
                <a:ext cx="2279573" cy="293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64" y="5179115"/>
                <a:ext cx="2279573" cy="293000"/>
              </a:xfrm>
              <a:prstGeom prst="rect">
                <a:avLst/>
              </a:prstGeom>
              <a:blipFill rotWithShape="0">
                <a:blip r:embed="rId12"/>
                <a:stretch>
                  <a:fillRect t="-6000" b="-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655748" y="6000734"/>
                <a:ext cx="3695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48" y="6000734"/>
                <a:ext cx="369588" cy="369332"/>
              </a:xfrm>
              <a:prstGeom prst="rect">
                <a:avLst/>
              </a:prstGeom>
              <a:blipFill rotWithShape="0"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/>
              <p:cNvSpPr/>
              <p:nvPr/>
            </p:nvSpPr>
            <p:spPr>
              <a:xfrm>
                <a:off x="1025336" y="6067447"/>
                <a:ext cx="2279573" cy="2800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36" y="6067447"/>
                <a:ext cx="2279573" cy="280097"/>
              </a:xfrm>
              <a:prstGeom prst="rect">
                <a:avLst/>
              </a:prstGeom>
              <a:blipFill rotWithShape="0">
                <a:blip r:embed="rId14"/>
                <a:stretch>
                  <a:fillRect t="-8333" b="-125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/>
          <p:cNvSpPr txBox="1"/>
          <p:nvPr/>
        </p:nvSpPr>
        <p:spPr>
          <a:xfrm>
            <a:off x="647838" y="5674653"/>
            <a:ext cx="461665" cy="26545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dirty="0" smtClean="0"/>
              <a:t>...</a:t>
            </a:r>
            <a:endParaRPr lang="zh-TW" altLang="en-US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929217" y="5672487"/>
            <a:ext cx="461665" cy="26545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dirty="0" smtClean="0"/>
              <a:t>...</a:t>
            </a:r>
            <a:endParaRPr lang="zh-TW" altLang="en-US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656762" y="6444232"/>
            <a:ext cx="461665" cy="26545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dirty="0" smtClean="0"/>
              <a:t>...</a:t>
            </a:r>
            <a:endParaRPr lang="zh-TW" altLang="en-US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1929216" y="6417425"/>
            <a:ext cx="461665" cy="26545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dirty="0" smtClean="0"/>
              <a:t>...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8336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819497" y="164757"/>
                <a:ext cx="7607811" cy="3991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OG scans GESA from position m+1 to N, keep track of all suffixes seen so far that are a prefix of the current suffix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sSup>
                          <m:sSupPr>
                            <m:ctrlPr>
                              <a:rPr lang="en-US" altLang="zh-TW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TW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a:rPr lang="en-US" altLang="zh-TW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p>
                    </m:sSubSup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zh-TW" sz="30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current suffix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sSup>
                          <m:s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STR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p>
                    </m:sSub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prefix of the next suffix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sSup>
                          <m:s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STR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p>
                    </m:sSub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value of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𝐿𝐶𝑃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+1]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pushed onto </a:t>
                </a:r>
                <a14:m>
                  <m:oMath xmlns:m="http://schemas.openxmlformats.org/officeDocument/2006/math">
                    <m:r>
                      <a:rPr lang="en-US" altLang="zh-TW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𝑠𝑡𝑎𝑐𝑘</m:t>
                    </m:r>
                    <m:r>
                      <a:rPr lang="en-US" altLang="zh-TW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𝑆𝑇𝑅</m:t>
                    </m:r>
                    <m:r>
                      <a:rPr lang="en-US" altLang="zh-TW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3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]]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97" y="164757"/>
                <a:ext cx="7607811" cy="3991285"/>
              </a:xfrm>
              <a:prstGeom prst="rect">
                <a:avLst/>
              </a:prstGeom>
              <a:blipFill rotWithShape="0">
                <a:blip r:embed="rId2"/>
                <a:stretch>
                  <a:fillRect l="-1843" t="-1985" r="-1683" b="-38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圖片 21"/>
          <p:cNvPicPr>
            <a:picLocks noChangeAspect="1"/>
          </p:cNvPicPr>
          <p:nvPr/>
        </p:nvPicPr>
        <p:blipFill rotWithShape="1">
          <a:blip r:embed="rId3"/>
          <a:srcRect t="52087" b="36476"/>
          <a:stretch/>
        </p:blipFill>
        <p:spPr>
          <a:xfrm>
            <a:off x="475541" y="4740822"/>
            <a:ext cx="6424967" cy="609600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 rotWithShape="1">
          <a:blip r:embed="rId3"/>
          <a:srcRect t="698" b="90029"/>
          <a:stretch/>
        </p:blipFill>
        <p:spPr>
          <a:xfrm>
            <a:off x="475542" y="4250725"/>
            <a:ext cx="6424967" cy="494270"/>
          </a:xfrm>
          <a:prstGeom prst="rect">
            <a:avLst/>
          </a:prstGeom>
        </p:spPr>
      </p:pic>
      <p:cxnSp>
        <p:nvCxnSpPr>
          <p:cNvPr id="4" name="直線接點 3"/>
          <p:cNvCxnSpPr/>
          <p:nvPr/>
        </p:nvCxnSpPr>
        <p:spPr>
          <a:xfrm>
            <a:off x="7043351" y="5008605"/>
            <a:ext cx="0" cy="12521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7805351" y="5008605"/>
            <a:ext cx="0" cy="12521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7043351" y="6260757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6970540" y="6326659"/>
                <a:ext cx="907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𝑠𝑡𝑎𝑐𝑘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540" y="6326659"/>
                <a:ext cx="907621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6040" t="-4444" r="-9396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/>
          <p:cNvSpPr txBox="1"/>
          <p:nvPr/>
        </p:nvSpPr>
        <p:spPr>
          <a:xfrm>
            <a:off x="7273507" y="58584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34" name="直線接點 33"/>
          <p:cNvCxnSpPr/>
          <p:nvPr/>
        </p:nvCxnSpPr>
        <p:spPr>
          <a:xfrm>
            <a:off x="7043351" y="5873577"/>
            <a:ext cx="762000" cy="2058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03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819497" y="164757"/>
                <a:ext cx="7607811" cy="3592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current suffix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sSup>
                          <m:s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STR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sup>
                    </m:sSub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complete string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the top element of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𝑠𝑡𝑎𝑐𝑘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longest suffix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which is a prefix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Unless there is a suffix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is identical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Such an identical suffix must immediately follow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GESA.</a:t>
                </a: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97" y="164757"/>
                <a:ext cx="7607811" cy="3592715"/>
              </a:xfrm>
              <a:prstGeom prst="rect">
                <a:avLst/>
              </a:prstGeom>
              <a:blipFill rotWithShape="0">
                <a:blip r:embed="rId2"/>
                <a:stretch>
                  <a:fillRect l="-1843" r="-2965" b="-45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圖片 21"/>
          <p:cNvPicPr>
            <a:picLocks noChangeAspect="1"/>
          </p:cNvPicPr>
          <p:nvPr/>
        </p:nvPicPr>
        <p:blipFill rotWithShape="1">
          <a:blip r:embed="rId3"/>
          <a:srcRect t="52087" b="36476"/>
          <a:stretch/>
        </p:blipFill>
        <p:spPr>
          <a:xfrm>
            <a:off x="475541" y="4740822"/>
            <a:ext cx="6424967" cy="609600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 rotWithShape="1">
          <a:blip r:embed="rId3"/>
          <a:srcRect t="698" b="90029"/>
          <a:stretch/>
        </p:blipFill>
        <p:spPr>
          <a:xfrm>
            <a:off x="475542" y="4250725"/>
            <a:ext cx="6424967" cy="494270"/>
          </a:xfrm>
          <a:prstGeom prst="rect">
            <a:avLst/>
          </a:prstGeom>
        </p:spPr>
      </p:pic>
      <p:cxnSp>
        <p:nvCxnSpPr>
          <p:cNvPr id="4" name="直線接點 3"/>
          <p:cNvCxnSpPr/>
          <p:nvPr/>
        </p:nvCxnSpPr>
        <p:spPr>
          <a:xfrm>
            <a:off x="7043351" y="5008605"/>
            <a:ext cx="0" cy="12521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7805351" y="5008605"/>
            <a:ext cx="0" cy="12521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7043351" y="6260757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6970540" y="6326659"/>
                <a:ext cx="907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𝑠𝑡𝑎𝑐𝑘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540" y="6326659"/>
                <a:ext cx="907621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6040" t="-4444" r="-9396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/>
          <p:cNvSpPr txBox="1"/>
          <p:nvPr/>
        </p:nvSpPr>
        <p:spPr>
          <a:xfrm>
            <a:off x="7273507" y="58584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34" name="直線接點 33"/>
          <p:cNvCxnSpPr/>
          <p:nvPr/>
        </p:nvCxnSpPr>
        <p:spPr>
          <a:xfrm>
            <a:off x="7043351" y="5873577"/>
            <a:ext cx="762000" cy="2058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1132703" y="5018818"/>
            <a:ext cx="5148649" cy="31512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單箭頭接點 40"/>
          <p:cNvCxnSpPr/>
          <p:nvPr/>
        </p:nvCxnSpPr>
        <p:spPr>
          <a:xfrm flipH="1">
            <a:off x="5082746" y="6109042"/>
            <a:ext cx="2103449" cy="85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/>
              <p:cNvSpPr/>
              <p:nvPr/>
            </p:nvSpPr>
            <p:spPr>
              <a:xfrm>
                <a:off x="3448340" y="5709220"/>
                <a:ext cx="1514838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5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𝑎𝑎</m:t>
                      </m:r>
                      <m:r>
                        <a:rPr lang="en-US" altLang="zh-TW" sz="25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340" y="5709220"/>
                <a:ext cx="1514838" cy="47705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/>
              <p:cNvSpPr/>
              <p:nvPr/>
            </p:nvSpPr>
            <p:spPr>
              <a:xfrm>
                <a:off x="3448340" y="6194856"/>
                <a:ext cx="1519327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TW" sz="25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5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𝑐𝑎𝑎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340" y="6194856"/>
                <a:ext cx="1519327" cy="47705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49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819497" y="164757"/>
                <a:ext cx="7607811" cy="4738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𝑂𝑣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the longest suffix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is a prefix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𝑂𝑣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97" y="164757"/>
                <a:ext cx="7607811" cy="4738861"/>
              </a:xfrm>
              <a:prstGeom prst="rect">
                <a:avLst/>
              </a:prstGeom>
              <a:blipFill rotWithShape="0">
                <a:blip r:embed="rId2"/>
                <a:stretch>
                  <a:fillRect l="-1843" t="-12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圖片 21"/>
          <p:cNvPicPr>
            <a:picLocks noChangeAspect="1"/>
          </p:cNvPicPr>
          <p:nvPr/>
        </p:nvPicPr>
        <p:blipFill rotWithShape="1">
          <a:blip r:embed="rId3"/>
          <a:srcRect t="52087" b="36476"/>
          <a:stretch/>
        </p:blipFill>
        <p:spPr>
          <a:xfrm>
            <a:off x="475541" y="1849341"/>
            <a:ext cx="6424967" cy="609600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 rotWithShape="1">
          <a:blip r:embed="rId3"/>
          <a:srcRect t="698" b="90029"/>
          <a:stretch/>
        </p:blipFill>
        <p:spPr>
          <a:xfrm>
            <a:off x="475542" y="1359244"/>
            <a:ext cx="6424967" cy="494270"/>
          </a:xfrm>
          <a:prstGeom prst="rect">
            <a:avLst/>
          </a:prstGeom>
        </p:spPr>
      </p:pic>
      <p:cxnSp>
        <p:nvCxnSpPr>
          <p:cNvPr id="4" name="直線接點 3"/>
          <p:cNvCxnSpPr/>
          <p:nvPr/>
        </p:nvCxnSpPr>
        <p:spPr>
          <a:xfrm>
            <a:off x="7043351" y="2117124"/>
            <a:ext cx="0" cy="12521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7805351" y="2117124"/>
            <a:ext cx="0" cy="12521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7043351" y="3369276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6970540" y="3435178"/>
                <a:ext cx="907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𝑠𝑡𝑎𝑐𝑘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540" y="3435178"/>
                <a:ext cx="907621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6040" t="-4444" r="-9396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/>
          <p:cNvSpPr txBox="1"/>
          <p:nvPr/>
        </p:nvSpPr>
        <p:spPr>
          <a:xfrm>
            <a:off x="7273507" y="29669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34" name="直線接點 33"/>
          <p:cNvCxnSpPr/>
          <p:nvPr/>
        </p:nvCxnSpPr>
        <p:spPr>
          <a:xfrm>
            <a:off x="7043351" y="2982096"/>
            <a:ext cx="762000" cy="2058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1132703" y="2127337"/>
            <a:ext cx="5148649" cy="31512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單箭頭接點 40"/>
          <p:cNvCxnSpPr/>
          <p:nvPr/>
        </p:nvCxnSpPr>
        <p:spPr>
          <a:xfrm flipH="1">
            <a:off x="5082746" y="3217561"/>
            <a:ext cx="2103449" cy="85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/>
              <p:cNvSpPr/>
              <p:nvPr/>
            </p:nvSpPr>
            <p:spPr>
              <a:xfrm>
                <a:off x="3448340" y="2817739"/>
                <a:ext cx="1514838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5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𝑎𝑎</m:t>
                      </m:r>
                      <m:r>
                        <a:rPr lang="en-US" altLang="zh-TW" sz="25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340" y="2817739"/>
                <a:ext cx="1514838" cy="47705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/>
              <p:cNvSpPr/>
              <p:nvPr/>
            </p:nvSpPr>
            <p:spPr>
              <a:xfrm>
                <a:off x="3448340" y="3303375"/>
                <a:ext cx="1519327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TW" sz="25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5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𝑐𝑎𝑎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340" y="3303375"/>
                <a:ext cx="1519327" cy="47705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035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819497" y="164757"/>
            <a:ext cx="76078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scan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suffixes on the stacks that are 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a 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of the current suffix must be removed.</a:t>
            </a:r>
            <a:endParaRPr lang="en-US" altLang="zh-TW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 rotWithShape="1">
          <a:blip r:embed="rId2"/>
          <a:srcRect t="52087" b="31606"/>
          <a:stretch/>
        </p:blipFill>
        <p:spPr>
          <a:xfrm>
            <a:off x="673248" y="2533080"/>
            <a:ext cx="6424967" cy="869146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 rotWithShape="1">
          <a:blip r:embed="rId2"/>
          <a:srcRect t="698" b="90029"/>
          <a:stretch/>
        </p:blipFill>
        <p:spPr>
          <a:xfrm>
            <a:off x="673249" y="2042983"/>
            <a:ext cx="6424967" cy="49427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330410" y="2811076"/>
            <a:ext cx="5148649" cy="3151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/>
          <p:nvPr/>
        </p:nvCxnSpPr>
        <p:spPr>
          <a:xfrm>
            <a:off x="7381101" y="2759675"/>
            <a:ext cx="0" cy="12521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8143101" y="2759675"/>
            <a:ext cx="0" cy="12521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7381101" y="4011827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7308290" y="4077729"/>
                <a:ext cx="907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𝑠𝑡𝑎𝑐𝑘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290" y="4077729"/>
                <a:ext cx="907621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6040" t="-4444" r="-8725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/>
          <p:cNvSpPr txBox="1"/>
          <p:nvPr/>
        </p:nvSpPr>
        <p:spPr>
          <a:xfrm>
            <a:off x="7611257" y="36095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26" name="直線接點 25"/>
          <p:cNvCxnSpPr/>
          <p:nvPr/>
        </p:nvCxnSpPr>
        <p:spPr>
          <a:xfrm>
            <a:off x="7381101" y="3624647"/>
            <a:ext cx="762000" cy="2058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19497" y="4216228"/>
                <a:ext cx="6278718" cy="23391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𝑎𝑎𝑐</m:t>
                    </m:r>
                    <m:sSub>
                      <m:sSub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not a prefix of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𝑎𝑐</m:t>
                    </m:r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3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is,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not prefix of </a:t>
                </a:r>
                <a14:m>
                  <m:oMath xmlns:m="http://schemas.openxmlformats.org/officeDocument/2006/math">
                    <m:r>
                      <a:rPr lang="en-US" altLang="zh-TW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TW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sSub>
                      <m:sSubPr>
                        <m:ctrlPr>
                          <a:rPr lang="en-US" altLang="zh-TW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e>
                      <m:sub>
                        <m:r>
                          <a:rPr lang="en-US" altLang="zh-TW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we need to remove this 2.</a:t>
                </a:r>
                <a:endParaRPr lang="zh-TW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97" y="4216228"/>
                <a:ext cx="6278718" cy="2339102"/>
              </a:xfrm>
              <a:prstGeom prst="rect">
                <a:avLst/>
              </a:prstGeom>
              <a:blipFill rotWithShape="0">
                <a:blip r:embed="rId4"/>
                <a:stretch>
                  <a:fillRect l="-3689" t="-5483" b="-91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714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1045" y="117991"/>
            <a:ext cx="9066521" cy="1603717"/>
          </a:xfrm>
        </p:spPr>
        <p:txBody>
          <a:bodyPr>
            <a:normAutofit/>
          </a:bodyPr>
          <a:lstStyle/>
          <a:p>
            <a:r>
              <a:rPr lang="en-US" altLang="zh-TW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21708"/>
            <a:ext cx="7405373" cy="406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2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1045" y="117991"/>
            <a:ext cx="9066521" cy="1603717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877162" y="1721708"/>
                <a:ext cx="7846708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altLang="zh-TW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suffixes is pushed at most once onto a stack. </a:t>
                </a:r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</a:t>
                </a:r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 most </a:t>
                </a:r>
                <a14:m>
                  <m:oMath xmlns:m="http://schemas.openxmlformats.org/officeDocument/2006/math">
                    <m:r>
                      <a:rPr lang="en-US" altLang="zh-TW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2</m:t>
                    </m:r>
                    <m:r>
                      <a:rPr lang="en-US" altLang="zh-TW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𝑁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push and pop operations on the stacks.</a:t>
                </a: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Inner loop :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𝑂</m:t>
                    </m:r>
                    <m:d>
                      <m:d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sz="3000" b="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Total time complexity :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𝑂</m:t>
                    </m:r>
                    <m:d>
                      <m:d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𝑁</m:t>
                            </m:r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62" y="1721708"/>
                <a:ext cx="7846708" cy="4247317"/>
              </a:xfrm>
              <a:prstGeom prst="rect">
                <a:avLst/>
              </a:prstGeom>
              <a:blipFill rotWithShape="0">
                <a:blip r:embed="rId2"/>
                <a:stretch>
                  <a:fillRect l="-1865" t="-1865" b="-34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54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7476619" cy="1076495"/>
          </a:xfrm>
        </p:spPr>
        <p:txBody>
          <a:bodyPr>
            <a:normAutofit fontScale="90000"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All-pairs substring-prefix problem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856734" y="1383956"/>
                <a:ext cx="7825947" cy="1271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collection of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strings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5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5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  <m:r>
                      <a:rPr lang="en-US" altLang="zh-TW" sz="25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TW" sz="25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this problem </a:t>
                </a:r>
                <a:r>
                  <a:rPr lang="en-US" altLang="zh-TW" sz="25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to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finding, for all pairs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longest substring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is a prefix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34" y="1383956"/>
                <a:ext cx="7825947" cy="1271374"/>
              </a:xfrm>
              <a:prstGeom prst="rect">
                <a:avLst/>
              </a:prstGeom>
              <a:blipFill rotWithShape="0">
                <a:blip r:embed="rId2"/>
                <a:stretch>
                  <a:fillRect l="-1325" t="-3828" r="-1637" b="-100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766119" y="3089189"/>
            <a:ext cx="2059459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66119" y="3696042"/>
            <a:ext cx="2833816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766119" y="4377038"/>
            <a:ext cx="2537254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66119" y="4983892"/>
            <a:ext cx="1944130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766119" y="6289589"/>
            <a:ext cx="2471351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45674" y="3021526"/>
                <a:ext cx="584326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74" y="3021526"/>
                <a:ext cx="584326" cy="47705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45674" y="3642181"/>
                <a:ext cx="591187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74" y="3642181"/>
                <a:ext cx="591187" cy="47705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30431" y="4310289"/>
                <a:ext cx="591187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31" y="4310289"/>
                <a:ext cx="591187" cy="47705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30430" y="4950621"/>
                <a:ext cx="591187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30" y="4950621"/>
                <a:ext cx="591187" cy="47705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58310" y="6272794"/>
                <a:ext cx="680123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10" y="6272794"/>
                <a:ext cx="680123" cy="47705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/>
          <p:cNvSpPr txBox="1"/>
          <p:nvPr/>
        </p:nvSpPr>
        <p:spPr>
          <a:xfrm>
            <a:off x="1694017" y="5461834"/>
            <a:ext cx="615553" cy="6405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sz="2800" dirty="0" smtClean="0"/>
              <a:t>......</a:t>
            </a:r>
            <a:endParaRPr lang="zh-TW" altLang="en-US" sz="2800" dirty="0"/>
          </a:p>
        </p:txBody>
      </p:sp>
      <p:sp>
        <p:nvSpPr>
          <p:cNvPr id="19" name="矩形 18"/>
          <p:cNvSpPr/>
          <p:nvPr/>
        </p:nvSpPr>
        <p:spPr>
          <a:xfrm>
            <a:off x="5955958" y="4295528"/>
            <a:ext cx="2281880" cy="34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5320269" y="4262257"/>
                <a:ext cx="546303" cy="4894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269" y="4262257"/>
                <a:ext cx="546303" cy="48949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>
            <a:off x="6755028" y="5033022"/>
            <a:ext cx="2166551" cy="3527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6119340" y="4973033"/>
                <a:ext cx="566117" cy="4894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5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5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340" y="4973033"/>
                <a:ext cx="566117" cy="48949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/>
          <p:cNvSpPr/>
          <p:nvPr/>
        </p:nvSpPr>
        <p:spPr>
          <a:xfrm>
            <a:off x="6755028" y="4295528"/>
            <a:ext cx="1145060" cy="345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6755028" y="5033022"/>
            <a:ext cx="1145060" cy="3527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單箭頭接點 27"/>
          <p:cNvCxnSpPr/>
          <p:nvPr/>
        </p:nvCxnSpPr>
        <p:spPr>
          <a:xfrm>
            <a:off x="4085967" y="4926055"/>
            <a:ext cx="782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66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27864</TotalTime>
  <Words>580</Words>
  <Application>Microsoft Office PowerPoint</Application>
  <PresentationFormat>如螢幕大小 (4:3)</PresentationFormat>
  <Paragraphs>329</Paragraphs>
  <Slides>23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1" baseType="lpstr">
      <vt:lpstr>新細明體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Efficient Algorithms for the All-pairs Suffix-Prefix Problem and the All-pairs Substring-prefix Problem</vt:lpstr>
      <vt:lpstr>All-pairs suffix-prefix problem</vt:lpstr>
      <vt:lpstr>All-pairs suffix-prefix problem</vt:lpstr>
      <vt:lpstr>PowerPoint 簡報</vt:lpstr>
      <vt:lpstr>PowerPoint 簡報</vt:lpstr>
      <vt:lpstr>Longest common prefix (LCP)</vt:lpstr>
      <vt:lpstr>Range minimum query with LCP</vt:lpstr>
      <vt:lpstr>PowerPoint 簡報</vt:lpstr>
      <vt:lpstr>PowerPoint 簡報</vt:lpstr>
      <vt:lpstr>The STR array</vt:lpstr>
      <vt:lpstr>The SA’ array</vt:lpstr>
      <vt:lpstr>GESA</vt:lpstr>
      <vt:lpstr>Algorithm by Ohlebusch and Gog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Time complexity</vt:lpstr>
      <vt:lpstr>Time complexity</vt:lpstr>
      <vt:lpstr>All-pairs substring-prefix problem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pplab-class</cp:lastModifiedBy>
  <cp:revision>607</cp:revision>
  <dcterms:created xsi:type="dcterms:W3CDTF">2016-10-24T04:50:56Z</dcterms:created>
  <dcterms:modified xsi:type="dcterms:W3CDTF">2018-05-15T12:51:59Z</dcterms:modified>
</cp:coreProperties>
</file>