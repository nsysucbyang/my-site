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2" r:id="rId4"/>
    <p:sldId id="258" r:id="rId5"/>
    <p:sldId id="259" r:id="rId6"/>
    <p:sldId id="264" r:id="rId7"/>
    <p:sldId id="267" r:id="rId8"/>
    <p:sldId id="270" r:id="rId9"/>
    <p:sldId id="260" r:id="rId10"/>
    <p:sldId id="261" r:id="rId11"/>
    <p:sldId id="263" r:id="rId12"/>
    <p:sldId id="271" r:id="rId13"/>
    <p:sldId id="272" r:id="rId14"/>
    <p:sldId id="275" r:id="rId15"/>
    <p:sldId id="276" r:id="rId16"/>
    <p:sldId id="277" r:id="rId17"/>
    <p:sldId id="273" r:id="rId18"/>
    <p:sldId id="278" r:id="rId19"/>
    <p:sldId id="279" r:id="rId20"/>
    <p:sldId id="281" r:id="rId21"/>
    <p:sldId id="280"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9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480F429-B916-4BE8-9F55-B303940D104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D7FB4726-0ECF-4E30-A5AE-F263B1957C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DAB7D5EF-6079-4FD8-A3BF-1CD094589418}"/>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5" name="頁尾版面配置區 4">
            <a:extLst>
              <a:ext uri="{FF2B5EF4-FFF2-40B4-BE49-F238E27FC236}">
                <a16:creationId xmlns:a16="http://schemas.microsoft.com/office/drawing/2014/main" xmlns="" id="{C6328C7F-5152-4DF0-BE3D-004706D6B15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7047A91F-6E10-4F9D-A211-BF039C00D6FE}"/>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3053921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EA23DD8-D1F1-4964-9B40-AE9A1ECE868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6BE8A826-1876-4A17-8F3F-A1A37F252C1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864A5A88-4D7C-4248-B1B6-AEEB0A30014B}"/>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5" name="頁尾版面配置區 4">
            <a:extLst>
              <a:ext uri="{FF2B5EF4-FFF2-40B4-BE49-F238E27FC236}">
                <a16:creationId xmlns:a16="http://schemas.microsoft.com/office/drawing/2014/main" xmlns="" id="{D48147F3-E73B-4657-83D9-C3C4EE3304C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ECBFE6F8-6219-465D-843C-3AC4DF6B4155}"/>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3482697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4EB94CC-2A2D-4740-8036-C15426753583}"/>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8612BDC9-BB2E-4403-BAC7-54479C56E1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4D635AAA-0AA8-465F-BB47-0E3FFBF164A5}"/>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5" name="頁尾版面配置區 4">
            <a:extLst>
              <a:ext uri="{FF2B5EF4-FFF2-40B4-BE49-F238E27FC236}">
                <a16:creationId xmlns:a16="http://schemas.microsoft.com/office/drawing/2014/main" xmlns="" id="{7ABD6424-FAA8-4AC5-8BF7-97D494FAD24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8E3E506-0F01-4782-AE1B-02C6E72C9FE3}"/>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2075107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81DB55E-6600-4C58-BA11-0F4F4617E30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D65E79AC-62A0-4307-8D5E-88DAE63C8424}"/>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CD50CBC-25B6-4957-81CC-14C19AD1CC94}"/>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0FC9F73F-99A3-4431-8338-D8B18D5E5D1A}"/>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6" name="頁尾版面配置區 5">
            <a:extLst>
              <a:ext uri="{FF2B5EF4-FFF2-40B4-BE49-F238E27FC236}">
                <a16:creationId xmlns:a16="http://schemas.microsoft.com/office/drawing/2014/main" xmlns="" id="{BAD7058D-F8F7-404A-B2D9-4BA48278591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7FF5B639-2F5A-47AA-9767-AB6F9CC1DAA3}"/>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1115694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A6EB572-F1A3-409F-A044-B901A9297737}"/>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9AE366A2-416C-4FB0-8B08-2D826BD170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B9F7F1D4-7228-4382-B609-9CADDBC0DAEC}"/>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918C51D4-5D0B-4898-AE63-8335EDB36D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0C2DD97F-A974-4D86-8FB4-034BD957C0D4}"/>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EF7D954A-256C-436E-8D21-2F4F029862C5}"/>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8" name="頁尾版面配置區 7">
            <a:extLst>
              <a:ext uri="{FF2B5EF4-FFF2-40B4-BE49-F238E27FC236}">
                <a16:creationId xmlns:a16="http://schemas.microsoft.com/office/drawing/2014/main" xmlns="" id="{A2D96CB2-F149-4F8F-9461-1365D32B3C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B1D9762B-A0B0-43D7-9ABA-21F5779CE61E}"/>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3807029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64FECDB-58D0-416A-B7F1-8F4AA8485478}"/>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E0F02ABF-72A0-441B-BCB5-EC2790FD516B}"/>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4" name="頁尾版面配置區 3">
            <a:extLst>
              <a:ext uri="{FF2B5EF4-FFF2-40B4-BE49-F238E27FC236}">
                <a16:creationId xmlns:a16="http://schemas.microsoft.com/office/drawing/2014/main" xmlns="" id="{5190D7C2-D200-40F6-8C62-70A85C673D1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2514798D-1A83-420F-B31E-B05AD2BC30AF}"/>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132977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AF3326E4-FE55-4FA1-8D75-CD444DCE024D}"/>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3" name="頁尾版面配置區 2">
            <a:extLst>
              <a:ext uri="{FF2B5EF4-FFF2-40B4-BE49-F238E27FC236}">
                <a16:creationId xmlns:a16="http://schemas.microsoft.com/office/drawing/2014/main" xmlns="" id="{D35D51E8-0E26-41D9-B7A6-FBF0E87FAA2C}"/>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6D3C29BA-B506-46AA-B1EA-8C8C0C7FDCF3}"/>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2497908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05B7874-8ACC-4CB4-B5FB-CAB815CB66C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722E582A-6F74-48F4-8142-125DD09222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93A46FB4-AFAF-412F-8A2A-1543A60E32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2823050D-C114-4EF8-9EB5-6FDE823E9013}"/>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6" name="頁尾版面配置區 5">
            <a:extLst>
              <a:ext uri="{FF2B5EF4-FFF2-40B4-BE49-F238E27FC236}">
                <a16:creationId xmlns:a16="http://schemas.microsoft.com/office/drawing/2014/main" xmlns="" id="{E0D204EA-22FE-492F-96AC-3007A59EA30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3F050DA-B7EF-48FB-B149-3D3A9D402D1A}"/>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2095472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A0DDB34-D978-4665-9BAA-2D65777E0FD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85B3D0B3-0E08-4A27-BAB1-01B945A7DF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42570A5C-A4E8-4EB8-A1B0-0AFED24CAB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84608712-1987-440A-87CB-3539FFFCBB3D}"/>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6" name="頁尾版面配置區 5">
            <a:extLst>
              <a:ext uri="{FF2B5EF4-FFF2-40B4-BE49-F238E27FC236}">
                <a16:creationId xmlns:a16="http://schemas.microsoft.com/office/drawing/2014/main" xmlns="" id="{CF5BF7C5-C4A2-4B10-83C8-900EC84A199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9014F89-9FFB-42D5-BE88-BC52A4C762CD}"/>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2723718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2561A5-5D85-42E3-B4A8-80A7BC5DA8A6}"/>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E372B5E-7E7E-4E1A-92B9-DA798D63B92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5B917D14-E619-4803-A3CF-36B8683B7816}"/>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5" name="頁尾版面配置區 4">
            <a:extLst>
              <a:ext uri="{FF2B5EF4-FFF2-40B4-BE49-F238E27FC236}">
                <a16:creationId xmlns:a16="http://schemas.microsoft.com/office/drawing/2014/main" xmlns="" id="{90DD3206-F0EE-485F-8892-CC4AE7CA5AF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7B181A21-2CEA-49FC-8FF6-0CB69D2F9676}"/>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2946113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8003A772-F745-4CA1-9C0F-9C527B05CC94}"/>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5479F0E6-EC1F-4EE5-8BAA-4D0B43C08C7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0197FB3-DBE0-4066-8B0D-22B651686F07}"/>
              </a:ext>
            </a:extLst>
          </p:cNvPr>
          <p:cNvSpPr>
            <a:spLocks noGrp="1"/>
          </p:cNvSpPr>
          <p:nvPr>
            <p:ph type="dt" sz="half" idx="10"/>
          </p:nvPr>
        </p:nvSpPr>
        <p:spPr/>
        <p:txBody>
          <a:bodyPr/>
          <a:lstStyle/>
          <a:p>
            <a:fld id="{23FE093B-F655-48AB-A42A-FA27F9FA8EDE}" type="datetimeFigureOut">
              <a:rPr lang="zh-TW" altLang="en-US" smtClean="0"/>
              <a:t>2018/5/15</a:t>
            </a:fld>
            <a:endParaRPr lang="zh-TW" altLang="en-US"/>
          </a:p>
        </p:txBody>
      </p:sp>
      <p:sp>
        <p:nvSpPr>
          <p:cNvPr id="5" name="頁尾版面配置區 4">
            <a:extLst>
              <a:ext uri="{FF2B5EF4-FFF2-40B4-BE49-F238E27FC236}">
                <a16:creationId xmlns:a16="http://schemas.microsoft.com/office/drawing/2014/main" xmlns="" id="{F6772D38-84FB-44AE-80C7-4FBF98FEE36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0C95167-FDBF-4748-B98F-5C2DBB36BC61}"/>
              </a:ext>
            </a:extLst>
          </p:cNvPr>
          <p:cNvSpPr>
            <a:spLocks noGrp="1"/>
          </p:cNvSpPr>
          <p:nvPr>
            <p:ph type="sldNum" sz="quarter" idx="12"/>
          </p:nvPr>
        </p:nvSpPr>
        <p:spPr/>
        <p:txBody>
          <a:body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2758230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D304D594-D3BC-4C3E-BAD0-DF4614BFFF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FC8962E3-6364-4C03-B358-4D8800BB08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6D5CAF8E-8355-4865-84A5-C626A72CE7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FE093B-F655-48AB-A42A-FA27F9FA8EDE}" type="datetimeFigureOut">
              <a:rPr lang="zh-TW" altLang="en-US" smtClean="0"/>
              <a:t>2018/5/15</a:t>
            </a:fld>
            <a:endParaRPr lang="zh-TW" altLang="en-US"/>
          </a:p>
        </p:txBody>
      </p:sp>
      <p:sp>
        <p:nvSpPr>
          <p:cNvPr id="5" name="頁尾版面配置區 4">
            <a:extLst>
              <a:ext uri="{FF2B5EF4-FFF2-40B4-BE49-F238E27FC236}">
                <a16:creationId xmlns:a16="http://schemas.microsoft.com/office/drawing/2014/main" xmlns="" id="{9B705745-C3A7-4D2C-8041-FC6E53D371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CECF9550-E00E-46CB-855F-485C283361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A8ADC-0267-49DC-91DC-B17887D03277}" type="slidenum">
              <a:rPr lang="zh-TW" altLang="en-US" smtClean="0"/>
              <a:t>‹#›</a:t>
            </a:fld>
            <a:endParaRPr lang="zh-TW" altLang="en-US"/>
          </a:p>
        </p:txBody>
      </p:sp>
    </p:spTree>
    <p:extLst>
      <p:ext uri="{BB962C8B-B14F-4D97-AF65-F5344CB8AC3E}">
        <p14:creationId xmlns:p14="http://schemas.microsoft.com/office/powerpoint/2010/main" val="2061795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57F85FE-A9C0-45B1-95B2-37DF1892309F}"/>
              </a:ext>
            </a:extLst>
          </p:cNvPr>
          <p:cNvSpPr>
            <a:spLocks noGrp="1"/>
          </p:cNvSpPr>
          <p:nvPr>
            <p:ph type="ctrTitle"/>
          </p:nvPr>
        </p:nvSpPr>
        <p:spPr>
          <a:xfrm>
            <a:off x="1524000" y="776134"/>
            <a:ext cx="9144000" cy="2387600"/>
          </a:xfrm>
        </p:spPr>
        <p:txBody>
          <a:bodyPr>
            <a:normAutofit fontScale="90000"/>
          </a:bodyPr>
          <a:lstStyle/>
          <a:p>
            <a:r>
              <a:rPr lang="en-US" altLang="zh-TW" dirty="0"/>
              <a:t>Ed-Join: An Efficient Algorithm for Similarity Joins With Edit Distance Constraints</a:t>
            </a:r>
            <a:endParaRPr lang="zh-TW" altLang="en-US" dirty="0"/>
          </a:p>
        </p:txBody>
      </p:sp>
      <p:sp>
        <p:nvSpPr>
          <p:cNvPr id="3" name="副標題 2">
            <a:extLst>
              <a:ext uri="{FF2B5EF4-FFF2-40B4-BE49-F238E27FC236}">
                <a16:creationId xmlns:a16="http://schemas.microsoft.com/office/drawing/2014/main" xmlns="" id="{EF74F41F-2EB5-4339-9C22-677EC0B81EEE}"/>
              </a:ext>
            </a:extLst>
          </p:cNvPr>
          <p:cNvSpPr>
            <a:spLocks noGrp="1"/>
          </p:cNvSpPr>
          <p:nvPr>
            <p:ph type="subTitle" idx="1"/>
          </p:nvPr>
        </p:nvSpPr>
        <p:spPr/>
        <p:txBody>
          <a:bodyPr/>
          <a:lstStyle/>
          <a:p>
            <a:r>
              <a:rPr lang="de-DE" altLang="zh-TW" dirty="0"/>
              <a:t>Chuan Xiao, Wei Wang and Xuemin Lin</a:t>
            </a:r>
          </a:p>
          <a:p>
            <a:r>
              <a:rPr lang="en-US" altLang="zh-TW" dirty="0"/>
              <a:t>Proceedings of the VLDB Endowment, vol. 1, pp. 933-944, Auckland, New Zealand, August, 2008 </a:t>
            </a:r>
            <a:endParaRPr lang="zh-TW" altLang="en-US" dirty="0"/>
          </a:p>
        </p:txBody>
      </p:sp>
      <p:sp>
        <p:nvSpPr>
          <p:cNvPr id="4" name="文字方塊 3">
            <a:extLst>
              <a:ext uri="{FF2B5EF4-FFF2-40B4-BE49-F238E27FC236}">
                <a16:creationId xmlns:a16="http://schemas.microsoft.com/office/drawing/2014/main" xmlns="" id="{3AF10AA8-71F5-448C-A6D2-D90B5E0F0E88}"/>
              </a:ext>
            </a:extLst>
          </p:cNvPr>
          <p:cNvSpPr txBox="1"/>
          <p:nvPr/>
        </p:nvSpPr>
        <p:spPr>
          <a:xfrm>
            <a:off x="4283163" y="5113655"/>
            <a:ext cx="3625673" cy="461665"/>
          </a:xfrm>
          <a:prstGeom prst="rect">
            <a:avLst/>
          </a:prstGeom>
          <a:noFill/>
        </p:spPr>
        <p:txBody>
          <a:bodyPr wrap="none" rtlCol="0">
            <a:spAutoFit/>
          </a:bodyPr>
          <a:lstStyle/>
          <a:p>
            <a:r>
              <a:rPr lang="en-US" altLang="zh-TW" sz="2400" dirty="0"/>
              <a:t>Presenter: Hsiu-</a:t>
            </a:r>
            <a:r>
              <a:rPr lang="en-US" altLang="zh-TW" sz="2400" dirty="0" err="1"/>
              <a:t>Chieh</a:t>
            </a:r>
            <a:r>
              <a:rPr lang="en-US" altLang="zh-TW" sz="2400" dirty="0"/>
              <a:t> Hung</a:t>
            </a:r>
            <a:endParaRPr lang="zh-TW" altLang="en-US" sz="2400" dirty="0"/>
          </a:p>
        </p:txBody>
      </p:sp>
      <p:sp>
        <p:nvSpPr>
          <p:cNvPr id="5" name="文字方塊 4">
            <a:extLst>
              <a:ext uri="{FF2B5EF4-FFF2-40B4-BE49-F238E27FC236}">
                <a16:creationId xmlns:a16="http://schemas.microsoft.com/office/drawing/2014/main" xmlns="" id="{8C702953-DCA3-4BFF-B05E-0B0206F82ABC}"/>
              </a:ext>
            </a:extLst>
          </p:cNvPr>
          <p:cNvSpPr txBox="1"/>
          <p:nvPr/>
        </p:nvSpPr>
        <p:spPr>
          <a:xfrm>
            <a:off x="10046250" y="6336749"/>
            <a:ext cx="1739772" cy="369332"/>
          </a:xfrm>
          <a:prstGeom prst="rect">
            <a:avLst/>
          </a:prstGeom>
          <a:noFill/>
        </p:spPr>
        <p:txBody>
          <a:bodyPr wrap="none" rtlCol="0">
            <a:spAutoFit/>
          </a:bodyPr>
          <a:lstStyle/>
          <a:p>
            <a:r>
              <a:rPr lang="en-US" altLang="zh-TW" dirty="0"/>
              <a:t>Date: 2018/5/15</a:t>
            </a:r>
            <a:endParaRPr lang="zh-TW" altLang="en-US" dirty="0"/>
          </a:p>
        </p:txBody>
      </p:sp>
    </p:spTree>
    <p:extLst>
      <p:ext uri="{BB962C8B-B14F-4D97-AF65-F5344CB8AC3E}">
        <p14:creationId xmlns:p14="http://schemas.microsoft.com/office/powerpoint/2010/main" val="8107926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D14B0AA-7EC5-459F-AE10-BBFDFEDE66B2}"/>
              </a:ext>
            </a:extLst>
          </p:cNvPr>
          <p:cNvSpPr>
            <a:spLocks noGrp="1"/>
          </p:cNvSpPr>
          <p:nvPr>
            <p:ph type="title"/>
          </p:nvPr>
        </p:nvSpPr>
        <p:spPr/>
        <p:txBody>
          <a:bodyPr/>
          <a:lstStyle/>
          <a:p>
            <a:pPr algn="ctr"/>
            <a:r>
              <a:rPr lang="en-US" altLang="zh-TW" dirty="0" smtClean="0"/>
              <a:t>Abstract(1/2)</a:t>
            </a:r>
            <a:endParaRPr lang="zh-TW" altLang="en-US" dirty="0"/>
          </a:p>
        </p:txBody>
      </p:sp>
      <p:sp>
        <p:nvSpPr>
          <p:cNvPr id="3" name="內容版面配置區 2">
            <a:extLst>
              <a:ext uri="{FF2B5EF4-FFF2-40B4-BE49-F238E27FC236}">
                <a16:creationId xmlns:a16="http://schemas.microsoft.com/office/drawing/2014/main" xmlns="" id="{764E0CA7-7FB7-4546-B2D4-7C311E2AA1E9}"/>
              </a:ext>
            </a:extLst>
          </p:cNvPr>
          <p:cNvSpPr>
            <a:spLocks noGrp="1"/>
          </p:cNvSpPr>
          <p:nvPr>
            <p:ph idx="1"/>
          </p:nvPr>
        </p:nvSpPr>
        <p:spPr>
          <a:xfrm>
            <a:off x="838200" y="1825624"/>
            <a:ext cx="10515600" cy="4707697"/>
          </a:xfrm>
        </p:spPr>
        <p:txBody>
          <a:bodyPr>
            <a:noAutofit/>
          </a:bodyPr>
          <a:lstStyle/>
          <a:p>
            <a:pPr marL="0" indent="0">
              <a:buNone/>
            </a:pPr>
            <a:r>
              <a:rPr lang="en-US" altLang="zh-TW" dirty="0"/>
              <a:t>There has been considerable interest in similarity join in the research community recently. Similarity join is a fundamental operation in many application areas, such as data integration and cleaning, bioinformatics, and pattern recognition. We focus on efficient algorithms for similarity join with edit distance constraints. Existing approaches are mainly based on converting the edit distance constraint to a weaker constraint on the number of matching </a:t>
            </a:r>
            <a:r>
              <a:rPr lang="en-US" altLang="zh-TW" i="1" dirty="0"/>
              <a:t>q</a:t>
            </a:r>
            <a:r>
              <a:rPr lang="en-US" altLang="zh-TW" dirty="0"/>
              <a:t>-grams between pair of strings. In this paper, we propose the novel perspective of investigating mismatching </a:t>
            </a:r>
            <a:r>
              <a:rPr lang="en-US" altLang="zh-TW" i="1" dirty="0"/>
              <a:t>q</a:t>
            </a:r>
            <a:r>
              <a:rPr lang="en-US" altLang="zh-TW" dirty="0"/>
              <a:t>-grams. Technically, we derive two new edit distance lower bounds by analyzing the locations and contents of mismatching </a:t>
            </a:r>
            <a:r>
              <a:rPr lang="en-US" altLang="zh-TW" i="1" dirty="0" smtClean="0"/>
              <a:t>q</a:t>
            </a:r>
            <a:r>
              <a:rPr lang="en-US" altLang="zh-TW" dirty="0" smtClean="0"/>
              <a:t>-grams.</a:t>
            </a:r>
            <a:endParaRPr lang="zh-TW" altLang="en-US" dirty="0"/>
          </a:p>
        </p:txBody>
      </p:sp>
    </p:spTree>
    <p:extLst>
      <p:ext uri="{BB962C8B-B14F-4D97-AF65-F5344CB8AC3E}">
        <p14:creationId xmlns:p14="http://schemas.microsoft.com/office/powerpoint/2010/main" val="6665059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t>Abstract(2/2</a:t>
            </a:r>
            <a:r>
              <a:rPr lang="en-US" altLang="zh-TW" dirty="0"/>
              <a:t>)</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A </a:t>
            </a:r>
            <a:r>
              <a:rPr lang="en-US" altLang="zh-TW" dirty="0"/>
              <a:t>new algorithm, Ed-Join, is proposed that exploits the new mismatch-based filtering methods; it achieves substantial reduction of the candidate sizes and hence saves computation time. We demonstrate experimentally that the new algorithm outperforms alternative methods on large-scale real datasets under a wide range of parameter settings.</a:t>
            </a:r>
            <a:endParaRPr lang="zh-TW" altLang="en-US" dirty="0"/>
          </a:p>
          <a:p>
            <a:pPr marL="0" indent="0">
              <a:buNone/>
            </a:pPr>
            <a:endParaRPr lang="zh-TW" altLang="en-US" dirty="0"/>
          </a:p>
        </p:txBody>
      </p:sp>
    </p:spTree>
    <p:extLst>
      <p:ext uri="{BB962C8B-B14F-4D97-AF65-F5344CB8AC3E}">
        <p14:creationId xmlns:p14="http://schemas.microsoft.com/office/powerpoint/2010/main" val="37761595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流程圖: 磁碟 3">
            <a:extLst>
              <a:ext uri="{FF2B5EF4-FFF2-40B4-BE49-F238E27FC236}">
                <a16:creationId xmlns:a16="http://schemas.microsoft.com/office/drawing/2014/main" xmlns="" id="{3F6116C6-478D-4CD0-AE12-223FE052EF21}"/>
              </a:ext>
            </a:extLst>
          </p:cNvPr>
          <p:cNvSpPr/>
          <p:nvPr/>
        </p:nvSpPr>
        <p:spPr>
          <a:xfrm>
            <a:off x="2760955" y="1166503"/>
            <a:ext cx="1340528" cy="1970843"/>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xmlns="" id="{012D0E35-48E4-4421-93B6-2E955A4848DF}"/>
              </a:ext>
            </a:extLst>
          </p:cNvPr>
          <p:cNvSpPr txBox="1"/>
          <p:nvPr/>
        </p:nvSpPr>
        <p:spPr>
          <a:xfrm>
            <a:off x="2759267" y="3360196"/>
            <a:ext cx="1320939" cy="461665"/>
          </a:xfrm>
          <a:prstGeom prst="rect">
            <a:avLst/>
          </a:prstGeom>
          <a:noFill/>
        </p:spPr>
        <p:txBody>
          <a:bodyPr wrap="none" rtlCol="0">
            <a:spAutoFit/>
          </a:bodyPr>
          <a:lstStyle/>
          <a:p>
            <a:r>
              <a:rPr lang="en-US" altLang="zh-TW" sz="2400" dirty="0"/>
              <a:t>database</a:t>
            </a:r>
            <a:endParaRPr lang="zh-TW" altLang="en-US" sz="2400" dirty="0"/>
          </a:p>
        </p:txBody>
      </p:sp>
      <p:sp>
        <p:nvSpPr>
          <p:cNvPr id="11" name="流程圖: 磁碟 10">
            <a:extLst>
              <a:ext uri="{FF2B5EF4-FFF2-40B4-BE49-F238E27FC236}">
                <a16:creationId xmlns:a16="http://schemas.microsoft.com/office/drawing/2014/main" xmlns="" id="{B749AFCC-44AB-4628-9A27-0C2EF6E73667}"/>
              </a:ext>
            </a:extLst>
          </p:cNvPr>
          <p:cNvSpPr/>
          <p:nvPr/>
        </p:nvSpPr>
        <p:spPr>
          <a:xfrm>
            <a:off x="6901588" y="1166503"/>
            <a:ext cx="1340528" cy="1970843"/>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xmlns="" id="{6BA622D0-824B-44F6-A0AE-3E4A0EAAEA29}"/>
              </a:ext>
            </a:extLst>
          </p:cNvPr>
          <p:cNvSpPr txBox="1"/>
          <p:nvPr/>
        </p:nvSpPr>
        <p:spPr>
          <a:xfrm>
            <a:off x="6921177" y="3360197"/>
            <a:ext cx="1320939" cy="461665"/>
          </a:xfrm>
          <a:prstGeom prst="rect">
            <a:avLst/>
          </a:prstGeom>
          <a:noFill/>
        </p:spPr>
        <p:txBody>
          <a:bodyPr wrap="none" rtlCol="0">
            <a:spAutoFit/>
          </a:bodyPr>
          <a:lstStyle/>
          <a:p>
            <a:r>
              <a:rPr lang="en-US" altLang="zh-TW" sz="2400" dirty="0"/>
              <a:t>database</a:t>
            </a:r>
            <a:endParaRPr lang="zh-TW" altLang="en-US" sz="2400" dirty="0"/>
          </a:p>
        </p:txBody>
      </p:sp>
      <p:cxnSp>
        <p:nvCxnSpPr>
          <p:cNvPr id="14" name="直線接點 13">
            <a:extLst>
              <a:ext uri="{FF2B5EF4-FFF2-40B4-BE49-F238E27FC236}">
                <a16:creationId xmlns:a16="http://schemas.microsoft.com/office/drawing/2014/main" xmlns="" id="{10FA48CD-8E2A-4AAF-B126-63F79E77D677}"/>
              </a:ext>
            </a:extLst>
          </p:cNvPr>
          <p:cNvCxnSpPr/>
          <p:nvPr/>
        </p:nvCxnSpPr>
        <p:spPr>
          <a:xfrm>
            <a:off x="4101483" y="3000652"/>
            <a:ext cx="1278385" cy="71909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5" name="直線接點 14">
            <a:extLst>
              <a:ext uri="{FF2B5EF4-FFF2-40B4-BE49-F238E27FC236}">
                <a16:creationId xmlns:a16="http://schemas.microsoft.com/office/drawing/2014/main" xmlns="" id="{13853F53-983A-4A42-A641-6B1284919810}"/>
              </a:ext>
            </a:extLst>
          </p:cNvPr>
          <p:cNvCxnSpPr>
            <a:cxnSpLocks/>
          </p:cNvCxnSpPr>
          <p:nvPr/>
        </p:nvCxnSpPr>
        <p:spPr>
          <a:xfrm flipH="1">
            <a:off x="5379870" y="3000652"/>
            <a:ext cx="1521718" cy="71909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9" name="直線單箭頭接點 18">
            <a:extLst>
              <a:ext uri="{FF2B5EF4-FFF2-40B4-BE49-F238E27FC236}">
                <a16:creationId xmlns:a16="http://schemas.microsoft.com/office/drawing/2014/main" xmlns="" id="{C181E8EA-D548-4201-A2C8-606440F3AC20}"/>
              </a:ext>
            </a:extLst>
          </p:cNvPr>
          <p:cNvCxnSpPr/>
          <p:nvPr/>
        </p:nvCxnSpPr>
        <p:spPr>
          <a:xfrm>
            <a:off x="5379868" y="3719743"/>
            <a:ext cx="0" cy="1145220"/>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xmlns="" id="{3489CFA9-DB62-4F0D-83B3-79720584A26E}"/>
                  </a:ext>
                </a:extLst>
              </p:cNvPr>
              <p:cNvSpPr txBox="1"/>
              <p:nvPr/>
            </p:nvSpPr>
            <p:spPr>
              <a:xfrm>
                <a:off x="5379867" y="4094532"/>
                <a:ext cx="1958806" cy="400110"/>
              </a:xfrm>
              <a:prstGeom prst="rect">
                <a:avLst/>
              </a:prstGeom>
              <a:noFill/>
            </p:spPr>
            <p:txBody>
              <a:bodyPr wrap="none" rtlCol="0">
                <a:spAutoFit/>
              </a:bodyPr>
              <a:lstStyle/>
              <a:p>
                <a:r>
                  <a:rPr lang="en-US" altLang="zh-TW" sz="2000" dirty="0"/>
                  <a:t>Edit distance </a:t>
                </a:r>
                <a14:m>
                  <m:oMath xmlns:m="http://schemas.openxmlformats.org/officeDocument/2006/math">
                    <m:r>
                      <a:rPr lang="en-US" altLang="zh-TW" sz="2000" i="1" smtClean="0">
                        <a:latin typeface="Cambria Math" panose="02040503050406030204" pitchFamily="18" charset="0"/>
                        <a:ea typeface="Cambria Math" panose="02040503050406030204" pitchFamily="18" charset="0"/>
                      </a:rPr>
                      <m:t>≤</m:t>
                    </m:r>
                    <m:r>
                      <a:rPr lang="zh-TW" altLang="en-US" sz="2000" i="1" smtClean="0">
                        <a:latin typeface="Cambria Math" panose="02040503050406030204" pitchFamily="18" charset="0"/>
                        <a:ea typeface="Cambria Math" panose="02040503050406030204" pitchFamily="18" charset="0"/>
                      </a:rPr>
                      <m:t>𝜏</m:t>
                    </m:r>
                  </m:oMath>
                </a14:m>
                <a:endParaRPr lang="zh-TW" altLang="en-US" sz="2000" dirty="0"/>
              </a:p>
            </p:txBody>
          </p:sp>
        </mc:Choice>
        <mc:Fallback xmlns="">
          <p:sp>
            <p:nvSpPr>
              <p:cNvPr id="20" name="文字方塊 19">
                <a:extLst>
                  <a:ext uri="{FF2B5EF4-FFF2-40B4-BE49-F238E27FC236}">
                    <a16:creationId xmlns:a16="http://schemas.microsoft.com/office/drawing/2014/main" id="{3489CFA9-DB62-4F0D-83B3-79720584A26E}"/>
                  </a:ext>
                </a:extLst>
              </p:cNvPr>
              <p:cNvSpPr txBox="1">
                <a:spLocks noRot="1" noChangeAspect="1" noMove="1" noResize="1" noEditPoints="1" noAdjustHandles="1" noChangeArrowheads="1" noChangeShapeType="1" noTextEdit="1"/>
              </p:cNvSpPr>
              <p:nvPr/>
            </p:nvSpPr>
            <p:spPr>
              <a:xfrm>
                <a:off x="5379867" y="4094532"/>
                <a:ext cx="1958806" cy="400110"/>
              </a:xfrm>
              <a:prstGeom prst="rect">
                <a:avLst/>
              </a:prstGeom>
              <a:blipFill>
                <a:blip r:embed="rId2"/>
                <a:stretch>
                  <a:fillRect l="-3427" t="-9231" b="-27692"/>
                </a:stretch>
              </a:blipFill>
            </p:spPr>
            <p:txBody>
              <a:bodyPr/>
              <a:lstStyle/>
              <a:p>
                <a:r>
                  <a:rPr lang="zh-TW" altLang="en-US">
                    <a:noFill/>
                  </a:rPr>
                  <a:t> </a:t>
                </a:r>
              </a:p>
            </p:txBody>
          </p:sp>
        </mc:Fallback>
      </mc:AlternateContent>
      <p:sp>
        <p:nvSpPr>
          <p:cNvPr id="21" name="文字方塊 20">
            <a:extLst>
              <a:ext uri="{FF2B5EF4-FFF2-40B4-BE49-F238E27FC236}">
                <a16:creationId xmlns:a16="http://schemas.microsoft.com/office/drawing/2014/main" xmlns="" id="{E91E4999-86D6-4A19-A13D-0B05CD02A0D0}"/>
              </a:ext>
            </a:extLst>
          </p:cNvPr>
          <p:cNvSpPr txBox="1"/>
          <p:nvPr/>
        </p:nvSpPr>
        <p:spPr>
          <a:xfrm>
            <a:off x="2183907" y="1921091"/>
            <a:ext cx="325730" cy="461665"/>
          </a:xfrm>
          <a:prstGeom prst="rect">
            <a:avLst/>
          </a:prstGeom>
          <a:noFill/>
        </p:spPr>
        <p:txBody>
          <a:bodyPr wrap="none" rtlCol="0">
            <a:spAutoFit/>
          </a:bodyPr>
          <a:lstStyle/>
          <a:p>
            <a:r>
              <a:rPr lang="en-US" altLang="zh-TW" sz="2400" i="1" dirty="0"/>
              <a:t>S</a:t>
            </a:r>
            <a:endParaRPr lang="zh-TW" altLang="en-US" sz="2400" i="1" dirty="0"/>
          </a:p>
        </p:txBody>
      </p:sp>
      <p:sp>
        <p:nvSpPr>
          <p:cNvPr id="22" name="文字方塊 21">
            <a:extLst>
              <a:ext uri="{FF2B5EF4-FFF2-40B4-BE49-F238E27FC236}">
                <a16:creationId xmlns:a16="http://schemas.microsoft.com/office/drawing/2014/main" xmlns="" id="{8768D923-588C-41E0-BFF5-7FC4A3E4E0D6}"/>
              </a:ext>
            </a:extLst>
          </p:cNvPr>
          <p:cNvSpPr txBox="1"/>
          <p:nvPr/>
        </p:nvSpPr>
        <p:spPr>
          <a:xfrm>
            <a:off x="6332523" y="1921090"/>
            <a:ext cx="335348" cy="461665"/>
          </a:xfrm>
          <a:prstGeom prst="rect">
            <a:avLst/>
          </a:prstGeom>
          <a:noFill/>
        </p:spPr>
        <p:txBody>
          <a:bodyPr wrap="none" rtlCol="0">
            <a:spAutoFit/>
          </a:bodyPr>
          <a:lstStyle/>
          <a:p>
            <a:r>
              <a:rPr lang="en-US" altLang="zh-TW" sz="2400" i="1" dirty="0"/>
              <a:t>T</a:t>
            </a:r>
            <a:endParaRPr lang="zh-TW" altLang="en-US" sz="2400" i="1"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xmlns="" id="{9646BAB4-7D1A-4EC8-898E-8F1C7CC3D670}"/>
                  </a:ext>
                </a:extLst>
              </p:cNvPr>
              <p:cNvSpPr txBox="1"/>
              <p:nvPr/>
            </p:nvSpPr>
            <p:spPr>
              <a:xfrm>
                <a:off x="3779580" y="5122389"/>
                <a:ext cx="380206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𝑡</m:t>
                              </m:r>
                            </m:e>
                            <m:sub>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 </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𝑡</m:t>
                              </m:r>
                            </m:e>
                            <m:sub>
                              <m:r>
                                <a:rPr lang="en-US" altLang="zh-TW" sz="2400" b="0" i="1" smtClean="0">
                                  <a:latin typeface="Cambria Math" panose="02040503050406030204" pitchFamily="18" charset="0"/>
                                </a:rPr>
                                <m:t>2</m:t>
                              </m:r>
                            </m:sub>
                          </m:sSub>
                        </m:e>
                      </m:d>
                      <m:r>
                        <a:rPr lang="en-US" altLang="zh-TW" sz="2400" b="0" i="1" smtClean="0">
                          <a:latin typeface="Cambria Math" panose="02040503050406030204" pitchFamily="18" charset="0"/>
                        </a:rPr>
                        <m:t>, </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𝑡</m:t>
                              </m:r>
                            </m:e>
                            <m:sub>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3" name="文字方塊 22">
                <a:extLst>
                  <a:ext uri="{FF2B5EF4-FFF2-40B4-BE49-F238E27FC236}">
                    <a16:creationId xmlns:a16="http://schemas.microsoft.com/office/drawing/2014/main" id="{9646BAB4-7D1A-4EC8-898E-8F1C7CC3D670}"/>
                  </a:ext>
                </a:extLst>
              </p:cNvPr>
              <p:cNvSpPr txBox="1">
                <a:spLocks noRot="1" noChangeAspect="1" noMove="1" noResize="1" noEditPoints="1" noAdjustHandles="1" noChangeArrowheads="1" noChangeShapeType="1" noTextEdit="1"/>
              </p:cNvSpPr>
              <p:nvPr/>
            </p:nvSpPr>
            <p:spPr>
              <a:xfrm>
                <a:off x="3779580" y="5122389"/>
                <a:ext cx="3802066" cy="461665"/>
              </a:xfrm>
              <a:prstGeom prst="rect">
                <a:avLst/>
              </a:prstGeom>
              <a:blipFill>
                <a:blip r:embed="rId3"/>
                <a:stretch>
                  <a:fillRect b="-1316"/>
                </a:stretch>
              </a:blipFill>
            </p:spPr>
            <p:txBody>
              <a:bodyPr/>
              <a:lstStyle/>
              <a:p>
                <a:r>
                  <a:rPr lang="zh-TW" altLang="en-US">
                    <a:noFill/>
                  </a:rPr>
                  <a:t> </a:t>
                </a:r>
              </a:p>
            </p:txBody>
          </p:sp>
        </mc:Fallback>
      </mc:AlternateContent>
      <p:sp>
        <p:nvSpPr>
          <p:cNvPr id="24" name="文字方塊 23">
            <a:extLst>
              <a:ext uri="{FF2B5EF4-FFF2-40B4-BE49-F238E27FC236}">
                <a16:creationId xmlns:a16="http://schemas.microsoft.com/office/drawing/2014/main" xmlns="" id="{4D57147F-58D0-48BB-AF1D-FF2616F71124}"/>
              </a:ext>
            </a:extLst>
          </p:cNvPr>
          <p:cNvSpPr txBox="1"/>
          <p:nvPr/>
        </p:nvSpPr>
        <p:spPr>
          <a:xfrm>
            <a:off x="488271" y="3941633"/>
            <a:ext cx="1554721" cy="923330"/>
          </a:xfrm>
          <a:prstGeom prst="rect">
            <a:avLst/>
          </a:prstGeom>
          <a:noFill/>
        </p:spPr>
        <p:txBody>
          <a:bodyPr wrap="none" rtlCol="0">
            <a:spAutoFit/>
          </a:bodyPr>
          <a:lstStyle/>
          <a:p>
            <a:r>
              <a:rPr lang="en-US" altLang="zh-TW" dirty="0"/>
              <a:t>Insertion: 1</a:t>
            </a:r>
          </a:p>
          <a:p>
            <a:r>
              <a:rPr lang="en-US" altLang="zh-TW" dirty="0"/>
              <a:t>Deletion: 1</a:t>
            </a:r>
          </a:p>
          <a:p>
            <a:r>
              <a:rPr lang="en-US" altLang="zh-TW" dirty="0"/>
              <a:t>Substitution: 1</a:t>
            </a:r>
            <a:endParaRPr lang="zh-TW" altLang="en-US" dirty="0"/>
          </a:p>
        </p:txBody>
      </p:sp>
    </p:spTree>
    <p:extLst>
      <p:ext uri="{BB962C8B-B14F-4D97-AF65-F5344CB8AC3E}">
        <p14:creationId xmlns:p14="http://schemas.microsoft.com/office/powerpoint/2010/main" val="41194733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13907866-1BDF-4373-9671-9771A3EE74A4}"/>
                  </a:ext>
                </a:extLst>
              </p:cNvPr>
              <p:cNvSpPr txBox="1"/>
              <p:nvPr/>
            </p:nvSpPr>
            <p:spPr>
              <a:xfrm>
                <a:off x="949910" y="543731"/>
                <a:ext cx="1091774" cy="461665"/>
              </a:xfrm>
              <a:prstGeom prst="rect">
                <a:avLst/>
              </a:prstGeom>
              <a:noFill/>
            </p:spPr>
            <p:txBody>
              <a:bodyPr wrap="none" rtlCol="0">
                <a:spAutoFit/>
              </a:bodyPr>
              <a:lstStyle/>
              <a:p>
                <a14:m>
                  <m:oMath xmlns:m="http://schemas.openxmlformats.org/officeDocument/2006/math">
                    <m:r>
                      <a:rPr lang="en-US" altLang="zh-TW" sz="2400" b="0" i="1" smtClean="0">
                        <a:latin typeface="Cambria Math" panose="02040503050406030204" pitchFamily="18" charset="0"/>
                      </a:rPr>
                      <m:t>𝑞</m:t>
                    </m:r>
                  </m:oMath>
                </a14:m>
                <a:r>
                  <a:rPr lang="en-US" altLang="zh-TW" sz="2400" dirty="0"/>
                  <a:t>-gram</a:t>
                </a:r>
                <a:endParaRPr lang="zh-TW" altLang="en-US" sz="2400" dirty="0"/>
              </a:p>
            </p:txBody>
          </p:sp>
        </mc:Choice>
        <mc:Fallback xmlns="">
          <p:sp>
            <p:nvSpPr>
              <p:cNvPr id="5" name="文字方塊 4">
                <a:extLst>
                  <a:ext uri="{FF2B5EF4-FFF2-40B4-BE49-F238E27FC236}">
                    <a16:creationId xmlns:a16="http://schemas.microsoft.com/office/drawing/2014/main" id="{13907866-1BDF-4373-9671-9771A3EE74A4}"/>
                  </a:ext>
                </a:extLst>
              </p:cNvPr>
              <p:cNvSpPr txBox="1">
                <a:spLocks noRot="1" noChangeAspect="1" noMove="1" noResize="1" noEditPoints="1" noAdjustHandles="1" noChangeArrowheads="1" noChangeShapeType="1" noTextEdit="1"/>
              </p:cNvSpPr>
              <p:nvPr/>
            </p:nvSpPr>
            <p:spPr>
              <a:xfrm>
                <a:off x="949910" y="543731"/>
                <a:ext cx="1091774" cy="461665"/>
              </a:xfrm>
              <a:prstGeom prst="rect">
                <a:avLst/>
              </a:prstGeom>
              <a:blipFill>
                <a:blip r:embed="rId2"/>
                <a:stretch>
                  <a:fillRect l="-1676" t="-10526" r="-726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xmlns="" id="{BBD6E365-D6B1-4619-B838-D8A6C38F68FB}"/>
                  </a:ext>
                </a:extLst>
              </p:cNvPr>
              <p:cNvSpPr/>
              <p:nvPr/>
            </p:nvSpPr>
            <p:spPr>
              <a:xfrm>
                <a:off x="949910" y="1189633"/>
                <a:ext cx="9980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𝑞</m:t>
                      </m:r>
                      <m:r>
                        <a:rPr lang="en-US" altLang="zh-TW" sz="2400" b="0" i="1" smtClean="0">
                          <a:latin typeface="Cambria Math" panose="02040503050406030204" pitchFamily="18" charset="0"/>
                        </a:rPr>
                        <m:t>=2</m:t>
                      </m:r>
                    </m:oMath>
                  </m:oMathPara>
                </a14:m>
                <a:endParaRPr lang="zh-TW" altLang="en-US" sz="2400" dirty="0"/>
              </a:p>
            </p:txBody>
          </p:sp>
        </mc:Choice>
        <mc:Fallback xmlns="">
          <p:sp>
            <p:nvSpPr>
              <p:cNvPr id="6" name="矩形 5">
                <a:extLst>
                  <a:ext uri="{FF2B5EF4-FFF2-40B4-BE49-F238E27FC236}">
                    <a16:creationId xmlns:a16="http://schemas.microsoft.com/office/drawing/2014/main" id="{BBD6E365-D6B1-4619-B838-D8A6C38F68FB}"/>
                  </a:ext>
                </a:extLst>
              </p:cNvPr>
              <p:cNvSpPr>
                <a:spLocks noRot="1" noChangeAspect="1" noMove="1" noResize="1" noEditPoints="1" noAdjustHandles="1" noChangeArrowheads="1" noChangeShapeType="1" noTextEdit="1"/>
              </p:cNvSpPr>
              <p:nvPr/>
            </p:nvSpPr>
            <p:spPr>
              <a:xfrm>
                <a:off x="949910" y="1189633"/>
                <a:ext cx="998094" cy="461665"/>
              </a:xfrm>
              <a:prstGeom prst="rect">
                <a:avLst/>
              </a:prstGeom>
              <a:blipFill>
                <a:blip r:embed="rId3"/>
                <a:stretch>
                  <a:fillRect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D01DA086-315D-459D-8CD1-3E15459E194A}"/>
                  </a:ext>
                </a:extLst>
              </p:cNvPr>
              <p:cNvSpPr txBox="1"/>
              <p:nvPr/>
            </p:nvSpPr>
            <p:spPr>
              <a:xfrm>
                <a:off x="949910" y="1877780"/>
                <a:ext cx="19956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𝑎𝑏𝑎𝑎𝑏𝑎𝑏</m:t>
                      </m:r>
                    </m:oMath>
                  </m:oMathPara>
                </a14:m>
                <a:endParaRPr lang="zh-TW" altLang="en-US" sz="2400" dirty="0"/>
              </a:p>
            </p:txBody>
          </p:sp>
        </mc:Choice>
        <mc:Fallback xmlns="">
          <p:sp>
            <p:nvSpPr>
              <p:cNvPr id="7" name="文字方塊 6">
                <a:extLst>
                  <a:ext uri="{FF2B5EF4-FFF2-40B4-BE49-F238E27FC236}">
                    <a16:creationId xmlns:a16="http://schemas.microsoft.com/office/drawing/2014/main" id="{D01DA086-315D-459D-8CD1-3E15459E194A}"/>
                  </a:ext>
                </a:extLst>
              </p:cNvPr>
              <p:cNvSpPr txBox="1">
                <a:spLocks noRot="1" noChangeAspect="1" noMove="1" noResize="1" noEditPoints="1" noAdjustHandles="1" noChangeArrowheads="1" noChangeShapeType="1" noTextEdit="1"/>
              </p:cNvSpPr>
              <p:nvPr/>
            </p:nvSpPr>
            <p:spPr>
              <a:xfrm>
                <a:off x="949910" y="1877780"/>
                <a:ext cx="1995675" cy="461665"/>
              </a:xfrm>
              <a:prstGeom prst="rect">
                <a:avLst/>
              </a:prstGeom>
              <a:blipFill>
                <a:blip r:embed="rId4"/>
                <a:stretch>
                  <a:fillRect/>
                </a:stretch>
              </a:blipFill>
            </p:spPr>
            <p:txBody>
              <a:bodyPr/>
              <a:lstStyle/>
              <a:p>
                <a:r>
                  <a:rPr lang="zh-TW" altLang="en-US">
                    <a:noFill/>
                  </a:rPr>
                  <a:t> </a:t>
                </a:r>
              </a:p>
            </p:txBody>
          </p:sp>
        </mc:Fallback>
      </mc:AlternateContent>
      <p:sp>
        <p:nvSpPr>
          <p:cNvPr id="9" name="矩形: 圓角 8">
            <a:extLst>
              <a:ext uri="{FF2B5EF4-FFF2-40B4-BE49-F238E27FC236}">
                <a16:creationId xmlns:a16="http://schemas.microsoft.com/office/drawing/2014/main" xmlns="" id="{49313B11-CAC5-4191-8E0E-24EB4688C94E}"/>
              </a:ext>
            </a:extLst>
          </p:cNvPr>
          <p:cNvSpPr/>
          <p:nvPr/>
        </p:nvSpPr>
        <p:spPr>
          <a:xfrm>
            <a:off x="1597981" y="1877780"/>
            <a:ext cx="367779" cy="46166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xmlns="" id="{868058EC-78C8-454B-83D3-99A560A64CAA}"/>
                  </a:ext>
                </a:extLst>
              </p:cNvPr>
              <p:cNvSpPr txBox="1"/>
              <p:nvPr/>
            </p:nvSpPr>
            <p:spPr>
              <a:xfrm>
                <a:off x="1044263" y="2523682"/>
                <a:ext cx="90306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𝑎𝑏</m:t>
                      </m:r>
                      <m:r>
                        <a:rPr lang="en-US" altLang="zh-TW" b="0" i="1" smtClean="0">
                          <a:latin typeface="Cambria Math" panose="02040503050406030204" pitchFamily="18" charset="0"/>
                        </a:rPr>
                        <m:t>,1)</m:t>
                      </m:r>
                    </m:oMath>
                  </m:oMathPara>
                </a14:m>
                <a:endParaRPr lang="zh-TW" altLang="en-US" dirty="0"/>
              </a:p>
            </p:txBody>
          </p:sp>
        </mc:Choice>
        <mc:Fallback xmlns="">
          <p:sp>
            <p:nvSpPr>
              <p:cNvPr id="11" name="文字方塊 10">
                <a:extLst>
                  <a:ext uri="{FF2B5EF4-FFF2-40B4-BE49-F238E27FC236}">
                    <a16:creationId xmlns:a16="http://schemas.microsoft.com/office/drawing/2014/main" id="{868058EC-78C8-454B-83D3-99A560A64CAA}"/>
                  </a:ext>
                </a:extLst>
              </p:cNvPr>
              <p:cNvSpPr txBox="1">
                <a:spLocks noRot="1" noChangeAspect="1" noMove="1" noResize="1" noEditPoints="1" noAdjustHandles="1" noChangeArrowheads="1" noChangeShapeType="1" noTextEdit="1"/>
              </p:cNvSpPr>
              <p:nvPr/>
            </p:nvSpPr>
            <p:spPr>
              <a:xfrm>
                <a:off x="1044263" y="2523682"/>
                <a:ext cx="903068" cy="369332"/>
              </a:xfrm>
              <a:prstGeom prst="rect">
                <a:avLst/>
              </a:prstGeom>
              <a:blipFill>
                <a:blip r:embed="rId5"/>
                <a:stretch>
                  <a:fillRect b="-1147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897239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13907866-1BDF-4373-9671-9771A3EE74A4}"/>
                  </a:ext>
                </a:extLst>
              </p:cNvPr>
              <p:cNvSpPr txBox="1"/>
              <p:nvPr/>
            </p:nvSpPr>
            <p:spPr>
              <a:xfrm>
                <a:off x="949910" y="543731"/>
                <a:ext cx="1091774" cy="461665"/>
              </a:xfrm>
              <a:prstGeom prst="rect">
                <a:avLst/>
              </a:prstGeom>
              <a:noFill/>
            </p:spPr>
            <p:txBody>
              <a:bodyPr wrap="none" rtlCol="0">
                <a:spAutoFit/>
              </a:bodyPr>
              <a:lstStyle/>
              <a:p>
                <a14:m>
                  <m:oMath xmlns:m="http://schemas.openxmlformats.org/officeDocument/2006/math">
                    <m:r>
                      <a:rPr lang="en-US" altLang="zh-TW" sz="2400" b="0" i="1" smtClean="0">
                        <a:latin typeface="Cambria Math" panose="02040503050406030204" pitchFamily="18" charset="0"/>
                      </a:rPr>
                      <m:t>𝑞</m:t>
                    </m:r>
                  </m:oMath>
                </a14:m>
                <a:r>
                  <a:rPr lang="en-US" altLang="zh-TW" sz="2400" dirty="0"/>
                  <a:t>-gram</a:t>
                </a:r>
                <a:endParaRPr lang="zh-TW" altLang="en-US" sz="2400" dirty="0"/>
              </a:p>
            </p:txBody>
          </p:sp>
        </mc:Choice>
        <mc:Fallback xmlns="">
          <p:sp>
            <p:nvSpPr>
              <p:cNvPr id="5" name="文字方塊 4">
                <a:extLst>
                  <a:ext uri="{FF2B5EF4-FFF2-40B4-BE49-F238E27FC236}">
                    <a16:creationId xmlns:a16="http://schemas.microsoft.com/office/drawing/2014/main" id="{13907866-1BDF-4373-9671-9771A3EE74A4}"/>
                  </a:ext>
                </a:extLst>
              </p:cNvPr>
              <p:cNvSpPr txBox="1">
                <a:spLocks noRot="1" noChangeAspect="1" noMove="1" noResize="1" noEditPoints="1" noAdjustHandles="1" noChangeArrowheads="1" noChangeShapeType="1" noTextEdit="1"/>
              </p:cNvSpPr>
              <p:nvPr/>
            </p:nvSpPr>
            <p:spPr>
              <a:xfrm>
                <a:off x="949910" y="543731"/>
                <a:ext cx="1091774" cy="461665"/>
              </a:xfrm>
              <a:prstGeom prst="rect">
                <a:avLst/>
              </a:prstGeom>
              <a:blipFill>
                <a:blip r:embed="rId2"/>
                <a:stretch>
                  <a:fillRect l="-1676" t="-10526" r="-726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xmlns="" id="{BBD6E365-D6B1-4619-B838-D8A6C38F68FB}"/>
                  </a:ext>
                </a:extLst>
              </p:cNvPr>
              <p:cNvSpPr/>
              <p:nvPr/>
            </p:nvSpPr>
            <p:spPr>
              <a:xfrm>
                <a:off x="949910" y="1189633"/>
                <a:ext cx="9980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𝑞</m:t>
                      </m:r>
                      <m:r>
                        <a:rPr lang="en-US" altLang="zh-TW" sz="2400" b="0" i="1" smtClean="0">
                          <a:latin typeface="Cambria Math" panose="02040503050406030204" pitchFamily="18" charset="0"/>
                        </a:rPr>
                        <m:t>=2</m:t>
                      </m:r>
                    </m:oMath>
                  </m:oMathPara>
                </a14:m>
                <a:endParaRPr lang="zh-TW" altLang="en-US" sz="2400" dirty="0"/>
              </a:p>
            </p:txBody>
          </p:sp>
        </mc:Choice>
        <mc:Fallback xmlns="">
          <p:sp>
            <p:nvSpPr>
              <p:cNvPr id="6" name="矩形 5">
                <a:extLst>
                  <a:ext uri="{FF2B5EF4-FFF2-40B4-BE49-F238E27FC236}">
                    <a16:creationId xmlns:a16="http://schemas.microsoft.com/office/drawing/2014/main" id="{BBD6E365-D6B1-4619-B838-D8A6C38F68FB}"/>
                  </a:ext>
                </a:extLst>
              </p:cNvPr>
              <p:cNvSpPr>
                <a:spLocks noRot="1" noChangeAspect="1" noMove="1" noResize="1" noEditPoints="1" noAdjustHandles="1" noChangeArrowheads="1" noChangeShapeType="1" noTextEdit="1"/>
              </p:cNvSpPr>
              <p:nvPr/>
            </p:nvSpPr>
            <p:spPr>
              <a:xfrm>
                <a:off x="949910" y="1189633"/>
                <a:ext cx="998094" cy="461665"/>
              </a:xfrm>
              <a:prstGeom prst="rect">
                <a:avLst/>
              </a:prstGeom>
              <a:blipFill>
                <a:blip r:embed="rId3"/>
                <a:stretch>
                  <a:fillRect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D01DA086-315D-459D-8CD1-3E15459E194A}"/>
                  </a:ext>
                </a:extLst>
              </p:cNvPr>
              <p:cNvSpPr txBox="1"/>
              <p:nvPr/>
            </p:nvSpPr>
            <p:spPr>
              <a:xfrm>
                <a:off x="949910" y="1877780"/>
                <a:ext cx="19956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𝑎𝑏𝑎𝑎𝑏𝑎𝑏</m:t>
                      </m:r>
                    </m:oMath>
                  </m:oMathPara>
                </a14:m>
                <a:endParaRPr lang="zh-TW" altLang="en-US" sz="2400" dirty="0"/>
              </a:p>
            </p:txBody>
          </p:sp>
        </mc:Choice>
        <mc:Fallback xmlns="">
          <p:sp>
            <p:nvSpPr>
              <p:cNvPr id="7" name="文字方塊 6">
                <a:extLst>
                  <a:ext uri="{FF2B5EF4-FFF2-40B4-BE49-F238E27FC236}">
                    <a16:creationId xmlns:a16="http://schemas.microsoft.com/office/drawing/2014/main" id="{D01DA086-315D-459D-8CD1-3E15459E194A}"/>
                  </a:ext>
                </a:extLst>
              </p:cNvPr>
              <p:cNvSpPr txBox="1">
                <a:spLocks noRot="1" noChangeAspect="1" noMove="1" noResize="1" noEditPoints="1" noAdjustHandles="1" noChangeArrowheads="1" noChangeShapeType="1" noTextEdit="1"/>
              </p:cNvSpPr>
              <p:nvPr/>
            </p:nvSpPr>
            <p:spPr>
              <a:xfrm>
                <a:off x="949910" y="1877780"/>
                <a:ext cx="1995675" cy="461665"/>
              </a:xfrm>
              <a:prstGeom prst="rect">
                <a:avLst/>
              </a:prstGeom>
              <a:blipFill>
                <a:blip r:embed="rId4"/>
                <a:stretch>
                  <a:fillRect/>
                </a:stretch>
              </a:blipFill>
            </p:spPr>
            <p:txBody>
              <a:bodyPr/>
              <a:lstStyle/>
              <a:p>
                <a:r>
                  <a:rPr lang="zh-TW" altLang="en-US">
                    <a:noFill/>
                  </a:rPr>
                  <a:t> </a:t>
                </a:r>
              </a:p>
            </p:txBody>
          </p:sp>
        </mc:Fallback>
      </mc:AlternateContent>
      <p:sp>
        <p:nvSpPr>
          <p:cNvPr id="9" name="矩形: 圓角 8">
            <a:extLst>
              <a:ext uri="{FF2B5EF4-FFF2-40B4-BE49-F238E27FC236}">
                <a16:creationId xmlns:a16="http://schemas.microsoft.com/office/drawing/2014/main" xmlns="" id="{49313B11-CAC5-4191-8E0E-24EB4688C94E}"/>
              </a:ext>
            </a:extLst>
          </p:cNvPr>
          <p:cNvSpPr/>
          <p:nvPr/>
        </p:nvSpPr>
        <p:spPr>
          <a:xfrm>
            <a:off x="1781613" y="1877780"/>
            <a:ext cx="367779" cy="46166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DA856560-CF8B-433A-92FB-A3225F423C51}"/>
                  </a:ext>
                </a:extLst>
              </p:cNvPr>
              <p:cNvSpPr txBox="1"/>
              <p:nvPr/>
            </p:nvSpPr>
            <p:spPr>
              <a:xfrm>
                <a:off x="1044263" y="2523682"/>
                <a:ext cx="165494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,1</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𝑏𝑎</m:t>
                      </m:r>
                      <m:r>
                        <a:rPr lang="en-US" altLang="zh-TW" b="0" i="1" smtClean="0">
                          <a:latin typeface="Cambria Math" panose="02040503050406030204" pitchFamily="18" charset="0"/>
                        </a:rPr>
                        <m:t>, 2)</m:t>
                      </m:r>
                    </m:oMath>
                  </m:oMathPara>
                </a14:m>
                <a:endParaRPr lang="zh-TW" altLang="en-US" dirty="0"/>
              </a:p>
            </p:txBody>
          </p:sp>
        </mc:Choice>
        <mc:Fallback xmlns="">
          <p:sp>
            <p:nvSpPr>
              <p:cNvPr id="8" name="文字方塊 7">
                <a:extLst>
                  <a:ext uri="{FF2B5EF4-FFF2-40B4-BE49-F238E27FC236}">
                    <a16:creationId xmlns:a16="http://schemas.microsoft.com/office/drawing/2014/main" id="{DA856560-CF8B-433A-92FB-A3225F423C51}"/>
                  </a:ext>
                </a:extLst>
              </p:cNvPr>
              <p:cNvSpPr txBox="1">
                <a:spLocks noRot="1" noChangeAspect="1" noMove="1" noResize="1" noEditPoints="1" noAdjustHandles="1" noChangeArrowheads="1" noChangeShapeType="1" noTextEdit="1"/>
              </p:cNvSpPr>
              <p:nvPr/>
            </p:nvSpPr>
            <p:spPr>
              <a:xfrm>
                <a:off x="1044263" y="2523682"/>
                <a:ext cx="1654940" cy="369332"/>
              </a:xfrm>
              <a:prstGeom prst="rect">
                <a:avLst/>
              </a:prstGeom>
              <a:blipFill>
                <a:blip r:embed="rId5"/>
                <a:stretch>
                  <a:fillRect b="-1147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292744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13907866-1BDF-4373-9671-9771A3EE74A4}"/>
                  </a:ext>
                </a:extLst>
              </p:cNvPr>
              <p:cNvSpPr txBox="1"/>
              <p:nvPr/>
            </p:nvSpPr>
            <p:spPr>
              <a:xfrm>
                <a:off x="949910" y="543731"/>
                <a:ext cx="1091774" cy="461665"/>
              </a:xfrm>
              <a:prstGeom prst="rect">
                <a:avLst/>
              </a:prstGeom>
              <a:noFill/>
            </p:spPr>
            <p:txBody>
              <a:bodyPr wrap="none" rtlCol="0">
                <a:spAutoFit/>
              </a:bodyPr>
              <a:lstStyle/>
              <a:p>
                <a14:m>
                  <m:oMath xmlns:m="http://schemas.openxmlformats.org/officeDocument/2006/math">
                    <m:r>
                      <a:rPr lang="en-US" altLang="zh-TW" sz="2400" b="0" i="1" smtClean="0">
                        <a:latin typeface="Cambria Math" panose="02040503050406030204" pitchFamily="18" charset="0"/>
                      </a:rPr>
                      <m:t>𝑞</m:t>
                    </m:r>
                  </m:oMath>
                </a14:m>
                <a:r>
                  <a:rPr lang="en-US" altLang="zh-TW" sz="2400" dirty="0"/>
                  <a:t>-gram</a:t>
                </a:r>
                <a:endParaRPr lang="zh-TW" altLang="en-US" sz="2400" dirty="0"/>
              </a:p>
            </p:txBody>
          </p:sp>
        </mc:Choice>
        <mc:Fallback xmlns="">
          <p:sp>
            <p:nvSpPr>
              <p:cNvPr id="5" name="文字方塊 4">
                <a:extLst>
                  <a:ext uri="{FF2B5EF4-FFF2-40B4-BE49-F238E27FC236}">
                    <a16:creationId xmlns:a16="http://schemas.microsoft.com/office/drawing/2014/main" id="{13907866-1BDF-4373-9671-9771A3EE74A4}"/>
                  </a:ext>
                </a:extLst>
              </p:cNvPr>
              <p:cNvSpPr txBox="1">
                <a:spLocks noRot="1" noChangeAspect="1" noMove="1" noResize="1" noEditPoints="1" noAdjustHandles="1" noChangeArrowheads="1" noChangeShapeType="1" noTextEdit="1"/>
              </p:cNvSpPr>
              <p:nvPr/>
            </p:nvSpPr>
            <p:spPr>
              <a:xfrm>
                <a:off x="949910" y="543731"/>
                <a:ext cx="1091774" cy="461665"/>
              </a:xfrm>
              <a:prstGeom prst="rect">
                <a:avLst/>
              </a:prstGeom>
              <a:blipFill>
                <a:blip r:embed="rId2"/>
                <a:stretch>
                  <a:fillRect l="-1676" t="-10526" r="-726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xmlns="" id="{BBD6E365-D6B1-4619-B838-D8A6C38F68FB}"/>
                  </a:ext>
                </a:extLst>
              </p:cNvPr>
              <p:cNvSpPr/>
              <p:nvPr/>
            </p:nvSpPr>
            <p:spPr>
              <a:xfrm>
                <a:off x="949910" y="1189633"/>
                <a:ext cx="9980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𝑞</m:t>
                      </m:r>
                      <m:r>
                        <a:rPr lang="en-US" altLang="zh-TW" sz="2400" b="0" i="1" smtClean="0">
                          <a:latin typeface="Cambria Math" panose="02040503050406030204" pitchFamily="18" charset="0"/>
                        </a:rPr>
                        <m:t>=2</m:t>
                      </m:r>
                    </m:oMath>
                  </m:oMathPara>
                </a14:m>
                <a:endParaRPr lang="zh-TW" altLang="en-US" sz="2400" dirty="0"/>
              </a:p>
            </p:txBody>
          </p:sp>
        </mc:Choice>
        <mc:Fallback xmlns="">
          <p:sp>
            <p:nvSpPr>
              <p:cNvPr id="6" name="矩形 5">
                <a:extLst>
                  <a:ext uri="{FF2B5EF4-FFF2-40B4-BE49-F238E27FC236}">
                    <a16:creationId xmlns:a16="http://schemas.microsoft.com/office/drawing/2014/main" id="{BBD6E365-D6B1-4619-B838-D8A6C38F68FB}"/>
                  </a:ext>
                </a:extLst>
              </p:cNvPr>
              <p:cNvSpPr>
                <a:spLocks noRot="1" noChangeAspect="1" noMove="1" noResize="1" noEditPoints="1" noAdjustHandles="1" noChangeArrowheads="1" noChangeShapeType="1" noTextEdit="1"/>
              </p:cNvSpPr>
              <p:nvPr/>
            </p:nvSpPr>
            <p:spPr>
              <a:xfrm>
                <a:off x="949910" y="1189633"/>
                <a:ext cx="998094" cy="461665"/>
              </a:xfrm>
              <a:prstGeom prst="rect">
                <a:avLst/>
              </a:prstGeom>
              <a:blipFill>
                <a:blip r:embed="rId3"/>
                <a:stretch>
                  <a:fillRect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D01DA086-315D-459D-8CD1-3E15459E194A}"/>
                  </a:ext>
                </a:extLst>
              </p:cNvPr>
              <p:cNvSpPr txBox="1"/>
              <p:nvPr/>
            </p:nvSpPr>
            <p:spPr>
              <a:xfrm>
                <a:off x="949910" y="1877780"/>
                <a:ext cx="19956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𝑎𝑏𝑎𝑎𝑏𝑎𝑏</m:t>
                      </m:r>
                    </m:oMath>
                  </m:oMathPara>
                </a14:m>
                <a:endParaRPr lang="zh-TW" altLang="en-US" sz="2400" dirty="0"/>
              </a:p>
            </p:txBody>
          </p:sp>
        </mc:Choice>
        <mc:Fallback xmlns="">
          <p:sp>
            <p:nvSpPr>
              <p:cNvPr id="7" name="文字方塊 6">
                <a:extLst>
                  <a:ext uri="{FF2B5EF4-FFF2-40B4-BE49-F238E27FC236}">
                    <a16:creationId xmlns:a16="http://schemas.microsoft.com/office/drawing/2014/main" id="{D01DA086-315D-459D-8CD1-3E15459E194A}"/>
                  </a:ext>
                </a:extLst>
              </p:cNvPr>
              <p:cNvSpPr txBox="1">
                <a:spLocks noRot="1" noChangeAspect="1" noMove="1" noResize="1" noEditPoints="1" noAdjustHandles="1" noChangeArrowheads="1" noChangeShapeType="1" noTextEdit="1"/>
              </p:cNvSpPr>
              <p:nvPr/>
            </p:nvSpPr>
            <p:spPr>
              <a:xfrm>
                <a:off x="949910" y="1877780"/>
                <a:ext cx="1995675" cy="461665"/>
              </a:xfrm>
              <a:prstGeom prst="rect">
                <a:avLst/>
              </a:prstGeom>
              <a:blipFill>
                <a:blip r:embed="rId4"/>
                <a:stretch>
                  <a:fillRect/>
                </a:stretch>
              </a:blipFill>
            </p:spPr>
            <p:txBody>
              <a:bodyPr/>
              <a:lstStyle/>
              <a:p>
                <a:r>
                  <a:rPr lang="zh-TW" altLang="en-US">
                    <a:noFill/>
                  </a:rPr>
                  <a:t> </a:t>
                </a:r>
              </a:p>
            </p:txBody>
          </p:sp>
        </mc:Fallback>
      </mc:AlternateContent>
      <p:sp>
        <p:nvSpPr>
          <p:cNvPr id="9" name="矩形: 圓角 8">
            <a:extLst>
              <a:ext uri="{FF2B5EF4-FFF2-40B4-BE49-F238E27FC236}">
                <a16:creationId xmlns:a16="http://schemas.microsoft.com/office/drawing/2014/main" xmlns="" id="{49313B11-CAC5-4191-8E0E-24EB4688C94E}"/>
              </a:ext>
            </a:extLst>
          </p:cNvPr>
          <p:cNvSpPr/>
          <p:nvPr/>
        </p:nvSpPr>
        <p:spPr>
          <a:xfrm>
            <a:off x="2465194" y="1877780"/>
            <a:ext cx="367779" cy="46166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8D387B3D-7737-42C5-AEBE-E97908A30AF3}"/>
                  </a:ext>
                </a:extLst>
              </p:cNvPr>
              <p:cNvSpPr txBox="1"/>
              <p:nvPr/>
            </p:nvSpPr>
            <p:spPr>
              <a:xfrm>
                <a:off x="1044263" y="2523682"/>
                <a:ext cx="46644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,1</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𝑏𝑎</m:t>
                          </m:r>
                          <m:r>
                            <a:rPr lang="en-US" altLang="zh-TW" b="0" i="1" smtClean="0">
                              <a:latin typeface="Cambria Math" panose="02040503050406030204" pitchFamily="18" charset="0"/>
                            </a:rPr>
                            <m:t>, 2</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𝑎𝑎</m:t>
                          </m:r>
                          <m:r>
                            <a:rPr lang="en-US" altLang="zh-TW" b="0" i="1" smtClean="0">
                              <a:latin typeface="Cambria Math" panose="02040503050406030204" pitchFamily="18" charset="0"/>
                            </a:rPr>
                            <m:t>,3</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,4</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𝑏𝑎</m:t>
                          </m:r>
                          <m:r>
                            <a:rPr lang="en-US" altLang="zh-TW" b="0" i="1" smtClean="0">
                              <a:latin typeface="Cambria Math" panose="02040503050406030204" pitchFamily="18" charset="0"/>
                            </a:rPr>
                            <m:t>,5</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𝑎𝑏</m:t>
                      </m:r>
                      <m:r>
                        <a:rPr lang="en-US" altLang="zh-TW" b="0" i="1" smtClean="0">
                          <a:latin typeface="Cambria Math" panose="02040503050406030204" pitchFamily="18" charset="0"/>
                        </a:rPr>
                        <m:t>,6)</m:t>
                      </m:r>
                    </m:oMath>
                  </m:oMathPara>
                </a14:m>
                <a:endParaRPr lang="zh-TW" altLang="en-US" dirty="0"/>
              </a:p>
            </p:txBody>
          </p:sp>
        </mc:Choice>
        <mc:Fallback xmlns="">
          <p:sp>
            <p:nvSpPr>
              <p:cNvPr id="8" name="文字方塊 7">
                <a:extLst>
                  <a:ext uri="{FF2B5EF4-FFF2-40B4-BE49-F238E27FC236}">
                    <a16:creationId xmlns:a16="http://schemas.microsoft.com/office/drawing/2014/main" id="{8D387B3D-7737-42C5-AEBE-E97908A30AF3}"/>
                  </a:ext>
                </a:extLst>
              </p:cNvPr>
              <p:cNvSpPr txBox="1">
                <a:spLocks noRot="1" noChangeAspect="1" noMove="1" noResize="1" noEditPoints="1" noAdjustHandles="1" noChangeArrowheads="1" noChangeShapeType="1" noTextEdit="1"/>
              </p:cNvSpPr>
              <p:nvPr/>
            </p:nvSpPr>
            <p:spPr>
              <a:xfrm>
                <a:off x="1044263" y="2523682"/>
                <a:ext cx="4664482" cy="369332"/>
              </a:xfrm>
              <a:prstGeom prst="rect">
                <a:avLst/>
              </a:prstGeom>
              <a:blipFill>
                <a:blip r:embed="rId5"/>
                <a:stretch>
                  <a:fillRect b="-11475"/>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xmlns="" id="{01231656-2041-4336-BF0F-9A5FA61CD52C}"/>
              </a:ext>
            </a:extLst>
          </p:cNvPr>
          <p:cNvSpPr txBox="1"/>
          <p:nvPr/>
        </p:nvSpPr>
        <p:spPr>
          <a:xfrm>
            <a:off x="1247620" y="3097226"/>
            <a:ext cx="402674" cy="369332"/>
          </a:xfrm>
          <a:prstGeom prst="rect">
            <a:avLst/>
          </a:prstGeom>
          <a:noFill/>
        </p:spPr>
        <p:txBody>
          <a:bodyPr wrap="none" rtlCol="0">
            <a:spAutoFit/>
          </a:bodyPr>
          <a:lstStyle/>
          <a:p>
            <a:r>
              <a:rPr lang="en-US" altLang="zh-TW" i="1" dirty="0"/>
              <a:t>w </a:t>
            </a:r>
            <a:endParaRPr lang="zh-TW" altLang="en-US" i="1" dirty="0"/>
          </a:p>
        </p:txBody>
      </p:sp>
      <p:cxnSp>
        <p:nvCxnSpPr>
          <p:cNvPr id="3" name="直線單箭頭接點 2">
            <a:extLst>
              <a:ext uri="{FF2B5EF4-FFF2-40B4-BE49-F238E27FC236}">
                <a16:creationId xmlns:a16="http://schemas.microsoft.com/office/drawing/2014/main" xmlns="" id="{BE321643-E8DA-4105-9934-FAA52A97199F}"/>
              </a:ext>
            </a:extLst>
          </p:cNvPr>
          <p:cNvCxnSpPr/>
          <p:nvPr/>
        </p:nvCxnSpPr>
        <p:spPr>
          <a:xfrm>
            <a:off x="1411550" y="2893014"/>
            <a:ext cx="0" cy="258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xmlns="" id="{CD02C3AA-2D15-4D68-B33F-1B199AEB280D}"/>
                  </a:ext>
                </a:extLst>
              </p:cNvPr>
              <p:cNvSpPr txBox="1"/>
              <p:nvPr/>
            </p:nvSpPr>
            <p:spPr>
              <a:xfrm>
                <a:off x="1044263" y="3670770"/>
                <a:ext cx="4490204" cy="938334"/>
              </a:xfrm>
              <a:prstGeom prst="rect">
                <a:avLst/>
              </a:prstGeom>
              <a:noFill/>
            </p:spPr>
            <p:txBody>
              <a:bodyPr wrap="none" rtlCol="0">
                <a:spAutoFit/>
              </a:bodyPr>
              <a:lstStyle/>
              <a:p>
                <a14:m>
                  <m:oMath xmlns:m="http://schemas.openxmlformats.org/officeDocument/2006/math">
                    <m:r>
                      <a:rPr lang="en-US" altLang="zh-TW" b="0" i="1" smtClean="0">
                        <a:latin typeface="Cambria Math" panose="02040503050406030204" pitchFamily="18" charset="0"/>
                      </a:rPr>
                      <m:t>𝑑𝑓</m:t>
                    </m:r>
                    <m:r>
                      <a:rPr lang="en-US" altLang="zh-TW" b="0" i="1" smtClean="0">
                        <a:latin typeface="Cambria Math" panose="02040503050406030204" pitchFamily="18" charset="0"/>
                      </a:rPr>
                      <m:t>(</m:t>
                    </m:r>
                    <m:r>
                      <a:rPr lang="en-US" altLang="zh-TW" b="0" i="1" smtClean="0">
                        <a:latin typeface="Cambria Math" panose="02040503050406030204" pitchFamily="18" charset="0"/>
                      </a:rPr>
                      <m:t>𝑤</m:t>
                    </m:r>
                    <m:r>
                      <a:rPr lang="en-US" altLang="zh-TW" b="0" i="1" smtClean="0">
                        <a:latin typeface="Cambria Math" panose="02040503050406030204" pitchFamily="18" charset="0"/>
                      </a:rPr>
                      <m:t>)</m:t>
                    </m:r>
                  </m:oMath>
                </a14:m>
                <a:r>
                  <a:rPr lang="en-US" altLang="zh-TW" dirty="0"/>
                  <a:t> be the number of strings containing </a:t>
                </a:r>
                <a:r>
                  <a:rPr lang="en-US" altLang="zh-TW" i="1" dirty="0"/>
                  <a:t>w.</a:t>
                </a:r>
              </a:p>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𝑖𝑑𝑓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𝑤</m:t>
                          </m:r>
                        </m:e>
                      </m:d>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𝑑𝑓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𝑤</m:t>
                              </m:r>
                            </m:e>
                          </m:d>
                        </m:den>
                      </m:f>
                    </m:oMath>
                  </m:oMathPara>
                </a14:m>
                <a:endParaRPr lang="zh-TW" altLang="en-US" i="1" dirty="0"/>
              </a:p>
            </p:txBody>
          </p:sp>
        </mc:Choice>
        <mc:Fallback xmlns="">
          <p:sp>
            <p:nvSpPr>
              <p:cNvPr id="2" name="文字方塊 1">
                <a:extLst>
                  <a:ext uri="{FF2B5EF4-FFF2-40B4-BE49-F238E27FC236}">
                    <a16:creationId xmlns:a16="http://schemas.microsoft.com/office/drawing/2014/main" id="{CD02C3AA-2D15-4D68-B33F-1B199AEB280D}"/>
                  </a:ext>
                </a:extLst>
              </p:cNvPr>
              <p:cNvSpPr txBox="1">
                <a:spLocks noRot="1" noChangeAspect="1" noMove="1" noResize="1" noEditPoints="1" noAdjustHandles="1" noChangeArrowheads="1" noChangeShapeType="1" noTextEdit="1"/>
              </p:cNvSpPr>
              <p:nvPr/>
            </p:nvSpPr>
            <p:spPr>
              <a:xfrm>
                <a:off x="1044263" y="3670770"/>
                <a:ext cx="4490204" cy="938334"/>
              </a:xfrm>
              <a:prstGeom prst="rect">
                <a:avLst/>
              </a:prstGeom>
              <a:blipFill>
                <a:blip r:embed="rId6"/>
                <a:stretch>
                  <a:fillRect l="-407" t="-3247" r="-2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484777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13907866-1BDF-4373-9671-9771A3EE74A4}"/>
                  </a:ext>
                </a:extLst>
              </p:cNvPr>
              <p:cNvSpPr txBox="1"/>
              <p:nvPr/>
            </p:nvSpPr>
            <p:spPr>
              <a:xfrm>
                <a:off x="949910" y="543731"/>
                <a:ext cx="1091774" cy="461665"/>
              </a:xfrm>
              <a:prstGeom prst="rect">
                <a:avLst/>
              </a:prstGeom>
              <a:noFill/>
            </p:spPr>
            <p:txBody>
              <a:bodyPr wrap="none" rtlCol="0">
                <a:spAutoFit/>
              </a:bodyPr>
              <a:lstStyle/>
              <a:p>
                <a14:m>
                  <m:oMath xmlns:m="http://schemas.openxmlformats.org/officeDocument/2006/math">
                    <m:r>
                      <a:rPr lang="en-US" altLang="zh-TW" sz="2400" b="0" i="1" smtClean="0">
                        <a:latin typeface="Cambria Math" panose="02040503050406030204" pitchFamily="18" charset="0"/>
                      </a:rPr>
                      <m:t>𝑞</m:t>
                    </m:r>
                  </m:oMath>
                </a14:m>
                <a:r>
                  <a:rPr lang="en-US" altLang="zh-TW" sz="2400" dirty="0"/>
                  <a:t>-gram</a:t>
                </a:r>
                <a:endParaRPr lang="zh-TW" altLang="en-US" sz="2400" dirty="0"/>
              </a:p>
            </p:txBody>
          </p:sp>
        </mc:Choice>
        <mc:Fallback xmlns="">
          <p:sp>
            <p:nvSpPr>
              <p:cNvPr id="5" name="文字方塊 4">
                <a:extLst>
                  <a:ext uri="{FF2B5EF4-FFF2-40B4-BE49-F238E27FC236}">
                    <a16:creationId xmlns:a16="http://schemas.microsoft.com/office/drawing/2014/main" id="{13907866-1BDF-4373-9671-9771A3EE74A4}"/>
                  </a:ext>
                </a:extLst>
              </p:cNvPr>
              <p:cNvSpPr txBox="1">
                <a:spLocks noRot="1" noChangeAspect="1" noMove="1" noResize="1" noEditPoints="1" noAdjustHandles="1" noChangeArrowheads="1" noChangeShapeType="1" noTextEdit="1"/>
              </p:cNvSpPr>
              <p:nvPr/>
            </p:nvSpPr>
            <p:spPr>
              <a:xfrm>
                <a:off x="949910" y="543731"/>
                <a:ext cx="1091774" cy="461665"/>
              </a:xfrm>
              <a:prstGeom prst="rect">
                <a:avLst/>
              </a:prstGeom>
              <a:blipFill>
                <a:blip r:embed="rId2"/>
                <a:stretch>
                  <a:fillRect l="-1676" t="-10526" r="-726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xmlns="" id="{BBD6E365-D6B1-4619-B838-D8A6C38F68FB}"/>
                  </a:ext>
                </a:extLst>
              </p:cNvPr>
              <p:cNvSpPr/>
              <p:nvPr/>
            </p:nvSpPr>
            <p:spPr>
              <a:xfrm>
                <a:off x="949910" y="1189633"/>
                <a:ext cx="9980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𝑞</m:t>
                      </m:r>
                      <m:r>
                        <a:rPr lang="en-US" altLang="zh-TW" sz="2400" b="0" i="1" smtClean="0">
                          <a:latin typeface="Cambria Math" panose="02040503050406030204" pitchFamily="18" charset="0"/>
                        </a:rPr>
                        <m:t>=2</m:t>
                      </m:r>
                    </m:oMath>
                  </m:oMathPara>
                </a14:m>
                <a:endParaRPr lang="zh-TW" altLang="en-US" sz="2400" dirty="0"/>
              </a:p>
            </p:txBody>
          </p:sp>
        </mc:Choice>
        <mc:Fallback xmlns="">
          <p:sp>
            <p:nvSpPr>
              <p:cNvPr id="6" name="矩形 5">
                <a:extLst>
                  <a:ext uri="{FF2B5EF4-FFF2-40B4-BE49-F238E27FC236}">
                    <a16:creationId xmlns:a16="http://schemas.microsoft.com/office/drawing/2014/main" id="{BBD6E365-D6B1-4619-B838-D8A6C38F68FB}"/>
                  </a:ext>
                </a:extLst>
              </p:cNvPr>
              <p:cNvSpPr>
                <a:spLocks noRot="1" noChangeAspect="1" noMove="1" noResize="1" noEditPoints="1" noAdjustHandles="1" noChangeArrowheads="1" noChangeShapeType="1" noTextEdit="1"/>
              </p:cNvSpPr>
              <p:nvPr/>
            </p:nvSpPr>
            <p:spPr>
              <a:xfrm>
                <a:off x="949910" y="1189633"/>
                <a:ext cx="998094" cy="461665"/>
              </a:xfrm>
              <a:prstGeom prst="rect">
                <a:avLst/>
              </a:prstGeom>
              <a:blipFill>
                <a:blip r:embed="rId3"/>
                <a:stretch>
                  <a:fillRect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D01DA086-315D-459D-8CD1-3E15459E194A}"/>
                  </a:ext>
                </a:extLst>
              </p:cNvPr>
              <p:cNvSpPr txBox="1"/>
              <p:nvPr/>
            </p:nvSpPr>
            <p:spPr>
              <a:xfrm>
                <a:off x="949910" y="1877780"/>
                <a:ext cx="19956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𝑎𝑏𝑎𝑎𝑏𝑎𝑏</m:t>
                      </m:r>
                    </m:oMath>
                  </m:oMathPara>
                </a14:m>
                <a:endParaRPr lang="zh-TW" altLang="en-US" sz="2400" dirty="0"/>
              </a:p>
            </p:txBody>
          </p:sp>
        </mc:Choice>
        <mc:Fallback xmlns="">
          <p:sp>
            <p:nvSpPr>
              <p:cNvPr id="7" name="文字方塊 6">
                <a:extLst>
                  <a:ext uri="{FF2B5EF4-FFF2-40B4-BE49-F238E27FC236}">
                    <a16:creationId xmlns:a16="http://schemas.microsoft.com/office/drawing/2014/main" id="{D01DA086-315D-459D-8CD1-3E15459E194A}"/>
                  </a:ext>
                </a:extLst>
              </p:cNvPr>
              <p:cNvSpPr txBox="1">
                <a:spLocks noRot="1" noChangeAspect="1" noMove="1" noResize="1" noEditPoints="1" noAdjustHandles="1" noChangeArrowheads="1" noChangeShapeType="1" noTextEdit="1"/>
              </p:cNvSpPr>
              <p:nvPr/>
            </p:nvSpPr>
            <p:spPr>
              <a:xfrm>
                <a:off x="949910" y="1877780"/>
                <a:ext cx="1995675" cy="461665"/>
              </a:xfrm>
              <a:prstGeom prst="rect">
                <a:avLst/>
              </a:prstGeom>
              <a:blipFill>
                <a:blip r:embed="rId4"/>
                <a:stretch>
                  <a:fillRect/>
                </a:stretch>
              </a:blipFill>
            </p:spPr>
            <p:txBody>
              <a:bodyPr/>
              <a:lstStyle/>
              <a:p>
                <a:r>
                  <a:rPr lang="zh-TW" altLang="en-US">
                    <a:noFill/>
                  </a:rPr>
                  <a:t> </a:t>
                </a:r>
              </a:p>
            </p:txBody>
          </p:sp>
        </mc:Fallback>
      </mc:AlternateContent>
      <p:sp>
        <p:nvSpPr>
          <p:cNvPr id="9" name="矩形: 圓角 8">
            <a:extLst>
              <a:ext uri="{FF2B5EF4-FFF2-40B4-BE49-F238E27FC236}">
                <a16:creationId xmlns:a16="http://schemas.microsoft.com/office/drawing/2014/main" xmlns="" id="{49313B11-CAC5-4191-8E0E-24EB4688C94E}"/>
              </a:ext>
            </a:extLst>
          </p:cNvPr>
          <p:cNvSpPr/>
          <p:nvPr/>
        </p:nvSpPr>
        <p:spPr>
          <a:xfrm>
            <a:off x="2465194" y="1877780"/>
            <a:ext cx="367779" cy="46166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8D387B3D-7737-42C5-AEBE-E97908A30AF3}"/>
                  </a:ext>
                </a:extLst>
              </p:cNvPr>
              <p:cNvSpPr txBox="1"/>
              <p:nvPr/>
            </p:nvSpPr>
            <p:spPr>
              <a:xfrm>
                <a:off x="1044263" y="2523682"/>
                <a:ext cx="46644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,1</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𝑏𝑎</m:t>
                          </m:r>
                          <m:r>
                            <a:rPr lang="en-US" altLang="zh-TW" b="0" i="1" smtClean="0">
                              <a:latin typeface="Cambria Math" panose="02040503050406030204" pitchFamily="18" charset="0"/>
                            </a:rPr>
                            <m:t>, 2</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𝑎𝑎</m:t>
                          </m:r>
                          <m:r>
                            <a:rPr lang="en-US" altLang="zh-TW" b="0" i="1" smtClean="0">
                              <a:latin typeface="Cambria Math" panose="02040503050406030204" pitchFamily="18" charset="0"/>
                            </a:rPr>
                            <m:t>,3</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,4</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𝑏𝑎</m:t>
                          </m:r>
                          <m:r>
                            <a:rPr lang="en-US" altLang="zh-TW" b="0" i="1" smtClean="0">
                              <a:latin typeface="Cambria Math" panose="02040503050406030204" pitchFamily="18" charset="0"/>
                            </a:rPr>
                            <m:t>,5</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𝑎𝑏</m:t>
                      </m:r>
                      <m:r>
                        <a:rPr lang="en-US" altLang="zh-TW" b="0" i="1" smtClean="0">
                          <a:latin typeface="Cambria Math" panose="02040503050406030204" pitchFamily="18" charset="0"/>
                        </a:rPr>
                        <m:t>,6)</m:t>
                      </m:r>
                    </m:oMath>
                  </m:oMathPara>
                </a14:m>
                <a:endParaRPr lang="zh-TW" altLang="en-US" dirty="0"/>
              </a:p>
            </p:txBody>
          </p:sp>
        </mc:Choice>
        <mc:Fallback xmlns="">
          <p:sp>
            <p:nvSpPr>
              <p:cNvPr id="8" name="文字方塊 7">
                <a:extLst>
                  <a:ext uri="{FF2B5EF4-FFF2-40B4-BE49-F238E27FC236}">
                    <a16:creationId xmlns:a16="http://schemas.microsoft.com/office/drawing/2014/main" id="{8D387B3D-7737-42C5-AEBE-E97908A30AF3}"/>
                  </a:ext>
                </a:extLst>
              </p:cNvPr>
              <p:cNvSpPr txBox="1">
                <a:spLocks noRot="1" noChangeAspect="1" noMove="1" noResize="1" noEditPoints="1" noAdjustHandles="1" noChangeArrowheads="1" noChangeShapeType="1" noTextEdit="1"/>
              </p:cNvSpPr>
              <p:nvPr/>
            </p:nvSpPr>
            <p:spPr>
              <a:xfrm>
                <a:off x="1044263" y="2523682"/>
                <a:ext cx="4664482" cy="369332"/>
              </a:xfrm>
              <a:prstGeom prst="rect">
                <a:avLst/>
              </a:prstGeom>
              <a:blipFill>
                <a:blip r:embed="rId5"/>
                <a:stretch>
                  <a:fillRect b="-11475"/>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xmlns="" id="{01231656-2041-4336-BF0F-9A5FA61CD52C}"/>
              </a:ext>
            </a:extLst>
          </p:cNvPr>
          <p:cNvSpPr txBox="1"/>
          <p:nvPr/>
        </p:nvSpPr>
        <p:spPr>
          <a:xfrm>
            <a:off x="1247620" y="3097226"/>
            <a:ext cx="402674" cy="369332"/>
          </a:xfrm>
          <a:prstGeom prst="rect">
            <a:avLst/>
          </a:prstGeom>
          <a:noFill/>
        </p:spPr>
        <p:txBody>
          <a:bodyPr wrap="none" rtlCol="0">
            <a:spAutoFit/>
          </a:bodyPr>
          <a:lstStyle/>
          <a:p>
            <a:r>
              <a:rPr lang="en-US" altLang="zh-TW" i="1" dirty="0"/>
              <a:t>w </a:t>
            </a:r>
            <a:endParaRPr lang="zh-TW" altLang="en-US" i="1" dirty="0"/>
          </a:p>
        </p:txBody>
      </p:sp>
      <p:cxnSp>
        <p:nvCxnSpPr>
          <p:cNvPr id="3" name="直線單箭頭接點 2">
            <a:extLst>
              <a:ext uri="{FF2B5EF4-FFF2-40B4-BE49-F238E27FC236}">
                <a16:creationId xmlns:a16="http://schemas.microsoft.com/office/drawing/2014/main" xmlns="" id="{BE321643-E8DA-4105-9934-FAA52A97199F}"/>
              </a:ext>
            </a:extLst>
          </p:cNvPr>
          <p:cNvCxnSpPr/>
          <p:nvPr/>
        </p:nvCxnSpPr>
        <p:spPr>
          <a:xfrm>
            <a:off x="1411550" y="2893014"/>
            <a:ext cx="0" cy="258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xmlns="" id="{CD02C3AA-2D15-4D68-B33F-1B199AEB280D}"/>
                  </a:ext>
                </a:extLst>
              </p:cNvPr>
              <p:cNvSpPr txBox="1"/>
              <p:nvPr/>
            </p:nvSpPr>
            <p:spPr>
              <a:xfrm>
                <a:off x="1044263" y="3670770"/>
                <a:ext cx="4490204" cy="938334"/>
              </a:xfrm>
              <a:prstGeom prst="rect">
                <a:avLst/>
              </a:prstGeom>
              <a:noFill/>
            </p:spPr>
            <p:txBody>
              <a:bodyPr wrap="none" rtlCol="0">
                <a:spAutoFit/>
              </a:bodyPr>
              <a:lstStyle/>
              <a:p>
                <a14:m>
                  <m:oMath xmlns:m="http://schemas.openxmlformats.org/officeDocument/2006/math">
                    <m:r>
                      <a:rPr lang="en-US" altLang="zh-TW" b="0" i="1" smtClean="0">
                        <a:latin typeface="Cambria Math" panose="02040503050406030204" pitchFamily="18" charset="0"/>
                      </a:rPr>
                      <m:t>𝑑𝑓</m:t>
                    </m:r>
                    <m:r>
                      <a:rPr lang="en-US" altLang="zh-TW" b="0" i="1" smtClean="0">
                        <a:latin typeface="Cambria Math" panose="02040503050406030204" pitchFamily="18" charset="0"/>
                      </a:rPr>
                      <m:t>(</m:t>
                    </m:r>
                    <m:r>
                      <a:rPr lang="en-US" altLang="zh-TW" b="0" i="1" smtClean="0">
                        <a:latin typeface="Cambria Math" panose="02040503050406030204" pitchFamily="18" charset="0"/>
                      </a:rPr>
                      <m:t>𝑤</m:t>
                    </m:r>
                    <m:r>
                      <a:rPr lang="en-US" altLang="zh-TW" b="0" i="1" smtClean="0">
                        <a:latin typeface="Cambria Math" panose="02040503050406030204" pitchFamily="18" charset="0"/>
                      </a:rPr>
                      <m:t>)</m:t>
                    </m:r>
                  </m:oMath>
                </a14:m>
                <a:r>
                  <a:rPr lang="en-US" altLang="zh-TW" dirty="0"/>
                  <a:t> be the number of strings containing </a:t>
                </a:r>
                <a:r>
                  <a:rPr lang="en-US" altLang="zh-TW" i="1" dirty="0"/>
                  <a:t>w.</a:t>
                </a:r>
              </a:p>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𝑖𝑑𝑓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𝑤</m:t>
                          </m:r>
                        </m:e>
                      </m:d>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𝑑𝑓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𝑤</m:t>
                              </m:r>
                            </m:e>
                          </m:d>
                        </m:den>
                      </m:f>
                    </m:oMath>
                  </m:oMathPara>
                </a14:m>
                <a:endParaRPr lang="zh-TW" altLang="en-US" i="1" dirty="0"/>
              </a:p>
            </p:txBody>
          </p:sp>
        </mc:Choice>
        <mc:Fallback xmlns="">
          <p:sp>
            <p:nvSpPr>
              <p:cNvPr id="2" name="文字方塊 1">
                <a:extLst>
                  <a:ext uri="{FF2B5EF4-FFF2-40B4-BE49-F238E27FC236}">
                    <a16:creationId xmlns:a16="http://schemas.microsoft.com/office/drawing/2014/main" id="{CD02C3AA-2D15-4D68-B33F-1B199AEB280D}"/>
                  </a:ext>
                </a:extLst>
              </p:cNvPr>
              <p:cNvSpPr txBox="1">
                <a:spLocks noRot="1" noChangeAspect="1" noMove="1" noResize="1" noEditPoints="1" noAdjustHandles="1" noChangeArrowheads="1" noChangeShapeType="1" noTextEdit="1"/>
              </p:cNvSpPr>
              <p:nvPr/>
            </p:nvSpPr>
            <p:spPr>
              <a:xfrm>
                <a:off x="1044263" y="3670770"/>
                <a:ext cx="4490204" cy="938334"/>
              </a:xfrm>
              <a:prstGeom prst="rect">
                <a:avLst/>
              </a:prstGeom>
              <a:blipFill>
                <a:blip r:embed="rId6"/>
                <a:stretch>
                  <a:fillRect l="-407" t="-3247" r="-2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xmlns="" id="{C8ED9D5C-F13D-420C-81E7-84CB68F096C3}"/>
                  </a:ext>
                </a:extLst>
              </p:cNvPr>
              <p:cNvSpPr txBox="1"/>
              <p:nvPr/>
            </p:nvSpPr>
            <p:spPr>
              <a:xfrm>
                <a:off x="955521" y="5483701"/>
                <a:ext cx="46676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𝑎𝑎</m:t>
                          </m:r>
                          <m:r>
                            <a:rPr lang="en-US" altLang="zh-TW" b="0" i="1" smtClean="0">
                              <a:latin typeface="Cambria Math" panose="02040503050406030204" pitchFamily="18" charset="0"/>
                            </a:rPr>
                            <m:t>,3</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 1</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,4</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,6</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𝑏𝑎</m:t>
                          </m:r>
                          <m:r>
                            <a:rPr lang="en-US" altLang="zh-TW" b="0" i="1" smtClean="0">
                              <a:latin typeface="Cambria Math" panose="02040503050406030204" pitchFamily="18" charset="0"/>
                            </a:rPr>
                            <m:t>,2</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𝑏𝑎</m:t>
                      </m:r>
                      <m:r>
                        <a:rPr lang="en-US" altLang="zh-TW" b="0" i="1" smtClean="0">
                          <a:latin typeface="Cambria Math" panose="02040503050406030204" pitchFamily="18" charset="0"/>
                        </a:rPr>
                        <m:t>,5)</m:t>
                      </m:r>
                    </m:oMath>
                  </m:oMathPara>
                </a14:m>
                <a:endParaRPr lang="zh-TW" altLang="en-US" dirty="0"/>
              </a:p>
            </p:txBody>
          </p:sp>
        </mc:Choice>
        <mc:Fallback xmlns="">
          <p:sp>
            <p:nvSpPr>
              <p:cNvPr id="11" name="文字方塊 10">
                <a:extLst>
                  <a:ext uri="{FF2B5EF4-FFF2-40B4-BE49-F238E27FC236}">
                    <a16:creationId xmlns:a16="http://schemas.microsoft.com/office/drawing/2014/main" id="{C8ED9D5C-F13D-420C-81E7-84CB68F096C3}"/>
                  </a:ext>
                </a:extLst>
              </p:cNvPr>
              <p:cNvSpPr txBox="1">
                <a:spLocks noRot="1" noChangeAspect="1" noMove="1" noResize="1" noEditPoints="1" noAdjustHandles="1" noChangeArrowheads="1" noChangeShapeType="1" noTextEdit="1"/>
              </p:cNvSpPr>
              <p:nvPr/>
            </p:nvSpPr>
            <p:spPr>
              <a:xfrm>
                <a:off x="955521" y="5483701"/>
                <a:ext cx="4667688" cy="369332"/>
              </a:xfrm>
              <a:prstGeom prst="rect">
                <a:avLst/>
              </a:prstGeom>
              <a:blipFill>
                <a:blip r:embed="rId7"/>
                <a:stretch>
                  <a:fillRect b="-13333"/>
                </a:stretch>
              </a:blipFill>
            </p:spPr>
            <p:txBody>
              <a:bodyPr/>
              <a:lstStyle/>
              <a:p>
                <a:r>
                  <a:rPr lang="zh-TW" altLang="en-US">
                    <a:noFill/>
                  </a:rPr>
                  <a:t> </a:t>
                </a:r>
              </a:p>
            </p:txBody>
          </p:sp>
        </mc:Fallback>
      </mc:AlternateContent>
      <p:cxnSp>
        <p:nvCxnSpPr>
          <p:cNvPr id="12" name="直線單箭頭接點 11">
            <a:extLst>
              <a:ext uri="{FF2B5EF4-FFF2-40B4-BE49-F238E27FC236}">
                <a16:creationId xmlns:a16="http://schemas.microsoft.com/office/drawing/2014/main" xmlns="" id="{325335CA-E247-4AA1-A903-9CFC68159BAA}"/>
              </a:ext>
            </a:extLst>
          </p:cNvPr>
          <p:cNvCxnSpPr/>
          <p:nvPr/>
        </p:nvCxnSpPr>
        <p:spPr>
          <a:xfrm>
            <a:off x="1948004" y="4609104"/>
            <a:ext cx="0" cy="803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xmlns="" id="{7F150CC6-4DD1-4EDE-B186-D41E61DDCE86}"/>
              </a:ext>
            </a:extLst>
          </p:cNvPr>
          <p:cNvSpPr txBox="1"/>
          <p:nvPr/>
        </p:nvSpPr>
        <p:spPr>
          <a:xfrm>
            <a:off x="1341012" y="4858769"/>
            <a:ext cx="553357" cy="369332"/>
          </a:xfrm>
          <a:prstGeom prst="rect">
            <a:avLst/>
          </a:prstGeom>
          <a:noFill/>
        </p:spPr>
        <p:txBody>
          <a:bodyPr wrap="none" rtlCol="0">
            <a:spAutoFit/>
          </a:bodyPr>
          <a:lstStyle/>
          <a:p>
            <a:r>
              <a:rPr lang="en-US" altLang="zh-TW" dirty="0"/>
              <a:t>sort</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806BFAD0-AA83-4B2D-9F4F-BD840724CE17}"/>
                  </a:ext>
                </a:extLst>
              </p:cNvPr>
              <p:cNvSpPr txBox="1"/>
              <p:nvPr/>
            </p:nvSpPr>
            <p:spPr>
              <a:xfrm>
                <a:off x="2041684" y="4610888"/>
                <a:ext cx="3345468" cy="369332"/>
              </a:xfrm>
              <a:prstGeom prst="rect">
                <a:avLst/>
              </a:prstGeom>
              <a:noFill/>
            </p:spPr>
            <p:txBody>
              <a:bodyPr wrap="none" rtlCol="0">
                <a:spAutoFit/>
              </a:bodyPr>
              <a:lstStyle/>
              <a:p>
                <a:r>
                  <a:rPr lang="en-US" altLang="zh-TW" dirty="0"/>
                  <a:t>If </a:t>
                </a:r>
                <a14:m>
                  <m:oMath xmlns:m="http://schemas.openxmlformats.org/officeDocument/2006/math">
                    <m:r>
                      <a:rPr lang="en-US" altLang="zh-TW" b="0" i="1" smtClean="0">
                        <a:latin typeface="Cambria Math" panose="02040503050406030204" pitchFamily="18" charset="0"/>
                      </a:rPr>
                      <m:t>𝑖𝑑𝑓</m:t>
                    </m:r>
                    <m:r>
                      <a:rPr lang="en-US" altLang="zh-TW" b="0" i="1" smtClean="0">
                        <a:latin typeface="Cambria Math" panose="02040503050406030204" pitchFamily="18" charset="0"/>
                      </a:rPr>
                      <m:t>(</m:t>
                    </m:r>
                    <m:r>
                      <a:rPr lang="en-US" altLang="zh-TW" b="0" i="1" smtClean="0">
                        <a:latin typeface="Cambria Math" panose="02040503050406030204" pitchFamily="18" charset="0"/>
                      </a:rPr>
                      <m:t>𝑎𝑎</m:t>
                    </m:r>
                    <m:r>
                      <a:rPr lang="en-US" altLang="zh-TW" b="0" i="1" smtClean="0">
                        <a:latin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𝑖𝑑𝑓</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𝑎𝑏</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𝑖𝑑𝑓</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𝑏𝑎</m:t>
                    </m:r>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4" name="文字方塊 3">
                <a:extLst>
                  <a:ext uri="{FF2B5EF4-FFF2-40B4-BE49-F238E27FC236}">
                    <a16:creationId xmlns:a16="http://schemas.microsoft.com/office/drawing/2014/main" id="{806BFAD0-AA83-4B2D-9F4F-BD840724CE17}"/>
                  </a:ext>
                </a:extLst>
              </p:cNvPr>
              <p:cNvSpPr txBox="1">
                <a:spLocks noRot="1" noChangeAspect="1" noMove="1" noResize="1" noEditPoints="1" noAdjustHandles="1" noChangeArrowheads="1" noChangeShapeType="1" noTextEdit="1"/>
              </p:cNvSpPr>
              <p:nvPr/>
            </p:nvSpPr>
            <p:spPr>
              <a:xfrm>
                <a:off x="2041684" y="4610888"/>
                <a:ext cx="3345468" cy="369332"/>
              </a:xfrm>
              <a:prstGeom prst="rect">
                <a:avLst/>
              </a:prstGeom>
              <a:blipFill>
                <a:blip r:embed="rId8"/>
                <a:stretch>
                  <a:fillRect l="-163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xmlns="" id="{A5587DAA-4C64-440D-994F-ED3CA48D0435}"/>
                  </a:ext>
                </a:extLst>
              </p:cNvPr>
              <p:cNvSpPr txBox="1"/>
              <p:nvPr/>
            </p:nvSpPr>
            <p:spPr>
              <a:xfrm>
                <a:off x="6332337" y="4564721"/>
                <a:ext cx="3543599" cy="830997"/>
              </a:xfrm>
              <a:prstGeom prst="rect">
                <a:avLst/>
              </a:prstGeom>
              <a:noFill/>
            </p:spPr>
            <p:txBody>
              <a:bodyPr wrap="none" rtlCol="0">
                <a:spAutoFit/>
              </a:bodyPr>
              <a:lstStyle/>
              <a:p>
                <a:r>
                  <a:rPr lang="en-US" altLang="zh-TW" sz="2400" dirty="0"/>
                  <a:t>Inverted list for </a:t>
                </a:r>
                <a:r>
                  <a:rPr lang="en-US" altLang="zh-TW" sz="2400" i="1" dirty="0"/>
                  <a:t>q</a:t>
                </a:r>
                <a:r>
                  <a:rPr lang="en-US" altLang="zh-TW" sz="2400" dirty="0"/>
                  <a:t>-gram </a:t>
                </a:r>
                <a14:m>
                  <m:oMath xmlns:m="http://schemas.openxmlformats.org/officeDocument/2006/math">
                    <m:r>
                      <a:rPr lang="en-US" altLang="zh-TW" sz="2400" b="0" i="1" smtClean="0">
                        <a:latin typeface="Cambria Math" panose="02040503050406030204" pitchFamily="18" charset="0"/>
                      </a:rPr>
                      <m:t>𝑏𝑎</m:t>
                    </m:r>
                  </m:oMath>
                </a14:m>
                <a:r>
                  <a:rPr lang="en-US" altLang="zh-TW" sz="2400" dirty="0"/>
                  <a:t>:</a:t>
                </a:r>
              </a:p>
              <a:p>
                <a:pPr/>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𝐼</m:t>
                          </m:r>
                        </m:e>
                        <m:sub>
                          <m:r>
                            <a:rPr lang="en-US" altLang="zh-TW" sz="2400" b="0" i="1" smtClean="0">
                              <a:latin typeface="Cambria Math" panose="02040503050406030204" pitchFamily="18" charset="0"/>
                            </a:rPr>
                            <m:t>𝑏𝑎</m:t>
                          </m:r>
                        </m:sub>
                      </m:sSub>
                      <m:r>
                        <a:rPr lang="en-US" altLang="zh-TW" sz="2400" b="0" i="1" smtClean="0">
                          <a:latin typeface="Cambria Math" panose="02040503050406030204" pitchFamily="18" charset="0"/>
                        </a:rPr>
                        <m:t>:</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,2</m:t>
                          </m:r>
                        </m:e>
                      </m:d>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,5)</m:t>
                      </m:r>
                    </m:oMath>
                  </m:oMathPara>
                </a14:m>
                <a:endParaRPr lang="zh-TW" altLang="en-US" sz="2400" dirty="0"/>
              </a:p>
            </p:txBody>
          </p:sp>
        </mc:Choice>
        <mc:Fallback xmlns="">
          <p:sp>
            <p:nvSpPr>
              <p:cNvPr id="14" name="文字方塊 13">
                <a:extLst>
                  <a:ext uri="{FF2B5EF4-FFF2-40B4-BE49-F238E27FC236}">
                    <a16:creationId xmlns:a16="http://schemas.microsoft.com/office/drawing/2014/main" id="{A5587DAA-4C64-440D-994F-ED3CA48D0435}"/>
                  </a:ext>
                </a:extLst>
              </p:cNvPr>
              <p:cNvSpPr txBox="1">
                <a:spLocks noRot="1" noChangeAspect="1" noMove="1" noResize="1" noEditPoints="1" noAdjustHandles="1" noChangeArrowheads="1" noChangeShapeType="1" noTextEdit="1"/>
              </p:cNvSpPr>
              <p:nvPr/>
            </p:nvSpPr>
            <p:spPr>
              <a:xfrm>
                <a:off x="6332337" y="4564721"/>
                <a:ext cx="3543599" cy="830997"/>
              </a:xfrm>
              <a:prstGeom prst="rect">
                <a:avLst/>
              </a:prstGeom>
              <a:blipFill>
                <a:blip r:embed="rId9"/>
                <a:stretch>
                  <a:fillRect l="-2754" t="-5882" r="-1549" b="-95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279877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AC8DE35B-7E63-4C40-81A5-002B34449B27}"/>
              </a:ext>
            </a:extLst>
          </p:cNvPr>
          <p:cNvSpPr>
            <a:spLocks noGrp="1"/>
          </p:cNvSpPr>
          <p:nvPr>
            <p:ph idx="1"/>
          </p:nvPr>
        </p:nvSpPr>
        <p:spPr/>
        <p:txBody>
          <a:bodyPr/>
          <a:lstStyle/>
          <a:p>
            <a:pPr marL="0" indent="0">
              <a:buNone/>
            </a:pPr>
            <a:r>
              <a:rPr lang="en-US" altLang="zh-TW" dirty="0"/>
              <a:t>Count Filtering</a:t>
            </a:r>
          </a:p>
          <a:p>
            <a:pPr marL="0" indent="0">
              <a:buNone/>
            </a:pPr>
            <a:r>
              <a:rPr lang="en-US" altLang="zh-TW" dirty="0"/>
              <a:t>Positional Filtering</a:t>
            </a:r>
          </a:p>
          <a:p>
            <a:pPr marL="0" indent="0">
              <a:buNone/>
            </a:pPr>
            <a:r>
              <a:rPr lang="en-US" altLang="zh-TW" dirty="0"/>
              <a:t>Length Filtering</a:t>
            </a:r>
          </a:p>
          <a:p>
            <a:pPr marL="0" indent="0">
              <a:buNone/>
            </a:pPr>
            <a:r>
              <a:rPr lang="en-US" altLang="zh-TW" dirty="0">
                <a:solidFill>
                  <a:srgbClr val="FF0000"/>
                </a:solidFill>
              </a:rPr>
              <a:t>Prefix Filtering</a:t>
            </a:r>
          </a:p>
          <a:p>
            <a:pPr marL="0" indent="0">
              <a:buNone/>
            </a:pPr>
            <a:r>
              <a:rPr lang="en-US" altLang="zh-TW" dirty="0">
                <a:solidFill>
                  <a:srgbClr val="FF0000"/>
                </a:solidFill>
              </a:rPr>
              <a:t>Content-based Mismatch Filtering</a:t>
            </a:r>
            <a:endParaRPr lang="zh-TW" altLang="en-US" dirty="0">
              <a:solidFill>
                <a:srgbClr val="FF0000"/>
              </a:solidFill>
            </a:endParaRPr>
          </a:p>
        </p:txBody>
      </p:sp>
    </p:spTree>
    <p:extLst>
      <p:ext uri="{BB962C8B-B14F-4D97-AF65-F5344CB8AC3E}">
        <p14:creationId xmlns:p14="http://schemas.microsoft.com/office/powerpoint/2010/main" val="6543335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xmlns="" id="{AC6F38EB-C78F-41D3-A83C-75191BE4D383}"/>
                  </a:ext>
                </a:extLst>
              </p:cNvPr>
              <p:cNvSpPr>
                <a:spLocks noGrp="1"/>
              </p:cNvSpPr>
              <p:nvPr>
                <p:ph idx="1"/>
              </p:nvPr>
            </p:nvSpPr>
            <p:spPr>
              <a:xfrm>
                <a:off x="1424126" y="1813574"/>
                <a:ext cx="6407122" cy="828797"/>
              </a:xfrm>
            </p:spPr>
            <p:txBody>
              <a:bodyPr>
                <a:normAutofit/>
              </a:bodyPr>
              <a:lstStyle/>
              <a:p>
                <a:pPr marL="0" indent="0">
                  <a:buNone/>
                </a:pPr>
                <a:r>
                  <a:rPr lang="en-US" altLang="zh-TW" sz="2400" i="1" dirty="0"/>
                  <a:t>s </a:t>
                </a:r>
                <a:r>
                  <a:rPr lang="en-US" altLang="zh-TW" sz="2400" dirty="0"/>
                  <a:t>and</a:t>
                </a:r>
                <a:r>
                  <a:rPr lang="en-US" altLang="zh-TW" sz="2400" i="1" dirty="0"/>
                  <a:t> t</a:t>
                </a:r>
                <a:r>
                  <a:rPr lang="en-US" altLang="zh-TW" sz="2400" dirty="0"/>
                  <a:t> must share at least </a:t>
                </a:r>
                <a14:m>
                  <m:oMath xmlns:m="http://schemas.openxmlformats.org/officeDocument/2006/math">
                    <m:r>
                      <a:rPr lang="en-US" altLang="zh-TW" sz="2400" b="0" i="1" smtClean="0">
                        <a:latin typeface="Cambria Math" panose="02040503050406030204" pitchFamily="18" charset="0"/>
                      </a:rPr>
                      <m:t>𝐿</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𝐵</m:t>
                        </m:r>
                      </m:e>
                      <m:sub>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oMath>
                </a14:m>
                <a:r>
                  <a:rPr lang="zh-TW" altLang="en-US" sz="2400" i="1" dirty="0"/>
                  <a:t> </a:t>
                </a:r>
                <a:r>
                  <a:rPr lang="en-US" altLang="zh-TW" sz="2400" dirty="0"/>
                  <a:t>common </a:t>
                </a:r>
                <a:r>
                  <a:rPr lang="en-US" altLang="zh-TW" sz="2400" i="1" dirty="0"/>
                  <a:t>q</a:t>
                </a:r>
                <a:r>
                  <a:rPr lang="en-US" altLang="zh-TW" sz="2400" dirty="0"/>
                  <a:t>-grams.</a:t>
                </a:r>
              </a:p>
              <a:p>
                <a:pPr marL="0" indent="0">
                  <a:buNone/>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𝐿</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𝐵</m:t>
                          </m:r>
                        </m:e>
                        <m:sub>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func>
                        <m:funcPr>
                          <m:ctrlPr>
                            <a:rPr lang="en-US" altLang="zh-TW" sz="2400" b="0" i="1" smtClean="0">
                              <a:latin typeface="Cambria Math" panose="02040503050406030204" pitchFamily="18" charset="0"/>
                            </a:rPr>
                          </m:ctrlPr>
                        </m:funcPr>
                        <m:fName>
                          <m:r>
                            <m:rPr>
                              <m:sty m:val="p"/>
                            </m:rPr>
                            <a:rPr lang="en-US" altLang="zh-TW" sz="2400" b="0" i="0" smtClean="0">
                              <a:latin typeface="Cambria Math" panose="02040503050406030204" pitchFamily="18" charset="0"/>
                            </a:rPr>
                            <m:t>max</m:t>
                          </m:r>
                        </m:fName>
                        <m:e>
                          <m:d>
                            <m:dPr>
                              <m:ctrlPr>
                                <a:rPr lang="en-US" altLang="zh-TW" sz="2400" b="0" i="1" smtClean="0">
                                  <a:latin typeface="Cambria Math" panose="02040503050406030204" pitchFamily="18" charset="0"/>
                                </a:rPr>
                              </m:ctrlPr>
                            </m:dPr>
                            <m:e>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𝑠</m:t>
                                  </m:r>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𝑡</m:t>
                                  </m:r>
                                </m:e>
                              </m:d>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+1</m:t>
                          </m:r>
                        </m:e>
                      </m:func>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𝜏</m:t>
                      </m:r>
                    </m:oMath>
                  </m:oMathPara>
                </a14:m>
                <a:endParaRPr lang="zh-TW" altLang="en-US" sz="2400" dirty="0"/>
              </a:p>
            </p:txBody>
          </p:sp>
        </mc:Choice>
        <mc:Fallback xmlns="">
          <p:sp>
            <p:nvSpPr>
              <p:cNvPr id="3" name="內容版面配置區 2">
                <a:extLst>
                  <a:ext uri="{FF2B5EF4-FFF2-40B4-BE49-F238E27FC236}">
                    <a16:creationId xmlns:a16="http://schemas.microsoft.com/office/drawing/2014/main" id="{AC6F38EB-C78F-41D3-A83C-75191BE4D383}"/>
                  </a:ext>
                </a:extLst>
              </p:cNvPr>
              <p:cNvSpPr>
                <a:spLocks noGrp="1" noRot="1" noChangeAspect="1" noMove="1" noResize="1" noEditPoints="1" noAdjustHandles="1" noChangeArrowheads="1" noChangeShapeType="1" noTextEdit="1"/>
              </p:cNvSpPr>
              <p:nvPr>
                <p:ph idx="1"/>
              </p:nvPr>
            </p:nvSpPr>
            <p:spPr>
              <a:xfrm>
                <a:off x="1424126" y="1813574"/>
                <a:ext cx="6407122" cy="828797"/>
              </a:xfrm>
              <a:blipFill>
                <a:blip r:embed="rId2"/>
                <a:stretch>
                  <a:fillRect l="-1522" t="-9630" r="-2664" b="-4444"/>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xmlns="" id="{F789ACF8-DA64-4299-96CA-25C88D2BAC20}"/>
              </a:ext>
            </a:extLst>
          </p:cNvPr>
          <p:cNvSpPr txBox="1"/>
          <p:nvPr/>
        </p:nvSpPr>
        <p:spPr>
          <a:xfrm>
            <a:off x="749423" y="1290354"/>
            <a:ext cx="2863789" cy="523220"/>
          </a:xfrm>
          <a:prstGeom prst="rect">
            <a:avLst/>
          </a:prstGeom>
          <a:noFill/>
        </p:spPr>
        <p:txBody>
          <a:bodyPr wrap="square" rtlCol="0">
            <a:spAutoFit/>
          </a:bodyPr>
          <a:lstStyle/>
          <a:p>
            <a:r>
              <a:rPr lang="en-US" altLang="zh-TW" sz="2800" dirty="0"/>
              <a:t>Count Filtering:</a:t>
            </a:r>
            <a:endParaRPr lang="zh-TW" altLang="en-US" sz="2800" dirty="0"/>
          </a:p>
        </p:txBody>
      </p:sp>
      <p:sp>
        <p:nvSpPr>
          <p:cNvPr id="8" name="文字方塊 7">
            <a:extLst>
              <a:ext uri="{FF2B5EF4-FFF2-40B4-BE49-F238E27FC236}">
                <a16:creationId xmlns:a16="http://schemas.microsoft.com/office/drawing/2014/main" xmlns="" id="{CD060D6A-D33C-42B7-8E40-9CE839B45C73}"/>
              </a:ext>
            </a:extLst>
          </p:cNvPr>
          <p:cNvSpPr txBox="1"/>
          <p:nvPr/>
        </p:nvSpPr>
        <p:spPr>
          <a:xfrm>
            <a:off x="749422" y="3957629"/>
            <a:ext cx="2863789" cy="523220"/>
          </a:xfrm>
          <a:prstGeom prst="rect">
            <a:avLst/>
          </a:prstGeom>
          <a:noFill/>
        </p:spPr>
        <p:txBody>
          <a:bodyPr wrap="square" rtlCol="0">
            <a:spAutoFit/>
          </a:bodyPr>
          <a:lstStyle/>
          <a:p>
            <a:r>
              <a:rPr lang="en-US" altLang="zh-TW" sz="2800" dirty="0"/>
              <a:t>Length Filtering:</a:t>
            </a:r>
            <a:endParaRPr lang="zh-TW" altLang="en-US" sz="2800" dirty="0"/>
          </a:p>
        </p:txBody>
      </p:sp>
      <mc:AlternateContent xmlns:mc="http://schemas.openxmlformats.org/markup-compatibility/2006" xmlns:a14="http://schemas.microsoft.com/office/drawing/2010/main">
        <mc:Choice Requires="a14">
          <p:sp>
            <p:nvSpPr>
              <p:cNvPr id="9" name="內容版面配置區 2">
                <a:extLst>
                  <a:ext uri="{FF2B5EF4-FFF2-40B4-BE49-F238E27FC236}">
                    <a16:creationId xmlns:a16="http://schemas.microsoft.com/office/drawing/2014/main" xmlns="" id="{225B319D-14D3-479E-AC1A-321515312A76}"/>
                  </a:ext>
                </a:extLst>
              </p:cNvPr>
              <p:cNvSpPr txBox="1">
                <a:spLocks/>
              </p:cNvSpPr>
              <p:nvPr/>
            </p:nvSpPr>
            <p:spPr>
              <a:xfrm>
                <a:off x="1424126" y="4426630"/>
                <a:ext cx="2124832" cy="6177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left"/>
                    </m:oMathParaPr>
                    <m:oMath xmlns:m="http://schemas.openxmlformats.org/officeDocument/2006/math">
                      <m:d>
                        <m:dPr>
                          <m:begChr m:val="|"/>
                          <m:endChr m:val="|"/>
                          <m:ctrlPr>
                            <a:rPr lang="en-US" altLang="zh-TW" sz="2400" i="1" smtClean="0">
                              <a:latin typeface="Cambria Math" panose="02040503050406030204" pitchFamily="18" charset="0"/>
                            </a:rPr>
                          </m:ctrlPr>
                        </m:dPr>
                        <m:e>
                          <m:d>
                            <m:dPr>
                              <m:begChr m:val="|"/>
                              <m:endChr m:val="|"/>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𝑠</m:t>
                              </m:r>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𝑡</m:t>
                              </m:r>
                            </m:e>
                          </m:d>
                        </m:e>
                      </m:d>
                      <m:r>
                        <a:rPr lang="en-US" altLang="zh-TW" sz="2400" i="1" smtClean="0">
                          <a:latin typeface="Cambria Math" panose="02040503050406030204" pitchFamily="18" charset="0"/>
                          <a:ea typeface="Cambria Math" panose="02040503050406030204" pitchFamily="18" charset="0"/>
                        </a:rPr>
                        <m:t>≤</m:t>
                      </m:r>
                      <m:r>
                        <a:rPr lang="zh-TW" altLang="en-US" sz="2400" i="1" smtClean="0">
                          <a:latin typeface="Cambria Math" panose="02040503050406030204" pitchFamily="18" charset="0"/>
                          <a:ea typeface="Cambria Math" panose="02040503050406030204" pitchFamily="18" charset="0"/>
                        </a:rPr>
                        <m:t>𝜏</m:t>
                      </m:r>
                    </m:oMath>
                  </m:oMathPara>
                </a14:m>
                <a:endParaRPr lang="zh-TW" altLang="en-US" sz="2400" dirty="0"/>
              </a:p>
            </p:txBody>
          </p:sp>
        </mc:Choice>
        <mc:Fallback xmlns="">
          <p:sp>
            <p:nvSpPr>
              <p:cNvPr id="9" name="內容版面配置區 2">
                <a:extLst>
                  <a:ext uri="{FF2B5EF4-FFF2-40B4-BE49-F238E27FC236}">
                    <a16:creationId xmlns:a16="http://schemas.microsoft.com/office/drawing/2014/main" id="{225B319D-14D3-479E-AC1A-321515312A76}"/>
                  </a:ext>
                </a:extLst>
              </p:cNvPr>
              <p:cNvSpPr txBox="1">
                <a:spLocks noRot="1" noChangeAspect="1" noMove="1" noResize="1" noEditPoints="1" noAdjustHandles="1" noChangeArrowheads="1" noChangeShapeType="1" noTextEdit="1"/>
              </p:cNvSpPr>
              <p:nvPr/>
            </p:nvSpPr>
            <p:spPr>
              <a:xfrm>
                <a:off x="1424126" y="4426630"/>
                <a:ext cx="2124832" cy="617797"/>
              </a:xfrm>
              <a:prstGeom prst="rect">
                <a:avLst/>
              </a:prstGeom>
              <a:blipFill>
                <a:blip r:embed="rId3"/>
                <a:stretch>
                  <a:fillRect/>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xmlns="" id="{79854EB9-BB34-4E23-B3C3-0544EF30B293}"/>
              </a:ext>
            </a:extLst>
          </p:cNvPr>
          <p:cNvSpPr txBox="1"/>
          <p:nvPr/>
        </p:nvSpPr>
        <p:spPr>
          <a:xfrm>
            <a:off x="749422" y="2808519"/>
            <a:ext cx="2863789" cy="523220"/>
          </a:xfrm>
          <a:prstGeom prst="rect">
            <a:avLst/>
          </a:prstGeom>
          <a:noFill/>
        </p:spPr>
        <p:txBody>
          <a:bodyPr wrap="square" rtlCol="0">
            <a:spAutoFit/>
          </a:bodyPr>
          <a:lstStyle/>
          <a:p>
            <a:r>
              <a:rPr lang="en-US" altLang="zh-TW" sz="2800" dirty="0"/>
              <a:t>Positional Filtering:</a:t>
            </a:r>
            <a:endParaRPr lang="zh-TW" altLang="en-US" sz="2800" dirty="0"/>
          </a:p>
        </p:txBody>
      </p:sp>
      <mc:AlternateContent xmlns:mc="http://schemas.openxmlformats.org/markup-compatibility/2006" xmlns:a14="http://schemas.microsoft.com/office/drawing/2010/main">
        <mc:Choice Requires="a14">
          <p:sp>
            <p:nvSpPr>
              <p:cNvPr id="11" name="內容版面配置區 2">
                <a:extLst>
                  <a:ext uri="{FF2B5EF4-FFF2-40B4-BE49-F238E27FC236}">
                    <a16:creationId xmlns:a16="http://schemas.microsoft.com/office/drawing/2014/main" xmlns="" id="{674DA36B-B657-4273-BDDB-217B61DE3DFD}"/>
                  </a:ext>
                </a:extLst>
              </p:cNvPr>
              <p:cNvSpPr txBox="1">
                <a:spLocks/>
              </p:cNvSpPr>
              <p:nvPr/>
            </p:nvSpPr>
            <p:spPr>
              <a:xfrm>
                <a:off x="1424125" y="3334312"/>
                <a:ext cx="7959571" cy="3839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t>The distance between the location of matching </a:t>
                </a:r>
                <a:r>
                  <a:rPr lang="en-US" altLang="zh-TW" sz="2400" i="1" dirty="0"/>
                  <a:t>q</a:t>
                </a:r>
                <a:r>
                  <a:rPr lang="en-US" altLang="zh-TW" sz="2400" dirty="0"/>
                  <a:t>-gram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r>
                      <a:rPr lang="zh-TW" altLang="en-US" sz="2400" i="1" smtClean="0">
                        <a:latin typeface="Cambria Math" panose="02040503050406030204" pitchFamily="18" charset="0"/>
                        <a:ea typeface="Cambria Math" panose="02040503050406030204" pitchFamily="18" charset="0"/>
                      </a:rPr>
                      <m:t>𝜏</m:t>
                    </m:r>
                  </m:oMath>
                </a14:m>
                <a:endParaRPr lang="zh-TW" altLang="en-US" sz="2400" dirty="0"/>
              </a:p>
            </p:txBody>
          </p:sp>
        </mc:Choice>
        <mc:Fallback xmlns="">
          <p:sp>
            <p:nvSpPr>
              <p:cNvPr id="11" name="內容版面配置區 2">
                <a:extLst>
                  <a:ext uri="{FF2B5EF4-FFF2-40B4-BE49-F238E27FC236}">
                    <a16:creationId xmlns:a16="http://schemas.microsoft.com/office/drawing/2014/main" id="{674DA36B-B657-4273-BDDB-217B61DE3DFD}"/>
                  </a:ext>
                </a:extLst>
              </p:cNvPr>
              <p:cNvSpPr txBox="1">
                <a:spLocks noRot="1" noChangeAspect="1" noMove="1" noResize="1" noEditPoints="1" noAdjustHandles="1" noChangeArrowheads="1" noChangeShapeType="1" noTextEdit="1"/>
              </p:cNvSpPr>
              <p:nvPr/>
            </p:nvSpPr>
            <p:spPr>
              <a:xfrm>
                <a:off x="1424125" y="3334312"/>
                <a:ext cx="7959571" cy="383900"/>
              </a:xfrm>
              <a:prstGeom prst="rect">
                <a:avLst/>
              </a:prstGeom>
              <a:blipFill>
                <a:blip r:embed="rId4"/>
                <a:stretch>
                  <a:fillRect l="-1226" t="-22222" b="-460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713081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0949ECB-5D1F-45CB-A85B-046A75F37A90}"/>
              </a:ext>
            </a:extLst>
          </p:cNvPr>
          <p:cNvSpPr>
            <a:spLocks noGrp="1"/>
          </p:cNvSpPr>
          <p:nvPr>
            <p:ph type="title"/>
          </p:nvPr>
        </p:nvSpPr>
        <p:spPr/>
        <p:txBody>
          <a:bodyPr/>
          <a:lstStyle/>
          <a:p>
            <a:pPr algn="ctr"/>
            <a:r>
              <a:rPr lang="en-US" altLang="zh-TW" dirty="0"/>
              <a:t>Prefix Filtering</a:t>
            </a:r>
            <a:endParaRPr lang="zh-TW" altLang="en-US" dirty="0"/>
          </a:p>
        </p:txBody>
      </p:sp>
      <p:pic>
        <p:nvPicPr>
          <p:cNvPr id="4" name="圖片 3">
            <a:extLst>
              <a:ext uri="{FF2B5EF4-FFF2-40B4-BE49-F238E27FC236}">
                <a16:creationId xmlns:a16="http://schemas.microsoft.com/office/drawing/2014/main" xmlns="" id="{E9ECFDA4-2420-4E79-AAD8-E9B4B8DE2A8E}"/>
              </a:ext>
            </a:extLst>
          </p:cNvPr>
          <p:cNvPicPr>
            <a:picLocks noChangeAspect="1"/>
          </p:cNvPicPr>
          <p:nvPr/>
        </p:nvPicPr>
        <p:blipFill>
          <a:blip r:embed="rId2"/>
          <a:stretch>
            <a:fillRect/>
          </a:stretch>
        </p:blipFill>
        <p:spPr>
          <a:xfrm>
            <a:off x="3115023" y="2455091"/>
            <a:ext cx="6884128" cy="2756101"/>
          </a:xfrm>
          <a:prstGeom prst="rect">
            <a:avLst/>
          </a:prstGeom>
        </p:spPr>
      </p:pic>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D818FFC9-D780-47F5-BA6D-65815F5F0870}"/>
                  </a:ext>
                </a:extLst>
              </p:cNvPr>
              <p:cNvSpPr txBox="1"/>
              <p:nvPr/>
            </p:nvSpPr>
            <p:spPr>
              <a:xfrm>
                <a:off x="1189608" y="1721700"/>
                <a:ext cx="218149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𝑙</m:t>
                      </m:r>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𝑠</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+1</m:t>
                      </m:r>
                    </m:oMath>
                  </m:oMathPara>
                </a14:m>
                <a:endParaRPr lang="zh-TW" altLang="en-US" sz="2400" dirty="0"/>
              </a:p>
            </p:txBody>
          </p:sp>
        </mc:Choice>
        <mc:Fallback xmlns="">
          <p:sp>
            <p:nvSpPr>
              <p:cNvPr id="5" name="文字方塊 4">
                <a:extLst>
                  <a:ext uri="{FF2B5EF4-FFF2-40B4-BE49-F238E27FC236}">
                    <a16:creationId xmlns:a16="http://schemas.microsoft.com/office/drawing/2014/main" id="{D818FFC9-D780-47F5-BA6D-65815F5F0870}"/>
                  </a:ext>
                </a:extLst>
              </p:cNvPr>
              <p:cNvSpPr txBox="1">
                <a:spLocks noRot="1" noChangeAspect="1" noMove="1" noResize="1" noEditPoints="1" noAdjustHandles="1" noChangeArrowheads="1" noChangeShapeType="1" noTextEdit="1"/>
              </p:cNvSpPr>
              <p:nvPr/>
            </p:nvSpPr>
            <p:spPr>
              <a:xfrm>
                <a:off x="1189608" y="1721700"/>
                <a:ext cx="2181495" cy="461665"/>
              </a:xfrm>
              <a:prstGeom prst="rect">
                <a:avLst/>
              </a:prstGeom>
              <a:blipFill>
                <a:blip r:embed="rId3"/>
                <a:stretch>
                  <a:fillRect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956EF9B8-1188-46A1-9D81-E583E9EBE102}"/>
                  </a:ext>
                </a:extLst>
              </p:cNvPr>
              <p:cNvSpPr txBox="1"/>
              <p:nvPr/>
            </p:nvSpPr>
            <p:spPr>
              <a:xfrm>
                <a:off x="1189608" y="5482918"/>
                <a:ext cx="7462556" cy="461665"/>
              </a:xfrm>
              <a:prstGeom prst="rect">
                <a:avLst/>
              </a:prstGeom>
              <a:noFill/>
            </p:spPr>
            <p:txBody>
              <a:bodyPr wrap="none" rtlCol="0">
                <a:spAutoFit/>
              </a:bodyPr>
              <a:lstStyle/>
              <a:p>
                <a14:m>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𝜏</m:t>
                    </m:r>
                    <m:r>
                      <a:rPr lang="en-US" altLang="zh-TW" sz="2400" b="0" i="1" smtClean="0">
                        <a:latin typeface="Cambria Math" panose="02040503050406030204" pitchFamily="18" charset="0"/>
                      </a:rPr>
                      <m:t>+1)</m:t>
                    </m:r>
                  </m:oMath>
                </a14:m>
                <a:r>
                  <a:rPr lang="en-US" altLang="zh-TW" sz="2400" dirty="0"/>
                  <a:t>-prefix must have at least one matching </a:t>
                </a:r>
                <a:r>
                  <a:rPr lang="en-US" altLang="zh-TW" sz="2400" i="1" dirty="0"/>
                  <a:t>q</a:t>
                </a:r>
                <a:r>
                  <a:rPr lang="en-US" altLang="zh-TW" sz="2400" dirty="0"/>
                  <a:t>-gram</a:t>
                </a:r>
                <a:endParaRPr lang="zh-TW" altLang="en-US" sz="2400" dirty="0"/>
              </a:p>
            </p:txBody>
          </p:sp>
        </mc:Choice>
        <mc:Fallback xmlns="">
          <p:sp>
            <p:nvSpPr>
              <p:cNvPr id="6" name="文字方塊 5">
                <a:extLst>
                  <a:ext uri="{FF2B5EF4-FFF2-40B4-BE49-F238E27FC236}">
                    <a16:creationId xmlns:a16="http://schemas.microsoft.com/office/drawing/2014/main" id="{956EF9B8-1188-46A1-9D81-E583E9EBE102}"/>
                  </a:ext>
                </a:extLst>
              </p:cNvPr>
              <p:cNvSpPr txBox="1">
                <a:spLocks noRot="1" noChangeAspect="1" noMove="1" noResize="1" noEditPoints="1" noAdjustHandles="1" noChangeArrowheads="1" noChangeShapeType="1" noTextEdit="1"/>
              </p:cNvSpPr>
              <p:nvPr/>
            </p:nvSpPr>
            <p:spPr>
              <a:xfrm>
                <a:off x="1189608" y="5482918"/>
                <a:ext cx="7462556" cy="461665"/>
              </a:xfrm>
              <a:prstGeom prst="rect">
                <a:avLst/>
              </a:prstGeom>
              <a:blipFill>
                <a:blip r:embed="rId4"/>
                <a:stretch>
                  <a:fillRect l="-654" t="-10526" r="-408"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833405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352A84A-6ABA-4994-BF96-E7BB33B06376}"/>
              </a:ext>
            </a:extLst>
          </p:cNvPr>
          <p:cNvSpPr>
            <a:spLocks noGrp="1"/>
          </p:cNvSpPr>
          <p:nvPr>
            <p:ph type="title"/>
          </p:nvPr>
        </p:nvSpPr>
        <p:spPr/>
        <p:txBody>
          <a:bodyPr/>
          <a:lstStyle/>
          <a:p>
            <a:pPr algn="ctr"/>
            <a:r>
              <a:rPr lang="en-US" altLang="zh-TW" dirty="0"/>
              <a:t>Prefix Filtering</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9FF751BE-7254-4B69-BBA7-AD63ACE498F7}"/>
                  </a:ext>
                </a:extLst>
              </p:cNvPr>
              <p:cNvSpPr txBox="1"/>
              <p:nvPr/>
            </p:nvSpPr>
            <p:spPr>
              <a:xfrm>
                <a:off x="949910" y="1877780"/>
                <a:ext cx="199567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𝑎𝑏𝑎𝑎𝑏𝑎𝑏</m:t>
                      </m:r>
                    </m:oMath>
                  </m:oMathPara>
                </a14:m>
                <a:endParaRPr lang="zh-TW" altLang="en-US" sz="2400" dirty="0"/>
              </a:p>
            </p:txBody>
          </p:sp>
        </mc:Choice>
        <mc:Fallback xmlns="">
          <p:sp>
            <p:nvSpPr>
              <p:cNvPr id="4" name="文字方塊 3">
                <a:extLst>
                  <a:ext uri="{FF2B5EF4-FFF2-40B4-BE49-F238E27FC236}">
                    <a16:creationId xmlns:a16="http://schemas.microsoft.com/office/drawing/2014/main" id="{9FF751BE-7254-4B69-BBA7-AD63ACE498F7}"/>
                  </a:ext>
                </a:extLst>
              </p:cNvPr>
              <p:cNvSpPr txBox="1">
                <a:spLocks noRot="1" noChangeAspect="1" noMove="1" noResize="1" noEditPoints="1" noAdjustHandles="1" noChangeArrowheads="1" noChangeShapeType="1" noTextEdit="1"/>
              </p:cNvSpPr>
              <p:nvPr/>
            </p:nvSpPr>
            <p:spPr>
              <a:xfrm>
                <a:off x="949910" y="1877780"/>
                <a:ext cx="1995675" cy="461665"/>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E6F057B6-169B-4C51-A609-AAF64869DF66}"/>
                  </a:ext>
                </a:extLst>
              </p:cNvPr>
              <p:cNvSpPr txBox="1"/>
              <p:nvPr/>
            </p:nvSpPr>
            <p:spPr>
              <a:xfrm>
                <a:off x="1044263" y="2523682"/>
                <a:ext cx="46644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,1</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𝑏𝑎</m:t>
                          </m:r>
                          <m:r>
                            <a:rPr lang="en-US" altLang="zh-TW" b="0" i="1" smtClean="0">
                              <a:latin typeface="Cambria Math" panose="02040503050406030204" pitchFamily="18" charset="0"/>
                            </a:rPr>
                            <m:t>, 2</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𝑎𝑎</m:t>
                          </m:r>
                          <m:r>
                            <a:rPr lang="en-US" altLang="zh-TW" b="0" i="1" smtClean="0">
                              <a:latin typeface="Cambria Math" panose="02040503050406030204" pitchFamily="18" charset="0"/>
                            </a:rPr>
                            <m:t>,3</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𝑎𝑏</m:t>
                          </m:r>
                          <m:r>
                            <a:rPr lang="en-US" altLang="zh-TW" b="0" i="1" smtClean="0">
                              <a:latin typeface="Cambria Math" panose="02040503050406030204" pitchFamily="18" charset="0"/>
                            </a:rPr>
                            <m:t>,4</m:t>
                          </m:r>
                        </m:e>
                      </m:d>
                      <m:r>
                        <a:rPr lang="en-US" altLang="zh-TW" b="0" i="1" smtClean="0">
                          <a:latin typeface="Cambria Math" panose="02040503050406030204" pitchFamily="18" charset="0"/>
                        </a:rPr>
                        <m:t>, </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𝑏𝑎</m:t>
                          </m:r>
                          <m:r>
                            <a:rPr lang="en-US" altLang="zh-TW" b="0" i="1" smtClean="0">
                              <a:latin typeface="Cambria Math" panose="02040503050406030204" pitchFamily="18" charset="0"/>
                            </a:rPr>
                            <m:t>,5</m:t>
                          </m:r>
                        </m:e>
                      </m:d>
                      <m:r>
                        <a:rPr lang="en-US" altLang="zh-TW" b="0" i="1" smtClean="0">
                          <a:latin typeface="Cambria Math" panose="02040503050406030204" pitchFamily="18" charset="0"/>
                        </a:rPr>
                        <m:t>, (</m:t>
                      </m:r>
                      <m:r>
                        <a:rPr lang="en-US" altLang="zh-TW" b="0" i="1" smtClean="0">
                          <a:latin typeface="Cambria Math" panose="02040503050406030204" pitchFamily="18" charset="0"/>
                        </a:rPr>
                        <m:t>𝑎𝑏</m:t>
                      </m:r>
                      <m:r>
                        <a:rPr lang="en-US" altLang="zh-TW" b="0" i="1" smtClean="0">
                          <a:latin typeface="Cambria Math" panose="02040503050406030204" pitchFamily="18" charset="0"/>
                        </a:rPr>
                        <m:t>,6)</m:t>
                      </m:r>
                    </m:oMath>
                  </m:oMathPara>
                </a14:m>
                <a:endParaRPr lang="zh-TW" altLang="en-US" dirty="0"/>
              </a:p>
            </p:txBody>
          </p:sp>
        </mc:Choice>
        <mc:Fallback xmlns="">
          <p:sp>
            <p:nvSpPr>
              <p:cNvPr id="6" name="文字方塊 5">
                <a:extLst>
                  <a:ext uri="{FF2B5EF4-FFF2-40B4-BE49-F238E27FC236}">
                    <a16:creationId xmlns:a16="http://schemas.microsoft.com/office/drawing/2014/main" id="{E6F057B6-169B-4C51-A609-AAF64869DF66}"/>
                  </a:ext>
                </a:extLst>
              </p:cNvPr>
              <p:cNvSpPr txBox="1">
                <a:spLocks noRot="1" noChangeAspect="1" noMove="1" noResize="1" noEditPoints="1" noAdjustHandles="1" noChangeArrowheads="1" noChangeShapeType="1" noTextEdit="1"/>
              </p:cNvSpPr>
              <p:nvPr/>
            </p:nvSpPr>
            <p:spPr>
              <a:xfrm>
                <a:off x="1044263" y="2523682"/>
                <a:ext cx="4664482" cy="369332"/>
              </a:xfrm>
              <a:prstGeom prst="rect">
                <a:avLst/>
              </a:prstGeom>
              <a:blipFill>
                <a:blip r:embed="rId3"/>
                <a:stretch>
                  <a:fillRect b="-114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CF1FB362-76B0-4E7A-8CFB-16AB6DFF8EA4}"/>
                  </a:ext>
                </a:extLst>
              </p:cNvPr>
              <p:cNvSpPr txBox="1"/>
              <p:nvPr/>
            </p:nvSpPr>
            <p:spPr>
              <a:xfrm>
                <a:off x="1044263" y="3172439"/>
                <a:ext cx="99809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=2</m:t>
                      </m:r>
                    </m:oMath>
                  </m:oMathPara>
                </a14:m>
                <a:endParaRPr lang="en-US" altLang="zh-TW" sz="2400" b="0" dirty="0"/>
              </a:p>
            </p:txBody>
          </p:sp>
        </mc:Choice>
        <mc:Fallback xmlns="">
          <p:sp>
            <p:nvSpPr>
              <p:cNvPr id="7" name="文字方塊 6">
                <a:extLst>
                  <a:ext uri="{FF2B5EF4-FFF2-40B4-BE49-F238E27FC236}">
                    <a16:creationId xmlns:a16="http://schemas.microsoft.com/office/drawing/2014/main" id="{CF1FB362-76B0-4E7A-8CFB-16AB6DFF8EA4}"/>
                  </a:ext>
                </a:extLst>
              </p:cNvPr>
              <p:cNvSpPr txBox="1">
                <a:spLocks noRot="1" noChangeAspect="1" noMove="1" noResize="1" noEditPoints="1" noAdjustHandles="1" noChangeArrowheads="1" noChangeShapeType="1" noTextEdit="1"/>
              </p:cNvSpPr>
              <p:nvPr/>
            </p:nvSpPr>
            <p:spPr>
              <a:xfrm>
                <a:off x="1044263" y="3172439"/>
                <a:ext cx="998094" cy="461665"/>
              </a:xfrm>
              <a:prstGeom prst="rect">
                <a:avLst/>
              </a:prstGeom>
              <a:blipFill>
                <a:blip r:embed="rId4"/>
                <a:stretch>
                  <a:fillRect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E44A73EE-0B5D-4A03-ABEE-7F089AC07530}"/>
                  </a:ext>
                </a:extLst>
              </p:cNvPr>
              <p:cNvSpPr txBox="1"/>
              <p:nvPr/>
            </p:nvSpPr>
            <p:spPr>
              <a:xfrm>
                <a:off x="1071001" y="3682696"/>
                <a:ext cx="9713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sz="2400" b="0" i="1" smtClean="0">
                          <a:latin typeface="Cambria Math" panose="02040503050406030204" pitchFamily="18" charset="0"/>
                        </a:rPr>
                        <m:t>𝜏</m:t>
                      </m:r>
                      <m:r>
                        <a:rPr lang="en-US" altLang="zh-TW" sz="2400" b="0" i="1" smtClean="0">
                          <a:latin typeface="Cambria Math" panose="02040503050406030204" pitchFamily="18" charset="0"/>
                        </a:rPr>
                        <m:t>=1</m:t>
                      </m:r>
                    </m:oMath>
                  </m:oMathPara>
                </a14:m>
                <a:endParaRPr lang="en-US" altLang="zh-TW" sz="2400" b="0" dirty="0"/>
              </a:p>
            </p:txBody>
          </p:sp>
        </mc:Choice>
        <mc:Fallback xmlns="">
          <p:sp>
            <p:nvSpPr>
              <p:cNvPr id="8" name="文字方塊 7">
                <a:extLst>
                  <a:ext uri="{FF2B5EF4-FFF2-40B4-BE49-F238E27FC236}">
                    <a16:creationId xmlns:a16="http://schemas.microsoft.com/office/drawing/2014/main" id="{E44A73EE-0B5D-4A03-ABEE-7F089AC07530}"/>
                  </a:ext>
                </a:extLst>
              </p:cNvPr>
              <p:cNvSpPr txBox="1">
                <a:spLocks noRot="1" noChangeAspect="1" noMove="1" noResize="1" noEditPoints="1" noAdjustHandles="1" noChangeArrowheads="1" noChangeShapeType="1" noTextEdit="1"/>
              </p:cNvSpPr>
              <p:nvPr/>
            </p:nvSpPr>
            <p:spPr>
              <a:xfrm>
                <a:off x="1071001" y="3682696"/>
                <a:ext cx="971356" cy="46166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xmlns="" id="{4E4B3F54-3FFF-4D13-9FD6-B5C76D3EF6E5}"/>
                  </a:ext>
                </a:extLst>
              </p:cNvPr>
              <p:cNvSpPr/>
              <p:nvPr/>
            </p:nvSpPr>
            <p:spPr>
              <a:xfrm>
                <a:off x="1044263" y="4192953"/>
                <a:ext cx="222310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zh-TW" sz="2400" i="1" smtClean="0">
                              <a:latin typeface="Cambria Math" panose="02040503050406030204" pitchFamily="18" charset="0"/>
                            </a:rPr>
                          </m:ctrlPr>
                        </m:dPr>
                        <m:e>
                          <m:r>
                            <a:rPr lang="en-US" altLang="zh-TW" sz="2400" i="1">
                              <a:latin typeface="Cambria Math" panose="02040503050406030204" pitchFamily="18" charset="0"/>
                            </a:rPr>
                            <m:t>𝑞</m:t>
                          </m:r>
                          <m:r>
                            <a:rPr lang="en-US" altLang="zh-TW" sz="2400" i="1">
                              <a:latin typeface="Cambria Math" panose="02040503050406030204" pitchFamily="18" charset="0"/>
                            </a:rPr>
                            <m:t>∗</m:t>
                          </m:r>
                          <m:r>
                            <a:rPr lang="zh-TW" altLang="en-US" sz="2400" i="1">
                              <a:latin typeface="Cambria Math" panose="02040503050406030204" pitchFamily="18" charset="0"/>
                            </a:rPr>
                            <m:t>𝜏</m:t>
                          </m:r>
                          <m:r>
                            <a:rPr lang="en-US" altLang="zh-TW" sz="2400" i="1">
                              <a:latin typeface="Cambria Math" panose="02040503050406030204" pitchFamily="18" charset="0"/>
                            </a:rPr>
                            <m:t>+1</m:t>
                          </m:r>
                        </m:e>
                      </m:d>
                      <m:r>
                        <a:rPr lang="en-US" altLang="zh-TW" sz="2400" b="0" i="0" smtClean="0">
                          <a:latin typeface="Cambria Math" panose="02040503050406030204" pitchFamily="18" charset="0"/>
                        </a:rPr>
                        <m:t>=3</m:t>
                      </m:r>
                    </m:oMath>
                  </m:oMathPara>
                </a14:m>
                <a:endParaRPr lang="zh-TW" altLang="en-US" sz="2400" dirty="0"/>
              </a:p>
            </p:txBody>
          </p:sp>
        </mc:Choice>
        <mc:Fallback xmlns="">
          <p:sp>
            <p:nvSpPr>
              <p:cNvPr id="9" name="矩形 8">
                <a:extLst>
                  <a:ext uri="{FF2B5EF4-FFF2-40B4-BE49-F238E27FC236}">
                    <a16:creationId xmlns:a16="http://schemas.microsoft.com/office/drawing/2014/main" id="{4E4B3F54-3FFF-4D13-9FD6-B5C76D3EF6E5}"/>
                  </a:ext>
                </a:extLst>
              </p:cNvPr>
              <p:cNvSpPr>
                <a:spLocks noRot="1" noChangeAspect="1" noMove="1" noResize="1" noEditPoints="1" noAdjustHandles="1" noChangeArrowheads="1" noChangeShapeType="1" noTextEdit="1"/>
              </p:cNvSpPr>
              <p:nvPr/>
            </p:nvSpPr>
            <p:spPr>
              <a:xfrm>
                <a:off x="1044263" y="4192953"/>
                <a:ext cx="2223109" cy="461665"/>
              </a:xfrm>
              <a:prstGeom prst="rect">
                <a:avLst/>
              </a:prstGeom>
              <a:blipFill>
                <a:blip r:embed="rId6"/>
                <a:stretch>
                  <a:fillRect b="-92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xmlns="" id="{B3263423-F550-4E65-A4F0-5E445FEAC90E}"/>
                  </a:ext>
                </a:extLst>
              </p:cNvPr>
              <p:cNvSpPr/>
              <p:nvPr/>
            </p:nvSpPr>
            <p:spPr>
              <a:xfrm>
                <a:off x="1044263" y="4934043"/>
                <a:ext cx="314002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𝑎</m:t>
                          </m:r>
                          <m:r>
                            <a:rPr lang="en-US" altLang="zh-TW" sz="2400" b="0" i="1" smtClean="0">
                              <a:solidFill>
                                <a:srgbClr val="FF0000"/>
                              </a:solidFill>
                              <a:latin typeface="Cambria Math" panose="02040503050406030204" pitchFamily="18" charset="0"/>
                            </a:rPr>
                            <m:t>𝑏</m:t>
                          </m:r>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 </m:t>
                      </m:r>
                      <m:d>
                        <m:dPr>
                          <m:ctrlPr>
                            <a:rPr lang="en-US" altLang="zh-TW" sz="2400" b="0" i="1" smtClean="0">
                              <a:latin typeface="Cambria Math" panose="02040503050406030204" pitchFamily="18" charset="0"/>
                            </a:rPr>
                          </m:ctrlPr>
                        </m:dPr>
                        <m:e>
                          <m:r>
                            <a:rPr lang="en-US" altLang="zh-TW" sz="2400" b="0" i="1" smtClean="0">
                              <a:solidFill>
                                <a:srgbClr val="FF0000"/>
                              </a:solidFill>
                              <a:latin typeface="Cambria Math" panose="02040503050406030204" pitchFamily="18" charset="0"/>
                            </a:rPr>
                            <m:t>𝑏</m:t>
                          </m:r>
                          <m:r>
                            <a:rPr lang="en-US" altLang="zh-TW" sz="2400" b="0" i="1" smtClean="0">
                              <a:solidFill>
                                <a:schemeClr val="tx1"/>
                              </a:solidFill>
                              <a:latin typeface="Cambria Math" panose="02040503050406030204" pitchFamily="18" charset="0"/>
                            </a:rPr>
                            <m:t>𝑎</m:t>
                          </m:r>
                          <m:r>
                            <a:rPr lang="en-US" altLang="zh-TW" sz="2400" b="0" i="1" smtClean="0">
                              <a:latin typeface="Cambria Math" panose="02040503050406030204" pitchFamily="18" charset="0"/>
                            </a:rPr>
                            <m:t>, 2</m:t>
                          </m:r>
                        </m:e>
                      </m:d>
                      <m:r>
                        <a:rPr lang="en-US" altLang="zh-TW" sz="2400" b="0" i="1" smtClean="0">
                          <a:latin typeface="Cambria Math" panose="02040503050406030204" pitchFamily="18" charset="0"/>
                        </a:rPr>
                        <m:t>, </m:t>
                      </m:r>
                      <m:d>
                        <m:dPr>
                          <m:ctrlPr>
                            <a:rPr lang="en-US" altLang="zh-TW" sz="2400" b="0" i="1" smtClean="0">
                              <a:latin typeface="Cambria Math" panose="02040503050406030204" pitchFamily="18" charset="0"/>
                            </a:rPr>
                          </m:ctrlPr>
                        </m:dPr>
                        <m:e>
                          <m:r>
                            <a:rPr lang="en-US" altLang="zh-TW" sz="2400" b="0" i="1" smtClean="0">
                              <a:solidFill>
                                <a:schemeClr val="tx1"/>
                              </a:solidFill>
                              <a:latin typeface="Cambria Math" panose="02040503050406030204" pitchFamily="18" charset="0"/>
                            </a:rPr>
                            <m:t>𝑎</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,3</m:t>
                          </m:r>
                        </m:e>
                      </m:d>
                    </m:oMath>
                  </m:oMathPara>
                </a14:m>
                <a:endParaRPr lang="zh-TW" altLang="en-US" sz="2400" dirty="0"/>
              </a:p>
            </p:txBody>
          </p:sp>
        </mc:Choice>
        <mc:Fallback xmlns="">
          <p:sp>
            <p:nvSpPr>
              <p:cNvPr id="10" name="矩形 9">
                <a:extLst>
                  <a:ext uri="{FF2B5EF4-FFF2-40B4-BE49-F238E27FC236}">
                    <a16:creationId xmlns:a16="http://schemas.microsoft.com/office/drawing/2014/main" id="{B3263423-F550-4E65-A4F0-5E445FEAC90E}"/>
                  </a:ext>
                </a:extLst>
              </p:cNvPr>
              <p:cNvSpPr>
                <a:spLocks noRot="1" noChangeAspect="1" noMove="1" noResize="1" noEditPoints="1" noAdjustHandles="1" noChangeArrowheads="1" noChangeShapeType="1" noTextEdit="1"/>
              </p:cNvSpPr>
              <p:nvPr/>
            </p:nvSpPr>
            <p:spPr>
              <a:xfrm>
                <a:off x="1044263" y="4934043"/>
                <a:ext cx="3140027" cy="461665"/>
              </a:xfrm>
              <a:prstGeom prst="rect">
                <a:avLst/>
              </a:prstGeom>
              <a:blipFill>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106295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xmlns="" id="{C1AA4545-12C8-4152-8F9D-D2EED9EA0E35}"/>
              </a:ext>
            </a:extLst>
          </p:cNvPr>
          <p:cNvPicPr>
            <a:picLocks noChangeAspect="1"/>
          </p:cNvPicPr>
          <p:nvPr/>
        </p:nvPicPr>
        <p:blipFill>
          <a:blip r:embed="rId2"/>
          <a:stretch>
            <a:fillRect/>
          </a:stretch>
        </p:blipFill>
        <p:spPr>
          <a:xfrm>
            <a:off x="3009222" y="1625122"/>
            <a:ext cx="6173555" cy="4349550"/>
          </a:xfrm>
          <a:prstGeom prst="rect">
            <a:avLst/>
          </a:prstGeom>
        </p:spPr>
      </p:pic>
      <p:sp>
        <p:nvSpPr>
          <p:cNvPr id="5" name="矩形: 圓角 4">
            <a:extLst>
              <a:ext uri="{FF2B5EF4-FFF2-40B4-BE49-F238E27FC236}">
                <a16:creationId xmlns:a16="http://schemas.microsoft.com/office/drawing/2014/main" xmlns="" id="{2F40B3DF-F7A8-4C83-BE44-1E8FB6EB0A15}"/>
              </a:ext>
            </a:extLst>
          </p:cNvPr>
          <p:cNvSpPr/>
          <p:nvPr/>
        </p:nvSpPr>
        <p:spPr>
          <a:xfrm>
            <a:off x="3604333" y="2982896"/>
            <a:ext cx="1793290" cy="23082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821166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xmlns="" id="{C1AA4545-12C8-4152-8F9D-D2EED9EA0E35}"/>
              </a:ext>
            </a:extLst>
          </p:cNvPr>
          <p:cNvPicPr>
            <a:picLocks noChangeAspect="1"/>
          </p:cNvPicPr>
          <p:nvPr/>
        </p:nvPicPr>
        <p:blipFill>
          <a:blip r:embed="rId2"/>
          <a:stretch>
            <a:fillRect/>
          </a:stretch>
        </p:blipFill>
        <p:spPr>
          <a:xfrm>
            <a:off x="3009222" y="1625122"/>
            <a:ext cx="6173555" cy="4349550"/>
          </a:xfrm>
          <a:prstGeom prst="rect">
            <a:avLst/>
          </a:prstGeom>
        </p:spPr>
      </p:pic>
      <p:sp>
        <p:nvSpPr>
          <p:cNvPr id="5" name="矩形: 圓角 4">
            <a:extLst>
              <a:ext uri="{FF2B5EF4-FFF2-40B4-BE49-F238E27FC236}">
                <a16:creationId xmlns:a16="http://schemas.microsoft.com/office/drawing/2014/main" xmlns="" id="{2F40B3DF-F7A8-4C83-BE44-1E8FB6EB0A15}"/>
              </a:ext>
            </a:extLst>
          </p:cNvPr>
          <p:cNvSpPr/>
          <p:nvPr/>
        </p:nvSpPr>
        <p:spPr>
          <a:xfrm>
            <a:off x="3543670" y="3198179"/>
            <a:ext cx="5555943" cy="203469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xmlns="" id="{E79F8B3C-11A3-4492-B1A6-7A1DF2C2DD4D}"/>
              </a:ext>
            </a:extLst>
          </p:cNvPr>
          <p:cNvSpPr txBox="1"/>
          <p:nvPr/>
        </p:nvSpPr>
        <p:spPr>
          <a:xfrm>
            <a:off x="248880" y="3429000"/>
            <a:ext cx="2493118" cy="1200329"/>
          </a:xfrm>
          <a:prstGeom prst="rect">
            <a:avLst/>
          </a:prstGeom>
          <a:noFill/>
        </p:spPr>
        <p:txBody>
          <a:bodyPr wrap="none" rtlCol="0">
            <a:spAutoFit/>
          </a:bodyPr>
          <a:lstStyle/>
          <a:p>
            <a:r>
              <a:rPr lang="en-US" altLang="zh-TW" sz="2400" dirty="0"/>
              <a:t>Positional Filtering</a:t>
            </a:r>
          </a:p>
          <a:p>
            <a:r>
              <a:rPr lang="en-US" altLang="zh-TW" sz="2400" dirty="0"/>
              <a:t>Length Filtering</a:t>
            </a:r>
          </a:p>
          <a:p>
            <a:r>
              <a:rPr lang="en-US" altLang="zh-TW" sz="2400" dirty="0"/>
              <a:t>Prefix Filtering</a:t>
            </a:r>
            <a:endParaRPr lang="zh-TW" altLang="en-US" sz="2400" dirty="0"/>
          </a:p>
        </p:txBody>
      </p:sp>
    </p:spTree>
    <p:extLst>
      <p:ext uri="{BB962C8B-B14F-4D97-AF65-F5344CB8AC3E}">
        <p14:creationId xmlns:p14="http://schemas.microsoft.com/office/powerpoint/2010/main" val="16368460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xmlns="" id="{C1AA4545-12C8-4152-8F9D-D2EED9EA0E35}"/>
              </a:ext>
            </a:extLst>
          </p:cNvPr>
          <p:cNvPicPr>
            <a:picLocks noChangeAspect="1"/>
          </p:cNvPicPr>
          <p:nvPr/>
        </p:nvPicPr>
        <p:blipFill>
          <a:blip r:embed="rId2"/>
          <a:stretch>
            <a:fillRect/>
          </a:stretch>
        </p:blipFill>
        <p:spPr>
          <a:xfrm>
            <a:off x="3009222" y="1625122"/>
            <a:ext cx="6173555" cy="4349550"/>
          </a:xfrm>
          <a:prstGeom prst="rect">
            <a:avLst/>
          </a:prstGeom>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C5479389-F03A-459A-81D7-E30CCBAC1FA9}"/>
                  </a:ext>
                </a:extLst>
              </p:cNvPr>
              <p:cNvSpPr txBox="1"/>
              <p:nvPr/>
            </p:nvSpPr>
            <p:spPr>
              <a:xfrm>
                <a:off x="326308" y="2949152"/>
                <a:ext cx="26829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𝑥</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𝐶𝑎𝑙𝑐𝑃𝑟𝑒𝑓𝑖𝑥𝐿𝑒𝑛</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𝑥</m:t>
                          </m:r>
                        </m:e>
                      </m:d>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8" name="文字方塊 7">
                <a:extLst>
                  <a:ext uri="{FF2B5EF4-FFF2-40B4-BE49-F238E27FC236}">
                    <a16:creationId xmlns:a16="http://schemas.microsoft.com/office/drawing/2014/main" id="{C5479389-F03A-459A-81D7-E30CCBAC1FA9}"/>
                  </a:ext>
                </a:extLst>
              </p:cNvPr>
              <p:cNvSpPr txBox="1">
                <a:spLocks noRot="1" noChangeAspect="1" noMove="1" noResize="1" noEditPoints="1" noAdjustHandles="1" noChangeArrowheads="1" noChangeShapeType="1" noTextEdit="1"/>
              </p:cNvSpPr>
              <p:nvPr/>
            </p:nvSpPr>
            <p:spPr>
              <a:xfrm>
                <a:off x="326308" y="2949152"/>
                <a:ext cx="2682914" cy="369332"/>
              </a:xfrm>
              <a:prstGeom prst="rect">
                <a:avLst/>
              </a:prstGeom>
              <a:blipFill>
                <a:blip r:embed="rId3"/>
                <a:stretch>
                  <a:fillRect b="-13333"/>
                </a:stretch>
              </a:blipFill>
            </p:spPr>
            <p:txBody>
              <a:bodyPr/>
              <a:lstStyle/>
              <a:p>
                <a:r>
                  <a:rPr lang="zh-TW" altLang="en-US">
                    <a:noFill/>
                  </a:rPr>
                  <a:t> </a:t>
                </a:r>
              </a:p>
            </p:txBody>
          </p:sp>
        </mc:Fallback>
      </mc:AlternateContent>
      <p:cxnSp>
        <p:nvCxnSpPr>
          <p:cNvPr id="3" name="直線接點 2">
            <a:extLst>
              <a:ext uri="{FF2B5EF4-FFF2-40B4-BE49-F238E27FC236}">
                <a16:creationId xmlns:a16="http://schemas.microsoft.com/office/drawing/2014/main" xmlns="" id="{9FE90986-8C9F-454A-867D-74D8831218C2}"/>
              </a:ext>
            </a:extLst>
          </p:cNvPr>
          <p:cNvCxnSpPr>
            <a:cxnSpLocks/>
          </p:cNvCxnSpPr>
          <p:nvPr/>
        </p:nvCxnSpPr>
        <p:spPr>
          <a:xfrm>
            <a:off x="3577700" y="3133818"/>
            <a:ext cx="166012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00882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625013B-F7C3-4083-B65B-15E2C47475A3}"/>
              </a:ext>
            </a:extLst>
          </p:cNvPr>
          <p:cNvSpPr>
            <a:spLocks noGrp="1"/>
          </p:cNvSpPr>
          <p:nvPr>
            <p:ph type="title"/>
          </p:nvPr>
        </p:nvSpPr>
        <p:spPr/>
        <p:txBody>
          <a:bodyPr/>
          <a:lstStyle/>
          <a:p>
            <a:pPr algn="ctr"/>
            <a:r>
              <a:rPr lang="en-US" altLang="zh-TW" dirty="0"/>
              <a:t>Content-based Mismatch Filtering</a:t>
            </a:r>
            <a:endParaRPr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9F5B4EDA-8228-4443-961D-72416DE90654}"/>
                  </a:ext>
                </a:extLst>
              </p:cNvPr>
              <p:cNvSpPr txBox="1"/>
              <p:nvPr/>
            </p:nvSpPr>
            <p:spPr>
              <a:xfrm>
                <a:off x="2819651" y="2598003"/>
                <a:ext cx="5590325" cy="83099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4</m:t>
                          </m:r>
                        </m:sub>
                      </m:sSub>
                      <m:r>
                        <a:rPr lang="en-US" altLang="zh-TW" sz="2400" b="0" i="1" smtClean="0">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5</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6</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7</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8</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9</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10</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𝑐</m:t>
                          </m:r>
                        </m:e>
                        <m:sub>
                          <m:r>
                            <a:rPr lang="en-US" altLang="zh-TW" sz="2400" b="0" i="1" smtClean="0">
                              <a:latin typeface="Cambria Math" panose="02040503050406030204" pitchFamily="18" charset="0"/>
                              <a:ea typeface="Cambria Math" panose="02040503050406030204" pitchFamily="18" charset="0"/>
                            </a:rPr>
                            <m:t>25</m:t>
                          </m:r>
                        </m:sub>
                      </m:sSub>
                    </m:oMath>
                  </m:oMathPara>
                </a14:m>
                <a:endParaRPr lang="en-US" altLang="zh-TW" sz="2400" b="0" dirty="0">
                  <a:ea typeface="Cambria Math" panose="02040503050406030204" pitchFamily="18" charset="0"/>
                </a:endParaRPr>
              </a:p>
              <a:p>
                <a14:m>
                  <m:oMath xmlns:m="http://schemas.openxmlformats.org/officeDocument/2006/math">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m:t>
                    </m:r>
                  </m:oMath>
                </a14:m>
                <a:r>
                  <a:rPr lang="en-US" altLang="zh-TW" sz="2400" b="0" dirty="0"/>
                  <a: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4</m:t>
                        </m:r>
                      </m:sub>
                    </m:sSub>
                    <m:r>
                      <a:rPr lang="en-US" altLang="zh-TW" sz="2400" b="0" i="1" smtClean="0">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1</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2</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3</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4</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5</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10</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𝑐</m:t>
                        </m:r>
                      </m:e>
                      <m:sub>
                        <m:r>
                          <a:rPr lang="en-US" altLang="zh-TW" sz="2400" b="0" i="1" smtClean="0">
                            <a:latin typeface="Cambria Math" panose="02040503050406030204" pitchFamily="18" charset="0"/>
                            <a:ea typeface="Cambria Math" panose="02040503050406030204" pitchFamily="18" charset="0"/>
                          </a:rPr>
                          <m:t>25</m:t>
                        </m:r>
                      </m:sub>
                    </m:sSub>
                  </m:oMath>
                </a14:m>
                <a:endParaRPr lang="zh-TW" altLang="en-US" sz="2400" dirty="0"/>
              </a:p>
            </p:txBody>
          </p:sp>
        </mc:Choice>
        <mc:Fallback xmlns="">
          <p:sp>
            <p:nvSpPr>
              <p:cNvPr id="5" name="文字方塊 4">
                <a:extLst>
                  <a:ext uri="{FF2B5EF4-FFF2-40B4-BE49-F238E27FC236}">
                    <a16:creationId xmlns:a16="http://schemas.microsoft.com/office/drawing/2014/main" id="{9F5B4EDA-8228-4443-961D-72416DE90654}"/>
                  </a:ext>
                </a:extLst>
              </p:cNvPr>
              <p:cNvSpPr txBox="1">
                <a:spLocks noRot="1" noChangeAspect="1" noMove="1" noResize="1" noEditPoints="1" noAdjustHandles="1" noChangeArrowheads="1" noChangeShapeType="1" noTextEdit="1"/>
              </p:cNvSpPr>
              <p:nvPr/>
            </p:nvSpPr>
            <p:spPr>
              <a:xfrm>
                <a:off x="2819651" y="2598003"/>
                <a:ext cx="5590325" cy="830997"/>
              </a:xfrm>
              <a:prstGeom prst="rect">
                <a:avLst/>
              </a:prstGeom>
              <a:blipFill>
                <a:blip r:embed="rId2"/>
                <a:stretch>
                  <a:fillRect l="-1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D6ECD4CA-212A-464A-9404-81B09281F9AC}"/>
                  </a:ext>
                </a:extLst>
              </p:cNvPr>
              <p:cNvSpPr txBox="1"/>
              <p:nvPr/>
            </p:nvSpPr>
            <p:spPr>
              <a:xfrm>
                <a:off x="838200" y="1606858"/>
                <a:ext cx="998094"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=5</m:t>
                      </m:r>
                    </m:oMath>
                  </m:oMathPara>
                </a14:m>
                <a:endParaRPr lang="en-US" altLang="zh-TW" sz="2400" b="0" dirty="0"/>
              </a:p>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𝜏</m:t>
                      </m:r>
                      <m:r>
                        <a:rPr lang="en-US" altLang="zh-TW" sz="2400" b="0" i="1" smtClean="0">
                          <a:latin typeface="Cambria Math" panose="02040503050406030204" pitchFamily="18" charset="0"/>
                        </a:rPr>
                        <m:t>=2</m:t>
                      </m:r>
                    </m:oMath>
                  </m:oMathPara>
                </a14:m>
                <a:endParaRPr lang="zh-TW" altLang="en-US" sz="2400" dirty="0"/>
              </a:p>
            </p:txBody>
          </p:sp>
        </mc:Choice>
        <mc:Fallback xmlns="">
          <p:sp>
            <p:nvSpPr>
              <p:cNvPr id="6" name="文字方塊 5">
                <a:extLst>
                  <a:ext uri="{FF2B5EF4-FFF2-40B4-BE49-F238E27FC236}">
                    <a16:creationId xmlns:a16="http://schemas.microsoft.com/office/drawing/2014/main" id="{D6ECD4CA-212A-464A-9404-81B09281F9AC}"/>
                  </a:ext>
                </a:extLst>
              </p:cNvPr>
              <p:cNvSpPr txBox="1">
                <a:spLocks noRot="1" noChangeAspect="1" noMove="1" noResize="1" noEditPoints="1" noAdjustHandles="1" noChangeArrowheads="1" noChangeShapeType="1" noTextEdit="1"/>
              </p:cNvSpPr>
              <p:nvPr/>
            </p:nvSpPr>
            <p:spPr>
              <a:xfrm>
                <a:off x="838200" y="1606858"/>
                <a:ext cx="998094" cy="83099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xmlns="" id="{71EA4E12-1349-49B0-9179-76836A382EDE}"/>
                  </a:ext>
                </a:extLst>
              </p:cNvPr>
              <p:cNvSpPr txBox="1"/>
              <p:nvPr/>
            </p:nvSpPr>
            <p:spPr>
              <a:xfrm>
                <a:off x="838200" y="4105482"/>
                <a:ext cx="8892306" cy="461665"/>
              </a:xfrm>
              <a:prstGeom prst="rect">
                <a:avLst/>
              </a:prstGeom>
              <a:noFill/>
            </p:spPr>
            <p:txBody>
              <a:bodyPr wrap="none" rtlCol="0">
                <a:spAutoFit/>
              </a:bodyPr>
              <a:lstStyle/>
              <a:p>
                <a:r>
                  <a:rPr lang="en-US" altLang="zh-TW" sz="2400" dirty="0"/>
                  <a:t>Counting Filtering requires </a:t>
                </a:r>
                <a14:m>
                  <m:oMath xmlns:m="http://schemas.openxmlformats.org/officeDocument/2006/math">
                    <m:r>
                      <a:rPr lang="en-US" altLang="zh-TW" sz="2400" b="0" i="1" smtClean="0">
                        <a:latin typeface="Cambria Math" panose="02040503050406030204" pitchFamily="18" charset="0"/>
                      </a:rPr>
                      <m:t>25−5+1−5∗2=11</m:t>
                    </m:r>
                  </m:oMath>
                </a14:m>
                <a:r>
                  <a:rPr lang="en-US" altLang="zh-TW" sz="2400" dirty="0"/>
                  <a:t> matching </a:t>
                </a:r>
                <a:r>
                  <a:rPr lang="en-US" altLang="zh-TW" sz="2400" i="1" dirty="0"/>
                  <a:t>5</a:t>
                </a:r>
                <a:r>
                  <a:rPr lang="en-US" altLang="zh-TW" sz="2400" dirty="0"/>
                  <a:t>-gram</a:t>
                </a:r>
                <a:endParaRPr lang="zh-TW" altLang="en-US" sz="2400" dirty="0"/>
              </a:p>
            </p:txBody>
          </p:sp>
        </mc:Choice>
        <mc:Fallback xmlns="">
          <p:sp>
            <p:nvSpPr>
              <p:cNvPr id="3" name="文字方塊 2">
                <a:extLst>
                  <a:ext uri="{FF2B5EF4-FFF2-40B4-BE49-F238E27FC236}">
                    <a16:creationId xmlns:a16="http://schemas.microsoft.com/office/drawing/2014/main" id="{71EA4E12-1349-49B0-9179-76836A382EDE}"/>
                  </a:ext>
                </a:extLst>
              </p:cNvPr>
              <p:cNvSpPr txBox="1">
                <a:spLocks noRot="1" noChangeAspect="1" noMove="1" noResize="1" noEditPoints="1" noAdjustHandles="1" noChangeArrowheads="1" noChangeShapeType="1" noTextEdit="1"/>
              </p:cNvSpPr>
              <p:nvPr/>
            </p:nvSpPr>
            <p:spPr>
              <a:xfrm>
                <a:off x="838200" y="4105482"/>
                <a:ext cx="8892306" cy="461665"/>
              </a:xfrm>
              <a:prstGeom prst="rect">
                <a:avLst/>
              </a:prstGeom>
              <a:blipFill>
                <a:blip r:embed="rId4"/>
                <a:stretch>
                  <a:fillRect l="-1097" t="-10526" r="-137"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xmlns="" id="{EA3153C4-3D4B-46BA-870D-853203CFEBF9}"/>
                  </a:ext>
                </a:extLst>
              </p:cNvPr>
              <p:cNvSpPr/>
              <p:nvPr/>
            </p:nvSpPr>
            <p:spPr>
              <a:xfrm>
                <a:off x="838200" y="3627594"/>
                <a:ext cx="5203476" cy="477888"/>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altLang="zh-TW" sz="2400" i="1">
                          <a:latin typeface="Cambria Math" panose="02040503050406030204" pitchFamily="18" charset="0"/>
                        </a:rPr>
                        <m:t>𝐿</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𝐵</m:t>
                          </m:r>
                        </m:e>
                        <m:sub>
                          <m:r>
                            <a:rPr lang="en-US" altLang="zh-TW" sz="2400" i="1">
                              <a:latin typeface="Cambria Math" panose="02040503050406030204" pitchFamily="18" charset="0"/>
                            </a:rPr>
                            <m:t>𝑠</m:t>
                          </m:r>
                          <m:r>
                            <a:rPr lang="en-US" altLang="zh-TW" sz="2400" i="1">
                              <a:latin typeface="Cambria Math" panose="02040503050406030204" pitchFamily="18" charset="0"/>
                            </a:rPr>
                            <m:t>;</m:t>
                          </m:r>
                          <m:r>
                            <a:rPr lang="en-US" altLang="zh-TW" sz="2400" i="1">
                              <a:latin typeface="Cambria Math" panose="02040503050406030204" pitchFamily="18" charset="0"/>
                            </a:rPr>
                            <m:t>𝑡</m:t>
                          </m:r>
                        </m:sub>
                      </m:sSub>
                      <m:r>
                        <a:rPr lang="en-US" altLang="zh-TW" sz="2400" i="1">
                          <a:latin typeface="Cambria Math" panose="02040503050406030204" pitchFamily="18" charset="0"/>
                        </a:rPr>
                        <m:t>=(</m:t>
                      </m:r>
                      <m:func>
                        <m:funcPr>
                          <m:ctrlPr>
                            <a:rPr lang="en-US" altLang="zh-TW" sz="2400" i="1">
                              <a:latin typeface="Cambria Math" panose="02040503050406030204" pitchFamily="18" charset="0"/>
                            </a:rPr>
                          </m:ctrlPr>
                        </m:funcPr>
                        <m:fName>
                          <m:r>
                            <m:rPr>
                              <m:sty m:val="p"/>
                            </m:rPr>
                            <a:rPr lang="en-US" altLang="zh-TW" sz="2400">
                              <a:latin typeface="Cambria Math" panose="02040503050406030204" pitchFamily="18" charset="0"/>
                            </a:rPr>
                            <m:t>max</m:t>
                          </m:r>
                        </m:fName>
                        <m:e>
                          <m:d>
                            <m:dPr>
                              <m:ctrlPr>
                                <a:rPr lang="en-US" altLang="zh-TW" sz="2400" i="1">
                                  <a:latin typeface="Cambria Math" panose="02040503050406030204" pitchFamily="18" charset="0"/>
                                </a:rPr>
                              </m:ctrlPr>
                            </m:dPr>
                            <m:e>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𝑠</m:t>
                                  </m:r>
                                </m:e>
                              </m:d>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r>
                                    <a:rPr lang="en-US" altLang="zh-TW" sz="2400" i="1">
                                      <a:latin typeface="Cambria Math" panose="02040503050406030204" pitchFamily="18" charset="0"/>
                                    </a:rPr>
                                    <m:t>𝑡</m:t>
                                  </m:r>
                                </m:e>
                              </m:d>
                            </m:e>
                          </m:d>
                          <m:r>
                            <a:rPr lang="en-US" altLang="zh-TW" sz="2400" i="1">
                              <a:latin typeface="Cambria Math" panose="02040503050406030204" pitchFamily="18" charset="0"/>
                            </a:rPr>
                            <m:t>−</m:t>
                          </m:r>
                          <m:r>
                            <a:rPr lang="en-US" altLang="zh-TW" sz="2400" i="1">
                              <a:latin typeface="Cambria Math" panose="02040503050406030204" pitchFamily="18" charset="0"/>
                            </a:rPr>
                            <m:t>𝑞</m:t>
                          </m:r>
                          <m:r>
                            <a:rPr lang="en-US" altLang="zh-TW" sz="2400" i="1">
                              <a:latin typeface="Cambria Math" panose="02040503050406030204" pitchFamily="18" charset="0"/>
                            </a:rPr>
                            <m:t>+1</m:t>
                          </m:r>
                        </m:e>
                      </m:func>
                      <m:r>
                        <a:rPr lang="en-US" altLang="zh-TW" sz="2400" i="1">
                          <a:latin typeface="Cambria Math" panose="02040503050406030204" pitchFamily="18" charset="0"/>
                        </a:rPr>
                        <m:t>)−</m:t>
                      </m:r>
                      <m:r>
                        <a:rPr lang="en-US" altLang="zh-TW" sz="2400" i="1">
                          <a:latin typeface="Cambria Math" panose="02040503050406030204" pitchFamily="18" charset="0"/>
                        </a:rPr>
                        <m:t>𝑞</m:t>
                      </m:r>
                      <m:r>
                        <a:rPr lang="en-US" altLang="zh-TW" sz="2400" i="1">
                          <a:latin typeface="Cambria Math" panose="02040503050406030204" pitchFamily="18" charset="0"/>
                        </a:rPr>
                        <m:t>∗</m:t>
                      </m:r>
                      <m:r>
                        <a:rPr lang="zh-TW" altLang="en-US" sz="2400" i="1">
                          <a:latin typeface="Cambria Math" panose="02040503050406030204" pitchFamily="18" charset="0"/>
                        </a:rPr>
                        <m:t>𝜏</m:t>
                      </m:r>
                    </m:oMath>
                  </m:oMathPara>
                </a14:m>
                <a:endParaRPr lang="zh-TW" altLang="en-US" sz="2400" dirty="0"/>
              </a:p>
            </p:txBody>
          </p:sp>
        </mc:Choice>
        <mc:Fallback xmlns="">
          <p:sp>
            <p:nvSpPr>
              <p:cNvPr id="4" name="矩形 3">
                <a:extLst>
                  <a:ext uri="{FF2B5EF4-FFF2-40B4-BE49-F238E27FC236}">
                    <a16:creationId xmlns:a16="http://schemas.microsoft.com/office/drawing/2014/main" id="{EA3153C4-3D4B-46BA-870D-853203CFEBF9}"/>
                  </a:ext>
                </a:extLst>
              </p:cNvPr>
              <p:cNvSpPr>
                <a:spLocks noRot="1" noChangeAspect="1" noMove="1" noResize="1" noEditPoints="1" noAdjustHandles="1" noChangeArrowheads="1" noChangeShapeType="1" noTextEdit="1"/>
              </p:cNvSpPr>
              <p:nvPr/>
            </p:nvSpPr>
            <p:spPr>
              <a:xfrm>
                <a:off x="838200" y="3627594"/>
                <a:ext cx="5203476" cy="477888"/>
              </a:xfrm>
              <a:prstGeom prst="rect">
                <a:avLst/>
              </a:prstGeom>
              <a:blipFill>
                <a:blip r:embed="rId5"/>
                <a:stretch>
                  <a:fillRect l="-352" b="-15385"/>
                </a:stretch>
              </a:blipFill>
            </p:spPr>
            <p:txBody>
              <a:bodyPr/>
              <a:lstStyle/>
              <a:p>
                <a:r>
                  <a:rPr lang="zh-TW" altLang="en-US">
                    <a:noFill/>
                  </a:rPr>
                  <a:t> </a:t>
                </a:r>
              </a:p>
            </p:txBody>
          </p:sp>
        </mc:Fallback>
      </mc:AlternateContent>
      <p:sp>
        <p:nvSpPr>
          <p:cNvPr id="12" name="文字方塊 11">
            <a:extLst>
              <a:ext uri="{FF2B5EF4-FFF2-40B4-BE49-F238E27FC236}">
                <a16:creationId xmlns:a16="http://schemas.microsoft.com/office/drawing/2014/main" xmlns="" id="{CD5DA7BD-D5F8-4CE6-B7B9-EEB9CB23F7EA}"/>
              </a:ext>
            </a:extLst>
          </p:cNvPr>
          <p:cNvSpPr txBox="1"/>
          <p:nvPr/>
        </p:nvSpPr>
        <p:spPr>
          <a:xfrm>
            <a:off x="838200" y="4621816"/>
            <a:ext cx="4751942" cy="461665"/>
          </a:xfrm>
          <a:prstGeom prst="rect">
            <a:avLst/>
          </a:prstGeom>
          <a:noFill/>
        </p:spPr>
        <p:txBody>
          <a:bodyPr wrap="none" rtlCol="0">
            <a:spAutoFit/>
          </a:bodyPr>
          <a:lstStyle/>
          <a:p>
            <a:r>
              <a:rPr lang="en-US" altLang="zh-TW" sz="2400" dirty="0"/>
              <a:t>12 matching </a:t>
            </a:r>
            <a:r>
              <a:rPr lang="en-US" altLang="zh-TW" sz="2400" i="1" dirty="0"/>
              <a:t>5</a:t>
            </a:r>
            <a:r>
              <a:rPr lang="en-US" altLang="zh-TW" sz="2400" dirty="0"/>
              <a:t>-gram between </a:t>
            </a:r>
            <a:r>
              <a:rPr lang="en-US" altLang="zh-TW" sz="2400" i="1" dirty="0"/>
              <a:t>s</a:t>
            </a:r>
            <a:r>
              <a:rPr lang="en-US" altLang="zh-TW" sz="2400" dirty="0"/>
              <a:t> and </a:t>
            </a:r>
            <a:r>
              <a:rPr lang="en-US" altLang="zh-TW" sz="2400" i="1" dirty="0"/>
              <a:t>t</a:t>
            </a:r>
            <a:endParaRPr lang="zh-TW" altLang="en-US" sz="2400" i="1" dirty="0"/>
          </a:p>
        </p:txBody>
      </p:sp>
      <p:cxnSp>
        <p:nvCxnSpPr>
          <p:cNvPr id="14" name="直線單箭頭接點 13">
            <a:extLst>
              <a:ext uri="{FF2B5EF4-FFF2-40B4-BE49-F238E27FC236}">
                <a16:creationId xmlns:a16="http://schemas.microsoft.com/office/drawing/2014/main" xmlns="" id="{6324EB04-8E57-4A1E-8CBB-F187FF831EFC}"/>
              </a:ext>
            </a:extLst>
          </p:cNvPr>
          <p:cNvCxnSpPr/>
          <p:nvPr/>
        </p:nvCxnSpPr>
        <p:spPr>
          <a:xfrm>
            <a:off x="3000652" y="5175682"/>
            <a:ext cx="0" cy="6681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xmlns="" id="{6D4EACD4-B002-49B5-8C4E-796CD9D11ABB}"/>
              </a:ext>
            </a:extLst>
          </p:cNvPr>
          <p:cNvSpPr txBox="1"/>
          <p:nvPr/>
        </p:nvSpPr>
        <p:spPr>
          <a:xfrm>
            <a:off x="1496874" y="5935995"/>
            <a:ext cx="3007555" cy="461665"/>
          </a:xfrm>
          <a:prstGeom prst="rect">
            <a:avLst/>
          </a:prstGeom>
          <a:noFill/>
        </p:spPr>
        <p:txBody>
          <a:bodyPr wrap="none" rtlCol="0">
            <a:spAutoFit/>
          </a:bodyPr>
          <a:lstStyle/>
          <a:p>
            <a:r>
              <a:rPr lang="en-US" altLang="zh-TW" sz="2400" dirty="0"/>
              <a:t>Pass Counting Filtering</a:t>
            </a:r>
            <a:endParaRPr lang="zh-TW" altLang="en-US" sz="2400" dirty="0"/>
          </a:p>
        </p:txBody>
      </p:sp>
    </p:spTree>
    <p:extLst>
      <p:ext uri="{BB962C8B-B14F-4D97-AF65-F5344CB8AC3E}">
        <p14:creationId xmlns:p14="http://schemas.microsoft.com/office/powerpoint/2010/main" val="2039070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625013B-F7C3-4083-B65B-15E2C47475A3}"/>
              </a:ext>
            </a:extLst>
          </p:cNvPr>
          <p:cNvSpPr>
            <a:spLocks noGrp="1"/>
          </p:cNvSpPr>
          <p:nvPr>
            <p:ph type="title"/>
          </p:nvPr>
        </p:nvSpPr>
        <p:spPr/>
        <p:txBody>
          <a:bodyPr/>
          <a:lstStyle/>
          <a:p>
            <a:pPr algn="ctr"/>
            <a:r>
              <a:rPr lang="en-US" altLang="zh-TW" dirty="0"/>
              <a:t>Content-based Mismatch Filtering</a:t>
            </a:r>
            <a:endParaRPr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9F5B4EDA-8228-4443-961D-72416DE90654}"/>
                  </a:ext>
                </a:extLst>
              </p:cNvPr>
              <p:cNvSpPr txBox="1"/>
              <p:nvPr/>
            </p:nvSpPr>
            <p:spPr>
              <a:xfrm>
                <a:off x="2819651" y="2598003"/>
                <a:ext cx="5590325" cy="83099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rPr>
                        <m:t>𝑠</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4</m:t>
                          </m:r>
                        </m:sub>
                      </m:sSub>
                      <m:r>
                        <a:rPr lang="en-US" altLang="zh-TW" sz="2400" b="0" i="1" smtClean="0">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5</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6</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7</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8</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𝑐</m:t>
                          </m:r>
                        </m:e>
                        <m:sub>
                          <m:r>
                            <a:rPr lang="en-US" altLang="zh-TW" sz="2400" b="0" i="1" smtClean="0">
                              <a:solidFill>
                                <a:srgbClr val="FF0000"/>
                              </a:solidFill>
                              <a:latin typeface="Cambria Math" panose="02040503050406030204" pitchFamily="18" charset="0"/>
                            </a:rPr>
                            <m:t>9</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10</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𝑐</m:t>
                          </m:r>
                        </m:e>
                        <m:sub>
                          <m:r>
                            <a:rPr lang="en-US" altLang="zh-TW" sz="2400" b="0" i="1" smtClean="0">
                              <a:latin typeface="Cambria Math" panose="02040503050406030204" pitchFamily="18" charset="0"/>
                              <a:ea typeface="Cambria Math" panose="02040503050406030204" pitchFamily="18" charset="0"/>
                            </a:rPr>
                            <m:t>25</m:t>
                          </m:r>
                        </m:sub>
                      </m:sSub>
                    </m:oMath>
                  </m:oMathPara>
                </a14:m>
                <a:endParaRPr lang="en-US" altLang="zh-TW" sz="2400" b="0" dirty="0">
                  <a:ea typeface="Cambria Math" panose="02040503050406030204" pitchFamily="18" charset="0"/>
                </a:endParaRPr>
              </a:p>
              <a:p>
                <a14:m>
                  <m:oMath xmlns:m="http://schemas.openxmlformats.org/officeDocument/2006/math">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m:t>
                    </m:r>
                  </m:oMath>
                </a14:m>
                <a:r>
                  <a:rPr lang="en-US" altLang="zh-TW" sz="2400" b="0" dirty="0"/>
                  <a: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4</m:t>
                        </m:r>
                      </m:sub>
                    </m:sSub>
                    <m:r>
                      <a:rPr lang="en-US" altLang="zh-TW" sz="2400" b="0" i="1" smtClean="0">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1</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2</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3</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4</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5</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𝑐</m:t>
                        </m:r>
                      </m:e>
                      <m:sub>
                        <m:r>
                          <a:rPr lang="en-US" altLang="zh-TW" sz="2400" b="0" i="1" smtClean="0">
                            <a:latin typeface="Cambria Math" panose="02040503050406030204" pitchFamily="18" charset="0"/>
                          </a:rPr>
                          <m:t>10</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𝑐</m:t>
                        </m:r>
                      </m:e>
                      <m:sub>
                        <m:r>
                          <a:rPr lang="en-US" altLang="zh-TW" sz="2400" b="0" i="1" smtClean="0">
                            <a:latin typeface="Cambria Math" panose="02040503050406030204" pitchFamily="18" charset="0"/>
                            <a:ea typeface="Cambria Math" panose="02040503050406030204" pitchFamily="18" charset="0"/>
                          </a:rPr>
                          <m:t>25</m:t>
                        </m:r>
                      </m:sub>
                    </m:sSub>
                  </m:oMath>
                </a14:m>
                <a:endParaRPr lang="zh-TW" altLang="en-US" sz="2400" dirty="0"/>
              </a:p>
            </p:txBody>
          </p:sp>
        </mc:Choice>
        <mc:Fallback xmlns="">
          <p:sp>
            <p:nvSpPr>
              <p:cNvPr id="5" name="文字方塊 4">
                <a:extLst>
                  <a:ext uri="{FF2B5EF4-FFF2-40B4-BE49-F238E27FC236}">
                    <a16:creationId xmlns:a16="http://schemas.microsoft.com/office/drawing/2014/main" id="{9F5B4EDA-8228-4443-961D-72416DE90654}"/>
                  </a:ext>
                </a:extLst>
              </p:cNvPr>
              <p:cNvSpPr txBox="1">
                <a:spLocks noRot="1" noChangeAspect="1" noMove="1" noResize="1" noEditPoints="1" noAdjustHandles="1" noChangeArrowheads="1" noChangeShapeType="1" noTextEdit="1"/>
              </p:cNvSpPr>
              <p:nvPr/>
            </p:nvSpPr>
            <p:spPr>
              <a:xfrm>
                <a:off x="2819651" y="2598003"/>
                <a:ext cx="5590325" cy="830997"/>
              </a:xfrm>
              <a:prstGeom prst="rect">
                <a:avLst/>
              </a:prstGeom>
              <a:blipFill>
                <a:blip r:embed="rId2"/>
                <a:stretch>
                  <a:fillRect l="-1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D6ECD4CA-212A-464A-9404-81B09281F9AC}"/>
                  </a:ext>
                </a:extLst>
              </p:cNvPr>
              <p:cNvSpPr txBox="1"/>
              <p:nvPr/>
            </p:nvSpPr>
            <p:spPr>
              <a:xfrm>
                <a:off x="838200" y="1606858"/>
                <a:ext cx="998094" cy="8309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𝑞</m:t>
                      </m:r>
                      <m:r>
                        <a:rPr lang="en-US" altLang="zh-TW" sz="2400" b="0" i="1" smtClean="0">
                          <a:latin typeface="Cambria Math" panose="02040503050406030204" pitchFamily="18" charset="0"/>
                        </a:rPr>
                        <m:t>=5</m:t>
                      </m:r>
                    </m:oMath>
                  </m:oMathPara>
                </a14:m>
                <a:endParaRPr lang="en-US" altLang="zh-TW" sz="2400" b="0" dirty="0"/>
              </a:p>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𝜏</m:t>
                      </m:r>
                      <m:r>
                        <a:rPr lang="en-US" altLang="zh-TW" sz="2400" b="0" i="1" smtClean="0">
                          <a:latin typeface="Cambria Math" panose="02040503050406030204" pitchFamily="18" charset="0"/>
                        </a:rPr>
                        <m:t>=2</m:t>
                      </m:r>
                    </m:oMath>
                  </m:oMathPara>
                </a14:m>
                <a:endParaRPr lang="zh-TW" altLang="en-US" sz="2400" dirty="0"/>
              </a:p>
            </p:txBody>
          </p:sp>
        </mc:Choice>
        <mc:Fallback xmlns="">
          <p:sp>
            <p:nvSpPr>
              <p:cNvPr id="6" name="文字方塊 5">
                <a:extLst>
                  <a:ext uri="{FF2B5EF4-FFF2-40B4-BE49-F238E27FC236}">
                    <a16:creationId xmlns:a16="http://schemas.microsoft.com/office/drawing/2014/main" id="{D6ECD4CA-212A-464A-9404-81B09281F9AC}"/>
                  </a:ext>
                </a:extLst>
              </p:cNvPr>
              <p:cNvSpPr txBox="1">
                <a:spLocks noRot="1" noChangeAspect="1" noMove="1" noResize="1" noEditPoints="1" noAdjustHandles="1" noChangeArrowheads="1" noChangeShapeType="1" noTextEdit="1"/>
              </p:cNvSpPr>
              <p:nvPr/>
            </p:nvSpPr>
            <p:spPr>
              <a:xfrm>
                <a:off x="838200" y="1606858"/>
                <a:ext cx="998094" cy="830997"/>
              </a:xfrm>
              <a:prstGeom prst="rect">
                <a:avLst/>
              </a:prstGeom>
              <a:blipFill>
                <a:blip r:embed="rId3"/>
                <a:stretch>
                  <a:fillRect/>
                </a:stretch>
              </a:blipFill>
            </p:spPr>
            <p:txBody>
              <a:bodyPr/>
              <a:lstStyle/>
              <a:p>
                <a:r>
                  <a:rPr lang="zh-TW" altLang="en-US">
                    <a:noFill/>
                  </a:rPr>
                  <a:t> </a:t>
                </a:r>
              </a:p>
            </p:txBody>
          </p:sp>
        </mc:Fallback>
      </mc:AlternateContent>
      <p:sp>
        <p:nvSpPr>
          <p:cNvPr id="7" name="矩形: 圓角 6">
            <a:extLst>
              <a:ext uri="{FF2B5EF4-FFF2-40B4-BE49-F238E27FC236}">
                <a16:creationId xmlns:a16="http://schemas.microsoft.com/office/drawing/2014/main" xmlns="" id="{7E3A562F-1DC4-4B39-8464-FA6CE0B8B24E}"/>
              </a:ext>
            </a:extLst>
          </p:cNvPr>
          <p:cNvSpPr/>
          <p:nvPr/>
        </p:nvSpPr>
        <p:spPr>
          <a:xfrm>
            <a:off x="4927107" y="2411221"/>
            <a:ext cx="1882066" cy="1325563"/>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xmlns="" id="{C637C12C-F262-4748-AE3D-C393F22053AC}"/>
              </a:ext>
            </a:extLst>
          </p:cNvPr>
          <p:cNvSpPr txBox="1"/>
          <p:nvPr/>
        </p:nvSpPr>
        <p:spPr>
          <a:xfrm>
            <a:off x="4761779" y="1791523"/>
            <a:ext cx="2212722" cy="461665"/>
          </a:xfrm>
          <a:prstGeom prst="rect">
            <a:avLst/>
          </a:prstGeom>
          <a:noFill/>
        </p:spPr>
        <p:txBody>
          <a:bodyPr wrap="none" rtlCol="0">
            <a:spAutoFit/>
          </a:bodyPr>
          <a:lstStyle/>
          <a:p>
            <a:r>
              <a:rPr lang="en-US" altLang="zh-TW" sz="2400" dirty="0"/>
              <a:t>probing window</a:t>
            </a:r>
            <a:endParaRPr lang="zh-TW" altLang="en-US" sz="2400" dirty="0"/>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xmlns="" id="{5FAF0C66-8BC4-451E-B22C-F04FB719A99A}"/>
                  </a:ext>
                </a:extLst>
              </p:cNvPr>
              <p:cNvSpPr txBox="1"/>
              <p:nvPr/>
            </p:nvSpPr>
            <p:spPr>
              <a:xfrm>
                <a:off x="838200" y="3958481"/>
                <a:ext cx="7302705" cy="461665"/>
              </a:xfrm>
              <a:prstGeom prst="rect">
                <a:avLst/>
              </a:prstGeom>
              <a:noFill/>
            </p:spPr>
            <p:txBody>
              <a:bodyPr wrap="none" rtlCol="0">
                <a:spAutoFit/>
              </a:bodyPr>
              <a:lstStyle/>
              <a:p>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𝐿</m:t>
                        </m:r>
                      </m:e>
                      <m:sub>
                        <m:r>
                          <a:rPr lang="en-US" altLang="zh-TW" sz="2400" b="0" i="1" smtClean="0">
                            <a:latin typeface="Cambria Math" panose="02040503050406030204" pitchFamily="18" charset="0"/>
                          </a:rPr>
                          <m:t>1</m:t>
                        </m:r>
                      </m:sub>
                    </m:sSub>
                  </m:oMath>
                </a14:m>
                <a:r>
                  <a:rPr lang="zh-TW" altLang="en-US" sz="2400" dirty="0"/>
                  <a:t> </a:t>
                </a:r>
                <a:r>
                  <a:rPr lang="en-US" altLang="zh-TW" sz="2400" dirty="0"/>
                  <a:t>distance in the probing window can not larger than </a:t>
                </a:r>
                <a14:m>
                  <m:oMath xmlns:m="http://schemas.openxmlformats.org/officeDocument/2006/math">
                    <m:r>
                      <a:rPr lang="en-US" altLang="zh-TW" sz="2400" b="0" i="1" smtClean="0">
                        <a:latin typeface="Cambria Math" panose="02040503050406030204" pitchFamily="18" charset="0"/>
                      </a:rPr>
                      <m:t>2</m:t>
                    </m:r>
                    <m:r>
                      <a:rPr lang="zh-TW" altLang="en-US" sz="2400" b="0" i="1" smtClean="0">
                        <a:latin typeface="Cambria Math" panose="02040503050406030204" pitchFamily="18" charset="0"/>
                      </a:rPr>
                      <m:t>𝜏</m:t>
                    </m:r>
                  </m:oMath>
                </a14:m>
                <a:endParaRPr lang="zh-TW" altLang="en-US" sz="2400" dirty="0"/>
              </a:p>
            </p:txBody>
          </p:sp>
        </mc:Choice>
        <mc:Fallback xmlns="">
          <p:sp>
            <p:nvSpPr>
              <p:cNvPr id="9" name="文字方塊 8">
                <a:extLst>
                  <a:ext uri="{FF2B5EF4-FFF2-40B4-BE49-F238E27FC236}">
                    <a16:creationId xmlns:a16="http://schemas.microsoft.com/office/drawing/2014/main" id="{5FAF0C66-8BC4-451E-B22C-F04FB719A99A}"/>
                  </a:ext>
                </a:extLst>
              </p:cNvPr>
              <p:cNvSpPr txBox="1">
                <a:spLocks noRot="1" noChangeAspect="1" noMove="1" noResize="1" noEditPoints="1" noAdjustHandles="1" noChangeArrowheads="1" noChangeShapeType="1" noTextEdit="1"/>
              </p:cNvSpPr>
              <p:nvPr/>
            </p:nvSpPr>
            <p:spPr>
              <a:xfrm>
                <a:off x="838200" y="3958481"/>
                <a:ext cx="7302705" cy="461665"/>
              </a:xfrm>
              <a:prstGeom prst="rect">
                <a:avLst/>
              </a:prstGeom>
              <a:blipFill>
                <a:blip r:embed="rId4"/>
                <a:stretch>
                  <a:fillRect l="-251"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74A5CE8C-16EA-4CF4-9A59-67AF7DEFE80F}"/>
                  </a:ext>
                </a:extLst>
              </p:cNvPr>
              <p:cNvSpPr txBox="1"/>
              <p:nvPr/>
            </p:nvSpPr>
            <p:spPr>
              <a:xfrm>
                <a:off x="784936" y="4487962"/>
                <a:ext cx="129259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𝐿</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=10</m:t>
                      </m:r>
                    </m:oMath>
                  </m:oMathPara>
                </a14:m>
                <a:endParaRPr lang="zh-TW" altLang="en-US" sz="2400" dirty="0"/>
              </a:p>
            </p:txBody>
          </p:sp>
        </mc:Choice>
        <mc:Fallback xmlns="">
          <p:sp>
            <p:nvSpPr>
              <p:cNvPr id="10" name="文字方塊 9">
                <a:extLst>
                  <a:ext uri="{FF2B5EF4-FFF2-40B4-BE49-F238E27FC236}">
                    <a16:creationId xmlns:a16="http://schemas.microsoft.com/office/drawing/2014/main" id="{74A5CE8C-16EA-4CF4-9A59-67AF7DEFE80F}"/>
                  </a:ext>
                </a:extLst>
              </p:cNvPr>
              <p:cNvSpPr txBox="1">
                <a:spLocks noRot="1" noChangeAspect="1" noMove="1" noResize="1" noEditPoints="1" noAdjustHandles="1" noChangeArrowheads="1" noChangeShapeType="1" noTextEdit="1"/>
              </p:cNvSpPr>
              <p:nvPr/>
            </p:nvSpPr>
            <p:spPr>
              <a:xfrm>
                <a:off x="784936" y="4487962"/>
                <a:ext cx="1292598" cy="461665"/>
              </a:xfrm>
              <a:prstGeom prst="rect">
                <a:avLst/>
              </a:prstGeom>
              <a:blipFill>
                <a:blip r:embed="rId5"/>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xmlns="" id="{446429D6-A892-4F7F-A053-0746DFD22942}"/>
                  </a:ext>
                </a:extLst>
              </p:cNvPr>
              <p:cNvSpPr txBox="1"/>
              <p:nvPr/>
            </p:nvSpPr>
            <p:spPr>
              <a:xfrm>
                <a:off x="816997" y="4949626"/>
                <a:ext cx="6522235" cy="614848"/>
              </a:xfrm>
              <a:prstGeom prst="rect">
                <a:avLst/>
              </a:prstGeom>
              <a:noFill/>
            </p:spPr>
            <p:txBody>
              <a:bodyPr wrap="none" rtlCol="0">
                <a:spAutoFit/>
              </a:bodyPr>
              <a:lstStyle/>
              <a:p>
                <a:r>
                  <a:rPr lang="en-US" altLang="zh-TW" sz="2400" dirty="0"/>
                  <a:t>the lower bound of the edit distance </a:t>
                </a:r>
                <a14:m>
                  <m:oMath xmlns:m="http://schemas.openxmlformats.org/officeDocument/2006/math">
                    <m:r>
                      <a:rPr lang="en-US" altLang="zh-TW" sz="2400" b="0" i="0" smtClean="0">
                        <a:latin typeface="Cambria Math" panose="02040503050406030204" pitchFamily="18" charset="0"/>
                      </a:rPr>
                      <m:t>:</m:t>
                    </m:r>
                    <m:f>
                      <m:fPr>
                        <m:ctrlPr>
                          <a:rPr lang="en-US" altLang="zh-TW" sz="2400" b="0" i="1" smtClean="0">
                            <a:latin typeface="Cambria Math" panose="02040503050406030204" pitchFamily="18" charset="0"/>
                          </a:rPr>
                        </m:ctrlPr>
                      </m:fPr>
                      <m:num>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𝐿</m:t>
                            </m:r>
                          </m:e>
                          <m:sub>
                            <m:r>
                              <a:rPr lang="en-US" altLang="zh-TW" sz="2400" b="0" i="1" smtClean="0">
                                <a:latin typeface="Cambria Math" panose="02040503050406030204" pitchFamily="18" charset="0"/>
                              </a:rPr>
                              <m:t>1</m:t>
                            </m:r>
                          </m:sub>
                        </m:sSub>
                      </m:num>
                      <m:den>
                        <m:r>
                          <a:rPr lang="en-US" altLang="zh-TW" sz="2400" b="0" i="1" smtClean="0">
                            <a:latin typeface="Cambria Math" panose="02040503050406030204" pitchFamily="18" charset="0"/>
                          </a:rPr>
                          <m:t>2</m:t>
                        </m:r>
                      </m:den>
                    </m:f>
                    <m:r>
                      <a:rPr lang="en-US" altLang="zh-TW" sz="2400" b="0" i="1" smtClean="0">
                        <a:latin typeface="Cambria Math" panose="02040503050406030204" pitchFamily="18" charset="0"/>
                      </a:rPr>
                      <m:t>=5</m:t>
                    </m:r>
                    <m:r>
                      <a:rPr lang="en-US" altLang="zh-TW" sz="2400" b="0" i="1" smtClean="0">
                        <a:latin typeface="Cambria Math" panose="02040503050406030204" pitchFamily="18" charset="0"/>
                        <a:ea typeface="Cambria Math" panose="02040503050406030204" pitchFamily="18" charset="0"/>
                      </a:rPr>
                      <m:t>&gt;</m:t>
                    </m:r>
                    <m:r>
                      <a:rPr lang="en-US" altLang="zh-TW" sz="2400" b="0" i="1" smtClean="0">
                        <a:latin typeface="Cambria Math" panose="02040503050406030204" pitchFamily="18" charset="0"/>
                      </a:rPr>
                      <m:t>2</m:t>
                    </m:r>
                    <m:r>
                      <a:rPr lang="zh-TW" altLang="en-US" sz="2400" b="0" i="1" smtClean="0">
                        <a:latin typeface="Cambria Math" panose="02040503050406030204" pitchFamily="18" charset="0"/>
                      </a:rPr>
                      <m:t>𝜏</m:t>
                    </m:r>
                  </m:oMath>
                </a14:m>
                <a:endParaRPr lang="zh-TW" altLang="en-US" sz="2400" dirty="0"/>
              </a:p>
            </p:txBody>
          </p:sp>
        </mc:Choice>
        <mc:Fallback xmlns="">
          <p:sp>
            <p:nvSpPr>
              <p:cNvPr id="11" name="文字方塊 10">
                <a:extLst>
                  <a:ext uri="{FF2B5EF4-FFF2-40B4-BE49-F238E27FC236}">
                    <a16:creationId xmlns:a16="http://schemas.microsoft.com/office/drawing/2014/main" id="{446429D6-A892-4F7F-A053-0746DFD22942}"/>
                  </a:ext>
                </a:extLst>
              </p:cNvPr>
              <p:cNvSpPr txBox="1">
                <a:spLocks noRot="1" noChangeAspect="1" noMove="1" noResize="1" noEditPoints="1" noAdjustHandles="1" noChangeArrowheads="1" noChangeShapeType="1" noTextEdit="1"/>
              </p:cNvSpPr>
              <p:nvPr/>
            </p:nvSpPr>
            <p:spPr>
              <a:xfrm>
                <a:off x="816997" y="4949626"/>
                <a:ext cx="6522235" cy="614848"/>
              </a:xfrm>
              <a:prstGeom prst="rect">
                <a:avLst/>
              </a:prstGeom>
              <a:blipFill>
                <a:blip r:embed="rId6"/>
                <a:stretch>
                  <a:fillRect l="-1402" b="-9901"/>
                </a:stretch>
              </a:blipFill>
            </p:spPr>
            <p:txBody>
              <a:bodyPr/>
              <a:lstStyle/>
              <a:p>
                <a:r>
                  <a:rPr lang="zh-TW" altLang="en-US">
                    <a:noFill/>
                  </a:rPr>
                  <a:t> </a:t>
                </a:r>
              </a:p>
            </p:txBody>
          </p:sp>
        </mc:Fallback>
      </mc:AlternateContent>
      <p:cxnSp>
        <p:nvCxnSpPr>
          <p:cNvPr id="14" name="直線單箭頭接點 13">
            <a:extLst>
              <a:ext uri="{FF2B5EF4-FFF2-40B4-BE49-F238E27FC236}">
                <a16:creationId xmlns:a16="http://schemas.microsoft.com/office/drawing/2014/main" xmlns="" id="{31879F65-2DB6-4092-83A7-794EA34A7062}"/>
              </a:ext>
            </a:extLst>
          </p:cNvPr>
          <p:cNvCxnSpPr/>
          <p:nvPr/>
        </p:nvCxnSpPr>
        <p:spPr>
          <a:xfrm>
            <a:off x="6427433" y="5449064"/>
            <a:ext cx="0" cy="6681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xmlns="" id="{E89BBEB0-5D1C-4736-B464-E24E5025A0E8}"/>
              </a:ext>
            </a:extLst>
          </p:cNvPr>
          <p:cNvSpPr txBox="1"/>
          <p:nvPr/>
        </p:nvSpPr>
        <p:spPr>
          <a:xfrm>
            <a:off x="5963203" y="6055034"/>
            <a:ext cx="928459" cy="461665"/>
          </a:xfrm>
          <a:prstGeom prst="rect">
            <a:avLst/>
          </a:prstGeom>
          <a:noFill/>
        </p:spPr>
        <p:txBody>
          <a:bodyPr wrap="none" rtlCol="0">
            <a:spAutoFit/>
          </a:bodyPr>
          <a:lstStyle/>
          <a:p>
            <a:r>
              <a:rPr lang="en-US" altLang="zh-TW" sz="2400" dirty="0"/>
              <a:t>Prune</a:t>
            </a:r>
            <a:endParaRPr lang="zh-TW" altLang="en-US" sz="2400" dirty="0"/>
          </a:p>
        </p:txBody>
      </p:sp>
    </p:spTree>
    <p:extLst>
      <p:ext uri="{BB962C8B-B14F-4D97-AF65-F5344CB8AC3E}">
        <p14:creationId xmlns:p14="http://schemas.microsoft.com/office/powerpoint/2010/main" val="28441644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xmlns="" id="{C1AA4545-12C8-4152-8F9D-D2EED9EA0E35}"/>
              </a:ext>
            </a:extLst>
          </p:cNvPr>
          <p:cNvPicPr>
            <a:picLocks noChangeAspect="1"/>
          </p:cNvPicPr>
          <p:nvPr/>
        </p:nvPicPr>
        <p:blipFill>
          <a:blip r:embed="rId2"/>
          <a:stretch>
            <a:fillRect/>
          </a:stretch>
        </p:blipFill>
        <p:spPr>
          <a:xfrm>
            <a:off x="3009222" y="1625122"/>
            <a:ext cx="6173555" cy="4349550"/>
          </a:xfrm>
          <a:prstGeom prst="rect">
            <a:avLst/>
          </a:prstGeom>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C5479389-F03A-459A-81D7-E30CCBAC1FA9}"/>
                  </a:ext>
                </a:extLst>
              </p:cNvPr>
              <p:cNvSpPr txBox="1"/>
              <p:nvPr/>
            </p:nvSpPr>
            <p:spPr>
              <a:xfrm>
                <a:off x="326308" y="2949152"/>
                <a:ext cx="26829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𝑥</m:t>
                          </m:r>
                        </m:sub>
                      </m:sSub>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𝐶𝑎𝑙𝑐𝑃𝑟𝑒𝑓𝑖𝑥𝐿𝑒𝑛</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𝑥</m:t>
                          </m:r>
                        </m:e>
                      </m:d>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8" name="文字方塊 7">
                <a:extLst>
                  <a:ext uri="{FF2B5EF4-FFF2-40B4-BE49-F238E27FC236}">
                    <a16:creationId xmlns:a16="http://schemas.microsoft.com/office/drawing/2014/main" id="{C5479389-F03A-459A-81D7-E30CCBAC1FA9}"/>
                  </a:ext>
                </a:extLst>
              </p:cNvPr>
              <p:cNvSpPr txBox="1">
                <a:spLocks noRot="1" noChangeAspect="1" noMove="1" noResize="1" noEditPoints="1" noAdjustHandles="1" noChangeArrowheads="1" noChangeShapeType="1" noTextEdit="1"/>
              </p:cNvSpPr>
              <p:nvPr/>
            </p:nvSpPr>
            <p:spPr>
              <a:xfrm>
                <a:off x="326308" y="2949152"/>
                <a:ext cx="2682914" cy="369332"/>
              </a:xfrm>
              <a:prstGeom prst="rect">
                <a:avLst/>
              </a:prstGeom>
              <a:blipFill>
                <a:blip r:embed="rId3"/>
                <a:stretch>
                  <a:fillRect b="-13333"/>
                </a:stretch>
              </a:blipFill>
            </p:spPr>
            <p:txBody>
              <a:bodyPr/>
              <a:lstStyle/>
              <a:p>
                <a:r>
                  <a:rPr lang="zh-TW" altLang="en-US">
                    <a:noFill/>
                  </a:rPr>
                  <a:t> </a:t>
                </a:r>
              </a:p>
            </p:txBody>
          </p:sp>
        </mc:Fallback>
      </mc:AlternateContent>
      <p:cxnSp>
        <p:nvCxnSpPr>
          <p:cNvPr id="3" name="直線接點 2">
            <a:extLst>
              <a:ext uri="{FF2B5EF4-FFF2-40B4-BE49-F238E27FC236}">
                <a16:creationId xmlns:a16="http://schemas.microsoft.com/office/drawing/2014/main" xmlns="" id="{9FE90986-8C9F-454A-867D-74D8831218C2}"/>
              </a:ext>
            </a:extLst>
          </p:cNvPr>
          <p:cNvCxnSpPr>
            <a:cxnSpLocks/>
          </p:cNvCxnSpPr>
          <p:nvPr/>
        </p:nvCxnSpPr>
        <p:spPr>
          <a:xfrm>
            <a:off x="3577700" y="3133818"/>
            <a:ext cx="166012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單箭頭接點 8">
            <a:extLst>
              <a:ext uri="{FF2B5EF4-FFF2-40B4-BE49-F238E27FC236}">
                <a16:creationId xmlns:a16="http://schemas.microsoft.com/office/drawing/2014/main" xmlns="" id="{CF7FC11B-91F1-40B4-85A0-A26A634AA9E6}"/>
              </a:ext>
            </a:extLst>
          </p:cNvPr>
          <p:cNvCxnSpPr>
            <a:cxnSpLocks/>
          </p:cNvCxnSpPr>
          <p:nvPr/>
        </p:nvCxnSpPr>
        <p:spPr>
          <a:xfrm flipH="1">
            <a:off x="4811697" y="5353234"/>
            <a:ext cx="277936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xmlns="" id="{BB446457-6CD7-4B81-BC39-1AED70956711}"/>
              </a:ext>
            </a:extLst>
          </p:cNvPr>
          <p:cNvSpPr txBox="1"/>
          <p:nvPr/>
        </p:nvSpPr>
        <p:spPr>
          <a:xfrm>
            <a:off x="7591064" y="4937736"/>
            <a:ext cx="4415119" cy="830997"/>
          </a:xfrm>
          <a:prstGeom prst="rect">
            <a:avLst/>
          </a:prstGeom>
          <a:noFill/>
        </p:spPr>
        <p:txBody>
          <a:bodyPr wrap="none" rtlCol="0">
            <a:spAutoFit/>
          </a:bodyPr>
          <a:lstStyle/>
          <a:p>
            <a:r>
              <a:rPr lang="en-US" altLang="zh-TW" sz="2400" dirty="0"/>
              <a:t>Counting Filtering</a:t>
            </a:r>
          </a:p>
          <a:p>
            <a:r>
              <a:rPr lang="en-US" altLang="zh-TW" sz="2400" dirty="0"/>
              <a:t>Content-based Mismatch Filtering</a:t>
            </a:r>
            <a:endParaRPr lang="zh-TW" altLang="en-US" sz="2400" dirty="0"/>
          </a:p>
        </p:txBody>
      </p:sp>
    </p:spTree>
    <p:extLst>
      <p:ext uri="{BB962C8B-B14F-4D97-AF65-F5344CB8AC3E}">
        <p14:creationId xmlns:p14="http://schemas.microsoft.com/office/powerpoint/2010/main" val="3784730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F63684A-941A-4765-877F-DBAFE13E590E}"/>
              </a:ext>
            </a:extLst>
          </p:cNvPr>
          <p:cNvSpPr>
            <a:spLocks noGrp="1"/>
          </p:cNvSpPr>
          <p:nvPr>
            <p:ph type="title"/>
          </p:nvPr>
        </p:nvSpPr>
        <p:spPr/>
        <p:txBody>
          <a:bodyPr/>
          <a:lstStyle/>
          <a:p>
            <a:pPr algn="ctr"/>
            <a:r>
              <a:rPr lang="en-US" altLang="zh-TW" dirty="0"/>
              <a:t>Experiment</a:t>
            </a:r>
            <a:endParaRPr lang="zh-TW" altLang="en-US" dirty="0"/>
          </a:p>
        </p:txBody>
      </p:sp>
      <p:pic>
        <p:nvPicPr>
          <p:cNvPr id="3" name="圖片 2">
            <a:extLst>
              <a:ext uri="{FF2B5EF4-FFF2-40B4-BE49-F238E27FC236}">
                <a16:creationId xmlns:a16="http://schemas.microsoft.com/office/drawing/2014/main" xmlns="" id="{A322AA56-3E8A-4BFE-AEF6-1EC86A79C330}"/>
              </a:ext>
            </a:extLst>
          </p:cNvPr>
          <p:cNvPicPr>
            <a:picLocks noChangeAspect="1"/>
          </p:cNvPicPr>
          <p:nvPr/>
        </p:nvPicPr>
        <p:blipFill>
          <a:blip r:embed="rId2"/>
          <a:stretch>
            <a:fillRect/>
          </a:stretch>
        </p:blipFill>
        <p:spPr>
          <a:xfrm>
            <a:off x="2728478" y="1836798"/>
            <a:ext cx="6735044" cy="4404204"/>
          </a:xfrm>
          <a:prstGeom prst="rect">
            <a:avLst/>
          </a:prstGeom>
        </p:spPr>
      </p:pic>
      <p:sp>
        <p:nvSpPr>
          <p:cNvPr id="4" name="文字方塊 3">
            <a:extLst>
              <a:ext uri="{FF2B5EF4-FFF2-40B4-BE49-F238E27FC236}">
                <a16:creationId xmlns:a16="http://schemas.microsoft.com/office/drawing/2014/main" xmlns="" id="{B9D70B5C-8B03-4F3F-A84C-71FAD9E8ECB7}"/>
              </a:ext>
            </a:extLst>
          </p:cNvPr>
          <p:cNvSpPr txBox="1"/>
          <p:nvPr/>
        </p:nvSpPr>
        <p:spPr>
          <a:xfrm>
            <a:off x="630314" y="1375133"/>
            <a:ext cx="3580211" cy="461665"/>
          </a:xfrm>
          <a:prstGeom prst="rect">
            <a:avLst/>
          </a:prstGeom>
          <a:noFill/>
        </p:spPr>
        <p:txBody>
          <a:bodyPr wrap="none" rtlCol="0">
            <a:spAutoFit/>
          </a:bodyPr>
          <a:lstStyle/>
          <a:p>
            <a:r>
              <a:rPr lang="en-US" altLang="zh-TW" sz="2400" dirty="0"/>
              <a:t>TREC: author, title, abstract</a:t>
            </a:r>
            <a:endParaRPr lang="zh-TW" altLang="en-US" sz="2400" dirty="0"/>
          </a:p>
        </p:txBody>
      </p:sp>
      <p:sp>
        <p:nvSpPr>
          <p:cNvPr id="5" name="文字方塊 4">
            <a:extLst>
              <a:ext uri="{FF2B5EF4-FFF2-40B4-BE49-F238E27FC236}">
                <a16:creationId xmlns:a16="http://schemas.microsoft.com/office/drawing/2014/main" xmlns="" id="{C18D7D56-5C64-44B6-A4DA-88C58359A009}"/>
              </a:ext>
            </a:extLst>
          </p:cNvPr>
          <p:cNvSpPr txBox="1"/>
          <p:nvPr/>
        </p:nvSpPr>
        <p:spPr>
          <a:xfrm>
            <a:off x="838200" y="1836798"/>
            <a:ext cx="1197764" cy="400110"/>
          </a:xfrm>
          <a:prstGeom prst="rect">
            <a:avLst/>
          </a:prstGeom>
          <a:noFill/>
        </p:spPr>
        <p:txBody>
          <a:bodyPr wrap="none" rtlCol="0">
            <a:spAutoFit/>
          </a:bodyPr>
          <a:lstStyle/>
          <a:p>
            <a:r>
              <a:rPr lang="en-US" altLang="zh-TW" sz="2000" dirty="0"/>
              <a:t>N:271464</a:t>
            </a:r>
            <a:endParaRPr lang="zh-TW" altLang="en-US" sz="2000" dirty="0"/>
          </a:p>
        </p:txBody>
      </p:sp>
      <p:sp>
        <p:nvSpPr>
          <p:cNvPr id="6" name="文字方塊 5">
            <a:extLst>
              <a:ext uri="{FF2B5EF4-FFF2-40B4-BE49-F238E27FC236}">
                <a16:creationId xmlns:a16="http://schemas.microsoft.com/office/drawing/2014/main" xmlns="" id="{90C2D5E0-BB1F-4E4D-8B4F-5C595032BA4D}"/>
              </a:ext>
            </a:extLst>
          </p:cNvPr>
          <p:cNvSpPr txBox="1"/>
          <p:nvPr/>
        </p:nvSpPr>
        <p:spPr>
          <a:xfrm>
            <a:off x="838200" y="2240710"/>
            <a:ext cx="1768689" cy="400110"/>
          </a:xfrm>
          <a:prstGeom prst="rect">
            <a:avLst/>
          </a:prstGeom>
          <a:noFill/>
        </p:spPr>
        <p:txBody>
          <a:bodyPr wrap="none" rtlCol="0">
            <a:spAutoFit/>
          </a:bodyPr>
          <a:lstStyle/>
          <a:p>
            <a:r>
              <a:rPr lang="en-US" altLang="zh-TW" sz="2000" dirty="0"/>
              <a:t>avg_len:1098.4</a:t>
            </a:r>
            <a:endParaRPr lang="zh-TW" altLang="en-US" sz="2000" dirty="0"/>
          </a:p>
        </p:txBody>
      </p:sp>
    </p:spTree>
    <p:extLst>
      <p:ext uri="{BB962C8B-B14F-4D97-AF65-F5344CB8AC3E}">
        <p14:creationId xmlns:p14="http://schemas.microsoft.com/office/powerpoint/2010/main" val="16450776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F63684A-941A-4765-877F-DBAFE13E590E}"/>
              </a:ext>
            </a:extLst>
          </p:cNvPr>
          <p:cNvSpPr>
            <a:spLocks noGrp="1"/>
          </p:cNvSpPr>
          <p:nvPr>
            <p:ph type="title"/>
          </p:nvPr>
        </p:nvSpPr>
        <p:spPr/>
        <p:txBody>
          <a:bodyPr/>
          <a:lstStyle/>
          <a:p>
            <a:pPr algn="ctr"/>
            <a:r>
              <a:rPr lang="en-US" altLang="zh-TW" dirty="0"/>
              <a:t>Experiment</a:t>
            </a:r>
            <a:endParaRPr lang="zh-TW" altLang="en-US" dirty="0"/>
          </a:p>
        </p:txBody>
      </p:sp>
      <p:pic>
        <p:nvPicPr>
          <p:cNvPr id="5" name="圖片 4">
            <a:extLst>
              <a:ext uri="{FF2B5EF4-FFF2-40B4-BE49-F238E27FC236}">
                <a16:creationId xmlns:a16="http://schemas.microsoft.com/office/drawing/2014/main" xmlns="" id="{C9159919-7131-451C-8189-E1DE5507DE19}"/>
              </a:ext>
            </a:extLst>
          </p:cNvPr>
          <p:cNvPicPr>
            <a:picLocks noChangeAspect="1"/>
          </p:cNvPicPr>
          <p:nvPr/>
        </p:nvPicPr>
        <p:blipFill>
          <a:blip r:embed="rId2"/>
          <a:stretch>
            <a:fillRect/>
          </a:stretch>
        </p:blipFill>
        <p:spPr>
          <a:xfrm>
            <a:off x="2432714" y="1690688"/>
            <a:ext cx="7326571" cy="4590141"/>
          </a:xfrm>
          <a:prstGeom prst="rect">
            <a:avLst/>
          </a:prstGeom>
        </p:spPr>
      </p:pic>
    </p:spTree>
    <p:extLst>
      <p:ext uri="{BB962C8B-B14F-4D97-AF65-F5344CB8AC3E}">
        <p14:creationId xmlns:p14="http://schemas.microsoft.com/office/powerpoint/2010/main" val="42510180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F63684A-941A-4765-877F-DBAFE13E590E}"/>
              </a:ext>
            </a:extLst>
          </p:cNvPr>
          <p:cNvSpPr>
            <a:spLocks noGrp="1"/>
          </p:cNvSpPr>
          <p:nvPr>
            <p:ph type="title"/>
          </p:nvPr>
        </p:nvSpPr>
        <p:spPr/>
        <p:txBody>
          <a:bodyPr/>
          <a:lstStyle/>
          <a:p>
            <a:pPr algn="ctr"/>
            <a:r>
              <a:rPr lang="en-US" altLang="zh-TW" dirty="0"/>
              <a:t>Experiment</a:t>
            </a:r>
            <a:endParaRPr lang="zh-TW" altLang="en-US" dirty="0"/>
          </a:p>
        </p:txBody>
      </p:sp>
      <p:pic>
        <p:nvPicPr>
          <p:cNvPr id="4" name="圖片 3">
            <a:extLst>
              <a:ext uri="{FF2B5EF4-FFF2-40B4-BE49-F238E27FC236}">
                <a16:creationId xmlns:a16="http://schemas.microsoft.com/office/drawing/2014/main" xmlns="" id="{4C5C8BBF-0636-4921-8198-5A21982472A9}"/>
              </a:ext>
            </a:extLst>
          </p:cNvPr>
          <p:cNvPicPr>
            <a:picLocks noChangeAspect="1"/>
          </p:cNvPicPr>
          <p:nvPr/>
        </p:nvPicPr>
        <p:blipFill>
          <a:blip r:embed="rId2"/>
          <a:stretch>
            <a:fillRect/>
          </a:stretch>
        </p:blipFill>
        <p:spPr>
          <a:xfrm>
            <a:off x="2510549" y="1440771"/>
            <a:ext cx="7170901" cy="4732507"/>
          </a:xfrm>
          <a:prstGeom prst="rect">
            <a:avLst/>
          </a:prstGeom>
        </p:spPr>
      </p:pic>
    </p:spTree>
    <p:extLst>
      <p:ext uri="{BB962C8B-B14F-4D97-AF65-F5344CB8AC3E}">
        <p14:creationId xmlns:p14="http://schemas.microsoft.com/office/powerpoint/2010/main" val="30310388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478</Words>
  <Application>Microsoft Office PowerPoint</Application>
  <PresentationFormat>寬螢幕</PresentationFormat>
  <Paragraphs>99</Paragraphs>
  <Slides>21</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21</vt:i4>
      </vt:variant>
    </vt:vector>
  </HeadingPairs>
  <TitlesOfParts>
    <vt:vector size="27" baseType="lpstr">
      <vt:lpstr>新細明體</vt:lpstr>
      <vt:lpstr>Arial</vt:lpstr>
      <vt:lpstr>Calibri</vt:lpstr>
      <vt:lpstr>Calibri Light</vt:lpstr>
      <vt:lpstr>Cambria Math</vt:lpstr>
      <vt:lpstr>Office 佈景主題</vt:lpstr>
      <vt:lpstr>Ed-Join: An Efficient Algorithm for Similarity Joins With Edit Distance Constraints</vt:lpstr>
      <vt:lpstr>Abstract(1/2)</vt:lpstr>
      <vt:lpstr>Abstract(2/2)</vt:lpstr>
      <vt:lpstr>PowerPoint 簡報</vt:lpstr>
      <vt:lpstr>PowerPoint 簡報</vt:lpstr>
      <vt:lpstr>PowerPoint 簡報</vt:lpstr>
      <vt:lpstr>PowerPoint 簡報</vt:lpstr>
      <vt:lpstr>PowerPoint 簡報</vt:lpstr>
      <vt:lpstr>PowerPoint 簡報</vt:lpstr>
      <vt:lpstr>PowerPoint 簡報</vt:lpstr>
      <vt:lpstr>Prefix Filtering</vt:lpstr>
      <vt:lpstr>Prefix Filtering</vt:lpstr>
      <vt:lpstr>PowerPoint 簡報</vt:lpstr>
      <vt:lpstr>PowerPoint 簡報</vt:lpstr>
      <vt:lpstr>PowerPoint 簡報</vt:lpstr>
      <vt:lpstr>Content-based Mismatch Filtering</vt:lpstr>
      <vt:lpstr>Content-based Mismatch Filtering</vt:lpstr>
      <vt:lpstr>PowerPoint 簡報</vt:lpstr>
      <vt:lpstr>Experiment</vt:lpstr>
      <vt:lpstr>Experiment</vt:lpstr>
      <vt:lpstr>Experiment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Ed-Join: An Efficient Algorithm for Similarity Joins With Edit Distance Constraints</dc:title>
  <dc:creator>Caros</dc:creator>
  <cp:lastModifiedBy>pplab-class</cp:lastModifiedBy>
  <cp:revision>30</cp:revision>
  <dcterms:created xsi:type="dcterms:W3CDTF">2018-05-15T06:11:34Z</dcterms:created>
  <dcterms:modified xsi:type="dcterms:W3CDTF">2018-05-15T12:29:22Z</dcterms:modified>
</cp:coreProperties>
</file>