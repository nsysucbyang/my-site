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71" r:id="rId4"/>
    <p:sldId id="272" r:id="rId5"/>
    <p:sldId id="273" r:id="rId6"/>
    <p:sldId id="281" r:id="rId7"/>
    <p:sldId id="278" r:id="rId8"/>
    <p:sldId id="279" r:id="rId9"/>
    <p:sldId id="280" r:id="rId10"/>
    <p:sldId id="274" r:id="rId11"/>
    <p:sldId id="275" r:id="rId12"/>
    <p:sldId id="276" r:id="rId13"/>
    <p:sldId id="277"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7" autoAdjust="0"/>
    <p:restoredTop sz="78307" autoAdjust="0"/>
  </p:normalViewPr>
  <p:slideViewPr>
    <p:cSldViewPr snapToGrid="0">
      <p:cViewPr>
        <p:scale>
          <a:sx n="57" d="100"/>
          <a:sy n="57" d="100"/>
        </p:scale>
        <p:origin x="96" y="9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2018/6/19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2</a:t>
            </a:fld>
            <a:endParaRPr lang="zh-TW" altLang="en-US"/>
          </a:p>
        </p:txBody>
      </p:sp>
    </p:spTree>
    <p:extLst>
      <p:ext uri="{BB962C8B-B14F-4D97-AF65-F5344CB8AC3E}">
        <p14:creationId xmlns:p14="http://schemas.microsoft.com/office/powerpoint/2010/main" val="3081513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3</a:t>
            </a:fld>
            <a:endParaRPr lang="zh-TW" altLang="en-US"/>
          </a:p>
        </p:txBody>
      </p:sp>
    </p:spTree>
    <p:extLst>
      <p:ext uri="{BB962C8B-B14F-4D97-AF65-F5344CB8AC3E}">
        <p14:creationId xmlns:p14="http://schemas.microsoft.com/office/powerpoint/2010/main" val="2151348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2018/6/19</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2018/6/19</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2018/6/19</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2018/6/19</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2018/6/19</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2018/6/19</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2018/6/19</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2018/6/19</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2018/6/19</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2018/6/19</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2018/6/19</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2018/6/19</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703383" y="601086"/>
            <a:ext cx="10730735" cy="1786671"/>
          </a:xfrm>
        </p:spPr>
        <p:txBody>
          <a:bodyPr>
            <a:normAutofit/>
          </a:bodyPr>
          <a:lstStyle/>
          <a:p>
            <a:r>
              <a:rPr lang="en-US" altLang="zh-TW" sz="4800" dirty="0" err="1"/>
              <a:t>liteDTW</a:t>
            </a:r>
            <a:r>
              <a:rPr lang="en-US" altLang="zh-TW" sz="4800" dirty="0"/>
              <a:t>:</a:t>
            </a:r>
            <a:r>
              <a:rPr lang="zh-TW" altLang="en-US" sz="4800" dirty="0"/>
              <a:t> </a:t>
            </a:r>
            <a:r>
              <a:rPr lang="en-US" altLang="zh-TW" sz="4800" dirty="0"/>
              <a:t>A lightweight dynamic time warping for tiny wireless sensing devices</a:t>
            </a: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1082831" y="2715042"/>
            <a:ext cx="9679333" cy="773417"/>
          </a:xfrm>
        </p:spPr>
        <p:txBody>
          <a:bodyPr>
            <a:noAutofit/>
          </a:bodyPr>
          <a:lstStyle/>
          <a:p>
            <a:r>
              <a:rPr lang="en-US" altLang="zh-TW" dirty="0"/>
              <a:t>Mohamed </a:t>
            </a:r>
            <a:r>
              <a:rPr lang="en-US" altLang="zh-TW" dirty="0" err="1"/>
              <a:t>Abdelaal</a:t>
            </a:r>
            <a:r>
              <a:rPr lang="en-US" altLang="zh-TW" dirty="0"/>
              <a:t>, Peter </a:t>
            </a:r>
            <a:r>
              <a:rPr lang="en-US" altLang="zh-TW" dirty="0" err="1"/>
              <a:t>Nazier</a:t>
            </a:r>
            <a:r>
              <a:rPr lang="en-US" altLang="zh-TW" dirty="0"/>
              <a:t> </a:t>
            </a:r>
            <a:r>
              <a:rPr lang="en-US" altLang="zh-TW" dirty="0" err="1"/>
              <a:t>Mosaad</a:t>
            </a:r>
            <a:r>
              <a:rPr lang="en-US" altLang="zh-TW" dirty="0"/>
              <a:t>, Oliver </a:t>
            </a:r>
            <a:r>
              <a:rPr lang="en-US" altLang="zh-TW" dirty="0" err="1"/>
              <a:t>Theel</a:t>
            </a:r>
            <a:endParaRPr lang="en-US" altLang="zh-TW" dirty="0">
              <a:solidFill>
                <a:schemeClr val="bg1">
                  <a:lumMod val="50000"/>
                </a:schemeClr>
              </a:solidFill>
            </a:endParaRPr>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1192823" y="3756249"/>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t>2015 IEEE Conference on Wireless Sensors (</a:t>
            </a:r>
            <a:r>
              <a:rPr lang="en-US" altLang="zh-TW" dirty="0" err="1"/>
              <a:t>ICWiSe</a:t>
            </a:r>
            <a:r>
              <a:rPr lang="en-US" altLang="zh-TW" dirty="0"/>
              <a:t>)</a:t>
            </a:r>
          </a:p>
          <a:p>
            <a:r>
              <a:rPr lang="en-US" altLang="zh-TW" dirty="0"/>
              <a:t>24-26 Aug. 2015, Melaka, Malaysia</a:t>
            </a:r>
            <a:endParaRPr lang="en-US" altLang="zh-TW" sz="2800" dirty="0">
              <a:solidFill>
                <a:schemeClr val="bg1">
                  <a:lumMod val="50000"/>
                </a:schemeClr>
              </a:solidFill>
            </a:endParaRP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 2018/06/19</a:t>
            </a:r>
            <a:endParaRPr lang="zh-TW" altLang="en-US" dirty="0">
              <a:solidFill>
                <a:schemeClr val="tx1"/>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F6B1DC-F5A3-4A3E-ABB3-0C74971D0F82}"/>
              </a:ext>
            </a:extLst>
          </p:cNvPr>
          <p:cNvSpPr>
            <a:spLocks noGrp="1"/>
          </p:cNvSpPr>
          <p:nvPr>
            <p:ph type="title"/>
          </p:nvPr>
        </p:nvSpPr>
        <p:spPr>
          <a:xfrm>
            <a:off x="838200" y="205468"/>
            <a:ext cx="10515600" cy="883104"/>
          </a:xfrm>
        </p:spPr>
        <p:txBody>
          <a:bodyPr/>
          <a:lstStyle/>
          <a:p>
            <a:r>
              <a:rPr lang="en-US" altLang="zh-TW" dirty="0"/>
              <a:t>Abstract (1/2)</a:t>
            </a:r>
            <a:endParaRPr lang="zh-TW" altLang="en-US" dirty="0"/>
          </a:p>
        </p:txBody>
      </p:sp>
      <p:sp>
        <p:nvSpPr>
          <p:cNvPr id="3" name="內容版面配置區 2">
            <a:extLst>
              <a:ext uri="{FF2B5EF4-FFF2-40B4-BE49-F238E27FC236}">
                <a16:creationId xmlns:a16="http://schemas.microsoft.com/office/drawing/2014/main" id="{12EF2FB6-82B8-48D7-A181-5A6639544732}"/>
              </a:ext>
            </a:extLst>
          </p:cNvPr>
          <p:cNvSpPr>
            <a:spLocks noGrp="1"/>
          </p:cNvSpPr>
          <p:nvPr>
            <p:ph idx="1"/>
          </p:nvPr>
        </p:nvSpPr>
        <p:spPr>
          <a:xfrm>
            <a:off x="838200" y="1088573"/>
            <a:ext cx="10300480" cy="5267779"/>
          </a:xfrm>
        </p:spPr>
        <p:txBody>
          <a:bodyPr>
            <a:noAutofit/>
          </a:bodyPr>
          <a:lstStyle/>
          <a:p>
            <a:pPr marL="0" indent="0">
              <a:buNone/>
            </a:pPr>
            <a:r>
              <a:rPr lang="en-US" altLang="zh-TW" dirty="0"/>
              <a:t>Wireless sensor networks have been recognized as promising tools to collect relevant, in-situ data for a wide range of application domains. However, such networks suffer from hard constraints including the allocated resources. Hence, current research endeavors strive to minimize the amount of data that has to be transmitted. This is typically achieved via data fusing or sending some nodes to sleep mode whenever their readings exhibit a high degree of </a:t>
            </a:r>
            <a:r>
              <a:rPr lang="en-US" altLang="zh-TW" dirty="0" err="1"/>
              <a:t>spatio</a:t>
            </a:r>
            <a:r>
              <a:rPr lang="en-US" altLang="zh-TW" dirty="0"/>
              <a:t>/temporal correlation. Accordingly, the degree of correlation can be considered as a metrics for data filtering. The Dynamic time warping (DTW) algorithm is a "natural" candidate for data fusion and correlation estimation at intermediate sensor nodes via matching the various measured readings. </a:t>
            </a:r>
            <a:endParaRPr lang="zh-TW" altLang="en-US" dirty="0"/>
          </a:p>
        </p:txBody>
      </p:sp>
      <p:sp>
        <p:nvSpPr>
          <p:cNvPr id="4" name="投影片編號版面配置區 3">
            <a:extLst>
              <a:ext uri="{FF2B5EF4-FFF2-40B4-BE49-F238E27FC236}">
                <a16:creationId xmlns:a16="http://schemas.microsoft.com/office/drawing/2014/main"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2</a:t>
            </a:fld>
            <a:endParaRPr lang="zh-TW" altLang="en-US" dirty="0"/>
          </a:p>
        </p:txBody>
      </p:sp>
    </p:spTree>
    <p:extLst>
      <p:ext uri="{BB962C8B-B14F-4D97-AF65-F5344CB8AC3E}">
        <p14:creationId xmlns:p14="http://schemas.microsoft.com/office/powerpoint/2010/main" val="405643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F6B1DC-F5A3-4A3E-ABB3-0C74971D0F82}"/>
              </a:ext>
            </a:extLst>
          </p:cNvPr>
          <p:cNvSpPr>
            <a:spLocks noGrp="1"/>
          </p:cNvSpPr>
          <p:nvPr>
            <p:ph type="title"/>
          </p:nvPr>
        </p:nvSpPr>
        <p:spPr>
          <a:xfrm>
            <a:off x="838200" y="205468"/>
            <a:ext cx="10515600" cy="883104"/>
          </a:xfrm>
        </p:spPr>
        <p:txBody>
          <a:bodyPr/>
          <a:lstStyle/>
          <a:p>
            <a:r>
              <a:rPr lang="en-US" altLang="zh-TW" dirty="0"/>
              <a:t>Abstract (2/2)</a:t>
            </a:r>
            <a:endParaRPr lang="zh-TW" altLang="en-US" dirty="0"/>
          </a:p>
        </p:txBody>
      </p:sp>
      <p:sp>
        <p:nvSpPr>
          <p:cNvPr id="3" name="內容版面配置區 2">
            <a:extLst>
              <a:ext uri="{FF2B5EF4-FFF2-40B4-BE49-F238E27FC236}">
                <a16:creationId xmlns:a16="http://schemas.microsoft.com/office/drawing/2014/main" id="{12EF2FB6-82B8-48D7-A181-5A6639544732}"/>
              </a:ext>
            </a:extLst>
          </p:cNvPr>
          <p:cNvSpPr>
            <a:spLocks noGrp="1"/>
          </p:cNvSpPr>
          <p:nvPr>
            <p:ph idx="1"/>
          </p:nvPr>
        </p:nvSpPr>
        <p:spPr>
          <a:xfrm>
            <a:off x="838200" y="1088573"/>
            <a:ext cx="10300480" cy="5267779"/>
          </a:xfrm>
        </p:spPr>
        <p:txBody>
          <a:bodyPr>
            <a:noAutofit/>
          </a:bodyPr>
          <a:lstStyle/>
          <a:p>
            <a:pPr marL="0" indent="0">
              <a:buNone/>
            </a:pPr>
            <a:r>
              <a:rPr lang="en-US" altLang="zh-TW" dirty="0"/>
              <a:t>However, the DTW algorithm suffers from the excessive computational overhead which is ill-suited for the "resources-taxed" sensor nodes. This work aims at reducing this burden via refining the implementation procedure of the DTW algorithm. The </a:t>
            </a:r>
            <a:r>
              <a:rPr lang="en-US" altLang="zh-TW" dirty="0" err="1"/>
              <a:t>liteDTW</a:t>
            </a:r>
            <a:r>
              <a:rPr lang="en-US" altLang="zh-TW" dirty="0"/>
              <a:t> is a novel version of the DTW algorithm with linear operations and fuzzy abstraction. The core idea is to reduce the DTW matrix dimensions via shrinking the input patterns. Several simulations and real experiments have been conducted to validate that the </a:t>
            </a:r>
            <a:r>
              <a:rPr lang="en-US" altLang="zh-TW" dirty="0" err="1"/>
              <a:t>liteDTW</a:t>
            </a:r>
            <a:r>
              <a:rPr lang="en-US" altLang="zh-TW" dirty="0"/>
              <a:t> algorithm excels over the naive one in terms of accuracy, time and space overhead. Moreover, the </a:t>
            </a:r>
            <a:r>
              <a:rPr lang="en-US" altLang="zh-TW" dirty="0" err="1"/>
              <a:t>Cooja</a:t>
            </a:r>
            <a:r>
              <a:rPr lang="en-US" altLang="zh-TW" dirty="0"/>
              <a:t> simulator of the Contiki OS has been utilized to assess the energy profit of adopting the </a:t>
            </a:r>
            <a:r>
              <a:rPr lang="en-US" altLang="zh-TW" dirty="0" err="1"/>
              <a:t>liteDTW</a:t>
            </a:r>
            <a:r>
              <a:rPr lang="en-US" altLang="zh-TW" dirty="0"/>
              <a:t> algorithm for data fusion.</a:t>
            </a:r>
            <a:endParaRPr lang="zh-TW" altLang="en-US" dirty="0"/>
          </a:p>
        </p:txBody>
      </p:sp>
      <p:sp>
        <p:nvSpPr>
          <p:cNvPr id="4" name="投影片編號版面配置區 3">
            <a:extLst>
              <a:ext uri="{FF2B5EF4-FFF2-40B4-BE49-F238E27FC236}">
                <a16:creationId xmlns:a16="http://schemas.microsoft.com/office/drawing/2014/main"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3</a:t>
            </a:fld>
            <a:endParaRPr lang="zh-TW" altLang="en-US" dirty="0"/>
          </a:p>
        </p:txBody>
      </p:sp>
    </p:spTree>
    <p:extLst>
      <p:ext uri="{BB962C8B-B14F-4D97-AF65-F5344CB8AC3E}">
        <p14:creationId xmlns:p14="http://schemas.microsoft.com/office/powerpoint/2010/main" val="3070826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288152-CCD0-4881-B69C-43D29FD0A8C2}"/>
              </a:ext>
            </a:extLst>
          </p:cNvPr>
          <p:cNvSpPr>
            <a:spLocks noGrp="1"/>
          </p:cNvSpPr>
          <p:nvPr>
            <p:ph type="title"/>
          </p:nvPr>
        </p:nvSpPr>
        <p:spPr/>
        <p:txBody>
          <a:bodyPr/>
          <a:lstStyle/>
          <a:p>
            <a:r>
              <a:rPr lang="en-US" altLang="zh-TW" dirty="0"/>
              <a:t>DTW</a:t>
            </a:r>
            <a:endParaRPr lang="zh-TW" altLang="en-US" dirty="0"/>
          </a:p>
        </p:txBody>
      </p:sp>
      <p:pic>
        <p:nvPicPr>
          <p:cNvPr id="5" name="內容版面配置區 4">
            <a:extLst>
              <a:ext uri="{FF2B5EF4-FFF2-40B4-BE49-F238E27FC236}">
                <a16:creationId xmlns:a16="http://schemas.microsoft.com/office/drawing/2014/main" id="{88D064DF-77C8-40F7-AD8E-C765C658B7D2}"/>
              </a:ext>
            </a:extLst>
          </p:cNvPr>
          <p:cNvPicPr>
            <a:picLocks noGrp="1" noChangeAspect="1"/>
          </p:cNvPicPr>
          <p:nvPr>
            <p:ph idx="1"/>
          </p:nvPr>
        </p:nvPicPr>
        <p:blipFill>
          <a:blip r:embed="rId2"/>
          <a:stretch>
            <a:fillRect/>
          </a:stretch>
        </p:blipFill>
        <p:spPr>
          <a:xfrm>
            <a:off x="876301" y="1690690"/>
            <a:ext cx="5410200" cy="4879185"/>
          </a:xfrm>
          <a:prstGeom prst="rect">
            <a:avLst/>
          </a:prstGeom>
        </p:spPr>
      </p:pic>
      <p:sp>
        <p:nvSpPr>
          <p:cNvPr id="4" name="投影片編號版面配置區 3">
            <a:extLst>
              <a:ext uri="{FF2B5EF4-FFF2-40B4-BE49-F238E27FC236}">
                <a16:creationId xmlns:a16="http://schemas.microsoft.com/office/drawing/2014/main" id="{BEA566BB-CC11-454D-BD17-31CC552254A6}"/>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pic>
        <p:nvPicPr>
          <p:cNvPr id="6" name="圖片 5">
            <a:extLst>
              <a:ext uri="{FF2B5EF4-FFF2-40B4-BE49-F238E27FC236}">
                <a16:creationId xmlns:a16="http://schemas.microsoft.com/office/drawing/2014/main" id="{7B840E77-F927-494C-A690-AE83798C9275}"/>
              </a:ext>
            </a:extLst>
          </p:cNvPr>
          <p:cNvPicPr>
            <a:picLocks noChangeAspect="1"/>
          </p:cNvPicPr>
          <p:nvPr/>
        </p:nvPicPr>
        <p:blipFill>
          <a:blip r:embed="rId3"/>
          <a:stretch>
            <a:fillRect/>
          </a:stretch>
        </p:blipFill>
        <p:spPr>
          <a:xfrm>
            <a:off x="6897644" y="3077328"/>
            <a:ext cx="4788660" cy="1731748"/>
          </a:xfrm>
          <a:prstGeom prst="rect">
            <a:avLst/>
          </a:prstGeom>
        </p:spPr>
      </p:pic>
    </p:spTree>
    <p:extLst>
      <p:ext uri="{BB962C8B-B14F-4D97-AF65-F5344CB8AC3E}">
        <p14:creationId xmlns:p14="http://schemas.microsoft.com/office/powerpoint/2010/main" val="341596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749140-287C-49F3-8AB8-F07F651C3B44}"/>
              </a:ext>
            </a:extLst>
          </p:cNvPr>
          <p:cNvSpPr>
            <a:spLocks noGrp="1"/>
          </p:cNvSpPr>
          <p:nvPr>
            <p:ph type="title"/>
          </p:nvPr>
        </p:nvSpPr>
        <p:spPr/>
        <p:txBody>
          <a:bodyPr/>
          <a:lstStyle/>
          <a:p>
            <a:r>
              <a:rPr lang="en-US" altLang="zh-TW" dirty="0" err="1"/>
              <a:t>liteDTW</a:t>
            </a:r>
            <a:endParaRPr lang="zh-TW" altLang="en-US" dirty="0"/>
          </a:p>
        </p:txBody>
      </p:sp>
      <p:pic>
        <p:nvPicPr>
          <p:cNvPr id="5" name="內容版面配置區 4">
            <a:extLst>
              <a:ext uri="{FF2B5EF4-FFF2-40B4-BE49-F238E27FC236}">
                <a16:creationId xmlns:a16="http://schemas.microsoft.com/office/drawing/2014/main" id="{540C28D5-A6AC-46E1-88BD-2AC3B580919E}"/>
              </a:ext>
            </a:extLst>
          </p:cNvPr>
          <p:cNvPicPr>
            <a:picLocks noGrp="1" noChangeAspect="1"/>
          </p:cNvPicPr>
          <p:nvPr>
            <p:ph idx="1"/>
          </p:nvPr>
        </p:nvPicPr>
        <p:blipFill rotWithShape="1">
          <a:blip r:embed="rId2"/>
          <a:srcRect t="36848"/>
          <a:stretch/>
        </p:blipFill>
        <p:spPr>
          <a:xfrm>
            <a:off x="838200" y="2937701"/>
            <a:ext cx="6343352" cy="3675926"/>
          </a:xfrm>
          <a:prstGeom prst="rect">
            <a:avLst/>
          </a:prstGeom>
        </p:spPr>
      </p:pic>
      <p:sp>
        <p:nvSpPr>
          <p:cNvPr id="4" name="投影片編號版面配置區 3">
            <a:extLst>
              <a:ext uri="{FF2B5EF4-FFF2-40B4-BE49-F238E27FC236}">
                <a16:creationId xmlns:a16="http://schemas.microsoft.com/office/drawing/2014/main" id="{E5426B63-E302-4B4C-8E34-F8BF7C776911}"/>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6" name="內容版面配置區 4">
            <a:extLst>
              <a:ext uri="{FF2B5EF4-FFF2-40B4-BE49-F238E27FC236}">
                <a16:creationId xmlns:a16="http://schemas.microsoft.com/office/drawing/2014/main" id="{69D914E8-952C-47DB-8904-5714404A7CBA}"/>
              </a:ext>
            </a:extLst>
          </p:cNvPr>
          <p:cNvPicPr>
            <a:picLocks noChangeAspect="1"/>
          </p:cNvPicPr>
          <p:nvPr/>
        </p:nvPicPr>
        <p:blipFill rotWithShape="1">
          <a:blip r:embed="rId2"/>
          <a:srcRect b="61803"/>
          <a:stretch/>
        </p:blipFill>
        <p:spPr>
          <a:xfrm>
            <a:off x="3086322" y="161329"/>
            <a:ext cx="8267478" cy="2897754"/>
          </a:xfrm>
          <a:prstGeom prst="rect">
            <a:avLst/>
          </a:prstGeom>
        </p:spPr>
      </p:pic>
      <p:pic>
        <p:nvPicPr>
          <p:cNvPr id="7" name="圖片 6">
            <a:extLst>
              <a:ext uri="{FF2B5EF4-FFF2-40B4-BE49-F238E27FC236}">
                <a16:creationId xmlns:a16="http://schemas.microsoft.com/office/drawing/2014/main" id="{BA3DE2B9-2F6E-4F29-97A2-3B6BDAD51E3C}"/>
              </a:ext>
            </a:extLst>
          </p:cNvPr>
          <p:cNvPicPr>
            <a:picLocks noChangeAspect="1"/>
          </p:cNvPicPr>
          <p:nvPr/>
        </p:nvPicPr>
        <p:blipFill>
          <a:blip r:embed="rId3"/>
          <a:stretch>
            <a:fillRect/>
          </a:stretch>
        </p:blipFill>
        <p:spPr>
          <a:xfrm>
            <a:off x="6542088" y="4523406"/>
            <a:ext cx="4811712" cy="929106"/>
          </a:xfrm>
          <a:prstGeom prst="rect">
            <a:avLst/>
          </a:prstGeom>
          <a:ln>
            <a:solidFill>
              <a:schemeClr val="bg1">
                <a:lumMod val="65000"/>
              </a:schemeClr>
            </a:solidFill>
          </a:ln>
        </p:spPr>
      </p:pic>
      <p:sp>
        <p:nvSpPr>
          <p:cNvPr id="8" name="文字方塊 7">
            <a:extLst>
              <a:ext uri="{FF2B5EF4-FFF2-40B4-BE49-F238E27FC236}">
                <a16:creationId xmlns:a16="http://schemas.microsoft.com/office/drawing/2014/main" id="{13806081-B659-46C4-A3E5-CFF2F415562E}"/>
              </a:ext>
            </a:extLst>
          </p:cNvPr>
          <p:cNvSpPr txBox="1"/>
          <p:nvPr/>
        </p:nvSpPr>
        <p:spPr>
          <a:xfrm>
            <a:off x="562679" y="2161241"/>
            <a:ext cx="2799164" cy="523220"/>
          </a:xfrm>
          <a:prstGeom prst="rect">
            <a:avLst/>
          </a:prstGeom>
          <a:noFill/>
          <a:ln>
            <a:solidFill>
              <a:schemeClr val="bg2">
                <a:lumMod val="10000"/>
              </a:schemeClr>
            </a:solidFill>
          </a:ln>
        </p:spPr>
        <p:txBody>
          <a:bodyPr wrap="none" rtlCol="0">
            <a:spAutoFit/>
          </a:bodyPr>
          <a:lstStyle/>
          <a:p>
            <a:r>
              <a:rPr lang="en-US" altLang="zh-TW" sz="2800" dirty="0">
                <a:solidFill>
                  <a:srgbClr val="FF0000"/>
                </a:solidFill>
              </a:rPr>
              <a:t>O(n*m) -&gt; O(n*2)</a:t>
            </a:r>
            <a:endParaRPr lang="zh-TW" altLang="en-US" sz="2800" dirty="0">
              <a:solidFill>
                <a:srgbClr val="FF0000"/>
              </a:solidFill>
            </a:endParaRPr>
          </a:p>
        </p:txBody>
      </p:sp>
    </p:spTree>
    <p:extLst>
      <p:ext uri="{BB962C8B-B14F-4D97-AF65-F5344CB8AC3E}">
        <p14:creationId xmlns:p14="http://schemas.microsoft.com/office/powerpoint/2010/main" val="3923854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27AF3A-29C4-4537-B069-88306DE33A91}"/>
              </a:ext>
            </a:extLst>
          </p:cNvPr>
          <p:cNvSpPr>
            <a:spLocks noGrp="1"/>
          </p:cNvSpPr>
          <p:nvPr>
            <p:ph type="title"/>
          </p:nvPr>
        </p:nvSpPr>
        <p:spPr/>
        <p:txBody>
          <a:bodyPr/>
          <a:lstStyle/>
          <a:p>
            <a:r>
              <a:rPr lang="en-US" altLang="zh-TW" dirty="0"/>
              <a:t>Fuzzy Abstraction</a:t>
            </a:r>
            <a:endParaRPr lang="zh-TW" altLang="en-US" dirty="0"/>
          </a:p>
        </p:txBody>
      </p:sp>
      <p:pic>
        <p:nvPicPr>
          <p:cNvPr id="5" name="內容版面配置區 4">
            <a:extLst>
              <a:ext uri="{FF2B5EF4-FFF2-40B4-BE49-F238E27FC236}">
                <a16:creationId xmlns:a16="http://schemas.microsoft.com/office/drawing/2014/main" id="{A7FF2821-C3A5-42E3-A015-E15D48C5C8F7}"/>
              </a:ext>
            </a:extLst>
          </p:cNvPr>
          <p:cNvPicPr>
            <a:picLocks noGrp="1" noChangeAspect="1"/>
          </p:cNvPicPr>
          <p:nvPr>
            <p:ph idx="1"/>
          </p:nvPr>
        </p:nvPicPr>
        <p:blipFill>
          <a:blip r:embed="rId2"/>
          <a:stretch>
            <a:fillRect/>
          </a:stretch>
        </p:blipFill>
        <p:spPr>
          <a:xfrm>
            <a:off x="838200" y="1766095"/>
            <a:ext cx="5095875" cy="2257425"/>
          </a:xfrm>
          <a:prstGeom prst="rect">
            <a:avLst/>
          </a:prstGeom>
        </p:spPr>
      </p:pic>
      <p:sp>
        <p:nvSpPr>
          <p:cNvPr id="4" name="投影片編號版面配置區 3">
            <a:extLst>
              <a:ext uri="{FF2B5EF4-FFF2-40B4-BE49-F238E27FC236}">
                <a16:creationId xmlns:a16="http://schemas.microsoft.com/office/drawing/2014/main" id="{4A147C85-D631-4969-9851-93D6E6248633}"/>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6" name="圖片 5">
            <a:extLst>
              <a:ext uri="{FF2B5EF4-FFF2-40B4-BE49-F238E27FC236}">
                <a16:creationId xmlns:a16="http://schemas.microsoft.com/office/drawing/2014/main" id="{BDC86A5B-40CB-41E9-B3F3-C11FDF8706B0}"/>
              </a:ext>
            </a:extLst>
          </p:cNvPr>
          <p:cNvPicPr>
            <a:picLocks noChangeAspect="1"/>
          </p:cNvPicPr>
          <p:nvPr/>
        </p:nvPicPr>
        <p:blipFill>
          <a:blip r:embed="rId3"/>
          <a:stretch>
            <a:fillRect/>
          </a:stretch>
        </p:blipFill>
        <p:spPr>
          <a:xfrm>
            <a:off x="5934075" y="2009948"/>
            <a:ext cx="3783077" cy="1342382"/>
          </a:xfrm>
          <a:prstGeom prst="rect">
            <a:avLst/>
          </a:prstGeom>
          <a:ln>
            <a:solidFill>
              <a:schemeClr val="bg1">
                <a:lumMod val="50000"/>
              </a:schemeClr>
            </a:solidFill>
          </a:ln>
        </p:spPr>
      </p:pic>
      <p:pic>
        <p:nvPicPr>
          <p:cNvPr id="7" name="圖片 6">
            <a:extLst>
              <a:ext uri="{FF2B5EF4-FFF2-40B4-BE49-F238E27FC236}">
                <a16:creationId xmlns:a16="http://schemas.microsoft.com/office/drawing/2014/main" id="{138BFA5B-2C83-4853-B475-A555FDDF6A6A}"/>
              </a:ext>
            </a:extLst>
          </p:cNvPr>
          <p:cNvPicPr>
            <a:picLocks noChangeAspect="1"/>
          </p:cNvPicPr>
          <p:nvPr/>
        </p:nvPicPr>
        <p:blipFill>
          <a:blip r:embed="rId4"/>
          <a:stretch>
            <a:fillRect/>
          </a:stretch>
        </p:blipFill>
        <p:spPr>
          <a:xfrm>
            <a:off x="1570337" y="4772926"/>
            <a:ext cx="3674337" cy="1232458"/>
          </a:xfrm>
          <a:prstGeom prst="rect">
            <a:avLst/>
          </a:prstGeom>
          <a:ln>
            <a:solidFill>
              <a:schemeClr val="bg1">
                <a:lumMod val="50000"/>
              </a:schemeClr>
            </a:solidFill>
          </a:ln>
        </p:spPr>
      </p:pic>
      <p:pic>
        <p:nvPicPr>
          <p:cNvPr id="8" name="圖片 7">
            <a:extLst>
              <a:ext uri="{FF2B5EF4-FFF2-40B4-BE49-F238E27FC236}">
                <a16:creationId xmlns:a16="http://schemas.microsoft.com/office/drawing/2014/main" id="{8CF654B0-4117-4E66-9A6F-1D00713F4E07}"/>
              </a:ext>
            </a:extLst>
          </p:cNvPr>
          <p:cNvPicPr>
            <a:picLocks noChangeAspect="1"/>
          </p:cNvPicPr>
          <p:nvPr/>
        </p:nvPicPr>
        <p:blipFill>
          <a:blip r:embed="rId5"/>
          <a:stretch>
            <a:fillRect/>
          </a:stretch>
        </p:blipFill>
        <p:spPr>
          <a:xfrm>
            <a:off x="6269178" y="4866290"/>
            <a:ext cx="3436720" cy="1011517"/>
          </a:xfrm>
          <a:prstGeom prst="rect">
            <a:avLst/>
          </a:prstGeom>
          <a:ln>
            <a:solidFill>
              <a:schemeClr val="bg1">
                <a:lumMod val="50000"/>
              </a:schemeClr>
            </a:solidFill>
          </a:ln>
        </p:spPr>
      </p:pic>
    </p:spTree>
    <p:extLst>
      <p:ext uri="{BB962C8B-B14F-4D97-AF65-F5344CB8AC3E}">
        <p14:creationId xmlns:p14="http://schemas.microsoft.com/office/powerpoint/2010/main" val="2884121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2FC483-7C07-481C-8932-60612B307BF9}"/>
              </a:ext>
            </a:extLst>
          </p:cNvPr>
          <p:cNvSpPr>
            <a:spLocks noGrp="1"/>
          </p:cNvSpPr>
          <p:nvPr>
            <p:ph type="title"/>
          </p:nvPr>
        </p:nvSpPr>
        <p:spPr/>
        <p:txBody>
          <a:bodyPr/>
          <a:lstStyle/>
          <a:p>
            <a:r>
              <a:rPr lang="en-US" altLang="zh-TW" dirty="0"/>
              <a:t>Test Data (1/3)</a:t>
            </a:r>
            <a:endParaRPr lang="zh-TW" altLang="en-US" dirty="0"/>
          </a:p>
        </p:txBody>
      </p:sp>
      <p:pic>
        <p:nvPicPr>
          <p:cNvPr id="5" name="內容版面配置區 4">
            <a:extLst>
              <a:ext uri="{FF2B5EF4-FFF2-40B4-BE49-F238E27FC236}">
                <a16:creationId xmlns:a16="http://schemas.microsoft.com/office/drawing/2014/main" id="{2E8A5BE3-917C-42CB-B0B2-95AE4D2E2810}"/>
              </a:ext>
            </a:extLst>
          </p:cNvPr>
          <p:cNvPicPr>
            <a:picLocks noGrp="1" noChangeAspect="1"/>
          </p:cNvPicPr>
          <p:nvPr>
            <p:ph idx="1"/>
          </p:nvPr>
        </p:nvPicPr>
        <p:blipFill>
          <a:blip r:embed="rId2"/>
          <a:stretch>
            <a:fillRect/>
          </a:stretch>
        </p:blipFill>
        <p:spPr>
          <a:xfrm>
            <a:off x="1265388" y="2444618"/>
            <a:ext cx="9661223" cy="3248290"/>
          </a:xfrm>
          <a:prstGeom prst="rect">
            <a:avLst/>
          </a:prstGeom>
        </p:spPr>
      </p:pic>
      <p:sp>
        <p:nvSpPr>
          <p:cNvPr id="4" name="投影片編號版面配置區 3">
            <a:extLst>
              <a:ext uri="{FF2B5EF4-FFF2-40B4-BE49-F238E27FC236}">
                <a16:creationId xmlns:a16="http://schemas.microsoft.com/office/drawing/2014/main" id="{77B42F37-5547-49F4-805C-A56F11061923}"/>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spTree>
    <p:extLst>
      <p:ext uri="{BB962C8B-B14F-4D97-AF65-F5344CB8AC3E}">
        <p14:creationId xmlns:p14="http://schemas.microsoft.com/office/powerpoint/2010/main" val="116486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2FC483-7C07-481C-8932-60612B307BF9}"/>
              </a:ext>
            </a:extLst>
          </p:cNvPr>
          <p:cNvSpPr>
            <a:spLocks noGrp="1"/>
          </p:cNvSpPr>
          <p:nvPr>
            <p:ph type="title"/>
          </p:nvPr>
        </p:nvSpPr>
        <p:spPr/>
        <p:txBody>
          <a:bodyPr/>
          <a:lstStyle/>
          <a:p>
            <a:r>
              <a:rPr lang="en-US" altLang="zh-TW" dirty="0"/>
              <a:t>Test Data (2/3)</a:t>
            </a:r>
            <a:endParaRPr lang="zh-TW" altLang="en-US" dirty="0"/>
          </a:p>
        </p:txBody>
      </p:sp>
      <p:sp>
        <p:nvSpPr>
          <p:cNvPr id="4" name="投影片編號版面配置區 3">
            <a:extLst>
              <a:ext uri="{FF2B5EF4-FFF2-40B4-BE49-F238E27FC236}">
                <a16:creationId xmlns:a16="http://schemas.microsoft.com/office/drawing/2014/main" id="{77B42F37-5547-49F4-805C-A56F11061923}"/>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pic>
        <p:nvPicPr>
          <p:cNvPr id="7" name="內容版面配置區 6">
            <a:extLst>
              <a:ext uri="{FF2B5EF4-FFF2-40B4-BE49-F238E27FC236}">
                <a16:creationId xmlns:a16="http://schemas.microsoft.com/office/drawing/2014/main" id="{D230E4C7-F86A-476F-A2E8-83B8B16ADFF5}"/>
              </a:ext>
            </a:extLst>
          </p:cNvPr>
          <p:cNvPicPr>
            <a:picLocks noGrp="1" noChangeAspect="1"/>
          </p:cNvPicPr>
          <p:nvPr>
            <p:ph idx="1"/>
          </p:nvPr>
        </p:nvPicPr>
        <p:blipFill>
          <a:blip r:embed="rId2"/>
          <a:stretch>
            <a:fillRect/>
          </a:stretch>
        </p:blipFill>
        <p:spPr>
          <a:xfrm>
            <a:off x="674862" y="2351718"/>
            <a:ext cx="10842275" cy="3343605"/>
          </a:xfrm>
          <a:prstGeom prst="rect">
            <a:avLst/>
          </a:prstGeom>
        </p:spPr>
      </p:pic>
    </p:spTree>
    <p:extLst>
      <p:ext uri="{BB962C8B-B14F-4D97-AF65-F5344CB8AC3E}">
        <p14:creationId xmlns:p14="http://schemas.microsoft.com/office/powerpoint/2010/main" val="3668018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2FC483-7C07-481C-8932-60612B307BF9}"/>
              </a:ext>
            </a:extLst>
          </p:cNvPr>
          <p:cNvSpPr>
            <a:spLocks noGrp="1"/>
          </p:cNvSpPr>
          <p:nvPr>
            <p:ph type="title"/>
          </p:nvPr>
        </p:nvSpPr>
        <p:spPr/>
        <p:txBody>
          <a:bodyPr/>
          <a:lstStyle/>
          <a:p>
            <a:r>
              <a:rPr lang="en-US" altLang="zh-TW" dirty="0"/>
              <a:t>Test Data (3/3)</a:t>
            </a:r>
            <a:endParaRPr lang="zh-TW" altLang="en-US" dirty="0"/>
          </a:p>
        </p:txBody>
      </p:sp>
      <p:sp>
        <p:nvSpPr>
          <p:cNvPr id="4" name="投影片編號版面配置區 3">
            <a:extLst>
              <a:ext uri="{FF2B5EF4-FFF2-40B4-BE49-F238E27FC236}">
                <a16:creationId xmlns:a16="http://schemas.microsoft.com/office/drawing/2014/main" id="{77B42F37-5547-49F4-805C-A56F11061923}"/>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pic>
        <p:nvPicPr>
          <p:cNvPr id="6" name="內容版面配置區 5">
            <a:extLst>
              <a:ext uri="{FF2B5EF4-FFF2-40B4-BE49-F238E27FC236}">
                <a16:creationId xmlns:a16="http://schemas.microsoft.com/office/drawing/2014/main" id="{ABA42FEC-F455-4DE3-B5D1-BA7061E1036A}"/>
              </a:ext>
            </a:extLst>
          </p:cNvPr>
          <p:cNvPicPr>
            <a:picLocks noGrp="1" noChangeAspect="1"/>
          </p:cNvPicPr>
          <p:nvPr>
            <p:ph idx="1"/>
          </p:nvPr>
        </p:nvPicPr>
        <p:blipFill>
          <a:blip r:embed="rId2"/>
          <a:stretch>
            <a:fillRect/>
          </a:stretch>
        </p:blipFill>
        <p:spPr>
          <a:xfrm>
            <a:off x="247650" y="2971802"/>
            <a:ext cx="5848350" cy="2819400"/>
          </a:xfrm>
          <a:prstGeom prst="rect">
            <a:avLst/>
          </a:prstGeom>
        </p:spPr>
      </p:pic>
      <p:pic>
        <p:nvPicPr>
          <p:cNvPr id="8" name="圖片 7">
            <a:extLst>
              <a:ext uri="{FF2B5EF4-FFF2-40B4-BE49-F238E27FC236}">
                <a16:creationId xmlns:a16="http://schemas.microsoft.com/office/drawing/2014/main" id="{BE3951DC-64C7-4E21-822B-C40E77D61248}"/>
              </a:ext>
            </a:extLst>
          </p:cNvPr>
          <p:cNvPicPr>
            <a:picLocks noChangeAspect="1"/>
          </p:cNvPicPr>
          <p:nvPr/>
        </p:nvPicPr>
        <p:blipFill>
          <a:blip r:embed="rId3"/>
          <a:stretch>
            <a:fillRect/>
          </a:stretch>
        </p:blipFill>
        <p:spPr>
          <a:xfrm>
            <a:off x="5698167" y="2810670"/>
            <a:ext cx="6246183" cy="2425702"/>
          </a:xfrm>
          <a:prstGeom prst="rect">
            <a:avLst/>
          </a:prstGeom>
        </p:spPr>
      </p:pic>
    </p:spTree>
    <p:extLst>
      <p:ext uri="{BB962C8B-B14F-4D97-AF65-F5344CB8AC3E}">
        <p14:creationId xmlns:p14="http://schemas.microsoft.com/office/powerpoint/2010/main" val="1930399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4CDFE3-1703-42A7-A56A-1E8601A02299}"/>
              </a:ext>
            </a:extLst>
          </p:cNvPr>
          <p:cNvSpPr>
            <a:spLocks noGrp="1"/>
          </p:cNvSpPr>
          <p:nvPr>
            <p:ph type="title"/>
          </p:nvPr>
        </p:nvSpPr>
        <p:spPr/>
        <p:txBody>
          <a:bodyPr/>
          <a:lstStyle/>
          <a:p>
            <a:r>
              <a:rPr lang="en-US" altLang="zh-TW" dirty="0"/>
              <a:t>Result (1/4)</a:t>
            </a:r>
            <a:endParaRPr lang="zh-TW" altLang="en-US" dirty="0"/>
          </a:p>
        </p:txBody>
      </p:sp>
      <p:sp>
        <p:nvSpPr>
          <p:cNvPr id="4" name="投影片編號版面配置區 3">
            <a:extLst>
              <a:ext uri="{FF2B5EF4-FFF2-40B4-BE49-F238E27FC236}">
                <a16:creationId xmlns:a16="http://schemas.microsoft.com/office/drawing/2014/main" id="{F2092FE8-E7F5-49CF-9C4D-EAF6D3104595}"/>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pic>
        <p:nvPicPr>
          <p:cNvPr id="8" name="內容版面配置區 7">
            <a:extLst>
              <a:ext uri="{FF2B5EF4-FFF2-40B4-BE49-F238E27FC236}">
                <a16:creationId xmlns:a16="http://schemas.microsoft.com/office/drawing/2014/main" id="{B71C4424-77BC-427D-A2C4-FBBE3F302CB0}"/>
              </a:ext>
            </a:extLst>
          </p:cNvPr>
          <p:cNvPicPr>
            <a:picLocks noGrp="1" noChangeAspect="1"/>
          </p:cNvPicPr>
          <p:nvPr>
            <p:ph idx="1"/>
          </p:nvPr>
        </p:nvPicPr>
        <p:blipFill>
          <a:blip r:embed="rId2"/>
          <a:stretch>
            <a:fillRect/>
          </a:stretch>
        </p:blipFill>
        <p:spPr>
          <a:xfrm>
            <a:off x="1639755" y="2174530"/>
            <a:ext cx="8912489" cy="4033389"/>
          </a:xfrm>
          <a:prstGeom prst="rect">
            <a:avLst/>
          </a:prstGeom>
        </p:spPr>
      </p:pic>
    </p:spTree>
    <p:extLst>
      <p:ext uri="{BB962C8B-B14F-4D97-AF65-F5344CB8AC3E}">
        <p14:creationId xmlns:p14="http://schemas.microsoft.com/office/powerpoint/2010/main" val="395399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F99D5F-D0FA-4C68-BA4B-50CAE69243FD}"/>
              </a:ext>
            </a:extLst>
          </p:cNvPr>
          <p:cNvSpPr>
            <a:spLocks noGrp="1"/>
          </p:cNvSpPr>
          <p:nvPr>
            <p:ph type="title"/>
          </p:nvPr>
        </p:nvSpPr>
        <p:spPr/>
        <p:txBody>
          <a:bodyPr/>
          <a:lstStyle/>
          <a:p>
            <a:r>
              <a:rPr lang="en-US" altLang="zh-TW" dirty="0"/>
              <a:t>Result (2/4)</a:t>
            </a:r>
            <a:endParaRPr lang="zh-TW" altLang="en-US" dirty="0"/>
          </a:p>
        </p:txBody>
      </p:sp>
      <p:pic>
        <p:nvPicPr>
          <p:cNvPr id="5" name="內容版面配置區 4">
            <a:extLst>
              <a:ext uri="{FF2B5EF4-FFF2-40B4-BE49-F238E27FC236}">
                <a16:creationId xmlns:a16="http://schemas.microsoft.com/office/drawing/2014/main" id="{84DFF1AB-1AE3-4949-A5E8-A252A4D364B9}"/>
              </a:ext>
            </a:extLst>
          </p:cNvPr>
          <p:cNvPicPr>
            <a:picLocks noGrp="1" noChangeAspect="1"/>
          </p:cNvPicPr>
          <p:nvPr>
            <p:ph idx="1"/>
          </p:nvPr>
        </p:nvPicPr>
        <p:blipFill>
          <a:blip r:embed="rId2"/>
          <a:stretch>
            <a:fillRect/>
          </a:stretch>
        </p:blipFill>
        <p:spPr>
          <a:xfrm>
            <a:off x="1509812" y="1844411"/>
            <a:ext cx="9172375" cy="4358219"/>
          </a:xfrm>
          <a:prstGeom prst="rect">
            <a:avLst/>
          </a:prstGeom>
        </p:spPr>
      </p:pic>
      <p:sp>
        <p:nvSpPr>
          <p:cNvPr id="4" name="投影片編號版面配置區 3">
            <a:extLst>
              <a:ext uri="{FF2B5EF4-FFF2-40B4-BE49-F238E27FC236}">
                <a16:creationId xmlns:a16="http://schemas.microsoft.com/office/drawing/2014/main" id="{35EF391F-15CD-4C87-8EB4-9663B729AE47}"/>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spTree>
    <p:extLst>
      <p:ext uri="{BB962C8B-B14F-4D97-AF65-F5344CB8AC3E}">
        <p14:creationId xmlns:p14="http://schemas.microsoft.com/office/powerpoint/2010/main" val="2815897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CE233F-591D-498D-B8EC-C74D3EEDE409}"/>
              </a:ext>
            </a:extLst>
          </p:cNvPr>
          <p:cNvSpPr>
            <a:spLocks noGrp="1"/>
          </p:cNvSpPr>
          <p:nvPr>
            <p:ph type="title"/>
          </p:nvPr>
        </p:nvSpPr>
        <p:spPr/>
        <p:txBody>
          <a:bodyPr/>
          <a:lstStyle/>
          <a:p>
            <a:r>
              <a:rPr lang="en-US" altLang="zh-TW" dirty="0"/>
              <a:t>Result (3/4)</a:t>
            </a:r>
            <a:endParaRPr lang="zh-TW" altLang="en-US" dirty="0"/>
          </a:p>
        </p:txBody>
      </p:sp>
      <p:pic>
        <p:nvPicPr>
          <p:cNvPr id="5" name="內容版面配置區 4">
            <a:extLst>
              <a:ext uri="{FF2B5EF4-FFF2-40B4-BE49-F238E27FC236}">
                <a16:creationId xmlns:a16="http://schemas.microsoft.com/office/drawing/2014/main" id="{D2DFDBC8-C354-4C3E-9E17-0673D53DC6D8}"/>
              </a:ext>
            </a:extLst>
          </p:cNvPr>
          <p:cNvPicPr>
            <a:picLocks noGrp="1" noChangeAspect="1"/>
          </p:cNvPicPr>
          <p:nvPr>
            <p:ph idx="1"/>
          </p:nvPr>
        </p:nvPicPr>
        <p:blipFill>
          <a:blip r:embed="rId2"/>
          <a:stretch>
            <a:fillRect/>
          </a:stretch>
        </p:blipFill>
        <p:spPr>
          <a:xfrm>
            <a:off x="1540933" y="1690690"/>
            <a:ext cx="9110133" cy="4632931"/>
          </a:xfrm>
          <a:prstGeom prst="rect">
            <a:avLst/>
          </a:prstGeom>
        </p:spPr>
      </p:pic>
      <p:sp>
        <p:nvSpPr>
          <p:cNvPr id="4" name="投影片編號版面配置區 3">
            <a:extLst>
              <a:ext uri="{FF2B5EF4-FFF2-40B4-BE49-F238E27FC236}">
                <a16:creationId xmlns:a16="http://schemas.microsoft.com/office/drawing/2014/main" id="{6173DDA5-0A99-4FFD-B60F-493C8AA0E0D8}"/>
              </a:ext>
            </a:extLst>
          </p:cNvPr>
          <p:cNvSpPr>
            <a:spLocks noGrp="1"/>
          </p:cNvSpPr>
          <p:nvPr>
            <p:ph type="sldNum" sz="quarter" idx="12"/>
          </p:nvPr>
        </p:nvSpPr>
        <p:spPr/>
        <p:txBody>
          <a:bodyPr/>
          <a:lstStyle/>
          <a:p>
            <a:fld id="{8DCCD063-7F18-423D-A692-CC9D343FD360}" type="slidenum">
              <a:rPr lang="zh-TW" altLang="en-US" smtClean="0"/>
              <a:t>12</a:t>
            </a:fld>
            <a:endParaRPr lang="zh-TW" altLang="en-US"/>
          </a:p>
        </p:txBody>
      </p:sp>
    </p:spTree>
    <p:extLst>
      <p:ext uri="{BB962C8B-B14F-4D97-AF65-F5344CB8AC3E}">
        <p14:creationId xmlns:p14="http://schemas.microsoft.com/office/powerpoint/2010/main" val="1332004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55C48B-5CEF-460A-AFFA-6D737F952CAF}"/>
              </a:ext>
            </a:extLst>
          </p:cNvPr>
          <p:cNvSpPr>
            <a:spLocks noGrp="1"/>
          </p:cNvSpPr>
          <p:nvPr>
            <p:ph type="title"/>
          </p:nvPr>
        </p:nvSpPr>
        <p:spPr/>
        <p:txBody>
          <a:bodyPr/>
          <a:lstStyle/>
          <a:p>
            <a:r>
              <a:rPr lang="en-US" altLang="zh-TW" dirty="0"/>
              <a:t>Result (4/4)</a:t>
            </a:r>
            <a:endParaRPr lang="zh-TW" altLang="en-US" dirty="0"/>
          </a:p>
        </p:txBody>
      </p:sp>
      <p:pic>
        <p:nvPicPr>
          <p:cNvPr id="5" name="內容版面配置區 4">
            <a:extLst>
              <a:ext uri="{FF2B5EF4-FFF2-40B4-BE49-F238E27FC236}">
                <a16:creationId xmlns:a16="http://schemas.microsoft.com/office/drawing/2014/main" id="{7AD4122B-031F-4F98-A736-A8009DB37DE5}"/>
              </a:ext>
            </a:extLst>
          </p:cNvPr>
          <p:cNvPicPr>
            <a:picLocks noGrp="1" noChangeAspect="1"/>
          </p:cNvPicPr>
          <p:nvPr>
            <p:ph idx="1"/>
          </p:nvPr>
        </p:nvPicPr>
        <p:blipFill>
          <a:blip r:embed="rId2"/>
          <a:stretch>
            <a:fillRect/>
          </a:stretch>
        </p:blipFill>
        <p:spPr>
          <a:xfrm>
            <a:off x="1219200" y="2488430"/>
            <a:ext cx="9042399" cy="3867922"/>
          </a:xfrm>
          <a:prstGeom prst="rect">
            <a:avLst/>
          </a:prstGeom>
        </p:spPr>
      </p:pic>
      <p:sp>
        <p:nvSpPr>
          <p:cNvPr id="4" name="投影片編號版面配置區 3">
            <a:extLst>
              <a:ext uri="{FF2B5EF4-FFF2-40B4-BE49-F238E27FC236}">
                <a16:creationId xmlns:a16="http://schemas.microsoft.com/office/drawing/2014/main" id="{21352BD9-CBC1-4B67-AEB9-642FA594D783}"/>
              </a:ext>
            </a:extLst>
          </p:cNvPr>
          <p:cNvSpPr>
            <a:spLocks noGrp="1"/>
          </p:cNvSpPr>
          <p:nvPr>
            <p:ph type="sldNum" sz="quarter" idx="12"/>
          </p:nvPr>
        </p:nvSpPr>
        <p:spPr/>
        <p:txBody>
          <a:bodyPr/>
          <a:lstStyle/>
          <a:p>
            <a:fld id="{8DCCD063-7F18-423D-A692-CC9D343FD360}" type="slidenum">
              <a:rPr lang="zh-TW" altLang="en-US" smtClean="0"/>
              <a:t>13</a:t>
            </a:fld>
            <a:endParaRPr lang="zh-TW" altLang="en-US"/>
          </a:p>
        </p:txBody>
      </p:sp>
      <p:pic>
        <p:nvPicPr>
          <p:cNvPr id="6" name="圖片 5">
            <a:extLst>
              <a:ext uri="{FF2B5EF4-FFF2-40B4-BE49-F238E27FC236}">
                <a16:creationId xmlns:a16="http://schemas.microsoft.com/office/drawing/2014/main" id="{7AAF8A38-8FB8-43CA-88EB-4349CD0F6BB6}"/>
              </a:ext>
            </a:extLst>
          </p:cNvPr>
          <p:cNvPicPr>
            <a:picLocks noChangeAspect="1"/>
          </p:cNvPicPr>
          <p:nvPr/>
        </p:nvPicPr>
        <p:blipFill>
          <a:blip r:embed="rId3"/>
          <a:stretch>
            <a:fillRect/>
          </a:stretch>
        </p:blipFill>
        <p:spPr>
          <a:xfrm>
            <a:off x="4866002" y="842965"/>
            <a:ext cx="6430472" cy="1280340"/>
          </a:xfrm>
          <a:prstGeom prst="rect">
            <a:avLst/>
          </a:prstGeom>
        </p:spPr>
      </p:pic>
    </p:spTree>
    <p:extLst>
      <p:ext uri="{BB962C8B-B14F-4D97-AF65-F5344CB8AC3E}">
        <p14:creationId xmlns:p14="http://schemas.microsoft.com/office/powerpoint/2010/main" val="367369440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14538</TotalTime>
  <Words>372</Words>
  <Application>Microsoft Office PowerPoint</Application>
  <PresentationFormat>寬螢幕</PresentationFormat>
  <Paragraphs>37</Paragraphs>
  <Slides>13</Slides>
  <Notes>3</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13</vt:i4>
      </vt:variant>
    </vt:vector>
  </HeadingPairs>
  <TitlesOfParts>
    <vt:vector size="19" baseType="lpstr">
      <vt:lpstr>微軟正黑體</vt:lpstr>
      <vt:lpstr>新細明體</vt:lpstr>
      <vt:lpstr>Arial</vt:lpstr>
      <vt:lpstr>Calibri</vt:lpstr>
      <vt:lpstr>Tw Cen MT</vt:lpstr>
      <vt:lpstr>Office 佈景主題</vt:lpstr>
      <vt:lpstr>liteDTW: A lightweight dynamic time warping for tiny wireless sensing devices</vt:lpstr>
      <vt:lpstr>Abstract (1/2)</vt:lpstr>
      <vt:lpstr>Abstract (2/2)</vt:lpstr>
      <vt:lpstr>DTW</vt:lpstr>
      <vt:lpstr>liteDTW</vt:lpstr>
      <vt:lpstr>Fuzzy Abstraction</vt:lpstr>
      <vt:lpstr>Test Data (1/3)</vt:lpstr>
      <vt:lpstr>Test Data (2/3)</vt:lpstr>
      <vt:lpstr>Test Data (3/3)</vt:lpstr>
      <vt:lpstr>Result (1/4)</vt:lpstr>
      <vt:lpstr>Result (2/4)</vt:lpstr>
      <vt:lpstr>Result (3/4)</vt:lpstr>
      <vt:lpstr>Result (4/4)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 </cp:lastModifiedBy>
  <cp:revision>382</cp:revision>
  <dcterms:created xsi:type="dcterms:W3CDTF">2017-10-09T09:38:00Z</dcterms:created>
  <dcterms:modified xsi:type="dcterms:W3CDTF">2018-06-19T10:17:42Z</dcterms:modified>
</cp:coreProperties>
</file>