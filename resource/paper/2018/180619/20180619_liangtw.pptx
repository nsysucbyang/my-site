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65" r:id="rId4"/>
    <p:sldId id="271" r:id="rId5"/>
    <p:sldId id="273" r:id="rId6"/>
    <p:sldId id="272" r:id="rId7"/>
    <p:sldId id="276" r:id="rId8"/>
    <p:sldId id="277" r:id="rId9"/>
    <p:sldId id="278" r:id="rId10"/>
    <p:sldId id="275" r:id="rId11"/>
    <p:sldId id="279" r:id="rId12"/>
    <p:sldId id="280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88876" autoAdjust="0"/>
  </p:normalViewPr>
  <p:slideViewPr>
    <p:cSldViewPr snapToGrid="0">
      <p:cViewPr varScale="1">
        <p:scale>
          <a:sx n="75" d="100"/>
          <a:sy n="75" d="100"/>
        </p:scale>
        <p:origin x="960" y="6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782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2018/6/19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9448" y="243280"/>
            <a:ext cx="8905101" cy="1253695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Palindromic Factorization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98315" y="1986748"/>
            <a:ext cx="8547366" cy="3573055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Ali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Alatabbi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Costas S. Iliopoulos, and M.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Sohel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Rahman</a:t>
            </a:r>
          </a:p>
          <a:p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Informatics, King’s College London, London WC2R 2LS, United Kingdom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AℓEDA Group, Department of CSE, BUET, Dhaka-1000, Bangladesh</a:t>
            </a:r>
          </a:p>
          <a:p>
            <a:endParaRPr lang="en-US" altLang="zh-TW" sz="16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Proceedings of the Prague </a:t>
            </a:r>
            <a:r>
              <a:rPr lang="en-US" altLang="zh-TW" sz="2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Stringology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Conference (2012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), August 27–28</a:t>
            </a: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Ting-Wei Liang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2018/06/19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04151" y="1690689"/>
            <a:ext cx="7811199" cy="441494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palindrome is a symmetric string, phrase, number, or other sequence of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 sequence that reads the same forward and backward. We present an algorithm for maximal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factorization of a finite string by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an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Gusfield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detecting all occurrences of maximal palindromes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string in linear time to the length of the given string then using the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(BFS) to find the maximal palindromic factorization set.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704151" y="1690689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	A factorization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𝒮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refers to a decomposition of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zh-TW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𝒮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ℓ is minimum. In this context the set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𝒮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referred to as the factorization set. In this paper, we tackle the following problem. Given a string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the maximal palindromic factorization of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that is a factorization of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the factorization set is the set of all center-distinct maximal palindromes of a string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  <m:r>
                      <a:rPr lang="zh-TW" alt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4151" y="1690689"/>
                <a:ext cx="7886700" cy="4351338"/>
              </a:xfrm>
              <a:blipFill>
                <a:blip r:embed="rId3"/>
                <a:stretch>
                  <a:fillRect t="-2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043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20" y="302004"/>
            <a:ext cx="8355959" cy="126034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="" xmlns:a16="http://schemas.microsoft.com/office/drawing/2014/main" id="{5E861882-5D2B-43C6-B2AB-9748E7DC4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𝑎𝑏𝑏</m:t>
                      </m:r>
                      <m:r>
                        <a:rPr lang="en-US" altLang="zh-TW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𝑐𝑏𝑏𝑐</m:t>
                      </m:r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𝑏𝑏𝑏𝑐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𝑏𝑏</m:t>
                      </m:r>
                    </m:oMath>
                  </m:oMathPara>
                </a14:m>
                <a:endParaRPr lang="en-US" altLang="zh-TW" b="0" dirty="0"/>
              </a:p>
              <a:p>
                <a:pPr marL="0" indent="0">
                  <a:buNone/>
                </a:pPr>
                <a:endParaRPr lang="en-US" altLang="zh-TW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𝑎𝑏𝑏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𝑐𝑏𝑏𝑐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𝑏𝑏𝑏𝑐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𝑏𝑏</m:t>
                      </m:r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 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𝑎𝑏𝑏𝑐𝑏𝑏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𝑐𝑏𝑏𝑏𝑐𝑏𝑏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sz="2400" dirty="0"/>
                  <a:t>            (1,3),  (4,7) , (8,11) ,(12,13) , (1,6)       ,  (7,13)</a:t>
                </a:r>
              </a:p>
              <a:p>
                <a:pPr marL="0" indent="0">
                  <a:buNone/>
                </a:pPr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𝐹𝑎𝑐𝑡𝑜𝑟𝑖𝑧𝑎𝑡𝑖𝑜𝑛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5E861882-5D2B-43C6-B2AB-9748E7DC4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3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748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="" xmlns:a16="http://schemas.microsoft.com/office/drawing/2014/main" id="{D905308C-FFCE-47D4-A8B1-350B0D42E48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117446" y="385894"/>
                <a:ext cx="9378892" cy="126034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Center-distinct maximal palindromes</a:t>
                </a:r>
                <a:b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  <m:r>
                      <a:rPr lang="zh-TW" altLang="en-US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</m:oMath>
                </a14:m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905308C-FFCE-47D4-A8B1-350B0D42E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117446" y="385894"/>
                <a:ext cx="9378892" cy="1260343"/>
              </a:xfrm>
              <a:blipFill>
                <a:blip r:embed="rId2"/>
                <a:stretch>
                  <a:fillRect t="-10628" b="-178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>
                <a:extLst>
                  <a:ext uri="{FF2B5EF4-FFF2-40B4-BE49-F238E27FC236}">
                    <a16:creationId xmlns="" xmlns:a16="http://schemas.microsoft.com/office/drawing/2014/main" id="{F8C8637F-6481-4C9A-A0A8-9A0050F41C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𝑐𝑒𝑛𝑡𝑒𝑟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ℳ</m:t>
                      </m:r>
                      <m:r>
                        <a:rPr lang="zh-TW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𝒫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={2,9}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F8C8637F-6481-4C9A-A0A8-9A0050F41C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內容版面配置區 2">
            <a:extLst>
              <a:ext uri="{FF2B5EF4-FFF2-40B4-BE49-F238E27FC236}">
                <a16:creationId xmlns="" xmlns:a16="http://schemas.microsoft.com/office/drawing/2014/main" id="{1545E1C4-20A2-4C14-A942-0E4BF496DA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290227"/>
              </p:ext>
            </p:extLst>
          </p:nvPr>
        </p:nvGraphicFramePr>
        <p:xfrm>
          <a:off x="628650" y="4647502"/>
          <a:ext cx="7886697" cy="485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669">
                  <a:extLst>
                    <a:ext uri="{9D8B030D-6E8A-4147-A177-3AD203B41FA5}">
                      <a16:colId xmlns="" xmlns:a16="http://schemas.microsoft.com/office/drawing/2014/main" val="3923019366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4261875423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139382229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2421945285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43093879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3154286316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1150783400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2435149369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3986917179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776990415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4051193734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362209777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1474149708"/>
                    </a:ext>
                  </a:extLst>
                </a:gridCol>
              </a:tblGrid>
              <a:tr h="485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73376328"/>
                  </a:ext>
                </a:extLst>
              </a:tr>
            </a:tbl>
          </a:graphicData>
        </a:graphic>
      </p:graphicFrame>
      <p:sp>
        <p:nvSpPr>
          <p:cNvPr id="9" name="箭號: 向下 8">
            <a:extLst>
              <a:ext uri="{FF2B5EF4-FFF2-40B4-BE49-F238E27FC236}">
                <a16:creationId xmlns="" xmlns:a16="http://schemas.microsoft.com/office/drawing/2014/main" id="{C697905F-7D64-4D80-B2B6-5BCA35819091}"/>
              </a:ext>
            </a:extLst>
          </p:cNvPr>
          <p:cNvSpPr/>
          <p:nvPr/>
        </p:nvSpPr>
        <p:spPr>
          <a:xfrm>
            <a:off x="5679344" y="2537566"/>
            <a:ext cx="201336" cy="48511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" name="內容版面配置區 2">
            <a:extLst>
              <a:ext uri="{FF2B5EF4-FFF2-40B4-BE49-F238E27FC236}">
                <a16:creationId xmlns="" xmlns:a16="http://schemas.microsoft.com/office/drawing/2014/main" id="{B423CBEF-DBC1-4C4E-9DBC-B9D3036040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3467305"/>
              </p:ext>
            </p:extLst>
          </p:nvPr>
        </p:nvGraphicFramePr>
        <p:xfrm>
          <a:off x="628650" y="3112371"/>
          <a:ext cx="7886697" cy="4851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669">
                  <a:extLst>
                    <a:ext uri="{9D8B030D-6E8A-4147-A177-3AD203B41FA5}">
                      <a16:colId xmlns="" xmlns:a16="http://schemas.microsoft.com/office/drawing/2014/main" val="3923019366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4261875423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139382229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2421945285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43093879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3154286316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1150783400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2435149369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3986917179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776990415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4051193734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362209777"/>
                    </a:ext>
                  </a:extLst>
                </a:gridCol>
                <a:gridCol w="606669">
                  <a:extLst>
                    <a:ext uri="{9D8B030D-6E8A-4147-A177-3AD203B41FA5}">
                      <a16:colId xmlns="" xmlns:a16="http://schemas.microsoft.com/office/drawing/2014/main" val="1474149708"/>
                    </a:ext>
                  </a:extLst>
                </a:gridCol>
              </a:tblGrid>
              <a:tr h="4851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b</a:t>
                      </a:r>
                      <a:endParaRPr lang="zh-TW" altLang="en-US" sz="2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73376328"/>
                  </a:ext>
                </a:extLst>
              </a:tr>
            </a:tbl>
          </a:graphicData>
        </a:graphic>
      </p:graphicFrame>
      <p:sp>
        <p:nvSpPr>
          <p:cNvPr id="11" name="箭號: 向下 10">
            <a:extLst>
              <a:ext uri="{FF2B5EF4-FFF2-40B4-BE49-F238E27FC236}">
                <a16:creationId xmlns="" xmlns:a16="http://schemas.microsoft.com/office/drawing/2014/main" id="{EF929B64-12FB-4589-90FE-B6D5EADA2C22}"/>
              </a:ext>
            </a:extLst>
          </p:cNvPr>
          <p:cNvSpPr/>
          <p:nvPr/>
        </p:nvSpPr>
        <p:spPr>
          <a:xfrm>
            <a:off x="5679344" y="4072697"/>
            <a:ext cx="201336" cy="485111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395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20" y="302004"/>
            <a:ext cx="8355959" cy="126034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Palindromic Factorization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79151"/>
            <a:ext cx="2057400" cy="365125"/>
          </a:xfrm>
        </p:spPr>
        <p:txBody>
          <a:bodyPr/>
          <a:lstStyle/>
          <a:p>
            <a:fld id="{B9CF4E80-5859-4E39-A40B-ED9B772D8B0F}" type="slidenum">
              <a:rPr lang="zh-TW" altLang="en-US" smtClean="0"/>
              <a:t>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="" xmlns:a16="http://schemas.microsoft.com/office/drawing/2014/main" id="{5E861882-5D2B-43C6-B2AB-9748E7DC4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40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4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𝑎𝑏𝑏𝑐𝑏</m:t>
                      </m:r>
                      <m:r>
                        <a:rPr lang="en-US" altLang="zh-TW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𝑏𝑐𝑏𝑏𝑏𝑐</m:t>
                      </m:r>
                      <m:r>
                        <a:rPr lang="en-US" altLang="zh-TW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𝑏𝑏</m:t>
                      </m:r>
                    </m:oMath>
                  </m:oMathPara>
                </a14:m>
                <a:endParaRPr lang="en-US" altLang="zh-TW" sz="4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𝐹𝑎𝑐𝑡𝑜𝑟𝑖𝑧𝑎𝑡𝑖𝑜𝑛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𝑏𝑏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𝑏𝑏𝑐𝑏𝑏𝑏𝑐𝑏𝑏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5E861882-5D2B-43C6-B2AB-9748E7DC4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3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>
            <a:extLst>
              <a:ext uri="{FF2B5EF4-FFF2-40B4-BE49-F238E27FC236}">
                <a16:creationId xmlns="" xmlns:a16="http://schemas.microsoft.com/office/drawing/2014/main" id="{27594E3D-0058-48AB-A73D-370145342B31}"/>
              </a:ext>
            </a:extLst>
          </p:cNvPr>
          <p:cNvCxnSpPr>
            <a:cxnSpLocks/>
          </p:cNvCxnSpPr>
          <p:nvPr/>
        </p:nvCxnSpPr>
        <p:spPr>
          <a:xfrm>
            <a:off x="3271706" y="2499919"/>
            <a:ext cx="26844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="" xmlns:a16="http://schemas.microsoft.com/office/drawing/2014/main" id="{CEBFC0AA-9447-49A3-B1C4-FDE4FC6CABBF}"/>
                  </a:ext>
                </a:extLst>
              </p:cNvPr>
              <p:cNvSpPr txBox="1"/>
              <p:nvPr/>
            </p:nvSpPr>
            <p:spPr>
              <a:xfrm>
                <a:off x="2382473" y="2315253"/>
                <a:ext cx="6627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EBFC0AA-9447-49A3-B1C4-FDE4FC6CA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2473" y="2315253"/>
                <a:ext cx="662731" cy="369332"/>
              </a:xfrm>
              <a:prstGeom prst="rect">
                <a:avLst/>
              </a:prstGeom>
              <a:blipFill>
                <a:blip r:embed="rId3"/>
                <a:stretch>
                  <a:fillRect r="-37615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接點 12">
            <a:extLst>
              <a:ext uri="{FF2B5EF4-FFF2-40B4-BE49-F238E27FC236}">
                <a16:creationId xmlns="" xmlns:a16="http://schemas.microsoft.com/office/drawing/2014/main" id="{F241544E-1957-420A-95F5-9D30694CA341}"/>
              </a:ext>
            </a:extLst>
          </p:cNvPr>
          <p:cNvCxnSpPr>
            <a:cxnSpLocks/>
          </p:cNvCxnSpPr>
          <p:nvPr/>
        </p:nvCxnSpPr>
        <p:spPr>
          <a:xfrm>
            <a:off x="3598877" y="2752116"/>
            <a:ext cx="478173" cy="1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="" xmlns:a16="http://schemas.microsoft.com/office/drawing/2014/main" id="{BF960F60-3930-4167-896D-E355586D0ED4}"/>
                  </a:ext>
                </a:extLst>
              </p:cNvPr>
              <p:cNvSpPr txBox="1"/>
              <p:nvPr/>
            </p:nvSpPr>
            <p:spPr>
              <a:xfrm>
                <a:off x="2713838" y="2578531"/>
                <a:ext cx="82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F960F60-3930-4167-896D-E355586D0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838" y="2578531"/>
                <a:ext cx="826316" cy="369332"/>
              </a:xfrm>
              <a:prstGeom prst="rect">
                <a:avLst/>
              </a:prstGeom>
              <a:blipFill>
                <a:blip r:embed="rId4"/>
                <a:stretch>
                  <a:fillRect r="-11029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接點 16">
            <a:extLst>
              <a:ext uri="{FF2B5EF4-FFF2-40B4-BE49-F238E27FC236}">
                <a16:creationId xmlns="" xmlns:a16="http://schemas.microsoft.com/office/drawing/2014/main" id="{934D2916-9638-4AE5-B005-BDEAE658B701}"/>
              </a:ext>
            </a:extLst>
          </p:cNvPr>
          <p:cNvCxnSpPr>
            <a:cxnSpLocks/>
          </p:cNvCxnSpPr>
          <p:nvPr/>
        </p:nvCxnSpPr>
        <p:spPr>
          <a:xfrm>
            <a:off x="3842857" y="1760476"/>
            <a:ext cx="234193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="" xmlns:a16="http://schemas.microsoft.com/office/drawing/2014/main" id="{59EF828B-F5BB-4E84-880D-3532A349FB1B}"/>
                  </a:ext>
                </a:extLst>
              </p:cNvPr>
              <p:cNvSpPr txBox="1"/>
              <p:nvPr/>
            </p:nvSpPr>
            <p:spPr>
              <a:xfrm>
                <a:off x="2858548" y="1586890"/>
                <a:ext cx="82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9EF828B-F5BB-4E84-880D-3532A349F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548" y="1586890"/>
                <a:ext cx="826316" cy="369332"/>
              </a:xfrm>
              <a:prstGeom prst="rect">
                <a:avLst/>
              </a:prstGeom>
              <a:blipFill>
                <a:blip r:embed="rId5"/>
                <a:stretch>
                  <a:fillRect r="-11111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接點 23">
            <a:extLst>
              <a:ext uri="{FF2B5EF4-FFF2-40B4-BE49-F238E27FC236}">
                <a16:creationId xmlns="" xmlns:a16="http://schemas.microsoft.com/office/drawing/2014/main" id="{9BF495F7-F0A1-4C98-A8E3-14E8C6EAABC2}"/>
              </a:ext>
            </a:extLst>
          </p:cNvPr>
          <p:cNvCxnSpPr>
            <a:cxnSpLocks/>
          </p:cNvCxnSpPr>
          <p:nvPr/>
        </p:nvCxnSpPr>
        <p:spPr>
          <a:xfrm>
            <a:off x="3598877" y="3122229"/>
            <a:ext cx="1275127" cy="0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="" xmlns:a16="http://schemas.microsoft.com/office/drawing/2014/main" id="{B0393F22-C4F6-40FB-8785-00CA8FE81FF4}"/>
                  </a:ext>
                </a:extLst>
              </p:cNvPr>
              <p:cNvSpPr txBox="1"/>
              <p:nvPr/>
            </p:nvSpPr>
            <p:spPr>
              <a:xfrm>
                <a:off x="2772561" y="2937459"/>
                <a:ext cx="82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0393F22-C4F6-40FB-8785-00CA8FE81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561" y="2937459"/>
                <a:ext cx="826316" cy="369332"/>
              </a:xfrm>
              <a:prstGeom prst="rect">
                <a:avLst/>
              </a:prstGeom>
              <a:blipFill>
                <a:blip r:embed="rId6"/>
                <a:stretch>
                  <a:fillRect r="-11111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接點 27">
            <a:extLst>
              <a:ext uri="{FF2B5EF4-FFF2-40B4-BE49-F238E27FC236}">
                <a16:creationId xmlns="" xmlns:a16="http://schemas.microsoft.com/office/drawing/2014/main" id="{7E551230-90F7-4971-BB58-B6694F8F8F29}"/>
              </a:ext>
            </a:extLst>
          </p:cNvPr>
          <p:cNvCxnSpPr>
            <a:cxnSpLocks/>
          </p:cNvCxnSpPr>
          <p:nvPr/>
        </p:nvCxnSpPr>
        <p:spPr>
          <a:xfrm>
            <a:off x="4387442" y="2401877"/>
            <a:ext cx="2348919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="" xmlns:a16="http://schemas.microsoft.com/office/drawing/2014/main" id="{BBB1D58D-BE56-4A01-8FAC-5B1C5A2C744C}"/>
                  </a:ext>
                </a:extLst>
              </p:cNvPr>
              <p:cNvSpPr txBox="1"/>
              <p:nvPr/>
            </p:nvSpPr>
            <p:spPr>
              <a:xfrm>
                <a:off x="6660334" y="2217211"/>
                <a:ext cx="82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[9]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BBB1D58D-BE56-4A01-8FAC-5B1C5A2C7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334" y="2217211"/>
                <a:ext cx="826316" cy="369332"/>
              </a:xfrm>
              <a:prstGeom prst="rect">
                <a:avLst/>
              </a:prstGeom>
              <a:blipFill>
                <a:blip r:embed="rId7"/>
                <a:stretch>
                  <a:fillRect r="-11111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接點 31">
            <a:extLst>
              <a:ext uri="{FF2B5EF4-FFF2-40B4-BE49-F238E27FC236}">
                <a16:creationId xmlns="" xmlns:a16="http://schemas.microsoft.com/office/drawing/2014/main" id="{1B70B022-5AC5-4D83-98D4-11C0BAD116A9}"/>
              </a:ext>
            </a:extLst>
          </p:cNvPr>
          <p:cNvCxnSpPr>
            <a:cxnSpLocks/>
          </p:cNvCxnSpPr>
          <p:nvPr/>
        </p:nvCxnSpPr>
        <p:spPr>
          <a:xfrm>
            <a:off x="5459138" y="1773619"/>
            <a:ext cx="455624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="" xmlns:a16="http://schemas.microsoft.com/office/drawing/2014/main" id="{2E1EACF4-8068-4C29-9312-0D0A696961F2}"/>
                  </a:ext>
                </a:extLst>
              </p:cNvPr>
              <p:cNvSpPr txBox="1"/>
              <p:nvPr/>
            </p:nvSpPr>
            <p:spPr>
              <a:xfrm>
                <a:off x="4571999" y="1574997"/>
                <a:ext cx="82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′[9]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E1EACF4-8068-4C29-9312-0D0A69696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1574997"/>
                <a:ext cx="826316" cy="369332"/>
              </a:xfrm>
              <a:prstGeom prst="rect">
                <a:avLst/>
              </a:prstGeom>
              <a:blipFill>
                <a:blip r:embed="rId8"/>
                <a:stretch>
                  <a:fillRect r="-16912"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箭號: 向下 36">
            <a:extLst>
              <a:ext uri="{FF2B5EF4-FFF2-40B4-BE49-F238E27FC236}">
                <a16:creationId xmlns="" xmlns:a16="http://schemas.microsoft.com/office/drawing/2014/main" id="{387EF0C4-0810-4B12-AD36-952639DB12A3}"/>
              </a:ext>
            </a:extLst>
          </p:cNvPr>
          <p:cNvSpPr/>
          <p:nvPr/>
        </p:nvSpPr>
        <p:spPr>
          <a:xfrm>
            <a:off x="4741876" y="3458508"/>
            <a:ext cx="486562" cy="656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>
            <a:extLst>
              <a:ext uri="{FF2B5EF4-FFF2-40B4-BE49-F238E27FC236}">
                <a16:creationId xmlns="" xmlns:a16="http://schemas.microsoft.com/office/drawing/2014/main" id="{04F57950-7ABF-4332-A99A-0B5100534CCF}"/>
              </a:ext>
            </a:extLst>
          </p:cNvPr>
          <p:cNvCxnSpPr>
            <a:cxnSpLocks/>
          </p:cNvCxnSpPr>
          <p:nvPr/>
        </p:nvCxnSpPr>
        <p:spPr>
          <a:xfrm>
            <a:off x="3172437" y="4429046"/>
            <a:ext cx="3563924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="" xmlns:a16="http://schemas.microsoft.com/office/drawing/2014/main" id="{F1FC75FC-DD6B-46B6-9EC3-B7479B2CE6D3}"/>
                  </a:ext>
                </a:extLst>
              </p:cNvPr>
              <p:cNvSpPr txBox="1"/>
              <p:nvPr/>
            </p:nvSpPr>
            <p:spPr>
              <a:xfrm>
                <a:off x="382495" y="4244467"/>
                <a:ext cx="29793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zh-TW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…=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1FC75FC-DD6B-46B6-9EC3-B7479B2CE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95" y="4244467"/>
                <a:ext cx="2979314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="" xmlns:a16="http://schemas.microsoft.com/office/drawing/2014/main" id="{DA0DD2B1-74F5-483C-9B0D-E7ECD7B4E928}"/>
                  </a:ext>
                </a:extLst>
              </p:cNvPr>
              <p:cNvSpPr txBox="1"/>
              <p:nvPr/>
            </p:nvSpPr>
            <p:spPr>
              <a:xfrm>
                <a:off x="6885265" y="4244380"/>
                <a:ext cx="29793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DA0DD2B1-74F5-483C-9B0D-E7ECD7B4E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265" y="4244380"/>
                <a:ext cx="297931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641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="" xmlns:a16="http://schemas.microsoft.com/office/drawing/2014/main" id="{D905308C-FFCE-47D4-A8B1-350B0D42E48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4020" y="302004"/>
                <a:ext cx="8355959" cy="126034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ℳ</m:t>
                      </m:r>
                      <m:r>
                        <a:rPr lang="zh-TW" alt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𝒫</m:t>
                      </m:r>
                      <m:r>
                        <a:rPr lang="en-US" altLang="zh-TW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&amp; </m:t>
                      </m:r>
                      <m:r>
                        <a:rPr lang="zh-TW" alt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𝒰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905308C-FFCE-47D4-A8B1-350B0D42E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4020" y="302004"/>
                <a:ext cx="8355959" cy="12603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="" xmlns:a16="http://schemas.microsoft.com/office/drawing/2014/main" id="{5E861882-5D2B-43C6-B2AB-9748E7DC4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24FAC359-03D8-4BF8-A5E3-D49310E0D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696" y="1197559"/>
            <a:ext cx="4740043" cy="4462881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A57C1870-D3CD-4DC0-802E-BBD0B67E4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946728"/>
              </p:ext>
            </p:extLst>
          </p:nvPr>
        </p:nvGraphicFramePr>
        <p:xfrm>
          <a:off x="1390651" y="5802313"/>
          <a:ext cx="6095999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923">
                  <a:extLst>
                    <a:ext uri="{9D8B030D-6E8A-4147-A177-3AD203B41FA5}">
                      <a16:colId xmlns="" xmlns:a16="http://schemas.microsoft.com/office/drawing/2014/main" val="3814868696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253990334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302079234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161885385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947004318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105123997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772815716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091016718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537912446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885247794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223061420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526054225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3817526984"/>
                    </a:ext>
                  </a:extLst>
                </a:gridCol>
              </a:tblGrid>
              <a:tr h="2828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617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743495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="" xmlns:a16="http://schemas.microsoft.com/office/drawing/2014/main" id="{A0A2A4CE-4CEC-4F79-87A2-ABE75124242E}"/>
                  </a:ext>
                </a:extLst>
              </p:cNvPr>
              <p:cNvSpPr txBox="1"/>
              <p:nvPr/>
            </p:nvSpPr>
            <p:spPr>
              <a:xfrm>
                <a:off x="3699545" y="6496120"/>
                <a:ext cx="13194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𝒰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={7}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0A2A4CE-4CEC-4F79-87A2-ABE751242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545" y="6496120"/>
                <a:ext cx="131940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366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="" xmlns:a16="http://schemas.microsoft.com/office/drawing/2014/main" id="{D905308C-FFCE-47D4-A8B1-350B0D42E48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4020" y="302004"/>
                <a:ext cx="8355959" cy="126034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ℳ</m:t>
                      </m:r>
                      <m:r>
                        <a:rPr lang="zh-TW" alt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𝒫</m:t>
                      </m:r>
                      <m:r>
                        <a:rPr lang="en-US" altLang="zh-TW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&amp; </m:t>
                      </m:r>
                      <m:r>
                        <a:rPr lang="zh-TW" alt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𝒰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905308C-FFCE-47D4-A8B1-350B0D42E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4020" y="302004"/>
                <a:ext cx="8355959" cy="12603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="" xmlns:a16="http://schemas.microsoft.com/office/drawing/2014/main" id="{5E861882-5D2B-43C6-B2AB-9748E7DC4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24FAC359-03D8-4BF8-A5E3-D49310E0D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696" y="1197559"/>
            <a:ext cx="4740043" cy="4462881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A57C1870-D3CD-4DC0-802E-BBD0B67E4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536983"/>
              </p:ext>
            </p:extLst>
          </p:nvPr>
        </p:nvGraphicFramePr>
        <p:xfrm>
          <a:off x="1390651" y="5802313"/>
          <a:ext cx="6095999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923">
                  <a:extLst>
                    <a:ext uri="{9D8B030D-6E8A-4147-A177-3AD203B41FA5}">
                      <a16:colId xmlns="" xmlns:a16="http://schemas.microsoft.com/office/drawing/2014/main" val="3814868696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253990334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302079234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161885385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947004318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105123997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772815716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091016718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537912446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885247794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223061420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526054225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3817526984"/>
                    </a:ext>
                  </a:extLst>
                </a:gridCol>
              </a:tblGrid>
              <a:tr h="2828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617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743495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="" xmlns:a16="http://schemas.microsoft.com/office/drawing/2014/main" id="{1BC3549B-BBCA-473E-A8FA-B55799DF2CE2}"/>
                  </a:ext>
                </a:extLst>
              </p:cNvPr>
              <p:cNvSpPr txBox="1"/>
              <p:nvPr/>
            </p:nvSpPr>
            <p:spPr>
              <a:xfrm>
                <a:off x="2686051" y="6496120"/>
                <a:ext cx="149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𝒰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={7,4}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BC3549B-BBCA-473E-A8FA-B55799DF2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1" y="6496120"/>
                <a:ext cx="1495730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676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="" xmlns:a16="http://schemas.microsoft.com/office/drawing/2014/main" id="{D905308C-FFCE-47D4-A8B1-350B0D42E48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4020" y="302004"/>
                <a:ext cx="8355959" cy="126034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ℳ</m:t>
                      </m:r>
                      <m:r>
                        <a:rPr lang="zh-TW" alt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𝒫</m:t>
                      </m:r>
                      <m:r>
                        <a:rPr lang="en-US" altLang="zh-TW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&amp; </m:t>
                      </m:r>
                      <m:r>
                        <a:rPr lang="zh-TW" alt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𝒰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905308C-FFCE-47D4-A8B1-350B0D42E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4020" y="302004"/>
                <a:ext cx="8355959" cy="12603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="" xmlns:a16="http://schemas.microsoft.com/office/drawing/2014/main" id="{5E861882-5D2B-43C6-B2AB-9748E7DC4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="" xmlns:a16="http://schemas.microsoft.com/office/drawing/2014/main" id="{24FAC359-03D8-4BF8-A5E3-D49310E0D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696" y="1197559"/>
            <a:ext cx="4740043" cy="4462881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A57C1870-D3CD-4DC0-802E-BBD0B67E4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821169"/>
              </p:ext>
            </p:extLst>
          </p:nvPr>
        </p:nvGraphicFramePr>
        <p:xfrm>
          <a:off x="1390651" y="5802313"/>
          <a:ext cx="6095999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923">
                  <a:extLst>
                    <a:ext uri="{9D8B030D-6E8A-4147-A177-3AD203B41FA5}">
                      <a16:colId xmlns="" xmlns:a16="http://schemas.microsoft.com/office/drawing/2014/main" val="3814868696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253990334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302079234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161885385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947004318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105123997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772815716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091016718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537912446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885247794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2223061420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1526054225"/>
                    </a:ext>
                  </a:extLst>
                </a:gridCol>
                <a:gridCol w="468923">
                  <a:extLst>
                    <a:ext uri="{9D8B030D-6E8A-4147-A177-3AD203B41FA5}">
                      <a16:colId xmlns="" xmlns:a16="http://schemas.microsoft.com/office/drawing/2014/main" val="3817526984"/>
                    </a:ext>
                  </a:extLst>
                </a:gridCol>
              </a:tblGrid>
              <a:tr h="28284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617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743495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="" xmlns:a16="http://schemas.microsoft.com/office/drawing/2014/main" id="{F5C60640-1903-4E41-ADCF-E940EF141D83}"/>
                  </a:ext>
                </a:extLst>
              </p:cNvPr>
              <p:cNvSpPr txBox="1"/>
              <p:nvPr/>
            </p:nvSpPr>
            <p:spPr>
              <a:xfrm>
                <a:off x="1300294" y="6488668"/>
                <a:ext cx="16720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𝒰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={7,4,1}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5C60640-1903-4E41-ADCF-E940EF141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294" y="6488668"/>
                <a:ext cx="1672061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66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="" xmlns:a16="http://schemas.microsoft.com/office/drawing/2014/main" id="{D905308C-FFCE-47D4-A8B1-350B0D42E48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4020" y="302004"/>
                <a:ext cx="8355959" cy="126034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ℳ</m:t>
                      </m:r>
                      <m:r>
                        <a:rPr lang="zh-TW" alt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𝒫</m:t>
                      </m:r>
                      <m:r>
                        <a:rPr lang="en-US" altLang="zh-TW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&amp; </m:t>
                      </m:r>
                      <m:r>
                        <a:rPr lang="zh-TW" alt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𝒰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905308C-FFCE-47D4-A8B1-350B0D42E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4020" y="302004"/>
                <a:ext cx="8355959" cy="12603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="" xmlns:a16="http://schemas.microsoft.com/office/drawing/2014/main" id="{5E861882-5D2B-43C6-B2AB-9748E7DC4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TW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="" xmlns:a16="http://schemas.microsoft.com/office/drawing/2014/main" id="{F65EA484-98F2-43D4-A6EE-0623BBCF6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6" y="2543932"/>
            <a:ext cx="9144000" cy="108569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0606FAB0-6082-4ED5-BAB4-DC626E850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4674422"/>
            <a:ext cx="4260537" cy="805141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="" xmlns:a16="http://schemas.microsoft.com/office/drawing/2014/main" id="{C31AA32E-AC46-47CC-9783-0365EE81F018}"/>
              </a:ext>
            </a:extLst>
          </p:cNvPr>
          <p:cNvSpPr txBox="1"/>
          <p:nvPr/>
        </p:nvSpPr>
        <p:spPr>
          <a:xfrm>
            <a:off x="34626" y="199749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="" xmlns:a16="http://schemas.microsoft.com/office/drawing/2014/main" id="{8683B476-9CE7-434D-BB83-B5A0D3218FB8}"/>
              </a:ext>
            </a:extLst>
          </p:cNvPr>
          <p:cNvSpPr txBox="1"/>
          <p:nvPr/>
        </p:nvSpPr>
        <p:spPr>
          <a:xfrm>
            <a:off x="34626" y="466368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219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="" xmlns:a16="http://schemas.microsoft.com/office/drawing/2014/main" id="{D905308C-FFCE-47D4-A8B1-350B0D42E48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4020" y="302004"/>
                <a:ext cx="8355959" cy="126034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𝒢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905308C-FFCE-47D4-A8B1-350B0D42E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4020" y="302004"/>
                <a:ext cx="8355959" cy="12603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="" xmlns:a16="http://schemas.microsoft.com/office/drawing/2014/main" id="{5E861882-5D2B-43C6-B2AB-9748E7DC4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6021" y="12668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𝑎𝑏𝑏𝑐𝑏𝑏𝑐𝑏𝑏𝑏𝑐𝑏𝑏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1≤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TW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𝒰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)[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]}=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𝐹𝑎𝑐𝑡𝑜𝑟𝑖𝑧𝑎𝑡𝑖𝑜𝑛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𝑏𝑏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𝑏𝑏𝑐𝑏𝑏𝑏𝑐𝑏𝑏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E861882-5D2B-43C6-B2AB-9748E7DC4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6021" y="1266825"/>
                <a:ext cx="7886700" cy="4351338"/>
              </a:xfrm>
              <a:blipFill rotWithShape="0">
                <a:blip r:embed="rId3"/>
                <a:stretch>
                  <a:fillRect l="-3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="" xmlns:a16="http://schemas.microsoft.com/office/drawing/2014/main" id="{87C40D05-E5E9-4821-9102-82ADD0A58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169" y="0"/>
            <a:ext cx="3144164" cy="296031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="" xmlns:a16="http://schemas.microsoft.com/office/drawing/2014/main" id="{1BE31A67-09B3-47E7-B0A4-661C582AA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516807"/>
            <a:ext cx="9144000" cy="3226861"/>
          </a:xfrm>
          <a:prstGeom prst="rect">
            <a:avLst/>
          </a:prstGeom>
        </p:spPr>
      </p:pic>
      <p:sp>
        <p:nvSpPr>
          <p:cNvPr id="5" name="橢圓 4"/>
          <p:cNvSpPr/>
          <p:nvPr/>
        </p:nvSpPr>
        <p:spPr>
          <a:xfrm>
            <a:off x="8678333" y="5254096"/>
            <a:ext cx="381000" cy="36406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0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" name="直線單箭頭接點 7"/>
          <p:cNvCxnSpPr>
            <a:endCxn id="5" idx="2"/>
          </p:cNvCxnSpPr>
          <p:nvPr/>
        </p:nvCxnSpPr>
        <p:spPr>
          <a:xfrm>
            <a:off x="8390467" y="5436129"/>
            <a:ext cx="287866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702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D905308C-FFCE-47D4-A8B1-350B0D42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020" y="302004"/>
            <a:ext cx="8355959" cy="1260343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0631806-7307-49D5-85A8-F0F518FF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12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5">
                <a:extLst>
                  <a:ext uri="{FF2B5EF4-FFF2-40B4-BE49-F238E27FC236}">
                    <a16:creationId xmlns="" xmlns:a16="http://schemas.microsoft.com/office/drawing/2014/main" id="{5E861882-5D2B-43C6-B2AB-9748E7DC4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𝐶𝑜𝑚𝑝𝑢𝑡𝑒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TW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2.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𝐶𝑜𝑚𝑝𝑢𝑡𝑒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𝑙𝑖𝑠𝑡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𝒫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&amp; 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𝒰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𝐶𝑜𝑛𝑠𝑡𝑟𝑢𝑐𝑡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𝑔𝑟𝑎𝑝h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𝐷𝑜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𝐵𝐹𝑆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內容版面配置區 5">
                <a:extLst>
                  <a:ext uri="{FF2B5EF4-FFF2-40B4-BE49-F238E27FC236}">
                    <a16:creationId xmlns:a16="http://schemas.microsoft.com/office/drawing/2014/main" id="{5E861882-5D2B-43C6-B2AB-9748E7DC4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375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39002</TotalTime>
  <Words>407</Words>
  <Application>Microsoft Office PowerPoint</Application>
  <PresentationFormat>如螢幕大小 (4:3)</PresentationFormat>
  <Paragraphs>210</Paragraphs>
  <Slides>12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Maximal Palindromic Factorization</vt:lpstr>
      <vt:lpstr>Abstract(1/2)</vt:lpstr>
      <vt:lpstr>Abstract(2/2)</vt:lpstr>
      <vt:lpstr>Factorization</vt:lpstr>
      <vt:lpstr>Center-distinct maximal palindromes (MP)</vt:lpstr>
      <vt:lpstr>Maximal Palindromic Factorization</vt:lpstr>
      <vt:lpstr>MPL(s)  &amp; U(s)</vt:lpstr>
      <vt:lpstr>MPL(s)  &amp; U(s)</vt:lpstr>
      <vt:lpstr>MPL(s)  &amp; U(s)</vt:lpstr>
      <vt:lpstr>MPL(s)  &amp; U(s)</vt:lpstr>
      <vt:lpstr>G(V,E)</vt:lpstr>
      <vt:lpstr>Time Complexity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Bebe</cp:lastModifiedBy>
  <cp:revision>490</cp:revision>
  <dcterms:created xsi:type="dcterms:W3CDTF">2016-04-23T07:31:56Z</dcterms:created>
  <dcterms:modified xsi:type="dcterms:W3CDTF">2018-06-19T10:17:25Z</dcterms:modified>
</cp:coreProperties>
</file>