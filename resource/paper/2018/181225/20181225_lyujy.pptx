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73" r:id="rId3"/>
    <p:sldId id="257" r:id="rId4"/>
    <p:sldId id="283" r:id="rId5"/>
    <p:sldId id="287" r:id="rId6"/>
    <p:sldId id="289" r:id="rId7"/>
    <p:sldId id="290" r:id="rId8"/>
    <p:sldId id="292" r:id="rId9"/>
    <p:sldId id="293" r:id="rId10"/>
    <p:sldId id="294"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1"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75" d="100"/>
          <a:sy n="75" d="100"/>
        </p:scale>
        <p:origin x="24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2018/12/25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3896930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4153909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845329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658557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117310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2E469C4C-F457-4167-B363-FB6DD59DC296}"/>
              </a:ext>
            </a:extLst>
          </p:cNvPr>
          <p:cNvSpPr>
            <a:spLocks noGrp="1"/>
          </p:cNvSpPr>
          <p:nvPr>
            <p:ph type="dt" sz="half" idx="10"/>
          </p:nvPr>
        </p:nvSpPr>
        <p:spPr/>
        <p:txBody>
          <a:bodyPr/>
          <a:lstStyle/>
          <a:p>
            <a:fld id="{289B6366-6E92-4855-9B33-10136FFB9F55}" type="datetimeFigureOut">
              <a:rPr lang="zh-TW" altLang="en-US" smtClean="0"/>
              <a:t>2018/12/25</a:t>
            </a:fld>
            <a:endParaRPr lang="zh-TW" altLang="en-US"/>
          </a:p>
        </p:txBody>
      </p:sp>
      <p:sp>
        <p:nvSpPr>
          <p:cNvPr id="5" name="頁尾版面配置區 4">
            <a:extLst>
              <a:ext uri="{FF2B5EF4-FFF2-40B4-BE49-F238E27FC236}">
                <a16:creationId xmlns:a16="http://schemas.microsoft.com/office/drawing/2014/main" xmlns=""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88E6861-BAD9-4B1E-B7CC-ED4F8B71DB22}"/>
              </a:ext>
            </a:extLst>
          </p:cNvPr>
          <p:cNvSpPr>
            <a:spLocks noGrp="1"/>
          </p:cNvSpPr>
          <p:nvPr>
            <p:ph type="dt" sz="half" idx="10"/>
          </p:nvPr>
        </p:nvSpPr>
        <p:spPr/>
        <p:txBody>
          <a:bodyPr/>
          <a:lstStyle/>
          <a:p>
            <a:fld id="{289B6366-6E92-4855-9B33-10136FFB9F55}" type="datetimeFigureOut">
              <a:rPr lang="zh-TW" altLang="en-US" smtClean="0"/>
              <a:t>2018/12/25</a:t>
            </a:fld>
            <a:endParaRPr lang="zh-TW" altLang="en-US"/>
          </a:p>
        </p:txBody>
      </p:sp>
      <p:sp>
        <p:nvSpPr>
          <p:cNvPr id="5" name="頁尾版面配置區 4">
            <a:extLst>
              <a:ext uri="{FF2B5EF4-FFF2-40B4-BE49-F238E27FC236}">
                <a16:creationId xmlns:a16="http://schemas.microsoft.com/office/drawing/2014/main" xmlns=""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DBCE3ACB-7971-48F1-9875-489AE8943338}"/>
              </a:ext>
            </a:extLst>
          </p:cNvPr>
          <p:cNvSpPr>
            <a:spLocks noGrp="1"/>
          </p:cNvSpPr>
          <p:nvPr>
            <p:ph type="dt" sz="half" idx="10"/>
          </p:nvPr>
        </p:nvSpPr>
        <p:spPr/>
        <p:txBody>
          <a:bodyPr/>
          <a:lstStyle/>
          <a:p>
            <a:fld id="{289B6366-6E92-4855-9B33-10136FFB9F55}" type="datetimeFigureOut">
              <a:rPr lang="zh-TW" altLang="en-US" smtClean="0"/>
              <a:t>2018/12/25</a:t>
            </a:fld>
            <a:endParaRPr lang="zh-TW" altLang="en-US"/>
          </a:p>
        </p:txBody>
      </p:sp>
      <p:sp>
        <p:nvSpPr>
          <p:cNvPr id="5" name="頁尾版面配置區 4">
            <a:extLst>
              <a:ext uri="{FF2B5EF4-FFF2-40B4-BE49-F238E27FC236}">
                <a16:creationId xmlns:a16="http://schemas.microsoft.com/office/drawing/2014/main" xmlns=""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62DDA930-81B0-4724-B815-F2EBD1DC4556}"/>
              </a:ext>
            </a:extLst>
          </p:cNvPr>
          <p:cNvSpPr>
            <a:spLocks noGrp="1"/>
          </p:cNvSpPr>
          <p:nvPr>
            <p:ph type="dt" sz="half" idx="10"/>
          </p:nvPr>
        </p:nvSpPr>
        <p:spPr/>
        <p:txBody>
          <a:bodyPr/>
          <a:lstStyle/>
          <a:p>
            <a:fld id="{289B6366-6E92-4855-9B33-10136FFB9F55}" type="datetimeFigureOut">
              <a:rPr lang="zh-TW" altLang="en-US" smtClean="0"/>
              <a:t>2018/12/25</a:t>
            </a:fld>
            <a:endParaRPr lang="zh-TW" altLang="en-US"/>
          </a:p>
        </p:txBody>
      </p:sp>
      <p:sp>
        <p:nvSpPr>
          <p:cNvPr id="6" name="頁尾版面配置區 5">
            <a:extLst>
              <a:ext uri="{FF2B5EF4-FFF2-40B4-BE49-F238E27FC236}">
                <a16:creationId xmlns:a16="http://schemas.microsoft.com/office/drawing/2014/main" xmlns=""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B161ED9B-DFA5-480A-AD88-6DFF046FCB53}"/>
              </a:ext>
            </a:extLst>
          </p:cNvPr>
          <p:cNvSpPr>
            <a:spLocks noGrp="1"/>
          </p:cNvSpPr>
          <p:nvPr>
            <p:ph type="dt" sz="half" idx="10"/>
          </p:nvPr>
        </p:nvSpPr>
        <p:spPr/>
        <p:txBody>
          <a:bodyPr/>
          <a:lstStyle/>
          <a:p>
            <a:fld id="{289B6366-6E92-4855-9B33-10136FFB9F55}" type="datetimeFigureOut">
              <a:rPr lang="zh-TW" altLang="en-US" smtClean="0"/>
              <a:t>2018/12/25</a:t>
            </a:fld>
            <a:endParaRPr lang="zh-TW" altLang="en-US"/>
          </a:p>
        </p:txBody>
      </p:sp>
      <p:sp>
        <p:nvSpPr>
          <p:cNvPr id="8" name="頁尾版面配置區 7">
            <a:extLst>
              <a:ext uri="{FF2B5EF4-FFF2-40B4-BE49-F238E27FC236}">
                <a16:creationId xmlns:a16="http://schemas.microsoft.com/office/drawing/2014/main" xmlns=""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D2DA7D75-DCEA-4D5F-817A-1F76017002B1}"/>
              </a:ext>
            </a:extLst>
          </p:cNvPr>
          <p:cNvSpPr>
            <a:spLocks noGrp="1"/>
          </p:cNvSpPr>
          <p:nvPr>
            <p:ph type="dt" sz="half" idx="10"/>
          </p:nvPr>
        </p:nvSpPr>
        <p:spPr/>
        <p:txBody>
          <a:bodyPr/>
          <a:lstStyle/>
          <a:p>
            <a:fld id="{289B6366-6E92-4855-9B33-10136FFB9F55}" type="datetimeFigureOut">
              <a:rPr lang="zh-TW" altLang="en-US" smtClean="0"/>
              <a:t>2018/12/25</a:t>
            </a:fld>
            <a:endParaRPr lang="zh-TW" altLang="en-US"/>
          </a:p>
        </p:txBody>
      </p:sp>
      <p:sp>
        <p:nvSpPr>
          <p:cNvPr id="4" name="頁尾版面配置區 3">
            <a:extLst>
              <a:ext uri="{FF2B5EF4-FFF2-40B4-BE49-F238E27FC236}">
                <a16:creationId xmlns:a16="http://schemas.microsoft.com/office/drawing/2014/main" xmlns=""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0AA5AFE-F983-4BD0-A86F-D18589BB081B}"/>
              </a:ext>
            </a:extLst>
          </p:cNvPr>
          <p:cNvSpPr>
            <a:spLocks noGrp="1"/>
          </p:cNvSpPr>
          <p:nvPr>
            <p:ph type="dt" sz="half" idx="10"/>
          </p:nvPr>
        </p:nvSpPr>
        <p:spPr/>
        <p:txBody>
          <a:bodyPr/>
          <a:lstStyle/>
          <a:p>
            <a:fld id="{289B6366-6E92-4855-9B33-10136FFB9F55}" type="datetimeFigureOut">
              <a:rPr lang="zh-TW" altLang="en-US" smtClean="0"/>
              <a:t>2018/12/25</a:t>
            </a:fld>
            <a:endParaRPr lang="zh-TW" altLang="en-US"/>
          </a:p>
        </p:txBody>
      </p:sp>
      <p:sp>
        <p:nvSpPr>
          <p:cNvPr id="3" name="頁尾版面配置區 2">
            <a:extLst>
              <a:ext uri="{FF2B5EF4-FFF2-40B4-BE49-F238E27FC236}">
                <a16:creationId xmlns:a16="http://schemas.microsoft.com/office/drawing/2014/main" xmlns=""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C189A80C-0898-442B-A9DB-6CE747D9C7F0}"/>
              </a:ext>
            </a:extLst>
          </p:cNvPr>
          <p:cNvSpPr>
            <a:spLocks noGrp="1"/>
          </p:cNvSpPr>
          <p:nvPr>
            <p:ph type="dt" sz="half" idx="10"/>
          </p:nvPr>
        </p:nvSpPr>
        <p:spPr/>
        <p:txBody>
          <a:bodyPr/>
          <a:lstStyle/>
          <a:p>
            <a:fld id="{289B6366-6E92-4855-9B33-10136FFB9F55}" type="datetimeFigureOut">
              <a:rPr lang="zh-TW" altLang="en-US" smtClean="0"/>
              <a:t>2018/12/25</a:t>
            </a:fld>
            <a:endParaRPr lang="zh-TW" altLang="en-US"/>
          </a:p>
        </p:txBody>
      </p:sp>
      <p:sp>
        <p:nvSpPr>
          <p:cNvPr id="6" name="頁尾版面配置區 5">
            <a:extLst>
              <a:ext uri="{FF2B5EF4-FFF2-40B4-BE49-F238E27FC236}">
                <a16:creationId xmlns:a16="http://schemas.microsoft.com/office/drawing/2014/main" xmlns=""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14D3864F-50D1-4DBD-A5B6-1645AA45EA59}"/>
              </a:ext>
            </a:extLst>
          </p:cNvPr>
          <p:cNvSpPr>
            <a:spLocks noGrp="1"/>
          </p:cNvSpPr>
          <p:nvPr>
            <p:ph type="dt" sz="half" idx="10"/>
          </p:nvPr>
        </p:nvSpPr>
        <p:spPr/>
        <p:txBody>
          <a:bodyPr/>
          <a:lstStyle/>
          <a:p>
            <a:fld id="{289B6366-6E92-4855-9B33-10136FFB9F55}" type="datetimeFigureOut">
              <a:rPr lang="zh-TW" altLang="en-US" smtClean="0"/>
              <a:t>2018/12/25</a:t>
            </a:fld>
            <a:endParaRPr lang="zh-TW" altLang="en-US"/>
          </a:p>
        </p:txBody>
      </p:sp>
      <p:sp>
        <p:nvSpPr>
          <p:cNvPr id="6" name="頁尾版面配置區 5">
            <a:extLst>
              <a:ext uri="{FF2B5EF4-FFF2-40B4-BE49-F238E27FC236}">
                <a16:creationId xmlns:a16="http://schemas.microsoft.com/office/drawing/2014/main" xmlns=""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91A2253F-98FC-4AD8-AB1E-608801808E4B}"/>
              </a:ext>
            </a:extLst>
          </p:cNvPr>
          <p:cNvSpPr>
            <a:spLocks noGrp="1"/>
          </p:cNvSpPr>
          <p:nvPr>
            <p:ph type="dt" sz="half" idx="10"/>
          </p:nvPr>
        </p:nvSpPr>
        <p:spPr/>
        <p:txBody>
          <a:bodyPr/>
          <a:lstStyle/>
          <a:p>
            <a:fld id="{289B6366-6E92-4855-9B33-10136FFB9F55}" type="datetimeFigureOut">
              <a:rPr lang="zh-TW" altLang="en-US" smtClean="0"/>
              <a:t>2018/12/25</a:t>
            </a:fld>
            <a:endParaRPr lang="zh-TW" altLang="en-US"/>
          </a:p>
        </p:txBody>
      </p:sp>
      <p:sp>
        <p:nvSpPr>
          <p:cNvPr id="5" name="頁尾版面配置區 4">
            <a:extLst>
              <a:ext uri="{FF2B5EF4-FFF2-40B4-BE49-F238E27FC236}">
                <a16:creationId xmlns:a16="http://schemas.microsoft.com/office/drawing/2014/main" xmlns=""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1DB4D53-3EC7-453D-BD90-F21F29EA365F}"/>
              </a:ext>
            </a:extLst>
          </p:cNvPr>
          <p:cNvSpPr>
            <a:spLocks noGrp="1"/>
          </p:cNvSpPr>
          <p:nvPr>
            <p:ph type="dt" sz="half" idx="10"/>
          </p:nvPr>
        </p:nvSpPr>
        <p:spPr/>
        <p:txBody>
          <a:bodyPr/>
          <a:lstStyle/>
          <a:p>
            <a:fld id="{289B6366-6E92-4855-9B33-10136FFB9F55}" type="datetimeFigureOut">
              <a:rPr lang="zh-TW" altLang="en-US" smtClean="0"/>
              <a:t>2018/12/25</a:t>
            </a:fld>
            <a:endParaRPr lang="zh-TW" altLang="en-US"/>
          </a:p>
        </p:txBody>
      </p:sp>
      <p:sp>
        <p:nvSpPr>
          <p:cNvPr id="5" name="頁尾版面配置區 4">
            <a:extLst>
              <a:ext uri="{FF2B5EF4-FFF2-40B4-BE49-F238E27FC236}">
                <a16:creationId xmlns:a16="http://schemas.microsoft.com/office/drawing/2014/main" xmlns=""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2018/12/25</a:t>
            </a:fld>
            <a:endParaRPr lang="zh-TW" altLang="en-US"/>
          </a:p>
        </p:txBody>
      </p:sp>
      <p:sp>
        <p:nvSpPr>
          <p:cNvPr id="5" name="頁尾版面配置區 4">
            <a:extLst>
              <a:ext uri="{FF2B5EF4-FFF2-40B4-BE49-F238E27FC236}">
                <a16:creationId xmlns:a16="http://schemas.microsoft.com/office/drawing/2014/main" xmlns=""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DABD277-3DCF-4084-9E03-BF06B086F7E6}"/>
              </a:ext>
            </a:extLst>
          </p:cNvPr>
          <p:cNvSpPr>
            <a:spLocks noGrp="1"/>
          </p:cNvSpPr>
          <p:nvPr>
            <p:ph type="ctrTitle"/>
          </p:nvPr>
        </p:nvSpPr>
        <p:spPr>
          <a:xfrm>
            <a:off x="1054248" y="535049"/>
            <a:ext cx="9613751" cy="1775011"/>
          </a:xfrm>
        </p:spPr>
        <p:txBody>
          <a:bodyPr>
            <a:normAutofit/>
          </a:bodyPr>
          <a:lstStyle/>
          <a:p>
            <a:r>
              <a:rPr lang="en-US" altLang="zh-TW" sz="4000" b="1" smtClean="0">
                <a:latin typeface="Times New Roman" panose="02020603050405020304" pitchFamily="18" charset="0"/>
                <a:cs typeface="Times New Roman" panose="02020603050405020304" pitchFamily="18" charset="0"/>
              </a:rPr>
              <a:t>DTW-based </a:t>
            </a:r>
            <a:r>
              <a:rPr lang="en-US" altLang="zh-TW" sz="4000" b="1" dirty="0">
                <a:latin typeface="Times New Roman" panose="02020603050405020304" pitchFamily="18" charset="0"/>
                <a:cs typeface="Times New Roman" panose="02020603050405020304" pitchFamily="18" charset="0"/>
              </a:rPr>
              <a:t>Authentication for Wireless Medical Device Security</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2FF96485-B26C-4B59-B13D-880AA0BD68EA}"/>
              </a:ext>
            </a:extLst>
          </p:cNvPr>
          <p:cNvSpPr>
            <a:spLocks noGrp="1"/>
          </p:cNvSpPr>
          <p:nvPr>
            <p:ph type="subTitle" idx="1"/>
          </p:nvPr>
        </p:nvSpPr>
        <p:spPr>
          <a:xfrm>
            <a:off x="897775" y="2312454"/>
            <a:ext cx="9770224" cy="1729274"/>
          </a:xfrm>
        </p:spPr>
        <p:txBody>
          <a:bodyPr>
            <a:normAutofit/>
          </a:bodyPr>
          <a:lstStyle/>
          <a:p>
            <a:endParaRPr lang="en-US" altLang="zh-TW" dirty="0"/>
          </a:p>
          <a:p>
            <a:r>
              <a:rPr lang="en-US" altLang="zh-TW" sz="2800" dirty="0" err="1">
                <a:latin typeface="Times New Roman" panose="02020603050405020304" pitchFamily="18" charset="0"/>
                <a:cs typeface="Times New Roman" panose="02020603050405020304" pitchFamily="18" charset="0"/>
              </a:rPr>
              <a:t>Heena</a:t>
            </a:r>
            <a:r>
              <a:rPr lang="en-US" altLang="zh-TW" sz="2800" dirty="0">
                <a:latin typeface="Times New Roman" panose="02020603050405020304" pitchFamily="18" charset="0"/>
                <a:cs typeface="Times New Roman" panose="02020603050405020304" pitchFamily="18" charset="0"/>
              </a:rPr>
              <a:t> Rathore, Abdulla Al-Ali, Amr Mohamed, </a:t>
            </a:r>
            <a:r>
              <a:rPr lang="en-US" altLang="zh-TW" sz="2800" dirty="0" err="1">
                <a:latin typeface="Times New Roman" panose="02020603050405020304" pitchFamily="18" charset="0"/>
                <a:cs typeface="Times New Roman" panose="02020603050405020304" pitchFamily="18" charset="0"/>
              </a:rPr>
              <a:t>Xiaojiang</a:t>
            </a:r>
            <a:r>
              <a:rPr lang="en-US" altLang="zh-TW" sz="2800" dirty="0">
                <a:latin typeface="Times New Roman" panose="02020603050405020304" pitchFamily="18" charset="0"/>
                <a:cs typeface="Times New Roman" panose="02020603050405020304" pitchFamily="18" charset="0"/>
              </a:rPr>
              <a:t> Du, Mohsen </a:t>
            </a:r>
            <a:r>
              <a:rPr lang="en-US" altLang="zh-TW" sz="2800" dirty="0" err="1">
                <a:latin typeface="Times New Roman" panose="02020603050405020304" pitchFamily="18" charset="0"/>
                <a:cs typeface="Times New Roman" panose="02020603050405020304" pitchFamily="18" charset="0"/>
              </a:rPr>
              <a:t>Guizani</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xmlns="" id="{64AE8193-1DE0-47D4-9DBB-4734B89CA666}"/>
              </a:ext>
            </a:extLst>
          </p:cNvPr>
          <p:cNvSpPr txBox="1">
            <a:spLocks/>
          </p:cNvSpPr>
          <p:nvPr/>
        </p:nvSpPr>
        <p:spPr>
          <a:xfrm>
            <a:off x="1195403" y="3876835"/>
            <a:ext cx="9613750" cy="134221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14th International Wireless Communications &amp; Mobile Computing Conference (IWCMC),2018, Pages 476 – 481, Limassol, Cyprus</a:t>
            </a:r>
          </a:p>
        </p:txBody>
      </p:sp>
      <p:sp>
        <p:nvSpPr>
          <p:cNvPr id="5" name="副標題 2">
            <a:extLst>
              <a:ext uri="{FF2B5EF4-FFF2-40B4-BE49-F238E27FC236}">
                <a16:creationId xmlns:a16="http://schemas.microsoft.com/office/drawing/2014/main" xmlns=""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2018.12.25</a:t>
            </a:r>
          </a:p>
        </p:txBody>
      </p:sp>
    </p:spTree>
    <p:extLst>
      <p:ext uri="{BB962C8B-B14F-4D97-AF65-F5344CB8AC3E}">
        <p14:creationId xmlns:p14="http://schemas.microsoft.com/office/powerpoint/2010/main" val="3014946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136524"/>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713148"/>
            <a:ext cx="8155484" cy="5825764"/>
          </a:xfrm>
        </p:spPr>
        <p:txBody>
          <a:bodyPr>
            <a:noAutofit/>
          </a:bodyPr>
          <a:lstStyle/>
          <a:p>
            <a:pPr marL="0" indent="0" algn="just">
              <a:lnSpc>
                <a:spcPct val="150000"/>
              </a:lnSpc>
              <a:buNone/>
            </a:pPr>
            <a:r>
              <a:rPr lang="en-US" altLang="zh-TW" sz="2300" dirty="0">
                <a:latin typeface="Times New Roman" panose="02020603050405020304" pitchFamily="18" charset="0"/>
                <a:cs typeface="Times New Roman" panose="02020603050405020304" pitchFamily="18" charset="0"/>
              </a:rPr>
              <a:t>Wireless medical devices play an important role in providing safety and privacy to patients suffering from major health issues. These light-weight devices can be worn inside or outside the patient’s body and provide more convenience and reliable doctor-patient communication. However, the design, development, and usage of these devices play a critical role in present network paradigm. They are vulnerable to network threats and attacks which break the confidentiality, integrity and availability protocols in networking scenarios. Thus, it is important to have identification and authentication of only the authorized people who can operate the device. </a:t>
            </a:r>
          </a:p>
        </p:txBody>
      </p:sp>
    </p:spTree>
    <p:extLst>
      <p:ext uri="{BB962C8B-B14F-4D97-AF65-F5344CB8AC3E}">
        <p14:creationId xmlns:p14="http://schemas.microsoft.com/office/powerpoint/2010/main" val="15950678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40217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gn="just">
              <a:lnSpc>
                <a:spcPct val="150000"/>
              </a:lnSpc>
              <a:spcBef>
                <a:spcPts val="0"/>
              </a:spcBef>
              <a:buNone/>
            </a:pPr>
            <a:r>
              <a:rPr lang="en-US" altLang="zh-TW" sz="2300" dirty="0">
                <a:latin typeface="Times New Roman" panose="02020603050405020304" pitchFamily="18" charset="0"/>
                <a:cs typeface="Times New Roman" panose="02020603050405020304" pitchFamily="18" charset="0"/>
              </a:rPr>
              <a:t>This paper proposes Dynamic Time Warping (DTW) algorithm for providing trusted authentication and identification of only authorized people using ECG signal. Here, DTW algorithm is used to measure the correlation between different ECG signal records. Experiments were carried out to evaluate the proposed algorithm with a large database consisting of users of all ages, including abnormal ECG data and long span of time intervals between ECG recordings for evaluating the reliability of the proposed algorithm. Comparative evaluation of the proposed system showed that, it is not only efficient, but also light weight in comparison to the existing systems.</a:t>
            </a:r>
            <a:endParaRPr lang="en-US" altLang="zh-TW" sz="2300" dirty="0">
              <a:latin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xmlns="" id="{3138C8B9-695B-4FAC-B114-2F156D3D5B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288" y="4664735"/>
            <a:ext cx="5105141" cy="1995727"/>
          </a:xfrm>
          <a:prstGeom prst="rect">
            <a:avLst/>
          </a:prstGeom>
        </p:spPr>
      </p:pic>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Pre-processing</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p:txBody>
          <a:bodyPr>
            <a:normAutofit/>
          </a:bodyPr>
          <a:lstStyle/>
          <a:p>
            <a:r>
              <a:rPr lang="en-US" altLang="zh-TW" sz="2700" dirty="0"/>
              <a:t>T</a:t>
            </a:r>
            <a:endParaRPr lang="zh-TW" altLang="en-US" sz="2700" dirty="0"/>
          </a:p>
        </p:txBody>
      </p:sp>
      <p:pic>
        <p:nvPicPr>
          <p:cNvPr id="5" name="圖片 4">
            <a:extLst>
              <a:ext uri="{FF2B5EF4-FFF2-40B4-BE49-F238E27FC236}">
                <a16:creationId xmlns:a16="http://schemas.microsoft.com/office/drawing/2014/main" xmlns="" id="{719C6DD7-F03E-4957-8CE8-B782199AEA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5516" y="1158429"/>
            <a:ext cx="6128035" cy="3578550"/>
          </a:xfrm>
          <a:prstGeom prst="rect">
            <a:avLst/>
          </a:prstGeom>
        </p:spPr>
      </p:pic>
      <p:pic>
        <p:nvPicPr>
          <p:cNvPr id="7" name="圖片 6">
            <a:extLst>
              <a:ext uri="{FF2B5EF4-FFF2-40B4-BE49-F238E27FC236}">
                <a16:creationId xmlns:a16="http://schemas.microsoft.com/office/drawing/2014/main" xmlns="" id="{D1A5A54B-752D-4FF2-B8C2-5D3B0982D8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4293" y="1086185"/>
            <a:ext cx="5119048" cy="3650794"/>
          </a:xfrm>
          <a:prstGeom prst="rect">
            <a:avLst/>
          </a:prstGeom>
        </p:spPr>
      </p:pic>
    </p:spTree>
    <p:extLst>
      <p:ext uri="{BB962C8B-B14F-4D97-AF65-F5344CB8AC3E}">
        <p14:creationId xmlns:p14="http://schemas.microsoft.com/office/powerpoint/2010/main" val="81544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Feature Extraction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dirty="0"/>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p:txBody>
          <a:bodyPr>
            <a:normAutofit/>
          </a:bodyPr>
          <a:lstStyle/>
          <a:p>
            <a:pPr marL="0" indent="0">
              <a:buNone/>
            </a:pPr>
            <a:r>
              <a:rPr lang="en-US" altLang="zh-TW" sz="2700" dirty="0"/>
              <a:t>d</a:t>
            </a:r>
            <a:endParaRPr lang="zh-TW" altLang="en-US" sz="2700" dirty="0"/>
          </a:p>
        </p:txBody>
      </p:sp>
      <p:pic>
        <p:nvPicPr>
          <p:cNvPr id="10" name="圖片 9">
            <a:extLst>
              <a:ext uri="{FF2B5EF4-FFF2-40B4-BE49-F238E27FC236}">
                <a16:creationId xmlns:a16="http://schemas.microsoft.com/office/drawing/2014/main" xmlns="" id="{C630386A-A6DD-418C-B332-1C42710F2C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255" y="1508255"/>
            <a:ext cx="5696745" cy="3172268"/>
          </a:xfrm>
          <a:prstGeom prst="rect">
            <a:avLst/>
          </a:prstGeom>
        </p:spPr>
      </p:pic>
      <p:pic>
        <p:nvPicPr>
          <p:cNvPr id="15" name="圖片 14">
            <a:extLst>
              <a:ext uri="{FF2B5EF4-FFF2-40B4-BE49-F238E27FC236}">
                <a16:creationId xmlns:a16="http://schemas.microsoft.com/office/drawing/2014/main" xmlns="" id="{06C6A293-51BC-4472-A7FF-C826D3EAA2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5526" y="1582942"/>
            <a:ext cx="5687219" cy="2657846"/>
          </a:xfrm>
          <a:prstGeom prst="rect">
            <a:avLst/>
          </a:prstGeom>
        </p:spPr>
      </p:pic>
    </p:spTree>
    <p:extLst>
      <p:ext uri="{BB962C8B-B14F-4D97-AF65-F5344CB8AC3E}">
        <p14:creationId xmlns:p14="http://schemas.microsoft.com/office/powerpoint/2010/main" val="2929209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Experiment</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51339" y="1289266"/>
            <a:ext cx="5559322" cy="5067084"/>
          </a:xfrm>
        </p:spPr>
        <p:txBody>
          <a:bodyPr>
            <a:normAutofit/>
          </a:bodyPr>
          <a:lstStyle/>
          <a:p>
            <a:pPr algn="just"/>
            <a:r>
              <a:rPr lang="en-US" altLang="zh-TW" sz="2400" dirty="0"/>
              <a:t>Figure 3 shows the ECG signal for Person 1 which is used as the reference biometric signal. Using the database, a dataset containing 65 ECG waveforms was created. This dataset contains the waveforms as shown in Table I. As the test was executed, one waveform was randomly selected from the dataset.</a:t>
            </a:r>
          </a:p>
        </p:txBody>
      </p:sp>
      <p:pic>
        <p:nvPicPr>
          <p:cNvPr id="8" name="圖片 7">
            <a:extLst>
              <a:ext uri="{FF2B5EF4-FFF2-40B4-BE49-F238E27FC236}">
                <a16:creationId xmlns:a16="http://schemas.microsoft.com/office/drawing/2014/main" xmlns="" id="{8A68DD0E-D48C-476C-B3A6-D527158D49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0661" y="193890"/>
            <a:ext cx="5628820" cy="3263470"/>
          </a:xfrm>
          <a:prstGeom prst="rect">
            <a:avLst/>
          </a:prstGeom>
        </p:spPr>
      </p:pic>
      <p:pic>
        <p:nvPicPr>
          <p:cNvPr id="10" name="圖片 9">
            <a:extLst>
              <a:ext uri="{FF2B5EF4-FFF2-40B4-BE49-F238E27FC236}">
                <a16:creationId xmlns:a16="http://schemas.microsoft.com/office/drawing/2014/main" xmlns="" id="{7DA9378D-2574-4FC6-AF17-D65C49DEB6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0661" y="3296135"/>
            <a:ext cx="5408596" cy="3440881"/>
          </a:xfrm>
          <a:prstGeom prst="rect">
            <a:avLst/>
          </a:prstGeom>
        </p:spPr>
      </p:pic>
    </p:spTree>
    <p:extLst>
      <p:ext uri="{BB962C8B-B14F-4D97-AF65-F5344CB8AC3E}">
        <p14:creationId xmlns:p14="http://schemas.microsoft.com/office/powerpoint/2010/main" val="2250146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7</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825625"/>
            <a:ext cx="10515600" cy="4351338"/>
          </a:xfrm>
        </p:spPr>
        <p:txBody>
          <a:bodyPr>
            <a:normAutofit/>
          </a:bodyPr>
          <a:lstStyle/>
          <a:p>
            <a:r>
              <a:rPr lang="en-US" altLang="zh-TW" sz="2700" dirty="0"/>
              <a:t>w</a:t>
            </a:r>
          </a:p>
        </p:txBody>
      </p:sp>
      <p:pic>
        <p:nvPicPr>
          <p:cNvPr id="6" name="圖片 5">
            <a:extLst>
              <a:ext uri="{FF2B5EF4-FFF2-40B4-BE49-F238E27FC236}">
                <a16:creationId xmlns:a16="http://schemas.microsoft.com/office/drawing/2014/main" xmlns="" id="{045B692E-C0B8-4403-A41F-B42AFDCF91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462" y="1320147"/>
            <a:ext cx="10407703" cy="5003397"/>
          </a:xfrm>
          <a:prstGeom prst="rect">
            <a:avLst/>
          </a:prstGeom>
        </p:spPr>
      </p:pic>
    </p:spTree>
    <p:extLst>
      <p:ext uri="{BB962C8B-B14F-4D97-AF65-F5344CB8AC3E}">
        <p14:creationId xmlns:p14="http://schemas.microsoft.com/office/powerpoint/2010/main" val="4168909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592937" y="313694"/>
            <a:ext cx="10515600" cy="1325563"/>
          </a:xfrm>
        </p:spPr>
        <p:txBody>
          <a:bodyPr>
            <a:normAutofit/>
          </a:bodyPr>
          <a:lstStyle/>
          <a:p>
            <a:r>
              <a:rPr lang="en-US" altLang="zh-TW" dirty="0">
                <a:latin typeface="Times New Roman" panose="02020603050405020304" pitchFamily="18" charset="0"/>
                <a:cs typeface="Times New Roman" panose="02020603050405020304" pitchFamily="18" charset="0"/>
              </a:rPr>
              <a:t>Experiment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and Results</a:t>
            </a:r>
            <a:endParaRPr lang="zh-TW" altLang="en-US" dirty="0">
              <a:latin typeface="Times New Roman" panose="02020603050405020304" pitchFamily="18" charset="0"/>
              <a:cs typeface="Times New Roman" panose="02020603050405020304" pitchFamily="18" charset="0"/>
            </a:endParaRPr>
          </a:p>
        </p:txBody>
      </p:sp>
      <p:sp>
        <p:nvSpPr>
          <p:cNvPr id="8" name="內容版面配置區 10">
            <a:extLst>
              <a:ext uri="{FF2B5EF4-FFF2-40B4-BE49-F238E27FC236}">
                <a16:creationId xmlns:a16="http://schemas.microsoft.com/office/drawing/2014/main" xmlns="" id="{650212D9-9F50-46B3-8507-D984FD9BF0BB}"/>
              </a:ext>
            </a:extLst>
          </p:cNvPr>
          <p:cNvSpPr>
            <a:spLocks noGrp="1"/>
          </p:cNvSpPr>
          <p:nvPr>
            <p:ph idx="1"/>
          </p:nvPr>
        </p:nvSpPr>
        <p:spPr>
          <a:xfrm>
            <a:off x="838199" y="1825625"/>
            <a:ext cx="5257801" cy="4667250"/>
          </a:xfrm>
        </p:spPr>
        <p:txBody>
          <a:bodyPr>
            <a:normAutofit/>
          </a:bodyPr>
          <a:lstStyle/>
          <a:p>
            <a:pPr algn="just"/>
            <a:r>
              <a:rPr lang="en-US" altLang="zh-TW" sz="2400" dirty="0"/>
              <a:t>The effect of the length of the reference and ECG signals on the correlation parameter is studied next. To do so, we took three data sets. Similar to previous study, Record 0 of Person 0 was considered as the reference signal. Record 1 of Person 0 is considered for the correlated signal and Record 0 of Person 1 is considered for the uncorrelated signal. We got subsets of the 20s signals to create 6 different datasets of lengths 2s, 5s, 7s, 12s, 15s and finally 20s.</a:t>
            </a:r>
            <a:endParaRPr lang="zh-TW" altLang="en-US" sz="2400" dirty="0"/>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normAutofit/>
          </a:bodyPr>
          <a:lstStyle/>
          <a:p>
            <a:pPr>
              <a:spcAft>
                <a:spcPts val="600"/>
              </a:spcAft>
            </a:pPr>
            <a:fld id="{872633CA-77E0-4863-94F8-E28139DFB2B4}" type="slidenum">
              <a:rPr lang="zh-TW" altLang="en-US" smtClean="0"/>
              <a:pPr>
                <a:spcAft>
                  <a:spcPts val="600"/>
                </a:spcAft>
              </a:pPr>
              <a:t>8</a:t>
            </a:fld>
            <a:endParaRPr lang="zh-TW" altLang="en-US"/>
          </a:p>
        </p:txBody>
      </p:sp>
      <p:pic>
        <p:nvPicPr>
          <p:cNvPr id="11" name="圖片 10">
            <a:extLst>
              <a:ext uri="{FF2B5EF4-FFF2-40B4-BE49-F238E27FC236}">
                <a16:creationId xmlns:a16="http://schemas.microsoft.com/office/drawing/2014/main" xmlns="" id="{6729B253-837C-4693-B876-5E81339C07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2937" y="3429000"/>
            <a:ext cx="6001588" cy="3515216"/>
          </a:xfrm>
          <a:prstGeom prst="rect">
            <a:avLst/>
          </a:prstGeom>
        </p:spPr>
      </p:pic>
      <p:pic>
        <p:nvPicPr>
          <p:cNvPr id="9" name="圖片 8">
            <a:extLst>
              <a:ext uri="{FF2B5EF4-FFF2-40B4-BE49-F238E27FC236}">
                <a16:creationId xmlns:a16="http://schemas.microsoft.com/office/drawing/2014/main" xmlns="" id="{9C8E76E7-396A-49C0-AD07-B120675448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0055" y="0"/>
            <a:ext cx="5441945" cy="3602142"/>
          </a:xfrm>
          <a:prstGeom prst="rect">
            <a:avLst/>
          </a:prstGeom>
        </p:spPr>
      </p:pic>
      <p:pic>
        <p:nvPicPr>
          <p:cNvPr id="5" name="圖片 4">
            <a:extLst>
              <a:ext uri="{FF2B5EF4-FFF2-40B4-BE49-F238E27FC236}">
                <a16:creationId xmlns:a16="http://schemas.microsoft.com/office/drawing/2014/main" xmlns="" id="{936D46F3-47C7-4FFD-AC81-69B22AF41C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61275" y="6445848"/>
            <a:ext cx="6449325" cy="466790"/>
          </a:xfrm>
          <a:prstGeom prst="rect">
            <a:avLst/>
          </a:prstGeom>
        </p:spPr>
      </p:pic>
    </p:spTree>
    <p:extLst>
      <p:ext uri="{BB962C8B-B14F-4D97-AF65-F5344CB8AC3E}">
        <p14:creationId xmlns:p14="http://schemas.microsoft.com/office/powerpoint/2010/main" val="3529501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365125"/>
            <a:ext cx="10515600" cy="1325563"/>
          </a:xfrm>
        </p:spPr>
        <p:txBody>
          <a:bodyPr>
            <a:normAutofit/>
          </a:bodyPr>
          <a:lstStyle/>
          <a:p>
            <a:r>
              <a:rPr lang="en-US" altLang="zh-TW" dirty="0">
                <a:latin typeface="Times New Roman" panose="02020603050405020304" pitchFamily="18" charset="0"/>
                <a:cs typeface="Times New Roman" panose="02020603050405020304" pitchFamily="18" charset="0"/>
              </a:rPr>
              <a:t>Comparative Analysis of DTW and SVM</a:t>
            </a:r>
            <a:endParaRPr lang="zh-TW" altLang="en-US" dirty="0">
              <a:latin typeface="Times New Roman" panose="02020603050405020304" pitchFamily="18" charset="0"/>
              <a:cs typeface="Times New Roman" panose="02020603050405020304" pitchFamily="18" charset="0"/>
            </a:endParaRPr>
          </a:p>
        </p:txBody>
      </p:sp>
      <p:sp>
        <p:nvSpPr>
          <p:cNvPr id="8" name="內容版面配置區 10">
            <a:extLst>
              <a:ext uri="{FF2B5EF4-FFF2-40B4-BE49-F238E27FC236}">
                <a16:creationId xmlns:a16="http://schemas.microsoft.com/office/drawing/2014/main" xmlns="" id="{650212D9-9F50-46B3-8507-D984FD9BF0BB}"/>
              </a:ext>
            </a:extLst>
          </p:cNvPr>
          <p:cNvSpPr>
            <a:spLocks noGrp="1"/>
          </p:cNvSpPr>
          <p:nvPr>
            <p:ph idx="1"/>
          </p:nvPr>
        </p:nvSpPr>
        <p:spPr>
          <a:xfrm>
            <a:off x="838200" y="1825625"/>
            <a:ext cx="5015484" cy="4351338"/>
          </a:xfrm>
        </p:spPr>
        <p:txBody>
          <a:bodyPr>
            <a:normAutofit/>
          </a:bodyPr>
          <a:lstStyle/>
          <a:p>
            <a:endParaRPr lang="zh-TW" altLang="en-US" sz="2400" dirty="0"/>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normAutofit/>
          </a:bodyPr>
          <a:lstStyle/>
          <a:p>
            <a:pPr>
              <a:spcAft>
                <a:spcPts val="600"/>
              </a:spcAft>
            </a:pPr>
            <a:fld id="{872633CA-77E0-4863-94F8-E28139DFB2B4}" type="slidenum">
              <a:rPr lang="zh-TW" altLang="en-US" smtClean="0"/>
              <a:pPr>
                <a:spcAft>
                  <a:spcPts val="600"/>
                </a:spcAft>
              </a:pPr>
              <a:t>9</a:t>
            </a:fld>
            <a:endParaRPr lang="zh-TW" altLang="en-US"/>
          </a:p>
        </p:txBody>
      </p:sp>
      <p:pic>
        <p:nvPicPr>
          <p:cNvPr id="5" name="圖片 4">
            <a:extLst>
              <a:ext uri="{FF2B5EF4-FFF2-40B4-BE49-F238E27FC236}">
                <a16:creationId xmlns:a16="http://schemas.microsoft.com/office/drawing/2014/main" xmlns="" id="{04198122-8550-408A-8525-731FC21548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7082" y="2373163"/>
            <a:ext cx="7297836" cy="2821679"/>
          </a:xfrm>
          <a:prstGeom prst="rect">
            <a:avLst/>
          </a:prstGeom>
        </p:spPr>
      </p:pic>
    </p:spTree>
    <p:extLst>
      <p:ext uri="{BB962C8B-B14F-4D97-AF65-F5344CB8AC3E}">
        <p14:creationId xmlns:p14="http://schemas.microsoft.com/office/powerpoint/2010/main" val="1018966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3B641926-9EFF-4CDF-974F-38DC8864D744}"/>
              </a:ext>
            </a:extLst>
          </p:cNvPr>
          <p:cNvSpPr>
            <a:spLocks noGrp="1"/>
          </p:cNvSpPr>
          <p:nvPr>
            <p:ph type="title"/>
          </p:nvPr>
        </p:nvSpPr>
        <p:spPr/>
        <p:txBody>
          <a:bodyPr/>
          <a:lstStyle/>
          <a:p>
            <a:r>
              <a:rPr lang="en-US" altLang="zh-TW" dirty="0"/>
              <a:t>Wearable Medical Device(WMD)</a:t>
            </a:r>
            <a:endParaRPr lang="zh-TW" altLang="en-US" dirty="0"/>
          </a:p>
        </p:txBody>
      </p:sp>
      <p:sp>
        <p:nvSpPr>
          <p:cNvPr id="3" name="內容版面配置區 2">
            <a:extLst>
              <a:ext uri="{FF2B5EF4-FFF2-40B4-BE49-F238E27FC236}">
                <a16:creationId xmlns:a16="http://schemas.microsoft.com/office/drawing/2014/main" xmlns="" id="{27649181-64CE-4261-B9FC-FD0BD3C9035B}"/>
              </a:ext>
            </a:extLst>
          </p:cNvPr>
          <p:cNvSpPr>
            <a:spLocks noGrp="1"/>
          </p:cNvSpPr>
          <p:nvPr>
            <p:ph idx="1"/>
          </p:nvPr>
        </p:nvSpPr>
        <p:spPr/>
        <p:txBody>
          <a:bodyPr/>
          <a:lstStyle/>
          <a:p>
            <a:r>
              <a:rPr lang="en-US" altLang="zh-TW" dirty="0"/>
              <a:t>d</a:t>
            </a:r>
            <a:endParaRPr lang="zh-TW" altLang="en-US" dirty="0"/>
          </a:p>
        </p:txBody>
      </p:sp>
      <p:pic>
        <p:nvPicPr>
          <p:cNvPr id="6" name="圖片 5">
            <a:extLst>
              <a:ext uri="{FF2B5EF4-FFF2-40B4-BE49-F238E27FC236}">
                <a16:creationId xmlns:a16="http://schemas.microsoft.com/office/drawing/2014/main" xmlns="" id="{E31E1713-6325-46DA-8D3F-C22E1FC24D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40080"/>
            <a:ext cx="8104095" cy="5235697"/>
          </a:xfrm>
          <a:prstGeom prst="rect">
            <a:avLst/>
          </a:prstGeom>
        </p:spPr>
      </p:pic>
    </p:spTree>
    <p:extLst>
      <p:ext uri="{BB962C8B-B14F-4D97-AF65-F5344CB8AC3E}">
        <p14:creationId xmlns:p14="http://schemas.microsoft.com/office/powerpoint/2010/main" val="80333068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TotalTime>
  <Words>461</Words>
  <Application>Microsoft Office PowerPoint</Application>
  <PresentationFormat>寬螢幕</PresentationFormat>
  <Paragraphs>39</Paragraphs>
  <Slides>10</Slides>
  <Notes>8</Notes>
  <HiddenSlides>1</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vt:i4>
      </vt:variant>
    </vt:vector>
  </HeadingPairs>
  <TitlesOfParts>
    <vt:vector size="17" baseType="lpstr">
      <vt:lpstr>新細明體</vt:lpstr>
      <vt:lpstr>標楷體</vt:lpstr>
      <vt:lpstr>Arial</vt:lpstr>
      <vt:lpstr>Calibri</vt:lpstr>
      <vt:lpstr>Calibri Light</vt:lpstr>
      <vt:lpstr>Times New Roman</vt:lpstr>
      <vt:lpstr>Office 佈景主題</vt:lpstr>
      <vt:lpstr>DTW-based Authentication for Wireless Medical Device Security</vt:lpstr>
      <vt:lpstr>Abstract (1/2)</vt:lpstr>
      <vt:lpstr>Abstract (2/2)</vt:lpstr>
      <vt:lpstr>Pre-processing</vt:lpstr>
      <vt:lpstr>Feature Extraction</vt:lpstr>
      <vt:lpstr>Experiment</vt:lpstr>
      <vt:lpstr>Results</vt:lpstr>
      <vt:lpstr>Experiment and Results</vt:lpstr>
      <vt:lpstr>Comparative Analysis of DTW and SVM</vt:lpstr>
      <vt:lpstr>Wearable Medical Device(WMD)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pplab-class</cp:lastModifiedBy>
  <cp:revision>363</cp:revision>
  <dcterms:created xsi:type="dcterms:W3CDTF">2018-10-30T09:09:31Z</dcterms:created>
  <dcterms:modified xsi:type="dcterms:W3CDTF">2018-12-25T11:34:53Z</dcterms:modified>
</cp:coreProperties>
</file>